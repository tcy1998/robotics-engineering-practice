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dat" ContentType="application/x-fontdata"/>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e6b3e9505348f6" /><Relationship Type="http://schemas.openxmlformats.org/officeDocument/2006/relationships/extended-properties" Target="/docProps/app.xml" Id="R8151cc246fb34a5f" /><Relationship Type="http://schemas.openxmlformats.org/officeDocument/2006/relationships/officeDocument" Target="/ppt/presentation.xml" Id="R41b59144329f4b6a"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0da78594bc364975"/>
  </p:sldMasterIdLst>
  <p:notesMasterIdLst>
    <p:notesMasterId xmlns:r="http://schemas.openxmlformats.org/officeDocument/2006/relationships" r:id="Rb446d455268f4d0b"/>
  </p:notesMasterIdLst>
  <p:sldIdLst>
    <p:sldId xmlns:r="http://schemas.openxmlformats.org/officeDocument/2006/relationships" id="256" r:id="R17f59b3791fa48c3"/>
    <p:sldId xmlns:r="http://schemas.openxmlformats.org/officeDocument/2006/relationships" id="257" r:id="R0ef69fa15a054619"/>
    <p:sldId xmlns:r="http://schemas.openxmlformats.org/officeDocument/2006/relationships" id="258" r:id="R0cfd417c3dc24cf0"/>
    <p:sldId xmlns:r="http://schemas.openxmlformats.org/officeDocument/2006/relationships" id="259" r:id="R6c8550a4768549de"/>
    <p:sldId xmlns:r="http://schemas.openxmlformats.org/officeDocument/2006/relationships" id="260" r:id="R02143b61047f4e48"/>
    <p:sldId xmlns:r="http://schemas.openxmlformats.org/officeDocument/2006/relationships" id="261" r:id="R5be3c7e0b8f9449a"/>
    <p:sldId xmlns:r="http://schemas.openxmlformats.org/officeDocument/2006/relationships" id="262" r:id="Raae97817574e44f1"/>
    <p:sldId xmlns:r="http://schemas.openxmlformats.org/officeDocument/2006/relationships" id="263" r:id="Rc33b9aab332c4b6d"/>
    <p:sldId xmlns:r="http://schemas.openxmlformats.org/officeDocument/2006/relationships" id="264" r:id="R103e9150936e421d"/>
    <p:sldId xmlns:r="http://schemas.openxmlformats.org/officeDocument/2006/relationships" id="265" r:id="R7804b139e1e64500"/>
    <p:sldId xmlns:r="http://schemas.openxmlformats.org/officeDocument/2006/relationships" id="266" r:id="R1b3f26c6d6534e15"/>
    <p:sldId xmlns:r="http://schemas.openxmlformats.org/officeDocument/2006/relationships" id="267" r:id="R9760198d14944087"/>
    <p:sldId xmlns:r="http://schemas.openxmlformats.org/officeDocument/2006/relationships" id="268" r:id="Rd9140607281649a3"/>
    <p:sldId xmlns:r="http://schemas.openxmlformats.org/officeDocument/2006/relationships" id="269" r:id="Rf6bb2134df0c44ca"/>
    <p:sldId xmlns:r="http://schemas.openxmlformats.org/officeDocument/2006/relationships" id="270" r:id="R9567e255db9441a1"/>
    <p:sldId xmlns:r="http://schemas.openxmlformats.org/officeDocument/2006/relationships" id="271" r:id="R15231915b544409c"/>
    <p:sldId xmlns:r="http://schemas.openxmlformats.org/officeDocument/2006/relationships" id="272" r:id="R4e084cb2619a42cb"/>
    <p:sldId xmlns:r="http://schemas.openxmlformats.org/officeDocument/2006/relationships" id="273" r:id="R79efef233744498b"/>
    <p:sldId xmlns:r="http://schemas.openxmlformats.org/officeDocument/2006/relationships" id="274" r:id="R3abeb9254c424646"/>
    <p:sldId xmlns:r="http://schemas.openxmlformats.org/officeDocument/2006/relationships" id="275" r:id="R3dbba287b80d4b24"/>
    <p:sldId xmlns:r="http://schemas.openxmlformats.org/officeDocument/2006/relationships" id="276" r:id="R8db58f6db8a241eb"/>
    <p:sldId xmlns:r="http://schemas.openxmlformats.org/officeDocument/2006/relationships" id="277" r:id="R2dae4f8a3ec44469"/>
    <p:sldId xmlns:r="http://schemas.openxmlformats.org/officeDocument/2006/relationships" id="278" r:id="R7b4d2d04094847f2"/>
    <p:sldId xmlns:r="http://schemas.openxmlformats.org/officeDocument/2006/relationships" id="279" r:id="R5fb11a8bc76247c7"/>
    <p:sldId xmlns:r="http://schemas.openxmlformats.org/officeDocument/2006/relationships" id="280" r:id="R6a89f4e0e05a4652"/>
    <p:sldId xmlns:r="http://schemas.openxmlformats.org/officeDocument/2006/relationships" id="281" r:id="Rff2497d5f009483e"/>
    <p:sldId xmlns:r="http://schemas.openxmlformats.org/officeDocument/2006/relationships" id="282" r:id="R4281e75dc5ba4e5d"/>
    <p:sldId xmlns:r="http://schemas.openxmlformats.org/officeDocument/2006/relationships" id="283" r:id="R29f0cdc01ca248d4"/>
    <p:sldId xmlns:r="http://schemas.openxmlformats.org/officeDocument/2006/relationships" id="284" r:id="R3f2425b1bfbb41e7"/>
    <p:sldId xmlns:r="http://schemas.openxmlformats.org/officeDocument/2006/relationships" id="285" r:id="R9eaee8dafd13432a"/>
    <p:sldId xmlns:r="http://schemas.openxmlformats.org/officeDocument/2006/relationships" id="286" r:id="R4402b29889384514"/>
    <p:sldId xmlns:r="http://schemas.openxmlformats.org/officeDocument/2006/relationships" id="287" r:id="R1755b59c7eb9464d"/>
    <p:sldId xmlns:r="http://schemas.openxmlformats.org/officeDocument/2006/relationships" id="288" r:id="R3c3493e548f74ecd"/>
    <p:sldId xmlns:r="http://schemas.openxmlformats.org/officeDocument/2006/relationships" id="289" r:id="R6f8e39d75b6a47b5"/>
    <p:sldId xmlns:r="http://schemas.openxmlformats.org/officeDocument/2006/relationships" id="290" r:id="R99e07621447047bd"/>
    <p:sldId xmlns:r="http://schemas.openxmlformats.org/officeDocument/2006/relationships" id="291" r:id="R598537bfea9d45cb"/>
    <p:sldId xmlns:r="http://schemas.openxmlformats.org/officeDocument/2006/relationships" id="292" r:id="Rd2ab0a80cd7c49e9"/>
    <p:sldId xmlns:r="http://schemas.openxmlformats.org/officeDocument/2006/relationships" id="293" r:id="Rb7b0106dd25244ee"/>
    <p:sldId xmlns:r="http://schemas.openxmlformats.org/officeDocument/2006/relationships" id="294" r:id="R560b757c815c4dad"/>
    <p:sldId xmlns:r="http://schemas.openxmlformats.org/officeDocument/2006/relationships" id="295" r:id="Rc1e58a87abf049b7"/>
    <p:sldId xmlns:r="http://schemas.openxmlformats.org/officeDocument/2006/relationships" id="296" r:id="Rfa9ac901d8ba4387"/>
    <p:sldId xmlns:r="http://schemas.openxmlformats.org/officeDocument/2006/relationships" id="297" r:id="R71c8b37aa84f481c"/>
    <p:sldId xmlns:r="http://schemas.openxmlformats.org/officeDocument/2006/relationships" id="298" r:id="Rfc9ca7852c9449c0"/>
    <p:sldId xmlns:r="http://schemas.openxmlformats.org/officeDocument/2006/relationships" id="299" r:id="Re3d5c38a42774c92"/>
    <p:sldId xmlns:r="http://schemas.openxmlformats.org/officeDocument/2006/relationships" id="300" r:id="Rbf7498a467b2469e"/>
    <p:sldId xmlns:r="http://schemas.openxmlformats.org/officeDocument/2006/relationships" id="301" r:id="R5dab20b8d6884aa3"/>
    <p:sldId xmlns:r="http://schemas.openxmlformats.org/officeDocument/2006/relationships" id="302" r:id="R724235f9da3e441e"/>
    <p:sldId xmlns:r="http://schemas.openxmlformats.org/officeDocument/2006/relationships" id="303" r:id="R352002953db846f8"/>
    <p:sldId xmlns:r="http://schemas.openxmlformats.org/officeDocument/2006/relationships" id="304" r:id="R8866263eee4849ea"/>
    <p:sldId xmlns:r="http://schemas.openxmlformats.org/officeDocument/2006/relationships" id="305" r:id="R7e038d162ee84421"/>
    <p:sldId xmlns:r="http://schemas.openxmlformats.org/officeDocument/2006/relationships" id="306" r:id="Rab244f51a938459e"/>
    <p:sldId xmlns:r="http://schemas.openxmlformats.org/officeDocument/2006/relationships" id="307" r:id="Rd18acb95c004488a"/>
    <p:sldId xmlns:r="http://schemas.openxmlformats.org/officeDocument/2006/relationships" id="308" r:id="R92101f4cf2ee479d"/>
    <p:sldId xmlns:r="http://schemas.openxmlformats.org/officeDocument/2006/relationships" id="309" r:id="Rfb65c912088f42d4"/>
    <p:sldId xmlns:r="http://schemas.openxmlformats.org/officeDocument/2006/relationships" id="310" r:id="Read17efcca11403b"/>
    <p:sldId xmlns:r="http://schemas.openxmlformats.org/officeDocument/2006/relationships" id="311" r:id="R2a46c3d46f3443fd"/>
    <p:sldId xmlns:r="http://schemas.openxmlformats.org/officeDocument/2006/relationships" id="312" r:id="R83ec60094d914523"/>
    <p:sldId xmlns:r="http://schemas.openxmlformats.org/officeDocument/2006/relationships" id="313" r:id="Ree4e15e78c9b4da6"/>
    <p:sldId xmlns:r="http://schemas.openxmlformats.org/officeDocument/2006/relationships" id="314" r:id="R3b5af436009b47ec"/>
    <p:sldId xmlns:r="http://schemas.openxmlformats.org/officeDocument/2006/relationships" id="315" r:id="R210012a172734e1a"/>
    <p:sldId xmlns:r="http://schemas.openxmlformats.org/officeDocument/2006/relationships" id="316" r:id="R54e9d83403964ff9"/>
    <p:sldId xmlns:r="http://schemas.openxmlformats.org/officeDocument/2006/relationships" id="317" r:id="R50627797ba1f4b0e"/>
    <p:sldId xmlns:r="http://schemas.openxmlformats.org/officeDocument/2006/relationships" id="318" r:id="Reee1d30ced9f46ab"/>
    <p:sldId xmlns:r="http://schemas.openxmlformats.org/officeDocument/2006/relationships" id="319" r:id="R6a6a20e8271a4db3"/>
    <p:sldId xmlns:r="http://schemas.openxmlformats.org/officeDocument/2006/relationships" id="320" r:id="R39acdd198ddd4e33"/>
    <p:sldId xmlns:r="http://schemas.openxmlformats.org/officeDocument/2006/relationships" id="321" r:id="R0f0fc35b675f4d18"/>
    <p:sldId xmlns:r="http://schemas.openxmlformats.org/officeDocument/2006/relationships" id="322" r:id="R81bf3b78a39a4e4e"/>
    <p:sldId xmlns:r="http://schemas.openxmlformats.org/officeDocument/2006/relationships" id="323" r:id="Re9c6209ac19c41a6"/>
    <p:sldId xmlns:r="http://schemas.openxmlformats.org/officeDocument/2006/relationships" id="324" r:id="R04538cd31abc4709"/>
    <p:sldId xmlns:r="http://schemas.openxmlformats.org/officeDocument/2006/relationships" id="325" r:id="Rb131c2d2e25340d4"/>
    <p:sldId xmlns:r="http://schemas.openxmlformats.org/officeDocument/2006/relationships" id="326" r:id="R5deb7ff9204b45f3"/>
    <p:sldId xmlns:r="http://schemas.openxmlformats.org/officeDocument/2006/relationships" id="327" r:id="Rd0c49c0f749c4d3a"/>
    <p:sldId xmlns:r="http://schemas.openxmlformats.org/officeDocument/2006/relationships" id="328" r:id="R9e32f52681d8433d"/>
    <p:sldId xmlns:r="http://schemas.openxmlformats.org/officeDocument/2006/relationships" id="329" r:id="Rf62328d51b2541d3"/>
    <p:sldId xmlns:r="http://schemas.openxmlformats.org/officeDocument/2006/relationships" id="330" r:id="R8fdb58d209c34185"/>
    <p:sldId xmlns:r="http://schemas.openxmlformats.org/officeDocument/2006/relationships" id="331" r:id="R1b57cdffd93449b8"/>
    <p:sldId xmlns:r="http://schemas.openxmlformats.org/officeDocument/2006/relationships" id="332" r:id="Rdc9a52d82d6c4631"/>
    <p:sldId xmlns:r="http://schemas.openxmlformats.org/officeDocument/2006/relationships" id="333" r:id="R4258dbeb9c5c4ac2"/>
    <p:sldId xmlns:r="http://schemas.openxmlformats.org/officeDocument/2006/relationships" id="334" r:id="R37fb325d5ac746c4"/>
    <p:sldId xmlns:r="http://schemas.openxmlformats.org/officeDocument/2006/relationships" id="335" r:id="Rd2c6a73de7d141fb"/>
    <p:sldId xmlns:r="http://schemas.openxmlformats.org/officeDocument/2006/relationships" id="336" r:id="Rbe053ca6a27348ef"/>
    <p:sldId xmlns:r="http://schemas.openxmlformats.org/officeDocument/2006/relationships" id="337" r:id="Redb1cfc7b97145d2"/>
    <p:sldId xmlns:r="http://schemas.openxmlformats.org/officeDocument/2006/relationships" id="338" r:id="R85c1c245526346e1"/>
    <p:sldId xmlns:r="http://schemas.openxmlformats.org/officeDocument/2006/relationships" id="339" r:id="R39b3bc81e0c6404f"/>
    <p:sldId xmlns:r="http://schemas.openxmlformats.org/officeDocument/2006/relationships" id="340" r:id="R6394996331324a15"/>
    <p:sldId xmlns:r="http://schemas.openxmlformats.org/officeDocument/2006/relationships" id="341" r:id="R633589cdfb154a24"/>
    <p:sldId xmlns:r="http://schemas.openxmlformats.org/officeDocument/2006/relationships" id="342" r:id="R6a87beec42ac410a"/>
    <p:sldId xmlns:r="http://schemas.openxmlformats.org/officeDocument/2006/relationships" id="343" r:id="R7c2f8795b4854954"/>
    <p:sldId xmlns:r="http://schemas.openxmlformats.org/officeDocument/2006/relationships" id="344" r:id="R6b6f758e82284cb0"/>
    <p:sldId xmlns:r="http://schemas.openxmlformats.org/officeDocument/2006/relationships" id="345" r:id="R9dd362627ca44b83"/>
    <p:sldId xmlns:r="http://schemas.openxmlformats.org/officeDocument/2006/relationships" id="346" r:id="R4e504449aa484583"/>
    <p:sldId xmlns:r="http://schemas.openxmlformats.org/officeDocument/2006/relationships" id="347" r:id="R35ee03612fba40cb"/>
    <p:sldId xmlns:r="http://schemas.openxmlformats.org/officeDocument/2006/relationships" id="348" r:id="R73ebec77303b4568"/>
    <p:sldId xmlns:r="http://schemas.openxmlformats.org/officeDocument/2006/relationships" id="349" r:id="Rf06d535646384b35"/>
    <p:sldId xmlns:r="http://schemas.openxmlformats.org/officeDocument/2006/relationships" id="350" r:id="R5a414258034c413e"/>
    <p:sldId xmlns:r="http://schemas.openxmlformats.org/officeDocument/2006/relationships" id="351" r:id="R1ee7648367e646f1"/>
    <p:sldId xmlns:r="http://schemas.openxmlformats.org/officeDocument/2006/relationships" id="352" r:id="R9ba91e6dc4194f7c"/>
    <p:sldId xmlns:r="http://schemas.openxmlformats.org/officeDocument/2006/relationships" id="353" r:id="Rc63465f6935e4548"/>
    <p:sldId xmlns:r="http://schemas.openxmlformats.org/officeDocument/2006/relationships" id="354" r:id="R2cd8321711044d8e"/>
    <p:sldId xmlns:r="http://schemas.openxmlformats.org/officeDocument/2006/relationships" id="355" r:id="R0b7f1407b24647e6"/>
    <p:sldId xmlns:r="http://schemas.openxmlformats.org/officeDocument/2006/relationships" id="356" r:id="R022250d3e4364e9e"/>
    <p:sldId xmlns:r="http://schemas.openxmlformats.org/officeDocument/2006/relationships" id="357" r:id="R3c863ffc57f949c9"/>
    <p:sldId xmlns:r="http://schemas.openxmlformats.org/officeDocument/2006/relationships" id="358" r:id="R08c000f897a14dc9"/>
    <p:sldId xmlns:r="http://schemas.openxmlformats.org/officeDocument/2006/relationships" id="359" r:id="Rf55bd12b11f14417"/>
    <p:sldId xmlns:r="http://schemas.openxmlformats.org/officeDocument/2006/relationships" id="360" r:id="Rbd075a17191041bc"/>
    <p:sldId xmlns:r="http://schemas.openxmlformats.org/officeDocument/2006/relationships" id="361" r:id="R47938f87be8c4c76"/>
    <p:sldId xmlns:r="http://schemas.openxmlformats.org/officeDocument/2006/relationships" id="362" r:id="R400c738ed02549d8"/>
    <p:sldId xmlns:r="http://schemas.openxmlformats.org/officeDocument/2006/relationships" id="363" r:id="Rcb0b6bba4a274a92"/>
    <p:sldId xmlns:r="http://schemas.openxmlformats.org/officeDocument/2006/relationships" id="364" r:id="R21e2237913ce418a"/>
    <p:sldId xmlns:r="http://schemas.openxmlformats.org/officeDocument/2006/relationships" id="365" r:id="Rff0b2e05f81f4c3e"/>
    <p:sldId xmlns:r="http://schemas.openxmlformats.org/officeDocument/2006/relationships" id="366" r:id="Rf90da97435d2403a"/>
    <p:sldId xmlns:r="http://schemas.openxmlformats.org/officeDocument/2006/relationships" id="367" r:id="Rfff4feac789a4ddd"/>
    <p:sldId xmlns:r="http://schemas.openxmlformats.org/officeDocument/2006/relationships" id="368" r:id="R6aa21822c7c944a7"/>
    <p:sldId xmlns:r="http://schemas.openxmlformats.org/officeDocument/2006/relationships" id="369" r:id="R0187e9d1a5714885"/>
    <p:sldId xmlns:r="http://schemas.openxmlformats.org/officeDocument/2006/relationships" id="370" r:id="R39415261c5294a6c"/>
    <p:sldId xmlns:r="http://schemas.openxmlformats.org/officeDocument/2006/relationships" id="371" r:id="Rc7f40836be2c47c3"/>
    <p:sldId xmlns:r="http://schemas.openxmlformats.org/officeDocument/2006/relationships" id="372" r:id="Ra13098d2007c493c"/>
    <p:sldId xmlns:r="http://schemas.openxmlformats.org/officeDocument/2006/relationships" id="373" r:id="Rdf0beb2c863543f8"/>
    <p:sldId xmlns:r="http://schemas.openxmlformats.org/officeDocument/2006/relationships" id="374" r:id="R0cd77452ee8c4675"/>
    <p:sldId xmlns:r="http://schemas.openxmlformats.org/officeDocument/2006/relationships" id="375" r:id="Racb08be5630f4649"/>
    <p:sldId xmlns:r="http://schemas.openxmlformats.org/officeDocument/2006/relationships" id="376" r:id="R19cdadf356b94c6e"/>
    <p:sldId xmlns:r="http://schemas.openxmlformats.org/officeDocument/2006/relationships" id="377" r:id="R9cc48ca139af4d95"/>
    <p:sldId xmlns:r="http://schemas.openxmlformats.org/officeDocument/2006/relationships" id="378" r:id="R6106cad65d924ba7"/>
    <p:sldId xmlns:r="http://schemas.openxmlformats.org/officeDocument/2006/relationships" id="379" r:id="Rbee32de57bb743bc"/>
    <p:sldId xmlns:r="http://schemas.openxmlformats.org/officeDocument/2006/relationships" id="380" r:id="Rcc3268077147442c"/>
    <p:sldId xmlns:r="http://schemas.openxmlformats.org/officeDocument/2006/relationships" id="381" r:id="R0f2fb92a9b534242"/>
    <p:sldId xmlns:r="http://schemas.openxmlformats.org/officeDocument/2006/relationships" id="382" r:id="R0076984e585b4144"/>
    <p:sldId xmlns:r="http://schemas.openxmlformats.org/officeDocument/2006/relationships" id="383" r:id="R27c64b471a0c4a86"/>
    <p:sldId xmlns:r="http://schemas.openxmlformats.org/officeDocument/2006/relationships" id="384" r:id="R2fd40e4132674371"/>
    <p:sldId xmlns:r="http://schemas.openxmlformats.org/officeDocument/2006/relationships" id="385" r:id="R2d711d767d284167"/>
    <p:sldId xmlns:r="http://schemas.openxmlformats.org/officeDocument/2006/relationships" id="386" r:id="R0fcf6c764c9a4a96"/>
    <p:sldId xmlns:r="http://schemas.openxmlformats.org/officeDocument/2006/relationships" id="387" r:id="R0da154dd333c432c"/>
    <p:sldId xmlns:r="http://schemas.openxmlformats.org/officeDocument/2006/relationships" id="388" r:id="R2cc0d429e3774261"/>
    <p:sldId xmlns:r="http://schemas.openxmlformats.org/officeDocument/2006/relationships" id="389" r:id="R81daca96ad0e43f2"/>
    <p:sldId xmlns:r="http://schemas.openxmlformats.org/officeDocument/2006/relationships" id="390" r:id="Rb9fbb5ab5e3d48b6"/>
    <p:sldId xmlns:r="http://schemas.openxmlformats.org/officeDocument/2006/relationships" id="391" r:id="Rafc980e09bb14622"/>
    <p:sldId xmlns:r="http://schemas.openxmlformats.org/officeDocument/2006/relationships" id="392" r:id="Rd3c832cd1aae4082"/>
    <p:sldId xmlns:r="http://schemas.openxmlformats.org/officeDocument/2006/relationships" id="393" r:id="Ra7f02836b7d049d6"/>
    <p:sldId xmlns:r="http://schemas.openxmlformats.org/officeDocument/2006/relationships" id="394" r:id="Rd88e6ef8323848e1"/>
  </p:sldIdLst>
  <p:sldSz cx="12192000" cy="6858000"/>
  <p:notesSz cx="6858000" cy="9144000"/>
  <p:embeddedFontLst>
    <p:embeddedFont>
      <p:font typeface="等线"/>
      <p:regular xmlns:r="http://schemas.openxmlformats.org/officeDocument/2006/relationships" r:id="Re137189b021e45f4"/>
      <p:bold xmlns:r="http://schemas.openxmlformats.org/officeDocument/2006/relationships" r:id="R2ff86366750a49f5"/>
    </p:embeddedFont>
    <p:embeddedFont>
      <p:font typeface="微软雅黑"/>
      <p:regular xmlns:r="http://schemas.openxmlformats.org/officeDocument/2006/relationships" r:id="R544e201cd4634b06"/>
      <p:bold xmlns:r="http://schemas.openxmlformats.org/officeDocument/2006/relationships" r:id="R0ef2f8737fc64976"/>
    </p:embeddedFont>
    <p:embeddedFont>
      <p:font typeface="黑体"/>
      <p:regular xmlns:r="http://schemas.openxmlformats.org/officeDocument/2006/relationships" r:id="R626bb8a4194d4e4c"/>
    </p:embeddedFont>
    <p:embeddedFont>
      <p:font typeface="宋体"/>
      <p:regular xmlns:r="http://schemas.openxmlformats.org/officeDocument/2006/relationships" r:id="R51bde6ddf38b435c"/>
    </p:embeddedFont>
    <p:embeddedFont>
      <p:font typeface="Arial Black"/>
      <p:bold xmlns:r="http://schemas.openxmlformats.org/officeDocument/2006/relationships" r:id="R68e6036ffbfe416c"/>
    </p:embeddedFont>
    <p:embeddedFont>
      <p:font typeface="Cambria Math"/>
      <p:regular xmlns:r="http://schemas.openxmlformats.org/officeDocument/2006/relationships" r:id="R57cd0ea16af44361"/>
    </p:embeddedFont>
    <p:embeddedFont>
      <p:font typeface="DejaVu Math TeX Gyre"/>
      <p:regular xmlns:r="http://schemas.openxmlformats.org/officeDocument/2006/relationships" r:id="R25c9118b69964789"/>
    </p:embeddedFont>
    <p:embeddedFont>
      <p:font typeface="DM Sans"/>
      <p:regular xmlns:r="http://schemas.openxmlformats.org/officeDocument/2006/relationships" r:id="Re4ce1f2ef0ee4acf"/>
      <p:bold xmlns:r="http://schemas.openxmlformats.org/officeDocument/2006/relationships" r:id="Rd4ba7c76c7f3486f"/>
      <p:italic xmlns:r="http://schemas.openxmlformats.org/officeDocument/2006/relationships" r:id="R0419d40c7d48497e"/>
      <p:boldItalic xmlns:r="http://schemas.openxmlformats.org/officeDocument/2006/relationships" r:id="R73cd3ff4a5224994"/>
    </p:embeddedFont>
    <p:embeddedFont>
      <p:font typeface="Lato"/>
      <p:regular xmlns:r="http://schemas.openxmlformats.org/officeDocument/2006/relationships" r:id="Rd4f6ac6cf09348d1"/>
      <p:boldItalic xmlns:r="http://schemas.openxmlformats.org/officeDocument/2006/relationships" r:id="Rb0ea923a4123497f"/>
    </p:embeddedFont>
    <p:embeddedFont>
      <p:font typeface="Noto Sans SC"/>
      <p:regular xmlns:r="http://schemas.openxmlformats.org/officeDocument/2006/relationships" r:id="R8813fcd9a5c64235"/>
      <p:bold xmlns:r="http://schemas.openxmlformats.org/officeDocument/2006/relationships" r:id="R3220577e6e0d4b4d"/>
    </p:embeddedFont>
    <p:embeddedFont>
      <p:font typeface="Poppins"/>
      <p:regular xmlns:r="http://schemas.openxmlformats.org/officeDocument/2006/relationships" r:id="R212018f0333e4935"/>
      <p:bold xmlns:r="http://schemas.openxmlformats.org/officeDocument/2006/relationships" r:id="R18275a3990684d55"/>
      <p:italic xmlns:r="http://schemas.openxmlformats.org/officeDocument/2006/relationships" r:id="R84e8cfeb5e0243f5"/>
      <p:boldItalic xmlns:r="http://schemas.openxmlformats.org/officeDocument/2006/relationships" r:id="Rb512eb4598bd4efa"/>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d0c9e2668144c3b" /><Relationship Type="http://schemas.openxmlformats.org/officeDocument/2006/relationships/slideMaster" Target="/ppt/slideMasters/slideMaster1.xml" Id="R0da78594bc364975" /><Relationship Type="http://schemas.openxmlformats.org/officeDocument/2006/relationships/notesMaster" Target="/ppt/notesMasters/notesMaster1.xml" Id="Rb446d455268f4d0b" /><Relationship Type="http://schemas.openxmlformats.org/officeDocument/2006/relationships/presProps" Target="/ppt/presProps.xml" Id="Rfcc62cba92d74d63" /><Relationship Type="http://schemas.openxmlformats.org/officeDocument/2006/relationships/viewProps" Target="/ppt/viewProps.xml" Id="R6a2ccab4cc0c45eb" /><Relationship Type="http://schemas.openxmlformats.org/officeDocument/2006/relationships/tableStyles" Target="/ppt/tableStyles.xml" Id="R07772779d65a4195" /><Relationship Type="http://schemas.openxmlformats.org/officeDocument/2006/relationships/font" Target="/ppt/fonts/font.dat" Id="Re137189b021e45f4" /><Relationship Type="http://schemas.openxmlformats.org/officeDocument/2006/relationships/font" Target="/ppt/fonts/font2.dat" Id="R2ff86366750a49f5" /><Relationship Type="http://schemas.openxmlformats.org/officeDocument/2006/relationships/font" Target="/ppt/fonts/font3.dat" Id="R544e201cd4634b06" /><Relationship Type="http://schemas.openxmlformats.org/officeDocument/2006/relationships/font" Target="/ppt/fonts/font4.dat" Id="R0ef2f8737fc64976" /><Relationship Type="http://schemas.openxmlformats.org/officeDocument/2006/relationships/font" Target="/ppt/fonts/font5.dat" Id="R626bb8a4194d4e4c" /><Relationship Type="http://schemas.openxmlformats.org/officeDocument/2006/relationships/font" Target="/ppt/fonts/font6.dat" Id="R51bde6ddf38b435c" /><Relationship Type="http://schemas.openxmlformats.org/officeDocument/2006/relationships/font" Target="/ppt/fonts/font7.dat" Id="R68e6036ffbfe416c" /><Relationship Type="http://schemas.openxmlformats.org/officeDocument/2006/relationships/font" Target="/ppt/fonts/font8.dat" Id="R57cd0ea16af44361" /><Relationship Type="http://schemas.openxmlformats.org/officeDocument/2006/relationships/font" Target="/ppt/fonts/font9.dat" Id="R25c9118b69964789" /><Relationship Type="http://schemas.openxmlformats.org/officeDocument/2006/relationships/font" Target="/ppt/fonts/font10.dat" Id="Re4ce1f2ef0ee4acf" /><Relationship Type="http://schemas.openxmlformats.org/officeDocument/2006/relationships/font" Target="/ppt/fonts/font11.dat" Id="Rd4ba7c76c7f3486f" /><Relationship Type="http://schemas.openxmlformats.org/officeDocument/2006/relationships/font" Target="/ppt/fonts/font12.dat" Id="R0419d40c7d48497e" /><Relationship Type="http://schemas.openxmlformats.org/officeDocument/2006/relationships/font" Target="/ppt/fonts/font13.dat" Id="R73cd3ff4a5224994" /><Relationship Type="http://schemas.openxmlformats.org/officeDocument/2006/relationships/font" Target="/ppt/fonts/font14.dat" Id="Rd4f6ac6cf09348d1" /><Relationship Type="http://schemas.openxmlformats.org/officeDocument/2006/relationships/font" Target="/ppt/fonts/font15.dat" Id="Rb0ea923a4123497f" /><Relationship Type="http://schemas.openxmlformats.org/officeDocument/2006/relationships/font" Target="/ppt/fonts/font16.dat" Id="R8813fcd9a5c64235" /><Relationship Type="http://schemas.openxmlformats.org/officeDocument/2006/relationships/font" Target="/ppt/fonts/font17.dat" Id="R3220577e6e0d4b4d" /><Relationship Type="http://schemas.openxmlformats.org/officeDocument/2006/relationships/font" Target="/ppt/fonts/font18.dat" Id="R212018f0333e4935" /><Relationship Type="http://schemas.openxmlformats.org/officeDocument/2006/relationships/font" Target="/ppt/fonts/font19.dat" Id="R18275a3990684d55" /><Relationship Type="http://schemas.openxmlformats.org/officeDocument/2006/relationships/font" Target="/ppt/fonts/font20.dat" Id="R84e8cfeb5e0243f5" /><Relationship Type="http://schemas.openxmlformats.org/officeDocument/2006/relationships/font" Target="/ppt/fonts/font21.dat" Id="Rb512eb4598bd4efa" /><Relationship Type="http://schemas.openxmlformats.org/officeDocument/2006/relationships/slide" Target="/ppt/slides/slide1.xml" Id="R17f59b3791fa48c3" /><Relationship Type="http://schemas.openxmlformats.org/officeDocument/2006/relationships/slide" Target="/ppt/slides/slide2.xml" Id="R0ef69fa15a054619" /><Relationship Type="http://schemas.openxmlformats.org/officeDocument/2006/relationships/slide" Target="/ppt/slides/slide3.xml" Id="R0cfd417c3dc24cf0" /><Relationship Type="http://schemas.openxmlformats.org/officeDocument/2006/relationships/slide" Target="/ppt/slides/slide4.xml" Id="R6c8550a4768549de" /><Relationship Type="http://schemas.openxmlformats.org/officeDocument/2006/relationships/slide" Target="/ppt/slides/slide5.xml" Id="R02143b61047f4e48" /><Relationship Type="http://schemas.openxmlformats.org/officeDocument/2006/relationships/slide" Target="/ppt/slides/slide6.xml" Id="R5be3c7e0b8f9449a" /><Relationship Type="http://schemas.openxmlformats.org/officeDocument/2006/relationships/slide" Target="/ppt/slides/slide7.xml" Id="Raae97817574e44f1" /><Relationship Type="http://schemas.openxmlformats.org/officeDocument/2006/relationships/slide" Target="/ppt/slides/slide8.xml" Id="Rc33b9aab332c4b6d" /><Relationship Type="http://schemas.openxmlformats.org/officeDocument/2006/relationships/slide" Target="/ppt/slides/slide9.xml" Id="R103e9150936e421d" /><Relationship Type="http://schemas.openxmlformats.org/officeDocument/2006/relationships/slide" Target="/ppt/slides/slide10.xml" Id="R7804b139e1e64500" /><Relationship Type="http://schemas.openxmlformats.org/officeDocument/2006/relationships/slide" Target="/ppt/slides/slide11.xml" Id="R1b3f26c6d6534e15" /><Relationship Type="http://schemas.openxmlformats.org/officeDocument/2006/relationships/slide" Target="/ppt/slides/slide12.xml" Id="R9760198d14944087" /><Relationship Type="http://schemas.openxmlformats.org/officeDocument/2006/relationships/slide" Target="/ppt/slides/slide13.xml" Id="Rd9140607281649a3" /><Relationship Type="http://schemas.openxmlformats.org/officeDocument/2006/relationships/slide" Target="/ppt/slides/slide14.xml" Id="Rf6bb2134df0c44ca" /><Relationship Type="http://schemas.openxmlformats.org/officeDocument/2006/relationships/slide" Target="/ppt/slides/slide15.xml" Id="R9567e255db9441a1" /><Relationship Type="http://schemas.openxmlformats.org/officeDocument/2006/relationships/slide" Target="/ppt/slides/slide16.xml" Id="R15231915b544409c" /><Relationship Type="http://schemas.openxmlformats.org/officeDocument/2006/relationships/slide" Target="/ppt/slides/slide17.xml" Id="R4e084cb2619a42cb" /><Relationship Type="http://schemas.openxmlformats.org/officeDocument/2006/relationships/slide" Target="/ppt/slides/slide18.xml" Id="R79efef233744498b" /><Relationship Type="http://schemas.openxmlformats.org/officeDocument/2006/relationships/slide" Target="/ppt/slides/slide19.xml" Id="R3abeb9254c424646" /><Relationship Type="http://schemas.openxmlformats.org/officeDocument/2006/relationships/slide" Target="/ppt/slides/slide20.xml" Id="R3dbba287b80d4b24" /><Relationship Type="http://schemas.openxmlformats.org/officeDocument/2006/relationships/slide" Target="/ppt/slides/slide21.xml" Id="R8db58f6db8a241eb" /><Relationship Type="http://schemas.openxmlformats.org/officeDocument/2006/relationships/slide" Target="/ppt/slides/slide22.xml" Id="R2dae4f8a3ec44469" /><Relationship Type="http://schemas.openxmlformats.org/officeDocument/2006/relationships/slide" Target="/ppt/slides/slide23.xml" Id="R7b4d2d04094847f2" /><Relationship Type="http://schemas.openxmlformats.org/officeDocument/2006/relationships/slide" Target="/ppt/slides/slide24.xml" Id="R5fb11a8bc76247c7" /><Relationship Type="http://schemas.openxmlformats.org/officeDocument/2006/relationships/slide" Target="/ppt/slides/slide25.xml" Id="R6a89f4e0e05a4652" /><Relationship Type="http://schemas.openxmlformats.org/officeDocument/2006/relationships/slide" Target="/ppt/slides/slide26.xml" Id="Rff2497d5f009483e" /><Relationship Type="http://schemas.openxmlformats.org/officeDocument/2006/relationships/slide" Target="/ppt/slides/slide27.xml" Id="R4281e75dc5ba4e5d" /><Relationship Type="http://schemas.openxmlformats.org/officeDocument/2006/relationships/slide" Target="/ppt/slides/slide28.xml" Id="R29f0cdc01ca248d4" /><Relationship Type="http://schemas.openxmlformats.org/officeDocument/2006/relationships/slide" Target="/ppt/slides/slide29.xml" Id="R3f2425b1bfbb41e7" /><Relationship Type="http://schemas.openxmlformats.org/officeDocument/2006/relationships/slide" Target="/ppt/slides/slide30.xml" Id="R9eaee8dafd13432a" /><Relationship Type="http://schemas.openxmlformats.org/officeDocument/2006/relationships/slide" Target="/ppt/slides/slide31.xml" Id="R4402b29889384514" /><Relationship Type="http://schemas.openxmlformats.org/officeDocument/2006/relationships/slide" Target="/ppt/slides/slide32.xml" Id="R1755b59c7eb9464d" /><Relationship Type="http://schemas.openxmlformats.org/officeDocument/2006/relationships/slide" Target="/ppt/slides/slide33.xml" Id="R3c3493e548f74ecd" /><Relationship Type="http://schemas.openxmlformats.org/officeDocument/2006/relationships/slide" Target="/ppt/slides/slide34.xml" Id="R6f8e39d75b6a47b5" /><Relationship Type="http://schemas.openxmlformats.org/officeDocument/2006/relationships/slide" Target="/ppt/slides/slide35.xml" Id="R99e07621447047bd" /><Relationship Type="http://schemas.openxmlformats.org/officeDocument/2006/relationships/slide" Target="/ppt/slides/slide36.xml" Id="R598537bfea9d45cb" /><Relationship Type="http://schemas.openxmlformats.org/officeDocument/2006/relationships/slide" Target="/ppt/slides/slide37.xml" Id="Rd2ab0a80cd7c49e9" /><Relationship Type="http://schemas.openxmlformats.org/officeDocument/2006/relationships/slide" Target="/ppt/slides/slide38.xml" Id="Rb7b0106dd25244ee" /><Relationship Type="http://schemas.openxmlformats.org/officeDocument/2006/relationships/slide" Target="/ppt/slides/slide39.xml" Id="R560b757c815c4dad" /><Relationship Type="http://schemas.openxmlformats.org/officeDocument/2006/relationships/slide" Target="/ppt/slides/slide40.xml" Id="Rc1e58a87abf049b7" /><Relationship Type="http://schemas.openxmlformats.org/officeDocument/2006/relationships/slide" Target="/ppt/slides/slide41.xml" Id="Rfa9ac901d8ba4387" /><Relationship Type="http://schemas.openxmlformats.org/officeDocument/2006/relationships/slide" Target="/ppt/slides/slide42.xml" Id="R71c8b37aa84f481c" /><Relationship Type="http://schemas.openxmlformats.org/officeDocument/2006/relationships/slide" Target="/ppt/slides/slide43.xml" Id="Rfc9ca7852c9449c0" /><Relationship Type="http://schemas.openxmlformats.org/officeDocument/2006/relationships/slide" Target="/ppt/slides/slide44.xml" Id="Re3d5c38a42774c92" /><Relationship Type="http://schemas.openxmlformats.org/officeDocument/2006/relationships/slide" Target="/ppt/slides/slide45.xml" Id="Rbf7498a467b2469e" /><Relationship Type="http://schemas.openxmlformats.org/officeDocument/2006/relationships/slide" Target="/ppt/slides/slide46.xml" Id="R5dab20b8d6884aa3" /><Relationship Type="http://schemas.openxmlformats.org/officeDocument/2006/relationships/slide" Target="/ppt/slides/slide47.xml" Id="R724235f9da3e441e" /><Relationship Type="http://schemas.openxmlformats.org/officeDocument/2006/relationships/slide" Target="/ppt/slides/slide48.xml" Id="R352002953db846f8" /><Relationship Type="http://schemas.openxmlformats.org/officeDocument/2006/relationships/slide" Target="/ppt/slides/slide49.xml" Id="R8866263eee4849ea" /><Relationship Type="http://schemas.openxmlformats.org/officeDocument/2006/relationships/slide" Target="/ppt/slides/slide50.xml" Id="R7e038d162ee84421" /><Relationship Type="http://schemas.openxmlformats.org/officeDocument/2006/relationships/slide" Target="/ppt/slides/slide51.xml" Id="Rab244f51a938459e" /><Relationship Type="http://schemas.openxmlformats.org/officeDocument/2006/relationships/slide" Target="/ppt/slides/slide52.xml" Id="Rd18acb95c004488a" /><Relationship Type="http://schemas.openxmlformats.org/officeDocument/2006/relationships/slide" Target="/ppt/slides/slide53.xml" Id="R92101f4cf2ee479d" /><Relationship Type="http://schemas.openxmlformats.org/officeDocument/2006/relationships/slide" Target="/ppt/slides/slide54.xml" Id="Rfb65c912088f42d4" /><Relationship Type="http://schemas.openxmlformats.org/officeDocument/2006/relationships/slide" Target="/ppt/slides/slide55.xml" Id="Read17efcca11403b" /><Relationship Type="http://schemas.openxmlformats.org/officeDocument/2006/relationships/slide" Target="/ppt/slides/slide56.xml" Id="R2a46c3d46f3443fd" /><Relationship Type="http://schemas.openxmlformats.org/officeDocument/2006/relationships/slide" Target="/ppt/slides/slide57.xml" Id="R83ec60094d914523" /><Relationship Type="http://schemas.openxmlformats.org/officeDocument/2006/relationships/slide" Target="/ppt/slides/slide58.xml" Id="Ree4e15e78c9b4da6" /><Relationship Type="http://schemas.openxmlformats.org/officeDocument/2006/relationships/slide" Target="/ppt/slides/slide59.xml" Id="R3b5af436009b47ec" /><Relationship Type="http://schemas.openxmlformats.org/officeDocument/2006/relationships/slide" Target="/ppt/slides/slide60.xml" Id="R210012a172734e1a" /><Relationship Type="http://schemas.openxmlformats.org/officeDocument/2006/relationships/slide" Target="/ppt/slides/slide61.xml" Id="R54e9d83403964ff9" /><Relationship Type="http://schemas.openxmlformats.org/officeDocument/2006/relationships/slide" Target="/ppt/slides/slide62.xml" Id="R50627797ba1f4b0e" /><Relationship Type="http://schemas.openxmlformats.org/officeDocument/2006/relationships/slide" Target="/ppt/slides/slide63.xml" Id="Reee1d30ced9f46ab" /><Relationship Type="http://schemas.openxmlformats.org/officeDocument/2006/relationships/slide" Target="/ppt/slides/slide64.xml" Id="R6a6a20e8271a4db3" /><Relationship Type="http://schemas.openxmlformats.org/officeDocument/2006/relationships/slide" Target="/ppt/slides/slide65.xml" Id="R39acdd198ddd4e33" /><Relationship Type="http://schemas.openxmlformats.org/officeDocument/2006/relationships/slide" Target="/ppt/slides/slide66.xml" Id="R0f0fc35b675f4d18" /><Relationship Type="http://schemas.openxmlformats.org/officeDocument/2006/relationships/slide" Target="/ppt/slides/slide67.xml" Id="R81bf3b78a39a4e4e" /><Relationship Type="http://schemas.openxmlformats.org/officeDocument/2006/relationships/slide" Target="/ppt/slides/slide68.xml" Id="Re9c6209ac19c41a6" /><Relationship Type="http://schemas.openxmlformats.org/officeDocument/2006/relationships/slide" Target="/ppt/slides/slide69.xml" Id="R04538cd31abc4709" /><Relationship Type="http://schemas.openxmlformats.org/officeDocument/2006/relationships/slide" Target="/ppt/slides/slide70.xml" Id="Rb131c2d2e25340d4" /><Relationship Type="http://schemas.openxmlformats.org/officeDocument/2006/relationships/slide" Target="/ppt/slides/slide71.xml" Id="R5deb7ff9204b45f3" /><Relationship Type="http://schemas.openxmlformats.org/officeDocument/2006/relationships/slide" Target="/ppt/slides/slide72.xml" Id="Rd0c49c0f749c4d3a" /><Relationship Type="http://schemas.openxmlformats.org/officeDocument/2006/relationships/slide" Target="/ppt/slides/slide73.xml" Id="R9e32f52681d8433d" /><Relationship Type="http://schemas.openxmlformats.org/officeDocument/2006/relationships/slide" Target="/ppt/slides/slide74.xml" Id="Rf62328d51b2541d3" /><Relationship Type="http://schemas.openxmlformats.org/officeDocument/2006/relationships/slide" Target="/ppt/slides/slide75.xml" Id="R8fdb58d209c34185" /><Relationship Type="http://schemas.openxmlformats.org/officeDocument/2006/relationships/slide" Target="/ppt/slides/slide76.xml" Id="R1b57cdffd93449b8" /><Relationship Type="http://schemas.openxmlformats.org/officeDocument/2006/relationships/slide" Target="/ppt/slides/slide77.xml" Id="Rdc9a52d82d6c4631" /><Relationship Type="http://schemas.openxmlformats.org/officeDocument/2006/relationships/slide" Target="/ppt/slides/slide78.xml" Id="R4258dbeb9c5c4ac2" /><Relationship Type="http://schemas.openxmlformats.org/officeDocument/2006/relationships/slide" Target="/ppt/slides/slide79.xml" Id="R37fb325d5ac746c4" /><Relationship Type="http://schemas.openxmlformats.org/officeDocument/2006/relationships/slide" Target="/ppt/slides/slide80.xml" Id="Rd2c6a73de7d141fb" /><Relationship Type="http://schemas.openxmlformats.org/officeDocument/2006/relationships/slide" Target="/ppt/slides/slide81.xml" Id="Rbe053ca6a27348ef" /><Relationship Type="http://schemas.openxmlformats.org/officeDocument/2006/relationships/slide" Target="/ppt/slides/slide82.xml" Id="Redb1cfc7b97145d2" /><Relationship Type="http://schemas.openxmlformats.org/officeDocument/2006/relationships/slide" Target="/ppt/slides/slide83.xml" Id="R85c1c245526346e1" /><Relationship Type="http://schemas.openxmlformats.org/officeDocument/2006/relationships/slide" Target="/ppt/slides/slide84.xml" Id="R39b3bc81e0c6404f" /><Relationship Type="http://schemas.openxmlformats.org/officeDocument/2006/relationships/slide" Target="/ppt/slides/slide85.xml" Id="R6394996331324a15" /><Relationship Type="http://schemas.openxmlformats.org/officeDocument/2006/relationships/slide" Target="/ppt/slides/slide86.xml" Id="R633589cdfb154a24" /><Relationship Type="http://schemas.openxmlformats.org/officeDocument/2006/relationships/slide" Target="/ppt/slides/slide87.xml" Id="R6a87beec42ac410a" /><Relationship Type="http://schemas.openxmlformats.org/officeDocument/2006/relationships/slide" Target="/ppt/slides/slide88.xml" Id="R7c2f8795b4854954" /><Relationship Type="http://schemas.openxmlformats.org/officeDocument/2006/relationships/slide" Target="/ppt/slides/slide89.xml" Id="R6b6f758e82284cb0" /><Relationship Type="http://schemas.openxmlformats.org/officeDocument/2006/relationships/slide" Target="/ppt/slides/slide90.xml" Id="R9dd362627ca44b83" /><Relationship Type="http://schemas.openxmlformats.org/officeDocument/2006/relationships/slide" Target="/ppt/slides/slide91.xml" Id="R4e504449aa484583" /><Relationship Type="http://schemas.openxmlformats.org/officeDocument/2006/relationships/slide" Target="/ppt/slides/slide92.xml" Id="R35ee03612fba40cb" /><Relationship Type="http://schemas.openxmlformats.org/officeDocument/2006/relationships/slide" Target="/ppt/slides/slide93.xml" Id="R73ebec77303b4568" /><Relationship Type="http://schemas.openxmlformats.org/officeDocument/2006/relationships/slide" Target="/ppt/slides/slide94.xml" Id="Rf06d535646384b35" /><Relationship Type="http://schemas.openxmlformats.org/officeDocument/2006/relationships/slide" Target="/ppt/slides/slide95.xml" Id="R5a414258034c413e" /><Relationship Type="http://schemas.openxmlformats.org/officeDocument/2006/relationships/slide" Target="/ppt/slides/slide96.xml" Id="R1ee7648367e646f1" /><Relationship Type="http://schemas.openxmlformats.org/officeDocument/2006/relationships/slide" Target="/ppt/slides/slide97.xml" Id="R9ba91e6dc4194f7c" /><Relationship Type="http://schemas.openxmlformats.org/officeDocument/2006/relationships/slide" Target="/ppt/slides/slide98.xml" Id="Rc63465f6935e4548" /><Relationship Type="http://schemas.openxmlformats.org/officeDocument/2006/relationships/slide" Target="/ppt/slides/slide99.xml" Id="R2cd8321711044d8e" /><Relationship Type="http://schemas.openxmlformats.org/officeDocument/2006/relationships/slide" Target="/ppt/slides/slide100.xml" Id="R0b7f1407b24647e6" /><Relationship Type="http://schemas.openxmlformats.org/officeDocument/2006/relationships/slide" Target="/ppt/slides/slide101.xml" Id="R022250d3e4364e9e" /><Relationship Type="http://schemas.openxmlformats.org/officeDocument/2006/relationships/slide" Target="/ppt/slides/slide102.xml" Id="R3c863ffc57f949c9" /><Relationship Type="http://schemas.openxmlformats.org/officeDocument/2006/relationships/slide" Target="/ppt/slides/slide103.xml" Id="R08c000f897a14dc9" /><Relationship Type="http://schemas.openxmlformats.org/officeDocument/2006/relationships/slide" Target="/ppt/slides/slide104.xml" Id="Rf55bd12b11f14417" /><Relationship Type="http://schemas.openxmlformats.org/officeDocument/2006/relationships/slide" Target="/ppt/slides/slide105.xml" Id="Rbd075a17191041bc" /><Relationship Type="http://schemas.openxmlformats.org/officeDocument/2006/relationships/slide" Target="/ppt/slides/slide106.xml" Id="R47938f87be8c4c76" /><Relationship Type="http://schemas.openxmlformats.org/officeDocument/2006/relationships/slide" Target="/ppt/slides/slide107.xml" Id="R400c738ed02549d8" /><Relationship Type="http://schemas.openxmlformats.org/officeDocument/2006/relationships/slide" Target="/ppt/slides/slide108.xml" Id="Rcb0b6bba4a274a92" /><Relationship Type="http://schemas.openxmlformats.org/officeDocument/2006/relationships/slide" Target="/ppt/slides/slide109.xml" Id="R21e2237913ce418a" /><Relationship Type="http://schemas.openxmlformats.org/officeDocument/2006/relationships/slide" Target="/ppt/slides/slide110.xml" Id="Rff0b2e05f81f4c3e" /><Relationship Type="http://schemas.openxmlformats.org/officeDocument/2006/relationships/slide" Target="/ppt/slides/slide111.xml" Id="Rf90da97435d2403a" /><Relationship Type="http://schemas.openxmlformats.org/officeDocument/2006/relationships/slide" Target="/ppt/slides/slide112.xml" Id="Rfff4feac789a4ddd" /><Relationship Type="http://schemas.openxmlformats.org/officeDocument/2006/relationships/slide" Target="/ppt/slides/slide113.xml" Id="R6aa21822c7c944a7" /><Relationship Type="http://schemas.openxmlformats.org/officeDocument/2006/relationships/slide" Target="/ppt/slides/slide114.xml" Id="R0187e9d1a5714885" /><Relationship Type="http://schemas.openxmlformats.org/officeDocument/2006/relationships/slide" Target="/ppt/slides/slide115.xml" Id="R39415261c5294a6c" /><Relationship Type="http://schemas.openxmlformats.org/officeDocument/2006/relationships/slide" Target="/ppt/slides/slide116.xml" Id="Rc7f40836be2c47c3" /><Relationship Type="http://schemas.openxmlformats.org/officeDocument/2006/relationships/slide" Target="/ppt/slides/slide117.xml" Id="Ra13098d2007c493c" /><Relationship Type="http://schemas.openxmlformats.org/officeDocument/2006/relationships/slide" Target="/ppt/slides/slide118.xml" Id="Rdf0beb2c863543f8" /><Relationship Type="http://schemas.openxmlformats.org/officeDocument/2006/relationships/slide" Target="/ppt/slides/slide119.xml" Id="R0cd77452ee8c4675" /><Relationship Type="http://schemas.openxmlformats.org/officeDocument/2006/relationships/slide" Target="/ppt/slides/slide120.xml" Id="Racb08be5630f4649" /><Relationship Type="http://schemas.openxmlformats.org/officeDocument/2006/relationships/slide" Target="/ppt/slides/slide121.xml" Id="R19cdadf356b94c6e" /><Relationship Type="http://schemas.openxmlformats.org/officeDocument/2006/relationships/slide" Target="/ppt/slides/slide122.xml" Id="R9cc48ca139af4d95" /><Relationship Type="http://schemas.openxmlformats.org/officeDocument/2006/relationships/slide" Target="/ppt/slides/slide123.xml" Id="R6106cad65d924ba7" /><Relationship Type="http://schemas.openxmlformats.org/officeDocument/2006/relationships/slide" Target="/ppt/slides/slide124.xml" Id="Rbee32de57bb743bc" /><Relationship Type="http://schemas.openxmlformats.org/officeDocument/2006/relationships/slide" Target="/ppt/slides/slide125.xml" Id="Rcc3268077147442c" /><Relationship Type="http://schemas.openxmlformats.org/officeDocument/2006/relationships/slide" Target="/ppt/slides/slide126.xml" Id="R0f2fb92a9b534242" /><Relationship Type="http://schemas.openxmlformats.org/officeDocument/2006/relationships/slide" Target="/ppt/slides/slide127.xml" Id="R0076984e585b4144" /><Relationship Type="http://schemas.openxmlformats.org/officeDocument/2006/relationships/slide" Target="/ppt/slides/slide128.xml" Id="R27c64b471a0c4a86" /><Relationship Type="http://schemas.openxmlformats.org/officeDocument/2006/relationships/slide" Target="/ppt/slides/slide129.xml" Id="R2fd40e4132674371" /><Relationship Type="http://schemas.openxmlformats.org/officeDocument/2006/relationships/slide" Target="/ppt/slides/slide130.xml" Id="R2d711d767d284167" /><Relationship Type="http://schemas.openxmlformats.org/officeDocument/2006/relationships/slide" Target="/ppt/slides/slide131.xml" Id="R0fcf6c764c9a4a96" /><Relationship Type="http://schemas.openxmlformats.org/officeDocument/2006/relationships/slide" Target="/ppt/slides/slide132.xml" Id="R0da154dd333c432c" /><Relationship Type="http://schemas.openxmlformats.org/officeDocument/2006/relationships/slide" Target="/ppt/slides/slide133.xml" Id="R2cc0d429e3774261" /><Relationship Type="http://schemas.openxmlformats.org/officeDocument/2006/relationships/slide" Target="/ppt/slides/slide134.xml" Id="R81daca96ad0e43f2" /><Relationship Type="http://schemas.openxmlformats.org/officeDocument/2006/relationships/slide" Target="/ppt/slides/slide135.xml" Id="Rb9fbb5ab5e3d48b6" /><Relationship Type="http://schemas.openxmlformats.org/officeDocument/2006/relationships/slide" Target="/ppt/slides/slide136.xml" Id="Rafc980e09bb14622" /><Relationship Type="http://schemas.openxmlformats.org/officeDocument/2006/relationships/slide" Target="/ppt/slides/slide137.xml" Id="Rd3c832cd1aae4082" /><Relationship Type="http://schemas.openxmlformats.org/officeDocument/2006/relationships/slide" Target="/ppt/slides/slide138.xml" Id="Ra7f02836b7d049d6" /><Relationship Type="http://schemas.openxmlformats.org/officeDocument/2006/relationships/slide" Target="/ppt/slides/slide139.xml" Id="Rd88e6ef8323848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f92c3c999745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0718">
      <a:dk1>
        <a:sysClr val="windowText" lastClr="000000"/>
      </a:dk1>
      <a:lt1>
        <a:sysClr val="window" lastClr="FFFFFF"/>
      </a:lt1>
      <a:dk2>
        <a:srgbClr val="000000"/>
      </a:dk2>
      <a:lt2>
        <a:srgbClr val="FFFFFF"/>
      </a:lt2>
      <a:accent1>
        <a:srgbClr val="0D2D7F"/>
      </a:accent1>
      <a:accent2>
        <a:srgbClr val="0C47AF"/>
      </a:accent2>
      <a:accent3>
        <a:srgbClr val="00BBFB"/>
      </a:accent3>
      <a:accent4>
        <a:srgbClr val="FFC000"/>
      </a:accent4>
      <a:accent5>
        <a:srgbClr val="5B9BD5"/>
      </a:accent5>
      <a:accent6>
        <a:srgbClr val="70AD47"/>
      </a:accent6>
      <a:hlink>
        <a:srgbClr val="0563C1"/>
      </a:hlink>
      <a:folHlink>
        <a:srgbClr val="954F72"/>
      </a:folHlink>
    </a:clrScheme>
    <a:fontScheme name="自定义 11">
      <a:majorFont>
        <a:latin typeface="Arial Black"/>
        <a:ea typeface="微软雅黑"/>
        <a:cs typeface=""/>
      </a:majorFont>
      <a:minorFont>
        <a:latin typeface="Arial"/>
        <a:ea typeface="微软雅黑"/>
        <a:cs typeface=""/>
      </a:minorFont>
    </a:fontScheme>
    <a:fmtScheme name="0718">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23b3f83d224098" /><Relationship Type="http://schemas.openxmlformats.org/officeDocument/2006/relationships/notesMaster" Target="/ppt/notesMasters/notesMaster1.xml" Id="R0825ad4e052c40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cee7bf7db34199" /><Relationship Type="http://schemas.openxmlformats.org/officeDocument/2006/relationships/notesMaster" Target="/ppt/notesMasters/notesMaster1.xml" Id="R0632cff487d24e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0fc5a033134ce9" /><Relationship Type="http://schemas.openxmlformats.org/officeDocument/2006/relationships/notesMaster" Target="/ppt/notesMasters/notesMaster1.xml" Id="R000342dadd9347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ac1e8d68fa4df8" /><Relationship Type="http://schemas.openxmlformats.org/officeDocument/2006/relationships/notesMaster" Target="/ppt/notesMasters/notesMaster1.xml" Id="R70381b98be9d41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06077b072a4618" /><Relationship Type="http://schemas.openxmlformats.org/officeDocument/2006/relationships/notesMaster" Target="/ppt/notesMasters/notesMaster1.xml" Id="Rb8ec36d873f645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4d1edca0d748e1" /><Relationship Type="http://schemas.openxmlformats.org/officeDocument/2006/relationships/notesMaster" Target="/ppt/notesMasters/notesMaster1.xml" Id="R753f6a7a3fed4a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aef71cf4104b53" /><Relationship Type="http://schemas.openxmlformats.org/officeDocument/2006/relationships/notesMaster" Target="/ppt/notesMasters/notesMaster1.xml" Id="R586ae98abb8f4e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b83343a9be4945" /><Relationship Type="http://schemas.openxmlformats.org/officeDocument/2006/relationships/notesMaster" Target="/ppt/notesMasters/notesMaster1.xml" Id="Rbcd25e1369e542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66adaf76b94d9f" /><Relationship Type="http://schemas.openxmlformats.org/officeDocument/2006/relationships/notesMaster" Target="/ppt/notesMasters/notesMaster1.xml" Id="Rce73a71e3bf54a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d4812b668846e7" /><Relationship Type="http://schemas.openxmlformats.org/officeDocument/2006/relationships/notesMaster" Target="/ppt/notesMasters/notesMaster1.xml" Id="R5277901919c548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535f2f11de4645" /><Relationship Type="http://schemas.openxmlformats.org/officeDocument/2006/relationships/notesMaster" Target="/ppt/notesMasters/notesMaster1.xml" Id="R17b4f1b066664c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573a8016e44af5" /><Relationship Type="http://schemas.openxmlformats.org/officeDocument/2006/relationships/notesMaster" Target="/ppt/notesMasters/notesMaster1.xml" Id="Rbbd2c767e8584b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906bcb469445dd" /><Relationship Type="http://schemas.openxmlformats.org/officeDocument/2006/relationships/notesMaster" Target="/ppt/notesMasters/notesMaster1.xml" Id="R6301ce2ed4324f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f15f59244a4088" /><Relationship Type="http://schemas.openxmlformats.org/officeDocument/2006/relationships/notesMaster" Target="/ppt/notesMasters/notesMaster1.xml" Id="R15c517c93e3245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e610f770bb4354" /><Relationship Type="http://schemas.openxmlformats.org/officeDocument/2006/relationships/notesMaster" Target="/ppt/notesMasters/notesMaster1.xml" Id="R366ebdaac3324c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89cc6317b04752" /><Relationship Type="http://schemas.openxmlformats.org/officeDocument/2006/relationships/notesMaster" Target="/ppt/notesMasters/notesMaster1.xml" Id="Re77a41e1867644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feedd472274fac" /><Relationship Type="http://schemas.openxmlformats.org/officeDocument/2006/relationships/notesMaster" Target="/ppt/notesMasters/notesMaster1.xml" Id="Rf9a94f0947ea4e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31cbd397fb4796" /><Relationship Type="http://schemas.openxmlformats.org/officeDocument/2006/relationships/notesMaster" Target="/ppt/notesMasters/notesMaster1.xml" Id="Re1f7df295a5244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35cbcc874d4930" /><Relationship Type="http://schemas.openxmlformats.org/officeDocument/2006/relationships/notesMaster" Target="/ppt/notesMasters/notesMaster1.xml" Id="Ra2fd1bbee8e04b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6ff68fef3844a36" /><Relationship Type="http://schemas.openxmlformats.org/officeDocument/2006/relationships/notesMaster" Target="/ppt/notesMasters/notesMaster1.xml" Id="R6f15f4ec070c46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983c75a8d534acb" /><Relationship Type="http://schemas.openxmlformats.org/officeDocument/2006/relationships/notesMaster" Target="/ppt/notesMasters/notesMaster1.xml" Id="Rbb200cfcdd144c0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c1c52f2561e4cc7" /><Relationship Type="http://schemas.openxmlformats.org/officeDocument/2006/relationships/notesMaster" Target="/ppt/notesMasters/notesMaster1.xml" Id="Reb0cab34adc94b1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401105549e441d6" /><Relationship Type="http://schemas.openxmlformats.org/officeDocument/2006/relationships/notesMaster" Target="/ppt/notesMasters/notesMaster1.xml" Id="R15971d2de79442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599414feb784ff0" /><Relationship Type="http://schemas.openxmlformats.org/officeDocument/2006/relationships/notesMaster" Target="/ppt/notesMasters/notesMaster1.xml" Id="Reb375b266b3745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3dec6b042ae45d2" /><Relationship Type="http://schemas.openxmlformats.org/officeDocument/2006/relationships/notesMaster" Target="/ppt/notesMasters/notesMaster1.xml" Id="R61e4eebfa6844fb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2524c263c549d5" /><Relationship Type="http://schemas.openxmlformats.org/officeDocument/2006/relationships/notesMaster" Target="/ppt/notesMasters/notesMaster1.xml" Id="R702c8fe241774c9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392f0e0685f41b5" /><Relationship Type="http://schemas.openxmlformats.org/officeDocument/2006/relationships/notesMaster" Target="/ppt/notesMasters/notesMaster1.xml" Id="R88201d4f7780484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af78cfdc12840d5" /><Relationship Type="http://schemas.openxmlformats.org/officeDocument/2006/relationships/notesMaster" Target="/ppt/notesMasters/notesMaster1.xml" Id="Rf5044008775f464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b4e878bbdc24413" /><Relationship Type="http://schemas.openxmlformats.org/officeDocument/2006/relationships/notesMaster" Target="/ppt/notesMasters/notesMaster1.xml" Id="R7c11ceca7653485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bc130d9384143ab" /><Relationship Type="http://schemas.openxmlformats.org/officeDocument/2006/relationships/notesMaster" Target="/ppt/notesMasters/notesMaster1.xml" Id="Rd58197a586594b0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5ee83a8d8fd4a26" /><Relationship Type="http://schemas.openxmlformats.org/officeDocument/2006/relationships/notesMaster" Target="/ppt/notesMasters/notesMaster1.xml" Id="Rcbd38144bc7a44f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85f2af7ff844a3" /><Relationship Type="http://schemas.openxmlformats.org/officeDocument/2006/relationships/notesMaster" Target="/ppt/notesMasters/notesMaster1.xml" Id="R33c972f65ff0465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e87b8ca4d144725" /><Relationship Type="http://schemas.openxmlformats.org/officeDocument/2006/relationships/notesMaster" Target="/ppt/notesMasters/notesMaster1.xml" Id="R759343717ea1476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4edce00b3564dbb" /><Relationship Type="http://schemas.openxmlformats.org/officeDocument/2006/relationships/notesMaster" Target="/ppt/notesMasters/notesMaster1.xml" Id="R91edb50ec7ed4cb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5d726c748e94737" /><Relationship Type="http://schemas.openxmlformats.org/officeDocument/2006/relationships/notesMaster" Target="/ppt/notesMasters/notesMaster1.xml" Id="R72d985a3d7084ae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b3ba2ea6a954fb5" /><Relationship Type="http://schemas.openxmlformats.org/officeDocument/2006/relationships/notesMaster" Target="/ppt/notesMasters/notesMaster1.xml" Id="R82fe644766e547b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5978a1738d5402f" /><Relationship Type="http://schemas.openxmlformats.org/officeDocument/2006/relationships/notesMaster" Target="/ppt/notesMasters/notesMaster1.xml" Id="R6ff5b74f346842f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95e167a820943df" /><Relationship Type="http://schemas.openxmlformats.org/officeDocument/2006/relationships/notesMaster" Target="/ppt/notesMasters/notesMaster1.xml" Id="Re0fd27c940754c9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a584750127541ad" /><Relationship Type="http://schemas.openxmlformats.org/officeDocument/2006/relationships/notesMaster" Target="/ppt/notesMasters/notesMaster1.xml" Id="Rcd466f409c7c489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552ab4cc4aa43cf" /><Relationship Type="http://schemas.openxmlformats.org/officeDocument/2006/relationships/notesMaster" Target="/ppt/notesMasters/notesMaster1.xml" Id="R37bc8eb4d182405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e6f4eadd68b4a43" /><Relationship Type="http://schemas.openxmlformats.org/officeDocument/2006/relationships/notesMaster" Target="/ppt/notesMasters/notesMaster1.xml" Id="R883ad81988434e3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c8865053e8c4804" /><Relationship Type="http://schemas.openxmlformats.org/officeDocument/2006/relationships/notesMaster" Target="/ppt/notesMasters/notesMaster1.xml" Id="Rb25fb7b8455b453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d3c8064064f4cef" /><Relationship Type="http://schemas.openxmlformats.org/officeDocument/2006/relationships/notesMaster" Target="/ppt/notesMasters/notesMaster1.xml" Id="Rfc5bae97089c4bb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a358b9a75df4968" /><Relationship Type="http://schemas.openxmlformats.org/officeDocument/2006/relationships/notesMaster" Target="/ppt/notesMasters/notesMaster1.xml" Id="R84bc7f1881ed43b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77562c04fd446bc" /><Relationship Type="http://schemas.openxmlformats.org/officeDocument/2006/relationships/notesMaster" Target="/ppt/notesMasters/notesMaster1.xml" Id="R070fd6a8fd6545a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33e8fd4259b489a" /><Relationship Type="http://schemas.openxmlformats.org/officeDocument/2006/relationships/notesMaster" Target="/ppt/notesMasters/notesMaster1.xml" Id="Raa17dcefbad6479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62df85dc6fc419f" /><Relationship Type="http://schemas.openxmlformats.org/officeDocument/2006/relationships/notesMaster" Target="/ppt/notesMasters/notesMaster1.xml" Id="R07c55a4450e94d6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dc36c0cea014411" /><Relationship Type="http://schemas.openxmlformats.org/officeDocument/2006/relationships/notesMaster" Target="/ppt/notesMasters/notesMaster1.xml" Id="Rbfe46af53e884f4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d2335b6af724bc1" /><Relationship Type="http://schemas.openxmlformats.org/officeDocument/2006/relationships/notesMaster" Target="/ppt/notesMasters/notesMaster1.xml" Id="Rf8948080e04b4f4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ab7103cf3124419" /><Relationship Type="http://schemas.openxmlformats.org/officeDocument/2006/relationships/notesMaster" Target="/ppt/notesMasters/notesMaster1.xml" Id="R468bed8ed94640c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3bb06a4e5fd4d51" /><Relationship Type="http://schemas.openxmlformats.org/officeDocument/2006/relationships/notesMaster" Target="/ppt/notesMasters/notesMaster1.xml" Id="R6a94f5036e484a7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20f366f1779476a" /><Relationship Type="http://schemas.openxmlformats.org/officeDocument/2006/relationships/notesMaster" Target="/ppt/notesMasters/notesMaster1.xml" Id="Rc72f20a72e3041b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480214987bc4615" /><Relationship Type="http://schemas.openxmlformats.org/officeDocument/2006/relationships/notesMaster" Target="/ppt/notesMasters/notesMaster1.xml" Id="R530521e437e6494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350e12448de4f47" /><Relationship Type="http://schemas.openxmlformats.org/officeDocument/2006/relationships/notesMaster" Target="/ppt/notesMasters/notesMaster1.xml" Id="R6364976c223a42d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52a7db5de334eed" /><Relationship Type="http://schemas.openxmlformats.org/officeDocument/2006/relationships/notesMaster" Target="/ppt/notesMasters/notesMaster1.xml" Id="Ra1d531812ede4fa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95cd4d3d5f34dfd" /><Relationship Type="http://schemas.openxmlformats.org/officeDocument/2006/relationships/notesMaster" Target="/ppt/notesMasters/notesMaster1.xml" Id="Rf2453c5c948a438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6a97756da824a6a" /><Relationship Type="http://schemas.openxmlformats.org/officeDocument/2006/relationships/notesMaster" Target="/ppt/notesMasters/notesMaster1.xml" Id="R572970bc42c6457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c52a5c7d7e64930" /><Relationship Type="http://schemas.openxmlformats.org/officeDocument/2006/relationships/notesMaster" Target="/ppt/notesMasters/notesMaster1.xml" Id="R86f813850ef34d2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72c32a3f1f2492a" /><Relationship Type="http://schemas.openxmlformats.org/officeDocument/2006/relationships/notesMaster" Target="/ppt/notesMasters/notesMaster1.xml" Id="R491e8d5c754b48a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9821590c76e4312" /><Relationship Type="http://schemas.openxmlformats.org/officeDocument/2006/relationships/notesMaster" Target="/ppt/notesMasters/notesMaster1.xml" Id="R2ad2ed6dca4146e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41bf9aa3d144ba1" /><Relationship Type="http://schemas.openxmlformats.org/officeDocument/2006/relationships/notesMaster" Target="/ppt/notesMasters/notesMaster1.xml" Id="R4f7c84311bf2408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ec7f2b0082c44af" /><Relationship Type="http://schemas.openxmlformats.org/officeDocument/2006/relationships/notesMaster" Target="/ppt/notesMasters/notesMaster1.xml" Id="R47f4cc55ff7a40ca"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a9f64dc98234e24" /><Relationship Type="http://schemas.openxmlformats.org/officeDocument/2006/relationships/notesMaster" Target="/ppt/notesMasters/notesMaster1.xml" Id="Rf4e7fd2c6667476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7493aaa6384417a" /><Relationship Type="http://schemas.openxmlformats.org/officeDocument/2006/relationships/notesMaster" Target="/ppt/notesMasters/notesMaster1.xml" Id="Rd08c73d0332641f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24fac966dd649f1" /><Relationship Type="http://schemas.openxmlformats.org/officeDocument/2006/relationships/notesMaster" Target="/ppt/notesMasters/notesMaster1.xml" Id="R898aabaede44421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d635ce1d23844373" /><Relationship Type="http://schemas.openxmlformats.org/officeDocument/2006/relationships/notesMaster" Target="/ppt/notesMasters/notesMaster1.xml" Id="R6b82640d3b47418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39f50948d5643a2" /><Relationship Type="http://schemas.openxmlformats.org/officeDocument/2006/relationships/notesMaster" Target="/ppt/notesMasters/notesMaster1.xml" Id="Rc4451f9f3c11495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9090547b3a8f4788" /><Relationship Type="http://schemas.openxmlformats.org/officeDocument/2006/relationships/notesMaster" Target="/ppt/notesMasters/notesMaster1.xml" Id="R524f759cdadc4b63"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1974fe333024d02" /><Relationship Type="http://schemas.openxmlformats.org/officeDocument/2006/relationships/notesMaster" Target="/ppt/notesMasters/notesMaster1.xml" Id="R3e60ce2d585a4e6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8e4c5a651264ef7" /><Relationship Type="http://schemas.openxmlformats.org/officeDocument/2006/relationships/notesMaster" Target="/ppt/notesMasters/notesMaster1.xml" Id="R1a0cc1b7ae75409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e5fa92ea328f431a" /><Relationship Type="http://schemas.openxmlformats.org/officeDocument/2006/relationships/notesMaster" Target="/ppt/notesMasters/notesMaster1.xml" Id="Rb769e226682e465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f00fa29c83141b3" /><Relationship Type="http://schemas.openxmlformats.org/officeDocument/2006/relationships/notesMaster" Target="/ppt/notesMasters/notesMaster1.xml" Id="Re26c5348ea264fc2"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331e7ebe20e4c51" /><Relationship Type="http://schemas.openxmlformats.org/officeDocument/2006/relationships/notesMaster" Target="/ppt/notesMasters/notesMaster1.xml" Id="Rd581e4f353284408"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f83e41ac3ef4fd5" /><Relationship Type="http://schemas.openxmlformats.org/officeDocument/2006/relationships/notesMaster" Target="/ppt/notesMasters/notesMaster1.xml" Id="R2647f4c9c60945f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d704cc8525c4ee8" /><Relationship Type="http://schemas.openxmlformats.org/officeDocument/2006/relationships/notesMaster" Target="/ppt/notesMasters/notesMaster1.xml" Id="R8ee64ebaf2004083"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0ea6f7154ec4fdf" /><Relationship Type="http://schemas.openxmlformats.org/officeDocument/2006/relationships/notesMaster" Target="/ppt/notesMasters/notesMaster1.xml" Id="Rff02404cf5bc46c9"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29ff058d74774cc1" /><Relationship Type="http://schemas.openxmlformats.org/officeDocument/2006/relationships/notesMaster" Target="/ppt/notesMasters/notesMaster1.xml" Id="Rf927c2c99a674b3a"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eaeeed0ed1164563" /><Relationship Type="http://schemas.openxmlformats.org/officeDocument/2006/relationships/notesMaster" Target="/ppt/notesMasters/notesMaster1.xml" Id="R7fb3e5d01c33433b"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4c51133248344f5b" /><Relationship Type="http://schemas.openxmlformats.org/officeDocument/2006/relationships/notesMaster" Target="/ppt/notesMasters/notesMaster1.xml" Id="Red16a08dee244a5f"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9bcbe741c7814992" /><Relationship Type="http://schemas.openxmlformats.org/officeDocument/2006/relationships/notesMaster" Target="/ppt/notesMasters/notesMaster1.xml" Id="R3fddb5a653314eb4"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74dceb572a5a414b" /><Relationship Type="http://schemas.openxmlformats.org/officeDocument/2006/relationships/notesMaster" Target="/ppt/notesMasters/notesMaster1.xml" Id="R5783c9a17f9041c4"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50a8ed84646343d0" /><Relationship Type="http://schemas.openxmlformats.org/officeDocument/2006/relationships/notesMaster" Target="/ppt/notesMasters/notesMaster1.xml" Id="R5a4c26ce164143ab"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5a858bf04e5c4808" /><Relationship Type="http://schemas.openxmlformats.org/officeDocument/2006/relationships/notesMaster" Target="/ppt/notesMasters/notesMaster1.xml" Id="Ra0694304078b41e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512f702812ad4659" /><Relationship Type="http://schemas.openxmlformats.org/officeDocument/2006/relationships/notesMaster" Target="/ppt/notesMasters/notesMaster1.xml" Id="Rc84dfadd06284448"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dbad6bb21b0c41e0" /><Relationship Type="http://schemas.openxmlformats.org/officeDocument/2006/relationships/notesMaster" Target="/ppt/notesMasters/notesMaster1.xml" Id="R56bcbd3adcd8432a"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fdaa78e4449a49bb" /><Relationship Type="http://schemas.openxmlformats.org/officeDocument/2006/relationships/notesMaster" Target="/ppt/notesMasters/notesMaster1.xml" Id="Rceb6476a9e8e4b17"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98d9f55e8582421a" /><Relationship Type="http://schemas.openxmlformats.org/officeDocument/2006/relationships/notesMaster" Target="/ppt/notesMasters/notesMaster1.xml" Id="R7a8a646bcd3d481e"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5ac029edc9444cf" /><Relationship Type="http://schemas.openxmlformats.org/officeDocument/2006/relationships/notesMaster" Target="/ppt/notesMasters/notesMaster1.xml" Id="R9e397a62615e49a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452780f257ad4267" /><Relationship Type="http://schemas.openxmlformats.org/officeDocument/2006/relationships/notesMaster" Target="/ppt/notesMasters/notesMaster1.xml" Id="R60796faffaaf4f5a"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8a79c22d82b445ca" /><Relationship Type="http://schemas.openxmlformats.org/officeDocument/2006/relationships/notesMaster" Target="/ppt/notesMasters/notesMaster1.xml" Id="R52adbb7a727c43aa"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b99ddd8d52994048" /><Relationship Type="http://schemas.openxmlformats.org/officeDocument/2006/relationships/notesMaster" Target="/ppt/notesMasters/notesMaster1.xml" Id="Re18b927b8ef64593"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5c6a5db27efc474b" /><Relationship Type="http://schemas.openxmlformats.org/officeDocument/2006/relationships/notesMaster" Target="/ppt/notesMasters/notesMaster1.xml" Id="R356f232bb697407c"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01a81cc257824197" /><Relationship Type="http://schemas.openxmlformats.org/officeDocument/2006/relationships/notesMaster" Target="/ppt/notesMasters/notesMaster1.xml" Id="Re37483ddc3ea4a4a"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c7c7b31c82bc4463" /><Relationship Type="http://schemas.openxmlformats.org/officeDocument/2006/relationships/notesMaster" Target="/ppt/notesMasters/notesMaster1.xml" Id="R819e26bb27ae4a1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bd0a99219e364041" /><Relationship Type="http://schemas.openxmlformats.org/officeDocument/2006/relationships/notesMaster" Target="/ppt/notesMasters/notesMaster1.xml" Id="Rd0639598740949bf"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890a5820ee8345a2" /><Relationship Type="http://schemas.openxmlformats.org/officeDocument/2006/relationships/notesMaster" Target="/ppt/notesMasters/notesMaster1.xml" Id="R85564160b23b4fc6"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ff87d427b3a94c4e" /><Relationship Type="http://schemas.openxmlformats.org/officeDocument/2006/relationships/notesMaster" Target="/ppt/notesMasters/notesMaster1.xml" Id="R88d160ea0d5343cf"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225bab7a112c4a50" /><Relationship Type="http://schemas.openxmlformats.org/officeDocument/2006/relationships/notesMaster" Target="/ppt/notesMasters/notesMaster1.xml" Id="Rf340a677537c4261"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4a5a5e0cae0d47e1" /><Relationship Type="http://schemas.openxmlformats.org/officeDocument/2006/relationships/notesMaster" Target="/ppt/notesMasters/notesMaster1.xml" Id="R62c245b07a804537"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0d495be010c14ef7" /><Relationship Type="http://schemas.openxmlformats.org/officeDocument/2006/relationships/notesMaster" Target="/ppt/notesMasters/notesMaster1.xml" Id="R70f8958f60a041ec"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339fec7e6b7a4f10" /><Relationship Type="http://schemas.openxmlformats.org/officeDocument/2006/relationships/notesMaster" Target="/ppt/notesMasters/notesMaster1.xml" Id="R4eb8317d93824be7"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f3571b1479304140" /><Relationship Type="http://schemas.openxmlformats.org/officeDocument/2006/relationships/notesMaster" Target="/ppt/notesMasters/notesMaster1.xml" Id="R2e0224bf5c4a4418"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0b79d223f4e449ae" /><Relationship Type="http://schemas.openxmlformats.org/officeDocument/2006/relationships/notesMaster" Target="/ppt/notesMasters/notesMaster1.xml" Id="R3f00abc830484a72"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980aee7f94a74bed" /><Relationship Type="http://schemas.openxmlformats.org/officeDocument/2006/relationships/notesMaster" Target="/ppt/notesMasters/notesMaster1.xml" Id="Rc50b6b2411704cf3"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b04d2aacdb4244de" /><Relationship Type="http://schemas.openxmlformats.org/officeDocument/2006/relationships/notesMaster" Target="/ppt/notesMasters/notesMaster1.xml" Id="R9e4ec8255e93483b"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86b61bcfd9f64162" /><Relationship Type="http://schemas.openxmlformats.org/officeDocument/2006/relationships/notesMaster" Target="/ppt/notesMasters/notesMaster1.xml" Id="Rfff6cb979f084f0a"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a27ef77b5a114650" /><Relationship Type="http://schemas.openxmlformats.org/officeDocument/2006/relationships/notesMaster" Target="/ppt/notesMasters/notesMaster1.xml" Id="R85962e1dcef049a7"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5a5a10d0c6134870" /><Relationship Type="http://schemas.openxmlformats.org/officeDocument/2006/relationships/notesMaster" Target="/ppt/notesMasters/notesMaster1.xml" Id="R51b7db791ace44da"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6af641ae7284440b" /><Relationship Type="http://schemas.openxmlformats.org/officeDocument/2006/relationships/notesMaster" Target="/ppt/notesMasters/notesMaster1.xml" Id="R87beccfdca5c4073"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1b1aded71e2b4b47" /><Relationship Type="http://schemas.openxmlformats.org/officeDocument/2006/relationships/notesMaster" Target="/ppt/notesMasters/notesMaster1.xml" Id="R911155c3dd7b4a9e"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0085b0a6316b4d1e" /><Relationship Type="http://schemas.openxmlformats.org/officeDocument/2006/relationships/notesMaster" Target="/ppt/notesMasters/notesMaster1.xml" Id="Ra1836b9427894f2e"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2447965b498b4b9c" /><Relationship Type="http://schemas.openxmlformats.org/officeDocument/2006/relationships/notesMaster" Target="/ppt/notesMasters/notesMaster1.xml" Id="Rc275e70f0d2746f5"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c794550b0019442d" /><Relationship Type="http://schemas.openxmlformats.org/officeDocument/2006/relationships/notesMaster" Target="/ppt/notesMasters/notesMaster1.xml" Id="R55585eb39637433d"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20267ef93ed3447e" /><Relationship Type="http://schemas.openxmlformats.org/officeDocument/2006/relationships/notesMaster" Target="/ppt/notesMasters/notesMaster1.xml" Id="R8ae93bc995de494d"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d7a79c24056642d1" /><Relationship Type="http://schemas.openxmlformats.org/officeDocument/2006/relationships/notesMaster" Target="/ppt/notesMasters/notesMaster1.xml" Id="Rce1ae191efbd4ce4"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a9d8de791fd54076" /><Relationship Type="http://schemas.openxmlformats.org/officeDocument/2006/relationships/notesMaster" Target="/ppt/notesMasters/notesMaster1.xml" Id="Rad2f83bd3de245c2"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87ae07fef67e4472" /><Relationship Type="http://schemas.openxmlformats.org/officeDocument/2006/relationships/notesMaster" Target="/ppt/notesMasters/notesMaster1.xml" Id="Rb698aade8b3049b2"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796b0a6d3b964c26" /><Relationship Type="http://schemas.openxmlformats.org/officeDocument/2006/relationships/notesMaster" Target="/ppt/notesMasters/notesMaster1.xml" Id="Rd20371723675404f"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c6c2b7cf86b94076" /><Relationship Type="http://schemas.openxmlformats.org/officeDocument/2006/relationships/notesMaster" Target="/ppt/notesMasters/notesMaster1.xml" Id="R2ec539c3181943e1"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7116deb8a109416a" /><Relationship Type="http://schemas.openxmlformats.org/officeDocument/2006/relationships/notesMaster" Target="/ppt/notesMasters/notesMaster1.xml" Id="R55e2556044934e23"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39c43e6df9ae4cbb" /><Relationship Type="http://schemas.openxmlformats.org/officeDocument/2006/relationships/notesMaster" Target="/ppt/notesMasters/notesMaster1.xml" Id="Rb43c13cccbb445f6"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78b7714f53144aaf" /><Relationship Type="http://schemas.openxmlformats.org/officeDocument/2006/relationships/notesMaster" Target="/ppt/notesMasters/notesMaster1.xml" Id="R718f20c5f2cd4f78"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8930ac2c48394426" /><Relationship Type="http://schemas.openxmlformats.org/officeDocument/2006/relationships/notesMaster" Target="/ppt/notesMasters/notesMaster1.xml" Id="R0ef2813a64144d37"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51bd184b132a40f6" /><Relationship Type="http://schemas.openxmlformats.org/officeDocument/2006/relationships/notesMaster" Target="/ppt/notesMasters/notesMaster1.xml" Id="Re805355a2c184cb9"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6538bc39e3fc4454" /><Relationship Type="http://schemas.openxmlformats.org/officeDocument/2006/relationships/notesMaster" Target="/ppt/notesMasters/notesMaster1.xml" Id="Rac1fb14cc70047f7"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741e911bceca4ede" /><Relationship Type="http://schemas.openxmlformats.org/officeDocument/2006/relationships/notesMaster" Target="/ppt/notesMasters/notesMaster1.xml" Id="Rb8c3da3fa95b4ab1"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5096d9264d41414a" /><Relationship Type="http://schemas.openxmlformats.org/officeDocument/2006/relationships/notesMaster" Target="/ppt/notesMasters/notesMaster1.xml" Id="R427b828335284ef6"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66fdac75a2f84cde" /><Relationship Type="http://schemas.openxmlformats.org/officeDocument/2006/relationships/notesMaster" Target="/ppt/notesMasters/notesMaster1.xml" Id="R59ed27f43d594455"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a1098c44b40f4a0c" /><Relationship Type="http://schemas.openxmlformats.org/officeDocument/2006/relationships/notesMaster" Target="/ppt/notesMasters/notesMaster1.xml" Id="R9aed2788a28744fa"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47fad077da56423a" /><Relationship Type="http://schemas.openxmlformats.org/officeDocument/2006/relationships/notesMaster" Target="/ppt/notesMasters/notesMaster1.xml" Id="Rec8e8e4bece34093"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9e7935690da745b3" /><Relationship Type="http://schemas.openxmlformats.org/officeDocument/2006/relationships/notesMaster" Target="/ppt/notesMasters/notesMaster1.xml" Id="Rbbc833e0792b4cf2"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f822a91046934a35" /><Relationship Type="http://schemas.openxmlformats.org/officeDocument/2006/relationships/notesMaster" Target="/ppt/notesMasters/notesMaster1.xml" Id="R4ec321f375884473"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5f8e5c00cc86456a" /><Relationship Type="http://schemas.openxmlformats.org/officeDocument/2006/relationships/notesMaster" Target="/ppt/notesMasters/notesMaster1.xml" Id="R9c0468fb13d94312"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5ffd4e9c945b493a" /><Relationship Type="http://schemas.openxmlformats.org/officeDocument/2006/relationships/notesMaster" Target="/ppt/notesMasters/notesMaster1.xml" Id="Rd2d7dcf3d867401a"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f6f053ac87094943" /><Relationship Type="http://schemas.openxmlformats.org/officeDocument/2006/relationships/notesMaster" Target="/ppt/notesMasters/notesMaster1.xml" Id="R7a0de069e7bc4ecb"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76c6be2257f14fc5" /><Relationship Type="http://schemas.openxmlformats.org/officeDocument/2006/relationships/notesMaster" Target="/ppt/notesMasters/notesMaster1.xml" Id="Ra724fc2d29f2485e"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88b3defafea347ad" /><Relationship Type="http://schemas.openxmlformats.org/officeDocument/2006/relationships/notesMaster" Target="/ppt/notesMasters/notesMaster1.xml" Id="R2d76cec72dd54e28"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dca381451834458b" /><Relationship Type="http://schemas.openxmlformats.org/officeDocument/2006/relationships/notesMaster" Target="/ppt/notesMasters/notesMaster1.xml" Id="Rd79058d9e1204037"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138c8eb754f8425c" /><Relationship Type="http://schemas.openxmlformats.org/officeDocument/2006/relationships/notesMaster" Target="/ppt/notesMasters/notesMaster1.xml" Id="R9e0b961707804d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我们本章要学习的是基于学习的机器人智能导航算法</a:t>
            </a:r>
            <a:endParaRPr sz="1200" kern="1200">
              <a:solidFill>
                <a:schemeClr val="tx1"/>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1200" kern="1200">
              <a:solidFill>
                <a:schemeClr val="tx1"/>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Font typeface="+mj-lt"/>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Font typeface="+mj-lt"/>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Font typeface="+mj-lt"/>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buFont typeface="+mj-l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Font typeface="+mj-lt"/>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Font typeface="+mj-lt"/>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Font typeface="+mj-lt"/>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Font typeface="+mj-lt"/>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indent="-228600">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228600" marR="0" lvl="0" indent="-228600" algn="l" defTabSz="914400">
              <a:lnSpc>
                <a:spcPct val="100000"/>
              </a:lnSpc>
              <a:spcBef>
                <a:spcPts val="0"/>
              </a:spcBef>
              <a:spcAft>
                <a:spcPts val="0"/>
              </a:spcAft>
              <a:buClrTx/>
              <a:buSzTx/>
              <a:buFontTx/>
              <a:buAutoNum type="arabicPeriod"/>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写板书，说运动的相对性。</a:t>
            </a:r>
          </a:p>
          <a:p xmlns:a="http://schemas.openxmlformats.org/drawingml/2006/main">
            <a:pPr marL="0" marR="0" lvl="0" indent="0" algn="l" defTabSz="914400">
              <a:lnSpc>
                <a:spcPct val="100000"/>
              </a:lnSpc>
              <a:spcBef>
                <a:spcPts val="0"/>
              </a:spcBef>
              <a:spcAft>
                <a:spcPts val="0"/>
              </a:spcAft>
              <a:buClrTx/>
              <a:buSzTx/>
              <a:buFontTx/>
              <a:buNone/>
            </a:pPr>
            <a:endParaRPr sz="1200" kern="1200">
              <a:solidFill>
                <a:schemeClr val="tx1"/>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p167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cc0547eeaa4516" /><Relationship Type="http://schemas.openxmlformats.org/officeDocument/2006/relationships/image" Target="/ppt/media/image.jpeg" Id="Rfe699b34283a4011" /><Relationship Type="http://schemas.openxmlformats.org/officeDocument/2006/relationships/image" Target="/ppt/media/image.png" Id="R49958b50a2d9454d" /><Relationship Type="http://schemas.openxmlformats.org/officeDocument/2006/relationships/image" Target="/ppt/media/image2.png" Id="R46bc23f8bb2f44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fbc87a89bd475d" /><Relationship Type="http://schemas.openxmlformats.org/officeDocument/2006/relationships/image" Target="/ppt/media/image.jpeg" Id="Ra1105ad830da4191" /><Relationship Type="http://schemas.openxmlformats.org/officeDocument/2006/relationships/image" Target="/ppt/media/image.gif" Id="Rd4bc70c2ac40456c" /><Relationship Type="http://schemas.openxmlformats.org/officeDocument/2006/relationships/image" Target="/ppt/media/image.png" Id="R2a0511238ed14b80" /><Relationship Type="http://schemas.openxmlformats.org/officeDocument/2006/relationships/image" Target="/ppt/media/image3.png" Id="Ref26ec11670449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e51ce41858433d" /><Relationship Type="http://schemas.openxmlformats.org/officeDocument/2006/relationships/image" Target="/ppt/media/image2.jpeg" Id="R56a5383b7aa144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bb17e79ae94010" /><Relationship Type="http://schemas.openxmlformats.org/officeDocument/2006/relationships/image" Target="/ppt/media/image4.png" Id="R1c7361baed5f48ef" /><Relationship Type="http://schemas.openxmlformats.org/officeDocument/2006/relationships/image" Target="/ppt/media/image5.png" Id="Rc0c55c3335944f25" /><Relationship Type="http://schemas.openxmlformats.org/officeDocument/2006/relationships/image" Target="/ppt/media/image6.png" Id="Re3411fa18d7a422c" /><Relationship Type="http://schemas.openxmlformats.org/officeDocument/2006/relationships/image" Target="/ppt/media/image7.png" Id="R3462e59387ef4e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142525d3614802" /><Relationship Type="http://schemas.openxmlformats.org/officeDocument/2006/relationships/image" Target="/ppt/media/image3.jpeg" Id="R9c3293f9a5fe4144" /><Relationship Type="http://schemas.openxmlformats.org/officeDocument/2006/relationships/image" Target="/ppt/media/image8.png" Id="R82012f296d4047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8fe59aa9b54652" /><Relationship Type="http://schemas.openxmlformats.org/officeDocument/2006/relationships/image" Target="/ppt/media/image3.jpeg" Id="R1d906796c4ca4341" /><Relationship Type="http://schemas.openxmlformats.org/officeDocument/2006/relationships/image" Target="/ppt/media/image8.png" Id="R30fa55ba7210489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67298c875a54997" /><Relationship Type="http://schemas.openxmlformats.org/officeDocument/2006/relationships/image" Target="/ppt/media/image3.jpeg" Id="Rb4c2231e67c64e2a" /><Relationship Type="http://schemas.openxmlformats.org/officeDocument/2006/relationships/image" Target="/ppt/media/image8.png" Id="R042c54693bf745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0fde2fff671475e" /><Relationship Type="http://schemas.openxmlformats.org/officeDocument/2006/relationships/image" Target="/ppt/media/image3.jpeg" Id="R645f6fe1ddd34db9" /><Relationship Type="http://schemas.openxmlformats.org/officeDocument/2006/relationships/image" Target="/ppt/media/image8.png" Id="R9f42f7787b60401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92c08729f0c4f41" /><Relationship Type="http://schemas.openxmlformats.org/officeDocument/2006/relationships/image" Target="/ppt/media/image3.jpeg" Id="Rf1dc716d8fb64b1e" /><Relationship Type="http://schemas.openxmlformats.org/officeDocument/2006/relationships/image" Target="/ppt/media/image8.png" Id="R4b126958e757457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501c9aa6b6f48cb" /><Relationship Type="http://schemas.openxmlformats.org/officeDocument/2006/relationships/image" Target="/ppt/media/image3.jpeg" Id="Rdb1a6f98a9a14b88" /><Relationship Type="http://schemas.openxmlformats.org/officeDocument/2006/relationships/image" Target="/ppt/media/image9.png" Id="R971a75ecc350434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285458dd1834baa" /><Relationship Type="http://schemas.openxmlformats.org/officeDocument/2006/relationships/image" Target="/ppt/media/image3.jpeg" Id="Rb7d8bfc23d9f4ac2" /><Relationship Type="http://schemas.openxmlformats.org/officeDocument/2006/relationships/image" Target="/ppt/media/image9.png" Id="R1607d8c27fc749f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aede068ed044c6d" /><Relationship Type="http://schemas.openxmlformats.org/officeDocument/2006/relationships/image" Target="/ppt/media/image3.jpeg" Id="R91969fc1ee1f4e8e" /><Relationship Type="http://schemas.openxmlformats.org/officeDocument/2006/relationships/image" Target="/ppt/media/image8.png" Id="R87af31b38fc74a5a"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76cfc883d8754417" /><Relationship Type="http://schemas.openxmlformats.org/officeDocument/2006/relationships/image" Target="/ppt/media/image3.jpeg" Id="R7b174873e22c4479" /><Relationship Type="http://schemas.openxmlformats.org/officeDocument/2006/relationships/image" Target="/ppt/media/image9.png" Id="R0d55d3180f79402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8e0fb498ca5e470d" /><Relationship Type="http://schemas.openxmlformats.org/officeDocument/2006/relationships/image" Target="/ppt/media/image3.jpeg" Id="R869cd767f2ae4101" /><Relationship Type="http://schemas.openxmlformats.org/officeDocument/2006/relationships/image" Target="/ppt/media/image8.png" Id="Rf2ab4545e4b840aa"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3f1bf2f93ead4217" /><Relationship Type="http://schemas.openxmlformats.org/officeDocument/2006/relationships/image" Target="/ppt/media/image3.jpeg" Id="Rcd1e2eb38cbb49fd" /><Relationship Type="http://schemas.openxmlformats.org/officeDocument/2006/relationships/image" Target="/ppt/media/image10.png" Id="R8f414eb5bfd448e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bc80f14706244d98" /><Relationship Type="http://schemas.openxmlformats.org/officeDocument/2006/relationships/image" Target="/ppt/media/image3.jpeg" Id="Rd2358f6f12844389" /><Relationship Type="http://schemas.openxmlformats.org/officeDocument/2006/relationships/image" Target="/ppt/media/image10.png" Id="R24bc7e382bd54acb"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da2ccd5073844d32" /><Relationship Type="http://schemas.openxmlformats.org/officeDocument/2006/relationships/image" Target="/ppt/media/image3.jpeg" Id="Rea4714361e4d4bae" /><Relationship Type="http://schemas.openxmlformats.org/officeDocument/2006/relationships/image" Target="/ppt/media/image10.png" Id="R6e3f98d049ac42f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b2c3a4fa3b05454c" /><Relationship Type="http://schemas.openxmlformats.org/officeDocument/2006/relationships/image" Target="/ppt/media/image3.jpeg" Id="R9a06539b1e7647dc" /><Relationship Type="http://schemas.openxmlformats.org/officeDocument/2006/relationships/image" Target="/ppt/media/image10.png" Id="R9f28ee3f46d74954" /></Relationships>
</file>

<file path=ppt/slideLayouts/slideLayout1.xml><?xml version="1.0" encoding="utf-8"?>
<p:sldLayout xmlns:p="http://schemas.openxmlformats.org/presentationml/2006/main" preserve="1" userDrawn="1">
  <p:cSld name="封面">
    <p:spTree>
      <p:nvGrpSpPr>
        <p:cNvPr id="1" name=""/>
        <p:cNvGrpSpPr/>
        <p:nvPr/>
      </p:nvGrpSpPr>
      <p:grpSpPr>
        <a:xfrm xmlns:a="http://schemas.openxmlformats.org/drawingml/2006/main"/>
      </p:grpSpPr>
      <p:pic>
        <p:nvPicPr>
          <p:cNvPr id="8" name="图片 1"/>
          <p:cNvPicPr>
            <a:picLocks xmlns:a="http://schemas.openxmlformats.org/drawingml/2006/main" noChangeAspect="1"/>
          </p:cNvPicPr>
          <p:nvPr/>
        </p:nvPicPr>
        <p:blipFill>
          <a:blip xmlns:r="http://schemas.openxmlformats.org/officeDocument/2006/relationships" xmlns:a="http://schemas.openxmlformats.org/drawingml/2006/main" r:embed="Rfe699b34283a4011"/>
          <a:srcRect xmlns:a="http://schemas.openxmlformats.org/drawingml/2006/main" l="19160" t="0" r="21698" b="1219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图片 2"/>
          <p:cNvPicPr>
            <a:picLocks xmlns:a="http://schemas.openxmlformats.org/drawingml/2006/main" noChangeAspect="1"/>
          </p:cNvPicPr>
          <p:nvPr/>
        </p:nvPicPr>
        <p:blipFill>
          <a:blip xmlns:r="http://schemas.openxmlformats.org/officeDocument/2006/relationships" xmlns:a="http://schemas.openxmlformats.org/drawingml/2006/main" r:embed="R49958b50a2d9454d">
            <a:alphaModFix amt="15000"/>
          </a:blip>
          <a:stretch xmlns:a="http://schemas.openxmlformats.org/drawingml/2006/main">
            <a:fillRect l="0" t="0" r="0" b="0"/>
          </a:stretch>
        </p:blipFill>
        <p:spPr>
          <a:xfrm xmlns:a="http://schemas.openxmlformats.org/drawingml/2006/main">
            <a:off x="0" y="0"/>
            <a:ext cx="9967110" cy="6858000"/>
          </a:xfrm>
          <a:prstGeom xmlns:a="http://schemas.openxmlformats.org/drawingml/2006/main" prst="rect">
            <a:avLst/>
          </a:prstGeom>
        </p:spPr>
      </p:pic>
      <p:sp>
        <p:nvSpPr>
          <p:cNvPr id="4" name="矩形 3">
            <a:extLst xmlns:a="http://schemas.openxmlformats.org/drawingml/2006/main">
              <a:ext uri="{FF2B5EF4-FFF2-40B4-BE49-F238E27FC236}">
                <a16:creationId xmlns:a16="http://schemas.microsoft.com/office/drawing/2014/main" id="{09E4381D-ADC5-CA74-7FFE-B828D1D377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chemeClr val="accent1">
                  <a:lumMod val="75000"/>
                  <a:alpha val="30000"/>
                </a:schemeClr>
              </a:gs>
              <a:gs pos="100000">
                <a:schemeClr val="accent1">
                  <a:lumMod val="75000"/>
                  <a:alpha val="2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46bc23f8bb2f445d"/>
          <a:srcRect xmlns:a="http://schemas.openxmlformats.org/drawingml/2006/main" l="0" t="0" r="0" b="47789"/>
          <a:stretch xmlns:a="http://schemas.openxmlformats.org/drawingml/2006/main">
            <a:fillRect l="0" t="0" r="0" b="0"/>
          </a:stretch>
        </p:blipFill>
        <p:spPr>
          <a:xfrm xmlns:a="http://schemas.openxmlformats.org/drawingml/2006/main">
            <a:off x="7763001" y="746336"/>
            <a:ext cx="4361852" cy="2958836"/>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1_封面">
    <p:spTree>
      <p:nvGrpSpPr>
        <p:cNvPr id="1" name=""/>
        <p:cNvGrpSpPr/>
        <p:nvPr/>
      </p:nvGrpSpPr>
      <p:grpSpPr>
        <a:xfrm xmlns:a="http://schemas.openxmlformats.org/drawingml/2006/main"/>
      </p:grpSpPr>
      <p:pic>
        <p:nvPicPr>
          <p:cNvPr id="20" name="图片 1"/>
          <p:cNvPicPr>
            <a:picLocks xmlns:a="http://schemas.openxmlformats.org/drawingml/2006/main" noChangeAspect="1"/>
          </p:cNvPicPr>
          <p:nvPr/>
        </p:nvPicPr>
        <p:blipFill>
          <a:blip xmlns:r="http://schemas.openxmlformats.org/officeDocument/2006/relationships" xmlns:a="http://schemas.openxmlformats.org/drawingml/2006/main" r:embed="Ra1105ad830da4191"/>
          <a:srcRect xmlns:a="http://schemas.openxmlformats.org/drawingml/2006/main" l="19160" t="0" r="21698" b="1219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21" name="Picture 2"/>
          <p:cNvPicPr>
            <a:picLocks xmlns:a="http://schemas.openxmlformats.org/drawingml/2006/main" noChangeAspect="1"/>
          </p:cNvPicPr>
          <p:nvPr/>
        </p:nvPicPr>
        <p:blipFill rotWithShape="1">
          <a:blip xmlns:r="http://schemas.openxmlformats.org/officeDocument/2006/relationships" xmlns:a="http://schemas.openxmlformats.org/drawingml/2006/main" r:embed="Rd4bc70c2ac40456c">
            <a:alphaModFix amt="4000"/>
          </a:blip>
          <a:srcRect xmlns:a="http://schemas.openxmlformats.org/drawingml/2006/main" l="13796" t="13391" r="14248" b="13526"/>
          <a:stretch xmlns:a="http://schemas.openxmlformats.org/drawingml/2006/main">
            <a:fillRect l="0" t="0" r="0" b="0"/>
          </a:stretch>
        </p:blipFill>
        <p:spPr>
          <a:xfrm xmlns:a="http://schemas.openxmlformats.org/drawingml/2006/main">
            <a:off x="-866569" y="-1528182"/>
            <a:ext cx="8986096" cy="9126960"/>
          </a:xfrm>
          <a:prstGeom xmlns:a="http://schemas.openxmlformats.org/drawingml/2006/main" prst="rect">
            <a:avLst/>
          </a:prstGeom>
        </p:spPr>
      </p:pic>
      <p:pic>
        <p:nvPicPr>
          <p:cNvPr id="22" name="图片 2"/>
          <p:cNvPicPr>
            <a:picLocks xmlns:a="http://schemas.openxmlformats.org/drawingml/2006/main" noChangeAspect="1"/>
          </p:cNvPicPr>
          <p:nvPr/>
        </p:nvPicPr>
        <p:blipFill>
          <a:blip xmlns:r="http://schemas.openxmlformats.org/officeDocument/2006/relationships" xmlns:a="http://schemas.openxmlformats.org/drawingml/2006/main" r:embed="R2a0511238ed14b80">
            <a:alphaModFix amt="15000"/>
          </a:blip>
          <a:stretch xmlns:a="http://schemas.openxmlformats.org/drawingml/2006/main">
            <a:fillRect l="0" t="0" r="0" b="0"/>
          </a:stretch>
        </p:blipFill>
        <p:spPr>
          <a:xfrm xmlns:a="http://schemas.openxmlformats.org/drawingml/2006/main">
            <a:off x="0" y="0"/>
            <a:ext cx="9967110" cy="6858000"/>
          </a:xfrm>
          <a:prstGeom xmlns:a="http://schemas.openxmlformats.org/drawingml/2006/main" prst="rect">
            <a:avLst/>
          </a:prstGeom>
        </p:spPr>
      </p:pic>
      <p:sp>
        <p:nvSpPr>
          <p:cNvPr id="4" name="矩形 3">
            <a:extLst xmlns:a="http://schemas.openxmlformats.org/drawingml/2006/main">
              <a:ext uri="{FF2B5EF4-FFF2-40B4-BE49-F238E27FC236}">
                <a16:creationId xmlns:a16="http://schemas.microsoft.com/office/drawing/2014/main" id="{09E4381D-ADC5-CA74-7FFE-B828D1D377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chemeClr val="accent1">
                  <a:lumMod val="75000"/>
                  <a:alpha val="30000"/>
                </a:schemeClr>
              </a:gs>
              <a:gs pos="100000">
                <a:schemeClr val="accent1">
                  <a:lumMod val="75000"/>
                  <a:alpha val="2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4" name="图片 6"/>
          <p:cNvPicPr>
            <a:picLocks xmlns:a="http://schemas.openxmlformats.org/drawingml/2006/main" noChangeAspect="1"/>
          </p:cNvPicPr>
          <p:nvPr/>
        </p:nvPicPr>
        <p:blipFill>
          <a:blip xmlns:r="http://schemas.openxmlformats.org/officeDocument/2006/relationships" xmlns:a="http://schemas.openxmlformats.org/drawingml/2006/main" r:embed="Ref26ec11670449d7"/>
          <a:stretch xmlns:a="http://schemas.openxmlformats.org/drawingml/2006/main">
            <a:fillRect l="0" t="0" r="0" b="0"/>
          </a:stretch>
        </p:blipFill>
        <p:spPr>
          <a:xfrm xmlns:a="http://schemas.openxmlformats.org/drawingml/2006/main">
            <a:off x="7752950" y="1216760"/>
            <a:ext cx="3372212" cy="2384874"/>
          </a:xfrm>
          <a:prstGeom xmlns:a="http://schemas.openxmlformats.org/drawingml/2006/main" prst="rect">
            <a:avLst/>
          </a:prstGeom>
          <a:effectLst xmlns:a="http://schemas.openxmlformats.org/drawingml/2006/main">
            <a:outerShdw blurRad="139700" dist="38100" dir="2700000" algn="tl" rotWithShape="0">
              <a:schemeClr val="accent1">
                <a:alpha val="25000"/>
              </a:schemeClr>
            </a:outerShdw>
          </a:effectLst>
        </p:spPr>
      </p:pic>
      <p:pic>
        <p:nvPicPr>
          <p:cNvPr id="25" name="图片 7"/>
          <p:cNvPicPr>
            <a:picLocks xmlns:a="http://schemas.openxmlformats.org/drawingml/2006/main" noChangeAspect="1"/>
          </p:cNvPicPr>
          <p:nvPr/>
        </p:nvPicPr>
        <p:blipFill>
          <a:blip xmlns:r="http://schemas.openxmlformats.org/officeDocument/2006/relationships" xmlns:a="http://schemas.openxmlformats.org/drawingml/2006/main" r:embed="Ref26ec11670449d7"/>
          <a:stretch xmlns:a="http://schemas.openxmlformats.org/drawingml/2006/main">
            <a:fillRect l="0" t="0" r="0" b="0"/>
          </a:stretch>
        </p:blipFill>
        <p:spPr>
          <a:xfrm xmlns:a="http://schemas.openxmlformats.org/drawingml/2006/main">
            <a:off x="7986291" y="422139"/>
            <a:ext cx="2106880" cy="1490014"/>
          </a:xfrm>
          <a:prstGeom xmlns:a="http://schemas.openxmlformats.org/drawingml/2006/main" prst="rect">
            <a:avLst/>
          </a:prstGeom>
        </p:spPr>
      </p:pic>
      <p:pic>
        <p:nvPicPr>
          <p:cNvPr id="26" name="图片 8"/>
          <p:cNvPicPr>
            <a:picLocks xmlns:a="http://schemas.openxmlformats.org/drawingml/2006/main" noChangeAspect="1"/>
          </p:cNvPicPr>
          <p:nvPr/>
        </p:nvPicPr>
        <p:blipFill>
          <a:blip xmlns:r="http://schemas.openxmlformats.org/officeDocument/2006/relationships" xmlns:a="http://schemas.openxmlformats.org/drawingml/2006/main" r:embed="Ref26ec11670449d7"/>
          <a:stretch xmlns:a="http://schemas.openxmlformats.org/drawingml/2006/main">
            <a:fillRect l="0" t="0" r="0" b="0"/>
          </a:stretch>
        </p:blipFill>
        <p:spPr>
          <a:xfrm xmlns:a="http://schemas.openxmlformats.org/drawingml/2006/main">
            <a:off x="10073297" y="880052"/>
            <a:ext cx="1756466" cy="1242196"/>
          </a:xfrm>
          <a:prstGeom xmlns:a="http://schemas.openxmlformats.org/drawingml/2006/main" prst="rect">
            <a:avLst/>
          </a:prstGeom>
        </p:spPr>
      </p:pic>
      <p:sp>
        <p:nvSpPr>
          <p:cNvPr id="13" name="PA-文本框 47">
            <a:extLst xmlns:a="http://schemas.openxmlformats.org/drawingml/2006/main">
              <a:ext uri="{FF2B5EF4-FFF2-40B4-BE49-F238E27FC236}">
                <a16:creationId xmlns:a16="http://schemas.microsoft.com/office/drawing/2014/main" id="{5A1D275B-0D49-288B-D81A-9B29261CA4ED}"/>
              </a:ext>
            </a:extLst>
          </p:cNvPr>
          <p:cNvSpPr>
            <a:spLocks xmlns:a="http://schemas.openxmlformats.org/drawingml/2006/main" noGrp="1"/>
          </p:cNvSpPr>
          <p:nvPr/>
        </p:nvSpPr>
        <p:spPr>
          <a:xfrm xmlns:a="http://schemas.openxmlformats.org/drawingml/2006/main">
            <a:off x="190212" y="2338955"/>
            <a:ext cx="8113336" cy="1200329"/>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lvl="0" algn="ctr">
              <a:lnSpc>
                <a:spcPct val="100000"/>
              </a:lnSpc>
              <a:buNone/>
            </a:pPr>
            <a:r>
              <a:rPr sz="7200" b="1" spc="100">
                <a:solidFill>
                  <a:schemeClr val="bg1"/>
                </a:solidFill>
                <a:effectLst>
                  <a:outerShdw blurRad="101600" dist="12700" dir="5400000" algn="t" rotWithShape="0">
                    <a:schemeClr val="accent3">
                      <a:alpha val="85000"/>
                    </a:schemeClr>
                  </a:outerShdw>
                </a:effectLst>
                <a:latin typeface="+mj-ea"/>
                <a:ea typeface="+mj-ea"/>
                <a:cs typeface="+mj-ea"/>
              </a:rPr>
              <a:t>机器人智能导航</a:t>
            </a:r>
          </a:p>
        </p:txBody>
      </p:sp>
    </p:spTree>
  </p:cSld>
</p:sldLayout>
</file>

<file path=ppt/slideLayouts/slideLayout3.xml><?xml version="1.0" encoding="utf-8"?>
<p:sldLayout xmlns:p="http://schemas.openxmlformats.org/presentationml/2006/main" preserve="1" userDrawn="1">
  <p:cSld name="过渡页">
    <p:spTree>
      <p:nvGrpSpPr>
        <p:cNvPr id="1" name=""/>
        <p:cNvGrpSpPr/>
        <p:nvPr/>
      </p:nvGrpSpPr>
      <p:grpSpPr>
        <a:xfrm xmlns:a="http://schemas.openxmlformats.org/drawingml/2006/main"/>
      </p:grpSpPr>
      <p:pic>
        <p:nvPicPr>
          <p:cNvPr id="5" name="Picture 2"/>
          <p:cNvPicPr>
            <a:picLocks xmlns:a="http://schemas.openxmlformats.org/drawingml/2006/main" noChangeAspect="1"/>
          </p:cNvPicPr>
          <p:nvPr/>
        </p:nvPicPr>
        <p:blipFill rotWithShape="1">
          <a:blip xmlns:r="http://schemas.openxmlformats.org/officeDocument/2006/relationships" xmlns:a="http://schemas.openxmlformats.org/drawingml/2006/main" r:embed="R56a5383b7aa14402"/>
          <a:srcRect xmlns:a="http://schemas.openxmlformats.org/drawingml/2006/main" l="0" t="0" r="0" b="10000"/>
          <a:stretch xmlns:a="http://schemas.openxmlformats.org/drawingml/2006/main">
            <a:fillRect l="0" t="0" r="0" b="0"/>
          </a:stretch>
        </p:blipFill>
        <p:spPr>
          <a:xfrm xmlns:a="http://schemas.openxmlformats.org/drawingml/2006/main">
            <a:off x="1" y="0"/>
            <a:ext cx="12190412" cy="6858000"/>
          </a:xfrm>
          <a:prstGeom xmlns:a="http://schemas.openxmlformats.org/drawingml/2006/main" prst="rect">
            <a:avLst/>
          </a:prstGeom>
        </p:spPr>
      </p:pic>
      <p:sp>
        <p:nvSpPr>
          <p:cNvPr id="3" name="矩形 2">
            <a:extLst xmlns:a="http://schemas.openxmlformats.org/drawingml/2006/main">
              <a:ext uri="{FF2B5EF4-FFF2-40B4-BE49-F238E27FC236}">
                <a16:creationId xmlns:a16="http://schemas.microsoft.com/office/drawing/2014/main" id="{063F54C0-8549-18CA-DBE4-7B9C1EB327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chemeClr val="accent1">
                  <a:lumMod val="75000"/>
                  <a:alpha val="50000"/>
                </a:schemeClr>
              </a:gs>
              <a:gs pos="100000">
                <a:schemeClr val="accent1">
                  <a:lumMod val="75000"/>
                  <a:alpha val="85000"/>
                </a:schemeClr>
              </a:gs>
            </a:gsLst>
            <a:lin ang="54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4.xml><?xml version="1.0" encoding="utf-8"?>
<p:sldLayout xmlns:p="http://schemas.openxmlformats.org/presentationml/2006/main" preserve="1" userDrawn="1">
  <p:cSld name="目录">
    <p:spTree>
      <p:nvGrpSpPr>
        <p:cNvPr id="1" name=""/>
        <p:cNvGrpSpPr/>
        <p:nvPr/>
      </p:nvGrpSpPr>
      <p:grpSpPr>
        <a:xfrm xmlns:a="http://schemas.openxmlformats.org/drawingml/2006/main"/>
      </p:grpSpPr>
      <p:pic>
        <p:nvPicPr>
          <p:cNvPr id="34" name="图片 5"/>
          <p:cNvPicPr>
            <a:picLocks xmlns:a="http://schemas.openxmlformats.org/drawingml/2006/main" noChangeAspect="1"/>
          </p:cNvPicPr>
          <p:nvPr/>
        </p:nvPicPr>
        <p:blipFill>
          <a:blip xmlns:r="http://schemas.openxmlformats.org/officeDocument/2006/relationships" xmlns:a="http://schemas.openxmlformats.org/drawingml/2006/main" r:embed="R1c7361baed5f48ef"/>
          <a:stretch xmlns:a="http://schemas.openxmlformats.org/drawingml/2006/main">
            <a:fillRect l="0" t="0" r="0" b="0"/>
          </a:stretch>
        </p:blipFill>
        <p:spPr>
          <a:xfrm xmlns:a="http://schemas.openxmlformats.org/drawingml/2006/main">
            <a:off x="-528" y="-297"/>
            <a:ext cx="12193057" cy="6858594"/>
          </a:xfrm>
          <a:prstGeom xmlns:a="http://schemas.openxmlformats.org/drawingml/2006/main" prst="rect">
            <a:avLst/>
          </a:prstGeom>
        </p:spPr>
      </p:pic>
      <p:pic>
        <p:nvPicPr>
          <p:cNvPr id="35" name="图片 6"/>
          <p:cNvPicPr>
            <a:picLocks xmlns:a="http://schemas.openxmlformats.org/drawingml/2006/main" noChangeAspect="1"/>
          </p:cNvPicPr>
          <p:nvPr/>
        </p:nvPicPr>
        <p:blipFill>
          <a:blip xmlns:r="http://schemas.openxmlformats.org/officeDocument/2006/relationships" xmlns:a="http://schemas.openxmlformats.org/drawingml/2006/main" r:embed="Rc0c55c3335944f25">
            <a:alphaModFix amt="70000"/>
          </a:blip>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矩形: 圆角 7">
            <a:extLst xmlns:a="http://schemas.openxmlformats.org/drawingml/2006/main">
              <a:ext uri="{FF2B5EF4-FFF2-40B4-BE49-F238E27FC236}">
                <a16:creationId xmlns:a16="http://schemas.microsoft.com/office/drawing/2014/main" id="{734BC3AC-2312-212A-C42D-3BDEE333BC69}"/>
              </a:ext>
            </a:extLst>
          </p:cNvPr>
          <p:cNvSpPr>
            <a:spLocks xmlns:a="http://schemas.openxmlformats.org/drawingml/2006/main" noGrp="1"/>
          </p:cNvSpPr>
          <p:nvPr/>
        </p:nvSpPr>
        <p:spPr>
          <a:xfrm xmlns:a="http://schemas.openxmlformats.org/drawingml/2006/main">
            <a:off x="3594115" y="122767"/>
            <a:ext cx="8479351" cy="6612466"/>
          </a:xfrm>
          <a:prstGeom xmlns:a="http://schemas.openxmlformats.org/drawingml/2006/main" prst="roundRect">
            <a:avLst>
              <a:gd name="adj" fmla="val 539"/>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任意多边形: 形状 25">
            <a:extLst xmlns:a="http://schemas.openxmlformats.org/drawingml/2006/main">
              <a:ext uri="{FF2B5EF4-FFF2-40B4-BE49-F238E27FC236}">
                <a16:creationId xmlns:a16="http://schemas.microsoft.com/office/drawing/2014/main" id="{1E8EDA53-57B3-7E70-5CCF-FC14E4951732}"/>
              </a:ext>
            </a:extLst>
          </p:cNvPr>
          <p:cNvSpPr>
            <a:spLocks xmlns:a="http://schemas.openxmlformats.org/drawingml/2006/main" noGrp="1"/>
          </p:cNvSpPr>
          <p:nvPr/>
        </p:nvSpPr>
        <p:spPr>
          <a:xfrm xmlns:a="http://schemas.openxmlformats.org/drawingml/2006/main" rot="0" flipH="0" flipV="0">
            <a:off x="1261373" y="5321750"/>
            <a:ext cx="1071367" cy="324646"/>
          </a:xfrm>
          <a:custGeom xmlns:a="http://schemas.openxmlformats.org/drawingml/2006/main">
            <a:gdLst>
              <a:gd name="connsiteX0" fmla="*/ 189902 w 864621"/>
              <a:gd name="connsiteY0" fmla="*/ 255527 h 259768"/>
              <a:gd name="connsiteX1" fmla="*/ 204230 w 864621"/>
              <a:gd name="connsiteY1" fmla="*/ 255527 h 259768"/>
              <a:gd name="connsiteX2" fmla="*/ 204230 w 864621"/>
              <a:gd name="connsiteY2" fmla="*/ 259768 h 259768"/>
              <a:gd name="connsiteX3" fmla="*/ 189902 w 864621"/>
              <a:gd name="connsiteY3" fmla="*/ 259768 h 259768"/>
              <a:gd name="connsiteX4" fmla="*/ 189902 w 864621"/>
              <a:gd name="connsiteY4" fmla="*/ 245422 h 259768"/>
              <a:gd name="connsiteX5" fmla="*/ 204230 w 864621"/>
              <a:gd name="connsiteY5" fmla="*/ 245422 h 259768"/>
              <a:gd name="connsiteX6" fmla="*/ 204230 w 864621"/>
              <a:gd name="connsiteY6" fmla="*/ 252124 h 259768"/>
              <a:gd name="connsiteX7" fmla="*/ 189902 w 864621"/>
              <a:gd name="connsiteY7" fmla="*/ 252124 h 259768"/>
              <a:gd name="connsiteX8" fmla="*/ 189902 w 864621"/>
              <a:gd name="connsiteY8" fmla="*/ 235510 h 259768"/>
              <a:gd name="connsiteX9" fmla="*/ 204230 w 864621"/>
              <a:gd name="connsiteY9" fmla="*/ 235510 h 259768"/>
              <a:gd name="connsiteX10" fmla="*/ 204230 w 864621"/>
              <a:gd name="connsiteY10" fmla="*/ 242211 h 259768"/>
              <a:gd name="connsiteX11" fmla="*/ 189902 w 864621"/>
              <a:gd name="connsiteY11" fmla="*/ 242211 h 259768"/>
              <a:gd name="connsiteX12" fmla="*/ 189902 w 864621"/>
              <a:gd name="connsiteY12" fmla="*/ 225615 h 259768"/>
              <a:gd name="connsiteX13" fmla="*/ 204230 w 864621"/>
              <a:gd name="connsiteY13" fmla="*/ 225615 h 259768"/>
              <a:gd name="connsiteX14" fmla="*/ 204230 w 864621"/>
              <a:gd name="connsiteY14" fmla="*/ 232316 h 259768"/>
              <a:gd name="connsiteX15" fmla="*/ 189902 w 864621"/>
              <a:gd name="connsiteY15" fmla="*/ 232316 h 259768"/>
              <a:gd name="connsiteX16" fmla="*/ 316479 w 864621"/>
              <a:gd name="connsiteY16" fmla="*/ 216313 h 259768"/>
              <a:gd name="connsiteX17" fmla="*/ 330807 w 864621"/>
              <a:gd name="connsiteY17" fmla="*/ 216313 h 259768"/>
              <a:gd name="connsiteX18" fmla="*/ 330807 w 864621"/>
              <a:gd name="connsiteY18" fmla="*/ 220554 h 259768"/>
              <a:gd name="connsiteX19" fmla="*/ 316479 w 864621"/>
              <a:gd name="connsiteY19" fmla="*/ 220554 h 259768"/>
              <a:gd name="connsiteX20" fmla="*/ 126576 w 864621"/>
              <a:gd name="connsiteY20" fmla="*/ 216313 h 259768"/>
              <a:gd name="connsiteX21" fmla="*/ 140904 w 864621"/>
              <a:gd name="connsiteY21" fmla="*/ 216313 h 259768"/>
              <a:gd name="connsiteX22" fmla="*/ 140904 w 864621"/>
              <a:gd name="connsiteY22" fmla="*/ 220554 h 259768"/>
              <a:gd name="connsiteX23" fmla="*/ 126576 w 864621"/>
              <a:gd name="connsiteY23" fmla="*/ 220554 h 259768"/>
              <a:gd name="connsiteX24" fmla="*/ 189902 w 864621"/>
              <a:gd name="connsiteY24" fmla="*/ 215702 h 259768"/>
              <a:gd name="connsiteX25" fmla="*/ 204230 w 864621"/>
              <a:gd name="connsiteY25" fmla="*/ 215702 h 259768"/>
              <a:gd name="connsiteX26" fmla="*/ 204230 w 864621"/>
              <a:gd name="connsiteY26" fmla="*/ 222404 h 259768"/>
              <a:gd name="connsiteX27" fmla="*/ 189902 w 864621"/>
              <a:gd name="connsiteY27" fmla="*/ 222404 h 259768"/>
              <a:gd name="connsiteX28" fmla="*/ 316479 w 864621"/>
              <a:gd name="connsiteY28" fmla="*/ 206156 h 259768"/>
              <a:gd name="connsiteX29" fmla="*/ 330807 w 864621"/>
              <a:gd name="connsiteY29" fmla="*/ 206156 h 259768"/>
              <a:gd name="connsiteX30" fmla="*/ 330807 w 864621"/>
              <a:gd name="connsiteY30" fmla="*/ 212875 h 259768"/>
              <a:gd name="connsiteX31" fmla="*/ 316479 w 864621"/>
              <a:gd name="connsiteY31" fmla="*/ 212875 h 259768"/>
              <a:gd name="connsiteX32" fmla="*/ 126576 w 864621"/>
              <a:gd name="connsiteY32" fmla="*/ 206156 h 259768"/>
              <a:gd name="connsiteX33" fmla="*/ 140904 w 864621"/>
              <a:gd name="connsiteY33" fmla="*/ 206156 h 259768"/>
              <a:gd name="connsiteX34" fmla="*/ 140904 w 864621"/>
              <a:gd name="connsiteY34" fmla="*/ 212875 h 259768"/>
              <a:gd name="connsiteX35" fmla="*/ 126576 w 864621"/>
              <a:gd name="connsiteY35" fmla="*/ 212875 h 259768"/>
              <a:gd name="connsiteX36" fmla="*/ 189902 w 864621"/>
              <a:gd name="connsiteY36" fmla="*/ 205790 h 259768"/>
              <a:gd name="connsiteX37" fmla="*/ 204230 w 864621"/>
              <a:gd name="connsiteY37" fmla="*/ 205790 h 259768"/>
              <a:gd name="connsiteX38" fmla="*/ 204230 w 864621"/>
              <a:gd name="connsiteY38" fmla="*/ 212491 h 259768"/>
              <a:gd name="connsiteX39" fmla="*/ 189902 w 864621"/>
              <a:gd name="connsiteY39" fmla="*/ 212491 h 259768"/>
              <a:gd name="connsiteX40" fmla="*/ 316479 w 864621"/>
              <a:gd name="connsiteY40" fmla="*/ 196209 h 259768"/>
              <a:gd name="connsiteX41" fmla="*/ 330807 w 864621"/>
              <a:gd name="connsiteY41" fmla="*/ 196209 h 259768"/>
              <a:gd name="connsiteX42" fmla="*/ 330807 w 864621"/>
              <a:gd name="connsiteY42" fmla="*/ 202928 h 259768"/>
              <a:gd name="connsiteX43" fmla="*/ 316479 w 864621"/>
              <a:gd name="connsiteY43" fmla="*/ 202928 h 259768"/>
              <a:gd name="connsiteX44" fmla="*/ 126576 w 864621"/>
              <a:gd name="connsiteY44" fmla="*/ 196209 h 259768"/>
              <a:gd name="connsiteX45" fmla="*/ 140904 w 864621"/>
              <a:gd name="connsiteY45" fmla="*/ 196209 h 259768"/>
              <a:gd name="connsiteX46" fmla="*/ 140904 w 864621"/>
              <a:gd name="connsiteY46" fmla="*/ 202928 h 259768"/>
              <a:gd name="connsiteX47" fmla="*/ 126576 w 864621"/>
              <a:gd name="connsiteY47" fmla="*/ 202928 h 259768"/>
              <a:gd name="connsiteX48" fmla="*/ 189902 w 864621"/>
              <a:gd name="connsiteY48" fmla="*/ 195877 h 259768"/>
              <a:gd name="connsiteX49" fmla="*/ 204230 w 864621"/>
              <a:gd name="connsiteY49" fmla="*/ 195877 h 259768"/>
              <a:gd name="connsiteX50" fmla="*/ 204230 w 864621"/>
              <a:gd name="connsiteY50" fmla="*/ 202579 h 259768"/>
              <a:gd name="connsiteX51" fmla="*/ 189902 w 864621"/>
              <a:gd name="connsiteY51" fmla="*/ 202579 h 259768"/>
              <a:gd name="connsiteX52" fmla="*/ 316479 w 864621"/>
              <a:gd name="connsiteY52" fmla="*/ 186244 h 259768"/>
              <a:gd name="connsiteX53" fmla="*/ 330807 w 864621"/>
              <a:gd name="connsiteY53" fmla="*/ 186244 h 259768"/>
              <a:gd name="connsiteX54" fmla="*/ 330807 w 864621"/>
              <a:gd name="connsiteY54" fmla="*/ 192963 h 259768"/>
              <a:gd name="connsiteX55" fmla="*/ 316479 w 864621"/>
              <a:gd name="connsiteY55" fmla="*/ 192963 h 259768"/>
              <a:gd name="connsiteX56" fmla="*/ 126576 w 864621"/>
              <a:gd name="connsiteY56" fmla="*/ 186244 h 259768"/>
              <a:gd name="connsiteX57" fmla="*/ 140904 w 864621"/>
              <a:gd name="connsiteY57" fmla="*/ 186244 h 259768"/>
              <a:gd name="connsiteX58" fmla="*/ 140904 w 864621"/>
              <a:gd name="connsiteY58" fmla="*/ 192963 h 259768"/>
              <a:gd name="connsiteX59" fmla="*/ 126576 w 864621"/>
              <a:gd name="connsiteY59" fmla="*/ 192963 h 259768"/>
              <a:gd name="connsiteX60" fmla="*/ 189902 w 864621"/>
              <a:gd name="connsiteY60" fmla="*/ 185982 h 259768"/>
              <a:gd name="connsiteX61" fmla="*/ 204230 w 864621"/>
              <a:gd name="connsiteY61" fmla="*/ 185982 h 259768"/>
              <a:gd name="connsiteX62" fmla="*/ 204230 w 864621"/>
              <a:gd name="connsiteY62" fmla="*/ 192684 h 259768"/>
              <a:gd name="connsiteX63" fmla="*/ 189902 w 864621"/>
              <a:gd name="connsiteY63" fmla="*/ 192684 h 259768"/>
              <a:gd name="connsiteX64" fmla="*/ 63288 w 864621"/>
              <a:gd name="connsiteY64" fmla="*/ 182649 h 259768"/>
              <a:gd name="connsiteX65" fmla="*/ 77616 w 864621"/>
              <a:gd name="connsiteY65" fmla="*/ 182649 h 259768"/>
              <a:gd name="connsiteX66" fmla="*/ 77616 w 864621"/>
              <a:gd name="connsiteY66" fmla="*/ 186890 h 259768"/>
              <a:gd name="connsiteX67" fmla="*/ 63288 w 864621"/>
              <a:gd name="connsiteY67" fmla="*/ 186890 h 259768"/>
              <a:gd name="connsiteX68" fmla="*/ 316479 w 864621"/>
              <a:gd name="connsiteY68" fmla="*/ 176297 h 259768"/>
              <a:gd name="connsiteX69" fmla="*/ 330807 w 864621"/>
              <a:gd name="connsiteY69" fmla="*/ 176297 h 259768"/>
              <a:gd name="connsiteX70" fmla="*/ 330807 w 864621"/>
              <a:gd name="connsiteY70" fmla="*/ 183015 h 259768"/>
              <a:gd name="connsiteX71" fmla="*/ 316479 w 864621"/>
              <a:gd name="connsiteY71" fmla="*/ 183015 h 259768"/>
              <a:gd name="connsiteX72" fmla="*/ 126576 w 864621"/>
              <a:gd name="connsiteY72" fmla="*/ 176297 h 259768"/>
              <a:gd name="connsiteX73" fmla="*/ 140904 w 864621"/>
              <a:gd name="connsiteY73" fmla="*/ 176297 h 259768"/>
              <a:gd name="connsiteX74" fmla="*/ 140904 w 864621"/>
              <a:gd name="connsiteY74" fmla="*/ 183015 h 259768"/>
              <a:gd name="connsiteX75" fmla="*/ 126576 w 864621"/>
              <a:gd name="connsiteY75" fmla="*/ 183015 h 259768"/>
              <a:gd name="connsiteX76" fmla="*/ 189902 w 864621"/>
              <a:gd name="connsiteY76" fmla="*/ 176070 h 259768"/>
              <a:gd name="connsiteX77" fmla="*/ 204230 w 864621"/>
              <a:gd name="connsiteY77" fmla="*/ 176070 h 259768"/>
              <a:gd name="connsiteX78" fmla="*/ 204230 w 864621"/>
              <a:gd name="connsiteY78" fmla="*/ 182771 h 259768"/>
              <a:gd name="connsiteX79" fmla="*/ 189902 w 864621"/>
              <a:gd name="connsiteY79" fmla="*/ 182771 h 259768"/>
              <a:gd name="connsiteX80" fmla="*/ 253191 w 864621"/>
              <a:gd name="connsiteY80" fmla="*/ 174900 h 259768"/>
              <a:gd name="connsiteX81" fmla="*/ 267519 w 864621"/>
              <a:gd name="connsiteY81" fmla="*/ 174900 h 259768"/>
              <a:gd name="connsiteX82" fmla="*/ 267519 w 864621"/>
              <a:gd name="connsiteY82" fmla="*/ 179141 h 259768"/>
              <a:gd name="connsiteX83" fmla="*/ 253191 w 864621"/>
              <a:gd name="connsiteY83" fmla="*/ 179141 h 259768"/>
              <a:gd name="connsiteX84" fmla="*/ 63288 w 864621"/>
              <a:gd name="connsiteY84" fmla="*/ 172248 h 259768"/>
              <a:gd name="connsiteX85" fmla="*/ 77616 w 864621"/>
              <a:gd name="connsiteY85" fmla="*/ 172248 h 259768"/>
              <a:gd name="connsiteX86" fmla="*/ 77616 w 864621"/>
              <a:gd name="connsiteY86" fmla="*/ 179089 h 259768"/>
              <a:gd name="connsiteX87" fmla="*/ 63288 w 864621"/>
              <a:gd name="connsiteY87" fmla="*/ 179089 h 259768"/>
              <a:gd name="connsiteX88" fmla="*/ 316479 w 864621"/>
              <a:gd name="connsiteY88" fmla="*/ 166349 h 259768"/>
              <a:gd name="connsiteX89" fmla="*/ 330807 w 864621"/>
              <a:gd name="connsiteY89" fmla="*/ 166349 h 259768"/>
              <a:gd name="connsiteX90" fmla="*/ 330807 w 864621"/>
              <a:gd name="connsiteY90" fmla="*/ 173068 h 259768"/>
              <a:gd name="connsiteX91" fmla="*/ 316479 w 864621"/>
              <a:gd name="connsiteY91" fmla="*/ 173068 h 259768"/>
              <a:gd name="connsiteX92" fmla="*/ 126576 w 864621"/>
              <a:gd name="connsiteY92" fmla="*/ 166349 h 259768"/>
              <a:gd name="connsiteX93" fmla="*/ 140904 w 864621"/>
              <a:gd name="connsiteY93" fmla="*/ 166349 h 259768"/>
              <a:gd name="connsiteX94" fmla="*/ 140904 w 864621"/>
              <a:gd name="connsiteY94" fmla="*/ 173068 h 259768"/>
              <a:gd name="connsiteX95" fmla="*/ 126576 w 864621"/>
              <a:gd name="connsiteY95" fmla="*/ 173068 h 259768"/>
              <a:gd name="connsiteX96" fmla="*/ 189902 w 864621"/>
              <a:gd name="connsiteY96" fmla="*/ 166157 h 259768"/>
              <a:gd name="connsiteX97" fmla="*/ 204230 w 864621"/>
              <a:gd name="connsiteY97" fmla="*/ 166157 h 259768"/>
              <a:gd name="connsiteX98" fmla="*/ 204230 w 864621"/>
              <a:gd name="connsiteY98" fmla="*/ 172859 h 259768"/>
              <a:gd name="connsiteX99" fmla="*/ 189902 w 864621"/>
              <a:gd name="connsiteY99" fmla="*/ 172859 h 259768"/>
              <a:gd name="connsiteX100" fmla="*/ 253191 w 864621"/>
              <a:gd name="connsiteY100" fmla="*/ 165075 h 259768"/>
              <a:gd name="connsiteX101" fmla="*/ 267519 w 864621"/>
              <a:gd name="connsiteY101" fmla="*/ 165075 h 259768"/>
              <a:gd name="connsiteX102" fmla="*/ 267519 w 864621"/>
              <a:gd name="connsiteY102" fmla="*/ 171637 h 259768"/>
              <a:gd name="connsiteX103" fmla="*/ 253191 w 864621"/>
              <a:gd name="connsiteY103" fmla="*/ 171637 h 259768"/>
              <a:gd name="connsiteX104" fmla="*/ 63288 w 864621"/>
              <a:gd name="connsiteY104" fmla="*/ 162074 h 259768"/>
              <a:gd name="connsiteX105" fmla="*/ 77616 w 864621"/>
              <a:gd name="connsiteY105" fmla="*/ 162074 h 259768"/>
              <a:gd name="connsiteX106" fmla="*/ 77616 w 864621"/>
              <a:gd name="connsiteY106" fmla="*/ 168915 h 259768"/>
              <a:gd name="connsiteX107" fmla="*/ 63288 w 864621"/>
              <a:gd name="connsiteY107" fmla="*/ 168915 h 259768"/>
              <a:gd name="connsiteX108" fmla="*/ 379805 w 864621"/>
              <a:gd name="connsiteY108" fmla="*/ 160293 h 259768"/>
              <a:gd name="connsiteX109" fmla="*/ 394133 w 864621"/>
              <a:gd name="connsiteY109" fmla="*/ 160293 h 259768"/>
              <a:gd name="connsiteX110" fmla="*/ 394133 w 864621"/>
              <a:gd name="connsiteY110" fmla="*/ 164534 h 259768"/>
              <a:gd name="connsiteX111" fmla="*/ 379805 w 864621"/>
              <a:gd name="connsiteY111" fmla="*/ 164534 h 259768"/>
              <a:gd name="connsiteX112" fmla="*/ 316479 w 864621"/>
              <a:gd name="connsiteY112" fmla="*/ 156384 h 259768"/>
              <a:gd name="connsiteX113" fmla="*/ 330807 w 864621"/>
              <a:gd name="connsiteY113" fmla="*/ 156384 h 259768"/>
              <a:gd name="connsiteX114" fmla="*/ 330807 w 864621"/>
              <a:gd name="connsiteY114" fmla="*/ 163103 h 259768"/>
              <a:gd name="connsiteX115" fmla="*/ 316479 w 864621"/>
              <a:gd name="connsiteY115" fmla="*/ 163103 h 259768"/>
              <a:gd name="connsiteX116" fmla="*/ 126576 w 864621"/>
              <a:gd name="connsiteY116" fmla="*/ 156384 h 259768"/>
              <a:gd name="connsiteX117" fmla="*/ 140904 w 864621"/>
              <a:gd name="connsiteY117" fmla="*/ 156384 h 259768"/>
              <a:gd name="connsiteX118" fmla="*/ 140904 w 864621"/>
              <a:gd name="connsiteY118" fmla="*/ 163103 h 259768"/>
              <a:gd name="connsiteX119" fmla="*/ 126576 w 864621"/>
              <a:gd name="connsiteY119" fmla="*/ 163103 h 259768"/>
              <a:gd name="connsiteX120" fmla="*/ 189902 w 864621"/>
              <a:gd name="connsiteY120" fmla="*/ 156262 h 259768"/>
              <a:gd name="connsiteX121" fmla="*/ 204230 w 864621"/>
              <a:gd name="connsiteY121" fmla="*/ 156262 h 259768"/>
              <a:gd name="connsiteX122" fmla="*/ 204230 w 864621"/>
              <a:gd name="connsiteY122" fmla="*/ 162963 h 259768"/>
              <a:gd name="connsiteX123" fmla="*/ 189902 w 864621"/>
              <a:gd name="connsiteY123" fmla="*/ 162963 h 259768"/>
              <a:gd name="connsiteX124" fmla="*/ 253191 w 864621"/>
              <a:gd name="connsiteY124" fmla="*/ 155459 h 259768"/>
              <a:gd name="connsiteX125" fmla="*/ 267519 w 864621"/>
              <a:gd name="connsiteY125" fmla="*/ 155459 h 259768"/>
              <a:gd name="connsiteX126" fmla="*/ 267519 w 864621"/>
              <a:gd name="connsiteY126" fmla="*/ 162021 h 259768"/>
              <a:gd name="connsiteX127" fmla="*/ 253191 w 864621"/>
              <a:gd name="connsiteY127" fmla="*/ 162021 h 259768"/>
              <a:gd name="connsiteX128" fmla="*/ 63288 w 864621"/>
              <a:gd name="connsiteY128" fmla="*/ 151917 h 259768"/>
              <a:gd name="connsiteX129" fmla="*/ 77616 w 864621"/>
              <a:gd name="connsiteY129" fmla="*/ 151917 h 259768"/>
              <a:gd name="connsiteX130" fmla="*/ 77616 w 864621"/>
              <a:gd name="connsiteY130" fmla="*/ 158740 h 259768"/>
              <a:gd name="connsiteX131" fmla="*/ 63288 w 864621"/>
              <a:gd name="connsiteY131" fmla="*/ 158740 h 259768"/>
              <a:gd name="connsiteX132" fmla="*/ 379805 w 864621"/>
              <a:gd name="connsiteY132" fmla="*/ 150538 h 259768"/>
              <a:gd name="connsiteX133" fmla="*/ 394133 w 864621"/>
              <a:gd name="connsiteY133" fmla="*/ 150538 h 259768"/>
              <a:gd name="connsiteX134" fmla="*/ 394133 w 864621"/>
              <a:gd name="connsiteY134" fmla="*/ 157065 h 259768"/>
              <a:gd name="connsiteX135" fmla="*/ 379805 w 864621"/>
              <a:gd name="connsiteY135" fmla="*/ 157065 h 259768"/>
              <a:gd name="connsiteX136" fmla="*/ 316479 w 864621"/>
              <a:gd name="connsiteY136" fmla="*/ 146437 h 259768"/>
              <a:gd name="connsiteX137" fmla="*/ 330807 w 864621"/>
              <a:gd name="connsiteY137" fmla="*/ 146437 h 259768"/>
              <a:gd name="connsiteX138" fmla="*/ 330807 w 864621"/>
              <a:gd name="connsiteY138" fmla="*/ 153156 h 259768"/>
              <a:gd name="connsiteX139" fmla="*/ 316479 w 864621"/>
              <a:gd name="connsiteY139" fmla="*/ 153156 h 259768"/>
              <a:gd name="connsiteX140" fmla="*/ 126576 w 864621"/>
              <a:gd name="connsiteY140" fmla="*/ 146437 h 259768"/>
              <a:gd name="connsiteX141" fmla="*/ 140904 w 864621"/>
              <a:gd name="connsiteY141" fmla="*/ 146437 h 259768"/>
              <a:gd name="connsiteX142" fmla="*/ 140904 w 864621"/>
              <a:gd name="connsiteY142" fmla="*/ 153156 h 259768"/>
              <a:gd name="connsiteX143" fmla="*/ 126576 w 864621"/>
              <a:gd name="connsiteY143" fmla="*/ 153156 h 259768"/>
              <a:gd name="connsiteX144" fmla="*/ 189902 w 864621"/>
              <a:gd name="connsiteY144" fmla="*/ 146350 h 259768"/>
              <a:gd name="connsiteX145" fmla="*/ 204230 w 864621"/>
              <a:gd name="connsiteY145" fmla="*/ 146350 h 259768"/>
              <a:gd name="connsiteX146" fmla="*/ 204230 w 864621"/>
              <a:gd name="connsiteY146" fmla="*/ 153051 h 259768"/>
              <a:gd name="connsiteX147" fmla="*/ 189902 w 864621"/>
              <a:gd name="connsiteY147" fmla="*/ 153051 h 259768"/>
              <a:gd name="connsiteX148" fmla="*/ 253191 w 864621"/>
              <a:gd name="connsiteY148" fmla="*/ 145844 h 259768"/>
              <a:gd name="connsiteX149" fmla="*/ 267519 w 864621"/>
              <a:gd name="connsiteY149" fmla="*/ 145844 h 259768"/>
              <a:gd name="connsiteX150" fmla="*/ 267519 w 864621"/>
              <a:gd name="connsiteY150" fmla="*/ 152405 h 259768"/>
              <a:gd name="connsiteX151" fmla="*/ 253191 w 864621"/>
              <a:gd name="connsiteY151" fmla="*/ 152405 h 259768"/>
              <a:gd name="connsiteX152" fmla="*/ 63288 w 864621"/>
              <a:gd name="connsiteY152" fmla="*/ 141725 h 259768"/>
              <a:gd name="connsiteX153" fmla="*/ 77616 w 864621"/>
              <a:gd name="connsiteY153" fmla="*/ 141725 h 259768"/>
              <a:gd name="connsiteX154" fmla="*/ 77616 w 864621"/>
              <a:gd name="connsiteY154" fmla="*/ 148566 h 259768"/>
              <a:gd name="connsiteX155" fmla="*/ 63288 w 864621"/>
              <a:gd name="connsiteY155" fmla="*/ 148566 h 259768"/>
              <a:gd name="connsiteX156" fmla="*/ 379805 w 864621"/>
              <a:gd name="connsiteY156" fmla="*/ 140974 h 259768"/>
              <a:gd name="connsiteX157" fmla="*/ 394133 w 864621"/>
              <a:gd name="connsiteY157" fmla="*/ 140974 h 259768"/>
              <a:gd name="connsiteX158" fmla="*/ 394133 w 864621"/>
              <a:gd name="connsiteY158" fmla="*/ 147501 h 259768"/>
              <a:gd name="connsiteX159" fmla="*/ 379805 w 864621"/>
              <a:gd name="connsiteY159" fmla="*/ 147501 h 259768"/>
              <a:gd name="connsiteX160" fmla="*/ 443094 w 864621"/>
              <a:gd name="connsiteY160" fmla="*/ 138112 h 259768"/>
              <a:gd name="connsiteX161" fmla="*/ 457422 w 864621"/>
              <a:gd name="connsiteY161" fmla="*/ 138112 h 259768"/>
              <a:gd name="connsiteX162" fmla="*/ 457422 w 864621"/>
              <a:gd name="connsiteY162" fmla="*/ 142353 h 259768"/>
              <a:gd name="connsiteX163" fmla="*/ 443094 w 864621"/>
              <a:gd name="connsiteY163" fmla="*/ 142353 h 259768"/>
              <a:gd name="connsiteX164" fmla="*/ 316479 w 864621"/>
              <a:gd name="connsiteY164" fmla="*/ 136489 h 259768"/>
              <a:gd name="connsiteX165" fmla="*/ 330807 w 864621"/>
              <a:gd name="connsiteY165" fmla="*/ 136489 h 259768"/>
              <a:gd name="connsiteX166" fmla="*/ 330807 w 864621"/>
              <a:gd name="connsiteY166" fmla="*/ 143208 h 259768"/>
              <a:gd name="connsiteX167" fmla="*/ 316479 w 864621"/>
              <a:gd name="connsiteY167" fmla="*/ 143208 h 259768"/>
              <a:gd name="connsiteX168" fmla="*/ 126576 w 864621"/>
              <a:gd name="connsiteY168" fmla="*/ 136489 h 259768"/>
              <a:gd name="connsiteX169" fmla="*/ 140904 w 864621"/>
              <a:gd name="connsiteY169" fmla="*/ 136489 h 259768"/>
              <a:gd name="connsiteX170" fmla="*/ 140904 w 864621"/>
              <a:gd name="connsiteY170" fmla="*/ 143208 h 259768"/>
              <a:gd name="connsiteX171" fmla="*/ 126576 w 864621"/>
              <a:gd name="connsiteY171" fmla="*/ 143208 h 259768"/>
              <a:gd name="connsiteX172" fmla="*/ 189902 w 864621"/>
              <a:gd name="connsiteY172" fmla="*/ 136437 h 259768"/>
              <a:gd name="connsiteX173" fmla="*/ 204230 w 864621"/>
              <a:gd name="connsiteY173" fmla="*/ 136437 h 259768"/>
              <a:gd name="connsiteX174" fmla="*/ 204230 w 864621"/>
              <a:gd name="connsiteY174" fmla="*/ 143138 h 259768"/>
              <a:gd name="connsiteX175" fmla="*/ 189902 w 864621"/>
              <a:gd name="connsiteY175" fmla="*/ 143138 h 259768"/>
              <a:gd name="connsiteX176" fmla="*/ 253191 w 864621"/>
              <a:gd name="connsiteY176" fmla="*/ 136228 h 259768"/>
              <a:gd name="connsiteX177" fmla="*/ 267519 w 864621"/>
              <a:gd name="connsiteY177" fmla="*/ 136228 h 259768"/>
              <a:gd name="connsiteX178" fmla="*/ 267519 w 864621"/>
              <a:gd name="connsiteY178" fmla="*/ 142789 h 259768"/>
              <a:gd name="connsiteX179" fmla="*/ 253191 w 864621"/>
              <a:gd name="connsiteY179" fmla="*/ 142789 h 259768"/>
              <a:gd name="connsiteX180" fmla="*/ 0 w 864621"/>
              <a:gd name="connsiteY180" fmla="*/ 134587 h 259768"/>
              <a:gd name="connsiteX181" fmla="*/ 14328 w 864621"/>
              <a:gd name="connsiteY181" fmla="*/ 134587 h 259768"/>
              <a:gd name="connsiteX182" fmla="*/ 14328 w 864621"/>
              <a:gd name="connsiteY182" fmla="*/ 138828 h 259768"/>
              <a:gd name="connsiteX183" fmla="*/ 0 w 864621"/>
              <a:gd name="connsiteY183" fmla="*/ 138828 h 259768"/>
              <a:gd name="connsiteX184" fmla="*/ 63288 w 864621"/>
              <a:gd name="connsiteY184" fmla="*/ 131551 h 259768"/>
              <a:gd name="connsiteX185" fmla="*/ 77616 w 864621"/>
              <a:gd name="connsiteY185" fmla="*/ 131551 h 259768"/>
              <a:gd name="connsiteX186" fmla="*/ 77616 w 864621"/>
              <a:gd name="connsiteY186" fmla="*/ 138392 h 259768"/>
              <a:gd name="connsiteX187" fmla="*/ 63288 w 864621"/>
              <a:gd name="connsiteY187" fmla="*/ 138392 h 259768"/>
              <a:gd name="connsiteX188" fmla="*/ 379805 w 864621"/>
              <a:gd name="connsiteY188" fmla="*/ 131411 h 259768"/>
              <a:gd name="connsiteX189" fmla="*/ 394133 w 864621"/>
              <a:gd name="connsiteY189" fmla="*/ 131411 h 259768"/>
              <a:gd name="connsiteX190" fmla="*/ 394133 w 864621"/>
              <a:gd name="connsiteY190" fmla="*/ 137938 h 259768"/>
              <a:gd name="connsiteX191" fmla="*/ 379805 w 864621"/>
              <a:gd name="connsiteY191" fmla="*/ 137938 h 259768"/>
              <a:gd name="connsiteX192" fmla="*/ 856418 w 864621"/>
              <a:gd name="connsiteY192" fmla="*/ 128985 h 259768"/>
              <a:gd name="connsiteX193" fmla="*/ 864621 w 864621"/>
              <a:gd name="connsiteY193" fmla="*/ 129003 h 259768"/>
              <a:gd name="connsiteX194" fmla="*/ 864621 w 864621"/>
              <a:gd name="connsiteY194" fmla="*/ 130748 h 259768"/>
              <a:gd name="connsiteX195" fmla="*/ 854562 w 864621"/>
              <a:gd name="connsiteY195" fmla="*/ 130800 h 259768"/>
              <a:gd name="connsiteX196" fmla="*/ 854562 w 864621"/>
              <a:gd name="connsiteY196" fmla="*/ 129038 h 259768"/>
              <a:gd name="connsiteX197" fmla="*/ 836856 w 864621"/>
              <a:gd name="connsiteY197" fmla="*/ 128916 h 259768"/>
              <a:gd name="connsiteX198" fmla="*/ 846952 w 864621"/>
              <a:gd name="connsiteY198" fmla="*/ 128950 h 259768"/>
              <a:gd name="connsiteX199" fmla="*/ 846952 w 864621"/>
              <a:gd name="connsiteY199" fmla="*/ 130678 h 259768"/>
              <a:gd name="connsiteX200" fmla="*/ 845096 w 864621"/>
              <a:gd name="connsiteY200" fmla="*/ 130835 h 259768"/>
              <a:gd name="connsiteX201" fmla="*/ 836856 w 864621"/>
              <a:gd name="connsiteY201" fmla="*/ 130853 h 259768"/>
              <a:gd name="connsiteX202" fmla="*/ 819187 w 864621"/>
              <a:gd name="connsiteY202" fmla="*/ 128846 h 259768"/>
              <a:gd name="connsiteX203" fmla="*/ 829283 w 864621"/>
              <a:gd name="connsiteY203" fmla="*/ 128881 h 259768"/>
              <a:gd name="connsiteX204" fmla="*/ 829283 w 864621"/>
              <a:gd name="connsiteY204" fmla="*/ 130888 h 259768"/>
              <a:gd name="connsiteX205" fmla="*/ 819187 w 864621"/>
              <a:gd name="connsiteY205" fmla="*/ 130923 h 259768"/>
              <a:gd name="connsiteX206" fmla="*/ 801518 w 864621"/>
              <a:gd name="connsiteY206" fmla="*/ 128793 h 259768"/>
              <a:gd name="connsiteX207" fmla="*/ 811578 w 864621"/>
              <a:gd name="connsiteY207" fmla="*/ 128811 h 259768"/>
              <a:gd name="connsiteX208" fmla="*/ 811578 w 864621"/>
              <a:gd name="connsiteY208" fmla="*/ 130957 h 259768"/>
              <a:gd name="connsiteX209" fmla="*/ 801518 w 864621"/>
              <a:gd name="connsiteY209" fmla="*/ 130992 h 259768"/>
              <a:gd name="connsiteX210" fmla="*/ 783812 w 864621"/>
              <a:gd name="connsiteY210" fmla="*/ 128724 h 259768"/>
              <a:gd name="connsiteX211" fmla="*/ 793909 w 864621"/>
              <a:gd name="connsiteY211" fmla="*/ 128758 h 259768"/>
              <a:gd name="connsiteX212" fmla="*/ 793909 w 864621"/>
              <a:gd name="connsiteY212" fmla="*/ 131027 h 259768"/>
              <a:gd name="connsiteX213" fmla="*/ 783812 w 864621"/>
              <a:gd name="connsiteY213" fmla="*/ 131045 h 259768"/>
              <a:gd name="connsiteX214" fmla="*/ 766143 w 864621"/>
              <a:gd name="connsiteY214" fmla="*/ 128654 h 259768"/>
              <a:gd name="connsiteX215" fmla="*/ 776240 w 864621"/>
              <a:gd name="connsiteY215" fmla="*/ 128689 h 259768"/>
              <a:gd name="connsiteX216" fmla="*/ 776240 w 864621"/>
              <a:gd name="connsiteY216" fmla="*/ 131080 h 259768"/>
              <a:gd name="connsiteX217" fmla="*/ 766143 w 864621"/>
              <a:gd name="connsiteY217" fmla="*/ 131114 h 259768"/>
              <a:gd name="connsiteX218" fmla="*/ 748475 w 864621"/>
              <a:gd name="connsiteY218" fmla="*/ 128601 h 259768"/>
              <a:gd name="connsiteX219" fmla="*/ 758534 w 864621"/>
              <a:gd name="connsiteY219" fmla="*/ 128619 h 259768"/>
              <a:gd name="connsiteX220" fmla="*/ 758534 w 864621"/>
              <a:gd name="connsiteY220" fmla="*/ 131149 h 259768"/>
              <a:gd name="connsiteX221" fmla="*/ 748475 w 864621"/>
              <a:gd name="connsiteY221" fmla="*/ 131184 h 259768"/>
              <a:gd name="connsiteX222" fmla="*/ 730768 w 864621"/>
              <a:gd name="connsiteY222" fmla="*/ 128532 h 259768"/>
              <a:gd name="connsiteX223" fmla="*/ 740865 w 864621"/>
              <a:gd name="connsiteY223" fmla="*/ 128566 h 259768"/>
              <a:gd name="connsiteX224" fmla="*/ 740865 w 864621"/>
              <a:gd name="connsiteY224" fmla="*/ 131219 h 259768"/>
              <a:gd name="connsiteX225" fmla="*/ 730768 w 864621"/>
              <a:gd name="connsiteY225" fmla="*/ 131237 h 259768"/>
              <a:gd name="connsiteX226" fmla="*/ 713100 w 864621"/>
              <a:gd name="connsiteY226" fmla="*/ 128462 h 259768"/>
              <a:gd name="connsiteX227" fmla="*/ 723196 w 864621"/>
              <a:gd name="connsiteY227" fmla="*/ 128497 h 259768"/>
              <a:gd name="connsiteX228" fmla="*/ 723196 w 864621"/>
              <a:gd name="connsiteY228" fmla="*/ 131271 h 259768"/>
              <a:gd name="connsiteX229" fmla="*/ 713100 w 864621"/>
              <a:gd name="connsiteY229" fmla="*/ 131306 h 259768"/>
              <a:gd name="connsiteX230" fmla="*/ 695431 w 864621"/>
              <a:gd name="connsiteY230" fmla="*/ 128409 h 259768"/>
              <a:gd name="connsiteX231" fmla="*/ 705490 w 864621"/>
              <a:gd name="connsiteY231" fmla="*/ 128444 h 259768"/>
              <a:gd name="connsiteX232" fmla="*/ 705490 w 864621"/>
              <a:gd name="connsiteY232" fmla="*/ 131341 h 259768"/>
              <a:gd name="connsiteX233" fmla="*/ 695431 w 864621"/>
              <a:gd name="connsiteY233" fmla="*/ 131376 h 259768"/>
              <a:gd name="connsiteX234" fmla="*/ 677725 w 864621"/>
              <a:gd name="connsiteY234" fmla="*/ 128340 h 259768"/>
              <a:gd name="connsiteX235" fmla="*/ 687821 w 864621"/>
              <a:gd name="connsiteY235" fmla="*/ 128374 h 259768"/>
              <a:gd name="connsiteX236" fmla="*/ 687821 w 864621"/>
              <a:gd name="connsiteY236" fmla="*/ 131411 h 259768"/>
              <a:gd name="connsiteX237" fmla="*/ 677725 w 864621"/>
              <a:gd name="connsiteY237" fmla="*/ 131428 h 259768"/>
              <a:gd name="connsiteX238" fmla="*/ 660056 w 864621"/>
              <a:gd name="connsiteY238" fmla="*/ 128287 h 259768"/>
              <a:gd name="connsiteX239" fmla="*/ 670152 w 864621"/>
              <a:gd name="connsiteY239" fmla="*/ 128305 h 259768"/>
              <a:gd name="connsiteX240" fmla="*/ 670152 w 864621"/>
              <a:gd name="connsiteY240" fmla="*/ 131463 h 259768"/>
              <a:gd name="connsiteX241" fmla="*/ 660056 w 864621"/>
              <a:gd name="connsiteY241" fmla="*/ 131498 h 259768"/>
              <a:gd name="connsiteX242" fmla="*/ 642387 w 864621"/>
              <a:gd name="connsiteY242" fmla="*/ 128217 h 259768"/>
              <a:gd name="connsiteX243" fmla="*/ 652447 w 864621"/>
              <a:gd name="connsiteY243" fmla="*/ 128252 h 259768"/>
              <a:gd name="connsiteX244" fmla="*/ 652447 w 864621"/>
              <a:gd name="connsiteY244" fmla="*/ 131533 h 259768"/>
              <a:gd name="connsiteX245" fmla="*/ 642387 w 864621"/>
              <a:gd name="connsiteY245" fmla="*/ 131568 h 259768"/>
              <a:gd name="connsiteX246" fmla="*/ 624681 w 864621"/>
              <a:gd name="connsiteY246" fmla="*/ 128147 h 259768"/>
              <a:gd name="connsiteX247" fmla="*/ 634778 w 864621"/>
              <a:gd name="connsiteY247" fmla="*/ 128182 h 259768"/>
              <a:gd name="connsiteX248" fmla="*/ 634778 w 864621"/>
              <a:gd name="connsiteY248" fmla="*/ 131603 h 259768"/>
              <a:gd name="connsiteX249" fmla="*/ 624681 w 864621"/>
              <a:gd name="connsiteY249" fmla="*/ 131620 h 259768"/>
              <a:gd name="connsiteX250" fmla="*/ 607013 w 864621"/>
              <a:gd name="connsiteY250" fmla="*/ 128095 h 259768"/>
              <a:gd name="connsiteX251" fmla="*/ 617072 w 864621"/>
              <a:gd name="connsiteY251" fmla="*/ 128130 h 259768"/>
              <a:gd name="connsiteX252" fmla="*/ 617072 w 864621"/>
              <a:gd name="connsiteY252" fmla="*/ 131673 h 259768"/>
              <a:gd name="connsiteX253" fmla="*/ 607013 w 864621"/>
              <a:gd name="connsiteY253" fmla="*/ 131690 h 259768"/>
              <a:gd name="connsiteX254" fmla="*/ 589344 w 864621"/>
              <a:gd name="connsiteY254" fmla="*/ 128025 h 259768"/>
              <a:gd name="connsiteX255" fmla="*/ 599403 w 864621"/>
              <a:gd name="connsiteY255" fmla="*/ 128060 h 259768"/>
              <a:gd name="connsiteX256" fmla="*/ 599403 w 864621"/>
              <a:gd name="connsiteY256" fmla="*/ 131725 h 259768"/>
              <a:gd name="connsiteX257" fmla="*/ 589344 w 864621"/>
              <a:gd name="connsiteY257" fmla="*/ 131760 h 259768"/>
              <a:gd name="connsiteX258" fmla="*/ 571638 w 864621"/>
              <a:gd name="connsiteY258" fmla="*/ 127956 h 259768"/>
              <a:gd name="connsiteX259" fmla="*/ 581697 w 864621"/>
              <a:gd name="connsiteY259" fmla="*/ 127991 h 259768"/>
              <a:gd name="connsiteX260" fmla="*/ 581697 w 864621"/>
              <a:gd name="connsiteY260" fmla="*/ 131778 h 259768"/>
              <a:gd name="connsiteX261" fmla="*/ 571638 w 864621"/>
              <a:gd name="connsiteY261" fmla="*/ 131812 h 259768"/>
              <a:gd name="connsiteX262" fmla="*/ 553969 w 864621"/>
              <a:gd name="connsiteY262" fmla="*/ 127903 h 259768"/>
              <a:gd name="connsiteX263" fmla="*/ 564028 w 864621"/>
              <a:gd name="connsiteY263" fmla="*/ 127938 h 259768"/>
              <a:gd name="connsiteX264" fmla="*/ 564028 w 864621"/>
              <a:gd name="connsiteY264" fmla="*/ 131865 h 259768"/>
              <a:gd name="connsiteX265" fmla="*/ 553969 w 864621"/>
              <a:gd name="connsiteY265" fmla="*/ 131882 h 259768"/>
              <a:gd name="connsiteX266" fmla="*/ 536300 w 864621"/>
              <a:gd name="connsiteY266" fmla="*/ 127833 h 259768"/>
              <a:gd name="connsiteX267" fmla="*/ 546360 w 864621"/>
              <a:gd name="connsiteY267" fmla="*/ 127868 h 259768"/>
              <a:gd name="connsiteX268" fmla="*/ 546360 w 864621"/>
              <a:gd name="connsiteY268" fmla="*/ 131917 h 259768"/>
              <a:gd name="connsiteX269" fmla="*/ 536300 w 864621"/>
              <a:gd name="connsiteY269" fmla="*/ 131952 h 259768"/>
              <a:gd name="connsiteX270" fmla="*/ 518594 w 864621"/>
              <a:gd name="connsiteY270" fmla="*/ 127764 h 259768"/>
              <a:gd name="connsiteX271" fmla="*/ 528654 w 864621"/>
              <a:gd name="connsiteY271" fmla="*/ 127799 h 259768"/>
              <a:gd name="connsiteX272" fmla="*/ 528654 w 864621"/>
              <a:gd name="connsiteY272" fmla="*/ 131987 h 259768"/>
              <a:gd name="connsiteX273" fmla="*/ 518594 w 864621"/>
              <a:gd name="connsiteY273" fmla="*/ 132004 h 259768"/>
              <a:gd name="connsiteX274" fmla="*/ 500926 w 864621"/>
              <a:gd name="connsiteY274" fmla="*/ 127711 h 259768"/>
              <a:gd name="connsiteX275" fmla="*/ 510985 w 864621"/>
              <a:gd name="connsiteY275" fmla="*/ 127746 h 259768"/>
              <a:gd name="connsiteX276" fmla="*/ 510985 w 864621"/>
              <a:gd name="connsiteY276" fmla="*/ 132057 h 259768"/>
              <a:gd name="connsiteX277" fmla="*/ 500926 w 864621"/>
              <a:gd name="connsiteY277" fmla="*/ 132074 h 259768"/>
              <a:gd name="connsiteX278" fmla="*/ 483219 w 864621"/>
              <a:gd name="connsiteY278" fmla="*/ 127624 h 259768"/>
              <a:gd name="connsiteX279" fmla="*/ 493279 w 864621"/>
              <a:gd name="connsiteY279" fmla="*/ 127659 h 259768"/>
              <a:gd name="connsiteX280" fmla="*/ 493279 w 864621"/>
              <a:gd name="connsiteY280" fmla="*/ 132092 h 259768"/>
              <a:gd name="connsiteX281" fmla="*/ 483219 w 864621"/>
              <a:gd name="connsiteY281" fmla="*/ 132126 h 259768"/>
              <a:gd name="connsiteX282" fmla="*/ 465551 w 864621"/>
              <a:gd name="connsiteY282" fmla="*/ 127572 h 259768"/>
              <a:gd name="connsiteX283" fmla="*/ 475610 w 864621"/>
              <a:gd name="connsiteY283" fmla="*/ 127607 h 259768"/>
              <a:gd name="connsiteX284" fmla="*/ 475610 w 864621"/>
              <a:gd name="connsiteY284" fmla="*/ 132161 h 259768"/>
              <a:gd name="connsiteX285" fmla="*/ 465551 w 864621"/>
              <a:gd name="connsiteY285" fmla="*/ 132196 h 259768"/>
              <a:gd name="connsiteX286" fmla="*/ 0 w 864621"/>
              <a:gd name="connsiteY286" fmla="*/ 127188 h 259768"/>
              <a:gd name="connsiteX287" fmla="*/ 14328 w 864621"/>
              <a:gd name="connsiteY287" fmla="*/ 127188 h 259768"/>
              <a:gd name="connsiteX288" fmla="*/ 14328 w 864621"/>
              <a:gd name="connsiteY288" fmla="*/ 132580 h 259768"/>
              <a:gd name="connsiteX289" fmla="*/ 0 w 864621"/>
              <a:gd name="connsiteY289" fmla="*/ 132580 h 259768"/>
              <a:gd name="connsiteX290" fmla="*/ 253191 w 864621"/>
              <a:gd name="connsiteY290" fmla="*/ 126612 h 259768"/>
              <a:gd name="connsiteX291" fmla="*/ 267519 w 864621"/>
              <a:gd name="connsiteY291" fmla="*/ 126612 h 259768"/>
              <a:gd name="connsiteX292" fmla="*/ 267519 w 864621"/>
              <a:gd name="connsiteY292" fmla="*/ 133174 h 259768"/>
              <a:gd name="connsiteX293" fmla="*/ 253191 w 864621"/>
              <a:gd name="connsiteY293" fmla="*/ 133174 h 259768"/>
              <a:gd name="connsiteX294" fmla="*/ 189902 w 864621"/>
              <a:gd name="connsiteY294" fmla="*/ 126542 h 259768"/>
              <a:gd name="connsiteX295" fmla="*/ 204230 w 864621"/>
              <a:gd name="connsiteY295" fmla="*/ 126542 h 259768"/>
              <a:gd name="connsiteX296" fmla="*/ 204230 w 864621"/>
              <a:gd name="connsiteY296" fmla="*/ 133244 h 259768"/>
              <a:gd name="connsiteX297" fmla="*/ 189902 w 864621"/>
              <a:gd name="connsiteY297" fmla="*/ 133244 h 259768"/>
              <a:gd name="connsiteX298" fmla="*/ 316479 w 864621"/>
              <a:gd name="connsiteY298" fmla="*/ 126525 h 259768"/>
              <a:gd name="connsiteX299" fmla="*/ 330807 w 864621"/>
              <a:gd name="connsiteY299" fmla="*/ 126525 h 259768"/>
              <a:gd name="connsiteX300" fmla="*/ 330807 w 864621"/>
              <a:gd name="connsiteY300" fmla="*/ 133243 h 259768"/>
              <a:gd name="connsiteX301" fmla="*/ 316479 w 864621"/>
              <a:gd name="connsiteY301" fmla="*/ 133243 h 259768"/>
              <a:gd name="connsiteX302" fmla="*/ 126576 w 864621"/>
              <a:gd name="connsiteY302" fmla="*/ 126525 h 259768"/>
              <a:gd name="connsiteX303" fmla="*/ 140904 w 864621"/>
              <a:gd name="connsiteY303" fmla="*/ 126525 h 259768"/>
              <a:gd name="connsiteX304" fmla="*/ 140904 w 864621"/>
              <a:gd name="connsiteY304" fmla="*/ 133243 h 259768"/>
              <a:gd name="connsiteX305" fmla="*/ 126576 w 864621"/>
              <a:gd name="connsiteY305" fmla="*/ 133243 h 259768"/>
              <a:gd name="connsiteX306" fmla="*/ 443019 w 864621"/>
              <a:gd name="connsiteY306" fmla="*/ 126071 h 259768"/>
              <a:gd name="connsiteX307" fmla="*/ 457347 w 864621"/>
              <a:gd name="connsiteY307" fmla="*/ 126071 h 259768"/>
              <a:gd name="connsiteX308" fmla="*/ 457347 w 864621"/>
              <a:gd name="connsiteY308" fmla="*/ 127537 h 259768"/>
              <a:gd name="connsiteX309" fmla="*/ 458424 w 864621"/>
              <a:gd name="connsiteY309" fmla="*/ 127537 h 259768"/>
              <a:gd name="connsiteX310" fmla="*/ 458424 w 864621"/>
              <a:gd name="connsiteY310" fmla="*/ 132231 h 259768"/>
              <a:gd name="connsiteX311" fmla="*/ 457347 w 864621"/>
              <a:gd name="connsiteY311" fmla="*/ 132231 h 259768"/>
              <a:gd name="connsiteX312" fmla="*/ 457347 w 864621"/>
              <a:gd name="connsiteY312" fmla="*/ 133697 h 259768"/>
              <a:gd name="connsiteX313" fmla="*/ 443019 w 864621"/>
              <a:gd name="connsiteY313" fmla="*/ 133697 h 259768"/>
              <a:gd name="connsiteX314" fmla="*/ 379805 w 864621"/>
              <a:gd name="connsiteY314" fmla="*/ 121848 h 259768"/>
              <a:gd name="connsiteX315" fmla="*/ 394133 w 864621"/>
              <a:gd name="connsiteY315" fmla="*/ 121848 h 259768"/>
              <a:gd name="connsiteX316" fmla="*/ 394133 w 864621"/>
              <a:gd name="connsiteY316" fmla="*/ 128374 h 259768"/>
              <a:gd name="connsiteX317" fmla="*/ 379805 w 864621"/>
              <a:gd name="connsiteY317" fmla="*/ 128374 h 259768"/>
              <a:gd name="connsiteX318" fmla="*/ 63288 w 864621"/>
              <a:gd name="connsiteY318" fmla="*/ 121376 h 259768"/>
              <a:gd name="connsiteX319" fmla="*/ 77616 w 864621"/>
              <a:gd name="connsiteY319" fmla="*/ 121376 h 259768"/>
              <a:gd name="connsiteX320" fmla="*/ 77616 w 864621"/>
              <a:gd name="connsiteY320" fmla="*/ 128217 h 259768"/>
              <a:gd name="connsiteX321" fmla="*/ 63288 w 864621"/>
              <a:gd name="connsiteY321" fmla="*/ 128217 h 259768"/>
              <a:gd name="connsiteX322" fmla="*/ 0 w 864621"/>
              <a:gd name="connsiteY322" fmla="*/ 120958 h 259768"/>
              <a:gd name="connsiteX323" fmla="*/ 14328 w 864621"/>
              <a:gd name="connsiteY323" fmla="*/ 120958 h 259768"/>
              <a:gd name="connsiteX324" fmla="*/ 14328 w 864621"/>
              <a:gd name="connsiteY324" fmla="*/ 125198 h 259768"/>
              <a:gd name="connsiteX325" fmla="*/ 0 w 864621"/>
              <a:gd name="connsiteY325" fmla="*/ 125198 h 259768"/>
              <a:gd name="connsiteX326" fmla="*/ 443094 w 864621"/>
              <a:gd name="connsiteY326" fmla="*/ 117432 h 259768"/>
              <a:gd name="connsiteX327" fmla="*/ 457422 w 864621"/>
              <a:gd name="connsiteY327" fmla="*/ 117432 h 259768"/>
              <a:gd name="connsiteX328" fmla="*/ 457422 w 864621"/>
              <a:gd name="connsiteY328" fmla="*/ 121673 h 259768"/>
              <a:gd name="connsiteX329" fmla="*/ 443094 w 864621"/>
              <a:gd name="connsiteY329" fmla="*/ 121673 h 259768"/>
              <a:gd name="connsiteX330" fmla="*/ 253191 w 864621"/>
              <a:gd name="connsiteY330" fmla="*/ 116978 h 259768"/>
              <a:gd name="connsiteX331" fmla="*/ 267519 w 864621"/>
              <a:gd name="connsiteY331" fmla="*/ 116978 h 259768"/>
              <a:gd name="connsiteX332" fmla="*/ 267519 w 864621"/>
              <a:gd name="connsiteY332" fmla="*/ 123540 h 259768"/>
              <a:gd name="connsiteX333" fmla="*/ 253191 w 864621"/>
              <a:gd name="connsiteY333" fmla="*/ 123540 h 259768"/>
              <a:gd name="connsiteX334" fmla="*/ 189902 w 864621"/>
              <a:gd name="connsiteY334" fmla="*/ 116630 h 259768"/>
              <a:gd name="connsiteX335" fmla="*/ 204230 w 864621"/>
              <a:gd name="connsiteY335" fmla="*/ 116630 h 259768"/>
              <a:gd name="connsiteX336" fmla="*/ 204230 w 864621"/>
              <a:gd name="connsiteY336" fmla="*/ 123331 h 259768"/>
              <a:gd name="connsiteX337" fmla="*/ 189902 w 864621"/>
              <a:gd name="connsiteY337" fmla="*/ 123331 h 259768"/>
              <a:gd name="connsiteX338" fmla="*/ 316479 w 864621"/>
              <a:gd name="connsiteY338" fmla="*/ 116577 h 259768"/>
              <a:gd name="connsiteX339" fmla="*/ 330807 w 864621"/>
              <a:gd name="connsiteY339" fmla="*/ 116577 h 259768"/>
              <a:gd name="connsiteX340" fmla="*/ 330807 w 864621"/>
              <a:gd name="connsiteY340" fmla="*/ 123296 h 259768"/>
              <a:gd name="connsiteX341" fmla="*/ 316479 w 864621"/>
              <a:gd name="connsiteY341" fmla="*/ 123296 h 259768"/>
              <a:gd name="connsiteX342" fmla="*/ 126576 w 864621"/>
              <a:gd name="connsiteY342" fmla="*/ 116577 h 259768"/>
              <a:gd name="connsiteX343" fmla="*/ 140904 w 864621"/>
              <a:gd name="connsiteY343" fmla="*/ 116577 h 259768"/>
              <a:gd name="connsiteX344" fmla="*/ 140904 w 864621"/>
              <a:gd name="connsiteY344" fmla="*/ 123296 h 259768"/>
              <a:gd name="connsiteX345" fmla="*/ 126576 w 864621"/>
              <a:gd name="connsiteY345" fmla="*/ 123296 h 259768"/>
              <a:gd name="connsiteX346" fmla="*/ 379805 w 864621"/>
              <a:gd name="connsiteY346" fmla="*/ 112284 h 259768"/>
              <a:gd name="connsiteX347" fmla="*/ 394133 w 864621"/>
              <a:gd name="connsiteY347" fmla="*/ 112284 h 259768"/>
              <a:gd name="connsiteX348" fmla="*/ 394133 w 864621"/>
              <a:gd name="connsiteY348" fmla="*/ 118811 h 259768"/>
              <a:gd name="connsiteX349" fmla="*/ 379805 w 864621"/>
              <a:gd name="connsiteY349" fmla="*/ 118811 h 259768"/>
              <a:gd name="connsiteX350" fmla="*/ 63288 w 864621"/>
              <a:gd name="connsiteY350" fmla="*/ 111202 h 259768"/>
              <a:gd name="connsiteX351" fmla="*/ 77616 w 864621"/>
              <a:gd name="connsiteY351" fmla="*/ 111202 h 259768"/>
              <a:gd name="connsiteX352" fmla="*/ 77616 w 864621"/>
              <a:gd name="connsiteY352" fmla="*/ 118043 h 259768"/>
              <a:gd name="connsiteX353" fmla="*/ 63288 w 864621"/>
              <a:gd name="connsiteY353" fmla="*/ 118043 h 259768"/>
              <a:gd name="connsiteX354" fmla="*/ 253191 w 864621"/>
              <a:gd name="connsiteY354" fmla="*/ 107363 h 259768"/>
              <a:gd name="connsiteX355" fmla="*/ 267519 w 864621"/>
              <a:gd name="connsiteY355" fmla="*/ 107363 h 259768"/>
              <a:gd name="connsiteX356" fmla="*/ 267519 w 864621"/>
              <a:gd name="connsiteY356" fmla="*/ 113925 h 259768"/>
              <a:gd name="connsiteX357" fmla="*/ 253191 w 864621"/>
              <a:gd name="connsiteY357" fmla="*/ 113925 h 259768"/>
              <a:gd name="connsiteX358" fmla="*/ 189902 w 864621"/>
              <a:gd name="connsiteY358" fmla="*/ 106717 h 259768"/>
              <a:gd name="connsiteX359" fmla="*/ 204230 w 864621"/>
              <a:gd name="connsiteY359" fmla="*/ 106717 h 259768"/>
              <a:gd name="connsiteX360" fmla="*/ 204230 w 864621"/>
              <a:gd name="connsiteY360" fmla="*/ 113419 h 259768"/>
              <a:gd name="connsiteX361" fmla="*/ 189902 w 864621"/>
              <a:gd name="connsiteY361" fmla="*/ 113419 h 259768"/>
              <a:gd name="connsiteX362" fmla="*/ 316479 w 864621"/>
              <a:gd name="connsiteY362" fmla="*/ 106630 h 259768"/>
              <a:gd name="connsiteX363" fmla="*/ 330807 w 864621"/>
              <a:gd name="connsiteY363" fmla="*/ 106630 h 259768"/>
              <a:gd name="connsiteX364" fmla="*/ 330807 w 864621"/>
              <a:gd name="connsiteY364" fmla="*/ 113349 h 259768"/>
              <a:gd name="connsiteX365" fmla="*/ 316479 w 864621"/>
              <a:gd name="connsiteY365" fmla="*/ 113349 h 259768"/>
              <a:gd name="connsiteX366" fmla="*/ 126576 w 864621"/>
              <a:gd name="connsiteY366" fmla="*/ 106630 h 259768"/>
              <a:gd name="connsiteX367" fmla="*/ 140904 w 864621"/>
              <a:gd name="connsiteY367" fmla="*/ 106630 h 259768"/>
              <a:gd name="connsiteX368" fmla="*/ 140904 w 864621"/>
              <a:gd name="connsiteY368" fmla="*/ 113349 h 259768"/>
              <a:gd name="connsiteX369" fmla="*/ 126576 w 864621"/>
              <a:gd name="connsiteY369" fmla="*/ 113349 h 259768"/>
              <a:gd name="connsiteX370" fmla="*/ 379805 w 864621"/>
              <a:gd name="connsiteY370" fmla="*/ 102721 h 259768"/>
              <a:gd name="connsiteX371" fmla="*/ 394133 w 864621"/>
              <a:gd name="connsiteY371" fmla="*/ 102721 h 259768"/>
              <a:gd name="connsiteX372" fmla="*/ 394133 w 864621"/>
              <a:gd name="connsiteY372" fmla="*/ 109247 h 259768"/>
              <a:gd name="connsiteX373" fmla="*/ 379805 w 864621"/>
              <a:gd name="connsiteY373" fmla="*/ 109247 h 259768"/>
              <a:gd name="connsiteX374" fmla="*/ 63288 w 864621"/>
              <a:gd name="connsiteY374" fmla="*/ 101028 h 259768"/>
              <a:gd name="connsiteX375" fmla="*/ 77616 w 864621"/>
              <a:gd name="connsiteY375" fmla="*/ 101028 h 259768"/>
              <a:gd name="connsiteX376" fmla="*/ 77616 w 864621"/>
              <a:gd name="connsiteY376" fmla="*/ 107869 h 259768"/>
              <a:gd name="connsiteX377" fmla="*/ 63288 w 864621"/>
              <a:gd name="connsiteY377" fmla="*/ 107869 h 259768"/>
              <a:gd name="connsiteX378" fmla="*/ 253191 w 864621"/>
              <a:gd name="connsiteY378" fmla="*/ 97747 h 259768"/>
              <a:gd name="connsiteX379" fmla="*/ 267519 w 864621"/>
              <a:gd name="connsiteY379" fmla="*/ 97747 h 259768"/>
              <a:gd name="connsiteX380" fmla="*/ 267519 w 864621"/>
              <a:gd name="connsiteY380" fmla="*/ 104309 h 259768"/>
              <a:gd name="connsiteX381" fmla="*/ 253191 w 864621"/>
              <a:gd name="connsiteY381" fmla="*/ 104309 h 259768"/>
              <a:gd name="connsiteX382" fmla="*/ 189902 w 864621"/>
              <a:gd name="connsiteY382" fmla="*/ 96822 h 259768"/>
              <a:gd name="connsiteX383" fmla="*/ 204230 w 864621"/>
              <a:gd name="connsiteY383" fmla="*/ 96822 h 259768"/>
              <a:gd name="connsiteX384" fmla="*/ 204230 w 864621"/>
              <a:gd name="connsiteY384" fmla="*/ 103523 h 259768"/>
              <a:gd name="connsiteX385" fmla="*/ 189902 w 864621"/>
              <a:gd name="connsiteY385" fmla="*/ 103523 h 259768"/>
              <a:gd name="connsiteX386" fmla="*/ 316479 w 864621"/>
              <a:gd name="connsiteY386" fmla="*/ 96665 h 259768"/>
              <a:gd name="connsiteX387" fmla="*/ 330807 w 864621"/>
              <a:gd name="connsiteY387" fmla="*/ 96665 h 259768"/>
              <a:gd name="connsiteX388" fmla="*/ 330807 w 864621"/>
              <a:gd name="connsiteY388" fmla="*/ 103384 h 259768"/>
              <a:gd name="connsiteX389" fmla="*/ 316479 w 864621"/>
              <a:gd name="connsiteY389" fmla="*/ 103384 h 259768"/>
              <a:gd name="connsiteX390" fmla="*/ 126576 w 864621"/>
              <a:gd name="connsiteY390" fmla="*/ 96665 h 259768"/>
              <a:gd name="connsiteX391" fmla="*/ 140904 w 864621"/>
              <a:gd name="connsiteY391" fmla="*/ 96665 h 259768"/>
              <a:gd name="connsiteX392" fmla="*/ 140904 w 864621"/>
              <a:gd name="connsiteY392" fmla="*/ 103384 h 259768"/>
              <a:gd name="connsiteX393" fmla="*/ 126576 w 864621"/>
              <a:gd name="connsiteY393" fmla="*/ 103384 h 259768"/>
              <a:gd name="connsiteX394" fmla="*/ 379805 w 864621"/>
              <a:gd name="connsiteY394" fmla="*/ 95251 h 259768"/>
              <a:gd name="connsiteX395" fmla="*/ 394133 w 864621"/>
              <a:gd name="connsiteY395" fmla="*/ 95251 h 259768"/>
              <a:gd name="connsiteX396" fmla="*/ 394133 w 864621"/>
              <a:gd name="connsiteY396" fmla="*/ 99492 h 259768"/>
              <a:gd name="connsiteX397" fmla="*/ 379805 w 864621"/>
              <a:gd name="connsiteY397" fmla="*/ 99492 h 259768"/>
              <a:gd name="connsiteX398" fmla="*/ 63288 w 864621"/>
              <a:gd name="connsiteY398" fmla="*/ 90853 h 259768"/>
              <a:gd name="connsiteX399" fmla="*/ 77616 w 864621"/>
              <a:gd name="connsiteY399" fmla="*/ 90853 h 259768"/>
              <a:gd name="connsiteX400" fmla="*/ 77616 w 864621"/>
              <a:gd name="connsiteY400" fmla="*/ 97694 h 259768"/>
              <a:gd name="connsiteX401" fmla="*/ 63288 w 864621"/>
              <a:gd name="connsiteY401" fmla="*/ 97694 h 259768"/>
              <a:gd name="connsiteX402" fmla="*/ 253191 w 864621"/>
              <a:gd name="connsiteY402" fmla="*/ 88131 h 259768"/>
              <a:gd name="connsiteX403" fmla="*/ 267519 w 864621"/>
              <a:gd name="connsiteY403" fmla="*/ 88131 h 259768"/>
              <a:gd name="connsiteX404" fmla="*/ 267519 w 864621"/>
              <a:gd name="connsiteY404" fmla="*/ 94693 h 259768"/>
              <a:gd name="connsiteX405" fmla="*/ 253191 w 864621"/>
              <a:gd name="connsiteY405" fmla="*/ 94693 h 259768"/>
              <a:gd name="connsiteX406" fmla="*/ 189902 w 864621"/>
              <a:gd name="connsiteY406" fmla="*/ 86909 h 259768"/>
              <a:gd name="connsiteX407" fmla="*/ 204230 w 864621"/>
              <a:gd name="connsiteY407" fmla="*/ 86909 h 259768"/>
              <a:gd name="connsiteX408" fmla="*/ 204230 w 864621"/>
              <a:gd name="connsiteY408" fmla="*/ 93611 h 259768"/>
              <a:gd name="connsiteX409" fmla="*/ 189902 w 864621"/>
              <a:gd name="connsiteY409" fmla="*/ 93611 h 259768"/>
              <a:gd name="connsiteX410" fmla="*/ 316479 w 864621"/>
              <a:gd name="connsiteY410" fmla="*/ 86717 h 259768"/>
              <a:gd name="connsiteX411" fmla="*/ 330807 w 864621"/>
              <a:gd name="connsiteY411" fmla="*/ 86717 h 259768"/>
              <a:gd name="connsiteX412" fmla="*/ 330807 w 864621"/>
              <a:gd name="connsiteY412" fmla="*/ 93436 h 259768"/>
              <a:gd name="connsiteX413" fmla="*/ 316479 w 864621"/>
              <a:gd name="connsiteY413" fmla="*/ 93436 h 259768"/>
              <a:gd name="connsiteX414" fmla="*/ 126576 w 864621"/>
              <a:gd name="connsiteY414" fmla="*/ 86717 h 259768"/>
              <a:gd name="connsiteX415" fmla="*/ 140904 w 864621"/>
              <a:gd name="connsiteY415" fmla="*/ 86717 h 259768"/>
              <a:gd name="connsiteX416" fmla="*/ 140904 w 864621"/>
              <a:gd name="connsiteY416" fmla="*/ 93436 h 259768"/>
              <a:gd name="connsiteX417" fmla="*/ 126576 w 864621"/>
              <a:gd name="connsiteY417" fmla="*/ 93436 h 259768"/>
              <a:gd name="connsiteX418" fmla="*/ 63288 w 864621"/>
              <a:gd name="connsiteY418" fmla="*/ 80679 h 259768"/>
              <a:gd name="connsiteX419" fmla="*/ 77616 w 864621"/>
              <a:gd name="connsiteY419" fmla="*/ 80679 h 259768"/>
              <a:gd name="connsiteX420" fmla="*/ 77616 w 864621"/>
              <a:gd name="connsiteY420" fmla="*/ 87520 h 259768"/>
              <a:gd name="connsiteX421" fmla="*/ 63288 w 864621"/>
              <a:gd name="connsiteY421" fmla="*/ 87520 h 259768"/>
              <a:gd name="connsiteX422" fmla="*/ 253191 w 864621"/>
              <a:gd name="connsiteY422" fmla="*/ 80644 h 259768"/>
              <a:gd name="connsiteX423" fmla="*/ 267519 w 864621"/>
              <a:gd name="connsiteY423" fmla="*/ 80644 h 259768"/>
              <a:gd name="connsiteX424" fmla="*/ 267519 w 864621"/>
              <a:gd name="connsiteY424" fmla="*/ 84885 h 259768"/>
              <a:gd name="connsiteX425" fmla="*/ 253191 w 864621"/>
              <a:gd name="connsiteY425" fmla="*/ 84885 h 259768"/>
              <a:gd name="connsiteX426" fmla="*/ 189902 w 864621"/>
              <a:gd name="connsiteY426" fmla="*/ 76997 h 259768"/>
              <a:gd name="connsiteX427" fmla="*/ 204230 w 864621"/>
              <a:gd name="connsiteY427" fmla="*/ 76997 h 259768"/>
              <a:gd name="connsiteX428" fmla="*/ 204230 w 864621"/>
              <a:gd name="connsiteY428" fmla="*/ 83698 h 259768"/>
              <a:gd name="connsiteX429" fmla="*/ 189902 w 864621"/>
              <a:gd name="connsiteY429" fmla="*/ 83698 h 259768"/>
              <a:gd name="connsiteX430" fmla="*/ 316479 w 864621"/>
              <a:gd name="connsiteY430" fmla="*/ 76770 h 259768"/>
              <a:gd name="connsiteX431" fmla="*/ 330807 w 864621"/>
              <a:gd name="connsiteY431" fmla="*/ 76770 h 259768"/>
              <a:gd name="connsiteX432" fmla="*/ 330807 w 864621"/>
              <a:gd name="connsiteY432" fmla="*/ 83489 h 259768"/>
              <a:gd name="connsiteX433" fmla="*/ 316479 w 864621"/>
              <a:gd name="connsiteY433" fmla="*/ 83489 h 259768"/>
              <a:gd name="connsiteX434" fmla="*/ 126576 w 864621"/>
              <a:gd name="connsiteY434" fmla="*/ 76770 h 259768"/>
              <a:gd name="connsiteX435" fmla="*/ 140904 w 864621"/>
              <a:gd name="connsiteY435" fmla="*/ 76770 h 259768"/>
              <a:gd name="connsiteX436" fmla="*/ 140904 w 864621"/>
              <a:gd name="connsiteY436" fmla="*/ 83489 h 259768"/>
              <a:gd name="connsiteX437" fmla="*/ 126576 w 864621"/>
              <a:gd name="connsiteY437" fmla="*/ 83489 h 259768"/>
              <a:gd name="connsiteX438" fmla="*/ 63288 w 864621"/>
              <a:gd name="connsiteY438" fmla="*/ 72878 h 259768"/>
              <a:gd name="connsiteX439" fmla="*/ 77616 w 864621"/>
              <a:gd name="connsiteY439" fmla="*/ 72878 h 259768"/>
              <a:gd name="connsiteX440" fmla="*/ 77616 w 864621"/>
              <a:gd name="connsiteY440" fmla="*/ 77119 h 259768"/>
              <a:gd name="connsiteX441" fmla="*/ 63288 w 864621"/>
              <a:gd name="connsiteY441" fmla="*/ 77119 h 259768"/>
              <a:gd name="connsiteX442" fmla="*/ 189902 w 864621"/>
              <a:gd name="connsiteY442" fmla="*/ 67102 h 259768"/>
              <a:gd name="connsiteX443" fmla="*/ 204230 w 864621"/>
              <a:gd name="connsiteY443" fmla="*/ 67102 h 259768"/>
              <a:gd name="connsiteX444" fmla="*/ 204230 w 864621"/>
              <a:gd name="connsiteY444" fmla="*/ 73803 h 259768"/>
              <a:gd name="connsiteX445" fmla="*/ 189902 w 864621"/>
              <a:gd name="connsiteY445" fmla="*/ 73803 h 259768"/>
              <a:gd name="connsiteX446" fmla="*/ 316479 w 864621"/>
              <a:gd name="connsiteY446" fmla="*/ 66805 h 259768"/>
              <a:gd name="connsiteX447" fmla="*/ 330807 w 864621"/>
              <a:gd name="connsiteY447" fmla="*/ 66805 h 259768"/>
              <a:gd name="connsiteX448" fmla="*/ 330807 w 864621"/>
              <a:gd name="connsiteY448" fmla="*/ 73524 h 259768"/>
              <a:gd name="connsiteX449" fmla="*/ 316479 w 864621"/>
              <a:gd name="connsiteY449" fmla="*/ 73524 h 259768"/>
              <a:gd name="connsiteX450" fmla="*/ 126576 w 864621"/>
              <a:gd name="connsiteY450" fmla="*/ 66805 h 259768"/>
              <a:gd name="connsiteX451" fmla="*/ 140904 w 864621"/>
              <a:gd name="connsiteY451" fmla="*/ 66805 h 259768"/>
              <a:gd name="connsiteX452" fmla="*/ 140904 w 864621"/>
              <a:gd name="connsiteY452" fmla="*/ 73524 h 259768"/>
              <a:gd name="connsiteX453" fmla="*/ 126576 w 864621"/>
              <a:gd name="connsiteY453" fmla="*/ 73524 h 259768"/>
              <a:gd name="connsiteX454" fmla="*/ 189902 w 864621"/>
              <a:gd name="connsiteY454" fmla="*/ 57189 h 259768"/>
              <a:gd name="connsiteX455" fmla="*/ 204230 w 864621"/>
              <a:gd name="connsiteY455" fmla="*/ 57189 h 259768"/>
              <a:gd name="connsiteX456" fmla="*/ 204230 w 864621"/>
              <a:gd name="connsiteY456" fmla="*/ 63891 h 259768"/>
              <a:gd name="connsiteX457" fmla="*/ 189902 w 864621"/>
              <a:gd name="connsiteY457" fmla="*/ 63891 h 259768"/>
              <a:gd name="connsiteX458" fmla="*/ 316479 w 864621"/>
              <a:gd name="connsiteY458" fmla="*/ 56858 h 259768"/>
              <a:gd name="connsiteX459" fmla="*/ 330807 w 864621"/>
              <a:gd name="connsiteY459" fmla="*/ 56858 h 259768"/>
              <a:gd name="connsiteX460" fmla="*/ 330807 w 864621"/>
              <a:gd name="connsiteY460" fmla="*/ 63577 h 259768"/>
              <a:gd name="connsiteX461" fmla="*/ 316479 w 864621"/>
              <a:gd name="connsiteY461" fmla="*/ 63577 h 259768"/>
              <a:gd name="connsiteX462" fmla="*/ 126576 w 864621"/>
              <a:gd name="connsiteY462" fmla="*/ 56858 h 259768"/>
              <a:gd name="connsiteX463" fmla="*/ 140904 w 864621"/>
              <a:gd name="connsiteY463" fmla="*/ 56858 h 259768"/>
              <a:gd name="connsiteX464" fmla="*/ 140904 w 864621"/>
              <a:gd name="connsiteY464" fmla="*/ 63577 h 259768"/>
              <a:gd name="connsiteX465" fmla="*/ 126576 w 864621"/>
              <a:gd name="connsiteY465" fmla="*/ 63577 h 259768"/>
              <a:gd name="connsiteX466" fmla="*/ 189902 w 864621"/>
              <a:gd name="connsiteY466" fmla="*/ 47277 h 259768"/>
              <a:gd name="connsiteX467" fmla="*/ 204230 w 864621"/>
              <a:gd name="connsiteY467" fmla="*/ 47277 h 259768"/>
              <a:gd name="connsiteX468" fmla="*/ 204230 w 864621"/>
              <a:gd name="connsiteY468" fmla="*/ 53978 h 259768"/>
              <a:gd name="connsiteX469" fmla="*/ 189902 w 864621"/>
              <a:gd name="connsiteY469" fmla="*/ 53978 h 259768"/>
              <a:gd name="connsiteX470" fmla="*/ 316479 w 864621"/>
              <a:gd name="connsiteY470" fmla="*/ 46910 h 259768"/>
              <a:gd name="connsiteX471" fmla="*/ 330807 w 864621"/>
              <a:gd name="connsiteY471" fmla="*/ 46910 h 259768"/>
              <a:gd name="connsiteX472" fmla="*/ 330807 w 864621"/>
              <a:gd name="connsiteY472" fmla="*/ 53629 h 259768"/>
              <a:gd name="connsiteX473" fmla="*/ 316479 w 864621"/>
              <a:gd name="connsiteY473" fmla="*/ 53629 h 259768"/>
              <a:gd name="connsiteX474" fmla="*/ 126576 w 864621"/>
              <a:gd name="connsiteY474" fmla="*/ 46910 h 259768"/>
              <a:gd name="connsiteX475" fmla="*/ 140904 w 864621"/>
              <a:gd name="connsiteY475" fmla="*/ 46910 h 259768"/>
              <a:gd name="connsiteX476" fmla="*/ 140904 w 864621"/>
              <a:gd name="connsiteY476" fmla="*/ 53629 h 259768"/>
              <a:gd name="connsiteX477" fmla="*/ 126576 w 864621"/>
              <a:gd name="connsiteY477" fmla="*/ 53629 h 259768"/>
              <a:gd name="connsiteX478" fmla="*/ 316479 w 864621"/>
              <a:gd name="connsiteY478" fmla="*/ 39232 h 259768"/>
              <a:gd name="connsiteX479" fmla="*/ 330807 w 864621"/>
              <a:gd name="connsiteY479" fmla="*/ 39232 h 259768"/>
              <a:gd name="connsiteX480" fmla="*/ 330807 w 864621"/>
              <a:gd name="connsiteY480" fmla="*/ 43472 h 259768"/>
              <a:gd name="connsiteX481" fmla="*/ 316479 w 864621"/>
              <a:gd name="connsiteY481" fmla="*/ 43472 h 259768"/>
              <a:gd name="connsiteX482" fmla="*/ 126576 w 864621"/>
              <a:gd name="connsiteY482" fmla="*/ 39232 h 259768"/>
              <a:gd name="connsiteX483" fmla="*/ 140904 w 864621"/>
              <a:gd name="connsiteY483" fmla="*/ 39232 h 259768"/>
              <a:gd name="connsiteX484" fmla="*/ 140904 w 864621"/>
              <a:gd name="connsiteY484" fmla="*/ 43472 h 259768"/>
              <a:gd name="connsiteX485" fmla="*/ 126576 w 864621"/>
              <a:gd name="connsiteY485" fmla="*/ 43472 h 259768"/>
              <a:gd name="connsiteX486" fmla="*/ 189902 w 864621"/>
              <a:gd name="connsiteY486" fmla="*/ 37364 h 259768"/>
              <a:gd name="connsiteX487" fmla="*/ 204230 w 864621"/>
              <a:gd name="connsiteY487" fmla="*/ 37364 h 259768"/>
              <a:gd name="connsiteX488" fmla="*/ 204230 w 864621"/>
              <a:gd name="connsiteY488" fmla="*/ 44066 h 259768"/>
              <a:gd name="connsiteX489" fmla="*/ 189902 w 864621"/>
              <a:gd name="connsiteY489" fmla="*/ 44066 h 259768"/>
              <a:gd name="connsiteX490" fmla="*/ 189902 w 864621"/>
              <a:gd name="connsiteY490" fmla="*/ 27469 h 259768"/>
              <a:gd name="connsiteX491" fmla="*/ 204230 w 864621"/>
              <a:gd name="connsiteY491" fmla="*/ 27469 h 259768"/>
              <a:gd name="connsiteX492" fmla="*/ 204230 w 864621"/>
              <a:gd name="connsiteY492" fmla="*/ 34171 h 259768"/>
              <a:gd name="connsiteX493" fmla="*/ 189902 w 864621"/>
              <a:gd name="connsiteY493" fmla="*/ 34171 h 259768"/>
              <a:gd name="connsiteX494" fmla="*/ 189902 w 864621"/>
              <a:gd name="connsiteY494" fmla="*/ 17557 h 259768"/>
              <a:gd name="connsiteX495" fmla="*/ 204230 w 864621"/>
              <a:gd name="connsiteY495" fmla="*/ 17557 h 259768"/>
              <a:gd name="connsiteX496" fmla="*/ 204230 w 864621"/>
              <a:gd name="connsiteY496" fmla="*/ 24258 h 259768"/>
              <a:gd name="connsiteX497" fmla="*/ 189902 w 864621"/>
              <a:gd name="connsiteY497" fmla="*/ 24258 h 259768"/>
              <a:gd name="connsiteX498" fmla="*/ 189902 w 864621"/>
              <a:gd name="connsiteY498" fmla="*/ 7644 h 259768"/>
              <a:gd name="connsiteX499" fmla="*/ 204230 w 864621"/>
              <a:gd name="connsiteY499" fmla="*/ 7644 h 259768"/>
              <a:gd name="connsiteX500" fmla="*/ 204230 w 864621"/>
              <a:gd name="connsiteY500" fmla="*/ 14346 h 259768"/>
              <a:gd name="connsiteX501" fmla="*/ 189902 w 864621"/>
              <a:gd name="connsiteY501" fmla="*/ 14346 h 259768"/>
              <a:gd name="connsiteX502" fmla="*/ 189902 w 864621"/>
              <a:gd name="connsiteY502" fmla="*/ 0 h 259768"/>
              <a:gd name="connsiteX503" fmla="*/ 204230 w 864621"/>
              <a:gd name="connsiteY503" fmla="*/ 0 h 259768"/>
              <a:gd name="connsiteX504" fmla="*/ 204230 w 864621"/>
              <a:gd name="connsiteY504" fmla="*/ 4241 h 259768"/>
              <a:gd name="connsiteX505" fmla="*/ 189902 w 864621"/>
              <a:gd name="connsiteY505" fmla="*/ 4241 h 259768"/>
            </a:gdLst>
            <a:rect l="l" t="t" r="r" b="b"/>
            <a:pathLst>
              <a:path w="864621" h="259768">
                <a:moveTo>
                  <a:pt x="189902" y="255527"/>
                </a:moveTo>
                <a:lnTo>
                  <a:pt x="204230" y="255527"/>
                </a:lnTo>
                <a:lnTo>
                  <a:pt x="204230" y="259768"/>
                </a:lnTo>
                <a:lnTo>
                  <a:pt x="189902" y="259768"/>
                </a:lnTo>
                <a:close/>
                <a:moveTo>
                  <a:pt x="189902" y="245422"/>
                </a:moveTo>
                <a:lnTo>
                  <a:pt x="204230" y="245422"/>
                </a:lnTo>
                <a:lnTo>
                  <a:pt x="204230" y="252124"/>
                </a:lnTo>
                <a:lnTo>
                  <a:pt x="189902" y="252124"/>
                </a:lnTo>
                <a:close/>
                <a:moveTo>
                  <a:pt x="189902" y="235510"/>
                </a:moveTo>
                <a:lnTo>
                  <a:pt x="204230" y="235510"/>
                </a:lnTo>
                <a:lnTo>
                  <a:pt x="204230" y="242211"/>
                </a:lnTo>
                <a:lnTo>
                  <a:pt x="189902" y="242211"/>
                </a:lnTo>
                <a:close/>
                <a:moveTo>
                  <a:pt x="189902" y="225615"/>
                </a:moveTo>
                <a:lnTo>
                  <a:pt x="204230" y="225615"/>
                </a:lnTo>
                <a:lnTo>
                  <a:pt x="204230" y="232316"/>
                </a:lnTo>
                <a:lnTo>
                  <a:pt x="189902" y="232316"/>
                </a:lnTo>
                <a:close/>
                <a:moveTo>
                  <a:pt x="316479" y="216313"/>
                </a:moveTo>
                <a:lnTo>
                  <a:pt x="330807" y="216313"/>
                </a:lnTo>
                <a:lnTo>
                  <a:pt x="330807" y="220554"/>
                </a:lnTo>
                <a:lnTo>
                  <a:pt x="316479" y="220554"/>
                </a:lnTo>
                <a:close/>
                <a:moveTo>
                  <a:pt x="126576" y="216313"/>
                </a:moveTo>
                <a:lnTo>
                  <a:pt x="140904" y="216313"/>
                </a:lnTo>
                <a:lnTo>
                  <a:pt x="140904" y="220554"/>
                </a:lnTo>
                <a:lnTo>
                  <a:pt x="126576" y="220554"/>
                </a:lnTo>
                <a:close/>
                <a:moveTo>
                  <a:pt x="189902" y="215702"/>
                </a:moveTo>
                <a:lnTo>
                  <a:pt x="204230" y="215702"/>
                </a:lnTo>
                <a:lnTo>
                  <a:pt x="204230" y="222404"/>
                </a:lnTo>
                <a:lnTo>
                  <a:pt x="189902" y="222404"/>
                </a:lnTo>
                <a:close/>
                <a:moveTo>
                  <a:pt x="316479" y="206156"/>
                </a:moveTo>
                <a:lnTo>
                  <a:pt x="330807" y="206156"/>
                </a:lnTo>
                <a:lnTo>
                  <a:pt x="330807" y="212875"/>
                </a:lnTo>
                <a:lnTo>
                  <a:pt x="316479" y="212875"/>
                </a:lnTo>
                <a:close/>
                <a:moveTo>
                  <a:pt x="126576" y="206156"/>
                </a:moveTo>
                <a:lnTo>
                  <a:pt x="140904" y="206156"/>
                </a:lnTo>
                <a:lnTo>
                  <a:pt x="140904" y="212875"/>
                </a:lnTo>
                <a:lnTo>
                  <a:pt x="126576" y="212875"/>
                </a:lnTo>
                <a:close/>
                <a:moveTo>
                  <a:pt x="189902" y="205790"/>
                </a:moveTo>
                <a:lnTo>
                  <a:pt x="204230" y="205790"/>
                </a:lnTo>
                <a:lnTo>
                  <a:pt x="204230" y="212491"/>
                </a:lnTo>
                <a:lnTo>
                  <a:pt x="189902" y="212491"/>
                </a:lnTo>
                <a:close/>
                <a:moveTo>
                  <a:pt x="316479" y="196209"/>
                </a:moveTo>
                <a:lnTo>
                  <a:pt x="330807" y="196209"/>
                </a:lnTo>
                <a:lnTo>
                  <a:pt x="330807" y="202928"/>
                </a:lnTo>
                <a:lnTo>
                  <a:pt x="316479" y="202928"/>
                </a:lnTo>
                <a:close/>
                <a:moveTo>
                  <a:pt x="126576" y="196209"/>
                </a:moveTo>
                <a:lnTo>
                  <a:pt x="140904" y="196209"/>
                </a:lnTo>
                <a:lnTo>
                  <a:pt x="140904" y="202928"/>
                </a:lnTo>
                <a:lnTo>
                  <a:pt x="126576" y="202928"/>
                </a:lnTo>
                <a:close/>
                <a:moveTo>
                  <a:pt x="189902" y="195877"/>
                </a:moveTo>
                <a:lnTo>
                  <a:pt x="204230" y="195877"/>
                </a:lnTo>
                <a:lnTo>
                  <a:pt x="204230" y="202579"/>
                </a:lnTo>
                <a:lnTo>
                  <a:pt x="189902" y="202579"/>
                </a:lnTo>
                <a:close/>
                <a:moveTo>
                  <a:pt x="316479" y="186244"/>
                </a:moveTo>
                <a:lnTo>
                  <a:pt x="330807" y="186244"/>
                </a:lnTo>
                <a:lnTo>
                  <a:pt x="330807" y="192963"/>
                </a:lnTo>
                <a:lnTo>
                  <a:pt x="316479" y="192963"/>
                </a:lnTo>
                <a:close/>
                <a:moveTo>
                  <a:pt x="126576" y="186244"/>
                </a:moveTo>
                <a:lnTo>
                  <a:pt x="140904" y="186244"/>
                </a:lnTo>
                <a:lnTo>
                  <a:pt x="140904" y="192963"/>
                </a:lnTo>
                <a:lnTo>
                  <a:pt x="126576" y="192963"/>
                </a:lnTo>
                <a:close/>
                <a:moveTo>
                  <a:pt x="189902" y="185982"/>
                </a:moveTo>
                <a:lnTo>
                  <a:pt x="204230" y="185982"/>
                </a:lnTo>
                <a:lnTo>
                  <a:pt x="204230" y="192684"/>
                </a:lnTo>
                <a:lnTo>
                  <a:pt x="189902" y="192684"/>
                </a:lnTo>
                <a:close/>
                <a:moveTo>
                  <a:pt x="63288" y="182649"/>
                </a:moveTo>
                <a:lnTo>
                  <a:pt x="77616" y="182649"/>
                </a:lnTo>
                <a:lnTo>
                  <a:pt x="77616" y="186890"/>
                </a:lnTo>
                <a:lnTo>
                  <a:pt x="63288" y="186890"/>
                </a:lnTo>
                <a:close/>
                <a:moveTo>
                  <a:pt x="316479" y="176297"/>
                </a:moveTo>
                <a:lnTo>
                  <a:pt x="330807" y="176297"/>
                </a:lnTo>
                <a:lnTo>
                  <a:pt x="330807" y="183015"/>
                </a:lnTo>
                <a:lnTo>
                  <a:pt x="316479" y="183015"/>
                </a:lnTo>
                <a:close/>
                <a:moveTo>
                  <a:pt x="126576" y="176297"/>
                </a:moveTo>
                <a:lnTo>
                  <a:pt x="140904" y="176297"/>
                </a:lnTo>
                <a:lnTo>
                  <a:pt x="140904" y="183015"/>
                </a:lnTo>
                <a:lnTo>
                  <a:pt x="126576" y="183015"/>
                </a:lnTo>
                <a:close/>
                <a:moveTo>
                  <a:pt x="189902" y="176070"/>
                </a:moveTo>
                <a:lnTo>
                  <a:pt x="204230" y="176070"/>
                </a:lnTo>
                <a:lnTo>
                  <a:pt x="204230" y="182771"/>
                </a:lnTo>
                <a:lnTo>
                  <a:pt x="189902" y="182771"/>
                </a:lnTo>
                <a:close/>
                <a:moveTo>
                  <a:pt x="253191" y="174900"/>
                </a:moveTo>
                <a:lnTo>
                  <a:pt x="267519" y="174900"/>
                </a:lnTo>
                <a:lnTo>
                  <a:pt x="267519" y="179141"/>
                </a:lnTo>
                <a:lnTo>
                  <a:pt x="253191" y="179141"/>
                </a:lnTo>
                <a:close/>
                <a:moveTo>
                  <a:pt x="63288" y="172248"/>
                </a:moveTo>
                <a:lnTo>
                  <a:pt x="77616" y="172248"/>
                </a:lnTo>
                <a:lnTo>
                  <a:pt x="77616" y="179089"/>
                </a:lnTo>
                <a:lnTo>
                  <a:pt x="63288" y="179089"/>
                </a:lnTo>
                <a:close/>
                <a:moveTo>
                  <a:pt x="316479" y="166349"/>
                </a:moveTo>
                <a:lnTo>
                  <a:pt x="330807" y="166349"/>
                </a:lnTo>
                <a:lnTo>
                  <a:pt x="330807" y="173068"/>
                </a:lnTo>
                <a:lnTo>
                  <a:pt x="316479" y="173068"/>
                </a:lnTo>
                <a:close/>
                <a:moveTo>
                  <a:pt x="126576" y="166349"/>
                </a:moveTo>
                <a:lnTo>
                  <a:pt x="140904" y="166349"/>
                </a:lnTo>
                <a:lnTo>
                  <a:pt x="140904" y="173068"/>
                </a:lnTo>
                <a:lnTo>
                  <a:pt x="126576" y="173068"/>
                </a:lnTo>
                <a:close/>
                <a:moveTo>
                  <a:pt x="189902" y="166157"/>
                </a:moveTo>
                <a:lnTo>
                  <a:pt x="204230" y="166157"/>
                </a:lnTo>
                <a:lnTo>
                  <a:pt x="204230" y="172859"/>
                </a:lnTo>
                <a:lnTo>
                  <a:pt x="189902" y="172859"/>
                </a:lnTo>
                <a:close/>
                <a:moveTo>
                  <a:pt x="253191" y="165075"/>
                </a:moveTo>
                <a:lnTo>
                  <a:pt x="267519" y="165075"/>
                </a:lnTo>
                <a:lnTo>
                  <a:pt x="267519" y="171637"/>
                </a:lnTo>
                <a:lnTo>
                  <a:pt x="253191" y="171637"/>
                </a:lnTo>
                <a:close/>
                <a:moveTo>
                  <a:pt x="63288" y="162074"/>
                </a:moveTo>
                <a:lnTo>
                  <a:pt x="77616" y="162074"/>
                </a:lnTo>
                <a:lnTo>
                  <a:pt x="77616" y="168915"/>
                </a:lnTo>
                <a:lnTo>
                  <a:pt x="63288" y="168915"/>
                </a:lnTo>
                <a:close/>
                <a:moveTo>
                  <a:pt x="379805" y="160293"/>
                </a:moveTo>
                <a:lnTo>
                  <a:pt x="394133" y="160293"/>
                </a:lnTo>
                <a:lnTo>
                  <a:pt x="394133" y="164534"/>
                </a:lnTo>
                <a:lnTo>
                  <a:pt x="379805" y="164534"/>
                </a:lnTo>
                <a:close/>
                <a:moveTo>
                  <a:pt x="316479" y="156384"/>
                </a:moveTo>
                <a:lnTo>
                  <a:pt x="330807" y="156384"/>
                </a:lnTo>
                <a:lnTo>
                  <a:pt x="330807" y="163103"/>
                </a:lnTo>
                <a:lnTo>
                  <a:pt x="316479" y="163103"/>
                </a:lnTo>
                <a:close/>
                <a:moveTo>
                  <a:pt x="126576" y="156384"/>
                </a:moveTo>
                <a:lnTo>
                  <a:pt x="140904" y="156384"/>
                </a:lnTo>
                <a:lnTo>
                  <a:pt x="140904" y="163103"/>
                </a:lnTo>
                <a:lnTo>
                  <a:pt x="126576" y="163103"/>
                </a:lnTo>
                <a:close/>
                <a:moveTo>
                  <a:pt x="189902" y="156262"/>
                </a:moveTo>
                <a:lnTo>
                  <a:pt x="204230" y="156262"/>
                </a:lnTo>
                <a:lnTo>
                  <a:pt x="204230" y="162963"/>
                </a:lnTo>
                <a:lnTo>
                  <a:pt x="189902" y="162963"/>
                </a:lnTo>
                <a:close/>
                <a:moveTo>
                  <a:pt x="253191" y="155459"/>
                </a:moveTo>
                <a:lnTo>
                  <a:pt x="267519" y="155459"/>
                </a:lnTo>
                <a:lnTo>
                  <a:pt x="267519" y="162021"/>
                </a:lnTo>
                <a:lnTo>
                  <a:pt x="253191" y="162021"/>
                </a:lnTo>
                <a:close/>
                <a:moveTo>
                  <a:pt x="63288" y="151917"/>
                </a:moveTo>
                <a:lnTo>
                  <a:pt x="77616" y="151917"/>
                </a:lnTo>
                <a:lnTo>
                  <a:pt x="77616" y="158740"/>
                </a:lnTo>
                <a:lnTo>
                  <a:pt x="63288" y="158740"/>
                </a:lnTo>
                <a:close/>
                <a:moveTo>
                  <a:pt x="379805" y="150538"/>
                </a:moveTo>
                <a:lnTo>
                  <a:pt x="394133" y="150538"/>
                </a:lnTo>
                <a:lnTo>
                  <a:pt x="394133" y="157065"/>
                </a:lnTo>
                <a:lnTo>
                  <a:pt x="379805" y="157065"/>
                </a:lnTo>
                <a:close/>
                <a:moveTo>
                  <a:pt x="316479" y="146437"/>
                </a:moveTo>
                <a:lnTo>
                  <a:pt x="330807" y="146437"/>
                </a:lnTo>
                <a:lnTo>
                  <a:pt x="330807" y="153156"/>
                </a:lnTo>
                <a:lnTo>
                  <a:pt x="316479" y="153156"/>
                </a:lnTo>
                <a:close/>
                <a:moveTo>
                  <a:pt x="126576" y="146437"/>
                </a:moveTo>
                <a:lnTo>
                  <a:pt x="140904" y="146437"/>
                </a:lnTo>
                <a:lnTo>
                  <a:pt x="140904" y="153156"/>
                </a:lnTo>
                <a:lnTo>
                  <a:pt x="126576" y="153156"/>
                </a:lnTo>
                <a:close/>
                <a:moveTo>
                  <a:pt x="189902" y="146350"/>
                </a:moveTo>
                <a:lnTo>
                  <a:pt x="204230" y="146350"/>
                </a:lnTo>
                <a:lnTo>
                  <a:pt x="204230" y="153051"/>
                </a:lnTo>
                <a:lnTo>
                  <a:pt x="189902" y="153051"/>
                </a:lnTo>
                <a:close/>
                <a:moveTo>
                  <a:pt x="253191" y="145844"/>
                </a:moveTo>
                <a:lnTo>
                  <a:pt x="267519" y="145844"/>
                </a:lnTo>
                <a:lnTo>
                  <a:pt x="267519" y="152405"/>
                </a:lnTo>
                <a:lnTo>
                  <a:pt x="253191" y="152405"/>
                </a:lnTo>
                <a:close/>
                <a:moveTo>
                  <a:pt x="63288" y="141725"/>
                </a:moveTo>
                <a:lnTo>
                  <a:pt x="77616" y="141725"/>
                </a:lnTo>
                <a:lnTo>
                  <a:pt x="77616" y="148566"/>
                </a:lnTo>
                <a:lnTo>
                  <a:pt x="63288" y="148566"/>
                </a:lnTo>
                <a:close/>
                <a:moveTo>
                  <a:pt x="379805" y="140974"/>
                </a:moveTo>
                <a:lnTo>
                  <a:pt x="394133" y="140974"/>
                </a:lnTo>
                <a:lnTo>
                  <a:pt x="394133" y="147501"/>
                </a:lnTo>
                <a:lnTo>
                  <a:pt x="379805" y="147501"/>
                </a:lnTo>
                <a:close/>
                <a:moveTo>
                  <a:pt x="443094" y="138112"/>
                </a:moveTo>
                <a:lnTo>
                  <a:pt x="457422" y="138112"/>
                </a:lnTo>
                <a:lnTo>
                  <a:pt x="457422" y="142353"/>
                </a:lnTo>
                <a:lnTo>
                  <a:pt x="443094" y="142353"/>
                </a:lnTo>
                <a:close/>
                <a:moveTo>
                  <a:pt x="316479" y="136489"/>
                </a:moveTo>
                <a:lnTo>
                  <a:pt x="330807" y="136489"/>
                </a:lnTo>
                <a:lnTo>
                  <a:pt x="330807" y="143208"/>
                </a:lnTo>
                <a:lnTo>
                  <a:pt x="316479" y="143208"/>
                </a:lnTo>
                <a:close/>
                <a:moveTo>
                  <a:pt x="126576" y="136489"/>
                </a:moveTo>
                <a:lnTo>
                  <a:pt x="140904" y="136489"/>
                </a:lnTo>
                <a:lnTo>
                  <a:pt x="140904" y="143208"/>
                </a:lnTo>
                <a:lnTo>
                  <a:pt x="126576" y="143208"/>
                </a:lnTo>
                <a:close/>
                <a:moveTo>
                  <a:pt x="189902" y="136437"/>
                </a:moveTo>
                <a:lnTo>
                  <a:pt x="204230" y="136437"/>
                </a:lnTo>
                <a:lnTo>
                  <a:pt x="204230" y="143138"/>
                </a:lnTo>
                <a:lnTo>
                  <a:pt x="189902" y="143138"/>
                </a:lnTo>
                <a:close/>
                <a:moveTo>
                  <a:pt x="253191" y="136228"/>
                </a:moveTo>
                <a:lnTo>
                  <a:pt x="267519" y="136228"/>
                </a:lnTo>
                <a:lnTo>
                  <a:pt x="267519" y="142789"/>
                </a:lnTo>
                <a:lnTo>
                  <a:pt x="253191" y="142789"/>
                </a:lnTo>
                <a:close/>
                <a:moveTo>
                  <a:pt x="0" y="134587"/>
                </a:moveTo>
                <a:lnTo>
                  <a:pt x="14328" y="134587"/>
                </a:lnTo>
                <a:lnTo>
                  <a:pt x="14328" y="138828"/>
                </a:lnTo>
                <a:lnTo>
                  <a:pt x="0" y="138828"/>
                </a:lnTo>
                <a:close/>
                <a:moveTo>
                  <a:pt x="63288" y="131551"/>
                </a:moveTo>
                <a:lnTo>
                  <a:pt x="77616" y="131551"/>
                </a:lnTo>
                <a:lnTo>
                  <a:pt x="77616" y="138392"/>
                </a:lnTo>
                <a:lnTo>
                  <a:pt x="63288" y="138392"/>
                </a:lnTo>
                <a:close/>
                <a:moveTo>
                  <a:pt x="379805" y="131411"/>
                </a:moveTo>
                <a:lnTo>
                  <a:pt x="394133" y="131411"/>
                </a:lnTo>
                <a:lnTo>
                  <a:pt x="394133" y="137938"/>
                </a:lnTo>
                <a:lnTo>
                  <a:pt x="379805" y="137938"/>
                </a:lnTo>
                <a:close/>
                <a:moveTo>
                  <a:pt x="856418" y="128985"/>
                </a:moveTo>
                <a:lnTo>
                  <a:pt x="864621" y="129003"/>
                </a:lnTo>
                <a:lnTo>
                  <a:pt x="864621" y="130748"/>
                </a:lnTo>
                <a:lnTo>
                  <a:pt x="854562" y="130800"/>
                </a:lnTo>
                <a:lnTo>
                  <a:pt x="854562" y="129038"/>
                </a:lnTo>
                <a:close/>
                <a:moveTo>
                  <a:pt x="836856" y="128916"/>
                </a:moveTo>
                <a:lnTo>
                  <a:pt x="846952" y="128950"/>
                </a:lnTo>
                <a:lnTo>
                  <a:pt x="846952" y="130678"/>
                </a:lnTo>
                <a:lnTo>
                  <a:pt x="845096" y="130835"/>
                </a:lnTo>
                <a:lnTo>
                  <a:pt x="836856" y="130853"/>
                </a:lnTo>
                <a:close/>
                <a:moveTo>
                  <a:pt x="819187" y="128846"/>
                </a:moveTo>
                <a:lnTo>
                  <a:pt x="829283" y="128881"/>
                </a:lnTo>
                <a:lnTo>
                  <a:pt x="829283" y="130888"/>
                </a:lnTo>
                <a:lnTo>
                  <a:pt x="819187" y="130923"/>
                </a:lnTo>
                <a:close/>
                <a:moveTo>
                  <a:pt x="801518" y="128793"/>
                </a:moveTo>
                <a:lnTo>
                  <a:pt x="811578" y="128811"/>
                </a:lnTo>
                <a:lnTo>
                  <a:pt x="811578" y="130957"/>
                </a:lnTo>
                <a:lnTo>
                  <a:pt x="801518" y="130992"/>
                </a:lnTo>
                <a:close/>
                <a:moveTo>
                  <a:pt x="783812" y="128724"/>
                </a:moveTo>
                <a:lnTo>
                  <a:pt x="793909" y="128758"/>
                </a:lnTo>
                <a:lnTo>
                  <a:pt x="793909" y="131027"/>
                </a:lnTo>
                <a:lnTo>
                  <a:pt x="783812" y="131045"/>
                </a:lnTo>
                <a:close/>
                <a:moveTo>
                  <a:pt x="766143" y="128654"/>
                </a:moveTo>
                <a:lnTo>
                  <a:pt x="776240" y="128689"/>
                </a:lnTo>
                <a:lnTo>
                  <a:pt x="776240" y="131080"/>
                </a:lnTo>
                <a:lnTo>
                  <a:pt x="766143" y="131114"/>
                </a:lnTo>
                <a:close/>
                <a:moveTo>
                  <a:pt x="748475" y="128601"/>
                </a:moveTo>
                <a:lnTo>
                  <a:pt x="758534" y="128619"/>
                </a:lnTo>
                <a:lnTo>
                  <a:pt x="758534" y="131149"/>
                </a:lnTo>
                <a:lnTo>
                  <a:pt x="748475" y="131184"/>
                </a:lnTo>
                <a:close/>
                <a:moveTo>
                  <a:pt x="730768" y="128532"/>
                </a:moveTo>
                <a:lnTo>
                  <a:pt x="740865" y="128566"/>
                </a:lnTo>
                <a:lnTo>
                  <a:pt x="740865" y="131219"/>
                </a:lnTo>
                <a:lnTo>
                  <a:pt x="730768" y="131237"/>
                </a:lnTo>
                <a:close/>
                <a:moveTo>
                  <a:pt x="713100" y="128462"/>
                </a:moveTo>
                <a:lnTo>
                  <a:pt x="723196" y="128497"/>
                </a:lnTo>
                <a:lnTo>
                  <a:pt x="723196" y="131271"/>
                </a:lnTo>
                <a:lnTo>
                  <a:pt x="713100" y="131306"/>
                </a:lnTo>
                <a:close/>
                <a:moveTo>
                  <a:pt x="695431" y="128409"/>
                </a:moveTo>
                <a:lnTo>
                  <a:pt x="705490" y="128444"/>
                </a:lnTo>
                <a:lnTo>
                  <a:pt x="705490" y="131341"/>
                </a:lnTo>
                <a:lnTo>
                  <a:pt x="695431" y="131376"/>
                </a:lnTo>
                <a:close/>
                <a:moveTo>
                  <a:pt x="677725" y="128340"/>
                </a:moveTo>
                <a:lnTo>
                  <a:pt x="687821" y="128374"/>
                </a:lnTo>
                <a:lnTo>
                  <a:pt x="687821" y="131411"/>
                </a:lnTo>
                <a:lnTo>
                  <a:pt x="677725" y="131428"/>
                </a:lnTo>
                <a:close/>
                <a:moveTo>
                  <a:pt x="660056" y="128287"/>
                </a:moveTo>
                <a:lnTo>
                  <a:pt x="670152" y="128305"/>
                </a:lnTo>
                <a:lnTo>
                  <a:pt x="670152" y="131463"/>
                </a:lnTo>
                <a:lnTo>
                  <a:pt x="660056" y="131498"/>
                </a:lnTo>
                <a:close/>
                <a:moveTo>
                  <a:pt x="642387" y="128217"/>
                </a:moveTo>
                <a:lnTo>
                  <a:pt x="652447" y="128252"/>
                </a:lnTo>
                <a:lnTo>
                  <a:pt x="652447" y="131533"/>
                </a:lnTo>
                <a:lnTo>
                  <a:pt x="642387" y="131568"/>
                </a:lnTo>
                <a:close/>
                <a:moveTo>
                  <a:pt x="624681" y="128147"/>
                </a:moveTo>
                <a:lnTo>
                  <a:pt x="634778" y="128182"/>
                </a:lnTo>
                <a:lnTo>
                  <a:pt x="634778" y="131603"/>
                </a:lnTo>
                <a:lnTo>
                  <a:pt x="624681" y="131620"/>
                </a:lnTo>
                <a:close/>
                <a:moveTo>
                  <a:pt x="607013" y="128095"/>
                </a:moveTo>
                <a:lnTo>
                  <a:pt x="617072" y="128130"/>
                </a:lnTo>
                <a:lnTo>
                  <a:pt x="617072" y="131673"/>
                </a:lnTo>
                <a:lnTo>
                  <a:pt x="607013" y="131690"/>
                </a:lnTo>
                <a:close/>
                <a:moveTo>
                  <a:pt x="589344" y="128025"/>
                </a:moveTo>
                <a:lnTo>
                  <a:pt x="599403" y="128060"/>
                </a:lnTo>
                <a:lnTo>
                  <a:pt x="599403" y="131725"/>
                </a:lnTo>
                <a:lnTo>
                  <a:pt x="589344" y="131760"/>
                </a:lnTo>
                <a:close/>
                <a:moveTo>
                  <a:pt x="571638" y="127956"/>
                </a:moveTo>
                <a:lnTo>
                  <a:pt x="581697" y="127991"/>
                </a:lnTo>
                <a:lnTo>
                  <a:pt x="581697" y="131778"/>
                </a:lnTo>
                <a:lnTo>
                  <a:pt x="571638" y="131812"/>
                </a:lnTo>
                <a:close/>
                <a:moveTo>
                  <a:pt x="553969" y="127903"/>
                </a:moveTo>
                <a:lnTo>
                  <a:pt x="564028" y="127938"/>
                </a:lnTo>
                <a:lnTo>
                  <a:pt x="564028" y="131865"/>
                </a:lnTo>
                <a:lnTo>
                  <a:pt x="553969" y="131882"/>
                </a:lnTo>
                <a:close/>
                <a:moveTo>
                  <a:pt x="536300" y="127833"/>
                </a:moveTo>
                <a:lnTo>
                  <a:pt x="546360" y="127868"/>
                </a:lnTo>
                <a:lnTo>
                  <a:pt x="546360" y="131917"/>
                </a:lnTo>
                <a:lnTo>
                  <a:pt x="536300" y="131952"/>
                </a:lnTo>
                <a:close/>
                <a:moveTo>
                  <a:pt x="518594" y="127764"/>
                </a:moveTo>
                <a:lnTo>
                  <a:pt x="528654" y="127799"/>
                </a:lnTo>
                <a:lnTo>
                  <a:pt x="528654" y="131987"/>
                </a:lnTo>
                <a:lnTo>
                  <a:pt x="518594" y="132004"/>
                </a:lnTo>
                <a:close/>
                <a:moveTo>
                  <a:pt x="500926" y="127711"/>
                </a:moveTo>
                <a:lnTo>
                  <a:pt x="510985" y="127746"/>
                </a:lnTo>
                <a:lnTo>
                  <a:pt x="510985" y="132057"/>
                </a:lnTo>
                <a:lnTo>
                  <a:pt x="500926" y="132074"/>
                </a:lnTo>
                <a:close/>
                <a:moveTo>
                  <a:pt x="483219" y="127624"/>
                </a:moveTo>
                <a:lnTo>
                  <a:pt x="493279" y="127659"/>
                </a:lnTo>
                <a:lnTo>
                  <a:pt x="493279" y="132092"/>
                </a:lnTo>
                <a:lnTo>
                  <a:pt x="483219" y="132126"/>
                </a:lnTo>
                <a:close/>
                <a:moveTo>
                  <a:pt x="465551" y="127572"/>
                </a:moveTo>
                <a:lnTo>
                  <a:pt x="475610" y="127607"/>
                </a:lnTo>
                <a:lnTo>
                  <a:pt x="475610" y="132161"/>
                </a:lnTo>
                <a:lnTo>
                  <a:pt x="465551" y="132196"/>
                </a:lnTo>
                <a:close/>
                <a:moveTo>
                  <a:pt x="0" y="127188"/>
                </a:moveTo>
                <a:lnTo>
                  <a:pt x="14328" y="127188"/>
                </a:lnTo>
                <a:lnTo>
                  <a:pt x="14328" y="132580"/>
                </a:lnTo>
                <a:lnTo>
                  <a:pt x="0" y="132580"/>
                </a:lnTo>
                <a:close/>
                <a:moveTo>
                  <a:pt x="253191" y="126612"/>
                </a:moveTo>
                <a:lnTo>
                  <a:pt x="267519" y="126612"/>
                </a:lnTo>
                <a:lnTo>
                  <a:pt x="267519" y="133174"/>
                </a:lnTo>
                <a:lnTo>
                  <a:pt x="253191" y="133174"/>
                </a:lnTo>
                <a:close/>
                <a:moveTo>
                  <a:pt x="189902" y="126542"/>
                </a:moveTo>
                <a:lnTo>
                  <a:pt x="204230" y="126542"/>
                </a:lnTo>
                <a:lnTo>
                  <a:pt x="204230" y="133244"/>
                </a:lnTo>
                <a:lnTo>
                  <a:pt x="189902" y="133244"/>
                </a:lnTo>
                <a:close/>
                <a:moveTo>
                  <a:pt x="316479" y="126525"/>
                </a:moveTo>
                <a:lnTo>
                  <a:pt x="330807" y="126525"/>
                </a:lnTo>
                <a:lnTo>
                  <a:pt x="330807" y="133243"/>
                </a:lnTo>
                <a:lnTo>
                  <a:pt x="316479" y="133243"/>
                </a:lnTo>
                <a:close/>
                <a:moveTo>
                  <a:pt x="126576" y="126525"/>
                </a:moveTo>
                <a:lnTo>
                  <a:pt x="140904" y="126525"/>
                </a:lnTo>
                <a:lnTo>
                  <a:pt x="140904" y="133243"/>
                </a:lnTo>
                <a:lnTo>
                  <a:pt x="126576" y="133243"/>
                </a:lnTo>
                <a:close/>
                <a:moveTo>
                  <a:pt x="443019" y="126071"/>
                </a:moveTo>
                <a:lnTo>
                  <a:pt x="457347" y="126071"/>
                </a:lnTo>
                <a:lnTo>
                  <a:pt x="457347" y="127537"/>
                </a:lnTo>
                <a:lnTo>
                  <a:pt x="458424" y="127537"/>
                </a:lnTo>
                <a:lnTo>
                  <a:pt x="458424" y="132231"/>
                </a:lnTo>
                <a:lnTo>
                  <a:pt x="457347" y="132231"/>
                </a:lnTo>
                <a:lnTo>
                  <a:pt x="457347" y="133697"/>
                </a:lnTo>
                <a:lnTo>
                  <a:pt x="443019" y="133697"/>
                </a:lnTo>
                <a:close/>
                <a:moveTo>
                  <a:pt x="379805" y="121848"/>
                </a:moveTo>
                <a:lnTo>
                  <a:pt x="394133" y="121848"/>
                </a:lnTo>
                <a:lnTo>
                  <a:pt x="394133" y="128374"/>
                </a:lnTo>
                <a:lnTo>
                  <a:pt x="379805" y="128374"/>
                </a:lnTo>
                <a:close/>
                <a:moveTo>
                  <a:pt x="63288" y="121376"/>
                </a:moveTo>
                <a:lnTo>
                  <a:pt x="77616" y="121376"/>
                </a:lnTo>
                <a:lnTo>
                  <a:pt x="77616" y="128217"/>
                </a:lnTo>
                <a:lnTo>
                  <a:pt x="63288" y="128217"/>
                </a:lnTo>
                <a:close/>
                <a:moveTo>
                  <a:pt x="0" y="120958"/>
                </a:moveTo>
                <a:lnTo>
                  <a:pt x="14328" y="120958"/>
                </a:lnTo>
                <a:lnTo>
                  <a:pt x="14328" y="125198"/>
                </a:lnTo>
                <a:lnTo>
                  <a:pt x="0" y="125198"/>
                </a:lnTo>
                <a:close/>
                <a:moveTo>
                  <a:pt x="443094" y="117432"/>
                </a:moveTo>
                <a:lnTo>
                  <a:pt x="457422" y="117432"/>
                </a:lnTo>
                <a:lnTo>
                  <a:pt x="457422" y="121673"/>
                </a:lnTo>
                <a:lnTo>
                  <a:pt x="443094" y="121673"/>
                </a:lnTo>
                <a:close/>
                <a:moveTo>
                  <a:pt x="253191" y="116978"/>
                </a:moveTo>
                <a:lnTo>
                  <a:pt x="267519" y="116978"/>
                </a:lnTo>
                <a:lnTo>
                  <a:pt x="267519" y="123540"/>
                </a:lnTo>
                <a:lnTo>
                  <a:pt x="253191" y="123540"/>
                </a:lnTo>
                <a:close/>
                <a:moveTo>
                  <a:pt x="189902" y="116630"/>
                </a:moveTo>
                <a:lnTo>
                  <a:pt x="204230" y="116630"/>
                </a:lnTo>
                <a:lnTo>
                  <a:pt x="204230" y="123331"/>
                </a:lnTo>
                <a:lnTo>
                  <a:pt x="189902" y="123331"/>
                </a:lnTo>
                <a:close/>
                <a:moveTo>
                  <a:pt x="316479" y="116577"/>
                </a:moveTo>
                <a:lnTo>
                  <a:pt x="330807" y="116577"/>
                </a:lnTo>
                <a:lnTo>
                  <a:pt x="330807" y="123296"/>
                </a:lnTo>
                <a:lnTo>
                  <a:pt x="316479" y="123296"/>
                </a:lnTo>
                <a:close/>
                <a:moveTo>
                  <a:pt x="126576" y="116577"/>
                </a:moveTo>
                <a:lnTo>
                  <a:pt x="140904" y="116577"/>
                </a:lnTo>
                <a:lnTo>
                  <a:pt x="140904" y="123296"/>
                </a:lnTo>
                <a:lnTo>
                  <a:pt x="126576" y="123296"/>
                </a:lnTo>
                <a:close/>
                <a:moveTo>
                  <a:pt x="379805" y="112284"/>
                </a:moveTo>
                <a:lnTo>
                  <a:pt x="394133" y="112284"/>
                </a:lnTo>
                <a:lnTo>
                  <a:pt x="394133" y="118811"/>
                </a:lnTo>
                <a:lnTo>
                  <a:pt x="379805" y="118811"/>
                </a:lnTo>
                <a:close/>
                <a:moveTo>
                  <a:pt x="63288" y="111202"/>
                </a:moveTo>
                <a:lnTo>
                  <a:pt x="77616" y="111202"/>
                </a:lnTo>
                <a:lnTo>
                  <a:pt x="77616" y="118043"/>
                </a:lnTo>
                <a:lnTo>
                  <a:pt x="63288" y="118043"/>
                </a:lnTo>
                <a:close/>
                <a:moveTo>
                  <a:pt x="253191" y="107363"/>
                </a:moveTo>
                <a:lnTo>
                  <a:pt x="267519" y="107363"/>
                </a:lnTo>
                <a:lnTo>
                  <a:pt x="267519" y="113925"/>
                </a:lnTo>
                <a:lnTo>
                  <a:pt x="253191" y="113925"/>
                </a:lnTo>
                <a:close/>
                <a:moveTo>
                  <a:pt x="189902" y="106717"/>
                </a:moveTo>
                <a:lnTo>
                  <a:pt x="204230" y="106717"/>
                </a:lnTo>
                <a:lnTo>
                  <a:pt x="204230" y="113419"/>
                </a:lnTo>
                <a:lnTo>
                  <a:pt x="189902" y="113419"/>
                </a:lnTo>
                <a:close/>
                <a:moveTo>
                  <a:pt x="316479" y="106630"/>
                </a:moveTo>
                <a:lnTo>
                  <a:pt x="330807" y="106630"/>
                </a:lnTo>
                <a:lnTo>
                  <a:pt x="330807" y="113349"/>
                </a:lnTo>
                <a:lnTo>
                  <a:pt x="316479" y="113349"/>
                </a:lnTo>
                <a:close/>
                <a:moveTo>
                  <a:pt x="126576" y="106630"/>
                </a:moveTo>
                <a:lnTo>
                  <a:pt x="140904" y="106630"/>
                </a:lnTo>
                <a:lnTo>
                  <a:pt x="140904" y="113349"/>
                </a:lnTo>
                <a:lnTo>
                  <a:pt x="126576" y="113349"/>
                </a:lnTo>
                <a:close/>
                <a:moveTo>
                  <a:pt x="379805" y="102721"/>
                </a:moveTo>
                <a:lnTo>
                  <a:pt x="394133" y="102721"/>
                </a:lnTo>
                <a:lnTo>
                  <a:pt x="394133" y="109247"/>
                </a:lnTo>
                <a:lnTo>
                  <a:pt x="379805" y="109247"/>
                </a:lnTo>
                <a:close/>
                <a:moveTo>
                  <a:pt x="63288" y="101028"/>
                </a:moveTo>
                <a:lnTo>
                  <a:pt x="77616" y="101028"/>
                </a:lnTo>
                <a:lnTo>
                  <a:pt x="77616" y="107869"/>
                </a:lnTo>
                <a:lnTo>
                  <a:pt x="63288" y="107869"/>
                </a:lnTo>
                <a:close/>
                <a:moveTo>
                  <a:pt x="253191" y="97747"/>
                </a:moveTo>
                <a:lnTo>
                  <a:pt x="267519" y="97747"/>
                </a:lnTo>
                <a:lnTo>
                  <a:pt x="267519" y="104309"/>
                </a:lnTo>
                <a:lnTo>
                  <a:pt x="253191" y="104309"/>
                </a:lnTo>
                <a:close/>
                <a:moveTo>
                  <a:pt x="189902" y="96822"/>
                </a:moveTo>
                <a:lnTo>
                  <a:pt x="204230" y="96822"/>
                </a:lnTo>
                <a:lnTo>
                  <a:pt x="204230" y="103523"/>
                </a:lnTo>
                <a:lnTo>
                  <a:pt x="189902" y="103523"/>
                </a:lnTo>
                <a:close/>
                <a:moveTo>
                  <a:pt x="316479" y="96665"/>
                </a:moveTo>
                <a:lnTo>
                  <a:pt x="330807" y="96665"/>
                </a:lnTo>
                <a:lnTo>
                  <a:pt x="330807" y="103384"/>
                </a:lnTo>
                <a:lnTo>
                  <a:pt x="316479" y="103384"/>
                </a:lnTo>
                <a:close/>
                <a:moveTo>
                  <a:pt x="126576" y="96665"/>
                </a:moveTo>
                <a:lnTo>
                  <a:pt x="140904" y="96665"/>
                </a:lnTo>
                <a:lnTo>
                  <a:pt x="140904" y="103384"/>
                </a:lnTo>
                <a:lnTo>
                  <a:pt x="126576" y="103384"/>
                </a:lnTo>
                <a:close/>
                <a:moveTo>
                  <a:pt x="379805" y="95251"/>
                </a:moveTo>
                <a:lnTo>
                  <a:pt x="394133" y="95251"/>
                </a:lnTo>
                <a:lnTo>
                  <a:pt x="394133" y="99492"/>
                </a:lnTo>
                <a:lnTo>
                  <a:pt x="379805" y="99492"/>
                </a:lnTo>
                <a:close/>
                <a:moveTo>
                  <a:pt x="63288" y="90853"/>
                </a:moveTo>
                <a:lnTo>
                  <a:pt x="77616" y="90853"/>
                </a:lnTo>
                <a:lnTo>
                  <a:pt x="77616" y="97694"/>
                </a:lnTo>
                <a:lnTo>
                  <a:pt x="63288" y="97694"/>
                </a:lnTo>
                <a:close/>
                <a:moveTo>
                  <a:pt x="253191" y="88131"/>
                </a:moveTo>
                <a:lnTo>
                  <a:pt x="267519" y="88131"/>
                </a:lnTo>
                <a:lnTo>
                  <a:pt x="267519" y="94693"/>
                </a:lnTo>
                <a:lnTo>
                  <a:pt x="253191" y="94693"/>
                </a:lnTo>
                <a:close/>
                <a:moveTo>
                  <a:pt x="189902" y="86909"/>
                </a:moveTo>
                <a:lnTo>
                  <a:pt x="204230" y="86909"/>
                </a:lnTo>
                <a:lnTo>
                  <a:pt x="204230" y="93611"/>
                </a:lnTo>
                <a:lnTo>
                  <a:pt x="189902" y="93611"/>
                </a:lnTo>
                <a:close/>
                <a:moveTo>
                  <a:pt x="316479" y="86717"/>
                </a:moveTo>
                <a:lnTo>
                  <a:pt x="330807" y="86717"/>
                </a:lnTo>
                <a:lnTo>
                  <a:pt x="330807" y="93436"/>
                </a:lnTo>
                <a:lnTo>
                  <a:pt x="316479" y="93436"/>
                </a:lnTo>
                <a:close/>
                <a:moveTo>
                  <a:pt x="126576" y="86717"/>
                </a:moveTo>
                <a:lnTo>
                  <a:pt x="140904" y="86717"/>
                </a:lnTo>
                <a:lnTo>
                  <a:pt x="140904" y="93436"/>
                </a:lnTo>
                <a:lnTo>
                  <a:pt x="126576" y="93436"/>
                </a:lnTo>
                <a:close/>
                <a:moveTo>
                  <a:pt x="63288" y="80679"/>
                </a:moveTo>
                <a:lnTo>
                  <a:pt x="77616" y="80679"/>
                </a:lnTo>
                <a:lnTo>
                  <a:pt x="77616" y="87520"/>
                </a:lnTo>
                <a:lnTo>
                  <a:pt x="63288" y="87520"/>
                </a:lnTo>
                <a:close/>
                <a:moveTo>
                  <a:pt x="253191" y="80644"/>
                </a:moveTo>
                <a:lnTo>
                  <a:pt x="267519" y="80644"/>
                </a:lnTo>
                <a:lnTo>
                  <a:pt x="267519" y="84885"/>
                </a:lnTo>
                <a:lnTo>
                  <a:pt x="253191" y="84885"/>
                </a:lnTo>
                <a:close/>
                <a:moveTo>
                  <a:pt x="189902" y="76997"/>
                </a:moveTo>
                <a:lnTo>
                  <a:pt x="204230" y="76997"/>
                </a:lnTo>
                <a:lnTo>
                  <a:pt x="204230" y="83698"/>
                </a:lnTo>
                <a:lnTo>
                  <a:pt x="189902" y="83698"/>
                </a:lnTo>
                <a:close/>
                <a:moveTo>
                  <a:pt x="316479" y="76770"/>
                </a:moveTo>
                <a:lnTo>
                  <a:pt x="330807" y="76770"/>
                </a:lnTo>
                <a:lnTo>
                  <a:pt x="330807" y="83489"/>
                </a:lnTo>
                <a:lnTo>
                  <a:pt x="316479" y="83489"/>
                </a:lnTo>
                <a:close/>
                <a:moveTo>
                  <a:pt x="126576" y="76770"/>
                </a:moveTo>
                <a:lnTo>
                  <a:pt x="140904" y="76770"/>
                </a:lnTo>
                <a:lnTo>
                  <a:pt x="140904" y="83489"/>
                </a:lnTo>
                <a:lnTo>
                  <a:pt x="126576" y="83489"/>
                </a:lnTo>
                <a:close/>
                <a:moveTo>
                  <a:pt x="63288" y="72878"/>
                </a:moveTo>
                <a:lnTo>
                  <a:pt x="77616" y="72878"/>
                </a:lnTo>
                <a:lnTo>
                  <a:pt x="77616" y="77119"/>
                </a:lnTo>
                <a:lnTo>
                  <a:pt x="63288" y="77119"/>
                </a:lnTo>
                <a:close/>
                <a:moveTo>
                  <a:pt x="189902" y="67102"/>
                </a:moveTo>
                <a:lnTo>
                  <a:pt x="204230" y="67102"/>
                </a:lnTo>
                <a:lnTo>
                  <a:pt x="204230" y="73803"/>
                </a:lnTo>
                <a:lnTo>
                  <a:pt x="189902" y="73803"/>
                </a:lnTo>
                <a:close/>
                <a:moveTo>
                  <a:pt x="316479" y="66805"/>
                </a:moveTo>
                <a:lnTo>
                  <a:pt x="330807" y="66805"/>
                </a:lnTo>
                <a:lnTo>
                  <a:pt x="330807" y="73524"/>
                </a:lnTo>
                <a:lnTo>
                  <a:pt x="316479" y="73524"/>
                </a:lnTo>
                <a:close/>
                <a:moveTo>
                  <a:pt x="126576" y="66805"/>
                </a:moveTo>
                <a:lnTo>
                  <a:pt x="140904" y="66805"/>
                </a:lnTo>
                <a:lnTo>
                  <a:pt x="140904" y="73524"/>
                </a:lnTo>
                <a:lnTo>
                  <a:pt x="126576" y="73524"/>
                </a:lnTo>
                <a:close/>
                <a:moveTo>
                  <a:pt x="189902" y="57189"/>
                </a:moveTo>
                <a:lnTo>
                  <a:pt x="204230" y="57189"/>
                </a:lnTo>
                <a:lnTo>
                  <a:pt x="204230" y="63891"/>
                </a:lnTo>
                <a:lnTo>
                  <a:pt x="189902" y="63891"/>
                </a:lnTo>
                <a:close/>
                <a:moveTo>
                  <a:pt x="316479" y="56858"/>
                </a:moveTo>
                <a:lnTo>
                  <a:pt x="330807" y="56858"/>
                </a:lnTo>
                <a:lnTo>
                  <a:pt x="330807" y="63577"/>
                </a:lnTo>
                <a:lnTo>
                  <a:pt x="316479" y="63577"/>
                </a:lnTo>
                <a:close/>
                <a:moveTo>
                  <a:pt x="126576" y="56858"/>
                </a:moveTo>
                <a:lnTo>
                  <a:pt x="140904" y="56858"/>
                </a:lnTo>
                <a:lnTo>
                  <a:pt x="140904" y="63577"/>
                </a:lnTo>
                <a:lnTo>
                  <a:pt x="126576" y="63577"/>
                </a:lnTo>
                <a:close/>
                <a:moveTo>
                  <a:pt x="189902" y="47277"/>
                </a:moveTo>
                <a:lnTo>
                  <a:pt x="204230" y="47277"/>
                </a:lnTo>
                <a:lnTo>
                  <a:pt x="204230" y="53978"/>
                </a:lnTo>
                <a:lnTo>
                  <a:pt x="189902" y="53978"/>
                </a:lnTo>
                <a:close/>
                <a:moveTo>
                  <a:pt x="316479" y="46910"/>
                </a:moveTo>
                <a:lnTo>
                  <a:pt x="330807" y="46910"/>
                </a:lnTo>
                <a:lnTo>
                  <a:pt x="330807" y="53629"/>
                </a:lnTo>
                <a:lnTo>
                  <a:pt x="316479" y="53629"/>
                </a:lnTo>
                <a:close/>
                <a:moveTo>
                  <a:pt x="126576" y="46910"/>
                </a:moveTo>
                <a:lnTo>
                  <a:pt x="140904" y="46910"/>
                </a:lnTo>
                <a:lnTo>
                  <a:pt x="140904" y="53629"/>
                </a:lnTo>
                <a:lnTo>
                  <a:pt x="126576" y="53629"/>
                </a:lnTo>
                <a:close/>
                <a:moveTo>
                  <a:pt x="316479" y="39232"/>
                </a:moveTo>
                <a:lnTo>
                  <a:pt x="330807" y="39232"/>
                </a:lnTo>
                <a:lnTo>
                  <a:pt x="330807" y="43472"/>
                </a:lnTo>
                <a:lnTo>
                  <a:pt x="316479" y="43472"/>
                </a:lnTo>
                <a:close/>
                <a:moveTo>
                  <a:pt x="126576" y="39232"/>
                </a:moveTo>
                <a:lnTo>
                  <a:pt x="140904" y="39232"/>
                </a:lnTo>
                <a:lnTo>
                  <a:pt x="140904" y="43472"/>
                </a:lnTo>
                <a:lnTo>
                  <a:pt x="126576" y="43472"/>
                </a:lnTo>
                <a:close/>
                <a:moveTo>
                  <a:pt x="189902" y="37364"/>
                </a:moveTo>
                <a:lnTo>
                  <a:pt x="204230" y="37364"/>
                </a:lnTo>
                <a:lnTo>
                  <a:pt x="204230" y="44066"/>
                </a:lnTo>
                <a:lnTo>
                  <a:pt x="189902" y="44066"/>
                </a:lnTo>
                <a:close/>
                <a:moveTo>
                  <a:pt x="189902" y="27469"/>
                </a:moveTo>
                <a:lnTo>
                  <a:pt x="204230" y="27469"/>
                </a:lnTo>
                <a:lnTo>
                  <a:pt x="204230" y="34171"/>
                </a:lnTo>
                <a:lnTo>
                  <a:pt x="189902" y="34171"/>
                </a:lnTo>
                <a:close/>
                <a:moveTo>
                  <a:pt x="189902" y="17557"/>
                </a:moveTo>
                <a:lnTo>
                  <a:pt x="204230" y="17557"/>
                </a:lnTo>
                <a:lnTo>
                  <a:pt x="204230" y="24258"/>
                </a:lnTo>
                <a:lnTo>
                  <a:pt x="189902" y="24258"/>
                </a:lnTo>
                <a:close/>
                <a:moveTo>
                  <a:pt x="189902" y="7644"/>
                </a:moveTo>
                <a:lnTo>
                  <a:pt x="204230" y="7644"/>
                </a:lnTo>
                <a:lnTo>
                  <a:pt x="204230" y="14346"/>
                </a:lnTo>
                <a:lnTo>
                  <a:pt x="189902" y="14346"/>
                </a:lnTo>
                <a:close/>
                <a:moveTo>
                  <a:pt x="189902" y="0"/>
                </a:moveTo>
                <a:lnTo>
                  <a:pt x="204230" y="0"/>
                </a:lnTo>
                <a:lnTo>
                  <a:pt x="204230" y="4241"/>
                </a:lnTo>
                <a:lnTo>
                  <a:pt x="189902" y="4241"/>
                </a:lnTo>
                <a:close/>
              </a:path>
            </a:pathLst>
          </a:custGeom>
          <a:gradFill xmlns:a="http://schemas.openxmlformats.org/drawingml/2006/main">
            <a:gsLst>
              <a:gs pos="1685">
                <a:srgbClr val="00FFFF">
                  <a:lumMod val="50000"/>
                  <a:lumOff val="50000"/>
                  <a:alpha val="48000"/>
                </a:srgbClr>
              </a:gs>
              <a:gs pos="58000">
                <a:srgbClr val="00FFFF"/>
              </a:gs>
              <a:gs pos="46000">
                <a:srgbClr val="00FFFF">
                  <a:lumMod val="60000"/>
                  <a:lumOff val="40000"/>
                </a:srgbClr>
              </a:gs>
              <a:gs pos="90000">
                <a:srgbClr val="00FFFF"/>
              </a:gs>
              <a:gs pos="36000">
                <a:srgbClr val="00FFFF"/>
              </a:gs>
              <a:gs pos="100000">
                <a:srgbClr val="00FFFF">
                  <a:alpha val="0"/>
                </a:srgbClr>
              </a:gs>
            </a:gsLst>
            <a:lin ang="0" scaled="0"/>
          </a:gradFill>
          <a:ln xmlns:a="http://schemas.openxmlformats.org/drawingml/2006/main" w="4225">
            <a:noFill/>
            <a:prstDash val="solid"/>
          </a:ln>
        </p:spPr>
        <p:txBody>
          <a:bodyPr xmlns:a="http://schemas.openxmlformats.org/drawingml/2006/main" wrap="square"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just" defTabSz="914400">
              <a:lnSpc>
                <a:spcPct val="100000"/>
              </a:lnSpc>
              <a:spcBef>
                <a:spcPct val="0"/>
              </a:spcBef>
              <a:spcAft>
                <a:spcPct val="0"/>
              </a:spcAft>
              <a:buClrTx/>
              <a:buSzTx/>
              <a:buFontTx/>
              <a:buNone/>
            </a:pPr>
            <a:endParaRPr sz="1800" b="0" i="0" u="none" kern="1200" cap="none" spc="0" baseline="0">
              <a:ln>
                <a:noFill/>
              </a:ln>
              <a:solidFill>
                <a:prstClr val="black"/>
              </a:solidFill>
              <a:latin typeface="微软雅黑"/>
              <a:ea typeface="微软雅黑"/>
              <a:cs typeface="微软雅黑"/>
            </a:endParaRPr>
          </a:p>
        </p:txBody>
      </p:sp>
      <p:pic>
        <p:nvPicPr>
          <p:cNvPr id="38" name="图片 26"/>
          <p:cNvPicPr>
            <a:picLocks xmlns:a="http://schemas.openxmlformats.org/drawingml/2006/main" noChangeAspect="1"/>
          </p:cNvPicPr>
          <p:nvPr/>
        </p:nvPicPr>
        <p:blipFill>
          <a:blip xmlns:r="http://schemas.openxmlformats.org/officeDocument/2006/relationships" xmlns:a="http://schemas.openxmlformats.org/drawingml/2006/main" r:embed="Re3411fa18d7a422c">
            <a:duotone>
              <a:srgbClr val="00FFFF">
                <a:shade val="45000"/>
                <a:satMod val="135000"/>
              </a:srgbClr>
              <a:prstClr val="white"/>
            </a:duotone>
          </a:blip>
          <a:stretch xmlns:a="http://schemas.openxmlformats.org/drawingml/2006/main">
            <a:fillRect l="0" t="0" r="0" b="0"/>
          </a:stretch>
        </p:blipFill>
        <p:spPr>
          <a:xfrm xmlns:a="http://schemas.openxmlformats.org/drawingml/2006/main" rot="5400000" flipH="0" flipV="0">
            <a:off x="1097794" y="5448918"/>
            <a:ext cx="815946" cy="146311"/>
          </a:xfrm>
          <a:prstGeom xmlns:a="http://schemas.openxmlformats.org/drawingml/2006/main" prst="rect">
            <a:avLst/>
          </a:prstGeom>
        </p:spPr>
      </p:pic>
      <p:sp>
        <p:nvSpPr>
          <p:cNvPr id="28" name="任意多边形: 形状 27">
            <a:extLst xmlns:a="http://schemas.openxmlformats.org/drawingml/2006/main">
              <a:ext uri="{FF2B5EF4-FFF2-40B4-BE49-F238E27FC236}">
                <a16:creationId xmlns:a16="http://schemas.microsoft.com/office/drawing/2014/main" id="{A361CED1-69AA-8A09-BF38-6C8685ED3074}"/>
              </a:ext>
            </a:extLst>
          </p:cNvPr>
          <p:cNvSpPr>
            <a:spLocks xmlns:a="http://schemas.openxmlformats.org/drawingml/2006/main" noGrp="1"/>
          </p:cNvSpPr>
          <p:nvPr/>
        </p:nvSpPr>
        <p:spPr>
          <a:xfrm xmlns:a="http://schemas.openxmlformats.org/drawingml/2006/main" rot="0" flipH="1" flipV="0">
            <a:off x="1261373" y="1135604"/>
            <a:ext cx="1071367" cy="324646"/>
          </a:xfrm>
          <a:custGeom xmlns:a="http://schemas.openxmlformats.org/drawingml/2006/main">
            <a:gdLst>
              <a:gd name="connsiteX0" fmla="*/ 189902 w 864621"/>
              <a:gd name="connsiteY0" fmla="*/ 255527 h 259768"/>
              <a:gd name="connsiteX1" fmla="*/ 204230 w 864621"/>
              <a:gd name="connsiteY1" fmla="*/ 255527 h 259768"/>
              <a:gd name="connsiteX2" fmla="*/ 204230 w 864621"/>
              <a:gd name="connsiteY2" fmla="*/ 259768 h 259768"/>
              <a:gd name="connsiteX3" fmla="*/ 189902 w 864621"/>
              <a:gd name="connsiteY3" fmla="*/ 259768 h 259768"/>
              <a:gd name="connsiteX4" fmla="*/ 189902 w 864621"/>
              <a:gd name="connsiteY4" fmla="*/ 245422 h 259768"/>
              <a:gd name="connsiteX5" fmla="*/ 204230 w 864621"/>
              <a:gd name="connsiteY5" fmla="*/ 245422 h 259768"/>
              <a:gd name="connsiteX6" fmla="*/ 204230 w 864621"/>
              <a:gd name="connsiteY6" fmla="*/ 252124 h 259768"/>
              <a:gd name="connsiteX7" fmla="*/ 189902 w 864621"/>
              <a:gd name="connsiteY7" fmla="*/ 252124 h 259768"/>
              <a:gd name="connsiteX8" fmla="*/ 189902 w 864621"/>
              <a:gd name="connsiteY8" fmla="*/ 235510 h 259768"/>
              <a:gd name="connsiteX9" fmla="*/ 204230 w 864621"/>
              <a:gd name="connsiteY9" fmla="*/ 235510 h 259768"/>
              <a:gd name="connsiteX10" fmla="*/ 204230 w 864621"/>
              <a:gd name="connsiteY10" fmla="*/ 242211 h 259768"/>
              <a:gd name="connsiteX11" fmla="*/ 189902 w 864621"/>
              <a:gd name="connsiteY11" fmla="*/ 242211 h 259768"/>
              <a:gd name="connsiteX12" fmla="*/ 189902 w 864621"/>
              <a:gd name="connsiteY12" fmla="*/ 225615 h 259768"/>
              <a:gd name="connsiteX13" fmla="*/ 204230 w 864621"/>
              <a:gd name="connsiteY13" fmla="*/ 225615 h 259768"/>
              <a:gd name="connsiteX14" fmla="*/ 204230 w 864621"/>
              <a:gd name="connsiteY14" fmla="*/ 232316 h 259768"/>
              <a:gd name="connsiteX15" fmla="*/ 189902 w 864621"/>
              <a:gd name="connsiteY15" fmla="*/ 232316 h 259768"/>
              <a:gd name="connsiteX16" fmla="*/ 316479 w 864621"/>
              <a:gd name="connsiteY16" fmla="*/ 216313 h 259768"/>
              <a:gd name="connsiteX17" fmla="*/ 330807 w 864621"/>
              <a:gd name="connsiteY17" fmla="*/ 216313 h 259768"/>
              <a:gd name="connsiteX18" fmla="*/ 330807 w 864621"/>
              <a:gd name="connsiteY18" fmla="*/ 220554 h 259768"/>
              <a:gd name="connsiteX19" fmla="*/ 316479 w 864621"/>
              <a:gd name="connsiteY19" fmla="*/ 220554 h 259768"/>
              <a:gd name="connsiteX20" fmla="*/ 126576 w 864621"/>
              <a:gd name="connsiteY20" fmla="*/ 216313 h 259768"/>
              <a:gd name="connsiteX21" fmla="*/ 140904 w 864621"/>
              <a:gd name="connsiteY21" fmla="*/ 216313 h 259768"/>
              <a:gd name="connsiteX22" fmla="*/ 140904 w 864621"/>
              <a:gd name="connsiteY22" fmla="*/ 220554 h 259768"/>
              <a:gd name="connsiteX23" fmla="*/ 126576 w 864621"/>
              <a:gd name="connsiteY23" fmla="*/ 220554 h 259768"/>
              <a:gd name="connsiteX24" fmla="*/ 189902 w 864621"/>
              <a:gd name="connsiteY24" fmla="*/ 215702 h 259768"/>
              <a:gd name="connsiteX25" fmla="*/ 204230 w 864621"/>
              <a:gd name="connsiteY25" fmla="*/ 215702 h 259768"/>
              <a:gd name="connsiteX26" fmla="*/ 204230 w 864621"/>
              <a:gd name="connsiteY26" fmla="*/ 222404 h 259768"/>
              <a:gd name="connsiteX27" fmla="*/ 189902 w 864621"/>
              <a:gd name="connsiteY27" fmla="*/ 222404 h 259768"/>
              <a:gd name="connsiteX28" fmla="*/ 316479 w 864621"/>
              <a:gd name="connsiteY28" fmla="*/ 206156 h 259768"/>
              <a:gd name="connsiteX29" fmla="*/ 330807 w 864621"/>
              <a:gd name="connsiteY29" fmla="*/ 206156 h 259768"/>
              <a:gd name="connsiteX30" fmla="*/ 330807 w 864621"/>
              <a:gd name="connsiteY30" fmla="*/ 212875 h 259768"/>
              <a:gd name="connsiteX31" fmla="*/ 316479 w 864621"/>
              <a:gd name="connsiteY31" fmla="*/ 212875 h 259768"/>
              <a:gd name="connsiteX32" fmla="*/ 126576 w 864621"/>
              <a:gd name="connsiteY32" fmla="*/ 206156 h 259768"/>
              <a:gd name="connsiteX33" fmla="*/ 140904 w 864621"/>
              <a:gd name="connsiteY33" fmla="*/ 206156 h 259768"/>
              <a:gd name="connsiteX34" fmla="*/ 140904 w 864621"/>
              <a:gd name="connsiteY34" fmla="*/ 212875 h 259768"/>
              <a:gd name="connsiteX35" fmla="*/ 126576 w 864621"/>
              <a:gd name="connsiteY35" fmla="*/ 212875 h 259768"/>
              <a:gd name="connsiteX36" fmla="*/ 189902 w 864621"/>
              <a:gd name="connsiteY36" fmla="*/ 205790 h 259768"/>
              <a:gd name="connsiteX37" fmla="*/ 204230 w 864621"/>
              <a:gd name="connsiteY37" fmla="*/ 205790 h 259768"/>
              <a:gd name="connsiteX38" fmla="*/ 204230 w 864621"/>
              <a:gd name="connsiteY38" fmla="*/ 212491 h 259768"/>
              <a:gd name="connsiteX39" fmla="*/ 189902 w 864621"/>
              <a:gd name="connsiteY39" fmla="*/ 212491 h 259768"/>
              <a:gd name="connsiteX40" fmla="*/ 316479 w 864621"/>
              <a:gd name="connsiteY40" fmla="*/ 196209 h 259768"/>
              <a:gd name="connsiteX41" fmla="*/ 330807 w 864621"/>
              <a:gd name="connsiteY41" fmla="*/ 196209 h 259768"/>
              <a:gd name="connsiteX42" fmla="*/ 330807 w 864621"/>
              <a:gd name="connsiteY42" fmla="*/ 202928 h 259768"/>
              <a:gd name="connsiteX43" fmla="*/ 316479 w 864621"/>
              <a:gd name="connsiteY43" fmla="*/ 202928 h 259768"/>
              <a:gd name="connsiteX44" fmla="*/ 126576 w 864621"/>
              <a:gd name="connsiteY44" fmla="*/ 196209 h 259768"/>
              <a:gd name="connsiteX45" fmla="*/ 140904 w 864621"/>
              <a:gd name="connsiteY45" fmla="*/ 196209 h 259768"/>
              <a:gd name="connsiteX46" fmla="*/ 140904 w 864621"/>
              <a:gd name="connsiteY46" fmla="*/ 202928 h 259768"/>
              <a:gd name="connsiteX47" fmla="*/ 126576 w 864621"/>
              <a:gd name="connsiteY47" fmla="*/ 202928 h 259768"/>
              <a:gd name="connsiteX48" fmla="*/ 189902 w 864621"/>
              <a:gd name="connsiteY48" fmla="*/ 195877 h 259768"/>
              <a:gd name="connsiteX49" fmla="*/ 204230 w 864621"/>
              <a:gd name="connsiteY49" fmla="*/ 195877 h 259768"/>
              <a:gd name="connsiteX50" fmla="*/ 204230 w 864621"/>
              <a:gd name="connsiteY50" fmla="*/ 202579 h 259768"/>
              <a:gd name="connsiteX51" fmla="*/ 189902 w 864621"/>
              <a:gd name="connsiteY51" fmla="*/ 202579 h 259768"/>
              <a:gd name="connsiteX52" fmla="*/ 316479 w 864621"/>
              <a:gd name="connsiteY52" fmla="*/ 186244 h 259768"/>
              <a:gd name="connsiteX53" fmla="*/ 330807 w 864621"/>
              <a:gd name="connsiteY53" fmla="*/ 186244 h 259768"/>
              <a:gd name="connsiteX54" fmla="*/ 330807 w 864621"/>
              <a:gd name="connsiteY54" fmla="*/ 192963 h 259768"/>
              <a:gd name="connsiteX55" fmla="*/ 316479 w 864621"/>
              <a:gd name="connsiteY55" fmla="*/ 192963 h 259768"/>
              <a:gd name="connsiteX56" fmla="*/ 126576 w 864621"/>
              <a:gd name="connsiteY56" fmla="*/ 186244 h 259768"/>
              <a:gd name="connsiteX57" fmla="*/ 140904 w 864621"/>
              <a:gd name="connsiteY57" fmla="*/ 186244 h 259768"/>
              <a:gd name="connsiteX58" fmla="*/ 140904 w 864621"/>
              <a:gd name="connsiteY58" fmla="*/ 192963 h 259768"/>
              <a:gd name="connsiteX59" fmla="*/ 126576 w 864621"/>
              <a:gd name="connsiteY59" fmla="*/ 192963 h 259768"/>
              <a:gd name="connsiteX60" fmla="*/ 189902 w 864621"/>
              <a:gd name="connsiteY60" fmla="*/ 185982 h 259768"/>
              <a:gd name="connsiteX61" fmla="*/ 204230 w 864621"/>
              <a:gd name="connsiteY61" fmla="*/ 185982 h 259768"/>
              <a:gd name="connsiteX62" fmla="*/ 204230 w 864621"/>
              <a:gd name="connsiteY62" fmla="*/ 192684 h 259768"/>
              <a:gd name="connsiteX63" fmla="*/ 189902 w 864621"/>
              <a:gd name="connsiteY63" fmla="*/ 192684 h 259768"/>
              <a:gd name="connsiteX64" fmla="*/ 63288 w 864621"/>
              <a:gd name="connsiteY64" fmla="*/ 182649 h 259768"/>
              <a:gd name="connsiteX65" fmla="*/ 77616 w 864621"/>
              <a:gd name="connsiteY65" fmla="*/ 182649 h 259768"/>
              <a:gd name="connsiteX66" fmla="*/ 77616 w 864621"/>
              <a:gd name="connsiteY66" fmla="*/ 186890 h 259768"/>
              <a:gd name="connsiteX67" fmla="*/ 63288 w 864621"/>
              <a:gd name="connsiteY67" fmla="*/ 186890 h 259768"/>
              <a:gd name="connsiteX68" fmla="*/ 316479 w 864621"/>
              <a:gd name="connsiteY68" fmla="*/ 176297 h 259768"/>
              <a:gd name="connsiteX69" fmla="*/ 330807 w 864621"/>
              <a:gd name="connsiteY69" fmla="*/ 176297 h 259768"/>
              <a:gd name="connsiteX70" fmla="*/ 330807 w 864621"/>
              <a:gd name="connsiteY70" fmla="*/ 183015 h 259768"/>
              <a:gd name="connsiteX71" fmla="*/ 316479 w 864621"/>
              <a:gd name="connsiteY71" fmla="*/ 183015 h 259768"/>
              <a:gd name="connsiteX72" fmla="*/ 126576 w 864621"/>
              <a:gd name="connsiteY72" fmla="*/ 176297 h 259768"/>
              <a:gd name="connsiteX73" fmla="*/ 140904 w 864621"/>
              <a:gd name="connsiteY73" fmla="*/ 176297 h 259768"/>
              <a:gd name="connsiteX74" fmla="*/ 140904 w 864621"/>
              <a:gd name="connsiteY74" fmla="*/ 183015 h 259768"/>
              <a:gd name="connsiteX75" fmla="*/ 126576 w 864621"/>
              <a:gd name="connsiteY75" fmla="*/ 183015 h 259768"/>
              <a:gd name="connsiteX76" fmla="*/ 189902 w 864621"/>
              <a:gd name="connsiteY76" fmla="*/ 176070 h 259768"/>
              <a:gd name="connsiteX77" fmla="*/ 204230 w 864621"/>
              <a:gd name="connsiteY77" fmla="*/ 176070 h 259768"/>
              <a:gd name="connsiteX78" fmla="*/ 204230 w 864621"/>
              <a:gd name="connsiteY78" fmla="*/ 182771 h 259768"/>
              <a:gd name="connsiteX79" fmla="*/ 189902 w 864621"/>
              <a:gd name="connsiteY79" fmla="*/ 182771 h 259768"/>
              <a:gd name="connsiteX80" fmla="*/ 253191 w 864621"/>
              <a:gd name="connsiteY80" fmla="*/ 174900 h 259768"/>
              <a:gd name="connsiteX81" fmla="*/ 267519 w 864621"/>
              <a:gd name="connsiteY81" fmla="*/ 174900 h 259768"/>
              <a:gd name="connsiteX82" fmla="*/ 267519 w 864621"/>
              <a:gd name="connsiteY82" fmla="*/ 179141 h 259768"/>
              <a:gd name="connsiteX83" fmla="*/ 253191 w 864621"/>
              <a:gd name="connsiteY83" fmla="*/ 179141 h 259768"/>
              <a:gd name="connsiteX84" fmla="*/ 63288 w 864621"/>
              <a:gd name="connsiteY84" fmla="*/ 172248 h 259768"/>
              <a:gd name="connsiteX85" fmla="*/ 77616 w 864621"/>
              <a:gd name="connsiteY85" fmla="*/ 172248 h 259768"/>
              <a:gd name="connsiteX86" fmla="*/ 77616 w 864621"/>
              <a:gd name="connsiteY86" fmla="*/ 179089 h 259768"/>
              <a:gd name="connsiteX87" fmla="*/ 63288 w 864621"/>
              <a:gd name="connsiteY87" fmla="*/ 179089 h 259768"/>
              <a:gd name="connsiteX88" fmla="*/ 316479 w 864621"/>
              <a:gd name="connsiteY88" fmla="*/ 166349 h 259768"/>
              <a:gd name="connsiteX89" fmla="*/ 330807 w 864621"/>
              <a:gd name="connsiteY89" fmla="*/ 166349 h 259768"/>
              <a:gd name="connsiteX90" fmla="*/ 330807 w 864621"/>
              <a:gd name="connsiteY90" fmla="*/ 173068 h 259768"/>
              <a:gd name="connsiteX91" fmla="*/ 316479 w 864621"/>
              <a:gd name="connsiteY91" fmla="*/ 173068 h 259768"/>
              <a:gd name="connsiteX92" fmla="*/ 126576 w 864621"/>
              <a:gd name="connsiteY92" fmla="*/ 166349 h 259768"/>
              <a:gd name="connsiteX93" fmla="*/ 140904 w 864621"/>
              <a:gd name="connsiteY93" fmla="*/ 166349 h 259768"/>
              <a:gd name="connsiteX94" fmla="*/ 140904 w 864621"/>
              <a:gd name="connsiteY94" fmla="*/ 173068 h 259768"/>
              <a:gd name="connsiteX95" fmla="*/ 126576 w 864621"/>
              <a:gd name="connsiteY95" fmla="*/ 173068 h 259768"/>
              <a:gd name="connsiteX96" fmla="*/ 189902 w 864621"/>
              <a:gd name="connsiteY96" fmla="*/ 166157 h 259768"/>
              <a:gd name="connsiteX97" fmla="*/ 204230 w 864621"/>
              <a:gd name="connsiteY97" fmla="*/ 166157 h 259768"/>
              <a:gd name="connsiteX98" fmla="*/ 204230 w 864621"/>
              <a:gd name="connsiteY98" fmla="*/ 172859 h 259768"/>
              <a:gd name="connsiteX99" fmla="*/ 189902 w 864621"/>
              <a:gd name="connsiteY99" fmla="*/ 172859 h 259768"/>
              <a:gd name="connsiteX100" fmla="*/ 253191 w 864621"/>
              <a:gd name="connsiteY100" fmla="*/ 165075 h 259768"/>
              <a:gd name="connsiteX101" fmla="*/ 267519 w 864621"/>
              <a:gd name="connsiteY101" fmla="*/ 165075 h 259768"/>
              <a:gd name="connsiteX102" fmla="*/ 267519 w 864621"/>
              <a:gd name="connsiteY102" fmla="*/ 171637 h 259768"/>
              <a:gd name="connsiteX103" fmla="*/ 253191 w 864621"/>
              <a:gd name="connsiteY103" fmla="*/ 171637 h 259768"/>
              <a:gd name="connsiteX104" fmla="*/ 63288 w 864621"/>
              <a:gd name="connsiteY104" fmla="*/ 162074 h 259768"/>
              <a:gd name="connsiteX105" fmla="*/ 77616 w 864621"/>
              <a:gd name="connsiteY105" fmla="*/ 162074 h 259768"/>
              <a:gd name="connsiteX106" fmla="*/ 77616 w 864621"/>
              <a:gd name="connsiteY106" fmla="*/ 168915 h 259768"/>
              <a:gd name="connsiteX107" fmla="*/ 63288 w 864621"/>
              <a:gd name="connsiteY107" fmla="*/ 168915 h 259768"/>
              <a:gd name="connsiteX108" fmla="*/ 379805 w 864621"/>
              <a:gd name="connsiteY108" fmla="*/ 160293 h 259768"/>
              <a:gd name="connsiteX109" fmla="*/ 394133 w 864621"/>
              <a:gd name="connsiteY109" fmla="*/ 160293 h 259768"/>
              <a:gd name="connsiteX110" fmla="*/ 394133 w 864621"/>
              <a:gd name="connsiteY110" fmla="*/ 164534 h 259768"/>
              <a:gd name="connsiteX111" fmla="*/ 379805 w 864621"/>
              <a:gd name="connsiteY111" fmla="*/ 164534 h 259768"/>
              <a:gd name="connsiteX112" fmla="*/ 316479 w 864621"/>
              <a:gd name="connsiteY112" fmla="*/ 156384 h 259768"/>
              <a:gd name="connsiteX113" fmla="*/ 330807 w 864621"/>
              <a:gd name="connsiteY113" fmla="*/ 156384 h 259768"/>
              <a:gd name="connsiteX114" fmla="*/ 330807 w 864621"/>
              <a:gd name="connsiteY114" fmla="*/ 163103 h 259768"/>
              <a:gd name="connsiteX115" fmla="*/ 316479 w 864621"/>
              <a:gd name="connsiteY115" fmla="*/ 163103 h 259768"/>
              <a:gd name="connsiteX116" fmla="*/ 126576 w 864621"/>
              <a:gd name="connsiteY116" fmla="*/ 156384 h 259768"/>
              <a:gd name="connsiteX117" fmla="*/ 140904 w 864621"/>
              <a:gd name="connsiteY117" fmla="*/ 156384 h 259768"/>
              <a:gd name="connsiteX118" fmla="*/ 140904 w 864621"/>
              <a:gd name="connsiteY118" fmla="*/ 163103 h 259768"/>
              <a:gd name="connsiteX119" fmla="*/ 126576 w 864621"/>
              <a:gd name="connsiteY119" fmla="*/ 163103 h 259768"/>
              <a:gd name="connsiteX120" fmla="*/ 189902 w 864621"/>
              <a:gd name="connsiteY120" fmla="*/ 156262 h 259768"/>
              <a:gd name="connsiteX121" fmla="*/ 204230 w 864621"/>
              <a:gd name="connsiteY121" fmla="*/ 156262 h 259768"/>
              <a:gd name="connsiteX122" fmla="*/ 204230 w 864621"/>
              <a:gd name="connsiteY122" fmla="*/ 162963 h 259768"/>
              <a:gd name="connsiteX123" fmla="*/ 189902 w 864621"/>
              <a:gd name="connsiteY123" fmla="*/ 162963 h 259768"/>
              <a:gd name="connsiteX124" fmla="*/ 253191 w 864621"/>
              <a:gd name="connsiteY124" fmla="*/ 155459 h 259768"/>
              <a:gd name="connsiteX125" fmla="*/ 267519 w 864621"/>
              <a:gd name="connsiteY125" fmla="*/ 155459 h 259768"/>
              <a:gd name="connsiteX126" fmla="*/ 267519 w 864621"/>
              <a:gd name="connsiteY126" fmla="*/ 162021 h 259768"/>
              <a:gd name="connsiteX127" fmla="*/ 253191 w 864621"/>
              <a:gd name="connsiteY127" fmla="*/ 162021 h 259768"/>
              <a:gd name="connsiteX128" fmla="*/ 63288 w 864621"/>
              <a:gd name="connsiteY128" fmla="*/ 151917 h 259768"/>
              <a:gd name="connsiteX129" fmla="*/ 77616 w 864621"/>
              <a:gd name="connsiteY129" fmla="*/ 151917 h 259768"/>
              <a:gd name="connsiteX130" fmla="*/ 77616 w 864621"/>
              <a:gd name="connsiteY130" fmla="*/ 158740 h 259768"/>
              <a:gd name="connsiteX131" fmla="*/ 63288 w 864621"/>
              <a:gd name="connsiteY131" fmla="*/ 158740 h 259768"/>
              <a:gd name="connsiteX132" fmla="*/ 379805 w 864621"/>
              <a:gd name="connsiteY132" fmla="*/ 150538 h 259768"/>
              <a:gd name="connsiteX133" fmla="*/ 394133 w 864621"/>
              <a:gd name="connsiteY133" fmla="*/ 150538 h 259768"/>
              <a:gd name="connsiteX134" fmla="*/ 394133 w 864621"/>
              <a:gd name="connsiteY134" fmla="*/ 157065 h 259768"/>
              <a:gd name="connsiteX135" fmla="*/ 379805 w 864621"/>
              <a:gd name="connsiteY135" fmla="*/ 157065 h 259768"/>
              <a:gd name="connsiteX136" fmla="*/ 316479 w 864621"/>
              <a:gd name="connsiteY136" fmla="*/ 146437 h 259768"/>
              <a:gd name="connsiteX137" fmla="*/ 330807 w 864621"/>
              <a:gd name="connsiteY137" fmla="*/ 146437 h 259768"/>
              <a:gd name="connsiteX138" fmla="*/ 330807 w 864621"/>
              <a:gd name="connsiteY138" fmla="*/ 153156 h 259768"/>
              <a:gd name="connsiteX139" fmla="*/ 316479 w 864621"/>
              <a:gd name="connsiteY139" fmla="*/ 153156 h 259768"/>
              <a:gd name="connsiteX140" fmla="*/ 126576 w 864621"/>
              <a:gd name="connsiteY140" fmla="*/ 146437 h 259768"/>
              <a:gd name="connsiteX141" fmla="*/ 140904 w 864621"/>
              <a:gd name="connsiteY141" fmla="*/ 146437 h 259768"/>
              <a:gd name="connsiteX142" fmla="*/ 140904 w 864621"/>
              <a:gd name="connsiteY142" fmla="*/ 153156 h 259768"/>
              <a:gd name="connsiteX143" fmla="*/ 126576 w 864621"/>
              <a:gd name="connsiteY143" fmla="*/ 153156 h 259768"/>
              <a:gd name="connsiteX144" fmla="*/ 189902 w 864621"/>
              <a:gd name="connsiteY144" fmla="*/ 146350 h 259768"/>
              <a:gd name="connsiteX145" fmla="*/ 204230 w 864621"/>
              <a:gd name="connsiteY145" fmla="*/ 146350 h 259768"/>
              <a:gd name="connsiteX146" fmla="*/ 204230 w 864621"/>
              <a:gd name="connsiteY146" fmla="*/ 153051 h 259768"/>
              <a:gd name="connsiteX147" fmla="*/ 189902 w 864621"/>
              <a:gd name="connsiteY147" fmla="*/ 153051 h 259768"/>
              <a:gd name="connsiteX148" fmla="*/ 253191 w 864621"/>
              <a:gd name="connsiteY148" fmla="*/ 145844 h 259768"/>
              <a:gd name="connsiteX149" fmla="*/ 267519 w 864621"/>
              <a:gd name="connsiteY149" fmla="*/ 145844 h 259768"/>
              <a:gd name="connsiteX150" fmla="*/ 267519 w 864621"/>
              <a:gd name="connsiteY150" fmla="*/ 152405 h 259768"/>
              <a:gd name="connsiteX151" fmla="*/ 253191 w 864621"/>
              <a:gd name="connsiteY151" fmla="*/ 152405 h 259768"/>
              <a:gd name="connsiteX152" fmla="*/ 63288 w 864621"/>
              <a:gd name="connsiteY152" fmla="*/ 141725 h 259768"/>
              <a:gd name="connsiteX153" fmla="*/ 77616 w 864621"/>
              <a:gd name="connsiteY153" fmla="*/ 141725 h 259768"/>
              <a:gd name="connsiteX154" fmla="*/ 77616 w 864621"/>
              <a:gd name="connsiteY154" fmla="*/ 148566 h 259768"/>
              <a:gd name="connsiteX155" fmla="*/ 63288 w 864621"/>
              <a:gd name="connsiteY155" fmla="*/ 148566 h 259768"/>
              <a:gd name="connsiteX156" fmla="*/ 379805 w 864621"/>
              <a:gd name="connsiteY156" fmla="*/ 140974 h 259768"/>
              <a:gd name="connsiteX157" fmla="*/ 394133 w 864621"/>
              <a:gd name="connsiteY157" fmla="*/ 140974 h 259768"/>
              <a:gd name="connsiteX158" fmla="*/ 394133 w 864621"/>
              <a:gd name="connsiteY158" fmla="*/ 147501 h 259768"/>
              <a:gd name="connsiteX159" fmla="*/ 379805 w 864621"/>
              <a:gd name="connsiteY159" fmla="*/ 147501 h 259768"/>
              <a:gd name="connsiteX160" fmla="*/ 443094 w 864621"/>
              <a:gd name="connsiteY160" fmla="*/ 138112 h 259768"/>
              <a:gd name="connsiteX161" fmla="*/ 457422 w 864621"/>
              <a:gd name="connsiteY161" fmla="*/ 138112 h 259768"/>
              <a:gd name="connsiteX162" fmla="*/ 457422 w 864621"/>
              <a:gd name="connsiteY162" fmla="*/ 142353 h 259768"/>
              <a:gd name="connsiteX163" fmla="*/ 443094 w 864621"/>
              <a:gd name="connsiteY163" fmla="*/ 142353 h 259768"/>
              <a:gd name="connsiteX164" fmla="*/ 316479 w 864621"/>
              <a:gd name="connsiteY164" fmla="*/ 136489 h 259768"/>
              <a:gd name="connsiteX165" fmla="*/ 330807 w 864621"/>
              <a:gd name="connsiteY165" fmla="*/ 136489 h 259768"/>
              <a:gd name="connsiteX166" fmla="*/ 330807 w 864621"/>
              <a:gd name="connsiteY166" fmla="*/ 143208 h 259768"/>
              <a:gd name="connsiteX167" fmla="*/ 316479 w 864621"/>
              <a:gd name="connsiteY167" fmla="*/ 143208 h 259768"/>
              <a:gd name="connsiteX168" fmla="*/ 126576 w 864621"/>
              <a:gd name="connsiteY168" fmla="*/ 136489 h 259768"/>
              <a:gd name="connsiteX169" fmla="*/ 140904 w 864621"/>
              <a:gd name="connsiteY169" fmla="*/ 136489 h 259768"/>
              <a:gd name="connsiteX170" fmla="*/ 140904 w 864621"/>
              <a:gd name="connsiteY170" fmla="*/ 143208 h 259768"/>
              <a:gd name="connsiteX171" fmla="*/ 126576 w 864621"/>
              <a:gd name="connsiteY171" fmla="*/ 143208 h 259768"/>
              <a:gd name="connsiteX172" fmla="*/ 189902 w 864621"/>
              <a:gd name="connsiteY172" fmla="*/ 136437 h 259768"/>
              <a:gd name="connsiteX173" fmla="*/ 204230 w 864621"/>
              <a:gd name="connsiteY173" fmla="*/ 136437 h 259768"/>
              <a:gd name="connsiteX174" fmla="*/ 204230 w 864621"/>
              <a:gd name="connsiteY174" fmla="*/ 143138 h 259768"/>
              <a:gd name="connsiteX175" fmla="*/ 189902 w 864621"/>
              <a:gd name="connsiteY175" fmla="*/ 143138 h 259768"/>
              <a:gd name="connsiteX176" fmla="*/ 253191 w 864621"/>
              <a:gd name="connsiteY176" fmla="*/ 136228 h 259768"/>
              <a:gd name="connsiteX177" fmla="*/ 267519 w 864621"/>
              <a:gd name="connsiteY177" fmla="*/ 136228 h 259768"/>
              <a:gd name="connsiteX178" fmla="*/ 267519 w 864621"/>
              <a:gd name="connsiteY178" fmla="*/ 142789 h 259768"/>
              <a:gd name="connsiteX179" fmla="*/ 253191 w 864621"/>
              <a:gd name="connsiteY179" fmla="*/ 142789 h 259768"/>
              <a:gd name="connsiteX180" fmla="*/ 0 w 864621"/>
              <a:gd name="connsiteY180" fmla="*/ 134587 h 259768"/>
              <a:gd name="connsiteX181" fmla="*/ 14328 w 864621"/>
              <a:gd name="connsiteY181" fmla="*/ 134587 h 259768"/>
              <a:gd name="connsiteX182" fmla="*/ 14328 w 864621"/>
              <a:gd name="connsiteY182" fmla="*/ 138828 h 259768"/>
              <a:gd name="connsiteX183" fmla="*/ 0 w 864621"/>
              <a:gd name="connsiteY183" fmla="*/ 138828 h 259768"/>
              <a:gd name="connsiteX184" fmla="*/ 63288 w 864621"/>
              <a:gd name="connsiteY184" fmla="*/ 131551 h 259768"/>
              <a:gd name="connsiteX185" fmla="*/ 77616 w 864621"/>
              <a:gd name="connsiteY185" fmla="*/ 131551 h 259768"/>
              <a:gd name="connsiteX186" fmla="*/ 77616 w 864621"/>
              <a:gd name="connsiteY186" fmla="*/ 138392 h 259768"/>
              <a:gd name="connsiteX187" fmla="*/ 63288 w 864621"/>
              <a:gd name="connsiteY187" fmla="*/ 138392 h 259768"/>
              <a:gd name="connsiteX188" fmla="*/ 379805 w 864621"/>
              <a:gd name="connsiteY188" fmla="*/ 131411 h 259768"/>
              <a:gd name="connsiteX189" fmla="*/ 394133 w 864621"/>
              <a:gd name="connsiteY189" fmla="*/ 131411 h 259768"/>
              <a:gd name="connsiteX190" fmla="*/ 394133 w 864621"/>
              <a:gd name="connsiteY190" fmla="*/ 137938 h 259768"/>
              <a:gd name="connsiteX191" fmla="*/ 379805 w 864621"/>
              <a:gd name="connsiteY191" fmla="*/ 137938 h 259768"/>
              <a:gd name="connsiteX192" fmla="*/ 856418 w 864621"/>
              <a:gd name="connsiteY192" fmla="*/ 128985 h 259768"/>
              <a:gd name="connsiteX193" fmla="*/ 864621 w 864621"/>
              <a:gd name="connsiteY193" fmla="*/ 129003 h 259768"/>
              <a:gd name="connsiteX194" fmla="*/ 864621 w 864621"/>
              <a:gd name="connsiteY194" fmla="*/ 130748 h 259768"/>
              <a:gd name="connsiteX195" fmla="*/ 854562 w 864621"/>
              <a:gd name="connsiteY195" fmla="*/ 130800 h 259768"/>
              <a:gd name="connsiteX196" fmla="*/ 854562 w 864621"/>
              <a:gd name="connsiteY196" fmla="*/ 129038 h 259768"/>
              <a:gd name="connsiteX197" fmla="*/ 836856 w 864621"/>
              <a:gd name="connsiteY197" fmla="*/ 128916 h 259768"/>
              <a:gd name="connsiteX198" fmla="*/ 846952 w 864621"/>
              <a:gd name="connsiteY198" fmla="*/ 128950 h 259768"/>
              <a:gd name="connsiteX199" fmla="*/ 846952 w 864621"/>
              <a:gd name="connsiteY199" fmla="*/ 130678 h 259768"/>
              <a:gd name="connsiteX200" fmla="*/ 845096 w 864621"/>
              <a:gd name="connsiteY200" fmla="*/ 130835 h 259768"/>
              <a:gd name="connsiteX201" fmla="*/ 836856 w 864621"/>
              <a:gd name="connsiteY201" fmla="*/ 130853 h 259768"/>
              <a:gd name="connsiteX202" fmla="*/ 819187 w 864621"/>
              <a:gd name="connsiteY202" fmla="*/ 128846 h 259768"/>
              <a:gd name="connsiteX203" fmla="*/ 829283 w 864621"/>
              <a:gd name="connsiteY203" fmla="*/ 128881 h 259768"/>
              <a:gd name="connsiteX204" fmla="*/ 829283 w 864621"/>
              <a:gd name="connsiteY204" fmla="*/ 130888 h 259768"/>
              <a:gd name="connsiteX205" fmla="*/ 819187 w 864621"/>
              <a:gd name="connsiteY205" fmla="*/ 130923 h 259768"/>
              <a:gd name="connsiteX206" fmla="*/ 801518 w 864621"/>
              <a:gd name="connsiteY206" fmla="*/ 128793 h 259768"/>
              <a:gd name="connsiteX207" fmla="*/ 811578 w 864621"/>
              <a:gd name="connsiteY207" fmla="*/ 128811 h 259768"/>
              <a:gd name="connsiteX208" fmla="*/ 811578 w 864621"/>
              <a:gd name="connsiteY208" fmla="*/ 130957 h 259768"/>
              <a:gd name="connsiteX209" fmla="*/ 801518 w 864621"/>
              <a:gd name="connsiteY209" fmla="*/ 130992 h 259768"/>
              <a:gd name="connsiteX210" fmla="*/ 783812 w 864621"/>
              <a:gd name="connsiteY210" fmla="*/ 128724 h 259768"/>
              <a:gd name="connsiteX211" fmla="*/ 793909 w 864621"/>
              <a:gd name="connsiteY211" fmla="*/ 128758 h 259768"/>
              <a:gd name="connsiteX212" fmla="*/ 793909 w 864621"/>
              <a:gd name="connsiteY212" fmla="*/ 131027 h 259768"/>
              <a:gd name="connsiteX213" fmla="*/ 783812 w 864621"/>
              <a:gd name="connsiteY213" fmla="*/ 131045 h 259768"/>
              <a:gd name="connsiteX214" fmla="*/ 766143 w 864621"/>
              <a:gd name="connsiteY214" fmla="*/ 128654 h 259768"/>
              <a:gd name="connsiteX215" fmla="*/ 776240 w 864621"/>
              <a:gd name="connsiteY215" fmla="*/ 128689 h 259768"/>
              <a:gd name="connsiteX216" fmla="*/ 776240 w 864621"/>
              <a:gd name="connsiteY216" fmla="*/ 131080 h 259768"/>
              <a:gd name="connsiteX217" fmla="*/ 766143 w 864621"/>
              <a:gd name="connsiteY217" fmla="*/ 131114 h 259768"/>
              <a:gd name="connsiteX218" fmla="*/ 748475 w 864621"/>
              <a:gd name="connsiteY218" fmla="*/ 128601 h 259768"/>
              <a:gd name="connsiteX219" fmla="*/ 758534 w 864621"/>
              <a:gd name="connsiteY219" fmla="*/ 128619 h 259768"/>
              <a:gd name="connsiteX220" fmla="*/ 758534 w 864621"/>
              <a:gd name="connsiteY220" fmla="*/ 131149 h 259768"/>
              <a:gd name="connsiteX221" fmla="*/ 748475 w 864621"/>
              <a:gd name="connsiteY221" fmla="*/ 131184 h 259768"/>
              <a:gd name="connsiteX222" fmla="*/ 730768 w 864621"/>
              <a:gd name="connsiteY222" fmla="*/ 128532 h 259768"/>
              <a:gd name="connsiteX223" fmla="*/ 740865 w 864621"/>
              <a:gd name="connsiteY223" fmla="*/ 128566 h 259768"/>
              <a:gd name="connsiteX224" fmla="*/ 740865 w 864621"/>
              <a:gd name="connsiteY224" fmla="*/ 131219 h 259768"/>
              <a:gd name="connsiteX225" fmla="*/ 730768 w 864621"/>
              <a:gd name="connsiteY225" fmla="*/ 131237 h 259768"/>
              <a:gd name="connsiteX226" fmla="*/ 713100 w 864621"/>
              <a:gd name="connsiteY226" fmla="*/ 128462 h 259768"/>
              <a:gd name="connsiteX227" fmla="*/ 723196 w 864621"/>
              <a:gd name="connsiteY227" fmla="*/ 128497 h 259768"/>
              <a:gd name="connsiteX228" fmla="*/ 723196 w 864621"/>
              <a:gd name="connsiteY228" fmla="*/ 131271 h 259768"/>
              <a:gd name="connsiteX229" fmla="*/ 713100 w 864621"/>
              <a:gd name="connsiteY229" fmla="*/ 131306 h 259768"/>
              <a:gd name="connsiteX230" fmla="*/ 695431 w 864621"/>
              <a:gd name="connsiteY230" fmla="*/ 128409 h 259768"/>
              <a:gd name="connsiteX231" fmla="*/ 705490 w 864621"/>
              <a:gd name="connsiteY231" fmla="*/ 128444 h 259768"/>
              <a:gd name="connsiteX232" fmla="*/ 705490 w 864621"/>
              <a:gd name="connsiteY232" fmla="*/ 131341 h 259768"/>
              <a:gd name="connsiteX233" fmla="*/ 695431 w 864621"/>
              <a:gd name="connsiteY233" fmla="*/ 131376 h 259768"/>
              <a:gd name="connsiteX234" fmla="*/ 677725 w 864621"/>
              <a:gd name="connsiteY234" fmla="*/ 128340 h 259768"/>
              <a:gd name="connsiteX235" fmla="*/ 687821 w 864621"/>
              <a:gd name="connsiteY235" fmla="*/ 128374 h 259768"/>
              <a:gd name="connsiteX236" fmla="*/ 687821 w 864621"/>
              <a:gd name="connsiteY236" fmla="*/ 131411 h 259768"/>
              <a:gd name="connsiteX237" fmla="*/ 677725 w 864621"/>
              <a:gd name="connsiteY237" fmla="*/ 131428 h 259768"/>
              <a:gd name="connsiteX238" fmla="*/ 660056 w 864621"/>
              <a:gd name="connsiteY238" fmla="*/ 128287 h 259768"/>
              <a:gd name="connsiteX239" fmla="*/ 670152 w 864621"/>
              <a:gd name="connsiteY239" fmla="*/ 128305 h 259768"/>
              <a:gd name="connsiteX240" fmla="*/ 670152 w 864621"/>
              <a:gd name="connsiteY240" fmla="*/ 131463 h 259768"/>
              <a:gd name="connsiteX241" fmla="*/ 660056 w 864621"/>
              <a:gd name="connsiteY241" fmla="*/ 131498 h 259768"/>
              <a:gd name="connsiteX242" fmla="*/ 642387 w 864621"/>
              <a:gd name="connsiteY242" fmla="*/ 128217 h 259768"/>
              <a:gd name="connsiteX243" fmla="*/ 652447 w 864621"/>
              <a:gd name="connsiteY243" fmla="*/ 128252 h 259768"/>
              <a:gd name="connsiteX244" fmla="*/ 652447 w 864621"/>
              <a:gd name="connsiteY244" fmla="*/ 131533 h 259768"/>
              <a:gd name="connsiteX245" fmla="*/ 642387 w 864621"/>
              <a:gd name="connsiteY245" fmla="*/ 131568 h 259768"/>
              <a:gd name="connsiteX246" fmla="*/ 624681 w 864621"/>
              <a:gd name="connsiteY246" fmla="*/ 128147 h 259768"/>
              <a:gd name="connsiteX247" fmla="*/ 634778 w 864621"/>
              <a:gd name="connsiteY247" fmla="*/ 128182 h 259768"/>
              <a:gd name="connsiteX248" fmla="*/ 634778 w 864621"/>
              <a:gd name="connsiteY248" fmla="*/ 131603 h 259768"/>
              <a:gd name="connsiteX249" fmla="*/ 624681 w 864621"/>
              <a:gd name="connsiteY249" fmla="*/ 131620 h 259768"/>
              <a:gd name="connsiteX250" fmla="*/ 607013 w 864621"/>
              <a:gd name="connsiteY250" fmla="*/ 128095 h 259768"/>
              <a:gd name="connsiteX251" fmla="*/ 617072 w 864621"/>
              <a:gd name="connsiteY251" fmla="*/ 128130 h 259768"/>
              <a:gd name="connsiteX252" fmla="*/ 617072 w 864621"/>
              <a:gd name="connsiteY252" fmla="*/ 131673 h 259768"/>
              <a:gd name="connsiteX253" fmla="*/ 607013 w 864621"/>
              <a:gd name="connsiteY253" fmla="*/ 131690 h 259768"/>
              <a:gd name="connsiteX254" fmla="*/ 589344 w 864621"/>
              <a:gd name="connsiteY254" fmla="*/ 128025 h 259768"/>
              <a:gd name="connsiteX255" fmla="*/ 599403 w 864621"/>
              <a:gd name="connsiteY255" fmla="*/ 128060 h 259768"/>
              <a:gd name="connsiteX256" fmla="*/ 599403 w 864621"/>
              <a:gd name="connsiteY256" fmla="*/ 131725 h 259768"/>
              <a:gd name="connsiteX257" fmla="*/ 589344 w 864621"/>
              <a:gd name="connsiteY257" fmla="*/ 131760 h 259768"/>
              <a:gd name="connsiteX258" fmla="*/ 571638 w 864621"/>
              <a:gd name="connsiteY258" fmla="*/ 127956 h 259768"/>
              <a:gd name="connsiteX259" fmla="*/ 581697 w 864621"/>
              <a:gd name="connsiteY259" fmla="*/ 127991 h 259768"/>
              <a:gd name="connsiteX260" fmla="*/ 581697 w 864621"/>
              <a:gd name="connsiteY260" fmla="*/ 131778 h 259768"/>
              <a:gd name="connsiteX261" fmla="*/ 571638 w 864621"/>
              <a:gd name="connsiteY261" fmla="*/ 131812 h 259768"/>
              <a:gd name="connsiteX262" fmla="*/ 553969 w 864621"/>
              <a:gd name="connsiteY262" fmla="*/ 127903 h 259768"/>
              <a:gd name="connsiteX263" fmla="*/ 564028 w 864621"/>
              <a:gd name="connsiteY263" fmla="*/ 127938 h 259768"/>
              <a:gd name="connsiteX264" fmla="*/ 564028 w 864621"/>
              <a:gd name="connsiteY264" fmla="*/ 131865 h 259768"/>
              <a:gd name="connsiteX265" fmla="*/ 553969 w 864621"/>
              <a:gd name="connsiteY265" fmla="*/ 131882 h 259768"/>
              <a:gd name="connsiteX266" fmla="*/ 536300 w 864621"/>
              <a:gd name="connsiteY266" fmla="*/ 127833 h 259768"/>
              <a:gd name="connsiteX267" fmla="*/ 546360 w 864621"/>
              <a:gd name="connsiteY267" fmla="*/ 127868 h 259768"/>
              <a:gd name="connsiteX268" fmla="*/ 546360 w 864621"/>
              <a:gd name="connsiteY268" fmla="*/ 131917 h 259768"/>
              <a:gd name="connsiteX269" fmla="*/ 536300 w 864621"/>
              <a:gd name="connsiteY269" fmla="*/ 131952 h 259768"/>
              <a:gd name="connsiteX270" fmla="*/ 518594 w 864621"/>
              <a:gd name="connsiteY270" fmla="*/ 127764 h 259768"/>
              <a:gd name="connsiteX271" fmla="*/ 528654 w 864621"/>
              <a:gd name="connsiteY271" fmla="*/ 127799 h 259768"/>
              <a:gd name="connsiteX272" fmla="*/ 528654 w 864621"/>
              <a:gd name="connsiteY272" fmla="*/ 131987 h 259768"/>
              <a:gd name="connsiteX273" fmla="*/ 518594 w 864621"/>
              <a:gd name="connsiteY273" fmla="*/ 132004 h 259768"/>
              <a:gd name="connsiteX274" fmla="*/ 500926 w 864621"/>
              <a:gd name="connsiteY274" fmla="*/ 127711 h 259768"/>
              <a:gd name="connsiteX275" fmla="*/ 510985 w 864621"/>
              <a:gd name="connsiteY275" fmla="*/ 127746 h 259768"/>
              <a:gd name="connsiteX276" fmla="*/ 510985 w 864621"/>
              <a:gd name="connsiteY276" fmla="*/ 132057 h 259768"/>
              <a:gd name="connsiteX277" fmla="*/ 500926 w 864621"/>
              <a:gd name="connsiteY277" fmla="*/ 132074 h 259768"/>
              <a:gd name="connsiteX278" fmla="*/ 483219 w 864621"/>
              <a:gd name="connsiteY278" fmla="*/ 127624 h 259768"/>
              <a:gd name="connsiteX279" fmla="*/ 493279 w 864621"/>
              <a:gd name="connsiteY279" fmla="*/ 127659 h 259768"/>
              <a:gd name="connsiteX280" fmla="*/ 493279 w 864621"/>
              <a:gd name="connsiteY280" fmla="*/ 132092 h 259768"/>
              <a:gd name="connsiteX281" fmla="*/ 483219 w 864621"/>
              <a:gd name="connsiteY281" fmla="*/ 132126 h 259768"/>
              <a:gd name="connsiteX282" fmla="*/ 465551 w 864621"/>
              <a:gd name="connsiteY282" fmla="*/ 127572 h 259768"/>
              <a:gd name="connsiteX283" fmla="*/ 475610 w 864621"/>
              <a:gd name="connsiteY283" fmla="*/ 127607 h 259768"/>
              <a:gd name="connsiteX284" fmla="*/ 475610 w 864621"/>
              <a:gd name="connsiteY284" fmla="*/ 132161 h 259768"/>
              <a:gd name="connsiteX285" fmla="*/ 465551 w 864621"/>
              <a:gd name="connsiteY285" fmla="*/ 132196 h 259768"/>
              <a:gd name="connsiteX286" fmla="*/ 0 w 864621"/>
              <a:gd name="connsiteY286" fmla="*/ 127188 h 259768"/>
              <a:gd name="connsiteX287" fmla="*/ 14328 w 864621"/>
              <a:gd name="connsiteY287" fmla="*/ 127188 h 259768"/>
              <a:gd name="connsiteX288" fmla="*/ 14328 w 864621"/>
              <a:gd name="connsiteY288" fmla="*/ 132580 h 259768"/>
              <a:gd name="connsiteX289" fmla="*/ 0 w 864621"/>
              <a:gd name="connsiteY289" fmla="*/ 132580 h 259768"/>
              <a:gd name="connsiteX290" fmla="*/ 253191 w 864621"/>
              <a:gd name="connsiteY290" fmla="*/ 126612 h 259768"/>
              <a:gd name="connsiteX291" fmla="*/ 267519 w 864621"/>
              <a:gd name="connsiteY291" fmla="*/ 126612 h 259768"/>
              <a:gd name="connsiteX292" fmla="*/ 267519 w 864621"/>
              <a:gd name="connsiteY292" fmla="*/ 133174 h 259768"/>
              <a:gd name="connsiteX293" fmla="*/ 253191 w 864621"/>
              <a:gd name="connsiteY293" fmla="*/ 133174 h 259768"/>
              <a:gd name="connsiteX294" fmla="*/ 189902 w 864621"/>
              <a:gd name="connsiteY294" fmla="*/ 126542 h 259768"/>
              <a:gd name="connsiteX295" fmla="*/ 204230 w 864621"/>
              <a:gd name="connsiteY295" fmla="*/ 126542 h 259768"/>
              <a:gd name="connsiteX296" fmla="*/ 204230 w 864621"/>
              <a:gd name="connsiteY296" fmla="*/ 133244 h 259768"/>
              <a:gd name="connsiteX297" fmla="*/ 189902 w 864621"/>
              <a:gd name="connsiteY297" fmla="*/ 133244 h 259768"/>
              <a:gd name="connsiteX298" fmla="*/ 316479 w 864621"/>
              <a:gd name="connsiteY298" fmla="*/ 126525 h 259768"/>
              <a:gd name="connsiteX299" fmla="*/ 330807 w 864621"/>
              <a:gd name="connsiteY299" fmla="*/ 126525 h 259768"/>
              <a:gd name="connsiteX300" fmla="*/ 330807 w 864621"/>
              <a:gd name="connsiteY300" fmla="*/ 133243 h 259768"/>
              <a:gd name="connsiteX301" fmla="*/ 316479 w 864621"/>
              <a:gd name="connsiteY301" fmla="*/ 133243 h 259768"/>
              <a:gd name="connsiteX302" fmla="*/ 126576 w 864621"/>
              <a:gd name="connsiteY302" fmla="*/ 126525 h 259768"/>
              <a:gd name="connsiteX303" fmla="*/ 140904 w 864621"/>
              <a:gd name="connsiteY303" fmla="*/ 126525 h 259768"/>
              <a:gd name="connsiteX304" fmla="*/ 140904 w 864621"/>
              <a:gd name="connsiteY304" fmla="*/ 133243 h 259768"/>
              <a:gd name="connsiteX305" fmla="*/ 126576 w 864621"/>
              <a:gd name="connsiteY305" fmla="*/ 133243 h 259768"/>
              <a:gd name="connsiteX306" fmla="*/ 443019 w 864621"/>
              <a:gd name="connsiteY306" fmla="*/ 126071 h 259768"/>
              <a:gd name="connsiteX307" fmla="*/ 457347 w 864621"/>
              <a:gd name="connsiteY307" fmla="*/ 126071 h 259768"/>
              <a:gd name="connsiteX308" fmla="*/ 457347 w 864621"/>
              <a:gd name="connsiteY308" fmla="*/ 127537 h 259768"/>
              <a:gd name="connsiteX309" fmla="*/ 458424 w 864621"/>
              <a:gd name="connsiteY309" fmla="*/ 127537 h 259768"/>
              <a:gd name="connsiteX310" fmla="*/ 458424 w 864621"/>
              <a:gd name="connsiteY310" fmla="*/ 132231 h 259768"/>
              <a:gd name="connsiteX311" fmla="*/ 457347 w 864621"/>
              <a:gd name="connsiteY311" fmla="*/ 132231 h 259768"/>
              <a:gd name="connsiteX312" fmla="*/ 457347 w 864621"/>
              <a:gd name="connsiteY312" fmla="*/ 133697 h 259768"/>
              <a:gd name="connsiteX313" fmla="*/ 443019 w 864621"/>
              <a:gd name="connsiteY313" fmla="*/ 133697 h 259768"/>
              <a:gd name="connsiteX314" fmla="*/ 379805 w 864621"/>
              <a:gd name="connsiteY314" fmla="*/ 121848 h 259768"/>
              <a:gd name="connsiteX315" fmla="*/ 394133 w 864621"/>
              <a:gd name="connsiteY315" fmla="*/ 121848 h 259768"/>
              <a:gd name="connsiteX316" fmla="*/ 394133 w 864621"/>
              <a:gd name="connsiteY316" fmla="*/ 128374 h 259768"/>
              <a:gd name="connsiteX317" fmla="*/ 379805 w 864621"/>
              <a:gd name="connsiteY317" fmla="*/ 128374 h 259768"/>
              <a:gd name="connsiteX318" fmla="*/ 63288 w 864621"/>
              <a:gd name="connsiteY318" fmla="*/ 121376 h 259768"/>
              <a:gd name="connsiteX319" fmla="*/ 77616 w 864621"/>
              <a:gd name="connsiteY319" fmla="*/ 121376 h 259768"/>
              <a:gd name="connsiteX320" fmla="*/ 77616 w 864621"/>
              <a:gd name="connsiteY320" fmla="*/ 128217 h 259768"/>
              <a:gd name="connsiteX321" fmla="*/ 63288 w 864621"/>
              <a:gd name="connsiteY321" fmla="*/ 128217 h 259768"/>
              <a:gd name="connsiteX322" fmla="*/ 0 w 864621"/>
              <a:gd name="connsiteY322" fmla="*/ 120958 h 259768"/>
              <a:gd name="connsiteX323" fmla="*/ 14328 w 864621"/>
              <a:gd name="connsiteY323" fmla="*/ 120958 h 259768"/>
              <a:gd name="connsiteX324" fmla="*/ 14328 w 864621"/>
              <a:gd name="connsiteY324" fmla="*/ 125198 h 259768"/>
              <a:gd name="connsiteX325" fmla="*/ 0 w 864621"/>
              <a:gd name="connsiteY325" fmla="*/ 125198 h 259768"/>
              <a:gd name="connsiteX326" fmla="*/ 443094 w 864621"/>
              <a:gd name="connsiteY326" fmla="*/ 117432 h 259768"/>
              <a:gd name="connsiteX327" fmla="*/ 457422 w 864621"/>
              <a:gd name="connsiteY327" fmla="*/ 117432 h 259768"/>
              <a:gd name="connsiteX328" fmla="*/ 457422 w 864621"/>
              <a:gd name="connsiteY328" fmla="*/ 121673 h 259768"/>
              <a:gd name="connsiteX329" fmla="*/ 443094 w 864621"/>
              <a:gd name="connsiteY329" fmla="*/ 121673 h 259768"/>
              <a:gd name="connsiteX330" fmla="*/ 253191 w 864621"/>
              <a:gd name="connsiteY330" fmla="*/ 116978 h 259768"/>
              <a:gd name="connsiteX331" fmla="*/ 267519 w 864621"/>
              <a:gd name="connsiteY331" fmla="*/ 116978 h 259768"/>
              <a:gd name="connsiteX332" fmla="*/ 267519 w 864621"/>
              <a:gd name="connsiteY332" fmla="*/ 123540 h 259768"/>
              <a:gd name="connsiteX333" fmla="*/ 253191 w 864621"/>
              <a:gd name="connsiteY333" fmla="*/ 123540 h 259768"/>
              <a:gd name="connsiteX334" fmla="*/ 189902 w 864621"/>
              <a:gd name="connsiteY334" fmla="*/ 116630 h 259768"/>
              <a:gd name="connsiteX335" fmla="*/ 204230 w 864621"/>
              <a:gd name="connsiteY335" fmla="*/ 116630 h 259768"/>
              <a:gd name="connsiteX336" fmla="*/ 204230 w 864621"/>
              <a:gd name="connsiteY336" fmla="*/ 123331 h 259768"/>
              <a:gd name="connsiteX337" fmla="*/ 189902 w 864621"/>
              <a:gd name="connsiteY337" fmla="*/ 123331 h 259768"/>
              <a:gd name="connsiteX338" fmla="*/ 316479 w 864621"/>
              <a:gd name="connsiteY338" fmla="*/ 116577 h 259768"/>
              <a:gd name="connsiteX339" fmla="*/ 330807 w 864621"/>
              <a:gd name="connsiteY339" fmla="*/ 116577 h 259768"/>
              <a:gd name="connsiteX340" fmla="*/ 330807 w 864621"/>
              <a:gd name="connsiteY340" fmla="*/ 123296 h 259768"/>
              <a:gd name="connsiteX341" fmla="*/ 316479 w 864621"/>
              <a:gd name="connsiteY341" fmla="*/ 123296 h 259768"/>
              <a:gd name="connsiteX342" fmla="*/ 126576 w 864621"/>
              <a:gd name="connsiteY342" fmla="*/ 116577 h 259768"/>
              <a:gd name="connsiteX343" fmla="*/ 140904 w 864621"/>
              <a:gd name="connsiteY343" fmla="*/ 116577 h 259768"/>
              <a:gd name="connsiteX344" fmla="*/ 140904 w 864621"/>
              <a:gd name="connsiteY344" fmla="*/ 123296 h 259768"/>
              <a:gd name="connsiteX345" fmla="*/ 126576 w 864621"/>
              <a:gd name="connsiteY345" fmla="*/ 123296 h 259768"/>
              <a:gd name="connsiteX346" fmla="*/ 379805 w 864621"/>
              <a:gd name="connsiteY346" fmla="*/ 112284 h 259768"/>
              <a:gd name="connsiteX347" fmla="*/ 394133 w 864621"/>
              <a:gd name="connsiteY347" fmla="*/ 112284 h 259768"/>
              <a:gd name="connsiteX348" fmla="*/ 394133 w 864621"/>
              <a:gd name="connsiteY348" fmla="*/ 118811 h 259768"/>
              <a:gd name="connsiteX349" fmla="*/ 379805 w 864621"/>
              <a:gd name="connsiteY349" fmla="*/ 118811 h 259768"/>
              <a:gd name="connsiteX350" fmla="*/ 63288 w 864621"/>
              <a:gd name="connsiteY350" fmla="*/ 111202 h 259768"/>
              <a:gd name="connsiteX351" fmla="*/ 77616 w 864621"/>
              <a:gd name="connsiteY351" fmla="*/ 111202 h 259768"/>
              <a:gd name="connsiteX352" fmla="*/ 77616 w 864621"/>
              <a:gd name="connsiteY352" fmla="*/ 118043 h 259768"/>
              <a:gd name="connsiteX353" fmla="*/ 63288 w 864621"/>
              <a:gd name="connsiteY353" fmla="*/ 118043 h 259768"/>
              <a:gd name="connsiteX354" fmla="*/ 253191 w 864621"/>
              <a:gd name="connsiteY354" fmla="*/ 107363 h 259768"/>
              <a:gd name="connsiteX355" fmla="*/ 267519 w 864621"/>
              <a:gd name="connsiteY355" fmla="*/ 107363 h 259768"/>
              <a:gd name="connsiteX356" fmla="*/ 267519 w 864621"/>
              <a:gd name="connsiteY356" fmla="*/ 113925 h 259768"/>
              <a:gd name="connsiteX357" fmla="*/ 253191 w 864621"/>
              <a:gd name="connsiteY357" fmla="*/ 113925 h 259768"/>
              <a:gd name="connsiteX358" fmla="*/ 189902 w 864621"/>
              <a:gd name="connsiteY358" fmla="*/ 106717 h 259768"/>
              <a:gd name="connsiteX359" fmla="*/ 204230 w 864621"/>
              <a:gd name="connsiteY359" fmla="*/ 106717 h 259768"/>
              <a:gd name="connsiteX360" fmla="*/ 204230 w 864621"/>
              <a:gd name="connsiteY360" fmla="*/ 113419 h 259768"/>
              <a:gd name="connsiteX361" fmla="*/ 189902 w 864621"/>
              <a:gd name="connsiteY361" fmla="*/ 113419 h 259768"/>
              <a:gd name="connsiteX362" fmla="*/ 316479 w 864621"/>
              <a:gd name="connsiteY362" fmla="*/ 106630 h 259768"/>
              <a:gd name="connsiteX363" fmla="*/ 330807 w 864621"/>
              <a:gd name="connsiteY363" fmla="*/ 106630 h 259768"/>
              <a:gd name="connsiteX364" fmla="*/ 330807 w 864621"/>
              <a:gd name="connsiteY364" fmla="*/ 113349 h 259768"/>
              <a:gd name="connsiteX365" fmla="*/ 316479 w 864621"/>
              <a:gd name="connsiteY365" fmla="*/ 113349 h 259768"/>
              <a:gd name="connsiteX366" fmla="*/ 126576 w 864621"/>
              <a:gd name="connsiteY366" fmla="*/ 106630 h 259768"/>
              <a:gd name="connsiteX367" fmla="*/ 140904 w 864621"/>
              <a:gd name="connsiteY367" fmla="*/ 106630 h 259768"/>
              <a:gd name="connsiteX368" fmla="*/ 140904 w 864621"/>
              <a:gd name="connsiteY368" fmla="*/ 113349 h 259768"/>
              <a:gd name="connsiteX369" fmla="*/ 126576 w 864621"/>
              <a:gd name="connsiteY369" fmla="*/ 113349 h 259768"/>
              <a:gd name="connsiteX370" fmla="*/ 379805 w 864621"/>
              <a:gd name="connsiteY370" fmla="*/ 102721 h 259768"/>
              <a:gd name="connsiteX371" fmla="*/ 394133 w 864621"/>
              <a:gd name="connsiteY371" fmla="*/ 102721 h 259768"/>
              <a:gd name="connsiteX372" fmla="*/ 394133 w 864621"/>
              <a:gd name="connsiteY372" fmla="*/ 109247 h 259768"/>
              <a:gd name="connsiteX373" fmla="*/ 379805 w 864621"/>
              <a:gd name="connsiteY373" fmla="*/ 109247 h 259768"/>
              <a:gd name="connsiteX374" fmla="*/ 63288 w 864621"/>
              <a:gd name="connsiteY374" fmla="*/ 101028 h 259768"/>
              <a:gd name="connsiteX375" fmla="*/ 77616 w 864621"/>
              <a:gd name="connsiteY375" fmla="*/ 101028 h 259768"/>
              <a:gd name="connsiteX376" fmla="*/ 77616 w 864621"/>
              <a:gd name="connsiteY376" fmla="*/ 107869 h 259768"/>
              <a:gd name="connsiteX377" fmla="*/ 63288 w 864621"/>
              <a:gd name="connsiteY377" fmla="*/ 107869 h 259768"/>
              <a:gd name="connsiteX378" fmla="*/ 253191 w 864621"/>
              <a:gd name="connsiteY378" fmla="*/ 97747 h 259768"/>
              <a:gd name="connsiteX379" fmla="*/ 267519 w 864621"/>
              <a:gd name="connsiteY379" fmla="*/ 97747 h 259768"/>
              <a:gd name="connsiteX380" fmla="*/ 267519 w 864621"/>
              <a:gd name="connsiteY380" fmla="*/ 104309 h 259768"/>
              <a:gd name="connsiteX381" fmla="*/ 253191 w 864621"/>
              <a:gd name="connsiteY381" fmla="*/ 104309 h 259768"/>
              <a:gd name="connsiteX382" fmla="*/ 189902 w 864621"/>
              <a:gd name="connsiteY382" fmla="*/ 96822 h 259768"/>
              <a:gd name="connsiteX383" fmla="*/ 204230 w 864621"/>
              <a:gd name="connsiteY383" fmla="*/ 96822 h 259768"/>
              <a:gd name="connsiteX384" fmla="*/ 204230 w 864621"/>
              <a:gd name="connsiteY384" fmla="*/ 103523 h 259768"/>
              <a:gd name="connsiteX385" fmla="*/ 189902 w 864621"/>
              <a:gd name="connsiteY385" fmla="*/ 103523 h 259768"/>
              <a:gd name="connsiteX386" fmla="*/ 316479 w 864621"/>
              <a:gd name="connsiteY386" fmla="*/ 96665 h 259768"/>
              <a:gd name="connsiteX387" fmla="*/ 330807 w 864621"/>
              <a:gd name="connsiteY387" fmla="*/ 96665 h 259768"/>
              <a:gd name="connsiteX388" fmla="*/ 330807 w 864621"/>
              <a:gd name="connsiteY388" fmla="*/ 103384 h 259768"/>
              <a:gd name="connsiteX389" fmla="*/ 316479 w 864621"/>
              <a:gd name="connsiteY389" fmla="*/ 103384 h 259768"/>
              <a:gd name="connsiteX390" fmla="*/ 126576 w 864621"/>
              <a:gd name="connsiteY390" fmla="*/ 96665 h 259768"/>
              <a:gd name="connsiteX391" fmla="*/ 140904 w 864621"/>
              <a:gd name="connsiteY391" fmla="*/ 96665 h 259768"/>
              <a:gd name="connsiteX392" fmla="*/ 140904 w 864621"/>
              <a:gd name="connsiteY392" fmla="*/ 103384 h 259768"/>
              <a:gd name="connsiteX393" fmla="*/ 126576 w 864621"/>
              <a:gd name="connsiteY393" fmla="*/ 103384 h 259768"/>
              <a:gd name="connsiteX394" fmla="*/ 379805 w 864621"/>
              <a:gd name="connsiteY394" fmla="*/ 95251 h 259768"/>
              <a:gd name="connsiteX395" fmla="*/ 394133 w 864621"/>
              <a:gd name="connsiteY395" fmla="*/ 95251 h 259768"/>
              <a:gd name="connsiteX396" fmla="*/ 394133 w 864621"/>
              <a:gd name="connsiteY396" fmla="*/ 99492 h 259768"/>
              <a:gd name="connsiteX397" fmla="*/ 379805 w 864621"/>
              <a:gd name="connsiteY397" fmla="*/ 99492 h 259768"/>
              <a:gd name="connsiteX398" fmla="*/ 63288 w 864621"/>
              <a:gd name="connsiteY398" fmla="*/ 90853 h 259768"/>
              <a:gd name="connsiteX399" fmla="*/ 77616 w 864621"/>
              <a:gd name="connsiteY399" fmla="*/ 90853 h 259768"/>
              <a:gd name="connsiteX400" fmla="*/ 77616 w 864621"/>
              <a:gd name="connsiteY400" fmla="*/ 97694 h 259768"/>
              <a:gd name="connsiteX401" fmla="*/ 63288 w 864621"/>
              <a:gd name="connsiteY401" fmla="*/ 97694 h 259768"/>
              <a:gd name="connsiteX402" fmla="*/ 253191 w 864621"/>
              <a:gd name="connsiteY402" fmla="*/ 88131 h 259768"/>
              <a:gd name="connsiteX403" fmla="*/ 267519 w 864621"/>
              <a:gd name="connsiteY403" fmla="*/ 88131 h 259768"/>
              <a:gd name="connsiteX404" fmla="*/ 267519 w 864621"/>
              <a:gd name="connsiteY404" fmla="*/ 94693 h 259768"/>
              <a:gd name="connsiteX405" fmla="*/ 253191 w 864621"/>
              <a:gd name="connsiteY405" fmla="*/ 94693 h 259768"/>
              <a:gd name="connsiteX406" fmla="*/ 189902 w 864621"/>
              <a:gd name="connsiteY406" fmla="*/ 86909 h 259768"/>
              <a:gd name="connsiteX407" fmla="*/ 204230 w 864621"/>
              <a:gd name="connsiteY407" fmla="*/ 86909 h 259768"/>
              <a:gd name="connsiteX408" fmla="*/ 204230 w 864621"/>
              <a:gd name="connsiteY408" fmla="*/ 93611 h 259768"/>
              <a:gd name="connsiteX409" fmla="*/ 189902 w 864621"/>
              <a:gd name="connsiteY409" fmla="*/ 93611 h 259768"/>
              <a:gd name="connsiteX410" fmla="*/ 316479 w 864621"/>
              <a:gd name="connsiteY410" fmla="*/ 86717 h 259768"/>
              <a:gd name="connsiteX411" fmla="*/ 330807 w 864621"/>
              <a:gd name="connsiteY411" fmla="*/ 86717 h 259768"/>
              <a:gd name="connsiteX412" fmla="*/ 330807 w 864621"/>
              <a:gd name="connsiteY412" fmla="*/ 93436 h 259768"/>
              <a:gd name="connsiteX413" fmla="*/ 316479 w 864621"/>
              <a:gd name="connsiteY413" fmla="*/ 93436 h 259768"/>
              <a:gd name="connsiteX414" fmla="*/ 126576 w 864621"/>
              <a:gd name="connsiteY414" fmla="*/ 86717 h 259768"/>
              <a:gd name="connsiteX415" fmla="*/ 140904 w 864621"/>
              <a:gd name="connsiteY415" fmla="*/ 86717 h 259768"/>
              <a:gd name="connsiteX416" fmla="*/ 140904 w 864621"/>
              <a:gd name="connsiteY416" fmla="*/ 93436 h 259768"/>
              <a:gd name="connsiteX417" fmla="*/ 126576 w 864621"/>
              <a:gd name="connsiteY417" fmla="*/ 93436 h 259768"/>
              <a:gd name="connsiteX418" fmla="*/ 63288 w 864621"/>
              <a:gd name="connsiteY418" fmla="*/ 80679 h 259768"/>
              <a:gd name="connsiteX419" fmla="*/ 77616 w 864621"/>
              <a:gd name="connsiteY419" fmla="*/ 80679 h 259768"/>
              <a:gd name="connsiteX420" fmla="*/ 77616 w 864621"/>
              <a:gd name="connsiteY420" fmla="*/ 87520 h 259768"/>
              <a:gd name="connsiteX421" fmla="*/ 63288 w 864621"/>
              <a:gd name="connsiteY421" fmla="*/ 87520 h 259768"/>
              <a:gd name="connsiteX422" fmla="*/ 253191 w 864621"/>
              <a:gd name="connsiteY422" fmla="*/ 80644 h 259768"/>
              <a:gd name="connsiteX423" fmla="*/ 267519 w 864621"/>
              <a:gd name="connsiteY423" fmla="*/ 80644 h 259768"/>
              <a:gd name="connsiteX424" fmla="*/ 267519 w 864621"/>
              <a:gd name="connsiteY424" fmla="*/ 84885 h 259768"/>
              <a:gd name="connsiteX425" fmla="*/ 253191 w 864621"/>
              <a:gd name="connsiteY425" fmla="*/ 84885 h 259768"/>
              <a:gd name="connsiteX426" fmla="*/ 189902 w 864621"/>
              <a:gd name="connsiteY426" fmla="*/ 76997 h 259768"/>
              <a:gd name="connsiteX427" fmla="*/ 204230 w 864621"/>
              <a:gd name="connsiteY427" fmla="*/ 76997 h 259768"/>
              <a:gd name="connsiteX428" fmla="*/ 204230 w 864621"/>
              <a:gd name="connsiteY428" fmla="*/ 83698 h 259768"/>
              <a:gd name="connsiteX429" fmla="*/ 189902 w 864621"/>
              <a:gd name="connsiteY429" fmla="*/ 83698 h 259768"/>
              <a:gd name="connsiteX430" fmla="*/ 316479 w 864621"/>
              <a:gd name="connsiteY430" fmla="*/ 76770 h 259768"/>
              <a:gd name="connsiteX431" fmla="*/ 330807 w 864621"/>
              <a:gd name="connsiteY431" fmla="*/ 76770 h 259768"/>
              <a:gd name="connsiteX432" fmla="*/ 330807 w 864621"/>
              <a:gd name="connsiteY432" fmla="*/ 83489 h 259768"/>
              <a:gd name="connsiteX433" fmla="*/ 316479 w 864621"/>
              <a:gd name="connsiteY433" fmla="*/ 83489 h 259768"/>
              <a:gd name="connsiteX434" fmla="*/ 126576 w 864621"/>
              <a:gd name="connsiteY434" fmla="*/ 76770 h 259768"/>
              <a:gd name="connsiteX435" fmla="*/ 140904 w 864621"/>
              <a:gd name="connsiteY435" fmla="*/ 76770 h 259768"/>
              <a:gd name="connsiteX436" fmla="*/ 140904 w 864621"/>
              <a:gd name="connsiteY436" fmla="*/ 83489 h 259768"/>
              <a:gd name="connsiteX437" fmla="*/ 126576 w 864621"/>
              <a:gd name="connsiteY437" fmla="*/ 83489 h 259768"/>
              <a:gd name="connsiteX438" fmla="*/ 63288 w 864621"/>
              <a:gd name="connsiteY438" fmla="*/ 72878 h 259768"/>
              <a:gd name="connsiteX439" fmla="*/ 77616 w 864621"/>
              <a:gd name="connsiteY439" fmla="*/ 72878 h 259768"/>
              <a:gd name="connsiteX440" fmla="*/ 77616 w 864621"/>
              <a:gd name="connsiteY440" fmla="*/ 77119 h 259768"/>
              <a:gd name="connsiteX441" fmla="*/ 63288 w 864621"/>
              <a:gd name="connsiteY441" fmla="*/ 77119 h 259768"/>
              <a:gd name="connsiteX442" fmla="*/ 189902 w 864621"/>
              <a:gd name="connsiteY442" fmla="*/ 67102 h 259768"/>
              <a:gd name="connsiteX443" fmla="*/ 204230 w 864621"/>
              <a:gd name="connsiteY443" fmla="*/ 67102 h 259768"/>
              <a:gd name="connsiteX444" fmla="*/ 204230 w 864621"/>
              <a:gd name="connsiteY444" fmla="*/ 73803 h 259768"/>
              <a:gd name="connsiteX445" fmla="*/ 189902 w 864621"/>
              <a:gd name="connsiteY445" fmla="*/ 73803 h 259768"/>
              <a:gd name="connsiteX446" fmla="*/ 316479 w 864621"/>
              <a:gd name="connsiteY446" fmla="*/ 66805 h 259768"/>
              <a:gd name="connsiteX447" fmla="*/ 330807 w 864621"/>
              <a:gd name="connsiteY447" fmla="*/ 66805 h 259768"/>
              <a:gd name="connsiteX448" fmla="*/ 330807 w 864621"/>
              <a:gd name="connsiteY448" fmla="*/ 73524 h 259768"/>
              <a:gd name="connsiteX449" fmla="*/ 316479 w 864621"/>
              <a:gd name="connsiteY449" fmla="*/ 73524 h 259768"/>
              <a:gd name="connsiteX450" fmla="*/ 126576 w 864621"/>
              <a:gd name="connsiteY450" fmla="*/ 66805 h 259768"/>
              <a:gd name="connsiteX451" fmla="*/ 140904 w 864621"/>
              <a:gd name="connsiteY451" fmla="*/ 66805 h 259768"/>
              <a:gd name="connsiteX452" fmla="*/ 140904 w 864621"/>
              <a:gd name="connsiteY452" fmla="*/ 73524 h 259768"/>
              <a:gd name="connsiteX453" fmla="*/ 126576 w 864621"/>
              <a:gd name="connsiteY453" fmla="*/ 73524 h 259768"/>
              <a:gd name="connsiteX454" fmla="*/ 189902 w 864621"/>
              <a:gd name="connsiteY454" fmla="*/ 57189 h 259768"/>
              <a:gd name="connsiteX455" fmla="*/ 204230 w 864621"/>
              <a:gd name="connsiteY455" fmla="*/ 57189 h 259768"/>
              <a:gd name="connsiteX456" fmla="*/ 204230 w 864621"/>
              <a:gd name="connsiteY456" fmla="*/ 63891 h 259768"/>
              <a:gd name="connsiteX457" fmla="*/ 189902 w 864621"/>
              <a:gd name="connsiteY457" fmla="*/ 63891 h 259768"/>
              <a:gd name="connsiteX458" fmla="*/ 316479 w 864621"/>
              <a:gd name="connsiteY458" fmla="*/ 56858 h 259768"/>
              <a:gd name="connsiteX459" fmla="*/ 330807 w 864621"/>
              <a:gd name="connsiteY459" fmla="*/ 56858 h 259768"/>
              <a:gd name="connsiteX460" fmla="*/ 330807 w 864621"/>
              <a:gd name="connsiteY460" fmla="*/ 63577 h 259768"/>
              <a:gd name="connsiteX461" fmla="*/ 316479 w 864621"/>
              <a:gd name="connsiteY461" fmla="*/ 63577 h 259768"/>
              <a:gd name="connsiteX462" fmla="*/ 126576 w 864621"/>
              <a:gd name="connsiteY462" fmla="*/ 56858 h 259768"/>
              <a:gd name="connsiteX463" fmla="*/ 140904 w 864621"/>
              <a:gd name="connsiteY463" fmla="*/ 56858 h 259768"/>
              <a:gd name="connsiteX464" fmla="*/ 140904 w 864621"/>
              <a:gd name="connsiteY464" fmla="*/ 63577 h 259768"/>
              <a:gd name="connsiteX465" fmla="*/ 126576 w 864621"/>
              <a:gd name="connsiteY465" fmla="*/ 63577 h 259768"/>
              <a:gd name="connsiteX466" fmla="*/ 189902 w 864621"/>
              <a:gd name="connsiteY466" fmla="*/ 47277 h 259768"/>
              <a:gd name="connsiteX467" fmla="*/ 204230 w 864621"/>
              <a:gd name="connsiteY467" fmla="*/ 47277 h 259768"/>
              <a:gd name="connsiteX468" fmla="*/ 204230 w 864621"/>
              <a:gd name="connsiteY468" fmla="*/ 53978 h 259768"/>
              <a:gd name="connsiteX469" fmla="*/ 189902 w 864621"/>
              <a:gd name="connsiteY469" fmla="*/ 53978 h 259768"/>
              <a:gd name="connsiteX470" fmla="*/ 316479 w 864621"/>
              <a:gd name="connsiteY470" fmla="*/ 46910 h 259768"/>
              <a:gd name="connsiteX471" fmla="*/ 330807 w 864621"/>
              <a:gd name="connsiteY471" fmla="*/ 46910 h 259768"/>
              <a:gd name="connsiteX472" fmla="*/ 330807 w 864621"/>
              <a:gd name="connsiteY472" fmla="*/ 53629 h 259768"/>
              <a:gd name="connsiteX473" fmla="*/ 316479 w 864621"/>
              <a:gd name="connsiteY473" fmla="*/ 53629 h 259768"/>
              <a:gd name="connsiteX474" fmla="*/ 126576 w 864621"/>
              <a:gd name="connsiteY474" fmla="*/ 46910 h 259768"/>
              <a:gd name="connsiteX475" fmla="*/ 140904 w 864621"/>
              <a:gd name="connsiteY475" fmla="*/ 46910 h 259768"/>
              <a:gd name="connsiteX476" fmla="*/ 140904 w 864621"/>
              <a:gd name="connsiteY476" fmla="*/ 53629 h 259768"/>
              <a:gd name="connsiteX477" fmla="*/ 126576 w 864621"/>
              <a:gd name="connsiteY477" fmla="*/ 53629 h 259768"/>
              <a:gd name="connsiteX478" fmla="*/ 316479 w 864621"/>
              <a:gd name="connsiteY478" fmla="*/ 39232 h 259768"/>
              <a:gd name="connsiteX479" fmla="*/ 330807 w 864621"/>
              <a:gd name="connsiteY479" fmla="*/ 39232 h 259768"/>
              <a:gd name="connsiteX480" fmla="*/ 330807 w 864621"/>
              <a:gd name="connsiteY480" fmla="*/ 43472 h 259768"/>
              <a:gd name="connsiteX481" fmla="*/ 316479 w 864621"/>
              <a:gd name="connsiteY481" fmla="*/ 43472 h 259768"/>
              <a:gd name="connsiteX482" fmla="*/ 126576 w 864621"/>
              <a:gd name="connsiteY482" fmla="*/ 39232 h 259768"/>
              <a:gd name="connsiteX483" fmla="*/ 140904 w 864621"/>
              <a:gd name="connsiteY483" fmla="*/ 39232 h 259768"/>
              <a:gd name="connsiteX484" fmla="*/ 140904 w 864621"/>
              <a:gd name="connsiteY484" fmla="*/ 43472 h 259768"/>
              <a:gd name="connsiteX485" fmla="*/ 126576 w 864621"/>
              <a:gd name="connsiteY485" fmla="*/ 43472 h 259768"/>
              <a:gd name="connsiteX486" fmla="*/ 189902 w 864621"/>
              <a:gd name="connsiteY486" fmla="*/ 37364 h 259768"/>
              <a:gd name="connsiteX487" fmla="*/ 204230 w 864621"/>
              <a:gd name="connsiteY487" fmla="*/ 37364 h 259768"/>
              <a:gd name="connsiteX488" fmla="*/ 204230 w 864621"/>
              <a:gd name="connsiteY488" fmla="*/ 44066 h 259768"/>
              <a:gd name="connsiteX489" fmla="*/ 189902 w 864621"/>
              <a:gd name="connsiteY489" fmla="*/ 44066 h 259768"/>
              <a:gd name="connsiteX490" fmla="*/ 189902 w 864621"/>
              <a:gd name="connsiteY490" fmla="*/ 27469 h 259768"/>
              <a:gd name="connsiteX491" fmla="*/ 204230 w 864621"/>
              <a:gd name="connsiteY491" fmla="*/ 27469 h 259768"/>
              <a:gd name="connsiteX492" fmla="*/ 204230 w 864621"/>
              <a:gd name="connsiteY492" fmla="*/ 34171 h 259768"/>
              <a:gd name="connsiteX493" fmla="*/ 189902 w 864621"/>
              <a:gd name="connsiteY493" fmla="*/ 34171 h 259768"/>
              <a:gd name="connsiteX494" fmla="*/ 189902 w 864621"/>
              <a:gd name="connsiteY494" fmla="*/ 17557 h 259768"/>
              <a:gd name="connsiteX495" fmla="*/ 204230 w 864621"/>
              <a:gd name="connsiteY495" fmla="*/ 17557 h 259768"/>
              <a:gd name="connsiteX496" fmla="*/ 204230 w 864621"/>
              <a:gd name="connsiteY496" fmla="*/ 24258 h 259768"/>
              <a:gd name="connsiteX497" fmla="*/ 189902 w 864621"/>
              <a:gd name="connsiteY497" fmla="*/ 24258 h 259768"/>
              <a:gd name="connsiteX498" fmla="*/ 189902 w 864621"/>
              <a:gd name="connsiteY498" fmla="*/ 7644 h 259768"/>
              <a:gd name="connsiteX499" fmla="*/ 204230 w 864621"/>
              <a:gd name="connsiteY499" fmla="*/ 7644 h 259768"/>
              <a:gd name="connsiteX500" fmla="*/ 204230 w 864621"/>
              <a:gd name="connsiteY500" fmla="*/ 14346 h 259768"/>
              <a:gd name="connsiteX501" fmla="*/ 189902 w 864621"/>
              <a:gd name="connsiteY501" fmla="*/ 14346 h 259768"/>
              <a:gd name="connsiteX502" fmla="*/ 189902 w 864621"/>
              <a:gd name="connsiteY502" fmla="*/ 0 h 259768"/>
              <a:gd name="connsiteX503" fmla="*/ 204230 w 864621"/>
              <a:gd name="connsiteY503" fmla="*/ 0 h 259768"/>
              <a:gd name="connsiteX504" fmla="*/ 204230 w 864621"/>
              <a:gd name="connsiteY504" fmla="*/ 4241 h 259768"/>
              <a:gd name="connsiteX505" fmla="*/ 189902 w 864621"/>
              <a:gd name="connsiteY505" fmla="*/ 4241 h 259768"/>
            </a:gdLst>
            <a:rect l="l" t="t" r="r" b="b"/>
            <a:pathLst>
              <a:path w="864621" h="259768">
                <a:moveTo>
                  <a:pt x="189902" y="255527"/>
                </a:moveTo>
                <a:lnTo>
                  <a:pt x="204230" y="255527"/>
                </a:lnTo>
                <a:lnTo>
                  <a:pt x="204230" y="259768"/>
                </a:lnTo>
                <a:lnTo>
                  <a:pt x="189902" y="259768"/>
                </a:lnTo>
                <a:close/>
                <a:moveTo>
                  <a:pt x="189902" y="245422"/>
                </a:moveTo>
                <a:lnTo>
                  <a:pt x="204230" y="245422"/>
                </a:lnTo>
                <a:lnTo>
                  <a:pt x="204230" y="252124"/>
                </a:lnTo>
                <a:lnTo>
                  <a:pt x="189902" y="252124"/>
                </a:lnTo>
                <a:close/>
                <a:moveTo>
                  <a:pt x="189902" y="235510"/>
                </a:moveTo>
                <a:lnTo>
                  <a:pt x="204230" y="235510"/>
                </a:lnTo>
                <a:lnTo>
                  <a:pt x="204230" y="242211"/>
                </a:lnTo>
                <a:lnTo>
                  <a:pt x="189902" y="242211"/>
                </a:lnTo>
                <a:close/>
                <a:moveTo>
                  <a:pt x="189902" y="225615"/>
                </a:moveTo>
                <a:lnTo>
                  <a:pt x="204230" y="225615"/>
                </a:lnTo>
                <a:lnTo>
                  <a:pt x="204230" y="232316"/>
                </a:lnTo>
                <a:lnTo>
                  <a:pt x="189902" y="232316"/>
                </a:lnTo>
                <a:close/>
                <a:moveTo>
                  <a:pt x="316479" y="216313"/>
                </a:moveTo>
                <a:lnTo>
                  <a:pt x="330807" y="216313"/>
                </a:lnTo>
                <a:lnTo>
                  <a:pt x="330807" y="220554"/>
                </a:lnTo>
                <a:lnTo>
                  <a:pt x="316479" y="220554"/>
                </a:lnTo>
                <a:close/>
                <a:moveTo>
                  <a:pt x="126576" y="216313"/>
                </a:moveTo>
                <a:lnTo>
                  <a:pt x="140904" y="216313"/>
                </a:lnTo>
                <a:lnTo>
                  <a:pt x="140904" y="220554"/>
                </a:lnTo>
                <a:lnTo>
                  <a:pt x="126576" y="220554"/>
                </a:lnTo>
                <a:close/>
                <a:moveTo>
                  <a:pt x="189902" y="215702"/>
                </a:moveTo>
                <a:lnTo>
                  <a:pt x="204230" y="215702"/>
                </a:lnTo>
                <a:lnTo>
                  <a:pt x="204230" y="222404"/>
                </a:lnTo>
                <a:lnTo>
                  <a:pt x="189902" y="222404"/>
                </a:lnTo>
                <a:close/>
                <a:moveTo>
                  <a:pt x="316479" y="206156"/>
                </a:moveTo>
                <a:lnTo>
                  <a:pt x="330807" y="206156"/>
                </a:lnTo>
                <a:lnTo>
                  <a:pt x="330807" y="212875"/>
                </a:lnTo>
                <a:lnTo>
                  <a:pt x="316479" y="212875"/>
                </a:lnTo>
                <a:close/>
                <a:moveTo>
                  <a:pt x="126576" y="206156"/>
                </a:moveTo>
                <a:lnTo>
                  <a:pt x="140904" y="206156"/>
                </a:lnTo>
                <a:lnTo>
                  <a:pt x="140904" y="212875"/>
                </a:lnTo>
                <a:lnTo>
                  <a:pt x="126576" y="212875"/>
                </a:lnTo>
                <a:close/>
                <a:moveTo>
                  <a:pt x="189902" y="205790"/>
                </a:moveTo>
                <a:lnTo>
                  <a:pt x="204230" y="205790"/>
                </a:lnTo>
                <a:lnTo>
                  <a:pt x="204230" y="212491"/>
                </a:lnTo>
                <a:lnTo>
                  <a:pt x="189902" y="212491"/>
                </a:lnTo>
                <a:close/>
                <a:moveTo>
                  <a:pt x="316479" y="196209"/>
                </a:moveTo>
                <a:lnTo>
                  <a:pt x="330807" y="196209"/>
                </a:lnTo>
                <a:lnTo>
                  <a:pt x="330807" y="202928"/>
                </a:lnTo>
                <a:lnTo>
                  <a:pt x="316479" y="202928"/>
                </a:lnTo>
                <a:close/>
                <a:moveTo>
                  <a:pt x="126576" y="196209"/>
                </a:moveTo>
                <a:lnTo>
                  <a:pt x="140904" y="196209"/>
                </a:lnTo>
                <a:lnTo>
                  <a:pt x="140904" y="202928"/>
                </a:lnTo>
                <a:lnTo>
                  <a:pt x="126576" y="202928"/>
                </a:lnTo>
                <a:close/>
                <a:moveTo>
                  <a:pt x="189902" y="195877"/>
                </a:moveTo>
                <a:lnTo>
                  <a:pt x="204230" y="195877"/>
                </a:lnTo>
                <a:lnTo>
                  <a:pt x="204230" y="202579"/>
                </a:lnTo>
                <a:lnTo>
                  <a:pt x="189902" y="202579"/>
                </a:lnTo>
                <a:close/>
                <a:moveTo>
                  <a:pt x="316479" y="186244"/>
                </a:moveTo>
                <a:lnTo>
                  <a:pt x="330807" y="186244"/>
                </a:lnTo>
                <a:lnTo>
                  <a:pt x="330807" y="192963"/>
                </a:lnTo>
                <a:lnTo>
                  <a:pt x="316479" y="192963"/>
                </a:lnTo>
                <a:close/>
                <a:moveTo>
                  <a:pt x="126576" y="186244"/>
                </a:moveTo>
                <a:lnTo>
                  <a:pt x="140904" y="186244"/>
                </a:lnTo>
                <a:lnTo>
                  <a:pt x="140904" y="192963"/>
                </a:lnTo>
                <a:lnTo>
                  <a:pt x="126576" y="192963"/>
                </a:lnTo>
                <a:close/>
                <a:moveTo>
                  <a:pt x="189902" y="185982"/>
                </a:moveTo>
                <a:lnTo>
                  <a:pt x="204230" y="185982"/>
                </a:lnTo>
                <a:lnTo>
                  <a:pt x="204230" y="192684"/>
                </a:lnTo>
                <a:lnTo>
                  <a:pt x="189902" y="192684"/>
                </a:lnTo>
                <a:close/>
                <a:moveTo>
                  <a:pt x="63288" y="182649"/>
                </a:moveTo>
                <a:lnTo>
                  <a:pt x="77616" y="182649"/>
                </a:lnTo>
                <a:lnTo>
                  <a:pt x="77616" y="186890"/>
                </a:lnTo>
                <a:lnTo>
                  <a:pt x="63288" y="186890"/>
                </a:lnTo>
                <a:close/>
                <a:moveTo>
                  <a:pt x="316479" y="176297"/>
                </a:moveTo>
                <a:lnTo>
                  <a:pt x="330807" y="176297"/>
                </a:lnTo>
                <a:lnTo>
                  <a:pt x="330807" y="183015"/>
                </a:lnTo>
                <a:lnTo>
                  <a:pt x="316479" y="183015"/>
                </a:lnTo>
                <a:close/>
                <a:moveTo>
                  <a:pt x="126576" y="176297"/>
                </a:moveTo>
                <a:lnTo>
                  <a:pt x="140904" y="176297"/>
                </a:lnTo>
                <a:lnTo>
                  <a:pt x="140904" y="183015"/>
                </a:lnTo>
                <a:lnTo>
                  <a:pt x="126576" y="183015"/>
                </a:lnTo>
                <a:close/>
                <a:moveTo>
                  <a:pt x="189902" y="176070"/>
                </a:moveTo>
                <a:lnTo>
                  <a:pt x="204230" y="176070"/>
                </a:lnTo>
                <a:lnTo>
                  <a:pt x="204230" y="182771"/>
                </a:lnTo>
                <a:lnTo>
                  <a:pt x="189902" y="182771"/>
                </a:lnTo>
                <a:close/>
                <a:moveTo>
                  <a:pt x="253191" y="174900"/>
                </a:moveTo>
                <a:lnTo>
                  <a:pt x="267519" y="174900"/>
                </a:lnTo>
                <a:lnTo>
                  <a:pt x="267519" y="179141"/>
                </a:lnTo>
                <a:lnTo>
                  <a:pt x="253191" y="179141"/>
                </a:lnTo>
                <a:close/>
                <a:moveTo>
                  <a:pt x="63288" y="172248"/>
                </a:moveTo>
                <a:lnTo>
                  <a:pt x="77616" y="172248"/>
                </a:lnTo>
                <a:lnTo>
                  <a:pt x="77616" y="179089"/>
                </a:lnTo>
                <a:lnTo>
                  <a:pt x="63288" y="179089"/>
                </a:lnTo>
                <a:close/>
                <a:moveTo>
                  <a:pt x="316479" y="166349"/>
                </a:moveTo>
                <a:lnTo>
                  <a:pt x="330807" y="166349"/>
                </a:lnTo>
                <a:lnTo>
                  <a:pt x="330807" y="173068"/>
                </a:lnTo>
                <a:lnTo>
                  <a:pt x="316479" y="173068"/>
                </a:lnTo>
                <a:close/>
                <a:moveTo>
                  <a:pt x="126576" y="166349"/>
                </a:moveTo>
                <a:lnTo>
                  <a:pt x="140904" y="166349"/>
                </a:lnTo>
                <a:lnTo>
                  <a:pt x="140904" y="173068"/>
                </a:lnTo>
                <a:lnTo>
                  <a:pt x="126576" y="173068"/>
                </a:lnTo>
                <a:close/>
                <a:moveTo>
                  <a:pt x="189902" y="166157"/>
                </a:moveTo>
                <a:lnTo>
                  <a:pt x="204230" y="166157"/>
                </a:lnTo>
                <a:lnTo>
                  <a:pt x="204230" y="172859"/>
                </a:lnTo>
                <a:lnTo>
                  <a:pt x="189902" y="172859"/>
                </a:lnTo>
                <a:close/>
                <a:moveTo>
                  <a:pt x="253191" y="165075"/>
                </a:moveTo>
                <a:lnTo>
                  <a:pt x="267519" y="165075"/>
                </a:lnTo>
                <a:lnTo>
                  <a:pt x="267519" y="171637"/>
                </a:lnTo>
                <a:lnTo>
                  <a:pt x="253191" y="171637"/>
                </a:lnTo>
                <a:close/>
                <a:moveTo>
                  <a:pt x="63288" y="162074"/>
                </a:moveTo>
                <a:lnTo>
                  <a:pt x="77616" y="162074"/>
                </a:lnTo>
                <a:lnTo>
                  <a:pt x="77616" y="168915"/>
                </a:lnTo>
                <a:lnTo>
                  <a:pt x="63288" y="168915"/>
                </a:lnTo>
                <a:close/>
                <a:moveTo>
                  <a:pt x="379805" y="160293"/>
                </a:moveTo>
                <a:lnTo>
                  <a:pt x="394133" y="160293"/>
                </a:lnTo>
                <a:lnTo>
                  <a:pt x="394133" y="164534"/>
                </a:lnTo>
                <a:lnTo>
                  <a:pt x="379805" y="164534"/>
                </a:lnTo>
                <a:close/>
                <a:moveTo>
                  <a:pt x="316479" y="156384"/>
                </a:moveTo>
                <a:lnTo>
                  <a:pt x="330807" y="156384"/>
                </a:lnTo>
                <a:lnTo>
                  <a:pt x="330807" y="163103"/>
                </a:lnTo>
                <a:lnTo>
                  <a:pt x="316479" y="163103"/>
                </a:lnTo>
                <a:close/>
                <a:moveTo>
                  <a:pt x="126576" y="156384"/>
                </a:moveTo>
                <a:lnTo>
                  <a:pt x="140904" y="156384"/>
                </a:lnTo>
                <a:lnTo>
                  <a:pt x="140904" y="163103"/>
                </a:lnTo>
                <a:lnTo>
                  <a:pt x="126576" y="163103"/>
                </a:lnTo>
                <a:close/>
                <a:moveTo>
                  <a:pt x="189902" y="156262"/>
                </a:moveTo>
                <a:lnTo>
                  <a:pt x="204230" y="156262"/>
                </a:lnTo>
                <a:lnTo>
                  <a:pt x="204230" y="162963"/>
                </a:lnTo>
                <a:lnTo>
                  <a:pt x="189902" y="162963"/>
                </a:lnTo>
                <a:close/>
                <a:moveTo>
                  <a:pt x="253191" y="155459"/>
                </a:moveTo>
                <a:lnTo>
                  <a:pt x="267519" y="155459"/>
                </a:lnTo>
                <a:lnTo>
                  <a:pt x="267519" y="162021"/>
                </a:lnTo>
                <a:lnTo>
                  <a:pt x="253191" y="162021"/>
                </a:lnTo>
                <a:close/>
                <a:moveTo>
                  <a:pt x="63288" y="151917"/>
                </a:moveTo>
                <a:lnTo>
                  <a:pt x="77616" y="151917"/>
                </a:lnTo>
                <a:lnTo>
                  <a:pt x="77616" y="158740"/>
                </a:lnTo>
                <a:lnTo>
                  <a:pt x="63288" y="158740"/>
                </a:lnTo>
                <a:close/>
                <a:moveTo>
                  <a:pt x="379805" y="150538"/>
                </a:moveTo>
                <a:lnTo>
                  <a:pt x="394133" y="150538"/>
                </a:lnTo>
                <a:lnTo>
                  <a:pt x="394133" y="157065"/>
                </a:lnTo>
                <a:lnTo>
                  <a:pt x="379805" y="157065"/>
                </a:lnTo>
                <a:close/>
                <a:moveTo>
                  <a:pt x="316479" y="146437"/>
                </a:moveTo>
                <a:lnTo>
                  <a:pt x="330807" y="146437"/>
                </a:lnTo>
                <a:lnTo>
                  <a:pt x="330807" y="153156"/>
                </a:lnTo>
                <a:lnTo>
                  <a:pt x="316479" y="153156"/>
                </a:lnTo>
                <a:close/>
                <a:moveTo>
                  <a:pt x="126576" y="146437"/>
                </a:moveTo>
                <a:lnTo>
                  <a:pt x="140904" y="146437"/>
                </a:lnTo>
                <a:lnTo>
                  <a:pt x="140904" y="153156"/>
                </a:lnTo>
                <a:lnTo>
                  <a:pt x="126576" y="153156"/>
                </a:lnTo>
                <a:close/>
                <a:moveTo>
                  <a:pt x="189902" y="146350"/>
                </a:moveTo>
                <a:lnTo>
                  <a:pt x="204230" y="146350"/>
                </a:lnTo>
                <a:lnTo>
                  <a:pt x="204230" y="153051"/>
                </a:lnTo>
                <a:lnTo>
                  <a:pt x="189902" y="153051"/>
                </a:lnTo>
                <a:close/>
                <a:moveTo>
                  <a:pt x="253191" y="145844"/>
                </a:moveTo>
                <a:lnTo>
                  <a:pt x="267519" y="145844"/>
                </a:lnTo>
                <a:lnTo>
                  <a:pt x="267519" y="152405"/>
                </a:lnTo>
                <a:lnTo>
                  <a:pt x="253191" y="152405"/>
                </a:lnTo>
                <a:close/>
                <a:moveTo>
                  <a:pt x="63288" y="141725"/>
                </a:moveTo>
                <a:lnTo>
                  <a:pt x="77616" y="141725"/>
                </a:lnTo>
                <a:lnTo>
                  <a:pt x="77616" y="148566"/>
                </a:lnTo>
                <a:lnTo>
                  <a:pt x="63288" y="148566"/>
                </a:lnTo>
                <a:close/>
                <a:moveTo>
                  <a:pt x="379805" y="140974"/>
                </a:moveTo>
                <a:lnTo>
                  <a:pt x="394133" y="140974"/>
                </a:lnTo>
                <a:lnTo>
                  <a:pt x="394133" y="147501"/>
                </a:lnTo>
                <a:lnTo>
                  <a:pt x="379805" y="147501"/>
                </a:lnTo>
                <a:close/>
                <a:moveTo>
                  <a:pt x="443094" y="138112"/>
                </a:moveTo>
                <a:lnTo>
                  <a:pt x="457422" y="138112"/>
                </a:lnTo>
                <a:lnTo>
                  <a:pt x="457422" y="142353"/>
                </a:lnTo>
                <a:lnTo>
                  <a:pt x="443094" y="142353"/>
                </a:lnTo>
                <a:close/>
                <a:moveTo>
                  <a:pt x="316479" y="136489"/>
                </a:moveTo>
                <a:lnTo>
                  <a:pt x="330807" y="136489"/>
                </a:lnTo>
                <a:lnTo>
                  <a:pt x="330807" y="143208"/>
                </a:lnTo>
                <a:lnTo>
                  <a:pt x="316479" y="143208"/>
                </a:lnTo>
                <a:close/>
                <a:moveTo>
                  <a:pt x="126576" y="136489"/>
                </a:moveTo>
                <a:lnTo>
                  <a:pt x="140904" y="136489"/>
                </a:lnTo>
                <a:lnTo>
                  <a:pt x="140904" y="143208"/>
                </a:lnTo>
                <a:lnTo>
                  <a:pt x="126576" y="143208"/>
                </a:lnTo>
                <a:close/>
                <a:moveTo>
                  <a:pt x="189902" y="136437"/>
                </a:moveTo>
                <a:lnTo>
                  <a:pt x="204230" y="136437"/>
                </a:lnTo>
                <a:lnTo>
                  <a:pt x="204230" y="143138"/>
                </a:lnTo>
                <a:lnTo>
                  <a:pt x="189902" y="143138"/>
                </a:lnTo>
                <a:close/>
                <a:moveTo>
                  <a:pt x="253191" y="136228"/>
                </a:moveTo>
                <a:lnTo>
                  <a:pt x="267519" y="136228"/>
                </a:lnTo>
                <a:lnTo>
                  <a:pt x="267519" y="142789"/>
                </a:lnTo>
                <a:lnTo>
                  <a:pt x="253191" y="142789"/>
                </a:lnTo>
                <a:close/>
                <a:moveTo>
                  <a:pt x="0" y="134587"/>
                </a:moveTo>
                <a:lnTo>
                  <a:pt x="14328" y="134587"/>
                </a:lnTo>
                <a:lnTo>
                  <a:pt x="14328" y="138828"/>
                </a:lnTo>
                <a:lnTo>
                  <a:pt x="0" y="138828"/>
                </a:lnTo>
                <a:close/>
                <a:moveTo>
                  <a:pt x="63288" y="131551"/>
                </a:moveTo>
                <a:lnTo>
                  <a:pt x="77616" y="131551"/>
                </a:lnTo>
                <a:lnTo>
                  <a:pt x="77616" y="138392"/>
                </a:lnTo>
                <a:lnTo>
                  <a:pt x="63288" y="138392"/>
                </a:lnTo>
                <a:close/>
                <a:moveTo>
                  <a:pt x="379805" y="131411"/>
                </a:moveTo>
                <a:lnTo>
                  <a:pt x="394133" y="131411"/>
                </a:lnTo>
                <a:lnTo>
                  <a:pt x="394133" y="137938"/>
                </a:lnTo>
                <a:lnTo>
                  <a:pt x="379805" y="137938"/>
                </a:lnTo>
                <a:close/>
                <a:moveTo>
                  <a:pt x="856418" y="128985"/>
                </a:moveTo>
                <a:lnTo>
                  <a:pt x="864621" y="129003"/>
                </a:lnTo>
                <a:lnTo>
                  <a:pt x="864621" y="130748"/>
                </a:lnTo>
                <a:lnTo>
                  <a:pt x="854562" y="130800"/>
                </a:lnTo>
                <a:lnTo>
                  <a:pt x="854562" y="129038"/>
                </a:lnTo>
                <a:close/>
                <a:moveTo>
                  <a:pt x="836856" y="128916"/>
                </a:moveTo>
                <a:lnTo>
                  <a:pt x="846952" y="128950"/>
                </a:lnTo>
                <a:lnTo>
                  <a:pt x="846952" y="130678"/>
                </a:lnTo>
                <a:lnTo>
                  <a:pt x="845096" y="130835"/>
                </a:lnTo>
                <a:lnTo>
                  <a:pt x="836856" y="130853"/>
                </a:lnTo>
                <a:close/>
                <a:moveTo>
                  <a:pt x="819187" y="128846"/>
                </a:moveTo>
                <a:lnTo>
                  <a:pt x="829283" y="128881"/>
                </a:lnTo>
                <a:lnTo>
                  <a:pt x="829283" y="130888"/>
                </a:lnTo>
                <a:lnTo>
                  <a:pt x="819187" y="130923"/>
                </a:lnTo>
                <a:close/>
                <a:moveTo>
                  <a:pt x="801518" y="128793"/>
                </a:moveTo>
                <a:lnTo>
                  <a:pt x="811578" y="128811"/>
                </a:lnTo>
                <a:lnTo>
                  <a:pt x="811578" y="130957"/>
                </a:lnTo>
                <a:lnTo>
                  <a:pt x="801518" y="130992"/>
                </a:lnTo>
                <a:close/>
                <a:moveTo>
                  <a:pt x="783812" y="128724"/>
                </a:moveTo>
                <a:lnTo>
                  <a:pt x="793909" y="128758"/>
                </a:lnTo>
                <a:lnTo>
                  <a:pt x="793909" y="131027"/>
                </a:lnTo>
                <a:lnTo>
                  <a:pt x="783812" y="131045"/>
                </a:lnTo>
                <a:close/>
                <a:moveTo>
                  <a:pt x="766143" y="128654"/>
                </a:moveTo>
                <a:lnTo>
                  <a:pt x="776240" y="128689"/>
                </a:lnTo>
                <a:lnTo>
                  <a:pt x="776240" y="131080"/>
                </a:lnTo>
                <a:lnTo>
                  <a:pt x="766143" y="131114"/>
                </a:lnTo>
                <a:close/>
                <a:moveTo>
                  <a:pt x="748475" y="128601"/>
                </a:moveTo>
                <a:lnTo>
                  <a:pt x="758534" y="128619"/>
                </a:lnTo>
                <a:lnTo>
                  <a:pt x="758534" y="131149"/>
                </a:lnTo>
                <a:lnTo>
                  <a:pt x="748475" y="131184"/>
                </a:lnTo>
                <a:close/>
                <a:moveTo>
                  <a:pt x="730768" y="128532"/>
                </a:moveTo>
                <a:lnTo>
                  <a:pt x="740865" y="128566"/>
                </a:lnTo>
                <a:lnTo>
                  <a:pt x="740865" y="131219"/>
                </a:lnTo>
                <a:lnTo>
                  <a:pt x="730768" y="131237"/>
                </a:lnTo>
                <a:close/>
                <a:moveTo>
                  <a:pt x="713100" y="128462"/>
                </a:moveTo>
                <a:lnTo>
                  <a:pt x="723196" y="128497"/>
                </a:lnTo>
                <a:lnTo>
                  <a:pt x="723196" y="131271"/>
                </a:lnTo>
                <a:lnTo>
                  <a:pt x="713100" y="131306"/>
                </a:lnTo>
                <a:close/>
                <a:moveTo>
                  <a:pt x="695431" y="128409"/>
                </a:moveTo>
                <a:lnTo>
                  <a:pt x="705490" y="128444"/>
                </a:lnTo>
                <a:lnTo>
                  <a:pt x="705490" y="131341"/>
                </a:lnTo>
                <a:lnTo>
                  <a:pt x="695431" y="131376"/>
                </a:lnTo>
                <a:close/>
                <a:moveTo>
                  <a:pt x="677725" y="128340"/>
                </a:moveTo>
                <a:lnTo>
                  <a:pt x="687821" y="128374"/>
                </a:lnTo>
                <a:lnTo>
                  <a:pt x="687821" y="131411"/>
                </a:lnTo>
                <a:lnTo>
                  <a:pt x="677725" y="131428"/>
                </a:lnTo>
                <a:close/>
                <a:moveTo>
                  <a:pt x="660056" y="128287"/>
                </a:moveTo>
                <a:lnTo>
                  <a:pt x="670152" y="128305"/>
                </a:lnTo>
                <a:lnTo>
                  <a:pt x="670152" y="131463"/>
                </a:lnTo>
                <a:lnTo>
                  <a:pt x="660056" y="131498"/>
                </a:lnTo>
                <a:close/>
                <a:moveTo>
                  <a:pt x="642387" y="128217"/>
                </a:moveTo>
                <a:lnTo>
                  <a:pt x="652447" y="128252"/>
                </a:lnTo>
                <a:lnTo>
                  <a:pt x="652447" y="131533"/>
                </a:lnTo>
                <a:lnTo>
                  <a:pt x="642387" y="131568"/>
                </a:lnTo>
                <a:close/>
                <a:moveTo>
                  <a:pt x="624681" y="128147"/>
                </a:moveTo>
                <a:lnTo>
                  <a:pt x="634778" y="128182"/>
                </a:lnTo>
                <a:lnTo>
                  <a:pt x="634778" y="131603"/>
                </a:lnTo>
                <a:lnTo>
                  <a:pt x="624681" y="131620"/>
                </a:lnTo>
                <a:close/>
                <a:moveTo>
                  <a:pt x="607013" y="128095"/>
                </a:moveTo>
                <a:lnTo>
                  <a:pt x="617072" y="128130"/>
                </a:lnTo>
                <a:lnTo>
                  <a:pt x="617072" y="131673"/>
                </a:lnTo>
                <a:lnTo>
                  <a:pt x="607013" y="131690"/>
                </a:lnTo>
                <a:close/>
                <a:moveTo>
                  <a:pt x="589344" y="128025"/>
                </a:moveTo>
                <a:lnTo>
                  <a:pt x="599403" y="128060"/>
                </a:lnTo>
                <a:lnTo>
                  <a:pt x="599403" y="131725"/>
                </a:lnTo>
                <a:lnTo>
                  <a:pt x="589344" y="131760"/>
                </a:lnTo>
                <a:close/>
                <a:moveTo>
                  <a:pt x="571638" y="127956"/>
                </a:moveTo>
                <a:lnTo>
                  <a:pt x="581697" y="127991"/>
                </a:lnTo>
                <a:lnTo>
                  <a:pt x="581697" y="131778"/>
                </a:lnTo>
                <a:lnTo>
                  <a:pt x="571638" y="131812"/>
                </a:lnTo>
                <a:close/>
                <a:moveTo>
                  <a:pt x="553969" y="127903"/>
                </a:moveTo>
                <a:lnTo>
                  <a:pt x="564028" y="127938"/>
                </a:lnTo>
                <a:lnTo>
                  <a:pt x="564028" y="131865"/>
                </a:lnTo>
                <a:lnTo>
                  <a:pt x="553969" y="131882"/>
                </a:lnTo>
                <a:close/>
                <a:moveTo>
                  <a:pt x="536300" y="127833"/>
                </a:moveTo>
                <a:lnTo>
                  <a:pt x="546360" y="127868"/>
                </a:lnTo>
                <a:lnTo>
                  <a:pt x="546360" y="131917"/>
                </a:lnTo>
                <a:lnTo>
                  <a:pt x="536300" y="131952"/>
                </a:lnTo>
                <a:close/>
                <a:moveTo>
                  <a:pt x="518594" y="127764"/>
                </a:moveTo>
                <a:lnTo>
                  <a:pt x="528654" y="127799"/>
                </a:lnTo>
                <a:lnTo>
                  <a:pt x="528654" y="131987"/>
                </a:lnTo>
                <a:lnTo>
                  <a:pt x="518594" y="132004"/>
                </a:lnTo>
                <a:close/>
                <a:moveTo>
                  <a:pt x="500926" y="127711"/>
                </a:moveTo>
                <a:lnTo>
                  <a:pt x="510985" y="127746"/>
                </a:lnTo>
                <a:lnTo>
                  <a:pt x="510985" y="132057"/>
                </a:lnTo>
                <a:lnTo>
                  <a:pt x="500926" y="132074"/>
                </a:lnTo>
                <a:close/>
                <a:moveTo>
                  <a:pt x="483219" y="127624"/>
                </a:moveTo>
                <a:lnTo>
                  <a:pt x="493279" y="127659"/>
                </a:lnTo>
                <a:lnTo>
                  <a:pt x="493279" y="132092"/>
                </a:lnTo>
                <a:lnTo>
                  <a:pt x="483219" y="132126"/>
                </a:lnTo>
                <a:close/>
                <a:moveTo>
                  <a:pt x="465551" y="127572"/>
                </a:moveTo>
                <a:lnTo>
                  <a:pt x="475610" y="127607"/>
                </a:lnTo>
                <a:lnTo>
                  <a:pt x="475610" y="132161"/>
                </a:lnTo>
                <a:lnTo>
                  <a:pt x="465551" y="132196"/>
                </a:lnTo>
                <a:close/>
                <a:moveTo>
                  <a:pt x="0" y="127188"/>
                </a:moveTo>
                <a:lnTo>
                  <a:pt x="14328" y="127188"/>
                </a:lnTo>
                <a:lnTo>
                  <a:pt x="14328" y="132580"/>
                </a:lnTo>
                <a:lnTo>
                  <a:pt x="0" y="132580"/>
                </a:lnTo>
                <a:close/>
                <a:moveTo>
                  <a:pt x="253191" y="126612"/>
                </a:moveTo>
                <a:lnTo>
                  <a:pt x="267519" y="126612"/>
                </a:lnTo>
                <a:lnTo>
                  <a:pt x="267519" y="133174"/>
                </a:lnTo>
                <a:lnTo>
                  <a:pt x="253191" y="133174"/>
                </a:lnTo>
                <a:close/>
                <a:moveTo>
                  <a:pt x="189902" y="126542"/>
                </a:moveTo>
                <a:lnTo>
                  <a:pt x="204230" y="126542"/>
                </a:lnTo>
                <a:lnTo>
                  <a:pt x="204230" y="133244"/>
                </a:lnTo>
                <a:lnTo>
                  <a:pt x="189902" y="133244"/>
                </a:lnTo>
                <a:close/>
                <a:moveTo>
                  <a:pt x="316479" y="126525"/>
                </a:moveTo>
                <a:lnTo>
                  <a:pt x="330807" y="126525"/>
                </a:lnTo>
                <a:lnTo>
                  <a:pt x="330807" y="133243"/>
                </a:lnTo>
                <a:lnTo>
                  <a:pt x="316479" y="133243"/>
                </a:lnTo>
                <a:close/>
                <a:moveTo>
                  <a:pt x="126576" y="126525"/>
                </a:moveTo>
                <a:lnTo>
                  <a:pt x="140904" y="126525"/>
                </a:lnTo>
                <a:lnTo>
                  <a:pt x="140904" y="133243"/>
                </a:lnTo>
                <a:lnTo>
                  <a:pt x="126576" y="133243"/>
                </a:lnTo>
                <a:close/>
                <a:moveTo>
                  <a:pt x="443019" y="126071"/>
                </a:moveTo>
                <a:lnTo>
                  <a:pt x="457347" y="126071"/>
                </a:lnTo>
                <a:lnTo>
                  <a:pt x="457347" y="127537"/>
                </a:lnTo>
                <a:lnTo>
                  <a:pt x="458424" y="127537"/>
                </a:lnTo>
                <a:lnTo>
                  <a:pt x="458424" y="132231"/>
                </a:lnTo>
                <a:lnTo>
                  <a:pt x="457347" y="132231"/>
                </a:lnTo>
                <a:lnTo>
                  <a:pt x="457347" y="133697"/>
                </a:lnTo>
                <a:lnTo>
                  <a:pt x="443019" y="133697"/>
                </a:lnTo>
                <a:close/>
                <a:moveTo>
                  <a:pt x="379805" y="121848"/>
                </a:moveTo>
                <a:lnTo>
                  <a:pt x="394133" y="121848"/>
                </a:lnTo>
                <a:lnTo>
                  <a:pt x="394133" y="128374"/>
                </a:lnTo>
                <a:lnTo>
                  <a:pt x="379805" y="128374"/>
                </a:lnTo>
                <a:close/>
                <a:moveTo>
                  <a:pt x="63288" y="121376"/>
                </a:moveTo>
                <a:lnTo>
                  <a:pt x="77616" y="121376"/>
                </a:lnTo>
                <a:lnTo>
                  <a:pt x="77616" y="128217"/>
                </a:lnTo>
                <a:lnTo>
                  <a:pt x="63288" y="128217"/>
                </a:lnTo>
                <a:close/>
                <a:moveTo>
                  <a:pt x="0" y="120958"/>
                </a:moveTo>
                <a:lnTo>
                  <a:pt x="14328" y="120958"/>
                </a:lnTo>
                <a:lnTo>
                  <a:pt x="14328" y="125198"/>
                </a:lnTo>
                <a:lnTo>
                  <a:pt x="0" y="125198"/>
                </a:lnTo>
                <a:close/>
                <a:moveTo>
                  <a:pt x="443094" y="117432"/>
                </a:moveTo>
                <a:lnTo>
                  <a:pt x="457422" y="117432"/>
                </a:lnTo>
                <a:lnTo>
                  <a:pt x="457422" y="121673"/>
                </a:lnTo>
                <a:lnTo>
                  <a:pt x="443094" y="121673"/>
                </a:lnTo>
                <a:close/>
                <a:moveTo>
                  <a:pt x="253191" y="116978"/>
                </a:moveTo>
                <a:lnTo>
                  <a:pt x="267519" y="116978"/>
                </a:lnTo>
                <a:lnTo>
                  <a:pt x="267519" y="123540"/>
                </a:lnTo>
                <a:lnTo>
                  <a:pt x="253191" y="123540"/>
                </a:lnTo>
                <a:close/>
                <a:moveTo>
                  <a:pt x="189902" y="116630"/>
                </a:moveTo>
                <a:lnTo>
                  <a:pt x="204230" y="116630"/>
                </a:lnTo>
                <a:lnTo>
                  <a:pt x="204230" y="123331"/>
                </a:lnTo>
                <a:lnTo>
                  <a:pt x="189902" y="123331"/>
                </a:lnTo>
                <a:close/>
                <a:moveTo>
                  <a:pt x="316479" y="116577"/>
                </a:moveTo>
                <a:lnTo>
                  <a:pt x="330807" y="116577"/>
                </a:lnTo>
                <a:lnTo>
                  <a:pt x="330807" y="123296"/>
                </a:lnTo>
                <a:lnTo>
                  <a:pt x="316479" y="123296"/>
                </a:lnTo>
                <a:close/>
                <a:moveTo>
                  <a:pt x="126576" y="116577"/>
                </a:moveTo>
                <a:lnTo>
                  <a:pt x="140904" y="116577"/>
                </a:lnTo>
                <a:lnTo>
                  <a:pt x="140904" y="123296"/>
                </a:lnTo>
                <a:lnTo>
                  <a:pt x="126576" y="123296"/>
                </a:lnTo>
                <a:close/>
                <a:moveTo>
                  <a:pt x="379805" y="112284"/>
                </a:moveTo>
                <a:lnTo>
                  <a:pt x="394133" y="112284"/>
                </a:lnTo>
                <a:lnTo>
                  <a:pt x="394133" y="118811"/>
                </a:lnTo>
                <a:lnTo>
                  <a:pt x="379805" y="118811"/>
                </a:lnTo>
                <a:close/>
                <a:moveTo>
                  <a:pt x="63288" y="111202"/>
                </a:moveTo>
                <a:lnTo>
                  <a:pt x="77616" y="111202"/>
                </a:lnTo>
                <a:lnTo>
                  <a:pt x="77616" y="118043"/>
                </a:lnTo>
                <a:lnTo>
                  <a:pt x="63288" y="118043"/>
                </a:lnTo>
                <a:close/>
                <a:moveTo>
                  <a:pt x="253191" y="107363"/>
                </a:moveTo>
                <a:lnTo>
                  <a:pt x="267519" y="107363"/>
                </a:lnTo>
                <a:lnTo>
                  <a:pt x="267519" y="113925"/>
                </a:lnTo>
                <a:lnTo>
                  <a:pt x="253191" y="113925"/>
                </a:lnTo>
                <a:close/>
                <a:moveTo>
                  <a:pt x="189902" y="106717"/>
                </a:moveTo>
                <a:lnTo>
                  <a:pt x="204230" y="106717"/>
                </a:lnTo>
                <a:lnTo>
                  <a:pt x="204230" y="113419"/>
                </a:lnTo>
                <a:lnTo>
                  <a:pt x="189902" y="113419"/>
                </a:lnTo>
                <a:close/>
                <a:moveTo>
                  <a:pt x="316479" y="106630"/>
                </a:moveTo>
                <a:lnTo>
                  <a:pt x="330807" y="106630"/>
                </a:lnTo>
                <a:lnTo>
                  <a:pt x="330807" y="113349"/>
                </a:lnTo>
                <a:lnTo>
                  <a:pt x="316479" y="113349"/>
                </a:lnTo>
                <a:close/>
                <a:moveTo>
                  <a:pt x="126576" y="106630"/>
                </a:moveTo>
                <a:lnTo>
                  <a:pt x="140904" y="106630"/>
                </a:lnTo>
                <a:lnTo>
                  <a:pt x="140904" y="113349"/>
                </a:lnTo>
                <a:lnTo>
                  <a:pt x="126576" y="113349"/>
                </a:lnTo>
                <a:close/>
                <a:moveTo>
                  <a:pt x="379805" y="102721"/>
                </a:moveTo>
                <a:lnTo>
                  <a:pt x="394133" y="102721"/>
                </a:lnTo>
                <a:lnTo>
                  <a:pt x="394133" y="109247"/>
                </a:lnTo>
                <a:lnTo>
                  <a:pt x="379805" y="109247"/>
                </a:lnTo>
                <a:close/>
                <a:moveTo>
                  <a:pt x="63288" y="101028"/>
                </a:moveTo>
                <a:lnTo>
                  <a:pt x="77616" y="101028"/>
                </a:lnTo>
                <a:lnTo>
                  <a:pt x="77616" y="107869"/>
                </a:lnTo>
                <a:lnTo>
                  <a:pt x="63288" y="107869"/>
                </a:lnTo>
                <a:close/>
                <a:moveTo>
                  <a:pt x="253191" y="97747"/>
                </a:moveTo>
                <a:lnTo>
                  <a:pt x="267519" y="97747"/>
                </a:lnTo>
                <a:lnTo>
                  <a:pt x="267519" y="104309"/>
                </a:lnTo>
                <a:lnTo>
                  <a:pt x="253191" y="104309"/>
                </a:lnTo>
                <a:close/>
                <a:moveTo>
                  <a:pt x="189902" y="96822"/>
                </a:moveTo>
                <a:lnTo>
                  <a:pt x="204230" y="96822"/>
                </a:lnTo>
                <a:lnTo>
                  <a:pt x="204230" y="103523"/>
                </a:lnTo>
                <a:lnTo>
                  <a:pt x="189902" y="103523"/>
                </a:lnTo>
                <a:close/>
                <a:moveTo>
                  <a:pt x="316479" y="96665"/>
                </a:moveTo>
                <a:lnTo>
                  <a:pt x="330807" y="96665"/>
                </a:lnTo>
                <a:lnTo>
                  <a:pt x="330807" y="103384"/>
                </a:lnTo>
                <a:lnTo>
                  <a:pt x="316479" y="103384"/>
                </a:lnTo>
                <a:close/>
                <a:moveTo>
                  <a:pt x="126576" y="96665"/>
                </a:moveTo>
                <a:lnTo>
                  <a:pt x="140904" y="96665"/>
                </a:lnTo>
                <a:lnTo>
                  <a:pt x="140904" y="103384"/>
                </a:lnTo>
                <a:lnTo>
                  <a:pt x="126576" y="103384"/>
                </a:lnTo>
                <a:close/>
                <a:moveTo>
                  <a:pt x="379805" y="95251"/>
                </a:moveTo>
                <a:lnTo>
                  <a:pt x="394133" y="95251"/>
                </a:lnTo>
                <a:lnTo>
                  <a:pt x="394133" y="99492"/>
                </a:lnTo>
                <a:lnTo>
                  <a:pt x="379805" y="99492"/>
                </a:lnTo>
                <a:close/>
                <a:moveTo>
                  <a:pt x="63288" y="90853"/>
                </a:moveTo>
                <a:lnTo>
                  <a:pt x="77616" y="90853"/>
                </a:lnTo>
                <a:lnTo>
                  <a:pt x="77616" y="97694"/>
                </a:lnTo>
                <a:lnTo>
                  <a:pt x="63288" y="97694"/>
                </a:lnTo>
                <a:close/>
                <a:moveTo>
                  <a:pt x="253191" y="88131"/>
                </a:moveTo>
                <a:lnTo>
                  <a:pt x="267519" y="88131"/>
                </a:lnTo>
                <a:lnTo>
                  <a:pt x="267519" y="94693"/>
                </a:lnTo>
                <a:lnTo>
                  <a:pt x="253191" y="94693"/>
                </a:lnTo>
                <a:close/>
                <a:moveTo>
                  <a:pt x="189902" y="86909"/>
                </a:moveTo>
                <a:lnTo>
                  <a:pt x="204230" y="86909"/>
                </a:lnTo>
                <a:lnTo>
                  <a:pt x="204230" y="93611"/>
                </a:lnTo>
                <a:lnTo>
                  <a:pt x="189902" y="93611"/>
                </a:lnTo>
                <a:close/>
                <a:moveTo>
                  <a:pt x="316479" y="86717"/>
                </a:moveTo>
                <a:lnTo>
                  <a:pt x="330807" y="86717"/>
                </a:lnTo>
                <a:lnTo>
                  <a:pt x="330807" y="93436"/>
                </a:lnTo>
                <a:lnTo>
                  <a:pt x="316479" y="93436"/>
                </a:lnTo>
                <a:close/>
                <a:moveTo>
                  <a:pt x="126576" y="86717"/>
                </a:moveTo>
                <a:lnTo>
                  <a:pt x="140904" y="86717"/>
                </a:lnTo>
                <a:lnTo>
                  <a:pt x="140904" y="93436"/>
                </a:lnTo>
                <a:lnTo>
                  <a:pt x="126576" y="93436"/>
                </a:lnTo>
                <a:close/>
                <a:moveTo>
                  <a:pt x="63288" y="80679"/>
                </a:moveTo>
                <a:lnTo>
                  <a:pt x="77616" y="80679"/>
                </a:lnTo>
                <a:lnTo>
                  <a:pt x="77616" y="87520"/>
                </a:lnTo>
                <a:lnTo>
                  <a:pt x="63288" y="87520"/>
                </a:lnTo>
                <a:close/>
                <a:moveTo>
                  <a:pt x="253191" y="80644"/>
                </a:moveTo>
                <a:lnTo>
                  <a:pt x="267519" y="80644"/>
                </a:lnTo>
                <a:lnTo>
                  <a:pt x="267519" y="84885"/>
                </a:lnTo>
                <a:lnTo>
                  <a:pt x="253191" y="84885"/>
                </a:lnTo>
                <a:close/>
                <a:moveTo>
                  <a:pt x="189902" y="76997"/>
                </a:moveTo>
                <a:lnTo>
                  <a:pt x="204230" y="76997"/>
                </a:lnTo>
                <a:lnTo>
                  <a:pt x="204230" y="83698"/>
                </a:lnTo>
                <a:lnTo>
                  <a:pt x="189902" y="83698"/>
                </a:lnTo>
                <a:close/>
                <a:moveTo>
                  <a:pt x="316479" y="76770"/>
                </a:moveTo>
                <a:lnTo>
                  <a:pt x="330807" y="76770"/>
                </a:lnTo>
                <a:lnTo>
                  <a:pt x="330807" y="83489"/>
                </a:lnTo>
                <a:lnTo>
                  <a:pt x="316479" y="83489"/>
                </a:lnTo>
                <a:close/>
                <a:moveTo>
                  <a:pt x="126576" y="76770"/>
                </a:moveTo>
                <a:lnTo>
                  <a:pt x="140904" y="76770"/>
                </a:lnTo>
                <a:lnTo>
                  <a:pt x="140904" y="83489"/>
                </a:lnTo>
                <a:lnTo>
                  <a:pt x="126576" y="83489"/>
                </a:lnTo>
                <a:close/>
                <a:moveTo>
                  <a:pt x="63288" y="72878"/>
                </a:moveTo>
                <a:lnTo>
                  <a:pt x="77616" y="72878"/>
                </a:lnTo>
                <a:lnTo>
                  <a:pt x="77616" y="77119"/>
                </a:lnTo>
                <a:lnTo>
                  <a:pt x="63288" y="77119"/>
                </a:lnTo>
                <a:close/>
                <a:moveTo>
                  <a:pt x="189902" y="67102"/>
                </a:moveTo>
                <a:lnTo>
                  <a:pt x="204230" y="67102"/>
                </a:lnTo>
                <a:lnTo>
                  <a:pt x="204230" y="73803"/>
                </a:lnTo>
                <a:lnTo>
                  <a:pt x="189902" y="73803"/>
                </a:lnTo>
                <a:close/>
                <a:moveTo>
                  <a:pt x="316479" y="66805"/>
                </a:moveTo>
                <a:lnTo>
                  <a:pt x="330807" y="66805"/>
                </a:lnTo>
                <a:lnTo>
                  <a:pt x="330807" y="73524"/>
                </a:lnTo>
                <a:lnTo>
                  <a:pt x="316479" y="73524"/>
                </a:lnTo>
                <a:close/>
                <a:moveTo>
                  <a:pt x="126576" y="66805"/>
                </a:moveTo>
                <a:lnTo>
                  <a:pt x="140904" y="66805"/>
                </a:lnTo>
                <a:lnTo>
                  <a:pt x="140904" y="73524"/>
                </a:lnTo>
                <a:lnTo>
                  <a:pt x="126576" y="73524"/>
                </a:lnTo>
                <a:close/>
                <a:moveTo>
                  <a:pt x="189902" y="57189"/>
                </a:moveTo>
                <a:lnTo>
                  <a:pt x="204230" y="57189"/>
                </a:lnTo>
                <a:lnTo>
                  <a:pt x="204230" y="63891"/>
                </a:lnTo>
                <a:lnTo>
                  <a:pt x="189902" y="63891"/>
                </a:lnTo>
                <a:close/>
                <a:moveTo>
                  <a:pt x="316479" y="56858"/>
                </a:moveTo>
                <a:lnTo>
                  <a:pt x="330807" y="56858"/>
                </a:lnTo>
                <a:lnTo>
                  <a:pt x="330807" y="63577"/>
                </a:lnTo>
                <a:lnTo>
                  <a:pt x="316479" y="63577"/>
                </a:lnTo>
                <a:close/>
                <a:moveTo>
                  <a:pt x="126576" y="56858"/>
                </a:moveTo>
                <a:lnTo>
                  <a:pt x="140904" y="56858"/>
                </a:lnTo>
                <a:lnTo>
                  <a:pt x="140904" y="63577"/>
                </a:lnTo>
                <a:lnTo>
                  <a:pt x="126576" y="63577"/>
                </a:lnTo>
                <a:close/>
                <a:moveTo>
                  <a:pt x="189902" y="47277"/>
                </a:moveTo>
                <a:lnTo>
                  <a:pt x="204230" y="47277"/>
                </a:lnTo>
                <a:lnTo>
                  <a:pt x="204230" y="53978"/>
                </a:lnTo>
                <a:lnTo>
                  <a:pt x="189902" y="53978"/>
                </a:lnTo>
                <a:close/>
                <a:moveTo>
                  <a:pt x="316479" y="46910"/>
                </a:moveTo>
                <a:lnTo>
                  <a:pt x="330807" y="46910"/>
                </a:lnTo>
                <a:lnTo>
                  <a:pt x="330807" y="53629"/>
                </a:lnTo>
                <a:lnTo>
                  <a:pt x="316479" y="53629"/>
                </a:lnTo>
                <a:close/>
                <a:moveTo>
                  <a:pt x="126576" y="46910"/>
                </a:moveTo>
                <a:lnTo>
                  <a:pt x="140904" y="46910"/>
                </a:lnTo>
                <a:lnTo>
                  <a:pt x="140904" y="53629"/>
                </a:lnTo>
                <a:lnTo>
                  <a:pt x="126576" y="53629"/>
                </a:lnTo>
                <a:close/>
                <a:moveTo>
                  <a:pt x="316479" y="39232"/>
                </a:moveTo>
                <a:lnTo>
                  <a:pt x="330807" y="39232"/>
                </a:lnTo>
                <a:lnTo>
                  <a:pt x="330807" y="43472"/>
                </a:lnTo>
                <a:lnTo>
                  <a:pt x="316479" y="43472"/>
                </a:lnTo>
                <a:close/>
                <a:moveTo>
                  <a:pt x="126576" y="39232"/>
                </a:moveTo>
                <a:lnTo>
                  <a:pt x="140904" y="39232"/>
                </a:lnTo>
                <a:lnTo>
                  <a:pt x="140904" y="43472"/>
                </a:lnTo>
                <a:lnTo>
                  <a:pt x="126576" y="43472"/>
                </a:lnTo>
                <a:close/>
                <a:moveTo>
                  <a:pt x="189902" y="37364"/>
                </a:moveTo>
                <a:lnTo>
                  <a:pt x="204230" y="37364"/>
                </a:lnTo>
                <a:lnTo>
                  <a:pt x="204230" y="44066"/>
                </a:lnTo>
                <a:lnTo>
                  <a:pt x="189902" y="44066"/>
                </a:lnTo>
                <a:close/>
                <a:moveTo>
                  <a:pt x="189902" y="27469"/>
                </a:moveTo>
                <a:lnTo>
                  <a:pt x="204230" y="27469"/>
                </a:lnTo>
                <a:lnTo>
                  <a:pt x="204230" y="34171"/>
                </a:lnTo>
                <a:lnTo>
                  <a:pt x="189902" y="34171"/>
                </a:lnTo>
                <a:close/>
                <a:moveTo>
                  <a:pt x="189902" y="17557"/>
                </a:moveTo>
                <a:lnTo>
                  <a:pt x="204230" y="17557"/>
                </a:lnTo>
                <a:lnTo>
                  <a:pt x="204230" y="24258"/>
                </a:lnTo>
                <a:lnTo>
                  <a:pt x="189902" y="24258"/>
                </a:lnTo>
                <a:close/>
                <a:moveTo>
                  <a:pt x="189902" y="7644"/>
                </a:moveTo>
                <a:lnTo>
                  <a:pt x="204230" y="7644"/>
                </a:lnTo>
                <a:lnTo>
                  <a:pt x="204230" y="14346"/>
                </a:lnTo>
                <a:lnTo>
                  <a:pt x="189902" y="14346"/>
                </a:lnTo>
                <a:close/>
                <a:moveTo>
                  <a:pt x="189902" y="0"/>
                </a:moveTo>
                <a:lnTo>
                  <a:pt x="204230" y="0"/>
                </a:lnTo>
                <a:lnTo>
                  <a:pt x="204230" y="4241"/>
                </a:lnTo>
                <a:lnTo>
                  <a:pt x="189902" y="4241"/>
                </a:lnTo>
                <a:close/>
              </a:path>
            </a:pathLst>
          </a:custGeom>
          <a:gradFill xmlns:a="http://schemas.openxmlformats.org/drawingml/2006/main">
            <a:gsLst>
              <a:gs pos="1685">
                <a:srgbClr val="00FFFF">
                  <a:lumMod val="50000"/>
                  <a:lumOff val="50000"/>
                  <a:alpha val="48000"/>
                </a:srgbClr>
              </a:gs>
              <a:gs pos="58000">
                <a:srgbClr val="00FFFF"/>
              </a:gs>
              <a:gs pos="46000">
                <a:srgbClr val="00FFFF">
                  <a:lumMod val="60000"/>
                  <a:lumOff val="40000"/>
                </a:srgbClr>
              </a:gs>
              <a:gs pos="90000">
                <a:srgbClr val="00FFFF"/>
              </a:gs>
              <a:gs pos="36000">
                <a:srgbClr val="00FFFF"/>
              </a:gs>
              <a:gs pos="100000">
                <a:srgbClr val="00FFFF">
                  <a:alpha val="0"/>
                </a:srgbClr>
              </a:gs>
            </a:gsLst>
            <a:lin ang="0" scaled="0"/>
          </a:gradFill>
          <a:ln xmlns:a="http://schemas.openxmlformats.org/drawingml/2006/main" w="4225">
            <a:noFill/>
            <a:prstDash val="solid"/>
          </a:ln>
        </p:spPr>
        <p:txBody>
          <a:bodyPr xmlns:a="http://schemas.openxmlformats.org/drawingml/2006/main" wrap="square"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just" defTabSz="914400">
              <a:lnSpc>
                <a:spcPct val="100000"/>
              </a:lnSpc>
              <a:spcBef>
                <a:spcPct val="0"/>
              </a:spcBef>
              <a:spcAft>
                <a:spcPct val="0"/>
              </a:spcAft>
              <a:buClrTx/>
              <a:buSzTx/>
              <a:buFontTx/>
              <a:buNone/>
            </a:pPr>
            <a:endParaRPr sz="1800" b="0" i="0" u="none" kern="1200" cap="none" spc="0" baseline="0">
              <a:ln>
                <a:noFill/>
              </a:ln>
              <a:solidFill>
                <a:prstClr val="black"/>
              </a:solidFill>
              <a:latin typeface="微软雅黑"/>
              <a:ea typeface="微软雅黑"/>
              <a:cs typeface="微软雅黑"/>
            </a:endParaRPr>
          </a:p>
        </p:txBody>
      </p:sp>
      <p:pic>
        <p:nvPicPr>
          <p:cNvPr id="40" name="图片 29"/>
          <p:cNvPicPr>
            <a:picLocks xmlns:a="http://schemas.openxmlformats.org/drawingml/2006/main" noChangeAspect="1"/>
          </p:cNvPicPr>
          <p:nvPr/>
        </p:nvPicPr>
        <p:blipFill>
          <a:blip xmlns:r="http://schemas.openxmlformats.org/officeDocument/2006/relationships" xmlns:a="http://schemas.openxmlformats.org/drawingml/2006/main" r:embed="Re3411fa18d7a422c">
            <a:duotone>
              <a:srgbClr val="00FFFF">
                <a:shade val="45000"/>
                <a:satMod val="135000"/>
              </a:srgbClr>
              <a:prstClr val="white"/>
            </a:duotone>
          </a:blip>
          <a:stretch xmlns:a="http://schemas.openxmlformats.org/drawingml/2006/main">
            <a:fillRect l="0" t="0" r="0" b="0"/>
          </a:stretch>
        </p:blipFill>
        <p:spPr>
          <a:xfrm xmlns:a="http://schemas.openxmlformats.org/drawingml/2006/main" rot="16200000" flipH="1" flipV="0">
            <a:off x="1680378" y="1262772"/>
            <a:ext cx="815946" cy="146311"/>
          </a:xfrm>
          <a:prstGeom xmlns:a="http://schemas.openxmlformats.org/drawingml/2006/main" prst="rect">
            <a:avLst/>
          </a:prstGeom>
        </p:spPr>
      </p:pic>
      <p:pic>
        <p:nvPicPr>
          <p:cNvPr id="41" name="图片 15"/>
          <p:cNvPicPr>
            <a:picLocks xmlns:a="http://schemas.openxmlformats.org/drawingml/2006/main" noChangeAspect="1"/>
          </p:cNvPicPr>
          <p:nvPr/>
        </p:nvPicPr>
        <p:blipFill>
          <a:blip xmlns:r="http://schemas.openxmlformats.org/officeDocument/2006/relationships" xmlns:a="http://schemas.openxmlformats.org/drawingml/2006/main" r:embed="R3462e59387ef4e80"/>
          <a:stretch xmlns:a="http://schemas.openxmlformats.org/drawingml/2006/main">
            <a:fillRect l="0" t="0" r="0" b="0"/>
          </a:stretch>
        </p:blipFill>
        <p:spPr>
          <a:xfrm xmlns:a="http://schemas.openxmlformats.org/drawingml/2006/main" rot="0" flipH="0" flipV="0">
            <a:off x="1205694" y="2261515"/>
            <a:ext cx="1182727" cy="2334970"/>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学情分析">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9c3293f9a5fe4144"/>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BD227C66-B9F3-97BE-8312-3D18ECEE8B95}"/>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PA-文本框 47">
            <a:extLst xmlns:a="http://schemas.openxmlformats.org/drawingml/2006/main">
              <a:ext uri="{FF2B5EF4-FFF2-40B4-BE49-F238E27FC236}">
                <a16:creationId xmlns:a16="http://schemas.microsoft.com/office/drawing/2014/main" id="{E1A32404-CA21-7D58-EE40-88295B128C8A}"/>
              </a:ext>
            </a:extLst>
          </p:cNvPr>
          <p:cNvSpPr>
            <a:spLocks xmlns:a="http://schemas.openxmlformats.org/drawingml/2006/main" noGrp="1"/>
          </p:cNvSpPr>
          <p:nvPr/>
        </p:nvSpPr>
        <p:spPr>
          <a:xfrm xmlns:a="http://schemas.openxmlformats.org/drawingml/2006/main">
            <a:off x="270158" y="117840"/>
            <a:ext cx="2947550"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ea"/>
                <a:ea typeface="+mj-ea"/>
                <a:cs typeface="+mj-ea"/>
              </a:rPr>
              <a:t>学前分析</a:t>
            </a:r>
          </a:p>
        </p:txBody>
      </p:sp>
      <p:sp>
        <p:nvSpPr>
          <p:cNvPr id="56" name="矩形 55">
            <a:extLst xmlns:a="http://schemas.openxmlformats.org/drawingml/2006/main">
              <a:ext uri="{FF2B5EF4-FFF2-40B4-BE49-F238E27FC236}">
                <a16:creationId xmlns:a16="http://schemas.microsoft.com/office/drawing/2014/main" id="{3C333C4B-9E5C-847F-E9F8-76255BDE1E3D}"/>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图片 4"/>
          <p:cNvPicPr>
            <a:picLocks xmlns:a="http://schemas.openxmlformats.org/drawingml/2006/main" noChangeAspect="1"/>
          </p:cNvPicPr>
          <p:nvPr/>
        </p:nvPicPr>
        <p:blipFill>
          <a:blip xmlns:r="http://schemas.openxmlformats.org/officeDocument/2006/relationships" xmlns:a="http://schemas.openxmlformats.org/drawingml/2006/main" r:embed="R82012f296d40472c"/>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4" name="文本框 13">
            <a:extLst xmlns:a="http://schemas.openxmlformats.org/drawingml/2006/main">
              <a:ext uri="{FF2B5EF4-FFF2-40B4-BE49-F238E27FC236}">
                <a16:creationId xmlns:a16="http://schemas.microsoft.com/office/drawing/2014/main" id="{F8C1CDCE-106F-C110-24E3-F53F557119BB}"/>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3" name="平行四边形 2">
            <a:extLst xmlns:a="http://schemas.openxmlformats.org/drawingml/2006/main">
              <a:ext uri="{FF2B5EF4-FFF2-40B4-BE49-F238E27FC236}">
                <a16:creationId xmlns:a16="http://schemas.microsoft.com/office/drawing/2014/main" id="{6D0FD9C3-E0ED-41EB-30C0-095541FE714F}"/>
              </a:ext>
            </a:extLst>
          </p:cNvPr>
          <p:cNvSpPr>
            <a:spLocks xmlns:a="http://schemas.openxmlformats.org/drawingml/2006/main" noGrp="1"/>
          </p:cNvSpPr>
          <p:nvPr/>
        </p:nvSpPr>
        <p:spPr>
          <a:xfrm xmlns:a="http://schemas.openxmlformats.org/drawingml/2006/main" rot="0" flipH="0" flipV="0">
            <a:off x="-1614598"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平行四边形 3">
            <a:extLst xmlns:a="http://schemas.openxmlformats.org/drawingml/2006/main">
              <a:ext uri="{FF2B5EF4-FFF2-40B4-BE49-F238E27FC236}">
                <a16:creationId xmlns:a16="http://schemas.microsoft.com/office/drawing/2014/main" id="{F17F1CA0-10C5-8B42-29E1-6D3121088F2A}"/>
              </a:ext>
            </a:extLst>
          </p:cNvPr>
          <p:cNvSpPr>
            <a:spLocks xmlns:a="http://schemas.openxmlformats.org/drawingml/2006/main" noGrp="1"/>
          </p:cNvSpPr>
          <p:nvPr/>
        </p:nvSpPr>
        <p:spPr>
          <a:xfrm xmlns:a="http://schemas.openxmlformats.org/drawingml/2006/main" rot="0" flipH="0" flipV="0">
            <a:off x="-1896639"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直接连接符 16">
            <a:extLst xmlns:a="http://schemas.openxmlformats.org/drawingml/2006/main">
              <a:ext uri="{FF2B5EF4-FFF2-40B4-BE49-F238E27FC236}">
                <a16:creationId xmlns:a16="http://schemas.microsoft.com/office/drawing/2014/main" id="{295368F3-2135-4E51-9F8E-E82D23738436}"/>
              </a:ext>
            </a:extLst>
          </p:cNvPr>
          <p:cNvSpPr>
            <a:spLocks xmlns:a="http://schemas.openxmlformats.org/drawingml/2006/main" noGrp="1"/>
          </p:cNvSpPr>
          <p:nvPr/>
        </p:nvSpPr>
        <p:spPr>
          <a:xfrm xmlns:a="http://schemas.openxmlformats.org/drawingml/2006/main" rot="0" flipH="0" flipV="1">
            <a:off x="-3543431"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直接连接符 17">
            <a:extLst xmlns:a="http://schemas.openxmlformats.org/drawingml/2006/main">
              <a:ext uri="{FF2B5EF4-FFF2-40B4-BE49-F238E27FC236}">
                <a16:creationId xmlns:a16="http://schemas.microsoft.com/office/drawing/2014/main" id="{D8725FC4-7A1A-4F15-8384-8B80F26D25D6}"/>
              </a:ext>
            </a:extLst>
          </p:cNvPr>
          <p:cNvSpPr>
            <a:spLocks xmlns:a="http://schemas.openxmlformats.org/drawingml/2006/main" noGrp="1"/>
          </p:cNvSpPr>
          <p:nvPr/>
        </p:nvSpPr>
        <p:spPr>
          <a:xfrm xmlns:a="http://schemas.openxmlformats.org/drawingml/2006/main" rot="0" flipH="0" flipV="0">
            <a:off x="-3165266"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直接连接符 7">
            <a:extLst xmlns:a="http://schemas.openxmlformats.org/drawingml/2006/main">
              <a:ext uri="{FF2B5EF4-FFF2-40B4-BE49-F238E27FC236}">
                <a16:creationId xmlns:a16="http://schemas.microsoft.com/office/drawing/2014/main" id="{F02BBAAA-A259-4661-8073-2A237C3D7728}"/>
              </a:ext>
            </a:extLst>
          </p:cNvPr>
          <p:cNvSpPr>
            <a:spLocks xmlns:a="http://schemas.openxmlformats.org/drawingml/2006/main" noGrp="1"/>
          </p:cNvSpPr>
          <p:nvPr/>
        </p:nvSpPr>
        <p:spPr>
          <a:xfrm xmlns:a="http://schemas.openxmlformats.org/drawingml/2006/main" rot="0" flipH="0" flipV="1">
            <a:off x="-2327163"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平行四边形 9">
            <a:extLst xmlns:a="http://schemas.openxmlformats.org/drawingml/2006/main">
              <a:ext uri="{FF2B5EF4-FFF2-40B4-BE49-F238E27FC236}">
                <a16:creationId xmlns:a16="http://schemas.microsoft.com/office/drawing/2014/main" id="{181AD1F7-8054-2C43-F9DE-5172E9D39639}"/>
              </a:ext>
            </a:extLst>
          </p:cNvPr>
          <p:cNvSpPr>
            <a:spLocks xmlns:a="http://schemas.openxmlformats.org/drawingml/2006/main" noGrp="1"/>
          </p:cNvSpPr>
          <p:nvPr/>
        </p:nvSpPr>
        <p:spPr>
          <a:xfrm xmlns:a="http://schemas.openxmlformats.org/drawingml/2006/main" rot="0" flipH="0" flipV="0">
            <a:off x="-2940249"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平行四边形 11">
            <a:extLst xmlns:a="http://schemas.openxmlformats.org/drawingml/2006/main">
              <a:ext uri="{FF2B5EF4-FFF2-40B4-BE49-F238E27FC236}">
                <a16:creationId xmlns:a16="http://schemas.microsoft.com/office/drawing/2014/main" id="{5DFB5E9D-6B5E-3C64-DFBD-4F460C7B20CD}"/>
              </a:ext>
            </a:extLst>
          </p:cNvPr>
          <p:cNvSpPr>
            <a:spLocks xmlns:a="http://schemas.openxmlformats.org/drawingml/2006/main" noGrp="1"/>
          </p:cNvSpPr>
          <p:nvPr/>
        </p:nvSpPr>
        <p:spPr>
          <a:xfrm xmlns:a="http://schemas.openxmlformats.org/drawingml/2006/main" rot="0" flipH="0" flipV="0">
            <a:off x="-2844300"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平行四边形 12">
            <a:extLst xmlns:a="http://schemas.openxmlformats.org/drawingml/2006/main">
              <a:ext uri="{FF2B5EF4-FFF2-40B4-BE49-F238E27FC236}">
                <a16:creationId xmlns:a16="http://schemas.microsoft.com/office/drawing/2014/main" id="{43D9296C-9390-65B4-2F54-0D115DB1D8B5}"/>
              </a:ext>
            </a:extLst>
          </p:cNvPr>
          <p:cNvSpPr>
            <a:spLocks xmlns:a="http://schemas.openxmlformats.org/drawingml/2006/main" noGrp="1"/>
          </p:cNvSpPr>
          <p:nvPr/>
        </p:nvSpPr>
        <p:spPr>
          <a:xfrm xmlns:a="http://schemas.openxmlformats.org/drawingml/2006/main" rot="0" flipH="0" flipV="0">
            <a:off x="-2748351"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F0209016-EA15-0C6A-86DC-C722FE513018}"/>
              </a:ext>
            </a:extLst>
          </p:cNvPr>
          <p:cNvSpPr>
            <a:spLocks xmlns:a="http://schemas.openxmlformats.org/drawingml/2006/main" noGrp="1"/>
          </p:cNvSpPr>
          <p:nvPr/>
        </p:nvSpPr>
        <p:spPr>
          <a:xfrm xmlns:a="http://schemas.openxmlformats.org/drawingml/2006/main" rot="0" flipH="0" flipV="0">
            <a:off x="-2652402"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750D06E0-D58C-F9E3-513C-2E0A97F818D6}"/>
              </a:ext>
            </a:extLst>
          </p:cNvPr>
          <p:cNvSpPr>
            <a:spLocks xmlns:a="http://schemas.openxmlformats.org/drawingml/2006/main" noGrp="1"/>
          </p:cNvSpPr>
          <p:nvPr/>
        </p:nvSpPr>
        <p:spPr>
          <a:xfrm xmlns:a="http://schemas.openxmlformats.org/drawingml/2006/main" rot="0" flipH="0" flipV="0">
            <a:off x="-2556453"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6.xml><?xml version="1.0" encoding="utf-8"?>
<p:sldLayout xmlns:p="http://schemas.openxmlformats.org/presentationml/2006/main" preserve="1" userDrawn="1">
  <p:cSld name="导入">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1d906796c4ca4341"/>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BD227C66-B9F3-97BE-8312-3D18ECEE8B95}"/>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PA-文本框 47">
            <a:extLst xmlns:a="http://schemas.openxmlformats.org/drawingml/2006/main">
              <a:ext uri="{FF2B5EF4-FFF2-40B4-BE49-F238E27FC236}">
                <a16:creationId xmlns:a16="http://schemas.microsoft.com/office/drawing/2014/main" id="{E1A32404-CA21-7D58-EE40-88295B128C8A}"/>
              </a:ext>
            </a:extLst>
          </p:cNvPr>
          <p:cNvSpPr>
            <a:spLocks xmlns:a="http://schemas.openxmlformats.org/drawingml/2006/main" noGrp="1"/>
          </p:cNvSpPr>
          <p:nvPr/>
        </p:nvSpPr>
        <p:spPr>
          <a:xfrm xmlns:a="http://schemas.openxmlformats.org/drawingml/2006/main">
            <a:off x="270158" y="117840"/>
            <a:ext cx="2947550"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ea"/>
                <a:ea typeface="+mj-ea"/>
                <a:cs typeface="+mj-ea"/>
              </a:rPr>
              <a:t>导  入</a:t>
            </a:r>
          </a:p>
        </p:txBody>
      </p:sp>
      <p:sp>
        <p:nvSpPr>
          <p:cNvPr id="32" name="平行四边形 31">
            <a:extLst xmlns:a="http://schemas.openxmlformats.org/drawingml/2006/main">
              <a:ext uri="{FF2B5EF4-FFF2-40B4-BE49-F238E27FC236}">
                <a16:creationId xmlns:a16="http://schemas.microsoft.com/office/drawing/2014/main" id="{9B920834-81F7-5A41-97A7-E4ADC83098F4}"/>
              </a:ext>
            </a:extLst>
          </p:cNvPr>
          <p:cNvSpPr>
            <a:spLocks xmlns:a="http://schemas.openxmlformats.org/drawingml/2006/main" noGrp="1"/>
          </p:cNvSpPr>
          <p:nvPr/>
        </p:nvSpPr>
        <p:spPr>
          <a:xfrm xmlns:a="http://schemas.openxmlformats.org/drawingml/2006/main" rot="0" flipH="0" flipV="0">
            <a:off x="-1614598"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平行四边形 32">
            <a:extLst xmlns:a="http://schemas.openxmlformats.org/drawingml/2006/main">
              <a:ext uri="{FF2B5EF4-FFF2-40B4-BE49-F238E27FC236}">
                <a16:creationId xmlns:a16="http://schemas.microsoft.com/office/drawing/2014/main" id="{FFDF1BA6-55E1-EFA4-6160-926E3C4FC25B}"/>
              </a:ext>
            </a:extLst>
          </p:cNvPr>
          <p:cNvSpPr>
            <a:spLocks xmlns:a="http://schemas.openxmlformats.org/drawingml/2006/main" noGrp="1"/>
          </p:cNvSpPr>
          <p:nvPr/>
        </p:nvSpPr>
        <p:spPr>
          <a:xfrm xmlns:a="http://schemas.openxmlformats.org/drawingml/2006/main" rot="0" flipH="0" flipV="0">
            <a:off x="-1896639"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直接连接符 41">
            <a:extLst xmlns:a="http://schemas.openxmlformats.org/drawingml/2006/main">
              <a:ext uri="{FF2B5EF4-FFF2-40B4-BE49-F238E27FC236}">
                <a16:creationId xmlns:a16="http://schemas.microsoft.com/office/drawing/2014/main" id="{18FFBB89-6735-445F-9AF6-14C7D1CA53C4}"/>
              </a:ext>
            </a:extLst>
          </p:cNvPr>
          <p:cNvSpPr>
            <a:spLocks xmlns:a="http://schemas.openxmlformats.org/drawingml/2006/main" noGrp="1"/>
          </p:cNvSpPr>
          <p:nvPr/>
        </p:nvSpPr>
        <p:spPr>
          <a:xfrm xmlns:a="http://schemas.openxmlformats.org/drawingml/2006/main" rot="0" flipH="0" flipV="1">
            <a:off x="-3543431"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直接连接符 42">
            <a:extLst xmlns:a="http://schemas.openxmlformats.org/drawingml/2006/main">
              <a:ext uri="{FF2B5EF4-FFF2-40B4-BE49-F238E27FC236}">
                <a16:creationId xmlns:a16="http://schemas.microsoft.com/office/drawing/2014/main" id="{6AEB235D-A0B2-4C97-BED7-EDD1D45C5359}"/>
              </a:ext>
            </a:extLst>
          </p:cNvPr>
          <p:cNvSpPr>
            <a:spLocks xmlns:a="http://schemas.openxmlformats.org/drawingml/2006/main" noGrp="1"/>
          </p:cNvSpPr>
          <p:nvPr/>
        </p:nvSpPr>
        <p:spPr>
          <a:xfrm xmlns:a="http://schemas.openxmlformats.org/drawingml/2006/main" rot="0" flipH="0" flipV="0">
            <a:off x="-3165266"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直接连接符 34">
            <a:extLst xmlns:a="http://schemas.openxmlformats.org/drawingml/2006/main">
              <a:ext uri="{FF2B5EF4-FFF2-40B4-BE49-F238E27FC236}">
                <a16:creationId xmlns:a16="http://schemas.microsoft.com/office/drawing/2014/main" id="{EFF3C920-8DE3-428A-B314-5B02109EE600}"/>
              </a:ext>
            </a:extLst>
          </p:cNvPr>
          <p:cNvSpPr>
            <a:spLocks xmlns:a="http://schemas.openxmlformats.org/drawingml/2006/main" noGrp="1"/>
          </p:cNvSpPr>
          <p:nvPr/>
        </p:nvSpPr>
        <p:spPr>
          <a:xfrm xmlns:a="http://schemas.openxmlformats.org/drawingml/2006/main" rot="0" flipH="0" flipV="1">
            <a:off x="-2327163"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平行四边形 36">
            <a:extLst xmlns:a="http://schemas.openxmlformats.org/drawingml/2006/main">
              <a:ext uri="{FF2B5EF4-FFF2-40B4-BE49-F238E27FC236}">
                <a16:creationId xmlns:a16="http://schemas.microsoft.com/office/drawing/2014/main" id="{A3E41E5E-9E9F-C199-7FD0-1DC5B1D8875E}"/>
              </a:ext>
            </a:extLst>
          </p:cNvPr>
          <p:cNvSpPr>
            <a:spLocks xmlns:a="http://schemas.openxmlformats.org/drawingml/2006/main" noGrp="1"/>
          </p:cNvSpPr>
          <p:nvPr/>
        </p:nvSpPr>
        <p:spPr>
          <a:xfrm xmlns:a="http://schemas.openxmlformats.org/drawingml/2006/main" rot="0" flipH="0" flipV="0">
            <a:off x="-2940249"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平行四边形 37">
            <a:extLst xmlns:a="http://schemas.openxmlformats.org/drawingml/2006/main">
              <a:ext uri="{FF2B5EF4-FFF2-40B4-BE49-F238E27FC236}">
                <a16:creationId xmlns:a16="http://schemas.microsoft.com/office/drawing/2014/main" id="{897478AE-0460-D0C5-214C-B98866FB2EAC}"/>
              </a:ext>
            </a:extLst>
          </p:cNvPr>
          <p:cNvSpPr>
            <a:spLocks xmlns:a="http://schemas.openxmlformats.org/drawingml/2006/main" noGrp="1"/>
          </p:cNvSpPr>
          <p:nvPr/>
        </p:nvSpPr>
        <p:spPr>
          <a:xfrm xmlns:a="http://schemas.openxmlformats.org/drawingml/2006/main" rot="0" flipH="0" flipV="0">
            <a:off x="-2844300"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平行四边形 38">
            <a:extLst xmlns:a="http://schemas.openxmlformats.org/drawingml/2006/main">
              <a:ext uri="{FF2B5EF4-FFF2-40B4-BE49-F238E27FC236}">
                <a16:creationId xmlns:a16="http://schemas.microsoft.com/office/drawing/2014/main" id="{880566C5-2986-7C6E-DE29-B5317D4EF17C}"/>
              </a:ext>
            </a:extLst>
          </p:cNvPr>
          <p:cNvSpPr>
            <a:spLocks xmlns:a="http://schemas.openxmlformats.org/drawingml/2006/main" noGrp="1"/>
          </p:cNvSpPr>
          <p:nvPr/>
        </p:nvSpPr>
        <p:spPr>
          <a:xfrm xmlns:a="http://schemas.openxmlformats.org/drawingml/2006/main" rot="0" flipH="0" flipV="0">
            <a:off x="-2748351"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平行四边形 39">
            <a:extLst xmlns:a="http://schemas.openxmlformats.org/drawingml/2006/main">
              <a:ext uri="{FF2B5EF4-FFF2-40B4-BE49-F238E27FC236}">
                <a16:creationId xmlns:a16="http://schemas.microsoft.com/office/drawing/2014/main" id="{5A7E12C3-705B-FD24-AD7F-DC077FFCC71C}"/>
              </a:ext>
            </a:extLst>
          </p:cNvPr>
          <p:cNvSpPr>
            <a:spLocks xmlns:a="http://schemas.openxmlformats.org/drawingml/2006/main" noGrp="1"/>
          </p:cNvSpPr>
          <p:nvPr/>
        </p:nvSpPr>
        <p:spPr>
          <a:xfrm xmlns:a="http://schemas.openxmlformats.org/drawingml/2006/main" rot="0" flipH="0" flipV="0">
            <a:off x="-2652402"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平行四边形 40">
            <a:extLst xmlns:a="http://schemas.openxmlformats.org/drawingml/2006/main">
              <a:ext uri="{FF2B5EF4-FFF2-40B4-BE49-F238E27FC236}">
                <a16:creationId xmlns:a16="http://schemas.microsoft.com/office/drawing/2014/main" id="{DFAC1E53-D463-446A-26F8-45E01937E1AB}"/>
              </a:ext>
            </a:extLst>
          </p:cNvPr>
          <p:cNvSpPr>
            <a:spLocks xmlns:a="http://schemas.openxmlformats.org/drawingml/2006/main" noGrp="1"/>
          </p:cNvSpPr>
          <p:nvPr/>
        </p:nvSpPr>
        <p:spPr>
          <a:xfrm xmlns:a="http://schemas.openxmlformats.org/drawingml/2006/main" rot="0" flipH="0" flipV="0">
            <a:off x="-2556453"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3C333C4B-9E5C-847F-E9F8-76255BDE1E3D}"/>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3" name="图片 4"/>
          <p:cNvPicPr>
            <a:picLocks xmlns:a="http://schemas.openxmlformats.org/drawingml/2006/main" noChangeAspect="1"/>
          </p:cNvPicPr>
          <p:nvPr/>
        </p:nvPicPr>
        <p:blipFill>
          <a:blip xmlns:r="http://schemas.openxmlformats.org/officeDocument/2006/relationships" xmlns:a="http://schemas.openxmlformats.org/drawingml/2006/main" r:embed="R30fa55ba72104893"/>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2" name="文本框 1">
            <a:extLst xmlns:a="http://schemas.openxmlformats.org/drawingml/2006/main">
              <a:ext uri="{FF2B5EF4-FFF2-40B4-BE49-F238E27FC236}">
                <a16:creationId xmlns:a16="http://schemas.microsoft.com/office/drawing/2014/main" id="{F61AC28A-A6D5-B83D-B439-CB756A4BF341}"/>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Tree>
  </p:cSld>
</p:sldLayout>
</file>

<file path=ppt/slideLayouts/slideLayout7.xml><?xml version="1.0" encoding="utf-8"?>
<p:sldLayout xmlns:p="http://schemas.openxmlformats.org/presentationml/2006/main" preserve="1" userDrawn="1">
  <p:cSld name="学习目标">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b4c2231e67c64e2a"/>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BD227C66-B9F3-97BE-8312-3D18ECEE8B95}"/>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3C333C4B-9E5C-847F-E9F8-76255BDE1E3D}"/>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042c54693bf745e4"/>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2" name="PA-文本框 47">
            <a:extLst xmlns:a="http://schemas.openxmlformats.org/drawingml/2006/main">
              <a:ext uri="{FF2B5EF4-FFF2-40B4-BE49-F238E27FC236}">
                <a16:creationId xmlns:a16="http://schemas.microsoft.com/office/drawing/2014/main" id="{E6488CDA-5717-7C52-55E2-4CF69B10BA43}"/>
              </a:ext>
            </a:extLst>
          </p:cNvPr>
          <p:cNvSpPr>
            <a:spLocks xmlns:a="http://schemas.openxmlformats.org/drawingml/2006/main" noGrp="1"/>
          </p:cNvSpPr>
          <p:nvPr/>
        </p:nvSpPr>
        <p:spPr>
          <a:xfrm xmlns:a="http://schemas.openxmlformats.org/drawingml/2006/main">
            <a:off x="270158" y="117840"/>
            <a:ext cx="2947550"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ea"/>
                <a:ea typeface="+mj-ea"/>
                <a:cs typeface="+mj-ea"/>
              </a:rPr>
              <a:t>学习目标</a:t>
            </a:r>
          </a:p>
        </p:txBody>
      </p:sp>
      <p:sp>
        <p:nvSpPr>
          <p:cNvPr id="20" name="文本框 19">
            <a:extLst xmlns:a="http://schemas.openxmlformats.org/drawingml/2006/main">
              <a:ext uri="{FF2B5EF4-FFF2-40B4-BE49-F238E27FC236}">
                <a16:creationId xmlns:a16="http://schemas.microsoft.com/office/drawing/2014/main" id="{2F269A9E-4719-9E11-6C08-517FBCECD9D6}"/>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1" name="平行四边形 20">
            <a:extLst xmlns:a="http://schemas.openxmlformats.org/drawingml/2006/main">
              <a:ext uri="{FF2B5EF4-FFF2-40B4-BE49-F238E27FC236}">
                <a16:creationId xmlns:a16="http://schemas.microsoft.com/office/drawing/2014/main" id="{45C377BD-7B84-6E71-4D79-1EA5087F7975}"/>
              </a:ext>
            </a:extLst>
          </p:cNvPr>
          <p:cNvSpPr>
            <a:spLocks xmlns:a="http://schemas.openxmlformats.org/drawingml/2006/main" noGrp="1"/>
          </p:cNvSpPr>
          <p:nvPr/>
        </p:nvSpPr>
        <p:spPr>
          <a:xfrm xmlns:a="http://schemas.openxmlformats.org/drawingml/2006/main" rot="0" flipH="0" flipV="0">
            <a:off x="-1614598"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平行四边形 21">
            <a:extLst xmlns:a="http://schemas.openxmlformats.org/drawingml/2006/main">
              <a:ext uri="{FF2B5EF4-FFF2-40B4-BE49-F238E27FC236}">
                <a16:creationId xmlns:a16="http://schemas.microsoft.com/office/drawing/2014/main" id="{EBFDE482-40AD-FDDE-5A19-1EC7D96F8A29}"/>
              </a:ext>
            </a:extLst>
          </p:cNvPr>
          <p:cNvSpPr>
            <a:spLocks xmlns:a="http://schemas.openxmlformats.org/drawingml/2006/main" noGrp="1"/>
          </p:cNvSpPr>
          <p:nvPr/>
        </p:nvSpPr>
        <p:spPr>
          <a:xfrm xmlns:a="http://schemas.openxmlformats.org/drawingml/2006/main" rot="0" flipH="0" flipV="0">
            <a:off x="-1896639"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直接连接符 30">
            <a:extLst xmlns:a="http://schemas.openxmlformats.org/drawingml/2006/main">
              <a:ext uri="{FF2B5EF4-FFF2-40B4-BE49-F238E27FC236}">
                <a16:creationId xmlns:a16="http://schemas.microsoft.com/office/drawing/2014/main" id="{68AD9ECF-5A2F-45D2-B10E-05E192064327}"/>
              </a:ext>
            </a:extLst>
          </p:cNvPr>
          <p:cNvSpPr>
            <a:spLocks xmlns:a="http://schemas.openxmlformats.org/drawingml/2006/main" noGrp="1"/>
          </p:cNvSpPr>
          <p:nvPr/>
        </p:nvSpPr>
        <p:spPr>
          <a:xfrm xmlns:a="http://schemas.openxmlformats.org/drawingml/2006/main" rot="0" flipH="0" flipV="1">
            <a:off x="-3543431"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直接连接符 31">
            <a:extLst xmlns:a="http://schemas.openxmlformats.org/drawingml/2006/main">
              <a:ext uri="{FF2B5EF4-FFF2-40B4-BE49-F238E27FC236}">
                <a16:creationId xmlns:a16="http://schemas.microsoft.com/office/drawing/2014/main" id="{734400EF-1657-449B-B132-F5636F99FD22}"/>
              </a:ext>
            </a:extLst>
          </p:cNvPr>
          <p:cNvSpPr>
            <a:spLocks xmlns:a="http://schemas.openxmlformats.org/drawingml/2006/main" noGrp="1"/>
          </p:cNvSpPr>
          <p:nvPr/>
        </p:nvSpPr>
        <p:spPr>
          <a:xfrm xmlns:a="http://schemas.openxmlformats.org/drawingml/2006/main" rot="0" flipH="0" flipV="0">
            <a:off x="-3165266"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4" name="直接连接符 23">
            <a:extLst xmlns:a="http://schemas.openxmlformats.org/drawingml/2006/main">
              <a:ext uri="{FF2B5EF4-FFF2-40B4-BE49-F238E27FC236}">
                <a16:creationId xmlns:a16="http://schemas.microsoft.com/office/drawing/2014/main" id="{725B2214-0D68-4EAC-BD91-06C27A8A0ADA}"/>
              </a:ext>
            </a:extLst>
          </p:cNvPr>
          <p:cNvSpPr>
            <a:spLocks xmlns:a="http://schemas.openxmlformats.org/drawingml/2006/main" noGrp="1"/>
          </p:cNvSpPr>
          <p:nvPr/>
        </p:nvSpPr>
        <p:spPr>
          <a:xfrm xmlns:a="http://schemas.openxmlformats.org/drawingml/2006/main" rot="0" flipH="0" flipV="1">
            <a:off x="-2327163"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平行四边形 25">
            <a:extLst xmlns:a="http://schemas.openxmlformats.org/drawingml/2006/main">
              <a:ext uri="{FF2B5EF4-FFF2-40B4-BE49-F238E27FC236}">
                <a16:creationId xmlns:a16="http://schemas.microsoft.com/office/drawing/2014/main" id="{EEF4876F-62D2-43EC-B675-FCD909CF6B8F}"/>
              </a:ext>
            </a:extLst>
          </p:cNvPr>
          <p:cNvSpPr>
            <a:spLocks xmlns:a="http://schemas.openxmlformats.org/drawingml/2006/main" noGrp="1"/>
          </p:cNvSpPr>
          <p:nvPr/>
        </p:nvSpPr>
        <p:spPr>
          <a:xfrm xmlns:a="http://schemas.openxmlformats.org/drawingml/2006/main" rot="0" flipH="0" flipV="0">
            <a:off x="-2940249"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平行四边形 26">
            <a:extLst xmlns:a="http://schemas.openxmlformats.org/drawingml/2006/main">
              <a:ext uri="{FF2B5EF4-FFF2-40B4-BE49-F238E27FC236}">
                <a16:creationId xmlns:a16="http://schemas.microsoft.com/office/drawing/2014/main" id="{9790F3FE-0C96-B9D7-7923-842DF459CA59}"/>
              </a:ext>
            </a:extLst>
          </p:cNvPr>
          <p:cNvSpPr>
            <a:spLocks xmlns:a="http://schemas.openxmlformats.org/drawingml/2006/main" noGrp="1"/>
          </p:cNvSpPr>
          <p:nvPr/>
        </p:nvSpPr>
        <p:spPr>
          <a:xfrm xmlns:a="http://schemas.openxmlformats.org/drawingml/2006/main" rot="0" flipH="0" flipV="0">
            <a:off x="-2844300"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平行四边形 27">
            <a:extLst xmlns:a="http://schemas.openxmlformats.org/drawingml/2006/main">
              <a:ext uri="{FF2B5EF4-FFF2-40B4-BE49-F238E27FC236}">
                <a16:creationId xmlns:a16="http://schemas.microsoft.com/office/drawing/2014/main" id="{2C0FC895-BC08-8220-117A-E16A90AD0B10}"/>
              </a:ext>
            </a:extLst>
          </p:cNvPr>
          <p:cNvSpPr>
            <a:spLocks xmlns:a="http://schemas.openxmlformats.org/drawingml/2006/main" noGrp="1"/>
          </p:cNvSpPr>
          <p:nvPr/>
        </p:nvSpPr>
        <p:spPr>
          <a:xfrm xmlns:a="http://schemas.openxmlformats.org/drawingml/2006/main" rot="0" flipH="0" flipV="0">
            <a:off x="-2748351"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平行四边形 28">
            <a:extLst xmlns:a="http://schemas.openxmlformats.org/drawingml/2006/main">
              <a:ext uri="{FF2B5EF4-FFF2-40B4-BE49-F238E27FC236}">
                <a16:creationId xmlns:a16="http://schemas.microsoft.com/office/drawing/2014/main" id="{EF70FEE5-4B73-B457-A930-BE010070B819}"/>
              </a:ext>
            </a:extLst>
          </p:cNvPr>
          <p:cNvSpPr>
            <a:spLocks xmlns:a="http://schemas.openxmlformats.org/drawingml/2006/main" noGrp="1"/>
          </p:cNvSpPr>
          <p:nvPr/>
        </p:nvSpPr>
        <p:spPr>
          <a:xfrm xmlns:a="http://schemas.openxmlformats.org/drawingml/2006/main" rot="0" flipH="0" flipV="0">
            <a:off x="-2652402"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平行四边形 29">
            <a:extLst xmlns:a="http://schemas.openxmlformats.org/drawingml/2006/main">
              <a:ext uri="{FF2B5EF4-FFF2-40B4-BE49-F238E27FC236}">
                <a16:creationId xmlns:a16="http://schemas.microsoft.com/office/drawing/2014/main" id="{BEB22EBA-B6BB-9F5C-E376-485B0CAB65AC}"/>
              </a:ext>
            </a:extLst>
          </p:cNvPr>
          <p:cNvSpPr>
            <a:spLocks xmlns:a="http://schemas.openxmlformats.org/drawingml/2006/main" noGrp="1"/>
          </p:cNvSpPr>
          <p:nvPr/>
        </p:nvSpPr>
        <p:spPr>
          <a:xfrm xmlns:a="http://schemas.openxmlformats.org/drawingml/2006/main" rot="0" flipH="0" flipV="0">
            <a:off x="-2556453"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1_学习目标">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645f6fe1ddd34db9"/>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BD227C66-B9F3-97BE-8312-3D18ECEE8B95}"/>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3C333C4B-9E5C-847F-E9F8-76255BDE1E3D}"/>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9f42f7787b604017"/>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2" name="PA-文本框 47">
            <a:extLst xmlns:a="http://schemas.openxmlformats.org/drawingml/2006/main">
              <a:ext uri="{FF2B5EF4-FFF2-40B4-BE49-F238E27FC236}">
                <a16:creationId xmlns:a16="http://schemas.microsoft.com/office/drawing/2014/main" id="{E6488CDA-5717-7C52-55E2-4CF69B10BA43}"/>
              </a:ext>
            </a:extLst>
          </p:cNvPr>
          <p:cNvSpPr>
            <a:spLocks xmlns:a="http://schemas.openxmlformats.org/drawingml/2006/main" noGrp="1"/>
          </p:cNvSpPr>
          <p:nvPr/>
        </p:nvSpPr>
        <p:spPr>
          <a:xfrm xmlns:a="http://schemas.openxmlformats.org/drawingml/2006/main">
            <a:off x="270158" y="117840"/>
            <a:ext cx="2947550"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ea"/>
                <a:ea typeface="+mj-ea"/>
                <a:cs typeface="+mj-ea"/>
              </a:rPr>
              <a:t>总结</a:t>
            </a:r>
          </a:p>
        </p:txBody>
      </p:sp>
      <p:sp>
        <p:nvSpPr>
          <p:cNvPr id="20" name="文本框 19">
            <a:extLst xmlns:a="http://schemas.openxmlformats.org/drawingml/2006/main">
              <a:ext uri="{FF2B5EF4-FFF2-40B4-BE49-F238E27FC236}">
                <a16:creationId xmlns:a16="http://schemas.microsoft.com/office/drawing/2014/main" id="{2F269A9E-4719-9E11-6C08-517FBCECD9D6}"/>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1" name="平行四边形 20">
            <a:extLst xmlns:a="http://schemas.openxmlformats.org/drawingml/2006/main">
              <a:ext uri="{FF2B5EF4-FFF2-40B4-BE49-F238E27FC236}">
                <a16:creationId xmlns:a16="http://schemas.microsoft.com/office/drawing/2014/main" id="{45C377BD-7B84-6E71-4D79-1EA5087F7975}"/>
              </a:ext>
            </a:extLst>
          </p:cNvPr>
          <p:cNvSpPr>
            <a:spLocks xmlns:a="http://schemas.openxmlformats.org/drawingml/2006/main" noGrp="1"/>
          </p:cNvSpPr>
          <p:nvPr/>
        </p:nvSpPr>
        <p:spPr>
          <a:xfrm xmlns:a="http://schemas.openxmlformats.org/drawingml/2006/main" rot="0" flipH="0" flipV="0">
            <a:off x="-1614598"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平行四边形 21">
            <a:extLst xmlns:a="http://schemas.openxmlformats.org/drawingml/2006/main">
              <a:ext uri="{FF2B5EF4-FFF2-40B4-BE49-F238E27FC236}">
                <a16:creationId xmlns:a16="http://schemas.microsoft.com/office/drawing/2014/main" id="{EBFDE482-40AD-FDDE-5A19-1EC7D96F8A29}"/>
              </a:ext>
            </a:extLst>
          </p:cNvPr>
          <p:cNvSpPr>
            <a:spLocks xmlns:a="http://schemas.openxmlformats.org/drawingml/2006/main" noGrp="1"/>
          </p:cNvSpPr>
          <p:nvPr/>
        </p:nvSpPr>
        <p:spPr>
          <a:xfrm xmlns:a="http://schemas.openxmlformats.org/drawingml/2006/main" rot="0" flipH="0" flipV="0">
            <a:off x="-1896639"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直接连接符 30">
            <a:extLst xmlns:a="http://schemas.openxmlformats.org/drawingml/2006/main">
              <a:ext uri="{FF2B5EF4-FFF2-40B4-BE49-F238E27FC236}">
                <a16:creationId xmlns:a16="http://schemas.microsoft.com/office/drawing/2014/main" id="{D587FF59-C368-4C1E-90A4-6BD415673B8E}"/>
              </a:ext>
            </a:extLst>
          </p:cNvPr>
          <p:cNvSpPr>
            <a:spLocks xmlns:a="http://schemas.openxmlformats.org/drawingml/2006/main" noGrp="1"/>
          </p:cNvSpPr>
          <p:nvPr/>
        </p:nvSpPr>
        <p:spPr>
          <a:xfrm xmlns:a="http://schemas.openxmlformats.org/drawingml/2006/main" rot="0" flipH="0" flipV="1">
            <a:off x="-3543431"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直接连接符 31">
            <a:extLst xmlns:a="http://schemas.openxmlformats.org/drawingml/2006/main">
              <a:ext uri="{FF2B5EF4-FFF2-40B4-BE49-F238E27FC236}">
                <a16:creationId xmlns:a16="http://schemas.microsoft.com/office/drawing/2014/main" id="{9FF686CC-C28A-4F14-9866-A790C6E9AE44}"/>
              </a:ext>
            </a:extLst>
          </p:cNvPr>
          <p:cNvSpPr>
            <a:spLocks xmlns:a="http://schemas.openxmlformats.org/drawingml/2006/main" noGrp="1"/>
          </p:cNvSpPr>
          <p:nvPr/>
        </p:nvSpPr>
        <p:spPr>
          <a:xfrm xmlns:a="http://schemas.openxmlformats.org/drawingml/2006/main" rot="0" flipH="0" flipV="0">
            <a:off x="-3165266"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4" name="直接连接符 23">
            <a:extLst xmlns:a="http://schemas.openxmlformats.org/drawingml/2006/main">
              <a:ext uri="{FF2B5EF4-FFF2-40B4-BE49-F238E27FC236}">
                <a16:creationId xmlns:a16="http://schemas.microsoft.com/office/drawing/2014/main" id="{0C421060-5411-4867-A36F-5228745FD45B}"/>
              </a:ext>
            </a:extLst>
          </p:cNvPr>
          <p:cNvSpPr>
            <a:spLocks xmlns:a="http://schemas.openxmlformats.org/drawingml/2006/main" noGrp="1"/>
          </p:cNvSpPr>
          <p:nvPr/>
        </p:nvSpPr>
        <p:spPr>
          <a:xfrm xmlns:a="http://schemas.openxmlformats.org/drawingml/2006/main" rot="0" flipH="0" flipV="1">
            <a:off x="-2327163"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平行四边形 25">
            <a:extLst xmlns:a="http://schemas.openxmlformats.org/drawingml/2006/main">
              <a:ext uri="{FF2B5EF4-FFF2-40B4-BE49-F238E27FC236}">
                <a16:creationId xmlns:a16="http://schemas.microsoft.com/office/drawing/2014/main" id="{EEF4876F-62D2-43EC-B675-FCD909CF6B8F}"/>
              </a:ext>
            </a:extLst>
          </p:cNvPr>
          <p:cNvSpPr>
            <a:spLocks xmlns:a="http://schemas.openxmlformats.org/drawingml/2006/main" noGrp="1"/>
          </p:cNvSpPr>
          <p:nvPr/>
        </p:nvSpPr>
        <p:spPr>
          <a:xfrm xmlns:a="http://schemas.openxmlformats.org/drawingml/2006/main" rot="0" flipH="0" flipV="0">
            <a:off x="-2940249"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平行四边形 26">
            <a:extLst xmlns:a="http://schemas.openxmlformats.org/drawingml/2006/main">
              <a:ext uri="{FF2B5EF4-FFF2-40B4-BE49-F238E27FC236}">
                <a16:creationId xmlns:a16="http://schemas.microsoft.com/office/drawing/2014/main" id="{9790F3FE-0C96-B9D7-7923-842DF459CA59}"/>
              </a:ext>
            </a:extLst>
          </p:cNvPr>
          <p:cNvSpPr>
            <a:spLocks xmlns:a="http://schemas.openxmlformats.org/drawingml/2006/main" noGrp="1"/>
          </p:cNvSpPr>
          <p:nvPr/>
        </p:nvSpPr>
        <p:spPr>
          <a:xfrm xmlns:a="http://schemas.openxmlformats.org/drawingml/2006/main" rot="0" flipH="0" flipV="0">
            <a:off x="-2844300"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平行四边形 27">
            <a:extLst xmlns:a="http://schemas.openxmlformats.org/drawingml/2006/main">
              <a:ext uri="{FF2B5EF4-FFF2-40B4-BE49-F238E27FC236}">
                <a16:creationId xmlns:a16="http://schemas.microsoft.com/office/drawing/2014/main" id="{2C0FC895-BC08-8220-117A-E16A90AD0B10}"/>
              </a:ext>
            </a:extLst>
          </p:cNvPr>
          <p:cNvSpPr>
            <a:spLocks xmlns:a="http://schemas.openxmlformats.org/drawingml/2006/main" noGrp="1"/>
          </p:cNvSpPr>
          <p:nvPr/>
        </p:nvSpPr>
        <p:spPr>
          <a:xfrm xmlns:a="http://schemas.openxmlformats.org/drawingml/2006/main" rot="0" flipH="0" flipV="0">
            <a:off x="-2748351"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平行四边形 28">
            <a:extLst xmlns:a="http://schemas.openxmlformats.org/drawingml/2006/main">
              <a:ext uri="{FF2B5EF4-FFF2-40B4-BE49-F238E27FC236}">
                <a16:creationId xmlns:a16="http://schemas.microsoft.com/office/drawing/2014/main" id="{EF70FEE5-4B73-B457-A930-BE010070B819}"/>
              </a:ext>
            </a:extLst>
          </p:cNvPr>
          <p:cNvSpPr>
            <a:spLocks xmlns:a="http://schemas.openxmlformats.org/drawingml/2006/main" noGrp="1"/>
          </p:cNvSpPr>
          <p:nvPr/>
        </p:nvSpPr>
        <p:spPr>
          <a:xfrm xmlns:a="http://schemas.openxmlformats.org/drawingml/2006/main" rot="0" flipH="0" flipV="0">
            <a:off x="-2652402"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平行四边形 29">
            <a:extLst xmlns:a="http://schemas.openxmlformats.org/drawingml/2006/main">
              <a:ext uri="{FF2B5EF4-FFF2-40B4-BE49-F238E27FC236}">
                <a16:creationId xmlns:a16="http://schemas.microsoft.com/office/drawing/2014/main" id="{BEB22EBA-B6BB-9F5C-E376-485B0CAB65AC}"/>
              </a:ext>
            </a:extLst>
          </p:cNvPr>
          <p:cNvSpPr>
            <a:spLocks xmlns:a="http://schemas.openxmlformats.org/drawingml/2006/main" noGrp="1"/>
          </p:cNvSpPr>
          <p:nvPr/>
        </p:nvSpPr>
        <p:spPr>
          <a:xfrm xmlns:a="http://schemas.openxmlformats.org/drawingml/2006/main" rot="0" flipH="0" flipV="0">
            <a:off x="-2556453"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9.xml><?xml version="1.0" encoding="utf-8"?>
<p:sldLayout xmlns:p="http://schemas.openxmlformats.org/presentationml/2006/main" preserve="1" userDrawn="1">
  <p:cSld name="思考 ">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f1dc716d8fb64b1e"/>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BD227C66-B9F3-97BE-8312-3D18ECEE8B95}"/>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3C333C4B-9E5C-847F-E9F8-76255BDE1E3D}"/>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4b126958e7574570"/>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3" name="文本框 12">
            <a:extLst xmlns:a="http://schemas.openxmlformats.org/drawingml/2006/main">
              <a:ext uri="{FF2B5EF4-FFF2-40B4-BE49-F238E27FC236}">
                <a16:creationId xmlns:a16="http://schemas.microsoft.com/office/drawing/2014/main" id="{9E39EC3C-CF76-4705-79D0-10D3706C4D92}"/>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 name="PA-文本框 47">
            <a:extLst xmlns:a="http://schemas.openxmlformats.org/drawingml/2006/main">
              <a:ext uri="{FF2B5EF4-FFF2-40B4-BE49-F238E27FC236}">
                <a16:creationId xmlns:a16="http://schemas.microsoft.com/office/drawing/2014/main" id="{E6488CDA-5717-7C52-55E2-4CF69B10BA43}"/>
              </a:ext>
            </a:extLst>
          </p:cNvPr>
          <p:cNvSpPr>
            <a:spLocks xmlns:a="http://schemas.openxmlformats.org/drawingml/2006/main" noGrp="1"/>
          </p:cNvSpPr>
          <p:nvPr/>
        </p:nvSpPr>
        <p:spPr>
          <a:xfrm xmlns:a="http://schemas.openxmlformats.org/drawingml/2006/main">
            <a:off x="270158" y="117840"/>
            <a:ext cx="3743302"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lt"/>
                <a:ea typeface="+mj-lt"/>
                <a:cs typeface="+mj-lt"/>
              </a:rPr>
              <a:t>思考题与习题</a:t>
            </a:r>
          </a:p>
        </p:txBody>
      </p:sp>
      <p:sp>
        <p:nvSpPr>
          <p:cNvPr id="21" name="平行四边形 20">
            <a:extLst xmlns:a="http://schemas.openxmlformats.org/drawingml/2006/main">
              <a:ext uri="{FF2B5EF4-FFF2-40B4-BE49-F238E27FC236}">
                <a16:creationId xmlns:a16="http://schemas.microsoft.com/office/drawing/2014/main" id="{1595ED0D-896D-44ED-CF1E-B7CA60388034}"/>
              </a:ext>
            </a:extLst>
          </p:cNvPr>
          <p:cNvSpPr>
            <a:spLocks xmlns:a="http://schemas.openxmlformats.org/drawingml/2006/main" noGrp="1"/>
          </p:cNvSpPr>
          <p:nvPr/>
        </p:nvSpPr>
        <p:spPr>
          <a:xfrm xmlns:a="http://schemas.openxmlformats.org/drawingml/2006/main" rot="0" flipH="0" flipV="0">
            <a:off x="-1614598"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平行四边形 21">
            <a:extLst xmlns:a="http://schemas.openxmlformats.org/drawingml/2006/main">
              <a:ext uri="{FF2B5EF4-FFF2-40B4-BE49-F238E27FC236}">
                <a16:creationId xmlns:a16="http://schemas.microsoft.com/office/drawing/2014/main" id="{3333931F-63BE-B168-45A5-0684D42E5343}"/>
              </a:ext>
            </a:extLst>
          </p:cNvPr>
          <p:cNvSpPr>
            <a:spLocks xmlns:a="http://schemas.openxmlformats.org/drawingml/2006/main" noGrp="1"/>
          </p:cNvSpPr>
          <p:nvPr/>
        </p:nvSpPr>
        <p:spPr>
          <a:xfrm xmlns:a="http://schemas.openxmlformats.org/drawingml/2006/main" rot="0" flipH="0" flipV="0">
            <a:off x="-1896639"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直接连接符 30">
            <a:extLst xmlns:a="http://schemas.openxmlformats.org/drawingml/2006/main">
              <a:ext uri="{FF2B5EF4-FFF2-40B4-BE49-F238E27FC236}">
                <a16:creationId xmlns:a16="http://schemas.microsoft.com/office/drawing/2014/main" id="{53505496-8EC6-4EC7-AB0C-239085209D9A}"/>
              </a:ext>
            </a:extLst>
          </p:cNvPr>
          <p:cNvSpPr>
            <a:spLocks xmlns:a="http://schemas.openxmlformats.org/drawingml/2006/main" noGrp="1"/>
          </p:cNvSpPr>
          <p:nvPr/>
        </p:nvSpPr>
        <p:spPr>
          <a:xfrm xmlns:a="http://schemas.openxmlformats.org/drawingml/2006/main" rot="0" flipH="0" flipV="1">
            <a:off x="-3543431"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直接连接符 31">
            <a:extLst xmlns:a="http://schemas.openxmlformats.org/drawingml/2006/main">
              <a:ext uri="{FF2B5EF4-FFF2-40B4-BE49-F238E27FC236}">
                <a16:creationId xmlns:a16="http://schemas.microsoft.com/office/drawing/2014/main" id="{AD6E798A-8FCB-4DFE-81C3-C186A0F1B9BC}"/>
              </a:ext>
            </a:extLst>
          </p:cNvPr>
          <p:cNvSpPr>
            <a:spLocks xmlns:a="http://schemas.openxmlformats.org/drawingml/2006/main" noGrp="1"/>
          </p:cNvSpPr>
          <p:nvPr/>
        </p:nvSpPr>
        <p:spPr>
          <a:xfrm xmlns:a="http://schemas.openxmlformats.org/drawingml/2006/main" rot="0" flipH="0" flipV="0">
            <a:off x="-3165266"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4" name="直接连接符 23">
            <a:extLst xmlns:a="http://schemas.openxmlformats.org/drawingml/2006/main">
              <a:ext uri="{FF2B5EF4-FFF2-40B4-BE49-F238E27FC236}">
                <a16:creationId xmlns:a16="http://schemas.microsoft.com/office/drawing/2014/main" id="{DFB21F2C-BEB7-4BC2-925F-3BF040A76DA9}"/>
              </a:ext>
            </a:extLst>
          </p:cNvPr>
          <p:cNvSpPr>
            <a:spLocks xmlns:a="http://schemas.openxmlformats.org/drawingml/2006/main" noGrp="1"/>
          </p:cNvSpPr>
          <p:nvPr/>
        </p:nvSpPr>
        <p:spPr>
          <a:xfrm xmlns:a="http://schemas.openxmlformats.org/drawingml/2006/main" rot="0" flipH="0" flipV="1">
            <a:off x="-2327163"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平行四边形 25">
            <a:extLst xmlns:a="http://schemas.openxmlformats.org/drawingml/2006/main">
              <a:ext uri="{FF2B5EF4-FFF2-40B4-BE49-F238E27FC236}">
                <a16:creationId xmlns:a16="http://schemas.microsoft.com/office/drawing/2014/main" id="{60126C15-88A8-6DC7-C4CC-C878B600BDDF}"/>
              </a:ext>
            </a:extLst>
          </p:cNvPr>
          <p:cNvSpPr>
            <a:spLocks xmlns:a="http://schemas.openxmlformats.org/drawingml/2006/main" noGrp="1"/>
          </p:cNvSpPr>
          <p:nvPr/>
        </p:nvSpPr>
        <p:spPr>
          <a:xfrm xmlns:a="http://schemas.openxmlformats.org/drawingml/2006/main" rot="0" flipH="0" flipV="0">
            <a:off x="-2940249"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平行四边形 26">
            <a:extLst xmlns:a="http://schemas.openxmlformats.org/drawingml/2006/main">
              <a:ext uri="{FF2B5EF4-FFF2-40B4-BE49-F238E27FC236}">
                <a16:creationId xmlns:a16="http://schemas.microsoft.com/office/drawing/2014/main" id="{5C599533-F6A2-679B-55F2-F072D3CE9E1A}"/>
              </a:ext>
            </a:extLst>
          </p:cNvPr>
          <p:cNvSpPr>
            <a:spLocks xmlns:a="http://schemas.openxmlformats.org/drawingml/2006/main" noGrp="1"/>
          </p:cNvSpPr>
          <p:nvPr/>
        </p:nvSpPr>
        <p:spPr>
          <a:xfrm xmlns:a="http://schemas.openxmlformats.org/drawingml/2006/main" rot="0" flipH="0" flipV="0">
            <a:off x="-2844300"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平行四边形 27">
            <a:extLst xmlns:a="http://schemas.openxmlformats.org/drawingml/2006/main">
              <a:ext uri="{FF2B5EF4-FFF2-40B4-BE49-F238E27FC236}">
                <a16:creationId xmlns:a16="http://schemas.microsoft.com/office/drawing/2014/main" id="{C5890825-8A02-D21A-044B-E054902B3B00}"/>
              </a:ext>
            </a:extLst>
          </p:cNvPr>
          <p:cNvSpPr>
            <a:spLocks xmlns:a="http://schemas.openxmlformats.org/drawingml/2006/main" noGrp="1"/>
          </p:cNvSpPr>
          <p:nvPr/>
        </p:nvSpPr>
        <p:spPr>
          <a:xfrm xmlns:a="http://schemas.openxmlformats.org/drawingml/2006/main" rot="0" flipH="0" flipV="0">
            <a:off x="-2748351"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平行四边形 28">
            <a:extLst xmlns:a="http://schemas.openxmlformats.org/drawingml/2006/main">
              <a:ext uri="{FF2B5EF4-FFF2-40B4-BE49-F238E27FC236}">
                <a16:creationId xmlns:a16="http://schemas.microsoft.com/office/drawing/2014/main" id="{3F6E840D-74D4-C632-FEB7-908CB829E213}"/>
              </a:ext>
            </a:extLst>
          </p:cNvPr>
          <p:cNvSpPr>
            <a:spLocks xmlns:a="http://schemas.openxmlformats.org/drawingml/2006/main" noGrp="1"/>
          </p:cNvSpPr>
          <p:nvPr/>
        </p:nvSpPr>
        <p:spPr>
          <a:xfrm xmlns:a="http://schemas.openxmlformats.org/drawingml/2006/main" rot="0" flipH="0" flipV="0">
            <a:off x="-2652402"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平行四边形 29">
            <a:extLst xmlns:a="http://schemas.openxmlformats.org/drawingml/2006/main">
              <a:ext uri="{FF2B5EF4-FFF2-40B4-BE49-F238E27FC236}">
                <a16:creationId xmlns:a16="http://schemas.microsoft.com/office/drawing/2014/main" id="{B4A04225-1CB2-9251-DA95-8AE075EAA8F2}"/>
              </a:ext>
            </a:extLst>
          </p:cNvPr>
          <p:cNvSpPr>
            <a:spLocks xmlns:a="http://schemas.openxmlformats.org/drawingml/2006/main" noGrp="1"/>
          </p:cNvSpPr>
          <p:nvPr/>
        </p:nvSpPr>
        <p:spPr>
          <a:xfrm xmlns:a="http://schemas.openxmlformats.org/drawingml/2006/main" rot="0" flipH="0" flipV="0">
            <a:off x="-2556453"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0.xml><?xml version="1.0" encoding="utf-8"?>
<p:sldLayout xmlns:p="http://schemas.openxmlformats.org/presentationml/2006/main" preserve="1" userDrawn="1">
  <p:cSld name="5.1">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db1a6f98a9a14b88"/>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37A5EF8E-EBB8-444F-8B52-A5F2D6D95222}"/>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C2552814-3BF6-4477-AB18-3FF6E230D13A}"/>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971a75ecc350434c"/>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3" name="文本框 12">
            <a:extLst xmlns:a="http://schemas.openxmlformats.org/drawingml/2006/main">
              <a:ext uri="{FF2B5EF4-FFF2-40B4-BE49-F238E27FC236}">
                <a16:creationId xmlns:a16="http://schemas.microsoft.com/office/drawing/2014/main" id="{BC1A8DCA-01F6-48A3-B883-A37BE12E96C2}"/>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 name="PA-文本框 47">
            <a:extLst xmlns:a="http://schemas.openxmlformats.org/drawingml/2006/main">
              <a:ext uri="{FF2B5EF4-FFF2-40B4-BE49-F238E27FC236}">
                <a16:creationId xmlns:a16="http://schemas.microsoft.com/office/drawing/2014/main" id="{BCE9CC17-8038-402A-A353-8AC03C79BF5B}"/>
              </a:ext>
            </a:extLst>
          </p:cNvPr>
          <p:cNvSpPr>
            <a:spLocks xmlns:a="http://schemas.openxmlformats.org/drawingml/2006/main" noGrp="1"/>
          </p:cNvSpPr>
          <p:nvPr/>
        </p:nvSpPr>
        <p:spPr>
          <a:xfrm xmlns:a="http://schemas.openxmlformats.org/drawingml/2006/main">
            <a:off x="269875" y="118428"/>
            <a:ext cx="4921250" cy="52197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lt"/>
                <a:ea typeface="+mj-lt"/>
                <a:cs typeface="+mj-lt"/>
              </a:rPr>
              <a:t>5.1 </a:t>
            </a:r>
            <a:r>
              <a:rPr sz="2800" b="1" spc="0">
                <a:solidFill>
                  <a:schemeClr val="bg1"/>
                </a:solidFill>
                <a:effectLst>
                  <a:outerShdw blurRad="101600" dist="12700" dir="5400000" algn="t" rotWithShape="0">
                    <a:schemeClr val="accent3">
                      <a:alpha val="85000"/>
                    </a:schemeClr>
                  </a:outerShdw>
                </a:effectLst>
                <a:latin typeface="+mj-lt"/>
                <a:ea typeface="+mj-lt"/>
                <a:cs typeface="+mj-lt"/>
              </a:rPr>
              <a:t>基于学习的智能导航基础</a:t>
            </a:r>
            <a:endParaRPr sz="2800" b="1" spc="0">
              <a:solidFill>
                <a:schemeClr val="bg1"/>
              </a:solidFill>
              <a:effectLst>
                <a:outerShdw blurRad="101600" dist="12700" dir="5400000" algn="t" rotWithShape="0">
                  <a:schemeClr val="accent3">
                    <a:alpha val="85000"/>
                  </a:schemeClr>
                </a:outerShdw>
              </a:effectLst>
              <a:latin typeface="+mj-lt"/>
              <a:ea typeface="+mj-lt"/>
              <a:cs typeface="+mj-lt"/>
            </a:endParaRPr>
          </a:p>
        </p:txBody>
      </p:sp>
      <p:sp>
        <p:nvSpPr>
          <p:cNvPr id="4" name="平行四边形 3">
            <a:extLst xmlns:a="http://schemas.openxmlformats.org/drawingml/2006/main">
              <a:ext uri="{FF2B5EF4-FFF2-40B4-BE49-F238E27FC236}">
                <a16:creationId xmlns:a16="http://schemas.microsoft.com/office/drawing/2014/main" id="{3BE5575C-BF44-44D7-9EC0-2FD77191E624}"/>
              </a:ext>
            </a:extLst>
          </p:cNvPr>
          <p:cNvSpPr>
            <a:spLocks xmlns:a="http://schemas.openxmlformats.org/drawingml/2006/main" noGrp="1"/>
          </p:cNvSpPr>
          <p:nvPr/>
        </p:nvSpPr>
        <p:spPr>
          <a:xfrm xmlns:a="http://schemas.openxmlformats.org/drawingml/2006/main" rot="0" flipH="0" flipV="0">
            <a:off x="180030"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平行四边形 6">
            <a:extLst xmlns:a="http://schemas.openxmlformats.org/drawingml/2006/main">
              <a:ext uri="{FF2B5EF4-FFF2-40B4-BE49-F238E27FC236}">
                <a16:creationId xmlns:a16="http://schemas.microsoft.com/office/drawing/2014/main" id="{E1036F84-C9E5-490C-AA71-D01CB3862FDA}"/>
              </a:ext>
            </a:extLst>
          </p:cNvPr>
          <p:cNvSpPr>
            <a:spLocks xmlns:a="http://schemas.openxmlformats.org/drawingml/2006/main" noGrp="1"/>
          </p:cNvSpPr>
          <p:nvPr/>
        </p:nvSpPr>
        <p:spPr>
          <a:xfrm xmlns:a="http://schemas.openxmlformats.org/drawingml/2006/main" rot="0" flipH="0" flipV="0">
            <a:off x="-102011"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直接连接符 17">
            <a:extLst xmlns:a="http://schemas.openxmlformats.org/drawingml/2006/main">
              <a:ext uri="{FF2B5EF4-FFF2-40B4-BE49-F238E27FC236}">
                <a16:creationId xmlns:a16="http://schemas.microsoft.com/office/drawing/2014/main" id="{49C21AF9-AC67-4CBE-BCF5-BC65AACD8B8A}"/>
              </a:ext>
            </a:extLst>
          </p:cNvPr>
          <p:cNvSpPr>
            <a:spLocks xmlns:a="http://schemas.openxmlformats.org/drawingml/2006/main" noGrp="1"/>
          </p:cNvSpPr>
          <p:nvPr/>
        </p:nvSpPr>
        <p:spPr>
          <a:xfrm xmlns:a="http://schemas.openxmlformats.org/drawingml/2006/main" rot="0" flipH="0" flipV="1">
            <a:off x="-1748803"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直接连接符 18">
            <a:extLst xmlns:a="http://schemas.openxmlformats.org/drawingml/2006/main">
              <a:ext uri="{FF2B5EF4-FFF2-40B4-BE49-F238E27FC236}">
                <a16:creationId xmlns:a16="http://schemas.microsoft.com/office/drawing/2014/main" id="{76AF09ED-63CB-4D06-93FD-534E652488B6}"/>
              </a:ext>
            </a:extLst>
          </p:cNvPr>
          <p:cNvSpPr>
            <a:spLocks xmlns:a="http://schemas.openxmlformats.org/drawingml/2006/main" noGrp="1"/>
          </p:cNvSpPr>
          <p:nvPr/>
        </p:nvSpPr>
        <p:spPr>
          <a:xfrm xmlns:a="http://schemas.openxmlformats.org/drawingml/2006/main" rot="0" flipH="0" flipV="0">
            <a:off x="-1370638"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直接连接符 8">
            <a:extLst xmlns:a="http://schemas.openxmlformats.org/drawingml/2006/main">
              <a:ext uri="{FF2B5EF4-FFF2-40B4-BE49-F238E27FC236}">
                <a16:creationId xmlns:a16="http://schemas.microsoft.com/office/drawing/2014/main" id="{1A6017F6-1569-4F3A-BF88-71011C4322D6}"/>
              </a:ext>
            </a:extLst>
          </p:cNvPr>
          <p:cNvSpPr>
            <a:spLocks xmlns:a="http://schemas.openxmlformats.org/drawingml/2006/main" noGrp="1"/>
          </p:cNvSpPr>
          <p:nvPr/>
        </p:nvSpPr>
        <p:spPr>
          <a:xfrm xmlns:a="http://schemas.openxmlformats.org/drawingml/2006/main" rot="0" flipH="0" flipV="1">
            <a:off x="-532535"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平行四边形 11">
            <a:extLst xmlns:a="http://schemas.openxmlformats.org/drawingml/2006/main">
              <a:ext uri="{FF2B5EF4-FFF2-40B4-BE49-F238E27FC236}">
                <a16:creationId xmlns:a16="http://schemas.microsoft.com/office/drawing/2014/main" id="{300B5A82-3AA1-449E-A761-475C99354E97}"/>
              </a:ext>
            </a:extLst>
          </p:cNvPr>
          <p:cNvSpPr>
            <a:spLocks xmlns:a="http://schemas.openxmlformats.org/drawingml/2006/main" noGrp="1"/>
          </p:cNvSpPr>
          <p:nvPr/>
        </p:nvSpPr>
        <p:spPr>
          <a:xfrm xmlns:a="http://schemas.openxmlformats.org/drawingml/2006/main" rot="0" flipH="0" flipV="0">
            <a:off x="-1145621"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平行四边形 13">
            <a:extLst xmlns:a="http://schemas.openxmlformats.org/drawingml/2006/main">
              <a:ext uri="{FF2B5EF4-FFF2-40B4-BE49-F238E27FC236}">
                <a16:creationId xmlns:a16="http://schemas.microsoft.com/office/drawing/2014/main" id="{8476BE8A-FF22-49EA-A329-BD435301124F}"/>
              </a:ext>
            </a:extLst>
          </p:cNvPr>
          <p:cNvSpPr>
            <a:spLocks xmlns:a="http://schemas.openxmlformats.org/drawingml/2006/main" noGrp="1"/>
          </p:cNvSpPr>
          <p:nvPr/>
        </p:nvSpPr>
        <p:spPr>
          <a:xfrm xmlns:a="http://schemas.openxmlformats.org/drawingml/2006/main" rot="0" flipH="0" flipV="0">
            <a:off x="-1049672"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A1BBECA3-5B0B-4101-9A8E-0434D26778F6}"/>
              </a:ext>
            </a:extLst>
          </p:cNvPr>
          <p:cNvSpPr>
            <a:spLocks xmlns:a="http://schemas.openxmlformats.org/drawingml/2006/main" noGrp="1"/>
          </p:cNvSpPr>
          <p:nvPr/>
        </p:nvSpPr>
        <p:spPr>
          <a:xfrm xmlns:a="http://schemas.openxmlformats.org/drawingml/2006/main" rot="0" flipH="0" flipV="0">
            <a:off x="-953723"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98D39364-8EE7-4F13-A07E-8D9735EEA9CD}"/>
              </a:ext>
            </a:extLst>
          </p:cNvPr>
          <p:cNvSpPr>
            <a:spLocks xmlns:a="http://schemas.openxmlformats.org/drawingml/2006/main" noGrp="1"/>
          </p:cNvSpPr>
          <p:nvPr/>
        </p:nvSpPr>
        <p:spPr>
          <a:xfrm xmlns:a="http://schemas.openxmlformats.org/drawingml/2006/main" rot="0" flipH="0" flipV="0">
            <a:off x="-857774"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平行四边形 16">
            <a:extLst xmlns:a="http://schemas.openxmlformats.org/drawingml/2006/main">
              <a:ext uri="{FF2B5EF4-FFF2-40B4-BE49-F238E27FC236}">
                <a16:creationId xmlns:a16="http://schemas.microsoft.com/office/drawing/2014/main" id="{5803D159-8D84-45FD-BC90-92B435FC1067}"/>
              </a:ext>
            </a:extLst>
          </p:cNvPr>
          <p:cNvSpPr>
            <a:spLocks xmlns:a="http://schemas.openxmlformats.org/drawingml/2006/main" noGrp="1"/>
          </p:cNvSpPr>
          <p:nvPr/>
        </p:nvSpPr>
        <p:spPr>
          <a:xfrm xmlns:a="http://schemas.openxmlformats.org/drawingml/2006/main" rot="0" flipH="0" flipV="0">
            <a:off x="-761825"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1.xml><?xml version="1.0" encoding="utf-8"?>
<p:sldLayout xmlns:p="http://schemas.openxmlformats.org/presentationml/2006/main" preserve="1" userDrawn="1">
  <p:cSld name="5.2">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b7d8bfc23d9f4ac2"/>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35725298-ABED-41AF-BF2A-2FEEE19E6C08}"/>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8AF8BF8A-16C8-4DE9-9E5F-71E1F67A10FF}"/>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1607d8c27fc749ff"/>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3" name="文本框 12">
            <a:extLst xmlns:a="http://schemas.openxmlformats.org/drawingml/2006/main">
              <a:ext uri="{FF2B5EF4-FFF2-40B4-BE49-F238E27FC236}">
                <a16:creationId xmlns:a16="http://schemas.microsoft.com/office/drawing/2014/main" id="{5C84A35E-9E2A-4D2D-9F5D-708F1DB2EFE1}"/>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 name="PA-文本框 47">
            <a:extLst xmlns:a="http://schemas.openxmlformats.org/drawingml/2006/main">
              <a:ext uri="{FF2B5EF4-FFF2-40B4-BE49-F238E27FC236}">
                <a16:creationId xmlns:a16="http://schemas.microsoft.com/office/drawing/2014/main" id="{3572EFB5-F4C0-4569-B569-D4F51699EBA7}"/>
              </a:ext>
            </a:extLst>
          </p:cNvPr>
          <p:cNvSpPr>
            <a:spLocks xmlns:a="http://schemas.openxmlformats.org/drawingml/2006/main" noGrp="1"/>
          </p:cNvSpPr>
          <p:nvPr/>
        </p:nvSpPr>
        <p:spPr>
          <a:xfrm xmlns:a="http://schemas.openxmlformats.org/drawingml/2006/main">
            <a:off x="269875" y="118428"/>
            <a:ext cx="5826125" cy="52197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lt"/>
                <a:ea typeface="+mj-lt"/>
                <a:cs typeface="+mj-lt"/>
              </a:rPr>
              <a:t>5.2 </a:t>
            </a:r>
            <a:r>
              <a:rPr sz="2800" b="1" spc="0">
                <a:solidFill>
                  <a:schemeClr val="bg1"/>
                </a:solidFill>
                <a:effectLst>
                  <a:outerShdw blurRad="101600" dist="12700" dir="5400000" algn="t" rotWithShape="0">
                    <a:schemeClr val="accent3">
                      <a:alpha val="85000"/>
                    </a:schemeClr>
                  </a:outerShdw>
                </a:effectLst>
                <a:latin typeface="+mj-lt"/>
                <a:ea typeface="+mj-lt"/>
                <a:cs typeface="+mj-lt"/>
              </a:rPr>
              <a:t>基于传统机器学习的导航方法</a:t>
            </a:r>
          </a:p>
        </p:txBody>
      </p:sp>
      <p:sp>
        <p:nvSpPr>
          <p:cNvPr id="4" name="平行四边形 3">
            <a:extLst xmlns:a="http://schemas.openxmlformats.org/drawingml/2006/main">
              <a:ext uri="{FF2B5EF4-FFF2-40B4-BE49-F238E27FC236}">
                <a16:creationId xmlns:a16="http://schemas.microsoft.com/office/drawing/2014/main" id="{CACAE356-8318-41F3-B19B-D2B77AF0CC03}"/>
              </a:ext>
            </a:extLst>
          </p:cNvPr>
          <p:cNvSpPr>
            <a:spLocks xmlns:a="http://schemas.openxmlformats.org/drawingml/2006/main" noGrp="1"/>
          </p:cNvSpPr>
          <p:nvPr/>
        </p:nvSpPr>
        <p:spPr>
          <a:xfrm xmlns:a="http://schemas.openxmlformats.org/drawingml/2006/main" rot="0" flipH="0" flipV="0">
            <a:off x="180030"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平行四边形 6">
            <a:extLst xmlns:a="http://schemas.openxmlformats.org/drawingml/2006/main">
              <a:ext uri="{FF2B5EF4-FFF2-40B4-BE49-F238E27FC236}">
                <a16:creationId xmlns:a16="http://schemas.microsoft.com/office/drawing/2014/main" id="{BD19C933-F1DB-479D-8FD9-2FDBFE28D050}"/>
              </a:ext>
            </a:extLst>
          </p:cNvPr>
          <p:cNvSpPr>
            <a:spLocks xmlns:a="http://schemas.openxmlformats.org/drawingml/2006/main" noGrp="1"/>
          </p:cNvSpPr>
          <p:nvPr/>
        </p:nvSpPr>
        <p:spPr>
          <a:xfrm xmlns:a="http://schemas.openxmlformats.org/drawingml/2006/main" rot="0" flipH="0" flipV="0">
            <a:off x="-102011"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直接连接符 17">
            <a:extLst xmlns:a="http://schemas.openxmlformats.org/drawingml/2006/main">
              <a:ext uri="{FF2B5EF4-FFF2-40B4-BE49-F238E27FC236}">
                <a16:creationId xmlns:a16="http://schemas.microsoft.com/office/drawing/2014/main" id="{3C924BCD-D7CD-42A0-AE34-3554965D6F86}"/>
              </a:ext>
            </a:extLst>
          </p:cNvPr>
          <p:cNvSpPr>
            <a:spLocks xmlns:a="http://schemas.openxmlformats.org/drawingml/2006/main" noGrp="1"/>
          </p:cNvSpPr>
          <p:nvPr/>
        </p:nvSpPr>
        <p:spPr>
          <a:xfrm xmlns:a="http://schemas.openxmlformats.org/drawingml/2006/main" rot="0" flipH="0" flipV="1">
            <a:off x="-1748803"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直接连接符 18">
            <a:extLst xmlns:a="http://schemas.openxmlformats.org/drawingml/2006/main">
              <a:ext uri="{FF2B5EF4-FFF2-40B4-BE49-F238E27FC236}">
                <a16:creationId xmlns:a16="http://schemas.microsoft.com/office/drawing/2014/main" id="{8E1D86BF-070D-41D1-AB3B-EC1353298110}"/>
              </a:ext>
            </a:extLst>
          </p:cNvPr>
          <p:cNvSpPr>
            <a:spLocks xmlns:a="http://schemas.openxmlformats.org/drawingml/2006/main" noGrp="1"/>
          </p:cNvSpPr>
          <p:nvPr/>
        </p:nvSpPr>
        <p:spPr>
          <a:xfrm xmlns:a="http://schemas.openxmlformats.org/drawingml/2006/main" rot="0" flipH="0" flipV="0">
            <a:off x="-1370638"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直接连接符 8">
            <a:extLst xmlns:a="http://schemas.openxmlformats.org/drawingml/2006/main">
              <a:ext uri="{FF2B5EF4-FFF2-40B4-BE49-F238E27FC236}">
                <a16:creationId xmlns:a16="http://schemas.microsoft.com/office/drawing/2014/main" id="{BDE05CCF-33C4-435C-A882-045038C41C5A}"/>
              </a:ext>
            </a:extLst>
          </p:cNvPr>
          <p:cNvSpPr>
            <a:spLocks xmlns:a="http://schemas.openxmlformats.org/drawingml/2006/main" noGrp="1"/>
          </p:cNvSpPr>
          <p:nvPr/>
        </p:nvSpPr>
        <p:spPr>
          <a:xfrm xmlns:a="http://schemas.openxmlformats.org/drawingml/2006/main" rot="0" flipH="0" flipV="1">
            <a:off x="-532535"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平行四边形 11">
            <a:extLst xmlns:a="http://schemas.openxmlformats.org/drawingml/2006/main">
              <a:ext uri="{FF2B5EF4-FFF2-40B4-BE49-F238E27FC236}">
                <a16:creationId xmlns:a16="http://schemas.microsoft.com/office/drawing/2014/main" id="{92D67579-7920-43C2-A3D9-5E16C66C13C7}"/>
              </a:ext>
            </a:extLst>
          </p:cNvPr>
          <p:cNvSpPr>
            <a:spLocks xmlns:a="http://schemas.openxmlformats.org/drawingml/2006/main" noGrp="1"/>
          </p:cNvSpPr>
          <p:nvPr/>
        </p:nvSpPr>
        <p:spPr>
          <a:xfrm xmlns:a="http://schemas.openxmlformats.org/drawingml/2006/main" rot="0" flipH="0" flipV="0">
            <a:off x="-1145621"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平行四边形 13">
            <a:extLst xmlns:a="http://schemas.openxmlformats.org/drawingml/2006/main">
              <a:ext uri="{FF2B5EF4-FFF2-40B4-BE49-F238E27FC236}">
                <a16:creationId xmlns:a16="http://schemas.microsoft.com/office/drawing/2014/main" id="{2C862B2D-990F-4B12-96D8-B23D7F7A4A31}"/>
              </a:ext>
            </a:extLst>
          </p:cNvPr>
          <p:cNvSpPr>
            <a:spLocks xmlns:a="http://schemas.openxmlformats.org/drawingml/2006/main" noGrp="1"/>
          </p:cNvSpPr>
          <p:nvPr/>
        </p:nvSpPr>
        <p:spPr>
          <a:xfrm xmlns:a="http://schemas.openxmlformats.org/drawingml/2006/main" rot="0" flipH="0" flipV="0">
            <a:off x="-1049672"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1D5CB99D-B3C8-41C4-8852-B5CEDBFB9B54}"/>
              </a:ext>
            </a:extLst>
          </p:cNvPr>
          <p:cNvSpPr>
            <a:spLocks xmlns:a="http://schemas.openxmlformats.org/drawingml/2006/main" noGrp="1"/>
          </p:cNvSpPr>
          <p:nvPr/>
        </p:nvSpPr>
        <p:spPr>
          <a:xfrm xmlns:a="http://schemas.openxmlformats.org/drawingml/2006/main" rot="0" flipH="0" flipV="0">
            <a:off x="-953723"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90E80AF3-A8B8-4901-9966-9E24527BFE2A}"/>
              </a:ext>
            </a:extLst>
          </p:cNvPr>
          <p:cNvSpPr>
            <a:spLocks xmlns:a="http://schemas.openxmlformats.org/drawingml/2006/main" noGrp="1"/>
          </p:cNvSpPr>
          <p:nvPr/>
        </p:nvSpPr>
        <p:spPr>
          <a:xfrm xmlns:a="http://schemas.openxmlformats.org/drawingml/2006/main" rot="0" flipH="0" flipV="0">
            <a:off x="-857774"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平行四边形 16">
            <a:extLst xmlns:a="http://schemas.openxmlformats.org/drawingml/2006/main">
              <a:ext uri="{FF2B5EF4-FFF2-40B4-BE49-F238E27FC236}">
                <a16:creationId xmlns:a16="http://schemas.microsoft.com/office/drawing/2014/main" id="{29949098-8D57-4B98-9A50-EA7B54B68961}"/>
              </a:ext>
            </a:extLst>
          </p:cNvPr>
          <p:cNvSpPr>
            <a:spLocks xmlns:a="http://schemas.openxmlformats.org/drawingml/2006/main" noGrp="1"/>
          </p:cNvSpPr>
          <p:nvPr/>
        </p:nvSpPr>
        <p:spPr>
          <a:xfrm xmlns:a="http://schemas.openxmlformats.org/drawingml/2006/main" rot="0" flipH="0" flipV="0">
            <a:off x="-761825"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userDrawn="1">
  <p:cSld name="6.1">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91969fc1ee1f4e8e"/>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BD227C66-B9F3-97BE-8312-3D18ECEE8B95}"/>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3C333C4B-9E5C-847F-E9F8-76255BDE1E3D}"/>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87af31b38fc74a5a"/>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3" name="文本框 12">
            <a:extLst xmlns:a="http://schemas.openxmlformats.org/drawingml/2006/main">
              <a:ext uri="{FF2B5EF4-FFF2-40B4-BE49-F238E27FC236}">
                <a16:creationId xmlns:a16="http://schemas.microsoft.com/office/drawing/2014/main" id="{9E39EC3C-CF76-4705-79D0-10D3706C4D92}"/>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 name="PA-文本框 47">
            <a:extLst xmlns:a="http://schemas.openxmlformats.org/drawingml/2006/main">
              <a:ext uri="{FF2B5EF4-FFF2-40B4-BE49-F238E27FC236}">
                <a16:creationId xmlns:a16="http://schemas.microsoft.com/office/drawing/2014/main" id="{E6488CDA-5717-7C52-55E2-4CF69B10BA43}"/>
              </a:ext>
            </a:extLst>
          </p:cNvPr>
          <p:cNvSpPr>
            <a:spLocks xmlns:a="http://schemas.openxmlformats.org/drawingml/2006/main" noGrp="1"/>
          </p:cNvSpPr>
          <p:nvPr/>
        </p:nvSpPr>
        <p:spPr>
          <a:xfrm xmlns:a="http://schemas.openxmlformats.org/drawingml/2006/main">
            <a:off x="270158" y="117840"/>
            <a:ext cx="4933288"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lt"/>
                <a:ea typeface="+mj-lt"/>
                <a:cs typeface="+mj-lt"/>
              </a:rPr>
              <a:t>5.3 </a:t>
            </a:r>
            <a:r>
              <a:rPr sz="2800" b="1" spc="0">
                <a:solidFill>
                  <a:schemeClr val="bg1"/>
                </a:solidFill>
                <a:effectLst>
                  <a:outerShdw blurRad="101600" dist="12700" dir="5400000" algn="t" rotWithShape="0">
                    <a:schemeClr val="accent3">
                      <a:alpha val="85000"/>
                    </a:schemeClr>
                  </a:outerShdw>
                </a:effectLst>
                <a:latin typeface="+mj-lt"/>
                <a:ea typeface="+mj-lt"/>
                <a:cs typeface="+mj-lt"/>
              </a:rPr>
              <a:t>基于深度学习的导航方法</a:t>
            </a:r>
          </a:p>
        </p:txBody>
      </p:sp>
      <p:sp>
        <p:nvSpPr>
          <p:cNvPr id="4" name="平行四边形 3">
            <a:extLst xmlns:a="http://schemas.openxmlformats.org/drawingml/2006/main">
              <a:ext uri="{FF2B5EF4-FFF2-40B4-BE49-F238E27FC236}">
                <a16:creationId xmlns:a16="http://schemas.microsoft.com/office/drawing/2014/main" id="{16A8E70C-62F5-ABAF-101A-12F20D1B9F32}"/>
              </a:ext>
            </a:extLst>
          </p:cNvPr>
          <p:cNvSpPr>
            <a:spLocks xmlns:a="http://schemas.openxmlformats.org/drawingml/2006/main" noGrp="1"/>
          </p:cNvSpPr>
          <p:nvPr/>
        </p:nvSpPr>
        <p:spPr>
          <a:xfrm xmlns:a="http://schemas.openxmlformats.org/drawingml/2006/main" rot="0" flipH="0" flipV="0">
            <a:off x="180030"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平行四边形 6">
            <a:extLst xmlns:a="http://schemas.openxmlformats.org/drawingml/2006/main">
              <a:ext uri="{FF2B5EF4-FFF2-40B4-BE49-F238E27FC236}">
                <a16:creationId xmlns:a16="http://schemas.microsoft.com/office/drawing/2014/main" id="{7169DF9C-2FF0-1B2B-A6D8-121262FFB7C6}"/>
              </a:ext>
            </a:extLst>
          </p:cNvPr>
          <p:cNvSpPr>
            <a:spLocks xmlns:a="http://schemas.openxmlformats.org/drawingml/2006/main" noGrp="1"/>
          </p:cNvSpPr>
          <p:nvPr/>
        </p:nvSpPr>
        <p:spPr>
          <a:xfrm xmlns:a="http://schemas.openxmlformats.org/drawingml/2006/main" rot="0" flipH="0" flipV="0">
            <a:off x="-102011"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直接连接符 17">
            <a:extLst xmlns:a="http://schemas.openxmlformats.org/drawingml/2006/main">
              <a:ext uri="{FF2B5EF4-FFF2-40B4-BE49-F238E27FC236}">
                <a16:creationId xmlns:a16="http://schemas.microsoft.com/office/drawing/2014/main" id="{19B489AC-B67D-408B-861B-079B25629C08}"/>
              </a:ext>
            </a:extLst>
          </p:cNvPr>
          <p:cNvSpPr>
            <a:spLocks xmlns:a="http://schemas.openxmlformats.org/drawingml/2006/main" noGrp="1"/>
          </p:cNvSpPr>
          <p:nvPr/>
        </p:nvSpPr>
        <p:spPr>
          <a:xfrm xmlns:a="http://schemas.openxmlformats.org/drawingml/2006/main" rot="0" flipH="0" flipV="1">
            <a:off x="-1748803"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直接连接符 18">
            <a:extLst xmlns:a="http://schemas.openxmlformats.org/drawingml/2006/main">
              <a:ext uri="{FF2B5EF4-FFF2-40B4-BE49-F238E27FC236}">
                <a16:creationId xmlns:a16="http://schemas.microsoft.com/office/drawing/2014/main" id="{60AE16B0-7B63-4971-A1F3-1464478A1C81}"/>
              </a:ext>
            </a:extLst>
          </p:cNvPr>
          <p:cNvSpPr>
            <a:spLocks xmlns:a="http://schemas.openxmlformats.org/drawingml/2006/main" noGrp="1"/>
          </p:cNvSpPr>
          <p:nvPr/>
        </p:nvSpPr>
        <p:spPr>
          <a:xfrm xmlns:a="http://schemas.openxmlformats.org/drawingml/2006/main" rot="0" flipH="0" flipV="0">
            <a:off x="-1370638"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直接连接符 8">
            <a:extLst xmlns:a="http://schemas.openxmlformats.org/drawingml/2006/main">
              <a:ext uri="{FF2B5EF4-FFF2-40B4-BE49-F238E27FC236}">
                <a16:creationId xmlns:a16="http://schemas.microsoft.com/office/drawing/2014/main" id="{A0EC0014-5AD9-4741-B9AF-58F0E12405C2}"/>
              </a:ext>
            </a:extLst>
          </p:cNvPr>
          <p:cNvSpPr>
            <a:spLocks xmlns:a="http://schemas.openxmlformats.org/drawingml/2006/main" noGrp="1"/>
          </p:cNvSpPr>
          <p:nvPr/>
        </p:nvSpPr>
        <p:spPr>
          <a:xfrm xmlns:a="http://schemas.openxmlformats.org/drawingml/2006/main" rot="0" flipH="0" flipV="1">
            <a:off x="-532535"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平行四边形 11">
            <a:extLst xmlns:a="http://schemas.openxmlformats.org/drawingml/2006/main">
              <a:ext uri="{FF2B5EF4-FFF2-40B4-BE49-F238E27FC236}">
                <a16:creationId xmlns:a16="http://schemas.microsoft.com/office/drawing/2014/main" id="{64801B9B-4A83-0E60-AC6B-B8B2E836C20F}"/>
              </a:ext>
            </a:extLst>
          </p:cNvPr>
          <p:cNvSpPr>
            <a:spLocks xmlns:a="http://schemas.openxmlformats.org/drawingml/2006/main" noGrp="1"/>
          </p:cNvSpPr>
          <p:nvPr/>
        </p:nvSpPr>
        <p:spPr>
          <a:xfrm xmlns:a="http://schemas.openxmlformats.org/drawingml/2006/main" rot="0" flipH="0" flipV="0">
            <a:off x="-1145621"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平行四边形 13">
            <a:extLst xmlns:a="http://schemas.openxmlformats.org/drawingml/2006/main">
              <a:ext uri="{FF2B5EF4-FFF2-40B4-BE49-F238E27FC236}">
                <a16:creationId xmlns:a16="http://schemas.microsoft.com/office/drawing/2014/main" id="{713EE010-747C-F37C-F015-826DF2FEE20E}"/>
              </a:ext>
            </a:extLst>
          </p:cNvPr>
          <p:cNvSpPr>
            <a:spLocks xmlns:a="http://schemas.openxmlformats.org/drawingml/2006/main" noGrp="1"/>
          </p:cNvSpPr>
          <p:nvPr/>
        </p:nvSpPr>
        <p:spPr>
          <a:xfrm xmlns:a="http://schemas.openxmlformats.org/drawingml/2006/main" rot="0" flipH="0" flipV="0">
            <a:off x="-1049672"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740A31D2-CE41-A4A9-87E9-FEE575AEFB0D}"/>
              </a:ext>
            </a:extLst>
          </p:cNvPr>
          <p:cNvSpPr>
            <a:spLocks xmlns:a="http://schemas.openxmlformats.org/drawingml/2006/main" noGrp="1"/>
          </p:cNvSpPr>
          <p:nvPr/>
        </p:nvSpPr>
        <p:spPr>
          <a:xfrm xmlns:a="http://schemas.openxmlformats.org/drawingml/2006/main" rot="0" flipH="0" flipV="0">
            <a:off x="-953723"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EE6CCBF9-CB0F-5048-1E68-4FB6B5FD0FC7}"/>
              </a:ext>
            </a:extLst>
          </p:cNvPr>
          <p:cNvSpPr>
            <a:spLocks xmlns:a="http://schemas.openxmlformats.org/drawingml/2006/main" noGrp="1"/>
          </p:cNvSpPr>
          <p:nvPr/>
        </p:nvSpPr>
        <p:spPr>
          <a:xfrm xmlns:a="http://schemas.openxmlformats.org/drawingml/2006/main" rot="0" flipH="0" flipV="0">
            <a:off x="-857774"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平行四边形 16">
            <a:extLst xmlns:a="http://schemas.openxmlformats.org/drawingml/2006/main">
              <a:ext uri="{FF2B5EF4-FFF2-40B4-BE49-F238E27FC236}">
                <a16:creationId xmlns:a16="http://schemas.microsoft.com/office/drawing/2014/main" id="{FA44E640-9914-7517-B979-279A052F7576}"/>
              </a:ext>
            </a:extLst>
          </p:cNvPr>
          <p:cNvSpPr>
            <a:spLocks xmlns:a="http://schemas.openxmlformats.org/drawingml/2006/main" noGrp="1"/>
          </p:cNvSpPr>
          <p:nvPr/>
        </p:nvSpPr>
        <p:spPr>
          <a:xfrm xmlns:a="http://schemas.openxmlformats.org/drawingml/2006/main" rot="0" flipH="0" flipV="0">
            <a:off x="-761825"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3.xml><?xml version="1.0" encoding="utf-8"?>
<p:sldLayout xmlns:p="http://schemas.openxmlformats.org/presentationml/2006/main" preserve="1" userDrawn="1">
  <p:cSld name="5.4">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7b174873e22c4479"/>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B47AAAC6-9126-4AC6-A37F-1805FC90FA83}"/>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4F7ADA64-4C7F-4EE3-8091-175151B940CA}"/>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0d55d3180f79402e"/>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3" name="文本框 12">
            <a:extLst xmlns:a="http://schemas.openxmlformats.org/drawingml/2006/main">
              <a:ext uri="{FF2B5EF4-FFF2-40B4-BE49-F238E27FC236}">
                <a16:creationId xmlns:a16="http://schemas.microsoft.com/office/drawing/2014/main" id="{87120168-3090-4EF4-BAE6-9E8FCB4108FD}"/>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 name="PA-文本框 47">
            <a:extLst xmlns:a="http://schemas.openxmlformats.org/drawingml/2006/main">
              <a:ext uri="{FF2B5EF4-FFF2-40B4-BE49-F238E27FC236}">
                <a16:creationId xmlns:a16="http://schemas.microsoft.com/office/drawing/2014/main" id="{3A84667A-E494-428F-8E26-BD0149D931E5}"/>
              </a:ext>
            </a:extLst>
          </p:cNvPr>
          <p:cNvSpPr>
            <a:spLocks xmlns:a="http://schemas.openxmlformats.org/drawingml/2006/main" noGrp="1"/>
          </p:cNvSpPr>
          <p:nvPr/>
        </p:nvSpPr>
        <p:spPr>
          <a:xfrm xmlns:a="http://schemas.openxmlformats.org/drawingml/2006/main">
            <a:off x="269875" y="118428"/>
            <a:ext cx="4921250" cy="52197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lt"/>
                <a:ea typeface="+mj-lt"/>
                <a:cs typeface="+mj-lt"/>
              </a:rPr>
              <a:t>5.4 </a:t>
            </a:r>
            <a:r>
              <a:rPr sz="2800" b="1" spc="0">
                <a:solidFill>
                  <a:schemeClr val="bg1"/>
                </a:solidFill>
                <a:effectLst>
                  <a:outerShdw blurRad="101600" dist="12700" dir="5400000" algn="t" rotWithShape="0">
                    <a:schemeClr val="accent3">
                      <a:alpha val="85000"/>
                    </a:schemeClr>
                  </a:outerShdw>
                </a:effectLst>
                <a:latin typeface="+mj-lt"/>
                <a:ea typeface="+mj-lt"/>
                <a:cs typeface="+mj-lt"/>
              </a:rPr>
              <a:t>基于强化学习的导航方法</a:t>
            </a:r>
            <a:endParaRPr sz="2800" b="1" spc="0">
              <a:solidFill>
                <a:schemeClr val="bg1"/>
              </a:solidFill>
              <a:effectLst>
                <a:outerShdw blurRad="101600" dist="12700" dir="5400000" algn="t" rotWithShape="0">
                  <a:schemeClr val="accent3">
                    <a:alpha val="85000"/>
                  </a:schemeClr>
                </a:outerShdw>
              </a:effectLst>
              <a:latin typeface="+mj-lt"/>
              <a:ea typeface="+mj-lt"/>
              <a:cs typeface="+mj-lt"/>
            </a:endParaRPr>
          </a:p>
        </p:txBody>
      </p:sp>
      <p:sp>
        <p:nvSpPr>
          <p:cNvPr id="4" name="平行四边形 3">
            <a:extLst xmlns:a="http://schemas.openxmlformats.org/drawingml/2006/main">
              <a:ext uri="{FF2B5EF4-FFF2-40B4-BE49-F238E27FC236}">
                <a16:creationId xmlns:a16="http://schemas.microsoft.com/office/drawing/2014/main" id="{F293D949-A8BE-4A18-8FCF-5014423E040C}"/>
              </a:ext>
            </a:extLst>
          </p:cNvPr>
          <p:cNvSpPr>
            <a:spLocks xmlns:a="http://schemas.openxmlformats.org/drawingml/2006/main" noGrp="1"/>
          </p:cNvSpPr>
          <p:nvPr/>
        </p:nvSpPr>
        <p:spPr>
          <a:xfrm xmlns:a="http://schemas.openxmlformats.org/drawingml/2006/main" rot="0" flipH="0" flipV="0">
            <a:off x="180030"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平行四边形 6">
            <a:extLst xmlns:a="http://schemas.openxmlformats.org/drawingml/2006/main">
              <a:ext uri="{FF2B5EF4-FFF2-40B4-BE49-F238E27FC236}">
                <a16:creationId xmlns:a16="http://schemas.microsoft.com/office/drawing/2014/main" id="{E839E44F-1B56-4737-987C-81829E3BD54D}"/>
              </a:ext>
            </a:extLst>
          </p:cNvPr>
          <p:cNvSpPr>
            <a:spLocks xmlns:a="http://schemas.openxmlformats.org/drawingml/2006/main" noGrp="1"/>
          </p:cNvSpPr>
          <p:nvPr/>
        </p:nvSpPr>
        <p:spPr>
          <a:xfrm xmlns:a="http://schemas.openxmlformats.org/drawingml/2006/main" rot="0" flipH="0" flipV="0">
            <a:off x="-102011"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直接连接符 17">
            <a:extLst xmlns:a="http://schemas.openxmlformats.org/drawingml/2006/main">
              <a:ext uri="{FF2B5EF4-FFF2-40B4-BE49-F238E27FC236}">
                <a16:creationId xmlns:a16="http://schemas.microsoft.com/office/drawing/2014/main" id="{8DECD514-A8D5-4BBF-AC24-71B62E8E863E}"/>
              </a:ext>
            </a:extLst>
          </p:cNvPr>
          <p:cNvSpPr>
            <a:spLocks xmlns:a="http://schemas.openxmlformats.org/drawingml/2006/main" noGrp="1"/>
          </p:cNvSpPr>
          <p:nvPr/>
        </p:nvSpPr>
        <p:spPr>
          <a:xfrm xmlns:a="http://schemas.openxmlformats.org/drawingml/2006/main" rot="0" flipH="0" flipV="1">
            <a:off x="-1748803"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直接连接符 18">
            <a:extLst xmlns:a="http://schemas.openxmlformats.org/drawingml/2006/main">
              <a:ext uri="{FF2B5EF4-FFF2-40B4-BE49-F238E27FC236}">
                <a16:creationId xmlns:a16="http://schemas.microsoft.com/office/drawing/2014/main" id="{5FA500E5-0BEB-4376-AC99-3E9960285A3C}"/>
              </a:ext>
            </a:extLst>
          </p:cNvPr>
          <p:cNvSpPr>
            <a:spLocks xmlns:a="http://schemas.openxmlformats.org/drawingml/2006/main" noGrp="1"/>
          </p:cNvSpPr>
          <p:nvPr/>
        </p:nvSpPr>
        <p:spPr>
          <a:xfrm xmlns:a="http://schemas.openxmlformats.org/drawingml/2006/main" rot="0" flipH="0" flipV="0">
            <a:off x="-1370638"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直接连接符 8">
            <a:extLst xmlns:a="http://schemas.openxmlformats.org/drawingml/2006/main">
              <a:ext uri="{FF2B5EF4-FFF2-40B4-BE49-F238E27FC236}">
                <a16:creationId xmlns:a16="http://schemas.microsoft.com/office/drawing/2014/main" id="{3E731B13-E475-45BF-BD63-384BB1F47C1E}"/>
              </a:ext>
            </a:extLst>
          </p:cNvPr>
          <p:cNvSpPr>
            <a:spLocks xmlns:a="http://schemas.openxmlformats.org/drawingml/2006/main" noGrp="1"/>
          </p:cNvSpPr>
          <p:nvPr/>
        </p:nvSpPr>
        <p:spPr>
          <a:xfrm xmlns:a="http://schemas.openxmlformats.org/drawingml/2006/main" rot="0" flipH="0" flipV="1">
            <a:off x="-532535"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平行四边形 11">
            <a:extLst xmlns:a="http://schemas.openxmlformats.org/drawingml/2006/main">
              <a:ext uri="{FF2B5EF4-FFF2-40B4-BE49-F238E27FC236}">
                <a16:creationId xmlns:a16="http://schemas.microsoft.com/office/drawing/2014/main" id="{958B398F-0F46-4DA1-BD54-6736750DA74F}"/>
              </a:ext>
            </a:extLst>
          </p:cNvPr>
          <p:cNvSpPr>
            <a:spLocks xmlns:a="http://schemas.openxmlformats.org/drawingml/2006/main" noGrp="1"/>
          </p:cNvSpPr>
          <p:nvPr/>
        </p:nvSpPr>
        <p:spPr>
          <a:xfrm xmlns:a="http://schemas.openxmlformats.org/drawingml/2006/main" rot="0" flipH="0" flipV="0">
            <a:off x="-1145621"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平行四边形 13">
            <a:extLst xmlns:a="http://schemas.openxmlformats.org/drawingml/2006/main">
              <a:ext uri="{FF2B5EF4-FFF2-40B4-BE49-F238E27FC236}">
                <a16:creationId xmlns:a16="http://schemas.microsoft.com/office/drawing/2014/main" id="{94C07320-F4F6-4B14-AEA5-3B9A2985E0DD}"/>
              </a:ext>
            </a:extLst>
          </p:cNvPr>
          <p:cNvSpPr>
            <a:spLocks xmlns:a="http://schemas.openxmlformats.org/drawingml/2006/main" noGrp="1"/>
          </p:cNvSpPr>
          <p:nvPr/>
        </p:nvSpPr>
        <p:spPr>
          <a:xfrm xmlns:a="http://schemas.openxmlformats.org/drawingml/2006/main" rot="0" flipH="0" flipV="0">
            <a:off x="-1049672"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DA240CA6-C8BA-4BBE-977E-7743A85AF0CF}"/>
              </a:ext>
            </a:extLst>
          </p:cNvPr>
          <p:cNvSpPr>
            <a:spLocks xmlns:a="http://schemas.openxmlformats.org/drawingml/2006/main" noGrp="1"/>
          </p:cNvSpPr>
          <p:nvPr/>
        </p:nvSpPr>
        <p:spPr>
          <a:xfrm xmlns:a="http://schemas.openxmlformats.org/drawingml/2006/main" rot="0" flipH="0" flipV="0">
            <a:off x="-953723"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99406BF4-BD92-4BFE-B1B7-C05211D39E8B}"/>
              </a:ext>
            </a:extLst>
          </p:cNvPr>
          <p:cNvSpPr>
            <a:spLocks xmlns:a="http://schemas.openxmlformats.org/drawingml/2006/main" noGrp="1"/>
          </p:cNvSpPr>
          <p:nvPr/>
        </p:nvSpPr>
        <p:spPr>
          <a:xfrm xmlns:a="http://schemas.openxmlformats.org/drawingml/2006/main" rot="0" flipH="0" flipV="0">
            <a:off x="-857774"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平行四边形 16">
            <a:extLst xmlns:a="http://schemas.openxmlformats.org/drawingml/2006/main">
              <a:ext uri="{FF2B5EF4-FFF2-40B4-BE49-F238E27FC236}">
                <a16:creationId xmlns:a16="http://schemas.microsoft.com/office/drawing/2014/main" id="{3345CA52-C250-42B2-931D-DE820936CF2E}"/>
              </a:ext>
            </a:extLst>
          </p:cNvPr>
          <p:cNvSpPr>
            <a:spLocks xmlns:a="http://schemas.openxmlformats.org/drawingml/2006/main" noGrp="1"/>
          </p:cNvSpPr>
          <p:nvPr/>
        </p:nvSpPr>
        <p:spPr>
          <a:xfrm xmlns:a="http://schemas.openxmlformats.org/drawingml/2006/main" rot="0" flipH="0" flipV="0">
            <a:off x="-761825"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4.xml><?xml version="1.0" encoding="utf-8"?>
<p:sldLayout xmlns:p="http://schemas.openxmlformats.org/presentationml/2006/main" userDrawn="1">
  <p:cSld name="11_2.2.1">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869cd767f2ae4101"/>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BD227C66-B9F3-97BE-8312-3D18ECEE8B95}"/>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3C333C4B-9E5C-847F-E9F8-76255BDE1E3D}"/>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f2ab4545e4b840aa"/>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3" name="文本框 12">
            <a:extLst xmlns:a="http://schemas.openxmlformats.org/drawingml/2006/main">
              <a:ext uri="{FF2B5EF4-FFF2-40B4-BE49-F238E27FC236}">
                <a16:creationId xmlns:a16="http://schemas.microsoft.com/office/drawing/2014/main" id="{9E39EC3C-CF76-4705-79D0-10D3706C4D92}"/>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 name="PA-文本框 47">
            <a:extLst xmlns:a="http://schemas.openxmlformats.org/drawingml/2006/main">
              <a:ext uri="{FF2B5EF4-FFF2-40B4-BE49-F238E27FC236}">
                <a16:creationId xmlns:a16="http://schemas.microsoft.com/office/drawing/2014/main" id="{E6488CDA-5717-7C52-55E2-4CF69B10BA43}"/>
              </a:ext>
            </a:extLst>
          </p:cNvPr>
          <p:cNvSpPr>
            <a:spLocks xmlns:a="http://schemas.openxmlformats.org/drawingml/2006/main" noGrp="1"/>
          </p:cNvSpPr>
          <p:nvPr/>
        </p:nvSpPr>
        <p:spPr>
          <a:xfrm xmlns:a="http://schemas.openxmlformats.org/drawingml/2006/main">
            <a:off x="270157" y="117840"/>
            <a:ext cx="5621151"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lt"/>
                <a:ea typeface="+mj-lt"/>
                <a:cs typeface="+mj-lt"/>
              </a:rPr>
              <a:t>6.3 </a:t>
            </a:r>
            <a:r>
              <a:rPr sz="2800" b="1" spc="0">
                <a:solidFill>
                  <a:schemeClr val="bg1"/>
                </a:solidFill>
                <a:effectLst>
                  <a:outerShdw blurRad="101600" dist="12700" dir="5400000" algn="t" rotWithShape="0">
                    <a:schemeClr val="accent3">
                      <a:alpha val="85000"/>
                    </a:schemeClr>
                  </a:outerShdw>
                </a:effectLst>
                <a:latin typeface="+mj-lt"/>
                <a:ea typeface="+mj-lt"/>
                <a:cs typeface="+mj-lt"/>
              </a:rPr>
              <a:t>多机器人时间一致性标定技术</a:t>
            </a:r>
            <a:endParaRPr sz="2800" b="1" kern="1200" spc="0">
              <a:solidFill>
                <a:schemeClr val="bg1"/>
              </a:solidFill>
              <a:effectLst>
                <a:outerShdw blurRad="101600" dist="12700" dir="5400000" algn="t" rotWithShape="0">
                  <a:schemeClr val="accent3">
                    <a:alpha val="85000"/>
                  </a:schemeClr>
                </a:outerShdw>
              </a:effectLst>
              <a:latin typeface="+mj-lt"/>
              <a:ea typeface="+mj-lt"/>
              <a:cs typeface="+mj-lt"/>
            </a:endParaRPr>
          </a:p>
        </p:txBody>
      </p:sp>
      <p:sp>
        <p:nvSpPr>
          <p:cNvPr id="4" name="平行四边形 3">
            <a:extLst xmlns:a="http://schemas.openxmlformats.org/drawingml/2006/main">
              <a:ext uri="{FF2B5EF4-FFF2-40B4-BE49-F238E27FC236}">
                <a16:creationId xmlns:a16="http://schemas.microsoft.com/office/drawing/2014/main" id="{16A8E70C-62F5-ABAF-101A-12F20D1B9F32}"/>
              </a:ext>
            </a:extLst>
          </p:cNvPr>
          <p:cNvSpPr>
            <a:spLocks xmlns:a="http://schemas.openxmlformats.org/drawingml/2006/main" noGrp="1"/>
          </p:cNvSpPr>
          <p:nvPr/>
        </p:nvSpPr>
        <p:spPr>
          <a:xfrm xmlns:a="http://schemas.openxmlformats.org/drawingml/2006/main" rot="0" flipH="0" flipV="0">
            <a:off x="-235606"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平行四边形 6">
            <a:extLst xmlns:a="http://schemas.openxmlformats.org/drawingml/2006/main">
              <a:ext uri="{FF2B5EF4-FFF2-40B4-BE49-F238E27FC236}">
                <a16:creationId xmlns:a16="http://schemas.microsoft.com/office/drawing/2014/main" id="{7169DF9C-2FF0-1B2B-A6D8-121262FFB7C6}"/>
              </a:ext>
            </a:extLst>
          </p:cNvPr>
          <p:cNvSpPr>
            <a:spLocks xmlns:a="http://schemas.openxmlformats.org/drawingml/2006/main" noGrp="1"/>
          </p:cNvSpPr>
          <p:nvPr/>
        </p:nvSpPr>
        <p:spPr>
          <a:xfrm xmlns:a="http://schemas.openxmlformats.org/drawingml/2006/main" rot="0" flipH="0" flipV="0">
            <a:off x="-517647"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直接连接符 17">
            <a:extLst xmlns:a="http://schemas.openxmlformats.org/drawingml/2006/main">
              <a:ext uri="{FF2B5EF4-FFF2-40B4-BE49-F238E27FC236}">
                <a16:creationId xmlns:a16="http://schemas.microsoft.com/office/drawing/2014/main" id="{F5A6E247-C1AB-4D66-AD53-B08130D9D2A1}"/>
              </a:ext>
            </a:extLst>
          </p:cNvPr>
          <p:cNvSpPr>
            <a:spLocks xmlns:a="http://schemas.openxmlformats.org/drawingml/2006/main" noGrp="1"/>
          </p:cNvSpPr>
          <p:nvPr/>
        </p:nvSpPr>
        <p:spPr>
          <a:xfrm xmlns:a="http://schemas.openxmlformats.org/drawingml/2006/main" rot="0" flipH="0" flipV="1">
            <a:off x="-2164439"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直接连接符 18">
            <a:extLst xmlns:a="http://schemas.openxmlformats.org/drawingml/2006/main">
              <a:ext uri="{FF2B5EF4-FFF2-40B4-BE49-F238E27FC236}">
                <a16:creationId xmlns:a16="http://schemas.microsoft.com/office/drawing/2014/main" id="{7056561B-D015-4E78-A634-5241DE870B85}"/>
              </a:ext>
            </a:extLst>
          </p:cNvPr>
          <p:cNvSpPr>
            <a:spLocks xmlns:a="http://schemas.openxmlformats.org/drawingml/2006/main" noGrp="1"/>
          </p:cNvSpPr>
          <p:nvPr/>
        </p:nvSpPr>
        <p:spPr>
          <a:xfrm xmlns:a="http://schemas.openxmlformats.org/drawingml/2006/main" rot="0" flipH="0" flipV="0">
            <a:off x="-1786274"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直接连接符 8">
            <a:extLst xmlns:a="http://schemas.openxmlformats.org/drawingml/2006/main">
              <a:ext uri="{FF2B5EF4-FFF2-40B4-BE49-F238E27FC236}">
                <a16:creationId xmlns:a16="http://schemas.microsoft.com/office/drawing/2014/main" id="{F4D4E1FE-8549-4E41-A83F-E500B978A964}"/>
              </a:ext>
            </a:extLst>
          </p:cNvPr>
          <p:cNvSpPr>
            <a:spLocks xmlns:a="http://schemas.openxmlformats.org/drawingml/2006/main" noGrp="1"/>
          </p:cNvSpPr>
          <p:nvPr/>
        </p:nvSpPr>
        <p:spPr>
          <a:xfrm xmlns:a="http://schemas.openxmlformats.org/drawingml/2006/main" rot="0" flipH="0" flipV="1">
            <a:off x="-948171"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平行四边形 11">
            <a:extLst xmlns:a="http://schemas.openxmlformats.org/drawingml/2006/main">
              <a:ext uri="{FF2B5EF4-FFF2-40B4-BE49-F238E27FC236}">
                <a16:creationId xmlns:a16="http://schemas.microsoft.com/office/drawing/2014/main" id="{64801B9B-4A83-0E60-AC6B-B8B2E836C20F}"/>
              </a:ext>
            </a:extLst>
          </p:cNvPr>
          <p:cNvSpPr>
            <a:spLocks xmlns:a="http://schemas.openxmlformats.org/drawingml/2006/main" noGrp="1"/>
          </p:cNvSpPr>
          <p:nvPr/>
        </p:nvSpPr>
        <p:spPr>
          <a:xfrm xmlns:a="http://schemas.openxmlformats.org/drawingml/2006/main" rot="0" flipH="0" flipV="0">
            <a:off x="-1561257"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平行四边形 13">
            <a:extLst xmlns:a="http://schemas.openxmlformats.org/drawingml/2006/main">
              <a:ext uri="{FF2B5EF4-FFF2-40B4-BE49-F238E27FC236}">
                <a16:creationId xmlns:a16="http://schemas.microsoft.com/office/drawing/2014/main" id="{713EE010-747C-F37C-F015-826DF2FEE20E}"/>
              </a:ext>
            </a:extLst>
          </p:cNvPr>
          <p:cNvSpPr>
            <a:spLocks xmlns:a="http://schemas.openxmlformats.org/drawingml/2006/main" noGrp="1"/>
          </p:cNvSpPr>
          <p:nvPr/>
        </p:nvSpPr>
        <p:spPr>
          <a:xfrm xmlns:a="http://schemas.openxmlformats.org/drawingml/2006/main" rot="0" flipH="0" flipV="0">
            <a:off x="-1465308"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740A31D2-CE41-A4A9-87E9-FEE575AEFB0D}"/>
              </a:ext>
            </a:extLst>
          </p:cNvPr>
          <p:cNvSpPr>
            <a:spLocks xmlns:a="http://schemas.openxmlformats.org/drawingml/2006/main" noGrp="1"/>
          </p:cNvSpPr>
          <p:nvPr/>
        </p:nvSpPr>
        <p:spPr>
          <a:xfrm xmlns:a="http://schemas.openxmlformats.org/drawingml/2006/main" rot="0" flipH="0" flipV="0">
            <a:off x="-1369359"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EE6CCBF9-CB0F-5048-1E68-4FB6B5FD0FC7}"/>
              </a:ext>
            </a:extLst>
          </p:cNvPr>
          <p:cNvSpPr>
            <a:spLocks xmlns:a="http://schemas.openxmlformats.org/drawingml/2006/main" noGrp="1"/>
          </p:cNvSpPr>
          <p:nvPr/>
        </p:nvSpPr>
        <p:spPr>
          <a:xfrm xmlns:a="http://schemas.openxmlformats.org/drawingml/2006/main" rot="0" flipH="0" flipV="0">
            <a:off x="-1273410"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平行四边形 16">
            <a:extLst xmlns:a="http://schemas.openxmlformats.org/drawingml/2006/main">
              <a:ext uri="{FF2B5EF4-FFF2-40B4-BE49-F238E27FC236}">
                <a16:creationId xmlns:a16="http://schemas.microsoft.com/office/drawing/2014/main" id="{FA44E640-9914-7517-B979-279A052F7576}"/>
              </a:ext>
            </a:extLst>
          </p:cNvPr>
          <p:cNvSpPr>
            <a:spLocks xmlns:a="http://schemas.openxmlformats.org/drawingml/2006/main" noGrp="1"/>
          </p:cNvSpPr>
          <p:nvPr/>
        </p:nvSpPr>
        <p:spPr>
          <a:xfrm xmlns:a="http://schemas.openxmlformats.org/drawingml/2006/main" rot="0" flipH="0" flipV="0">
            <a:off x="-1177461"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5.xml><?xml version="1.0" encoding="utf-8"?>
<p:sldLayout xmlns:p="http://schemas.openxmlformats.org/presentationml/2006/main" userDrawn="1">
  <p:cSld name="引入">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cd1e2eb38cbb49fd"/>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5C11CCC7-F0BC-4B5D-9662-79FD6172DEF3}"/>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矩形 55">
            <a:extLst xmlns:a="http://schemas.openxmlformats.org/drawingml/2006/main">
              <a:ext uri="{FF2B5EF4-FFF2-40B4-BE49-F238E27FC236}">
                <a16:creationId xmlns:a16="http://schemas.microsoft.com/office/drawing/2014/main" id="{AE03BB2D-B1F4-4F80-877F-24485D6F47E5}"/>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图片 4"/>
          <p:cNvPicPr>
            <a:picLocks xmlns:a="http://schemas.openxmlformats.org/drawingml/2006/main" noChangeAspect="1"/>
          </p:cNvPicPr>
          <p:nvPr/>
        </p:nvPicPr>
        <p:blipFill>
          <a:blip xmlns:r="http://schemas.openxmlformats.org/officeDocument/2006/relationships" xmlns:a="http://schemas.openxmlformats.org/drawingml/2006/main" r:embed="R8f414eb5bfd448eb"/>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3" name="文本框 12">
            <a:extLst xmlns:a="http://schemas.openxmlformats.org/drawingml/2006/main">
              <a:ext uri="{FF2B5EF4-FFF2-40B4-BE49-F238E27FC236}">
                <a16:creationId xmlns:a16="http://schemas.microsoft.com/office/drawing/2014/main" id="{E9759D90-857C-47F9-A4AE-D14E276B29C0}"/>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21" name="平行四边形 20">
            <a:extLst xmlns:a="http://schemas.openxmlformats.org/drawingml/2006/main">
              <a:ext uri="{FF2B5EF4-FFF2-40B4-BE49-F238E27FC236}">
                <a16:creationId xmlns:a16="http://schemas.microsoft.com/office/drawing/2014/main" id="{6601581C-BAA3-4F84-9908-996571353473}"/>
              </a:ext>
            </a:extLst>
          </p:cNvPr>
          <p:cNvSpPr>
            <a:spLocks xmlns:a="http://schemas.openxmlformats.org/drawingml/2006/main" noGrp="1"/>
          </p:cNvSpPr>
          <p:nvPr/>
        </p:nvSpPr>
        <p:spPr>
          <a:xfrm xmlns:a="http://schemas.openxmlformats.org/drawingml/2006/main" rot="0" flipH="0" flipV="0">
            <a:off x="-1614598"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平行四边形 21">
            <a:extLst xmlns:a="http://schemas.openxmlformats.org/drawingml/2006/main">
              <a:ext uri="{FF2B5EF4-FFF2-40B4-BE49-F238E27FC236}">
                <a16:creationId xmlns:a16="http://schemas.microsoft.com/office/drawing/2014/main" id="{3FBBBFB5-FEC6-4DA5-A7D1-E4B01D6E2C1A}"/>
              </a:ext>
            </a:extLst>
          </p:cNvPr>
          <p:cNvSpPr>
            <a:spLocks xmlns:a="http://schemas.openxmlformats.org/drawingml/2006/main" noGrp="1"/>
          </p:cNvSpPr>
          <p:nvPr/>
        </p:nvSpPr>
        <p:spPr>
          <a:xfrm xmlns:a="http://schemas.openxmlformats.org/drawingml/2006/main" rot="0" flipH="0" flipV="0">
            <a:off x="-1896639"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直接连接符 30">
            <a:extLst xmlns:a="http://schemas.openxmlformats.org/drawingml/2006/main">
              <a:ext uri="{FF2B5EF4-FFF2-40B4-BE49-F238E27FC236}">
                <a16:creationId xmlns:a16="http://schemas.microsoft.com/office/drawing/2014/main" id="{87BAF997-17CC-4BA8-ACFF-5528848CC897}"/>
              </a:ext>
            </a:extLst>
          </p:cNvPr>
          <p:cNvSpPr>
            <a:spLocks xmlns:a="http://schemas.openxmlformats.org/drawingml/2006/main" noGrp="1"/>
          </p:cNvSpPr>
          <p:nvPr/>
        </p:nvSpPr>
        <p:spPr>
          <a:xfrm xmlns:a="http://schemas.openxmlformats.org/drawingml/2006/main" rot="0" flipH="0" flipV="1">
            <a:off x="-3543431"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直接连接符 31">
            <a:extLst xmlns:a="http://schemas.openxmlformats.org/drawingml/2006/main">
              <a:ext uri="{FF2B5EF4-FFF2-40B4-BE49-F238E27FC236}">
                <a16:creationId xmlns:a16="http://schemas.microsoft.com/office/drawing/2014/main" id="{B4068C56-4602-4B50-A196-8CD11C0897C9}"/>
              </a:ext>
            </a:extLst>
          </p:cNvPr>
          <p:cNvSpPr>
            <a:spLocks xmlns:a="http://schemas.openxmlformats.org/drawingml/2006/main" noGrp="1"/>
          </p:cNvSpPr>
          <p:nvPr/>
        </p:nvSpPr>
        <p:spPr>
          <a:xfrm xmlns:a="http://schemas.openxmlformats.org/drawingml/2006/main" rot="0" flipH="0" flipV="0">
            <a:off x="-3165266"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4" name="直接连接符 23">
            <a:extLst xmlns:a="http://schemas.openxmlformats.org/drawingml/2006/main">
              <a:ext uri="{FF2B5EF4-FFF2-40B4-BE49-F238E27FC236}">
                <a16:creationId xmlns:a16="http://schemas.microsoft.com/office/drawing/2014/main" id="{1187BAED-B274-4D49-8E2D-32691916E535}"/>
              </a:ext>
            </a:extLst>
          </p:cNvPr>
          <p:cNvSpPr>
            <a:spLocks xmlns:a="http://schemas.openxmlformats.org/drawingml/2006/main" noGrp="1"/>
          </p:cNvSpPr>
          <p:nvPr/>
        </p:nvSpPr>
        <p:spPr>
          <a:xfrm xmlns:a="http://schemas.openxmlformats.org/drawingml/2006/main" rot="0" flipH="0" flipV="1">
            <a:off x="-2327163"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平行四边形 25">
            <a:extLst xmlns:a="http://schemas.openxmlformats.org/drawingml/2006/main">
              <a:ext uri="{FF2B5EF4-FFF2-40B4-BE49-F238E27FC236}">
                <a16:creationId xmlns:a16="http://schemas.microsoft.com/office/drawing/2014/main" id="{9EAB9123-C775-451E-91AA-B6E20A8D6178}"/>
              </a:ext>
            </a:extLst>
          </p:cNvPr>
          <p:cNvSpPr>
            <a:spLocks xmlns:a="http://schemas.openxmlformats.org/drawingml/2006/main" noGrp="1"/>
          </p:cNvSpPr>
          <p:nvPr/>
        </p:nvSpPr>
        <p:spPr>
          <a:xfrm xmlns:a="http://schemas.openxmlformats.org/drawingml/2006/main" rot="0" flipH="0" flipV="0">
            <a:off x="-2940249"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平行四边形 26">
            <a:extLst xmlns:a="http://schemas.openxmlformats.org/drawingml/2006/main">
              <a:ext uri="{FF2B5EF4-FFF2-40B4-BE49-F238E27FC236}">
                <a16:creationId xmlns:a16="http://schemas.microsoft.com/office/drawing/2014/main" id="{3B64F6FF-50BC-4757-958C-AC28BE19B84E}"/>
              </a:ext>
            </a:extLst>
          </p:cNvPr>
          <p:cNvSpPr>
            <a:spLocks xmlns:a="http://schemas.openxmlformats.org/drawingml/2006/main" noGrp="1"/>
          </p:cNvSpPr>
          <p:nvPr/>
        </p:nvSpPr>
        <p:spPr>
          <a:xfrm xmlns:a="http://schemas.openxmlformats.org/drawingml/2006/main" rot="0" flipH="0" flipV="0">
            <a:off x="-2844300"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平行四边形 27">
            <a:extLst xmlns:a="http://schemas.openxmlformats.org/drawingml/2006/main">
              <a:ext uri="{FF2B5EF4-FFF2-40B4-BE49-F238E27FC236}">
                <a16:creationId xmlns:a16="http://schemas.microsoft.com/office/drawing/2014/main" id="{609D3409-637F-4B4C-A645-3B468101B36C}"/>
              </a:ext>
            </a:extLst>
          </p:cNvPr>
          <p:cNvSpPr>
            <a:spLocks xmlns:a="http://schemas.openxmlformats.org/drawingml/2006/main" noGrp="1"/>
          </p:cNvSpPr>
          <p:nvPr/>
        </p:nvSpPr>
        <p:spPr>
          <a:xfrm xmlns:a="http://schemas.openxmlformats.org/drawingml/2006/main" rot="0" flipH="0" flipV="0">
            <a:off x="-2748351"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平行四边形 28">
            <a:extLst xmlns:a="http://schemas.openxmlformats.org/drawingml/2006/main">
              <a:ext uri="{FF2B5EF4-FFF2-40B4-BE49-F238E27FC236}">
                <a16:creationId xmlns:a16="http://schemas.microsoft.com/office/drawing/2014/main" id="{9A277EAC-A629-4DE3-B9FD-E005E6097186}"/>
              </a:ext>
            </a:extLst>
          </p:cNvPr>
          <p:cNvSpPr>
            <a:spLocks xmlns:a="http://schemas.openxmlformats.org/drawingml/2006/main" noGrp="1"/>
          </p:cNvSpPr>
          <p:nvPr/>
        </p:nvSpPr>
        <p:spPr>
          <a:xfrm xmlns:a="http://schemas.openxmlformats.org/drawingml/2006/main" rot="0" flipH="0" flipV="0">
            <a:off x="-2652402"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平行四边形 29">
            <a:extLst xmlns:a="http://schemas.openxmlformats.org/drawingml/2006/main">
              <a:ext uri="{FF2B5EF4-FFF2-40B4-BE49-F238E27FC236}">
                <a16:creationId xmlns:a16="http://schemas.microsoft.com/office/drawing/2014/main" id="{85DB988B-2258-4E3D-9566-A391187C30E6}"/>
              </a:ext>
            </a:extLst>
          </p:cNvPr>
          <p:cNvSpPr>
            <a:spLocks xmlns:a="http://schemas.openxmlformats.org/drawingml/2006/main" noGrp="1"/>
          </p:cNvSpPr>
          <p:nvPr/>
        </p:nvSpPr>
        <p:spPr>
          <a:xfrm xmlns:a="http://schemas.openxmlformats.org/drawingml/2006/main" rot="0" flipH="0" flipV="0">
            <a:off x="-2556453"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PA-文本框 47">
            <a:extLst xmlns:a="http://schemas.openxmlformats.org/drawingml/2006/main">
              <a:ext uri="{FF2B5EF4-FFF2-40B4-BE49-F238E27FC236}">
                <a16:creationId xmlns:a16="http://schemas.microsoft.com/office/drawing/2014/main" id="{6617B23D-28E4-4934-A48F-55F308224520}"/>
              </a:ext>
            </a:extLst>
          </p:cNvPr>
          <p:cNvSpPr>
            <a:spLocks xmlns:a="http://schemas.openxmlformats.org/drawingml/2006/main" noGrp="1"/>
          </p:cNvSpPr>
          <p:nvPr/>
        </p:nvSpPr>
        <p:spPr>
          <a:xfrm xmlns:a="http://schemas.openxmlformats.org/drawingml/2006/main">
            <a:off x="270158" y="117840"/>
            <a:ext cx="4965948"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ea"/>
                <a:ea typeface="+mj-ea"/>
                <a:cs typeface="+mj-ea"/>
              </a:rPr>
              <a:t>引入</a:t>
            </a:r>
          </a:p>
        </p:txBody>
      </p:sp>
    </p:spTree>
  </p:cSld>
</p:sldLayout>
</file>

<file path=ppt/slideLayouts/slideLayout16.xml><?xml version="1.0" encoding="utf-8"?>
<p:sldLayout xmlns:p="http://schemas.openxmlformats.org/presentationml/2006/main" userDrawn="1">
  <p:cSld name="2.1">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d2358f6f12844389"/>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88850878-E71B-455B-BE88-6E6102CA4339}"/>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PA-文本框 47">
            <a:extLst xmlns:a="http://schemas.openxmlformats.org/drawingml/2006/main">
              <a:ext uri="{FF2B5EF4-FFF2-40B4-BE49-F238E27FC236}">
                <a16:creationId xmlns:a16="http://schemas.microsoft.com/office/drawing/2014/main" id="{552E1E0B-3428-47DD-AD3D-26F9EED91AA0}"/>
              </a:ext>
            </a:extLst>
          </p:cNvPr>
          <p:cNvSpPr>
            <a:spLocks xmlns:a="http://schemas.openxmlformats.org/drawingml/2006/main" noGrp="1"/>
          </p:cNvSpPr>
          <p:nvPr/>
        </p:nvSpPr>
        <p:spPr>
          <a:xfrm xmlns:a="http://schemas.openxmlformats.org/drawingml/2006/main">
            <a:off x="270158" y="117840"/>
            <a:ext cx="4625350"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ea"/>
                <a:ea typeface="+mj-ea"/>
                <a:cs typeface="+mj-ea"/>
              </a:rPr>
              <a:t>7.1 </a:t>
            </a:r>
            <a:r>
              <a:rPr sz="2800" b="1" spc="0">
                <a:solidFill>
                  <a:schemeClr val="bg1"/>
                </a:solidFill>
                <a:effectLst>
                  <a:outerShdw blurRad="101600" dist="12700" dir="5400000" algn="t" rotWithShape="0">
                    <a:schemeClr val="accent3">
                      <a:alpha val="85000"/>
                    </a:schemeClr>
                  </a:outerShdw>
                </a:effectLst>
                <a:latin typeface="+mj-ea"/>
                <a:ea typeface="+mj-ea"/>
                <a:cs typeface="+mj-ea"/>
              </a:rPr>
              <a:t>地图表示</a:t>
            </a:r>
          </a:p>
        </p:txBody>
      </p:sp>
      <p:sp>
        <p:nvSpPr>
          <p:cNvPr id="56" name="矩形 55">
            <a:extLst xmlns:a="http://schemas.openxmlformats.org/drawingml/2006/main">
              <a:ext uri="{FF2B5EF4-FFF2-40B4-BE49-F238E27FC236}">
                <a16:creationId xmlns:a16="http://schemas.microsoft.com/office/drawing/2014/main" id="{F11710DF-C263-4648-875B-BB4B65A6CDCA}"/>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图片 4"/>
          <p:cNvPicPr>
            <a:picLocks xmlns:a="http://schemas.openxmlformats.org/drawingml/2006/main" noChangeAspect="1"/>
          </p:cNvPicPr>
          <p:nvPr/>
        </p:nvPicPr>
        <p:blipFill>
          <a:blip xmlns:r="http://schemas.openxmlformats.org/officeDocument/2006/relationships" xmlns:a="http://schemas.openxmlformats.org/drawingml/2006/main" r:embed="R24bc7e382bd54acb"/>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4" name="文本框 13">
            <a:extLst xmlns:a="http://schemas.openxmlformats.org/drawingml/2006/main">
              <a:ext uri="{FF2B5EF4-FFF2-40B4-BE49-F238E27FC236}">
                <a16:creationId xmlns:a16="http://schemas.microsoft.com/office/drawing/2014/main" id="{76F876DA-3DB6-4255-8FEB-E8ECB84561D3}"/>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3" name="平行四边形 2">
            <a:extLst xmlns:a="http://schemas.openxmlformats.org/drawingml/2006/main">
              <a:ext uri="{FF2B5EF4-FFF2-40B4-BE49-F238E27FC236}">
                <a16:creationId xmlns:a16="http://schemas.microsoft.com/office/drawing/2014/main" id="{7E095BA2-29D2-417A-AD00-C2D13AE5E722}"/>
              </a:ext>
            </a:extLst>
          </p:cNvPr>
          <p:cNvSpPr>
            <a:spLocks xmlns:a="http://schemas.openxmlformats.org/drawingml/2006/main" noGrp="1"/>
          </p:cNvSpPr>
          <p:nvPr/>
        </p:nvSpPr>
        <p:spPr>
          <a:xfrm xmlns:a="http://schemas.openxmlformats.org/drawingml/2006/main" rot="0" flipH="0" flipV="0">
            <a:off x="-570402"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平行四边形 3">
            <a:extLst xmlns:a="http://schemas.openxmlformats.org/drawingml/2006/main">
              <a:ext uri="{FF2B5EF4-FFF2-40B4-BE49-F238E27FC236}">
                <a16:creationId xmlns:a16="http://schemas.microsoft.com/office/drawing/2014/main" id="{DCDF84F0-7A24-4BD3-8744-CE3799845665}"/>
              </a:ext>
            </a:extLst>
          </p:cNvPr>
          <p:cNvSpPr>
            <a:spLocks xmlns:a="http://schemas.openxmlformats.org/drawingml/2006/main" noGrp="1"/>
          </p:cNvSpPr>
          <p:nvPr/>
        </p:nvSpPr>
        <p:spPr>
          <a:xfrm xmlns:a="http://schemas.openxmlformats.org/drawingml/2006/main" rot="0" flipH="0" flipV="0">
            <a:off x="-852443"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直接连接符 16">
            <a:extLst xmlns:a="http://schemas.openxmlformats.org/drawingml/2006/main">
              <a:ext uri="{FF2B5EF4-FFF2-40B4-BE49-F238E27FC236}">
                <a16:creationId xmlns:a16="http://schemas.microsoft.com/office/drawing/2014/main" id="{B4807922-2426-4332-81E0-D10841210D9A}"/>
              </a:ext>
            </a:extLst>
          </p:cNvPr>
          <p:cNvSpPr>
            <a:spLocks xmlns:a="http://schemas.openxmlformats.org/drawingml/2006/main" noGrp="1"/>
          </p:cNvSpPr>
          <p:nvPr/>
        </p:nvSpPr>
        <p:spPr>
          <a:xfrm xmlns:a="http://schemas.openxmlformats.org/drawingml/2006/main" rot="0" flipH="0" flipV="1">
            <a:off x="-2499235"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直接连接符 17">
            <a:extLst xmlns:a="http://schemas.openxmlformats.org/drawingml/2006/main">
              <a:ext uri="{FF2B5EF4-FFF2-40B4-BE49-F238E27FC236}">
                <a16:creationId xmlns:a16="http://schemas.microsoft.com/office/drawing/2014/main" id="{344C4756-8A7D-45A8-942D-AEB93C882A39}"/>
              </a:ext>
            </a:extLst>
          </p:cNvPr>
          <p:cNvSpPr>
            <a:spLocks xmlns:a="http://schemas.openxmlformats.org/drawingml/2006/main" noGrp="1"/>
          </p:cNvSpPr>
          <p:nvPr/>
        </p:nvSpPr>
        <p:spPr>
          <a:xfrm xmlns:a="http://schemas.openxmlformats.org/drawingml/2006/main" rot="0" flipH="0" flipV="0">
            <a:off x="-2121070"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直接连接符 7">
            <a:extLst xmlns:a="http://schemas.openxmlformats.org/drawingml/2006/main">
              <a:ext uri="{FF2B5EF4-FFF2-40B4-BE49-F238E27FC236}">
                <a16:creationId xmlns:a16="http://schemas.microsoft.com/office/drawing/2014/main" id="{F5320764-3CEB-40E2-BD5D-6B396AC0B3D1}"/>
              </a:ext>
            </a:extLst>
          </p:cNvPr>
          <p:cNvSpPr>
            <a:spLocks xmlns:a="http://schemas.openxmlformats.org/drawingml/2006/main" noGrp="1"/>
          </p:cNvSpPr>
          <p:nvPr/>
        </p:nvSpPr>
        <p:spPr>
          <a:xfrm xmlns:a="http://schemas.openxmlformats.org/drawingml/2006/main" rot="0" flipH="0" flipV="1">
            <a:off x="-1282967"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平行四边形 9">
            <a:extLst xmlns:a="http://schemas.openxmlformats.org/drawingml/2006/main">
              <a:ext uri="{FF2B5EF4-FFF2-40B4-BE49-F238E27FC236}">
                <a16:creationId xmlns:a16="http://schemas.microsoft.com/office/drawing/2014/main" id="{A4A56AB1-CBB1-4657-B179-194D0D434484}"/>
              </a:ext>
            </a:extLst>
          </p:cNvPr>
          <p:cNvSpPr>
            <a:spLocks xmlns:a="http://schemas.openxmlformats.org/drawingml/2006/main" noGrp="1"/>
          </p:cNvSpPr>
          <p:nvPr/>
        </p:nvSpPr>
        <p:spPr>
          <a:xfrm xmlns:a="http://schemas.openxmlformats.org/drawingml/2006/main" rot="0" flipH="0" flipV="0">
            <a:off x="-1896053"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平行四边形 11">
            <a:extLst xmlns:a="http://schemas.openxmlformats.org/drawingml/2006/main">
              <a:ext uri="{FF2B5EF4-FFF2-40B4-BE49-F238E27FC236}">
                <a16:creationId xmlns:a16="http://schemas.microsoft.com/office/drawing/2014/main" id="{00853BBF-684A-4EF0-82B1-B26354EBCDD1}"/>
              </a:ext>
            </a:extLst>
          </p:cNvPr>
          <p:cNvSpPr>
            <a:spLocks xmlns:a="http://schemas.openxmlformats.org/drawingml/2006/main" noGrp="1"/>
          </p:cNvSpPr>
          <p:nvPr/>
        </p:nvSpPr>
        <p:spPr>
          <a:xfrm xmlns:a="http://schemas.openxmlformats.org/drawingml/2006/main" rot="0" flipH="0" flipV="0">
            <a:off x="-1800104"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平行四边形 12">
            <a:extLst xmlns:a="http://schemas.openxmlformats.org/drawingml/2006/main">
              <a:ext uri="{FF2B5EF4-FFF2-40B4-BE49-F238E27FC236}">
                <a16:creationId xmlns:a16="http://schemas.microsoft.com/office/drawing/2014/main" id="{8653CF9C-0B2E-4D9D-ADC0-1B12B34AE0E2}"/>
              </a:ext>
            </a:extLst>
          </p:cNvPr>
          <p:cNvSpPr>
            <a:spLocks xmlns:a="http://schemas.openxmlformats.org/drawingml/2006/main" noGrp="1"/>
          </p:cNvSpPr>
          <p:nvPr/>
        </p:nvSpPr>
        <p:spPr>
          <a:xfrm xmlns:a="http://schemas.openxmlformats.org/drawingml/2006/main" rot="0" flipH="0" flipV="0">
            <a:off x="-1704155"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702D1882-D037-4B62-A607-3AE6DD184336}"/>
              </a:ext>
            </a:extLst>
          </p:cNvPr>
          <p:cNvSpPr>
            <a:spLocks xmlns:a="http://schemas.openxmlformats.org/drawingml/2006/main" noGrp="1"/>
          </p:cNvSpPr>
          <p:nvPr/>
        </p:nvSpPr>
        <p:spPr>
          <a:xfrm xmlns:a="http://schemas.openxmlformats.org/drawingml/2006/main" rot="0" flipH="0" flipV="0">
            <a:off x="-1608206"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8C2A8D4E-E5B3-4A9C-8D21-596D717709D8}"/>
              </a:ext>
            </a:extLst>
          </p:cNvPr>
          <p:cNvSpPr>
            <a:spLocks xmlns:a="http://schemas.openxmlformats.org/drawingml/2006/main" noGrp="1"/>
          </p:cNvSpPr>
          <p:nvPr/>
        </p:nvSpPr>
        <p:spPr>
          <a:xfrm xmlns:a="http://schemas.openxmlformats.org/drawingml/2006/main" rot="0" flipH="0" flipV="0">
            <a:off x="-1512257"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7.xml><?xml version="1.0" encoding="utf-8"?>
<p:sldLayout xmlns:p="http://schemas.openxmlformats.org/presentationml/2006/main" userDrawn="1">
  <p:cSld name="2.2">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ea4714361e4d4bae"/>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7EEF58BE-922E-4529-826F-7147931FF666}"/>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PA-文本框 47">
            <a:extLst xmlns:a="http://schemas.openxmlformats.org/drawingml/2006/main">
              <a:ext uri="{FF2B5EF4-FFF2-40B4-BE49-F238E27FC236}">
                <a16:creationId xmlns:a16="http://schemas.microsoft.com/office/drawing/2014/main" id="{7F0E6E37-E171-44A6-A348-491920BF5117}"/>
              </a:ext>
            </a:extLst>
          </p:cNvPr>
          <p:cNvSpPr>
            <a:spLocks xmlns:a="http://schemas.openxmlformats.org/drawingml/2006/main" noGrp="1"/>
          </p:cNvSpPr>
          <p:nvPr/>
        </p:nvSpPr>
        <p:spPr>
          <a:xfrm xmlns:a="http://schemas.openxmlformats.org/drawingml/2006/main">
            <a:off x="270158" y="117840"/>
            <a:ext cx="4965948"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ea"/>
                <a:ea typeface="+mj-ea"/>
                <a:cs typeface="+mj-ea"/>
              </a:rPr>
              <a:t>7.2 </a:t>
            </a:r>
            <a:r>
              <a:rPr sz="2800" b="1" spc="0">
                <a:solidFill>
                  <a:schemeClr val="bg1"/>
                </a:solidFill>
                <a:effectLst>
                  <a:outerShdw blurRad="101600" dist="12700" dir="5400000" algn="t" rotWithShape="0">
                    <a:schemeClr val="accent3">
                      <a:alpha val="85000"/>
                    </a:schemeClr>
                  </a:outerShdw>
                </a:effectLst>
                <a:latin typeface="+mj-ea"/>
                <a:ea typeface="+mj-ea"/>
                <a:cs typeface="+mj-ea"/>
              </a:rPr>
              <a:t>全局路径规划</a:t>
            </a:r>
          </a:p>
        </p:txBody>
      </p:sp>
      <p:sp>
        <p:nvSpPr>
          <p:cNvPr id="56" name="矩形 55">
            <a:extLst xmlns:a="http://schemas.openxmlformats.org/drawingml/2006/main">
              <a:ext uri="{FF2B5EF4-FFF2-40B4-BE49-F238E27FC236}">
                <a16:creationId xmlns:a16="http://schemas.microsoft.com/office/drawing/2014/main" id="{44670F36-7116-49AB-9774-637510B1AC86}"/>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图片 4"/>
          <p:cNvPicPr>
            <a:picLocks xmlns:a="http://schemas.openxmlformats.org/drawingml/2006/main" noChangeAspect="1"/>
          </p:cNvPicPr>
          <p:nvPr/>
        </p:nvPicPr>
        <p:blipFill>
          <a:blip xmlns:r="http://schemas.openxmlformats.org/officeDocument/2006/relationships" xmlns:a="http://schemas.openxmlformats.org/drawingml/2006/main" r:embed="R6e3f98d049ac42f1"/>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4" name="文本框 13">
            <a:extLst xmlns:a="http://schemas.openxmlformats.org/drawingml/2006/main">
              <a:ext uri="{FF2B5EF4-FFF2-40B4-BE49-F238E27FC236}">
                <a16:creationId xmlns:a16="http://schemas.microsoft.com/office/drawing/2014/main" id="{873B7387-BB68-45B2-B181-42854CC4680D}"/>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3" name="平行四边形 2">
            <a:extLst xmlns:a="http://schemas.openxmlformats.org/drawingml/2006/main">
              <a:ext uri="{FF2B5EF4-FFF2-40B4-BE49-F238E27FC236}">
                <a16:creationId xmlns:a16="http://schemas.microsoft.com/office/drawing/2014/main" id="{8B1227DF-F83F-4533-8DA2-634A060E2CCE}"/>
              </a:ext>
            </a:extLst>
          </p:cNvPr>
          <p:cNvSpPr>
            <a:spLocks xmlns:a="http://schemas.openxmlformats.org/drawingml/2006/main" noGrp="1"/>
          </p:cNvSpPr>
          <p:nvPr/>
        </p:nvSpPr>
        <p:spPr>
          <a:xfrm xmlns:a="http://schemas.openxmlformats.org/drawingml/2006/main" rot="0" flipH="0" flipV="0">
            <a:off x="444293"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平行四边形 3">
            <a:extLst xmlns:a="http://schemas.openxmlformats.org/drawingml/2006/main">
              <a:ext uri="{FF2B5EF4-FFF2-40B4-BE49-F238E27FC236}">
                <a16:creationId xmlns:a16="http://schemas.microsoft.com/office/drawing/2014/main" id="{24D79119-DDF7-4FC6-8074-DC69BFC86D7C}"/>
              </a:ext>
            </a:extLst>
          </p:cNvPr>
          <p:cNvSpPr>
            <a:spLocks xmlns:a="http://schemas.openxmlformats.org/drawingml/2006/main" noGrp="1"/>
          </p:cNvSpPr>
          <p:nvPr/>
        </p:nvSpPr>
        <p:spPr>
          <a:xfrm xmlns:a="http://schemas.openxmlformats.org/drawingml/2006/main" rot="0" flipH="0" flipV="0">
            <a:off x="162252"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直接连接符 16">
            <a:extLst xmlns:a="http://schemas.openxmlformats.org/drawingml/2006/main">
              <a:ext uri="{FF2B5EF4-FFF2-40B4-BE49-F238E27FC236}">
                <a16:creationId xmlns:a16="http://schemas.microsoft.com/office/drawing/2014/main" id="{D0C68574-0298-47DF-9EA7-EF132B6EAD98}"/>
              </a:ext>
            </a:extLst>
          </p:cNvPr>
          <p:cNvSpPr>
            <a:spLocks xmlns:a="http://schemas.openxmlformats.org/drawingml/2006/main" noGrp="1"/>
          </p:cNvSpPr>
          <p:nvPr/>
        </p:nvSpPr>
        <p:spPr>
          <a:xfrm xmlns:a="http://schemas.openxmlformats.org/drawingml/2006/main" rot="0" flipH="0" flipV="1">
            <a:off x="-1484540"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直接连接符 17">
            <a:extLst xmlns:a="http://schemas.openxmlformats.org/drawingml/2006/main">
              <a:ext uri="{FF2B5EF4-FFF2-40B4-BE49-F238E27FC236}">
                <a16:creationId xmlns:a16="http://schemas.microsoft.com/office/drawing/2014/main" id="{483679DC-4D15-4CFA-90E8-6A4695AF336F}"/>
              </a:ext>
            </a:extLst>
          </p:cNvPr>
          <p:cNvSpPr>
            <a:spLocks xmlns:a="http://schemas.openxmlformats.org/drawingml/2006/main" noGrp="1"/>
          </p:cNvSpPr>
          <p:nvPr/>
        </p:nvSpPr>
        <p:spPr>
          <a:xfrm xmlns:a="http://schemas.openxmlformats.org/drawingml/2006/main" rot="0" flipH="0" flipV="0">
            <a:off x="-1106375"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直接连接符 7">
            <a:extLst xmlns:a="http://schemas.openxmlformats.org/drawingml/2006/main">
              <a:ext uri="{FF2B5EF4-FFF2-40B4-BE49-F238E27FC236}">
                <a16:creationId xmlns:a16="http://schemas.microsoft.com/office/drawing/2014/main" id="{E59D909B-16B8-4DC2-A52F-5A7E6055A596}"/>
              </a:ext>
            </a:extLst>
          </p:cNvPr>
          <p:cNvSpPr>
            <a:spLocks xmlns:a="http://schemas.openxmlformats.org/drawingml/2006/main" noGrp="1"/>
          </p:cNvSpPr>
          <p:nvPr/>
        </p:nvSpPr>
        <p:spPr>
          <a:xfrm xmlns:a="http://schemas.openxmlformats.org/drawingml/2006/main" rot="0" flipH="0" flipV="1">
            <a:off x="-268272"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平行四边形 9">
            <a:extLst xmlns:a="http://schemas.openxmlformats.org/drawingml/2006/main">
              <a:ext uri="{FF2B5EF4-FFF2-40B4-BE49-F238E27FC236}">
                <a16:creationId xmlns:a16="http://schemas.microsoft.com/office/drawing/2014/main" id="{49F13B08-F5A0-4FDC-8CA6-8E472AE4666D}"/>
              </a:ext>
            </a:extLst>
          </p:cNvPr>
          <p:cNvSpPr>
            <a:spLocks xmlns:a="http://schemas.openxmlformats.org/drawingml/2006/main" noGrp="1"/>
          </p:cNvSpPr>
          <p:nvPr/>
        </p:nvSpPr>
        <p:spPr>
          <a:xfrm xmlns:a="http://schemas.openxmlformats.org/drawingml/2006/main" rot="0" flipH="0" flipV="0">
            <a:off x="-881358"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平行四边形 11">
            <a:extLst xmlns:a="http://schemas.openxmlformats.org/drawingml/2006/main">
              <a:ext uri="{FF2B5EF4-FFF2-40B4-BE49-F238E27FC236}">
                <a16:creationId xmlns:a16="http://schemas.microsoft.com/office/drawing/2014/main" id="{101B6FF4-1999-4511-A99D-E658C0281700}"/>
              </a:ext>
            </a:extLst>
          </p:cNvPr>
          <p:cNvSpPr>
            <a:spLocks xmlns:a="http://schemas.openxmlformats.org/drawingml/2006/main" noGrp="1"/>
          </p:cNvSpPr>
          <p:nvPr/>
        </p:nvSpPr>
        <p:spPr>
          <a:xfrm xmlns:a="http://schemas.openxmlformats.org/drawingml/2006/main" rot="0" flipH="0" flipV="0">
            <a:off x="-785409"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平行四边形 12">
            <a:extLst xmlns:a="http://schemas.openxmlformats.org/drawingml/2006/main">
              <a:ext uri="{FF2B5EF4-FFF2-40B4-BE49-F238E27FC236}">
                <a16:creationId xmlns:a16="http://schemas.microsoft.com/office/drawing/2014/main" id="{2A9A7827-2832-4417-BF9A-AC62F0BE71D7}"/>
              </a:ext>
            </a:extLst>
          </p:cNvPr>
          <p:cNvSpPr>
            <a:spLocks xmlns:a="http://schemas.openxmlformats.org/drawingml/2006/main" noGrp="1"/>
          </p:cNvSpPr>
          <p:nvPr/>
        </p:nvSpPr>
        <p:spPr>
          <a:xfrm xmlns:a="http://schemas.openxmlformats.org/drawingml/2006/main" rot="0" flipH="0" flipV="0">
            <a:off x="-689460"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9B21493C-C38E-45C3-A72C-04E00A3E8CBF}"/>
              </a:ext>
            </a:extLst>
          </p:cNvPr>
          <p:cNvSpPr>
            <a:spLocks xmlns:a="http://schemas.openxmlformats.org/drawingml/2006/main" noGrp="1"/>
          </p:cNvSpPr>
          <p:nvPr/>
        </p:nvSpPr>
        <p:spPr>
          <a:xfrm xmlns:a="http://schemas.openxmlformats.org/drawingml/2006/main" rot="0" flipH="0" flipV="0">
            <a:off x="-593511"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EDFE281D-8EF5-462C-93FE-A691891D2AE6}"/>
              </a:ext>
            </a:extLst>
          </p:cNvPr>
          <p:cNvSpPr>
            <a:spLocks xmlns:a="http://schemas.openxmlformats.org/drawingml/2006/main" noGrp="1"/>
          </p:cNvSpPr>
          <p:nvPr/>
        </p:nvSpPr>
        <p:spPr>
          <a:xfrm xmlns:a="http://schemas.openxmlformats.org/drawingml/2006/main" rot="0" flipH="0" flipV="0">
            <a:off x="-497562"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8.xml><?xml version="1.0" encoding="utf-8"?>
<p:sldLayout xmlns:p="http://schemas.openxmlformats.org/presentationml/2006/main" userDrawn="1">
  <p:cSld name="2.3">
    <p:spTree>
      <p:nvGrpSpPr>
        <p:cNvPr id="1" name=""/>
        <p:cNvGrpSpPr/>
        <p:nvPr/>
      </p:nvGrpSpPr>
      <p:grpSpPr>
        <a:xfrm xmlns:a="http://schemas.openxmlformats.org/drawingml/2006/main"/>
      </p:grpSpPr>
      <p:pic>
        <p:nvPicPr>
          <p:cNvPr id="59" name="图片 5"/>
          <p:cNvPicPr>
            <a:picLocks xmlns:a="http://schemas.openxmlformats.org/drawingml/2006/main" noChangeAspect="1"/>
          </p:cNvPicPr>
          <p:nvPr/>
        </p:nvPicPr>
        <p:blipFill>
          <a:blip xmlns:r="http://schemas.openxmlformats.org/officeDocument/2006/relationships" xmlns:a="http://schemas.openxmlformats.org/drawingml/2006/main" r:embed="R9a06539b1e7647dc"/>
          <a:srcRect xmlns:a="http://schemas.openxmlformats.org/drawingml/2006/main" l="19160" t="67305" r="21698" b="20235"/>
          <a:stretch xmlns:a="http://schemas.openxmlformats.org/drawingml/2006/main">
            <a:fillRect l="0" t="0" r="0" b="0"/>
          </a:stretch>
        </p:blipFill>
        <p:spPr>
          <a:xfrm xmlns:a="http://schemas.openxmlformats.org/drawingml/2006/main">
            <a:off x="0" y="0"/>
            <a:ext cx="12192000" cy="7589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65373D28-C21F-48D4-B285-73AB9EE31B9C}"/>
              </a:ext>
            </a:extLst>
          </p:cNvPr>
          <p:cNvSpPr>
            <a:spLocks xmlns:a="http://schemas.openxmlformats.org/drawingml/2006/main" noGrp="1"/>
          </p:cNvSpPr>
          <p:nvPr/>
        </p:nvSpPr>
        <p:spPr>
          <a:xfrm xmlns:a="http://schemas.openxmlformats.org/drawingml/2006/main">
            <a:off x="0" y="0"/>
            <a:ext cx="12192000" cy="758900"/>
          </a:xfrm>
          <a:prstGeom xmlns:a="http://schemas.openxmlformats.org/drawingml/2006/main" prst="rect">
            <a:avLst/>
          </a:prstGeom>
          <a:gradFill xmlns:a="http://schemas.openxmlformats.org/drawingml/2006/main">
            <a:gsLst>
              <a:gs pos="0">
                <a:schemeClr val="accent1">
                  <a:lumMod val="75000"/>
                </a:schemeClr>
              </a:gs>
              <a:gs pos="100000">
                <a:schemeClr val="accent1">
                  <a:lumMod val="75000"/>
                  <a:alpha val="5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PA-文本框 47">
            <a:extLst xmlns:a="http://schemas.openxmlformats.org/drawingml/2006/main">
              <a:ext uri="{FF2B5EF4-FFF2-40B4-BE49-F238E27FC236}">
                <a16:creationId xmlns:a16="http://schemas.microsoft.com/office/drawing/2014/main" id="{A6889EA2-01B8-405D-AD2D-0299E409DE49}"/>
              </a:ext>
            </a:extLst>
          </p:cNvPr>
          <p:cNvSpPr>
            <a:spLocks xmlns:a="http://schemas.openxmlformats.org/drawingml/2006/main" noGrp="1"/>
          </p:cNvSpPr>
          <p:nvPr/>
        </p:nvSpPr>
        <p:spPr>
          <a:xfrm xmlns:a="http://schemas.openxmlformats.org/drawingml/2006/main">
            <a:off x="270158" y="117840"/>
            <a:ext cx="4965948"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l">
              <a:lnSpc>
                <a:spcPct val="100000"/>
              </a:lnSpc>
              <a:buNone/>
            </a:pPr>
            <a:r>
              <a:rPr sz="2800" b="1" spc="0">
                <a:solidFill>
                  <a:schemeClr val="bg1"/>
                </a:solidFill>
                <a:effectLst>
                  <a:outerShdw blurRad="101600" dist="12700" dir="5400000" algn="t" rotWithShape="0">
                    <a:schemeClr val="accent3">
                      <a:alpha val="85000"/>
                    </a:schemeClr>
                  </a:outerShdw>
                </a:effectLst>
                <a:latin typeface="+mj-ea"/>
                <a:ea typeface="+mj-ea"/>
                <a:cs typeface="+mj-ea"/>
              </a:rPr>
              <a:t>7.3 </a:t>
            </a:r>
            <a:r>
              <a:rPr sz="2800" b="1" spc="0">
                <a:solidFill>
                  <a:schemeClr val="bg1"/>
                </a:solidFill>
                <a:effectLst>
                  <a:outerShdw blurRad="101600" dist="12700" dir="5400000" algn="t" rotWithShape="0">
                    <a:schemeClr val="accent3">
                      <a:alpha val="85000"/>
                    </a:schemeClr>
                  </a:outerShdw>
                </a:effectLst>
                <a:latin typeface="+mj-ea"/>
                <a:ea typeface="+mj-ea"/>
                <a:cs typeface="+mj-ea"/>
              </a:rPr>
              <a:t>局部路径规划</a:t>
            </a:r>
          </a:p>
        </p:txBody>
      </p:sp>
      <p:sp>
        <p:nvSpPr>
          <p:cNvPr id="56" name="矩形 55">
            <a:extLst xmlns:a="http://schemas.openxmlformats.org/drawingml/2006/main">
              <a:ext uri="{FF2B5EF4-FFF2-40B4-BE49-F238E27FC236}">
                <a16:creationId xmlns:a16="http://schemas.microsoft.com/office/drawing/2014/main" id="{9D2A957B-CA8C-4A8B-9587-158AE41AB3F3}"/>
              </a:ext>
            </a:extLst>
          </p:cNvPr>
          <p:cNvSpPr>
            <a:spLocks xmlns:a="http://schemas.openxmlformats.org/drawingml/2006/main" noGrp="1"/>
          </p:cNvSpPr>
          <p:nvPr/>
        </p:nvSpPr>
        <p:spPr>
          <a:xfrm xmlns:a="http://schemas.openxmlformats.org/drawingml/2006/main">
            <a:off x="-1" y="758900"/>
            <a:ext cx="12192001" cy="66338"/>
          </a:xfrm>
          <a:prstGeom xmlns:a="http://schemas.openxmlformats.org/drawingml/2006/main" prst="rect">
            <a:avLst/>
          </a:prstGeom>
          <a:gradFill xmlns:a="http://schemas.openxmlformats.org/drawingml/2006/main">
            <a:gsLst>
              <a:gs pos="100000">
                <a:schemeClr val="accent3">
                  <a:lumMod val="20000"/>
                  <a:lumOff val="80000"/>
                </a:schemeClr>
              </a:gs>
              <a:gs pos="50000">
                <a:schemeClr val="accent1">
                  <a:lumMod val="20000"/>
                  <a:lumOff val="80000"/>
                </a:schemeClr>
              </a:gs>
              <a:gs pos="0">
                <a:schemeClr val="accent3">
                  <a:lumMod val="20000"/>
                  <a:lumOff val="80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图片 4"/>
          <p:cNvPicPr>
            <a:picLocks xmlns:a="http://schemas.openxmlformats.org/drawingml/2006/main" noChangeAspect="1"/>
          </p:cNvPicPr>
          <p:nvPr/>
        </p:nvPicPr>
        <p:blipFill>
          <a:blip xmlns:r="http://schemas.openxmlformats.org/officeDocument/2006/relationships" xmlns:a="http://schemas.openxmlformats.org/drawingml/2006/main" r:embed="R9f28ee3f46d74954"/>
          <a:stretch xmlns:a="http://schemas.openxmlformats.org/drawingml/2006/main">
            <a:fillRect l="0" t="0" r="0" b="0"/>
          </a:stretch>
        </p:blipFill>
        <p:spPr>
          <a:xfrm xmlns:a="http://schemas.openxmlformats.org/drawingml/2006/main">
            <a:off x="10466917" y="165400"/>
            <a:ext cx="1368044" cy="428101"/>
          </a:xfrm>
          <a:prstGeom xmlns:a="http://schemas.openxmlformats.org/drawingml/2006/main" prst="rect">
            <a:avLst/>
          </a:prstGeom>
        </p:spPr>
      </p:pic>
      <p:sp>
        <p:nvSpPr>
          <p:cNvPr id="14" name="文本框 13">
            <a:extLst xmlns:a="http://schemas.openxmlformats.org/drawingml/2006/main">
              <a:ext uri="{FF2B5EF4-FFF2-40B4-BE49-F238E27FC236}">
                <a16:creationId xmlns:a16="http://schemas.microsoft.com/office/drawing/2014/main" id="{8066F84E-AC45-4624-B7C4-D1DD033477DD}"/>
              </a:ext>
            </a:extLst>
          </p:cNvPr>
          <p:cNvSpPr>
            <a:spLocks xmlns:a="http://schemas.openxmlformats.org/drawingml/2006/main" noGrp="1"/>
          </p:cNvSpPr>
          <p:nvPr/>
        </p:nvSpPr>
        <p:spPr>
          <a:xfrm xmlns:a="http://schemas.openxmlformats.org/drawingml/2006/main">
            <a:off x="11689482" y="6429445"/>
            <a:ext cx="341760" cy="24622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fld id="{7F65B630-C7FF-41C0-9923-C5E5E29EED81}" type="slidenum">
              <a:rPr sz="1000" b="0" i="0" u="none" cap="none" spc="0">
                <a:ln>
                  <a:noFill/>
                </a:ln>
                <a:solidFill>
                  <a:prstClr val="black"/>
                </a:solidFill>
                <a:latin typeface="Arial"/>
                <a:ea typeface="Arial"/>
                <a:cs typeface="Arial"/>
              </a:rPr>
              <a:t>‹#›</a:t>
            </a:fld>
            <a:endParaRPr sz="1000" b="0" i="0" u="none" kern="1200" cap="none" spc="0" baseline="0">
              <a:ln>
                <a:noFill/>
              </a:ln>
              <a:solidFill>
                <a:prstClr val="black"/>
              </a:solidFill>
              <a:latin typeface="Arial"/>
              <a:ea typeface="Arial"/>
              <a:cs typeface="Arial"/>
            </a:endParaRPr>
          </a:p>
        </p:txBody>
      </p:sp>
      <p:sp>
        <p:nvSpPr>
          <p:cNvPr id="3" name="平行四边形 2">
            <a:extLst xmlns:a="http://schemas.openxmlformats.org/drawingml/2006/main">
              <a:ext uri="{FF2B5EF4-FFF2-40B4-BE49-F238E27FC236}">
                <a16:creationId xmlns:a16="http://schemas.microsoft.com/office/drawing/2014/main" id="{17723F74-8792-4B90-87E9-C593BF88CC4A}"/>
              </a:ext>
            </a:extLst>
          </p:cNvPr>
          <p:cNvSpPr>
            <a:spLocks xmlns:a="http://schemas.openxmlformats.org/drawingml/2006/main" noGrp="1"/>
          </p:cNvSpPr>
          <p:nvPr/>
        </p:nvSpPr>
        <p:spPr>
          <a:xfrm xmlns:a="http://schemas.openxmlformats.org/drawingml/2006/main" rot="0" flipH="0" flipV="0">
            <a:off x="391197" y="-7601"/>
            <a:ext cx="1297791" cy="565138"/>
          </a:xfrm>
          <a:prstGeom xmlns:a="http://schemas.openxmlformats.org/drawingml/2006/main" prst="parallelogram">
            <a:avLst>
              <a:gd name="adj" fmla="val 110052"/>
            </a:avLst>
          </a:prstGeom>
          <a:gradFill xmlns:a="http://schemas.openxmlformats.org/drawingml/2006/main">
            <a:gsLst>
              <a:gs pos="0">
                <a:schemeClr val="accent1">
                  <a:lumMod val="20000"/>
                  <a:lumOff val="80000"/>
                  <a:alpha val="20000"/>
                </a:schemeClr>
              </a:gs>
              <a:gs pos="100000">
                <a:schemeClr val="accent1">
                  <a:lumMod val="20000"/>
                  <a:lumOff val="80000"/>
                  <a:alpha val="0"/>
                </a:schemeClr>
              </a:gs>
            </a:gsLst>
            <a:lin ang="30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平行四边形 3">
            <a:extLst xmlns:a="http://schemas.openxmlformats.org/drawingml/2006/main">
              <a:ext uri="{FF2B5EF4-FFF2-40B4-BE49-F238E27FC236}">
                <a16:creationId xmlns:a16="http://schemas.microsoft.com/office/drawing/2014/main" id="{4DC7270D-66F6-4C71-B81D-85D5AB797FFD}"/>
              </a:ext>
            </a:extLst>
          </p:cNvPr>
          <p:cNvSpPr>
            <a:spLocks xmlns:a="http://schemas.openxmlformats.org/drawingml/2006/main" noGrp="1"/>
          </p:cNvSpPr>
          <p:nvPr/>
        </p:nvSpPr>
        <p:spPr>
          <a:xfrm xmlns:a="http://schemas.openxmlformats.org/drawingml/2006/main" rot="0" flipH="0" flipV="0">
            <a:off x="109156" y="-7601"/>
            <a:ext cx="1028341" cy="565138"/>
          </a:xfrm>
          <a:prstGeom xmlns:a="http://schemas.openxmlformats.org/drawingml/2006/main" prst="parallelogram">
            <a:avLst>
              <a:gd name="adj" fmla="val 111457"/>
            </a:avLst>
          </a:prstGeom>
          <a:gradFill xmlns:a="http://schemas.openxmlformats.org/drawingml/2006/main">
            <a:gsLst>
              <a:gs pos="0">
                <a:schemeClr val="accent1">
                  <a:lumMod val="20000"/>
                  <a:lumOff val="80000"/>
                  <a:alpha val="20000"/>
                </a:schemeClr>
              </a:gs>
              <a:gs pos="85000">
                <a:schemeClr val="accent1">
                  <a:lumMod val="20000"/>
                  <a:lumOff val="80000"/>
                  <a:alpha val="0"/>
                </a:schemeClr>
              </a:gs>
            </a:gsLst>
            <a:lin ang="3000000" scaled="0"/>
          </a:gradFill>
          <a:ln xmlns:a="http://schemas.openxmlformats.org/drawingml/2006/main">
            <a:gradFill>
              <a:gsLst>
                <a:gs pos="0">
                  <a:schemeClr val="accent3"/>
                </a:gs>
                <a:gs pos="60000">
                  <a:schemeClr val="accent1">
                    <a:lumMod val="20000"/>
                    <a:lumOff val="80000"/>
                    <a:alpha val="0"/>
                  </a:schemeClr>
                </a:gs>
              </a:gsLst>
              <a:lin ang="3000000" scaled="0"/>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直接连接符 16">
            <a:extLst xmlns:a="http://schemas.openxmlformats.org/drawingml/2006/main">
              <a:ext uri="{FF2B5EF4-FFF2-40B4-BE49-F238E27FC236}">
                <a16:creationId xmlns:a16="http://schemas.microsoft.com/office/drawing/2014/main" id="{1096AFAF-9681-4CA0-B0E1-06DAE8E9A60D}"/>
              </a:ext>
            </a:extLst>
          </p:cNvPr>
          <p:cNvSpPr>
            <a:spLocks xmlns:a="http://schemas.openxmlformats.org/drawingml/2006/main" noGrp="1"/>
          </p:cNvSpPr>
          <p:nvPr/>
        </p:nvSpPr>
        <p:spPr>
          <a:xfrm xmlns:a="http://schemas.openxmlformats.org/drawingml/2006/main" rot="0" flipH="0" flipV="1">
            <a:off x="-1537636" y="679789"/>
            <a:ext cx="68918" cy="7911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直接连接符 17">
            <a:extLst xmlns:a="http://schemas.openxmlformats.org/drawingml/2006/main">
              <a:ext uri="{FF2B5EF4-FFF2-40B4-BE49-F238E27FC236}">
                <a16:creationId xmlns:a16="http://schemas.microsoft.com/office/drawing/2014/main" id="{3E96DF80-45C3-4EAC-9B68-8A2BFA3C4ACD}"/>
              </a:ext>
            </a:extLst>
          </p:cNvPr>
          <p:cNvSpPr>
            <a:spLocks xmlns:a="http://schemas.openxmlformats.org/drawingml/2006/main" noGrp="1"/>
          </p:cNvSpPr>
          <p:nvPr/>
        </p:nvSpPr>
        <p:spPr>
          <a:xfrm xmlns:a="http://schemas.openxmlformats.org/drawingml/2006/main" rot="0" flipH="0" flipV="0">
            <a:off x="-1159471" y="679789"/>
            <a:ext cx="378165"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直接连接符 7">
            <a:extLst xmlns:a="http://schemas.openxmlformats.org/drawingml/2006/main">
              <a:ext uri="{FF2B5EF4-FFF2-40B4-BE49-F238E27FC236}">
                <a16:creationId xmlns:a16="http://schemas.microsoft.com/office/drawing/2014/main" id="{D29C6FF0-62F2-4E3D-A028-4C3F4DD25E5D}"/>
              </a:ext>
            </a:extLst>
          </p:cNvPr>
          <p:cNvSpPr>
            <a:spLocks xmlns:a="http://schemas.openxmlformats.org/drawingml/2006/main" noGrp="1"/>
          </p:cNvSpPr>
          <p:nvPr/>
        </p:nvSpPr>
        <p:spPr>
          <a:xfrm xmlns:a="http://schemas.openxmlformats.org/drawingml/2006/main" rot="0" flipH="0" flipV="1">
            <a:off x="-321368" y="-84138"/>
            <a:ext cx="838103" cy="763927"/>
          </a:xfrm>
          <a:prstGeom xmlns:a="http://schemas.openxmlformats.org/drawingml/2006/main" prst="line">
            <a:avLst/>
          </a:prstGeom>
          <a:ln xmlns:a="http://schemas.openxmlformats.org/drawingml/2006/main" w="12700">
            <a:gradFill>
              <a:gsLst>
                <a:gs pos="0">
                  <a:schemeClr val="accent3"/>
                </a:gs>
                <a:gs pos="92000">
                  <a:schemeClr val="accent3">
                    <a:alpha val="0"/>
                  </a:schemeClr>
                </a:gs>
              </a:gsLst>
              <a:lin ang="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平行四边形 9">
            <a:extLst xmlns:a="http://schemas.openxmlformats.org/drawingml/2006/main">
              <a:ext uri="{FF2B5EF4-FFF2-40B4-BE49-F238E27FC236}">
                <a16:creationId xmlns:a16="http://schemas.microsoft.com/office/drawing/2014/main" id="{2C573D3F-7E93-4214-86FC-1795BC9259D3}"/>
              </a:ext>
            </a:extLst>
          </p:cNvPr>
          <p:cNvSpPr>
            <a:spLocks xmlns:a="http://schemas.openxmlformats.org/drawingml/2006/main" noGrp="1"/>
          </p:cNvSpPr>
          <p:nvPr/>
        </p:nvSpPr>
        <p:spPr>
          <a:xfrm xmlns:a="http://schemas.openxmlformats.org/drawingml/2006/main" rot="0" flipH="0" flipV="0">
            <a:off x="-934454" y="633687"/>
            <a:ext cx="114090" cy="52480"/>
          </a:xfrm>
          <a:prstGeom xmlns:a="http://schemas.openxmlformats.org/drawingml/2006/main" prst="parallelogram">
            <a:avLst>
              <a:gd name="adj" fmla="val 129145"/>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平行四边形 11">
            <a:extLst xmlns:a="http://schemas.openxmlformats.org/drawingml/2006/main">
              <a:ext uri="{FF2B5EF4-FFF2-40B4-BE49-F238E27FC236}">
                <a16:creationId xmlns:a16="http://schemas.microsoft.com/office/drawing/2014/main" id="{AF542DF8-C594-473A-B029-361B28534EFA}"/>
              </a:ext>
            </a:extLst>
          </p:cNvPr>
          <p:cNvSpPr>
            <a:spLocks xmlns:a="http://schemas.openxmlformats.org/drawingml/2006/main" noGrp="1"/>
          </p:cNvSpPr>
          <p:nvPr/>
        </p:nvSpPr>
        <p:spPr>
          <a:xfrm xmlns:a="http://schemas.openxmlformats.org/drawingml/2006/main" rot="0" flipH="0" flipV="0">
            <a:off x="-838505" y="633687"/>
            <a:ext cx="114090" cy="52480"/>
          </a:xfrm>
          <a:prstGeom xmlns:a="http://schemas.openxmlformats.org/drawingml/2006/main" prst="parallelogram">
            <a:avLst>
              <a:gd name="adj" fmla="val 129145"/>
            </a:avLst>
          </a:prstGeom>
          <a:solidFill xmlns:a="http://schemas.openxmlformats.org/drawingml/2006/main">
            <a:schemeClr val="accent3">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平行四边形 12">
            <a:extLst xmlns:a="http://schemas.openxmlformats.org/drawingml/2006/main">
              <a:ext uri="{FF2B5EF4-FFF2-40B4-BE49-F238E27FC236}">
                <a16:creationId xmlns:a16="http://schemas.microsoft.com/office/drawing/2014/main" id="{6C13E829-F13D-4092-8708-25BBBC965D00}"/>
              </a:ext>
            </a:extLst>
          </p:cNvPr>
          <p:cNvSpPr>
            <a:spLocks xmlns:a="http://schemas.openxmlformats.org/drawingml/2006/main" noGrp="1"/>
          </p:cNvSpPr>
          <p:nvPr/>
        </p:nvSpPr>
        <p:spPr>
          <a:xfrm xmlns:a="http://schemas.openxmlformats.org/drawingml/2006/main" rot="0" flipH="0" flipV="0">
            <a:off x="-742556" y="633687"/>
            <a:ext cx="114090" cy="52480"/>
          </a:xfrm>
          <a:prstGeom xmlns:a="http://schemas.openxmlformats.org/drawingml/2006/main" prst="parallelogram">
            <a:avLst>
              <a:gd name="adj" fmla="val 129145"/>
            </a:avLst>
          </a:prstGeom>
          <a:solidFill xmlns:a="http://schemas.openxmlformats.org/drawingml/2006/main">
            <a:schemeClr val="accent3">
              <a:alpha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平行四边形 14">
            <a:extLst xmlns:a="http://schemas.openxmlformats.org/drawingml/2006/main">
              <a:ext uri="{FF2B5EF4-FFF2-40B4-BE49-F238E27FC236}">
                <a16:creationId xmlns:a16="http://schemas.microsoft.com/office/drawing/2014/main" id="{27D31AB2-D44B-4226-B41B-11C366208D23}"/>
              </a:ext>
            </a:extLst>
          </p:cNvPr>
          <p:cNvSpPr>
            <a:spLocks xmlns:a="http://schemas.openxmlformats.org/drawingml/2006/main" noGrp="1"/>
          </p:cNvSpPr>
          <p:nvPr/>
        </p:nvSpPr>
        <p:spPr>
          <a:xfrm xmlns:a="http://schemas.openxmlformats.org/drawingml/2006/main" rot="0" flipH="0" flipV="0">
            <a:off x="-646607" y="633687"/>
            <a:ext cx="114090" cy="52480"/>
          </a:xfrm>
          <a:prstGeom xmlns:a="http://schemas.openxmlformats.org/drawingml/2006/main" prst="parallelogram">
            <a:avLst>
              <a:gd name="adj" fmla="val 129145"/>
            </a:avLst>
          </a:prstGeom>
          <a:solidFill xmlns:a="http://schemas.openxmlformats.org/drawingml/2006/main">
            <a:schemeClr val="accent3">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平行四边形 15">
            <a:extLst xmlns:a="http://schemas.openxmlformats.org/drawingml/2006/main">
              <a:ext uri="{FF2B5EF4-FFF2-40B4-BE49-F238E27FC236}">
                <a16:creationId xmlns:a16="http://schemas.microsoft.com/office/drawing/2014/main" id="{C45B413F-630F-45AD-9C4C-6EBFA1B6A649}"/>
              </a:ext>
            </a:extLst>
          </p:cNvPr>
          <p:cNvSpPr>
            <a:spLocks xmlns:a="http://schemas.openxmlformats.org/drawingml/2006/main" noGrp="1"/>
          </p:cNvSpPr>
          <p:nvPr/>
        </p:nvSpPr>
        <p:spPr>
          <a:xfrm xmlns:a="http://schemas.openxmlformats.org/drawingml/2006/main" rot="0" flipH="0" flipV="0">
            <a:off x="-550658" y="633687"/>
            <a:ext cx="114090" cy="52480"/>
          </a:xfrm>
          <a:prstGeom xmlns:a="http://schemas.openxmlformats.org/drawingml/2006/main" prst="parallelogram">
            <a:avLst>
              <a:gd name="adj" fmla="val 129145"/>
            </a:avLst>
          </a:prstGeom>
          <a:solidFill xmlns:a="http://schemas.openxmlformats.org/drawingml/2006/main">
            <a:schemeClr val="accent3">
              <a:alpha val="2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a9c4c8341d42a7" /><Relationship Type="http://schemas.openxmlformats.org/officeDocument/2006/relationships/slideLayout" Target="/ppt/slideLayouts/slideLayout1.xml" Id="R4a48d7e34abd4560" /><Relationship Type="http://schemas.openxmlformats.org/officeDocument/2006/relationships/slideLayout" Target="/ppt/slideLayouts/slideLayout2.xml" Id="R3f808ab3493c46b0" /><Relationship Type="http://schemas.openxmlformats.org/officeDocument/2006/relationships/slideLayout" Target="/ppt/slideLayouts/slideLayout3.xml" Id="Rfd1454efb5694cd0" /><Relationship Type="http://schemas.openxmlformats.org/officeDocument/2006/relationships/slideLayout" Target="/ppt/slideLayouts/slideLayout4.xml" Id="Rdb771b3026b54b35" /><Relationship Type="http://schemas.openxmlformats.org/officeDocument/2006/relationships/slideLayout" Target="/ppt/slideLayouts/slideLayout5.xml" Id="Re1b1d7ffe0b54a55" /><Relationship Type="http://schemas.openxmlformats.org/officeDocument/2006/relationships/slideLayout" Target="/ppt/slideLayouts/slideLayout6.xml" Id="Re8d7acb1160a4063" /><Relationship Type="http://schemas.openxmlformats.org/officeDocument/2006/relationships/slideLayout" Target="/ppt/slideLayouts/slideLayout7.xml" Id="R7c42b8e60a7b4da5" /><Relationship Type="http://schemas.openxmlformats.org/officeDocument/2006/relationships/slideLayout" Target="/ppt/slideLayouts/slideLayout8.xml" Id="R41405b55e9214367" /><Relationship Type="http://schemas.openxmlformats.org/officeDocument/2006/relationships/slideLayout" Target="/ppt/slideLayouts/slideLayout9.xml" Id="Rdd5a3d53345f4032" /><Relationship Type="http://schemas.openxmlformats.org/officeDocument/2006/relationships/slideLayout" Target="/ppt/slideLayouts/slideLayout10.xml" Id="Raeeca54c131f4384" /><Relationship Type="http://schemas.openxmlformats.org/officeDocument/2006/relationships/slideLayout" Target="/ppt/slideLayouts/slideLayout11.xml" Id="Rd1c8fe53cb05425a" /><Relationship Type="http://schemas.openxmlformats.org/officeDocument/2006/relationships/slideLayout" Target="/ppt/slideLayouts/slideLayout12.xml" Id="R9a84fce2930c45e4" /><Relationship Type="http://schemas.openxmlformats.org/officeDocument/2006/relationships/slideLayout" Target="/ppt/slideLayouts/slideLayout13.xml" Id="Rf540654466eb4747" /><Relationship Type="http://schemas.openxmlformats.org/officeDocument/2006/relationships/slideLayout" Target="/ppt/slideLayouts/slideLayout14.xml" Id="Ra21d59b37f3d4a59" /><Relationship Type="http://schemas.openxmlformats.org/officeDocument/2006/relationships/slideLayout" Target="/ppt/slideLayouts/slideLayout15.xml" Id="R3aeecbb00f1f45ac" /><Relationship Type="http://schemas.openxmlformats.org/officeDocument/2006/relationships/slideLayout" Target="/ppt/slideLayouts/slideLayout16.xml" Id="R0915af16ccdf40f3" /><Relationship Type="http://schemas.openxmlformats.org/officeDocument/2006/relationships/slideLayout" Target="/ppt/slideLayouts/slideLayout17.xml" Id="Raf2617fd266a4a74" /><Relationship Type="http://schemas.openxmlformats.org/officeDocument/2006/relationships/slideLayout" Target="/ppt/slideLayouts/slideLayout18.xml" Id="Re4088b2413bd41e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EA902EFB-969B-2EF3-3392-3257EE1106BC}"/>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9E13D239-B1D4-7DFE-12B1-9603CF3E17F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2E5199BB-DE7C-B745-A1D2-CC4B876666C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B4B6B2-4DD2-402E-9D92-2DD140D74C09}" type="datetimeFigureOut">
              <a:t>2026/10/10</a:t>
            </a:fld>
            <a:endParaRPr/>
          </a:p>
        </p:txBody>
      </p:sp>
      <p:sp>
        <p:nvSpPr>
          <p:cNvPr id="5" name="页脚占位符 4">
            <a:extLst xmlns:a="http://schemas.openxmlformats.org/drawingml/2006/main">
              <a:ext uri="{FF2B5EF4-FFF2-40B4-BE49-F238E27FC236}">
                <a16:creationId xmlns:a16="http://schemas.microsoft.com/office/drawing/2014/main" id="{CACCA195-9018-3AF0-D6C9-F42ADD42F3E4}"/>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E6844DD-1A8F-67C7-1218-8F93FA95E12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669268CE-C98F-447B-8124-6EDA8875FB5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48d7e34abd4560"/>
    <p:sldLayoutId xmlns:r="http://schemas.openxmlformats.org/officeDocument/2006/relationships" id="2147483650" r:id="R3f808ab3493c46b0"/>
    <p:sldLayoutId xmlns:r="http://schemas.openxmlformats.org/officeDocument/2006/relationships" id="2147483651" r:id="Rfd1454efb5694cd0"/>
    <p:sldLayoutId xmlns:r="http://schemas.openxmlformats.org/officeDocument/2006/relationships" id="2147483652" r:id="Rdb771b3026b54b35"/>
    <p:sldLayoutId xmlns:r="http://schemas.openxmlformats.org/officeDocument/2006/relationships" id="2147483653" r:id="Re1b1d7ffe0b54a55"/>
    <p:sldLayoutId xmlns:r="http://schemas.openxmlformats.org/officeDocument/2006/relationships" id="2147483654" r:id="Re8d7acb1160a4063"/>
    <p:sldLayoutId xmlns:r="http://schemas.openxmlformats.org/officeDocument/2006/relationships" id="2147483655" r:id="R7c42b8e60a7b4da5"/>
    <p:sldLayoutId xmlns:r="http://schemas.openxmlformats.org/officeDocument/2006/relationships" id="2147483656" r:id="R41405b55e9214367"/>
    <p:sldLayoutId xmlns:r="http://schemas.openxmlformats.org/officeDocument/2006/relationships" id="2147483657" r:id="Rdd5a3d53345f4032"/>
    <p:sldLayoutId xmlns:r="http://schemas.openxmlformats.org/officeDocument/2006/relationships" id="2147483658" r:id="Raeeca54c131f4384"/>
    <p:sldLayoutId xmlns:r="http://schemas.openxmlformats.org/officeDocument/2006/relationships" id="2147483659" r:id="Rd1c8fe53cb05425a"/>
    <p:sldLayoutId xmlns:r="http://schemas.openxmlformats.org/officeDocument/2006/relationships" id="2147483660" r:id="R9a84fce2930c45e4"/>
    <p:sldLayoutId xmlns:r="http://schemas.openxmlformats.org/officeDocument/2006/relationships" id="2147483661" r:id="Rf540654466eb4747"/>
    <p:sldLayoutId xmlns:r="http://schemas.openxmlformats.org/officeDocument/2006/relationships" id="2147483662" r:id="Ra21d59b37f3d4a59"/>
    <p:sldLayoutId xmlns:r="http://schemas.openxmlformats.org/officeDocument/2006/relationships" id="2147483663" r:id="R3aeecbb00f1f45ac"/>
    <p:sldLayoutId xmlns:r="http://schemas.openxmlformats.org/officeDocument/2006/relationships" id="2147483664" r:id="R0915af16ccdf40f3"/>
    <p:sldLayoutId xmlns:r="http://schemas.openxmlformats.org/officeDocument/2006/relationships" id="2147483665" r:id="Raf2617fd266a4a74"/>
    <p:sldLayoutId xmlns:r="http://schemas.openxmlformats.org/officeDocument/2006/relationships" id="2147483666" r:id="Re4088b2413bd41e7"/>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sldGuideLst>
    </p:ext>
  </p:extLst>
</p:sldMaster>
</file>

<file path=ppt/slideMasters/theme/theme2.xml><?xml version="1.0" encoding="utf-8"?>
<a:theme xmlns:a="http://schemas.openxmlformats.org/drawingml/2006/main" name="Office 主题​​">
  <a:themeElements>
    <a:clrScheme name="0718">
      <a:dk1>
        <a:sysClr val="windowText" lastClr="000000"/>
      </a:dk1>
      <a:lt1>
        <a:sysClr val="window" lastClr="FFFFFF"/>
      </a:lt1>
      <a:dk2>
        <a:srgbClr val="000000"/>
      </a:dk2>
      <a:lt2>
        <a:srgbClr val="FFFFFF"/>
      </a:lt2>
      <a:accent1>
        <a:srgbClr val="0D2D7F"/>
      </a:accent1>
      <a:accent2>
        <a:srgbClr val="0C47AF"/>
      </a:accent2>
      <a:accent3>
        <a:srgbClr val="00BBFB"/>
      </a:accent3>
      <a:accent4>
        <a:srgbClr val="FFC000"/>
      </a:accent4>
      <a:accent5>
        <a:srgbClr val="5B9BD5"/>
      </a:accent5>
      <a:accent6>
        <a:srgbClr val="70AD47"/>
      </a:accent6>
      <a:hlink>
        <a:srgbClr val="0563C1"/>
      </a:hlink>
      <a:folHlink>
        <a:srgbClr val="954F72"/>
      </a:folHlink>
    </a:clrScheme>
    <a:fontScheme name="自定义 11">
      <a:majorFont>
        <a:latin typeface="Arial Black"/>
        <a:ea typeface="微软雅黑"/>
        <a:cs typeface=""/>
      </a:majorFont>
      <a:minorFont>
        <a:latin typeface="Arial"/>
        <a:ea typeface="微软雅黑"/>
        <a:cs typeface=""/>
      </a:minorFont>
    </a:fontScheme>
    <a:fmtScheme name="0718">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af92bbadd1e2402f" /><Relationship Type="http://schemas.openxmlformats.org/officeDocument/2006/relationships/image" Target="/ppt/media/image11.png" Id="R42fc76ba162d4ca3" /><Relationship Type="http://schemas.openxmlformats.org/officeDocument/2006/relationships/notesSlide" Target="/ppt/notesSlides/notesSlide1.xml" Id="R3d063fbb569f44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f63f0fdd028f4068" /><Relationship Type="http://schemas.openxmlformats.org/officeDocument/2006/relationships/notesSlide" Target="/ppt/notesSlides/notesSlide2.xml" Id="Re8e8a2ee43fe40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a27c2220f5444a" /><Relationship Type="http://schemas.openxmlformats.org/officeDocument/2006/relationships/image" Target="/ppt/media/image2.gif" Id="R1b399821ca9d4f12" /><Relationship Type="http://schemas.openxmlformats.org/officeDocument/2006/relationships/image" Target="/ppt/media/image3.gif" Id="Rc8209a8f295b469c" /><Relationship Type="http://schemas.openxmlformats.org/officeDocument/2006/relationships/image" Target="/ppt/media/image4.gif" Id="R3aa3333f1fa849f0" /><Relationship Type="http://schemas.openxmlformats.org/officeDocument/2006/relationships/image" Target="/ppt/media/image5.gif" Id="R1c25f6e3662b4011" /><Relationship Type="http://schemas.openxmlformats.org/officeDocument/2006/relationships/notesSlide" Target="/ppt/notesSlides/notesSlide3.xml" Id="Rdf54ffa407b64c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c0021fd867426c" /><Relationship Type="http://schemas.openxmlformats.org/officeDocument/2006/relationships/image" Target="/ppt/media/image12.png" Id="R9f6469bb560a49f9" /><Relationship Type="http://schemas.openxmlformats.org/officeDocument/2006/relationships/notesSlide" Target="/ppt/notesSlides/notesSlide4.xml" Id="R7b617390138b46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aecfc7b28e4463a" /><Relationship Type="http://schemas.openxmlformats.org/officeDocument/2006/relationships/image" Target="/ppt/media/image13.png" Id="R3161e042454f4f3a" /><Relationship Type="http://schemas.openxmlformats.org/officeDocument/2006/relationships/image" Target="/ppt/media/image4.jpeg" Id="R1b1ed9a238064029" /><Relationship Type="http://schemas.openxmlformats.org/officeDocument/2006/relationships/image" Target="/ppt/media/image5.jpeg" Id="Rf8910b543704409e" /><Relationship Type="http://schemas.openxmlformats.org/officeDocument/2006/relationships/image" Target="/ppt/media/image6.jpeg" Id="Rb21a1887e38a491c" /><Relationship Type="http://schemas.openxmlformats.org/officeDocument/2006/relationships/image" Target="/ppt/media/image7.jpeg" Id="R6f8833cfb9304574" /><Relationship Type="http://schemas.openxmlformats.org/officeDocument/2006/relationships/notesSlide" Target="/ppt/notesSlides/notesSlide5.xml" Id="Rb3e116361a0a49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7e0bf882533e4300" /><Relationship Type="http://schemas.openxmlformats.org/officeDocument/2006/relationships/image" Target="/ppt/media/image14.png" Id="Rb56deffd14f5491e" /><Relationship Type="http://schemas.openxmlformats.org/officeDocument/2006/relationships/image" Target="/ppt/media/image8.jpeg" Id="R53dc57bc73c04efe" /><Relationship Type="http://schemas.openxmlformats.org/officeDocument/2006/relationships/image" Target="/ppt/media/image15.png" Id="Rbe37bab4a2fe4c18" /><Relationship Type="http://schemas.openxmlformats.org/officeDocument/2006/relationships/notesSlide" Target="/ppt/notesSlides/notesSlide6.xml" Id="Ra5bfcfb54a7a43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0.xml" Id="R326384f2db374f0d" /><Relationship Type="http://schemas.openxmlformats.org/officeDocument/2006/relationships/image" Target="/ppt/media/image16.png" Id="R0fc20ad6239b4d47" /><Relationship Type="http://schemas.openxmlformats.org/officeDocument/2006/relationships/image" Target="/ppt/media/image17.png" Id="Rea6c2d2411af432a" /><Relationship Type="http://schemas.openxmlformats.org/officeDocument/2006/relationships/notesSlide" Target="/ppt/notesSlides/notesSlide7.xml" Id="R09ce4eabcf064a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0.xml" Id="Rd2c2c2cb57cb488b" /><Relationship Type="http://schemas.openxmlformats.org/officeDocument/2006/relationships/image" Target="/ppt/media/image18.png" Id="R33aca8e5d6f3466f" /><Relationship Type="http://schemas.openxmlformats.org/officeDocument/2006/relationships/image" Target="/ppt/media/image19.png" Id="Rdd8b1b4dffb647c9" /><Relationship Type="http://schemas.openxmlformats.org/officeDocument/2006/relationships/image" Target="/ppt/media/image20.png" Id="R0c9fbb2aa97148d0" /><Relationship Type="http://schemas.openxmlformats.org/officeDocument/2006/relationships/image" Target="/ppt/media/image21.png" Id="R715ac9bd572a46f4" /><Relationship Type="http://schemas.openxmlformats.org/officeDocument/2006/relationships/image" Target="/ppt/media/image22.png" Id="R1831f53228db4460" /><Relationship Type="http://schemas.openxmlformats.org/officeDocument/2006/relationships/notesSlide" Target="/ppt/notesSlides/notesSlide8.xml" Id="R9ffb8b11a9c748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0.xml" Id="R66a51b761e9c4ed8" /><Relationship Type="http://schemas.openxmlformats.org/officeDocument/2006/relationships/image" Target="/ppt/media/image23.png" Id="Rc388214f4a6044e4" /><Relationship Type="http://schemas.openxmlformats.org/officeDocument/2006/relationships/notesSlide" Target="/ppt/notesSlides/notesSlide9.xml" Id="R6c3af874b5534b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6563052ed7f24ce0" /><Relationship Type="http://schemas.openxmlformats.org/officeDocument/2006/relationships/image" Target="/ppt/media/image6.gif" Id="R0a8f8a684f6f4be9" /><Relationship Type="http://schemas.openxmlformats.org/officeDocument/2006/relationships/notesSlide" Target="/ppt/notesSlides/notesSlide10.xml" Id="R0bf5755e23b24e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0591e0f36b8e4008" /><Relationship Type="http://schemas.openxmlformats.org/officeDocument/2006/relationships/image" Target="/ppt/media/image24.png" Id="R78ac70f5d80f491f" /><Relationship Type="http://schemas.openxmlformats.org/officeDocument/2006/relationships/notesSlide" Target="/ppt/notesSlides/notesSlide11.xml" Id="Rce3f58b170a145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0cd49df234554355" /><Relationship Type="http://schemas.openxmlformats.org/officeDocument/2006/relationships/image" Target="/ppt/media/image25.png" Id="R284cb37938ec45fe" /><Relationship Type="http://schemas.openxmlformats.org/officeDocument/2006/relationships/notesSlide" Target="/ppt/notesSlides/notesSlide12.xml" Id="Rb4c7eb7cd31748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ce0e84c72bdf40bd" /><Relationship Type="http://schemas.openxmlformats.org/officeDocument/2006/relationships/image" Target="/ppt/media/image26.png" Id="R03c95d7c20d84137" /><Relationship Type="http://schemas.openxmlformats.org/officeDocument/2006/relationships/notesSlide" Target="/ppt/notesSlides/notesSlide13.xml" Id="R3979fe37937c4b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f13dc239b8a94ce8" /><Relationship Type="http://schemas.openxmlformats.org/officeDocument/2006/relationships/image" Target="/ppt/media/image19.png" Id="R11dfc520fd6b4fea" /><Relationship Type="http://schemas.openxmlformats.org/officeDocument/2006/relationships/image" Target="/ppt/media/image7.gif" Id="Rf8e490c074354b18" /><Relationship Type="http://schemas.openxmlformats.org/officeDocument/2006/relationships/notesSlide" Target="/ppt/notesSlides/notesSlide14.xml" Id="R41763b8a7ebb46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b90321c8fc0a4390" /><Relationship Type="http://schemas.openxmlformats.org/officeDocument/2006/relationships/image" Target="/ppt/media/image27.png" Id="R2ac59671af8d49c9" /><Relationship Type="http://schemas.openxmlformats.org/officeDocument/2006/relationships/notesSlide" Target="/ppt/notesSlides/notesSlide15.xml" Id="Rfabd0498624641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00ca399c8d9c4862" /><Relationship Type="http://schemas.openxmlformats.org/officeDocument/2006/relationships/notesSlide" Target="/ppt/notesSlides/notesSlide16.xml" Id="Rceb50c4da78d44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1d463bff066843c4" /><Relationship Type="http://schemas.openxmlformats.org/officeDocument/2006/relationships/notesSlide" Target="/ppt/notesSlides/notesSlide17.xml" Id="Ra3464d07648d48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59c384cee7f04496" /><Relationship Type="http://schemas.openxmlformats.org/officeDocument/2006/relationships/notesSlide" Target="/ppt/notesSlides/notesSlide18.xml" Id="Rc6e36104515744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b30bd8243c8346fe" /><Relationship Type="http://schemas.openxmlformats.org/officeDocument/2006/relationships/notesSlide" Target="/ppt/notesSlides/notesSlide19.xml" Id="R3b32010c93f946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491b7c9b03d34610" /><Relationship Type="http://schemas.openxmlformats.org/officeDocument/2006/relationships/image" Target="/ppt/media/image28.png" Id="R62ee791c6eaf41df" /><Relationship Type="http://schemas.openxmlformats.org/officeDocument/2006/relationships/notesSlide" Target="/ppt/notesSlides/notesSlide20.xml" Id="R6165061eadd64f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367dc63e19d04d63" /><Relationship Type="http://schemas.openxmlformats.org/officeDocument/2006/relationships/image" Target="/ppt/media/image28.png" Id="R0d6d4cc333ab4aa6" /><Relationship Type="http://schemas.openxmlformats.org/officeDocument/2006/relationships/notesSlide" Target="/ppt/notesSlides/notesSlide21.xml" Id="R650d5f0e376445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65d4e7dc74674a44" /><Relationship Type="http://schemas.openxmlformats.org/officeDocument/2006/relationships/image" Target="/ppt/media/image29.png" Id="R0b8ede29c1044fe3" /><Relationship Type="http://schemas.openxmlformats.org/officeDocument/2006/relationships/image" Target="/ppt/media/image30.png" Id="R51b59e8594204729" /><Relationship Type="http://schemas.openxmlformats.org/officeDocument/2006/relationships/image" Target="/ppt/media/image31.png" Id="Raa02e38b3c6d4b5c" /><Relationship Type="http://schemas.openxmlformats.org/officeDocument/2006/relationships/image" Target="/ppt/media/image32.png" Id="Rbee7ffa719a147b0" /><Relationship Type="http://schemas.openxmlformats.org/officeDocument/2006/relationships/notesSlide" Target="/ppt/notesSlides/notesSlide22.xml" Id="Rc470a27170954de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2.xml" Id="R6ab20f5224824e4f" /><Relationship Type="http://schemas.openxmlformats.org/officeDocument/2006/relationships/image" Target="/ppt/media/image33.png" Id="R3e2176760fba4273" /><Relationship Type="http://schemas.openxmlformats.org/officeDocument/2006/relationships/image" Target="/ppt/media/image34.png" Id="Rc983b88d60994893" /><Relationship Type="http://schemas.openxmlformats.org/officeDocument/2006/relationships/image" Target="/ppt/media/image35.png" Id="R8e52e2727ca14ad9" /><Relationship Type="http://schemas.openxmlformats.org/officeDocument/2006/relationships/image" Target="/ppt/media/image8.gif" Id="R58861f507783451f" /><Relationship Type="http://schemas.openxmlformats.org/officeDocument/2006/relationships/image" Target="/ppt/media/image36.png" Id="Re8c1a811cb14482f" /><Relationship Type="http://schemas.openxmlformats.org/officeDocument/2006/relationships/image" Target="/ppt/media/image37.png" Id="R420dc7232be84760" /><Relationship Type="http://schemas.openxmlformats.org/officeDocument/2006/relationships/notesSlide" Target="/ppt/notesSlides/notesSlide23.xml" Id="Reedd413b9643417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2.xml" Id="Rf07b032ca2804103" /><Relationship Type="http://schemas.openxmlformats.org/officeDocument/2006/relationships/image" Target="/ppt/media/image38.png" Id="R418f7b594a93453b" /><Relationship Type="http://schemas.openxmlformats.org/officeDocument/2006/relationships/notesSlide" Target="/ppt/notesSlides/notesSlide24.xml" Id="Rc000232483bf46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3b039f3df6974176" /><Relationship Type="http://schemas.openxmlformats.org/officeDocument/2006/relationships/image" Target="/ppt/media/image39.png" Id="Refc76c9b38d44a6b" /><Relationship Type="http://schemas.openxmlformats.org/officeDocument/2006/relationships/image" Target="/ppt/media/image40.png" Id="Rc5463dd68d894ead" /><Relationship Type="http://schemas.openxmlformats.org/officeDocument/2006/relationships/notesSlide" Target="/ppt/notesSlides/notesSlide25.xml" Id="R02087f156b294f6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2.xml" Id="R4d057e6d284b4c76" /><Relationship Type="http://schemas.openxmlformats.org/officeDocument/2006/relationships/image" Target="/ppt/media/image41.png" Id="R2b569fb9bd55477b" /><Relationship Type="http://schemas.openxmlformats.org/officeDocument/2006/relationships/notesSlide" Target="/ppt/notesSlides/notesSlide26.xml" Id="R1ec090f0bb7c406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2.xml" Id="R21ac62a636a54001" /><Relationship Type="http://schemas.openxmlformats.org/officeDocument/2006/relationships/image" Target="/ppt/media/image42.png" Id="Rcd2dd6a9983d4411" /><Relationship Type="http://schemas.openxmlformats.org/officeDocument/2006/relationships/notesSlide" Target="/ppt/notesSlides/notesSlide27.xml" Id="R3c9c3eaf0f2442b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d0c4b947ec08424e" /><Relationship Type="http://schemas.openxmlformats.org/officeDocument/2006/relationships/image" Target="/ppt/media/image43.png" Id="R59c64c4a0d9c4a93" /><Relationship Type="http://schemas.openxmlformats.org/officeDocument/2006/relationships/notesSlide" Target="/ppt/notesSlides/notesSlide28.xml" Id="R0ae7b4ffcf15487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2.xml" Id="R1fd5dbd9b6e64b4d" /><Relationship Type="http://schemas.openxmlformats.org/officeDocument/2006/relationships/image" Target="/ppt/media/image9.gif" Id="R40d0920617b945a1" /><Relationship Type="http://schemas.openxmlformats.org/officeDocument/2006/relationships/notesSlide" Target="/ppt/notesSlides/notesSlide29.xml" Id="R697e2ce9e65a43a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2.xml" Id="R1b6418e9d17748ac" /><Relationship Type="http://schemas.openxmlformats.org/officeDocument/2006/relationships/image" Target="/ppt/media/image10.gif" Id="R36266c65d44f4b09" /><Relationship Type="http://schemas.openxmlformats.org/officeDocument/2006/relationships/notesSlide" Target="/ppt/notesSlides/notesSlide30.xml" Id="Rc1cfff4d038d465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2.xml" Id="R7b6ddaa7de774ce2" /><Relationship Type="http://schemas.openxmlformats.org/officeDocument/2006/relationships/image" Target="/ppt/media/image44.png" Id="Rfc55a5f3c1d8482c" /><Relationship Type="http://schemas.openxmlformats.org/officeDocument/2006/relationships/notesSlide" Target="/ppt/notesSlides/notesSlide31.xml" Id="Rd2c7275ec2dd478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2.xml" Id="Rd0c75fe7736f4e54" /><Relationship Type="http://schemas.openxmlformats.org/officeDocument/2006/relationships/image" Target="/ppt/media/image44.png" Id="R007ef2daed3048fc" /><Relationship Type="http://schemas.openxmlformats.org/officeDocument/2006/relationships/notesSlide" Target="/ppt/notesSlides/notesSlide32.xml" Id="R0747583c7dcf428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2.xml" Id="Rf301b13286fe401a" /><Relationship Type="http://schemas.openxmlformats.org/officeDocument/2006/relationships/image" Target="/ppt/media/image45.png" Id="R2ce65b4788044d40" /><Relationship Type="http://schemas.openxmlformats.org/officeDocument/2006/relationships/notesSlide" Target="/ppt/notesSlides/notesSlide33.xml" Id="R575a33f20b8f490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2.xml" Id="Ra4650db17e5d442b" /><Relationship Type="http://schemas.openxmlformats.org/officeDocument/2006/relationships/image" Target="/ppt/media/image45.png" Id="R25ecac62ffa64f06" /><Relationship Type="http://schemas.openxmlformats.org/officeDocument/2006/relationships/notesSlide" Target="/ppt/notesSlides/notesSlide34.xml" Id="R246051a92bbe4e5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2.xml" Id="R913ca4db7773420c" /><Relationship Type="http://schemas.openxmlformats.org/officeDocument/2006/relationships/image" Target="/ppt/media/image46.png" Id="Re8789a645948474b" /><Relationship Type="http://schemas.openxmlformats.org/officeDocument/2006/relationships/notesSlide" Target="/ppt/notesSlides/notesSlide35.xml" Id="R5fbfb81336d7479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2.xml" Id="R7b51ea046afd408f" /><Relationship Type="http://schemas.openxmlformats.org/officeDocument/2006/relationships/image" Target="/ppt/media/image47.png" Id="R7ef54477b7864a26" /><Relationship Type="http://schemas.openxmlformats.org/officeDocument/2006/relationships/image" Target="/ppt/media/image48.png" Id="Rbbf593b01c184a18" /><Relationship Type="http://schemas.openxmlformats.org/officeDocument/2006/relationships/image" Target="/ppt/media/image49.png" Id="R40892d7c462448a8" /><Relationship Type="http://schemas.openxmlformats.org/officeDocument/2006/relationships/image" Target="/ppt/media/image50.png" Id="R7527463758a3477c" /><Relationship Type="http://schemas.openxmlformats.org/officeDocument/2006/relationships/image" Target="/ppt/media/image11.gif" Id="R1ba9786b47fa4ca0" /><Relationship Type="http://schemas.openxmlformats.org/officeDocument/2006/relationships/image" Target="/ppt/media/image12.gif" Id="R4bb543a3cf4947c9" /><Relationship Type="http://schemas.openxmlformats.org/officeDocument/2006/relationships/notesSlide" Target="/ppt/notesSlides/notesSlide36.xml" Id="Rbc957792b204436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2.xml" Id="Re267480e726743ca" /><Relationship Type="http://schemas.openxmlformats.org/officeDocument/2006/relationships/image" Target="/ppt/media/image51.png" Id="Rd11fff6903ec449a" /><Relationship Type="http://schemas.openxmlformats.org/officeDocument/2006/relationships/image" Target="/ppt/media/image52.png" Id="Rf5e2da6635a84e27" /><Relationship Type="http://schemas.openxmlformats.org/officeDocument/2006/relationships/image" Target="/ppt/media/image17.png" Id="R861626ebe8be456d" /><Relationship Type="http://schemas.openxmlformats.org/officeDocument/2006/relationships/image" Target="/ppt/media/image53.png" Id="Ree7cc15e53dd4169" /><Relationship Type="http://schemas.openxmlformats.org/officeDocument/2006/relationships/image" Target="/ppt/media/image54.png" Id="Rec72f8b8326743e0" /><Relationship Type="http://schemas.openxmlformats.org/officeDocument/2006/relationships/image" Target="/ppt/media/image55.png" Id="R60dfab411f76445d" /><Relationship Type="http://schemas.openxmlformats.org/officeDocument/2006/relationships/notesSlide" Target="/ppt/notesSlides/notesSlide37.xml" Id="Rb86ee32c35ec44a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2.xml" Id="R7b436104e7c648bf" /><Relationship Type="http://schemas.openxmlformats.org/officeDocument/2006/relationships/image" Target="/ppt/media/image52.png" Id="R38f2b848b3b345b6" /><Relationship Type="http://schemas.openxmlformats.org/officeDocument/2006/relationships/image" Target="/ppt/media/image53.png" Id="R3fa07ef55b8e4e05" /><Relationship Type="http://schemas.openxmlformats.org/officeDocument/2006/relationships/image" Target="/ppt/media/image56.png" Id="Rd5fe5d3de1a84280" /><Relationship Type="http://schemas.openxmlformats.org/officeDocument/2006/relationships/image" Target="/ppt/media/image57.png" Id="Rc3820eca40c3455f" /><Relationship Type="http://schemas.openxmlformats.org/officeDocument/2006/relationships/notesSlide" Target="/ppt/notesSlides/notesSlide38.xml" Id="R9447f912905e409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2.xml" Id="R7db0d7a555e84660" /><Relationship Type="http://schemas.openxmlformats.org/officeDocument/2006/relationships/image" Target="/ppt/media/image58.png" Id="R06cdaf9c1c7a438a" /><Relationship Type="http://schemas.openxmlformats.org/officeDocument/2006/relationships/image" Target="/ppt/media/image53.png" Id="R2c16a651bae74240" /><Relationship Type="http://schemas.openxmlformats.org/officeDocument/2006/relationships/image" Target="/ppt/media/image59.png" Id="R68e36c2106b1465b" /><Relationship Type="http://schemas.openxmlformats.org/officeDocument/2006/relationships/notesSlide" Target="/ppt/notesSlides/notesSlide39.xml" Id="Rf08624f6571149e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2.xml" Id="R57c2d164590b4f38" /><Relationship Type="http://schemas.openxmlformats.org/officeDocument/2006/relationships/image" Target="/ppt/media/image13.gif" Id="Rcbe8f57522dc4785" /><Relationship Type="http://schemas.openxmlformats.org/officeDocument/2006/relationships/notesSlide" Target="/ppt/notesSlides/notesSlide40.xml" Id="R8cf45466923843a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2.xml" Id="Rf6e8dd86a51647d1" /><Relationship Type="http://schemas.openxmlformats.org/officeDocument/2006/relationships/image" Target="/ppt/media/image60.png" Id="R76b7a536303149e9" /><Relationship Type="http://schemas.openxmlformats.org/officeDocument/2006/relationships/image" Target="/ppt/media/image61.png" Id="Re999fbe0ebdc4d4d" /><Relationship Type="http://schemas.openxmlformats.org/officeDocument/2006/relationships/image" Target="/ppt/media/image62.png" Id="Rcb91e4056a4348be" /><Relationship Type="http://schemas.openxmlformats.org/officeDocument/2006/relationships/image" Target="/ppt/media/image63.png" Id="Ra2de492634f449c6" /><Relationship Type="http://schemas.openxmlformats.org/officeDocument/2006/relationships/image" Target="/ppt/media/image64.png" Id="R9a32ac342b824b6f" /><Relationship Type="http://schemas.openxmlformats.org/officeDocument/2006/relationships/image" Target="/ppt/media/image65.png" Id="R48838920d78a48eb" /><Relationship Type="http://schemas.openxmlformats.org/officeDocument/2006/relationships/notesSlide" Target="/ppt/notesSlides/notesSlide41.xml" Id="R51be82a7a435450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2.xml" Id="R480b320852be484f" /><Relationship Type="http://schemas.openxmlformats.org/officeDocument/2006/relationships/image" Target="/ppt/media/image66.png" Id="R988d0ad22ffe4388" /><Relationship Type="http://schemas.openxmlformats.org/officeDocument/2006/relationships/image" Target="/ppt/media/image67.png" Id="Ra20fc7e0d7aa44dd" /><Relationship Type="http://schemas.openxmlformats.org/officeDocument/2006/relationships/image" Target="/ppt/media/image68.png" Id="R4f1a869c980b4c5e" /><Relationship Type="http://schemas.openxmlformats.org/officeDocument/2006/relationships/notesSlide" Target="/ppt/notesSlides/notesSlide42.xml" Id="R059216fbec7a4b2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2.xml" Id="Ra3c8b52b1a754b6b" /><Relationship Type="http://schemas.openxmlformats.org/officeDocument/2006/relationships/image" Target="/ppt/media/image69.png" Id="R9887df6bfcc4438c" /><Relationship Type="http://schemas.openxmlformats.org/officeDocument/2006/relationships/notesSlide" Target="/ppt/notesSlides/notesSlide43.xml" Id="R31139fbcf19741b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2.xml" Id="R0354a8ad89c743c7" /><Relationship Type="http://schemas.openxmlformats.org/officeDocument/2006/relationships/image" Target="/ppt/media/image52.png" Id="R0aca5e3b1fbe4439" /><Relationship Type="http://schemas.openxmlformats.org/officeDocument/2006/relationships/notesSlide" Target="/ppt/notesSlides/notesSlide44.xml" Id="R1a7cda180bcf496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3.xml" Id="R1d9c857d7f7147f7" /><Relationship Type="http://schemas.openxmlformats.org/officeDocument/2006/relationships/image" Target="/ppt/media/image14.gif" Id="R132aeed22b6445f8" /><Relationship Type="http://schemas.openxmlformats.org/officeDocument/2006/relationships/notesSlide" Target="/ppt/notesSlides/notesSlide45.xml" Id="R05d91d496087456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3.xml" Id="Rac3bd4d653524b5a" /><Relationship Type="http://schemas.openxmlformats.org/officeDocument/2006/relationships/notesSlide" Target="/ppt/notesSlides/notesSlide46.xml" Id="Re1734b77c3cf4c1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3.xml" Id="R09af2a3b04274a29" /><Relationship Type="http://schemas.openxmlformats.org/officeDocument/2006/relationships/notesSlide" Target="/ppt/notesSlides/notesSlide47.xml" Id="R67c991755f92439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3.xml" Id="Rf7bfa76a031644c9" /><Relationship Type="http://schemas.openxmlformats.org/officeDocument/2006/relationships/notesSlide" Target="/ppt/notesSlides/notesSlide48.xml" Id="R0431b5a9e0334b9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3.xml" Id="R48cbf38dff5646b8" /><Relationship Type="http://schemas.openxmlformats.org/officeDocument/2006/relationships/image" Target="/ppt/media/image70.png" Id="R6598f7b8198049f4" /><Relationship Type="http://schemas.openxmlformats.org/officeDocument/2006/relationships/notesSlide" Target="/ppt/notesSlides/notesSlide49.xml" Id="R3a245c0653f846e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3.xml" Id="Raa3d10ea16ae4db5" /><Relationship Type="http://schemas.openxmlformats.org/officeDocument/2006/relationships/image" Target="/ppt/media/image.emf" Id="Rc4d31b9c44d04b8d" /><Relationship Type="http://schemas.openxmlformats.org/officeDocument/2006/relationships/notesSlide" Target="/ppt/notesSlides/notesSlide50.xml" Id="Ra36291fd3cb54aa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3.xml" Id="Re659c05792e640b6" /><Relationship Type="http://schemas.openxmlformats.org/officeDocument/2006/relationships/image" Target="/ppt/media/image2.emf" Id="Re448396b2535466a" /><Relationship Type="http://schemas.openxmlformats.org/officeDocument/2006/relationships/notesSlide" Target="/ppt/notesSlides/notesSlide51.xml" Id="Rada53a078219429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3.xml" Id="R4769344de27b4a10" /><Relationship Type="http://schemas.openxmlformats.org/officeDocument/2006/relationships/image" Target="/ppt/media/image71.png" Id="R3cfcb3c0eaa144da" /><Relationship Type="http://schemas.openxmlformats.org/officeDocument/2006/relationships/notesSlide" Target="/ppt/notesSlides/notesSlide52.xml" Id="Rdff6503b18df415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3.xml" Id="R1ebf43bf719e43c4" /><Relationship Type="http://schemas.openxmlformats.org/officeDocument/2006/relationships/notesSlide" Target="/ppt/notesSlides/notesSlide53.xml" Id="Recb06dbb545c4f4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3.xml" Id="R4c2ec722673148c9" /><Relationship Type="http://schemas.openxmlformats.org/officeDocument/2006/relationships/notesSlide" Target="/ppt/notesSlides/notesSlide54.xml" Id="R136ca2d78b564e3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3.xml" Id="Re70a51d9cdd24db2" /><Relationship Type="http://schemas.openxmlformats.org/officeDocument/2006/relationships/notesSlide" Target="/ppt/notesSlides/notesSlide55.xml" Id="R8e7f8c9f0e2b46b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3.xml" Id="R9a7562c9b3684653" /><Relationship Type="http://schemas.openxmlformats.org/officeDocument/2006/relationships/image" Target="/ppt/media/image72.png" Id="Rf18680af8bf24cc2" /><Relationship Type="http://schemas.openxmlformats.org/officeDocument/2006/relationships/notesSlide" Target="/ppt/notesSlides/notesSlide56.xml" Id="R0381251b2f124f4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3.xml" Id="R2dcebcb3c61e49f6" /><Relationship Type="http://schemas.openxmlformats.org/officeDocument/2006/relationships/image" Target="/ppt/media/image73.png" Id="Rd65ed2d8cbfb4bac" /><Relationship Type="http://schemas.openxmlformats.org/officeDocument/2006/relationships/notesSlide" Target="/ppt/notesSlides/notesSlide57.xml" Id="Raef16fa10beb483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3.xml" Id="R9bf25e9bf46d41b3" /><Relationship Type="http://schemas.openxmlformats.org/officeDocument/2006/relationships/image" Target="/ppt/media/image74.png" Id="R7246d6e30fd64d81" /><Relationship Type="http://schemas.openxmlformats.org/officeDocument/2006/relationships/notesSlide" Target="/ppt/notesSlides/notesSlide58.xml" Id="Rdc2035a9a48d493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3.xml" Id="R272f87499742450e" /><Relationship Type="http://schemas.openxmlformats.org/officeDocument/2006/relationships/image" Target="/ppt/media/image74.png" Id="R5b49170c18d141ca" /><Relationship Type="http://schemas.openxmlformats.org/officeDocument/2006/relationships/notesSlide" Target="/ppt/notesSlides/notesSlide59.xml" Id="Rd1027862acd6463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8.xml" Id="R1debf092d68646d8" /><Relationship Type="http://schemas.openxmlformats.org/officeDocument/2006/relationships/notesSlide" Target="/ppt/notesSlides/notesSlide60.xml" Id="Rce5bc786c15c4cc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9.xml" Id="R3fc0f0036c9843e1" /><Relationship Type="http://schemas.openxmlformats.org/officeDocument/2006/relationships/notesSlide" Target="/ppt/notesSlides/notesSlide61.xml" Id="R4cff36b3f836427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3.xml" Id="Ra32feb18efd54292" /><Relationship Type="http://schemas.openxmlformats.org/officeDocument/2006/relationships/image" Target="/ppt/media/image11.png" Id="R3b94b40b1c644369" /><Relationship Type="http://schemas.openxmlformats.org/officeDocument/2006/relationships/notesSlide" Target="/ppt/notesSlides/notesSlide62.xml" Id="Rc031d8fc61534de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4.xml" Id="R0907b1e9c9a344b2" /><Relationship Type="http://schemas.openxmlformats.org/officeDocument/2006/relationships/notesSlide" Target="/ppt/notesSlides/notesSlide63.xml" Id="R19a2d4f30f01424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4.xml" Id="R01fab378a3df41c8" /><Relationship Type="http://schemas.openxmlformats.org/officeDocument/2006/relationships/notesSlide" Target="/ppt/notesSlides/notesSlide64.xml" Id="R53037bb2880a42b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4.xml" Id="R3b4c412d87594473" /><Relationship Type="http://schemas.openxmlformats.org/officeDocument/2006/relationships/notesSlide" Target="/ppt/notesSlides/notesSlide65.xml" Id="R4e790a525e35482e"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4.xml" Id="R95b25b35ea7341be" /><Relationship Type="http://schemas.openxmlformats.org/officeDocument/2006/relationships/notesSlide" Target="/ppt/notesSlides/notesSlide66.xml" Id="R180153a60202480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4.xml" Id="R7a072d90703d4935" /><Relationship Type="http://schemas.openxmlformats.org/officeDocument/2006/relationships/image" Target="/ppt/media/image75.png" Id="R7d65288f719147ac" /><Relationship Type="http://schemas.openxmlformats.org/officeDocument/2006/relationships/notesSlide" Target="/ppt/notesSlides/notesSlide67.xml" Id="R354b040ceaff4d5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4.xml" Id="R35a45de9197b4cff" /><Relationship Type="http://schemas.openxmlformats.org/officeDocument/2006/relationships/image" Target="/ppt/media/image76.png" Id="R9263d518259147f8" /><Relationship Type="http://schemas.openxmlformats.org/officeDocument/2006/relationships/notesSlide" Target="/ppt/notesSlides/notesSlide68.xml" Id="R95885e92ea5a4c7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4.xml" Id="R77dfecc41db244a1" /><Relationship Type="http://schemas.openxmlformats.org/officeDocument/2006/relationships/notesSlide" Target="/ppt/notesSlides/notesSlide69.xml" Id="Rb7014a1ce5aa4bfc"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4.xml" Id="R83379a08e6f942be" /><Relationship Type="http://schemas.openxmlformats.org/officeDocument/2006/relationships/image" Target="/ppt/media/image77.png" Id="R600c181fafda4add" /><Relationship Type="http://schemas.openxmlformats.org/officeDocument/2006/relationships/notesSlide" Target="/ppt/notesSlides/notesSlide70.xml" Id="R00c1318fee354b0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4.xml" Id="Re15ba5494bf74884" /><Relationship Type="http://schemas.openxmlformats.org/officeDocument/2006/relationships/notesSlide" Target="/ppt/notesSlides/notesSlide71.xml" Id="R5440d447c1344fa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4.xml" Id="R7f55503a3e864753" /><Relationship Type="http://schemas.openxmlformats.org/officeDocument/2006/relationships/image" Target="/ppt/media/image78.png" Id="Ra7bb8aa792154fb2" /><Relationship Type="http://schemas.openxmlformats.org/officeDocument/2006/relationships/image" Target="/ppt/media/image79.png" Id="Rf9e8d3df710445a6" /><Relationship Type="http://schemas.openxmlformats.org/officeDocument/2006/relationships/notesSlide" Target="/ppt/notesSlides/notesSlide72.xml" Id="Rae498972a9f648a3"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4.xml" Id="Rebd1117d2438421e" /><Relationship Type="http://schemas.openxmlformats.org/officeDocument/2006/relationships/image" Target="/ppt/media/image9.jpeg" Id="R802035d921a64d96" /><Relationship Type="http://schemas.openxmlformats.org/officeDocument/2006/relationships/image" Target="/ppt/media/image10.jpeg" Id="Re614743ffd6a4952" /><Relationship Type="http://schemas.openxmlformats.org/officeDocument/2006/relationships/image" Target="/ppt/media/image80.png" Id="Rb673e96d497d4ad4" /><Relationship Type="http://schemas.openxmlformats.org/officeDocument/2006/relationships/image" Target="/ppt/media/image11.jpeg" Id="R60a90c911e144db8" /><Relationship Type="http://schemas.openxmlformats.org/officeDocument/2006/relationships/image" Target="/ppt/media/image12.jpeg" Id="R4110b71784dc4bcc" /><Relationship Type="http://schemas.openxmlformats.org/officeDocument/2006/relationships/notesSlide" Target="/ppt/notesSlides/notesSlide73.xml" Id="Re7f8b875fac64065"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4.xml" Id="Rbe33dd31723a46b2" /><Relationship Type="http://schemas.openxmlformats.org/officeDocument/2006/relationships/image" Target="/ppt/media/image13.jpeg" Id="R1e76082a5f134e05" /><Relationship Type="http://schemas.openxmlformats.org/officeDocument/2006/relationships/image" Target="/ppt/media/image81.png" Id="R3d69368f4b72427c" /><Relationship Type="http://schemas.openxmlformats.org/officeDocument/2006/relationships/image" Target="/ppt/media/image14.jpeg" Id="R8b2ef2b228b441fd" /><Relationship Type="http://schemas.openxmlformats.org/officeDocument/2006/relationships/image" Target="/ppt/media/image15.jpeg" Id="R93e4d4b7728e4f2a" /><Relationship Type="http://schemas.openxmlformats.org/officeDocument/2006/relationships/notesSlide" Target="/ppt/notesSlides/notesSlide74.xml" Id="Rfb6e425d86484b3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4.xml" Id="R82aaa90eb7d54a57" /><Relationship Type="http://schemas.openxmlformats.org/officeDocument/2006/relationships/image" Target="/ppt/media/image16.jpeg" Id="R4c7d7502165b44c6" /><Relationship Type="http://schemas.openxmlformats.org/officeDocument/2006/relationships/image" Target="/ppt/media/image82.png" Id="R8ee02f87e7f1485a" /><Relationship Type="http://schemas.openxmlformats.org/officeDocument/2006/relationships/image" Target="/ppt/media/image83.png" Id="Rab3d47d52dff4e3d" /><Relationship Type="http://schemas.openxmlformats.org/officeDocument/2006/relationships/image" Target="/ppt/media/image17.jpeg" Id="Rf80618e0135a4155" /><Relationship Type="http://schemas.openxmlformats.org/officeDocument/2006/relationships/image" Target="/ppt/media/image84.png" Id="R9ea2d2d3105f41c7" /><Relationship Type="http://schemas.openxmlformats.org/officeDocument/2006/relationships/image" Target="/ppt/media/image3.emf" Id="Rd78b5ba9114240a4" /><Relationship Type="http://schemas.openxmlformats.org/officeDocument/2006/relationships/notesSlide" Target="/ppt/notesSlides/notesSlide75.xml" Id="R3ca8f5b868624ccb"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4.xml" Id="R8bdbe9e70f5e45e2" /><Relationship Type="http://schemas.openxmlformats.org/officeDocument/2006/relationships/image" Target="/ppt/media/image85.png" Id="R1a574bc917804f0e" /><Relationship Type="http://schemas.openxmlformats.org/officeDocument/2006/relationships/image" Target="/ppt/media/image86.png" Id="R7bf4925fc4f340c7" /><Relationship Type="http://schemas.openxmlformats.org/officeDocument/2006/relationships/image" Target="/ppt/media/image87.png" Id="Rbcde4957a6f7401d" /><Relationship Type="http://schemas.openxmlformats.org/officeDocument/2006/relationships/image" Target="/ppt/media/image88.png" Id="R01757802644344d0" /><Relationship Type="http://schemas.openxmlformats.org/officeDocument/2006/relationships/image" Target="/ppt/media/image89.png" Id="R5794e2aee55a417f" /><Relationship Type="http://schemas.openxmlformats.org/officeDocument/2006/relationships/image" Target="/ppt/media/image90.png" Id="R2e0bab2c50d14843" /><Relationship Type="http://schemas.openxmlformats.org/officeDocument/2006/relationships/image" Target="/ppt/media/image91.png" Id="Re89535da28c949d8" /><Relationship Type="http://schemas.openxmlformats.org/officeDocument/2006/relationships/image" Target="/ppt/media/image92.png" Id="R0870771c734a4677" /><Relationship Type="http://schemas.openxmlformats.org/officeDocument/2006/relationships/image" Target="/ppt/media/image93.png" Id="Re5237d2d50bd47aa" /><Relationship Type="http://schemas.openxmlformats.org/officeDocument/2006/relationships/notesSlide" Target="/ppt/notesSlides/notesSlide76.xml" Id="R78be49f69fd547f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4.xml" Id="R561ae74510bc431a" /><Relationship Type="http://schemas.openxmlformats.org/officeDocument/2006/relationships/notesSlide" Target="/ppt/notesSlides/notesSlide77.xml" Id="Rdcbf9293c4b14cb4"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4.xml" Id="R826d0faddfec417a" /><Relationship Type="http://schemas.openxmlformats.org/officeDocument/2006/relationships/image" Target="/ppt/media/image94.png" Id="R12be3638393b47be" /><Relationship Type="http://schemas.openxmlformats.org/officeDocument/2006/relationships/image" Target="/ppt/media/image95.png" Id="Re847ec4479644964" /><Relationship Type="http://schemas.openxmlformats.org/officeDocument/2006/relationships/image" Target="/ppt/media/image96.png" Id="Rdbd7c7fce6a2428c" /><Relationship Type="http://schemas.openxmlformats.org/officeDocument/2006/relationships/image" Target="/ppt/media/image18.jpeg" Id="Rd535b3cab5e1453d" /><Relationship Type="http://schemas.openxmlformats.org/officeDocument/2006/relationships/notesSlide" Target="/ppt/notesSlides/notesSlide78.xml" Id="R4ddb228b5d1c45a0"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4.xml" Id="Re5fbf3c49413490b" /><Relationship Type="http://schemas.openxmlformats.org/officeDocument/2006/relationships/image" Target="/ppt/media/image19.jpeg" Id="Re067a06797484be2" /><Relationship Type="http://schemas.openxmlformats.org/officeDocument/2006/relationships/image" Target="/ppt/media/image20.jpeg" Id="Rbcfb4521b92a4b18" /><Relationship Type="http://schemas.openxmlformats.org/officeDocument/2006/relationships/image" Target="/ppt/media/image97.png" Id="R44ec3cc6bd0e4dd6" /><Relationship Type="http://schemas.openxmlformats.org/officeDocument/2006/relationships/image" Target="/ppt/media/image98.png" Id="R80937e4ada2c4291" /><Relationship Type="http://schemas.openxmlformats.org/officeDocument/2006/relationships/image" Target="/ppt/media/image4.emf" Id="R170b8f64ada04417" /><Relationship Type="http://schemas.openxmlformats.org/officeDocument/2006/relationships/notesSlide" Target="/ppt/notesSlides/notesSlide79.xml" Id="R366a7e6c0e2b4cf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4.xml" Id="Rf615f21665824c14" /><Relationship Type="http://schemas.openxmlformats.org/officeDocument/2006/relationships/image" Target="/ppt/media/image99.png" Id="R807b86ccb0d644cb" /><Relationship Type="http://schemas.openxmlformats.org/officeDocument/2006/relationships/image" Target="/ppt/media/image100.png" Id="R4779adb762814bf6" /><Relationship Type="http://schemas.openxmlformats.org/officeDocument/2006/relationships/image" Target="/ppt/media/image101.png" Id="R8f5c8bc7a9394c7a" /><Relationship Type="http://schemas.openxmlformats.org/officeDocument/2006/relationships/image" Target="/ppt/media/image102.png" Id="Refbf8646f25140d5" /><Relationship Type="http://schemas.openxmlformats.org/officeDocument/2006/relationships/notesSlide" Target="/ppt/notesSlides/notesSlide80.xml" Id="R3832de6306ca43e4"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4.xml" Id="Reaa720d333804361" /><Relationship Type="http://schemas.openxmlformats.org/officeDocument/2006/relationships/image" Target="/ppt/media/image103.png" Id="R9166a3eb57dd4965" /><Relationship Type="http://schemas.openxmlformats.org/officeDocument/2006/relationships/image" Target="/ppt/media/image5.emf" Id="R7fe531eed6f44a5b" /><Relationship Type="http://schemas.openxmlformats.org/officeDocument/2006/relationships/notesSlide" Target="/ppt/notesSlides/notesSlide81.xml" Id="R16462d7c546244c9" /></Relationships>
</file>

<file path=ppt/slides/_rels/slide82.xml.rels>&#65279;<?xml version="1.0" encoding="utf-8"?><Relationships xmlns="http://schemas.openxmlformats.org/package/2006/relationships"><Relationship Type="http://schemas.openxmlformats.org/officeDocument/2006/relationships/slideLayout" Target="/ppt/slideLayouts/slideLayout9.xml" Id="R745f377ce8e14587" /><Relationship Type="http://schemas.openxmlformats.org/officeDocument/2006/relationships/notesSlide" Target="/ppt/notesSlides/notesSlide82.xml" Id="R75c62994db1b44c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3.xml" Id="R2679add4db4e4e4a" /><Relationship Type="http://schemas.openxmlformats.org/officeDocument/2006/relationships/image" Target="/ppt/media/image11.png" Id="Rf597d88c412c4ef1" /><Relationship Type="http://schemas.openxmlformats.org/officeDocument/2006/relationships/notesSlide" Target="/ppt/notesSlides/notesSlide83.xml" Id="R0c4171dac9f24f35"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5.xml" Id="Rdb247299af7146a6" /><Relationship Type="http://schemas.openxmlformats.org/officeDocument/2006/relationships/notesSlide" Target="/ppt/notesSlides/notesSlide84.xml" Id="Ra9d597abb7c2438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4.xml" Id="Rd1f6c4f46353440d" /><Relationship Type="http://schemas.openxmlformats.org/officeDocument/2006/relationships/notesSlide" Target="/ppt/notesSlides/notesSlide85.xml" Id="Re8e59bdec1294b9a"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6.xml" Id="Rfe4b1564336b49a8" /><Relationship Type="http://schemas.openxmlformats.org/officeDocument/2006/relationships/notesSlide" Target="/ppt/notesSlides/notesSlide86.xml" Id="Rcf16629fef2b4714"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6.xml" Id="R1f89c40a6f904261" /><Relationship Type="http://schemas.openxmlformats.org/officeDocument/2006/relationships/notesSlide" Target="/ppt/notesSlides/notesSlide87.xml" Id="Rbcef8f3d29444fe4"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6.xml" Id="Rd4347ef7d8ee49c6" /><Relationship Type="http://schemas.openxmlformats.org/officeDocument/2006/relationships/notesSlide" Target="/ppt/notesSlides/notesSlide88.xml" Id="R1cc6c9718e7749ff"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6.xml" Id="R8f1e365312f3408e" /><Relationship Type="http://schemas.openxmlformats.org/officeDocument/2006/relationships/image" Target="/ppt/media/image104.png" Id="R0332978b76a3430a" /><Relationship Type="http://schemas.openxmlformats.org/officeDocument/2006/relationships/notesSlide" Target="/ppt/notesSlides/notesSlide89.xml" Id="Rf99658142d574de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6.xml" Id="R13851eaecbac4848" /><Relationship Type="http://schemas.openxmlformats.org/officeDocument/2006/relationships/image" Target="/ppt/media/image105.png" Id="Rd3e06fdf31874c35" /><Relationship Type="http://schemas.openxmlformats.org/officeDocument/2006/relationships/notesSlide" Target="/ppt/notesSlides/notesSlide90.xml" Id="R8338ff353bad4437"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6.xml" Id="R987b34e8942e49e6" /><Relationship Type="http://schemas.openxmlformats.org/officeDocument/2006/relationships/image" Target="/ppt/media/image105.png" Id="Re6124fcecfb14a6b" /><Relationship Type="http://schemas.openxmlformats.org/officeDocument/2006/relationships/notesSlide" Target="/ppt/notesSlides/notesSlide91.xml" Id="R61573e1d60e84a82"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6.xml" Id="Rbc70b54ff09c4515" /><Relationship Type="http://schemas.openxmlformats.org/officeDocument/2006/relationships/notesSlide" Target="/ppt/notesSlides/notesSlide92.xml" Id="Racae1e526f624c07"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6.xml" Id="Ra0f406292f1b46c6" /><Relationship Type="http://schemas.openxmlformats.org/officeDocument/2006/relationships/image" Target="/ppt/media/image106.png" Id="R00cdbe83a192493b" /><Relationship Type="http://schemas.openxmlformats.org/officeDocument/2006/relationships/notesSlide" Target="/ppt/notesSlides/notesSlide93.xml" Id="R23bad949243e412e"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6.xml" Id="R84501b285e2f4929" /><Relationship Type="http://schemas.openxmlformats.org/officeDocument/2006/relationships/image" Target="/ppt/media/image107.png" Id="R612110671295499e" /><Relationship Type="http://schemas.openxmlformats.org/officeDocument/2006/relationships/notesSlide" Target="/ppt/notesSlides/notesSlide94.xml" Id="Rcf196860b6ce41e7"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6.xml" Id="R6ff69a490aa941df" /><Relationship Type="http://schemas.openxmlformats.org/officeDocument/2006/relationships/notesSlide" Target="/ppt/notesSlides/notesSlide95.xml" Id="Rdb292cb2ae6648b2" /></Relationships>
</file>

<file path=ppt/slides/_rels/slide96.xml.rels>&#65279;<?xml version="1.0" encoding="utf-8"?><Relationships xmlns="http://schemas.openxmlformats.org/package/2006/relationships"><Relationship Type="http://schemas.openxmlformats.org/officeDocument/2006/relationships/slideLayout" Target="/ppt/slideLayouts/slideLayout4.xml" Id="R54b225a8e0ce4d38" /><Relationship Type="http://schemas.openxmlformats.org/officeDocument/2006/relationships/notesSlide" Target="/ppt/notesSlides/notesSlide96.xml" Id="Ra9a20b4c57e9423e"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7.xml" Id="R82242539d8504a5f" /><Relationship Type="http://schemas.openxmlformats.org/officeDocument/2006/relationships/notesSlide" Target="/ppt/notesSlides/notesSlide97.xml" Id="Re56d0d877fca485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7.xml" Id="Rbdcde1620f624c67" /><Relationship Type="http://schemas.openxmlformats.org/officeDocument/2006/relationships/notesSlide" Target="/ppt/notesSlides/notesSlide98.xml" Id="R69b1fad4f19142f3"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7.xml" Id="R6eb255ef8ead4d75" /><Relationship Type="http://schemas.openxmlformats.org/officeDocument/2006/relationships/notesSlide" Target="/ppt/notesSlides/notesSlide99.xml" Id="R8fc85cc5ea874a8a"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7.xml" Id="R3e34e877a6cd4b14" /><Relationship Type="http://schemas.openxmlformats.org/officeDocument/2006/relationships/image" Target="/ppt/media/image108.png" Id="Rd3e8e37b7b2542c7" /><Relationship Type="http://schemas.openxmlformats.org/officeDocument/2006/relationships/notesSlide" Target="/ppt/notesSlides/notesSlide100.xml" Id="R59956a069b254a83"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7.xml" Id="R8c9afa09c2984395" /><Relationship Type="http://schemas.openxmlformats.org/officeDocument/2006/relationships/notesSlide" Target="/ppt/notesSlides/notesSlide101.xml" Id="Rcd7e2689c79b4205"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7.xml" Id="R0b7b213fe75a4c52" /><Relationship Type="http://schemas.openxmlformats.org/officeDocument/2006/relationships/image" Target="/ppt/media/image109.png" Id="Re24b3aef00a84195" /><Relationship Type="http://schemas.openxmlformats.org/officeDocument/2006/relationships/notesSlide" Target="/ppt/notesSlides/notesSlide102.xml" Id="R29bc7091e1164d13"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7.xml" Id="R09a72d51cb784936" /><Relationship Type="http://schemas.openxmlformats.org/officeDocument/2006/relationships/notesSlide" Target="/ppt/notesSlides/notesSlide103.xml" Id="Rc74bbe77a00744b1"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7.xml" Id="Rc71f008a7fb34f9b" /><Relationship Type="http://schemas.openxmlformats.org/officeDocument/2006/relationships/notesSlide" Target="/ppt/notesSlides/notesSlide104.xml" Id="R0c5db5a35de04a97"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7.xml" Id="Rbd0bfe7321e04ea3" /><Relationship Type="http://schemas.openxmlformats.org/officeDocument/2006/relationships/image" Target="/ppt/media/image110.png" Id="R75167ea2487d482e" /><Relationship Type="http://schemas.openxmlformats.org/officeDocument/2006/relationships/notesSlide" Target="/ppt/notesSlides/notesSlide105.xml" Id="R8a484bfcf3bd48d1"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7.xml" Id="Rf058d8f637a84116" /><Relationship Type="http://schemas.openxmlformats.org/officeDocument/2006/relationships/image" Target="/ppt/media/image110.png" Id="R3c76ec5b450e431d" /><Relationship Type="http://schemas.openxmlformats.org/officeDocument/2006/relationships/notesSlide" Target="/ppt/notesSlides/notesSlide106.xml" Id="R210d3c79ee444a0e"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7.xml" Id="R718824c3a19d4ad8" /><Relationship Type="http://schemas.openxmlformats.org/officeDocument/2006/relationships/notesSlide" Target="/ppt/notesSlides/notesSlide107.xml" Id="Rf48ff3abfa8d408e"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7.xml" Id="Rc28567817e8f490d" /><Relationship Type="http://schemas.openxmlformats.org/officeDocument/2006/relationships/notesSlide" Target="/ppt/notesSlides/notesSlide108.xml" Id="R2a80464f03e44bf9"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4.xml" Id="R87f69b5c22ae4d0b" /><Relationship Type="http://schemas.openxmlformats.org/officeDocument/2006/relationships/notesSlide" Target="/ppt/notesSlides/notesSlide109.xml" Id="R8a421cc1679947b1"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8.xml" Id="R79aaef13a6b24d8a" /><Relationship Type="http://schemas.openxmlformats.org/officeDocument/2006/relationships/notesSlide" Target="/ppt/notesSlides/notesSlide110.xml" Id="Rb9144b38f3094d7b"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8.xml" Id="R4021e50751444c2e" /><Relationship Type="http://schemas.openxmlformats.org/officeDocument/2006/relationships/image" Target="/ppt/media/image111.png" Id="Rf79bf6e245064bf7" /><Relationship Type="http://schemas.openxmlformats.org/officeDocument/2006/relationships/notesSlide" Target="/ppt/notesSlides/notesSlide111.xml" Id="R469f80feda2a4c51"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8.xml" Id="R2cf21759bd464829" /><Relationship Type="http://schemas.openxmlformats.org/officeDocument/2006/relationships/image" Target="/ppt/media/image112.png" Id="R227a560498ba42ee" /><Relationship Type="http://schemas.openxmlformats.org/officeDocument/2006/relationships/image" Target="/ppt/media/image111.png" Id="R2fa7240628f34992" /><Relationship Type="http://schemas.openxmlformats.org/officeDocument/2006/relationships/notesSlide" Target="/ppt/notesSlides/notesSlide112.xml" Id="Rd4aa2e8225bc4bd5"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8.xml" Id="R27a1d2a659934536" /><Relationship Type="http://schemas.openxmlformats.org/officeDocument/2006/relationships/image" Target="/ppt/media/image112.png" Id="R5fb96021e2f943b2" /><Relationship Type="http://schemas.openxmlformats.org/officeDocument/2006/relationships/image" Target="/ppt/media/image111.png" Id="Rc502f0f0f0244885" /><Relationship Type="http://schemas.openxmlformats.org/officeDocument/2006/relationships/notesSlide" Target="/ppt/notesSlides/notesSlide113.xml" Id="R7050d09405ba47dd"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8.xml" Id="R5d1e56adf19d4939" /><Relationship Type="http://schemas.openxmlformats.org/officeDocument/2006/relationships/notesSlide" Target="/ppt/notesSlides/notesSlide114.xml" Id="R37d7b405179d41fe"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8.xml" Id="Rfa63458ce3cf4b5e" /><Relationship Type="http://schemas.openxmlformats.org/officeDocument/2006/relationships/notesSlide" Target="/ppt/notesSlides/notesSlide115.xml" Id="Re34811237b754014"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8.xml" Id="R550a6db74a524dcd" /><Relationship Type="http://schemas.openxmlformats.org/officeDocument/2006/relationships/notesSlide" Target="/ppt/notesSlides/notesSlide116.xml" Id="R6ca4160df9bc48f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8.xml" Id="Rebb0ff5d2bac40ec" /><Relationship Type="http://schemas.openxmlformats.org/officeDocument/2006/relationships/image" Target="/ppt/media/image21.jpeg" Id="R99403bcc49744a55" /><Relationship Type="http://schemas.openxmlformats.org/officeDocument/2006/relationships/notesSlide" Target="/ppt/notesSlides/notesSlide117.xml" Id="R34b843bfa1d24d64"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8.xml" Id="Reb248c81339d4840" /><Relationship Type="http://schemas.openxmlformats.org/officeDocument/2006/relationships/image" Target="/ppt/media/image22.jpeg" Id="Rf24e95aed1374426" /><Relationship Type="http://schemas.openxmlformats.org/officeDocument/2006/relationships/notesSlide" Target="/ppt/notesSlides/notesSlide118.xml" Id="R94634d1ab2ab41d9"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8.xml" Id="R94f09e6a631a444c" /><Relationship Type="http://schemas.openxmlformats.org/officeDocument/2006/relationships/image" Target="/ppt/media/image23.jpeg" Id="R3efd4e12dd924c07" /><Relationship Type="http://schemas.openxmlformats.org/officeDocument/2006/relationships/notesSlide" Target="/ppt/notesSlides/notesSlide119.xml" Id="R5e0233eb39d3424a"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8.xml" Id="R4af58daa9ade42c2" /><Relationship Type="http://schemas.openxmlformats.org/officeDocument/2006/relationships/image" Target="/ppt/media/image113.png" Id="Rdd66bb8e40fa47fe" /><Relationship Type="http://schemas.openxmlformats.org/officeDocument/2006/relationships/notesSlide" Target="/ppt/notesSlides/notesSlide120.xml" Id="R2ab1ea18a3e04d03"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8.xml" Id="R3d307417753d405d" /><Relationship Type="http://schemas.openxmlformats.org/officeDocument/2006/relationships/notesSlide" Target="/ppt/notesSlides/notesSlide121.xml" Id="Rdec884f09325402c"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8.xml" Id="R35f58f07d06644df" /><Relationship Type="http://schemas.openxmlformats.org/officeDocument/2006/relationships/image" Target="/ppt/media/image113.png" Id="R55464db1540945a1" /><Relationship Type="http://schemas.openxmlformats.org/officeDocument/2006/relationships/notesSlide" Target="/ppt/notesSlides/notesSlide122.xml" Id="R0c138770b96c471b"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8.xml" Id="R56834138490544d6" /><Relationship Type="http://schemas.openxmlformats.org/officeDocument/2006/relationships/image" Target="/ppt/media/image114.png" Id="Rfd40508fe8f74312" /><Relationship Type="http://schemas.openxmlformats.org/officeDocument/2006/relationships/notesSlide" Target="/ppt/notesSlides/notesSlide123.xml" Id="Rfe37264b16d64640"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8.xml" Id="Rf4d15fa3a24a4422" /><Relationship Type="http://schemas.openxmlformats.org/officeDocument/2006/relationships/notesSlide" Target="/ppt/notesSlides/notesSlide124.xml" Id="R015e51a84fb14944"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8.xml" Id="R016786dc904946d1" /><Relationship Type="http://schemas.openxmlformats.org/officeDocument/2006/relationships/image" Target="/ppt/media/image115.png" Id="Rde4fe8d575bf472c" /><Relationship Type="http://schemas.openxmlformats.org/officeDocument/2006/relationships/notesSlide" Target="/ppt/notesSlides/notesSlide125.xml" Id="R298db760efa749f8"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8.xml" Id="R5ab7829e421544e3" /><Relationship Type="http://schemas.openxmlformats.org/officeDocument/2006/relationships/notesSlide" Target="/ppt/notesSlides/notesSlide126.xml" Id="R7e5c76965f474dce"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8.xml" Id="R58229dc27b1040ae" /><Relationship Type="http://schemas.openxmlformats.org/officeDocument/2006/relationships/notesSlide" Target="/ppt/notesSlides/notesSlide127.xml" Id="Rbd3ba6850c7047a5"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8.xml" Id="R155e8835536f4e0a" /><Relationship Type="http://schemas.openxmlformats.org/officeDocument/2006/relationships/image" Target="/ppt/media/image116.png" Id="Rfd06ec22f10447c3" /><Relationship Type="http://schemas.openxmlformats.org/officeDocument/2006/relationships/notesSlide" Target="/ppt/notesSlides/notesSlide128.xml" Id="Rdc0dab7ea3dc45c6"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8.xml" Id="R86539c0f19154f88" /><Relationship Type="http://schemas.openxmlformats.org/officeDocument/2006/relationships/image" Target="/ppt/media/image117.png" Id="Rabe43730ada64966" /><Relationship Type="http://schemas.openxmlformats.org/officeDocument/2006/relationships/notesSlide" Target="/ppt/notesSlides/notesSlide129.xml" Id="R30decde734084bde"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8.xml" Id="Rfcc4070cb1b34c64" /><Relationship Type="http://schemas.openxmlformats.org/officeDocument/2006/relationships/notesSlide" Target="/ppt/notesSlides/notesSlide130.xml" Id="Ra183c206037c467f"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8.xml" Id="R4dee8018e1254a50" /><Relationship Type="http://schemas.openxmlformats.org/officeDocument/2006/relationships/image" Target="/ppt/media/image118.png" Id="R4a383cec540641af" /><Relationship Type="http://schemas.openxmlformats.org/officeDocument/2006/relationships/notesSlide" Target="/ppt/notesSlides/notesSlide131.xml" Id="R1854e4dda43a424f"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8.xml" Id="R13fdf82a6e5c4254" /><Relationship Type="http://schemas.openxmlformats.org/officeDocument/2006/relationships/notesSlide" Target="/ppt/notesSlides/notesSlide132.xml" Id="R2f4cf36921dc48e9"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8.xml" Id="R4e7e6c0d1da44f7c" /><Relationship Type="http://schemas.openxmlformats.org/officeDocument/2006/relationships/notesSlide" Target="/ppt/notesSlides/notesSlide133.xml" Id="R020f3b329e724e7e"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8.xml" Id="R68a8246af1b7467d" /><Relationship Type="http://schemas.openxmlformats.org/officeDocument/2006/relationships/notesSlide" Target="/ppt/notesSlides/notesSlide134.xml" Id="Rf3b6bd0ac4a442ed"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8.xml" Id="R1744dfbf3e324118" /><Relationship Type="http://schemas.openxmlformats.org/officeDocument/2006/relationships/notesSlide" Target="/ppt/notesSlides/notesSlide135.xml" Id="R235d65a8f30a46ea"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8.xml" Id="R810f1787388c46b4" /><Relationship Type="http://schemas.openxmlformats.org/officeDocument/2006/relationships/notesSlide" Target="/ppt/notesSlides/notesSlide136.xml" Id="R41f3a915e069485e"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8.xml" Id="R1893fce2de974438" /><Relationship Type="http://schemas.openxmlformats.org/officeDocument/2006/relationships/notesSlide" Target="/ppt/notesSlides/notesSlide137.xml" Id="R89ebfbc597774272"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8.xml" Id="R6d3b3abc8d8e41ea" /><Relationship Type="http://schemas.openxmlformats.org/officeDocument/2006/relationships/notesSlide" Target="/ppt/notesSlides/notesSlide138.xml" Id="R78a664fff6e44699"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8.xml" Id="R56ce9ee88bb14529" /><Relationship Type="http://schemas.openxmlformats.org/officeDocument/2006/relationships/image" Target="/ppt/media/image119.png" Id="R47bfca383cae49f7" /><Relationship Type="http://schemas.openxmlformats.org/officeDocument/2006/relationships/notesSlide" Target="/ppt/notesSlides/notesSlide139.xml" Id="R7c5f96330b044df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42fc76ba162d4ca3"/>
          <a:srcRect xmlns:a="http://schemas.openxmlformats.org/drawingml/2006/main" l="0" t="0" r="0" b="84518"/>
          <a:stretch xmlns:a="http://schemas.openxmlformats.org/drawingml/2006/main">
            <a:fillRect l="0" t="0" r="0" b="0"/>
          </a:stretch>
        </p:blipFill>
        <p:spPr>
          <a:xfrm xmlns:a="http://schemas.openxmlformats.org/drawingml/2006/main" rot="0" flipH="0" flipV="0">
            <a:off x="2817813" y="1150536"/>
            <a:ext cx="6554788" cy="686393"/>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B0CF3788-C7A9-47A0-A793-D3AEF98E0B97}"/>
              </a:ext>
            </a:extLst>
          </p:cNvPr>
          <p:cNvSpPr>
            <a:spLocks xmlns:a="http://schemas.openxmlformats.org/drawingml/2006/main" noGrp="1"/>
          </p:cNvSpPr>
          <p:nvPr/>
        </p:nvSpPr>
        <p:spPr>
          <a:xfrm xmlns:a="http://schemas.openxmlformats.org/drawingml/2006/main" rot="0" flipH="0" flipV="0">
            <a:off x="4854894" y="1150536"/>
            <a:ext cx="2480626" cy="645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600" b="1" spc="300">
                <a:solidFill>
                  <a:schemeClr val="bg1"/>
                </a:solidFill>
                <a:effectLst>
                  <a:outerShdw blurRad="101600" dist="12700" dir="5400000" algn="t" rotWithShape="0">
                    <a:schemeClr val="accent3">
                      <a:alpha val="85000"/>
                    </a:schemeClr>
                  </a:outerShdw>
                </a:effectLst>
                <a:latin typeface="+mj-ea"/>
                <a:ea typeface="+mj-ea"/>
                <a:cs typeface="+mj-ea"/>
              </a:rPr>
              <a:t>第五</a:t>
            </a:r>
            <a:r>
              <a:rPr sz="3600" b="1">
                <a:solidFill>
                  <a:schemeClr val="bg1"/>
                </a:solidFill>
                <a:effectLst>
                  <a:outerShdw blurRad="101600" dist="12700" dir="5400000" algn="t" rotWithShape="0">
                    <a:schemeClr val="accent3">
                      <a:alpha val="85000"/>
                    </a:schemeClr>
                  </a:outerShdw>
                </a:effectLst>
                <a:latin typeface="+mj-ea"/>
                <a:ea typeface="+mj-ea"/>
                <a:cs typeface="+mj-ea"/>
              </a:rPr>
              <a:t>章</a:t>
            </a:r>
          </a:p>
        </p:txBody>
      </p:sp>
      <p:pic>
        <p:nvPicPr>
          <p:cNvPr id="12"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42fc76ba162d4ca3"/>
          <a:srcRect xmlns:a="http://schemas.openxmlformats.org/drawingml/2006/main" l="0" t="21436" r="0" b="66823"/>
          <a:stretch xmlns:a="http://schemas.openxmlformats.org/drawingml/2006/main">
            <a:fillRect l="0" t="0" r="0" b="0"/>
          </a:stretch>
        </p:blipFill>
        <p:spPr>
          <a:xfrm xmlns:a="http://schemas.openxmlformats.org/drawingml/2006/main" rot="0" flipH="0" flipV="0">
            <a:off x="977900" y="2121495"/>
            <a:ext cx="10236201" cy="812905"/>
          </a:xfrm>
          <a:prstGeom xmlns:a="http://schemas.openxmlformats.org/drawingml/2006/main" prst="rect">
            <a:avLst/>
          </a:prstGeom>
        </p:spPr>
      </p:pic>
      <p:pic>
        <p:nvPicPr>
          <p:cNvPr id="13"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42fc76ba162d4ca3"/>
          <a:srcRect xmlns:a="http://schemas.openxmlformats.org/drawingml/2006/main" l="0" t="77991" r="0" b="-27"/>
          <a:stretch xmlns:a="http://schemas.openxmlformats.org/drawingml/2006/main">
            <a:fillRect l="0" t="0" r="0" b="0"/>
          </a:stretch>
        </p:blipFill>
        <p:spPr>
          <a:xfrm xmlns:a="http://schemas.openxmlformats.org/drawingml/2006/main" rot="0" flipH="0" flipV="0">
            <a:off x="977900" y="2934401"/>
            <a:ext cx="10236201" cy="1525686"/>
          </a:xfrm>
          <a:prstGeom xmlns:a="http://schemas.openxmlformats.org/drawingml/2006/main" prst="rect">
            <a:avLst/>
          </a:prstGeom>
        </p:spPr>
      </p:pic>
      <p:sp>
        <p:nvSpPr>
          <p:cNvPr id="5" name="PA-文本框 47">
            <a:extLst xmlns:a="http://schemas.openxmlformats.org/drawingml/2006/main">
              <a:ext uri="{FF2B5EF4-FFF2-40B4-BE49-F238E27FC236}">
                <a16:creationId xmlns:a16="http://schemas.microsoft.com/office/drawing/2014/main" id="{02B91905-1518-4A2B-B1F2-FC7399009997}"/>
              </a:ext>
            </a:extLst>
          </p:cNvPr>
          <p:cNvSpPr>
            <a:spLocks xmlns:a="http://schemas.openxmlformats.org/drawingml/2006/main" noGrp="1"/>
          </p:cNvSpPr>
          <p:nvPr/>
        </p:nvSpPr>
        <p:spPr>
          <a:xfrm xmlns:a="http://schemas.openxmlformats.org/drawingml/2006/main" rot="0" flipH="0" flipV="0">
            <a:off x="1767840" y="2136630"/>
            <a:ext cx="8656320" cy="230832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ctr">
              <a:lnSpc>
                <a:spcPct val="100000"/>
              </a:lnSpc>
              <a:buNone/>
            </a:pPr>
            <a:r>
              <a:rPr sz="7200" b="1" spc="100">
                <a:solidFill>
                  <a:schemeClr val="bg1"/>
                </a:solidFill>
                <a:effectLst>
                  <a:outerShdw blurRad="101600" dist="12700" dir="5400000" algn="t" rotWithShape="0">
                    <a:schemeClr val="accent3">
                      <a:alpha val="85000"/>
                    </a:schemeClr>
                  </a:outerShdw>
                </a:effectLst>
                <a:latin typeface="+mj-ea"/>
                <a:ea typeface="+mj-ea"/>
                <a:cs typeface="+mj-ea"/>
              </a:rPr>
              <a:t>基于学习的机器人</a:t>
            </a:r>
            <a:br>
              <a:rPr sz="7200" b="1" spc="100">
                <a:solidFill>
                  <a:schemeClr val="bg1"/>
                </a:solidFill>
                <a:effectLst>
                  <a:outerShdw blurRad="101600" dist="12700" dir="5400000" algn="t" rotWithShape="0">
                    <a:schemeClr val="accent3">
                      <a:alpha val="85000"/>
                    </a:schemeClr>
                  </a:outerShdw>
                </a:effectLst>
                <a:latin typeface="+mj-ea"/>
                <a:ea typeface="+mj-ea"/>
                <a:cs typeface="+mj-ea"/>
              </a:rPr>
            </a:br>
            <a:r>
              <a:rPr sz="7200" b="1" spc="100">
                <a:solidFill>
                  <a:schemeClr val="bg1"/>
                </a:solidFill>
                <a:effectLst>
                  <a:outerShdw blurRad="101600" dist="12700" dir="5400000" algn="t" rotWithShape="0">
                    <a:schemeClr val="accent3">
                      <a:alpha val="85000"/>
                    </a:schemeClr>
                  </a:outerShdw>
                </a:effectLst>
                <a:latin typeface="+mj-ea"/>
                <a:ea typeface="+mj-ea"/>
                <a:cs typeface="+mj-ea"/>
              </a:rPr>
              <a:t>智能导航算法</a:t>
            </a:r>
            <a:endParaRPr sz="7200" b="1" spc="100">
              <a:solidFill>
                <a:schemeClr val="bg1"/>
              </a:solidFill>
              <a:effectLst>
                <a:outerShdw blurRad="101600" dist="12700" dir="5400000" algn="t" rotWithShape="0">
                  <a:schemeClr val="accent3">
                    <a:alpha val="85000"/>
                  </a:schemeClr>
                </a:outerShdw>
              </a:effectLst>
              <a:latin typeface="+mj-ea"/>
              <a:ea typeface="+mj-ea"/>
              <a:cs typeface="+mj-ea"/>
            </a:endParaRPr>
          </a:p>
        </p:txBody>
      </p:sp>
    </p:spTree>
    <p:extLst>
      <p:ext uri="{BB962C8B-B14F-4D97-AF65-F5344CB8AC3E}">
        <p14:creationId xmlns:p14="http://schemas.microsoft.com/office/powerpoint/2010/main" val="196549890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9" name="矩形: 圆角 48">
            <a:extLst xmlns:a="http://schemas.openxmlformats.org/drawingml/2006/main">
              <a:ext uri="{FF2B5EF4-FFF2-40B4-BE49-F238E27FC236}">
                <a16:creationId xmlns:a16="http://schemas.microsoft.com/office/drawing/2014/main" id="{02D874D9-FC0C-4BB7-BE92-84D60830FB11}"/>
              </a:ext>
            </a:extLst>
          </p:cNvPr>
          <p:cNvSpPr>
            <a:spLocks xmlns:a="http://schemas.openxmlformats.org/drawingml/2006/main" noGrp="1"/>
          </p:cNvSpPr>
          <p:nvPr/>
        </p:nvSpPr>
        <p:spPr>
          <a:xfrm xmlns:a="http://schemas.openxmlformats.org/drawingml/2006/main" rot="0" flipH="0" flipV="0">
            <a:off x="4978285" y="2300527"/>
            <a:ext cx="6351451" cy="930517"/>
          </a:xfrm>
          <a:prstGeom xmlns:a="http://schemas.openxmlformats.org/drawingml/2006/main" prst="roundRect">
            <a:avLst>
              <a:gd name="adj" fmla="val 50000"/>
            </a:avLst>
          </a:prstGeom>
          <a:gradFill xmlns:a="http://schemas.openxmlformats.org/drawingml/2006/main" rotWithShape="1">
            <a:gsLst>
              <a:gs pos="0">
                <a:schemeClr val="bg1">
                  <a:lumMod val="95000"/>
                </a:schemeClr>
              </a:gs>
              <a:gs pos="100000">
                <a:schemeClr val="bg1"/>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50" name="椭圆 49">
            <a:extLst xmlns:a="http://schemas.openxmlformats.org/drawingml/2006/main">
              <a:ext uri="{FF2B5EF4-FFF2-40B4-BE49-F238E27FC236}">
                <a16:creationId xmlns:a16="http://schemas.microsoft.com/office/drawing/2014/main" id="{7C136877-1B48-4D83-8829-9DAF89E6D402}"/>
              </a:ext>
            </a:extLst>
          </p:cNvPr>
          <p:cNvSpPr>
            <a:spLocks xmlns:a="http://schemas.openxmlformats.org/drawingml/2006/main" noGrp="1"/>
          </p:cNvSpPr>
          <p:nvPr/>
        </p:nvSpPr>
        <p:spPr>
          <a:xfrm xmlns:a="http://schemas.openxmlformats.org/drawingml/2006/main" rot="0" flipH="0" flipV="0">
            <a:off x="5062202" y="2377335"/>
            <a:ext cx="776902" cy="776901"/>
          </a:xfrm>
          <a:prstGeom xmlns:a="http://schemas.openxmlformats.org/drawingml/2006/main" prst="ellipse">
            <a:avLst/>
          </a:prstGeom>
          <a:gradFill xmlns:a="http://schemas.openxmlformats.org/drawingml/2006/main" rotWithShape="1">
            <a:gsLst>
              <a:gs pos="100000">
                <a:schemeClr val="tx1">
                  <a:lumMod val="85000"/>
                  <a:lumOff val="15000"/>
                </a:schemeClr>
              </a:gs>
              <a:gs pos="79000">
                <a:schemeClr val="tx1">
                  <a:lumMod val="85000"/>
                  <a:lumOff val="15000"/>
                </a:schemeClr>
              </a:gs>
              <a:gs pos="0">
                <a:schemeClr val="tx1">
                  <a:lumMod val="50000"/>
                  <a:lumOff val="50000"/>
                </a:schemeClr>
              </a:gs>
            </a:gsLst>
            <a:lin ang="5400000" scaled="1"/>
            <a:tileRect/>
          </a:gradFill>
          <a:ln xmlns:a="http://schemas.openxmlformats.org/drawingml/2006/main" w="25400">
            <a:solidFill>
              <a:schemeClr val="bg1">
                <a:lumMod val="75000"/>
              </a:schemeClr>
            </a:solidFill>
          </a:ln>
          <a:effectLst xmlns:a="http://schemas.openxmlformats.org/drawingml/2006/main">
            <a:outerShdw blurRad="63500" dist="38100" dir="5400000" algn="t" rotWithShape="0">
              <a:prstClr val="black">
                <a:alpha val="20000"/>
              </a:prst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pPr>
            <a:r>
              <a:rPr sz="2400" b="1">
                <a:solidFill>
                  <a:schemeClr val="bg1"/>
                </a:solidFill>
                <a:effectLst>
                  <a:outerShdw blurRad="101600" dist="12700" dir="5400000" algn="t" rotWithShape="0">
                    <a:schemeClr val="bg1">
                      <a:lumMod val="65000"/>
                      <a:alpha val="85000"/>
                    </a:schemeClr>
                  </a:outerShdw>
                </a:effectLst>
                <a:latin typeface="+mj-ea"/>
                <a:ea typeface="+mj-ea"/>
                <a:cs typeface="+mj-ea"/>
              </a:rPr>
              <a:t>5.2</a:t>
            </a:r>
            <a:endParaRPr sz="2400" b="1">
              <a:solidFill>
                <a:schemeClr val="bg1"/>
              </a:solidFill>
              <a:effectLst>
                <a:outerShdw blurRad="101600" dist="12700" dir="5400000" algn="t" rotWithShape="0">
                  <a:schemeClr val="bg1">
                    <a:lumMod val="65000"/>
                    <a:alpha val="85000"/>
                  </a:schemeClr>
                </a:outerShdw>
              </a:effectLst>
              <a:latin typeface="+mj-ea"/>
              <a:ea typeface="+mj-ea"/>
              <a:cs typeface="+mj-ea"/>
            </a:endParaRPr>
          </a:p>
        </p:txBody>
      </p:sp>
      <p:sp>
        <p:nvSpPr>
          <p:cNvPr id="51" name="文本框 50">
            <a:extLst xmlns:a="http://schemas.openxmlformats.org/drawingml/2006/main">
              <a:ext uri="{FF2B5EF4-FFF2-40B4-BE49-F238E27FC236}">
                <a16:creationId xmlns:a16="http://schemas.microsoft.com/office/drawing/2014/main" id="{63E193E8-E108-402C-8F7D-CA92FA42E710}"/>
              </a:ext>
            </a:extLst>
          </p:cNvPr>
          <p:cNvSpPr>
            <a:spLocks xmlns:a="http://schemas.openxmlformats.org/drawingml/2006/main" noGrp="1"/>
          </p:cNvSpPr>
          <p:nvPr/>
        </p:nvSpPr>
        <p:spPr>
          <a:xfrm xmlns:a="http://schemas.openxmlformats.org/drawingml/2006/main" rot="0" flipH="0" flipV="0">
            <a:off x="5951740" y="2442767"/>
            <a:ext cx="5935345" cy="645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spc="-150">
                <a:latin typeface="+mj-ea"/>
                <a:ea typeface="+mj-ea"/>
                <a:cs typeface="+mj-ea"/>
              </a:rPr>
              <a:t>基于传统机器学习的导航方法</a:t>
            </a:r>
          </a:p>
        </p:txBody>
      </p:sp>
      <p:sp>
        <p:nvSpPr>
          <p:cNvPr id="53" name="矩形: 圆角 52">
            <a:extLst xmlns:a="http://schemas.openxmlformats.org/drawingml/2006/main">
              <a:ext uri="{FF2B5EF4-FFF2-40B4-BE49-F238E27FC236}">
                <a16:creationId xmlns:a16="http://schemas.microsoft.com/office/drawing/2014/main" id="{975F00E6-C772-4442-A2C9-D3D3E8E31782}"/>
              </a:ext>
            </a:extLst>
          </p:cNvPr>
          <p:cNvSpPr>
            <a:spLocks xmlns:a="http://schemas.openxmlformats.org/drawingml/2006/main" noGrp="1"/>
          </p:cNvSpPr>
          <p:nvPr/>
        </p:nvSpPr>
        <p:spPr>
          <a:xfrm xmlns:a="http://schemas.openxmlformats.org/drawingml/2006/main" rot="0" flipH="0" flipV="0">
            <a:off x="4978285" y="974098"/>
            <a:ext cx="6351451" cy="930517"/>
          </a:xfrm>
          <a:prstGeom xmlns:a="http://schemas.openxmlformats.org/drawingml/2006/main" prst="roundRect">
            <a:avLst>
              <a:gd name="adj" fmla="val 50000"/>
            </a:avLst>
          </a:prstGeom>
          <a:gradFill xmlns:a="http://schemas.openxmlformats.org/drawingml/2006/main" rotWithShape="1">
            <a:gsLst>
              <a:gs pos="0">
                <a:schemeClr val="bg1">
                  <a:lumMod val="95000"/>
                </a:schemeClr>
              </a:gs>
              <a:gs pos="100000">
                <a:schemeClr val="bg1"/>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54" name="椭圆 53">
            <a:extLst xmlns:a="http://schemas.openxmlformats.org/drawingml/2006/main">
              <a:ext uri="{FF2B5EF4-FFF2-40B4-BE49-F238E27FC236}">
                <a16:creationId xmlns:a16="http://schemas.microsoft.com/office/drawing/2014/main" id="{8C5DBC7F-9647-4E1F-AB25-2F19233D7CEB}"/>
              </a:ext>
            </a:extLst>
          </p:cNvPr>
          <p:cNvSpPr>
            <a:spLocks xmlns:a="http://schemas.openxmlformats.org/drawingml/2006/main" noGrp="1"/>
          </p:cNvSpPr>
          <p:nvPr/>
        </p:nvSpPr>
        <p:spPr>
          <a:xfrm xmlns:a="http://schemas.openxmlformats.org/drawingml/2006/main" rot="0" flipH="0" flipV="0">
            <a:off x="5062202" y="1050906"/>
            <a:ext cx="776902" cy="776901"/>
          </a:xfrm>
          <a:prstGeom xmlns:a="http://schemas.openxmlformats.org/drawingml/2006/main" prst="ellipse">
            <a:avLst/>
          </a:prstGeom>
          <a:gradFill xmlns:a="http://schemas.openxmlformats.org/drawingml/2006/main" rotWithShape="1">
            <a:gsLst>
              <a:gs pos="100000">
                <a:schemeClr val="tx1">
                  <a:lumMod val="85000"/>
                  <a:lumOff val="15000"/>
                </a:schemeClr>
              </a:gs>
              <a:gs pos="79000">
                <a:schemeClr val="tx1">
                  <a:lumMod val="85000"/>
                  <a:lumOff val="15000"/>
                </a:schemeClr>
              </a:gs>
              <a:gs pos="0">
                <a:schemeClr val="tx1">
                  <a:lumMod val="50000"/>
                  <a:lumOff val="50000"/>
                </a:schemeClr>
              </a:gs>
            </a:gsLst>
            <a:lin ang="5400000" scaled="1"/>
            <a:tileRect/>
          </a:gradFill>
          <a:ln xmlns:a="http://schemas.openxmlformats.org/drawingml/2006/main" w="25400">
            <a:solidFill>
              <a:schemeClr val="bg1">
                <a:lumMod val="75000"/>
              </a:schemeClr>
            </a:solidFill>
          </a:ln>
          <a:effectLst xmlns:a="http://schemas.openxmlformats.org/drawingml/2006/main">
            <a:outerShdw blurRad="63500" dist="38100" dir="5400000" algn="t" rotWithShape="0">
              <a:prstClr val="black">
                <a:alpha val="20000"/>
              </a:prst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pPr>
            <a:r>
              <a:rPr sz="2400" b="1">
                <a:solidFill>
                  <a:schemeClr val="bg1"/>
                </a:solidFill>
                <a:effectLst>
                  <a:outerShdw blurRad="101600" dist="12700" dir="5400000" algn="t" rotWithShape="0">
                    <a:schemeClr val="bg1">
                      <a:lumMod val="65000"/>
                      <a:alpha val="85000"/>
                    </a:schemeClr>
                  </a:outerShdw>
                </a:effectLst>
                <a:latin typeface="+mj-ea"/>
                <a:ea typeface="+mj-ea"/>
                <a:cs typeface="+mj-ea"/>
              </a:rPr>
              <a:t>5.1</a:t>
            </a:r>
            <a:endParaRPr sz="2400" b="1">
              <a:solidFill>
                <a:schemeClr val="bg1"/>
              </a:solidFill>
              <a:effectLst>
                <a:outerShdw blurRad="101600" dist="12700" dir="5400000" algn="t" rotWithShape="0">
                  <a:schemeClr val="bg1">
                    <a:lumMod val="65000"/>
                    <a:alpha val="85000"/>
                  </a:schemeClr>
                </a:outerShdw>
              </a:effectLst>
              <a:latin typeface="+mj-ea"/>
              <a:ea typeface="+mj-ea"/>
              <a:cs typeface="+mj-ea"/>
            </a:endParaRPr>
          </a:p>
        </p:txBody>
      </p:sp>
      <p:sp>
        <p:nvSpPr>
          <p:cNvPr id="55" name="文本框 54">
            <a:extLst xmlns:a="http://schemas.openxmlformats.org/drawingml/2006/main">
              <a:ext uri="{FF2B5EF4-FFF2-40B4-BE49-F238E27FC236}">
                <a16:creationId xmlns:a16="http://schemas.microsoft.com/office/drawing/2014/main" id="{A6066CE5-0BD2-4B7E-A76A-D6A646A97E8F}"/>
              </a:ext>
            </a:extLst>
          </p:cNvPr>
          <p:cNvSpPr>
            <a:spLocks xmlns:a="http://schemas.openxmlformats.org/drawingml/2006/main" noGrp="1"/>
          </p:cNvSpPr>
          <p:nvPr/>
        </p:nvSpPr>
        <p:spPr>
          <a:xfrm xmlns:a="http://schemas.openxmlformats.org/drawingml/2006/main" rot="0" flipH="0" flipV="0">
            <a:off x="5951740" y="1116338"/>
            <a:ext cx="5527675" cy="645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spc="-150">
                <a:latin typeface="+mj-ea"/>
                <a:ea typeface="+mj-ea"/>
                <a:cs typeface="+mj-ea"/>
              </a:rPr>
              <a:t>基于学习的智能导航基础</a:t>
            </a:r>
          </a:p>
        </p:txBody>
      </p:sp>
      <p:sp>
        <p:nvSpPr>
          <p:cNvPr id="57" name="矩形: 圆角 56">
            <a:extLst xmlns:a="http://schemas.openxmlformats.org/drawingml/2006/main">
              <a:ext uri="{FF2B5EF4-FFF2-40B4-BE49-F238E27FC236}">
                <a16:creationId xmlns:a16="http://schemas.microsoft.com/office/drawing/2014/main" id="{DD1A78CA-8EA3-49C2-ABE6-9A427B1C96F6}"/>
              </a:ext>
            </a:extLst>
          </p:cNvPr>
          <p:cNvSpPr>
            <a:spLocks xmlns:a="http://schemas.openxmlformats.org/drawingml/2006/main" noGrp="1"/>
          </p:cNvSpPr>
          <p:nvPr/>
        </p:nvSpPr>
        <p:spPr>
          <a:xfrm xmlns:a="http://schemas.openxmlformats.org/drawingml/2006/main" rot="0" flipH="0" flipV="0">
            <a:off x="4978285" y="3626956"/>
            <a:ext cx="6351451" cy="930517"/>
          </a:xfrm>
          <a:prstGeom xmlns:a="http://schemas.openxmlformats.org/drawingml/2006/main" prst="roundRect">
            <a:avLst>
              <a:gd name="adj" fmla="val 50000"/>
            </a:avLst>
          </a:prstGeom>
          <a:gradFill xmlns:a="http://schemas.openxmlformats.org/drawingml/2006/main" rotWithShape="1">
            <a:gsLst>
              <a:gs pos="0">
                <a:schemeClr val="bg1">
                  <a:lumMod val="95000"/>
                </a:schemeClr>
              </a:gs>
              <a:gs pos="100000">
                <a:schemeClr val="bg1"/>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58" name="椭圆 57">
            <a:extLst xmlns:a="http://schemas.openxmlformats.org/drawingml/2006/main">
              <a:ext uri="{FF2B5EF4-FFF2-40B4-BE49-F238E27FC236}">
                <a16:creationId xmlns:a16="http://schemas.microsoft.com/office/drawing/2014/main" id="{86D53E94-B9AE-4C15-9520-AC5C4843D0BB}"/>
              </a:ext>
            </a:extLst>
          </p:cNvPr>
          <p:cNvSpPr>
            <a:spLocks xmlns:a="http://schemas.openxmlformats.org/drawingml/2006/main" noGrp="1"/>
          </p:cNvSpPr>
          <p:nvPr/>
        </p:nvSpPr>
        <p:spPr>
          <a:xfrm xmlns:a="http://schemas.openxmlformats.org/drawingml/2006/main" rot="0" flipH="0" flipV="0">
            <a:off x="5062202" y="3703764"/>
            <a:ext cx="776902" cy="776901"/>
          </a:xfrm>
          <a:prstGeom xmlns:a="http://schemas.openxmlformats.org/drawingml/2006/main" prst="ellipse">
            <a:avLst/>
          </a:prstGeom>
          <a:gradFill xmlns:a="http://schemas.openxmlformats.org/drawingml/2006/main" rotWithShape="1">
            <a:gsLst>
              <a:gs pos="100000">
                <a:schemeClr val="tx1">
                  <a:lumMod val="85000"/>
                  <a:lumOff val="15000"/>
                </a:schemeClr>
              </a:gs>
              <a:gs pos="79000">
                <a:schemeClr val="tx1">
                  <a:lumMod val="85000"/>
                  <a:lumOff val="15000"/>
                </a:schemeClr>
              </a:gs>
              <a:gs pos="0">
                <a:schemeClr val="tx1">
                  <a:lumMod val="50000"/>
                  <a:lumOff val="50000"/>
                </a:schemeClr>
              </a:gs>
            </a:gsLst>
            <a:lin ang="5400000" scaled="1"/>
            <a:tileRect/>
          </a:gradFill>
          <a:ln xmlns:a="http://schemas.openxmlformats.org/drawingml/2006/main" w="25400">
            <a:solidFill>
              <a:schemeClr val="bg1">
                <a:lumMod val="75000"/>
              </a:schemeClr>
            </a:solidFill>
          </a:ln>
          <a:effectLst xmlns:a="http://schemas.openxmlformats.org/drawingml/2006/main">
            <a:outerShdw blurRad="63500" dist="38100" dir="5400000" algn="t" rotWithShape="0">
              <a:prstClr val="black">
                <a:alpha val="20000"/>
              </a:prst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pPr>
            <a:r>
              <a:rPr sz="2400" b="1">
                <a:solidFill>
                  <a:schemeClr val="bg1"/>
                </a:solidFill>
                <a:effectLst>
                  <a:outerShdw blurRad="101600" dist="12700" dir="5400000" algn="t" rotWithShape="0">
                    <a:schemeClr val="bg1">
                      <a:lumMod val="65000"/>
                      <a:alpha val="85000"/>
                    </a:schemeClr>
                  </a:outerShdw>
                </a:effectLst>
                <a:latin typeface="+mj-ea"/>
                <a:ea typeface="+mj-ea"/>
                <a:cs typeface="+mj-ea"/>
              </a:rPr>
              <a:t>5.3</a:t>
            </a:r>
            <a:endParaRPr sz="2400" b="1">
              <a:solidFill>
                <a:schemeClr val="bg1"/>
              </a:solidFill>
              <a:effectLst>
                <a:outerShdw blurRad="101600" dist="12700" dir="5400000" algn="t" rotWithShape="0">
                  <a:schemeClr val="bg1">
                    <a:lumMod val="65000"/>
                    <a:alpha val="85000"/>
                  </a:schemeClr>
                </a:outerShdw>
              </a:effectLst>
              <a:latin typeface="+mj-ea"/>
              <a:ea typeface="+mj-ea"/>
              <a:cs typeface="+mj-ea"/>
            </a:endParaRPr>
          </a:p>
        </p:txBody>
      </p:sp>
      <p:sp>
        <p:nvSpPr>
          <p:cNvPr id="59" name="文本框 58">
            <a:extLst xmlns:a="http://schemas.openxmlformats.org/drawingml/2006/main">
              <a:ext uri="{FF2B5EF4-FFF2-40B4-BE49-F238E27FC236}">
                <a16:creationId xmlns:a16="http://schemas.microsoft.com/office/drawing/2014/main" id="{3280704F-7DDE-41F7-9306-1A4A31D9117C}"/>
              </a:ext>
            </a:extLst>
          </p:cNvPr>
          <p:cNvSpPr>
            <a:spLocks xmlns:a="http://schemas.openxmlformats.org/drawingml/2006/main" noGrp="1"/>
          </p:cNvSpPr>
          <p:nvPr/>
        </p:nvSpPr>
        <p:spPr>
          <a:xfrm xmlns:a="http://schemas.openxmlformats.org/drawingml/2006/main" rot="0" flipH="0" flipV="0">
            <a:off x="5951740" y="3769196"/>
            <a:ext cx="5662930" cy="645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spc="-150">
                <a:latin typeface="+mj-ea"/>
                <a:ea typeface="+mj-ea"/>
                <a:cs typeface="+mj-ea"/>
              </a:rPr>
              <a:t>基于深度学习的导航方法</a:t>
            </a:r>
            <a:r>
              <a:rPr sz="3600" b="1" spc="-150">
                <a:latin typeface="+mj-ea"/>
                <a:ea typeface="+mj-ea"/>
                <a:cs typeface="+mj-ea"/>
              </a:rPr>
              <a:t> </a:t>
            </a:r>
          </a:p>
        </p:txBody>
      </p:sp>
      <p:sp>
        <p:nvSpPr>
          <p:cNvPr id="61" name="矩形: 圆角 60">
            <a:extLst xmlns:a="http://schemas.openxmlformats.org/drawingml/2006/main">
              <a:ext uri="{FF2B5EF4-FFF2-40B4-BE49-F238E27FC236}">
                <a16:creationId xmlns:a16="http://schemas.microsoft.com/office/drawing/2014/main" id="{B7C7491D-D46C-4182-8163-DF592C05C3DD}"/>
              </a:ext>
            </a:extLst>
          </p:cNvPr>
          <p:cNvSpPr>
            <a:spLocks xmlns:a="http://schemas.openxmlformats.org/drawingml/2006/main" noGrp="1"/>
          </p:cNvSpPr>
          <p:nvPr/>
        </p:nvSpPr>
        <p:spPr>
          <a:xfrm xmlns:a="http://schemas.openxmlformats.org/drawingml/2006/main" rot="0" flipH="0" flipV="0">
            <a:off x="4978285" y="4953386"/>
            <a:ext cx="6351451" cy="930517"/>
          </a:xfrm>
          <a:prstGeom xmlns:a="http://schemas.openxmlformats.org/drawingml/2006/main" prst="roundRect">
            <a:avLst>
              <a:gd name="adj" fmla="val 50000"/>
            </a:avLst>
          </a:prstGeom>
          <a:gradFill xmlns:a="http://schemas.openxmlformats.org/drawingml/2006/main" rotWithShape="1">
            <a:gsLst>
              <a:gs pos="0">
                <a:schemeClr val="bg1">
                  <a:lumMod val="95000"/>
                </a:schemeClr>
              </a:gs>
              <a:gs pos="100000">
                <a:schemeClr val="bg1"/>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62" name="椭圆 61">
            <a:extLst xmlns:a="http://schemas.openxmlformats.org/drawingml/2006/main">
              <a:ext uri="{FF2B5EF4-FFF2-40B4-BE49-F238E27FC236}">
                <a16:creationId xmlns:a16="http://schemas.microsoft.com/office/drawing/2014/main" id="{E355EFB0-4FF0-4BFD-8532-21A67E718606}"/>
              </a:ext>
            </a:extLst>
          </p:cNvPr>
          <p:cNvSpPr>
            <a:spLocks xmlns:a="http://schemas.openxmlformats.org/drawingml/2006/main" noGrp="1"/>
          </p:cNvSpPr>
          <p:nvPr/>
        </p:nvSpPr>
        <p:spPr>
          <a:xfrm xmlns:a="http://schemas.openxmlformats.org/drawingml/2006/main" rot="0" flipH="0" flipV="0">
            <a:off x="5062202" y="5030194"/>
            <a:ext cx="776902" cy="776901"/>
          </a:xfrm>
          <a:prstGeom xmlns:a="http://schemas.openxmlformats.org/drawingml/2006/main" prst="ellipse">
            <a:avLst/>
          </a:prstGeom>
          <a:gradFill xmlns:a="http://schemas.openxmlformats.org/drawingml/2006/main" rotWithShape="1">
            <a:gsLst>
              <a:gs pos="100000">
                <a:schemeClr val="tx1">
                  <a:lumMod val="85000"/>
                  <a:lumOff val="15000"/>
                </a:schemeClr>
              </a:gs>
              <a:gs pos="79000">
                <a:schemeClr val="tx1">
                  <a:lumMod val="85000"/>
                  <a:lumOff val="15000"/>
                </a:schemeClr>
              </a:gs>
              <a:gs pos="0">
                <a:schemeClr val="tx1">
                  <a:lumMod val="50000"/>
                  <a:lumOff val="50000"/>
                </a:schemeClr>
              </a:gs>
            </a:gsLst>
            <a:lin ang="5400000" scaled="1"/>
            <a:tileRect/>
          </a:gradFill>
          <a:ln xmlns:a="http://schemas.openxmlformats.org/drawingml/2006/main" w="25400">
            <a:solidFill>
              <a:schemeClr val="bg1">
                <a:lumMod val="75000"/>
              </a:schemeClr>
            </a:solidFill>
          </a:ln>
          <a:effectLst xmlns:a="http://schemas.openxmlformats.org/drawingml/2006/main">
            <a:outerShdw blurRad="63500" dist="38100" dir="5400000" algn="t" rotWithShape="0">
              <a:prstClr val="black">
                <a:alpha val="20000"/>
              </a:prst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pPr>
            <a:r>
              <a:rPr sz="2400" b="1">
                <a:solidFill>
                  <a:schemeClr val="bg1"/>
                </a:solidFill>
                <a:effectLst>
                  <a:outerShdw blurRad="101600" dist="12700" dir="5400000" algn="t" rotWithShape="0">
                    <a:schemeClr val="bg1">
                      <a:lumMod val="65000"/>
                      <a:alpha val="85000"/>
                    </a:schemeClr>
                  </a:outerShdw>
                </a:effectLst>
                <a:latin typeface="+mj-ea"/>
                <a:ea typeface="+mj-ea"/>
                <a:cs typeface="+mj-ea"/>
              </a:rPr>
              <a:t>5.4</a:t>
            </a:r>
            <a:endParaRPr sz="2400" b="1">
              <a:solidFill>
                <a:schemeClr val="bg1"/>
              </a:solidFill>
              <a:effectLst>
                <a:outerShdw blurRad="101600" dist="12700" dir="5400000" algn="t" rotWithShape="0">
                  <a:schemeClr val="bg1">
                    <a:lumMod val="65000"/>
                    <a:alpha val="85000"/>
                  </a:schemeClr>
                </a:outerShdw>
              </a:effectLst>
              <a:latin typeface="+mj-ea"/>
              <a:ea typeface="+mj-ea"/>
              <a:cs typeface="+mj-ea"/>
            </a:endParaRPr>
          </a:p>
        </p:txBody>
      </p:sp>
      <p:sp>
        <p:nvSpPr>
          <p:cNvPr id="63" name="文本框 62">
            <a:extLst xmlns:a="http://schemas.openxmlformats.org/drawingml/2006/main">
              <a:ext uri="{FF2B5EF4-FFF2-40B4-BE49-F238E27FC236}">
                <a16:creationId xmlns:a16="http://schemas.microsoft.com/office/drawing/2014/main" id="{A8F928FB-2B9F-486C-8B35-0153B0CA0A93}"/>
              </a:ext>
            </a:extLst>
          </p:cNvPr>
          <p:cNvSpPr>
            <a:spLocks xmlns:a="http://schemas.openxmlformats.org/drawingml/2006/main" noGrp="1"/>
          </p:cNvSpPr>
          <p:nvPr/>
        </p:nvSpPr>
        <p:spPr>
          <a:xfrm xmlns:a="http://schemas.openxmlformats.org/drawingml/2006/main" rot="0" flipH="0" flipV="0">
            <a:off x="5951740" y="5095626"/>
            <a:ext cx="5377180" cy="645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spc="-150">
                <a:latin typeface="+mj-ea"/>
                <a:ea typeface="+mj-ea"/>
                <a:cs typeface="+mj-ea"/>
              </a:rPr>
              <a:t>基于强化学习的导航方法</a:t>
            </a:r>
          </a:p>
        </p:txBody>
      </p:sp>
      <p:sp>
        <p:nvSpPr>
          <p:cNvPr id="35" name="矩形: 圆角 34">
            <a:extLst xmlns:a="http://schemas.openxmlformats.org/drawingml/2006/main">
              <a:ext uri="{FF2B5EF4-FFF2-40B4-BE49-F238E27FC236}">
                <a16:creationId xmlns:a16="http://schemas.microsoft.com/office/drawing/2014/main" id="{A5923129-D6E2-4E88-9A3A-555CA3E56B8A}"/>
              </a:ext>
            </a:extLst>
          </p:cNvPr>
          <p:cNvSpPr>
            <a:spLocks xmlns:a="http://schemas.openxmlformats.org/drawingml/2006/main" noGrp="1"/>
          </p:cNvSpPr>
          <p:nvPr/>
        </p:nvSpPr>
        <p:spPr>
          <a:xfrm xmlns:a="http://schemas.openxmlformats.org/drawingml/2006/main" rot="0" flipH="0" flipV="0">
            <a:off x="4977650" y="974098"/>
            <a:ext cx="6351451" cy="930517"/>
          </a:xfrm>
          <a:prstGeom xmlns:a="http://schemas.openxmlformats.org/drawingml/2006/main" prst="roundRect">
            <a:avLst>
              <a:gd name="adj" fmla="val 50000"/>
            </a:avLst>
          </a:prstGeom>
          <a:gradFill xmlns:a="http://schemas.openxmlformats.org/drawingml/2006/main" rotWithShape="1">
            <a:gsLst>
              <a:gs pos="0">
                <a:schemeClr val="accent3">
                  <a:lumMod val="20000"/>
                  <a:lumOff val="80000"/>
                </a:schemeClr>
              </a:gs>
              <a:gs pos="100000">
                <a:schemeClr val="bg1"/>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36" name="椭圆 35">
            <a:extLst xmlns:a="http://schemas.openxmlformats.org/drawingml/2006/main">
              <a:ext uri="{FF2B5EF4-FFF2-40B4-BE49-F238E27FC236}">
                <a16:creationId xmlns:a16="http://schemas.microsoft.com/office/drawing/2014/main" id="{14F72F36-5E12-4FB0-8B00-D1138B882F3D}"/>
              </a:ext>
            </a:extLst>
          </p:cNvPr>
          <p:cNvSpPr>
            <a:spLocks xmlns:a="http://schemas.openxmlformats.org/drawingml/2006/main" noGrp="1"/>
          </p:cNvSpPr>
          <p:nvPr/>
        </p:nvSpPr>
        <p:spPr>
          <a:xfrm xmlns:a="http://schemas.openxmlformats.org/drawingml/2006/main" rot="0" flipH="0" flipV="0">
            <a:off x="5062202" y="1050906"/>
            <a:ext cx="776902" cy="776901"/>
          </a:xfrm>
          <a:prstGeom xmlns:a="http://schemas.openxmlformats.org/drawingml/2006/main" prst="ellipse">
            <a:avLst/>
          </a:prstGeom>
          <a:gradFill xmlns:a="http://schemas.openxmlformats.org/drawingml/2006/main" rotWithShape="1">
            <a:gsLst>
              <a:gs pos="100000">
                <a:schemeClr val="accent1"/>
              </a:gs>
              <a:gs pos="79000">
                <a:schemeClr val="accent1">
                  <a:lumMod val="75000"/>
                </a:schemeClr>
              </a:gs>
              <a:gs pos="0">
                <a:schemeClr val="accent2"/>
              </a:gs>
            </a:gsLst>
            <a:lin ang="5400000" scaled="1"/>
            <a:tileRect/>
          </a:gradFill>
          <a:ln xmlns:a="http://schemas.openxmlformats.org/drawingml/2006/main" w="25400">
            <a:solidFill>
              <a:schemeClr val="accent3"/>
            </a:solidFill>
          </a:ln>
          <a:effectLst xmlns:a="http://schemas.openxmlformats.org/drawingml/2006/main">
            <a:outerShdw blurRad="63500" dist="38100" dir="5400000" algn="t" rotWithShape="0">
              <a:prstClr val="black">
                <a:alpha val="20000"/>
              </a:prst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pPr>
            <a:r>
              <a:rPr sz="2400" b="1">
                <a:solidFill>
                  <a:schemeClr val="bg1"/>
                </a:solidFill>
                <a:effectLst>
                  <a:outerShdw blurRad="101600" dist="12700" dir="5400000" algn="t" rotWithShape="0">
                    <a:schemeClr val="accent3">
                      <a:alpha val="85000"/>
                    </a:schemeClr>
                  </a:outerShdw>
                </a:effectLst>
                <a:latin typeface="+mj-lt"/>
                <a:ea typeface="+mj-lt"/>
                <a:cs typeface="+mj-lt"/>
              </a:rPr>
              <a:t>5.1</a:t>
            </a:r>
            <a:endParaRPr sz="2400" b="1">
              <a:solidFill>
                <a:schemeClr val="bg1"/>
              </a:solidFill>
              <a:effectLst>
                <a:outerShdw blurRad="101600" dist="12700" dir="5400000" algn="t" rotWithShape="0">
                  <a:schemeClr val="accent3">
                    <a:alpha val="85000"/>
                  </a:schemeClr>
                </a:outerShdw>
              </a:effectLst>
              <a:latin typeface="+mj-lt"/>
              <a:ea typeface="+mj-lt"/>
              <a:cs typeface="+mj-lt"/>
            </a:endParaRPr>
          </a:p>
        </p:txBody>
      </p:sp>
      <p:sp>
        <p:nvSpPr>
          <p:cNvPr id="37" name="文本框 36">
            <a:extLst xmlns:a="http://schemas.openxmlformats.org/drawingml/2006/main">
              <a:ext uri="{FF2B5EF4-FFF2-40B4-BE49-F238E27FC236}">
                <a16:creationId xmlns:a16="http://schemas.microsoft.com/office/drawing/2014/main" id="{5DE3D0F9-02C3-4932-AA89-4998837C9D57}"/>
              </a:ext>
            </a:extLst>
          </p:cNvPr>
          <p:cNvSpPr>
            <a:spLocks xmlns:a="http://schemas.openxmlformats.org/drawingml/2006/main" noGrp="1"/>
          </p:cNvSpPr>
          <p:nvPr/>
        </p:nvSpPr>
        <p:spPr>
          <a:xfrm xmlns:a="http://schemas.openxmlformats.org/drawingml/2006/main" rot="0" flipH="0" flipV="0">
            <a:off x="5951105" y="1116973"/>
            <a:ext cx="5377815" cy="645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spc="-150">
                <a:solidFill>
                  <a:schemeClr val="accent1"/>
                </a:solidFill>
                <a:latin typeface="+mj-ea"/>
                <a:ea typeface="+mj-ea"/>
                <a:cs typeface="+mj-ea"/>
              </a:rPr>
              <a:t>基于学习的智能导航基础</a:t>
            </a:r>
          </a:p>
        </p:txBody>
      </p:sp>
    </p:spTree>
    <p:extLst>
      <p:ext uri="{BB962C8B-B14F-4D97-AF65-F5344CB8AC3E}">
        <p14:creationId xmlns:p14="http://schemas.microsoft.com/office/powerpoint/2010/main" val="1124699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矩形 10">
            <a:extLst xmlns:a="http://schemas.openxmlformats.org/drawingml/2006/main">
              <a:ext uri="{FF2B5EF4-FFF2-40B4-BE49-F238E27FC236}">
                <a16:creationId xmlns:a16="http://schemas.microsoft.com/office/drawing/2014/main" id="{201D2E3B-C3FA-4737-AB6E-01281EC0983D}"/>
              </a:ext>
            </a:extLst>
          </p:cNvPr>
          <p:cNvSpPr>
            <a:spLocks xmlns:a="http://schemas.openxmlformats.org/drawingml/2006/main" noGrp="1"/>
          </p:cNvSpPr>
          <p:nvPr/>
        </p:nvSpPr>
        <p:spPr>
          <a:xfrm xmlns:a="http://schemas.openxmlformats.org/drawingml/2006/main" rot="0" flipH="0" flipV="0">
            <a:off x="524510" y="2602230"/>
            <a:ext cx="4861560" cy="1315720"/>
          </a:xfrm>
          <a:prstGeom xmlns:a="http://schemas.openxmlformats.org/drawingml/2006/main" prst="rect">
            <a:avLst/>
          </a:prstGeom>
          <a:gradFill xmlns:a="http://schemas.openxmlformats.org/drawingml/2006/main">
            <a:gsLst>
              <a:gs pos="19000">
                <a:schemeClr val="bg1"/>
              </a:gs>
              <a:gs pos="95000">
                <a:schemeClr val="accent1">
                  <a:lumMod val="20000"/>
                  <a:lumOff val="80000"/>
                </a:schemeClr>
              </a:gs>
            </a:gsLst>
            <a:lin ang="54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latin typeface="+mj-ea"/>
              <a:ea typeface="+mj-ea"/>
              <a:cs typeface="+mj-ea"/>
            </a:endParaRPr>
          </a:p>
        </p:txBody>
      </p:sp>
      <p:pic>
        <p:nvPicPr>
          <p:cNvPr id="30" name="图片 3"/>
          <p:cNvPicPr>
            <a:picLocks xmlns:a="http://schemas.openxmlformats.org/drawingml/2006/main" noChangeAspect="1"/>
          </p:cNvPicPr>
          <p:nvPr/>
        </p:nvPicPr>
        <p:blipFill>
          <a:blip xmlns:r="http://schemas.openxmlformats.org/officeDocument/2006/relationships" xmlns:a="http://schemas.openxmlformats.org/drawingml/2006/main" r:embed="R1b399821ca9d4f12"/>
          <a:stretch xmlns:a="http://schemas.openxmlformats.org/drawingml/2006/main">
            <a:fillRect l="0" t="0" r="0" b="0"/>
          </a:stretch>
        </p:blipFill>
        <p:spPr>
          <a:xfrm xmlns:a="http://schemas.openxmlformats.org/drawingml/2006/main" rot="0" flipH="0" flipV="0">
            <a:off x="752475" y="949325"/>
            <a:ext cx="4293870" cy="2352675"/>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206EAA94-EFEE-4C1A-A64D-0ABEA1CAE72A}"/>
              </a:ext>
            </a:extLst>
          </p:cNvPr>
          <p:cNvSpPr>
            <a:spLocks xmlns:a="http://schemas.openxmlformats.org/drawingml/2006/main" noGrp="1"/>
          </p:cNvSpPr>
          <p:nvPr/>
        </p:nvSpPr>
        <p:spPr>
          <a:xfrm xmlns:a="http://schemas.openxmlformats.org/drawingml/2006/main" rot="0" flipH="0" flipV="0">
            <a:off x="751840" y="3301365"/>
            <a:ext cx="444500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灵瞳</a:t>
            </a:r>
            <a:r>
              <a:rPr sz="1400"/>
              <a:t>L3P</a:t>
            </a:r>
            <a:r>
              <a:rPr sz="1400"/>
              <a:t>机器人凭借多模态感知融合与自主决策算法厘米级精准导航</a:t>
            </a:r>
          </a:p>
        </p:txBody>
      </p:sp>
      <p:sp>
        <p:nvSpPr>
          <p:cNvPr id="23" name="矩形 22">
            <a:extLst xmlns:a="http://schemas.openxmlformats.org/drawingml/2006/main">
              <a:ext uri="{FF2B5EF4-FFF2-40B4-BE49-F238E27FC236}">
                <a16:creationId xmlns:a16="http://schemas.microsoft.com/office/drawing/2014/main" id="{780B87E7-4B79-4C2D-B47B-CEAC27DEF2F5}"/>
              </a:ext>
            </a:extLst>
          </p:cNvPr>
          <p:cNvSpPr>
            <a:spLocks xmlns:a="http://schemas.openxmlformats.org/drawingml/2006/main" noGrp="1"/>
          </p:cNvSpPr>
          <p:nvPr/>
        </p:nvSpPr>
        <p:spPr>
          <a:xfrm xmlns:a="http://schemas.openxmlformats.org/drawingml/2006/main" rot="0" flipH="0" flipV="0">
            <a:off x="6588125" y="5396865"/>
            <a:ext cx="4861560" cy="1315720"/>
          </a:xfrm>
          <a:prstGeom xmlns:a="http://schemas.openxmlformats.org/drawingml/2006/main" prst="rect">
            <a:avLst/>
          </a:prstGeom>
          <a:gradFill xmlns:a="http://schemas.openxmlformats.org/drawingml/2006/main">
            <a:gsLst>
              <a:gs pos="19000">
                <a:schemeClr val="bg1"/>
              </a:gs>
              <a:gs pos="95000">
                <a:schemeClr val="accent1">
                  <a:lumMod val="20000"/>
                  <a:lumOff val="80000"/>
                </a:schemeClr>
              </a:gs>
            </a:gsLst>
            <a:lin ang="54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latin typeface="+mj-ea"/>
              <a:ea typeface="+mj-ea"/>
              <a:cs typeface="+mj-ea"/>
            </a:endParaRPr>
          </a:p>
        </p:txBody>
      </p:sp>
      <p:sp>
        <p:nvSpPr>
          <p:cNvPr id="24" name="文本框 23">
            <a:extLst xmlns:a="http://schemas.openxmlformats.org/drawingml/2006/main">
              <a:ext uri="{FF2B5EF4-FFF2-40B4-BE49-F238E27FC236}">
                <a16:creationId xmlns:a16="http://schemas.microsoft.com/office/drawing/2014/main" id="{EAD7D3E4-C8CA-4E36-A50F-20DD1421A0D0}"/>
              </a:ext>
            </a:extLst>
          </p:cNvPr>
          <p:cNvSpPr>
            <a:spLocks xmlns:a="http://schemas.openxmlformats.org/drawingml/2006/main" noGrp="1"/>
          </p:cNvSpPr>
          <p:nvPr/>
        </p:nvSpPr>
        <p:spPr>
          <a:xfrm xmlns:a="http://schemas.openxmlformats.org/drawingml/2006/main" rot="0" flipH="0" flipV="0">
            <a:off x="6815455" y="6096000"/>
            <a:ext cx="4445000" cy="3067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400"/>
              <a:t>华为问界汽车自动驾驶</a:t>
            </a:r>
          </a:p>
        </p:txBody>
      </p:sp>
      <p:pic>
        <p:nvPicPr>
          <p:cNvPr id="34" name="图片 25"/>
          <p:cNvPicPr>
            <a:picLocks xmlns:a="http://schemas.openxmlformats.org/drawingml/2006/main" noChangeAspect="1"/>
          </p:cNvPicPr>
          <p:nvPr/>
        </p:nvPicPr>
        <p:blipFill>
          <a:blip xmlns:r="http://schemas.openxmlformats.org/officeDocument/2006/relationships" xmlns:a="http://schemas.openxmlformats.org/drawingml/2006/main" r:embed="Rc8209a8f295b469c"/>
          <a:stretch xmlns:a="http://schemas.openxmlformats.org/drawingml/2006/main">
            <a:fillRect l="0" t="0" r="0" b="0"/>
          </a:stretch>
        </p:blipFill>
        <p:spPr>
          <a:xfrm xmlns:a="http://schemas.openxmlformats.org/drawingml/2006/main" rot="0" flipH="0" flipV="0">
            <a:off x="7009130" y="3889375"/>
            <a:ext cx="3839845" cy="2179320"/>
          </a:xfrm>
          <a:prstGeom xmlns:a="http://schemas.openxmlformats.org/drawingml/2006/main" prst="rect">
            <a:avLst/>
          </a:prstGeom>
        </p:spPr>
      </p:pic>
      <p:sp>
        <p:nvSpPr>
          <p:cNvPr id="8" name="矩形 7">
            <a:extLst xmlns:a="http://schemas.openxmlformats.org/drawingml/2006/main">
              <a:ext uri="{FF2B5EF4-FFF2-40B4-BE49-F238E27FC236}">
                <a16:creationId xmlns:a16="http://schemas.microsoft.com/office/drawing/2014/main" id="{B72BD84B-FB66-4231-89A2-2CF8D8498900}"/>
              </a:ext>
            </a:extLst>
          </p:cNvPr>
          <p:cNvSpPr>
            <a:spLocks xmlns:a="http://schemas.openxmlformats.org/drawingml/2006/main" noGrp="1"/>
          </p:cNvSpPr>
          <p:nvPr/>
        </p:nvSpPr>
        <p:spPr>
          <a:xfrm xmlns:a="http://schemas.openxmlformats.org/drawingml/2006/main" rot="0" flipH="0" flipV="0">
            <a:off x="525268" y="5371281"/>
            <a:ext cx="4861560" cy="1315719"/>
          </a:xfrm>
          <a:prstGeom xmlns:a="http://schemas.openxmlformats.org/drawingml/2006/main" prst="rect">
            <a:avLst/>
          </a:prstGeom>
          <a:gradFill xmlns:a="http://schemas.openxmlformats.org/drawingml/2006/main">
            <a:gsLst>
              <a:gs pos="19000">
                <a:schemeClr val="bg1"/>
              </a:gs>
              <a:gs pos="95000">
                <a:schemeClr val="accent1">
                  <a:lumMod val="20000"/>
                  <a:lumOff val="80000"/>
                </a:schemeClr>
              </a:gs>
            </a:gsLst>
            <a:lin ang="54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latin typeface="+mj-ea"/>
              <a:ea typeface="+mj-ea"/>
              <a:cs typeface="+mj-ea"/>
            </a:endParaRPr>
          </a:p>
        </p:txBody>
      </p:sp>
      <p:sp>
        <p:nvSpPr>
          <p:cNvPr id="14" name="文本框 13">
            <a:extLst xmlns:a="http://schemas.openxmlformats.org/drawingml/2006/main">
              <a:ext uri="{FF2B5EF4-FFF2-40B4-BE49-F238E27FC236}">
                <a16:creationId xmlns:a16="http://schemas.microsoft.com/office/drawing/2014/main" id="{CDA0992D-9B50-424B-8386-630DB2239D6E}"/>
              </a:ext>
            </a:extLst>
          </p:cNvPr>
          <p:cNvSpPr>
            <a:spLocks xmlns:a="http://schemas.openxmlformats.org/drawingml/2006/main" noGrp="1"/>
          </p:cNvSpPr>
          <p:nvPr/>
        </p:nvSpPr>
        <p:spPr>
          <a:xfrm xmlns:a="http://schemas.openxmlformats.org/drawingml/2006/main" rot="0" flipH="0" flipV="0">
            <a:off x="880553" y="5918812"/>
            <a:ext cx="4150994" cy="56451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lnSpc>
                <a:spcPct val="110000"/>
              </a:lnSpc>
              <a:buNone/>
            </a:pPr>
            <a:endParaRPr sz="1400"/>
          </a:p>
          <a:p xmlns:a="http://schemas.openxmlformats.org/drawingml/2006/main">
            <a:pPr algn="ctr">
              <a:lnSpc>
                <a:spcPct val="110000"/>
              </a:lnSpc>
              <a:buNone/>
            </a:pPr>
            <a:r>
              <a:rPr sz="1400"/>
              <a:t>麻省理工教无人机高效避障,每秒11米飞越复杂场地</a:t>
            </a:r>
          </a:p>
        </p:txBody>
      </p:sp>
      <p:pic>
        <p:nvPicPr>
          <p:cNvPr id="37" name="图片 34"/>
          <p:cNvPicPr>
            <a:picLocks xmlns:a="http://schemas.openxmlformats.org/drawingml/2006/main" noChangeAspect="1"/>
          </p:cNvPicPr>
          <p:nvPr/>
        </p:nvPicPr>
        <p:blipFill>
          <a:blip xmlns:r="http://schemas.openxmlformats.org/officeDocument/2006/relationships" xmlns:a="http://schemas.openxmlformats.org/drawingml/2006/main" r:embed="R3aa3333f1fa849f0"/>
          <a:stretch xmlns:a="http://schemas.openxmlformats.org/drawingml/2006/main">
            <a:fillRect l="0" t="0" r="0" b="0"/>
          </a:stretch>
        </p:blipFill>
        <p:spPr>
          <a:xfrm xmlns:a="http://schemas.openxmlformats.org/drawingml/2006/main" rot="0" flipH="0" flipV="0">
            <a:off x="752475" y="4010025"/>
            <a:ext cx="4458970" cy="2085975"/>
          </a:xfrm>
          <a:prstGeom xmlns:a="http://schemas.openxmlformats.org/drawingml/2006/main" prst="rect">
            <a:avLst/>
          </a:prstGeom>
        </p:spPr>
      </p:pic>
      <p:sp>
        <p:nvSpPr>
          <p:cNvPr id="19" name="矩形 18">
            <a:extLst xmlns:a="http://schemas.openxmlformats.org/drawingml/2006/main">
              <a:ext uri="{FF2B5EF4-FFF2-40B4-BE49-F238E27FC236}">
                <a16:creationId xmlns:a16="http://schemas.microsoft.com/office/drawing/2014/main" id="{CE3DCEF7-5D99-4E91-894C-198B22B78B4E}"/>
              </a:ext>
            </a:extLst>
          </p:cNvPr>
          <p:cNvSpPr>
            <a:spLocks xmlns:a="http://schemas.openxmlformats.org/drawingml/2006/main" noGrp="1"/>
          </p:cNvSpPr>
          <p:nvPr/>
        </p:nvSpPr>
        <p:spPr>
          <a:xfrm xmlns:a="http://schemas.openxmlformats.org/drawingml/2006/main" rot="0" flipH="0" flipV="0">
            <a:off x="6588125" y="2602230"/>
            <a:ext cx="4861560" cy="1315720"/>
          </a:xfrm>
          <a:prstGeom xmlns:a="http://schemas.openxmlformats.org/drawingml/2006/main" prst="rect">
            <a:avLst/>
          </a:prstGeom>
          <a:gradFill xmlns:a="http://schemas.openxmlformats.org/drawingml/2006/main">
            <a:gsLst>
              <a:gs pos="19000">
                <a:schemeClr val="bg1"/>
              </a:gs>
              <a:gs pos="95000">
                <a:schemeClr val="accent1">
                  <a:lumMod val="20000"/>
                  <a:lumOff val="80000"/>
                </a:schemeClr>
              </a:gs>
            </a:gsLst>
            <a:lin ang="54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latin typeface="+mj-ea"/>
              <a:ea typeface="+mj-ea"/>
              <a:cs typeface="+mj-ea"/>
            </a:endParaRPr>
          </a:p>
        </p:txBody>
      </p:sp>
      <p:sp>
        <p:nvSpPr>
          <p:cNvPr id="21" name="文本框 20">
            <a:extLst xmlns:a="http://schemas.openxmlformats.org/drawingml/2006/main">
              <a:ext uri="{FF2B5EF4-FFF2-40B4-BE49-F238E27FC236}">
                <a16:creationId xmlns:a16="http://schemas.microsoft.com/office/drawing/2014/main" id="{42F4BD69-8500-459C-A3BA-376AC8237204}"/>
              </a:ext>
            </a:extLst>
          </p:cNvPr>
          <p:cNvSpPr>
            <a:spLocks xmlns:a="http://schemas.openxmlformats.org/drawingml/2006/main" noGrp="1"/>
          </p:cNvSpPr>
          <p:nvPr/>
        </p:nvSpPr>
        <p:spPr>
          <a:xfrm xmlns:a="http://schemas.openxmlformats.org/drawingml/2006/main" rot="0" flipH="0" flipV="0">
            <a:off x="6815455" y="3301365"/>
            <a:ext cx="444500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上海交大团队开发首个</a:t>
            </a:r>
            <a:r>
              <a:rPr sz="1400"/>
              <a:t>“</a:t>
            </a:r>
            <a:r>
              <a:rPr sz="1400"/>
              <a:t>泛化地形自主站立算法</a:t>
            </a:r>
            <a:r>
              <a:rPr sz="1400"/>
              <a:t>”</a:t>
            </a:r>
            <a:r>
              <a:rPr sz="1400"/>
              <a:t>，实现机器人在复杂地形稳定身形，自主导航</a:t>
            </a:r>
          </a:p>
        </p:txBody>
      </p:sp>
      <p:pic>
        <p:nvPicPr>
          <p:cNvPr id="40" name="图片 36"/>
          <p:cNvPicPr>
            <a:picLocks xmlns:a="http://schemas.openxmlformats.org/drawingml/2006/main" noChangeAspect="1"/>
          </p:cNvPicPr>
          <p:nvPr/>
        </p:nvPicPr>
        <p:blipFill>
          <a:blip xmlns:r="http://schemas.openxmlformats.org/officeDocument/2006/relationships" xmlns:a="http://schemas.openxmlformats.org/drawingml/2006/main" r:embed="R1c25f6e3662b4011"/>
          <a:stretch xmlns:a="http://schemas.openxmlformats.org/drawingml/2006/main">
            <a:fillRect l="0" t="0" r="0" b="0"/>
          </a:stretch>
        </p:blipFill>
        <p:spPr>
          <a:xfrm xmlns:a="http://schemas.openxmlformats.org/drawingml/2006/main" rot="0" flipH="0" flipV="0">
            <a:off x="6900545" y="887730"/>
            <a:ext cx="4077970" cy="2347595"/>
          </a:xfrm>
          <a:prstGeom xmlns:a="http://schemas.openxmlformats.org/drawingml/2006/main" prst="rect">
            <a:avLst/>
          </a:prstGeom>
        </p:spPr>
      </p:pic>
    </p:spTree>
    <p:extLst>
      <p:ext uri="{BB962C8B-B14F-4D97-AF65-F5344CB8AC3E}">
        <p14:creationId xmlns:p14="http://schemas.microsoft.com/office/powerpoint/2010/main" val="21008619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文本框 3">
            <a:extLst xmlns:a="http://schemas.openxmlformats.org/drawingml/2006/main">
              <a:ext uri="{FF2B5EF4-FFF2-40B4-BE49-F238E27FC236}">
                <a16:creationId xmlns:a16="http://schemas.microsoft.com/office/drawing/2014/main" id="{B63ECB7E-387A-449C-98C2-A46AA36F3AAE}"/>
              </a:ext>
            </a:extLst>
          </p:cNvPr>
          <p:cNvSpPr>
            <a:spLocks xmlns:a="http://schemas.openxmlformats.org/drawingml/2006/main" noGrp="1"/>
          </p:cNvSpPr>
          <p:nvPr/>
        </p:nvSpPr>
        <p:spPr>
          <a:xfrm xmlns:a="http://schemas.openxmlformats.org/drawingml/2006/main">
            <a:off x="762002" y="6324364"/>
            <a:ext cx="10667998" cy="2755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200"/>
              <a:t>Xu Z, Han X, Shen H, et al. Navrl: Learning safe flight in dynamic environments[J]. IEEE Robotics and Automation Letters, 2025.</a:t>
            </a:r>
          </a:p>
        </p:txBody>
      </p:sp>
      <p:sp>
        <p:nvSpPr>
          <p:cNvPr id="6" name="梯形 5">
            <a:extLst xmlns:a="http://schemas.openxmlformats.org/drawingml/2006/main">
              <a:ext uri="{FF2B5EF4-FFF2-40B4-BE49-F238E27FC236}">
                <a16:creationId xmlns:a16="http://schemas.microsoft.com/office/drawing/2014/main" id="{593A4323-7DCA-4EE4-BCC1-4236723DB7A0}"/>
              </a:ext>
            </a:extLst>
          </p:cNvPr>
          <p:cNvSpPr>
            <a:spLocks xmlns:a="http://schemas.openxmlformats.org/drawingml/2006/main" noGrp="1"/>
          </p:cNvSpPr>
          <p:nvPr/>
        </p:nvSpPr>
        <p:spPr>
          <a:xfrm xmlns:a="http://schemas.openxmlformats.org/drawingml/2006/main" rot="0" flipH="0" flipV="1">
            <a:off x="2064000" y="5582269"/>
            <a:ext cx="8064000" cy="523221"/>
          </a:xfrm>
          <a:prstGeom xmlns:a="http://schemas.openxmlformats.org/drawingml/2006/main" prst="trapezoid">
            <a:avLst>
              <a:gd name="adj" fmla="val 170636"/>
            </a:avLst>
          </a:prstGeom>
          <a:gradFill xmlns:a="http://schemas.openxmlformats.org/drawingml/2006/main">
            <a:gsLst>
              <a:gs pos="3000">
                <a:schemeClr val="accent3">
                  <a:lumMod val="20000"/>
                  <a:lumOff val="80000"/>
                  <a:alpha val="0"/>
                </a:schemeClr>
              </a:gs>
              <a:gs pos="90000">
                <a:schemeClr val="accent3">
                  <a:lumMod val="20000"/>
                  <a:lumOff val="80000"/>
                </a:schemeClr>
              </a:gs>
            </a:gsLst>
            <a:lin ang="54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文本框 4">
            <a:extLst xmlns:a="http://schemas.openxmlformats.org/drawingml/2006/main">
              <a:ext uri="{FF2B5EF4-FFF2-40B4-BE49-F238E27FC236}">
                <a16:creationId xmlns:a16="http://schemas.microsoft.com/office/drawing/2014/main" id="{0E7353C9-15B2-438E-A4A8-94C4248F432E}"/>
              </a:ext>
            </a:extLst>
          </p:cNvPr>
          <p:cNvSpPr>
            <a:spLocks xmlns:a="http://schemas.openxmlformats.org/drawingml/2006/main" noGrp="1"/>
          </p:cNvSpPr>
          <p:nvPr/>
        </p:nvSpPr>
        <p:spPr>
          <a:xfrm xmlns:a="http://schemas.openxmlformats.org/drawingml/2006/main" rot="0" flipH="0" flipV="0">
            <a:off x="2064635" y="5736574"/>
            <a:ext cx="8063865"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solidFill>
                  <a:schemeClr val="accent1"/>
                </a:solidFill>
                <a:latin typeface="+mj-ea"/>
                <a:ea typeface="+mj-ea"/>
                <a:cs typeface="+mj-ea"/>
              </a:rPr>
              <a:t>基于强化学习的移动机器人无人机自主导航和避障</a:t>
            </a:r>
          </a:p>
        </p:txBody>
      </p:sp>
      <p:pic>
        <p:nvPicPr>
          <p:cNvPr id="11" name="屏幕录制 2026-01-19 125153"/>
          <p:cNvPicPr>
            <a:picLocks xmlns:a="http://schemas.openxmlformats.org/drawingml/2006/main" noChangeAspect="1"/>
          </p:cNvPicPr>
          <p:nvPr/>
        </p:nvPicPr>
        <p:blipFill>
          <a:blip xmlns:r="http://schemas.openxmlformats.org/officeDocument/2006/relationships" xmlns:a="http://schemas.openxmlformats.org/drawingml/2006/main" r:embed="R9f6469bb560a49f9"/>
          <a:stretch xmlns:a="http://schemas.openxmlformats.org/drawingml/2006/main">
            <a:fillRect l="0" t="0" r="0" b="0"/>
          </a:stretch>
        </p:blipFill>
        <p:spPr>
          <a:xfrm xmlns:a="http://schemas.openxmlformats.org/drawingml/2006/main">
            <a:off x="2543810" y="1094740"/>
            <a:ext cx="7104380" cy="4206875"/>
          </a:xfrm>
          <a:prstGeom xmlns:a="http://schemas.openxmlformats.org/drawingml/2006/main" prst="rect">
            <a:avLst/>
          </a:prstGeom>
        </p:spPr>
      </p:pic>
    </p:spTree>
    <p:extLst>
      <p:ext uri="{BB962C8B-B14F-4D97-AF65-F5344CB8AC3E}">
        <p14:creationId xmlns:p14="http://schemas.microsoft.com/office/powerpoint/2010/main" val="170795065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15B4D974-3ED1-6919-F82F-CE5107698229}"/>
              </a:ext>
            </a:extLst>
          </p:cNvPr>
          <p:cNvSpPr>
            <a:spLocks xmlns:a="http://schemas.openxmlformats.org/drawingml/2006/main" noGrp="1"/>
          </p:cNvSpPr>
          <p:nvPr/>
        </p:nvSpPr>
        <p:spPr>
          <a:xfrm xmlns:a="http://schemas.openxmlformats.org/drawingml/2006/main" rot="0" flipH="0" flipV="0">
            <a:off x="8102599" y="1705324"/>
            <a:ext cx="3483523" cy="4820604"/>
          </a:xfrm>
          <a:prstGeom xmlns:a="http://schemas.openxmlformats.org/drawingml/2006/main" prst="rect">
            <a:avLst/>
          </a:prstGeom>
          <a:gradFill xmlns:a="http://schemas.openxmlformats.org/drawingml/2006/main">
            <a:gsLst>
              <a:gs pos="100000">
                <a:schemeClr val="bg1">
                  <a:alpha val="0"/>
                </a:schemeClr>
              </a:gs>
              <a:gs pos="0">
                <a:schemeClr val="accent3">
                  <a:lumMod val="20000"/>
                  <a:lumOff val="80000"/>
                </a:schemeClr>
              </a:gs>
            </a:gsLst>
            <a:lin ang="5400000" scaled="1"/>
          </a:gradFill>
          <a:ln xmlns:a="http://schemas.openxmlformats.org/drawingml/2006/main">
            <a:gradFill>
              <a:gsLst>
                <a:gs pos="0">
                  <a:schemeClr val="accent1"/>
                </a:gs>
                <a:gs pos="100000">
                  <a:schemeClr val="accent1">
                    <a:alpha val="0"/>
                  </a:schemeClr>
                </a:gs>
              </a:gsLst>
              <a:lin ang="5400000" scaled="1"/>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lt1"/>
              </a:solidFill>
            </a:endParaRPr>
          </a:p>
        </p:txBody>
      </p:sp>
      <p:sp>
        <p:nvSpPr>
          <p:cNvPr id="20" name="文本框 19">
            <a:extLst xmlns:a="http://schemas.openxmlformats.org/drawingml/2006/main">
              <a:ext uri="{FF2B5EF4-FFF2-40B4-BE49-F238E27FC236}">
                <a16:creationId xmlns:a16="http://schemas.microsoft.com/office/drawing/2014/main" id="{34B59736-40AA-1FBE-01F0-CC977D957FBD}"/>
              </a:ext>
            </a:extLst>
          </p:cNvPr>
          <p:cNvSpPr>
            <a:spLocks xmlns:a="http://schemas.openxmlformats.org/drawingml/2006/main" noGrp="1"/>
          </p:cNvSpPr>
          <p:nvPr/>
        </p:nvSpPr>
        <p:spPr>
          <a:xfrm xmlns:a="http://schemas.openxmlformats.org/drawingml/2006/main" rot="0" flipH="0" flipV="0">
            <a:off x="8339328" y="2437652"/>
            <a:ext cx="3010064" cy="94051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indent="-342900" algn="just">
              <a:lnSpc>
                <a:spcPct val="120000"/>
              </a:lnSpc>
              <a:buFont typeface="Wingdings"/>
              <a:buChar char="Ø"/>
            </a:pPr>
            <a:r>
              <a:rPr sz="2400" b="1">
                <a:solidFill>
                  <a:schemeClr val="accent1"/>
                </a:solidFill>
              </a:rPr>
              <a:t>培塑</a:t>
            </a:r>
            <a:r>
              <a:rPr sz="2400"/>
              <a:t>“</a:t>
            </a:r>
            <a:r>
              <a:rPr sz="2400" b="1">
                <a:solidFill>
                  <a:srgbClr val="C00000"/>
                </a:solidFill>
              </a:rPr>
              <a:t>求精、求准、求是</a:t>
            </a:r>
            <a:r>
              <a:rPr sz="2400"/>
              <a:t>” 的精神</a:t>
            </a:r>
          </a:p>
        </p:txBody>
      </p:sp>
      <p:sp>
        <p:nvSpPr>
          <p:cNvPr id="21" name="椭圆 20">
            <a:extLst xmlns:a="http://schemas.openxmlformats.org/drawingml/2006/main">
              <a:ext uri="{FF2B5EF4-FFF2-40B4-BE49-F238E27FC236}">
                <a16:creationId xmlns:a16="http://schemas.microsoft.com/office/drawing/2014/main" id="{6F7F8EA1-26B7-0AF7-E392-8FAC19A7FD94}"/>
              </a:ext>
            </a:extLst>
          </p:cNvPr>
          <p:cNvSpPr>
            <a:spLocks xmlns:a="http://schemas.openxmlformats.org/drawingml/2006/main" noGrp="1"/>
          </p:cNvSpPr>
          <p:nvPr/>
        </p:nvSpPr>
        <p:spPr>
          <a:xfrm xmlns:a="http://schemas.openxmlformats.org/drawingml/2006/main" rot="0" flipH="0" flipV="0">
            <a:off x="9235089" y="1096054"/>
            <a:ext cx="1218542" cy="1218540"/>
          </a:xfrm>
          <a:prstGeom xmlns:a="http://schemas.openxmlformats.org/drawingml/2006/main" prst="ellipse">
            <a:avLst/>
          </a:prstGeom>
          <a:gradFill xmlns:a="http://schemas.openxmlformats.org/drawingml/2006/main" rotWithShape="1">
            <a:gsLst>
              <a:gs pos="45000">
                <a:schemeClr val="accent2"/>
              </a:gs>
              <a:gs pos="100000">
                <a:schemeClr val="accent1"/>
              </a:gs>
            </a:gsLst>
            <a:lin ang="2700000" scaled="1"/>
            <a:tileRect/>
          </a:gradFill>
          <a:ln xmlns:a="http://schemas.openxmlformats.org/drawingml/2006/main" w="63500">
            <a:solidFill>
              <a:schemeClr val="accent1">
                <a:lumMod val="20000"/>
                <a:lumOff val="80000"/>
              </a:schemeClr>
            </a:solidFill>
          </a:ln>
        </p:spPr>
        <p:txBody>
          <a:bodyPr xmlns:a="http://schemas.openxmlformats.org/drawingml/2006/main" vert="horz" wrap="square" lIns="36000" tIns="180000" rIns="36000" bIns="180000" anchor="ctr"/>
          <a:lstStyle xmlns:a="http://schemas.openxmlformats.org/drawingml/2006/main"/>
          <a:p xmlns:a="http://schemas.openxmlformats.org/drawingml/2006/main">
            <a:pPr algn="ctr" defTabSz="685783">
              <a:buNone/>
            </a:pPr>
            <a:r>
              <a:rPr sz="2600" b="1">
                <a:solidFill>
                  <a:prstClr val="white"/>
                </a:solidFill>
                <a:latin typeface="+mj-ea"/>
                <a:ea typeface="+mj-ea"/>
                <a:cs typeface="+mj-ea"/>
              </a:rPr>
              <a:t>价 值</a:t>
            </a:r>
          </a:p>
        </p:txBody>
      </p:sp>
      <p:pic>
        <p:nvPicPr>
          <p:cNvPr id="30" name="图片 21"/>
          <p:cNvPicPr>
            <a:picLocks xmlns:a="http://schemas.openxmlformats.org/drawingml/2006/main" noChangeAspect="1"/>
          </p:cNvPicPr>
          <p:nvPr/>
        </p:nvPicPr>
        <p:blipFill>
          <a:blip xmlns:r="http://schemas.openxmlformats.org/officeDocument/2006/relationships" xmlns:a="http://schemas.openxmlformats.org/drawingml/2006/main" r:embed="R3161e042454f4f3a"/>
          <a:stretch xmlns:a="http://schemas.openxmlformats.org/drawingml/2006/main">
            <a:fillRect l="0" t="0" r="0" b="0"/>
          </a:stretch>
        </p:blipFill>
        <p:spPr>
          <a:xfrm xmlns:a="http://schemas.openxmlformats.org/drawingml/2006/main" rot="0" flipH="0" flipV="0">
            <a:off x="8313611" y="4269415"/>
            <a:ext cx="3035781" cy="2015567"/>
          </a:xfrm>
          <a:prstGeom xmlns:a="http://schemas.openxmlformats.org/drawingml/2006/main" prst="rect">
            <a:avLst/>
          </a:prstGeom>
          <a:effectLst xmlns:a="http://schemas.openxmlformats.org/drawingml/2006/main">
            <a:reflection blurRad="12700" stA="47000" endPos="19000" dir="5400000" sy="-100000" algn="bl" rotWithShape="0"/>
          </a:effectLst>
        </p:spPr>
      </p:pic>
      <p:sp>
        <p:nvSpPr>
          <p:cNvPr id="3" name="矩形 2">
            <a:extLst xmlns:a="http://schemas.openxmlformats.org/drawingml/2006/main">
              <a:ext uri="{FF2B5EF4-FFF2-40B4-BE49-F238E27FC236}">
                <a16:creationId xmlns:a16="http://schemas.microsoft.com/office/drawing/2014/main" id="{432108B9-696E-8D5C-91F1-80756EBA86C4}"/>
              </a:ext>
            </a:extLst>
          </p:cNvPr>
          <p:cNvSpPr>
            <a:spLocks xmlns:a="http://schemas.openxmlformats.org/drawingml/2006/main" noGrp="1"/>
          </p:cNvSpPr>
          <p:nvPr/>
        </p:nvSpPr>
        <p:spPr>
          <a:xfrm xmlns:a="http://schemas.openxmlformats.org/drawingml/2006/main" rot="0" flipH="0" flipV="0">
            <a:off x="605877" y="1702833"/>
            <a:ext cx="3483523" cy="4820604"/>
          </a:xfrm>
          <a:prstGeom xmlns:a="http://schemas.openxmlformats.org/drawingml/2006/main" prst="rect">
            <a:avLst/>
          </a:prstGeom>
          <a:gradFill xmlns:a="http://schemas.openxmlformats.org/drawingml/2006/main">
            <a:gsLst>
              <a:gs pos="100000">
                <a:schemeClr val="bg1">
                  <a:alpha val="0"/>
                </a:schemeClr>
              </a:gs>
              <a:gs pos="0">
                <a:schemeClr val="accent3">
                  <a:lumMod val="20000"/>
                  <a:lumOff val="80000"/>
                </a:schemeClr>
              </a:gs>
            </a:gsLst>
            <a:lin ang="5400000" scaled="1"/>
          </a:gradFill>
          <a:ln xmlns:a="http://schemas.openxmlformats.org/drawingml/2006/main">
            <a:gradFill>
              <a:gsLst>
                <a:gs pos="0">
                  <a:schemeClr val="accent1"/>
                </a:gs>
                <a:gs pos="100000">
                  <a:schemeClr val="accent1">
                    <a:alpha val="0"/>
                  </a:schemeClr>
                </a:gs>
              </a:gsLst>
              <a:lin ang="5400000" scaled="1"/>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lt1"/>
              </a:solidFill>
            </a:endParaRPr>
          </a:p>
        </p:txBody>
      </p:sp>
      <p:sp>
        <p:nvSpPr>
          <p:cNvPr id="4" name="文本框 3">
            <a:extLst xmlns:a="http://schemas.openxmlformats.org/drawingml/2006/main">
              <a:ext uri="{FF2B5EF4-FFF2-40B4-BE49-F238E27FC236}">
                <a16:creationId xmlns:a16="http://schemas.microsoft.com/office/drawing/2014/main" id="{544B4AF3-6A30-D46E-546F-8718F3B9243A}"/>
              </a:ext>
            </a:extLst>
          </p:cNvPr>
          <p:cNvSpPr>
            <a:spLocks xmlns:a="http://schemas.openxmlformats.org/drawingml/2006/main" noGrp="1"/>
          </p:cNvSpPr>
          <p:nvPr/>
        </p:nvSpPr>
        <p:spPr>
          <a:xfrm xmlns:a="http://schemas.openxmlformats.org/drawingml/2006/main" rot="0" flipH="0" flipV="0">
            <a:off x="803591" y="2435161"/>
            <a:ext cx="3088096" cy="9379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indent="-342900" algn="just">
              <a:lnSpc>
                <a:spcPct val="120000"/>
              </a:lnSpc>
              <a:buFont typeface="Wingdings"/>
              <a:buChar char="Ø"/>
            </a:pPr>
            <a:r>
              <a:rPr sz="2400"/>
              <a:t>能够</a:t>
            </a:r>
            <a:r>
              <a:rPr sz="2400" b="1">
                <a:solidFill>
                  <a:schemeClr val="accent1"/>
                </a:solidFill>
              </a:rPr>
              <a:t>了解</a:t>
            </a:r>
            <a:r>
              <a:rPr sz="2400" b="1">
                <a:solidFill>
                  <a:srgbClr val="C00000"/>
                </a:solidFill>
              </a:rPr>
              <a:t>学习算法</a:t>
            </a:r>
            <a:r>
              <a:rPr sz="2400"/>
              <a:t>构成及发展史</a:t>
            </a:r>
          </a:p>
        </p:txBody>
      </p:sp>
      <p:sp>
        <p:nvSpPr>
          <p:cNvPr id="6" name="椭圆 5">
            <a:extLst xmlns:a="http://schemas.openxmlformats.org/drawingml/2006/main">
              <a:ext uri="{FF2B5EF4-FFF2-40B4-BE49-F238E27FC236}">
                <a16:creationId xmlns:a16="http://schemas.microsoft.com/office/drawing/2014/main" id="{B629D363-05C6-F5C9-AEDD-59E85B4A9662}"/>
              </a:ext>
            </a:extLst>
          </p:cNvPr>
          <p:cNvSpPr>
            <a:spLocks xmlns:a="http://schemas.openxmlformats.org/drawingml/2006/main" noGrp="1"/>
          </p:cNvSpPr>
          <p:nvPr/>
        </p:nvSpPr>
        <p:spPr>
          <a:xfrm xmlns:a="http://schemas.openxmlformats.org/drawingml/2006/main" rot="0" flipH="0" flipV="0">
            <a:off x="1738367" y="1093563"/>
            <a:ext cx="1218542" cy="1218540"/>
          </a:xfrm>
          <a:prstGeom xmlns:a="http://schemas.openxmlformats.org/drawingml/2006/main" prst="ellipse">
            <a:avLst/>
          </a:prstGeom>
          <a:gradFill xmlns:a="http://schemas.openxmlformats.org/drawingml/2006/main" rotWithShape="1">
            <a:gsLst>
              <a:gs pos="45000">
                <a:schemeClr val="accent2"/>
              </a:gs>
              <a:gs pos="100000">
                <a:schemeClr val="accent1"/>
              </a:gs>
            </a:gsLst>
            <a:lin ang="2700000" scaled="1"/>
            <a:tileRect/>
          </a:gradFill>
          <a:ln xmlns:a="http://schemas.openxmlformats.org/drawingml/2006/main" w="63500">
            <a:solidFill>
              <a:schemeClr val="accent1">
                <a:lumMod val="20000"/>
                <a:lumOff val="80000"/>
              </a:schemeClr>
            </a:solidFill>
          </a:ln>
        </p:spPr>
        <p:txBody>
          <a:bodyPr xmlns:a="http://schemas.openxmlformats.org/drawingml/2006/main" vert="horz" wrap="square" lIns="36000" tIns="180000" rIns="36000" bIns="180000" anchor="ctr"/>
          <a:lstStyle xmlns:a="http://schemas.openxmlformats.org/drawingml/2006/main"/>
          <a:p xmlns:a="http://schemas.openxmlformats.org/drawingml/2006/main">
            <a:pPr algn="ctr" defTabSz="685783">
              <a:buNone/>
            </a:pPr>
            <a:r>
              <a:rPr sz="2600" b="1">
                <a:solidFill>
                  <a:prstClr val="white"/>
                </a:solidFill>
                <a:latin typeface="+mj-ea"/>
                <a:ea typeface="+mj-ea"/>
                <a:cs typeface="+mj-ea"/>
              </a:rPr>
              <a:t>知 识</a:t>
            </a:r>
          </a:p>
        </p:txBody>
      </p:sp>
      <p:pic>
        <p:nvPicPr>
          <p:cNvPr id="34"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1b1ed9a238064029"/>
          <a:srcRect xmlns:a="http://schemas.openxmlformats.org/drawingml/2006/main" l="16000" t="5680" r="12018" b="8079"/>
          <a:stretch xmlns:a="http://schemas.openxmlformats.org/drawingml/2006/main">
            <a:fillRect l="0" t="0" r="0" b="0"/>
          </a:stretch>
        </p:blipFill>
        <p:spPr>
          <a:xfrm xmlns:a="http://schemas.openxmlformats.org/drawingml/2006/main" rot="0" flipH="0" flipV="0">
            <a:off x="1269642" y="4022443"/>
            <a:ext cx="1545528" cy="1851660"/>
          </a:xfrm>
          <a:prstGeom xmlns:a="http://schemas.openxmlformats.org/drawingml/2006/main" prst="rect">
            <a:avLst/>
          </a:prstGeom>
        </p:spPr>
      </p:pic>
      <p:pic>
        <p:nvPicPr>
          <p:cNvPr id="3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f8910b543704409e"/>
          <a:srcRect xmlns:a="http://schemas.openxmlformats.org/drawingml/2006/main" l="19825" t="23334" r="18837" b="8777"/>
          <a:stretch xmlns:a="http://schemas.openxmlformats.org/drawingml/2006/main">
            <a:fillRect l="0" t="0" r="0" b="0"/>
          </a:stretch>
        </p:blipFill>
        <p:spPr>
          <a:xfrm xmlns:a="http://schemas.openxmlformats.org/drawingml/2006/main" rot="0" flipH="0" flipV="0">
            <a:off x="2249234" y="4022443"/>
            <a:ext cx="1415350" cy="1884896"/>
          </a:xfrm>
          <a:prstGeom xmlns:a="http://schemas.openxmlformats.org/drawingml/2006/main" prst="rect">
            <a:avLst/>
          </a:prstGeom>
        </p:spPr>
      </p:pic>
      <p:sp>
        <p:nvSpPr>
          <p:cNvPr id="15" name="矩形 14">
            <a:extLst xmlns:a="http://schemas.openxmlformats.org/drawingml/2006/main">
              <a:ext uri="{FF2B5EF4-FFF2-40B4-BE49-F238E27FC236}">
                <a16:creationId xmlns:a16="http://schemas.microsoft.com/office/drawing/2014/main" id="{09C47E49-A48D-FDF5-E36E-A117DA1B84F8}"/>
              </a:ext>
            </a:extLst>
          </p:cNvPr>
          <p:cNvSpPr>
            <a:spLocks xmlns:a="http://schemas.openxmlformats.org/drawingml/2006/main" noGrp="1"/>
          </p:cNvSpPr>
          <p:nvPr/>
        </p:nvSpPr>
        <p:spPr>
          <a:xfrm xmlns:a="http://schemas.openxmlformats.org/drawingml/2006/main" rot="0" flipH="0" flipV="0">
            <a:off x="4354238" y="1702833"/>
            <a:ext cx="3483523" cy="4820604"/>
          </a:xfrm>
          <a:prstGeom xmlns:a="http://schemas.openxmlformats.org/drawingml/2006/main" prst="rect">
            <a:avLst/>
          </a:prstGeom>
          <a:gradFill xmlns:a="http://schemas.openxmlformats.org/drawingml/2006/main">
            <a:gsLst>
              <a:gs pos="100000">
                <a:schemeClr val="bg1">
                  <a:alpha val="0"/>
                </a:schemeClr>
              </a:gs>
              <a:gs pos="0">
                <a:schemeClr val="accent3">
                  <a:lumMod val="20000"/>
                  <a:lumOff val="80000"/>
                </a:schemeClr>
              </a:gs>
            </a:gsLst>
            <a:lin ang="5400000" scaled="1"/>
          </a:gradFill>
          <a:ln xmlns:a="http://schemas.openxmlformats.org/drawingml/2006/main">
            <a:gradFill>
              <a:gsLst>
                <a:gs pos="0">
                  <a:schemeClr val="accent1"/>
                </a:gs>
                <a:gs pos="100000">
                  <a:schemeClr val="accent1">
                    <a:alpha val="0"/>
                  </a:schemeClr>
                </a:gs>
              </a:gsLst>
              <a:lin ang="5400000" scaled="1"/>
            </a:gra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lt1"/>
              </a:solidFill>
            </a:endParaRPr>
          </a:p>
        </p:txBody>
      </p:sp>
      <p:sp>
        <p:nvSpPr>
          <p:cNvPr id="16" name="文本框 15">
            <a:extLst xmlns:a="http://schemas.openxmlformats.org/drawingml/2006/main">
              <a:ext uri="{FF2B5EF4-FFF2-40B4-BE49-F238E27FC236}">
                <a16:creationId xmlns:a16="http://schemas.microsoft.com/office/drawing/2014/main" id="{6A1691D1-B779-8502-8EEB-357CE5C1D266}"/>
              </a:ext>
            </a:extLst>
          </p:cNvPr>
          <p:cNvSpPr>
            <a:spLocks xmlns:a="http://schemas.openxmlformats.org/drawingml/2006/main" noGrp="1"/>
          </p:cNvSpPr>
          <p:nvPr/>
        </p:nvSpPr>
        <p:spPr>
          <a:xfrm xmlns:a="http://schemas.openxmlformats.org/drawingml/2006/main" rot="0" flipH="0" flipV="0">
            <a:off x="4586631" y="2435161"/>
            <a:ext cx="3018738" cy="94051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indent="-342900" algn="just">
              <a:lnSpc>
                <a:spcPct val="120000"/>
              </a:lnSpc>
              <a:buFont typeface="Wingdings"/>
              <a:buChar char="Ø"/>
            </a:pPr>
            <a:r>
              <a:rPr sz="2400"/>
              <a:t>能够</a:t>
            </a:r>
            <a:r>
              <a:rPr sz="2400" b="1">
                <a:solidFill>
                  <a:schemeClr val="accent1"/>
                </a:solidFill>
              </a:rPr>
              <a:t>分辨</a:t>
            </a:r>
            <a:r>
              <a:rPr sz="2400" b="1">
                <a:solidFill>
                  <a:srgbClr val="C00000"/>
                </a:solidFill>
              </a:rPr>
              <a:t>典型学习算法</a:t>
            </a:r>
            <a:r>
              <a:rPr sz="2400"/>
              <a:t>之间差异</a:t>
            </a:r>
          </a:p>
        </p:txBody>
      </p:sp>
      <p:sp>
        <p:nvSpPr>
          <p:cNvPr id="17" name="椭圆 16">
            <a:extLst xmlns:a="http://schemas.openxmlformats.org/drawingml/2006/main">
              <a:ext uri="{FF2B5EF4-FFF2-40B4-BE49-F238E27FC236}">
                <a16:creationId xmlns:a16="http://schemas.microsoft.com/office/drawing/2014/main" id="{3CA357F4-CCA6-80B5-F916-201921E7E32F}"/>
              </a:ext>
            </a:extLst>
          </p:cNvPr>
          <p:cNvSpPr>
            <a:spLocks xmlns:a="http://schemas.openxmlformats.org/drawingml/2006/main" noGrp="1"/>
          </p:cNvSpPr>
          <p:nvPr/>
        </p:nvSpPr>
        <p:spPr>
          <a:xfrm xmlns:a="http://schemas.openxmlformats.org/drawingml/2006/main" rot="0" flipH="0" flipV="0">
            <a:off x="5486728" y="1093563"/>
            <a:ext cx="1218542" cy="1218540"/>
          </a:xfrm>
          <a:prstGeom xmlns:a="http://schemas.openxmlformats.org/drawingml/2006/main" prst="ellipse">
            <a:avLst/>
          </a:prstGeom>
          <a:gradFill xmlns:a="http://schemas.openxmlformats.org/drawingml/2006/main" rotWithShape="1">
            <a:gsLst>
              <a:gs pos="45000">
                <a:schemeClr val="accent2"/>
              </a:gs>
              <a:gs pos="100000">
                <a:schemeClr val="accent1"/>
              </a:gs>
            </a:gsLst>
            <a:lin ang="2700000" scaled="1"/>
            <a:tileRect/>
          </a:gradFill>
          <a:ln xmlns:a="http://schemas.openxmlformats.org/drawingml/2006/main" w="63500">
            <a:solidFill>
              <a:schemeClr val="accent1">
                <a:lumMod val="20000"/>
                <a:lumOff val="80000"/>
              </a:schemeClr>
            </a:solidFill>
          </a:ln>
        </p:spPr>
        <p:txBody>
          <a:bodyPr xmlns:a="http://schemas.openxmlformats.org/drawingml/2006/main" vert="horz" wrap="square" lIns="36000" tIns="180000" rIns="36000" bIns="180000" anchor="ctr"/>
          <a:lstStyle xmlns:a="http://schemas.openxmlformats.org/drawingml/2006/main"/>
          <a:p xmlns:a="http://schemas.openxmlformats.org/drawingml/2006/main">
            <a:pPr algn="ctr" defTabSz="685783">
              <a:buNone/>
            </a:pPr>
            <a:r>
              <a:rPr sz="2600" b="1">
                <a:solidFill>
                  <a:prstClr val="white"/>
                </a:solidFill>
                <a:latin typeface="+mj-ea"/>
                <a:ea typeface="+mj-ea"/>
                <a:cs typeface="+mj-ea"/>
              </a:rPr>
              <a:t>能 力</a:t>
            </a:r>
          </a:p>
        </p:txBody>
      </p:sp>
      <p:pic>
        <p:nvPicPr>
          <p:cNvPr id="39" name="Picture 4"/>
          <p:cNvPicPr>
            <a:picLocks xmlns:a="http://schemas.openxmlformats.org/drawingml/2006/main" noChangeAspect="1"/>
          </p:cNvPicPr>
          <p:nvPr/>
        </p:nvPicPr>
        <p:blipFill>
          <a:blip xmlns:r="http://schemas.openxmlformats.org/officeDocument/2006/relationships" xmlns:a="http://schemas.openxmlformats.org/drawingml/2006/main" r:embed="Rb21a1887e38a491c"/>
          <a:srcRect xmlns:a="http://schemas.openxmlformats.org/drawingml/2006/main" l="0" t="0" r="0" b="0"/>
          <a:stretch xmlns:a="http://schemas.openxmlformats.org/drawingml/2006/main">
            <a:fillRect l="0" t="0" r="0" b="0"/>
          </a:stretch>
        </p:blipFill>
        <p:spPr>
          <a:xfrm xmlns:a="http://schemas.openxmlformats.org/drawingml/2006/main" rot="0" flipH="0" flipV="0">
            <a:off x="5436508" y="5254744"/>
            <a:ext cx="1318982" cy="1013830"/>
          </a:xfrm>
          <a:prstGeom xmlns:a="http://schemas.openxmlformats.org/drawingml/2006/main" prst="rect">
            <a:avLst/>
          </a:prstGeom>
        </p:spPr>
      </p:pic>
      <p:pic>
        <p:nvPicPr>
          <p:cNvPr id="40" name="Picture 6"/>
          <p:cNvPicPr>
            <a:picLocks xmlns:a="http://schemas.openxmlformats.org/drawingml/2006/main" noChangeAspect="1"/>
          </p:cNvPicPr>
          <p:nvPr/>
        </p:nvPicPr>
        <p:blipFill>
          <a:blip xmlns:r="http://schemas.openxmlformats.org/officeDocument/2006/relationships" xmlns:a="http://schemas.openxmlformats.org/drawingml/2006/main" r:embed="R6f8833cfb9304574"/>
          <a:srcRect xmlns:a="http://schemas.openxmlformats.org/drawingml/2006/main" l="0" t="0" r="0" b="0"/>
          <a:stretch xmlns:a="http://schemas.openxmlformats.org/drawingml/2006/main">
            <a:fillRect l="0" t="0" r="0" b="0"/>
          </a:stretch>
        </p:blipFill>
        <p:spPr>
          <a:xfrm xmlns:a="http://schemas.openxmlformats.org/drawingml/2006/main" rot="0" flipH="0" flipV="0">
            <a:off x="4669898" y="3714750"/>
            <a:ext cx="2852204" cy="1765753"/>
          </a:xfrm>
          <a:prstGeom xmlns:a="http://schemas.openxmlformats.org/drawingml/2006/main" prst="rect">
            <a:avLst/>
          </a:prstGeom>
        </p:spPr>
      </p:pic>
    </p:spTree>
    <p:extLst>
      <p:ext uri="{BB962C8B-B14F-4D97-AF65-F5344CB8AC3E}">
        <p14:creationId xmlns:p14="http://schemas.microsoft.com/office/powerpoint/2010/main" val="2990279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6DA79FC5-E31A-4DC7-BD01-41425A6420B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14EE4F6D-0229-4B3B-A161-83216CBD8C36}"/>
              </a:ext>
            </a:extLst>
          </p:cNvPr>
          <p:cNvSpPr>
            <a:spLocks xmlns:a="http://schemas.openxmlformats.org/drawingml/2006/main" noGrp="1"/>
          </p:cNvSpPr>
          <p:nvPr/>
        </p:nvSpPr>
        <p:spPr>
          <a:xfrm xmlns:a="http://schemas.openxmlformats.org/drawingml/2006/main" rot="0" flipH="0" flipV="0">
            <a:off x="271145" y="1021713"/>
            <a:ext cx="40894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5.1.1</a:t>
            </a:r>
            <a:r>
              <a:rPr sz="2400" b="1">
                <a:solidFill>
                  <a:schemeClr val="accent1"/>
                </a:solidFill>
                <a:latin typeface="+mj-lt"/>
                <a:ea typeface="+mj-lt"/>
                <a:cs typeface="+mj-lt"/>
              </a:rPr>
              <a:t>机器人学习算法概述</a:t>
            </a:r>
          </a:p>
        </p:txBody>
      </p:sp>
      <p:sp>
        <p:nvSpPr>
          <p:cNvPr id="7" name="矩形 6">
            <a:extLst xmlns:a="http://schemas.openxmlformats.org/drawingml/2006/main">
              <a:ext uri="{FF2B5EF4-FFF2-40B4-BE49-F238E27FC236}">
                <a16:creationId xmlns:a16="http://schemas.microsoft.com/office/drawing/2014/main" id="{4C31317B-6204-49E7-BD0D-3D7750879A3B}"/>
              </a:ext>
            </a:extLst>
          </p:cNvPr>
          <p:cNvSpPr>
            <a:spLocks xmlns:a="http://schemas.openxmlformats.org/drawingml/2006/main" noGrp="1"/>
          </p:cNvSpPr>
          <p:nvPr/>
        </p:nvSpPr>
        <p:spPr>
          <a:xfrm xmlns:a="http://schemas.openxmlformats.org/drawingml/2006/main" rot="0" flipH="0" flipV="0">
            <a:off x="4505960" y="1449705"/>
            <a:ext cx="2788285" cy="586105"/>
          </a:xfrm>
          <a:prstGeom xmlns:a="http://schemas.openxmlformats.org/drawingml/2006/main" prst="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2" name="Google Shape;102;p14">
            <a:extLst xmlns:a="http://schemas.openxmlformats.org/drawingml/2006/main">
              <a:ext uri="{FF2B5EF4-FFF2-40B4-BE49-F238E27FC236}">
                <a16:creationId xmlns:a16="http://schemas.microsoft.com/office/drawing/2014/main" id="{CEF3948F-7269-40F8-BCE6-AA033BF3DC93}"/>
              </a:ext>
            </a:extLst>
          </p:cNvPr>
          <p:cNvSpPr>
            <a:spLocks xmlns:a="http://schemas.openxmlformats.org/drawingml/2006/main" noGrp="1"/>
          </p:cNvSpPr>
          <p:nvPr/>
        </p:nvSpPr>
        <p:spPr>
          <a:xfrm xmlns:a="http://schemas.openxmlformats.org/drawingml/2006/main" rot="0" flipH="0" flipV="0">
            <a:off x="4585970" y="1613535"/>
            <a:ext cx="2623185" cy="3073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000" b="1" i="0" u="none" cap="none">
                <a:solidFill>
                  <a:schemeClr val="bg1"/>
                </a:solidFill>
                <a:latin typeface="Urbanist"/>
                <a:ea typeface="Urbanist"/>
                <a:cs typeface="Urbanist"/>
              </a:rPr>
              <a:t>机器人学习算法演变史</a:t>
            </a:r>
          </a:p>
        </p:txBody>
      </p:sp>
      <p:sp>
        <p:nvSpPr>
          <p:cNvPr id="103" name="Google Shape;103;p14">
            <a:extLst xmlns:a="http://schemas.openxmlformats.org/drawingml/2006/main">
              <a:ext uri="{FF2B5EF4-FFF2-40B4-BE49-F238E27FC236}">
                <a16:creationId xmlns:a16="http://schemas.microsoft.com/office/drawing/2014/main" id="{8137784D-7A49-41C6-827C-49973EDCC0F2}"/>
              </a:ext>
            </a:extLst>
          </p:cNvPr>
          <p:cNvSpPr>
            <a:spLocks xmlns:a="http://schemas.openxmlformats.org/drawingml/2006/main" noGrp="1"/>
          </p:cNvSpPr>
          <p:nvPr/>
        </p:nvSpPr>
        <p:spPr>
          <a:xfrm xmlns:a="http://schemas.openxmlformats.org/drawingml/2006/main">
            <a:off x="271145" y="6341338"/>
            <a:ext cx="10668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500" b="0" i="1" u="none" cap="none">
                <a:solidFill>
                  <a:schemeClr val="tx1"/>
                </a:solidFill>
                <a:latin typeface="Urbanist"/>
                <a:ea typeface="Urbanist"/>
                <a:cs typeface="Urbanist"/>
              </a:rPr>
              <a:t>“从无需显式编程的自学，到模拟人类感知的深度神经网络，算法实现了跨代跃迁。”</a:t>
            </a:r>
          </a:p>
        </p:txBody>
      </p:sp>
      <p:sp>
        <p:nvSpPr>
          <p:cNvPr id="6" name="Google Shape;93;p14">
            <a:extLst xmlns:a="http://schemas.openxmlformats.org/drawingml/2006/main">
              <a:ext uri="{FF2B5EF4-FFF2-40B4-BE49-F238E27FC236}">
                <a16:creationId xmlns:a16="http://schemas.microsoft.com/office/drawing/2014/main" id="{19D8B38A-A94B-4310-8CF5-F9CAAF1E6F4A}"/>
              </a:ext>
            </a:extLst>
          </p:cNvPr>
          <p:cNvSpPr>
            <a:spLocks xmlns:a="http://schemas.openxmlformats.org/drawingml/2006/main" noGrp="1"/>
          </p:cNvSpPr>
          <p:nvPr/>
        </p:nvSpPr>
        <p:spPr>
          <a:xfrm xmlns:a="http://schemas.openxmlformats.org/drawingml/2006/main">
            <a:off x="566420" y="2285365"/>
            <a:ext cx="10668000" cy="36195"/>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b="0" i="0" u="none" cap="none">
              <a:solidFill>
                <a:schemeClr val="tx1"/>
              </a:solidFill>
              <a:highlight>
                <a:srgbClr val="00FF00"/>
              </a:highlight>
              <a:latin typeface="Calibri"/>
              <a:ea typeface="Calibri"/>
              <a:cs typeface="Calibri"/>
            </a:endParaRPr>
          </a:p>
        </p:txBody>
      </p:sp>
      <p:sp>
        <p:nvSpPr>
          <p:cNvPr id="94" name="Google Shape;94;p14">
            <a:extLst xmlns:a="http://schemas.openxmlformats.org/drawingml/2006/main">
              <a:ext uri="{FF2B5EF4-FFF2-40B4-BE49-F238E27FC236}">
                <a16:creationId xmlns:a16="http://schemas.microsoft.com/office/drawing/2014/main" id="{FD06621E-6E56-4F14-98A4-69D04889A71F}"/>
              </a:ext>
            </a:extLst>
          </p:cNvPr>
          <p:cNvSpPr>
            <a:spLocks xmlns:a="http://schemas.openxmlformats.org/drawingml/2006/main" noGrp="1"/>
          </p:cNvSpPr>
          <p:nvPr/>
        </p:nvSpPr>
        <p:spPr>
          <a:xfrm xmlns:a="http://schemas.openxmlformats.org/drawingml/2006/main">
            <a:off x="1682750" y="2237740"/>
            <a:ext cx="114300" cy="114300"/>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b="0" i="0" u="none" cap="none">
              <a:solidFill>
                <a:schemeClr val="tx1"/>
              </a:solidFill>
              <a:highlight>
                <a:srgbClr val="00FF00"/>
              </a:highlight>
              <a:latin typeface="Calibri"/>
              <a:ea typeface="Calibri"/>
              <a:cs typeface="Calibri"/>
            </a:endParaRPr>
          </a:p>
        </p:txBody>
      </p:sp>
      <p:sp>
        <p:nvSpPr>
          <p:cNvPr id="96" name="Google Shape;96;p14">
            <a:extLst xmlns:a="http://schemas.openxmlformats.org/drawingml/2006/main">
              <a:ext uri="{FF2B5EF4-FFF2-40B4-BE49-F238E27FC236}">
                <a16:creationId xmlns:a16="http://schemas.microsoft.com/office/drawing/2014/main" id="{5FDD2FDB-172D-4319-A7BB-E6925D942DF9}"/>
              </a:ext>
            </a:extLst>
          </p:cNvPr>
          <p:cNvSpPr>
            <a:spLocks xmlns:a="http://schemas.openxmlformats.org/drawingml/2006/main" noGrp="1"/>
          </p:cNvSpPr>
          <p:nvPr/>
        </p:nvSpPr>
        <p:spPr>
          <a:xfrm xmlns:a="http://schemas.openxmlformats.org/drawingml/2006/main">
            <a:off x="4456430" y="2237740"/>
            <a:ext cx="114300" cy="114300"/>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b="0" i="0" u="none" cap="none">
              <a:solidFill>
                <a:schemeClr val="tx1"/>
              </a:solidFill>
              <a:highlight>
                <a:srgbClr val="00FF00"/>
              </a:highlight>
              <a:latin typeface="Calibri"/>
              <a:ea typeface="Calibri"/>
              <a:cs typeface="Calibri"/>
            </a:endParaRPr>
          </a:p>
        </p:txBody>
      </p:sp>
      <p:sp>
        <p:nvSpPr>
          <p:cNvPr id="98" name="Google Shape;98;p14">
            <a:extLst xmlns:a="http://schemas.openxmlformats.org/drawingml/2006/main">
              <a:ext uri="{FF2B5EF4-FFF2-40B4-BE49-F238E27FC236}">
                <a16:creationId xmlns:a16="http://schemas.microsoft.com/office/drawing/2014/main" id="{F1F9D70D-4269-4E98-AD39-2C437500C520}"/>
              </a:ext>
            </a:extLst>
          </p:cNvPr>
          <p:cNvSpPr>
            <a:spLocks xmlns:a="http://schemas.openxmlformats.org/drawingml/2006/main" noGrp="1"/>
          </p:cNvSpPr>
          <p:nvPr/>
        </p:nvSpPr>
        <p:spPr>
          <a:xfrm xmlns:a="http://schemas.openxmlformats.org/drawingml/2006/main">
            <a:off x="7230110" y="2237740"/>
            <a:ext cx="114300" cy="114300"/>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b="0" i="0" u="none" cap="none">
              <a:solidFill>
                <a:schemeClr val="tx1"/>
              </a:solidFill>
              <a:highlight>
                <a:srgbClr val="00FF00"/>
              </a:highlight>
              <a:latin typeface="Calibri"/>
              <a:ea typeface="Calibri"/>
              <a:cs typeface="Calibri"/>
            </a:endParaRPr>
          </a:p>
        </p:txBody>
      </p:sp>
      <p:sp>
        <p:nvSpPr>
          <p:cNvPr id="100" name="Google Shape;100;p14">
            <a:extLst xmlns:a="http://schemas.openxmlformats.org/drawingml/2006/main">
              <a:ext uri="{FF2B5EF4-FFF2-40B4-BE49-F238E27FC236}">
                <a16:creationId xmlns:a16="http://schemas.microsoft.com/office/drawing/2014/main" id="{715999FB-B390-4EF9-A31D-687F43AFD073}"/>
              </a:ext>
            </a:extLst>
          </p:cNvPr>
          <p:cNvSpPr>
            <a:spLocks xmlns:a="http://schemas.openxmlformats.org/drawingml/2006/main" noGrp="1"/>
          </p:cNvSpPr>
          <p:nvPr/>
        </p:nvSpPr>
        <p:spPr>
          <a:xfrm xmlns:a="http://schemas.openxmlformats.org/drawingml/2006/main">
            <a:off x="10003790" y="2237740"/>
            <a:ext cx="114300" cy="114300"/>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b="0" i="0" u="none" cap="none">
              <a:solidFill>
                <a:schemeClr val="tx1"/>
              </a:solidFill>
              <a:highlight>
                <a:srgbClr val="00FF00"/>
              </a:highlight>
              <a:latin typeface="Calibri"/>
              <a:ea typeface="Calibri"/>
              <a:cs typeface="Calibri"/>
            </a:endParaRPr>
          </a:p>
        </p:txBody>
      </p:sp>
      <p:sp>
        <p:nvSpPr>
          <p:cNvPr id="95" name="Google Shape;95;p14">
            <a:extLst xmlns:a="http://schemas.openxmlformats.org/drawingml/2006/main">
              <a:ext uri="{FF2B5EF4-FFF2-40B4-BE49-F238E27FC236}">
                <a16:creationId xmlns:a16="http://schemas.microsoft.com/office/drawing/2014/main" id="{82A2DCD9-CB8D-4C82-ABE7-7E7F1AB130E8}"/>
              </a:ext>
            </a:extLst>
          </p:cNvPr>
          <p:cNvSpPr>
            <a:spLocks xmlns:a="http://schemas.openxmlformats.org/drawingml/2006/main" noGrp="1"/>
          </p:cNvSpPr>
          <p:nvPr/>
        </p:nvSpPr>
        <p:spPr>
          <a:xfrm xmlns:a="http://schemas.openxmlformats.org/drawingml/2006/main" rot="0" flipH="0" flipV="0">
            <a:off x="541655" y="2538095"/>
            <a:ext cx="246443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500" b="1" i="0" u="none" cap="none">
                <a:solidFill>
                  <a:schemeClr val="tx1"/>
                </a:solidFill>
                <a:latin typeface="微软雅黑"/>
                <a:ea typeface="微软雅黑"/>
                <a:cs typeface="微软雅黑"/>
              </a:rPr>
              <a:t>1952-1959</a:t>
            </a:r>
          </a:p>
        </p:txBody>
      </p:sp>
      <p:sp>
        <p:nvSpPr>
          <p:cNvPr id="104" name="Google Shape;104;p14">
            <a:extLst xmlns:a="http://schemas.openxmlformats.org/drawingml/2006/main">
              <a:ext uri="{FF2B5EF4-FFF2-40B4-BE49-F238E27FC236}">
                <a16:creationId xmlns:a16="http://schemas.microsoft.com/office/drawing/2014/main" id="{E767F366-E3DB-4131-A401-CE53EA504659}"/>
              </a:ext>
            </a:extLst>
          </p:cNvPr>
          <p:cNvSpPr>
            <a:spLocks xmlns:a="http://schemas.openxmlformats.org/drawingml/2006/main" noGrp="1"/>
          </p:cNvSpPr>
          <p:nvPr/>
        </p:nvSpPr>
        <p:spPr>
          <a:xfrm xmlns:a="http://schemas.openxmlformats.org/drawingml/2006/main" rot="0" flipH="0" flipV="0">
            <a:off x="600075" y="2900045"/>
            <a:ext cx="2346960" cy="5162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60000"/>
              </a:lnSpc>
              <a:spcBef>
                <a:spcPts val="0"/>
              </a:spcBef>
              <a:spcAft>
                <a:spcPts val="0"/>
              </a:spcAft>
              <a:buNone/>
            </a:pPr>
            <a:r>
              <a:rPr sz="1050" b="0" i="0" u="none" cap="none">
                <a:solidFill>
                  <a:schemeClr val="tx1"/>
                </a:solidFill>
                <a:latin typeface="微软雅黑"/>
                <a:ea typeface="微软雅黑"/>
                <a:cs typeface="微软雅黑"/>
              </a:rPr>
              <a:t>Arthur Samuel 定义“机器学习”，开发首个跳棋自学程序。</a:t>
            </a:r>
          </a:p>
        </p:txBody>
      </p:sp>
      <p:pic>
        <p:nvPicPr>
          <p:cNvPr id="124" name="图片 8"/>
          <p:cNvPicPr>
            <a:picLocks xmlns:a="http://schemas.openxmlformats.org/drawingml/2006/main" noChangeAspect="1"/>
          </p:cNvPicPr>
          <p:nvPr/>
        </p:nvPicPr>
        <p:blipFill>
          <a:blip xmlns:r="http://schemas.openxmlformats.org/officeDocument/2006/relationships" xmlns:a="http://schemas.openxmlformats.org/drawingml/2006/main" r:embed="Rb56deffd14f5491e"/>
          <a:stretch xmlns:a="http://schemas.openxmlformats.org/drawingml/2006/main">
            <a:fillRect l="0" t="0" r="0" b="0"/>
          </a:stretch>
        </p:blipFill>
        <p:spPr>
          <a:xfrm xmlns:a="http://schemas.openxmlformats.org/drawingml/2006/main" rot="0" flipH="0" flipV="0">
            <a:off x="705485" y="3549650"/>
            <a:ext cx="2068830" cy="2649220"/>
          </a:xfrm>
          <a:prstGeom xmlns:a="http://schemas.openxmlformats.org/drawingml/2006/main" prst="rect">
            <a:avLst/>
          </a:prstGeom>
        </p:spPr>
      </p:pic>
      <p:sp>
        <p:nvSpPr>
          <p:cNvPr id="97" name="Google Shape;97;p14">
            <a:extLst xmlns:a="http://schemas.openxmlformats.org/drawingml/2006/main">
              <a:ext uri="{FF2B5EF4-FFF2-40B4-BE49-F238E27FC236}">
                <a16:creationId xmlns:a16="http://schemas.microsoft.com/office/drawing/2014/main" id="{A77A81D0-E077-4FB9-A222-826ED3C32BB6}"/>
              </a:ext>
            </a:extLst>
          </p:cNvPr>
          <p:cNvSpPr>
            <a:spLocks xmlns:a="http://schemas.openxmlformats.org/drawingml/2006/main" noGrp="1"/>
          </p:cNvSpPr>
          <p:nvPr/>
        </p:nvSpPr>
        <p:spPr>
          <a:xfrm xmlns:a="http://schemas.openxmlformats.org/drawingml/2006/main" rot="0" flipH="0" flipV="0">
            <a:off x="3315335" y="2538095"/>
            <a:ext cx="246443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500" b="1" i="0" u="none" cap="none">
                <a:solidFill>
                  <a:schemeClr val="tx1"/>
                </a:solidFill>
                <a:latin typeface="微软雅黑"/>
                <a:ea typeface="微软雅黑"/>
                <a:cs typeface="微软雅黑"/>
              </a:rPr>
              <a:t>1986</a:t>
            </a:r>
          </a:p>
        </p:txBody>
      </p:sp>
      <p:sp>
        <p:nvSpPr>
          <p:cNvPr id="105" name="Google Shape;105;p14">
            <a:extLst xmlns:a="http://schemas.openxmlformats.org/drawingml/2006/main">
              <a:ext uri="{FF2B5EF4-FFF2-40B4-BE49-F238E27FC236}">
                <a16:creationId xmlns:a16="http://schemas.microsoft.com/office/drawing/2014/main" id="{051BAA59-81F7-48EC-86B8-56B5E267B1B5}"/>
              </a:ext>
            </a:extLst>
          </p:cNvPr>
          <p:cNvSpPr>
            <a:spLocks xmlns:a="http://schemas.openxmlformats.org/drawingml/2006/main" noGrp="1"/>
          </p:cNvSpPr>
          <p:nvPr/>
        </p:nvSpPr>
        <p:spPr>
          <a:xfrm xmlns:a="http://schemas.openxmlformats.org/drawingml/2006/main" rot="0" flipH="0" flipV="0">
            <a:off x="3373755" y="2900045"/>
            <a:ext cx="2346960" cy="77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60000"/>
              </a:lnSpc>
              <a:spcBef>
                <a:spcPts val="0"/>
              </a:spcBef>
              <a:spcAft>
                <a:spcPts val="0"/>
              </a:spcAft>
              <a:buNone/>
            </a:pPr>
            <a:r>
              <a:rPr sz="1050" b="0" i="0" u="none" cap="none">
                <a:solidFill>
                  <a:schemeClr val="tx1"/>
                </a:solidFill>
                <a:latin typeface="微软雅黑"/>
                <a:ea typeface="微软雅黑"/>
                <a:cs typeface="微软雅黑"/>
              </a:rPr>
              <a:t>Rumelhart</a:t>
            </a:r>
            <a:r>
              <a:rPr sz="1050" b="0" i="0" u="none" cap="none">
                <a:solidFill>
                  <a:schemeClr val="tx1"/>
                </a:solidFill>
                <a:latin typeface="微软雅黑"/>
                <a:ea typeface="微软雅黑"/>
                <a:cs typeface="微软雅黑"/>
              </a:rPr>
              <a:t>，</a:t>
            </a:r>
            <a:r>
              <a:rPr sz="1050" b="0" i="0" u="none" cap="none">
                <a:solidFill>
                  <a:schemeClr val="tx1"/>
                </a:solidFill>
                <a:latin typeface="微软雅黑"/>
                <a:ea typeface="微软雅黑"/>
                <a:cs typeface="微软雅黑"/>
              </a:rPr>
              <a:t>Hinton </a:t>
            </a:r>
            <a:r>
              <a:rPr sz="1050" b="0" i="0" u="none" cap="none">
                <a:solidFill>
                  <a:schemeClr val="tx1"/>
                </a:solidFill>
                <a:latin typeface="微软雅黑"/>
                <a:ea typeface="微软雅黑"/>
                <a:cs typeface="微软雅黑"/>
              </a:rPr>
              <a:t>和</a:t>
            </a:r>
            <a:r>
              <a:rPr sz="1050" b="0" i="0" u="none" cap="none">
                <a:solidFill>
                  <a:schemeClr val="tx1"/>
                </a:solidFill>
                <a:latin typeface="微软雅黑"/>
                <a:ea typeface="微软雅黑"/>
                <a:cs typeface="微软雅黑"/>
              </a:rPr>
              <a:t> Williams</a:t>
            </a:r>
            <a:r>
              <a:rPr sz="1050" b="0" i="0" u="none" cap="none">
                <a:solidFill>
                  <a:schemeClr val="tx1"/>
                </a:solidFill>
                <a:latin typeface="微软雅黑"/>
                <a:ea typeface="微软雅黑"/>
                <a:cs typeface="微软雅黑"/>
              </a:rPr>
              <a:t>提出</a:t>
            </a:r>
            <a:r>
              <a:rPr sz="1050" b="0" i="0" u="none" cap="none">
                <a:solidFill>
                  <a:schemeClr val="tx1"/>
                </a:solidFill>
                <a:latin typeface="微软雅黑"/>
                <a:ea typeface="微软雅黑"/>
                <a:cs typeface="微软雅黑"/>
              </a:rPr>
              <a:t>MLP 与反向传播 (BP) 算法；</a:t>
            </a:r>
            <a:r>
              <a:rPr sz="1050" b="0" i="0" u="none" cap="none">
                <a:solidFill>
                  <a:schemeClr val="tx1"/>
                </a:solidFill>
                <a:latin typeface="微软雅黑"/>
                <a:ea typeface="微软雅黑"/>
                <a:cs typeface="微软雅黑"/>
              </a:rPr>
              <a:t>Quinlan</a:t>
            </a:r>
            <a:r>
              <a:rPr sz="1050" b="0" i="0" u="none" cap="none">
                <a:solidFill>
                  <a:schemeClr val="tx1"/>
                </a:solidFill>
                <a:latin typeface="微软雅黑"/>
                <a:ea typeface="微软雅黑"/>
                <a:cs typeface="微软雅黑"/>
              </a:rPr>
              <a:t>提出</a:t>
            </a:r>
            <a:r>
              <a:rPr sz="1050" b="0" i="0" u="none" cap="none">
                <a:solidFill>
                  <a:schemeClr val="tx1"/>
                </a:solidFill>
                <a:latin typeface="微软雅黑"/>
                <a:ea typeface="微软雅黑"/>
                <a:cs typeface="微软雅黑"/>
              </a:rPr>
              <a:t>ID3 决策树算法。</a:t>
            </a:r>
          </a:p>
        </p:txBody>
      </p:sp>
      <p:pic>
        <p:nvPicPr>
          <p:cNvPr id="127" name="图片 18"/>
          <p:cNvPicPr>
            <a:picLocks xmlns:a="http://schemas.openxmlformats.org/drawingml/2006/main" noChangeAspect="1"/>
          </p:cNvPicPr>
          <p:nvPr/>
        </p:nvPicPr>
        <p:blipFill>
          <a:blip xmlns:r="http://schemas.openxmlformats.org/officeDocument/2006/relationships" xmlns:a="http://schemas.openxmlformats.org/drawingml/2006/main" r:embed="R53dc57bc73c04efe"/>
          <a:srcRect xmlns:a="http://schemas.openxmlformats.org/drawingml/2006/main" l="0" t="0" r="51823" b="1262"/>
          <a:stretch xmlns:a="http://schemas.openxmlformats.org/drawingml/2006/main">
            <a:fillRect l="0" t="0" r="0" b="0"/>
          </a:stretch>
        </p:blipFill>
        <p:spPr>
          <a:xfrm xmlns:a="http://schemas.openxmlformats.org/drawingml/2006/main" rot="0" flipH="0" flipV="0">
            <a:off x="3373755" y="3674745"/>
            <a:ext cx="2098040" cy="2633345"/>
          </a:xfrm>
          <a:prstGeom xmlns:a="http://schemas.openxmlformats.org/drawingml/2006/main" prst="rect">
            <a:avLst/>
          </a:prstGeom>
        </p:spPr>
      </p:pic>
      <p:sp>
        <p:nvSpPr>
          <p:cNvPr id="101" name="Google Shape;101;p14">
            <a:extLst xmlns:a="http://schemas.openxmlformats.org/drawingml/2006/main">
              <a:ext uri="{FF2B5EF4-FFF2-40B4-BE49-F238E27FC236}">
                <a16:creationId xmlns:a16="http://schemas.microsoft.com/office/drawing/2014/main" id="{1AD43114-EA0A-4A70-BAB3-86600FDE03E3}"/>
              </a:ext>
            </a:extLst>
          </p:cNvPr>
          <p:cNvSpPr>
            <a:spLocks xmlns:a="http://schemas.openxmlformats.org/drawingml/2006/main" noGrp="1"/>
          </p:cNvSpPr>
          <p:nvPr/>
        </p:nvSpPr>
        <p:spPr>
          <a:xfrm xmlns:a="http://schemas.openxmlformats.org/drawingml/2006/main" rot="0" flipH="0" flipV="0">
            <a:off x="8862695" y="2538095"/>
            <a:ext cx="246443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500" b="1" i="0" u="none" cap="none">
                <a:solidFill>
                  <a:schemeClr val="tx1"/>
                </a:solidFill>
                <a:latin typeface="微软雅黑"/>
                <a:ea typeface="微软雅黑"/>
                <a:cs typeface="微软雅黑"/>
              </a:rPr>
              <a:t>2013-至今</a:t>
            </a:r>
          </a:p>
        </p:txBody>
      </p:sp>
      <p:sp>
        <p:nvSpPr>
          <p:cNvPr id="107" name="Google Shape;107;p14">
            <a:extLst xmlns:a="http://schemas.openxmlformats.org/drawingml/2006/main">
              <a:ext uri="{FF2B5EF4-FFF2-40B4-BE49-F238E27FC236}">
                <a16:creationId xmlns:a16="http://schemas.microsoft.com/office/drawing/2014/main" id="{A822A5EC-1504-4371-AFA1-61DC837D4B02}"/>
              </a:ext>
            </a:extLst>
          </p:cNvPr>
          <p:cNvSpPr>
            <a:spLocks xmlns:a="http://schemas.openxmlformats.org/drawingml/2006/main" noGrp="1"/>
          </p:cNvSpPr>
          <p:nvPr/>
        </p:nvSpPr>
        <p:spPr>
          <a:xfrm xmlns:a="http://schemas.openxmlformats.org/drawingml/2006/main" rot="0" flipH="0" flipV="0">
            <a:off x="8921115" y="2947670"/>
            <a:ext cx="234696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60000"/>
              </a:lnSpc>
              <a:spcBef>
                <a:spcPts val="0"/>
              </a:spcBef>
              <a:spcAft>
                <a:spcPts val="0"/>
              </a:spcAft>
              <a:buNone/>
            </a:pPr>
            <a:r>
              <a:rPr sz="1050" b="0" i="0" u="none" cap="none">
                <a:solidFill>
                  <a:schemeClr val="tx1"/>
                </a:solidFill>
                <a:latin typeface="微软雅黑"/>
                <a:ea typeface="微软雅黑"/>
                <a:cs typeface="微软雅黑"/>
              </a:rPr>
              <a:t>DeepMind 结合强化学习；Transformer 模型引入全局感知。</a:t>
            </a:r>
          </a:p>
        </p:txBody>
      </p:sp>
      <p:pic>
        <p:nvPicPr>
          <p:cNvPr id="130" name="图片 19"/>
          <p:cNvPicPr>
            <a:picLocks xmlns:a="http://schemas.openxmlformats.org/drawingml/2006/main" noChangeAspect="1"/>
          </p:cNvPicPr>
          <p:nvPr/>
        </p:nvPicPr>
        <p:blipFill>
          <a:blip xmlns:r="http://schemas.openxmlformats.org/officeDocument/2006/relationships" xmlns:a="http://schemas.openxmlformats.org/drawingml/2006/main" r:embed="Rbe37bab4a2fe4c18"/>
          <a:stretch xmlns:a="http://schemas.openxmlformats.org/drawingml/2006/main">
            <a:fillRect l="0" t="0" r="0" b="0"/>
          </a:stretch>
        </p:blipFill>
        <p:spPr>
          <a:xfrm xmlns:a="http://schemas.openxmlformats.org/drawingml/2006/main" rot="0" flipH="0" flipV="0">
            <a:off x="8202930" y="3905250"/>
            <a:ext cx="3795395" cy="2044700"/>
          </a:xfrm>
          <a:prstGeom xmlns:a="http://schemas.openxmlformats.org/drawingml/2006/main" prst="rect">
            <a:avLst/>
          </a:prstGeom>
        </p:spPr>
      </p:pic>
      <p:sp>
        <p:nvSpPr>
          <p:cNvPr id="99" name="Google Shape;99;p14">
            <a:extLst xmlns:a="http://schemas.openxmlformats.org/drawingml/2006/main">
              <a:ext uri="{FF2B5EF4-FFF2-40B4-BE49-F238E27FC236}">
                <a16:creationId xmlns:a16="http://schemas.microsoft.com/office/drawing/2014/main" id="{5DC67E40-D336-43EE-A97F-E967FA9F7838}"/>
              </a:ext>
            </a:extLst>
          </p:cNvPr>
          <p:cNvSpPr>
            <a:spLocks xmlns:a="http://schemas.openxmlformats.org/drawingml/2006/main" noGrp="1"/>
          </p:cNvSpPr>
          <p:nvPr/>
        </p:nvSpPr>
        <p:spPr>
          <a:xfrm xmlns:a="http://schemas.openxmlformats.org/drawingml/2006/main" rot="0" flipH="0" flipV="0">
            <a:off x="6089015" y="2538095"/>
            <a:ext cx="246443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500" b="1" i="0" u="none" cap="none">
                <a:solidFill>
                  <a:schemeClr val="tx1"/>
                </a:solidFill>
                <a:latin typeface="微软雅黑"/>
                <a:ea typeface="微软雅黑"/>
                <a:cs typeface="微软雅黑"/>
              </a:rPr>
              <a:t>2006-2012</a:t>
            </a:r>
          </a:p>
        </p:txBody>
      </p:sp>
      <p:sp>
        <p:nvSpPr>
          <p:cNvPr id="106" name="Google Shape;106;p14">
            <a:extLst xmlns:a="http://schemas.openxmlformats.org/drawingml/2006/main">
              <a:ext uri="{FF2B5EF4-FFF2-40B4-BE49-F238E27FC236}">
                <a16:creationId xmlns:a16="http://schemas.microsoft.com/office/drawing/2014/main" id="{4533A165-F939-42A4-9F8A-1225D416FB73}"/>
              </a:ext>
            </a:extLst>
          </p:cNvPr>
          <p:cNvSpPr>
            <a:spLocks xmlns:a="http://schemas.openxmlformats.org/drawingml/2006/main" noGrp="1"/>
          </p:cNvSpPr>
          <p:nvPr/>
        </p:nvSpPr>
        <p:spPr>
          <a:xfrm xmlns:a="http://schemas.openxmlformats.org/drawingml/2006/main" rot="0" flipH="0" flipV="0">
            <a:off x="6147435" y="2900045"/>
            <a:ext cx="234696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60000"/>
              </a:lnSpc>
              <a:spcBef>
                <a:spcPts val="0"/>
              </a:spcBef>
              <a:spcAft>
                <a:spcPts val="0"/>
              </a:spcAft>
              <a:buNone/>
            </a:pPr>
            <a:r>
              <a:rPr sz="1050" b="0" i="0" u="none" cap="none">
                <a:solidFill>
                  <a:schemeClr val="tx1"/>
                </a:solidFill>
                <a:latin typeface="微软雅黑"/>
                <a:ea typeface="微软雅黑"/>
                <a:cs typeface="微软雅黑"/>
              </a:rPr>
              <a:t>Hinton 开启深度学习时代；CNN、LSTM 赋予机器人时空推理力。</a:t>
            </a:r>
          </a:p>
        </p:txBody>
      </p:sp>
      <p:pic>
        <p:nvPicPr>
          <p:cNvPr id="133" name="图片 21"/>
          <p:cNvPicPr>
            <a:picLocks xmlns:a="http://schemas.openxmlformats.org/drawingml/2006/main" noChangeAspect="1"/>
          </p:cNvPicPr>
          <p:nvPr/>
        </p:nvPicPr>
        <p:blipFill>
          <a:blip xmlns:r="http://schemas.openxmlformats.org/officeDocument/2006/relationships" xmlns:a="http://schemas.openxmlformats.org/drawingml/2006/main" r:embed="R53dc57bc73c04efe"/>
          <a:srcRect xmlns:a="http://schemas.openxmlformats.org/drawingml/2006/main" l="52377" t="0" r="0" b="-1071"/>
          <a:stretch xmlns:a="http://schemas.openxmlformats.org/drawingml/2006/main">
            <a:fillRect l="0" t="0" r="0" b="0"/>
          </a:stretch>
        </p:blipFill>
        <p:spPr>
          <a:xfrm xmlns:a="http://schemas.openxmlformats.org/drawingml/2006/main" rot="0" flipH="0" flipV="0">
            <a:off x="6105525" y="3612515"/>
            <a:ext cx="2073910" cy="2695575"/>
          </a:xfrm>
          <a:prstGeom xmlns:a="http://schemas.openxmlformats.org/drawingml/2006/main" prst="rect">
            <a:avLst/>
          </a:prstGeom>
        </p:spPr>
      </p:pic>
    </p:spTree>
    <p:extLst>
      <p:ext uri="{BB962C8B-B14F-4D97-AF65-F5344CB8AC3E}">
        <p14:creationId xmlns:p14="http://schemas.microsoft.com/office/powerpoint/2010/main" val="124611344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8" name="矩形 57">
            <a:extLst xmlns:a="http://schemas.openxmlformats.org/drawingml/2006/main">
              <a:ext uri="{FF2B5EF4-FFF2-40B4-BE49-F238E27FC236}">
                <a16:creationId xmlns:a16="http://schemas.microsoft.com/office/drawing/2014/main" id="{5BD88C3D-4959-2D2E-DEC7-38A1C02E244D}"/>
              </a:ext>
            </a:extLst>
          </p:cNvPr>
          <p:cNvSpPr>
            <a:spLocks xmlns:a="http://schemas.openxmlformats.org/drawingml/2006/main" noGrp="1"/>
          </p:cNvSpPr>
          <p:nvPr/>
        </p:nvSpPr>
        <p:spPr>
          <a:xfrm xmlns:a="http://schemas.openxmlformats.org/drawingml/2006/main" rot="0" flipH="0" flipV="0">
            <a:off x="-1" y="939798"/>
            <a:ext cx="5833533"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文本框 59">
            <a:extLst xmlns:a="http://schemas.openxmlformats.org/drawingml/2006/main">
              <a:ext uri="{FF2B5EF4-FFF2-40B4-BE49-F238E27FC236}">
                <a16:creationId xmlns:a16="http://schemas.microsoft.com/office/drawing/2014/main" id="{9A32A792-712C-3687-C17B-8B7C9D6EC1EB}"/>
              </a:ext>
            </a:extLst>
          </p:cNvPr>
          <p:cNvSpPr>
            <a:spLocks xmlns:a="http://schemas.openxmlformats.org/drawingml/2006/main" noGrp="1"/>
          </p:cNvSpPr>
          <p:nvPr/>
        </p:nvSpPr>
        <p:spPr>
          <a:xfrm xmlns:a="http://schemas.openxmlformats.org/drawingml/2006/main" rot="0" flipH="0" flipV="0">
            <a:off x="270932" y="1021703"/>
            <a:ext cx="757766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5.1.2 </a:t>
            </a:r>
            <a:r>
              <a:rPr sz="2400" b="1">
                <a:solidFill>
                  <a:schemeClr val="accent1"/>
                </a:solidFill>
                <a:latin typeface="+mj-lt"/>
                <a:ea typeface="+mj-lt"/>
                <a:cs typeface="+mj-lt"/>
              </a:rPr>
              <a:t>基于学习的机器人智能导航原理</a:t>
            </a:r>
          </a:p>
        </p:txBody>
      </p:sp>
      <p:pic>
        <p:nvPicPr>
          <p:cNvPr id="86" name="图片 2"/>
          <p:cNvPicPr>
            <a:picLocks xmlns:a="http://schemas.openxmlformats.org/drawingml/2006/main" noChangeAspect="1"/>
          </p:cNvPicPr>
          <p:nvPr/>
        </p:nvPicPr>
        <p:blipFill>
          <a:blip xmlns:r="http://schemas.openxmlformats.org/officeDocument/2006/relationships" xmlns:a="http://schemas.openxmlformats.org/drawingml/2006/main" r:embed="R0fc20ad6239b4d47"/>
          <a:stretch xmlns:a="http://schemas.openxmlformats.org/drawingml/2006/main">
            <a:fillRect l="0" t="0" r="0" b="0"/>
          </a:stretch>
        </p:blipFill>
        <p:spPr>
          <a:xfrm xmlns:a="http://schemas.openxmlformats.org/drawingml/2006/main">
            <a:off x="6256106" y="2613756"/>
            <a:ext cx="5115639" cy="2124371"/>
          </a:xfrm>
          <a:prstGeom xmlns:a="http://schemas.openxmlformats.org/drawingml/2006/main" prst="rect">
            <a:avLst/>
          </a:prstGeom>
        </p:spPr>
      </p:pic>
      <p:sp>
        <p:nvSpPr>
          <p:cNvPr id="4" name="矩形 3">
            <a:extLst xmlns:a="http://schemas.openxmlformats.org/drawingml/2006/main">
              <a:ext uri="{FF2B5EF4-FFF2-40B4-BE49-F238E27FC236}">
                <a16:creationId xmlns:a16="http://schemas.microsoft.com/office/drawing/2014/main" id="{104880F5-6384-CF59-50E6-103A8FAAD127}"/>
              </a:ext>
            </a:extLst>
          </p:cNvPr>
          <p:cNvSpPr>
            <a:spLocks xmlns:a="http://schemas.openxmlformats.org/drawingml/2006/main" noGrp="1"/>
          </p:cNvSpPr>
          <p:nvPr/>
        </p:nvSpPr>
        <p:spPr>
          <a:xfrm xmlns:a="http://schemas.openxmlformats.org/drawingml/2006/main">
            <a:off x="676182" y="1740489"/>
            <a:ext cx="3543067" cy="565754"/>
          </a:xfrm>
          <a:prstGeom xmlns:a="http://schemas.openxmlformats.org/drawingml/2006/main" prst="rect">
            <a:avLst/>
          </a:prstGeom>
          <a:solidFill xmlns:a="http://schemas.openxmlformats.org/drawingml/2006/main">
            <a:schemeClr val="accent3">
              <a:lumMod val="20000"/>
              <a:lumOff val="80000"/>
            </a:schemeClr>
          </a:solidFill>
          <a:ln xmlns:a="http://schemas.openxmlformats.org/drawingml/2006/main" w="1905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chemeClr val="accent1"/>
                </a:solidFill>
                <a:latin typeface="+mj-ea"/>
                <a:ea typeface="+mj-ea"/>
                <a:cs typeface="+mj-ea"/>
              </a:rPr>
              <a:t>导航算法</a:t>
            </a:r>
          </a:p>
        </p:txBody>
      </p:sp>
      <p:pic>
        <p:nvPicPr>
          <p:cNvPr id="88" name="Google Shape;91;p13"/>
          <p:cNvPicPr>
            <a:picLocks xmlns:a="http://schemas.openxmlformats.org/drawingml/2006/main" noChangeAspect="1"/>
          </p:cNvPicPr>
          <p:nvPr/>
        </p:nvPicPr>
        <p:blipFill rotWithShape="1">
          <a:blip xmlns:r="http://schemas.openxmlformats.org/officeDocument/2006/relationships" xmlns:a="http://schemas.openxmlformats.org/drawingml/2006/main" r:embed="Rea6c2d2411af432a"/>
          <a:srcRect xmlns:a="http://schemas.openxmlformats.org/drawingml/2006/main" l="0" t="0" r="0" b="0"/>
          <a:stretch xmlns:a="http://schemas.openxmlformats.org/drawingml/2006/main">
            <a:fillRect l="0" t="0" r="0" b="0"/>
          </a:stretch>
        </p:blipFill>
        <p:spPr>
          <a:xfrm xmlns:a="http://schemas.openxmlformats.org/drawingml/2006/main" rot="0" flipH="0" flipV="0">
            <a:off x="537189" y="2666765"/>
            <a:ext cx="5191125" cy="838200"/>
          </a:xfrm>
          <a:prstGeom xmlns:a="http://schemas.openxmlformats.org/drawingml/2006/main" prst="rect">
            <a:avLst/>
          </a:prstGeom>
          <a:ln xmlns:a="http://schemas.openxmlformats.org/drawingml/2006/main">
            <a:noFill/>
          </a:ln>
        </p:spPr>
      </p:pic>
      <p:sp>
        <p:nvSpPr>
          <p:cNvPr id="81" name="文本框 80">
            <a:extLst xmlns:a="http://schemas.openxmlformats.org/drawingml/2006/main">
              <a:ext uri="{FF2B5EF4-FFF2-40B4-BE49-F238E27FC236}">
                <a16:creationId xmlns:a16="http://schemas.microsoft.com/office/drawing/2014/main" id="{273D80C2-7721-A415-2680-388D7825B2B7}"/>
              </a:ext>
            </a:extLst>
          </p:cNvPr>
          <p:cNvSpPr>
            <a:spLocks xmlns:a="http://schemas.openxmlformats.org/drawingml/2006/main" noGrp="1"/>
          </p:cNvSpPr>
          <p:nvPr/>
        </p:nvSpPr>
        <p:spPr>
          <a:xfrm xmlns:a="http://schemas.openxmlformats.org/drawingml/2006/main" rot="0" flipH="0" flipV="0">
            <a:off x="641649" y="2535065"/>
            <a:ext cx="5349133"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基于地图：</a:t>
            </a:r>
            <a:r>
              <a:rPr sz="2000">
                <a:latin typeface="+mj-ea"/>
                <a:ea typeface="+mj-ea"/>
                <a:cs typeface="+mj-ea"/>
              </a:rPr>
              <a:t>根据完整度量、拓扑地图规划路径</a:t>
            </a:r>
            <a:endParaRPr sz="2000" kern="1300">
              <a:latin typeface="+mj-ea"/>
              <a:ea typeface="+mj-ea"/>
              <a:cs typeface="+mj-ea"/>
            </a:endParaRPr>
          </a:p>
        </p:txBody>
      </p:sp>
      <p:sp>
        <p:nvSpPr>
          <p:cNvPr id="6" name="文本框 5">
            <a:extLst xmlns:a="http://schemas.openxmlformats.org/drawingml/2006/main">
              <a:ext uri="{FF2B5EF4-FFF2-40B4-BE49-F238E27FC236}">
                <a16:creationId xmlns:a16="http://schemas.microsoft.com/office/drawing/2014/main" id="{7CE17375-C383-D2C4-A0D8-659A0E24A739}"/>
              </a:ext>
            </a:extLst>
          </p:cNvPr>
          <p:cNvSpPr>
            <a:spLocks xmlns:a="http://schemas.openxmlformats.org/drawingml/2006/main" noGrp="1"/>
          </p:cNvSpPr>
          <p:nvPr/>
        </p:nvSpPr>
        <p:spPr>
          <a:xfrm xmlns:a="http://schemas.openxmlformats.org/drawingml/2006/main" rot="0" flipH="0" flipV="0">
            <a:off x="641649" y="2965836"/>
            <a:ext cx="5191125"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无地图：</a:t>
            </a:r>
            <a:r>
              <a:rPr sz="2000">
                <a:latin typeface="+mj-ea"/>
                <a:ea typeface="+mj-ea"/>
                <a:cs typeface="+mj-ea"/>
              </a:rPr>
              <a:t>实时感知、地标跟踪、导航避障</a:t>
            </a:r>
            <a:endParaRPr sz="2000" kern="1300">
              <a:latin typeface="+mj-ea"/>
              <a:ea typeface="+mj-ea"/>
              <a:cs typeface="+mj-ea"/>
            </a:endParaRPr>
          </a:p>
        </p:txBody>
      </p:sp>
      <p:sp>
        <p:nvSpPr>
          <p:cNvPr id="9" name="文本框 8">
            <a:extLst xmlns:a="http://schemas.openxmlformats.org/drawingml/2006/main">
              <a:ext uri="{FF2B5EF4-FFF2-40B4-BE49-F238E27FC236}">
                <a16:creationId xmlns:a16="http://schemas.microsoft.com/office/drawing/2014/main" id="{72D19FCD-3E47-7107-95D6-14D63B730ECB}"/>
              </a:ext>
            </a:extLst>
          </p:cNvPr>
          <p:cNvSpPr>
            <a:spLocks xmlns:a="http://schemas.openxmlformats.org/drawingml/2006/main" noGrp="1"/>
          </p:cNvSpPr>
          <p:nvPr/>
        </p:nvSpPr>
        <p:spPr>
          <a:xfrm xmlns:a="http://schemas.openxmlformats.org/drawingml/2006/main">
            <a:off x="2337626" y="4125258"/>
            <a:ext cx="1722139"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b="1">
                <a:solidFill>
                  <a:schemeClr val="accent1"/>
                </a:solidFill>
                <a:latin typeface="+mj-ea"/>
                <a:ea typeface="+mj-ea"/>
                <a:cs typeface="+mj-ea"/>
              </a:rPr>
              <a:t>定位</a:t>
            </a:r>
          </a:p>
        </p:txBody>
      </p:sp>
      <p:sp>
        <p:nvSpPr>
          <p:cNvPr id="10" name="文本框 9">
            <a:extLst xmlns:a="http://schemas.openxmlformats.org/drawingml/2006/main">
              <a:ext uri="{FF2B5EF4-FFF2-40B4-BE49-F238E27FC236}">
                <a16:creationId xmlns:a16="http://schemas.microsoft.com/office/drawing/2014/main" id="{EC399019-4B43-87F7-071E-162F66014B34}"/>
              </a:ext>
            </a:extLst>
          </p:cNvPr>
          <p:cNvSpPr>
            <a:spLocks xmlns:a="http://schemas.openxmlformats.org/drawingml/2006/main" noGrp="1"/>
          </p:cNvSpPr>
          <p:nvPr/>
        </p:nvSpPr>
        <p:spPr>
          <a:xfrm xmlns:a="http://schemas.openxmlformats.org/drawingml/2006/main">
            <a:off x="2455145" y="4787745"/>
            <a:ext cx="1722139"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b="1">
                <a:solidFill>
                  <a:schemeClr val="accent1"/>
                </a:solidFill>
                <a:latin typeface="+mj-ea"/>
                <a:ea typeface="+mj-ea"/>
                <a:cs typeface="+mj-ea"/>
              </a:rPr>
              <a:t>地图构建</a:t>
            </a:r>
          </a:p>
        </p:txBody>
      </p:sp>
      <p:sp>
        <p:nvSpPr>
          <p:cNvPr id="11" name="文本框 10">
            <a:extLst xmlns:a="http://schemas.openxmlformats.org/drawingml/2006/main">
              <a:ext uri="{FF2B5EF4-FFF2-40B4-BE49-F238E27FC236}">
                <a16:creationId xmlns:a16="http://schemas.microsoft.com/office/drawing/2014/main" id="{BD4B9E48-3BCE-4684-8844-A6432B4FA6ED}"/>
              </a:ext>
            </a:extLst>
          </p:cNvPr>
          <p:cNvSpPr>
            <a:spLocks xmlns:a="http://schemas.openxmlformats.org/drawingml/2006/main" noGrp="1"/>
          </p:cNvSpPr>
          <p:nvPr/>
        </p:nvSpPr>
        <p:spPr>
          <a:xfrm xmlns:a="http://schemas.openxmlformats.org/drawingml/2006/main">
            <a:off x="2493689" y="5466965"/>
            <a:ext cx="1722139"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b="1">
                <a:solidFill>
                  <a:schemeClr val="accent1"/>
                </a:solidFill>
                <a:latin typeface="+mj-ea"/>
                <a:ea typeface="+mj-ea"/>
                <a:cs typeface="+mj-ea"/>
              </a:rPr>
              <a:t>路径规划</a:t>
            </a:r>
          </a:p>
        </p:txBody>
      </p:sp>
      <p:sp>
        <p:nvSpPr>
          <p:cNvPr id="14" name="矩形 13">
            <a:extLst xmlns:a="http://schemas.openxmlformats.org/drawingml/2006/main">
              <a:ext uri="{FF2B5EF4-FFF2-40B4-BE49-F238E27FC236}">
                <a16:creationId xmlns:a16="http://schemas.microsoft.com/office/drawing/2014/main" id="{A04F4BF0-048E-1EFB-4E68-E9AC81E0D7E4}"/>
              </a:ext>
            </a:extLst>
          </p:cNvPr>
          <p:cNvSpPr>
            <a:spLocks xmlns:a="http://schemas.openxmlformats.org/drawingml/2006/main" noGrp="1"/>
          </p:cNvSpPr>
          <p:nvPr/>
        </p:nvSpPr>
        <p:spPr>
          <a:xfrm xmlns:a="http://schemas.openxmlformats.org/drawingml/2006/main">
            <a:off x="641649" y="4642094"/>
            <a:ext cx="1574501" cy="565754"/>
          </a:xfrm>
          <a:prstGeom xmlns:a="http://schemas.openxmlformats.org/drawingml/2006/main" prst="rect">
            <a:avLst/>
          </a:prstGeom>
          <a:solidFill xmlns:a="http://schemas.openxmlformats.org/drawingml/2006/main">
            <a:schemeClr val="accent3">
              <a:lumMod val="20000"/>
              <a:lumOff val="80000"/>
            </a:schemeClr>
          </a:solidFill>
          <a:ln xmlns:a="http://schemas.openxmlformats.org/drawingml/2006/main" w="1905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chemeClr val="accent1"/>
                </a:solidFill>
                <a:latin typeface="+mj-ea"/>
                <a:ea typeface="+mj-ea"/>
                <a:cs typeface="+mj-ea"/>
              </a:rPr>
              <a:t>子任务</a:t>
            </a:r>
          </a:p>
        </p:txBody>
      </p:sp>
    </p:spTree>
    <p:extLst>
      <p:ext uri="{BB962C8B-B14F-4D97-AF65-F5344CB8AC3E}">
        <p14:creationId xmlns:p14="http://schemas.microsoft.com/office/powerpoint/2010/main" val="2370362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8" name="矩形 57">
            <a:extLst xmlns:a="http://schemas.openxmlformats.org/drawingml/2006/main">
              <a:ext uri="{FF2B5EF4-FFF2-40B4-BE49-F238E27FC236}">
                <a16:creationId xmlns:a16="http://schemas.microsoft.com/office/drawing/2014/main" id="{753463F3-96A1-8ABF-C97C-E199A915A79A}"/>
              </a:ext>
            </a:extLst>
          </p:cNvPr>
          <p:cNvSpPr>
            <a:spLocks xmlns:a="http://schemas.openxmlformats.org/drawingml/2006/main" noGrp="1"/>
          </p:cNvSpPr>
          <p:nvPr/>
        </p:nvSpPr>
        <p:spPr>
          <a:xfrm xmlns:a="http://schemas.openxmlformats.org/drawingml/2006/main" rot="0" flipH="0" flipV="0">
            <a:off x="-1" y="939798"/>
            <a:ext cx="5833533"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文本框 59">
            <a:extLst xmlns:a="http://schemas.openxmlformats.org/drawingml/2006/main">
              <a:ext uri="{FF2B5EF4-FFF2-40B4-BE49-F238E27FC236}">
                <a16:creationId xmlns:a16="http://schemas.microsoft.com/office/drawing/2014/main" id="{76963938-08B3-E34A-2089-4B8349015CA0}"/>
              </a:ext>
            </a:extLst>
          </p:cNvPr>
          <p:cNvSpPr>
            <a:spLocks xmlns:a="http://schemas.openxmlformats.org/drawingml/2006/main" noGrp="1"/>
          </p:cNvSpPr>
          <p:nvPr/>
        </p:nvSpPr>
        <p:spPr>
          <a:xfrm xmlns:a="http://schemas.openxmlformats.org/drawingml/2006/main" rot="0" flipH="0" flipV="0">
            <a:off x="270932" y="1021703"/>
            <a:ext cx="757766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5.1.2 </a:t>
            </a:r>
            <a:r>
              <a:rPr sz="2400" b="1">
                <a:solidFill>
                  <a:schemeClr val="accent1"/>
                </a:solidFill>
                <a:latin typeface="+mj-lt"/>
                <a:ea typeface="+mj-lt"/>
                <a:cs typeface="+mj-lt"/>
              </a:rPr>
              <a:t>基于学习的机器人智能导航原理</a:t>
            </a:r>
          </a:p>
        </p:txBody>
      </p:sp>
      <p:sp>
        <p:nvSpPr>
          <p:cNvPr id="83" name="文本框 82">
            <a:extLst xmlns:a="http://schemas.openxmlformats.org/drawingml/2006/main">
              <a:ext uri="{FF2B5EF4-FFF2-40B4-BE49-F238E27FC236}">
                <a16:creationId xmlns:a16="http://schemas.microsoft.com/office/drawing/2014/main" id="{D7D3F672-2F42-7007-FAFC-89FA70FA6CD9}"/>
              </a:ext>
            </a:extLst>
          </p:cNvPr>
          <p:cNvSpPr>
            <a:spLocks xmlns:a="http://schemas.openxmlformats.org/drawingml/2006/main" noGrp="1"/>
          </p:cNvSpPr>
          <p:nvPr/>
        </p:nvSpPr>
        <p:spPr>
          <a:xfrm xmlns:a="http://schemas.openxmlformats.org/drawingml/2006/main">
            <a:off x="5028679" y="7841755"/>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多场景</a:t>
            </a:r>
            <a:r>
              <a:rPr sz="2000" b="1">
                <a:latin typeface="+mj-ea"/>
                <a:ea typeface="+mj-ea"/>
                <a:cs typeface="+mj-ea"/>
              </a:rPr>
              <a:t>自适应鲁棒</a:t>
            </a:r>
            <a:endParaRPr sz="2000" b="1" kern="1300">
              <a:latin typeface="+mj-ea"/>
              <a:ea typeface="+mj-ea"/>
              <a:cs typeface="+mj-ea"/>
            </a:endParaRPr>
          </a:p>
        </p:txBody>
      </p:sp>
      <p:pic>
        <p:nvPicPr>
          <p:cNvPr id="92" name="图片 3"/>
          <p:cNvPicPr>
            <a:picLocks xmlns:a="http://schemas.openxmlformats.org/drawingml/2006/main" noChangeAspect="1"/>
          </p:cNvPicPr>
          <p:nvPr/>
        </p:nvPicPr>
        <p:blipFill>
          <a:blip xmlns:r="http://schemas.openxmlformats.org/officeDocument/2006/relationships" xmlns:a="http://schemas.openxmlformats.org/drawingml/2006/main" r:embed="R33aca8e5d6f3466f"/>
          <a:stretch xmlns:a="http://schemas.openxmlformats.org/drawingml/2006/main">
            <a:fillRect l="0" t="0" r="0" b="0"/>
          </a:stretch>
        </p:blipFill>
        <p:spPr>
          <a:xfrm xmlns:a="http://schemas.openxmlformats.org/drawingml/2006/main">
            <a:off x="5833532" y="939798"/>
            <a:ext cx="6129646" cy="2397443"/>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23430D89-AA5D-A682-E262-452B1FCD88CB}"/>
              </a:ext>
            </a:extLst>
          </p:cNvPr>
          <p:cNvSpPr>
            <a:spLocks xmlns:a="http://schemas.openxmlformats.org/drawingml/2006/main" noGrp="1"/>
          </p:cNvSpPr>
          <p:nvPr/>
        </p:nvSpPr>
        <p:spPr>
          <a:xfrm xmlns:a="http://schemas.openxmlformats.org/drawingml/2006/main">
            <a:off x="6533737" y="3467872"/>
            <a:ext cx="472923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a:latin typeface="+mj-ea"/>
                <a:ea typeface="+mj-ea"/>
                <a:cs typeface="+mj-ea"/>
              </a:rPr>
              <a:t>三维室内场景中的智能导航示例</a:t>
            </a:r>
          </a:p>
        </p:txBody>
      </p:sp>
      <p:sp>
        <p:nvSpPr>
          <p:cNvPr id="71" name="矩形 70">
            <a:extLst xmlns:a="http://schemas.openxmlformats.org/drawingml/2006/main">
              <a:ext uri="{FF2B5EF4-FFF2-40B4-BE49-F238E27FC236}">
                <a16:creationId xmlns:a16="http://schemas.microsoft.com/office/drawing/2014/main" id="{BCF92637-5A38-3508-DC3E-CE268D88C162}"/>
              </a:ext>
            </a:extLst>
          </p:cNvPr>
          <p:cNvSpPr>
            <a:spLocks xmlns:a="http://schemas.openxmlformats.org/drawingml/2006/main" noGrp="1"/>
          </p:cNvSpPr>
          <p:nvPr/>
        </p:nvSpPr>
        <p:spPr>
          <a:xfrm xmlns:a="http://schemas.openxmlformats.org/drawingml/2006/main" rot="0" flipH="0" flipV="0">
            <a:off x="1174457" y="1644234"/>
            <a:ext cx="2731235" cy="434885"/>
          </a:xfrm>
          <a:prstGeom xmlns:a="http://schemas.openxmlformats.org/drawingml/2006/main" prst="rect">
            <a:avLst/>
          </a:prstGeom>
          <a:solidFill xmlns:a="http://schemas.openxmlformats.org/drawingml/2006/main">
            <a:srgbClr val="C00000">
              <a:alpha val="10000"/>
            </a:srgbClr>
          </a:solidFill>
          <a:ln xmlns:a="http://schemas.openxmlformats.org/drawingml/2006/main" w="19050">
            <a:solidFill>
              <a:srgbClr val="C0000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rgbClr val="C00000"/>
                </a:solidFill>
                <a:latin typeface="+mj-ea"/>
                <a:ea typeface="+mj-ea"/>
                <a:cs typeface="+mj-ea"/>
              </a:rPr>
              <a:t>传统机器学习导航</a:t>
            </a:r>
          </a:p>
        </p:txBody>
      </p:sp>
      <p:sp>
        <p:nvSpPr>
          <p:cNvPr id="7" name="矩形 6">
            <a:extLst xmlns:a="http://schemas.openxmlformats.org/drawingml/2006/main">
              <a:ext uri="{FF2B5EF4-FFF2-40B4-BE49-F238E27FC236}">
                <a16:creationId xmlns:a16="http://schemas.microsoft.com/office/drawing/2014/main" id="{EB6C097C-3B23-26AD-A686-BA8AAB5C2715}"/>
              </a:ext>
            </a:extLst>
          </p:cNvPr>
          <p:cNvSpPr>
            <a:spLocks xmlns:a="http://schemas.openxmlformats.org/drawingml/2006/main" noGrp="1"/>
          </p:cNvSpPr>
          <p:nvPr/>
        </p:nvSpPr>
        <p:spPr>
          <a:xfrm xmlns:a="http://schemas.openxmlformats.org/drawingml/2006/main" rot="0" flipH="0" flipV="0">
            <a:off x="1318609" y="4372473"/>
            <a:ext cx="2311692" cy="434885"/>
          </a:xfrm>
          <a:prstGeom xmlns:a="http://schemas.openxmlformats.org/drawingml/2006/main" prst="rect">
            <a:avLst/>
          </a:prstGeom>
          <a:solidFill xmlns:a="http://schemas.openxmlformats.org/drawingml/2006/main">
            <a:srgbClr val="C00000">
              <a:alpha val="10000"/>
            </a:srgbClr>
          </a:solidFill>
          <a:ln xmlns:a="http://schemas.openxmlformats.org/drawingml/2006/main" w="19050">
            <a:solidFill>
              <a:srgbClr val="C0000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rgbClr val="C00000"/>
                </a:solidFill>
                <a:latin typeface="+mj-ea"/>
                <a:ea typeface="+mj-ea"/>
                <a:cs typeface="+mj-ea"/>
              </a:rPr>
              <a:t>深度学习导航</a:t>
            </a:r>
          </a:p>
        </p:txBody>
      </p:sp>
      <p:sp>
        <p:nvSpPr>
          <p:cNvPr id="8" name="矩形 7">
            <a:extLst xmlns:a="http://schemas.openxmlformats.org/drawingml/2006/main">
              <a:ext uri="{FF2B5EF4-FFF2-40B4-BE49-F238E27FC236}">
                <a16:creationId xmlns:a16="http://schemas.microsoft.com/office/drawing/2014/main" id="{E1EBF910-A3E8-98C3-FC05-EC08200CCA34}"/>
              </a:ext>
            </a:extLst>
          </p:cNvPr>
          <p:cNvSpPr>
            <a:spLocks xmlns:a="http://schemas.openxmlformats.org/drawingml/2006/main" noGrp="1"/>
          </p:cNvSpPr>
          <p:nvPr/>
        </p:nvSpPr>
        <p:spPr>
          <a:xfrm xmlns:a="http://schemas.openxmlformats.org/drawingml/2006/main" rot="0" flipH="0" flipV="0">
            <a:off x="6482108" y="3965491"/>
            <a:ext cx="2642630" cy="434885"/>
          </a:xfrm>
          <a:prstGeom xmlns:a="http://schemas.openxmlformats.org/drawingml/2006/main" prst="rect">
            <a:avLst/>
          </a:prstGeom>
          <a:solidFill xmlns:a="http://schemas.openxmlformats.org/drawingml/2006/main">
            <a:srgbClr val="C00000">
              <a:alpha val="10000"/>
            </a:srgbClr>
          </a:solidFill>
          <a:ln xmlns:a="http://schemas.openxmlformats.org/drawingml/2006/main" w="19050">
            <a:solidFill>
              <a:srgbClr val="C0000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rgbClr val="C00000"/>
                </a:solidFill>
                <a:latin typeface="+mj-ea"/>
                <a:ea typeface="+mj-ea"/>
                <a:cs typeface="+mj-ea"/>
              </a:rPr>
              <a:t>强化学习导航</a:t>
            </a:r>
          </a:p>
        </p:txBody>
      </p:sp>
      <p:sp>
        <p:nvSpPr>
          <p:cNvPr id="10" name="文本框 9">
            <a:extLst xmlns:a="http://schemas.openxmlformats.org/drawingml/2006/main">
              <a:ext uri="{FF2B5EF4-FFF2-40B4-BE49-F238E27FC236}">
                <a16:creationId xmlns:a16="http://schemas.microsoft.com/office/drawing/2014/main" id="{C441357A-2C12-624D-956D-E29DBBAE50F8}"/>
              </a:ext>
            </a:extLst>
          </p:cNvPr>
          <p:cNvSpPr>
            <a:spLocks xmlns:a="http://schemas.openxmlformats.org/drawingml/2006/main" noGrp="1"/>
          </p:cNvSpPr>
          <p:nvPr/>
        </p:nvSpPr>
        <p:spPr>
          <a:xfrm xmlns:a="http://schemas.openxmlformats.org/drawingml/2006/main" rot="0" flipH="0" flipV="0">
            <a:off x="3254141" y="3507227"/>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支持向量机</a:t>
            </a:r>
            <a:endParaRPr sz="2000" b="1" kern="1300">
              <a:latin typeface="+mj-ea"/>
              <a:ea typeface="+mj-ea"/>
              <a:cs typeface="+mj-ea"/>
            </a:endParaRPr>
          </a:p>
        </p:txBody>
      </p:sp>
      <p:pic>
        <p:nvPicPr>
          <p:cNvPr id="98" name="图片 14"/>
          <p:cNvPicPr>
            <a:picLocks xmlns:a="http://schemas.openxmlformats.org/drawingml/2006/main" noChangeAspect="1"/>
          </p:cNvPicPr>
          <p:nvPr/>
        </p:nvPicPr>
        <p:blipFill>
          <a:blip xmlns:r="http://schemas.openxmlformats.org/officeDocument/2006/relationships" xmlns:a="http://schemas.openxmlformats.org/drawingml/2006/main" r:embed="Rdd8b1b4dffb647c9"/>
          <a:stretch xmlns:a="http://schemas.openxmlformats.org/drawingml/2006/main">
            <a:fillRect l="0" t="0" r="0" b="0"/>
          </a:stretch>
        </p:blipFill>
        <p:spPr>
          <a:xfrm xmlns:a="http://schemas.openxmlformats.org/drawingml/2006/main" rot="0" flipH="0" flipV="0">
            <a:off x="463386" y="2223439"/>
            <a:ext cx="2373019" cy="1414483"/>
          </a:xfrm>
          <a:prstGeom xmlns:a="http://schemas.openxmlformats.org/drawingml/2006/main" prst="rect">
            <a:avLst/>
          </a:prstGeom>
        </p:spPr>
      </p:pic>
      <p:pic>
        <p:nvPicPr>
          <p:cNvPr id="99" name="图片 5"/>
          <p:cNvPicPr>
            <a:picLocks xmlns:a="http://schemas.openxmlformats.org/drawingml/2006/main" noChangeAspect="1"/>
          </p:cNvPicPr>
          <p:nvPr/>
        </p:nvPicPr>
        <p:blipFill>
          <a:blip xmlns:r="http://schemas.openxmlformats.org/officeDocument/2006/relationships" xmlns:a="http://schemas.openxmlformats.org/drawingml/2006/main" r:embed="R0c9fbb2aa97148d0"/>
          <a:srcRect xmlns:a="http://schemas.openxmlformats.org/drawingml/2006/main" l="0" t="4658" r="0" b="0"/>
          <a:stretch xmlns:a="http://schemas.openxmlformats.org/drawingml/2006/main">
            <a:fillRect l="0" t="0" r="0" b="0"/>
          </a:stretch>
        </p:blipFill>
        <p:spPr>
          <a:xfrm xmlns:a="http://schemas.openxmlformats.org/drawingml/2006/main" rot="0" flipH="0" flipV="0">
            <a:off x="3307666" y="2094700"/>
            <a:ext cx="2093390" cy="1577491"/>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95B8057E-CDBF-4569-9F9A-27DC87EDFBC9}"/>
              </a:ext>
            </a:extLst>
          </p:cNvPr>
          <p:cNvSpPr>
            <a:spLocks xmlns:a="http://schemas.openxmlformats.org/drawingml/2006/main" noGrp="1"/>
          </p:cNvSpPr>
          <p:nvPr/>
        </p:nvSpPr>
        <p:spPr>
          <a:xfrm xmlns:a="http://schemas.openxmlformats.org/drawingml/2006/main" rot="0" flipH="0" flipV="0">
            <a:off x="533260" y="3512388"/>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决策树</a:t>
            </a:r>
            <a:r>
              <a:rPr sz="2000" b="1">
                <a:solidFill>
                  <a:srgbClr val="0D2D7F"/>
                </a:solidFill>
                <a:latin typeface="+mj-ea"/>
                <a:ea typeface="+mj-ea"/>
                <a:cs typeface="+mj-ea"/>
              </a:rPr>
              <a:t>     </a:t>
            </a:r>
            <a:r>
              <a:rPr sz="2000" b="1">
                <a:solidFill>
                  <a:srgbClr val="0D2D7F"/>
                </a:solidFill>
                <a:latin typeface="+mj-ea"/>
                <a:ea typeface="+mj-ea"/>
                <a:cs typeface="+mj-ea"/>
              </a:rPr>
              <a:t>随机森林</a:t>
            </a:r>
            <a:endParaRPr sz="2000" b="1" kern="1300">
              <a:latin typeface="+mj-ea"/>
              <a:ea typeface="+mj-ea"/>
              <a:cs typeface="+mj-ea"/>
            </a:endParaRPr>
          </a:p>
        </p:txBody>
      </p:sp>
      <p:sp>
        <p:nvSpPr>
          <p:cNvPr id="14" name="文本框 13">
            <a:extLst xmlns:a="http://schemas.openxmlformats.org/drawingml/2006/main">
              <a:ext uri="{FF2B5EF4-FFF2-40B4-BE49-F238E27FC236}">
                <a16:creationId xmlns:a16="http://schemas.microsoft.com/office/drawing/2014/main" id="{32EE635C-6E68-9D70-D40C-0545F79FD90C}"/>
              </a:ext>
            </a:extLst>
          </p:cNvPr>
          <p:cNvSpPr>
            <a:spLocks xmlns:a="http://schemas.openxmlformats.org/drawingml/2006/main" noGrp="1"/>
          </p:cNvSpPr>
          <p:nvPr/>
        </p:nvSpPr>
        <p:spPr>
          <a:xfrm xmlns:a="http://schemas.openxmlformats.org/drawingml/2006/main" rot="0" flipH="0" flipV="0">
            <a:off x="1230354" y="3866669"/>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a:latin typeface="+mj-ea"/>
                <a:ea typeface="+mj-ea"/>
                <a:cs typeface="+mj-ea"/>
              </a:rPr>
              <a:t>简单路径决策、避障</a:t>
            </a:r>
            <a:endParaRPr sz="2000" kern="1300">
              <a:latin typeface="+mj-ea"/>
              <a:ea typeface="+mj-ea"/>
              <a:cs typeface="+mj-ea"/>
            </a:endParaRPr>
          </a:p>
        </p:txBody>
      </p:sp>
      <p:sp>
        <p:nvSpPr>
          <p:cNvPr id="81" name="文本框 80">
            <a:extLst xmlns:a="http://schemas.openxmlformats.org/drawingml/2006/main">
              <a:ext uri="{FF2B5EF4-FFF2-40B4-BE49-F238E27FC236}">
                <a16:creationId xmlns:a16="http://schemas.microsoft.com/office/drawing/2014/main" id="{592CFDD7-0EA1-D461-7E4D-0A5F0FE64741}"/>
              </a:ext>
            </a:extLst>
          </p:cNvPr>
          <p:cNvSpPr>
            <a:spLocks xmlns:a="http://schemas.openxmlformats.org/drawingml/2006/main" noGrp="1"/>
          </p:cNvSpPr>
          <p:nvPr/>
        </p:nvSpPr>
        <p:spPr>
          <a:xfrm xmlns:a="http://schemas.openxmlformats.org/drawingml/2006/main" rot="0" flipH="0" flipV="0">
            <a:off x="463387" y="4871061"/>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环境语义感知</a:t>
            </a:r>
            <a:endParaRPr sz="2000" b="1" kern="1300">
              <a:latin typeface="+mj-ea"/>
              <a:ea typeface="+mj-ea"/>
              <a:cs typeface="+mj-ea"/>
            </a:endParaRPr>
          </a:p>
        </p:txBody>
      </p:sp>
      <p:sp>
        <p:nvSpPr>
          <p:cNvPr id="82" name="文本框 81">
            <a:extLst xmlns:a="http://schemas.openxmlformats.org/drawingml/2006/main">
              <a:ext uri="{FF2B5EF4-FFF2-40B4-BE49-F238E27FC236}">
                <a16:creationId xmlns:a16="http://schemas.microsoft.com/office/drawing/2014/main" id="{2F813CAF-8810-0B94-5C95-7ACF2DA56FD4}"/>
              </a:ext>
            </a:extLst>
          </p:cNvPr>
          <p:cNvSpPr>
            <a:spLocks xmlns:a="http://schemas.openxmlformats.org/drawingml/2006/main" noGrp="1"/>
          </p:cNvSpPr>
          <p:nvPr/>
        </p:nvSpPr>
        <p:spPr>
          <a:xfrm xmlns:a="http://schemas.openxmlformats.org/drawingml/2006/main" rot="0" flipH="0" flipV="0">
            <a:off x="463386" y="5319759"/>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状态估计</a:t>
            </a:r>
            <a:endParaRPr sz="2000" b="1" kern="1300">
              <a:solidFill>
                <a:srgbClr val="0D2D7F"/>
              </a:solidFill>
              <a:latin typeface="+mj-ea"/>
              <a:ea typeface="+mj-ea"/>
              <a:cs typeface="+mj-ea"/>
            </a:endParaRPr>
          </a:p>
        </p:txBody>
      </p:sp>
      <p:sp>
        <p:nvSpPr>
          <p:cNvPr id="11" name="文本框 10">
            <a:extLst xmlns:a="http://schemas.openxmlformats.org/drawingml/2006/main">
              <a:ext uri="{FF2B5EF4-FFF2-40B4-BE49-F238E27FC236}">
                <a16:creationId xmlns:a16="http://schemas.microsoft.com/office/drawing/2014/main" id="{B6706C77-0613-00E2-EC6A-322DF9259C90}"/>
              </a:ext>
            </a:extLst>
          </p:cNvPr>
          <p:cNvSpPr>
            <a:spLocks xmlns:a="http://schemas.openxmlformats.org/drawingml/2006/main" noGrp="1"/>
          </p:cNvSpPr>
          <p:nvPr/>
        </p:nvSpPr>
        <p:spPr>
          <a:xfrm xmlns:a="http://schemas.openxmlformats.org/drawingml/2006/main" rot="0" flipH="0" flipV="0">
            <a:off x="463386" y="5736831"/>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同步定位与建图</a:t>
            </a:r>
            <a:r>
              <a:rPr sz="2000" b="1">
                <a:solidFill>
                  <a:srgbClr val="0D2D7F"/>
                </a:solidFill>
                <a:latin typeface="+mj-ea"/>
                <a:ea typeface="+mj-ea"/>
                <a:cs typeface="+mj-ea"/>
              </a:rPr>
              <a:t>(SLAM)</a:t>
            </a:r>
            <a:endParaRPr sz="2000" b="1" kern="1300">
              <a:solidFill>
                <a:srgbClr val="0D2D7F"/>
              </a:solidFill>
              <a:latin typeface="+mj-ea"/>
              <a:ea typeface="+mj-ea"/>
              <a:cs typeface="+mj-ea"/>
            </a:endParaRPr>
          </a:p>
        </p:txBody>
      </p:sp>
      <p:pic>
        <p:nvPicPr>
          <p:cNvPr id="105" name="图片 16"/>
          <p:cNvPicPr>
            <a:picLocks xmlns:a="http://schemas.openxmlformats.org/drawingml/2006/main" noChangeAspect="1"/>
          </p:cNvPicPr>
          <p:nvPr/>
        </p:nvPicPr>
        <p:blipFill>
          <a:blip xmlns:r="http://schemas.openxmlformats.org/officeDocument/2006/relationships" xmlns:a="http://schemas.openxmlformats.org/drawingml/2006/main" r:embed="R715ac9bd572a46f4"/>
          <a:stretch xmlns:a="http://schemas.openxmlformats.org/drawingml/2006/main">
            <a:fillRect l="0" t="0" r="0" b="0"/>
          </a:stretch>
        </p:blipFill>
        <p:spPr>
          <a:xfrm xmlns:a="http://schemas.openxmlformats.org/drawingml/2006/main" rot="0" flipH="0" flipV="0">
            <a:off x="3533498" y="4853068"/>
            <a:ext cx="2513651" cy="1001920"/>
          </a:xfrm>
          <a:prstGeom xmlns:a="http://schemas.openxmlformats.org/drawingml/2006/main" prst="rect">
            <a:avLst/>
          </a:prstGeom>
        </p:spPr>
      </p:pic>
      <p:sp>
        <p:nvSpPr>
          <p:cNvPr id="18" name="文本框 17">
            <a:extLst xmlns:a="http://schemas.openxmlformats.org/drawingml/2006/main">
              <a:ext uri="{FF2B5EF4-FFF2-40B4-BE49-F238E27FC236}">
                <a16:creationId xmlns:a16="http://schemas.microsoft.com/office/drawing/2014/main" id="{202054CD-CE54-7519-65F2-EC006BFEC845}"/>
              </a:ext>
            </a:extLst>
          </p:cNvPr>
          <p:cNvSpPr>
            <a:spLocks xmlns:a="http://schemas.openxmlformats.org/drawingml/2006/main" noGrp="1"/>
          </p:cNvSpPr>
          <p:nvPr/>
        </p:nvSpPr>
        <p:spPr>
          <a:xfrm xmlns:a="http://schemas.openxmlformats.org/drawingml/2006/main" rot="0" flipH="0" flipV="0">
            <a:off x="3533498" y="5900698"/>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latin typeface="+mj-ea"/>
                <a:ea typeface="+mj-ea"/>
                <a:cs typeface="+mj-ea"/>
              </a:rPr>
              <a:t>PointNet</a:t>
            </a:r>
            <a:r>
              <a:rPr sz="2000" b="1">
                <a:latin typeface="+mj-ea"/>
                <a:ea typeface="+mj-ea"/>
                <a:cs typeface="+mj-ea"/>
              </a:rPr>
              <a:t>、</a:t>
            </a:r>
            <a:r>
              <a:rPr sz="2000" b="1">
                <a:latin typeface="+mj-ea"/>
                <a:ea typeface="+mj-ea"/>
                <a:cs typeface="+mj-ea"/>
              </a:rPr>
              <a:t>SegNet</a:t>
            </a:r>
            <a:r>
              <a:rPr sz="2000" b="1">
                <a:latin typeface="+mj-ea"/>
                <a:ea typeface="+mj-ea"/>
                <a:cs typeface="+mj-ea"/>
              </a:rPr>
              <a:t> …</a:t>
            </a:r>
          </a:p>
        </p:txBody>
      </p:sp>
      <p:sp>
        <p:nvSpPr>
          <p:cNvPr id="21" name="文本框 20">
            <a:extLst xmlns:a="http://schemas.openxmlformats.org/drawingml/2006/main">
              <a:ext uri="{FF2B5EF4-FFF2-40B4-BE49-F238E27FC236}">
                <a16:creationId xmlns:a16="http://schemas.microsoft.com/office/drawing/2014/main" id="{DCD67D83-7870-ED20-E486-3A95AC46E111}"/>
              </a:ext>
            </a:extLst>
          </p:cNvPr>
          <p:cNvSpPr>
            <a:spLocks xmlns:a="http://schemas.openxmlformats.org/drawingml/2006/main" noGrp="1"/>
          </p:cNvSpPr>
          <p:nvPr/>
        </p:nvSpPr>
        <p:spPr>
          <a:xfrm xmlns:a="http://schemas.openxmlformats.org/drawingml/2006/main" rot="0" flipH="0" flipV="0">
            <a:off x="6656685" y="5197074"/>
            <a:ext cx="3619847"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基于值函数</a:t>
            </a:r>
            <a:r>
              <a:rPr sz="2000" b="1">
                <a:solidFill>
                  <a:srgbClr val="0D2D7F"/>
                </a:solidFill>
                <a:latin typeface="+mj-ea"/>
                <a:ea typeface="+mj-ea"/>
                <a:cs typeface="+mj-ea"/>
              </a:rPr>
              <a:t>	</a:t>
            </a:r>
            <a:r>
              <a:rPr sz="2000" b="1">
                <a:latin typeface="+mj-ea"/>
                <a:ea typeface="+mj-ea"/>
                <a:cs typeface="+mj-ea"/>
              </a:rPr>
              <a:t>Q-learning</a:t>
            </a:r>
            <a:endParaRPr sz="2000" b="1" kern="1300">
              <a:latin typeface="+mj-ea"/>
              <a:ea typeface="+mj-ea"/>
              <a:cs typeface="+mj-ea"/>
            </a:endParaRPr>
          </a:p>
        </p:txBody>
      </p:sp>
      <p:sp>
        <p:nvSpPr>
          <p:cNvPr id="22" name="文本框 21">
            <a:extLst xmlns:a="http://schemas.openxmlformats.org/drawingml/2006/main">
              <a:ext uri="{FF2B5EF4-FFF2-40B4-BE49-F238E27FC236}">
                <a16:creationId xmlns:a16="http://schemas.microsoft.com/office/drawing/2014/main" id="{08821C52-F4B3-344B-56B0-33BB0D271E74}"/>
              </a:ext>
            </a:extLst>
          </p:cNvPr>
          <p:cNvSpPr>
            <a:spLocks xmlns:a="http://schemas.openxmlformats.org/drawingml/2006/main" noGrp="1"/>
          </p:cNvSpPr>
          <p:nvPr/>
        </p:nvSpPr>
        <p:spPr>
          <a:xfrm xmlns:a="http://schemas.openxmlformats.org/drawingml/2006/main" rot="0" flipH="0" flipV="0">
            <a:off x="6656684" y="5645772"/>
            <a:ext cx="4083805"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基于策略梯度</a:t>
            </a:r>
            <a:r>
              <a:rPr sz="2000" b="1">
                <a:solidFill>
                  <a:srgbClr val="0D2D7F"/>
                </a:solidFill>
                <a:latin typeface="+mj-ea"/>
                <a:ea typeface="+mj-ea"/>
                <a:cs typeface="+mj-ea"/>
              </a:rPr>
              <a:t>	</a:t>
            </a:r>
            <a:r>
              <a:rPr sz="2000" b="1">
                <a:latin typeface="+mj-ea"/>
                <a:ea typeface="+mj-ea"/>
                <a:cs typeface="+mj-ea"/>
              </a:rPr>
              <a:t>PPO</a:t>
            </a:r>
            <a:r>
              <a:rPr sz="2000" b="1">
                <a:latin typeface="+mj-ea"/>
                <a:ea typeface="+mj-ea"/>
                <a:cs typeface="+mj-ea"/>
              </a:rPr>
              <a:t>、</a:t>
            </a:r>
            <a:r>
              <a:rPr sz="2000" b="1">
                <a:latin typeface="+mj-ea"/>
                <a:ea typeface="+mj-ea"/>
                <a:cs typeface="+mj-ea"/>
              </a:rPr>
              <a:t>DPG</a:t>
            </a:r>
            <a:endParaRPr sz="2000" b="1" kern="1300">
              <a:latin typeface="+mj-ea"/>
              <a:ea typeface="+mj-ea"/>
              <a:cs typeface="+mj-ea"/>
            </a:endParaRPr>
          </a:p>
        </p:txBody>
      </p:sp>
      <p:sp>
        <p:nvSpPr>
          <p:cNvPr id="23" name="文本框 22">
            <a:extLst xmlns:a="http://schemas.openxmlformats.org/drawingml/2006/main">
              <a:ext uri="{FF2B5EF4-FFF2-40B4-BE49-F238E27FC236}">
                <a16:creationId xmlns:a16="http://schemas.microsoft.com/office/drawing/2014/main" id="{303AD0D4-6D77-7286-924F-870E71DB9C96}"/>
              </a:ext>
            </a:extLst>
          </p:cNvPr>
          <p:cNvSpPr>
            <a:spLocks xmlns:a="http://schemas.openxmlformats.org/drawingml/2006/main" noGrp="1"/>
          </p:cNvSpPr>
          <p:nvPr/>
        </p:nvSpPr>
        <p:spPr>
          <a:xfrm xmlns:a="http://schemas.openxmlformats.org/drawingml/2006/main" rot="0" flipH="0" flipV="0">
            <a:off x="6656684" y="6062844"/>
            <a:ext cx="4606288"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基于深度强化学习</a:t>
            </a:r>
            <a:r>
              <a:rPr sz="2000" b="1">
                <a:solidFill>
                  <a:srgbClr val="0D2D7F"/>
                </a:solidFill>
                <a:latin typeface="+mj-ea"/>
                <a:ea typeface="+mj-ea"/>
                <a:cs typeface="+mj-ea"/>
              </a:rPr>
              <a:t>  </a:t>
            </a:r>
            <a:r>
              <a:rPr sz="2000" b="1">
                <a:latin typeface="+mj-ea"/>
                <a:ea typeface="+mj-ea"/>
                <a:cs typeface="+mj-ea"/>
              </a:rPr>
              <a:t>DQN</a:t>
            </a:r>
            <a:r>
              <a:rPr sz="2000" b="1">
                <a:latin typeface="+mj-ea"/>
                <a:ea typeface="+mj-ea"/>
                <a:cs typeface="+mj-ea"/>
              </a:rPr>
              <a:t>、</a:t>
            </a:r>
            <a:r>
              <a:rPr sz="2000" b="1">
                <a:latin typeface="+mj-ea"/>
                <a:ea typeface="+mj-ea"/>
                <a:cs typeface="+mj-ea"/>
              </a:rPr>
              <a:t>DDPG</a:t>
            </a:r>
            <a:endParaRPr sz="2000" b="1" kern="1300">
              <a:latin typeface="+mj-ea"/>
              <a:ea typeface="+mj-ea"/>
              <a:cs typeface="+mj-ea"/>
            </a:endParaRPr>
          </a:p>
        </p:txBody>
      </p:sp>
      <p:sp>
        <p:nvSpPr>
          <p:cNvPr id="24" name="文本框 23">
            <a:extLst xmlns:a="http://schemas.openxmlformats.org/drawingml/2006/main">
              <a:ext uri="{FF2B5EF4-FFF2-40B4-BE49-F238E27FC236}">
                <a16:creationId xmlns:a16="http://schemas.microsoft.com/office/drawing/2014/main" id="{EE6370E8-CED5-439E-3ABD-BC3DC8A4B332}"/>
              </a:ext>
            </a:extLst>
          </p:cNvPr>
          <p:cNvSpPr>
            <a:spLocks xmlns:a="http://schemas.openxmlformats.org/drawingml/2006/main" noGrp="1"/>
          </p:cNvSpPr>
          <p:nvPr/>
        </p:nvSpPr>
        <p:spPr>
          <a:xfrm xmlns:a="http://schemas.openxmlformats.org/drawingml/2006/main" rot="0" flipH="0" flipV="0">
            <a:off x="6814115" y="4521400"/>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a:latin typeface="+mj-ea"/>
                <a:ea typeface="+mj-ea"/>
                <a:cs typeface="+mj-ea"/>
              </a:rPr>
              <a:t>Agent</a:t>
            </a:r>
            <a:r>
              <a:rPr sz="2000">
                <a:latin typeface="+mj-ea"/>
                <a:ea typeface="+mj-ea"/>
                <a:cs typeface="+mj-ea"/>
              </a:rPr>
              <a:t>自主探索导航</a:t>
            </a:r>
            <a:endParaRPr sz="2000" kern="1300">
              <a:latin typeface="+mj-ea"/>
              <a:ea typeface="+mj-ea"/>
              <a:cs typeface="+mj-ea"/>
            </a:endParaRPr>
          </a:p>
        </p:txBody>
      </p:sp>
      <p:pic>
        <p:nvPicPr>
          <p:cNvPr id="111" name="图片 25"/>
          <p:cNvPicPr>
            <a:picLocks xmlns:a="http://schemas.openxmlformats.org/drawingml/2006/main" noChangeAspect="1"/>
          </p:cNvPicPr>
          <p:nvPr/>
        </p:nvPicPr>
        <p:blipFill>
          <a:blip xmlns:r="http://schemas.openxmlformats.org/officeDocument/2006/relationships" xmlns:a="http://schemas.openxmlformats.org/drawingml/2006/main" r:embed="R1831f53228db4460"/>
          <a:stretch xmlns:a="http://schemas.openxmlformats.org/drawingml/2006/main">
            <a:fillRect l="0" t="0" r="0" b="0"/>
          </a:stretch>
        </p:blipFill>
        <p:spPr>
          <a:xfrm xmlns:a="http://schemas.openxmlformats.org/drawingml/2006/main" rot="0" flipH="0" flipV="0">
            <a:off x="9507360" y="4015757"/>
            <a:ext cx="2466258" cy="1181317"/>
          </a:xfrm>
          <a:prstGeom xmlns:a="http://schemas.openxmlformats.org/drawingml/2006/main" prst="rect">
            <a:avLst/>
          </a:prstGeom>
        </p:spPr>
      </p:pic>
    </p:spTree>
    <p:extLst>
      <p:ext uri="{BB962C8B-B14F-4D97-AF65-F5344CB8AC3E}">
        <p14:creationId xmlns:p14="http://schemas.microsoft.com/office/powerpoint/2010/main" val="236070713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1" name="矩形 70">
            <a:extLst xmlns:a="http://schemas.openxmlformats.org/drawingml/2006/main">
              <a:ext uri="{FF2B5EF4-FFF2-40B4-BE49-F238E27FC236}">
                <a16:creationId xmlns:a16="http://schemas.microsoft.com/office/drawing/2014/main" id="{B4868B09-20BA-05AA-8CE4-EC21C2662F01}"/>
              </a:ext>
            </a:extLst>
          </p:cNvPr>
          <p:cNvSpPr>
            <a:spLocks xmlns:a="http://schemas.openxmlformats.org/drawingml/2006/main" noGrp="1"/>
          </p:cNvSpPr>
          <p:nvPr/>
        </p:nvSpPr>
        <p:spPr>
          <a:xfrm xmlns:a="http://schemas.openxmlformats.org/drawingml/2006/main">
            <a:off x="1174458" y="1644234"/>
            <a:ext cx="2311692" cy="434885"/>
          </a:xfrm>
          <a:prstGeom xmlns:a="http://schemas.openxmlformats.org/drawingml/2006/main" prst="rect">
            <a:avLst/>
          </a:prstGeom>
          <a:solidFill xmlns:a="http://schemas.openxmlformats.org/drawingml/2006/main">
            <a:srgbClr val="C00000">
              <a:alpha val="10000"/>
            </a:srgbClr>
          </a:solidFill>
          <a:ln xmlns:a="http://schemas.openxmlformats.org/drawingml/2006/main" w="19050">
            <a:solidFill>
              <a:srgbClr val="C0000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rgbClr val="C00000"/>
                </a:solidFill>
                <a:latin typeface="+mj-ea"/>
                <a:ea typeface="+mj-ea"/>
                <a:cs typeface="+mj-ea"/>
              </a:rPr>
              <a:t>样本效率问题</a:t>
            </a:r>
          </a:p>
        </p:txBody>
      </p:sp>
      <p:sp>
        <p:nvSpPr>
          <p:cNvPr id="58" name="矩形 57">
            <a:extLst xmlns:a="http://schemas.openxmlformats.org/drawingml/2006/main">
              <a:ext uri="{FF2B5EF4-FFF2-40B4-BE49-F238E27FC236}">
                <a16:creationId xmlns:a16="http://schemas.microsoft.com/office/drawing/2014/main" id="{367AB6BA-2D26-C8E4-77B7-DBE8D3B0C2BE}"/>
              </a:ext>
            </a:extLst>
          </p:cNvPr>
          <p:cNvSpPr>
            <a:spLocks xmlns:a="http://schemas.openxmlformats.org/drawingml/2006/main" noGrp="1"/>
          </p:cNvSpPr>
          <p:nvPr/>
        </p:nvSpPr>
        <p:spPr>
          <a:xfrm xmlns:a="http://schemas.openxmlformats.org/drawingml/2006/main" rot="0" flipH="0" flipV="0">
            <a:off x="-1" y="939798"/>
            <a:ext cx="5833533"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文本框 59">
            <a:extLst xmlns:a="http://schemas.openxmlformats.org/drawingml/2006/main">
              <a:ext uri="{FF2B5EF4-FFF2-40B4-BE49-F238E27FC236}">
                <a16:creationId xmlns:a16="http://schemas.microsoft.com/office/drawing/2014/main" id="{7F43D1EB-D6F0-1344-B9A5-F0514BD28A6B}"/>
              </a:ext>
            </a:extLst>
          </p:cNvPr>
          <p:cNvSpPr>
            <a:spLocks xmlns:a="http://schemas.openxmlformats.org/drawingml/2006/main" noGrp="1"/>
          </p:cNvSpPr>
          <p:nvPr/>
        </p:nvSpPr>
        <p:spPr>
          <a:xfrm xmlns:a="http://schemas.openxmlformats.org/drawingml/2006/main" rot="0" flipH="0" flipV="0">
            <a:off x="270932" y="1021703"/>
            <a:ext cx="757766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5.1.3 </a:t>
            </a:r>
            <a:r>
              <a:rPr sz="2400" b="1">
                <a:solidFill>
                  <a:schemeClr val="accent1"/>
                </a:solidFill>
                <a:latin typeface="+mj-lt"/>
                <a:ea typeface="+mj-lt"/>
                <a:cs typeface="+mj-lt"/>
              </a:rPr>
              <a:t>学习算法在机器人导航中的问题和挑战</a:t>
            </a:r>
          </a:p>
        </p:txBody>
      </p:sp>
      <p:pic>
        <p:nvPicPr>
          <p:cNvPr id="88" name="图片 60"/>
          <p:cNvPicPr>
            <a:picLocks xmlns:a="http://schemas.openxmlformats.org/drawingml/2006/main" noChangeAspect="1"/>
          </p:cNvPicPr>
          <p:nvPr/>
        </p:nvPicPr>
        <p:blipFill>
          <a:blip xmlns:r="http://schemas.openxmlformats.org/officeDocument/2006/relationships" xmlns:a="http://schemas.openxmlformats.org/drawingml/2006/main" r:embed="Rc388214f4a6044e4"/>
          <a:stretch xmlns:a="http://schemas.openxmlformats.org/drawingml/2006/main">
            <a:fillRect l="0" t="0" r="0" b="0"/>
          </a:stretch>
        </p:blipFill>
        <p:spPr>
          <a:xfrm xmlns:a="http://schemas.openxmlformats.org/drawingml/2006/main">
            <a:off x="4965975" y="1691270"/>
            <a:ext cx="6408246" cy="4503213"/>
          </a:xfrm>
          <a:prstGeom xmlns:a="http://schemas.openxmlformats.org/drawingml/2006/main" prst="rect">
            <a:avLst/>
          </a:prstGeom>
        </p:spPr>
      </p:pic>
      <p:sp>
        <p:nvSpPr>
          <p:cNvPr id="66" name="矩形 65">
            <a:extLst xmlns:a="http://schemas.openxmlformats.org/drawingml/2006/main">
              <a:ext uri="{FF2B5EF4-FFF2-40B4-BE49-F238E27FC236}">
                <a16:creationId xmlns:a16="http://schemas.microsoft.com/office/drawing/2014/main" id="{12B54482-9EB7-A1CA-2E4F-2C0E6D943860}"/>
              </a:ext>
            </a:extLst>
          </p:cNvPr>
          <p:cNvSpPr>
            <a:spLocks xmlns:a="http://schemas.openxmlformats.org/drawingml/2006/main" noGrp="1"/>
          </p:cNvSpPr>
          <p:nvPr/>
        </p:nvSpPr>
        <p:spPr>
          <a:xfrm xmlns:a="http://schemas.openxmlformats.org/drawingml/2006/main">
            <a:off x="1227802" y="2790990"/>
            <a:ext cx="2311692" cy="434885"/>
          </a:xfrm>
          <a:prstGeom xmlns:a="http://schemas.openxmlformats.org/drawingml/2006/main" prst="rect">
            <a:avLst/>
          </a:prstGeom>
          <a:solidFill xmlns:a="http://schemas.openxmlformats.org/drawingml/2006/main">
            <a:srgbClr val="C00000">
              <a:alpha val="10000"/>
            </a:srgbClr>
          </a:solidFill>
          <a:ln xmlns:a="http://schemas.openxmlformats.org/drawingml/2006/main" w="19050">
            <a:solidFill>
              <a:srgbClr val="C0000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rgbClr val="C00000"/>
                </a:solidFill>
                <a:latin typeface="+mj-ea"/>
                <a:ea typeface="+mj-ea"/>
                <a:cs typeface="+mj-ea"/>
              </a:rPr>
              <a:t>感知能力问题</a:t>
            </a:r>
          </a:p>
        </p:txBody>
      </p:sp>
      <p:sp>
        <p:nvSpPr>
          <p:cNvPr id="72" name="矩形 71">
            <a:extLst xmlns:a="http://schemas.openxmlformats.org/drawingml/2006/main">
              <a:ext uri="{FF2B5EF4-FFF2-40B4-BE49-F238E27FC236}">
                <a16:creationId xmlns:a16="http://schemas.microsoft.com/office/drawing/2014/main" id="{37B1DC62-A79A-C0D1-9291-F2D796A9AD7C}"/>
              </a:ext>
            </a:extLst>
          </p:cNvPr>
          <p:cNvSpPr>
            <a:spLocks xmlns:a="http://schemas.openxmlformats.org/drawingml/2006/main" noGrp="1"/>
          </p:cNvSpPr>
          <p:nvPr/>
        </p:nvSpPr>
        <p:spPr>
          <a:xfrm xmlns:a="http://schemas.openxmlformats.org/drawingml/2006/main">
            <a:off x="1227802" y="3866653"/>
            <a:ext cx="2311692" cy="434885"/>
          </a:xfrm>
          <a:prstGeom xmlns:a="http://schemas.openxmlformats.org/drawingml/2006/main" prst="rect">
            <a:avLst/>
          </a:prstGeom>
          <a:solidFill xmlns:a="http://schemas.openxmlformats.org/drawingml/2006/main">
            <a:srgbClr val="C00000">
              <a:alpha val="10000"/>
            </a:srgbClr>
          </a:solidFill>
          <a:ln xmlns:a="http://schemas.openxmlformats.org/drawingml/2006/main" w="19050">
            <a:solidFill>
              <a:srgbClr val="C0000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rgbClr val="C00000"/>
                </a:solidFill>
                <a:latin typeface="+mj-ea"/>
                <a:ea typeface="+mj-ea"/>
                <a:cs typeface="+mj-ea"/>
              </a:rPr>
              <a:t>探索策略问题</a:t>
            </a:r>
          </a:p>
        </p:txBody>
      </p:sp>
      <p:sp>
        <p:nvSpPr>
          <p:cNvPr id="78" name="矩形 77">
            <a:extLst xmlns:a="http://schemas.openxmlformats.org/drawingml/2006/main">
              <a:ext uri="{FF2B5EF4-FFF2-40B4-BE49-F238E27FC236}">
                <a16:creationId xmlns:a16="http://schemas.microsoft.com/office/drawing/2014/main" id="{0D8D0964-C1CB-C282-567B-CBE278DF5E9B}"/>
              </a:ext>
            </a:extLst>
          </p:cNvPr>
          <p:cNvSpPr>
            <a:spLocks xmlns:a="http://schemas.openxmlformats.org/drawingml/2006/main" noGrp="1"/>
          </p:cNvSpPr>
          <p:nvPr/>
        </p:nvSpPr>
        <p:spPr>
          <a:xfrm xmlns:a="http://schemas.openxmlformats.org/drawingml/2006/main">
            <a:off x="1227802" y="4863734"/>
            <a:ext cx="2311692" cy="434885"/>
          </a:xfrm>
          <a:prstGeom xmlns:a="http://schemas.openxmlformats.org/drawingml/2006/main" prst="rect">
            <a:avLst/>
          </a:prstGeom>
          <a:solidFill xmlns:a="http://schemas.openxmlformats.org/drawingml/2006/main">
            <a:srgbClr val="C00000">
              <a:alpha val="10000"/>
            </a:srgbClr>
          </a:solidFill>
          <a:ln xmlns:a="http://schemas.openxmlformats.org/drawingml/2006/main" w="19050">
            <a:solidFill>
              <a:srgbClr val="C0000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rgbClr val="C00000"/>
                </a:solidFill>
                <a:latin typeface="+mj-ea"/>
                <a:ea typeface="+mj-ea"/>
                <a:cs typeface="+mj-ea"/>
              </a:rPr>
              <a:t>安全性问题</a:t>
            </a:r>
          </a:p>
        </p:txBody>
      </p:sp>
      <p:sp>
        <p:nvSpPr>
          <p:cNvPr id="79" name="矩形 78">
            <a:extLst xmlns:a="http://schemas.openxmlformats.org/drawingml/2006/main">
              <a:ext uri="{FF2B5EF4-FFF2-40B4-BE49-F238E27FC236}">
                <a16:creationId xmlns:a16="http://schemas.microsoft.com/office/drawing/2014/main" id="{ED1DFCFA-86DA-A8B5-0AE3-4E198DC1453B}"/>
              </a:ext>
            </a:extLst>
          </p:cNvPr>
          <p:cNvSpPr>
            <a:spLocks xmlns:a="http://schemas.openxmlformats.org/drawingml/2006/main" noGrp="1"/>
          </p:cNvSpPr>
          <p:nvPr/>
        </p:nvSpPr>
        <p:spPr>
          <a:xfrm xmlns:a="http://schemas.openxmlformats.org/drawingml/2006/main">
            <a:off x="1254474" y="5889917"/>
            <a:ext cx="2258348" cy="434885"/>
          </a:xfrm>
          <a:prstGeom xmlns:a="http://schemas.openxmlformats.org/drawingml/2006/main" prst="rect">
            <a:avLst/>
          </a:prstGeom>
          <a:solidFill xmlns:a="http://schemas.openxmlformats.org/drawingml/2006/main">
            <a:srgbClr val="C00000">
              <a:alpha val="10000"/>
            </a:srgbClr>
          </a:solidFill>
          <a:ln xmlns:a="http://schemas.openxmlformats.org/drawingml/2006/main" w="19050">
            <a:solidFill>
              <a:srgbClr val="C0000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400" b="1">
                <a:solidFill>
                  <a:srgbClr val="C00000"/>
                </a:solidFill>
                <a:latin typeface="+mj-ea"/>
                <a:ea typeface="+mj-ea"/>
                <a:cs typeface="+mj-ea"/>
              </a:rPr>
              <a:t>泛化能力问题</a:t>
            </a:r>
          </a:p>
        </p:txBody>
      </p:sp>
      <p:sp>
        <p:nvSpPr>
          <p:cNvPr id="67" name="文本框 66">
            <a:extLst xmlns:a="http://schemas.openxmlformats.org/drawingml/2006/main">
              <a:ext uri="{FF2B5EF4-FFF2-40B4-BE49-F238E27FC236}">
                <a16:creationId xmlns:a16="http://schemas.microsoft.com/office/drawing/2014/main" id="{9100716F-0674-8816-294F-77AA1ADBD6A2}"/>
              </a:ext>
            </a:extLst>
          </p:cNvPr>
          <p:cNvSpPr>
            <a:spLocks xmlns:a="http://schemas.openxmlformats.org/drawingml/2006/main" noGrp="1"/>
          </p:cNvSpPr>
          <p:nvPr/>
        </p:nvSpPr>
        <p:spPr>
          <a:xfrm xmlns:a="http://schemas.openxmlformats.org/drawingml/2006/main" rot="0" flipH="0" flipV="0">
            <a:off x="1068346" y="2160401"/>
            <a:ext cx="3135208"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海量</a:t>
            </a:r>
            <a:r>
              <a:rPr sz="2000" b="1">
                <a:latin typeface="+mj-ea"/>
                <a:ea typeface="+mj-ea"/>
                <a:cs typeface="+mj-ea"/>
              </a:rPr>
              <a:t>训练样本</a:t>
            </a:r>
            <a:endParaRPr sz="2000" b="1" kern="1300">
              <a:latin typeface="+mj-ea"/>
              <a:ea typeface="+mj-ea"/>
              <a:cs typeface="+mj-ea"/>
            </a:endParaRPr>
          </a:p>
        </p:txBody>
      </p:sp>
      <p:sp>
        <p:nvSpPr>
          <p:cNvPr id="80" name="文本框 79">
            <a:extLst xmlns:a="http://schemas.openxmlformats.org/drawingml/2006/main">
              <a:ext uri="{FF2B5EF4-FFF2-40B4-BE49-F238E27FC236}">
                <a16:creationId xmlns:a16="http://schemas.microsoft.com/office/drawing/2014/main" id="{DB4600AE-B196-62F9-BF8C-BD6527521C5E}"/>
              </a:ext>
            </a:extLst>
          </p:cNvPr>
          <p:cNvSpPr>
            <a:spLocks xmlns:a="http://schemas.openxmlformats.org/drawingml/2006/main" noGrp="1"/>
          </p:cNvSpPr>
          <p:nvPr/>
        </p:nvSpPr>
        <p:spPr>
          <a:xfrm xmlns:a="http://schemas.openxmlformats.org/drawingml/2006/main" rot="0" flipH="0" flipV="0">
            <a:off x="1068346" y="3246253"/>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复杂</a:t>
            </a:r>
            <a:r>
              <a:rPr sz="2000" b="1">
                <a:latin typeface="+mj-ea"/>
                <a:ea typeface="+mj-ea"/>
                <a:cs typeface="+mj-ea"/>
              </a:rPr>
              <a:t>的语义场景解释</a:t>
            </a:r>
            <a:endParaRPr sz="2000" b="1" kern="1300">
              <a:latin typeface="+mj-ea"/>
              <a:ea typeface="+mj-ea"/>
              <a:cs typeface="+mj-ea"/>
            </a:endParaRPr>
          </a:p>
        </p:txBody>
      </p:sp>
      <p:sp>
        <p:nvSpPr>
          <p:cNvPr id="81" name="文本框 80">
            <a:extLst xmlns:a="http://schemas.openxmlformats.org/drawingml/2006/main">
              <a:ext uri="{FF2B5EF4-FFF2-40B4-BE49-F238E27FC236}">
                <a16:creationId xmlns:a16="http://schemas.microsoft.com/office/drawing/2014/main" id="{35CD50D0-70CD-9554-B30D-660D02EF9BF1}"/>
              </a:ext>
            </a:extLst>
          </p:cNvPr>
          <p:cNvSpPr>
            <a:spLocks xmlns:a="http://schemas.openxmlformats.org/drawingml/2006/main" noGrp="1"/>
          </p:cNvSpPr>
          <p:nvPr/>
        </p:nvSpPr>
        <p:spPr>
          <a:xfrm xmlns:a="http://schemas.openxmlformats.org/drawingml/2006/main" rot="0" flipH="0" flipV="0">
            <a:off x="1068345" y="4257885"/>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平衡</a:t>
            </a:r>
            <a:r>
              <a:rPr sz="2000" b="1">
                <a:latin typeface="+mj-ea"/>
                <a:ea typeface="+mj-ea"/>
                <a:cs typeface="+mj-ea"/>
              </a:rPr>
              <a:t>探索与利用</a:t>
            </a:r>
            <a:endParaRPr sz="2000" b="1" kern="1300">
              <a:latin typeface="+mj-ea"/>
              <a:ea typeface="+mj-ea"/>
              <a:cs typeface="+mj-ea"/>
            </a:endParaRPr>
          </a:p>
        </p:txBody>
      </p:sp>
      <p:sp>
        <p:nvSpPr>
          <p:cNvPr id="82" name="文本框 81">
            <a:extLst xmlns:a="http://schemas.openxmlformats.org/drawingml/2006/main">
              <a:ext uri="{FF2B5EF4-FFF2-40B4-BE49-F238E27FC236}">
                <a16:creationId xmlns:a16="http://schemas.microsoft.com/office/drawing/2014/main" id="{2B52A090-B52B-C6C8-D713-0335600E99FA}"/>
              </a:ext>
            </a:extLst>
          </p:cNvPr>
          <p:cNvSpPr>
            <a:spLocks xmlns:a="http://schemas.openxmlformats.org/drawingml/2006/main" noGrp="1"/>
          </p:cNvSpPr>
          <p:nvPr/>
        </p:nvSpPr>
        <p:spPr>
          <a:xfrm xmlns:a="http://schemas.openxmlformats.org/drawingml/2006/main" rot="0" flipH="0" flipV="0">
            <a:off x="1068345" y="5269517"/>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latin typeface="+mj-ea"/>
                <a:ea typeface="+mj-ea"/>
                <a:cs typeface="+mj-ea"/>
              </a:rPr>
              <a:t>合理安全的</a:t>
            </a:r>
            <a:r>
              <a:rPr sz="2000" b="1">
                <a:solidFill>
                  <a:srgbClr val="0D2D7F"/>
                </a:solidFill>
                <a:latin typeface="+mj-ea"/>
                <a:ea typeface="+mj-ea"/>
                <a:cs typeface="+mj-ea"/>
              </a:rPr>
              <a:t>规划避障</a:t>
            </a:r>
            <a:endParaRPr sz="2000" b="1" kern="1300">
              <a:latin typeface="+mj-ea"/>
              <a:ea typeface="+mj-ea"/>
              <a:cs typeface="+mj-ea"/>
            </a:endParaRPr>
          </a:p>
        </p:txBody>
      </p:sp>
      <p:sp>
        <p:nvSpPr>
          <p:cNvPr id="83" name="文本框 82">
            <a:extLst xmlns:a="http://schemas.openxmlformats.org/drawingml/2006/main">
              <a:ext uri="{FF2B5EF4-FFF2-40B4-BE49-F238E27FC236}">
                <a16:creationId xmlns:a16="http://schemas.microsoft.com/office/drawing/2014/main" id="{9E904742-0695-AFE2-78EF-D1CF2131E1FB}"/>
              </a:ext>
            </a:extLst>
          </p:cNvPr>
          <p:cNvSpPr>
            <a:spLocks xmlns:a="http://schemas.openxmlformats.org/drawingml/2006/main" noGrp="1"/>
          </p:cNvSpPr>
          <p:nvPr/>
        </p:nvSpPr>
        <p:spPr>
          <a:xfrm xmlns:a="http://schemas.openxmlformats.org/drawingml/2006/main" rot="0" flipH="0" flipV="0">
            <a:off x="1068345" y="6320481"/>
            <a:ext cx="4606289" cy="620400"/>
          </a:xfrm>
          <a:prstGeom xmlns:a="http://schemas.openxmlformats.org/drawingml/2006/main" prst="rect">
            <a:avLst/>
          </a:prstGeom>
          <a:noFill xmlns:a="http://schemas.openxmlformats.org/drawingml/2006/main"/>
          <a:ln xmlns:a="http://schemas.openxmlformats.org/drawingml/2006/main" w="28575">
            <a:noFill/>
          </a:ln>
        </p:spPr>
        <p:txBody>
          <a:bodyPr xmlns:a="http://schemas.openxmlformats.org/drawingml/2006/main" wrap="square" lIns="162000" tIns="154800" bIns="154800">
            <a:spAutoFit/>
          </a:bodyPr>
          <a:lstStyle xmlns:a="http://schemas.openxmlformats.org/drawingml/2006/main"/>
          <a:p xmlns:a="http://schemas.openxmlformats.org/drawingml/2006/main">
            <a:pPr algn="just">
              <a:spcBef>
                <a:spcPts val="0"/>
              </a:spcBef>
              <a:buClrTx/>
              <a:buSzTx/>
              <a:buNone/>
            </a:pPr>
            <a:r>
              <a:rPr sz="2000" b="1">
                <a:solidFill>
                  <a:srgbClr val="0D2D7F"/>
                </a:solidFill>
                <a:latin typeface="+mj-ea"/>
                <a:ea typeface="+mj-ea"/>
                <a:cs typeface="+mj-ea"/>
              </a:rPr>
              <a:t>多场景</a:t>
            </a:r>
            <a:r>
              <a:rPr sz="2000" b="1">
                <a:latin typeface="+mj-ea"/>
                <a:ea typeface="+mj-ea"/>
                <a:cs typeface="+mj-ea"/>
              </a:rPr>
              <a:t>自适应鲁棒</a:t>
            </a:r>
            <a:endParaRPr sz="2000" b="1" kern="1300">
              <a:latin typeface="+mj-ea"/>
              <a:ea typeface="+mj-ea"/>
              <a:cs typeface="+mj-ea"/>
            </a:endParaRPr>
          </a:p>
        </p:txBody>
      </p:sp>
    </p:spTree>
    <p:extLst>
      <p:ext uri="{BB962C8B-B14F-4D97-AF65-F5344CB8AC3E}">
        <p14:creationId xmlns:p14="http://schemas.microsoft.com/office/powerpoint/2010/main" val="2287664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C682C3F1-DBC6-46EC-8438-5EEB04E7812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A9999E19-1431-42DB-8410-DD03BD80977B}"/>
              </a:ext>
            </a:extLst>
          </p:cNvPr>
          <p:cNvSpPr>
            <a:spLocks xmlns:a="http://schemas.openxmlformats.org/drawingml/2006/main" noGrp="1"/>
          </p:cNvSpPr>
          <p:nvPr/>
        </p:nvSpPr>
        <p:spPr>
          <a:xfrm xmlns:a="http://schemas.openxmlformats.org/drawingml/2006/main" rot="0" flipH="0" flipV="0">
            <a:off x="270933" y="1021703"/>
            <a:ext cx="35052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5.2.1 </a:t>
            </a:r>
            <a:r>
              <a:rPr sz="2400" b="1">
                <a:solidFill>
                  <a:schemeClr val="accent1"/>
                </a:solidFill>
                <a:latin typeface="+mj-lt"/>
                <a:ea typeface="+mj-lt"/>
                <a:cs typeface="+mj-lt"/>
              </a:rPr>
              <a:t>决策树导航策略</a:t>
            </a:r>
            <a:endParaRPr sz="2400" b="1">
              <a:solidFill>
                <a:schemeClr val="accent1"/>
              </a:solidFill>
              <a:latin typeface="+mj-lt"/>
              <a:ea typeface="+mj-lt"/>
              <a:cs typeface="+mj-lt"/>
            </a:endParaRPr>
          </a:p>
        </p:txBody>
      </p:sp>
      <p:sp>
        <p:nvSpPr>
          <p:cNvPr id="5" name="矩形 4">
            <a:extLst xmlns:a="http://schemas.openxmlformats.org/drawingml/2006/main">
              <a:ext uri="{FF2B5EF4-FFF2-40B4-BE49-F238E27FC236}">
                <a16:creationId xmlns:a16="http://schemas.microsoft.com/office/drawing/2014/main" id="{83AB8C3E-AA97-4FDF-8416-084B3F04820A}"/>
              </a:ext>
            </a:extLst>
          </p:cNvPr>
          <p:cNvSpPr>
            <a:spLocks xmlns:a="http://schemas.openxmlformats.org/drawingml/2006/main" noGrp="1"/>
          </p:cNvSpPr>
          <p:nvPr/>
        </p:nvSpPr>
        <p:spPr>
          <a:xfrm xmlns:a="http://schemas.openxmlformats.org/drawingml/2006/main">
            <a:off x="5291603" y="5253183"/>
            <a:ext cx="6030502" cy="454284"/>
          </a:xfrm>
          <a:prstGeom xmlns:a="http://schemas.openxmlformats.org/drawingml/2006/main" prst="rect">
            <a:avLst/>
          </a:prstGeom>
          <a:gradFill xmlns:a="http://schemas.openxmlformats.org/drawingml/2006/main">
            <a:gsLst>
              <a:gs pos="19000">
                <a:schemeClr val="bg1"/>
              </a:gs>
              <a:gs pos="95000">
                <a:schemeClr val="accent1">
                  <a:lumMod val="20000"/>
                  <a:lumOff val="80000"/>
                </a:schemeClr>
              </a:gs>
            </a:gsLst>
            <a:lin ang="54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tx1"/>
                </a:solidFill>
                <a:latin typeface="+mj-ea"/>
                <a:ea typeface="+mj-ea"/>
                <a:cs typeface="+mj-ea"/>
              </a:rPr>
              <a:t>决策树分类</a:t>
            </a:r>
          </a:p>
        </p:txBody>
      </p:sp>
      <p:pic>
        <p:nvPicPr>
          <p:cNvPr id="35" name="图片 21"/>
          <p:cNvPicPr>
            <a:picLocks xmlns:a="http://schemas.openxmlformats.org/drawingml/2006/main" noChangeAspect="1"/>
          </p:cNvPicPr>
          <p:nvPr/>
        </p:nvPicPr>
        <p:blipFill>
          <a:blip xmlns:r="http://schemas.openxmlformats.org/officeDocument/2006/relationships" xmlns:a="http://schemas.openxmlformats.org/drawingml/2006/main" r:embed="R0a8f8a684f6f4be9"/>
          <a:srcRect xmlns:a="http://schemas.openxmlformats.org/drawingml/2006/main" l="4786" t="0" r="15139" b="24260"/>
          <a:stretch xmlns:a="http://schemas.openxmlformats.org/drawingml/2006/main">
            <a:fillRect l="0" t="0" r="0" b="0"/>
          </a:stretch>
        </p:blipFill>
        <p:spPr>
          <a:xfrm xmlns:a="http://schemas.openxmlformats.org/drawingml/2006/main">
            <a:off x="5291603" y="2358189"/>
            <a:ext cx="6030502" cy="2963745"/>
          </a:xfrm>
          <a:prstGeom xmlns:a="http://schemas.openxmlformats.org/drawingml/2006/main" prst="rect">
            <a:avLst/>
          </a:prstGeom>
        </p:spPr>
      </p:pic>
      <p:sp>
        <p:nvSpPr>
          <p:cNvPr id="23" name="文本框 22">
            <a:extLst xmlns:a="http://schemas.openxmlformats.org/drawingml/2006/main">
              <a:ext uri="{FF2B5EF4-FFF2-40B4-BE49-F238E27FC236}">
                <a16:creationId xmlns:a16="http://schemas.microsoft.com/office/drawing/2014/main" id="{E9F228A1-B1B5-03B6-8789-D06CEA2ADAA1}"/>
              </a:ext>
            </a:extLst>
          </p:cNvPr>
          <p:cNvSpPr>
            <a:spLocks xmlns:a="http://schemas.openxmlformats.org/drawingml/2006/main" noGrp="1"/>
          </p:cNvSpPr>
          <p:nvPr/>
        </p:nvSpPr>
        <p:spPr>
          <a:xfrm xmlns:a="http://schemas.openxmlformats.org/drawingml/2006/main">
            <a:off x="408230" y="2213454"/>
            <a:ext cx="4533499" cy="72853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b="1"/>
              <a:t>决策树算法（</a:t>
            </a:r>
            <a:r>
              <a:rPr b="1"/>
              <a:t>Decision Tree, DT</a:t>
            </a:r>
            <a:r>
              <a:rPr b="1"/>
              <a:t>）是一种常用于数据分类与回归分析的方法</a:t>
            </a:r>
            <a:endParaRPr sz="2000" b="1"/>
          </a:p>
        </p:txBody>
      </p:sp>
      <p:cxnSp>
        <p:nvCxnSpPr>
          <p:cNvPr id="37" name="直接箭头连接符 24"/>
          <p:cNvCxnSpPr/>
          <p:nvPr/>
        </p:nvCxnSpPr>
        <p:spPr>
          <a:xfrm xmlns:a="http://schemas.openxmlformats.org/drawingml/2006/main">
            <a:off x="6096000" y="2640557"/>
            <a:ext cx="0" cy="2426941"/>
          </a:xfrm>
          <a:prstGeom xmlns:a="http://schemas.openxmlformats.org/drawingml/2006/main" prst="straightConnector1">
            <a:avLst/>
          </a:prstGeom>
          <a:ln xmlns:a="http://schemas.openxmlformats.org/drawingml/2006/main" w="19050" cap="flat">
            <a:solidFill>
              <a:srgbClr val="C00000"/>
            </a:solidFill>
            <a:prstDash val="solid"/>
            <a:round/>
            <a:headEnd type="none" w="med" len="med"/>
            <a:tailEnd type="arrow"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cxnSp>
      <p:sp>
        <p:nvSpPr>
          <p:cNvPr id="27" name="文本框 26">
            <a:extLst xmlns:a="http://schemas.openxmlformats.org/drawingml/2006/main">
              <a:ext uri="{FF2B5EF4-FFF2-40B4-BE49-F238E27FC236}">
                <a16:creationId xmlns:a16="http://schemas.microsoft.com/office/drawing/2014/main" id="{985B1A74-2CB5-2C2A-8C35-DF732D7BC96D}"/>
              </a:ext>
            </a:extLst>
          </p:cNvPr>
          <p:cNvSpPr>
            <a:spLocks xmlns:a="http://schemas.openxmlformats.org/drawingml/2006/main" noGrp="1"/>
          </p:cNvSpPr>
          <p:nvPr/>
        </p:nvSpPr>
        <p:spPr>
          <a:xfrm xmlns:a="http://schemas.openxmlformats.org/drawingml/2006/main">
            <a:off x="5634335" y="2804853"/>
            <a:ext cx="461665" cy="2675472"/>
          </a:xfrm>
          <a:prstGeom xmlns:a="http://schemas.openxmlformats.org/drawingml/2006/main" prst="rect">
            <a:avLst/>
          </a:prstGeom>
          <a:noFill xmlns:a="http://schemas.openxmlformats.org/drawingml/2006/main"/>
        </p:spPr>
        <p:txBody>
          <a:bodyPr xmlns:a="http://schemas.openxmlformats.org/drawingml/2006/main" vert="eaVert" wrap="square">
            <a:spAutoFit/>
          </a:bodyPr>
          <a:lstStyle xmlns:a="http://schemas.openxmlformats.org/drawingml/2006/main"/>
          <a:p xmlns:a="http://schemas.openxmlformats.org/drawingml/2006/main">
            <a:r>
              <a:rPr>
                <a:solidFill>
                  <a:srgbClr val="C00000"/>
                </a:solidFill>
              </a:rPr>
              <a:t>自顶向下的递归思路</a:t>
            </a:r>
          </a:p>
        </p:txBody>
      </p:sp>
      <p:sp>
        <p:nvSpPr>
          <p:cNvPr id="28" name="文本框 27">
            <a:extLst xmlns:a="http://schemas.openxmlformats.org/drawingml/2006/main">
              <a:ext uri="{FF2B5EF4-FFF2-40B4-BE49-F238E27FC236}">
                <a16:creationId xmlns:a16="http://schemas.microsoft.com/office/drawing/2014/main" id="{2463448D-EC5E-601A-DC02-CFEA1C9DCE75}"/>
              </a:ext>
            </a:extLst>
          </p:cNvPr>
          <p:cNvSpPr>
            <a:spLocks xmlns:a="http://schemas.openxmlformats.org/drawingml/2006/main" noGrp="1"/>
          </p:cNvSpPr>
          <p:nvPr/>
        </p:nvSpPr>
        <p:spPr>
          <a:xfrm xmlns:a="http://schemas.openxmlformats.org/drawingml/2006/main">
            <a:off x="408229" y="3498857"/>
            <a:ext cx="4533499"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决策树中的节点表示一个属性，测试结果则输出在叶节点的分支中。</a:t>
            </a:r>
            <a:endParaRPr b="1"/>
          </a:p>
          <a:p xmlns:a="http://schemas.openxmlformats.org/drawingml/2006/main">
            <a:endParaRPr b="1"/>
          </a:p>
          <a:p xmlns:a="http://schemas.openxmlformats.org/drawingml/2006/main">
            <a:endParaRPr b="1"/>
          </a:p>
          <a:p xmlns:a="http://schemas.openxmlformats.org/drawingml/2006/main">
            <a:r>
              <a:rPr b="1"/>
              <a:t>从决策树的根到叶节点的每条路径对应了一种选择办法。</a:t>
            </a:r>
            <a:endParaRPr sz="2000" b="1"/>
          </a:p>
        </p:txBody>
      </p:sp>
      <p:sp>
        <p:nvSpPr>
          <p:cNvPr id="29" name="文本框 28">
            <a:extLst xmlns:a="http://schemas.openxmlformats.org/drawingml/2006/main">
              <a:ext uri="{FF2B5EF4-FFF2-40B4-BE49-F238E27FC236}">
                <a16:creationId xmlns:a16="http://schemas.microsoft.com/office/drawing/2014/main" id="{55AC0302-EBDC-61A5-42EE-7E29669DD56D}"/>
              </a:ext>
            </a:extLst>
          </p:cNvPr>
          <p:cNvSpPr>
            <a:spLocks xmlns:a="http://schemas.openxmlformats.org/drawingml/2006/main" noGrp="1"/>
          </p:cNvSpPr>
          <p:nvPr/>
        </p:nvSpPr>
        <p:spPr>
          <a:xfrm xmlns:a="http://schemas.openxmlformats.org/drawingml/2006/main">
            <a:off x="489351" y="5407744"/>
            <a:ext cx="4533499" cy="112947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b="1"/>
              <a:t>二叉树：</a:t>
            </a:r>
            <a:endParaRPr b="1"/>
          </a:p>
          <a:p xmlns:a="http://schemas.openxmlformats.org/drawingml/2006/main">
            <a:pPr>
              <a:lnSpc>
                <a:spcPct val="120000"/>
              </a:lnSpc>
              <a:buNone/>
            </a:pPr>
            <a:r>
              <a:rPr sz="2000" b="1"/>
              <a:t>节点：逻辑判断</a:t>
            </a:r>
            <a:endParaRPr sz="2000" b="1"/>
          </a:p>
          <a:p xmlns:a="http://schemas.openxmlformats.org/drawingml/2006/main">
            <a:pPr>
              <a:lnSpc>
                <a:spcPct val="120000"/>
              </a:lnSpc>
              <a:buNone/>
            </a:pPr>
            <a:r>
              <a:rPr sz="2000" b="1"/>
              <a:t>边：判断结果</a:t>
            </a:r>
          </a:p>
        </p:txBody>
      </p:sp>
      <p:sp>
        <p:nvSpPr>
          <p:cNvPr id="30" name="文本框 29">
            <a:extLst xmlns:a="http://schemas.openxmlformats.org/drawingml/2006/main">
              <a:ext uri="{FF2B5EF4-FFF2-40B4-BE49-F238E27FC236}">
                <a16:creationId xmlns:a16="http://schemas.microsoft.com/office/drawing/2014/main" id="{C8B53F29-380E-F1E1-4E67-F70828198D41}"/>
              </a:ext>
            </a:extLst>
          </p:cNvPr>
          <p:cNvSpPr>
            <a:spLocks xmlns:a="http://schemas.openxmlformats.org/drawingml/2006/main" noGrp="1"/>
          </p:cNvSpPr>
          <p:nvPr/>
        </p:nvSpPr>
        <p:spPr>
          <a:xfrm xmlns:a="http://schemas.openxmlformats.org/drawingml/2006/main">
            <a:off x="3192731" y="5407744"/>
            <a:ext cx="4533499" cy="113159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b="1"/>
              <a:t>多叉树：</a:t>
            </a:r>
            <a:endParaRPr b="1"/>
          </a:p>
          <a:p xmlns:a="http://schemas.openxmlformats.org/drawingml/2006/main">
            <a:pPr>
              <a:lnSpc>
                <a:spcPct val="120000"/>
              </a:lnSpc>
              <a:buNone/>
            </a:pPr>
            <a:r>
              <a:rPr sz="2000" b="1"/>
              <a:t>节点：属性</a:t>
            </a:r>
            <a:endParaRPr sz="2000" b="1"/>
          </a:p>
          <a:p xmlns:a="http://schemas.openxmlformats.org/drawingml/2006/main">
            <a:pPr>
              <a:lnSpc>
                <a:spcPct val="120000"/>
              </a:lnSpc>
              <a:buNone/>
            </a:pPr>
            <a:r>
              <a:rPr sz="2000" b="1"/>
              <a:t>边：属性取值</a:t>
            </a:r>
          </a:p>
        </p:txBody>
      </p:sp>
    </p:spTree>
    <p:extLst>
      <p:ext uri="{BB962C8B-B14F-4D97-AF65-F5344CB8AC3E}">
        <p14:creationId xmlns:p14="http://schemas.microsoft.com/office/powerpoint/2010/main" val="146886398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5D5269E8-85E0-4F8D-8299-3E3121BB643A}"/>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44AD5B0B-68E5-4107-A0D9-05F7D46FD51A}"/>
              </a:ext>
            </a:extLst>
          </p:cNvPr>
          <p:cNvSpPr>
            <a:spLocks xmlns:a="http://schemas.openxmlformats.org/drawingml/2006/main" noGrp="1"/>
          </p:cNvSpPr>
          <p:nvPr/>
        </p:nvSpPr>
        <p:spPr>
          <a:xfrm xmlns:a="http://schemas.openxmlformats.org/drawingml/2006/main" rot="0" flipH="0" flipV="0">
            <a:off x="270933" y="1021703"/>
            <a:ext cx="35052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5.2.1 </a:t>
            </a:r>
            <a:r>
              <a:rPr sz="2400" b="1">
                <a:solidFill>
                  <a:schemeClr val="accent1"/>
                </a:solidFill>
                <a:latin typeface="+mj-lt"/>
                <a:ea typeface="+mj-lt"/>
                <a:cs typeface="+mj-lt"/>
              </a:rPr>
              <a:t>决策树导航策略</a:t>
            </a:r>
          </a:p>
        </p:txBody>
      </p:sp>
      <p:sp>
        <p:nvSpPr>
          <p:cNvPr id="7" name="文本框 6">
            <a:extLst xmlns:a="http://schemas.openxmlformats.org/drawingml/2006/main">
              <a:ext uri="{FF2B5EF4-FFF2-40B4-BE49-F238E27FC236}">
                <a16:creationId xmlns:a16="http://schemas.microsoft.com/office/drawing/2014/main" id="{426358DB-EA52-014C-D537-4236014039EE}"/>
              </a:ext>
            </a:extLst>
          </p:cNvPr>
          <p:cNvSpPr>
            <a:spLocks xmlns:a="http://schemas.openxmlformats.org/drawingml/2006/main" noGrp="1"/>
          </p:cNvSpPr>
          <p:nvPr/>
        </p:nvSpPr>
        <p:spPr>
          <a:xfrm xmlns:a="http://schemas.openxmlformats.org/drawingml/2006/main">
            <a:off x="321827" y="2260475"/>
            <a:ext cx="6204615" cy="1060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b="1"/>
              <a:t>输入</a:t>
            </a:r>
            <a:r>
              <a:t>：样本训练集</a:t>
            </a:r>
            <a:r>
              <a:t>samples; </a:t>
            </a:r>
            <a:r>
              <a:t>候选属性集</a:t>
            </a:r>
            <a:r>
              <a:t>attribute_list</a:t>
            </a:r>
            <a:r>
              <a:t>。</a:t>
            </a:r>
            <a:endParaRPr/>
          </a:p>
          <a:p xmlns:a="http://schemas.openxmlformats.org/drawingml/2006/main">
            <a:pPr>
              <a:lnSpc>
                <a:spcPct val="120000"/>
              </a:lnSpc>
              <a:buNone/>
            </a:pPr>
            <a:r>
              <a:t>其中，</a:t>
            </a:r>
            <a:r>
              <a:t>samples </a:t>
            </a:r>
            <a:r>
              <a:t>的属性值为离散状态。</a:t>
            </a:r>
            <a:endParaRPr/>
          </a:p>
          <a:p xmlns:a="http://schemas.openxmlformats.org/drawingml/2006/main">
            <a:pPr>
              <a:lnSpc>
                <a:spcPct val="120000"/>
              </a:lnSpc>
              <a:buNone/>
            </a:pPr>
            <a:r>
              <a:rPr b="1"/>
              <a:t>输出</a:t>
            </a:r>
            <a:r>
              <a:t>：由给定样本产生的一棵决策树</a:t>
            </a:r>
          </a:p>
        </p:txBody>
      </p:sp>
      <p:sp>
        <p:nvSpPr>
          <p:cNvPr id="8" name="文本框 7">
            <a:extLst xmlns:a="http://schemas.openxmlformats.org/drawingml/2006/main">
              <a:ext uri="{FF2B5EF4-FFF2-40B4-BE49-F238E27FC236}">
                <a16:creationId xmlns:a16="http://schemas.microsoft.com/office/drawing/2014/main" id="{F18F7843-B2B5-23B9-7036-D840F6E80D50}"/>
              </a:ext>
            </a:extLst>
          </p:cNvPr>
          <p:cNvSpPr>
            <a:spLocks xmlns:a="http://schemas.openxmlformats.org/drawingml/2006/main" noGrp="1"/>
          </p:cNvSpPr>
          <p:nvPr/>
        </p:nvSpPr>
        <p:spPr>
          <a:xfrm xmlns:a="http://schemas.openxmlformats.org/drawingml/2006/main">
            <a:off x="864923" y="1826494"/>
            <a:ext cx="4533499" cy="39613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b="1"/>
              <a:t>决策树算法整体流程</a:t>
            </a:r>
            <a:endParaRPr sz="2000" b="1"/>
          </a:p>
        </p:txBody>
      </p:sp>
      <p:sp>
        <p:nvSpPr>
          <p:cNvPr id="9" name="文本框 8">
            <a:extLst xmlns:a="http://schemas.openxmlformats.org/drawingml/2006/main">
              <a:ext uri="{FF2B5EF4-FFF2-40B4-BE49-F238E27FC236}">
                <a16:creationId xmlns:a16="http://schemas.microsoft.com/office/drawing/2014/main" id="{6486947F-08B2-32BC-D89E-68F92DA227C0}"/>
              </a:ext>
            </a:extLst>
          </p:cNvPr>
          <p:cNvSpPr>
            <a:spLocks xmlns:a="http://schemas.openxmlformats.org/drawingml/2006/main" noGrp="1"/>
          </p:cNvSpPr>
          <p:nvPr/>
        </p:nvSpPr>
        <p:spPr>
          <a:xfrm xmlns:a="http://schemas.openxmlformats.org/drawingml/2006/main">
            <a:off x="5820154" y="1251890"/>
            <a:ext cx="6204615" cy="535531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1</a:t>
            </a:r>
            <a:r>
              <a:t>） 创建节点</a:t>
            </a:r>
            <a:r>
              <a:t>N</a:t>
            </a:r>
            <a:r>
              <a:t>；</a:t>
            </a:r>
            <a:endParaRPr/>
          </a:p>
          <a:p xmlns:a="http://schemas.openxmlformats.org/drawingml/2006/main">
            <a:endParaRPr/>
          </a:p>
          <a:p xmlns:a="http://schemas.openxmlformats.org/drawingml/2006/main">
            <a:r>
              <a:t>2</a:t>
            </a:r>
            <a:r>
              <a:t>） 如果</a:t>
            </a:r>
            <a:r>
              <a:t>samples </a:t>
            </a:r>
            <a:r>
              <a:t>均属于同一个类</a:t>
            </a:r>
            <a:r>
              <a:t>C</a:t>
            </a:r>
            <a:r>
              <a:t>，那么返回</a:t>
            </a:r>
            <a:r>
              <a:t>N </a:t>
            </a:r>
            <a:r>
              <a:t>作为叶子节点，并标记类</a:t>
            </a:r>
            <a:r>
              <a:t>C</a:t>
            </a:r>
            <a:r>
              <a:t>，程序结束；</a:t>
            </a:r>
            <a:endParaRPr/>
          </a:p>
          <a:p xmlns:a="http://schemas.openxmlformats.org/drawingml/2006/main">
            <a:endParaRPr/>
          </a:p>
          <a:p xmlns:a="http://schemas.openxmlformats.org/drawingml/2006/main">
            <a:r>
              <a:t>3</a:t>
            </a:r>
            <a:r>
              <a:t>） 如果集合</a:t>
            </a:r>
            <a:r>
              <a:t>attribute_list</a:t>
            </a:r>
            <a:r>
              <a:t> </a:t>
            </a:r>
            <a:r>
              <a:t>值为空，标记为</a:t>
            </a:r>
            <a:r>
              <a:t>samples </a:t>
            </a:r>
            <a:r>
              <a:t>中最普通的类，同时返回</a:t>
            </a:r>
            <a:r>
              <a:t>N</a:t>
            </a:r>
            <a:r>
              <a:t>作叶节点，程序结束；</a:t>
            </a:r>
            <a:endParaRPr/>
          </a:p>
          <a:p xmlns:a="http://schemas.openxmlformats.org/drawingml/2006/main">
            <a:endParaRPr/>
          </a:p>
          <a:p xmlns:a="http://schemas.openxmlformats.org/drawingml/2006/main">
            <a:r>
              <a:t>4</a:t>
            </a:r>
            <a:r>
              <a:t>） 选择</a:t>
            </a:r>
            <a:r>
              <a:t>attribute_list</a:t>
            </a:r>
            <a:r>
              <a:t> </a:t>
            </a:r>
            <a:r>
              <a:t>中信息增益值最高的属性</a:t>
            </a:r>
            <a:r>
              <a:t>h_attribute</a:t>
            </a:r>
            <a:r>
              <a:t>；</a:t>
            </a:r>
            <a:endParaRPr/>
          </a:p>
          <a:p xmlns:a="http://schemas.openxmlformats.org/drawingml/2006/main">
            <a:endParaRPr/>
          </a:p>
          <a:p xmlns:a="http://schemas.openxmlformats.org/drawingml/2006/main">
            <a:r>
              <a:t>5</a:t>
            </a:r>
            <a:r>
              <a:t>） 标记节点</a:t>
            </a:r>
            <a:r>
              <a:t>N </a:t>
            </a:r>
            <a:r>
              <a:t>为</a:t>
            </a:r>
            <a:r>
              <a:t>h_attribute</a:t>
            </a:r>
            <a:r>
              <a:t>；</a:t>
            </a:r>
            <a:endParaRPr/>
          </a:p>
          <a:p xmlns:a="http://schemas.openxmlformats.org/drawingml/2006/main">
            <a:endParaRPr/>
          </a:p>
          <a:p xmlns:a="http://schemas.openxmlformats.org/drawingml/2006/main">
            <a:r>
              <a:t>6</a:t>
            </a:r>
            <a:r>
              <a:t>） 对于</a:t>
            </a:r>
            <a:r>
              <a:t>h_attribute</a:t>
            </a:r>
            <a:r>
              <a:t> </a:t>
            </a:r>
            <a:r>
              <a:t>中的每一个已知值</a:t>
            </a:r>
            <a:r>
              <a:t>Si</a:t>
            </a:r>
            <a:r>
              <a:t>，由节点</a:t>
            </a:r>
            <a:r>
              <a:t>N </a:t>
            </a:r>
            <a:r>
              <a:t>生长出一个条件为</a:t>
            </a:r>
            <a:r>
              <a:t>h_attribute</a:t>
            </a:r>
            <a:r>
              <a:t>=Si</a:t>
            </a:r>
            <a:r>
              <a:t>的分枝；</a:t>
            </a:r>
            <a:endParaRPr/>
          </a:p>
          <a:p xmlns:a="http://schemas.openxmlformats.org/drawingml/2006/main">
            <a:endParaRPr/>
          </a:p>
          <a:p xmlns:a="http://schemas.openxmlformats.org/drawingml/2006/main">
            <a:r>
              <a:t>7</a:t>
            </a:r>
            <a:r>
              <a:t>）设</a:t>
            </a:r>
            <a:r>
              <a:t>Si </a:t>
            </a:r>
            <a:r>
              <a:t>是</a:t>
            </a:r>
            <a:r>
              <a:t>samples </a:t>
            </a:r>
            <a:r>
              <a:t>中满足条件“</a:t>
            </a:r>
            <a:r>
              <a:t>h_attribute</a:t>
            </a:r>
            <a:r>
              <a:t>=Si”</a:t>
            </a:r>
            <a:r>
              <a:t>的样本的集合，倘若</a:t>
            </a:r>
            <a:r>
              <a:t>Si </a:t>
            </a:r>
            <a:r>
              <a:t>为空，加上一个树叶，并将其标记为</a:t>
            </a:r>
            <a:r>
              <a:t>samples </a:t>
            </a:r>
            <a:r>
              <a:t>中最普通的类，否则加上一个</a:t>
            </a:r>
            <a:r>
              <a:t>Generate_decision_tree</a:t>
            </a:r>
            <a:endParaRPr/>
          </a:p>
          <a:p xmlns:a="http://schemas.openxmlformats.org/drawingml/2006/main">
            <a:r>
              <a:t>（</a:t>
            </a:r>
            <a:r>
              <a:t>Si, </a:t>
            </a:r>
            <a:r>
              <a:t>attribute_list</a:t>
            </a:r>
            <a:r>
              <a:t>, </a:t>
            </a:r>
            <a:r>
              <a:t>h_attribute</a:t>
            </a:r>
            <a:r>
              <a:t>） 返回的节点。</a:t>
            </a:r>
          </a:p>
        </p:txBody>
      </p:sp>
      <p:sp>
        <p:nvSpPr>
          <p:cNvPr id="23" name="矩形: 圆角 22">
            <a:extLst xmlns:a="http://schemas.openxmlformats.org/drawingml/2006/main">
              <a:ext uri="{FF2B5EF4-FFF2-40B4-BE49-F238E27FC236}">
                <a16:creationId xmlns:a16="http://schemas.microsoft.com/office/drawing/2014/main" id="{9701EA85-9D76-ECB4-8564-DEAE237ABFF4}"/>
              </a:ext>
            </a:extLst>
          </p:cNvPr>
          <p:cNvSpPr>
            <a:spLocks xmlns:a="http://schemas.openxmlformats.org/drawingml/2006/main" noGrp="1"/>
          </p:cNvSpPr>
          <p:nvPr/>
        </p:nvSpPr>
        <p:spPr>
          <a:xfrm xmlns:a="http://schemas.openxmlformats.org/drawingml/2006/main" rot="0" flipH="0" flipV="0">
            <a:off x="570421" y="3806729"/>
            <a:ext cx="4084081" cy="773380"/>
          </a:xfrm>
          <a:prstGeom xmlns:a="http://schemas.openxmlformats.org/drawingml/2006/main" prst="roundRect">
            <a:avLst>
              <a:gd name="adj" fmla="val 3978"/>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108000" bIns="108000" anchor="ctr"/>
          <a:lstStyle xmlns:a="http://schemas.openxmlformats.org/drawingml/2006/main"/>
          <a:p xmlns:a="http://schemas.openxmlformats.org/drawingml/2006/main">
            <a:pPr algn="ctr">
              <a:buNone/>
            </a:pPr>
            <a:r>
              <a:rPr sz="2400" b="1">
                <a:solidFill>
                  <a:schemeClr val="bg1"/>
                </a:solidFill>
              </a:rPr>
              <a:t>           </a:t>
            </a:r>
            <a:r>
              <a:rPr sz="1600" b="1">
                <a:solidFill>
                  <a:schemeClr val="bg1"/>
                </a:solidFill>
              </a:rPr>
              <a:t>如何选择好的逻辑判断或属性？</a:t>
            </a:r>
          </a:p>
        </p:txBody>
      </p:sp>
      <p:pic>
        <p:nvPicPr>
          <p:cNvPr id="113" name="Picture 2"/>
          <p:cNvPicPr>
            <a:picLocks xmlns:a="http://schemas.openxmlformats.org/drawingml/2006/main" noChangeAspect="1"/>
          </p:cNvPicPr>
          <p:nvPr/>
        </p:nvPicPr>
        <p:blipFill rotWithShape="1">
          <a:blip xmlns:r="http://schemas.openxmlformats.org/officeDocument/2006/relationships" xmlns:a="http://schemas.openxmlformats.org/drawingml/2006/main" r:embed="R78ac70f5d80f491f"/>
          <a:srcRect xmlns:a="http://schemas.openxmlformats.org/drawingml/2006/main" l="0" t="16281" r="0" b="12842"/>
          <a:stretch xmlns:a="http://schemas.openxmlformats.org/drawingml/2006/main"/>
        </p:blipFill>
        <p:spPr>
          <a:xfrm xmlns:a="http://schemas.openxmlformats.org/drawingml/2006/main" rot="0" flipH="0" flipV="0">
            <a:off x="678299" y="3875015"/>
            <a:ext cx="898466" cy="636808"/>
          </a:xfrm>
          <a:prstGeom xmlns:a="http://schemas.openxmlformats.org/drawingml/2006/main" prst="rect">
            <a:avLst/>
          </a:prstGeom>
        </p:spPr>
      </p:pic>
      <p:sp>
        <p:nvSpPr>
          <p:cNvPr id="25" name="文本框 24">
            <a:extLst xmlns:a="http://schemas.openxmlformats.org/drawingml/2006/main">
              <a:ext uri="{FF2B5EF4-FFF2-40B4-BE49-F238E27FC236}">
                <a16:creationId xmlns:a16="http://schemas.microsoft.com/office/drawing/2014/main" id="{0A432C62-4B98-240C-0A03-10F250ECDB16}"/>
              </a:ext>
            </a:extLst>
          </p:cNvPr>
          <p:cNvSpPr>
            <a:spLocks xmlns:a="http://schemas.openxmlformats.org/drawingml/2006/main" noGrp="1"/>
          </p:cNvSpPr>
          <p:nvPr/>
        </p:nvSpPr>
        <p:spPr>
          <a:xfrm xmlns:a="http://schemas.openxmlformats.org/drawingml/2006/main">
            <a:off x="1643940" y="4648395"/>
            <a:ext cx="1937041" cy="17257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b="1"/>
              <a:t>启发式策略</a:t>
            </a:r>
            <a:endParaRPr b="1"/>
          </a:p>
          <a:p xmlns:a="http://schemas.openxmlformats.org/drawingml/2006/main">
            <a:pPr>
              <a:lnSpc>
                <a:spcPct val="120000"/>
              </a:lnSpc>
              <a:buNone/>
            </a:pPr>
            <a:r>
              <a:t>信息增益</a:t>
            </a:r>
            <a:endParaRPr/>
          </a:p>
          <a:p xmlns:a="http://schemas.openxmlformats.org/drawingml/2006/main">
            <a:pPr>
              <a:lnSpc>
                <a:spcPct val="120000"/>
              </a:lnSpc>
              <a:buNone/>
            </a:pPr>
            <a:r>
              <a:t>信息增益比</a:t>
            </a:r>
            <a:endParaRPr/>
          </a:p>
          <a:p xmlns:a="http://schemas.openxmlformats.org/drawingml/2006/main">
            <a:pPr>
              <a:lnSpc>
                <a:spcPct val="120000"/>
              </a:lnSpc>
              <a:buNone/>
            </a:pPr>
            <a:r>
              <a:t>证据权重</a:t>
            </a:r>
            <a:endParaRPr/>
          </a:p>
          <a:p xmlns:a="http://schemas.openxmlformats.org/drawingml/2006/main">
            <a:pPr>
              <a:lnSpc>
                <a:spcPct val="120000"/>
              </a:lnSpc>
              <a:buNone/>
            </a:pPr>
            <a:r>
              <a:t>最小描述长度</a:t>
            </a:r>
            <a:r>
              <a:t>…</a:t>
            </a:r>
            <a:endParaRPr/>
          </a:p>
        </p:txBody>
      </p:sp>
    </p:spTree>
    <p:extLst>
      <p:ext uri="{BB962C8B-B14F-4D97-AF65-F5344CB8AC3E}">
        <p14:creationId xmlns:p14="http://schemas.microsoft.com/office/powerpoint/2010/main" val="5181388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2A7FAF0E-852D-1072-0C8D-8BF15FEAEC9E}"/>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3993B2E0-4207-E1E0-CF63-069624622122}"/>
              </a:ext>
            </a:extLst>
          </p:cNvPr>
          <p:cNvSpPr>
            <a:spLocks xmlns:a="http://schemas.openxmlformats.org/drawingml/2006/main" noGrp="1"/>
          </p:cNvSpPr>
          <p:nvPr/>
        </p:nvSpPr>
        <p:spPr>
          <a:xfrm xmlns:a="http://schemas.openxmlformats.org/drawingml/2006/main" rot="0" flipH="0" flipV="0">
            <a:off x="270933" y="1021703"/>
            <a:ext cx="35052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5.2.1 </a:t>
            </a:r>
            <a:r>
              <a:rPr sz="2400" b="1">
                <a:solidFill>
                  <a:schemeClr val="accent1"/>
                </a:solidFill>
                <a:latin typeface="+mj-lt"/>
                <a:ea typeface="+mj-lt"/>
                <a:cs typeface="+mj-lt"/>
              </a:rPr>
              <a:t>决策树导航策略</a:t>
            </a:r>
          </a:p>
        </p:txBody>
      </p:sp>
      <p:sp>
        <p:nvSpPr>
          <p:cNvPr id="7" name="文本框 6">
            <a:extLst xmlns:a="http://schemas.openxmlformats.org/drawingml/2006/main">
              <a:ext uri="{FF2B5EF4-FFF2-40B4-BE49-F238E27FC236}">
                <a16:creationId xmlns:a16="http://schemas.microsoft.com/office/drawing/2014/main" id="{10CE2BD2-B641-0B70-A52E-9BA7C467D027}"/>
              </a:ext>
            </a:extLst>
          </p:cNvPr>
          <p:cNvSpPr>
            <a:spLocks xmlns:a="http://schemas.openxmlformats.org/drawingml/2006/main" noGrp="1"/>
          </p:cNvSpPr>
          <p:nvPr/>
        </p:nvSpPr>
        <p:spPr>
          <a:xfrm xmlns:a="http://schemas.openxmlformats.org/drawingml/2006/main">
            <a:off x="108698" y="2109978"/>
            <a:ext cx="5405204" cy="230832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对未知环境的导航问题，设计两级决策系统。</a:t>
            </a:r>
            <a:endParaRPr/>
          </a:p>
          <a:p xmlns:a="http://schemas.openxmlformats.org/drawingml/2006/main">
            <a:endParaRPr/>
          </a:p>
          <a:p xmlns:a="http://schemas.openxmlformats.org/drawingml/2006/main">
            <a:r>
              <a:rPr b="1"/>
              <a:t>第</a:t>
            </a:r>
            <a:r>
              <a:rPr b="1"/>
              <a:t>1 </a:t>
            </a:r>
            <a:r>
              <a:rPr b="1"/>
              <a:t>级</a:t>
            </a:r>
            <a:r>
              <a:t>以距离传感器的</a:t>
            </a:r>
            <a:r>
              <a:rPr b="1"/>
              <a:t>探测数据</a:t>
            </a:r>
            <a:r>
              <a:t>作为模糊算法的输入，输出机器人</a:t>
            </a:r>
            <a:r>
              <a:rPr b="1"/>
              <a:t>运动线速度</a:t>
            </a:r>
            <a:r>
              <a:t>和</a:t>
            </a:r>
            <a:r>
              <a:rPr b="1"/>
              <a:t>角速度</a:t>
            </a:r>
            <a:r>
              <a:t>的强度因子；</a:t>
            </a:r>
            <a:endParaRPr/>
          </a:p>
          <a:p xmlns:a="http://schemas.openxmlformats.org/drawingml/2006/main">
            <a:endParaRPr/>
          </a:p>
          <a:p xmlns:a="http://schemas.openxmlformats.org/drawingml/2006/main">
            <a:r>
              <a:rPr b="1"/>
              <a:t>第</a:t>
            </a:r>
            <a:r>
              <a:rPr b="1"/>
              <a:t>2 </a:t>
            </a:r>
            <a:r>
              <a:rPr b="1"/>
              <a:t>级</a:t>
            </a:r>
            <a:r>
              <a:t>以局部环境下的</a:t>
            </a:r>
            <a:r>
              <a:rPr b="1"/>
              <a:t>虚拟路径子目标点</a:t>
            </a:r>
            <a:r>
              <a:t>和</a:t>
            </a:r>
            <a:r>
              <a:rPr b="1"/>
              <a:t>目标点</a:t>
            </a:r>
            <a:r>
              <a:t>、</a:t>
            </a:r>
            <a:r>
              <a:rPr b="1"/>
              <a:t>障碍物分布信息</a:t>
            </a:r>
            <a:r>
              <a:t>作为输入，由行为决策树输出</a:t>
            </a:r>
            <a:r>
              <a:rPr b="1"/>
              <a:t>相应行为</a:t>
            </a:r>
            <a:r>
              <a:t>。</a:t>
            </a:r>
          </a:p>
        </p:txBody>
      </p:sp>
      <p:sp>
        <p:nvSpPr>
          <p:cNvPr id="8" name="文本框 7">
            <a:extLst xmlns:a="http://schemas.openxmlformats.org/drawingml/2006/main">
              <a:ext uri="{FF2B5EF4-FFF2-40B4-BE49-F238E27FC236}">
                <a16:creationId xmlns:a16="http://schemas.microsoft.com/office/drawing/2014/main" id="{AB452132-3B01-1E47-B708-2EFCA7063E11}"/>
              </a:ext>
            </a:extLst>
          </p:cNvPr>
          <p:cNvSpPr>
            <a:spLocks xmlns:a="http://schemas.openxmlformats.org/drawingml/2006/main" noGrp="1"/>
          </p:cNvSpPr>
          <p:nvPr/>
        </p:nvSpPr>
        <p:spPr>
          <a:xfrm xmlns:a="http://schemas.openxmlformats.org/drawingml/2006/main">
            <a:off x="804241" y="1715768"/>
            <a:ext cx="4533499" cy="3942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b="1"/>
              <a:t>案例：基于决策树的导航系统设计</a:t>
            </a:r>
            <a:endParaRPr sz="2000" b="1"/>
          </a:p>
        </p:txBody>
      </p:sp>
      <p:sp>
        <p:nvSpPr>
          <p:cNvPr id="9" name="文本框 8">
            <a:extLst xmlns:a="http://schemas.openxmlformats.org/drawingml/2006/main">
              <a:ext uri="{FF2B5EF4-FFF2-40B4-BE49-F238E27FC236}">
                <a16:creationId xmlns:a16="http://schemas.microsoft.com/office/drawing/2014/main" id="{5AB9AF1B-9BE1-53B3-B242-5B2253FB46D6}"/>
              </a:ext>
            </a:extLst>
          </p:cNvPr>
          <p:cNvSpPr>
            <a:spLocks xmlns:a="http://schemas.openxmlformats.org/drawingml/2006/main" noGrp="1"/>
          </p:cNvSpPr>
          <p:nvPr/>
        </p:nvSpPr>
        <p:spPr>
          <a:xfrm xmlns:a="http://schemas.openxmlformats.org/drawingml/2006/main">
            <a:off x="5758277" y="2663976"/>
            <a:ext cx="6204615"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第</a:t>
            </a:r>
            <a:r>
              <a:rPr b="1"/>
              <a:t>1 </a:t>
            </a:r>
            <a:r>
              <a:rPr b="1"/>
              <a:t>级决策</a:t>
            </a:r>
            <a:r>
              <a:t>：机器人</a:t>
            </a:r>
            <a:r>
              <a:rPr b="1"/>
              <a:t>运动强度模糊决策</a:t>
            </a:r>
            <a:r>
              <a:t>。当机器人处于导航运动时，其运动策略应随周围环境状态的改变而改变，例如障碍物靠近时，机器人运动速度减缓，障碍物远离时，机器人则全速运动。</a:t>
            </a:r>
            <a:endParaRPr/>
          </a:p>
          <a:p xmlns:a="http://schemas.openxmlformats.org/drawingml/2006/main">
            <a:endParaRPr/>
          </a:p>
          <a:p xmlns:a="http://schemas.openxmlformats.org/drawingml/2006/main">
            <a:endParaRPr/>
          </a:p>
        </p:txBody>
      </p:sp>
      <p:pic>
        <p:nvPicPr>
          <p:cNvPr id="112" name="图片 2"/>
          <p:cNvPicPr>
            <a:picLocks xmlns:a="http://schemas.openxmlformats.org/drawingml/2006/main" noChangeAspect="1"/>
          </p:cNvPicPr>
          <p:nvPr/>
        </p:nvPicPr>
        <p:blipFill>
          <a:blip xmlns:r="http://schemas.openxmlformats.org/officeDocument/2006/relationships" xmlns:a="http://schemas.openxmlformats.org/drawingml/2006/main" r:embed="R284cb37938ec45fe"/>
          <a:stretch xmlns:a="http://schemas.openxmlformats.org/drawingml/2006/main">
            <a:fillRect l="0" t="0" r="0" b="0"/>
          </a:stretch>
        </p:blipFill>
        <p:spPr>
          <a:xfrm xmlns:a="http://schemas.openxmlformats.org/drawingml/2006/main">
            <a:off x="714242" y="4387364"/>
            <a:ext cx="4194116" cy="2321435"/>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2C2F37FD-D797-9A20-BB28-C717C7D63548}"/>
              </a:ext>
            </a:extLst>
          </p:cNvPr>
          <p:cNvSpPr>
            <a:spLocks xmlns:a="http://schemas.openxmlformats.org/drawingml/2006/main" noGrp="1"/>
          </p:cNvSpPr>
          <p:nvPr/>
        </p:nvSpPr>
        <p:spPr>
          <a:xfrm xmlns:a="http://schemas.openxmlformats.org/drawingml/2006/main">
            <a:off x="5837035" y="4709504"/>
            <a:ext cx="4551374" cy="1051904"/>
          </a:xfrm>
          <a:prstGeom xmlns:a="http://schemas.openxmlformats.org/drawingml/2006/main" prst="rect">
            <a:avLst/>
          </a:prstGeom>
          <a:noFill xmlns:a="http://schemas.openxmlformats.org/drawingml/2006/main"/>
        </p:spPr>
        <p:txBody>
          <a:bodyPr xmlns:a="http://schemas.openxmlformats.org/drawingml/2006/main" vert="eaVert" wrap="square">
            <a:spAutoFit/>
          </a:bodyPr>
          <a:lstStyle xmlns:a="http://schemas.openxmlformats.org/drawingml/2006/main"/>
          <a:p xmlns:a="http://schemas.openxmlformats.org/drawingml/2006/main">
            <a:endParaRPr/>
          </a:p>
        </p:txBody>
      </p:sp>
      <p:sp>
        <p:nvSpPr>
          <p:cNvPr id="6" name="文本框 5">
            <a:extLst xmlns:a="http://schemas.openxmlformats.org/drawingml/2006/main">
              <a:ext uri="{FF2B5EF4-FFF2-40B4-BE49-F238E27FC236}">
                <a16:creationId xmlns:a16="http://schemas.microsoft.com/office/drawing/2014/main" id="{EEE6DBFE-1CDD-2E00-2EAD-48F94E7A0081}"/>
              </a:ext>
            </a:extLst>
          </p:cNvPr>
          <p:cNvSpPr>
            <a:spLocks xmlns:a="http://schemas.openxmlformats.org/drawingml/2006/main" noGrp="1"/>
          </p:cNvSpPr>
          <p:nvPr/>
        </p:nvSpPr>
        <p:spPr>
          <a:xfrm xmlns:a="http://schemas.openxmlformats.org/drawingml/2006/main">
            <a:off x="5758277" y="4840355"/>
            <a:ext cx="5097645"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1</a:t>
            </a:r>
            <a:r>
              <a:t>）距离传感器和机器人当前位姿作为输入</a:t>
            </a:r>
            <a:endParaRPr/>
          </a:p>
          <a:p xmlns:a="http://schemas.openxmlformats.org/drawingml/2006/main">
            <a:endParaRPr/>
          </a:p>
          <a:p xmlns:a="http://schemas.openxmlformats.org/drawingml/2006/main">
            <a:r>
              <a:t>2</a:t>
            </a:r>
            <a:r>
              <a:t>）对机器人探测到的最近障碍物信息进行模糊化，再根据推理规则输出其强度因子</a:t>
            </a:r>
          </a:p>
          <a:p xmlns:a="http://schemas.openxmlformats.org/drawingml/2006/main">
            <a:endParaRPr/>
          </a:p>
        </p:txBody>
      </p:sp>
    </p:spTree>
    <p:extLst>
      <p:ext uri="{BB962C8B-B14F-4D97-AF65-F5344CB8AC3E}">
        <p14:creationId xmlns:p14="http://schemas.microsoft.com/office/powerpoint/2010/main" val="138166901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E061E203-D450-24F0-C0FA-84A7E0D312C5}"/>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5404839A-D83F-1327-9D3C-2961A9FC7528}"/>
              </a:ext>
            </a:extLst>
          </p:cNvPr>
          <p:cNvSpPr>
            <a:spLocks xmlns:a="http://schemas.openxmlformats.org/drawingml/2006/main" noGrp="1"/>
          </p:cNvSpPr>
          <p:nvPr/>
        </p:nvSpPr>
        <p:spPr>
          <a:xfrm xmlns:a="http://schemas.openxmlformats.org/drawingml/2006/main" rot="0" flipH="0" flipV="0">
            <a:off x="270933" y="1021703"/>
            <a:ext cx="35052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5.2.1 </a:t>
            </a:r>
            <a:r>
              <a:rPr sz="2400" b="1">
                <a:solidFill>
                  <a:schemeClr val="accent1"/>
                </a:solidFill>
                <a:latin typeface="+mj-lt"/>
                <a:ea typeface="+mj-lt"/>
                <a:cs typeface="+mj-lt"/>
              </a:rPr>
              <a:t>决策树导航策略</a:t>
            </a:r>
          </a:p>
        </p:txBody>
      </p:sp>
      <p:sp>
        <p:nvSpPr>
          <p:cNvPr id="7" name="文本框 6">
            <a:extLst xmlns:a="http://schemas.openxmlformats.org/drawingml/2006/main">
              <a:ext uri="{FF2B5EF4-FFF2-40B4-BE49-F238E27FC236}">
                <a16:creationId xmlns:a16="http://schemas.microsoft.com/office/drawing/2014/main" id="{DC143A04-6A5A-EFB0-8393-A492FD0BEDB9}"/>
              </a:ext>
            </a:extLst>
          </p:cNvPr>
          <p:cNvSpPr>
            <a:spLocks xmlns:a="http://schemas.openxmlformats.org/drawingml/2006/main" noGrp="1"/>
          </p:cNvSpPr>
          <p:nvPr/>
        </p:nvSpPr>
        <p:spPr>
          <a:xfrm xmlns:a="http://schemas.openxmlformats.org/drawingml/2006/main">
            <a:off x="583086" y="2650955"/>
            <a:ext cx="5405204"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将障碍物距离输入变量</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𝑑</m:t>
                  </m:r>
                </m:oMath>
              </m:oMathPara>
            </a14:m>
            <a:r>
              <a:t>的论域划分为</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𝑉𝑁</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𝑁</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𝐿𝐹</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𝐹</m:t>
                  </m:r>
                  <m:r>
                    <a:rPr xmlns:a="http://schemas.openxmlformats.org/drawingml/2006/main" lang="en-US" b="0" i="1">
                      <a:latin typeface="Cambria Math"/>
                      <a:ea typeface="Cambria Math"/>
                      <a:cs typeface="Cambria Math"/>
                    </a:rPr>
                    <m:t>}</m:t>
                  </m:r>
                </m:oMath>
              </m:oMathPara>
            </a14:m>
            <a:r>
              <a:t>。其中</a:t>
            </a:r>
            <a:r>
              <a:t>,</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𝑉𝑁</m:t>
                  </m:r>
                  <m:r>
                    <a:rPr xmlns:a="http://schemas.openxmlformats.org/drawingml/2006/main" lang="en-US" b="0" i="1">
                      <a:latin typeface="Cambria Math"/>
                      <a:ea typeface="Cambria Math"/>
                      <a:cs typeface="Cambria Math"/>
                    </a:rPr>
                    <m:t>:</m:t>
                  </m:r>
                  <m:r>
                    <a:rPr xmlns:a="http://schemas.openxmlformats.org/drawingml/2006/main" lang="en-US" i="1">
                      <a:latin typeface="Cambria Math"/>
                      <a:ea typeface="Cambria Math"/>
                      <a:cs typeface="Cambria Math"/>
                    </a:rPr>
                    <m:t>ver</m:t>
                  </m:r>
                  <m:r>
                    <a:rPr xmlns:a="http://schemas.openxmlformats.org/drawingml/2006/main" lang="en-US" b="0" i="1">
                      <a:latin typeface="Cambria Math"/>
                      <a:ea typeface="Cambria Math"/>
                      <a:cs typeface="Cambria Math"/>
                    </a:rPr>
                    <m:t>𝑦</m:t>
                  </m:r>
                  <m:r>
                    <a:rPr xmlns:a="http://schemas.openxmlformats.org/drawingml/2006/main" lang="en-US" b="0" i="1">
                      <a:latin typeface="Cambria Math"/>
                      <a:ea typeface="Cambria Math"/>
                      <a:cs typeface="Cambria Math"/>
                    </a:rPr>
                    <m:t xml:space="preserve"> </m:t>
                  </m:r>
                  <m:r>
                    <a:rPr xmlns:a="http://schemas.openxmlformats.org/drawingml/2006/main" lang="en-US" b="0" i="1">
                      <a:latin typeface="Cambria Math"/>
                      <a:ea typeface="Cambria Math"/>
                      <a:cs typeface="Cambria Math"/>
                    </a:rPr>
                    <m:t>𝑛𝑒𝑎𝑟</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𝑁</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𝑛𝑒𝑎𝑟</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𝐿𝐹</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𝑙𝑖𝑡𝑡𝑙𝑒</m:t>
                  </m:r>
                  <m:r>
                    <a:rPr xmlns:a="http://schemas.openxmlformats.org/drawingml/2006/main" lang="en-US" b="0" i="1">
                      <a:latin typeface="Cambria Math"/>
                      <a:ea typeface="Cambria Math"/>
                      <a:cs typeface="Cambria Math"/>
                    </a:rPr>
                    <m:t xml:space="preserve"> </m:t>
                  </m:r>
                  <m:r>
                    <a:rPr xmlns:a="http://schemas.openxmlformats.org/drawingml/2006/main" lang="en-US" b="0" i="1">
                      <a:latin typeface="Cambria Math"/>
                      <a:ea typeface="Cambria Math"/>
                      <a:cs typeface="Cambria Math"/>
                    </a:rPr>
                    <m:t>𝑓𝑎𝑟</m:t>
                  </m:r>
                  <m:r>
                    <a:rPr xmlns:a="http://schemas.openxmlformats.org/drawingml/2006/main" lang="en-US" b="0" i="1">
                      <a:latin typeface="Cambria Math"/>
                      <a:ea typeface="Cambria Math"/>
                      <a:cs typeface="Cambria Math"/>
                    </a:rPr>
                    <m:t xml:space="preserve">, </m:t>
                  </m:r>
                  <m:r>
                    <a:rPr xmlns:a="http://schemas.openxmlformats.org/drawingml/2006/main" lang="en-US" b="0" i="1">
                      <a:latin typeface="Cambria Math"/>
                      <a:ea typeface="Cambria Math"/>
                      <a:cs typeface="Cambria Math"/>
                    </a:rPr>
                    <m:t>𝐹</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𝑓𝑎𝑟</m:t>
                  </m:r>
                </m:oMath>
              </m:oMathPara>
            </a14:m>
            <a:endParaRPr/>
          </a:p>
          <a:p xmlns:a="http://schemas.openxmlformats.org/drawingml/2006/main">
            <a:endParaRPr/>
          </a:p>
          <a:p xmlns:a="http://schemas.openxmlformats.org/drawingml/2006/main">
            <a:r>
              <a:rPr b="1"/>
              <a:t>第</a:t>
            </a:r>
            <a:r>
              <a:rPr b="1"/>
              <a:t>2 </a:t>
            </a:r>
            <a:r>
              <a:rPr b="1"/>
              <a:t>级决策</a:t>
            </a:r>
            <a:r>
              <a:t>：</a:t>
            </a:r>
            <a:r>
              <a:rPr b="1"/>
              <a:t>行为决策</a:t>
            </a:r>
            <a:r>
              <a:t>系统。本行为决策系统根据人类寻路经验建立合适的推理规则来选择行为，引导机器人到达目标。</a:t>
            </a:r>
            <a:endParaRPr/>
          </a:p>
        </p:txBody>
      </p:sp>
      <p:pic>
        <p:nvPicPr>
          <p:cNvPr id="110" name="图片 3"/>
          <p:cNvPicPr>
            <a:picLocks xmlns:a="http://schemas.openxmlformats.org/drawingml/2006/main" noChangeAspect="1"/>
          </p:cNvPicPr>
          <p:nvPr/>
        </p:nvPicPr>
        <p:blipFill>
          <a:blip xmlns:r="http://schemas.openxmlformats.org/officeDocument/2006/relationships" xmlns:a="http://schemas.openxmlformats.org/drawingml/2006/main" r:embed="R03c95d7c20d84137"/>
          <a:stretch xmlns:a="http://schemas.openxmlformats.org/drawingml/2006/main">
            <a:fillRect l="0" t="0" r="0" b="0"/>
          </a:stretch>
        </p:blipFill>
        <p:spPr>
          <a:xfrm xmlns:a="http://schemas.openxmlformats.org/drawingml/2006/main">
            <a:off x="6713565" y="1102391"/>
            <a:ext cx="4101105" cy="5012461"/>
          </a:xfrm>
          <a:prstGeom xmlns:a="http://schemas.openxmlformats.org/drawingml/2006/main" prst="rect">
            <a:avLst/>
          </a:prstGeom>
        </p:spPr>
      </p:pic>
    </p:spTree>
    <p:extLst>
      <p:ext uri="{BB962C8B-B14F-4D97-AF65-F5344CB8AC3E}">
        <p14:creationId xmlns:p14="http://schemas.microsoft.com/office/powerpoint/2010/main" val="322023089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1" name="矩形 10">
            <a:extLst xmlns:a="http://schemas.openxmlformats.org/drawingml/2006/main">
              <a:ext uri="{FF2B5EF4-FFF2-40B4-BE49-F238E27FC236}">
                <a16:creationId xmlns:a16="http://schemas.microsoft.com/office/drawing/2014/main" id="{60DEE023-EE9C-405B-B9D2-EF05D1AE415F}"/>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文本框 11">
            <a:extLst xmlns:a="http://schemas.openxmlformats.org/drawingml/2006/main">
              <a:ext uri="{FF2B5EF4-FFF2-40B4-BE49-F238E27FC236}">
                <a16:creationId xmlns:a16="http://schemas.microsoft.com/office/drawing/2014/main" id="{6CB282C4-DA1D-4307-976F-8C027B12C1F4}"/>
              </a:ext>
            </a:extLst>
          </p:cNvPr>
          <p:cNvSpPr>
            <a:spLocks xmlns:a="http://schemas.openxmlformats.org/drawingml/2006/main" noGrp="1"/>
          </p:cNvSpPr>
          <p:nvPr/>
        </p:nvSpPr>
        <p:spPr>
          <a:xfrm xmlns:a="http://schemas.openxmlformats.org/drawingml/2006/main" rot="0" flipH="0" flipV="0">
            <a:off x="271145" y="1021713"/>
            <a:ext cx="467614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5.2.2 </a:t>
            </a:r>
            <a:r>
              <a:rPr sz="2400" b="1">
                <a:solidFill>
                  <a:schemeClr val="accent1"/>
                </a:solidFill>
                <a:latin typeface="+mj-lt"/>
                <a:ea typeface="+mj-lt"/>
                <a:cs typeface="+mj-lt"/>
              </a:rPr>
              <a:t>随机森林路径规划</a:t>
            </a:r>
          </a:p>
        </p:txBody>
      </p:sp>
      <p:sp>
        <p:nvSpPr>
          <p:cNvPr id="30" name="文本框 29">
            <a:extLst xmlns:a="http://schemas.openxmlformats.org/drawingml/2006/main">
              <a:ext uri="{FF2B5EF4-FFF2-40B4-BE49-F238E27FC236}">
                <a16:creationId xmlns:a16="http://schemas.microsoft.com/office/drawing/2014/main" id="{A765B9AA-351B-4F5E-BD39-2239987351C6}"/>
              </a:ext>
            </a:extLst>
          </p:cNvPr>
          <p:cNvSpPr>
            <a:spLocks xmlns:a="http://schemas.openxmlformats.org/drawingml/2006/main" noGrp="1"/>
          </p:cNvSpPr>
          <p:nvPr/>
        </p:nvSpPr>
        <p:spPr>
          <a:xfrm xmlns:a="http://schemas.openxmlformats.org/drawingml/2006/main">
            <a:off x="271144" y="1714487"/>
            <a:ext cx="4533499" cy="5340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400" b="1"/>
              <a:t>集成学习</a:t>
            </a:r>
            <a:endParaRPr sz="2400" b="1"/>
          </a:p>
        </p:txBody>
      </p:sp>
      <p:sp>
        <p:nvSpPr>
          <p:cNvPr id="36" name="左大括号 35">
            <a:extLst xmlns:a="http://schemas.openxmlformats.org/drawingml/2006/main">
              <a:ext uri="{FF2B5EF4-FFF2-40B4-BE49-F238E27FC236}">
                <a16:creationId xmlns:a16="http://schemas.microsoft.com/office/drawing/2014/main" id="{EAEFC2CC-F912-481D-B635-8899A40F9672}"/>
              </a:ext>
            </a:extLst>
          </p:cNvPr>
          <p:cNvSpPr>
            <a:spLocks xmlns:a="http://schemas.openxmlformats.org/drawingml/2006/main" noGrp="1"/>
          </p:cNvSpPr>
          <p:nvPr/>
        </p:nvSpPr>
        <p:spPr>
          <a:xfrm xmlns:a="http://schemas.openxmlformats.org/drawingml/2006/main">
            <a:off x="1643380" y="1714500"/>
            <a:ext cx="94615" cy="638175"/>
          </a:xfrm>
          <a:prstGeom xmlns:a="http://schemas.openxmlformats.org/drawingml/2006/main" prst="leftBrace">
            <a:avLst/>
          </a:prstGeom>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文本框 36">
            <a:extLst xmlns:a="http://schemas.openxmlformats.org/drawingml/2006/main">
              <a:ext uri="{FF2B5EF4-FFF2-40B4-BE49-F238E27FC236}">
                <a16:creationId xmlns:a16="http://schemas.microsoft.com/office/drawing/2014/main" id="{20A26C78-6DB7-488F-843A-E57502C383ED}"/>
              </a:ext>
            </a:extLst>
          </p:cNvPr>
          <p:cNvSpPr>
            <a:spLocks xmlns:a="http://schemas.openxmlformats.org/drawingml/2006/main" noGrp="1"/>
          </p:cNvSpPr>
          <p:nvPr/>
        </p:nvSpPr>
        <p:spPr>
          <a:xfrm xmlns:a="http://schemas.openxmlformats.org/drawingml/2006/main">
            <a:off x="1807844" y="1539227"/>
            <a:ext cx="4533499"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Boosting</a:t>
            </a:r>
            <a:endParaRPr sz="2000" b="1"/>
          </a:p>
        </p:txBody>
      </p:sp>
      <p:sp>
        <p:nvSpPr>
          <p:cNvPr id="38" name="文本框 37">
            <a:extLst xmlns:a="http://schemas.openxmlformats.org/drawingml/2006/main">
              <a:ext uri="{FF2B5EF4-FFF2-40B4-BE49-F238E27FC236}">
                <a16:creationId xmlns:a16="http://schemas.microsoft.com/office/drawing/2014/main" id="{1EC85661-7AB5-4290-BF2B-7508146B6329}"/>
              </a:ext>
            </a:extLst>
          </p:cNvPr>
          <p:cNvSpPr>
            <a:spLocks xmlns:a="http://schemas.openxmlformats.org/drawingml/2006/main" noGrp="1"/>
          </p:cNvSpPr>
          <p:nvPr/>
        </p:nvSpPr>
        <p:spPr>
          <a:xfrm xmlns:a="http://schemas.openxmlformats.org/drawingml/2006/main">
            <a:off x="1807844" y="2004047"/>
            <a:ext cx="4533499"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solidFill>
                  <a:srgbClr val="C00000"/>
                </a:solidFill>
              </a:rPr>
              <a:t>Bagging</a:t>
            </a:r>
            <a:endParaRPr sz="2000" b="1">
              <a:solidFill>
                <a:srgbClr val="C00000"/>
              </a:solidFill>
            </a:endParaRPr>
          </a:p>
        </p:txBody>
      </p:sp>
      <p:sp>
        <p:nvSpPr>
          <p:cNvPr id="42" name="文本框 41">
            <a:extLst xmlns:a="http://schemas.openxmlformats.org/drawingml/2006/main">
              <a:ext uri="{FF2B5EF4-FFF2-40B4-BE49-F238E27FC236}">
                <a16:creationId xmlns:a16="http://schemas.microsoft.com/office/drawing/2014/main" id="{E1F0D8E0-8E13-4A28-B29C-518C54D4157B}"/>
              </a:ext>
            </a:extLst>
          </p:cNvPr>
          <p:cNvSpPr>
            <a:spLocks xmlns:a="http://schemas.openxmlformats.org/drawingml/2006/main" noGrp="1"/>
          </p:cNvSpPr>
          <p:nvPr/>
        </p:nvSpPr>
        <p:spPr>
          <a:xfrm xmlns:a="http://schemas.openxmlformats.org/drawingml/2006/main">
            <a:off x="775969" y="2551417"/>
            <a:ext cx="4533499"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1)</a:t>
            </a:r>
            <a:r>
              <a:rPr sz="2000" b="1"/>
              <a:t>随机选择训练样本</a:t>
            </a:r>
          </a:p>
        </p:txBody>
      </p:sp>
      <p:sp>
        <p:nvSpPr>
          <p:cNvPr id="43" name="文本框 42">
            <a:extLst xmlns:a="http://schemas.openxmlformats.org/drawingml/2006/main">
              <a:ext uri="{FF2B5EF4-FFF2-40B4-BE49-F238E27FC236}">
                <a16:creationId xmlns:a16="http://schemas.microsoft.com/office/drawing/2014/main" id="{1900ECCE-1DA0-4382-ABA8-3DE09181800F}"/>
              </a:ext>
            </a:extLst>
          </p:cNvPr>
          <p:cNvSpPr>
            <a:spLocks xmlns:a="http://schemas.openxmlformats.org/drawingml/2006/main" noGrp="1"/>
          </p:cNvSpPr>
          <p:nvPr/>
        </p:nvSpPr>
        <p:spPr>
          <a:xfrm xmlns:a="http://schemas.openxmlformats.org/drawingml/2006/main">
            <a:off x="775969" y="4306557"/>
            <a:ext cx="4533499"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3)</a:t>
            </a:r>
            <a:r>
              <a:rPr sz="2000" b="1"/>
              <a:t>投票得到最终分类结果</a:t>
            </a:r>
            <a:endParaRPr sz="2000" b="1"/>
          </a:p>
        </p:txBody>
      </p:sp>
      <p:sp>
        <p:nvSpPr>
          <p:cNvPr id="47" name="文本框 46">
            <a:extLst xmlns:a="http://schemas.openxmlformats.org/drawingml/2006/main">
              <a:ext uri="{FF2B5EF4-FFF2-40B4-BE49-F238E27FC236}">
                <a16:creationId xmlns:a16="http://schemas.microsoft.com/office/drawing/2014/main" id="{18458CA7-2DCE-447C-94BA-A77D8AB46FBF}"/>
              </a:ext>
            </a:extLst>
          </p:cNvPr>
          <p:cNvSpPr>
            <a:spLocks xmlns:a="http://schemas.openxmlformats.org/drawingml/2006/main" noGrp="1"/>
          </p:cNvSpPr>
          <p:nvPr/>
        </p:nvSpPr>
        <p:spPr>
          <a:xfrm xmlns:a="http://schemas.openxmlformats.org/drawingml/2006/main">
            <a:off x="775970" y="3280410"/>
            <a:ext cx="314261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2)</a:t>
            </a:r>
            <a:r>
              <a:rPr sz="2000" b="1"/>
              <a:t>在随机特征子集中评估最佳分类特征</a:t>
            </a:r>
            <a:endParaRPr sz="2000" b="1"/>
          </a:p>
        </p:txBody>
      </p:sp>
      <p:sp>
        <p:nvSpPr>
          <p:cNvPr id="48" name="文本框 47">
            <a:extLst xmlns:a="http://schemas.openxmlformats.org/drawingml/2006/main">
              <a:ext uri="{FF2B5EF4-FFF2-40B4-BE49-F238E27FC236}">
                <a16:creationId xmlns:a16="http://schemas.microsoft.com/office/drawing/2014/main" id="{11EEC0DB-3634-42AD-9861-7E205A7AD4A6}"/>
              </a:ext>
            </a:extLst>
          </p:cNvPr>
          <p:cNvSpPr>
            <a:spLocks xmlns:a="http://schemas.openxmlformats.org/drawingml/2006/main" noGrp="1"/>
          </p:cNvSpPr>
          <p:nvPr/>
        </p:nvSpPr>
        <p:spPr>
          <a:xfrm xmlns:a="http://schemas.openxmlformats.org/drawingml/2006/main">
            <a:off x="528320" y="4765675"/>
            <a:ext cx="4998085" cy="80708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𝐻</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𝑥</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𝑎𝑟𝑔𝑚𝑎𝑥</m:t>
                  </m:r>
                  <m:nary>
                    <m:naryPr>
                      <m:chr m:val="∑"/>
                      <m:limLoc m:val="undOvr"/>
                      <m:subHide m:val="off"/>
                      <m:supHide m:val="off"/>
                    </m:naryPr>
                    <m:sub>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m:t>
                      </m:r>
                    </m:sub>
                    <m:sup>
                      <m:r>
                        <a:rPr xmlns:a="http://schemas.openxmlformats.org/drawingml/2006/main" lang="en-US" i="1">
                          <a:latin typeface="Cambria Math"/>
                          <a:ea typeface="Cambria Math"/>
                          <a:cs typeface="Cambria Math"/>
                        </a:rPr>
                        <m:t>𝑘</m:t>
                      </m:r>
                    </m:sup>
                    <m:e>
                      <m:r>
                        <a:rPr xmlns:a="http://schemas.openxmlformats.org/drawingml/2006/main" lang="en-US" i="1">
                          <a:latin typeface="Cambria Math"/>
                          <a:ea typeface="Cambria Math"/>
                          <a:cs typeface="Cambria Math"/>
                        </a:rPr>
                        <m:t>𝐼</m:t>
                      </m:r>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ℎ</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𝑥</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𝑌</m:t>
                      </m:r>
                      <m:r>
                        <a:rPr xmlns:a="http://schemas.openxmlformats.org/drawingml/2006/main" lang="en-US" i="1">
                          <a:latin typeface="Cambria Math"/>
                          <a:ea typeface="Cambria Math"/>
                          <a:cs typeface="Cambria Math"/>
                        </a:rPr>
                        <m:t>)</m:t>
                      </m:r>
                    </m:e>
                  </m:nary>
                </m:oMath>
              </m:oMathPara>
            </a14:m>
            <a:endParaRPr/>
          </a:p>
        </p:txBody>
      </p:sp>
      <p:pic>
        <p:nvPicPr>
          <p:cNvPr id="61" name="图片 3"/>
          <p:cNvPicPr>
            <a:picLocks xmlns:a="http://schemas.openxmlformats.org/drawingml/2006/main" noChangeAspect="1"/>
          </p:cNvPicPr>
          <p:nvPr/>
        </p:nvPicPr>
        <p:blipFill>
          <a:blip xmlns:r="http://schemas.openxmlformats.org/officeDocument/2006/relationships" xmlns:a="http://schemas.openxmlformats.org/drawingml/2006/main" r:embed="R11dfc520fd6b4fea"/>
          <a:stretch xmlns:a="http://schemas.openxmlformats.org/drawingml/2006/main">
            <a:fillRect l="0" t="0" r="0" b="0"/>
          </a:stretch>
        </p:blipFill>
        <p:spPr>
          <a:xfrm xmlns:a="http://schemas.openxmlformats.org/drawingml/2006/main">
            <a:off x="6226629" y="884134"/>
            <a:ext cx="3619925" cy="2157724"/>
          </a:xfrm>
          <a:prstGeom xmlns:a="http://schemas.openxmlformats.org/drawingml/2006/main" prst="rect">
            <a:avLst/>
          </a:prstGeom>
        </p:spPr>
      </p:pic>
      <p:pic>
        <p:nvPicPr>
          <p:cNvPr id="62" name="图片 5"/>
          <p:cNvPicPr>
            <a:picLocks xmlns:a="http://schemas.openxmlformats.org/drawingml/2006/main" noChangeAspect="1"/>
          </p:cNvPicPr>
          <p:nvPr/>
        </p:nvPicPr>
        <p:blipFill>
          <a:blip xmlns:r="http://schemas.openxmlformats.org/officeDocument/2006/relationships" xmlns:a="http://schemas.openxmlformats.org/drawingml/2006/main" r:embed="Rf8e490c074354b18"/>
          <a:stretch xmlns:a="http://schemas.openxmlformats.org/drawingml/2006/main">
            <a:fillRect l="0" t="0" r="0" b="0"/>
          </a:stretch>
        </p:blipFill>
        <p:spPr>
          <a:xfrm xmlns:a="http://schemas.openxmlformats.org/drawingml/2006/main">
            <a:off x="4804643" y="3551854"/>
            <a:ext cx="7205974" cy="3031013"/>
          </a:xfrm>
          <a:prstGeom xmlns:a="http://schemas.openxmlformats.org/drawingml/2006/main" prst="rect">
            <a:avLst/>
          </a:prstGeom>
        </p:spPr>
      </p:pic>
      <p:sp>
        <p:nvSpPr>
          <p:cNvPr id="7" name="文本框 6">
            <a:extLst xmlns:a="http://schemas.openxmlformats.org/drawingml/2006/main">
              <a:ext uri="{FF2B5EF4-FFF2-40B4-BE49-F238E27FC236}">
                <a16:creationId xmlns:a16="http://schemas.microsoft.com/office/drawing/2014/main" id="{3008B4C5-3429-9702-0FC1-1B91E6FB0E15}"/>
              </a:ext>
            </a:extLst>
          </p:cNvPr>
          <p:cNvSpPr>
            <a:spLocks xmlns:a="http://schemas.openxmlformats.org/drawingml/2006/main" noGrp="1"/>
          </p:cNvSpPr>
          <p:nvPr/>
        </p:nvSpPr>
        <p:spPr>
          <a:xfrm xmlns:a="http://schemas.openxmlformats.org/drawingml/2006/main">
            <a:off x="4832571" y="1012110"/>
            <a:ext cx="4533499" cy="42774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简单案例：随机森林确定道路速度</a:t>
            </a:r>
          </a:p>
        </p:txBody>
      </p:sp>
      <p:sp>
        <p:nvSpPr>
          <p:cNvPr id="8" name="文本框 7">
            <a:extLst xmlns:a="http://schemas.openxmlformats.org/drawingml/2006/main">
              <a:ext uri="{FF2B5EF4-FFF2-40B4-BE49-F238E27FC236}">
                <a16:creationId xmlns:a16="http://schemas.microsoft.com/office/drawing/2014/main" id="{DFEC638D-B103-4D1B-9CC9-5023B815B4DE}"/>
              </a:ext>
            </a:extLst>
          </p:cNvPr>
          <p:cNvSpPr>
            <a:spLocks xmlns:a="http://schemas.openxmlformats.org/drawingml/2006/main" noGrp="1"/>
          </p:cNvSpPr>
          <p:nvPr/>
        </p:nvSpPr>
        <p:spPr>
          <a:xfrm xmlns:a="http://schemas.openxmlformats.org/drawingml/2006/main">
            <a:off x="4871468" y="1440313"/>
            <a:ext cx="6623846" cy="215443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t>训练样本自变量</a:t>
            </a:r>
            <a:r>
              <a:rPr sz="2000"/>
              <a:t>：道路等级、可视域、坡度、道路起伏度</a:t>
            </a:r>
            <a:endParaRPr sz="2000"/>
          </a:p>
          <a:p xmlns:a="http://schemas.openxmlformats.org/drawingml/2006/main">
            <a:r>
              <a:rPr sz="2000" b="1"/>
              <a:t>应变量</a:t>
            </a:r>
            <a:r>
              <a:rPr sz="2000"/>
              <a:t>：速度</a:t>
            </a:r>
            <a:endParaRPr sz="2000"/>
          </a:p>
          <a:p xmlns:a="http://schemas.openxmlformats.org/drawingml/2006/main">
            <a:endParaRPr sz="2000"/>
          </a:p>
          <a:p xmlns:a="http://schemas.openxmlformats.org/drawingml/2006/main">
            <a:r>
              <a:t>选取典型路段利用经验人为确定合理的运动速度，并获取样本相应的环境因子数据，采用随机森林分类获得其他路段的安全运动速度。</a:t>
            </a:r>
            <a:endParaRPr/>
          </a:p>
          <a:p xmlns:a="http://schemas.openxmlformats.org/drawingml/2006/main">
            <a:endParaRPr sz="2000" b="1"/>
          </a:p>
        </p:txBody>
      </p:sp>
    </p:spTree>
    <p:extLst>
      <p:ext uri="{BB962C8B-B14F-4D97-AF65-F5344CB8AC3E}">
        <p14:creationId xmlns:p14="http://schemas.microsoft.com/office/powerpoint/2010/main" val="177659040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F68F5B27-D69D-4F44-BD8E-349E17134273}"/>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4866D526-A37B-42F3-9BE6-BBADE8413EEB}"/>
              </a:ext>
            </a:extLst>
          </p:cNvPr>
          <p:cNvSpPr>
            <a:spLocks xmlns:a="http://schemas.openxmlformats.org/drawingml/2006/main" noGrp="1"/>
          </p:cNvSpPr>
          <p:nvPr/>
        </p:nvSpPr>
        <p:spPr>
          <a:xfrm xmlns:a="http://schemas.openxmlformats.org/drawingml/2006/main" rot="0" flipH="0" flipV="0">
            <a:off x="271145" y="1021713"/>
            <a:ext cx="432244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5.2.3 </a:t>
            </a:r>
            <a:r>
              <a:rPr sz="2400" b="1">
                <a:solidFill>
                  <a:schemeClr val="accent1"/>
                </a:solidFill>
                <a:latin typeface="+mj-lt"/>
                <a:ea typeface="+mj-lt"/>
                <a:cs typeface="+mj-lt"/>
              </a:rPr>
              <a:t>支持向量机避障策略</a:t>
            </a:r>
          </a:p>
        </p:txBody>
      </p:sp>
      <p:cxnSp>
        <p:nvCxnSpPr>
          <p:cNvPr id="132" name="直接箭头连接符 66"/>
          <p:cNvCxnSpPr/>
          <p:nvPr/>
        </p:nvCxnSpPr>
        <p:spPr>
          <a:xfrm xmlns:a="http://schemas.openxmlformats.org/drawingml/2006/main" flipV="1">
            <a:off x="6948170" y="5103495"/>
            <a:ext cx="3295650" cy="19050"/>
          </a:xfrm>
          <a:prstGeom xmlns:a="http://schemas.openxmlformats.org/drawingml/2006/main" prst="straightConnector1">
            <a:avLst/>
          </a:prstGeom>
          <a:ln xmlns:a="http://schemas.openxmlformats.org/drawingml/2006/main" w="31750" cap="rnd">
            <a:solidFill>
              <a:schemeClr val="accent1"/>
            </a:solidFill>
            <a:round/>
            <a:tailEnd type="arrow" w="med" len="med"/>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cxnSp>
        <p:nvCxnSpPr>
          <p:cNvPr id="133" name="直接箭头连接符 67"/>
          <p:cNvCxnSpPr/>
          <p:nvPr/>
        </p:nvCxnSpPr>
        <p:spPr>
          <a:xfrm xmlns:a="http://schemas.openxmlformats.org/drawingml/2006/main" flipV="1">
            <a:off x="6948170" y="1884045"/>
            <a:ext cx="0" cy="3200400"/>
          </a:xfrm>
          <a:prstGeom xmlns:a="http://schemas.openxmlformats.org/drawingml/2006/main" prst="straightConnector1">
            <a:avLst/>
          </a:prstGeom>
          <a:ln xmlns:a="http://schemas.openxmlformats.org/drawingml/2006/main" w="31750" cap="rnd">
            <a:solidFill>
              <a:schemeClr val="accent1"/>
            </a:solidFill>
            <a:round/>
            <a:tailEnd type="arrow" w="med" len="med"/>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sp>
        <p:nvSpPr>
          <p:cNvPr id="69" name="椭圆 68">
            <a:extLst xmlns:a="http://schemas.openxmlformats.org/drawingml/2006/main">
              <a:ext uri="{FF2B5EF4-FFF2-40B4-BE49-F238E27FC236}">
                <a16:creationId xmlns:a16="http://schemas.microsoft.com/office/drawing/2014/main" id="{7243D3D9-9F30-443B-99B4-55341E89A4CF}"/>
              </a:ext>
            </a:extLst>
          </p:cNvPr>
          <p:cNvSpPr>
            <a:spLocks xmlns:a="http://schemas.openxmlformats.org/drawingml/2006/main" noGrp="1"/>
          </p:cNvSpPr>
          <p:nvPr/>
        </p:nvSpPr>
        <p:spPr>
          <a:xfrm xmlns:a="http://schemas.openxmlformats.org/drawingml/2006/main">
            <a:off x="7272020" y="3636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椭圆 69">
            <a:extLst xmlns:a="http://schemas.openxmlformats.org/drawingml/2006/main">
              <a:ext uri="{FF2B5EF4-FFF2-40B4-BE49-F238E27FC236}">
                <a16:creationId xmlns:a16="http://schemas.microsoft.com/office/drawing/2014/main" id="{4BFDE07F-EB5A-4C78-80A7-E641020213A2}"/>
              </a:ext>
            </a:extLst>
          </p:cNvPr>
          <p:cNvSpPr>
            <a:spLocks xmlns:a="http://schemas.openxmlformats.org/drawingml/2006/main" noGrp="1"/>
          </p:cNvSpPr>
          <p:nvPr/>
        </p:nvSpPr>
        <p:spPr>
          <a:xfrm xmlns:a="http://schemas.openxmlformats.org/drawingml/2006/main">
            <a:off x="7653020" y="3763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椭圆 70">
            <a:extLst xmlns:a="http://schemas.openxmlformats.org/drawingml/2006/main">
              <a:ext uri="{FF2B5EF4-FFF2-40B4-BE49-F238E27FC236}">
                <a16:creationId xmlns:a16="http://schemas.microsoft.com/office/drawing/2014/main" id="{D25B2663-F2B1-48F9-9F50-024A4E2119CA}"/>
              </a:ext>
            </a:extLst>
          </p:cNvPr>
          <p:cNvSpPr>
            <a:spLocks xmlns:a="http://schemas.openxmlformats.org/drawingml/2006/main" noGrp="1"/>
          </p:cNvSpPr>
          <p:nvPr/>
        </p:nvSpPr>
        <p:spPr>
          <a:xfrm xmlns:a="http://schemas.openxmlformats.org/drawingml/2006/main">
            <a:off x="7297420" y="4166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椭圆 71">
            <a:extLst xmlns:a="http://schemas.openxmlformats.org/drawingml/2006/main">
              <a:ext uri="{FF2B5EF4-FFF2-40B4-BE49-F238E27FC236}">
                <a16:creationId xmlns:a16="http://schemas.microsoft.com/office/drawing/2014/main" id="{DFDE3160-27B2-4FDB-9937-3550138E3715}"/>
              </a:ext>
            </a:extLst>
          </p:cNvPr>
          <p:cNvSpPr>
            <a:spLocks xmlns:a="http://schemas.openxmlformats.org/drawingml/2006/main" noGrp="1"/>
          </p:cNvSpPr>
          <p:nvPr/>
        </p:nvSpPr>
        <p:spPr>
          <a:xfrm xmlns:a="http://schemas.openxmlformats.org/drawingml/2006/main">
            <a:off x="7602220" y="4166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3" name="椭圆 72">
            <a:extLst xmlns:a="http://schemas.openxmlformats.org/drawingml/2006/main">
              <a:ext uri="{FF2B5EF4-FFF2-40B4-BE49-F238E27FC236}">
                <a16:creationId xmlns:a16="http://schemas.microsoft.com/office/drawing/2014/main" id="{B73077F6-8F94-4276-B43F-5402A2ABC59E}"/>
              </a:ext>
            </a:extLst>
          </p:cNvPr>
          <p:cNvSpPr>
            <a:spLocks xmlns:a="http://schemas.openxmlformats.org/drawingml/2006/main" noGrp="1"/>
          </p:cNvSpPr>
          <p:nvPr/>
        </p:nvSpPr>
        <p:spPr>
          <a:xfrm xmlns:a="http://schemas.openxmlformats.org/drawingml/2006/main">
            <a:off x="7780020" y="4144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椭圆 73">
            <a:extLst xmlns:a="http://schemas.openxmlformats.org/drawingml/2006/main">
              <a:ext uri="{FF2B5EF4-FFF2-40B4-BE49-F238E27FC236}">
                <a16:creationId xmlns:a16="http://schemas.microsoft.com/office/drawing/2014/main" id="{4FDAFBFE-AD82-4919-BD2C-454ABFF0D317}"/>
              </a:ext>
            </a:extLst>
          </p:cNvPr>
          <p:cNvSpPr>
            <a:spLocks xmlns:a="http://schemas.openxmlformats.org/drawingml/2006/main" noGrp="1"/>
          </p:cNvSpPr>
          <p:nvPr/>
        </p:nvSpPr>
        <p:spPr>
          <a:xfrm xmlns:a="http://schemas.openxmlformats.org/drawingml/2006/main">
            <a:off x="7602220" y="4570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椭圆 74">
            <a:extLst xmlns:a="http://schemas.openxmlformats.org/drawingml/2006/main">
              <a:ext uri="{FF2B5EF4-FFF2-40B4-BE49-F238E27FC236}">
                <a16:creationId xmlns:a16="http://schemas.microsoft.com/office/drawing/2014/main" id="{17ED41EB-3FF9-49EA-B1B4-B28D129CCE0D}"/>
              </a:ext>
            </a:extLst>
          </p:cNvPr>
          <p:cNvSpPr>
            <a:spLocks xmlns:a="http://schemas.openxmlformats.org/drawingml/2006/main" noGrp="1"/>
          </p:cNvSpPr>
          <p:nvPr/>
        </p:nvSpPr>
        <p:spPr>
          <a:xfrm xmlns:a="http://schemas.openxmlformats.org/drawingml/2006/main">
            <a:off x="8234045" y="4570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椭圆 75">
            <a:extLst xmlns:a="http://schemas.openxmlformats.org/drawingml/2006/main">
              <a:ext uri="{FF2B5EF4-FFF2-40B4-BE49-F238E27FC236}">
                <a16:creationId xmlns:a16="http://schemas.microsoft.com/office/drawing/2014/main" id="{AD07FD0F-828F-4CC4-8E5C-A8480E0EBD75}"/>
              </a:ext>
            </a:extLst>
          </p:cNvPr>
          <p:cNvSpPr>
            <a:spLocks xmlns:a="http://schemas.openxmlformats.org/drawingml/2006/main" noGrp="1"/>
          </p:cNvSpPr>
          <p:nvPr/>
        </p:nvSpPr>
        <p:spPr>
          <a:xfrm xmlns:a="http://schemas.openxmlformats.org/drawingml/2006/main">
            <a:off x="8024495" y="446532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椭圆 76">
            <a:extLst xmlns:a="http://schemas.openxmlformats.org/drawingml/2006/main">
              <a:ext uri="{FF2B5EF4-FFF2-40B4-BE49-F238E27FC236}">
                <a16:creationId xmlns:a16="http://schemas.microsoft.com/office/drawing/2014/main" id="{EC2BD6D4-638B-4C7A-8C8D-AFDA3FDCCAB3}"/>
              </a:ext>
            </a:extLst>
          </p:cNvPr>
          <p:cNvSpPr>
            <a:spLocks xmlns:a="http://schemas.openxmlformats.org/drawingml/2006/main" noGrp="1"/>
          </p:cNvSpPr>
          <p:nvPr/>
        </p:nvSpPr>
        <p:spPr>
          <a:xfrm xmlns:a="http://schemas.openxmlformats.org/drawingml/2006/main">
            <a:off x="8024495" y="4039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椭圆 77">
            <a:extLst xmlns:a="http://schemas.openxmlformats.org/drawingml/2006/main">
              <a:ext uri="{FF2B5EF4-FFF2-40B4-BE49-F238E27FC236}">
                <a16:creationId xmlns:a16="http://schemas.microsoft.com/office/drawing/2014/main" id="{3E878FBF-5F29-4649-933E-69BA9A91B1D3}"/>
              </a:ext>
            </a:extLst>
          </p:cNvPr>
          <p:cNvSpPr>
            <a:spLocks xmlns:a="http://schemas.openxmlformats.org/drawingml/2006/main" noGrp="1"/>
          </p:cNvSpPr>
          <p:nvPr/>
        </p:nvSpPr>
        <p:spPr>
          <a:xfrm xmlns:a="http://schemas.openxmlformats.org/drawingml/2006/main">
            <a:off x="7675245" y="33889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椭圆 78">
            <a:extLst xmlns:a="http://schemas.openxmlformats.org/drawingml/2006/main">
              <a:ext uri="{FF2B5EF4-FFF2-40B4-BE49-F238E27FC236}">
                <a16:creationId xmlns:a16="http://schemas.microsoft.com/office/drawing/2014/main" id="{7711B51E-EB4A-44B3-B54B-D97E6B3EDCF0}"/>
              </a:ext>
            </a:extLst>
          </p:cNvPr>
          <p:cNvSpPr>
            <a:spLocks xmlns:a="http://schemas.openxmlformats.org/drawingml/2006/main" noGrp="1"/>
          </p:cNvSpPr>
          <p:nvPr/>
        </p:nvSpPr>
        <p:spPr>
          <a:xfrm xmlns:a="http://schemas.openxmlformats.org/drawingml/2006/main">
            <a:off x="8465820" y="4062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椭圆 79">
            <a:extLst xmlns:a="http://schemas.openxmlformats.org/drawingml/2006/main">
              <a:ext uri="{FF2B5EF4-FFF2-40B4-BE49-F238E27FC236}">
                <a16:creationId xmlns:a16="http://schemas.microsoft.com/office/drawing/2014/main" id="{571C068B-3683-4A43-891D-51A06C84F923}"/>
              </a:ext>
            </a:extLst>
          </p:cNvPr>
          <p:cNvSpPr>
            <a:spLocks xmlns:a="http://schemas.openxmlformats.org/drawingml/2006/main" noGrp="1"/>
          </p:cNvSpPr>
          <p:nvPr/>
        </p:nvSpPr>
        <p:spPr>
          <a:xfrm xmlns:a="http://schemas.openxmlformats.org/drawingml/2006/main">
            <a:off x="8543925" y="273050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椭圆 80">
            <a:extLst xmlns:a="http://schemas.openxmlformats.org/drawingml/2006/main">
              <a:ext uri="{FF2B5EF4-FFF2-40B4-BE49-F238E27FC236}">
                <a16:creationId xmlns:a16="http://schemas.microsoft.com/office/drawing/2014/main" id="{52A89C58-52C8-4FEC-8C7B-9C63755467D0}"/>
              </a:ext>
            </a:extLst>
          </p:cNvPr>
          <p:cNvSpPr>
            <a:spLocks xmlns:a="http://schemas.openxmlformats.org/drawingml/2006/main" noGrp="1"/>
          </p:cNvSpPr>
          <p:nvPr/>
        </p:nvSpPr>
        <p:spPr>
          <a:xfrm xmlns:a="http://schemas.openxmlformats.org/drawingml/2006/main">
            <a:off x="8986520" y="22269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椭圆 81">
            <a:extLst xmlns:a="http://schemas.openxmlformats.org/drawingml/2006/main">
              <a:ext uri="{FF2B5EF4-FFF2-40B4-BE49-F238E27FC236}">
                <a16:creationId xmlns:a16="http://schemas.microsoft.com/office/drawing/2014/main" id="{BAB95BA2-BA82-4F71-B5DE-4FA4E645CC95}"/>
              </a:ext>
            </a:extLst>
          </p:cNvPr>
          <p:cNvSpPr>
            <a:spLocks xmlns:a="http://schemas.openxmlformats.org/drawingml/2006/main" noGrp="1"/>
          </p:cNvSpPr>
          <p:nvPr/>
        </p:nvSpPr>
        <p:spPr>
          <a:xfrm xmlns:a="http://schemas.openxmlformats.org/drawingml/2006/main">
            <a:off x="9494520" y="24364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椭圆 82">
            <a:extLst xmlns:a="http://schemas.openxmlformats.org/drawingml/2006/main">
              <a:ext uri="{FF2B5EF4-FFF2-40B4-BE49-F238E27FC236}">
                <a16:creationId xmlns:a16="http://schemas.microsoft.com/office/drawing/2014/main" id="{28996560-4D3D-4D5E-8C6F-7A5A2E355869}"/>
              </a:ext>
            </a:extLst>
          </p:cNvPr>
          <p:cNvSpPr>
            <a:spLocks xmlns:a="http://schemas.openxmlformats.org/drawingml/2006/main" noGrp="1"/>
          </p:cNvSpPr>
          <p:nvPr/>
        </p:nvSpPr>
        <p:spPr>
          <a:xfrm xmlns:a="http://schemas.openxmlformats.org/drawingml/2006/main">
            <a:off x="9196070" y="301752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椭圆 83">
            <a:extLst xmlns:a="http://schemas.openxmlformats.org/drawingml/2006/main">
              <a:ext uri="{FF2B5EF4-FFF2-40B4-BE49-F238E27FC236}">
                <a16:creationId xmlns:a16="http://schemas.microsoft.com/office/drawing/2014/main" id="{EF5C05C1-2906-4288-AA3A-DADC768D12A9}"/>
              </a:ext>
            </a:extLst>
          </p:cNvPr>
          <p:cNvSpPr>
            <a:spLocks xmlns:a="http://schemas.openxmlformats.org/drawingml/2006/main" noGrp="1"/>
          </p:cNvSpPr>
          <p:nvPr/>
        </p:nvSpPr>
        <p:spPr>
          <a:xfrm xmlns:a="http://schemas.openxmlformats.org/drawingml/2006/main">
            <a:off x="9875520" y="29127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椭圆 84">
            <a:extLst xmlns:a="http://schemas.openxmlformats.org/drawingml/2006/main">
              <a:ext uri="{FF2B5EF4-FFF2-40B4-BE49-F238E27FC236}">
                <a16:creationId xmlns:a16="http://schemas.microsoft.com/office/drawing/2014/main" id="{1E2A7E36-DA20-4E38-9C9E-26F77327B54C}"/>
              </a:ext>
            </a:extLst>
          </p:cNvPr>
          <p:cNvSpPr>
            <a:spLocks xmlns:a="http://schemas.openxmlformats.org/drawingml/2006/main" noGrp="1"/>
          </p:cNvSpPr>
          <p:nvPr/>
        </p:nvSpPr>
        <p:spPr>
          <a:xfrm xmlns:a="http://schemas.openxmlformats.org/drawingml/2006/main">
            <a:off x="8986520" y="27539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6" name="椭圆 85">
            <a:extLst xmlns:a="http://schemas.openxmlformats.org/drawingml/2006/main">
              <a:ext uri="{FF2B5EF4-FFF2-40B4-BE49-F238E27FC236}">
                <a16:creationId xmlns:a16="http://schemas.microsoft.com/office/drawing/2014/main" id="{1CB6B517-B6A9-4BAF-A543-BCFC74C46D30}"/>
              </a:ext>
            </a:extLst>
          </p:cNvPr>
          <p:cNvSpPr>
            <a:spLocks xmlns:a="http://schemas.openxmlformats.org/drawingml/2006/main" noGrp="1"/>
          </p:cNvSpPr>
          <p:nvPr/>
        </p:nvSpPr>
        <p:spPr>
          <a:xfrm xmlns:a="http://schemas.openxmlformats.org/drawingml/2006/main">
            <a:off x="10081895" y="35159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7" name="椭圆 86">
            <a:extLst xmlns:a="http://schemas.openxmlformats.org/drawingml/2006/main">
              <a:ext uri="{FF2B5EF4-FFF2-40B4-BE49-F238E27FC236}">
                <a16:creationId xmlns:a16="http://schemas.microsoft.com/office/drawing/2014/main" id="{9DB9009B-44FD-4F15-9520-1C3D7B97F416}"/>
              </a:ext>
            </a:extLst>
          </p:cNvPr>
          <p:cNvSpPr>
            <a:spLocks xmlns:a="http://schemas.openxmlformats.org/drawingml/2006/main" noGrp="1"/>
          </p:cNvSpPr>
          <p:nvPr/>
        </p:nvSpPr>
        <p:spPr>
          <a:xfrm xmlns:a="http://schemas.openxmlformats.org/drawingml/2006/main">
            <a:off x="9599295" y="29127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椭圆 87">
            <a:extLst xmlns:a="http://schemas.openxmlformats.org/drawingml/2006/main">
              <a:ext uri="{FF2B5EF4-FFF2-40B4-BE49-F238E27FC236}">
                <a16:creationId xmlns:a16="http://schemas.microsoft.com/office/drawing/2014/main" id="{62E3BA36-F4B4-4054-9FBF-FD4037EB0BBF}"/>
              </a:ext>
            </a:extLst>
          </p:cNvPr>
          <p:cNvSpPr>
            <a:spLocks xmlns:a="http://schemas.openxmlformats.org/drawingml/2006/main" noGrp="1"/>
          </p:cNvSpPr>
          <p:nvPr/>
        </p:nvSpPr>
        <p:spPr>
          <a:xfrm xmlns:a="http://schemas.openxmlformats.org/drawingml/2006/main">
            <a:off x="9494520" y="328422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9" name="椭圆 88">
            <a:extLst xmlns:a="http://schemas.openxmlformats.org/drawingml/2006/main">
              <a:ext uri="{FF2B5EF4-FFF2-40B4-BE49-F238E27FC236}">
                <a16:creationId xmlns:a16="http://schemas.microsoft.com/office/drawing/2014/main" id="{C504F16E-4783-4C30-9281-C54A83ACD877}"/>
              </a:ext>
            </a:extLst>
          </p:cNvPr>
          <p:cNvSpPr>
            <a:spLocks xmlns:a="http://schemas.openxmlformats.org/drawingml/2006/main" noGrp="1"/>
          </p:cNvSpPr>
          <p:nvPr/>
        </p:nvSpPr>
        <p:spPr>
          <a:xfrm xmlns:a="http://schemas.openxmlformats.org/drawingml/2006/main">
            <a:off x="9238615" y="362077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椭圆 89">
            <a:extLst xmlns:a="http://schemas.openxmlformats.org/drawingml/2006/main">
              <a:ext uri="{FF2B5EF4-FFF2-40B4-BE49-F238E27FC236}">
                <a16:creationId xmlns:a16="http://schemas.microsoft.com/office/drawing/2014/main" id="{C6C7BC28-190F-41D3-8DA6-EE1C05897BB1}"/>
              </a:ext>
            </a:extLst>
          </p:cNvPr>
          <p:cNvSpPr>
            <a:spLocks xmlns:a="http://schemas.openxmlformats.org/drawingml/2006/main" noGrp="1"/>
          </p:cNvSpPr>
          <p:nvPr/>
        </p:nvSpPr>
        <p:spPr>
          <a:xfrm xmlns:a="http://schemas.openxmlformats.org/drawingml/2006/main">
            <a:off x="8753475" y="31794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椭圆 90">
            <a:extLst xmlns:a="http://schemas.openxmlformats.org/drawingml/2006/main">
              <a:ext uri="{FF2B5EF4-FFF2-40B4-BE49-F238E27FC236}">
                <a16:creationId xmlns:a16="http://schemas.microsoft.com/office/drawing/2014/main" id="{8DC9D862-14EC-4861-821B-74CDC46D63E1}"/>
              </a:ext>
            </a:extLst>
          </p:cNvPr>
          <p:cNvSpPr>
            <a:spLocks xmlns:a="http://schemas.openxmlformats.org/drawingml/2006/main" noGrp="1"/>
          </p:cNvSpPr>
          <p:nvPr/>
        </p:nvSpPr>
        <p:spPr>
          <a:xfrm xmlns:a="http://schemas.openxmlformats.org/drawingml/2006/main">
            <a:off x="10462895" y="177927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椭圆 91">
            <a:extLst xmlns:a="http://schemas.openxmlformats.org/drawingml/2006/main">
              <a:ext uri="{FF2B5EF4-FFF2-40B4-BE49-F238E27FC236}">
                <a16:creationId xmlns:a16="http://schemas.microsoft.com/office/drawing/2014/main" id="{D89B4640-EE70-4753-8F79-943CB0F04892}"/>
              </a:ext>
            </a:extLst>
          </p:cNvPr>
          <p:cNvSpPr>
            <a:spLocks xmlns:a="http://schemas.openxmlformats.org/drawingml/2006/main" noGrp="1"/>
          </p:cNvSpPr>
          <p:nvPr/>
        </p:nvSpPr>
        <p:spPr>
          <a:xfrm xmlns:a="http://schemas.openxmlformats.org/drawingml/2006/main">
            <a:off x="10462895" y="21221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4" name="文本框 93">
            <a:extLst xmlns:a="http://schemas.openxmlformats.org/drawingml/2006/main">
              <a:ext uri="{FF2B5EF4-FFF2-40B4-BE49-F238E27FC236}">
                <a16:creationId xmlns:a16="http://schemas.microsoft.com/office/drawing/2014/main" id="{237FD727-F28B-4555-9D41-CF89EB384D28}"/>
              </a:ext>
            </a:extLst>
          </p:cNvPr>
          <p:cNvSpPr>
            <a:spLocks xmlns:a="http://schemas.openxmlformats.org/drawingml/2006/main" noGrp="1"/>
          </p:cNvSpPr>
          <p:nvPr/>
        </p:nvSpPr>
        <p:spPr>
          <a:xfrm xmlns:a="http://schemas.openxmlformats.org/drawingml/2006/main">
            <a:off x="10567670" y="1646555"/>
            <a:ext cx="4064000" cy="370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oMath>
              </m:oMathPara>
            </a14:m>
            <a:endParaRPr/>
          </a:p>
        </p:txBody>
      </p:sp>
      <p:sp>
        <p:nvSpPr>
          <p:cNvPr id="95" name="文本框 94">
            <a:extLst xmlns:a="http://schemas.openxmlformats.org/drawingml/2006/main">
              <a:ext uri="{FF2B5EF4-FFF2-40B4-BE49-F238E27FC236}">
                <a16:creationId xmlns:a16="http://schemas.microsoft.com/office/drawing/2014/main" id="{3E7A0049-6D4D-48EF-A0EF-0A149DE9CD22}"/>
              </a:ext>
            </a:extLst>
          </p:cNvPr>
          <p:cNvSpPr>
            <a:spLocks xmlns:a="http://schemas.openxmlformats.org/drawingml/2006/main" noGrp="1"/>
          </p:cNvSpPr>
          <p:nvPr/>
        </p:nvSpPr>
        <p:spPr>
          <a:xfrm xmlns:a="http://schemas.openxmlformats.org/drawingml/2006/main">
            <a:off x="10567670" y="1960880"/>
            <a:ext cx="4064000" cy="370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oMath>
              </m:oMathPara>
            </a14:m>
            <a:endParaRPr/>
          </a:p>
        </p:txBody>
      </p:sp>
      <p:sp>
        <p:nvSpPr>
          <p:cNvPr id="97" name="文本框 96">
            <a:extLst xmlns:a="http://schemas.openxmlformats.org/drawingml/2006/main">
              <a:ext uri="{FF2B5EF4-FFF2-40B4-BE49-F238E27FC236}">
                <a16:creationId xmlns:a16="http://schemas.microsoft.com/office/drawing/2014/main" id="{DF8A0203-8F77-4940-8B56-F40A4AEF420B}"/>
              </a:ext>
            </a:extLst>
          </p:cNvPr>
          <p:cNvSpPr>
            <a:spLocks xmlns:a="http://schemas.openxmlformats.org/drawingml/2006/main" noGrp="1"/>
          </p:cNvSpPr>
          <p:nvPr/>
        </p:nvSpPr>
        <p:spPr>
          <a:xfrm xmlns:a="http://schemas.openxmlformats.org/drawingml/2006/main">
            <a:off x="370205" y="1884045"/>
            <a:ext cx="624776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支持向量机（</a:t>
            </a:r>
            <a:r>
              <a:rPr sz="2000" b="1"/>
              <a:t>Support Vector Machine, SVM</a:t>
            </a:r>
            <a:r>
              <a:rPr sz="2000" b="1"/>
              <a:t>）</a:t>
            </a:r>
          </a:p>
          <a:p xmlns:a="http://schemas.openxmlformats.org/drawingml/2006/main">
            <a:pPr algn="l">
              <a:lnSpc>
                <a:spcPct val="120000"/>
              </a:lnSpc>
              <a:buNone/>
            </a:pPr>
            <a:endParaRPr sz="2000" b="1"/>
          </a:p>
        </p:txBody>
      </p:sp>
      <p:sp>
        <p:nvSpPr>
          <p:cNvPr id="100" name="文本框 99">
            <a:extLst xmlns:a="http://schemas.openxmlformats.org/drawingml/2006/main">
              <a:ext uri="{FF2B5EF4-FFF2-40B4-BE49-F238E27FC236}">
                <a16:creationId xmlns:a16="http://schemas.microsoft.com/office/drawing/2014/main" id="{EF760CAE-1DA2-4CA9-8C27-04B8AD0C0C2C}"/>
              </a:ext>
            </a:extLst>
          </p:cNvPr>
          <p:cNvSpPr>
            <a:spLocks xmlns:a="http://schemas.openxmlformats.org/drawingml/2006/main" noGrp="1"/>
          </p:cNvSpPr>
          <p:nvPr/>
        </p:nvSpPr>
        <p:spPr>
          <a:xfrm xmlns:a="http://schemas.openxmlformats.org/drawingml/2006/main">
            <a:off x="675005" y="2835275"/>
            <a:ext cx="624776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1)</a:t>
            </a:r>
            <a:r>
              <a:rPr sz="2000" b="1"/>
              <a:t>将数据映射到高维空间</a:t>
            </a:r>
          </a:p>
          <a:p xmlns:a="http://schemas.openxmlformats.org/drawingml/2006/main">
            <a:pPr algn="l">
              <a:lnSpc>
                <a:spcPct val="120000"/>
              </a:lnSpc>
              <a:buNone/>
            </a:pPr>
            <a:endParaRPr sz="2000" b="1"/>
          </a:p>
        </p:txBody>
      </p:sp>
      <p:sp>
        <p:nvSpPr>
          <p:cNvPr id="101" name="文本框 100">
            <a:extLst xmlns:a="http://schemas.openxmlformats.org/drawingml/2006/main">
              <a:ext uri="{FF2B5EF4-FFF2-40B4-BE49-F238E27FC236}">
                <a16:creationId xmlns:a16="http://schemas.microsoft.com/office/drawing/2014/main" id="{360C8942-287D-4FE7-9015-9DB9A88D0FBB}"/>
              </a:ext>
            </a:extLst>
          </p:cNvPr>
          <p:cNvSpPr>
            <a:spLocks xmlns:a="http://schemas.openxmlformats.org/drawingml/2006/main" noGrp="1"/>
          </p:cNvSpPr>
          <p:nvPr/>
        </p:nvSpPr>
        <p:spPr>
          <a:xfrm xmlns:a="http://schemas.openxmlformats.org/drawingml/2006/main">
            <a:off x="675005" y="3820795"/>
            <a:ext cx="62477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2)</a:t>
            </a:r>
            <a:r>
              <a:rPr sz="2000" b="1"/>
              <a:t>寻找超平面分割不同类别数据</a:t>
            </a:r>
          </a:p>
        </p:txBody>
      </p:sp>
      <p:sp>
        <p:nvSpPr>
          <p:cNvPr id="104" name="直角三角形 17">
            <a:extLst xmlns:a="http://schemas.openxmlformats.org/drawingml/2006/main">
              <a:ext uri="{FF2B5EF4-FFF2-40B4-BE49-F238E27FC236}">
                <a16:creationId xmlns:a16="http://schemas.microsoft.com/office/drawing/2014/main" id="{4364115F-FD1F-40AE-9584-4112797E6A2A}"/>
              </a:ext>
            </a:extLst>
          </p:cNvPr>
          <p:cNvSpPr>
            <a:spLocks xmlns:a="http://schemas.openxmlformats.org/drawingml/2006/main" noGrp="1"/>
          </p:cNvSpPr>
          <p:nvPr/>
        </p:nvSpPr>
        <p:spPr>
          <a:xfrm xmlns:a="http://schemas.openxmlformats.org/drawingml/2006/main" rot="16200000" flipH="0" flipV="1">
            <a:off x="1932305" y="4094163"/>
            <a:ext cx="780415" cy="789784"/>
          </a:xfrm>
          <a:custGeom xmlns:a="http://schemas.openxmlformats.org/drawingml/2006/main">
            <a:gdLst>
              <a:gd name="connsiteX0" fmla="*/ 0 w 1604755"/>
              <a:gd name="connsiteY0" fmla="*/ 550392 h 550392"/>
              <a:gd name="connsiteX1" fmla="*/ 0 w 1604755"/>
              <a:gd name="connsiteY1" fmla="*/ 0 h 550392"/>
              <a:gd name="connsiteX2" fmla="*/ 1604755 w 1604755"/>
              <a:gd name="connsiteY2" fmla="*/ 550392 h 550392"/>
              <a:gd name="connsiteX3" fmla="*/ 0 w 1604755"/>
              <a:gd name="connsiteY3" fmla="*/ 550392 h 550392"/>
              <a:gd name="connsiteX0-1" fmla="*/ 0 w 2879835"/>
              <a:gd name="connsiteY0-2" fmla="*/ 550392 h 1525752"/>
              <a:gd name="connsiteX1-3" fmla="*/ 0 w 2879835"/>
              <a:gd name="connsiteY1-4" fmla="*/ 0 h 1525752"/>
              <a:gd name="connsiteX2-5" fmla="*/ 2879835 w 2879835"/>
              <a:gd name="connsiteY2-6" fmla="*/ 1525752 h 1525752"/>
              <a:gd name="connsiteX3-7" fmla="*/ 0 w 2879835"/>
              <a:gd name="connsiteY3-8" fmla="*/ 550392 h 1525752"/>
              <a:gd name="connsiteX0-9" fmla="*/ 0 w 2790935"/>
              <a:gd name="connsiteY0-10" fmla="*/ 550392 h 1532102"/>
              <a:gd name="connsiteX1-11" fmla="*/ 0 w 2790935"/>
              <a:gd name="connsiteY1-12" fmla="*/ 0 h 1532102"/>
              <a:gd name="connsiteX2-13" fmla="*/ 2790935 w 2790935"/>
              <a:gd name="connsiteY2-14" fmla="*/ 1532102 h 1532102"/>
              <a:gd name="connsiteX3-15" fmla="*/ 0 w 2790935"/>
              <a:gd name="connsiteY3-16" fmla="*/ 550392 h 1532102"/>
              <a:gd name="connsiteX0-17" fmla="*/ 0 w 2473220"/>
              <a:gd name="connsiteY0-18" fmla="*/ 550392 h 1516604"/>
              <a:gd name="connsiteX1-19" fmla="*/ 0 w 2473220"/>
              <a:gd name="connsiteY1-20" fmla="*/ 0 h 1516604"/>
              <a:gd name="connsiteX2-21" fmla="*/ 2473220 w 2473220"/>
              <a:gd name="connsiteY2-22" fmla="*/ 1516604 h 1516604"/>
              <a:gd name="connsiteX3-23" fmla="*/ 0 w 2473220"/>
              <a:gd name="connsiteY3-24" fmla="*/ 550392 h 1516604"/>
              <a:gd name="connsiteX0-25" fmla="*/ 0 w 1448753"/>
              <a:gd name="connsiteY0-26" fmla="*/ 550392 h 1533537"/>
              <a:gd name="connsiteX1-27" fmla="*/ 0 w 1448753"/>
              <a:gd name="connsiteY1-28" fmla="*/ 0 h 1533537"/>
              <a:gd name="connsiteX2-29" fmla="*/ 1448753 w 1448753"/>
              <a:gd name="connsiteY2-30" fmla="*/ 1533537 h 1533537"/>
              <a:gd name="connsiteX3-31" fmla="*/ 0 w 1448753"/>
              <a:gd name="connsiteY3-32" fmla="*/ 550392 h 1533537"/>
              <a:gd name="connsiteX0-33" fmla="*/ 0 w 1469919"/>
              <a:gd name="connsiteY0-34" fmla="*/ 550392 h 1575870"/>
              <a:gd name="connsiteX1-35" fmla="*/ 0 w 1469919"/>
              <a:gd name="connsiteY1-36" fmla="*/ 0 h 1575870"/>
              <a:gd name="connsiteX2-37" fmla="*/ 1469919 w 1469919"/>
              <a:gd name="connsiteY2-38" fmla="*/ 1575870 h 1575870"/>
              <a:gd name="connsiteX3-39" fmla="*/ 0 w 1469919"/>
              <a:gd name="connsiteY3-40" fmla="*/ 550392 h 1575870"/>
              <a:gd name="connsiteX0-41" fmla="*/ 0 w 1469919"/>
              <a:gd name="connsiteY0-42" fmla="*/ 1007592 h 1575870"/>
              <a:gd name="connsiteX1-43" fmla="*/ 0 w 1469919"/>
              <a:gd name="connsiteY1-44" fmla="*/ 0 h 1575870"/>
              <a:gd name="connsiteX2-45" fmla="*/ 1469919 w 1469919"/>
              <a:gd name="connsiteY2-46" fmla="*/ 1575870 h 1575870"/>
              <a:gd name="connsiteX3-47" fmla="*/ 0 w 1469919"/>
              <a:gd name="connsiteY3-48" fmla="*/ 1007592 h 1575870"/>
            </a:gdLst>
            <a:rect l="l" t="t" r="r" b="b"/>
            <a:pathLst>
              <a:path w="1469919" h="1575870">
                <a:moveTo>
                  <a:pt x="0" y="1007592"/>
                </a:moveTo>
                <a:lnTo>
                  <a:pt x="0" y="0"/>
                </a:lnTo>
                <a:lnTo>
                  <a:pt x="1469919" y="1575870"/>
                </a:lnTo>
                <a:lnTo>
                  <a:pt x="0" y="1007592"/>
                </a:lnTo>
                <a:close/>
              </a:path>
            </a:pathLst>
          </a:custGeom>
          <a:gradFill xmlns:a="http://schemas.openxmlformats.org/drawingml/2006/main">
            <a:gsLst>
              <a:gs pos="3000">
                <a:schemeClr val="accent1">
                  <a:alpha val="91000"/>
                </a:schemeClr>
              </a:gs>
              <a:gs pos="93000">
                <a:schemeClr val="accent1">
                  <a:lumMod val="20000"/>
                  <a:lumOff val="80000"/>
                  <a:alpha val="54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矩形: 圆角 6">
            <a:extLst xmlns:a="http://schemas.openxmlformats.org/drawingml/2006/main">
              <a:ext uri="{FF2B5EF4-FFF2-40B4-BE49-F238E27FC236}">
                <a16:creationId xmlns:a16="http://schemas.microsoft.com/office/drawing/2014/main" id="{903DE55F-58B3-437C-B9D5-0FA05AF0D160}"/>
              </a:ext>
            </a:extLst>
          </p:cNvPr>
          <p:cNvSpPr>
            <a:spLocks xmlns:a="http://schemas.openxmlformats.org/drawingml/2006/main" noGrp="1"/>
          </p:cNvSpPr>
          <p:nvPr/>
        </p:nvSpPr>
        <p:spPr>
          <a:xfrm xmlns:a="http://schemas.openxmlformats.org/drawingml/2006/main" rot="0" flipH="0" flipV="0">
            <a:off x="856615" y="4878868"/>
            <a:ext cx="3281680" cy="826606"/>
          </a:xfrm>
          <a:prstGeom xmlns:a="http://schemas.openxmlformats.org/drawingml/2006/main" prst="roundRect">
            <a:avLst>
              <a:gd name="adj" fmla="val 3978"/>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108000" bIns="108000" anchor="ctr"/>
          <a:lstStyle xmlns:a="http://schemas.openxmlformats.org/drawingml/2006/main"/>
          <a:p xmlns:a="http://schemas.openxmlformats.org/drawingml/2006/main">
            <a:pPr algn="ctr">
              <a:buNone/>
            </a:pPr>
            <a:r>
              <a:rPr sz="2400" b="1">
                <a:solidFill>
                  <a:schemeClr val="bg1"/>
                </a:solidFill>
              </a:rPr>
              <a:t>          </a:t>
            </a:r>
            <a:r>
              <a:rPr sz="2000" b="1">
                <a:solidFill>
                  <a:schemeClr val="bg1"/>
                </a:solidFill>
              </a:rPr>
              <a:t> 高维非线性数据？</a:t>
            </a:r>
            <a:endParaRPr sz="2000" b="1">
              <a:solidFill>
                <a:schemeClr val="bg1"/>
              </a:solidFill>
            </a:endParaRPr>
          </a:p>
        </p:txBody>
      </p:sp>
      <p:pic>
        <p:nvPicPr>
          <p:cNvPr id="165" name="Picture 2"/>
          <p:cNvPicPr>
            <a:picLocks xmlns:a="http://schemas.openxmlformats.org/drawingml/2006/main" noChangeAspect="1"/>
          </p:cNvPicPr>
          <p:nvPr/>
        </p:nvPicPr>
        <p:blipFill rotWithShape="1">
          <a:blip xmlns:r="http://schemas.openxmlformats.org/officeDocument/2006/relationships" xmlns:a="http://schemas.openxmlformats.org/drawingml/2006/main" r:embed="R2ac59671af8d49c9"/>
          <a:srcRect xmlns:a="http://schemas.openxmlformats.org/drawingml/2006/main" l="0" t="16281" r="0" b="12842"/>
          <a:stretch xmlns:a="http://schemas.openxmlformats.org/drawingml/2006/main">
            <a:fillRect l="0" t="0" r="0" b="0"/>
          </a:stretch>
        </p:blipFill>
        <p:spPr>
          <a:xfrm xmlns:a="http://schemas.openxmlformats.org/drawingml/2006/main" rot="0" flipH="0" flipV="0">
            <a:off x="951182" y="4934805"/>
            <a:ext cx="976063" cy="691670"/>
          </a:xfrm>
          <a:prstGeom xmlns:a="http://schemas.openxmlformats.org/drawingml/2006/main" prst="rect">
            <a:avLst/>
          </a:prstGeom>
        </p:spPr>
      </p:pic>
      <p:sp>
        <p:nvSpPr>
          <p:cNvPr id="110" name="矩形 109">
            <a:extLst xmlns:a="http://schemas.openxmlformats.org/drawingml/2006/main">
              <a:ext uri="{FF2B5EF4-FFF2-40B4-BE49-F238E27FC236}">
                <a16:creationId xmlns:a16="http://schemas.microsoft.com/office/drawing/2014/main" id="{7DCB57A9-B423-4D7C-8F39-BA8324F1A860}"/>
              </a:ext>
            </a:extLst>
          </p:cNvPr>
          <p:cNvSpPr>
            <a:spLocks xmlns:a="http://schemas.openxmlformats.org/drawingml/2006/main" noGrp="1"/>
          </p:cNvSpPr>
          <p:nvPr/>
        </p:nvSpPr>
        <p:spPr>
          <a:xfrm xmlns:a="http://schemas.openxmlformats.org/drawingml/2006/main">
            <a:off x="6656705" y="5551170"/>
            <a:ext cx="3910965" cy="561340"/>
          </a:xfrm>
          <a:prstGeom xmlns:a="http://schemas.openxmlformats.org/drawingml/2006/main" prst="rect">
            <a:avLst/>
          </a:prstGeom>
          <a:gradFill xmlns:a="http://schemas.openxmlformats.org/drawingml/2006/main" rotWithShape="1">
            <a:gsLst>
              <a:gs pos="88000">
                <a:srgbClr val="C00000"/>
              </a:gs>
              <a:gs pos="0">
                <a:srgbClr val="C00000"/>
              </a:gs>
              <a:gs pos="100000">
                <a:srgbClr val="C00000">
                  <a:alpha val="0"/>
                </a:srgbClr>
              </a:gs>
            </a:gsLst>
            <a:path path="circle">
              <a:fillToRect l="50000" t="50000" r="50000" b="50000"/>
            </a:path>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000" b="1"/>
              <a:t>不同类别间边界最大化</a:t>
            </a:r>
          </a:p>
        </p:txBody>
      </p:sp>
      <p:sp>
        <p:nvSpPr>
          <p:cNvPr id="111" name="椭圆 110">
            <a:extLst xmlns:a="http://schemas.openxmlformats.org/drawingml/2006/main">
              <a:ext uri="{FF2B5EF4-FFF2-40B4-BE49-F238E27FC236}">
                <a16:creationId xmlns:a16="http://schemas.microsoft.com/office/drawing/2014/main" id="{ACAD3236-FB4F-4C0B-8A51-5124F1AAE9B8}"/>
              </a:ext>
            </a:extLst>
          </p:cNvPr>
          <p:cNvSpPr>
            <a:spLocks xmlns:a="http://schemas.openxmlformats.org/drawingml/2006/main" noGrp="1"/>
          </p:cNvSpPr>
          <p:nvPr/>
        </p:nvSpPr>
        <p:spPr>
          <a:xfrm xmlns:a="http://schemas.openxmlformats.org/drawingml/2006/main">
            <a:off x="7561580" y="330644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 name="椭圆 111">
            <a:extLst xmlns:a="http://schemas.openxmlformats.org/drawingml/2006/main">
              <a:ext uri="{FF2B5EF4-FFF2-40B4-BE49-F238E27FC236}">
                <a16:creationId xmlns:a16="http://schemas.microsoft.com/office/drawing/2014/main" id="{0781B6CE-FD00-4868-8257-A7607EC05500}"/>
              </a:ext>
            </a:extLst>
          </p:cNvPr>
          <p:cNvSpPr>
            <a:spLocks xmlns:a="http://schemas.openxmlformats.org/drawingml/2006/main" noGrp="1"/>
          </p:cNvSpPr>
          <p:nvPr/>
        </p:nvSpPr>
        <p:spPr>
          <a:xfrm xmlns:a="http://schemas.openxmlformats.org/drawingml/2006/main">
            <a:off x="8361045" y="396684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3" name="椭圆 112">
            <a:extLst xmlns:a="http://schemas.openxmlformats.org/drawingml/2006/main">
              <a:ext uri="{FF2B5EF4-FFF2-40B4-BE49-F238E27FC236}">
                <a16:creationId xmlns:a16="http://schemas.microsoft.com/office/drawing/2014/main" id="{B5D0F9DB-2F18-44AA-80F2-6E0F9818CF5D}"/>
              </a:ext>
            </a:extLst>
          </p:cNvPr>
          <p:cNvSpPr>
            <a:spLocks xmlns:a="http://schemas.openxmlformats.org/drawingml/2006/main" noGrp="1"/>
          </p:cNvSpPr>
          <p:nvPr/>
        </p:nvSpPr>
        <p:spPr>
          <a:xfrm xmlns:a="http://schemas.openxmlformats.org/drawingml/2006/main">
            <a:off x="8648700" y="308419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4" name="椭圆 113">
            <a:extLst xmlns:a="http://schemas.openxmlformats.org/drawingml/2006/main">
              <a:ext uri="{FF2B5EF4-FFF2-40B4-BE49-F238E27FC236}">
                <a16:creationId xmlns:a16="http://schemas.microsoft.com/office/drawing/2014/main" id="{34C37C25-95F4-4198-B209-19A93D885B13}"/>
              </a:ext>
            </a:extLst>
          </p:cNvPr>
          <p:cNvSpPr>
            <a:spLocks xmlns:a="http://schemas.openxmlformats.org/drawingml/2006/main" noGrp="1"/>
          </p:cNvSpPr>
          <p:nvPr/>
        </p:nvSpPr>
        <p:spPr>
          <a:xfrm xmlns:a="http://schemas.openxmlformats.org/drawingml/2006/main">
            <a:off x="9091295" y="351599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5" name="直接连接符 114">
            <a:extLst xmlns:a="http://schemas.openxmlformats.org/drawingml/2006/main">
              <a:ext uri="{FF2B5EF4-FFF2-40B4-BE49-F238E27FC236}">
                <a16:creationId xmlns:a16="http://schemas.microsoft.com/office/drawing/2014/main" id="{9785C049-5C5B-4765-8A4F-F95CC7E04049}"/>
              </a:ext>
            </a:extLst>
          </p:cNvPr>
          <p:cNvSpPr>
            <a:spLocks xmlns:a="http://schemas.openxmlformats.org/drawingml/2006/main" noGrp="1"/>
          </p:cNvSpPr>
          <p:nvPr/>
        </p:nvSpPr>
        <p:spPr>
          <a:xfrm xmlns:a="http://schemas.openxmlformats.org/drawingml/2006/main">
            <a:off x="7845425" y="2378075"/>
            <a:ext cx="2273935" cy="201295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17" name="直接连接符 116">
            <a:extLst xmlns:a="http://schemas.openxmlformats.org/drawingml/2006/main">
              <a:ext uri="{FF2B5EF4-FFF2-40B4-BE49-F238E27FC236}">
                <a16:creationId xmlns:a16="http://schemas.microsoft.com/office/drawing/2014/main" id="{1302D829-C715-433F-A8DF-1A1BEC370FC8}"/>
              </a:ext>
            </a:extLst>
          </p:cNvPr>
          <p:cNvSpPr>
            <a:spLocks xmlns:a="http://schemas.openxmlformats.org/drawingml/2006/main" noGrp="1"/>
          </p:cNvSpPr>
          <p:nvPr/>
        </p:nvSpPr>
        <p:spPr>
          <a:xfrm xmlns:a="http://schemas.openxmlformats.org/drawingml/2006/main">
            <a:off x="7254875" y="3006725"/>
            <a:ext cx="2172335" cy="190500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18" name="直接连接符 117">
            <a:extLst xmlns:a="http://schemas.openxmlformats.org/drawingml/2006/main">
              <a:ext uri="{FF2B5EF4-FFF2-40B4-BE49-F238E27FC236}">
                <a16:creationId xmlns:a16="http://schemas.microsoft.com/office/drawing/2014/main" id="{CED31935-91A0-41E8-ADEB-14427ACEF904}"/>
              </a:ext>
            </a:extLst>
          </p:cNvPr>
          <p:cNvSpPr>
            <a:spLocks xmlns:a="http://schemas.openxmlformats.org/drawingml/2006/main" noGrp="1"/>
          </p:cNvSpPr>
          <p:nvPr/>
        </p:nvSpPr>
        <p:spPr>
          <a:xfrm xmlns:a="http://schemas.openxmlformats.org/drawingml/2006/main">
            <a:off x="7561580" y="2713990"/>
            <a:ext cx="2273935" cy="2012950"/>
          </a:xfrm>
          <a:prstGeom xmlns:a="http://schemas.openxmlformats.org/drawingml/2006/main" prst="line">
            <a:avLst/>
          </a:prstGeom>
        </p:spPr>
        <p:style>
          <a:lnRef xmlns:a="http://schemas.openxmlformats.org/drawingml/2006/main" idx="3">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cxnSp>
        <p:nvCxnSpPr>
          <p:cNvPr id="174" name="直接箭头连接符 118"/>
          <p:cNvCxnSpPr/>
          <p:nvPr/>
        </p:nvCxnSpPr>
        <p:spPr>
          <a:xfrm xmlns:a="http://schemas.openxmlformats.org/drawingml/2006/main" flipV="1">
            <a:off x="9566910" y="4156075"/>
            <a:ext cx="279400" cy="317500"/>
          </a:xfrm>
          <a:prstGeom xmlns:a="http://schemas.openxmlformats.org/drawingml/2006/main" prst="straightConnector1">
            <a:avLst/>
          </a:prstGeom>
          <a:ln xmlns:a="http://schemas.openxmlformats.org/drawingml/2006/main">
            <a:solidFill>
              <a:srgbClr val="C00000"/>
            </a:solidFill>
            <a:tailEnd type="arrow"/>
          </a:ln>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cxnSp>
        <p:nvCxnSpPr>
          <p:cNvPr id="175" name="直接箭头连接符 120"/>
          <p:cNvCxnSpPr/>
          <p:nvPr/>
        </p:nvCxnSpPr>
        <p:spPr>
          <a:xfrm xmlns:a="http://schemas.openxmlformats.org/drawingml/2006/main" flipH="1">
            <a:off x="9274810" y="4473575"/>
            <a:ext cx="292100" cy="342900"/>
          </a:xfrm>
          <a:prstGeom xmlns:a="http://schemas.openxmlformats.org/drawingml/2006/main" prst="straightConnector1">
            <a:avLst/>
          </a:prstGeom>
          <a:ln xmlns:a="http://schemas.openxmlformats.org/drawingml/2006/main">
            <a:solidFill>
              <a:srgbClr val="C00000"/>
            </a:solidFill>
            <a:tailEnd type="arrow"/>
          </a:ln>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sp>
        <p:nvSpPr>
          <p:cNvPr id="122" name="文本框 121">
            <a:extLst xmlns:a="http://schemas.openxmlformats.org/drawingml/2006/main">
              <a:ext uri="{FF2B5EF4-FFF2-40B4-BE49-F238E27FC236}">
                <a16:creationId xmlns:a16="http://schemas.microsoft.com/office/drawing/2014/main" id="{7CB9DBC4-C6EC-4A33-A2B2-49F4F7C01F73}"/>
              </a:ext>
            </a:extLst>
          </p:cNvPr>
          <p:cNvSpPr>
            <a:spLocks xmlns:a="http://schemas.openxmlformats.org/drawingml/2006/main" noGrp="1"/>
          </p:cNvSpPr>
          <p:nvPr/>
        </p:nvSpPr>
        <p:spPr>
          <a:xfrm xmlns:a="http://schemas.openxmlformats.org/drawingml/2006/main">
            <a:off x="7477760" y="1960880"/>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𝐻</m:t>
                      </m:r>
                    </m:e>
                    <m:sub>
                      <m:r>
                        <a:rPr xmlns:a="http://schemas.openxmlformats.org/drawingml/2006/main" lang="en-US" i="1">
                          <a:latin typeface="Cambria Math"/>
                          <a:ea typeface="Cambria Math"/>
                          <a:cs typeface="Cambria Math"/>
                        </a:rPr>
                        <m:t>1</m:t>
                      </m:r>
                    </m:sub>
                  </m:sSub>
                </m:oMath>
              </m:oMathPara>
            </a14:m>
            <a:endParaRPr/>
          </a:p>
        </p:txBody>
      </p:sp>
      <p:sp>
        <p:nvSpPr>
          <p:cNvPr id="123" name="文本框 122">
            <a:extLst xmlns:a="http://schemas.openxmlformats.org/drawingml/2006/main">
              <a:ext uri="{FF2B5EF4-FFF2-40B4-BE49-F238E27FC236}">
                <a16:creationId xmlns:a16="http://schemas.microsoft.com/office/drawing/2014/main" id="{B870D776-8921-4EB0-936B-FBE2321A0A7A}"/>
              </a:ext>
            </a:extLst>
          </p:cNvPr>
          <p:cNvSpPr>
            <a:spLocks xmlns:a="http://schemas.openxmlformats.org/drawingml/2006/main" noGrp="1"/>
          </p:cNvSpPr>
          <p:nvPr/>
        </p:nvSpPr>
        <p:spPr>
          <a:xfrm xmlns:a="http://schemas.openxmlformats.org/drawingml/2006/main">
            <a:off x="7178675" y="2329815"/>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r>
                    <a:rPr xmlns:a="http://schemas.openxmlformats.org/drawingml/2006/main" lang="en-US" i="1">
                      <a:latin typeface="Cambria Math"/>
                      <a:ea typeface="Cambria Math"/>
                      <a:cs typeface="Cambria Math"/>
                    </a:rPr>
                    <m:t>𝐻</m:t>
                  </m:r>
                </m:oMath>
              </m:oMathPara>
            </a14:m>
            <a:endParaRPr/>
          </a:p>
        </p:txBody>
      </p:sp>
      <p:sp>
        <p:nvSpPr>
          <p:cNvPr id="124" name="文本框 123">
            <a:extLst xmlns:a="http://schemas.openxmlformats.org/drawingml/2006/main">
              <a:ext uri="{FF2B5EF4-FFF2-40B4-BE49-F238E27FC236}">
                <a16:creationId xmlns:a16="http://schemas.microsoft.com/office/drawing/2014/main" id="{E0B27BE0-C0D7-4346-992A-78C8D1317FFC}"/>
              </a:ext>
            </a:extLst>
          </p:cNvPr>
          <p:cNvSpPr>
            <a:spLocks xmlns:a="http://schemas.openxmlformats.org/drawingml/2006/main" noGrp="1"/>
          </p:cNvSpPr>
          <p:nvPr/>
        </p:nvSpPr>
        <p:spPr>
          <a:xfrm xmlns:a="http://schemas.openxmlformats.org/drawingml/2006/main">
            <a:off x="6836410" y="2621280"/>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𝐻</m:t>
                      </m:r>
                    </m:e>
                    <m:sub>
                      <m:r>
                        <a:rPr xmlns:a="http://schemas.openxmlformats.org/drawingml/2006/main" lang="en-US" i="1">
                          <a:latin typeface="Cambria Math"/>
                          <a:ea typeface="Cambria Math"/>
                          <a:cs typeface="Cambria Math"/>
                        </a:rPr>
                        <m:t>2</m:t>
                      </m:r>
                    </m:sub>
                  </m:sSub>
                </m:oMath>
              </m:oMathPara>
            </a14:m>
            <a:endParaRPr/>
          </a:p>
        </p:txBody>
      </p:sp>
      <p:sp>
        <p:nvSpPr>
          <p:cNvPr id="127" name="直接连接符 126">
            <a:extLst xmlns:a="http://schemas.openxmlformats.org/drawingml/2006/main">
              <a:ext uri="{FF2B5EF4-FFF2-40B4-BE49-F238E27FC236}">
                <a16:creationId xmlns:a16="http://schemas.microsoft.com/office/drawing/2014/main" id="{2DC18696-E8EE-4BB6-B931-61DFDC22A488}"/>
              </a:ext>
            </a:extLst>
          </p:cNvPr>
          <p:cNvSpPr>
            <a:spLocks xmlns:a="http://schemas.openxmlformats.org/drawingml/2006/main" noGrp="1"/>
          </p:cNvSpPr>
          <p:nvPr/>
        </p:nvSpPr>
        <p:spPr>
          <a:xfrm xmlns:a="http://schemas.openxmlformats.org/drawingml/2006/main">
            <a:off x="7972425" y="2505075"/>
            <a:ext cx="2273935" cy="201295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28" name="直接连接符 127">
            <a:extLst xmlns:a="http://schemas.openxmlformats.org/drawingml/2006/main">
              <a:ext uri="{FF2B5EF4-FFF2-40B4-BE49-F238E27FC236}">
                <a16:creationId xmlns:a16="http://schemas.microsoft.com/office/drawing/2014/main" id="{B5224BB5-92B5-4C54-A71B-A48493047F5D}"/>
              </a:ext>
            </a:extLst>
          </p:cNvPr>
          <p:cNvSpPr>
            <a:spLocks xmlns:a="http://schemas.openxmlformats.org/drawingml/2006/main" noGrp="1"/>
          </p:cNvSpPr>
          <p:nvPr/>
        </p:nvSpPr>
        <p:spPr>
          <a:xfrm xmlns:a="http://schemas.openxmlformats.org/drawingml/2006/main">
            <a:off x="7381875" y="3133725"/>
            <a:ext cx="2172335" cy="190500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Tree>
    <p:extLst>
      <p:ext uri="{BB962C8B-B14F-4D97-AF65-F5344CB8AC3E}">
        <p14:creationId xmlns:p14="http://schemas.microsoft.com/office/powerpoint/2010/main" val="163024669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2721D95E-CA91-44FB-B88B-AA51937B921D}"/>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ACBD4178-F828-426A-88D6-C83F354F52DC}"/>
              </a:ext>
            </a:extLst>
          </p:cNvPr>
          <p:cNvSpPr>
            <a:spLocks xmlns:a="http://schemas.openxmlformats.org/drawingml/2006/main" noGrp="1"/>
          </p:cNvSpPr>
          <p:nvPr/>
        </p:nvSpPr>
        <p:spPr>
          <a:xfrm xmlns:a="http://schemas.openxmlformats.org/drawingml/2006/main" rot="0" flipH="0" flipV="0">
            <a:off x="271145" y="1021713"/>
            <a:ext cx="426275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5.2.3 </a:t>
            </a:r>
            <a:r>
              <a:rPr sz="2400" b="1">
                <a:solidFill>
                  <a:schemeClr val="accent1"/>
                </a:solidFill>
                <a:latin typeface="+mj-lt"/>
                <a:ea typeface="+mj-lt"/>
                <a:cs typeface="+mj-lt"/>
              </a:rPr>
              <a:t>支持向量机避障策略</a:t>
            </a:r>
            <a:endParaRPr sz="2400" b="1">
              <a:solidFill>
                <a:schemeClr val="accent1"/>
              </a:solidFill>
              <a:latin typeface="+mj-lt"/>
              <a:ea typeface="+mj-lt"/>
              <a:cs typeface="+mj-lt"/>
            </a:endParaRPr>
          </a:p>
        </p:txBody>
      </p:sp>
      <p:cxnSp>
        <p:nvCxnSpPr>
          <p:cNvPr id="131" name="直接箭头连接符 66"/>
          <p:cNvCxnSpPr/>
          <p:nvPr/>
        </p:nvCxnSpPr>
        <p:spPr>
          <a:xfrm xmlns:a="http://schemas.openxmlformats.org/drawingml/2006/main" flipV="1">
            <a:off x="6948170" y="5103495"/>
            <a:ext cx="3295650" cy="19050"/>
          </a:xfrm>
          <a:prstGeom xmlns:a="http://schemas.openxmlformats.org/drawingml/2006/main" prst="straightConnector1">
            <a:avLst/>
          </a:prstGeom>
          <a:ln xmlns:a="http://schemas.openxmlformats.org/drawingml/2006/main" w="31750" cap="rnd">
            <a:solidFill>
              <a:schemeClr val="accent1"/>
            </a:solidFill>
            <a:round/>
            <a:tailEnd type="arrow" w="med" len="med"/>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cxnSp>
        <p:nvCxnSpPr>
          <p:cNvPr id="132" name="直接箭头连接符 67"/>
          <p:cNvCxnSpPr/>
          <p:nvPr/>
        </p:nvCxnSpPr>
        <p:spPr>
          <a:xfrm xmlns:a="http://schemas.openxmlformats.org/drawingml/2006/main" flipV="1">
            <a:off x="6948170" y="1884045"/>
            <a:ext cx="0" cy="3200400"/>
          </a:xfrm>
          <a:prstGeom xmlns:a="http://schemas.openxmlformats.org/drawingml/2006/main" prst="straightConnector1">
            <a:avLst/>
          </a:prstGeom>
          <a:ln xmlns:a="http://schemas.openxmlformats.org/drawingml/2006/main" w="31750" cap="rnd">
            <a:solidFill>
              <a:schemeClr val="accent1"/>
            </a:solidFill>
            <a:round/>
            <a:tailEnd type="arrow" w="med" len="med"/>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sp>
        <p:nvSpPr>
          <p:cNvPr id="69" name="椭圆 68">
            <a:extLst xmlns:a="http://schemas.openxmlformats.org/drawingml/2006/main">
              <a:ext uri="{FF2B5EF4-FFF2-40B4-BE49-F238E27FC236}">
                <a16:creationId xmlns:a16="http://schemas.microsoft.com/office/drawing/2014/main" id="{B35A1137-46B2-43AB-BEF2-7514B791C9B3}"/>
              </a:ext>
            </a:extLst>
          </p:cNvPr>
          <p:cNvSpPr>
            <a:spLocks xmlns:a="http://schemas.openxmlformats.org/drawingml/2006/main" noGrp="1"/>
          </p:cNvSpPr>
          <p:nvPr/>
        </p:nvSpPr>
        <p:spPr>
          <a:xfrm xmlns:a="http://schemas.openxmlformats.org/drawingml/2006/main">
            <a:off x="7272020" y="3636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椭圆 69">
            <a:extLst xmlns:a="http://schemas.openxmlformats.org/drawingml/2006/main">
              <a:ext uri="{FF2B5EF4-FFF2-40B4-BE49-F238E27FC236}">
                <a16:creationId xmlns:a16="http://schemas.microsoft.com/office/drawing/2014/main" id="{7412C4EB-7E72-4705-8291-0F54BD1AD3FB}"/>
              </a:ext>
            </a:extLst>
          </p:cNvPr>
          <p:cNvSpPr>
            <a:spLocks xmlns:a="http://schemas.openxmlformats.org/drawingml/2006/main" noGrp="1"/>
          </p:cNvSpPr>
          <p:nvPr/>
        </p:nvSpPr>
        <p:spPr>
          <a:xfrm xmlns:a="http://schemas.openxmlformats.org/drawingml/2006/main">
            <a:off x="7653020" y="3763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椭圆 70">
            <a:extLst xmlns:a="http://schemas.openxmlformats.org/drawingml/2006/main">
              <a:ext uri="{FF2B5EF4-FFF2-40B4-BE49-F238E27FC236}">
                <a16:creationId xmlns:a16="http://schemas.microsoft.com/office/drawing/2014/main" id="{DA6F6B1B-F08C-45F6-8019-25A4912E79D8}"/>
              </a:ext>
            </a:extLst>
          </p:cNvPr>
          <p:cNvSpPr>
            <a:spLocks xmlns:a="http://schemas.openxmlformats.org/drawingml/2006/main" noGrp="1"/>
          </p:cNvSpPr>
          <p:nvPr/>
        </p:nvSpPr>
        <p:spPr>
          <a:xfrm xmlns:a="http://schemas.openxmlformats.org/drawingml/2006/main">
            <a:off x="7297420" y="4166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椭圆 71">
            <a:extLst xmlns:a="http://schemas.openxmlformats.org/drawingml/2006/main">
              <a:ext uri="{FF2B5EF4-FFF2-40B4-BE49-F238E27FC236}">
                <a16:creationId xmlns:a16="http://schemas.microsoft.com/office/drawing/2014/main" id="{4B4320CB-0128-4D52-9092-730FDF1BCF8E}"/>
              </a:ext>
            </a:extLst>
          </p:cNvPr>
          <p:cNvSpPr>
            <a:spLocks xmlns:a="http://schemas.openxmlformats.org/drawingml/2006/main" noGrp="1"/>
          </p:cNvSpPr>
          <p:nvPr/>
        </p:nvSpPr>
        <p:spPr>
          <a:xfrm xmlns:a="http://schemas.openxmlformats.org/drawingml/2006/main">
            <a:off x="7602220" y="4166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3" name="椭圆 72">
            <a:extLst xmlns:a="http://schemas.openxmlformats.org/drawingml/2006/main">
              <a:ext uri="{FF2B5EF4-FFF2-40B4-BE49-F238E27FC236}">
                <a16:creationId xmlns:a16="http://schemas.microsoft.com/office/drawing/2014/main" id="{DF646BE3-8DD5-4A58-A1F2-69EB38E79FB8}"/>
              </a:ext>
            </a:extLst>
          </p:cNvPr>
          <p:cNvSpPr>
            <a:spLocks xmlns:a="http://schemas.openxmlformats.org/drawingml/2006/main" noGrp="1"/>
          </p:cNvSpPr>
          <p:nvPr/>
        </p:nvSpPr>
        <p:spPr>
          <a:xfrm xmlns:a="http://schemas.openxmlformats.org/drawingml/2006/main">
            <a:off x="7780020" y="4144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椭圆 73">
            <a:extLst xmlns:a="http://schemas.openxmlformats.org/drawingml/2006/main">
              <a:ext uri="{FF2B5EF4-FFF2-40B4-BE49-F238E27FC236}">
                <a16:creationId xmlns:a16="http://schemas.microsoft.com/office/drawing/2014/main" id="{759938BB-8F81-454F-81C4-201546F3BB89}"/>
              </a:ext>
            </a:extLst>
          </p:cNvPr>
          <p:cNvSpPr>
            <a:spLocks xmlns:a="http://schemas.openxmlformats.org/drawingml/2006/main" noGrp="1"/>
          </p:cNvSpPr>
          <p:nvPr/>
        </p:nvSpPr>
        <p:spPr>
          <a:xfrm xmlns:a="http://schemas.openxmlformats.org/drawingml/2006/main">
            <a:off x="7602220" y="4570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椭圆 74">
            <a:extLst xmlns:a="http://schemas.openxmlformats.org/drawingml/2006/main">
              <a:ext uri="{FF2B5EF4-FFF2-40B4-BE49-F238E27FC236}">
                <a16:creationId xmlns:a16="http://schemas.microsoft.com/office/drawing/2014/main" id="{AD57766D-D1B5-4C90-8253-03B092AF9B5D}"/>
              </a:ext>
            </a:extLst>
          </p:cNvPr>
          <p:cNvSpPr>
            <a:spLocks xmlns:a="http://schemas.openxmlformats.org/drawingml/2006/main" noGrp="1"/>
          </p:cNvSpPr>
          <p:nvPr/>
        </p:nvSpPr>
        <p:spPr>
          <a:xfrm xmlns:a="http://schemas.openxmlformats.org/drawingml/2006/main">
            <a:off x="8234045" y="4570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椭圆 75">
            <a:extLst xmlns:a="http://schemas.openxmlformats.org/drawingml/2006/main">
              <a:ext uri="{FF2B5EF4-FFF2-40B4-BE49-F238E27FC236}">
                <a16:creationId xmlns:a16="http://schemas.microsoft.com/office/drawing/2014/main" id="{80306FE3-8D52-4494-99AA-D2D6EEC31897}"/>
              </a:ext>
            </a:extLst>
          </p:cNvPr>
          <p:cNvSpPr>
            <a:spLocks xmlns:a="http://schemas.openxmlformats.org/drawingml/2006/main" noGrp="1"/>
          </p:cNvSpPr>
          <p:nvPr/>
        </p:nvSpPr>
        <p:spPr>
          <a:xfrm xmlns:a="http://schemas.openxmlformats.org/drawingml/2006/main">
            <a:off x="8024495" y="446532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椭圆 76">
            <a:extLst xmlns:a="http://schemas.openxmlformats.org/drawingml/2006/main">
              <a:ext uri="{FF2B5EF4-FFF2-40B4-BE49-F238E27FC236}">
                <a16:creationId xmlns:a16="http://schemas.microsoft.com/office/drawing/2014/main" id="{A65C6FAE-F916-43AE-AC5C-21708FBC68AC}"/>
              </a:ext>
            </a:extLst>
          </p:cNvPr>
          <p:cNvSpPr>
            <a:spLocks xmlns:a="http://schemas.openxmlformats.org/drawingml/2006/main" noGrp="1"/>
          </p:cNvSpPr>
          <p:nvPr/>
        </p:nvSpPr>
        <p:spPr>
          <a:xfrm xmlns:a="http://schemas.openxmlformats.org/drawingml/2006/main">
            <a:off x="8024495" y="4039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椭圆 77">
            <a:extLst xmlns:a="http://schemas.openxmlformats.org/drawingml/2006/main">
              <a:ext uri="{FF2B5EF4-FFF2-40B4-BE49-F238E27FC236}">
                <a16:creationId xmlns:a16="http://schemas.microsoft.com/office/drawing/2014/main" id="{29957DC6-4A62-4655-A81C-F32A846A992E}"/>
              </a:ext>
            </a:extLst>
          </p:cNvPr>
          <p:cNvSpPr>
            <a:spLocks xmlns:a="http://schemas.openxmlformats.org/drawingml/2006/main" noGrp="1"/>
          </p:cNvSpPr>
          <p:nvPr/>
        </p:nvSpPr>
        <p:spPr>
          <a:xfrm xmlns:a="http://schemas.openxmlformats.org/drawingml/2006/main">
            <a:off x="7675245" y="33889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椭圆 78">
            <a:extLst xmlns:a="http://schemas.openxmlformats.org/drawingml/2006/main">
              <a:ext uri="{FF2B5EF4-FFF2-40B4-BE49-F238E27FC236}">
                <a16:creationId xmlns:a16="http://schemas.microsoft.com/office/drawing/2014/main" id="{A1D63A75-70ED-4F99-938F-AF5ED8FAD863}"/>
              </a:ext>
            </a:extLst>
          </p:cNvPr>
          <p:cNvSpPr>
            <a:spLocks xmlns:a="http://schemas.openxmlformats.org/drawingml/2006/main" noGrp="1"/>
          </p:cNvSpPr>
          <p:nvPr/>
        </p:nvSpPr>
        <p:spPr>
          <a:xfrm xmlns:a="http://schemas.openxmlformats.org/drawingml/2006/main">
            <a:off x="8465820" y="4062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椭圆 79">
            <a:extLst xmlns:a="http://schemas.openxmlformats.org/drawingml/2006/main">
              <a:ext uri="{FF2B5EF4-FFF2-40B4-BE49-F238E27FC236}">
                <a16:creationId xmlns:a16="http://schemas.microsoft.com/office/drawing/2014/main" id="{740FDA2A-8C70-4EF9-9D25-9B896543A01E}"/>
              </a:ext>
            </a:extLst>
          </p:cNvPr>
          <p:cNvSpPr>
            <a:spLocks xmlns:a="http://schemas.openxmlformats.org/drawingml/2006/main" noGrp="1"/>
          </p:cNvSpPr>
          <p:nvPr/>
        </p:nvSpPr>
        <p:spPr>
          <a:xfrm xmlns:a="http://schemas.openxmlformats.org/drawingml/2006/main">
            <a:off x="8543925" y="273050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椭圆 80">
            <a:extLst xmlns:a="http://schemas.openxmlformats.org/drawingml/2006/main">
              <a:ext uri="{FF2B5EF4-FFF2-40B4-BE49-F238E27FC236}">
                <a16:creationId xmlns:a16="http://schemas.microsoft.com/office/drawing/2014/main" id="{3DF62FC5-5C99-40A3-9739-FDAB285BE859}"/>
              </a:ext>
            </a:extLst>
          </p:cNvPr>
          <p:cNvSpPr>
            <a:spLocks xmlns:a="http://schemas.openxmlformats.org/drawingml/2006/main" noGrp="1"/>
          </p:cNvSpPr>
          <p:nvPr/>
        </p:nvSpPr>
        <p:spPr>
          <a:xfrm xmlns:a="http://schemas.openxmlformats.org/drawingml/2006/main">
            <a:off x="8986520" y="22269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椭圆 81">
            <a:extLst xmlns:a="http://schemas.openxmlformats.org/drawingml/2006/main">
              <a:ext uri="{FF2B5EF4-FFF2-40B4-BE49-F238E27FC236}">
                <a16:creationId xmlns:a16="http://schemas.microsoft.com/office/drawing/2014/main" id="{72BFF445-6B7C-4F1A-BF0A-AF8FA4D03A98}"/>
              </a:ext>
            </a:extLst>
          </p:cNvPr>
          <p:cNvSpPr>
            <a:spLocks xmlns:a="http://schemas.openxmlformats.org/drawingml/2006/main" noGrp="1"/>
          </p:cNvSpPr>
          <p:nvPr/>
        </p:nvSpPr>
        <p:spPr>
          <a:xfrm xmlns:a="http://schemas.openxmlformats.org/drawingml/2006/main">
            <a:off x="9494520" y="24364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椭圆 82">
            <a:extLst xmlns:a="http://schemas.openxmlformats.org/drawingml/2006/main">
              <a:ext uri="{FF2B5EF4-FFF2-40B4-BE49-F238E27FC236}">
                <a16:creationId xmlns:a16="http://schemas.microsoft.com/office/drawing/2014/main" id="{FAFD871C-9081-419B-AE7B-23816D318FEC}"/>
              </a:ext>
            </a:extLst>
          </p:cNvPr>
          <p:cNvSpPr>
            <a:spLocks xmlns:a="http://schemas.openxmlformats.org/drawingml/2006/main" noGrp="1"/>
          </p:cNvSpPr>
          <p:nvPr/>
        </p:nvSpPr>
        <p:spPr>
          <a:xfrm xmlns:a="http://schemas.openxmlformats.org/drawingml/2006/main">
            <a:off x="9196070" y="301752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椭圆 83">
            <a:extLst xmlns:a="http://schemas.openxmlformats.org/drawingml/2006/main">
              <a:ext uri="{FF2B5EF4-FFF2-40B4-BE49-F238E27FC236}">
                <a16:creationId xmlns:a16="http://schemas.microsoft.com/office/drawing/2014/main" id="{22755858-0E81-4FE1-A655-E95841902FC3}"/>
              </a:ext>
            </a:extLst>
          </p:cNvPr>
          <p:cNvSpPr>
            <a:spLocks xmlns:a="http://schemas.openxmlformats.org/drawingml/2006/main" noGrp="1"/>
          </p:cNvSpPr>
          <p:nvPr/>
        </p:nvSpPr>
        <p:spPr>
          <a:xfrm xmlns:a="http://schemas.openxmlformats.org/drawingml/2006/main">
            <a:off x="9875520" y="29127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椭圆 84">
            <a:extLst xmlns:a="http://schemas.openxmlformats.org/drawingml/2006/main">
              <a:ext uri="{FF2B5EF4-FFF2-40B4-BE49-F238E27FC236}">
                <a16:creationId xmlns:a16="http://schemas.microsoft.com/office/drawing/2014/main" id="{93B803B8-3107-41FA-B6B6-26003F12D4EC}"/>
              </a:ext>
            </a:extLst>
          </p:cNvPr>
          <p:cNvSpPr>
            <a:spLocks xmlns:a="http://schemas.openxmlformats.org/drawingml/2006/main" noGrp="1"/>
          </p:cNvSpPr>
          <p:nvPr/>
        </p:nvSpPr>
        <p:spPr>
          <a:xfrm xmlns:a="http://schemas.openxmlformats.org/drawingml/2006/main">
            <a:off x="8986520" y="27539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6" name="椭圆 85">
            <a:extLst xmlns:a="http://schemas.openxmlformats.org/drawingml/2006/main">
              <a:ext uri="{FF2B5EF4-FFF2-40B4-BE49-F238E27FC236}">
                <a16:creationId xmlns:a16="http://schemas.microsoft.com/office/drawing/2014/main" id="{59F5B329-1C7B-4B03-B0B6-4E3DEF2E1177}"/>
              </a:ext>
            </a:extLst>
          </p:cNvPr>
          <p:cNvSpPr>
            <a:spLocks xmlns:a="http://schemas.openxmlformats.org/drawingml/2006/main" noGrp="1"/>
          </p:cNvSpPr>
          <p:nvPr/>
        </p:nvSpPr>
        <p:spPr>
          <a:xfrm xmlns:a="http://schemas.openxmlformats.org/drawingml/2006/main">
            <a:off x="10081895" y="35159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7" name="椭圆 86">
            <a:extLst xmlns:a="http://schemas.openxmlformats.org/drawingml/2006/main">
              <a:ext uri="{FF2B5EF4-FFF2-40B4-BE49-F238E27FC236}">
                <a16:creationId xmlns:a16="http://schemas.microsoft.com/office/drawing/2014/main" id="{972EC038-62D2-4C28-AA55-6A21EECBEB4D}"/>
              </a:ext>
            </a:extLst>
          </p:cNvPr>
          <p:cNvSpPr>
            <a:spLocks xmlns:a="http://schemas.openxmlformats.org/drawingml/2006/main" noGrp="1"/>
          </p:cNvSpPr>
          <p:nvPr/>
        </p:nvSpPr>
        <p:spPr>
          <a:xfrm xmlns:a="http://schemas.openxmlformats.org/drawingml/2006/main">
            <a:off x="9599295" y="29127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椭圆 87">
            <a:extLst xmlns:a="http://schemas.openxmlformats.org/drawingml/2006/main">
              <a:ext uri="{FF2B5EF4-FFF2-40B4-BE49-F238E27FC236}">
                <a16:creationId xmlns:a16="http://schemas.microsoft.com/office/drawing/2014/main" id="{C79F6070-A615-42D0-9B68-B57B0DC041A0}"/>
              </a:ext>
            </a:extLst>
          </p:cNvPr>
          <p:cNvSpPr>
            <a:spLocks xmlns:a="http://schemas.openxmlformats.org/drawingml/2006/main" noGrp="1"/>
          </p:cNvSpPr>
          <p:nvPr/>
        </p:nvSpPr>
        <p:spPr>
          <a:xfrm xmlns:a="http://schemas.openxmlformats.org/drawingml/2006/main">
            <a:off x="9494520" y="328422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9" name="椭圆 88">
            <a:extLst xmlns:a="http://schemas.openxmlformats.org/drawingml/2006/main">
              <a:ext uri="{FF2B5EF4-FFF2-40B4-BE49-F238E27FC236}">
                <a16:creationId xmlns:a16="http://schemas.microsoft.com/office/drawing/2014/main" id="{7922CA70-065F-4003-AC03-155801B3B29A}"/>
              </a:ext>
            </a:extLst>
          </p:cNvPr>
          <p:cNvSpPr>
            <a:spLocks xmlns:a="http://schemas.openxmlformats.org/drawingml/2006/main" noGrp="1"/>
          </p:cNvSpPr>
          <p:nvPr/>
        </p:nvSpPr>
        <p:spPr>
          <a:xfrm xmlns:a="http://schemas.openxmlformats.org/drawingml/2006/main">
            <a:off x="9238615" y="362077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椭圆 89">
            <a:extLst xmlns:a="http://schemas.openxmlformats.org/drawingml/2006/main">
              <a:ext uri="{FF2B5EF4-FFF2-40B4-BE49-F238E27FC236}">
                <a16:creationId xmlns:a16="http://schemas.microsoft.com/office/drawing/2014/main" id="{E41F5F92-CB6F-4E5B-9299-444E02D2554B}"/>
              </a:ext>
            </a:extLst>
          </p:cNvPr>
          <p:cNvSpPr>
            <a:spLocks xmlns:a="http://schemas.openxmlformats.org/drawingml/2006/main" noGrp="1"/>
          </p:cNvSpPr>
          <p:nvPr/>
        </p:nvSpPr>
        <p:spPr>
          <a:xfrm xmlns:a="http://schemas.openxmlformats.org/drawingml/2006/main">
            <a:off x="8753475" y="31794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椭圆 90">
            <a:extLst xmlns:a="http://schemas.openxmlformats.org/drawingml/2006/main">
              <a:ext uri="{FF2B5EF4-FFF2-40B4-BE49-F238E27FC236}">
                <a16:creationId xmlns:a16="http://schemas.microsoft.com/office/drawing/2014/main" id="{66F2F484-A33B-432C-94C2-DD839A2E2088}"/>
              </a:ext>
            </a:extLst>
          </p:cNvPr>
          <p:cNvSpPr>
            <a:spLocks xmlns:a="http://schemas.openxmlformats.org/drawingml/2006/main" noGrp="1"/>
          </p:cNvSpPr>
          <p:nvPr/>
        </p:nvSpPr>
        <p:spPr>
          <a:xfrm xmlns:a="http://schemas.openxmlformats.org/drawingml/2006/main">
            <a:off x="10462895" y="177927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椭圆 91">
            <a:extLst xmlns:a="http://schemas.openxmlformats.org/drawingml/2006/main">
              <a:ext uri="{FF2B5EF4-FFF2-40B4-BE49-F238E27FC236}">
                <a16:creationId xmlns:a16="http://schemas.microsoft.com/office/drawing/2014/main" id="{7AA77A43-068F-468C-A13B-28699060624A}"/>
              </a:ext>
            </a:extLst>
          </p:cNvPr>
          <p:cNvSpPr>
            <a:spLocks xmlns:a="http://schemas.openxmlformats.org/drawingml/2006/main" noGrp="1"/>
          </p:cNvSpPr>
          <p:nvPr/>
        </p:nvSpPr>
        <p:spPr>
          <a:xfrm xmlns:a="http://schemas.openxmlformats.org/drawingml/2006/main">
            <a:off x="10462895" y="21221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 name="椭圆 110">
            <a:extLst xmlns:a="http://schemas.openxmlformats.org/drawingml/2006/main">
              <a:ext uri="{FF2B5EF4-FFF2-40B4-BE49-F238E27FC236}">
                <a16:creationId xmlns:a16="http://schemas.microsoft.com/office/drawing/2014/main" id="{FDB7B43C-25DC-4CD4-A0EB-737C9271301D}"/>
              </a:ext>
            </a:extLst>
          </p:cNvPr>
          <p:cNvSpPr>
            <a:spLocks xmlns:a="http://schemas.openxmlformats.org/drawingml/2006/main" noGrp="1"/>
          </p:cNvSpPr>
          <p:nvPr/>
        </p:nvSpPr>
        <p:spPr>
          <a:xfrm xmlns:a="http://schemas.openxmlformats.org/drawingml/2006/main">
            <a:off x="7561580" y="330644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 name="椭圆 111">
            <a:extLst xmlns:a="http://schemas.openxmlformats.org/drawingml/2006/main">
              <a:ext uri="{FF2B5EF4-FFF2-40B4-BE49-F238E27FC236}">
                <a16:creationId xmlns:a16="http://schemas.microsoft.com/office/drawing/2014/main" id="{2A4662F7-C882-475E-968A-381AB6C472C6}"/>
              </a:ext>
            </a:extLst>
          </p:cNvPr>
          <p:cNvSpPr>
            <a:spLocks xmlns:a="http://schemas.openxmlformats.org/drawingml/2006/main" noGrp="1"/>
          </p:cNvSpPr>
          <p:nvPr/>
        </p:nvSpPr>
        <p:spPr>
          <a:xfrm xmlns:a="http://schemas.openxmlformats.org/drawingml/2006/main">
            <a:off x="8361045" y="396684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3" name="椭圆 112">
            <a:extLst xmlns:a="http://schemas.openxmlformats.org/drawingml/2006/main">
              <a:ext uri="{FF2B5EF4-FFF2-40B4-BE49-F238E27FC236}">
                <a16:creationId xmlns:a16="http://schemas.microsoft.com/office/drawing/2014/main" id="{EDF5DD78-6B25-4A5B-97AF-93E1A478B30D}"/>
              </a:ext>
            </a:extLst>
          </p:cNvPr>
          <p:cNvSpPr>
            <a:spLocks xmlns:a="http://schemas.openxmlformats.org/drawingml/2006/main" noGrp="1"/>
          </p:cNvSpPr>
          <p:nvPr/>
        </p:nvSpPr>
        <p:spPr>
          <a:xfrm xmlns:a="http://schemas.openxmlformats.org/drawingml/2006/main">
            <a:off x="8648700" y="308419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4" name="椭圆 113">
            <a:extLst xmlns:a="http://schemas.openxmlformats.org/drawingml/2006/main">
              <a:ext uri="{FF2B5EF4-FFF2-40B4-BE49-F238E27FC236}">
                <a16:creationId xmlns:a16="http://schemas.microsoft.com/office/drawing/2014/main" id="{AB34CD00-595C-4DB8-9662-16FECB97F016}"/>
              </a:ext>
            </a:extLst>
          </p:cNvPr>
          <p:cNvSpPr>
            <a:spLocks xmlns:a="http://schemas.openxmlformats.org/drawingml/2006/main" noGrp="1"/>
          </p:cNvSpPr>
          <p:nvPr/>
        </p:nvSpPr>
        <p:spPr>
          <a:xfrm xmlns:a="http://schemas.openxmlformats.org/drawingml/2006/main">
            <a:off x="9091295" y="351599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5" name="直接连接符 114">
            <a:extLst xmlns:a="http://schemas.openxmlformats.org/drawingml/2006/main">
              <a:ext uri="{FF2B5EF4-FFF2-40B4-BE49-F238E27FC236}">
                <a16:creationId xmlns:a16="http://schemas.microsoft.com/office/drawing/2014/main" id="{EFB30AA7-90A3-4E4C-944C-8ADBDE241267}"/>
              </a:ext>
            </a:extLst>
          </p:cNvPr>
          <p:cNvSpPr>
            <a:spLocks xmlns:a="http://schemas.openxmlformats.org/drawingml/2006/main" noGrp="1"/>
          </p:cNvSpPr>
          <p:nvPr/>
        </p:nvSpPr>
        <p:spPr>
          <a:xfrm xmlns:a="http://schemas.openxmlformats.org/drawingml/2006/main">
            <a:off x="7845425" y="2378075"/>
            <a:ext cx="2273935" cy="201295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17" name="直接连接符 116">
            <a:extLst xmlns:a="http://schemas.openxmlformats.org/drawingml/2006/main">
              <a:ext uri="{FF2B5EF4-FFF2-40B4-BE49-F238E27FC236}">
                <a16:creationId xmlns:a16="http://schemas.microsoft.com/office/drawing/2014/main" id="{C62EF536-2825-4016-8F7A-103969B18589}"/>
              </a:ext>
            </a:extLst>
          </p:cNvPr>
          <p:cNvSpPr>
            <a:spLocks xmlns:a="http://schemas.openxmlformats.org/drawingml/2006/main" noGrp="1"/>
          </p:cNvSpPr>
          <p:nvPr/>
        </p:nvSpPr>
        <p:spPr>
          <a:xfrm xmlns:a="http://schemas.openxmlformats.org/drawingml/2006/main">
            <a:off x="7254875" y="3006725"/>
            <a:ext cx="2172335" cy="190500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18" name="直接连接符 117">
            <a:extLst xmlns:a="http://schemas.openxmlformats.org/drawingml/2006/main">
              <a:ext uri="{FF2B5EF4-FFF2-40B4-BE49-F238E27FC236}">
                <a16:creationId xmlns:a16="http://schemas.microsoft.com/office/drawing/2014/main" id="{F4DA0200-D6F0-418C-A6B8-C2700DA42948}"/>
              </a:ext>
            </a:extLst>
          </p:cNvPr>
          <p:cNvSpPr>
            <a:spLocks xmlns:a="http://schemas.openxmlformats.org/drawingml/2006/main" noGrp="1"/>
          </p:cNvSpPr>
          <p:nvPr/>
        </p:nvSpPr>
        <p:spPr>
          <a:xfrm xmlns:a="http://schemas.openxmlformats.org/drawingml/2006/main">
            <a:off x="7561580" y="2713990"/>
            <a:ext cx="2273935" cy="2012950"/>
          </a:xfrm>
          <a:prstGeom xmlns:a="http://schemas.openxmlformats.org/drawingml/2006/main" prst="line">
            <a:avLst/>
          </a:prstGeom>
        </p:spPr>
        <p:style>
          <a:lnRef xmlns:a="http://schemas.openxmlformats.org/drawingml/2006/main" idx="3">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cxnSp>
        <p:nvCxnSpPr>
          <p:cNvPr id="164" name="直接箭头连接符 118"/>
          <p:cNvCxnSpPr/>
          <p:nvPr/>
        </p:nvCxnSpPr>
        <p:spPr>
          <a:xfrm xmlns:a="http://schemas.openxmlformats.org/drawingml/2006/main" flipV="1">
            <a:off x="9566910" y="4156075"/>
            <a:ext cx="279400" cy="317500"/>
          </a:xfrm>
          <a:prstGeom xmlns:a="http://schemas.openxmlformats.org/drawingml/2006/main" prst="straightConnector1">
            <a:avLst/>
          </a:prstGeom>
          <a:ln xmlns:a="http://schemas.openxmlformats.org/drawingml/2006/main">
            <a:solidFill>
              <a:srgbClr val="C00000"/>
            </a:solidFill>
            <a:tailEnd type="arrow"/>
          </a:ln>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cxnSp>
        <p:nvCxnSpPr>
          <p:cNvPr id="165" name="直接箭头连接符 120"/>
          <p:cNvCxnSpPr/>
          <p:nvPr/>
        </p:nvCxnSpPr>
        <p:spPr>
          <a:xfrm xmlns:a="http://schemas.openxmlformats.org/drawingml/2006/main" flipH="1">
            <a:off x="9274810" y="4473575"/>
            <a:ext cx="292100" cy="342900"/>
          </a:xfrm>
          <a:prstGeom xmlns:a="http://schemas.openxmlformats.org/drawingml/2006/main" prst="straightConnector1">
            <a:avLst/>
          </a:prstGeom>
          <a:ln xmlns:a="http://schemas.openxmlformats.org/drawingml/2006/main">
            <a:solidFill>
              <a:srgbClr val="C00000"/>
            </a:solidFill>
            <a:tailEnd type="arrow"/>
          </a:ln>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sp>
        <p:nvSpPr>
          <p:cNvPr id="122" name="文本框 121">
            <a:extLst xmlns:a="http://schemas.openxmlformats.org/drawingml/2006/main">
              <a:ext uri="{FF2B5EF4-FFF2-40B4-BE49-F238E27FC236}">
                <a16:creationId xmlns:a16="http://schemas.microsoft.com/office/drawing/2014/main" id="{E117673F-91DE-4930-8316-DE0A144078BF}"/>
              </a:ext>
            </a:extLst>
          </p:cNvPr>
          <p:cNvSpPr>
            <a:spLocks xmlns:a="http://schemas.openxmlformats.org/drawingml/2006/main" noGrp="1"/>
          </p:cNvSpPr>
          <p:nvPr/>
        </p:nvSpPr>
        <p:spPr>
          <a:xfrm xmlns:a="http://schemas.openxmlformats.org/drawingml/2006/main">
            <a:off x="7477760" y="1960880"/>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𝐻</m:t>
                      </m:r>
                    </m:e>
                    <m:sub>
                      <m:r>
                        <a:rPr xmlns:a="http://schemas.openxmlformats.org/drawingml/2006/main" lang="en-US" i="1">
                          <a:latin typeface="Cambria Math"/>
                          <a:ea typeface="Cambria Math"/>
                          <a:cs typeface="Cambria Math"/>
                        </a:rPr>
                        <m:t>1</m:t>
                      </m:r>
                    </m:sub>
                  </m:sSub>
                </m:oMath>
              </m:oMathPara>
            </a14:m>
            <a:endParaRPr/>
          </a:p>
        </p:txBody>
      </p:sp>
      <p:sp>
        <p:nvSpPr>
          <p:cNvPr id="123" name="文本框 122">
            <a:extLst xmlns:a="http://schemas.openxmlformats.org/drawingml/2006/main">
              <a:ext uri="{FF2B5EF4-FFF2-40B4-BE49-F238E27FC236}">
                <a16:creationId xmlns:a16="http://schemas.microsoft.com/office/drawing/2014/main" id="{A81DF9B0-5C51-4020-AF19-0B4A39924503}"/>
              </a:ext>
            </a:extLst>
          </p:cNvPr>
          <p:cNvSpPr>
            <a:spLocks xmlns:a="http://schemas.openxmlformats.org/drawingml/2006/main" noGrp="1"/>
          </p:cNvSpPr>
          <p:nvPr/>
        </p:nvSpPr>
        <p:spPr>
          <a:xfrm xmlns:a="http://schemas.openxmlformats.org/drawingml/2006/main">
            <a:off x="7178675" y="2329815"/>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r>
                    <a:rPr xmlns:a="http://schemas.openxmlformats.org/drawingml/2006/main" lang="en-US" i="1">
                      <a:latin typeface="Cambria Math"/>
                      <a:ea typeface="Cambria Math"/>
                      <a:cs typeface="Cambria Math"/>
                    </a:rPr>
                    <m:t>𝐻</m:t>
                  </m:r>
                </m:oMath>
              </m:oMathPara>
            </a14:m>
            <a:endParaRPr/>
          </a:p>
        </p:txBody>
      </p:sp>
      <p:sp>
        <p:nvSpPr>
          <p:cNvPr id="124" name="文本框 123">
            <a:extLst xmlns:a="http://schemas.openxmlformats.org/drawingml/2006/main">
              <a:ext uri="{FF2B5EF4-FFF2-40B4-BE49-F238E27FC236}">
                <a16:creationId xmlns:a16="http://schemas.microsoft.com/office/drawing/2014/main" id="{4178DFE7-0D6E-4604-9BDF-BF90CC804B7F}"/>
              </a:ext>
            </a:extLst>
          </p:cNvPr>
          <p:cNvSpPr>
            <a:spLocks xmlns:a="http://schemas.openxmlformats.org/drawingml/2006/main" noGrp="1"/>
          </p:cNvSpPr>
          <p:nvPr/>
        </p:nvSpPr>
        <p:spPr>
          <a:xfrm xmlns:a="http://schemas.openxmlformats.org/drawingml/2006/main">
            <a:off x="6836410" y="2621280"/>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𝐻</m:t>
                      </m:r>
                    </m:e>
                    <m:sub>
                      <m:r>
                        <a:rPr xmlns:a="http://schemas.openxmlformats.org/drawingml/2006/main" lang="en-US" i="1">
                          <a:latin typeface="Cambria Math"/>
                          <a:ea typeface="Cambria Math"/>
                          <a:cs typeface="Cambria Math"/>
                        </a:rPr>
                        <m:t>2</m:t>
                      </m:r>
                    </m:sub>
                  </m:sSub>
                </m:oMath>
              </m:oMathPara>
            </a14:m>
            <a:endParaRPr/>
          </a:p>
        </p:txBody>
      </p:sp>
      <p:sp>
        <p:nvSpPr>
          <p:cNvPr id="127" name="直接连接符 126">
            <a:extLst xmlns:a="http://schemas.openxmlformats.org/drawingml/2006/main">
              <a:ext uri="{FF2B5EF4-FFF2-40B4-BE49-F238E27FC236}">
                <a16:creationId xmlns:a16="http://schemas.microsoft.com/office/drawing/2014/main" id="{3FB21A1B-D813-483E-B9B3-69EDE5133D86}"/>
              </a:ext>
            </a:extLst>
          </p:cNvPr>
          <p:cNvSpPr>
            <a:spLocks xmlns:a="http://schemas.openxmlformats.org/drawingml/2006/main" noGrp="1"/>
          </p:cNvSpPr>
          <p:nvPr/>
        </p:nvSpPr>
        <p:spPr>
          <a:xfrm xmlns:a="http://schemas.openxmlformats.org/drawingml/2006/main">
            <a:off x="7972425" y="2505075"/>
            <a:ext cx="2273935" cy="201295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28" name="直接连接符 127">
            <a:extLst xmlns:a="http://schemas.openxmlformats.org/drawingml/2006/main">
              <a:ext uri="{FF2B5EF4-FFF2-40B4-BE49-F238E27FC236}">
                <a16:creationId xmlns:a16="http://schemas.microsoft.com/office/drawing/2014/main" id="{4AECBC43-484D-47E7-8865-D91BDC8DB9EB}"/>
              </a:ext>
            </a:extLst>
          </p:cNvPr>
          <p:cNvSpPr>
            <a:spLocks xmlns:a="http://schemas.openxmlformats.org/drawingml/2006/main" noGrp="1"/>
          </p:cNvSpPr>
          <p:nvPr/>
        </p:nvSpPr>
        <p:spPr>
          <a:xfrm xmlns:a="http://schemas.openxmlformats.org/drawingml/2006/main">
            <a:off x="7381875" y="3133725"/>
            <a:ext cx="2172335" cy="190500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94" name="文本框 93">
            <a:extLst xmlns:a="http://schemas.openxmlformats.org/drawingml/2006/main">
              <a:ext uri="{FF2B5EF4-FFF2-40B4-BE49-F238E27FC236}">
                <a16:creationId xmlns:a16="http://schemas.microsoft.com/office/drawing/2014/main" id="{889CEE56-7EB1-47F8-991C-D7AC099381E2}"/>
              </a:ext>
            </a:extLst>
          </p:cNvPr>
          <p:cNvSpPr>
            <a:spLocks xmlns:a="http://schemas.openxmlformats.org/drawingml/2006/main" noGrp="1"/>
          </p:cNvSpPr>
          <p:nvPr/>
        </p:nvSpPr>
        <p:spPr>
          <a:xfrm xmlns:a="http://schemas.openxmlformats.org/drawingml/2006/main">
            <a:off x="10567670" y="1646555"/>
            <a:ext cx="4064000" cy="370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oMath>
              </m:oMathPara>
            </a14:m>
            <a:endParaRPr/>
          </a:p>
        </p:txBody>
      </p:sp>
      <p:sp>
        <p:nvSpPr>
          <p:cNvPr id="95" name="文本框 94">
            <a:extLst xmlns:a="http://schemas.openxmlformats.org/drawingml/2006/main">
              <a:ext uri="{FF2B5EF4-FFF2-40B4-BE49-F238E27FC236}">
                <a16:creationId xmlns:a16="http://schemas.microsoft.com/office/drawing/2014/main" id="{F9F957F9-E9FC-475D-9E22-61D59D80B4B2}"/>
              </a:ext>
            </a:extLst>
          </p:cNvPr>
          <p:cNvSpPr>
            <a:spLocks xmlns:a="http://schemas.openxmlformats.org/drawingml/2006/main" noGrp="1"/>
          </p:cNvSpPr>
          <p:nvPr/>
        </p:nvSpPr>
        <p:spPr>
          <a:xfrm xmlns:a="http://schemas.openxmlformats.org/drawingml/2006/main">
            <a:off x="10567670" y="1960880"/>
            <a:ext cx="4064000" cy="370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oMath>
              </m:oMathPara>
            </a14:m>
            <a:endParaRPr/>
          </a:p>
        </p:txBody>
      </p:sp>
      <p:sp>
        <p:nvSpPr>
          <p:cNvPr id="100" name="文本框 99">
            <a:extLst xmlns:a="http://schemas.openxmlformats.org/drawingml/2006/main">
              <a:ext uri="{FF2B5EF4-FFF2-40B4-BE49-F238E27FC236}">
                <a16:creationId xmlns:a16="http://schemas.microsoft.com/office/drawing/2014/main" id="{BD1F4D26-007E-49B9-8BCC-797BC026F3DD}"/>
              </a:ext>
            </a:extLst>
          </p:cNvPr>
          <p:cNvSpPr>
            <a:spLocks xmlns:a="http://schemas.openxmlformats.org/drawingml/2006/main" noGrp="1"/>
          </p:cNvSpPr>
          <p:nvPr/>
        </p:nvSpPr>
        <p:spPr>
          <a:xfrm xmlns:a="http://schemas.openxmlformats.org/drawingml/2006/main">
            <a:off x="271145" y="2164715"/>
            <a:ext cx="6247765" cy="3575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sz="1400" b="1" i="1">
                      <a:latin typeface="Cambria Math"/>
                      <a:ea typeface="Cambria Math"/>
                      <a:cs typeface="Cambria Math"/>
                    </a:rPr>
                    <m:t>𝑿</m:t>
                  </m:r>
                  <m:r>
                    <a:rPr xmlns:a="http://schemas.openxmlformats.org/drawingml/2006/main" lang="en-US" sz="1400" i="1">
                      <a:latin typeface="Cambria Math"/>
                      <a:ea typeface="Cambria Math"/>
                      <a:cs typeface="Cambria Math"/>
                    </a:rPr>
                    <m:t>={(</m:t>
                  </m:r>
                  <m:sSub>
                    <m:e>
                      <m:r>
                        <a:rPr xmlns:a="http://schemas.openxmlformats.org/drawingml/2006/main" lang="en-US" sz="1400" b="1" i="1">
                          <a:latin typeface="Cambria Math"/>
                          <a:ea typeface="Cambria Math"/>
                          <a:cs typeface="Cambria Math"/>
                        </a:rPr>
                        <m:t>𝒙</m:t>
                      </m:r>
                    </m:e>
                    <m:sub>
                      <m:r>
                        <a:rPr xmlns:a="http://schemas.openxmlformats.org/drawingml/2006/main" lang="en-US" sz="1400" b="1" i="1">
                          <a:latin typeface="Cambria Math"/>
                          <a:ea typeface="Cambria Math"/>
                          <a:cs typeface="Cambria Math"/>
                        </a:rPr>
                        <m:t>𝒊</m:t>
                      </m:r>
                    </m:sub>
                  </m:sSub>
                  <m:r>
                    <a:rPr xmlns:a="http://schemas.openxmlformats.org/drawingml/2006/main" lang="en-US" sz="1400" i="1">
                      <a:latin typeface="Cambria Math"/>
                      <a:ea typeface="Cambria Math"/>
                      <a:cs typeface="Cambria Math"/>
                    </a:rPr>
                    <m:t>,</m:t>
                  </m:r>
                  <m:sSub>
                    <m:e>
                      <m:r>
                        <a:rPr xmlns:a="http://schemas.openxmlformats.org/drawingml/2006/main" lang="en-US" sz="1400" i="1">
                          <a:latin typeface="Cambria Math"/>
                          <a:ea typeface="Cambria Math"/>
                          <a:cs typeface="Cambria Math"/>
                        </a:rPr>
                        <m:t>𝑦</m:t>
                      </m:r>
                    </m:e>
                    <m:sub>
                      <m:r>
                        <a:rPr xmlns:a="http://schemas.openxmlformats.org/drawingml/2006/main" lang="en-US" sz="1400" i="1">
                          <a:latin typeface="Cambria Math"/>
                          <a:ea typeface="Cambria Math"/>
                          <a:cs typeface="Cambria Math"/>
                        </a:rPr>
                        <m:t>𝑖</m:t>
                      </m:r>
                    </m:sub>
                  </m:sSub>
                  <m:r>
                    <a:rPr xmlns:a="http://schemas.openxmlformats.org/drawingml/2006/main" lang="en-US" sz="1400" i="1">
                      <a:latin typeface="Cambria Math"/>
                      <a:ea typeface="Cambria Math"/>
                      <a:cs typeface="Cambria Math"/>
                    </a:rPr>
                    <m:t>)|</m:t>
                  </m:r>
                  <m:sSub>
                    <m:e>
                      <m:r>
                        <a:rPr xmlns:a="http://schemas.openxmlformats.org/drawingml/2006/main" lang="en-US" sz="1400" b="1" i="1">
                          <a:latin typeface="Cambria Math"/>
                          <a:ea typeface="Cambria Math"/>
                          <a:cs typeface="Cambria Math"/>
                        </a:rPr>
                        <m:t>𝒙</m:t>
                      </m:r>
                    </m:e>
                    <m:sub>
                      <m:r>
                        <a:rPr xmlns:a="http://schemas.openxmlformats.org/drawingml/2006/main" lang="en-US" sz="1400" b="1" i="1">
                          <a:latin typeface="Cambria Math"/>
                          <a:ea typeface="Cambria Math"/>
                          <a:cs typeface="Cambria Math"/>
                        </a:rPr>
                        <m:t>𝒊</m:t>
                      </m:r>
                    </m:sub>
                  </m:sSub>
                  <m:r>
                    <a:rPr xmlns:a="http://schemas.openxmlformats.org/drawingml/2006/main" lang="en-US" sz="1400" i="1">
                      <a:latin typeface="Cambria Math"/>
                      <a:ea typeface="Cambria Math"/>
                      <a:cs typeface="Cambria Math"/>
                    </a:rPr>
                    <m:t>∈</m:t>
                  </m:r>
                  <m:sSup>
                    <m:e>
                      <m:r>
                        <a:rPr xmlns:a="http://schemas.openxmlformats.org/drawingml/2006/main" lang="en-US" sz="1400" i="1">
                          <a:latin typeface="Cambria Math"/>
                          <a:ea typeface="Cambria Math"/>
                          <a:cs typeface="Cambria Math"/>
                        </a:rPr>
                        <m:t>𝑅</m:t>
                      </m:r>
                    </m:e>
                    <m:sup>
                      <m:r>
                        <a:rPr xmlns:a="http://schemas.openxmlformats.org/drawingml/2006/main" lang="en-US" sz="1400" i="1">
                          <a:latin typeface="Cambria Math"/>
                          <a:ea typeface="Cambria Math"/>
                          <a:cs typeface="Cambria Math"/>
                        </a:rPr>
                        <m:t>𝑁</m:t>
                      </m:r>
                    </m:sup>
                  </m:sSup>
                  <m:r>
                    <a:rPr xmlns:a="http://schemas.openxmlformats.org/drawingml/2006/main" lang="en-US" sz="1400" i="1">
                      <a:latin typeface="Cambria Math"/>
                      <a:ea typeface="Cambria Math"/>
                      <a:cs typeface="Cambria Math"/>
                    </a:rPr>
                    <m:t>,</m:t>
                  </m:r>
                  <m:sSub>
                    <m:e>
                      <m:r>
                        <a:rPr xmlns:a="http://schemas.openxmlformats.org/drawingml/2006/main" lang="en-US" sz="1400" i="1">
                          <a:latin typeface="Cambria Math"/>
                          <a:ea typeface="Cambria Math"/>
                          <a:cs typeface="Cambria Math"/>
                        </a:rPr>
                        <m:t>𝑦</m:t>
                      </m:r>
                    </m:e>
                    <m:sub>
                      <m:r>
                        <a:rPr xmlns:a="http://schemas.openxmlformats.org/drawingml/2006/main" lang="en-US" sz="1400" i="1">
                          <a:latin typeface="Cambria Math"/>
                          <a:ea typeface="Cambria Math"/>
                          <a:cs typeface="Cambria Math"/>
                        </a:rPr>
                        <m:t>𝑖</m:t>
                      </m:r>
                    </m:sub>
                  </m:sSub>
                  <m:r>
                    <a:rPr xmlns:a="http://schemas.openxmlformats.org/drawingml/2006/main" lang="en-US" sz="1400" i="1">
                      <a:latin typeface="Cambria Math"/>
                      <a:ea typeface="Cambria Math"/>
                      <a:cs typeface="Cambria Math"/>
                    </a:rPr>
                    <m:t>∈{−1,+1},</m:t>
                  </m:r>
                  <m:r>
                    <a:rPr xmlns:a="http://schemas.openxmlformats.org/drawingml/2006/main" lang="en-US" sz="1400" i="1">
                      <a:latin typeface="Cambria Math"/>
                      <a:ea typeface="Cambria Math"/>
                      <a:cs typeface="Cambria Math"/>
                    </a:rPr>
                    <m:t>𝑖</m:t>
                  </m:r>
                  <m:r>
                    <a:rPr xmlns:a="http://schemas.openxmlformats.org/drawingml/2006/main" lang="en-US" sz="1400" i="1">
                      <a:latin typeface="Cambria Math"/>
                      <a:ea typeface="Cambria Math"/>
                      <a:cs typeface="Cambria Math"/>
                    </a:rPr>
                    <m:t>=1,2,3,...</m:t>
                  </m:r>
                  <m:r>
                    <a:rPr xmlns:a="http://schemas.openxmlformats.org/drawingml/2006/main" lang="en-US" sz="1400" i="1">
                      <a:latin typeface="Cambria Math"/>
                      <a:ea typeface="Cambria Math"/>
                      <a:cs typeface="Cambria Math"/>
                    </a:rPr>
                    <m:t>𝑛</m:t>
                  </m:r>
                  <m:r>
                    <a:rPr xmlns:a="http://schemas.openxmlformats.org/drawingml/2006/main" lang="en-US" sz="1400" i="1">
                      <a:latin typeface="Cambria Math"/>
                      <a:ea typeface="Cambria Math"/>
                      <a:cs typeface="Cambria Math"/>
                    </a:rPr>
                    <m:t>}</m:t>
                  </m:r>
                </m:oMath>
              </m:oMathPara>
            </a14:m>
            <a:endParaRPr sz="1400"/>
          </a:p>
        </p:txBody>
      </p:sp>
      <p:sp>
        <p:nvSpPr>
          <p:cNvPr id="43" name="文本框 42">
            <a:extLst xmlns:a="http://schemas.openxmlformats.org/drawingml/2006/main">
              <a:ext uri="{FF2B5EF4-FFF2-40B4-BE49-F238E27FC236}">
                <a16:creationId xmlns:a16="http://schemas.microsoft.com/office/drawing/2014/main" id="{494567ED-C761-4380-AC3C-3F780787D0E3}"/>
              </a:ext>
            </a:extLst>
          </p:cNvPr>
          <p:cNvSpPr>
            <a:spLocks xmlns:a="http://schemas.openxmlformats.org/drawingml/2006/main" noGrp="1"/>
          </p:cNvSpPr>
          <p:nvPr/>
        </p:nvSpPr>
        <p:spPr>
          <a:xfrm xmlns:a="http://schemas.openxmlformats.org/drawingml/2006/main">
            <a:off x="271145" y="1704340"/>
            <a:ext cx="62477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样本训练集</a:t>
            </a:r>
            <a14:m xmlns:a14="http://schemas.microsoft.com/office/drawing/2010/main">
              <m:oMathPara xmlns:m="http://schemas.openxmlformats.org/officeDocument/2006/math">
                <m:oMath>
                  <m:r>
                    <a:rPr xmlns:a="http://schemas.openxmlformats.org/drawingml/2006/main" lang="en-US" sz="2000" i="1">
                      <a:latin typeface="Cambria Math"/>
                      <a:ea typeface="Cambria Math"/>
                      <a:cs typeface="Cambria Math"/>
                    </a:rPr>
                    <m:t>𝑋</m:t>
                  </m:r>
                </m:oMath>
              </m:oMathPara>
            </a14:m>
            <a:r>
              <a:rPr sz="2000" b="1"/>
              <a:t>:</a:t>
            </a:r>
          </a:p>
        </p:txBody>
      </p:sp>
      <p:sp>
        <p:nvSpPr>
          <p:cNvPr id="44" name="文本框 43">
            <a:extLst xmlns:a="http://schemas.openxmlformats.org/drawingml/2006/main">
              <a:ext uri="{FF2B5EF4-FFF2-40B4-BE49-F238E27FC236}">
                <a16:creationId xmlns:a16="http://schemas.microsoft.com/office/drawing/2014/main" id="{D56D7249-2FCF-4838-A9FD-7A74989CDB03}"/>
              </a:ext>
            </a:extLst>
          </p:cNvPr>
          <p:cNvSpPr>
            <a:spLocks xmlns:a="http://schemas.openxmlformats.org/drawingml/2006/main" noGrp="1"/>
          </p:cNvSpPr>
          <p:nvPr/>
        </p:nvSpPr>
        <p:spPr>
          <a:xfrm xmlns:a="http://schemas.openxmlformats.org/drawingml/2006/main">
            <a:off x="271145" y="2589530"/>
            <a:ext cx="624776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2000" b="1"/>
              <a:t>假设</a:t>
            </a:r>
            <a14:m xmlns:a14="http://schemas.microsoft.com/office/drawing/2010/main">
              <m:oMathPara xmlns:m="http://schemas.openxmlformats.org/officeDocument/2006/math">
                <m:oMath>
                  <m:r>
                    <a:rPr xmlns:a="http://schemas.openxmlformats.org/drawingml/2006/main" lang="en-US" sz="2000" b="1" i="1">
                      <a:latin typeface="Cambria Math"/>
                      <a:ea typeface="Cambria Math"/>
                      <a:cs typeface="Cambria Math"/>
                    </a:rPr>
                    <m:t>𝑿</m:t>
                  </m:r>
                </m:oMath>
              </m:oMathPara>
            </a14:m>
            <a:r>
              <a:rPr sz="2000" b="1"/>
              <a:t>仅有两个类别，</a:t>
            </a:r>
            <a14:m xmlns:a14="http://schemas.microsoft.com/office/drawing/2010/main">
              <m:oMathPara xmlns:m="http://schemas.openxmlformats.org/officeDocument/2006/math">
                <m:oMath>
                  <m:r>
                    <a:rPr xmlns:a="http://schemas.openxmlformats.org/drawingml/2006/main" lang="en-US" sz="2000" b="1" i="1">
                      <a:latin typeface="Cambria Math"/>
                      <a:ea typeface="Cambria Math"/>
                      <a:cs typeface="Cambria Math"/>
                    </a:rPr>
                    <m:t>∃</m:t>
                  </m:r>
                  <m:r>
                    <a:rPr xmlns:a="http://schemas.openxmlformats.org/drawingml/2006/main" lang="en-US" sz="2000" i="1">
                      <a:latin typeface="Cambria Math"/>
                      <a:ea typeface="Cambria Math"/>
                      <a:cs typeface="Cambria Math"/>
                    </a:rPr>
                    <m:t>𝐻</m:t>
                  </m:r>
                </m:oMath>
              </m:oMathPara>
            </a14:m>
            <a:r>
              <a:rPr sz="2000" b="1">
                <a:latin typeface="DejaVu Math TeX Gyre"/>
                <a:ea typeface="DejaVu Math TeX Gyre"/>
                <a:cs typeface="DejaVu Math TeX Gyre"/>
              </a:rPr>
              <a:t>使样本可分</a:t>
            </a:r>
          </a:p>
          <a:p xmlns:a="http://schemas.openxmlformats.org/drawingml/2006/main">
            <a:pPr algn="l">
              <a:lnSpc>
                <a:spcPct val="120000"/>
              </a:lnSpc>
              <a:buNone/>
            </a:pPr>
            <a:endParaRPr sz="2000" b="1">
              <a:latin typeface="DejaVu Math TeX Gyre"/>
              <a:ea typeface="DejaVu Math TeX Gyre"/>
              <a:cs typeface="DejaVu Math TeX Gyre"/>
            </a:endParaRPr>
          </a:p>
        </p:txBody>
      </p:sp>
      <p:sp>
        <p:nvSpPr>
          <p:cNvPr id="45" name="文本框 44">
            <a:extLst xmlns:a="http://schemas.openxmlformats.org/drawingml/2006/main">
              <a:ext uri="{FF2B5EF4-FFF2-40B4-BE49-F238E27FC236}">
                <a16:creationId xmlns:a16="http://schemas.microsoft.com/office/drawing/2014/main" id="{58FDCD93-E65B-49EB-BD7C-C4F93C3D77CB}"/>
              </a:ext>
            </a:extLst>
          </p:cNvPr>
          <p:cNvSpPr>
            <a:spLocks xmlns:a="http://schemas.openxmlformats.org/drawingml/2006/main" noGrp="1"/>
          </p:cNvSpPr>
          <p:nvPr/>
        </p:nvSpPr>
        <p:spPr>
          <a:xfrm xmlns:a="http://schemas.openxmlformats.org/drawingml/2006/main">
            <a:off x="271145" y="3033395"/>
            <a:ext cx="6247765" cy="386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sz="1600" i="1">
                <a:latin typeface="DejaVu Math TeX Gyre"/>
                <a:ea typeface="DejaVu Math TeX Gyre"/>
                <a:cs typeface="DejaVu Math TeX Gyre"/>
              </a:rPr>
              <a:t>                     </a:t>
            </a:r>
            <a:r>
              <a:rPr sz="1600" b="1" i="1">
                <a:latin typeface="DejaVu Math TeX Gyre"/>
                <a:ea typeface="DejaVu Math TeX Gyre"/>
                <a:cs typeface="DejaVu Math TeX Gyre"/>
              </a:rPr>
              <a:t>H</a:t>
            </a:r>
            <a:r>
              <a:rPr sz="1600" i="1">
                <a:latin typeface="DejaVu Math TeX Gyre"/>
                <a:ea typeface="DejaVu Math TeX Gyre"/>
                <a:cs typeface="DejaVu Math TeX Gyre"/>
              </a:rPr>
              <a:t>:	  (</a:t>
            </a:r>
            <a:r>
              <a:rPr sz="1600" b="1" i="1">
                <a:latin typeface="DejaVu Math TeX Gyre"/>
                <a:ea typeface="DejaVu Math TeX Gyre"/>
                <a:cs typeface="DejaVu Math TeX Gyre"/>
              </a:rPr>
              <a:t>w·x</a:t>
            </a:r>
            <a:r>
              <a:rPr sz="1600" i="1">
                <a:latin typeface="DejaVu Math TeX Gyre"/>
                <a:ea typeface="DejaVu Math TeX Gyre"/>
                <a:cs typeface="DejaVu Math TeX Gyre"/>
              </a:rPr>
              <a:t>)+b=0</a:t>
            </a:r>
          </a:p>
        </p:txBody>
      </p:sp>
      <p:sp>
        <p:nvSpPr>
          <p:cNvPr id="46" name="文本框 45">
            <a:extLst xmlns:a="http://schemas.openxmlformats.org/drawingml/2006/main">
              <a:ext uri="{FF2B5EF4-FFF2-40B4-BE49-F238E27FC236}">
                <a16:creationId xmlns:a16="http://schemas.microsoft.com/office/drawing/2014/main" id="{31847E5A-770C-4DBE-90A6-315C51CF020E}"/>
              </a:ext>
            </a:extLst>
          </p:cNvPr>
          <p:cNvSpPr>
            <a:spLocks xmlns:a="http://schemas.openxmlformats.org/drawingml/2006/main" noGrp="1"/>
          </p:cNvSpPr>
          <p:nvPr/>
        </p:nvSpPr>
        <p:spPr>
          <a:xfrm xmlns:a="http://schemas.openxmlformats.org/drawingml/2006/main">
            <a:off x="271145" y="3419475"/>
            <a:ext cx="624776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sz="2000" b="1" i="1">
                      <a:latin typeface="Cambria Math"/>
                      <a:ea typeface="Cambria Math"/>
                      <a:cs typeface="Cambria Math"/>
                    </a:rPr>
                    <m:t>𝒘</m:t>
                  </m:r>
                </m:oMath>
              </m:oMathPara>
            </a14:m>
            <a:r>
              <a:rPr sz="2000" b="1">
                <a:latin typeface="DejaVu Math TeX Gyre"/>
                <a:ea typeface="DejaVu Math TeX Gyre"/>
                <a:cs typeface="DejaVu Math TeX Gyre"/>
              </a:rPr>
              <a:t>是超平面</a:t>
            </a:r>
            <a14:m xmlns:a14="http://schemas.microsoft.com/office/drawing/2010/main">
              <m:oMathPara xmlns:m="http://schemas.openxmlformats.org/officeDocument/2006/math">
                <m:oMath>
                  <m:r>
                    <a:rPr xmlns:a="http://schemas.openxmlformats.org/drawingml/2006/main" lang="en-US" sz="2000" i="1">
                      <a:latin typeface="Cambria Math"/>
                      <a:ea typeface="Cambria Math"/>
                      <a:cs typeface="Cambria Math"/>
                    </a:rPr>
                    <m:t>𝐻</m:t>
                  </m:r>
                </m:oMath>
              </m:oMathPara>
            </a14:m>
            <a:r>
              <a:rPr sz="2000" b="1">
                <a:latin typeface="DejaVu Math TeX Gyre"/>
                <a:ea typeface="DejaVu Math TeX Gyre"/>
                <a:cs typeface="DejaVu Math TeX Gyre"/>
              </a:rPr>
              <a:t>法向量，</a:t>
            </a:r>
            <a14:m xmlns:a14="http://schemas.microsoft.com/office/drawing/2010/main">
              <m:oMathPara xmlns:m="http://schemas.openxmlformats.org/officeDocument/2006/math">
                <m:oMath>
                  <m:r>
                    <a:rPr xmlns:a="http://schemas.openxmlformats.org/drawingml/2006/main" lang="en-US" sz="2000" i="1">
                      <a:latin typeface="Cambria Math"/>
                      <a:ea typeface="Cambria Math"/>
                      <a:cs typeface="Cambria Math"/>
                    </a:rPr>
                    <m:t>∃</m:t>
                  </m:r>
                </m:oMath>
              </m:oMathPara>
            </a14:m>
            <a:r>
              <a:rPr sz="2000" b="1">
                <a:latin typeface="DejaVu Math TeX Gyre"/>
                <a:ea typeface="DejaVu Math TeX Gyre"/>
                <a:cs typeface="DejaVu Math TeX Gyre"/>
              </a:rPr>
              <a:t>分类平面</a:t>
            </a:r>
            <a14:m xmlns:a14="http://schemas.microsoft.com/office/drawing/2010/main">
              <m:oMathPara xmlns:m="http://schemas.openxmlformats.org/officeDocument/2006/math">
                <m:oMath>
                  <m:sSub>
                    <m:e>
                      <m:r>
                        <a:rPr xmlns:a="http://schemas.openxmlformats.org/drawingml/2006/main" lang="en-US" sz="2000" i="1">
                          <a:latin typeface="Cambria Math"/>
                          <a:ea typeface="Cambria Math"/>
                          <a:cs typeface="Cambria Math"/>
                        </a:rPr>
                        <m:t>𝐻</m:t>
                      </m:r>
                    </m:e>
                    <m:sub>
                      <m:r>
                        <a:rPr xmlns:a="http://schemas.openxmlformats.org/drawingml/2006/main" lang="en-US" sz="2000" i="1">
                          <a:latin typeface="Cambria Math"/>
                          <a:ea typeface="Cambria Math"/>
                          <a:cs typeface="Cambria Math"/>
                        </a:rPr>
                        <m:t>1</m:t>
                      </m:r>
                    </m:sub>
                  </m:sSub>
                </m:oMath>
              </m:oMathPara>
            </a14:m>
            <a:r>
              <a:rPr sz="2000">
                <a:latin typeface="DejaVu Math TeX Gyre"/>
                <a:ea typeface="DejaVu Math TeX Gyre"/>
                <a:cs typeface="DejaVu Math TeX Gyre"/>
              </a:rPr>
              <a:t>和</a:t>
            </a:r>
            <a14:m xmlns:a14="http://schemas.microsoft.com/office/drawing/2010/main">
              <m:oMathPara xmlns:m="http://schemas.openxmlformats.org/officeDocument/2006/math">
                <m:oMath>
                  <m:sSub>
                    <m:e>
                      <m:r>
                        <a:rPr xmlns:a="http://schemas.openxmlformats.org/drawingml/2006/main" lang="en-US" sz="2000" i="1">
                          <a:latin typeface="Cambria Math"/>
                          <a:ea typeface="Cambria Math"/>
                          <a:cs typeface="Cambria Math"/>
                        </a:rPr>
                        <m:t>𝐻</m:t>
                      </m:r>
                    </m:e>
                    <m:sub>
                      <m:r>
                        <a:rPr xmlns:a="http://schemas.openxmlformats.org/drawingml/2006/main" lang="en-US" sz="2000" i="1">
                          <a:latin typeface="Cambria Math"/>
                          <a:ea typeface="Cambria Math"/>
                          <a:cs typeface="Cambria Math"/>
                        </a:rPr>
                        <m:t>2</m:t>
                      </m:r>
                    </m:sub>
                  </m:sSub>
                </m:oMath>
              </m:oMathPara>
            </a14:m>
            <a:r>
              <a:rPr sz="2000" b="1">
                <a:latin typeface="DejaVu Math TeX Gyre"/>
                <a:ea typeface="DejaVu Math TeX Gyre"/>
                <a:cs typeface="DejaVu Math TeX Gyre"/>
              </a:rPr>
              <a:t>:</a:t>
            </a:r>
            <a:endParaRPr sz="2000" i="1">
              <a:latin typeface="DejaVu Math TeX Gyre"/>
              <a:ea typeface="DejaVu Math TeX Gyre"/>
              <a:cs typeface="DejaVu Math TeX Gyre"/>
            </a:endParaRPr>
          </a:p>
          <a:p xmlns:a="http://schemas.openxmlformats.org/drawingml/2006/main">
            <a:pPr algn="l">
              <a:lnSpc>
                <a:spcPct val="120000"/>
              </a:lnSpc>
              <a:buNone/>
            </a:pPr>
            <a:endParaRPr sz="2000" b="1">
              <a:latin typeface="DejaVu Math TeX Gyre"/>
              <a:ea typeface="DejaVu Math TeX Gyre"/>
              <a:cs typeface="DejaVu Math TeX Gyre"/>
            </a:endParaRPr>
          </a:p>
        </p:txBody>
      </p:sp>
      <p:sp>
        <p:nvSpPr>
          <p:cNvPr id="47" name="文本框 46">
            <a:extLst xmlns:a="http://schemas.openxmlformats.org/drawingml/2006/main">
              <a:ext uri="{FF2B5EF4-FFF2-40B4-BE49-F238E27FC236}">
                <a16:creationId xmlns:a16="http://schemas.microsoft.com/office/drawing/2014/main" id="{23C3A487-F269-49C1-80CC-F16327050D8E}"/>
              </a:ext>
            </a:extLst>
          </p:cNvPr>
          <p:cNvSpPr>
            <a:spLocks xmlns:a="http://schemas.openxmlformats.org/drawingml/2006/main" noGrp="1"/>
          </p:cNvSpPr>
          <p:nvPr/>
        </p:nvSpPr>
        <p:spPr>
          <a:xfrm xmlns:a="http://schemas.openxmlformats.org/drawingml/2006/main">
            <a:off x="-186055" y="3886200"/>
            <a:ext cx="6247765" cy="6838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d>
                    <m:dPr>
                      <m:begChr m:val="{"/>
                      <m:grow m:val="off"/>
                    </m:dPr>
                    <m:e>
                      <m:eqArr>
                        <m:e>
                          <m:sSub>
                            <m:e>
                              <m:r>
                                <a:rPr xmlns:a="http://schemas.openxmlformats.org/drawingml/2006/main" lang="en-US" sz="1600" i="1">
                                  <a:latin typeface="Cambria Math"/>
                                  <a:ea typeface="Cambria Math"/>
                                  <a:cs typeface="Cambria Math"/>
                                </a:rPr>
                                <m:t>𝐻</m:t>
                              </m:r>
                            </m:e>
                            <m:sub>
                              <m:r>
                                <a:rPr xmlns:a="http://schemas.openxmlformats.org/drawingml/2006/main" lang="en-US" sz="1600" i="1">
                                  <a:latin typeface="Cambria Math"/>
                                  <a:ea typeface="Cambria Math"/>
                                  <a:cs typeface="Cambria Math"/>
                                </a:rPr>
                                <m:t>1</m:t>
                              </m:r>
                            </m:sub>
                          </m:sSub>
                          <m:r>
                            <a:rPr xmlns:a="http://schemas.openxmlformats.org/drawingml/2006/main" lang="en-US" sz="1600" i="1">
                              <a:latin typeface="Cambria Math"/>
                              <a:ea typeface="Cambria Math"/>
                              <a:cs typeface="Cambria Math"/>
                            </a:rPr>
                            <m:t>:(</m:t>
                          </m:r>
                          <m:r>
                            <a:rPr xmlns:a="http://schemas.openxmlformats.org/drawingml/2006/main" lang="en-US" sz="1600" b="1" i="1">
                              <a:latin typeface="Cambria Math"/>
                              <a:ea typeface="Cambria Math"/>
                              <a:cs typeface="Cambria Math"/>
                            </a:rPr>
                            <m:t>𝒘</m:t>
                          </m:r>
                          <m:r>
                            <a:rPr xmlns:a="http://schemas.openxmlformats.org/drawingml/2006/main" lang="en-US" sz="1600" b="1" i="1">
                              <a:latin typeface="Cambria Math"/>
                              <a:ea typeface="Cambria Math"/>
                              <a:cs typeface="Cambria Math"/>
                            </a:rPr>
                            <m:t>·</m:t>
                          </m:r>
                          <m:sSub>
                            <m:e>
                              <m:r>
                                <a:rPr xmlns:a="http://schemas.openxmlformats.org/drawingml/2006/main" lang="en-US" sz="1600" b="1" i="1">
                                  <a:latin typeface="Cambria Math"/>
                                  <a:ea typeface="Cambria Math"/>
                                  <a:cs typeface="Cambria Math"/>
                                </a:rPr>
                                <m:t>𝒙</m:t>
                              </m:r>
                            </m:e>
                            <m:sub>
                              <m:r>
                                <a:rPr xmlns:a="http://schemas.openxmlformats.org/drawingml/2006/main" lang="en-US" sz="1600" b="1" i="1">
                                  <a:latin typeface="Cambria Math"/>
                                  <a:ea typeface="Cambria Math"/>
                                  <a:cs typeface="Cambria Math"/>
                                </a:rPr>
                                <m:t>𝒊</m:t>
                              </m:r>
                            </m:sub>
                          </m:sSub>
                          <m:r>
                            <a:rPr xmlns:a="http://schemas.openxmlformats.org/drawingml/2006/main" lang="en-US" sz="1600" i="1">
                              <a:latin typeface="Cambria Math"/>
                              <a:ea typeface="Cambria Math"/>
                              <a:cs typeface="Cambria Math"/>
                            </a:rPr>
                            <m:t>)+</m:t>
                          </m:r>
                          <m:r>
                            <a:rPr xmlns:a="http://schemas.openxmlformats.org/drawingml/2006/main" lang="en-US" sz="1600" i="1">
                              <a:latin typeface="Cambria Math"/>
                              <a:ea typeface="Cambria Math"/>
                              <a:cs typeface="Cambria Math"/>
                            </a:rPr>
                            <m:t>𝑏</m:t>
                          </m:r>
                          <m:r>
                            <a:rPr xmlns:a="http://schemas.openxmlformats.org/drawingml/2006/main" lang="en-US" sz="1600" i="1">
                              <a:latin typeface="Cambria Math"/>
                              <a:ea typeface="Cambria Math"/>
                              <a:cs typeface="Cambria Math"/>
                            </a:rPr>
                            <m:t>=+1,</m:t>
                          </m:r>
                          <m:r>
                            <a:rPr xmlns:a="http://schemas.openxmlformats.org/drawingml/2006/main" lang="en-US" sz="1600" i="1">
                              <a:latin typeface="Cambria Math"/>
                              <a:ea typeface="Cambria Math"/>
                              <a:cs typeface="Cambria Math"/>
                            </a:rPr>
                            <m:t>𝑖𝑓</m:t>
                          </m:r>
                          <m:sSub>
                            <m:e>
                              <m:r>
                                <a:rPr xmlns:a="http://schemas.openxmlformats.org/drawingml/2006/main" lang="en-US" sz="1600" i="1">
                                  <a:latin typeface="Cambria Math"/>
                                  <a:ea typeface="Cambria Math"/>
                                  <a:cs typeface="Cambria Math"/>
                                </a:rPr>
                                <m:t>𝑦</m:t>
                              </m:r>
                            </m:e>
                            <m:sub>
                              <m:r>
                                <a:rPr xmlns:a="http://schemas.openxmlformats.org/drawingml/2006/main" lang="en-US" sz="1600" i="1">
                                  <a:latin typeface="Cambria Math"/>
                                  <a:ea typeface="Cambria Math"/>
                                  <a:cs typeface="Cambria Math"/>
                                </a:rPr>
                                <m:t>𝑖</m:t>
                              </m:r>
                            </m:sub>
                          </m:sSub>
                          <m:r>
                            <a:rPr xmlns:a="http://schemas.openxmlformats.org/drawingml/2006/main" lang="en-US" sz="1600" i="1">
                              <a:latin typeface="Cambria Math"/>
                              <a:ea typeface="Cambria Math"/>
                              <a:cs typeface="Cambria Math"/>
                            </a:rPr>
                            <m:t>=+1</m:t>
                          </m:r>
                        </m:e>
                        <m:e>
                          <m:sSub>
                            <m:e>
                              <m:r>
                                <a:rPr xmlns:a="http://schemas.openxmlformats.org/drawingml/2006/main" lang="en-US" sz="1600" i="1">
                                  <a:latin typeface="Cambria Math"/>
                                  <a:ea typeface="Cambria Math"/>
                                  <a:cs typeface="Cambria Math"/>
                                </a:rPr>
                                <m:t>𝐻</m:t>
                              </m:r>
                            </m:e>
                            <m:sub>
                              <m:r>
                                <a:rPr xmlns:a="http://schemas.openxmlformats.org/drawingml/2006/main" lang="en-US" sz="1600" i="1">
                                  <a:latin typeface="Cambria Math"/>
                                  <a:ea typeface="Cambria Math"/>
                                  <a:cs typeface="Cambria Math"/>
                                </a:rPr>
                                <m:t>2</m:t>
                              </m:r>
                            </m:sub>
                          </m:sSub>
                          <m:r>
                            <a:rPr xmlns:a="http://schemas.openxmlformats.org/drawingml/2006/main" lang="en-US" sz="1600" i="1">
                              <a:latin typeface="Cambria Math"/>
                              <a:ea typeface="Cambria Math"/>
                              <a:cs typeface="Cambria Math"/>
                            </a:rPr>
                            <m:t>:(</m:t>
                          </m:r>
                          <m:r>
                            <a:rPr xmlns:a="http://schemas.openxmlformats.org/drawingml/2006/main" lang="en-US" sz="1600" b="1" i="1">
                              <a:solidFill>
                                <a:schemeClr val="tx1"/>
                              </a:solidFill>
                              <a:latin typeface="Cambria Math"/>
                              <a:ea typeface="Cambria Math"/>
                              <a:cs typeface="Cambria Math"/>
                            </a:rPr>
                            <m:t>𝒘</m:t>
                          </m:r>
                          <m:r>
                            <a:rPr xmlns:a="http://schemas.openxmlformats.org/drawingml/2006/main" lang="en-US" sz="1600" b="1" i="1">
                              <a:solidFill>
                                <a:schemeClr val="tx1"/>
                              </a:solidFill>
                              <a:latin typeface="Cambria Math"/>
                              <a:ea typeface="Cambria Math"/>
                              <a:cs typeface="Cambria Math"/>
                            </a:rPr>
                            <m:t>·</m:t>
                          </m:r>
                          <m:sSub>
                            <m:e>
                              <m:r>
                                <a:rPr xmlns:a="http://schemas.openxmlformats.org/drawingml/2006/main" lang="en-US" sz="1600" b="1" i="1">
                                  <a:solidFill>
                                    <a:schemeClr val="tx1"/>
                                  </a:solidFill>
                                  <a:latin typeface="Cambria Math"/>
                                  <a:ea typeface="Cambria Math"/>
                                  <a:cs typeface="Cambria Math"/>
                                </a:rPr>
                                <m:t>𝒙</m:t>
                              </m:r>
                            </m:e>
                            <m:sub>
                              <m:r>
                                <a:rPr xmlns:a="http://schemas.openxmlformats.org/drawingml/2006/main" lang="en-US" sz="1600" b="1" i="1">
                                  <a:solidFill>
                                    <a:schemeClr val="tx1"/>
                                  </a:solidFill>
                                  <a:latin typeface="Cambria Math"/>
                                  <a:ea typeface="Cambria Math"/>
                                  <a:cs typeface="Cambria Math"/>
                                </a:rPr>
                                <m:t>𝒊</m:t>
                              </m:r>
                            </m:sub>
                          </m:sSub>
                          <m:r>
                            <a:rPr xmlns:a="http://schemas.openxmlformats.org/drawingml/2006/main" lang="en-US" sz="1600" i="1">
                              <a:latin typeface="Cambria Math"/>
                              <a:ea typeface="Cambria Math"/>
                              <a:cs typeface="Cambria Math"/>
                            </a:rPr>
                            <m:t>)+</m:t>
                          </m:r>
                          <m:r>
                            <a:rPr xmlns:a="http://schemas.openxmlformats.org/drawingml/2006/main" lang="en-US" sz="1600" i="1">
                              <a:latin typeface="Cambria Math"/>
                              <a:ea typeface="Cambria Math"/>
                              <a:cs typeface="Cambria Math"/>
                            </a:rPr>
                            <m:t>𝑏</m:t>
                          </m:r>
                          <m:r>
                            <a:rPr xmlns:a="http://schemas.openxmlformats.org/drawingml/2006/main" lang="en-US" sz="1600" i="1">
                              <a:latin typeface="Cambria Math"/>
                              <a:ea typeface="Cambria Math"/>
                              <a:cs typeface="Cambria Math"/>
                            </a:rPr>
                            <m:t>=−1,</m:t>
                          </m:r>
                          <m:r>
                            <a:rPr xmlns:a="http://schemas.openxmlformats.org/drawingml/2006/main" lang="en-US" sz="1600" i="1">
                              <a:latin typeface="Cambria Math"/>
                              <a:ea typeface="Cambria Math"/>
                              <a:cs typeface="Cambria Math"/>
                            </a:rPr>
                            <m:t>𝑖𝑓</m:t>
                          </m:r>
                          <m:sSub>
                            <m:e>
                              <m:r>
                                <a:rPr xmlns:a="http://schemas.openxmlformats.org/drawingml/2006/main" lang="en-US" sz="1600" i="1">
                                  <a:latin typeface="Cambria Math"/>
                                  <a:ea typeface="Cambria Math"/>
                                  <a:cs typeface="Cambria Math"/>
                                </a:rPr>
                                <m:t>𝑦</m:t>
                              </m:r>
                            </m:e>
                            <m:sub>
                              <m:r>
                                <a:rPr xmlns:a="http://schemas.openxmlformats.org/drawingml/2006/main" lang="en-US" sz="1600" i="1">
                                  <a:latin typeface="Cambria Math"/>
                                  <a:ea typeface="Cambria Math"/>
                                  <a:cs typeface="Cambria Math"/>
                                </a:rPr>
                                <m:t>𝑖</m:t>
                              </m:r>
                            </m:sub>
                          </m:sSub>
                          <m:r>
                            <a:rPr xmlns:a="http://schemas.openxmlformats.org/drawingml/2006/main" lang="en-US" sz="1600" i="1">
                              <a:latin typeface="Cambria Math"/>
                              <a:ea typeface="Cambria Math"/>
                              <a:cs typeface="Cambria Math"/>
                            </a:rPr>
                            <m:t>=−1</m:t>
                          </m:r>
                        </m:e>
                      </m:eqArr>
                    </m:e>
                  </m:d>
                </m:oMath>
              </m:oMathPara>
            </a14:m>
            <a:endParaRPr sz="1600">
              <a:latin typeface="DejaVu Math TeX Gyre"/>
              <a:ea typeface="DejaVu Math TeX Gyre"/>
              <a:cs typeface="DejaVu Math TeX Gyre"/>
            </a:endParaRPr>
          </a:p>
        </p:txBody>
      </p:sp>
      <p:sp>
        <p:nvSpPr>
          <p:cNvPr id="48" name="文本框 47">
            <a:extLst xmlns:a="http://schemas.openxmlformats.org/drawingml/2006/main">
              <a:ext uri="{FF2B5EF4-FFF2-40B4-BE49-F238E27FC236}">
                <a16:creationId xmlns:a16="http://schemas.microsoft.com/office/drawing/2014/main" id="{2694F9A2-1CAF-435E-981C-6928B7C51DFC}"/>
              </a:ext>
            </a:extLst>
          </p:cNvPr>
          <p:cNvSpPr>
            <a:spLocks xmlns:a="http://schemas.openxmlformats.org/drawingml/2006/main" noGrp="1"/>
          </p:cNvSpPr>
          <p:nvPr/>
        </p:nvSpPr>
        <p:spPr>
          <a:xfrm xmlns:a="http://schemas.openxmlformats.org/drawingml/2006/main">
            <a:off x="8904605" y="4674870"/>
            <a:ext cx="2597150" cy="32131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sz="1400" i="1">
                      <a:latin typeface="Cambria Math"/>
                      <a:ea typeface="Cambria Math"/>
                      <a:cs typeface="Cambria Math"/>
                    </a:rPr>
                    <m:t>𝑀𝑎𝑟𝑔𝑖𝑛</m:t>
                  </m:r>
                  <m:r>
                    <a:rPr xmlns:a="http://schemas.openxmlformats.org/drawingml/2006/main" lang="en-US" sz="1400" i="1">
                      <a:latin typeface="Cambria Math"/>
                      <a:ea typeface="Cambria Math"/>
                      <a:cs typeface="Cambria Math"/>
                    </a:rPr>
                    <m:t>=2/||</m:t>
                  </m:r>
                  <m:r>
                    <a:rPr xmlns:a="http://schemas.openxmlformats.org/drawingml/2006/main" lang="en-US" sz="1400" b="1" i="1">
                      <a:latin typeface="Cambria Math"/>
                      <a:ea typeface="Cambria Math"/>
                      <a:cs typeface="Cambria Math"/>
                    </a:rPr>
                    <m:t>𝒘</m:t>
                  </m:r>
                  <m:r>
                    <a:rPr xmlns:a="http://schemas.openxmlformats.org/drawingml/2006/main" lang="en-US" sz="1400" i="1">
                      <a:latin typeface="Cambria Math"/>
                      <a:ea typeface="Cambria Math"/>
                      <a:cs typeface="Cambria Math"/>
                    </a:rPr>
                    <m:t>||</m:t>
                  </m:r>
                </m:oMath>
              </m:oMathPara>
            </a14:m>
            <a:endParaRPr sz="1400">
              <a:latin typeface="DejaVu Math TeX Gyre"/>
              <a:ea typeface="DejaVu Math TeX Gyre"/>
              <a:cs typeface="DejaVu Math TeX Gyre"/>
            </a:endParaRPr>
          </a:p>
        </p:txBody>
      </p:sp>
      <p:sp>
        <p:nvSpPr>
          <p:cNvPr id="49" name="文本框 48">
            <a:extLst xmlns:a="http://schemas.openxmlformats.org/drawingml/2006/main">
              <a:ext uri="{FF2B5EF4-FFF2-40B4-BE49-F238E27FC236}">
                <a16:creationId xmlns:a16="http://schemas.microsoft.com/office/drawing/2014/main" id="{2DE816F0-7613-44D8-B204-5B0A7BCAA908}"/>
              </a:ext>
            </a:extLst>
          </p:cNvPr>
          <p:cNvSpPr>
            <a:spLocks xmlns:a="http://schemas.openxmlformats.org/drawingml/2006/main" noGrp="1"/>
          </p:cNvSpPr>
          <p:nvPr/>
        </p:nvSpPr>
        <p:spPr>
          <a:xfrm xmlns:a="http://schemas.openxmlformats.org/drawingml/2006/main">
            <a:off x="271145" y="4674870"/>
            <a:ext cx="624776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sSub>
                    <m:e>
                      <m:r>
                        <a:rPr xmlns:a="http://schemas.openxmlformats.org/drawingml/2006/main" lang="en-US" sz="2000" i="1">
                          <a:latin typeface="Cambria Math"/>
                          <a:ea typeface="Cambria Math"/>
                          <a:cs typeface="Cambria Math"/>
                        </a:rPr>
                        <m:t>𝐻</m:t>
                      </m:r>
                    </m:e>
                    <m:sub>
                      <m:r>
                        <a:rPr xmlns:a="http://schemas.openxmlformats.org/drawingml/2006/main" lang="en-US" sz="2000" i="1">
                          <a:latin typeface="Cambria Math"/>
                          <a:ea typeface="Cambria Math"/>
                          <a:cs typeface="Cambria Math"/>
                        </a:rPr>
                        <m:t>1</m:t>
                      </m:r>
                    </m:sub>
                  </m:sSub>
                </m:oMath>
              </m:oMathPara>
            </a14:m>
            <a:r>
              <a:rPr sz="2000" b="1">
                <a:latin typeface="DejaVu Math TeX Gyre"/>
                <a:ea typeface="DejaVu Math TeX Gyre"/>
                <a:cs typeface="DejaVu Math TeX Gyre"/>
              </a:rPr>
              <a:t>和</a:t>
            </a:r>
            <a14:m xmlns:a14="http://schemas.microsoft.com/office/drawing/2010/main">
              <m:oMathPara xmlns:m="http://schemas.openxmlformats.org/officeDocument/2006/math">
                <m:oMath>
                  <m:sSub>
                    <m:e>
                      <m:r>
                        <a:rPr xmlns:a="http://schemas.openxmlformats.org/drawingml/2006/main" lang="en-US" sz="2000" i="1">
                          <a:latin typeface="Cambria Math"/>
                          <a:ea typeface="Cambria Math"/>
                          <a:cs typeface="Cambria Math"/>
                        </a:rPr>
                        <m:t>𝐻</m:t>
                      </m:r>
                    </m:e>
                    <m:sub>
                      <m:r>
                        <a:rPr xmlns:a="http://schemas.openxmlformats.org/drawingml/2006/main" lang="en-US" sz="2000" i="1">
                          <a:latin typeface="Cambria Math"/>
                          <a:ea typeface="Cambria Math"/>
                          <a:cs typeface="Cambria Math"/>
                        </a:rPr>
                        <m:t>2</m:t>
                      </m:r>
                    </m:sub>
                  </m:sSub>
                </m:oMath>
              </m:oMathPara>
            </a14:m>
            <a:r>
              <a:rPr sz="2000" b="1">
                <a:latin typeface="DejaVu Math TeX Gyre"/>
                <a:ea typeface="DejaVu Math TeX Gyre"/>
                <a:cs typeface="DejaVu Math TeX Gyre"/>
              </a:rPr>
              <a:t>之间距离为分类间隔</a:t>
            </a:r>
            <a:r>
              <a:rPr sz="2000">
                <a:latin typeface="DejaVu Math TeX Gyre"/>
                <a:ea typeface="DejaVu Math TeX Gyre"/>
                <a:cs typeface="DejaVu Math TeX Gyre"/>
              </a:rPr>
              <a:t>，</a:t>
            </a:r>
            <a:r>
              <a:rPr sz="2000" b="1">
                <a:latin typeface="DejaVu Math TeX Gyre"/>
                <a:ea typeface="DejaVu Math TeX Gyre"/>
                <a:cs typeface="DejaVu Math TeX Gyre"/>
              </a:rPr>
              <a:t>则有</a:t>
            </a:r>
            <a14:m xmlns:a14="http://schemas.microsoft.com/office/drawing/2010/main">
              <m:oMathPara xmlns:m="http://schemas.openxmlformats.org/officeDocument/2006/math">
                <m:oMath>
                  <m:r>
                    <a:rPr xmlns:a="http://schemas.openxmlformats.org/drawingml/2006/main" lang="en-US" sz="1400" i="1">
                      <a:latin typeface="Cambria Math"/>
                      <a:ea typeface="Cambria Math"/>
                      <a:cs typeface="Cambria Math"/>
                    </a:rPr>
                    <m:t>𝑀𝑎𝑟𝑔𝑖𝑛</m:t>
                  </m:r>
                  <m:r>
                    <a:rPr xmlns:a="http://schemas.openxmlformats.org/drawingml/2006/main" lang="en-US" sz="1400" i="1">
                      <a:latin typeface="Cambria Math"/>
                      <a:ea typeface="Cambria Math"/>
                      <a:cs typeface="Cambria Math"/>
                    </a:rPr>
                    <m:t>=2/</m:t>
                  </m:r>
                  <m:r>
                    <a:rPr xmlns:a="http://schemas.openxmlformats.org/drawingml/2006/main" lang="en-US" sz="1400" i="1">
                      <a:latin typeface="Cambria Math"/>
                      <a:ea typeface="Cambria Math"/>
                      <a:cs typeface="Cambria Math"/>
                    </a:rPr>
                    <m:t>𝑤</m:t>
                  </m:r>
                </m:oMath>
              </m:oMathPara>
            </a14:m>
            <a:r>
              <a:rPr sz="2000">
                <a:latin typeface="DejaVu Math TeX Gyre"/>
                <a:ea typeface="DejaVu Math TeX Gyre"/>
                <a:cs typeface="DejaVu Math TeX Gyre"/>
              </a:rPr>
              <a:t>，</a:t>
            </a:r>
            <a:r>
              <a:rPr sz="2000" b="1">
                <a:latin typeface="DejaVu Math TeX Gyre"/>
                <a:ea typeface="DejaVu Math TeX Gyre"/>
                <a:cs typeface="DejaVu Math TeX Gyre"/>
              </a:rPr>
              <a:t>其中</a:t>
            </a:r>
            <a14:m xmlns:a14="http://schemas.microsoft.com/office/drawing/2010/main">
              <m:oMathPara xmlns:m="http://schemas.openxmlformats.org/officeDocument/2006/math">
                <m:oMath>
                  <m:r>
                    <a:rPr xmlns:a="http://schemas.openxmlformats.org/drawingml/2006/main" lang="en-US" sz="2000" i="1">
                      <a:latin typeface="Cambria Math"/>
                      <a:ea typeface="Cambria Math"/>
                      <a:cs typeface="Cambria Math"/>
                    </a:rPr>
                    <m:t>𝑤</m:t>
                  </m:r>
                </m:oMath>
              </m:oMathPara>
            </a14:m>
            <a:r>
              <a:rPr sz="2000" b="1">
                <a:latin typeface="DejaVu Math TeX Gyre"/>
                <a:ea typeface="DejaVu Math TeX Gyre"/>
                <a:cs typeface="DejaVu Math TeX Gyre"/>
              </a:rPr>
              <a:t>为向量</a:t>
            </a:r>
            <a14:m xmlns:a14="http://schemas.microsoft.com/office/drawing/2010/main">
              <m:oMathPara xmlns:m="http://schemas.openxmlformats.org/officeDocument/2006/math">
                <m:oMath>
                  <m:r>
                    <a:rPr xmlns:a="http://schemas.openxmlformats.org/drawingml/2006/main" lang="en-US" sz="2000" b="1" i="1">
                      <a:latin typeface="Cambria Math"/>
                      <a:ea typeface="Cambria Math"/>
                      <a:cs typeface="Cambria Math"/>
                    </a:rPr>
                    <m:t>𝒘</m:t>
                  </m:r>
                </m:oMath>
              </m:oMathPara>
            </a14:m>
            <a:r>
              <a:rPr sz="2000" b="1">
                <a:latin typeface="DejaVu Math TeX Gyre"/>
                <a:ea typeface="DejaVu Math TeX Gyre"/>
                <a:cs typeface="DejaVu Math TeX Gyre"/>
              </a:rPr>
              <a:t>的范数</a:t>
            </a:r>
            <a:r>
              <a:rPr sz="2000">
                <a:latin typeface="DejaVu Math TeX Gyre"/>
                <a:ea typeface="DejaVu Math TeX Gyre"/>
                <a:cs typeface="DejaVu Math TeX Gyre"/>
              </a:rPr>
              <a:t>。</a:t>
            </a:r>
            <a14:m xmlns:a14="http://schemas.microsoft.com/office/drawing/2010/main">
              <m:oMathPara xmlns:m="http://schemas.openxmlformats.org/officeDocument/2006/math">
                <m:oMath>
                  <m:r>
                    <a:rPr xmlns:a="http://schemas.openxmlformats.org/drawingml/2006/main" lang="en-US" sz="1400" i="1">
                      <a:latin typeface="Cambria Math"/>
                      <a:ea typeface="Cambria Math"/>
                      <a:cs typeface="Cambria Math"/>
                    </a:rPr>
                    <m:t>𝑀𝑎𝑟𝑔𝑖𝑛</m:t>
                  </m:r>
                </m:oMath>
              </m:oMathPara>
            </a14:m>
            <a:r>
              <a:rPr sz="2000" b="1">
                <a:latin typeface="DejaVu Math TeX Gyre"/>
                <a:ea typeface="DejaVu Math TeX Gyre"/>
                <a:cs typeface="DejaVu Math TeX Gyre"/>
              </a:rPr>
              <a:t>最大时</a:t>
            </a:r>
            <a:r>
              <a:rPr sz="2000">
                <a:latin typeface="DejaVu Math TeX Gyre"/>
                <a:ea typeface="DejaVu Math TeX Gyre"/>
                <a:cs typeface="DejaVu Math TeX Gyre"/>
              </a:rPr>
              <a:t>，</a:t>
            </a:r>
            <a14:m xmlns:a14="http://schemas.microsoft.com/office/drawing/2010/main">
              <m:oMathPara xmlns:m="http://schemas.openxmlformats.org/officeDocument/2006/math">
                <m:oMath>
                  <m:r>
                    <a:rPr xmlns:a="http://schemas.openxmlformats.org/drawingml/2006/main" lang="en-US" sz="2000" i="1">
                      <a:latin typeface="Cambria Math"/>
                      <a:ea typeface="Cambria Math"/>
                      <a:cs typeface="Cambria Math"/>
                    </a:rPr>
                    <m:t>𝐻</m:t>
                  </m:r>
                </m:oMath>
              </m:oMathPara>
            </a14:m>
            <a:r>
              <a:rPr sz="2000" b="1">
                <a:latin typeface="DejaVu Math TeX Gyre"/>
                <a:ea typeface="DejaVu Math TeX Gyre"/>
                <a:cs typeface="DejaVu Math TeX Gyre"/>
              </a:rPr>
              <a:t>为最优分类超平面</a:t>
            </a:r>
            <a:r>
              <a:rPr sz="2000">
                <a:latin typeface="DejaVu Math TeX Gyre"/>
                <a:ea typeface="DejaVu Math TeX Gyre"/>
                <a:cs typeface="DejaVu Math TeX Gyre"/>
              </a:rPr>
              <a:t>。</a:t>
            </a:r>
            <a:endParaRPr sz="2000" i="1">
              <a:latin typeface="DejaVu Math TeX Gyre"/>
              <a:ea typeface="DejaVu Math TeX Gyre"/>
              <a:cs typeface="DejaVu Math TeX Gyre"/>
            </a:endParaRPr>
          </a:p>
          <a:p xmlns:a="http://schemas.openxmlformats.org/drawingml/2006/main">
            <a:pPr algn="l">
              <a:lnSpc>
                <a:spcPct val="120000"/>
              </a:lnSpc>
              <a:buNone/>
            </a:pPr>
            <a:endParaRPr sz="2000">
              <a:latin typeface="DejaVu Math TeX Gyre"/>
              <a:ea typeface="DejaVu Math TeX Gyre"/>
              <a:cs typeface="DejaVu Math TeX Gyre"/>
            </a:endParaRPr>
          </a:p>
        </p:txBody>
      </p:sp>
    </p:spTree>
    <p:extLst>
      <p:ext uri="{BB962C8B-B14F-4D97-AF65-F5344CB8AC3E}">
        <p14:creationId xmlns:p14="http://schemas.microsoft.com/office/powerpoint/2010/main" val="150669891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83986119-0BC1-4914-8C60-408CC19B6037}"/>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8C95D259-C459-4B84-91AC-1EFEE6B604CC}"/>
              </a:ext>
            </a:extLst>
          </p:cNvPr>
          <p:cNvSpPr>
            <a:spLocks xmlns:a="http://schemas.openxmlformats.org/drawingml/2006/main" noGrp="1"/>
          </p:cNvSpPr>
          <p:nvPr/>
        </p:nvSpPr>
        <p:spPr>
          <a:xfrm xmlns:a="http://schemas.openxmlformats.org/drawingml/2006/main" rot="0" flipH="0" flipV="0">
            <a:off x="271145" y="1021713"/>
            <a:ext cx="458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5.2.3 </a:t>
            </a:r>
            <a:r>
              <a:rPr sz="2400" b="1">
                <a:solidFill>
                  <a:schemeClr val="accent1"/>
                </a:solidFill>
                <a:latin typeface="+mj-lt"/>
                <a:ea typeface="+mj-lt"/>
                <a:cs typeface="+mj-lt"/>
              </a:rPr>
              <a:t>支持向量机避障策略</a:t>
            </a:r>
            <a:endParaRPr sz="2400" b="1">
              <a:solidFill>
                <a:schemeClr val="accent1"/>
              </a:solidFill>
              <a:latin typeface="+mj-lt"/>
              <a:ea typeface="+mj-lt"/>
              <a:cs typeface="+mj-lt"/>
            </a:endParaRPr>
          </a:p>
        </p:txBody>
      </p:sp>
      <p:cxnSp>
        <p:nvCxnSpPr>
          <p:cNvPr id="131" name="直接箭头连接符 66"/>
          <p:cNvCxnSpPr/>
          <p:nvPr/>
        </p:nvCxnSpPr>
        <p:spPr>
          <a:xfrm xmlns:a="http://schemas.openxmlformats.org/drawingml/2006/main" flipV="1">
            <a:off x="6948170" y="5103495"/>
            <a:ext cx="3295650" cy="19050"/>
          </a:xfrm>
          <a:prstGeom xmlns:a="http://schemas.openxmlformats.org/drawingml/2006/main" prst="straightConnector1">
            <a:avLst/>
          </a:prstGeom>
          <a:ln xmlns:a="http://schemas.openxmlformats.org/drawingml/2006/main" w="31750" cap="rnd">
            <a:solidFill>
              <a:schemeClr val="accent1"/>
            </a:solidFill>
            <a:round/>
            <a:tailEnd type="arrow" w="med" len="med"/>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cxnSp>
        <p:nvCxnSpPr>
          <p:cNvPr id="132" name="直接箭头连接符 67"/>
          <p:cNvCxnSpPr/>
          <p:nvPr/>
        </p:nvCxnSpPr>
        <p:spPr>
          <a:xfrm xmlns:a="http://schemas.openxmlformats.org/drawingml/2006/main" flipV="1">
            <a:off x="6948170" y="1884045"/>
            <a:ext cx="0" cy="3200400"/>
          </a:xfrm>
          <a:prstGeom xmlns:a="http://schemas.openxmlformats.org/drawingml/2006/main" prst="straightConnector1">
            <a:avLst/>
          </a:prstGeom>
          <a:ln xmlns:a="http://schemas.openxmlformats.org/drawingml/2006/main" w="31750" cap="rnd">
            <a:solidFill>
              <a:schemeClr val="accent1"/>
            </a:solidFill>
            <a:round/>
            <a:tailEnd type="arrow" w="med" len="med"/>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sp>
        <p:nvSpPr>
          <p:cNvPr id="69" name="椭圆 68">
            <a:extLst xmlns:a="http://schemas.openxmlformats.org/drawingml/2006/main">
              <a:ext uri="{FF2B5EF4-FFF2-40B4-BE49-F238E27FC236}">
                <a16:creationId xmlns:a16="http://schemas.microsoft.com/office/drawing/2014/main" id="{EEC58BCF-8959-4135-9821-135364AEE991}"/>
              </a:ext>
            </a:extLst>
          </p:cNvPr>
          <p:cNvSpPr>
            <a:spLocks xmlns:a="http://schemas.openxmlformats.org/drawingml/2006/main" noGrp="1"/>
          </p:cNvSpPr>
          <p:nvPr/>
        </p:nvSpPr>
        <p:spPr>
          <a:xfrm xmlns:a="http://schemas.openxmlformats.org/drawingml/2006/main">
            <a:off x="7272020" y="3636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椭圆 69">
            <a:extLst xmlns:a="http://schemas.openxmlformats.org/drawingml/2006/main">
              <a:ext uri="{FF2B5EF4-FFF2-40B4-BE49-F238E27FC236}">
                <a16:creationId xmlns:a16="http://schemas.microsoft.com/office/drawing/2014/main" id="{0AC03A5B-DFF6-48D3-ADA0-2113220E7494}"/>
              </a:ext>
            </a:extLst>
          </p:cNvPr>
          <p:cNvSpPr>
            <a:spLocks xmlns:a="http://schemas.openxmlformats.org/drawingml/2006/main" noGrp="1"/>
          </p:cNvSpPr>
          <p:nvPr/>
        </p:nvSpPr>
        <p:spPr>
          <a:xfrm xmlns:a="http://schemas.openxmlformats.org/drawingml/2006/main">
            <a:off x="7653020" y="3763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椭圆 70">
            <a:extLst xmlns:a="http://schemas.openxmlformats.org/drawingml/2006/main">
              <a:ext uri="{FF2B5EF4-FFF2-40B4-BE49-F238E27FC236}">
                <a16:creationId xmlns:a16="http://schemas.microsoft.com/office/drawing/2014/main" id="{0C42A46D-1689-4975-9E99-2977D76385EB}"/>
              </a:ext>
            </a:extLst>
          </p:cNvPr>
          <p:cNvSpPr>
            <a:spLocks xmlns:a="http://schemas.openxmlformats.org/drawingml/2006/main" noGrp="1"/>
          </p:cNvSpPr>
          <p:nvPr/>
        </p:nvSpPr>
        <p:spPr>
          <a:xfrm xmlns:a="http://schemas.openxmlformats.org/drawingml/2006/main">
            <a:off x="7297420" y="4166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椭圆 71">
            <a:extLst xmlns:a="http://schemas.openxmlformats.org/drawingml/2006/main">
              <a:ext uri="{FF2B5EF4-FFF2-40B4-BE49-F238E27FC236}">
                <a16:creationId xmlns:a16="http://schemas.microsoft.com/office/drawing/2014/main" id="{86FEA29B-A637-42BC-B282-60E1A0051863}"/>
              </a:ext>
            </a:extLst>
          </p:cNvPr>
          <p:cNvSpPr>
            <a:spLocks xmlns:a="http://schemas.openxmlformats.org/drawingml/2006/main" noGrp="1"/>
          </p:cNvSpPr>
          <p:nvPr/>
        </p:nvSpPr>
        <p:spPr>
          <a:xfrm xmlns:a="http://schemas.openxmlformats.org/drawingml/2006/main">
            <a:off x="7602220" y="4166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3" name="椭圆 72">
            <a:extLst xmlns:a="http://schemas.openxmlformats.org/drawingml/2006/main">
              <a:ext uri="{FF2B5EF4-FFF2-40B4-BE49-F238E27FC236}">
                <a16:creationId xmlns:a16="http://schemas.microsoft.com/office/drawing/2014/main" id="{9899E136-D3B3-4212-B495-F588F4790218}"/>
              </a:ext>
            </a:extLst>
          </p:cNvPr>
          <p:cNvSpPr>
            <a:spLocks xmlns:a="http://schemas.openxmlformats.org/drawingml/2006/main" noGrp="1"/>
          </p:cNvSpPr>
          <p:nvPr/>
        </p:nvSpPr>
        <p:spPr>
          <a:xfrm xmlns:a="http://schemas.openxmlformats.org/drawingml/2006/main">
            <a:off x="7780020" y="41446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椭圆 73">
            <a:extLst xmlns:a="http://schemas.openxmlformats.org/drawingml/2006/main">
              <a:ext uri="{FF2B5EF4-FFF2-40B4-BE49-F238E27FC236}">
                <a16:creationId xmlns:a16="http://schemas.microsoft.com/office/drawing/2014/main" id="{57754E83-A4A4-4AC8-988C-C65206FC7686}"/>
              </a:ext>
            </a:extLst>
          </p:cNvPr>
          <p:cNvSpPr>
            <a:spLocks xmlns:a="http://schemas.openxmlformats.org/drawingml/2006/main" noGrp="1"/>
          </p:cNvSpPr>
          <p:nvPr/>
        </p:nvSpPr>
        <p:spPr>
          <a:xfrm xmlns:a="http://schemas.openxmlformats.org/drawingml/2006/main">
            <a:off x="7602220" y="4570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椭圆 74">
            <a:extLst xmlns:a="http://schemas.openxmlformats.org/drawingml/2006/main">
              <a:ext uri="{FF2B5EF4-FFF2-40B4-BE49-F238E27FC236}">
                <a16:creationId xmlns:a16="http://schemas.microsoft.com/office/drawing/2014/main" id="{8B49050F-1CAD-4941-8192-23391DAD5A0C}"/>
              </a:ext>
            </a:extLst>
          </p:cNvPr>
          <p:cNvSpPr>
            <a:spLocks xmlns:a="http://schemas.openxmlformats.org/drawingml/2006/main" noGrp="1"/>
          </p:cNvSpPr>
          <p:nvPr/>
        </p:nvSpPr>
        <p:spPr>
          <a:xfrm xmlns:a="http://schemas.openxmlformats.org/drawingml/2006/main">
            <a:off x="8234045" y="4570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椭圆 75">
            <a:extLst xmlns:a="http://schemas.openxmlformats.org/drawingml/2006/main">
              <a:ext uri="{FF2B5EF4-FFF2-40B4-BE49-F238E27FC236}">
                <a16:creationId xmlns:a16="http://schemas.microsoft.com/office/drawing/2014/main" id="{8AB71942-080A-41C8-A845-1D31EA444AAC}"/>
              </a:ext>
            </a:extLst>
          </p:cNvPr>
          <p:cNvSpPr>
            <a:spLocks xmlns:a="http://schemas.openxmlformats.org/drawingml/2006/main" noGrp="1"/>
          </p:cNvSpPr>
          <p:nvPr/>
        </p:nvSpPr>
        <p:spPr>
          <a:xfrm xmlns:a="http://schemas.openxmlformats.org/drawingml/2006/main">
            <a:off x="8024495" y="446532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椭圆 76">
            <a:extLst xmlns:a="http://schemas.openxmlformats.org/drawingml/2006/main">
              <a:ext uri="{FF2B5EF4-FFF2-40B4-BE49-F238E27FC236}">
                <a16:creationId xmlns:a16="http://schemas.microsoft.com/office/drawing/2014/main" id="{AD9A50A5-9E75-474B-8D83-A374D72121A1}"/>
              </a:ext>
            </a:extLst>
          </p:cNvPr>
          <p:cNvSpPr>
            <a:spLocks xmlns:a="http://schemas.openxmlformats.org/drawingml/2006/main" noGrp="1"/>
          </p:cNvSpPr>
          <p:nvPr/>
        </p:nvSpPr>
        <p:spPr>
          <a:xfrm xmlns:a="http://schemas.openxmlformats.org/drawingml/2006/main">
            <a:off x="8024495" y="40398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椭圆 77">
            <a:extLst xmlns:a="http://schemas.openxmlformats.org/drawingml/2006/main">
              <a:ext uri="{FF2B5EF4-FFF2-40B4-BE49-F238E27FC236}">
                <a16:creationId xmlns:a16="http://schemas.microsoft.com/office/drawing/2014/main" id="{DEF13A0D-AD64-4E12-BFB5-CBDF918DFB8C}"/>
              </a:ext>
            </a:extLst>
          </p:cNvPr>
          <p:cNvSpPr>
            <a:spLocks xmlns:a="http://schemas.openxmlformats.org/drawingml/2006/main" noGrp="1"/>
          </p:cNvSpPr>
          <p:nvPr/>
        </p:nvSpPr>
        <p:spPr>
          <a:xfrm xmlns:a="http://schemas.openxmlformats.org/drawingml/2006/main">
            <a:off x="7675245" y="33889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椭圆 78">
            <a:extLst xmlns:a="http://schemas.openxmlformats.org/drawingml/2006/main">
              <a:ext uri="{FF2B5EF4-FFF2-40B4-BE49-F238E27FC236}">
                <a16:creationId xmlns:a16="http://schemas.microsoft.com/office/drawing/2014/main" id="{65D6103A-1212-4927-B11B-9006187E3D91}"/>
              </a:ext>
            </a:extLst>
          </p:cNvPr>
          <p:cNvSpPr>
            <a:spLocks xmlns:a="http://schemas.openxmlformats.org/drawingml/2006/main" noGrp="1"/>
          </p:cNvSpPr>
          <p:nvPr/>
        </p:nvSpPr>
        <p:spPr>
          <a:xfrm xmlns:a="http://schemas.openxmlformats.org/drawingml/2006/main">
            <a:off x="8465820" y="40620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椭圆 79">
            <a:extLst xmlns:a="http://schemas.openxmlformats.org/drawingml/2006/main">
              <a:ext uri="{FF2B5EF4-FFF2-40B4-BE49-F238E27FC236}">
                <a16:creationId xmlns:a16="http://schemas.microsoft.com/office/drawing/2014/main" id="{F6848AFF-9BB5-47DE-8C76-3D8358F400B0}"/>
              </a:ext>
            </a:extLst>
          </p:cNvPr>
          <p:cNvSpPr>
            <a:spLocks xmlns:a="http://schemas.openxmlformats.org/drawingml/2006/main" noGrp="1"/>
          </p:cNvSpPr>
          <p:nvPr/>
        </p:nvSpPr>
        <p:spPr>
          <a:xfrm xmlns:a="http://schemas.openxmlformats.org/drawingml/2006/main">
            <a:off x="8543925" y="273050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椭圆 80">
            <a:extLst xmlns:a="http://schemas.openxmlformats.org/drawingml/2006/main">
              <a:ext uri="{FF2B5EF4-FFF2-40B4-BE49-F238E27FC236}">
                <a16:creationId xmlns:a16="http://schemas.microsoft.com/office/drawing/2014/main" id="{6AE20DD9-9042-41D1-A5C2-4D9D1DD5DEE4}"/>
              </a:ext>
            </a:extLst>
          </p:cNvPr>
          <p:cNvSpPr>
            <a:spLocks xmlns:a="http://schemas.openxmlformats.org/drawingml/2006/main" noGrp="1"/>
          </p:cNvSpPr>
          <p:nvPr/>
        </p:nvSpPr>
        <p:spPr>
          <a:xfrm xmlns:a="http://schemas.openxmlformats.org/drawingml/2006/main">
            <a:off x="8986520" y="22269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椭圆 81">
            <a:extLst xmlns:a="http://schemas.openxmlformats.org/drawingml/2006/main">
              <a:ext uri="{FF2B5EF4-FFF2-40B4-BE49-F238E27FC236}">
                <a16:creationId xmlns:a16="http://schemas.microsoft.com/office/drawing/2014/main" id="{E08F4325-8DF1-4002-86A6-6827A1B88CDF}"/>
              </a:ext>
            </a:extLst>
          </p:cNvPr>
          <p:cNvSpPr>
            <a:spLocks xmlns:a="http://schemas.openxmlformats.org/drawingml/2006/main" noGrp="1"/>
          </p:cNvSpPr>
          <p:nvPr/>
        </p:nvSpPr>
        <p:spPr>
          <a:xfrm xmlns:a="http://schemas.openxmlformats.org/drawingml/2006/main">
            <a:off x="9494520" y="24364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椭圆 82">
            <a:extLst xmlns:a="http://schemas.openxmlformats.org/drawingml/2006/main">
              <a:ext uri="{FF2B5EF4-FFF2-40B4-BE49-F238E27FC236}">
                <a16:creationId xmlns:a16="http://schemas.microsoft.com/office/drawing/2014/main" id="{F227DB2A-7E30-478E-8B12-C9E832ABC037}"/>
              </a:ext>
            </a:extLst>
          </p:cNvPr>
          <p:cNvSpPr>
            <a:spLocks xmlns:a="http://schemas.openxmlformats.org/drawingml/2006/main" noGrp="1"/>
          </p:cNvSpPr>
          <p:nvPr/>
        </p:nvSpPr>
        <p:spPr>
          <a:xfrm xmlns:a="http://schemas.openxmlformats.org/drawingml/2006/main">
            <a:off x="9196070" y="301752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椭圆 83">
            <a:extLst xmlns:a="http://schemas.openxmlformats.org/drawingml/2006/main">
              <a:ext uri="{FF2B5EF4-FFF2-40B4-BE49-F238E27FC236}">
                <a16:creationId xmlns:a16="http://schemas.microsoft.com/office/drawing/2014/main" id="{85D819B9-B569-4CB4-A174-449E7EA97659}"/>
              </a:ext>
            </a:extLst>
          </p:cNvPr>
          <p:cNvSpPr>
            <a:spLocks xmlns:a="http://schemas.openxmlformats.org/drawingml/2006/main" noGrp="1"/>
          </p:cNvSpPr>
          <p:nvPr/>
        </p:nvSpPr>
        <p:spPr>
          <a:xfrm xmlns:a="http://schemas.openxmlformats.org/drawingml/2006/main">
            <a:off x="9875520" y="29127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椭圆 84">
            <a:extLst xmlns:a="http://schemas.openxmlformats.org/drawingml/2006/main">
              <a:ext uri="{FF2B5EF4-FFF2-40B4-BE49-F238E27FC236}">
                <a16:creationId xmlns:a16="http://schemas.microsoft.com/office/drawing/2014/main" id="{5A2B9117-E130-4DB2-BF58-14F18BE39593}"/>
              </a:ext>
            </a:extLst>
          </p:cNvPr>
          <p:cNvSpPr>
            <a:spLocks xmlns:a="http://schemas.openxmlformats.org/drawingml/2006/main" noGrp="1"/>
          </p:cNvSpPr>
          <p:nvPr/>
        </p:nvSpPr>
        <p:spPr>
          <a:xfrm xmlns:a="http://schemas.openxmlformats.org/drawingml/2006/main">
            <a:off x="8986520" y="27539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6" name="椭圆 85">
            <a:extLst xmlns:a="http://schemas.openxmlformats.org/drawingml/2006/main">
              <a:ext uri="{FF2B5EF4-FFF2-40B4-BE49-F238E27FC236}">
                <a16:creationId xmlns:a16="http://schemas.microsoft.com/office/drawing/2014/main" id="{41ABEC82-F883-4971-8184-684ABFE9DC5C}"/>
              </a:ext>
            </a:extLst>
          </p:cNvPr>
          <p:cNvSpPr>
            <a:spLocks xmlns:a="http://schemas.openxmlformats.org/drawingml/2006/main" noGrp="1"/>
          </p:cNvSpPr>
          <p:nvPr/>
        </p:nvSpPr>
        <p:spPr>
          <a:xfrm xmlns:a="http://schemas.openxmlformats.org/drawingml/2006/main">
            <a:off x="10081895" y="35159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7" name="椭圆 86">
            <a:extLst xmlns:a="http://schemas.openxmlformats.org/drawingml/2006/main">
              <a:ext uri="{FF2B5EF4-FFF2-40B4-BE49-F238E27FC236}">
                <a16:creationId xmlns:a16="http://schemas.microsoft.com/office/drawing/2014/main" id="{EE4AB8CD-5D5F-47D7-AD7A-99D0CBFBBA40}"/>
              </a:ext>
            </a:extLst>
          </p:cNvPr>
          <p:cNvSpPr>
            <a:spLocks xmlns:a="http://schemas.openxmlformats.org/drawingml/2006/main" noGrp="1"/>
          </p:cNvSpPr>
          <p:nvPr/>
        </p:nvSpPr>
        <p:spPr>
          <a:xfrm xmlns:a="http://schemas.openxmlformats.org/drawingml/2006/main">
            <a:off x="9599295" y="29127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椭圆 87">
            <a:extLst xmlns:a="http://schemas.openxmlformats.org/drawingml/2006/main">
              <a:ext uri="{FF2B5EF4-FFF2-40B4-BE49-F238E27FC236}">
                <a16:creationId xmlns:a16="http://schemas.microsoft.com/office/drawing/2014/main" id="{84DA0294-10A3-4D47-8800-86287A194B30}"/>
              </a:ext>
            </a:extLst>
          </p:cNvPr>
          <p:cNvSpPr>
            <a:spLocks xmlns:a="http://schemas.openxmlformats.org/drawingml/2006/main" noGrp="1"/>
          </p:cNvSpPr>
          <p:nvPr/>
        </p:nvSpPr>
        <p:spPr>
          <a:xfrm xmlns:a="http://schemas.openxmlformats.org/drawingml/2006/main">
            <a:off x="9494520" y="328422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9" name="椭圆 88">
            <a:extLst xmlns:a="http://schemas.openxmlformats.org/drawingml/2006/main">
              <a:ext uri="{FF2B5EF4-FFF2-40B4-BE49-F238E27FC236}">
                <a16:creationId xmlns:a16="http://schemas.microsoft.com/office/drawing/2014/main" id="{C64D41E5-FADD-475D-81A5-B4C940EAB251}"/>
              </a:ext>
            </a:extLst>
          </p:cNvPr>
          <p:cNvSpPr>
            <a:spLocks xmlns:a="http://schemas.openxmlformats.org/drawingml/2006/main" noGrp="1"/>
          </p:cNvSpPr>
          <p:nvPr/>
        </p:nvSpPr>
        <p:spPr>
          <a:xfrm xmlns:a="http://schemas.openxmlformats.org/drawingml/2006/main">
            <a:off x="9238615" y="362077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椭圆 89">
            <a:extLst xmlns:a="http://schemas.openxmlformats.org/drawingml/2006/main">
              <a:ext uri="{FF2B5EF4-FFF2-40B4-BE49-F238E27FC236}">
                <a16:creationId xmlns:a16="http://schemas.microsoft.com/office/drawing/2014/main" id="{6DA4C7B5-9EBD-40B6-87E1-388A515D01CB}"/>
              </a:ext>
            </a:extLst>
          </p:cNvPr>
          <p:cNvSpPr>
            <a:spLocks xmlns:a="http://schemas.openxmlformats.org/drawingml/2006/main" noGrp="1"/>
          </p:cNvSpPr>
          <p:nvPr/>
        </p:nvSpPr>
        <p:spPr>
          <a:xfrm xmlns:a="http://schemas.openxmlformats.org/drawingml/2006/main">
            <a:off x="8753475" y="31794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椭圆 90">
            <a:extLst xmlns:a="http://schemas.openxmlformats.org/drawingml/2006/main">
              <a:ext uri="{FF2B5EF4-FFF2-40B4-BE49-F238E27FC236}">
                <a16:creationId xmlns:a16="http://schemas.microsoft.com/office/drawing/2014/main" id="{7965F5A7-C51A-4ADA-A039-3214AB86B1D8}"/>
              </a:ext>
            </a:extLst>
          </p:cNvPr>
          <p:cNvSpPr>
            <a:spLocks xmlns:a="http://schemas.openxmlformats.org/drawingml/2006/main" noGrp="1"/>
          </p:cNvSpPr>
          <p:nvPr/>
        </p:nvSpPr>
        <p:spPr>
          <a:xfrm xmlns:a="http://schemas.openxmlformats.org/drawingml/2006/main">
            <a:off x="10462895" y="177927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椭圆 91">
            <a:extLst xmlns:a="http://schemas.openxmlformats.org/drawingml/2006/main">
              <a:ext uri="{FF2B5EF4-FFF2-40B4-BE49-F238E27FC236}">
                <a16:creationId xmlns:a16="http://schemas.microsoft.com/office/drawing/2014/main" id="{FC8EA653-A15B-4CEE-9140-C94B5DCD0A18}"/>
              </a:ext>
            </a:extLst>
          </p:cNvPr>
          <p:cNvSpPr>
            <a:spLocks xmlns:a="http://schemas.openxmlformats.org/drawingml/2006/main" noGrp="1"/>
          </p:cNvSpPr>
          <p:nvPr/>
        </p:nvSpPr>
        <p:spPr>
          <a:xfrm xmlns:a="http://schemas.openxmlformats.org/drawingml/2006/main">
            <a:off x="10462895" y="21221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 name="椭圆 110">
            <a:extLst xmlns:a="http://schemas.openxmlformats.org/drawingml/2006/main">
              <a:ext uri="{FF2B5EF4-FFF2-40B4-BE49-F238E27FC236}">
                <a16:creationId xmlns:a16="http://schemas.microsoft.com/office/drawing/2014/main" id="{D36C5D1E-4C74-4DA9-9381-DF10DE61649C}"/>
              </a:ext>
            </a:extLst>
          </p:cNvPr>
          <p:cNvSpPr>
            <a:spLocks xmlns:a="http://schemas.openxmlformats.org/drawingml/2006/main" noGrp="1"/>
          </p:cNvSpPr>
          <p:nvPr/>
        </p:nvSpPr>
        <p:spPr>
          <a:xfrm xmlns:a="http://schemas.openxmlformats.org/drawingml/2006/main">
            <a:off x="7561580" y="330644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 name="椭圆 111">
            <a:extLst xmlns:a="http://schemas.openxmlformats.org/drawingml/2006/main">
              <a:ext uri="{FF2B5EF4-FFF2-40B4-BE49-F238E27FC236}">
                <a16:creationId xmlns:a16="http://schemas.microsoft.com/office/drawing/2014/main" id="{9A80609B-6E08-489F-BA2C-55A504878836}"/>
              </a:ext>
            </a:extLst>
          </p:cNvPr>
          <p:cNvSpPr>
            <a:spLocks xmlns:a="http://schemas.openxmlformats.org/drawingml/2006/main" noGrp="1"/>
          </p:cNvSpPr>
          <p:nvPr/>
        </p:nvSpPr>
        <p:spPr>
          <a:xfrm xmlns:a="http://schemas.openxmlformats.org/drawingml/2006/main">
            <a:off x="8361045" y="396684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3" name="椭圆 112">
            <a:extLst xmlns:a="http://schemas.openxmlformats.org/drawingml/2006/main">
              <a:ext uri="{FF2B5EF4-FFF2-40B4-BE49-F238E27FC236}">
                <a16:creationId xmlns:a16="http://schemas.microsoft.com/office/drawing/2014/main" id="{9539F106-38F5-48E1-9688-815417CFE5D6}"/>
              </a:ext>
            </a:extLst>
          </p:cNvPr>
          <p:cNvSpPr>
            <a:spLocks xmlns:a="http://schemas.openxmlformats.org/drawingml/2006/main" noGrp="1"/>
          </p:cNvSpPr>
          <p:nvPr/>
        </p:nvSpPr>
        <p:spPr>
          <a:xfrm xmlns:a="http://schemas.openxmlformats.org/drawingml/2006/main">
            <a:off x="8648700" y="308419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4" name="椭圆 113">
            <a:extLst xmlns:a="http://schemas.openxmlformats.org/drawingml/2006/main">
              <a:ext uri="{FF2B5EF4-FFF2-40B4-BE49-F238E27FC236}">
                <a16:creationId xmlns:a16="http://schemas.microsoft.com/office/drawing/2014/main" id="{96BBB544-A4F9-4EE9-A971-8BC7014D7539}"/>
              </a:ext>
            </a:extLst>
          </p:cNvPr>
          <p:cNvSpPr>
            <a:spLocks xmlns:a="http://schemas.openxmlformats.org/drawingml/2006/main" noGrp="1"/>
          </p:cNvSpPr>
          <p:nvPr/>
        </p:nvSpPr>
        <p:spPr>
          <a:xfrm xmlns:a="http://schemas.openxmlformats.org/drawingml/2006/main">
            <a:off x="9091295" y="351599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5" name="直接连接符 114">
            <a:extLst xmlns:a="http://schemas.openxmlformats.org/drawingml/2006/main">
              <a:ext uri="{FF2B5EF4-FFF2-40B4-BE49-F238E27FC236}">
                <a16:creationId xmlns:a16="http://schemas.microsoft.com/office/drawing/2014/main" id="{F4DC4E6B-D0B2-4D83-8E12-0A5E40859C1E}"/>
              </a:ext>
            </a:extLst>
          </p:cNvPr>
          <p:cNvSpPr>
            <a:spLocks xmlns:a="http://schemas.openxmlformats.org/drawingml/2006/main" noGrp="1"/>
          </p:cNvSpPr>
          <p:nvPr/>
        </p:nvSpPr>
        <p:spPr>
          <a:xfrm xmlns:a="http://schemas.openxmlformats.org/drawingml/2006/main">
            <a:off x="7845425" y="2378075"/>
            <a:ext cx="2273935" cy="201295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17" name="直接连接符 116">
            <a:extLst xmlns:a="http://schemas.openxmlformats.org/drawingml/2006/main">
              <a:ext uri="{FF2B5EF4-FFF2-40B4-BE49-F238E27FC236}">
                <a16:creationId xmlns:a16="http://schemas.microsoft.com/office/drawing/2014/main" id="{17650F33-AD30-406B-A03C-B739EFF7120F}"/>
              </a:ext>
            </a:extLst>
          </p:cNvPr>
          <p:cNvSpPr>
            <a:spLocks xmlns:a="http://schemas.openxmlformats.org/drawingml/2006/main" noGrp="1"/>
          </p:cNvSpPr>
          <p:nvPr/>
        </p:nvSpPr>
        <p:spPr>
          <a:xfrm xmlns:a="http://schemas.openxmlformats.org/drawingml/2006/main">
            <a:off x="7254875" y="3006725"/>
            <a:ext cx="2172335" cy="190500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18" name="直接连接符 117">
            <a:extLst xmlns:a="http://schemas.openxmlformats.org/drawingml/2006/main">
              <a:ext uri="{FF2B5EF4-FFF2-40B4-BE49-F238E27FC236}">
                <a16:creationId xmlns:a16="http://schemas.microsoft.com/office/drawing/2014/main" id="{D43CBD8D-DE29-4D68-A530-F6912F61ADDA}"/>
              </a:ext>
            </a:extLst>
          </p:cNvPr>
          <p:cNvSpPr>
            <a:spLocks xmlns:a="http://schemas.openxmlformats.org/drawingml/2006/main" noGrp="1"/>
          </p:cNvSpPr>
          <p:nvPr/>
        </p:nvSpPr>
        <p:spPr>
          <a:xfrm xmlns:a="http://schemas.openxmlformats.org/drawingml/2006/main">
            <a:off x="7561580" y="2713990"/>
            <a:ext cx="2273935" cy="2012950"/>
          </a:xfrm>
          <a:prstGeom xmlns:a="http://schemas.openxmlformats.org/drawingml/2006/main" prst="line">
            <a:avLst/>
          </a:prstGeom>
        </p:spPr>
        <p:style>
          <a:lnRef xmlns:a="http://schemas.openxmlformats.org/drawingml/2006/main" idx="3">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cxnSp>
        <p:nvCxnSpPr>
          <p:cNvPr id="164" name="直接箭头连接符 118"/>
          <p:cNvCxnSpPr/>
          <p:nvPr/>
        </p:nvCxnSpPr>
        <p:spPr>
          <a:xfrm xmlns:a="http://schemas.openxmlformats.org/drawingml/2006/main" flipV="1">
            <a:off x="9566910" y="4156075"/>
            <a:ext cx="279400" cy="317500"/>
          </a:xfrm>
          <a:prstGeom xmlns:a="http://schemas.openxmlformats.org/drawingml/2006/main" prst="straightConnector1">
            <a:avLst/>
          </a:prstGeom>
          <a:ln xmlns:a="http://schemas.openxmlformats.org/drawingml/2006/main">
            <a:solidFill>
              <a:srgbClr val="C00000"/>
            </a:solidFill>
            <a:tailEnd type="arrow"/>
          </a:ln>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cxnSp>
        <p:nvCxnSpPr>
          <p:cNvPr id="165" name="直接箭头连接符 120"/>
          <p:cNvCxnSpPr/>
          <p:nvPr/>
        </p:nvCxnSpPr>
        <p:spPr>
          <a:xfrm xmlns:a="http://schemas.openxmlformats.org/drawingml/2006/main" flipH="1">
            <a:off x="9274810" y="4473575"/>
            <a:ext cx="292100" cy="342900"/>
          </a:xfrm>
          <a:prstGeom xmlns:a="http://schemas.openxmlformats.org/drawingml/2006/main" prst="straightConnector1">
            <a:avLst/>
          </a:prstGeom>
          <a:ln xmlns:a="http://schemas.openxmlformats.org/drawingml/2006/main">
            <a:solidFill>
              <a:srgbClr val="C00000"/>
            </a:solidFill>
            <a:tailEnd type="arrow"/>
          </a:ln>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sp>
        <p:nvSpPr>
          <p:cNvPr id="122" name="文本框 121">
            <a:extLst xmlns:a="http://schemas.openxmlformats.org/drawingml/2006/main">
              <a:ext uri="{FF2B5EF4-FFF2-40B4-BE49-F238E27FC236}">
                <a16:creationId xmlns:a16="http://schemas.microsoft.com/office/drawing/2014/main" id="{11E664AF-BBC0-4E44-B8EA-5EE51756CD97}"/>
              </a:ext>
            </a:extLst>
          </p:cNvPr>
          <p:cNvSpPr>
            <a:spLocks xmlns:a="http://schemas.openxmlformats.org/drawingml/2006/main" noGrp="1"/>
          </p:cNvSpPr>
          <p:nvPr/>
        </p:nvSpPr>
        <p:spPr>
          <a:xfrm xmlns:a="http://schemas.openxmlformats.org/drawingml/2006/main">
            <a:off x="7477760" y="1960880"/>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𝐻</m:t>
                      </m:r>
                    </m:e>
                    <m:sub>
                      <m:r>
                        <a:rPr xmlns:a="http://schemas.openxmlformats.org/drawingml/2006/main" lang="en-US" i="1">
                          <a:latin typeface="Cambria Math"/>
                          <a:ea typeface="Cambria Math"/>
                          <a:cs typeface="Cambria Math"/>
                        </a:rPr>
                        <m:t>1</m:t>
                      </m:r>
                    </m:sub>
                  </m:sSub>
                </m:oMath>
              </m:oMathPara>
            </a14:m>
            <a:endParaRPr/>
          </a:p>
        </p:txBody>
      </p:sp>
      <p:sp>
        <p:nvSpPr>
          <p:cNvPr id="123" name="文本框 122">
            <a:extLst xmlns:a="http://schemas.openxmlformats.org/drawingml/2006/main">
              <a:ext uri="{FF2B5EF4-FFF2-40B4-BE49-F238E27FC236}">
                <a16:creationId xmlns:a16="http://schemas.microsoft.com/office/drawing/2014/main" id="{B17F0036-23EA-437E-AD47-E1FC4A9B873E}"/>
              </a:ext>
            </a:extLst>
          </p:cNvPr>
          <p:cNvSpPr>
            <a:spLocks xmlns:a="http://schemas.openxmlformats.org/drawingml/2006/main" noGrp="1"/>
          </p:cNvSpPr>
          <p:nvPr/>
        </p:nvSpPr>
        <p:spPr>
          <a:xfrm xmlns:a="http://schemas.openxmlformats.org/drawingml/2006/main">
            <a:off x="7178675" y="2329815"/>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r>
                    <a:rPr xmlns:a="http://schemas.openxmlformats.org/drawingml/2006/main" lang="en-US" i="1">
                      <a:latin typeface="Cambria Math"/>
                      <a:ea typeface="Cambria Math"/>
                      <a:cs typeface="Cambria Math"/>
                    </a:rPr>
                    <m:t>𝐻</m:t>
                  </m:r>
                </m:oMath>
              </m:oMathPara>
            </a14:m>
            <a:endParaRPr/>
          </a:p>
        </p:txBody>
      </p:sp>
      <p:sp>
        <p:nvSpPr>
          <p:cNvPr id="124" name="文本框 123">
            <a:extLst xmlns:a="http://schemas.openxmlformats.org/drawingml/2006/main">
              <a:ext uri="{FF2B5EF4-FFF2-40B4-BE49-F238E27FC236}">
                <a16:creationId xmlns:a16="http://schemas.microsoft.com/office/drawing/2014/main" id="{94F6F8B1-DD74-4D5A-A4CF-A1D28FD67F4D}"/>
              </a:ext>
            </a:extLst>
          </p:cNvPr>
          <p:cNvSpPr>
            <a:spLocks xmlns:a="http://schemas.openxmlformats.org/drawingml/2006/main" noGrp="1"/>
          </p:cNvSpPr>
          <p:nvPr/>
        </p:nvSpPr>
        <p:spPr>
          <a:xfrm xmlns:a="http://schemas.openxmlformats.org/drawingml/2006/main">
            <a:off x="6836410" y="2621280"/>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𝐻</m:t>
                      </m:r>
                    </m:e>
                    <m:sub>
                      <m:r>
                        <a:rPr xmlns:a="http://schemas.openxmlformats.org/drawingml/2006/main" lang="en-US" i="1">
                          <a:latin typeface="Cambria Math"/>
                          <a:ea typeface="Cambria Math"/>
                          <a:cs typeface="Cambria Math"/>
                        </a:rPr>
                        <m:t>2</m:t>
                      </m:r>
                    </m:sub>
                  </m:sSub>
                </m:oMath>
              </m:oMathPara>
            </a14:m>
            <a:endParaRPr/>
          </a:p>
        </p:txBody>
      </p:sp>
      <p:sp>
        <p:nvSpPr>
          <p:cNvPr id="127" name="直接连接符 126">
            <a:extLst xmlns:a="http://schemas.openxmlformats.org/drawingml/2006/main">
              <a:ext uri="{FF2B5EF4-FFF2-40B4-BE49-F238E27FC236}">
                <a16:creationId xmlns:a16="http://schemas.microsoft.com/office/drawing/2014/main" id="{DAA9FCC4-1AE4-470E-9085-128A8AC29017}"/>
              </a:ext>
            </a:extLst>
          </p:cNvPr>
          <p:cNvSpPr>
            <a:spLocks xmlns:a="http://schemas.openxmlformats.org/drawingml/2006/main" noGrp="1"/>
          </p:cNvSpPr>
          <p:nvPr/>
        </p:nvSpPr>
        <p:spPr>
          <a:xfrm xmlns:a="http://schemas.openxmlformats.org/drawingml/2006/main">
            <a:off x="7972425" y="2505075"/>
            <a:ext cx="2273935" cy="201295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28" name="直接连接符 127">
            <a:extLst xmlns:a="http://schemas.openxmlformats.org/drawingml/2006/main">
              <a:ext uri="{FF2B5EF4-FFF2-40B4-BE49-F238E27FC236}">
                <a16:creationId xmlns:a16="http://schemas.microsoft.com/office/drawing/2014/main" id="{3FFC81C1-6982-45D0-AC41-A3651213F884}"/>
              </a:ext>
            </a:extLst>
          </p:cNvPr>
          <p:cNvSpPr>
            <a:spLocks xmlns:a="http://schemas.openxmlformats.org/drawingml/2006/main" noGrp="1"/>
          </p:cNvSpPr>
          <p:nvPr/>
        </p:nvSpPr>
        <p:spPr>
          <a:xfrm xmlns:a="http://schemas.openxmlformats.org/drawingml/2006/main">
            <a:off x="7381875" y="3133725"/>
            <a:ext cx="2172335" cy="190500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94" name="文本框 93">
            <a:extLst xmlns:a="http://schemas.openxmlformats.org/drawingml/2006/main">
              <a:ext uri="{FF2B5EF4-FFF2-40B4-BE49-F238E27FC236}">
                <a16:creationId xmlns:a16="http://schemas.microsoft.com/office/drawing/2014/main" id="{0AF2CA46-4FB8-48D7-B10F-2A9192EA5985}"/>
              </a:ext>
            </a:extLst>
          </p:cNvPr>
          <p:cNvSpPr>
            <a:spLocks xmlns:a="http://schemas.openxmlformats.org/drawingml/2006/main" noGrp="1"/>
          </p:cNvSpPr>
          <p:nvPr/>
        </p:nvSpPr>
        <p:spPr>
          <a:xfrm xmlns:a="http://schemas.openxmlformats.org/drawingml/2006/main">
            <a:off x="10567670" y="1646555"/>
            <a:ext cx="4064000" cy="370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oMath>
              </m:oMathPara>
            </a14:m>
            <a:endParaRPr/>
          </a:p>
        </p:txBody>
      </p:sp>
      <p:sp>
        <p:nvSpPr>
          <p:cNvPr id="95" name="文本框 94">
            <a:extLst xmlns:a="http://schemas.openxmlformats.org/drawingml/2006/main">
              <a:ext uri="{FF2B5EF4-FFF2-40B4-BE49-F238E27FC236}">
                <a16:creationId xmlns:a16="http://schemas.microsoft.com/office/drawing/2014/main" id="{0F69DFE3-02A7-4470-8954-51CB3246A18F}"/>
              </a:ext>
            </a:extLst>
          </p:cNvPr>
          <p:cNvSpPr>
            <a:spLocks xmlns:a="http://schemas.openxmlformats.org/drawingml/2006/main" noGrp="1"/>
          </p:cNvSpPr>
          <p:nvPr/>
        </p:nvSpPr>
        <p:spPr>
          <a:xfrm xmlns:a="http://schemas.openxmlformats.org/drawingml/2006/main">
            <a:off x="10567670" y="1960880"/>
            <a:ext cx="4064000" cy="370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oMath>
              </m:oMathPara>
            </a14:m>
            <a:endParaRPr/>
          </a:p>
        </p:txBody>
      </p:sp>
      <p:sp>
        <p:nvSpPr>
          <p:cNvPr id="30" name="文本框 29">
            <a:extLst xmlns:a="http://schemas.openxmlformats.org/drawingml/2006/main">
              <a:ext uri="{FF2B5EF4-FFF2-40B4-BE49-F238E27FC236}">
                <a16:creationId xmlns:a16="http://schemas.microsoft.com/office/drawing/2014/main" id="{16D01549-76CB-4AC0-877C-827A5C264BB5}"/>
              </a:ext>
            </a:extLst>
          </p:cNvPr>
          <p:cNvSpPr>
            <a:spLocks xmlns:a="http://schemas.openxmlformats.org/drawingml/2006/main" noGrp="1"/>
          </p:cNvSpPr>
          <p:nvPr/>
        </p:nvSpPr>
        <p:spPr>
          <a:xfrm xmlns:a="http://schemas.openxmlformats.org/drawingml/2006/main">
            <a:off x="8904605" y="4674870"/>
            <a:ext cx="2597150" cy="32131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sz="1400" i="1">
                      <a:latin typeface="Cambria Math"/>
                      <a:ea typeface="Cambria Math"/>
                      <a:cs typeface="Cambria Math"/>
                    </a:rPr>
                    <m:t>𝑀𝑎𝑟𝑔𝑖𝑛</m:t>
                  </m:r>
                  <m:r>
                    <a:rPr xmlns:a="http://schemas.openxmlformats.org/drawingml/2006/main" lang="en-US" sz="1400" i="1">
                      <a:latin typeface="Cambria Math"/>
                      <a:ea typeface="Cambria Math"/>
                      <a:cs typeface="Cambria Math"/>
                    </a:rPr>
                    <m:t>=2/||</m:t>
                  </m:r>
                  <m:r>
                    <a:rPr xmlns:a="http://schemas.openxmlformats.org/drawingml/2006/main" lang="en-US" sz="1400" b="1" i="1">
                      <a:latin typeface="Cambria Math"/>
                      <a:ea typeface="Cambria Math"/>
                      <a:cs typeface="Cambria Math"/>
                    </a:rPr>
                    <m:t>𝒘</m:t>
                  </m:r>
                  <m:r>
                    <a:rPr xmlns:a="http://schemas.openxmlformats.org/drawingml/2006/main" lang="en-US" sz="1400" i="1">
                      <a:latin typeface="Cambria Math"/>
                      <a:ea typeface="Cambria Math"/>
                      <a:cs typeface="Cambria Math"/>
                    </a:rPr>
                    <m:t>||</m:t>
                  </m:r>
                </m:oMath>
              </m:oMathPara>
            </a14:m>
            <a:endParaRPr sz="1400">
              <a:latin typeface="DejaVu Math TeX Gyre"/>
              <a:ea typeface="DejaVu Math TeX Gyre"/>
              <a:cs typeface="DejaVu Math TeX Gyre"/>
            </a:endParaRPr>
          </a:p>
        </p:txBody>
      </p:sp>
      <p:sp>
        <p:nvSpPr>
          <p:cNvPr id="31" name="文本框 30">
            <a:extLst xmlns:a="http://schemas.openxmlformats.org/drawingml/2006/main">
              <a:ext uri="{FF2B5EF4-FFF2-40B4-BE49-F238E27FC236}">
                <a16:creationId xmlns:a16="http://schemas.microsoft.com/office/drawing/2014/main" id="{BCE596A2-B4BE-4E7E-AE8A-2D0BDE0559F1}"/>
              </a:ext>
            </a:extLst>
          </p:cNvPr>
          <p:cNvSpPr>
            <a:spLocks xmlns:a="http://schemas.openxmlformats.org/drawingml/2006/main" noGrp="1"/>
          </p:cNvSpPr>
          <p:nvPr/>
        </p:nvSpPr>
        <p:spPr>
          <a:xfrm xmlns:a="http://schemas.openxmlformats.org/drawingml/2006/main">
            <a:off x="76200" y="1694180"/>
            <a:ext cx="6247765" cy="6838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d>
                    <m:dPr>
                      <m:begChr m:val="{"/>
                      <m:grow m:val="off"/>
                    </m:dPr>
                    <m:e>
                      <m:eqArr>
                        <m:e>
                          <m:sSub>
                            <m:e>
                              <m:r>
                                <a:rPr xmlns:a="http://schemas.openxmlformats.org/drawingml/2006/main" lang="en-US" sz="1600" i="1">
                                  <a:latin typeface="Cambria Math"/>
                                  <a:ea typeface="Cambria Math"/>
                                  <a:cs typeface="Cambria Math"/>
                                </a:rPr>
                                <m:t>𝐻</m:t>
                              </m:r>
                            </m:e>
                            <m:sub>
                              <m:r>
                                <a:rPr xmlns:a="http://schemas.openxmlformats.org/drawingml/2006/main" lang="en-US" sz="1600" i="1">
                                  <a:latin typeface="Cambria Math"/>
                                  <a:ea typeface="Cambria Math"/>
                                  <a:cs typeface="Cambria Math"/>
                                </a:rPr>
                                <m:t>1</m:t>
                              </m:r>
                            </m:sub>
                          </m:sSub>
                          <m:r>
                            <a:rPr xmlns:a="http://schemas.openxmlformats.org/drawingml/2006/main" lang="en-US" sz="1600" i="1">
                              <a:latin typeface="Cambria Math"/>
                              <a:ea typeface="Cambria Math"/>
                              <a:cs typeface="Cambria Math"/>
                            </a:rPr>
                            <m:t>:(</m:t>
                          </m:r>
                          <m:r>
                            <a:rPr xmlns:a="http://schemas.openxmlformats.org/drawingml/2006/main" lang="en-US" sz="1600" b="1" i="1">
                              <a:latin typeface="Cambria Math"/>
                              <a:ea typeface="Cambria Math"/>
                              <a:cs typeface="Cambria Math"/>
                            </a:rPr>
                            <m:t>𝒘</m:t>
                          </m:r>
                          <m:r>
                            <a:rPr xmlns:a="http://schemas.openxmlformats.org/drawingml/2006/main" lang="en-US" sz="1600" b="1" i="1">
                              <a:latin typeface="Cambria Math"/>
                              <a:ea typeface="Cambria Math"/>
                              <a:cs typeface="Cambria Math"/>
                            </a:rPr>
                            <m:t>·</m:t>
                          </m:r>
                          <m:sSub>
                            <m:e>
                              <m:r>
                                <a:rPr xmlns:a="http://schemas.openxmlformats.org/drawingml/2006/main" lang="en-US" sz="1600" b="1" i="1">
                                  <a:latin typeface="Cambria Math"/>
                                  <a:ea typeface="Cambria Math"/>
                                  <a:cs typeface="Cambria Math"/>
                                </a:rPr>
                                <m:t>𝒙</m:t>
                              </m:r>
                            </m:e>
                            <m:sub>
                              <m:r>
                                <a:rPr xmlns:a="http://schemas.openxmlformats.org/drawingml/2006/main" lang="en-US" sz="1600" b="1" i="1">
                                  <a:latin typeface="Cambria Math"/>
                                  <a:ea typeface="Cambria Math"/>
                                  <a:cs typeface="Cambria Math"/>
                                </a:rPr>
                                <m:t>𝒊</m:t>
                              </m:r>
                            </m:sub>
                          </m:sSub>
                          <m:r>
                            <a:rPr xmlns:a="http://schemas.openxmlformats.org/drawingml/2006/main" lang="en-US" sz="1600" i="1">
                              <a:latin typeface="Cambria Math"/>
                              <a:ea typeface="Cambria Math"/>
                              <a:cs typeface="Cambria Math"/>
                            </a:rPr>
                            <m:t>)+</m:t>
                          </m:r>
                          <m:r>
                            <a:rPr xmlns:a="http://schemas.openxmlformats.org/drawingml/2006/main" lang="en-US" sz="1600" i="1">
                              <a:latin typeface="Cambria Math"/>
                              <a:ea typeface="Cambria Math"/>
                              <a:cs typeface="Cambria Math"/>
                            </a:rPr>
                            <m:t>𝑏</m:t>
                          </m:r>
                          <m:r>
                            <a:rPr xmlns:a="http://schemas.openxmlformats.org/drawingml/2006/main" lang="en-US" sz="1600" i="1">
                              <a:latin typeface="Cambria Math"/>
                              <a:ea typeface="Cambria Math"/>
                              <a:cs typeface="Cambria Math"/>
                            </a:rPr>
                            <m:t>=+1,</m:t>
                          </m:r>
                          <m:r>
                            <a:rPr xmlns:a="http://schemas.openxmlformats.org/drawingml/2006/main" lang="en-US" sz="1600" i="1">
                              <a:latin typeface="Cambria Math"/>
                              <a:ea typeface="Cambria Math"/>
                              <a:cs typeface="Cambria Math"/>
                            </a:rPr>
                            <m:t>𝑖𝑓</m:t>
                          </m:r>
                          <m:sSub>
                            <m:e>
                              <m:r>
                                <a:rPr xmlns:a="http://schemas.openxmlformats.org/drawingml/2006/main" lang="en-US" sz="1600" i="1">
                                  <a:latin typeface="Cambria Math"/>
                                  <a:ea typeface="Cambria Math"/>
                                  <a:cs typeface="Cambria Math"/>
                                </a:rPr>
                                <m:t>𝑦</m:t>
                              </m:r>
                            </m:e>
                            <m:sub>
                              <m:r>
                                <a:rPr xmlns:a="http://schemas.openxmlformats.org/drawingml/2006/main" lang="en-US" sz="1600" i="1">
                                  <a:latin typeface="Cambria Math"/>
                                  <a:ea typeface="Cambria Math"/>
                                  <a:cs typeface="Cambria Math"/>
                                </a:rPr>
                                <m:t>𝑖</m:t>
                              </m:r>
                            </m:sub>
                          </m:sSub>
                          <m:r>
                            <a:rPr xmlns:a="http://schemas.openxmlformats.org/drawingml/2006/main" lang="en-US" sz="1600" i="1">
                              <a:latin typeface="Cambria Math"/>
                              <a:ea typeface="Cambria Math"/>
                              <a:cs typeface="Cambria Math"/>
                            </a:rPr>
                            <m:t>=+1</m:t>
                          </m:r>
                        </m:e>
                        <m:e>
                          <m:sSub>
                            <m:e>
                              <m:r>
                                <a:rPr xmlns:a="http://schemas.openxmlformats.org/drawingml/2006/main" lang="en-US" sz="1600" i="1">
                                  <a:latin typeface="Cambria Math"/>
                                  <a:ea typeface="Cambria Math"/>
                                  <a:cs typeface="Cambria Math"/>
                                </a:rPr>
                                <m:t>𝐻</m:t>
                              </m:r>
                            </m:e>
                            <m:sub>
                              <m:r>
                                <a:rPr xmlns:a="http://schemas.openxmlformats.org/drawingml/2006/main" lang="en-US" sz="1600" i="1">
                                  <a:latin typeface="Cambria Math"/>
                                  <a:ea typeface="Cambria Math"/>
                                  <a:cs typeface="Cambria Math"/>
                                </a:rPr>
                                <m:t>2</m:t>
                              </m:r>
                            </m:sub>
                          </m:sSub>
                          <m:r>
                            <a:rPr xmlns:a="http://schemas.openxmlformats.org/drawingml/2006/main" lang="en-US" sz="1600" i="1">
                              <a:latin typeface="Cambria Math"/>
                              <a:ea typeface="Cambria Math"/>
                              <a:cs typeface="Cambria Math"/>
                            </a:rPr>
                            <m:t>:(</m:t>
                          </m:r>
                          <m:r>
                            <a:rPr xmlns:a="http://schemas.openxmlformats.org/drawingml/2006/main" lang="en-US" sz="1600" b="1" i="1">
                              <a:solidFill>
                                <a:schemeClr val="tx1"/>
                              </a:solidFill>
                              <a:latin typeface="Cambria Math"/>
                              <a:ea typeface="Cambria Math"/>
                              <a:cs typeface="Cambria Math"/>
                            </a:rPr>
                            <m:t>𝒘</m:t>
                          </m:r>
                          <m:r>
                            <a:rPr xmlns:a="http://schemas.openxmlformats.org/drawingml/2006/main" lang="en-US" sz="1600" b="1" i="1">
                              <a:solidFill>
                                <a:schemeClr val="tx1"/>
                              </a:solidFill>
                              <a:latin typeface="Cambria Math"/>
                              <a:ea typeface="Cambria Math"/>
                              <a:cs typeface="Cambria Math"/>
                            </a:rPr>
                            <m:t>·</m:t>
                          </m:r>
                          <m:sSub>
                            <m:e>
                              <m:r>
                                <a:rPr xmlns:a="http://schemas.openxmlformats.org/drawingml/2006/main" lang="en-US" sz="1600" b="1" i="1">
                                  <a:solidFill>
                                    <a:schemeClr val="tx1"/>
                                  </a:solidFill>
                                  <a:latin typeface="Cambria Math"/>
                                  <a:ea typeface="Cambria Math"/>
                                  <a:cs typeface="Cambria Math"/>
                                </a:rPr>
                                <m:t>𝒙</m:t>
                              </m:r>
                            </m:e>
                            <m:sub>
                              <m:r>
                                <a:rPr xmlns:a="http://schemas.openxmlformats.org/drawingml/2006/main" lang="en-US" sz="1600" b="1" i="1">
                                  <a:solidFill>
                                    <a:schemeClr val="tx1"/>
                                  </a:solidFill>
                                  <a:latin typeface="Cambria Math"/>
                                  <a:ea typeface="Cambria Math"/>
                                  <a:cs typeface="Cambria Math"/>
                                </a:rPr>
                                <m:t>𝒊</m:t>
                              </m:r>
                            </m:sub>
                          </m:sSub>
                          <m:r>
                            <a:rPr xmlns:a="http://schemas.openxmlformats.org/drawingml/2006/main" lang="en-US" sz="1600" i="1">
                              <a:latin typeface="Cambria Math"/>
                              <a:ea typeface="Cambria Math"/>
                              <a:cs typeface="Cambria Math"/>
                            </a:rPr>
                            <m:t>)+</m:t>
                          </m:r>
                          <m:r>
                            <a:rPr xmlns:a="http://schemas.openxmlformats.org/drawingml/2006/main" lang="en-US" sz="1600" i="1">
                              <a:latin typeface="Cambria Math"/>
                              <a:ea typeface="Cambria Math"/>
                              <a:cs typeface="Cambria Math"/>
                            </a:rPr>
                            <m:t>𝑏</m:t>
                          </m:r>
                          <m:r>
                            <a:rPr xmlns:a="http://schemas.openxmlformats.org/drawingml/2006/main" lang="en-US" sz="1600" i="1">
                              <a:latin typeface="Cambria Math"/>
                              <a:ea typeface="Cambria Math"/>
                              <a:cs typeface="Cambria Math"/>
                            </a:rPr>
                            <m:t>=−1,</m:t>
                          </m:r>
                          <m:r>
                            <a:rPr xmlns:a="http://schemas.openxmlformats.org/drawingml/2006/main" lang="en-US" sz="1600" i="1">
                              <a:latin typeface="Cambria Math"/>
                              <a:ea typeface="Cambria Math"/>
                              <a:cs typeface="Cambria Math"/>
                            </a:rPr>
                            <m:t>𝑖𝑓</m:t>
                          </m:r>
                          <m:sSub>
                            <m:e>
                              <m:r>
                                <a:rPr xmlns:a="http://schemas.openxmlformats.org/drawingml/2006/main" lang="en-US" sz="1600" i="1">
                                  <a:latin typeface="Cambria Math"/>
                                  <a:ea typeface="Cambria Math"/>
                                  <a:cs typeface="Cambria Math"/>
                                </a:rPr>
                                <m:t>𝑦</m:t>
                              </m:r>
                            </m:e>
                            <m:sub>
                              <m:r>
                                <a:rPr xmlns:a="http://schemas.openxmlformats.org/drawingml/2006/main" lang="en-US" sz="1600" i="1">
                                  <a:latin typeface="Cambria Math"/>
                                  <a:ea typeface="Cambria Math"/>
                                  <a:cs typeface="Cambria Math"/>
                                </a:rPr>
                                <m:t>𝑖</m:t>
                              </m:r>
                            </m:sub>
                          </m:sSub>
                          <m:r>
                            <a:rPr xmlns:a="http://schemas.openxmlformats.org/drawingml/2006/main" lang="en-US" sz="1600" i="1">
                              <a:latin typeface="Cambria Math"/>
                              <a:ea typeface="Cambria Math"/>
                              <a:cs typeface="Cambria Math"/>
                            </a:rPr>
                            <m:t>=−1</m:t>
                          </m:r>
                        </m:e>
                      </m:eqArr>
                    </m:e>
                  </m:d>
                </m:oMath>
              </m:oMathPara>
            </a14:m>
            <a:endParaRPr sz="1600">
              <a:latin typeface="DejaVu Math TeX Gyre"/>
              <a:ea typeface="DejaVu Math TeX Gyre"/>
              <a:cs typeface="DejaVu Math TeX Gyre"/>
            </a:endParaRPr>
          </a:p>
        </p:txBody>
      </p:sp>
      <p:sp>
        <p:nvSpPr>
          <p:cNvPr id="61" name="文本框 60">
            <a:extLst xmlns:a="http://schemas.openxmlformats.org/drawingml/2006/main">
              <a:ext uri="{FF2B5EF4-FFF2-40B4-BE49-F238E27FC236}">
                <a16:creationId xmlns:a16="http://schemas.microsoft.com/office/drawing/2014/main" id="{58537259-2C40-409F-9C4A-500C42A62EB9}"/>
              </a:ext>
            </a:extLst>
          </p:cNvPr>
          <p:cNvSpPr>
            <a:spLocks xmlns:a="http://schemas.openxmlformats.org/drawingml/2006/main" noGrp="1"/>
          </p:cNvSpPr>
          <p:nvPr/>
        </p:nvSpPr>
        <p:spPr>
          <a:xfrm xmlns:a="http://schemas.openxmlformats.org/drawingml/2006/main">
            <a:off x="448945" y="2436495"/>
            <a:ext cx="6247765" cy="7556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𝑋</m:t>
                  </m:r>
                </m:oMath>
              </m:oMathPara>
            </a14:m>
            <a:r>
              <a:rPr>
                <a:latin typeface="DejaVu Math TeX Gyre"/>
                <a:ea typeface="DejaVu Math TeX Gyre"/>
                <a:cs typeface="DejaVu Math TeX Gyre"/>
              </a:rPr>
              <a:t>，有</a:t>
            </a:r>
            <a:r>
              <a:rPr>
                <a:latin typeface="DejaVu Math TeX Gyre"/>
                <a:ea typeface="DejaVu Math TeX Gyre"/>
                <a:cs typeface="DejaVu Math TeX Gyre"/>
              </a:rPr>
              <a:t>:</a:t>
            </a:r>
          </a:p>
          <a:p xmlns:a="http://schemas.openxmlformats.org/drawingml/2006/main">
            <a:pPr algn="l">
              <a:lnSpc>
                <a:spcPct val="120000"/>
              </a:lnSpc>
              <a:buNone/>
            </a:pPr>
            <a:endParaRPr>
              <a:latin typeface="DejaVu Math TeX Gyre"/>
              <a:ea typeface="DejaVu Math TeX Gyre"/>
              <a:cs typeface="DejaVu Math TeX Gyre"/>
            </a:endParaRPr>
          </a:p>
        </p:txBody>
      </p:sp>
      <p:sp>
        <p:nvSpPr>
          <p:cNvPr id="62" name="文本框 61">
            <a:extLst xmlns:a="http://schemas.openxmlformats.org/drawingml/2006/main">
              <a:ext uri="{FF2B5EF4-FFF2-40B4-BE49-F238E27FC236}">
                <a16:creationId xmlns:a16="http://schemas.microsoft.com/office/drawing/2014/main" id="{B181D754-99F9-44FE-8E80-CAF12EB10478}"/>
              </a:ext>
            </a:extLst>
          </p:cNvPr>
          <p:cNvSpPr>
            <a:spLocks xmlns:a="http://schemas.openxmlformats.org/drawingml/2006/main" noGrp="1"/>
          </p:cNvSpPr>
          <p:nvPr/>
        </p:nvSpPr>
        <p:spPr>
          <a:xfrm xmlns:a="http://schemas.openxmlformats.org/drawingml/2006/main">
            <a:off x="-97790" y="2835275"/>
            <a:ext cx="6247765" cy="7562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d>
                    <m:dPr>
                      <m:begChr m:val="{"/>
                      <m:grow m:val="off"/>
                    </m:dPr>
                    <m:e>
                      <m:eqArr>
                        <m:e>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≥+1,</m:t>
                          </m:r>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e>
                        <m:e>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≤−1,</m:t>
                          </m:r>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e>
                      </m:eqArr>
                    </m:e>
                  </m:d>
                </m:oMath>
              </m:oMathPara>
            </a14:m>
            <a:endParaRPr>
              <a:latin typeface="DejaVu Math TeX Gyre"/>
              <a:ea typeface="DejaVu Math TeX Gyre"/>
              <a:cs typeface="DejaVu Math TeX Gyre"/>
            </a:endParaRPr>
          </a:p>
        </p:txBody>
      </p:sp>
      <p:sp>
        <p:nvSpPr>
          <p:cNvPr id="63" name="文本框 62">
            <a:extLst xmlns:a="http://schemas.openxmlformats.org/drawingml/2006/main">
              <a:ext uri="{FF2B5EF4-FFF2-40B4-BE49-F238E27FC236}">
                <a16:creationId xmlns:a16="http://schemas.microsoft.com/office/drawing/2014/main" id="{B9010D1C-2906-4D0F-A53D-BE23B7A00048}"/>
              </a:ext>
            </a:extLst>
          </p:cNvPr>
          <p:cNvSpPr>
            <a:spLocks xmlns:a="http://schemas.openxmlformats.org/drawingml/2006/main" noGrp="1"/>
          </p:cNvSpPr>
          <p:nvPr/>
        </p:nvSpPr>
        <p:spPr>
          <a:xfrm xmlns:a="http://schemas.openxmlformats.org/drawingml/2006/main">
            <a:off x="514985" y="3525520"/>
            <a:ext cx="6247765" cy="7556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a:latin typeface="DejaVu Math TeX Gyre"/>
                <a:ea typeface="DejaVu Math TeX Gyre"/>
                <a:cs typeface="DejaVu Math TeX Gyre"/>
              </a:rPr>
              <a:t>即</a:t>
            </a:r>
            <a:r>
              <a:rPr>
                <a:latin typeface="DejaVu Math TeX Gyre"/>
                <a:ea typeface="DejaVu Math TeX Gyre"/>
                <a:cs typeface="DejaVu Math TeX Gyre"/>
              </a:rPr>
              <a:t>:</a:t>
            </a:r>
          </a:p>
          <a:p xmlns:a="http://schemas.openxmlformats.org/drawingml/2006/main">
            <a:pPr algn="l">
              <a:lnSpc>
                <a:spcPct val="120000"/>
              </a:lnSpc>
              <a:buNone/>
            </a:pPr>
            <a:endParaRPr>
              <a:latin typeface="DejaVu Math TeX Gyre"/>
              <a:ea typeface="DejaVu Math TeX Gyre"/>
              <a:cs typeface="DejaVu Math TeX Gyre"/>
            </a:endParaRPr>
          </a:p>
        </p:txBody>
      </p:sp>
      <p:sp>
        <p:nvSpPr>
          <p:cNvPr id="64" name="文本框 63">
            <a:extLst xmlns:a="http://schemas.openxmlformats.org/drawingml/2006/main">
              <a:ext uri="{FF2B5EF4-FFF2-40B4-BE49-F238E27FC236}">
                <a16:creationId xmlns:a16="http://schemas.microsoft.com/office/drawing/2014/main" id="{AEBD1AB2-1D08-4DB2-BDC9-DDEA0CEED1B9}"/>
              </a:ext>
            </a:extLst>
          </p:cNvPr>
          <p:cNvSpPr>
            <a:spLocks xmlns:a="http://schemas.openxmlformats.org/drawingml/2006/main" noGrp="1"/>
          </p:cNvSpPr>
          <p:nvPr/>
        </p:nvSpPr>
        <p:spPr>
          <a:xfrm xmlns:a="http://schemas.openxmlformats.org/drawingml/2006/main">
            <a:off x="271145" y="3963670"/>
            <a:ext cx="6247765" cy="4273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)−1≥0,</m:t>
                  </m:r>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=1,2,3,...,</m:t>
                  </m:r>
                  <m:r>
                    <a:rPr xmlns:a="http://schemas.openxmlformats.org/drawingml/2006/main" lang="en-US" i="1">
                      <a:latin typeface="Cambria Math"/>
                      <a:ea typeface="Cambria Math"/>
                      <a:cs typeface="Cambria Math"/>
                    </a:rPr>
                    <m:t>𝑛</m:t>
                  </m:r>
                </m:oMath>
              </m:oMathPara>
            </a14:m>
            <a:endParaRPr>
              <a:latin typeface="DejaVu Math TeX Gyre"/>
              <a:ea typeface="DejaVu Math TeX Gyre"/>
              <a:cs typeface="DejaVu Math TeX Gyre"/>
            </a:endParaRPr>
          </a:p>
        </p:txBody>
      </p:sp>
      <p:sp>
        <p:nvSpPr>
          <p:cNvPr id="65" name="文本框 64">
            <a:extLst xmlns:a="http://schemas.openxmlformats.org/drawingml/2006/main">
              <a:ext uri="{FF2B5EF4-FFF2-40B4-BE49-F238E27FC236}">
                <a16:creationId xmlns:a16="http://schemas.microsoft.com/office/drawing/2014/main" id="{015DD97C-68CC-4BB8-B479-B859C6F13185}"/>
              </a:ext>
            </a:extLst>
          </p:cNvPr>
          <p:cNvSpPr>
            <a:spLocks xmlns:a="http://schemas.openxmlformats.org/drawingml/2006/main" noGrp="1"/>
          </p:cNvSpPr>
          <p:nvPr/>
        </p:nvSpPr>
        <p:spPr>
          <a:xfrm xmlns:a="http://schemas.openxmlformats.org/drawingml/2006/main">
            <a:off x="271145" y="4473575"/>
            <a:ext cx="6247765" cy="7556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a:latin typeface="DejaVu Math TeX Gyre"/>
                <a:ea typeface="DejaVu Math TeX Gyre"/>
                <a:cs typeface="DejaVu Math TeX Gyre"/>
              </a:rPr>
              <a:t>获取最优分类超平面</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𝐻</m:t>
                  </m:r>
                </m:oMath>
              </m:oMathPara>
            </a14:m>
            <a:r>
              <a:rPr>
                <a:latin typeface="DejaVu Math TeX Gyre"/>
                <a:ea typeface="DejaVu Math TeX Gyre"/>
                <a:cs typeface="DejaVu Math TeX Gyre"/>
              </a:rPr>
              <a:t>等价于</a:t>
            </a:r>
            <a:r>
              <a:rPr>
                <a:latin typeface="DejaVu Math TeX Gyre"/>
                <a:ea typeface="DejaVu Math TeX Gyre"/>
                <a:cs typeface="DejaVu Math TeX Gyre"/>
              </a:rPr>
              <a:t>:</a:t>
            </a:r>
          </a:p>
          <a:p xmlns:a="http://schemas.openxmlformats.org/drawingml/2006/main">
            <a:pPr algn="l">
              <a:lnSpc>
                <a:spcPct val="120000"/>
              </a:lnSpc>
              <a:buNone/>
            </a:pPr>
            <a:endParaRPr>
              <a:latin typeface="DejaVu Math TeX Gyre"/>
              <a:ea typeface="DejaVu Math TeX Gyre"/>
              <a:cs typeface="DejaVu Math TeX Gyre"/>
            </a:endParaRPr>
          </a:p>
        </p:txBody>
      </p:sp>
      <p:sp>
        <p:nvSpPr>
          <p:cNvPr id="66" name="文本框 65">
            <a:extLst xmlns:a="http://schemas.openxmlformats.org/drawingml/2006/main">
              <a:ext uri="{FF2B5EF4-FFF2-40B4-BE49-F238E27FC236}">
                <a16:creationId xmlns:a16="http://schemas.microsoft.com/office/drawing/2014/main" id="{29D0558D-1584-44E8-92F7-BD8E17B954E5}"/>
              </a:ext>
            </a:extLst>
          </p:cNvPr>
          <p:cNvSpPr>
            <a:spLocks xmlns:a="http://schemas.openxmlformats.org/drawingml/2006/main" noGrp="1"/>
          </p:cNvSpPr>
          <p:nvPr/>
        </p:nvSpPr>
        <p:spPr>
          <a:xfrm xmlns:a="http://schemas.openxmlformats.org/drawingml/2006/main">
            <a:off x="448945" y="4996180"/>
            <a:ext cx="6247765" cy="1087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d>
                    <m:dPr>
                      <m:begChr m:val="{"/>
                      <m:grow m:val="off"/>
                    </m:dPr>
                    <m:e>
                      <m:eqArr>
                        <m:e>
                          <m:r>
                            <a:rPr xmlns:a="http://schemas.openxmlformats.org/drawingml/2006/main" lang="en-US" i="1">
                              <a:latin typeface="Cambria Math"/>
                              <a:ea typeface="Cambria Math"/>
                              <a:cs typeface="Cambria Math"/>
                            </a:rPr>
                            <m:t>𝑚𝑖𝑛</m:t>
                          </m:r>
                          <m:r>
                            <a:rPr xmlns:a="http://schemas.openxmlformats.org/drawingml/2006/main" lang="en-US" i="1">
                              <a:latin typeface="Cambria Math"/>
                              <a:ea typeface="Cambria Math"/>
                              <a:cs typeface="Cambria Math"/>
                            </a:rPr>
                            <m:t>(</m:t>
                          </m:r>
                          <m:f>
                            <m:num>
                              <m:r>
                                <a:rPr xmlns:a="http://schemas.openxmlformats.org/drawingml/2006/main" lang="en-US" i="1">
                                  <a:latin typeface="Cambria Math"/>
                                  <a:ea typeface="Cambria Math"/>
                                  <a:cs typeface="Cambria Math"/>
                                </a:rPr>
                                <m:t>1</m:t>
                              </m:r>
                            </m:num>
                            <m:den>
                              <m:r>
                                <a:rPr xmlns:a="http://schemas.openxmlformats.org/drawingml/2006/main" lang="en-US" i="1">
                                  <a:latin typeface="Cambria Math"/>
                                  <a:ea typeface="Cambria Math"/>
                                  <a:cs typeface="Cambria Math"/>
                                </a:rPr>
                                <m:t>2</m:t>
                              </m:r>
                            </m:den>
                          </m:f>
                          <m:sSup>
                            <m:e>
                              <m:r>
                                <a:rPr xmlns:a="http://schemas.openxmlformats.org/drawingml/2006/main" lang="en-US" b="1" i="1">
                                  <a:latin typeface="Cambria Math"/>
                                  <a:ea typeface="Cambria Math"/>
                                  <a:cs typeface="Cambria Math"/>
                                </a:rPr>
                                <m:t>𝒘</m:t>
                              </m:r>
                            </m:e>
                            <m:sup>
                              <m:r>
                                <a:rPr xmlns:a="http://schemas.openxmlformats.org/drawingml/2006/main" lang="en-US" i="1">
                                  <a:latin typeface="Cambria Math"/>
                                  <a:ea typeface="Cambria Math"/>
                                  <a:cs typeface="Cambria Math"/>
                                </a:rPr>
                                <m:t>2</m:t>
                              </m:r>
                            </m:sup>
                          </m:sSup>
                          <m:r>
                            <a:rPr xmlns:a="http://schemas.openxmlformats.org/drawingml/2006/main" lang="en-US" i="1">
                              <a:latin typeface="Cambria Math"/>
                              <a:ea typeface="Cambria Math"/>
                              <a:cs typeface="Cambria Math"/>
                            </a:rPr>
                            <m:t>)</m:t>
                          </m:r>
                        </m:e>
                        <m:e>
                          <m:r>
                            <a:rPr xmlns:a="http://schemas.openxmlformats.org/drawingml/2006/main" lang="en-US" i="1">
                              <a:latin typeface="Cambria Math"/>
                              <a:ea typeface="Cambria Math"/>
                              <a:cs typeface="Cambria Math"/>
                            </a:rPr>
                            <m:t>𝑠</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𝑡</m:t>
                          </m:r>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−1≥0,</m:t>
                          </m:r>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=1,2,3,...,</m:t>
                          </m:r>
                          <m:r>
                            <a:rPr xmlns:a="http://schemas.openxmlformats.org/drawingml/2006/main" lang="en-US" i="1">
                              <a:latin typeface="Cambria Math"/>
                              <a:ea typeface="Cambria Math"/>
                              <a:cs typeface="Cambria Math"/>
                            </a:rPr>
                            <m:t>𝑛</m:t>
                          </m:r>
                        </m:e>
                      </m:eqArr>
                    </m:e>
                  </m:d>
                </m:oMath>
              </m:oMathPara>
            </a14:m>
            <a:endParaRPr>
              <a:latin typeface="DejaVu Math TeX Gyre"/>
              <a:ea typeface="DejaVu Math TeX Gyre"/>
              <a:cs typeface="DejaVu Math TeX Gyre"/>
            </a:endParaRPr>
          </a:p>
        </p:txBody>
      </p:sp>
    </p:spTree>
    <p:extLst>
      <p:ext uri="{BB962C8B-B14F-4D97-AF65-F5344CB8AC3E}">
        <p14:creationId xmlns:p14="http://schemas.microsoft.com/office/powerpoint/2010/main" val="156522465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DF27A2C8-8262-4406-8511-D65CC7A750A0}"/>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D4DD44AF-823E-4861-BDD5-8E6ABD435031}"/>
              </a:ext>
            </a:extLst>
          </p:cNvPr>
          <p:cNvSpPr>
            <a:spLocks xmlns:a="http://schemas.openxmlformats.org/drawingml/2006/main" noGrp="1"/>
          </p:cNvSpPr>
          <p:nvPr/>
        </p:nvSpPr>
        <p:spPr>
          <a:xfrm xmlns:a="http://schemas.openxmlformats.org/drawingml/2006/main" rot="0" flipH="0" flipV="0">
            <a:off x="271145" y="1021713"/>
            <a:ext cx="41370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5.2.3 </a:t>
            </a:r>
            <a:r>
              <a:rPr sz="2400" b="1">
                <a:solidFill>
                  <a:schemeClr val="accent1"/>
                </a:solidFill>
                <a:latin typeface="+mj-lt"/>
                <a:ea typeface="+mj-lt"/>
                <a:cs typeface="+mj-lt"/>
              </a:rPr>
              <a:t>支持向量机避障策略</a:t>
            </a:r>
            <a:endParaRPr sz="2400" b="1">
              <a:solidFill>
                <a:schemeClr val="accent1"/>
              </a:solidFill>
              <a:latin typeface="+mj-lt"/>
              <a:ea typeface="+mj-lt"/>
              <a:cs typeface="+mj-lt"/>
            </a:endParaRPr>
          </a:p>
        </p:txBody>
      </p:sp>
      <p:sp>
        <p:nvSpPr>
          <p:cNvPr id="50" name="文本框 49">
            <a:extLst xmlns:a="http://schemas.openxmlformats.org/drawingml/2006/main">
              <a:ext uri="{FF2B5EF4-FFF2-40B4-BE49-F238E27FC236}">
                <a16:creationId xmlns:a16="http://schemas.microsoft.com/office/drawing/2014/main" id="{0D82592B-AD9D-4697-A4E8-0F248BF841D0}"/>
              </a:ext>
            </a:extLst>
          </p:cNvPr>
          <p:cNvSpPr>
            <a:spLocks xmlns:a="http://schemas.openxmlformats.org/drawingml/2006/main" noGrp="1"/>
          </p:cNvSpPr>
          <p:nvPr/>
        </p:nvSpPr>
        <p:spPr>
          <a:xfrm xmlns:a="http://schemas.openxmlformats.org/drawingml/2006/main">
            <a:off x="-167640" y="1643380"/>
            <a:ext cx="5852160" cy="9575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d>
                    <m:dPr>
                      <m:begChr m:val="{"/>
                      <m:grow m:val="off"/>
                    </m:dPr>
                    <m:e>
                      <m:eqArr>
                        <m:e>
                          <m:r>
                            <a:rPr xmlns:a="http://schemas.openxmlformats.org/drawingml/2006/main" lang="en-US" i="1">
                              <a:latin typeface="Cambria Math"/>
                              <a:ea typeface="Cambria Math"/>
                              <a:cs typeface="Cambria Math"/>
                            </a:rPr>
                            <m:t>𝑚𝑖𝑛</m:t>
                          </m:r>
                          <m:r>
                            <a:rPr xmlns:a="http://schemas.openxmlformats.org/drawingml/2006/main" lang="en-US" i="1">
                              <a:latin typeface="Cambria Math"/>
                              <a:ea typeface="Cambria Math"/>
                              <a:cs typeface="Cambria Math"/>
                            </a:rPr>
                            <m:t>(</m:t>
                          </m:r>
                          <m:f>
                            <m:num>
                              <m:r>
                                <a:rPr xmlns:a="http://schemas.openxmlformats.org/drawingml/2006/main" lang="en-US" i="1">
                                  <a:latin typeface="Cambria Math"/>
                                  <a:ea typeface="Cambria Math"/>
                                  <a:cs typeface="Cambria Math"/>
                                </a:rPr>
                                <m:t>1</m:t>
                              </m:r>
                            </m:num>
                            <m:den>
                              <m:r>
                                <a:rPr xmlns:a="http://schemas.openxmlformats.org/drawingml/2006/main" lang="en-US" i="1">
                                  <a:latin typeface="Cambria Math"/>
                                  <a:ea typeface="Cambria Math"/>
                                  <a:cs typeface="Cambria Math"/>
                                </a:rPr>
                                <m:t>2</m:t>
                              </m:r>
                            </m:den>
                          </m:f>
                          <m:sSup>
                            <m:e>
                              <m:r>
                                <a:rPr xmlns:a="http://schemas.openxmlformats.org/drawingml/2006/main" lang="en-US" b="1" i="1">
                                  <a:latin typeface="Cambria Math"/>
                                  <a:ea typeface="Cambria Math"/>
                                  <a:cs typeface="Cambria Math"/>
                                </a:rPr>
                                <m:t>𝒘</m:t>
                              </m:r>
                            </m:e>
                            <m:sup>
                              <m:r>
                                <a:rPr xmlns:a="http://schemas.openxmlformats.org/drawingml/2006/main" lang="en-US" i="1">
                                  <a:latin typeface="Cambria Math"/>
                                  <a:ea typeface="Cambria Math"/>
                                  <a:cs typeface="Cambria Math"/>
                                </a:rPr>
                                <m:t>2</m:t>
                              </m:r>
                            </m:sup>
                          </m:sSup>
                          <m:r>
                            <a:rPr xmlns:a="http://schemas.openxmlformats.org/drawingml/2006/main" lang="en-US" i="1">
                              <a:latin typeface="Cambria Math"/>
                              <a:ea typeface="Cambria Math"/>
                              <a:cs typeface="Cambria Math"/>
                            </a:rPr>
                            <m:t>)</m:t>
                          </m:r>
                        </m:e>
                        <m:e>
                          <m:r>
                            <a:rPr xmlns:a="http://schemas.openxmlformats.org/drawingml/2006/main" lang="en-US" i="1">
                              <a:latin typeface="Cambria Math"/>
                              <a:ea typeface="Cambria Math"/>
                              <a:cs typeface="Cambria Math"/>
                            </a:rPr>
                            <m:t>𝑠</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𝑡</m:t>
                          </m:r>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−1≥0,</m:t>
                          </m:r>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=1,2,3,...,</m:t>
                          </m:r>
                          <m:r>
                            <a:rPr xmlns:a="http://schemas.openxmlformats.org/drawingml/2006/main" lang="en-US" i="1">
                              <a:latin typeface="Cambria Math"/>
                              <a:ea typeface="Cambria Math"/>
                              <a:cs typeface="Cambria Math"/>
                            </a:rPr>
                            <m:t>𝑛</m:t>
                          </m:r>
                        </m:e>
                      </m:eqArr>
                    </m:e>
                  </m:d>
                </m:oMath>
              </m:oMathPara>
            </a14:m>
            <a:endParaRPr>
              <a:latin typeface="DejaVu Math TeX Gyre"/>
              <a:ea typeface="DejaVu Math TeX Gyre"/>
              <a:cs typeface="DejaVu Math TeX Gyre"/>
            </a:endParaRPr>
          </a:p>
        </p:txBody>
      </p:sp>
      <p:sp>
        <p:nvSpPr>
          <p:cNvPr id="51" name="文本框 50">
            <a:extLst xmlns:a="http://schemas.openxmlformats.org/drawingml/2006/main">
              <a:ext uri="{FF2B5EF4-FFF2-40B4-BE49-F238E27FC236}">
                <a16:creationId xmlns:a16="http://schemas.microsoft.com/office/drawing/2014/main" id="{1E7B0936-DD56-4CF9-8521-E20661B06470}"/>
              </a:ext>
            </a:extLst>
          </p:cNvPr>
          <p:cNvSpPr>
            <a:spLocks xmlns:a="http://schemas.openxmlformats.org/drawingml/2006/main" noGrp="1"/>
          </p:cNvSpPr>
          <p:nvPr/>
        </p:nvSpPr>
        <p:spPr>
          <a:xfrm xmlns:a="http://schemas.openxmlformats.org/drawingml/2006/main">
            <a:off x="385445" y="4070350"/>
            <a:ext cx="6247765" cy="7556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a:latin typeface="DejaVu Math TeX Gyre"/>
                <a:ea typeface="DejaVu Math TeX Gyre"/>
                <a:cs typeface="DejaVu Math TeX Gyre"/>
              </a:rPr>
              <a:t>Lagrange</a:t>
            </a:r>
            <a:r>
              <a:rPr>
                <a:latin typeface="DejaVu Math TeX Gyre"/>
                <a:ea typeface="DejaVu Math TeX Gyre"/>
                <a:cs typeface="DejaVu Math TeX Gyre"/>
              </a:rPr>
              <a:t>函数</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𝐿</m:t>
                  </m:r>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𝑎</m:t>
                  </m:r>
                  <m:r>
                    <a:rPr xmlns:a="http://schemas.openxmlformats.org/drawingml/2006/main" lang="en-US" i="1">
                      <a:latin typeface="Cambria Math"/>
                      <a:ea typeface="Cambria Math"/>
                      <a:cs typeface="Cambria Math"/>
                    </a:rPr>
                    <m:t>)</m:t>
                  </m:r>
                </m:oMath>
              </m:oMathPara>
            </a14:m>
            <a:r>
              <a:rPr>
                <a:latin typeface="DejaVu Math TeX Gyre"/>
                <a:ea typeface="DejaVu Math TeX Gyre"/>
                <a:cs typeface="DejaVu Math TeX Gyre"/>
              </a:rPr>
              <a:t>分别对</a:t>
            </a:r>
            <a14:m xmlns:a14="http://schemas.microsoft.com/office/drawing/2010/main">
              <m:oMathPara xmlns:m="http://schemas.openxmlformats.org/officeDocument/2006/math">
                <m:oMath>
                  <m:r>
                    <a:rPr xmlns:a="http://schemas.openxmlformats.org/drawingml/2006/main" lang="en-US" b="1" i="1">
                      <a:latin typeface="Cambria Math"/>
                      <a:ea typeface="Cambria Math"/>
                      <a:cs typeface="Cambria Math"/>
                    </a:rPr>
                    <m:t>𝒘</m:t>
                  </m:r>
                </m:oMath>
              </m:oMathPara>
            </a14:m>
            <a:r>
              <a:rPr>
                <a:latin typeface="DejaVu Math TeX Gyre"/>
                <a:ea typeface="DejaVu Math TeX Gyre"/>
                <a:cs typeface="DejaVu Math TeX Gyre"/>
              </a:rPr>
              <a:t>和</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𝑏</m:t>
                  </m:r>
                </m:oMath>
              </m:oMathPara>
            </a14:m>
            <a:r>
              <a:rPr>
                <a:latin typeface="DejaVu Math TeX Gyre"/>
                <a:ea typeface="DejaVu Math TeX Gyre"/>
                <a:cs typeface="DejaVu Math TeX Gyre"/>
              </a:rPr>
              <a:t>求偏微分，得</a:t>
            </a:r>
            <a:r>
              <a:rPr>
                <a:latin typeface="DejaVu Math TeX Gyre"/>
                <a:ea typeface="DejaVu Math TeX Gyre"/>
                <a:cs typeface="DejaVu Math TeX Gyre"/>
              </a:rPr>
              <a:t>:</a:t>
            </a:r>
          </a:p>
          <a:p xmlns:a="http://schemas.openxmlformats.org/drawingml/2006/main">
            <a:pPr algn="l">
              <a:lnSpc>
                <a:spcPct val="120000"/>
              </a:lnSpc>
              <a:buNone/>
            </a:pPr>
            <a:endParaRPr>
              <a:latin typeface="DejaVu Math TeX Gyre"/>
              <a:ea typeface="DejaVu Math TeX Gyre"/>
              <a:cs typeface="DejaVu Math TeX Gyre"/>
            </a:endParaRPr>
          </a:p>
        </p:txBody>
      </p:sp>
      <p:sp>
        <p:nvSpPr>
          <p:cNvPr id="52" name="文本框 51">
            <a:extLst xmlns:a="http://schemas.openxmlformats.org/drawingml/2006/main">
              <a:ext uri="{FF2B5EF4-FFF2-40B4-BE49-F238E27FC236}">
                <a16:creationId xmlns:a16="http://schemas.microsoft.com/office/drawing/2014/main" id="{03BA63AD-22A9-4AC5-94C9-360E5D6CED07}"/>
              </a:ext>
            </a:extLst>
          </p:cNvPr>
          <p:cNvSpPr>
            <a:spLocks xmlns:a="http://schemas.openxmlformats.org/drawingml/2006/main" noGrp="1"/>
          </p:cNvSpPr>
          <p:nvPr/>
        </p:nvSpPr>
        <p:spPr>
          <a:xfrm xmlns:a="http://schemas.openxmlformats.org/drawingml/2006/main">
            <a:off x="68580" y="3172460"/>
            <a:ext cx="5852160" cy="9575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𝐿</m:t>
                  </m:r>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𝑎</m:t>
                  </m:r>
                  <m:r>
                    <a:rPr xmlns:a="http://schemas.openxmlformats.org/drawingml/2006/main" lang="en-US" i="1">
                      <a:latin typeface="Cambria Math"/>
                      <a:ea typeface="Cambria Math"/>
                      <a:cs typeface="Cambria Math"/>
                    </a:rPr>
                    <m:t>)=</m:t>
                  </m:r>
                  <m:f>
                    <m:num>
                      <m:r>
                        <a:rPr xmlns:a="http://schemas.openxmlformats.org/drawingml/2006/main" lang="en-US" i="1">
                          <a:latin typeface="Cambria Math"/>
                          <a:ea typeface="Cambria Math"/>
                          <a:cs typeface="Cambria Math"/>
                        </a:rPr>
                        <m:t>1</m:t>
                      </m:r>
                    </m:num>
                    <m:den>
                      <m:r>
                        <a:rPr xmlns:a="http://schemas.openxmlformats.org/drawingml/2006/main" lang="en-US" i="1">
                          <a:latin typeface="Cambria Math"/>
                          <a:ea typeface="Cambria Math"/>
                          <a:cs typeface="Cambria Math"/>
                        </a:rPr>
                        <m:t>2</m:t>
                      </m:r>
                    </m:den>
                  </m:f>
                  <m:sSup>
                    <m:e>
                      <m:r>
                        <a:rPr xmlns:a="http://schemas.openxmlformats.org/drawingml/2006/main" lang="en-US" b="1" i="1">
                          <a:latin typeface="Cambria Math"/>
                          <a:ea typeface="Cambria Math"/>
                          <a:cs typeface="Cambria Math"/>
                        </a:rPr>
                        <m:t>𝒘</m:t>
                      </m:r>
                    </m:e>
                    <m:sup>
                      <m:r>
                        <a:rPr xmlns:a="http://schemas.openxmlformats.org/drawingml/2006/main" lang="en-US" i="1">
                          <a:latin typeface="Cambria Math"/>
                          <a:ea typeface="Cambria Math"/>
                          <a:cs typeface="Cambria Math"/>
                        </a:rPr>
                        <m:t>2</m:t>
                      </m:r>
                    </m:sup>
                  </m:sSup>
                  <m:r>
                    <a:rPr xmlns:a="http://schemas.openxmlformats.org/drawingml/2006/main" lang="en-US" i="1">
                      <a:latin typeface="Cambria Math"/>
                      <a:ea typeface="Cambria Math"/>
                      <a:cs typeface="Cambria Math"/>
                    </a:rPr>
                    <m:t>−</m:t>
                  </m:r>
                  <m:nary>
                    <m:naryPr>
                      <m:chr m:val="∑"/>
                      <m:limLoc m:val="undOvr"/>
                      <m:subHide m:val="off"/>
                      <m:supHide m:val="off"/>
                    </m:naryPr>
                    <m:sub>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m:t>
                      </m:r>
                    </m:sub>
                    <m:sup>
                      <m:r>
                        <a:rPr xmlns:a="http://schemas.openxmlformats.org/drawingml/2006/main" lang="en-US" i="1">
                          <a:latin typeface="Cambria Math"/>
                          <a:ea typeface="Cambria Math"/>
                          <a:cs typeface="Cambria Math"/>
                        </a:rPr>
                        <m:t>𝑛</m:t>
                      </m:r>
                    </m:sup>
                    <m:e>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)−1)</m:t>
                      </m:r>
                    </m:e>
                  </m:nary>
                </m:oMath>
              </m:oMathPara>
            </a14:m>
            <a:endParaRPr>
              <a:latin typeface="DejaVu Math TeX Gyre"/>
              <a:ea typeface="DejaVu Math TeX Gyre"/>
              <a:cs typeface="DejaVu Math TeX Gyre"/>
            </a:endParaRPr>
          </a:p>
        </p:txBody>
      </p:sp>
      <p:sp>
        <p:nvSpPr>
          <p:cNvPr id="53" name="文本框 52">
            <a:extLst xmlns:a="http://schemas.openxmlformats.org/drawingml/2006/main">
              <a:ext uri="{FF2B5EF4-FFF2-40B4-BE49-F238E27FC236}">
                <a16:creationId xmlns:a16="http://schemas.microsoft.com/office/drawing/2014/main" id="{E506B2F7-506B-4D7D-BCD7-C3F30BAAB266}"/>
              </a:ext>
            </a:extLst>
          </p:cNvPr>
          <p:cNvSpPr>
            <a:spLocks xmlns:a="http://schemas.openxmlformats.org/drawingml/2006/main" noGrp="1"/>
          </p:cNvSpPr>
          <p:nvPr/>
        </p:nvSpPr>
        <p:spPr>
          <a:xfrm xmlns:a="http://schemas.openxmlformats.org/drawingml/2006/main">
            <a:off x="512445" y="2889250"/>
            <a:ext cx="6247765" cy="7556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a:latin typeface="DejaVu Math TeX Gyre"/>
                <a:ea typeface="DejaVu Math TeX Gyre"/>
                <a:cs typeface="DejaVu Math TeX Gyre"/>
              </a:rPr>
              <a:t>构造</a:t>
            </a:r>
            <a:r>
              <a:rPr>
                <a:latin typeface="DejaVu Math TeX Gyre"/>
                <a:ea typeface="DejaVu Math TeX Gyre"/>
                <a:cs typeface="DejaVu Math TeX Gyre"/>
              </a:rPr>
              <a:t>Lagrange</a:t>
            </a:r>
            <a:r>
              <a:rPr>
                <a:latin typeface="DejaVu Math TeX Gyre"/>
                <a:ea typeface="DejaVu Math TeX Gyre"/>
                <a:cs typeface="DejaVu Math TeX Gyre"/>
              </a:rPr>
              <a:t>函数</a:t>
            </a:r>
            <a:r>
              <a:rPr>
                <a:latin typeface="DejaVu Math TeX Gyre"/>
                <a:ea typeface="DejaVu Math TeX Gyre"/>
                <a:cs typeface="DejaVu Math TeX Gyre"/>
              </a:rPr>
              <a:t>:</a:t>
            </a:r>
          </a:p>
          <a:p xmlns:a="http://schemas.openxmlformats.org/drawingml/2006/main">
            <a:pPr algn="l">
              <a:lnSpc>
                <a:spcPct val="120000"/>
              </a:lnSpc>
              <a:buNone/>
            </a:pPr>
            <a:endParaRPr>
              <a:latin typeface="DejaVu Math TeX Gyre"/>
              <a:ea typeface="DejaVu Math TeX Gyre"/>
              <a:cs typeface="DejaVu Math TeX Gyre"/>
            </a:endParaRPr>
          </a:p>
        </p:txBody>
      </p:sp>
      <p:sp>
        <p:nvSpPr>
          <p:cNvPr id="54" name="文本框 53">
            <a:extLst xmlns:a="http://schemas.openxmlformats.org/drawingml/2006/main">
              <a:ext uri="{FF2B5EF4-FFF2-40B4-BE49-F238E27FC236}">
                <a16:creationId xmlns:a16="http://schemas.microsoft.com/office/drawing/2014/main" id="{59A880BA-84E7-4744-B463-9C24C8885F6B}"/>
              </a:ext>
            </a:extLst>
          </p:cNvPr>
          <p:cNvSpPr>
            <a:spLocks xmlns:a="http://schemas.openxmlformats.org/drawingml/2006/main" noGrp="1"/>
          </p:cNvSpPr>
          <p:nvPr/>
        </p:nvSpPr>
        <p:spPr>
          <a:xfrm xmlns:a="http://schemas.openxmlformats.org/drawingml/2006/main">
            <a:off x="149860" y="4427220"/>
            <a:ext cx="5852160" cy="9575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endParaRPr>
              <a:latin typeface="DejaVu Math TeX Gyre"/>
              <a:ea typeface="DejaVu Math TeX Gyre"/>
              <a:cs typeface="DejaVu Math TeX Gyre"/>
            </a:endParaRPr>
          </a:p>
        </p:txBody>
      </p:sp>
      <p:sp>
        <p:nvSpPr>
          <p:cNvPr id="56" name="文本框 55">
            <a:extLst xmlns:a="http://schemas.openxmlformats.org/drawingml/2006/main">
              <a:ext uri="{FF2B5EF4-FFF2-40B4-BE49-F238E27FC236}">
                <a16:creationId xmlns:a16="http://schemas.microsoft.com/office/drawing/2014/main" id="{D155E548-EE48-4367-861A-2DC5F0850CD8}"/>
              </a:ext>
            </a:extLst>
          </p:cNvPr>
          <p:cNvSpPr>
            <a:spLocks xmlns:a="http://schemas.openxmlformats.org/drawingml/2006/main" noGrp="1"/>
          </p:cNvSpPr>
          <p:nvPr/>
        </p:nvSpPr>
        <p:spPr>
          <a:xfrm xmlns:a="http://schemas.openxmlformats.org/drawingml/2006/main">
            <a:off x="6276975" y="2177415"/>
            <a:ext cx="6247765" cy="423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a:latin typeface="DejaVu Math TeX Gyre"/>
                <a:ea typeface="DejaVu Math TeX Gyre"/>
                <a:cs typeface="DejaVu Math TeX Gyre"/>
              </a:rPr>
              <a:t>由</a:t>
            </a:r>
            <a:r>
              <a:rPr>
                <a:latin typeface="DejaVu Math TeX Gyre"/>
                <a:ea typeface="DejaVu Math TeX Gyre"/>
                <a:cs typeface="DejaVu Math TeX Gyre"/>
              </a:rPr>
              <a:t>KKT</a:t>
            </a:r>
            <a:r>
              <a:rPr>
                <a:latin typeface="DejaVu Math TeX Gyre"/>
                <a:ea typeface="DejaVu Math TeX Gyre"/>
                <a:cs typeface="DejaVu Math TeX Gyre"/>
              </a:rPr>
              <a:t>条件，最优解应当满足</a:t>
            </a:r>
            <a:r>
              <a:rPr>
                <a:latin typeface="DejaVu Math TeX Gyre"/>
                <a:ea typeface="DejaVu Math TeX Gyre"/>
                <a:cs typeface="DejaVu Math TeX Gyre"/>
              </a:rPr>
              <a:t>:</a:t>
            </a:r>
          </a:p>
        </p:txBody>
      </p:sp>
      <p:sp>
        <p:nvSpPr>
          <p:cNvPr id="57" name="文本框 56">
            <a:extLst xmlns:a="http://schemas.openxmlformats.org/drawingml/2006/main">
              <a:ext uri="{FF2B5EF4-FFF2-40B4-BE49-F238E27FC236}">
                <a16:creationId xmlns:a16="http://schemas.microsoft.com/office/drawing/2014/main" id="{4D082107-4334-4023-BEAB-CA576669ADFA}"/>
              </a:ext>
            </a:extLst>
          </p:cNvPr>
          <p:cNvSpPr>
            <a:spLocks xmlns:a="http://schemas.openxmlformats.org/drawingml/2006/main" noGrp="1"/>
          </p:cNvSpPr>
          <p:nvPr/>
        </p:nvSpPr>
        <p:spPr>
          <a:xfrm xmlns:a="http://schemas.openxmlformats.org/drawingml/2006/main">
            <a:off x="5859780" y="2748280"/>
            <a:ext cx="5737860" cy="4241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)−1)=0,</m:t>
                  </m:r>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=1,2,3,...,</m:t>
                  </m:r>
                  <m:r>
                    <a:rPr xmlns:a="http://schemas.openxmlformats.org/drawingml/2006/main" lang="en-US" i="1">
                      <a:latin typeface="Cambria Math"/>
                      <a:ea typeface="Cambria Math"/>
                      <a:cs typeface="Cambria Math"/>
                    </a:rPr>
                    <m:t>𝑛</m:t>
                  </m:r>
                </m:oMath>
              </m:oMathPara>
            </a14:m>
            <a:endParaRPr>
              <a:latin typeface="DejaVu Math TeX Gyre"/>
              <a:ea typeface="DejaVu Math TeX Gyre"/>
              <a:cs typeface="DejaVu Math TeX Gyre"/>
            </a:endParaRPr>
          </a:p>
        </p:txBody>
      </p:sp>
      <p:sp>
        <p:nvSpPr>
          <p:cNvPr id="78" name="文本框 77">
            <a:extLst xmlns:a="http://schemas.openxmlformats.org/drawingml/2006/main">
              <a:ext uri="{FF2B5EF4-FFF2-40B4-BE49-F238E27FC236}">
                <a16:creationId xmlns:a16="http://schemas.microsoft.com/office/drawing/2014/main" id="{BB3C9B6A-9CDB-4396-99A9-1C2A4B845FC8}"/>
              </a:ext>
            </a:extLst>
          </p:cNvPr>
          <p:cNvSpPr>
            <a:spLocks xmlns:a="http://schemas.openxmlformats.org/drawingml/2006/main" noGrp="1"/>
          </p:cNvSpPr>
          <p:nvPr/>
        </p:nvSpPr>
        <p:spPr>
          <a:xfrm xmlns:a="http://schemas.openxmlformats.org/drawingml/2006/main">
            <a:off x="195580" y="4462780"/>
            <a:ext cx="5852160" cy="9575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d>
                    <m:dPr>
                      <m:begChr m:val="{"/>
                      <m:grow m:val="off"/>
                    </m:dPr>
                    <m:e>
                      <m:eqArr>
                        <m:e>
                          <m:f>
                            <m:num>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𝐿</m:t>
                              </m:r>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𝑎</m:t>
                              </m:r>
                              <m:r>
                                <a:rPr xmlns:a="http://schemas.openxmlformats.org/drawingml/2006/main" lang="en-US" i="1">
                                  <a:latin typeface="Cambria Math"/>
                                  <a:ea typeface="Cambria Math"/>
                                  <a:cs typeface="Cambria Math"/>
                                </a:rPr>
                                <m:t>)</m:t>
                              </m:r>
                            </m:num>
                            <m:den>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den>
                          </m:f>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i="1">
                              <a:latin typeface="Cambria Math"/>
                              <a:ea typeface="Cambria Math"/>
                              <a:cs typeface="Cambria Math"/>
                            </a:rPr>
                            <m:t>−</m:t>
                          </m:r>
                          <m:nary>
                            <m:naryPr>
                              <m:chr m:val="∑"/>
                              <m:limLoc m:val="undOvr"/>
                              <m:subHide m:val="off"/>
                              <m:supHide m:val="off"/>
                            </m:naryPr>
                            <m:sub>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m:t>
                              </m:r>
                            </m:sub>
                            <m:sup>
                              <m:r>
                                <a:rPr xmlns:a="http://schemas.openxmlformats.org/drawingml/2006/main" lang="en-US" i="1">
                                  <a:latin typeface="Cambria Math"/>
                                  <a:ea typeface="Cambria Math"/>
                                  <a:cs typeface="Cambria Math"/>
                                </a:rPr>
                                <m:t>𝑛</m:t>
                              </m:r>
                            </m:sup>
                            <m:e>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Sub>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i="1">
                                  <a:latin typeface="Cambria Math"/>
                                  <a:ea typeface="Cambria Math"/>
                                  <a:cs typeface="Cambria Math"/>
                                </a:rPr>
                                <m:t>=0</m:t>
                              </m:r>
                            </m:e>
                          </m:nary>
                        </m:e>
                        <m:e>
                          <m:f>
                            <m:num>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𝐿</m:t>
                              </m:r>
                              <m:r>
                                <a:rPr xmlns:a="http://schemas.openxmlformats.org/drawingml/2006/main" lang="en-US" i="1">
                                  <a:latin typeface="Cambria Math"/>
                                  <a:ea typeface="Cambria Math"/>
                                  <a:cs typeface="Cambria Math"/>
                                </a:rPr>
                                <m:t>(</m:t>
                              </m:r>
                              <m:r>
                                <a:rPr xmlns:a="http://schemas.openxmlformats.org/drawingml/2006/main" lang="en-US" b="1" i="1">
                                  <a:latin typeface="Cambria Math"/>
                                  <a:ea typeface="Cambria Math"/>
                                  <a:cs typeface="Cambria Math"/>
                                </a:rPr>
                                <m:t>𝒘</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𝑎</m:t>
                              </m:r>
                              <m:r>
                                <a:rPr xmlns:a="http://schemas.openxmlformats.org/drawingml/2006/main" lang="en-US" i="1">
                                  <a:latin typeface="Cambria Math"/>
                                  <a:ea typeface="Cambria Math"/>
                                  <a:cs typeface="Cambria Math"/>
                                </a:rPr>
                                <m:t>)</m:t>
                              </m:r>
                            </m:num>
                            <m:den>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𝑏</m:t>
                              </m:r>
                            </m:den>
                          </m:f>
                          <m:r>
                            <a:rPr xmlns:a="http://schemas.openxmlformats.org/drawingml/2006/main" lang="en-US" i="1">
                              <a:latin typeface="Cambria Math"/>
                              <a:ea typeface="Cambria Math"/>
                              <a:cs typeface="Cambria Math"/>
                            </a:rPr>
                            <m:t>=−</m:t>
                          </m:r>
                          <m:nary>
                            <m:naryPr>
                              <m:chr m:val="∑"/>
                              <m:limLoc m:val="undOvr"/>
                              <m:subHide m:val="off"/>
                              <m:supHide m:val="off"/>
                            </m:naryPr>
                            <m:sub>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m:t>
                              </m:r>
                            </m:sub>
                            <m:sup>
                              <m:r>
                                <a:rPr xmlns:a="http://schemas.openxmlformats.org/drawingml/2006/main" lang="en-US" i="1">
                                  <a:latin typeface="Cambria Math"/>
                                  <a:ea typeface="Cambria Math"/>
                                  <a:cs typeface="Cambria Math"/>
                                </a:rPr>
                                <m:t>𝑛</m:t>
                              </m:r>
                            </m:sup>
                            <m:e>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Sub>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=0</m:t>
                              </m:r>
                            </m:e>
                          </m:nary>
                        </m:e>
                      </m:eqArr>
                    </m:e>
                  </m:d>
                </m:oMath>
              </m:oMathPara>
            </a14:m>
            <a:endParaRPr>
              <a:latin typeface="DejaVu Math TeX Gyre"/>
              <a:ea typeface="DejaVu Math TeX Gyre"/>
              <a:cs typeface="DejaVu Math TeX Gyre"/>
            </a:endParaRPr>
          </a:p>
        </p:txBody>
      </p:sp>
      <p:sp>
        <p:nvSpPr>
          <p:cNvPr id="80" name="文本框 79">
            <a:extLst xmlns:a="http://schemas.openxmlformats.org/drawingml/2006/main">
              <a:ext uri="{FF2B5EF4-FFF2-40B4-BE49-F238E27FC236}">
                <a16:creationId xmlns:a16="http://schemas.microsoft.com/office/drawing/2014/main" id="{27291F79-CCCC-4733-9821-69ED62EE496A}"/>
              </a:ext>
            </a:extLst>
          </p:cNvPr>
          <p:cNvSpPr>
            <a:spLocks xmlns:a="http://schemas.openxmlformats.org/drawingml/2006/main" noGrp="1"/>
          </p:cNvSpPr>
          <p:nvPr/>
        </p:nvSpPr>
        <p:spPr>
          <a:xfrm xmlns:a="http://schemas.openxmlformats.org/drawingml/2006/main">
            <a:off x="6276975" y="3409315"/>
            <a:ext cx="6247765" cy="423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0000"/>
              </a:lnSpc>
              <a:buNone/>
            </a:pPr>
            <a:r>
              <a:rPr>
                <a:latin typeface="DejaVu Math TeX Gyre"/>
                <a:ea typeface="DejaVu Math TeX Gyre"/>
                <a:cs typeface="DejaVu Math TeX Gyre"/>
              </a:rPr>
              <a:t>最优超平面问题等价对偶形式</a:t>
            </a:r>
            <a:r>
              <a:rPr>
                <a:latin typeface="DejaVu Math TeX Gyre"/>
                <a:ea typeface="DejaVu Math TeX Gyre"/>
                <a:cs typeface="DejaVu Math TeX Gyre"/>
              </a:rPr>
              <a:t>:</a:t>
            </a:r>
          </a:p>
        </p:txBody>
      </p:sp>
      <p:sp>
        <p:nvSpPr>
          <p:cNvPr id="6" name="文本框 5">
            <a:extLst xmlns:a="http://schemas.openxmlformats.org/drawingml/2006/main">
              <a:ext uri="{FF2B5EF4-FFF2-40B4-BE49-F238E27FC236}">
                <a16:creationId xmlns:a16="http://schemas.microsoft.com/office/drawing/2014/main" id="{F581DF35-A374-7E6F-1BCA-4B3C2982E982}"/>
              </a:ext>
            </a:extLst>
          </p:cNvPr>
          <p:cNvSpPr>
            <a:spLocks xmlns:a="http://schemas.openxmlformats.org/drawingml/2006/main" noGrp="1"/>
          </p:cNvSpPr>
          <p:nvPr/>
        </p:nvSpPr>
        <p:spPr>
          <a:xfrm xmlns:a="http://schemas.openxmlformats.org/drawingml/2006/main">
            <a:off x="6364605" y="3980815"/>
            <a:ext cx="3080459" cy="1707134"/>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d>
                    <m:dPr>
                      <m:begChr m:val="{"/>
                      <m:grow m:val="off"/>
                    </m:dPr>
                    <m:e>
                      <m:eqArr>
                        <m:e>
                          <m:func>
                            <m:fName>
                              <m:limLow>
                                <m:e>
                                  <m:r>
                                    <a:rPr xmlns:a="http://schemas.openxmlformats.org/drawingml/2006/main" lang="en-US" i="0">
                                      <a:latin typeface="Cambria Math"/>
                                      <a:ea typeface="Cambria Math"/>
                                      <a:cs typeface="Cambria Math"/>
                                    </a:rPr>
                                    <m:t>min</m:t>
                                  </m:r>
                                </m:e>
                                <m:lim>
                                  <m:r>
                                    <a:rPr xmlns:a="http://schemas.openxmlformats.org/drawingml/2006/main" lang="en-US" b="0" i="1">
                                      <a:latin typeface="Cambria Math"/>
                                      <a:ea typeface="Cambria Math"/>
                                      <a:cs typeface="Cambria Math"/>
                                    </a:rPr>
                                    <m:t>𝑎</m:t>
                                  </m:r>
                                </m:lim>
                              </m:limLow>
                            </m:fName>
                            <m:e>
                              <m:f>
                                <m:num>
                                  <m:r>
                                    <a:rPr xmlns:a="http://schemas.openxmlformats.org/drawingml/2006/main" lang="en-US" b="0" i="1">
                                      <a:latin typeface="Cambria Math"/>
                                      <a:ea typeface="Cambria Math"/>
                                      <a:cs typeface="Cambria Math"/>
                                    </a:rPr>
                                    <m:t>1</m:t>
                                  </m:r>
                                </m:num>
                                <m:den>
                                  <m:r>
                                    <a:rPr xmlns:a="http://schemas.openxmlformats.org/drawingml/2006/main" lang="en-US" b="0" i="1">
                                      <a:latin typeface="Cambria Math"/>
                                      <a:ea typeface="Cambria Math"/>
                                      <a:cs typeface="Cambria Math"/>
                                    </a:rPr>
                                    <m:t>2</m:t>
                                  </m:r>
                                </m:den>
                              </m:f>
                              <m:nary>
                                <m:naryPr>
                                  <m:chr m:val="∑"/>
                                  <m:subHide m:val="off"/>
                                  <m:supHide m:val="off"/>
                                </m:naryPr>
                                <m:sub>
                                  <m:r>
                                    <a:rPr xmlns:a="http://schemas.openxmlformats.org/drawingml/2006/main" lang="en-US" b="0" i="1">
                                      <a:latin typeface="Cambria Math"/>
                                      <a:ea typeface="Cambria Math"/>
                                      <a:cs typeface="Cambria Math"/>
                                    </a:rPr>
                                    <m:t>𝑖</m:t>
                                  </m:r>
                                  <m:r>
                                    <a:rPr xmlns:a="http://schemas.openxmlformats.org/drawingml/2006/main" lang="en-US" b="0" i="1">
                                      <a:latin typeface="Cambria Math"/>
                                      <a:ea typeface="Cambria Math"/>
                                      <a:cs typeface="Cambria Math"/>
                                    </a:rPr>
                                    <m:t>=1</m:t>
                                  </m:r>
                                </m:sub>
                                <m:sup>
                                  <m:r>
                                    <a:rPr xmlns:a="http://schemas.openxmlformats.org/drawingml/2006/main" lang="en-US" b="0" i="1">
                                      <a:latin typeface="Cambria Math"/>
                                      <a:ea typeface="Cambria Math"/>
                                      <a:cs typeface="Cambria Math"/>
                                    </a:rPr>
                                    <m:t>𝑛</m:t>
                                  </m:r>
                                </m:sup>
                                <m:e>
                                  <m:nary>
                                    <m:naryPr>
                                      <m:chr m:val="∑"/>
                                      <m:subHide m:val="off"/>
                                      <m:supHide m:val="off"/>
                                    </m:naryPr>
                                    <m:sub>
                                      <m:r>
                                        <a:rPr xmlns:a="http://schemas.openxmlformats.org/drawingml/2006/main" lang="en-US" b="0" i="1">
                                          <a:latin typeface="Cambria Math"/>
                                          <a:ea typeface="Cambria Math"/>
                                          <a:cs typeface="Cambria Math"/>
                                        </a:rPr>
                                        <m:t>𝑗</m:t>
                                      </m:r>
                                      <m:r>
                                        <a:rPr xmlns:a="http://schemas.openxmlformats.org/drawingml/2006/main" lang="en-US" b="0" i="1">
                                          <a:latin typeface="Cambria Math"/>
                                          <a:ea typeface="Cambria Math"/>
                                          <a:cs typeface="Cambria Math"/>
                                        </a:rPr>
                                        <m:t>=1</m:t>
                                      </m:r>
                                    </m:sub>
                                    <m:sup>
                                      <m:r>
                                        <a:rPr xmlns:a="http://schemas.openxmlformats.org/drawingml/2006/main" lang="en-US" b="0" i="1">
                                          <a:latin typeface="Cambria Math"/>
                                          <a:ea typeface="Cambria Math"/>
                                          <a:cs typeface="Cambria Math"/>
                                        </a:rPr>
                                        <m:t>𝑛</m:t>
                                      </m:r>
                                    </m:sup>
                                    <m:e>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𝑖</m:t>
                                          </m:r>
                                        </m:sub>
                                      </m:sSub>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𝑗</m:t>
                                          </m:r>
                                        </m:sub>
                                      </m:sSub>
                                      <m:sSub>
                                        <m:e>
                                          <m:r>
                                            <a:rPr xmlns:a="http://schemas.openxmlformats.org/drawingml/2006/main" lang="en-US" b="0" i="1">
                                              <a:latin typeface="Cambria Math"/>
                                              <a:ea typeface="Cambria Math"/>
                                              <a:cs typeface="Cambria Math"/>
                                            </a:rPr>
                                            <m:t>𝑦</m:t>
                                          </m:r>
                                        </m:e>
                                        <m:sub>
                                          <m:r>
                                            <a:rPr xmlns:a="http://schemas.openxmlformats.org/drawingml/2006/main" lang="en-US" b="0" i="1">
                                              <a:latin typeface="Cambria Math"/>
                                              <a:ea typeface="Cambria Math"/>
                                              <a:cs typeface="Cambria Math"/>
                                            </a:rPr>
                                            <m:t>𝑖</m:t>
                                          </m:r>
                                        </m:sub>
                                      </m:sSub>
                                      <m:sSub>
                                        <m:e>
                                          <m:r>
                                            <a:rPr xmlns:a="http://schemas.openxmlformats.org/drawingml/2006/main" lang="en-US" b="0" i="1">
                                              <a:latin typeface="Cambria Math"/>
                                              <a:ea typeface="Cambria Math"/>
                                              <a:cs typeface="Cambria Math"/>
                                            </a:rPr>
                                            <m:t>𝑦</m:t>
                                          </m:r>
                                        </m:e>
                                        <m:sub>
                                          <m:r>
                                            <a:rPr xmlns:a="http://schemas.openxmlformats.org/drawingml/2006/main" lang="en-US" b="0" i="1">
                                              <a:latin typeface="Cambria Math"/>
                                              <a:ea typeface="Cambria Math"/>
                                              <a:cs typeface="Cambria Math"/>
                                            </a:rPr>
                                            <m:t>𝑗</m:t>
                                          </m:r>
                                        </m:sub>
                                      </m:sSub>
                                      <m:r>
                                        <a:rPr xmlns:a="http://schemas.openxmlformats.org/drawingml/2006/main" lang="en-US" b="0"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𝒋</m:t>
                                          </m:r>
                                        </m:sub>
                                      </m:sSub>
                                      <m:r>
                                        <a:rPr xmlns:a="http://schemas.openxmlformats.org/drawingml/2006/main" lang="en-US" b="0" i="1">
                                          <a:latin typeface="Cambria Math"/>
                                          <a:ea typeface="Cambria Math"/>
                                          <a:cs typeface="Cambria Math"/>
                                        </a:rPr>
                                        <m:t>)</m:t>
                                      </m:r>
                                    </m:e>
                                  </m:nary>
                                </m:e>
                              </m:nary>
                            </m:e>
                          </m:func>
                        </m:e>
                        <m:e>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m:t>
                          </m:r>
                          <m:nary>
                            <m:naryPr>
                              <m:chr m:val="∑"/>
                              <m:subHide m:val="off"/>
                              <m:supHide m:val="off"/>
                            </m:naryPr>
                            <m:sub>
                              <m:r>
                                <a:rPr xmlns:a="http://schemas.openxmlformats.org/drawingml/2006/main" lang="en-US" b="0" i="1">
                                  <a:latin typeface="Cambria Math"/>
                                  <a:ea typeface="Cambria Math"/>
                                  <a:cs typeface="Cambria Math"/>
                                </a:rPr>
                                <m:t>𝑖</m:t>
                              </m:r>
                              <m:r>
                                <a:rPr xmlns:a="http://schemas.openxmlformats.org/drawingml/2006/main" lang="en-US" b="0" i="1">
                                  <a:latin typeface="Cambria Math"/>
                                  <a:ea typeface="Cambria Math"/>
                                  <a:cs typeface="Cambria Math"/>
                                </a:rPr>
                                <m:t>=1</m:t>
                              </m:r>
                            </m:sub>
                            <m:sup>
                              <m:r>
                                <a:rPr xmlns:a="http://schemas.openxmlformats.org/drawingml/2006/main" lang="en-US" b="0" i="1">
                                  <a:latin typeface="Cambria Math"/>
                                  <a:ea typeface="Cambria Math"/>
                                  <a:cs typeface="Cambria Math"/>
                                </a:rPr>
                                <m:t>𝑛</m:t>
                              </m:r>
                            </m:sup>
                            <m:e>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𝑖</m:t>
                                  </m:r>
                                </m:sub>
                              </m:sSub>
                              <m:sSub>
                                <m:e>
                                  <m:r>
                                    <a:rPr xmlns:a="http://schemas.openxmlformats.org/drawingml/2006/main" lang="en-US" b="0" i="1">
                                      <a:latin typeface="Cambria Math"/>
                                      <a:ea typeface="Cambria Math"/>
                                      <a:cs typeface="Cambria Math"/>
                                    </a:rPr>
                                    <m:t>𝑦</m:t>
                                  </m:r>
                                </m:e>
                                <m:sub>
                                  <m:r>
                                    <a:rPr xmlns:a="http://schemas.openxmlformats.org/drawingml/2006/main" lang="en-US" b="0" i="1">
                                      <a:latin typeface="Cambria Math"/>
                                      <a:ea typeface="Cambria Math"/>
                                      <a:cs typeface="Cambria Math"/>
                                    </a:rPr>
                                    <m:t>𝑖</m:t>
                                  </m:r>
                                </m:sub>
                              </m:sSub>
                              <m:r>
                                <a:rPr xmlns:a="http://schemas.openxmlformats.org/drawingml/2006/main" lang="en-US" b="0" i="1">
                                  <a:latin typeface="Cambria Math"/>
                                  <a:ea typeface="Cambria Math"/>
                                  <a:cs typeface="Cambria Math"/>
                                </a:rPr>
                                <m:t>=0</m:t>
                              </m:r>
                            </m:e>
                          </m:nary>
                        </m:e>
                      </m:eqArr>
                    </m:e>
                  </m:d>
                </m:oMath>
              </m:oMathPara>
            </a14:m>
            <a:endParaRPr/>
          </a:p>
        </p:txBody>
      </p:sp>
    </p:spTree>
    <p:extLst>
      <p:ext uri="{BB962C8B-B14F-4D97-AF65-F5344CB8AC3E}">
        <p14:creationId xmlns:p14="http://schemas.microsoft.com/office/powerpoint/2010/main" val="8047657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318479D8-3681-41A4-A488-89A2843E254E}"/>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EC11C7EF-FED3-4E10-8C15-0D73E58740C2}"/>
              </a:ext>
            </a:extLst>
          </p:cNvPr>
          <p:cNvSpPr>
            <a:spLocks xmlns:a="http://schemas.openxmlformats.org/drawingml/2006/main" noGrp="1"/>
          </p:cNvSpPr>
          <p:nvPr/>
        </p:nvSpPr>
        <p:spPr>
          <a:xfrm xmlns:a="http://schemas.openxmlformats.org/drawingml/2006/main" rot="0" flipH="0" flipV="0">
            <a:off x="271145" y="1021713"/>
            <a:ext cx="42284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5.2.3 </a:t>
            </a:r>
            <a:r>
              <a:rPr sz="2400" b="1">
                <a:solidFill>
                  <a:schemeClr val="accent1"/>
                </a:solidFill>
                <a:latin typeface="+mj-lt"/>
                <a:ea typeface="+mj-lt"/>
                <a:cs typeface="+mj-lt"/>
              </a:rPr>
              <a:t>支持向量机避障策略</a:t>
            </a:r>
            <a:endParaRPr sz="2400" b="1">
              <a:solidFill>
                <a:schemeClr val="accent1"/>
              </a:solidFill>
              <a:latin typeface="+mj-lt"/>
              <a:ea typeface="+mj-lt"/>
              <a:cs typeface="+mj-lt"/>
            </a:endParaRPr>
          </a:p>
        </p:txBody>
      </p:sp>
      <p:cxnSp>
        <p:nvCxnSpPr>
          <p:cNvPr id="131" name="直接箭头连接符 66"/>
          <p:cNvCxnSpPr/>
          <p:nvPr/>
        </p:nvCxnSpPr>
        <p:spPr>
          <a:xfrm xmlns:a="http://schemas.openxmlformats.org/drawingml/2006/main" flipV="1">
            <a:off x="6872605" y="5763895"/>
            <a:ext cx="3295650" cy="19050"/>
          </a:xfrm>
          <a:prstGeom xmlns:a="http://schemas.openxmlformats.org/drawingml/2006/main" prst="straightConnector1">
            <a:avLst/>
          </a:prstGeom>
          <a:ln xmlns:a="http://schemas.openxmlformats.org/drawingml/2006/main" w="31750" cap="rnd">
            <a:solidFill>
              <a:schemeClr val="accent1"/>
            </a:solidFill>
            <a:round/>
            <a:tailEnd type="arrow" w="med" len="med"/>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cxnSp>
        <p:nvCxnSpPr>
          <p:cNvPr id="132" name="直接箭头连接符 67"/>
          <p:cNvCxnSpPr/>
          <p:nvPr/>
        </p:nvCxnSpPr>
        <p:spPr>
          <a:xfrm xmlns:a="http://schemas.openxmlformats.org/drawingml/2006/main" flipV="1">
            <a:off x="6872605" y="2544445"/>
            <a:ext cx="0" cy="3200400"/>
          </a:xfrm>
          <a:prstGeom xmlns:a="http://schemas.openxmlformats.org/drawingml/2006/main" prst="straightConnector1">
            <a:avLst/>
          </a:prstGeom>
          <a:ln xmlns:a="http://schemas.openxmlformats.org/drawingml/2006/main" w="31750" cap="rnd">
            <a:solidFill>
              <a:schemeClr val="accent1"/>
            </a:solidFill>
            <a:round/>
            <a:tailEnd type="arrow" w="med" len="med"/>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sp>
        <p:nvSpPr>
          <p:cNvPr id="69" name="椭圆 68">
            <a:extLst xmlns:a="http://schemas.openxmlformats.org/drawingml/2006/main">
              <a:ext uri="{FF2B5EF4-FFF2-40B4-BE49-F238E27FC236}">
                <a16:creationId xmlns:a16="http://schemas.microsoft.com/office/drawing/2014/main" id="{55E33E31-8BC6-4438-AF17-0E5016A05D11}"/>
              </a:ext>
            </a:extLst>
          </p:cNvPr>
          <p:cNvSpPr>
            <a:spLocks xmlns:a="http://schemas.openxmlformats.org/drawingml/2006/main" noGrp="1"/>
          </p:cNvSpPr>
          <p:nvPr/>
        </p:nvSpPr>
        <p:spPr>
          <a:xfrm xmlns:a="http://schemas.openxmlformats.org/drawingml/2006/main">
            <a:off x="7196455" y="42970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椭圆 69">
            <a:extLst xmlns:a="http://schemas.openxmlformats.org/drawingml/2006/main">
              <a:ext uri="{FF2B5EF4-FFF2-40B4-BE49-F238E27FC236}">
                <a16:creationId xmlns:a16="http://schemas.microsoft.com/office/drawing/2014/main" id="{25256AB6-8589-46DE-A76B-0A375C167E7C}"/>
              </a:ext>
            </a:extLst>
          </p:cNvPr>
          <p:cNvSpPr>
            <a:spLocks xmlns:a="http://schemas.openxmlformats.org/drawingml/2006/main" noGrp="1"/>
          </p:cNvSpPr>
          <p:nvPr/>
        </p:nvSpPr>
        <p:spPr>
          <a:xfrm xmlns:a="http://schemas.openxmlformats.org/drawingml/2006/main">
            <a:off x="7577455" y="44240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椭圆 70">
            <a:extLst xmlns:a="http://schemas.openxmlformats.org/drawingml/2006/main">
              <a:ext uri="{FF2B5EF4-FFF2-40B4-BE49-F238E27FC236}">
                <a16:creationId xmlns:a16="http://schemas.microsoft.com/office/drawing/2014/main" id="{B7F55A36-C98E-4D02-8987-A525B7F9A7C6}"/>
              </a:ext>
            </a:extLst>
          </p:cNvPr>
          <p:cNvSpPr>
            <a:spLocks xmlns:a="http://schemas.openxmlformats.org/drawingml/2006/main" noGrp="1"/>
          </p:cNvSpPr>
          <p:nvPr/>
        </p:nvSpPr>
        <p:spPr>
          <a:xfrm xmlns:a="http://schemas.openxmlformats.org/drawingml/2006/main">
            <a:off x="7221855" y="48272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椭圆 71">
            <a:extLst xmlns:a="http://schemas.openxmlformats.org/drawingml/2006/main">
              <a:ext uri="{FF2B5EF4-FFF2-40B4-BE49-F238E27FC236}">
                <a16:creationId xmlns:a16="http://schemas.microsoft.com/office/drawing/2014/main" id="{647D63AE-0C0D-4A43-B995-A28091A73E8E}"/>
              </a:ext>
            </a:extLst>
          </p:cNvPr>
          <p:cNvSpPr>
            <a:spLocks xmlns:a="http://schemas.openxmlformats.org/drawingml/2006/main" noGrp="1"/>
          </p:cNvSpPr>
          <p:nvPr/>
        </p:nvSpPr>
        <p:spPr>
          <a:xfrm xmlns:a="http://schemas.openxmlformats.org/drawingml/2006/main">
            <a:off x="7526655" y="48272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3" name="椭圆 72">
            <a:extLst xmlns:a="http://schemas.openxmlformats.org/drawingml/2006/main">
              <a:ext uri="{FF2B5EF4-FFF2-40B4-BE49-F238E27FC236}">
                <a16:creationId xmlns:a16="http://schemas.microsoft.com/office/drawing/2014/main" id="{D9AFB962-ED8B-44A3-B157-56D2B4744557}"/>
              </a:ext>
            </a:extLst>
          </p:cNvPr>
          <p:cNvSpPr>
            <a:spLocks xmlns:a="http://schemas.openxmlformats.org/drawingml/2006/main" noGrp="1"/>
          </p:cNvSpPr>
          <p:nvPr/>
        </p:nvSpPr>
        <p:spPr>
          <a:xfrm xmlns:a="http://schemas.openxmlformats.org/drawingml/2006/main">
            <a:off x="7704455" y="480504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椭圆 73">
            <a:extLst xmlns:a="http://schemas.openxmlformats.org/drawingml/2006/main">
              <a:ext uri="{FF2B5EF4-FFF2-40B4-BE49-F238E27FC236}">
                <a16:creationId xmlns:a16="http://schemas.microsoft.com/office/drawing/2014/main" id="{56F5AC54-808C-492C-A2AE-F9CFCD24F638}"/>
              </a:ext>
            </a:extLst>
          </p:cNvPr>
          <p:cNvSpPr>
            <a:spLocks xmlns:a="http://schemas.openxmlformats.org/drawingml/2006/main" noGrp="1"/>
          </p:cNvSpPr>
          <p:nvPr/>
        </p:nvSpPr>
        <p:spPr>
          <a:xfrm xmlns:a="http://schemas.openxmlformats.org/drawingml/2006/main">
            <a:off x="7526655" y="52304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椭圆 74">
            <a:extLst xmlns:a="http://schemas.openxmlformats.org/drawingml/2006/main">
              <a:ext uri="{FF2B5EF4-FFF2-40B4-BE49-F238E27FC236}">
                <a16:creationId xmlns:a16="http://schemas.microsoft.com/office/drawing/2014/main" id="{107E49E0-E6AE-4FFC-9DA3-2B9ECB893297}"/>
              </a:ext>
            </a:extLst>
          </p:cNvPr>
          <p:cNvSpPr>
            <a:spLocks xmlns:a="http://schemas.openxmlformats.org/drawingml/2006/main" noGrp="1"/>
          </p:cNvSpPr>
          <p:nvPr/>
        </p:nvSpPr>
        <p:spPr>
          <a:xfrm xmlns:a="http://schemas.openxmlformats.org/drawingml/2006/main">
            <a:off x="8158480" y="52304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椭圆 75">
            <a:extLst xmlns:a="http://schemas.openxmlformats.org/drawingml/2006/main">
              <a:ext uri="{FF2B5EF4-FFF2-40B4-BE49-F238E27FC236}">
                <a16:creationId xmlns:a16="http://schemas.microsoft.com/office/drawing/2014/main" id="{9C774D72-431C-4F75-8C63-B60AF302A116}"/>
              </a:ext>
            </a:extLst>
          </p:cNvPr>
          <p:cNvSpPr>
            <a:spLocks xmlns:a="http://schemas.openxmlformats.org/drawingml/2006/main" noGrp="1"/>
          </p:cNvSpPr>
          <p:nvPr/>
        </p:nvSpPr>
        <p:spPr>
          <a:xfrm xmlns:a="http://schemas.openxmlformats.org/drawingml/2006/main">
            <a:off x="7948930" y="512572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椭圆 76">
            <a:extLst xmlns:a="http://schemas.openxmlformats.org/drawingml/2006/main">
              <a:ext uri="{FF2B5EF4-FFF2-40B4-BE49-F238E27FC236}">
                <a16:creationId xmlns:a16="http://schemas.microsoft.com/office/drawing/2014/main" id="{55AC03EC-93E6-4974-95F7-DE4D8E3DCA48}"/>
              </a:ext>
            </a:extLst>
          </p:cNvPr>
          <p:cNvSpPr>
            <a:spLocks xmlns:a="http://schemas.openxmlformats.org/drawingml/2006/main" noGrp="1"/>
          </p:cNvSpPr>
          <p:nvPr/>
        </p:nvSpPr>
        <p:spPr>
          <a:xfrm xmlns:a="http://schemas.openxmlformats.org/drawingml/2006/main">
            <a:off x="7948930" y="47002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椭圆 77">
            <a:extLst xmlns:a="http://schemas.openxmlformats.org/drawingml/2006/main">
              <a:ext uri="{FF2B5EF4-FFF2-40B4-BE49-F238E27FC236}">
                <a16:creationId xmlns:a16="http://schemas.microsoft.com/office/drawing/2014/main" id="{CB4E4310-8011-4A94-8F03-BB76DFACDBA2}"/>
              </a:ext>
            </a:extLst>
          </p:cNvPr>
          <p:cNvSpPr>
            <a:spLocks xmlns:a="http://schemas.openxmlformats.org/drawingml/2006/main" noGrp="1"/>
          </p:cNvSpPr>
          <p:nvPr/>
        </p:nvSpPr>
        <p:spPr>
          <a:xfrm xmlns:a="http://schemas.openxmlformats.org/drawingml/2006/main">
            <a:off x="7599680" y="40493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椭圆 78">
            <a:extLst xmlns:a="http://schemas.openxmlformats.org/drawingml/2006/main">
              <a:ext uri="{FF2B5EF4-FFF2-40B4-BE49-F238E27FC236}">
                <a16:creationId xmlns:a16="http://schemas.microsoft.com/office/drawing/2014/main" id="{86D8B3A3-19F2-461B-90BD-B25ECA846E2B}"/>
              </a:ext>
            </a:extLst>
          </p:cNvPr>
          <p:cNvSpPr>
            <a:spLocks xmlns:a="http://schemas.openxmlformats.org/drawingml/2006/main" noGrp="1"/>
          </p:cNvSpPr>
          <p:nvPr/>
        </p:nvSpPr>
        <p:spPr>
          <a:xfrm xmlns:a="http://schemas.openxmlformats.org/drawingml/2006/main">
            <a:off x="8390255" y="4722495"/>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椭圆 79">
            <a:extLst xmlns:a="http://schemas.openxmlformats.org/drawingml/2006/main">
              <a:ext uri="{FF2B5EF4-FFF2-40B4-BE49-F238E27FC236}">
                <a16:creationId xmlns:a16="http://schemas.microsoft.com/office/drawing/2014/main" id="{69BAC397-C14B-4FBA-A148-B743B12834B6}"/>
              </a:ext>
            </a:extLst>
          </p:cNvPr>
          <p:cNvSpPr>
            <a:spLocks xmlns:a="http://schemas.openxmlformats.org/drawingml/2006/main" noGrp="1"/>
          </p:cNvSpPr>
          <p:nvPr/>
        </p:nvSpPr>
        <p:spPr>
          <a:xfrm xmlns:a="http://schemas.openxmlformats.org/drawingml/2006/main">
            <a:off x="8468360" y="339090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椭圆 80">
            <a:extLst xmlns:a="http://schemas.openxmlformats.org/drawingml/2006/main">
              <a:ext uri="{FF2B5EF4-FFF2-40B4-BE49-F238E27FC236}">
                <a16:creationId xmlns:a16="http://schemas.microsoft.com/office/drawing/2014/main" id="{A016CEF2-E13C-495E-BF29-14FA399C768A}"/>
              </a:ext>
            </a:extLst>
          </p:cNvPr>
          <p:cNvSpPr>
            <a:spLocks xmlns:a="http://schemas.openxmlformats.org/drawingml/2006/main" noGrp="1"/>
          </p:cNvSpPr>
          <p:nvPr/>
        </p:nvSpPr>
        <p:spPr>
          <a:xfrm xmlns:a="http://schemas.openxmlformats.org/drawingml/2006/main">
            <a:off x="8910955" y="28873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椭圆 81">
            <a:extLst xmlns:a="http://schemas.openxmlformats.org/drawingml/2006/main">
              <a:ext uri="{FF2B5EF4-FFF2-40B4-BE49-F238E27FC236}">
                <a16:creationId xmlns:a16="http://schemas.microsoft.com/office/drawing/2014/main" id="{49FE3125-0A74-4FAF-B8F8-3C414CF21A3E}"/>
              </a:ext>
            </a:extLst>
          </p:cNvPr>
          <p:cNvSpPr>
            <a:spLocks xmlns:a="http://schemas.openxmlformats.org/drawingml/2006/main" noGrp="1"/>
          </p:cNvSpPr>
          <p:nvPr/>
        </p:nvSpPr>
        <p:spPr>
          <a:xfrm xmlns:a="http://schemas.openxmlformats.org/drawingml/2006/main">
            <a:off x="9418955" y="30968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椭圆 82">
            <a:extLst xmlns:a="http://schemas.openxmlformats.org/drawingml/2006/main">
              <a:ext uri="{FF2B5EF4-FFF2-40B4-BE49-F238E27FC236}">
                <a16:creationId xmlns:a16="http://schemas.microsoft.com/office/drawing/2014/main" id="{F2E9E5B4-FE8D-4941-8CE8-FA8E54D917D6}"/>
              </a:ext>
            </a:extLst>
          </p:cNvPr>
          <p:cNvSpPr>
            <a:spLocks xmlns:a="http://schemas.openxmlformats.org/drawingml/2006/main" noGrp="1"/>
          </p:cNvSpPr>
          <p:nvPr/>
        </p:nvSpPr>
        <p:spPr>
          <a:xfrm xmlns:a="http://schemas.openxmlformats.org/drawingml/2006/main">
            <a:off x="9120505" y="367792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椭圆 83">
            <a:extLst xmlns:a="http://schemas.openxmlformats.org/drawingml/2006/main">
              <a:ext uri="{FF2B5EF4-FFF2-40B4-BE49-F238E27FC236}">
                <a16:creationId xmlns:a16="http://schemas.microsoft.com/office/drawing/2014/main" id="{5C1809ED-E387-4515-80C1-448ABA625FE1}"/>
              </a:ext>
            </a:extLst>
          </p:cNvPr>
          <p:cNvSpPr>
            <a:spLocks xmlns:a="http://schemas.openxmlformats.org/drawingml/2006/main" noGrp="1"/>
          </p:cNvSpPr>
          <p:nvPr/>
        </p:nvSpPr>
        <p:spPr>
          <a:xfrm xmlns:a="http://schemas.openxmlformats.org/drawingml/2006/main">
            <a:off x="9799955" y="35731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椭圆 84">
            <a:extLst xmlns:a="http://schemas.openxmlformats.org/drawingml/2006/main">
              <a:ext uri="{FF2B5EF4-FFF2-40B4-BE49-F238E27FC236}">
                <a16:creationId xmlns:a16="http://schemas.microsoft.com/office/drawing/2014/main" id="{1802BAB1-D78A-4434-8F35-F65895805B8F}"/>
              </a:ext>
            </a:extLst>
          </p:cNvPr>
          <p:cNvSpPr>
            <a:spLocks xmlns:a="http://schemas.openxmlformats.org/drawingml/2006/main" noGrp="1"/>
          </p:cNvSpPr>
          <p:nvPr/>
        </p:nvSpPr>
        <p:spPr>
          <a:xfrm xmlns:a="http://schemas.openxmlformats.org/drawingml/2006/main">
            <a:off x="8910955" y="34143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6" name="椭圆 85">
            <a:extLst xmlns:a="http://schemas.openxmlformats.org/drawingml/2006/main">
              <a:ext uri="{FF2B5EF4-FFF2-40B4-BE49-F238E27FC236}">
                <a16:creationId xmlns:a16="http://schemas.microsoft.com/office/drawing/2014/main" id="{7FDE0C18-3E6B-400C-ABF8-DA84FBA04897}"/>
              </a:ext>
            </a:extLst>
          </p:cNvPr>
          <p:cNvSpPr>
            <a:spLocks xmlns:a="http://schemas.openxmlformats.org/drawingml/2006/main" noGrp="1"/>
          </p:cNvSpPr>
          <p:nvPr/>
        </p:nvSpPr>
        <p:spPr>
          <a:xfrm xmlns:a="http://schemas.openxmlformats.org/drawingml/2006/main">
            <a:off x="10006330" y="417639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7" name="椭圆 86">
            <a:extLst xmlns:a="http://schemas.openxmlformats.org/drawingml/2006/main">
              <a:ext uri="{FF2B5EF4-FFF2-40B4-BE49-F238E27FC236}">
                <a16:creationId xmlns:a16="http://schemas.microsoft.com/office/drawing/2014/main" id="{78E220D7-3481-4B87-837B-AC593D4D492F}"/>
              </a:ext>
            </a:extLst>
          </p:cNvPr>
          <p:cNvSpPr>
            <a:spLocks xmlns:a="http://schemas.openxmlformats.org/drawingml/2006/main" noGrp="1"/>
          </p:cNvSpPr>
          <p:nvPr/>
        </p:nvSpPr>
        <p:spPr>
          <a:xfrm xmlns:a="http://schemas.openxmlformats.org/drawingml/2006/main">
            <a:off x="9523730" y="35731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椭圆 87">
            <a:extLst xmlns:a="http://schemas.openxmlformats.org/drawingml/2006/main">
              <a:ext uri="{FF2B5EF4-FFF2-40B4-BE49-F238E27FC236}">
                <a16:creationId xmlns:a16="http://schemas.microsoft.com/office/drawing/2014/main" id="{AAF74763-2C97-4312-BEE7-020962DBDBC8}"/>
              </a:ext>
            </a:extLst>
          </p:cNvPr>
          <p:cNvSpPr>
            <a:spLocks xmlns:a="http://schemas.openxmlformats.org/drawingml/2006/main" noGrp="1"/>
          </p:cNvSpPr>
          <p:nvPr/>
        </p:nvSpPr>
        <p:spPr>
          <a:xfrm xmlns:a="http://schemas.openxmlformats.org/drawingml/2006/main">
            <a:off x="9418955" y="394462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9" name="椭圆 88">
            <a:extLst xmlns:a="http://schemas.openxmlformats.org/drawingml/2006/main">
              <a:ext uri="{FF2B5EF4-FFF2-40B4-BE49-F238E27FC236}">
                <a16:creationId xmlns:a16="http://schemas.microsoft.com/office/drawing/2014/main" id="{161DD394-9A69-4A5D-BF9C-08792B823543}"/>
              </a:ext>
            </a:extLst>
          </p:cNvPr>
          <p:cNvSpPr>
            <a:spLocks xmlns:a="http://schemas.openxmlformats.org/drawingml/2006/main" noGrp="1"/>
          </p:cNvSpPr>
          <p:nvPr/>
        </p:nvSpPr>
        <p:spPr>
          <a:xfrm xmlns:a="http://schemas.openxmlformats.org/drawingml/2006/main">
            <a:off x="9163050" y="428117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椭圆 89">
            <a:extLst xmlns:a="http://schemas.openxmlformats.org/drawingml/2006/main">
              <a:ext uri="{FF2B5EF4-FFF2-40B4-BE49-F238E27FC236}">
                <a16:creationId xmlns:a16="http://schemas.microsoft.com/office/drawing/2014/main" id="{EBDC071A-7899-4F0B-8CA6-89AA96F90ED9}"/>
              </a:ext>
            </a:extLst>
          </p:cNvPr>
          <p:cNvSpPr>
            <a:spLocks xmlns:a="http://schemas.openxmlformats.org/drawingml/2006/main" noGrp="1"/>
          </p:cNvSpPr>
          <p:nvPr/>
        </p:nvSpPr>
        <p:spPr>
          <a:xfrm xmlns:a="http://schemas.openxmlformats.org/drawingml/2006/main">
            <a:off x="8677910" y="3839845"/>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椭圆 90">
            <a:extLst xmlns:a="http://schemas.openxmlformats.org/drawingml/2006/main">
              <a:ext uri="{FF2B5EF4-FFF2-40B4-BE49-F238E27FC236}">
                <a16:creationId xmlns:a16="http://schemas.microsoft.com/office/drawing/2014/main" id="{1D54A409-614B-459E-BA3D-BE7CCC154A29}"/>
              </a:ext>
            </a:extLst>
          </p:cNvPr>
          <p:cNvSpPr>
            <a:spLocks xmlns:a="http://schemas.openxmlformats.org/drawingml/2006/main" noGrp="1"/>
          </p:cNvSpPr>
          <p:nvPr/>
        </p:nvSpPr>
        <p:spPr>
          <a:xfrm xmlns:a="http://schemas.openxmlformats.org/drawingml/2006/main">
            <a:off x="10387330" y="2439670"/>
            <a:ext cx="104775" cy="104775"/>
          </a:xfrm>
          <a:prstGeom xmlns:a="http://schemas.openxmlformats.org/drawingml/2006/main" prst="ellipse">
            <a:avLst/>
          </a:prstGeom>
          <a:solidFill xmlns:a="http://schemas.openxmlformats.org/drawingml/2006/main">
            <a:schemeClr val="tx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椭圆 91">
            <a:extLst xmlns:a="http://schemas.openxmlformats.org/drawingml/2006/main">
              <a:ext uri="{FF2B5EF4-FFF2-40B4-BE49-F238E27FC236}">
                <a16:creationId xmlns:a16="http://schemas.microsoft.com/office/drawing/2014/main" id="{793DCF1D-789C-4FD4-B323-46781ED858FA}"/>
              </a:ext>
            </a:extLst>
          </p:cNvPr>
          <p:cNvSpPr>
            <a:spLocks xmlns:a="http://schemas.openxmlformats.org/drawingml/2006/main" noGrp="1"/>
          </p:cNvSpPr>
          <p:nvPr/>
        </p:nvSpPr>
        <p:spPr>
          <a:xfrm xmlns:a="http://schemas.openxmlformats.org/drawingml/2006/main">
            <a:off x="10387330" y="2782570"/>
            <a:ext cx="104775" cy="10477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 name="椭圆 110">
            <a:extLst xmlns:a="http://schemas.openxmlformats.org/drawingml/2006/main">
              <a:ext uri="{FF2B5EF4-FFF2-40B4-BE49-F238E27FC236}">
                <a16:creationId xmlns:a16="http://schemas.microsoft.com/office/drawing/2014/main" id="{6C5EDC6B-8215-4033-A2DE-2C8B8A6E168E}"/>
              </a:ext>
            </a:extLst>
          </p:cNvPr>
          <p:cNvSpPr>
            <a:spLocks xmlns:a="http://schemas.openxmlformats.org/drawingml/2006/main" noGrp="1"/>
          </p:cNvSpPr>
          <p:nvPr/>
        </p:nvSpPr>
        <p:spPr>
          <a:xfrm xmlns:a="http://schemas.openxmlformats.org/drawingml/2006/main">
            <a:off x="7486015" y="396684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 name="椭圆 111">
            <a:extLst xmlns:a="http://schemas.openxmlformats.org/drawingml/2006/main">
              <a:ext uri="{FF2B5EF4-FFF2-40B4-BE49-F238E27FC236}">
                <a16:creationId xmlns:a16="http://schemas.microsoft.com/office/drawing/2014/main" id="{35612EB6-488F-4CC4-B463-A6590161B5C4}"/>
              </a:ext>
            </a:extLst>
          </p:cNvPr>
          <p:cNvSpPr>
            <a:spLocks xmlns:a="http://schemas.openxmlformats.org/drawingml/2006/main" noGrp="1"/>
          </p:cNvSpPr>
          <p:nvPr/>
        </p:nvSpPr>
        <p:spPr>
          <a:xfrm xmlns:a="http://schemas.openxmlformats.org/drawingml/2006/main">
            <a:off x="8285480" y="462724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3" name="椭圆 112">
            <a:extLst xmlns:a="http://schemas.openxmlformats.org/drawingml/2006/main">
              <a:ext uri="{FF2B5EF4-FFF2-40B4-BE49-F238E27FC236}">
                <a16:creationId xmlns:a16="http://schemas.microsoft.com/office/drawing/2014/main" id="{645B8197-1CD3-4C77-B942-608F59A4DD48}"/>
              </a:ext>
            </a:extLst>
          </p:cNvPr>
          <p:cNvSpPr>
            <a:spLocks xmlns:a="http://schemas.openxmlformats.org/drawingml/2006/main" noGrp="1"/>
          </p:cNvSpPr>
          <p:nvPr/>
        </p:nvSpPr>
        <p:spPr>
          <a:xfrm xmlns:a="http://schemas.openxmlformats.org/drawingml/2006/main">
            <a:off x="8573135" y="374459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4" name="椭圆 113">
            <a:extLst xmlns:a="http://schemas.openxmlformats.org/drawingml/2006/main">
              <a:ext uri="{FF2B5EF4-FFF2-40B4-BE49-F238E27FC236}">
                <a16:creationId xmlns:a16="http://schemas.microsoft.com/office/drawing/2014/main" id="{76CA4066-53FB-49D1-B5DD-BD9C16801531}"/>
              </a:ext>
            </a:extLst>
          </p:cNvPr>
          <p:cNvSpPr>
            <a:spLocks xmlns:a="http://schemas.openxmlformats.org/drawingml/2006/main" noGrp="1"/>
          </p:cNvSpPr>
          <p:nvPr/>
        </p:nvSpPr>
        <p:spPr>
          <a:xfrm xmlns:a="http://schemas.openxmlformats.org/drawingml/2006/main">
            <a:off x="9015730" y="4176395"/>
            <a:ext cx="323215" cy="314325"/>
          </a:xfrm>
          <a:prstGeom xmlns:a="http://schemas.openxmlformats.org/drawingml/2006/main" prst="ellipse">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5" name="直接连接符 114">
            <a:extLst xmlns:a="http://schemas.openxmlformats.org/drawingml/2006/main">
              <a:ext uri="{FF2B5EF4-FFF2-40B4-BE49-F238E27FC236}">
                <a16:creationId xmlns:a16="http://schemas.microsoft.com/office/drawing/2014/main" id="{DFB93320-3990-4037-9407-AFB889A93439}"/>
              </a:ext>
            </a:extLst>
          </p:cNvPr>
          <p:cNvSpPr>
            <a:spLocks xmlns:a="http://schemas.openxmlformats.org/drawingml/2006/main" noGrp="1"/>
          </p:cNvSpPr>
          <p:nvPr/>
        </p:nvSpPr>
        <p:spPr>
          <a:xfrm xmlns:a="http://schemas.openxmlformats.org/drawingml/2006/main">
            <a:off x="7769860" y="3038475"/>
            <a:ext cx="2273935" cy="201295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17" name="直接连接符 116">
            <a:extLst xmlns:a="http://schemas.openxmlformats.org/drawingml/2006/main">
              <a:ext uri="{FF2B5EF4-FFF2-40B4-BE49-F238E27FC236}">
                <a16:creationId xmlns:a16="http://schemas.microsoft.com/office/drawing/2014/main" id="{D766F5DC-978B-48CB-A1D2-4D7429EA93FC}"/>
              </a:ext>
            </a:extLst>
          </p:cNvPr>
          <p:cNvSpPr>
            <a:spLocks xmlns:a="http://schemas.openxmlformats.org/drawingml/2006/main" noGrp="1"/>
          </p:cNvSpPr>
          <p:nvPr/>
        </p:nvSpPr>
        <p:spPr>
          <a:xfrm xmlns:a="http://schemas.openxmlformats.org/drawingml/2006/main">
            <a:off x="7179310" y="3667125"/>
            <a:ext cx="2172335" cy="190500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18" name="直接连接符 117">
            <a:extLst xmlns:a="http://schemas.openxmlformats.org/drawingml/2006/main">
              <a:ext uri="{FF2B5EF4-FFF2-40B4-BE49-F238E27FC236}">
                <a16:creationId xmlns:a16="http://schemas.microsoft.com/office/drawing/2014/main" id="{D322E485-AE62-4704-ACAC-CF3DA4F06BA3}"/>
              </a:ext>
            </a:extLst>
          </p:cNvPr>
          <p:cNvSpPr>
            <a:spLocks xmlns:a="http://schemas.openxmlformats.org/drawingml/2006/main" noGrp="1"/>
          </p:cNvSpPr>
          <p:nvPr/>
        </p:nvSpPr>
        <p:spPr>
          <a:xfrm xmlns:a="http://schemas.openxmlformats.org/drawingml/2006/main">
            <a:off x="7486015" y="3374390"/>
            <a:ext cx="2273935" cy="2012950"/>
          </a:xfrm>
          <a:prstGeom xmlns:a="http://schemas.openxmlformats.org/drawingml/2006/main" prst="line">
            <a:avLst/>
          </a:prstGeom>
        </p:spPr>
        <p:style>
          <a:lnRef xmlns:a="http://schemas.openxmlformats.org/drawingml/2006/main" idx="3">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cxnSp>
        <p:nvCxnSpPr>
          <p:cNvPr id="164" name="直接箭头连接符 118"/>
          <p:cNvCxnSpPr/>
          <p:nvPr/>
        </p:nvCxnSpPr>
        <p:spPr>
          <a:xfrm xmlns:a="http://schemas.openxmlformats.org/drawingml/2006/main" flipV="1">
            <a:off x="9491345" y="4816475"/>
            <a:ext cx="279400" cy="317500"/>
          </a:xfrm>
          <a:prstGeom xmlns:a="http://schemas.openxmlformats.org/drawingml/2006/main" prst="straightConnector1">
            <a:avLst/>
          </a:prstGeom>
          <a:ln xmlns:a="http://schemas.openxmlformats.org/drawingml/2006/main">
            <a:solidFill>
              <a:srgbClr val="C00000"/>
            </a:solidFill>
            <a:tailEnd type="arrow"/>
          </a:ln>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cxnSp>
        <p:nvCxnSpPr>
          <p:cNvPr id="165" name="直接箭头连接符 120"/>
          <p:cNvCxnSpPr/>
          <p:nvPr/>
        </p:nvCxnSpPr>
        <p:spPr>
          <a:xfrm xmlns:a="http://schemas.openxmlformats.org/drawingml/2006/main" flipH="1">
            <a:off x="9199245" y="5133975"/>
            <a:ext cx="292100" cy="342900"/>
          </a:xfrm>
          <a:prstGeom xmlns:a="http://schemas.openxmlformats.org/drawingml/2006/main" prst="straightConnector1">
            <a:avLst/>
          </a:prstGeom>
          <a:ln xmlns:a="http://schemas.openxmlformats.org/drawingml/2006/main">
            <a:solidFill>
              <a:srgbClr val="C00000"/>
            </a:solidFill>
            <a:tailEnd type="arrow"/>
          </a:ln>
        </p:spPr>
        <p:style>
          <a:lnRef xmlns:a="http://schemas.openxmlformats.org/drawingml/2006/main" idx="2">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cxnSp>
      <p:sp>
        <p:nvSpPr>
          <p:cNvPr id="122" name="文本框 121">
            <a:extLst xmlns:a="http://schemas.openxmlformats.org/drawingml/2006/main">
              <a:ext uri="{FF2B5EF4-FFF2-40B4-BE49-F238E27FC236}">
                <a16:creationId xmlns:a16="http://schemas.microsoft.com/office/drawing/2014/main" id="{9ACAFD3F-C70A-41BD-B459-21B07C2DF920}"/>
              </a:ext>
            </a:extLst>
          </p:cNvPr>
          <p:cNvSpPr>
            <a:spLocks xmlns:a="http://schemas.openxmlformats.org/drawingml/2006/main" noGrp="1"/>
          </p:cNvSpPr>
          <p:nvPr/>
        </p:nvSpPr>
        <p:spPr>
          <a:xfrm xmlns:a="http://schemas.openxmlformats.org/drawingml/2006/main">
            <a:off x="7402195" y="2621280"/>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𝐻</m:t>
                      </m:r>
                    </m:e>
                    <m:sub>
                      <m:r>
                        <a:rPr xmlns:a="http://schemas.openxmlformats.org/drawingml/2006/main" lang="en-US" i="1">
                          <a:latin typeface="Cambria Math"/>
                          <a:ea typeface="Cambria Math"/>
                          <a:cs typeface="Cambria Math"/>
                        </a:rPr>
                        <m:t>1</m:t>
                      </m:r>
                    </m:sub>
                  </m:sSub>
                </m:oMath>
              </m:oMathPara>
            </a14:m>
            <a:endParaRPr/>
          </a:p>
        </p:txBody>
      </p:sp>
      <p:sp>
        <p:nvSpPr>
          <p:cNvPr id="123" name="文本框 122">
            <a:extLst xmlns:a="http://schemas.openxmlformats.org/drawingml/2006/main">
              <a:ext uri="{FF2B5EF4-FFF2-40B4-BE49-F238E27FC236}">
                <a16:creationId xmlns:a16="http://schemas.microsoft.com/office/drawing/2014/main" id="{669772DE-2615-44C9-9772-8E92A20209BD}"/>
              </a:ext>
            </a:extLst>
          </p:cNvPr>
          <p:cNvSpPr>
            <a:spLocks xmlns:a="http://schemas.openxmlformats.org/drawingml/2006/main" noGrp="1"/>
          </p:cNvSpPr>
          <p:nvPr/>
        </p:nvSpPr>
        <p:spPr>
          <a:xfrm xmlns:a="http://schemas.openxmlformats.org/drawingml/2006/main">
            <a:off x="7103110" y="2990215"/>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r>
                    <a:rPr xmlns:a="http://schemas.openxmlformats.org/drawingml/2006/main" lang="en-US" i="1">
                      <a:latin typeface="Cambria Math"/>
                      <a:ea typeface="Cambria Math"/>
                      <a:cs typeface="Cambria Math"/>
                    </a:rPr>
                    <m:t>𝐻</m:t>
                  </m:r>
                </m:oMath>
              </m:oMathPara>
            </a14:m>
            <a:endParaRPr/>
          </a:p>
        </p:txBody>
      </p:sp>
      <p:sp>
        <p:nvSpPr>
          <p:cNvPr id="124" name="文本框 123">
            <a:extLst xmlns:a="http://schemas.openxmlformats.org/drawingml/2006/main">
              <a:ext uri="{FF2B5EF4-FFF2-40B4-BE49-F238E27FC236}">
                <a16:creationId xmlns:a16="http://schemas.microsoft.com/office/drawing/2014/main" id="{1ED0B341-463B-4053-B4DC-970E86B8F8C9}"/>
              </a:ext>
            </a:extLst>
          </p:cNvPr>
          <p:cNvSpPr>
            <a:spLocks xmlns:a="http://schemas.openxmlformats.org/drawingml/2006/main" noGrp="1"/>
          </p:cNvSpPr>
          <p:nvPr/>
        </p:nvSpPr>
        <p:spPr>
          <a:xfrm xmlns:a="http://schemas.openxmlformats.org/drawingml/2006/main">
            <a:off x="6760845" y="3281680"/>
            <a:ext cx="4023995" cy="2914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𝐻</m:t>
                      </m:r>
                    </m:e>
                    <m:sub>
                      <m:r>
                        <a:rPr xmlns:a="http://schemas.openxmlformats.org/drawingml/2006/main" lang="en-US" i="1">
                          <a:latin typeface="Cambria Math"/>
                          <a:ea typeface="Cambria Math"/>
                          <a:cs typeface="Cambria Math"/>
                        </a:rPr>
                        <m:t>2</m:t>
                      </m:r>
                    </m:sub>
                  </m:sSub>
                </m:oMath>
              </m:oMathPara>
            </a14:m>
            <a:endParaRPr/>
          </a:p>
        </p:txBody>
      </p:sp>
      <p:sp>
        <p:nvSpPr>
          <p:cNvPr id="127" name="直接连接符 126">
            <a:extLst xmlns:a="http://schemas.openxmlformats.org/drawingml/2006/main">
              <a:ext uri="{FF2B5EF4-FFF2-40B4-BE49-F238E27FC236}">
                <a16:creationId xmlns:a16="http://schemas.microsoft.com/office/drawing/2014/main" id="{74846E99-1ED6-43E5-AF1F-30EE4E242602}"/>
              </a:ext>
            </a:extLst>
          </p:cNvPr>
          <p:cNvSpPr>
            <a:spLocks xmlns:a="http://schemas.openxmlformats.org/drawingml/2006/main" noGrp="1"/>
          </p:cNvSpPr>
          <p:nvPr/>
        </p:nvSpPr>
        <p:spPr>
          <a:xfrm xmlns:a="http://schemas.openxmlformats.org/drawingml/2006/main">
            <a:off x="7896860" y="3165475"/>
            <a:ext cx="2273935" cy="201295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128" name="直接连接符 127">
            <a:extLst xmlns:a="http://schemas.openxmlformats.org/drawingml/2006/main">
              <a:ext uri="{FF2B5EF4-FFF2-40B4-BE49-F238E27FC236}">
                <a16:creationId xmlns:a16="http://schemas.microsoft.com/office/drawing/2014/main" id="{53EC7ED9-B684-499D-B74B-652490A647B9}"/>
              </a:ext>
            </a:extLst>
          </p:cNvPr>
          <p:cNvSpPr>
            <a:spLocks xmlns:a="http://schemas.openxmlformats.org/drawingml/2006/main" noGrp="1"/>
          </p:cNvSpPr>
          <p:nvPr/>
        </p:nvSpPr>
        <p:spPr>
          <a:xfrm xmlns:a="http://schemas.openxmlformats.org/drawingml/2006/main">
            <a:off x="7306310" y="3794125"/>
            <a:ext cx="2172335" cy="1905000"/>
          </a:xfrm>
          <a:prstGeom xmlns:a="http://schemas.openxmlformats.org/drawingml/2006/main" prst="line">
            <a:avLst/>
          </a:prstGeom>
          <a:ln xmlns:a="http://schemas.openxmlformats.org/drawingml/2006/main" w="19050">
            <a:solidFill>
              <a:schemeClr val="accent1"/>
            </a:solidFill>
            <a:prstDash val="dash"/>
          </a:ln>
        </p:spPr>
        <p:style>
          <a:lnRef xmlns:a="http://schemas.openxmlformats.org/drawingml/2006/main" idx="0">
            <a:schemeClr val="accent1"/>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sp>
      <p:sp>
        <p:nvSpPr>
          <p:cNvPr id="94" name="文本框 93">
            <a:extLst xmlns:a="http://schemas.openxmlformats.org/drawingml/2006/main">
              <a:ext uri="{FF2B5EF4-FFF2-40B4-BE49-F238E27FC236}">
                <a16:creationId xmlns:a16="http://schemas.microsoft.com/office/drawing/2014/main" id="{1914491B-3A4C-4752-83AC-67AAE995BE2F}"/>
              </a:ext>
            </a:extLst>
          </p:cNvPr>
          <p:cNvSpPr>
            <a:spLocks xmlns:a="http://schemas.openxmlformats.org/drawingml/2006/main" noGrp="1"/>
          </p:cNvSpPr>
          <p:nvPr/>
        </p:nvSpPr>
        <p:spPr>
          <a:xfrm xmlns:a="http://schemas.openxmlformats.org/drawingml/2006/main">
            <a:off x="10492105" y="2306955"/>
            <a:ext cx="4064000" cy="370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oMath>
              </m:oMathPara>
            </a14:m>
            <a:endParaRPr/>
          </a:p>
        </p:txBody>
      </p:sp>
      <p:sp>
        <p:nvSpPr>
          <p:cNvPr id="95" name="文本框 94">
            <a:extLst xmlns:a="http://schemas.openxmlformats.org/drawingml/2006/main">
              <a:ext uri="{FF2B5EF4-FFF2-40B4-BE49-F238E27FC236}">
                <a16:creationId xmlns:a16="http://schemas.microsoft.com/office/drawing/2014/main" id="{F2E8A47D-7B40-4191-A345-12C8A217D236}"/>
              </a:ext>
            </a:extLst>
          </p:cNvPr>
          <p:cNvSpPr>
            <a:spLocks xmlns:a="http://schemas.openxmlformats.org/drawingml/2006/main" noGrp="1"/>
          </p:cNvSpPr>
          <p:nvPr/>
        </p:nvSpPr>
        <p:spPr>
          <a:xfrm xmlns:a="http://schemas.openxmlformats.org/drawingml/2006/main">
            <a:off x="10492105" y="2621280"/>
            <a:ext cx="4064000" cy="370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left"/>
                </m:oMathParaPr>
                <m:oMath>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=−1</m:t>
                  </m:r>
                </m:oMath>
              </m:oMathPara>
            </a14:m>
            <a:endParaRPr/>
          </a:p>
        </p:txBody>
      </p:sp>
      <p:sp>
        <p:nvSpPr>
          <p:cNvPr id="30" name="文本框 29">
            <a:extLst xmlns:a="http://schemas.openxmlformats.org/drawingml/2006/main">
              <a:ext uri="{FF2B5EF4-FFF2-40B4-BE49-F238E27FC236}">
                <a16:creationId xmlns:a16="http://schemas.microsoft.com/office/drawing/2014/main" id="{BEA79E90-A699-45F8-8773-D17BC83FE204}"/>
              </a:ext>
            </a:extLst>
          </p:cNvPr>
          <p:cNvSpPr>
            <a:spLocks xmlns:a="http://schemas.openxmlformats.org/drawingml/2006/main" noGrp="1"/>
          </p:cNvSpPr>
          <p:nvPr/>
        </p:nvSpPr>
        <p:spPr>
          <a:xfrm xmlns:a="http://schemas.openxmlformats.org/drawingml/2006/main">
            <a:off x="8829040" y="5335270"/>
            <a:ext cx="2597150" cy="32131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sz="1400" i="1">
                      <a:latin typeface="Cambria Math"/>
                      <a:ea typeface="Cambria Math"/>
                      <a:cs typeface="Cambria Math"/>
                    </a:rPr>
                    <m:t>𝑀𝑎𝑟𝑔𝑖𝑛</m:t>
                  </m:r>
                  <m:r>
                    <a:rPr xmlns:a="http://schemas.openxmlformats.org/drawingml/2006/main" lang="en-US" sz="1400" i="1">
                      <a:latin typeface="Cambria Math"/>
                      <a:ea typeface="Cambria Math"/>
                      <a:cs typeface="Cambria Math"/>
                    </a:rPr>
                    <m:t>=2/||</m:t>
                  </m:r>
                  <m:r>
                    <a:rPr xmlns:a="http://schemas.openxmlformats.org/drawingml/2006/main" lang="en-US" sz="1400" b="1" i="1">
                      <a:latin typeface="Cambria Math"/>
                      <a:ea typeface="Cambria Math"/>
                      <a:cs typeface="Cambria Math"/>
                    </a:rPr>
                    <m:t>𝒘</m:t>
                  </m:r>
                  <m:r>
                    <a:rPr xmlns:a="http://schemas.openxmlformats.org/drawingml/2006/main" lang="en-US" sz="1400" i="1">
                      <a:latin typeface="Cambria Math"/>
                      <a:ea typeface="Cambria Math"/>
                      <a:cs typeface="Cambria Math"/>
                    </a:rPr>
                    <m:t>||</m:t>
                  </m:r>
                </m:oMath>
              </m:oMathPara>
            </a14:m>
            <a:endParaRPr sz="1400">
              <a:latin typeface="DejaVu Math TeX Gyre"/>
              <a:ea typeface="DejaVu Math TeX Gyre"/>
              <a:cs typeface="DejaVu Math TeX Gyre"/>
            </a:endParaRPr>
          </a:p>
        </p:txBody>
      </p:sp>
      <p:sp>
        <p:nvSpPr>
          <p:cNvPr id="52" name="文本框 51">
            <a:extLst xmlns:a="http://schemas.openxmlformats.org/drawingml/2006/main">
              <a:ext uri="{FF2B5EF4-FFF2-40B4-BE49-F238E27FC236}">
                <a16:creationId xmlns:a16="http://schemas.microsoft.com/office/drawing/2014/main" id="{E83513A2-2E9E-4E8C-A25E-92FECD97B6B2}"/>
              </a:ext>
            </a:extLst>
          </p:cNvPr>
          <p:cNvSpPr>
            <a:spLocks xmlns:a="http://schemas.openxmlformats.org/drawingml/2006/main" noGrp="1"/>
          </p:cNvSpPr>
          <p:nvPr/>
        </p:nvSpPr>
        <p:spPr>
          <a:xfrm xmlns:a="http://schemas.openxmlformats.org/drawingml/2006/main">
            <a:off x="354965" y="6109970"/>
            <a:ext cx="5245735" cy="53911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𝑓</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𝑥</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𝑠𝑔𝑛</m:t>
                  </m:r>
                  <m:r>
                    <a:rPr xmlns:a="http://schemas.openxmlformats.org/drawingml/2006/main" lang="en-US" i="1">
                      <a:latin typeface="Cambria Math"/>
                      <a:ea typeface="Cambria Math"/>
                      <a:cs typeface="Cambria Math"/>
                    </a:rPr>
                    <m:t>((</m:t>
                  </m:r>
                  <m:sSup>
                    <m:e>
                      <m:r>
                        <a:rPr xmlns:a="http://schemas.openxmlformats.org/drawingml/2006/main" lang="en-US" b="1" i="1">
                          <a:latin typeface="Cambria Math"/>
                          <a:ea typeface="Cambria Math"/>
                          <a:cs typeface="Cambria Math"/>
                        </a:rPr>
                        <m:t>𝒘</m:t>
                      </m:r>
                    </m:e>
                    <m:sup>
                      <m:r>
                        <a:rPr xmlns:a="http://schemas.openxmlformats.org/drawingml/2006/main" lang="en-US" b="1" i="1">
                          <a:latin typeface="Cambria Math"/>
                          <a:ea typeface="Cambria Math"/>
                          <a:cs typeface="Cambria Math"/>
                        </a:rPr>
                        <m:t>∗</m:t>
                      </m:r>
                    </m:sup>
                  </m:sSup>
                  <m:r>
                    <a:rPr xmlns:a="http://schemas.openxmlformats.org/drawingml/2006/main" lang="en-US" b="1" i="1">
                      <a:latin typeface="Cambria Math"/>
                      <a:ea typeface="Cambria Math"/>
                      <a:cs typeface="Cambria Math"/>
                    </a:rPr>
                    <m:t>·</m:t>
                  </m:r>
                  <m:r>
                    <a:rPr xmlns:a="http://schemas.openxmlformats.org/drawingml/2006/main" lang="en-US" b="1" i="1">
                      <a:latin typeface="Cambria Math"/>
                      <a:ea typeface="Cambria Math"/>
                      <a:cs typeface="Cambria Math"/>
                    </a:rPr>
                    <m:t>𝒙</m:t>
                  </m:r>
                  <m:r>
                    <a:rPr xmlns:a="http://schemas.openxmlformats.org/drawingml/2006/main" lang="en-US" i="1">
                      <a:latin typeface="Cambria Math"/>
                      <a:ea typeface="Cambria Math"/>
                      <a:cs typeface="Cambria Math"/>
                    </a:rPr>
                    <m:t>)+</m:t>
                  </m:r>
                  <m:sSup>
                    <m:e>
                      <m:r>
                        <a:rPr xmlns:a="http://schemas.openxmlformats.org/drawingml/2006/main" lang="en-US" i="1">
                          <a:latin typeface="Cambria Math"/>
                          <a:ea typeface="Cambria Math"/>
                          <a:cs typeface="Cambria Math"/>
                        </a:rPr>
                        <m:t>𝑏</m:t>
                      </m:r>
                    </m:e>
                    <m:sup>
                      <m:r>
                        <a:rPr xmlns:a="http://schemas.openxmlformats.org/drawingml/2006/main" lang="en-US" i="1">
                          <a:latin typeface="Cambria Math"/>
                          <a:ea typeface="Cambria Math"/>
                          <a:cs typeface="Cambria Math"/>
                        </a:rPr>
                        <m:t>∗</m:t>
                      </m:r>
                    </m:sup>
                  </m:sSup>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𝑥</m:t>
                  </m:r>
                  <m:r>
                    <a:rPr xmlns:a="http://schemas.openxmlformats.org/drawingml/2006/main" lang="en-US" i="1">
                      <a:latin typeface="Cambria Math"/>
                      <a:ea typeface="Cambria Math"/>
                      <a:cs typeface="Cambria Math"/>
                    </a:rPr>
                    <m:t>∈</m:t>
                  </m:r>
                  <m:sSup>
                    <m:e>
                      <m:r>
                        <a:rPr xmlns:a="http://schemas.openxmlformats.org/drawingml/2006/main" lang="en-US" i="1">
                          <a:latin typeface="Cambria Math"/>
                          <a:ea typeface="Cambria Math"/>
                          <a:cs typeface="Cambria Math"/>
                        </a:rPr>
                        <m:t>𝑅</m:t>
                      </m:r>
                    </m:e>
                    <m:sup>
                      <m:r>
                        <a:rPr xmlns:a="http://schemas.openxmlformats.org/drawingml/2006/main" lang="en-US" i="1">
                          <a:latin typeface="Cambria Math"/>
                          <a:ea typeface="Cambria Math"/>
                          <a:cs typeface="Cambria Math"/>
                        </a:rPr>
                        <m:t>𝑁</m:t>
                      </m:r>
                    </m:sup>
                  </m:sSup>
                </m:oMath>
              </m:oMathPara>
            </a14:m>
            <a:endParaRPr>
              <a:latin typeface="DejaVu Math TeX Gyre"/>
              <a:ea typeface="DejaVu Math TeX Gyre"/>
              <a:cs typeface="DejaVu Math TeX Gyre"/>
            </a:endParaRPr>
          </a:p>
        </p:txBody>
      </p:sp>
      <p:sp>
        <p:nvSpPr>
          <p:cNvPr id="51" name="文本框 50">
            <a:extLst xmlns:a="http://schemas.openxmlformats.org/drawingml/2006/main">
              <a:ext uri="{FF2B5EF4-FFF2-40B4-BE49-F238E27FC236}">
                <a16:creationId xmlns:a16="http://schemas.microsoft.com/office/drawing/2014/main" id="{554A28EC-B23E-4A3B-A50B-B95BD927B063}"/>
              </a:ext>
            </a:extLst>
          </p:cNvPr>
          <p:cNvSpPr>
            <a:spLocks xmlns:a="http://schemas.openxmlformats.org/drawingml/2006/main" noGrp="1"/>
          </p:cNvSpPr>
          <p:nvPr/>
        </p:nvSpPr>
        <p:spPr>
          <a:xfrm xmlns:a="http://schemas.openxmlformats.org/drawingml/2006/main">
            <a:off x="1135380" y="5762116"/>
            <a:ext cx="2964815" cy="51816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b="1">
                <a:latin typeface="DejaVu Math TeX Gyre"/>
                <a:ea typeface="DejaVu Math TeX Gyre"/>
                <a:cs typeface="DejaVu Math TeX Gyre"/>
              </a:rPr>
              <a:t>得到最优分类函数</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𝑓</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𝑥</m:t>
                  </m:r>
                  <m:r>
                    <a:rPr xmlns:a="http://schemas.openxmlformats.org/drawingml/2006/main" lang="en-US" i="1">
                      <a:latin typeface="Cambria Math"/>
                      <a:ea typeface="Cambria Math"/>
                      <a:cs typeface="Cambria Math"/>
                    </a:rPr>
                    <m:t>)</m:t>
                  </m:r>
                </m:oMath>
              </m:oMathPara>
            </a14:m>
            <a:r>
              <a:rPr b="1">
                <a:latin typeface="DejaVu Math TeX Gyre"/>
                <a:ea typeface="DejaVu Math TeX Gyre"/>
                <a:cs typeface="DejaVu Math TeX Gyre"/>
              </a:rPr>
              <a:t>为</a:t>
            </a:r>
            <a:r>
              <a:rPr>
                <a:latin typeface="DejaVu Math TeX Gyre"/>
                <a:ea typeface="DejaVu Math TeX Gyre"/>
                <a:cs typeface="DejaVu Math TeX Gyre"/>
              </a:rPr>
              <a:t>:</a:t>
            </a:r>
          </a:p>
        </p:txBody>
      </p:sp>
      <p:sp>
        <p:nvSpPr>
          <p:cNvPr id="19" name="文本框 18">
            <a:extLst xmlns:a="http://schemas.openxmlformats.org/drawingml/2006/main">
              <a:ext uri="{FF2B5EF4-FFF2-40B4-BE49-F238E27FC236}">
                <a16:creationId xmlns:a16="http://schemas.microsoft.com/office/drawing/2014/main" id="{4518A40B-1F90-40E7-BF0F-8EC2A85A6F89}"/>
              </a:ext>
            </a:extLst>
          </p:cNvPr>
          <p:cNvSpPr>
            <a:spLocks xmlns:a="http://schemas.openxmlformats.org/drawingml/2006/main" noGrp="1"/>
          </p:cNvSpPr>
          <p:nvPr/>
        </p:nvSpPr>
        <p:spPr>
          <a:xfrm xmlns:a="http://schemas.openxmlformats.org/drawingml/2006/main">
            <a:off x="1268730" y="3164840"/>
            <a:ext cx="3417570" cy="7797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b="1">
                <a:latin typeface="DejaVu Math TeX Gyre"/>
                <a:ea typeface="DejaVu Math TeX Gyre"/>
                <a:cs typeface="DejaVu Math TeX Gyre"/>
              </a:rPr>
              <a:t>当</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Sub>
                </m:oMath>
              </m:oMathPara>
            </a14:m>
            <a:r>
              <a:rPr b="1">
                <a:latin typeface="DejaVu Math TeX Gyre"/>
                <a:ea typeface="DejaVu Math TeX Gyre"/>
                <a:cs typeface="DejaVu Math TeX Gyre"/>
              </a:rPr>
              <a:t>不等于</a:t>
            </a:r>
            <a:r>
              <a:rPr>
                <a:latin typeface="DejaVu Math TeX Gyre"/>
                <a:ea typeface="DejaVu Math TeX Gyre"/>
                <a:cs typeface="DejaVu Math TeX Gyre"/>
              </a:rPr>
              <a:t>0</a:t>
            </a:r>
            <a:r>
              <a:rPr b="1">
                <a:latin typeface="DejaVu Math TeX Gyre"/>
                <a:ea typeface="DejaVu Math TeX Gyre"/>
                <a:cs typeface="DejaVu Math TeX Gyre"/>
              </a:rPr>
              <a:t>时</a:t>
            </a:r>
            <a:r>
              <a:rPr>
                <a:latin typeface="DejaVu Math TeX Gyre"/>
                <a:ea typeface="DejaVu Math TeX Gyre"/>
                <a:cs typeface="DejaVu Math TeX Gyre"/>
              </a:rPr>
              <a:t>，</a:t>
            </a:r>
            <a:r>
              <a:rPr b="1">
                <a:latin typeface="DejaVu Math TeX Gyre"/>
                <a:ea typeface="DejaVu Math TeX Gyre"/>
                <a:cs typeface="DejaVu Math TeX Gyre"/>
              </a:rPr>
              <a:t>其对应的</a:t>
            </a:r>
          </a:p>
          <a:p xmlns:a="http://schemas.openxmlformats.org/drawingml/2006/main">
            <a:pPr algn="l">
              <a:lnSpc>
                <a:spcPct val="120000"/>
              </a:lnSpc>
              <a:buNone/>
            </a:pPr>
            <a:r>
              <a:rPr b="1">
                <a:latin typeface="DejaVu Math TeX Gyre"/>
                <a:ea typeface="DejaVu Math TeX Gyre"/>
                <a:cs typeface="DejaVu Math TeX Gyre"/>
              </a:rPr>
              <a:t>样本向量</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𝑥</m:t>
                      </m:r>
                    </m:e>
                    <m:sub>
                      <m:r>
                        <a:rPr xmlns:a="http://schemas.openxmlformats.org/drawingml/2006/main" lang="en-US" i="1">
                          <a:latin typeface="Cambria Math"/>
                          <a:ea typeface="Cambria Math"/>
                          <a:cs typeface="Cambria Math"/>
                        </a:rPr>
                        <m:t>𝑖</m:t>
                      </m:r>
                    </m:sub>
                  </m:sSub>
                </m:oMath>
              </m:oMathPara>
            </a14:m>
            <a:r>
              <a:rPr b="1">
                <a:latin typeface="DejaVu Math TeX Gyre"/>
                <a:ea typeface="DejaVu Math TeX Gyre"/>
                <a:cs typeface="DejaVu Math TeX Gyre"/>
              </a:rPr>
              <a:t>称为</a:t>
            </a:r>
            <a:r>
              <a:rPr b="1">
                <a:solidFill>
                  <a:srgbClr val="C00000"/>
                </a:solidFill>
                <a:latin typeface="DejaVu Math TeX Gyre"/>
                <a:ea typeface="DejaVu Math TeX Gyre"/>
                <a:cs typeface="DejaVu Math TeX Gyre"/>
              </a:rPr>
              <a:t>支持向量</a:t>
            </a:r>
            <a:endParaRPr>
              <a:solidFill>
                <a:schemeClr val="tx1"/>
              </a:solidFill>
              <a:latin typeface="DejaVu Math TeX Gyre"/>
              <a:ea typeface="DejaVu Math TeX Gyre"/>
              <a:cs typeface="DejaVu Math TeX Gyre"/>
            </a:endParaRPr>
          </a:p>
        </p:txBody>
      </p:sp>
      <p:sp>
        <p:nvSpPr>
          <p:cNvPr id="20" name="椭圆 19">
            <a:extLst xmlns:a="http://schemas.openxmlformats.org/drawingml/2006/main">
              <a:ext uri="{FF2B5EF4-FFF2-40B4-BE49-F238E27FC236}">
                <a16:creationId xmlns:a16="http://schemas.microsoft.com/office/drawing/2014/main" id="{225AA961-CCF3-4C1D-B341-0539717576F8}"/>
              </a:ext>
            </a:extLst>
          </p:cNvPr>
          <p:cNvSpPr>
            <a:spLocks xmlns:a="http://schemas.openxmlformats.org/drawingml/2006/main" noGrp="1"/>
          </p:cNvSpPr>
          <p:nvPr/>
        </p:nvSpPr>
        <p:spPr>
          <a:xfrm xmlns:a="http://schemas.openxmlformats.org/drawingml/2006/main">
            <a:off x="8677910" y="3839845"/>
            <a:ext cx="104775" cy="104775"/>
          </a:xfrm>
          <a:prstGeom xmlns:a="http://schemas.openxmlformats.org/drawingml/2006/main" prst="ellipse">
            <a:avLst/>
          </a:prstGeom>
          <a:solidFill xmlns:a="http://schemas.openxmlformats.org/drawingml/2006/main">
            <a:srgbClr val="C00000"/>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rgbClr val="C00000"/>
              </a:solidFill>
              <a:highlight>
                <a:srgbClr val="FFFF00"/>
              </a:highlight>
            </a:endParaRPr>
          </a:p>
        </p:txBody>
      </p:sp>
      <p:sp>
        <p:nvSpPr>
          <p:cNvPr id="21" name="椭圆 20">
            <a:extLst xmlns:a="http://schemas.openxmlformats.org/drawingml/2006/main">
              <a:ext uri="{FF2B5EF4-FFF2-40B4-BE49-F238E27FC236}">
                <a16:creationId xmlns:a16="http://schemas.microsoft.com/office/drawing/2014/main" id="{33BB8E56-8FCE-4C27-A449-C2EBC33CF6F9}"/>
              </a:ext>
            </a:extLst>
          </p:cNvPr>
          <p:cNvSpPr>
            <a:spLocks xmlns:a="http://schemas.openxmlformats.org/drawingml/2006/main" noGrp="1"/>
          </p:cNvSpPr>
          <p:nvPr/>
        </p:nvSpPr>
        <p:spPr>
          <a:xfrm xmlns:a="http://schemas.openxmlformats.org/drawingml/2006/main">
            <a:off x="9163050" y="4281170"/>
            <a:ext cx="104775" cy="104775"/>
          </a:xfrm>
          <a:prstGeom xmlns:a="http://schemas.openxmlformats.org/drawingml/2006/main" prst="ellipse">
            <a:avLst/>
          </a:prstGeom>
          <a:solidFill xmlns:a="http://schemas.openxmlformats.org/drawingml/2006/main">
            <a:srgbClr val="C00000"/>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rgbClr val="C00000"/>
              </a:solidFill>
              <a:highlight>
                <a:srgbClr val="FFFF00"/>
              </a:highlight>
            </a:endParaRPr>
          </a:p>
        </p:txBody>
      </p:sp>
      <p:sp>
        <p:nvSpPr>
          <p:cNvPr id="22" name="椭圆 21">
            <a:extLst xmlns:a="http://schemas.openxmlformats.org/drawingml/2006/main">
              <a:ext uri="{FF2B5EF4-FFF2-40B4-BE49-F238E27FC236}">
                <a16:creationId xmlns:a16="http://schemas.microsoft.com/office/drawing/2014/main" id="{8B70A8F5-91D2-4F52-978E-6925C91DA32F}"/>
              </a:ext>
            </a:extLst>
          </p:cNvPr>
          <p:cNvSpPr>
            <a:spLocks xmlns:a="http://schemas.openxmlformats.org/drawingml/2006/main" noGrp="1"/>
          </p:cNvSpPr>
          <p:nvPr/>
        </p:nvSpPr>
        <p:spPr>
          <a:xfrm xmlns:a="http://schemas.openxmlformats.org/drawingml/2006/main">
            <a:off x="8390255" y="4722495"/>
            <a:ext cx="104775" cy="104775"/>
          </a:xfrm>
          <a:prstGeom xmlns:a="http://schemas.openxmlformats.org/drawingml/2006/main" prst="ellipse">
            <a:avLst/>
          </a:prstGeom>
          <a:solidFill xmlns:a="http://schemas.openxmlformats.org/drawingml/2006/main">
            <a:srgbClr val="C00000"/>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rgbClr val="C00000"/>
              </a:solidFill>
              <a:highlight>
                <a:srgbClr val="FFFF00"/>
              </a:highlight>
            </a:endParaRPr>
          </a:p>
        </p:txBody>
      </p:sp>
      <p:sp>
        <p:nvSpPr>
          <p:cNvPr id="23" name="椭圆 22">
            <a:extLst xmlns:a="http://schemas.openxmlformats.org/drawingml/2006/main">
              <a:ext uri="{FF2B5EF4-FFF2-40B4-BE49-F238E27FC236}">
                <a16:creationId xmlns:a16="http://schemas.microsoft.com/office/drawing/2014/main" id="{EF539388-1019-45EB-A498-A9609032C621}"/>
              </a:ext>
            </a:extLst>
          </p:cNvPr>
          <p:cNvSpPr>
            <a:spLocks xmlns:a="http://schemas.openxmlformats.org/drawingml/2006/main" noGrp="1"/>
          </p:cNvSpPr>
          <p:nvPr/>
        </p:nvSpPr>
        <p:spPr>
          <a:xfrm xmlns:a="http://schemas.openxmlformats.org/drawingml/2006/main">
            <a:off x="7599680" y="4058920"/>
            <a:ext cx="104775" cy="104775"/>
          </a:xfrm>
          <a:prstGeom xmlns:a="http://schemas.openxmlformats.org/drawingml/2006/main" prst="ellipse">
            <a:avLst/>
          </a:prstGeom>
          <a:solidFill xmlns:a="http://schemas.openxmlformats.org/drawingml/2006/main">
            <a:srgbClr val="C00000"/>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rgbClr val="C00000"/>
              </a:solidFill>
              <a:highlight>
                <a:srgbClr val="FFFF00"/>
              </a:highlight>
            </a:endParaRPr>
          </a:p>
        </p:txBody>
      </p:sp>
      <p:sp>
        <p:nvSpPr>
          <p:cNvPr id="24" name="文本框 23">
            <a:extLst xmlns:a="http://schemas.openxmlformats.org/drawingml/2006/main">
              <a:ext uri="{FF2B5EF4-FFF2-40B4-BE49-F238E27FC236}">
                <a16:creationId xmlns:a16="http://schemas.microsoft.com/office/drawing/2014/main" id="{01D8C711-2407-4BB2-9A0B-4C32061A7714}"/>
              </a:ext>
            </a:extLst>
          </p:cNvPr>
          <p:cNvSpPr>
            <a:spLocks xmlns:a="http://schemas.openxmlformats.org/drawingml/2006/main" noGrp="1"/>
          </p:cNvSpPr>
          <p:nvPr/>
        </p:nvSpPr>
        <p:spPr>
          <a:xfrm xmlns:a="http://schemas.openxmlformats.org/drawingml/2006/main">
            <a:off x="975995" y="3905885"/>
            <a:ext cx="3710305" cy="51816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a:latin typeface="DejaVu Math TeX Gyre"/>
                <a:ea typeface="DejaVu Math TeX Gyre"/>
                <a:cs typeface="DejaVu Math TeX Gyre"/>
              </a:rPr>
              <a:t>由</a:t>
            </a:r>
            <a:r>
              <a:rPr>
                <a:latin typeface="DejaVu Math TeX Gyre"/>
                <a:ea typeface="DejaVu Math TeX Gyre"/>
                <a:cs typeface="DejaVu Math TeX Gyre"/>
              </a:rPr>
              <a:t>Lagrange</a:t>
            </a:r>
            <a:r>
              <a:rPr>
                <a:latin typeface="DejaVu Math TeX Gyre"/>
                <a:ea typeface="DejaVu Math TeX Gyre"/>
                <a:cs typeface="DejaVu Math TeX Gyre"/>
              </a:rPr>
              <a:t>偏导和</a:t>
            </a:r>
            <a:r>
              <a:rPr>
                <a:latin typeface="DejaVu Math TeX Gyre"/>
                <a:ea typeface="DejaVu Math TeX Gyre"/>
                <a:cs typeface="DejaVu Math TeX Gyre"/>
              </a:rPr>
              <a:t>KKT</a:t>
            </a:r>
            <a:r>
              <a:rPr>
                <a:latin typeface="DejaVu Math TeX Gyre"/>
                <a:ea typeface="DejaVu Math TeX Gyre"/>
                <a:cs typeface="DejaVu Math TeX Gyre"/>
              </a:rPr>
              <a:t>条件，有</a:t>
            </a:r>
            <a:r>
              <a:rPr>
                <a:latin typeface="DejaVu Math TeX Gyre"/>
                <a:ea typeface="DejaVu Math TeX Gyre"/>
                <a:cs typeface="DejaVu Math TeX Gyre"/>
              </a:rPr>
              <a:t>:</a:t>
            </a:r>
          </a:p>
          <a:p xmlns:a="http://schemas.openxmlformats.org/drawingml/2006/main">
            <a:pPr algn="l">
              <a:lnSpc>
                <a:spcPct val="120000"/>
              </a:lnSpc>
              <a:buNone/>
            </a:pPr>
            <a:endParaRPr>
              <a:latin typeface="DejaVu Math TeX Gyre"/>
              <a:ea typeface="DejaVu Math TeX Gyre"/>
              <a:cs typeface="DejaVu Math TeX Gyre"/>
            </a:endParaRPr>
          </a:p>
        </p:txBody>
      </p:sp>
      <p:sp>
        <p:nvSpPr>
          <p:cNvPr id="25" name="文本框 24">
            <a:extLst xmlns:a="http://schemas.openxmlformats.org/drawingml/2006/main">
              <a:ext uri="{FF2B5EF4-FFF2-40B4-BE49-F238E27FC236}">
                <a16:creationId xmlns:a16="http://schemas.microsoft.com/office/drawing/2014/main" id="{4419A724-EE83-4AE9-A410-7DB889A17778}"/>
              </a:ext>
            </a:extLst>
          </p:cNvPr>
          <p:cNvSpPr>
            <a:spLocks xmlns:a="http://schemas.openxmlformats.org/drawingml/2006/main" noGrp="1"/>
          </p:cNvSpPr>
          <p:nvPr/>
        </p:nvSpPr>
        <p:spPr>
          <a:xfrm xmlns:a="http://schemas.openxmlformats.org/drawingml/2006/main">
            <a:off x="423671" y="3859162"/>
            <a:ext cx="5264785" cy="164020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14:m xmlns:a14="http://schemas.microsoft.com/office/drawing/2010/main">
              <m:oMathPara xmlns:m="http://schemas.openxmlformats.org/officeDocument/2006/math">
                <m:oMath>
                  <m:d>
                    <m:dPr>
                      <m:begChr m:val="{"/>
                      <m:grow m:val="off"/>
                    </m:dPr>
                    <m:e>
                      <m:eqArr>
                        <m:e>
                          <m:sSup>
                            <m:e>
                              <m:r>
                                <a:rPr xmlns:a="http://schemas.openxmlformats.org/drawingml/2006/main" lang="en-US" b="1" i="1">
                                  <a:latin typeface="Cambria Math"/>
                                  <a:ea typeface="Cambria Math"/>
                                  <a:cs typeface="Cambria Math"/>
                                </a:rPr>
                                <m:t>𝒘</m:t>
                              </m:r>
                            </m:e>
                            <m:sup>
                              <m:r>
                                <a:rPr xmlns:a="http://schemas.openxmlformats.org/drawingml/2006/main" lang="en-US" b="1" i="1">
                                  <a:latin typeface="Cambria Math"/>
                                  <a:ea typeface="Cambria Math"/>
                                  <a:cs typeface="Cambria Math"/>
                                </a:rPr>
                                <m:t>∗</m:t>
                              </m:r>
                            </m:sup>
                          </m:sSup>
                          <m:r>
                            <a:rPr xmlns:a="http://schemas.openxmlformats.org/drawingml/2006/main" lang="en-US" i="1">
                              <a:latin typeface="Cambria Math"/>
                              <a:ea typeface="Cambria Math"/>
                              <a:cs typeface="Cambria Math"/>
                            </a:rPr>
                            <m:t>=</m:t>
                          </m:r>
                          <m:nary>
                            <m:naryPr>
                              <m:chr m:val="∑"/>
                              <m:limLoc m:val="undOvr"/>
                              <m:subHide m:val="off"/>
                              <m:supHide m:val="on"/>
                            </m:naryPr>
                            <m:sub>
                              <m:sSubSup>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up>
                                  <m:r>
                                    <a:rPr xmlns:a="http://schemas.openxmlformats.org/drawingml/2006/main" lang="en-US" i="1">
                                      <a:latin typeface="Cambria Math"/>
                                      <a:ea typeface="Cambria Math"/>
                                      <a:cs typeface="Cambria Math"/>
                                    </a:rPr>
                                    <m:t>∗</m:t>
                                  </m:r>
                                </m:sup>
                              </m:sSubSup>
                              <m:r>
                                <a:rPr xmlns:a="http://schemas.openxmlformats.org/drawingml/2006/main" lang="en-US" i="1">
                                  <a:latin typeface="Cambria Math"/>
                                  <a:ea typeface="Cambria Math"/>
                                  <a:cs typeface="Cambria Math"/>
                                </a:rPr>
                                <m:t>&gt;0</m:t>
                              </m:r>
                            </m:sub>
                            <m:e>
                              <m:sSubSup>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up>
                                  <m:r>
                                    <a:rPr xmlns:a="http://schemas.openxmlformats.org/drawingml/2006/main" lang="en-US" i="1">
                                      <a:latin typeface="Cambria Math"/>
                                      <a:ea typeface="Cambria Math"/>
                                      <a:cs typeface="Cambria Math"/>
                                    </a:rPr>
                                    <m:t>∗</m:t>
                                  </m:r>
                                </m:sup>
                              </m:sSubSup>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e>
                          </m:nary>
                        </m:e>
                        <m:e>
                          <m:sSup>
                            <m:e>
                              <m:r>
                                <a:rPr xmlns:a="http://schemas.openxmlformats.org/drawingml/2006/main" lang="en-US" i="1">
                                  <a:latin typeface="Cambria Math"/>
                                  <a:ea typeface="Cambria Math"/>
                                  <a:cs typeface="Cambria Math"/>
                                </a:rPr>
                                <m:t>𝑏</m:t>
                              </m:r>
                            </m:e>
                            <m:sup>
                              <m:r>
                                <a:rPr xmlns:a="http://schemas.openxmlformats.org/drawingml/2006/main" lang="en-US" i="1">
                                  <a:latin typeface="Cambria Math"/>
                                  <a:ea typeface="Cambria Math"/>
                                  <a:cs typeface="Cambria Math"/>
                                </a:rPr>
                                <m:t>∗</m:t>
                              </m:r>
                            </m:sup>
                          </m:sSup>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nary>
                            <m:naryPr>
                              <m:chr m:val="∑"/>
                              <m:limLoc m:val="undOvr"/>
                              <m:subHide m:val="off"/>
                              <m:supHide m:val="on"/>
                            </m:naryPr>
                            <m:sub>
                              <m:sSubSup>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up>
                                  <m:r>
                                    <a:rPr xmlns:a="http://schemas.openxmlformats.org/drawingml/2006/main" lang="en-US" i="1">
                                      <a:latin typeface="Cambria Math"/>
                                      <a:ea typeface="Cambria Math"/>
                                      <a:cs typeface="Cambria Math"/>
                                    </a:rPr>
                                    <m:t>∗</m:t>
                                  </m:r>
                                </m:sup>
                              </m:sSubSup>
                              <m:r>
                                <a:rPr xmlns:a="http://schemas.openxmlformats.org/drawingml/2006/main" lang="en-US" i="1">
                                  <a:latin typeface="Cambria Math"/>
                                  <a:ea typeface="Cambria Math"/>
                                  <a:cs typeface="Cambria Math"/>
                                </a:rPr>
                                <m:t>&gt;0</m:t>
                              </m:r>
                            </m:sub>
                            <m:e>
                              <m:sSub>
                                <m:e>
                                  <m:r>
                                    <a:rPr xmlns:a="http://schemas.openxmlformats.org/drawingml/2006/main" lang="en-US" i="1">
                                      <a:latin typeface="Cambria Math"/>
                                      <a:ea typeface="Cambria Math"/>
                                      <a:cs typeface="Cambria Math"/>
                                    </a:rPr>
                                    <m:t>𝑦</m:t>
                                  </m:r>
                                </m:e>
                                <m:sub>
                                  <m:r>
                                    <a:rPr xmlns:a="http://schemas.openxmlformats.org/drawingml/2006/main" lang="en-US" i="1">
                                      <a:latin typeface="Cambria Math"/>
                                      <a:ea typeface="Cambria Math"/>
                                      <a:cs typeface="Cambria Math"/>
                                    </a:rPr>
                                    <m:t>𝑖</m:t>
                                  </m:r>
                                </m:sub>
                              </m:sSub>
                              <m:sSubSup>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𝑖</m:t>
                                  </m:r>
                                </m:sub>
                                <m:sup>
                                  <m:r>
                                    <a:rPr xmlns:a="http://schemas.openxmlformats.org/drawingml/2006/main" lang="en-US" i="1">
                                      <a:latin typeface="Cambria Math"/>
                                      <a:ea typeface="Cambria Math"/>
                                      <a:cs typeface="Cambria Math"/>
                                    </a:rPr>
                                    <m:t>∗</m:t>
                                  </m:r>
                                </m:sup>
                              </m:sSubSup>
                              <m:r>
                                <a:rPr xmlns:a="http://schemas.openxmlformats.org/drawingml/2006/main" lang="en-US"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𝒋</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𝑗</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𝑗</m:t>
                              </m:r>
                              <m:r>
                                <a:rPr xmlns:a="http://schemas.openxmlformats.org/drawingml/2006/main" lang="en-US" i="1">
                                  <a:latin typeface="Cambria Math"/>
                                  <a:ea typeface="Cambria Math"/>
                                  <a:cs typeface="Cambria Math"/>
                                </a:rPr>
                                <m:t>|</m:t>
                              </m:r>
                              <m:sSubSup>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𝑗</m:t>
                                  </m:r>
                                </m:sub>
                                <m:sup>
                                  <m:r>
                                    <a:rPr xmlns:a="http://schemas.openxmlformats.org/drawingml/2006/main" lang="en-US" i="1">
                                      <a:latin typeface="Cambria Math"/>
                                      <a:ea typeface="Cambria Math"/>
                                      <a:cs typeface="Cambria Math"/>
                                    </a:rPr>
                                    <m:t>∗</m:t>
                                  </m:r>
                                </m:sup>
                              </m:sSubSup>
                              <m:r>
                                <a:rPr xmlns:a="http://schemas.openxmlformats.org/drawingml/2006/main" lang="en-US" i="1">
                                  <a:latin typeface="Cambria Math"/>
                                  <a:ea typeface="Cambria Math"/>
                                  <a:cs typeface="Cambria Math"/>
                                </a:rPr>
                                <m:t>&gt;0}</m:t>
                              </m:r>
                            </m:e>
                          </m:nary>
                        </m:e>
                      </m:eqArr>
                    </m:e>
                  </m:d>
                </m:oMath>
              </m:oMathPara>
            </a14:m>
            <a:endParaRPr>
              <a:latin typeface="DejaVu Math TeX Gyre"/>
              <a:ea typeface="DejaVu Math TeX Gyre"/>
              <a:cs typeface="DejaVu Math TeX Gyre"/>
            </a:endParaRPr>
          </a:p>
        </p:txBody>
      </p:sp>
      <p:sp>
        <p:nvSpPr>
          <p:cNvPr id="5" name="文本框 4">
            <a:extLst xmlns:a="http://schemas.openxmlformats.org/drawingml/2006/main">
              <a:ext uri="{FF2B5EF4-FFF2-40B4-BE49-F238E27FC236}">
                <a16:creationId xmlns:a16="http://schemas.microsoft.com/office/drawing/2014/main" id="{15316A08-E9B9-082F-40A9-324C357BD017}"/>
              </a:ext>
            </a:extLst>
          </p:cNvPr>
          <p:cNvSpPr>
            <a:spLocks xmlns:a="http://schemas.openxmlformats.org/drawingml/2006/main" noGrp="1"/>
          </p:cNvSpPr>
          <p:nvPr/>
        </p:nvSpPr>
        <p:spPr>
          <a:xfrm xmlns:a="http://schemas.openxmlformats.org/drawingml/2006/main">
            <a:off x="892663" y="1586103"/>
            <a:ext cx="3080459" cy="1707134"/>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d>
                    <m:dPr>
                      <m:begChr m:val="{"/>
                      <m:grow m:val="off"/>
                    </m:dPr>
                    <m:e>
                      <m:eqArr>
                        <m:e>
                          <m:func>
                            <m:fName>
                              <m:limLow>
                                <m:e>
                                  <m:r>
                                    <a:rPr xmlns:a="http://schemas.openxmlformats.org/drawingml/2006/main" lang="en-US" i="0">
                                      <a:latin typeface="Cambria Math"/>
                                      <a:ea typeface="Cambria Math"/>
                                      <a:cs typeface="Cambria Math"/>
                                    </a:rPr>
                                    <m:t>min</m:t>
                                  </m:r>
                                </m:e>
                                <m:lim>
                                  <m:r>
                                    <a:rPr xmlns:a="http://schemas.openxmlformats.org/drawingml/2006/main" lang="en-US" b="0" i="1">
                                      <a:latin typeface="Cambria Math"/>
                                      <a:ea typeface="Cambria Math"/>
                                      <a:cs typeface="Cambria Math"/>
                                    </a:rPr>
                                    <m:t>𝑎</m:t>
                                  </m:r>
                                </m:lim>
                              </m:limLow>
                            </m:fName>
                            <m:e>
                              <m:f>
                                <m:num>
                                  <m:r>
                                    <a:rPr xmlns:a="http://schemas.openxmlformats.org/drawingml/2006/main" lang="en-US" b="0" i="1">
                                      <a:latin typeface="Cambria Math"/>
                                      <a:ea typeface="Cambria Math"/>
                                      <a:cs typeface="Cambria Math"/>
                                    </a:rPr>
                                    <m:t>1</m:t>
                                  </m:r>
                                </m:num>
                                <m:den>
                                  <m:r>
                                    <a:rPr xmlns:a="http://schemas.openxmlformats.org/drawingml/2006/main" lang="en-US" b="0" i="1">
                                      <a:latin typeface="Cambria Math"/>
                                      <a:ea typeface="Cambria Math"/>
                                      <a:cs typeface="Cambria Math"/>
                                    </a:rPr>
                                    <m:t>2</m:t>
                                  </m:r>
                                </m:den>
                              </m:f>
                              <m:nary>
                                <m:naryPr>
                                  <m:chr m:val="∑"/>
                                  <m:subHide m:val="off"/>
                                  <m:supHide m:val="off"/>
                                </m:naryPr>
                                <m:sub>
                                  <m:r>
                                    <a:rPr xmlns:a="http://schemas.openxmlformats.org/drawingml/2006/main" lang="en-US" b="0" i="1">
                                      <a:latin typeface="Cambria Math"/>
                                      <a:ea typeface="Cambria Math"/>
                                      <a:cs typeface="Cambria Math"/>
                                    </a:rPr>
                                    <m:t>𝑖</m:t>
                                  </m:r>
                                  <m:r>
                                    <a:rPr xmlns:a="http://schemas.openxmlformats.org/drawingml/2006/main" lang="en-US" b="0" i="1">
                                      <a:latin typeface="Cambria Math"/>
                                      <a:ea typeface="Cambria Math"/>
                                      <a:cs typeface="Cambria Math"/>
                                    </a:rPr>
                                    <m:t>=1</m:t>
                                  </m:r>
                                </m:sub>
                                <m:sup>
                                  <m:r>
                                    <a:rPr xmlns:a="http://schemas.openxmlformats.org/drawingml/2006/main" lang="en-US" b="0" i="1">
                                      <a:latin typeface="Cambria Math"/>
                                      <a:ea typeface="Cambria Math"/>
                                      <a:cs typeface="Cambria Math"/>
                                    </a:rPr>
                                    <m:t>𝑛</m:t>
                                  </m:r>
                                </m:sup>
                                <m:e>
                                  <m:nary>
                                    <m:naryPr>
                                      <m:chr m:val="∑"/>
                                      <m:subHide m:val="off"/>
                                      <m:supHide m:val="off"/>
                                    </m:naryPr>
                                    <m:sub>
                                      <m:r>
                                        <a:rPr xmlns:a="http://schemas.openxmlformats.org/drawingml/2006/main" lang="en-US" b="0" i="1">
                                          <a:latin typeface="Cambria Math"/>
                                          <a:ea typeface="Cambria Math"/>
                                          <a:cs typeface="Cambria Math"/>
                                        </a:rPr>
                                        <m:t>𝑗</m:t>
                                      </m:r>
                                      <m:r>
                                        <a:rPr xmlns:a="http://schemas.openxmlformats.org/drawingml/2006/main" lang="en-US" b="0" i="1">
                                          <a:latin typeface="Cambria Math"/>
                                          <a:ea typeface="Cambria Math"/>
                                          <a:cs typeface="Cambria Math"/>
                                        </a:rPr>
                                        <m:t>=1</m:t>
                                      </m:r>
                                    </m:sub>
                                    <m:sup>
                                      <m:r>
                                        <a:rPr xmlns:a="http://schemas.openxmlformats.org/drawingml/2006/main" lang="en-US" b="0" i="1">
                                          <a:latin typeface="Cambria Math"/>
                                          <a:ea typeface="Cambria Math"/>
                                          <a:cs typeface="Cambria Math"/>
                                        </a:rPr>
                                        <m:t>𝑛</m:t>
                                      </m:r>
                                    </m:sup>
                                    <m:e>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𝑖</m:t>
                                          </m:r>
                                        </m:sub>
                                      </m:sSub>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𝑗</m:t>
                                          </m:r>
                                        </m:sub>
                                      </m:sSub>
                                      <m:sSub>
                                        <m:e>
                                          <m:r>
                                            <a:rPr xmlns:a="http://schemas.openxmlformats.org/drawingml/2006/main" lang="en-US" b="0" i="1">
                                              <a:latin typeface="Cambria Math"/>
                                              <a:ea typeface="Cambria Math"/>
                                              <a:cs typeface="Cambria Math"/>
                                            </a:rPr>
                                            <m:t>𝑦</m:t>
                                          </m:r>
                                        </m:e>
                                        <m:sub>
                                          <m:r>
                                            <a:rPr xmlns:a="http://schemas.openxmlformats.org/drawingml/2006/main" lang="en-US" b="0" i="1">
                                              <a:latin typeface="Cambria Math"/>
                                              <a:ea typeface="Cambria Math"/>
                                              <a:cs typeface="Cambria Math"/>
                                            </a:rPr>
                                            <m:t>𝑖</m:t>
                                          </m:r>
                                        </m:sub>
                                      </m:sSub>
                                      <m:sSub>
                                        <m:e>
                                          <m:r>
                                            <a:rPr xmlns:a="http://schemas.openxmlformats.org/drawingml/2006/main" lang="en-US" b="0" i="1">
                                              <a:latin typeface="Cambria Math"/>
                                              <a:ea typeface="Cambria Math"/>
                                              <a:cs typeface="Cambria Math"/>
                                            </a:rPr>
                                            <m:t>𝑦</m:t>
                                          </m:r>
                                        </m:e>
                                        <m:sub>
                                          <m:r>
                                            <a:rPr xmlns:a="http://schemas.openxmlformats.org/drawingml/2006/main" lang="en-US" b="0" i="1">
                                              <a:latin typeface="Cambria Math"/>
                                              <a:ea typeface="Cambria Math"/>
                                              <a:cs typeface="Cambria Math"/>
                                            </a:rPr>
                                            <m:t>𝑗</m:t>
                                          </m:r>
                                        </m:sub>
                                      </m:sSub>
                                      <m:r>
                                        <a:rPr xmlns:a="http://schemas.openxmlformats.org/drawingml/2006/main" lang="en-US" b="0"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𝒊</m:t>
                                          </m:r>
                                        </m:sub>
                                      </m:sSub>
                                      <m:r>
                                        <a:rPr xmlns:a="http://schemas.openxmlformats.org/drawingml/2006/main" lang="en-US" b="1" i="1">
                                          <a:latin typeface="Cambria Math"/>
                                          <a:ea typeface="Cambria Math"/>
                                          <a:cs typeface="Cambria Math"/>
                                        </a:rPr>
                                        <m:t>·</m:t>
                                      </m:r>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𝒋</m:t>
                                          </m:r>
                                        </m:sub>
                                      </m:sSub>
                                      <m:r>
                                        <a:rPr xmlns:a="http://schemas.openxmlformats.org/drawingml/2006/main" lang="en-US" b="0" i="1">
                                          <a:latin typeface="Cambria Math"/>
                                          <a:ea typeface="Cambria Math"/>
                                          <a:cs typeface="Cambria Math"/>
                                        </a:rPr>
                                        <m:t>)</m:t>
                                      </m:r>
                                    </m:e>
                                  </m:nary>
                                </m:e>
                              </m:nary>
                            </m:e>
                          </m:func>
                        </m:e>
                        <m:e>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m:t>
                          </m:r>
                          <m:nary>
                            <m:naryPr>
                              <m:chr m:val="∑"/>
                              <m:subHide m:val="off"/>
                              <m:supHide m:val="off"/>
                            </m:naryPr>
                            <m:sub>
                              <m:r>
                                <a:rPr xmlns:a="http://schemas.openxmlformats.org/drawingml/2006/main" lang="en-US" b="0" i="1">
                                  <a:latin typeface="Cambria Math"/>
                                  <a:ea typeface="Cambria Math"/>
                                  <a:cs typeface="Cambria Math"/>
                                </a:rPr>
                                <m:t>𝑖</m:t>
                              </m:r>
                              <m:r>
                                <a:rPr xmlns:a="http://schemas.openxmlformats.org/drawingml/2006/main" lang="en-US" b="0" i="1">
                                  <a:latin typeface="Cambria Math"/>
                                  <a:ea typeface="Cambria Math"/>
                                  <a:cs typeface="Cambria Math"/>
                                </a:rPr>
                                <m:t>=1</m:t>
                              </m:r>
                            </m:sub>
                            <m:sup>
                              <m:r>
                                <a:rPr xmlns:a="http://schemas.openxmlformats.org/drawingml/2006/main" lang="en-US" b="0" i="1">
                                  <a:latin typeface="Cambria Math"/>
                                  <a:ea typeface="Cambria Math"/>
                                  <a:cs typeface="Cambria Math"/>
                                </a:rPr>
                                <m:t>𝑛</m:t>
                              </m:r>
                            </m:sup>
                            <m:e>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𝑖</m:t>
                                  </m:r>
                                </m:sub>
                              </m:sSub>
                              <m:sSub>
                                <m:e>
                                  <m:r>
                                    <a:rPr xmlns:a="http://schemas.openxmlformats.org/drawingml/2006/main" lang="en-US" b="0" i="1">
                                      <a:latin typeface="Cambria Math"/>
                                      <a:ea typeface="Cambria Math"/>
                                      <a:cs typeface="Cambria Math"/>
                                    </a:rPr>
                                    <m:t>𝑦</m:t>
                                  </m:r>
                                </m:e>
                                <m:sub>
                                  <m:r>
                                    <a:rPr xmlns:a="http://schemas.openxmlformats.org/drawingml/2006/main" lang="en-US" b="0" i="1">
                                      <a:latin typeface="Cambria Math"/>
                                      <a:ea typeface="Cambria Math"/>
                                      <a:cs typeface="Cambria Math"/>
                                    </a:rPr>
                                    <m:t>𝑖</m:t>
                                  </m:r>
                                </m:sub>
                              </m:sSub>
                              <m:r>
                                <a:rPr xmlns:a="http://schemas.openxmlformats.org/drawingml/2006/main" lang="en-US" b="0" i="1">
                                  <a:latin typeface="Cambria Math"/>
                                  <a:ea typeface="Cambria Math"/>
                                  <a:cs typeface="Cambria Math"/>
                                </a:rPr>
                                <m:t>=0</m:t>
                              </m:r>
                            </m:e>
                          </m:nary>
                        </m:e>
                      </m:eqArr>
                    </m:e>
                  </m:d>
                </m:oMath>
              </m:oMathPara>
            </a14:m>
            <a:endParaRPr/>
          </a:p>
        </p:txBody>
      </p:sp>
    </p:spTree>
    <p:extLst>
      <p:ext uri="{BB962C8B-B14F-4D97-AF65-F5344CB8AC3E}">
        <p14:creationId xmlns:p14="http://schemas.microsoft.com/office/powerpoint/2010/main" val="93872653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1C60EDB7-685E-2B3C-C72C-773EE80F7D4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702BBE87-0C26-9413-BCF4-FC9D4BACFDFC}"/>
              </a:ext>
            </a:extLst>
          </p:cNvPr>
          <p:cNvSpPr>
            <a:spLocks xmlns:a="http://schemas.openxmlformats.org/drawingml/2006/main" noGrp="1"/>
          </p:cNvSpPr>
          <p:nvPr/>
        </p:nvSpPr>
        <p:spPr>
          <a:xfrm xmlns:a="http://schemas.openxmlformats.org/drawingml/2006/main" rot="0" flipH="0" flipV="0">
            <a:off x="270932" y="1021703"/>
            <a:ext cx="3964183"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5.2.3 </a:t>
            </a:r>
            <a:r>
              <a:rPr sz="2400" b="1">
                <a:solidFill>
                  <a:schemeClr val="accent1"/>
                </a:solidFill>
              </a:rPr>
              <a:t>支持向量机避障策略</a:t>
            </a:r>
            <a:endParaRPr sz="2400" b="1">
              <a:solidFill>
                <a:schemeClr val="accent1"/>
              </a:solidFill>
            </a:endParaRPr>
          </a:p>
        </p:txBody>
      </p:sp>
      <p:pic>
        <p:nvPicPr>
          <p:cNvPr id="19" name="图片 5"/>
          <p:cNvPicPr>
            <a:picLocks xmlns:a="http://schemas.openxmlformats.org/drawingml/2006/main" noChangeAspect="1"/>
          </p:cNvPicPr>
          <p:nvPr/>
        </p:nvPicPr>
        <p:blipFill>
          <a:blip xmlns:r="http://schemas.openxmlformats.org/officeDocument/2006/relationships" xmlns:a="http://schemas.openxmlformats.org/drawingml/2006/main" r:embed="R62ee791c6eaf41df"/>
          <a:stretch xmlns:a="http://schemas.openxmlformats.org/drawingml/2006/main">
            <a:fillRect l="0" t="0" r="0" b="0"/>
          </a:stretch>
        </p:blipFill>
        <p:spPr>
          <a:xfrm xmlns:a="http://schemas.openxmlformats.org/drawingml/2006/main">
            <a:off x="7383953" y="3986417"/>
            <a:ext cx="1718796" cy="1648641"/>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63D7043B-D9E5-B0DF-A8EE-99C5004AA4D5}"/>
              </a:ext>
            </a:extLst>
          </p:cNvPr>
          <p:cNvSpPr>
            <a:spLocks xmlns:a="http://schemas.openxmlformats.org/drawingml/2006/main" noGrp="1"/>
          </p:cNvSpPr>
          <p:nvPr/>
        </p:nvSpPr>
        <p:spPr>
          <a:xfrm xmlns:a="http://schemas.openxmlformats.org/drawingml/2006/main">
            <a:off x="1011741" y="1589416"/>
            <a:ext cx="4444551" cy="7797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b="1">
                <a:latin typeface="DejaVu Math TeX Gyre"/>
                <a:ea typeface="DejaVu Math TeX Gyre"/>
                <a:cs typeface="DejaVu Math TeX Gyre"/>
              </a:rPr>
              <a:t>实际案例</a:t>
            </a:r>
            <a:r>
              <a:rPr b="1">
                <a:latin typeface="DejaVu Math TeX Gyre"/>
                <a:ea typeface="DejaVu Math TeX Gyre"/>
                <a:cs typeface="DejaVu Math TeX Gyre"/>
              </a:rPr>
              <a:t>:</a:t>
            </a:r>
            <a:r>
              <a:rPr b="1">
                <a:latin typeface="DejaVu Math TeX Gyre"/>
                <a:ea typeface="DejaVu Math TeX Gyre"/>
                <a:cs typeface="DejaVu Math TeX Gyre"/>
              </a:rPr>
              <a:t>移动机器人避障</a:t>
            </a:r>
            <a:endParaRPr>
              <a:solidFill>
                <a:schemeClr val="tx1"/>
              </a:solidFill>
              <a:latin typeface="DejaVu Math TeX Gyre"/>
              <a:ea typeface="DejaVu Math TeX Gyre"/>
              <a:cs typeface="DejaVu Math TeX Gyre"/>
            </a:endParaRPr>
          </a:p>
        </p:txBody>
      </p:sp>
      <p:sp>
        <p:nvSpPr>
          <p:cNvPr id="11" name="文本框 10">
            <a:extLst xmlns:a="http://schemas.openxmlformats.org/drawingml/2006/main">
              <a:ext uri="{FF2B5EF4-FFF2-40B4-BE49-F238E27FC236}">
                <a16:creationId xmlns:a16="http://schemas.microsoft.com/office/drawing/2014/main" id="{717F4B28-4EA7-D7DB-70C8-507B739B6FEE}"/>
              </a:ext>
            </a:extLst>
          </p:cNvPr>
          <p:cNvSpPr>
            <a:spLocks xmlns:a="http://schemas.openxmlformats.org/drawingml/2006/main" noGrp="1"/>
          </p:cNvSpPr>
          <p:nvPr/>
        </p:nvSpPr>
        <p:spPr>
          <a:xfrm xmlns:a="http://schemas.openxmlformats.org/drawingml/2006/main">
            <a:off x="7304367" y="3217014"/>
            <a:ext cx="4444551" cy="7797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b="1">
                <a:latin typeface="DejaVu Math TeX Gyre"/>
                <a:ea typeface="DejaVu Math TeX Gyre"/>
                <a:cs typeface="DejaVu Math TeX Gyre"/>
              </a:rPr>
              <a:t>六个前进方向为例</a:t>
            </a:r>
            <a:endParaRPr>
              <a:solidFill>
                <a:schemeClr val="tx1"/>
              </a:solidFill>
              <a:latin typeface="DejaVu Math TeX Gyre"/>
              <a:ea typeface="DejaVu Math TeX Gyre"/>
              <a:cs typeface="DejaVu Math TeX Gyre"/>
            </a:endParaRPr>
          </a:p>
        </p:txBody>
      </p:sp>
      <p:sp>
        <p:nvSpPr>
          <p:cNvPr id="5" name="文本框 4">
            <a:extLst xmlns:a="http://schemas.openxmlformats.org/drawingml/2006/main">
              <a:ext uri="{FF2B5EF4-FFF2-40B4-BE49-F238E27FC236}">
                <a16:creationId xmlns:a16="http://schemas.microsoft.com/office/drawing/2014/main" id="{1648E1B1-7E85-2735-0AEB-01606F0A3A8C}"/>
              </a:ext>
            </a:extLst>
          </p:cNvPr>
          <p:cNvSpPr>
            <a:spLocks xmlns:a="http://schemas.openxmlformats.org/drawingml/2006/main" noGrp="1"/>
          </p:cNvSpPr>
          <p:nvPr/>
        </p:nvSpPr>
        <p:spPr>
          <a:xfrm xmlns:a="http://schemas.openxmlformats.org/drawingml/2006/main">
            <a:off x="917469" y="3388895"/>
            <a:ext cx="4633093" cy="13742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a:solidFill>
                  <a:schemeClr val="tx1"/>
                </a:solidFill>
                <a:latin typeface="DejaVu Math TeX Gyre"/>
                <a:ea typeface="DejaVu Math TeX Gyre"/>
                <a:cs typeface="DejaVu Math TeX Gyre"/>
              </a:rPr>
              <a:t>2</a:t>
            </a:r>
            <a:r>
              <a:rPr>
                <a:solidFill>
                  <a:schemeClr val="tx1"/>
                </a:solidFill>
                <a:latin typeface="DejaVu Math TeX Gyre"/>
                <a:ea typeface="DejaVu Math TeX Gyre"/>
                <a:cs typeface="DejaVu Math TeX Gyre"/>
              </a:rPr>
              <a:t>）选取</a:t>
            </a:r>
            <a:r>
              <a:rPr>
                <a:solidFill>
                  <a:schemeClr val="tx1"/>
                </a:solidFill>
                <a:latin typeface="DejaVu Math TeX Gyre"/>
                <a:ea typeface="DejaVu Math TeX Gyre"/>
                <a:cs typeface="DejaVu Math TeX Gyre"/>
              </a:rPr>
              <a:t>RBF</a:t>
            </a:r>
            <a:r>
              <a:rPr>
                <a:solidFill>
                  <a:schemeClr val="tx1"/>
                </a:solidFill>
                <a:latin typeface="DejaVu Math TeX Gyre"/>
                <a:ea typeface="DejaVu Math TeX Gyre"/>
                <a:cs typeface="DejaVu Math TeX Gyre"/>
              </a:rPr>
              <a:t>（</a:t>
            </a:r>
            <a:r>
              <a:rPr>
                <a:solidFill>
                  <a:schemeClr val="tx1"/>
                </a:solidFill>
                <a:latin typeface="DejaVu Math TeX Gyre"/>
                <a:ea typeface="DejaVu Math TeX Gyre"/>
                <a:cs typeface="DejaVu Math TeX Gyre"/>
              </a:rPr>
              <a:t>Radial Basis Function</a:t>
            </a:r>
            <a:r>
              <a:rPr>
                <a:solidFill>
                  <a:schemeClr val="tx1"/>
                </a:solidFill>
                <a:latin typeface="DejaVu Math TeX Gyre"/>
                <a:ea typeface="DejaVu Math TeX Gyre"/>
                <a:cs typeface="DejaVu Math TeX Gyre"/>
              </a:rPr>
              <a:t>）核函数</a:t>
            </a:r>
            <a:endParaRPr>
              <a:solidFill>
                <a:schemeClr val="tx1"/>
              </a:solidFill>
              <a:latin typeface="DejaVu Math TeX Gyre"/>
              <a:ea typeface="DejaVu Math TeX Gyre"/>
              <a:cs typeface="DejaVu Math TeX Gyre"/>
            </a:endParaRPr>
          </a:p>
          <a:p xmlns:a="http://schemas.openxmlformats.org/drawingml/2006/main">
            <a:pPr>
              <a:lnSpc>
                <a:spcPct val="120000"/>
              </a:lnSpc>
              <a:buNone/>
            </a:pPr>
            <a14:m xmlns:a14="http://schemas.microsoft.com/office/drawing/2010/main">
              <m:oMathPara xmlns:m="http://schemas.openxmlformats.org/officeDocument/2006/math">
                <m:oMath>
                  <m:r>
                    <a:rPr xmlns:a="http://schemas.openxmlformats.org/drawingml/2006/main" lang="en-US" b="0" i="1">
                      <a:solidFill>
                        <a:schemeClr val="tx1"/>
                      </a:solidFill>
                      <a:latin typeface="Cambria Math"/>
                      <a:ea typeface="Cambria Math"/>
                      <a:cs typeface="Cambria Math"/>
                    </a:rPr>
                    <m:t>𝐾</m:t>
                  </m:r>
                  <m:d>
                    <m:dPr>
                      <m:grow m:val="off"/>
                    </m:dPr>
                    <m:e>
                      <m:sSub>
                        <m:e>
                          <m:r>
                            <a:rPr xmlns:a="http://schemas.openxmlformats.org/drawingml/2006/main" lang="en-US" b="1" i="1">
                              <a:latin typeface="Cambria Math"/>
                              <a:ea typeface="Cambria Math"/>
                              <a:cs typeface="Cambria Math"/>
                            </a:rPr>
                            <m:t>𝒙</m:t>
                          </m:r>
                        </m:e>
                        <m:sub>
                          <m:r>
                            <a:rPr xmlns:a="http://schemas.openxmlformats.org/drawingml/2006/main" lang="en-US" b="1" i="1">
                              <a:solidFill>
                                <a:schemeClr val="tx1"/>
                              </a:solidFill>
                              <a:latin typeface="Cambria Math"/>
                              <a:ea typeface="Cambria Math"/>
                              <a:cs typeface="Cambria Math"/>
                            </a:rPr>
                            <m:t>𝒊</m:t>
                          </m:r>
                        </m:sub>
                      </m:sSub>
                      <m:r>
                        <a:rPr xmlns:a="http://schemas.openxmlformats.org/drawingml/2006/main" lang="en-US" b="1" i="1">
                          <a:solidFill>
                            <a:schemeClr val="tx1"/>
                          </a:solidFill>
                          <a:latin typeface="Cambria Math"/>
                          <a:ea typeface="Cambria Math"/>
                          <a:cs typeface="Cambria Math"/>
                        </a:rPr>
                        <m:t>,</m:t>
                      </m:r>
                      <m:sSub>
                        <m:e>
                          <m:r>
                            <a:rPr xmlns:a="http://schemas.openxmlformats.org/drawingml/2006/main" lang="en-US" b="1" i="1">
                              <a:solidFill>
                                <a:schemeClr val="tx1"/>
                              </a:solidFill>
                              <a:latin typeface="Cambria Math"/>
                              <a:ea typeface="Cambria Math"/>
                              <a:cs typeface="Cambria Math"/>
                            </a:rPr>
                            <m:t>𝒙</m:t>
                          </m:r>
                        </m:e>
                        <m:sub>
                          <m:r>
                            <a:rPr xmlns:a="http://schemas.openxmlformats.org/drawingml/2006/main" lang="en-US" b="1" i="1">
                              <a:solidFill>
                                <a:schemeClr val="tx1"/>
                              </a:solidFill>
                              <a:latin typeface="Cambria Math"/>
                              <a:ea typeface="Cambria Math"/>
                              <a:cs typeface="Cambria Math"/>
                            </a:rPr>
                            <m:t>𝒋</m:t>
                          </m:r>
                        </m:sub>
                      </m:sSub>
                    </m:e>
                  </m:d>
                  <m:r>
                    <a:rPr xmlns:a="http://schemas.openxmlformats.org/drawingml/2006/main" lang="en-US" b="0" i="1">
                      <a:solidFill>
                        <a:schemeClr val="tx1"/>
                      </a:solidFill>
                      <a:latin typeface="Cambria Math"/>
                      <a:ea typeface="Cambria Math"/>
                      <a:cs typeface="Cambria Math"/>
                    </a:rPr>
                    <m:t>=</m:t>
                  </m:r>
                  <m:func>
                    <m:fName>
                      <m:r>
                        <a:rPr xmlns:a="http://schemas.openxmlformats.org/drawingml/2006/main" lang="en-US" b="0" i="0">
                          <a:solidFill>
                            <a:schemeClr val="tx1"/>
                          </a:solidFill>
                          <a:latin typeface="Cambria Math"/>
                          <a:ea typeface="Cambria Math"/>
                          <a:cs typeface="Cambria Math"/>
                        </a:rPr>
                        <m:t>exp</m:t>
                      </m:r>
                    </m:fName>
                    <m:e>
                      <m:d>
                        <m:dPr>
                          <m:grow m:val="off"/>
                        </m:dPr>
                        <m:e>
                          <m:r>
                            <a:rPr xmlns:a="http://schemas.openxmlformats.org/drawingml/2006/main" lang="en-US" b="0" i="1">
                              <a:solidFill>
                                <a:schemeClr val="tx1"/>
                              </a:solidFill>
                              <a:latin typeface="Cambria Math"/>
                              <a:ea typeface="Cambria Math"/>
                              <a:cs typeface="Cambria Math"/>
                            </a:rPr>
                            <m:t>−</m:t>
                          </m:r>
                          <m:r>
                            <a:rPr xmlns:a="http://schemas.openxmlformats.org/drawingml/2006/main" lang="en-US" b="0" i="1">
                              <a:solidFill>
                                <a:schemeClr val="tx1"/>
                              </a:solidFill>
                              <a:latin typeface="Cambria Math"/>
                              <a:ea typeface="Cambria Math"/>
                              <a:cs typeface="Cambria Math"/>
                            </a:rPr>
                            <m:t>𝑟</m:t>
                          </m:r>
                          <m:sSup>
                            <m:e>
                              <m:d>
                                <m:dPr>
                                  <m:begChr m:val="|"/>
                                  <m:endChr m:val="|"/>
                                  <m:grow m:val="off"/>
                                </m:dPr>
                                <m:e>
                                  <m:d>
                                    <m:dPr>
                                      <m:begChr m:val="|"/>
                                      <m:endChr m:val="|"/>
                                      <m:grow m:val="off"/>
                                    </m:dPr>
                                    <m:e>
                                      <m:sSub>
                                        <m:e>
                                          <m:r>
                                            <a:rPr xmlns:a="http://schemas.openxmlformats.org/drawingml/2006/main" lang="en-US" b="1" i="1">
                                              <a:solidFill>
                                                <a:schemeClr val="tx1"/>
                                              </a:solidFill>
                                              <a:latin typeface="Cambria Math"/>
                                              <a:ea typeface="Cambria Math"/>
                                              <a:cs typeface="Cambria Math"/>
                                            </a:rPr>
                                            <m:t>𝒙</m:t>
                                          </m:r>
                                        </m:e>
                                        <m:sub>
                                          <m:r>
                                            <a:rPr xmlns:a="http://schemas.openxmlformats.org/drawingml/2006/main" lang="en-US" b="1" i="1">
                                              <a:solidFill>
                                                <a:schemeClr val="tx1"/>
                                              </a:solidFill>
                                              <a:latin typeface="Cambria Math"/>
                                              <a:ea typeface="Cambria Math"/>
                                              <a:cs typeface="Cambria Math"/>
                                            </a:rPr>
                                            <m:t>𝒊</m:t>
                                          </m:r>
                                        </m:sub>
                                      </m:sSub>
                                      <m:r>
                                        <a:rPr xmlns:a="http://schemas.openxmlformats.org/drawingml/2006/main" lang="en-US" b="0" i="1">
                                          <a:solidFill>
                                            <a:schemeClr val="tx1"/>
                                          </a:solidFill>
                                          <a:latin typeface="Cambria Math"/>
                                          <a:ea typeface="Cambria Math"/>
                                          <a:cs typeface="Cambria Math"/>
                                        </a:rPr>
                                        <m:t>−</m:t>
                                      </m:r>
                                      <m:sSub>
                                        <m:e>
                                          <m:r>
                                            <a:rPr xmlns:a="http://schemas.openxmlformats.org/drawingml/2006/main" lang="en-US" b="1" i="1">
                                              <a:solidFill>
                                                <a:schemeClr val="tx1"/>
                                              </a:solidFill>
                                              <a:latin typeface="Cambria Math"/>
                                              <a:ea typeface="Cambria Math"/>
                                              <a:cs typeface="Cambria Math"/>
                                            </a:rPr>
                                            <m:t>𝒙</m:t>
                                          </m:r>
                                        </m:e>
                                        <m:sub>
                                          <m:r>
                                            <a:rPr xmlns:a="http://schemas.openxmlformats.org/drawingml/2006/main" lang="en-US" b="1" i="1">
                                              <a:solidFill>
                                                <a:schemeClr val="tx1"/>
                                              </a:solidFill>
                                              <a:latin typeface="Cambria Math"/>
                                              <a:ea typeface="Cambria Math"/>
                                              <a:cs typeface="Cambria Math"/>
                                            </a:rPr>
                                            <m:t>𝒋</m:t>
                                          </m:r>
                                        </m:sub>
                                      </m:sSub>
                                    </m:e>
                                  </m:d>
                                </m:e>
                              </m:d>
                            </m:e>
                            <m:sup>
                              <m:r>
                                <a:rPr xmlns:a="http://schemas.openxmlformats.org/drawingml/2006/main" lang="en-US" b="0" i="1">
                                  <a:solidFill>
                                    <a:schemeClr val="tx1"/>
                                  </a:solidFill>
                                  <a:latin typeface="Cambria Math"/>
                                  <a:ea typeface="Cambria Math"/>
                                  <a:cs typeface="Cambria Math"/>
                                </a:rPr>
                                <m:t>2</m:t>
                              </m:r>
                            </m:sup>
                          </m:sSup>
                        </m:e>
                      </m:d>
                    </m:e>
                  </m:func>
                  <m:r>
                    <a:rPr xmlns:a="http://schemas.openxmlformats.org/drawingml/2006/main" lang="en-US" b="0" i="1">
                      <a:solidFill>
                        <a:schemeClr val="tx1"/>
                      </a:solidFill>
                      <a:latin typeface="Cambria Math"/>
                      <a:ea typeface="Cambria Math"/>
                      <a:cs typeface="Cambria Math"/>
                    </a:rPr>
                    <m:t>,</m:t>
                  </m:r>
                  <m:r>
                    <a:rPr xmlns:a="http://schemas.openxmlformats.org/drawingml/2006/main" lang="en-US" b="0" i="1">
                      <a:solidFill>
                        <a:schemeClr val="tx1"/>
                      </a:solidFill>
                      <a:latin typeface="Cambria Math"/>
                      <a:ea typeface="Cambria Math"/>
                      <a:cs typeface="Cambria Math"/>
                    </a:rPr>
                    <m:t>𝑟</m:t>
                  </m:r>
                  <m:r>
                    <a:rPr xmlns:a="http://schemas.openxmlformats.org/drawingml/2006/main" lang="en-US" b="0" i="1">
                      <a:solidFill>
                        <a:schemeClr val="tx1"/>
                      </a:solidFill>
                      <a:latin typeface="Cambria Math"/>
                      <a:ea typeface="Cambria Math"/>
                      <a:cs typeface="Cambria Math"/>
                    </a:rPr>
                    <m:t>&gt;0</m:t>
                  </m:r>
                </m:oMath>
              </m:oMathPara>
            </a14:m>
            <a:endParaRPr>
              <a:solidFill>
                <a:schemeClr val="tx1"/>
              </a:solidFill>
              <a:latin typeface="DejaVu Math TeX Gyre"/>
              <a:ea typeface="DejaVu Math TeX Gyre"/>
              <a:cs typeface="DejaVu Math TeX Gyre"/>
            </a:endParaRPr>
          </a:p>
        </p:txBody>
      </p:sp>
      <p:sp>
        <p:nvSpPr>
          <p:cNvPr id="12" name="文本框 11">
            <a:extLst xmlns:a="http://schemas.openxmlformats.org/drawingml/2006/main">
              <a:ext uri="{FF2B5EF4-FFF2-40B4-BE49-F238E27FC236}">
                <a16:creationId xmlns:a16="http://schemas.microsoft.com/office/drawing/2014/main" id="{F9168D3B-AE14-3C1B-6087-7D8597833249}"/>
              </a:ext>
            </a:extLst>
          </p:cNvPr>
          <p:cNvSpPr>
            <a:spLocks xmlns:a="http://schemas.openxmlformats.org/drawingml/2006/main" noGrp="1"/>
          </p:cNvSpPr>
          <p:nvPr/>
        </p:nvSpPr>
        <p:spPr>
          <a:xfrm xmlns:a="http://schemas.openxmlformats.org/drawingml/2006/main">
            <a:off x="917469" y="2124698"/>
            <a:ext cx="4633093" cy="13742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a:solidFill>
                  <a:schemeClr val="tx1"/>
                </a:solidFill>
                <a:latin typeface="DejaVu Math TeX Gyre"/>
                <a:ea typeface="DejaVu Math TeX Gyre"/>
                <a:cs typeface="DejaVu Math TeX Gyre"/>
              </a:rPr>
              <a:t>SVM</a:t>
            </a:r>
            <a:r>
              <a:rPr>
                <a:solidFill>
                  <a:schemeClr val="tx1"/>
                </a:solidFill>
                <a:latin typeface="DejaVu Math TeX Gyre"/>
                <a:ea typeface="DejaVu Math TeX Gyre"/>
                <a:cs typeface="DejaVu Math TeX Gyre"/>
              </a:rPr>
              <a:t>分类构造</a:t>
            </a:r>
            <a:r>
              <a:rPr>
                <a:latin typeface="DejaVu Math TeX Gyre"/>
                <a:ea typeface="DejaVu Math TeX Gyre"/>
                <a:cs typeface="DejaVu Math TeX Gyre"/>
              </a:rPr>
              <a:t>步骤如下</a:t>
            </a:r>
            <a:r>
              <a:rPr>
                <a:latin typeface="DejaVu Math TeX Gyre"/>
                <a:ea typeface="DejaVu Math TeX Gyre"/>
                <a:cs typeface="DejaVu Math TeX Gyre"/>
              </a:rPr>
              <a:t>:</a:t>
            </a:r>
          </a:p>
          <a:p xmlns:a="http://schemas.openxmlformats.org/drawingml/2006/main">
            <a:pPr>
              <a:lnSpc>
                <a:spcPct val="120000"/>
              </a:lnSpc>
              <a:buNone/>
            </a:pPr>
            <a:r>
              <a:rPr>
                <a:solidFill>
                  <a:schemeClr val="tx1"/>
                </a:solidFill>
                <a:latin typeface="DejaVu Math TeX Gyre"/>
                <a:ea typeface="DejaVu Math TeX Gyre"/>
                <a:cs typeface="DejaVu Math TeX Gyre"/>
              </a:rPr>
              <a:t>1</a:t>
            </a:r>
            <a:r>
              <a:rPr>
                <a:solidFill>
                  <a:schemeClr val="tx1"/>
                </a:solidFill>
                <a:latin typeface="DejaVu Math TeX Gyre"/>
                <a:ea typeface="DejaVu Math TeX Gyre"/>
                <a:cs typeface="DejaVu Math TeX Gyre"/>
              </a:rPr>
              <a:t>）首先</a:t>
            </a:r>
            <a:r>
              <a:t>根据获取的测试数据建立训练集</a:t>
            </a:r>
            <a:endParaRPr/>
          </a:p>
          <a:p xmlns:a="http://schemas.openxmlformats.org/drawingml/2006/main">
            <a:pPr>
              <a:lnSpc>
                <a:spcPct val="120000"/>
              </a:lnSpc>
              <a:buNone/>
            </a:pP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𝐷</m:t>
                  </m:r>
                  <m:r>
                    <a:rPr xmlns:a="http://schemas.openxmlformats.org/drawingml/2006/main" lang="en-US" b="0" i="1">
                      <a:latin typeface="Cambria Math"/>
                      <a:ea typeface="Cambria Math"/>
                      <a:cs typeface="Cambria Math"/>
                    </a:rPr>
                    <m:t>=</m:t>
                  </m:r>
                  <m:d>
                    <m:dPr>
                      <m:begChr m:val="{"/>
                      <m:endChr m:val="}"/>
                      <m:grow m:val="off"/>
                    </m:dPr>
                    <m:e>
                      <m:d>
                        <m:dPr>
                          <m:grow m:val="off"/>
                        </m:dPr>
                        <m:e>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𝟏</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𝑦</m:t>
                              </m:r>
                            </m:e>
                            <m:sub>
                              <m:r>
                                <a:rPr xmlns:a="http://schemas.openxmlformats.org/drawingml/2006/main" lang="en-US" b="0" i="1">
                                  <a:latin typeface="Cambria Math"/>
                                  <a:ea typeface="Cambria Math"/>
                                  <a:cs typeface="Cambria Math"/>
                                </a:rPr>
                                <m:t>1</m:t>
                              </m:r>
                            </m:sub>
                          </m:sSub>
                        </m:e>
                      </m:d>
                      <m:r>
                        <a:rPr xmlns:a="http://schemas.openxmlformats.org/drawingml/2006/main" lang="en-US" b="0" i="1">
                          <a:latin typeface="Cambria Math"/>
                          <a:ea typeface="Cambria Math"/>
                          <a:cs typeface="Cambria Math"/>
                        </a:rPr>
                        <m:t>,</m:t>
                      </m:r>
                      <m:d>
                        <m:dPr>
                          <m:grow m:val="off"/>
                        </m:dPr>
                        <m:e>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𝟐</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𝑦</m:t>
                              </m:r>
                            </m:e>
                            <m:sub>
                              <m:r>
                                <a:rPr xmlns:a="http://schemas.openxmlformats.org/drawingml/2006/main" lang="en-US" b="0" i="1">
                                  <a:latin typeface="Cambria Math"/>
                                  <a:ea typeface="Cambria Math"/>
                                  <a:cs typeface="Cambria Math"/>
                                </a:rPr>
                                <m:t>2</m:t>
                              </m:r>
                            </m:sub>
                          </m:sSub>
                        </m:e>
                      </m:d>
                      <m:r>
                        <a:rPr xmlns:a="http://schemas.openxmlformats.org/drawingml/2006/main" lang="en-US" b="0" i="1">
                          <a:latin typeface="Cambria Math"/>
                          <a:ea typeface="Cambria Math"/>
                          <a:cs typeface="Cambria Math"/>
                        </a:rPr>
                        <m:t>,…,</m:t>
                      </m:r>
                      <m:d>
                        <m:dPr>
                          <m:grow m:val="off"/>
                        </m:dPr>
                        <m:e>
                          <m:sSub>
                            <m:e>
                              <m:r>
                                <a:rPr xmlns:a="http://schemas.openxmlformats.org/drawingml/2006/main" lang="en-US" b="1" i="1">
                                  <a:latin typeface="Cambria Math"/>
                                  <a:ea typeface="Cambria Math"/>
                                  <a:cs typeface="Cambria Math"/>
                                </a:rPr>
                                <m:t>𝒙</m:t>
                              </m:r>
                            </m:e>
                            <m:sub>
                              <m:r>
                                <a:rPr xmlns:a="http://schemas.openxmlformats.org/drawingml/2006/main" lang="en-US" b="1" i="1">
                                  <a:latin typeface="Cambria Math"/>
                                  <a:ea typeface="Cambria Math"/>
                                  <a:cs typeface="Cambria Math"/>
                                </a:rPr>
                                <m:t>𝒎</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𝑦</m:t>
                              </m:r>
                            </m:e>
                            <m:sub>
                              <m:r>
                                <a:rPr xmlns:a="http://schemas.openxmlformats.org/drawingml/2006/main" lang="en-US" b="0" i="1">
                                  <a:latin typeface="Cambria Math"/>
                                  <a:ea typeface="Cambria Math"/>
                                  <a:cs typeface="Cambria Math"/>
                                </a:rPr>
                                <m:t>𝑚</m:t>
                              </m:r>
                            </m:sub>
                          </m:sSub>
                        </m:e>
                      </m:d>
                    </m:e>
                  </m:d>
                </m:oMath>
              </m:oMathPara>
            </a14:m>
            <a:endParaRPr>
              <a:solidFill>
                <a:schemeClr val="tx1"/>
              </a:solidFill>
              <a:latin typeface="DejaVu Math TeX Gyre"/>
              <a:ea typeface="DejaVu Math TeX Gyre"/>
              <a:cs typeface="DejaVu Math TeX Gyre"/>
            </a:endParaRPr>
          </a:p>
        </p:txBody>
      </p:sp>
      <p:sp>
        <p:nvSpPr>
          <p:cNvPr id="13" name="文本框 12">
            <a:extLst xmlns:a="http://schemas.openxmlformats.org/drawingml/2006/main">
              <a:ext uri="{FF2B5EF4-FFF2-40B4-BE49-F238E27FC236}">
                <a16:creationId xmlns:a16="http://schemas.microsoft.com/office/drawing/2014/main" id="{7FE9ECB6-B5CE-AC46-7B0F-26E5FFDEF036}"/>
              </a:ext>
            </a:extLst>
          </p:cNvPr>
          <p:cNvSpPr>
            <a:spLocks xmlns:a="http://schemas.openxmlformats.org/drawingml/2006/main" noGrp="1"/>
          </p:cNvSpPr>
          <p:nvPr/>
        </p:nvSpPr>
        <p:spPr>
          <a:xfrm xmlns:a="http://schemas.openxmlformats.org/drawingml/2006/main">
            <a:off x="917469" y="4462097"/>
            <a:ext cx="5178532" cy="873049"/>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a:latin typeface="DejaVu Math TeX Gyre"/>
                <a:ea typeface="DejaVu Math TeX Gyre"/>
                <a:cs typeface="DejaVu Math TeX Gyre"/>
              </a:rPr>
              <a:t>3</a:t>
            </a:r>
            <a:r>
              <a:rPr>
                <a:solidFill>
                  <a:schemeClr val="tx1"/>
                </a:solidFill>
                <a:latin typeface="DejaVu Math TeX Gyre"/>
                <a:ea typeface="DejaVu Math TeX Gyre"/>
                <a:cs typeface="DejaVu Math TeX Gyre"/>
              </a:rPr>
              <a:t>）</a:t>
            </a:r>
            <a:r>
              <a:t>根据获取的核函数和参数求得最优解</a:t>
            </a:r>
            <a14:m xmlns:a14="http://schemas.microsoft.com/office/drawing/2010/main">
              <m:oMathPara xmlns:m="http://schemas.openxmlformats.org/officeDocument/2006/math">
                <m:oMath>
                  <m:sSup>
                    <m:e>
                      <m:r>
                        <a:rPr xmlns:a="http://schemas.openxmlformats.org/drawingml/2006/main" lang="en-US" b="1" i="1">
                          <a:latin typeface="Cambria Math"/>
                          <a:ea typeface="Cambria Math"/>
                          <a:cs typeface="Cambria Math"/>
                        </a:rPr>
                        <m:t>𝒘</m:t>
                      </m:r>
                    </m:e>
                    <m:sup>
                      <m:r>
                        <a:rPr xmlns:a="http://schemas.openxmlformats.org/drawingml/2006/main" lang="en-US" b="0" i="1">
                          <a:latin typeface="Cambria Math"/>
                          <a:ea typeface="Cambria Math"/>
                          <a:cs typeface="Cambria Math"/>
                        </a:rPr>
                        <m:t>∗</m:t>
                      </m:r>
                    </m:sup>
                  </m:sSup>
                </m:oMath>
              </m:oMathPara>
            </a14:m>
            <a:r>
              <a:rPr>
                <a:solidFill>
                  <a:schemeClr val="tx1"/>
                </a:solidFill>
                <a:latin typeface="DejaVu Math TeX Gyre"/>
                <a:ea typeface="DejaVu Math TeX Gyre"/>
                <a:cs typeface="DejaVu Math TeX Gyre"/>
              </a:rPr>
              <a:t>和</a:t>
            </a: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𝑏</m:t>
                      </m:r>
                    </m:e>
                    <m:sup>
                      <m:r>
                        <a:rPr xmlns:a="http://schemas.openxmlformats.org/drawingml/2006/main" lang="en-US" i="1">
                          <a:latin typeface="Cambria Math"/>
                          <a:ea typeface="Cambria Math"/>
                          <a:cs typeface="Cambria Math"/>
                        </a:rPr>
                        <m:t>∗</m:t>
                      </m:r>
                    </m:sup>
                  </m:sSup>
                </m:oMath>
              </m:oMathPara>
            </a14:m>
            <a:endParaRPr>
              <a:solidFill>
                <a:schemeClr val="tx1"/>
              </a:solidFill>
              <a:latin typeface="DejaVu Math TeX Gyre"/>
              <a:ea typeface="DejaVu Math TeX Gyre"/>
              <a:cs typeface="DejaVu Math TeX Gyre"/>
            </a:endParaRPr>
          </a:p>
        </p:txBody>
      </p:sp>
      <p:sp>
        <p:nvSpPr>
          <p:cNvPr id="14" name="文本框 13">
            <a:extLst xmlns:a="http://schemas.openxmlformats.org/drawingml/2006/main">
              <a:ext uri="{FF2B5EF4-FFF2-40B4-BE49-F238E27FC236}">
                <a16:creationId xmlns:a16="http://schemas.microsoft.com/office/drawing/2014/main" id="{235DF88F-821E-A776-4521-7FBAF3164E67}"/>
              </a:ext>
            </a:extLst>
          </p:cNvPr>
          <p:cNvSpPr>
            <a:spLocks xmlns:a="http://schemas.openxmlformats.org/drawingml/2006/main" noGrp="1"/>
          </p:cNvSpPr>
          <p:nvPr/>
        </p:nvSpPr>
        <p:spPr>
          <a:xfrm xmlns:a="http://schemas.openxmlformats.org/drawingml/2006/main">
            <a:off x="917468" y="5268584"/>
            <a:ext cx="5178532" cy="873049"/>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a:solidFill>
                  <a:schemeClr val="tx1"/>
                </a:solidFill>
                <a:latin typeface="DejaVu Math TeX Gyre"/>
                <a:ea typeface="DejaVu Math TeX Gyre"/>
                <a:cs typeface="DejaVu Math TeX Gyre"/>
              </a:rPr>
              <a:t>4</a:t>
            </a:r>
            <a:r>
              <a:rPr>
                <a:solidFill>
                  <a:schemeClr val="tx1"/>
                </a:solidFill>
                <a:latin typeface="DejaVu Math TeX Gyre"/>
                <a:ea typeface="DejaVu Math TeX Gyre"/>
                <a:cs typeface="DejaVu Math TeX Gyre"/>
              </a:rPr>
              <a:t>）</a:t>
            </a:r>
            <a:r>
              <a:t>把 </a:t>
            </a:r>
            <a:r>
              <a:t>RBF </a:t>
            </a:r>
            <a:r>
              <a:t>核函数、最优解</a:t>
            </a:r>
            <a14:m xmlns:a14="http://schemas.microsoft.com/office/drawing/2010/main">
              <m:oMathPara xmlns:m="http://schemas.openxmlformats.org/officeDocument/2006/math">
                <m:oMath>
                  <m:sSup>
                    <m:e>
                      <m:r>
                        <a:rPr xmlns:a="http://schemas.openxmlformats.org/drawingml/2006/main" lang="en-US" b="1" i="1">
                          <a:latin typeface="Cambria Math"/>
                          <a:ea typeface="Cambria Math"/>
                          <a:cs typeface="Cambria Math"/>
                        </a:rPr>
                        <m:t>𝒘</m:t>
                      </m:r>
                    </m:e>
                    <m:sup>
                      <m:r>
                        <a:rPr xmlns:a="http://schemas.openxmlformats.org/drawingml/2006/main" lang="en-US" b="0" i="1">
                          <a:latin typeface="Cambria Math"/>
                          <a:ea typeface="Cambria Math"/>
                          <a:cs typeface="Cambria Math"/>
                        </a:rPr>
                        <m:t>∗</m:t>
                      </m:r>
                    </m:sup>
                  </m:sSup>
                </m:oMath>
              </m:oMathPara>
            </a14:m>
            <a:r>
              <a:t>和</a:t>
            </a: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𝑏</m:t>
                      </m:r>
                    </m:e>
                    <m:sup>
                      <m:r>
                        <a:rPr xmlns:a="http://schemas.openxmlformats.org/drawingml/2006/main" lang="en-US" b="0" i="1">
                          <a:latin typeface="Cambria Math"/>
                          <a:ea typeface="Cambria Math"/>
                          <a:cs typeface="Cambria Math"/>
                        </a:rPr>
                        <m:t>∗</m:t>
                      </m:r>
                    </m:sup>
                  </m:sSup>
                </m:oMath>
              </m:oMathPara>
            </a14:m>
            <a:r>
              <a:t>代入，获得最优分类函数</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𝑓</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𝑥</m:t>
                  </m:r>
                  <m:r>
                    <a:rPr xmlns:a="http://schemas.openxmlformats.org/drawingml/2006/main" lang="en-US" b="0" i="1">
                      <a:latin typeface="Cambria Math"/>
                      <a:ea typeface="Cambria Math"/>
                      <a:cs typeface="Cambria Math"/>
                    </a:rPr>
                    <m:t>)</m:t>
                  </m:r>
                </m:oMath>
              </m:oMathPara>
            </a14:m>
            <a:r>
              <a:t>，从而完成 </a:t>
            </a:r>
            <a:r>
              <a:t>SVM</a:t>
            </a:r>
            <a:r>
              <a:t>分类器的构造。</a:t>
            </a:r>
            <a:endParaRPr>
              <a:solidFill>
                <a:schemeClr val="tx1"/>
              </a:solidFill>
              <a:latin typeface="DejaVu Math TeX Gyre"/>
              <a:ea typeface="DejaVu Math TeX Gyre"/>
              <a:cs typeface="DejaVu Math TeX Gyre"/>
            </a:endParaRPr>
          </a:p>
        </p:txBody>
      </p:sp>
      <p:sp>
        <p:nvSpPr>
          <p:cNvPr id="15" name="文本框 14">
            <a:extLst xmlns:a="http://schemas.openxmlformats.org/drawingml/2006/main">
              <a:ext uri="{FF2B5EF4-FFF2-40B4-BE49-F238E27FC236}">
                <a16:creationId xmlns:a16="http://schemas.microsoft.com/office/drawing/2014/main" id="{7D6B0A89-51B7-8F7D-689C-EFB418B8041E}"/>
              </a:ext>
            </a:extLst>
          </p:cNvPr>
          <p:cNvSpPr>
            <a:spLocks xmlns:a="http://schemas.openxmlformats.org/drawingml/2006/main" noGrp="1"/>
          </p:cNvSpPr>
          <p:nvPr/>
        </p:nvSpPr>
        <p:spPr>
          <a:xfrm xmlns:a="http://schemas.openxmlformats.org/drawingml/2006/main">
            <a:off x="6212877" y="1621521"/>
            <a:ext cx="4444551" cy="7797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b="1"/>
              <a:t>避障</a:t>
            </a:r>
            <a:r>
              <a:t>即移动机器人传感器对环境中障碍物进行测试所获得测试数据，判断移动机器人下一步的行进方向</a:t>
            </a:r>
            <a:endParaRPr>
              <a:solidFill>
                <a:schemeClr val="tx1"/>
              </a:solidFill>
              <a:latin typeface="DejaVu Math TeX Gyre"/>
              <a:ea typeface="DejaVu Math TeX Gyre"/>
              <a:cs typeface="DejaVu Math TeX Gyre"/>
            </a:endParaRPr>
          </a:p>
        </p:txBody>
      </p:sp>
    </p:spTree>
    <p:extLst>
      <p:ext uri="{BB962C8B-B14F-4D97-AF65-F5344CB8AC3E}">
        <p14:creationId xmlns:p14="http://schemas.microsoft.com/office/powerpoint/2010/main" val="174887714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EE52FD94-D076-4C0C-A506-C5A2DC10919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C29DBC9C-591C-480D-A461-8EE2DBDE9694}"/>
              </a:ext>
            </a:extLst>
          </p:cNvPr>
          <p:cNvSpPr>
            <a:spLocks xmlns:a="http://schemas.openxmlformats.org/drawingml/2006/main" noGrp="1"/>
          </p:cNvSpPr>
          <p:nvPr/>
        </p:nvSpPr>
        <p:spPr>
          <a:xfrm xmlns:a="http://schemas.openxmlformats.org/drawingml/2006/main" rot="0" flipH="0" flipV="0">
            <a:off x="270932" y="1021703"/>
            <a:ext cx="3964183"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5.2.3 </a:t>
            </a:r>
            <a:r>
              <a:rPr sz="2400" b="1">
                <a:solidFill>
                  <a:schemeClr val="accent1"/>
                </a:solidFill>
              </a:rPr>
              <a:t>支持向量机避障策略</a:t>
            </a:r>
            <a:endParaRPr sz="2400" b="1">
              <a:solidFill>
                <a:schemeClr val="accent1"/>
              </a:solidFill>
            </a:endParaRPr>
          </a:p>
        </p:txBody>
      </p:sp>
      <p:pic>
        <p:nvPicPr>
          <p:cNvPr id="16" name="图片 5"/>
          <p:cNvPicPr>
            <a:picLocks xmlns:a="http://schemas.openxmlformats.org/drawingml/2006/main" noChangeAspect="1"/>
          </p:cNvPicPr>
          <p:nvPr/>
        </p:nvPicPr>
        <p:blipFill>
          <a:blip xmlns:r="http://schemas.openxmlformats.org/officeDocument/2006/relationships" xmlns:a="http://schemas.openxmlformats.org/drawingml/2006/main" r:embed="R0d6d4cc333ab4aa6"/>
          <a:stretch xmlns:a="http://schemas.openxmlformats.org/drawingml/2006/main">
            <a:fillRect l="0" t="0" r="0" b="0"/>
          </a:stretch>
        </p:blipFill>
        <p:spPr>
          <a:xfrm xmlns:a="http://schemas.openxmlformats.org/drawingml/2006/main">
            <a:off x="8250226" y="2373343"/>
            <a:ext cx="1718796" cy="1648641"/>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B469A129-C02B-2A49-291B-1A0F2A561E82}"/>
              </a:ext>
            </a:extLst>
          </p:cNvPr>
          <p:cNvSpPr>
            <a:spLocks xmlns:a="http://schemas.openxmlformats.org/drawingml/2006/main" noGrp="1"/>
          </p:cNvSpPr>
          <p:nvPr/>
        </p:nvSpPr>
        <p:spPr>
          <a:xfrm xmlns:a="http://schemas.openxmlformats.org/drawingml/2006/main">
            <a:off x="732464" y="1658190"/>
            <a:ext cx="4444551" cy="7797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b="1">
                <a:latin typeface="DejaVu Math TeX Gyre"/>
                <a:ea typeface="DejaVu Math TeX Gyre"/>
                <a:cs typeface="DejaVu Math TeX Gyre"/>
              </a:rPr>
              <a:t>SVM</a:t>
            </a:r>
            <a:r>
              <a:rPr b="1">
                <a:latin typeface="DejaVu Math TeX Gyre"/>
                <a:ea typeface="DejaVu Math TeX Gyre"/>
                <a:cs typeface="DejaVu Math TeX Gyre"/>
              </a:rPr>
              <a:t>算法移动机器人避障具体步骤如下</a:t>
            </a:r>
            <a:r>
              <a:rPr b="1">
                <a:latin typeface="DejaVu Math TeX Gyre"/>
                <a:ea typeface="DejaVu Math TeX Gyre"/>
                <a:cs typeface="DejaVu Math TeX Gyre"/>
              </a:rPr>
              <a:t>:</a:t>
            </a:r>
            <a:endParaRPr>
              <a:solidFill>
                <a:schemeClr val="tx1"/>
              </a:solidFill>
              <a:latin typeface="DejaVu Math TeX Gyre"/>
              <a:ea typeface="DejaVu Math TeX Gyre"/>
              <a:cs typeface="DejaVu Math TeX Gyre"/>
            </a:endParaRPr>
          </a:p>
        </p:txBody>
      </p:sp>
      <p:sp>
        <p:nvSpPr>
          <p:cNvPr id="9" name="文本框 8">
            <a:extLst xmlns:a="http://schemas.openxmlformats.org/drawingml/2006/main">
              <a:ext uri="{FF2B5EF4-FFF2-40B4-BE49-F238E27FC236}">
                <a16:creationId xmlns:a16="http://schemas.microsoft.com/office/drawing/2014/main" id="{909137FB-1932-8666-C598-EF759A383CA0}"/>
              </a:ext>
            </a:extLst>
          </p:cNvPr>
          <p:cNvSpPr>
            <a:spLocks xmlns:a="http://schemas.openxmlformats.org/drawingml/2006/main" noGrp="1"/>
          </p:cNvSpPr>
          <p:nvPr/>
        </p:nvSpPr>
        <p:spPr>
          <a:xfrm xmlns:a="http://schemas.openxmlformats.org/drawingml/2006/main">
            <a:off x="409712" y="2114081"/>
            <a:ext cx="5991087" cy="1907903"/>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a:latin typeface="DejaVu Math TeX Gyre"/>
                <a:ea typeface="DejaVu Math TeX Gyre"/>
                <a:cs typeface="DejaVu Math TeX Gyre"/>
              </a:rPr>
              <a:t>1</a:t>
            </a:r>
            <a:r>
              <a:rPr>
                <a:latin typeface="DejaVu Math TeX Gyre"/>
                <a:ea typeface="DejaVu Math TeX Gyre"/>
                <a:cs typeface="DejaVu Math TeX Gyre"/>
              </a:rPr>
              <a:t>）从六种类别中分别选取两个不同类别构成一种</a:t>
            </a:r>
            <a:r>
              <a:rPr>
                <a:latin typeface="DejaVu Math TeX Gyre"/>
                <a:ea typeface="DejaVu Math TeX Gyre"/>
                <a:cs typeface="DejaVu Math TeX Gyre"/>
              </a:rPr>
              <a:t>SVM </a:t>
            </a:r>
            <a:r>
              <a:rPr>
                <a:latin typeface="DejaVu Math TeX Gyre"/>
                <a:ea typeface="DejaVu Math TeX Gyre"/>
                <a:cs typeface="DejaVu Math TeX Gyre"/>
              </a:rPr>
              <a:t>子分类。针对</a:t>
            </a:r>
            <a:r>
              <a:rPr>
                <a:latin typeface="DejaVu Math TeX Gyre"/>
                <a:ea typeface="DejaVu Math TeX Gyre"/>
                <a:cs typeface="DejaVu Math TeX Gyre"/>
              </a:rPr>
              <a:t>15 </a:t>
            </a:r>
            <a:r>
              <a:rPr>
                <a:latin typeface="DejaVu Math TeX Gyre"/>
                <a:ea typeface="DejaVu Math TeX Gyre"/>
                <a:cs typeface="DejaVu Math TeX Gyre"/>
              </a:rPr>
              <a:t>种</a:t>
            </a:r>
            <a:r>
              <a:rPr>
                <a:latin typeface="DejaVu Math TeX Gyre"/>
                <a:ea typeface="DejaVu Math TeX Gyre"/>
                <a:cs typeface="DejaVu Math TeX Gyre"/>
              </a:rPr>
              <a:t>SVM </a:t>
            </a:r>
            <a:r>
              <a:rPr>
                <a:latin typeface="DejaVu Math TeX Gyre"/>
                <a:ea typeface="DejaVu Math TeX Gyre"/>
                <a:cs typeface="DejaVu Math TeX Gyre"/>
              </a:rPr>
              <a:t>子分类通过对已知样本训练的训练集分别构造</a:t>
            </a:r>
            <a:r>
              <a:rPr>
                <a:latin typeface="DejaVu Math TeX Gyre"/>
                <a:ea typeface="DejaVu Math TeX Gyre"/>
                <a:cs typeface="DejaVu Math TeX Gyre"/>
              </a:rPr>
              <a:t>15 </a:t>
            </a:r>
            <a:r>
              <a:rPr>
                <a:latin typeface="DejaVu Math TeX Gyre"/>
                <a:ea typeface="DejaVu Math TeX Gyre"/>
                <a:cs typeface="DejaVu Math TeX Gyre"/>
              </a:rPr>
              <a:t>个</a:t>
            </a:r>
            <a:r>
              <a:rPr>
                <a:latin typeface="DejaVu Math TeX Gyre"/>
                <a:ea typeface="DejaVu Math TeX Gyre"/>
                <a:cs typeface="DejaVu Math TeX Gyre"/>
              </a:rPr>
              <a:t>SVM </a:t>
            </a:r>
            <a:r>
              <a:rPr>
                <a:latin typeface="DejaVu Math TeX Gyre"/>
                <a:ea typeface="DejaVu Math TeX Gyre"/>
                <a:cs typeface="DejaVu Math TeX Gyre"/>
              </a:rPr>
              <a:t>分类器，获得</a:t>
            </a:r>
            <a:r>
              <a:rPr>
                <a:latin typeface="DejaVu Math TeX Gyre"/>
                <a:ea typeface="DejaVu Math TeX Gyre"/>
                <a:cs typeface="DejaVu Math TeX Gyre"/>
              </a:rPr>
              <a:t>15 </a:t>
            </a:r>
            <a:r>
              <a:rPr>
                <a:latin typeface="DejaVu Math TeX Gyre"/>
                <a:ea typeface="DejaVu Math TeX Gyre"/>
                <a:cs typeface="DejaVu Math TeX Gyre"/>
              </a:rPr>
              <a:t>个最优分类函数</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𝑓</m:t>
                      </m:r>
                    </m:e>
                    <m:sub>
                      <m:r>
                        <a:rPr xmlns:a="http://schemas.openxmlformats.org/drawingml/2006/main" lang="en-US" b="0" i="1">
                          <a:latin typeface="Cambria Math"/>
                          <a:ea typeface="Cambria Math"/>
                          <a:cs typeface="Cambria Math"/>
                        </a:rPr>
                        <m:t>𝑖𝑗</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𝑖</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𝑗</m:t>
                  </m:r>
                  <m:r>
                    <a:rPr xmlns:a="http://schemas.openxmlformats.org/drawingml/2006/main" lang="en-US" b="0" i="1">
                      <a:latin typeface="Cambria Math"/>
                      <a:ea typeface="Cambria Math"/>
                      <a:cs typeface="Cambria Math"/>
                    </a:rPr>
                    <m:t>=1,2,…,6）</m:t>
                  </m:r>
                </m:oMath>
              </m:oMathPara>
            </a14:m>
            <a:endParaRPr>
              <a:solidFill>
                <a:schemeClr val="tx1"/>
              </a:solidFill>
              <a:latin typeface="DejaVu Math TeX Gyre"/>
              <a:ea typeface="DejaVu Math TeX Gyre"/>
              <a:cs typeface="DejaVu Math TeX Gyre"/>
            </a:endParaRPr>
          </a:p>
        </p:txBody>
      </p:sp>
      <p:sp>
        <p:nvSpPr>
          <p:cNvPr id="11" name="文本框 10">
            <a:extLst xmlns:a="http://schemas.openxmlformats.org/drawingml/2006/main">
              <a:ext uri="{FF2B5EF4-FFF2-40B4-BE49-F238E27FC236}">
                <a16:creationId xmlns:a16="http://schemas.microsoft.com/office/drawing/2014/main" id="{5B81977E-A813-8B61-5602-5A0858ED2791}"/>
              </a:ext>
            </a:extLst>
          </p:cNvPr>
          <p:cNvSpPr>
            <a:spLocks xmlns:a="http://schemas.openxmlformats.org/drawingml/2006/main" noGrp="1"/>
          </p:cNvSpPr>
          <p:nvPr/>
        </p:nvSpPr>
        <p:spPr>
          <a:xfrm xmlns:a="http://schemas.openxmlformats.org/drawingml/2006/main">
            <a:off x="7079408" y="1479435"/>
            <a:ext cx="4444551" cy="7797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lnSpc>
                <a:spcPct val="120000"/>
              </a:lnSpc>
              <a:buNone/>
            </a:pPr>
            <a:r>
              <a:rPr b="1">
                <a:latin typeface="DejaVu Math TeX Gyre"/>
                <a:ea typeface="DejaVu Math TeX Gyre"/>
                <a:cs typeface="DejaVu Math TeX Gyre"/>
              </a:rPr>
              <a:t>六个前进方向</a:t>
            </a:r>
            <a:endParaRPr>
              <a:solidFill>
                <a:schemeClr val="tx1"/>
              </a:solidFill>
              <a:latin typeface="DejaVu Math TeX Gyre"/>
              <a:ea typeface="DejaVu Math TeX Gyre"/>
              <a:cs typeface="DejaVu Math TeX Gyre"/>
            </a:endParaRPr>
          </a:p>
        </p:txBody>
      </p:sp>
      <p:sp>
        <p:nvSpPr>
          <p:cNvPr id="5" name="文本框 4">
            <a:extLst xmlns:a="http://schemas.openxmlformats.org/drawingml/2006/main">
              <a:ext uri="{FF2B5EF4-FFF2-40B4-BE49-F238E27FC236}">
                <a16:creationId xmlns:a16="http://schemas.microsoft.com/office/drawing/2014/main" id="{79C153CC-C79F-6AF3-0A67-B9EFE57F2985}"/>
              </a:ext>
            </a:extLst>
          </p:cNvPr>
          <p:cNvSpPr>
            <a:spLocks xmlns:a="http://schemas.openxmlformats.org/drawingml/2006/main" noGrp="1"/>
          </p:cNvSpPr>
          <p:nvPr/>
        </p:nvSpPr>
        <p:spPr>
          <a:xfrm xmlns:a="http://schemas.openxmlformats.org/drawingml/2006/main">
            <a:off x="409712" y="3500749"/>
            <a:ext cx="5152316" cy="499454"/>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a:latin typeface="DejaVu Math TeX Gyre"/>
                <a:ea typeface="DejaVu Math TeX Gyre"/>
                <a:cs typeface="DejaVu Math TeX Gyre"/>
              </a:rPr>
              <a:t>2</a:t>
            </a:r>
            <a:r>
              <a:rPr>
                <a:latin typeface="DejaVu Math TeX Gyre"/>
                <a:ea typeface="DejaVu Math TeX Gyre"/>
                <a:cs typeface="DejaVu Math TeX Gyre"/>
              </a:rPr>
              <a:t>）</a:t>
            </a:r>
            <a:r>
              <a:t>通过移动机器人的传感器获取待处理数据</a:t>
            </a:r>
            <a14:m xmlns:a14="http://schemas.microsoft.com/office/drawing/2010/main">
              <m:oMathPara xmlns:m="http://schemas.openxmlformats.org/officeDocument/2006/math">
                <m:oMath>
                  <m:r>
                    <a:rPr xmlns:a="http://schemas.openxmlformats.org/drawingml/2006/main" lang="en-US" b="1" i="1">
                      <a:latin typeface="Cambria Math"/>
                      <a:ea typeface="Cambria Math"/>
                      <a:cs typeface="Cambria Math"/>
                    </a:rPr>
                    <m:t>𝒙</m:t>
                  </m:r>
                </m:oMath>
              </m:oMathPara>
            </a14:m>
            <a:endParaRPr b="1">
              <a:solidFill>
                <a:schemeClr val="tx1"/>
              </a:solidFill>
              <a:latin typeface="DejaVu Math TeX Gyre"/>
              <a:ea typeface="DejaVu Math TeX Gyre"/>
              <a:cs typeface="DejaVu Math TeX Gyre"/>
            </a:endParaRPr>
          </a:p>
        </p:txBody>
      </p:sp>
      <p:sp>
        <p:nvSpPr>
          <p:cNvPr id="7" name="文本框 6">
            <a:extLst xmlns:a="http://schemas.openxmlformats.org/drawingml/2006/main">
              <a:ext uri="{FF2B5EF4-FFF2-40B4-BE49-F238E27FC236}">
                <a16:creationId xmlns:a16="http://schemas.microsoft.com/office/drawing/2014/main" id="{A91A9C06-460B-077D-8FAA-978D088471AF}"/>
              </a:ext>
            </a:extLst>
          </p:cNvPr>
          <p:cNvSpPr>
            <a:spLocks xmlns:a="http://schemas.openxmlformats.org/drawingml/2006/main" noGrp="1"/>
          </p:cNvSpPr>
          <p:nvPr/>
        </p:nvSpPr>
        <p:spPr>
          <a:xfrm xmlns:a="http://schemas.openxmlformats.org/drawingml/2006/main">
            <a:off x="409712" y="3978420"/>
            <a:ext cx="5227942" cy="82733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a:latin typeface="DejaVu Math TeX Gyre"/>
                <a:ea typeface="DejaVu Math TeX Gyre"/>
                <a:cs typeface="DejaVu Math TeX Gyre"/>
              </a:rPr>
              <a:t>3</a:t>
            </a:r>
            <a:r>
              <a:rPr>
                <a:latin typeface="DejaVu Math TeX Gyre"/>
                <a:ea typeface="DejaVu Math TeX Gyre"/>
                <a:cs typeface="DejaVu Math TeX Gyre"/>
              </a:rPr>
              <a:t>）计算</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𝑓</m:t>
                      </m:r>
                    </m:e>
                    <m:sub>
                      <m:r>
                        <a:rPr xmlns:a="http://schemas.openxmlformats.org/drawingml/2006/main" lang="en-US" b="0" i="1">
                          <a:latin typeface="Cambria Math"/>
                          <a:ea typeface="Cambria Math"/>
                          <a:cs typeface="Cambria Math"/>
                        </a:rPr>
                        <m:t>𝑖𝑗</m:t>
                      </m:r>
                    </m:sub>
                  </m:sSub>
                  <m:r>
                    <a:rPr xmlns:a="http://schemas.openxmlformats.org/drawingml/2006/main" lang="en-US" b="0" i="1">
                      <a:latin typeface="Cambria Math"/>
                      <a:ea typeface="Cambria Math"/>
                      <a:cs typeface="Cambria Math"/>
                    </a:rPr>
                    <m:t>(</m:t>
                  </m:r>
                  <m:r>
                    <a:rPr xmlns:a="http://schemas.openxmlformats.org/drawingml/2006/main" lang="en-US" b="1" i="1">
                      <a:latin typeface="Cambria Math"/>
                      <a:ea typeface="Cambria Math"/>
                      <a:cs typeface="Cambria Math"/>
                    </a:rPr>
                    <m:t>𝒙</m:t>
                  </m:r>
                  <m:r>
                    <a:rPr xmlns:a="http://schemas.openxmlformats.org/drawingml/2006/main" lang="en-US" b="0" i="1">
                      <a:latin typeface="Cambria Math"/>
                      <a:ea typeface="Cambria Math"/>
                      <a:cs typeface="Cambria Math"/>
                    </a:rPr>
                    <m:t>)</m:t>
                  </m:r>
                </m:oMath>
              </m:oMathPara>
            </a14:m>
            <a:r>
              <a:rPr>
                <a:solidFill>
                  <a:schemeClr val="tx1"/>
                </a:solidFill>
                <a:latin typeface="DejaVu Math TeX Gyre"/>
                <a:ea typeface="DejaVu Math TeX Gyre"/>
                <a:cs typeface="DejaVu Math TeX Gyre"/>
              </a:rPr>
              <a:t>,</a:t>
            </a:r>
            <a:r>
              <a:rPr>
                <a:solidFill>
                  <a:schemeClr val="tx1"/>
                </a:solidFill>
                <a:latin typeface="DejaVu Math TeX Gyre"/>
                <a:ea typeface="DejaVu Math TeX Gyre"/>
                <a:cs typeface="DejaVu Math TeX Gyre"/>
              </a:rPr>
              <a:t>当</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𝑓</m:t>
                      </m:r>
                    </m:e>
                    <m:sub>
                      <m:r>
                        <a:rPr xmlns:a="http://schemas.openxmlformats.org/drawingml/2006/main" lang="en-US" i="1">
                          <a:latin typeface="Cambria Math"/>
                          <a:ea typeface="Cambria Math"/>
                          <a:cs typeface="Cambria Math"/>
                        </a:rPr>
                        <m:t>𝑖𝑗</m:t>
                      </m:r>
                    </m:sub>
                  </m:sSub>
                  <m:d>
                    <m:dPr>
                      <m:grow m:val="off"/>
                    </m:dPr>
                    <m:e>
                      <m:r>
                        <a:rPr xmlns:a="http://schemas.openxmlformats.org/drawingml/2006/main" lang="en-US" b="1" i="1">
                          <a:latin typeface="Cambria Math"/>
                          <a:ea typeface="Cambria Math"/>
                          <a:cs typeface="Cambria Math"/>
                        </a:rPr>
                        <m:t>𝒙</m:t>
                      </m:r>
                    </m:e>
                  </m:d>
                  <m:r>
                    <a:rPr xmlns:a="http://schemas.openxmlformats.org/drawingml/2006/main" lang="en-US" b="0" i="0">
                      <a:latin typeface="Cambria Math"/>
                      <a:ea typeface="Cambria Math"/>
                      <a:cs typeface="Cambria Math"/>
                    </a:rPr>
                    <m:t>=+1</m:t>
                  </m:r>
                </m:oMath>
              </m:oMathPara>
            </a14:m>
            <a:r>
              <a:rPr>
                <a:solidFill>
                  <a:schemeClr val="tx1"/>
                </a:solidFill>
                <a:latin typeface="DejaVu Math TeX Gyre"/>
                <a:ea typeface="DejaVu Math TeX Gyre"/>
                <a:cs typeface="DejaVu Math TeX Gyre"/>
              </a:rPr>
              <a:t>时表示</a:t>
            </a:r>
            <a14:m xmlns:a14="http://schemas.microsoft.com/office/drawing/2010/main">
              <m:oMathPara xmlns:m="http://schemas.openxmlformats.org/officeDocument/2006/math">
                <m:oMath>
                  <m:r>
                    <a:rPr xmlns:a="http://schemas.openxmlformats.org/drawingml/2006/main" lang="en-US" b="0" i="1">
                      <a:solidFill>
                        <a:schemeClr val="tx1"/>
                      </a:solidFill>
                      <a:latin typeface="Cambria Math"/>
                      <a:ea typeface="Cambria Math"/>
                      <a:cs typeface="Cambria Math"/>
                    </a:rPr>
                    <m:t>𝑥</m:t>
                  </m:r>
                </m:oMath>
              </m:oMathPara>
            </a14:m>
            <a:r>
              <a:rPr>
                <a:solidFill>
                  <a:schemeClr val="tx1"/>
                </a:solidFill>
                <a:latin typeface="DejaVu Math TeX Gyre"/>
                <a:ea typeface="DejaVu Math TeX Gyre"/>
                <a:cs typeface="DejaVu Math TeX Gyre"/>
              </a:rPr>
              <a:t>属于</a:t>
            </a:r>
            <a14:m xmlns:a14="http://schemas.microsoft.com/office/drawing/2010/main">
              <m:oMathPara xmlns:m="http://schemas.openxmlformats.org/officeDocument/2006/math">
                <m:oMath>
                  <m:r>
                    <a:rPr xmlns:a="http://schemas.openxmlformats.org/drawingml/2006/main" lang="en-US" b="0" i="1">
                      <a:solidFill>
                        <a:schemeClr val="tx1"/>
                      </a:solidFill>
                      <a:latin typeface="Cambria Math"/>
                      <a:ea typeface="Cambria Math"/>
                      <a:cs typeface="Cambria Math"/>
                    </a:rPr>
                    <m:t>𝑖</m:t>
                  </m:r>
                </m:oMath>
              </m:oMathPara>
            </a14:m>
            <a:r>
              <a:rPr>
                <a:latin typeface="DejaVu Math TeX Gyre"/>
                <a:ea typeface="DejaVu Math TeX Gyre"/>
                <a:cs typeface="DejaVu Math TeX Gyre"/>
              </a:rPr>
              <a:t>类，当</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𝑓</m:t>
                      </m:r>
                    </m:e>
                    <m:sub>
                      <m:r>
                        <a:rPr xmlns:a="http://schemas.openxmlformats.org/drawingml/2006/main" lang="en-US" i="1">
                          <a:latin typeface="Cambria Math"/>
                          <a:ea typeface="Cambria Math"/>
                          <a:cs typeface="Cambria Math"/>
                        </a:rPr>
                        <m:t>𝑖𝑗</m:t>
                      </m:r>
                    </m:sub>
                  </m:sSub>
                  <m:d>
                    <m:dPr>
                      <m:grow m:val="off"/>
                    </m:dPr>
                    <m:e>
                      <m:r>
                        <a:rPr xmlns:a="http://schemas.openxmlformats.org/drawingml/2006/main" lang="en-US" b="1" i="1">
                          <a:latin typeface="Cambria Math"/>
                          <a:ea typeface="Cambria Math"/>
                          <a:cs typeface="Cambria Math"/>
                        </a:rPr>
                        <m:t>𝒙</m:t>
                      </m:r>
                    </m:e>
                  </m:d>
                  <m:r>
                    <a:rPr xmlns:a="http://schemas.openxmlformats.org/drawingml/2006/main" lang="en-US">
                      <a:latin typeface="Cambria Math"/>
                      <a:ea typeface="Cambria Math"/>
                      <a:cs typeface="Cambria Math"/>
                    </a:rPr>
                    <m:t>=</m:t>
                  </m:r>
                  <m:r>
                    <a:rPr xmlns:a="http://schemas.openxmlformats.org/drawingml/2006/main" lang="en-US" b="0" i="0">
                      <a:latin typeface="Cambria Math"/>
                      <a:ea typeface="Cambria Math"/>
                      <a:cs typeface="Cambria Math"/>
                    </a:rPr>
                    <m:t>−</m:t>
                  </m:r>
                  <m:r>
                    <a:rPr xmlns:a="http://schemas.openxmlformats.org/drawingml/2006/main" lang="en-US">
                      <a:latin typeface="Cambria Math"/>
                      <a:ea typeface="Cambria Math"/>
                      <a:cs typeface="Cambria Math"/>
                    </a:rPr>
                    <m:t>1</m:t>
                  </m:r>
                </m:oMath>
              </m:oMathPara>
            </a14:m>
            <a:r>
              <a:rPr>
                <a:latin typeface="DejaVu Math TeX Gyre"/>
                <a:ea typeface="DejaVu Math TeX Gyre"/>
                <a:cs typeface="DejaVu Math TeX Gyre"/>
              </a:rPr>
              <a:t>时表示</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𝑥</m:t>
                  </m:r>
                </m:oMath>
              </m:oMathPara>
            </a14:m>
            <a:r>
              <a:rPr>
                <a:latin typeface="DejaVu Math TeX Gyre"/>
                <a:ea typeface="DejaVu Math TeX Gyre"/>
                <a:cs typeface="DejaVu Math TeX Gyre"/>
              </a:rPr>
              <a:t>属于</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𝑗</m:t>
                  </m:r>
                </m:oMath>
              </m:oMathPara>
            </a14:m>
            <a:r>
              <a:rPr>
                <a:latin typeface="DejaVu Math TeX Gyre"/>
                <a:ea typeface="DejaVu Math TeX Gyre"/>
                <a:cs typeface="DejaVu Math TeX Gyre"/>
              </a:rPr>
              <a:t>类</a:t>
            </a:r>
            <a:endParaRPr>
              <a:solidFill>
                <a:schemeClr val="tx1"/>
              </a:solidFill>
              <a:latin typeface="DejaVu Math TeX Gyre"/>
              <a:ea typeface="DejaVu Math TeX Gyre"/>
              <a:cs typeface="DejaVu Math TeX Gyre"/>
            </a:endParaRPr>
          </a:p>
        </p:txBody>
      </p:sp>
      <p:sp>
        <p:nvSpPr>
          <p:cNvPr id="10" name="文本框 9">
            <a:extLst xmlns:a="http://schemas.openxmlformats.org/drawingml/2006/main">
              <a:ext uri="{FF2B5EF4-FFF2-40B4-BE49-F238E27FC236}">
                <a16:creationId xmlns:a16="http://schemas.microsoft.com/office/drawing/2014/main" id="{D8384B8F-FC68-E945-AB73-DFD053A3A786}"/>
              </a:ext>
            </a:extLst>
          </p:cNvPr>
          <p:cNvSpPr>
            <a:spLocks xmlns:a="http://schemas.openxmlformats.org/drawingml/2006/main" noGrp="1"/>
          </p:cNvSpPr>
          <p:nvPr/>
        </p:nvSpPr>
        <p:spPr>
          <a:xfrm xmlns:a="http://schemas.openxmlformats.org/drawingml/2006/main">
            <a:off x="409712" y="4786142"/>
            <a:ext cx="5686288" cy="1883952"/>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a:latin typeface="DejaVu Math TeX Gyre"/>
                <a:ea typeface="DejaVu Math TeX Gyre"/>
                <a:cs typeface="DejaVu Math TeX Gyre"/>
              </a:rPr>
              <a:t>4</a:t>
            </a:r>
            <a:r>
              <a:rPr>
                <a:latin typeface="DejaVu Math TeX Gyre"/>
                <a:ea typeface="DejaVu Math TeX Gyre"/>
                <a:cs typeface="DejaVu Math TeX Gyre"/>
              </a:rPr>
              <a:t>）针对</a:t>
            </a:r>
            <a:r>
              <a:rPr>
                <a:latin typeface="DejaVu Math TeX Gyre"/>
                <a:ea typeface="DejaVu Math TeX Gyre"/>
                <a:cs typeface="DejaVu Math TeX Gyre"/>
              </a:rPr>
              <a:t>15 </a:t>
            </a:r>
            <a:r>
              <a:rPr>
                <a:latin typeface="DejaVu Math TeX Gyre"/>
                <a:ea typeface="DejaVu Math TeX Gyre"/>
                <a:cs typeface="DejaVu Math TeX Gyre"/>
              </a:rPr>
              <a:t>个最优分类函数的计算结果进行“ 投票”统计， 设</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𝑉</m:t>
                      </m:r>
                    </m:e>
                    <m:sub>
                      <m:r>
                        <a:rPr xmlns:a="http://schemas.openxmlformats.org/drawingml/2006/main" lang="en-US" b="0" i="1">
                          <a:latin typeface="Cambria Math"/>
                          <a:ea typeface="Cambria Math"/>
                          <a:cs typeface="Cambria Math"/>
                        </a:rPr>
                        <m:t>𝑖</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𝑖</m:t>
                  </m:r>
                  <m:r>
                    <a:rPr xmlns:a="http://schemas.openxmlformats.org/drawingml/2006/main" lang="en-US" b="0" i="1">
                      <a:latin typeface="Cambria Math"/>
                      <a:ea typeface="Cambria Math"/>
                      <a:cs typeface="Cambria Math"/>
                    </a:rPr>
                    <m:t>=1,2,…,6)</m:t>
                  </m:r>
                </m:oMath>
              </m:oMathPara>
            </a14:m>
            <a:r>
              <a:rPr>
                <a:latin typeface="DejaVu Math TeX Gyre"/>
                <a:ea typeface="DejaVu Math TeX Gyre"/>
                <a:cs typeface="DejaVu Math TeX Gyre"/>
              </a:rPr>
              <a:t>为记录第</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𝑖</m:t>
                  </m:r>
                </m:oMath>
              </m:oMathPara>
            </a14:m>
            <a:r>
              <a:rPr>
                <a:latin typeface="DejaVu Math TeX Gyre"/>
                <a:ea typeface="DejaVu Math TeX Gyre"/>
                <a:cs typeface="DejaVu Math TeX Gyre"/>
              </a:rPr>
              <a:t>个类别的票数，当</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𝑓</m:t>
                      </m:r>
                    </m:e>
                    <m:sub>
                      <m:r>
                        <a:rPr xmlns:a="http://schemas.openxmlformats.org/drawingml/2006/main" lang="en-US" i="1">
                          <a:latin typeface="Cambria Math"/>
                          <a:ea typeface="Cambria Math"/>
                          <a:cs typeface="Cambria Math"/>
                        </a:rPr>
                        <m:t>𝑖𝑗</m:t>
                      </m:r>
                    </m:sub>
                  </m:sSub>
                  <m:d>
                    <m:dPr>
                      <m:grow m:val="off"/>
                    </m:dPr>
                    <m:e>
                      <m:r>
                        <a:rPr xmlns:a="http://schemas.openxmlformats.org/drawingml/2006/main" lang="en-US" b="1" i="1">
                          <a:latin typeface="Cambria Math"/>
                          <a:ea typeface="Cambria Math"/>
                          <a:cs typeface="Cambria Math"/>
                        </a:rPr>
                        <m:t>𝒙</m:t>
                      </m:r>
                    </m:e>
                  </m:d>
                  <m:r>
                    <a:rPr xmlns:a="http://schemas.openxmlformats.org/drawingml/2006/main" lang="en-US" b="0" i="0">
                      <a:latin typeface="Cambria Math"/>
                      <a:ea typeface="Cambria Math"/>
                      <a:cs typeface="Cambria Math"/>
                    </a:rPr>
                    <m:t>=1</m:t>
                  </m:r>
                </m:oMath>
              </m:oMathPara>
            </a14:m>
            <a:r>
              <a:rPr>
                <a:solidFill>
                  <a:schemeClr val="tx1"/>
                </a:solidFill>
                <a:latin typeface="DejaVu Math TeX Gyre"/>
                <a:ea typeface="DejaVu Math TeX Gyre"/>
                <a:cs typeface="DejaVu Math TeX Gyre"/>
              </a:rPr>
              <a:t>时</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𝑉</m:t>
                      </m:r>
                    </m:e>
                    <m:sub>
                      <m:r>
                        <a:rPr xmlns:a="http://schemas.openxmlformats.org/drawingml/2006/main" lang="en-US" i="1">
                          <a:latin typeface="Cambria Math"/>
                          <a:ea typeface="Cambria Math"/>
                          <a:cs typeface="Cambria Math"/>
                        </a:rPr>
                        <m:t>𝑖</m:t>
                      </m:r>
                    </m:sub>
                  </m:sSub>
                </m:oMath>
              </m:oMathPara>
            </a14:m>
            <a:r>
              <a:rPr>
                <a:solidFill>
                  <a:schemeClr val="tx1"/>
                </a:solidFill>
                <a:latin typeface="DejaVu Math TeX Gyre"/>
                <a:ea typeface="DejaVu Math TeX Gyre"/>
                <a:cs typeface="DejaVu Math TeX Gyre"/>
              </a:rPr>
              <a:t>加</a:t>
            </a:r>
            <a:r>
              <a:rPr>
                <a:solidFill>
                  <a:schemeClr val="tx1"/>
                </a:solidFill>
                <a:latin typeface="DejaVu Math TeX Gyre"/>
                <a:ea typeface="DejaVu Math TeX Gyre"/>
                <a:cs typeface="DejaVu Math TeX Gyre"/>
              </a:rPr>
              <a:t>1</a:t>
            </a:r>
            <a:r>
              <a:rPr>
                <a:solidFill>
                  <a:schemeClr val="tx1"/>
                </a:solidFill>
                <a:latin typeface="DejaVu Math TeX Gyre"/>
                <a:ea typeface="DejaVu Math TeX Gyre"/>
                <a:cs typeface="DejaVu Math TeX Gyre"/>
              </a:rPr>
              <a:t>，当</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𝑓</m:t>
                      </m:r>
                    </m:e>
                    <m:sub>
                      <m:r>
                        <a:rPr xmlns:a="http://schemas.openxmlformats.org/drawingml/2006/main" lang="en-US" i="1">
                          <a:latin typeface="Cambria Math"/>
                          <a:ea typeface="Cambria Math"/>
                          <a:cs typeface="Cambria Math"/>
                        </a:rPr>
                        <m:t>𝑖𝑗</m:t>
                      </m:r>
                    </m:sub>
                  </m:sSub>
                  <m:d>
                    <m:dPr>
                      <m:grow m:val="off"/>
                    </m:dPr>
                    <m:e>
                      <m:r>
                        <a:rPr xmlns:a="http://schemas.openxmlformats.org/drawingml/2006/main" lang="en-US" b="1" i="1">
                          <a:latin typeface="Cambria Math"/>
                          <a:ea typeface="Cambria Math"/>
                          <a:cs typeface="Cambria Math"/>
                        </a:rPr>
                        <m:t>𝒙</m:t>
                      </m:r>
                    </m:e>
                  </m:d>
                  <m:r>
                    <a:rPr xmlns:a="http://schemas.openxmlformats.org/drawingml/2006/main" lang="en-US">
                      <a:latin typeface="Cambria Math"/>
                      <a:ea typeface="Cambria Math"/>
                      <a:cs typeface="Cambria Math"/>
                    </a:rPr>
                    <m:t>=</m:t>
                  </m:r>
                  <m:r>
                    <a:rPr xmlns:a="http://schemas.openxmlformats.org/drawingml/2006/main" lang="en-US" b="0" i="0">
                      <a:latin typeface="Cambria Math"/>
                      <a:ea typeface="Cambria Math"/>
                      <a:cs typeface="Cambria Math"/>
                    </a:rPr>
                    <m:t>−</m:t>
                  </m:r>
                  <m:r>
                    <a:rPr xmlns:a="http://schemas.openxmlformats.org/drawingml/2006/main" lang="en-US">
                      <a:latin typeface="Cambria Math"/>
                      <a:ea typeface="Cambria Math"/>
                      <a:cs typeface="Cambria Math"/>
                    </a:rPr>
                    <m:t>1</m:t>
                  </m:r>
                </m:oMath>
              </m:oMathPara>
            </a14:m>
            <a:r>
              <a:rPr>
                <a:solidFill>
                  <a:schemeClr val="tx1"/>
                </a:solidFill>
                <a:latin typeface="DejaVu Math TeX Gyre"/>
                <a:ea typeface="DejaVu Math TeX Gyre"/>
                <a:cs typeface="DejaVu Math TeX Gyre"/>
              </a:rPr>
              <a:t>时</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𝑉</m:t>
                      </m:r>
                    </m:e>
                    <m:sub>
                      <m:r>
                        <a:rPr xmlns:a="http://schemas.openxmlformats.org/drawingml/2006/main" lang="en-US" i="1">
                          <a:latin typeface="Cambria Math"/>
                          <a:ea typeface="Cambria Math"/>
                          <a:cs typeface="Cambria Math"/>
                        </a:rPr>
                        <m:t>j</m:t>
                      </m:r>
                    </m:sub>
                  </m:sSub>
                  <m:r>
                    <a:rPr xmlns:a="http://schemas.openxmlformats.org/drawingml/2006/main" lang="zh-CN" i="1">
                      <a:latin typeface="Cambria Math"/>
                      <a:ea typeface="Cambria Math"/>
                      <a:cs typeface="Cambria Math"/>
                    </a:rPr>
                    <m:t>加</m:t>
                  </m:r>
                </m:oMath>
              </m:oMathPara>
            </a14:m>
            <a:r>
              <a:rPr>
                <a:solidFill>
                  <a:schemeClr val="tx1"/>
                </a:solidFill>
                <a:latin typeface="DejaVu Math TeX Gyre"/>
                <a:ea typeface="DejaVu Math TeX Gyre"/>
                <a:cs typeface="DejaVu Math TeX Gyre"/>
              </a:rPr>
              <a:t>1</a:t>
            </a:r>
            <a:endParaRPr>
              <a:solidFill>
                <a:schemeClr val="tx1"/>
              </a:solidFill>
              <a:latin typeface="DejaVu Math TeX Gyre"/>
              <a:ea typeface="DejaVu Math TeX Gyre"/>
              <a:cs typeface="DejaVu Math TeX Gyre"/>
            </a:endParaRPr>
          </a:p>
        </p:txBody>
      </p:sp>
      <p:sp>
        <p:nvSpPr>
          <p:cNvPr id="12" name="文本框 11">
            <a:extLst xmlns:a="http://schemas.openxmlformats.org/drawingml/2006/main">
              <a:ext uri="{FF2B5EF4-FFF2-40B4-BE49-F238E27FC236}">
                <a16:creationId xmlns:a16="http://schemas.microsoft.com/office/drawing/2014/main" id="{48B1967F-691C-0AF8-BB8A-C8927E80827E}"/>
              </a:ext>
            </a:extLst>
          </p:cNvPr>
          <p:cNvSpPr>
            <a:spLocks xmlns:a="http://schemas.openxmlformats.org/drawingml/2006/main" noGrp="1"/>
          </p:cNvSpPr>
          <p:nvPr/>
        </p:nvSpPr>
        <p:spPr>
          <a:xfrm xmlns:a="http://schemas.openxmlformats.org/drawingml/2006/main">
            <a:off x="6172265" y="4805755"/>
            <a:ext cx="5686288" cy="1883952"/>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a:latin typeface="DejaVu Math TeX Gyre"/>
                <a:ea typeface="DejaVu Math TeX Gyre"/>
                <a:cs typeface="DejaVu Math TeX Gyre"/>
              </a:rPr>
              <a:t>5</a:t>
            </a:r>
            <a:r>
              <a:rPr>
                <a:latin typeface="DejaVu Math TeX Gyre"/>
                <a:ea typeface="DejaVu Math TeX Gyre"/>
                <a:cs typeface="DejaVu Math TeX Gyre"/>
              </a:rPr>
              <a:t>）</a:t>
            </a:r>
            <a:r>
              <a:t>根据最终“得票”的统计，则</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𝑥</m:t>
                  </m:r>
                </m:oMath>
              </m:oMathPara>
            </a14:m>
            <a:r>
              <a:t>属于“得票”数最多的那一类，移动机器人根据这一结果选择下一步的动作</a:t>
            </a:r>
            <a:endParaRPr>
              <a:solidFill>
                <a:schemeClr val="tx1"/>
              </a:solidFill>
              <a:latin typeface="DejaVu Math TeX Gyre"/>
              <a:ea typeface="DejaVu Math TeX Gyre"/>
              <a:cs typeface="DejaVu Math TeX Gyre"/>
            </a:endParaRPr>
          </a:p>
        </p:txBody>
      </p:sp>
    </p:spTree>
    <p:extLst>
      <p:ext uri="{BB962C8B-B14F-4D97-AF65-F5344CB8AC3E}">
        <p14:creationId xmlns:p14="http://schemas.microsoft.com/office/powerpoint/2010/main" val="155027034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7" name="梯形 16">
            <a:extLst xmlns:a="http://schemas.openxmlformats.org/drawingml/2006/main">
              <a:ext uri="{FF2B5EF4-FFF2-40B4-BE49-F238E27FC236}">
                <a16:creationId xmlns:a16="http://schemas.microsoft.com/office/drawing/2014/main" id="{287BBBCA-FA70-4A8E-9F1E-86E4AFCB9835}"/>
              </a:ext>
            </a:extLst>
          </p:cNvPr>
          <p:cNvSpPr>
            <a:spLocks xmlns:a="http://schemas.openxmlformats.org/drawingml/2006/main" noGrp="1"/>
          </p:cNvSpPr>
          <p:nvPr/>
        </p:nvSpPr>
        <p:spPr>
          <a:xfrm xmlns:a="http://schemas.openxmlformats.org/drawingml/2006/main" rot="0" flipH="0" flipV="1">
            <a:off x="631278" y="915458"/>
            <a:ext cx="10929446" cy="975568"/>
          </a:xfrm>
          <a:prstGeom xmlns:a="http://schemas.openxmlformats.org/drawingml/2006/main" prst="trapezoid">
            <a:avLst>
              <a:gd name="adj" fmla="val 54064"/>
            </a:avLst>
          </a:prstGeom>
          <a:gradFill xmlns:a="http://schemas.openxmlformats.org/drawingml/2006/main">
            <a:gsLst>
              <a:gs pos="0">
                <a:schemeClr val="accent3">
                  <a:lumMod val="20000"/>
                  <a:lumOff val="80000"/>
                </a:schemeClr>
              </a:gs>
              <a:gs pos="100000">
                <a:schemeClr val="accent3">
                  <a:lumMod val="20000"/>
                  <a:lumOff val="80000"/>
                  <a:alpha val="0"/>
                </a:schemeClr>
              </a:gs>
            </a:gsLst>
            <a:lin ang="5400000" scaled="0"/>
          </a:gradFill>
          <a:ln xmlns:a="http://schemas.openxmlformats.org/drawingml/2006/main" w="22225">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文本框 14">
            <a:extLst xmlns:a="http://schemas.openxmlformats.org/drawingml/2006/main">
              <a:ext uri="{FF2B5EF4-FFF2-40B4-BE49-F238E27FC236}">
                <a16:creationId xmlns:a16="http://schemas.microsoft.com/office/drawing/2014/main" id="{93780B99-5E2B-4A67-B7A7-26FBDC766391}"/>
              </a:ext>
            </a:extLst>
          </p:cNvPr>
          <p:cNvSpPr>
            <a:spLocks xmlns:a="http://schemas.openxmlformats.org/drawingml/2006/main" noGrp="1"/>
          </p:cNvSpPr>
          <p:nvPr/>
        </p:nvSpPr>
        <p:spPr>
          <a:xfrm xmlns:a="http://schemas.openxmlformats.org/drawingml/2006/main" rot="0" flipH="0" flipV="0">
            <a:off x="2585895" y="1092199"/>
            <a:ext cx="8502649" cy="5232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800" b="1"/>
              <a:t>SVM</a:t>
            </a:r>
            <a:r>
              <a:rPr sz="2800" b="1"/>
              <a:t>算法处理导航中避障策略的详细流程及示例代码</a:t>
            </a:r>
          </a:p>
        </p:txBody>
      </p:sp>
      <p:pic>
        <p:nvPicPr>
          <p:cNvPr id="35" name="Picture 4"/>
          <p:cNvPicPr>
            <a:picLocks xmlns:a="http://schemas.openxmlformats.org/drawingml/2006/main" noChangeAspect="1"/>
          </p:cNvPicPr>
          <p:nvPr/>
        </p:nvPicPr>
        <p:blipFill>
          <a:blip xmlns:r="http://schemas.openxmlformats.org/officeDocument/2006/relationships" xmlns:a="http://schemas.openxmlformats.org/drawingml/2006/main" r:embed="R0b8ede29c1044fe3"/>
          <a:srcRect xmlns:a="http://schemas.openxmlformats.org/drawingml/2006/main" l="0" t="0" r="0" b="0"/>
          <a:stretch xmlns:a="http://schemas.openxmlformats.org/drawingml/2006/main">
            <a:fillRect l="0" t="0" r="0" b="0"/>
          </a:stretch>
        </p:blipFill>
        <p:spPr>
          <a:xfrm xmlns:a="http://schemas.openxmlformats.org/drawingml/2006/main" rot="0" flipH="0" flipV="0">
            <a:off x="1250214" y="825079"/>
            <a:ext cx="1057459" cy="1057459"/>
          </a:xfrm>
          <a:prstGeom xmlns:a="http://schemas.openxmlformats.org/drawingml/2006/main" prst="rect">
            <a:avLst/>
          </a:prstGeom>
        </p:spPr>
      </p:pic>
      <p:sp>
        <p:nvSpPr>
          <p:cNvPr id="12" name="矩形 11">
            <a:extLst xmlns:a="http://schemas.openxmlformats.org/drawingml/2006/main">
              <a:ext uri="{FF2B5EF4-FFF2-40B4-BE49-F238E27FC236}">
                <a16:creationId xmlns:a16="http://schemas.microsoft.com/office/drawing/2014/main" id="{D6D7CB36-7F2D-4B16-A9BB-E549C7300E75}"/>
              </a:ext>
            </a:extLst>
          </p:cNvPr>
          <p:cNvSpPr>
            <a:spLocks xmlns:a="http://schemas.openxmlformats.org/drawingml/2006/main" noGrp="1"/>
          </p:cNvSpPr>
          <p:nvPr/>
        </p:nvSpPr>
        <p:spPr>
          <a:xfrm xmlns:a="http://schemas.openxmlformats.org/drawingml/2006/main" rot="0" flipH="0" flipV="0">
            <a:off x="631277" y="2157911"/>
            <a:ext cx="10929448" cy="3955023"/>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直接连接符 24">
            <a:extLst xmlns:a="http://schemas.openxmlformats.org/drawingml/2006/main">
              <a:ext uri="{FF2B5EF4-FFF2-40B4-BE49-F238E27FC236}">
                <a16:creationId xmlns:a16="http://schemas.microsoft.com/office/drawing/2014/main" id="{784F5115-0380-4B18-9765-451AB613783E}"/>
              </a:ext>
            </a:extLst>
          </p:cNvPr>
          <p:cNvSpPr>
            <a:spLocks xmlns:a="http://schemas.openxmlformats.org/drawingml/2006/main" noGrp="1"/>
          </p:cNvSpPr>
          <p:nvPr/>
        </p:nvSpPr>
        <p:spPr>
          <a:xfrm xmlns:a="http://schemas.openxmlformats.org/drawingml/2006/main" rot="0" flipH="0" flipV="0">
            <a:off x="7561431" y="2783511"/>
            <a:ext cx="0" cy="3138395"/>
          </a:xfrm>
          <a:prstGeom xmlns:a="http://schemas.openxmlformats.org/drawingml/2006/main" prst="line">
            <a:avLst/>
          </a:prstGeom>
          <a:ln xmlns:a="http://schemas.openxmlformats.org/drawingml/2006/main">
            <a:solidFill>
              <a:schemeClr val="bg1">
                <a:lumMod val="50000"/>
              </a:schemeClr>
            </a:solidFill>
            <a:prstDash val="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8" name="直接连接符 27">
            <a:extLst xmlns:a="http://schemas.openxmlformats.org/drawingml/2006/main">
              <a:ext uri="{FF2B5EF4-FFF2-40B4-BE49-F238E27FC236}">
                <a16:creationId xmlns:a16="http://schemas.microsoft.com/office/drawing/2014/main" id="{58FAA469-62B5-419F-822E-38B3BFCD9C97}"/>
              </a:ext>
            </a:extLst>
          </p:cNvPr>
          <p:cNvSpPr>
            <a:spLocks xmlns:a="http://schemas.openxmlformats.org/drawingml/2006/main" noGrp="1"/>
          </p:cNvSpPr>
          <p:nvPr/>
        </p:nvSpPr>
        <p:spPr>
          <a:xfrm xmlns:a="http://schemas.openxmlformats.org/drawingml/2006/main" rot="0" flipH="0" flipV="0">
            <a:off x="4191697" y="2783511"/>
            <a:ext cx="0" cy="3138395"/>
          </a:xfrm>
          <a:prstGeom xmlns:a="http://schemas.openxmlformats.org/drawingml/2006/main" prst="line">
            <a:avLst/>
          </a:prstGeom>
          <a:ln xmlns:a="http://schemas.openxmlformats.org/drawingml/2006/main">
            <a:solidFill>
              <a:schemeClr val="bg1">
                <a:lumMod val="50000"/>
              </a:schemeClr>
            </a:solidFill>
            <a:prstDash val="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object 41">
            <a:extLst xmlns:a="http://schemas.openxmlformats.org/drawingml/2006/main">
              <a:ext uri="{FF2B5EF4-FFF2-40B4-BE49-F238E27FC236}">
                <a16:creationId xmlns:a16="http://schemas.microsoft.com/office/drawing/2014/main" id="{FA7974E1-DBA4-4471-B1C4-AA3B1951A45E}"/>
              </a:ext>
            </a:extLst>
          </p:cNvPr>
          <p:cNvSpPr>
            <a:spLocks xmlns:a="http://schemas.openxmlformats.org/drawingml/2006/main" noGrp="1"/>
          </p:cNvSpPr>
          <p:nvPr/>
        </p:nvSpPr>
        <p:spPr>
          <a:xfrm xmlns:a="http://schemas.openxmlformats.org/drawingml/2006/main" rot="0" flipH="0" flipV="0">
            <a:off x="7120471" y="1890790"/>
            <a:ext cx="4440254" cy="534670"/>
          </a:xfrm>
          <a:prstGeom xmlns:a="http://schemas.openxmlformats.org/drawingml/2006/main" prst="chevron">
            <a:avLst>
              <a:gd name="adj" fmla="val 38124"/>
            </a:avLst>
          </a:prstGeom>
          <a:gradFill xmlns:a="http://schemas.openxmlformats.org/drawingml/2006/main" rotWithShape="1">
            <a:gsLst>
              <a:gs pos="0">
                <a:schemeClr val="accent2"/>
              </a:gs>
              <a:gs pos="65000">
                <a:schemeClr val="accent2"/>
              </a:gs>
              <a:gs pos="100000">
                <a:schemeClr val="accent1"/>
              </a:gs>
            </a:gsLst>
            <a:lin ang="0" scaled="1"/>
            <a:tileRect/>
          </a:gradFill>
          <a:ln xmlns:a="http://schemas.openxmlformats.org/drawingml/2006/main">
            <a:noFill/>
          </a:ln>
        </p:spPr>
        <p:txBody>
          <a:bodyPr xmlns:a="http://schemas.openxmlformats.org/drawingml/2006/main" wrap="square" lIns="0" tIns="0" rIns="0" bIns="0" anchor="ctr"/>
          <a:lstStyle xmlns:a="http://schemas.openxmlformats.org/drawingml/2006/main"/>
          <a:p xmlns:a="http://schemas.openxmlformats.org/drawingml/2006/main">
            <a:pPr algn="ctr">
              <a:buNone/>
            </a:pPr>
            <a:r>
              <a:rPr sz="2000" b="1">
                <a:solidFill>
                  <a:schemeClr val="bg1"/>
                </a:solidFill>
                <a:latin typeface="Arial"/>
                <a:ea typeface="Arial"/>
                <a:cs typeface="Arial"/>
              </a:rPr>
              <a:t>三、决策与应用部署</a:t>
            </a:r>
          </a:p>
        </p:txBody>
      </p:sp>
      <p:sp>
        <p:nvSpPr>
          <p:cNvPr id="3" name="object 37">
            <a:extLst xmlns:a="http://schemas.openxmlformats.org/drawingml/2006/main">
              <a:ext uri="{FF2B5EF4-FFF2-40B4-BE49-F238E27FC236}">
                <a16:creationId xmlns:a16="http://schemas.microsoft.com/office/drawing/2014/main" id="{A9BD4064-11CC-434B-B18C-630550573DDC}"/>
              </a:ext>
            </a:extLst>
          </p:cNvPr>
          <p:cNvSpPr>
            <a:spLocks xmlns:a="http://schemas.openxmlformats.org/drawingml/2006/main" noGrp="1"/>
          </p:cNvSpPr>
          <p:nvPr/>
        </p:nvSpPr>
        <p:spPr>
          <a:xfrm xmlns:a="http://schemas.openxmlformats.org/drawingml/2006/main" rot="0" flipH="0" flipV="0">
            <a:off x="3699935" y="1890790"/>
            <a:ext cx="3714947" cy="534670"/>
          </a:xfrm>
          <a:prstGeom xmlns:a="http://schemas.openxmlformats.org/drawingml/2006/main" prst="chevron">
            <a:avLst>
              <a:gd name="adj" fmla="val 36540"/>
            </a:avLst>
          </a:prstGeom>
          <a:gradFill xmlns:a="http://schemas.openxmlformats.org/drawingml/2006/main" rotWithShape="1">
            <a:gsLst>
              <a:gs pos="0">
                <a:schemeClr val="accent2"/>
              </a:gs>
              <a:gs pos="65000">
                <a:schemeClr val="accent2"/>
              </a:gs>
              <a:gs pos="100000">
                <a:schemeClr val="accent1"/>
              </a:gs>
            </a:gsLst>
            <a:lin ang="0" scaled="1"/>
            <a:tileRect/>
          </a:gradFill>
          <a:ln xmlns:a="http://schemas.openxmlformats.org/drawingml/2006/main">
            <a:noFill/>
          </a:ln>
        </p:spPr>
        <p:txBody>
          <a:bodyPr xmlns:a="http://schemas.openxmlformats.org/drawingml/2006/main" wrap="square" lIns="0" tIns="0" rIns="0" bIns="0" anchor="ctr"/>
          <a:lstStyle xmlns:a="http://schemas.openxmlformats.org/drawingml/2006/main"/>
          <a:p xmlns:a="http://schemas.openxmlformats.org/drawingml/2006/main">
            <a:pPr algn="ctr">
              <a:buNone/>
            </a:pPr>
            <a:r>
              <a:rPr sz="2000" b="1">
                <a:solidFill>
                  <a:schemeClr val="bg1"/>
                </a:solidFill>
                <a:latin typeface="Arial"/>
                <a:ea typeface="Arial"/>
                <a:cs typeface="Arial"/>
              </a:rPr>
              <a:t>二、</a:t>
            </a:r>
            <a:r>
              <a:rPr sz="2000" b="1">
                <a:solidFill>
                  <a:schemeClr val="bg1"/>
                </a:solidFill>
                <a:latin typeface="Arial"/>
                <a:ea typeface="Arial"/>
                <a:cs typeface="Arial"/>
              </a:rPr>
              <a:t>SVM</a:t>
            </a:r>
            <a:r>
              <a:rPr sz="2000" b="1">
                <a:solidFill>
                  <a:schemeClr val="bg1"/>
                </a:solidFill>
                <a:latin typeface="Arial"/>
                <a:ea typeface="Arial"/>
                <a:cs typeface="Arial"/>
              </a:rPr>
              <a:t>问题求解</a:t>
            </a:r>
          </a:p>
        </p:txBody>
      </p:sp>
      <p:sp>
        <p:nvSpPr>
          <p:cNvPr id="4" name="object 40">
            <a:extLst xmlns:a="http://schemas.openxmlformats.org/drawingml/2006/main">
              <a:ext uri="{FF2B5EF4-FFF2-40B4-BE49-F238E27FC236}">
                <a16:creationId xmlns:a16="http://schemas.microsoft.com/office/drawing/2014/main" id="{2181C981-637E-4A31-8F8F-B9CBADE4B9DA}"/>
              </a:ext>
            </a:extLst>
          </p:cNvPr>
          <p:cNvSpPr>
            <a:spLocks xmlns:a="http://schemas.openxmlformats.org/drawingml/2006/main" noGrp="1"/>
          </p:cNvSpPr>
          <p:nvPr/>
        </p:nvSpPr>
        <p:spPr>
          <a:xfrm xmlns:a="http://schemas.openxmlformats.org/drawingml/2006/main" rot="0" flipH="0" flipV="0">
            <a:off x="631276" y="1890790"/>
            <a:ext cx="3352794" cy="534670"/>
          </a:xfrm>
          <a:prstGeom xmlns:a="http://schemas.openxmlformats.org/drawingml/2006/main" prst="homePlate">
            <a:avLst>
              <a:gd name="adj" fmla="val 36540"/>
            </a:avLst>
          </a:prstGeom>
          <a:gradFill xmlns:a="http://schemas.openxmlformats.org/drawingml/2006/main" rotWithShape="1">
            <a:gsLst>
              <a:gs pos="0">
                <a:schemeClr val="accent2"/>
              </a:gs>
              <a:gs pos="65000">
                <a:schemeClr val="accent2"/>
              </a:gs>
              <a:gs pos="100000">
                <a:schemeClr val="accent1"/>
              </a:gs>
            </a:gsLst>
            <a:lin ang="0" scaled="1"/>
            <a:tileRect/>
          </a:gradFill>
          <a:ln xmlns:a="http://schemas.openxmlformats.org/drawingml/2006/main">
            <a:noFill/>
          </a:l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000" b="1" i="0" u="none" cap="none" spc="0">
                <a:ln>
                  <a:noFill/>
                </a:ln>
                <a:solidFill>
                  <a:schemeClr val="bg1"/>
                </a:solidFill>
                <a:latin typeface="Arial"/>
                <a:ea typeface="Arial"/>
                <a:cs typeface="Arial"/>
              </a:rPr>
              <a:t>一、问题建模</a:t>
            </a:r>
          </a:p>
        </p:txBody>
      </p:sp>
      <p:pic>
        <p:nvPicPr>
          <p:cNvPr id="42" name="图片 5"/>
          <p:cNvPicPr>
            <a:picLocks xmlns:a="http://schemas.openxmlformats.org/drawingml/2006/main" noChangeAspect="1"/>
          </p:cNvPicPr>
          <p:nvPr/>
        </p:nvPicPr>
        <p:blipFill>
          <a:blip xmlns:r="http://schemas.openxmlformats.org/officeDocument/2006/relationships" xmlns:a="http://schemas.openxmlformats.org/drawingml/2006/main" r:embed="R51b59e8594204729"/>
          <a:stretch xmlns:a="http://schemas.openxmlformats.org/drawingml/2006/main">
            <a:fillRect l="0" t="0" r="0" b="0"/>
          </a:stretch>
        </p:blipFill>
        <p:spPr>
          <a:xfrm xmlns:a="http://schemas.openxmlformats.org/drawingml/2006/main" rot="0" flipH="0" flipV="0">
            <a:off x="725875" y="2590751"/>
            <a:ext cx="3371222" cy="3239408"/>
          </a:xfrm>
          <a:prstGeom xmlns:a="http://schemas.openxmlformats.org/drawingml/2006/main" prst="rect">
            <a:avLst/>
          </a:prstGeom>
        </p:spPr>
      </p:pic>
      <p:pic>
        <p:nvPicPr>
          <p:cNvPr id="43" name="图片 7"/>
          <p:cNvPicPr>
            <a:picLocks xmlns:a="http://schemas.openxmlformats.org/drawingml/2006/main" noChangeAspect="1"/>
          </p:cNvPicPr>
          <p:nvPr/>
        </p:nvPicPr>
        <p:blipFill>
          <a:blip xmlns:r="http://schemas.openxmlformats.org/officeDocument/2006/relationships" xmlns:a="http://schemas.openxmlformats.org/drawingml/2006/main" r:embed="Raa02e38b3c6d4b5c"/>
          <a:stretch xmlns:a="http://schemas.openxmlformats.org/drawingml/2006/main">
            <a:fillRect l="0" t="0" r="0" b="0"/>
          </a:stretch>
        </p:blipFill>
        <p:spPr>
          <a:xfrm xmlns:a="http://schemas.openxmlformats.org/drawingml/2006/main" rot="0" flipH="0" flipV="0">
            <a:off x="4281113" y="2642993"/>
            <a:ext cx="3184223" cy="3239408"/>
          </a:xfrm>
          <a:prstGeom xmlns:a="http://schemas.openxmlformats.org/drawingml/2006/main" prst="rect">
            <a:avLst/>
          </a:prstGeom>
        </p:spPr>
      </p:pic>
      <p:pic>
        <p:nvPicPr>
          <p:cNvPr id="44" name="图片 9"/>
          <p:cNvPicPr>
            <a:picLocks xmlns:a="http://schemas.openxmlformats.org/drawingml/2006/main" noChangeAspect="1"/>
          </p:cNvPicPr>
          <p:nvPr/>
        </p:nvPicPr>
        <p:blipFill>
          <a:blip xmlns:r="http://schemas.openxmlformats.org/officeDocument/2006/relationships" xmlns:a="http://schemas.openxmlformats.org/drawingml/2006/main" r:embed="Rbee7ffa719a147b0"/>
          <a:stretch xmlns:a="http://schemas.openxmlformats.org/drawingml/2006/main">
            <a:fillRect l="0" t="0" r="0" b="0"/>
          </a:stretch>
        </p:blipFill>
        <p:spPr>
          <a:xfrm xmlns:a="http://schemas.openxmlformats.org/drawingml/2006/main" rot="0" flipH="0" flipV="0">
            <a:off x="7657517" y="2642993"/>
            <a:ext cx="3799866" cy="3278913"/>
          </a:xfrm>
          <a:prstGeom xmlns:a="http://schemas.openxmlformats.org/drawingml/2006/main" prst="rect">
            <a:avLst/>
          </a:prstGeom>
        </p:spPr>
      </p:pic>
    </p:spTree>
    <p:extLst>
      <p:ext uri="{BB962C8B-B14F-4D97-AF65-F5344CB8AC3E}">
        <p14:creationId xmlns:p14="http://schemas.microsoft.com/office/powerpoint/2010/main" val="36362111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99E6C84D-A479-43EC-852C-0871D07B969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DD07AED8-3295-4C43-A53F-72EEE1EA755A}"/>
              </a:ext>
            </a:extLst>
          </p:cNvPr>
          <p:cNvSpPr>
            <a:spLocks xmlns:a="http://schemas.openxmlformats.org/drawingml/2006/main" noGrp="1"/>
          </p:cNvSpPr>
          <p:nvPr/>
        </p:nvSpPr>
        <p:spPr>
          <a:xfrm xmlns:a="http://schemas.openxmlformats.org/drawingml/2006/main" rot="0" flipH="0" flipV="0">
            <a:off x="271145" y="1021713"/>
            <a:ext cx="547243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基于深度学习的环境语义感知</a:t>
            </a:r>
          </a:p>
        </p:txBody>
      </p:sp>
      <p:pic>
        <p:nvPicPr>
          <p:cNvPr id="112" name="Google Shape;85;p13"/>
          <p:cNvPicPr>
            <a:picLocks xmlns:a="http://schemas.openxmlformats.org/drawingml/2006/main" noChangeAspect="1"/>
          </p:cNvPicPr>
          <p:nvPr/>
        </p:nvPicPr>
        <p:blipFill rotWithShape="1">
          <a:blip xmlns:r="http://schemas.openxmlformats.org/officeDocument/2006/relationships" xmlns:a="http://schemas.openxmlformats.org/drawingml/2006/main" r:embed="R3e2176760fba4273"/>
          <a:srcRect xmlns:a="http://schemas.openxmlformats.org/drawingml/2006/main" l="0" t="0" r="0" b="0"/>
          <a:stretch xmlns:a="http://schemas.openxmlformats.org/drawingml/2006/main">
            <a:fillRect l="0" t="0" r="0" b="0"/>
          </a:stretch>
        </p:blipFill>
        <p:spPr>
          <a:xfrm xmlns:a="http://schemas.openxmlformats.org/drawingml/2006/main">
            <a:off x="552450" y="1699260"/>
            <a:ext cx="5191125" cy="4871720"/>
          </a:xfrm>
          <a:prstGeom xmlns:a="http://schemas.openxmlformats.org/drawingml/2006/main" prst="rect">
            <a:avLst/>
          </a:prstGeom>
          <a:ln xmlns:a="http://schemas.openxmlformats.org/drawingml/2006/main">
            <a:noFill/>
          </a:ln>
        </p:spPr>
      </p:pic>
      <p:pic>
        <p:nvPicPr>
          <p:cNvPr id="113" name="Google Shape;89;p13"/>
          <p:cNvPicPr>
            <a:picLocks xmlns:a="http://schemas.openxmlformats.org/drawingml/2006/main" noChangeAspect="1"/>
          </p:cNvPicPr>
          <p:nvPr/>
        </p:nvPicPr>
        <p:blipFill rotWithShape="1">
          <a:blip xmlns:r="http://schemas.openxmlformats.org/officeDocument/2006/relationships" xmlns:a="http://schemas.openxmlformats.org/drawingml/2006/main" r:embed="Rc983b88d60994893"/>
          <a:srcRect xmlns:a="http://schemas.openxmlformats.org/drawingml/2006/main" l="0" t="0" r="0" b="0"/>
          <a:stretch xmlns:a="http://schemas.openxmlformats.org/drawingml/2006/main">
            <a:fillRect l="0" t="0" r="0" b="0"/>
          </a:stretch>
        </p:blipFill>
        <p:spPr>
          <a:xfrm xmlns:a="http://schemas.openxmlformats.org/drawingml/2006/main">
            <a:off x="771525" y="1808410"/>
            <a:ext cx="304800" cy="304800"/>
          </a:xfrm>
          <a:prstGeom xmlns:a="http://schemas.openxmlformats.org/drawingml/2006/main" prst="rect">
            <a:avLst/>
          </a:prstGeom>
          <a:ln xmlns:a="http://schemas.openxmlformats.org/drawingml/2006/main">
            <a:noFill/>
          </a:ln>
        </p:spPr>
      </p:pic>
      <p:sp>
        <p:nvSpPr>
          <p:cNvPr id="90" name="Google Shape;90;p13">
            <a:extLst xmlns:a="http://schemas.openxmlformats.org/drawingml/2006/main">
              <a:ext uri="{FF2B5EF4-FFF2-40B4-BE49-F238E27FC236}">
                <a16:creationId xmlns:a16="http://schemas.microsoft.com/office/drawing/2014/main" id="{EDAEEF60-30EC-4A83-99B6-B81FBD84C213}"/>
              </a:ext>
            </a:extLst>
          </p:cNvPr>
          <p:cNvSpPr>
            <a:spLocks xmlns:a="http://schemas.openxmlformats.org/drawingml/2006/main" noGrp="1"/>
          </p:cNvSpPr>
          <p:nvPr/>
        </p:nvSpPr>
        <p:spPr>
          <a:xfrm xmlns:a="http://schemas.openxmlformats.org/drawingml/2006/main">
            <a:off x="1219200" y="1779835"/>
            <a:ext cx="2116045"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100" b="1" i="0" u="none" cap="none">
                <a:solidFill>
                  <a:srgbClr val="003366"/>
                </a:solidFill>
                <a:latin typeface="Noto Sans SC"/>
                <a:ea typeface="Noto Sans SC"/>
                <a:cs typeface="Noto Sans SC"/>
              </a:rPr>
              <a:t>3D 点云语义感知</a:t>
            </a:r>
          </a:p>
        </p:txBody>
      </p:sp>
      <p:sp>
        <p:nvSpPr>
          <p:cNvPr id="92" name="Google Shape;92;p13">
            <a:extLst xmlns:a="http://schemas.openxmlformats.org/drawingml/2006/main">
              <a:ext uri="{FF2B5EF4-FFF2-40B4-BE49-F238E27FC236}">
                <a16:creationId xmlns:a16="http://schemas.microsoft.com/office/drawing/2014/main" id="{CBCB5C1C-267A-43E8-B8D0-D30FB81CB396}"/>
              </a:ext>
            </a:extLst>
          </p:cNvPr>
          <p:cNvSpPr>
            <a:spLocks xmlns:a="http://schemas.openxmlformats.org/drawingml/2006/main" noGrp="1"/>
          </p:cNvSpPr>
          <p:nvPr/>
        </p:nvSpPr>
        <p:spPr>
          <a:xfrm xmlns:a="http://schemas.openxmlformats.org/drawingml/2006/main">
            <a:off x="1038225" y="4998015"/>
            <a:ext cx="4648200" cy="2714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25" b="1" i="0" u="none" cap="none">
                <a:solidFill>
                  <a:srgbClr val="003366"/>
                </a:solidFill>
                <a:latin typeface="Noto Sans SC"/>
                <a:ea typeface="Noto Sans SC"/>
                <a:cs typeface="Noto Sans SC"/>
              </a:rPr>
              <a:t>处理挑战：</a:t>
            </a:r>
            <a:r>
              <a:rPr sz="1425" b="0" i="0" u="none" cap="none">
                <a:solidFill>
                  <a:srgbClr val="444444"/>
                </a:solidFill>
                <a:latin typeface="Noto Sans SC"/>
                <a:ea typeface="Noto Sans SC"/>
                <a:cs typeface="Noto Sans SC"/>
              </a:rPr>
              <a:t> 应对数据非结构化、点云无序性。</a:t>
            </a:r>
          </a:p>
        </p:txBody>
      </p:sp>
      <p:sp>
        <p:nvSpPr>
          <p:cNvPr id="93" name="Google Shape;93;p13">
            <a:extLst xmlns:a="http://schemas.openxmlformats.org/drawingml/2006/main">
              <a:ext uri="{FF2B5EF4-FFF2-40B4-BE49-F238E27FC236}">
                <a16:creationId xmlns:a16="http://schemas.microsoft.com/office/drawing/2014/main" id="{EBF192B0-902B-4CC9-A9AE-A230FDA6C0CB}"/>
              </a:ext>
            </a:extLst>
          </p:cNvPr>
          <p:cNvSpPr>
            <a:spLocks xmlns:a="http://schemas.openxmlformats.org/drawingml/2006/main" noGrp="1"/>
          </p:cNvSpPr>
          <p:nvPr/>
        </p:nvSpPr>
        <p:spPr>
          <a:xfrm xmlns:a="http://schemas.openxmlformats.org/drawingml/2006/main">
            <a:off x="1038225" y="5383778"/>
            <a:ext cx="4648200" cy="2714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25" b="1" i="0" u="none" cap="none">
                <a:solidFill>
                  <a:srgbClr val="003366"/>
                </a:solidFill>
                <a:latin typeface="Noto Sans SC"/>
                <a:ea typeface="Noto Sans SC"/>
                <a:cs typeface="Noto Sans SC"/>
              </a:rPr>
              <a:t>核心技术：</a:t>
            </a:r>
            <a:r>
              <a:rPr sz="1425" b="0" i="0" u="none" cap="none">
                <a:solidFill>
                  <a:srgbClr val="444444"/>
                </a:solidFill>
                <a:latin typeface="Noto Sans SC"/>
                <a:ea typeface="Noto Sans SC"/>
                <a:cs typeface="Noto Sans SC"/>
              </a:rPr>
              <a:t> 通过 </a:t>
            </a:r>
            <a:r>
              <a:rPr sz="1425" b="1" i="0" u="none" cap="none">
                <a:solidFill>
                  <a:srgbClr val="003366"/>
                </a:solidFill>
                <a:latin typeface="Noto Sans SC"/>
                <a:ea typeface="Noto Sans SC"/>
                <a:cs typeface="Noto Sans SC"/>
              </a:rPr>
              <a:t>MLP与最大池化</a:t>
            </a:r>
            <a:r>
              <a:rPr sz="1425" b="0" i="0" u="none" cap="none">
                <a:solidFill>
                  <a:srgbClr val="444444"/>
                </a:solidFill>
                <a:latin typeface="Noto Sans SC"/>
                <a:ea typeface="Noto Sans SC"/>
                <a:cs typeface="Noto Sans SC"/>
              </a:rPr>
              <a:t> 提取全局特征。</a:t>
            </a:r>
          </a:p>
        </p:txBody>
      </p:sp>
      <p:sp>
        <p:nvSpPr>
          <p:cNvPr id="94" name="Google Shape;94;p13">
            <a:extLst xmlns:a="http://schemas.openxmlformats.org/drawingml/2006/main">
              <a:ext uri="{FF2B5EF4-FFF2-40B4-BE49-F238E27FC236}">
                <a16:creationId xmlns:a16="http://schemas.microsoft.com/office/drawing/2014/main" id="{80695016-24F8-4869-8D5D-87A19A2DDA99}"/>
              </a:ext>
            </a:extLst>
          </p:cNvPr>
          <p:cNvSpPr>
            <a:spLocks xmlns:a="http://schemas.openxmlformats.org/drawingml/2006/main" noGrp="1"/>
          </p:cNvSpPr>
          <p:nvPr/>
        </p:nvSpPr>
        <p:spPr>
          <a:xfrm xmlns:a="http://schemas.openxmlformats.org/drawingml/2006/main">
            <a:off x="1038225" y="5769540"/>
            <a:ext cx="4648200" cy="2714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25" b="1" i="0" u="none" cap="none">
                <a:solidFill>
                  <a:srgbClr val="003366"/>
                </a:solidFill>
                <a:latin typeface="Noto Sans SC"/>
                <a:ea typeface="Noto Sans SC"/>
                <a:cs typeface="Noto Sans SC"/>
              </a:rPr>
              <a:t>典型模型：</a:t>
            </a:r>
            <a:r>
              <a:rPr sz="1425" b="0" i="0" u="none" cap="none">
                <a:solidFill>
                  <a:srgbClr val="444444"/>
                </a:solidFill>
                <a:latin typeface="Noto Sans SC"/>
                <a:ea typeface="Noto Sans SC"/>
                <a:cs typeface="Noto Sans SC"/>
              </a:rPr>
              <a:t> PointNet、PointNet++。</a:t>
            </a:r>
          </a:p>
        </p:txBody>
      </p:sp>
      <p:sp>
        <p:nvSpPr>
          <p:cNvPr id="95" name="Google Shape;95;p13">
            <a:extLst xmlns:a="http://schemas.openxmlformats.org/drawingml/2006/main">
              <a:ext uri="{FF2B5EF4-FFF2-40B4-BE49-F238E27FC236}">
                <a16:creationId xmlns:a16="http://schemas.microsoft.com/office/drawing/2014/main" id="{35B37294-6990-4336-B388-0C582C4586BA}"/>
              </a:ext>
            </a:extLst>
          </p:cNvPr>
          <p:cNvSpPr>
            <a:spLocks xmlns:a="http://schemas.openxmlformats.org/drawingml/2006/main" noGrp="1"/>
          </p:cNvSpPr>
          <p:nvPr/>
        </p:nvSpPr>
        <p:spPr>
          <a:xfrm xmlns:a="http://schemas.openxmlformats.org/drawingml/2006/main">
            <a:off x="1038225" y="6155303"/>
            <a:ext cx="4648200" cy="2714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25" b="1" i="0" u="none" cap="none">
                <a:solidFill>
                  <a:srgbClr val="003366"/>
                </a:solidFill>
                <a:latin typeface="Noto Sans SC"/>
                <a:ea typeface="Noto Sans SC"/>
                <a:cs typeface="Noto Sans SC"/>
              </a:rPr>
              <a:t>应用价值：</a:t>
            </a:r>
            <a:r>
              <a:rPr sz="1425" b="0" i="0" u="none" cap="none">
                <a:solidFill>
                  <a:srgbClr val="444444"/>
                </a:solidFill>
                <a:latin typeface="Noto Sans SC"/>
                <a:ea typeface="Noto Sans SC"/>
                <a:cs typeface="Noto Sans SC"/>
              </a:rPr>
              <a:t> 3D目标检测、激光雷达高精定位。</a:t>
            </a:r>
          </a:p>
        </p:txBody>
      </p:sp>
      <p:pic>
        <p:nvPicPr>
          <p:cNvPr id="119" name="Google Shape;109;p13"/>
          <p:cNvPicPr>
            <a:picLocks xmlns:a="http://schemas.openxmlformats.org/drawingml/2006/main" noChangeAspect="1"/>
          </p:cNvPicPr>
          <p:nvPr/>
        </p:nvPicPr>
        <p:blipFill rotWithShape="1">
          <a:blip xmlns:r="http://schemas.openxmlformats.org/officeDocument/2006/relationships" xmlns:a="http://schemas.openxmlformats.org/drawingml/2006/main" r:embed="R8e52e2727ca14ad9"/>
          <a:srcRect xmlns:a="http://schemas.openxmlformats.org/drawingml/2006/main" l="0" t="0" r="0" b="0"/>
          <a:stretch xmlns:a="http://schemas.openxmlformats.org/drawingml/2006/main">
            <a:fillRect l="0" t="0" r="0" b="0"/>
          </a:stretch>
        </p:blipFill>
        <p:spPr>
          <a:xfrm xmlns:a="http://schemas.openxmlformats.org/drawingml/2006/main">
            <a:off x="771525" y="5080565"/>
            <a:ext cx="171450" cy="180975"/>
          </a:xfrm>
          <a:prstGeom xmlns:a="http://schemas.openxmlformats.org/drawingml/2006/main" prst="rect">
            <a:avLst/>
          </a:prstGeom>
          <a:ln xmlns:a="http://schemas.openxmlformats.org/drawingml/2006/main">
            <a:noFill/>
          </a:ln>
        </p:spPr>
      </p:pic>
      <p:pic>
        <p:nvPicPr>
          <p:cNvPr id="120" name="Google Shape;110;p13"/>
          <p:cNvPicPr>
            <a:picLocks xmlns:a="http://schemas.openxmlformats.org/drawingml/2006/main" noChangeAspect="1"/>
          </p:cNvPicPr>
          <p:nvPr/>
        </p:nvPicPr>
        <p:blipFill rotWithShape="1">
          <a:blip xmlns:r="http://schemas.openxmlformats.org/officeDocument/2006/relationships" xmlns:a="http://schemas.openxmlformats.org/drawingml/2006/main" r:embed="R8e52e2727ca14ad9"/>
          <a:srcRect xmlns:a="http://schemas.openxmlformats.org/drawingml/2006/main" l="0" t="0" r="0" b="0"/>
          <a:stretch xmlns:a="http://schemas.openxmlformats.org/drawingml/2006/main">
            <a:fillRect l="0" t="0" r="0" b="0"/>
          </a:stretch>
        </p:blipFill>
        <p:spPr>
          <a:xfrm xmlns:a="http://schemas.openxmlformats.org/drawingml/2006/main">
            <a:off x="771525" y="5466328"/>
            <a:ext cx="171450" cy="180975"/>
          </a:xfrm>
          <a:prstGeom xmlns:a="http://schemas.openxmlformats.org/drawingml/2006/main" prst="rect">
            <a:avLst/>
          </a:prstGeom>
          <a:ln xmlns:a="http://schemas.openxmlformats.org/drawingml/2006/main">
            <a:noFill/>
          </a:ln>
        </p:spPr>
      </p:pic>
      <p:pic>
        <p:nvPicPr>
          <p:cNvPr id="121" name="Google Shape;111;p13"/>
          <p:cNvPicPr>
            <a:picLocks xmlns:a="http://schemas.openxmlformats.org/drawingml/2006/main" noChangeAspect="1"/>
          </p:cNvPicPr>
          <p:nvPr/>
        </p:nvPicPr>
        <p:blipFill rotWithShape="1">
          <a:blip xmlns:r="http://schemas.openxmlformats.org/officeDocument/2006/relationships" xmlns:a="http://schemas.openxmlformats.org/drawingml/2006/main" r:embed="R8e52e2727ca14ad9"/>
          <a:srcRect xmlns:a="http://schemas.openxmlformats.org/drawingml/2006/main" l="0" t="0" r="0" b="0"/>
          <a:stretch xmlns:a="http://schemas.openxmlformats.org/drawingml/2006/main">
            <a:fillRect l="0" t="0" r="0" b="0"/>
          </a:stretch>
        </p:blipFill>
        <p:spPr>
          <a:xfrm xmlns:a="http://schemas.openxmlformats.org/drawingml/2006/main">
            <a:off x="771525" y="5852090"/>
            <a:ext cx="171450" cy="180975"/>
          </a:xfrm>
          <a:prstGeom xmlns:a="http://schemas.openxmlformats.org/drawingml/2006/main" prst="rect">
            <a:avLst/>
          </a:prstGeom>
          <a:ln xmlns:a="http://schemas.openxmlformats.org/drawingml/2006/main">
            <a:noFill/>
          </a:ln>
        </p:spPr>
      </p:pic>
      <p:pic>
        <p:nvPicPr>
          <p:cNvPr id="122" name="Google Shape;112;p13"/>
          <p:cNvPicPr>
            <a:picLocks xmlns:a="http://schemas.openxmlformats.org/drawingml/2006/main" noChangeAspect="1"/>
          </p:cNvPicPr>
          <p:nvPr/>
        </p:nvPicPr>
        <p:blipFill rotWithShape="1">
          <a:blip xmlns:r="http://schemas.openxmlformats.org/officeDocument/2006/relationships" xmlns:a="http://schemas.openxmlformats.org/drawingml/2006/main" r:embed="R8e52e2727ca14ad9"/>
          <a:srcRect xmlns:a="http://schemas.openxmlformats.org/drawingml/2006/main" l="0" t="0" r="0" b="0"/>
          <a:stretch xmlns:a="http://schemas.openxmlformats.org/drawingml/2006/main">
            <a:fillRect l="0" t="0" r="0" b="0"/>
          </a:stretch>
        </p:blipFill>
        <p:spPr>
          <a:xfrm xmlns:a="http://schemas.openxmlformats.org/drawingml/2006/main">
            <a:off x="771525" y="6237853"/>
            <a:ext cx="171450" cy="180975"/>
          </a:xfrm>
          <a:prstGeom xmlns:a="http://schemas.openxmlformats.org/drawingml/2006/main" prst="rect">
            <a:avLst/>
          </a:prstGeom>
          <a:ln xmlns:a="http://schemas.openxmlformats.org/drawingml/2006/main">
            <a:noFill/>
          </a:ln>
        </p:spPr>
      </p:pic>
      <p:pic>
        <p:nvPicPr>
          <p:cNvPr id="123" name="图片 18"/>
          <p:cNvPicPr>
            <a:picLocks xmlns:a="http://schemas.openxmlformats.org/drawingml/2006/main" noChangeAspect="1"/>
          </p:cNvPicPr>
          <p:nvPr/>
        </p:nvPicPr>
        <p:blipFill>
          <a:blip xmlns:r="http://schemas.openxmlformats.org/officeDocument/2006/relationships" xmlns:a="http://schemas.openxmlformats.org/drawingml/2006/main" r:embed="R58861f507783451f"/>
          <a:stretch xmlns:a="http://schemas.openxmlformats.org/drawingml/2006/main">
            <a:fillRect l="0" t="0" r="0" b="0"/>
          </a:stretch>
        </p:blipFill>
        <p:spPr>
          <a:xfrm xmlns:a="http://schemas.openxmlformats.org/drawingml/2006/main">
            <a:off x="838200" y="2308225"/>
            <a:ext cx="4485640" cy="2523490"/>
          </a:xfrm>
          <a:prstGeom xmlns:a="http://schemas.openxmlformats.org/drawingml/2006/main" prst="rect">
            <a:avLst/>
          </a:prstGeom>
        </p:spPr>
      </p:pic>
      <p:pic>
        <p:nvPicPr>
          <p:cNvPr id="124" name="Google Shape;86;p13"/>
          <p:cNvPicPr>
            <a:picLocks xmlns:a="http://schemas.openxmlformats.org/drawingml/2006/main" noChangeAspect="1"/>
          </p:cNvPicPr>
          <p:nvPr/>
        </p:nvPicPr>
        <p:blipFill rotWithShape="1">
          <a:blip xmlns:r="http://schemas.openxmlformats.org/officeDocument/2006/relationships" xmlns:a="http://schemas.openxmlformats.org/drawingml/2006/main" r:embed="R3e2176760fba4273"/>
          <a:srcRect xmlns:a="http://schemas.openxmlformats.org/drawingml/2006/main" l="0" t="0" r="0" b="0"/>
          <a:stretch xmlns:a="http://schemas.openxmlformats.org/drawingml/2006/main">
            <a:fillRect l="0" t="0" r="0" b="0"/>
          </a:stretch>
        </p:blipFill>
        <p:spPr>
          <a:xfrm xmlns:a="http://schemas.openxmlformats.org/drawingml/2006/main">
            <a:off x="6204585" y="1699260"/>
            <a:ext cx="4970780" cy="4871720"/>
          </a:xfrm>
          <a:prstGeom xmlns:a="http://schemas.openxmlformats.org/drawingml/2006/main" prst="rect">
            <a:avLst/>
          </a:prstGeom>
          <a:ln xmlns:a="http://schemas.openxmlformats.org/drawingml/2006/main">
            <a:noFill/>
          </a:ln>
        </p:spPr>
      </p:pic>
      <p:pic>
        <p:nvPicPr>
          <p:cNvPr id="125" name="Google Shape;98;p13"/>
          <p:cNvPicPr>
            <a:picLocks xmlns:a="http://schemas.openxmlformats.org/drawingml/2006/main" noChangeAspect="1"/>
          </p:cNvPicPr>
          <p:nvPr/>
        </p:nvPicPr>
        <p:blipFill rotWithShape="1">
          <a:blip xmlns:r="http://schemas.openxmlformats.org/officeDocument/2006/relationships" xmlns:a="http://schemas.openxmlformats.org/drawingml/2006/main" r:embed="Re8c1a811cb14482f"/>
          <a:srcRect xmlns:a="http://schemas.openxmlformats.org/drawingml/2006/main" l="0" t="0" r="0" b="0"/>
          <a:stretch xmlns:a="http://schemas.openxmlformats.org/drawingml/2006/main">
            <a:fillRect l="0" t="0" r="0" b="0"/>
          </a:stretch>
        </p:blipFill>
        <p:spPr>
          <a:xfrm xmlns:a="http://schemas.openxmlformats.org/drawingml/2006/main">
            <a:off x="6343015" y="1796980"/>
            <a:ext cx="342900" cy="304800"/>
          </a:xfrm>
          <a:prstGeom xmlns:a="http://schemas.openxmlformats.org/drawingml/2006/main" prst="rect">
            <a:avLst/>
          </a:prstGeom>
          <a:ln xmlns:a="http://schemas.openxmlformats.org/drawingml/2006/main">
            <a:noFill/>
          </a:ln>
        </p:spPr>
      </p:pic>
      <p:pic>
        <p:nvPicPr>
          <p:cNvPr id="126" name="Google Shape;100;p13"/>
          <p:cNvPicPr>
            <a:picLocks xmlns:a="http://schemas.openxmlformats.org/drawingml/2006/main" noChangeAspect="1"/>
          </p:cNvPicPr>
          <p:nvPr/>
        </p:nvPicPr>
        <p:blipFill rotWithShape="1">
          <a:blip xmlns:r="http://schemas.openxmlformats.org/officeDocument/2006/relationships" xmlns:a="http://schemas.openxmlformats.org/drawingml/2006/main" r:embed="R420dc7232be84760"/>
          <a:srcRect xmlns:a="http://schemas.openxmlformats.org/drawingml/2006/main" l="0" t="0" r="0" b="0"/>
          <a:stretch xmlns:a="http://schemas.openxmlformats.org/drawingml/2006/main">
            <a:fillRect l="0" t="0" r="0" b="0"/>
          </a:stretch>
        </p:blipFill>
        <p:spPr>
          <a:xfrm xmlns:a="http://schemas.openxmlformats.org/drawingml/2006/main">
            <a:off x="6260465" y="2222430"/>
            <a:ext cx="4914900" cy="2647950"/>
          </a:xfrm>
          <a:prstGeom xmlns:a="http://schemas.openxmlformats.org/drawingml/2006/main" prst="rect">
            <a:avLst/>
          </a:prstGeom>
          <a:ln xmlns:a="http://schemas.openxmlformats.org/drawingml/2006/main">
            <a:noFill/>
          </a:ln>
        </p:spPr>
      </p:pic>
      <p:sp>
        <p:nvSpPr>
          <p:cNvPr id="59" name="Google Shape;101;p13">
            <a:extLst xmlns:a="http://schemas.openxmlformats.org/drawingml/2006/main">
              <a:ext uri="{FF2B5EF4-FFF2-40B4-BE49-F238E27FC236}">
                <a16:creationId xmlns:a16="http://schemas.microsoft.com/office/drawing/2014/main" id="{7748FD82-6E93-47D3-8268-20C0D9B1D886}"/>
              </a:ext>
            </a:extLst>
          </p:cNvPr>
          <p:cNvSpPr>
            <a:spLocks xmlns:a="http://schemas.openxmlformats.org/drawingml/2006/main" noGrp="1"/>
          </p:cNvSpPr>
          <p:nvPr/>
        </p:nvSpPr>
        <p:spPr>
          <a:xfrm xmlns:a="http://schemas.openxmlformats.org/drawingml/2006/main">
            <a:off x="6690360" y="4990395"/>
            <a:ext cx="4648200" cy="2714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25" b="1" i="0" u="none" cap="none">
                <a:solidFill>
                  <a:srgbClr val="003366"/>
                </a:solidFill>
                <a:latin typeface="Noto Sans SC"/>
                <a:ea typeface="Noto Sans SC"/>
                <a:cs typeface="Noto Sans SC"/>
              </a:rPr>
              <a:t>处理挑战：</a:t>
            </a:r>
            <a:r>
              <a:rPr sz="1425" b="0" i="0" u="none" cap="none">
                <a:solidFill>
                  <a:srgbClr val="444444"/>
                </a:solidFill>
                <a:latin typeface="Noto Sans SC"/>
                <a:ea typeface="Noto Sans SC"/>
                <a:cs typeface="Noto Sans SC"/>
              </a:rPr>
              <a:t> 像素级密集预测与目标边界恢复。</a:t>
            </a:r>
          </a:p>
        </p:txBody>
      </p:sp>
      <p:sp>
        <p:nvSpPr>
          <p:cNvPr id="60" name="Google Shape;102;p13">
            <a:extLst xmlns:a="http://schemas.openxmlformats.org/drawingml/2006/main">
              <a:ext uri="{FF2B5EF4-FFF2-40B4-BE49-F238E27FC236}">
                <a16:creationId xmlns:a16="http://schemas.microsoft.com/office/drawing/2014/main" id="{617A8D84-C187-4945-89F9-8DCE060720BB}"/>
              </a:ext>
            </a:extLst>
          </p:cNvPr>
          <p:cNvSpPr>
            <a:spLocks xmlns:a="http://schemas.openxmlformats.org/drawingml/2006/main" noGrp="1"/>
          </p:cNvSpPr>
          <p:nvPr/>
        </p:nvSpPr>
        <p:spPr>
          <a:xfrm xmlns:a="http://schemas.openxmlformats.org/drawingml/2006/main">
            <a:off x="6690360" y="5376158"/>
            <a:ext cx="4648200" cy="2714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25" b="1" i="0" u="none" cap="none">
                <a:solidFill>
                  <a:srgbClr val="003366"/>
                </a:solidFill>
                <a:latin typeface="Noto Sans SC"/>
                <a:ea typeface="Noto Sans SC"/>
                <a:cs typeface="Noto Sans SC"/>
              </a:rPr>
              <a:t>核心技术：</a:t>
            </a:r>
            <a:r>
              <a:rPr sz="1425" b="0" i="0" u="none" cap="none">
                <a:solidFill>
                  <a:srgbClr val="444444"/>
                </a:solidFill>
                <a:latin typeface="Noto Sans SC"/>
                <a:ea typeface="Noto Sans SC"/>
                <a:cs typeface="Noto Sans SC"/>
              </a:rPr>
              <a:t> 卷积神经网络 (CNN) 逐像素分类。</a:t>
            </a:r>
          </a:p>
        </p:txBody>
      </p:sp>
      <p:sp>
        <p:nvSpPr>
          <p:cNvPr id="61" name="Google Shape;103;p13">
            <a:extLst xmlns:a="http://schemas.openxmlformats.org/drawingml/2006/main">
              <a:ext uri="{FF2B5EF4-FFF2-40B4-BE49-F238E27FC236}">
                <a16:creationId xmlns:a16="http://schemas.microsoft.com/office/drawing/2014/main" id="{2B046F2C-AF50-4F46-B11B-A4F048C87730}"/>
              </a:ext>
            </a:extLst>
          </p:cNvPr>
          <p:cNvSpPr>
            <a:spLocks xmlns:a="http://schemas.openxmlformats.org/drawingml/2006/main" noGrp="1"/>
          </p:cNvSpPr>
          <p:nvPr/>
        </p:nvSpPr>
        <p:spPr>
          <a:xfrm xmlns:a="http://schemas.openxmlformats.org/drawingml/2006/main">
            <a:off x="6690360" y="5761920"/>
            <a:ext cx="4648200" cy="2714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25" b="1" i="0" u="none" cap="none">
                <a:solidFill>
                  <a:srgbClr val="003366"/>
                </a:solidFill>
                <a:latin typeface="Noto Sans SC"/>
                <a:ea typeface="Noto Sans SC"/>
                <a:cs typeface="Noto Sans SC"/>
              </a:rPr>
              <a:t>典型模型：</a:t>
            </a:r>
            <a:r>
              <a:rPr sz="1425" b="0" i="0" u="none" cap="none">
                <a:solidFill>
                  <a:srgbClr val="444444"/>
                </a:solidFill>
                <a:latin typeface="Noto Sans SC"/>
                <a:ea typeface="Noto Sans SC"/>
                <a:cs typeface="Noto Sans SC"/>
              </a:rPr>
              <a:t> FCN、SegNet (池化索引技术)。</a:t>
            </a:r>
          </a:p>
        </p:txBody>
      </p:sp>
      <p:sp>
        <p:nvSpPr>
          <p:cNvPr id="62" name="Google Shape;104;p13">
            <a:extLst xmlns:a="http://schemas.openxmlformats.org/drawingml/2006/main">
              <a:ext uri="{FF2B5EF4-FFF2-40B4-BE49-F238E27FC236}">
                <a16:creationId xmlns:a16="http://schemas.microsoft.com/office/drawing/2014/main" id="{73AFD52B-36CE-4888-B377-13130E3494FD}"/>
              </a:ext>
            </a:extLst>
          </p:cNvPr>
          <p:cNvSpPr>
            <a:spLocks xmlns:a="http://schemas.openxmlformats.org/drawingml/2006/main" noGrp="1"/>
          </p:cNvSpPr>
          <p:nvPr/>
        </p:nvSpPr>
        <p:spPr>
          <a:xfrm xmlns:a="http://schemas.openxmlformats.org/drawingml/2006/main">
            <a:off x="6690360" y="6147683"/>
            <a:ext cx="4648200" cy="2714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25" b="1" i="0" u="none" cap="none">
                <a:solidFill>
                  <a:srgbClr val="003366"/>
                </a:solidFill>
                <a:latin typeface="Noto Sans SC"/>
                <a:ea typeface="Noto Sans SC"/>
                <a:cs typeface="Noto Sans SC"/>
              </a:rPr>
              <a:t>应用价值：</a:t>
            </a:r>
            <a:r>
              <a:rPr sz="1425" b="0" i="0" u="none" cap="none">
                <a:solidFill>
                  <a:srgbClr val="444444"/>
                </a:solidFill>
                <a:latin typeface="Noto Sans SC"/>
                <a:ea typeface="Noto Sans SC"/>
                <a:cs typeface="Noto Sans SC"/>
              </a:rPr>
              <a:t> 为导航提供丰富细节语义与局部特征。</a:t>
            </a:r>
          </a:p>
        </p:txBody>
      </p:sp>
      <p:pic>
        <p:nvPicPr>
          <p:cNvPr id="131" name="Google Shape;113;p13"/>
          <p:cNvPicPr>
            <a:picLocks xmlns:a="http://schemas.openxmlformats.org/drawingml/2006/main" noChangeAspect="1"/>
          </p:cNvPicPr>
          <p:nvPr/>
        </p:nvPicPr>
        <p:blipFill rotWithShape="1">
          <a:blip xmlns:r="http://schemas.openxmlformats.org/officeDocument/2006/relationships" xmlns:a="http://schemas.openxmlformats.org/drawingml/2006/main" r:embed="R8e52e2727ca14ad9"/>
          <a:srcRect xmlns:a="http://schemas.openxmlformats.org/drawingml/2006/main" l="0" t="0" r="0" b="0"/>
          <a:stretch xmlns:a="http://schemas.openxmlformats.org/drawingml/2006/main">
            <a:fillRect l="0" t="0" r="0" b="0"/>
          </a:stretch>
        </p:blipFill>
        <p:spPr>
          <a:xfrm xmlns:a="http://schemas.openxmlformats.org/drawingml/2006/main">
            <a:off x="6404610" y="5088820"/>
            <a:ext cx="171450" cy="180975"/>
          </a:xfrm>
          <a:prstGeom xmlns:a="http://schemas.openxmlformats.org/drawingml/2006/main" prst="rect">
            <a:avLst/>
          </a:prstGeom>
          <a:ln xmlns:a="http://schemas.openxmlformats.org/drawingml/2006/main">
            <a:noFill/>
          </a:ln>
        </p:spPr>
      </p:pic>
      <p:pic>
        <p:nvPicPr>
          <p:cNvPr id="132" name="Google Shape;114;p13"/>
          <p:cNvPicPr>
            <a:picLocks xmlns:a="http://schemas.openxmlformats.org/drawingml/2006/main" noChangeAspect="1"/>
          </p:cNvPicPr>
          <p:nvPr/>
        </p:nvPicPr>
        <p:blipFill rotWithShape="1">
          <a:blip xmlns:r="http://schemas.openxmlformats.org/officeDocument/2006/relationships" xmlns:a="http://schemas.openxmlformats.org/drawingml/2006/main" r:embed="R8e52e2727ca14ad9"/>
          <a:srcRect xmlns:a="http://schemas.openxmlformats.org/drawingml/2006/main" l="0" t="0" r="0" b="0"/>
          <a:stretch xmlns:a="http://schemas.openxmlformats.org/drawingml/2006/main">
            <a:fillRect l="0" t="0" r="0" b="0"/>
          </a:stretch>
        </p:blipFill>
        <p:spPr>
          <a:xfrm xmlns:a="http://schemas.openxmlformats.org/drawingml/2006/main">
            <a:off x="6404610" y="5474583"/>
            <a:ext cx="171450" cy="180975"/>
          </a:xfrm>
          <a:prstGeom xmlns:a="http://schemas.openxmlformats.org/drawingml/2006/main" prst="rect">
            <a:avLst/>
          </a:prstGeom>
          <a:ln xmlns:a="http://schemas.openxmlformats.org/drawingml/2006/main">
            <a:noFill/>
          </a:ln>
        </p:spPr>
      </p:pic>
      <p:pic>
        <p:nvPicPr>
          <p:cNvPr id="133" name="Google Shape;115;p13"/>
          <p:cNvPicPr>
            <a:picLocks xmlns:a="http://schemas.openxmlformats.org/drawingml/2006/main" noChangeAspect="1"/>
          </p:cNvPicPr>
          <p:nvPr/>
        </p:nvPicPr>
        <p:blipFill rotWithShape="1">
          <a:blip xmlns:r="http://schemas.openxmlformats.org/officeDocument/2006/relationships" xmlns:a="http://schemas.openxmlformats.org/drawingml/2006/main" r:embed="R8e52e2727ca14ad9"/>
          <a:srcRect xmlns:a="http://schemas.openxmlformats.org/drawingml/2006/main" l="0" t="0" r="0" b="0"/>
          <a:stretch xmlns:a="http://schemas.openxmlformats.org/drawingml/2006/main">
            <a:fillRect l="0" t="0" r="0" b="0"/>
          </a:stretch>
        </p:blipFill>
        <p:spPr>
          <a:xfrm xmlns:a="http://schemas.openxmlformats.org/drawingml/2006/main">
            <a:off x="6404610" y="5860345"/>
            <a:ext cx="171450" cy="180975"/>
          </a:xfrm>
          <a:prstGeom xmlns:a="http://schemas.openxmlformats.org/drawingml/2006/main" prst="rect">
            <a:avLst/>
          </a:prstGeom>
          <a:ln xmlns:a="http://schemas.openxmlformats.org/drawingml/2006/main">
            <a:noFill/>
          </a:ln>
        </p:spPr>
      </p:pic>
      <p:pic>
        <p:nvPicPr>
          <p:cNvPr id="134" name="Google Shape;116;p13"/>
          <p:cNvPicPr>
            <a:picLocks xmlns:a="http://schemas.openxmlformats.org/drawingml/2006/main" noChangeAspect="1"/>
          </p:cNvPicPr>
          <p:nvPr/>
        </p:nvPicPr>
        <p:blipFill rotWithShape="1">
          <a:blip xmlns:r="http://schemas.openxmlformats.org/officeDocument/2006/relationships" xmlns:a="http://schemas.openxmlformats.org/drawingml/2006/main" r:embed="R8e52e2727ca14ad9"/>
          <a:srcRect xmlns:a="http://schemas.openxmlformats.org/drawingml/2006/main" l="0" t="0" r="0" b="0"/>
          <a:stretch xmlns:a="http://schemas.openxmlformats.org/drawingml/2006/main">
            <a:fillRect l="0" t="0" r="0" b="0"/>
          </a:stretch>
        </p:blipFill>
        <p:spPr>
          <a:xfrm xmlns:a="http://schemas.openxmlformats.org/drawingml/2006/main">
            <a:off x="6404610" y="6246108"/>
            <a:ext cx="171450" cy="180975"/>
          </a:xfrm>
          <a:prstGeom xmlns:a="http://schemas.openxmlformats.org/drawingml/2006/main" prst="rect">
            <a:avLst/>
          </a:prstGeom>
          <a:ln xmlns:a="http://schemas.openxmlformats.org/drawingml/2006/main">
            <a:noFill/>
          </a:ln>
        </p:spPr>
      </p:pic>
      <p:sp>
        <p:nvSpPr>
          <p:cNvPr id="67" name="Google Shape;99;p13">
            <a:extLst xmlns:a="http://schemas.openxmlformats.org/drawingml/2006/main">
              <a:ext uri="{FF2B5EF4-FFF2-40B4-BE49-F238E27FC236}">
                <a16:creationId xmlns:a16="http://schemas.microsoft.com/office/drawing/2014/main" id="{28DB8C53-E911-428E-8B2E-DB87B821849D}"/>
              </a:ext>
            </a:extLst>
          </p:cNvPr>
          <p:cNvSpPr>
            <a:spLocks xmlns:a="http://schemas.openxmlformats.org/drawingml/2006/main" noGrp="1"/>
          </p:cNvSpPr>
          <p:nvPr/>
        </p:nvSpPr>
        <p:spPr>
          <a:xfrm xmlns:a="http://schemas.openxmlformats.org/drawingml/2006/main">
            <a:off x="6828790" y="1768405"/>
            <a:ext cx="168021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100" b="1" i="0" u="none" cap="none">
                <a:solidFill>
                  <a:srgbClr val="003366"/>
                </a:solidFill>
                <a:latin typeface="Noto Sans SC"/>
                <a:ea typeface="Noto Sans SC"/>
                <a:cs typeface="Noto Sans SC"/>
              </a:rPr>
              <a:t>视觉语义感知</a:t>
            </a:r>
          </a:p>
        </p:txBody>
      </p:sp>
    </p:spTree>
    <p:extLst>
      <p:ext uri="{BB962C8B-B14F-4D97-AF65-F5344CB8AC3E}">
        <p14:creationId xmlns:p14="http://schemas.microsoft.com/office/powerpoint/2010/main" val="25236404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7" name="圆角矩形 16">
            <a:extLst xmlns:a="http://schemas.openxmlformats.org/drawingml/2006/main">
              <a:ext uri="{FF2B5EF4-FFF2-40B4-BE49-F238E27FC236}">
                <a16:creationId xmlns:a16="http://schemas.microsoft.com/office/drawing/2014/main" id="{E1E4F744-AD5E-49B4-9CC3-6C24251AE73B}"/>
              </a:ext>
            </a:extLst>
          </p:cNvPr>
          <p:cNvSpPr>
            <a:spLocks xmlns:a="http://schemas.openxmlformats.org/drawingml/2006/main" noGrp="1"/>
          </p:cNvSpPr>
          <p:nvPr/>
        </p:nvSpPr>
        <p:spPr>
          <a:xfrm xmlns:a="http://schemas.openxmlformats.org/drawingml/2006/main">
            <a:off x="1120775" y="5025390"/>
            <a:ext cx="9414510" cy="94678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矩形 2">
            <a:extLst xmlns:a="http://schemas.openxmlformats.org/drawingml/2006/main">
              <a:ext uri="{FF2B5EF4-FFF2-40B4-BE49-F238E27FC236}">
                <a16:creationId xmlns:a16="http://schemas.microsoft.com/office/drawing/2014/main" id="{79B8414E-B779-444A-80F0-028894645A9F}"/>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E7605B79-AD01-4F36-B5CE-D27FC7143E36}"/>
              </a:ext>
            </a:extLst>
          </p:cNvPr>
          <p:cNvSpPr>
            <a:spLocks xmlns:a="http://schemas.openxmlformats.org/drawingml/2006/main" noGrp="1"/>
          </p:cNvSpPr>
          <p:nvPr/>
        </p:nvSpPr>
        <p:spPr>
          <a:xfrm xmlns:a="http://schemas.openxmlformats.org/drawingml/2006/main" rot="0" flipH="0" flipV="0">
            <a:off x="271145" y="1021713"/>
            <a:ext cx="582485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a:t>
            </a:r>
            <a:r>
              <a:rPr sz="2400" b="1">
                <a:solidFill>
                  <a:schemeClr val="accent1"/>
                </a:solidFill>
                <a:latin typeface="+mj-lt"/>
                <a:ea typeface="+mj-lt"/>
                <a:cs typeface="+mj-lt"/>
              </a:rPr>
              <a:t>3D</a:t>
            </a:r>
            <a:r>
              <a:rPr sz="2400" b="1">
                <a:solidFill>
                  <a:schemeClr val="accent1"/>
                </a:solidFill>
                <a:latin typeface="+mj-lt"/>
                <a:ea typeface="+mj-lt"/>
                <a:cs typeface="+mj-lt"/>
              </a:rPr>
              <a:t>点云语义感知</a:t>
            </a:r>
          </a:p>
        </p:txBody>
      </p:sp>
      <p:pic>
        <p:nvPicPr>
          <p:cNvPr id="22" name="图片 6"/>
          <p:cNvPicPr>
            <a:picLocks xmlns:a="http://schemas.openxmlformats.org/drawingml/2006/main" noChangeAspect="1"/>
          </p:cNvPicPr>
          <p:nvPr/>
        </p:nvPicPr>
        <p:blipFill>
          <a:blip xmlns:r="http://schemas.openxmlformats.org/officeDocument/2006/relationships" xmlns:a="http://schemas.openxmlformats.org/drawingml/2006/main" r:embed="R418f7b594a93453b"/>
          <a:stretch xmlns:a="http://schemas.openxmlformats.org/drawingml/2006/main">
            <a:fillRect l="0" t="0" r="0" b="0"/>
          </a:stretch>
        </p:blipFill>
        <p:spPr>
          <a:xfrm xmlns:a="http://schemas.openxmlformats.org/drawingml/2006/main">
            <a:off x="710565" y="1668145"/>
            <a:ext cx="10195560" cy="304800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348047BD-E4A7-4C14-A395-330DF43B0A1C}"/>
              </a:ext>
            </a:extLst>
          </p:cNvPr>
          <p:cNvSpPr>
            <a:spLocks xmlns:a="http://schemas.openxmlformats.org/drawingml/2006/main" noGrp="1"/>
          </p:cNvSpPr>
          <p:nvPr/>
        </p:nvSpPr>
        <p:spPr>
          <a:xfrm xmlns:a="http://schemas.openxmlformats.org/drawingml/2006/main">
            <a:off x="1235075" y="5234305"/>
            <a:ext cx="921766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ClrTx/>
              <a:buSzTx/>
              <a:buNone/>
            </a:pPr>
            <a:r>
              <a:rPr sz="1600" b="1">
                <a:solidFill>
                  <a:schemeClr val="accent1"/>
                </a:solidFill>
              </a:rPr>
              <a:t>随着 3D 技术与传感器（如激光雷达、RGB-D 相机）的发展，已经得到了广泛的应用，如激光三维重建、计算机视觉与自动驾驶等。3D 点云的表达形式主要有四种，即点云、网格、体素和 RGB 深度图</a:t>
            </a:r>
          </a:p>
        </p:txBody>
      </p:sp>
    </p:spTree>
    <p:extLst>
      <p:ext uri="{BB962C8B-B14F-4D97-AF65-F5344CB8AC3E}">
        <p14:creationId xmlns:p14="http://schemas.microsoft.com/office/powerpoint/2010/main" val="212778970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767BFCB4-2902-41A9-B01C-F1C2FD64B849}"/>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64B49129-0898-4E9D-AAE7-E62AB14C2055}"/>
              </a:ext>
            </a:extLst>
          </p:cNvPr>
          <p:cNvSpPr>
            <a:spLocks xmlns:a="http://schemas.openxmlformats.org/drawingml/2006/main" noGrp="1"/>
          </p:cNvSpPr>
          <p:nvPr/>
        </p:nvSpPr>
        <p:spPr>
          <a:xfrm xmlns:a="http://schemas.openxmlformats.org/drawingml/2006/main" rot="0" flipH="0" flipV="0">
            <a:off x="271145" y="1021713"/>
            <a:ext cx="57905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a:t>
            </a:r>
            <a:r>
              <a:rPr sz="2400" b="1">
                <a:solidFill>
                  <a:schemeClr val="accent1"/>
                </a:solidFill>
                <a:latin typeface="+mj-lt"/>
                <a:ea typeface="+mj-lt"/>
                <a:cs typeface="+mj-lt"/>
              </a:rPr>
              <a:t>3D</a:t>
            </a:r>
            <a:r>
              <a:rPr sz="2400" b="1">
                <a:solidFill>
                  <a:schemeClr val="accent1"/>
                </a:solidFill>
                <a:latin typeface="+mj-lt"/>
                <a:ea typeface="+mj-lt"/>
                <a:cs typeface="+mj-lt"/>
              </a:rPr>
              <a:t>点云语义感知</a:t>
            </a:r>
            <a:endParaRPr sz="2400" b="1">
              <a:solidFill>
                <a:schemeClr val="accent1"/>
              </a:solidFill>
              <a:latin typeface="+mj-lt"/>
              <a:ea typeface="+mj-lt"/>
              <a:cs typeface="+mj-lt"/>
            </a:endParaRPr>
          </a:p>
        </p:txBody>
      </p:sp>
      <p:pic>
        <p:nvPicPr>
          <p:cNvPr id="41" name="Google Shape;127;p17"/>
          <p:cNvPicPr>
            <a:picLocks xmlns:a="http://schemas.openxmlformats.org/drawingml/2006/main" noChangeAspect="1"/>
          </p:cNvPicPr>
          <p:nvPr/>
        </p:nvPicPr>
        <p:blipFill rotWithShape="1">
          <a:blip xmlns:r="http://schemas.openxmlformats.org/officeDocument/2006/relationships" xmlns:a="http://schemas.openxmlformats.org/drawingml/2006/main" r:embed="Refc76c9b38d44a6b"/>
          <a:srcRect xmlns:a="http://schemas.openxmlformats.org/drawingml/2006/main" l="0" t="0" r="0" b="0"/>
          <a:stretch xmlns:a="http://schemas.openxmlformats.org/drawingml/2006/main">
            <a:fillRect l="0" t="0" r="0" b="0"/>
          </a:stretch>
        </p:blipFill>
        <p:spPr>
          <a:xfrm xmlns:a="http://schemas.openxmlformats.org/drawingml/2006/main">
            <a:off x="6617335" y="4096385"/>
            <a:ext cx="5381625" cy="1189355"/>
          </a:xfrm>
          <a:prstGeom xmlns:a="http://schemas.openxmlformats.org/drawingml/2006/main" prst="rect">
            <a:avLst/>
          </a:prstGeom>
          <a:ln xmlns:a="http://schemas.openxmlformats.org/drawingml/2006/main">
            <a:noFill/>
          </a:ln>
        </p:spPr>
      </p:pic>
      <p:pic>
        <p:nvPicPr>
          <p:cNvPr id="42" name="Google Shape;128;p17"/>
          <p:cNvPicPr>
            <a:picLocks xmlns:a="http://schemas.openxmlformats.org/drawingml/2006/main" noChangeAspect="1"/>
          </p:cNvPicPr>
          <p:nvPr/>
        </p:nvPicPr>
        <p:blipFill rotWithShape="1">
          <a:blip xmlns:r="http://schemas.openxmlformats.org/officeDocument/2006/relationships" xmlns:a="http://schemas.openxmlformats.org/drawingml/2006/main" r:embed="Refc76c9b38d44a6b"/>
          <a:srcRect xmlns:a="http://schemas.openxmlformats.org/drawingml/2006/main" l="0" t="0" r="0" b="0"/>
          <a:stretch xmlns:a="http://schemas.openxmlformats.org/drawingml/2006/main">
            <a:fillRect l="0" t="0" r="0" b="0"/>
          </a:stretch>
        </p:blipFill>
        <p:spPr>
          <a:xfrm xmlns:a="http://schemas.openxmlformats.org/drawingml/2006/main">
            <a:off x="6617335" y="2781300"/>
            <a:ext cx="5381625" cy="1189990"/>
          </a:xfrm>
          <a:prstGeom xmlns:a="http://schemas.openxmlformats.org/drawingml/2006/main" prst="rect">
            <a:avLst/>
          </a:prstGeom>
          <a:ln xmlns:a="http://schemas.openxmlformats.org/drawingml/2006/main">
            <a:noFill/>
          </a:ln>
        </p:spPr>
      </p:pic>
      <p:pic>
        <p:nvPicPr>
          <p:cNvPr id="43" name="Google Shape;129;p17"/>
          <p:cNvPicPr>
            <a:picLocks xmlns:a="http://schemas.openxmlformats.org/drawingml/2006/main" noChangeAspect="1"/>
          </p:cNvPicPr>
          <p:nvPr/>
        </p:nvPicPr>
        <p:blipFill rotWithShape="1">
          <a:blip xmlns:r="http://schemas.openxmlformats.org/officeDocument/2006/relationships" xmlns:a="http://schemas.openxmlformats.org/drawingml/2006/main" r:embed="Refc76c9b38d44a6b"/>
          <a:srcRect xmlns:a="http://schemas.openxmlformats.org/drawingml/2006/main" l="0" t="0" r="0" b="0"/>
          <a:stretch xmlns:a="http://schemas.openxmlformats.org/drawingml/2006/main">
            <a:fillRect l="0" t="0" r="0" b="0"/>
          </a:stretch>
        </p:blipFill>
        <p:spPr>
          <a:xfrm xmlns:a="http://schemas.openxmlformats.org/drawingml/2006/main">
            <a:off x="6617335" y="5480685"/>
            <a:ext cx="5381625" cy="1085850"/>
          </a:xfrm>
          <a:prstGeom xmlns:a="http://schemas.openxmlformats.org/drawingml/2006/main" prst="rect">
            <a:avLst/>
          </a:prstGeom>
          <a:ln xmlns:a="http://schemas.openxmlformats.org/drawingml/2006/main">
            <a:noFill/>
          </a:ln>
        </p:spPr>
      </p:pic>
      <p:pic>
        <p:nvPicPr>
          <p:cNvPr id="44" name="Google Shape;130;p17"/>
          <p:cNvPicPr>
            <a:picLocks xmlns:a="http://schemas.openxmlformats.org/drawingml/2006/main" noChangeAspect="1"/>
          </p:cNvPicPr>
          <p:nvPr/>
        </p:nvPicPr>
        <p:blipFill rotWithShape="1">
          <a:blip xmlns:r="http://schemas.openxmlformats.org/officeDocument/2006/relationships" xmlns:a="http://schemas.openxmlformats.org/drawingml/2006/main" r:embed="Refc76c9b38d44a6b"/>
          <a:srcRect xmlns:a="http://schemas.openxmlformats.org/drawingml/2006/main" l="0" t="0" r="0" b="0"/>
          <a:stretch xmlns:a="http://schemas.openxmlformats.org/drawingml/2006/main">
            <a:fillRect l="0" t="0" r="0" b="0"/>
          </a:stretch>
        </p:blipFill>
        <p:spPr>
          <a:xfrm xmlns:a="http://schemas.openxmlformats.org/drawingml/2006/main">
            <a:off x="6617335" y="1565275"/>
            <a:ext cx="5381625" cy="1142365"/>
          </a:xfrm>
          <a:prstGeom xmlns:a="http://schemas.openxmlformats.org/drawingml/2006/main" prst="rect">
            <a:avLst/>
          </a:prstGeom>
          <a:ln xmlns:a="http://schemas.openxmlformats.org/drawingml/2006/main">
            <a:noFill/>
          </a:ln>
        </p:spPr>
      </p:pic>
      <p:sp>
        <p:nvSpPr>
          <p:cNvPr id="11" name="Google Shape;133;p17">
            <a:extLst xmlns:a="http://schemas.openxmlformats.org/drawingml/2006/main">
              <a:ext uri="{FF2B5EF4-FFF2-40B4-BE49-F238E27FC236}">
                <a16:creationId xmlns:a16="http://schemas.microsoft.com/office/drawing/2014/main" id="{B2FA4FEE-7950-48C0-9733-5F1AB0E4512C}"/>
              </a:ext>
            </a:extLst>
          </p:cNvPr>
          <p:cNvSpPr>
            <a:spLocks xmlns:a="http://schemas.openxmlformats.org/drawingml/2006/main" noGrp="1"/>
          </p:cNvSpPr>
          <p:nvPr/>
        </p:nvSpPr>
        <p:spPr>
          <a:xfrm xmlns:a="http://schemas.openxmlformats.org/drawingml/2006/main">
            <a:off x="6960235" y="4197350"/>
            <a:ext cx="4990465" cy="2425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100" b="1" i="0" u="none" cap="none">
                <a:solidFill>
                  <a:srgbClr val="003366"/>
                </a:solidFill>
                <a:latin typeface="Poppins"/>
                <a:ea typeface="Poppins"/>
                <a:cs typeface="Poppins"/>
              </a:rPr>
              <a:t>非结构化排列</a:t>
            </a:r>
          </a:p>
        </p:txBody>
      </p:sp>
      <p:sp>
        <p:nvSpPr>
          <p:cNvPr id="12" name="Google Shape;134;p17">
            <a:extLst xmlns:a="http://schemas.openxmlformats.org/drawingml/2006/main">
              <a:ext uri="{FF2B5EF4-FFF2-40B4-BE49-F238E27FC236}">
                <a16:creationId xmlns:a16="http://schemas.microsoft.com/office/drawing/2014/main" id="{E559BE48-A622-4C9A-9C08-78624146C598}"/>
              </a:ext>
            </a:extLst>
          </p:cNvPr>
          <p:cNvSpPr>
            <a:spLocks xmlns:a="http://schemas.openxmlformats.org/drawingml/2006/main" noGrp="1"/>
          </p:cNvSpPr>
          <p:nvPr/>
        </p:nvSpPr>
        <p:spPr>
          <a:xfrm xmlns:a="http://schemas.openxmlformats.org/drawingml/2006/main">
            <a:off x="6960235" y="4439920"/>
            <a:ext cx="4752975" cy="3695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500" b="0" i="0" u="none" cap="none">
                <a:solidFill>
                  <a:srgbClr val="475569"/>
                </a:solidFill>
                <a:latin typeface="Lato"/>
                <a:ea typeface="Lato"/>
                <a:cs typeface="Lato"/>
              </a:rPr>
              <a:t>点云是一系列不均匀的采样点，各点之间的相关性极难通过标准卷积核进行特征提取。</a:t>
            </a:r>
          </a:p>
        </p:txBody>
      </p:sp>
      <p:sp>
        <p:nvSpPr>
          <p:cNvPr id="13" name="Google Shape;135;p17">
            <a:extLst xmlns:a="http://schemas.openxmlformats.org/drawingml/2006/main">
              <a:ext uri="{FF2B5EF4-FFF2-40B4-BE49-F238E27FC236}">
                <a16:creationId xmlns:a16="http://schemas.microsoft.com/office/drawing/2014/main" id="{0CE73117-AE1D-43CB-9C30-68065736CB82}"/>
              </a:ext>
            </a:extLst>
          </p:cNvPr>
          <p:cNvSpPr>
            <a:spLocks xmlns:a="http://schemas.openxmlformats.org/drawingml/2006/main" noGrp="1"/>
          </p:cNvSpPr>
          <p:nvPr/>
        </p:nvSpPr>
        <p:spPr>
          <a:xfrm xmlns:a="http://schemas.openxmlformats.org/drawingml/2006/main">
            <a:off x="6960235" y="2929890"/>
            <a:ext cx="4990465" cy="1955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100" b="1" i="0" u="none" cap="none">
                <a:solidFill>
                  <a:srgbClr val="003366"/>
                </a:solidFill>
                <a:latin typeface="Poppins"/>
                <a:ea typeface="Poppins"/>
                <a:cs typeface="Poppins"/>
              </a:rPr>
              <a:t>无序化排列</a:t>
            </a:r>
          </a:p>
        </p:txBody>
      </p:sp>
      <p:sp>
        <p:nvSpPr>
          <p:cNvPr id="14" name="Google Shape;136;p17">
            <a:extLst xmlns:a="http://schemas.openxmlformats.org/drawingml/2006/main">
              <a:ext uri="{FF2B5EF4-FFF2-40B4-BE49-F238E27FC236}">
                <a16:creationId xmlns:a16="http://schemas.microsoft.com/office/drawing/2014/main" id="{CA761DCA-0AEA-4871-BCFC-253D62BDF7B6}"/>
              </a:ext>
            </a:extLst>
          </p:cNvPr>
          <p:cNvSpPr>
            <a:spLocks xmlns:a="http://schemas.openxmlformats.org/drawingml/2006/main" noGrp="1"/>
          </p:cNvSpPr>
          <p:nvPr/>
        </p:nvSpPr>
        <p:spPr>
          <a:xfrm xmlns:a="http://schemas.openxmlformats.org/drawingml/2006/main">
            <a:off x="6960235" y="3176270"/>
            <a:ext cx="4752975"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500" b="0" i="0" u="none" cap="none">
                <a:solidFill>
                  <a:srgbClr val="475569"/>
                </a:solidFill>
                <a:latin typeface="Lato"/>
                <a:ea typeface="Lato"/>
                <a:cs typeface="Lato"/>
              </a:rPr>
              <a:t>几何上点的顺序不影响底层矩阵表示，算法必须具备输入排列次序的不变性。</a:t>
            </a:r>
          </a:p>
        </p:txBody>
      </p:sp>
      <p:sp>
        <p:nvSpPr>
          <p:cNvPr id="15" name="Google Shape;137;p17">
            <a:extLst xmlns:a="http://schemas.openxmlformats.org/drawingml/2006/main">
              <a:ext uri="{FF2B5EF4-FFF2-40B4-BE49-F238E27FC236}">
                <a16:creationId xmlns:a16="http://schemas.microsoft.com/office/drawing/2014/main" id="{2F2EA193-38CF-4E52-ABAF-FB682DCEF91D}"/>
              </a:ext>
            </a:extLst>
          </p:cNvPr>
          <p:cNvSpPr>
            <a:spLocks xmlns:a="http://schemas.openxmlformats.org/drawingml/2006/main" noGrp="1"/>
          </p:cNvSpPr>
          <p:nvPr/>
        </p:nvSpPr>
        <p:spPr>
          <a:xfrm xmlns:a="http://schemas.openxmlformats.org/drawingml/2006/main">
            <a:off x="6960235" y="5530850"/>
            <a:ext cx="4990465" cy="2216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b="1" i="0" u="none" cap="none">
                <a:solidFill>
                  <a:srgbClr val="003366"/>
                </a:solidFill>
                <a:latin typeface="Poppins"/>
                <a:ea typeface="Poppins"/>
                <a:cs typeface="Poppins"/>
              </a:rPr>
              <a:t>数量不确定性</a:t>
            </a:r>
          </a:p>
        </p:txBody>
      </p:sp>
      <p:sp>
        <p:nvSpPr>
          <p:cNvPr id="16" name="Google Shape;138;p17">
            <a:extLst xmlns:a="http://schemas.openxmlformats.org/drawingml/2006/main">
              <a:ext uri="{FF2B5EF4-FFF2-40B4-BE49-F238E27FC236}">
                <a16:creationId xmlns:a16="http://schemas.microsoft.com/office/drawing/2014/main" id="{7D0D06D6-86BB-4F7D-8FD8-E62D00B0206B}"/>
              </a:ext>
            </a:extLst>
          </p:cNvPr>
          <p:cNvSpPr>
            <a:spLocks xmlns:a="http://schemas.openxmlformats.org/drawingml/2006/main" noGrp="1"/>
          </p:cNvSpPr>
          <p:nvPr/>
        </p:nvSpPr>
        <p:spPr>
          <a:xfrm xmlns:a="http://schemas.openxmlformats.org/drawingml/2006/main">
            <a:off x="6960235" y="5752465"/>
            <a:ext cx="4752975" cy="3378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500" b="0" i="0" u="none" cap="none">
                <a:solidFill>
                  <a:srgbClr val="475569"/>
                </a:solidFill>
                <a:latin typeface="Lato"/>
                <a:ea typeface="Lato"/>
                <a:cs typeface="Lato"/>
              </a:rPr>
              <a:t>采样点的规模受不同传感器影响巨大，要求模型具备处理变长数据的鲁棒性。</a:t>
            </a:r>
          </a:p>
        </p:txBody>
      </p:sp>
      <p:sp>
        <p:nvSpPr>
          <p:cNvPr id="17" name="Google Shape;139;p17">
            <a:extLst xmlns:a="http://schemas.openxmlformats.org/drawingml/2006/main">
              <a:ext uri="{FF2B5EF4-FFF2-40B4-BE49-F238E27FC236}">
                <a16:creationId xmlns:a16="http://schemas.microsoft.com/office/drawing/2014/main" id="{E407311E-5561-47FD-BE2F-802CFC9D5764}"/>
              </a:ext>
            </a:extLst>
          </p:cNvPr>
          <p:cNvSpPr>
            <a:spLocks xmlns:a="http://schemas.openxmlformats.org/drawingml/2006/main" noGrp="1"/>
          </p:cNvSpPr>
          <p:nvPr/>
        </p:nvSpPr>
        <p:spPr>
          <a:xfrm xmlns:a="http://schemas.openxmlformats.org/drawingml/2006/main">
            <a:off x="6960235" y="1643380"/>
            <a:ext cx="4990465" cy="2330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b="1" i="0" u="none" cap="none">
                <a:solidFill>
                  <a:srgbClr val="003366"/>
                </a:solidFill>
                <a:latin typeface="Poppins"/>
                <a:ea typeface="Poppins"/>
                <a:cs typeface="Poppins"/>
              </a:rPr>
              <a:t>原始几何保留</a:t>
            </a:r>
          </a:p>
        </p:txBody>
      </p:sp>
      <p:sp>
        <p:nvSpPr>
          <p:cNvPr id="18" name="Google Shape;140;p17">
            <a:extLst xmlns:a="http://schemas.openxmlformats.org/drawingml/2006/main">
              <a:ext uri="{FF2B5EF4-FFF2-40B4-BE49-F238E27FC236}">
                <a16:creationId xmlns:a16="http://schemas.microsoft.com/office/drawing/2014/main" id="{98A8B8B9-D094-42EA-AC75-F79C5D89DED8}"/>
              </a:ext>
            </a:extLst>
          </p:cNvPr>
          <p:cNvSpPr>
            <a:spLocks xmlns:a="http://schemas.openxmlformats.org/drawingml/2006/main" noGrp="1"/>
          </p:cNvSpPr>
          <p:nvPr/>
        </p:nvSpPr>
        <p:spPr>
          <a:xfrm xmlns:a="http://schemas.openxmlformats.org/drawingml/2006/main">
            <a:off x="6960235" y="1876425"/>
            <a:ext cx="4752975" cy="3549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500" b="0" i="0" u="none" cap="none">
                <a:solidFill>
                  <a:srgbClr val="475569"/>
                </a:solidFill>
                <a:latin typeface="Lato"/>
                <a:ea typeface="Lato"/>
                <a:cs typeface="Lato"/>
              </a:rPr>
              <a:t>点云在3D空间保留了原始几何信息，无需离散化即可充分挖掘场景深层特征。</a:t>
            </a:r>
          </a:p>
        </p:txBody>
      </p:sp>
      <p:sp>
        <p:nvSpPr>
          <p:cNvPr id="19" name="文本框 18">
            <a:extLst xmlns:a="http://schemas.openxmlformats.org/drawingml/2006/main">
              <a:ext uri="{FF2B5EF4-FFF2-40B4-BE49-F238E27FC236}">
                <a16:creationId xmlns:a16="http://schemas.microsoft.com/office/drawing/2014/main" id="{000B8884-6120-4912-A786-1107C4EF178D}"/>
              </a:ext>
            </a:extLst>
          </p:cNvPr>
          <p:cNvSpPr>
            <a:spLocks xmlns:a="http://schemas.openxmlformats.org/drawingml/2006/main" noGrp="1"/>
          </p:cNvSpPr>
          <p:nvPr/>
        </p:nvSpPr>
        <p:spPr>
          <a:xfrm xmlns:a="http://schemas.openxmlformats.org/drawingml/2006/main">
            <a:off x="715645" y="1876425"/>
            <a:ext cx="4582795" cy="460375"/>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003366"/>
                </a:solidFill>
                <a:latin typeface="黑体"/>
                <a:ea typeface="黑体"/>
                <a:cs typeface="黑体"/>
              </a:rPr>
              <a:t>3D 点云表示</a:t>
            </a:r>
            <a:r>
              <a:rPr sz="2400" b="1">
                <a:solidFill>
                  <a:srgbClr val="003366"/>
                </a:solidFill>
                <a:latin typeface="黑体"/>
                <a:ea typeface="黑体"/>
                <a:cs typeface="黑体"/>
              </a:rPr>
              <a:t>优势</a:t>
            </a:r>
            <a:r>
              <a:rPr sz="2400" b="1">
                <a:solidFill>
                  <a:srgbClr val="003366"/>
                </a:solidFill>
                <a:latin typeface="黑体"/>
                <a:ea typeface="黑体"/>
                <a:cs typeface="黑体"/>
              </a:rPr>
              <a:t>与三大挑战</a:t>
            </a:r>
            <a:endParaRPr sz="2400" b="1">
              <a:solidFill>
                <a:srgbClr val="003366"/>
              </a:solidFill>
              <a:latin typeface="黑体"/>
              <a:ea typeface="黑体"/>
              <a:cs typeface="黑体"/>
            </a:endParaRPr>
          </a:p>
        </p:txBody>
      </p:sp>
      <p:pic>
        <p:nvPicPr>
          <p:cNvPr id="54" name="图片 25"/>
          <p:cNvPicPr>
            <a:picLocks xmlns:a="http://schemas.openxmlformats.org/drawingml/2006/main" noChangeAspect="1"/>
          </p:cNvPicPr>
          <p:nvPr/>
        </p:nvPicPr>
        <p:blipFill>
          <a:blip xmlns:r="http://schemas.openxmlformats.org/officeDocument/2006/relationships" xmlns:a="http://schemas.openxmlformats.org/drawingml/2006/main" r:embed="Rc5463dd68d894ead"/>
          <a:stretch xmlns:a="http://schemas.openxmlformats.org/drawingml/2006/main">
            <a:fillRect l="0" t="0" r="0" b="0"/>
          </a:stretch>
        </p:blipFill>
        <p:spPr>
          <a:xfrm xmlns:a="http://schemas.openxmlformats.org/drawingml/2006/main">
            <a:off x="203200" y="2689860"/>
            <a:ext cx="5607685" cy="3061335"/>
          </a:xfrm>
          <a:prstGeom xmlns:a="http://schemas.openxmlformats.org/drawingml/2006/main" prst="rect">
            <a:avLst/>
          </a:prstGeom>
        </p:spPr>
      </p:pic>
      <p:sp>
        <p:nvSpPr>
          <p:cNvPr id="27" name="左大括号 26">
            <a:extLst xmlns:a="http://schemas.openxmlformats.org/drawingml/2006/main">
              <a:ext uri="{FF2B5EF4-FFF2-40B4-BE49-F238E27FC236}">
                <a16:creationId xmlns:a16="http://schemas.microsoft.com/office/drawing/2014/main" id="{88C7EC13-C481-44AD-B925-680AA373490B}"/>
              </a:ext>
            </a:extLst>
          </p:cNvPr>
          <p:cNvSpPr>
            <a:spLocks xmlns:a="http://schemas.openxmlformats.org/drawingml/2006/main" noGrp="1"/>
          </p:cNvSpPr>
          <p:nvPr/>
        </p:nvSpPr>
        <p:spPr>
          <a:xfrm xmlns:a="http://schemas.openxmlformats.org/drawingml/2006/main">
            <a:off x="6162675" y="2865120"/>
            <a:ext cx="360045" cy="3632200"/>
          </a:xfrm>
          <a:prstGeom xmlns:a="http://schemas.openxmlformats.org/drawingml/2006/main" prst="leftBrace">
            <a:avLst/>
          </a:prstGeom>
          <a:ln xmlns:a="http://schemas.openxmlformats.org/drawingml/2006/main" w="31750">
            <a:solidFill>
              <a:schemeClr val="accent1"/>
            </a:solidFill>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左大括号 27">
            <a:extLst xmlns:a="http://schemas.openxmlformats.org/drawingml/2006/main">
              <a:ext uri="{FF2B5EF4-FFF2-40B4-BE49-F238E27FC236}">
                <a16:creationId xmlns:a16="http://schemas.microsoft.com/office/drawing/2014/main" id="{AE58C998-AAC0-4CBF-8354-40CFECFE6167}"/>
              </a:ext>
            </a:extLst>
          </p:cNvPr>
          <p:cNvSpPr>
            <a:spLocks xmlns:a="http://schemas.openxmlformats.org/drawingml/2006/main" noGrp="1"/>
          </p:cNvSpPr>
          <p:nvPr/>
        </p:nvSpPr>
        <p:spPr>
          <a:xfrm xmlns:a="http://schemas.openxmlformats.org/drawingml/2006/main">
            <a:off x="6182360" y="1565275"/>
            <a:ext cx="277495" cy="1111250"/>
          </a:xfrm>
          <a:prstGeom xmlns:a="http://schemas.openxmlformats.org/drawingml/2006/main" prst="leftBrace">
            <a:avLst/>
          </a:prstGeom>
          <a:ln xmlns:a="http://schemas.openxmlformats.org/drawingml/2006/main" w="31750">
            <a:solidFill>
              <a:schemeClr val="accent1"/>
            </a:solidFill>
          </a:ln>
        </p:spPr>
        <p:style>
          <a:lnRef xmlns:a="http://schemas.openxmlformats.org/drawingml/2006/main" idx="0">
            <a:srgbClr val="FFFFFF"/>
          </a:lnRef>
          <a:fillRef xmlns:a="http://schemas.openxmlformats.org/drawingml/2006/main" idx="0">
            <a:srgbClr val="FFFFFF"/>
          </a:fillRef>
          <a:effectRef xmlns:a="http://schemas.openxmlformats.org/drawingml/2006/main" idx="0">
            <a:srgbClr val="FFFFFF"/>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文本框 29">
            <a:extLst xmlns:a="http://schemas.openxmlformats.org/drawingml/2006/main">
              <a:ext uri="{FF2B5EF4-FFF2-40B4-BE49-F238E27FC236}">
                <a16:creationId xmlns:a16="http://schemas.microsoft.com/office/drawing/2014/main" id="{6CBE771B-0735-4F77-8575-4C3BEAF9B5D3}"/>
              </a:ext>
            </a:extLst>
          </p:cNvPr>
          <p:cNvSpPr>
            <a:spLocks xmlns:a="http://schemas.openxmlformats.org/drawingml/2006/main" noGrp="1"/>
          </p:cNvSpPr>
          <p:nvPr/>
        </p:nvSpPr>
        <p:spPr>
          <a:xfrm xmlns:a="http://schemas.openxmlformats.org/drawingml/2006/main">
            <a:off x="5758815" y="1876425"/>
            <a:ext cx="337820" cy="6172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a:solidFill>
                  <a:schemeClr val="accent1"/>
                </a:solidFill>
              </a:rPr>
              <a:t>优势</a:t>
            </a:r>
          </a:p>
        </p:txBody>
      </p:sp>
      <p:sp>
        <p:nvSpPr>
          <p:cNvPr id="33" name="文本框 32">
            <a:extLst xmlns:a="http://schemas.openxmlformats.org/drawingml/2006/main">
              <a:ext uri="{FF2B5EF4-FFF2-40B4-BE49-F238E27FC236}">
                <a16:creationId xmlns:a16="http://schemas.microsoft.com/office/drawing/2014/main" id="{3F1CFF23-0343-4CA7-8BC8-AB52B2BB242A}"/>
              </a:ext>
            </a:extLst>
          </p:cNvPr>
          <p:cNvSpPr>
            <a:spLocks xmlns:a="http://schemas.openxmlformats.org/drawingml/2006/main" noGrp="1"/>
          </p:cNvSpPr>
          <p:nvPr/>
        </p:nvSpPr>
        <p:spPr>
          <a:xfrm xmlns:a="http://schemas.openxmlformats.org/drawingml/2006/main">
            <a:off x="5730240" y="4372610"/>
            <a:ext cx="337820" cy="6172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a:solidFill>
                  <a:schemeClr val="accent1"/>
                </a:solidFill>
              </a:rPr>
              <a:t>挑战</a:t>
            </a:r>
          </a:p>
        </p:txBody>
      </p:sp>
    </p:spTree>
    <p:extLst>
      <p:ext uri="{BB962C8B-B14F-4D97-AF65-F5344CB8AC3E}">
        <p14:creationId xmlns:p14="http://schemas.microsoft.com/office/powerpoint/2010/main" val="197562087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0" name="圆角矩形 19">
            <a:extLst xmlns:a="http://schemas.openxmlformats.org/drawingml/2006/main">
              <a:ext uri="{FF2B5EF4-FFF2-40B4-BE49-F238E27FC236}">
                <a16:creationId xmlns:a16="http://schemas.microsoft.com/office/drawing/2014/main" id="{9246891D-CB0C-4470-94CA-58A8BC95D1E5}"/>
              </a:ext>
            </a:extLst>
          </p:cNvPr>
          <p:cNvSpPr>
            <a:spLocks xmlns:a="http://schemas.openxmlformats.org/drawingml/2006/main" noGrp="1"/>
          </p:cNvSpPr>
          <p:nvPr/>
        </p:nvSpPr>
        <p:spPr>
          <a:xfrm xmlns:a="http://schemas.openxmlformats.org/drawingml/2006/main">
            <a:off x="1496060" y="1929130"/>
            <a:ext cx="8447405" cy="69977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矩形 2">
            <a:extLst xmlns:a="http://schemas.openxmlformats.org/drawingml/2006/main">
              <a:ext uri="{FF2B5EF4-FFF2-40B4-BE49-F238E27FC236}">
                <a16:creationId xmlns:a16="http://schemas.microsoft.com/office/drawing/2014/main" id="{DC0E070A-F8B3-4C11-8574-8E2DD55E449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E9FFDCD9-67B2-446F-8C3D-FF13E8D246CC}"/>
              </a:ext>
            </a:extLst>
          </p:cNvPr>
          <p:cNvSpPr>
            <a:spLocks xmlns:a="http://schemas.openxmlformats.org/drawingml/2006/main" noGrp="1"/>
          </p:cNvSpPr>
          <p:nvPr/>
        </p:nvSpPr>
        <p:spPr>
          <a:xfrm xmlns:a="http://schemas.openxmlformats.org/drawingml/2006/main" rot="0" flipH="0" flipV="0">
            <a:off x="271145" y="1021713"/>
            <a:ext cx="58242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a:t>
            </a:r>
            <a:r>
              <a:rPr sz="2400" b="1">
                <a:solidFill>
                  <a:schemeClr val="accent1"/>
                </a:solidFill>
                <a:latin typeface="+mj-lt"/>
                <a:ea typeface="+mj-lt"/>
                <a:cs typeface="+mj-lt"/>
              </a:rPr>
              <a:t>3D</a:t>
            </a:r>
            <a:r>
              <a:rPr sz="2400" b="1">
                <a:solidFill>
                  <a:schemeClr val="accent1"/>
                </a:solidFill>
                <a:latin typeface="+mj-lt"/>
                <a:ea typeface="+mj-lt"/>
                <a:cs typeface="+mj-lt"/>
              </a:rPr>
              <a:t>点云语义感知</a:t>
            </a:r>
            <a:endParaRPr sz="2400" b="1">
              <a:solidFill>
                <a:schemeClr val="accent1"/>
              </a:solidFill>
              <a:latin typeface="+mj-lt"/>
              <a:ea typeface="+mj-lt"/>
              <a:cs typeface="+mj-lt"/>
            </a:endParaRPr>
          </a:p>
        </p:txBody>
      </p:sp>
      <p:sp>
        <p:nvSpPr>
          <p:cNvPr id="7" name="文本框 6">
            <a:extLst xmlns:a="http://schemas.openxmlformats.org/drawingml/2006/main">
              <a:ext uri="{FF2B5EF4-FFF2-40B4-BE49-F238E27FC236}">
                <a16:creationId xmlns:a16="http://schemas.microsoft.com/office/drawing/2014/main" id="{5D955C4F-0A06-4BFD-95D5-D89060D1C24A}"/>
              </a:ext>
            </a:extLst>
          </p:cNvPr>
          <p:cNvSpPr>
            <a:spLocks xmlns:a="http://schemas.openxmlformats.org/drawingml/2006/main" noGrp="1"/>
          </p:cNvSpPr>
          <p:nvPr/>
        </p:nvSpPr>
        <p:spPr>
          <a:xfrm xmlns:a="http://schemas.openxmlformats.org/drawingml/2006/main">
            <a:off x="1748790" y="1929130"/>
            <a:ext cx="7910195" cy="675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chemeClr val="accent1"/>
                </a:solidFill>
              </a:rPr>
              <a:t>研究者提出了众多方法来应对这些挑战，并且可以根据任务形式大致划分为：</a:t>
            </a:r>
          </a:p>
          <a:p xmlns:a="http://schemas.openxmlformats.org/drawingml/2006/main">
            <a:r>
              <a:rPr sz="2000" b="1">
                <a:solidFill>
                  <a:schemeClr val="accent1"/>
                </a:solidFill>
              </a:rPr>
              <a:t>3D </a:t>
            </a:r>
            <a:r>
              <a:rPr sz="2000" b="1">
                <a:solidFill>
                  <a:schemeClr val="accent1"/>
                </a:solidFill>
              </a:rPr>
              <a:t>点云形状分类、</a:t>
            </a:r>
            <a:r>
              <a:rPr sz="2000" b="1">
                <a:solidFill>
                  <a:schemeClr val="accent1"/>
                </a:solidFill>
              </a:rPr>
              <a:t>3D </a:t>
            </a:r>
            <a:r>
              <a:rPr sz="2000" b="1">
                <a:solidFill>
                  <a:schemeClr val="accent1"/>
                </a:solidFill>
              </a:rPr>
              <a:t>点云目标检测、</a:t>
            </a:r>
            <a:r>
              <a:rPr sz="2000" b="1">
                <a:solidFill>
                  <a:schemeClr val="accent1"/>
                </a:solidFill>
              </a:rPr>
              <a:t>3D </a:t>
            </a:r>
            <a:r>
              <a:rPr sz="2000" b="1">
                <a:solidFill>
                  <a:schemeClr val="accent1"/>
                </a:solidFill>
              </a:rPr>
              <a:t>点云分割</a:t>
            </a:r>
          </a:p>
        </p:txBody>
      </p:sp>
      <p:pic>
        <p:nvPicPr>
          <p:cNvPr id="26" name="图片 8"/>
          <p:cNvPicPr>
            <a:picLocks xmlns:a="http://schemas.openxmlformats.org/drawingml/2006/main" noChangeAspect="1"/>
          </p:cNvPicPr>
          <p:nvPr/>
        </p:nvPicPr>
        <p:blipFill>
          <a:blip xmlns:r="http://schemas.openxmlformats.org/officeDocument/2006/relationships" xmlns:a="http://schemas.openxmlformats.org/drawingml/2006/main" r:embed="R2b569fb9bd55477b"/>
          <a:stretch xmlns:a="http://schemas.openxmlformats.org/drawingml/2006/main">
            <a:fillRect l="0" t="0" r="0" b="0"/>
          </a:stretch>
        </p:blipFill>
        <p:spPr>
          <a:xfrm xmlns:a="http://schemas.openxmlformats.org/drawingml/2006/main">
            <a:off x="900430" y="2968625"/>
            <a:ext cx="10055225" cy="2859405"/>
          </a:xfrm>
          <a:prstGeom xmlns:a="http://schemas.openxmlformats.org/drawingml/2006/main" prst="rect">
            <a:avLst/>
          </a:prstGeom>
        </p:spPr>
      </p:pic>
    </p:spTree>
    <p:extLst>
      <p:ext uri="{BB962C8B-B14F-4D97-AF65-F5344CB8AC3E}">
        <p14:creationId xmlns:p14="http://schemas.microsoft.com/office/powerpoint/2010/main" val="143888479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 name="圆角矩形 5">
            <a:extLst xmlns:a="http://schemas.openxmlformats.org/drawingml/2006/main">
              <a:ext uri="{FF2B5EF4-FFF2-40B4-BE49-F238E27FC236}">
                <a16:creationId xmlns:a16="http://schemas.microsoft.com/office/drawing/2014/main" id="{17ED0D2B-63DA-4009-8E30-9756D3B140F7}"/>
              </a:ext>
            </a:extLst>
          </p:cNvPr>
          <p:cNvSpPr>
            <a:spLocks xmlns:a="http://schemas.openxmlformats.org/drawingml/2006/main" noGrp="1"/>
          </p:cNvSpPr>
          <p:nvPr/>
        </p:nvSpPr>
        <p:spPr>
          <a:xfrm xmlns:a="http://schemas.openxmlformats.org/drawingml/2006/main">
            <a:off x="976630" y="1685925"/>
            <a:ext cx="10083165" cy="85407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矩形 2">
            <a:extLst xmlns:a="http://schemas.openxmlformats.org/drawingml/2006/main">
              <a:ext uri="{FF2B5EF4-FFF2-40B4-BE49-F238E27FC236}">
                <a16:creationId xmlns:a16="http://schemas.microsoft.com/office/drawing/2014/main" id="{C699A099-9950-45E1-8D0F-B7E915CC73C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7BE93A0B-C1F6-49A8-9DB4-C91E5FEF7E4B}"/>
              </a:ext>
            </a:extLst>
          </p:cNvPr>
          <p:cNvSpPr>
            <a:spLocks xmlns:a="http://schemas.openxmlformats.org/drawingml/2006/main" noGrp="1"/>
          </p:cNvSpPr>
          <p:nvPr/>
        </p:nvSpPr>
        <p:spPr>
          <a:xfrm xmlns:a="http://schemas.openxmlformats.org/drawingml/2006/main" rot="0" flipH="0" flipV="0">
            <a:off x="271145" y="1021713"/>
            <a:ext cx="582485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a:t>
            </a:r>
            <a:r>
              <a:rPr sz="2400" b="1">
                <a:solidFill>
                  <a:schemeClr val="accent1"/>
                </a:solidFill>
                <a:latin typeface="+mj-lt"/>
                <a:ea typeface="+mj-lt"/>
                <a:cs typeface="+mj-lt"/>
              </a:rPr>
              <a:t>3D</a:t>
            </a:r>
            <a:r>
              <a:rPr sz="2400" b="1">
                <a:solidFill>
                  <a:schemeClr val="accent1"/>
                </a:solidFill>
                <a:latin typeface="+mj-lt"/>
                <a:ea typeface="+mj-lt"/>
                <a:cs typeface="+mj-lt"/>
              </a:rPr>
              <a:t>点云语义感知</a:t>
            </a:r>
            <a:endParaRPr sz="2400" b="1">
              <a:solidFill>
                <a:schemeClr val="accent1"/>
              </a:solidFill>
              <a:latin typeface="+mj-lt"/>
              <a:ea typeface="+mj-lt"/>
              <a:cs typeface="+mj-lt"/>
            </a:endParaRPr>
          </a:p>
        </p:txBody>
      </p:sp>
      <p:sp>
        <p:nvSpPr>
          <p:cNvPr id="7" name="文本框 6">
            <a:extLst xmlns:a="http://schemas.openxmlformats.org/drawingml/2006/main">
              <a:ext uri="{FF2B5EF4-FFF2-40B4-BE49-F238E27FC236}">
                <a16:creationId xmlns:a16="http://schemas.microsoft.com/office/drawing/2014/main" id="{606B8838-CAA2-4C9E-A909-E16C44E8DC66}"/>
              </a:ext>
            </a:extLst>
          </p:cNvPr>
          <p:cNvSpPr>
            <a:spLocks xmlns:a="http://schemas.openxmlformats.org/drawingml/2006/main" noGrp="1"/>
          </p:cNvSpPr>
          <p:nvPr/>
        </p:nvSpPr>
        <p:spPr>
          <a:xfrm xmlns:a="http://schemas.openxmlformats.org/drawingml/2006/main">
            <a:off x="1038225" y="1760855"/>
            <a:ext cx="9936480"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solidFill>
                  <a:schemeClr val="accent1"/>
                </a:solidFill>
              </a:rPr>
              <a:t>下图是点云分类和分割经典算法</a:t>
            </a:r>
            <a:r>
              <a:rPr sz="2000" b="1">
                <a:solidFill>
                  <a:schemeClr val="accent1"/>
                </a:solidFill>
              </a:rPr>
              <a:t>——PointNet</a:t>
            </a:r>
            <a:r>
              <a:rPr sz="2000" b="1">
                <a:solidFill>
                  <a:schemeClr val="accent1"/>
                </a:solidFill>
              </a:rPr>
              <a:t>的网络结构图，</a:t>
            </a:r>
            <a:r>
              <a:rPr sz="2000" b="1">
                <a:solidFill>
                  <a:schemeClr val="accent1"/>
                </a:solidFill>
              </a:rPr>
              <a:t>PointNet </a:t>
            </a:r>
            <a:r>
              <a:rPr sz="2000" b="1">
                <a:solidFill>
                  <a:schemeClr val="accent1"/>
                </a:solidFill>
              </a:rPr>
              <a:t>有效改善了原始点云旋转不变性差的问题，广泛应用于分类、部件分割和语义分割等任务。</a:t>
            </a:r>
          </a:p>
        </p:txBody>
      </p:sp>
      <p:pic>
        <p:nvPicPr>
          <p:cNvPr id="13" name="图片 4"/>
          <p:cNvPicPr>
            <a:picLocks xmlns:a="http://schemas.openxmlformats.org/drawingml/2006/main" noChangeAspect="1"/>
          </p:cNvPicPr>
          <p:nvPr/>
        </p:nvPicPr>
        <p:blipFill>
          <a:blip xmlns:r="http://schemas.openxmlformats.org/officeDocument/2006/relationships" xmlns:a="http://schemas.openxmlformats.org/drawingml/2006/main" r:embed="Rcd2dd6a9983d4411"/>
          <a:stretch xmlns:a="http://schemas.openxmlformats.org/drawingml/2006/main">
            <a:fillRect l="0" t="0" r="0" b="0"/>
          </a:stretch>
        </p:blipFill>
        <p:spPr>
          <a:xfrm xmlns:a="http://schemas.openxmlformats.org/drawingml/2006/main">
            <a:off x="976630" y="2746375"/>
            <a:ext cx="10196830" cy="3942715"/>
          </a:xfrm>
          <a:prstGeom xmlns:a="http://schemas.openxmlformats.org/drawingml/2006/main" prst="rect">
            <a:avLst/>
          </a:prstGeom>
        </p:spPr>
      </p:pic>
    </p:spTree>
    <p:extLst>
      <p:ext uri="{BB962C8B-B14F-4D97-AF65-F5344CB8AC3E}">
        <p14:creationId xmlns:p14="http://schemas.microsoft.com/office/powerpoint/2010/main" val="528048510"/>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9" name="圆角矩形 8">
            <a:extLst xmlns:a="http://schemas.openxmlformats.org/drawingml/2006/main">
              <a:ext uri="{FF2B5EF4-FFF2-40B4-BE49-F238E27FC236}">
                <a16:creationId xmlns:a16="http://schemas.microsoft.com/office/drawing/2014/main" id="{6A56F5EE-D253-4A41-806C-BFC3D1D7669A}"/>
              </a:ext>
            </a:extLst>
          </p:cNvPr>
          <p:cNvSpPr>
            <a:spLocks xmlns:a="http://schemas.openxmlformats.org/drawingml/2006/main" noGrp="1"/>
          </p:cNvSpPr>
          <p:nvPr/>
        </p:nvSpPr>
        <p:spPr>
          <a:xfrm xmlns:a="http://schemas.openxmlformats.org/drawingml/2006/main">
            <a:off x="513715" y="5715000"/>
            <a:ext cx="11194415" cy="95694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 name="矩形 103">
            <a:extLst xmlns:a="http://schemas.openxmlformats.org/drawingml/2006/main">
              <a:ext uri="{FF2B5EF4-FFF2-40B4-BE49-F238E27FC236}">
                <a16:creationId xmlns:a16="http://schemas.microsoft.com/office/drawing/2014/main" id="{BF915509-4E39-48FE-8E5C-8E2FCE778C3E}"/>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B43F3534-31AB-4FEB-A82A-F698641AAA2F}"/>
              </a:ext>
            </a:extLst>
          </p:cNvPr>
          <p:cNvSpPr>
            <a:spLocks xmlns:a="http://schemas.openxmlformats.org/drawingml/2006/main" noGrp="1"/>
          </p:cNvSpPr>
          <p:nvPr/>
        </p:nvSpPr>
        <p:spPr>
          <a:xfrm xmlns:a="http://schemas.openxmlformats.org/drawingml/2006/main" rot="0" flipH="0" flipV="0">
            <a:off x="271145" y="1021713"/>
            <a:ext cx="582485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a:t>
            </a:r>
            <a:r>
              <a:rPr sz="2400" b="1">
                <a:solidFill>
                  <a:schemeClr val="accent1"/>
                </a:solidFill>
                <a:latin typeface="+mj-lt"/>
                <a:ea typeface="+mj-lt"/>
                <a:cs typeface="+mj-lt"/>
              </a:rPr>
              <a:t>3D</a:t>
            </a:r>
            <a:r>
              <a:rPr sz="2400" b="1">
                <a:solidFill>
                  <a:schemeClr val="accent1"/>
                </a:solidFill>
                <a:latin typeface="+mj-lt"/>
                <a:ea typeface="+mj-lt"/>
                <a:cs typeface="+mj-lt"/>
              </a:rPr>
              <a:t>点云语义感知</a:t>
            </a:r>
            <a:endParaRPr sz="2400" b="1">
              <a:solidFill>
                <a:schemeClr val="accent1"/>
              </a:solidFill>
              <a:latin typeface="+mj-lt"/>
              <a:ea typeface="+mj-lt"/>
              <a:cs typeface="+mj-lt"/>
            </a:endParaRPr>
          </a:p>
        </p:txBody>
      </p:sp>
      <p:pic>
        <p:nvPicPr>
          <p:cNvPr id="110" name="图片 6"/>
          <p:cNvPicPr>
            <a:picLocks xmlns:a="http://schemas.openxmlformats.org/drawingml/2006/main" noChangeAspect="1"/>
          </p:cNvPicPr>
          <p:nvPr/>
        </p:nvPicPr>
        <p:blipFill>
          <a:blip xmlns:r="http://schemas.openxmlformats.org/officeDocument/2006/relationships" xmlns:a="http://schemas.openxmlformats.org/drawingml/2006/main" r:embed="R59c64c4a0d9c4a93"/>
          <a:stretch xmlns:a="http://schemas.openxmlformats.org/drawingml/2006/main">
            <a:fillRect l="0" t="0" r="0" b="0"/>
          </a:stretch>
        </p:blipFill>
        <p:spPr>
          <a:xfrm xmlns:a="http://schemas.openxmlformats.org/drawingml/2006/main">
            <a:off x="1050925" y="1664970"/>
            <a:ext cx="9936480" cy="3958590"/>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4678F68C-F480-450C-83B1-AB81DA5AAF66}"/>
              </a:ext>
            </a:extLst>
          </p:cNvPr>
          <p:cNvSpPr>
            <a:spLocks xmlns:a="http://schemas.openxmlformats.org/drawingml/2006/main" noGrp="1"/>
          </p:cNvSpPr>
          <p:nvPr/>
        </p:nvSpPr>
        <p:spPr>
          <a:xfrm xmlns:a="http://schemas.openxmlformats.org/drawingml/2006/main">
            <a:off x="649605" y="5722620"/>
            <a:ext cx="1108837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solidFill>
                <a:latin typeface="微软雅黑"/>
                <a:ea typeface="微软雅黑"/>
                <a:cs typeface="微软雅黑"/>
              </a:rPr>
              <a:t>但是</a:t>
            </a:r>
            <a:r>
              <a:rPr sz="1600">
                <a:solidFill>
                  <a:schemeClr val="tx1"/>
                </a:solidFill>
                <a:latin typeface="微软雅黑"/>
                <a:ea typeface="微软雅黑"/>
                <a:cs typeface="微软雅黑"/>
              </a:rPr>
              <a:t>PointNet</a:t>
            </a:r>
            <a:r>
              <a:rPr sz="1600">
                <a:solidFill>
                  <a:schemeClr val="tx1"/>
                </a:solidFill>
                <a:latin typeface="微软雅黑"/>
                <a:ea typeface="微软雅黑"/>
                <a:cs typeface="微软雅黑"/>
              </a:rPr>
              <a:t>存在过分关注全局特征而忽略局部特征的问题，没有考虑点与点之间的结构信息，也没有充分考虑到点云密度不均匀所造成的不利影响等问题，难以适应复杂场景。</a:t>
            </a:r>
          </a:p>
          <a:p xmlns:a="http://schemas.openxmlformats.org/drawingml/2006/main">
            <a:r>
              <a:rPr sz="1600">
                <a:solidFill>
                  <a:schemeClr val="tx1"/>
                </a:solidFill>
                <a:latin typeface="微软雅黑"/>
                <a:ea typeface="微软雅黑"/>
                <a:cs typeface="微软雅黑"/>
              </a:rPr>
              <a:t>PointNet++</a:t>
            </a:r>
            <a:r>
              <a:rPr sz="1600">
                <a:solidFill>
                  <a:schemeClr val="tx1"/>
                </a:solidFill>
                <a:latin typeface="微软雅黑"/>
                <a:ea typeface="微软雅黑"/>
                <a:cs typeface="微软雅黑"/>
              </a:rPr>
              <a:t>就上述提出了改进，解决了两个问题：如何对点云进行局部划分；如何对点云进行局部特征提取。</a:t>
            </a:r>
          </a:p>
        </p:txBody>
      </p:sp>
    </p:spTree>
    <p:extLst>
      <p:ext uri="{BB962C8B-B14F-4D97-AF65-F5344CB8AC3E}">
        <p14:creationId xmlns:p14="http://schemas.microsoft.com/office/powerpoint/2010/main" val="33804486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6" name="圆角矩形 5">
            <a:extLst xmlns:a="http://schemas.openxmlformats.org/drawingml/2006/main">
              <a:ext uri="{FF2B5EF4-FFF2-40B4-BE49-F238E27FC236}">
                <a16:creationId xmlns:a16="http://schemas.microsoft.com/office/drawing/2014/main" id="{0F4631F6-3A03-423D-8B20-A69C7DBD926B}"/>
              </a:ext>
            </a:extLst>
          </p:cNvPr>
          <p:cNvSpPr>
            <a:spLocks xmlns:a="http://schemas.openxmlformats.org/drawingml/2006/main" noGrp="1"/>
          </p:cNvSpPr>
          <p:nvPr/>
        </p:nvSpPr>
        <p:spPr>
          <a:xfrm xmlns:a="http://schemas.openxmlformats.org/drawingml/2006/main">
            <a:off x="432435" y="2446020"/>
            <a:ext cx="5875655" cy="283908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 name="矩形 103">
            <a:extLst xmlns:a="http://schemas.openxmlformats.org/drawingml/2006/main">
              <a:ext uri="{FF2B5EF4-FFF2-40B4-BE49-F238E27FC236}">
                <a16:creationId xmlns:a16="http://schemas.microsoft.com/office/drawing/2014/main" id="{C7D80C53-A909-45ED-9367-5320F1356175}"/>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B044D70D-42D4-483D-AF5B-4955E8190C60}"/>
              </a:ext>
            </a:extLst>
          </p:cNvPr>
          <p:cNvSpPr>
            <a:spLocks xmlns:a="http://schemas.openxmlformats.org/drawingml/2006/main" noGrp="1"/>
          </p:cNvSpPr>
          <p:nvPr/>
        </p:nvSpPr>
        <p:spPr>
          <a:xfrm xmlns:a="http://schemas.openxmlformats.org/drawingml/2006/main" rot="0" flipH="0" flipV="0">
            <a:off x="271145" y="1021713"/>
            <a:ext cx="582485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基于深度学习的视觉语义感知</a:t>
            </a:r>
            <a:endParaRPr sz="2400" b="1">
              <a:solidFill>
                <a:schemeClr val="accent1"/>
              </a:solidFill>
              <a:latin typeface="+mj-lt"/>
              <a:ea typeface="+mj-lt"/>
              <a:cs typeface="+mj-lt"/>
            </a:endParaRPr>
          </a:p>
        </p:txBody>
      </p:sp>
      <p:sp>
        <p:nvSpPr>
          <p:cNvPr id="5" name="文本框 4">
            <a:extLst xmlns:a="http://schemas.openxmlformats.org/drawingml/2006/main">
              <a:ext uri="{FF2B5EF4-FFF2-40B4-BE49-F238E27FC236}">
                <a16:creationId xmlns:a16="http://schemas.microsoft.com/office/drawing/2014/main" id="{00D02580-AF3A-4FF6-B749-3AF41FDEC114}"/>
              </a:ext>
            </a:extLst>
          </p:cNvPr>
          <p:cNvSpPr>
            <a:spLocks xmlns:a="http://schemas.openxmlformats.org/drawingml/2006/main" noGrp="1"/>
          </p:cNvSpPr>
          <p:nvPr/>
        </p:nvSpPr>
        <p:spPr>
          <a:xfrm xmlns:a="http://schemas.openxmlformats.org/drawingml/2006/main">
            <a:off x="685165" y="2830195"/>
            <a:ext cx="5410835" cy="2245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solidFill>
                  <a:schemeClr val="accent1"/>
                </a:solidFill>
                <a:latin typeface="宋体"/>
                <a:ea typeface="宋体"/>
                <a:cs typeface="宋体"/>
              </a:rPr>
              <a:t>语义分割任务是很多计算机视觉任务的前提与基础，在虚拟现实、无人驾驶等领域具有重要的应用价值。</a:t>
            </a:r>
            <a:endParaRPr sz="2000" b="1">
              <a:solidFill>
                <a:schemeClr val="accent1"/>
              </a:solidFill>
              <a:latin typeface="宋体"/>
              <a:ea typeface="宋体"/>
              <a:cs typeface="宋体"/>
            </a:endParaRPr>
          </a:p>
          <a:p xmlns:a="http://schemas.openxmlformats.org/drawingml/2006/main">
            <a:r>
              <a:rPr sz="2000" b="1">
                <a:solidFill>
                  <a:schemeClr val="accent1"/>
                </a:solidFill>
                <a:latin typeface="宋体"/>
                <a:ea typeface="宋体"/>
                <a:cs typeface="宋体"/>
              </a:rPr>
              <a:t>随着深度学习技术的快速发展，尤其是卷积神经网络（</a:t>
            </a:r>
            <a:r>
              <a:rPr sz="2000" b="1">
                <a:solidFill>
                  <a:schemeClr val="accent1"/>
                </a:solidFill>
                <a:latin typeface="Times New Roman"/>
                <a:ea typeface="Times New Roman"/>
                <a:cs typeface="Times New Roman"/>
              </a:rPr>
              <a:t>convolutional neural network</a:t>
            </a:r>
            <a:r>
              <a:rPr sz="2000" b="1">
                <a:solidFill>
                  <a:schemeClr val="accent1"/>
                </a:solidFill>
                <a:latin typeface="宋体"/>
                <a:ea typeface="宋体"/>
                <a:cs typeface="宋体"/>
              </a:rPr>
              <a:t>，</a:t>
            </a:r>
            <a:r>
              <a:rPr sz="2000" b="1">
                <a:solidFill>
                  <a:schemeClr val="accent1"/>
                </a:solidFill>
                <a:latin typeface="Times New Roman"/>
                <a:ea typeface="Times New Roman"/>
                <a:cs typeface="Times New Roman"/>
              </a:rPr>
              <a:t>CNN</a:t>
            </a:r>
            <a:r>
              <a:rPr sz="2000" b="1">
                <a:solidFill>
                  <a:schemeClr val="accent1"/>
                </a:solidFill>
                <a:latin typeface="宋体"/>
                <a:ea typeface="宋体"/>
                <a:cs typeface="宋体"/>
              </a:rPr>
              <a:t>）的出现，使得图像语义分割取得了长足的进步。</a:t>
            </a:r>
            <a:endParaRPr sz="2000" b="1">
              <a:solidFill>
                <a:schemeClr val="accent1"/>
              </a:solidFill>
              <a:latin typeface="宋体"/>
              <a:ea typeface="宋体"/>
              <a:cs typeface="宋体"/>
            </a:endParaRPr>
          </a:p>
          <a:p xmlns:a="http://schemas.openxmlformats.org/drawingml/2006/main">
            <a:endParaRPr sz="2000" b="1">
              <a:solidFill>
                <a:schemeClr val="accent1"/>
              </a:solidFill>
              <a:latin typeface="宋体"/>
              <a:ea typeface="宋体"/>
              <a:cs typeface="宋体"/>
            </a:endParaRPr>
          </a:p>
        </p:txBody>
      </p:sp>
      <p:pic>
        <p:nvPicPr>
          <p:cNvPr id="111" name="图片 7"/>
          <p:cNvPicPr>
            <a:picLocks xmlns:a="http://schemas.openxmlformats.org/drawingml/2006/main" noChangeAspect="1"/>
          </p:cNvPicPr>
          <p:nvPr/>
        </p:nvPicPr>
        <p:blipFill>
          <a:blip xmlns:r="http://schemas.openxmlformats.org/officeDocument/2006/relationships" xmlns:a="http://schemas.openxmlformats.org/drawingml/2006/main" r:embed="R40d0920617b945a1"/>
          <a:stretch xmlns:a="http://schemas.openxmlformats.org/drawingml/2006/main">
            <a:fillRect l="0" t="0" r="0" b="0"/>
          </a:stretch>
        </p:blipFill>
        <p:spPr>
          <a:xfrm xmlns:a="http://schemas.openxmlformats.org/drawingml/2006/main">
            <a:off x="6812915" y="1437640"/>
            <a:ext cx="4846320" cy="4855845"/>
          </a:xfrm>
          <a:prstGeom xmlns:a="http://schemas.openxmlformats.org/drawingml/2006/main" prst="rect">
            <a:avLst/>
          </a:prstGeom>
        </p:spPr>
      </p:pic>
    </p:spTree>
    <p:extLst>
      <p:ext uri="{BB962C8B-B14F-4D97-AF65-F5344CB8AC3E}">
        <p14:creationId xmlns:p14="http://schemas.microsoft.com/office/powerpoint/2010/main" val="35617849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064EB993-5392-41B5-9E8B-41289FC697A7}"/>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5AB8D6FF-7953-4594-862A-A06E4F41150A}"/>
              </a:ext>
            </a:extLst>
          </p:cNvPr>
          <p:cNvSpPr>
            <a:spLocks xmlns:a="http://schemas.openxmlformats.org/drawingml/2006/main" noGrp="1"/>
          </p:cNvSpPr>
          <p:nvPr/>
        </p:nvSpPr>
        <p:spPr>
          <a:xfrm xmlns:a="http://schemas.openxmlformats.org/drawingml/2006/main" rot="0" flipH="0" flipV="0">
            <a:off x="271145" y="1021713"/>
            <a:ext cx="561403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基于深度学习的视觉语义感知</a:t>
            </a:r>
            <a:endParaRPr sz="2400" b="1">
              <a:solidFill>
                <a:schemeClr val="accent1"/>
              </a:solidFill>
              <a:latin typeface="+mj-lt"/>
              <a:ea typeface="+mj-lt"/>
              <a:cs typeface="+mj-lt"/>
            </a:endParaRPr>
          </a:p>
        </p:txBody>
      </p:sp>
      <p:sp>
        <p:nvSpPr>
          <p:cNvPr id="33" name="圆角矩形 32">
            <a:extLst xmlns:a="http://schemas.openxmlformats.org/drawingml/2006/main">
              <a:ext uri="{FF2B5EF4-FFF2-40B4-BE49-F238E27FC236}">
                <a16:creationId xmlns:a16="http://schemas.microsoft.com/office/drawing/2014/main" id="{F9DF3B0C-E109-4C3B-A52A-8E7E61B7FA75}"/>
              </a:ext>
            </a:extLst>
          </p:cNvPr>
          <p:cNvSpPr>
            <a:spLocks xmlns:a="http://schemas.openxmlformats.org/drawingml/2006/main" noGrp="1"/>
          </p:cNvSpPr>
          <p:nvPr/>
        </p:nvSpPr>
        <p:spPr>
          <a:xfrm xmlns:a="http://schemas.openxmlformats.org/drawingml/2006/main">
            <a:off x="271145" y="1877695"/>
            <a:ext cx="5330825" cy="354838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文本框 33">
            <a:extLst xmlns:a="http://schemas.openxmlformats.org/drawingml/2006/main">
              <a:ext uri="{FF2B5EF4-FFF2-40B4-BE49-F238E27FC236}">
                <a16:creationId xmlns:a16="http://schemas.microsoft.com/office/drawing/2014/main" id="{5A77CBD3-325B-4EA2-A24F-FE21B8E28BF0}"/>
              </a:ext>
            </a:extLst>
          </p:cNvPr>
          <p:cNvSpPr>
            <a:spLocks xmlns:a="http://schemas.openxmlformats.org/drawingml/2006/main" noGrp="1"/>
          </p:cNvSpPr>
          <p:nvPr/>
        </p:nvSpPr>
        <p:spPr>
          <a:xfrm xmlns:a="http://schemas.openxmlformats.org/drawingml/2006/main">
            <a:off x="480060" y="2375535"/>
            <a:ext cx="4946650" cy="255333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2000" b="1">
                <a:solidFill>
                  <a:schemeClr val="accent1"/>
                </a:solidFill>
                <a:latin typeface="宋体"/>
                <a:ea typeface="宋体"/>
                <a:cs typeface="宋体"/>
              </a:rPr>
              <a:t>基于深度学习的语义分割方法大多是全监督学习模型。全监督学习图像语义分割方法即采用人工提前标注过 的像素作为训练样本，语义分割过程为：</a:t>
            </a:r>
          </a:p>
          <a:p xmlns:a="http://schemas.openxmlformats.org/drawingml/2006/main">
            <a:r>
              <a:rPr sz="2000" b="1">
                <a:solidFill>
                  <a:schemeClr val="accent1"/>
                </a:solidFill>
                <a:latin typeface="Times New Roman"/>
                <a:ea typeface="Times New Roman"/>
                <a:cs typeface="Times New Roman"/>
              </a:rPr>
              <a:t>1</a:t>
            </a:r>
            <a:r>
              <a:rPr sz="2000" b="1">
                <a:solidFill>
                  <a:schemeClr val="accent1"/>
                </a:solidFill>
                <a:latin typeface="宋体"/>
                <a:ea typeface="宋体"/>
                <a:cs typeface="宋体"/>
              </a:rPr>
              <a:t>）人工标注数据，即给图像的每个像素预先设定 一个语义标签；</a:t>
            </a:r>
          </a:p>
          <a:p xmlns:a="http://schemas.openxmlformats.org/drawingml/2006/main">
            <a:r>
              <a:rPr sz="2000" b="1">
                <a:solidFill>
                  <a:schemeClr val="accent1"/>
                </a:solidFill>
                <a:latin typeface="Times New Roman"/>
                <a:ea typeface="Times New Roman"/>
                <a:cs typeface="Times New Roman"/>
              </a:rPr>
              <a:t>2</a:t>
            </a:r>
            <a:r>
              <a:rPr sz="2000" b="1">
                <a:solidFill>
                  <a:schemeClr val="accent1"/>
                </a:solidFill>
                <a:latin typeface="宋体"/>
                <a:ea typeface="宋体"/>
                <a:cs typeface="宋体"/>
              </a:rPr>
              <a:t>）运用已标注的数据训练神经网络；</a:t>
            </a:r>
          </a:p>
          <a:p xmlns:a="http://schemas.openxmlformats.org/drawingml/2006/main">
            <a:r>
              <a:rPr sz="2000" b="1">
                <a:solidFill>
                  <a:schemeClr val="accent1"/>
                </a:solidFill>
                <a:latin typeface="Times New Roman"/>
                <a:ea typeface="Times New Roman"/>
                <a:cs typeface="Times New Roman"/>
              </a:rPr>
              <a:t>3</a:t>
            </a:r>
            <a:r>
              <a:rPr sz="2000" b="1">
                <a:solidFill>
                  <a:schemeClr val="accent1"/>
                </a:solidFill>
                <a:latin typeface="宋体"/>
                <a:ea typeface="宋体"/>
                <a:cs typeface="宋体"/>
              </a:rPr>
              <a:t>）语义分割。</a:t>
            </a:r>
          </a:p>
        </p:txBody>
      </p:sp>
      <p:pic>
        <p:nvPicPr>
          <p:cNvPr id="40" name="图片 1"/>
          <p:cNvPicPr>
            <a:picLocks xmlns:a="http://schemas.openxmlformats.org/drawingml/2006/main" noChangeAspect="1"/>
          </p:cNvPicPr>
          <p:nvPr/>
        </p:nvPicPr>
        <p:blipFill>
          <a:blip xmlns:r="http://schemas.openxmlformats.org/officeDocument/2006/relationships" xmlns:a="http://schemas.openxmlformats.org/drawingml/2006/main" r:embed="R36266c65d44f4b09"/>
          <a:stretch xmlns:a="http://schemas.openxmlformats.org/drawingml/2006/main">
            <a:fillRect l="0" t="0" r="0" b="0"/>
          </a:stretch>
        </p:blipFill>
        <p:spPr>
          <a:xfrm xmlns:a="http://schemas.openxmlformats.org/drawingml/2006/main">
            <a:off x="5727065" y="2263140"/>
            <a:ext cx="6226810" cy="2665730"/>
          </a:xfrm>
          <a:prstGeom xmlns:a="http://schemas.openxmlformats.org/drawingml/2006/main" prst="rect">
            <a:avLst/>
          </a:prstGeom>
        </p:spPr>
      </p:pic>
    </p:spTree>
    <p:extLst>
      <p:ext uri="{BB962C8B-B14F-4D97-AF65-F5344CB8AC3E}">
        <p14:creationId xmlns:p14="http://schemas.microsoft.com/office/powerpoint/2010/main" val="119689972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FA5FAE25-5702-4B95-AE3E-E043F1468856}"/>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9FD159A5-69E6-4E38-B859-832092C0F408}"/>
              </a:ext>
            </a:extLst>
          </p:cNvPr>
          <p:cNvSpPr>
            <a:spLocks xmlns:a="http://schemas.openxmlformats.org/drawingml/2006/main" noGrp="1"/>
          </p:cNvSpPr>
          <p:nvPr/>
        </p:nvSpPr>
        <p:spPr>
          <a:xfrm xmlns:a="http://schemas.openxmlformats.org/drawingml/2006/main" rot="0" flipH="0" flipV="0">
            <a:off x="271145" y="1021713"/>
            <a:ext cx="561403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基于深度学习的视觉语义感知</a:t>
            </a:r>
            <a:endParaRPr sz="2400" b="1">
              <a:solidFill>
                <a:schemeClr val="accent1"/>
              </a:solidFill>
              <a:latin typeface="+mj-lt"/>
              <a:ea typeface="+mj-lt"/>
              <a:cs typeface="+mj-lt"/>
            </a:endParaRPr>
          </a:p>
        </p:txBody>
      </p:sp>
      <p:sp>
        <p:nvSpPr>
          <p:cNvPr id="33" name="圆角矩形 32">
            <a:extLst xmlns:a="http://schemas.openxmlformats.org/drawingml/2006/main">
              <a:ext uri="{FF2B5EF4-FFF2-40B4-BE49-F238E27FC236}">
                <a16:creationId xmlns:a16="http://schemas.microsoft.com/office/drawing/2014/main" id="{E8BA4620-0F49-4784-B076-06B4940D1087}"/>
              </a:ext>
            </a:extLst>
          </p:cNvPr>
          <p:cNvSpPr>
            <a:spLocks xmlns:a="http://schemas.openxmlformats.org/drawingml/2006/main" noGrp="1"/>
          </p:cNvSpPr>
          <p:nvPr/>
        </p:nvSpPr>
        <p:spPr>
          <a:xfrm xmlns:a="http://schemas.openxmlformats.org/drawingml/2006/main">
            <a:off x="412750" y="1675130"/>
            <a:ext cx="10856595" cy="123380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文本框 33">
            <a:extLst xmlns:a="http://schemas.openxmlformats.org/drawingml/2006/main">
              <a:ext uri="{FF2B5EF4-FFF2-40B4-BE49-F238E27FC236}">
                <a16:creationId xmlns:a16="http://schemas.microsoft.com/office/drawing/2014/main" id="{81082C2A-93B6-4FB2-8896-29E95C04BDB0}"/>
              </a:ext>
            </a:extLst>
          </p:cNvPr>
          <p:cNvSpPr>
            <a:spLocks xmlns:a="http://schemas.openxmlformats.org/drawingml/2006/main" noGrp="1"/>
          </p:cNvSpPr>
          <p:nvPr/>
        </p:nvSpPr>
        <p:spPr>
          <a:xfrm xmlns:a="http://schemas.openxmlformats.org/drawingml/2006/main">
            <a:off x="648335" y="1812925"/>
            <a:ext cx="10712450" cy="101473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2000" b="1">
                <a:solidFill>
                  <a:schemeClr val="accent1"/>
                </a:solidFill>
                <a:latin typeface="宋体"/>
                <a:ea typeface="宋体"/>
                <a:cs typeface="宋体"/>
              </a:rPr>
              <a:t>FCN </a:t>
            </a:r>
            <a:r>
              <a:rPr sz="2000" b="1">
                <a:solidFill>
                  <a:schemeClr val="accent1"/>
                </a:solidFill>
                <a:latin typeface="宋体"/>
                <a:ea typeface="宋体"/>
                <a:cs typeface="宋体"/>
              </a:rPr>
              <a:t>算法是最早提出的全卷积网络（</a:t>
            </a:r>
            <a:r>
              <a:rPr sz="2000" b="1">
                <a:solidFill>
                  <a:schemeClr val="accent1"/>
                </a:solidFill>
                <a:latin typeface="宋体"/>
                <a:ea typeface="宋体"/>
                <a:cs typeface="宋体"/>
              </a:rPr>
              <a:t>fully convolutional network</a:t>
            </a:r>
            <a:r>
              <a:rPr sz="2000" b="1">
                <a:solidFill>
                  <a:schemeClr val="accent1"/>
                </a:solidFill>
                <a:latin typeface="宋体"/>
                <a:ea typeface="宋体"/>
                <a:cs typeface="宋体"/>
              </a:rPr>
              <a:t>，</a:t>
            </a:r>
            <a:r>
              <a:rPr sz="2000" b="1">
                <a:solidFill>
                  <a:schemeClr val="accent1"/>
                </a:solidFill>
                <a:latin typeface="宋体"/>
                <a:ea typeface="宋体"/>
                <a:cs typeface="宋体"/>
              </a:rPr>
              <a:t>FCN</a:t>
            </a:r>
            <a:r>
              <a:rPr sz="2000" b="1">
                <a:solidFill>
                  <a:schemeClr val="accent1"/>
                </a:solidFill>
                <a:latin typeface="宋体"/>
                <a:ea typeface="宋体"/>
                <a:cs typeface="宋体"/>
              </a:rPr>
              <a:t>），它以全监督学习的方式分割图像，输入图像的大小不受限制，能够实现端到端的像素级预测任务，网络结构如下图所示。</a:t>
            </a:r>
          </a:p>
        </p:txBody>
      </p:sp>
      <p:pic>
        <p:nvPicPr>
          <p:cNvPr id="40" name="图片 1"/>
          <p:cNvPicPr>
            <a:picLocks xmlns:a="http://schemas.openxmlformats.org/drawingml/2006/main" noChangeAspect="1"/>
          </p:cNvPicPr>
          <p:nvPr/>
        </p:nvPicPr>
        <p:blipFill>
          <a:blip xmlns:r="http://schemas.openxmlformats.org/officeDocument/2006/relationships" xmlns:a="http://schemas.openxmlformats.org/drawingml/2006/main" r:embed="Rfc55a5f3c1d8482c"/>
          <a:stretch xmlns:a="http://schemas.openxmlformats.org/drawingml/2006/main">
            <a:fillRect l="0" t="0" r="0" b="0"/>
          </a:stretch>
        </p:blipFill>
        <p:spPr>
          <a:xfrm xmlns:a="http://schemas.openxmlformats.org/drawingml/2006/main">
            <a:off x="1955800" y="2908935"/>
            <a:ext cx="7600950" cy="3895725"/>
          </a:xfrm>
          <a:prstGeom xmlns:a="http://schemas.openxmlformats.org/drawingml/2006/main" prst="rect">
            <a:avLst/>
          </a:prstGeom>
        </p:spPr>
      </p:pic>
    </p:spTree>
    <p:extLst>
      <p:ext uri="{BB962C8B-B14F-4D97-AF65-F5344CB8AC3E}">
        <p14:creationId xmlns:p14="http://schemas.microsoft.com/office/powerpoint/2010/main" val="116036945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00F491E4-3F10-4946-8654-9B793C739903}"/>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4B78D1E2-1004-46BE-9492-F1CBDEAD892C}"/>
              </a:ext>
            </a:extLst>
          </p:cNvPr>
          <p:cNvSpPr>
            <a:spLocks xmlns:a="http://schemas.openxmlformats.org/drawingml/2006/main" noGrp="1"/>
          </p:cNvSpPr>
          <p:nvPr/>
        </p:nvSpPr>
        <p:spPr>
          <a:xfrm xmlns:a="http://schemas.openxmlformats.org/drawingml/2006/main" rot="0" flipH="0" flipV="0">
            <a:off x="271145" y="1021713"/>
            <a:ext cx="561403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基于深度学习的视觉语义感知</a:t>
            </a:r>
            <a:endParaRPr sz="2400" b="1">
              <a:solidFill>
                <a:schemeClr val="accent1"/>
              </a:solidFill>
              <a:latin typeface="+mj-lt"/>
              <a:ea typeface="+mj-lt"/>
              <a:cs typeface="+mj-lt"/>
            </a:endParaRPr>
          </a:p>
        </p:txBody>
      </p:sp>
      <p:sp>
        <p:nvSpPr>
          <p:cNvPr id="33" name="圆角矩形 32">
            <a:extLst xmlns:a="http://schemas.openxmlformats.org/drawingml/2006/main">
              <a:ext uri="{FF2B5EF4-FFF2-40B4-BE49-F238E27FC236}">
                <a16:creationId xmlns:a16="http://schemas.microsoft.com/office/drawing/2014/main" id="{DD511516-A5AC-4E4E-977E-8352D6FEB29B}"/>
              </a:ext>
            </a:extLst>
          </p:cNvPr>
          <p:cNvSpPr>
            <a:spLocks xmlns:a="http://schemas.openxmlformats.org/drawingml/2006/main" noGrp="1"/>
          </p:cNvSpPr>
          <p:nvPr/>
        </p:nvSpPr>
        <p:spPr>
          <a:xfrm xmlns:a="http://schemas.openxmlformats.org/drawingml/2006/main">
            <a:off x="6455410" y="2279015"/>
            <a:ext cx="5309870" cy="295021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文本框 33">
            <a:extLst xmlns:a="http://schemas.openxmlformats.org/drawingml/2006/main">
              <a:ext uri="{FF2B5EF4-FFF2-40B4-BE49-F238E27FC236}">
                <a16:creationId xmlns:a16="http://schemas.microsoft.com/office/drawing/2014/main" id="{6D53761F-3245-484B-AF90-02FD23F8E160}"/>
              </a:ext>
            </a:extLst>
          </p:cNvPr>
          <p:cNvSpPr>
            <a:spLocks xmlns:a="http://schemas.openxmlformats.org/drawingml/2006/main" noGrp="1"/>
          </p:cNvSpPr>
          <p:nvPr/>
        </p:nvSpPr>
        <p:spPr>
          <a:xfrm xmlns:a="http://schemas.openxmlformats.org/drawingml/2006/main">
            <a:off x="6735445" y="2493010"/>
            <a:ext cx="4946650" cy="255333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indent="0">
              <a:lnSpc>
                <a:spcPct val="100000"/>
              </a:lnSpc>
              <a:buNone/>
            </a:pPr>
            <a:r>
              <a:rPr sz="2000" b="1">
                <a:solidFill>
                  <a:schemeClr val="accent1"/>
                </a:solidFill>
                <a:latin typeface="宋体"/>
                <a:ea typeface="宋体"/>
                <a:cs typeface="宋体"/>
              </a:rPr>
              <a:t>FCN </a:t>
            </a:r>
            <a:r>
              <a:rPr sz="2000" b="1">
                <a:solidFill>
                  <a:schemeClr val="accent1"/>
                </a:solidFill>
                <a:latin typeface="宋体"/>
                <a:ea typeface="宋体"/>
                <a:cs typeface="宋体"/>
              </a:rPr>
              <a:t>将</a:t>
            </a:r>
            <a:r>
              <a:rPr sz="2000" b="1">
                <a:solidFill>
                  <a:schemeClr val="accent1"/>
                </a:solidFill>
                <a:latin typeface="宋体"/>
                <a:ea typeface="宋体"/>
                <a:cs typeface="宋体"/>
              </a:rPr>
              <a:t> VGG-16</a:t>
            </a:r>
            <a:r>
              <a:rPr sz="2000" b="1">
                <a:solidFill>
                  <a:schemeClr val="accent1"/>
                </a:solidFill>
                <a:latin typeface="宋体"/>
                <a:ea typeface="宋体"/>
                <a:cs typeface="宋体"/>
              </a:rPr>
              <a:t>（</a:t>
            </a:r>
            <a:r>
              <a:rPr sz="2000" b="1">
                <a:solidFill>
                  <a:schemeClr val="accent1"/>
                </a:solidFill>
                <a:latin typeface="宋体"/>
                <a:ea typeface="宋体"/>
                <a:cs typeface="宋体"/>
              </a:rPr>
              <a:t>Visual Geometry Group 16-layer network</a:t>
            </a:r>
            <a:r>
              <a:rPr sz="2000" b="1">
                <a:solidFill>
                  <a:schemeClr val="accent1"/>
                </a:solidFill>
                <a:latin typeface="宋体"/>
                <a:ea typeface="宋体"/>
                <a:cs typeface="宋体"/>
              </a:rPr>
              <a:t>）算法的全连接层替换为卷积层。其工作流程为：</a:t>
            </a:r>
          </a:p>
          <a:p xmlns:a="http://schemas.openxmlformats.org/drawingml/2006/main">
            <a:pPr indent="0">
              <a:lnSpc>
                <a:spcPct val="100000"/>
              </a:lnSpc>
              <a:buNone/>
            </a:pPr>
            <a:r>
              <a:rPr sz="2000" b="1">
                <a:solidFill>
                  <a:schemeClr val="accent1"/>
                </a:solidFill>
                <a:latin typeface="宋体"/>
                <a:ea typeface="宋体"/>
                <a:cs typeface="宋体"/>
              </a:rPr>
              <a:t>1) </a:t>
            </a:r>
            <a:r>
              <a:rPr sz="2000" b="1">
                <a:solidFill>
                  <a:schemeClr val="accent1"/>
                </a:solidFill>
                <a:latin typeface="宋体"/>
                <a:ea typeface="宋体"/>
                <a:cs typeface="宋体"/>
              </a:rPr>
              <a:t>图像输入卷积神经网络之后，进行一系列的卷积和池化操作提取特征图；</a:t>
            </a:r>
          </a:p>
          <a:p xmlns:a="http://schemas.openxmlformats.org/drawingml/2006/main">
            <a:pPr indent="0">
              <a:lnSpc>
                <a:spcPct val="100000"/>
              </a:lnSpc>
              <a:buNone/>
            </a:pPr>
            <a:r>
              <a:rPr sz="2000" b="1">
                <a:solidFill>
                  <a:schemeClr val="accent1"/>
                </a:solidFill>
                <a:latin typeface="宋体"/>
                <a:ea typeface="宋体"/>
                <a:cs typeface="宋体"/>
              </a:rPr>
              <a:t>2) </a:t>
            </a:r>
            <a:r>
              <a:rPr sz="2000" b="1">
                <a:solidFill>
                  <a:schemeClr val="accent1"/>
                </a:solidFill>
                <a:latin typeface="宋体"/>
                <a:ea typeface="宋体"/>
                <a:cs typeface="宋体"/>
              </a:rPr>
              <a:t>通过反卷积层对特征图进行上采样处理；</a:t>
            </a:r>
          </a:p>
          <a:p xmlns:a="http://schemas.openxmlformats.org/drawingml/2006/main">
            <a:pPr indent="0">
              <a:lnSpc>
                <a:spcPct val="100000"/>
              </a:lnSpc>
              <a:buNone/>
            </a:pPr>
            <a:r>
              <a:rPr sz="2000" b="1">
                <a:solidFill>
                  <a:schemeClr val="accent1"/>
                </a:solidFill>
                <a:latin typeface="宋体"/>
                <a:ea typeface="宋体"/>
                <a:cs typeface="宋体"/>
              </a:rPr>
              <a:t>3) </a:t>
            </a:r>
            <a:r>
              <a:rPr sz="2000" b="1">
                <a:solidFill>
                  <a:schemeClr val="accent1"/>
                </a:solidFill>
                <a:latin typeface="宋体"/>
                <a:ea typeface="宋体"/>
                <a:cs typeface="宋体"/>
              </a:rPr>
              <a:t>进行像素分类并把粗粒度的分割结果转换成细粒度分割结果。</a:t>
            </a:r>
          </a:p>
        </p:txBody>
      </p:sp>
      <p:pic>
        <p:nvPicPr>
          <p:cNvPr id="40" name="图片 1"/>
          <p:cNvPicPr>
            <a:picLocks xmlns:a="http://schemas.openxmlformats.org/drawingml/2006/main" noChangeAspect="1"/>
          </p:cNvPicPr>
          <p:nvPr/>
        </p:nvPicPr>
        <p:blipFill>
          <a:blip xmlns:r="http://schemas.openxmlformats.org/officeDocument/2006/relationships" xmlns:a="http://schemas.openxmlformats.org/drawingml/2006/main" r:embed="R007ef2daed3048fc"/>
          <a:stretch xmlns:a="http://schemas.openxmlformats.org/drawingml/2006/main">
            <a:fillRect l="0" t="0" r="0" b="0"/>
          </a:stretch>
        </p:blipFill>
        <p:spPr>
          <a:xfrm xmlns:a="http://schemas.openxmlformats.org/drawingml/2006/main">
            <a:off x="0" y="2279015"/>
            <a:ext cx="6332220" cy="3245485"/>
          </a:xfrm>
          <a:prstGeom xmlns:a="http://schemas.openxmlformats.org/drawingml/2006/main" prst="rect">
            <a:avLst/>
          </a:prstGeom>
        </p:spPr>
      </p:pic>
    </p:spTree>
    <p:extLst>
      <p:ext uri="{BB962C8B-B14F-4D97-AF65-F5344CB8AC3E}">
        <p14:creationId xmlns:p14="http://schemas.microsoft.com/office/powerpoint/2010/main" val="22647887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062B0371-C879-4DF6-B87E-2C45EF9ECDBE}"/>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665E462E-89AE-49C3-A104-F70463F47543}"/>
              </a:ext>
            </a:extLst>
          </p:cNvPr>
          <p:cNvSpPr>
            <a:spLocks xmlns:a="http://schemas.openxmlformats.org/drawingml/2006/main" noGrp="1"/>
          </p:cNvSpPr>
          <p:nvPr/>
        </p:nvSpPr>
        <p:spPr>
          <a:xfrm xmlns:a="http://schemas.openxmlformats.org/drawingml/2006/main" rot="0" flipH="0" flipV="0">
            <a:off x="271145" y="1021713"/>
            <a:ext cx="561403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基于深度学习的视觉语义感知</a:t>
            </a:r>
            <a:endParaRPr sz="2400" b="1">
              <a:solidFill>
                <a:schemeClr val="accent1"/>
              </a:solidFill>
              <a:latin typeface="+mj-lt"/>
              <a:ea typeface="+mj-lt"/>
              <a:cs typeface="+mj-lt"/>
            </a:endParaRPr>
          </a:p>
        </p:txBody>
      </p:sp>
      <p:sp>
        <p:nvSpPr>
          <p:cNvPr id="33" name="圆角矩形 32">
            <a:extLst xmlns:a="http://schemas.openxmlformats.org/drawingml/2006/main">
              <a:ext uri="{FF2B5EF4-FFF2-40B4-BE49-F238E27FC236}">
                <a16:creationId xmlns:a16="http://schemas.microsoft.com/office/drawing/2014/main" id="{2D33C986-3DD0-4D59-AE86-CFE3AE94F335}"/>
              </a:ext>
            </a:extLst>
          </p:cNvPr>
          <p:cNvSpPr>
            <a:spLocks xmlns:a="http://schemas.openxmlformats.org/drawingml/2006/main" noGrp="1"/>
          </p:cNvSpPr>
          <p:nvPr/>
        </p:nvSpPr>
        <p:spPr>
          <a:xfrm xmlns:a="http://schemas.openxmlformats.org/drawingml/2006/main">
            <a:off x="412750" y="1675130"/>
            <a:ext cx="10763885" cy="96647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文本框 33">
            <a:extLst xmlns:a="http://schemas.openxmlformats.org/drawingml/2006/main">
              <a:ext uri="{FF2B5EF4-FFF2-40B4-BE49-F238E27FC236}">
                <a16:creationId xmlns:a16="http://schemas.microsoft.com/office/drawing/2014/main" id="{2BF41D97-3E2D-4D07-8DF7-B423C4F20A27}"/>
              </a:ext>
            </a:extLst>
          </p:cNvPr>
          <p:cNvSpPr>
            <a:spLocks xmlns:a="http://schemas.openxmlformats.org/drawingml/2006/main" noGrp="1"/>
          </p:cNvSpPr>
          <p:nvPr/>
        </p:nvSpPr>
        <p:spPr>
          <a:xfrm xmlns:a="http://schemas.openxmlformats.org/drawingml/2006/main">
            <a:off x="648335" y="1812925"/>
            <a:ext cx="10712450" cy="70675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2000" b="1">
                <a:solidFill>
                  <a:schemeClr val="accent1"/>
                </a:solidFill>
                <a:latin typeface="宋体"/>
                <a:ea typeface="宋体"/>
                <a:cs typeface="宋体"/>
              </a:rPr>
              <a:t>SegNet </a:t>
            </a:r>
            <a:r>
              <a:rPr sz="2000" b="1">
                <a:solidFill>
                  <a:schemeClr val="accent1"/>
                </a:solidFill>
                <a:latin typeface="宋体"/>
                <a:ea typeface="宋体"/>
                <a:cs typeface="宋体"/>
              </a:rPr>
              <a:t>是基于</a:t>
            </a:r>
            <a:r>
              <a:rPr sz="2000" b="1">
                <a:solidFill>
                  <a:schemeClr val="accent1"/>
                </a:solidFill>
                <a:latin typeface="宋体"/>
                <a:ea typeface="宋体"/>
                <a:cs typeface="宋体"/>
              </a:rPr>
              <a:t> Encoder-Decoder </a:t>
            </a:r>
            <a:r>
              <a:rPr sz="2000" b="1">
                <a:solidFill>
                  <a:schemeClr val="accent1"/>
                </a:solidFill>
                <a:latin typeface="宋体"/>
                <a:ea typeface="宋体"/>
                <a:cs typeface="宋体"/>
              </a:rPr>
              <a:t>的网络结构，</a:t>
            </a:r>
            <a:r>
              <a:rPr sz="2000" b="1">
                <a:solidFill>
                  <a:schemeClr val="accent1"/>
                </a:solidFill>
                <a:latin typeface="宋体"/>
                <a:ea typeface="宋体"/>
                <a:cs typeface="宋体"/>
              </a:rPr>
              <a:t>Encoder </a:t>
            </a:r>
            <a:r>
              <a:rPr sz="2000" b="1">
                <a:solidFill>
                  <a:schemeClr val="accent1"/>
                </a:solidFill>
                <a:latin typeface="宋体"/>
                <a:ea typeface="宋体"/>
                <a:cs typeface="宋体"/>
              </a:rPr>
              <a:t>的</a:t>
            </a:r>
            <a:r>
              <a:rPr sz="2000" b="1">
                <a:solidFill>
                  <a:schemeClr val="accent1"/>
                </a:solidFill>
                <a:latin typeface="宋体"/>
                <a:ea typeface="宋体"/>
                <a:cs typeface="宋体"/>
              </a:rPr>
              <a:t> backbone </a:t>
            </a:r>
            <a:r>
              <a:rPr sz="2000" b="1">
                <a:solidFill>
                  <a:schemeClr val="accent1"/>
                </a:solidFill>
                <a:latin typeface="宋体"/>
                <a:ea typeface="宋体"/>
                <a:cs typeface="宋体"/>
              </a:rPr>
              <a:t>采用</a:t>
            </a:r>
            <a:r>
              <a:rPr sz="2000" b="1">
                <a:solidFill>
                  <a:schemeClr val="accent1"/>
                </a:solidFill>
                <a:latin typeface="宋体"/>
                <a:ea typeface="宋体"/>
                <a:cs typeface="宋体"/>
              </a:rPr>
              <a:t> VGG-16(</a:t>
            </a:r>
            <a:r>
              <a:rPr sz="2000" b="1">
                <a:solidFill>
                  <a:schemeClr val="accent1"/>
                </a:solidFill>
                <a:latin typeface="宋体"/>
                <a:ea typeface="宋体"/>
                <a:cs typeface="宋体"/>
              </a:rPr>
              <a:t>去除</a:t>
            </a:r>
          </a:p>
          <a:p xmlns:a="http://schemas.openxmlformats.org/drawingml/2006/main">
            <a:r>
              <a:rPr sz="2000" b="1">
                <a:solidFill>
                  <a:schemeClr val="accent1"/>
                </a:solidFill>
                <a:latin typeface="宋体"/>
                <a:ea typeface="宋体"/>
                <a:cs typeface="宋体"/>
              </a:rPr>
              <a:t>FC </a:t>
            </a:r>
            <a:r>
              <a:rPr sz="2000" b="1">
                <a:solidFill>
                  <a:schemeClr val="accent1"/>
                </a:solidFill>
                <a:latin typeface="宋体"/>
                <a:ea typeface="宋体"/>
                <a:cs typeface="宋体"/>
              </a:rPr>
              <a:t>层</a:t>
            </a:r>
            <a:r>
              <a:rPr sz="2000" b="1">
                <a:solidFill>
                  <a:schemeClr val="accent1"/>
                </a:solidFill>
                <a:latin typeface="宋体"/>
                <a:ea typeface="宋体"/>
                <a:cs typeface="宋体"/>
              </a:rPr>
              <a:t>)</a:t>
            </a:r>
            <a:r>
              <a:rPr sz="2000" b="1">
                <a:solidFill>
                  <a:schemeClr val="accent1"/>
                </a:solidFill>
                <a:latin typeface="宋体"/>
                <a:ea typeface="宋体"/>
                <a:cs typeface="宋体"/>
              </a:rPr>
              <a:t>，网络结构如下图所示。</a:t>
            </a:r>
          </a:p>
        </p:txBody>
      </p:sp>
      <p:pic>
        <p:nvPicPr>
          <p:cNvPr id="40" name="图片 2"/>
          <p:cNvPicPr>
            <a:picLocks xmlns:a="http://schemas.openxmlformats.org/drawingml/2006/main" noChangeAspect="1"/>
          </p:cNvPicPr>
          <p:nvPr/>
        </p:nvPicPr>
        <p:blipFill>
          <a:blip xmlns:r="http://schemas.openxmlformats.org/officeDocument/2006/relationships" xmlns:a="http://schemas.openxmlformats.org/drawingml/2006/main" r:embed="R2ce65b4788044d40"/>
          <a:stretch xmlns:a="http://schemas.openxmlformats.org/drawingml/2006/main">
            <a:fillRect l="0" t="0" r="0" b="0"/>
          </a:stretch>
        </p:blipFill>
        <p:spPr>
          <a:xfrm xmlns:a="http://schemas.openxmlformats.org/drawingml/2006/main">
            <a:off x="584200" y="2939415"/>
            <a:ext cx="10655935" cy="3151505"/>
          </a:xfrm>
          <a:prstGeom xmlns:a="http://schemas.openxmlformats.org/drawingml/2006/main" prst="rect">
            <a:avLst/>
          </a:prstGeom>
        </p:spPr>
      </p:pic>
    </p:spTree>
    <p:extLst>
      <p:ext uri="{BB962C8B-B14F-4D97-AF65-F5344CB8AC3E}">
        <p14:creationId xmlns:p14="http://schemas.microsoft.com/office/powerpoint/2010/main" val="203223766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36" name="图片 2"/>
          <p:cNvPicPr>
            <a:picLocks xmlns:a="http://schemas.openxmlformats.org/drawingml/2006/main" noChangeAspect="1"/>
          </p:cNvPicPr>
          <p:nvPr/>
        </p:nvPicPr>
        <p:blipFill>
          <a:blip xmlns:r="http://schemas.openxmlformats.org/officeDocument/2006/relationships" xmlns:a="http://schemas.openxmlformats.org/drawingml/2006/main" r:embed="R25ecac62ffa64f06"/>
          <a:stretch xmlns:a="http://schemas.openxmlformats.org/drawingml/2006/main">
            <a:fillRect l="0" t="0" r="0" b="0"/>
          </a:stretch>
        </p:blipFill>
        <p:spPr>
          <a:xfrm xmlns:a="http://schemas.openxmlformats.org/drawingml/2006/main">
            <a:off x="1491615" y="1488440"/>
            <a:ext cx="8587740" cy="2540000"/>
          </a:xfrm>
          <a:prstGeom xmlns:a="http://schemas.openxmlformats.org/drawingml/2006/main" prst="rect">
            <a:avLst/>
          </a:prstGeom>
        </p:spPr>
      </p:pic>
      <p:sp>
        <p:nvSpPr>
          <p:cNvPr id="9" name="矩形 8">
            <a:extLst xmlns:a="http://schemas.openxmlformats.org/drawingml/2006/main">
              <a:ext uri="{FF2B5EF4-FFF2-40B4-BE49-F238E27FC236}">
                <a16:creationId xmlns:a16="http://schemas.microsoft.com/office/drawing/2014/main" id="{F857635D-A7F6-42CB-918E-C6B8C3F1542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EF2539D9-3C13-4F71-8ED8-F4C0501E09FC}"/>
              </a:ext>
            </a:extLst>
          </p:cNvPr>
          <p:cNvSpPr>
            <a:spLocks xmlns:a="http://schemas.openxmlformats.org/drawingml/2006/main" noGrp="1"/>
          </p:cNvSpPr>
          <p:nvPr/>
        </p:nvSpPr>
        <p:spPr>
          <a:xfrm xmlns:a="http://schemas.openxmlformats.org/drawingml/2006/main" rot="0" flipH="0" flipV="0">
            <a:off x="271145" y="1021713"/>
            <a:ext cx="561403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基于深度学习的视觉语义感知</a:t>
            </a:r>
            <a:endParaRPr sz="2400" b="1">
              <a:solidFill>
                <a:schemeClr val="accent1"/>
              </a:solidFill>
              <a:latin typeface="+mj-lt"/>
              <a:ea typeface="+mj-lt"/>
              <a:cs typeface="+mj-lt"/>
            </a:endParaRPr>
          </a:p>
        </p:txBody>
      </p:sp>
      <p:sp>
        <p:nvSpPr>
          <p:cNvPr id="33" name="圆角矩形 32">
            <a:extLst xmlns:a="http://schemas.openxmlformats.org/drawingml/2006/main">
              <a:ext uri="{FF2B5EF4-FFF2-40B4-BE49-F238E27FC236}">
                <a16:creationId xmlns:a16="http://schemas.microsoft.com/office/drawing/2014/main" id="{B4DC6987-C424-4CA7-84E7-48F58183391C}"/>
              </a:ext>
            </a:extLst>
          </p:cNvPr>
          <p:cNvSpPr>
            <a:spLocks xmlns:a="http://schemas.openxmlformats.org/drawingml/2006/main" noGrp="1"/>
          </p:cNvSpPr>
          <p:nvPr/>
        </p:nvSpPr>
        <p:spPr>
          <a:xfrm xmlns:a="http://schemas.openxmlformats.org/drawingml/2006/main">
            <a:off x="231140" y="4028440"/>
            <a:ext cx="11677015" cy="269049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文本框 33">
            <a:extLst xmlns:a="http://schemas.openxmlformats.org/drawingml/2006/main">
              <a:ext uri="{FF2B5EF4-FFF2-40B4-BE49-F238E27FC236}">
                <a16:creationId xmlns:a16="http://schemas.microsoft.com/office/drawing/2014/main" id="{5658F9CC-D333-4D13-B189-7DB58333E81A}"/>
              </a:ext>
            </a:extLst>
          </p:cNvPr>
          <p:cNvSpPr>
            <a:spLocks xmlns:a="http://schemas.openxmlformats.org/drawingml/2006/main" noGrp="1"/>
          </p:cNvSpPr>
          <p:nvPr/>
        </p:nvSpPr>
        <p:spPr>
          <a:xfrm xmlns:a="http://schemas.openxmlformats.org/drawingml/2006/main">
            <a:off x="415290" y="4034790"/>
            <a:ext cx="11493500" cy="261493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indent="0">
              <a:lnSpc>
                <a:spcPct val="100000"/>
              </a:lnSpc>
              <a:spcBef>
                <a:spcPts val="600"/>
              </a:spcBef>
              <a:buNone/>
            </a:pPr>
            <a:r>
              <a:rPr b="1">
                <a:solidFill>
                  <a:schemeClr val="accent1"/>
                </a:solidFill>
                <a:latin typeface="宋体"/>
                <a:ea typeface="宋体"/>
                <a:cs typeface="宋体"/>
              </a:rPr>
              <a:t>SegNet </a:t>
            </a:r>
            <a:r>
              <a:rPr b="1">
                <a:solidFill>
                  <a:schemeClr val="accent1"/>
                </a:solidFill>
                <a:latin typeface="宋体"/>
                <a:ea typeface="宋体"/>
                <a:cs typeface="宋体"/>
              </a:rPr>
              <a:t>的工作流程为：</a:t>
            </a:r>
          </a:p>
          <a:p xmlns:a="http://schemas.openxmlformats.org/drawingml/2006/main">
            <a:pPr indent="0">
              <a:lnSpc>
                <a:spcPct val="100000"/>
              </a:lnSpc>
              <a:spcBef>
                <a:spcPts val="600"/>
              </a:spcBef>
              <a:buNone/>
            </a:pPr>
            <a:r>
              <a:rPr b="1">
                <a:solidFill>
                  <a:schemeClr val="accent1"/>
                </a:solidFill>
                <a:latin typeface="宋体"/>
                <a:ea typeface="宋体"/>
                <a:cs typeface="宋体"/>
              </a:rPr>
              <a:t>1) </a:t>
            </a:r>
            <a:r>
              <a:rPr b="1">
                <a:solidFill>
                  <a:schemeClr val="accent1"/>
                </a:solidFill>
                <a:latin typeface="宋体"/>
                <a:ea typeface="宋体"/>
                <a:cs typeface="宋体"/>
              </a:rPr>
              <a:t>在</a:t>
            </a:r>
            <a:r>
              <a:rPr b="1">
                <a:solidFill>
                  <a:schemeClr val="accent1"/>
                </a:solidFill>
                <a:latin typeface="宋体"/>
                <a:ea typeface="宋体"/>
                <a:cs typeface="宋体"/>
              </a:rPr>
              <a:t> Encoder </a:t>
            </a:r>
            <a:r>
              <a:rPr b="1">
                <a:solidFill>
                  <a:schemeClr val="accent1"/>
                </a:solidFill>
                <a:latin typeface="宋体"/>
                <a:ea typeface="宋体"/>
                <a:cs typeface="宋体"/>
              </a:rPr>
              <a:t>过程中，通过卷积提取特征，</a:t>
            </a:r>
            <a:r>
              <a:rPr b="1">
                <a:solidFill>
                  <a:schemeClr val="accent1"/>
                </a:solidFill>
                <a:latin typeface="宋体"/>
                <a:ea typeface="宋体"/>
                <a:cs typeface="宋体"/>
              </a:rPr>
              <a:t>SegNet </a:t>
            </a:r>
            <a:r>
              <a:rPr b="1">
                <a:solidFill>
                  <a:schemeClr val="accent1"/>
                </a:solidFill>
                <a:latin typeface="宋体"/>
                <a:ea typeface="宋体"/>
                <a:cs typeface="宋体"/>
              </a:rPr>
              <a:t>使用</a:t>
            </a:r>
            <a:r>
              <a:rPr b="1">
                <a:solidFill>
                  <a:schemeClr val="accent1"/>
                </a:solidFill>
                <a:latin typeface="宋体"/>
                <a:ea typeface="宋体"/>
                <a:cs typeface="宋体"/>
              </a:rPr>
              <a:t> padding=same </a:t>
            </a:r>
            <a:r>
              <a:rPr b="1">
                <a:solidFill>
                  <a:schemeClr val="accent1"/>
                </a:solidFill>
                <a:latin typeface="宋体"/>
                <a:ea typeface="宋体"/>
                <a:cs typeface="宋体"/>
              </a:rPr>
              <a:t>的卷积，即执行卷积操作后保持图像原始尺寸；</a:t>
            </a:r>
          </a:p>
          <a:p xmlns:a="http://schemas.openxmlformats.org/drawingml/2006/main">
            <a:pPr indent="0">
              <a:lnSpc>
                <a:spcPct val="100000"/>
              </a:lnSpc>
              <a:spcBef>
                <a:spcPts val="600"/>
              </a:spcBef>
              <a:buNone/>
            </a:pPr>
            <a:r>
              <a:rPr b="1">
                <a:solidFill>
                  <a:schemeClr val="accent1"/>
                </a:solidFill>
                <a:latin typeface="宋体"/>
                <a:ea typeface="宋体"/>
                <a:cs typeface="宋体"/>
              </a:rPr>
              <a:t>2) </a:t>
            </a:r>
            <a:r>
              <a:rPr b="1">
                <a:solidFill>
                  <a:schemeClr val="accent1"/>
                </a:solidFill>
                <a:latin typeface="宋体"/>
                <a:ea typeface="宋体"/>
                <a:cs typeface="宋体"/>
              </a:rPr>
              <a:t>在</a:t>
            </a:r>
            <a:r>
              <a:rPr b="1">
                <a:solidFill>
                  <a:schemeClr val="accent1"/>
                </a:solidFill>
                <a:latin typeface="宋体"/>
                <a:ea typeface="宋体"/>
                <a:cs typeface="宋体"/>
              </a:rPr>
              <a:t> Decoder </a:t>
            </a:r>
            <a:r>
              <a:rPr b="1">
                <a:solidFill>
                  <a:schemeClr val="accent1"/>
                </a:solidFill>
                <a:latin typeface="宋体"/>
                <a:ea typeface="宋体"/>
                <a:cs typeface="宋体"/>
              </a:rPr>
              <a:t>过程中，同样使用使用</a:t>
            </a:r>
            <a:r>
              <a:rPr b="1">
                <a:solidFill>
                  <a:schemeClr val="accent1"/>
                </a:solidFill>
                <a:latin typeface="宋体"/>
                <a:ea typeface="宋体"/>
                <a:cs typeface="宋体"/>
              </a:rPr>
              <a:t> padding=same </a:t>
            </a:r>
            <a:r>
              <a:rPr b="1">
                <a:solidFill>
                  <a:schemeClr val="accent1"/>
                </a:solidFill>
                <a:latin typeface="宋体"/>
                <a:ea typeface="宋体"/>
                <a:cs typeface="宋体"/>
              </a:rPr>
              <a:t>的卷积对缩小后的特征图进行上采样，不过卷积的作用是为了丰富上采样的图像信息，使得在</a:t>
            </a:r>
            <a:r>
              <a:rPr b="1">
                <a:solidFill>
                  <a:schemeClr val="accent1"/>
                </a:solidFill>
                <a:latin typeface="宋体"/>
                <a:ea typeface="宋体"/>
                <a:cs typeface="宋体"/>
              </a:rPr>
              <a:t> Encoder </a:t>
            </a:r>
            <a:r>
              <a:rPr b="1">
                <a:solidFill>
                  <a:schemeClr val="accent1"/>
                </a:solidFill>
                <a:latin typeface="宋体"/>
                <a:ea typeface="宋体"/>
                <a:cs typeface="宋体"/>
              </a:rPr>
              <a:t>的</a:t>
            </a:r>
            <a:r>
              <a:rPr b="1">
                <a:solidFill>
                  <a:schemeClr val="accent1"/>
                </a:solidFill>
                <a:latin typeface="宋体"/>
                <a:ea typeface="宋体"/>
                <a:cs typeface="宋体"/>
              </a:rPr>
              <a:t>Pooling </a:t>
            </a:r>
            <a:r>
              <a:rPr b="1">
                <a:solidFill>
                  <a:schemeClr val="accent1"/>
                </a:solidFill>
                <a:latin typeface="宋体"/>
                <a:ea typeface="宋体"/>
                <a:cs typeface="宋体"/>
              </a:rPr>
              <a:t>过程丢失的信息可以通过学习通过</a:t>
            </a:r>
            <a:r>
              <a:rPr b="1">
                <a:solidFill>
                  <a:schemeClr val="accent1"/>
                </a:solidFill>
                <a:latin typeface="宋体"/>
                <a:ea typeface="宋体"/>
                <a:cs typeface="宋体"/>
              </a:rPr>
              <a:t> Decoder </a:t>
            </a:r>
            <a:r>
              <a:rPr b="1">
                <a:solidFill>
                  <a:schemeClr val="accent1"/>
                </a:solidFill>
                <a:latin typeface="宋体"/>
                <a:ea typeface="宋体"/>
                <a:cs typeface="宋体"/>
              </a:rPr>
              <a:t>得到；</a:t>
            </a:r>
          </a:p>
          <a:p xmlns:a="http://schemas.openxmlformats.org/drawingml/2006/main">
            <a:pPr indent="0">
              <a:lnSpc>
                <a:spcPct val="100000"/>
              </a:lnSpc>
              <a:spcBef>
                <a:spcPts val="600"/>
              </a:spcBef>
              <a:buNone/>
            </a:pPr>
            <a:r>
              <a:rPr b="1">
                <a:solidFill>
                  <a:schemeClr val="accent1"/>
                </a:solidFill>
                <a:latin typeface="宋体"/>
                <a:ea typeface="宋体"/>
                <a:cs typeface="宋体"/>
              </a:rPr>
              <a:t>3) </a:t>
            </a:r>
            <a:r>
              <a:rPr b="1">
                <a:solidFill>
                  <a:schemeClr val="accent1"/>
                </a:solidFill>
                <a:latin typeface="宋体"/>
                <a:ea typeface="宋体"/>
                <a:cs typeface="宋体"/>
              </a:rPr>
              <a:t>对上采样后的图像进行卷积处理，来完善图像中物体的几何形状，将</a:t>
            </a:r>
            <a:r>
              <a:rPr b="1">
                <a:solidFill>
                  <a:schemeClr val="accent1"/>
                </a:solidFill>
                <a:latin typeface="宋体"/>
                <a:ea typeface="宋体"/>
                <a:cs typeface="宋体"/>
              </a:rPr>
              <a:t> Encoder</a:t>
            </a:r>
            <a:r>
              <a:rPr b="1">
                <a:solidFill>
                  <a:schemeClr val="accent1"/>
                </a:solidFill>
                <a:latin typeface="宋体"/>
                <a:ea typeface="宋体"/>
                <a:cs typeface="宋体"/>
              </a:rPr>
              <a:t>中获得的特征还原到原来图像的具体的像素点上；</a:t>
            </a:r>
          </a:p>
          <a:p xmlns:a="http://schemas.openxmlformats.org/drawingml/2006/main">
            <a:pPr indent="0">
              <a:lnSpc>
                <a:spcPct val="100000"/>
              </a:lnSpc>
              <a:spcBef>
                <a:spcPts val="600"/>
              </a:spcBef>
              <a:buNone/>
            </a:pPr>
            <a:r>
              <a:rPr b="1">
                <a:solidFill>
                  <a:schemeClr val="accent1"/>
                </a:solidFill>
                <a:latin typeface="宋体"/>
                <a:ea typeface="宋体"/>
                <a:cs typeface="宋体"/>
              </a:rPr>
              <a:t>4) </a:t>
            </a:r>
            <a:r>
              <a:rPr b="1">
                <a:solidFill>
                  <a:schemeClr val="accent1"/>
                </a:solidFill>
                <a:latin typeface="宋体"/>
                <a:ea typeface="宋体"/>
                <a:cs typeface="宋体"/>
              </a:rPr>
              <a:t>利用</a:t>
            </a:r>
            <a:r>
              <a:rPr b="1">
                <a:solidFill>
                  <a:schemeClr val="accent1"/>
                </a:solidFill>
                <a:latin typeface="宋体"/>
                <a:ea typeface="宋体"/>
                <a:cs typeface="宋体"/>
              </a:rPr>
              <a:t> Softmax </a:t>
            </a:r>
            <a:r>
              <a:rPr b="1">
                <a:solidFill>
                  <a:schemeClr val="accent1"/>
                </a:solidFill>
                <a:latin typeface="宋体"/>
                <a:ea typeface="宋体"/>
                <a:cs typeface="宋体"/>
              </a:rPr>
              <a:t>多分类器对</a:t>
            </a:r>
            <a:r>
              <a:rPr b="1">
                <a:solidFill>
                  <a:schemeClr val="accent1"/>
                </a:solidFill>
                <a:latin typeface="宋体"/>
                <a:ea typeface="宋体"/>
                <a:cs typeface="宋体"/>
              </a:rPr>
              <a:t> Decoder </a:t>
            </a:r>
            <a:r>
              <a:rPr b="1">
                <a:solidFill>
                  <a:schemeClr val="accent1"/>
                </a:solidFill>
                <a:latin typeface="宋体"/>
                <a:ea typeface="宋体"/>
                <a:cs typeface="宋体"/>
              </a:rPr>
              <a:t>输出的特征图进行逐像素分类。</a:t>
            </a:r>
          </a:p>
        </p:txBody>
      </p:sp>
    </p:spTree>
    <p:extLst>
      <p:ext uri="{BB962C8B-B14F-4D97-AF65-F5344CB8AC3E}">
        <p14:creationId xmlns:p14="http://schemas.microsoft.com/office/powerpoint/2010/main" val="155646907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E521A5CF-4FC8-4803-803B-07D2109D79DC}"/>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47F3A0C8-FCB9-4C7F-BB47-B8111C78E4C3}"/>
              </a:ext>
            </a:extLst>
          </p:cNvPr>
          <p:cNvSpPr>
            <a:spLocks xmlns:a="http://schemas.openxmlformats.org/drawingml/2006/main" noGrp="1"/>
          </p:cNvSpPr>
          <p:nvPr/>
        </p:nvSpPr>
        <p:spPr>
          <a:xfrm xmlns:a="http://schemas.openxmlformats.org/drawingml/2006/main" rot="0" flipH="0" flipV="0">
            <a:off x="271145" y="1021713"/>
            <a:ext cx="561403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5.3.1 </a:t>
            </a:r>
            <a:r>
              <a:rPr sz="2400" b="1">
                <a:solidFill>
                  <a:schemeClr val="accent1"/>
                </a:solidFill>
                <a:latin typeface="+mj-lt"/>
                <a:ea typeface="+mj-lt"/>
                <a:cs typeface="+mj-lt"/>
              </a:rPr>
              <a:t>基于深度学习的视觉语义感知</a:t>
            </a:r>
            <a:endParaRPr sz="2400" b="1">
              <a:solidFill>
                <a:schemeClr val="accent1"/>
              </a:solidFill>
              <a:latin typeface="+mj-lt"/>
              <a:ea typeface="+mj-lt"/>
              <a:cs typeface="+mj-lt"/>
            </a:endParaRPr>
          </a:p>
        </p:txBody>
      </p:sp>
      <p:sp>
        <p:nvSpPr>
          <p:cNvPr id="34" name="文本框 33">
            <a:extLst xmlns:a="http://schemas.openxmlformats.org/drawingml/2006/main">
              <a:ext uri="{FF2B5EF4-FFF2-40B4-BE49-F238E27FC236}">
                <a16:creationId xmlns:a16="http://schemas.microsoft.com/office/drawing/2014/main" id="{02CF793A-7FDE-46E0-AEB4-F59A1C492834}"/>
              </a:ext>
            </a:extLst>
          </p:cNvPr>
          <p:cNvSpPr>
            <a:spLocks xmlns:a="http://schemas.openxmlformats.org/drawingml/2006/main" noGrp="1"/>
          </p:cNvSpPr>
          <p:nvPr/>
        </p:nvSpPr>
        <p:spPr>
          <a:xfrm xmlns:a="http://schemas.openxmlformats.org/drawingml/2006/main">
            <a:off x="473075" y="1689100"/>
            <a:ext cx="4230370" cy="39878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2000" b="1">
                <a:solidFill>
                  <a:schemeClr val="tx1"/>
                </a:solidFill>
                <a:latin typeface="宋体"/>
                <a:ea typeface="宋体"/>
                <a:cs typeface="宋体"/>
              </a:rPr>
              <a:t>SegNet</a:t>
            </a:r>
            <a:r>
              <a:rPr sz="2000" b="1">
                <a:solidFill>
                  <a:schemeClr val="tx1"/>
                </a:solidFill>
                <a:latin typeface="宋体"/>
                <a:ea typeface="宋体"/>
                <a:cs typeface="宋体"/>
              </a:rPr>
              <a:t>和</a:t>
            </a:r>
            <a:r>
              <a:rPr sz="2000" b="1">
                <a:solidFill>
                  <a:schemeClr val="tx1"/>
                </a:solidFill>
                <a:latin typeface="宋体"/>
                <a:ea typeface="宋体"/>
                <a:cs typeface="宋体"/>
              </a:rPr>
              <a:t>FCN </a:t>
            </a:r>
            <a:r>
              <a:rPr sz="2000" b="1">
                <a:solidFill>
                  <a:schemeClr val="tx1"/>
                </a:solidFill>
                <a:latin typeface="宋体"/>
                <a:ea typeface="宋体"/>
                <a:cs typeface="宋体"/>
              </a:rPr>
              <a:t>上采用方法对比</a:t>
            </a:r>
          </a:p>
        </p:txBody>
      </p:sp>
      <p:pic>
        <p:nvPicPr>
          <p:cNvPr id="39" name="图片 1"/>
          <p:cNvPicPr>
            <a:picLocks xmlns:a="http://schemas.openxmlformats.org/drawingml/2006/main" noChangeAspect="1"/>
          </p:cNvPicPr>
          <p:nvPr/>
        </p:nvPicPr>
        <p:blipFill>
          <a:blip xmlns:r="http://schemas.openxmlformats.org/officeDocument/2006/relationships" xmlns:a="http://schemas.openxmlformats.org/drawingml/2006/main" r:embed="Re8789a645948474b"/>
          <a:srcRect xmlns:a="http://schemas.openxmlformats.org/drawingml/2006/main" l="0" t="2079" r="-258" b="0"/>
          <a:stretch xmlns:a="http://schemas.openxmlformats.org/drawingml/2006/main">
            <a:fillRect l="0" t="0" r="0" b="0"/>
          </a:stretch>
        </p:blipFill>
        <p:spPr>
          <a:xfrm xmlns:a="http://schemas.openxmlformats.org/drawingml/2006/main">
            <a:off x="1748790" y="2211705"/>
            <a:ext cx="8470900" cy="4204970"/>
          </a:xfrm>
          <a:prstGeom xmlns:a="http://schemas.openxmlformats.org/drawingml/2006/main" prst="rect">
            <a:avLst/>
          </a:prstGeom>
        </p:spPr>
      </p:pic>
    </p:spTree>
    <p:extLst>
      <p:ext uri="{BB962C8B-B14F-4D97-AF65-F5344CB8AC3E}">
        <p14:creationId xmlns:p14="http://schemas.microsoft.com/office/powerpoint/2010/main" val="2118159030"/>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DA51D05B-D4F4-4815-9C05-CFF62860FA40}"/>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ADB77BAA-54C4-492A-AD1B-7D45EFD9E227}"/>
              </a:ext>
            </a:extLst>
          </p:cNvPr>
          <p:cNvSpPr>
            <a:spLocks xmlns:a="http://schemas.openxmlformats.org/drawingml/2006/main" noGrp="1"/>
          </p:cNvSpPr>
          <p:nvPr/>
        </p:nvSpPr>
        <p:spPr>
          <a:xfrm xmlns:a="http://schemas.openxmlformats.org/drawingml/2006/main" rot="0" flipH="0" flipV="0">
            <a:off x="271145" y="1021713"/>
            <a:ext cx="547243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5.3.2 </a:t>
            </a:r>
            <a:r>
              <a:rPr sz="2400" b="1">
                <a:solidFill>
                  <a:schemeClr val="accent1"/>
                </a:solidFill>
                <a:latin typeface="+mj-lt"/>
                <a:ea typeface="+mj-lt"/>
                <a:cs typeface="+mj-lt"/>
              </a:rPr>
              <a:t>基于深度学习的机器人状态估计</a:t>
            </a:r>
          </a:p>
        </p:txBody>
      </p:sp>
      <p:pic>
        <p:nvPicPr>
          <p:cNvPr id="122" name="Google Shape;85;p13"/>
          <p:cNvPicPr>
            <a:picLocks xmlns:a="http://schemas.openxmlformats.org/drawingml/2006/main" noChangeAspect="1"/>
          </p:cNvPicPr>
          <p:nvPr/>
        </p:nvPicPr>
        <p:blipFill rotWithShape="1">
          <a:blip xmlns:r="http://schemas.openxmlformats.org/officeDocument/2006/relationships" xmlns:a="http://schemas.openxmlformats.org/drawingml/2006/main" r:embed="R7ef54477b7864a26"/>
          <a:srcRect xmlns:a="http://schemas.openxmlformats.org/drawingml/2006/main" l="0" t="0" r="0" b="0"/>
          <a:stretch xmlns:a="http://schemas.openxmlformats.org/drawingml/2006/main">
            <a:fillRect l="0" t="0" r="0" b="0"/>
          </a:stretch>
        </p:blipFill>
        <p:spPr>
          <a:xfrm xmlns:a="http://schemas.openxmlformats.org/drawingml/2006/main">
            <a:off x="571500" y="1687830"/>
            <a:ext cx="5086985" cy="4976495"/>
          </a:xfrm>
          <a:prstGeom xmlns:a="http://schemas.openxmlformats.org/drawingml/2006/main" prst="rect">
            <a:avLst/>
          </a:prstGeom>
          <a:ln xmlns:a="http://schemas.openxmlformats.org/drawingml/2006/main">
            <a:noFill/>
          </a:ln>
        </p:spPr>
      </p:pic>
      <p:pic>
        <p:nvPicPr>
          <p:cNvPr id="123" name="Google Shape;90;p13"/>
          <p:cNvPicPr>
            <a:picLocks xmlns:a="http://schemas.openxmlformats.org/drawingml/2006/main" noChangeAspect="1"/>
          </p:cNvPicPr>
          <p:nvPr/>
        </p:nvPicPr>
        <p:blipFill rotWithShape="1">
          <a:blip xmlns:r="http://schemas.openxmlformats.org/officeDocument/2006/relationships" xmlns:a="http://schemas.openxmlformats.org/drawingml/2006/main" r:embed="Rbbf593b01c184a18"/>
          <a:srcRect xmlns:a="http://schemas.openxmlformats.org/drawingml/2006/main" l="0" t="0" r="0" b="0"/>
          <a:stretch xmlns:a="http://schemas.openxmlformats.org/drawingml/2006/main">
            <a:fillRect l="0" t="0" r="0" b="0"/>
          </a:stretch>
        </p:blipFill>
        <p:spPr>
          <a:xfrm xmlns:a="http://schemas.openxmlformats.org/drawingml/2006/main">
            <a:off x="809625" y="1841748"/>
            <a:ext cx="285750" cy="285750"/>
          </a:xfrm>
          <a:prstGeom xmlns:a="http://schemas.openxmlformats.org/drawingml/2006/main" prst="rect">
            <a:avLst/>
          </a:prstGeom>
          <a:ln xmlns:a="http://schemas.openxmlformats.org/drawingml/2006/main">
            <a:noFill/>
          </a:ln>
        </p:spPr>
      </p:pic>
      <p:sp>
        <p:nvSpPr>
          <p:cNvPr id="91" name="Google Shape;91;p13">
            <a:extLst xmlns:a="http://schemas.openxmlformats.org/drawingml/2006/main">
              <a:ext uri="{FF2B5EF4-FFF2-40B4-BE49-F238E27FC236}">
                <a16:creationId xmlns:a16="http://schemas.microsoft.com/office/drawing/2014/main" id="{1B274DC7-90A7-4970-9C78-4F85E7B0FA58}"/>
              </a:ext>
            </a:extLst>
          </p:cNvPr>
          <p:cNvSpPr>
            <a:spLocks xmlns:a="http://schemas.openxmlformats.org/drawingml/2006/main" noGrp="1"/>
          </p:cNvSpPr>
          <p:nvPr/>
        </p:nvSpPr>
        <p:spPr>
          <a:xfrm xmlns:a="http://schemas.openxmlformats.org/drawingml/2006/main">
            <a:off x="1238250" y="1817935"/>
            <a:ext cx="2628922" cy="299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3366"/>
                </a:solidFill>
                <a:latin typeface="Noto Sans SC"/>
                <a:ea typeface="Noto Sans SC"/>
                <a:cs typeface="Noto Sans SC"/>
              </a:rPr>
              <a:t>纯</a:t>
            </a:r>
            <a:r>
              <a:rPr sz="1950" b="1" i="0" u="none" cap="none">
                <a:solidFill>
                  <a:srgbClr val="003366"/>
                </a:solidFill>
                <a:latin typeface="Noto Sans SC"/>
                <a:ea typeface="Noto Sans SC"/>
                <a:cs typeface="Noto Sans SC"/>
              </a:rPr>
              <a:t>惯性导航 (AI-IMU)</a:t>
            </a:r>
          </a:p>
        </p:txBody>
      </p:sp>
      <p:sp>
        <p:nvSpPr>
          <p:cNvPr id="93" name="Google Shape;93;p13">
            <a:extLst xmlns:a="http://schemas.openxmlformats.org/drawingml/2006/main">
              <a:ext uri="{FF2B5EF4-FFF2-40B4-BE49-F238E27FC236}">
                <a16:creationId xmlns:a16="http://schemas.microsoft.com/office/drawing/2014/main" id="{BCEF1EEB-0E38-4CD0-84AD-6F841A24169D}"/>
              </a:ext>
            </a:extLst>
          </p:cNvPr>
          <p:cNvSpPr>
            <a:spLocks xmlns:a="http://schemas.openxmlformats.org/drawingml/2006/main" noGrp="1"/>
          </p:cNvSpPr>
          <p:nvPr/>
        </p:nvSpPr>
        <p:spPr>
          <a:xfrm xmlns:a="http://schemas.openxmlformats.org/drawingml/2006/main">
            <a:off x="1066800" y="4934515"/>
            <a:ext cx="4591050"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350" b="1" i="0" u="none" cap="none">
                <a:solidFill>
                  <a:srgbClr val="003366"/>
                </a:solidFill>
                <a:latin typeface="Noto Sans SC"/>
                <a:ea typeface="Noto Sans SC"/>
                <a:cs typeface="Noto Sans SC"/>
              </a:rPr>
              <a:t>核心突破：</a:t>
            </a:r>
            <a:r>
              <a:rPr sz="1350" b="0" i="0" u="none" cap="none">
                <a:solidFill>
                  <a:srgbClr val="334155"/>
                </a:solidFill>
                <a:latin typeface="Noto Sans SC"/>
                <a:ea typeface="Noto Sans SC"/>
                <a:cs typeface="Noto Sans SC"/>
              </a:rPr>
              <a:t> 解决噪声矩阵自适应估计与测量模型构建。</a:t>
            </a:r>
          </a:p>
        </p:txBody>
      </p:sp>
      <p:sp>
        <p:nvSpPr>
          <p:cNvPr id="94" name="Google Shape;94;p13">
            <a:extLst xmlns:a="http://schemas.openxmlformats.org/drawingml/2006/main">
              <a:ext uri="{FF2B5EF4-FFF2-40B4-BE49-F238E27FC236}">
                <a16:creationId xmlns:a16="http://schemas.microsoft.com/office/drawing/2014/main" id="{FAE04D3D-C9CA-4A2A-BEE4-C8A6BBE29442}"/>
              </a:ext>
            </a:extLst>
          </p:cNvPr>
          <p:cNvSpPr>
            <a:spLocks xmlns:a="http://schemas.openxmlformats.org/drawingml/2006/main" noGrp="1"/>
          </p:cNvSpPr>
          <p:nvPr/>
        </p:nvSpPr>
        <p:spPr>
          <a:xfrm xmlns:a="http://schemas.openxmlformats.org/drawingml/2006/main">
            <a:off x="1066800" y="5304055"/>
            <a:ext cx="4591050"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350" b="1" i="0" u="none" cap="none">
                <a:solidFill>
                  <a:srgbClr val="003366"/>
                </a:solidFill>
                <a:latin typeface="Noto Sans SC"/>
                <a:ea typeface="Noto Sans SC"/>
                <a:cs typeface="Noto Sans SC"/>
              </a:rPr>
              <a:t>非端到端学习：</a:t>
            </a:r>
            <a:r>
              <a:rPr sz="1350" b="0" i="0" u="none" cap="none">
                <a:solidFill>
                  <a:srgbClr val="334155"/>
                </a:solidFill>
                <a:latin typeface="Noto Sans SC"/>
                <a:ea typeface="Noto Sans SC"/>
                <a:cs typeface="Noto Sans SC"/>
              </a:rPr>
              <a:t> 使用 </a:t>
            </a:r>
            <a:r>
              <a:rPr sz="1350" b="1" i="0" u="none" cap="none">
                <a:solidFill>
                  <a:srgbClr val="003366"/>
                </a:solidFill>
                <a:latin typeface="Noto Sans SC"/>
                <a:ea typeface="Noto Sans SC"/>
                <a:cs typeface="Noto Sans SC"/>
              </a:rPr>
              <a:t>CNN 估计过程噪声</a:t>
            </a:r>
            <a:r>
              <a:rPr sz="1350" b="0" i="0" u="none" cap="none">
                <a:solidFill>
                  <a:srgbClr val="334155"/>
                </a:solidFill>
                <a:latin typeface="Noto Sans SC"/>
                <a:ea typeface="Noto Sans SC"/>
                <a:cs typeface="Noto Sans SC"/>
              </a:rPr>
              <a:t>，提高鲁棒性。</a:t>
            </a:r>
          </a:p>
        </p:txBody>
      </p:sp>
      <p:sp>
        <p:nvSpPr>
          <p:cNvPr id="95" name="Google Shape;95;p13">
            <a:extLst xmlns:a="http://schemas.openxmlformats.org/drawingml/2006/main">
              <a:ext uri="{FF2B5EF4-FFF2-40B4-BE49-F238E27FC236}">
                <a16:creationId xmlns:a16="http://schemas.microsoft.com/office/drawing/2014/main" id="{0EB76085-9174-430E-B2A5-4181DB95447B}"/>
              </a:ext>
            </a:extLst>
          </p:cNvPr>
          <p:cNvSpPr>
            <a:spLocks xmlns:a="http://schemas.openxmlformats.org/drawingml/2006/main" noGrp="1"/>
          </p:cNvSpPr>
          <p:nvPr/>
        </p:nvSpPr>
        <p:spPr>
          <a:xfrm xmlns:a="http://schemas.openxmlformats.org/drawingml/2006/main">
            <a:off x="1066800" y="5673596"/>
            <a:ext cx="4591050"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350" b="1" i="0" u="none" cap="none">
                <a:solidFill>
                  <a:srgbClr val="003366"/>
                </a:solidFill>
                <a:latin typeface="Noto Sans SC"/>
                <a:ea typeface="Noto Sans SC"/>
                <a:cs typeface="Noto Sans SC"/>
              </a:rPr>
              <a:t>典型代表：</a:t>
            </a:r>
            <a:r>
              <a:rPr sz="1350" b="0" i="0" u="none" cap="none">
                <a:solidFill>
                  <a:srgbClr val="334155"/>
                </a:solidFill>
                <a:latin typeface="Noto Sans SC"/>
                <a:ea typeface="Noto Sans SC"/>
                <a:cs typeface="Noto Sans SC"/>
              </a:rPr>
              <a:t> </a:t>
            </a:r>
            <a:r>
              <a:rPr sz="1350" b="1" i="0" u="none" cap="none">
                <a:solidFill>
                  <a:srgbClr val="003366"/>
                </a:solidFill>
                <a:latin typeface="Noto Sans SC"/>
                <a:ea typeface="Noto Sans SC"/>
                <a:cs typeface="Noto Sans SC"/>
              </a:rPr>
              <a:t>AI-IMU</a:t>
            </a:r>
            <a:r>
              <a:rPr sz="1350" b="0" i="0" u="none" cap="none">
                <a:solidFill>
                  <a:srgbClr val="334155"/>
                </a:solidFill>
                <a:latin typeface="Noto Sans SC"/>
                <a:ea typeface="Noto Sans SC"/>
                <a:cs typeface="Noto Sans SC"/>
              </a:rPr>
              <a:t> 将速度约束引入不变卡尔曼滤波。</a:t>
            </a:r>
          </a:p>
        </p:txBody>
      </p:sp>
      <p:sp>
        <p:nvSpPr>
          <p:cNvPr id="96" name="Google Shape;96;p13">
            <a:extLst xmlns:a="http://schemas.openxmlformats.org/drawingml/2006/main">
              <a:ext uri="{FF2B5EF4-FFF2-40B4-BE49-F238E27FC236}">
                <a16:creationId xmlns:a16="http://schemas.microsoft.com/office/drawing/2014/main" id="{D8B1C87A-270F-4877-8192-BFC23FE6525F}"/>
              </a:ext>
            </a:extLst>
          </p:cNvPr>
          <p:cNvSpPr>
            <a:spLocks xmlns:a="http://schemas.openxmlformats.org/drawingml/2006/main" noGrp="1"/>
          </p:cNvSpPr>
          <p:nvPr/>
        </p:nvSpPr>
        <p:spPr>
          <a:xfrm xmlns:a="http://schemas.openxmlformats.org/drawingml/2006/main">
            <a:off x="1066800" y="6043136"/>
            <a:ext cx="4591050"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350" b="1" i="0" u="none" cap="none">
                <a:solidFill>
                  <a:srgbClr val="003366"/>
                </a:solidFill>
                <a:latin typeface="Noto Sans SC"/>
                <a:ea typeface="Noto Sans SC"/>
                <a:cs typeface="Noto Sans SC"/>
              </a:rPr>
              <a:t>性能表现：</a:t>
            </a:r>
            <a:r>
              <a:rPr sz="1350" b="0" i="0" u="none" cap="none">
                <a:solidFill>
                  <a:srgbClr val="334155"/>
                </a:solidFill>
                <a:latin typeface="Noto Sans SC"/>
                <a:ea typeface="Noto Sans SC"/>
                <a:cs typeface="Noto Sans SC"/>
              </a:rPr>
              <a:t> 显著抑制惯性系统发散，提升定位精度。</a:t>
            </a:r>
          </a:p>
        </p:txBody>
      </p:sp>
      <p:pic>
        <p:nvPicPr>
          <p:cNvPr id="129" name="Google Shape;109;p13"/>
          <p:cNvPicPr>
            <a:picLocks xmlns:a="http://schemas.openxmlformats.org/drawingml/2006/main" noChangeAspect="1"/>
          </p:cNvPicPr>
          <p:nvPr/>
        </p:nvPicPr>
        <p:blipFill rotWithShape="1">
          <a:blip xmlns:r="http://schemas.openxmlformats.org/officeDocument/2006/relationships" xmlns:a="http://schemas.openxmlformats.org/drawingml/2006/main" r:embed="R40892d7c462448a8"/>
          <a:srcRect xmlns:a="http://schemas.openxmlformats.org/drawingml/2006/main" l="0" t="0" r="0" b="0"/>
          <a:stretch xmlns:a="http://schemas.openxmlformats.org/drawingml/2006/main">
            <a:fillRect l="0" t="0" r="0" b="0"/>
          </a:stretch>
        </p:blipFill>
        <p:spPr>
          <a:xfrm xmlns:a="http://schemas.openxmlformats.org/drawingml/2006/main">
            <a:off x="809625" y="5056435"/>
            <a:ext cx="152400" cy="152400"/>
          </a:xfrm>
          <a:prstGeom xmlns:a="http://schemas.openxmlformats.org/drawingml/2006/main" prst="rect">
            <a:avLst/>
          </a:prstGeom>
          <a:ln xmlns:a="http://schemas.openxmlformats.org/drawingml/2006/main">
            <a:noFill/>
          </a:ln>
        </p:spPr>
      </p:pic>
      <p:pic>
        <p:nvPicPr>
          <p:cNvPr id="130" name="Google Shape;110;p13"/>
          <p:cNvPicPr>
            <a:picLocks xmlns:a="http://schemas.openxmlformats.org/drawingml/2006/main" noChangeAspect="1"/>
          </p:cNvPicPr>
          <p:nvPr/>
        </p:nvPicPr>
        <p:blipFill rotWithShape="1">
          <a:blip xmlns:r="http://schemas.openxmlformats.org/officeDocument/2006/relationships" xmlns:a="http://schemas.openxmlformats.org/drawingml/2006/main" r:embed="R40892d7c462448a8"/>
          <a:srcRect xmlns:a="http://schemas.openxmlformats.org/drawingml/2006/main" l="0" t="0" r="0" b="0"/>
          <a:stretch xmlns:a="http://schemas.openxmlformats.org/drawingml/2006/main">
            <a:fillRect l="0" t="0" r="0" b="0"/>
          </a:stretch>
        </p:blipFill>
        <p:spPr>
          <a:xfrm xmlns:a="http://schemas.openxmlformats.org/drawingml/2006/main">
            <a:off x="809625" y="5425975"/>
            <a:ext cx="152400" cy="152400"/>
          </a:xfrm>
          <a:prstGeom xmlns:a="http://schemas.openxmlformats.org/drawingml/2006/main" prst="rect">
            <a:avLst/>
          </a:prstGeom>
          <a:ln xmlns:a="http://schemas.openxmlformats.org/drawingml/2006/main">
            <a:noFill/>
          </a:ln>
        </p:spPr>
      </p:pic>
      <p:pic>
        <p:nvPicPr>
          <p:cNvPr id="131" name="Google Shape;111;p13"/>
          <p:cNvPicPr>
            <a:picLocks xmlns:a="http://schemas.openxmlformats.org/drawingml/2006/main" noChangeAspect="1"/>
          </p:cNvPicPr>
          <p:nvPr/>
        </p:nvPicPr>
        <p:blipFill rotWithShape="1">
          <a:blip xmlns:r="http://schemas.openxmlformats.org/officeDocument/2006/relationships" xmlns:a="http://schemas.openxmlformats.org/drawingml/2006/main" r:embed="R40892d7c462448a8"/>
          <a:srcRect xmlns:a="http://schemas.openxmlformats.org/drawingml/2006/main" l="0" t="0" r="0" b="0"/>
          <a:stretch xmlns:a="http://schemas.openxmlformats.org/drawingml/2006/main">
            <a:fillRect l="0" t="0" r="0" b="0"/>
          </a:stretch>
        </p:blipFill>
        <p:spPr>
          <a:xfrm xmlns:a="http://schemas.openxmlformats.org/drawingml/2006/main">
            <a:off x="809625" y="5795516"/>
            <a:ext cx="152400" cy="152400"/>
          </a:xfrm>
          <a:prstGeom xmlns:a="http://schemas.openxmlformats.org/drawingml/2006/main" prst="rect">
            <a:avLst/>
          </a:prstGeom>
          <a:ln xmlns:a="http://schemas.openxmlformats.org/drawingml/2006/main">
            <a:noFill/>
          </a:ln>
        </p:spPr>
      </p:pic>
      <p:pic>
        <p:nvPicPr>
          <p:cNvPr id="132" name="Google Shape;112;p13"/>
          <p:cNvPicPr>
            <a:picLocks xmlns:a="http://schemas.openxmlformats.org/drawingml/2006/main" noChangeAspect="1"/>
          </p:cNvPicPr>
          <p:nvPr/>
        </p:nvPicPr>
        <p:blipFill rotWithShape="1">
          <a:blip xmlns:r="http://schemas.openxmlformats.org/officeDocument/2006/relationships" xmlns:a="http://schemas.openxmlformats.org/drawingml/2006/main" r:embed="R40892d7c462448a8"/>
          <a:srcRect xmlns:a="http://schemas.openxmlformats.org/drawingml/2006/main" l="0" t="0" r="0" b="0"/>
          <a:stretch xmlns:a="http://schemas.openxmlformats.org/drawingml/2006/main">
            <a:fillRect l="0" t="0" r="0" b="0"/>
          </a:stretch>
        </p:blipFill>
        <p:spPr>
          <a:xfrm xmlns:a="http://schemas.openxmlformats.org/drawingml/2006/main">
            <a:off x="809625" y="6165056"/>
            <a:ext cx="152400" cy="152400"/>
          </a:xfrm>
          <a:prstGeom xmlns:a="http://schemas.openxmlformats.org/drawingml/2006/main" prst="rect">
            <a:avLst/>
          </a:prstGeom>
          <a:ln xmlns:a="http://schemas.openxmlformats.org/drawingml/2006/main">
            <a:noFill/>
          </a:ln>
        </p:spPr>
      </p:pic>
      <p:pic>
        <p:nvPicPr>
          <p:cNvPr id="133" name="Google Shape;86;p13"/>
          <p:cNvPicPr>
            <a:picLocks xmlns:a="http://schemas.openxmlformats.org/drawingml/2006/main" noChangeAspect="1"/>
          </p:cNvPicPr>
          <p:nvPr/>
        </p:nvPicPr>
        <p:blipFill rotWithShape="1">
          <a:blip xmlns:r="http://schemas.openxmlformats.org/officeDocument/2006/relationships" xmlns:a="http://schemas.openxmlformats.org/drawingml/2006/main" r:embed="R7ef54477b7864a26"/>
          <a:srcRect xmlns:a="http://schemas.openxmlformats.org/drawingml/2006/main" l="0" t="0" r="0" b="0"/>
          <a:stretch xmlns:a="http://schemas.openxmlformats.org/drawingml/2006/main">
            <a:fillRect l="0" t="0" r="0" b="0"/>
          </a:stretch>
        </p:blipFill>
        <p:spPr>
          <a:xfrm xmlns:a="http://schemas.openxmlformats.org/drawingml/2006/main">
            <a:off x="6047740" y="1687830"/>
            <a:ext cx="5184140" cy="4975860"/>
          </a:xfrm>
          <a:prstGeom xmlns:a="http://schemas.openxmlformats.org/drawingml/2006/main" prst="rect">
            <a:avLst/>
          </a:prstGeom>
          <a:ln xmlns:a="http://schemas.openxmlformats.org/drawingml/2006/main">
            <a:noFill/>
          </a:ln>
        </p:spPr>
      </p:pic>
      <p:pic>
        <p:nvPicPr>
          <p:cNvPr id="134" name="Google Shape;99;p13"/>
          <p:cNvPicPr>
            <a:picLocks xmlns:a="http://schemas.openxmlformats.org/drawingml/2006/main" noChangeAspect="1"/>
          </p:cNvPicPr>
          <p:nvPr/>
        </p:nvPicPr>
        <p:blipFill rotWithShape="1">
          <a:blip xmlns:r="http://schemas.openxmlformats.org/officeDocument/2006/relationships" xmlns:a="http://schemas.openxmlformats.org/drawingml/2006/main" r:embed="R7527463758a3477c"/>
          <a:srcRect xmlns:a="http://schemas.openxmlformats.org/drawingml/2006/main" l="0" t="0" r="0" b="0"/>
          <a:stretch xmlns:a="http://schemas.openxmlformats.org/drawingml/2006/main">
            <a:fillRect l="0" t="0" r="0" b="0"/>
          </a:stretch>
        </p:blipFill>
        <p:spPr>
          <a:xfrm xmlns:a="http://schemas.openxmlformats.org/drawingml/2006/main">
            <a:off x="6295390" y="1926203"/>
            <a:ext cx="285750" cy="285750"/>
          </a:xfrm>
          <a:prstGeom xmlns:a="http://schemas.openxmlformats.org/drawingml/2006/main" prst="rect">
            <a:avLst/>
          </a:prstGeom>
          <a:ln xmlns:a="http://schemas.openxmlformats.org/drawingml/2006/main">
            <a:noFill/>
          </a:ln>
        </p:spPr>
      </p:pic>
      <p:sp>
        <p:nvSpPr>
          <p:cNvPr id="100" name="Google Shape;100;p13">
            <a:extLst xmlns:a="http://schemas.openxmlformats.org/drawingml/2006/main">
              <a:ext uri="{FF2B5EF4-FFF2-40B4-BE49-F238E27FC236}">
                <a16:creationId xmlns:a16="http://schemas.microsoft.com/office/drawing/2014/main" id="{A6BDEBFF-4A3B-40C5-AB1D-849A3389A4B8}"/>
              </a:ext>
            </a:extLst>
          </p:cNvPr>
          <p:cNvSpPr>
            <a:spLocks xmlns:a="http://schemas.openxmlformats.org/drawingml/2006/main" noGrp="1"/>
          </p:cNvSpPr>
          <p:nvPr/>
        </p:nvSpPr>
        <p:spPr>
          <a:xfrm xmlns:a="http://schemas.openxmlformats.org/drawingml/2006/main">
            <a:off x="6714490" y="1925885"/>
            <a:ext cx="26003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3366"/>
                </a:solidFill>
                <a:latin typeface="Noto Sans SC"/>
                <a:ea typeface="Noto Sans SC"/>
                <a:cs typeface="Noto Sans SC"/>
              </a:rPr>
              <a:t>视觉里程计与多源融合</a:t>
            </a:r>
          </a:p>
        </p:txBody>
      </p:sp>
      <p:sp>
        <p:nvSpPr>
          <p:cNvPr id="102" name="Google Shape;102;p13">
            <a:extLst xmlns:a="http://schemas.openxmlformats.org/drawingml/2006/main">
              <a:ext uri="{FF2B5EF4-FFF2-40B4-BE49-F238E27FC236}">
                <a16:creationId xmlns:a16="http://schemas.microsoft.com/office/drawing/2014/main" id="{81549AB0-3879-44FA-897A-44ADB4704E42}"/>
              </a:ext>
            </a:extLst>
          </p:cNvPr>
          <p:cNvSpPr>
            <a:spLocks xmlns:a="http://schemas.openxmlformats.org/drawingml/2006/main" noGrp="1"/>
          </p:cNvSpPr>
          <p:nvPr/>
        </p:nvSpPr>
        <p:spPr>
          <a:xfrm xmlns:a="http://schemas.openxmlformats.org/drawingml/2006/main">
            <a:off x="6552565" y="5029765"/>
            <a:ext cx="4591050"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350" b="1" i="0" u="none" cap="none">
                <a:solidFill>
                  <a:srgbClr val="003366"/>
                </a:solidFill>
                <a:latin typeface="Noto Sans SC"/>
                <a:ea typeface="Noto Sans SC"/>
                <a:cs typeface="Noto Sans SC"/>
              </a:rPr>
              <a:t>视觉里程计 (VO)：</a:t>
            </a:r>
            <a:r>
              <a:rPr sz="1350" b="0" i="0" u="none" cap="none">
                <a:solidFill>
                  <a:srgbClr val="334155"/>
                </a:solidFill>
                <a:latin typeface="Noto Sans SC"/>
                <a:ea typeface="Noto Sans SC"/>
                <a:cs typeface="Noto Sans SC"/>
              </a:rPr>
              <a:t> 分为有监督学习与无监督学习两类。</a:t>
            </a:r>
          </a:p>
        </p:txBody>
      </p:sp>
      <p:sp>
        <p:nvSpPr>
          <p:cNvPr id="103" name="Google Shape;103;p13">
            <a:extLst xmlns:a="http://schemas.openxmlformats.org/drawingml/2006/main">
              <a:ext uri="{FF2B5EF4-FFF2-40B4-BE49-F238E27FC236}">
                <a16:creationId xmlns:a16="http://schemas.microsoft.com/office/drawing/2014/main" id="{404AAECF-2921-496B-92FC-1E50A764C46C}"/>
              </a:ext>
            </a:extLst>
          </p:cNvPr>
          <p:cNvSpPr>
            <a:spLocks xmlns:a="http://schemas.openxmlformats.org/drawingml/2006/main" noGrp="1"/>
          </p:cNvSpPr>
          <p:nvPr/>
        </p:nvSpPr>
        <p:spPr>
          <a:xfrm xmlns:a="http://schemas.openxmlformats.org/drawingml/2006/main">
            <a:off x="6552565" y="5399305"/>
            <a:ext cx="4591050"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350" b="1" i="0" u="none" cap="none">
                <a:solidFill>
                  <a:srgbClr val="003366"/>
                </a:solidFill>
                <a:latin typeface="Noto Sans SC"/>
                <a:ea typeface="Noto Sans SC"/>
                <a:cs typeface="Noto Sans SC"/>
              </a:rPr>
              <a:t>无监督学习：</a:t>
            </a:r>
            <a:r>
              <a:rPr sz="1350" b="0" i="0" u="none" cap="none">
                <a:solidFill>
                  <a:srgbClr val="334155"/>
                </a:solidFill>
                <a:latin typeface="Noto Sans SC"/>
                <a:ea typeface="Noto Sans SC"/>
                <a:cs typeface="Noto Sans SC"/>
              </a:rPr>
              <a:t> 利用 </a:t>
            </a:r>
            <a:r>
              <a:rPr sz="1350" b="1" i="0" u="none" cap="none">
                <a:solidFill>
                  <a:srgbClr val="003366"/>
                </a:solidFill>
                <a:latin typeface="Noto Sans SC"/>
                <a:ea typeface="Noto Sans SC"/>
                <a:cs typeface="Noto Sans SC"/>
              </a:rPr>
              <a:t>几何约束</a:t>
            </a:r>
            <a:r>
              <a:rPr sz="1350" b="0" i="0" u="none" cap="none">
                <a:solidFill>
                  <a:srgbClr val="334155"/>
                </a:solidFill>
                <a:latin typeface="Noto Sans SC"/>
                <a:ea typeface="Noto Sans SC"/>
                <a:cs typeface="Noto Sans SC"/>
              </a:rPr>
              <a:t> 自行生成监督信息进行训练。</a:t>
            </a:r>
          </a:p>
        </p:txBody>
      </p:sp>
      <p:sp>
        <p:nvSpPr>
          <p:cNvPr id="104" name="Google Shape;104;p13">
            <a:extLst xmlns:a="http://schemas.openxmlformats.org/drawingml/2006/main">
              <a:ext uri="{FF2B5EF4-FFF2-40B4-BE49-F238E27FC236}">
                <a16:creationId xmlns:a16="http://schemas.microsoft.com/office/drawing/2014/main" id="{CF26CFF1-899C-4D03-B1F1-8101BF766C3B}"/>
              </a:ext>
            </a:extLst>
          </p:cNvPr>
          <p:cNvSpPr>
            <a:spLocks xmlns:a="http://schemas.openxmlformats.org/drawingml/2006/main" noGrp="1"/>
          </p:cNvSpPr>
          <p:nvPr/>
        </p:nvSpPr>
        <p:spPr>
          <a:xfrm xmlns:a="http://schemas.openxmlformats.org/drawingml/2006/main">
            <a:off x="6552565" y="5768846"/>
            <a:ext cx="4591050"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350" b="1" i="0" u="none" cap="none">
                <a:solidFill>
                  <a:srgbClr val="003366"/>
                </a:solidFill>
                <a:latin typeface="Noto Sans SC"/>
                <a:ea typeface="Noto Sans SC"/>
                <a:cs typeface="Noto Sans SC"/>
              </a:rPr>
              <a:t>多源深度融合：</a:t>
            </a:r>
            <a:r>
              <a:rPr sz="1350" b="0" i="0" u="none" cap="none">
                <a:solidFill>
                  <a:srgbClr val="334155"/>
                </a:solidFill>
                <a:latin typeface="Noto Sans SC"/>
                <a:ea typeface="Noto Sans SC"/>
                <a:cs typeface="Noto Sans SC"/>
              </a:rPr>
              <a:t> 将 </a:t>
            </a:r>
            <a:r>
              <a:rPr sz="1350" b="1" i="0" u="none" cap="none">
                <a:solidFill>
                  <a:srgbClr val="003366"/>
                </a:solidFill>
                <a:latin typeface="Noto Sans SC"/>
                <a:ea typeface="Noto Sans SC"/>
                <a:cs typeface="Noto Sans SC"/>
              </a:rPr>
              <a:t>惯性数据与视觉数据</a:t>
            </a:r>
            <a:r>
              <a:rPr sz="1350" b="0" i="0" u="none" cap="none">
                <a:solidFill>
                  <a:srgbClr val="334155"/>
                </a:solidFill>
                <a:latin typeface="Noto Sans SC"/>
                <a:ea typeface="Noto Sans SC"/>
                <a:cs typeface="Noto Sans SC"/>
              </a:rPr>
              <a:t> 结合进行估计。</a:t>
            </a:r>
          </a:p>
        </p:txBody>
      </p:sp>
      <p:sp>
        <p:nvSpPr>
          <p:cNvPr id="105" name="Google Shape;105;p13">
            <a:extLst xmlns:a="http://schemas.openxmlformats.org/drawingml/2006/main">
              <a:ext uri="{FF2B5EF4-FFF2-40B4-BE49-F238E27FC236}">
                <a16:creationId xmlns:a16="http://schemas.microsoft.com/office/drawing/2014/main" id="{E55E768E-224D-444B-804F-42D49E94490C}"/>
              </a:ext>
            </a:extLst>
          </p:cNvPr>
          <p:cNvSpPr>
            <a:spLocks xmlns:a="http://schemas.openxmlformats.org/drawingml/2006/main" noGrp="1"/>
          </p:cNvSpPr>
          <p:nvPr/>
        </p:nvSpPr>
        <p:spPr>
          <a:xfrm xmlns:a="http://schemas.openxmlformats.org/drawingml/2006/main">
            <a:off x="6552565" y="6138386"/>
            <a:ext cx="4591050"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350" b="1" i="0" u="none" cap="none">
                <a:solidFill>
                  <a:srgbClr val="003366"/>
                </a:solidFill>
                <a:latin typeface="Noto Sans SC"/>
                <a:ea typeface="Noto Sans SC"/>
                <a:cs typeface="Noto Sans SC"/>
              </a:rPr>
              <a:t>应用价值：</a:t>
            </a:r>
            <a:r>
              <a:rPr sz="1350" b="0" i="0" u="none" cap="none">
                <a:solidFill>
                  <a:srgbClr val="334155"/>
                </a:solidFill>
                <a:latin typeface="Noto Sans SC"/>
                <a:ea typeface="Noto Sans SC"/>
                <a:cs typeface="Noto Sans SC"/>
              </a:rPr>
              <a:t> 解决单目尺度不确定性，增强动态环境适应性。</a:t>
            </a:r>
          </a:p>
        </p:txBody>
      </p:sp>
      <p:pic>
        <p:nvPicPr>
          <p:cNvPr id="140" name="Google Shape;113;p13"/>
          <p:cNvPicPr>
            <a:picLocks xmlns:a="http://schemas.openxmlformats.org/drawingml/2006/main" noChangeAspect="1"/>
          </p:cNvPicPr>
          <p:nvPr/>
        </p:nvPicPr>
        <p:blipFill rotWithShape="1">
          <a:blip xmlns:r="http://schemas.openxmlformats.org/officeDocument/2006/relationships" xmlns:a="http://schemas.openxmlformats.org/drawingml/2006/main" r:embed="R40892d7c462448a8"/>
          <a:srcRect xmlns:a="http://schemas.openxmlformats.org/drawingml/2006/main" l="0" t="0" r="0" b="0"/>
          <a:stretch xmlns:a="http://schemas.openxmlformats.org/drawingml/2006/main">
            <a:fillRect l="0" t="0" r="0" b="0"/>
          </a:stretch>
        </p:blipFill>
        <p:spPr>
          <a:xfrm xmlns:a="http://schemas.openxmlformats.org/drawingml/2006/main">
            <a:off x="6285865" y="5164385"/>
            <a:ext cx="152400" cy="152400"/>
          </a:xfrm>
          <a:prstGeom xmlns:a="http://schemas.openxmlformats.org/drawingml/2006/main" prst="rect">
            <a:avLst/>
          </a:prstGeom>
          <a:ln xmlns:a="http://schemas.openxmlformats.org/drawingml/2006/main">
            <a:noFill/>
          </a:ln>
        </p:spPr>
      </p:pic>
      <p:pic>
        <p:nvPicPr>
          <p:cNvPr id="141" name="Google Shape;114;p13"/>
          <p:cNvPicPr>
            <a:picLocks xmlns:a="http://schemas.openxmlformats.org/drawingml/2006/main" noChangeAspect="1"/>
          </p:cNvPicPr>
          <p:nvPr/>
        </p:nvPicPr>
        <p:blipFill rotWithShape="1">
          <a:blip xmlns:r="http://schemas.openxmlformats.org/officeDocument/2006/relationships" xmlns:a="http://schemas.openxmlformats.org/drawingml/2006/main" r:embed="R40892d7c462448a8"/>
          <a:srcRect xmlns:a="http://schemas.openxmlformats.org/drawingml/2006/main" l="0" t="0" r="0" b="0"/>
          <a:stretch xmlns:a="http://schemas.openxmlformats.org/drawingml/2006/main">
            <a:fillRect l="0" t="0" r="0" b="0"/>
          </a:stretch>
        </p:blipFill>
        <p:spPr>
          <a:xfrm xmlns:a="http://schemas.openxmlformats.org/drawingml/2006/main">
            <a:off x="6285865" y="5533925"/>
            <a:ext cx="152400" cy="152400"/>
          </a:xfrm>
          <a:prstGeom xmlns:a="http://schemas.openxmlformats.org/drawingml/2006/main" prst="rect">
            <a:avLst/>
          </a:prstGeom>
          <a:ln xmlns:a="http://schemas.openxmlformats.org/drawingml/2006/main">
            <a:noFill/>
          </a:ln>
        </p:spPr>
      </p:pic>
      <p:pic>
        <p:nvPicPr>
          <p:cNvPr id="142" name="Google Shape;115;p13"/>
          <p:cNvPicPr>
            <a:picLocks xmlns:a="http://schemas.openxmlformats.org/drawingml/2006/main" noChangeAspect="1"/>
          </p:cNvPicPr>
          <p:nvPr/>
        </p:nvPicPr>
        <p:blipFill rotWithShape="1">
          <a:blip xmlns:r="http://schemas.openxmlformats.org/officeDocument/2006/relationships" xmlns:a="http://schemas.openxmlformats.org/drawingml/2006/main" r:embed="R40892d7c462448a8"/>
          <a:srcRect xmlns:a="http://schemas.openxmlformats.org/drawingml/2006/main" l="0" t="0" r="0" b="0"/>
          <a:stretch xmlns:a="http://schemas.openxmlformats.org/drawingml/2006/main">
            <a:fillRect l="0" t="0" r="0" b="0"/>
          </a:stretch>
        </p:blipFill>
        <p:spPr>
          <a:xfrm xmlns:a="http://schemas.openxmlformats.org/drawingml/2006/main">
            <a:off x="6285865" y="5903466"/>
            <a:ext cx="152400" cy="152400"/>
          </a:xfrm>
          <a:prstGeom xmlns:a="http://schemas.openxmlformats.org/drawingml/2006/main" prst="rect">
            <a:avLst/>
          </a:prstGeom>
          <a:ln xmlns:a="http://schemas.openxmlformats.org/drawingml/2006/main">
            <a:noFill/>
          </a:ln>
        </p:spPr>
      </p:pic>
      <p:pic>
        <p:nvPicPr>
          <p:cNvPr id="143" name="Google Shape;116;p13"/>
          <p:cNvPicPr>
            <a:picLocks xmlns:a="http://schemas.openxmlformats.org/drawingml/2006/main" noChangeAspect="1"/>
          </p:cNvPicPr>
          <p:nvPr/>
        </p:nvPicPr>
        <p:blipFill rotWithShape="1">
          <a:blip xmlns:r="http://schemas.openxmlformats.org/officeDocument/2006/relationships" xmlns:a="http://schemas.openxmlformats.org/drawingml/2006/main" r:embed="R40892d7c462448a8"/>
          <a:srcRect xmlns:a="http://schemas.openxmlformats.org/drawingml/2006/main" l="0" t="0" r="0" b="0"/>
          <a:stretch xmlns:a="http://schemas.openxmlformats.org/drawingml/2006/main">
            <a:fillRect l="0" t="0" r="0" b="0"/>
          </a:stretch>
        </p:blipFill>
        <p:spPr>
          <a:xfrm xmlns:a="http://schemas.openxmlformats.org/drawingml/2006/main">
            <a:off x="6285865" y="6273006"/>
            <a:ext cx="152400" cy="152400"/>
          </a:xfrm>
          <a:prstGeom xmlns:a="http://schemas.openxmlformats.org/drawingml/2006/main" prst="rect">
            <a:avLst/>
          </a:prstGeom>
          <a:ln xmlns:a="http://schemas.openxmlformats.org/drawingml/2006/main">
            <a:noFill/>
          </a:ln>
        </p:spPr>
      </p:pic>
      <p:pic>
        <p:nvPicPr>
          <p:cNvPr id="144" name="图片 5"/>
          <p:cNvPicPr>
            <a:picLocks xmlns:a="http://schemas.openxmlformats.org/drawingml/2006/main" noChangeAspect="1"/>
          </p:cNvPicPr>
          <p:nvPr/>
        </p:nvPicPr>
        <p:blipFill>
          <a:blip xmlns:r="http://schemas.openxmlformats.org/officeDocument/2006/relationships" xmlns:a="http://schemas.openxmlformats.org/drawingml/2006/main" r:embed="R1ba9786b47fa4ca0"/>
          <a:stretch xmlns:a="http://schemas.openxmlformats.org/drawingml/2006/main">
            <a:fillRect l="0" t="0" r="0" b="0"/>
          </a:stretch>
        </p:blipFill>
        <p:spPr>
          <a:xfrm xmlns:a="http://schemas.openxmlformats.org/drawingml/2006/main">
            <a:off x="6285865" y="2360295"/>
            <a:ext cx="4558665" cy="2586990"/>
          </a:xfrm>
          <a:prstGeom xmlns:a="http://schemas.openxmlformats.org/drawingml/2006/main" prst="rect">
            <a:avLst/>
          </a:prstGeom>
        </p:spPr>
      </p:pic>
      <p:pic>
        <p:nvPicPr>
          <p:cNvPr id="145" name="图片 6"/>
          <p:cNvPicPr>
            <a:picLocks xmlns:a="http://schemas.openxmlformats.org/drawingml/2006/main" noChangeAspect="1"/>
          </p:cNvPicPr>
          <p:nvPr/>
        </p:nvPicPr>
        <p:blipFill>
          <a:blip xmlns:r="http://schemas.openxmlformats.org/officeDocument/2006/relationships" xmlns:a="http://schemas.openxmlformats.org/drawingml/2006/main" r:embed="R4bb543a3cf4947c9"/>
          <a:stretch xmlns:a="http://schemas.openxmlformats.org/drawingml/2006/main">
            <a:fillRect l="0" t="0" r="0" b="0"/>
          </a:stretch>
        </p:blipFill>
        <p:spPr>
          <a:xfrm xmlns:a="http://schemas.openxmlformats.org/drawingml/2006/main">
            <a:off x="1095375" y="2256155"/>
            <a:ext cx="3935730" cy="2635250"/>
          </a:xfrm>
          <a:prstGeom xmlns:a="http://schemas.openxmlformats.org/drawingml/2006/main" prst="rect">
            <a:avLst/>
          </a:prstGeom>
        </p:spPr>
      </p:pic>
    </p:spTree>
    <p:extLst>
      <p:ext uri="{BB962C8B-B14F-4D97-AF65-F5344CB8AC3E}">
        <p14:creationId xmlns:p14="http://schemas.microsoft.com/office/powerpoint/2010/main" val="6636141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49FC0476-0278-4F17-A6D2-E748BBB1D4C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38C04F09-4D0A-41C8-B408-79367B10F905}"/>
              </a:ext>
            </a:extLst>
          </p:cNvPr>
          <p:cNvSpPr>
            <a:spLocks xmlns:a="http://schemas.openxmlformats.org/drawingml/2006/main" noGrp="1"/>
          </p:cNvSpPr>
          <p:nvPr/>
        </p:nvSpPr>
        <p:spPr>
          <a:xfrm xmlns:a="http://schemas.openxmlformats.org/drawingml/2006/main" rot="0" flipH="0" flipV="0">
            <a:off x="271145" y="1021713"/>
            <a:ext cx="547243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5.3.2 </a:t>
            </a:r>
            <a:r>
              <a:rPr sz="2400" b="1">
                <a:solidFill>
                  <a:schemeClr val="accent1"/>
                </a:solidFill>
                <a:latin typeface="+mj-lt"/>
                <a:ea typeface="+mj-lt"/>
                <a:cs typeface="+mj-lt"/>
              </a:rPr>
              <a:t>基于深度学习的机器人状态估计</a:t>
            </a:r>
          </a:p>
        </p:txBody>
      </p:sp>
      <p:pic>
        <p:nvPicPr>
          <p:cNvPr id="119" name="Google Shape;87;p13"/>
          <p:cNvPicPr>
            <a:picLocks xmlns:a="http://schemas.openxmlformats.org/drawingml/2006/main" noChangeAspect="1"/>
          </p:cNvPicPr>
          <p:nvPr/>
        </p:nvPicPr>
        <p:blipFill rotWithShape="1">
          <a:blip xmlns:r="http://schemas.openxmlformats.org/officeDocument/2006/relationships" xmlns:a="http://schemas.openxmlformats.org/drawingml/2006/main" r:embed="Rd11fff6903ec449a"/>
          <a:srcRect xmlns:a="http://schemas.openxmlformats.org/drawingml/2006/main" l="0" t="0" r="0" b="0"/>
          <a:stretch xmlns:a="http://schemas.openxmlformats.org/drawingml/2006/main">
            <a:fillRect l="0" t="0" r="0" b="0"/>
          </a:stretch>
        </p:blipFill>
        <p:spPr>
          <a:xfrm xmlns:a="http://schemas.openxmlformats.org/drawingml/2006/main">
            <a:off x="6064250" y="5473065"/>
            <a:ext cx="5191125" cy="1157882"/>
          </a:xfrm>
          <a:prstGeom xmlns:a="http://schemas.openxmlformats.org/drawingml/2006/main" prst="rect">
            <a:avLst/>
          </a:prstGeom>
          <a:ln xmlns:a="http://schemas.openxmlformats.org/drawingml/2006/main">
            <a:noFill/>
          </a:ln>
        </p:spPr>
      </p:pic>
      <p:pic>
        <p:nvPicPr>
          <p:cNvPr id="120"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f5e2da6635a84e27"/>
          <a:srcRect xmlns:a="http://schemas.openxmlformats.org/drawingml/2006/main" l="0" t="0" r="0" b="0"/>
          <a:stretch xmlns:a="http://schemas.openxmlformats.org/drawingml/2006/main">
            <a:fillRect l="0" t="0" r="0" b="0"/>
          </a:stretch>
        </p:blipFill>
        <p:spPr>
          <a:xfrm xmlns:a="http://schemas.openxmlformats.org/drawingml/2006/main">
            <a:off x="396875" y="2186940"/>
            <a:ext cx="5191125" cy="838200"/>
          </a:xfrm>
          <a:prstGeom xmlns:a="http://schemas.openxmlformats.org/drawingml/2006/main" prst="rect">
            <a:avLst/>
          </a:prstGeom>
          <a:ln xmlns:a="http://schemas.openxmlformats.org/drawingml/2006/main">
            <a:noFill/>
          </a:ln>
        </p:spPr>
      </p:pic>
      <p:pic>
        <p:nvPicPr>
          <p:cNvPr id="121" name="Google Shape;89;p13"/>
          <p:cNvPicPr>
            <a:picLocks xmlns:a="http://schemas.openxmlformats.org/drawingml/2006/main" noChangeAspect="1"/>
          </p:cNvPicPr>
          <p:nvPr/>
        </p:nvPicPr>
        <p:blipFill rotWithShape="1">
          <a:blip xmlns:r="http://schemas.openxmlformats.org/officeDocument/2006/relationships" xmlns:a="http://schemas.openxmlformats.org/drawingml/2006/main" r:embed="R861626ebe8be456d"/>
          <a:srcRect xmlns:a="http://schemas.openxmlformats.org/drawingml/2006/main" l="0" t="0" r="0" b="0"/>
          <a:stretch xmlns:a="http://schemas.openxmlformats.org/drawingml/2006/main">
            <a:fillRect l="0" t="0" r="0" b="0"/>
          </a:stretch>
        </p:blipFill>
        <p:spPr>
          <a:xfrm xmlns:a="http://schemas.openxmlformats.org/drawingml/2006/main">
            <a:off x="396875" y="3168015"/>
            <a:ext cx="5191125" cy="838200"/>
          </a:xfrm>
          <a:prstGeom xmlns:a="http://schemas.openxmlformats.org/drawingml/2006/main" prst="rect">
            <a:avLst/>
          </a:prstGeom>
          <a:ln xmlns:a="http://schemas.openxmlformats.org/drawingml/2006/main">
            <a:noFill/>
          </a:ln>
        </p:spPr>
      </p:pic>
      <p:pic>
        <p:nvPicPr>
          <p:cNvPr id="122" name="Google Shape;90;p13"/>
          <p:cNvPicPr>
            <a:picLocks xmlns:a="http://schemas.openxmlformats.org/drawingml/2006/main" noChangeAspect="1"/>
          </p:cNvPicPr>
          <p:nvPr/>
        </p:nvPicPr>
        <p:blipFill rotWithShape="1">
          <a:blip xmlns:r="http://schemas.openxmlformats.org/officeDocument/2006/relationships" xmlns:a="http://schemas.openxmlformats.org/drawingml/2006/main" r:embed="R861626ebe8be456d"/>
          <a:srcRect xmlns:a="http://schemas.openxmlformats.org/drawingml/2006/main" l="0" t="0" r="0" b="0"/>
          <a:stretch xmlns:a="http://schemas.openxmlformats.org/drawingml/2006/main">
            <a:fillRect l="0" t="0" r="0" b="0"/>
          </a:stretch>
        </p:blipFill>
        <p:spPr>
          <a:xfrm xmlns:a="http://schemas.openxmlformats.org/drawingml/2006/main">
            <a:off x="396875" y="4149090"/>
            <a:ext cx="5191125" cy="838200"/>
          </a:xfrm>
          <a:prstGeom xmlns:a="http://schemas.openxmlformats.org/drawingml/2006/main" prst="rect">
            <a:avLst/>
          </a:prstGeom>
          <a:ln xmlns:a="http://schemas.openxmlformats.org/drawingml/2006/main">
            <a:noFill/>
          </a:ln>
        </p:spPr>
      </p:pic>
      <p:pic>
        <p:nvPicPr>
          <p:cNvPr id="123" name="Google Shape;91;p13"/>
          <p:cNvPicPr>
            <a:picLocks xmlns:a="http://schemas.openxmlformats.org/drawingml/2006/main" noChangeAspect="1"/>
          </p:cNvPicPr>
          <p:nvPr/>
        </p:nvPicPr>
        <p:blipFill rotWithShape="1">
          <a:blip xmlns:r="http://schemas.openxmlformats.org/officeDocument/2006/relationships" xmlns:a="http://schemas.openxmlformats.org/drawingml/2006/main" r:embed="R861626ebe8be456d"/>
          <a:srcRect xmlns:a="http://schemas.openxmlformats.org/drawingml/2006/main" l="0" t="0" r="0" b="0"/>
          <a:stretch xmlns:a="http://schemas.openxmlformats.org/drawingml/2006/main">
            <a:fillRect l="0" t="0" r="0" b="0"/>
          </a:stretch>
        </p:blipFill>
        <p:spPr>
          <a:xfrm xmlns:a="http://schemas.openxmlformats.org/drawingml/2006/main">
            <a:off x="396875" y="5130165"/>
            <a:ext cx="5191125" cy="838200"/>
          </a:xfrm>
          <a:prstGeom xmlns:a="http://schemas.openxmlformats.org/drawingml/2006/main" prst="rect">
            <a:avLst/>
          </a:prstGeom>
          <a:ln xmlns:a="http://schemas.openxmlformats.org/drawingml/2006/main">
            <a:noFill/>
          </a:ln>
        </p:spPr>
      </p:pic>
      <p:sp>
        <p:nvSpPr>
          <p:cNvPr id="11" name="Google Shape;96;p13">
            <a:extLst xmlns:a="http://schemas.openxmlformats.org/drawingml/2006/main">
              <a:ext uri="{FF2B5EF4-FFF2-40B4-BE49-F238E27FC236}">
                <a16:creationId xmlns:a16="http://schemas.microsoft.com/office/drawing/2014/main" id="{6FD6FBFD-42B8-4FD6-ABA9-213B56F24ADB}"/>
              </a:ext>
            </a:extLst>
          </p:cNvPr>
          <p:cNvSpPr>
            <a:spLocks xmlns:a="http://schemas.openxmlformats.org/drawingml/2006/main" noGrp="1"/>
          </p:cNvSpPr>
          <p:nvPr/>
        </p:nvSpPr>
        <p:spPr>
          <a:xfrm xmlns:a="http://schemas.openxmlformats.org/drawingml/2006/main">
            <a:off x="768350" y="1695768"/>
            <a:ext cx="4819650" cy="276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800" b="1" i="0" u="none" cap="none">
                <a:solidFill>
                  <a:srgbClr val="003366"/>
                </a:solidFill>
                <a:latin typeface="Noto Sans SC"/>
                <a:ea typeface="Noto Sans SC"/>
                <a:cs typeface="Noto Sans SC"/>
              </a:rPr>
              <a:t>惯性基组合导航（</a:t>
            </a:r>
            <a:r>
              <a:rPr sz="1800" b="1" i="0" u="none" cap="none">
                <a:solidFill>
                  <a:srgbClr val="003366"/>
                </a:solidFill>
                <a:latin typeface="Noto Sans SC"/>
                <a:ea typeface="Noto Sans SC"/>
                <a:cs typeface="Noto Sans SC"/>
              </a:rPr>
              <a:t>AI-IMU</a:t>
            </a:r>
            <a:r>
              <a:rPr sz="1800" b="1" i="0" u="none" cap="none">
                <a:solidFill>
                  <a:srgbClr val="003366"/>
                </a:solidFill>
                <a:latin typeface="Noto Sans SC"/>
                <a:ea typeface="Noto Sans SC"/>
                <a:cs typeface="Noto Sans SC"/>
              </a:rPr>
              <a:t>）</a:t>
            </a:r>
          </a:p>
        </p:txBody>
      </p:sp>
      <p:sp>
        <p:nvSpPr>
          <p:cNvPr id="97" name="Google Shape;97;p13">
            <a:extLst xmlns:a="http://schemas.openxmlformats.org/drawingml/2006/main">
              <a:ext uri="{FF2B5EF4-FFF2-40B4-BE49-F238E27FC236}">
                <a16:creationId xmlns:a16="http://schemas.microsoft.com/office/drawing/2014/main" id="{41E78697-6984-4554-954F-7FD9E3447721}"/>
              </a:ext>
            </a:extLst>
          </p:cNvPr>
          <p:cNvSpPr>
            <a:spLocks xmlns:a="http://schemas.openxmlformats.org/drawingml/2006/main" noGrp="1"/>
          </p:cNvSpPr>
          <p:nvPr/>
        </p:nvSpPr>
        <p:spPr>
          <a:xfrm xmlns:a="http://schemas.openxmlformats.org/drawingml/2006/main">
            <a:off x="6407150" y="1227455"/>
            <a:ext cx="48482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800" b="1" i="0" u="none" cap="none">
                <a:solidFill>
                  <a:srgbClr val="003366"/>
                </a:solidFill>
                <a:latin typeface="Noto Sans SC"/>
                <a:ea typeface="Noto Sans SC"/>
                <a:cs typeface="Noto Sans SC"/>
              </a:rPr>
              <a:t>KITTI 数据集性能表现</a:t>
            </a:r>
          </a:p>
        </p:txBody>
      </p:sp>
      <p:pic>
        <p:nvPicPr>
          <p:cNvPr id="126" name="Google Shape;98;p13"/>
          <p:cNvPicPr>
            <a:picLocks xmlns:a="http://schemas.openxmlformats.org/drawingml/2006/main" noChangeAspect="1"/>
          </p:cNvPicPr>
          <p:nvPr/>
        </p:nvPicPr>
        <p:blipFill rotWithShape="1">
          <a:blip xmlns:r="http://schemas.openxmlformats.org/officeDocument/2006/relationships" xmlns:a="http://schemas.openxmlformats.org/drawingml/2006/main" r:embed="Ree7cc15e53dd4169"/>
          <a:srcRect xmlns:a="http://schemas.openxmlformats.org/drawingml/2006/main" l="0" t="0" r="0" b="0"/>
          <a:stretch xmlns:a="http://schemas.openxmlformats.org/drawingml/2006/main">
            <a:fillRect l="0" t="0" r="0" b="0"/>
          </a:stretch>
        </p:blipFill>
        <p:spPr>
          <a:xfrm xmlns:a="http://schemas.openxmlformats.org/drawingml/2006/main">
            <a:off x="396875" y="1667827"/>
            <a:ext cx="257175" cy="228600"/>
          </a:xfrm>
          <a:prstGeom xmlns:a="http://schemas.openxmlformats.org/drawingml/2006/main" prst="rect">
            <a:avLst/>
          </a:prstGeom>
          <a:ln xmlns:a="http://schemas.openxmlformats.org/drawingml/2006/main">
            <a:noFill/>
          </a:ln>
        </p:spPr>
      </p:pic>
      <p:pic>
        <p:nvPicPr>
          <p:cNvPr id="127" name="Google Shape;99;p13"/>
          <p:cNvPicPr>
            <a:picLocks xmlns:a="http://schemas.openxmlformats.org/drawingml/2006/main" noChangeAspect="1"/>
          </p:cNvPicPr>
          <p:nvPr/>
        </p:nvPicPr>
        <p:blipFill rotWithShape="1">
          <a:blip xmlns:r="http://schemas.openxmlformats.org/officeDocument/2006/relationships" xmlns:a="http://schemas.openxmlformats.org/drawingml/2006/main" r:embed="Rec72f8b8326743e0"/>
          <a:srcRect xmlns:a="http://schemas.openxmlformats.org/drawingml/2006/main" l="0" t="0" r="0" b="0"/>
          <a:stretch xmlns:a="http://schemas.openxmlformats.org/drawingml/2006/main">
            <a:fillRect l="0" t="0" r="0" b="0"/>
          </a:stretch>
        </p:blipFill>
        <p:spPr>
          <a:xfrm xmlns:a="http://schemas.openxmlformats.org/drawingml/2006/main">
            <a:off x="6064250" y="1279842"/>
            <a:ext cx="228600" cy="228600"/>
          </a:xfrm>
          <a:prstGeom xmlns:a="http://schemas.openxmlformats.org/drawingml/2006/main" prst="rect">
            <a:avLst/>
          </a:prstGeom>
          <a:ln xmlns:a="http://schemas.openxmlformats.org/drawingml/2006/main">
            <a:noFill/>
          </a:ln>
        </p:spPr>
      </p:pic>
      <p:sp>
        <p:nvSpPr>
          <p:cNvPr id="14" name="Google Shape;102;p13">
            <a:extLst xmlns:a="http://schemas.openxmlformats.org/drawingml/2006/main">
              <a:ext uri="{FF2B5EF4-FFF2-40B4-BE49-F238E27FC236}">
                <a16:creationId xmlns:a16="http://schemas.microsoft.com/office/drawing/2014/main" id="{551C4121-45DE-4E67-86E2-0E691AF8DDE8}"/>
              </a:ext>
            </a:extLst>
          </p:cNvPr>
          <p:cNvSpPr>
            <a:spLocks xmlns:a="http://schemas.openxmlformats.org/drawingml/2006/main" noGrp="1"/>
          </p:cNvSpPr>
          <p:nvPr/>
        </p:nvSpPr>
        <p:spPr>
          <a:xfrm xmlns:a="http://schemas.openxmlformats.org/drawingml/2006/main">
            <a:off x="625475" y="2358390"/>
            <a:ext cx="3300412"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003366"/>
                </a:solidFill>
                <a:latin typeface="Noto Sans SC"/>
                <a:ea typeface="Noto Sans SC"/>
                <a:cs typeface="Noto Sans SC"/>
              </a:rPr>
              <a:t>噪声适配器 (CNN)</a:t>
            </a:r>
          </a:p>
        </p:txBody>
      </p:sp>
      <p:sp>
        <p:nvSpPr>
          <p:cNvPr id="15" name="Google Shape;103;p13">
            <a:extLst xmlns:a="http://schemas.openxmlformats.org/drawingml/2006/main">
              <a:ext uri="{FF2B5EF4-FFF2-40B4-BE49-F238E27FC236}">
                <a16:creationId xmlns:a16="http://schemas.microsoft.com/office/drawing/2014/main" id="{43E6DED5-250F-404B-9D48-9A949C00CCFE}"/>
              </a:ext>
            </a:extLst>
          </p:cNvPr>
          <p:cNvSpPr>
            <a:spLocks xmlns:a="http://schemas.openxmlformats.org/drawingml/2006/main" noGrp="1"/>
          </p:cNvSpPr>
          <p:nvPr/>
        </p:nvSpPr>
        <p:spPr>
          <a:xfrm xmlns:a="http://schemas.openxmlformats.org/drawingml/2006/main">
            <a:off x="625475" y="2653665"/>
            <a:ext cx="31432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40000"/>
              </a:lnSpc>
              <a:spcBef>
                <a:spcPts val="0"/>
              </a:spcBef>
              <a:spcAft>
                <a:spcPts val="0"/>
              </a:spcAft>
              <a:buNone/>
            </a:pPr>
            <a:r>
              <a:rPr sz="1125" b="0" i="0" u="none" cap="none">
                <a:solidFill>
                  <a:srgbClr val="475569"/>
                </a:solidFill>
                <a:latin typeface="Noto Sans SC"/>
                <a:ea typeface="Noto Sans SC"/>
                <a:cs typeface="Noto Sans SC"/>
              </a:rPr>
              <a:t>自适应预测量测噪声矩阵，辅助滤波器抑制发散。</a:t>
            </a:r>
          </a:p>
        </p:txBody>
      </p:sp>
      <p:sp>
        <p:nvSpPr>
          <p:cNvPr id="16" name="Google Shape;104;p13">
            <a:extLst xmlns:a="http://schemas.openxmlformats.org/drawingml/2006/main">
              <a:ext uri="{FF2B5EF4-FFF2-40B4-BE49-F238E27FC236}">
                <a16:creationId xmlns:a16="http://schemas.microsoft.com/office/drawing/2014/main" id="{ED5EEB47-36AF-475F-8344-4F5F8FAB56D9}"/>
              </a:ext>
            </a:extLst>
          </p:cNvPr>
          <p:cNvSpPr>
            <a:spLocks xmlns:a="http://schemas.openxmlformats.org/drawingml/2006/main" noGrp="1"/>
          </p:cNvSpPr>
          <p:nvPr/>
        </p:nvSpPr>
        <p:spPr>
          <a:xfrm xmlns:a="http://schemas.openxmlformats.org/drawingml/2006/main">
            <a:off x="625475" y="3339465"/>
            <a:ext cx="3250406"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003366"/>
                </a:solidFill>
                <a:latin typeface="Noto Sans SC"/>
                <a:ea typeface="Noto Sans SC"/>
                <a:cs typeface="Noto Sans SC"/>
              </a:rPr>
              <a:t>惯导解算</a:t>
            </a:r>
          </a:p>
        </p:txBody>
      </p:sp>
      <p:sp>
        <p:nvSpPr>
          <p:cNvPr id="17" name="Google Shape;105;p13">
            <a:extLst xmlns:a="http://schemas.openxmlformats.org/drawingml/2006/main">
              <a:ext uri="{FF2B5EF4-FFF2-40B4-BE49-F238E27FC236}">
                <a16:creationId xmlns:a16="http://schemas.microsoft.com/office/drawing/2014/main" id="{DF0AE2A6-692A-4592-A4D4-5FBA11E76087}"/>
              </a:ext>
            </a:extLst>
          </p:cNvPr>
          <p:cNvSpPr>
            <a:spLocks xmlns:a="http://schemas.openxmlformats.org/drawingml/2006/main" noGrp="1"/>
          </p:cNvSpPr>
          <p:nvPr/>
        </p:nvSpPr>
        <p:spPr>
          <a:xfrm xmlns:a="http://schemas.openxmlformats.org/drawingml/2006/main">
            <a:off x="625475" y="3634740"/>
            <a:ext cx="4024630" cy="2425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40000"/>
              </a:lnSpc>
              <a:spcBef>
                <a:spcPts val="0"/>
              </a:spcBef>
              <a:spcAft>
                <a:spcPts val="0"/>
              </a:spcAft>
              <a:buNone/>
            </a:pPr>
            <a:r>
              <a:rPr sz="1125" b="0" i="0" u="none" cap="none">
                <a:solidFill>
                  <a:srgbClr val="475569"/>
                </a:solidFill>
                <a:latin typeface="Noto Sans SC"/>
                <a:ea typeface="Noto Sans SC"/>
                <a:cs typeface="Noto Sans SC"/>
              </a:rPr>
              <a:t>利用</a:t>
            </a:r>
            <a:r>
              <a:rPr sz="1125" b="0" i="0" u="none" cap="none">
                <a:solidFill>
                  <a:srgbClr val="475569"/>
                </a:solidFill>
                <a:latin typeface="Noto Sans SC"/>
                <a:ea typeface="Noto Sans SC"/>
                <a:cs typeface="Noto Sans SC"/>
              </a:rPr>
              <a:t>加速度计、陀螺仪数据</a:t>
            </a:r>
            <a:r>
              <a:rPr sz="1125" b="0" i="0" u="none" cap="none">
                <a:solidFill>
                  <a:srgbClr val="475569"/>
                </a:solidFill>
                <a:latin typeface="Noto Sans SC"/>
                <a:ea typeface="Noto Sans SC"/>
                <a:cs typeface="Noto Sans SC"/>
              </a:rPr>
              <a:t> 数据递归更新位置、速度与姿态。</a:t>
            </a:r>
          </a:p>
        </p:txBody>
      </p:sp>
      <p:sp>
        <p:nvSpPr>
          <p:cNvPr id="106" name="Google Shape;106;p13">
            <a:extLst xmlns:a="http://schemas.openxmlformats.org/drawingml/2006/main">
              <a:ext uri="{FF2B5EF4-FFF2-40B4-BE49-F238E27FC236}">
                <a16:creationId xmlns:a16="http://schemas.microsoft.com/office/drawing/2014/main" id="{76F9B1C2-BE90-4D25-A28D-5E4BC99A1745}"/>
              </a:ext>
            </a:extLst>
          </p:cNvPr>
          <p:cNvSpPr>
            <a:spLocks xmlns:a="http://schemas.openxmlformats.org/drawingml/2006/main" noGrp="1"/>
          </p:cNvSpPr>
          <p:nvPr/>
        </p:nvSpPr>
        <p:spPr>
          <a:xfrm xmlns:a="http://schemas.openxmlformats.org/drawingml/2006/main">
            <a:off x="625475" y="4320540"/>
            <a:ext cx="2910363"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003366"/>
                </a:solidFill>
                <a:latin typeface="Noto Sans SC"/>
                <a:ea typeface="Noto Sans SC"/>
                <a:cs typeface="Noto Sans SC"/>
              </a:rPr>
              <a:t>速度约束</a:t>
            </a:r>
          </a:p>
        </p:txBody>
      </p:sp>
      <p:sp>
        <p:nvSpPr>
          <p:cNvPr id="107" name="Google Shape;107;p13">
            <a:extLst xmlns:a="http://schemas.openxmlformats.org/drawingml/2006/main">
              <a:ext uri="{FF2B5EF4-FFF2-40B4-BE49-F238E27FC236}">
                <a16:creationId xmlns:a16="http://schemas.microsoft.com/office/drawing/2014/main" id="{C322FEC8-CB04-4B14-840C-846C26F21403}"/>
              </a:ext>
            </a:extLst>
          </p:cNvPr>
          <p:cNvSpPr>
            <a:spLocks xmlns:a="http://schemas.openxmlformats.org/drawingml/2006/main" noGrp="1"/>
          </p:cNvSpPr>
          <p:nvPr/>
        </p:nvSpPr>
        <p:spPr>
          <a:xfrm xmlns:a="http://schemas.openxmlformats.org/drawingml/2006/main">
            <a:off x="625475" y="4615815"/>
            <a:ext cx="2771775"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40000"/>
              </a:lnSpc>
              <a:spcBef>
                <a:spcPts val="0"/>
              </a:spcBef>
              <a:spcAft>
                <a:spcPts val="0"/>
              </a:spcAft>
              <a:buNone/>
            </a:pPr>
            <a:r>
              <a:rPr sz="1125" b="0" i="0" u="none" cap="none">
                <a:solidFill>
                  <a:srgbClr val="475569"/>
                </a:solidFill>
                <a:latin typeface="Noto Sans SC"/>
                <a:ea typeface="Noto Sans SC"/>
                <a:cs typeface="Noto Sans SC"/>
              </a:rPr>
              <a:t>基于汽车横向/垂直速度为零的运动学假设。</a:t>
            </a:r>
          </a:p>
        </p:txBody>
      </p:sp>
      <p:sp>
        <p:nvSpPr>
          <p:cNvPr id="108" name="Google Shape;108;p13">
            <a:extLst xmlns:a="http://schemas.openxmlformats.org/drawingml/2006/main">
              <a:ext uri="{FF2B5EF4-FFF2-40B4-BE49-F238E27FC236}">
                <a16:creationId xmlns:a16="http://schemas.microsoft.com/office/drawing/2014/main" id="{112F3D45-B522-4E07-8FCF-2F0F78FC6EED}"/>
              </a:ext>
            </a:extLst>
          </p:cNvPr>
          <p:cNvSpPr>
            <a:spLocks xmlns:a="http://schemas.openxmlformats.org/drawingml/2006/main" noGrp="1"/>
          </p:cNvSpPr>
          <p:nvPr/>
        </p:nvSpPr>
        <p:spPr>
          <a:xfrm xmlns:a="http://schemas.openxmlformats.org/drawingml/2006/main">
            <a:off x="625475" y="5301615"/>
            <a:ext cx="300037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003366"/>
                </a:solidFill>
                <a:latin typeface="Noto Sans SC"/>
                <a:ea typeface="Noto Sans SC"/>
                <a:cs typeface="Noto Sans SC"/>
              </a:rPr>
              <a:t>不变扩展卡尔曼滤波 (IEKF)</a:t>
            </a:r>
          </a:p>
        </p:txBody>
      </p:sp>
      <p:sp>
        <p:nvSpPr>
          <p:cNvPr id="18" name="Google Shape;109;p13">
            <a:extLst xmlns:a="http://schemas.openxmlformats.org/drawingml/2006/main">
              <a:ext uri="{FF2B5EF4-FFF2-40B4-BE49-F238E27FC236}">
                <a16:creationId xmlns:a16="http://schemas.microsoft.com/office/drawing/2014/main" id="{9E49ABA6-B237-446E-9C7C-B82A2D0B9D58}"/>
              </a:ext>
            </a:extLst>
          </p:cNvPr>
          <p:cNvSpPr>
            <a:spLocks xmlns:a="http://schemas.openxmlformats.org/drawingml/2006/main" noGrp="1"/>
          </p:cNvSpPr>
          <p:nvPr/>
        </p:nvSpPr>
        <p:spPr>
          <a:xfrm xmlns:a="http://schemas.openxmlformats.org/drawingml/2006/main">
            <a:off x="625475" y="5596890"/>
            <a:ext cx="2857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40000"/>
              </a:lnSpc>
              <a:spcBef>
                <a:spcPts val="0"/>
              </a:spcBef>
              <a:spcAft>
                <a:spcPts val="0"/>
              </a:spcAft>
              <a:buNone/>
            </a:pPr>
            <a:r>
              <a:rPr sz="1125" b="0" i="0" u="none" cap="none">
                <a:solidFill>
                  <a:srgbClr val="475569"/>
                </a:solidFill>
                <a:latin typeface="Noto Sans SC"/>
                <a:ea typeface="Noto Sans SC"/>
                <a:cs typeface="Noto Sans SC"/>
              </a:rPr>
              <a:t>建立误差状态微分方程，动态修正解算结果。</a:t>
            </a:r>
          </a:p>
        </p:txBody>
      </p:sp>
      <p:pic>
        <p:nvPicPr>
          <p:cNvPr id="136" name="图片 18"/>
          <p:cNvPicPr>
            <a:picLocks xmlns:a="http://schemas.openxmlformats.org/drawingml/2006/main" noChangeAspect="1"/>
          </p:cNvPicPr>
          <p:nvPr/>
        </p:nvPicPr>
        <p:blipFill>
          <a:blip xmlns:r="http://schemas.openxmlformats.org/officeDocument/2006/relationships" xmlns:a="http://schemas.openxmlformats.org/drawingml/2006/main" r:embed="R60dfab411f76445d"/>
          <a:stretch xmlns:a="http://schemas.openxmlformats.org/drawingml/2006/main">
            <a:fillRect l="0" t="0" r="0" b="0"/>
          </a:stretch>
        </p:blipFill>
        <p:spPr>
          <a:xfrm xmlns:a="http://schemas.openxmlformats.org/drawingml/2006/main">
            <a:off x="6772275" y="1615440"/>
            <a:ext cx="3663315" cy="3686175"/>
          </a:xfrm>
          <a:prstGeom xmlns:a="http://schemas.openxmlformats.org/drawingml/2006/main" prst="rect">
            <a:avLst/>
          </a:prstGeom>
        </p:spPr>
      </p:pic>
    </p:spTree>
    <p:extLst>
      <p:ext uri="{BB962C8B-B14F-4D97-AF65-F5344CB8AC3E}">
        <p14:creationId xmlns:p14="http://schemas.microsoft.com/office/powerpoint/2010/main" val="124248561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8" name="圆角矩形 27">
            <a:extLst xmlns:a="http://schemas.openxmlformats.org/drawingml/2006/main">
              <a:ext uri="{FF2B5EF4-FFF2-40B4-BE49-F238E27FC236}">
                <a16:creationId xmlns:a16="http://schemas.microsoft.com/office/drawing/2014/main" id="{B5334123-7AA4-4F15-BFC9-2AA7F8A741FD}"/>
              </a:ext>
            </a:extLst>
          </p:cNvPr>
          <p:cNvSpPr>
            <a:spLocks xmlns:a="http://schemas.openxmlformats.org/drawingml/2006/main" noGrp="1"/>
          </p:cNvSpPr>
          <p:nvPr/>
        </p:nvSpPr>
        <p:spPr>
          <a:xfrm xmlns:a="http://schemas.openxmlformats.org/drawingml/2006/main">
            <a:off x="181610" y="2543810"/>
            <a:ext cx="3876675" cy="228917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09"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38f2b848b3b345b6"/>
          <a:srcRect xmlns:a="http://schemas.openxmlformats.org/drawingml/2006/main" l="0" t="0" r="0" b="0"/>
          <a:stretch xmlns:a="http://schemas.openxmlformats.org/drawingml/2006/main">
            <a:fillRect l="0" t="0" r="0" b="0"/>
          </a:stretch>
        </p:blipFill>
        <p:spPr>
          <a:xfrm xmlns:a="http://schemas.openxmlformats.org/drawingml/2006/main">
            <a:off x="6319520" y="5733415"/>
            <a:ext cx="5191125" cy="974725"/>
          </a:xfrm>
          <a:prstGeom xmlns:a="http://schemas.openxmlformats.org/drawingml/2006/main" prst="rect">
            <a:avLst/>
          </a:prstGeom>
          <a:ln xmlns:a="http://schemas.openxmlformats.org/drawingml/2006/main">
            <a:noFill/>
          </a:ln>
        </p:spPr>
      </p:pic>
      <p:pic>
        <p:nvPicPr>
          <p:cNvPr id="110"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38f2b848b3b345b6"/>
          <a:srcRect xmlns:a="http://schemas.openxmlformats.org/drawingml/2006/main" l="0" t="0" r="0" b="0"/>
          <a:stretch xmlns:a="http://schemas.openxmlformats.org/drawingml/2006/main">
            <a:fillRect l="0" t="0" r="0" b="0"/>
          </a:stretch>
        </p:blipFill>
        <p:spPr>
          <a:xfrm xmlns:a="http://schemas.openxmlformats.org/drawingml/2006/main">
            <a:off x="6277610" y="4598035"/>
            <a:ext cx="5347335" cy="1030605"/>
          </a:xfrm>
          <a:prstGeom xmlns:a="http://schemas.openxmlformats.org/drawingml/2006/main" prst="rect">
            <a:avLst/>
          </a:prstGeom>
          <a:ln xmlns:a="http://schemas.openxmlformats.org/drawingml/2006/main">
            <a:noFill/>
          </a:ln>
        </p:spPr>
      </p:pic>
      <p:pic>
        <p:nvPicPr>
          <p:cNvPr id="111"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38f2b848b3b345b6"/>
          <a:srcRect xmlns:a="http://schemas.openxmlformats.org/drawingml/2006/main" l="0" t="0" r="0" b="0"/>
          <a:stretch xmlns:a="http://schemas.openxmlformats.org/drawingml/2006/main">
            <a:fillRect l="0" t="0" r="0" b="0"/>
          </a:stretch>
        </p:blipFill>
        <p:spPr>
          <a:xfrm xmlns:a="http://schemas.openxmlformats.org/drawingml/2006/main">
            <a:off x="180975" y="5480685"/>
            <a:ext cx="5191125" cy="838200"/>
          </a:xfrm>
          <a:prstGeom xmlns:a="http://schemas.openxmlformats.org/drawingml/2006/main" prst="rect">
            <a:avLst/>
          </a:prstGeom>
          <a:ln xmlns:a="http://schemas.openxmlformats.org/drawingml/2006/main">
            <a:noFill/>
          </a:ln>
        </p:spPr>
      </p:pic>
      <p:sp>
        <p:nvSpPr>
          <p:cNvPr id="3" name="矩形 2">
            <a:extLst xmlns:a="http://schemas.openxmlformats.org/drawingml/2006/main">
              <a:ext uri="{FF2B5EF4-FFF2-40B4-BE49-F238E27FC236}">
                <a16:creationId xmlns:a16="http://schemas.microsoft.com/office/drawing/2014/main" id="{C2D8A093-574C-4EA7-B78C-96AE934DE10C}"/>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3634869D-9CD0-44C4-9EE4-0BE1447CF24C}"/>
              </a:ext>
            </a:extLst>
          </p:cNvPr>
          <p:cNvSpPr>
            <a:spLocks xmlns:a="http://schemas.openxmlformats.org/drawingml/2006/main" noGrp="1"/>
          </p:cNvSpPr>
          <p:nvPr/>
        </p:nvSpPr>
        <p:spPr>
          <a:xfrm xmlns:a="http://schemas.openxmlformats.org/drawingml/2006/main" rot="0" flipH="0" flipV="0">
            <a:off x="271145" y="1021713"/>
            <a:ext cx="547243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5.3.2 </a:t>
            </a:r>
            <a:r>
              <a:rPr sz="2400" b="1">
                <a:solidFill>
                  <a:schemeClr val="accent1"/>
                </a:solidFill>
                <a:latin typeface="+mj-lt"/>
                <a:ea typeface="+mj-lt"/>
                <a:cs typeface="+mj-lt"/>
              </a:rPr>
              <a:t>基于深度学习的机器人状态估计</a:t>
            </a:r>
          </a:p>
        </p:txBody>
      </p:sp>
      <p:sp>
        <p:nvSpPr>
          <p:cNvPr id="11" name="Google Shape;96;p13">
            <a:extLst xmlns:a="http://schemas.openxmlformats.org/drawingml/2006/main">
              <a:ext uri="{FF2B5EF4-FFF2-40B4-BE49-F238E27FC236}">
                <a16:creationId xmlns:a16="http://schemas.microsoft.com/office/drawing/2014/main" id="{B380CBBE-FF85-4E7E-9FDC-927DCFC4D32C}"/>
              </a:ext>
            </a:extLst>
          </p:cNvPr>
          <p:cNvSpPr>
            <a:spLocks xmlns:a="http://schemas.openxmlformats.org/drawingml/2006/main" noGrp="1"/>
          </p:cNvSpPr>
          <p:nvPr/>
        </p:nvSpPr>
        <p:spPr>
          <a:xfrm xmlns:a="http://schemas.openxmlformats.org/drawingml/2006/main">
            <a:off x="768350" y="1813560"/>
            <a:ext cx="3435985" cy="276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b="1">
                <a:solidFill>
                  <a:srgbClr val="005088"/>
                </a:solidFill>
                <a:latin typeface="微软雅黑"/>
                <a:ea typeface="微软雅黑"/>
                <a:cs typeface="微软雅黑"/>
              </a:rPr>
              <a:t>VINet: 端到端视惯融合里程计</a:t>
            </a:r>
            <a:endParaRPr sz="1800" b="1" i="0" u="none" cap="none">
              <a:solidFill>
                <a:srgbClr val="003366"/>
              </a:solidFill>
              <a:latin typeface="微软雅黑"/>
              <a:ea typeface="微软雅黑"/>
              <a:cs typeface="微软雅黑"/>
            </a:endParaRPr>
          </a:p>
        </p:txBody>
      </p:sp>
      <p:sp>
        <p:nvSpPr>
          <p:cNvPr id="97" name="Google Shape;97;p13">
            <a:extLst xmlns:a="http://schemas.openxmlformats.org/drawingml/2006/main">
              <a:ext uri="{FF2B5EF4-FFF2-40B4-BE49-F238E27FC236}">
                <a16:creationId xmlns:a16="http://schemas.microsoft.com/office/drawing/2014/main" id="{2E5BE3CD-CD53-4C59-A2E0-FB4402B7B6AC}"/>
              </a:ext>
            </a:extLst>
          </p:cNvPr>
          <p:cNvSpPr>
            <a:spLocks xmlns:a="http://schemas.openxmlformats.org/drawingml/2006/main" noGrp="1"/>
          </p:cNvSpPr>
          <p:nvPr/>
        </p:nvSpPr>
        <p:spPr>
          <a:xfrm xmlns:a="http://schemas.openxmlformats.org/drawingml/2006/main">
            <a:off x="7254875" y="1205230"/>
            <a:ext cx="1588135" cy="276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800" b="1" i="0" u="none" cap="none">
                <a:solidFill>
                  <a:srgbClr val="003366"/>
                </a:solidFill>
                <a:latin typeface="Noto Sans SC"/>
                <a:ea typeface="Noto Sans SC"/>
                <a:cs typeface="Noto Sans SC"/>
              </a:rPr>
              <a:t>VINet </a:t>
            </a:r>
            <a:r>
              <a:rPr sz="1800" b="1" i="0" u="none" cap="none">
                <a:solidFill>
                  <a:srgbClr val="003366"/>
                </a:solidFill>
                <a:latin typeface="Noto Sans SC"/>
                <a:ea typeface="Noto Sans SC"/>
                <a:cs typeface="Noto Sans SC"/>
              </a:rPr>
              <a:t>结构图</a:t>
            </a:r>
          </a:p>
        </p:txBody>
      </p:sp>
      <p:pic>
        <p:nvPicPr>
          <p:cNvPr id="116" name="Google Shape;98;p13"/>
          <p:cNvPicPr>
            <a:picLocks xmlns:a="http://schemas.openxmlformats.org/drawingml/2006/main" noChangeAspect="1"/>
          </p:cNvPicPr>
          <p:nvPr/>
        </p:nvPicPr>
        <p:blipFill rotWithShape="1">
          <a:blip xmlns:r="http://schemas.openxmlformats.org/officeDocument/2006/relationships" xmlns:a="http://schemas.openxmlformats.org/drawingml/2006/main" r:embed="R3fa07ef55b8e4e05"/>
          <a:srcRect xmlns:a="http://schemas.openxmlformats.org/drawingml/2006/main" l="0" t="0" r="0" b="0"/>
          <a:stretch xmlns:a="http://schemas.openxmlformats.org/drawingml/2006/main">
            <a:fillRect l="0" t="0" r="0" b="0"/>
          </a:stretch>
        </p:blipFill>
        <p:spPr>
          <a:xfrm xmlns:a="http://schemas.openxmlformats.org/drawingml/2006/main">
            <a:off x="396875" y="1837055"/>
            <a:ext cx="183515" cy="228600"/>
          </a:xfrm>
          <a:prstGeom xmlns:a="http://schemas.openxmlformats.org/drawingml/2006/main" prst="rect">
            <a:avLst/>
          </a:prstGeom>
          <a:ln xmlns:a="http://schemas.openxmlformats.org/drawingml/2006/main">
            <a:noFill/>
          </a:ln>
        </p:spPr>
      </p:pic>
      <p:sp>
        <p:nvSpPr>
          <p:cNvPr id="94" name="Google Shape;94;p13">
            <a:extLst xmlns:a="http://schemas.openxmlformats.org/drawingml/2006/main">
              <a:ext uri="{FF2B5EF4-FFF2-40B4-BE49-F238E27FC236}">
                <a16:creationId xmlns:a16="http://schemas.microsoft.com/office/drawing/2014/main" id="{C342505C-5154-4854-A8D1-EC9564AB0AD7}"/>
              </a:ext>
            </a:extLst>
          </p:cNvPr>
          <p:cNvSpPr>
            <a:spLocks xmlns:a="http://schemas.openxmlformats.org/drawingml/2006/main" noGrp="1"/>
          </p:cNvSpPr>
          <p:nvPr/>
        </p:nvSpPr>
        <p:spPr>
          <a:xfrm xmlns:a="http://schemas.openxmlformats.org/drawingml/2006/main">
            <a:off x="396875" y="5560327"/>
            <a:ext cx="5300662"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800" b="1" i="0" u="none" cap="none">
                <a:solidFill>
                  <a:srgbClr val="005088"/>
                </a:solidFill>
                <a:latin typeface="黑体"/>
                <a:ea typeface="黑体"/>
                <a:cs typeface="黑体"/>
              </a:rPr>
              <a:t>卷积层 (Vision Encoder)</a:t>
            </a:r>
          </a:p>
        </p:txBody>
      </p:sp>
      <p:sp>
        <p:nvSpPr>
          <p:cNvPr id="95" name="Google Shape;95;p13">
            <a:extLst xmlns:a="http://schemas.openxmlformats.org/drawingml/2006/main">
              <a:ext uri="{FF2B5EF4-FFF2-40B4-BE49-F238E27FC236}">
                <a16:creationId xmlns:a16="http://schemas.microsoft.com/office/drawing/2014/main" id="{9B004420-C617-4719-BF5E-C6D6A81D4E52}"/>
              </a:ext>
            </a:extLst>
          </p:cNvPr>
          <p:cNvSpPr>
            <a:spLocks xmlns:a="http://schemas.openxmlformats.org/drawingml/2006/main" noGrp="1"/>
          </p:cNvSpPr>
          <p:nvPr/>
        </p:nvSpPr>
        <p:spPr>
          <a:xfrm xmlns:a="http://schemas.openxmlformats.org/drawingml/2006/main">
            <a:off x="438150" y="5872747"/>
            <a:ext cx="50482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350" b="0" i="0" u="none" cap="none">
                <a:solidFill>
                  <a:srgbClr val="475569"/>
                </a:solidFill>
                <a:latin typeface="黑体"/>
                <a:ea typeface="黑体"/>
                <a:cs typeface="黑体"/>
              </a:rPr>
              <a:t>处理RGB图像序列，预测对应的光流特征，从像素级恢复运动信息。</a:t>
            </a:r>
          </a:p>
        </p:txBody>
      </p:sp>
      <p:sp>
        <p:nvSpPr>
          <p:cNvPr id="5" name="Google Shape;97;p13">
            <a:extLst xmlns:a="http://schemas.openxmlformats.org/drawingml/2006/main">
              <a:ext uri="{FF2B5EF4-FFF2-40B4-BE49-F238E27FC236}">
                <a16:creationId xmlns:a16="http://schemas.microsoft.com/office/drawing/2014/main" id="{DF957C2F-477A-4BCB-A7FA-670974CF7D26}"/>
              </a:ext>
            </a:extLst>
          </p:cNvPr>
          <p:cNvSpPr>
            <a:spLocks xmlns:a="http://schemas.openxmlformats.org/drawingml/2006/main" noGrp="1"/>
          </p:cNvSpPr>
          <p:nvPr/>
        </p:nvSpPr>
        <p:spPr>
          <a:xfrm xmlns:a="http://schemas.openxmlformats.org/drawingml/2006/main">
            <a:off x="6576695" y="4739907"/>
            <a:ext cx="5300662"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800" b="1" i="0" u="none" cap="none">
                <a:solidFill>
                  <a:srgbClr val="005088"/>
                </a:solidFill>
                <a:latin typeface="黑体"/>
                <a:ea typeface="黑体"/>
                <a:cs typeface="黑体"/>
              </a:rPr>
              <a:t>IMU-LSTM 模块</a:t>
            </a:r>
          </a:p>
        </p:txBody>
      </p:sp>
      <p:sp>
        <p:nvSpPr>
          <p:cNvPr id="6" name="Google Shape;98;p13">
            <a:extLst xmlns:a="http://schemas.openxmlformats.org/drawingml/2006/main">
              <a:ext uri="{FF2B5EF4-FFF2-40B4-BE49-F238E27FC236}">
                <a16:creationId xmlns:a16="http://schemas.microsoft.com/office/drawing/2014/main" id="{1BD53252-46F1-43E0-953F-C23B98A6DD05}"/>
              </a:ext>
            </a:extLst>
          </p:cNvPr>
          <p:cNvSpPr>
            <a:spLocks xmlns:a="http://schemas.openxmlformats.org/drawingml/2006/main" noGrp="1"/>
          </p:cNvSpPr>
          <p:nvPr/>
        </p:nvSpPr>
        <p:spPr>
          <a:xfrm xmlns:a="http://schemas.openxmlformats.org/drawingml/2006/main">
            <a:off x="6576695" y="4952632"/>
            <a:ext cx="50482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350" b="0" i="0" u="none" cap="none">
                <a:solidFill>
                  <a:srgbClr val="475569"/>
                </a:solidFill>
                <a:latin typeface="黑体"/>
                <a:ea typeface="黑体"/>
                <a:cs typeface="黑体"/>
              </a:rPr>
              <a:t>挖掘惯性数据序列的时间特征，解决IMU高频采样与视觉低频更新的对齐问题。</a:t>
            </a:r>
          </a:p>
        </p:txBody>
      </p:sp>
      <p:sp>
        <p:nvSpPr>
          <p:cNvPr id="100" name="Google Shape;100;p13">
            <a:extLst xmlns:a="http://schemas.openxmlformats.org/drawingml/2006/main">
              <a:ext uri="{FF2B5EF4-FFF2-40B4-BE49-F238E27FC236}">
                <a16:creationId xmlns:a16="http://schemas.microsoft.com/office/drawing/2014/main" id="{3DF5F8B5-3BAB-4BA5-B9F2-44C281CFE152}"/>
              </a:ext>
            </a:extLst>
          </p:cNvPr>
          <p:cNvSpPr>
            <a:spLocks xmlns:a="http://schemas.openxmlformats.org/drawingml/2006/main" noGrp="1"/>
          </p:cNvSpPr>
          <p:nvPr/>
        </p:nvSpPr>
        <p:spPr>
          <a:xfrm xmlns:a="http://schemas.openxmlformats.org/drawingml/2006/main">
            <a:off x="6576695" y="5800357"/>
            <a:ext cx="5300662"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800" b="1" i="0" u="none" cap="none">
                <a:solidFill>
                  <a:srgbClr val="005088"/>
                </a:solidFill>
                <a:latin typeface="黑体"/>
                <a:ea typeface="黑体"/>
                <a:cs typeface="黑体"/>
              </a:rPr>
              <a:t>core-LSTM 融合层</a:t>
            </a:r>
          </a:p>
        </p:txBody>
      </p:sp>
      <p:sp>
        <p:nvSpPr>
          <p:cNvPr id="101" name="Google Shape;101;p13">
            <a:extLst xmlns:a="http://schemas.openxmlformats.org/drawingml/2006/main">
              <a:ext uri="{FF2B5EF4-FFF2-40B4-BE49-F238E27FC236}">
                <a16:creationId xmlns:a16="http://schemas.microsoft.com/office/drawing/2014/main" id="{57CC9619-7BF5-4922-BEB9-44D1BEFB5F5B}"/>
              </a:ext>
            </a:extLst>
          </p:cNvPr>
          <p:cNvSpPr>
            <a:spLocks xmlns:a="http://schemas.openxmlformats.org/drawingml/2006/main" noGrp="1"/>
          </p:cNvSpPr>
          <p:nvPr/>
        </p:nvSpPr>
        <p:spPr>
          <a:xfrm xmlns:a="http://schemas.openxmlformats.org/drawingml/2006/main">
            <a:off x="6576695" y="6057532"/>
            <a:ext cx="50482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350" b="0" i="0" u="none" cap="none">
                <a:solidFill>
                  <a:srgbClr val="475569"/>
                </a:solidFill>
                <a:latin typeface="黑体"/>
                <a:ea typeface="黑体"/>
                <a:cs typeface="黑体"/>
              </a:rPr>
              <a:t>将视觉与惯导特征串联，输出7维运动向量（线速度与角速度），直接映射到位姿变化。</a:t>
            </a:r>
          </a:p>
        </p:txBody>
      </p:sp>
      <p:pic>
        <p:nvPicPr>
          <p:cNvPr id="123" name="图片 20"/>
          <p:cNvPicPr>
            <a:picLocks xmlns:a="http://schemas.openxmlformats.org/drawingml/2006/main" noChangeAspect="1"/>
          </p:cNvPicPr>
          <p:nvPr/>
        </p:nvPicPr>
        <p:blipFill>
          <a:blip xmlns:r="http://schemas.openxmlformats.org/officeDocument/2006/relationships" xmlns:a="http://schemas.openxmlformats.org/drawingml/2006/main" r:embed="Rd5fe5d3de1a84280"/>
          <a:stretch xmlns:a="http://schemas.openxmlformats.org/drawingml/2006/main">
            <a:fillRect l="0" t="0" r="0" b="0"/>
          </a:stretch>
        </p:blipFill>
        <p:spPr>
          <a:xfrm xmlns:a="http://schemas.openxmlformats.org/drawingml/2006/main">
            <a:off x="4204335" y="1490345"/>
            <a:ext cx="7689850" cy="2982595"/>
          </a:xfrm>
          <a:prstGeom xmlns:a="http://schemas.openxmlformats.org/drawingml/2006/main" prst="rect">
            <a:avLst/>
          </a:prstGeom>
        </p:spPr>
      </p:pic>
      <p:sp>
        <p:nvSpPr>
          <p:cNvPr id="27" name="文本框 26">
            <a:extLst xmlns:a="http://schemas.openxmlformats.org/drawingml/2006/main">
              <a:ext uri="{FF2B5EF4-FFF2-40B4-BE49-F238E27FC236}">
                <a16:creationId xmlns:a16="http://schemas.microsoft.com/office/drawing/2014/main" id="{EA7935AB-8D38-4D49-848E-459D88F55CB9}"/>
              </a:ext>
            </a:extLst>
          </p:cNvPr>
          <p:cNvSpPr>
            <a:spLocks xmlns:a="http://schemas.openxmlformats.org/drawingml/2006/main" noGrp="1"/>
          </p:cNvSpPr>
          <p:nvPr/>
        </p:nvSpPr>
        <p:spPr>
          <a:xfrm xmlns:a="http://schemas.openxmlformats.org/drawingml/2006/main">
            <a:off x="271780" y="2647950"/>
            <a:ext cx="356489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微软雅黑"/>
                <a:ea typeface="微软雅黑"/>
                <a:cs typeface="微软雅黑"/>
              </a:rPr>
              <a:t>该方法输出一个长为</a:t>
            </a:r>
            <a:r>
              <a:rPr sz="1400">
                <a:latin typeface="微软雅黑"/>
                <a:ea typeface="微软雅黑"/>
                <a:cs typeface="微软雅黑"/>
              </a:rPr>
              <a:t> 7 </a:t>
            </a:r>
            <a:r>
              <a:rPr sz="1400">
                <a:latin typeface="微软雅黑"/>
                <a:ea typeface="微软雅黑"/>
                <a:cs typeface="微软雅黑"/>
              </a:rPr>
              <a:t>的向量，该向量为对应的线速度、角速度，之后它与时间、上一时刻的状态一起计算便可以得到对应的位移、姿态四元数（表示机器人从序列开始时姿态的变化），如下式：</a:t>
            </a:r>
          </a:p>
        </p:txBody>
      </p:sp>
      <p:pic>
        <p:nvPicPr>
          <p:cNvPr id="125" name="图片 36"/>
          <p:cNvPicPr>
            <a:picLocks xmlns:a="http://schemas.openxmlformats.org/drawingml/2006/main" noChangeAspect="1"/>
          </p:cNvPicPr>
          <p:nvPr/>
        </p:nvPicPr>
        <p:blipFill>
          <a:blip xmlns:r="http://schemas.openxmlformats.org/officeDocument/2006/relationships" xmlns:a="http://schemas.openxmlformats.org/drawingml/2006/main" r:embed="Rc3820eca40c3455f">
            <a:clrChange>
              <a:clrFrom>
                <a:srgbClr val="FFFFFF">
                  <a:alpha val="100000"/>
                </a:srgbClr>
              </a:clrFrom>
              <a:clrTo>
                <a:srgbClr val="FFFFFF">
                  <a:alpha val="100000"/>
                </a:srgbClr>
              </a:clrTo>
            </a:clrChange>
            <a:duotone>
              <a:prstClr val="black"/>
              <a:schemeClr val="bg1">
                <a:tint val="45000"/>
                <a:lumMod val="65000"/>
                <a:satMod val="400000"/>
              </a:schemeClr>
            </a:duotone>
          </a:blip>
          <a:stretch xmlns:a="http://schemas.openxmlformats.org/drawingml/2006/main">
            <a:fillRect l="0" t="0" r="0" b="0"/>
          </a:stretch>
        </p:blipFill>
        <p:spPr>
          <a:xfrm xmlns:a="http://schemas.openxmlformats.org/drawingml/2006/main">
            <a:off x="398145" y="3816350"/>
            <a:ext cx="3171825" cy="463550"/>
          </a:xfrm>
          <a:prstGeom xmlns:a="http://schemas.openxmlformats.org/drawingml/2006/main" prst="rect">
            <a:avLst/>
          </a:prstGeom>
        </p:spPr>
      </p:pic>
      <p:sp>
        <p:nvSpPr>
          <p:cNvPr id="38" name="文本框 37">
            <a:extLst xmlns:a="http://schemas.openxmlformats.org/drawingml/2006/main">
              <a:ext uri="{FF2B5EF4-FFF2-40B4-BE49-F238E27FC236}">
                <a16:creationId xmlns:a16="http://schemas.microsoft.com/office/drawing/2014/main" id="{898F5A04-0FEC-4F3B-B5DE-F3D8D7C5ABCF}"/>
              </a:ext>
            </a:extLst>
          </p:cNvPr>
          <p:cNvSpPr>
            <a:spLocks xmlns:a="http://schemas.openxmlformats.org/drawingml/2006/main" noGrp="1"/>
          </p:cNvSpPr>
          <p:nvPr/>
        </p:nvSpPr>
        <p:spPr>
          <a:xfrm xmlns:a="http://schemas.openxmlformats.org/drawingml/2006/main">
            <a:off x="271780" y="4225925"/>
            <a:ext cx="378714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其中，</a:t>
            </a:r>
            <a14:m xmlns:a14="http://schemas.microsoft.com/office/drawing/2010/main">
              <m:oMathPara xmlns:m="http://schemas.openxmlformats.org/officeDocument/2006/math">
                <m:oMath>
                  <m:r>
                    <a:rPr xmlns:a="http://schemas.openxmlformats.org/drawingml/2006/main" lang="en-US" sz="1400" i="1">
                      <a:latin typeface="Cambria Math"/>
                      <a:ea typeface="Cambria Math"/>
                      <a:cs typeface="Cambria Math"/>
                    </a:rPr>
                    <m:t>𝑊</m:t>
                  </m:r>
                  <m:r>
                    <a:rPr xmlns:a="http://schemas.openxmlformats.org/drawingml/2006/main" lang="en-US" sz="1400" i="1">
                      <a:latin typeface="Cambria Math"/>
                      <a:ea typeface="Cambria Math"/>
                      <a:cs typeface="Cambria Math"/>
                    </a:rPr>
                    <m:t>、</m:t>
                  </m:r>
                  <m:r>
                    <a:rPr xmlns:a="http://schemas.openxmlformats.org/drawingml/2006/main" lang="en-US" sz="1400" i="1">
                      <a:latin typeface="Cambria Math"/>
                      <a:ea typeface="Cambria Math"/>
                      <a:cs typeface="Cambria Math"/>
                    </a:rPr>
                    <m:t>𝑁</m:t>
                  </m:r>
                </m:oMath>
              </m:oMathPara>
            </a14:m>
            <a:r>
              <a:rPr sz="1400"/>
              <a:t> </a:t>
            </a:r>
            <a:r>
              <a:rPr sz="1400"/>
              <a:t>分别表示输入图像的宽度、高度；</a:t>
            </a:r>
          </a:p>
          <a:p xmlns:a="http://schemas.openxmlformats.org/drawingml/2006/main">
            <a14:m xmlns:a14="http://schemas.microsoft.com/office/drawing/2010/main">
              <m:oMathPara xmlns:m="http://schemas.openxmlformats.org/officeDocument/2006/math">
                <m:oMath>
                  <m:r>
                    <a:rPr xmlns:a="http://schemas.openxmlformats.org/drawingml/2006/main" lang="en-US" sz="1400" i="1">
                      <a:latin typeface="Cambria Math"/>
                      <a:ea typeface="Cambria Math"/>
                      <a:cs typeface="Cambria Math"/>
                    </a:rPr>
                    <m:t>1</m:t>
                  </m:r>
                  <m:r>
                    <a:rPr xmlns:a="http://schemas.openxmlformats.org/drawingml/2006/main" lang="en-US" sz="1400" i="1">
                      <a:latin typeface="Cambria Math"/>
                      <a:ea typeface="Cambria Math"/>
                      <a:cs typeface="Cambria Math"/>
                    </a:rPr>
                    <m:t>：</m:t>
                  </m:r>
                  <m:r>
                    <a:rPr xmlns:a="http://schemas.openxmlformats.org/drawingml/2006/main" lang="en-US" sz="1400" i="1">
                      <a:latin typeface="Cambria Math"/>
                      <a:ea typeface="Cambria Math"/>
                      <a:cs typeface="Cambria Math"/>
                    </a:rPr>
                    <m:t>𝑁</m:t>
                  </m:r>
                </m:oMath>
              </m:oMathPara>
            </a14:m>
            <a:r>
              <a:rPr sz="1400"/>
              <a:t>表示</a:t>
            </a:r>
            <a:r>
              <a:rPr sz="1400"/>
              <a:t> IMU </a:t>
            </a:r>
            <a:r>
              <a:rPr sz="1400"/>
              <a:t>数据序列的时间戳。</a:t>
            </a:r>
          </a:p>
        </p:txBody>
      </p:sp>
    </p:spTree>
    <p:extLst>
      <p:ext uri="{BB962C8B-B14F-4D97-AF65-F5344CB8AC3E}">
        <p14:creationId xmlns:p14="http://schemas.microsoft.com/office/powerpoint/2010/main" val="110324894"/>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6" name="圆角矩形 15">
            <a:extLst xmlns:a="http://schemas.openxmlformats.org/drawingml/2006/main">
              <a:ext uri="{FF2B5EF4-FFF2-40B4-BE49-F238E27FC236}">
                <a16:creationId xmlns:a16="http://schemas.microsoft.com/office/drawing/2014/main" id="{9B703720-14A6-4DD2-977B-B7EBE0F2E404}"/>
              </a:ext>
            </a:extLst>
          </p:cNvPr>
          <p:cNvSpPr>
            <a:spLocks xmlns:a="http://schemas.openxmlformats.org/drawingml/2006/main" noGrp="1"/>
          </p:cNvSpPr>
          <p:nvPr/>
        </p:nvSpPr>
        <p:spPr>
          <a:xfrm xmlns:a="http://schemas.openxmlformats.org/drawingml/2006/main">
            <a:off x="396875" y="2277745"/>
            <a:ext cx="4637405" cy="321627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9" name="图片 22"/>
          <p:cNvPicPr>
            <a:picLocks xmlns:a="http://schemas.openxmlformats.org/drawingml/2006/main" noChangeAspect="1"/>
          </p:cNvPicPr>
          <p:nvPr/>
        </p:nvPicPr>
        <p:blipFill>
          <a:blip xmlns:r="http://schemas.openxmlformats.org/officeDocument/2006/relationships" xmlns:a="http://schemas.openxmlformats.org/drawingml/2006/main" r:embed="R06cdaf9c1c7a438a"/>
          <a:stretch xmlns:a="http://schemas.openxmlformats.org/drawingml/2006/main">
            <a:fillRect l="0" t="0" r="0" b="0"/>
          </a:stretch>
        </p:blipFill>
        <p:spPr>
          <a:xfrm xmlns:a="http://schemas.openxmlformats.org/drawingml/2006/main">
            <a:off x="5549265" y="1644015"/>
            <a:ext cx="6437630" cy="4160520"/>
          </a:xfrm>
          <a:prstGeom xmlns:a="http://schemas.openxmlformats.org/drawingml/2006/main" prst="rect">
            <a:avLst/>
          </a:prstGeom>
        </p:spPr>
      </p:pic>
      <p:sp>
        <p:nvSpPr>
          <p:cNvPr id="3" name="矩形 2">
            <a:extLst xmlns:a="http://schemas.openxmlformats.org/drawingml/2006/main">
              <a:ext uri="{FF2B5EF4-FFF2-40B4-BE49-F238E27FC236}">
                <a16:creationId xmlns:a16="http://schemas.microsoft.com/office/drawing/2014/main" id="{731057D3-96AE-48FC-AFFA-163C22B281CD}"/>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EE303FC9-D395-40A5-925C-366D4A612F69}"/>
              </a:ext>
            </a:extLst>
          </p:cNvPr>
          <p:cNvSpPr>
            <a:spLocks xmlns:a="http://schemas.openxmlformats.org/drawingml/2006/main" noGrp="1"/>
          </p:cNvSpPr>
          <p:nvPr/>
        </p:nvSpPr>
        <p:spPr>
          <a:xfrm xmlns:a="http://schemas.openxmlformats.org/drawingml/2006/main" rot="0" flipH="0" flipV="0">
            <a:off x="271145" y="1021713"/>
            <a:ext cx="547243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5.3.2 </a:t>
            </a:r>
            <a:r>
              <a:rPr sz="2400" b="1">
                <a:solidFill>
                  <a:schemeClr val="accent1"/>
                </a:solidFill>
                <a:latin typeface="+mj-lt"/>
                <a:ea typeface="+mj-lt"/>
                <a:cs typeface="+mj-lt"/>
              </a:rPr>
              <a:t>基于深度学习的机器人状态估计</a:t>
            </a:r>
          </a:p>
        </p:txBody>
      </p:sp>
      <p:sp>
        <p:nvSpPr>
          <p:cNvPr id="11" name="Google Shape;96;p13">
            <a:extLst xmlns:a="http://schemas.openxmlformats.org/drawingml/2006/main">
              <a:ext uri="{FF2B5EF4-FFF2-40B4-BE49-F238E27FC236}">
                <a16:creationId xmlns:a16="http://schemas.microsoft.com/office/drawing/2014/main" id="{F83F706F-5A9C-429D-B1F1-47C1D00FCBBE}"/>
              </a:ext>
            </a:extLst>
          </p:cNvPr>
          <p:cNvSpPr>
            <a:spLocks xmlns:a="http://schemas.openxmlformats.org/drawingml/2006/main" noGrp="1"/>
          </p:cNvSpPr>
          <p:nvPr/>
        </p:nvSpPr>
        <p:spPr>
          <a:xfrm xmlns:a="http://schemas.openxmlformats.org/drawingml/2006/main">
            <a:off x="768350" y="1782763"/>
            <a:ext cx="4819650" cy="276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b="1">
                <a:solidFill>
                  <a:srgbClr val="005088"/>
                </a:solidFill>
                <a:latin typeface="微软雅黑"/>
                <a:ea typeface="微软雅黑"/>
                <a:cs typeface="微软雅黑"/>
              </a:rPr>
              <a:t>VINet: 端到端视惯融合里程计</a:t>
            </a:r>
            <a:endParaRPr sz="1800" b="1" i="0" u="none" cap="none">
              <a:solidFill>
                <a:srgbClr val="003366"/>
              </a:solidFill>
              <a:latin typeface="微软雅黑"/>
              <a:ea typeface="微软雅黑"/>
              <a:cs typeface="微软雅黑"/>
            </a:endParaRPr>
          </a:p>
        </p:txBody>
      </p:sp>
      <p:pic>
        <p:nvPicPr>
          <p:cNvPr id="33" name="Google Shape;98;p13"/>
          <p:cNvPicPr>
            <a:picLocks xmlns:a="http://schemas.openxmlformats.org/drawingml/2006/main" noChangeAspect="1"/>
          </p:cNvPicPr>
          <p:nvPr/>
        </p:nvPicPr>
        <p:blipFill rotWithShape="1">
          <a:blip xmlns:r="http://schemas.openxmlformats.org/officeDocument/2006/relationships" xmlns:a="http://schemas.openxmlformats.org/drawingml/2006/main" r:embed="R2c16a651bae74240"/>
          <a:srcRect xmlns:a="http://schemas.openxmlformats.org/drawingml/2006/main" l="0" t="0" r="0" b="0"/>
          <a:stretch xmlns:a="http://schemas.openxmlformats.org/drawingml/2006/main">
            <a:fillRect l="0" t="0" r="0" b="0"/>
          </a:stretch>
        </p:blipFill>
        <p:spPr>
          <a:xfrm xmlns:a="http://schemas.openxmlformats.org/drawingml/2006/main">
            <a:off x="396875" y="1806892"/>
            <a:ext cx="257175" cy="228600"/>
          </a:xfrm>
          <a:prstGeom xmlns:a="http://schemas.openxmlformats.org/drawingml/2006/main" prst="rect">
            <a:avLst/>
          </a:prstGeom>
          <a:ln xmlns:a="http://schemas.openxmlformats.org/drawingml/2006/main">
            <a:noFill/>
          </a:ln>
        </p:spPr>
      </p:pic>
      <p:sp>
        <p:nvSpPr>
          <p:cNvPr id="24" name="文本框 23">
            <a:extLst xmlns:a="http://schemas.openxmlformats.org/drawingml/2006/main">
              <a:ext uri="{FF2B5EF4-FFF2-40B4-BE49-F238E27FC236}">
                <a16:creationId xmlns:a16="http://schemas.microsoft.com/office/drawing/2014/main" id="{9AED9695-A8EE-443E-9357-83083244EBB6}"/>
              </a:ext>
            </a:extLst>
          </p:cNvPr>
          <p:cNvSpPr>
            <a:spLocks xmlns:a="http://schemas.openxmlformats.org/drawingml/2006/main" noGrp="1"/>
          </p:cNvSpPr>
          <p:nvPr/>
        </p:nvSpPr>
        <p:spPr>
          <a:xfrm xmlns:a="http://schemas.openxmlformats.org/drawingml/2006/main">
            <a:off x="6292850" y="5915660"/>
            <a:ext cx="4801870" cy="43815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spcBef>
                <a:spcPts val="0"/>
              </a:spcBef>
              <a:spcAft>
                <a:spcPts val="0"/>
              </a:spcAft>
              <a:buClrTx/>
              <a:buSzTx/>
              <a:buFontTx/>
              <a:buNone/>
            </a:pPr>
            <a:r>
              <a:rPr sz="1800" b="1">
                <a:solidFill>
                  <a:srgbClr val="003366"/>
                </a:solidFill>
                <a:latin typeface="Noto Sans SC"/>
                <a:ea typeface="Noto Sans SC"/>
                <a:cs typeface="Noto Sans SC"/>
              </a:rPr>
              <a:t>不同校准误差下的 OKVIS、VINet 效果对比</a:t>
            </a:r>
          </a:p>
        </p:txBody>
      </p:sp>
      <p:sp>
        <p:nvSpPr>
          <p:cNvPr id="14" name="文本框 13">
            <a:extLst xmlns:a="http://schemas.openxmlformats.org/drawingml/2006/main">
              <a:ext uri="{FF2B5EF4-FFF2-40B4-BE49-F238E27FC236}">
                <a16:creationId xmlns:a16="http://schemas.microsoft.com/office/drawing/2014/main" id="{877D1E93-5B07-464E-843A-D49B486EC749}"/>
              </a:ext>
            </a:extLst>
          </p:cNvPr>
          <p:cNvSpPr>
            <a:spLocks xmlns:a="http://schemas.openxmlformats.org/drawingml/2006/main" noGrp="1"/>
          </p:cNvSpPr>
          <p:nvPr/>
        </p:nvSpPr>
        <p:spPr>
          <a:xfrm xmlns:a="http://schemas.openxmlformats.org/drawingml/2006/main">
            <a:off x="567055" y="2521585"/>
            <a:ext cx="4210050" cy="82994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1600">
                <a:solidFill>
                  <a:srgbClr val="000000"/>
                </a:solidFill>
                <a:latin typeface="Times New Roman"/>
                <a:ea typeface="Times New Roman"/>
                <a:cs typeface="Times New Roman"/>
              </a:rPr>
              <a:t>VINet </a:t>
            </a:r>
            <a:r>
              <a:rPr sz="1600">
                <a:solidFill>
                  <a:srgbClr val="000000"/>
                </a:solidFill>
                <a:latin typeface="宋体"/>
                <a:ea typeface="宋体"/>
                <a:cs typeface="宋体"/>
              </a:rPr>
              <a:t>的运行流程主要分为视觉数据处理、惯性数据处理、数据融合三个步骤。在训练 </a:t>
            </a:r>
            <a:r>
              <a:rPr sz="1600">
                <a:solidFill>
                  <a:srgbClr val="000000"/>
                </a:solidFill>
                <a:latin typeface="Times New Roman"/>
                <a:ea typeface="Times New Roman"/>
                <a:cs typeface="Times New Roman"/>
              </a:rPr>
              <a:t>VINet </a:t>
            </a:r>
            <a:r>
              <a:rPr sz="1600">
                <a:solidFill>
                  <a:srgbClr val="000000"/>
                </a:solidFill>
                <a:latin typeface="宋体"/>
                <a:ea typeface="宋体"/>
                <a:cs typeface="宋体"/>
              </a:rPr>
              <a:t>时，需要构建两个损失函数，如下公式：</a:t>
            </a:r>
          </a:p>
        </p:txBody>
      </p:sp>
      <p:pic>
        <p:nvPicPr>
          <p:cNvPr id="36" name="图片 14"/>
          <p:cNvPicPr>
            <a:picLocks xmlns:a="http://schemas.openxmlformats.org/drawingml/2006/main" noChangeAspect="1"/>
          </p:cNvPicPr>
          <p:nvPr/>
        </p:nvPicPr>
        <p:blipFill>
          <a:blip xmlns:r="http://schemas.openxmlformats.org/officeDocument/2006/relationships" xmlns:a="http://schemas.openxmlformats.org/drawingml/2006/main" r:embed="R68e36c2106b1465b">
            <a:clrChange>
              <a:clrFrom>
                <a:srgbClr val="FFFFFF">
                  <a:alpha val="100000"/>
                </a:srgbClr>
              </a:clrFrom>
              <a:clrTo>
                <a:srgbClr val="FFFFFF">
                  <a:alpha val="100000"/>
                </a:srgbClr>
              </a:clrTo>
            </a:clrChange>
          </a:blip>
          <a:stretch xmlns:a="http://schemas.openxmlformats.org/drawingml/2006/main">
            <a:fillRect l="0" t="0" r="0" b="0"/>
          </a:stretch>
        </p:blipFill>
        <p:spPr>
          <a:xfrm xmlns:a="http://schemas.openxmlformats.org/drawingml/2006/main">
            <a:off x="1233170" y="3351530"/>
            <a:ext cx="2955925" cy="1011555"/>
          </a:xfrm>
          <a:prstGeom xmlns:a="http://schemas.openxmlformats.org/drawingml/2006/main" prst="rect">
            <a:avLst/>
          </a:prstGeom>
        </p:spPr>
      </p:pic>
      <p:sp>
        <p:nvSpPr>
          <p:cNvPr id="17" name="文本框 16">
            <a:extLst xmlns:a="http://schemas.openxmlformats.org/drawingml/2006/main">
              <a:ext uri="{FF2B5EF4-FFF2-40B4-BE49-F238E27FC236}">
                <a16:creationId xmlns:a16="http://schemas.microsoft.com/office/drawing/2014/main" id="{4428D45F-C7EC-4BCE-80AD-D6131CA0A2EC}"/>
              </a:ext>
            </a:extLst>
          </p:cNvPr>
          <p:cNvSpPr>
            <a:spLocks xmlns:a="http://schemas.openxmlformats.org/drawingml/2006/main" noGrp="1"/>
          </p:cNvSpPr>
          <p:nvPr/>
        </p:nvSpPr>
        <p:spPr>
          <a:xfrm xmlns:a="http://schemas.openxmlformats.org/drawingml/2006/main">
            <a:off x="490855" y="4391660"/>
            <a:ext cx="4403725" cy="9398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600">
                <a:solidFill>
                  <a:srgbClr val="000000"/>
                </a:solidFill>
                <a:latin typeface="宋体"/>
                <a:ea typeface="宋体"/>
                <a:cs typeface="宋体"/>
              </a:rPr>
              <a:t>其中，</a:t>
            </a:r>
            <a14:m xmlns:a14="http://schemas.microsoft.com/office/drawing/2010/main">
              <m:oMathPara xmlns:m="http://schemas.openxmlformats.org/officeDocument/2006/math">
                <m:oMath>
                  <m:r>
                    <a:rPr xmlns:a="http://schemas.openxmlformats.org/drawingml/2006/main" lang="en-US" sz="1600" i="1">
                      <a:solidFill>
                        <a:srgbClr val="000000"/>
                      </a:solidFill>
                      <a:latin typeface="Cambria Math"/>
                      <a:ea typeface="Cambria Math"/>
                      <a:cs typeface="Cambria Math"/>
                    </a:rPr>
                    <m:t>𝛼</m:t>
                  </m:r>
                  <m:r>
                    <a:rPr xmlns:a="http://schemas.openxmlformats.org/drawingml/2006/main" lang="en-US" sz="1600" i="1">
                      <a:solidFill>
                        <a:srgbClr val="000000"/>
                      </a:solidFill>
                      <a:latin typeface="Cambria Math"/>
                      <a:ea typeface="Cambria Math"/>
                      <a:cs typeface="Cambria Math"/>
                    </a:rPr>
                    <m:t>、</m:t>
                  </m:r>
                  <m:r>
                    <a:rPr xmlns:a="http://schemas.openxmlformats.org/drawingml/2006/main" lang="en-US" sz="1600" i="1">
                      <a:solidFill>
                        <a:srgbClr val="000000"/>
                      </a:solidFill>
                      <a:latin typeface="Cambria Math"/>
                      <a:ea typeface="Cambria Math"/>
                      <a:cs typeface="Cambria Math"/>
                    </a:rPr>
                    <m:t>𝛽</m:t>
                  </m:r>
                </m:oMath>
              </m:oMathPara>
            </a14:m>
            <a:r>
              <a:rPr sz="1600">
                <a:solidFill>
                  <a:srgbClr val="000000"/>
                </a:solidFill>
                <a:latin typeface="宋体"/>
                <a:ea typeface="宋体"/>
                <a:cs typeface="宋体"/>
              </a:rPr>
              <a:t>为权重系数；</a:t>
            </a:r>
            <a14:m xmlns:a14="http://schemas.microsoft.com/office/drawing/2010/main">
              <m:oMathPara xmlns:m="http://schemas.openxmlformats.org/officeDocument/2006/math">
                <m:oMath>
                  <m:r>
                    <a:rPr xmlns:a="http://schemas.openxmlformats.org/drawingml/2006/main" lang="en-US" sz="1600" i="1">
                      <a:solidFill>
                        <a:srgbClr val="000000"/>
                      </a:solidFill>
                      <a:latin typeface="Cambria Math"/>
                      <a:ea typeface="Cambria Math"/>
                      <a:cs typeface="Cambria Math"/>
                    </a:rPr>
                    <m:t>𝜔</m:t>
                  </m:r>
                  <m:r>
                    <a:rPr xmlns:a="http://schemas.openxmlformats.org/drawingml/2006/main" lang="en-US" sz="1600" i="1">
                      <a:solidFill>
                        <a:srgbClr val="000000"/>
                      </a:solidFill>
                      <a:latin typeface="Cambria Math"/>
                      <a:ea typeface="Cambria Math"/>
                      <a:cs typeface="Cambria Math"/>
                    </a:rPr>
                    <m:t>、</m:t>
                  </m:r>
                  <m:r>
                    <a:rPr xmlns:a="http://schemas.openxmlformats.org/drawingml/2006/main" lang="en-US" sz="1600" i="1">
                      <a:solidFill>
                        <a:srgbClr val="000000"/>
                      </a:solidFill>
                      <a:latin typeface="Cambria Math"/>
                      <a:ea typeface="Cambria Math"/>
                      <a:cs typeface="Cambria Math"/>
                    </a:rPr>
                    <m:t>𝑣</m:t>
                  </m:r>
                </m:oMath>
              </m:oMathPara>
            </a14:m>
            <a:r>
              <a:rPr sz="1600">
                <a:solidFill>
                  <a:srgbClr val="000000"/>
                </a:solidFill>
                <a:latin typeface="宋体"/>
                <a:ea typeface="宋体"/>
                <a:cs typeface="宋体"/>
              </a:rPr>
              <a:t>为神经网络估计出的角速度、线速度；</a:t>
            </a:r>
            <a:r>
              <a:rPr sz="1600" b="1" i="1">
                <a:solidFill>
                  <a:srgbClr val="000000"/>
                </a:solidFill>
                <a:latin typeface="宋体"/>
                <a:ea typeface="宋体"/>
                <a:cs typeface="宋体"/>
              </a:rPr>
              <a:t>q</a:t>
            </a:r>
            <a:r>
              <a:rPr sz="1600" b="1" i="1">
                <a:solidFill>
                  <a:srgbClr val="000000"/>
                </a:solidFill>
                <a:latin typeface="宋体"/>
                <a:ea typeface="宋体"/>
                <a:cs typeface="宋体"/>
              </a:rPr>
              <a:t>、</a:t>
            </a:r>
            <a:r>
              <a:rPr sz="1600" b="1" i="1">
                <a:solidFill>
                  <a:srgbClr val="000000"/>
                </a:solidFill>
                <a:latin typeface="宋体"/>
                <a:ea typeface="宋体"/>
                <a:cs typeface="宋体"/>
              </a:rPr>
              <a:t>T</a:t>
            </a:r>
            <a:r>
              <a:rPr sz="1600">
                <a:solidFill>
                  <a:srgbClr val="000000"/>
                </a:solidFill>
                <a:latin typeface="宋体"/>
                <a:ea typeface="宋体"/>
                <a:cs typeface="宋体"/>
              </a:rPr>
              <a:t>为 VIO 估计出的四元数、位移。</a:t>
            </a:r>
          </a:p>
        </p:txBody>
      </p:sp>
    </p:spTree>
    <p:extLst>
      <p:ext uri="{BB962C8B-B14F-4D97-AF65-F5344CB8AC3E}">
        <p14:creationId xmlns:p14="http://schemas.microsoft.com/office/powerpoint/2010/main" val="22716608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68" name="圆角矩形 67">
            <a:extLst xmlns:a="http://schemas.openxmlformats.org/drawingml/2006/main">
              <a:ext uri="{FF2B5EF4-FFF2-40B4-BE49-F238E27FC236}">
                <a16:creationId xmlns:a16="http://schemas.microsoft.com/office/drawing/2014/main" id="{BEBAF8CC-9E3E-479A-92AB-A25DBB03C377}"/>
              </a:ext>
            </a:extLst>
          </p:cNvPr>
          <p:cNvSpPr>
            <a:spLocks xmlns:a="http://schemas.openxmlformats.org/drawingml/2006/main" noGrp="1"/>
          </p:cNvSpPr>
          <p:nvPr/>
        </p:nvSpPr>
        <p:spPr>
          <a:xfrm xmlns:a="http://schemas.openxmlformats.org/drawingml/2006/main">
            <a:off x="389255" y="2642870"/>
            <a:ext cx="4928235" cy="2520950"/>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矩形 2">
            <a:extLst xmlns:a="http://schemas.openxmlformats.org/drawingml/2006/main">
              <a:ext uri="{FF2B5EF4-FFF2-40B4-BE49-F238E27FC236}">
                <a16:creationId xmlns:a16="http://schemas.microsoft.com/office/drawing/2014/main" id="{6F2E7C23-23AB-4393-90B6-288A49C4FCD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829BAF0E-2A1E-412E-A3F4-75C202945AED}"/>
              </a:ext>
            </a:extLst>
          </p:cNvPr>
          <p:cNvSpPr>
            <a:spLocks xmlns:a="http://schemas.openxmlformats.org/drawingml/2006/main" noGrp="1"/>
          </p:cNvSpPr>
          <p:nvPr/>
        </p:nvSpPr>
        <p:spPr>
          <a:xfrm xmlns:a="http://schemas.openxmlformats.org/drawingml/2006/main" rot="0" flipH="0" flipV="0">
            <a:off x="271145" y="1021713"/>
            <a:ext cx="65786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5.3.3 </a:t>
            </a:r>
            <a:r>
              <a:rPr sz="2400" b="1">
                <a:solidFill>
                  <a:schemeClr val="accent1"/>
                </a:solidFill>
                <a:latin typeface="+mj-lt"/>
                <a:ea typeface="+mj-lt"/>
                <a:cs typeface="+mj-lt"/>
              </a:rPr>
              <a:t>基于深度学习的同步定位与建图</a:t>
            </a:r>
            <a:endParaRPr sz="2400" b="1">
              <a:solidFill>
                <a:srgbClr val="005088"/>
              </a:solidFill>
              <a:latin typeface="微软雅黑"/>
              <a:ea typeface="微软雅黑"/>
              <a:cs typeface="微软雅黑"/>
            </a:endParaRPr>
          </a:p>
        </p:txBody>
      </p:sp>
      <p:sp>
        <p:nvSpPr>
          <p:cNvPr id="67" name="文本框 66">
            <a:extLst xmlns:a="http://schemas.openxmlformats.org/drawingml/2006/main">
              <a:ext uri="{FF2B5EF4-FFF2-40B4-BE49-F238E27FC236}">
                <a16:creationId xmlns:a16="http://schemas.microsoft.com/office/drawing/2014/main" id="{3589AE5F-78BC-4363-9436-31B3DFCA707F}"/>
              </a:ext>
            </a:extLst>
          </p:cNvPr>
          <p:cNvSpPr>
            <a:spLocks xmlns:a="http://schemas.openxmlformats.org/drawingml/2006/main" noGrp="1"/>
          </p:cNvSpPr>
          <p:nvPr/>
        </p:nvSpPr>
        <p:spPr>
          <a:xfrm xmlns:a="http://schemas.openxmlformats.org/drawingml/2006/main">
            <a:off x="606425" y="2807335"/>
            <a:ext cx="4711065" cy="21685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0">
              <a:lnSpc>
                <a:spcPct val="150000"/>
              </a:lnSpc>
              <a:buNone/>
            </a:pPr>
            <a:r>
              <a:rPr>
                <a:solidFill>
                  <a:schemeClr val="bg1"/>
                </a:solidFill>
              </a:rPr>
              <a:t>同步定位与建图（</a:t>
            </a:r>
            <a:r>
              <a:rPr>
                <a:solidFill>
                  <a:schemeClr val="bg1"/>
                </a:solidFill>
              </a:rPr>
              <a:t>simultaneous localization and mapping</a:t>
            </a:r>
            <a:r>
              <a:rPr>
                <a:solidFill>
                  <a:schemeClr val="bg1"/>
                </a:solidFill>
              </a:rPr>
              <a:t>，</a:t>
            </a:r>
            <a:r>
              <a:rPr>
                <a:solidFill>
                  <a:schemeClr val="bg1"/>
                </a:solidFill>
              </a:rPr>
              <a:t>SLAM</a:t>
            </a:r>
            <a:r>
              <a:rPr>
                <a:solidFill>
                  <a:schemeClr val="bg1"/>
                </a:solidFill>
              </a:rPr>
              <a:t>）技术可以描述为智能</a:t>
            </a:r>
          </a:p>
          <a:p xmlns:a="http://schemas.openxmlformats.org/drawingml/2006/main">
            <a:pPr indent="0">
              <a:lnSpc>
                <a:spcPct val="150000"/>
              </a:lnSpc>
              <a:buNone/>
            </a:pPr>
            <a:r>
              <a:rPr>
                <a:solidFill>
                  <a:schemeClr val="bg1"/>
                </a:solidFill>
              </a:rPr>
              <a:t>机器人在未知环境中，通过本体携带的传感器进行数据采集，进行位姿估计和定位，构建增量式地图，从而实现自主定位和导航。</a:t>
            </a:r>
          </a:p>
        </p:txBody>
      </p:sp>
      <p:pic>
        <p:nvPicPr>
          <p:cNvPr id="74" name="图片 68"/>
          <p:cNvPicPr>
            <a:picLocks xmlns:a="http://schemas.openxmlformats.org/drawingml/2006/main" noChangeAspect="1"/>
          </p:cNvPicPr>
          <p:nvPr/>
        </p:nvPicPr>
        <p:blipFill>
          <a:blip xmlns:r="http://schemas.openxmlformats.org/officeDocument/2006/relationships" xmlns:a="http://schemas.openxmlformats.org/drawingml/2006/main" r:embed="Rcbe8f57522dc4785"/>
          <a:stretch xmlns:a="http://schemas.openxmlformats.org/drawingml/2006/main">
            <a:fillRect l="0" t="0" r="0" b="0"/>
          </a:stretch>
        </p:blipFill>
        <p:spPr>
          <a:xfrm xmlns:a="http://schemas.openxmlformats.org/drawingml/2006/main">
            <a:off x="5739130" y="2259330"/>
            <a:ext cx="6059170" cy="3070225"/>
          </a:xfrm>
          <a:prstGeom xmlns:a="http://schemas.openxmlformats.org/drawingml/2006/main" prst="rect">
            <a:avLst/>
          </a:prstGeom>
        </p:spPr>
      </p:pic>
    </p:spTree>
    <p:extLst>
      <p:ext uri="{BB962C8B-B14F-4D97-AF65-F5344CB8AC3E}">
        <p14:creationId xmlns:p14="http://schemas.microsoft.com/office/powerpoint/2010/main" val="1807458240"/>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9" name="圆角矩形 8">
            <a:extLst xmlns:a="http://schemas.openxmlformats.org/drawingml/2006/main">
              <a:ext uri="{FF2B5EF4-FFF2-40B4-BE49-F238E27FC236}">
                <a16:creationId xmlns:a16="http://schemas.microsoft.com/office/drawing/2014/main" id="{6B4DCC3E-669F-498F-8BEC-58D5233CCF42}"/>
              </a:ext>
            </a:extLst>
          </p:cNvPr>
          <p:cNvSpPr>
            <a:spLocks xmlns:a="http://schemas.openxmlformats.org/drawingml/2006/main" noGrp="1"/>
          </p:cNvSpPr>
          <p:nvPr/>
        </p:nvSpPr>
        <p:spPr>
          <a:xfrm xmlns:a="http://schemas.openxmlformats.org/drawingml/2006/main">
            <a:off x="5850890" y="5271135"/>
            <a:ext cx="5581015" cy="101981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圆角矩形 4">
            <a:extLst xmlns:a="http://schemas.openxmlformats.org/drawingml/2006/main">
              <a:ext uri="{FF2B5EF4-FFF2-40B4-BE49-F238E27FC236}">
                <a16:creationId xmlns:a16="http://schemas.microsoft.com/office/drawing/2014/main" id="{B5B987BB-4BE5-4065-B9B2-27075715C679}"/>
              </a:ext>
            </a:extLst>
          </p:cNvPr>
          <p:cNvSpPr>
            <a:spLocks xmlns:a="http://schemas.openxmlformats.org/drawingml/2006/main" noGrp="1"/>
          </p:cNvSpPr>
          <p:nvPr/>
        </p:nvSpPr>
        <p:spPr>
          <a:xfrm xmlns:a="http://schemas.openxmlformats.org/drawingml/2006/main">
            <a:off x="173990" y="2985135"/>
            <a:ext cx="5261610" cy="267716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200"/>
          </a:p>
        </p:txBody>
      </p:sp>
      <p:sp>
        <p:nvSpPr>
          <p:cNvPr id="3" name="矩形 2">
            <a:extLst xmlns:a="http://schemas.openxmlformats.org/drawingml/2006/main">
              <a:ext uri="{FF2B5EF4-FFF2-40B4-BE49-F238E27FC236}">
                <a16:creationId xmlns:a16="http://schemas.microsoft.com/office/drawing/2014/main" id="{2F8D33AA-8CDC-4837-A8B3-2C2B40623E01}"/>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31A604DD-9368-43C5-A319-9547C0C58965}"/>
              </a:ext>
            </a:extLst>
          </p:cNvPr>
          <p:cNvSpPr>
            <a:spLocks xmlns:a="http://schemas.openxmlformats.org/drawingml/2006/main" noGrp="1"/>
          </p:cNvSpPr>
          <p:nvPr/>
        </p:nvSpPr>
        <p:spPr>
          <a:xfrm xmlns:a="http://schemas.openxmlformats.org/drawingml/2006/main" rot="0" flipH="0" flipV="0">
            <a:off x="271145" y="1021713"/>
            <a:ext cx="65786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5.3.3 </a:t>
            </a:r>
            <a:r>
              <a:rPr sz="2400" b="1">
                <a:solidFill>
                  <a:schemeClr val="accent1"/>
                </a:solidFill>
                <a:latin typeface="+mj-lt"/>
                <a:ea typeface="+mj-lt"/>
                <a:cs typeface="+mj-lt"/>
              </a:rPr>
              <a:t>基于深度学习的同步定位与建图</a:t>
            </a:r>
            <a:endParaRPr sz="2400" b="1">
              <a:solidFill>
                <a:srgbClr val="005088"/>
              </a:solidFill>
              <a:latin typeface="微软雅黑"/>
              <a:ea typeface="微软雅黑"/>
              <a:cs typeface="微软雅黑"/>
            </a:endParaRPr>
          </a:p>
        </p:txBody>
      </p:sp>
      <p:sp>
        <p:nvSpPr>
          <p:cNvPr id="100" name="Google Shape;100;p15">
            <a:extLst xmlns:a="http://schemas.openxmlformats.org/drawingml/2006/main">
              <a:ext uri="{FF2B5EF4-FFF2-40B4-BE49-F238E27FC236}">
                <a16:creationId xmlns:a16="http://schemas.microsoft.com/office/drawing/2014/main" id="{94C81470-EB34-47B4-AAB0-C1824A9E9877}"/>
              </a:ext>
            </a:extLst>
          </p:cNvPr>
          <p:cNvSpPr>
            <a:spLocks xmlns:a="http://schemas.openxmlformats.org/drawingml/2006/main" noGrp="1"/>
          </p:cNvSpPr>
          <p:nvPr/>
        </p:nvSpPr>
        <p:spPr>
          <a:xfrm xmlns:a="http://schemas.openxmlformats.org/drawingml/2006/main">
            <a:off x="792480" y="3156585"/>
            <a:ext cx="5701665" cy="294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200" b="1" i="0" u="none" cap="none">
                <a:solidFill>
                  <a:srgbClr val="334155"/>
                </a:solidFill>
                <a:latin typeface="微软雅黑"/>
                <a:ea typeface="微软雅黑"/>
                <a:cs typeface="微软雅黑"/>
              </a:rPr>
              <a:t>传感器数据采集：</a:t>
            </a:r>
            <a:r>
              <a:rPr sz="1200" b="0" i="0" u="none" cap="none">
                <a:solidFill>
                  <a:srgbClr val="334155"/>
                </a:solidFill>
                <a:latin typeface="微软雅黑"/>
                <a:ea typeface="微软雅黑"/>
                <a:cs typeface="微软雅黑"/>
              </a:rPr>
              <a:t> 通过激光雷达、相机及IMU采集原始环境信息。</a:t>
            </a:r>
          </a:p>
        </p:txBody>
      </p:sp>
      <p:sp>
        <p:nvSpPr>
          <p:cNvPr id="101" name="Google Shape;101;p15">
            <a:extLst xmlns:a="http://schemas.openxmlformats.org/drawingml/2006/main">
              <a:ext uri="{FF2B5EF4-FFF2-40B4-BE49-F238E27FC236}">
                <a16:creationId xmlns:a16="http://schemas.microsoft.com/office/drawing/2014/main" id="{A6642515-1493-4A55-BC81-6A37B8DF1212}"/>
              </a:ext>
            </a:extLst>
          </p:cNvPr>
          <p:cNvSpPr>
            <a:spLocks xmlns:a="http://schemas.openxmlformats.org/drawingml/2006/main" noGrp="1"/>
          </p:cNvSpPr>
          <p:nvPr/>
        </p:nvSpPr>
        <p:spPr>
          <a:xfrm xmlns:a="http://schemas.openxmlformats.org/drawingml/2006/main">
            <a:off x="792480" y="3632835"/>
            <a:ext cx="5404485" cy="294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200" b="1" i="0" u="none" cap="none">
                <a:solidFill>
                  <a:srgbClr val="334155"/>
                </a:solidFill>
                <a:latin typeface="微软雅黑"/>
                <a:ea typeface="微软雅黑"/>
                <a:cs typeface="微软雅黑"/>
              </a:rPr>
              <a:t>前端里程计：</a:t>
            </a:r>
            <a:r>
              <a:rPr sz="1200" b="0" i="0" u="none" cap="none">
                <a:solidFill>
                  <a:srgbClr val="334155"/>
                </a:solidFill>
                <a:latin typeface="微软雅黑"/>
                <a:ea typeface="微软雅黑"/>
                <a:cs typeface="微软雅黑"/>
              </a:rPr>
              <a:t> 快速估算相邻帧间的位姿变换，提供初步定位。</a:t>
            </a:r>
          </a:p>
        </p:txBody>
      </p:sp>
      <p:sp>
        <p:nvSpPr>
          <p:cNvPr id="102" name="Google Shape;102;p15">
            <a:extLst xmlns:a="http://schemas.openxmlformats.org/drawingml/2006/main">
              <a:ext uri="{FF2B5EF4-FFF2-40B4-BE49-F238E27FC236}">
                <a16:creationId xmlns:a16="http://schemas.microsoft.com/office/drawing/2014/main" id="{6A443237-6699-4167-9A35-CDFEBE45D4AB}"/>
              </a:ext>
            </a:extLst>
          </p:cNvPr>
          <p:cNvSpPr>
            <a:spLocks xmlns:a="http://schemas.openxmlformats.org/drawingml/2006/main" noGrp="1"/>
          </p:cNvSpPr>
          <p:nvPr/>
        </p:nvSpPr>
        <p:spPr>
          <a:xfrm xmlns:a="http://schemas.openxmlformats.org/drawingml/2006/main">
            <a:off x="792480" y="4109085"/>
            <a:ext cx="5908040" cy="294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200" b="1" i="0" u="none" cap="none">
                <a:solidFill>
                  <a:srgbClr val="334155"/>
                </a:solidFill>
                <a:latin typeface="微软雅黑"/>
                <a:ea typeface="微软雅黑"/>
                <a:cs typeface="微软雅黑"/>
              </a:rPr>
              <a:t>后端优化：</a:t>
            </a:r>
            <a:r>
              <a:rPr sz="1200" b="0" i="0" u="none" cap="none">
                <a:solidFill>
                  <a:srgbClr val="334155"/>
                </a:solidFill>
                <a:latin typeface="微软雅黑"/>
                <a:ea typeface="微软雅黑"/>
                <a:cs typeface="微软雅黑"/>
              </a:rPr>
              <a:t> 负责全局轨迹优化，消除累计误差，确保轨迹一致性。</a:t>
            </a:r>
          </a:p>
        </p:txBody>
      </p:sp>
      <p:sp>
        <p:nvSpPr>
          <p:cNvPr id="103" name="Google Shape;103;p15">
            <a:extLst xmlns:a="http://schemas.openxmlformats.org/drawingml/2006/main">
              <a:ext uri="{FF2B5EF4-FFF2-40B4-BE49-F238E27FC236}">
                <a16:creationId xmlns:a16="http://schemas.microsoft.com/office/drawing/2014/main" id="{DB1DFF1E-333A-4314-A691-0B79160AE45A}"/>
              </a:ext>
            </a:extLst>
          </p:cNvPr>
          <p:cNvSpPr>
            <a:spLocks xmlns:a="http://schemas.openxmlformats.org/drawingml/2006/main" noGrp="1"/>
          </p:cNvSpPr>
          <p:nvPr/>
        </p:nvSpPr>
        <p:spPr>
          <a:xfrm xmlns:a="http://schemas.openxmlformats.org/drawingml/2006/main">
            <a:off x="792480" y="4585335"/>
            <a:ext cx="5579110" cy="294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200" b="1" i="0" u="none" cap="none">
                <a:solidFill>
                  <a:srgbClr val="334155"/>
                </a:solidFill>
                <a:latin typeface="微软雅黑"/>
                <a:ea typeface="微软雅黑"/>
                <a:cs typeface="微软雅黑"/>
              </a:rPr>
              <a:t>闭环检测：</a:t>
            </a:r>
            <a:r>
              <a:rPr sz="1200" b="0" i="0" u="none" cap="none">
                <a:solidFill>
                  <a:srgbClr val="334155"/>
                </a:solidFill>
                <a:latin typeface="微软雅黑"/>
                <a:ea typeface="微软雅黑"/>
                <a:cs typeface="微软雅黑"/>
              </a:rPr>
              <a:t> 识别机器人是否经过相同地点，实现轨迹修正。</a:t>
            </a:r>
          </a:p>
        </p:txBody>
      </p:sp>
      <p:sp>
        <p:nvSpPr>
          <p:cNvPr id="104" name="Google Shape;104;p15">
            <a:extLst xmlns:a="http://schemas.openxmlformats.org/drawingml/2006/main">
              <a:ext uri="{FF2B5EF4-FFF2-40B4-BE49-F238E27FC236}">
                <a16:creationId xmlns:a16="http://schemas.microsoft.com/office/drawing/2014/main" id="{566B4EE3-541B-4B3C-8C0A-A3CA0EA217B2}"/>
              </a:ext>
            </a:extLst>
          </p:cNvPr>
          <p:cNvSpPr>
            <a:spLocks xmlns:a="http://schemas.openxmlformats.org/drawingml/2006/main" noGrp="1"/>
          </p:cNvSpPr>
          <p:nvPr/>
        </p:nvSpPr>
        <p:spPr>
          <a:xfrm xmlns:a="http://schemas.openxmlformats.org/drawingml/2006/main">
            <a:off x="792480" y="5061585"/>
            <a:ext cx="6454140" cy="294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200" b="1" i="0" u="none" cap="none">
                <a:solidFill>
                  <a:srgbClr val="334155"/>
                </a:solidFill>
                <a:latin typeface="微软雅黑"/>
                <a:ea typeface="微软雅黑"/>
                <a:cs typeface="微软雅黑"/>
              </a:rPr>
              <a:t>地图构建：</a:t>
            </a:r>
            <a:r>
              <a:rPr sz="1200" b="0" i="0" u="none" cap="none">
                <a:solidFill>
                  <a:srgbClr val="334155"/>
                </a:solidFill>
                <a:latin typeface="微软雅黑"/>
                <a:ea typeface="微软雅黑"/>
                <a:cs typeface="微软雅黑"/>
              </a:rPr>
              <a:t> 构建栅格地图、点云地图或语义地图以支持导航。</a:t>
            </a:r>
          </a:p>
        </p:txBody>
      </p:sp>
      <p:pic>
        <p:nvPicPr>
          <p:cNvPr id="126" name="Google Shape;105;p15"/>
          <p:cNvPicPr>
            <a:picLocks xmlns:a="http://schemas.openxmlformats.org/drawingml/2006/main" noChangeAspect="1"/>
          </p:cNvPicPr>
          <p:nvPr/>
        </p:nvPicPr>
        <p:blipFill rotWithShape="1">
          <a:blip xmlns:r="http://schemas.openxmlformats.org/officeDocument/2006/relationships" xmlns:a="http://schemas.openxmlformats.org/drawingml/2006/main" r:embed="R76b7a536303149e9"/>
          <a:srcRect xmlns:a="http://schemas.openxmlformats.org/drawingml/2006/main" l="0" t="0" r="0" b="0"/>
          <a:stretch xmlns:a="http://schemas.openxmlformats.org/drawingml/2006/main">
            <a:fillRect l="0" t="0" r="0" b="0"/>
          </a:stretch>
        </p:blipFill>
        <p:spPr>
          <a:xfrm xmlns:a="http://schemas.openxmlformats.org/drawingml/2006/main">
            <a:off x="363855" y="3213893"/>
            <a:ext cx="228600" cy="247650"/>
          </a:xfrm>
          <a:prstGeom xmlns:a="http://schemas.openxmlformats.org/drawingml/2006/main" prst="rect">
            <a:avLst/>
          </a:prstGeom>
          <a:ln xmlns:a="http://schemas.openxmlformats.org/drawingml/2006/main">
            <a:noFill/>
          </a:ln>
        </p:spPr>
      </p:pic>
      <p:pic>
        <p:nvPicPr>
          <p:cNvPr id="127" name="Google Shape;106;p15"/>
          <p:cNvPicPr>
            <a:picLocks xmlns:a="http://schemas.openxmlformats.org/drawingml/2006/main" noChangeAspect="1"/>
          </p:cNvPicPr>
          <p:nvPr/>
        </p:nvPicPr>
        <p:blipFill rotWithShape="1">
          <a:blip xmlns:r="http://schemas.openxmlformats.org/officeDocument/2006/relationships" xmlns:a="http://schemas.openxmlformats.org/drawingml/2006/main" r:embed="Re999fbe0ebdc4d4d"/>
          <a:srcRect xmlns:a="http://schemas.openxmlformats.org/drawingml/2006/main" l="0" t="0" r="0" b="0"/>
          <a:stretch xmlns:a="http://schemas.openxmlformats.org/drawingml/2006/main">
            <a:fillRect l="0" t="0" r="0" b="0"/>
          </a:stretch>
        </p:blipFill>
        <p:spPr>
          <a:xfrm xmlns:a="http://schemas.openxmlformats.org/drawingml/2006/main">
            <a:off x="363855" y="3690143"/>
            <a:ext cx="228600" cy="247650"/>
          </a:xfrm>
          <a:prstGeom xmlns:a="http://schemas.openxmlformats.org/drawingml/2006/main" prst="rect">
            <a:avLst/>
          </a:prstGeom>
          <a:ln xmlns:a="http://schemas.openxmlformats.org/drawingml/2006/main">
            <a:noFill/>
          </a:ln>
        </p:spPr>
      </p:pic>
      <p:pic>
        <p:nvPicPr>
          <p:cNvPr id="128" name="Google Shape;107;p15"/>
          <p:cNvPicPr>
            <a:picLocks xmlns:a="http://schemas.openxmlformats.org/drawingml/2006/main" noChangeAspect="1"/>
          </p:cNvPicPr>
          <p:nvPr/>
        </p:nvPicPr>
        <p:blipFill rotWithShape="1">
          <a:blip xmlns:r="http://schemas.openxmlformats.org/officeDocument/2006/relationships" xmlns:a="http://schemas.openxmlformats.org/drawingml/2006/main" r:embed="Rcb91e4056a4348be"/>
          <a:srcRect xmlns:a="http://schemas.openxmlformats.org/drawingml/2006/main" l="0" t="0" r="0" b="0"/>
          <a:stretch xmlns:a="http://schemas.openxmlformats.org/drawingml/2006/main">
            <a:fillRect l="0" t="0" r="0" b="0"/>
          </a:stretch>
        </p:blipFill>
        <p:spPr>
          <a:xfrm xmlns:a="http://schemas.openxmlformats.org/drawingml/2006/main">
            <a:off x="363855" y="4166393"/>
            <a:ext cx="257175" cy="247650"/>
          </a:xfrm>
          <a:prstGeom xmlns:a="http://schemas.openxmlformats.org/drawingml/2006/main" prst="rect">
            <a:avLst/>
          </a:prstGeom>
          <a:ln xmlns:a="http://schemas.openxmlformats.org/drawingml/2006/main">
            <a:noFill/>
          </a:ln>
        </p:spPr>
      </p:pic>
      <p:pic>
        <p:nvPicPr>
          <p:cNvPr id="129" name="Google Shape;108;p15"/>
          <p:cNvPicPr>
            <a:picLocks xmlns:a="http://schemas.openxmlformats.org/drawingml/2006/main" noChangeAspect="1"/>
          </p:cNvPicPr>
          <p:nvPr/>
        </p:nvPicPr>
        <p:blipFill rotWithShape="1">
          <a:blip xmlns:r="http://schemas.openxmlformats.org/officeDocument/2006/relationships" xmlns:a="http://schemas.openxmlformats.org/drawingml/2006/main" r:embed="Ra2de492634f449c6"/>
          <a:srcRect xmlns:a="http://schemas.openxmlformats.org/drawingml/2006/main" l="0" t="0" r="0" b="0"/>
          <a:stretch xmlns:a="http://schemas.openxmlformats.org/drawingml/2006/main">
            <a:fillRect l="0" t="0" r="0" b="0"/>
          </a:stretch>
        </p:blipFill>
        <p:spPr>
          <a:xfrm xmlns:a="http://schemas.openxmlformats.org/drawingml/2006/main">
            <a:off x="363855" y="4642643"/>
            <a:ext cx="228600" cy="247650"/>
          </a:xfrm>
          <a:prstGeom xmlns:a="http://schemas.openxmlformats.org/drawingml/2006/main" prst="rect">
            <a:avLst/>
          </a:prstGeom>
          <a:ln xmlns:a="http://schemas.openxmlformats.org/drawingml/2006/main">
            <a:noFill/>
          </a:ln>
        </p:spPr>
      </p:pic>
      <p:pic>
        <p:nvPicPr>
          <p:cNvPr id="130" name="Google Shape;109;p15"/>
          <p:cNvPicPr>
            <a:picLocks xmlns:a="http://schemas.openxmlformats.org/drawingml/2006/main" noChangeAspect="1"/>
          </p:cNvPicPr>
          <p:nvPr/>
        </p:nvPicPr>
        <p:blipFill rotWithShape="1">
          <a:blip xmlns:r="http://schemas.openxmlformats.org/officeDocument/2006/relationships" xmlns:a="http://schemas.openxmlformats.org/drawingml/2006/main" r:embed="R9a32ac342b824b6f"/>
          <a:srcRect xmlns:a="http://schemas.openxmlformats.org/drawingml/2006/main" l="0" t="0" r="0" b="0"/>
          <a:stretch xmlns:a="http://schemas.openxmlformats.org/drawingml/2006/main">
            <a:fillRect l="0" t="0" r="0" b="0"/>
          </a:stretch>
        </p:blipFill>
        <p:spPr>
          <a:xfrm xmlns:a="http://schemas.openxmlformats.org/drawingml/2006/main">
            <a:off x="363855" y="5118893"/>
            <a:ext cx="257175" cy="247650"/>
          </a:xfrm>
          <a:prstGeom xmlns:a="http://schemas.openxmlformats.org/drawingml/2006/main" prst="rect">
            <a:avLst/>
          </a:prstGeom>
          <a:ln xmlns:a="http://schemas.openxmlformats.org/drawingml/2006/main">
            <a:noFill/>
          </a:ln>
        </p:spPr>
      </p:pic>
      <p:sp>
        <p:nvSpPr>
          <p:cNvPr id="110" name="Google Shape;110;p15">
            <a:extLst xmlns:a="http://schemas.openxmlformats.org/drawingml/2006/main">
              <a:ext uri="{FF2B5EF4-FFF2-40B4-BE49-F238E27FC236}">
                <a16:creationId xmlns:a16="http://schemas.microsoft.com/office/drawing/2014/main" id="{C2F87961-E4EB-44DA-A7B8-7A7E1858A0E6}"/>
              </a:ext>
            </a:extLst>
          </p:cNvPr>
          <p:cNvSpPr>
            <a:spLocks xmlns:a="http://schemas.openxmlformats.org/drawingml/2006/main" noGrp="1"/>
          </p:cNvSpPr>
          <p:nvPr/>
        </p:nvSpPr>
        <p:spPr>
          <a:xfrm xmlns:a="http://schemas.openxmlformats.org/drawingml/2006/main">
            <a:off x="363855" y="2524760"/>
            <a:ext cx="5402580" cy="3073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000" b="1" i="0" u="none" cap="none">
                <a:solidFill>
                  <a:srgbClr val="005088"/>
                </a:solidFill>
                <a:latin typeface="微软雅黑"/>
                <a:ea typeface="微软雅黑"/>
                <a:cs typeface="微软雅黑"/>
              </a:rPr>
              <a:t>SLAM系统的五个核心模块</a:t>
            </a:r>
          </a:p>
        </p:txBody>
      </p:sp>
      <p:pic>
        <p:nvPicPr>
          <p:cNvPr id="132" name="图片 5"/>
          <p:cNvPicPr>
            <a:picLocks xmlns:a="http://schemas.openxmlformats.org/drawingml/2006/main" noChangeAspect="1"/>
          </p:cNvPicPr>
          <p:nvPr/>
        </p:nvPicPr>
        <p:blipFill>
          <a:blip xmlns:r="http://schemas.openxmlformats.org/officeDocument/2006/relationships" xmlns:a="http://schemas.openxmlformats.org/drawingml/2006/main" r:embed="R48838920d78a48eb"/>
          <a:stretch xmlns:a="http://schemas.openxmlformats.org/drawingml/2006/main">
            <a:fillRect l="0" t="0" r="0" b="0"/>
          </a:stretch>
        </p:blipFill>
        <p:spPr>
          <a:xfrm xmlns:a="http://schemas.openxmlformats.org/drawingml/2006/main">
            <a:off x="5592445" y="2150110"/>
            <a:ext cx="6392545" cy="2911475"/>
          </a:xfrm>
          <a:prstGeom xmlns:a="http://schemas.openxmlformats.org/drawingml/2006/main" prst="rect">
            <a:avLst/>
          </a:prstGeom>
        </p:spPr>
      </p:pic>
      <p:sp>
        <p:nvSpPr>
          <p:cNvPr id="7" name="文本框 6">
            <a:extLst xmlns:a="http://schemas.openxmlformats.org/drawingml/2006/main">
              <a:ext uri="{FF2B5EF4-FFF2-40B4-BE49-F238E27FC236}">
                <a16:creationId xmlns:a16="http://schemas.microsoft.com/office/drawing/2014/main" id="{2B689734-9A7C-4FDF-8968-6F93A063652C}"/>
              </a:ext>
            </a:extLst>
          </p:cNvPr>
          <p:cNvSpPr>
            <a:spLocks xmlns:a="http://schemas.openxmlformats.org/drawingml/2006/main" noGrp="1"/>
          </p:cNvSpPr>
          <p:nvPr/>
        </p:nvSpPr>
        <p:spPr>
          <a:xfrm xmlns:a="http://schemas.openxmlformats.org/drawingml/2006/main">
            <a:off x="7814310" y="1635760"/>
            <a:ext cx="2117725"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chemeClr val="accent1"/>
                </a:solidFill>
                <a:latin typeface="微软雅黑"/>
                <a:ea typeface="微软雅黑"/>
                <a:cs typeface="微软雅黑"/>
              </a:rPr>
              <a:t>SLAM </a:t>
            </a:r>
            <a:r>
              <a:rPr b="1">
                <a:solidFill>
                  <a:schemeClr val="accent1"/>
                </a:solidFill>
                <a:latin typeface="微软雅黑"/>
                <a:ea typeface="微软雅黑"/>
                <a:cs typeface="微软雅黑"/>
              </a:rPr>
              <a:t>系统框架</a:t>
            </a:r>
          </a:p>
        </p:txBody>
      </p:sp>
      <p:sp>
        <p:nvSpPr>
          <p:cNvPr id="8" name="文本框 7">
            <a:extLst xmlns:a="http://schemas.openxmlformats.org/drawingml/2006/main">
              <a:ext uri="{FF2B5EF4-FFF2-40B4-BE49-F238E27FC236}">
                <a16:creationId xmlns:a16="http://schemas.microsoft.com/office/drawing/2014/main" id="{B3E54155-A68C-4B80-ADDC-EB6F1DCC2238}"/>
              </a:ext>
            </a:extLst>
          </p:cNvPr>
          <p:cNvSpPr>
            <a:spLocks xmlns:a="http://schemas.openxmlformats.org/drawingml/2006/main" noGrp="1"/>
          </p:cNvSpPr>
          <p:nvPr/>
        </p:nvSpPr>
        <p:spPr>
          <a:xfrm xmlns:a="http://schemas.openxmlformats.org/drawingml/2006/main">
            <a:off x="5917565" y="5427980"/>
            <a:ext cx="551561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根据使用的传感器类别不同，当前主流的</a:t>
            </a:r>
            <a:r>
              <a:rPr sz="1400"/>
              <a:t> SLAM </a:t>
            </a:r>
            <a:r>
              <a:rPr sz="1400"/>
              <a:t>系统主要分为</a:t>
            </a:r>
            <a:r>
              <a:rPr sz="1400" b="1"/>
              <a:t>激光</a:t>
            </a:r>
            <a:r>
              <a:rPr sz="1400" b="1"/>
              <a:t> SLAM</a:t>
            </a:r>
            <a:r>
              <a:rPr sz="1400" b="1"/>
              <a:t>、视觉</a:t>
            </a:r>
            <a:r>
              <a:rPr sz="1400" b="1"/>
              <a:t>SLAM</a:t>
            </a:r>
            <a:r>
              <a:rPr sz="1400"/>
              <a:t> </a:t>
            </a:r>
            <a:r>
              <a:rPr sz="1400"/>
              <a:t>以及各类传感器辅助激光</a:t>
            </a:r>
            <a:r>
              <a:rPr sz="1400"/>
              <a:t>/</a:t>
            </a:r>
            <a:r>
              <a:rPr sz="1400"/>
              <a:t>视觉的</a:t>
            </a:r>
            <a:r>
              <a:rPr sz="1400" b="1"/>
              <a:t>多传感器融合</a:t>
            </a:r>
            <a:r>
              <a:rPr sz="1400" b="1"/>
              <a:t> SLAM </a:t>
            </a:r>
            <a:r>
              <a:rPr sz="1400"/>
              <a:t>技术。</a:t>
            </a:r>
          </a:p>
        </p:txBody>
      </p:sp>
    </p:spTree>
    <p:extLst>
      <p:ext uri="{BB962C8B-B14F-4D97-AF65-F5344CB8AC3E}">
        <p14:creationId xmlns:p14="http://schemas.microsoft.com/office/powerpoint/2010/main" val="603514763"/>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8" name="圆角矩形 27">
            <a:extLst xmlns:a="http://schemas.openxmlformats.org/drawingml/2006/main">
              <a:ext uri="{FF2B5EF4-FFF2-40B4-BE49-F238E27FC236}">
                <a16:creationId xmlns:a16="http://schemas.microsoft.com/office/drawing/2014/main" id="{C34C1EA2-1FBB-43CC-AAA3-5BA641A6EC72}"/>
              </a:ext>
            </a:extLst>
          </p:cNvPr>
          <p:cNvSpPr>
            <a:spLocks xmlns:a="http://schemas.openxmlformats.org/drawingml/2006/main" noGrp="1"/>
          </p:cNvSpPr>
          <p:nvPr/>
        </p:nvSpPr>
        <p:spPr>
          <a:xfrm xmlns:a="http://schemas.openxmlformats.org/drawingml/2006/main">
            <a:off x="5022850" y="1609090"/>
            <a:ext cx="6147435" cy="163766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22" name="图片 19"/>
          <p:cNvPicPr>
            <a:picLocks xmlns:a="http://schemas.openxmlformats.org/drawingml/2006/main" noChangeAspect="1"/>
          </p:cNvPicPr>
          <p:nvPr/>
        </p:nvPicPr>
        <p:blipFill>
          <a:blip xmlns:r="http://schemas.openxmlformats.org/officeDocument/2006/relationships" xmlns:a="http://schemas.openxmlformats.org/drawingml/2006/main" r:embed="R988d0ad22ffe4388"/>
          <a:stretch xmlns:a="http://schemas.openxmlformats.org/drawingml/2006/main">
            <a:fillRect l="0" t="0" r="0" b="0"/>
          </a:stretch>
        </p:blipFill>
        <p:spPr>
          <a:xfrm xmlns:a="http://schemas.openxmlformats.org/drawingml/2006/main">
            <a:off x="611505" y="3947795"/>
            <a:ext cx="3081020" cy="1196975"/>
          </a:xfrm>
          <a:prstGeom xmlns:a="http://schemas.openxmlformats.org/drawingml/2006/main" prst="rect">
            <a:avLst/>
          </a:prstGeom>
        </p:spPr>
      </p:pic>
      <p:sp>
        <p:nvSpPr>
          <p:cNvPr id="22" name="圆角矩形 21">
            <a:extLst xmlns:a="http://schemas.openxmlformats.org/drawingml/2006/main">
              <a:ext uri="{FF2B5EF4-FFF2-40B4-BE49-F238E27FC236}">
                <a16:creationId xmlns:a16="http://schemas.microsoft.com/office/drawing/2014/main" id="{A0759BC5-0C55-4CEE-A80A-5136415308EA}"/>
              </a:ext>
            </a:extLst>
          </p:cNvPr>
          <p:cNvSpPr>
            <a:spLocks xmlns:a="http://schemas.openxmlformats.org/drawingml/2006/main" noGrp="1"/>
          </p:cNvSpPr>
          <p:nvPr/>
        </p:nvSpPr>
        <p:spPr>
          <a:xfrm xmlns:a="http://schemas.openxmlformats.org/drawingml/2006/main">
            <a:off x="271145" y="1697355"/>
            <a:ext cx="4457700" cy="1872615"/>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矩形 2">
            <a:extLst xmlns:a="http://schemas.openxmlformats.org/drawingml/2006/main">
              <a:ext uri="{FF2B5EF4-FFF2-40B4-BE49-F238E27FC236}">
                <a16:creationId xmlns:a16="http://schemas.microsoft.com/office/drawing/2014/main" id="{C4AFC4E2-5205-4015-A113-D6A75C1FBA67}"/>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EC10DE16-BD50-40C6-A972-32AE2A156A1D}"/>
              </a:ext>
            </a:extLst>
          </p:cNvPr>
          <p:cNvSpPr>
            <a:spLocks xmlns:a="http://schemas.openxmlformats.org/drawingml/2006/main" noGrp="1"/>
          </p:cNvSpPr>
          <p:nvPr/>
        </p:nvSpPr>
        <p:spPr>
          <a:xfrm xmlns:a="http://schemas.openxmlformats.org/drawingml/2006/main" rot="0" flipH="0" flipV="0">
            <a:off x="271145" y="1021713"/>
            <a:ext cx="7062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5.3.3 </a:t>
            </a:r>
            <a:r>
              <a:rPr sz="2400" b="1">
                <a:solidFill>
                  <a:schemeClr val="accent1"/>
                </a:solidFill>
                <a:latin typeface="+mj-lt"/>
                <a:ea typeface="+mj-lt"/>
                <a:cs typeface="+mj-lt"/>
              </a:rPr>
              <a:t>基于深度学习的激光</a:t>
            </a:r>
            <a:r>
              <a:rPr sz="2400" b="1">
                <a:solidFill>
                  <a:schemeClr val="accent1"/>
                </a:solidFill>
                <a:latin typeface="+mj-lt"/>
                <a:ea typeface="+mj-lt"/>
                <a:cs typeface="+mj-lt"/>
              </a:rPr>
              <a:t>SLAM</a:t>
            </a:r>
          </a:p>
        </p:txBody>
      </p:sp>
      <p:sp>
        <p:nvSpPr>
          <p:cNvPr id="12" name="Google Shape;106;p14">
            <a:extLst xmlns:a="http://schemas.openxmlformats.org/drawingml/2006/main">
              <a:ext uri="{FF2B5EF4-FFF2-40B4-BE49-F238E27FC236}">
                <a16:creationId xmlns:a16="http://schemas.microsoft.com/office/drawing/2014/main" id="{229374C2-98E4-4BF7-94A9-AE76D109908D}"/>
              </a:ext>
            </a:extLst>
          </p:cNvPr>
          <p:cNvSpPr>
            <a:spLocks xmlns:a="http://schemas.openxmlformats.org/drawingml/2006/main" noGrp="1"/>
          </p:cNvSpPr>
          <p:nvPr/>
        </p:nvSpPr>
        <p:spPr>
          <a:xfrm xmlns:a="http://schemas.openxmlformats.org/drawingml/2006/main">
            <a:off x="5201285" y="1697355"/>
            <a:ext cx="5786755" cy="1477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600" b="1" i="0" u="none" cap="none">
                <a:solidFill>
                  <a:srgbClr val="334155"/>
                </a:solidFill>
                <a:latin typeface="微软雅黑"/>
                <a:ea typeface="微软雅黑"/>
                <a:cs typeface="微软雅黑"/>
              </a:rPr>
              <a:t>OverlapNet 闭环检测</a:t>
            </a:r>
            <a:r>
              <a:rPr sz="1600" b="1" i="0" u="none" cap="none">
                <a:solidFill>
                  <a:srgbClr val="334155"/>
                </a:solidFill>
                <a:latin typeface="微软雅黑"/>
                <a:ea typeface="微软雅黑"/>
                <a:cs typeface="微软雅黑"/>
              </a:rPr>
              <a:t>算法</a:t>
            </a:r>
            <a:r>
              <a:rPr sz="1600" b="1" i="0" u="none" cap="none">
                <a:solidFill>
                  <a:srgbClr val="334155"/>
                </a:solidFill>
                <a:latin typeface="微软雅黑"/>
                <a:ea typeface="微软雅黑"/>
                <a:cs typeface="微软雅黑"/>
              </a:rPr>
              <a:t>：</a:t>
            </a:r>
            <a:r>
              <a:rPr sz="1600" b="0" i="0" u="none" cap="none">
                <a:solidFill>
                  <a:srgbClr val="334155"/>
                </a:solidFill>
                <a:latin typeface="微软雅黑"/>
                <a:ea typeface="微软雅黑"/>
                <a:cs typeface="微软雅黑"/>
              </a:rPr>
              <a:t> 它</a:t>
            </a:r>
            <a:r>
              <a:rPr sz="1600">
                <a:solidFill>
                  <a:srgbClr val="334155"/>
                </a:solidFill>
                <a:latin typeface="微软雅黑"/>
                <a:ea typeface="微软雅黑"/>
                <a:cs typeface="微软雅黑"/>
              </a:rPr>
              <a:t>是为激光雷达 SLAM 设计的闭环检测算法，无需两帧点云数据的相对位姿，而是利用图像重叠率的方式来检测闭环。</a:t>
            </a:r>
            <a:r>
              <a:rPr sz="1600" b="0" i="0" u="none" cap="none">
                <a:solidFill>
                  <a:srgbClr val="334155"/>
                </a:solidFill>
                <a:latin typeface="微软雅黑"/>
                <a:ea typeface="微软雅黑"/>
                <a:cs typeface="微软雅黑"/>
              </a:rPr>
              <a:t>利用球面投影重叠率代替传统的点云距离匹配，有效解决漂移带来的不确定性。</a:t>
            </a:r>
          </a:p>
        </p:txBody>
      </p:sp>
      <p:sp>
        <p:nvSpPr>
          <p:cNvPr id="13" name="Google Shape;107;p14">
            <a:extLst xmlns:a="http://schemas.openxmlformats.org/drawingml/2006/main">
              <a:ext uri="{FF2B5EF4-FFF2-40B4-BE49-F238E27FC236}">
                <a16:creationId xmlns:a16="http://schemas.microsoft.com/office/drawing/2014/main" id="{B14C4A98-1459-45EC-9B89-944074F7EC98}"/>
              </a:ext>
            </a:extLst>
          </p:cNvPr>
          <p:cNvSpPr>
            <a:spLocks xmlns:a="http://schemas.openxmlformats.org/drawingml/2006/main" noGrp="1"/>
          </p:cNvSpPr>
          <p:nvPr/>
        </p:nvSpPr>
        <p:spPr>
          <a:xfrm xmlns:a="http://schemas.openxmlformats.org/drawingml/2006/main">
            <a:off x="527050" y="1862455"/>
            <a:ext cx="4025900" cy="3225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00" b="1" i="0" u="none" cap="none">
                <a:solidFill>
                  <a:srgbClr val="334155"/>
                </a:solidFill>
                <a:latin typeface="微软雅黑"/>
                <a:ea typeface="微软雅黑"/>
                <a:cs typeface="微软雅黑"/>
              </a:rPr>
              <a:t>深度学习在激光 SLAM 中的</a:t>
            </a:r>
            <a:r>
              <a:rPr sz="1400" b="1" i="0" u="none" cap="none">
                <a:solidFill>
                  <a:srgbClr val="334155"/>
                </a:solidFill>
                <a:latin typeface="微软雅黑"/>
                <a:ea typeface="微软雅黑"/>
                <a:cs typeface="微软雅黑"/>
              </a:rPr>
              <a:t>主要</a:t>
            </a:r>
            <a:r>
              <a:rPr sz="1400" b="1" i="0" u="none" cap="none">
                <a:solidFill>
                  <a:srgbClr val="334155"/>
                </a:solidFill>
                <a:latin typeface="微软雅黑"/>
                <a:ea typeface="微软雅黑"/>
                <a:cs typeface="微软雅黑"/>
              </a:rPr>
              <a:t>应用</a:t>
            </a:r>
            <a:r>
              <a:rPr sz="1400" b="1" i="0" u="none" cap="none">
                <a:solidFill>
                  <a:srgbClr val="334155"/>
                </a:solidFill>
                <a:latin typeface="微软雅黑"/>
                <a:ea typeface="微软雅黑"/>
                <a:cs typeface="微软雅黑"/>
              </a:rPr>
              <a:t>模块</a:t>
            </a:r>
            <a:r>
              <a:rPr sz="1400" b="1" i="0" u="none" cap="none">
                <a:solidFill>
                  <a:srgbClr val="334155"/>
                </a:solidFill>
                <a:latin typeface="微软雅黑"/>
                <a:ea typeface="微软雅黑"/>
                <a:cs typeface="微软雅黑"/>
              </a:rPr>
              <a:t>：</a:t>
            </a:r>
          </a:p>
        </p:txBody>
      </p:sp>
      <p:sp>
        <p:nvSpPr>
          <p:cNvPr id="14" name="Google Shape;108;p14">
            <a:extLst xmlns:a="http://schemas.openxmlformats.org/drawingml/2006/main">
              <a:ext uri="{FF2B5EF4-FFF2-40B4-BE49-F238E27FC236}">
                <a16:creationId xmlns:a16="http://schemas.microsoft.com/office/drawing/2014/main" id="{E6BBEF47-CBBC-47FE-B960-10D330B74081}"/>
              </a:ext>
            </a:extLst>
          </p:cNvPr>
          <p:cNvSpPr>
            <a:spLocks xmlns:a="http://schemas.openxmlformats.org/drawingml/2006/main" noGrp="1"/>
          </p:cNvSpPr>
          <p:nvPr/>
        </p:nvSpPr>
        <p:spPr>
          <a:xfrm xmlns:a="http://schemas.openxmlformats.org/drawingml/2006/main">
            <a:off x="611505" y="3702050"/>
            <a:ext cx="2816225" cy="2457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600" b="1" i="0" u="none" cap="none">
                <a:solidFill>
                  <a:srgbClr val="64748B"/>
                </a:solidFill>
                <a:latin typeface="微软雅黑"/>
                <a:ea typeface="微软雅黑"/>
                <a:cs typeface="微软雅黑"/>
              </a:rPr>
              <a:t>点云球面投影 </a:t>
            </a:r>
          </a:p>
        </p:txBody>
      </p:sp>
      <p:sp>
        <p:nvSpPr>
          <p:cNvPr id="16" name="Google Shape;110;p14">
            <a:extLst xmlns:a="http://schemas.openxmlformats.org/drawingml/2006/main">
              <a:ext uri="{FF2B5EF4-FFF2-40B4-BE49-F238E27FC236}">
                <a16:creationId xmlns:a16="http://schemas.microsoft.com/office/drawing/2014/main" id="{A9BF80C1-74C1-409F-BC9B-9B613AF99083}"/>
              </a:ext>
            </a:extLst>
          </p:cNvPr>
          <p:cNvSpPr>
            <a:spLocks xmlns:a="http://schemas.openxmlformats.org/drawingml/2006/main" noGrp="1"/>
          </p:cNvSpPr>
          <p:nvPr/>
        </p:nvSpPr>
        <p:spPr>
          <a:xfrm xmlns:a="http://schemas.openxmlformats.org/drawingml/2006/main">
            <a:off x="476250" y="5084445"/>
            <a:ext cx="3079750" cy="2457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600" b="1" i="0" u="none" cap="none">
                <a:solidFill>
                  <a:srgbClr val="64748B"/>
                </a:solidFill>
                <a:latin typeface="微软雅黑"/>
                <a:ea typeface="微软雅黑"/>
                <a:cs typeface="微软雅黑"/>
              </a:rPr>
              <a:t>重叠率计算</a:t>
            </a:r>
            <a:endParaRPr sz="1600" b="1" i="0" u="none" cap="none">
              <a:solidFill>
                <a:srgbClr val="64748B"/>
              </a:solidFill>
              <a:latin typeface="DM Sans"/>
              <a:ea typeface="DM Sans"/>
              <a:cs typeface="DM Sans"/>
            </a:endParaRPr>
          </a:p>
        </p:txBody>
      </p:sp>
      <p:sp>
        <p:nvSpPr>
          <p:cNvPr id="113" name="Google Shape;113;p14">
            <a:extLst xmlns:a="http://schemas.openxmlformats.org/drawingml/2006/main">
              <a:ext uri="{FF2B5EF4-FFF2-40B4-BE49-F238E27FC236}">
                <a16:creationId xmlns:a16="http://schemas.microsoft.com/office/drawing/2014/main" id="{BFC86D7E-C75F-45E8-810D-E3FE28A69909}"/>
              </a:ext>
            </a:extLst>
          </p:cNvPr>
          <p:cNvSpPr>
            <a:spLocks xmlns:a="http://schemas.openxmlformats.org/drawingml/2006/main" noGrp="1"/>
          </p:cNvSpPr>
          <p:nvPr/>
        </p:nvSpPr>
        <p:spPr>
          <a:xfrm xmlns:a="http://schemas.openxmlformats.org/drawingml/2006/main">
            <a:off x="476250" y="2242820"/>
            <a:ext cx="4251960" cy="3225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00" b="1" i="0" u="none" cap="none">
                <a:solidFill>
                  <a:srgbClr val="334155"/>
                </a:solidFill>
                <a:latin typeface="微软雅黑"/>
                <a:ea typeface="微软雅黑"/>
                <a:cs typeface="微软雅黑"/>
              </a:rPr>
              <a:t>·特征提取：</a:t>
            </a:r>
            <a:r>
              <a:rPr sz="1400" b="0" i="0" u="none" cap="none">
                <a:solidFill>
                  <a:srgbClr val="334155"/>
                </a:solidFill>
                <a:latin typeface="微软雅黑"/>
                <a:ea typeface="微软雅黑"/>
                <a:cs typeface="微软雅黑"/>
              </a:rPr>
              <a:t> 如 FCGF、SpinNet 进行高维特征匹配。</a:t>
            </a:r>
          </a:p>
        </p:txBody>
      </p:sp>
      <p:sp>
        <p:nvSpPr>
          <p:cNvPr id="115" name="Google Shape;115;p14">
            <a:extLst xmlns:a="http://schemas.openxmlformats.org/drawingml/2006/main">
              <a:ext uri="{FF2B5EF4-FFF2-40B4-BE49-F238E27FC236}">
                <a16:creationId xmlns:a16="http://schemas.microsoft.com/office/drawing/2014/main" id="{41E79C4B-884F-4B77-8372-8D3B7CB5DB8B}"/>
              </a:ext>
            </a:extLst>
          </p:cNvPr>
          <p:cNvSpPr>
            <a:spLocks xmlns:a="http://schemas.openxmlformats.org/drawingml/2006/main" noGrp="1"/>
          </p:cNvSpPr>
          <p:nvPr/>
        </p:nvSpPr>
        <p:spPr>
          <a:xfrm xmlns:a="http://schemas.openxmlformats.org/drawingml/2006/main">
            <a:off x="527050" y="2632710"/>
            <a:ext cx="3717925" cy="3225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00" b="1" i="0" u="none" cap="none">
                <a:solidFill>
                  <a:srgbClr val="334155"/>
                </a:solidFill>
                <a:latin typeface="微软雅黑"/>
                <a:ea typeface="微软雅黑"/>
                <a:cs typeface="微软雅黑"/>
              </a:rPr>
              <a:t>·点云配准：</a:t>
            </a:r>
            <a:r>
              <a:rPr sz="1400" b="0" i="0" u="none" cap="none">
                <a:solidFill>
                  <a:srgbClr val="334155"/>
                </a:solidFill>
                <a:latin typeface="微软雅黑"/>
                <a:ea typeface="微软雅黑"/>
                <a:cs typeface="微软雅黑"/>
              </a:rPr>
              <a:t> REGTR 等端到端配准算法。</a:t>
            </a:r>
          </a:p>
        </p:txBody>
      </p:sp>
      <p:sp>
        <p:nvSpPr>
          <p:cNvPr id="117" name="Google Shape;117;p14">
            <a:extLst xmlns:a="http://schemas.openxmlformats.org/drawingml/2006/main">
              <a:ext uri="{FF2B5EF4-FFF2-40B4-BE49-F238E27FC236}">
                <a16:creationId xmlns:a16="http://schemas.microsoft.com/office/drawing/2014/main" id="{681135AB-E903-4875-B703-936FD0F6CA67}"/>
              </a:ext>
            </a:extLst>
          </p:cNvPr>
          <p:cNvSpPr>
            <a:spLocks xmlns:a="http://schemas.openxmlformats.org/drawingml/2006/main" noGrp="1"/>
          </p:cNvSpPr>
          <p:nvPr/>
        </p:nvSpPr>
        <p:spPr>
          <a:xfrm xmlns:a="http://schemas.openxmlformats.org/drawingml/2006/main">
            <a:off x="527050" y="3022600"/>
            <a:ext cx="3800475" cy="3225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indent="0" algn="l">
              <a:lnSpc>
                <a:spcPct val="150000"/>
              </a:lnSpc>
              <a:spcBef>
                <a:spcPts val="0"/>
              </a:spcBef>
              <a:spcAft>
                <a:spcPts val="0"/>
              </a:spcAft>
              <a:buNone/>
            </a:pPr>
            <a:r>
              <a:rPr sz="1400" b="1" i="0" u="none" cap="none">
                <a:solidFill>
                  <a:srgbClr val="334155"/>
                </a:solidFill>
                <a:latin typeface="微软雅黑"/>
                <a:ea typeface="微软雅黑"/>
                <a:cs typeface="微软雅黑"/>
              </a:rPr>
              <a:t>·语义地图：</a:t>
            </a:r>
            <a:r>
              <a:rPr sz="1400" b="0" i="0" u="none" cap="none">
                <a:solidFill>
                  <a:srgbClr val="334155"/>
                </a:solidFill>
                <a:latin typeface="微软雅黑"/>
                <a:ea typeface="微软雅黑"/>
                <a:cs typeface="微软雅黑"/>
              </a:rPr>
              <a:t> 为传统 SLAM 增加物体级分类。</a:t>
            </a:r>
          </a:p>
        </p:txBody>
      </p:sp>
      <p:pic>
        <p:nvPicPr>
          <p:cNvPr id="133" name="图片 20"/>
          <p:cNvPicPr>
            <a:picLocks xmlns:a="http://schemas.openxmlformats.org/drawingml/2006/main" noChangeAspect="1"/>
          </p:cNvPicPr>
          <p:nvPr/>
        </p:nvPicPr>
        <p:blipFill>
          <a:blip xmlns:r="http://schemas.openxmlformats.org/officeDocument/2006/relationships" xmlns:a="http://schemas.openxmlformats.org/drawingml/2006/main" r:embed="Ra20fc7e0d7aa44dd"/>
          <a:stretch xmlns:a="http://schemas.openxmlformats.org/drawingml/2006/main">
            <a:fillRect l="0" t="0" r="0" b="0"/>
          </a:stretch>
        </p:blipFill>
        <p:spPr>
          <a:xfrm xmlns:a="http://schemas.openxmlformats.org/drawingml/2006/main">
            <a:off x="271145" y="5415280"/>
            <a:ext cx="3974465" cy="866140"/>
          </a:xfrm>
          <a:prstGeom xmlns:a="http://schemas.openxmlformats.org/drawingml/2006/main" prst="rect">
            <a:avLst/>
          </a:prstGeom>
        </p:spPr>
      </p:pic>
      <p:pic>
        <p:nvPicPr>
          <p:cNvPr id="134" name="图片 23"/>
          <p:cNvPicPr>
            <a:picLocks xmlns:a="http://schemas.openxmlformats.org/drawingml/2006/main" noChangeAspect="1"/>
          </p:cNvPicPr>
          <p:nvPr/>
        </p:nvPicPr>
        <p:blipFill>
          <a:blip xmlns:r="http://schemas.openxmlformats.org/officeDocument/2006/relationships" xmlns:a="http://schemas.openxmlformats.org/drawingml/2006/main" r:embed="R4f1a869c980b4c5e"/>
          <a:stretch xmlns:a="http://schemas.openxmlformats.org/drawingml/2006/main">
            <a:fillRect l="0" t="0" r="0" b="0"/>
          </a:stretch>
        </p:blipFill>
        <p:spPr>
          <a:xfrm xmlns:a="http://schemas.openxmlformats.org/drawingml/2006/main">
            <a:off x="4782185" y="3569970"/>
            <a:ext cx="7223760" cy="2609215"/>
          </a:xfrm>
          <a:prstGeom xmlns:a="http://schemas.openxmlformats.org/drawingml/2006/main" prst="rect">
            <a:avLst/>
          </a:prstGeom>
        </p:spPr>
      </p:pic>
      <p:sp>
        <p:nvSpPr>
          <p:cNvPr id="27" name="文本框 26">
            <a:extLst xmlns:a="http://schemas.openxmlformats.org/drawingml/2006/main">
              <a:ext uri="{FF2B5EF4-FFF2-40B4-BE49-F238E27FC236}">
                <a16:creationId xmlns:a16="http://schemas.microsoft.com/office/drawing/2014/main" id="{73CB353D-4563-4867-87F3-834917FBD0B4}"/>
              </a:ext>
            </a:extLst>
          </p:cNvPr>
          <p:cNvSpPr>
            <a:spLocks xmlns:a="http://schemas.openxmlformats.org/drawingml/2006/main" noGrp="1"/>
          </p:cNvSpPr>
          <p:nvPr/>
        </p:nvSpPr>
        <p:spPr>
          <a:xfrm xmlns:a="http://schemas.openxmlformats.org/drawingml/2006/main">
            <a:off x="6599555" y="6362700"/>
            <a:ext cx="40640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334155"/>
                </a:solidFill>
                <a:latin typeface="微软雅黑"/>
                <a:ea typeface="微软雅黑"/>
                <a:cs typeface="微软雅黑"/>
              </a:rPr>
              <a:t>OverlapNet</a:t>
            </a:r>
            <a:r>
              <a:rPr b="1">
                <a:solidFill>
                  <a:srgbClr val="334155"/>
                </a:solidFill>
                <a:latin typeface="微软雅黑"/>
                <a:ea typeface="微软雅黑"/>
                <a:cs typeface="微软雅黑"/>
              </a:rPr>
              <a:t>网络结构图</a:t>
            </a:r>
          </a:p>
        </p:txBody>
      </p:sp>
    </p:spTree>
    <p:extLst>
      <p:ext uri="{BB962C8B-B14F-4D97-AF65-F5344CB8AC3E}">
        <p14:creationId xmlns:p14="http://schemas.microsoft.com/office/powerpoint/2010/main" val="1031857643"/>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30" name="圆角矩形 29">
            <a:extLst xmlns:a="http://schemas.openxmlformats.org/drawingml/2006/main">
              <a:ext uri="{FF2B5EF4-FFF2-40B4-BE49-F238E27FC236}">
                <a16:creationId xmlns:a16="http://schemas.microsoft.com/office/drawing/2014/main" id="{A37FA064-993C-43CD-91AD-051E9315B8BC}"/>
              </a:ext>
            </a:extLst>
          </p:cNvPr>
          <p:cNvSpPr>
            <a:spLocks xmlns:a="http://schemas.openxmlformats.org/drawingml/2006/main" noGrp="1"/>
          </p:cNvSpPr>
          <p:nvPr/>
        </p:nvSpPr>
        <p:spPr>
          <a:xfrm xmlns:a="http://schemas.openxmlformats.org/drawingml/2006/main">
            <a:off x="554990" y="5734685"/>
            <a:ext cx="5266055" cy="105029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圆角矩形 28">
            <a:extLst xmlns:a="http://schemas.openxmlformats.org/drawingml/2006/main">
              <a:ext uri="{FF2B5EF4-FFF2-40B4-BE49-F238E27FC236}">
                <a16:creationId xmlns:a16="http://schemas.microsoft.com/office/drawing/2014/main" id="{08142BD6-5BAE-4806-A2AA-90FE28C02F0A}"/>
              </a:ext>
            </a:extLst>
          </p:cNvPr>
          <p:cNvSpPr>
            <a:spLocks xmlns:a="http://schemas.openxmlformats.org/drawingml/2006/main" noGrp="1"/>
          </p:cNvSpPr>
          <p:nvPr/>
        </p:nvSpPr>
        <p:spPr>
          <a:xfrm xmlns:a="http://schemas.openxmlformats.org/drawingml/2006/main">
            <a:off x="534670" y="4311650"/>
            <a:ext cx="5282565" cy="133858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圆角矩形 27">
            <a:extLst xmlns:a="http://schemas.openxmlformats.org/drawingml/2006/main">
              <a:ext uri="{FF2B5EF4-FFF2-40B4-BE49-F238E27FC236}">
                <a16:creationId xmlns:a16="http://schemas.microsoft.com/office/drawing/2014/main" id="{B575D587-D81E-4919-9D38-1F073166E5B6}"/>
              </a:ext>
            </a:extLst>
          </p:cNvPr>
          <p:cNvSpPr>
            <a:spLocks xmlns:a="http://schemas.openxmlformats.org/drawingml/2006/main" noGrp="1"/>
          </p:cNvSpPr>
          <p:nvPr/>
        </p:nvSpPr>
        <p:spPr>
          <a:xfrm xmlns:a="http://schemas.openxmlformats.org/drawingml/2006/main">
            <a:off x="571500" y="3000375"/>
            <a:ext cx="5107305" cy="1215390"/>
          </a:xfrm>
          <a:prstGeom xmlns:a="http://schemas.openxmlformats.org/drawingml/2006/main" prst="roundRect">
            <a:avLst/>
          </a:prstGeom>
          <a:solidFill xmlns:a="http://schemas.openxmlformats.org/drawingml/2006/main">
            <a:schemeClr val="bg1">
              <a:lumMod val="95000"/>
            </a:schemeClr>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矩形 2">
            <a:extLst xmlns:a="http://schemas.openxmlformats.org/drawingml/2006/main">
              <a:ext uri="{FF2B5EF4-FFF2-40B4-BE49-F238E27FC236}">
                <a16:creationId xmlns:a16="http://schemas.microsoft.com/office/drawing/2014/main" id="{3145F7EB-9FD5-448E-BEF2-AF994F135C3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260BF442-0C2F-4673-AA5D-0D3B6A0BBE4B}"/>
              </a:ext>
            </a:extLst>
          </p:cNvPr>
          <p:cNvSpPr>
            <a:spLocks xmlns:a="http://schemas.openxmlformats.org/drawingml/2006/main" noGrp="1"/>
          </p:cNvSpPr>
          <p:nvPr/>
        </p:nvSpPr>
        <p:spPr>
          <a:xfrm xmlns:a="http://schemas.openxmlformats.org/drawingml/2006/main" rot="0" flipH="0" flipV="0">
            <a:off x="271145" y="1021713"/>
            <a:ext cx="7062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5.3.3 </a:t>
            </a:r>
            <a:r>
              <a:rPr sz="2400" b="1">
                <a:solidFill>
                  <a:schemeClr val="accent1"/>
                </a:solidFill>
                <a:latin typeface="+mj-lt"/>
                <a:ea typeface="+mj-lt"/>
                <a:cs typeface="+mj-lt"/>
              </a:rPr>
              <a:t>基于深度学习的视觉</a:t>
            </a:r>
            <a:r>
              <a:rPr sz="2400" b="1">
                <a:solidFill>
                  <a:schemeClr val="accent1"/>
                </a:solidFill>
                <a:latin typeface="+mj-lt"/>
                <a:ea typeface="+mj-lt"/>
                <a:cs typeface="+mj-lt"/>
              </a:rPr>
              <a:t>SLAM</a:t>
            </a:r>
          </a:p>
        </p:txBody>
      </p:sp>
      <p:sp>
        <p:nvSpPr>
          <p:cNvPr id="86" name="Google Shape;86;p13">
            <a:extLst xmlns:a="http://schemas.openxmlformats.org/drawingml/2006/main">
              <a:ext uri="{FF2B5EF4-FFF2-40B4-BE49-F238E27FC236}">
                <a16:creationId xmlns:a16="http://schemas.microsoft.com/office/drawing/2014/main" id="{B7FA3719-C96C-4487-A2EB-CFFB23FDDC07}"/>
              </a:ext>
            </a:extLst>
          </p:cNvPr>
          <p:cNvSpPr>
            <a:spLocks xmlns:a="http://schemas.openxmlformats.org/drawingml/2006/main" noGrp="1"/>
          </p:cNvSpPr>
          <p:nvPr/>
        </p:nvSpPr>
        <p:spPr>
          <a:xfrm xmlns:a="http://schemas.openxmlformats.org/drawingml/2006/main">
            <a:off x="534670" y="1722120"/>
            <a:ext cx="5286375" cy="1182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600" b="0" i="0" u="none" cap="none">
                <a:solidFill>
                  <a:srgbClr val="334155"/>
                </a:solidFill>
                <a:latin typeface="微软雅黑"/>
                <a:ea typeface="微软雅黑"/>
                <a:cs typeface="微软雅黑"/>
              </a:rPr>
              <a:t>最近几年，深度学习在计算机视觉领域得到了飞速发展，相比</a:t>
            </a:r>
            <a:r>
              <a:rPr sz="1600" b="1" i="0" u="none" cap="none">
                <a:solidFill>
                  <a:schemeClr val="accent1"/>
                </a:solidFill>
                <a:latin typeface="微软雅黑"/>
                <a:ea typeface="微软雅黑"/>
                <a:cs typeface="微软雅黑"/>
              </a:rPr>
              <a:t>传统的视觉</a:t>
            </a:r>
            <a:r>
              <a:rPr sz="1600" b="1" i="0" u="none" cap="none">
                <a:solidFill>
                  <a:schemeClr val="accent1"/>
                </a:solidFill>
                <a:latin typeface="微软雅黑"/>
                <a:ea typeface="微软雅黑"/>
                <a:cs typeface="微软雅黑"/>
              </a:rPr>
              <a:t> SLAM</a:t>
            </a:r>
            <a:r>
              <a:rPr sz="1600" b="0" i="0" u="none" cap="none">
                <a:solidFill>
                  <a:srgbClr val="334155"/>
                </a:solidFill>
                <a:latin typeface="微软雅黑"/>
                <a:ea typeface="微软雅黑"/>
                <a:cs typeface="微软雅黑"/>
              </a:rPr>
              <a:t>，深度学习的视觉</a:t>
            </a:r>
            <a:r>
              <a:rPr sz="1600" b="0" i="0" u="none" cap="none">
                <a:solidFill>
                  <a:srgbClr val="334155"/>
                </a:solidFill>
                <a:latin typeface="微软雅黑"/>
                <a:ea typeface="微软雅黑"/>
                <a:cs typeface="微软雅黑"/>
              </a:rPr>
              <a:t>SLAM</a:t>
            </a:r>
            <a:r>
              <a:rPr sz="1600" b="0" i="0" u="none" cap="none">
                <a:solidFill>
                  <a:srgbClr val="334155"/>
                </a:solidFill>
                <a:latin typeface="微软雅黑"/>
                <a:ea typeface="微软雅黑"/>
                <a:cs typeface="微软雅黑"/>
              </a:rPr>
              <a:t>有以下几大优势：</a:t>
            </a:r>
          </a:p>
        </p:txBody>
      </p:sp>
      <p:sp>
        <p:nvSpPr>
          <p:cNvPr id="89" name="Google Shape;89;p13">
            <a:extLst xmlns:a="http://schemas.openxmlformats.org/drawingml/2006/main">
              <a:ext uri="{FF2B5EF4-FFF2-40B4-BE49-F238E27FC236}">
                <a16:creationId xmlns:a16="http://schemas.microsoft.com/office/drawing/2014/main" id="{4EAB00B6-4E02-4409-B0A2-47B9110D4D2C}"/>
              </a:ext>
            </a:extLst>
          </p:cNvPr>
          <p:cNvSpPr>
            <a:spLocks xmlns:a="http://schemas.openxmlformats.org/drawingml/2006/main" noGrp="1"/>
          </p:cNvSpPr>
          <p:nvPr/>
        </p:nvSpPr>
        <p:spPr>
          <a:xfrm xmlns:a="http://schemas.openxmlformats.org/drawingml/2006/main">
            <a:off x="608330" y="2987248"/>
            <a:ext cx="5095875" cy="11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600" b="1" i="0" u="none" cap="none">
                <a:solidFill>
                  <a:srgbClr val="005088"/>
                </a:solidFill>
                <a:latin typeface="微软雅黑"/>
                <a:ea typeface="微软雅黑"/>
                <a:cs typeface="微软雅黑"/>
              </a:rPr>
              <a:t>·</a:t>
            </a:r>
            <a:r>
              <a:rPr sz="1600" b="1" i="0" u="none" cap="none">
                <a:solidFill>
                  <a:schemeClr val="accent1"/>
                </a:solidFill>
                <a:latin typeface="微软雅黑"/>
                <a:ea typeface="微软雅黑"/>
                <a:cs typeface="微软雅黑"/>
              </a:rPr>
              <a:t>场景泛化能力强</a:t>
            </a:r>
            <a:r>
              <a:rPr sz="1600" b="0" i="0" u="none" cap="none">
                <a:solidFill>
                  <a:srgbClr val="334155"/>
                </a:solidFill>
                <a:latin typeface="微软雅黑"/>
                <a:ea typeface="微软雅黑"/>
                <a:cs typeface="微软雅黑"/>
              </a:rPr>
              <a:t>：适配传统视觉</a:t>
            </a:r>
            <a:r>
              <a:rPr sz="1600" b="0" i="0" u="none" cap="none">
                <a:solidFill>
                  <a:srgbClr val="334155"/>
                </a:solidFill>
                <a:latin typeface="微软雅黑"/>
                <a:ea typeface="微软雅黑"/>
                <a:cs typeface="微软雅黑"/>
              </a:rPr>
              <a:t> SLAM </a:t>
            </a:r>
            <a:r>
              <a:rPr sz="1600" b="0" i="0" u="none" cap="none">
                <a:solidFill>
                  <a:srgbClr val="334155"/>
                </a:solidFill>
                <a:latin typeface="微软雅黑"/>
                <a:ea typeface="微软雅黑"/>
                <a:cs typeface="微软雅黑"/>
              </a:rPr>
              <a:t>的难点场景（</a:t>
            </a:r>
            <a:r>
              <a:rPr sz="1600" b="1" i="0" u="none" cap="none">
                <a:solidFill>
                  <a:schemeClr val="accent1"/>
                </a:solidFill>
                <a:latin typeface="微软雅黑"/>
                <a:ea typeface="微软雅黑"/>
                <a:cs typeface="微软雅黑"/>
              </a:rPr>
              <a:t>纹理缺失、动态环境、相机高速运动</a:t>
            </a:r>
            <a:r>
              <a:rPr sz="1600" b="0" i="0" u="none" cap="none">
                <a:solidFill>
                  <a:srgbClr val="334155"/>
                </a:solidFill>
                <a:latin typeface="微软雅黑"/>
                <a:ea typeface="微软雅黑"/>
                <a:cs typeface="微软雅黑"/>
              </a:rPr>
              <a:t>等），对复杂场景的适应性更优。</a:t>
            </a:r>
          </a:p>
        </p:txBody>
      </p:sp>
      <p:sp>
        <p:nvSpPr>
          <p:cNvPr id="91" name="Google Shape;91;p13">
            <a:extLst xmlns:a="http://schemas.openxmlformats.org/drawingml/2006/main">
              <a:ext uri="{FF2B5EF4-FFF2-40B4-BE49-F238E27FC236}">
                <a16:creationId xmlns:a16="http://schemas.microsoft.com/office/drawing/2014/main" id="{D859CD79-A6D6-4A50-8DF3-E0B6E15DB98B}"/>
              </a:ext>
            </a:extLst>
          </p:cNvPr>
          <p:cNvSpPr>
            <a:spLocks xmlns:a="http://schemas.openxmlformats.org/drawingml/2006/main" noGrp="1"/>
          </p:cNvSpPr>
          <p:nvPr/>
        </p:nvSpPr>
        <p:spPr>
          <a:xfrm xmlns:a="http://schemas.openxmlformats.org/drawingml/2006/main">
            <a:off x="534670" y="4419173"/>
            <a:ext cx="5095875" cy="11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600" b="1" i="0" u="none" cap="none">
                <a:solidFill>
                  <a:schemeClr val="accent1"/>
                </a:solidFill>
                <a:latin typeface="微软雅黑"/>
                <a:ea typeface="微软雅黑"/>
                <a:cs typeface="微软雅黑"/>
              </a:rPr>
              <a:t>·</a:t>
            </a:r>
            <a:r>
              <a:rPr sz="1600" b="1" i="0" u="none" cap="none">
                <a:solidFill>
                  <a:schemeClr val="accent1"/>
                </a:solidFill>
                <a:latin typeface="微软雅黑"/>
                <a:ea typeface="微软雅黑"/>
                <a:cs typeface="微软雅黑"/>
              </a:rPr>
              <a:t>自监督学习降低成本</a:t>
            </a:r>
            <a:r>
              <a:rPr sz="1600" b="0" i="0" u="none" cap="none">
                <a:solidFill>
                  <a:schemeClr val="accent1"/>
                </a:solidFill>
                <a:latin typeface="微软雅黑"/>
                <a:ea typeface="微软雅黑"/>
                <a:cs typeface="微软雅黑"/>
              </a:rPr>
              <a:t>：借助新视图合成等技术实现自监督训练，无需人工标记数据，就能从</a:t>
            </a:r>
            <a:r>
              <a:rPr sz="1600" b="1" i="0" u="none" cap="none">
                <a:solidFill>
                  <a:schemeClr val="accent1"/>
                </a:solidFill>
                <a:latin typeface="微软雅黑"/>
                <a:ea typeface="微软雅黑"/>
                <a:cs typeface="微软雅黑"/>
              </a:rPr>
              <a:t>无标签视频</a:t>
            </a:r>
            <a:r>
              <a:rPr sz="1600" b="0" i="0" u="none" cap="none">
                <a:solidFill>
                  <a:schemeClr val="accent1"/>
                </a:solidFill>
                <a:latin typeface="微软雅黑"/>
                <a:ea typeface="微软雅黑"/>
                <a:cs typeface="微软雅黑"/>
              </a:rPr>
              <a:t>中恢复运动与深度信息</a:t>
            </a:r>
            <a:r>
              <a:rPr sz="1600" b="0" i="0" u="none" cap="none">
                <a:solidFill>
                  <a:schemeClr val="accent1"/>
                </a:solidFill>
                <a:latin typeface="微软雅黑"/>
                <a:ea typeface="微软雅黑"/>
                <a:cs typeface="微软雅黑"/>
              </a:rPr>
              <a:t>。</a:t>
            </a:r>
          </a:p>
        </p:txBody>
      </p:sp>
      <p:sp>
        <p:nvSpPr>
          <p:cNvPr id="93" name="Google Shape;93;p13">
            <a:extLst xmlns:a="http://schemas.openxmlformats.org/drawingml/2006/main">
              <a:ext uri="{FF2B5EF4-FFF2-40B4-BE49-F238E27FC236}">
                <a16:creationId xmlns:a16="http://schemas.microsoft.com/office/drawing/2014/main" id="{195B400C-A320-4C54-9493-E399C87FB8AB}"/>
              </a:ext>
            </a:extLst>
          </p:cNvPr>
          <p:cNvSpPr>
            <a:spLocks xmlns:a="http://schemas.openxmlformats.org/drawingml/2006/main" noGrp="1"/>
          </p:cNvSpPr>
          <p:nvPr/>
        </p:nvSpPr>
        <p:spPr>
          <a:xfrm xmlns:a="http://schemas.openxmlformats.org/drawingml/2006/main">
            <a:off x="571500" y="5851098"/>
            <a:ext cx="5095875" cy="78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600" b="1" i="0" u="none" cap="none">
                <a:solidFill>
                  <a:srgbClr val="005088"/>
                </a:solidFill>
                <a:latin typeface="微软雅黑"/>
                <a:ea typeface="微软雅黑"/>
                <a:cs typeface="微软雅黑"/>
              </a:rPr>
              <a:t>·</a:t>
            </a:r>
            <a:r>
              <a:rPr sz="1600" b="1" i="0" u="none" cap="none">
                <a:solidFill>
                  <a:schemeClr val="accent1"/>
                </a:solidFill>
                <a:latin typeface="微软雅黑"/>
                <a:ea typeface="微软雅黑"/>
                <a:cs typeface="微软雅黑"/>
              </a:rPr>
              <a:t>数据算力适配性高</a:t>
            </a:r>
            <a:r>
              <a:rPr sz="1600" b="0" i="0" u="none" cap="none">
                <a:solidFill>
                  <a:srgbClr val="334155"/>
                </a:solidFill>
                <a:latin typeface="微软雅黑"/>
                <a:ea typeface="微软雅黑"/>
                <a:cs typeface="微软雅黑"/>
              </a:rPr>
              <a:t>：可利用海量传感器数据与算力升级，通过</a:t>
            </a:r>
            <a:r>
              <a:rPr sz="1600" b="1" i="0" u="none" cap="none">
                <a:solidFill>
                  <a:schemeClr val="accent1"/>
                </a:solidFill>
                <a:latin typeface="微软雅黑"/>
                <a:ea typeface="微软雅黑"/>
                <a:cs typeface="微软雅黑"/>
              </a:rPr>
              <a:t>大型数据集</a:t>
            </a:r>
            <a:r>
              <a:rPr sz="1600" b="0" i="0" u="none" cap="none">
                <a:solidFill>
                  <a:srgbClr val="334155"/>
                </a:solidFill>
                <a:latin typeface="微软雅黑"/>
                <a:ea typeface="微软雅黑"/>
                <a:cs typeface="微软雅黑"/>
              </a:rPr>
              <a:t>训练持续迭代优化模型性能</a:t>
            </a:r>
            <a:r>
              <a:rPr sz="1600" b="0" i="0" u="none" cap="none">
                <a:solidFill>
                  <a:srgbClr val="334155"/>
                </a:solidFill>
                <a:latin typeface="微软雅黑"/>
                <a:ea typeface="微软雅黑"/>
                <a:cs typeface="微软雅黑"/>
              </a:rPr>
              <a:t>。</a:t>
            </a:r>
          </a:p>
        </p:txBody>
      </p:sp>
      <p:pic>
        <p:nvPicPr>
          <p:cNvPr id="104" name="图片 26"/>
          <p:cNvPicPr>
            <a:picLocks xmlns:a="http://schemas.openxmlformats.org/drawingml/2006/main" noChangeAspect="1"/>
          </p:cNvPicPr>
          <p:nvPr/>
        </p:nvPicPr>
        <p:blipFill>
          <a:blip xmlns:r="http://schemas.openxmlformats.org/officeDocument/2006/relationships" xmlns:a="http://schemas.openxmlformats.org/drawingml/2006/main" r:embed="R9887df6bfcc4438c"/>
          <a:stretch xmlns:a="http://schemas.openxmlformats.org/drawingml/2006/main">
            <a:fillRect l="0" t="0" r="0" b="0"/>
          </a:stretch>
        </p:blipFill>
        <p:spPr>
          <a:xfrm xmlns:a="http://schemas.openxmlformats.org/drawingml/2006/main">
            <a:off x="6072505" y="939800"/>
            <a:ext cx="5624195" cy="5624195"/>
          </a:xfrm>
          <a:prstGeom xmlns:a="http://schemas.openxmlformats.org/drawingml/2006/main" prst="rect">
            <a:avLst/>
          </a:prstGeom>
        </p:spPr>
      </p:pic>
    </p:spTree>
    <p:extLst>
      <p:ext uri="{BB962C8B-B14F-4D97-AF65-F5344CB8AC3E}">
        <p14:creationId xmlns:p14="http://schemas.microsoft.com/office/powerpoint/2010/main" val="64533719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4" name="矩形 13">
            <a:extLst xmlns:a="http://schemas.openxmlformats.org/drawingml/2006/main">
              <a:ext uri="{FF2B5EF4-FFF2-40B4-BE49-F238E27FC236}">
                <a16:creationId xmlns:a16="http://schemas.microsoft.com/office/drawing/2014/main" id="{9230076C-2D18-4997-98A7-FF4B2F78D22C}"/>
              </a:ext>
            </a:extLst>
          </p:cNvPr>
          <p:cNvSpPr>
            <a:spLocks xmlns:a="http://schemas.openxmlformats.org/drawingml/2006/main" noGrp="1"/>
          </p:cNvSpPr>
          <p:nvPr/>
        </p:nvSpPr>
        <p:spPr>
          <a:xfrm xmlns:a="http://schemas.openxmlformats.org/drawingml/2006/main">
            <a:off x="3047365" y="1760220"/>
            <a:ext cx="5097145" cy="689610"/>
          </a:xfrm>
          <a:prstGeom xmlns:a="http://schemas.openxmlformats.org/drawingml/2006/main" prst="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01"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0aca5e3b1fbe4439"/>
          <a:srcRect xmlns:a="http://schemas.openxmlformats.org/drawingml/2006/main" l="0" t="0" r="0" b="0"/>
          <a:stretch xmlns:a="http://schemas.openxmlformats.org/drawingml/2006/main">
            <a:fillRect l="0" t="0" r="0" b="0"/>
          </a:stretch>
        </p:blipFill>
        <p:spPr>
          <a:xfrm xmlns:a="http://schemas.openxmlformats.org/drawingml/2006/main">
            <a:off x="5993130" y="2593340"/>
            <a:ext cx="5205730" cy="1236345"/>
          </a:xfrm>
          <a:prstGeom xmlns:a="http://schemas.openxmlformats.org/drawingml/2006/main" prst="rect">
            <a:avLst/>
          </a:prstGeom>
          <a:ln xmlns:a="http://schemas.openxmlformats.org/drawingml/2006/main">
            <a:noFill/>
          </a:ln>
        </p:spPr>
      </p:pic>
      <p:pic>
        <p:nvPicPr>
          <p:cNvPr id="102"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0aca5e3b1fbe4439"/>
          <a:srcRect xmlns:a="http://schemas.openxmlformats.org/drawingml/2006/main" l="0" t="0" r="0" b="0"/>
          <a:stretch xmlns:a="http://schemas.openxmlformats.org/drawingml/2006/main">
            <a:fillRect l="0" t="0" r="0" b="0"/>
          </a:stretch>
        </p:blipFill>
        <p:spPr>
          <a:xfrm xmlns:a="http://schemas.openxmlformats.org/drawingml/2006/main">
            <a:off x="6017895" y="5610860"/>
            <a:ext cx="5181600" cy="1062355"/>
          </a:xfrm>
          <a:prstGeom xmlns:a="http://schemas.openxmlformats.org/drawingml/2006/main" prst="rect">
            <a:avLst/>
          </a:prstGeom>
          <a:ln xmlns:a="http://schemas.openxmlformats.org/drawingml/2006/main">
            <a:noFill/>
          </a:ln>
        </p:spPr>
      </p:pic>
      <p:pic>
        <p:nvPicPr>
          <p:cNvPr id="103"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0aca5e3b1fbe4439"/>
          <a:srcRect xmlns:a="http://schemas.openxmlformats.org/drawingml/2006/main" l="0" t="0" r="0" b="0"/>
          <a:stretch xmlns:a="http://schemas.openxmlformats.org/drawingml/2006/main">
            <a:fillRect l="0" t="0" r="0" b="0"/>
          </a:stretch>
        </p:blipFill>
        <p:spPr>
          <a:xfrm xmlns:a="http://schemas.openxmlformats.org/drawingml/2006/main">
            <a:off x="271145" y="5461635"/>
            <a:ext cx="5708650" cy="1360170"/>
          </a:xfrm>
          <a:prstGeom xmlns:a="http://schemas.openxmlformats.org/drawingml/2006/main" prst="rect">
            <a:avLst/>
          </a:prstGeom>
          <a:ln xmlns:a="http://schemas.openxmlformats.org/drawingml/2006/main">
            <a:noFill/>
          </a:ln>
        </p:spPr>
      </p:pic>
      <p:pic>
        <p:nvPicPr>
          <p:cNvPr id="104"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0aca5e3b1fbe4439"/>
          <a:srcRect xmlns:a="http://schemas.openxmlformats.org/drawingml/2006/main" l="0" t="0" r="0" b="0"/>
          <a:stretch xmlns:a="http://schemas.openxmlformats.org/drawingml/2006/main">
            <a:fillRect l="0" t="0" r="0" b="0"/>
          </a:stretch>
        </p:blipFill>
        <p:spPr>
          <a:xfrm xmlns:a="http://schemas.openxmlformats.org/drawingml/2006/main">
            <a:off x="197485" y="2613025"/>
            <a:ext cx="5554345" cy="1212215"/>
          </a:xfrm>
          <a:prstGeom xmlns:a="http://schemas.openxmlformats.org/drawingml/2006/main" prst="rect">
            <a:avLst/>
          </a:prstGeom>
          <a:ln xmlns:a="http://schemas.openxmlformats.org/drawingml/2006/main">
            <a:noFill/>
          </a:ln>
        </p:spPr>
      </p:pic>
      <p:pic>
        <p:nvPicPr>
          <p:cNvPr id="105"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0aca5e3b1fbe4439"/>
          <a:srcRect xmlns:a="http://schemas.openxmlformats.org/drawingml/2006/main" l="0" t="0" r="0" b="0"/>
          <a:stretch xmlns:a="http://schemas.openxmlformats.org/drawingml/2006/main">
            <a:fillRect l="0" t="0" r="0" b="0"/>
          </a:stretch>
        </p:blipFill>
        <p:spPr>
          <a:xfrm xmlns:a="http://schemas.openxmlformats.org/drawingml/2006/main">
            <a:off x="271145" y="4130675"/>
            <a:ext cx="5606415" cy="1208405"/>
          </a:xfrm>
          <a:prstGeom xmlns:a="http://schemas.openxmlformats.org/drawingml/2006/main" prst="rect">
            <a:avLst/>
          </a:prstGeom>
          <a:ln xmlns:a="http://schemas.openxmlformats.org/drawingml/2006/main">
            <a:noFill/>
          </a:ln>
        </p:spPr>
      </p:pic>
      <p:pic>
        <p:nvPicPr>
          <p:cNvPr id="106" name="Google Shape;88;p13"/>
          <p:cNvPicPr>
            <a:picLocks xmlns:a="http://schemas.openxmlformats.org/drawingml/2006/main" noChangeAspect="1"/>
          </p:cNvPicPr>
          <p:nvPr/>
        </p:nvPicPr>
        <p:blipFill rotWithShape="1">
          <a:blip xmlns:r="http://schemas.openxmlformats.org/officeDocument/2006/relationships" xmlns:a="http://schemas.openxmlformats.org/drawingml/2006/main" r:embed="R0aca5e3b1fbe4439"/>
          <a:srcRect xmlns:a="http://schemas.openxmlformats.org/drawingml/2006/main" l="0" t="0" r="0" b="0"/>
          <a:stretch xmlns:a="http://schemas.openxmlformats.org/drawingml/2006/main">
            <a:fillRect l="0" t="0" r="0" b="0"/>
          </a:stretch>
        </p:blipFill>
        <p:spPr>
          <a:xfrm xmlns:a="http://schemas.openxmlformats.org/drawingml/2006/main">
            <a:off x="5993130" y="4114800"/>
            <a:ext cx="5750560" cy="1230630"/>
          </a:xfrm>
          <a:prstGeom xmlns:a="http://schemas.openxmlformats.org/drawingml/2006/main" prst="rect">
            <a:avLst/>
          </a:prstGeom>
          <a:ln xmlns:a="http://schemas.openxmlformats.org/drawingml/2006/main">
            <a:noFill/>
          </a:ln>
        </p:spPr>
      </p:pic>
      <p:sp>
        <p:nvSpPr>
          <p:cNvPr id="3" name="矩形 2">
            <a:extLst xmlns:a="http://schemas.openxmlformats.org/drawingml/2006/main">
              <a:ext uri="{FF2B5EF4-FFF2-40B4-BE49-F238E27FC236}">
                <a16:creationId xmlns:a16="http://schemas.microsoft.com/office/drawing/2014/main" id="{840C500C-DEFF-49CC-9CAD-0727706A312A}"/>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3D176349-5544-41EF-8491-8B465CBDD3AD}"/>
              </a:ext>
            </a:extLst>
          </p:cNvPr>
          <p:cNvSpPr>
            <a:spLocks xmlns:a="http://schemas.openxmlformats.org/drawingml/2006/main" noGrp="1"/>
          </p:cNvSpPr>
          <p:nvPr/>
        </p:nvSpPr>
        <p:spPr>
          <a:xfrm xmlns:a="http://schemas.openxmlformats.org/drawingml/2006/main" rot="0" flipH="0" flipV="0">
            <a:off x="271145" y="1021713"/>
            <a:ext cx="7062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5.3.3 </a:t>
            </a:r>
            <a:r>
              <a:rPr sz="2400" b="1">
                <a:solidFill>
                  <a:schemeClr val="accent1"/>
                </a:solidFill>
                <a:latin typeface="+mj-lt"/>
                <a:ea typeface="+mj-lt"/>
                <a:cs typeface="+mj-lt"/>
              </a:rPr>
              <a:t>基于深度学习的视觉</a:t>
            </a:r>
            <a:r>
              <a:rPr sz="2400" b="1">
                <a:solidFill>
                  <a:schemeClr val="accent1"/>
                </a:solidFill>
                <a:latin typeface="+mj-lt"/>
                <a:ea typeface="+mj-lt"/>
                <a:cs typeface="+mj-lt"/>
              </a:rPr>
              <a:t>SLAM</a:t>
            </a:r>
          </a:p>
        </p:txBody>
      </p:sp>
      <p:sp>
        <p:nvSpPr>
          <p:cNvPr id="86" name="Google Shape;86;p13">
            <a:extLst xmlns:a="http://schemas.openxmlformats.org/drawingml/2006/main">
              <a:ext uri="{FF2B5EF4-FFF2-40B4-BE49-F238E27FC236}">
                <a16:creationId xmlns:a16="http://schemas.microsoft.com/office/drawing/2014/main" id="{DAE66F0A-17BC-4CDF-AE65-B8B89BA5F8B8}"/>
              </a:ext>
            </a:extLst>
          </p:cNvPr>
          <p:cNvSpPr>
            <a:spLocks xmlns:a="http://schemas.openxmlformats.org/drawingml/2006/main" noGrp="1"/>
          </p:cNvSpPr>
          <p:nvPr/>
        </p:nvSpPr>
        <p:spPr>
          <a:xfrm xmlns:a="http://schemas.openxmlformats.org/drawingml/2006/main">
            <a:off x="3425825" y="1796415"/>
            <a:ext cx="4482465" cy="48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600" b="0" i="0" u="none" cap="none">
                <a:solidFill>
                  <a:schemeClr val="bg1"/>
                </a:solidFill>
                <a:latin typeface="微软雅黑"/>
                <a:ea typeface="微软雅黑"/>
                <a:cs typeface="微软雅黑"/>
              </a:rPr>
              <a:t> </a:t>
            </a:r>
            <a:r>
              <a:rPr sz="2000" b="0" i="0" u="none" cap="none">
                <a:solidFill>
                  <a:schemeClr val="bg1"/>
                </a:solidFill>
                <a:latin typeface="微软雅黑"/>
                <a:ea typeface="微软雅黑"/>
                <a:cs typeface="微软雅黑"/>
              </a:rPr>
              <a:t>深度学习和视觉</a:t>
            </a:r>
            <a:r>
              <a:rPr sz="2000" b="0" i="0" u="none" cap="none">
                <a:solidFill>
                  <a:schemeClr val="bg1"/>
                </a:solidFill>
                <a:latin typeface="微软雅黑"/>
                <a:ea typeface="微软雅黑"/>
                <a:cs typeface="微软雅黑"/>
              </a:rPr>
              <a:t> SLAM </a:t>
            </a:r>
            <a:r>
              <a:rPr sz="2000" b="0" i="0" u="none" cap="none">
                <a:solidFill>
                  <a:schemeClr val="bg1"/>
                </a:solidFill>
                <a:latin typeface="微软雅黑"/>
                <a:ea typeface="微软雅黑"/>
                <a:cs typeface="微软雅黑"/>
              </a:rPr>
              <a:t>的结合</a:t>
            </a:r>
            <a:r>
              <a:rPr sz="2000" b="1" i="0" u="none" cap="none">
                <a:solidFill>
                  <a:schemeClr val="bg1"/>
                </a:solidFill>
                <a:latin typeface="微软雅黑"/>
                <a:ea typeface="微软雅黑"/>
                <a:cs typeface="微软雅黑"/>
              </a:rPr>
              <a:t>六大方面</a:t>
            </a:r>
          </a:p>
        </p:txBody>
      </p:sp>
      <p:sp>
        <p:nvSpPr>
          <p:cNvPr id="89" name="Google Shape;89;p13">
            <a:extLst xmlns:a="http://schemas.openxmlformats.org/drawingml/2006/main">
              <a:ext uri="{FF2B5EF4-FFF2-40B4-BE49-F238E27FC236}">
                <a16:creationId xmlns:a16="http://schemas.microsoft.com/office/drawing/2014/main" id="{2C2894BC-1E63-48EF-B574-C75B355E79F3}"/>
              </a:ext>
            </a:extLst>
          </p:cNvPr>
          <p:cNvSpPr>
            <a:spLocks xmlns:a="http://schemas.openxmlformats.org/drawingml/2006/main" noGrp="1"/>
          </p:cNvSpPr>
          <p:nvPr/>
        </p:nvSpPr>
        <p:spPr>
          <a:xfrm xmlns:a="http://schemas.openxmlformats.org/drawingml/2006/main">
            <a:off x="381635" y="5574665"/>
            <a:ext cx="5271135" cy="1082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indent="0" algn="l">
              <a:lnSpc>
                <a:spcPct val="160000"/>
              </a:lnSpc>
              <a:spcBef>
                <a:spcPts val="0"/>
              </a:spcBef>
              <a:spcAft>
                <a:spcPts val="0"/>
              </a:spcAft>
              <a:buNone/>
            </a:pPr>
            <a:r>
              <a:rPr sz="1600" b="1" i="0" u="none" cap="none">
                <a:solidFill>
                  <a:srgbClr val="005088"/>
                </a:solidFill>
                <a:latin typeface="微软雅黑"/>
                <a:ea typeface="微软雅黑"/>
                <a:cs typeface="微软雅黑"/>
              </a:rPr>
              <a:t>·</a:t>
            </a:r>
            <a:r>
              <a:rPr sz="1400" b="0" i="0" u="none" cap="none">
                <a:solidFill>
                  <a:schemeClr val="tx1"/>
                </a:solidFill>
                <a:latin typeface="微软雅黑"/>
                <a:ea typeface="微软雅黑"/>
                <a:cs typeface="微软雅黑"/>
              </a:rPr>
              <a:t>语义信息</a:t>
            </a:r>
            <a:r>
              <a:rPr sz="1400" b="0" i="0" u="none" cap="none">
                <a:solidFill>
                  <a:schemeClr val="tx1"/>
                </a:solidFill>
                <a:latin typeface="微软雅黑"/>
                <a:ea typeface="微软雅黑"/>
                <a:cs typeface="微软雅黑"/>
              </a:rPr>
              <a:t> + SLAM</a:t>
            </a:r>
            <a:r>
              <a:rPr sz="1400" b="0" i="0" u="none" cap="none">
                <a:solidFill>
                  <a:schemeClr val="tx1"/>
                </a:solidFill>
                <a:latin typeface="微软雅黑"/>
                <a:ea typeface="微软雅黑"/>
                <a:cs typeface="微软雅黑"/>
              </a:rPr>
              <a:t>：双向互补</a:t>
            </a:r>
            <a:r>
              <a:rPr sz="1400" b="0" i="0" u="none" cap="none">
                <a:solidFill>
                  <a:schemeClr val="tx1"/>
                </a:solidFill>
                <a:latin typeface="微软雅黑"/>
                <a:ea typeface="微软雅黑"/>
                <a:cs typeface="微软雅黑"/>
              </a:rPr>
              <a:t> ——SLAM </a:t>
            </a:r>
            <a:r>
              <a:rPr sz="1400" b="0" i="0" u="none" cap="none">
                <a:solidFill>
                  <a:schemeClr val="tx1"/>
                </a:solidFill>
                <a:latin typeface="微软雅黑"/>
                <a:ea typeface="微软雅黑"/>
                <a:cs typeface="微软雅黑"/>
              </a:rPr>
              <a:t>辅助语义任务的数据集构建（降标注成本），语义信息提供物体级</a:t>
            </a:r>
            <a:r>
              <a:rPr sz="1400" i="0" u="none" cap="none">
                <a:latin typeface="微软雅黑"/>
                <a:ea typeface="微软雅黑"/>
                <a:cs typeface="微软雅黑"/>
              </a:rPr>
              <a:t>约束</a:t>
            </a:r>
            <a:r>
              <a:rPr sz="1400" b="0" i="0" u="none" cap="none">
                <a:solidFill>
                  <a:schemeClr val="tx1"/>
                </a:solidFill>
                <a:latin typeface="微软雅黑"/>
                <a:ea typeface="微软雅黑"/>
                <a:cs typeface="微软雅黑"/>
              </a:rPr>
              <a:t>（提升</a:t>
            </a:r>
            <a:r>
              <a:rPr sz="1400" b="0" i="0" u="none" cap="none">
                <a:solidFill>
                  <a:schemeClr val="tx1"/>
                </a:solidFill>
                <a:latin typeface="微软雅黑"/>
                <a:ea typeface="微软雅黑"/>
                <a:cs typeface="微软雅黑"/>
              </a:rPr>
              <a:t> SLAM </a:t>
            </a:r>
            <a:r>
              <a:rPr sz="1400" b="0" i="0" u="none" cap="none">
                <a:solidFill>
                  <a:schemeClr val="tx1"/>
                </a:solidFill>
                <a:latin typeface="微软雅黑"/>
                <a:ea typeface="微软雅黑"/>
                <a:cs typeface="微软雅黑"/>
              </a:rPr>
              <a:t>精度</a:t>
            </a:r>
            <a:r>
              <a:rPr sz="1400" b="0" i="0" u="none" cap="none">
                <a:solidFill>
                  <a:schemeClr val="tx1"/>
                </a:solidFill>
                <a:latin typeface="微软雅黑"/>
                <a:ea typeface="微软雅黑"/>
                <a:cs typeface="微软雅黑"/>
              </a:rPr>
              <a:t> / </a:t>
            </a:r>
            <a:r>
              <a:rPr sz="1400" b="0" i="0" u="none" cap="none">
                <a:solidFill>
                  <a:schemeClr val="tx1"/>
                </a:solidFill>
                <a:latin typeface="微软雅黑"/>
                <a:ea typeface="微软雅黑"/>
                <a:cs typeface="微软雅黑"/>
              </a:rPr>
              <a:t>稳定性）。</a:t>
            </a:r>
          </a:p>
        </p:txBody>
      </p:sp>
      <p:sp>
        <p:nvSpPr>
          <p:cNvPr id="91" name="Google Shape;91;p13">
            <a:extLst xmlns:a="http://schemas.openxmlformats.org/drawingml/2006/main">
              <a:ext uri="{FF2B5EF4-FFF2-40B4-BE49-F238E27FC236}">
                <a16:creationId xmlns:a16="http://schemas.microsoft.com/office/drawing/2014/main" id="{A81A0BAF-46ED-4E46-A3A8-AC711E7CB309}"/>
              </a:ext>
            </a:extLst>
          </p:cNvPr>
          <p:cNvSpPr>
            <a:spLocks xmlns:a="http://schemas.openxmlformats.org/drawingml/2006/main" noGrp="1"/>
          </p:cNvSpPr>
          <p:nvPr/>
        </p:nvSpPr>
        <p:spPr>
          <a:xfrm xmlns:a="http://schemas.openxmlformats.org/drawingml/2006/main">
            <a:off x="6226175" y="5508625"/>
            <a:ext cx="4972685" cy="1082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algn="l">
              <a:lnSpc>
                <a:spcPct val="160000"/>
              </a:lnSpc>
              <a:spcBef>
                <a:spcPts val="0"/>
              </a:spcBef>
              <a:spcAft>
                <a:spcPts val="0"/>
              </a:spcAft>
              <a:buClrTx/>
              <a:buSzTx/>
              <a:buFontTx/>
              <a:buNone/>
            </a:pPr>
            <a:r>
              <a:rPr sz="1600" b="1" i="0" u="none" cap="none">
                <a:solidFill>
                  <a:srgbClr val="005088"/>
                </a:solidFill>
                <a:latin typeface="微软雅黑"/>
                <a:ea typeface="微软雅黑"/>
                <a:cs typeface="微软雅黑"/>
              </a:rPr>
              <a:t>·</a:t>
            </a:r>
            <a:r>
              <a:rPr sz="1400" i="0" u="none" cap="none">
                <a:latin typeface="微软雅黑"/>
                <a:ea typeface="微软雅黑"/>
                <a:cs typeface="微软雅黑"/>
              </a:rPr>
              <a:t> 视觉里程计（VO）：分三类实现 —— 有监督 VO（用标注数据学绝对尺度）、无监督 VO（无标注数据但性能稍弱）、混合 VO（结合几何模型，精度超传统方法）。</a:t>
            </a:r>
          </a:p>
        </p:txBody>
      </p:sp>
      <p:sp>
        <p:nvSpPr>
          <p:cNvPr id="93" name="Google Shape;93;p13">
            <a:extLst xmlns:a="http://schemas.openxmlformats.org/drawingml/2006/main">
              <a:ext uri="{FF2B5EF4-FFF2-40B4-BE49-F238E27FC236}">
                <a16:creationId xmlns:a16="http://schemas.microsoft.com/office/drawing/2014/main" id="{85436283-913F-420D-9DE9-5C3A6F402843}"/>
              </a:ext>
            </a:extLst>
          </p:cNvPr>
          <p:cNvSpPr>
            <a:spLocks xmlns:a="http://schemas.openxmlformats.org/drawingml/2006/main" noGrp="1"/>
          </p:cNvSpPr>
          <p:nvPr/>
        </p:nvSpPr>
        <p:spPr>
          <a:xfrm xmlns:a="http://schemas.openxmlformats.org/drawingml/2006/main">
            <a:off x="408305" y="2678430"/>
            <a:ext cx="4512310" cy="1082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algn="l">
              <a:lnSpc>
                <a:spcPct val="160000"/>
              </a:lnSpc>
              <a:spcBef>
                <a:spcPts val="0"/>
              </a:spcBef>
              <a:spcAft>
                <a:spcPts val="0"/>
              </a:spcAft>
              <a:buClrTx/>
              <a:buSzTx/>
              <a:buFontTx/>
              <a:buNone/>
            </a:pPr>
            <a:r>
              <a:rPr sz="1600" b="1" i="0" u="none" cap="none">
                <a:solidFill>
                  <a:srgbClr val="005088"/>
                </a:solidFill>
                <a:latin typeface="微软雅黑"/>
                <a:ea typeface="微软雅黑"/>
                <a:cs typeface="微软雅黑"/>
              </a:rPr>
              <a:t>·</a:t>
            </a:r>
            <a:r>
              <a:rPr sz="1400" b="0" i="0" u="none" cap="none">
                <a:latin typeface="微软雅黑"/>
                <a:ea typeface="微软雅黑"/>
                <a:cs typeface="微软雅黑"/>
              </a:rPr>
              <a:t>视觉惯性里程计（VIO）：端到端学习 —— 用 CNN 提视觉特征、LSTM 提 IMU 时序特征，融合后预测位姿，对噪声 / 时间同步误差更鲁棒。</a:t>
            </a:r>
          </a:p>
        </p:txBody>
      </p:sp>
      <p:sp>
        <p:nvSpPr>
          <p:cNvPr id="5" name="Google Shape;93;p13">
            <a:extLst xmlns:a="http://schemas.openxmlformats.org/drawingml/2006/main">
              <a:ext uri="{FF2B5EF4-FFF2-40B4-BE49-F238E27FC236}">
                <a16:creationId xmlns:a16="http://schemas.microsoft.com/office/drawing/2014/main" id="{4900B8B3-A7AE-497D-BC65-D35257011E1A}"/>
              </a:ext>
            </a:extLst>
          </p:cNvPr>
          <p:cNvSpPr>
            <a:spLocks xmlns:a="http://schemas.openxmlformats.org/drawingml/2006/main" noGrp="1"/>
          </p:cNvSpPr>
          <p:nvPr/>
        </p:nvSpPr>
        <p:spPr>
          <a:xfrm xmlns:a="http://schemas.openxmlformats.org/drawingml/2006/main">
            <a:off x="481965" y="4131310"/>
            <a:ext cx="4614545" cy="11233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noAutofit/>
          </a:bodyPr>
          <a:lstStyle xmlns:a="http://schemas.openxmlformats.org/drawingml/2006/main"/>
          <a:p xmlns:a="http://schemas.openxmlformats.org/drawingml/2006/main">
            <a:pPr marL="0" marR="0" lvl="0" algn="l">
              <a:lnSpc>
                <a:spcPct val="160000"/>
              </a:lnSpc>
              <a:spcBef>
                <a:spcPts val="0"/>
              </a:spcBef>
              <a:spcAft>
                <a:spcPts val="0"/>
              </a:spcAft>
              <a:buClrTx/>
              <a:buSzTx/>
              <a:buFontTx/>
              <a:buNone/>
            </a:pPr>
            <a:r>
              <a:rPr sz="1600" b="1" i="0" u="none" cap="none">
                <a:solidFill>
                  <a:srgbClr val="005088"/>
                </a:solidFill>
                <a:latin typeface="微软雅黑"/>
                <a:ea typeface="微软雅黑"/>
                <a:cs typeface="微软雅黑"/>
              </a:rPr>
              <a:t>·</a:t>
            </a:r>
            <a:r>
              <a:rPr sz="1400" b="0" i="0" u="none" cap="none">
                <a:latin typeface="微软雅黑"/>
                <a:ea typeface="微软雅黑"/>
                <a:cs typeface="微软雅黑"/>
              </a:rPr>
              <a:t> 闭环检测：升级特征表达 —— 用深度网络学多层次图像特征，对光照 / 季节变化的鲁棒性更强，部分方法支持无监督训练。</a:t>
            </a:r>
          </a:p>
        </p:txBody>
      </p:sp>
      <p:sp>
        <p:nvSpPr>
          <p:cNvPr id="6" name="Google Shape;93;p13">
            <a:extLst xmlns:a="http://schemas.openxmlformats.org/drawingml/2006/main">
              <a:ext uri="{FF2B5EF4-FFF2-40B4-BE49-F238E27FC236}">
                <a16:creationId xmlns:a16="http://schemas.microsoft.com/office/drawing/2014/main" id="{D29BAE8D-268C-4E4B-AC60-3B347E183035}"/>
              </a:ext>
            </a:extLst>
          </p:cNvPr>
          <p:cNvSpPr>
            <a:spLocks xmlns:a="http://schemas.openxmlformats.org/drawingml/2006/main" noGrp="1"/>
          </p:cNvSpPr>
          <p:nvPr/>
        </p:nvSpPr>
        <p:spPr>
          <a:xfrm xmlns:a="http://schemas.openxmlformats.org/drawingml/2006/main">
            <a:off x="6151880" y="2593340"/>
            <a:ext cx="4705350" cy="1082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algn="l">
              <a:lnSpc>
                <a:spcPct val="160000"/>
              </a:lnSpc>
              <a:spcBef>
                <a:spcPts val="0"/>
              </a:spcBef>
              <a:spcAft>
                <a:spcPts val="0"/>
              </a:spcAft>
              <a:buClrTx/>
              <a:buSzTx/>
              <a:buFontTx/>
              <a:buNone/>
            </a:pPr>
            <a:r>
              <a:rPr sz="1600" b="1" i="0" u="none" cap="none">
                <a:solidFill>
                  <a:srgbClr val="005088"/>
                </a:solidFill>
                <a:latin typeface="微软雅黑"/>
                <a:ea typeface="微软雅黑"/>
                <a:cs typeface="微软雅黑"/>
              </a:rPr>
              <a:t>·</a:t>
            </a:r>
            <a:r>
              <a:rPr sz="1400" b="0" i="0" u="none" cap="none">
                <a:latin typeface="微软雅黑"/>
                <a:ea typeface="微软雅黑"/>
                <a:cs typeface="微软雅黑"/>
              </a:rPr>
              <a:t>建图：补全稠密信息 —— 以传统 SLAM 的稀疏结果为输入，用深度估计预测稠密深度图，最终融合成全局一致的稠密三维地图。</a:t>
            </a:r>
          </a:p>
        </p:txBody>
      </p:sp>
      <p:sp>
        <p:nvSpPr>
          <p:cNvPr id="7" name="Google Shape;93;p13">
            <a:extLst xmlns:a="http://schemas.openxmlformats.org/drawingml/2006/main">
              <a:ext uri="{FF2B5EF4-FFF2-40B4-BE49-F238E27FC236}">
                <a16:creationId xmlns:a16="http://schemas.microsoft.com/office/drawing/2014/main" id="{0983435D-059B-441B-8C76-2DC784A1DD62}"/>
              </a:ext>
            </a:extLst>
          </p:cNvPr>
          <p:cNvSpPr>
            <a:spLocks xmlns:a="http://schemas.openxmlformats.org/drawingml/2006/main" noGrp="1"/>
          </p:cNvSpPr>
          <p:nvPr/>
        </p:nvSpPr>
        <p:spPr>
          <a:xfrm xmlns:a="http://schemas.openxmlformats.org/drawingml/2006/main">
            <a:off x="6151880" y="4170045"/>
            <a:ext cx="5047615" cy="1082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6675" tIns="0" rIns="0" bIns="0" anchor="t">
            <a:spAutoFit/>
          </a:bodyPr>
          <a:lstStyle xmlns:a="http://schemas.openxmlformats.org/drawingml/2006/main"/>
          <a:p xmlns:a="http://schemas.openxmlformats.org/drawingml/2006/main">
            <a:pPr marL="0" marR="0" lvl="0" algn="l">
              <a:lnSpc>
                <a:spcPct val="160000"/>
              </a:lnSpc>
              <a:spcBef>
                <a:spcPts val="0"/>
              </a:spcBef>
              <a:spcAft>
                <a:spcPts val="0"/>
              </a:spcAft>
              <a:buClrTx/>
              <a:buSzTx/>
              <a:buFontTx/>
              <a:buNone/>
            </a:pPr>
            <a:r>
              <a:rPr sz="1600" b="1" i="0" u="none" cap="none">
                <a:solidFill>
                  <a:srgbClr val="005088"/>
                </a:solidFill>
                <a:latin typeface="微软雅黑"/>
                <a:ea typeface="微软雅黑"/>
                <a:cs typeface="微软雅黑"/>
              </a:rPr>
              <a:t>·</a:t>
            </a:r>
            <a:r>
              <a:rPr sz="1400" b="0" i="0" u="none" cap="none">
                <a:latin typeface="微软雅黑"/>
                <a:ea typeface="微软雅黑"/>
                <a:cs typeface="微软雅黑"/>
              </a:rPr>
              <a:t>特征提取 / 匹配：替代人工特征 —— 用自监督框架（如 SuperPoint）提更丰富的特征点 / 描述子，泛化性优于传统人工设计特征。</a:t>
            </a:r>
          </a:p>
        </p:txBody>
      </p:sp>
    </p:spTree>
    <p:extLst>
      <p:ext uri="{BB962C8B-B14F-4D97-AF65-F5344CB8AC3E}">
        <p14:creationId xmlns:p14="http://schemas.microsoft.com/office/powerpoint/2010/main" val="1118536882"/>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B16B6ACB-CA95-4F27-BCF7-BDBBA6CEF766}"/>
              </a:ext>
            </a:extLst>
          </p:cNvPr>
          <p:cNvSpPr>
            <a:spLocks xmlns:a="http://schemas.openxmlformats.org/drawingml/2006/main" noGrp="1"/>
          </p:cNvSpPr>
          <p:nvPr/>
        </p:nvSpPr>
        <p:spPr>
          <a:xfrm xmlns:a="http://schemas.openxmlformats.org/drawingml/2006/main" rot="0" flipH="0" flipV="0">
            <a:off x="0" y="939798"/>
            <a:ext cx="5581192"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A3006AEB-10C3-4DC7-83D2-D5AAE31F2101}"/>
              </a:ext>
            </a:extLst>
          </p:cNvPr>
          <p:cNvSpPr>
            <a:spLocks xmlns:a="http://schemas.openxmlformats.org/drawingml/2006/main" noGrp="1"/>
          </p:cNvSpPr>
          <p:nvPr/>
        </p:nvSpPr>
        <p:spPr>
          <a:xfrm xmlns:a="http://schemas.openxmlformats.org/drawingml/2006/main" rot="0" flipH="0" flipV="0">
            <a:off x="301048" y="1021703"/>
            <a:ext cx="5280141"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5.4.1 </a:t>
            </a:r>
            <a:r>
              <a:rPr sz="2400" b="1">
                <a:solidFill>
                  <a:schemeClr val="accent1"/>
                </a:solidFill>
                <a:latin typeface="+mj-lt"/>
                <a:ea typeface="+mj-lt"/>
                <a:cs typeface="+mj-lt"/>
              </a:rPr>
              <a:t>基于值函数的强化学习导航</a:t>
            </a:r>
          </a:p>
        </p:txBody>
      </p:sp>
      <p:pic>
        <p:nvPicPr>
          <p:cNvPr id="30" name="Picture 2"/>
          <p:cNvPicPr>
            <a:picLocks xmlns:a="http://schemas.openxmlformats.org/drawingml/2006/main" noChangeAspect="1"/>
          </p:cNvPicPr>
          <p:nvPr/>
        </p:nvPicPr>
        <p:blipFill>
          <a:blip xmlns:r="http://schemas.openxmlformats.org/officeDocument/2006/relationships" xmlns:a="http://schemas.openxmlformats.org/drawingml/2006/main" r:embed="R132aeed22b6445f8"/>
          <a:srcRect xmlns:a="http://schemas.openxmlformats.org/drawingml/2006/main" l="0" t="0" r="0" b="0"/>
          <a:stretch xmlns:a="http://schemas.openxmlformats.org/drawingml/2006/main">
            <a:fillRect l="0" t="0" r="0" b="0"/>
          </a:stretch>
        </p:blipFill>
        <p:spPr>
          <a:xfrm xmlns:a="http://schemas.openxmlformats.org/drawingml/2006/main">
            <a:off x="6279776" y="1021703"/>
            <a:ext cx="4964792" cy="2464408"/>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78E7F862-5616-D7F9-DE4B-E0B3C45AB3F7}"/>
              </a:ext>
            </a:extLst>
          </p:cNvPr>
          <p:cNvSpPr>
            <a:spLocks xmlns:a="http://schemas.openxmlformats.org/drawingml/2006/main" noGrp="1"/>
          </p:cNvSpPr>
          <p:nvPr/>
        </p:nvSpPr>
        <p:spPr>
          <a:xfrm xmlns:a="http://schemas.openxmlformats.org/drawingml/2006/main">
            <a:off x="331033" y="1999036"/>
            <a:ext cx="5581192" cy="280076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2400" b="1" spc="300"/>
              <a:t>导航主体</a:t>
            </a:r>
            <a:r>
              <a:rPr sz="2400" b="1" spc="300"/>
              <a:t>:</a:t>
            </a:r>
            <a:r>
              <a:rPr sz="2000" spc="300"/>
              <a:t>机器人</a:t>
            </a:r>
            <a:r>
              <a:rPr sz="2000" spc="300"/>
              <a:t>Agent</a:t>
            </a:r>
          </a:p>
          <a:p xmlns:a="http://schemas.openxmlformats.org/drawingml/2006/main">
            <a:pPr algn="just">
              <a:buNone/>
            </a:pPr>
            <a:r>
              <a:rPr sz="2400" b="1" spc="300"/>
              <a:t>交互主体</a:t>
            </a:r>
            <a:r>
              <a:rPr sz="2400" b="1" spc="300"/>
              <a:t>:</a:t>
            </a:r>
            <a:r>
              <a:rPr sz="2000" spc="300"/>
              <a:t>环境</a:t>
            </a:r>
            <a:r>
              <a:rPr sz="2000" spc="300"/>
              <a:t>Environment</a:t>
            </a:r>
          </a:p>
          <a:p xmlns:a="http://schemas.openxmlformats.org/drawingml/2006/main">
            <a:pPr algn="just">
              <a:buNone/>
            </a:pPr>
            <a:endParaRPr sz="2400" spc="300"/>
          </a:p>
          <a:p xmlns:a="http://schemas.openxmlformats.org/drawingml/2006/main">
            <a:pPr algn="just">
              <a:buNone/>
            </a:pPr>
            <a:endParaRPr sz="2400" spc="300"/>
          </a:p>
          <a:p xmlns:a="http://schemas.openxmlformats.org/drawingml/2006/main">
            <a:pPr algn="just">
              <a:buNone/>
            </a:pPr>
            <a:r>
              <a:rPr sz="2000" spc="300"/>
              <a:t>1</a:t>
            </a:r>
            <a:r>
              <a:rPr sz="2000" spc="300"/>
              <a:t>）机器人执行动作</a:t>
            </a:r>
            <a:r>
              <a:rPr sz="2000" spc="300"/>
              <a:t>Action</a:t>
            </a:r>
          </a:p>
          <a:p xmlns:a="http://schemas.openxmlformats.org/drawingml/2006/main">
            <a:pPr algn="just">
              <a:buNone/>
            </a:pPr>
            <a:r>
              <a:rPr sz="2000" spc="300"/>
              <a:t>2</a:t>
            </a:r>
            <a:r>
              <a:rPr sz="2000" spc="300"/>
              <a:t>）与环境交互获得奖励</a:t>
            </a:r>
            <a:r>
              <a:rPr sz="2000" spc="300"/>
              <a:t>Reward</a:t>
            </a:r>
            <a:r>
              <a:rPr sz="2000" spc="300"/>
              <a:t>作为反馈</a:t>
            </a:r>
            <a:endParaRPr sz="2000" spc="300"/>
          </a:p>
          <a:p xmlns:a="http://schemas.openxmlformats.org/drawingml/2006/main">
            <a:pPr algn="just">
              <a:buNone/>
            </a:pPr>
            <a:r>
              <a:rPr sz="2000" spc="300"/>
              <a:t>3</a:t>
            </a:r>
            <a:r>
              <a:rPr sz="2000" spc="300"/>
              <a:t>）得到自身状态和环境状态的转移</a:t>
            </a:r>
            <a:endParaRPr sz="2000" spc="300"/>
          </a:p>
          <a:p xmlns:a="http://schemas.openxmlformats.org/drawingml/2006/main">
            <a:pPr algn="just">
              <a:buNone/>
            </a:pPr>
            <a:endParaRPr sz="2000" spc="300"/>
          </a:p>
        </p:txBody>
      </p:sp>
      <p:sp>
        <p:nvSpPr>
          <p:cNvPr id="9" name="文本框 8">
            <a:extLst xmlns:a="http://schemas.openxmlformats.org/drawingml/2006/main">
              <a:ext uri="{FF2B5EF4-FFF2-40B4-BE49-F238E27FC236}">
                <a16:creationId xmlns:a16="http://schemas.microsoft.com/office/drawing/2014/main" id="{2BF9E281-CB3C-A8EB-EE4D-CE4A14209ED1}"/>
              </a:ext>
            </a:extLst>
          </p:cNvPr>
          <p:cNvSpPr>
            <a:spLocks xmlns:a="http://schemas.openxmlformats.org/drawingml/2006/main" noGrp="1"/>
          </p:cNvSpPr>
          <p:nvPr/>
        </p:nvSpPr>
        <p:spPr>
          <a:xfrm xmlns:a="http://schemas.openxmlformats.org/drawingml/2006/main" rot="0" flipH="0" flipV="0">
            <a:off x="257703" y="5014502"/>
            <a:ext cx="21383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2000" b="1" spc="300"/>
              <a:t>复杂导航任务</a:t>
            </a:r>
          </a:p>
        </p:txBody>
      </p:sp>
      <p:sp>
        <p:nvSpPr>
          <p:cNvPr id="17" name="文本框 16">
            <a:extLst xmlns:a="http://schemas.openxmlformats.org/drawingml/2006/main">
              <a:ext uri="{FF2B5EF4-FFF2-40B4-BE49-F238E27FC236}">
                <a16:creationId xmlns:a16="http://schemas.microsoft.com/office/drawing/2014/main" id="{F84FDB30-9663-EF52-ACEB-3C1522520CD4}"/>
              </a:ext>
            </a:extLst>
          </p:cNvPr>
          <p:cNvSpPr>
            <a:spLocks xmlns:a="http://schemas.openxmlformats.org/drawingml/2006/main" noGrp="1"/>
          </p:cNvSpPr>
          <p:nvPr/>
        </p:nvSpPr>
        <p:spPr>
          <a:xfrm xmlns:a="http://schemas.openxmlformats.org/drawingml/2006/main" rot="0" flipH="0" flipV="0">
            <a:off x="3617009" y="4964701"/>
            <a:ext cx="3308226"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2000" b="1" spc="300"/>
              <a:t>决策序列问题</a:t>
            </a:r>
            <a:endParaRPr sz="2000" b="1" spc="300"/>
          </a:p>
          <a:p xmlns:a="http://schemas.openxmlformats.org/drawingml/2006/main">
            <a:pPr algn="just">
              <a:buNone/>
            </a:pPr>
            <a:r>
              <a:rPr sz="1600" b="1" spc="300"/>
              <a:t>(Decision Sequence</a:t>
            </a:r>
            <a:r>
              <a:rPr sz="1600" b="1" spc="300"/>
              <a:t>）</a:t>
            </a:r>
          </a:p>
        </p:txBody>
      </p:sp>
      <p:sp>
        <p:nvSpPr>
          <p:cNvPr id="20" name="箭头: 右 19">
            <a:extLst xmlns:a="http://schemas.openxmlformats.org/drawingml/2006/main">
              <a:ext uri="{FF2B5EF4-FFF2-40B4-BE49-F238E27FC236}">
                <a16:creationId xmlns:a16="http://schemas.microsoft.com/office/drawing/2014/main" id="{A96F82E9-6424-64D5-A500-8C7091AB5116}"/>
              </a:ext>
            </a:extLst>
          </p:cNvPr>
          <p:cNvSpPr>
            <a:spLocks xmlns:a="http://schemas.openxmlformats.org/drawingml/2006/main" noGrp="1"/>
          </p:cNvSpPr>
          <p:nvPr/>
        </p:nvSpPr>
        <p:spPr>
          <a:xfrm xmlns:a="http://schemas.openxmlformats.org/drawingml/2006/main" rot="0" flipH="0" flipV="0">
            <a:off x="2396035" y="5084816"/>
            <a:ext cx="904128" cy="259481"/>
          </a:xfrm>
          <a:prstGeom xmlns:a="http://schemas.openxmlformats.org/drawingml/2006/main" prst="rightArrow">
            <a:avLst>
              <a:gd name="adj1" fmla="val 33195"/>
              <a:gd name="adj2" fmla="val 76887"/>
            </a:avLst>
          </a:prstGeom>
          <a:solidFill xmlns:a="http://schemas.openxmlformats.org/drawingml/2006/main">
            <a:srgbClr val="0D2D7F"/>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文本框 20">
            <a:extLst xmlns:a="http://schemas.openxmlformats.org/drawingml/2006/main">
              <a:ext uri="{FF2B5EF4-FFF2-40B4-BE49-F238E27FC236}">
                <a16:creationId xmlns:a16="http://schemas.microsoft.com/office/drawing/2014/main" id="{15C17329-5A59-8D3C-939D-E3AF98833585}"/>
              </a:ext>
            </a:extLst>
          </p:cNvPr>
          <p:cNvSpPr>
            <a:spLocks xmlns:a="http://schemas.openxmlformats.org/drawingml/2006/main" noGrp="1"/>
          </p:cNvSpPr>
          <p:nvPr/>
        </p:nvSpPr>
        <p:spPr>
          <a:xfrm xmlns:a="http://schemas.openxmlformats.org/drawingml/2006/main" rot="0" flipH="0" flipV="0">
            <a:off x="2396035" y="4684706"/>
            <a:ext cx="77552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b="1" spc="300"/>
              <a:t>交互</a:t>
            </a:r>
          </a:p>
        </p:txBody>
      </p:sp>
      <p:sp>
        <p:nvSpPr>
          <p:cNvPr id="23" name="文本框 22">
            <a:extLst xmlns:a="http://schemas.openxmlformats.org/drawingml/2006/main">
              <a:ext uri="{FF2B5EF4-FFF2-40B4-BE49-F238E27FC236}">
                <a16:creationId xmlns:a16="http://schemas.microsoft.com/office/drawing/2014/main" id="{C9C1AFAB-313F-5E5D-DE16-5673618E6E59}"/>
              </a:ext>
            </a:extLst>
          </p:cNvPr>
          <p:cNvSpPr>
            <a:spLocks xmlns:a="http://schemas.openxmlformats.org/drawingml/2006/main" noGrp="1"/>
          </p:cNvSpPr>
          <p:nvPr/>
        </p:nvSpPr>
        <p:spPr>
          <a:xfrm xmlns:a="http://schemas.openxmlformats.org/drawingml/2006/main" rot="0" flipH="0" flipV="0">
            <a:off x="6734484" y="3702362"/>
            <a:ext cx="3308226"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2000" b="1" spc="300"/>
              <a:t>基本定义</a:t>
            </a:r>
            <a:r>
              <a:rPr sz="1600" b="1" spc="300"/>
              <a:t>：</a:t>
            </a:r>
            <a:endParaRPr sz="1600" b="1" spc="300"/>
          </a:p>
        </p:txBody>
      </p:sp>
      <p:sp>
        <p:nvSpPr>
          <p:cNvPr id="25" name="文本框 24">
            <a:extLst xmlns:a="http://schemas.openxmlformats.org/drawingml/2006/main">
              <a:ext uri="{FF2B5EF4-FFF2-40B4-BE49-F238E27FC236}">
                <a16:creationId xmlns:a16="http://schemas.microsoft.com/office/drawing/2014/main" id="{BC6D5FCD-37F5-E1D6-CDE7-5AA71DB6E7F5}"/>
              </a:ext>
            </a:extLst>
          </p:cNvPr>
          <p:cNvSpPr>
            <a:spLocks xmlns:a="http://schemas.openxmlformats.org/drawingml/2006/main" noGrp="1"/>
          </p:cNvSpPr>
          <p:nvPr/>
        </p:nvSpPr>
        <p:spPr>
          <a:xfrm xmlns:a="http://schemas.openxmlformats.org/drawingml/2006/main" rot="0" flipH="0" flipV="0">
            <a:off x="6627681" y="4118220"/>
            <a:ext cx="5029200"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b="1" spc="300"/>
              <a:t>1.</a:t>
            </a:r>
            <a:r>
              <a:rPr sz="1800" b="1" spc="300"/>
              <a:t>状态（</a:t>
            </a:r>
            <a:r>
              <a:rPr sz="1800" b="1" spc="300"/>
              <a:t>State</a:t>
            </a:r>
            <a:r>
              <a:rPr sz="1800" b="1" spc="300"/>
              <a:t>）</a:t>
            </a:r>
            <a:endParaRPr sz="1800" b="1" spc="300"/>
          </a:p>
          <a:p xmlns:a="http://schemas.openxmlformats.org/drawingml/2006/main">
            <a:pPr algn="just">
              <a:buNone/>
            </a:pPr>
            <a:r>
              <a:t>机器人在每一个时间步上和环境交互的全部信息</a:t>
            </a:r>
            <a:r>
              <a:t>(</a:t>
            </a:r>
            <a:r>
              <a:t>位置、姿态</a:t>
            </a:r>
            <a:r>
              <a:t>)</a:t>
            </a:r>
            <a:r>
              <a:t>，时间步</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𝑡</m:t>
                  </m:r>
                </m:oMath>
              </m:oMathPara>
            </a14:m>
            <a:r>
              <a:rPr sz="1800" spc="300"/>
              <a:t>上状态记为</a:t>
            </a:r>
            <a14:m xmlns:a14="http://schemas.microsoft.com/office/drawing/2010/main">
              <m:oMathPara xmlns:m="http://schemas.openxmlformats.org/officeDocument/2006/math">
                <m:oMath>
                  <m:sSub>
                    <m:e>
                      <m:r>
                        <a:rPr xmlns:a="http://schemas.openxmlformats.org/drawingml/2006/main" lang="en-US" sz="1800"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oMath>
              </m:oMathPara>
            </a14:m>
            <a:r>
              <a:rPr sz="1800" spc="300"/>
              <a:t>,</a:t>
            </a:r>
            <a:r>
              <a:rPr sz="1800" spc="300"/>
              <a:t>总的状态空间记为</a:t>
            </a:r>
            <a14:m xmlns:a14="http://schemas.microsoft.com/office/drawing/2010/main">
              <m:oMathPara xmlns:m="http://schemas.openxmlformats.org/officeDocument/2006/math">
                <m:oMath>
                  <m:r>
                    <a:rPr xmlns:a="http://schemas.openxmlformats.org/drawingml/2006/main" lang="en-US" sz="1800" b="1" i="1">
                      <a:latin typeface="Cambria Math"/>
                      <a:ea typeface="Cambria Math"/>
                      <a:cs typeface="Cambria Math"/>
                    </a:rPr>
                    <m:t>𝑺</m:t>
                  </m:r>
                </m:oMath>
              </m:oMathPara>
            </a14:m>
            <a:endParaRPr sz="1800" b="1" spc="300"/>
          </a:p>
        </p:txBody>
      </p:sp>
      <p:sp>
        <p:nvSpPr>
          <p:cNvPr id="26" name="文本框 25">
            <a:extLst xmlns:a="http://schemas.openxmlformats.org/drawingml/2006/main">
              <a:ext uri="{FF2B5EF4-FFF2-40B4-BE49-F238E27FC236}">
                <a16:creationId xmlns:a16="http://schemas.microsoft.com/office/drawing/2014/main" id="{184F29E4-4B02-1987-4020-37F1BAFE50F8}"/>
              </a:ext>
            </a:extLst>
          </p:cNvPr>
          <p:cNvSpPr>
            <a:spLocks xmlns:a="http://schemas.openxmlformats.org/drawingml/2006/main" noGrp="1"/>
          </p:cNvSpPr>
          <p:nvPr/>
        </p:nvSpPr>
        <p:spPr>
          <a:xfrm xmlns:a="http://schemas.openxmlformats.org/drawingml/2006/main" rot="0" flipH="0" flipV="0">
            <a:off x="6627681" y="5287866"/>
            <a:ext cx="5029200"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b="1" spc="300"/>
              <a:t>2</a:t>
            </a:r>
            <a:r>
              <a:rPr sz="1800" b="1" spc="300"/>
              <a:t>.</a:t>
            </a:r>
            <a:r>
              <a:rPr sz="1800" b="1" spc="300"/>
              <a:t>动作（</a:t>
            </a:r>
            <a:r>
              <a:rPr sz="1800" b="1" spc="300"/>
              <a:t>Action</a:t>
            </a:r>
            <a:r>
              <a:rPr sz="1800" b="1" spc="300"/>
              <a:t>）</a:t>
            </a:r>
            <a:endParaRPr sz="1800" b="1" spc="300"/>
          </a:p>
          <a:p xmlns:a="http://schemas.openxmlformats.org/drawingml/2006/main">
            <a:pPr algn="just">
              <a:buNone/>
            </a:pPr>
            <a:r>
              <a:t>机器人在时间步</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𝑡</m:t>
                  </m:r>
                </m:oMath>
              </m:oMathPara>
            </a14:m>
            <a:r>
              <a:rPr sz="1800" spc="300"/>
              <a:t>上完成的活动记为</a:t>
            </a:r>
            <a14:m xmlns:a14="http://schemas.microsoft.com/office/drawing/2010/main">
              <m:oMathPara xmlns:m="http://schemas.openxmlformats.org/officeDocument/2006/math">
                <m:oMath>
                  <m:sSub>
                    <m:e>
                      <m:r>
                        <a:rPr xmlns:a="http://schemas.openxmlformats.org/drawingml/2006/main" lang="en-US" sz="1800" b="0" i="1">
                          <a:latin typeface="Cambria Math"/>
                          <a:ea typeface="Cambria Math"/>
                          <a:cs typeface="Cambria Math"/>
                        </a:rPr>
                        <m:t>𝑎</m:t>
                      </m:r>
                    </m:e>
                    <m:sub>
                      <m:r>
                        <a:rPr xmlns:a="http://schemas.openxmlformats.org/drawingml/2006/main" lang="en-US" b="0" i="1">
                          <a:latin typeface="Cambria Math"/>
                          <a:ea typeface="Cambria Math"/>
                          <a:cs typeface="Cambria Math"/>
                        </a:rPr>
                        <m:t>𝑡</m:t>
                      </m:r>
                    </m:sub>
                  </m:sSub>
                </m:oMath>
              </m:oMathPara>
            </a14:m>
            <a:r>
              <a:rPr sz="1800" spc="300"/>
              <a:t>,</a:t>
            </a:r>
            <a:r>
              <a:rPr spc="300"/>
              <a:t>决策过程中所有候选动作构成动作空间</a:t>
            </a:r>
            <a:r>
              <a:rPr sz="1800" spc="300"/>
              <a:t>记为</a:t>
            </a:r>
            <a14:m xmlns:a14="http://schemas.microsoft.com/office/drawing/2010/main">
              <m:oMathPara xmlns:m="http://schemas.openxmlformats.org/officeDocument/2006/math">
                <m:oMath>
                  <m:r>
                    <a:rPr xmlns:a="http://schemas.openxmlformats.org/drawingml/2006/main" lang="en-US" sz="1800" b="1" i="1">
                      <a:latin typeface="Cambria Math"/>
                      <a:ea typeface="Cambria Math"/>
                      <a:cs typeface="Cambria Math"/>
                    </a:rPr>
                    <m:t>𝑨</m:t>
                  </m:r>
                </m:oMath>
              </m:oMathPara>
            </a14:m>
            <a:endParaRPr sz="1800" b="1" spc="300"/>
          </a:p>
        </p:txBody>
      </p:sp>
    </p:spTree>
    <p:extLst>
      <p:ext uri="{BB962C8B-B14F-4D97-AF65-F5344CB8AC3E}">
        <p14:creationId xmlns:p14="http://schemas.microsoft.com/office/powerpoint/2010/main" val="102881477"/>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437DDEFF-9895-4F08-227F-2612C0063475}"/>
              </a:ext>
            </a:extLst>
          </p:cNvPr>
          <p:cNvSpPr>
            <a:spLocks xmlns:a="http://schemas.openxmlformats.org/drawingml/2006/main" noGrp="1"/>
          </p:cNvSpPr>
          <p:nvPr/>
        </p:nvSpPr>
        <p:spPr>
          <a:xfrm xmlns:a="http://schemas.openxmlformats.org/drawingml/2006/main" rot="0" flipH="0" flipV="0">
            <a:off x="-1" y="939798"/>
            <a:ext cx="5511575"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F13BD7E4-FD9D-55BC-7F2D-A18E29EA9969}"/>
              </a:ext>
            </a:extLst>
          </p:cNvPr>
          <p:cNvSpPr>
            <a:spLocks xmlns:a="http://schemas.openxmlformats.org/drawingml/2006/main" noGrp="1"/>
          </p:cNvSpPr>
          <p:nvPr/>
        </p:nvSpPr>
        <p:spPr>
          <a:xfrm xmlns:a="http://schemas.openxmlformats.org/drawingml/2006/main" rot="0" flipH="0" flipV="0">
            <a:off x="297292" y="1021703"/>
            <a:ext cx="521428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5.4.1 </a:t>
            </a:r>
            <a:r>
              <a:rPr sz="2400" b="1">
                <a:solidFill>
                  <a:schemeClr val="accent1"/>
                </a:solidFill>
                <a:latin typeface="+mj-lt"/>
                <a:ea typeface="+mj-lt"/>
                <a:cs typeface="+mj-lt"/>
              </a:rPr>
              <a:t>基于值函数的强化学习导航</a:t>
            </a:r>
          </a:p>
        </p:txBody>
      </p:sp>
      <p:sp>
        <p:nvSpPr>
          <p:cNvPr id="7" name="文本框 6">
            <a:extLst xmlns:a="http://schemas.openxmlformats.org/drawingml/2006/main">
              <a:ext uri="{FF2B5EF4-FFF2-40B4-BE49-F238E27FC236}">
                <a16:creationId xmlns:a16="http://schemas.microsoft.com/office/drawing/2014/main" id="{7A2B8CA8-CF71-7FBA-2FC4-FEAD8B6E2C94}"/>
              </a:ext>
            </a:extLst>
          </p:cNvPr>
          <p:cNvSpPr>
            <a:spLocks xmlns:a="http://schemas.openxmlformats.org/drawingml/2006/main" noGrp="1"/>
          </p:cNvSpPr>
          <p:nvPr/>
        </p:nvSpPr>
        <p:spPr>
          <a:xfrm xmlns:a="http://schemas.openxmlformats.org/drawingml/2006/main" rot="0" flipH="0" flipV="0">
            <a:off x="589178" y="1752538"/>
            <a:ext cx="3308226"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2000" b="1" spc="300"/>
              <a:t>基本定义</a:t>
            </a:r>
            <a:r>
              <a:rPr sz="1600" b="1" spc="300"/>
              <a:t>：</a:t>
            </a:r>
            <a:endParaRPr sz="1600" b="1" spc="300"/>
          </a:p>
        </p:txBody>
      </p:sp>
      <p:sp>
        <p:nvSpPr>
          <p:cNvPr id="8" name="文本框 7">
            <a:extLst xmlns:a="http://schemas.openxmlformats.org/drawingml/2006/main">
              <a:ext uri="{FF2B5EF4-FFF2-40B4-BE49-F238E27FC236}">
                <a16:creationId xmlns:a16="http://schemas.microsoft.com/office/drawing/2014/main" id="{6F1B97F7-FCA1-D333-42DE-761664E74571}"/>
              </a:ext>
            </a:extLst>
          </p:cNvPr>
          <p:cNvSpPr>
            <a:spLocks xmlns:a="http://schemas.openxmlformats.org/drawingml/2006/main" noGrp="1"/>
          </p:cNvSpPr>
          <p:nvPr/>
        </p:nvSpPr>
        <p:spPr>
          <a:xfrm xmlns:a="http://schemas.openxmlformats.org/drawingml/2006/main" rot="0" flipH="0" flipV="0">
            <a:off x="482375" y="2168396"/>
            <a:ext cx="5029200"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b="1" spc="300"/>
              <a:t>1.</a:t>
            </a:r>
            <a:r>
              <a:rPr sz="1800" b="1" spc="300"/>
              <a:t>状态（</a:t>
            </a:r>
            <a:r>
              <a:rPr sz="1800" b="1" spc="300"/>
              <a:t>State</a:t>
            </a:r>
            <a:r>
              <a:rPr sz="1800" b="1" spc="300"/>
              <a:t>）</a:t>
            </a:r>
            <a:endParaRPr sz="1800" b="1" spc="300"/>
          </a:p>
          <a:p xmlns:a="http://schemas.openxmlformats.org/drawingml/2006/main">
            <a:pPr algn="just">
              <a:buNone/>
            </a:pPr>
            <a:r>
              <a:t>机器人在每一个时间步上和环境交互的全部信息</a:t>
            </a:r>
            <a:r>
              <a:t>(</a:t>
            </a:r>
            <a:r>
              <a:t>位置、姿态</a:t>
            </a:r>
            <a:r>
              <a:t>)</a:t>
            </a:r>
            <a:r>
              <a:t>，时间步</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𝑡</m:t>
                  </m:r>
                </m:oMath>
              </m:oMathPara>
            </a14:m>
            <a:r>
              <a:rPr sz="1800" spc="300"/>
              <a:t>上状态记为</a:t>
            </a:r>
            <a14:m xmlns:a14="http://schemas.microsoft.com/office/drawing/2010/main">
              <m:oMathPara xmlns:m="http://schemas.openxmlformats.org/officeDocument/2006/math">
                <m:oMath>
                  <m:sSub>
                    <m:e>
                      <m:r>
                        <a:rPr xmlns:a="http://schemas.openxmlformats.org/drawingml/2006/main" lang="en-US" sz="1800"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oMath>
              </m:oMathPara>
            </a14:m>
            <a:r>
              <a:rPr sz="1800" spc="300"/>
              <a:t>,</a:t>
            </a:r>
            <a:r>
              <a:rPr sz="1800" spc="300"/>
              <a:t>总的状态空间记为</a:t>
            </a:r>
            <a14:m xmlns:a14="http://schemas.microsoft.com/office/drawing/2010/main">
              <m:oMathPara xmlns:m="http://schemas.openxmlformats.org/officeDocument/2006/math">
                <m:oMath>
                  <m:r>
                    <a:rPr xmlns:a="http://schemas.openxmlformats.org/drawingml/2006/main" lang="en-US" sz="1800" b="1" i="1">
                      <a:latin typeface="Cambria Math"/>
                      <a:ea typeface="Cambria Math"/>
                      <a:cs typeface="Cambria Math"/>
                    </a:rPr>
                    <m:t>𝑺</m:t>
                  </m:r>
                </m:oMath>
              </m:oMathPara>
            </a14:m>
            <a:endParaRPr sz="1800" b="1" spc="300"/>
          </a:p>
        </p:txBody>
      </p:sp>
      <p:sp>
        <p:nvSpPr>
          <p:cNvPr id="10" name="文本框 9">
            <a:extLst xmlns:a="http://schemas.openxmlformats.org/drawingml/2006/main">
              <a:ext uri="{FF2B5EF4-FFF2-40B4-BE49-F238E27FC236}">
                <a16:creationId xmlns:a16="http://schemas.microsoft.com/office/drawing/2014/main" id="{22A13CFB-5812-7AA8-A123-84C08621D5CB}"/>
              </a:ext>
            </a:extLst>
          </p:cNvPr>
          <p:cNvSpPr>
            <a:spLocks xmlns:a="http://schemas.openxmlformats.org/drawingml/2006/main" noGrp="1"/>
          </p:cNvSpPr>
          <p:nvPr/>
        </p:nvSpPr>
        <p:spPr>
          <a:xfrm xmlns:a="http://schemas.openxmlformats.org/drawingml/2006/main" rot="0" flipH="0" flipV="0">
            <a:off x="482375" y="3338042"/>
            <a:ext cx="5029200"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b="1" spc="300"/>
              <a:t>2</a:t>
            </a:r>
            <a:r>
              <a:rPr sz="1800" b="1" spc="300"/>
              <a:t>.</a:t>
            </a:r>
            <a:r>
              <a:rPr sz="1800" b="1" spc="300"/>
              <a:t>动作（</a:t>
            </a:r>
            <a:r>
              <a:rPr sz="1800" b="1" spc="300"/>
              <a:t>Action</a:t>
            </a:r>
            <a:r>
              <a:rPr sz="1800" b="1" spc="300"/>
              <a:t>）</a:t>
            </a:r>
            <a:endParaRPr sz="1800" b="1" spc="300"/>
          </a:p>
          <a:p xmlns:a="http://schemas.openxmlformats.org/drawingml/2006/main">
            <a:pPr algn="just">
              <a:buNone/>
            </a:pPr>
            <a:r>
              <a:t>机器人在时间步</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𝑡</m:t>
                  </m:r>
                </m:oMath>
              </m:oMathPara>
            </a14:m>
            <a:r>
              <a:rPr sz="1800" spc="300"/>
              <a:t>上完成的活动记为</a:t>
            </a:r>
            <a14:m xmlns:a14="http://schemas.microsoft.com/office/drawing/2010/main">
              <m:oMathPara xmlns:m="http://schemas.openxmlformats.org/officeDocument/2006/math">
                <m:oMath>
                  <m:sSub>
                    <m:e>
                      <m:r>
                        <a:rPr xmlns:a="http://schemas.openxmlformats.org/drawingml/2006/main" lang="en-US" sz="1800" b="0" i="1">
                          <a:latin typeface="Cambria Math"/>
                          <a:ea typeface="Cambria Math"/>
                          <a:cs typeface="Cambria Math"/>
                        </a:rPr>
                        <m:t>𝑎</m:t>
                      </m:r>
                    </m:e>
                    <m:sub>
                      <m:r>
                        <a:rPr xmlns:a="http://schemas.openxmlformats.org/drawingml/2006/main" lang="en-US" b="0" i="1">
                          <a:latin typeface="Cambria Math"/>
                          <a:ea typeface="Cambria Math"/>
                          <a:cs typeface="Cambria Math"/>
                        </a:rPr>
                        <m:t>𝑡</m:t>
                      </m:r>
                    </m:sub>
                  </m:sSub>
                </m:oMath>
              </m:oMathPara>
            </a14:m>
            <a:r>
              <a:rPr sz="1800" spc="300"/>
              <a:t>,</a:t>
            </a:r>
            <a:r>
              <a:rPr spc="300"/>
              <a:t>决策过程中所有候选动作构成动作空间</a:t>
            </a:r>
            <a:r>
              <a:rPr sz="1800" spc="300"/>
              <a:t>记为</a:t>
            </a:r>
            <a14:m xmlns:a14="http://schemas.microsoft.com/office/drawing/2010/main">
              <m:oMathPara xmlns:m="http://schemas.openxmlformats.org/officeDocument/2006/math">
                <m:oMath>
                  <m:r>
                    <a:rPr xmlns:a="http://schemas.openxmlformats.org/drawingml/2006/main" lang="en-US" sz="1800" b="1" i="1">
                      <a:latin typeface="Cambria Math"/>
                      <a:ea typeface="Cambria Math"/>
                      <a:cs typeface="Cambria Math"/>
                    </a:rPr>
                    <m:t>𝑨</m:t>
                  </m:r>
                </m:oMath>
              </m:oMathPara>
            </a14:m>
            <a:endParaRPr sz="1800" b="1" spc="300"/>
          </a:p>
        </p:txBody>
      </p:sp>
      <p:sp>
        <p:nvSpPr>
          <p:cNvPr id="11" name="文本框 10">
            <a:extLst xmlns:a="http://schemas.openxmlformats.org/drawingml/2006/main">
              <a:ext uri="{FF2B5EF4-FFF2-40B4-BE49-F238E27FC236}">
                <a16:creationId xmlns:a16="http://schemas.microsoft.com/office/drawing/2014/main" id="{6909EC2C-9949-175D-CE2A-D4F4E3C50E9F}"/>
              </a:ext>
            </a:extLst>
          </p:cNvPr>
          <p:cNvSpPr>
            <a:spLocks xmlns:a="http://schemas.openxmlformats.org/drawingml/2006/main" noGrp="1"/>
          </p:cNvSpPr>
          <p:nvPr/>
        </p:nvSpPr>
        <p:spPr>
          <a:xfrm xmlns:a="http://schemas.openxmlformats.org/drawingml/2006/main">
            <a:off x="482375" y="4261372"/>
            <a:ext cx="5029200"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b="1" spc="300"/>
              <a:t>3.</a:t>
            </a:r>
            <a:r>
              <a:rPr b="1" spc="300"/>
              <a:t>奖励</a:t>
            </a:r>
            <a:r>
              <a:rPr sz="1800" b="1" spc="300"/>
              <a:t>（</a:t>
            </a:r>
            <a:r>
              <a:rPr b="1" spc="300"/>
              <a:t>Reward</a:t>
            </a:r>
            <a:r>
              <a:rPr sz="1800" b="1" spc="300"/>
              <a:t>）</a:t>
            </a:r>
            <a:endParaRPr sz="1800" b="1" spc="300"/>
          </a:p>
          <a:p xmlns:a="http://schemas.openxmlformats.org/drawingml/2006/main">
            <a:pPr algn="just">
              <a:buNone/>
            </a:pPr>
            <a:r>
              <a:t>机器人在每个时间步上通过执行动作</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𝑡</m:t>
                      </m:r>
                    </m:sub>
                  </m:sSub>
                </m:oMath>
              </m:oMathPara>
            </a14:m>
            <a:r>
              <a:t>从导航环境获得的反馈，记为</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sub>
                  </m:sSub>
                </m:oMath>
              </m:oMathPara>
            </a14:m>
            <a:endParaRPr sz="1800" b="1" spc="300"/>
          </a:p>
        </p:txBody>
      </p:sp>
      <p:sp>
        <p:nvSpPr>
          <p:cNvPr id="12" name="文本框 11">
            <a:extLst xmlns:a="http://schemas.openxmlformats.org/drawingml/2006/main">
              <a:ext uri="{FF2B5EF4-FFF2-40B4-BE49-F238E27FC236}">
                <a16:creationId xmlns:a16="http://schemas.microsoft.com/office/drawing/2014/main" id="{3CCAA1C6-90FC-5B1D-F69F-01ECA45356D4}"/>
              </a:ext>
            </a:extLst>
          </p:cNvPr>
          <p:cNvSpPr>
            <a:spLocks xmlns:a="http://schemas.openxmlformats.org/drawingml/2006/main" noGrp="1"/>
          </p:cNvSpPr>
          <p:nvPr/>
        </p:nvSpPr>
        <p:spPr>
          <a:xfrm xmlns:a="http://schemas.openxmlformats.org/drawingml/2006/main">
            <a:off x="5959810" y="2152648"/>
            <a:ext cx="5029200"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b="1" spc="300"/>
              <a:t>4</a:t>
            </a:r>
            <a:r>
              <a:rPr sz="1800" b="1" spc="300"/>
              <a:t>.</a:t>
            </a:r>
            <a:r>
              <a:rPr sz="1800" b="1" spc="300"/>
              <a:t>策略（</a:t>
            </a:r>
            <a:r>
              <a:rPr b="1" spc="300"/>
              <a:t>Police</a:t>
            </a:r>
            <a:r>
              <a:rPr sz="1800" b="1" spc="300"/>
              <a:t>）</a:t>
            </a:r>
            <a:endParaRPr sz="1800" b="1" spc="300"/>
          </a:p>
          <a:p xmlns:a="http://schemas.openxmlformats.org/drawingml/2006/main">
            <a:r>
              <a:t>以时间步</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𝑡</m:t>
                  </m:r>
                </m:oMath>
              </m:oMathPara>
            </a14:m>
            <a:r>
              <a:t>机器人的状态</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oMath>
              </m:oMathPara>
            </a14:m>
            <a:r>
              <a:t>为输入、在动作空间</a:t>
            </a:r>
            <a14:m xmlns:a14="http://schemas.microsoft.com/office/drawing/2010/main">
              <m:oMathPara xmlns:m="http://schemas.openxmlformats.org/officeDocument/2006/math">
                <m:oMath>
                  <m:r>
                    <a:rPr xmlns:a="http://schemas.openxmlformats.org/drawingml/2006/main" lang="en-US" b="1" i="1">
                      <a:latin typeface="Cambria Math"/>
                      <a:ea typeface="Cambria Math"/>
                      <a:cs typeface="Cambria Math"/>
                    </a:rPr>
                    <m:t>𝑨</m:t>
                  </m:r>
                </m:oMath>
              </m:oMathPara>
            </a14:m>
            <a:r>
              <a:t>上的概率分布</a:t>
            </a:r>
            <a:r>
              <a:t>,</a:t>
            </a:r>
            <a:r>
              <a:t>实现状态空间</a:t>
            </a:r>
            <a14:m xmlns:a14="http://schemas.microsoft.com/office/drawing/2010/main">
              <m:oMathPara xmlns:m="http://schemas.openxmlformats.org/officeDocument/2006/math">
                <m:oMath>
                  <m:r>
                    <a:rPr xmlns:a="http://schemas.openxmlformats.org/drawingml/2006/main" lang="en-US" b="1" i="1">
                      <a:latin typeface="Cambria Math"/>
                      <a:ea typeface="Cambria Math"/>
                      <a:cs typeface="Cambria Math"/>
                    </a:rPr>
                    <m:t>𝑺</m:t>
                  </m:r>
                </m:oMath>
              </m:oMathPara>
            </a14:m>
            <a:r>
              <a:t>到动作空间</a:t>
            </a:r>
            <a14:m xmlns:a14="http://schemas.microsoft.com/office/drawing/2010/main">
              <m:oMathPara xmlns:m="http://schemas.openxmlformats.org/officeDocument/2006/math">
                <m:oMath>
                  <m:r>
                    <a:rPr xmlns:a="http://schemas.openxmlformats.org/drawingml/2006/main" lang="en-US" b="1" i="1">
                      <a:latin typeface="Cambria Math"/>
                      <a:ea typeface="Cambria Math"/>
                      <a:cs typeface="Cambria Math"/>
                    </a:rPr>
                    <m:t>𝑨</m:t>
                  </m:r>
                </m:oMath>
              </m:oMathPara>
            </a14:m>
            <a:r>
              <a:t>的映射，记为</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𝜋</m:t>
                  </m:r>
                </m:oMath>
              </m:oMathPara>
            </a14:m>
            <a:endParaRPr sz="1800" b="1" spc="300"/>
          </a:p>
        </p:txBody>
      </p:sp>
      <p:sp>
        <p:nvSpPr>
          <p:cNvPr id="13" name="文本框 12">
            <a:extLst xmlns:a="http://schemas.openxmlformats.org/drawingml/2006/main">
              <a:ext uri="{FF2B5EF4-FFF2-40B4-BE49-F238E27FC236}">
                <a16:creationId xmlns:a16="http://schemas.microsoft.com/office/drawing/2014/main" id="{32A4162E-DB6F-E56D-0808-69D3436090DF}"/>
              </a:ext>
            </a:extLst>
          </p:cNvPr>
          <p:cNvSpPr>
            <a:spLocks xmlns:a="http://schemas.openxmlformats.org/drawingml/2006/main" noGrp="1"/>
          </p:cNvSpPr>
          <p:nvPr/>
        </p:nvSpPr>
        <p:spPr>
          <a:xfrm xmlns:a="http://schemas.openxmlformats.org/drawingml/2006/main">
            <a:off x="5959810" y="3368725"/>
            <a:ext cx="5029200"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b="1" spc="300"/>
              <a:t>5.</a:t>
            </a:r>
            <a:r>
              <a:rPr sz="1800" b="1" spc="300"/>
              <a:t>回报（</a:t>
            </a:r>
            <a:r>
              <a:rPr sz="1800" b="1" spc="300"/>
              <a:t>Return</a:t>
            </a:r>
            <a:r>
              <a:rPr sz="1800" b="1" spc="300"/>
              <a:t>）</a:t>
            </a:r>
            <a:endParaRPr sz="1800" b="1" spc="300"/>
          </a:p>
          <a:p xmlns:a="http://schemas.openxmlformats.org/drawingml/2006/main">
            <a:r>
              <a:t>在时间步</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𝑡</m:t>
                  </m:r>
                </m:oMath>
              </m:oMathPara>
            </a14:m>
            <a:r>
              <a:t>后得到的所有奖励的累计折扣之和，记为</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𝐺</m:t>
                      </m:r>
                    </m:e>
                    <m:sub>
                      <m:r>
                        <a:rPr xmlns:a="http://schemas.openxmlformats.org/drawingml/2006/main" lang="en-US" i="1">
                          <a:latin typeface="Cambria Math"/>
                          <a:ea typeface="Cambria Math"/>
                          <a:cs typeface="Cambria Math"/>
                        </a:rPr>
                        <m:t>t</m:t>
                      </m:r>
                    </m:sub>
                  </m:sSub>
                </m:oMath>
              </m:oMathPara>
            </a14:m>
            <a:r>
              <a:t>:</a:t>
            </a:r>
          </a:p>
          <a:p xmlns:a="http://schemas.openxmlformats.org/drawingml/2006/main">
            <a:pPr>
              <a:buNone/>
            </a:pPr>
            <a14:m xmlns:a14="http://schemas.microsoft.com/office/drawing/2010/main">
              <m:oMathPara xmlns:m="http://schemas.openxmlformats.org/officeDocument/2006/math">
                <m:oMath>
                  <m:sSub>
                    <m:e>
                      <m:r>
                        <a:rPr xmlns:a="http://schemas.openxmlformats.org/drawingml/2006/main" lang="en-US" sz="1800" b="0" i="1">
                          <a:latin typeface="Cambria Math"/>
                          <a:ea typeface="Cambria Math"/>
                          <a:cs typeface="Cambria Math"/>
                        </a:rPr>
                        <m:t>𝐺</m:t>
                      </m:r>
                    </m:e>
                    <m:sub>
                      <m:r>
                        <a:rPr xmlns:a="http://schemas.openxmlformats.org/drawingml/2006/main" lang="en-US" sz="1800" b="0" i="1">
                          <a:latin typeface="Cambria Math"/>
                          <a:ea typeface="Cambria Math"/>
                          <a:cs typeface="Cambria Math"/>
                        </a:rPr>
                        <m:t>𝑡</m:t>
                      </m:r>
                    </m:sub>
                  </m:sSub>
                  <m:r>
                    <a:rPr xmlns:a="http://schemas.openxmlformats.org/drawingml/2006/main" lang="en-US" sz="1800" b="0" i="1">
                      <a:latin typeface="Cambria Math"/>
                      <a:ea typeface="Cambria Math"/>
                      <a:cs typeface="Cambria Math"/>
                    </a:rPr>
                    <m:t>=</m:t>
                  </m:r>
                  <m:r>
                    <a:rPr xmlns:a="http://schemas.openxmlformats.org/drawingml/2006/main" lang="zh-CN" sz="1800" b="0" i="1">
                      <a:latin typeface="Cambria Math"/>
                      <a:ea typeface="Cambria Math"/>
                      <a:cs typeface="Cambria Math"/>
                    </a:rPr>
                    <m:t>𝛾</m:t>
                  </m:r>
                  <m:sSub>
                    <m:e>
                      <m:r>
                        <a:rPr xmlns:a="http://schemas.openxmlformats.org/drawingml/2006/main" lang="en-US" sz="1800" b="0" i="1">
                          <a:latin typeface="Cambria Math"/>
                          <a:ea typeface="Cambria Math"/>
                          <a:cs typeface="Cambria Math"/>
                        </a:rPr>
                        <m:t>𝑟</m:t>
                      </m:r>
                    </m:e>
                    <m:sub>
                      <m:r>
                        <a:rPr xmlns:a="http://schemas.openxmlformats.org/drawingml/2006/main" lang="en-US" sz="1800" b="0" i="1">
                          <a:latin typeface="Cambria Math"/>
                          <a:ea typeface="Cambria Math"/>
                          <a:cs typeface="Cambria Math"/>
                        </a:rPr>
                        <m:t>1</m:t>
                      </m:r>
                    </m:sub>
                  </m:sSub>
                  <m:r>
                    <a:rPr xmlns:a="http://schemas.openxmlformats.org/drawingml/2006/main" lang="en-US" sz="1800" b="0" i="1">
                      <a:latin typeface="Cambria Math"/>
                      <a:ea typeface="Cambria Math"/>
                      <a:cs typeface="Cambria Math"/>
                    </a:rPr>
                    <m:t>+</m:t>
                  </m:r>
                  <m:sSup>
                    <m:e>
                      <m:r>
                        <a:rPr xmlns:a="http://schemas.openxmlformats.org/drawingml/2006/main" lang="zh-CN" b="0" i="1">
                          <a:latin typeface="Cambria Math"/>
                          <a:ea typeface="Cambria Math"/>
                          <a:cs typeface="Cambria Math"/>
                        </a:rPr>
                        <m:t>𝛾</m:t>
                      </m:r>
                    </m:e>
                    <m:sup>
                      <m:r>
                        <a:rPr xmlns:a="http://schemas.openxmlformats.org/drawingml/2006/main" lang="en-US" sz="1800" b="0" i="1">
                          <a:latin typeface="Cambria Math"/>
                          <a:ea typeface="Cambria Math"/>
                          <a:cs typeface="Cambria Math"/>
                        </a:rPr>
                        <m:t>2</m:t>
                      </m:r>
                    </m:sup>
                  </m:sSup>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2</m:t>
                      </m:r>
                    </m:sub>
                  </m:sSub>
                  <m:r>
                    <a:rPr xmlns:a="http://schemas.openxmlformats.org/drawingml/2006/main" lang="en-US" b="0" i="0">
                      <a:latin typeface="Cambria Math"/>
                      <a:ea typeface="Cambria Math"/>
                      <a:cs typeface="Cambria Math"/>
                    </a:rPr>
                    <m:t>+</m:t>
                  </m:r>
                  <m:sSup>
                    <m:e>
                      <m:r>
                        <a:rPr xmlns:a="http://schemas.openxmlformats.org/drawingml/2006/main" lang="zh-CN" b="0" i="1">
                          <a:latin typeface="Cambria Math"/>
                          <a:ea typeface="Cambria Math"/>
                          <a:cs typeface="Cambria Math"/>
                        </a:rPr>
                        <m:t>𝛾</m:t>
                      </m:r>
                    </m:e>
                    <m:sup>
                      <m:r>
                        <a:rPr xmlns:a="http://schemas.openxmlformats.org/drawingml/2006/main" lang="en-US" b="0" i="1">
                          <a:latin typeface="Cambria Math"/>
                          <a:ea typeface="Cambria Math"/>
                          <a:cs typeface="Cambria Math"/>
                        </a:rPr>
                        <m:t>3</m:t>
                      </m:r>
                    </m:sup>
                  </m:sSup>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3</m:t>
                      </m:r>
                    </m:sub>
                  </m:sSub>
                  <m:r>
                    <a:rPr xmlns:a="http://schemas.openxmlformats.org/drawingml/2006/main" lang="en-US" b="0" i="1">
                      <a:latin typeface="Cambria Math"/>
                      <a:ea typeface="Cambria Math"/>
                      <a:cs typeface="Cambria Math"/>
                    </a:rPr>
                    <m:t>+…+</m:t>
                  </m:r>
                  <m:sSup>
                    <m:e>
                      <m:r>
                        <a:rPr xmlns:a="http://schemas.openxmlformats.org/drawingml/2006/main" lang="zh-CN" b="0" i="1">
                          <a:latin typeface="Cambria Math"/>
                          <a:ea typeface="Cambria Math"/>
                          <a:cs typeface="Cambria Math"/>
                        </a:rPr>
                        <m:t>𝛾</m:t>
                      </m:r>
                    </m:e>
                    <m:sup>
                      <m:r>
                        <a:rPr xmlns:a="http://schemas.openxmlformats.org/drawingml/2006/main" lang="en-US" b="0" i="1">
                          <a:latin typeface="Cambria Math"/>
                          <a:ea typeface="Cambria Math"/>
                          <a:cs typeface="Cambria Math"/>
                        </a:rPr>
                        <m:t>𝑡</m:t>
                      </m:r>
                    </m:sup>
                  </m:sSup>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sub>
                  </m:sSub>
                </m:oMath>
              </m:oMathPara>
            </a14:m>
            <a:endParaRPr sz="1800" spc="300"/>
          </a:p>
          <a:p xmlns:a="http://schemas.openxmlformats.org/drawingml/2006/main">
            <a:r>
              <a:t>式中，</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r>
                    <a:rPr xmlns:a="http://schemas.openxmlformats.org/drawingml/2006/main" lang="zh-CN" b="0" i="1">
                      <a:latin typeface="Cambria Math"/>
                      <a:ea typeface="Cambria Math"/>
                      <a:cs typeface="Cambria Math"/>
                    </a:rPr>
                    <m:t>𝛾</m:t>
                  </m:r>
                </m:oMath>
              </m:oMathPara>
            </a14:m>
            <a:r>
              <a:t>是折扣率，</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0</m:t>
                  </m:r>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𝛾</m:t>
                  </m:r>
                  <m:r>
                    <a:rPr xmlns:a="http://schemas.openxmlformats.org/drawingml/2006/main" lang="zh-CN" b="0" i="1">
                      <a:latin typeface="Cambria Math"/>
                      <a:ea typeface="Cambria Math"/>
                      <a:cs typeface="Cambria Math"/>
                    </a:rPr>
                    <m:t>≤1</m:t>
                  </m:r>
                </m:oMath>
              </m:oMathPara>
            </a14:m>
            <a:r>
              <a:t>，决定了未来奖励的重要程度</a:t>
            </a:r>
            <a:endParaRPr sz="1800" spc="300"/>
          </a:p>
        </p:txBody>
      </p:sp>
    </p:spTree>
    <p:extLst>
      <p:ext uri="{BB962C8B-B14F-4D97-AF65-F5344CB8AC3E}">
        <p14:creationId xmlns:p14="http://schemas.microsoft.com/office/powerpoint/2010/main" val="1707212943"/>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7" name="文本框 6">
            <a:extLst xmlns:a="http://schemas.openxmlformats.org/drawingml/2006/main">
              <a:ext uri="{FF2B5EF4-FFF2-40B4-BE49-F238E27FC236}">
                <a16:creationId xmlns:a16="http://schemas.microsoft.com/office/drawing/2014/main" id="{7A62F16A-DB70-F6AA-2B6B-26642CF89C1A}"/>
              </a:ext>
            </a:extLst>
          </p:cNvPr>
          <p:cNvSpPr>
            <a:spLocks xmlns:a="http://schemas.openxmlformats.org/drawingml/2006/main" noGrp="1"/>
          </p:cNvSpPr>
          <p:nvPr/>
        </p:nvSpPr>
        <p:spPr>
          <a:xfrm xmlns:a="http://schemas.openxmlformats.org/drawingml/2006/main">
            <a:off x="455481" y="1852700"/>
            <a:ext cx="5474672" cy="31393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基于以上设定，机器人可以执行一个简单的</a:t>
            </a:r>
            <a:r>
              <a:rPr b="1"/>
              <a:t>决策序列</a:t>
            </a:r>
            <a:r>
              <a:t>：</a:t>
            </a:r>
            <a:endParaRPr/>
          </a:p>
          <a:p xmlns:a="http://schemas.openxmlformats.org/drawingml/2006/main">
            <a:endParaRPr/>
          </a:p>
          <a:p xmlns:a="http://schemas.openxmlformats.org/drawingml/2006/main">
            <a:r>
              <a:t>1</a:t>
            </a:r>
            <a:r>
              <a:t>）机器人初始状态获得</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0</m:t>
                      </m:r>
                    </m:sub>
                  </m:sSub>
                </m:oMath>
              </m:oMathPara>
            </a14:m>
            <a:endParaRPr/>
          </a:p>
          <a:p xmlns:a="http://schemas.openxmlformats.org/drawingml/2006/main">
            <a:endParaRPr/>
          </a:p>
          <a:p xmlns:a="http://schemas.openxmlformats.org/drawingml/2006/main">
            <a:r>
              <a:t>2</a:t>
            </a:r>
            <a:r>
              <a:t>）根据</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0</m:t>
                      </m:r>
                    </m:sub>
                  </m:sSub>
                </m:oMath>
              </m:oMathPara>
            </a14:m>
            <a:r>
              <a:t>和策略</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𝜋</m:t>
                  </m:r>
                </m:oMath>
              </m:oMathPara>
            </a14:m>
            <a:r>
              <a:t>选择初始动作</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0</m:t>
                      </m:r>
                    </m:sub>
                  </m:sSub>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𝜋</m:t>
                  </m:r>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0</m:t>
                      </m:r>
                    </m:sub>
                  </m:sSub>
                  <m:r>
                    <a:rPr xmlns:a="http://schemas.openxmlformats.org/drawingml/2006/main" lang="en-US" b="0" i="1">
                      <a:latin typeface="Cambria Math"/>
                      <a:ea typeface="Cambria Math"/>
                      <a:cs typeface="Cambria Math"/>
                    </a:rPr>
                    <m:t>)</m:t>
                  </m:r>
                </m:oMath>
              </m:oMathPara>
            </a14:m>
            <a:r>
              <a:t>执行，这一步被称为</a:t>
            </a:r>
            <a:r>
              <a:rPr b="1"/>
              <a:t>动作采样</a:t>
            </a:r>
            <a:r>
              <a:t>（</a:t>
            </a:r>
            <a:r>
              <a:t>Action Sampling</a:t>
            </a:r>
            <a:r>
              <a:t>）</a:t>
            </a:r>
            <a:endParaRPr/>
          </a:p>
          <a:p xmlns:a="http://schemas.openxmlformats.org/drawingml/2006/main">
            <a:endParaRPr/>
          </a:p>
          <a:p xmlns:a="http://schemas.openxmlformats.org/drawingml/2006/main">
            <a:r>
              <a:t>3</a:t>
            </a:r>
            <a:r>
              <a:t>）机器人从</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0</m:t>
                      </m:r>
                    </m:sub>
                  </m:sSub>
                </m:oMath>
              </m:oMathPara>
            </a14:m>
            <a:r>
              <a:t>转移到</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𝑠</m:t>
                      </m:r>
                    </m:e>
                    <m:sub>
                      <m:r>
                        <a:rPr xmlns:a="http://schemas.openxmlformats.org/drawingml/2006/main" lang="en-US" b="0" i="1">
                          <a:latin typeface="Cambria Math"/>
                          <a:ea typeface="Cambria Math"/>
                          <a:cs typeface="Cambria Math"/>
                        </a:rPr>
                        <m:t>1</m:t>
                      </m:r>
                    </m:sub>
                  </m:sSub>
                </m:oMath>
              </m:oMathPara>
            </a14:m>
            <a:r>
              <a:t>,</a:t>
            </a:r>
            <a:r>
              <a:t>并获得执行该动作的奖励</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𝑅</m:t>
                      </m:r>
                    </m:e>
                    <m:sub>
                      <m:r>
                        <a:rPr xmlns:a="http://schemas.openxmlformats.org/drawingml/2006/main" lang="en-US" i="1">
                          <a:latin typeface="Cambria Math"/>
                          <a:ea typeface="Cambria Math"/>
                          <a:cs typeface="Cambria Math"/>
                        </a:rPr>
                        <m:t>0</m:t>
                      </m:r>
                    </m:sub>
                  </m:sSub>
                  <m:r>
                    <a:rPr xmlns:a="http://schemas.openxmlformats.org/drawingml/2006/main" lang="en-US" i="1">
                      <a:latin typeface="Cambria Math"/>
                      <a:ea typeface="Cambria Math"/>
                      <a:cs typeface="Cambria Math"/>
                    </a:rPr>
                    <m:t xml:space="preserve"> </m:t>
                  </m:r>
                </m:oMath>
              </m:oMathPara>
            </a14:m>
            <a:r>
              <a:t>，重复以上步骤直到状态转移为终止状态（</a:t>
            </a:r>
            <a:r>
              <a:t>Terminal State</a:t>
            </a:r>
            <a:r>
              <a:t>）后结束。</a:t>
            </a:r>
            <a:endParaRPr/>
          </a:p>
          <a:p xmlns:a="http://schemas.openxmlformats.org/drawingml/2006/main">
            <a:endParaRPr/>
          </a:p>
        </p:txBody>
      </p:sp>
      <p:sp>
        <p:nvSpPr>
          <p:cNvPr id="9" name="文本框 8">
            <a:extLst xmlns:a="http://schemas.openxmlformats.org/drawingml/2006/main">
              <a:ext uri="{FF2B5EF4-FFF2-40B4-BE49-F238E27FC236}">
                <a16:creationId xmlns:a16="http://schemas.microsoft.com/office/drawing/2014/main" id="{2EB52BD3-D6A4-00DD-52CB-6C7A15BBBDB5}"/>
              </a:ext>
            </a:extLst>
          </p:cNvPr>
          <p:cNvSpPr>
            <a:spLocks xmlns:a="http://schemas.openxmlformats.org/drawingml/2006/main" noGrp="1"/>
          </p:cNvSpPr>
          <p:nvPr/>
        </p:nvSpPr>
        <p:spPr>
          <a:xfrm xmlns:a="http://schemas.openxmlformats.org/drawingml/2006/main">
            <a:off x="546288" y="5189966"/>
            <a:ext cx="6094878"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最终导航的轨迹可以被描述成智能体和环境</a:t>
            </a:r>
          </a:p>
          <a:p xmlns:a="http://schemas.openxmlformats.org/drawingml/2006/main">
            <a:r>
              <a:t>交互形成的“</a:t>
            </a:r>
            <a:r>
              <a:rPr b="1"/>
              <a:t>状态</a:t>
            </a:r>
            <a:r>
              <a:rPr b="1"/>
              <a:t>-</a:t>
            </a:r>
            <a:r>
              <a:rPr b="1"/>
              <a:t>动作</a:t>
            </a:r>
            <a:r>
              <a:rPr b="1"/>
              <a:t>-</a:t>
            </a:r>
            <a:r>
              <a:rPr b="1"/>
              <a:t>奖励</a:t>
            </a:r>
            <a:r>
              <a:t>”序列，记为</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𝜏</m:t>
                  </m:r>
                  <m:r>
                    <a:rPr xmlns:a="http://schemas.openxmlformats.org/drawingml/2006/main" lang="zh-CN" i="1">
                      <a:latin typeface="Cambria Math"/>
                      <a:ea typeface="Cambria Math"/>
                      <a:cs typeface="Cambria Math"/>
                    </a:rPr>
                    <m:t>：</m:t>
                  </m:r>
                </m:oMath>
              </m:oMathPara>
            </a14:m>
            <a:endParaRPr sz="1800" b="1" spc="300"/>
          </a:p>
          <a:p xmlns:a="http://schemas.openxmlformats.org/drawingml/2006/main">
            <a:pPr>
              <a:buNone/>
            </a:pPr>
            <a14:m xmlns:a14="http://schemas.microsoft.com/office/drawing/2010/main">
              <m:oMathPara xmlns:m="http://schemas.openxmlformats.org/officeDocument/2006/math">
                <m:oMath>
                  <m:r>
                    <a:rPr xmlns:a="http://schemas.openxmlformats.org/drawingml/2006/main" lang="zh-CN" sz="1800" b="0" i="1">
                      <a:latin typeface="Cambria Math"/>
                      <a:ea typeface="Cambria Math"/>
                      <a:cs typeface="Cambria Math"/>
                    </a:rPr>
                    <m:t>𝜏</m:t>
                  </m:r>
                  <m:r>
                    <a:rPr xmlns:a="http://schemas.openxmlformats.org/drawingml/2006/main" lang="en-US" sz="1800" b="0" i="1">
                      <a:latin typeface="Cambria Math"/>
                      <a:ea typeface="Cambria Math"/>
                      <a:cs typeface="Cambria Math"/>
                    </a:rPr>
                    <m:t>=</m:t>
                  </m:r>
                  <m:sSub>
                    <m:e>
                      <m:r>
                        <a:rPr xmlns:a="http://schemas.openxmlformats.org/drawingml/2006/main" lang="en-US" sz="1800" b="0" i="1">
                          <a:latin typeface="Cambria Math"/>
                          <a:ea typeface="Cambria Math"/>
                          <a:cs typeface="Cambria Math"/>
                        </a:rPr>
                        <m:t>𝑠</m:t>
                      </m:r>
                    </m:e>
                    <m:sub>
                      <m:r>
                        <a:rPr xmlns:a="http://schemas.openxmlformats.org/drawingml/2006/main" lang="en-US" sz="1800" b="0" i="1">
                          <a:latin typeface="Cambria Math"/>
                          <a:ea typeface="Cambria Math"/>
                          <a:cs typeface="Cambria Math"/>
                        </a:rPr>
                        <m:t>0</m:t>
                      </m:r>
                    </m:sub>
                  </m:sSub>
                  <m:r>
                    <a:rPr xmlns:a="http://schemas.openxmlformats.org/drawingml/2006/main" lang="en-US" sz="1800"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0</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𝑇</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𝑇</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𝑇</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𝑇</m:t>
                      </m:r>
                    </m:sub>
                  </m:sSub>
                </m:oMath>
              </m:oMathPara>
            </a14:m>
            <a:endParaRPr sz="1800" spc="300"/>
          </a:p>
        </p:txBody>
      </p:sp>
      <p:sp>
        <p:nvSpPr>
          <p:cNvPr id="10" name="文本框 9">
            <a:extLst xmlns:a="http://schemas.openxmlformats.org/drawingml/2006/main">
              <a:ext uri="{FF2B5EF4-FFF2-40B4-BE49-F238E27FC236}">
                <a16:creationId xmlns:a16="http://schemas.microsoft.com/office/drawing/2014/main" id="{CF2BAC31-E657-7947-73AC-01B5AD533231}"/>
              </a:ext>
            </a:extLst>
          </p:cNvPr>
          <p:cNvSpPr>
            <a:spLocks xmlns:a="http://schemas.openxmlformats.org/drawingml/2006/main" noGrp="1"/>
          </p:cNvSpPr>
          <p:nvPr/>
        </p:nvSpPr>
        <p:spPr>
          <a:xfrm xmlns:a="http://schemas.openxmlformats.org/drawingml/2006/main" rot="0" flipH="0" flipV="0">
            <a:off x="7076875" y="1771162"/>
            <a:ext cx="6094878"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spc="300">
                <a:solidFill>
                  <a:srgbClr val="0D2D7F"/>
                </a:solidFill>
              </a:rPr>
              <a:t>马尔可夫决策过程</a:t>
            </a:r>
          </a:p>
        </p:txBody>
      </p:sp>
      <p:sp>
        <p:nvSpPr>
          <p:cNvPr id="12" name="文本框 11">
            <a:extLst xmlns:a="http://schemas.openxmlformats.org/drawingml/2006/main">
              <a:ext uri="{FF2B5EF4-FFF2-40B4-BE49-F238E27FC236}">
                <a16:creationId xmlns:a16="http://schemas.microsoft.com/office/drawing/2014/main" id="{9FDB7775-8BF0-CAF8-3411-9E7232524B62}"/>
              </a:ext>
            </a:extLst>
          </p:cNvPr>
          <p:cNvSpPr>
            <a:spLocks xmlns:a="http://schemas.openxmlformats.org/drawingml/2006/main" noGrp="1"/>
          </p:cNvSpPr>
          <p:nvPr/>
        </p:nvSpPr>
        <p:spPr>
          <a:xfrm xmlns:a="http://schemas.openxmlformats.org/drawingml/2006/main" rot="0" flipH="0" flipV="0">
            <a:off x="6535722" y="2369217"/>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五元组</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m:t>
                  </m:r>
                  <m:r>
                    <a:rPr xmlns:a="http://schemas.openxmlformats.org/drawingml/2006/main" lang="en-US" b="1" i="1">
                      <a:latin typeface="Cambria Math"/>
                      <a:ea typeface="Cambria Math"/>
                      <a:cs typeface="Cambria Math"/>
                    </a:rPr>
                    <m:t>𝑺</m:t>
                  </m:r>
                  <m:r>
                    <a:rPr xmlns:a="http://schemas.openxmlformats.org/drawingml/2006/main" lang="en-US" b="0" i="1">
                      <a:latin typeface="Cambria Math"/>
                      <a:ea typeface="Cambria Math"/>
                      <a:cs typeface="Cambria Math"/>
                    </a:rPr>
                    <m:t>,</m:t>
                  </m:r>
                  <m:r>
                    <a:rPr xmlns:a="http://schemas.openxmlformats.org/drawingml/2006/main" lang="en-US" b="1" i="1">
                      <a:latin typeface="Cambria Math"/>
                      <a:ea typeface="Cambria Math"/>
                      <a:cs typeface="Cambria Math"/>
                    </a:rPr>
                    <m:t>𝑨</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𝑃</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𝑅</m:t>
                  </m:r>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𝛾</m:t>
                  </m:r>
                  <m:r>
                    <a:rPr xmlns:a="http://schemas.openxmlformats.org/drawingml/2006/main" lang="en-US" b="0" i="1">
                      <a:latin typeface="Cambria Math"/>
                      <a:ea typeface="Cambria Math"/>
                      <a:cs typeface="Cambria Math"/>
                    </a:rPr>
                    <m:t>)</m:t>
                  </m:r>
                </m:oMath>
              </m:oMathPara>
            </a14:m>
            <a:endParaRPr sz="1800" spc="300"/>
          </a:p>
        </p:txBody>
      </p:sp>
      <p:sp>
        <p:nvSpPr>
          <p:cNvPr id="14" name="文本框 13">
            <a:extLst xmlns:a="http://schemas.openxmlformats.org/drawingml/2006/main">
              <a:ext uri="{FF2B5EF4-FFF2-40B4-BE49-F238E27FC236}">
                <a16:creationId xmlns:a16="http://schemas.microsoft.com/office/drawing/2014/main" id="{AD28CFE2-563B-D41D-CEB9-2E872DE4A0FE}"/>
              </a:ext>
            </a:extLst>
          </p:cNvPr>
          <p:cNvSpPr>
            <a:spLocks xmlns:a="http://schemas.openxmlformats.org/drawingml/2006/main" noGrp="1"/>
          </p:cNvSpPr>
          <p:nvPr/>
        </p:nvSpPr>
        <p:spPr>
          <a:xfrm xmlns:a="http://schemas.openxmlformats.org/drawingml/2006/main" rot="0" flipH="0" flipV="0">
            <a:off x="6535722" y="2967335"/>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𝑃</m:t>
                  </m:r>
                </m:oMath>
              </m:oMathPara>
            </a14:m>
            <a:r>
              <a:t>：决策模型的</a:t>
            </a:r>
            <a:r>
              <a:rPr b="1"/>
              <a:t>状态转移函数</a:t>
            </a:r>
            <a:endParaRPr sz="1800" b="1" spc="300"/>
          </a:p>
        </p:txBody>
      </p:sp>
      <p:sp>
        <p:nvSpPr>
          <p:cNvPr id="15" name="文本框 14">
            <a:extLst xmlns:a="http://schemas.openxmlformats.org/drawingml/2006/main">
              <a:ext uri="{FF2B5EF4-FFF2-40B4-BE49-F238E27FC236}">
                <a16:creationId xmlns:a16="http://schemas.microsoft.com/office/drawing/2014/main" id="{2363F5AE-719F-06C9-40A5-CB1F253FC450}"/>
              </a:ext>
            </a:extLst>
          </p:cNvPr>
          <p:cNvSpPr>
            <a:spLocks xmlns:a="http://schemas.openxmlformats.org/drawingml/2006/main" noGrp="1"/>
          </p:cNvSpPr>
          <p:nvPr/>
        </p:nvSpPr>
        <p:spPr>
          <a:xfrm xmlns:a="http://schemas.openxmlformats.org/drawingml/2006/main" rot="0" flipH="0" flipV="0">
            <a:off x="6535722" y="3934786"/>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𝑅</m:t>
                  </m:r>
                </m:oMath>
              </m:oMathPara>
            </a14:m>
            <a:r>
              <a:t>：决策模型的</a:t>
            </a:r>
            <a:r>
              <a:rPr b="1"/>
              <a:t>奖励函数</a:t>
            </a:r>
            <a:endParaRPr sz="1800" b="1" spc="300"/>
          </a:p>
        </p:txBody>
      </p:sp>
      <p:sp>
        <p:nvSpPr>
          <p:cNvPr id="16" name="文本框 15">
            <a:extLst xmlns:a="http://schemas.openxmlformats.org/drawingml/2006/main">
              <a:ext uri="{FF2B5EF4-FFF2-40B4-BE49-F238E27FC236}">
                <a16:creationId xmlns:a16="http://schemas.microsoft.com/office/drawing/2014/main" id="{394920E7-A2C6-DA52-C62F-8B054B6E59B0}"/>
              </a:ext>
            </a:extLst>
          </p:cNvPr>
          <p:cNvSpPr>
            <a:spLocks xmlns:a="http://schemas.openxmlformats.org/drawingml/2006/main" noGrp="1"/>
          </p:cNvSpPr>
          <p:nvPr/>
        </p:nvSpPr>
        <p:spPr>
          <a:xfrm xmlns:a="http://schemas.openxmlformats.org/drawingml/2006/main" rot="0" flipH="0" flipV="0">
            <a:off x="6535722" y="5055740"/>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𝛾</m:t>
                  </m:r>
                </m:oMath>
              </m:oMathPara>
            </a14:m>
            <a:r>
              <a:t>：回报折扣率</a:t>
            </a:r>
            <a:endParaRPr sz="1800" b="1" spc="300"/>
          </a:p>
        </p:txBody>
      </p:sp>
      <p:sp>
        <p:nvSpPr>
          <p:cNvPr id="18" name="文本框 17">
            <a:extLst xmlns:a="http://schemas.openxmlformats.org/drawingml/2006/main">
              <a:ext uri="{FF2B5EF4-FFF2-40B4-BE49-F238E27FC236}">
                <a16:creationId xmlns:a16="http://schemas.microsoft.com/office/drawing/2014/main" id="{466D167D-3362-B8D9-83EC-764603768FB4}"/>
              </a:ext>
            </a:extLst>
          </p:cNvPr>
          <p:cNvSpPr>
            <a:spLocks xmlns:a="http://schemas.openxmlformats.org/drawingml/2006/main" noGrp="1"/>
          </p:cNvSpPr>
          <p:nvPr/>
        </p:nvSpPr>
        <p:spPr>
          <a:xfrm xmlns:a="http://schemas.openxmlformats.org/drawingml/2006/main" rot="0" flipH="0" flipV="0">
            <a:off x="6535722" y="3410259"/>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𝑃</m:t>
                  </m:r>
                  <m:r>
                    <a:rPr xmlns:a="http://schemas.openxmlformats.org/drawingml/2006/main" lang="en-US" b="0" i="1">
                      <a:latin typeface="Cambria Math"/>
                      <a:ea typeface="Cambria Math"/>
                      <a:cs typeface="Cambria Math"/>
                    </a:rPr>
                    <m:t xml:space="preserve"> ：</m:t>
                  </m:r>
                  <m:r>
                    <a:rPr xmlns:a="http://schemas.openxmlformats.org/drawingml/2006/main" lang="en-US" b="1" i="1">
                      <a:latin typeface="Cambria Math"/>
                      <a:ea typeface="Cambria Math"/>
                      <a:cs typeface="Cambria Math"/>
                    </a:rPr>
                    <m:t>𝑺</m:t>
                  </m:r>
                  <m:r>
                    <a:rPr xmlns:a="http://schemas.openxmlformats.org/drawingml/2006/main" lang="en-US" b="1" i="1">
                      <a:latin typeface="Cambria Math"/>
                      <a:ea typeface="Cambria Math"/>
                      <a:cs typeface="Cambria Math"/>
                    </a:rPr>
                    <m:t>×</m:t>
                  </m:r>
                  <m:r>
                    <a:rPr xmlns:a="http://schemas.openxmlformats.org/drawingml/2006/main" lang="en-US" b="1" i="1">
                      <a:latin typeface="Cambria Math"/>
                      <a:ea typeface="Cambria Math"/>
                      <a:cs typeface="Cambria Math"/>
                    </a:rPr>
                    <m:t>𝑨</m:t>
                  </m:r>
                  <m:r>
                    <a:rPr xmlns:a="http://schemas.openxmlformats.org/drawingml/2006/main" lang="en-US" b="1" i="1">
                      <a:latin typeface="Cambria Math"/>
                      <a:ea typeface="Cambria Math"/>
                      <a:cs typeface="Cambria Math"/>
                    </a:rPr>
                    <m:t>→</m:t>
                  </m:r>
                  <m:r>
                    <a:rPr xmlns:a="http://schemas.openxmlformats.org/drawingml/2006/main" lang="en-US" b="1" i="1">
                      <a:latin typeface="Cambria Math"/>
                      <a:ea typeface="Cambria Math"/>
                      <a:cs typeface="Cambria Math"/>
                    </a:rPr>
                    <m:t>𝑺</m:t>
                  </m:r>
                  <m:r>
                    <a:rPr xmlns:a="http://schemas.openxmlformats.org/drawingml/2006/main" lang="en-US" b="1" i="0">
                      <a:latin typeface="Cambria Math"/>
                      <a:ea typeface="Cambria Math"/>
                      <a:cs typeface="Cambria Math"/>
                    </a:rPr>
                    <m:t xml:space="preserve"> </m:t>
                  </m:r>
                </m:oMath>
              </m:oMathPara>
            </a14:m>
            <a:r>
              <a:rPr sz="1800" spc="300"/>
              <a:t>，记为</a:t>
            </a:r>
            <a14:m xmlns:a14="http://schemas.microsoft.com/office/drawing/2010/main">
              <m:oMathPara xmlns:m="http://schemas.openxmlformats.org/officeDocument/2006/math">
                <m:oMath>
                  <m:sSub>
                    <m:e>
                      <m:r>
                        <a:rPr xmlns:a="http://schemas.openxmlformats.org/drawingml/2006/main" lang="en-US" sz="1800" b="0" i="1">
                          <a:latin typeface="Cambria Math"/>
                          <a:ea typeface="Cambria Math"/>
                          <a:cs typeface="Cambria Math"/>
                        </a:rPr>
                        <m:t>𝑠</m:t>
                      </m:r>
                    </m:e>
                    <m:sub>
                      <m:r>
                        <a:rPr xmlns:a="http://schemas.openxmlformats.org/drawingml/2006/main" lang="en-US" sz="1800" b="0" i="1">
                          <a:latin typeface="Cambria Math"/>
                          <a:ea typeface="Cambria Math"/>
                          <a:cs typeface="Cambria Math"/>
                        </a:rPr>
                        <m:t>𝑡</m:t>
                      </m:r>
                      <m:r>
                        <a:rPr xmlns:a="http://schemas.openxmlformats.org/drawingml/2006/main" lang="en-US" sz="1800" b="0" i="1">
                          <a:latin typeface="Cambria Math"/>
                          <a:ea typeface="Cambria Math"/>
                          <a:cs typeface="Cambria Math"/>
                        </a:rPr>
                        <m:t>+1</m:t>
                      </m:r>
                    </m:sub>
                  </m:sSub>
                  <m:r>
                    <a:rPr xmlns:a="http://schemas.openxmlformats.org/drawingml/2006/main" lang="en-US" sz="1800" b="0" i="1">
                      <a:latin typeface="Cambria Math"/>
                      <a:ea typeface="Cambria Math"/>
                      <a:cs typeface="Cambria Math"/>
                    </a:rPr>
                    <m:t>~</m:t>
                  </m:r>
                  <m:r>
                    <a:rPr xmlns:a="http://schemas.openxmlformats.org/drawingml/2006/main" lang="en-US" sz="1800" b="0" i="1">
                      <a:latin typeface="Cambria Math"/>
                      <a:ea typeface="Cambria Math"/>
                      <a:cs typeface="Cambria Math"/>
                    </a:rPr>
                    <m:t>𝑃</m:t>
                  </m:r>
                  <m:r>
                    <a:rPr xmlns:a="http://schemas.openxmlformats.org/drawingml/2006/main" lang="en-US" sz="1800" b="0" i="1">
                      <a:latin typeface="Cambria Math"/>
                      <a:ea typeface="Cambria Math"/>
                      <a:cs typeface="Cambria Math"/>
                    </a:rPr>
                    <m:t>(</m:t>
                  </m:r>
                  <m:r>
                    <a:rPr xmlns:a="http://schemas.openxmlformats.org/drawingml/2006/main" lang="en-US" sz="1800" b="0" i="1">
                      <a:latin typeface="Cambria Math"/>
                      <a:ea typeface="Cambria Math"/>
                      <a:cs typeface="Cambria Math"/>
                    </a:rPr>
                    <m:t>𝑠</m:t>
                  </m:r>
                  <m:r>
                    <a:rPr xmlns:a="http://schemas.openxmlformats.org/drawingml/2006/main" lang="en-US" sz="1800" b="0" i="1">
                      <a:latin typeface="Cambria Math"/>
                      <a:ea typeface="Cambria Math"/>
                      <a:cs typeface="Cambria Math"/>
                    </a:rPr>
                    <m:t>|</m:t>
                  </m:r>
                  <m:sSub>
                    <m:e>
                      <m:r>
                        <a:rPr xmlns:a="http://schemas.openxmlformats.org/drawingml/2006/main" lang="en-US" sz="1800" b="0" i="1">
                          <a:latin typeface="Cambria Math"/>
                          <a:ea typeface="Cambria Math"/>
                          <a:cs typeface="Cambria Math"/>
                        </a:rPr>
                        <m:t>𝑠</m:t>
                      </m:r>
                    </m:e>
                    <m:sub>
                      <m:r>
                        <a:rPr xmlns:a="http://schemas.openxmlformats.org/drawingml/2006/main" lang="en-US" sz="1800" b="0" i="1">
                          <a:latin typeface="Cambria Math"/>
                          <a:ea typeface="Cambria Math"/>
                          <a:cs typeface="Cambria Math"/>
                        </a:rPr>
                        <m:t>𝑡</m:t>
                      </m:r>
                    </m:sub>
                  </m:sSub>
                  <m:r>
                    <a:rPr xmlns:a="http://schemas.openxmlformats.org/drawingml/2006/main" lang="en-US" sz="1800" b="0" i="1">
                      <a:latin typeface="Cambria Math"/>
                      <a:ea typeface="Cambria Math"/>
                      <a:cs typeface="Cambria Math"/>
                    </a:rPr>
                    <m:t>,</m:t>
                  </m:r>
                  <m:sSub>
                    <m:e>
                      <m:r>
                        <a:rPr xmlns:a="http://schemas.openxmlformats.org/drawingml/2006/main" lang="en-US" sz="1800" b="0" i="1">
                          <a:latin typeface="Cambria Math"/>
                          <a:ea typeface="Cambria Math"/>
                          <a:cs typeface="Cambria Math"/>
                        </a:rPr>
                        <m:t>𝑎</m:t>
                      </m:r>
                    </m:e>
                    <m:sub>
                      <m:r>
                        <a:rPr xmlns:a="http://schemas.openxmlformats.org/drawingml/2006/main" lang="en-US" sz="1800" b="0" i="1">
                          <a:latin typeface="Cambria Math"/>
                          <a:ea typeface="Cambria Math"/>
                          <a:cs typeface="Cambria Math"/>
                        </a:rPr>
                        <m:t>𝑡</m:t>
                      </m:r>
                    </m:sub>
                  </m:sSub>
                  <m:r>
                    <a:rPr xmlns:a="http://schemas.openxmlformats.org/drawingml/2006/main" lang="en-US" sz="1800" b="0" i="1">
                      <a:latin typeface="Cambria Math"/>
                      <a:ea typeface="Cambria Math"/>
                      <a:cs typeface="Cambria Math"/>
                    </a:rPr>
                    <m:t>)</m:t>
                  </m:r>
                </m:oMath>
              </m:oMathPara>
            </a14:m>
            <a:endParaRPr sz="1800" spc="300"/>
          </a:p>
        </p:txBody>
      </p:sp>
      <p:sp>
        <p:nvSpPr>
          <p:cNvPr id="20" name="文本框 19">
            <a:extLst xmlns:a="http://schemas.openxmlformats.org/drawingml/2006/main">
              <a:ext uri="{FF2B5EF4-FFF2-40B4-BE49-F238E27FC236}">
                <a16:creationId xmlns:a16="http://schemas.microsoft.com/office/drawing/2014/main" id="{5C965819-3A4F-E41F-70C2-AF2CC63BC121}"/>
              </a:ext>
            </a:extLst>
          </p:cNvPr>
          <p:cNvSpPr>
            <a:spLocks xmlns:a="http://schemas.openxmlformats.org/drawingml/2006/main" noGrp="1"/>
          </p:cNvSpPr>
          <p:nvPr/>
        </p:nvSpPr>
        <p:spPr>
          <a:xfrm xmlns:a="http://schemas.openxmlformats.org/drawingml/2006/main" rot="0" flipH="0" flipV="0">
            <a:off x="6535722" y="4400542"/>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𝑅</m:t>
                  </m:r>
                  <m:r>
                    <a:rPr xmlns:a="http://schemas.openxmlformats.org/drawingml/2006/main" lang="en-US" b="0" i="1">
                      <a:latin typeface="Cambria Math"/>
                      <a:ea typeface="Cambria Math"/>
                      <a:cs typeface="Cambria Math"/>
                    </a:rPr>
                    <m:t xml:space="preserve"> ：</m:t>
                  </m:r>
                  <m:r>
                    <a:rPr xmlns:a="http://schemas.openxmlformats.org/drawingml/2006/main" lang="en-US" b="1" i="1">
                      <a:latin typeface="Cambria Math"/>
                      <a:ea typeface="Cambria Math"/>
                      <a:cs typeface="Cambria Math"/>
                    </a:rPr>
                    <m:t>𝑺</m:t>
                  </m:r>
                  <m:r>
                    <a:rPr xmlns:a="http://schemas.openxmlformats.org/drawingml/2006/main" lang="en-US" b="1" i="1">
                      <a:latin typeface="Cambria Math"/>
                      <a:ea typeface="Cambria Math"/>
                      <a:cs typeface="Cambria Math"/>
                    </a:rPr>
                    <m:t>×</m:t>
                  </m:r>
                  <m:r>
                    <a:rPr xmlns:a="http://schemas.openxmlformats.org/drawingml/2006/main" lang="en-US" b="1" i="1">
                      <a:latin typeface="Cambria Math"/>
                      <a:ea typeface="Cambria Math"/>
                      <a:cs typeface="Cambria Math"/>
                    </a:rPr>
                    <m:t>𝑨</m:t>
                  </m:r>
                  <m:r>
                    <a:rPr xmlns:a="http://schemas.openxmlformats.org/drawingml/2006/main" lang="en-US" b="1" i="1">
                      <a:latin typeface="Cambria Math"/>
                      <a:ea typeface="Cambria Math"/>
                      <a:cs typeface="Cambria Math"/>
                    </a:rPr>
                    <m:t>→</m:t>
                  </m:r>
                  <m:r>
                    <a:rPr xmlns:a="http://schemas.openxmlformats.org/drawingml/2006/main" lang="en-US" b="1" i="0">
                      <a:latin typeface="Cambria Math"/>
                      <a:ea typeface="Cambria Math"/>
                      <a:cs typeface="Cambria Math"/>
                    </a:rPr>
                    <m:t>𝐑</m:t>
                  </m:r>
                  <m:r>
                    <a:rPr xmlns:a="http://schemas.openxmlformats.org/drawingml/2006/main" lang="en-US" b="1" i="0">
                      <a:latin typeface="Cambria Math"/>
                      <a:ea typeface="Cambria Math"/>
                      <a:cs typeface="Cambria Math"/>
                    </a:rPr>
                    <m:t xml:space="preserve"> </m:t>
                  </m:r>
                </m:oMath>
              </m:oMathPara>
            </a14:m>
            <a:r>
              <a:rPr sz="1800" spc="300"/>
              <a:t>，记为</a:t>
            </a:r>
            <a14:m xmlns:a14="http://schemas.microsoft.com/office/drawing/2010/main">
              <m:oMathPara xmlns:m="http://schemas.openxmlformats.org/officeDocument/2006/math">
                <m:oMath>
                  <m:sSub>
                    <m:e>
                      <m:r>
                        <a:rPr xmlns:a="http://schemas.openxmlformats.org/drawingml/2006/main" lang="en-US" sz="1800" b="0" i="1">
                          <a:latin typeface="Cambria Math"/>
                          <a:ea typeface="Cambria Math"/>
                          <a:cs typeface="Cambria Math"/>
                        </a:rPr>
                        <m:t>𝑟</m:t>
                      </m:r>
                    </m:e>
                    <m:sub>
                      <m:r>
                        <a:rPr xmlns:a="http://schemas.openxmlformats.org/drawingml/2006/main" lang="en-US" sz="1800" b="0" i="1">
                          <a:latin typeface="Cambria Math"/>
                          <a:ea typeface="Cambria Math"/>
                          <a:cs typeface="Cambria Math"/>
                        </a:rPr>
                        <m:t>𝑡</m:t>
                      </m:r>
                      <m:r>
                        <a:rPr xmlns:a="http://schemas.openxmlformats.org/drawingml/2006/main" lang="en-US" sz="1800" b="0" i="1">
                          <a:latin typeface="Cambria Math"/>
                          <a:ea typeface="Cambria Math"/>
                          <a:cs typeface="Cambria Math"/>
                        </a:rPr>
                        <m:t>+1</m:t>
                      </m:r>
                    </m:sub>
                  </m:sSub>
                  <m:r>
                    <a:rPr xmlns:a="http://schemas.openxmlformats.org/drawingml/2006/main" lang="en-US" sz="1800" b="0" i="1">
                      <a:latin typeface="Cambria Math"/>
                      <a:ea typeface="Cambria Math"/>
                      <a:cs typeface="Cambria Math"/>
                    </a:rPr>
                    <m:t>~</m:t>
                  </m:r>
                  <m:r>
                    <a:rPr xmlns:a="http://schemas.openxmlformats.org/drawingml/2006/main" lang="en-US" sz="1800" b="0" i="1">
                      <a:latin typeface="Cambria Math"/>
                      <a:ea typeface="Cambria Math"/>
                      <a:cs typeface="Cambria Math"/>
                    </a:rPr>
                    <m:t>𝑅</m:t>
                  </m:r>
                  <m:r>
                    <a:rPr xmlns:a="http://schemas.openxmlformats.org/drawingml/2006/main" lang="en-US" sz="1800" b="0" i="1">
                      <a:latin typeface="Cambria Math"/>
                      <a:ea typeface="Cambria Math"/>
                      <a:cs typeface="Cambria Math"/>
                    </a:rPr>
                    <m:t>(</m:t>
                  </m:r>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sub>
                  </m:sSub>
                  <m:r>
                    <a:rPr xmlns:a="http://schemas.openxmlformats.org/drawingml/2006/main" lang="en-US" sz="1800" b="0" i="1">
                      <a:latin typeface="Cambria Math"/>
                      <a:ea typeface="Cambria Math"/>
                      <a:cs typeface="Cambria Math"/>
                    </a:rPr>
                    <m:t>)</m:t>
                  </m:r>
                </m:oMath>
              </m:oMathPara>
            </a14:m>
            <a:endParaRPr sz="1800" spc="300"/>
          </a:p>
        </p:txBody>
      </p:sp>
      <p:sp>
        <p:nvSpPr>
          <p:cNvPr id="3" name="矩形 2">
            <a:extLst xmlns:a="http://schemas.openxmlformats.org/drawingml/2006/main">
              <a:ext uri="{FF2B5EF4-FFF2-40B4-BE49-F238E27FC236}">
                <a16:creationId xmlns:a16="http://schemas.microsoft.com/office/drawing/2014/main" id="{178682A7-C712-D34C-F8C9-61951EAC822F}"/>
              </a:ext>
            </a:extLst>
          </p:cNvPr>
          <p:cNvSpPr>
            <a:spLocks xmlns:a="http://schemas.openxmlformats.org/drawingml/2006/main" noGrp="1"/>
          </p:cNvSpPr>
          <p:nvPr/>
        </p:nvSpPr>
        <p:spPr>
          <a:xfrm xmlns:a="http://schemas.openxmlformats.org/drawingml/2006/main" rot="0" flipH="0" flipV="0">
            <a:off x="-1" y="939798"/>
            <a:ext cx="5511575"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F4DB21C0-F4C0-2EFD-8D7E-9E368B157EA8}"/>
              </a:ext>
            </a:extLst>
          </p:cNvPr>
          <p:cNvSpPr>
            <a:spLocks xmlns:a="http://schemas.openxmlformats.org/drawingml/2006/main" noGrp="1"/>
          </p:cNvSpPr>
          <p:nvPr/>
        </p:nvSpPr>
        <p:spPr>
          <a:xfrm xmlns:a="http://schemas.openxmlformats.org/drawingml/2006/main" rot="0" flipH="0" flipV="0">
            <a:off x="297292" y="1021703"/>
            <a:ext cx="521428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5.4.1 </a:t>
            </a:r>
            <a:r>
              <a:rPr sz="2400" b="1">
                <a:solidFill>
                  <a:schemeClr val="accent1"/>
                </a:solidFill>
                <a:latin typeface="+mj-lt"/>
                <a:ea typeface="+mj-lt"/>
                <a:cs typeface="+mj-lt"/>
              </a:rPr>
              <a:t>基于值函数的强化学习导航</a:t>
            </a:r>
          </a:p>
        </p:txBody>
      </p:sp>
    </p:spTree>
    <p:extLst>
      <p:ext uri="{BB962C8B-B14F-4D97-AF65-F5344CB8AC3E}">
        <p14:creationId xmlns:p14="http://schemas.microsoft.com/office/powerpoint/2010/main" val="2129709939"/>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7" name="文本框 6">
            <a:extLst xmlns:a="http://schemas.openxmlformats.org/drawingml/2006/main">
              <a:ext uri="{FF2B5EF4-FFF2-40B4-BE49-F238E27FC236}">
                <a16:creationId xmlns:a16="http://schemas.microsoft.com/office/drawing/2014/main" id="{75C7A897-DCDF-CC9F-8AC1-2F7AB9A51942}"/>
              </a:ext>
            </a:extLst>
          </p:cNvPr>
          <p:cNvSpPr>
            <a:spLocks xmlns:a="http://schemas.openxmlformats.org/drawingml/2006/main" noGrp="1"/>
          </p:cNvSpPr>
          <p:nvPr/>
        </p:nvSpPr>
        <p:spPr>
          <a:xfrm xmlns:a="http://schemas.openxmlformats.org/drawingml/2006/main">
            <a:off x="455481" y="1852700"/>
            <a:ext cx="5474672"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任务目标：</a:t>
            </a:r>
            <a:r>
              <a:rPr b="1"/>
              <a:t>奖励之和期望最大化</a:t>
            </a:r>
            <a:endParaRPr b="1"/>
          </a:p>
          <a:p xmlns:a="http://schemas.openxmlformats.org/drawingml/2006/main">
            <a:endParaRPr/>
          </a:p>
        </p:txBody>
      </p:sp>
      <p:sp>
        <p:nvSpPr>
          <p:cNvPr id="9" name="文本框 8">
            <a:extLst xmlns:a="http://schemas.openxmlformats.org/drawingml/2006/main">
              <a:ext uri="{FF2B5EF4-FFF2-40B4-BE49-F238E27FC236}">
                <a16:creationId xmlns:a16="http://schemas.microsoft.com/office/drawing/2014/main" id="{92BDD3DD-1C49-424B-25F9-E72FBF88F8E3}"/>
              </a:ext>
            </a:extLst>
          </p:cNvPr>
          <p:cNvSpPr>
            <a:spLocks xmlns:a="http://schemas.openxmlformats.org/drawingml/2006/main" noGrp="1"/>
          </p:cNvSpPr>
          <p:nvPr/>
        </p:nvSpPr>
        <p:spPr>
          <a:xfrm xmlns:a="http://schemas.openxmlformats.org/drawingml/2006/main">
            <a:off x="-299360" y="2504462"/>
            <a:ext cx="6094878" cy="90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m</m:t>
                  </m:r>
                  <m:r>
                    <a:rPr xmlns:a="http://schemas.openxmlformats.org/drawingml/2006/main" lang="en-US" b="0" i="1">
                      <a:latin typeface="Cambria Math"/>
                      <a:ea typeface="Cambria Math"/>
                      <a:cs typeface="Cambria Math"/>
                    </a:rPr>
                    <m:t>𝑎𝑥</m:t>
                  </m:r>
                  <m:sSub>
                    <m:e>
                      <m:r>
                        <a:rPr xmlns:a="http://schemas.openxmlformats.org/drawingml/2006/main" lang="en-US" b="0" i="1">
                          <a:latin typeface="Cambria Math"/>
                          <a:ea typeface="Cambria Math"/>
                          <a:cs typeface="Cambria Math"/>
                        </a:rPr>
                        <m:t>𝐺</m:t>
                      </m:r>
                    </m:e>
                    <m:sub>
                      <m:r>
                        <a:rPr xmlns:a="http://schemas.openxmlformats.org/drawingml/2006/main" lang="en-US" b="0" i="1">
                          <a:latin typeface="Cambria Math"/>
                          <a:ea typeface="Cambria Math"/>
                          <a:cs typeface="Cambria Math"/>
                        </a:rPr>
                        <m:t>𝑇</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𝑚𝑎𝑥</m:t>
                  </m:r>
                  <m:nary>
                    <m:naryPr>
                      <m:chr m:val="∑"/>
                      <m:subHide m:val="off"/>
                      <m:supHide m:val="off"/>
                    </m:naryPr>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up>
                      <m:r>
                        <a:rPr xmlns:a="http://schemas.openxmlformats.org/drawingml/2006/main" lang="en-US" b="0" i="1">
                          <a:latin typeface="Cambria Math"/>
                          <a:ea typeface="Cambria Math"/>
                          <a:cs typeface="Cambria Math"/>
                        </a:rPr>
                        <m:t>𝑇</m:t>
                      </m:r>
                    </m:sup>
                    <m:e>
                      <m:sSup>
                        <m:e>
                          <m:r>
                            <a:rPr xmlns:a="http://schemas.openxmlformats.org/drawingml/2006/main" lang="zh-CN" b="0" i="1">
                              <a:latin typeface="Cambria Math"/>
                              <a:ea typeface="Cambria Math"/>
                              <a:cs typeface="Cambria Math"/>
                            </a:rPr>
                            <m:t>𝛾</m:t>
                          </m:r>
                        </m:e>
                        <m:sup>
                          <m:r>
                            <a:rPr xmlns:a="http://schemas.openxmlformats.org/drawingml/2006/main" lang="en-US" b="0" i="1">
                              <a:latin typeface="Cambria Math"/>
                              <a:ea typeface="Cambria Math"/>
                              <a:cs typeface="Cambria Math"/>
                            </a:rPr>
                            <m:t>𝑡</m:t>
                          </m:r>
                        </m:sup>
                      </m:sSup>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sub>
                      </m:sSub>
                    </m:e>
                  </m:nary>
                </m:oMath>
              </m:oMathPara>
            </a14:m>
            <a:endParaRPr/>
          </a:p>
        </p:txBody>
      </p:sp>
      <p:sp>
        <p:nvSpPr>
          <p:cNvPr id="2" name="文本框 1">
            <a:extLst xmlns:a="http://schemas.openxmlformats.org/drawingml/2006/main">
              <a:ext uri="{FF2B5EF4-FFF2-40B4-BE49-F238E27FC236}">
                <a16:creationId xmlns:a16="http://schemas.microsoft.com/office/drawing/2014/main" id="{648885A2-2899-A362-0781-4EE2EA17DB3B}"/>
              </a:ext>
            </a:extLst>
          </p:cNvPr>
          <p:cNvSpPr>
            <a:spLocks xmlns:a="http://schemas.openxmlformats.org/drawingml/2006/main" noGrp="1"/>
          </p:cNvSpPr>
          <p:nvPr/>
        </p:nvSpPr>
        <p:spPr>
          <a:xfrm xmlns:a="http://schemas.openxmlformats.org/drawingml/2006/main">
            <a:off x="455481" y="3687267"/>
            <a:ext cx="5474672"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优化对象：</a:t>
            </a:r>
            <a:r>
              <a:rPr b="1"/>
              <a:t>导航策略 </a:t>
            </a:r>
            <a:r>
              <a:t>(</a:t>
            </a:r>
            <a:r>
              <a:t>策略提取</a:t>
            </a:r>
            <a:r>
              <a:t>Police Extraction)</a:t>
            </a:r>
          </a:p>
          <a:p xmlns:a="http://schemas.openxmlformats.org/drawingml/2006/main">
            <a:endParaRPr/>
          </a:p>
          <a:p xmlns:a="http://schemas.openxmlformats.org/drawingml/2006/main">
            <a:r>
              <a:t>即判断对每一个时间步</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𝑡</m:t>
                  </m:r>
                </m:oMath>
              </m:oMathPara>
            </a14:m>
            <a:r>
              <a:t>下的状态</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oMath>
              </m:oMathPara>
            </a14:m>
            <a:r>
              <a:t>采取何种动作使得累计回报最大</a:t>
            </a:r>
            <a:endParaRPr/>
          </a:p>
        </p:txBody>
      </p:sp>
      <p:sp>
        <p:nvSpPr>
          <p:cNvPr id="3" name="文本框 2">
            <a:extLst xmlns:a="http://schemas.openxmlformats.org/drawingml/2006/main">
              <a:ext uri="{FF2B5EF4-FFF2-40B4-BE49-F238E27FC236}">
                <a16:creationId xmlns:a16="http://schemas.microsoft.com/office/drawing/2014/main" id="{F69855AB-29A7-9433-332D-5F5054DB8D3C}"/>
              </a:ext>
            </a:extLst>
          </p:cNvPr>
          <p:cNvSpPr>
            <a:spLocks xmlns:a="http://schemas.openxmlformats.org/drawingml/2006/main" noGrp="1"/>
          </p:cNvSpPr>
          <p:nvPr/>
        </p:nvSpPr>
        <p:spPr>
          <a:xfrm xmlns:a="http://schemas.openxmlformats.org/drawingml/2006/main">
            <a:off x="5930153" y="1767968"/>
            <a:ext cx="5387614" cy="1661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引入</a:t>
            </a:r>
            <a:r>
              <a:rPr b="1"/>
              <a:t>状态值函数</a:t>
            </a:r>
            <a:r>
              <a:t>(State Value Function),</a:t>
            </a:r>
            <a:r>
              <a:t>记为</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𝑉</m:t>
                  </m:r>
                  <m:d>
                    <m:dPr>
                      <m:grow m:val="off"/>
                    </m:dPr>
                    <m:e>
                      <m:r>
                        <a:rPr xmlns:a="http://schemas.openxmlformats.org/drawingml/2006/main" lang="en-US" b="0" i="1">
                          <a:latin typeface="Cambria Math"/>
                          <a:ea typeface="Cambria Math"/>
                          <a:cs typeface="Cambria Math"/>
                        </a:rPr>
                        <m:t>𝑠</m:t>
                      </m:r>
                    </m:e>
                  </m:d>
                  <m:r>
                    <a:rPr xmlns:a="http://schemas.openxmlformats.org/drawingml/2006/main" lang="en-US" b="0" i="1">
                      <a:latin typeface="Cambria Math"/>
                      <a:ea typeface="Cambria Math"/>
                      <a:cs typeface="Cambria Math"/>
                    </a:rPr>
                    <m:t>:</m:t>
                  </m:r>
                </m:oMath>
              </m:oMathPara>
            </a14:m>
            <a:endParaRPr b="0"/>
          </a:p>
          <a:p xmlns:a="http://schemas.openxmlformats.org/drawingml/2006/main">
            <a:pPr>
              <a:buNone/>
            </a:pP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𝑉</m:t>
                  </m:r>
                  <m:d>
                    <m:dPr>
                      <m:grow m:val="off"/>
                    </m:dPr>
                    <m:e>
                      <m:r>
                        <a:rPr xmlns:a="http://schemas.openxmlformats.org/drawingml/2006/main" lang="en-US" b="0" i="1">
                          <a:latin typeface="Cambria Math"/>
                          <a:ea typeface="Cambria Math"/>
                          <a:cs typeface="Cambria Math"/>
                        </a:rPr>
                        <m:t>𝑠</m:t>
                      </m:r>
                    </m:e>
                  </m:d>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𝐸</m:t>
                      </m:r>
                    </m:e>
                    <m:sub>
                      <m:r>
                        <a:rPr xmlns:a="http://schemas.openxmlformats.org/drawingml/2006/main" lang="zh-CN" b="0" i="1">
                          <a:latin typeface="Cambria Math"/>
                          <a:ea typeface="Cambria Math"/>
                          <a:cs typeface="Cambria Math"/>
                        </a:rPr>
                        <m:t>𝜋</m:t>
                      </m:r>
                    </m:sub>
                  </m:sSub>
                  <m:d>
                    <m:dPr>
                      <m:begChr m:val="["/>
                      <m:endChr m:val="]"/>
                      <m:grow m:val="off"/>
                    </m:dPr>
                    <m:e>
                      <m:nary>
                        <m:naryPr>
                          <m:chr m:val="∑"/>
                          <m:subHide m:val="off"/>
                          <m:supHide m:val="on"/>
                        </m:naryPr>
                        <m:sub>
                          <m:r>
                            <a:rPr xmlns:a="http://schemas.openxmlformats.org/drawingml/2006/main" lang="en-US" i="1">
                              <a:latin typeface="Cambria Math"/>
                              <a:ea typeface="Cambria Math"/>
                              <a:cs typeface="Cambria Math"/>
                            </a:rPr>
                            <m:t>𝑡</m:t>
                          </m:r>
                        </m:sub>
                        <m:e>
                          <m:sSup>
                            <m:e>
                              <m:r>
                                <a:rPr xmlns:a="http://schemas.openxmlformats.org/drawingml/2006/main" lang="zh-CN" i="1">
                                  <a:latin typeface="Cambria Math"/>
                                  <a:ea typeface="Cambria Math"/>
                                  <a:cs typeface="Cambria Math"/>
                                </a:rPr>
                                <m:t>𝛾</m:t>
                              </m:r>
                            </m:e>
                            <m:sup>
                              <m:r>
                                <a:rPr xmlns:a="http://schemas.openxmlformats.org/drawingml/2006/main" lang="en-US" i="1">
                                  <a:latin typeface="Cambria Math"/>
                                  <a:ea typeface="Cambria Math"/>
                                  <a:cs typeface="Cambria Math"/>
                                </a:rPr>
                                <m:t>𝑡</m:t>
                              </m:r>
                            </m:sup>
                          </m:sSup>
                          <m:sSub>
                            <m:e>
                              <m:r>
                                <a:rPr xmlns:a="http://schemas.openxmlformats.org/drawingml/2006/main" lang="en-US" i="1">
                                  <a:latin typeface="Cambria Math"/>
                                  <a:ea typeface="Cambria Math"/>
                                  <a:cs typeface="Cambria Math"/>
                                </a:rPr>
                                <m:t>𝑟</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𝑠</m:t>
                          </m:r>
                        </m:e>
                      </m:nary>
                    </m:e>
                  </m:d>
                </m:oMath>
              </m:oMathPara>
            </a14:m>
            <a:endParaRPr/>
          </a:p>
          <a:p xmlns:a="http://schemas.openxmlformats.org/drawingml/2006/main">
            <a:r>
              <a:t>描述机器人在任一状态下，按照策略</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𝜋</m:t>
                  </m:r>
                </m:oMath>
              </m:oMathPara>
            </a14:m>
            <a:r>
              <a:t>选择动作能够获得回报的期望值</a:t>
            </a:r>
            <a:endParaRPr/>
          </a:p>
        </p:txBody>
      </p:sp>
      <p:sp>
        <p:nvSpPr>
          <p:cNvPr id="5" name="文本框 4">
            <a:extLst xmlns:a="http://schemas.openxmlformats.org/drawingml/2006/main">
              <a:ext uri="{FF2B5EF4-FFF2-40B4-BE49-F238E27FC236}">
                <a16:creationId xmlns:a16="http://schemas.microsoft.com/office/drawing/2014/main" id="{5823CE64-F72F-6670-5377-8452F3F4E23A}"/>
              </a:ext>
            </a:extLst>
          </p:cNvPr>
          <p:cNvSpPr>
            <a:spLocks xmlns:a="http://schemas.openxmlformats.org/drawingml/2006/main" noGrp="1"/>
          </p:cNvSpPr>
          <p:nvPr/>
        </p:nvSpPr>
        <p:spPr>
          <a:xfrm xmlns:a="http://schemas.openxmlformats.org/drawingml/2006/main">
            <a:off x="5930153" y="1211935"/>
            <a:ext cx="624610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评估机器人状态好坏</a:t>
            </a:r>
            <a:endParaRPr b="1"/>
          </a:p>
        </p:txBody>
      </p:sp>
      <p:sp>
        <p:nvSpPr>
          <p:cNvPr id="6" name="文本框 5">
            <a:extLst xmlns:a="http://schemas.openxmlformats.org/drawingml/2006/main">
              <a:ext uri="{FF2B5EF4-FFF2-40B4-BE49-F238E27FC236}">
                <a16:creationId xmlns:a16="http://schemas.microsoft.com/office/drawing/2014/main" id="{FF27CAB0-F558-4A91-DD55-65318E7D1960}"/>
              </a:ext>
            </a:extLst>
          </p:cNvPr>
          <p:cNvSpPr>
            <a:spLocks xmlns:a="http://schemas.openxmlformats.org/drawingml/2006/main" noGrp="1"/>
          </p:cNvSpPr>
          <p:nvPr/>
        </p:nvSpPr>
        <p:spPr>
          <a:xfrm xmlns:a="http://schemas.openxmlformats.org/drawingml/2006/main" rot="0" flipH="0" flipV="0">
            <a:off x="5930153" y="3539619"/>
            <a:ext cx="5387614" cy="19380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机器人当前状态的好坏，还与当前状态下基于策略选择的动作有关，考虑机器人未来状态对当前状态评价的影响， 提出</a:t>
            </a:r>
            <a:r>
              <a:rPr b="1"/>
              <a:t>状态</a:t>
            </a:r>
            <a:r>
              <a:rPr b="1"/>
              <a:t>-</a:t>
            </a:r>
            <a:r>
              <a:rPr b="1"/>
              <a:t>动作价值函数</a:t>
            </a:r>
            <a:r>
              <a:t>（</a:t>
            </a:r>
            <a:r>
              <a:t>State-Action Value Function</a:t>
            </a:r>
            <a:r>
              <a:t>），记为</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𝑄</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oMath>
              </m:oMathPara>
            </a14:m>
            <a:r>
              <a:t>：</a:t>
            </a:r>
            <a:endParaRPr/>
          </a:p>
          <a:p xmlns:a="http://schemas.openxmlformats.org/drawingml/2006/main">
            <a:pPr>
              <a:buNone/>
            </a:pP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𝑄</m:t>
                  </m:r>
                  <m:d>
                    <m:dPr>
                      <m:grow m:val="off"/>
                    </m:dPr>
                    <m:e>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e>
                  </m:d>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𝐸</m:t>
                      </m:r>
                    </m:e>
                    <m:sub>
                      <m:r>
                        <a:rPr xmlns:a="http://schemas.openxmlformats.org/drawingml/2006/main" lang="zh-CN" b="0" i="1">
                          <a:latin typeface="Cambria Math"/>
                          <a:ea typeface="Cambria Math"/>
                          <a:cs typeface="Cambria Math"/>
                        </a:rPr>
                        <m:t>𝜋</m:t>
                      </m:r>
                    </m:sub>
                  </m:sSub>
                  <m:d>
                    <m:dPr>
                      <m:begChr m:val="["/>
                      <m:endChr m:val="]"/>
                      <m:grow m:val="off"/>
                    </m:dPr>
                    <m:e>
                      <m:nary>
                        <m:naryPr>
                          <m:chr m:val="∑"/>
                          <m:subHide m:val="off"/>
                          <m:supHide m:val="on"/>
                        </m:naryPr>
                        <m:sub>
                          <m:r>
                            <a:rPr xmlns:a="http://schemas.openxmlformats.org/drawingml/2006/main" lang="en-US" i="1">
                              <a:latin typeface="Cambria Math"/>
                              <a:ea typeface="Cambria Math"/>
                              <a:cs typeface="Cambria Math"/>
                            </a:rPr>
                            <m:t>𝑡</m:t>
                          </m:r>
                        </m:sub>
                        <m:e>
                          <m:sSup>
                            <m:e>
                              <m:r>
                                <a:rPr xmlns:a="http://schemas.openxmlformats.org/drawingml/2006/main" lang="zh-CN" i="1">
                                  <a:latin typeface="Cambria Math"/>
                                  <a:ea typeface="Cambria Math"/>
                                  <a:cs typeface="Cambria Math"/>
                                </a:rPr>
                                <m:t>𝛾</m:t>
                              </m:r>
                            </m:e>
                            <m:sup>
                              <m:r>
                                <a:rPr xmlns:a="http://schemas.openxmlformats.org/drawingml/2006/main" lang="en-US" i="1">
                                  <a:latin typeface="Cambria Math"/>
                                  <a:ea typeface="Cambria Math"/>
                                  <a:cs typeface="Cambria Math"/>
                                </a:rPr>
                                <m:t>𝑡</m:t>
                              </m:r>
                            </m:sup>
                          </m:sSup>
                          <m:sSub>
                            <m:e>
                              <m:r>
                                <a:rPr xmlns:a="http://schemas.openxmlformats.org/drawingml/2006/main" lang="en-US" i="1">
                                  <a:latin typeface="Cambria Math"/>
                                  <a:ea typeface="Cambria Math"/>
                                  <a:cs typeface="Cambria Math"/>
                                </a:rPr>
                                <m:t>𝑟</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e>
                      </m:nary>
                    </m:e>
                  </m:d>
                </m:oMath>
              </m:oMathPara>
            </a14:m>
            <a:endParaRPr/>
          </a:p>
        </p:txBody>
      </p:sp>
      <p:sp>
        <p:nvSpPr>
          <p:cNvPr id="8" name="文本框 7">
            <a:extLst xmlns:a="http://schemas.openxmlformats.org/drawingml/2006/main">
              <a:ext uri="{FF2B5EF4-FFF2-40B4-BE49-F238E27FC236}">
                <a16:creationId xmlns:a16="http://schemas.microsoft.com/office/drawing/2014/main" id="{C9817F88-0BB8-6C2B-AD03-B24712C89B6C}"/>
              </a:ext>
            </a:extLst>
          </p:cNvPr>
          <p:cNvSpPr>
            <a:spLocks xmlns:a="http://schemas.openxmlformats.org/drawingml/2006/main" noGrp="1"/>
          </p:cNvSpPr>
          <p:nvPr/>
        </p:nvSpPr>
        <p:spPr>
          <a:xfrm xmlns:a="http://schemas.openxmlformats.org/drawingml/2006/main" rot="0" flipH="0" flipV="0">
            <a:off x="5930153" y="5588270"/>
            <a:ext cx="5387614"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描述机器人在任一状态下，开始并已经选择了任意动作</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𝐴</m:t>
                  </m:r>
                </m:oMath>
              </m:oMathPara>
            </a14:m>
            <a:r>
              <a:t>, </a:t>
            </a:r>
            <a:r>
              <a:t>在这之后按照策略</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𝜋</m:t>
                  </m:r>
                </m:oMath>
              </m:oMathPara>
            </a14:m>
            <a:r>
              <a:t>选择动作能够获得的回报期望值</a:t>
            </a:r>
            <a:endParaRPr/>
          </a:p>
        </p:txBody>
      </p:sp>
      <p:sp>
        <p:nvSpPr>
          <p:cNvPr id="10" name="矩形 9">
            <a:extLst xmlns:a="http://schemas.openxmlformats.org/drawingml/2006/main">
              <a:ext uri="{FF2B5EF4-FFF2-40B4-BE49-F238E27FC236}">
                <a16:creationId xmlns:a16="http://schemas.microsoft.com/office/drawing/2014/main" id="{94A10EEF-826E-AD9C-AD29-484997E8CC71}"/>
              </a:ext>
            </a:extLst>
          </p:cNvPr>
          <p:cNvSpPr>
            <a:spLocks xmlns:a="http://schemas.openxmlformats.org/drawingml/2006/main" noGrp="1"/>
          </p:cNvSpPr>
          <p:nvPr/>
        </p:nvSpPr>
        <p:spPr>
          <a:xfrm xmlns:a="http://schemas.openxmlformats.org/drawingml/2006/main" rot="0" flipH="0" flipV="0">
            <a:off x="-1" y="939798"/>
            <a:ext cx="5511575"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文本框 11">
            <a:extLst xmlns:a="http://schemas.openxmlformats.org/drawingml/2006/main">
              <a:ext uri="{FF2B5EF4-FFF2-40B4-BE49-F238E27FC236}">
                <a16:creationId xmlns:a16="http://schemas.microsoft.com/office/drawing/2014/main" id="{E914092D-1BA3-513A-BFC0-9DA5017D0A0E}"/>
              </a:ext>
            </a:extLst>
          </p:cNvPr>
          <p:cNvSpPr>
            <a:spLocks xmlns:a="http://schemas.openxmlformats.org/drawingml/2006/main" noGrp="1"/>
          </p:cNvSpPr>
          <p:nvPr/>
        </p:nvSpPr>
        <p:spPr>
          <a:xfrm xmlns:a="http://schemas.openxmlformats.org/drawingml/2006/main" rot="0" flipH="0" flipV="0">
            <a:off x="297292" y="1021703"/>
            <a:ext cx="521428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5.4.1 </a:t>
            </a:r>
            <a:r>
              <a:rPr sz="2400" b="1">
                <a:solidFill>
                  <a:schemeClr val="accent1"/>
                </a:solidFill>
                <a:latin typeface="+mj-lt"/>
                <a:ea typeface="+mj-lt"/>
                <a:cs typeface="+mj-lt"/>
              </a:rPr>
              <a:t>基于值函数的强化学习导航</a:t>
            </a:r>
          </a:p>
        </p:txBody>
      </p:sp>
    </p:spTree>
    <p:extLst>
      <p:ext uri="{BB962C8B-B14F-4D97-AF65-F5344CB8AC3E}">
        <p14:creationId xmlns:p14="http://schemas.microsoft.com/office/powerpoint/2010/main" val="759618310"/>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7" name="文本框 6">
            <a:extLst xmlns:a="http://schemas.openxmlformats.org/drawingml/2006/main">
              <a:ext uri="{FF2B5EF4-FFF2-40B4-BE49-F238E27FC236}">
                <a16:creationId xmlns:a16="http://schemas.microsoft.com/office/drawing/2014/main" id="{7D99389A-1A57-62B8-5809-0A340792B4B1}"/>
              </a:ext>
            </a:extLst>
          </p:cNvPr>
          <p:cNvSpPr>
            <a:spLocks xmlns:a="http://schemas.openxmlformats.org/drawingml/2006/main" noGrp="1"/>
          </p:cNvSpPr>
          <p:nvPr/>
        </p:nvSpPr>
        <p:spPr>
          <a:xfrm xmlns:a="http://schemas.openxmlformats.org/drawingml/2006/main">
            <a:off x="80215" y="2369236"/>
            <a:ext cx="5474672"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状态转移函数和奖励函数</a:t>
            </a:r>
            <a:endParaRPr/>
          </a:p>
          <a:p xmlns:a="http://schemas.openxmlformats.org/drawingml/2006/main">
            <a:endParaRPr/>
          </a:p>
        </p:txBody>
      </p:sp>
      <p:sp>
        <p:nvSpPr>
          <p:cNvPr id="2" name="文本框 1">
            <a:extLst xmlns:a="http://schemas.openxmlformats.org/drawingml/2006/main">
              <a:ext uri="{FF2B5EF4-FFF2-40B4-BE49-F238E27FC236}">
                <a16:creationId xmlns:a16="http://schemas.microsoft.com/office/drawing/2014/main" id="{7BB39C3E-B38C-E02E-D6BB-E90979D5940C}"/>
              </a:ext>
            </a:extLst>
          </p:cNvPr>
          <p:cNvSpPr>
            <a:spLocks xmlns:a="http://schemas.openxmlformats.org/drawingml/2006/main" noGrp="1"/>
          </p:cNvSpPr>
          <p:nvPr/>
        </p:nvSpPr>
        <p:spPr>
          <a:xfrm xmlns:a="http://schemas.openxmlformats.org/drawingml/2006/main">
            <a:off x="2952186" y="2124327"/>
            <a:ext cx="547467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已知：基于模型的强化学习</a:t>
            </a:r>
            <a:endParaRPr/>
          </a:p>
        </p:txBody>
      </p:sp>
      <p:sp>
        <p:nvSpPr>
          <p:cNvPr id="4" name="左大括号 3">
            <a:extLst xmlns:a="http://schemas.openxmlformats.org/drawingml/2006/main">
              <a:ext uri="{FF2B5EF4-FFF2-40B4-BE49-F238E27FC236}">
                <a16:creationId xmlns:a16="http://schemas.microsoft.com/office/drawing/2014/main" id="{59F4B6A4-67E4-F21C-3F9A-0514A76A4BD1}"/>
              </a:ext>
            </a:extLst>
          </p:cNvPr>
          <p:cNvSpPr>
            <a:spLocks xmlns:a="http://schemas.openxmlformats.org/drawingml/2006/main" noGrp="1"/>
          </p:cNvSpPr>
          <p:nvPr/>
        </p:nvSpPr>
        <p:spPr>
          <a:xfrm xmlns:a="http://schemas.openxmlformats.org/drawingml/2006/main">
            <a:off x="2739055" y="2184659"/>
            <a:ext cx="213131" cy="728770"/>
          </a:xfrm>
          <a:prstGeom xmlns:a="http://schemas.openxmlformats.org/drawingml/2006/main" prst="leftBrace">
            <a:avLst/>
          </a:prstGeom>
        </p:spPr>
        <p:style>
          <a:lnRef xmlns:a="http://schemas.openxmlformats.org/drawingml/2006/main" idx="3">
            <a:schemeClr val="dk1"/>
          </a:lnRef>
          <a:fillRef xmlns:a="http://schemas.openxmlformats.org/drawingml/2006/main" idx="0">
            <a:schemeClr val="dk1"/>
          </a:fillRef>
          <a:effectRef xmlns:a="http://schemas.openxmlformats.org/drawingml/2006/main" idx="2">
            <a:schemeClr val="dk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文本框 9">
            <a:extLst xmlns:a="http://schemas.openxmlformats.org/drawingml/2006/main">
              <a:ext uri="{FF2B5EF4-FFF2-40B4-BE49-F238E27FC236}">
                <a16:creationId xmlns:a16="http://schemas.microsoft.com/office/drawing/2014/main" id="{4E4507BA-AD01-AD68-A681-0CF139A316F4}"/>
              </a:ext>
            </a:extLst>
          </p:cNvPr>
          <p:cNvSpPr>
            <a:spLocks xmlns:a="http://schemas.openxmlformats.org/drawingml/2006/main" noGrp="1"/>
          </p:cNvSpPr>
          <p:nvPr/>
        </p:nvSpPr>
        <p:spPr>
          <a:xfrm xmlns:a="http://schemas.openxmlformats.org/drawingml/2006/main">
            <a:off x="2952186" y="2544097"/>
            <a:ext cx="547467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未知：无模型的强化学习</a:t>
            </a:r>
            <a:endParaRPr/>
          </a:p>
        </p:txBody>
      </p:sp>
      <p:sp>
        <p:nvSpPr>
          <p:cNvPr id="12" name="文本框 11">
            <a:extLst xmlns:a="http://schemas.openxmlformats.org/drawingml/2006/main">
              <a:ext uri="{FF2B5EF4-FFF2-40B4-BE49-F238E27FC236}">
                <a16:creationId xmlns:a16="http://schemas.microsoft.com/office/drawing/2014/main" id="{25AE23B3-5AF7-C62B-576E-2A4A8AF0E898}"/>
              </a:ext>
            </a:extLst>
          </p:cNvPr>
          <p:cNvSpPr>
            <a:spLocks xmlns:a="http://schemas.openxmlformats.org/drawingml/2006/main" noGrp="1"/>
          </p:cNvSpPr>
          <p:nvPr/>
        </p:nvSpPr>
        <p:spPr>
          <a:xfrm xmlns:a="http://schemas.openxmlformats.org/drawingml/2006/main">
            <a:off x="595283" y="3066005"/>
            <a:ext cx="5474672"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Model-based:</a:t>
            </a:r>
            <a:r>
              <a:t>动态规划</a:t>
            </a:r>
            <a:endParaRPr/>
          </a:p>
          <a:p xmlns:a="http://schemas.openxmlformats.org/drawingml/2006/main">
            <a:r>
              <a:rPr b="1"/>
              <a:t>Model-free(</a:t>
            </a:r>
            <a:r>
              <a:rPr b="1">
                <a:solidFill>
                  <a:srgbClr val="C00000"/>
                </a:solidFill>
              </a:rPr>
              <a:t>常见</a:t>
            </a:r>
            <a:r>
              <a:rPr b="1"/>
              <a:t>)</a:t>
            </a:r>
            <a:r>
              <a:t> </a:t>
            </a:r>
            <a:r>
              <a:rPr b="1"/>
              <a:t>:</a:t>
            </a:r>
            <a:r>
              <a:t>蒙特卡洛、时序差分算法</a:t>
            </a:r>
            <a:endParaRPr/>
          </a:p>
        </p:txBody>
      </p:sp>
      <p:sp>
        <p:nvSpPr>
          <p:cNvPr id="13" name="文本框 12">
            <a:extLst xmlns:a="http://schemas.openxmlformats.org/drawingml/2006/main">
              <a:ext uri="{FF2B5EF4-FFF2-40B4-BE49-F238E27FC236}">
                <a16:creationId xmlns:a16="http://schemas.microsoft.com/office/drawing/2014/main" id="{CFE07481-6B0D-16DF-E1BC-C6A0236FE841}"/>
              </a:ext>
            </a:extLst>
          </p:cNvPr>
          <p:cNvSpPr>
            <a:spLocks xmlns:a="http://schemas.openxmlformats.org/drawingml/2006/main" noGrp="1"/>
          </p:cNvSpPr>
          <p:nvPr/>
        </p:nvSpPr>
        <p:spPr>
          <a:xfrm xmlns:a="http://schemas.openxmlformats.org/drawingml/2006/main">
            <a:off x="6579290" y="1347625"/>
            <a:ext cx="547467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时序差分算法</a:t>
            </a:r>
            <a:endParaRPr b="1"/>
          </a:p>
        </p:txBody>
      </p:sp>
      <p:sp>
        <p:nvSpPr>
          <p:cNvPr id="14" name="文本框 13">
            <a:extLst xmlns:a="http://schemas.openxmlformats.org/drawingml/2006/main">
              <a:ext uri="{FF2B5EF4-FFF2-40B4-BE49-F238E27FC236}">
                <a16:creationId xmlns:a16="http://schemas.microsoft.com/office/drawing/2014/main" id="{814F854C-A559-32B2-0973-9F3364B1BB53}"/>
              </a:ext>
            </a:extLst>
          </p:cNvPr>
          <p:cNvSpPr>
            <a:spLocks xmlns:a="http://schemas.openxmlformats.org/drawingml/2006/main" noGrp="1"/>
          </p:cNvSpPr>
          <p:nvPr/>
        </p:nvSpPr>
        <p:spPr>
          <a:xfrm xmlns:a="http://schemas.openxmlformats.org/drawingml/2006/main">
            <a:off x="6157878" y="1893494"/>
            <a:ext cx="5312463" cy="237513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1</a:t>
            </a:r>
            <a:r>
              <a:t>）首先根据确定的策略</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𝜋</m:t>
                  </m:r>
                </m:oMath>
              </m:oMathPara>
            </a14:m>
            <a:r>
              <a:t>来初始化状态值函数</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𝑉</m:t>
                      </m:r>
                    </m:e>
                    <m:sub>
                      <m:r>
                        <a:rPr xmlns:a="http://schemas.openxmlformats.org/drawingml/2006/main" lang="zh-CN" i="1">
                          <a:latin typeface="Cambria Math"/>
                          <a:ea typeface="Cambria Math"/>
                          <a:cs typeface="Cambria Math"/>
                        </a:rPr>
                        <m:t>𝜋</m:t>
                      </m:r>
                    </m:sub>
                  </m:sSub>
                  <m:d>
                    <m:dPr>
                      <m:grow m:val="off"/>
                    </m:dPr>
                    <m:e>
                      <m:r>
                        <a:rPr xmlns:a="http://schemas.openxmlformats.org/drawingml/2006/main" lang="en-US" b="0" i="1">
                          <a:latin typeface="Cambria Math"/>
                          <a:ea typeface="Cambria Math"/>
                          <a:cs typeface="Cambria Math"/>
                        </a:rPr>
                        <m:t>𝑠</m:t>
                      </m:r>
                    </m:e>
                  </m:d>
                </m:oMath>
              </m:oMathPara>
            </a14:m>
            <a:endParaRPr b="0"/>
          </a:p>
          <a:p xmlns:a="http://schemas.openxmlformats.org/drawingml/2006/main">
            <a:endParaRPr b="0"/>
          </a:p>
          <a:p xmlns:a="http://schemas.openxmlformats.org/drawingml/2006/main">
            <a:r>
              <a:t>2</a:t>
            </a:r>
            <a:r>
              <a:t>）根据某一策略选择一个动作</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𝑡</m:t>
                      </m:r>
                    </m:sub>
                  </m:sSub>
                </m:oMath>
              </m:oMathPara>
            </a14:m>
            <a:r>
              <a:t>，并观察下一时刻状态</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oMath>
              </m:oMathPara>
            </a14:m>
            <a:endParaRPr/>
          </a:p>
          <a:p xmlns:a="http://schemas.openxmlformats.org/drawingml/2006/main">
            <a:endParaRPr/>
          </a:p>
          <a:p xmlns:a="http://schemas.openxmlformats.org/drawingml/2006/main">
            <a:r>
              <a:t>3</a:t>
            </a:r>
            <a:r>
              <a:t>）利用下一时刻带有折扣的状态值</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𝑉</m:t>
                  </m:r>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oMath>
              </m:oMathPara>
            </a14:m>
            <a:r>
              <a:t>和当前状态下获得的收益</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oMath>
              </m:oMathPara>
            </a14:m>
            <a:r>
              <a:t>来估计当前状态下实际的状态值</a:t>
            </a:r>
            <a:r>
              <a:t>V(</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oMath>
              </m:oMathPara>
            </a14:m>
            <a:r>
              <a:t>),</a:t>
            </a:r>
            <a:r>
              <a:t>并找到最优估计状态值</a:t>
            </a: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𝑉</m:t>
                      </m:r>
                    </m:e>
                    <m:sup>
                      <m:r>
                        <a:rPr xmlns:a="http://schemas.openxmlformats.org/drawingml/2006/main" lang="en-US" b="0" i="1">
                          <a:latin typeface="Cambria Math"/>
                          <a:ea typeface="Cambria Math"/>
                          <a:cs typeface="Cambria Math"/>
                        </a:rPr>
                        <m:t>∗</m:t>
                      </m:r>
                    </m:sup>
                  </m:sSup>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r>
                    <a:rPr xmlns:a="http://schemas.openxmlformats.org/drawingml/2006/main" lang="en-US" b="0" i="1">
                      <a:latin typeface="Cambria Math"/>
                      <a:ea typeface="Cambria Math"/>
                      <a:cs typeface="Cambria Math"/>
                    </a:rPr>
                    <m:t>)</m:t>
                  </m:r>
                </m:oMath>
              </m:oMathPara>
            </a14:m>
            <a:endParaRPr/>
          </a:p>
        </p:txBody>
      </p:sp>
      <p:sp>
        <p:nvSpPr>
          <p:cNvPr id="18" name="直角三角形 17">
            <a:extLst xmlns:a="http://schemas.openxmlformats.org/drawingml/2006/main">
              <a:ext uri="{FF2B5EF4-FFF2-40B4-BE49-F238E27FC236}">
                <a16:creationId xmlns:a16="http://schemas.microsoft.com/office/drawing/2014/main" id="{C74E9224-A3EF-541E-77C0-4D267A783FA1}"/>
              </a:ext>
            </a:extLst>
          </p:cNvPr>
          <p:cNvSpPr>
            <a:spLocks xmlns:a="http://schemas.openxmlformats.org/drawingml/2006/main" noGrp="1"/>
          </p:cNvSpPr>
          <p:nvPr/>
        </p:nvSpPr>
        <p:spPr>
          <a:xfrm xmlns:a="http://schemas.openxmlformats.org/drawingml/2006/main" rot="16200000" flipH="0" flipV="0">
            <a:off x="5374257" y="3512504"/>
            <a:ext cx="369333" cy="1074150"/>
          </a:xfrm>
          <a:custGeom xmlns:a="http://schemas.openxmlformats.org/drawingml/2006/main">
            <a:gdLst>
              <a:gd name="connsiteX0" fmla="*/ 0 w 1604755"/>
              <a:gd name="connsiteY0" fmla="*/ 550392 h 550392"/>
              <a:gd name="connsiteX1" fmla="*/ 0 w 1604755"/>
              <a:gd name="connsiteY1" fmla="*/ 0 h 550392"/>
              <a:gd name="connsiteX2" fmla="*/ 1604755 w 1604755"/>
              <a:gd name="connsiteY2" fmla="*/ 550392 h 550392"/>
              <a:gd name="connsiteX3" fmla="*/ 0 w 1604755"/>
              <a:gd name="connsiteY3" fmla="*/ 550392 h 550392"/>
              <a:gd name="connsiteX0-1" fmla="*/ 0 w 2879835"/>
              <a:gd name="connsiteY0-2" fmla="*/ 550392 h 1525752"/>
              <a:gd name="connsiteX1-3" fmla="*/ 0 w 2879835"/>
              <a:gd name="connsiteY1-4" fmla="*/ 0 h 1525752"/>
              <a:gd name="connsiteX2-5" fmla="*/ 2879835 w 2879835"/>
              <a:gd name="connsiteY2-6" fmla="*/ 1525752 h 1525752"/>
              <a:gd name="connsiteX3-7" fmla="*/ 0 w 2879835"/>
              <a:gd name="connsiteY3-8" fmla="*/ 550392 h 1525752"/>
              <a:gd name="connsiteX0-9" fmla="*/ 0 w 2790935"/>
              <a:gd name="connsiteY0-10" fmla="*/ 550392 h 1532102"/>
              <a:gd name="connsiteX1-11" fmla="*/ 0 w 2790935"/>
              <a:gd name="connsiteY1-12" fmla="*/ 0 h 1532102"/>
              <a:gd name="connsiteX2-13" fmla="*/ 2790935 w 2790935"/>
              <a:gd name="connsiteY2-14" fmla="*/ 1532102 h 1532102"/>
              <a:gd name="connsiteX3-15" fmla="*/ 0 w 2790935"/>
              <a:gd name="connsiteY3-16" fmla="*/ 550392 h 1532102"/>
              <a:gd name="connsiteX0-17" fmla="*/ 0 w 2473220"/>
              <a:gd name="connsiteY0-18" fmla="*/ 550392 h 1516604"/>
              <a:gd name="connsiteX1-19" fmla="*/ 0 w 2473220"/>
              <a:gd name="connsiteY1-20" fmla="*/ 0 h 1516604"/>
              <a:gd name="connsiteX2-21" fmla="*/ 2473220 w 2473220"/>
              <a:gd name="connsiteY2-22" fmla="*/ 1516604 h 1516604"/>
              <a:gd name="connsiteX3-23" fmla="*/ 0 w 2473220"/>
              <a:gd name="connsiteY3-24" fmla="*/ 550392 h 1516604"/>
              <a:gd name="connsiteX0-25" fmla="*/ 0 w 1448753"/>
              <a:gd name="connsiteY0-26" fmla="*/ 550392 h 1533537"/>
              <a:gd name="connsiteX1-27" fmla="*/ 0 w 1448753"/>
              <a:gd name="connsiteY1-28" fmla="*/ 0 h 1533537"/>
              <a:gd name="connsiteX2-29" fmla="*/ 1448753 w 1448753"/>
              <a:gd name="connsiteY2-30" fmla="*/ 1533537 h 1533537"/>
              <a:gd name="connsiteX3-31" fmla="*/ 0 w 1448753"/>
              <a:gd name="connsiteY3-32" fmla="*/ 550392 h 1533537"/>
              <a:gd name="connsiteX0-33" fmla="*/ 0 w 1469919"/>
              <a:gd name="connsiteY0-34" fmla="*/ 550392 h 1575870"/>
              <a:gd name="connsiteX1-35" fmla="*/ 0 w 1469919"/>
              <a:gd name="connsiteY1-36" fmla="*/ 0 h 1575870"/>
              <a:gd name="connsiteX2-37" fmla="*/ 1469919 w 1469919"/>
              <a:gd name="connsiteY2-38" fmla="*/ 1575870 h 1575870"/>
              <a:gd name="connsiteX3-39" fmla="*/ 0 w 1469919"/>
              <a:gd name="connsiteY3-40" fmla="*/ 550392 h 1575870"/>
              <a:gd name="connsiteX0-41" fmla="*/ 0 w 1469919"/>
              <a:gd name="connsiteY0-42" fmla="*/ 1007592 h 1575870"/>
              <a:gd name="connsiteX1-43" fmla="*/ 0 w 1469919"/>
              <a:gd name="connsiteY1-44" fmla="*/ 0 h 1575870"/>
              <a:gd name="connsiteX2-45" fmla="*/ 1469919 w 1469919"/>
              <a:gd name="connsiteY2-46" fmla="*/ 1575870 h 1575870"/>
              <a:gd name="connsiteX3-47" fmla="*/ 0 w 1469919"/>
              <a:gd name="connsiteY3-48" fmla="*/ 1007592 h 1575870"/>
            </a:gdLst>
            <a:rect l="l" t="t" r="r" b="b"/>
            <a:pathLst>
              <a:path w="1469919" h="1575870">
                <a:moveTo>
                  <a:pt x="0" y="1007592"/>
                </a:moveTo>
                <a:lnTo>
                  <a:pt x="0" y="0"/>
                </a:lnTo>
                <a:lnTo>
                  <a:pt x="1469919" y="1575870"/>
                </a:lnTo>
                <a:lnTo>
                  <a:pt x="0" y="1007592"/>
                </a:lnTo>
                <a:close/>
              </a:path>
            </a:pathLst>
          </a:custGeom>
          <a:gradFill xmlns:a="http://schemas.openxmlformats.org/drawingml/2006/main">
            <a:gsLst>
              <a:gs pos="3000">
                <a:schemeClr val="accent1">
                  <a:alpha val="91000"/>
                </a:schemeClr>
              </a:gs>
              <a:gs pos="93000">
                <a:schemeClr val="accent1">
                  <a:lumMod val="20000"/>
                  <a:lumOff val="80000"/>
                  <a:alpha val="5400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矩形: 圆角 18">
            <a:extLst xmlns:a="http://schemas.openxmlformats.org/drawingml/2006/main">
              <a:ext uri="{FF2B5EF4-FFF2-40B4-BE49-F238E27FC236}">
                <a16:creationId xmlns:a16="http://schemas.microsoft.com/office/drawing/2014/main" id="{D69FEFF5-17FB-F537-5F21-344D4AA2013B}"/>
              </a:ext>
            </a:extLst>
          </p:cNvPr>
          <p:cNvSpPr>
            <a:spLocks xmlns:a="http://schemas.openxmlformats.org/drawingml/2006/main" noGrp="1"/>
          </p:cNvSpPr>
          <p:nvPr/>
        </p:nvSpPr>
        <p:spPr>
          <a:xfrm xmlns:a="http://schemas.openxmlformats.org/drawingml/2006/main" rot="0" flipH="0" flipV="0">
            <a:off x="4406995" y="4190496"/>
            <a:ext cx="1626126" cy="509651"/>
          </a:xfrm>
          <a:prstGeom xmlns:a="http://schemas.openxmlformats.org/drawingml/2006/main" prst="roundRect">
            <a:avLst>
              <a:gd name="adj" fmla="val 3978"/>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144000" bIns="180000" anchor="ctr"/>
          <a:lstStyle xmlns:a="http://schemas.openxmlformats.org/drawingml/2006/main"/>
          <a:p xmlns:a="http://schemas.openxmlformats.org/drawingml/2006/main">
            <a:pPr algn="ctr">
              <a:buNone/>
            </a:pPr>
            <a:r>
              <a:rPr sz="2000" b="1">
                <a:solidFill>
                  <a:schemeClr val="bg1"/>
                </a:solidFill>
              </a:rPr>
              <a:t>试错一步</a:t>
            </a:r>
          </a:p>
        </p:txBody>
      </p:sp>
      <p:sp>
        <p:nvSpPr>
          <p:cNvPr id="20" name="文本框 19">
            <a:extLst xmlns:a="http://schemas.openxmlformats.org/drawingml/2006/main">
              <a:ext uri="{FF2B5EF4-FFF2-40B4-BE49-F238E27FC236}">
                <a16:creationId xmlns:a16="http://schemas.microsoft.com/office/drawing/2014/main" id="{842B630D-870A-047E-1097-121078CDD27F}"/>
              </a:ext>
            </a:extLst>
          </p:cNvPr>
          <p:cNvSpPr>
            <a:spLocks xmlns:a="http://schemas.openxmlformats.org/drawingml/2006/main" noGrp="1"/>
          </p:cNvSpPr>
          <p:nvPr/>
        </p:nvSpPr>
        <p:spPr>
          <a:xfrm xmlns:a="http://schemas.openxmlformats.org/drawingml/2006/main">
            <a:off x="6364066" y="4499107"/>
            <a:ext cx="5312463"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𝛾</m:t>
                  </m:r>
                  <m:r>
                    <a:rPr xmlns:a="http://schemas.openxmlformats.org/drawingml/2006/main" lang="en-US" b="0" i="1">
                      <a:latin typeface="Cambria Math"/>
                      <a:ea typeface="Cambria Math"/>
                      <a:cs typeface="Cambria Math"/>
                    </a:rPr>
                    <m:t>𝑉</m:t>
                  </m:r>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r>
                    <a:rPr xmlns:a="http://schemas.openxmlformats.org/drawingml/2006/main" lang="zh-CN" i="1">
                      <a:latin typeface="Cambria Math"/>
                      <a:ea typeface="Cambria Math"/>
                      <a:cs typeface="Cambria Math"/>
                    </a:rPr>
                    <m:t>：</m:t>
                  </m:r>
                </m:oMath>
              </m:oMathPara>
            </a14:m>
            <a:r>
              <a:rPr b="1"/>
              <a:t>时序差分目标</a:t>
            </a:r>
            <a:r>
              <a:t>(TD-Target)</a:t>
            </a:r>
          </a:p>
        </p:txBody>
      </p:sp>
      <p:sp>
        <p:nvSpPr>
          <p:cNvPr id="21" name="文本框 20">
            <a:extLst xmlns:a="http://schemas.openxmlformats.org/drawingml/2006/main">
              <a:ext uri="{FF2B5EF4-FFF2-40B4-BE49-F238E27FC236}">
                <a16:creationId xmlns:a16="http://schemas.microsoft.com/office/drawing/2014/main" id="{59E6AF31-12B9-1F20-1CAF-D4D0FE00C8FC}"/>
              </a:ext>
            </a:extLst>
          </p:cNvPr>
          <p:cNvSpPr>
            <a:spLocks xmlns:a="http://schemas.openxmlformats.org/drawingml/2006/main" noGrp="1"/>
          </p:cNvSpPr>
          <p:nvPr/>
        </p:nvSpPr>
        <p:spPr>
          <a:xfrm xmlns:a="http://schemas.openxmlformats.org/drawingml/2006/main">
            <a:off x="6240801" y="5091143"/>
            <a:ext cx="5312463"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4</a:t>
            </a:r>
            <a:r>
              <a:t>）更新策略：</a:t>
            </a:r>
            <a:endParaRPr/>
          </a:p>
          <a:p xmlns:a="http://schemas.openxmlformats.org/drawingml/2006/main">
            <a:pPr>
              <a:buNone/>
            </a:pP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𝑉</m:t>
                  </m:r>
                  <m:d>
                    <m:dPr>
                      <m:grow m:val="off"/>
                    </m:dPr>
                    <m:e>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e>
                  </m:d>
                  <m:r>
                    <a:rPr xmlns:a="http://schemas.openxmlformats.org/drawingml/2006/main" lang="en-US" i="1">
                      <a:latin typeface="Cambria Math"/>
                      <a:ea typeface="Cambria Math"/>
                      <a:cs typeface="Cambria Math"/>
                    </a:rPr>
                    <m:t>←</m:t>
                  </m:r>
                  <m:r>
                    <a:rPr xmlns:a="http://schemas.openxmlformats.org/drawingml/2006/main" lang="en-US" b="0" i="1">
                      <a:latin typeface="Cambria Math"/>
                      <a:ea typeface="Cambria Math"/>
                      <a:cs typeface="Cambria Math"/>
                    </a:rPr>
                    <m:t>𝑉</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𝛼</m:t>
                  </m:r>
                  <m:d>
                    <m:dPr>
                      <m:begChr m:val="["/>
                      <m:endChr m:val="]"/>
                      <m:grow m:val="off"/>
                    </m:dPr>
                    <m:e>
                      <m:sSub>
                        <m:e>
                          <m:r>
                            <a:rPr xmlns:a="http://schemas.openxmlformats.org/drawingml/2006/main" lang="en-US" b="0" i="1">
                              <a:latin typeface="Cambria Math"/>
                              <a:ea typeface="Cambria Math"/>
                              <a:cs typeface="Cambria Math"/>
                            </a:rPr>
                            <m:t>𝑟</m:t>
                          </m:r>
                        </m:e>
                        <m:sub>
                          <m:r>
                            <a:rPr xmlns:a="http://schemas.openxmlformats.org/drawingml/2006/main" lang="en-US"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𝛾</m:t>
                      </m:r>
                      <m:r>
                        <a:rPr xmlns:a="http://schemas.openxmlformats.org/drawingml/2006/main" lang="en-US" b="0" i="1">
                          <a:latin typeface="Cambria Math"/>
                          <a:ea typeface="Cambria Math"/>
                          <a:cs typeface="Cambria Math"/>
                        </a:rPr>
                        <m:t>𝑉</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r>
                                <a:rPr xmlns:a="http://schemas.openxmlformats.org/drawingml/2006/main" lang="en-US" b="0" i="1">
                                  <a:latin typeface="Cambria Math"/>
                                  <a:ea typeface="Cambria Math"/>
                                  <a:cs typeface="Cambria Math"/>
                                </a:rPr>
                                <m:t>+1</m:t>
                              </m:r>
                            </m:sub>
                          </m:sSub>
                        </m:e>
                      </m:d>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𝑉</m:t>
                      </m:r>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e>
                  </m:d>
                </m:oMath>
              </m:oMathPara>
            </a14:m>
            <a:endParaRPr/>
          </a:p>
        </p:txBody>
      </p:sp>
      <p:sp>
        <p:nvSpPr>
          <p:cNvPr id="22" name="文本框 21">
            <a:extLst xmlns:a="http://schemas.openxmlformats.org/drawingml/2006/main">
              <a:ext uri="{FF2B5EF4-FFF2-40B4-BE49-F238E27FC236}">
                <a16:creationId xmlns:a16="http://schemas.microsoft.com/office/drawing/2014/main" id="{4126B8A7-4880-5A8B-6688-DEED345A5B67}"/>
              </a:ext>
            </a:extLst>
          </p:cNvPr>
          <p:cNvSpPr>
            <a:spLocks xmlns:a="http://schemas.openxmlformats.org/drawingml/2006/main" noGrp="1"/>
          </p:cNvSpPr>
          <p:nvPr/>
        </p:nvSpPr>
        <p:spPr>
          <a:xfrm xmlns:a="http://schemas.openxmlformats.org/drawingml/2006/main">
            <a:off x="6240801" y="5828490"/>
            <a:ext cx="5312463" cy="670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其中，</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𝛼𝜖</m:t>
                  </m:r>
                  <m:r>
                    <a:rPr xmlns:a="http://schemas.openxmlformats.org/drawingml/2006/main" lang="en-US" b="0" i="1">
                      <a:latin typeface="Cambria Math"/>
                      <a:ea typeface="Cambria Math"/>
                      <a:cs typeface="Cambria Math"/>
                    </a:rPr>
                    <m:t>(0,1)</m:t>
                  </m:r>
                  <m:r>
                    <a:rPr xmlns:a="http://schemas.openxmlformats.org/drawingml/2006/main" lang="zh-CN" i="1">
                      <a:latin typeface="Cambria Math"/>
                      <a:ea typeface="Cambria Math"/>
                      <a:cs typeface="Cambria Math"/>
                    </a:rPr>
                    <m:t>为</m:t>
                  </m:r>
                </m:oMath>
              </m:oMathPara>
            </a14:m>
            <a:r>
              <a:t>增量步长</a:t>
            </a:r>
            <a:r>
              <a:t>,</a:t>
            </a:r>
            <a:r>
              <a:t>机器人与环境交互迭代使</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𝑉</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e>
                  </m:d>
                  <m:r>
                    <a:rPr xmlns:a="http://schemas.openxmlformats.org/drawingml/2006/main" lang="zh-CN" i="1">
                      <a:latin typeface="Cambria Math"/>
                      <a:ea typeface="Cambria Math"/>
                      <a:cs typeface="Cambria Math"/>
                    </a:rPr>
                    <m:t>逼近</m:t>
                  </m:r>
                </m:oMath>
              </m:oMathPara>
            </a14:m>
            <a:r>
              <a:t>最优估计</a:t>
            </a: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𝑉</m:t>
                      </m:r>
                    </m:e>
                    <m:sup>
                      <m:r>
                        <a:rPr xmlns:a="http://schemas.openxmlformats.org/drawingml/2006/main" lang="en-US" b="0" i="1">
                          <a:latin typeface="Cambria Math"/>
                          <a:ea typeface="Cambria Math"/>
                          <a:cs typeface="Cambria Math"/>
                        </a:rPr>
                        <m:t>∗</m:t>
                      </m:r>
                    </m:sup>
                  </m:sSup>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e>
                  </m:d>
                </m:oMath>
              </m:oMathPara>
            </a14:m>
            <a:endParaRPr/>
          </a:p>
        </p:txBody>
      </p:sp>
      <p:pic>
        <p:nvPicPr>
          <p:cNvPr id="36" name="图片 23"/>
          <p:cNvPicPr>
            <a:picLocks xmlns:a="http://schemas.openxmlformats.org/drawingml/2006/main" noChangeAspect="1"/>
          </p:cNvPicPr>
          <p:nvPr/>
        </p:nvPicPr>
        <p:blipFill>
          <a:blip xmlns:r="http://schemas.openxmlformats.org/officeDocument/2006/relationships" xmlns:a="http://schemas.openxmlformats.org/drawingml/2006/main" r:embed="R6598f7b8198049f4"/>
          <a:srcRect xmlns:a="http://schemas.openxmlformats.org/drawingml/2006/main" l="-1053" t="-1182" r="42529" b="1182"/>
          <a:stretch xmlns:a="http://schemas.openxmlformats.org/drawingml/2006/main">
            <a:fillRect l="0" t="0" r="0" b="0"/>
          </a:stretch>
        </p:blipFill>
        <p:spPr>
          <a:xfrm xmlns:a="http://schemas.openxmlformats.org/drawingml/2006/main">
            <a:off x="335581" y="3713902"/>
            <a:ext cx="5760417" cy="2754481"/>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06A5D13D-CC19-0F7C-BC97-02D66DCB2CFB}"/>
              </a:ext>
            </a:extLst>
          </p:cNvPr>
          <p:cNvSpPr>
            <a:spLocks xmlns:a="http://schemas.openxmlformats.org/drawingml/2006/main" noGrp="1"/>
          </p:cNvSpPr>
          <p:nvPr/>
        </p:nvSpPr>
        <p:spPr>
          <a:xfrm xmlns:a="http://schemas.openxmlformats.org/drawingml/2006/main" rot="0" flipH="0" flipV="0">
            <a:off x="-1" y="939798"/>
            <a:ext cx="5511575"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5E147745-368C-9E19-D287-D9502B13F752}"/>
              </a:ext>
            </a:extLst>
          </p:cNvPr>
          <p:cNvSpPr>
            <a:spLocks xmlns:a="http://schemas.openxmlformats.org/drawingml/2006/main" noGrp="1"/>
          </p:cNvSpPr>
          <p:nvPr/>
        </p:nvSpPr>
        <p:spPr>
          <a:xfrm xmlns:a="http://schemas.openxmlformats.org/drawingml/2006/main" rot="0" flipH="0" flipV="0">
            <a:off x="297292" y="1021703"/>
            <a:ext cx="521428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5.4.1 </a:t>
            </a:r>
            <a:r>
              <a:rPr sz="2400" b="1">
                <a:solidFill>
                  <a:schemeClr val="accent1"/>
                </a:solidFill>
                <a:latin typeface="+mj-lt"/>
                <a:ea typeface="+mj-lt"/>
                <a:cs typeface="+mj-lt"/>
              </a:rPr>
              <a:t>基于值函数的强化学习导航</a:t>
            </a:r>
          </a:p>
        </p:txBody>
      </p:sp>
    </p:spTree>
    <p:extLst>
      <p:ext uri="{BB962C8B-B14F-4D97-AF65-F5344CB8AC3E}">
        <p14:creationId xmlns:p14="http://schemas.microsoft.com/office/powerpoint/2010/main" val="3387331960"/>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1" name="文本框 20">
            <a:extLst xmlns:a="http://schemas.openxmlformats.org/drawingml/2006/main">
              <a:ext uri="{FF2B5EF4-FFF2-40B4-BE49-F238E27FC236}">
                <a16:creationId xmlns:a16="http://schemas.microsoft.com/office/drawing/2014/main" id="{31E1B6CC-7435-F243-EB27-56415135AEB3}"/>
              </a:ext>
            </a:extLst>
          </p:cNvPr>
          <p:cNvSpPr>
            <a:spLocks xmlns:a="http://schemas.openxmlformats.org/drawingml/2006/main" noGrp="1"/>
          </p:cNvSpPr>
          <p:nvPr/>
        </p:nvSpPr>
        <p:spPr>
          <a:xfrm xmlns:a="http://schemas.openxmlformats.org/drawingml/2006/main">
            <a:off x="378624" y="3078843"/>
            <a:ext cx="4397321"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SARSA </a:t>
            </a:r>
            <a:r>
              <a:t>算法属于时序差分算法的一种</a:t>
            </a:r>
            <a:endParaRPr/>
          </a:p>
          <a:p xmlns:a="http://schemas.openxmlformats.org/drawingml/2006/main">
            <a:endParaRPr/>
          </a:p>
          <a:p xmlns:a="http://schemas.openxmlformats.org/drawingml/2006/main">
            <a:r>
              <a:t>它对当前状态的最优状态</a:t>
            </a:r>
            <a:r>
              <a:t>-</a:t>
            </a:r>
            <a:r>
              <a:t>动作值</a:t>
            </a: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𝑄</m:t>
                      </m:r>
                    </m:e>
                    <m:sup>
                      <m:r>
                        <a:rPr xmlns:a="http://schemas.openxmlformats.org/drawingml/2006/main" lang="en-US" b="0" i="1">
                          <a:latin typeface="Cambria Math"/>
                          <a:ea typeface="Cambria Math"/>
                          <a:cs typeface="Cambria Math"/>
                        </a:rPr>
                        <m:t>∗</m:t>
                      </m:r>
                    </m:sup>
                  </m:sSup>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r>
                    <a:rPr xmlns:a="http://schemas.openxmlformats.org/drawingml/2006/main" lang="en-US" b="0" i="1">
                      <a:latin typeface="Cambria Math"/>
                      <a:ea typeface="Cambria Math"/>
                      <a:cs typeface="Cambria Math"/>
                    </a:rPr>
                    <m:t>)</m:t>
                  </m:r>
                </m:oMath>
              </m:oMathPara>
            </a14:m>
            <a:r>
              <a:t>进行逼近而不是最优状态值</a:t>
            </a: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𝑉</m:t>
                      </m:r>
                    </m:e>
                    <m:sup>
                      <m:r>
                        <a:rPr xmlns:a="http://schemas.openxmlformats.org/drawingml/2006/main" lang="en-US" b="0" i="1">
                          <a:latin typeface="Cambria Math"/>
                          <a:ea typeface="Cambria Math"/>
                          <a:cs typeface="Cambria Math"/>
                        </a:rPr>
                        <m:t>∗</m:t>
                      </m:r>
                    </m:sup>
                  </m:sSup>
                  <m:d>
                    <m:dPr>
                      <m:grow m:val="off"/>
                    </m:dPr>
                    <m:e>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e>
                  </m:d>
                </m:oMath>
              </m:oMathPara>
            </a14:m>
            <a:endParaRPr b="0"/>
          </a:p>
          <a:p xmlns:a="http://schemas.openxmlformats.org/drawingml/2006/main">
            <a:endParaRPr b="0"/>
          </a:p>
          <a:p xmlns:a="http://schemas.openxmlformats.org/drawingml/2006/main">
            <a:r>
              <a:t>同时序差分算法的更新公式类似，</a:t>
            </a:r>
            <a:r>
              <a:t>SARSA </a:t>
            </a:r>
            <a:r>
              <a:t>算法中状态</a:t>
            </a:r>
            <a:r>
              <a:t>-</a:t>
            </a:r>
            <a:r>
              <a:t>动作值按照如下策略更新：</a:t>
            </a:r>
            <a:endParaRPr/>
          </a:p>
        </p:txBody>
      </p:sp>
      <p:sp>
        <p:nvSpPr>
          <p:cNvPr id="22" name="文本框 21">
            <a:extLst xmlns:a="http://schemas.openxmlformats.org/drawingml/2006/main">
              <a:ext uri="{FF2B5EF4-FFF2-40B4-BE49-F238E27FC236}">
                <a16:creationId xmlns:a16="http://schemas.microsoft.com/office/drawing/2014/main" id="{DFD818E7-32D6-4D62-5F3A-764584774E12}"/>
              </a:ext>
            </a:extLst>
          </p:cNvPr>
          <p:cNvSpPr>
            <a:spLocks xmlns:a="http://schemas.openxmlformats.org/drawingml/2006/main" noGrp="1"/>
          </p:cNvSpPr>
          <p:nvPr/>
        </p:nvSpPr>
        <p:spPr>
          <a:xfrm xmlns:a="http://schemas.openxmlformats.org/drawingml/2006/main">
            <a:off x="1026341" y="2071696"/>
            <a:ext cx="5312463"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t>SARSA</a:t>
            </a:r>
            <a:r>
              <a:rPr sz="2400" b="1"/>
              <a:t>算法</a:t>
            </a:r>
            <a:endParaRPr sz="2400" b="1"/>
          </a:p>
        </p:txBody>
      </p:sp>
      <p:sp>
        <p:nvSpPr>
          <p:cNvPr id="5" name="文本框 4">
            <a:extLst xmlns:a="http://schemas.openxmlformats.org/drawingml/2006/main">
              <a:ext uri="{FF2B5EF4-FFF2-40B4-BE49-F238E27FC236}">
                <a16:creationId xmlns:a16="http://schemas.microsoft.com/office/drawing/2014/main" id="{E224CE2C-7486-9511-8B4B-6174A1E831F9}"/>
              </a:ext>
            </a:extLst>
          </p:cNvPr>
          <p:cNvSpPr>
            <a:spLocks xmlns:a="http://schemas.openxmlformats.org/drawingml/2006/main" noGrp="1"/>
          </p:cNvSpPr>
          <p:nvPr/>
        </p:nvSpPr>
        <p:spPr>
          <a:xfrm xmlns:a="http://schemas.openxmlformats.org/drawingml/2006/main">
            <a:off x="0" y="5548870"/>
            <a:ext cx="609485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en-US"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𝛼</m:t>
                  </m:r>
                  <m:d>
                    <m:dPr>
                      <m:begChr m:val="["/>
                      <m:endChr m:val="]"/>
                      <m:grow m:val="off"/>
                    </m:dPr>
                    <m:e>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𝛾</m:t>
                      </m:r>
                      <m:r>
                        <a:rPr xmlns:a="http://schemas.openxmlformats.org/drawingml/2006/main" lang="en-US"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r>
                                <a:rPr xmlns:a="http://schemas.openxmlformats.org/drawingml/2006/main" lang="en-US" b="0" i="1">
                                  <a:latin typeface="Cambria Math"/>
                                  <a:ea typeface="Cambria Math"/>
                                  <a:cs typeface="Cambria Math"/>
                                </a:rPr>
                                <m:t>+1</m:t>
                              </m:r>
                            </m:sub>
                          </m:sSub>
                        </m:e>
                      </m:d>
                      <m:r>
                        <a:rPr xmlns:a="http://schemas.openxmlformats.org/drawingml/2006/main" lang="en-US" b="0" i="1">
                          <a:latin typeface="Cambria Math"/>
                          <a:ea typeface="Cambria Math"/>
                          <a:cs typeface="Cambria Math"/>
                        </a:rPr>
                        <m:t>−</m:t>
                      </m:r>
                      <m:r>
                        <a:rPr xmlns:a="http://schemas.openxmlformats.org/drawingml/2006/main" lang="en-US"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d>
                    </m:e>
                  </m:d>
                </m:oMath>
              </m:oMathPara>
            </a14:m>
            <a:endParaRPr/>
          </a:p>
        </p:txBody>
      </p:sp>
      <p:pic>
        <p:nvPicPr>
          <p:cNvPr id="27" name="图片 7"/>
          <p:cNvPicPr>
            <a:picLocks xmlns:a="http://schemas.openxmlformats.org/drawingml/2006/main" noChangeAspect="1"/>
          </p:cNvPicPr>
          <p:nvPr/>
        </p:nvPicPr>
        <p:blipFill>
          <a:blip xmlns:r="http://schemas.openxmlformats.org/officeDocument/2006/relationships" xmlns:a="http://schemas.openxmlformats.org/drawingml/2006/main" r:embed="Rc4d31b9c44d04b8d"/>
          <a:srcRect xmlns:a="http://schemas.openxmlformats.org/drawingml/2006/main" l="0" t="0" r="24410" b="0"/>
          <a:stretch xmlns:a="http://schemas.openxmlformats.org/drawingml/2006/main">
            <a:fillRect l="0" t="0" r="0" b="0"/>
          </a:stretch>
        </p:blipFill>
        <p:spPr>
          <a:xfrm xmlns:a="http://schemas.openxmlformats.org/drawingml/2006/main" rot="0" flipH="0" flipV="0">
            <a:off x="5076305" y="1021703"/>
            <a:ext cx="6737071" cy="2744919"/>
          </a:xfrm>
          <a:prstGeom xmlns:a="http://schemas.openxmlformats.org/drawingml/2006/main" prst="rect">
            <a:avLst/>
          </a:prstGeom>
        </p:spPr>
      </p:pic>
      <p:sp>
        <p:nvSpPr>
          <p:cNvPr id="11" name="文本框 10">
            <a:extLst xmlns:a="http://schemas.openxmlformats.org/drawingml/2006/main">
              <a:ext uri="{FF2B5EF4-FFF2-40B4-BE49-F238E27FC236}">
                <a16:creationId xmlns:a16="http://schemas.microsoft.com/office/drawing/2014/main" id="{9F2209AD-4B55-C0C4-6F94-5CBE9B623F30}"/>
              </a:ext>
            </a:extLst>
          </p:cNvPr>
          <p:cNvSpPr>
            <a:spLocks xmlns:a="http://schemas.openxmlformats.org/drawingml/2006/main" noGrp="1"/>
          </p:cNvSpPr>
          <p:nvPr/>
        </p:nvSpPr>
        <p:spPr>
          <a:xfrm xmlns:a="http://schemas.openxmlformats.org/drawingml/2006/main" rot="0" flipH="0" flipV="0">
            <a:off x="6338804" y="3985618"/>
            <a:ext cx="4955291"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0" i="0" u="none"/>
              <a:t>SARSA</a:t>
            </a:r>
            <a:r>
              <a:rPr sz="1800" b="0" i="0" u="none">
                <a:latin typeface="TimesNewRomanPSMT"/>
                <a:ea typeface="TimesNewRomanPSMT"/>
                <a:cs typeface="TimesNewRomanPSMT"/>
              </a:rPr>
              <a:t> </a:t>
            </a:r>
            <a:r>
              <a:rPr sz="1800" b="0" i="0" u="none">
                <a:latin typeface="TimesNewRomanPSMT"/>
                <a:ea typeface="TimesNewRomanPSMT"/>
                <a:cs typeface="TimesNewRomanPSMT"/>
              </a:rPr>
              <a:t>需要一个状态</a:t>
            </a:r>
            <a:r>
              <a:rPr sz="1800" b="0" i="0" u="none">
                <a:latin typeface="TimesNewRomanPSMT"/>
                <a:ea typeface="TimesNewRomanPSMT"/>
                <a:cs typeface="TimesNewRomanPSMT"/>
              </a:rPr>
              <a:t>-</a:t>
            </a:r>
            <a:r>
              <a:rPr sz="1800" b="0" i="0" u="none">
                <a:latin typeface="TimesNewRomanPSMT"/>
                <a:ea typeface="TimesNewRomanPSMT"/>
                <a:cs typeface="TimesNewRomanPSMT"/>
              </a:rPr>
              <a:t>动作值表</a:t>
            </a:r>
            <a:r>
              <a:rPr>
                <a:latin typeface="TimesNewRomanPSMT"/>
                <a:ea typeface="TimesNewRomanPSMT"/>
                <a:cs typeface="TimesNewRomanPSMT"/>
              </a:rPr>
              <a:t>（</a:t>
            </a:r>
            <a:r>
              <a:t>Q Table</a:t>
            </a:r>
            <a:r>
              <a:rPr sz="1800" b="0" i="0" u="none">
                <a:latin typeface="TimesNewRomanPSMT"/>
                <a:ea typeface="TimesNewRomanPSMT"/>
                <a:cs typeface="TimesNewRomanPSMT"/>
              </a:rPr>
              <a:t>）来存储每一状态下的最优估计状态</a:t>
            </a:r>
            <a:r>
              <a:rPr sz="1800" b="0" i="0" u="none">
                <a:latin typeface="TimesNewRomanPSMT"/>
                <a:ea typeface="TimesNewRomanPSMT"/>
                <a:cs typeface="TimesNewRomanPSMT"/>
              </a:rPr>
              <a:t>-</a:t>
            </a:r>
            <a:r>
              <a:rPr sz="1800" b="0" i="0" u="none">
                <a:latin typeface="TimesNewRomanPSMT"/>
                <a:ea typeface="TimesNewRomanPSMT"/>
                <a:cs typeface="TimesNewRomanPSMT"/>
              </a:rPr>
              <a:t>动作值。</a:t>
            </a:r>
            <a:endParaRPr sz="1800" b="0" i="0" u="none" baseline="0">
              <a:latin typeface="TimesNewRomanPSMT"/>
              <a:ea typeface="TimesNewRomanPSMT"/>
              <a:cs typeface="TimesNewRomanPSMT"/>
            </a:endParaRPr>
          </a:p>
          <a:p xmlns:a="http://schemas.openxmlformats.org/drawingml/2006/main">
            <a:pPr algn="l">
              <a:buNone/>
            </a:pPr>
            <a:endParaRPr sz="1800" b="0" i="0" u="none" baseline="0">
              <a:latin typeface="TimesNewRomanPSMT"/>
              <a:ea typeface="TimesNewRomanPSMT"/>
              <a:cs typeface="TimesNewRomanPSMT"/>
            </a:endParaRPr>
          </a:p>
          <a:p xmlns:a="http://schemas.openxmlformats.org/drawingml/2006/main">
            <a:pPr algn="l">
              <a:buNone/>
            </a:pPr>
            <a:r>
              <a:rPr sz="1800" b="0" i="0" u="none">
                <a:latin typeface="TimesNewRomanPSMT"/>
                <a:ea typeface="TimesNewRomanPSMT"/>
                <a:cs typeface="TimesNewRomanPSMT"/>
              </a:rPr>
              <a:t>在更新状态</a:t>
            </a:r>
            <a:r>
              <a:rPr sz="1800" b="0" i="0" u="none">
                <a:latin typeface="TimesNewRomanPSMT"/>
                <a:ea typeface="TimesNewRomanPSMT"/>
                <a:cs typeface="TimesNewRomanPSMT"/>
              </a:rPr>
              <a:t>-</a:t>
            </a:r>
            <a:r>
              <a:rPr sz="1800" b="0" i="0" u="none">
                <a:latin typeface="TimesNewRomanPSMT"/>
                <a:ea typeface="TimesNewRomanPSMT"/>
                <a:cs typeface="TimesNewRomanPSMT"/>
              </a:rPr>
              <a:t>动作值表和最优轨迹生成的时候，由于</a:t>
            </a:r>
            <a:r>
              <a:rPr sz="1800" b="0" i="0" u="none"/>
              <a:t>SARSA</a:t>
            </a:r>
            <a:r>
              <a:rPr sz="1800" b="0" i="0" u="none">
                <a:latin typeface="TimesNewRomanPSMT"/>
                <a:ea typeface="TimesNewRomanPSMT"/>
                <a:cs typeface="TimesNewRomanPSMT"/>
              </a:rPr>
              <a:t> </a:t>
            </a:r>
            <a:r>
              <a:rPr sz="1800" b="0" i="0" u="none">
                <a:latin typeface="TimesNewRomanPSMT"/>
                <a:ea typeface="TimesNewRomanPSMT"/>
                <a:cs typeface="TimesNewRomanPSMT"/>
              </a:rPr>
              <a:t>采用的行为策略和目标策略都是</a:t>
            </a:r>
            <a:r>
              <a:rPr sz="1800" b="0" i="0" u="none">
                <a:latin typeface="TimesNewRomanPSMT"/>
                <a:ea typeface="TimesNewRomanPSMT"/>
                <a:cs typeface="TimesNewRomanPSMT"/>
              </a:rPr>
              <a:t>ò -</a:t>
            </a:r>
            <a:r>
              <a:rPr sz="1800" b="1" i="0" u="none">
                <a:latin typeface="TimesNewRomanPSMT"/>
                <a:ea typeface="TimesNewRomanPSMT"/>
                <a:cs typeface="TimesNewRomanPSMT"/>
              </a:rPr>
              <a:t>贪婪策略</a:t>
            </a:r>
            <a:r>
              <a:rPr sz="1800" b="0" i="0" u="none">
                <a:latin typeface="TimesNewRomanPSMT"/>
                <a:ea typeface="TimesNewRomanPSMT"/>
                <a:cs typeface="TimesNewRomanPSMT"/>
              </a:rPr>
              <a:t>（</a:t>
            </a:r>
            <a:r>
              <a:rPr sz="1800" b="0" i="0" u="none"/>
              <a:t>ò -greed Police</a:t>
            </a:r>
            <a:r>
              <a:rPr sz="1800" b="0" i="0" u="none">
                <a:latin typeface="TimesNewRomanPSMT"/>
                <a:ea typeface="TimesNewRomanPSMT"/>
                <a:cs typeface="TimesNewRomanPSMT"/>
              </a:rPr>
              <a:t>），所以</a:t>
            </a:r>
            <a:r>
              <a:rPr sz="1800" b="0" i="0" u="none">
                <a:latin typeface="TimesNewRomanPSMT"/>
                <a:ea typeface="TimesNewRomanPSMT"/>
                <a:cs typeface="TimesNewRomanPSMT"/>
              </a:rPr>
              <a:t>SARSA </a:t>
            </a:r>
            <a:r>
              <a:rPr sz="1800" b="0" i="0" u="none">
                <a:latin typeface="TimesNewRomanPSMT"/>
                <a:ea typeface="TimesNewRomanPSMT"/>
                <a:cs typeface="TimesNewRomanPSMT"/>
              </a:rPr>
              <a:t>算法也被称为一种</a:t>
            </a:r>
            <a:r>
              <a:rPr sz="1800" b="1" i="0" u="none">
                <a:latin typeface="TimesNewRomanPSMT"/>
                <a:ea typeface="TimesNewRomanPSMT"/>
                <a:cs typeface="TimesNewRomanPSMT"/>
              </a:rPr>
              <a:t>在线策略</a:t>
            </a:r>
            <a:r>
              <a:rPr sz="1800" b="0" i="0" u="none">
                <a:latin typeface="TimesNewRomanPSMT"/>
                <a:ea typeface="TimesNewRomanPSMT"/>
                <a:cs typeface="TimesNewRomanPSMT"/>
              </a:rPr>
              <a:t>（</a:t>
            </a:r>
            <a:r>
              <a:rPr sz="1800" b="0" i="0" u="none"/>
              <a:t>Onpolice</a:t>
            </a:r>
            <a:r>
              <a:rPr sz="1800" b="0" i="0" u="none">
                <a:latin typeface="TimesNewRomanPSMT"/>
                <a:ea typeface="TimesNewRomanPSMT"/>
                <a:cs typeface="TimesNewRomanPSMT"/>
              </a:rPr>
              <a:t>）算法。</a:t>
            </a:r>
            <a:endParaRPr/>
          </a:p>
        </p:txBody>
      </p:sp>
      <p:sp>
        <p:nvSpPr>
          <p:cNvPr id="3" name="矩形 2">
            <a:extLst xmlns:a="http://schemas.openxmlformats.org/drawingml/2006/main">
              <a:ext uri="{FF2B5EF4-FFF2-40B4-BE49-F238E27FC236}">
                <a16:creationId xmlns:a16="http://schemas.microsoft.com/office/drawing/2014/main" id="{2321F8A5-3AEA-928A-51FC-7616CB167FFE}"/>
              </a:ext>
            </a:extLst>
          </p:cNvPr>
          <p:cNvSpPr>
            <a:spLocks xmlns:a="http://schemas.openxmlformats.org/drawingml/2006/main" noGrp="1"/>
          </p:cNvSpPr>
          <p:nvPr/>
        </p:nvSpPr>
        <p:spPr>
          <a:xfrm xmlns:a="http://schemas.openxmlformats.org/drawingml/2006/main" rot="0" flipH="0" flipV="0">
            <a:off x="-1" y="939798"/>
            <a:ext cx="5511575"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文本框 3">
            <a:extLst xmlns:a="http://schemas.openxmlformats.org/drawingml/2006/main">
              <a:ext uri="{FF2B5EF4-FFF2-40B4-BE49-F238E27FC236}">
                <a16:creationId xmlns:a16="http://schemas.microsoft.com/office/drawing/2014/main" id="{11C97729-A7A2-8AFA-E5DA-80CB22B0D4C3}"/>
              </a:ext>
            </a:extLst>
          </p:cNvPr>
          <p:cNvSpPr>
            <a:spLocks xmlns:a="http://schemas.openxmlformats.org/drawingml/2006/main" noGrp="1"/>
          </p:cNvSpPr>
          <p:nvPr/>
        </p:nvSpPr>
        <p:spPr>
          <a:xfrm xmlns:a="http://schemas.openxmlformats.org/drawingml/2006/main" rot="0" flipH="0" flipV="0">
            <a:off x="297292" y="1021703"/>
            <a:ext cx="521428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5.4.1 </a:t>
            </a:r>
            <a:r>
              <a:rPr sz="2400" b="1">
                <a:solidFill>
                  <a:schemeClr val="accent1"/>
                </a:solidFill>
                <a:latin typeface="+mj-lt"/>
                <a:ea typeface="+mj-lt"/>
                <a:cs typeface="+mj-lt"/>
              </a:rPr>
              <a:t>基于值函数的强化学习导航</a:t>
            </a:r>
          </a:p>
        </p:txBody>
      </p:sp>
    </p:spTree>
    <p:extLst>
      <p:ext uri="{BB962C8B-B14F-4D97-AF65-F5344CB8AC3E}">
        <p14:creationId xmlns:p14="http://schemas.microsoft.com/office/powerpoint/2010/main" val="4104844635"/>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1" name="文本框 20">
            <a:extLst xmlns:a="http://schemas.openxmlformats.org/drawingml/2006/main">
              <a:ext uri="{FF2B5EF4-FFF2-40B4-BE49-F238E27FC236}">
                <a16:creationId xmlns:a16="http://schemas.microsoft.com/office/drawing/2014/main" id="{76666C57-D80A-2A5E-9701-4FE0E92388B3}"/>
              </a:ext>
            </a:extLst>
          </p:cNvPr>
          <p:cNvSpPr>
            <a:spLocks xmlns:a="http://schemas.openxmlformats.org/drawingml/2006/main" noGrp="1"/>
          </p:cNvSpPr>
          <p:nvPr/>
        </p:nvSpPr>
        <p:spPr>
          <a:xfrm xmlns:a="http://schemas.openxmlformats.org/drawingml/2006/main">
            <a:off x="378624" y="2752357"/>
            <a:ext cx="4865729" cy="3416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rPr b="1"/>
              <a:t>Q-learning</a:t>
            </a:r>
            <a:r>
              <a:t>属于时序差分算法的代表</a:t>
            </a:r>
            <a:endParaRPr/>
          </a:p>
          <a:p xmlns:a="http://schemas.openxmlformats.org/drawingml/2006/main">
            <a:pPr marL="285750" indent="-285750">
              <a:buFont typeface="Arial"/>
              <a:buChar char="•"/>
            </a:pPr>
            <a:endParaRPr/>
          </a:p>
          <a:p xmlns:a="http://schemas.openxmlformats.org/drawingml/2006/main">
            <a:pPr marL="285750" indent="-285750">
              <a:buFont typeface="Arial"/>
              <a:buChar char="•"/>
            </a:pPr>
            <a:r>
              <a:t>与</a:t>
            </a:r>
            <a:r>
              <a:t>SARSA</a:t>
            </a:r>
            <a:r>
              <a:t>相比两者使用状态</a:t>
            </a:r>
            <a:r>
              <a:t>-</a:t>
            </a:r>
            <a:r>
              <a:t>动作函数来进行时序差分误差估计的方式不同</a:t>
            </a:r>
            <a:endParaRPr/>
          </a:p>
          <a:p xmlns:a="http://schemas.openxmlformats.org/drawingml/2006/main">
            <a:pPr marL="285750" indent="-285750">
              <a:buFont typeface="Arial"/>
              <a:buChar char="•"/>
            </a:pPr>
            <a:endParaRPr/>
          </a:p>
          <a:p xmlns:a="http://schemas.openxmlformats.org/drawingml/2006/main">
            <a:pPr marL="285750" indent="-285750">
              <a:buFont typeface="Arial"/>
              <a:buChar char="•"/>
            </a:pPr>
            <a:r>
              <a:t>并且</a:t>
            </a:r>
            <a:r>
              <a:t>Q-learning </a:t>
            </a:r>
            <a:r>
              <a:t>算法在行为策略上采取</a:t>
            </a:r>
            <a:r>
              <a:rPr i="1"/>
              <a:t>ò </a:t>
            </a:r>
            <a:r>
              <a:t>-</a:t>
            </a:r>
            <a:r>
              <a:t>贪婪策略，而在目标策略上采取贪心选择即</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𝑎𝑟𝑔𝑚𝑎𝑥𝑄</m:t>
                  </m:r>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oMath>
              </m:oMathPara>
            </a14:m>
            <a:r>
              <a:t>所以</a:t>
            </a:r>
            <a:r>
              <a:t>Q-learning</a:t>
            </a:r>
            <a:r>
              <a:t>是一种离线策略（</a:t>
            </a:r>
            <a:r>
              <a:t>Off-police</a:t>
            </a:r>
            <a:r>
              <a:t>）算法</a:t>
            </a:r>
            <a:endParaRPr/>
          </a:p>
          <a:p xmlns:a="http://schemas.openxmlformats.org/drawingml/2006/main">
            <a:pPr marL="285750" indent="-285750">
              <a:buFont typeface="Arial"/>
              <a:buChar char="•"/>
            </a:pPr>
            <a:r>
              <a:t>其状态</a:t>
            </a:r>
            <a:r>
              <a:t>-</a:t>
            </a:r>
            <a:r>
              <a:t>动作对值以如下策略更新：</a:t>
            </a:r>
            <a:endParaRPr/>
          </a:p>
          <a:p xmlns:a="http://schemas.openxmlformats.org/drawingml/2006/main">
            <a:endParaRPr/>
          </a:p>
          <a:p xmlns:a="http://schemas.openxmlformats.org/drawingml/2006/main">
            <a:endParaRPr/>
          </a:p>
        </p:txBody>
      </p:sp>
      <p:sp>
        <p:nvSpPr>
          <p:cNvPr id="22" name="文本框 21">
            <a:extLst xmlns:a="http://schemas.openxmlformats.org/drawingml/2006/main">
              <a:ext uri="{FF2B5EF4-FFF2-40B4-BE49-F238E27FC236}">
                <a16:creationId xmlns:a16="http://schemas.microsoft.com/office/drawing/2014/main" id="{CC25990E-46AA-DDA3-4D88-6A9E5357F7E9}"/>
              </a:ext>
            </a:extLst>
          </p:cNvPr>
          <p:cNvSpPr>
            <a:spLocks xmlns:a="http://schemas.openxmlformats.org/drawingml/2006/main" noGrp="1"/>
          </p:cNvSpPr>
          <p:nvPr/>
        </p:nvSpPr>
        <p:spPr>
          <a:xfrm xmlns:a="http://schemas.openxmlformats.org/drawingml/2006/main">
            <a:off x="1026341" y="2071696"/>
            <a:ext cx="5312463"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t>Q-learning</a:t>
            </a:r>
            <a:r>
              <a:rPr sz="2400" b="1"/>
              <a:t>算法</a:t>
            </a:r>
            <a:endParaRPr sz="2400" b="1"/>
          </a:p>
        </p:txBody>
      </p:sp>
      <p:sp>
        <p:nvSpPr>
          <p:cNvPr id="5" name="文本框 4">
            <a:extLst xmlns:a="http://schemas.openxmlformats.org/drawingml/2006/main">
              <a:ext uri="{FF2B5EF4-FFF2-40B4-BE49-F238E27FC236}">
                <a16:creationId xmlns:a16="http://schemas.microsoft.com/office/drawing/2014/main" id="{A3958928-40EE-CAC1-2153-8B627D47386B}"/>
              </a:ext>
            </a:extLst>
          </p:cNvPr>
          <p:cNvSpPr>
            <a:spLocks xmlns:a="http://schemas.openxmlformats.org/drawingml/2006/main" noGrp="1"/>
          </p:cNvSpPr>
          <p:nvPr/>
        </p:nvSpPr>
        <p:spPr>
          <a:xfrm xmlns:a="http://schemas.openxmlformats.org/drawingml/2006/main">
            <a:off x="378624" y="5799345"/>
            <a:ext cx="609485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en-US"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𝛼</m:t>
                  </m:r>
                  <m:d>
                    <m:dPr>
                      <m:begChr m:val="["/>
                      <m:endChr m:val="]"/>
                      <m:grow m:val="off"/>
                    </m:dPr>
                    <m:e>
                      <m:sSub>
                        <m:e>
                          <m:r>
                            <a:rPr xmlns:a="http://schemas.openxmlformats.org/drawingml/2006/main" lang="en-US" b="0" i="1">
                              <a:solidFill>
                                <a:schemeClr val="tx1"/>
                              </a:solidFill>
                              <a:latin typeface="Cambria Math"/>
                              <a:ea typeface="Cambria Math"/>
                              <a:cs typeface="Cambria Math"/>
                            </a:rPr>
                            <m:t>𝑟</m:t>
                          </m:r>
                        </m:e>
                        <m:sub>
                          <m:r>
                            <a:rPr xmlns:a="http://schemas.openxmlformats.org/drawingml/2006/main" lang="en-US" b="0" i="1">
                              <a:solidFill>
                                <a:schemeClr val="tx1"/>
                              </a:solidFill>
                              <a:latin typeface="Cambria Math"/>
                              <a:ea typeface="Cambria Math"/>
                              <a:cs typeface="Cambria Math"/>
                            </a:rPr>
                            <m:t>𝑡</m:t>
                          </m:r>
                          <m:r>
                            <a:rPr xmlns:a="http://schemas.openxmlformats.org/drawingml/2006/main" lang="en-US" b="0" i="1">
                              <a:solidFill>
                                <a:schemeClr val="tx1"/>
                              </a:solidFill>
                              <a:latin typeface="Cambria Math"/>
                              <a:ea typeface="Cambria Math"/>
                              <a:cs typeface="Cambria Math"/>
                            </a:rPr>
                            <m:t>+1</m:t>
                          </m:r>
                        </m:sub>
                      </m:sSub>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𝛾</m:t>
                      </m:r>
                      <m:r>
                        <a:rPr xmlns:a="http://schemas.openxmlformats.org/drawingml/2006/main" lang="en-US"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i="1">
                              <a:latin typeface="Cambria Math"/>
                              <a:ea typeface="Cambria Math"/>
                              <a:cs typeface="Cambria Math"/>
                            </a:rPr>
                            <m:t>,</m:t>
                          </m:r>
                          <m:sSub>
                            <m:e>
                              <m:r>
                                <a:rPr xmlns:a="http://schemas.openxmlformats.org/drawingml/2006/main" lang="en-US" i="1">
                                  <a:solidFill>
                                    <a:srgbClr val="C00000"/>
                                  </a:solidFill>
                                  <a:latin typeface="Cambria Math"/>
                                  <a:ea typeface="Cambria Math"/>
                                  <a:cs typeface="Cambria Math"/>
                                </a:rPr>
                                <m:t>𝑎</m:t>
                              </m:r>
                            </m:e>
                            <m:sub>
                              <m:r>
                                <a:rPr xmlns:a="http://schemas.openxmlformats.org/drawingml/2006/main" lang="en-US" i="1">
                                  <a:solidFill>
                                    <a:srgbClr val="C00000"/>
                                  </a:solidFill>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en-US"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d>
                    </m:e>
                  </m:d>
                </m:oMath>
              </m:oMathPara>
            </a14:m>
            <a:endParaRPr/>
          </a:p>
        </p:txBody>
      </p:sp>
      <p:pic>
        <p:nvPicPr>
          <p:cNvPr id="27" name="图片 2"/>
          <p:cNvPicPr>
            <a:picLocks xmlns:a="http://schemas.openxmlformats.org/drawingml/2006/main" noChangeAspect="1"/>
          </p:cNvPicPr>
          <p:nvPr/>
        </p:nvPicPr>
        <p:blipFill>
          <a:blip xmlns:r="http://schemas.openxmlformats.org/officeDocument/2006/relationships" xmlns:a="http://schemas.openxmlformats.org/drawingml/2006/main" r:embed="Re448396b2535466a"/>
          <a:srcRect xmlns:a="http://schemas.openxmlformats.org/drawingml/2006/main" l="0" t="0" r="24760" b="0"/>
          <a:stretch xmlns:a="http://schemas.openxmlformats.org/drawingml/2006/main">
            <a:fillRect l="0" t="0" r="0" b="0"/>
          </a:stretch>
        </p:blipFill>
        <p:spPr>
          <a:xfrm xmlns:a="http://schemas.openxmlformats.org/drawingml/2006/main" rot="0" flipH="0" flipV="0">
            <a:off x="5293782" y="1023247"/>
            <a:ext cx="6362146" cy="2558561"/>
          </a:xfrm>
          <a:prstGeom xmlns:a="http://schemas.openxmlformats.org/drawingml/2006/main" prst="rect">
            <a:avLst/>
          </a:prstGeom>
        </p:spPr>
      </p:pic>
      <p:sp>
        <p:nvSpPr>
          <p:cNvPr id="4" name="文本框 3">
            <a:extLst xmlns:a="http://schemas.openxmlformats.org/drawingml/2006/main">
              <a:ext uri="{FF2B5EF4-FFF2-40B4-BE49-F238E27FC236}">
                <a16:creationId xmlns:a16="http://schemas.microsoft.com/office/drawing/2014/main" id="{AE929A46-71FF-FC02-47FF-A2EBB680BD89}"/>
              </a:ext>
            </a:extLst>
          </p:cNvPr>
          <p:cNvSpPr>
            <a:spLocks xmlns:a="http://schemas.openxmlformats.org/drawingml/2006/main" noGrp="1"/>
          </p:cNvSpPr>
          <p:nvPr/>
        </p:nvSpPr>
        <p:spPr>
          <a:xfrm xmlns:a="http://schemas.openxmlformats.org/drawingml/2006/main" rot="0" flipH="0" flipV="0">
            <a:off x="6338804" y="3985618"/>
            <a:ext cx="4955291"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同样需维护 </a:t>
            </a:r>
            <a:r>
              <a:t>Q Table</a:t>
            </a:r>
            <a:r>
              <a:rPr>
                <a:latin typeface="TimesNewRomanPSMT"/>
                <a:ea typeface="TimesNewRomanPSMT"/>
                <a:cs typeface="TimesNewRomanPSMT"/>
              </a:rPr>
              <a:t>，由于在搜寻最优轨迹时使用的是贪心选择，这也使得</a:t>
            </a:r>
            <a:r>
              <a:t>Q-learning</a:t>
            </a:r>
            <a:r>
              <a:rPr>
                <a:latin typeface="TimesNewRomanPSMT"/>
                <a:ea typeface="TimesNewRomanPSMT"/>
                <a:cs typeface="TimesNewRomanPSMT"/>
              </a:rPr>
              <a:t> </a:t>
            </a:r>
            <a:r>
              <a:rPr>
                <a:latin typeface="TimesNewRomanPSMT"/>
                <a:ea typeface="TimesNewRomanPSMT"/>
                <a:cs typeface="TimesNewRomanPSMT"/>
              </a:rPr>
              <a:t>算法会比</a:t>
            </a:r>
            <a:r>
              <a:t>SARSA</a:t>
            </a:r>
            <a:r>
              <a:rPr>
                <a:latin typeface="TimesNewRomanPSMT"/>
                <a:ea typeface="TimesNewRomanPSMT"/>
                <a:cs typeface="TimesNewRomanPSMT"/>
              </a:rPr>
              <a:t>算法在轨迹搜寻上更加大胆</a:t>
            </a:r>
            <a:endParaRPr b="1"/>
          </a:p>
        </p:txBody>
      </p:sp>
      <p:sp>
        <p:nvSpPr>
          <p:cNvPr id="6" name="矩形 5">
            <a:extLst xmlns:a="http://schemas.openxmlformats.org/drawingml/2006/main">
              <a:ext uri="{FF2B5EF4-FFF2-40B4-BE49-F238E27FC236}">
                <a16:creationId xmlns:a16="http://schemas.microsoft.com/office/drawing/2014/main" id="{F05E5F7B-641F-BEBF-E54D-790F77D3E028}"/>
              </a:ext>
            </a:extLst>
          </p:cNvPr>
          <p:cNvSpPr>
            <a:spLocks xmlns:a="http://schemas.openxmlformats.org/drawingml/2006/main" noGrp="1"/>
          </p:cNvSpPr>
          <p:nvPr/>
        </p:nvSpPr>
        <p:spPr>
          <a:xfrm xmlns:a="http://schemas.openxmlformats.org/drawingml/2006/main">
            <a:off x="6386105" y="4991511"/>
            <a:ext cx="4593418" cy="484542"/>
          </a:xfrm>
          <a:prstGeom xmlns:a="http://schemas.openxmlformats.org/drawingml/2006/main" prst="rect">
            <a:avLst/>
          </a:prstGeom>
          <a:gradFill xmlns:a="http://schemas.openxmlformats.org/drawingml/2006/main" rotWithShape="1">
            <a:gsLst>
              <a:gs pos="88000">
                <a:srgbClr val="C00000"/>
              </a:gs>
              <a:gs pos="0">
                <a:srgbClr val="C00000"/>
              </a:gs>
              <a:gs pos="100000">
                <a:srgbClr val="C00000">
                  <a:alpha val="0"/>
                </a:srgbClr>
              </a:gs>
            </a:gsLst>
            <a:path path="circle">
              <a:fillToRect l="50000" t="50000" r="50000" b="50000"/>
            </a:path>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2000" b="1"/>
              <a:t>基于值函数的强化学习方法局限</a:t>
            </a:r>
          </a:p>
        </p:txBody>
      </p:sp>
      <p:sp>
        <p:nvSpPr>
          <p:cNvPr id="7" name="文本框 6">
            <a:extLst xmlns:a="http://schemas.openxmlformats.org/drawingml/2006/main">
              <a:ext uri="{FF2B5EF4-FFF2-40B4-BE49-F238E27FC236}">
                <a16:creationId xmlns:a16="http://schemas.microsoft.com/office/drawing/2014/main" id="{C6486023-EDB4-9EEA-7B17-83C3C3DC5DEE}"/>
              </a:ext>
            </a:extLst>
          </p:cNvPr>
          <p:cNvSpPr>
            <a:spLocks xmlns:a="http://schemas.openxmlformats.org/drawingml/2006/main" noGrp="1"/>
          </p:cNvSpPr>
          <p:nvPr/>
        </p:nvSpPr>
        <p:spPr>
          <a:xfrm xmlns:a="http://schemas.openxmlformats.org/drawingml/2006/main">
            <a:off x="7089599" y="5522346"/>
            <a:ext cx="4955291"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1.</a:t>
            </a:r>
            <a:r>
              <a:rPr b="1"/>
              <a:t>仅对离散场景使用</a:t>
            </a:r>
            <a:endParaRPr b="1"/>
          </a:p>
          <a:p xmlns:a="http://schemas.openxmlformats.org/drawingml/2006/main">
            <a:r>
              <a:rPr b="1"/>
              <a:t>2.</a:t>
            </a:r>
            <a:r>
              <a:rPr b="1"/>
              <a:t>对随即策略的学习比较困难</a:t>
            </a:r>
          </a:p>
        </p:txBody>
      </p:sp>
      <p:sp>
        <p:nvSpPr>
          <p:cNvPr id="8" name="矩形 7">
            <a:extLst xmlns:a="http://schemas.openxmlformats.org/drawingml/2006/main">
              <a:ext uri="{FF2B5EF4-FFF2-40B4-BE49-F238E27FC236}">
                <a16:creationId xmlns:a16="http://schemas.microsoft.com/office/drawing/2014/main" id="{6D96C309-B033-010A-3C82-509FBF02347D}"/>
              </a:ext>
            </a:extLst>
          </p:cNvPr>
          <p:cNvSpPr>
            <a:spLocks xmlns:a="http://schemas.openxmlformats.org/drawingml/2006/main" noGrp="1"/>
          </p:cNvSpPr>
          <p:nvPr/>
        </p:nvSpPr>
        <p:spPr>
          <a:xfrm xmlns:a="http://schemas.openxmlformats.org/drawingml/2006/main" rot="0" flipH="0" flipV="0">
            <a:off x="-1" y="939798"/>
            <a:ext cx="5511575"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文本框 9">
            <a:extLst xmlns:a="http://schemas.openxmlformats.org/drawingml/2006/main">
              <a:ext uri="{FF2B5EF4-FFF2-40B4-BE49-F238E27FC236}">
                <a16:creationId xmlns:a16="http://schemas.microsoft.com/office/drawing/2014/main" id="{A98C00C9-7292-D40A-8500-E35E799C0992}"/>
              </a:ext>
            </a:extLst>
          </p:cNvPr>
          <p:cNvSpPr>
            <a:spLocks xmlns:a="http://schemas.openxmlformats.org/drawingml/2006/main" noGrp="1"/>
          </p:cNvSpPr>
          <p:nvPr/>
        </p:nvSpPr>
        <p:spPr>
          <a:xfrm xmlns:a="http://schemas.openxmlformats.org/drawingml/2006/main" rot="0" flipH="0" flipV="0">
            <a:off x="297292" y="1021703"/>
            <a:ext cx="521428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5.4.1 </a:t>
            </a:r>
            <a:r>
              <a:rPr sz="2400" b="1">
                <a:solidFill>
                  <a:schemeClr val="accent1"/>
                </a:solidFill>
                <a:latin typeface="+mj-lt"/>
                <a:ea typeface="+mj-lt"/>
                <a:cs typeface="+mj-lt"/>
              </a:rPr>
              <a:t>基于值函数的强化学习导航</a:t>
            </a:r>
          </a:p>
        </p:txBody>
      </p:sp>
    </p:spTree>
    <p:extLst>
      <p:ext uri="{BB962C8B-B14F-4D97-AF65-F5344CB8AC3E}">
        <p14:creationId xmlns:p14="http://schemas.microsoft.com/office/powerpoint/2010/main" val="2890149954"/>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0322CCB6-DA22-8EEC-862F-8C8EA468626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BF52736E-FC99-10BE-6DB8-4FEB6C600AFA}"/>
              </a:ext>
            </a:extLst>
          </p:cNvPr>
          <p:cNvSpPr>
            <a:spLocks xmlns:a="http://schemas.openxmlformats.org/drawingml/2006/main" noGrp="1"/>
          </p:cNvSpPr>
          <p:nvPr/>
        </p:nvSpPr>
        <p:spPr>
          <a:xfrm xmlns:a="http://schemas.openxmlformats.org/drawingml/2006/main" rot="0" flipH="0" flipV="0">
            <a:off x="270932" y="1021703"/>
            <a:ext cx="5825067"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5.4.2 </a:t>
            </a:r>
            <a:r>
              <a:rPr sz="2400" b="1">
                <a:solidFill>
                  <a:schemeClr val="accent1"/>
                </a:solidFill>
              </a:rPr>
              <a:t>基于策略梯度的强化学习导航</a:t>
            </a:r>
          </a:p>
          <a:p xmlns:a="http://schemas.openxmlformats.org/drawingml/2006/main">
            <a:endParaRPr sz="2400" b="1">
              <a:solidFill>
                <a:schemeClr val="accent1"/>
              </a:solidFill>
              <a:latin typeface="+mj-lt"/>
              <a:ea typeface="+mj-lt"/>
              <a:cs typeface="+mj-lt"/>
            </a:endParaRPr>
          </a:p>
        </p:txBody>
      </p:sp>
      <p:sp>
        <p:nvSpPr>
          <p:cNvPr id="21" name="文本框 20">
            <a:extLst xmlns:a="http://schemas.openxmlformats.org/drawingml/2006/main">
              <a:ext uri="{FF2B5EF4-FFF2-40B4-BE49-F238E27FC236}">
                <a16:creationId xmlns:a16="http://schemas.microsoft.com/office/drawing/2014/main" id="{1FCDC1AD-6F9E-2ED7-2475-D51F7A850B77}"/>
              </a:ext>
            </a:extLst>
          </p:cNvPr>
          <p:cNvSpPr>
            <a:spLocks xmlns:a="http://schemas.openxmlformats.org/drawingml/2006/main" noGrp="1"/>
          </p:cNvSpPr>
          <p:nvPr/>
        </p:nvSpPr>
        <p:spPr>
          <a:xfrm xmlns:a="http://schemas.openxmlformats.org/drawingml/2006/main">
            <a:off x="446129" y="3002801"/>
            <a:ext cx="5361474"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区别</a:t>
            </a:r>
            <a:r>
              <a:t>：</a:t>
            </a:r>
            <a:endParaRPr/>
          </a:p>
          <a:p xmlns:a="http://schemas.openxmlformats.org/drawingml/2006/main">
            <a:r>
              <a:t>前者输出动作概率，通过采样选择动作；</a:t>
            </a:r>
            <a:endParaRPr/>
          </a:p>
          <a:p xmlns:a="http://schemas.openxmlformats.org/drawingml/2006/main">
            <a:r>
              <a:t>后者直接输出确定动作</a:t>
            </a:r>
            <a:endParaRPr/>
          </a:p>
          <a:p xmlns:a="http://schemas.openxmlformats.org/drawingml/2006/main">
            <a:endParaRPr/>
          </a:p>
          <a:p xmlns:a="http://schemas.openxmlformats.org/drawingml/2006/main">
            <a:endParaRPr/>
          </a:p>
        </p:txBody>
      </p:sp>
      <p:sp>
        <p:nvSpPr>
          <p:cNvPr id="2" name="文本框 1">
            <a:extLst xmlns:a="http://schemas.openxmlformats.org/drawingml/2006/main">
              <a:ext uri="{FF2B5EF4-FFF2-40B4-BE49-F238E27FC236}">
                <a16:creationId xmlns:a16="http://schemas.microsoft.com/office/drawing/2014/main" id="{F7DC2D91-0516-56E1-905B-5F2AD7A5A027}"/>
              </a:ext>
            </a:extLst>
          </p:cNvPr>
          <p:cNvSpPr>
            <a:spLocks xmlns:a="http://schemas.openxmlformats.org/drawingml/2006/main" noGrp="1"/>
          </p:cNvSpPr>
          <p:nvPr/>
        </p:nvSpPr>
        <p:spPr>
          <a:xfrm xmlns:a="http://schemas.openxmlformats.org/drawingml/2006/main">
            <a:off x="446129" y="1951221"/>
            <a:ext cx="547467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基于策略梯度的强化学习</a:t>
            </a:r>
            <a:endParaRPr/>
          </a:p>
        </p:txBody>
      </p:sp>
      <p:sp>
        <p:nvSpPr>
          <p:cNvPr id="8" name="文本框 7">
            <a:extLst xmlns:a="http://schemas.openxmlformats.org/drawingml/2006/main">
              <a:ext uri="{FF2B5EF4-FFF2-40B4-BE49-F238E27FC236}">
                <a16:creationId xmlns:a16="http://schemas.microsoft.com/office/drawing/2014/main" id="{0A8ACACF-F8A6-D1B1-69C8-3BC55AB38239}"/>
              </a:ext>
            </a:extLst>
          </p:cNvPr>
          <p:cNvSpPr>
            <a:spLocks xmlns:a="http://schemas.openxmlformats.org/drawingml/2006/main" noGrp="1"/>
          </p:cNvSpPr>
          <p:nvPr/>
        </p:nvSpPr>
        <p:spPr>
          <a:xfrm xmlns:a="http://schemas.openxmlformats.org/drawingml/2006/main">
            <a:off x="3576040" y="1668034"/>
            <a:ext cx="547467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随机性策略梯度</a:t>
            </a:r>
            <a:endParaRPr/>
          </a:p>
        </p:txBody>
      </p:sp>
      <p:sp>
        <p:nvSpPr>
          <p:cNvPr id="10" name="左大括号 9">
            <a:extLst xmlns:a="http://schemas.openxmlformats.org/drawingml/2006/main">
              <a:ext uri="{FF2B5EF4-FFF2-40B4-BE49-F238E27FC236}">
                <a16:creationId xmlns:a16="http://schemas.microsoft.com/office/drawing/2014/main" id="{22C63B78-3E16-9278-9F22-3990CE8E3291}"/>
              </a:ext>
            </a:extLst>
          </p:cNvPr>
          <p:cNvSpPr>
            <a:spLocks xmlns:a="http://schemas.openxmlformats.org/drawingml/2006/main" noGrp="1"/>
          </p:cNvSpPr>
          <p:nvPr/>
        </p:nvSpPr>
        <p:spPr>
          <a:xfrm xmlns:a="http://schemas.openxmlformats.org/drawingml/2006/main">
            <a:off x="3362909" y="1795480"/>
            <a:ext cx="213131" cy="728770"/>
          </a:xfrm>
          <a:prstGeom xmlns:a="http://schemas.openxmlformats.org/drawingml/2006/main" prst="leftBrace">
            <a:avLst/>
          </a:prstGeom>
        </p:spPr>
        <p:style>
          <a:lnRef xmlns:a="http://schemas.openxmlformats.org/drawingml/2006/main" idx="3">
            <a:schemeClr val="dk1"/>
          </a:lnRef>
          <a:fillRef xmlns:a="http://schemas.openxmlformats.org/drawingml/2006/main" idx="0">
            <a:schemeClr val="dk1"/>
          </a:fillRef>
          <a:effectRef xmlns:a="http://schemas.openxmlformats.org/drawingml/2006/main" idx="2">
            <a:schemeClr val="dk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BB39EFF6-DD2C-F893-4C32-09E387732A1C}"/>
              </a:ext>
            </a:extLst>
          </p:cNvPr>
          <p:cNvSpPr>
            <a:spLocks xmlns:a="http://schemas.openxmlformats.org/drawingml/2006/main" noGrp="1"/>
          </p:cNvSpPr>
          <p:nvPr/>
        </p:nvSpPr>
        <p:spPr>
          <a:xfrm xmlns:a="http://schemas.openxmlformats.org/drawingml/2006/main">
            <a:off x="3576040" y="2127804"/>
            <a:ext cx="547467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确定性策略梯度</a:t>
            </a:r>
            <a:endParaRPr/>
          </a:p>
        </p:txBody>
      </p:sp>
      <p:sp>
        <p:nvSpPr>
          <p:cNvPr id="13" name="文本框 12">
            <a:extLst xmlns:a="http://schemas.openxmlformats.org/drawingml/2006/main">
              <a:ext uri="{FF2B5EF4-FFF2-40B4-BE49-F238E27FC236}">
                <a16:creationId xmlns:a16="http://schemas.microsoft.com/office/drawing/2014/main" id="{0F2F584B-C0F0-D0BA-0C99-581D88B3BA6B}"/>
              </a:ext>
            </a:extLst>
          </p:cNvPr>
          <p:cNvSpPr>
            <a:spLocks xmlns:a="http://schemas.openxmlformats.org/drawingml/2006/main" noGrp="1"/>
          </p:cNvSpPr>
          <p:nvPr/>
        </p:nvSpPr>
        <p:spPr>
          <a:xfrm xmlns:a="http://schemas.openxmlformats.org/drawingml/2006/main">
            <a:off x="422035" y="4480129"/>
            <a:ext cx="4291159"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0" i="0" u="none">
                <a:latin typeface="+mn-ea"/>
                <a:ea typeface="+mn-ea"/>
                <a:cs typeface="+mn-ea"/>
              </a:rPr>
              <a:t>单纯地使用策略网络来拟合最优策略</a:t>
            </a:r>
            <a:r>
              <a:rPr>
                <a:latin typeface="+mn-ea"/>
                <a:ea typeface="+mn-ea"/>
                <a:cs typeface="+mn-ea"/>
              </a:rPr>
              <a:t>，</a:t>
            </a:r>
            <a:r>
              <a:rPr sz="1800" b="0" i="0" u="none">
                <a:latin typeface="+mn-ea"/>
                <a:ea typeface="+mn-ea"/>
                <a:cs typeface="+mn-ea"/>
              </a:rPr>
              <a:t>难以平衡在计算策略梯度存在的</a:t>
            </a:r>
            <a:r>
              <a:rPr sz="1800" b="1" i="0" u="none">
                <a:latin typeface="+mn-ea"/>
                <a:ea typeface="+mn-ea"/>
                <a:cs typeface="+mn-ea"/>
              </a:rPr>
              <a:t>高方差</a:t>
            </a:r>
            <a:r>
              <a:rPr sz="1800" b="0" i="0" u="none">
                <a:latin typeface="+mn-ea"/>
                <a:ea typeface="+mn-ea"/>
                <a:cs typeface="+mn-ea"/>
              </a:rPr>
              <a:t>和</a:t>
            </a:r>
            <a:r>
              <a:rPr sz="1800" b="1" i="0" u="none">
                <a:latin typeface="+mn-ea"/>
                <a:ea typeface="+mn-ea"/>
                <a:cs typeface="+mn-ea"/>
              </a:rPr>
              <a:t>高估计偏差</a:t>
            </a:r>
            <a:r>
              <a:rPr sz="1800" b="0" i="0" u="none">
                <a:latin typeface="+mn-ea"/>
                <a:ea typeface="+mn-ea"/>
                <a:cs typeface="+mn-ea"/>
              </a:rPr>
              <a:t>的矛盾</a:t>
            </a:r>
            <a:endParaRPr>
              <a:latin typeface="+mn-ea"/>
              <a:ea typeface="+mn-ea"/>
              <a:cs typeface="+mn-ea"/>
            </a:endParaRPr>
          </a:p>
        </p:txBody>
      </p:sp>
      <p:pic>
        <p:nvPicPr>
          <p:cNvPr id="115" name="Picture 2"/>
          <p:cNvPicPr>
            <a:picLocks xmlns:a="http://schemas.openxmlformats.org/drawingml/2006/main" noChangeAspect="1"/>
          </p:cNvPicPr>
          <p:nvPr/>
        </p:nvPicPr>
        <p:blipFill>
          <a:blip xmlns:r="http://schemas.openxmlformats.org/officeDocument/2006/relationships" xmlns:a="http://schemas.openxmlformats.org/drawingml/2006/main" r:embed="R3cfcb3c0eaa144da"/>
          <a:srcRect xmlns:a="http://schemas.openxmlformats.org/drawingml/2006/main" l="0" t="0" r="0" b="0"/>
          <a:stretch xmlns:a="http://schemas.openxmlformats.org/drawingml/2006/main">
            <a:fillRect l="0" t="0" r="0" b="0"/>
          </a:stretch>
        </p:blipFill>
        <p:spPr>
          <a:xfrm xmlns:a="http://schemas.openxmlformats.org/drawingml/2006/main" rot="0" flipH="0" flipV="0">
            <a:off x="6309130" y="2813254"/>
            <a:ext cx="3362325" cy="3333750"/>
          </a:xfrm>
          <a:prstGeom xmlns:a="http://schemas.openxmlformats.org/drawingml/2006/main" prst="rect">
            <a:avLst/>
          </a:prstGeom>
        </p:spPr>
      </p:pic>
      <p:sp>
        <p:nvSpPr>
          <p:cNvPr id="19" name="文本框 18">
            <a:extLst xmlns:a="http://schemas.openxmlformats.org/drawingml/2006/main">
              <a:ext uri="{FF2B5EF4-FFF2-40B4-BE49-F238E27FC236}">
                <a16:creationId xmlns:a16="http://schemas.microsoft.com/office/drawing/2014/main" id="{8A6898E1-BB30-8B8E-7D78-054E2F9086C6}"/>
              </a:ext>
            </a:extLst>
          </p:cNvPr>
          <p:cNvSpPr>
            <a:spLocks xmlns:a="http://schemas.openxmlformats.org/drawingml/2006/main" noGrp="1"/>
          </p:cNvSpPr>
          <p:nvPr/>
        </p:nvSpPr>
        <p:spPr>
          <a:xfrm xmlns:a="http://schemas.openxmlformats.org/drawingml/2006/main" rot="0" flipH="0" flipV="0">
            <a:off x="6825709" y="1252807"/>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none"/>
              <a:t>Actor-Critic</a:t>
            </a:r>
            <a:r>
              <a:rPr sz="1800" b="1" i="0" u="none"/>
              <a:t>架构</a:t>
            </a:r>
            <a:endParaRPr b="1"/>
          </a:p>
        </p:txBody>
      </p:sp>
      <p:sp>
        <p:nvSpPr>
          <p:cNvPr id="23" name="文本框 22">
            <a:extLst xmlns:a="http://schemas.openxmlformats.org/drawingml/2006/main">
              <a:ext uri="{FF2B5EF4-FFF2-40B4-BE49-F238E27FC236}">
                <a16:creationId xmlns:a16="http://schemas.microsoft.com/office/drawing/2014/main" id="{1462C53D-CF23-009F-4114-27BBBA0D8072}"/>
              </a:ext>
            </a:extLst>
          </p:cNvPr>
          <p:cNvSpPr>
            <a:spLocks xmlns:a="http://schemas.openxmlformats.org/drawingml/2006/main" noGrp="1"/>
          </p:cNvSpPr>
          <p:nvPr/>
        </p:nvSpPr>
        <p:spPr>
          <a:xfrm xmlns:a="http://schemas.openxmlformats.org/drawingml/2006/main" rot="0" flipH="0" flipV="0">
            <a:off x="6309130" y="1826255"/>
            <a:ext cx="4423038"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a:latin typeface="+mn-ea"/>
                <a:ea typeface="+mn-ea"/>
                <a:cs typeface="+mn-ea"/>
              </a:rPr>
              <a:t>策略网络用于生成策略</a:t>
            </a:r>
            <a:endParaRPr sz="1800" b="0" i="0" u="none" baseline="0">
              <a:latin typeface="+mn-ea"/>
              <a:ea typeface="+mn-ea"/>
              <a:cs typeface="+mn-ea"/>
            </a:endParaRPr>
          </a:p>
          <a:p xmlns:a="http://schemas.openxmlformats.org/drawingml/2006/main">
            <a:r>
              <a:rPr sz="1800" b="0" i="0" u="none">
                <a:latin typeface="+mn-ea"/>
                <a:ea typeface="+mn-ea"/>
                <a:cs typeface="+mn-ea"/>
              </a:rPr>
              <a:t>评论网络则负责实时评价当前策略的好坏</a:t>
            </a:r>
            <a:endParaRPr>
              <a:latin typeface="+mn-ea"/>
              <a:ea typeface="+mn-ea"/>
              <a:cs typeface="+mn-ea"/>
            </a:endParaRPr>
          </a:p>
        </p:txBody>
      </p:sp>
    </p:spTree>
    <p:extLst>
      <p:ext uri="{BB962C8B-B14F-4D97-AF65-F5344CB8AC3E}">
        <p14:creationId xmlns:p14="http://schemas.microsoft.com/office/powerpoint/2010/main" val="2593814873"/>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8A0CB2D2-B73E-E291-7AEE-F4330655853E}"/>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D5715A3A-5434-8D58-6DFB-C702DFF886B7}"/>
              </a:ext>
            </a:extLst>
          </p:cNvPr>
          <p:cNvSpPr>
            <a:spLocks xmlns:a="http://schemas.openxmlformats.org/drawingml/2006/main" noGrp="1"/>
          </p:cNvSpPr>
          <p:nvPr/>
        </p:nvSpPr>
        <p:spPr>
          <a:xfrm xmlns:a="http://schemas.openxmlformats.org/drawingml/2006/main" rot="0" flipH="0" flipV="0">
            <a:off x="270932" y="1021703"/>
            <a:ext cx="5825067"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5.4.2 </a:t>
            </a:r>
            <a:r>
              <a:rPr sz="2400" b="1">
                <a:solidFill>
                  <a:schemeClr val="accent1"/>
                </a:solidFill>
              </a:rPr>
              <a:t>基于策略梯度的强化学习导航</a:t>
            </a:r>
          </a:p>
          <a:p xmlns:a="http://schemas.openxmlformats.org/drawingml/2006/main">
            <a:endParaRPr sz="2400" b="1">
              <a:solidFill>
                <a:schemeClr val="accent1"/>
              </a:solidFill>
              <a:latin typeface="+mj-lt"/>
              <a:ea typeface="+mj-lt"/>
              <a:cs typeface="+mj-lt"/>
            </a:endParaRPr>
          </a:p>
        </p:txBody>
      </p:sp>
      <p:sp>
        <p:nvSpPr>
          <p:cNvPr id="13" name="文本框 12">
            <a:extLst xmlns:a="http://schemas.openxmlformats.org/drawingml/2006/main">
              <a:ext uri="{FF2B5EF4-FFF2-40B4-BE49-F238E27FC236}">
                <a16:creationId xmlns:a16="http://schemas.microsoft.com/office/drawing/2014/main" id="{7C2FEF0F-33F7-7789-76AE-1A22EF9B20FF}"/>
              </a:ext>
            </a:extLst>
          </p:cNvPr>
          <p:cNvSpPr>
            <a:spLocks xmlns:a="http://schemas.openxmlformats.org/drawingml/2006/main" noGrp="1"/>
          </p:cNvSpPr>
          <p:nvPr/>
        </p:nvSpPr>
        <p:spPr>
          <a:xfrm xmlns:a="http://schemas.openxmlformats.org/drawingml/2006/main">
            <a:off x="426248" y="1889924"/>
            <a:ext cx="5403784"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mn-ea"/>
                <a:ea typeface="+mn-ea"/>
                <a:cs typeface="+mn-ea"/>
              </a:rPr>
              <a:t>策略网络通过神经网络来拟合策略，记为</a:t>
            </a:r>
            <a14:m xmlns:a14="http://schemas.microsoft.com/office/drawing/2010/main">
              <m:oMathPara xmlns:m="http://schemas.openxmlformats.org/officeDocument/2006/math">
                <m:oMath>
                  <m:sSub>
                    <m:e>
                      <m:r>
                        <a:rPr xmlns:a="http://schemas.openxmlformats.org/drawingml/2006/main" lang="zh-CN" i="1">
                          <a:latin typeface="Cambria Math"/>
                          <a:ea typeface="Cambria Math"/>
                          <a:cs typeface="Cambria Math"/>
                        </a:rPr>
                        <m:t>𝜋</m:t>
                      </m:r>
                    </m:e>
                    <m:sub>
                      <m:r>
                        <a:rPr xmlns:a="http://schemas.openxmlformats.org/drawingml/2006/main" lang="zh-CN" i="1">
                          <a:latin typeface="Cambria Math"/>
                          <a:ea typeface="Cambria Math"/>
                          <a:cs typeface="Cambria Math"/>
                        </a:rPr>
                        <m:t>𝜃</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oMath>
              </m:oMathPara>
            </a14:m>
            <a:r>
              <a:rPr>
                <a:latin typeface="+mn-ea"/>
                <a:ea typeface="+mn-ea"/>
                <a:cs typeface="+mn-ea"/>
              </a:rPr>
              <a:t>,</a:t>
            </a:r>
            <a:r>
              <a:rPr>
                <a:latin typeface="+mn-ea"/>
                <a:ea typeface="+mn-ea"/>
                <a:cs typeface="+mn-ea"/>
              </a:rPr>
              <a:t>在训练过程中，将策略的平均回报作为优化目标，平均回报为</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𝜌</m:t>
                  </m:r>
                  <m:r>
                    <a:rPr xmlns:a="http://schemas.openxmlformats.org/drawingml/2006/main" lang="en-US" b="0" i="1">
                      <a:latin typeface="Cambria Math"/>
                      <a:ea typeface="Cambria Math"/>
                      <a:cs typeface="Cambria Math"/>
                    </a:rPr>
                    <m:t>(</m:t>
                  </m:r>
                  <m:sSub>
                    <m:e>
                      <m:r>
                        <a:rPr xmlns:a="http://schemas.openxmlformats.org/drawingml/2006/main" lang="zh-CN" b="0" i="1">
                          <a:latin typeface="Cambria Math"/>
                          <a:ea typeface="Cambria Math"/>
                          <a:cs typeface="Cambria Math"/>
                        </a:rPr>
                        <m:t>𝜋</m:t>
                      </m:r>
                    </m:e>
                    <m:sub>
                      <m:r>
                        <a:rPr xmlns:a="http://schemas.openxmlformats.org/drawingml/2006/main" lang="zh-CN" b="0" i="1">
                          <a:latin typeface="Cambria Math"/>
                          <a:ea typeface="Cambria Math"/>
                          <a:cs typeface="Cambria Math"/>
                        </a:rPr>
                        <m:t>𝜃</m:t>
                      </m:r>
                    </m:sub>
                  </m:sSub>
                  <m:r>
                    <a:rPr xmlns:a="http://schemas.openxmlformats.org/drawingml/2006/main" lang="en-US" b="0" i="1">
                      <a:latin typeface="Cambria Math"/>
                      <a:ea typeface="Cambria Math"/>
                      <a:cs typeface="Cambria Math"/>
                    </a:rPr>
                    <m:t>)</m:t>
                  </m:r>
                </m:oMath>
              </m:oMathPara>
            </a14:m>
            <a:r>
              <a:rPr>
                <a:latin typeface="+mn-ea"/>
                <a:ea typeface="+mn-ea"/>
                <a:cs typeface="+mn-ea"/>
              </a:rPr>
              <a:t>，定义如下：</a:t>
            </a:r>
            <a:endParaRPr>
              <a:latin typeface="+mn-ea"/>
              <a:ea typeface="+mn-ea"/>
              <a:cs typeface="+mn-ea"/>
            </a:endParaRPr>
          </a:p>
          <a:p xmlns:a="http://schemas.openxmlformats.org/drawingml/2006/main">
            <a:endParaRPr>
              <a:latin typeface="+mn-ea"/>
              <a:ea typeface="+mn-ea"/>
              <a:cs typeface="+mn-ea"/>
            </a:endParaRPr>
          </a:p>
        </p:txBody>
      </p:sp>
      <p:sp>
        <p:nvSpPr>
          <p:cNvPr id="4" name="文本框 3">
            <a:extLst xmlns:a="http://schemas.openxmlformats.org/drawingml/2006/main">
              <a:ext uri="{FF2B5EF4-FFF2-40B4-BE49-F238E27FC236}">
                <a16:creationId xmlns:a16="http://schemas.microsoft.com/office/drawing/2014/main" id="{D2956CC4-6604-C365-09A5-6889EB16D56F}"/>
              </a:ext>
            </a:extLst>
          </p:cNvPr>
          <p:cNvSpPr>
            <a:spLocks xmlns:a="http://schemas.openxmlformats.org/drawingml/2006/main" noGrp="1"/>
          </p:cNvSpPr>
          <p:nvPr/>
        </p:nvSpPr>
        <p:spPr>
          <a:xfrm xmlns:a="http://schemas.openxmlformats.org/drawingml/2006/main">
            <a:off x="-125145" y="2688490"/>
            <a:ext cx="6755466" cy="7645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𝜌</m:t>
                  </m:r>
                  <m:sSub>
                    <m:e>
                      <m:r>
                        <a:rPr xmlns:a="http://schemas.openxmlformats.org/drawingml/2006/main" lang="zh-CN" i="1">
                          <a:latin typeface="Cambria Math"/>
                          <a:ea typeface="Cambria Math"/>
                          <a:cs typeface="Cambria Math"/>
                        </a:rPr>
                        <m:t>𝜋</m:t>
                      </m:r>
                    </m:e>
                    <m:sub>
                      <m:r>
                        <a:rPr xmlns:a="http://schemas.openxmlformats.org/drawingml/2006/main" lang="zh-CN" i="1">
                          <a:latin typeface="Cambria Math"/>
                          <a:ea typeface="Cambria Math"/>
                          <a:cs typeface="Cambria Math"/>
                        </a:rPr>
                        <m:t>𝜃</m:t>
                      </m:r>
                    </m:sub>
                  </m:sSub>
                  <m:r>
                    <a:rPr xmlns:a="http://schemas.openxmlformats.org/drawingml/2006/main" lang="en-US" b="0" i="1">
                      <a:latin typeface="Cambria Math"/>
                      <a:ea typeface="Cambria Math"/>
                      <a:cs typeface="Cambria Math"/>
                    </a:rPr>
                    <m:t>=</m:t>
                  </m:r>
                  <m:func>
                    <m:fName>
                      <m:limLow>
                        <m:e>
                          <m:r>
                            <a:rPr xmlns:a="http://schemas.openxmlformats.org/drawingml/2006/main" lang="en-US" b="0" i="0">
                              <a:latin typeface="Cambria Math"/>
                              <a:ea typeface="Cambria Math"/>
                              <a:cs typeface="Cambria Math"/>
                            </a:rPr>
                            <m:t>lim</m:t>
                          </m:r>
                        </m:e>
                        <m:lim>
                          <m:r>
                            <a:rPr xmlns:a="http://schemas.openxmlformats.org/drawingml/2006/main" lang="en-US" b="0" i="1">
                              <a:latin typeface="Cambria Math"/>
                              <a:ea typeface="Cambria Math"/>
                              <a:cs typeface="Cambria Math"/>
                            </a:rPr>
                            <m:t>𝑇</m:t>
                          </m:r>
                          <m:r>
                            <a:rPr xmlns:a="http://schemas.openxmlformats.org/drawingml/2006/main" lang="en-US" b="0" i="1">
                              <a:latin typeface="Cambria Math"/>
                              <a:ea typeface="Cambria Math"/>
                              <a:cs typeface="Cambria Math"/>
                            </a:rPr>
                            <m:t>→∞</m:t>
                          </m:r>
                        </m:lim>
                      </m:limLow>
                    </m:fName>
                    <m:e>
                      <m:f>
                        <m:num>
                          <m:r>
                            <a:rPr xmlns:a="http://schemas.openxmlformats.org/drawingml/2006/main" lang="en-US" b="0" i="1">
                              <a:latin typeface="Cambria Math"/>
                              <a:ea typeface="Cambria Math"/>
                              <a:cs typeface="Cambria Math"/>
                            </a:rPr>
                            <m:t>1</m:t>
                          </m:r>
                        </m:num>
                        <m:den>
                          <m:r>
                            <a:rPr xmlns:a="http://schemas.openxmlformats.org/drawingml/2006/main" lang="en-US" b="0" i="1">
                              <a:latin typeface="Cambria Math"/>
                              <a:ea typeface="Cambria Math"/>
                              <a:cs typeface="Cambria Math"/>
                            </a:rPr>
                            <m:t>𝑇</m:t>
                          </m:r>
                        </m:den>
                      </m:f>
                      <m:r>
                        <a:rPr xmlns:a="http://schemas.openxmlformats.org/drawingml/2006/main" lang="en-US" b="0" i="1">
                          <a:latin typeface="Cambria Math"/>
                          <a:ea typeface="Cambria Math"/>
                          <a:cs typeface="Cambria Math"/>
                        </a:rPr>
                        <m:t>𝐸</m:t>
                      </m:r>
                      <m:d>
                        <m:dPr>
                          <m:begChr m:val="["/>
                          <m:endChr m:val="]"/>
                          <m:grow m:val="off"/>
                        </m:dPr>
                        <m:e>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𝑟</m:t>
                              </m:r>
                            </m:e>
                            <m:sub>
                              <m:r>
                                <a:rPr xmlns:a="http://schemas.openxmlformats.org/drawingml/2006/main" lang="en-US" b="0" i="1">
                                  <a:latin typeface="Cambria Math"/>
                                  <a:ea typeface="Cambria Math"/>
                                  <a:cs typeface="Cambria Math"/>
                                </a:rPr>
                                <m:t>2</m:t>
                              </m:r>
                            </m:sub>
                          </m:sSub>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𝑟</m:t>
                              </m:r>
                            </m:e>
                            <m:sub>
                              <m:r>
                                <a:rPr xmlns:a="http://schemas.openxmlformats.org/drawingml/2006/main" lang="en-US" b="0" i="1">
                                  <a:latin typeface="Cambria Math"/>
                                  <a:ea typeface="Cambria Math"/>
                                  <a:cs typeface="Cambria Math"/>
                                </a:rPr>
                                <m:t>𝑇</m:t>
                              </m:r>
                            </m:sub>
                          </m:sSub>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𝜋</m:t>
                          </m:r>
                        </m:e>
                      </m:d>
                      <m:r>
                        <a:rPr xmlns:a="http://schemas.openxmlformats.org/drawingml/2006/main" lang="en-US" b="0" i="1">
                          <a:latin typeface="Cambria Math"/>
                          <a:ea typeface="Cambria Math"/>
                          <a:cs typeface="Cambria Math"/>
                        </a:rPr>
                        <m:t>=</m:t>
                      </m:r>
                      <m:nary>
                        <m:naryPr>
                          <m:chr m:val="∑"/>
                          <m:subHide m:val="off"/>
                          <m:supHide m:val="on"/>
                        </m:naryPr>
                        <m:sub>
                          <m:r>
                            <a:rPr xmlns:a="http://schemas.openxmlformats.org/drawingml/2006/main" lang="en-US" b="0" i="1">
                              <a:latin typeface="Cambria Math"/>
                              <a:ea typeface="Cambria Math"/>
                              <a:cs typeface="Cambria Math"/>
                            </a:rPr>
                            <m:t>𝑠</m:t>
                          </m:r>
                        </m:sub>
                        <m:e>
                          <m:sSup>
                            <m:e>
                              <m:r>
                                <a:rPr xmlns:a="http://schemas.openxmlformats.org/drawingml/2006/main" lang="en-US" b="0" i="1">
                                  <a:latin typeface="Cambria Math"/>
                                  <a:ea typeface="Cambria Math"/>
                                  <a:cs typeface="Cambria Math"/>
                                </a:rPr>
                                <m:t>𝑑</m:t>
                              </m:r>
                            </m:e>
                            <m:sup>
                              <m:r>
                                <a:rPr xmlns:a="http://schemas.openxmlformats.org/drawingml/2006/main" lang="zh-CN" b="0" i="1">
                                  <a:latin typeface="Cambria Math"/>
                                  <a:ea typeface="Cambria Math"/>
                                  <a:cs typeface="Cambria Math"/>
                                </a:rPr>
                                <m:t>𝜋</m:t>
                              </m:r>
                            </m:sup>
                          </m:sSup>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nary>
                            <m:naryPr>
                              <m:chr m:val="∑"/>
                              <m:subHide m:val="off"/>
                              <m:supHide m:val="on"/>
                            </m:naryPr>
                            <m:sub>
                              <m:r>
                                <a:rPr xmlns:a="http://schemas.openxmlformats.org/drawingml/2006/main" lang="en-US" b="0" i="1">
                                  <a:latin typeface="Cambria Math"/>
                                  <a:ea typeface="Cambria Math"/>
                                  <a:cs typeface="Cambria Math"/>
                                </a:rPr>
                                <m:t>𝑎</m:t>
                              </m:r>
                            </m:sub>
                            <m:e>
                              <m:sSub>
                                <m:e>
                                  <m:r>
                                    <a:rPr xmlns:a="http://schemas.openxmlformats.org/drawingml/2006/main" lang="zh-CN" b="0" i="1">
                                      <a:latin typeface="Cambria Math"/>
                                      <a:ea typeface="Cambria Math"/>
                                      <a:cs typeface="Cambria Math"/>
                                    </a:rPr>
                                    <m:t>𝜋</m:t>
                                  </m:r>
                                </m:e>
                                <m:sub>
                                  <m:r>
                                    <a:rPr xmlns:a="http://schemas.openxmlformats.org/drawingml/2006/main" lang="zh-CN" b="0" i="1">
                                      <a:latin typeface="Cambria Math"/>
                                      <a:ea typeface="Cambria Math"/>
                                      <a:cs typeface="Cambria Math"/>
                                    </a:rPr>
                                    <m:t>𝜃</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sSubSup>
                                <m:e>
                                  <m:r>
                                    <a:rPr xmlns:a="http://schemas.openxmlformats.org/drawingml/2006/main" lang="en-US" b="0" i="1">
                                      <a:latin typeface="Cambria Math"/>
                                      <a:ea typeface="Cambria Math"/>
                                      <a:cs typeface="Cambria Math"/>
                                    </a:rPr>
                                    <m:t>𝑅</m:t>
                                  </m:r>
                                </m:e>
                                <m:sub>
                                  <m:r>
                                    <a:rPr xmlns:a="http://schemas.openxmlformats.org/drawingml/2006/main" lang="en-US" b="0" i="1">
                                      <a:latin typeface="Cambria Math"/>
                                      <a:ea typeface="Cambria Math"/>
                                      <a:cs typeface="Cambria Math"/>
                                    </a:rPr>
                                    <m:t>𝑠</m:t>
                                  </m:r>
                                </m:sub>
                                <m:sup>
                                  <m:r>
                                    <a:rPr xmlns:a="http://schemas.openxmlformats.org/drawingml/2006/main" lang="en-US" b="0" i="1">
                                      <a:latin typeface="Cambria Math"/>
                                      <a:ea typeface="Cambria Math"/>
                                      <a:cs typeface="Cambria Math"/>
                                    </a:rPr>
                                    <m:t>𝑎</m:t>
                                  </m:r>
                                </m:sup>
                              </m:sSubSup>
                            </m:e>
                          </m:nary>
                        </m:e>
                      </m:nary>
                    </m:e>
                  </m:func>
                </m:oMath>
              </m:oMathPara>
            </a14:m>
            <a:endParaRPr/>
          </a:p>
        </p:txBody>
      </p:sp>
      <p:sp>
        <p:nvSpPr>
          <p:cNvPr id="6" name="文本框 5">
            <a:extLst xmlns:a="http://schemas.openxmlformats.org/drawingml/2006/main">
              <a:ext uri="{FF2B5EF4-FFF2-40B4-BE49-F238E27FC236}">
                <a16:creationId xmlns:a16="http://schemas.microsoft.com/office/drawing/2014/main" id="{131996C9-241E-824B-14C5-77F7498C4909}"/>
              </a:ext>
            </a:extLst>
          </p:cNvPr>
          <p:cNvSpPr>
            <a:spLocks xmlns:a="http://schemas.openxmlformats.org/drawingml/2006/main" noGrp="1"/>
          </p:cNvSpPr>
          <p:nvPr/>
        </p:nvSpPr>
        <p:spPr>
          <a:xfrm xmlns:a="http://schemas.openxmlformats.org/drawingml/2006/main">
            <a:off x="323514" y="3374061"/>
            <a:ext cx="5403592" cy="25853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baseline="0">
                <a:latin typeface="+mn-ea"/>
                <a:ea typeface="+mn-ea"/>
                <a:cs typeface="+mn-ea"/>
              </a:rPr>
              <a:t>其中</a:t>
            </a:r>
            <a14:m xmlns:a14="http://schemas.microsoft.com/office/drawing/2010/main">
              <m:oMathPara xmlns:m="http://schemas.openxmlformats.org/officeDocument/2006/math">
                <m:oMath>
                  <m:sSup>
                    <m:e>
                      <m:r>
                        <a:rPr xmlns:a="http://schemas.openxmlformats.org/drawingml/2006/main" lang="en-US" i="1">
                          <a:latin typeface="Cambria Math"/>
                          <a:ea typeface="Cambria Math"/>
                          <a:cs typeface="Cambria Math"/>
                        </a:rPr>
                        <m:t>𝑑</m:t>
                      </m:r>
                    </m:e>
                    <m:sup>
                      <m:r>
                        <a:rPr xmlns:a="http://schemas.openxmlformats.org/drawingml/2006/main" lang="zh-CN" i="1">
                          <a:latin typeface="Cambria Math"/>
                          <a:ea typeface="Cambria Math"/>
                          <a:cs typeface="Cambria Math"/>
                        </a:rPr>
                        <m:t>𝜋</m:t>
                      </m:r>
                    </m:sup>
                  </m:sSup>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𝑠</m:t>
                  </m:r>
                  <m:r>
                    <a:rPr xmlns:a="http://schemas.openxmlformats.org/drawingml/2006/main" lang="en-US" i="1">
                      <a:latin typeface="Cambria Math"/>
                      <a:ea typeface="Cambria Math"/>
                      <a:cs typeface="Cambria Math"/>
                    </a:rPr>
                    <m:t>)</m:t>
                  </m:r>
                </m:oMath>
              </m:oMathPara>
            </a14:m>
            <a:r>
              <a:rPr sz="1800" b="0" i="0" u="none" baseline="0">
                <a:latin typeface="+mn-ea"/>
                <a:ea typeface="+mn-ea"/>
                <a:cs typeface="+mn-ea"/>
              </a:rPr>
              <a:t>是在策略</a:t>
            </a:r>
            <a14:m xmlns:a14="http://schemas.microsoft.com/office/drawing/2010/main">
              <m:oMathPara xmlns:m="http://schemas.openxmlformats.org/officeDocument/2006/math">
                <m:oMath>
                  <m:r>
                    <a:rPr xmlns:a="http://schemas.openxmlformats.org/drawingml/2006/main" lang="zh-CN" sz="1800" b="0" i="1">
                      <a:latin typeface="Cambria Math"/>
                      <a:ea typeface="Cambria Math"/>
                      <a:cs typeface="Cambria Math"/>
                    </a:rPr>
                    <m:t>𝜋</m:t>
                  </m:r>
                </m:oMath>
              </m:oMathPara>
            </a14:m>
            <a:r>
              <a:rPr sz="1800" b="0" i="0" u="none" baseline="0">
                <a:latin typeface="+mn-ea"/>
                <a:ea typeface="+mn-ea"/>
                <a:cs typeface="+mn-ea"/>
              </a:rPr>
              <a:t>下的平稳状态分布</a:t>
            </a:r>
            <a:endParaRPr>
              <a:latin typeface="+mn-ea"/>
              <a:ea typeface="+mn-ea"/>
              <a:cs typeface="+mn-ea"/>
            </a:endParaRPr>
          </a:p>
          <a:p xmlns:a="http://schemas.openxmlformats.org/drawingml/2006/main">
            <a:r>
              <a:rPr sz="1800" b="0" i="0" u="none" baseline="0">
                <a:latin typeface="+mn-ea"/>
                <a:ea typeface="+mn-ea"/>
                <a:cs typeface="+mn-ea"/>
              </a:rPr>
              <a:t>采取策略</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𝜋</m:t>
                  </m:r>
                </m:oMath>
              </m:oMathPara>
            </a14:m>
            <a:r>
              <a:rPr sz="1800" b="0" i="0" u="none" baseline="0">
                <a:latin typeface="+mn-ea"/>
                <a:ea typeface="+mn-ea"/>
                <a:cs typeface="+mn-ea"/>
              </a:rPr>
              <a:t>取得的平均回报可以看作考虑所有可能机器人的状态，获得转移到任一状态</a:t>
            </a:r>
            <a14:m xmlns:a14="http://schemas.microsoft.com/office/drawing/2010/main">
              <m:oMathPara xmlns:m="http://schemas.openxmlformats.org/officeDocument/2006/math">
                <m:oMath>
                  <m:r>
                    <a:rPr xmlns:a="http://schemas.openxmlformats.org/drawingml/2006/main" lang="en-US" sz="1800" b="0" i="1">
                      <a:latin typeface="Cambria Math"/>
                      <a:ea typeface="Cambria Math"/>
                      <a:cs typeface="Cambria Math"/>
                    </a:rPr>
                    <m:t>𝑠</m:t>
                  </m:r>
                </m:oMath>
              </m:oMathPara>
            </a14:m>
            <a:r>
              <a:rPr sz="1800" b="0" i="0" u="none" baseline="0">
                <a:latin typeface="+mn-ea"/>
                <a:ea typeface="+mn-ea"/>
                <a:cs typeface="+mn-ea"/>
              </a:rPr>
              <a:t>的概率，在此概率下通过策略概率分布生成动作，最后获得期望回</a:t>
            </a:r>
            <a:r>
              <a:rPr>
                <a:latin typeface="+mn-ea"/>
                <a:ea typeface="+mn-ea"/>
                <a:cs typeface="+mn-ea"/>
              </a:rPr>
              <a:t>报</a:t>
            </a:r>
            <a14:m xmlns:a14="http://schemas.microsoft.com/office/drawing/2010/main">
              <m:oMathPara xmlns:m="http://schemas.openxmlformats.org/officeDocument/2006/math">
                <m:oMath>
                  <m:sSubSup>
                    <m:e>
                      <m:r>
                        <a:rPr xmlns:a="http://schemas.openxmlformats.org/drawingml/2006/main" lang="en-US" b="0" i="1">
                          <a:latin typeface="Cambria Math"/>
                          <a:ea typeface="Cambria Math"/>
                          <a:cs typeface="Cambria Math"/>
                        </a:rPr>
                        <m:t>𝑅</m:t>
                      </m:r>
                    </m:e>
                    <m:sub>
                      <m:r>
                        <a:rPr xmlns:a="http://schemas.openxmlformats.org/drawingml/2006/main" lang="en-US" b="0" i="1">
                          <a:latin typeface="Cambria Math"/>
                          <a:ea typeface="Cambria Math"/>
                          <a:cs typeface="Cambria Math"/>
                        </a:rPr>
                        <m:t>𝑠</m:t>
                      </m:r>
                    </m:sub>
                    <m:sup>
                      <m:r>
                        <a:rPr xmlns:a="http://schemas.openxmlformats.org/drawingml/2006/main" lang="en-US" b="0" i="1">
                          <a:latin typeface="Cambria Math"/>
                          <a:ea typeface="Cambria Math"/>
                          <a:cs typeface="Cambria Math"/>
                        </a:rPr>
                        <m:t>𝑎</m:t>
                      </m:r>
                    </m:sup>
                  </m:sSubSup>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𝐸</m:t>
                  </m:r>
                  <m:d>
                    <m:dPr>
                      <m:begChr m:val="["/>
                      <m:endChr m:val="]"/>
                      <m:grow m:val="off"/>
                    </m:dPr>
                    <m:e>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𝑡</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𝜋</m:t>
                      </m:r>
                    </m:e>
                  </m:d>
                </m:oMath>
              </m:oMathPara>
            </a14:m>
            <a:r>
              <a:t>，对所有期望回报加权求和即可得到平均回报</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𝜌</m:t>
                  </m:r>
                  <m:d>
                    <m:dPr>
                      <m:grow m:val="off"/>
                    </m:dPr>
                    <m:e>
                      <m:r>
                        <a:rPr xmlns:a="http://schemas.openxmlformats.org/drawingml/2006/main" lang="zh-CN" b="0" i="1">
                          <a:latin typeface="Cambria Math"/>
                          <a:ea typeface="Cambria Math"/>
                          <a:cs typeface="Cambria Math"/>
                        </a:rPr>
                        <m:t>𝜋</m:t>
                      </m:r>
                    </m:e>
                  </m:d>
                  <m:r>
                    <a:rPr xmlns:a="http://schemas.openxmlformats.org/drawingml/2006/main" lang="zh-CN" i="1">
                      <a:latin typeface="Cambria Math"/>
                      <a:ea typeface="Cambria Math"/>
                      <a:cs typeface="Cambria Math"/>
                    </a:rPr>
                    <m:t>。</m:t>
                  </m:r>
                </m:oMath>
              </m:oMathPara>
            </a14:m>
            <a:endParaRPr/>
          </a:p>
          <a:p xmlns:a="http://schemas.openxmlformats.org/drawingml/2006/main">
            <a:endParaRPr/>
          </a:p>
          <a:p xmlns:a="http://schemas.openxmlformats.org/drawingml/2006/main">
            <a:r>
              <a:t>优化目标为最大化平均回报，对平均回报计算梯度：</a:t>
            </a:r>
            <a:endParaRPr/>
          </a:p>
          <a:p xmlns:a="http://schemas.openxmlformats.org/drawingml/2006/main">
            <a:endParaRPr>
              <a:latin typeface="+mn-ea"/>
              <a:ea typeface="+mn-ea"/>
              <a:cs typeface="+mn-ea"/>
            </a:endParaRPr>
          </a:p>
        </p:txBody>
      </p:sp>
      <p:sp>
        <p:nvSpPr>
          <p:cNvPr id="7" name="文本框 6">
            <a:extLst xmlns:a="http://schemas.openxmlformats.org/drawingml/2006/main">
              <a:ext uri="{FF2B5EF4-FFF2-40B4-BE49-F238E27FC236}">
                <a16:creationId xmlns:a16="http://schemas.microsoft.com/office/drawing/2014/main" id="{1BEB6A7E-32B1-BDB0-B92E-A9AC0BD5DC4A}"/>
              </a:ext>
            </a:extLst>
          </p:cNvPr>
          <p:cNvSpPr>
            <a:spLocks xmlns:a="http://schemas.openxmlformats.org/drawingml/2006/main" noGrp="1"/>
          </p:cNvSpPr>
          <p:nvPr/>
        </p:nvSpPr>
        <p:spPr>
          <a:xfrm xmlns:a="http://schemas.openxmlformats.org/drawingml/2006/main">
            <a:off x="851170" y="1563354"/>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none"/>
              <a:t>Actor-Critic</a:t>
            </a:r>
            <a:r>
              <a:rPr sz="1800" b="1" i="0" u="none"/>
              <a:t>架构</a:t>
            </a:r>
            <a:endParaRPr b="1"/>
          </a:p>
        </p:txBody>
      </p:sp>
      <p:sp>
        <p:nvSpPr>
          <p:cNvPr id="9" name="文本框 8">
            <a:extLst xmlns:a="http://schemas.openxmlformats.org/drawingml/2006/main">
              <a:ext uri="{FF2B5EF4-FFF2-40B4-BE49-F238E27FC236}">
                <a16:creationId xmlns:a16="http://schemas.microsoft.com/office/drawing/2014/main" id="{E2F4A195-777F-F2B1-47B7-77B779DC4095}"/>
              </a:ext>
            </a:extLst>
          </p:cNvPr>
          <p:cNvSpPr>
            <a:spLocks xmlns:a="http://schemas.openxmlformats.org/drawingml/2006/main" noGrp="1"/>
          </p:cNvSpPr>
          <p:nvPr/>
        </p:nvSpPr>
        <p:spPr>
          <a:xfrm xmlns:a="http://schemas.openxmlformats.org/drawingml/2006/main">
            <a:off x="5637679" y="2924735"/>
            <a:ext cx="65" cy="276999"/>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endParaRPr/>
          </a:p>
        </p:txBody>
      </p:sp>
      <p:sp>
        <p:nvSpPr>
          <p:cNvPr id="14" name="文本框 13">
            <a:extLst xmlns:a="http://schemas.openxmlformats.org/drawingml/2006/main">
              <a:ext uri="{FF2B5EF4-FFF2-40B4-BE49-F238E27FC236}">
                <a16:creationId xmlns:a16="http://schemas.microsoft.com/office/drawing/2014/main" id="{C5CE8E45-3E5B-37E2-4A5D-17AA34AA8747}"/>
              </a:ext>
            </a:extLst>
          </p:cNvPr>
          <p:cNvSpPr>
            <a:spLocks xmlns:a="http://schemas.openxmlformats.org/drawingml/2006/main" noGrp="1"/>
          </p:cNvSpPr>
          <p:nvPr/>
        </p:nvSpPr>
        <p:spPr>
          <a:xfrm xmlns:a="http://schemas.openxmlformats.org/drawingml/2006/main">
            <a:off x="-579701" y="5749458"/>
            <a:ext cx="6094878" cy="7645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m:t>
                      </m:r>
                    </m:e>
                    <m:sub>
                      <m:r>
                        <a:rPr xmlns:a="http://schemas.openxmlformats.org/drawingml/2006/main" lang="zh-CN" i="1">
                          <a:latin typeface="Cambria Math"/>
                          <a:ea typeface="Cambria Math"/>
                          <a:cs typeface="Cambria Math"/>
                        </a:rPr>
                        <m:t>𝜃</m:t>
                      </m:r>
                    </m:sub>
                  </m:sSub>
                  <m:r>
                    <a:rPr xmlns:a="http://schemas.openxmlformats.org/drawingml/2006/main" lang="zh-CN" i="1">
                      <a:latin typeface="Cambria Math"/>
                      <a:ea typeface="Cambria Math"/>
                      <a:cs typeface="Cambria Math"/>
                    </a:rPr>
                    <m:t>𝜌</m:t>
                  </m:r>
                  <m:d>
                    <m:dPr>
                      <m:grow m:val="off"/>
                    </m:dPr>
                    <m:e>
                      <m:r>
                        <a:rPr xmlns:a="http://schemas.openxmlformats.org/drawingml/2006/main" lang="zh-CN" b="0" i="1">
                          <a:latin typeface="Cambria Math"/>
                          <a:ea typeface="Cambria Math"/>
                          <a:cs typeface="Cambria Math"/>
                        </a:rPr>
                        <m:t>𝜋</m:t>
                      </m:r>
                    </m:e>
                  </m:d>
                  <m:r>
                    <a:rPr xmlns:a="http://schemas.openxmlformats.org/drawingml/2006/main" lang="en-US" b="0" i="1">
                      <a:latin typeface="Cambria Math"/>
                      <a:ea typeface="Cambria Math"/>
                      <a:cs typeface="Cambria Math"/>
                    </a:rPr>
                    <m:t>=</m:t>
                  </m:r>
                  <m:nary>
                    <m:naryPr>
                      <m:chr m:val="∑"/>
                      <m:subHide m:val="off"/>
                      <m:supHide m:val="on"/>
                    </m:naryPr>
                    <m:sub>
                      <m:r>
                        <a:rPr xmlns:a="http://schemas.openxmlformats.org/drawingml/2006/main" lang="en-US" b="0" i="1">
                          <a:latin typeface="Cambria Math"/>
                          <a:ea typeface="Cambria Math"/>
                          <a:cs typeface="Cambria Math"/>
                        </a:rPr>
                        <m:t>𝑠</m:t>
                      </m:r>
                    </m:sub>
                    <m:e>
                      <m:sSup>
                        <m:e>
                          <m:r>
                            <a:rPr xmlns:a="http://schemas.openxmlformats.org/drawingml/2006/main" lang="en-US" b="0" i="1">
                              <a:latin typeface="Cambria Math"/>
                              <a:ea typeface="Cambria Math"/>
                              <a:cs typeface="Cambria Math"/>
                            </a:rPr>
                            <m:t>𝑑</m:t>
                          </m:r>
                        </m:e>
                        <m:sup>
                          <m:r>
                            <a:rPr xmlns:a="http://schemas.openxmlformats.org/drawingml/2006/main" lang="zh-CN" b="0" i="1">
                              <a:latin typeface="Cambria Math"/>
                              <a:ea typeface="Cambria Math"/>
                              <a:cs typeface="Cambria Math"/>
                            </a:rPr>
                            <m:t>𝜋</m:t>
                          </m:r>
                        </m:sup>
                      </m:sSup>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nary>
                        <m:naryPr>
                          <m:chr m:val="∑"/>
                          <m:subHide m:val="off"/>
                          <m:supHide m:val="on"/>
                        </m:naryPr>
                        <m:sub>
                          <m:r>
                            <a:rPr xmlns:a="http://schemas.openxmlformats.org/drawingml/2006/main" lang="en-US" b="0" i="1">
                              <a:latin typeface="Cambria Math"/>
                              <a:ea typeface="Cambria Math"/>
                              <a:cs typeface="Cambria Math"/>
                            </a:rPr>
                            <m:t>𝑎</m:t>
                          </m:r>
                        </m:sub>
                        <m:e>
                          <m:sSub>
                            <m:e>
                              <m:r>
                                <a:rPr xmlns:a="http://schemas.openxmlformats.org/drawingml/2006/main" lang="en-US" b="0" i="1">
                                  <a:latin typeface="Cambria Math"/>
                                  <a:ea typeface="Cambria Math"/>
                                  <a:cs typeface="Cambria Math"/>
                                </a:rPr>
                                <m:t>∇</m:t>
                              </m:r>
                            </m:e>
                            <m:sub>
                              <m:r>
                                <a:rPr xmlns:a="http://schemas.openxmlformats.org/drawingml/2006/main" lang="zh-CN" b="0" i="1">
                                  <a:latin typeface="Cambria Math"/>
                                  <a:ea typeface="Cambria Math"/>
                                  <a:cs typeface="Cambria Math"/>
                                </a:rPr>
                                <m:t>𝜃</m:t>
                              </m:r>
                            </m:sub>
                          </m:sSub>
                          <m:sSub>
                            <m:e>
                              <m:r>
                                <a:rPr xmlns:a="http://schemas.openxmlformats.org/drawingml/2006/main" lang="zh-CN" b="0" i="1">
                                  <a:latin typeface="Cambria Math"/>
                                  <a:ea typeface="Cambria Math"/>
                                  <a:cs typeface="Cambria Math"/>
                                </a:rPr>
                                <m:t>𝜋</m:t>
                              </m:r>
                            </m:e>
                            <m:sub>
                              <m:r>
                                <a:rPr xmlns:a="http://schemas.openxmlformats.org/drawingml/2006/main" lang="zh-CN" b="0" i="1">
                                  <a:latin typeface="Cambria Math"/>
                                  <a:ea typeface="Cambria Math"/>
                                  <a:cs typeface="Cambria Math"/>
                                </a:rPr>
                                <m:t>𝜃</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sSubSup>
                            <m:e>
                              <m:r>
                                <a:rPr xmlns:a="http://schemas.openxmlformats.org/drawingml/2006/main" lang="en-US" b="0" i="1">
                                  <a:latin typeface="Cambria Math"/>
                                  <a:ea typeface="Cambria Math"/>
                                  <a:cs typeface="Cambria Math"/>
                                </a:rPr>
                                <m:t>𝑅</m:t>
                              </m:r>
                            </m:e>
                            <m:sub>
                              <m:r>
                                <a:rPr xmlns:a="http://schemas.openxmlformats.org/drawingml/2006/main" lang="en-US" b="0" i="1">
                                  <a:latin typeface="Cambria Math"/>
                                  <a:ea typeface="Cambria Math"/>
                                  <a:cs typeface="Cambria Math"/>
                                </a:rPr>
                                <m:t>𝑠</m:t>
                              </m:r>
                            </m:sub>
                            <m:sup>
                              <m:r>
                                <a:rPr xmlns:a="http://schemas.openxmlformats.org/drawingml/2006/main" lang="en-US" b="0" i="1">
                                  <a:latin typeface="Cambria Math"/>
                                  <a:ea typeface="Cambria Math"/>
                                  <a:cs typeface="Cambria Math"/>
                                </a:rPr>
                                <m:t>𝑎</m:t>
                              </m:r>
                            </m:sup>
                          </m:sSubSup>
                        </m:e>
                      </m:nary>
                    </m:e>
                  </m:nary>
                </m:oMath>
              </m:oMathPara>
            </a14:m>
            <a:endParaRPr/>
          </a:p>
        </p:txBody>
      </p:sp>
      <p:sp>
        <p:nvSpPr>
          <p:cNvPr id="15" name="文本框 14">
            <a:extLst xmlns:a="http://schemas.openxmlformats.org/drawingml/2006/main">
              <a:ext uri="{FF2B5EF4-FFF2-40B4-BE49-F238E27FC236}">
                <a16:creationId xmlns:a16="http://schemas.microsoft.com/office/drawing/2014/main" id="{EF4F13A9-BE49-1B9F-D4E3-0E5C84424B25}"/>
              </a:ext>
            </a:extLst>
          </p:cNvPr>
          <p:cNvSpPr>
            <a:spLocks xmlns:a="http://schemas.openxmlformats.org/drawingml/2006/main" noGrp="1"/>
          </p:cNvSpPr>
          <p:nvPr/>
        </p:nvSpPr>
        <p:spPr>
          <a:xfrm xmlns:a="http://schemas.openxmlformats.org/drawingml/2006/main">
            <a:off x="6520921" y="1301099"/>
            <a:ext cx="5079070" cy="14062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为简化梯度计算，对梯度公式进行采样估</a:t>
            </a:r>
          </a:p>
          <a:p xmlns:a="http://schemas.openxmlformats.org/drawingml/2006/main">
            <a:r>
              <a:t>计：</a:t>
            </a:r>
            <a:endParaRPr/>
          </a:p>
          <a:p xmlns:a="http://schemas.openxmlformats.org/drawingml/2006/main">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m:t>
                      </m:r>
                    </m:e>
                    <m:sub>
                      <m:r>
                        <a:rPr xmlns:a="http://schemas.openxmlformats.org/drawingml/2006/main" lang="zh-CN" i="1">
                          <a:latin typeface="Cambria Math"/>
                          <a:ea typeface="Cambria Math"/>
                          <a:cs typeface="Cambria Math"/>
                        </a:rPr>
                        <m:t>𝜃</m:t>
                      </m:r>
                    </m:sub>
                  </m:sSub>
                  <m:r>
                    <a:rPr xmlns:a="http://schemas.openxmlformats.org/drawingml/2006/main" lang="zh-CN" i="1">
                      <a:latin typeface="Cambria Math"/>
                      <a:ea typeface="Cambria Math"/>
                      <a:cs typeface="Cambria Math"/>
                    </a:rPr>
                    <m:t>𝜌</m:t>
                  </m:r>
                  <m:d>
                    <m:dPr>
                      <m:grow m:val="off"/>
                    </m:dPr>
                    <m:e>
                      <m:r>
                        <a:rPr xmlns:a="http://schemas.openxmlformats.org/drawingml/2006/main" lang="zh-CN" i="1">
                          <a:latin typeface="Cambria Math"/>
                          <a:ea typeface="Cambria Math"/>
                          <a:cs typeface="Cambria Math"/>
                        </a:rPr>
                        <m:t>𝜋</m:t>
                      </m:r>
                    </m:e>
                  </m:d>
                  <m:r>
                    <a:rPr xmlns:a="http://schemas.openxmlformats.org/drawingml/2006/main" lang="en-US" b="0" i="1">
                      <a:latin typeface="Cambria Math"/>
                      <a:ea typeface="Cambria Math"/>
                      <a:cs typeface="Cambria Math"/>
                    </a:rPr>
                    <m:t>=</m:t>
                  </m:r>
                </m:oMath>
              </m:oMathPara>
            </a14:m>
            <a:r>
              <a:t> </a:t>
            </a:r>
            <a14:m xmlns:a14="http://schemas.microsoft.com/office/drawing/2010/main">
              <m:oMathPara xmlns:m="http://schemas.openxmlformats.org/officeDocument/2006/math">
                <m:oMath>
                  <m:nary>
                    <m:naryPr>
                      <m:chr m:val="∑"/>
                      <m:subHide m:val="off"/>
                      <m:supHide m:val="on"/>
                    </m:naryPr>
                    <m:sub>
                      <m:r>
                        <a:rPr xmlns:a="http://schemas.openxmlformats.org/drawingml/2006/main" lang="en-US" i="1">
                          <a:latin typeface="Cambria Math"/>
                          <a:ea typeface="Cambria Math"/>
                          <a:cs typeface="Cambria Math"/>
                        </a:rPr>
                        <m:t>𝑠</m:t>
                      </m:r>
                    </m:sub>
                    <m:e>
                      <m:sSup>
                        <m:e>
                          <m:r>
                            <a:rPr xmlns:a="http://schemas.openxmlformats.org/drawingml/2006/main" lang="en-US" i="1">
                              <a:latin typeface="Cambria Math"/>
                              <a:ea typeface="Cambria Math"/>
                              <a:cs typeface="Cambria Math"/>
                            </a:rPr>
                            <m:t>𝑑</m:t>
                          </m:r>
                        </m:e>
                        <m:sup>
                          <m:r>
                            <a:rPr xmlns:a="http://schemas.openxmlformats.org/drawingml/2006/main" lang="zh-CN" i="1">
                              <a:latin typeface="Cambria Math"/>
                              <a:ea typeface="Cambria Math"/>
                              <a:cs typeface="Cambria Math"/>
                            </a:rPr>
                            <m:t>𝜋</m:t>
                          </m:r>
                        </m:sup>
                      </m:sSup>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𝑠</m:t>
                      </m:r>
                      <m:r>
                        <a:rPr xmlns:a="http://schemas.openxmlformats.org/drawingml/2006/main" lang="en-US" i="1">
                          <a:latin typeface="Cambria Math"/>
                          <a:ea typeface="Cambria Math"/>
                          <a:cs typeface="Cambria Math"/>
                        </a:rPr>
                        <m:t>)</m:t>
                      </m:r>
                      <m:nary>
                        <m:naryPr>
                          <m:chr m:val="∑"/>
                          <m:subHide m:val="off"/>
                          <m:supHide m:val="on"/>
                        </m:naryPr>
                        <m:sub>
                          <m:r>
                            <a:rPr xmlns:a="http://schemas.openxmlformats.org/drawingml/2006/main" lang="en-US" i="1">
                              <a:latin typeface="Cambria Math"/>
                              <a:ea typeface="Cambria Math"/>
                              <a:cs typeface="Cambria Math"/>
                            </a:rPr>
                            <m:t>𝑎</m:t>
                          </m:r>
                        </m:sub>
                        <m:e>
                          <m:sSub>
                            <m:e>
                              <m:r>
                                <a:rPr xmlns:a="http://schemas.openxmlformats.org/drawingml/2006/main" lang="zh-CN" i="1">
                                  <a:latin typeface="Cambria Math"/>
                                  <a:ea typeface="Cambria Math"/>
                                  <a:cs typeface="Cambria Math"/>
                                </a:rPr>
                                <m:t>𝜋</m:t>
                              </m:r>
                            </m:e>
                            <m:sub>
                              <m:r>
                                <a:rPr xmlns:a="http://schemas.openxmlformats.org/drawingml/2006/main" lang="zh-CN" i="1">
                                  <a:latin typeface="Cambria Math"/>
                                  <a:ea typeface="Cambria Math"/>
                                  <a:cs typeface="Cambria Math"/>
                                </a:rPr>
                                <m:t>𝜃</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𝑠</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𝑎</m:t>
                          </m:r>
                          <m:r>
                            <a:rPr xmlns:a="http://schemas.openxmlformats.org/drawingml/2006/main" lang="en-US" i="1">
                              <a:latin typeface="Cambria Math"/>
                              <a:ea typeface="Cambria Math"/>
                              <a:cs typeface="Cambria Math"/>
                            </a:rPr>
                            <m:t>)</m:t>
                          </m:r>
                          <m:sSubSup>
                            <m:e>
                              <m:f>
                                <m:num>
                                  <m:r>
                                    <a:rPr xmlns:a="http://schemas.openxmlformats.org/drawingml/2006/main" lang="zh-CN" i="1">
                                      <a:latin typeface="Cambria Math"/>
                                      <a:ea typeface="Cambria Math"/>
                                      <a:cs typeface="Cambria Math"/>
                                    </a:rPr>
                                    <m:t>𝜕</m:t>
                                  </m:r>
                                  <m:r>
                                    <a:rPr xmlns:a="http://schemas.openxmlformats.org/drawingml/2006/main" lang="en-US" i="1">
                                      <a:latin typeface="Cambria Math"/>
                                      <a:ea typeface="Cambria Math"/>
                                      <a:cs typeface="Cambria Math"/>
                                    </a:rPr>
                                    <m:t>ln</m:t>
                                  </m:r>
                                  <m:sSub>
                                    <m:e>
                                      <m:r>
                                        <a:rPr xmlns:a="http://schemas.openxmlformats.org/drawingml/2006/main" lang="zh-CN" i="1">
                                          <a:latin typeface="Cambria Math"/>
                                          <a:ea typeface="Cambria Math"/>
                                          <a:cs typeface="Cambria Math"/>
                                        </a:rPr>
                                        <m:t>𝜋</m:t>
                                      </m:r>
                                    </m:e>
                                    <m:sub>
                                      <m:r>
                                        <a:rPr xmlns:a="http://schemas.openxmlformats.org/drawingml/2006/main" lang="zh-CN" i="1">
                                          <a:latin typeface="Cambria Math"/>
                                          <a:ea typeface="Cambria Math"/>
                                          <a:cs typeface="Cambria Math"/>
                                        </a:rPr>
                                        <m:t>𝜃</m:t>
                                      </m:r>
                                    </m:sub>
                                  </m:sSub>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𝑠</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𝑎</m:t>
                                  </m:r>
                                  <m:r>
                                    <a:rPr xmlns:a="http://schemas.openxmlformats.org/drawingml/2006/main" lang="en-US" i="1">
                                      <a:latin typeface="Cambria Math"/>
                                      <a:ea typeface="Cambria Math"/>
                                      <a:cs typeface="Cambria Math"/>
                                    </a:rPr>
                                    <m:t>)</m:t>
                                  </m:r>
                                </m:num>
                                <m:den>
                                  <m:r>
                                    <a:rPr xmlns:a="http://schemas.openxmlformats.org/drawingml/2006/main" lang="zh-CN" i="1">
                                      <a:latin typeface="Cambria Math"/>
                                      <a:ea typeface="Cambria Math"/>
                                      <a:cs typeface="Cambria Math"/>
                                    </a:rPr>
                                    <m:t>𝜕𝜃</m:t>
                                  </m:r>
                                </m:den>
                              </m:f>
                              <m:r>
                                <a:rPr xmlns:a="http://schemas.openxmlformats.org/drawingml/2006/main" lang="en-US" i="1">
                                  <a:latin typeface="Cambria Math"/>
                                  <a:ea typeface="Cambria Math"/>
                                  <a:cs typeface="Cambria Math"/>
                                </a:rPr>
                                <m:t>𝑅</m:t>
                              </m:r>
                            </m:e>
                            <m:sub>
                              <m:r>
                                <a:rPr xmlns:a="http://schemas.openxmlformats.org/drawingml/2006/main" lang="en-US" i="1">
                                  <a:latin typeface="Cambria Math"/>
                                  <a:ea typeface="Cambria Math"/>
                                  <a:cs typeface="Cambria Math"/>
                                </a:rPr>
                                <m:t>𝑠</m:t>
                              </m:r>
                            </m:sub>
                            <m:sup>
                              <m:r>
                                <a:rPr xmlns:a="http://schemas.openxmlformats.org/drawingml/2006/main" lang="en-US" i="1">
                                  <a:latin typeface="Cambria Math"/>
                                  <a:ea typeface="Cambria Math"/>
                                  <a:cs typeface="Cambria Math"/>
                                </a:rPr>
                                <m:t>𝑎</m:t>
                              </m:r>
                            </m:sup>
                          </m:sSubSup>
                        </m:e>
                      </m:nary>
                    </m:e>
                  </m:nary>
                </m:oMath>
              </m:oMathPara>
            </a14:m>
            <a:endParaRPr b="0" i="1">
              <a:latin typeface="Cambria Math"/>
              <a:ea typeface="Cambria Math"/>
              <a:cs typeface="Cambria Math"/>
            </a:endParaRPr>
          </a:p>
          <a:p xmlns:a="http://schemas.openxmlformats.org/drawingml/2006/main">
            <a:pPr>
              <a:buNone/>
            </a:pP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m:t>
                  </m:r>
                  <m:sSub>
                    <m:e>
                      <m:r>
                        <a:rPr xmlns:a="http://schemas.openxmlformats.org/drawingml/2006/main" lang="en-US" b="0" i="1">
                          <a:latin typeface="Cambria Math"/>
                          <a:ea typeface="Cambria Math"/>
                          <a:cs typeface="Cambria Math"/>
                        </a:rPr>
                        <m:t>𝐸</m:t>
                      </m:r>
                    </m:e>
                    <m:sub>
                      <m:sSub>
                        <m:e>
                          <m:r>
                            <a:rPr xmlns:a="http://schemas.openxmlformats.org/drawingml/2006/main" lang="zh-CN" i="1">
                              <a:latin typeface="Cambria Math"/>
                              <a:ea typeface="Cambria Math"/>
                              <a:cs typeface="Cambria Math"/>
                            </a:rPr>
                            <m:t>𝜋</m:t>
                          </m:r>
                        </m:e>
                        <m:sub>
                          <m:r>
                            <a:rPr xmlns:a="http://schemas.openxmlformats.org/drawingml/2006/main" lang="zh-CN" i="1">
                              <a:latin typeface="Cambria Math"/>
                              <a:ea typeface="Cambria Math"/>
                              <a:cs typeface="Cambria Math"/>
                            </a:rPr>
                            <m:t>𝜃</m:t>
                          </m:r>
                        </m:sub>
                      </m:sSub>
                    </m:sub>
                  </m:sSub>
                  <m:d>
                    <m:dPr>
                      <m:begChr m:val="["/>
                      <m:endChr m:val="]"/>
                      <m:grow m:val="off"/>
                    </m:dPr>
                    <m:e>
                      <m:sSub>
                        <m:e>
                          <m:r>
                            <a:rPr xmlns:a="http://schemas.openxmlformats.org/drawingml/2006/main" lang="en-US" i="1">
                              <a:latin typeface="Cambria Math"/>
                              <a:ea typeface="Cambria Math"/>
                              <a:cs typeface="Cambria Math"/>
                            </a:rPr>
                            <m:t>∇</m:t>
                          </m:r>
                        </m:e>
                        <m:sub>
                          <m:r>
                            <a:rPr xmlns:a="http://schemas.openxmlformats.org/drawingml/2006/main" lang="zh-CN" i="1">
                              <a:latin typeface="Cambria Math"/>
                              <a:ea typeface="Cambria Math"/>
                              <a:cs typeface="Cambria Math"/>
                            </a:rPr>
                            <m:t>𝜃</m:t>
                          </m:r>
                        </m:sub>
                      </m:sSub>
                      <m:r>
                        <a:rPr xmlns:a="http://schemas.openxmlformats.org/drawingml/2006/main" lang="en-US" b="0" i="1">
                          <a:latin typeface="Cambria Math"/>
                          <a:ea typeface="Cambria Math"/>
                          <a:cs typeface="Cambria Math"/>
                        </a:rPr>
                        <m:t>𝑙𝑛</m:t>
                      </m:r>
                      <m:sSub>
                        <m:e>
                          <m:r>
                            <a:rPr xmlns:a="http://schemas.openxmlformats.org/drawingml/2006/main" lang="zh-CN" b="0" i="1">
                              <a:latin typeface="Cambria Math"/>
                              <a:ea typeface="Cambria Math"/>
                              <a:cs typeface="Cambria Math"/>
                            </a:rPr>
                            <m:t>𝜋</m:t>
                          </m:r>
                        </m:e>
                        <m:sub>
                          <m:r>
                            <a:rPr xmlns:a="http://schemas.openxmlformats.org/drawingml/2006/main" lang="zh-CN" b="0" i="1">
                              <a:latin typeface="Cambria Math"/>
                              <a:ea typeface="Cambria Math"/>
                              <a:cs typeface="Cambria Math"/>
                            </a:rPr>
                            <m:t>𝜃</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sSubSup>
                        <m:e>
                          <m:r>
                            <a:rPr xmlns:a="http://schemas.openxmlformats.org/drawingml/2006/main" lang="en-US" b="0" i="1">
                              <a:latin typeface="Cambria Math"/>
                              <a:ea typeface="Cambria Math"/>
                              <a:cs typeface="Cambria Math"/>
                            </a:rPr>
                            <m:t>𝑅</m:t>
                          </m:r>
                        </m:e>
                        <m:sub>
                          <m:r>
                            <a:rPr xmlns:a="http://schemas.openxmlformats.org/drawingml/2006/main" lang="en-US" b="0" i="1">
                              <a:latin typeface="Cambria Math"/>
                              <a:ea typeface="Cambria Math"/>
                              <a:cs typeface="Cambria Math"/>
                            </a:rPr>
                            <m:t>𝑠</m:t>
                          </m:r>
                        </m:sub>
                        <m:sup>
                          <m:r>
                            <a:rPr xmlns:a="http://schemas.openxmlformats.org/drawingml/2006/main" lang="en-US" b="0" i="1">
                              <a:latin typeface="Cambria Math"/>
                              <a:ea typeface="Cambria Math"/>
                              <a:cs typeface="Cambria Math"/>
                            </a:rPr>
                            <m:t>𝑎</m:t>
                          </m:r>
                        </m:sup>
                      </m:sSubSup>
                    </m:e>
                  </m:d>
                </m:oMath>
              </m:oMathPara>
            </a14:m>
            <a:endParaRPr>
              <a:latin typeface="+mn-ea"/>
              <a:ea typeface="+mn-ea"/>
              <a:cs typeface="+mn-ea"/>
            </a:endParaRPr>
          </a:p>
        </p:txBody>
      </p:sp>
      <p:sp>
        <p:nvSpPr>
          <p:cNvPr id="17" name="文本框 16">
            <a:extLst xmlns:a="http://schemas.openxmlformats.org/drawingml/2006/main">
              <a:ext uri="{FF2B5EF4-FFF2-40B4-BE49-F238E27FC236}">
                <a16:creationId xmlns:a16="http://schemas.microsoft.com/office/drawing/2014/main" id="{04092BD4-909C-5B9B-17E3-F80CA32A0BF9}"/>
              </a:ext>
            </a:extLst>
          </p:cNvPr>
          <p:cNvSpPr>
            <a:spLocks xmlns:a="http://schemas.openxmlformats.org/drawingml/2006/main" noGrp="1"/>
          </p:cNvSpPr>
          <p:nvPr/>
        </p:nvSpPr>
        <p:spPr>
          <a:xfrm xmlns:a="http://schemas.openxmlformats.org/drawingml/2006/main">
            <a:off x="6278499" y="2671158"/>
            <a:ext cx="5403592"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baseline="0">
                <a:latin typeface="+mn-ea"/>
                <a:ea typeface="+mn-ea"/>
                <a:cs typeface="+mn-ea"/>
              </a:rPr>
              <a:t>在上述公式中，需要对期望回报的梯度无偏估计的同时减少它的方差，于是可以在</a:t>
            </a:r>
            <a:r>
              <a:rPr>
                <a:latin typeface="+mn-ea"/>
                <a:ea typeface="+mn-ea"/>
                <a:cs typeface="+mn-ea"/>
              </a:rPr>
              <a:t>返回值中减去一个基线，记为</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𝑏</m:t>
                      </m:r>
                    </m:e>
                    <m:sub>
                      <m:r>
                        <a:rPr xmlns:a="http://schemas.openxmlformats.org/drawingml/2006/main" lang="en-US" b="0"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r>
                    <a:rPr xmlns:a="http://schemas.openxmlformats.org/drawingml/2006/main" lang="zh-CN" i="1">
                      <a:latin typeface="Cambria Math"/>
                      <a:ea typeface="Cambria Math"/>
                      <a:cs typeface="Cambria Math"/>
                    </a:rPr>
                    <m:t>，</m:t>
                  </m:r>
                </m:oMath>
              </m:oMathPara>
            </a14:m>
            <a:r>
              <a:rPr sz="1800" b="0" i="0" u="none" baseline="0">
                <a:latin typeface="+mn-ea"/>
                <a:ea typeface="+mn-ea"/>
                <a:cs typeface="+mn-ea"/>
              </a:rPr>
              <a:t>公式如下：</a:t>
            </a:r>
          </a:p>
        </p:txBody>
      </p:sp>
      <p:sp>
        <p:nvSpPr>
          <p:cNvPr id="20" name="文本框 19">
            <a:extLst xmlns:a="http://schemas.openxmlformats.org/drawingml/2006/main">
              <a:ext uri="{FF2B5EF4-FFF2-40B4-BE49-F238E27FC236}">
                <a16:creationId xmlns:a16="http://schemas.microsoft.com/office/drawing/2014/main" id="{72346CC6-F701-D288-FF5C-33EA8286C91E}"/>
              </a:ext>
            </a:extLst>
          </p:cNvPr>
          <p:cNvSpPr>
            <a:spLocks xmlns:a="http://schemas.openxmlformats.org/drawingml/2006/main" noGrp="1"/>
          </p:cNvSpPr>
          <p:nvPr/>
        </p:nvSpPr>
        <p:spPr>
          <a:xfrm xmlns:a="http://schemas.openxmlformats.org/drawingml/2006/main">
            <a:off x="5422232" y="3594488"/>
            <a:ext cx="6383612" cy="39831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m:t>
                      </m:r>
                    </m:e>
                    <m:sub>
                      <m:r>
                        <a:rPr xmlns:a="http://schemas.openxmlformats.org/drawingml/2006/main" lang="zh-CN" i="1">
                          <a:latin typeface="Cambria Math"/>
                          <a:ea typeface="Cambria Math"/>
                          <a:cs typeface="Cambria Math"/>
                        </a:rPr>
                        <m:t>𝜃</m:t>
                      </m:r>
                    </m:sub>
                  </m:sSub>
                  <m:r>
                    <a:rPr xmlns:a="http://schemas.openxmlformats.org/drawingml/2006/main" lang="zh-CN" i="1">
                      <a:latin typeface="Cambria Math"/>
                      <a:ea typeface="Cambria Math"/>
                      <a:cs typeface="Cambria Math"/>
                    </a:rPr>
                    <m:t>𝜌</m:t>
                  </m:r>
                  <m:d>
                    <m:dPr>
                      <m:grow m:val="off"/>
                    </m:dPr>
                    <m:e>
                      <m:r>
                        <a:rPr xmlns:a="http://schemas.openxmlformats.org/drawingml/2006/main" lang="zh-CN" i="1">
                          <a:latin typeface="Cambria Math"/>
                          <a:ea typeface="Cambria Math"/>
                          <a:cs typeface="Cambria Math"/>
                        </a:rPr>
                        <m:t>𝜋</m:t>
                      </m:r>
                    </m:e>
                  </m:d>
                  <m:r>
                    <a:rPr xmlns:a="http://schemas.openxmlformats.org/drawingml/2006/main" lang="en-US" i="1">
                      <a:latin typeface="Cambria Math"/>
                      <a:ea typeface="Cambria Math"/>
                      <a:cs typeface="Cambria Math"/>
                    </a:rPr>
                    <m:t>=</m:t>
                  </m:r>
                  <m:sSub>
                    <m:e>
                      <m:r>
                        <a:rPr xmlns:a="http://schemas.openxmlformats.org/drawingml/2006/main" lang="en-US" b="0" i="1">
                          <a:latin typeface="Cambria Math"/>
                          <a:ea typeface="Cambria Math"/>
                          <a:cs typeface="Cambria Math"/>
                        </a:rPr>
                        <m:t>𝐸</m:t>
                      </m:r>
                    </m:e>
                    <m:sub>
                      <m:sSub>
                        <m:e>
                          <m:r>
                            <a:rPr xmlns:a="http://schemas.openxmlformats.org/drawingml/2006/main" lang="zh-CN" i="1">
                              <a:latin typeface="Cambria Math"/>
                              <a:ea typeface="Cambria Math"/>
                              <a:cs typeface="Cambria Math"/>
                            </a:rPr>
                            <m:t>𝜋</m:t>
                          </m:r>
                        </m:e>
                        <m:sub>
                          <m:r>
                            <a:rPr xmlns:a="http://schemas.openxmlformats.org/drawingml/2006/main" lang="zh-CN" i="1">
                              <a:latin typeface="Cambria Math"/>
                              <a:ea typeface="Cambria Math"/>
                              <a:cs typeface="Cambria Math"/>
                            </a:rPr>
                            <m:t>𝜃</m:t>
                          </m:r>
                        </m:sub>
                      </m:sSub>
                    </m:sub>
                  </m:sSub>
                  <m:d>
                    <m:dPr>
                      <m:begChr m:val="["/>
                      <m:endChr m:val="]"/>
                      <m:grow m:val="off"/>
                    </m:dPr>
                    <m:e>
                      <m:sSub>
                        <m:e>
                          <m:r>
                            <a:rPr xmlns:a="http://schemas.openxmlformats.org/drawingml/2006/main" lang="en-US" i="1">
                              <a:latin typeface="Cambria Math"/>
                              <a:ea typeface="Cambria Math"/>
                              <a:cs typeface="Cambria Math"/>
                            </a:rPr>
                            <m:t>∇</m:t>
                          </m:r>
                        </m:e>
                        <m:sub>
                          <m:r>
                            <a:rPr xmlns:a="http://schemas.openxmlformats.org/drawingml/2006/main" lang="zh-CN" i="1">
                              <a:latin typeface="Cambria Math"/>
                              <a:ea typeface="Cambria Math"/>
                              <a:cs typeface="Cambria Math"/>
                            </a:rPr>
                            <m:t>𝜃</m:t>
                          </m:r>
                        </m:sub>
                      </m:sSub>
                      <m:r>
                        <a:rPr xmlns:a="http://schemas.openxmlformats.org/drawingml/2006/main" lang="en-US" b="0" i="1">
                          <a:latin typeface="Cambria Math"/>
                          <a:ea typeface="Cambria Math"/>
                          <a:cs typeface="Cambria Math"/>
                        </a:rPr>
                        <m:t>𝑙𝑛</m:t>
                      </m:r>
                      <m:sSub>
                        <m:e>
                          <m:r>
                            <a:rPr xmlns:a="http://schemas.openxmlformats.org/drawingml/2006/main" lang="zh-CN" b="0" i="1">
                              <a:latin typeface="Cambria Math"/>
                              <a:ea typeface="Cambria Math"/>
                              <a:cs typeface="Cambria Math"/>
                            </a:rPr>
                            <m:t>𝜋</m:t>
                          </m:r>
                        </m:e>
                        <m:sub>
                          <m:r>
                            <a:rPr xmlns:a="http://schemas.openxmlformats.org/drawingml/2006/main" lang="zh-CN" b="0" i="1">
                              <a:latin typeface="Cambria Math"/>
                              <a:ea typeface="Cambria Math"/>
                              <a:cs typeface="Cambria Math"/>
                            </a:rPr>
                            <m:t>𝜃</m:t>
                          </m:r>
                        </m:sub>
                      </m:sSub>
                      <m:d>
                        <m:dPr>
                          <m:grow m:val="off"/>
                        </m:dPr>
                        <m:e>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e>
                      </m:d>
                      <m:sSubSup>
                        <m:e>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𝑅</m:t>
                          </m:r>
                        </m:e>
                        <m:sub>
                          <m:r>
                            <a:rPr xmlns:a="http://schemas.openxmlformats.org/drawingml/2006/main" lang="en-US" b="0" i="1">
                              <a:latin typeface="Cambria Math"/>
                              <a:ea typeface="Cambria Math"/>
                              <a:cs typeface="Cambria Math"/>
                            </a:rPr>
                            <m:t>𝑠</m:t>
                          </m:r>
                        </m:sub>
                        <m:sup>
                          <m:r>
                            <a:rPr xmlns:a="http://schemas.openxmlformats.org/drawingml/2006/main" lang="en-US" b="0" i="1">
                              <a:latin typeface="Cambria Math"/>
                              <a:ea typeface="Cambria Math"/>
                              <a:cs typeface="Cambria Math"/>
                            </a:rPr>
                            <m:t>𝑎</m:t>
                          </m:r>
                        </m:sup>
                      </m:sSubSup>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𝑏</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r>
                        <a:rPr xmlns:a="http://schemas.openxmlformats.org/drawingml/2006/main" lang="en-US" b="0" i="1">
                          <a:latin typeface="Cambria Math"/>
                          <a:ea typeface="Cambria Math"/>
                          <a:cs typeface="Cambria Math"/>
                        </a:rPr>
                        <m:t>)</m:t>
                      </m:r>
                    </m:e>
                  </m:d>
                </m:oMath>
              </m:oMathPara>
            </a14:m>
            <a:endParaRPr>
              <a:latin typeface="+mn-ea"/>
              <a:ea typeface="+mn-ea"/>
              <a:cs typeface="+mn-ea"/>
            </a:endParaRPr>
          </a:p>
        </p:txBody>
      </p:sp>
      <p:sp>
        <p:nvSpPr>
          <p:cNvPr id="25" name="文本框 24">
            <a:extLst xmlns:a="http://schemas.openxmlformats.org/drawingml/2006/main">
              <a:ext uri="{FF2B5EF4-FFF2-40B4-BE49-F238E27FC236}">
                <a16:creationId xmlns:a16="http://schemas.microsoft.com/office/drawing/2014/main" id="{91DCE869-2617-1FE0-9D79-F92DCB9CB198}"/>
              </a:ext>
            </a:extLst>
          </p:cNvPr>
          <p:cNvSpPr>
            <a:spLocks xmlns:a="http://schemas.openxmlformats.org/drawingml/2006/main" noGrp="1"/>
          </p:cNvSpPr>
          <p:nvPr/>
        </p:nvSpPr>
        <p:spPr>
          <a:xfrm xmlns:a="http://schemas.openxmlformats.org/drawingml/2006/main">
            <a:off x="6240995" y="4069544"/>
            <a:ext cx="5286397" cy="20313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baseline="0">
                <a:latin typeface="+mn-ea"/>
                <a:ea typeface="+mn-ea"/>
                <a:cs typeface="+mn-ea"/>
              </a:rPr>
              <a:t>在训练过程中，评价网络会根据上述的梯度估计对策略网络输出的动作进行评价，式中，</a:t>
            </a:r>
            <a:r>
              <a:rPr>
                <a:latin typeface="+mn-ea"/>
                <a:ea typeface="+mn-ea"/>
                <a:cs typeface="+mn-ea"/>
              </a:rPr>
              <a:t>基线</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𝑏</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oMath>
              </m:oMathPara>
            </a14:m>
            <a:r>
              <a:rPr>
                <a:latin typeface="+mn-ea"/>
                <a:ea typeface="+mn-ea"/>
                <a:cs typeface="+mn-ea"/>
              </a:rPr>
              <a:t>可被估计为当前策略下的状态值记为</a:t>
            </a: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𝑉</m:t>
                      </m:r>
                    </m:e>
                    <m:sup>
                      <m:r>
                        <a:rPr xmlns:a="http://schemas.openxmlformats.org/drawingml/2006/main" lang="zh-CN" i="1">
                          <a:latin typeface="Cambria Math"/>
                          <a:ea typeface="Cambria Math"/>
                          <a:cs typeface="Cambria Math"/>
                        </a:rPr>
                        <m:t>𝜋</m:t>
                      </m:r>
                    </m:sup>
                  </m:sSup>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oMath>
              </m:oMathPara>
            </a14:m>
            <a:r>
              <a:rPr>
                <a:latin typeface="+mn-ea"/>
                <a:ea typeface="+mn-ea"/>
                <a:cs typeface="+mn-ea"/>
              </a:rPr>
              <a:t>同时</a:t>
            </a:r>
            <a14:m xmlns:a14="http://schemas.microsoft.com/office/drawing/2010/main">
              <m:oMathPara xmlns:m="http://schemas.openxmlformats.org/officeDocument/2006/math">
                <m:oMath>
                  <m:sSubSup>
                    <m:e>
                      <m:r>
                        <a:rPr xmlns:a="http://schemas.openxmlformats.org/drawingml/2006/main" lang="en-US" b="0" i="1">
                          <a:latin typeface="Cambria Math"/>
                          <a:ea typeface="Cambria Math"/>
                          <a:cs typeface="Cambria Math"/>
                        </a:rPr>
                        <m:t>𝑅</m:t>
                      </m:r>
                    </m:e>
                    <m:sub>
                      <m:r>
                        <a:rPr xmlns:a="http://schemas.openxmlformats.org/drawingml/2006/main" lang="en-US" b="0" i="1">
                          <a:latin typeface="Cambria Math"/>
                          <a:ea typeface="Cambria Math"/>
                          <a:cs typeface="Cambria Math"/>
                        </a:rPr>
                        <m:t>𝑠</m:t>
                      </m:r>
                    </m:sub>
                    <m:sup>
                      <m:r>
                        <a:rPr xmlns:a="http://schemas.openxmlformats.org/drawingml/2006/main" lang="en-US" b="0" i="1">
                          <a:latin typeface="Cambria Math"/>
                          <a:ea typeface="Cambria Math"/>
                          <a:cs typeface="Cambria Math"/>
                        </a:rPr>
                        <m:t>𝑎</m:t>
                      </m:r>
                    </m:sup>
                  </m:sSubSup>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𝑏</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r>
                    <a:rPr xmlns:a="http://schemas.openxmlformats.org/drawingml/2006/main" lang="zh-CN" i="1">
                      <a:latin typeface="Cambria Math"/>
                      <a:ea typeface="Cambria Math"/>
                      <a:cs typeface="Cambria Math"/>
                    </a:rPr>
                    <m:t>可以看作是</m:t>
                  </m:r>
                </m:oMath>
              </m:oMathPara>
            </a14:m>
            <a:r>
              <a:rPr>
                <a:latin typeface="+mn-ea"/>
                <a:ea typeface="+mn-ea"/>
                <a:cs typeface="+mn-ea"/>
              </a:rPr>
              <a:t>状态</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zh-CN" i="1">
                      <a:latin typeface="Cambria Math"/>
                      <a:ea typeface="Cambria Math"/>
                      <a:cs typeface="Cambria Math"/>
                    </a:rPr>
                    <m:t>下</m:t>
                  </m:r>
                </m:oMath>
              </m:oMathPara>
            </a14:m>
            <a:r>
              <a:rPr>
                <a:latin typeface="+mn-ea"/>
                <a:ea typeface="+mn-ea"/>
                <a:cs typeface="+mn-ea"/>
              </a:rPr>
              <a:t>动作为</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𝑎</m:t>
                      </m:r>
                    </m:e>
                    <m:sub>
                      <m:r>
                        <a:rPr xmlns:a="http://schemas.openxmlformats.org/drawingml/2006/main" lang="en-US" b="0" i="1">
                          <a:latin typeface="Cambria Math"/>
                          <a:ea typeface="Cambria Math"/>
                          <a:cs typeface="Cambria Math"/>
                        </a:rPr>
                        <m:t>𝑡</m:t>
                      </m:r>
                    </m:sub>
                  </m:sSub>
                  <m:r>
                    <a:rPr xmlns:a="http://schemas.openxmlformats.org/drawingml/2006/main" lang="zh-CN" i="1">
                      <a:latin typeface="Cambria Math"/>
                      <a:ea typeface="Cambria Math"/>
                      <a:cs typeface="Cambria Math"/>
                    </a:rPr>
                    <m:t>的</m:t>
                  </m:r>
                </m:oMath>
              </m:oMathPara>
            </a14:m>
            <a:r>
              <a:rPr>
                <a:latin typeface="+mn-ea"/>
                <a:ea typeface="+mn-ea"/>
                <a:cs typeface="+mn-ea"/>
              </a:rPr>
              <a:t>优势估计，由于</a:t>
            </a: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𝑄</m:t>
                      </m:r>
                    </m:e>
                    <m:sup>
                      <m:r>
                        <a:rPr xmlns:a="http://schemas.openxmlformats.org/drawingml/2006/main" lang="zh-CN" i="1">
                          <a:latin typeface="Cambria Math"/>
                          <a:ea typeface="Cambria Math"/>
                          <a:cs typeface="Cambria Math"/>
                        </a:rPr>
                        <m:t>𝜋</m:t>
                      </m:r>
                    </m:sup>
                  </m:sSup>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)数值</m:t>
                  </m:r>
                </m:oMath>
              </m:oMathPara>
            </a14:m>
            <a:r>
              <a:rPr>
                <a:latin typeface="+mn-ea"/>
                <a:ea typeface="+mn-ea"/>
                <a:cs typeface="+mn-ea"/>
              </a:rPr>
              <a:t>上等于</a:t>
            </a:r>
            <a14:m xmlns:a14="http://schemas.microsoft.com/office/drawing/2010/main">
              <m:oMathPara xmlns:m="http://schemas.openxmlformats.org/officeDocument/2006/math">
                <m:oMath>
                  <m:sSubSup>
                    <m:e>
                      <m:r>
                        <a:rPr xmlns:a="http://schemas.openxmlformats.org/drawingml/2006/main" lang="en-US" i="1">
                          <a:latin typeface="Cambria Math"/>
                          <a:ea typeface="Cambria Math"/>
                          <a:cs typeface="Cambria Math"/>
                        </a:rPr>
                        <m:t>𝑅</m:t>
                      </m:r>
                    </m:e>
                    <m:sub>
                      <m:r>
                        <a:rPr xmlns:a="http://schemas.openxmlformats.org/drawingml/2006/main" lang="en-US" i="1">
                          <a:latin typeface="Cambria Math"/>
                          <a:ea typeface="Cambria Math"/>
                          <a:cs typeface="Cambria Math"/>
                        </a:rPr>
                        <m:t>𝑠</m:t>
                      </m:r>
                    </m:sub>
                    <m:sup>
                      <m:r>
                        <a:rPr xmlns:a="http://schemas.openxmlformats.org/drawingml/2006/main" lang="en-US" i="1">
                          <a:latin typeface="Cambria Math"/>
                          <a:ea typeface="Cambria Math"/>
                          <a:cs typeface="Cambria Math"/>
                        </a:rPr>
                        <m:t>𝑎</m:t>
                      </m:r>
                    </m:sup>
                  </m:sSubSup>
                  <m:r>
                    <a:rPr xmlns:a="http://schemas.openxmlformats.org/drawingml/2006/main" lang="zh-CN" i="1">
                      <a:latin typeface="Cambria Math"/>
                      <a:ea typeface="Cambria Math"/>
                      <a:cs typeface="Cambria Math"/>
                    </a:rPr>
                    <m:t>，</m:t>
                  </m:r>
                </m:oMath>
              </m:oMathPara>
            </a14:m>
            <a:r>
              <a:rPr>
                <a:latin typeface="+mn-ea"/>
                <a:ea typeface="+mn-ea"/>
                <a:cs typeface="+mn-ea"/>
              </a:rPr>
              <a:t>因此定义优势函数</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𝐴</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𝑉</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e>
                  </m:d>
                  <m:r>
                    <a:rPr xmlns:a="http://schemas.openxmlformats.org/drawingml/2006/main" lang="zh-CN" i="1">
                      <a:latin typeface="Cambria Math"/>
                      <a:ea typeface="Cambria Math"/>
                      <a:cs typeface="Cambria Math"/>
                    </a:rPr>
                    <m:t>，</m:t>
                  </m:r>
                </m:oMath>
              </m:oMathPara>
            </a14:m>
            <a:r>
              <a:rPr>
                <a:latin typeface="+mn-ea"/>
                <a:ea typeface="+mn-ea"/>
                <a:cs typeface="+mn-ea"/>
              </a:rPr>
              <a:t>则梯度估计改写成：</a:t>
            </a:r>
            <a:endParaRPr>
              <a:latin typeface="+mn-ea"/>
              <a:ea typeface="+mn-ea"/>
              <a:cs typeface="+mn-ea"/>
            </a:endParaRPr>
          </a:p>
          <a:p xmlns:a="http://schemas.openxmlformats.org/drawingml/2006/main">
            <a:endParaRPr>
              <a:latin typeface="+mn-ea"/>
              <a:ea typeface="+mn-ea"/>
              <a:cs typeface="+mn-ea"/>
            </a:endParaRPr>
          </a:p>
        </p:txBody>
      </p:sp>
      <p:sp>
        <p:nvSpPr>
          <p:cNvPr id="27" name="文本框 26">
            <a:extLst xmlns:a="http://schemas.openxmlformats.org/drawingml/2006/main">
              <a:ext uri="{FF2B5EF4-FFF2-40B4-BE49-F238E27FC236}">
                <a16:creationId xmlns:a16="http://schemas.microsoft.com/office/drawing/2014/main" id="{9B07F244-3A3C-35BC-477B-918A9549E58F}"/>
              </a:ext>
            </a:extLst>
          </p:cNvPr>
          <p:cNvSpPr>
            <a:spLocks xmlns:a="http://schemas.openxmlformats.org/drawingml/2006/main" noGrp="1"/>
          </p:cNvSpPr>
          <p:nvPr/>
        </p:nvSpPr>
        <p:spPr>
          <a:xfrm xmlns:a="http://schemas.openxmlformats.org/drawingml/2006/main">
            <a:off x="5484874" y="5890951"/>
            <a:ext cx="6383612" cy="39831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m:t>
                      </m:r>
                    </m:e>
                    <m:sub>
                      <m:r>
                        <a:rPr xmlns:a="http://schemas.openxmlformats.org/drawingml/2006/main" lang="zh-CN" i="1">
                          <a:latin typeface="Cambria Math"/>
                          <a:ea typeface="Cambria Math"/>
                          <a:cs typeface="Cambria Math"/>
                        </a:rPr>
                        <m:t>𝜃</m:t>
                      </m:r>
                    </m:sub>
                  </m:sSub>
                  <m:r>
                    <a:rPr xmlns:a="http://schemas.openxmlformats.org/drawingml/2006/main" lang="zh-CN" i="1">
                      <a:latin typeface="Cambria Math"/>
                      <a:ea typeface="Cambria Math"/>
                      <a:cs typeface="Cambria Math"/>
                    </a:rPr>
                    <m:t>𝜌</m:t>
                  </m:r>
                  <m:d>
                    <m:dPr>
                      <m:grow m:val="off"/>
                    </m:dPr>
                    <m:e>
                      <m:r>
                        <a:rPr xmlns:a="http://schemas.openxmlformats.org/drawingml/2006/main" lang="zh-CN" i="1">
                          <a:latin typeface="Cambria Math"/>
                          <a:ea typeface="Cambria Math"/>
                          <a:cs typeface="Cambria Math"/>
                        </a:rPr>
                        <m:t>𝜋</m:t>
                      </m:r>
                    </m:e>
                  </m:d>
                  <m:r>
                    <a:rPr xmlns:a="http://schemas.openxmlformats.org/drawingml/2006/main" lang="en-US" i="1">
                      <a:latin typeface="Cambria Math"/>
                      <a:ea typeface="Cambria Math"/>
                      <a:cs typeface="Cambria Math"/>
                    </a:rPr>
                    <m:t>=</m:t>
                  </m:r>
                  <m:sSub>
                    <m:e>
                      <m:r>
                        <a:rPr xmlns:a="http://schemas.openxmlformats.org/drawingml/2006/main" lang="en-US" b="0" i="1">
                          <a:latin typeface="Cambria Math"/>
                          <a:ea typeface="Cambria Math"/>
                          <a:cs typeface="Cambria Math"/>
                        </a:rPr>
                        <m:t>𝐸</m:t>
                      </m:r>
                    </m:e>
                    <m:sub>
                      <m:sSub>
                        <m:e>
                          <m:r>
                            <a:rPr xmlns:a="http://schemas.openxmlformats.org/drawingml/2006/main" lang="zh-CN" i="1">
                              <a:latin typeface="Cambria Math"/>
                              <a:ea typeface="Cambria Math"/>
                              <a:cs typeface="Cambria Math"/>
                            </a:rPr>
                            <m:t>𝜋</m:t>
                          </m:r>
                        </m:e>
                        <m:sub>
                          <m:r>
                            <a:rPr xmlns:a="http://schemas.openxmlformats.org/drawingml/2006/main" lang="zh-CN" i="1">
                              <a:latin typeface="Cambria Math"/>
                              <a:ea typeface="Cambria Math"/>
                              <a:cs typeface="Cambria Math"/>
                            </a:rPr>
                            <m:t>𝜃</m:t>
                          </m:r>
                        </m:sub>
                      </m:sSub>
                    </m:sub>
                  </m:sSub>
                  <m:d>
                    <m:dPr>
                      <m:begChr m:val="["/>
                      <m:endChr m:val="]"/>
                      <m:grow m:val="off"/>
                    </m:dPr>
                    <m:e>
                      <m:sSub>
                        <m:e>
                          <m:r>
                            <a:rPr xmlns:a="http://schemas.openxmlformats.org/drawingml/2006/main" lang="en-US" i="1">
                              <a:latin typeface="Cambria Math"/>
                              <a:ea typeface="Cambria Math"/>
                              <a:cs typeface="Cambria Math"/>
                            </a:rPr>
                            <m:t>∇</m:t>
                          </m:r>
                        </m:e>
                        <m:sub>
                          <m:r>
                            <a:rPr xmlns:a="http://schemas.openxmlformats.org/drawingml/2006/main" lang="zh-CN" i="1">
                              <a:latin typeface="Cambria Math"/>
                              <a:ea typeface="Cambria Math"/>
                              <a:cs typeface="Cambria Math"/>
                            </a:rPr>
                            <m:t>𝜃</m:t>
                          </m:r>
                        </m:sub>
                      </m:sSub>
                      <m:r>
                        <a:rPr xmlns:a="http://schemas.openxmlformats.org/drawingml/2006/main" lang="en-US" b="0" i="1">
                          <a:latin typeface="Cambria Math"/>
                          <a:ea typeface="Cambria Math"/>
                          <a:cs typeface="Cambria Math"/>
                        </a:rPr>
                        <m:t>𝑙𝑛</m:t>
                      </m:r>
                      <m:sSub>
                        <m:e>
                          <m:r>
                            <a:rPr xmlns:a="http://schemas.openxmlformats.org/drawingml/2006/main" lang="zh-CN" b="0" i="1">
                              <a:latin typeface="Cambria Math"/>
                              <a:ea typeface="Cambria Math"/>
                              <a:cs typeface="Cambria Math"/>
                            </a:rPr>
                            <m:t>𝜋</m:t>
                          </m:r>
                        </m:e>
                        <m:sub>
                          <m:r>
                            <a:rPr xmlns:a="http://schemas.openxmlformats.org/drawingml/2006/main" lang="zh-CN" b="0" i="1">
                              <a:latin typeface="Cambria Math"/>
                              <a:ea typeface="Cambria Math"/>
                              <a:cs typeface="Cambria Math"/>
                            </a:rPr>
                            <m:t>𝜃</m:t>
                          </m:r>
                        </m:sub>
                      </m:sSub>
                      <m:d>
                        <m:dPr>
                          <m:grow m:val="off"/>
                        </m:dPr>
                        <m:e>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e>
                      </m:d>
                      <m:r>
                        <a:rPr xmlns:a="http://schemas.openxmlformats.org/drawingml/2006/main" lang="en-US" b="0" i="1">
                          <a:latin typeface="Cambria Math"/>
                          <a:ea typeface="Cambria Math"/>
                          <a:cs typeface="Cambria Math"/>
                        </a:rPr>
                        <m:t>(</m:t>
                      </m:r>
                      <m:sSup>
                        <m:e>
                          <m:r>
                            <a:rPr xmlns:a="http://schemas.openxmlformats.org/drawingml/2006/main" lang="en-US" i="1">
                              <a:latin typeface="Cambria Math"/>
                              <a:ea typeface="Cambria Math"/>
                              <a:cs typeface="Cambria Math"/>
                            </a:rPr>
                            <m:t>𝑄</m:t>
                          </m:r>
                        </m:e>
                        <m:sup>
                          <m:r>
                            <a:rPr xmlns:a="http://schemas.openxmlformats.org/drawingml/2006/main" lang="zh-CN" i="1">
                              <a:latin typeface="Cambria Math"/>
                              <a:ea typeface="Cambria Math"/>
                              <a:cs typeface="Cambria Math"/>
                            </a:rPr>
                            <m:t>𝜋</m:t>
                          </m:r>
                        </m:sup>
                      </m:sSup>
                      <m:d>
                        <m:dPr>
                          <m:grow m:val="off"/>
                        </m:dPr>
                        <m:e>
                          <m:r>
                            <a:rPr xmlns:a="http://schemas.openxmlformats.org/drawingml/2006/main" lang="en-US" i="1">
                              <a:latin typeface="Cambria Math"/>
                              <a:ea typeface="Cambria Math"/>
                              <a:cs typeface="Cambria Math"/>
                            </a:rPr>
                            <m:t>𝑠</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𝑎</m:t>
                          </m:r>
                        </m:e>
                      </m:d>
                      <m:r>
                        <a:rPr xmlns:a="http://schemas.openxmlformats.org/drawingml/2006/main" lang="en-US" b="0" i="1">
                          <a:latin typeface="Cambria Math"/>
                          <a:ea typeface="Cambria Math"/>
                          <a:cs typeface="Cambria Math"/>
                        </a:rPr>
                        <m:t>−</m:t>
                      </m:r>
                      <m:r>
                        <a:rPr xmlns:a="http://schemas.openxmlformats.org/drawingml/2006/main" lang="en-US" i="1">
                          <a:latin typeface="Cambria Math"/>
                          <a:ea typeface="Cambria Math"/>
                          <a:cs typeface="Cambria Math"/>
                        </a:rPr>
                        <m:t>𝑉</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e>
                  </m:d>
                </m:oMath>
              </m:oMathPara>
            </a14:m>
            <a:endParaRPr>
              <a:latin typeface="+mn-ea"/>
              <a:ea typeface="+mn-ea"/>
              <a:cs typeface="+mn-ea"/>
            </a:endParaRPr>
          </a:p>
        </p:txBody>
      </p:sp>
    </p:spTree>
    <p:extLst>
      <p:ext uri="{BB962C8B-B14F-4D97-AF65-F5344CB8AC3E}">
        <p14:creationId xmlns:p14="http://schemas.microsoft.com/office/powerpoint/2010/main" val="2232762125"/>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D7169EBB-C87C-7BA9-4FFE-A1A80DF9879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0B40CE19-C027-69C2-A8F5-BD7D16A735A3}"/>
              </a:ext>
            </a:extLst>
          </p:cNvPr>
          <p:cNvSpPr>
            <a:spLocks xmlns:a="http://schemas.openxmlformats.org/drawingml/2006/main" noGrp="1"/>
          </p:cNvSpPr>
          <p:nvPr/>
        </p:nvSpPr>
        <p:spPr>
          <a:xfrm xmlns:a="http://schemas.openxmlformats.org/drawingml/2006/main" rot="0" flipH="0" flipV="0">
            <a:off x="270932" y="1021703"/>
            <a:ext cx="5825067"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5.4.2 </a:t>
            </a:r>
            <a:r>
              <a:rPr sz="2400" b="1">
                <a:solidFill>
                  <a:schemeClr val="accent1"/>
                </a:solidFill>
              </a:rPr>
              <a:t>基于策略梯度的强化学习导航</a:t>
            </a:r>
          </a:p>
          <a:p xmlns:a="http://schemas.openxmlformats.org/drawingml/2006/main">
            <a:endParaRPr sz="2400" b="1">
              <a:solidFill>
                <a:schemeClr val="accent1"/>
              </a:solidFill>
              <a:latin typeface="+mj-lt"/>
              <a:ea typeface="+mj-lt"/>
              <a:cs typeface="+mj-lt"/>
            </a:endParaRPr>
          </a:p>
        </p:txBody>
      </p:sp>
      <p:sp>
        <p:nvSpPr>
          <p:cNvPr id="21" name="文本框 20">
            <a:extLst xmlns:a="http://schemas.openxmlformats.org/drawingml/2006/main">
              <a:ext uri="{FF2B5EF4-FFF2-40B4-BE49-F238E27FC236}">
                <a16:creationId xmlns:a16="http://schemas.microsoft.com/office/drawing/2014/main" id="{E13FC058-2172-2772-9558-F9A6C355890F}"/>
              </a:ext>
            </a:extLst>
          </p:cNvPr>
          <p:cNvSpPr>
            <a:spLocks xmlns:a="http://schemas.openxmlformats.org/drawingml/2006/main" noGrp="1"/>
          </p:cNvSpPr>
          <p:nvPr/>
        </p:nvSpPr>
        <p:spPr>
          <a:xfrm xmlns:a="http://schemas.openxmlformats.org/drawingml/2006/main">
            <a:off x="6095999" y="1351379"/>
            <a:ext cx="5361474" cy="175458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每次迭代中，演员网络会记录一个经验：</a:t>
            </a:r>
            <a:endParaRPr/>
          </a:p>
          <a:p xmlns:a="http://schemas.openxmlformats.org/drawingml/2006/main">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𝑉</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e>
                  </m:d>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𝑙𝑜𝑔𝑃</m:t>
                  </m:r>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r>
                    <a:rPr xmlns:a="http://schemas.openxmlformats.org/drawingml/2006/main" lang="zh-CN" i="1">
                      <a:latin typeface="Cambria Math"/>
                      <a:ea typeface="Cambria Math"/>
                      <a:cs typeface="Cambria Math"/>
                    </a:rPr>
                    <m:t>在</m:t>
                  </m:r>
                </m:oMath>
              </m:oMathPara>
            </a14:m>
            <a:r>
              <a:t>经验池中，同时计算优势值</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𝐴</m:t>
                  </m:r>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r>
                    <a:rPr xmlns:a="http://schemas.openxmlformats.org/drawingml/2006/main" lang="zh-CN" i="1">
                      <a:latin typeface="Cambria Math"/>
                      <a:ea typeface="Cambria Math"/>
                      <a:cs typeface="Cambria Math"/>
                    </a:rPr>
                    <m:t>，</m:t>
                  </m:r>
                </m:oMath>
              </m:oMathPara>
            </a14:m>
            <a:r>
              <a:t>并一同放入经验池。经验池的设计方便计算任一轨迹上状态的累计折扣回报和优势函数。</a:t>
            </a:r>
            <a:endParaRPr/>
          </a:p>
          <a:p xmlns:a="http://schemas.openxmlformats.org/drawingml/2006/main">
            <a:endParaRPr/>
          </a:p>
        </p:txBody>
      </p:sp>
      <p:sp>
        <p:nvSpPr>
          <p:cNvPr id="13" name="文本框 12">
            <a:extLst xmlns:a="http://schemas.openxmlformats.org/drawingml/2006/main">
              <a:ext uri="{FF2B5EF4-FFF2-40B4-BE49-F238E27FC236}">
                <a16:creationId xmlns:a16="http://schemas.microsoft.com/office/drawing/2014/main" id="{00805B01-248B-3CB3-5A06-C01FB36422AF}"/>
              </a:ext>
            </a:extLst>
          </p:cNvPr>
          <p:cNvSpPr>
            <a:spLocks xmlns:a="http://schemas.openxmlformats.org/drawingml/2006/main" noGrp="1"/>
          </p:cNvSpPr>
          <p:nvPr/>
        </p:nvSpPr>
        <p:spPr>
          <a:xfrm xmlns:a="http://schemas.openxmlformats.org/drawingml/2006/main">
            <a:off x="489147" y="4170325"/>
            <a:ext cx="4291159"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mn-ea"/>
                <a:ea typeface="+mn-ea"/>
                <a:cs typeface="+mn-ea"/>
              </a:rPr>
              <a:t>Actor</a:t>
            </a:r>
            <a:r>
              <a:rPr sz="1800" b="0" i="0" u="none" baseline="0">
                <a:latin typeface="+mn-ea"/>
                <a:ea typeface="+mn-ea"/>
                <a:cs typeface="+mn-ea"/>
              </a:rPr>
              <a:t>网络以机器人的状态作为输入，输出为执行某一动作的概率分布参数记</a:t>
            </a:r>
            <a:r>
              <a:rPr>
                <a:latin typeface="+mn-ea"/>
                <a:ea typeface="+mn-ea"/>
                <a:cs typeface="+mn-ea"/>
              </a:rPr>
              <a:t>为</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𝑃</m:t>
                  </m:r>
                  <m:d>
                    <m:dPr>
                      <m:grow m:val="off"/>
                    </m:dPr>
                    <m:e>
                      <m:r>
                        <a:rPr xmlns:a="http://schemas.openxmlformats.org/drawingml/2006/main" lang="en-US" b="0" i="1">
                          <a:latin typeface="Cambria Math"/>
                          <a:ea typeface="Cambria Math"/>
                          <a:cs typeface="Cambria Math"/>
                        </a:rPr>
                        <m:t>𝑎</m:t>
                      </m:r>
                    </m:e>
                    <m:e>
                      <m:r>
                        <a:rPr xmlns:a="http://schemas.openxmlformats.org/drawingml/2006/main" lang="en-US" b="0" i="1">
                          <a:latin typeface="Cambria Math"/>
                          <a:ea typeface="Cambria Math"/>
                          <a:cs typeface="Cambria Math"/>
                        </a:rPr>
                        <m:t>𝑠</m:t>
                      </m:r>
                    </m:e>
                  </m:d>
                </m:oMath>
              </m:oMathPara>
            </a14:m>
            <a:r>
              <a:rPr>
                <a:latin typeface="+mn-ea"/>
                <a:ea typeface="+mn-ea"/>
                <a:cs typeface="+mn-ea"/>
              </a:rPr>
              <a:t>;Critic</a:t>
            </a:r>
            <a:r>
              <a:rPr>
                <a:latin typeface="+mn-ea"/>
                <a:ea typeface="+mn-ea"/>
                <a:cs typeface="+mn-ea"/>
              </a:rPr>
              <a:t>网络以机器人的状态作为输入，输出当前状态的状态值</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𝑉</m:t>
                  </m:r>
                  <m:d>
                    <m:dPr>
                      <m:grow m:val="off"/>
                    </m:dPr>
                    <m:e>
                      <m:r>
                        <a:rPr xmlns:a="http://schemas.openxmlformats.org/drawingml/2006/main" lang="en-US" b="0" i="1">
                          <a:latin typeface="Cambria Math"/>
                          <a:ea typeface="Cambria Math"/>
                          <a:cs typeface="Cambria Math"/>
                        </a:rPr>
                        <m:t>𝑠</m:t>
                      </m:r>
                    </m:e>
                  </m:d>
                </m:oMath>
              </m:oMathPara>
            </a14:m>
            <a:endParaRPr>
              <a:latin typeface="+mn-ea"/>
              <a:ea typeface="+mn-ea"/>
              <a:cs typeface="+mn-ea"/>
            </a:endParaRPr>
          </a:p>
        </p:txBody>
      </p:sp>
      <p:sp>
        <p:nvSpPr>
          <p:cNvPr id="19" name="文本框 18">
            <a:extLst xmlns:a="http://schemas.openxmlformats.org/drawingml/2006/main">
              <a:ext uri="{FF2B5EF4-FFF2-40B4-BE49-F238E27FC236}">
                <a16:creationId xmlns:a16="http://schemas.microsoft.com/office/drawing/2014/main" id="{FB1E13B5-7D57-2A28-C8E9-0CA8AE66FD01}"/>
              </a:ext>
            </a:extLst>
          </p:cNvPr>
          <p:cNvSpPr>
            <a:spLocks xmlns:a="http://schemas.openxmlformats.org/drawingml/2006/main" noGrp="1"/>
          </p:cNvSpPr>
          <p:nvPr/>
        </p:nvSpPr>
        <p:spPr>
          <a:xfrm xmlns:a="http://schemas.openxmlformats.org/drawingml/2006/main" rot="0" flipH="0" flipV="0">
            <a:off x="1143230" y="1813044"/>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none"/>
              <a:t>PPO</a:t>
            </a:r>
            <a:r>
              <a:rPr sz="1800" b="1" i="0" u="none"/>
              <a:t>算法</a:t>
            </a:r>
            <a:endParaRPr b="1"/>
          </a:p>
        </p:txBody>
      </p:sp>
      <p:sp>
        <p:nvSpPr>
          <p:cNvPr id="23" name="文本框 22">
            <a:extLst xmlns:a="http://schemas.openxmlformats.org/drawingml/2006/main">
              <a:ext uri="{FF2B5EF4-FFF2-40B4-BE49-F238E27FC236}">
                <a16:creationId xmlns:a16="http://schemas.microsoft.com/office/drawing/2014/main" id="{7343B9DD-D3B9-6C1B-8822-585D11A10343}"/>
              </a:ext>
            </a:extLst>
          </p:cNvPr>
          <p:cNvSpPr>
            <a:spLocks xmlns:a="http://schemas.openxmlformats.org/drawingml/2006/main" noGrp="1"/>
          </p:cNvSpPr>
          <p:nvPr/>
        </p:nvSpPr>
        <p:spPr>
          <a:xfrm xmlns:a="http://schemas.openxmlformats.org/drawingml/2006/main" rot="0" flipH="0" flipV="0">
            <a:off x="489147" y="2473733"/>
            <a:ext cx="5155383"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a:latin typeface="+mn-ea"/>
                <a:ea typeface="+mn-ea"/>
                <a:cs typeface="+mn-ea"/>
              </a:rPr>
              <a:t>PPO</a:t>
            </a:r>
            <a:r>
              <a:rPr sz="1800" b="0" i="0" u="none">
                <a:latin typeface="+mn-ea"/>
                <a:ea typeface="+mn-ea"/>
                <a:cs typeface="+mn-ea"/>
              </a:rPr>
              <a:t>（</a:t>
            </a:r>
            <a:r>
              <a:rPr sz="1800" b="0" i="0" u="none">
                <a:latin typeface="+mn-ea"/>
                <a:ea typeface="+mn-ea"/>
                <a:cs typeface="+mn-ea"/>
              </a:rPr>
              <a:t>Proximal Police Optimization</a:t>
            </a:r>
            <a:r>
              <a:rPr sz="1800" b="0" i="0" u="none">
                <a:latin typeface="+mn-ea"/>
                <a:ea typeface="+mn-ea"/>
                <a:cs typeface="+mn-ea"/>
              </a:rPr>
              <a:t>）算法是一种基于</a:t>
            </a:r>
            <a:r>
              <a:rPr b="1"/>
              <a:t>Actor-Critic</a:t>
            </a:r>
            <a:r>
              <a:rPr sz="1800" b="0" i="0" u="none">
                <a:latin typeface="+mn-ea"/>
                <a:ea typeface="+mn-ea"/>
                <a:cs typeface="+mn-ea"/>
              </a:rPr>
              <a:t>结构的随机性策略梯度方法，是置信域策略优化算法</a:t>
            </a:r>
            <a:r>
              <a:rPr sz="1800" b="0" i="0" u="none">
                <a:latin typeface="+mn-ea"/>
                <a:ea typeface="+mn-ea"/>
                <a:cs typeface="+mn-ea"/>
              </a:rPr>
              <a:t>TRPO</a:t>
            </a:r>
            <a:r>
              <a:rPr sz="1800" b="0" i="0" u="none">
                <a:latin typeface="+mn-ea"/>
                <a:ea typeface="+mn-ea"/>
                <a:cs typeface="+mn-ea"/>
              </a:rPr>
              <a:t>的优化算法，其</a:t>
            </a:r>
          </a:p>
          <a:p xmlns:a="http://schemas.openxmlformats.org/drawingml/2006/main">
            <a:r>
              <a:rPr sz="1800" b="0" i="0" u="none">
                <a:latin typeface="+mn-ea"/>
                <a:ea typeface="+mn-ea"/>
                <a:cs typeface="+mn-ea"/>
              </a:rPr>
              <a:t>训练稳定，有更好的样本复杂性。</a:t>
            </a:r>
            <a:endParaRPr>
              <a:latin typeface="+mn-ea"/>
              <a:ea typeface="+mn-ea"/>
              <a:cs typeface="+mn-ea"/>
            </a:endParaRPr>
          </a:p>
        </p:txBody>
      </p:sp>
      <p:sp>
        <p:nvSpPr>
          <p:cNvPr id="4" name="文本框 3">
            <a:extLst xmlns:a="http://schemas.openxmlformats.org/drawingml/2006/main">
              <a:ext uri="{FF2B5EF4-FFF2-40B4-BE49-F238E27FC236}">
                <a16:creationId xmlns:a16="http://schemas.microsoft.com/office/drawing/2014/main" id="{205F883D-71D0-4606-6E0C-D5AC62FA997C}"/>
              </a:ext>
            </a:extLst>
          </p:cNvPr>
          <p:cNvSpPr>
            <a:spLocks xmlns:a="http://schemas.openxmlformats.org/drawingml/2006/main" noGrp="1"/>
          </p:cNvSpPr>
          <p:nvPr/>
        </p:nvSpPr>
        <p:spPr>
          <a:xfrm xmlns:a="http://schemas.openxmlformats.org/drawingml/2006/main">
            <a:off x="6053015" y="2834030"/>
            <a:ext cx="5447442" cy="267259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a:latin typeface="+mn-ea"/>
                <a:ea typeface="+mn-ea"/>
                <a:cs typeface="+mn-ea"/>
              </a:rPr>
              <a:t>在 </a:t>
            </a:r>
            <a:r>
              <a:rPr sz="1800" b="0" i="0" u="none">
                <a:latin typeface="+mn-ea"/>
                <a:ea typeface="+mn-ea"/>
                <a:cs typeface="+mn-ea"/>
              </a:rPr>
              <a:t>TRPO </a:t>
            </a:r>
            <a:r>
              <a:rPr sz="1800" b="0" i="0" u="none">
                <a:latin typeface="+mn-ea"/>
                <a:ea typeface="+mn-ea"/>
                <a:cs typeface="+mn-ea"/>
              </a:rPr>
              <a:t>算法中，目标优化函数为：</a:t>
            </a:r>
            <a:endParaRPr sz="1800" b="0" i="0" u="none" baseline="0">
              <a:latin typeface="+mn-ea"/>
              <a:ea typeface="+mn-ea"/>
              <a:cs typeface="+mn-ea"/>
            </a:endParaRPr>
          </a:p>
          <a:p xmlns:a="http://schemas.openxmlformats.org/drawingml/2006/main">
            <a:pPr>
              <a:buNone/>
            </a:pP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𝐽</m:t>
                  </m:r>
                  <m:d>
                    <m:dPr>
                      <m:grow m:val="off"/>
                    </m:dPr>
                    <m:e>
                      <m:r>
                        <a:rPr xmlns:a="http://schemas.openxmlformats.org/drawingml/2006/main" lang="zh-CN" b="0" i="1">
                          <a:latin typeface="Cambria Math"/>
                          <a:ea typeface="Cambria Math"/>
                          <a:cs typeface="Cambria Math"/>
                        </a:rPr>
                        <m:t>𝜃</m:t>
                      </m:r>
                    </m:e>
                  </m:d>
                  <m:r>
                    <a:rPr xmlns:a="http://schemas.openxmlformats.org/drawingml/2006/main" lang="en-US" b="0" i="1">
                      <a:latin typeface="Cambria Math"/>
                      <a:ea typeface="Cambria Math"/>
                      <a:cs typeface="Cambria Math"/>
                    </a:rPr>
                    <m:t>=</m:t>
                  </m:r>
                  <m:sSup>
                    <m:e>
                      <m:r>
                        <a:rPr xmlns:a="http://schemas.openxmlformats.org/drawingml/2006/main" lang="en-US" b="0" i="1">
                          <a:latin typeface="Cambria Math"/>
                          <a:ea typeface="Cambria Math"/>
                          <a:cs typeface="Cambria Math"/>
                        </a:rPr>
                        <m:t>𝐽</m:t>
                      </m:r>
                    </m:e>
                    <m:sup>
                      <m:sSup>
                        <m:e>
                          <m:r>
                            <a:rPr xmlns:a="http://schemas.openxmlformats.org/drawingml/2006/main" lang="zh-CN" b="0" i="1">
                              <a:latin typeface="Cambria Math"/>
                              <a:ea typeface="Cambria Math"/>
                              <a:cs typeface="Cambria Math"/>
                            </a:rPr>
                            <m:t>𝜃</m:t>
                          </m:r>
                        </m:e>
                        <m:sup>
                          <m:r>
                            <a:rPr xmlns:a="http://schemas.openxmlformats.org/drawingml/2006/main" lang="en-US" b="0" i="1">
                              <a:latin typeface="Cambria Math"/>
                              <a:ea typeface="Cambria Math"/>
                              <a:cs typeface="Cambria Math"/>
                            </a:rPr>
                            <m:t>𝑘</m:t>
                          </m:r>
                        </m:sup>
                      </m:sSup>
                    </m:sup>
                  </m:sSup>
                  <m:d>
                    <m:dPr>
                      <m:grow m:val="off"/>
                    </m:dPr>
                    <m:e>
                      <m:r>
                        <a:rPr xmlns:a="http://schemas.openxmlformats.org/drawingml/2006/main" lang="zh-CN" b="0" i="1">
                          <a:latin typeface="Cambria Math"/>
                          <a:ea typeface="Cambria Math"/>
                          <a:cs typeface="Cambria Math"/>
                        </a:rPr>
                        <m:t>𝜃</m:t>
                      </m:r>
                    </m:e>
                  </m:d>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𝛽</m:t>
                  </m:r>
                  <m:r>
                    <a:rPr xmlns:a="http://schemas.openxmlformats.org/drawingml/2006/main" lang="en-US" b="0" i="1">
                      <a:latin typeface="Cambria Math"/>
                      <a:ea typeface="Cambria Math"/>
                      <a:cs typeface="Cambria Math"/>
                    </a:rPr>
                    <m:t>𝐾𝐿</m:t>
                  </m:r>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𝜃</m:t>
                  </m:r>
                  <m:r>
                    <a:rPr xmlns:a="http://schemas.openxmlformats.org/drawingml/2006/main" lang="en-US" b="0" i="1">
                      <a:latin typeface="Cambria Math"/>
                      <a:ea typeface="Cambria Math"/>
                      <a:cs typeface="Cambria Math"/>
                    </a:rPr>
                    <m:t>,</m:t>
                  </m:r>
                  <m:sSup>
                    <m:e>
                      <m:r>
                        <a:rPr xmlns:a="http://schemas.openxmlformats.org/drawingml/2006/main" lang="zh-CN" b="0" i="1">
                          <a:latin typeface="Cambria Math"/>
                          <a:ea typeface="Cambria Math"/>
                          <a:cs typeface="Cambria Math"/>
                        </a:rPr>
                        <m:t>𝜃</m:t>
                      </m:r>
                    </m:e>
                    <m:sup>
                      <m:r>
                        <a:rPr xmlns:a="http://schemas.openxmlformats.org/drawingml/2006/main" lang="en-US" b="0" i="1">
                          <a:latin typeface="Cambria Math"/>
                          <a:ea typeface="Cambria Math"/>
                          <a:cs typeface="Cambria Math"/>
                        </a:rPr>
                        <m:t>𝑘</m:t>
                      </m:r>
                    </m:sup>
                  </m:sSup>
                  <m:r>
                    <a:rPr xmlns:a="http://schemas.openxmlformats.org/drawingml/2006/main" lang="en-US" b="0" i="1">
                      <a:latin typeface="Cambria Math"/>
                      <a:ea typeface="Cambria Math"/>
                      <a:cs typeface="Cambria Math"/>
                    </a:rPr>
                    <m:t>)</m:t>
                  </m:r>
                </m:oMath>
              </m:oMathPara>
            </a14:m>
            <a:endParaRPr>
              <a:latin typeface="+mn-ea"/>
              <a:ea typeface="+mn-ea"/>
              <a:cs typeface="+mn-ea"/>
            </a:endParaRPr>
          </a:p>
          <a:p xmlns:a="http://schemas.openxmlformats.org/drawingml/2006/main">
            <a:r>
              <a:rPr>
                <a:latin typeface="+mn-ea"/>
                <a:ea typeface="+mn-ea"/>
                <a:cs typeface="+mn-ea"/>
              </a:rPr>
              <a:t>其中，</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𝐾𝐿</m:t>
                  </m:r>
                  <m:d>
                    <m:dPr>
                      <m:grow m:val="off"/>
                    </m:dPr>
                    <m:e>
                      <m:r>
                        <a:rPr xmlns:a="http://schemas.openxmlformats.org/drawingml/2006/main" lang="zh-CN" i="1">
                          <a:latin typeface="Cambria Math"/>
                          <a:ea typeface="Cambria Math"/>
                          <a:cs typeface="Cambria Math"/>
                        </a:rPr>
                        <m:t>𝜃</m:t>
                      </m:r>
                      <m:r>
                        <a:rPr xmlns:a="http://schemas.openxmlformats.org/drawingml/2006/main" lang="en-US" i="1">
                          <a:latin typeface="Cambria Math"/>
                          <a:ea typeface="Cambria Math"/>
                          <a:cs typeface="Cambria Math"/>
                        </a:rPr>
                        <m:t>,</m:t>
                      </m:r>
                      <m:sSup>
                        <m:e>
                          <m:r>
                            <a:rPr xmlns:a="http://schemas.openxmlformats.org/drawingml/2006/main" lang="zh-CN" i="1">
                              <a:latin typeface="Cambria Math"/>
                              <a:ea typeface="Cambria Math"/>
                              <a:cs typeface="Cambria Math"/>
                            </a:rPr>
                            <m:t>𝜃</m:t>
                          </m:r>
                        </m:e>
                        <m:sup>
                          <m:r>
                            <a:rPr xmlns:a="http://schemas.openxmlformats.org/drawingml/2006/main" lang="en-US" i="1">
                              <a:latin typeface="Cambria Math"/>
                              <a:ea typeface="Cambria Math"/>
                              <a:cs typeface="Cambria Math"/>
                            </a:rPr>
                            <m:t>𝑘</m:t>
                          </m:r>
                        </m:sup>
                      </m:sSup>
                    </m:e>
                  </m:d>
                  <m:r>
                    <a:rPr xmlns:a="http://schemas.openxmlformats.org/drawingml/2006/main" lang="zh-CN" i="1">
                      <a:latin typeface="Cambria Math"/>
                      <a:ea typeface="Cambria Math"/>
                      <a:cs typeface="Cambria Math"/>
                    </a:rPr>
                    <m:t>为</m:t>
                  </m:r>
                </m:oMath>
              </m:oMathPara>
            </a14:m>
            <a:r>
              <a:rPr>
                <a:latin typeface="+mn-ea"/>
                <a:ea typeface="+mn-ea"/>
                <a:cs typeface="+mn-ea"/>
              </a:rPr>
              <a:t>适应</a:t>
            </a:r>
            <a:r>
              <a:rPr>
                <a:latin typeface="+mn-ea"/>
                <a:ea typeface="+mn-ea"/>
                <a:cs typeface="+mn-ea"/>
              </a:rPr>
              <a:t>KL</a:t>
            </a:r>
            <a:r>
              <a:rPr>
                <a:latin typeface="+mn-ea"/>
                <a:ea typeface="+mn-ea"/>
                <a:cs typeface="+mn-ea"/>
              </a:rPr>
              <a:t>惩罚，这一项约束需要人为确定置信区间的超参数</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𝛿</m:t>
                  </m:r>
                </m:oMath>
              </m:oMathPara>
            </a14:m>
            <a:r>
              <a:rPr>
                <a:latin typeface="+mn-ea"/>
                <a:ea typeface="+mn-ea"/>
                <a:cs typeface="+mn-ea"/>
              </a:rPr>
              <a:t>，而</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𝛿</m:t>
                  </m:r>
                </m:oMath>
              </m:oMathPara>
            </a14:m>
            <a:r>
              <a:rPr>
                <a:latin typeface="+mn-ea"/>
                <a:ea typeface="+mn-ea"/>
                <a:cs typeface="+mn-ea"/>
              </a:rPr>
              <a:t>难以确定，通常通过计算二阶梯度来获得其近似值，当目标函数自变量维度较高时，较大的计算量影响网络的训练。为了简化</a:t>
            </a:r>
            <a:r>
              <a:rPr>
                <a:latin typeface="+mn-ea"/>
                <a:ea typeface="+mn-ea"/>
                <a:cs typeface="+mn-ea"/>
              </a:rPr>
              <a:t>TRPO </a:t>
            </a:r>
            <a:r>
              <a:rPr>
                <a:latin typeface="+mn-ea"/>
                <a:ea typeface="+mn-ea"/>
                <a:cs typeface="+mn-ea"/>
              </a:rPr>
              <a:t>的计算量，</a:t>
            </a:r>
            <a:r>
              <a:rPr>
                <a:latin typeface="+mn-ea"/>
                <a:ea typeface="+mn-ea"/>
                <a:cs typeface="+mn-ea"/>
              </a:rPr>
              <a:t>PPO </a:t>
            </a:r>
            <a:r>
              <a:rPr>
                <a:latin typeface="+mn-ea"/>
                <a:ea typeface="+mn-ea"/>
                <a:cs typeface="+mn-ea"/>
              </a:rPr>
              <a:t>算法将</a:t>
            </a:r>
            <a:r>
              <a:rPr>
                <a:latin typeface="+mn-ea"/>
                <a:ea typeface="+mn-ea"/>
                <a:cs typeface="+mn-ea"/>
              </a:rPr>
              <a:t>TRPO </a:t>
            </a:r>
            <a:r>
              <a:rPr>
                <a:latin typeface="+mn-ea"/>
                <a:ea typeface="+mn-ea"/>
                <a:cs typeface="+mn-ea"/>
              </a:rPr>
              <a:t>算法中的</a:t>
            </a:r>
            <a:r>
              <a:rPr>
                <a:latin typeface="+mn-ea"/>
                <a:ea typeface="+mn-ea"/>
                <a:cs typeface="+mn-ea"/>
              </a:rPr>
              <a:t>KL </a:t>
            </a:r>
            <a:r>
              <a:rPr>
                <a:latin typeface="+mn-ea"/>
                <a:ea typeface="+mn-ea"/>
                <a:cs typeface="+mn-ea"/>
              </a:rPr>
              <a:t>约束替换成截断目标函数：</a:t>
            </a:r>
            <a:endParaRPr>
              <a:latin typeface="+mn-ea"/>
              <a:ea typeface="+mn-ea"/>
              <a:cs typeface="+mn-ea"/>
            </a:endParaRPr>
          </a:p>
          <a:p xmlns:a="http://schemas.openxmlformats.org/drawingml/2006/main">
            <a:endParaRPr>
              <a:latin typeface="+mn-ea"/>
              <a:ea typeface="+mn-ea"/>
              <a:cs typeface="+mn-ea"/>
            </a:endParaRPr>
          </a:p>
        </p:txBody>
      </p:sp>
      <p:sp>
        <p:nvSpPr>
          <p:cNvPr id="6" name="文本框 5">
            <a:extLst xmlns:a="http://schemas.openxmlformats.org/drawingml/2006/main">
              <a:ext uri="{FF2B5EF4-FFF2-40B4-BE49-F238E27FC236}">
                <a16:creationId xmlns:a16="http://schemas.microsoft.com/office/drawing/2014/main" id="{F9265BB5-6B6B-9F39-1A71-843552AFF0DA}"/>
              </a:ext>
            </a:extLst>
          </p:cNvPr>
          <p:cNvSpPr>
            <a:spLocks xmlns:a="http://schemas.openxmlformats.org/drawingml/2006/main" noGrp="1"/>
          </p:cNvSpPr>
          <p:nvPr/>
        </p:nvSpPr>
        <p:spPr>
          <a:xfrm xmlns:a="http://schemas.openxmlformats.org/drawingml/2006/main">
            <a:off x="5729309" y="5225470"/>
            <a:ext cx="6094854" cy="40498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
                  <m:sSup>
                    <m:e>
                      <m:r>
                        <a:rPr xmlns:a="http://schemas.openxmlformats.org/drawingml/2006/main" lang="en-US" b="0" i="1">
                          <a:latin typeface="Cambria Math"/>
                          <a:ea typeface="Cambria Math"/>
                          <a:cs typeface="Cambria Math"/>
                        </a:rPr>
                        <m:t>𝐽</m:t>
                      </m:r>
                    </m:e>
                    <m:sup>
                      <m:r>
                        <a:rPr xmlns:a="http://schemas.openxmlformats.org/drawingml/2006/main" lang="en-US" b="0" i="1">
                          <a:latin typeface="Cambria Math"/>
                          <a:ea typeface="Cambria Math"/>
                          <a:cs typeface="Cambria Math"/>
                        </a:rPr>
                        <m:t>𝐶𝐿𝐼𝑃</m:t>
                      </m:r>
                    </m:sup>
                  </m:sSup>
                  <m:d>
                    <m:dPr>
                      <m:grow m:val="off"/>
                    </m:dPr>
                    <m:e>
                      <m:r>
                        <a:rPr xmlns:a="http://schemas.openxmlformats.org/drawingml/2006/main" lang="zh-CN" b="0" i="1">
                          <a:latin typeface="Cambria Math"/>
                          <a:ea typeface="Cambria Math"/>
                          <a:cs typeface="Cambria Math"/>
                        </a:rPr>
                        <m:t>𝜃</m:t>
                      </m:r>
                    </m:e>
                  </m:d>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𝐸</m:t>
                      </m:r>
                    </m:e>
                    <m:sub>
                      <m:r>
                        <a:rPr xmlns:a="http://schemas.openxmlformats.org/drawingml/2006/main" lang="en-US" b="0" i="1">
                          <a:latin typeface="Cambria Math"/>
                          <a:ea typeface="Cambria Math"/>
                          <a:cs typeface="Cambria Math"/>
                        </a:rPr>
                        <m:t>𝑡</m:t>
                      </m:r>
                    </m:sub>
                  </m:sSub>
                  <m:d>
                    <m:dPr>
                      <m:begChr m:val="["/>
                      <m:endChr m:val="]"/>
                      <m:grow m:val="off"/>
                    </m:dPr>
                    <m:e>
                      <m:r>
                        <a:rPr xmlns:a="http://schemas.openxmlformats.org/drawingml/2006/main" lang="en-US" b="0" i="0">
                          <a:latin typeface="Cambria Math"/>
                          <a:ea typeface="Cambria Math"/>
                          <a:cs typeface="Cambria Math"/>
                        </a:rPr>
                        <m:t>min</m:t>
                      </m:r>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𝑟</m:t>
                          </m:r>
                        </m:e>
                        <m:sub>
                          <m:r>
                            <a:rPr xmlns:a="http://schemas.openxmlformats.org/drawingml/2006/main" lang="en-US" i="1">
                              <a:latin typeface="Cambria Math"/>
                              <a:ea typeface="Cambria Math"/>
                              <a:cs typeface="Cambria Math"/>
                            </a:rPr>
                            <m:t>𝑡</m:t>
                          </m:r>
                        </m:sub>
                      </m:sSub>
                      <m:d>
                        <m:dPr>
                          <m:grow m:val="off"/>
                        </m:dPr>
                        <m:e>
                          <m:r>
                            <a:rPr xmlns:a="http://schemas.openxmlformats.org/drawingml/2006/main" lang="zh-CN" i="1">
                              <a:latin typeface="Cambria Math"/>
                              <a:ea typeface="Cambria Math"/>
                              <a:cs typeface="Cambria Math"/>
                            </a:rPr>
                            <m:t>𝜃</m:t>
                          </m:r>
                        </m:e>
                      </m:d>
                      <m:sSub>
                        <m:e>
                          <m:acc>
                            <m:accPr>
                              <m:chr m:val="̂"/>
                            </m:accPr>
                            <m:e>
                              <m:r>
                                <a:rPr xmlns:a="http://schemas.openxmlformats.org/drawingml/2006/main" lang="en-US" i="1">
                                  <a:latin typeface="Cambria Math"/>
                                  <a:ea typeface="Cambria Math"/>
                                  <a:cs typeface="Cambria Math"/>
                                </a:rPr>
                                <m:t>𝐴</m:t>
                              </m:r>
                            </m:e>
                          </m:acc>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𝑐𝑙𝑖𝑝</m:t>
                      </m:r>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sub>
                      </m:sSub>
                      <m:d>
                        <m:dPr>
                          <m:grow m:val="off"/>
                        </m:dPr>
                        <m:e>
                          <m:r>
                            <a:rPr xmlns:a="http://schemas.openxmlformats.org/drawingml/2006/main" lang="zh-CN" b="0" i="1">
                              <a:latin typeface="Cambria Math"/>
                              <a:ea typeface="Cambria Math"/>
                              <a:cs typeface="Cambria Math"/>
                            </a:rPr>
                            <m:t>𝜃</m:t>
                          </m:r>
                        </m:e>
                      </m:d>
                      <m:r>
                        <a:rPr xmlns:a="http://schemas.openxmlformats.org/drawingml/2006/main" lang="en-US" b="0" i="1">
                          <a:latin typeface="Cambria Math"/>
                          <a:ea typeface="Cambria Math"/>
                          <a:cs typeface="Cambria Math"/>
                        </a:rPr>
                        <m:t>,1−</m:t>
                      </m:r>
                      <m:acc>
                        <m:accPr>
                          <m:chr m:val="̀"/>
                        </m:accPr>
                        <m:e>
                          <m:r>
                            <a:rPr xmlns:a="http://schemas.openxmlformats.org/drawingml/2006/main" lang="en-US" b="0" i="1">
                              <a:latin typeface="Cambria Math"/>
                              <a:ea typeface="Cambria Math"/>
                              <a:cs typeface="Cambria Math"/>
                            </a:rPr>
                            <m:t>𝑜</m:t>
                          </m:r>
                        </m:e>
                      </m:acc>
                      <m:r>
                        <a:rPr xmlns:a="http://schemas.openxmlformats.org/drawingml/2006/main" lang="en-US" b="0" i="1">
                          <a:latin typeface="Cambria Math"/>
                          <a:ea typeface="Cambria Math"/>
                          <a:cs typeface="Cambria Math"/>
                        </a:rPr>
                        <m:t>,1+</m:t>
                      </m:r>
                      <m:r>
                        <a:rPr xmlns:a="http://schemas.openxmlformats.org/drawingml/2006/main" lang="zh-CN" b="0" i="1">
                          <a:latin typeface="Cambria Math"/>
                          <a:ea typeface="Cambria Math"/>
                          <a:cs typeface="Cambria Math"/>
                        </a:rPr>
                        <m:t>𝜀</m:t>
                      </m:r>
                      <m:r>
                        <a:rPr xmlns:a="http://schemas.openxmlformats.org/drawingml/2006/main" lang="en-US" b="0" i="1">
                          <a:latin typeface="Cambria Math"/>
                          <a:ea typeface="Cambria Math"/>
                          <a:cs typeface="Cambria Math"/>
                        </a:rPr>
                        <m:t>)</m:t>
                      </m:r>
                      <m:sSub>
                        <m:e>
                          <m:acc>
                            <m:accPr>
                              <m:chr m:val="̂"/>
                            </m:accPr>
                            <m:e>
                              <m:r>
                                <a:rPr xmlns:a="http://schemas.openxmlformats.org/drawingml/2006/main" lang="en-US" i="1">
                                  <a:latin typeface="Cambria Math"/>
                                  <a:ea typeface="Cambria Math"/>
                                  <a:cs typeface="Cambria Math"/>
                                </a:rPr>
                                <m:t>𝐴</m:t>
                              </m:r>
                            </m:e>
                          </m:acc>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e>
                  </m:d>
                </m:oMath>
              </m:oMathPara>
            </a14:m>
            <a:endParaRPr/>
          </a:p>
        </p:txBody>
      </p:sp>
      <p:sp>
        <p:nvSpPr>
          <p:cNvPr id="7" name="文本框 6">
            <a:extLst xmlns:a="http://schemas.openxmlformats.org/drawingml/2006/main">
              <a:ext uri="{FF2B5EF4-FFF2-40B4-BE49-F238E27FC236}">
                <a16:creationId xmlns:a16="http://schemas.microsoft.com/office/drawing/2014/main" id="{358B7C5F-EB5F-5232-E566-F40300E65C12}"/>
              </a:ext>
            </a:extLst>
          </p:cNvPr>
          <p:cNvSpPr>
            <a:spLocks xmlns:a="http://schemas.openxmlformats.org/drawingml/2006/main" noGrp="1"/>
          </p:cNvSpPr>
          <p:nvPr/>
        </p:nvSpPr>
        <p:spPr>
          <a:xfrm xmlns:a="http://schemas.openxmlformats.org/drawingml/2006/main">
            <a:off x="5952767" y="5712596"/>
            <a:ext cx="5361474" cy="111460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其中</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𝑟</m:t>
                      </m:r>
                    </m:e>
                    <m:sub>
                      <m:r>
                        <a:rPr xmlns:a="http://schemas.openxmlformats.org/drawingml/2006/main" lang="en-US" b="0" i="1">
                          <a:latin typeface="Cambria Math"/>
                          <a:ea typeface="Cambria Math"/>
                          <a:cs typeface="Cambria Math"/>
                        </a:rPr>
                        <m:t>𝑡</m:t>
                      </m:r>
                    </m:sub>
                  </m:sSub>
                  <m:d>
                    <m:dPr>
                      <m:grow m:val="off"/>
                    </m:dPr>
                    <m:e>
                      <m:r>
                        <a:rPr xmlns:a="http://schemas.openxmlformats.org/drawingml/2006/main" lang="zh-CN" b="0" i="1">
                          <a:latin typeface="Cambria Math"/>
                          <a:ea typeface="Cambria Math"/>
                          <a:cs typeface="Cambria Math"/>
                        </a:rPr>
                        <m:t>𝜃</m:t>
                      </m:r>
                    </m:e>
                  </m:d>
                  <m:r>
                    <a:rPr xmlns:a="http://schemas.openxmlformats.org/drawingml/2006/main" lang="en-US" b="0" i="1">
                      <a:latin typeface="Cambria Math"/>
                      <a:ea typeface="Cambria Math"/>
                      <a:cs typeface="Cambria Math"/>
                    </a:rPr>
                    <m:t>=</m:t>
                  </m:r>
                  <m:f>
                    <m:num>
                      <m:sSub>
                        <m:e>
                          <m:r>
                            <a:rPr xmlns:a="http://schemas.openxmlformats.org/drawingml/2006/main" lang="en-US" b="0" i="1">
                              <a:latin typeface="Cambria Math"/>
                              <a:ea typeface="Cambria Math"/>
                              <a:cs typeface="Cambria Math"/>
                            </a:rPr>
                            <m:t>𝑃</m:t>
                          </m:r>
                        </m:e>
                        <m:sub>
                          <m:r>
                            <a:rPr xmlns:a="http://schemas.openxmlformats.org/drawingml/2006/main" lang="zh-CN" b="0" i="1">
                              <a:latin typeface="Cambria Math"/>
                              <a:ea typeface="Cambria Math"/>
                              <a:cs typeface="Cambria Math"/>
                            </a:rPr>
                            <m:t>𝜃</m:t>
                          </m:r>
                        </m:sub>
                      </m:sSub>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num>
                    <m:den>
                      <m:sSub>
                        <m:e>
                          <m:r>
                            <a:rPr xmlns:a="http://schemas.openxmlformats.org/drawingml/2006/main" lang="en-US" b="0" i="1">
                              <a:latin typeface="Cambria Math"/>
                              <a:ea typeface="Cambria Math"/>
                              <a:cs typeface="Cambria Math"/>
                            </a:rPr>
                            <m:t>𝑃</m:t>
                          </m:r>
                        </m:e>
                        <m:sub>
                          <m:sSup>
                            <m:e>
                              <m:r>
                                <a:rPr xmlns:a="http://schemas.openxmlformats.org/drawingml/2006/main" lang="zh-CN" b="0" i="1">
                                  <a:latin typeface="Cambria Math"/>
                                  <a:ea typeface="Cambria Math"/>
                                  <a:cs typeface="Cambria Math"/>
                                </a:rPr>
                                <m:t>𝜃</m:t>
                              </m:r>
                            </m:e>
                            <m:sup>
                              <m:r>
                                <a:rPr xmlns:a="http://schemas.openxmlformats.org/drawingml/2006/main" lang="en-US" b="0" i="1">
                                  <a:latin typeface="Cambria Math"/>
                                  <a:ea typeface="Cambria Math"/>
                                  <a:cs typeface="Cambria Math"/>
                                </a:rPr>
                                <m:t>′</m:t>
                              </m:r>
                            </m:sup>
                          </m:sSup>
                        </m:sub>
                      </m:sSub>
                      <m:r>
                        <a:rPr xmlns:a="http://schemas.openxmlformats.org/drawingml/2006/main" lang="en-US" i="1">
                          <a:latin typeface="Cambria Math"/>
                          <a:ea typeface="Cambria Math"/>
                          <a:cs typeface="Cambria Math"/>
                        </a:rPr>
                        <m:t xml:space="preserve"> </m:t>
                      </m:r>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den>
                  </m:f>
                </m:oMath>
              </m:oMathPara>
            </a14:m>
            <a:r>
              <a:t>, </a:t>
            </a:r>
            <a14:m xmlns:a14="http://schemas.microsoft.com/office/drawing/2010/main">
              <m:oMathPara xmlns:m="http://schemas.openxmlformats.org/officeDocument/2006/math">
                <m:oMath>
                  <m:sSub>
                    <m:e>
                      <m:r>
                        <a:rPr xmlns:a="http://schemas.openxmlformats.org/drawingml/2006/main" lang="en-US" i="1">
                          <a:latin typeface="Cambria Math"/>
                          <a:ea typeface="Cambria Math"/>
                          <a:cs typeface="Cambria Math"/>
                        </a:rPr>
                        <m:t>𝑃</m:t>
                      </m:r>
                    </m:e>
                    <m:sub>
                      <m:sSup>
                        <m:e>
                          <m:r>
                            <a:rPr xmlns:a="http://schemas.openxmlformats.org/drawingml/2006/main" lang="zh-CN" i="1">
                              <a:latin typeface="Cambria Math"/>
                              <a:ea typeface="Cambria Math"/>
                              <a:cs typeface="Cambria Math"/>
                            </a:rPr>
                            <m:t>𝜃</m:t>
                          </m:r>
                        </m:e>
                        <m:sup>
                          <m:r>
                            <a:rPr xmlns:a="http://schemas.openxmlformats.org/drawingml/2006/main" lang="en-US" i="1">
                              <a:latin typeface="Cambria Math"/>
                              <a:ea typeface="Cambria Math"/>
                              <a:cs typeface="Cambria Math"/>
                            </a:rPr>
                            <m:t>′</m:t>
                          </m:r>
                        </m:sup>
                      </m:sSup>
                    </m:sub>
                  </m:sSub>
                  <m:r>
                    <a:rPr xmlns:a="http://schemas.openxmlformats.org/drawingml/2006/main" lang="en-US" i="1">
                      <a:latin typeface="Cambria Math"/>
                      <a:ea typeface="Cambria Math"/>
                      <a:cs typeface="Cambria Math"/>
                    </a:rPr>
                    <m:t xml:space="preserve"> (</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oMath>
              </m:oMathPara>
            </a14:m>
            <a:r>
              <a:t>为前一次迭代的动作概率分布参数</a:t>
            </a:r>
            <a:r>
              <a:t>, </a:t>
            </a:r>
            <a14:m xmlns:a14="http://schemas.microsoft.com/office/drawing/2010/main">
              <m:oMathPara xmlns:m="http://schemas.openxmlformats.org/officeDocument/2006/math">
                <m:oMath>
                  <m:acc>
                    <m:accPr>
                      <m:chr m:val="̀"/>
                    </m:accPr>
                    <m:e>
                      <m:r>
                        <a:rPr xmlns:a="http://schemas.openxmlformats.org/drawingml/2006/main" lang="en-US" i="1">
                          <a:latin typeface="Cambria Math"/>
                          <a:ea typeface="Cambria Math"/>
                          <a:cs typeface="Cambria Math"/>
                        </a:rPr>
                        <m:t>𝑜</m:t>
                      </m:r>
                    </m:e>
                  </m:acc>
                </m:oMath>
              </m:oMathPara>
            </a14:m>
            <a:r>
              <a:t>为超参数</a:t>
            </a:r>
            <a:endParaRPr/>
          </a:p>
          <a:p xmlns:a="http://schemas.openxmlformats.org/drawingml/2006/main">
            <a:endParaRPr/>
          </a:p>
        </p:txBody>
      </p:sp>
    </p:spTree>
    <p:extLst>
      <p:ext uri="{BB962C8B-B14F-4D97-AF65-F5344CB8AC3E}">
        <p14:creationId xmlns:p14="http://schemas.microsoft.com/office/powerpoint/2010/main" val="871192886"/>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3AB2B9DE-1A1E-7E7C-DB13-F2943FB9852A}"/>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A5F03F2A-EDE0-28ED-B4E3-D87E286F5CAD}"/>
              </a:ext>
            </a:extLst>
          </p:cNvPr>
          <p:cNvSpPr>
            <a:spLocks xmlns:a="http://schemas.openxmlformats.org/drawingml/2006/main" noGrp="1"/>
          </p:cNvSpPr>
          <p:nvPr/>
        </p:nvSpPr>
        <p:spPr>
          <a:xfrm xmlns:a="http://schemas.openxmlformats.org/drawingml/2006/main" rot="0" flipH="0" flipV="0">
            <a:off x="270932" y="1021703"/>
            <a:ext cx="5825067"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5.4.2 </a:t>
            </a:r>
            <a:r>
              <a:rPr sz="2400" b="1">
                <a:solidFill>
                  <a:schemeClr val="accent1"/>
                </a:solidFill>
              </a:rPr>
              <a:t>基于策略梯度的强化学习导航</a:t>
            </a:r>
          </a:p>
          <a:p xmlns:a="http://schemas.openxmlformats.org/drawingml/2006/main">
            <a:endParaRPr sz="2400" b="1">
              <a:solidFill>
                <a:schemeClr val="accent1"/>
              </a:solidFill>
              <a:latin typeface="+mj-lt"/>
              <a:ea typeface="+mj-lt"/>
              <a:cs typeface="+mj-lt"/>
            </a:endParaRPr>
          </a:p>
        </p:txBody>
      </p:sp>
      <p:sp>
        <p:nvSpPr>
          <p:cNvPr id="19" name="文本框 18">
            <a:extLst xmlns:a="http://schemas.openxmlformats.org/drawingml/2006/main">
              <a:ext uri="{FF2B5EF4-FFF2-40B4-BE49-F238E27FC236}">
                <a16:creationId xmlns:a16="http://schemas.microsoft.com/office/drawing/2014/main" id="{F2CF1D53-0CE5-D7C4-A205-4BCFCD6CFE71}"/>
              </a:ext>
            </a:extLst>
          </p:cNvPr>
          <p:cNvSpPr>
            <a:spLocks xmlns:a="http://schemas.openxmlformats.org/drawingml/2006/main" noGrp="1"/>
          </p:cNvSpPr>
          <p:nvPr/>
        </p:nvSpPr>
        <p:spPr>
          <a:xfrm xmlns:a="http://schemas.openxmlformats.org/drawingml/2006/main" rot="0" flipH="0" flipV="0">
            <a:off x="1143230" y="1813044"/>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DPG</a:t>
            </a:r>
            <a:r>
              <a:rPr sz="1800" b="1" i="0" u="none"/>
              <a:t>算法</a:t>
            </a:r>
            <a:endParaRPr b="1"/>
          </a:p>
        </p:txBody>
      </p:sp>
      <p:sp>
        <p:nvSpPr>
          <p:cNvPr id="23" name="文本框 22">
            <a:extLst xmlns:a="http://schemas.openxmlformats.org/drawingml/2006/main">
              <a:ext uri="{FF2B5EF4-FFF2-40B4-BE49-F238E27FC236}">
                <a16:creationId xmlns:a16="http://schemas.microsoft.com/office/drawing/2014/main" id="{A1E2C50A-5279-5F66-D7B0-0F8DB6ECE59A}"/>
              </a:ext>
            </a:extLst>
          </p:cNvPr>
          <p:cNvSpPr>
            <a:spLocks xmlns:a="http://schemas.openxmlformats.org/drawingml/2006/main" noGrp="1"/>
          </p:cNvSpPr>
          <p:nvPr/>
        </p:nvSpPr>
        <p:spPr>
          <a:xfrm xmlns:a="http://schemas.openxmlformats.org/drawingml/2006/main" rot="0" flipH="0" flipV="0">
            <a:off x="489147" y="2473733"/>
            <a:ext cx="5155383"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DPG</a:t>
            </a:r>
            <a:r>
              <a:rPr sz="1800" b="0" i="0" u="none">
                <a:latin typeface="+mn-ea"/>
                <a:ea typeface="+mn-ea"/>
                <a:cs typeface="+mn-ea"/>
              </a:rPr>
              <a:t>（</a:t>
            </a:r>
            <a:r>
              <a:rPr sz="1800" b="0" i="0" u="none">
                <a:latin typeface="+mn-ea"/>
                <a:ea typeface="+mn-ea"/>
                <a:cs typeface="+mn-ea"/>
              </a:rPr>
              <a:t>Deterministic Police Gradient</a:t>
            </a:r>
            <a:r>
              <a:rPr sz="1800" b="0" i="0" u="none">
                <a:latin typeface="+mn-ea"/>
                <a:ea typeface="+mn-ea"/>
                <a:cs typeface="+mn-ea"/>
              </a:rPr>
              <a:t>）是同样基于</a:t>
            </a:r>
            <a:r>
              <a:rPr b="1"/>
              <a:t>Actor-Critic</a:t>
            </a:r>
            <a:r>
              <a:rPr sz="1800" b="0" i="0" u="none">
                <a:latin typeface="+mn-ea"/>
                <a:ea typeface="+mn-ea"/>
                <a:cs typeface="+mn-ea"/>
              </a:rPr>
              <a:t>结构的确定性策略梯度方法，其策略网络只输出一个确定动作</a:t>
            </a:r>
            <a:endParaRPr sz="1800" b="0" i="0" u="none" baseline="0">
              <a:latin typeface="+mn-ea"/>
              <a:ea typeface="+mn-ea"/>
              <a:cs typeface="+mn-ea"/>
            </a:endParaRPr>
          </a:p>
        </p:txBody>
      </p:sp>
      <p:sp>
        <p:nvSpPr>
          <p:cNvPr id="5" name="文本框 4">
            <a:extLst xmlns:a="http://schemas.openxmlformats.org/drawingml/2006/main">
              <a:ext uri="{FF2B5EF4-FFF2-40B4-BE49-F238E27FC236}">
                <a16:creationId xmlns:a16="http://schemas.microsoft.com/office/drawing/2014/main" id="{D0377575-BE18-AE55-3E63-9CD7EDC43E1F}"/>
              </a:ext>
            </a:extLst>
          </p:cNvPr>
          <p:cNvSpPr>
            <a:spLocks xmlns:a="http://schemas.openxmlformats.org/drawingml/2006/main" noGrp="1"/>
          </p:cNvSpPr>
          <p:nvPr/>
        </p:nvSpPr>
        <p:spPr>
          <a:xfrm xmlns:a="http://schemas.openxmlformats.org/drawingml/2006/main">
            <a:off x="489146" y="3911793"/>
            <a:ext cx="5155383"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，随机性策略可以建模为</a:t>
            </a:r>
            <a14:m xmlns:a14="http://schemas.microsoft.com/office/drawing/2010/main">
              <m:oMathPara xmlns:m="http://schemas.openxmlformats.org/officeDocument/2006/math">
                <m:oMath>
                  <m:sSub>
                    <m:e>
                      <m:r>
                        <a:rPr xmlns:a="http://schemas.openxmlformats.org/drawingml/2006/main" lang="zh-CN" i="1">
                          <a:latin typeface="Cambria Math"/>
                          <a:ea typeface="Cambria Math"/>
                          <a:cs typeface="Cambria Math"/>
                        </a:rPr>
                        <m:t>𝜋</m:t>
                      </m:r>
                    </m:e>
                    <m:sub>
                      <m:r>
                        <a:rPr xmlns:a="http://schemas.openxmlformats.org/drawingml/2006/main" lang="zh-CN" i="1">
                          <a:latin typeface="Cambria Math"/>
                          <a:ea typeface="Cambria Math"/>
                          <a:cs typeface="Cambria Math"/>
                        </a:rPr>
                        <m:t>𝜃</m:t>
                      </m:r>
                    </m:sub>
                  </m:sSub>
                  <m:d>
                    <m:dPr>
                      <m:grow m:val="off"/>
                    </m:dPr>
                    <m:e>
                      <m:r>
                        <a:rPr xmlns:a="http://schemas.openxmlformats.org/drawingml/2006/main" lang="en-US" b="0" i="1">
                          <a:latin typeface="Cambria Math"/>
                          <a:ea typeface="Cambria Math"/>
                          <a:cs typeface="Cambria Math"/>
                        </a:rPr>
                        <m:t>𝑎</m:t>
                      </m:r>
                    </m:e>
                    <m:e>
                      <m:r>
                        <a:rPr xmlns:a="http://schemas.openxmlformats.org/drawingml/2006/main" lang="en-US" b="0" i="1">
                          <a:latin typeface="Cambria Math"/>
                          <a:ea typeface="Cambria Math"/>
                          <a:cs typeface="Cambria Math"/>
                        </a:rPr>
                        <m:t>𝑠</m:t>
                      </m:r>
                    </m:e>
                  </m:d>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𝑃</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𝜃</m:t>
                  </m:r>
                  <m:r>
                    <a:rPr xmlns:a="http://schemas.openxmlformats.org/drawingml/2006/main" lang="en-US" b="0" i="1">
                      <a:latin typeface="Cambria Math"/>
                      <a:ea typeface="Cambria Math"/>
                      <a:cs typeface="Cambria Math"/>
                    </a:rPr>
                    <m:t>)</m:t>
                  </m:r>
                  <m:r>
                    <a:rPr xmlns:a="http://schemas.openxmlformats.org/drawingml/2006/main" lang="zh-CN" i="1">
                      <a:latin typeface="Cambria Math"/>
                      <a:ea typeface="Cambria Math"/>
                      <a:cs typeface="Cambria Math"/>
                    </a:rPr>
                    <m:t>，</m:t>
                  </m:r>
                </m:oMath>
              </m:oMathPara>
            </a14:m>
            <a:r>
              <a:rPr>
                <a:latin typeface="+mn-ea"/>
                <a:ea typeface="+mn-ea"/>
                <a:cs typeface="+mn-ea"/>
              </a:rPr>
              <a:t>而确定性策略建模为</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sSub>
                    <m:e>
                      <m:r>
                        <a:rPr xmlns:a="http://schemas.openxmlformats.org/drawingml/2006/main" lang="zh-CN" b="0" i="1">
                          <a:latin typeface="Cambria Math"/>
                          <a:ea typeface="Cambria Math"/>
                          <a:cs typeface="Cambria Math"/>
                        </a:rPr>
                        <m:t>𝜇</m:t>
                      </m:r>
                    </m:e>
                    <m:sub>
                      <m:r>
                        <a:rPr xmlns:a="http://schemas.openxmlformats.org/drawingml/2006/main" lang="zh-CN" b="0" i="1">
                          <a:latin typeface="Cambria Math"/>
                          <a:ea typeface="Cambria Math"/>
                          <a:cs typeface="Cambria Math"/>
                        </a:rPr>
                        <m:t>𝜃</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oMath>
              </m:oMathPara>
            </a14:m>
            <a:endParaRPr sz="1800" b="0" i="0" u="none" baseline="0">
              <a:latin typeface="+mn-ea"/>
              <a:ea typeface="+mn-ea"/>
              <a:cs typeface="+mn-ea"/>
            </a:endParaRPr>
          </a:p>
        </p:txBody>
      </p:sp>
      <p:sp>
        <p:nvSpPr>
          <p:cNvPr id="9" name="文本框 8">
            <a:extLst xmlns:a="http://schemas.openxmlformats.org/drawingml/2006/main">
              <a:ext uri="{FF2B5EF4-FFF2-40B4-BE49-F238E27FC236}">
                <a16:creationId xmlns:a16="http://schemas.microsoft.com/office/drawing/2014/main" id="{E20DD2F1-3DB2-28DA-5D9A-909711146B7B}"/>
              </a:ext>
            </a:extLst>
          </p:cNvPr>
          <p:cNvSpPr>
            <a:spLocks xmlns:a="http://schemas.openxmlformats.org/drawingml/2006/main" noGrp="1"/>
          </p:cNvSpPr>
          <p:nvPr/>
        </p:nvSpPr>
        <p:spPr>
          <a:xfrm xmlns:a="http://schemas.openxmlformats.org/drawingml/2006/main">
            <a:off x="5900630" y="2182376"/>
            <a:ext cx="6094854" cy="31393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lgn="l">
              <a:buFont typeface="Arial"/>
              <a:buChar char="•"/>
            </a:pPr>
            <a:r>
              <a:rPr sz="1800" b="0" i="0" u="none">
                <a:latin typeface="+mn-ea"/>
                <a:ea typeface="+mn-ea"/>
                <a:cs typeface="+mn-ea"/>
              </a:rPr>
              <a:t>在实际机器人导航应用中，基于随机性策略的强化学习方法，需要</a:t>
            </a:r>
            <a:r>
              <a:rPr sz="1800" b="1" i="0" u="none">
                <a:latin typeface="+mn-ea"/>
                <a:ea typeface="+mn-ea"/>
                <a:cs typeface="+mn-ea"/>
              </a:rPr>
              <a:t>策略梯度同时对状态和动作积分</a:t>
            </a:r>
            <a:r>
              <a:rPr>
                <a:latin typeface="+mn-ea"/>
                <a:ea typeface="+mn-ea"/>
                <a:cs typeface="+mn-ea"/>
              </a:rPr>
              <a:t>；</a:t>
            </a:r>
            <a:endParaRPr>
              <a:latin typeface="+mn-ea"/>
              <a:ea typeface="+mn-ea"/>
              <a:cs typeface="+mn-ea"/>
            </a:endParaRPr>
          </a:p>
          <a:p xmlns:a="http://schemas.openxmlformats.org/drawingml/2006/main">
            <a:pPr marL="285750" indent="-285750" algn="l">
              <a:buFont typeface="Arial"/>
              <a:buChar char="•"/>
            </a:pPr>
            <a:r>
              <a:rPr sz="1800" b="0" i="0" u="none">
                <a:latin typeface="+mn-ea"/>
                <a:ea typeface="+mn-ea"/>
                <a:cs typeface="+mn-ea"/>
              </a:rPr>
              <a:t>而基于确定性策略的强化学习方法往往只需要</a:t>
            </a:r>
            <a:r>
              <a:rPr sz="1800" b="1" i="0" u="none">
                <a:latin typeface="+mn-ea"/>
                <a:ea typeface="+mn-ea"/>
                <a:cs typeface="+mn-ea"/>
              </a:rPr>
              <a:t>对状态积分</a:t>
            </a:r>
            <a:r>
              <a:rPr sz="1800" b="0" i="0" u="none">
                <a:latin typeface="+mn-ea"/>
                <a:ea typeface="+mn-ea"/>
                <a:cs typeface="+mn-ea"/>
              </a:rPr>
              <a:t>，在面对高维动作空间的时候，基于确定性策略的学习方法更加容易训练。</a:t>
            </a:r>
            <a:endParaRPr sz="1800" b="0" i="0" u="none" baseline="0">
              <a:latin typeface="+mn-ea"/>
              <a:ea typeface="+mn-ea"/>
              <a:cs typeface="+mn-ea"/>
            </a:endParaRPr>
          </a:p>
          <a:p xmlns:a="http://schemas.openxmlformats.org/drawingml/2006/main">
            <a:pPr marL="285750" indent="-285750" algn="l">
              <a:buFont typeface="Arial"/>
              <a:buChar char="•"/>
            </a:pPr>
            <a:r>
              <a:rPr sz="1800" b="0" i="0" u="none">
                <a:latin typeface="+mn-ea"/>
                <a:ea typeface="+mn-ea"/>
                <a:cs typeface="+mn-ea"/>
              </a:rPr>
              <a:t>但是由于确定性策略的特点，动作选择会只对应到一个状态，导致机器人在导航环境里探索力度不足。所以</a:t>
            </a:r>
            <a:r>
              <a:rPr sz="1800" b="0" i="0" u="none">
                <a:latin typeface="+mn-ea"/>
                <a:ea typeface="+mn-ea"/>
                <a:cs typeface="+mn-ea"/>
              </a:rPr>
              <a:t>DPG </a:t>
            </a:r>
            <a:r>
              <a:rPr sz="1800" b="0" i="0" u="none">
                <a:latin typeface="+mn-ea"/>
                <a:ea typeface="+mn-ea"/>
                <a:cs typeface="+mn-ea"/>
              </a:rPr>
              <a:t>算法在此基础上进行了</a:t>
            </a:r>
            <a:r>
              <a:rPr sz="1800" b="0" i="0" u="none">
                <a:latin typeface="+mn-ea"/>
                <a:ea typeface="+mn-ea"/>
                <a:cs typeface="+mn-ea"/>
              </a:rPr>
              <a:t>off-police </a:t>
            </a:r>
            <a:r>
              <a:rPr sz="1800" b="0" i="0" u="none">
                <a:latin typeface="+mn-ea"/>
                <a:ea typeface="+mn-ea"/>
                <a:cs typeface="+mn-ea"/>
              </a:rPr>
              <a:t>的改进，使用随机性行为策略（</a:t>
            </a:r>
            <a:r>
              <a:rPr sz="1800" b="0" i="0" u="none">
                <a:latin typeface="+mn-ea"/>
                <a:ea typeface="+mn-ea"/>
                <a:cs typeface="+mn-ea"/>
              </a:rPr>
              <a:t>Stochastic </a:t>
            </a:r>
            <a:r>
              <a:rPr sz="1800" b="0" i="0" u="none">
                <a:latin typeface="+mn-ea"/>
                <a:ea typeface="+mn-ea"/>
                <a:cs typeface="+mn-ea"/>
              </a:rPr>
              <a:t>Behaviour</a:t>
            </a:r>
            <a:r>
              <a:rPr sz="1800" b="0" i="0" u="none">
                <a:latin typeface="+mn-ea"/>
                <a:ea typeface="+mn-ea"/>
                <a:cs typeface="+mn-ea"/>
              </a:rPr>
              <a:t> Police</a:t>
            </a:r>
            <a:r>
              <a:rPr sz="1800" b="0" i="0" u="none">
                <a:latin typeface="+mn-ea"/>
                <a:ea typeface="+mn-ea"/>
                <a:cs typeface="+mn-ea"/>
              </a:rPr>
              <a:t>）负责探索，确定性目标策略负责学习（</a:t>
            </a:r>
            <a:r>
              <a:rPr sz="1800" b="0" i="0" u="none">
                <a:latin typeface="+mn-ea"/>
                <a:ea typeface="+mn-ea"/>
                <a:cs typeface="+mn-ea"/>
              </a:rPr>
              <a:t>Deterministic Target Police</a:t>
            </a:r>
            <a:r>
              <a:rPr sz="1800" b="0" i="0" u="none">
                <a:latin typeface="+mn-ea"/>
                <a:ea typeface="+mn-ea"/>
                <a:cs typeface="+mn-ea"/>
              </a:rPr>
              <a:t>）</a:t>
            </a:r>
            <a:endParaRPr>
              <a:latin typeface="+mn-ea"/>
              <a:ea typeface="+mn-ea"/>
              <a:cs typeface="+mn-ea"/>
            </a:endParaRPr>
          </a:p>
        </p:txBody>
      </p:sp>
    </p:spTree>
    <p:extLst>
      <p:ext uri="{BB962C8B-B14F-4D97-AF65-F5344CB8AC3E}">
        <p14:creationId xmlns:p14="http://schemas.microsoft.com/office/powerpoint/2010/main" val="3516595421"/>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F3DDD019-2742-D38E-40A4-DEDA80915C49}"/>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3F0774BE-6BFC-7104-9D1A-3195231A8B18}"/>
              </a:ext>
            </a:extLst>
          </p:cNvPr>
          <p:cNvSpPr>
            <a:spLocks xmlns:a="http://schemas.openxmlformats.org/drawingml/2006/main" noGrp="1"/>
          </p:cNvSpPr>
          <p:nvPr/>
        </p:nvSpPr>
        <p:spPr>
          <a:xfrm xmlns:a="http://schemas.openxmlformats.org/drawingml/2006/main" rot="0" flipH="0" flipV="0">
            <a:off x="270932" y="1021703"/>
            <a:ext cx="5825067"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5.4.3 </a:t>
            </a:r>
            <a:r>
              <a:rPr sz="2400" b="1">
                <a:solidFill>
                  <a:schemeClr val="accent1"/>
                </a:solidFill>
              </a:rPr>
              <a:t>基于深度强化学习方法的导航</a:t>
            </a:r>
          </a:p>
          <a:p xmlns:a="http://schemas.openxmlformats.org/drawingml/2006/main">
            <a:endParaRPr sz="2400" b="1">
              <a:solidFill>
                <a:schemeClr val="accent1"/>
              </a:solidFill>
              <a:latin typeface="+mj-lt"/>
              <a:ea typeface="+mj-lt"/>
              <a:cs typeface="+mj-lt"/>
            </a:endParaRPr>
          </a:p>
        </p:txBody>
      </p:sp>
      <p:sp>
        <p:nvSpPr>
          <p:cNvPr id="19" name="文本框 18">
            <a:extLst xmlns:a="http://schemas.openxmlformats.org/drawingml/2006/main">
              <a:ext uri="{FF2B5EF4-FFF2-40B4-BE49-F238E27FC236}">
                <a16:creationId xmlns:a16="http://schemas.microsoft.com/office/drawing/2014/main" id="{7C732990-D82C-46A8-4C9D-E439C12B76C7}"/>
              </a:ext>
            </a:extLst>
          </p:cNvPr>
          <p:cNvSpPr>
            <a:spLocks xmlns:a="http://schemas.openxmlformats.org/drawingml/2006/main" noGrp="1"/>
          </p:cNvSpPr>
          <p:nvPr/>
        </p:nvSpPr>
        <p:spPr>
          <a:xfrm xmlns:a="http://schemas.openxmlformats.org/drawingml/2006/main" rot="0" flipH="0" flipV="0">
            <a:off x="1143230" y="1813044"/>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DQN</a:t>
            </a:r>
            <a:r>
              <a:rPr sz="1800" b="1" i="0" u="none"/>
              <a:t>算法</a:t>
            </a:r>
            <a:endParaRPr b="1"/>
          </a:p>
        </p:txBody>
      </p:sp>
      <p:sp>
        <p:nvSpPr>
          <p:cNvPr id="23" name="文本框 22">
            <a:extLst xmlns:a="http://schemas.openxmlformats.org/drawingml/2006/main">
              <a:ext uri="{FF2B5EF4-FFF2-40B4-BE49-F238E27FC236}">
                <a16:creationId xmlns:a16="http://schemas.microsoft.com/office/drawing/2014/main" id="{924A62C6-9677-0290-23E4-27772706A7C6}"/>
              </a:ext>
            </a:extLst>
          </p:cNvPr>
          <p:cNvSpPr>
            <a:spLocks xmlns:a="http://schemas.openxmlformats.org/drawingml/2006/main" noGrp="1"/>
          </p:cNvSpPr>
          <p:nvPr/>
        </p:nvSpPr>
        <p:spPr>
          <a:xfrm xmlns:a="http://schemas.openxmlformats.org/drawingml/2006/main" rot="0" flipH="0" flipV="0">
            <a:off x="489148" y="2473733"/>
            <a:ext cx="5212406"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随着深度神经网络的发展，</a:t>
            </a:r>
            <a:r>
              <a:t>Mnih</a:t>
            </a:r>
            <a:r>
              <a:t> </a:t>
            </a:r>
            <a:r>
              <a:t>等人率先提出了将深度卷积神经网络与</a:t>
            </a:r>
            <a:r>
              <a:t>Q-learning </a:t>
            </a:r>
            <a:r>
              <a:t>算法结合的</a:t>
            </a:r>
            <a:r>
              <a:rPr b="1"/>
              <a:t>DQN</a:t>
            </a:r>
            <a:r>
              <a:t>（</a:t>
            </a:r>
            <a:r>
              <a:t>Deep Q-learning Network</a:t>
            </a:r>
            <a:r>
              <a:t>）算法</a:t>
            </a:r>
            <a:endParaRPr sz="1800" b="0" i="0" u="none" baseline="0">
              <a:latin typeface="+mn-ea"/>
              <a:ea typeface="+mn-ea"/>
              <a:cs typeface="+mn-ea"/>
            </a:endParaRPr>
          </a:p>
        </p:txBody>
      </p:sp>
      <p:sp>
        <p:nvSpPr>
          <p:cNvPr id="5" name="文本框 4">
            <a:extLst xmlns:a="http://schemas.openxmlformats.org/drawingml/2006/main">
              <a:ext uri="{FF2B5EF4-FFF2-40B4-BE49-F238E27FC236}">
                <a16:creationId xmlns:a16="http://schemas.microsoft.com/office/drawing/2014/main" id="{D989E932-3271-FE83-6703-227141B964B0}"/>
              </a:ext>
            </a:extLst>
          </p:cNvPr>
          <p:cNvSpPr>
            <a:spLocks xmlns:a="http://schemas.openxmlformats.org/drawingml/2006/main" noGrp="1"/>
          </p:cNvSpPr>
          <p:nvPr/>
        </p:nvSpPr>
        <p:spPr>
          <a:xfrm xmlns:a="http://schemas.openxmlformats.org/drawingml/2006/main">
            <a:off x="489146" y="3911793"/>
            <a:ext cx="5155383"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其核心思想就是使用深度卷积神经网络来拟合传统</a:t>
            </a:r>
            <a:r>
              <a:t>Q-learning </a:t>
            </a:r>
            <a:r>
              <a:t>算法中的状态</a:t>
            </a:r>
            <a:r>
              <a:t>-</a:t>
            </a:r>
            <a:r>
              <a:t>动作值表（</a:t>
            </a:r>
            <a:r>
              <a:t>Q Table</a:t>
            </a:r>
            <a:r>
              <a:t>），解决了</a:t>
            </a:r>
            <a:r>
              <a:t>Q-learning </a:t>
            </a:r>
            <a:r>
              <a:t>算法在应对需求较大动作空间场景时，</a:t>
            </a:r>
            <a:r>
              <a:t>Q </a:t>
            </a:r>
            <a:r>
              <a:t>表维度过大难以维护的问题。</a:t>
            </a:r>
            <a:endParaRPr sz="1800" b="0" i="0" u="none" baseline="0">
              <a:latin typeface="+mn-ea"/>
              <a:ea typeface="+mn-ea"/>
              <a:cs typeface="+mn-ea"/>
            </a:endParaRPr>
          </a:p>
        </p:txBody>
      </p:sp>
      <p:pic>
        <p:nvPicPr>
          <p:cNvPr id="112" name="图片 2"/>
          <p:cNvPicPr>
            <a:picLocks xmlns:a="http://schemas.openxmlformats.org/drawingml/2006/main" noChangeAspect="1"/>
          </p:cNvPicPr>
          <p:nvPr/>
        </p:nvPicPr>
        <p:blipFill>
          <a:blip xmlns:r="http://schemas.openxmlformats.org/officeDocument/2006/relationships" xmlns:a="http://schemas.openxmlformats.org/drawingml/2006/main" r:embed="Rf18680af8bf24cc2"/>
          <a:stretch xmlns:a="http://schemas.openxmlformats.org/drawingml/2006/main">
            <a:fillRect l="0" t="0" r="0" b="0"/>
          </a:stretch>
        </p:blipFill>
        <p:spPr>
          <a:xfrm xmlns:a="http://schemas.openxmlformats.org/drawingml/2006/main" rot="0" flipH="0" flipV="0">
            <a:off x="5804397" y="1437201"/>
            <a:ext cx="5391902" cy="1638529"/>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E3569015-7B98-18FD-EA73-245A452753D8}"/>
              </a:ext>
            </a:extLst>
          </p:cNvPr>
          <p:cNvSpPr>
            <a:spLocks xmlns:a="http://schemas.openxmlformats.org/drawingml/2006/main" noGrp="1"/>
          </p:cNvSpPr>
          <p:nvPr/>
        </p:nvSpPr>
        <p:spPr>
          <a:xfrm xmlns:a="http://schemas.openxmlformats.org/drawingml/2006/main" rot="0" flipH="0" flipV="0">
            <a:off x="6753912" y="3212397"/>
            <a:ext cx="135466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a:latin typeface="+mn-ea"/>
                <a:ea typeface="+mn-ea"/>
                <a:cs typeface="+mn-ea"/>
              </a:rPr>
              <a:t>三个卷积层</a:t>
            </a:r>
            <a:endParaRPr>
              <a:latin typeface="+mn-ea"/>
              <a:ea typeface="+mn-ea"/>
              <a:cs typeface="+mn-ea"/>
            </a:endParaRPr>
          </a:p>
        </p:txBody>
      </p:sp>
      <p:sp>
        <p:nvSpPr>
          <p:cNvPr id="7" name="文本框 6">
            <a:extLst xmlns:a="http://schemas.openxmlformats.org/drawingml/2006/main">
              <a:ext uri="{FF2B5EF4-FFF2-40B4-BE49-F238E27FC236}">
                <a16:creationId xmlns:a16="http://schemas.microsoft.com/office/drawing/2014/main" id="{82B67379-82C5-EFF5-F6E2-EB012FA2E8A3}"/>
              </a:ext>
            </a:extLst>
          </p:cNvPr>
          <p:cNvSpPr>
            <a:spLocks xmlns:a="http://schemas.openxmlformats.org/drawingml/2006/main" noGrp="1"/>
          </p:cNvSpPr>
          <p:nvPr/>
        </p:nvSpPr>
        <p:spPr>
          <a:xfrm xmlns:a="http://schemas.openxmlformats.org/drawingml/2006/main" rot="0" flipH="0" flipV="0">
            <a:off x="8835965" y="3212397"/>
            <a:ext cx="18746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mn-ea"/>
                <a:ea typeface="+mn-ea"/>
                <a:cs typeface="+mn-ea"/>
              </a:rPr>
              <a:t>两</a:t>
            </a:r>
            <a:r>
              <a:rPr sz="1800" b="0" i="0" u="none">
                <a:latin typeface="+mn-ea"/>
                <a:ea typeface="+mn-ea"/>
                <a:cs typeface="+mn-ea"/>
              </a:rPr>
              <a:t>个全连接层</a:t>
            </a:r>
            <a:endParaRPr>
              <a:latin typeface="+mn-ea"/>
              <a:ea typeface="+mn-ea"/>
              <a:cs typeface="+mn-ea"/>
            </a:endParaRPr>
          </a:p>
        </p:txBody>
      </p:sp>
      <p:sp>
        <p:nvSpPr>
          <p:cNvPr id="8" name="文本框 7">
            <a:extLst xmlns:a="http://schemas.openxmlformats.org/drawingml/2006/main">
              <a:ext uri="{FF2B5EF4-FFF2-40B4-BE49-F238E27FC236}">
                <a16:creationId xmlns:a16="http://schemas.microsoft.com/office/drawing/2014/main" id="{2DBB4FFD-BCA5-5195-8C69-14438F901D08}"/>
              </a:ext>
            </a:extLst>
          </p:cNvPr>
          <p:cNvSpPr>
            <a:spLocks xmlns:a="http://schemas.openxmlformats.org/drawingml/2006/main" noGrp="1"/>
          </p:cNvSpPr>
          <p:nvPr/>
        </p:nvSpPr>
        <p:spPr>
          <a:xfrm xmlns:a="http://schemas.openxmlformats.org/drawingml/2006/main" rot="0" flipH="0" flipV="0">
            <a:off x="5774952" y="3581729"/>
            <a:ext cx="5749177" cy="286232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t>将原本更新状态</a:t>
            </a:r>
            <a:r>
              <a:t>-</a:t>
            </a:r>
            <a:r>
              <a:t>动作值</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𝑄</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oMath>
              </m:oMathPara>
            </a14:m>
            <a:r>
              <a:t>的方法用更新网络参数</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𝜃</m:t>
                  </m:r>
                </m:oMath>
              </m:oMathPara>
            </a14:m>
            <a:r>
              <a:t>的方法替换，本质上还是在估计最优状态</a:t>
            </a:r>
            <a:r>
              <a:t>-</a:t>
            </a:r>
            <a:r>
              <a:t>动作值。</a:t>
            </a:r>
            <a:endParaRPr/>
          </a:p>
          <a:p xmlns:a="http://schemas.openxmlformats.org/drawingml/2006/main">
            <a:pPr marL="285750" indent="-285750">
              <a:buFont typeface="Arial"/>
              <a:buChar char="•"/>
            </a:pPr>
            <a:r>
              <a:t>DQN </a:t>
            </a:r>
            <a:r>
              <a:t>方法在训练过程中加入了经验回放的设计，有助于神经网络训练收敛性和稳定性。</a:t>
            </a:r>
            <a:endParaRPr/>
          </a:p>
          <a:p xmlns:a="http://schemas.openxmlformats.org/drawingml/2006/main">
            <a:pPr marL="285750" indent="-285750">
              <a:buFont typeface="Arial"/>
              <a:buChar char="•"/>
            </a:pPr>
            <a:r>
              <a:t>具体来说，当导航机器人与导航环境交互，在每一个时间步上获得的交互数据记为</a:t>
            </a:r>
            <a14:m xmlns:a14="http://schemas.microsoft.com/office/drawing/2010/main">
              <m:oMathPara xmlns:m="http://schemas.openxmlformats.org/officeDocument/2006/math">
                <m:oMath>
                  <m:sSub>
                    <m:e>
                      <m:r>
                        <a:rPr xmlns:a="http://schemas.openxmlformats.org/drawingml/2006/main" lang="en-US" b="0" i="1">
                          <a:latin typeface="Cambria Math"/>
                          <a:ea typeface="Cambria Math"/>
                          <a:cs typeface="Cambria Math"/>
                        </a:rPr>
                        <m:t>𝑒</m:t>
                      </m:r>
                    </m:e>
                    <m:sub>
                      <m:r>
                        <a:rPr xmlns:a="http://schemas.openxmlformats.org/drawingml/2006/main" lang="en-US" b="0"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i="1">
                          <a:latin typeface="Cambria Math"/>
                          <a:ea typeface="Cambria Math"/>
                          <a:cs typeface="Cambria Math"/>
                        </a:rPr>
                        <m:t>𝑡</m:t>
                      </m:r>
                      <m:r>
                        <a:rPr xmlns:a="http://schemas.openxmlformats.org/drawingml/2006/main" lang="en-US" i="1">
                          <a:latin typeface="Cambria Math"/>
                          <a:ea typeface="Cambria Math"/>
                          <a:cs typeface="Cambria Math"/>
                        </a:rPr>
                        <m:t xml:space="preserve"> </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𝑟</m:t>
                      </m:r>
                    </m:e>
                    <m:sub>
                      <m:r>
                        <a:rPr xmlns:a="http://schemas.openxmlformats.org/drawingml/2006/main" lang="en-US" i="1">
                          <a:latin typeface="Cambria Math"/>
                          <a:ea typeface="Cambria Math"/>
                          <a:cs typeface="Cambria Math"/>
                        </a:rPr>
                        <m:t>𝑡</m:t>
                      </m:r>
                    </m:sub>
                  </m:sSub>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i="1">
                          <a:latin typeface="Cambria Math"/>
                          <a:ea typeface="Cambria Math"/>
                          <a:cs typeface="Cambria Math"/>
                        </a:rPr>
                        <m:t>𝑡</m:t>
                      </m:r>
                      <m:r>
                        <a:rPr xmlns:a="http://schemas.openxmlformats.org/drawingml/2006/main" lang="en-US" b="0" i="1">
                          <a:latin typeface="Cambria Math"/>
                          <a:ea typeface="Cambria Math"/>
                          <a:cs typeface="Cambria Math"/>
                        </a:rPr>
                        <m:t>+1</m:t>
                      </m:r>
                    </m:sub>
                  </m:sSub>
                  <m:r>
                    <a:rPr xmlns:a="http://schemas.openxmlformats.org/drawingml/2006/main" lang="en-US" b="0" i="1">
                      <a:latin typeface="Cambria Math"/>
                      <a:ea typeface="Cambria Math"/>
                      <a:cs typeface="Cambria Math"/>
                    </a:rPr>
                    <m:t>)</m:t>
                  </m:r>
                </m:oMath>
              </m:oMathPara>
            </a14:m>
            <a:r>
              <a:t>，同时将其放至经验池中</a:t>
            </a:r>
            <a:endParaRPr/>
          </a:p>
          <a:p xmlns:a="http://schemas.openxmlformats.org/drawingml/2006/main">
            <a:pPr marL="285750" indent="-285750">
              <a:buFont typeface="Arial"/>
              <a:buChar char="•"/>
            </a:pPr>
            <a:r>
              <a:t>在训练过程中，导航机器人会利用经验回放机制，对经验池内的交互数据进行随机采样获得训练数据，并通过梯度反向传播更新网络参数</a:t>
            </a:r>
            <a14:m xmlns:a14="http://schemas.microsoft.com/office/drawing/2010/main">
              <m:oMathPara xmlns:m="http://schemas.openxmlformats.org/officeDocument/2006/math">
                <m:oMath>
                  <m:r>
                    <a:rPr xmlns:a="http://schemas.openxmlformats.org/drawingml/2006/main" lang="zh-CN" i="1">
                      <a:latin typeface="Cambria Math"/>
                      <a:ea typeface="Cambria Math"/>
                      <a:cs typeface="Cambria Math"/>
                    </a:rPr>
                    <m:t>𝜃</m:t>
                  </m:r>
                </m:oMath>
              </m:oMathPara>
            </a14:m>
            <a:endParaRPr sz="1800" b="0" i="0" u="none" baseline="0">
              <a:latin typeface="+mn-ea"/>
              <a:ea typeface="+mn-ea"/>
              <a:cs typeface="+mn-ea"/>
            </a:endParaRPr>
          </a:p>
        </p:txBody>
      </p:sp>
    </p:spTree>
    <p:extLst>
      <p:ext uri="{BB962C8B-B14F-4D97-AF65-F5344CB8AC3E}">
        <p14:creationId xmlns:p14="http://schemas.microsoft.com/office/powerpoint/2010/main" val="30965599"/>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BD350D20-A8F0-DF0A-8CB8-39D6400BCAA7}"/>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1E46A1A0-940B-7EDB-7589-176DC522FF61}"/>
              </a:ext>
            </a:extLst>
          </p:cNvPr>
          <p:cNvSpPr>
            <a:spLocks xmlns:a="http://schemas.openxmlformats.org/drawingml/2006/main" noGrp="1"/>
          </p:cNvSpPr>
          <p:nvPr/>
        </p:nvSpPr>
        <p:spPr>
          <a:xfrm xmlns:a="http://schemas.openxmlformats.org/drawingml/2006/main" rot="0" flipH="0" flipV="0">
            <a:off x="270932" y="1021703"/>
            <a:ext cx="5825067"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5.4.3 </a:t>
            </a:r>
            <a:r>
              <a:rPr sz="2400" b="1">
                <a:solidFill>
                  <a:schemeClr val="accent1"/>
                </a:solidFill>
              </a:rPr>
              <a:t>基于深度强化学习方法的导航</a:t>
            </a:r>
          </a:p>
          <a:p xmlns:a="http://schemas.openxmlformats.org/drawingml/2006/main">
            <a:endParaRPr sz="2400" b="1">
              <a:solidFill>
                <a:schemeClr val="accent1"/>
              </a:solidFill>
              <a:latin typeface="+mj-lt"/>
              <a:ea typeface="+mj-lt"/>
              <a:cs typeface="+mj-lt"/>
            </a:endParaRPr>
          </a:p>
        </p:txBody>
      </p:sp>
      <p:sp>
        <p:nvSpPr>
          <p:cNvPr id="19" name="文本框 18">
            <a:extLst xmlns:a="http://schemas.openxmlformats.org/drawingml/2006/main">
              <a:ext uri="{FF2B5EF4-FFF2-40B4-BE49-F238E27FC236}">
                <a16:creationId xmlns:a16="http://schemas.microsoft.com/office/drawing/2014/main" id="{6688E1B2-B4D8-EAFF-F60F-39DF3CB60934}"/>
              </a:ext>
            </a:extLst>
          </p:cNvPr>
          <p:cNvSpPr>
            <a:spLocks xmlns:a="http://schemas.openxmlformats.org/drawingml/2006/main" noGrp="1"/>
          </p:cNvSpPr>
          <p:nvPr/>
        </p:nvSpPr>
        <p:spPr>
          <a:xfrm xmlns:a="http://schemas.openxmlformats.org/drawingml/2006/main" rot="0" flipH="0" flipV="0">
            <a:off x="995701" y="1647177"/>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DDPG</a:t>
            </a:r>
            <a:r>
              <a:rPr sz="1800" b="1" i="0" u="none"/>
              <a:t>算法</a:t>
            </a:r>
            <a:endParaRPr b="1"/>
          </a:p>
        </p:txBody>
      </p:sp>
      <p:sp>
        <p:nvSpPr>
          <p:cNvPr id="23" name="文本框 22">
            <a:extLst xmlns:a="http://schemas.openxmlformats.org/drawingml/2006/main">
              <a:ext uri="{FF2B5EF4-FFF2-40B4-BE49-F238E27FC236}">
                <a16:creationId xmlns:a16="http://schemas.microsoft.com/office/drawing/2014/main" id="{05081091-44B4-1157-D3C1-1FF5F01993B4}"/>
              </a:ext>
            </a:extLst>
          </p:cNvPr>
          <p:cNvSpPr>
            <a:spLocks xmlns:a="http://schemas.openxmlformats.org/drawingml/2006/main" noGrp="1"/>
          </p:cNvSpPr>
          <p:nvPr/>
        </p:nvSpPr>
        <p:spPr>
          <a:xfrm xmlns:a="http://schemas.openxmlformats.org/drawingml/2006/main" rot="0" flipH="0" flipV="0">
            <a:off x="431462" y="2016509"/>
            <a:ext cx="5212406" cy="230832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t>深度确定性策略梯度（</a:t>
            </a:r>
            <a:r>
              <a:t>Deep Deterministic Police Gradient</a:t>
            </a:r>
            <a:r>
              <a:t>）算法是基于确定性策略梯度算法结合深度神经网络改进的算法。</a:t>
            </a:r>
            <a:endParaRPr/>
          </a:p>
          <a:p xmlns:a="http://schemas.openxmlformats.org/drawingml/2006/main">
            <a:pPr marL="285750" indent="-285750">
              <a:buFont typeface="Arial"/>
              <a:buChar char="•"/>
            </a:pPr>
            <a:r>
              <a:t>DQN </a:t>
            </a:r>
            <a:r>
              <a:t>仍然只适用于</a:t>
            </a:r>
            <a:r>
              <a:rPr b="1"/>
              <a:t>离散动作空间</a:t>
            </a:r>
            <a:r>
              <a:t>，而</a:t>
            </a:r>
            <a:r>
              <a:t>DDPG </a:t>
            </a:r>
            <a:r>
              <a:t>算法可应用于</a:t>
            </a:r>
            <a:r>
              <a:rPr b="1"/>
              <a:t>连续动作</a:t>
            </a:r>
            <a:r>
              <a:t>的任务学习。</a:t>
            </a:r>
            <a:endParaRPr/>
          </a:p>
          <a:p xmlns:a="http://schemas.openxmlformats.org/drawingml/2006/main">
            <a:pPr marL="285750" indent="-285750">
              <a:buFont typeface="Arial"/>
              <a:buChar char="•"/>
            </a:pPr>
            <a:r>
              <a:t>DDPG </a:t>
            </a:r>
            <a:r>
              <a:t>采用</a:t>
            </a:r>
            <a:r>
              <a:t>Actor</a:t>
            </a:r>
            <a:r>
              <a:t>网络来拟合策略函数并直接输出动作，同时采用</a:t>
            </a:r>
            <a:r>
              <a:t>Critic</a:t>
            </a:r>
            <a:r>
              <a:t>网络拟合值函数来估计策略优势。</a:t>
            </a:r>
            <a:endParaRPr sz="1800" b="0" i="0" u="none" baseline="0">
              <a:latin typeface="+mn-ea"/>
              <a:ea typeface="+mn-ea"/>
              <a:cs typeface="+mn-ea"/>
            </a:endParaRPr>
          </a:p>
        </p:txBody>
      </p:sp>
      <p:sp>
        <p:nvSpPr>
          <p:cNvPr id="5" name="文本框 4">
            <a:extLst xmlns:a="http://schemas.openxmlformats.org/drawingml/2006/main">
              <a:ext uri="{FF2B5EF4-FFF2-40B4-BE49-F238E27FC236}">
                <a16:creationId xmlns:a16="http://schemas.microsoft.com/office/drawing/2014/main" id="{AAFC2801-9173-8EF2-F6DE-3AC79848743D}"/>
              </a:ext>
            </a:extLst>
          </p:cNvPr>
          <p:cNvSpPr>
            <a:spLocks xmlns:a="http://schemas.openxmlformats.org/drawingml/2006/main" noGrp="1"/>
          </p:cNvSpPr>
          <p:nvPr/>
        </p:nvSpPr>
        <p:spPr>
          <a:xfrm xmlns:a="http://schemas.openxmlformats.org/drawingml/2006/main">
            <a:off x="392284" y="4414683"/>
            <a:ext cx="5290762"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DDPG </a:t>
            </a:r>
            <a:r>
              <a:t>算法中，</a:t>
            </a:r>
            <a:r>
              <a:t>Critic </a:t>
            </a:r>
            <a:r>
              <a:t>网络接受状态</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𝑠</m:t>
                  </m:r>
                </m:oMath>
              </m:oMathPara>
            </a14:m>
            <a:r>
              <a:t>和动作</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𝑎</m:t>
                  </m:r>
                </m:oMath>
              </m:oMathPara>
            </a14:m>
            <a:r>
              <a:t>两个输入，输出估计的状态</a:t>
            </a:r>
            <a:r>
              <a:t>-</a:t>
            </a:r>
            <a:r>
              <a:t>动作值</a:t>
            </a:r>
            <a14:m xmlns:a14="http://schemas.microsoft.com/office/drawing/2010/main">
              <m:oMathPara xmlns:m="http://schemas.openxmlformats.org/officeDocument/2006/math">
                <m:oMath>
                  <m:r>
                    <a:rPr xmlns:a="http://schemas.openxmlformats.org/drawingml/2006/main" lang="en-US" b="0" i="1">
                      <a:latin typeface="Cambria Math"/>
                      <a:ea typeface="Cambria Math"/>
                      <a:cs typeface="Cambria Math"/>
                    </a:rPr>
                    <m:t>𝑄</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oMath>
              </m:oMathPara>
            </a14:m>
            <a:r>
              <a:t>；</a:t>
            </a:r>
            <a:r>
              <a:t>Actor </a:t>
            </a:r>
            <a:r>
              <a:t>网络接受状态</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𝑠</m:t>
                  </m:r>
                </m:oMath>
              </m:oMathPara>
            </a14:m>
            <a:r>
              <a:t>输入，输出移动动作</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𝑎</m:t>
                  </m:r>
                  <m:r>
                    <a:rPr xmlns:a="http://schemas.openxmlformats.org/drawingml/2006/main" lang="en-US" i="1">
                      <a:latin typeface="Cambria Math"/>
                      <a:ea typeface="Cambria Math"/>
                      <a:cs typeface="Cambria Math"/>
                    </a:rPr>
                    <m:t xml:space="preserve"> </m:t>
                  </m:r>
                </m:oMath>
              </m:oMathPara>
            </a14:m>
            <a:r>
              <a:t>；</a:t>
            </a:r>
            <a:endParaRPr/>
          </a:p>
          <a:p xmlns:a="http://schemas.openxmlformats.org/drawingml/2006/main">
            <a:r>
              <a:t>网络更新时如果更新目标目标不断变动，则会造成更新困难，</a:t>
            </a:r>
            <a:r>
              <a:t>DDPG </a:t>
            </a:r>
            <a:r>
              <a:t>算法和</a:t>
            </a:r>
            <a:r>
              <a:t>DQN </a:t>
            </a:r>
            <a:r>
              <a:t>算法采用了相同的固定网络技术，冻结当前网络参数用于求解目标网络，更新之后，再把参数赋值到目标网络之上。</a:t>
            </a:r>
            <a:endParaRPr sz="1800" b="0" i="0" u="none" baseline="0">
              <a:latin typeface="+mn-ea"/>
              <a:ea typeface="+mn-ea"/>
              <a:cs typeface="+mn-ea"/>
            </a:endParaRPr>
          </a:p>
        </p:txBody>
      </p:sp>
      <p:pic>
        <p:nvPicPr>
          <p:cNvPr id="112" name="图片 3"/>
          <p:cNvPicPr>
            <a:picLocks xmlns:a="http://schemas.openxmlformats.org/drawingml/2006/main" noChangeAspect="1"/>
          </p:cNvPicPr>
          <p:nvPr/>
        </p:nvPicPr>
        <p:blipFill>
          <a:blip xmlns:r="http://schemas.openxmlformats.org/officeDocument/2006/relationships" xmlns:a="http://schemas.openxmlformats.org/drawingml/2006/main" r:embed="Rd65ed2d8cbfb4bac"/>
          <a:srcRect xmlns:a="http://schemas.openxmlformats.org/drawingml/2006/main" l="0" t="1086" r="0" b="0"/>
          <a:stretch xmlns:a="http://schemas.openxmlformats.org/drawingml/2006/main">
            <a:fillRect l="0" t="0" r="0" b="0"/>
          </a:stretch>
        </p:blipFill>
        <p:spPr>
          <a:xfrm xmlns:a="http://schemas.openxmlformats.org/drawingml/2006/main">
            <a:off x="6459444" y="866415"/>
            <a:ext cx="4587315" cy="2238610"/>
          </a:xfrm>
          <a:prstGeom xmlns:a="http://schemas.openxmlformats.org/drawingml/2006/main" prst="rect">
            <a:avLst/>
          </a:prstGeom>
        </p:spPr>
      </p:pic>
      <p:sp>
        <p:nvSpPr>
          <p:cNvPr id="11" name="文本框 10">
            <a:extLst xmlns:a="http://schemas.openxmlformats.org/drawingml/2006/main">
              <a:ext uri="{FF2B5EF4-FFF2-40B4-BE49-F238E27FC236}">
                <a16:creationId xmlns:a16="http://schemas.microsoft.com/office/drawing/2014/main" id="{C68CC529-7512-2902-D3A9-2CE2DF2EF9D0}"/>
              </a:ext>
            </a:extLst>
          </p:cNvPr>
          <p:cNvSpPr>
            <a:spLocks xmlns:a="http://schemas.openxmlformats.org/drawingml/2006/main" noGrp="1"/>
          </p:cNvSpPr>
          <p:nvPr/>
        </p:nvSpPr>
        <p:spPr>
          <a:xfrm xmlns:a="http://schemas.openxmlformats.org/drawingml/2006/main">
            <a:off x="5886451" y="3249644"/>
            <a:ext cx="6094878" cy="126393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baseline="0">
                <a:latin typeface="+mn-ea"/>
                <a:ea typeface="+mn-ea"/>
                <a:cs typeface="+mn-ea"/>
              </a:rPr>
              <a:t>在训练决策模型时，只训练</a:t>
            </a:r>
            <a:r>
              <a:rPr sz="1800" b="0" i="0" u="none" baseline="0">
                <a:latin typeface="+mn-ea"/>
                <a:ea typeface="+mn-ea"/>
                <a:cs typeface="+mn-ea"/>
              </a:rPr>
              <a:t>Actor</a:t>
            </a:r>
            <a:r>
              <a:rPr sz="1800" b="0" i="0" u="none" baseline="0">
                <a:latin typeface="+mn-ea"/>
                <a:ea typeface="+mn-ea"/>
                <a:cs typeface="+mn-ea"/>
              </a:rPr>
              <a:t>网络参数</a:t>
            </a:r>
            <a14:m xmlns:a14="http://schemas.microsoft.com/office/drawing/2010/main">
              <m:oMathPara xmlns:m="http://schemas.openxmlformats.org/officeDocument/2006/math">
                <m:oMath>
                  <m:sSup>
                    <m:e>
                      <m:r>
                        <a:rPr xmlns:a="http://schemas.openxmlformats.org/drawingml/2006/main" lang="zh-CN" sz="1800" b="0" i="1">
                          <a:latin typeface="Cambria Math"/>
                          <a:ea typeface="Cambria Math"/>
                          <a:cs typeface="Cambria Math"/>
                        </a:rPr>
                        <m:t>𝜃</m:t>
                      </m:r>
                    </m:e>
                    <m:sup>
                      <m:r>
                        <a:rPr xmlns:a="http://schemas.openxmlformats.org/drawingml/2006/main" lang="zh-CN" sz="1800" b="0" i="1">
                          <a:latin typeface="Cambria Math"/>
                          <a:ea typeface="Cambria Math"/>
                          <a:cs typeface="Cambria Math"/>
                        </a:rPr>
                        <m:t>𝜋</m:t>
                      </m:r>
                    </m:sup>
                  </m:sSup>
                </m:oMath>
              </m:oMathPara>
            </a14:m>
            <a:r>
              <a:rPr sz="1800" b="0" i="0" u="none" baseline="0">
                <a:latin typeface="+mn-ea"/>
                <a:ea typeface="+mn-ea"/>
                <a:cs typeface="+mn-ea"/>
              </a:rPr>
              <a:t>和</a:t>
            </a:r>
            <a:r>
              <a:rPr sz="1800" b="0" i="0" u="none" baseline="0">
                <a:latin typeface="+mn-ea"/>
                <a:ea typeface="+mn-ea"/>
                <a:cs typeface="+mn-ea"/>
              </a:rPr>
              <a:t>Critic </a:t>
            </a:r>
            <a:r>
              <a:rPr sz="1800" b="0" i="0" u="none" baseline="0">
                <a:latin typeface="+mn-ea"/>
                <a:ea typeface="+mn-ea"/>
                <a:cs typeface="+mn-ea"/>
              </a:rPr>
              <a:t>网络参数</a:t>
            </a:r>
            <a14:m xmlns:a14="http://schemas.microsoft.com/office/drawing/2010/main">
              <m:oMathPara xmlns:m="http://schemas.openxmlformats.org/officeDocument/2006/math">
                <m:oMath>
                  <m:sSup>
                    <m:e>
                      <m:r>
                        <a:rPr xmlns:a="http://schemas.openxmlformats.org/drawingml/2006/main" lang="zh-CN" sz="1800" b="0" i="1">
                          <a:latin typeface="Cambria Math"/>
                          <a:ea typeface="Cambria Math"/>
                          <a:cs typeface="Cambria Math"/>
                        </a:rPr>
                        <m:t>𝜃</m:t>
                      </m:r>
                    </m:e>
                    <m:sup>
                      <m:r>
                        <a:rPr xmlns:a="http://schemas.openxmlformats.org/drawingml/2006/main" lang="en-US" sz="1800" b="0" i="1">
                          <a:latin typeface="Cambria Math"/>
                          <a:ea typeface="Cambria Math"/>
                          <a:cs typeface="Cambria Math"/>
                        </a:rPr>
                        <m:t>𝑄</m:t>
                      </m:r>
                    </m:sup>
                  </m:sSup>
                </m:oMath>
              </m:oMathPara>
            </a14:m>
            <a:r>
              <a:rPr sz="1800" b="0" i="0" u="none" baseline="0">
                <a:latin typeface="+mn-ea"/>
                <a:ea typeface="+mn-ea"/>
                <a:cs typeface="+mn-ea"/>
              </a:rPr>
              <a:t>，每经过特定时间步长，就将</a:t>
            </a:r>
            <a:r>
              <a:rPr sz="1800" b="0" i="0" u="none" baseline="0">
                <a:latin typeface="+mn-ea"/>
                <a:ea typeface="+mn-ea"/>
                <a:cs typeface="+mn-ea"/>
              </a:rPr>
              <a:t>Actor</a:t>
            </a:r>
            <a:r>
              <a:rPr sz="1800" b="0" i="0" u="none" baseline="0">
                <a:latin typeface="+mn-ea"/>
                <a:ea typeface="+mn-ea"/>
                <a:cs typeface="+mn-ea"/>
              </a:rPr>
              <a:t>网络和 </a:t>
            </a:r>
            <a:r>
              <a:rPr sz="1800" b="0" i="0" u="none" baseline="0">
                <a:latin typeface="+mn-ea"/>
                <a:ea typeface="+mn-ea"/>
                <a:cs typeface="+mn-ea"/>
              </a:rPr>
              <a:t>Critic </a:t>
            </a:r>
            <a:r>
              <a:rPr sz="1800" b="0" i="0" u="none" baseline="0">
                <a:latin typeface="+mn-ea"/>
                <a:ea typeface="+mn-ea"/>
                <a:cs typeface="+mn-ea"/>
              </a:rPr>
              <a:t>网络的网络参数</a:t>
            </a:r>
            <a14:m xmlns:a14="http://schemas.microsoft.com/office/drawing/2010/main">
              <m:oMathPara xmlns:m="http://schemas.openxmlformats.org/officeDocument/2006/math">
                <m:oMath>
                  <m:r>
                    <a:rPr xmlns:a="http://schemas.openxmlformats.org/drawingml/2006/main" lang="en-US" sz="1800" b="0" i="1">
                      <a:latin typeface="Cambria Math"/>
                      <a:ea typeface="Cambria Math"/>
                      <a:cs typeface="Cambria Math"/>
                    </a:rPr>
                    <m:t>(</m:t>
                  </m:r>
                  <m:sSup>
                    <m:e>
                      <m:r>
                        <a:rPr xmlns:a="http://schemas.openxmlformats.org/drawingml/2006/main" lang="zh-CN" i="1">
                          <a:latin typeface="Cambria Math"/>
                          <a:ea typeface="Cambria Math"/>
                          <a:cs typeface="Cambria Math"/>
                        </a:rPr>
                        <m:t>𝜃</m:t>
                      </m:r>
                    </m:e>
                    <m:sup>
                      <m:r>
                        <a:rPr xmlns:a="http://schemas.openxmlformats.org/drawingml/2006/main" lang="zh-CN" i="1">
                          <a:latin typeface="Cambria Math"/>
                          <a:ea typeface="Cambria Math"/>
                          <a:cs typeface="Cambria Math"/>
                        </a:rPr>
                        <m:t>𝜋</m:t>
                      </m:r>
                    </m:sup>
                  </m:sSup>
                  <m:r>
                    <a:rPr xmlns:a="http://schemas.openxmlformats.org/drawingml/2006/main" lang="en-US" b="0" i="1">
                      <a:latin typeface="Cambria Math"/>
                      <a:ea typeface="Cambria Math"/>
                      <a:cs typeface="Cambria Math"/>
                    </a:rPr>
                    <m:t>,</m:t>
                  </m:r>
                  <m:sSup>
                    <m:e>
                      <m:r>
                        <a:rPr xmlns:a="http://schemas.openxmlformats.org/drawingml/2006/main" lang="zh-CN" i="1">
                          <a:latin typeface="Cambria Math"/>
                          <a:ea typeface="Cambria Math"/>
                          <a:cs typeface="Cambria Math"/>
                        </a:rPr>
                        <m:t>𝜃</m:t>
                      </m:r>
                    </m:e>
                    <m:sup>
                      <m:r>
                        <a:rPr xmlns:a="http://schemas.openxmlformats.org/drawingml/2006/main" lang="en-US" b="0" i="1">
                          <a:latin typeface="Cambria Math"/>
                          <a:ea typeface="Cambria Math"/>
                          <a:cs typeface="Cambria Math"/>
                        </a:rPr>
                        <m:t>𝑄</m:t>
                      </m:r>
                    </m:sup>
                  </m:sSup>
                  <m:r>
                    <a:rPr xmlns:a="http://schemas.openxmlformats.org/drawingml/2006/main" lang="en-US" sz="1800" b="0" i="1">
                      <a:latin typeface="Cambria Math"/>
                      <a:ea typeface="Cambria Math"/>
                      <a:cs typeface="Cambria Math"/>
                    </a:rPr>
                    <m:t>)</m:t>
                  </m:r>
                </m:oMath>
              </m:oMathPara>
            </a14:m>
            <a:r>
              <a:rPr sz="1800" b="0" i="0" u="none" baseline="0">
                <a:latin typeface="+mn-ea"/>
                <a:ea typeface="+mn-ea"/>
                <a:cs typeface="+mn-ea"/>
              </a:rPr>
              <a:t>更新给 </a:t>
            </a:r>
            <a:r>
              <a:rPr sz="1800" b="0" i="0" u="none" baseline="0">
                <a:latin typeface="+mn-ea"/>
                <a:ea typeface="+mn-ea"/>
                <a:cs typeface="+mn-ea"/>
              </a:rPr>
              <a:t>Actor </a:t>
            </a:r>
            <a:r>
              <a:rPr sz="1800" b="0" i="0" u="none" baseline="0">
                <a:latin typeface="+mn-ea"/>
                <a:ea typeface="+mn-ea"/>
                <a:cs typeface="+mn-ea"/>
              </a:rPr>
              <a:t>目标网络和</a:t>
            </a:r>
            <a:r>
              <a:rPr sz="1800" b="0" i="0" u="none" baseline="0">
                <a:latin typeface="+mn-ea"/>
                <a:ea typeface="+mn-ea"/>
                <a:cs typeface="+mn-ea"/>
              </a:rPr>
              <a:t>Critic</a:t>
            </a:r>
            <a:r>
              <a:rPr sz="1800" b="0" i="0" u="none" baseline="0">
                <a:latin typeface="+mn-ea"/>
                <a:ea typeface="+mn-ea"/>
                <a:cs typeface="+mn-ea"/>
              </a:rPr>
              <a:t>目标网络</a:t>
            </a:r>
            <a14:m xmlns:a14="http://schemas.microsoft.com/office/drawing/2010/main">
              <m:oMathPara xmlns:m="http://schemas.openxmlformats.org/officeDocument/2006/math">
                <m:oMath>
                  <m:r>
                    <a:rPr xmlns:a="http://schemas.openxmlformats.org/drawingml/2006/main" lang="en-US" i="1">
                      <a:latin typeface="Cambria Math"/>
                      <a:ea typeface="Cambria Math"/>
                      <a:cs typeface="Cambria Math"/>
                    </a:rPr>
                    <m:t>(</m:t>
                  </m:r>
                  <m:sSup>
                    <m:e>
                      <m:r>
                        <a:rPr xmlns:a="http://schemas.openxmlformats.org/drawingml/2006/main" lang="zh-CN" i="1">
                          <a:latin typeface="Cambria Math"/>
                          <a:ea typeface="Cambria Math"/>
                          <a:cs typeface="Cambria Math"/>
                        </a:rPr>
                        <m:t>𝜃</m:t>
                      </m:r>
                    </m:e>
                    <m:sup>
                      <m:sSup>
                        <m:e>
                          <m:r>
                            <a:rPr xmlns:a="http://schemas.openxmlformats.org/drawingml/2006/main" lang="zh-CN" i="1">
                              <a:latin typeface="Cambria Math"/>
                              <a:ea typeface="Cambria Math"/>
                              <a:cs typeface="Cambria Math"/>
                            </a:rPr>
                            <m:t>𝜋</m:t>
                          </m:r>
                        </m:e>
                        <m:sup>
                          <m:r>
                            <a:rPr xmlns:a="http://schemas.openxmlformats.org/drawingml/2006/main" lang="en-US" b="0" i="1">
                              <a:latin typeface="Cambria Math"/>
                              <a:ea typeface="Cambria Math"/>
                              <a:cs typeface="Cambria Math"/>
                            </a:rPr>
                            <m:t>′</m:t>
                          </m:r>
                        </m:sup>
                      </m:sSup>
                    </m:sup>
                  </m:sSup>
                  <m:r>
                    <a:rPr xmlns:a="http://schemas.openxmlformats.org/drawingml/2006/main" lang="en-US" i="1">
                      <a:latin typeface="Cambria Math"/>
                      <a:ea typeface="Cambria Math"/>
                      <a:cs typeface="Cambria Math"/>
                    </a:rPr>
                    <m:t>,</m:t>
                  </m:r>
                  <m:sSup>
                    <m:e>
                      <m:r>
                        <a:rPr xmlns:a="http://schemas.openxmlformats.org/drawingml/2006/main" lang="zh-CN" i="1">
                          <a:latin typeface="Cambria Math"/>
                          <a:ea typeface="Cambria Math"/>
                          <a:cs typeface="Cambria Math"/>
                        </a:rPr>
                        <m:t>𝜃</m:t>
                      </m:r>
                    </m:e>
                    <m:sup>
                      <m:sSup>
                        <m:e>
                          <m:r>
                            <a:rPr xmlns:a="http://schemas.openxmlformats.org/drawingml/2006/main" lang="en-US" b="0" i="1">
                              <a:latin typeface="Cambria Math"/>
                              <a:ea typeface="Cambria Math"/>
                              <a:cs typeface="Cambria Math"/>
                            </a:rPr>
                            <m:t>𝑄</m:t>
                          </m:r>
                        </m:e>
                        <m:sup>
                          <m:r>
                            <a:rPr xmlns:a="http://schemas.openxmlformats.org/drawingml/2006/main" lang="en-US" b="0" i="1">
                              <a:latin typeface="Cambria Math"/>
                              <a:ea typeface="Cambria Math"/>
                              <a:cs typeface="Cambria Math"/>
                            </a:rPr>
                            <m:t>′</m:t>
                          </m:r>
                        </m:sup>
                      </m:sSup>
                    </m:sup>
                  </m:sSup>
                  <m:r>
                    <a:rPr xmlns:a="http://schemas.openxmlformats.org/drawingml/2006/main" lang="en-US" i="1">
                      <a:latin typeface="Cambria Math"/>
                      <a:ea typeface="Cambria Math"/>
                      <a:cs typeface="Cambria Math"/>
                    </a:rPr>
                    <m:t>)</m:t>
                  </m:r>
                </m:oMath>
              </m:oMathPara>
            </a14:m>
            <a:endParaRPr>
              <a:latin typeface="+mn-ea"/>
              <a:ea typeface="+mn-ea"/>
              <a:cs typeface="+mn-ea"/>
            </a:endParaRPr>
          </a:p>
        </p:txBody>
      </p:sp>
      <p:sp>
        <p:nvSpPr>
          <p:cNvPr id="13" name="文本框 12">
            <a:extLst xmlns:a="http://schemas.openxmlformats.org/drawingml/2006/main">
              <a:ext uri="{FF2B5EF4-FFF2-40B4-BE49-F238E27FC236}">
                <a16:creationId xmlns:a16="http://schemas.microsoft.com/office/drawing/2014/main" id="{7F3A491A-E848-FD07-C1D1-A8CB626D5591}"/>
              </a:ext>
            </a:extLst>
          </p:cNvPr>
          <p:cNvSpPr>
            <a:spLocks xmlns:a="http://schemas.openxmlformats.org/drawingml/2006/main" noGrp="1"/>
          </p:cNvSpPr>
          <p:nvPr/>
        </p:nvSpPr>
        <p:spPr>
          <a:xfrm xmlns:a="http://schemas.openxmlformats.org/drawingml/2006/main">
            <a:off x="5886450" y="4513580"/>
            <a:ext cx="6305549" cy="1691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u="none">
                <a:latin typeface="+mn-ea"/>
                <a:ea typeface="+mn-ea"/>
                <a:cs typeface="+mn-ea"/>
              </a:rPr>
              <a:t>Critic </a:t>
            </a:r>
            <a:r>
              <a:rPr sz="1800" b="0" i="0" u="none">
                <a:latin typeface="+mn-ea"/>
                <a:ea typeface="+mn-ea"/>
                <a:cs typeface="+mn-ea"/>
              </a:rPr>
              <a:t>网络采用最小化损失函数来更新参数</a:t>
            </a:r>
            <a:r>
              <a:rPr sz="1800" b="0" i="0" u="none">
                <a:latin typeface="+mn-ea"/>
                <a:ea typeface="+mn-ea"/>
                <a:cs typeface="+mn-ea"/>
              </a:rPr>
              <a:t>:</a:t>
            </a:r>
          </a:p>
          <a:p xmlns:a="http://schemas.openxmlformats.org/drawingml/2006/main">
            <a:pPr>
              <a:buNone/>
            </a:pPr>
            <a14:m xmlns:a14="http://schemas.microsoft.com/office/drawing/2010/main">
              <m:oMathPara xmlns:m="http://schemas.openxmlformats.org/officeDocument/2006/math">
                <m:oMath>
                  <m:r>
                    <a:rPr xmlns:a="http://schemas.openxmlformats.org/drawingml/2006/main" lang="en-US" sz="1800" b="0" i="1">
                      <a:latin typeface="Cambria Math"/>
                      <a:ea typeface="Cambria Math"/>
                      <a:cs typeface="Cambria Math"/>
                    </a:rPr>
                    <m:t>𝐿</m:t>
                  </m:r>
                  <m:d>
                    <m:dPr>
                      <m:grow m:val="off"/>
                    </m:dPr>
                    <m:e>
                      <m:sSup>
                        <m:e>
                          <m:r>
                            <a:rPr xmlns:a="http://schemas.openxmlformats.org/drawingml/2006/main" lang="zh-CN" i="1">
                              <a:latin typeface="Cambria Math"/>
                              <a:ea typeface="Cambria Math"/>
                              <a:cs typeface="Cambria Math"/>
                            </a:rPr>
                            <m:t>𝜃</m:t>
                          </m:r>
                        </m:e>
                        <m:sup>
                          <m:r>
                            <a:rPr xmlns:a="http://schemas.openxmlformats.org/drawingml/2006/main" lang="en-US" i="1">
                              <a:latin typeface="Cambria Math"/>
                              <a:ea typeface="Cambria Math"/>
                              <a:cs typeface="Cambria Math"/>
                            </a:rPr>
                            <m:t>𝑄</m:t>
                          </m:r>
                        </m:sup>
                      </m:sSup>
                    </m:e>
                  </m:d>
                  <m:r>
                    <a:rPr xmlns:a="http://schemas.openxmlformats.org/drawingml/2006/main" lang="en-US" sz="1800" b="0" i="1">
                      <a:latin typeface="Cambria Math"/>
                      <a:ea typeface="Cambria Math"/>
                      <a:cs typeface="Cambria Math"/>
                    </a:rPr>
                    <m:t>=</m:t>
                  </m:r>
                  <m:sSub>
                    <m:e>
                      <m:r>
                        <a:rPr xmlns:a="http://schemas.openxmlformats.org/drawingml/2006/main" lang="en-US" sz="1800" b="0" i="1">
                          <a:latin typeface="Cambria Math"/>
                          <a:ea typeface="Cambria Math"/>
                          <a:cs typeface="Cambria Math"/>
                        </a:rPr>
                        <m:t>𝐸</m:t>
                      </m:r>
                    </m:e>
                    <m:sub>
                      <m:sSup>
                        <m:e>
                          <m:r>
                            <a:rPr xmlns:a="http://schemas.openxmlformats.org/drawingml/2006/main" lang="zh-CN" sz="1800" b="0" i="1">
                              <a:latin typeface="Cambria Math"/>
                              <a:ea typeface="Cambria Math"/>
                              <a:cs typeface="Cambria Math"/>
                            </a:rPr>
                            <m:t>𝜇</m:t>
                          </m:r>
                        </m:e>
                        <m:sup>
                          <m:r>
                            <a:rPr xmlns:a="http://schemas.openxmlformats.org/drawingml/2006/main" lang="en-US" sz="1800" b="0" i="1">
                              <a:latin typeface="Cambria Math"/>
                              <a:ea typeface="Cambria Math"/>
                              <a:cs typeface="Cambria Math"/>
                            </a:rPr>
                            <m:t>′</m:t>
                          </m:r>
                        </m:sup>
                      </m:sSup>
                    </m:sub>
                  </m:sSub>
                  <m:d>
                    <m:dPr>
                      <m:begChr m:val="["/>
                      <m:endChr m:val="]"/>
                      <m:grow m:val="off"/>
                    </m:dPr>
                    <m:e>
                      <m:d>
                        <m:dPr>
                          <m:grow m:val="off"/>
                        </m:dPr>
                        <m:e>
                          <m:r>
                            <a:rPr xmlns:a="http://schemas.openxmlformats.org/drawingml/2006/main" lang="en-US" sz="1800" b="0" i="1">
                              <a:latin typeface="Cambria Math"/>
                              <a:ea typeface="Cambria Math"/>
                              <a:cs typeface="Cambria Math"/>
                            </a:rPr>
                            <m:t>𝑟</m:t>
                          </m:r>
                          <m:d>
                            <m:dPr>
                              <m:grow m:val="off"/>
                            </m:dPr>
                            <m:e>
                              <m:sSub>
                                <m:e>
                                  <m:r>
                                    <a:rPr xmlns:a="http://schemas.openxmlformats.org/drawingml/2006/main" lang="en-US" sz="1800" b="0" i="1">
                                      <a:latin typeface="Cambria Math"/>
                                      <a:ea typeface="Cambria Math"/>
                                      <a:cs typeface="Cambria Math"/>
                                    </a:rPr>
                                    <m:t>𝑠</m:t>
                                  </m:r>
                                </m:e>
                                <m:sub>
                                  <m:r>
                                    <a:rPr xmlns:a="http://schemas.openxmlformats.org/drawingml/2006/main" lang="en-US" sz="1800" b="0" i="1">
                                      <a:latin typeface="Cambria Math"/>
                                      <a:ea typeface="Cambria Math"/>
                                      <a:cs typeface="Cambria Math"/>
                                    </a:rPr>
                                    <m:t>𝑡</m:t>
                                  </m:r>
                                </m:sub>
                              </m:sSub>
                              <m:r>
                                <a:rPr xmlns:a="http://schemas.openxmlformats.org/drawingml/2006/main" lang="en-US" sz="1800" b="0" i="1">
                                  <a:latin typeface="Cambria Math"/>
                                  <a:ea typeface="Cambria Math"/>
                                  <a:cs typeface="Cambria Math"/>
                                </a:rPr>
                                <m:t>,</m:t>
                              </m:r>
                              <m:sSub>
                                <m:e>
                                  <m:r>
                                    <a:rPr xmlns:a="http://schemas.openxmlformats.org/drawingml/2006/main" lang="en-US" sz="1800" b="0" i="1">
                                      <a:latin typeface="Cambria Math"/>
                                      <a:ea typeface="Cambria Math"/>
                                      <a:cs typeface="Cambria Math"/>
                                    </a:rPr>
                                    <m:t>𝑎</m:t>
                                  </m:r>
                                </m:e>
                                <m:sub>
                                  <m:r>
                                    <a:rPr xmlns:a="http://schemas.openxmlformats.org/drawingml/2006/main" lang="en-US" sz="1800" b="0" i="1">
                                      <a:latin typeface="Cambria Math"/>
                                      <a:ea typeface="Cambria Math"/>
                                      <a:cs typeface="Cambria Math"/>
                                    </a:rPr>
                                    <m:t>𝑡</m:t>
                                  </m:r>
                                </m:sub>
                              </m:sSub>
                            </m:e>
                          </m:d>
                          <m:r>
                            <a:rPr xmlns:a="http://schemas.openxmlformats.org/drawingml/2006/main" lang="en-US" sz="1800" b="0" i="1">
                              <a:latin typeface="Cambria Math"/>
                              <a:ea typeface="Cambria Math"/>
                              <a:cs typeface="Cambria Math"/>
                            </a:rPr>
                            <m:t>+</m:t>
                          </m:r>
                          <m:r>
                            <a:rPr xmlns:a="http://schemas.openxmlformats.org/drawingml/2006/main" lang="zh-CN" sz="1800" b="0" i="1">
                              <a:latin typeface="Cambria Math"/>
                              <a:ea typeface="Cambria Math"/>
                              <a:cs typeface="Cambria Math"/>
                            </a:rPr>
                            <m:t>𝛾</m:t>
                          </m:r>
                          <m:sSup>
                            <m:e>
                              <m:r>
                                <a:rPr xmlns:a="http://schemas.openxmlformats.org/drawingml/2006/main" lang="en-US" sz="1800" b="0" i="1">
                                  <a:latin typeface="Cambria Math"/>
                                  <a:ea typeface="Cambria Math"/>
                                  <a:cs typeface="Cambria Math"/>
                                </a:rPr>
                                <m:t>𝑄</m:t>
                              </m:r>
                            </m:e>
                            <m:sup>
                              <m:r>
                                <a:rPr xmlns:a="http://schemas.openxmlformats.org/drawingml/2006/main" lang="en-US" sz="1800" b="0" i="1">
                                  <a:latin typeface="Cambria Math"/>
                                  <a:ea typeface="Cambria Math"/>
                                  <a:cs typeface="Cambria Math"/>
                                </a:rPr>
                                <m:t>′</m:t>
                              </m:r>
                            </m:sup>
                          </m:sSup>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r>
                                    <a:rPr xmlns:a="http://schemas.openxmlformats.org/drawingml/2006/main" lang="en-US" b="0" i="1">
                                      <a:latin typeface="Cambria Math"/>
                                      <a:ea typeface="Cambria Math"/>
                                      <a:cs typeface="Cambria Math"/>
                                    </a:rPr>
                                    <m:t>+1</m:t>
                                  </m:r>
                                </m:sub>
                              </m:sSub>
                            </m:e>
                            <m:e>
                              <m:sSup>
                                <m:e>
                                  <m:r>
                                    <a:rPr xmlns:a="http://schemas.openxmlformats.org/drawingml/2006/main" lang="zh-CN" i="1">
                                      <a:latin typeface="Cambria Math"/>
                                      <a:ea typeface="Cambria Math"/>
                                      <a:cs typeface="Cambria Math"/>
                                    </a:rPr>
                                    <m:t>𝜃</m:t>
                                  </m:r>
                                </m:e>
                                <m:sup>
                                  <m:sSup>
                                    <m:e>
                                      <m:r>
                                        <a:rPr xmlns:a="http://schemas.openxmlformats.org/drawingml/2006/main" lang="zh-CN" i="1">
                                          <a:latin typeface="Cambria Math"/>
                                          <a:ea typeface="Cambria Math"/>
                                          <a:cs typeface="Cambria Math"/>
                                        </a:rPr>
                                        <m:t>𝜋</m:t>
                                      </m:r>
                                    </m:e>
                                    <m:sup>
                                      <m:r>
                                        <a:rPr xmlns:a="http://schemas.openxmlformats.org/drawingml/2006/main" lang="en-US" i="1">
                                          <a:latin typeface="Cambria Math"/>
                                          <a:ea typeface="Cambria Math"/>
                                          <a:cs typeface="Cambria Math"/>
                                        </a:rPr>
                                        <m:t>′</m:t>
                                      </m:r>
                                    </m:sup>
                                  </m:sSup>
                                </m:sup>
                              </m:sSup>
                            </m:e>
                          </m:d>
                        </m:e>
                        <m:e>
                          <m:sSup>
                            <m:e>
                              <m:r>
                                <a:rPr xmlns:a="http://schemas.openxmlformats.org/drawingml/2006/main" lang="zh-CN" i="1">
                                  <a:latin typeface="Cambria Math"/>
                                  <a:ea typeface="Cambria Math"/>
                                  <a:cs typeface="Cambria Math"/>
                                </a:rPr>
                                <m:t>𝜃</m:t>
                              </m:r>
                            </m:e>
                            <m:sup>
                              <m:sSup>
                                <m:e>
                                  <m:r>
                                    <a:rPr xmlns:a="http://schemas.openxmlformats.org/drawingml/2006/main" lang="en-US" i="1">
                                      <a:latin typeface="Cambria Math"/>
                                      <a:ea typeface="Cambria Math"/>
                                      <a:cs typeface="Cambria Math"/>
                                    </a:rPr>
                                    <m:t>𝑄</m:t>
                                  </m:r>
                                </m:e>
                                <m:sup>
                                  <m:r>
                                    <a:rPr xmlns:a="http://schemas.openxmlformats.org/drawingml/2006/main" lang="en-US" i="1">
                                      <a:latin typeface="Cambria Math"/>
                                      <a:ea typeface="Cambria Math"/>
                                      <a:cs typeface="Cambria Math"/>
                                    </a:rPr>
                                    <m:t>′</m:t>
                                  </m:r>
                                </m:sup>
                              </m:sSup>
                            </m:sup>
                          </m:sSup>
                        </m:e>
                      </m:d>
                      <m:r>
                        <a:rPr xmlns:a="http://schemas.openxmlformats.org/drawingml/2006/main" lang="en-US" sz="1800" b="0" i="1">
                          <a:latin typeface="Cambria Math"/>
                          <a:ea typeface="Cambria Math"/>
                          <a:cs typeface="Cambria Math"/>
                        </a:rPr>
                        <m:t>−</m:t>
                      </m:r>
                      <m:sSup>
                        <m:e>
                          <m:r>
                            <a:rPr xmlns:a="http://schemas.openxmlformats.org/drawingml/2006/main" lang="en-US" i="1">
                              <a:latin typeface="Cambria Math"/>
                              <a:ea typeface="Cambria Math"/>
                              <a:cs typeface="Cambria Math"/>
                            </a:rPr>
                            <m:t>𝑄</m:t>
                          </m:r>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p>
                            <m:e>
                              <m:r>
                                <a:rPr xmlns:a="http://schemas.openxmlformats.org/drawingml/2006/main" lang="zh-CN" i="1">
                                  <a:latin typeface="Cambria Math"/>
                                  <a:ea typeface="Cambria Math"/>
                                  <a:cs typeface="Cambria Math"/>
                                </a:rPr>
                                <m:t>𝜃</m:t>
                              </m:r>
                            </m:e>
                            <m:sup>
                              <m:r>
                                <a:rPr xmlns:a="http://schemas.openxmlformats.org/drawingml/2006/main" lang="en-US" i="1">
                                  <a:latin typeface="Cambria Math"/>
                                  <a:ea typeface="Cambria Math"/>
                                  <a:cs typeface="Cambria Math"/>
                                </a:rPr>
                                <m:t>𝑄</m:t>
                              </m:r>
                            </m:sup>
                          </m:sSup>
                          <m:r>
                            <a:rPr xmlns:a="http://schemas.openxmlformats.org/drawingml/2006/main" lang="en-US" b="0" i="1">
                              <a:latin typeface="Cambria Math"/>
                              <a:ea typeface="Cambria Math"/>
                              <a:cs typeface="Cambria Math"/>
                            </a:rPr>
                            <m:t>)</m:t>
                          </m:r>
                        </m:e>
                        <m:sup>
                          <m:r>
                            <a:rPr xmlns:a="http://schemas.openxmlformats.org/drawingml/2006/main" lang="en-US" sz="1800" b="0" i="1">
                              <a:latin typeface="Cambria Math"/>
                              <a:ea typeface="Cambria Math"/>
                              <a:cs typeface="Cambria Math"/>
                            </a:rPr>
                            <m:t>2</m:t>
                          </m:r>
                        </m:sup>
                      </m:sSup>
                    </m:e>
                  </m:d>
                </m:oMath>
              </m:oMathPara>
            </a14:m>
            <a:endParaRPr sz="1800" b="0" i="0" u="none" baseline="0">
              <a:latin typeface="+mn-ea"/>
              <a:ea typeface="+mn-ea"/>
              <a:cs typeface="+mn-ea"/>
            </a:endParaRPr>
          </a:p>
          <a:p xmlns:a="http://schemas.openxmlformats.org/drawingml/2006/main">
            <a:r>
              <a:rPr sz="1800" b="0" i="0" u="none">
                <a:latin typeface="+mn-ea"/>
                <a:ea typeface="+mn-ea"/>
                <a:cs typeface="+mn-ea"/>
              </a:rPr>
              <a:t>Actor </a:t>
            </a:r>
            <a:r>
              <a:rPr sz="1800" b="0" i="0" u="none">
                <a:latin typeface="+mn-ea"/>
                <a:ea typeface="+mn-ea"/>
                <a:cs typeface="+mn-ea"/>
              </a:rPr>
              <a:t>网络采用梯度函数来更新参数：</a:t>
            </a:r>
            <a:endParaRPr>
              <a:latin typeface="+mn-ea"/>
              <a:ea typeface="+mn-ea"/>
              <a:cs typeface="+mn-ea"/>
            </a:endParaRPr>
          </a:p>
          <a:p xmlns:a="http://schemas.openxmlformats.org/drawingml/2006/main">
            <a:pPr>
              <a:buNone/>
            </a:pPr>
            <a14:m xmlns:a14="http://schemas.microsoft.com/office/drawing/2010/main">
              <m:oMathPara xmlns:m="http://schemas.openxmlformats.org/officeDocument/2006/math">
                <m:oMath>
                  <m:sSub>
                    <m:e>
                      <m:r>
                        <a:rPr xmlns:a="http://schemas.openxmlformats.org/drawingml/2006/main" lang="en-US" sz="1800" b="0" i="1">
                          <a:latin typeface="Cambria Math"/>
                          <a:ea typeface="Cambria Math"/>
                          <a:cs typeface="Cambria Math"/>
                        </a:rPr>
                        <m:t>∇</m:t>
                      </m:r>
                    </m:e>
                    <m:sub>
                      <m:sSup>
                        <m:e>
                          <m:r>
                            <a:rPr xmlns:a="http://schemas.openxmlformats.org/drawingml/2006/main" lang="zh-CN" sz="1800" b="0" i="1">
                              <a:latin typeface="Cambria Math"/>
                              <a:ea typeface="Cambria Math"/>
                              <a:cs typeface="Cambria Math"/>
                            </a:rPr>
                            <m:t>𝜃</m:t>
                          </m:r>
                        </m:e>
                        <m:sup>
                          <m:sSup>
                            <m:e>
                              <m:r>
                                <a:rPr xmlns:a="http://schemas.openxmlformats.org/drawingml/2006/main" lang="zh-CN" sz="1800" b="0" i="1">
                                  <a:latin typeface="Cambria Math"/>
                                  <a:ea typeface="Cambria Math"/>
                                  <a:cs typeface="Cambria Math"/>
                                </a:rPr>
                                <m:t>𝜋</m:t>
                              </m:r>
                            </m:e>
                            <m:sup>
                              <m:r>
                                <a:rPr xmlns:a="http://schemas.openxmlformats.org/drawingml/2006/main" lang="en-US" sz="1800" b="0" i="1">
                                  <a:latin typeface="Cambria Math"/>
                                  <a:ea typeface="Cambria Math"/>
                                  <a:cs typeface="Cambria Math"/>
                                </a:rPr>
                                <m:t>′</m:t>
                              </m:r>
                            </m:sup>
                          </m:sSup>
                        </m:sup>
                      </m:sSup>
                    </m:sub>
                  </m:sSub>
                  <m:r>
                    <a:rPr xmlns:a="http://schemas.openxmlformats.org/drawingml/2006/main" lang="zh-CN" sz="1800" b="0" i="1">
                      <a:latin typeface="Cambria Math"/>
                      <a:ea typeface="Cambria Math"/>
                      <a:cs typeface="Cambria Math"/>
                    </a:rPr>
                    <m:t>𝜇</m:t>
                  </m:r>
                  <m:r>
                    <a:rPr xmlns:a="http://schemas.openxmlformats.org/drawingml/2006/main" lang="zh-CN" sz="1800" b="0" i="1">
                      <a:latin typeface="Cambria Math"/>
                      <a:ea typeface="Cambria Math"/>
                      <a:cs typeface="Cambria Math"/>
                    </a:rPr>
                    <m:t>≈</m:t>
                  </m:r>
                  <m:sSub>
                    <m:e>
                      <m:r>
                        <a:rPr xmlns:a="http://schemas.openxmlformats.org/drawingml/2006/main" lang="en-US" sz="1800" b="0" i="1">
                          <a:latin typeface="Cambria Math"/>
                          <a:ea typeface="Cambria Math"/>
                          <a:cs typeface="Cambria Math"/>
                        </a:rPr>
                        <m:t>𝐸</m:t>
                      </m:r>
                    </m:e>
                    <m:sub>
                      <m:sSup>
                        <m:e>
                          <m:r>
                            <a:rPr xmlns:a="http://schemas.openxmlformats.org/drawingml/2006/main" lang="zh-CN" sz="1800" b="0" i="1">
                              <a:latin typeface="Cambria Math"/>
                              <a:ea typeface="Cambria Math"/>
                              <a:cs typeface="Cambria Math"/>
                            </a:rPr>
                            <m:t>𝜇</m:t>
                          </m:r>
                        </m:e>
                        <m:sup>
                          <m:r>
                            <a:rPr xmlns:a="http://schemas.openxmlformats.org/drawingml/2006/main" lang="en-US" sz="1800" b="0" i="1">
                              <a:latin typeface="Cambria Math"/>
                              <a:ea typeface="Cambria Math"/>
                              <a:cs typeface="Cambria Math"/>
                            </a:rPr>
                            <m:t>′</m:t>
                          </m:r>
                        </m:sup>
                      </m:sSup>
                    </m:sub>
                  </m:sSub>
                  <m:d>
                    <m:dPr>
                      <m:begChr m:val="["/>
                      <m:endChr m:val="]"/>
                      <m:grow m:val="off"/>
                    </m:dPr>
                    <m:e>
                      <m:sSub>
                        <m:e>
                          <m:r>
                            <a:rPr xmlns:a="http://schemas.openxmlformats.org/drawingml/2006/main" lang="en-US" sz="1800" b="0" i="1">
                              <a:latin typeface="Cambria Math"/>
                              <a:ea typeface="Cambria Math"/>
                              <a:cs typeface="Cambria Math"/>
                            </a:rPr>
                            <m:t>∇</m:t>
                          </m:r>
                        </m:e>
                        <m:sub>
                          <m:r>
                            <a:rPr xmlns:a="http://schemas.openxmlformats.org/drawingml/2006/main" lang="en-US" sz="1800" b="0" i="1">
                              <a:latin typeface="Cambria Math"/>
                              <a:ea typeface="Cambria Math"/>
                              <a:cs typeface="Cambria Math"/>
                            </a:rPr>
                            <m:t>𝑎</m:t>
                          </m:r>
                        </m:sub>
                      </m:sSub>
                      <m:r>
                        <a:rPr xmlns:a="http://schemas.openxmlformats.org/drawingml/2006/main" lang="en-US" i="1">
                          <a:latin typeface="Cambria Math"/>
                          <a:ea typeface="Cambria Math"/>
                          <a:cs typeface="Cambria Math"/>
                        </a:rPr>
                        <m:t>𝑄</m:t>
                      </m:r>
                      <m:d>
                        <m:dPr>
                          <m:grow m:val="off"/>
                        </m:dPr>
                        <m:e>
                          <m:sSub>
                            <m:e>
                              <m:r>
                                <a:rPr xmlns:a="http://schemas.openxmlformats.org/drawingml/2006/main" lang="en-US" i="1">
                                  <a:latin typeface="Cambria Math"/>
                                  <a:ea typeface="Cambria Math"/>
                                  <a:cs typeface="Cambria Math"/>
                                </a:rPr>
                                <m:t>𝑠</m:t>
                              </m:r>
                            </m:e>
                            <m:sub>
                              <m:r>
                                <a:rPr xmlns:a="http://schemas.openxmlformats.org/drawingml/2006/main" lang="en-US" i="1">
                                  <a:latin typeface="Cambria Math"/>
                                  <a:ea typeface="Cambria Math"/>
                                  <a:cs typeface="Cambria Math"/>
                                </a:rPr>
                                <m:t>𝑡</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𝑎</m:t>
                              </m:r>
                            </m:e>
                            <m:sub>
                              <m:r>
                                <a:rPr xmlns:a="http://schemas.openxmlformats.org/drawingml/2006/main" lang="en-US" i="1">
                                  <a:latin typeface="Cambria Math"/>
                                  <a:ea typeface="Cambria Math"/>
                                  <a:cs typeface="Cambria Math"/>
                                </a:rPr>
                                <m:t>𝑡</m:t>
                              </m:r>
                            </m:sub>
                          </m:sSub>
                        </m:e>
                        <m:e>
                          <m:sSup>
                            <m:e>
                              <m:r>
                                <a:rPr xmlns:a="http://schemas.openxmlformats.org/drawingml/2006/main" lang="zh-CN" i="1">
                                  <a:latin typeface="Cambria Math"/>
                                  <a:ea typeface="Cambria Math"/>
                                  <a:cs typeface="Cambria Math"/>
                                </a:rPr>
                                <m:t>𝜃</m:t>
                              </m:r>
                            </m:e>
                            <m:sup>
                              <m:r>
                                <a:rPr xmlns:a="http://schemas.openxmlformats.org/drawingml/2006/main" lang="en-US" i="1">
                                  <a:latin typeface="Cambria Math"/>
                                  <a:ea typeface="Cambria Math"/>
                                  <a:cs typeface="Cambria Math"/>
                                </a:rPr>
                                <m:t>𝑄</m:t>
                              </m:r>
                            </m:sup>
                          </m:sSup>
                        </m:e>
                      </m:d>
                      <m:sSub>
                        <m:e>
                          <m:r>
                            <a:rPr xmlns:a="http://schemas.openxmlformats.org/drawingml/2006/main" lang="en-US" b="0" i="1">
                              <a:latin typeface="Cambria Math"/>
                              <a:ea typeface="Cambria Math"/>
                              <a:cs typeface="Cambria Math"/>
                            </a:rPr>
                            <m:t>|</m:t>
                          </m:r>
                        </m:e>
                        <m:sub>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r>
                            <a:rPr xmlns:a="http://schemas.openxmlformats.org/drawingml/2006/main" lang="en-US" b="0" i="1">
                              <a:latin typeface="Cambria Math"/>
                              <a:ea typeface="Cambria Math"/>
                              <a:cs typeface="Cambria Math"/>
                            </a:rPr>
                            <m:t>,</m:t>
                          </m:r>
                          <m:r>
                            <a:rPr xmlns:a="http://schemas.openxmlformats.org/drawingml/2006/main" lang="en-US" b="0" i="1">
                              <a:latin typeface="Cambria Math"/>
                              <a:ea typeface="Cambria Math"/>
                              <a:cs typeface="Cambria Math"/>
                            </a:rPr>
                            <m:t>𝑎</m:t>
                          </m:r>
                          <m:r>
                            <a:rPr xmlns:a="http://schemas.openxmlformats.org/drawingml/2006/main" lang="en-US" b="0" i="1">
                              <a:latin typeface="Cambria Math"/>
                              <a:ea typeface="Cambria Math"/>
                              <a:cs typeface="Cambria Math"/>
                            </a:rPr>
                            <m:t>=</m:t>
                          </m:r>
                          <m:r>
                            <a:rPr xmlns:a="http://schemas.openxmlformats.org/drawingml/2006/main" lang="zh-CN" b="0" i="1">
                              <a:latin typeface="Cambria Math"/>
                              <a:ea typeface="Cambria Math"/>
                              <a:cs typeface="Cambria Math"/>
                            </a:rPr>
                            <m:t>𝜇</m:t>
                          </m:r>
                          <m:d>
                            <m:dPr>
                              <m:grow m:val="off"/>
                            </m:dPr>
                            <m:e>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e>
                          </m:d>
                        </m:sub>
                      </m:sSub>
                      <m:sSub>
                        <m:e>
                          <m:r>
                            <a:rPr xmlns:a="http://schemas.openxmlformats.org/drawingml/2006/main" lang="en-US" b="0" i="1">
                              <a:latin typeface="Cambria Math"/>
                              <a:ea typeface="Cambria Math"/>
                              <a:cs typeface="Cambria Math"/>
                            </a:rPr>
                            <m:t>∇</m:t>
                          </m:r>
                        </m:e>
                        <m:sub>
                          <m:sSup>
                            <m:e>
                              <m:r>
                                <a:rPr xmlns:a="http://schemas.openxmlformats.org/drawingml/2006/main" lang="zh-CN" b="0" i="1">
                                  <a:latin typeface="Cambria Math"/>
                                  <a:ea typeface="Cambria Math"/>
                                  <a:cs typeface="Cambria Math"/>
                                </a:rPr>
                                <m:t>𝜃</m:t>
                              </m:r>
                            </m:e>
                            <m:sup>
                              <m:sSup>
                                <m:e>
                                  <m:r>
                                    <a:rPr xmlns:a="http://schemas.openxmlformats.org/drawingml/2006/main" lang="zh-CN" b="0" i="1">
                                      <a:latin typeface="Cambria Math"/>
                                      <a:ea typeface="Cambria Math"/>
                                      <a:cs typeface="Cambria Math"/>
                                    </a:rPr>
                                    <m:t>𝜋</m:t>
                                  </m:r>
                                </m:e>
                                <m:sup>
                                  <m:r>
                                    <a:rPr xmlns:a="http://schemas.openxmlformats.org/drawingml/2006/main" lang="en-US" b="0" i="1">
                                      <a:latin typeface="Cambria Math"/>
                                      <a:ea typeface="Cambria Math"/>
                                      <a:cs typeface="Cambria Math"/>
                                    </a:rPr>
                                    <m:t>′</m:t>
                                  </m:r>
                                </m:sup>
                              </m:sSup>
                            </m:sup>
                          </m:sSup>
                        </m:sub>
                      </m:sSub>
                      <m:r>
                        <a:rPr xmlns:a="http://schemas.openxmlformats.org/drawingml/2006/main" lang="zh-CN" b="0" i="1">
                          <a:latin typeface="Cambria Math"/>
                          <a:ea typeface="Cambria Math"/>
                          <a:cs typeface="Cambria Math"/>
                        </a:rPr>
                        <m:t>𝜇</m:t>
                      </m:r>
                      <m:d>
                        <m:dPr>
                          <m:grow m:val="off"/>
                        </m:dPr>
                        <m:e>
                          <m:r>
                            <a:rPr xmlns:a="http://schemas.openxmlformats.org/drawingml/2006/main" lang="en-US" b="0" i="1">
                              <a:latin typeface="Cambria Math"/>
                              <a:ea typeface="Cambria Math"/>
                              <a:cs typeface="Cambria Math"/>
                            </a:rPr>
                            <m:t>𝑠</m:t>
                          </m:r>
                        </m:e>
                        <m:e>
                          <m:sSup>
                            <m:e>
                              <m:r>
                                <a:rPr xmlns:a="http://schemas.openxmlformats.org/drawingml/2006/main" lang="zh-CN" b="0" i="1">
                                  <a:latin typeface="Cambria Math"/>
                                  <a:ea typeface="Cambria Math"/>
                                  <a:cs typeface="Cambria Math"/>
                                </a:rPr>
                                <m:t>𝜃</m:t>
                              </m:r>
                            </m:e>
                            <m:sup>
                              <m:sSup>
                                <m:e>
                                  <m:r>
                                    <a:rPr xmlns:a="http://schemas.openxmlformats.org/drawingml/2006/main" lang="zh-CN" b="0" i="1">
                                      <a:latin typeface="Cambria Math"/>
                                      <a:ea typeface="Cambria Math"/>
                                      <a:cs typeface="Cambria Math"/>
                                    </a:rPr>
                                    <m:t>𝜋</m:t>
                                  </m:r>
                                </m:e>
                                <m:sup>
                                  <m:r>
                                    <a:rPr xmlns:a="http://schemas.openxmlformats.org/drawingml/2006/main" lang="en-US" b="0" i="1">
                                      <a:latin typeface="Cambria Math"/>
                                      <a:ea typeface="Cambria Math"/>
                                      <a:cs typeface="Cambria Math"/>
                                    </a:rPr>
                                    <m:t>′</m:t>
                                  </m:r>
                                </m:sup>
                              </m:sSup>
                            </m:sup>
                          </m:sSup>
                        </m:e>
                      </m:d>
                      <m:sSub>
                        <m:e>
                          <m:r>
                            <a:rPr xmlns:a="http://schemas.openxmlformats.org/drawingml/2006/main" lang="en-US" b="0" i="1">
                              <a:latin typeface="Cambria Math"/>
                              <a:ea typeface="Cambria Math"/>
                              <a:cs typeface="Cambria Math"/>
                            </a:rPr>
                            <m:t>|</m:t>
                          </m:r>
                        </m:e>
                        <m:sub>
                          <m:r>
                            <a:rPr xmlns:a="http://schemas.openxmlformats.org/drawingml/2006/main" lang="en-US" b="0" i="1">
                              <a:latin typeface="Cambria Math"/>
                              <a:ea typeface="Cambria Math"/>
                              <a:cs typeface="Cambria Math"/>
                            </a:rPr>
                            <m:t>𝑠</m:t>
                          </m:r>
                          <m:r>
                            <a:rPr xmlns:a="http://schemas.openxmlformats.org/drawingml/2006/main" lang="en-US" b="0" i="1">
                              <a:latin typeface="Cambria Math"/>
                              <a:ea typeface="Cambria Math"/>
                              <a:cs typeface="Cambria Math"/>
                            </a:rPr>
                            <m:t>=</m:t>
                          </m:r>
                          <m:sSub>
                            <m:e>
                              <m:r>
                                <a:rPr xmlns:a="http://schemas.openxmlformats.org/drawingml/2006/main" lang="en-US" b="0" i="1">
                                  <a:latin typeface="Cambria Math"/>
                                  <a:ea typeface="Cambria Math"/>
                                  <a:cs typeface="Cambria Math"/>
                                </a:rPr>
                                <m:t>𝑠</m:t>
                              </m:r>
                            </m:e>
                            <m:sub>
                              <m:r>
                                <a:rPr xmlns:a="http://schemas.openxmlformats.org/drawingml/2006/main" lang="en-US" b="0" i="1">
                                  <a:latin typeface="Cambria Math"/>
                                  <a:ea typeface="Cambria Math"/>
                                  <a:cs typeface="Cambria Math"/>
                                </a:rPr>
                                <m:t>𝑡</m:t>
                              </m:r>
                            </m:sub>
                          </m:sSub>
                        </m:sub>
                      </m:sSub>
                    </m:e>
                  </m:d>
                </m:oMath>
              </m:oMathPara>
            </a14:m>
            <a:endParaRPr sz="1800" b="0" i="0" u="none" baseline="0">
              <a:latin typeface="+mn-ea"/>
              <a:ea typeface="+mn-ea"/>
              <a:cs typeface="+mn-ea"/>
            </a:endParaRPr>
          </a:p>
          <a:p xmlns:a="http://schemas.openxmlformats.org/drawingml/2006/main">
            <a:endParaRPr>
              <a:latin typeface="+mn-ea"/>
              <a:ea typeface="+mn-ea"/>
              <a:cs typeface="+mn-ea"/>
            </a:endParaRPr>
          </a:p>
        </p:txBody>
      </p:sp>
    </p:spTree>
    <p:extLst>
      <p:ext uri="{BB962C8B-B14F-4D97-AF65-F5344CB8AC3E}">
        <p14:creationId xmlns:p14="http://schemas.microsoft.com/office/powerpoint/2010/main" val="2306896597"/>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71F3AA5C-9A55-8904-0700-4F7D3D51DD1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CA8F8771-B189-801A-90D6-8F06C659FF39}"/>
              </a:ext>
            </a:extLst>
          </p:cNvPr>
          <p:cNvSpPr>
            <a:spLocks xmlns:a="http://schemas.openxmlformats.org/drawingml/2006/main" noGrp="1"/>
          </p:cNvSpPr>
          <p:nvPr/>
        </p:nvSpPr>
        <p:spPr>
          <a:xfrm xmlns:a="http://schemas.openxmlformats.org/drawingml/2006/main" rot="0" flipH="0" flipV="0">
            <a:off x="270932" y="1021703"/>
            <a:ext cx="5825067"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5.4.3 </a:t>
            </a:r>
            <a:r>
              <a:rPr sz="2400" b="1">
                <a:solidFill>
                  <a:schemeClr val="accent1"/>
                </a:solidFill>
              </a:rPr>
              <a:t>基于深度强化学习方法的导航</a:t>
            </a:r>
          </a:p>
          <a:p xmlns:a="http://schemas.openxmlformats.org/drawingml/2006/main">
            <a:endParaRPr sz="2400" b="1">
              <a:solidFill>
                <a:schemeClr val="accent1"/>
              </a:solidFill>
              <a:latin typeface="+mj-lt"/>
              <a:ea typeface="+mj-lt"/>
              <a:cs typeface="+mj-lt"/>
            </a:endParaRPr>
          </a:p>
        </p:txBody>
      </p:sp>
      <p:sp>
        <p:nvSpPr>
          <p:cNvPr id="19" name="文本框 18">
            <a:extLst xmlns:a="http://schemas.openxmlformats.org/drawingml/2006/main">
              <a:ext uri="{FF2B5EF4-FFF2-40B4-BE49-F238E27FC236}">
                <a16:creationId xmlns:a16="http://schemas.microsoft.com/office/drawing/2014/main" id="{0763DC27-50B7-8EFC-BAF3-1DAEE38A0FE7}"/>
              </a:ext>
            </a:extLst>
          </p:cNvPr>
          <p:cNvSpPr>
            <a:spLocks xmlns:a="http://schemas.openxmlformats.org/drawingml/2006/main" noGrp="1"/>
          </p:cNvSpPr>
          <p:nvPr/>
        </p:nvSpPr>
        <p:spPr>
          <a:xfrm xmlns:a="http://schemas.openxmlformats.org/drawingml/2006/main">
            <a:off x="995701" y="1647177"/>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分层深度强化学习</a:t>
            </a:r>
          </a:p>
        </p:txBody>
      </p:sp>
      <p:sp>
        <p:nvSpPr>
          <p:cNvPr id="5" name="文本框 4">
            <a:extLst xmlns:a="http://schemas.openxmlformats.org/drawingml/2006/main">
              <a:ext uri="{FF2B5EF4-FFF2-40B4-BE49-F238E27FC236}">
                <a16:creationId xmlns:a16="http://schemas.microsoft.com/office/drawing/2014/main" id="{B9805BB6-6191-502F-B5D7-11DD3C088289}"/>
              </a:ext>
            </a:extLst>
          </p:cNvPr>
          <p:cNvSpPr>
            <a:spLocks xmlns:a="http://schemas.openxmlformats.org/drawingml/2006/main" noGrp="1"/>
          </p:cNvSpPr>
          <p:nvPr/>
        </p:nvSpPr>
        <p:spPr>
          <a:xfrm xmlns:a="http://schemas.openxmlformats.org/drawingml/2006/main">
            <a:off x="270931" y="2098414"/>
            <a:ext cx="5578539" cy="3416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t>在面对</a:t>
            </a:r>
            <a:r>
              <a:rPr b="1"/>
              <a:t>高维度</a:t>
            </a:r>
            <a:r>
              <a:t>状态空间，基于深度强化学习</a:t>
            </a:r>
            <a:r>
              <a:t>(DRL) </a:t>
            </a:r>
            <a:r>
              <a:t>的方法依然存在无法解决的维数灾难，导致无法执行有效导航，同时面对一些</a:t>
            </a:r>
            <a:r>
              <a:rPr b="1"/>
              <a:t>特殊地形</a:t>
            </a:r>
            <a:r>
              <a:t>（如长廊、死角处）策略网络容易出现</a:t>
            </a:r>
            <a:r>
              <a:rPr b="1"/>
              <a:t>局部最优化</a:t>
            </a:r>
            <a:r>
              <a:t>等问题</a:t>
            </a:r>
            <a:endParaRPr/>
          </a:p>
          <a:p xmlns:a="http://schemas.openxmlformats.org/drawingml/2006/main">
            <a:pPr marL="285750" indent="-285750">
              <a:buFont typeface="Arial"/>
              <a:buChar char="•"/>
            </a:pPr>
            <a:r>
              <a:t>基于对以上挑战的研究，研究人员提出了基于</a:t>
            </a:r>
            <a:r>
              <a:rPr b="1"/>
              <a:t>分层深度强化学习</a:t>
            </a:r>
            <a:r>
              <a:t>（</a:t>
            </a:r>
            <a:r>
              <a:t>Hierarchical Deep Reinforcement Learning</a:t>
            </a:r>
            <a:r>
              <a:t>，</a:t>
            </a:r>
            <a:r>
              <a:t>HDRL</a:t>
            </a:r>
            <a:r>
              <a:t>的机器人导航方法，将复杂导航问题分解成相对简单的子问题，通过解决每个子问题获得全局导航策略</a:t>
            </a:r>
            <a:endParaRPr/>
          </a:p>
          <a:p xmlns:a="http://schemas.openxmlformats.org/drawingml/2006/main">
            <a:pPr marL="285750" indent="-285750">
              <a:buFont typeface="Arial"/>
              <a:buChar char="•"/>
            </a:pPr>
            <a:r>
              <a:t>基于分层深度强化学习的导航方法可以分为两类：基于</a:t>
            </a:r>
            <a:r>
              <a:rPr b="1"/>
              <a:t>子任务</a:t>
            </a:r>
            <a:r>
              <a:t>的分层深度强化学习方法和基于</a:t>
            </a:r>
            <a:r>
              <a:rPr b="1"/>
              <a:t>选项</a:t>
            </a:r>
            <a:r>
              <a:t>的分层深度强化学习方法</a:t>
            </a:r>
            <a:endParaRPr sz="1800" b="0" i="0" u="none" baseline="0">
              <a:latin typeface="+mn-ea"/>
              <a:ea typeface="+mn-ea"/>
              <a:cs typeface="+mn-ea"/>
            </a:endParaRPr>
          </a:p>
        </p:txBody>
      </p:sp>
      <p:pic>
        <p:nvPicPr>
          <p:cNvPr id="111" name="图片 2"/>
          <p:cNvPicPr>
            <a:picLocks xmlns:a="http://schemas.openxmlformats.org/drawingml/2006/main" noChangeAspect="1"/>
          </p:cNvPicPr>
          <p:nvPr/>
        </p:nvPicPr>
        <p:blipFill>
          <a:blip xmlns:r="http://schemas.openxmlformats.org/officeDocument/2006/relationships" xmlns:a="http://schemas.openxmlformats.org/drawingml/2006/main" r:embed="R7246d6e30fd64d81"/>
          <a:stretch xmlns:a="http://schemas.openxmlformats.org/drawingml/2006/main">
            <a:fillRect l="0" t="0" r="0" b="0"/>
          </a:stretch>
        </p:blipFill>
        <p:spPr>
          <a:xfrm xmlns:a="http://schemas.openxmlformats.org/drawingml/2006/main">
            <a:off x="5933347" y="1021703"/>
            <a:ext cx="5834452" cy="1892956"/>
          </a:xfrm>
          <a:prstGeom xmlns:a="http://schemas.openxmlformats.org/drawingml/2006/main" prst="rect">
            <a:avLst/>
          </a:prstGeom>
        </p:spPr>
      </p:pic>
      <p:sp>
        <p:nvSpPr>
          <p:cNvPr id="7" name="文本框 6">
            <a:extLst xmlns:a="http://schemas.openxmlformats.org/drawingml/2006/main">
              <a:ext uri="{FF2B5EF4-FFF2-40B4-BE49-F238E27FC236}">
                <a16:creationId xmlns:a16="http://schemas.microsoft.com/office/drawing/2014/main" id="{BC6A0E6A-5751-45D6-71C1-AA7886532CFE}"/>
              </a:ext>
            </a:extLst>
          </p:cNvPr>
          <p:cNvSpPr>
            <a:spLocks xmlns:a="http://schemas.openxmlformats.org/drawingml/2006/main" noGrp="1"/>
          </p:cNvSpPr>
          <p:nvPr/>
        </p:nvSpPr>
        <p:spPr>
          <a:xfrm xmlns:a="http://schemas.openxmlformats.org/drawingml/2006/main">
            <a:off x="5933347" y="3288315"/>
            <a:ext cx="6094878" cy="230832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0" i="0" u="none">
                <a:latin typeface="+mn-ea"/>
                <a:ea typeface="+mn-ea"/>
                <a:cs typeface="+mn-ea"/>
              </a:rPr>
              <a:t>在基于</a:t>
            </a:r>
            <a:r>
              <a:rPr sz="1800" b="1" i="0" u="none">
                <a:latin typeface="+mn-ea"/>
                <a:ea typeface="+mn-ea"/>
                <a:cs typeface="+mn-ea"/>
              </a:rPr>
              <a:t>子任务</a:t>
            </a:r>
            <a:r>
              <a:rPr sz="1800" b="0" i="0" u="none">
                <a:latin typeface="+mn-ea"/>
                <a:ea typeface="+mn-ea"/>
                <a:cs typeface="+mn-ea"/>
              </a:rPr>
              <a:t>的分层深度强化学习方法中，高层策略负责负责生成子目标，再由低层策略输出控制动作进行实现，但是其先验知识的设计不具有泛化性，表现性能依赖于具有任务特异性的子目标空间；</a:t>
            </a:r>
            <a:endParaRPr sz="1800" b="0" i="0" u="none" baseline="0">
              <a:latin typeface="+mn-ea"/>
              <a:ea typeface="+mn-ea"/>
              <a:cs typeface="+mn-ea"/>
            </a:endParaRPr>
          </a:p>
          <a:p xmlns:a="http://schemas.openxmlformats.org/drawingml/2006/main">
            <a:pPr algn="l">
              <a:buNone/>
            </a:pPr>
            <a:endParaRPr sz="1800" b="0" i="0" u="none" baseline="0">
              <a:latin typeface="+mn-ea"/>
              <a:ea typeface="+mn-ea"/>
              <a:cs typeface="+mn-ea"/>
            </a:endParaRPr>
          </a:p>
          <a:p xmlns:a="http://schemas.openxmlformats.org/drawingml/2006/main">
            <a:pPr algn="l">
              <a:buNone/>
            </a:pPr>
            <a:r>
              <a:rPr sz="1800" b="0" i="0" u="none">
                <a:latin typeface="+mn-ea"/>
                <a:ea typeface="+mn-ea"/>
                <a:cs typeface="+mn-ea"/>
              </a:rPr>
              <a:t>基于</a:t>
            </a:r>
            <a:r>
              <a:rPr sz="1800" b="1" i="0" u="none">
                <a:latin typeface="+mn-ea"/>
                <a:ea typeface="+mn-ea"/>
                <a:cs typeface="+mn-ea"/>
              </a:rPr>
              <a:t>选项</a:t>
            </a:r>
            <a:r>
              <a:rPr sz="1800" b="0" i="0" u="none">
                <a:latin typeface="+mn-ea"/>
                <a:ea typeface="+mn-ea"/>
                <a:cs typeface="+mn-ea"/>
              </a:rPr>
              <a:t>的分层深度强化学习方法则使用高层策略在多个低层策略中进行选择，再由被选低层策略进行控制动作的输出</a:t>
            </a:r>
            <a:endParaRPr>
              <a:latin typeface="+mn-ea"/>
              <a:ea typeface="+mn-ea"/>
              <a:cs typeface="+mn-ea"/>
            </a:endParaRPr>
          </a:p>
        </p:txBody>
      </p:sp>
    </p:spTree>
    <p:extLst>
      <p:ext uri="{BB962C8B-B14F-4D97-AF65-F5344CB8AC3E}">
        <p14:creationId xmlns:p14="http://schemas.microsoft.com/office/powerpoint/2010/main" val="186274743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04" name="矩形 103">
            <a:extLst xmlns:a="http://schemas.openxmlformats.org/drawingml/2006/main">
              <a:ext uri="{FF2B5EF4-FFF2-40B4-BE49-F238E27FC236}">
                <a16:creationId xmlns:a16="http://schemas.microsoft.com/office/drawing/2014/main" id="{3F209471-F9FB-3AA5-02D3-9F45F4BD7E53}"/>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文本框 104">
            <a:extLst xmlns:a="http://schemas.openxmlformats.org/drawingml/2006/main">
              <a:ext uri="{FF2B5EF4-FFF2-40B4-BE49-F238E27FC236}">
                <a16:creationId xmlns:a16="http://schemas.microsoft.com/office/drawing/2014/main" id="{F8867C1E-DF8D-5E0D-EDA9-8BC820F54605}"/>
              </a:ext>
            </a:extLst>
          </p:cNvPr>
          <p:cNvSpPr>
            <a:spLocks xmlns:a="http://schemas.openxmlformats.org/drawingml/2006/main" noGrp="1"/>
          </p:cNvSpPr>
          <p:nvPr/>
        </p:nvSpPr>
        <p:spPr>
          <a:xfrm xmlns:a="http://schemas.openxmlformats.org/drawingml/2006/main" rot="0" flipH="0" flipV="0">
            <a:off x="270932" y="1021703"/>
            <a:ext cx="5825067"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rPr>
              <a:t>5.4.3 </a:t>
            </a:r>
            <a:r>
              <a:rPr sz="2400" b="1">
                <a:solidFill>
                  <a:schemeClr val="accent1"/>
                </a:solidFill>
              </a:rPr>
              <a:t>基于深度强化学习方法的导航</a:t>
            </a:r>
          </a:p>
          <a:p xmlns:a="http://schemas.openxmlformats.org/drawingml/2006/main">
            <a:endParaRPr sz="2400" b="1">
              <a:solidFill>
                <a:schemeClr val="accent1"/>
              </a:solidFill>
              <a:latin typeface="+mj-lt"/>
              <a:ea typeface="+mj-lt"/>
              <a:cs typeface="+mj-lt"/>
            </a:endParaRPr>
          </a:p>
        </p:txBody>
      </p:sp>
      <p:sp>
        <p:nvSpPr>
          <p:cNvPr id="19" name="文本框 18">
            <a:extLst xmlns:a="http://schemas.openxmlformats.org/drawingml/2006/main">
              <a:ext uri="{FF2B5EF4-FFF2-40B4-BE49-F238E27FC236}">
                <a16:creationId xmlns:a16="http://schemas.microsoft.com/office/drawing/2014/main" id="{491ED6E0-3CBE-FF51-7EAA-656F03D1AB58}"/>
              </a:ext>
            </a:extLst>
          </p:cNvPr>
          <p:cNvSpPr>
            <a:spLocks xmlns:a="http://schemas.openxmlformats.org/drawingml/2006/main" noGrp="1"/>
          </p:cNvSpPr>
          <p:nvPr/>
        </p:nvSpPr>
        <p:spPr>
          <a:xfrm xmlns:a="http://schemas.openxmlformats.org/drawingml/2006/main">
            <a:off x="1002576" y="1565273"/>
            <a:ext cx="60948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分层深度强化学习</a:t>
            </a:r>
          </a:p>
        </p:txBody>
      </p:sp>
      <p:pic>
        <p:nvPicPr>
          <p:cNvPr id="110" name="图片 2"/>
          <p:cNvPicPr>
            <a:picLocks xmlns:a="http://schemas.openxmlformats.org/drawingml/2006/main" noChangeAspect="1"/>
          </p:cNvPicPr>
          <p:nvPr/>
        </p:nvPicPr>
        <p:blipFill>
          <a:blip xmlns:r="http://schemas.openxmlformats.org/officeDocument/2006/relationships" xmlns:a="http://schemas.openxmlformats.org/drawingml/2006/main" r:embed="R5b49170c18d141ca"/>
          <a:stretch xmlns:a="http://schemas.openxmlformats.org/drawingml/2006/main">
            <a:fillRect l="0" t="0" r="0" b="0"/>
          </a:stretch>
        </p:blipFill>
        <p:spPr>
          <a:xfrm xmlns:a="http://schemas.openxmlformats.org/drawingml/2006/main">
            <a:off x="6221522" y="1107888"/>
            <a:ext cx="5834452" cy="1892956"/>
          </a:xfrm>
          <a:prstGeom xmlns:a="http://schemas.openxmlformats.org/drawingml/2006/main" prst="rect">
            <a:avLst/>
          </a:prstGeom>
        </p:spPr>
      </p:pic>
      <p:sp>
        <p:nvSpPr>
          <p:cNvPr id="7" name="文本框 6">
            <a:extLst xmlns:a="http://schemas.openxmlformats.org/drawingml/2006/main">
              <a:ext uri="{FF2B5EF4-FFF2-40B4-BE49-F238E27FC236}">
                <a16:creationId xmlns:a16="http://schemas.microsoft.com/office/drawing/2014/main" id="{B95881BD-B82F-F8C5-DC53-5B2FBBFE70EC}"/>
              </a:ext>
            </a:extLst>
          </p:cNvPr>
          <p:cNvSpPr>
            <a:spLocks xmlns:a="http://schemas.openxmlformats.org/drawingml/2006/main" noGrp="1"/>
          </p:cNvSpPr>
          <p:nvPr/>
        </p:nvSpPr>
        <p:spPr>
          <a:xfrm xmlns:a="http://schemas.openxmlformats.org/drawingml/2006/main">
            <a:off x="124257" y="1852700"/>
            <a:ext cx="6085496" cy="513986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0" i="0" u="none">
                <a:latin typeface="+mn-ea"/>
                <a:ea typeface="+mn-ea"/>
                <a:cs typeface="+mn-ea"/>
              </a:rPr>
              <a:t>在机器人导航中，最常见的解耦方式就是将导航任务拆解成</a:t>
            </a:r>
            <a:r>
              <a:rPr sz="1800" b="1" i="0" u="none">
                <a:latin typeface="+mn-ea"/>
                <a:ea typeface="+mn-ea"/>
                <a:cs typeface="+mn-ea"/>
              </a:rPr>
              <a:t>避障</a:t>
            </a:r>
            <a:r>
              <a:rPr sz="1800" b="0" i="0" u="none">
                <a:latin typeface="+mn-ea"/>
                <a:ea typeface="+mn-ea"/>
                <a:cs typeface="+mn-ea"/>
              </a:rPr>
              <a:t>和</a:t>
            </a:r>
            <a:r>
              <a:rPr sz="1800" b="1" i="0" u="none">
                <a:latin typeface="+mn-ea"/>
                <a:ea typeface="+mn-ea"/>
                <a:cs typeface="+mn-ea"/>
              </a:rPr>
              <a:t>目标接近</a:t>
            </a:r>
            <a:r>
              <a:rPr sz="1800" b="0" i="0" u="none">
                <a:latin typeface="+mn-ea"/>
                <a:ea typeface="+mn-ea"/>
                <a:cs typeface="+mn-ea"/>
              </a:rPr>
              <a:t>两个子任务。</a:t>
            </a:r>
            <a:endParaRPr sz="1800" b="0" i="0" u="none" baseline="0">
              <a:latin typeface="+mn-ea"/>
              <a:ea typeface="+mn-ea"/>
              <a:cs typeface="+mn-ea"/>
            </a:endParaRPr>
          </a:p>
          <a:p xmlns:a="http://schemas.openxmlformats.org/drawingml/2006/main">
            <a:pPr algn="l">
              <a:buNone/>
            </a:pPr>
            <a:endParaRPr sz="1800" b="0" i="0" u="none" baseline="0">
              <a:latin typeface="+mn-ea"/>
              <a:ea typeface="+mn-ea"/>
              <a:cs typeface="+mn-ea"/>
            </a:endParaRPr>
          </a:p>
          <a:p xmlns:a="http://schemas.openxmlformats.org/drawingml/2006/main">
            <a:pPr algn="l">
              <a:buNone/>
            </a:pPr>
            <a:r>
              <a:rPr sz="1800" b="0" i="0" u="none">
                <a:latin typeface="+mn-ea"/>
                <a:ea typeface="+mn-ea"/>
                <a:cs typeface="+mn-ea"/>
              </a:rPr>
              <a:t>在基于分层深度强化学习的导航方法框架中，高层的行为选择模型采用全连接神经网络对低层策略进行选择，低层控制模型分为两个部分：一是采用</a:t>
            </a:r>
            <a:r>
              <a:rPr sz="1800" b="1" i="0" u="none">
                <a:latin typeface="+mn-ea"/>
                <a:ea typeface="+mn-ea"/>
                <a:cs typeface="+mn-ea"/>
              </a:rPr>
              <a:t>全连接神经网络的避障控制模型</a:t>
            </a:r>
            <a:r>
              <a:rPr sz="1800" b="0" i="0" u="none">
                <a:latin typeface="+mn-ea"/>
                <a:ea typeface="+mn-ea"/>
                <a:cs typeface="+mn-ea"/>
              </a:rPr>
              <a:t>，负责</a:t>
            </a:r>
            <a:r>
              <a:rPr sz="1800" b="1" i="0" u="none">
                <a:latin typeface="+mn-ea"/>
                <a:ea typeface="+mn-ea"/>
                <a:cs typeface="+mn-ea"/>
              </a:rPr>
              <a:t>学习避障策略</a:t>
            </a:r>
            <a:r>
              <a:rPr sz="1800" b="0" i="0" u="none">
                <a:latin typeface="+mn-ea"/>
                <a:ea typeface="+mn-ea"/>
                <a:cs typeface="+mn-ea"/>
              </a:rPr>
              <a:t>；一个是采用</a:t>
            </a:r>
            <a:r>
              <a:rPr sz="1800" b="1" i="0" u="none">
                <a:latin typeface="+mn-ea"/>
                <a:ea typeface="+mn-ea"/>
                <a:cs typeface="+mn-ea"/>
              </a:rPr>
              <a:t>基于规则的控制器负责实现目标接近策略</a:t>
            </a:r>
            <a:r>
              <a:rPr sz="1800" b="0" i="0" u="none">
                <a:latin typeface="+mn-ea"/>
                <a:ea typeface="+mn-ea"/>
                <a:cs typeface="+mn-ea"/>
              </a:rPr>
              <a:t>。</a:t>
            </a:r>
          </a:p>
          <a:p xmlns:a="http://schemas.openxmlformats.org/drawingml/2006/main">
            <a:pPr algn="l">
              <a:buNone/>
            </a:pPr>
            <a:r>
              <a:rPr sz="1800" b="0" i="0" u="none">
                <a:latin typeface="+mn-ea"/>
                <a:ea typeface="+mn-ea"/>
                <a:cs typeface="+mn-ea"/>
              </a:rPr>
              <a:t>模型通过两个部分学习到最优导航策略，具体步骤如下：</a:t>
            </a:r>
            <a:endParaRPr sz="1800" b="0" i="0" u="none" baseline="0">
              <a:latin typeface="+mn-ea"/>
              <a:ea typeface="+mn-ea"/>
              <a:cs typeface="+mn-ea"/>
            </a:endParaRPr>
          </a:p>
          <a:p xmlns:a="http://schemas.openxmlformats.org/drawingml/2006/main">
            <a:pPr algn="l">
              <a:buNone/>
            </a:pPr>
            <a:endParaRPr sz="1800" b="0" i="0" u="none" baseline="0">
              <a:latin typeface="+mn-ea"/>
              <a:ea typeface="+mn-ea"/>
              <a:cs typeface="+mn-ea"/>
            </a:endParaRPr>
          </a:p>
          <a:p xmlns:a="http://schemas.openxmlformats.org/drawingml/2006/main">
            <a:pPr algn="l">
              <a:buNone/>
            </a:pPr>
            <a:r>
              <a:rPr b="1">
                <a:latin typeface="+mn-ea"/>
                <a:ea typeface="+mn-ea"/>
                <a:cs typeface="+mn-ea"/>
              </a:rPr>
              <a:t>环境交互</a:t>
            </a:r>
            <a:r>
              <a:rPr>
                <a:latin typeface="+mn-ea"/>
                <a:ea typeface="+mn-ea"/>
                <a:cs typeface="+mn-ea"/>
              </a:rPr>
              <a:t>：</a:t>
            </a:r>
          </a:p>
          <a:p xmlns:a="http://schemas.openxmlformats.org/drawingml/2006/main">
            <a:pPr algn="l">
              <a:buNone/>
            </a:pPr>
            <a:r>
              <a:rPr sz="1600">
                <a:latin typeface="+mn-ea"/>
                <a:ea typeface="+mn-ea"/>
                <a:cs typeface="+mn-ea"/>
              </a:rPr>
              <a:t>1) </a:t>
            </a:r>
            <a:r>
              <a:rPr sz="1600">
                <a:latin typeface="+mn-ea"/>
                <a:ea typeface="+mn-ea"/>
                <a:cs typeface="+mn-ea"/>
              </a:rPr>
              <a:t>输入激光雷达扫描帧、机器人的角速度、线速度和目标点坐标，由行为选择模型输出被选行为；</a:t>
            </a:r>
          </a:p>
          <a:p xmlns:a="http://schemas.openxmlformats.org/drawingml/2006/main">
            <a:pPr algn="l">
              <a:buNone/>
            </a:pPr>
            <a:r>
              <a:rPr sz="1600">
                <a:latin typeface="+mn-ea"/>
                <a:ea typeface="+mn-ea"/>
                <a:cs typeface="+mn-ea"/>
              </a:rPr>
              <a:t>2) </a:t>
            </a:r>
            <a:r>
              <a:rPr sz="1600">
                <a:latin typeface="+mn-ea"/>
                <a:ea typeface="+mn-ea"/>
                <a:cs typeface="+mn-ea"/>
              </a:rPr>
              <a:t>如果选择目标接近行为，则根据目标驱动控制模型的输出执行</a:t>
            </a:r>
            <a:r>
              <a:rPr sz="1600">
                <a:latin typeface="+mn-ea"/>
                <a:ea typeface="+mn-ea"/>
                <a:cs typeface="+mn-ea"/>
              </a:rPr>
              <a:t>1 </a:t>
            </a:r>
            <a:r>
              <a:rPr sz="1600">
                <a:latin typeface="+mn-ea"/>
                <a:ea typeface="+mn-ea"/>
                <a:cs typeface="+mn-ea"/>
              </a:rPr>
              <a:t>次动作，产生的经验数据存入</a:t>
            </a:r>
            <a14:m xmlns:a14="http://schemas.microsoft.com/office/drawing/2010/main">
              <m:oMathPara xmlns:m="http://schemas.openxmlformats.org/officeDocument/2006/math">
                <m:oMath>
                  <m:sSub>
                    <m:e>
                      <m:r>
                        <a:rPr xmlns:a="http://schemas.openxmlformats.org/drawingml/2006/main" lang="en-US" sz="1600" b="0" i="1">
                          <a:latin typeface="Cambria Math"/>
                          <a:ea typeface="Cambria Math"/>
                          <a:cs typeface="Cambria Math"/>
                        </a:rPr>
                        <m:t>𝐸</m:t>
                      </m:r>
                    </m:e>
                    <m:sub>
                      <m:r>
                        <a:rPr xmlns:a="http://schemas.openxmlformats.org/drawingml/2006/main" lang="en-US" sz="1600" b="0" i="1">
                          <a:latin typeface="Cambria Math"/>
                          <a:ea typeface="Cambria Math"/>
                          <a:cs typeface="Cambria Math"/>
                        </a:rPr>
                        <m:t>1</m:t>
                      </m:r>
                    </m:sub>
                  </m:sSub>
                </m:oMath>
              </m:oMathPara>
            </a14:m>
            <a:r>
              <a:rPr sz="1600">
                <a:latin typeface="+mn-ea"/>
                <a:ea typeface="+mn-ea"/>
                <a:cs typeface="+mn-ea"/>
              </a:rPr>
              <a:t>；如果选择执行避障行为，则根据避障控制模型的输出执行</a:t>
            </a:r>
            <a:r>
              <a:rPr sz="1600">
                <a:latin typeface="+mn-ea"/>
                <a:ea typeface="+mn-ea"/>
                <a:cs typeface="+mn-ea"/>
              </a:rPr>
              <a:t>n </a:t>
            </a:r>
            <a:r>
              <a:rPr sz="1600">
                <a:latin typeface="+mn-ea"/>
                <a:ea typeface="+mn-ea"/>
                <a:cs typeface="+mn-ea"/>
              </a:rPr>
              <a:t>次动作，产生的避障经验存入</a:t>
            </a:r>
            <a14:m xmlns:a14="http://schemas.microsoft.com/office/drawing/2010/main">
              <m:oMathPara xmlns:m="http://schemas.openxmlformats.org/officeDocument/2006/math">
                <m:oMath>
                  <m:sSub>
                    <m:e>
                      <m:r>
                        <a:rPr xmlns:a="http://schemas.openxmlformats.org/drawingml/2006/main" lang="en-US" sz="1600" b="0" i="1">
                          <a:latin typeface="Cambria Math"/>
                          <a:ea typeface="Cambria Math"/>
                          <a:cs typeface="Cambria Math"/>
                        </a:rPr>
                        <m:t>𝐸</m:t>
                      </m:r>
                    </m:e>
                    <m:sub>
                      <m:r>
                        <a:rPr xmlns:a="http://schemas.openxmlformats.org/drawingml/2006/main" lang="en-US" sz="1600" b="0" i="1">
                          <a:latin typeface="Cambria Math"/>
                          <a:ea typeface="Cambria Math"/>
                          <a:cs typeface="Cambria Math"/>
                        </a:rPr>
                        <m:t>1</m:t>
                      </m:r>
                    </m:sub>
                  </m:sSub>
                </m:oMath>
              </m:oMathPara>
            </a14:m>
            <a:r>
              <a:rPr sz="1600">
                <a:latin typeface="+mn-ea"/>
                <a:ea typeface="+mn-ea"/>
                <a:cs typeface="+mn-ea"/>
              </a:rPr>
              <a:t>；</a:t>
            </a:r>
          </a:p>
          <a:p xmlns:a="http://schemas.openxmlformats.org/drawingml/2006/main">
            <a:pPr algn="l">
              <a:buNone/>
            </a:pPr>
            <a:r>
              <a:rPr sz="1600">
                <a:latin typeface="+mn-ea"/>
                <a:ea typeface="+mn-ea"/>
                <a:cs typeface="+mn-ea"/>
              </a:rPr>
              <a:t>3) </a:t>
            </a:r>
            <a:r>
              <a:rPr sz="1600">
                <a:latin typeface="+mn-ea"/>
                <a:ea typeface="+mn-ea"/>
                <a:cs typeface="+mn-ea"/>
              </a:rPr>
              <a:t>产生的行为选择经验数据存入</a:t>
            </a:r>
            <a14:m xmlns:a14="http://schemas.microsoft.com/office/drawing/2010/main">
              <m:oMathPara xmlns:m="http://schemas.openxmlformats.org/officeDocument/2006/math">
                <m:oMath>
                  <m:sSub>
                    <m:e>
                      <m:r>
                        <a:rPr xmlns:a="http://schemas.openxmlformats.org/drawingml/2006/main" lang="en-US" sz="1600" b="0" i="1">
                          <a:latin typeface="Cambria Math"/>
                          <a:ea typeface="Cambria Math"/>
                          <a:cs typeface="Cambria Math"/>
                        </a:rPr>
                        <m:t>𝐸</m:t>
                      </m:r>
                    </m:e>
                    <m:sub>
                      <m:r>
                        <a:rPr xmlns:a="http://schemas.openxmlformats.org/drawingml/2006/main" lang="en-US" sz="1600" b="0" i="1">
                          <a:latin typeface="Cambria Math"/>
                          <a:ea typeface="Cambria Math"/>
                          <a:cs typeface="Cambria Math"/>
                        </a:rPr>
                        <m:t>2</m:t>
                      </m:r>
                    </m:sub>
                  </m:sSub>
                </m:oMath>
              </m:oMathPara>
            </a14:m>
            <a:r>
              <a:rPr sz="1600">
                <a:latin typeface="+mn-ea"/>
                <a:ea typeface="+mn-ea"/>
                <a:cs typeface="+mn-ea"/>
              </a:rPr>
              <a:t>；</a:t>
            </a:r>
            <a:endParaRPr sz="1600">
              <a:latin typeface="+mn-ea"/>
              <a:ea typeface="+mn-ea"/>
              <a:cs typeface="+mn-ea"/>
            </a:endParaRPr>
          </a:p>
          <a:p xmlns:a="http://schemas.openxmlformats.org/drawingml/2006/main">
            <a:r>
              <a:rPr sz="1600">
                <a:latin typeface="+mn-ea"/>
                <a:ea typeface="+mn-ea"/>
                <a:cs typeface="+mn-ea"/>
              </a:rPr>
              <a:t>4) </a:t>
            </a:r>
            <a:r>
              <a:rPr sz="1600">
                <a:latin typeface="+mn-ea"/>
                <a:ea typeface="+mn-ea"/>
                <a:cs typeface="+mn-ea"/>
              </a:rPr>
              <a:t>迭代第一步至第三步，直到训练回合终止；</a:t>
            </a:r>
          </a:p>
          <a:p xmlns:a="http://schemas.openxmlformats.org/drawingml/2006/main">
            <a:pPr algn="l">
              <a:buNone/>
            </a:pPr>
            <a:endParaRPr sz="1600">
              <a:latin typeface="+mn-ea"/>
              <a:ea typeface="+mn-ea"/>
              <a:cs typeface="+mn-ea"/>
            </a:endParaRPr>
          </a:p>
        </p:txBody>
      </p:sp>
      <p:sp>
        <p:nvSpPr>
          <p:cNvPr id="4" name="文本框 3">
            <a:extLst xmlns:a="http://schemas.openxmlformats.org/drawingml/2006/main">
              <a:ext uri="{FF2B5EF4-FFF2-40B4-BE49-F238E27FC236}">
                <a16:creationId xmlns:a16="http://schemas.microsoft.com/office/drawing/2014/main" id="{7FD05466-533F-D0CE-441D-0E1E1B4E4E89}"/>
              </a:ext>
            </a:extLst>
          </p:cNvPr>
          <p:cNvSpPr>
            <a:spLocks xmlns:a="http://schemas.openxmlformats.org/drawingml/2006/main" noGrp="1"/>
          </p:cNvSpPr>
          <p:nvPr/>
        </p:nvSpPr>
        <p:spPr>
          <a:xfrm xmlns:a="http://schemas.openxmlformats.org/drawingml/2006/main">
            <a:off x="6377309" y="3272589"/>
            <a:ext cx="5331136" cy="273921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b="1">
                <a:latin typeface="+mn-ea"/>
                <a:ea typeface="+mn-ea"/>
                <a:cs typeface="+mn-ea"/>
              </a:rPr>
              <a:t>参数更新</a:t>
            </a:r>
            <a:r>
              <a:rPr>
                <a:latin typeface="+mn-ea"/>
                <a:ea typeface="+mn-ea"/>
                <a:cs typeface="+mn-ea"/>
              </a:rPr>
              <a:t>：</a:t>
            </a:r>
          </a:p>
          <a:p xmlns:a="http://schemas.openxmlformats.org/drawingml/2006/main">
            <a:pPr algn="l">
              <a:buNone/>
            </a:pPr>
            <a:r>
              <a:rPr sz="1600">
                <a:latin typeface="+mn-ea"/>
                <a:ea typeface="+mn-ea"/>
                <a:cs typeface="+mn-ea"/>
              </a:rPr>
              <a:t>1) </a:t>
            </a:r>
            <a:r>
              <a:rPr sz="1600">
                <a:latin typeface="+mn-ea"/>
                <a:ea typeface="+mn-ea"/>
                <a:cs typeface="+mn-ea"/>
              </a:rPr>
              <a:t>机器人按照环境交互算法执行</a:t>
            </a:r>
            <a:r>
              <a:rPr sz="1600">
                <a:latin typeface="+mn-ea"/>
                <a:ea typeface="+mn-ea"/>
                <a:cs typeface="+mn-ea"/>
              </a:rPr>
              <a:t>1 </a:t>
            </a:r>
            <a:r>
              <a:rPr sz="1600">
                <a:latin typeface="+mn-ea"/>
                <a:ea typeface="+mn-ea"/>
                <a:cs typeface="+mn-ea"/>
              </a:rPr>
              <a:t>次动作；</a:t>
            </a:r>
          </a:p>
          <a:p xmlns:a="http://schemas.openxmlformats.org/drawingml/2006/main">
            <a:pPr algn="l">
              <a:buNone/>
            </a:pPr>
            <a:r>
              <a:rPr sz="1600">
                <a:latin typeface="+mn-ea"/>
                <a:ea typeface="+mn-ea"/>
                <a:cs typeface="+mn-ea"/>
              </a:rPr>
              <a:t>2) </a:t>
            </a:r>
            <a:r>
              <a:rPr sz="1600">
                <a:latin typeface="+mn-ea"/>
                <a:ea typeface="+mn-ea"/>
                <a:cs typeface="+mn-ea"/>
              </a:rPr>
              <a:t>利用</a:t>
            </a:r>
            <a14:m xmlns:a14="http://schemas.microsoft.com/office/drawing/2010/main">
              <m:oMathPara xmlns:m="http://schemas.openxmlformats.org/officeDocument/2006/math">
                <m:oMath>
                  <m:sSub>
                    <m:e>
                      <m:r>
                        <a:rPr xmlns:a="http://schemas.openxmlformats.org/drawingml/2006/main" lang="en-US" sz="1600" b="0" i="1">
                          <a:latin typeface="Cambria Math"/>
                          <a:ea typeface="Cambria Math"/>
                          <a:cs typeface="Cambria Math"/>
                        </a:rPr>
                        <m:t>𝐸</m:t>
                      </m:r>
                    </m:e>
                    <m:sub>
                      <m:r>
                        <a:rPr xmlns:a="http://schemas.openxmlformats.org/drawingml/2006/main" lang="en-US" sz="1600" b="0" i="1">
                          <a:latin typeface="Cambria Math"/>
                          <a:ea typeface="Cambria Math"/>
                          <a:cs typeface="Cambria Math"/>
                        </a:rPr>
                        <m:t>1</m:t>
                      </m:r>
                    </m:sub>
                  </m:sSub>
                </m:oMath>
              </m:oMathPara>
            </a14:m>
            <a:r>
              <a:rPr sz="1600">
                <a:latin typeface="+mn-ea"/>
                <a:ea typeface="+mn-ea"/>
                <a:cs typeface="+mn-ea"/>
              </a:rPr>
              <a:t>中的经验数据，更新避障控制模型，利用</a:t>
            </a:r>
            <a14:m xmlns:a14="http://schemas.microsoft.com/office/drawing/2010/main">
              <m:oMathPara xmlns:m="http://schemas.openxmlformats.org/officeDocument/2006/math">
                <m:oMath>
                  <m:sSub>
                    <m:e>
                      <m:r>
                        <a:rPr xmlns:a="http://schemas.openxmlformats.org/drawingml/2006/main" lang="en-US" sz="1600" b="0" i="1">
                          <a:latin typeface="Cambria Math"/>
                          <a:ea typeface="Cambria Math"/>
                          <a:cs typeface="Cambria Math"/>
                        </a:rPr>
                        <m:t>𝐸</m:t>
                      </m:r>
                    </m:e>
                    <m:sub>
                      <m:r>
                        <a:rPr xmlns:a="http://schemas.openxmlformats.org/drawingml/2006/main" lang="en-US" sz="1600" b="0" i="1">
                          <a:latin typeface="Cambria Math"/>
                          <a:ea typeface="Cambria Math"/>
                          <a:cs typeface="Cambria Math"/>
                        </a:rPr>
                        <m:t>2</m:t>
                      </m:r>
                    </m:sub>
                  </m:sSub>
                </m:oMath>
              </m:oMathPara>
            </a14:m>
            <a:r>
              <a:rPr sz="1600">
                <a:latin typeface="+mn-ea"/>
                <a:ea typeface="+mn-ea"/>
                <a:cs typeface="+mn-ea"/>
              </a:rPr>
              <a:t>中的经验数据，更新行为选择模型；</a:t>
            </a:r>
          </a:p>
          <a:p xmlns:a="http://schemas.openxmlformats.org/drawingml/2006/main">
            <a:pPr algn="l">
              <a:buNone/>
            </a:pPr>
            <a:r>
              <a:rPr sz="1600">
                <a:latin typeface="+mn-ea"/>
                <a:ea typeface="+mn-ea"/>
                <a:cs typeface="+mn-ea"/>
              </a:rPr>
              <a:t>3) </a:t>
            </a:r>
            <a:r>
              <a:rPr sz="1600">
                <a:latin typeface="+mn-ea"/>
                <a:ea typeface="+mn-ea"/>
                <a:cs typeface="+mn-ea"/>
              </a:rPr>
              <a:t>迭代第一步至第三步，直到训练回合终止。</a:t>
            </a:r>
            <a:endParaRPr sz="1600">
              <a:latin typeface="+mn-ea"/>
              <a:ea typeface="+mn-ea"/>
              <a:cs typeface="+mn-ea"/>
            </a:endParaRPr>
          </a:p>
          <a:p xmlns:a="http://schemas.openxmlformats.org/drawingml/2006/main">
            <a:pPr algn="l">
              <a:buNone/>
            </a:pPr>
            <a:endParaRPr>
              <a:latin typeface="+mn-ea"/>
              <a:ea typeface="+mn-ea"/>
              <a:cs typeface="+mn-ea"/>
            </a:endParaRPr>
          </a:p>
          <a:p xmlns:a="http://schemas.openxmlformats.org/drawingml/2006/main">
            <a:pPr algn="l">
              <a:buNone/>
            </a:pPr>
            <a:r>
              <a:rPr>
                <a:latin typeface="+mn-ea"/>
                <a:ea typeface="+mn-ea"/>
                <a:cs typeface="+mn-ea"/>
              </a:rPr>
              <a:t>由于在分层深度强化学习中，对导航任务进行了抽象分解，最低层级的控制模型可以从导航任务中学习到基本的动作技能，这些基本的动作技能往往是非任务特异的，可以帮助算法迁移到不同的环境中。</a:t>
            </a:r>
          </a:p>
        </p:txBody>
      </p:sp>
    </p:spTree>
    <p:extLst>
      <p:ext uri="{BB962C8B-B14F-4D97-AF65-F5344CB8AC3E}">
        <p14:creationId xmlns:p14="http://schemas.microsoft.com/office/powerpoint/2010/main" val="531656565"/>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3" name="Shape 6">
            <a:extLst xmlns:a="http://schemas.openxmlformats.org/drawingml/2006/main">
              <a:ext uri="{FF2B5EF4-FFF2-40B4-BE49-F238E27FC236}">
                <a16:creationId xmlns:a16="http://schemas.microsoft.com/office/drawing/2014/main" id="{BDF7B479-8E7C-7E7E-2E41-0F32E6708097}"/>
              </a:ext>
            </a:extLst>
          </p:cNvPr>
          <p:cNvSpPr>
            <a:spLocks xmlns:a="http://schemas.openxmlformats.org/drawingml/2006/main" noGrp="1"/>
          </p:cNvSpPr>
          <p:nvPr/>
        </p:nvSpPr>
        <p:spPr>
          <a:xfrm xmlns:a="http://schemas.openxmlformats.org/drawingml/2006/main" rot="0" flipH="0" flipV="0">
            <a:off x="934508" y="1305313"/>
            <a:ext cx="4295346" cy="1946020"/>
          </a:xfrm>
          <a:custGeom xmlns:a="http://schemas.openxmlformats.org/drawingml/2006/main">
            <a:rect l="l" t="t" r="r" b="b"/>
            <a:pathLst>
              <a:path w="5683250" h="1460500">
                <a:moveTo>
                  <a:pt x="31750" y="0"/>
                </a:moveTo>
                <a:lnTo>
                  <a:pt x="5619747" y="0"/>
                </a:lnTo>
                <a:cubicBezTo>
                  <a:pt x="5654819" y="0"/>
                  <a:pt x="5683250" y="28431"/>
                  <a:pt x="5683250" y="63503"/>
                </a:cubicBezTo>
                <a:lnTo>
                  <a:pt x="5683250" y="1396997"/>
                </a:lnTo>
                <a:cubicBezTo>
                  <a:pt x="5683250" y="1432069"/>
                  <a:pt x="5654819" y="1460500"/>
                  <a:pt x="5619747" y="1460500"/>
                </a:cubicBezTo>
                <a:lnTo>
                  <a:pt x="31750" y="1460500"/>
                </a:lnTo>
                <a:cubicBezTo>
                  <a:pt x="14227" y="1460500"/>
                  <a:pt x="0" y="1446273"/>
                  <a:pt x="0" y="1428750"/>
                </a:cubicBezTo>
                <a:lnTo>
                  <a:pt x="0" y="31750"/>
                </a:lnTo>
                <a:cubicBezTo>
                  <a:pt x="0" y="14227"/>
                  <a:pt x="14227" y="0"/>
                  <a:pt x="31750" y="0"/>
                </a:cubicBezTo>
                <a:close/>
              </a:path>
            </a:pathLst>
          </a:custGeom>
          <a:gradFill xmlns:a="http://schemas.openxmlformats.org/drawingml/2006/main" rotWithShape="1">
            <a:gsLst>
              <a:gs pos="0">
                <a:srgbClr val="3D8B8B">
                  <a:alpha val="15000"/>
                </a:srgbClr>
              </a:gs>
              <a:gs pos="100000">
                <a:srgbClr val="000000">
                  <a:alpha val="0"/>
                </a:srgbClr>
              </a:gs>
            </a:gsLst>
            <a:lin ang="2700000" scaled="1"/>
          </a:gradFill>
        </p:spPr>
      </p:sp>
      <p:sp>
        <p:nvSpPr>
          <p:cNvPr id="4" name="Shape 7">
            <a:extLst xmlns:a="http://schemas.openxmlformats.org/drawingml/2006/main">
              <a:ext uri="{FF2B5EF4-FFF2-40B4-BE49-F238E27FC236}">
                <a16:creationId xmlns:a16="http://schemas.microsoft.com/office/drawing/2014/main" id="{C6652CA8-B4CA-558F-F4DC-752DCDB4DBCF}"/>
              </a:ext>
            </a:extLst>
          </p:cNvPr>
          <p:cNvSpPr>
            <a:spLocks xmlns:a="http://schemas.openxmlformats.org/drawingml/2006/main" noGrp="1"/>
          </p:cNvSpPr>
          <p:nvPr/>
        </p:nvSpPr>
        <p:spPr>
          <a:xfrm xmlns:a="http://schemas.openxmlformats.org/drawingml/2006/main" rot="0" flipH="0" flipV="0">
            <a:off x="934508" y="1305313"/>
            <a:ext cx="42304" cy="1946020"/>
          </a:xfrm>
          <a:custGeom xmlns:a="http://schemas.openxmlformats.org/drawingml/2006/main">
            <a:rect l="l" t="t" r="r" b="b"/>
            <a:pathLst>
              <a:path w="31750" h="1460500">
                <a:moveTo>
                  <a:pt x="31750" y="0"/>
                </a:moveTo>
                <a:lnTo>
                  <a:pt x="31750" y="0"/>
                </a:lnTo>
                <a:lnTo>
                  <a:pt x="31750" y="1460500"/>
                </a:lnTo>
                <a:lnTo>
                  <a:pt x="31750" y="1460500"/>
                </a:lnTo>
                <a:cubicBezTo>
                  <a:pt x="14227" y="1460500"/>
                  <a:pt x="0" y="1446273"/>
                  <a:pt x="0" y="1428750"/>
                </a:cubicBezTo>
                <a:lnTo>
                  <a:pt x="0" y="31750"/>
                </a:lnTo>
                <a:cubicBezTo>
                  <a:pt x="0" y="14227"/>
                  <a:pt x="14227" y="0"/>
                  <a:pt x="31750" y="0"/>
                </a:cubicBezTo>
                <a:close/>
              </a:path>
            </a:pathLst>
          </a:custGeom>
          <a:solidFill xmlns:a="http://schemas.openxmlformats.org/drawingml/2006/main">
            <a:srgbClr val="3D8B8B"/>
          </a:solidFill>
        </p:spPr>
      </p:sp>
      <p:sp>
        <p:nvSpPr>
          <p:cNvPr id="5" name="Shape 8">
            <a:extLst xmlns:a="http://schemas.openxmlformats.org/drawingml/2006/main">
              <a:ext uri="{FF2B5EF4-FFF2-40B4-BE49-F238E27FC236}">
                <a16:creationId xmlns:a16="http://schemas.microsoft.com/office/drawing/2014/main" id="{95607A9D-D441-959E-2689-3D4D0E39CFAB}"/>
              </a:ext>
            </a:extLst>
          </p:cNvPr>
          <p:cNvSpPr>
            <a:spLocks xmlns:a="http://schemas.openxmlformats.org/drawingml/2006/main" noGrp="1"/>
          </p:cNvSpPr>
          <p:nvPr/>
        </p:nvSpPr>
        <p:spPr>
          <a:xfrm xmlns:a="http://schemas.openxmlformats.org/drawingml/2006/main" rot="0" flipH="0" flipV="0">
            <a:off x="1241218" y="1601446"/>
            <a:ext cx="253828" cy="253828"/>
          </a:xfrm>
          <a:custGeom xmlns:a="http://schemas.openxmlformats.org/drawingml/2006/main">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14114" y="120960"/>
                </a:moveTo>
                <a:lnTo>
                  <a:pt x="60424" y="141610"/>
                </a:lnTo>
                <a:cubicBezTo>
                  <a:pt x="53206" y="144400"/>
                  <a:pt x="46100" y="137294"/>
                  <a:pt x="48890" y="130076"/>
                </a:cubicBezTo>
                <a:lnTo>
                  <a:pt x="69540" y="76386"/>
                </a:lnTo>
                <a:cubicBezTo>
                  <a:pt x="70768" y="73223"/>
                  <a:pt x="73223" y="70768"/>
                  <a:pt x="76386" y="69540"/>
                </a:cubicBezTo>
                <a:lnTo>
                  <a:pt x="130076" y="48890"/>
                </a:lnTo>
                <a:cubicBezTo>
                  <a:pt x="137294" y="46100"/>
                  <a:pt x="144400" y="53206"/>
                  <a:pt x="141610" y="60424"/>
                </a:cubicBezTo>
                <a:lnTo>
                  <a:pt x="120960" y="114114"/>
                </a:lnTo>
                <a:cubicBezTo>
                  <a:pt x="119769" y="117277"/>
                  <a:pt x="117277" y="119732"/>
                  <a:pt x="114114" y="120960"/>
                </a:cubicBezTo>
                <a:close/>
                <a:moveTo>
                  <a:pt x="107156" y="95250"/>
                </a:moveTo>
                <a:cubicBezTo>
                  <a:pt x="107156" y="88679"/>
                  <a:pt x="101821" y="83344"/>
                  <a:pt x="95250" y="83344"/>
                </a:cubicBezTo>
                <a:cubicBezTo>
                  <a:pt x="88679" y="83344"/>
                  <a:pt x="83344" y="88679"/>
                  <a:pt x="83344" y="95250"/>
                </a:cubicBezTo>
                <a:cubicBezTo>
                  <a:pt x="83344" y="101821"/>
                  <a:pt x="88679" y="107156"/>
                  <a:pt x="95250" y="107156"/>
                </a:cubicBezTo>
                <a:cubicBezTo>
                  <a:pt x="101821" y="107156"/>
                  <a:pt x="107156" y="101821"/>
                  <a:pt x="107156" y="95250"/>
                </a:cubicBezTo>
                <a:close/>
              </a:path>
            </a:pathLst>
          </a:custGeom>
          <a:solidFill xmlns:a="http://schemas.openxmlformats.org/drawingml/2006/main">
            <a:srgbClr val="C5A069"/>
          </a:solidFill>
        </p:spPr>
      </p:sp>
      <p:sp>
        <p:nvSpPr>
          <p:cNvPr id="6" name="Text 9">
            <a:extLst xmlns:a="http://schemas.openxmlformats.org/drawingml/2006/main">
              <a:ext uri="{FF2B5EF4-FFF2-40B4-BE49-F238E27FC236}">
                <a16:creationId xmlns:a16="http://schemas.microsoft.com/office/drawing/2014/main" id="{66954CA0-FD80-15ED-47AD-0635C6E72052}"/>
              </a:ext>
            </a:extLst>
          </p:cNvPr>
          <p:cNvSpPr>
            <a:spLocks xmlns:a="http://schemas.openxmlformats.org/drawingml/2006/main" noGrp="1"/>
          </p:cNvSpPr>
          <p:nvPr/>
        </p:nvSpPr>
        <p:spPr>
          <a:xfrm xmlns:a="http://schemas.openxmlformats.org/drawingml/2006/main" rot="0" flipH="0" flipV="0">
            <a:off x="1526775" y="1559142"/>
            <a:ext cx="3667825" cy="3384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基于学习的智能导航基础</a:t>
            </a:r>
            <a:endParaRPr/>
          </a:p>
        </p:txBody>
      </p:sp>
      <p:sp>
        <p:nvSpPr>
          <p:cNvPr id="7" name="Shape 10">
            <a:extLst xmlns:a="http://schemas.openxmlformats.org/drawingml/2006/main">
              <a:ext uri="{FF2B5EF4-FFF2-40B4-BE49-F238E27FC236}">
                <a16:creationId xmlns:a16="http://schemas.microsoft.com/office/drawing/2014/main" id="{E961F01F-C2C3-4E12-AAEB-E52DFCE88337}"/>
              </a:ext>
            </a:extLst>
          </p:cNvPr>
          <p:cNvSpPr>
            <a:spLocks xmlns:a="http://schemas.openxmlformats.org/drawingml/2006/main" noGrp="1"/>
          </p:cNvSpPr>
          <p:nvPr/>
        </p:nvSpPr>
        <p:spPr>
          <a:xfrm xmlns:a="http://schemas.openxmlformats.org/drawingml/2006/main" rot="0" flipH="0" flipV="0">
            <a:off x="1230641" y="2109104"/>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3D8B8B"/>
          </a:solidFill>
        </p:spPr>
      </p:sp>
      <p:sp>
        <p:nvSpPr>
          <p:cNvPr id="8" name="Text 11">
            <a:extLst xmlns:a="http://schemas.openxmlformats.org/drawingml/2006/main">
              <a:ext uri="{FF2B5EF4-FFF2-40B4-BE49-F238E27FC236}">
                <a16:creationId xmlns:a16="http://schemas.microsoft.com/office/drawing/2014/main" id="{B2841293-F4DB-8875-6D32-BE3D98F160CA}"/>
              </a:ext>
            </a:extLst>
          </p:cNvPr>
          <p:cNvSpPr>
            <a:spLocks xmlns:a="http://schemas.openxmlformats.org/drawingml/2006/main" noGrp="1"/>
          </p:cNvSpPr>
          <p:nvPr/>
        </p:nvSpPr>
        <p:spPr>
          <a:xfrm xmlns:a="http://schemas.openxmlformats.org/drawingml/2006/main" rot="0" flipH="0" flipV="0">
            <a:off x="1479182" y="2066799"/>
            <a:ext cx="2058826"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学习算法发展</a:t>
            </a:r>
            <a:endParaRPr/>
          </a:p>
        </p:txBody>
      </p:sp>
      <p:sp>
        <p:nvSpPr>
          <p:cNvPr id="9" name="Shape 12">
            <a:extLst xmlns:a="http://schemas.openxmlformats.org/drawingml/2006/main">
              <a:ext uri="{FF2B5EF4-FFF2-40B4-BE49-F238E27FC236}">
                <a16:creationId xmlns:a16="http://schemas.microsoft.com/office/drawing/2014/main" id="{0EC91C0D-5A69-C630-2BA0-F882030638F6}"/>
              </a:ext>
            </a:extLst>
          </p:cNvPr>
          <p:cNvSpPr>
            <a:spLocks xmlns:a="http://schemas.openxmlformats.org/drawingml/2006/main" noGrp="1"/>
          </p:cNvSpPr>
          <p:nvPr/>
        </p:nvSpPr>
        <p:spPr>
          <a:xfrm xmlns:a="http://schemas.openxmlformats.org/drawingml/2006/main" rot="0" flipH="0" flipV="0">
            <a:off x="1230641" y="2447542"/>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3D8B8B"/>
          </a:solidFill>
        </p:spPr>
      </p:sp>
      <p:sp>
        <p:nvSpPr>
          <p:cNvPr id="10" name="Text 13">
            <a:extLst xmlns:a="http://schemas.openxmlformats.org/drawingml/2006/main">
              <a:ext uri="{FF2B5EF4-FFF2-40B4-BE49-F238E27FC236}">
                <a16:creationId xmlns:a16="http://schemas.microsoft.com/office/drawing/2014/main" id="{7C9E4D03-511F-509E-5ED6-1E9275111F79}"/>
              </a:ext>
            </a:extLst>
          </p:cNvPr>
          <p:cNvSpPr>
            <a:spLocks xmlns:a="http://schemas.openxmlformats.org/drawingml/2006/main" noGrp="1"/>
          </p:cNvSpPr>
          <p:nvPr/>
        </p:nvSpPr>
        <p:spPr>
          <a:xfrm xmlns:a="http://schemas.openxmlformats.org/drawingml/2006/main" rot="0" flipH="0" flipV="0">
            <a:off x="1479180" y="2405238"/>
            <a:ext cx="3093876"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导航原理概述</a:t>
            </a:r>
            <a:endParaRPr/>
          </a:p>
        </p:txBody>
      </p:sp>
      <p:sp>
        <p:nvSpPr>
          <p:cNvPr id="11" name="Shape 14">
            <a:extLst xmlns:a="http://schemas.openxmlformats.org/drawingml/2006/main">
              <a:ext uri="{FF2B5EF4-FFF2-40B4-BE49-F238E27FC236}">
                <a16:creationId xmlns:a16="http://schemas.microsoft.com/office/drawing/2014/main" id="{CF6A7C84-B713-12A9-F4AF-E6BD5913EB9A}"/>
              </a:ext>
            </a:extLst>
          </p:cNvPr>
          <p:cNvSpPr>
            <a:spLocks xmlns:a="http://schemas.openxmlformats.org/drawingml/2006/main" noGrp="1"/>
          </p:cNvSpPr>
          <p:nvPr/>
        </p:nvSpPr>
        <p:spPr>
          <a:xfrm xmlns:a="http://schemas.openxmlformats.org/drawingml/2006/main" rot="0" flipH="0" flipV="0">
            <a:off x="1230641" y="2785981"/>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3D8B8B"/>
          </a:solidFill>
        </p:spPr>
      </p:sp>
      <p:sp>
        <p:nvSpPr>
          <p:cNvPr id="12" name="Text 15">
            <a:extLst xmlns:a="http://schemas.openxmlformats.org/drawingml/2006/main">
              <a:ext uri="{FF2B5EF4-FFF2-40B4-BE49-F238E27FC236}">
                <a16:creationId xmlns:a16="http://schemas.microsoft.com/office/drawing/2014/main" id="{BE8551AF-0560-1450-0ED1-F305D928B192}"/>
              </a:ext>
            </a:extLst>
          </p:cNvPr>
          <p:cNvSpPr>
            <a:spLocks xmlns:a="http://schemas.openxmlformats.org/drawingml/2006/main" noGrp="1"/>
          </p:cNvSpPr>
          <p:nvPr/>
        </p:nvSpPr>
        <p:spPr>
          <a:xfrm xmlns:a="http://schemas.openxmlformats.org/drawingml/2006/main" rot="0" flipH="0" flipV="0">
            <a:off x="1479182" y="2743676"/>
            <a:ext cx="3093875"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导航问题与挑战</a:t>
            </a:r>
          </a:p>
        </p:txBody>
      </p:sp>
      <p:sp>
        <p:nvSpPr>
          <p:cNvPr id="13" name="Shape 16">
            <a:extLst xmlns:a="http://schemas.openxmlformats.org/drawingml/2006/main">
              <a:ext uri="{FF2B5EF4-FFF2-40B4-BE49-F238E27FC236}">
                <a16:creationId xmlns:a16="http://schemas.microsoft.com/office/drawing/2014/main" id="{7ED3493D-EA42-C05B-5026-2578DB1AF35D}"/>
              </a:ext>
            </a:extLst>
          </p:cNvPr>
          <p:cNvSpPr>
            <a:spLocks xmlns:a="http://schemas.openxmlformats.org/drawingml/2006/main" noGrp="1"/>
          </p:cNvSpPr>
          <p:nvPr/>
        </p:nvSpPr>
        <p:spPr>
          <a:xfrm xmlns:a="http://schemas.openxmlformats.org/drawingml/2006/main" rot="0" flipH="0" flipV="0">
            <a:off x="6573736" y="1305313"/>
            <a:ext cx="4295346" cy="1946020"/>
          </a:xfrm>
          <a:custGeom xmlns:a="http://schemas.openxmlformats.org/drawingml/2006/main">
            <a:rect l="l" t="t" r="r" b="b"/>
            <a:pathLst>
              <a:path w="5683250" h="1460500">
                <a:moveTo>
                  <a:pt x="31750" y="0"/>
                </a:moveTo>
                <a:lnTo>
                  <a:pt x="5619747" y="0"/>
                </a:lnTo>
                <a:cubicBezTo>
                  <a:pt x="5654819" y="0"/>
                  <a:pt x="5683250" y="28431"/>
                  <a:pt x="5683250" y="63503"/>
                </a:cubicBezTo>
                <a:lnTo>
                  <a:pt x="5683250" y="1396997"/>
                </a:lnTo>
                <a:cubicBezTo>
                  <a:pt x="5683250" y="1432069"/>
                  <a:pt x="5654819" y="1460500"/>
                  <a:pt x="5619747" y="1460500"/>
                </a:cubicBezTo>
                <a:lnTo>
                  <a:pt x="31750" y="1460500"/>
                </a:lnTo>
                <a:cubicBezTo>
                  <a:pt x="14227" y="1460500"/>
                  <a:pt x="0" y="1446273"/>
                  <a:pt x="0" y="1428750"/>
                </a:cubicBezTo>
                <a:lnTo>
                  <a:pt x="0" y="31750"/>
                </a:lnTo>
                <a:cubicBezTo>
                  <a:pt x="0" y="14227"/>
                  <a:pt x="14227" y="0"/>
                  <a:pt x="31750" y="0"/>
                </a:cubicBezTo>
                <a:close/>
              </a:path>
            </a:pathLst>
          </a:custGeom>
          <a:gradFill xmlns:a="http://schemas.openxmlformats.org/drawingml/2006/main" rotWithShape="1">
            <a:gsLst>
              <a:gs pos="0">
                <a:srgbClr val="C5A069">
                  <a:alpha val="15000"/>
                </a:srgbClr>
              </a:gs>
              <a:gs pos="100000">
                <a:srgbClr val="000000">
                  <a:alpha val="0"/>
                </a:srgbClr>
              </a:gs>
            </a:gsLst>
            <a:lin ang="2700000" scaled="1"/>
          </a:gradFill>
        </p:spPr>
      </p:sp>
      <p:sp>
        <p:nvSpPr>
          <p:cNvPr id="14" name="Shape 17">
            <a:extLst xmlns:a="http://schemas.openxmlformats.org/drawingml/2006/main">
              <a:ext uri="{FF2B5EF4-FFF2-40B4-BE49-F238E27FC236}">
                <a16:creationId xmlns:a16="http://schemas.microsoft.com/office/drawing/2014/main" id="{A008FA57-C486-40C4-7E88-C69EDAD8AB19}"/>
              </a:ext>
            </a:extLst>
          </p:cNvPr>
          <p:cNvSpPr>
            <a:spLocks xmlns:a="http://schemas.openxmlformats.org/drawingml/2006/main" noGrp="1"/>
          </p:cNvSpPr>
          <p:nvPr/>
        </p:nvSpPr>
        <p:spPr>
          <a:xfrm xmlns:a="http://schemas.openxmlformats.org/drawingml/2006/main" rot="0" flipH="0" flipV="0">
            <a:off x="6573736" y="1305313"/>
            <a:ext cx="42304" cy="1946020"/>
          </a:xfrm>
          <a:custGeom xmlns:a="http://schemas.openxmlformats.org/drawingml/2006/main">
            <a:rect l="l" t="t" r="r" b="b"/>
            <a:pathLst>
              <a:path w="31750" h="1460500">
                <a:moveTo>
                  <a:pt x="31750" y="0"/>
                </a:moveTo>
                <a:lnTo>
                  <a:pt x="31750" y="0"/>
                </a:lnTo>
                <a:lnTo>
                  <a:pt x="31750" y="1460500"/>
                </a:lnTo>
                <a:lnTo>
                  <a:pt x="31750" y="1460500"/>
                </a:lnTo>
                <a:cubicBezTo>
                  <a:pt x="14227" y="1460500"/>
                  <a:pt x="0" y="1446273"/>
                  <a:pt x="0" y="1428750"/>
                </a:cubicBezTo>
                <a:lnTo>
                  <a:pt x="0" y="31750"/>
                </a:lnTo>
                <a:cubicBezTo>
                  <a:pt x="0" y="14227"/>
                  <a:pt x="14227" y="0"/>
                  <a:pt x="31750" y="0"/>
                </a:cubicBezTo>
                <a:close/>
              </a:path>
            </a:pathLst>
          </a:custGeom>
          <a:solidFill xmlns:a="http://schemas.openxmlformats.org/drawingml/2006/main">
            <a:srgbClr val="C5A069"/>
          </a:solidFill>
        </p:spPr>
      </p:sp>
      <p:sp>
        <p:nvSpPr>
          <p:cNvPr id="15" name="Shape 18">
            <a:extLst xmlns:a="http://schemas.openxmlformats.org/drawingml/2006/main">
              <a:ext uri="{FF2B5EF4-FFF2-40B4-BE49-F238E27FC236}">
                <a16:creationId xmlns:a16="http://schemas.microsoft.com/office/drawing/2014/main" id="{D2870A56-D75B-4746-D075-F90117DD4A48}"/>
              </a:ext>
            </a:extLst>
          </p:cNvPr>
          <p:cNvSpPr>
            <a:spLocks xmlns:a="http://schemas.openxmlformats.org/drawingml/2006/main" noGrp="1"/>
          </p:cNvSpPr>
          <p:nvPr/>
        </p:nvSpPr>
        <p:spPr>
          <a:xfrm xmlns:a="http://schemas.openxmlformats.org/drawingml/2006/main" rot="0" flipH="0" flipV="0">
            <a:off x="6864582" y="1601446"/>
            <a:ext cx="285558" cy="253828"/>
          </a:xfrm>
          <a:custGeom xmlns:a="http://schemas.openxmlformats.org/drawingml/2006/main">
            <a:rect l="l" t="t" r="r" b="b"/>
            <a:pathLst>
              <a:path w="214313" h="190500">
                <a:moveTo>
                  <a:pt x="107156" y="11906"/>
                </a:moveTo>
                <a:cubicBezTo>
                  <a:pt x="77093" y="11906"/>
                  <a:pt x="53020" y="25598"/>
                  <a:pt x="35496" y="41895"/>
                </a:cubicBezTo>
                <a:cubicBezTo>
                  <a:pt x="18083" y="58080"/>
                  <a:pt x="6437" y="77391"/>
                  <a:pt x="893" y="90674"/>
                </a:cubicBezTo>
                <a:cubicBezTo>
                  <a:pt x="-335" y="93613"/>
                  <a:pt x="-335" y="96887"/>
                  <a:pt x="893" y="99826"/>
                </a:cubicBezTo>
                <a:cubicBezTo>
                  <a:pt x="6437" y="113109"/>
                  <a:pt x="18083" y="132457"/>
                  <a:pt x="35496" y="148605"/>
                </a:cubicBezTo>
                <a:cubicBezTo>
                  <a:pt x="53020" y="164864"/>
                  <a:pt x="77093" y="178594"/>
                  <a:pt x="107156" y="178594"/>
                </a:cubicBezTo>
                <a:cubicBezTo>
                  <a:pt x="137220" y="178594"/>
                  <a:pt x="161292" y="164902"/>
                  <a:pt x="178817" y="148605"/>
                </a:cubicBezTo>
                <a:cubicBezTo>
                  <a:pt x="196230" y="132420"/>
                  <a:pt x="207876" y="113109"/>
                  <a:pt x="213420" y="99826"/>
                </a:cubicBezTo>
                <a:cubicBezTo>
                  <a:pt x="214647" y="96887"/>
                  <a:pt x="214647" y="93613"/>
                  <a:pt x="213420" y="90674"/>
                </a:cubicBezTo>
                <a:cubicBezTo>
                  <a:pt x="207876" y="77391"/>
                  <a:pt x="196230" y="58043"/>
                  <a:pt x="178817" y="41895"/>
                </a:cubicBezTo>
                <a:cubicBezTo>
                  <a:pt x="161292" y="25636"/>
                  <a:pt x="137220" y="11906"/>
                  <a:pt x="107156" y="11906"/>
                </a:cubicBezTo>
                <a:close/>
                <a:moveTo>
                  <a:pt x="53578" y="95250"/>
                </a:moveTo>
                <a:cubicBezTo>
                  <a:pt x="53578" y="65679"/>
                  <a:pt x="77586" y="41672"/>
                  <a:pt x="107156" y="41672"/>
                </a:cubicBezTo>
                <a:cubicBezTo>
                  <a:pt x="136727" y="41672"/>
                  <a:pt x="160734" y="65679"/>
                  <a:pt x="160734" y="95250"/>
                </a:cubicBezTo>
                <a:cubicBezTo>
                  <a:pt x="160734" y="124821"/>
                  <a:pt x="136727" y="148828"/>
                  <a:pt x="107156" y="148828"/>
                </a:cubicBezTo>
                <a:cubicBezTo>
                  <a:pt x="77586" y="148828"/>
                  <a:pt x="53578" y="124821"/>
                  <a:pt x="53578" y="95250"/>
                </a:cubicBezTo>
                <a:close/>
                <a:moveTo>
                  <a:pt x="107156" y="71438"/>
                </a:moveTo>
                <a:cubicBezTo>
                  <a:pt x="107156" y="84572"/>
                  <a:pt x="96478" y="95250"/>
                  <a:pt x="83344" y="95250"/>
                </a:cubicBezTo>
                <a:cubicBezTo>
                  <a:pt x="79065" y="95250"/>
                  <a:pt x="75047" y="94134"/>
                  <a:pt x="71549" y="92125"/>
                </a:cubicBezTo>
                <a:cubicBezTo>
                  <a:pt x="71177" y="96180"/>
                  <a:pt x="71512" y="100347"/>
                  <a:pt x="72628" y="104477"/>
                </a:cubicBezTo>
                <a:cubicBezTo>
                  <a:pt x="77725" y="123527"/>
                  <a:pt x="97334" y="134838"/>
                  <a:pt x="116384" y="129741"/>
                </a:cubicBezTo>
                <a:cubicBezTo>
                  <a:pt x="135434" y="124644"/>
                  <a:pt x="146745" y="105035"/>
                  <a:pt x="141647" y="85985"/>
                </a:cubicBezTo>
                <a:cubicBezTo>
                  <a:pt x="137108" y="68982"/>
                  <a:pt x="120997" y="58155"/>
                  <a:pt x="104031" y="59643"/>
                </a:cubicBezTo>
                <a:cubicBezTo>
                  <a:pt x="106003" y="63103"/>
                  <a:pt x="107156" y="67121"/>
                  <a:pt x="107156" y="71438"/>
                </a:cubicBezTo>
                <a:close/>
              </a:path>
            </a:pathLst>
          </a:custGeom>
          <a:solidFill xmlns:a="http://schemas.openxmlformats.org/drawingml/2006/main">
            <a:srgbClr val="C5A069"/>
          </a:solidFill>
        </p:spPr>
      </p:sp>
      <p:sp>
        <p:nvSpPr>
          <p:cNvPr id="16" name="Text 19">
            <a:extLst xmlns:a="http://schemas.openxmlformats.org/drawingml/2006/main">
              <a:ext uri="{FF2B5EF4-FFF2-40B4-BE49-F238E27FC236}">
                <a16:creationId xmlns:a16="http://schemas.microsoft.com/office/drawing/2014/main" id="{54BD65FF-3611-6C51-4A18-C987D665B0F2}"/>
              </a:ext>
            </a:extLst>
          </p:cNvPr>
          <p:cNvSpPr>
            <a:spLocks xmlns:a="http://schemas.openxmlformats.org/drawingml/2006/main" noGrp="1"/>
          </p:cNvSpPr>
          <p:nvPr/>
        </p:nvSpPr>
        <p:spPr>
          <a:xfrm xmlns:a="http://schemas.openxmlformats.org/drawingml/2006/main" rot="0" flipH="0" flipV="0">
            <a:off x="7166004" y="1559142"/>
            <a:ext cx="3703078" cy="3384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基于传统机器学习的导航方法</a:t>
            </a:r>
            <a:endParaRPr/>
          </a:p>
        </p:txBody>
      </p:sp>
      <p:sp>
        <p:nvSpPr>
          <p:cNvPr id="17" name="Shape 20">
            <a:extLst xmlns:a="http://schemas.openxmlformats.org/drawingml/2006/main">
              <a:ext uri="{FF2B5EF4-FFF2-40B4-BE49-F238E27FC236}">
                <a16:creationId xmlns:a16="http://schemas.microsoft.com/office/drawing/2014/main" id="{592B0C52-011C-A5F7-CE2A-7DB343459CDA}"/>
              </a:ext>
            </a:extLst>
          </p:cNvPr>
          <p:cNvSpPr>
            <a:spLocks xmlns:a="http://schemas.openxmlformats.org/drawingml/2006/main" noGrp="1"/>
          </p:cNvSpPr>
          <p:nvPr/>
        </p:nvSpPr>
        <p:spPr>
          <a:xfrm xmlns:a="http://schemas.openxmlformats.org/drawingml/2006/main" rot="0" flipH="0" flipV="0">
            <a:off x="6869870" y="2109104"/>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C5A069"/>
          </a:solidFill>
        </p:spPr>
      </p:sp>
      <p:sp>
        <p:nvSpPr>
          <p:cNvPr id="18" name="Text 21">
            <a:extLst xmlns:a="http://schemas.openxmlformats.org/drawingml/2006/main">
              <a:ext uri="{FF2B5EF4-FFF2-40B4-BE49-F238E27FC236}">
                <a16:creationId xmlns:a16="http://schemas.microsoft.com/office/drawing/2014/main" id="{085F759A-F26C-CD13-478F-6F302BCB7EA8}"/>
              </a:ext>
            </a:extLst>
          </p:cNvPr>
          <p:cNvSpPr>
            <a:spLocks xmlns:a="http://schemas.openxmlformats.org/drawingml/2006/main" noGrp="1"/>
          </p:cNvSpPr>
          <p:nvPr/>
        </p:nvSpPr>
        <p:spPr>
          <a:xfrm xmlns:a="http://schemas.openxmlformats.org/drawingml/2006/main" rot="0" flipH="0" flipV="0">
            <a:off x="7118409" y="2066799"/>
            <a:ext cx="2321922"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决策树导航策略</a:t>
            </a:r>
            <a:endParaRPr/>
          </a:p>
        </p:txBody>
      </p:sp>
      <p:sp>
        <p:nvSpPr>
          <p:cNvPr id="19" name="Shape 22">
            <a:extLst xmlns:a="http://schemas.openxmlformats.org/drawingml/2006/main">
              <a:ext uri="{FF2B5EF4-FFF2-40B4-BE49-F238E27FC236}">
                <a16:creationId xmlns:a16="http://schemas.microsoft.com/office/drawing/2014/main" id="{B748B47D-32FA-EFB0-7068-E842CCC593C0}"/>
              </a:ext>
            </a:extLst>
          </p:cNvPr>
          <p:cNvSpPr>
            <a:spLocks xmlns:a="http://schemas.openxmlformats.org/drawingml/2006/main" noGrp="1"/>
          </p:cNvSpPr>
          <p:nvPr/>
        </p:nvSpPr>
        <p:spPr>
          <a:xfrm xmlns:a="http://schemas.openxmlformats.org/drawingml/2006/main" rot="0" flipH="0" flipV="0">
            <a:off x="6869870" y="2447542"/>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C5A069"/>
          </a:solidFill>
        </p:spPr>
      </p:sp>
      <p:sp>
        <p:nvSpPr>
          <p:cNvPr id="20" name="Text 23">
            <a:extLst xmlns:a="http://schemas.openxmlformats.org/drawingml/2006/main">
              <a:ext uri="{FF2B5EF4-FFF2-40B4-BE49-F238E27FC236}">
                <a16:creationId xmlns:a16="http://schemas.microsoft.com/office/drawing/2014/main" id="{9D104722-2F3D-3503-CCF5-059471BCDD60}"/>
              </a:ext>
            </a:extLst>
          </p:cNvPr>
          <p:cNvSpPr>
            <a:spLocks xmlns:a="http://schemas.openxmlformats.org/drawingml/2006/main" noGrp="1"/>
          </p:cNvSpPr>
          <p:nvPr/>
        </p:nvSpPr>
        <p:spPr>
          <a:xfrm xmlns:a="http://schemas.openxmlformats.org/drawingml/2006/main" rot="0" flipH="0" flipV="0">
            <a:off x="7118409" y="2405238"/>
            <a:ext cx="2271122"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随机森林路径规划</a:t>
            </a:r>
            <a:endParaRPr/>
          </a:p>
        </p:txBody>
      </p:sp>
      <p:sp>
        <p:nvSpPr>
          <p:cNvPr id="21" name="Shape 24">
            <a:extLst xmlns:a="http://schemas.openxmlformats.org/drawingml/2006/main">
              <a:ext uri="{FF2B5EF4-FFF2-40B4-BE49-F238E27FC236}">
                <a16:creationId xmlns:a16="http://schemas.microsoft.com/office/drawing/2014/main" id="{0D1586BA-F0E5-DCB4-75AB-2939F3C9B586}"/>
              </a:ext>
            </a:extLst>
          </p:cNvPr>
          <p:cNvSpPr>
            <a:spLocks xmlns:a="http://schemas.openxmlformats.org/drawingml/2006/main" noGrp="1"/>
          </p:cNvSpPr>
          <p:nvPr/>
        </p:nvSpPr>
        <p:spPr>
          <a:xfrm xmlns:a="http://schemas.openxmlformats.org/drawingml/2006/main" rot="0" flipH="0" flipV="0">
            <a:off x="6869870" y="2785981"/>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C5A069"/>
          </a:solidFill>
        </p:spPr>
      </p:sp>
      <p:sp>
        <p:nvSpPr>
          <p:cNvPr id="22" name="Text 25">
            <a:extLst xmlns:a="http://schemas.openxmlformats.org/drawingml/2006/main">
              <a:ext uri="{FF2B5EF4-FFF2-40B4-BE49-F238E27FC236}">
                <a16:creationId xmlns:a16="http://schemas.microsoft.com/office/drawing/2014/main" id="{03FEA669-76EA-7C2A-69E4-3E74087C393C}"/>
              </a:ext>
            </a:extLst>
          </p:cNvPr>
          <p:cNvSpPr>
            <a:spLocks xmlns:a="http://schemas.openxmlformats.org/drawingml/2006/main" noGrp="1"/>
          </p:cNvSpPr>
          <p:nvPr/>
        </p:nvSpPr>
        <p:spPr>
          <a:xfrm xmlns:a="http://schemas.openxmlformats.org/drawingml/2006/main" rot="0" flipH="0" flipV="0">
            <a:off x="7118409" y="2743676"/>
            <a:ext cx="3417508"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支持向量机避障</a:t>
            </a:r>
            <a:endParaRPr/>
          </a:p>
        </p:txBody>
      </p:sp>
      <p:sp>
        <p:nvSpPr>
          <p:cNvPr id="23" name="Shape 26">
            <a:extLst xmlns:a="http://schemas.openxmlformats.org/drawingml/2006/main">
              <a:ext uri="{FF2B5EF4-FFF2-40B4-BE49-F238E27FC236}">
                <a16:creationId xmlns:a16="http://schemas.microsoft.com/office/drawing/2014/main" id="{744DAB05-03E7-022F-6690-B71915D517E0}"/>
              </a:ext>
            </a:extLst>
          </p:cNvPr>
          <p:cNvSpPr>
            <a:spLocks xmlns:a="http://schemas.openxmlformats.org/drawingml/2006/main" noGrp="1"/>
          </p:cNvSpPr>
          <p:nvPr/>
        </p:nvSpPr>
        <p:spPr>
          <a:xfrm xmlns:a="http://schemas.openxmlformats.org/drawingml/2006/main" rot="0" flipH="0" flipV="0">
            <a:off x="934508" y="3462857"/>
            <a:ext cx="4295346" cy="1946020"/>
          </a:xfrm>
          <a:custGeom xmlns:a="http://schemas.openxmlformats.org/drawingml/2006/main">
            <a:rect l="l" t="t" r="r" b="b"/>
            <a:pathLst>
              <a:path w="5683250" h="1460500">
                <a:moveTo>
                  <a:pt x="31750" y="0"/>
                </a:moveTo>
                <a:lnTo>
                  <a:pt x="5619747" y="0"/>
                </a:lnTo>
                <a:cubicBezTo>
                  <a:pt x="5654819" y="0"/>
                  <a:pt x="5683250" y="28431"/>
                  <a:pt x="5683250" y="63503"/>
                </a:cubicBezTo>
                <a:lnTo>
                  <a:pt x="5683250" y="1396997"/>
                </a:lnTo>
                <a:cubicBezTo>
                  <a:pt x="5683250" y="1432069"/>
                  <a:pt x="5654819" y="1460500"/>
                  <a:pt x="5619747" y="1460500"/>
                </a:cubicBezTo>
                <a:lnTo>
                  <a:pt x="31750" y="1460500"/>
                </a:lnTo>
                <a:cubicBezTo>
                  <a:pt x="14227" y="1460500"/>
                  <a:pt x="0" y="1446273"/>
                  <a:pt x="0" y="1428750"/>
                </a:cubicBezTo>
                <a:lnTo>
                  <a:pt x="0" y="31750"/>
                </a:lnTo>
                <a:cubicBezTo>
                  <a:pt x="0" y="14227"/>
                  <a:pt x="14227" y="0"/>
                  <a:pt x="31750" y="0"/>
                </a:cubicBezTo>
                <a:close/>
              </a:path>
            </a:pathLst>
          </a:custGeom>
          <a:gradFill xmlns:a="http://schemas.openxmlformats.org/drawingml/2006/main" rotWithShape="1">
            <a:gsLst>
              <a:gs pos="0">
                <a:srgbClr val="3D8B8B">
                  <a:alpha val="15000"/>
                </a:srgbClr>
              </a:gs>
              <a:gs pos="100000">
                <a:srgbClr val="000000">
                  <a:alpha val="0"/>
                </a:srgbClr>
              </a:gs>
            </a:gsLst>
            <a:lin ang="2700000" scaled="1"/>
          </a:gradFill>
        </p:spPr>
      </p:sp>
      <p:sp>
        <p:nvSpPr>
          <p:cNvPr id="24" name="Shape 27">
            <a:extLst xmlns:a="http://schemas.openxmlformats.org/drawingml/2006/main">
              <a:ext uri="{FF2B5EF4-FFF2-40B4-BE49-F238E27FC236}">
                <a16:creationId xmlns:a16="http://schemas.microsoft.com/office/drawing/2014/main" id="{BBF0C4C1-C21D-7F55-140D-1802907642BF}"/>
              </a:ext>
            </a:extLst>
          </p:cNvPr>
          <p:cNvSpPr>
            <a:spLocks xmlns:a="http://schemas.openxmlformats.org/drawingml/2006/main" noGrp="1"/>
          </p:cNvSpPr>
          <p:nvPr/>
        </p:nvSpPr>
        <p:spPr>
          <a:xfrm xmlns:a="http://schemas.openxmlformats.org/drawingml/2006/main" rot="0" flipH="0" flipV="0">
            <a:off x="934508" y="3462857"/>
            <a:ext cx="42304" cy="1946020"/>
          </a:xfrm>
          <a:custGeom xmlns:a="http://schemas.openxmlformats.org/drawingml/2006/main">
            <a:rect l="l" t="t" r="r" b="b"/>
            <a:pathLst>
              <a:path w="31750" h="1460500">
                <a:moveTo>
                  <a:pt x="31750" y="0"/>
                </a:moveTo>
                <a:lnTo>
                  <a:pt x="31750" y="0"/>
                </a:lnTo>
                <a:lnTo>
                  <a:pt x="31750" y="1460500"/>
                </a:lnTo>
                <a:lnTo>
                  <a:pt x="31750" y="1460500"/>
                </a:lnTo>
                <a:cubicBezTo>
                  <a:pt x="14227" y="1460500"/>
                  <a:pt x="0" y="1446273"/>
                  <a:pt x="0" y="1428750"/>
                </a:cubicBezTo>
                <a:lnTo>
                  <a:pt x="0" y="31750"/>
                </a:lnTo>
                <a:cubicBezTo>
                  <a:pt x="0" y="14227"/>
                  <a:pt x="14227" y="0"/>
                  <a:pt x="31750" y="0"/>
                </a:cubicBezTo>
                <a:close/>
              </a:path>
            </a:pathLst>
          </a:custGeom>
          <a:solidFill xmlns:a="http://schemas.openxmlformats.org/drawingml/2006/main">
            <a:srgbClr val="3D8B8B"/>
          </a:solidFill>
        </p:spPr>
      </p:sp>
      <p:sp>
        <p:nvSpPr>
          <p:cNvPr id="25" name="Shape 28">
            <a:extLst xmlns:a="http://schemas.openxmlformats.org/drawingml/2006/main">
              <a:ext uri="{FF2B5EF4-FFF2-40B4-BE49-F238E27FC236}">
                <a16:creationId xmlns:a16="http://schemas.microsoft.com/office/drawing/2014/main" id="{DFD67904-6684-7BBD-ACF7-43301363D998}"/>
              </a:ext>
            </a:extLst>
          </p:cNvPr>
          <p:cNvSpPr>
            <a:spLocks xmlns:a="http://schemas.openxmlformats.org/drawingml/2006/main" noGrp="1"/>
          </p:cNvSpPr>
          <p:nvPr/>
        </p:nvSpPr>
        <p:spPr>
          <a:xfrm xmlns:a="http://schemas.openxmlformats.org/drawingml/2006/main" rot="0" flipH="0" flipV="0">
            <a:off x="1241218" y="3758991"/>
            <a:ext cx="253828" cy="253828"/>
          </a:xfrm>
          <a:custGeom xmlns:a="http://schemas.openxmlformats.org/drawingml/2006/main">
            <a:rect l="l" t="t" r="r" b="b"/>
            <a:pathLst>
              <a:path w="190500" h="190500">
                <a:moveTo>
                  <a:pt x="24519" y="85018"/>
                </a:moveTo>
                <a:cubicBezTo>
                  <a:pt x="29468" y="50416"/>
                  <a:pt x="59271" y="23812"/>
                  <a:pt x="95250" y="23812"/>
                </a:cubicBezTo>
                <a:cubicBezTo>
                  <a:pt x="114970" y="23812"/>
                  <a:pt x="132829" y="31812"/>
                  <a:pt x="145777" y="44723"/>
                </a:cubicBezTo>
                <a:cubicBezTo>
                  <a:pt x="145852" y="44797"/>
                  <a:pt x="145926" y="44872"/>
                  <a:pt x="146000" y="44946"/>
                </a:cubicBezTo>
                <a:lnTo>
                  <a:pt x="148828" y="47625"/>
                </a:lnTo>
                <a:lnTo>
                  <a:pt x="131006" y="47625"/>
                </a:lnTo>
                <a:cubicBezTo>
                  <a:pt x="124420" y="47625"/>
                  <a:pt x="119100" y="52946"/>
                  <a:pt x="119100" y="59531"/>
                </a:cubicBezTo>
                <a:cubicBezTo>
                  <a:pt x="119100" y="66117"/>
                  <a:pt x="124420" y="71438"/>
                  <a:pt x="131006" y="71438"/>
                </a:cubicBezTo>
                <a:lnTo>
                  <a:pt x="178631" y="71438"/>
                </a:lnTo>
                <a:cubicBezTo>
                  <a:pt x="185217" y="71438"/>
                  <a:pt x="190537" y="66117"/>
                  <a:pt x="190537" y="59531"/>
                </a:cubicBezTo>
                <a:lnTo>
                  <a:pt x="190537" y="11906"/>
                </a:lnTo>
                <a:cubicBezTo>
                  <a:pt x="190537" y="5321"/>
                  <a:pt x="185217" y="0"/>
                  <a:pt x="178631" y="0"/>
                </a:cubicBezTo>
                <a:cubicBezTo>
                  <a:pt x="172045" y="0"/>
                  <a:pt x="166725" y="5321"/>
                  <a:pt x="166725" y="11906"/>
                </a:cubicBezTo>
                <a:lnTo>
                  <a:pt x="166725" y="31775"/>
                </a:lnTo>
                <a:lnTo>
                  <a:pt x="162520" y="27794"/>
                </a:lnTo>
                <a:cubicBezTo>
                  <a:pt x="145293" y="10641"/>
                  <a:pt x="121481" y="0"/>
                  <a:pt x="95250" y="0"/>
                </a:cubicBezTo>
                <a:cubicBezTo>
                  <a:pt x="47253" y="0"/>
                  <a:pt x="7553" y="35496"/>
                  <a:pt x="967" y="81669"/>
                </a:cubicBezTo>
                <a:cubicBezTo>
                  <a:pt x="37" y="88181"/>
                  <a:pt x="4539" y="94208"/>
                  <a:pt x="11050" y="95138"/>
                </a:cubicBezTo>
                <a:cubicBezTo>
                  <a:pt x="17562" y="96069"/>
                  <a:pt x="23589" y="91529"/>
                  <a:pt x="24519" y="85055"/>
                </a:cubicBezTo>
                <a:close/>
                <a:moveTo>
                  <a:pt x="189533" y="108831"/>
                </a:moveTo>
                <a:cubicBezTo>
                  <a:pt x="190463" y="102319"/>
                  <a:pt x="185924" y="96292"/>
                  <a:pt x="179450" y="95362"/>
                </a:cubicBezTo>
                <a:cubicBezTo>
                  <a:pt x="172975" y="94431"/>
                  <a:pt x="166911" y="98971"/>
                  <a:pt x="165981" y="105445"/>
                </a:cubicBezTo>
                <a:cubicBezTo>
                  <a:pt x="161032" y="140047"/>
                  <a:pt x="131229" y="166650"/>
                  <a:pt x="95250" y="166650"/>
                </a:cubicBezTo>
                <a:cubicBezTo>
                  <a:pt x="75530" y="166650"/>
                  <a:pt x="57671" y="158651"/>
                  <a:pt x="44723" y="145740"/>
                </a:cubicBezTo>
                <a:cubicBezTo>
                  <a:pt x="44648" y="145666"/>
                  <a:pt x="44574" y="145591"/>
                  <a:pt x="44500" y="145517"/>
                </a:cubicBezTo>
                <a:lnTo>
                  <a:pt x="41672" y="142838"/>
                </a:lnTo>
                <a:lnTo>
                  <a:pt x="59494" y="142838"/>
                </a:lnTo>
                <a:cubicBezTo>
                  <a:pt x="66080" y="142838"/>
                  <a:pt x="71400" y="137517"/>
                  <a:pt x="71400" y="130932"/>
                </a:cubicBezTo>
                <a:cubicBezTo>
                  <a:pt x="71400" y="124346"/>
                  <a:pt x="66080" y="119025"/>
                  <a:pt x="59494" y="119025"/>
                </a:cubicBezTo>
                <a:lnTo>
                  <a:pt x="11906" y="119063"/>
                </a:lnTo>
                <a:cubicBezTo>
                  <a:pt x="8744" y="119063"/>
                  <a:pt x="5693" y="120328"/>
                  <a:pt x="3460" y="122597"/>
                </a:cubicBezTo>
                <a:cubicBezTo>
                  <a:pt x="1228" y="124867"/>
                  <a:pt x="-37" y="127881"/>
                  <a:pt x="0" y="131080"/>
                </a:cubicBezTo>
                <a:lnTo>
                  <a:pt x="372" y="178333"/>
                </a:lnTo>
                <a:cubicBezTo>
                  <a:pt x="409" y="184919"/>
                  <a:pt x="5804" y="190202"/>
                  <a:pt x="12390" y="190128"/>
                </a:cubicBezTo>
                <a:cubicBezTo>
                  <a:pt x="18976" y="190054"/>
                  <a:pt x="24259" y="184696"/>
                  <a:pt x="24185" y="178110"/>
                </a:cubicBezTo>
                <a:lnTo>
                  <a:pt x="24036" y="158948"/>
                </a:lnTo>
                <a:lnTo>
                  <a:pt x="28017" y="162706"/>
                </a:lnTo>
                <a:cubicBezTo>
                  <a:pt x="45244" y="179859"/>
                  <a:pt x="69019" y="190500"/>
                  <a:pt x="95250" y="190500"/>
                </a:cubicBezTo>
                <a:cubicBezTo>
                  <a:pt x="143247" y="190500"/>
                  <a:pt x="182947" y="155004"/>
                  <a:pt x="189533" y="108831"/>
                </a:cubicBezTo>
                <a:close/>
              </a:path>
            </a:pathLst>
          </a:custGeom>
          <a:solidFill xmlns:a="http://schemas.openxmlformats.org/drawingml/2006/main">
            <a:srgbClr val="C5A069"/>
          </a:solidFill>
        </p:spPr>
      </p:sp>
      <p:sp>
        <p:nvSpPr>
          <p:cNvPr id="26" name="Text 29">
            <a:extLst xmlns:a="http://schemas.openxmlformats.org/drawingml/2006/main">
              <a:ext uri="{FF2B5EF4-FFF2-40B4-BE49-F238E27FC236}">
                <a16:creationId xmlns:a16="http://schemas.microsoft.com/office/drawing/2014/main" id="{56D10D44-446C-88D8-753C-C7A7BE547423}"/>
              </a:ext>
            </a:extLst>
          </p:cNvPr>
          <p:cNvSpPr>
            <a:spLocks xmlns:a="http://schemas.openxmlformats.org/drawingml/2006/main" noGrp="1"/>
          </p:cNvSpPr>
          <p:nvPr/>
        </p:nvSpPr>
        <p:spPr>
          <a:xfrm xmlns:a="http://schemas.openxmlformats.org/drawingml/2006/main" rot="0" flipH="0" flipV="0">
            <a:off x="1526775" y="3716686"/>
            <a:ext cx="3667825" cy="3384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基于深度学习的智能导航方法</a:t>
            </a:r>
            <a:endParaRPr/>
          </a:p>
        </p:txBody>
      </p:sp>
      <p:sp>
        <p:nvSpPr>
          <p:cNvPr id="27" name="Shape 30">
            <a:extLst xmlns:a="http://schemas.openxmlformats.org/drawingml/2006/main">
              <a:ext uri="{FF2B5EF4-FFF2-40B4-BE49-F238E27FC236}">
                <a16:creationId xmlns:a16="http://schemas.microsoft.com/office/drawing/2014/main" id="{71721995-22F0-C342-955C-34B8815E3FD3}"/>
              </a:ext>
            </a:extLst>
          </p:cNvPr>
          <p:cNvSpPr>
            <a:spLocks xmlns:a="http://schemas.openxmlformats.org/drawingml/2006/main" noGrp="1"/>
          </p:cNvSpPr>
          <p:nvPr/>
        </p:nvSpPr>
        <p:spPr>
          <a:xfrm xmlns:a="http://schemas.openxmlformats.org/drawingml/2006/main" rot="0" flipH="0" flipV="0">
            <a:off x="1230641" y="4266648"/>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3D8B8B"/>
          </a:solidFill>
        </p:spPr>
      </p:sp>
      <p:sp>
        <p:nvSpPr>
          <p:cNvPr id="28" name="Text 31">
            <a:extLst xmlns:a="http://schemas.openxmlformats.org/drawingml/2006/main">
              <a:ext uri="{FF2B5EF4-FFF2-40B4-BE49-F238E27FC236}">
                <a16:creationId xmlns:a16="http://schemas.microsoft.com/office/drawing/2014/main" id="{DF8733E1-CE27-A733-EA4F-DF0B5EE21830}"/>
              </a:ext>
            </a:extLst>
          </p:cNvPr>
          <p:cNvSpPr>
            <a:spLocks xmlns:a="http://schemas.openxmlformats.org/drawingml/2006/main" noGrp="1"/>
          </p:cNvSpPr>
          <p:nvPr/>
        </p:nvSpPr>
        <p:spPr>
          <a:xfrm xmlns:a="http://schemas.openxmlformats.org/drawingml/2006/main" rot="0" flipH="0" flipV="0">
            <a:off x="1479182" y="4224344"/>
            <a:ext cx="2316001"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环境语义感知</a:t>
            </a:r>
            <a:endParaRPr/>
          </a:p>
        </p:txBody>
      </p:sp>
      <p:sp>
        <p:nvSpPr>
          <p:cNvPr id="29" name="Shape 32">
            <a:extLst xmlns:a="http://schemas.openxmlformats.org/drawingml/2006/main">
              <a:ext uri="{FF2B5EF4-FFF2-40B4-BE49-F238E27FC236}">
                <a16:creationId xmlns:a16="http://schemas.microsoft.com/office/drawing/2014/main" id="{82FA9D62-D1E5-8760-9D82-DE75AD7CF8C2}"/>
              </a:ext>
            </a:extLst>
          </p:cNvPr>
          <p:cNvSpPr>
            <a:spLocks xmlns:a="http://schemas.openxmlformats.org/drawingml/2006/main" noGrp="1"/>
          </p:cNvSpPr>
          <p:nvPr/>
        </p:nvSpPr>
        <p:spPr>
          <a:xfrm xmlns:a="http://schemas.openxmlformats.org/drawingml/2006/main" rot="0" flipH="0" flipV="0">
            <a:off x="1230641" y="4605087"/>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3D8B8B"/>
          </a:solidFill>
        </p:spPr>
      </p:sp>
      <p:sp>
        <p:nvSpPr>
          <p:cNvPr id="30" name="Text 33">
            <a:extLst xmlns:a="http://schemas.openxmlformats.org/drawingml/2006/main">
              <a:ext uri="{FF2B5EF4-FFF2-40B4-BE49-F238E27FC236}">
                <a16:creationId xmlns:a16="http://schemas.microsoft.com/office/drawing/2014/main" id="{5AA5A059-E3FA-8EF2-CDC4-1FE273AA9FAC}"/>
              </a:ext>
            </a:extLst>
          </p:cNvPr>
          <p:cNvSpPr>
            <a:spLocks xmlns:a="http://schemas.openxmlformats.org/drawingml/2006/main" noGrp="1"/>
          </p:cNvSpPr>
          <p:nvPr/>
        </p:nvSpPr>
        <p:spPr>
          <a:xfrm xmlns:a="http://schemas.openxmlformats.org/drawingml/2006/main" rot="0" flipH="0" flipV="0">
            <a:off x="1479180" y="4562782"/>
            <a:ext cx="2433476"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状态估计</a:t>
            </a:r>
            <a:endParaRPr/>
          </a:p>
        </p:txBody>
      </p:sp>
      <p:sp>
        <p:nvSpPr>
          <p:cNvPr id="31" name="Shape 34">
            <a:extLst xmlns:a="http://schemas.openxmlformats.org/drawingml/2006/main">
              <a:ext uri="{FF2B5EF4-FFF2-40B4-BE49-F238E27FC236}">
                <a16:creationId xmlns:a16="http://schemas.microsoft.com/office/drawing/2014/main" id="{D4C0C299-AEEF-0A9B-118D-E320734AEBFB}"/>
              </a:ext>
            </a:extLst>
          </p:cNvPr>
          <p:cNvSpPr>
            <a:spLocks xmlns:a="http://schemas.openxmlformats.org/drawingml/2006/main" noGrp="1"/>
          </p:cNvSpPr>
          <p:nvPr/>
        </p:nvSpPr>
        <p:spPr>
          <a:xfrm xmlns:a="http://schemas.openxmlformats.org/drawingml/2006/main" rot="0" flipH="0" flipV="0">
            <a:off x="1230641" y="4943525"/>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3D8B8B"/>
          </a:solidFill>
        </p:spPr>
      </p:sp>
      <p:sp>
        <p:nvSpPr>
          <p:cNvPr id="32" name="Text 35">
            <a:extLst xmlns:a="http://schemas.openxmlformats.org/drawingml/2006/main">
              <a:ext uri="{FF2B5EF4-FFF2-40B4-BE49-F238E27FC236}">
                <a16:creationId xmlns:a16="http://schemas.microsoft.com/office/drawing/2014/main" id="{F18A44A2-FD14-F407-AF70-2BCF50BD601F}"/>
              </a:ext>
            </a:extLst>
          </p:cNvPr>
          <p:cNvSpPr>
            <a:spLocks xmlns:a="http://schemas.openxmlformats.org/drawingml/2006/main" noGrp="1"/>
          </p:cNvSpPr>
          <p:nvPr/>
        </p:nvSpPr>
        <p:spPr>
          <a:xfrm xmlns:a="http://schemas.openxmlformats.org/drawingml/2006/main" rot="0" flipH="0" flipV="0">
            <a:off x="1479182" y="4901220"/>
            <a:ext cx="2433475"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同步定位与建图</a:t>
            </a:r>
            <a:endParaRPr/>
          </a:p>
        </p:txBody>
      </p:sp>
      <p:sp>
        <p:nvSpPr>
          <p:cNvPr id="33" name="Shape 36">
            <a:extLst xmlns:a="http://schemas.openxmlformats.org/drawingml/2006/main">
              <a:ext uri="{FF2B5EF4-FFF2-40B4-BE49-F238E27FC236}">
                <a16:creationId xmlns:a16="http://schemas.microsoft.com/office/drawing/2014/main" id="{7E0AAE96-35BA-069D-FFA3-5AFD2D54B6AF}"/>
              </a:ext>
            </a:extLst>
          </p:cNvPr>
          <p:cNvSpPr>
            <a:spLocks xmlns:a="http://schemas.openxmlformats.org/drawingml/2006/main" noGrp="1"/>
          </p:cNvSpPr>
          <p:nvPr/>
        </p:nvSpPr>
        <p:spPr>
          <a:xfrm xmlns:a="http://schemas.openxmlformats.org/drawingml/2006/main" rot="0" flipH="0" flipV="0">
            <a:off x="6573736" y="3462857"/>
            <a:ext cx="4295346" cy="1946020"/>
          </a:xfrm>
          <a:custGeom xmlns:a="http://schemas.openxmlformats.org/drawingml/2006/main">
            <a:rect l="l" t="t" r="r" b="b"/>
            <a:pathLst>
              <a:path w="5683250" h="1460500">
                <a:moveTo>
                  <a:pt x="31750" y="0"/>
                </a:moveTo>
                <a:lnTo>
                  <a:pt x="5619747" y="0"/>
                </a:lnTo>
                <a:cubicBezTo>
                  <a:pt x="5654819" y="0"/>
                  <a:pt x="5683250" y="28431"/>
                  <a:pt x="5683250" y="63503"/>
                </a:cubicBezTo>
                <a:lnTo>
                  <a:pt x="5683250" y="1396997"/>
                </a:lnTo>
                <a:cubicBezTo>
                  <a:pt x="5683250" y="1432069"/>
                  <a:pt x="5654819" y="1460500"/>
                  <a:pt x="5619747" y="1460500"/>
                </a:cubicBezTo>
                <a:lnTo>
                  <a:pt x="31750" y="1460500"/>
                </a:lnTo>
                <a:cubicBezTo>
                  <a:pt x="14227" y="1460500"/>
                  <a:pt x="0" y="1446273"/>
                  <a:pt x="0" y="1428750"/>
                </a:cubicBezTo>
                <a:lnTo>
                  <a:pt x="0" y="31750"/>
                </a:lnTo>
                <a:cubicBezTo>
                  <a:pt x="0" y="14227"/>
                  <a:pt x="14227" y="0"/>
                  <a:pt x="31750" y="0"/>
                </a:cubicBezTo>
                <a:close/>
              </a:path>
            </a:pathLst>
          </a:custGeom>
          <a:gradFill xmlns:a="http://schemas.openxmlformats.org/drawingml/2006/main" rotWithShape="1">
            <a:gsLst>
              <a:gs pos="0">
                <a:srgbClr val="C5A069">
                  <a:alpha val="15000"/>
                </a:srgbClr>
              </a:gs>
              <a:gs pos="100000">
                <a:srgbClr val="000000">
                  <a:alpha val="0"/>
                </a:srgbClr>
              </a:gs>
            </a:gsLst>
            <a:lin ang="2700000" scaled="1"/>
          </a:gradFill>
        </p:spPr>
      </p:sp>
      <p:sp>
        <p:nvSpPr>
          <p:cNvPr id="34" name="Shape 37">
            <a:extLst xmlns:a="http://schemas.openxmlformats.org/drawingml/2006/main">
              <a:ext uri="{FF2B5EF4-FFF2-40B4-BE49-F238E27FC236}">
                <a16:creationId xmlns:a16="http://schemas.microsoft.com/office/drawing/2014/main" id="{4BFF205B-0EB0-5A2E-339C-B1337E3434E2}"/>
              </a:ext>
            </a:extLst>
          </p:cNvPr>
          <p:cNvSpPr>
            <a:spLocks xmlns:a="http://schemas.openxmlformats.org/drawingml/2006/main" noGrp="1"/>
          </p:cNvSpPr>
          <p:nvPr/>
        </p:nvSpPr>
        <p:spPr>
          <a:xfrm xmlns:a="http://schemas.openxmlformats.org/drawingml/2006/main" rot="0" flipH="0" flipV="0">
            <a:off x="6573736" y="3462857"/>
            <a:ext cx="42304" cy="1946020"/>
          </a:xfrm>
          <a:custGeom xmlns:a="http://schemas.openxmlformats.org/drawingml/2006/main">
            <a:rect l="l" t="t" r="r" b="b"/>
            <a:pathLst>
              <a:path w="31750" h="1460500">
                <a:moveTo>
                  <a:pt x="31750" y="0"/>
                </a:moveTo>
                <a:lnTo>
                  <a:pt x="31750" y="0"/>
                </a:lnTo>
                <a:lnTo>
                  <a:pt x="31750" y="1460500"/>
                </a:lnTo>
                <a:lnTo>
                  <a:pt x="31750" y="1460500"/>
                </a:lnTo>
                <a:cubicBezTo>
                  <a:pt x="14227" y="1460500"/>
                  <a:pt x="0" y="1446273"/>
                  <a:pt x="0" y="1428750"/>
                </a:cubicBezTo>
                <a:lnTo>
                  <a:pt x="0" y="31750"/>
                </a:lnTo>
                <a:cubicBezTo>
                  <a:pt x="0" y="14227"/>
                  <a:pt x="14227" y="0"/>
                  <a:pt x="31750" y="0"/>
                </a:cubicBezTo>
                <a:close/>
              </a:path>
            </a:pathLst>
          </a:custGeom>
          <a:solidFill xmlns:a="http://schemas.openxmlformats.org/drawingml/2006/main">
            <a:srgbClr val="C5A069"/>
          </a:solidFill>
        </p:spPr>
      </p:sp>
      <p:sp>
        <p:nvSpPr>
          <p:cNvPr id="35" name="Shape 38">
            <a:extLst xmlns:a="http://schemas.openxmlformats.org/drawingml/2006/main">
              <a:ext uri="{FF2B5EF4-FFF2-40B4-BE49-F238E27FC236}">
                <a16:creationId xmlns:a16="http://schemas.microsoft.com/office/drawing/2014/main" id="{DFA6D75B-37DB-04F8-F967-064F37A6986C}"/>
              </a:ext>
            </a:extLst>
          </p:cNvPr>
          <p:cNvSpPr>
            <a:spLocks xmlns:a="http://schemas.openxmlformats.org/drawingml/2006/main" noGrp="1"/>
          </p:cNvSpPr>
          <p:nvPr/>
        </p:nvSpPr>
        <p:spPr>
          <a:xfrm xmlns:a="http://schemas.openxmlformats.org/drawingml/2006/main" rot="0" flipH="0" flipV="0">
            <a:off x="6864582" y="3758991"/>
            <a:ext cx="285558" cy="253828"/>
          </a:xfrm>
          <a:custGeom xmlns:a="http://schemas.openxmlformats.org/drawingml/2006/main">
            <a:rect l="l" t="t" r="r" b="b"/>
            <a:pathLst>
              <a:path w="214313" h="190500">
                <a:moveTo>
                  <a:pt x="92273" y="32742"/>
                </a:moveTo>
                <a:lnTo>
                  <a:pt x="122039" y="32742"/>
                </a:lnTo>
                <a:lnTo>
                  <a:pt x="122039" y="50602"/>
                </a:lnTo>
                <a:lnTo>
                  <a:pt x="92273" y="50602"/>
                </a:lnTo>
                <a:lnTo>
                  <a:pt x="92273" y="32742"/>
                </a:lnTo>
                <a:close/>
                <a:moveTo>
                  <a:pt x="89297" y="11906"/>
                </a:moveTo>
                <a:cubicBezTo>
                  <a:pt x="79437" y="11906"/>
                  <a:pt x="71438" y="19906"/>
                  <a:pt x="71438" y="29766"/>
                </a:cubicBezTo>
                <a:lnTo>
                  <a:pt x="71438" y="53578"/>
                </a:lnTo>
                <a:cubicBezTo>
                  <a:pt x="71438" y="63438"/>
                  <a:pt x="79437" y="71438"/>
                  <a:pt x="89297" y="71438"/>
                </a:cubicBezTo>
                <a:lnTo>
                  <a:pt x="95250" y="71438"/>
                </a:lnTo>
                <a:lnTo>
                  <a:pt x="95250" y="83344"/>
                </a:lnTo>
                <a:lnTo>
                  <a:pt x="11906" y="83344"/>
                </a:lnTo>
                <a:cubicBezTo>
                  <a:pt x="5321" y="83344"/>
                  <a:pt x="0" y="88664"/>
                  <a:pt x="0" y="95250"/>
                </a:cubicBezTo>
                <a:cubicBezTo>
                  <a:pt x="0" y="101836"/>
                  <a:pt x="5321" y="107156"/>
                  <a:pt x="11906" y="107156"/>
                </a:cubicBezTo>
                <a:lnTo>
                  <a:pt x="47625" y="107156"/>
                </a:lnTo>
                <a:lnTo>
                  <a:pt x="47625" y="119063"/>
                </a:lnTo>
                <a:lnTo>
                  <a:pt x="41672" y="119063"/>
                </a:lnTo>
                <a:cubicBezTo>
                  <a:pt x="31812" y="119063"/>
                  <a:pt x="23812" y="127062"/>
                  <a:pt x="23812" y="136922"/>
                </a:cubicBezTo>
                <a:lnTo>
                  <a:pt x="23812" y="160734"/>
                </a:lnTo>
                <a:cubicBezTo>
                  <a:pt x="23812" y="170594"/>
                  <a:pt x="31812" y="178594"/>
                  <a:pt x="41672" y="178594"/>
                </a:cubicBezTo>
                <a:lnTo>
                  <a:pt x="77391" y="178594"/>
                </a:lnTo>
                <a:cubicBezTo>
                  <a:pt x="87250" y="178594"/>
                  <a:pt x="95250" y="170594"/>
                  <a:pt x="95250" y="160734"/>
                </a:cubicBezTo>
                <a:lnTo>
                  <a:pt x="95250" y="136922"/>
                </a:lnTo>
                <a:cubicBezTo>
                  <a:pt x="95250" y="127062"/>
                  <a:pt x="87250" y="119063"/>
                  <a:pt x="77391" y="119063"/>
                </a:cubicBezTo>
                <a:lnTo>
                  <a:pt x="71438" y="119063"/>
                </a:lnTo>
                <a:lnTo>
                  <a:pt x="71438" y="107156"/>
                </a:lnTo>
                <a:lnTo>
                  <a:pt x="142875" y="107156"/>
                </a:lnTo>
                <a:lnTo>
                  <a:pt x="142875" y="119063"/>
                </a:lnTo>
                <a:lnTo>
                  <a:pt x="136922" y="119063"/>
                </a:lnTo>
                <a:cubicBezTo>
                  <a:pt x="127062" y="119063"/>
                  <a:pt x="119063" y="127062"/>
                  <a:pt x="119063" y="136922"/>
                </a:cubicBezTo>
                <a:lnTo>
                  <a:pt x="119063" y="160734"/>
                </a:lnTo>
                <a:cubicBezTo>
                  <a:pt x="119063" y="170594"/>
                  <a:pt x="127062" y="178594"/>
                  <a:pt x="136922" y="178594"/>
                </a:cubicBezTo>
                <a:lnTo>
                  <a:pt x="172641" y="178594"/>
                </a:lnTo>
                <a:cubicBezTo>
                  <a:pt x="182500" y="178594"/>
                  <a:pt x="190500" y="170594"/>
                  <a:pt x="190500" y="160734"/>
                </a:cubicBezTo>
                <a:lnTo>
                  <a:pt x="190500" y="136922"/>
                </a:lnTo>
                <a:cubicBezTo>
                  <a:pt x="190500" y="127062"/>
                  <a:pt x="182500" y="119063"/>
                  <a:pt x="172641" y="119063"/>
                </a:cubicBezTo>
                <a:lnTo>
                  <a:pt x="166688" y="119063"/>
                </a:lnTo>
                <a:lnTo>
                  <a:pt x="166688" y="107156"/>
                </a:lnTo>
                <a:lnTo>
                  <a:pt x="202406" y="107156"/>
                </a:lnTo>
                <a:cubicBezTo>
                  <a:pt x="208992" y="107156"/>
                  <a:pt x="214313" y="101836"/>
                  <a:pt x="214313" y="95250"/>
                </a:cubicBezTo>
                <a:cubicBezTo>
                  <a:pt x="214313" y="88664"/>
                  <a:pt x="208992" y="83344"/>
                  <a:pt x="202406" y="83344"/>
                </a:cubicBezTo>
                <a:lnTo>
                  <a:pt x="119063" y="83344"/>
                </a:lnTo>
                <a:lnTo>
                  <a:pt x="119063" y="71438"/>
                </a:lnTo>
                <a:lnTo>
                  <a:pt x="125016" y="71438"/>
                </a:lnTo>
                <a:cubicBezTo>
                  <a:pt x="134875" y="71438"/>
                  <a:pt x="142875" y="63438"/>
                  <a:pt x="142875" y="53578"/>
                </a:cubicBezTo>
                <a:lnTo>
                  <a:pt x="142875" y="29766"/>
                </a:lnTo>
                <a:cubicBezTo>
                  <a:pt x="142875" y="19906"/>
                  <a:pt x="134875" y="11906"/>
                  <a:pt x="125016" y="11906"/>
                </a:cubicBezTo>
                <a:lnTo>
                  <a:pt x="89297" y="11906"/>
                </a:lnTo>
                <a:close/>
                <a:moveTo>
                  <a:pt x="166688" y="139898"/>
                </a:moveTo>
                <a:lnTo>
                  <a:pt x="169664" y="139898"/>
                </a:lnTo>
                <a:lnTo>
                  <a:pt x="169664" y="157758"/>
                </a:lnTo>
                <a:lnTo>
                  <a:pt x="139898" y="157758"/>
                </a:lnTo>
                <a:lnTo>
                  <a:pt x="139898" y="139898"/>
                </a:lnTo>
                <a:lnTo>
                  <a:pt x="166688" y="139898"/>
                </a:lnTo>
                <a:close/>
                <a:moveTo>
                  <a:pt x="71438" y="139898"/>
                </a:moveTo>
                <a:lnTo>
                  <a:pt x="74414" y="139898"/>
                </a:lnTo>
                <a:lnTo>
                  <a:pt x="74414" y="157758"/>
                </a:lnTo>
                <a:lnTo>
                  <a:pt x="44648" y="157758"/>
                </a:lnTo>
                <a:lnTo>
                  <a:pt x="44648" y="139898"/>
                </a:lnTo>
                <a:lnTo>
                  <a:pt x="71438" y="139898"/>
                </a:lnTo>
                <a:close/>
              </a:path>
            </a:pathLst>
          </a:custGeom>
          <a:solidFill xmlns:a="http://schemas.openxmlformats.org/drawingml/2006/main">
            <a:srgbClr val="C5A069"/>
          </a:solidFill>
        </p:spPr>
      </p:sp>
      <p:sp>
        <p:nvSpPr>
          <p:cNvPr id="36" name="Text 39">
            <a:extLst xmlns:a="http://schemas.openxmlformats.org/drawingml/2006/main">
              <a:ext uri="{FF2B5EF4-FFF2-40B4-BE49-F238E27FC236}">
                <a16:creationId xmlns:a16="http://schemas.microsoft.com/office/drawing/2014/main" id="{147DD63A-36A1-D7F4-16A8-07F5E9F81951}"/>
              </a:ext>
            </a:extLst>
          </p:cNvPr>
          <p:cNvSpPr>
            <a:spLocks xmlns:a="http://schemas.openxmlformats.org/drawingml/2006/main" noGrp="1"/>
          </p:cNvSpPr>
          <p:nvPr/>
        </p:nvSpPr>
        <p:spPr>
          <a:xfrm xmlns:a="http://schemas.openxmlformats.org/drawingml/2006/main" rot="0" flipH="0" flipV="0">
            <a:off x="7166004" y="3716686"/>
            <a:ext cx="3703078" cy="3384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基于强化学习的导航方法</a:t>
            </a:r>
            <a:endParaRPr/>
          </a:p>
        </p:txBody>
      </p:sp>
      <p:sp>
        <p:nvSpPr>
          <p:cNvPr id="37" name="Shape 40">
            <a:extLst xmlns:a="http://schemas.openxmlformats.org/drawingml/2006/main">
              <a:ext uri="{FF2B5EF4-FFF2-40B4-BE49-F238E27FC236}">
                <a16:creationId xmlns:a16="http://schemas.microsoft.com/office/drawing/2014/main" id="{1998258E-66A1-50E6-7D53-9A1FA0C0E00D}"/>
              </a:ext>
            </a:extLst>
          </p:cNvPr>
          <p:cNvSpPr>
            <a:spLocks xmlns:a="http://schemas.openxmlformats.org/drawingml/2006/main" noGrp="1"/>
          </p:cNvSpPr>
          <p:nvPr/>
        </p:nvSpPr>
        <p:spPr>
          <a:xfrm xmlns:a="http://schemas.openxmlformats.org/drawingml/2006/main" rot="0" flipH="0" flipV="0">
            <a:off x="6869870" y="4266648"/>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C5A069"/>
          </a:solidFill>
        </p:spPr>
      </p:sp>
      <p:sp>
        <p:nvSpPr>
          <p:cNvPr id="38" name="Text 41">
            <a:extLst xmlns:a="http://schemas.openxmlformats.org/drawingml/2006/main">
              <a:ext uri="{FF2B5EF4-FFF2-40B4-BE49-F238E27FC236}">
                <a16:creationId xmlns:a16="http://schemas.microsoft.com/office/drawing/2014/main" id="{08690C5A-94A4-BF90-73DF-40D2E42FAAB9}"/>
              </a:ext>
            </a:extLst>
          </p:cNvPr>
          <p:cNvSpPr>
            <a:spLocks xmlns:a="http://schemas.openxmlformats.org/drawingml/2006/main" noGrp="1"/>
          </p:cNvSpPr>
          <p:nvPr/>
        </p:nvSpPr>
        <p:spPr>
          <a:xfrm xmlns:a="http://schemas.openxmlformats.org/drawingml/2006/main" rot="0" flipH="0" flipV="0">
            <a:off x="7118409" y="4224345"/>
            <a:ext cx="2758786" cy="19037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t>基于值函数的强化学习导航</a:t>
            </a:r>
          </a:p>
        </p:txBody>
      </p:sp>
      <p:sp>
        <p:nvSpPr>
          <p:cNvPr id="39" name="Shape 42">
            <a:extLst xmlns:a="http://schemas.openxmlformats.org/drawingml/2006/main">
              <a:ext uri="{FF2B5EF4-FFF2-40B4-BE49-F238E27FC236}">
                <a16:creationId xmlns:a16="http://schemas.microsoft.com/office/drawing/2014/main" id="{3568D49F-EA5B-04CD-5169-C6DA36B37F87}"/>
              </a:ext>
            </a:extLst>
          </p:cNvPr>
          <p:cNvSpPr>
            <a:spLocks xmlns:a="http://schemas.openxmlformats.org/drawingml/2006/main" noGrp="1"/>
          </p:cNvSpPr>
          <p:nvPr/>
        </p:nvSpPr>
        <p:spPr>
          <a:xfrm xmlns:a="http://schemas.openxmlformats.org/drawingml/2006/main" rot="0" flipH="0" flipV="0">
            <a:off x="6869870" y="4605087"/>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C5A069"/>
          </a:solidFill>
        </p:spPr>
      </p:sp>
      <p:sp>
        <p:nvSpPr>
          <p:cNvPr id="40" name="Text 43">
            <a:extLst xmlns:a="http://schemas.openxmlformats.org/drawingml/2006/main">
              <a:ext uri="{FF2B5EF4-FFF2-40B4-BE49-F238E27FC236}">
                <a16:creationId xmlns:a16="http://schemas.microsoft.com/office/drawing/2014/main" id="{4FF4D19A-EA96-7249-6F49-8B297ABDDBE9}"/>
              </a:ext>
            </a:extLst>
          </p:cNvPr>
          <p:cNvSpPr>
            <a:spLocks xmlns:a="http://schemas.openxmlformats.org/drawingml/2006/main" noGrp="1"/>
          </p:cNvSpPr>
          <p:nvPr/>
        </p:nvSpPr>
        <p:spPr>
          <a:xfrm xmlns:a="http://schemas.openxmlformats.org/drawingml/2006/main" rot="0" flipH="0" flipV="0">
            <a:off x="7118409" y="4562782"/>
            <a:ext cx="4139080" cy="2538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lvl="0">
              <a:buNone/>
            </a:pPr>
            <a:r>
              <a:t>基于策略梯度函数的强化学习导航</a:t>
            </a:r>
          </a:p>
        </p:txBody>
      </p:sp>
      <p:sp>
        <p:nvSpPr>
          <p:cNvPr id="41" name="Shape 44">
            <a:extLst xmlns:a="http://schemas.openxmlformats.org/drawingml/2006/main">
              <a:ext uri="{FF2B5EF4-FFF2-40B4-BE49-F238E27FC236}">
                <a16:creationId xmlns:a16="http://schemas.microsoft.com/office/drawing/2014/main" id="{E031DE9C-48B8-0C8F-FD64-986E5D0ABADE}"/>
              </a:ext>
            </a:extLst>
          </p:cNvPr>
          <p:cNvSpPr>
            <a:spLocks xmlns:a="http://schemas.openxmlformats.org/drawingml/2006/main" noGrp="1"/>
          </p:cNvSpPr>
          <p:nvPr/>
        </p:nvSpPr>
        <p:spPr>
          <a:xfrm xmlns:a="http://schemas.openxmlformats.org/drawingml/2006/main" rot="0" flipH="0" flipV="0">
            <a:off x="6869870" y="4943525"/>
            <a:ext cx="148066" cy="148066"/>
          </a:xfrm>
          <a:custGeom xmlns:a="http://schemas.openxmlformats.org/drawingml/2006/main">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xmlns:a="http://schemas.openxmlformats.org/drawingml/2006/main">
            <a:srgbClr val="C5A069"/>
          </a:solidFill>
        </p:spPr>
      </p:sp>
      <p:sp>
        <p:nvSpPr>
          <p:cNvPr id="42" name="Text 45">
            <a:extLst xmlns:a="http://schemas.openxmlformats.org/drawingml/2006/main">
              <a:ext uri="{FF2B5EF4-FFF2-40B4-BE49-F238E27FC236}">
                <a16:creationId xmlns:a16="http://schemas.microsoft.com/office/drawing/2014/main" id="{3DC27BFD-C1E6-0095-D0E8-C7A74D9DE233}"/>
              </a:ext>
            </a:extLst>
          </p:cNvPr>
          <p:cNvSpPr>
            <a:spLocks xmlns:a="http://schemas.openxmlformats.org/drawingml/2006/main" noGrp="1"/>
          </p:cNvSpPr>
          <p:nvPr/>
        </p:nvSpPr>
        <p:spPr>
          <a:xfrm xmlns:a="http://schemas.openxmlformats.org/drawingml/2006/main" rot="0" flipH="0" flipV="0">
            <a:off x="7118409" y="4784884"/>
            <a:ext cx="3417507" cy="46535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t>基于深度强化学习方法的导航</a:t>
            </a:r>
            <a:endParaRPr/>
          </a:p>
        </p:txBody>
      </p:sp>
    </p:spTree>
    <p:extLst>
      <p:ext uri="{BB962C8B-B14F-4D97-AF65-F5344CB8AC3E}">
        <p14:creationId xmlns:p14="http://schemas.microsoft.com/office/powerpoint/2010/main" val="130863049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5" name="AutoShape 2">
            <a:extLst xmlns:a="http://schemas.openxmlformats.org/drawingml/2006/main">
              <a:ext uri="{FF2B5EF4-FFF2-40B4-BE49-F238E27FC236}">
                <a16:creationId xmlns:a16="http://schemas.microsoft.com/office/drawing/2014/main" id="{34ECBFAF-F2B5-1272-31CF-A9C0C182CD84}"/>
              </a:ext>
            </a:extLst>
          </p:cNvPr>
          <p:cNvSpPr>
            <a:spLocks xmlns:a="http://schemas.openxmlformats.org/drawingml/2006/main" noGrp="1"/>
          </p:cNvSpPr>
          <p:nvPr/>
        </p:nvSpPr>
        <p:spPr>
          <a:xfrm xmlns:a="http://schemas.openxmlformats.org/drawingml/2006/main">
            <a:off x="5943600" y="3276600"/>
            <a:ext cx="304800" cy="304800"/>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3" name="Shape 7">
            <a:extLst xmlns:a="http://schemas.openxmlformats.org/drawingml/2006/main">
              <a:ext uri="{FF2B5EF4-FFF2-40B4-BE49-F238E27FC236}">
                <a16:creationId xmlns:a16="http://schemas.microsoft.com/office/drawing/2014/main" id="{8C821C02-B027-59B7-5899-53F8429F1C90}"/>
              </a:ext>
            </a:extLst>
          </p:cNvPr>
          <p:cNvSpPr>
            <a:spLocks xmlns:a="http://schemas.openxmlformats.org/drawingml/2006/main" noGrp="1"/>
          </p:cNvSpPr>
          <p:nvPr/>
        </p:nvSpPr>
        <p:spPr>
          <a:xfrm xmlns:a="http://schemas.openxmlformats.org/drawingml/2006/main" rot="0" flipH="0" flipV="0">
            <a:off x="1086936" y="1526390"/>
            <a:ext cx="489025" cy="494438"/>
          </a:xfrm>
          <a:custGeom xmlns:a="http://schemas.openxmlformats.org/drawingml/2006/main">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xmlns:a="http://schemas.openxmlformats.org/drawingml/2006/main">
            <a:srgbClr val="3D8B8B"/>
          </a:solidFill>
        </p:spPr>
      </p:sp>
      <p:sp>
        <p:nvSpPr>
          <p:cNvPr id="4" name="Text 8">
            <a:extLst xmlns:a="http://schemas.openxmlformats.org/drawingml/2006/main">
              <a:ext uri="{FF2B5EF4-FFF2-40B4-BE49-F238E27FC236}">
                <a16:creationId xmlns:a16="http://schemas.microsoft.com/office/drawing/2014/main" id="{2653E634-2F09-5BFE-28EE-4C441B1D155D}"/>
              </a:ext>
            </a:extLst>
          </p:cNvPr>
          <p:cNvSpPr>
            <a:spLocks xmlns:a="http://schemas.openxmlformats.org/drawingml/2006/main" noGrp="1"/>
          </p:cNvSpPr>
          <p:nvPr/>
        </p:nvSpPr>
        <p:spPr>
          <a:xfrm xmlns:a="http://schemas.openxmlformats.org/drawingml/2006/main" rot="0" flipH="0" flipV="0">
            <a:off x="1289184" y="1619097"/>
            <a:ext cx="198666" cy="30902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just">
              <a:lnSpc>
                <a:spcPct val="120000"/>
              </a:lnSpc>
              <a:buNone/>
            </a:pPr>
            <a:r>
              <a:rPr b="1">
                <a:latin typeface="微软雅黑"/>
                <a:ea typeface="微软雅黑"/>
                <a:cs typeface="微软雅黑"/>
              </a:rPr>
              <a:t>1</a:t>
            </a:r>
            <a:endParaRPr/>
          </a:p>
        </p:txBody>
      </p:sp>
      <p:sp>
        <p:nvSpPr>
          <p:cNvPr id="5" name="Text 9">
            <a:extLst xmlns:a="http://schemas.openxmlformats.org/drawingml/2006/main">
              <a:ext uri="{FF2B5EF4-FFF2-40B4-BE49-F238E27FC236}">
                <a16:creationId xmlns:a16="http://schemas.microsoft.com/office/drawing/2014/main" id="{5AD1F1F0-2CF3-86CF-6837-62E32C1C0CE8}"/>
              </a:ext>
            </a:extLst>
          </p:cNvPr>
          <p:cNvSpPr>
            <a:spLocks xmlns:a="http://schemas.openxmlformats.org/drawingml/2006/main" noGrp="1"/>
          </p:cNvSpPr>
          <p:nvPr/>
        </p:nvSpPr>
        <p:spPr>
          <a:xfrm xmlns:a="http://schemas.openxmlformats.org/drawingml/2006/main" rot="0" flipH="0" flipV="0">
            <a:off x="1759346" y="1526390"/>
            <a:ext cx="8621657" cy="40173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just">
              <a:lnSpc>
                <a:spcPct val="140000"/>
              </a:lnSpc>
              <a:buNone/>
            </a:pPr>
            <a:r>
              <a:rPr>
                <a:latin typeface="微软雅黑"/>
                <a:ea typeface="微软雅黑"/>
                <a:cs typeface="微软雅黑"/>
              </a:rPr>
              <a:t>基于传统机器学习、深度学习和强化学习的智能导航方法各有什么优缺点，它们分别适用于什么场景？</a:t>
            </a:r>
            <a:endParaRPr/>
          </a:p>
        </p:txBody>
      </p:sp>
      <p:sp>
        <p:nvSpPr>
          <p:cNvPr id="6" name="Shape 15">
            <a:extLst xmlns:a="http://schemas.openxmlformats.org/drawingml/2006/main">
              <a:ext uri="{FF2B5EF4-FFF2-40B4-BE49-F238E27FC236}">
                <a16:creationId xmlns:a16="http://schemas.microsoft.com/office/drawing/2014/main" id="{DF4044FA-2B6F-00E4-B7F3-818B74FABC29}"/>
              </a:ext>
            </a:extLst>
          </p:cNvPr>
          <p:cNvSpPr>
            <a:spLocks xmlns:a="http://schemas.openxmlformats.org/drawingml/2006/main" noGrp="1"/>
          </p:cNvSpPr>
          <p:nvPr/>
        </p:nvSpPr>
        <p:spPr>
          <a:xfrm xmlns:a="http://schemas.openxmlformats.org/drawingml/2006/main" rot="0" flipH="0" flipV="0">
            <a:off x="1086936" y="2731584"/>
            <a:ext cx="489025" cy="494438"/>
          </a:xfrm>
          <a:custGeom xmlns:a="http://schemas.openxmlformats.org/drawingml/2006/main">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xmlns:a="http://schemas.openxmlformats.org/drawingml/2006/main">
            <a:srgbClr val="3D8B8B"/>
          </a:solidFill>
        </p:spPr>
      </p:sp>
      <p:sp>
        <p:nvSpPr>
          <p:cNvPr id="7" name="Text 16">
            <a:extLst xmlns:a="http://schemas.openxmlformats.org/drawingml/2006/main">
              <a:ext uri="{FF2B5EF4-FFF2-40B4-BE49-F238E27FC236}">
                <a16:creationId xmlns:a16="http://schemas.microsoft.com/office/drawing/2014/main" id="{E9E6FBD9-14A8-1C5B-9210-06414BA434FE}"/>
              </a:ext>
            </a:extLst>
          </p:cNvPr>
          <p:cNvSpPr>
            <a:spLocks xmlns:a="http://schemas.openxmlformats.org/drawingml/2006/main" noGrp="1"/>
          </p:cNvSpPr>
          <p:nvPr/>
        </p:nvSpPr>
        <p:spPr>
          <a:xfrm xmlns:a="http://schemas.openxmlformats.org/drawingml/2006/main" rot="0" flipH="0" flipV="0">
            <a:off x="1268410" y="2824291"/>
            <a:ext cx="229230" cy="30902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just">
              <a:lnSpc>
                <a:spcPct val="120000"/>
              </a:lnSpc>
              <a:buNone/>
            </a:pPr>
            <a:r>
              <a:rPr b="1">
                <a:latin typeface="微软雅黑"/>
                <a:ea typeface="微软雅黑"/>
                <a:cs typeface="微软雅黑"/>
              </a:rPr>
              <a:t>2</a:t>
            </a:r>
            <a:endParaRPr/>
          </a:p>
        </p:txBody>
      </p:sp>
      <p:sp>
        <p:nvSpPr>
          <p:cNvPr id="8" name="Text 17">
            <a:extLst xmlns:a="http://schemas.openxmlformats.org/drawingml/2006/main">
              <a:ext uri="{FF2B5EF4-FFF2-40B4-BE49-F238E27FC236}">
                <a16:creationId xmlns:a16="http://schemas.microsoft.com/office/drawing/2014/main" id="{F9429953-D783-287B-073C-A2638EBCF3ED}"/>
              </a:ext>
            </a:extLst>
          </p:cNvPr>
          <p:cNvSpPr>
            <a:spLocks xmlns:a="http://schemas.openxmlformats.org/drawingml/2006/main" noGrp="1"/>
          </p:cNvSpPr>
          <p:nvPr/>
        </p:nvSpPr>
        <p:spPr>
          <a:xfrm xmlns:a="http://schemas.openxmlformats.org/drawingml/2006/main" rot="0" flipH="0" flipV="0">
            <a:off x="1759346" y="2731584"/>
            <a:ext cx="8621657" cy="40173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just">
              <a:lnSpc>
                <a:spcPct val="140000"/>
              </a:lnSpc>
              <a:buNone/>
            </a:pPr>
            <a:r>
              <a:t>分析结合多种传感器数据（如视觉、激光雷达、毫米波雷达等）对提高机器人导航准确性和鲁棒性的重要性，并讨论如何融合这些数据</a:t>
            </a:r>
            <a:r>
              <a:t>。</a:t>
            </a:r>
            <a:endParaRPr/>
          </a:p>
        </p:txBody>
      </p:sp>
      <p:sp>
        <p:nvSpPr>
          <p:cNvPr id="9" name="Shape 23">
            <a:extLst xmlns:a="http://schemas.openxmlformats.org/drawingml/2006/main">
              <a:ext uri="{FF2B5EF4-FFF2-40B4-BE49-F238E27FC236}">
                <a16:creationId xmlns:a16="http://schemas.microsoft.com/office/drawing/2014/main" id="{367B5F12-0C32-64F4-2815-0191D512D4D1}"/>
              </a:ext>
            </a:extLst>
          </p:cNvPr>
          <p:cNvSpPr>
            <a:spLocks xmlns:a="http://schemas.openxmlformats.org/drawingml/2006/main" noGrp="1"/>
          </p:cNvSpPr>
          <p:nvPr/>
        </p:nvSpPr>
        <p:spPr>
          <a:xfrm xmlns:a="http://schemas.openxmlformats.org/drawingml/2006/main" rot="0" flipH="0" flipV="0">
            <a:off x="1086936" y="3936777"/>
            <a:ext cx="489025" cy="494438"/>
          </a:xfrm>
          <a:custGeom xmlns:a="http://schemas.openxmlformats.org/drawingml/2006/main">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xmlns:a="http://schemas.openxmlformats.org/drawingml/2006/main">
            <a:srgbClr val="3D8B8B"/>
          </a:solidFill>
        </p:spPr>
      </p:sp>
      <p:sp>
        <p:nvSpPr>
          <p:cNvPr id="10" name="Text 24">
            <a:extLst xmlns:a="http://schemas.openxmlformats.org/drawingml/2006/main">
              <a:ext uri="{FF2B5EF4-FFF2-40B4-BE49-F238E27FC236}">
                <a16:creationId xmlns:a16="http://schemas.microsoft.com/office/drawing/2014/main" id="{71D23B95-8A21-2909-9C15-ED8146871FA2}"/>
              </a:ext>
            </a:extLst>
          </p:cNvPr>
          <p:cNvSpPr>
            <a:spLocks xmlns:a="http://schemas.openxmlformats.org/drawingml/2006/main" noGrp="1"/>
          </p:cNvSpPr>
          <p:nvPr/>
        </p:nvSpPr>
        <p:spPr>
          <a:xfrm xmlns:a="http://schemas.openxmlformats.org/drawingml/2006/main" rot="0" flipH="0" flipV="0">
            <a:off x="1267455" y="4029484"/>
            <a:ext cx="229230" cy="30902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just">
              <a:lnSpc>
                <a:spcPct val="120000"/>
              </a:lnSpc>
              <a:buNone/>
            </a:pPr>
            <a:r>
              <a:rPr b="1">
                <a:latin typeface="微软雅黑"/>
                <a:ea typeface="微软雅黑"/>
                <a:cs typeface="微软雅黑"/>
              </a:rPr>
              <a:t>3</a:t>
            </a:r>
            <a:endParaRPr/>
          </a:p>
        </p:txBody>
      </p:sp>
      <p:sp>
        <p:nvSpPr>
          <p:cNvPr id="11" name="Text 25">
            <a:extLst xmlns:a="http://schemas.openxmlformats.org/drawingml/2006/main">
              <a:ext uri="{FF2B5EF4-FFF2-40B4-BE49-F238E27FC236}">
                <a16:creationId xmlns:a16="http://schemas.microsoft.com/office/drawing/2014/main" id="{65706400-B9AB-860A-41D8-415B2FDCC8D2}"/>
              </a:ext>
            </a:extLst>
          </p:cNvPr>
          <p:cNvSpPr>
            <a:spLocks xmlns:a="http://schemas.openxmlformats.org/drawingml/2006/main" noGrp="1"/>
          </p:cNvSpPr>
          <p:nvPr/>
        </p:nvSpPr>
        <p:spPr>
          <a:xfrm xmlns:a="http://schemas.openxmlformats.org/drawingml/2006/main" rot="0" flipH="0" flipV="0">
            <a:off x="1759346" y="3936777"/>
            <a:ext cx="8621657" cy="40173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just">
              <a:lnSpc>
                <a:spcPct val="140000"/>
              </a:lnSpc>
              <a:buNone/>
            </a:pPr>
            <a:r>
              <a:t>分析深度学习技术如何改进传统的</a:t>
            </a:r>
            <a:r>
              <a:t>SLAM</a:t>
            </a:r>
            <a:r>
              <a:t>方法，并讨论深度学习在特征提取、匹配和闭环检测中的应用。</a:t>
            </a:r>
            <a:endParaRPr/>
          </a:p>
        </p:txBody>
      </p:sp>
      <p:sp>
        <p:nvSpPr>
          <p:cNvPr id="16" name="Shape 31">
            <a:extLst xmlns:a="http://schemas.openxmlformats.org/drawingml/2006/main">
              <a:ext uri="{FF2B5EF4-FFF2-40B4-BE49-F238E27FC236}">
                <a16:creationId xmlns:a16="http://schemas.microsoft.com/office/drawing/2014/main" id="{ABF43544-A17B-82EC-CD3A-062363F7055F}"/>
              </a:ext>
            </a:extLst>
          </p:cNvPr>
          <p:cNvSpPr>
            <a:spLocks xmlns:a="http://schemas.openxmlformats.org/drawingml/2006/main" noGrp="1"/>
          </p:cNvSpPr>
          <p:nvPr/>
        </p:nvSpPr>
        <p:spPr>
          <a:xfrm xmlns:a="http://schemas.openxmlformats.org/drawingml/2006/main" rot="0" flipH="0" flipV="0">
            <a:off x="1086936" y="5141971"/>
            <a:ext cx="489025" cy="494438"/>
          </a:xfrm>
          <a:custGeom xmlns:a="http://schemas.openxmlformats.org/drawingml/2006/main">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xmlns:a="http://schemas.openxmlformats.org/drawingml/2006/main">
            <a:srgbClr val="3D8B8B"/>
          </a:solidFill>
        </p:spPr>
      </p:sp>
      <p:sp>
        <p:nvSpPr>
          <p:cNvPr id="18" name="Text 32">
            <a:extLst xmlns:a="http://schemas.openxmlformats.org/drawingml/2006/main">
              <a:ext uri="{FF2B5EF4-FFF2-40B4-BE49-F238E27FC236}">
                <a16:creationId xmlns:a16="http://schemas.microsoft.com/office/drawing/2014/main" id="{DB0701C7-F5A8-3B32-6B59-F146534BC71C}"/>
              </a:ext>
            </a:extLst>
          </p:cNvPr>
          <p:cNvSpPr>
            <a:spLocks xmlns:a="http://schemas.openxmlformats.org/drawingml/2006/main" noGrp="1"/>
          </p:cNvSpPr>
          <p:nvPr/>
        </p:nvSpPr>
        <p:spPr>
          <a:xfrm xmlns:a="http://schemas.openxmlformats.org/drawingml/2006/main" rot="0" flipH="0" flipV="0">
            <a:off x="1275812" y="5234678"/>
            <a:ext cx="213948" cy="30902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just">
              <a:lnSpc>
                <a:spcPct val="120000"/>
              </a:lnSpc>
              <a:buNone/>
            </a:pPr>
            <a:r>
              <a:rPr b="1">
                <a:latin typeface="微软雅黑"/>
                <a:ea typeface="微软雅黑"/>
                <a:cs typeface="微软雅黑"/>
              </a:rPr>
              <a:t>4</a:t>
            </a:r>
            <a:endParaRPr/>
          </a:p>
        </p:txBody>
      </p:sp>
      <p:sp>
        <p:nvSpPr>
          <p:cNvPr id="19" name="Text 33">
            <a:extLst xmlns:a="http://schemas.openxmlformats.org/drawingml/2006/main">
              <a:ext uri="{FF2B5EF4-FFF2-40B4-BE49-F238E27FC236}">
                <a16:creationId xmlns:a16="http://schemas.microsoft.com/office/drawing/2014/main" id="{B9596783-2F72-43B6-B612-1096DE263939}"/>
              </a:ext>
            </a:extLst>
          </p:cNvPr>
          <p:cNvSpPr>
            <a:spLocks xmlns:a="http://schemas.openxmlformats.org/drawingml/2006/main" noGrp="1"/>
          </p:cNvSpPr>
          <p:nvPr/>
        </p:nvSpPr>
        <p:spPr>
          <a:xfrm xmlns:a="http://schemas.openxmlformats.org/drawingml/2006/main" rot="0" flipH="0" flipV="0">
            <a:off x="1759346" y="5141971"/>
            <a:ext cx="8621657" cy="40173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just">
              <a:lnSpc>
                <a:spcPct val="140000"/>
              </a:lnSpc>
              <a:buNone/>
            </a:pPr>
            <a:r>
              <a:t>讨论在强化学习中如何平衡探索未知环境和利用已知信息之间的关系，并讨论不同的探索策略对学习效率和效果的影响。</a:t>
            </a:r>
            <a:endParaRPr/>
          </a:p>
        </p:txBody>
      </p:sp>
    </p:spTree>
    <p:extLst>
      <p:ext uri="{BB962C8B-B14F-4D97-AF65-F5344CB8AC3E}">
        <p14:creationId xmlns:p14="http://schemas.microsoft.com/office/powerpoint/2010/main" val="3551964318"/>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pic>
        <p:nvPicPr>
          <p:cNvPr id="1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3b94b40b1c644369"/>
          <a:srcRect xmlns:a="http://schemas.openxmlformats.org/drawingml/2006/main" l="0" t="0" r="0" b="84518"/>
          <a:stretch xmlns:a="http://schemas.openxmlformats.org/drawingml/2006/main">
            <a:fillRect l="0" t="0" r="0" b="0"/>
          </a:stretch>
        </p:blipFill>
        <p:spPr>
          <a:xfrm xmlns:a="http://schemas.openxmlformats.org/drawingml/2006/main" rot="0" flipH="0" flipV="0">
            <a:off x="2817813" y="1150536"/>
            <a:ext cx="6554788" cy="686393"/>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C9F455D1-D94A-F48D-3BAA-FCAA3BB5118D}"/>
              </a:ext>
            </a:extLst>
          </p:cNvPr>
          <p:cNvSpPr>
            <a:spLocks xmlns:a="http://schemas.openxmlformats.org/drawingml/2006/main" noGrp="1"/>
          </p:cNvSpPr>
          <p:nvPr/>
        </p:nvSpPr>
        <p:spPr>
          <a:xfrm xmlns:a="http://schemas.openxmlformats.org/drawingml/2006/main" rot="0" flipH="0" flipV="0">
            <a:off x="4854894" y="1150536"/>
            <a:ext cx="2480626"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600" b="1" spc="300">
                <a:solidFill>
                  <a:schemeClr val="bg1"/>
                </a:solidFill>
                <a:effectLst>
                  <a:outerShdw blurRad="101600" dist="12700" dir="5400000" algn="t" rotWithShape="0">
                    <a:schemeClr val="accent3">
                      <a:alpha val="85000"/>
                    </a:schemeClr>
                  </a:outerShdw>
                </a:effectLst>
                <a:latin typeface="+mj-ea"/>
                <a:ea typeface="+mj-ea"/>
                <a:cs typeface="+mj-ea"/>
              </a:rPr>
              <a:t>第六</a:t>
            </a:r>
            <a:r>
              <a:rPr sz="3600" b="1">
                <a:solidFill>
                  <a:schemeClr val="bg1"/>
                </a:solidFill>
                <a:effectLst>
                  <a:outerShdw blurRad="101600" dist="12700" dir="5400000" algn="t" rotWithShape="0">
                    <a:schemeClr val="accent3">
                      <a:alpha val="85000"/>
                    </a:schemeClr>
                  </a:outerShdw>
                </a:effectLst>
                <a:latin typeface="+mj-ea"/>
                <a:ea typeface="+mj-ea"/>
                <a:cs typeface="+mj-ea"/>
              </a:rPr>
              <a:t>章</a:t>
            </a:r>
            <a:endParaRPr sz="3600" b="1">
              <a:solidFill>
                <a:schemeClr val="bg1"/>
              </a:solidFill>
              <a:effectLst>
                <a:outerShdw blurRad="101600" dist="12700" dir="5400000" algn="t" rotWithShape="0">
                  <a:schemeClr val="accent3">
                    <a:alpha val="85000"/>
                  </a:schemeClr>
                </a:outerShdw>
              </a:effectLst>
              <a:latin typeface="+mj-ea"/>
              <a:ea typeface="+mj-ea"/>
              <a:cs typeface="+mj-ea"/>
            </a:endParaRPr>
          </a:p>
        </p:txBody>
      </p:sp>
      <p:pic>
        <p:nvPicPr>
          <p:cNvPr id="12"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3b94b40b1c644369"/>
          <a:srcRect xmlns:a="http://schemas.openxmlformats.org/drawingml/2006/main" l="0" t="21436" r="0" b="66823"/>
          <a:stretch xmlns:a="http://schemas.openxmlformats.org/drawingml/2006/main">
            <a:fillRect l="0" t="0" r="0" b="0"/>
          </a:stretch>
        </p:blipFill>
        <p:spPr>
          <a:xfrm xmlns:a="http://schemas.openxmlformats.org/drawingml/2006/main" rot="0" flipH="0" flipV="0">
            <a:off x="977900" y="2121495"/>
            <a:ext cx="10236201" cy="812905"/>
          </a:xfrm>
          <a:prstGeom xmlns:a="http://schemas.openxmlformats.org/drawingml/2006/main" prst="rect">
            <a:avLst/>
          </a:prstGeom>
        </p:spPr>
      </p:pic>
      <p:pic>
        <p:nvPicPr>
          <p:cNvPr id="13"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3b94b40b1c644369"/>
          <a:srcRect xmlns:a="http://schemas.openxmlformats.org/drawingml/2006/main" l="0" t="77991" r="0" b="-27"/>
          <a:stretch xmlns:a="http://schemas.openxmlformats.org/drawingml/2006/main">
            <a:fillRect l="0" t="0" r="0" b="0"/>
          </a:stretch>
        </p:blipFill>
        <p:spPr>
          <a:xfrm xmlns:a="http://schemas.openxmlformats.org/drawingml/2006/main" rot="0" flipH="0" flipV="0">
            <a:off x="977900" y="2934401"/>
            <a:ext cx="10236201" cy="1525686"/>
          </a:xfrm>
          <a:prstGeom xmlns:a="http://schemas.openxmlformats.org/drawingml/2006/main" prst="rect">
            <a:avLst/>
          </a:prstGeom>
        </p:spPr>
      </p:pic>
      <p:sp>
        <p:nvSpPr>
          <p:cNvPr id="5" name="PA-文本框 47">
            <a:extLst xmlns:a="http://schemas.openxmlformats.org/drawingml/2006/main">
              <a:ext uri="{FF2B5EF4-FFF2-40B4-BE49-F238E27FC236}">
                <a16:creationId xmlns:a16="http://schemas.microsoft.com/office/drawing/2014/main" id="{95CE9E20-1B01-1E09-2C3E-1E3A1A24EA1E}"/>
              </a:ext>
            </a:extLst>
          </p:cNvPr>
          <p:cNvSpPr>
            <a:spLocks xmlns:a="http://schemas.openxmlformats.org/drawingml/2006/main" noGrp="1"/>
          </p:cNvSpPr>
          <p:nvPr/>
        </p:nvSpPr>
        <p:spPr>
          <a:xfrm xmlns:a="http://schemas.openxmlformats.org/drawingml/2006/main" rot="0" flipH="0" flipV="0">
            <a:off x="1295398" y="2690627"/>
            <a:ext cx="9766300" cy="1200329"/>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lvl="0" algn="ctr">
              <a:lnSpc>
                <a:spcPct val="100000"/>
              </a:lnSpc>
              <a:buNone/>
            </a:pPr>
            <a:r>
              <a:rPr sz="7200" b="1" spc="100">
                <a:solidFill>
                  <a:schemeClr val="bg1"/>
                </a:solidFill>
                <a:effectLst>
                  <a:outerShdw blurRad="101600" dist="12700" dir="5400000" algn="t" rotWithShape="0">
                    <a:schemeClr val="accent3">
                      <a:alpha val="85000"/>
                    </a:schemeClr>
                  </a:outerShdw>
                </a:effectLst>
                <a:latin typeface="+mj-ea"/>
                <a:ea typeface="+mj-ea"/>
                <a:cs typeface="+mj-ea"/>
              </a:rPr>
              <a:t>多机器人协同导航技术</a:t>
            </a:r>
            <a:endParaRPr sz="7200" b="1" spc="100">
              <a:solidFill>
                <a:schemeClr val="bg1"/>
              </a:solidFill>
              <a:effectLst>
                <a:outerShdw blurRad="101600" dist="12700" dir="5400000" algn="t" rotWithShape="0">
                  <a:schemeClr val="accent3">
                    <a:alpha val="85000"/>
                  </a:schemeClr>
                </a:outerShdw>
              </a:effectLst>
              <a:latin typeface="+mj-ea"/>
              <a:ea typeface="+mj-ea"/>
              <a:cs typeface="+mj-ea"/>
            </a:endParaRPr>
          </a:p>
        </p:txBody>
      </p:sp>
    </p:spTree>
    <p:extLst>
      <p:ext uri="{BB962C8B-B14F-4D97-AF65-F5344CB8AC3E}">
        <p14:creationId xmlns:p14="http://schemas.microsoft.com/office/powerpoint/2010/main" val="2347478810"/>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8604AF74-6508-4512-AD92-1B3EDD2A33FA}"/>
              </a:ext>
            </a:extLst>
          </p:cNvPr>
          <p:cNvSpPr>
            <a:spLocks xmlns:a="http://schemas.openxmlformats.org/drawingml/2006/main" noGrp="1"/>
          </p:cNvSpPr>
          <p:nvPr>
            <p:ph idx="4294967295"/>
          </p:nvPr>
        </p:nvSpPr>
        <p:spPr>
          <a:xfrm xmlns:a="http://schemas.openxmlformats.org/drawingml/2006/main">
            <a:off x="4724400" y="1295400"/>
            <a:ext cx="7467600" cy="3581400"/>
          </a:xfrm>
        </p:spPr>
        <p:txBody>
          <a:bodyPr xmlns:a="http://schemas.openxmlformats.org/drawingml/2006/main">
            <a:normAutofit lnSpcReduction="10000"/>
          </a:bodyPr>
          <a:lstStyle xmlns:a="http://schemas.openxmlformats.org/drawingml/2006/main"/>
          <a:p xmlns:a="http://schemas.openxmlformats.org/drawingml/2006/main">
            <a:pPr marL="0" indent="0">
              <a:lnSpc>
                <a:spcPct val="150000"/>
              </a:lnSpc>
              <a:buNone/>
            </a:pPr>
            <a:r>
              <a:rPr sz="3600"/>
              <a:t>6.1</a:t>
            </a:r>
            <a:r>
              <a:rPr sz="3600"/>
              <a:t> 多机器人协同导航架构</a:t>
            </a:r>
            <a:endParaRPr sz="3600"/>
          </a:p>
          <a:p xmlns:a="http://schemas.openxmlformats.org/drawingml/2006/main">
            <a:pPr marL="0" indent="0">
              <a:lnSpc>
                <a:spcPct val="150000"/>
              </a:lnSpc>
              <a:buNone/>
            </a:pPr>
            <a:r>
              <a:rPr sz="3600"/>
              <a:t>6.2 </a:t>
            </a:r>
            <a:r>
              <a:rPr sz="3600"/>
              <a:t>协同导航相对观测方式及算法</a:t>
            </a:r>
            <a:endParaRPr sz="3600"/>
          </a:p>
          <a:p xmlns:a="http://schemas.openxmlformats.org/drawingml/2006/main">
            <a:pPr marL="0" indent="0">
              <a:lnSpc>
                <a:spcPct val="150000"/>
              </a:lnSpc>
              <a:buNone/>
            </a:pPr>
            <a:r>
              <a:rPr sz="3600"/>
              <a:t>6.3 </a:t>
            </a:r>
            <a:r>
              <a:rPr sz="3600"/>
              <a:t>多机器人协同导航时空一致标定</a:t>
            </a:r>
            <a:endParaRPr sz="3600"/>
          </a:p>
          <a:p xmlns:a="http://schemas.openxmlformats.org/drawingml/2006/main">
            <a:pPr marL="0" indent="0">
              <a:lnSpc>
                <a:spcPct val="150000"/>
              </a:lnSpc>
              <a:buNone/>
            </a:pPr>
            <a:r>
              <a:rPr sz="3600"/>
              <a:t>6.4 </a:t>
            </a:r>
            <a:r>
              <a:rPr sz="3600"/>
              <a:t>多机器人协同导航系统案例</a:t>
            </a:r>
            <a:endParaRPr sz="3600"/>
          </a:p>
          <a:p xmlns:a="http://schemas.openxmlformats.org/drawingml/2006/main">
            <a:endParaRPr/>
          </a:p>
        </p:txBody>
      </p:sp>
    </p:spTree>
    <p:extLst>
      <p:ext uri="{BB962C8B-B14F-4D97-AF65-F5344CB8AC3E}">
        <p14:creationId xmlns:p14="http://schemas.microsoft.com/office/powerpoint/2010/main" val="2378133449"/>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6" name="Rectangle 14">
            <a:extLst xmlns:a="http://schemas.openxmlformats.org/drawingml/2006/main">
              <a:ext uri="{FF2B5EF4-FFF2-40B4-BE49-F238E27FC236}">
                <a16:creationId xmlns:a16="http://schemas.microsoft.com/office/drawing/2014/main" id="{519FBA94-CB64-6396-A0C4-2D185BE01A06}"/>
              </a:ext>
            </a:extLst>
          </p:cNvPr>
          <p:cNvSpPr>
            <a:spLocks xmlns:a="http://schemas.openxmlformats.org/drawingml/2006/main" noGrp="1"/>
          </p:cNvSpPr>
          <p:nvPr/>
        </p:nvSpPr>
        <p:spPr>
          <a:xfrm xmlns:a="http://schemas.openxmlformats.org/drawingml/2006/main">
            <a:off x="590204" y="1059265"/>
            <a:ext cx="10856422" cy="49244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pPr marR="0" lvl="0" indent="720000">
              <a:lnSpc>
                <a:spcPct val="130000"/>
              </a:lnSpc>
              <a:spcBef>
                <a:spcPct val="0"/>
              </a:spcBef>
              <a:spcAft>
                <a:spcPct val="0"/>
              </a:spcAft>
              <a:buClrTx/>
              <a:buSzTx/>
              <a:buNone/>
            </a:pPr>
            <a:r>
              <a:rPr sz="2000" b="1">
                <a:solidFill>
                  <a:srgbClr val="000000"/>
                </a:solidFill>
                <a:latin typeface="微软雅黑"/>
                <a:ea typeface="微软雅黑"/>
                <a:cs typeface="微软雅黑"/>
              </a:rPr>
              <a:t>平台状态由平台的位置、速度、姿态等的全部或部分元素组成。记</a:t>
            </a:r>
          </a:p>
        </p:txBody>
      </p:sp>
      <p:sp>
        <p:nvSpPr>
          <p:cNvPr id="17" name="Rectangle 15">
            <a:extLst xmlns:a="http://schemas.openxmlformats.org/drawingml/2006/main">
              <a:ext uri="{FF2B5EF4-FFF2-40B4-BE49-F238E27FC236}">
                <a16:creationId xmlns:a16="http://schemas.microsoft.com/office/drawing/2014/main" id="{6E1A9027-0F5F-AA56-0D7A-FC2D14E5C462}"/>
              </a:ext>
            </a:extLst>
          </p:cNvPr>
          <p:cNvSpPr>
            <a:spLocks xmlns:a="http://schemas.openxmlformats.org/drawingml/2006/main" noGrp="1"/>
          </p:cNvSpPr>
          <p:nvPr/>
        </p:nvSpPr>
        <p:spPr>
          <a:xfrm xmlns:a="http://schemas.openxmlformats.org/drawingml/2006/main">
            <a:off x="9710160" y="1043159"/>
            <a:ext cx="1985847" cy="49244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pPr marR="0" lvl="0" indent="720000">
              <a:lnSpc>
                <a:spcPct val="130000"/>
              </a:lnSpc>
              <a:spcBef>
                <a:spcPct val="0"/>
              </a:spcBef>
              <a:spcAft>
                <a:spcPct val="0"/>
              </a:spcAft>
              <a:buClrTx/>
              <a:buSzTx/>
              <a:buNone/>
            </a:pPr>
            <a:r>
              <a:rPr sz="2000" b="1">
                <a:solidFill>
                  <a:srgbClr val="000000"/>
                </a:solidFill>
                <a:latin typeface="微软雅黑"/>
                <a:ea typeface="微软雅黑"/>
                <a:cs typeface="微软雅黑"/>
              </a:rPr>
              <a:t>时刻</a:t>
            </a:r>
            <a:r>
              <a:rPr sz="2000" b="1">
                <a:solidFill>
                  <a:srgbClr val="000000"/>
                </a:solidFill>
                <a:latin typeface="微软雅黑"/>
                <a:ea typeface="微软雅黑"/>
                <a:cs typeface="微软雅黑"/>
              </a:rPr>
              <a:t>平</a:t>
            </a:r>
            <a:r>
              <a:rPr sz="2000" b="1">
                <a:solidFill>
                  <a:srgbClr val="000000"/>
                </a:solidFill>
                <a:latin typeface="微软雅黑"/>
                <a:ea typeface="微软雅黑"/>
                <a:cs typeface="微软雅黑"/>
              </a:rPr>
              <a:t>台</a:t>
            </a:r>
          </a:p>
        </p:txBody>
      </p:sp>
      <p:sp>
        <p:nvSpPr>
          <p:cNvPr id="38" name="文本框 37">
            <a:extLst xmlns:a="http://schemas.openxmlformats.org/drawingml/2006/main">
              <a:ext uri="{FF2B5EF4-FFF2-40B4-BE49-F238E27FC236}">
                <a16:creationId xmlns:a16="http://schemas.microsoft.com/office/drawing/2014/main" id="{9D00DF30-0146-BED1-8236-41C2ADFF966E}"/>
              </a:ext>
            </a:extLst>
          </p:cNvPr>
          <p:cNvSpPr>
            <a:spLocks xmlns:a="http://schemas.openxmlformats.org/drawingml/2006/main" noGrp="1"/>
          </p:cNvSpPr>
          <p:nvPr/>
        </p:nvSpPr>
        <p:spPr>
          <a:xfrm xmlns:a="http://schemas.openxmlformats.org/drawingml/2006/main">
            <a:off x="1327283" y="1598420"/>
            <a:ext cx="8087712" cy="4534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的状态为</a:t>
            </a:r>
            <a:r>
              <a:rPr sz="2000" b="1">
                <a:solidFill>
                  <a:srgbClr val="000000"/>
                </a:solidFill>
                <a:latin typeface="微软雅黑"/>
                <a:ea typeface="微软雅黑"/>
                <a:cs typeface="微软雅黑"/>
              </a:rPr>
              <a:t>      </a:t>
            </a:r>
            <a:r>
              <a:rPr sz="2000" b="1">
                <a:solidFill>
                  <a:srgbClr val="000000"/>
                </a:solidFill>
                <a:latin typeface="微软雅黑"/>
                <a:ea typeface="微软雅黑"/>
                <a:cs typeface="微软雅黑"/>
              </a:rPr>
              <a:t>。</a:t>
            </a:r>
            <a:r>
              <a:rPr sz="2000" b="1">
                <a:solidFill>
                  <a:srgbClr val="000000"/>
                </a:solidFill>
                <a:latin typeface="微软雅黑"/>
                <a:ea typeface="微软雅黑"/>
                <a:cs typeface="微软雅黑"/>
              </a:rPr>
              <a:t>平台运动方程的一般形式为</a:t>
            </a:r>
            <a:endParaRPr sz="2000" b="1">
              <a:solidFill>
                <a:srgbClr val="000000"/>
              </a:solidFill>
              <a:latin typeface="微软雅黑"/>
              <a:ea typeface="微软雅黑"/>
              <a:cs typeface="微软雅黑"/>
            </a:endParaRPr>
          </a:p>
        </p:txBody>
      </p:sp>
      <p:sp>
        <p:nvSpPr>
          <p:cNvPr id="51" name="文本框 50">
            <a:extLst xmlns:a="http://schemas.openxmlformats.org/drawingml/2006/main">
              <a:ext uri="{FF2B5EF4-FFF2-40B4-BE49-F238E27FC236}">
                <a16:creationId xmlns:a16="http://schemas.microsoft.com/office/drawing/2014/main" id="{90CF69BC-20C0-7A5F-2EC3-84DF37639052}"/>
              </a:ext>
            </a:extLst>
          </p:cNvPr>
          <p:cNvSpPr>
            <a:spLocks xmlns:a="http://schemas.openxmlformats.org/drawingml/2006/main" noGrp="1"/>
          </p:cNvSpPr>
          <p:nvPr/>
        </p:nvSpPr>
        <p:spPr>
          <a:xfrm xmlns:a="http://schemas.openxmlformats.org/drawingml/2006/main">
            <a:off x="844505" y="5306210"/>
            <a:ext cx="11180648"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266700" algn="just">
              <a:buNone/>
            </a:pPr>
            <a:r>
              <a:rPr sz="1800">
                <a:latin typeface="Times New Roman"/>
                <a:ea typeface="Times New Roman"/>
                <a:cs typeface="Times New Roman"/>
              </a:rPr>
              <a:t>当为非线性函数时</a:t>
            </a:r>
            <a:r>
              <a:rPr sz="1800">
                <a:latin typeface="Times New Roman"/>
                <a:ea typeface="Times New Roman"/>
                <a:cs typeface="Times New Roman"/>
              </a:rPr>
              <a:t>       </a:t>
            </a:r>
            <a:r>
              <a:rPr>
                <a:latin typeface="Times New Roman"/>
                <a:ea typeface="Times New Roman"/>
                <a:cs typeface="Times New Roman"/>
              </a:rPr>
              <a:t>   </a:t>
            </a:r>
            <a:r>
              <a:rPr>
                <a:latin typeface="Times New Roman"/>
                <a:ea typeface="Times New Roman"/>
                <a:cs typeface="Times New Roman"/>
              </a:rPr>
              <a:t>，</a:t>
            </a:r>
            <a:r>
              <a:rPr sz="1800">
                <a:latin typeface="Times New Roman"/>
                <a:ea typeface="Times New Roman"/>
                <a:cs typeface="Times New Roman"/>
              </a:rPr>
              <a:t>可以在的估值附近进行一阶泰勒展开（</a:t>
            </a:r>
            <a:r>
              <a:rPr sz="1800">
                <a:latin typeface="Times New Roman"/>
                <a:ea typeface="Times New Roman"/>
                <a:cs typeface="Times New Roman"/>
              </a:rPr>
              <a:t>Taylor expansion</a:t>
            </a:r>
            <a:r>
              <a:rPr sz="1800">
                <a:latin typeface="Times New Roman"/>
                <a:ea typeface="Times New Roman"/>
                <a:cs typeface="Times New Roman"/>
              </a:rPr>
              <a:t>），从而获得近似的线性方程：</a:t>
            </a:r>
          </a:p>
        </p:txBody>
      </p:sp>
      <p:sp>
        <p:nvSpPr>
          <p:cNvPr id="75" name="文本框 74">
            <a:extLst xmlns:a="http://schemas.openxmlformats.org/drawingml/2006/main">
              <a:ext uri="{FF2B5EF4-FFF2-40B4-BE49-F238E27FC236}">
                <a16:creationId xmlns:a16="http://schemas.microsoft.com/office/drawing/2014/main" id="{5BFB961D-FD79-DC67-848B-925B8858BE24}"/>
              </a:ext>
            </a:extLst>
          </p:cNvPr>
          <p:cNvSpPr>
            <a:spLocks xmlns:a="http://schemas.openxmlformats.org/drawingml/2006/main" noGrp="1"/>
          </p:cNvSpPr>
          <p:nvPr/>
        </p:nvSpPr>
        <p:spPr>
          <a:xfrm xmlns:a="http://schemas.openxmlformats.org/drawingml/2006/main">
            <a:off x="290516" y="2988176"/>
            <a:ext cx="10856421"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a:latin typeface="Times New Roman"/>
                <a:ea typeface="Times New Roman"/>
                <a:cs typeface="Times New Roman"/>
              </a:rPr>
              <a:t>其中，</a:t>
            </a:r>
            <a:r>
              <a:rPr sz="1800">
                <a:latin typeface="Times New Roman"/>
                <a:ea typeface="Times New Roman"/>
                <a:cs typeface="Times New Roman"/>
              </a:rPr>
              <a:t>  </a:t>
            </a:r>
            <a:r>
              <a:rPr sz="1800">
                <a:latin typeface="Times New Roman"/>
                <a:ea typeface="Times New Roman"/>
                <a:cs typeface="Times New Roman"/>
              </a:rPr>
              <a:t>由平台</a:t>
            </a:r>
            <a:r>
              <a:rPr sz="1800">
                <a:latin typeface="Times New Roman"/>
                <a:ea typeface="Times New Roman"/>
                <a:cs typeface="Times New Roman"/>
              </a:rPr>
              <a:t>  </a:t>
            </a:r>
            <a:r>
              <a:rPr sz="1800">
                <a:latin typeface="Times New Roman"/>
                <a:ea typeface="Times New Roman"/>
                <a:cs typeface="Times New Roman"/>
              </a:rPr>
              <a:t>的动力学特性决定，</a:t>
            </a:r>
            <a:r>
              <a:rPr sz="1800">
                <a:latin typeface="Times New Roman"/>
                <a:ea typeface="Times New Roman"/>
                <a:cs typeface="Times New Roman"/>
              </a:rPr>
              <a:t>  </a:t>
            </a:r>
            <a:r>
              <a:rPr sz="1800">
                <a:latin typeface="Times New Roman"/>
                <a:ea typeface="Times New Roman"/>
                <a:cs typeface="Times New Roman"/>
              </a:rPr>
              <a:t>是平台</a:t>
            </a:r>
            <a:r>
              <a:rPr sz="1800">
                <a:latin typeface="Times New Roman"/>
                <a:ea typeface="Times New Roman"/>
                <a:cs typeface="Times New Roman"/>
              </a:rPr>
              <a:t>  </a:t>
            </a:r>
            <a:r>
              <a:rPr sz="1800">
                <a:latin typeface="Times New Roman"/>
                <a:ea typeface="Times New Roman"/>
                <a:cs typeface="Times New Roman"/>
              </a:rPr>
              <a:t>在第</a:t>
            </a:r>
            <a:r>
              <a:rPr sz="1800">
                <a:latin typeface="Times New Roman"/>
                <a:ea typeface="Times New Roman"/>
                <a:cs typeface="Times New Roman"/>
              </a:rPr>
              <a:t>        </a:t>
            </a:r>
            <a:r>
              <a:rPr sz="1800">
                <a:latin typeface="Times New Roman"/>
                <a:ea typeface="Times New Roman"/>
                <a:cs typeface="Times New Roman"/>
              </a:rPr>
              <a:t>个解算周期内进行航迹推算时所需要的参变量，</a:t>
            </a:r>
            <a:r>
              <a:rPr sz="1800">
                <a:latin typeface="Times New Roman"/>
                <a:ea typeface="Times New Roman"/>
                <a:cs typeface="Times New Roman"/>
              </a:rPr>
              <a:t>  </a:t>
            </a:r>
            <a:r>
              <a:rPr sz="1800">
                <a:latin typeface="Times New Roman"/>
                <a:ea typeface="Times New Roman"/>
                <a:cs typeface="Times New Roman"/>
              </a:rPr>
              <a:t>称为平台</a:t>
            </a:r>
            <a:r>
              <a:rPr sz="1800">
                <a:latin typeface="Times New Roman"/>
                <a:ea typeface="Times New Roman"/>
                <a:cs typeface="Times New Roman"/>
              </a:rPr>
              <a:t>  </a:t>
            </a:r>
            <a:r>
              <a:rPr sz="1800">
                <a:latin typeface="Times New Roman"/>
                <a:ea typeface="Times New Roman"/>
                <a:cs typeface="Times New Roman"/>
              </a:rPr>
              <a:t>的输入。对于在二维空间运动的平台，输入量可以是解算周期内平台的位移，由里程计提供。对于在三维空间运动的平台，输入量可以是解算周期内平台的角速度和加速度，由陀螺和加速度计提供。</a:t>
            </a:r>
            <a:r>
              <a:rPr sz="1800">
                <a:latin typeface="Times New Roman"/>
                <a:ea typeface="Times New Roman"/>
                <a:cs typeface="Times New Roman"/>
              </a:rPr>
              <a:t>   </a:t>
            </a:r>
            <a:r>
              <a:rPr sz="1800">
                <a:latin typeface="Times New Roman"/>
                <a:ea typeface="Times New Roman"/>
                <a:cs typeface="Times New Roman"/>
              </a:rPr>
              <a:t>是系统噪声，假设是高斯白噪声，可记作：</a:t>
            </a:r>
          </a:p>
        </p:txBody>
      </p:sp>
      <p:sp>
        <p:nvSpPr>
          <p:cNvPr id="84" name="文本框 83">
            <a:extLst xmlns:a="http://schemas.openxmlformats.org/drawingml/2006/main">
              <a:ext uri="{FF2B5EF4-FFF2-40B4-BE49-F238E27FC236}">
                <a16:creationId xmlns:a16="http://schemas.microsoft.com/office/drawing/2014/main" id="{AB4FC7E0-AEAB-A0AA-47D9-E6771E52579E}"/>
              </a:ext>
            </a:extLst>
          </p:cNvPr>
          <p:cNvSpPr>
            <a:spLocks xmlns:a="http://schemas.openxmlformats.org/drawingml/2006/main" noGrp="1"/>
          </p:cNvSpPr>
          <p:nvPr/>
        </p:nvSpPr>
        <p:spPr>
          <a:xfrm xmlns:a="http://schemas.openxmlformats.org/drawingml/2006/main">
            <a:off x="611574" y="4934119"/>
            <a:ext cx="7239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a:latin typeface="Times New Roman"/>
                <a:ea typeface="Times New Roman"/>
                <a:cs typeface="Times New Roman"/>
              </a:rPr>
              <a:t>其中</a:t>
            </a:r>
            <a:r>
              <a:rPr sz="1800">
                <a:latin typeface="Times New Roman"/>
                <a:ea typeface="Times New Roman"/>
                <a:cs typeface="Times New Roman"/>
              </a:rPr>
              <a:t>     </a:t>
            </a:r>
            <a:r>
              <a:rPr sz="1800">
                <a:latin typeface="Times New Roman"/>
                <a:ea typeface="Times New Roman"/>
                <a:cs typeface="Times New Roman"/>
              </a:rPr>
              <a:t>表示用均值和协方差刻画的高斯分布。</a:t>
            </a:r>
            <a:endParaRPr/>
          </a:p>
        </p:txBody>
      </p:sp>
    </p:spTree>
    <p:extLst>
      <p:ext uri="{BB962C8B-B14F-4D97-AF65-F5344CB8AC3E}">
        <p14:creationId xmlns:p14="http://schemas.microsoft.com/office/powerpoint/2010/main" val="2064009083"/>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4" name="文本框 13">
            <a:extLst xmlns:a="http://schemas.openxmlformats.org/drawingml/2006/main">
              <a:ext uri="{FF2B5EF4-FFF2-40B4-BE49-F238E27FC236}">
                <a16:creationId xmlns:a16="http://schemas.microsoft.com/office/drawing/2014/main" id="{588A0D12-19E5-81F5-41D0-DAEA9B77970C}"/>
              </a:ext>
            </a:extLst>
          </p:cNvPr>
          <p:cNvSpPr>
            <a:spLocks xmlns:a="http://schemas.openxmlformats.org/drawingml/2006/main" noGrp="1"/>
          </p:cNvSpPr>
          <p:nvPr/>
        </p:nvSpPr>
        <p:spPr>
          <a:xfrm xmlns:a="http://schemas.openxmlformats.org/drawingml/2006/main">
            <a:off x="534984" y="966701"/>
            <a:ext cx="1146079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266700" algn="just">
              <a:buNone/>
            </a:pPr>
            <a:r>
              <a:rPr sz="1800">
                <a:latin typeface="Times New Roman"/>
                <a:ea typeface="Times New Roman"/>
                <a:cs typeface="Times New Roman"/>
              </a:rPr>
              <a:t>在协同导航系统中，平台之间的每个相对观测涉及两个平台，称为平台间观测。常见的平台间观测有平台间距离和相对方位。</a:t>
            </a:r>
          </a:p>
          <a:p xmlns:a="http://schemas.openxmlformats.org/drawingml/2006/main">
            <a:pPr indent="266700" algn="just">
              <a:buNone/>
            </a:pPr>
            <a:r>
              <a:rPr sz="1800">
                <a:latin typeface="Times New Roman"/>
                <a:ea typeface="Times New Roman"/>
                <a:cs typeface="Times New Roman"/>
              </a:rPr>
              <a:t>考虑一个多机器人协同定位的例子。设每个机器人的状态由其三维笛卡尔位置坐标描述，即</a:t>
            </a:r>
            <a:r>
              <a:rPr sz="1800">
                <a:latin typeface="Times New Roman"/>
                <a:ea typeface="Times New Roman"/>
                <a:cs typeface="Times New Roman"/>
              </a:rPr>
              <a:t>               </a:t>
            </a:r>
            <a:r>
              <a:rPr sz="1800">
                <a:latin typeface="Times New Roman"/>
                <a:ea typeface="Times New Roman"/>
                <a:cs typeface="Times New Roman"/>
              </a:rPr>
              <a:t>。</a:t>
            </a:r>
            <a:r>
              <a:rPr>
                <a:latin typeface="Times New Roman"/>
                <a:ea typeface="Times New Roman"/>
                <a:cs typeface="Times New Roman"/>
              </a:rPr>
              <a:t>机器人</a:t>
            </a:r>
            <a:r>
              <a:rPr sz="1800">
                <a:latin typeface="Times New Roman"/>
                <a:ea typeface="Times New Roman"/>
                <a:cs typeface="Times New Roman"/>
              </a:rPr>
              <a:t>          </a:t>
            </a:r>
            <a:r>
              <a:rPr sz="1800">
                <a:latin typeface="Times New Roman"/>
                <a:ea typeface="Times New Roman"/>
                <a:cs typeface="Times New Roman"/>
              </a:rPr>
              <a:t>装备有卫星导航系统和测距仪。将卫星导航系统的位置输出转换为笛卡尔坐标作为对机器人</a:t>
            </a:r>
            <a:r>
              <a:rPr sz="1800">
                <a:latin typeface="Times New Roman"/>
                <a:ea typeface="Times New Roman"/>
                <a:cs typeface="Times New Roman"/>
              </a:rPr>
              <a:t>   </a:t>
            </a:r>
            <a:r>
              <a:rPr sz="1800">
                <a:latin typeface="Times New Roman"/>
                <a:ea typeface="Times New Roman"/>
                <a:cs typeface="Times New Roman"/>
              </a:rPr>
              <a:t>的状态的观测，得到对应的观测方程</a:t>
            </a:r>
            <a:r>
              <a:rPr sz="1800">
                <a:latin typeface="Times New Roman"/>
                <a:ea typeface="Times New Roman"/>
                <a:cs typeface="Times New Roman"/>
              </a:rPr>
              <a:t>：</a:t>
            </a:r>
            <a:endParaRPr sz="1800" kern="100">
              <a:latin typeface="Times New Roman"/>
              <a:ea typeface="Times New Roman"/>
              <a:cs typeface="Times New Roman"/>
            </a:endParaRPr>
          </a:p>
        </p:txBody>
      </p:sp>
      <p:sp>
        <p:nvSpPr>
          <p:cNvPr id="17" name="文本框 16">
            <a:extLst xmlns:a="http://schemas.openxmlformats.org/drawingml/2006/main">
              <a:ext uri="{FF2B5EF4-FFF2-40B4-BE49-F238E27FC236}">
                <a16:creationId xmlns:a16="http://schemas.microsoft.com/office/drawing/2014/main" id="{2DEC75A0-4E89-6CFB-5D7F-4160AEAAD450}"/>
              </a:ext>
            </a:extLst>
          </p:cNvPr>
          <p:cNvSpPr>
            <a:spLocks xmlns:a="http://schemas.openxmlformats.org/drawingml/2006/main" noGrp="1"/>
          </p:cNvSpPr>
          <p:nvPr/>
        </p:nvSpPr>
        <p:spPr>
          <a:xfrm xmlns:a="http://schemas.openxmlformats.org/drawingml/2006/main">
            <a:off x="534984" y="4116364"/>
            <a:ext cx="749808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a:latin typeface="Times New Roman"/>
                <a:ea typeface="Times New Roman"/>
                <a:cs typeface="Times New Roman"/>
              </a:rPr>
              <a:t>式中，</a:t>
            </a:r>
            <a:r>
              <a:rPr sz="1800">
                <a:latin typeface="Times New Roman"/>
                <a:ea typeface="Times New Roman"/>
                <a:cs typeface="Times New Roman"/>
              </a:rPr>
              <a:t>     </a:t>
            </a:r>
            <a:r>
              <a:rPr sz="1800">
                <a:latin typeface="Times New Roman"/>
                <a:ea typeface="Times New Roman"/>
                <a:cs typeface="Times New Roman"/>
              </a:rPr>
              <a:t>是观测噪声。</a:t>
            </a:r>
          </a:p>
        </p:txBody>
      </p:sp>
      <p:sp>
        <p:nvSpPr>
          <p:cNvPr id="20" name="文本框 19">
            <a:extLst xmlns:a="http://schemas.openxmlformats.org/drawingml/2006/main">
              <a:ext uri="{FF2B5EF4-FFF2-40B4-BE49-F238E27FC236}">
                <a16:creationId xmlns:a16="http://schemas.microsoft.com/office/drawing/2014/main" id="{7B7F6BC0-A810-0A97-4939-81FA783DD8F6}"/>
              </a:ext>
            </a:extLst>
          </p:cNvPr>
          <p:cNvSpPr>
            <a:spLocks xmlns:a="http://schemas.openxmlformats.org/drawingml/2006/main" noGrp="1"/>
          </p:cNvSpPr>
          <p:nvPr/>
        </p:nvSpPr>
        <p:spPr>
          <a:xfrm xmlns:a="http://schemas.openxmlformats.org/drawingml/2006/main">
            <a:off x="261068" y="4482679"/>
            <a:ext cx="749808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266700" algn="just">
              <a:buNone/>
            </a:pPr>
            <a:r>
              <a:rPr sz="1800">
                <a:latin typeface="Times New Roman"/>
                <a:ea typeface="Times New Roman"/>
                <a:cs typeface="Times New Roman"/>
              </a:rPr>
              <a:t>机器人</a:t>
            </a:r>
            <a:r>
              <a:rPr sz="1800">
                <a:latin typeface="Times New Roman"/>
                <a:ea typeface="Times New Roman"/>
                <a:cs typeface="Times New Roman"/>
              </a:rPr>
              <a:t>    </a:t>
            </a:r>
            <a:r>
              <a:rPr sz="1800">
                <a:latin typeface="Times New Roman"/>
                <a:ea typeface="Times New Roman"/>
                <a:cs typeface="Times New Roman"/>
              </a:rPr>
              <a:t>对机器人</a:t>
            </a:r>
            <a:r>
              <a:rPr sz="1800">
                <a:latin typeface="Times New Roman"/>
                <a:ea typeface="Times New Roman"/>
                <a:cs typeface="Times New Roman"/>
              </a:rPr>
              <a:t>   </a:t>
            </a:r>
            <a:r>
              <a:rPr sz="1800">
                <a:latin typeface="Times New Roman"/>
                <a:ea typeface="Times New Roman"/>
                <a:cs typeface="Times New Roman"/>
              </a:rPr>
              <a:t>的距离观测记为</a:t>
            </a:r>
            <a:r>
              <a:rPr sz="1800">
                <a:latin typeface="Times New Roman"/>
                <a:ea typeface="Times New Roman"/>
                <a:cs typeface="Times New Roman"/>
              </a:rPr>
              <a:t>     </a:t>
            </a:r>
            <a:r>
              <a:rPr sz="1800">
                <a:latin typeface="Times New Roman"/>
                <a:ea typeface="Times New Roman"/>
                <a:cs typeface="Times New Roman"/>
              </a:rPr>
              <a:t>，对应的观测方程为</a:t>
            </a:r>
          </a:p>
        </p:txBody>
      </p:sp>
      <p:sp>
        <p:nvSpPr>
          <p:cNvPr id="22" name="文本框 21">
            <a:extLst xmlns:a="http://schemas.openxmlformats.org/drawingml/2006/main">
              <a:ext uri="{FF2B5EF4-FFF2-40B4-BE49-F238E27FC236}">
                <a16:creationId xmlns:a16="http://schemas.microsoft.com/office/drawing/2014/main" id="{A659172E-965B-A748-4A4A-40F6D710D9EE}"/>
              </a:ext>
            </a:extLst>
          </p:cNvPr>
          <p:cNvSpPr>
            <a:spLocks xmlns:a="http://schemas.openxmlformats.org/drawingml/2006/main" noGrp="1"/>
          </p:cNvSpPr>
          <p:nvPr/>
        </p:nvSpPr>
        <p:spPr>
          <a:xfrm xmlns:a="http://schemas.openxmlformats.org/drawingml/2006/main">
            <a:off x="534984" y="5891299"/>
            <a:ext cx="749808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a:latin typeface="Times New Roman"/>
                <a:ea typeface="Times New Roman"/>
                <a:cs typeface="Times New Roman"/>
              </a:rPr>
              <a:t>式中，</a:t>
            </a:r>
            <a:r>
              <a:rPr sz="1800">
                <a:latin typeface="Times New Roman"/>
                <a:ea typeface="Times New Roman"/>
                <a:cs typeface="Times New Roman"/>
              </a:rPr>
              <a:t>     </a:t>
            </a:r>
            <a:r>
              <a:rPr sz="1800">
                <a:latin typeface="Times New Roman"/>
                <a:ea typeface="Times New Roman"/>
                <a:cs typeface="Times New Roman"/>
              </a:rPr>
              <a:t>是观测噪声。</a:t>
            </a:r>
          </a:p>
        </p:txBody>
      </p:sp>
    </p:spTree>
    <p:extLst>
      <p:ext uri="{BB962C8B-B14F-4D97-AF65-F5344CB8AC3E}">
        <p14:creationId xmlns:p14="http://schemas.microsoft.com/office/powerpoint/2010/main" val="2482176149"/>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6" name="文本框 25">
            <a:extLst xmlns:a="http://schemas.openxmlformats.org/drawingml/2006/main">
              <a:ext uri="{FF2B5EF4-FFF2-40B4-BE49-F238E27FC236}">
                <a16:creationId xmlns:a16="http://schemas.microsoft.com/office/drawing/2014/main" id="{D4C8311C-C367-FD8A-1ADD-2BB699675400}"/>
              </a:ext>
            </a:extLst>
          </p:cNvPr>
          <p:cNvSpPr>
            <a:spLocks xmlns:a="http://schemas.openxmlformats.org/drawingml/2006/main" noGrp="1"/>
          </p:cNvSpPr>
          <p:nvPr/>
        </p:nvSpPr>
        <p:spPr>
          <a:xfrm xmlns:a="http://schemas.openxmlformats.org/drawingml/2006/main">
            <a:off x="650625" y="1071547"/>
            <a:ext cx="926553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266700" algn="just">
              <a:buNone/>
            </a:pPr>
            <a:r>
              <a:rPr sz="1800">
                <a:latin typeface="Times New Roman"/>
                <a:ea typeface="Times New Roman"/>
                <a:cs typeface="Times New Roman"/>
              </a:rPr>
              <a:t>不失一般性，</a:t>
            </a:r>
            <a:r>
              <a:rPr sz="1800">
                <a:latin typeface="Times New Roman"/>
                <a:ea typeface="Times New Roman"/>
                <a:cs typeface="Times New Roman"/>
              </a:rPr>
              <a:t>   </a:t>
            </a:r>
            <a:r>
              <a:rPr sz="1800">
                <a:latin typeface="Times New Roman"/>
                <a:ea typeface="Times New Roman"/>
                <a:cs typeface="Times New Roman"/>
              </a:rPr>
              <a:t>时刻平台</a:t>
            </a:r>
            <a:r>
              <a:rPr sz="1800">
                <a:latin typeface="Times New Roman"/>
                <a:ea typeface="Times New Roman"/>
                <a:cs typeface="Times New Roman"/>
              </a:rPr>
              <a:t>   </a:t>
            </a:r>
            <a:r>
              <a:rPr sz="1800">
                <a:latin typeface="Times New Roman"/>
                <a:ea typeface="Times New Roman"/>
                <a:cs typeface="Times New Roman"/>
              </a:rPr>
              <a:t>的单平台的观测方程可写为下列形式</a:t>
            </a:r>
          </a:p>
        </p:txBody>
      </p:sp>
      <p:sp>
        <p:nvSpPr>
          <p:cNvPr id="29" name="文本框 28">
            <a:extLst xmlns:a="http://schemas.openxmlformats.org/drawingml/2006/main">
              <a:ext uri="{FF2B5EF4-FFF2-40B4-BE49-F238E27FC236}">
                <a16:creationId xmlns:a16="http://schemas.microsoft.com/office/drawing/2014/main" id="{5637023F-BF56-D0A9-1578-0A46DD652365}"/>
              </a:ext>
            </a:extLst>
          </p:cNvPr>
          <p:cNvSpPr>
            <a:spLocks xmlns:a="http://schemas.openxmlformats.org/drawingml/2006/main" noGrp="1"/>
          </p:cNvSpPr>
          <p:nvPr/>
        </p:nvSpPr>
        <p:spPr>
          <a:xfrm xmlns:a="http://schemas.openxmlformats.org/drawingml/2006/main">
            <a:off x="859421" y="2096254"/>
            <a:ext cx="926553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a:latin typeface="Times New Roman"/>
                <a:ea typeface="Times New Roman"/>
                <a:cs typeface="Times New Roman"/>
              </a:rPr>
              <a:t>式中，观测噪声</a:t>
            </a:r>
            <a:r>
              <a:rPr sz="1800">
                <a:latin typeface="Times New Roman"/>
                <a:ea typeface="Times New Roman"/>
                <a:cs typeface="Times New Roman"/>
              </a:rPr>
              <a:t>     </a:t>
            </a:r>
            <a:r>
              <a:rPr sz="1800">
                <a:latin typeface="Times New Roman"/>
                <a:ea typeface="Times New Roman"/>
                <a:cs typeface="Times New Roman"/>
              </a:rPr>
              <a:t>假定为高斯白噪声，且</a:t>
            </a:r>
          </a:p>
        </p:txBody>
      </p:sp>
      <p:sp>
        <p:nvSpPr>
          <p:cNvPr id="32" name="文本框 31">
            <a:extLst xmlns:a="http://schemas.openxmlformats.org/drawingml/2006/main">
              <a:ext uri="{FF2B5EF4-FFF2-40B4-BE49-F238E27FC236}">
                <a16:creationId xmlns:a16="http://schemas.microsoft.com/office/drawing/2014/main" id="{BBFDE5CD-794C-C4B8-3F04-8CF29A5A3227}"/>
              </a:ext>
            </a:extLst>
          </p:cNvPr>
          <p:cNvSpPr>
            <a:spLocks xmlns:a="http://schemas.openxmlformats.org/drawingml/2006/main" noGrp="1"/>
          </p:cNvSpPr>
          <p:nvPr/>
        </p:nvSpPr>
        <p:spPr>
          <a:xfrm xmlns:a="http://schemas.openxmlformats.org/drawingml/2006/main">
            <a:off x="514402" y="2489200"/>
            <a:ext cx="926553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266700" algn="just">
              <a:buNone/>
            </a:pPr>
            <a:r>
              <a:rPr sz="1800">
                <a:latin typeface="Times New Roman"/>
                <a:ea typeface="Times New Roman"/>
                <a:cs typeface="Times New Roman"/>
              </a:rPr>
              <a:t>当</a:t>
            </a:r>
            <a:r>
              <a:rPr sz="1800">
                <a:latin typeface="Times New Roman"/>
                <a:ea typeface="Times New Roman"/>
                <a:cs typeface="Times New Roman"/>
              </a:rPr>
              <a:t>        </a:t>
            </a:r>
            <a:r>
              <a:rPr sz="1800">
                <a:latin typeface="Times New Roman"/>
                <a:ea typeface="Times New Roman"/>
                <a:cs typeface="Times New Roman"/>
              </a:rPr>
              <a:t>为非线性函数时，类似，可以通过泰勒级数展开得到近似的线性方程</a:t>
            </a:r>
          </a:p>
        </p:txBody>
      </p:sp>
      <p:sp>
        <p:nvSpPr>
          <p:cNvPr id="35" name="文本框 34">
            <a:extLst xmlns:a="http://schemas.openxmlformats.org/drawingml/2006/main">
              <a:ext uri="{FF2B5EF4-FFF2-40B4-BE49-F238E27FC236}">
                <a16:creationId xmlns:a16="http://schemas.microsoft.com/office/drawing/2014/main" id="{9BB0F6D3-2900-E9B9-3651-83062DAB7F9C}"/>
              </a:ext>
            </a:extLst>
          </p:cNvPr>
          <p:cNvSpPr>
            <a:spLocks xmlns:a="http://schemas.openxmlformats.org/drawingml/2006/main" noGrp="1"/>
          </p:cNvSpPr>
          <p:nvPr/>
        </p:nvSpPr>
        <p:spPr>
          <a:xfrm xmlns:a="http://schemas.openxmlformats.org/drawingml/2006/main">
            <a:off x="650625" y="3389699"/>
            <a:ext cx="928868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266700" algn="just">
              <a:buNone/>
            </a:pPr>
            <a:r>
              <a:rPr sz="1800">
                <a:latin typeface="Times New Roman"/>
                <a:ea typeface="Times New Roman"/>
                <a:cs typeface="Times New Roman"/>
              </a:rPr>
              <a:t>不失一般性，</a:t>
            </a:r>
            <a:r>
              <a:rPr sz="1800">
                <a:latin typeface="Times New Roman"/>
                <a:ea typeface="Times New Roman"/>
                <a:cs typeface="Times New Roman"/>
              </a:rPr>
              <a:t>   </a:t>
            </a:r>
            <a:r>
              <a:rPr sz="1800">
                <a:latin typeface="Times New Roman"/>
                <a:ea typeface="Times New Roman"/>
                <a:cs typeface="Times New Roman"/>
              </a:rPr>
              <a:t>时刻平台</a:t>
            </a:r>
            <a:r>
              <a:rPr sz="1800">
                <a:latin typeface="Times New Roman"/>
                <a:ea typeface="Times New Roman"/>
                <a:cs typeface="Times New Roman"/>
              </a:rPr>
              <a:t>   </a:t>
            </a:r>
            <a:r>
              <a:rPr sz="1800">
                <a:latin typeface="Times New Roman"/>
                <a:ea typeface="Times New Roman"/>
                <a:cs typeface="Times New Roman"/>
              </a:rPr>
              <a:t>对平台</a:t>
            </a:r>
            <a:r>
              <a:rPr sz="1800">
                <a:latin typeface="Times New Roman"/>
                <a:ea typeface="Times New Roman"/>
                <a:cs typeface="Times New Roman"/>
              </a:rPr>
              <a:t>    </a:t>
            </a:r>
            <a:r>
              <a:rPr sz="1800">
                <a:latin typeface="Times New Roman"/>
                <a:ea typeface="Times New Roman"/>
                <a:cs typeface="Times New Roman"/>
              </a:rPr>
              <a:t>的观测的观测方程可写为下列形式</a:t>
            </a:r>
          </a:p>
        </p:txBody>
      </p:sp>
      <p:sp>
        <p:nvSpPr>
          <p:cNvPr id="43" name="文本框 42">
            <a:extLst xmlns:a="http://schemas.openxmlformats.org/drawingml/2006/main">
              <a:ext uri="{FF2B5EF4-FFF2-40B4-BE49-F238E27FC236}">
                <a16:creationId xmlns:a16="http://schemas.microsoft.com/office/drawing/2014/main" id="{A7D37BE0-9377-59D6-341C-A7A8EFE0396E}"/>
              </a:ext>
            </a:extLst>
          </p:cNvPr>
          <p:cNvSpPr>
            <a:spLocks xmlns:a="http://schemas.openxmlformats.org/drawingml/2006/main" noGrp="1"/>
          </p:cNvSpPr>
          <p:nvPr/>
        </p:nvSpPr>
        <p:spPr>
          <a:xfrm xmlns:a="http://schemas.openxmlformats.org/drawingml/2006/main">
            <a:off x="859421" y="4434792"/>
            <a:ext cx="9323406"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a:latin typeface="Times New Roman"/>
                <a:ea typeface="Times New Roman"/>
                <a:cs typeface="Times New Roman"/>
              </a:rPr>
              <a:t>式中，</a:t>
            </a:r>
            <a:r>
              <a:rPr sz="1800">
                <a:latin typeface="Times New Roman"/>
                <a:ea typeface="Times New Roman"/>
                <a:cs typeface="Times New Roman"/>
              </a:rPr>
              <a:t>   </a:t>
            </a:r>
            <a:r>
              <a:rPr sz="1800">
                <a:latin typeface="Times New Roman"/>
                <a:ea typeface="Times New Roman"/>
                <a:cs typeface="Times New Roman"/>
              </a:rPr>
              <a:t>观测噪声假定为高斯白噪声，且</a:t>
            </a:r>
            <a:r>
              <a:rPr sz="1800">
                <a:latin typeface="Times New Roman"/>
                <a:ea typeface="Times New Roman"/>
                <a:cs typeface="Times New Roman"/>
              </a:rPr>
              <a:t>                                   </a:t>
            </a:r>
            <a:endParaRPr sz="1800" kern="100">
              <a:latin typeface="Times New Roman"/>
              <a:ea typeface="Times New Roman"/>
              <a:cs typeface="Times New Roman"/>
            </a:endParaRPr>
          </a:p>
        </p:txBody>
      </p:sp>
      <p:sp>
        <p:nvSpPr>
          <p:cNvPr id="47" name="文本框 46">
            <a:extLst xmlns:a="http://schemas.openxmlformats.org/drawingml/2006/main">
              <a:ext uri="{FF2B5EF4-FFF2-40B4-BE49-F238E27FC236}">
                <a16:creationId xmlns:a16="http://schemas.microsoft.com/office/drawing/2014/main" id="{1AB36BC9-DA36-B6FD-EC63-1DEBC7AA591E}"/>
              </a:ext>
            </a:extLst>
          </p:cNvPr>
          <p:cNvSpPr>
            <a:spLocks xmlns:a="http://schemas.openxmlformats.org/drawingml/2006/main" noGrp="1"/>
          </p:cNvSpPr>
          <p:nvPr/>
        </p:nvSpPr>
        <p:spPr>
          <a:xfrm xmlns:a="http://schemas.openxmlformats.org/drawingml/2006/main">
            <a:off x="872529" y="4908790"/>
            <a:ext cx="9323406"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a:latin typeface="Times New Roman"/>
                <a:ea typeface="Times New Roman"/>
                <a:cs typeface="Times New Roman"/>
              </a:rPr>
              <a:t>当</a:t>
            </a:r>
            <a:r>
              <a:rPr sz="1800">
                <a:latin typeface="Times New Roman"/>
                <a:ea typeface="Times New Roman"/>
                <a:cs typeface="Times New Roman"/>
              </a:rPr>
              <a:t>           </a:t>
            </a:r>
            <a:r>
              <a:rPr sz="1800">
                <a:latin typeface="Times New Roman"/>
                <a:ea typeface="Times New Roman"/>
                <a:cs typeface="Times New Roman"/>
              </a:rPr>
              <a:t>为非线性函数时，类似，可以求得线性化的观测方程</a:t>
            </a:r>
            <a:endParaRPr/>
          </a:p>
        </p:txBody>
      </p:sp>
      <p:sp>
        <p:nvSpPr>
          <p:cNvPr id="50" name="文本框 49">
            <a:extLst xmlns:a="http://schemas.openxmlformats.org/drawingml/2006/main">
              <a:ext uri="{FF2B5EF4-FFF2-40B4-BE49-F238E27FC236}">
                <a16:creationId xmlns:a16="http://schemas.microsoft.com/office/drawing/2014/main" id="{94565130-6475-F174-A3D9-E1773C1D4815}"/>
              </a:ext>
            </a:extLst>
          </p:cNvPr>
          <p:cNvSpPr>
            <a:spLocks xmlns:a="http://schemas.openxmlformats.org/drawingml/2006/main" noGrp="1"/>
          </p:cNvSpPr>
          <p:nvPr/>
        </p:nvSpPr>
        <p:spPr>
          <a:xfrm xmlns:a="http://schemas.openxmlformats.org/drawingml/2006/main">
            <a:off x="735737" y="5999900"/>
            <a:ext cx="903404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a:latin typeface="Times New Roman"/>
                <a:ea typeface="Times New Roman"/>
                <a:cs typeface="Times New Roman"/>
              </a:rPr>
              <a:t>式中，</a:t>
            </a:r>
            <a:endParaRPr/>
          </a:p>
        </p:txBody>
      </p:sp>
    </p:spTree>
    <p:extLst>
      <p:ext uri="{BB962C8B-B14F-4D97-AF65-F5344CB8AC3E}">
        <p14:creationId xmlns:p14="http://schemas.microsoft.com/office/powerpoint/2010/main" val="198560118"/>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文本框 1">
            <a:extLst xmlns:a="http://schemas.openxmlformats.org/drawingml/2006/main">
              <a:ext uri="{FF2B5EF4-FFF2-40B4-BE49-F238E27FC236}">
                <a16:creationId xmlns:a16="http://schemas.microsoft.com/office/drawing/2014/main" id="{C4560AB8-8EF9-0F22-A68D-5B9026067A6D}"/>
              </a:ext>
            </a:extLst>
          </p:cNvPr>
          <p:cNvSpPr>
            <a:spLocks xmlns:a="http://schemas.openxmlformats.org/drawingml/2006/main" noGrp="1"/>
          </p:cNvSpPr>
          <p:nvPr/>
        </p:nvSpPr>
        <p:spPr>
          <a:xfrm xmlns:a="http://schemas.openxmlformats.org/drawingml/2006/main">
            <a:off x="-427867" y="851076"/>
            <a:ext cx="7406182" cy="5979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800" b="1">
                <a:solidFill>
                  <a:srgbClr val="000000"/>
                </a:solidFill>
                <a:latin typeface="微软雅黑"/>
                <a:ea typeface="微软雅黑"/>
                <a:cs typeface="微软雅黑"/>
              </a:rPr>
              <a:t>6.2.1 </a:t>
            </a:r>
            <a:r>
              <a:rPr sz="2800" b="1">
                <a:solidFill>
                  <a:srgbClr val="000000"/>
                </a:solidFill>
                <a:latin typeface="微软雅黑"/>
                <a:ea typeface="微软雅黑"/>
                <a:cs typeface="微软雅黑"/>
              </a:rPr>
              <a:t>基于超宽带测距的协同导航算法</a:t>
            </a:r>
            <a:endParaRPr sz="2000" b="1">
              <a:solidFill>
                <a:srgbClr val="000000"/>
              </a:solidFill>
              <a:latin typeface="微软雅黑"/>
              <a:ea typeface="微软雅黑"/>
              <a:cs typeface="微软雅黑"/>
            </a:endParaRPr>
          </a:p>
        </p:txBody>
      </p:sp>
      <p:pic>
        <p:nvPicPr>
          <p:cNvPr id="9" name="图片 2"/>
          <p:cNvPicPr>
            <a:picLocks xmlns:a="http://schemas.openxmlformats.org/drawingml/2006/main" noChangeAspect="1"/>
          </p:cNvPicPr>
          <p:nvPr/>
        </p:nvPicPr>
        <p:blipFill>
          <a:blip xmlns:r="http://schemas.openxmlformats.org/officeDocument/2006/relationships" xmlns:a="http://schemas.openxmlformats.org/drawingml/2006/main" r:embed="R7d65288f719147ac"/>
          <a:stretch xmlns:a="http://schemas.openxmlformats.org/drawingml/2006/main">
            <a:fillRect l="0" t="0" r="0" b="0"/>
          </a:stretch>
        </p:blipFill>
        <p:spPr>
          <a:xfrm xmlns:a="http://schemas.openxmlformats.org/drawingml/2006/main">
            <a:off x="6866437" y="2151112"/>
            <a:ext cx="4896319" cy="3652921"/>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367F5FCE-0DDB-0609-196C-274ADD58E402}"/>
              </a:ext>
            </a:extLst>
          </p:cNvPr>
          <p:cNvSpPr>
            <a:spLocks xmlns:a="http://schemas.openxmlformats.org/drawingml/2006/main" noGrp="1"/>
          </p:cNvSpPr>
          <p:nvPr/>
        </p:nvSpPr>
        <p:spPr>
          <a:xfrm xmlns:a="http://schemas.openxmlformats.org/drawingml/2006/main">
            <a:off x="228599" y="1710605"/>
            <a:ext cx="6309360" cy="40934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超宽带测距原理主要有两种方式，分别是双向飞行时间法（</a:t>
            </a:r>
            <a:r>
              <a:rPr sz="2000" b="1">
                <a:solidFill>
                  <a:srgbClr val="000000"/>
                </a:solidFill>
                <a:latin typeface="微软雅黑"/>
                <a:ea typeface="微软雅黑"/>
                <a:cs typeface="微软雅黑"/>
              </a:rPr>
              <a:t>Two-Way Time of Flight, TW-TOF</a:t>
            </a:r>
            <a:r>
              <a:rPr sz="2000" b="1">
                <a:solidFill>
                  <a:srgbClr val="000000"/>
                </a:solidFill>
                <a:latin typeface="微软雅黑"/>
                <a:ea typeface="微软雅黑"/>
                <a:cs typeface="微软雅黑"/>
              </a:rPr>
              <a:t>）和单边双向测距法（</a:t>
            </a:r>
            <a:r>
              <a:rPr sz="2000" b="1">
                <a:solidFill>
                  <a:srgbClr val="000000"/>
                </a:solidFill>
                <a:latin typeface="微软雅黑"/>
                <a:ea typeface="微软雅黑"/>
                <a:cs typeface="微软雅黑"/>
              </a:rPr>
              <a:t>Single-Sided Two-Way Ranging, SS-TWR</a:t>
            </a:r>
            <a:r>
              <a:rPr sz="2000" b="1">
                <a:solidFill>
                  <a:srgbClr val="000000"/>
                </a:solidFill>
                <a:latin typeface="微软雅黑"/>
                <a:ea typeface="微软雅黑"/>
                <a:cs typeface="微软雅黑"/>
              </a:rPr>
              <a:t>）。双向飞行时间法是</a:t>
            </a:r>
            <a:r>
              <a:rPr sz="2000" b="1">
                <a:solidFill>
                  <a:srgbClr val="000000"/>
                </a:solidFill>
                <a:latin typeface="微软雅黑"/>
                <a:ea typeface="微软雅黑"/>
                <a:cs typeface="微软雅黑"/>
              </a:rPr>
              <a:t>UWB</a:t>
            </a:r>
            <a:r>
              <a:rPr sz="2000" b="1">
                <a:solidFill>
                  <a:srgbClr val="000000"/>
                </a:solidFill>
                <a:latin typeface="微软雅黑"/>
                <a:ea typeface="微软雅黑"/>
                <a:cs typeface="微软雅黑"/>
              </a:rPr>
              <a:t>测距中最常用的方法，它涉及到两个设备之间的通信：一个作为发射器，另一个作为接收器。发射器发送一个脉冲信号，接收器接收到信号后，会发送一个响应信号回发射器。发射器接收到响应信号后，通过计算信号往返的时间，可以确定两个设备之间的距离。由于信号往返，所以实际使用的是单程时间的一半来计算距离。</a:t>
            </a:r>
          </a:p>
        </p:txBody>
      </p:sp>
    </p:spTree>
    <p:extLst>
      <p:ext uri="{BB962C8B-B14F-4D97-AF65-F5344CB8AC3E}">
        <p14:creationId xmlns:p14="http://schemas.microsoft.com/office/powerpoint/2010/main" val="270265155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文本框 1">
            <a:extLst xmlns:a="http://schemas.openxmlformats.org/drawingml/2006/main">
              <a:ext uri="{FF2B5EF4-FFF2-40B4-BE49-F238E27FC236}">
                <a16:creationId xmlns:a16="http://schemas.microsoft.com/office/drawing/2014/main" id="{9E0D8B7E-9834-EF47-A785-65E0084DC733}"/>
              </a:ext>
            </a:extLst>
          </p:cNvPr>
          <p:cNvSpPr>
            <a:spLocks xmlns:a="http://schemas.openxmlformats.org/drawingml/2006/main" noGrp="1"/>
          </p:cNvSpPr>
          <p:nvPr/>
        </p:nvSpPr>
        <p:spPr>
          <a:xfrm xmlns:a="http://schemas.openxmlformats.org/drawingml/2006/main">
            <a:off x="-427867" y="851076"/>
            <a:ext cx="7406182" cy="5979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800" b="1">
                <a:solidFill>
                  <a:srgbClr val="000000"/>
                </a:solidFill>
                <a:latin typeface="微软雅黑"/>
                <a:ea typeface="微软雅黑"/>
                <a:cs typeface="微软雅黑"/>
              </a:rPr>
              <a:t>6.2.1 </a:t>
            </a:r>
            <a:r>
              <a:rPr sz="2800" b="1">
                <a:solidFill>
                  <a:srgbClr val="000000"/>
                </a:solidFill>
                <a:latin typeface="微软雅黑"/>
                <a:ea typeface="微软雅黑"/>
                <a:cs typeface="微软雅黑"/>
              </a:rPr>
              <a:t>基于超宽带测距的协同导航算法</a:t>
            </a:r>
            <a:endParaRPr sz="2000" b="1">
              <a:solidFill>
                <a:srgbClr val="000000"/>
              </a:solidFill>
              <a:latin typeface="微软雅黑"/>
              <a:ea typeface="微软雅黑"/>
              <a:cs typeface="微软雅黑"/>
            </a:endParaRP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9263d518259147f8"/>
          <a:stretch xmlns:a="http://schemas.openxmlformats.org/drawingml/2006/main">
            <a:fillRect l="0" t="0" r="0" b="0"/>
          </a:stretch>
        </p:blipFill>
        <p:spPr>
          <a:xfrm xmlns:a="http://schemas.openxmlformats.org/drawingml/2006/main">
            <a:off x="7931715" y="1448997"/>
            <a:ext cx="3531019" cy="3173463"/>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926472D5-F476-3AE2-1EFF-1DA49D5311ED}"/>
              </a:ext>
            </a:extLst>
          </p:cNvPr>
          <p:cNvSpPr>
            <a:spLocks xmlns:a="http://schemas.openxmlformats.org/drawingml/2006/main" noGrp="1"/>
          </p:cNvSpPr>
          <p:nvPr/>
        </p:nvSpPr>
        <p:spPr>
          <a:xfrm xmlns:a="http://schemas.openxmlformats.org/drawingml/2006/main">
            <a:off x="530208" y="2162286"/>
            <a:ext cx="7102626" cy="169277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集中式协同导航通过一个中央处理单元来进行协同导航解算，中央处理器可以是某一个节点，也可以是集群控制地面站。中央处理器将收集所有节点的导航状态和相对观测信息进行导航参数估计，然后将校正的导航参数返回给各节点。</a:t>
            </a:r>
          </a:p>
        </p:txBody>
      </p:sp>
    </p:spTree>
    <p:extLst>
      <p:ext uri="{BB962C8B-B14F-4D97-AF65-F5344CB8AC3E}">
        <p14:creationId xmlns:p14="http://schemas.microsoft.com/office/powerpoint/2010/main" val="1901382225"/>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文本框 1">
            <a:extLst xmlns:a="http://schemas.openxmlformats.org/drawingml/2006/main">
              <a:ext uri="{FF2B5EF4-FFF2-40B4-BE49-F238E27FC236}">
                <a16:creationId xmlns:a16="http://schemas.microsoft.com/office/drawing/2014/main" id="{908B1052-DFC3-57D1-FDD3-F4417EB5FE59}"/>
              </a:ext>
            </a:extLst>
          </p:cNvPr>
          <p:cNvSpPr>
            <a:spLocks xmlns:a="http://schemas.openxmlformats.org/drawingml/2006/main" noGrp="1"/>
          </p:cNvSpPr>
          <p:nvPr/>
        </p:nvSpPr>
        <p:spPr>
          <a:xfrm xmlns:a="http://schemas.openxmlformats.org/drawingml/2006/main">
            <a:off x="-427867" y="851076"/>
            <a:ext cx="7406182" cy="5979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800" b="1">
                <a:solidFill>
                  <a:srgbClr val="000000"/>
                </a:solidFill>
                <a:latin typeface="微软雅黑"/>
                <a:ea typeface="微软雅黑"/>
                <a:cs typeface="微软雅黑"/>
              </a:rPr>
              <a:t>6.2.1 </a:t>
            </a:r>
            <a:r>
              <a:rPr sz="2800" b="1">
                <a:solidFill>
                  <a:srgbClr val="000000"/>
                </a:solidFill>
                <a:latin typeface="微软雅黑"/>
                <a:ea typeface="微软雅黑"/>
                <a:cs typeface="微软雅黑"/>
              </a:rPr>
              <a:t>基于超宽带测距的协同导航算法</a:t>
            </a:r>
            <a:endParaRPr sz="2000" b="1">
              <a:solidFill>
                <a:srgbClr val="000000"/>
              </a:solidFill>
              <a:latin typeface="微软雅黑"/>
              <a:ea typeface="微软雅黑"/>
              <a:cs typeface="微软雅黑"/>
            </a:endParaRPr>
          </a:p>
        </p:txBody>
      </p:sp>
    </p:spTree>
    <p:extLst>
      <p:ext uri="{BB962C8B-B14F-4D97-AF65-F5344CB8AC3E}">
        <p14:creationId xmlns:p14="http://schemas.microsoft.com/office/powerpoint/2010/main" val="2413928667"/>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文本框 1">
            <a:extLst xmlns:a="http://schemas.openxmlformats.org/drawingml/2006/main">
              <a:ext uri="{FF2B5EF4-FFF2-40B4-BE49-F238E27FC236}">
                <a16:creationId xmlns:a16="http://schemas.microsoft.com/office/drawing/2014/main" id="{61EDE3DD-4388-31E5-1A9C-4193F840C66C}"/>
              </a:ext>
            </a:extLst>
          </p:cNvPr>
          <p:cNvSpPr>
            <a:spLocks xmlns:a="http://schemas.openxmlformats.org/drawingml/2006/main" noGrp="1"/>
          </p:cNvSpPr>
          <p:nvPr/>
        </p:nvSpPr>
        <p:spPr>
          <a:xfrm xmlns:a="http://schemas.openxmlformats.org/drawingml/2006/main">
            <a:off x="-427867" y="851076"/>
            <a:ext cx="7406182" cy="5979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800" b="1">
                <a:solidFill>
                  <a:srgbClr val="000000"/>
                </a:solidFill>
                <a:latin typeface="微软雅黑"/>
                <a:ea typeface="微软雅黑"/>
                <a:cs typeface="微软雅黑"/>
              </a:rPr>
              <a:t>6.2.1 </a:t>
            </a:r>
            <a:r>
              <a:rPr sz="2800" b="1">
                <a:solidFill>
                  <a:srgbClr val="000000"/>
                </a:solidFill>
                <a:latin typeface="微软雅黑"/>
                <a:ea typeface="微软雅黑"/>
                <a:cs typeface="微软雅黑"/>
              </a:rPr>
              <a:t>基于超宽带测距的协同导航算法</a:t>
            </a:r>
            <a:endParaRPr sz="2000" b="1">
              <a:solidFill>
                <a:srgbClr val="000000"/>
              </a:solidFill>
              <a:latin typeface="微软雅黑"/>
              <a:ea typeface="微软雅黑"/>
              <a:cs typeface="微软雅黑"/>
            </a:endParaRPr>
          </a:p>
        </p:txBody>
      </p:sp>
      <p:pic>
        <p:nvPicPr>
          <p:cNvPr id="9" name="图片 2"/>
          <p:cNvPicPr>
            <a:picLocks xmlns:a="http://schemas.openxmlformats.org/drawingml/2006/main" noChangeAspect="1"/>
          </p:cNvPicPr>
          <p:nvPr/>
        </p:nvPicPr>
        <p:blipFill>
          <a:blip xmlns:r="http://schemas.openxmlformats.org/officeDocument/2006/relationships" xmlns:a="http://schemas.openxmlformats.org/drawingml/2006/main" r:embed="R600c181fafda4add"/>
          <a:stretch xmlns:a="http://schemas.openxmlformats.org/drawingml/2006/main">
            <a:fillRect l="0" t="0" r="0" b="0"/>
          </a:stretch>
        </p:blipFill>
        <p:spPr>
          <a:xfrm xmlns:a="http://schemas.openxmlformats.org/drawingml/2006/main">
            <a:off x="7123998" y="2172351"/>
            <a:ext cx="4447870" cy="3314049"/>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E605ED42-4A5B-2B5F-1D34-F4F187C1BC26}"/>
              </a:ext>
            </a:extLst>
          </p:cNvPr>
          <p:cNvSpPr>
            <a:spLocks xmlns:a="http://schemas.openxmlformats.org/drawingml/2006/main" noGrp="1"/>
          </p:cNvSpPr>
          <p:nvPr/>
        </p:nvSpPr>
        <p:spPr>
          <a:xfrm xmlns:a="http://schemas.openxmlformats.org/drawingml/2006/main">
            <a:off x="620132" y="2382825"/>
            <a:ext cx="6309360" cy="2893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分布式测距协同依赖于多个独立的节点或设备，这些节点分布在一个区域中，并且能够相互通信。每个节点都能够测量到其他节点或目标的距离，然后通过协同合作来确定整个网络中所有节点的位置。采样分布式协同导航方案，集群中的节点没有主从之分，在部分无人机损坏的情况下，无人机群仍然能够正常进行导航定位，因此系统的鲁棒性较强。分布式协同算法框架如下：</a:t>
            </a:r>
          </a:p>
        </p:txBody>
      </p:sp>
    </p:spTree>
    <p:extLst>
      <p:ext uri="{BB962C8B-B14F-4D97-AF65-F5344CB8AC3E}">
        <p14:creationId xmlns:p14="http://schemas.microsoft.com/office/powerpoint/2010/main" val="709248502"/>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4" name="文本框 3">
            <a:extLst xmlns:a="http://schemas.openxmlformats.org/drawingml/2006/main">
              <a:ext uri="{FF2B5EF4-FFF2-40B4-BE49-F238E27FC236}">
                <a16:creationId xmlns:a16="http://schemas.microsoft.com/office/drawing/2014/main" id="{3DC96196-A7EB-2509-C045-93391B91A8B3}"/>
              </a:ext>
            </a:extLst>
          </p:cNvPr>
          <p:cNvSpPr>
            <a:spLocks xmlns:a="http://schemas.openxmlformats.org/drawingml/2006/main" noGrp="1"/>
          </p:cNvSpPr>
          <p:nvPr/>
        </p:nvSpPr>
        <p:spPr>
          <a:xfrm xmlns:a="http://schemas.openxmlformats.org/drawingml/2006/main">
            <a:off x="637272" y="1512038"/>
            <a:ext cx="10917456" cy="20928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在集群在进行测距协同时，不同的构型会对协同的精度产生影响。为了便于定量分析无人机群协同构型对精度的影响，根据测距误差的特性，仿照卫星单点定位的位置精度因子（</a:t>
            </a:r>
            <a:r>
              <a:rPr sz="2000" b="1">
                <a:solidFill>
                  <a:srgbClr val="000000"/>
                </a:solidFill>
                <a:latin typeface="微软雅黑"/>
                <a:ea typeface="微软雅黑"/>
                <a:cs typeface="微软雅黑"/>
              </a:rPr>
              <a:t>Dilution of Precision</a:t>
            </a:r>
            <a:r>
              <a:rPr sz="2000" b="1">
                <a:solidFill>
                  <a:srgbClr val="000000"/>
                </a:solidFill>
                <a:latin typeface="微软雅黑"/>
                <a:ea typeface="微软雅黑"/>
                <a:cs typeface="微软雅黑"/>
              </a:rPr>
              <a:t>，</a:t>
            </a:r>
            <a:r>
              <a:rPr sz="2000" b="1">
                <a:solidFill>
                  <a:srgbClr val="000000"/>
                </a:solidFill>
                <a:latin typeface="微软雅黑"/>
                <a:ea typeface="微软雅黑"/>
                <a:cs typeface="微软雅黑"/>
              </a:rPr>
              <a:t> DOP</a:t>
            </a:r>
            <a:r>
              <a:rPr sz="2000" b="1">
                <a:solidFill>
                  <a:srgbClr val="000000"/>
                </a:solidFill>
                <a:latin typeface="微软雅黑"/>
                <a:ea typeface="微软雅黑"/>
                <a:cs typeface="微软雅黑"/>
              </a:rPr>
              <a:t>）的定义方法，又考虑到无人机集群中包含两种不同精度的无人机，不同精度的无人机对无人机群的构型影响的权重不一样，因此定义无人机群的包含权重的协同精度因子为</a:t>
            </a:r>
            <a:r>
              <a:rPr sz="2000" b="1">
                <a:solidFill>
                  <a:srgbClr val="000000"/>
                </a:solidFill>
                <a:latin typeface="微软雅黑"/>
                <a:ea typeface="微软雅黑"/>
                <a:cs typeface="微软雅黑"/>
              </a:rPr>
              <a:t>WC-DOP</a:t>
            </a:r>
            <a:r>
              <a:rPr sz="2000" b="1">
                <a:solidFill>
                  <a:srgbClr val="000000"/>
                </a:solidFill>
                <a:latin typeface="微软雅黑"/>
                <a:ea typeface="微软雅黑"/>
                <a:cs typeface="微软雅黑"/>
              </a:rPr>
              <a:t>（</a:t>
            </a:r>
            <a:r>
              <a:rPr sz="2000" b="1">
                <a:solidFill>
                  <a:srgbClr val="000000"/>
                </a:solidFill>
                <a:latin typeface="微软雅黑"/>
                <a:ea typeface="微软雅黑"/>
                <a:cs typeface="微软雅黑"/>
              </a:rPr>
              <a:t>Weight Cooperative-Dilution of Precision</a:t>
            </a:r>
            <a:r>
              <a:rPr sz="2000" b="1">
                <a:solidFill>
                  <a:srgbClr val="000000"/>
                </a:solidFill>
                <a:latin typeface="微软雅黑"/>
                <a:ea typeface="微软雅黑"/>
                <a:cs typeface="微软雅黑"/>
              </a:rPr>
              <a:t>，</a:t>
            </a:r>
            <a:r>
              <a:rPr sz="2000" b="1">
                <a:solidFill>
                  <a:srgbClr val="000000"/>
                </a:solidFill>
                <a:latin typeface="微软雅黑"/>
                <a:ea typeface="微软雅黑"/>
                <a:cs typeface="微软雅黑"/>
              </a:rPr>
              <a:t>WC-DOP</a:t>
            </a:r>
            <a:r>
              <a:rPr sz="2000" b="1">
                <a:solidFill>
                  <a:srgbClr val="000000"/>
                </a:solidFill>
                <a:latin typeface="微软雅黑"/>
                <a:ea typeface="微软雅黑"/>
                <a:cs typeface="微软雅黑"/>
              </a:rPr>
              <a:t>）。</a:t>
            </a:r>
          </a:p>
        </p:txBody>
      </p:sp>
    </p:spTree>
    <p:extLst>
      <p:ext uri="{BB962C8B-B14F-4D97-AF65-F5344CB8AC3E}">
        <p14:creationId xmlns:p14="http://schemas.microsoft.com/office/powerpoint/2010/main" val="556137861"/>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pic>
        <p:nvPicPr>
          <p:cNvPr id="9" name="图片 1"/>
          <p:cNvPicPr>
            <a:picLocks xmlns:a="http://schemas.openxmlformats.org/drawingml/2006/main" noChangeAspect="1"/>
          </p:cNvPicPr>
          <p:nvPr/>
        </p:nvPicPr>
        <p:blipFill>
          <a:blip xmlns:r="http://schemas.openxmlformats.org/officeDocument/2006/relationships" xmlns:a="http://schemas.openxmlformats.org/drawingml/2006/main" r:embed="Ra7bb8aa792154fb2"/>
          <a:srcRect xmlns:a="http://schemas.openxmlformats.org/drawingml/2006/main" l="11686" t="0" r="2784" b="0"/>
          <a:stretch xmlns:a="http://schemas.openxmlformats.org/drawingml/2006/main">
            <a:fillRect l="0" t="0" r="0" b="0"/>
          </a:stretch>
        </p:blipFill>
        <p:spPr>
          <a:xfrm xmlns:a="http://schemas.openxmlformats.org/drawingml/2006/main">
            <a:off x="6490636" y="2924391"/>
            <a:ext cx="5204059" cy="3414011"/>
          </a:xfrm>
          <a:prstGeom xmlns:a="http://schemas.openxmlformats.org/drawingml/2006/main" prst="rect">
            <a:avLst/>
          </a:prstGeom>
        </p:spPr>
      </p:pic>
      <p:pic>
        <p:nvPicPr>
          <p:cNvPr id="10" name="图片 2"/>
          <p:cNvPicPr>
            <a:picLocks xmlns:a="http://schemas.openxmlformats.org/drawingml/2006/main" noChangeAspect="1"/>
          </p:cNvPicPr>
          <p:nvPr/>
        </p:nvPicPr>
        <p:blipFill>
          <a:blip xmlns:r="http://schemas.openxmlformats.org/officeDocument/2006/relationships" xmlns:a="http://schemas.openxmlformats.org/drawingml/2006/main" r:embed="Rf9e8d3df710445a6"/>
          <a:srcRect xmlns:a="http://schemas.openxmlformats.org/drawingml/2006/main" l="18662" t="0" r="11083" b="0"/>
          <a:stretch xmlns:a="http://schemas.openxmlformats.org/drawingml/2006/main">
            <a:fillRect l="0" t="0" r="0" b="0"/>
          </a:stretch>
        </p:blipFill>
        <p:spPr>
          <a:xfrm xmlns:a="http://schemas.openxmlformats.org/drawingml/2006/main">
            <a:off x="522972" y="3211756"/>
            <a:ext cx="5293894" cy="3324689"/>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1333235C-17E9-F12F-436B-863CBF638E67}"/>
              </a:ext>
            </a:extLst>
          </p:cNvPr>
          <p:cNvSpPr>
            <a:spLocks xmlns:a="http://schemas.openxmlformats.org/drawingml/2006/main" noGrp="1"/>
          </p:cNvSpPr>
          <p:nvPr/>
        </p:nvSpPr>
        <p:spPr>
          <a:xfrm xmlns:a="http://schemas.openxmlformats.org/drawingml/2006/main">
            <a:off x="522972" y="985051"/>
            <a:ext cx="11171723" cy="165378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光电吊舱通常同时具有激光测距和光电测角能力，能够获取一个目标相对于吊舱的距离、方位角、俯仰角。激光测距信息能够作为观测量抑制惯性导航系统的误差发散，将惯性与激光测距系统进行组合定位的重点是卡尔曼滤波中观测矩阵</a:t>
            </a:r>
            <a:r>
              <a:rPr sz="2000" b="1">
                <a:solidFill>
                  <a:srgbClr val="000000"/>
                </a:solidFill>
                <a:latin typeface="微软雅黑"/>
                <a:ea typeface="微软雅黑"/>
                <a:cs typeface="微软雅黑"/>
              </a:rPr>
              <a:t>         </a:t>
            </a:r>
            <a:r>
              <a:rPr sz="2000" b="1">
                <a:solidFill>
                  <a:srgbClr val="000000"/>
                </a:solidFill>
                <a:latin typeface="微软雅黑"/>
                <a:ea typeface="微软雅黑"/>
                <a:cs typeface="微软雅黑"/>
              </a:rPr>
              <a:t>残差协方差矩阵</a:t>
            </a:r>
            <a:r>
              <a:rPr sz="2000" b="1">
                <a:solidFill>
                  <a:srgbClr val="000000"/>
                </a:solidFill>
                <a:latin typeface="微软雅黑"/>
                <a:ea typeface="微软雅黑"/>
                <a:cs typeface="微软雅黑"/>
              </a:rPr>
              <a:t>        </a:t>
            </a:r>
            <a:r>
              <a:t>的</a:t>
            </a:r>
            <a:r>
              <a:rPr sz="2000" b="1">
                <a:solidFill>
                  <a:srgbClr val="000000"/>
                </a:solidFill>
                <a:latin typeface="微软雅黑"/>
                <a:ea typeface="微软雅黑"/>
                <a:cs typeface="微软雅黑"/>
              </a:rPr>
              <a:t>设计。以当地导航系下的</a:t>
            </a:r>
            <a:r>
              <a:rPr sz="2000" b="1">
                <a:solidFill>
                  <a:srgbClr val="000000"/>
                </a:solidFill>
                <a:latin typeface="微软雅黑"/>
                <a:ea typeface="微软雅黑"/>
                <a:cs typeface="微软雅黑"/>
              </a:rPr>
              <a:t>9</a:t>
            </a:r>
            <a:r>
              <a:rPr sz="2000" b="1">
                <a:solidFill>
                  <a:srgbClr val="000000"/>
                </a:solidFill>
                <a:latin typeface="微软雅黑"/>
                <a:ea typeface="微软雅黑"/>
                <a:cs typeface="微软雅黑"/>
              </a:rPr>
              <a:t>状态卡尔曼滤波为例</a:t>
            </a:r>
            <a:endParaRPr sz="2000" b="1">
              <a:solidFill>
                <a:srgbClr val="000000"/>
              </a:solidFill>
              <a:latin typeface="微软雅黑"/>
              <a:ea typeface="微软雅黑"/>
              <a:cs typeface="微软雅黑"/>
            </a:endParaRPr>
          </a:p>
        </p:txBody>
      </p:sp>
    </p:spTree>
    <p:extLst>
      <p:ext uri="{BB962C8B-B14F-4D97-AF65-F5344CB8AC3E}">
        <p14:creationId xmlns:p14="http://schemas.microsoft.com/office/powerpoint/2010/main" val="298183421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pic>
        <p:nvPicPr>
          <p:cNvPr id="22" name="图片 52"/>
          <p:cNvPicPr>
            <a:picLocks xmlns:a="http://schemas.openxmlformats.org/drawingml/2006/main" noChangeAspect="1"/>
          </p:cNvPicPr>
          <p:nvPr/>
        </p:nvPicPr>
        <p:blipFill>
          <a:blip xmlns:r="http://schemas.openxmlformats.org/officeDocument/2006/relationships" xmlns:a="http://schemas.openxmlformats.org/drawingml/2006/main" r:embed="R802035d921a64d96"/>
          <a:stretch xmlns:a="http://schemas.openxmlformats.org/drawingml/2006/main">
            <a:fillRect l="0" t="0" r="0" b="0"/>
          </a:stretch>
        </p:blipFill>
        <p:spPr>
          <a:xfrm xmlns:a="http://schemas.openxmlformats.org/drawingml/2006/main">
            <a:off x="3458528" y="1791335"/>
            <a:ext cx="5400675" cy="1711960"/>
          </a:xfrm>
          <a:prstGeom xmlns:a="http://schemas.openxmlformats.org/drawingml/2006/main" prst="rect">
            <a:avLst/>
          </a:prstGeom>
        </p:spPr>
      </p:pic>
      <p:pic>
        <p:nvPicPr>
          <p:cNvPr id="23" name="图片 18"/>
          <p:cNvPicPr>
            <a:picLocks xmlns:a="http://schemas.openxmlformats.org/drawingml/2006/main" noChangeAspect="1"/>
          </p:cNvPicPr>
          <p:nvPr/>
        </p:nvPicPr>
        <p:blipFill>
          <a:blip xmlns:r="http://schemas.openxmlformats.org/officeDocument/2006/relationships" xmlns:a="http://schemas.openxmlformats.org/drawingml/2006/main" r:embed="Re614743ffd6a4952"/>
          <a:stretch xmlns:a="http://schemas.openxmlformats.org/drawingml/2006/main">
            <a:fillRect l="0" t="0" r="0" b="0"/>
          </a:stretch>
        </p:blipFill>
        <p:spPr>
          <a:xfrm xmlns:a="http://schemas.openxmlformats.org/drawingml/2006/main">
            <a:off x="9297988" y="802640"/>
            <a:ext cx="2520315" cy="2790190"/>
          </a:xfrm>
          <a:prstGeom xmlns:a="http://schemas.openxmlformats.org/drawingml/2006/main" prst="rect">
            <a:avLst/>
          </a:prstGeom>
        </p:spPr>
      </p:pic>
      <p:pic>
        <p:nvPicPr>
          <p:cNvPr id="24" name="图片 4"/>
          <p:cNvPicPr>
            <a:picLocks xmlns:a="http://schemas.openxmlformats.org/drawingml/2006/main" noChangeAspect="1"/>
          </p:cNvPicPr>
          <p:nvPr/>
        </p:nvPicPr>
        <p:blipFill>
          <a:blip xmlns:r="http://schemas.openxmlformats.org/officeDocument/2006/relationships" xmlns:a="http://schemas.openxmlformats.org/drawingml/2006/main" r:embed="Rb673e96d497d4ad4"/>
          <a:stretch xmlns:a="http://schemas.openxmlformats.org/drawingml/2006/main">
            <a:fillRect l="0" t="0" r="0" b="0"/>
          </a:stretch>
        </p:blipFill>
        <p:spPr>
          <a:xfrm xmlns:a="http://schemas.openxmlformats.org/drawingml/2006/main">
            <a:off x="434340" y="1821180"/>
            <a:ext cx="2260600" cy="1682115"/>
          </a:xfrm>
          <a:prstGeom xmlns:a="http://schemas.openxmlformats.org/drawingml/2006/main" prst="rect">
            <a:avLst/>
          </a:prstGeom>
        </p:spPr>
      </p:pic>
      <p:pic>
        <p:nvPicPr>
          <p:cNvPr id="25" name="图片 5"/>
          <p:cNvPicPr>
            <a:picLocks xmlns:a="http://schemas.openxmlformats.org/drawingml/2006/main" noChangeAspect="1"/>
          </p:cNvPicPr>
          <p:nvPr/>
        </p:nvPicPr>
        <p:blipFill>
          <a:blip xmlns:r="http://schemas.openxmlformats.org/officeDocument/2006/relationships" xmlns:a="http://schemas.openxmlformats.org/drawingml/2006/main" r:embed="R60a90c911e144db8"/>
          <a:stretch xmlns:a="http://schemas.openxmlformats.org/drawingml/2006/main">
            <a:fillRect l="0" t="0" r="0" b="0"/>
          </a:stretch>
        </p:blipFill>
        <p:spPr>
          <a:xfrm xmlns:a="http://schemas.openxmlformats.org/drawingml/2006/main">
            <a:off x="7101840" y="4495165"/>
            <a:ext cx="2921635" cy="1109345"/>
          </a:xfrm>
          <a:prstGeom xmlns:a="http://schemas.openxmlformats.org/drawingml/2006/main" prst="rect">
            <a:avLst/>
          </a:prstGeom>
          <a:ln xmlns:a="http://schemas.openxmlformats.org/drawingml/2006/main" w="9525">
            <a:noFill/>
          </a:ln>
        </p:spPr>
      </p:pic>
      <p:pic>
        <p:nvPicPr>
          <p:cNvPr id="26" name="图片 6"/>
          <p:cNvPicPr>
            <a:picLocks xmlns:a="http://schemas.openxmlformats.org/drawingml/2006/main" noChangeAspect="1"/>
          </p:cNvPicPr>
          <p:nvPr/>
        </p:nvPicPr>
        <p:blipFill>
          <a:blip xmlns:r="http://schemas.openxmlformats.org/officeDocument/2006/relationships" xmlns:a="http://schemas.openxmlformats.org/drawingml/2006/main" r:embed="R4110b71784dc4bcc"/>
          <a:stretch xmlns:a="http://schemas.openxmlformats.org/drawingml/2006/main">
            <a:fillRect l="0" t="0" r="0" b="0"/>
          </a:stretch>
        </p:blipFill>
        <p:spPr>
          <a:xfrm xmlns:a="http://schemas.openxmlformats.org/drawingml/2006/main">
            <a:off x="2432050" y="4441825"/>
            <a:ext cx="3019425" cy="1112520"/>
          </a:xfrm>
          <a:prstGeom xmlns:a="http://schemas.openxmlformats.org/drawingml/2006/main" prst="rect">
            <a:avLst/>
          </a:prstGeom>
          <a:ln xmlns:a="http://schemas.openxmlformats.org/drawingml/2006/main" w="9525">
            <a:noFill/>
          </a:ln>
        </p:spPr>
      </p:pic>
      <p:sp>
        <p:nvSpPr>
          <p:cNvPr id="8" name="文本框 7">
            <a:extLst xmlns:a="http://schemas.openxmlformats.org/drawingml/2006/main">
              <a:ext uri="{FF2B5EF4-FFF2-40B4-BE49-F238E27FC236}">
                <a16:creationId xmlns:a16="http://schemas.microsoft.com/office/drawing/2014/main" id="{8CA13A9E-B5B1-2DFE-07ED-8FF1C1E01015}"/>
              </a:ext>
            </a:extLst>
          </p:cNvPr>
          <p:cNvSpPr>
            <a:spLocks xmlns:a="http://schemas.openxmlformats.org/drawingml/2006/main" noGrp="1"/>
          </p:cNvSpPr>
          <p:nvPr/>
        </p:nvSpPr>
        <p:spPr>
          <a:xfrm xmlns:a="http://schemas.openxmlformats.org/drawingml/2006/main">
            <a:off x="309880" y="3503295"/>
            <a:ext cx="250952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latin typeface="Times New Roman"/>
                <a:ea typeface="Times New Roman"/>
                <a:cs typeface="Times New Roman"/>
              </a:rPr>
              <a:t>词袋模型的位置识别</a:t>
            </a:r>
          </a:p>
        </p:txBody>
      </p:sp>
      <p:sp>
        <p:nvSpPr>
          <p:cNvPr id="9" name="文本框 8">
            <a:extLst xmlns:a="http://schemas.openxmlformats.org/drawingml/2006/main">
              <a:ext uri="{FF2B5EF4-FFF2-40B4-BE49-F238E27FC236}">
                <a16:creationId xmlns:a16="http://schemas.microsoft.com/office/drawing/2014/main" id="{B35C7AB7-0E02-F3BD-E8C0-0156740B938F}"/>
              </a:ext>
            </a:extLst>
          </p:cNvPr>
          <p:cNvSpPr>
            <a:spLocks xmlns:a="http://schemas.openxmlformats.org/drawingml/2006/main" noGrp="1"/>
          </p:cNvSpPr>
          <p:nvPr/>
        </p:nvSpPr>
        <p:spPr>
          <a:xfrm xmlns:a="http://schemas.openxmlformats.org/drawingml/2006/main">
            <a:off x="3606165" y="3572510"/>
            <a:ext cx="508000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latin typeface="Times New Roman"/>
                <a:ea typeface="Times New Roman"/>
                <a:cs typeface="Times New Roman"/>
              </a:rPr>
              <a:t>图像特征点匹配与离群点剔除</a:t>
            </a:r>
          </a:p>
        </p:txBody>
      </p:sp>
      <p:sp>
        <p:nvSpPr>
          <p:cNvPr id="10" name="文本框 9">
            <a:extLst xmlns:a="http://schemas.openxmlformats.org/drawingml/2006/main">
              <a:ext uri="{FF2B5EF4-FFF2-40B4-BE49-F238E27FC236}">
                <a16:creationId xmlns:a16="http://schemas.microsoft.com/office/drawing/2014/main" id="{95781814-12B9-F385-7163-9DD184841EA5}"/>
              </a:ext>
            </a:extLst>
          </p:cNvPr>
          <p:cNvSpPr>
            <a:spLocks xmlns:a="http://schemas.openxmlformats.org/drawingml/2006/main" noGrp="1"/>
          </p:cNvSpPr>
          <p:nvPr/>
        </p:nvSpPr>
        <p:spPr>
          <a:xfrm xmlns:a="http://schemas.openxmlformats.org/drawingml/2006/main">
            <a:off x="9705340" y="3676650"/>
            <a:ext cx="196088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latin typeface="Times New Roman"/>
                <a:ea typeface="Times New Roman"/>
                <a:cs typeface="Times New Roman"/>
              </a:rPr>
              <a:t>PnP</a:t>
            </a:r>
            <a:r>
              <a:rPr>
                <a:solidFill>
                  <a:srgbClr val="000000"/>
                </a:solidFill>
                <a:latin typeface="Times New Roman"/>
                <a:ea typeface="Times New Roman"/>
                <a:cs typeface="Times New Roman"/>
              </a:rPr>
              <a:t>解算</a:t>
            </a:r>
          </a:p>
        </p:txBody>
      </p:sp>
      <p:sp>
        <p:nvSpPr>
          <p:cNvPr id="11" name="右箭头 7">
            <a:extLst xmlns:a="http://schemas.openxmlformats.org/drawingml/2006/main">
              <a:ext uri="{FF2B5EF4-FFF2-40B4-BE49-F238E27FC236}">
                <a16:creationId xmlns:a16="http://schemas.microsoft.com/office/drawing/2014/main" id="{7A56DF10-6E04-3DA9-9282-A208772DD715}"/>
              </a:ext>
            </a:extLst>
          </p:cNvPr>
          <p:cNvSpPr>
            <a:spLocks xmlns:a="http://schemas.openxmlformats.org/drawingml/2006/main" noGrp="1"/>
          </p:cNvSpPr>
          <p:nvPr/>
        </p:nvSpPr>
        <p:spPr>
          <a:xfrm xmlns:a="http://schemas.openxmlformats.org/drawingml/2006/main">
            <a:off x="2915920" y="2597785"/>
            <a:ext cx="406400" cy="274320"/>
          </a:xfrm>
          <a:prstGeom xmlns:a="http://schemas.openxmlformats.org/drawingml/2006/main" prst="rightArrow">
            <a:avLst/>
          </a:prstGeom>
          <a:noFill xmlns:a="http://schemas.openxmlformats.org/drawingml/2006/main"/>
          <a:ln xmlns:a="http://schemas.openxmlformats.org/drawingml/2006/main" w="28575" cmpd="sng">
            <a:solidFill>
              <a:srgbClr val="FF0000"/>
            </a:solidFill>
            <a:prstDash val="solid"/>
            <a:headEnd type="none" w="med" len="med"/>
            <a:tailEnd type="none" w="med" len="med"/>
          </a:ln>
        </p:spPr>
        <p:txBody>
          <a:bodyPr xmlns:a="http://schemas.openxmlformats.org/drawingml/2006/main" vert="horz" wrap="square" lIns="91440" tIns="45720" rIns="91440" bIns="45720" anchor="t">
            <a:spAutoFit/>
          </a:bodyPr>
          <a:lstStyle xmlns:a="http://schemas.openxmlformats.org/drawingml/2006/main"/>
          <a:p xmlns:a="http://schemas.openxmlformats.org/drawingml/2006/main">
            <a:pPr>
              <a:spcBef>
                <a:spcPct val="50000"/>
              </a:spcBef>
              <a:spcAft>
                <a:spcPct val="0"/>
              </a:spcAft>
              <a:buSzPct val="70000"/>
              <a:buFontTx/>
              <a:buNone/>
            </a:pPr>
            <a:endParaRPr sz="2400">
              <a:solidFill>
                <a:srgbClr val="000000"/>
              </a:solidFill>
            </a:endParaRPr>
          </a:p>
        </p:txBody>
      </p:sp>
      <p:sp>
        <p:nvSpPr>
          <p:cNvPr id="12" name="右箭头 8">
            <a:extLst xmlns:a="http://schemas.openxmlformats.org/drawingml/2006/main">
              <a:ext uri="{FF2B5EF4-FFF2-40B4-BE49-F238E27FC236}">
                <a16:creationId xmlns:a16="http://schemas.microsoft.com/office/drawing/2014/main" id="{E290FD2D-901E-2877-B645-4EAD44E457BC}"/>
              </a:ext>
            </a:extLst>
          </p:cNvPr>
          <p:cNvSpPr>
            <a:spLocks xmlns:a="http://schemas.openxmlformats.org/drawingml/2006/main" noGrp="1"/>
          </p:cNvSpPr>
          <p:nvPr/>
        </p:nvSpPr>
        <p:spPr>
          <a:xfrm xmlns:a="http://schemas.openxmlformats.org/drawingml/2006/main">
            <a:off x="9006840" y="2597785"/>
            <a:ext cx="406400" cy="274320"/>
          </a:xfrm>
          <a:prstGeom xmlns:a="http://schemas.openxmlformats.org/drawingml/2006/main" prst="rightArrow">
            <a:avLst/>
          </a:prstGeom>
          <a:noFill xmlns:a="http://schemas.openxmlformats.org/drawingml/2006/main"/>
          <a:ln xmlns:a="http://schemas.openxmlformats.org/drawingml/2006/main" w="28575" cmpd="sng">
            <a:solidFill>
              <a:srgbClr val="FF0000"/>
            </a:solidFill>
            <a:prstDash val="solid"/>
            <a:headEnd type="none" w="med" len="med"/>
            <a:tailEnd type="none" w="med" len="med"/>
          </a:ln>
        </p:spPr>
        <p:txBody>
          <a:bodyPr xmlns:a="http://schemas.openxmlformats.org/drawingml/2006/main" vert="horz" wrap="square" lIns="91440" tIns="45720" rIns="91440" bIns="45720" anchor="t">
            <a:spAutoFit/>
          </a:bodyPr>
          <a:lstStyle xmlns:a="http://schemas.openxmlformats.org/drawingml/2006/main"/>
          <a:p xmlns:a="http://schemas.openxmlformats.org/drawingml/2006/main">
            <a:pPr>
              <a:spcBef>
                <a:spcPct val="50000"/>
              </a:spcBef>
              <a:spcAft>
                <a:spcPct val="0"/>
              </a:spcAft>
              <a:buSzPct val="70000"/>
              <a:buFontTx/>
              <a:buNone/>
            </a:pPr>
            <a:endParaRPr sz="2400">
              <a:solidFill>
                <a:srgbClr val="000000"/>
              </a:solidFill>
            </a:endParaRPr>
          </a:p>
        </p:txBody>
      </p:sp>
      <p:sp>
        <p:nvSpPr>
          <p:cNvPr id="13" name="文本框 12">
            <a:extLst xmlns:a="http://schemas.openxmlformats.org/drawingml/2006/main">
              <a:ext uri="{FF2B5EF4-FFF2-40B4-BE49-F238E27FC236}">
                <a16:creationId xmlns:a16="http://schemas.microsoft.com/office/drawing/2014/main" id="{61E474FF-64BD-5503-2264-DA3B8B3A12F9}"/>
              </a:ext>
            </a:extLst>
          </p:cNvPr>
          <p:cNvSpPr>
            <a:spLocks xmlns:a="http://schemas.openxmlformats.org/drawingml/2006/main" noGrp="1"/>
          </p:cNvSpPr>
          <p:nvPr/>
        </p:nvSpPr>
        <p:spPr>
          <a:xfrm xmlns:a="http://schemas.openxmlformats.org/drawingml/2006/main">
            <a:off x="2594610" y="5729605"/>
            <a:ext cx="264033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latin typeface="Times New Roman"/>
                <a:ea typeface="Times New Roman"/>
                <a:cs typeface="Times New Roman"/>
              </a:rPr>
              <a:t>两帧之间的相对位姿</a:t>
            </a:r>
          </a:p>
        </p:txBody>
      </p:sp>
      <p:sp>
        <p:nvSpPr>
          <p:cNvPr id="14" name="文本框 13">
            <a:extLst xmlns:a="http://schemas.openxmlformats.org/drawingml/2006/main">
              <a:ext uri="{FF2B5EF4-FFF2-40B4-BE49-F238E27FC236}">
                <a16:creationId xmlns:a16="http://schemas.microsoft.com/office/drawing/2014/main" id="{877C05C9-BC5C-9002-7AF0-F8D45CB8FE70}"/>
              </a:ext>
            </a:extLst>
          </p:cNvPr>
          <p:cNvSpPr>
            <a:spLocks xmlns:a="http://schemas.openxmlformats.org/drawingml/2006/main" noGrp="1"/>
          </p:cNvSpPr>
          <p:nvPr/>
        </p:nvSpPr>
        <p:spPr>
          <a:xfrm xmlns:a="http://schemas.openxmlformats.org/drawingml/2006/main">
            <a:off x="7462520" y="5770245"/>
            <a:ext cx="235712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algn="ctr">
              <a:spcBef>
                <a:spcPct val="0"/>
              </a:spcBef>
              <a:spcAft>
                <a:spcPct val="0"/>
              </a:spcAft>
              <a:buNone/>
            </a:pPr>
            <a:r>
              <a:rPr>
                <a:solidFill>
                  <a:srgbClr val="000000"/>
                </a:solidFill>
                <a:latin typeface="Times New Roman"/>
                <a:ea typeface="Times New Roman"/>
                <a:cs typeface="Times New Roman"/>
              </a:rPr>
              <a:t>全局一致的坐标系</a:t>
            </a:r>
          </a:p>
        </p:txBody>
      </p:sp>
      <p:sp>
        <p:nvSpPr>
          <p:cNvPr id="15" name="右箭头 12">
            <a:extLst xmlns:a="http://schemas.openxmlformats.org/drawingml/2006/main">
              <a:ext uri="{FF2B5EF4-FFF2-40B4-BE49-F238E27FC236}">
                <a16:creationId xmlns:a16="http://schemas.microsoft.com/office/drawing/2014/main" id="{07174D4B-8ECF-5155-C22A-73E0B2E8BDC1}"/>
              </a:ext>
            </a:extLst>
          </p:cNvPr>
          <p:cNvSpPr>
            <a:spLocks xmlns:a="http://schemas.openxmlformats.org/drawingml/2006/main" noGrp="1"/>
          </p:cNvSpPr>
          <p:nvPr/>
        </p:nvSpPr>
        <p:spPr>
          <a:xfrm xmlns:a="http://schemas.openxmlformats.org/drawingml/2006/main">
            <a:off x="5679440" y="4912995"/>
            <a:ext cx="1209040" cy="360000"/>
          </a:xfrm>
          <a:prstGeom xmlns:a="http://schemas.openxmlformats.org/drawingml/2006/main" prst="rightArrow">
            <a:avLst/>
          </a:prstGeom>
          <a:noFill xmlns:a="http://schemas.openxmlformats.org/drawingml/2006/main"/>
          <a:ln xmlns:a="http://schemas.openxmlformats.org/drawingml/2006/main" w="28575" cmpd="sng">
            <a:solidFill>
              <a:srgbClr val="FF0000"/>
            </a:solidFill>
            <a:prstDash val="solid"/>
            <a:headEnd type="none" w="med" len="med"/>
            <a:tailEnd type="none" w="med" len="med"/>
          </a:ln>
        </p:spPr>
        <p:txBody>
          <a:bodyPr xmlns:a="http://schemas.openxmlformats.org/drawingml/2006/main" vert="horz" wrap="square" lIns="91440" tIns="45720" rIns="91440" bIns="45720" anchor="t">
            <a:spAutoFit/>
          </a:bodyPr>
          <a:lstStyle xmlns:a="http://schemas.openxmlformats.org/drawingml/2006/main"/>
          <a:p xmlns:a="http://schemas.openxmlformats.org/drawingml/2006/main">
            <a:pPr>
              <a:spcBef>
                <a:spcPct val="50000"/>
              </a:spcBef>
              <a:spcAft>
                <a:spcPct val="0"/>
              </a:spcAft>
              <a:buSzPct val="70000"/>
              <a:buFontTx/>
              <a:buNone/>
            </a:pPr>
            <a:endParaRPr sz="2400">
              <a:solidFill>
                <a:srgbClr val="000000"/>
              </a:solidFill>
            </a:endParaRPr>
          </a:p>
        </p:txBody>
      </p:sp>
      <p:sp>
        <p:nvSpPr>
          <p:cNvPr id="16" name="文本框 15">
            <a:extLst xmlns:a="http://schemas.openxmlformats.org/drawingml/2006/main">
              <a:ext uri="{FF2B5EF4-FFF2-40B4-BE49-F238E27FC236}">
                <a16:creationId xmlns:a16="http://schemas.microsoft.com/office/drawing/2014/main" id="{57B5ED2F-EE9A-CA0A-6FB4-F64530DC25BC}"/>
              </a:ext>
            </a:extLst>
          </p:cNvPr>
          <p:cNvSpPr>
            <a:spLocks xmlns:a="http://schemas.openxmlformats.org/drawingml/2006/main" noGrp="1"/>
          </p:cNvSpPr>
          <p:nvPr/>
        </p:nvSpPr>
        <p:spPr>
          <a:xfrm xmlns:a="http://schemas.openxmlformats.org/drawingml/2006/main">
            <a:off x="5379720" y="4641850"/>
            <a:ext cx="1747520" cy="9220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algn="ctr">
              <a:spcBef>
                <a:spcPct val="0"/>
              </a:spcBef>
              <a:spcAft>
                <a:spcPct val="0"/>
              </a:spcAft>
              <a:buNone/>
            </a:pPr>
            <a:r>
              <a:rPr>
                <a:solidFill>
                  <a:srgbClr val="000000"/>
                </a:solidFill>
                <a:latin typeface="Times New Roman"/>
                <a:ea typeface="Times New Roman"/>
                <a:cs typeface="Times New Roman"/>
              </a:rPr>
              <a:t>来自不同无人</a:t>
            </a:r>
          </a:p>
          <a:p xmlns:a="http://schemas.openxmlformats.org/drawingml/2006/main">
            <a:pPr algn="ctr">
              <a:spcBef>
                <a:spcPct val="0"/>
              </a:spcBef>
              <a:spcAft>
                <a:spcPct val="0"/>
              </a:spcAft>
              <a:buNone/>
            </a:pPr>
            <a:endParaRPr>
              <a:solidFill>
                <a:srgbClr val="000000"/>
              </a:solidFill>
              <a:latin typeface="Times New Roman"/>
              <a:ea typeface="Times New Roman"/>
              <a:cs typeface="Times New Roman"/>
            </a:endParaRPr>
          </a:p>
          <a:p xmlns:a="http://schemas.openxmlformats.org/drawingml/2006/main">
            <a:pPr algn="ctr">
              <a:spcBef>
                <a:spcPct val="0"/>
              </a:spcBef>
              <a:spcAft>
                <a:spcPct val="0"/>
              </a:spcAft>
              <a:buNone/>
            </a:pPr>
            <a:r>
              <a:rPr>
                <a:solidFill>
                  <a:srgbClr val="000000"/>
                </a:solidFill>
                <a:latin typeface="Times New Roman"/>
                <a:ea typeface="Times New Roman"/>
                <a:cs typeface="Times New Roman"/>
              </a:rPr>
              <a:t>机的两帧</a:t>
            </a:r>
          </a:p>
        </p:txBody>
      </p:sp>
    </p:spTree>
    <p:extLst>
      <p:ext uri="{BB962C8B-B14F-4D97-AF65-F5344CB8AC3E}">
        <p14:creationId xmlns:p14="http://schemas.microsoft.com/office/powerpoint/2010/main" val="523582560"/>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pic>
        <p:nvPicPr>
          <p:cNvPr id="22" name="图片 34"/>
          <p:cNvPicPr>
            <a:picLocks xmlns:a="http://schemas.openxmlformats.org/drawingml/2006/main" noChangeAspect="1"/>
          </p:cNvPicPr>
          <p:nvPr/>
        </p:nvPicPr>
        <p:blipFill>
          <a:blip xmlns:r="http://schemas.openxmlformats.org/officeDocument/2006/relationships" xmlns:a="http://schemas.openxmlformats.org/drawingml/2006/main" r:embed="R1e76082a5f134e05"/>
          <a:stretch xmlns:a="http://schemas.openxmlformats.org/drawingml/2006/main">
            <a:fillRect l="0" t="0" r="0" b="0"/>
          </a:stretch>
        </p:blipFill>
        <p:spPr>
          <a:xfrm xmlns:a="http://schemas.openxmlformats.org/drawingml/2006/main">
            <a:off x="1552575" y="1029970"/>
            <a:ext cx="3782060" cy="2479675"/>
          </a:xfrm>
          <a:prstGeom xmlns:a="http://schemas.openxmlformats.org/drawingml/2006/main" prst="rect">
            <a:avLst/>
          </a:prstGeom>
        </p:spPr>
      </p:pic>
      <p:pic>
        <p:nvPicPr>
          <p:cNvPr id="23" name="图片 74"/>
          <p:cNvPicPr>
            <a:picLocks xmlns:a="http://schemas.openxmlformats.org/drawingml/2006/main" noChangeAspect="1"/>
          </p:cNvPicPr>
          <p:nvPr/>
        </p:nvPicPr>
        <p:blipFill>
          <a:blip xmlns:r="http://schemas.openxmlformats.org/officeDocument/2006/relationships" xmlns:a="http://schemas.openxmlformats.org/drawingml/2006/main" r:embed="R3d69368f4b72427c"/>
          <a:stretch xmlns:a="http://schemas.openxmlformats.org/drawingml/2006/main">
            <a:fillRect l="0" t="0" r="0" b="0"/>
          </a:stretch>
        </p:blipFill>
        <p:spPr>
          <a:xfrm xmlns:a="http://schemas.openxmlformats.org/drawingml/2006/main">
            <a:off x="6077585" y="1180465"/>
            <a:ext cx="4018280" cy="2178050"/>
          </a:xfrm>
          <a:prstGeom xmlns:a="http://schemas.openxmlformats.org/drawingml/2006/main" prst="rect">
            <a:avLst/>
          </a:prstGeom>
          <a:ln xmlns:a="http://schemas.openxmlformats.org/drawingml/2006/main" w="9525">
            <a:noFill/>
          </a:ln>
        </p:spPr>
      </p:pic>
      <p:pic>
        <p:nvPicPr>
          <p:cNvPr id="24" name="图片 3"/>
          <p:cNvPicPr>
            <a:picLocks xmlns:a="http://schemas.openxmlformats.org/drawingml/2006/main" noChangeAspect="1"/>
          </p:cNvPicPr>
          <p:nvPr/>
        </p:nvPicPr>
        <p:blipFill>
          <a:blip xmlns:r="http://schemas.openxmlformats.org/officeDocument/2006/relationships" xmlns:a="http://schemas.openxmlformats.org/drawingml/2006/main" r:embed="R8b2ef2b228b441fd"/>
          <a:stretch xmlns:a="http://schemas.openxmlformats.org/drawingml/2006/main">
            <a:fillRect l="0" t="0" r="0" b="0"/>
          </a:stretch>
        </p:blipFill>
        <p:spPr>
          <a:xfrm xmlns:a="http://schemas.openxmlformats.org/drawingml/2006/main">
            <a:off x="2226310" y="3913505"/>
            <a:ext cx="7691755" cy="977900"/>
          </a:xfrm>
          <a:prstGeom xmlns:a="http://schemas.openxmlformats.org/drawingml/2006/main" prst="rect">
            <a:avLst/>
          </a:prstGeom>
          <a:ln xmlns:a="http://schemas.openxmlformats.org/drawingml/2006/main" w="9525">
            <a:noFill/>
          </a:ln>
        </p:spPr>
      </p:pic>
      <p:sp>
        <p:nvSpPr>
          <p:cNvPr id="5" name="文本框 4">
            <a:extLst xmlns:a="http://schemas.openxmlformats.org/drawingml/2006/main">
              <a:ext uri="{FF2B5EF4-FFF2-40B4-BE49-F238E27FC236}">
                <a16:creationId xmlns:a16="http://schemas.microsoft.com/office/drawing/2014/main" id="{4B55854D-162C-0E59-9DDD-6423D2ED69B8}"/>
              </a:ext>
            </a:extLst>
          </p:cNvPr>
          <p:cNvSpPr>
            <a:spLocks xmlns:a="http://schemas.openxmlformats.org/drawingml/2006/main" noGrp="1"/>
          </p:cNvSpPr>
          <p:nvPr/>
        </p:nvSpPr>
        <p:spPr>
          <a:xfrm xmlns:a="http://schemas.openxmlformats.org/drawingml/2006/main">
            <a:off x="2226545" y="3527695"/>
            <a:ext cx="245416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a:latin typeface="Times New Roman"/>
                <a:ea typeface="Times New Roman"/>
                <a:cs typeface="Times New Roman"/>
              </a:rPr>
              <a:t>地图点管理结构</a:t>
            </a:r>
          </a:p>
        </p:txBody>
      </p:sp>
      <p:sp>
        <p:nvSpPr>
          <p:cNvPr id="6" name="文本框 5">
            <a:extLst xmlns:a="http://schemas.openxmlformats.org/drawingml/2006/main">
              <a:ext uri="{FF2B5EF4-FFF2-40B4-BE49-F238E27FC236}">
                <a16:creationId xmlns:a16="http://schemas.microsoft.com/office/drawing/2014/main" id="{BFF90718-13BF-D3D2-1627-E7DCF521DAB6}"/>
              </a:ext>
            </a:extLst>
          </p:cNvPr>
          <p:cNvSpPr>
            <a:spLocks xmlns:a="http://schemas.openxmlformats.org/drawingml/2006/main" noGrp="1"/>
          </p:cNvSpPr>
          <p:nvPr/>
        </p:nvSpPr>
        <p:spPr>
          <a:xfrm xmlns:a="http://schemas.openxmlformats.org/drawingml/2006/main">
            <a:off x="5482590" y="3505200"/>
            <a:ext cx="508000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spAutoFit/>
          </a:bodyPr>
          <a:lstStyle xmlns:a="http://schemas.openxmlformats.org/drawingml/2006/main"/>
          <a:p xmlns:a="http://schemas.openxmlformats.org/drawingml/2006/main">
            <a:pPr marL="0" indent="127000" algn="ctr">
              <a:buNone/>
            </a:pPr>
            <a:r>
              <a:rPr sz="1800" b="0">
                <a:latin typeface="Times New Roman"/>
                <a:ea typeface="Times New Roman"/>
                <a:cs typeface="Times New Roman"/>
              </a:rPr>
              <a:t>地图特征点三角化重新估计位置</a:t>
            </a:r>
          </a:p>
        </p:txBody>
      </p:sp>
      <p:sp>
        <p:nvSpPr>
          <p:cNvPr id="7" name="文本框 6">
            <a:extLst xmlns:a="http://schemas.openxmlformats.org/drawingml/2006/main">
              <a:ext uri="{FF2B5EF4-FFF2-40B4-BE49-F238E27FC236}">
                <a16:creationId xmlns:a16="http://schemas.microsoft.com/office/drawing/2014/main" id="{4292ABDE-0BCC-C5C9-7C69-C72522EDE020}"/>
              </a:ext>
            </a:extLst>
          </p:cNvPr>
          <p:cNvSpPr>
            <a:spLocks xmlns:a="http://schemas.openxmlformats.org/drawingml/2006/main" noGrp="1"/>
          </p:cNvSpPr>
          <p:nvPr/>
        </p:nvSpPr>
        <p:spPr>
          <a:xfrm xmlns:a="http://schemas.openxmlformats.org/drawingml/2006/main">
            <a:off x="220345" y="4186555"/>
            <a:ext cx="1884680" cy="64516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marL="0" indent="127000">
              <a:buNone/>
            </a:pPr>
            <a:r>
              <a:rPr sz="1800" b="1">
                <a:latin typeface="Times New Roman"/>
                <a:ea typeface="Times New Roman"/>
                <a:cs typeface="Times New Roman"/>
              </a:rPr>
              <a:t>全局捆集调整（GBA）</a:t>
            </a:r>
            <a:r>
              <a:rPr sz="1800" b="1">
                <a:latin typeface="Times New Roman"/>
                <a:ea typeface="Times New Roman"/>
                <a:cs typeface="Times New Roman"/>
              </a:rPr>
              <a:t>：</a:t>
            </a:r>
          </a:p>
        </p:txBody>
      </p:sp>
      <p:sp>
        <p:nvSpPr>
          <p:cNvPr id="8" name="矩形 7">
            <a:extLst xmlns:a="http://schemas.openxmlformats.org/drawingml/2006/main">
              <a:ext uri="{FF2B5EF4-FFF2-40B4-BE49-F238E27FC236}">
                <a16:creationId xmlns:a16="http://schemas.microsoft.com/office/drawing/2014/main" id="{CB9C1708-88CE-67DC-6757-561B2E23F345}"/>
              </a:ext>
            </a:extLst>
          </p:cNvPr>
          <p:cNvSpPr>
            <a:spLocks xmlns:a="http://schemas.openxmlformats.org/drawingml/2006/main" noGrp="1"/>
          </p:cNvSpPr>
          <p:nvPr/>
        </p:nvSpPr>
        <p:spPr>
          <a:xfrm xmlns:a="http://schemas.openxmlformats.org/drawingml/2006/main">
            <a:off x="8296275" y="3983355"/>
            <a:ext cx="1501140" cy="943610"/>
          </a:xfrm>
          <a:prstGeom xmlns:a="http://schemas.openxmlformats.org/drawingml/2006/main" prst="rect">
            <a:avLst/>
          </a:prstGeom>
          <a:noFill xmlns:a="http://schemas.openxmlformats.org/drawingml/2006/main"/>
          <a:ln xmlns:a="http://schemas.openxmlformats.org/drawingml/2006/main" w="28575" cmpd="sng">
            <a:solidFill>
              <a:srgbClr val="FF0000"/>
            </a:solidFill>
            <a:prstDash val="solid"/>
            <a:headEnd type="none" w="med" len="med"/>
            <a:tailEnd type="none" w="med" len="med"/>
          </a:ln>
        </p:spPr>
        <p:txBody>
          <a:bodyPr xmlns:a="http://schemas.openxmlformats.org/drawingml/2006/main" vert="horz" wrap="square" lIns="91440" tIns="45720" rIns="91440" bIns="45720" anchor="t">
            <a:spAutoFit/>
          </a:bodyPr>
          <a:lstStyle xmlns:a="http://schemas.openxmlformats.org/drawingml/2006/main"/>
          <a:p xmlns:a="http://schemas.openxmlformats.org/drawingml/2006/main">
            <a:pPr marL="0" marR="0" indent="0" algn="l" defTabSz="914400">
              <a:lnSpc>
                <a:spcPct val="100000"/>
              </a:lnSpc>
              <a:spcBef>
                <a:spcPct val="50000"/>
              </a:spcBef>
              <a:spcAft>
                <a:spcPct val="0"/>
              </a:spcAft>
              <a:buClrTx/>
              <a:buSzPct val="70000"/>
              <a:buFontTx/>
              <a:buNone/>
            </a:pPr>
            <a:endParaRPr sz="2400" b="0" i="0" u="none" cap="none" baseline="0">
              <a:ln>
                <a:noFill/>
              </a:ln>
              <a:solidFill>
                <a:schemeClr val="tx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28B4047A-0309-073F-3ED1-CC58308BF405}"/>
              </a:ext>
            </a:extLst>
          </p:cNvPr>
          <p:cNvSpPr>
            <a:spLocks xmlns:a="http://schemas.openxmlformats.org/drawingml/2006/main" noGrp="1"/>
          </p:cNvSpPr>
          <p:nvPr/>
        </p:nvSpPr>
        <p:spPr>
          <a:xfrm xmlns:a="http://schemas.openxmlformats.org/drawingml/2006/main">
            <a:off x="10284460" y="3388995"/>
            <a:ext cx="1996440" cy="64516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marL="0" indent="0">
              <a:buNone/>
            </a:pPr>
            <a:r>
              <a:rPr sz="1800" b="1">
                <a:solidFill>
                  <a:srgbClr val="FF0000"/>
                </a:solidFill>
                <a:latin typeface="Times New Roman"/>
                <a:ea typeface="Times New Roman"/>
                <a:cs typeface="Times New Roman"/>
              </a:rPr>
              <a:t>视觉特征重投影误差</a:t>
            </a:r>
          </a:p>
        </p:txBody>
      </p:sp>
      <p:cxnSp>
        <p:nvCxnSpPr>
          <p:cNvPr id="30" name="直接箭头连接符 9"/>
          <p:cNvCxnSpPr/>
          <p:nvPr/>
        </p:nvCxnSpPr>
        <p:spPr>
          <a:xfrm xmlns:a="http://schemas.openxmlformats.org/drawingml/2006/main" flipV="1">
            <a:off x="9797415" y="3877310"/>
            <a:ext cx="476885" cy="525145"/>
          </a:xfrm>
          <a:prstGeom xmlns:a="http://schemas.openxmlformats.org/drawingml/2006/main" prst="straightConnector1">
            <a:avLst/>
          </a:prstGeom>
          <a:ln xmlns:a="http://schemas.openxmlformats.org/drawingml/2006/main" w="28575" cap="flat">
            <a:solidFill>
              <a:srgbClr val="FF0000"/>
            </a:solidFill>
            <a:prstDash val="solid"/>
            <a:round/>
            <a:headEnd type="none" w="med" len="med"/>
            <a:tailEnd type="arrow" w="med" len="med"/>
          </a:ln>
        </p:spPr>
      </p:cxnSp>
      <p:pic>
        <p:nvPicPr>
          <p:cNvPr id="31" name="图片 13"/>
          <p:cNvPicPr>
            <a:picLocks xmlns:a="http://schemas.openxmlformats.org/drawingml/2006/main" noChangeAspect="1"/>
          </p:cNvPicPr>
          <p:nvPr/>
        </p:nvPicPr>
        <p:blipFill>
          <a:blip xmlns:r="http://schemas.openxmlformats.org/officeDocument/2006/relationships" xmlns:a="http://schemas.openxmlformats.org/drawingml/2006/main" r:embed="R93e4d4b7728e4f2a"/>
          <a:stretch xmlns:a="http://schemas.openxmlformats.org/drawingml/2006/main">
            <a:fillRect l="0" t="0" r="0" b="0"/>
          </a:stretch>
        </p:blipFill>
        <p:spPr>
          <a:xfrm xmlns:a="http://schemas.openxmlformats.org/drawingml/2006/main" rot="0" flipH="0" flipV="0">
            <a:off x="2187575" y="5092700"/>
            <a:ext cx="8902700" cy="1305560"/>
          </a:xfrm>
          <a:prstGeom xmlns:a="http://schemas.openxmlformats.org/drawingml/2006/main" prst="rect">
            <a:avLst/>
          </a:prstGeom>
          <a:ln xmlns:a="http://schemas.openxmlformats.org/drawingml/2006/main" w="9525">
            <a:noFill/>
          </a:ln>
        </p:spPr>
      </p:pic>
      <p:sp>
        <p:nvSpPr>
          <p:cNvPr id="15" name="矩形 14">
            <a:extLst xmlns:a="http://schemas.openxmlformats.org/drawingml/2006/main">
              <a:ext uri="{FF2B5EF4-FFF2-40B4-BE49-F238E27FC236}">
                <a16:creationId xmlns:a16="http://schemas.microsoft.com/office/drawing/2014/main" id="{8D7829A2-2EC0-DBB1-0539-C1E67789645C}"/>
              </a:ext>
            </a:extLst>
          </p:cNvPr>
          <p:cNvSpPr>
            <a:spLocks xmlns:a="http://schemas.openxmlformats.org/drawingml/2006/main" noGrp="1"/>
          </p:cNvSpPr>
          <p:nvPr/>
        </p:nvSpPr>
        <p:spPr>
          <a:xfrm xmlns:a="http://schemas.openxmlformats.org/drawingml/2006/main" rot="0" flipH="0" flipV="0">
            <a:off x="3661410" y="5713095"/>
            <a:ext cx="3579495" cy="720090"/>
          </a:xfrm>
          <a:prstGeom xmlns:a="http://schemas.openxmlformats.org/drawingml/2006/main" prst="rect">
            <a:avLst/>
          </a:prstGeom>
          <a:noFill xmlns:a="http://schemas.openxmlformats.org/drawingml/2006/main"/>
          <a:ln xmlns:a="http://schemas.openxmlformats.org/drawingml/2006/main" w="28575" cmpd="sng">
            <a:solidFill>
              <a:srgbClr val="FF0000"/>
            </a:solidFill>
            <a:prstDash val="solid"/>
            <a:headEnd type="none" w="med" len="med"/>
            <a:tailEnd type="none" w="med" len="med"/>
          </a:ln>
        </p:spPr>
        <p:txBody>
          <a:bodyPr xmlns:a="http://schemas.openxmlformats.org/drawingml/2006/main" vert="horz" wrap="square" lIns="91440" tIns="45720" rIns="91440" bIns="45720" anchor="t">
            <a:spAutoFit/>
          </a:bodyPr>
          <a:lstStyle xmlns:a="http://schemas.openxmlformats.org/drawingml/2006/main"/>
          <a:p xmlns:a="http://schemas.openxmlformats.org/drawingml/2006/main">
            <a:pPr marL="0" marR="0" indent="0" algn="l" defTabSz="914400">
              <a:lnSpc>
                <a:spcPct val="100000"/>
              </a:lnSpc>
              <a:spcBef>
                <a:spcPct val="50000"/>
              </a:spcBef>
              <a:spcAft>
                <a:spcPct val="0"/>
              </a:spcAft>
              <a:buClrTx/>
              <a:buSzPct val="70000"/>
              <a:buFontTx/>
              <a:buNone/>
            </a:pPr>
            <a:endParaRPr sz="2400" b="0" i="0" u="none" cap="none" baseline="0">
              <a:ln>
                <a:noFill/>
              </a:ln>
              <a:solidFill>
                <a:schemeClr val="tx1"/>
              </a:solidFill>
              <a:latin typeface="Arial"/>
              <a:ea typeface="Arial"/>
              <a:cs typeface="Arial"/>
            </a:endParaRPr>
          </a:p>
        </p:txBody>
      </p:sp>
      <p:sp>
        <p:nvSpPr>
          <p:cNvPr id="16" name="文本框 15">
            <a:extLst xmlns:a="http://schemas.openxmlformats.org/drawingml/2006/main">
              <a:ext uri="{FF2B5EF4-FFF2-40B4-BE49-F238E27FC236}">
                <a16:creationId xmlns:a16="http://schemas.microsoft.com/office/drawing/2014/main" id="{AAE9C079-5EA7-ADEE-2C10-501C8A157E83}"/>
              </a:ext>
            </a:extLst>
          </p:cNvPr>
          <p:cNvSpPr>
            <a:spLocks xmlns:a="http://schemas.openxmlformats.org/drawingml/2006/main" noGrp="1"/>
          </p:cNvSpPr>
          <p:nvPr/>
        </p:nvSpPr>
        <p:spPr>
          <a:xfrm xmlns:a="http://schemas.openxmlformats.org/drawingml/2006/main" rot="0" flipH="0" flipV="0">
            <a:off x="8096250" y="5788025"/>
            <a:ext cx="1996440" cy="64516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marL="0" indent="0">
              <a:buNone/>
            </a:pPr>
            <a:r>
              <a:rPr sz="1800" b="1">
                <a:solidFill>
                  <a:srgbClr val="FF0000"/>
                </a:solidFill>
                <a:latin typeface="Times New Roman"/>
                <a:ea typeface="Times New Roman"/>
                <a:cs typeface="Times New Roman"/>
              </a:rPr>
              <a:t>利用特征地图优化前端定位</a:t>
            </a:r>
          </a:p>
        </p:txBody>
      </p:sp>
      <p:cxnSp>
        <p:nvCxnSpPr>
          <p:cNvPr id="34" name="直接箭头连接符 16"/>
          <p:cNvCxnSpPr>
            <a:stCxn xmlns:a="http://schemas.openxmlformats.org/drawingml/2006/main" id="15" idx="3"/>
            <a:endCxn xmlns:a="http://schemas.openxmlformats.org/drawingml/2006/main" id="16" idx="1"/>
          </p:cNvCxnSpPr>
          <p:nvPr/>
        </p:nvCxnSpPr>
        <p:spPr>
          <a:xfrm xmlns:a="http://schemas.openxmlformats.org/drawingml/2006/main" rot="0" flipH="0" flipV="0">
            <a:off x="7240905" y="6073140"/>
            <a:ext cx="855345" cy="0"/>
          </a:xfrm>
          <a:prstGeom xmlns:a="http://schemas.openxmlformats.org/drawingml/2006/main" prst="straightConnector1">
            <a:avLst/>
          </a:prstGeom>
          <a:ln xmlns:a="http://schemas.openxmlformats.org/drawingml/2006/main" w="28575" cap="flat">
            <a:solidFill>
              <a:srgbClr val="FF0000"/>
            </a:solidFill>
            <a:prstDash val="solid"/>
            <a:round/>
            <a:headEnd type="none" w="med" len="med"/>
            <a:tailEnd type="arrow" w="med" len="med"/>
          </a:ln>
        </p:spPr>
      </p:cxnSp>
      <p:sp>
        <p:nvSpPr>
          <p:cNvPr id="13" name="文本框 12">
            <a:extLst xmlns:a="http://schemas.openxmlformats.org/drawingml/2006/main">
              <a:ext uri="{FF2B5EF4-FFF2-40B4-BE49-F238E27FC236}">
                <a16:creationId xmlns:a16="http://schemas.microsoft.com/office/drawing/2014/main" id="{6F552143-68A7-F4DE-DB33-A7FECFCB3514}"/>
              </a:ext>
            </a:extLst>
          </p:cNvPr>
          <p:cNvSpPr>
            <a:spLocks xmlns:a="http://schemas.openxmlformats.org/drawingml/2006/main" noGrp="1"/>
          </p:cNvSpPr>
          <p:nvPr/>
        </p:nvSpPr>
        <p:spPr>
          <a:xfrm xmlns:a="http://schemas.openxmlformats.org/drawingml/2006/main" rot="0" flipH="0" flipV="0">
            <a:off x="341630" y="5508625"/>
            <a:ext cx="188468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marL="0" indent="127000">
              <a:buNone/>
            </a:pPr>
            <a:r>
              <a:rPr sz="1800" b="1">
                <a:latin typeface="Times New Roman"/>
                <a:ea typeface="Times New Roman"/>
                <a:cs typeface="Times New Roman"/>
              </a:rPr>
              <a:t>反馈给前端：</a:t>
            </a:r>
          </a:p>
        </p:txBody>
      </p:sp>
    </p:spTree>
    <p:extLst>
      <p:ext uri="{BB962C8B-B14F-4D97-AF65-F5344CB8AC3E}">
        <p14:creationId xmlns:p14="http://schemas.microsoft.com/office/powerpoint/2010/main" val="1108778261"/>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pic>
        <p:nvPicPr>
          <p:cNvPr id="23" name="图片 19"/>
          <p:cNvPicPr>
            <a:picLocks xmlns:a="http://schemas.openxmlformats.org/drawingml/2006/main" noChangeAspect="1"/>
          </p:cNvPicPr>
          <p:nvPr/>
        </p:nvPicPr>
        <p:blipFill>
          <a:blip xmlns:r="http://schemas.openxmlformats.org/officeDocument/2006/relationships" xmlns:a="http://schemas.openxmlformats.org/drawingml/2006/main" r:embed="R4c7d7502165b44c6"/>
          <a:srcRect xmlns:a="http://schemas.openxmlformats.org/drawingml/2006/main" l="0" t="0" r="0" b="0"/>
          <a:stretch xmlns:a="http://schemas.openxmlformats.org/drawingml/2006/main">
            <a:fillRect l="0" t="0" r="0" b="0"/>
          </a:stretch>
        </p:blipFill>
        <p:spPr>
          <a:xfrm xmlns:a="http://schemas.openxmlformats.org/drawingml/2006/main">
            <a:off x="400050" y="1492885"/>
            <a:ext cx="4966970" cy="4023995"/>
          </a:xfrm>
          <a:prstGeom xmlns:a="http://schemas.openxmlformats.org/drawingml/2006/main" prst="rect">
            <a:avLst/>
          </a:prstGeom>
          <a:ln xmlns:a="http://schemas.openxmlformats.org/drawingml/2006/main">
            <a:noFill/>
          </a:ln>
        </p:spPr>
      </p:pic>
      <p:sp>
        <p:nvSpPr>
          <p:cNvPr id="3" name="文本框 2">
            <a:extLst xmlns:a="http://schemas.openxmlformats.org/drawingml/2006/main">
              <a:ext uri="{FF2B5EF4-FFF2-40B4-BE49-F238E27FC236}">
                <a16:creationId xmlns:a16="http://schemas.microsoft.com/office/drawing/2014/main" id="{E017AC7E-0750-417A-E6E8-6C178312916F}"/>
              </a:ext>
            </a:extLst>
          </p:cNvPr>
          <p:cNvSpPr>
            <a:spLocks xmlns:a="http://schemas.openxmlformats.org/drawingml/2006/main" noGrp="1"/>
          </p:cNvSpPr>
          <p:nvPr/>
        </p:nvSpPr>
        <p:spPr>
          <a:xfrm xmlns:a="http://schemas.openxmlformats.org/drawingml/2006/main">
            <a:off x="986155" y="5633720"/>
            <a:ext cx="3701415"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marL="0" indent="127000" algn="ctr">
              <a:buNone/>
            </a:pPr>
            <a:r>
              <a:rPr sz="1800" b="0">
                <a:latin typeface="Times New Roman"/>
                <a:ea typeface="Times New Roman"/>
                <a:cs typeface="Times New Roman"/>
              </a:rPr>
              <a:t>可视区域与共视区域示意图</a:t>
            </a:r>
            <a:endParaRPr sz="1800" b="0">
              <a:latin typeface="Times New Roman"/>
              <a:ea typeface="Times New Roman"/>
              <a:cs typeface="Times New Roman"/>
            </a:endParaRPr>
          </a:p>
        </p:txBody>
      </p:sp>
      <p:pic>
        <p:nvPicPr>
          <p:cNvPr id="25" name="图片 24"/>
          <p:cNvPicPr>
            <a:picLocks xmlns:a="http://schemas.openxmlformats.org/drawingml/2006/main" noChangeAspect="1"/>
          </p:cNvPicPr>
          <p:nvPr/>
        </p:nvPicPr>
        <p:blipFill>
          <a:blip xmlns:r="http://schemas.openxmlformats.org/officeDocument/2006/relationships" xmlns:a="http://schemas.openxmlformats.org/drawingml/2006/main" r:embed="R8ee02f87e7f1485a"/>
          <a:stretch xmlns:a="http://schemas.openxmlformats.org/drawingml/2006/main">
            <a:fillRect l="0" t="0" r="0" b="0"/>
          </a:stretch>
        </p:blipFill>
        <p:spPr>
          <a:xfrm xmlns:a="http://schemas.openxmlformats.org/drawingml/2006/main" rot="0" flipH="0" flipV="0">
            <a:off x="5549900" y="1031875"/>
            <a:ext cx="4067175" cy="1445895"/>
          </a:xfrm>
          <a:prstGeom xmlns:a="http://schemas.openxmlformats.org/drawingml/2006/main" prst="rect">
            <a:avLst/>
          </a:prstGeom>
        </p:spPr>
      </p:pic>
      <p:pic>
        <p:nvPicPr>
          <p:cNvPr id="26" name="图片 25"/>
          <p:cNvPicPr>
            <a:picLocks xmlns:a="http://schemas.openxmlformats.org/drawingml/2006/main" noChangeAspect="1"/>
          </p:cNvPicPr>
          <p:nvPr/>
        </p:nvPicPr>
        <p:blipFill>
          <a:blip xmlns:r="http://schemas.openxmlformats.org/officeDocument/2006/relationships" xmlns:a="http://schemas.openxmlformats.org/drawingml/2006/main" r:embed="Rab3d47d52dff4e3d"/>
          <a:stretch xmlns:a="http://schemas.openxmlformats.org/drawingml/2006/main">
            <a:fillRect l="0" t="0" r="0" b="0"/>
          </a:stretch>
        </p:blipFill>
        <p:spPr>
          <a:xfrm xmlns:a="http://schemas.openxmlformats.org/drawingml/2006/main" rot="0" flipH="0" flipV="0">
            <a:off x="9698355" y="1010285"/>
            <a:ext cx="2246630" cy="1467485"/>
          </a:xfrm>
          <a:prstGeom xmlns:a="http://schemas.openxmlformats.org/drawingml/2006/main" prst="rect">
            <a:avLst/>
          </a:prstGeom>
        </p:spPr>
      </p:pic>
      <p:sp>
        <p:nvSpPr>
          <p:cNvPr id="11" name="文本框 10">
            <a:extLst xmlns:a="http://schemas.openxmlformats.org/drawingml/2006/main">
              <a:ext uri="{FF2B5EF4-FFF2-40B4-BE49-F238E27FC236}">
                <a16:creationId xmlns:a16="http://schemas.microsoft.com/office/drawing/2014/main" id="{96CB4CFB-3B7A-25BE-BCE5-8454822A7B81}"/>
              </a:ext>
            </a:extLst>
          </p:cNvPr>
          <p:cNvSpPr>
            <a:spLocks xmlns:a="http://schemas.openxmlformats.org/drawingml/2006/main" noGrp="1"/>
          </p:cNvSpPr>
          <p:nvPr/>
        </p:nvSpPr>
        <p:spPr>
          <a:xfrm xmlns:a="http://schemas.openxmlformats.org/drawingml/2006/main" rot="0" flipH="0" flipV="0">
            <a:off x="5618480" y="2477770"/>
            <a:ext cx="3629025" cy="27559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marL="0" indent="0">
              <a:buNone/>
            </a:pPr>
            <a:r>
              <a:rPr sz="1200" b="0">
                <a:latin typeface="Times New Roman"/>
                <a:ea typeface="Times New Roman"/>
                <a:cs typeface="Times New Roman"/>
              </a:rPr>
              <a:t>可观测区域划定（左）错误划定；（右）正确划定</a:t>
            </a:r>
            <a:endParaRPr sz="1200" b="0">
              <a:latin typeface="Times New Roman"/>
              <a:ea typeface="Times New Roman"/>
              <a:cs typeface="Times New Roman"/>
            </a:endParaRPr>
          </a:p>
        </p:txBody>
      </p:sp>
      <p:sp>
        <p:nvSpPr>
          <p:cNvPr id="12" name="文本框 11">
            <a:extLst xmlns:a="http://schemas.openxmlformats.org/drawingml/2006/main">
              <a:ext uri="{FF2B5EF4-FFF2-40B4-BE49-F238E27FC236}">
                <a16:creationId xmlns:a16="http://schemas.microsoft.com/office/drawing/2014/main" id="{05D5A313-80AF-1327-541D-667474457668}"/>
              </a:ext>
            </a:extLst>
          </p:cNvPr>
          <p:cNvSpPr>
            <a:spLocks xmlns:a="http://schemas.openxmlformats.org/drawingml/2006/main" noGrp="1"/>
          </p:cNvSpPr>
          <p:nvPr/>
        </p:nvSpPr>
        <p:spPr>
          <a:xfrm xmlns:a="http://schemas.openxmlformats.org/drawingml/2006/main" rot="0" flipH="0" flipV="0">
            <a:off x="9911715" y="2477770"/>
            <a:ext cx="1655445" cy="27559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marL="0" indent="127000" algn="ctr">
              <a:buNone/>
            </a:pPr>
            <a:r>
              <a:rPr sz="1200" b="0">
                <a:latin typeface="Times New Roman"/>
                <a:ea typeface="Times New Roman"/>
                <a:cs typeface="Times New Roman"/>
              </a:rPr>
              <a:t>重叠区域面积计算</a:t>
            </a:r>
            <a:endParaRPr/>
          </a:p>
        </p:txBody>
      </p:sp>
      <p:pic>
        <p:nvPicPr>
          <p:cNvPr id="29" name="图片 6"/>
          <p:cNvPicPr>
            <a:picLocks xmlns:a="http://schemas.openxmlformats.org/drawingml/2006/main" noChangeAspect="1"/>
          </p:cNvPicPr>
          <p:nvPr/>
        </p:nvPicPr>
        <p:blipFill>
          <a:blip xmlns:r="http://schemas.openxmlformats.org/officeDocument/2006/relationships" xmlns:a="http://schemas.openxmlformats.org/drawingml/2006/main" r:embed="Rf80618e0135a4155"/>
          <a:stretch xmlns:a="http://schemas.openxmlformats.org/drawingml/2006/main">
            <a:fillRect l="0" t="0" r="0" b="0"/>
          </a:stretch>
        </p:blipFill>
        <p:spPr>
          <a:xfrm xmlns:a="http://schemas.openxmlformats.org/drawingml/2006/main" rot="0" flipH="0" flipV="0">
            <a:off x="8085455" y="2868930"/>
            <a:ext cx="1422400" cy="466090"/>
          </a:xfrm>
          <a:prstGeom xmlns:a="http://schemas.openxmlformats.org/drawingml/2006/main" prst="rect">
            <a:avLst/>
          </a:prstGeom>
          <a:ln xmlns:a="http://schemas.openxmlformats.org/drawingml/2006/main" w="9525">
            <a:noFill/>
          </a:ln>
        </p:spPr>
      </p:pic>
      <p:sp>
        <p:nvSpPr>
          <p:cNvPr id="8" name="文本框 7">
            <a:extLst xmlns:a="http://schemas.openxmlformats.org/drawingml/2006/main">
              <a:ext uri="{FF2B5EF4-FFF2-40B4-BE49-F238E27FC236}">
                <a16:creationId xmlns:a16="http://schemas.microsoft.com/office/drawing/2014/main" id="{73E0C25C-DC53-E2BD-6921-6BE09FA18260}"/>
              </a:ext>
            </a:extLst>
          </p:cNvPr>
          <p:cNvSpPr>
            <a:spLocks xmlns:a="http://schemas.openxmlformats.org/drawingml/2006/main" noGrp="1"/>
          </p:cNvSpPr>
          <p:nvPr/>
        </p:nvSpPr>
        <p:spPr>
          <a:xfrm xmlns:a="http://schemas.openxmlformats.org/drawingml/2006/main" rot="0" flipH="0" flipV="0">
            <a:off x="6890385" y="2952750"/>
            <a:ext cx="1084580" cy="33718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marL="0" indent="127000" algn="ctr">
              <a:buNone/>
            </a:pPr>
            <a:r>
              <a:rPr sz="1600" b="0">
                <a:latin typeface="Times New Roman"/>
                <a:ea typeface="Times New Roman"/>
                <a:cs typeface="Times New Roman"/>
              </a:rPr>
              <a:t>重叠率：</a:t>
            </a:r>
            <a:endParaRPr sz="1600"/>
          </a:p>
        </p:txBody>
      </p:sp>
      <p:pic>
        <p:nvPicPr>
          <p:cNvPr id="31" name="图片 1"/>
          <p:cNvPicPr>
            <a:picLocks xmlns:a="http://schemas.openxmlformats.org/drawingml/2006/main" noChangeAspect="1"/>
          </p:cNvPicPr>
          <p:nvPr/>
        </p:nvPicPr>
        <p:blipFill>
          <a:blip xmlns:r="http://schemas.openxmlformats.org/officeDocument/2006/relationships" xmlns:a="http://schemas.openxmlformats.org/drawingml/2006/main" r:embed="R9ea2d2d3105f41c7"/>
          <a:stretch xmlns:a="http://schemas.openxmlformats.org/drawingml/2006/main">
            <a:fillRect l="0" t="0" r="0" b="0"/>
          </a:stretch>
        </p:blipFill>
        <p:spPr>
          <a:xfrm xmlns:a="http://schemas.openxmlformats.org/drawingml/2006/main" rot="0" flipH="0" flipV="0">
            <a:off x="4687570" y="3498850"/>
            <a:ext cx="3975735" cy="2982595"/>
          </a:xfrm>
          <a:prstGeom xmlns:a="http://schemas.openxmlformats.org/drawingml/2006/main" prst="rect">
            <a:avLst/>
          </a:prstGeom>
        </p:spPr>
      </p:pic>
      <p:pic>
        <p:nvPicPr>
          <p:cNvPr id="32" name="图片 5"/>
          <p:cNvPicPr>
            <a:picLocks xmlns:a="http://schemas.openxmlformats.org/drawingml/2006/main" noChangeAspect="1"/>
          </p:cNvPicPr>
          <p:nvPr/>
        </p:nvPicPr>
        <p:blipFill>
          <a:blip xmlns:r="http://schemas.openxmlformats.org/officeDocument/2006/relationships" xmlns:a="http://schemas.openxmlformats.org/drawingml/2006/main" r:embed="Rd78b5ba9114240a4"/>
          <a:srcRect xmlns:a="http://schemas.openxmlformats.org/drawingml/2006/main" l="0" t="0" r="0" b="0"/>
          <a:stretch xmlns:a="http://schemas.openxmlformats.org/drawingml/2006/main">
            <a:fillRect l="0" t="0" r="0" b="0"/>
          </a:stretch>
        </p:blipFill>
        <p:spPr>
          <a:xfrm xmlns:a="http://schemas.openxmlformats.org/drawingml/2006/main" rot="0" flipH="0" flipV="0">
            <a:off x="8504555" y="3667125"/>
            <a:ext cx="3698875" cy="2773045"/>
          </a:xfrm>
          <a:prstGeom xmlns:a="http://schemas.openxmlformats.org/drawingml/2006/main" prst="rect">
            <a:avLst/>
          </a:prstGeom>
          <a:ln xmlns:a="http://schemas.openxmlformats.org/drawingml/2006/main">
            <a:noFill/>
          </a:ln>
        </p:spPr>
      </p:pic>
      <p:sp>
        <p:nvSpPr>
          <p:cNvPr id="16" name="文本框 15">
            <a:extLst xmlns:a="http://schemas.openxmlformats.org/drawingml/2006/main">
              <a:ext uri="{FF2B5EF4-FFF2-40B4-BE49-F238E27FC236}">
                <a16:creationId xmlns:a16="http://schemas.microsoft.com/office/drawing/2014/main" id="{EE221BDB-F427-AAAB-F8AE-630045C8D8CC}"/>
              </a:ext>
            </a:extLst>
          </p:cNvPr>
          <p:cNvSpPr>
            <a:spLocks xmlns:a="http://schemas.openxmlformats.org/drawingml/2006/main" noGrp="1"/>
          </p:cNvSpPr>
          <p:nvPr/>
        </p:nvSpPr>
        <p:spPr>
          <a:xfrm xmlns:a="http://schemas.openxmlformats.org/drawingml/2006/main" rot="0" flipH="0" flipV="0">
            <a:off x="5960110" y="3450590"/>
            <a:ext cx="508000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spAutoFit/>
          </a:bodyPr>
          <a:lstStyle xmlns:a="http://schemas.openxmlformats.org/drawingml/2006/main"/>
          <a:p xmlns:a="http://schemas.openxmlformats.org/drawingml/2006/main">
            <a:pPr marL="0" indent="127000" algn="ctr">
              <a:buNone/>
            </a:pPr>
            <a:r>
              <a:rPr sz="1800" b="0"/>
              <a:t>距离和高度对重叠率的影响</a:t>
            </a:r>
            <a:endParaRPr sz="1800"/>
          </a:p>
        </p:txBody>
      </p:sp>
    </p:spTree>
    <p:extLst>
      <p:ext uri="{BB962C8B-B14F-4D97-AF65-F5344CB8AC3E}">
        <p14:creationId xmlns:p14="http://schemas.microsoft.com/office/powerpoint/2010/main" val="1803242278"/>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6" name="文本框 5">
            <a:extLst xmlns:a="http://schemas.openxmlformats.org/drawingml/2006/main">
              <a:ext uri="{FF2B5EF4-FFF2-40B4-BE49-F238E27FC236}">
                <a16:creationId xmlns:a16="http://schemas.microsoft.com/office/drawing/2014/main" id="{E1C89855-52F2-111F-C73E-0A769B364EC8}"/>
              </a:ext>
            </a:extLst>
          </p:cNvPr>
          <p:cNvSpPr>
            <a:spLocks xmlns:a="http://schemas.openxmlformats.org/drawingml/2006/main" noGrp="1"/>
          </p:cNvSpPr>
          <p:nvPr/>
        </p:nvSpPr>
        <p:spPr>
          <a:xfrm xmlns:a="http://schemas.openxmlformats.org/drawingml/2006/main">
            <a:off x="1015139" y="959579"/>
            <a:ext cx="10190136" cy="534210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15000"/>
              </a:lnSpc>
              <a:spcAft>
                <a:spcPts val="800"/>
              </a:spcAft>
              <a:buNone/>
            </a:pPr>
            <a:r>
              <a:rPr sz="2000">
                <a:latin typeface="等线"/>
                <a:ea typeface="等线"/>
                <a:cs typeface="等线"/>
              </a:rPr>
              <a:t>        </a:t>
            </a:r>
            <a:r>
              <a:rPr sz="2000">
                <a:latin typeface="微软雅黑"/>
                <a:ea typeface="微软雅黑"/>
                <a:cs typeface="微软雅黑"/>
              </a:rPr>
              <a:t>多机器人集群</a:t>
            </a:r>
            <a:r>
              <a:rPr sz="2000">
                <a:latin typeface="微软雅黑"/>
                <a:ea typeface="微软雅黑"/>
                <a:cs typeface="微软雅黑"/>
              </a:rPr>
              <a:t>执行任务前需要校准所有节点在当地地理系下的坐标（以任意一个节点所在位置为原点）。通常高度上的估计可以通过气压计给出，因此建立通信的节点之间的相对高度是已知量。因此，三维空间中的位置校准问题多机器人集群在转换为了二维平面上的位置校准问题。</a:t>
            </a:r>
            <a:endParaRPr sz="2000" kern="100">
              <a:latin typeface="微软雅黑"/>
              <a:ea typeface="微软雅黑"/>
              <a:cs typeface="微软雅黑"/>
            </a:endParaRPr>
          </a:p>
          <a:p xmlns:a="http://schemas.openxmlformats.org/drawingml/2006/main">
            <a:pPr>
              <a:lnSpc>
                <a:spcPct val="115000"/>
              </a:lnSpc>
              <a:spcAft>
                <a:spcPts val="800"/>
              </a:spcAft>
              <a:buNone/>
            </a:pPr>
            <a:r>
              <a:t>        </a:t>
            </a:r>
            <a:r>
              <a:t>在一个二维平面中的一个机器人集群，将其视为无大小的质点，节点个数为</a:t>
            </a:r>
            <a:r>
              <a:t>                  </a:t>
            </a:r>
            <a:r>
              <a:t>，用</a:t>
            </a:r>
            <a:endParaRPr/>
          </a:p>
          <a:p xmlns:a="http://schemas.openxmlformats.org/drawingml/2006/main">
            <a:pPr>
              <a:lnSpc>
                <a:spcPct val="115000"/>
              </a:lnSpc>
              <a:spcAft>
                <a:spcPts val="800"/>
              </a:spcAft>
              <a:buNone/>
            </a:pPr>
            <a:r>
              <a:rPr sz="2000">
                <a:latin typeface="微软雅黑"/>
                <a:ea typeface="微软雅黑"/>
                <a:cs typeface="微软雅黑"/>
              </a:rPr>
              <a:t>                      </a:t>
            </a:r>
            <a:r>
              <a:rPr sz="2000">
                <a:latin typeface="微软雅黑"/>
                <a:ea typeface="微软雅黑"/>
                <a:cs typeface="微软雅黑"/>
              </a:rPr>
              <a:t>表示</a:t>
            </a:r>
            <a:r>
              <a:rPr sz="2000">
                <a:latin typeface="+mj-ea"/>
                <a:ea typeface="+mj-ea"/>
                <a:cs typeface="+mj-ea"/>
              </a:rPr>
              <a:t>,</a:t>
            </a:r>
            <a:r>
              <a:rPr sz="2000">
                <a:latin typeface="+mj-ea"/>
                <a:ea typeface="+mj-ea"/>
                <a:cs typeface="+mj-ea"/>
              </a:rPr>
              <a:t>节点真实位置</a:t>
            </a:r>
            <a:r>
              <a:rPr sz="2000">
                <a:latin typeface="+mj-ea"/>
                <a:ea typeface="+mj-ea"/>
                <a:cs typeface="+mj-ea"/>
              </a:rPr>
              <a:t>                            ,    </a:t>
            </a:r>
            <a:r>
              <a:rPr sz="2000">
                <a:latin typeface="+mj-ea"/>
                <a:ea typeface="+mj-ea"/>
                <a:cs typeface="+mj-ea"/>
              </a:rPr>
              <a:t>与     </a:t>
            </a:r>
            <a:r>
              <a:t>的测得距离记为</a:t>
            </a:r>
            <a:r>
              <a:t>      </a:t>
            </a:r>
          </a:p>
          <a:p xmlns:a="http://schemas.openxmlformats.org/drawingml/2006/main">
            <a:pPr>
              <a:lnSpc>
                <a:spcPct val="115000"/>
              </a:lnSpc>
              <a:spcAft>
                <a:spcPts val="800"/>
              </a:spcAft>
              <a:buNone/>
            </a:pPr>
            <a:endParaRPr sz="2000" kern="100">
              <a:latin typeface="+mj-ea"/>
              <a:ea typeface="+mj-ea"/>
              <a:cs typeface="+mj-ea"/>
            </a:endParaRPr>
          </a:p>
          <a:p xmlns:a="http://schemas.openxmlformats.org/drawingml/2006/main">
            <a:pPr>
              <a:lnSpc>
                <a:spcPct val="115000"/>
              </a:lnSpc>
              <a:spcAft>
                <a:spcPts val="800"/>
              </a:spcAft>
              <a:buNone/>
            </a:pPr>
            <a:r>
              <a:t>其中，</a:t>
            </a:r>
            <a:r>
              <a:t>     </a:t>
            </a:r>
            <a:r>
              <a:t>为真实距离</a:t>
            </a:r>
            <a:r>
              <a:t>，    </a:t>
            </a:r>
            <a:r>
              <a:t>为测距噪声。</a:t>
            </a:r>
            <a:endParaRPr/>
          </a:p>
          <a:p xmlns:a="http://schemas.openxmlformats.org/drawingml/2006/main">
            <a:pPr>
              <a:lnSpc>
                <a:spcPct val="115000"/>
              </a:lnSpc>
              <a:spcAft>
                <a:spcPts val="800"/>
              </a:spcAft>
              <a:buNone/>
            </a:pPr>
            <a:r>
              <a:t>由测得距离构建距离矩阵记为</a:t>
            </a:r>
            <a:r>
              <a:t>D</a:t>
            </a:r>
          </a:p>
          <a:p xmlns:a="http://schemas.openxmlformats.org/drawingml/2006/main">
            <a:pPr>
              <a:lnSpc>
                <a:spcPct val="115000"/>
              </a:lnSpc>
              <a:spcAft>
                <a:spcPts val="800"/>
              </a:spcAft>
              <a:buNone/>
            </a:pPr>
            <a:endParaRPr/>
          </a:p>
          <a:p xmlns:a="http://schemas.openxmlformats.org/drawingml/2006/main">
            <a:pPr>
              <a:lnSpc>
                <a:spcPct val="115000"/>
              </a:lnSpc>
              <a:spcAft>
                <a:spcPts val="800"/>
              </a:spcAft>
              <a:buNone/>
            </a:pPr>
            <a:endParaRPr/>
          </a:p>
          <a:p xmlns:a="http://schemas.openxmlformats.org/drawingml/2006/main">
            <a:pPr>
              <a:lnSpc>
                <a:spcPct val="115000"/>
              </a:lnSpc>
              <a:spcAft>
                <a:spcPts val="800"/>
              </a:spcAft>
              <a:buNone/>
            </a:pPr>
            <a:endParaRPr/>
          </a:p>
          <a:p xmlns:a="http://schemas.openxmlformats.org/drawingml/2006/main">
            <a:pPr>
              <a:lnSpc>
                <a:spcPct val="115000"/>
              </a:lnSpc>
              <a:spcAft>
                <a:spcPts val="800"/>
              </a:spcAft>
              <a:buNone/>
            </a:pPr>
            <a:r>
              <a:t>其中，</a:t>
            </a:r>
            <a:r>
              <a:t>    </a:t>
            </a:r>
            <a:r>
              <a:t>为距离矩阵</a:t>
            </a:r>
            <a:r>
              <a:t>D</a:t>
            </a:r>
            <a:r>
              <a:t>的第</a:t>
            </a:r>
            <a:r>
              <a:t>i</a:t>
            </a:r>
            <a:r>
              <a:t>行、第</a:t>
            </a:r>
            <a:r>
              <a:t>j</a:t>
            </a:r>
            <a:r>
              <a:t>列的元素。</a:t>
            </a:r>
            <a:endParaRPr/>
          </a:p>
        </p:txBody>
      </p:sp>
      <p:pic>
        <p:nvPicPr>
          <p:cNvPr id="17" name="图片 12"/>
          <p:cNvPicPr>
            <a:picLocks xmlns:a="http://schemas.openxmlformats.org/drawingml/2006/main" noChangeAspect="1"/>
          </p:cNvPicPr>
          <p:nvPr/>
        </p:nvPicPr>
        <p:blipFill>
          <a:blip xmlns:r="http://schemas.openxmlformats.org/officeDocument/2006/relationships" xmlns:a="http://schemas.openxmlformats.org/drawingml/2006/main" r:embed="R1a574bc917804f0e"/>
          <a:srcRect xmlns:a="http://schemas.openxmlformats.org/drawingml/2006/main" l="0" t="0" r="0" b="0"/>
          <a:stretch xmlns:a="http://schemas.openxmlformats.org/drawingml/2006/main">
            <a:fillRect l="0" t="0" r="0" b="0"/>
          </a:stretch>
        </p:blipFill>
        <p:spPr>
          <a:xfrm xmlns:a="http://schemas.openxmlformats.org/drawingml/2006/main">
            <a:off x="4838796" y="2816824"/>
            <a:ext cx="2058100" cy="484955"/>
          </a:xfrm>
          <a:prstGeom xmlns:a="http://schemas.openxmlformats.org/drawingml/2006/main" prst="rect">
            <a:avLst/>
          </a:prstGeom>
          <a:ln xmlns:a="http://schemas.openxmlformats.org/drawingml/2006/main">
            <a:noFill/>
          </a:ln>
        </p:spPr>
      </p:pic>
      <p:pic>
        <p:nvPicPr>
          <p:cNvPr id="18" name="图片 13"/>
          <p:cNvPicPr>
            <a:picLocks xmlns:a="http://schemas.openxmlformats.org/drawingml/2006/main" noChangeAspect="1"/>
          </p:cNvPicPr>
          <p:nvPr/>
        </p:nvPicPr>
        <p:blipFill>
          <a:blip xmlns:r="http://schemas.openxmlformats.org/officeDocument/2006/relationships" xmlns:a="http://schemas.openxmlformats.org/drawingml/2006/main" r:embed="R7bf4925fc4f340c7"/>
          <a:srcRect xmlns:a="http://schemas.openxmlformats.org/drawingml/2006/main" l="0" t="0" r="0" b="0"/>
          <a:stretch xmlns:a="http://schemas.openxmlformats.org/drawingml/2006/main">
            <a:fillRect l="0" t="0" r="0" b="0"/>
          </a:stretch>
        </p:blipFill>
        <p:spPr>
          <a:xfrm xmlns:a="http://schemas.openxmlformats.org/drawingml/2006/main">
            <a:off x="6967531" y="2766465"/>
            <a:ext cx="391693" cy="535314"/>
          </a:xfrm>
          <a:prstGeom xmlns:a="http://schemas.openxmlformats.org/drawingml/2006/main" prst="rect">
            <a:avLst/>
          </a:prstGeom>
          <a:ln xmlns:a="http://schemas.openxmlformats.org/drawingml/2006/main">
            <a:noFill/>
          </a:ln>
        </p:spPr>
      </p:pic>
      <p:pic>
        <p:nvPicPr>
          <p:cNvPr id="19" name="图片 14"/>
          <p:cNvPicPr>
            <a:picLocks xmlns:a="http://schemas.openxmlformats.org/drawingml/2006/main" noChangeAspect="1"/>
          </p:cNvPicPr>
          <p:nvPr/>
        </p:nvPicPr>
        <p:blipFill>
          <a:blip xmlns:r="http://schemas.openxmlformats.org/officeDocument/2006/relationships" xmlns:a="http://schemas.openxmlformats.org/drawingml/2006/main" r:embed="Rbcde4957a6f7401d"/>
          <a:srcRect xmlns:a="http://schemas.openxmlformats.org/drawingml/2006/main" l="0" t="0" r="0" b="0"/>
          <a:stretch xmlns:a="http://schemas.openxmlformats.org/drawingml/2006/main">
            <a:fillRect l="0" t="0" r="0" b="0"/>
          </a:stretch>
        </p:blipFill>
        <p:spPr>
          <a:xfrm xmlns:a="http://schemas.openxmlformats.org/drawingml/2006/main">
            <a:off x="7560080" y="2773255"/>
            <a:ext cx="391693" cy="535314"/>
          </a:xfrm>
          <a:prstGeom xmlns:a="http://schemas.openxmlformats.org/drawingml/2006/main" prst="rect">
            <a:avLst/>
          </a:prstGeom>
          <a:ln xmlns:a="http://schemas.openxmlformats.org/drawingml/2006/main">
            <a:noFill/>
          </a:ln>
        </p:spPr>
      </p:pic>
      <p:pic>
        <p:nvPicPr>
          <p:cNvPr id="20" name="图片 16"/>
          <p:cNvPicPr>
            <a:picLocks xmlns:a="http://schemas.openxmlformats.org/drawingml/2006/main" noChangeAspect="1"/>
          </p:cNvPicPr>
          <p:nvPr/>
        </p:nvPicPr>
        <p:blipFill>
          <a:blip xmlns:r="http://schemas.openxmlformats.org/officeDocument/2006/relationships" xmlns:a="http://schemas.openxmlformats.org/drawingml/2006/main" r:embed="R01757802644344d0"/>
          <a:srcRect xmlns:a="http://schemas.openxmlformats.org/drawingml/2006/main" l="0" t="0" r="0" b="0"/>
          <a:stretch xmlns:a="http://schemas.openxmlformats.org/drawingml/2006/main">
            <a:fillRect l="0" t="0" r="0" b="0"/>
          </a:stretch>
        </p:blipFill>
        <p:spPr>
          <a:xfrm xmlns:a="http://schemas.openxmlformats.org/drawingml/2006/main">
            <a:off x="9530153" y="2831774"/>
            <a:ext cx="391693" cy="535314"/>
          </a:xfrm>
          <a:prstGeom xmlns:a="http://schemas.openxmlformats.org/drawingml/2006/main" prst="rect">
            <a:avLst/>
          </a:prstGeom>
          <a:ln xmlns:a="http://schemas.openxmlformats.org/drawingml/2006/main">
            <a:noFill/>
          </a:ln>
        </p:spPr>
      </p:pic>
      <p:pic>
        <p:nvPicPr>
          <p:cNvPr id="21" name="图片 17"/>
          <p:cNvPicPr>
            <a:picLocks xmlns:a="http://schemas.openxmlformats.org/drawingml/2006/main" noChangeAspect="1"/>
          </p:cNvPicPr>
          <p:nvPr/>
        </p:nvPicPr>
        <p:blipFill>
          <a:blip xmlns:r="http://schemas.openxmlformats.org/officeDocument/2006/relationships" xmlns:a="http://schemas.openxmlformats.org/drawingml/2006/main" r:embed="R5794e2aee55a417f"/>
          <a:srcRect xmlns:a="http://schemas.openxmlformats.org/drawingml/2006/main" l="0" t="0" r="0" b="0"/>
          <a:stretch xmlns:a="http://schemas.openxmlformats.org/drawingml/2006/main">
            <a:fillRect l="0" t="0" r="0" b="0"/>
          </a:stretch>
        </p:blipFill>
        <p:spPr>
          <a:xfrm xmlns:a="http://schemas.openxmlformats.org/drawingml/2006/main">
            <a:off x="3971675" y="3240100"/>
            <a:ext cx="3893050" cy="618663"/>
          </a:xfrm>
          <a:prstGeom xmlns:a="http://schemas.openxmlformats.org/drawingml/2006/main" prst="rect">
            <a:avLst/>
          </a:prstGeom>
          <a:ln xmlns:a="http://schemas.openxmlformats.org/drawingml/2006/main">
            <a:noFill/>
          </a:ln>
        </p:spPr>
      </p:pic>
      <p:pic>
        <p:nvPicPr>
          <p:cNvPr id="22" name="图片 27"/>
          <p:cNvPicPr>
            <a:picLocks xmlns:a="http://schemas.openxmlformats.org/drawingml/2006/main" noChangeAspect="1"/>
          </p:cNvPicPr>
          <p:nvPr/>
        </p:nvPicPr>
        <p:blipFill>
          <a:blip xmlns:r="http://schemas.openxmlformats.org/officeDocument/2006/relationships" xmlns:a="http://schemas.openxmlformats.org/drawingml/2006/main" r:embed="R2e0bab2c50d14843"/>
          <a:srcRect xmlns:a="http://schemas.openxmlformats.org/drawingml/2006/main" l="0" t="0" r="0" b="0"/>
          <a:stretch xmlns:a="http://schemas.openxmlformats.org/drawingml/2006/main">
            <a:fillRect l="0" t="0" r="0" b="0"/>
          </a:stretch>
        </p:blipFill>
        <p:spPr>
          <a:xfrm xmlns:a="http://schemas.openxmlformats.org/drawingml/2006/main">
            <a:off x="1685150" y="3664885"/>
            <a:ext cx="421231" cy="575683"/>
          </a:xfrm>
          <a:prstGeom xmlns:a="http://schemas.openxmlformats.org/drawingml/2006/main" prst="rect">
            <a:avLst/>
          </a:prstGeom>
          <a:ln xmlns:a="http://schemas.openxmlformats.org/drawingml/2006/main">
            <a:noFill/>
          </a:ln>
        </p:spPr>
      </p:pic>
      <p:pic>
        <p:nvPicPr>
          <p:cNvPr id="23" name="图片 29"/>
          <p:cNvPicPr>
            <a:picLocks xmlns:a="http://schemas.openxmlformats.org/drawingml/2006/main" noChangeAspect="1"/>
          </p:cNvPicPr>
          <p:nvPr/>
        </p:nvPicPr>
        <p:blipFill>
          <a:blip xmlns:r="http://schemas.openxmlformats.org/officeDocument/2006/relationships" xmlns:a="http://schemas.openxmlformats.org/drawingml/2006/main" r:embed="Re89535da28c949d8"/>
          <a:srcRect xmlns:a="http://schemas.openxmlformats.org/drawingml/2006/main" l="0" t="0" r="0" b="0"/>
          <a:stretch xmlns:a="http://schemas.openxmlformats.org/drawingml/2006/main">
            <a:fillRect l="0" t="0" r="0" b="0"/>
          </a:stretch>
        </p:blipFill>
        <p:spPr>
          <a:xfrm xmlns:a="http://schemas.openxmlformats.org/drawingml/2006/main">
            <a:off x="3355424" y="3664884"/>
            <a:ext cx="421231" cy="575683"/>
          </a:xfrm>
          <a:prstGeom xmlns:a="http://schemas.openxmlformats.org/drawingml/2006/main" prst="rect">
            <a:avLst/>
          </a:prstGeom>
          <a:ln xmlns:a="http://schemas.openxmlformats.org/drawingml/2006/main">
            <a:noFill/>
          </a:ln>
        </p:spPr>
      </p:pic>
      <p:pic>
        <p:nvPicPr>
          <p:cNvPr id="24" name="图片 32"/>
          <p:cNvPicPr>
            <a:picLocks xmlns:a="http://schemas.openxmlformats.org/drawingml/2006/main" noChangeAspect="1"/>
          </p:cNvPicPr>
          <p:nvPr/>
        </p:nvPicPr>
        <p:blipFill>
          <a:blip xmlns:r="http://schemas.openxmlformats.org/officeDocument/2006/relationships" xmlns:a="http://schemas.openxmlformats.org/drawingml/2006/main" r:embed="R0870771c734a4677"/>
          <a:srcRect xmlns:a="http://schemas.openxmlformats.org/drawingml/2006/main" l="0" t="0" r="0" b="0"/>
          <a:stretch xmlns:a="http://schemas.openxmlformats.org/drawingml/2006/main">
            <a:fillRect l="0" t="0" r="0" b="0"/>
          </a:stretch>
        </p:blipFill>
        <p:spPr>
          <a:xfrm xmlns:a="http://schemas.openxmlformats.org/drawingml/2006/main">
            <a:off x="3788784" y="4499928"/>
            <a:ext cx="3108112" cy="1146682"/>
          </a:xfrm>
          <a:prstGeom xmlns:a="http://schemas.openxmlformats.org/drawingml/2006/main" prst="rect">
            <a:avLst/>
          </a:prstGeom>
          <a:ln xmlns:a="http://schemas.openxmlformats.org/drawingml/2006/main">
            <a:noFill/>
          </a:ln>
        </p:spPr>
      </p:pic>
      <p:pic>
        <p:nvPicPr>
          <p:cNvPr id="25" name="图片 34"/>
          <p:cNvPicPr>
            <a:picLocks xmlns:a="http://schemas.openxmlformats.org/drawingml/2006/main" noChangeAspect="1"/>
          </p:cNvPicPr>
          <p:nvPr/>
        </p:nvPicPr>
        <p:blipFill>
          <a:blip xmlns:r="http://schemas.openxmlformats.org/officeDocument/2006/relationships" xmlns:a="http://schemas.openxmlformats.org/drawingml/2006/main" r:embed="Re5237d2d50bd47aa"/>
          <a:srcRect xmlns:a="http://schemas.openxmlformats.org/drawingml/2006/main" l="0" t="0" r="0" b="0"/>
          <a:stretch xmlns:a="http://schemas.openxmlformats.org/drawingml/2006/main">
            <a:fillRect l="0" t="0" r="0" b="0"/>
          </a:stretch>
        </p:blipFill>
        <p:spPr>
          <a:xfrm xmlns:a="http://schemas.openxmlformats.org/drawingml/2006/main">
            <a:off x="1685150" y="5811936"/>
            <a:ext cx="358351" cy="48974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37434312"/>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8" name="文本框 17">
            <a:extLst xmlns:a="http://schemas.openxmlformats.org/drawingml/2006/main">
              <a:ext uri="{FF2B5EF4-FFF2-40B4-BE49-F238E27FC236}">
                <a16:creationId xmlns:a16="http://schemas.microsoft.com/office/drawing/2014/main" id="{ED78FD82-68AA-EEE1-D8E8-1C8C27BD35F5}"/>
              </a:ext>
            </a:extLst>
          </p:cNvPr>
          <p:cNvSpPr>
            <a:spLocks xmlns:a="http://schemas.openxmlformats.org/drawingml/2006/main" noGrp="1"/>
          </p:cNvSpPr>
          <p:nvPr/>
        </p:nvSpPr>
        <p:spPr>
          <a:xfrm xmlns:a="http://schemas.openxmlformats.org/drawingml/2006/main">
            <a:off x="431649" y="1107676"/>
            <a:ext cx="10362236"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266700" algn="just">
              <a:buNone/>
            </a:pPr>
            <a:r>
              <a:rPr sz="1800">
                <a:latin typeface="Times New Roman"/>
                <a:ea typeface="Times New Roman"/>
                <a:cs typeface="Times New Roman"/>
              </a:rPr>
              <a:t>中心节点移动了两次，将两次移动后的节点视为虚拟节点，记为</a:t>
            </a:r>
            <a:r>
              <a:rPr sz="1800">
                <a:latin typeface="Times New Roman"/>
                <a:ea typeface="Times New Roman"/>
                <a:cs typeface="Times New Roman"/>
              </a:rPr>
              <a:t>                    </a:t>
            </a:r>
            <a:r>
              <a:rPr sz="1800">
                <a:latin typeface="Times New Roman"/>
                <a:ea typeface="Times New Roman"/>
                <a:cs typeface="Times New Roman"/>
              </a:rPr>
              <a:t>。将三个距离矩阵</a:t>
            </a:r>
            <a:r>
              <a:rPr sz="1800">
                <a:latin typeface="Times New Roman"/>
                <a:ea typeface="Times New Roman"/>
                <a:cs typeface="Times New Roman"/>
              </a:rPr>
              <a:t>                            </a:t>
            </a:r>
            <a:r>
              <a:rPr sz="1800">
                <a:latin typeface="Times New Roman"/>
                <a:ea typeface="Times New Roman"/>
                <a:cs typeface="Times New Roman"/>
              </a:rPr>
              <a:t>融合为一个行</a:t>
            </a:r>
            <a:r>
              <a:rPr sz="1800">
                <a:latin typeface="Times New Roman"/>
                <a:ea typeface="Times New Roman"/>
                <a:cs typeface="Times New Roman"/>
              </a:rPr>
              <a:t>                </a:t>
            </a:r>
            <a:r>
              <a:rPr sz="1800">
                <a:latin typeface="Times New Roman"/>
                <a:ea typeface="Times New Roman"/>
                <a:cs typeface="Times New Roman"/>
              </a:rPr>
              <a:t>列</a:t>
            </a:r>
            <a:r>
              <a:rPr sz="1800">
                <a:latin typeface="Times New Roman"/>
                <a:ea typeface="Times New Roman"/>
                <a:cs typeface="Times New Roman"/>
              </a:rPr>
              <a:t>                 </a:t>
            </a:r>
            <a:r>
              <a:rPr sz="1800">
                <a:latin typeface="Times New Roman"/>
                <a:ea typeface="Times New Roman"/>
                <a:cs typeface="Times New Roman"/>
              </a:rPr>
              <a:t>的距离矩阵</a:t>
            </a:r>
            <a:r>
              <a:rPr sz="1800">
                <a:latin typeface="Times New Roman"/>
                <a:ea typeface="Times New Roman"/>
                <a:cs typeface="Times New Roman"/>
              </a:rPr>
              <a:t>          </a:t>
            </a:r>
            <a:r>
              <a:rPr sz="1800">
                <a:latin typeface="Times New Roman"/>
                <a:ea typeface="Times New Roman"/>
                <a:cs typeface="Times New Roman"/>
              </a:rPr>
              <a:t>，其形式如下：</a:t>
            </a:r>
          </a:p>
        </p:txBody>
      </p:sp>
      <p:sp>
        <p:nvSpPr>
          <p:cNvPr id="21" name="文本框 20">
            <a:extLst xmlns:a="http://schemas.openxmlformats.org/drawingml/2006/main">
              <a:ext uri="{FF2B5EF4-FFF2-40B4-BE49-F238E27FC236}">
                <a16:creationId xmlns:a16="http://schemas.microsoft.com/office/drawing/2014/main" id="{79F610E0-CCC8-AEC3-5983-0C7C7173B030}"/>
              </a:ext>
            </a:extLst>
          </p:cNvPr>
          <p:cNvSpPr>
            <a:spLocks xmlns:a="http://schemas.openxmlformats.org/drawingml/2006/main" noGrp="1"/>
          </p:cNvSpPr>
          <p:nvPr/>
        </p:nvSpPr>
        <p:spPr>
          <a:xfrm xmlns:a="http://schemas.openxmlformats.org/drawingml/2006/main">
            <a:off x="493325" y="3524234"/>
            <a:ext cx="9851149"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266700" algn="just">
              <a:buNone/>
            </a:pPr>
            <a:r>
              <a:rPr sz="1800">
                <a:latin typeface="Times New Roman"/>
                <a:ea typeface="Times New Roman"/>
                <a:cs typeface="Times New Roman"/>
              </a:rPr>
              <a:t>建立无约束的非线性最小二乘问题，距离为</a:t>
            </a:r>
            <a:r>
              <a:rPr sz="1800">
                <a:latin typeface="Times New Roman"/>
                <a:ea typeface="Times New Roman"/>
                <a:cs typeface="Times New Roman"/>
              </a:rPr>
              <a:t>-1</a:t>
            </a:r>
            <a:r>
              <a:rPr sz="1800">
                <a:latin typeface="Times New Roman"/>
                <a:ea typeface="Times New Roman"/>
                <a:cs typeface="Times New Roman"/>
              </a:rPr>
              <a:t>的不添加残差项。目标函数定义如下：</a:t>
            </a:r>
          </a:p>
        </p:txBody>
      </p:sp>
      <p:sp>
        <p:nvSpPr>
          <p:cNvPr id="24" name="文本框 23">
            <a:extLst xmlns:a="http://schemas.openxmlformats.org/drawingml/2006/main">
              <a:ext uri="{FF2B5EF4-FFF2-40B4-BE49-F238E27FC236}">
                <a16:creationId xmlns:a16="http://schemas.microsoft.com/office/drawing/2014/main" id="{220EBB90-9A6C-0251-A163-B81288314490}"/>
              </a:ext>
            </a:extLst>
          </p:cNvPr>
          <p:cNvSpPr>
            <a:spLocks xmlns:a="http://schemas.openxmlformats.org/drawingml/2006/main" noGrp="1"/>
          </p:cNvSpPr>
          <p:nvPr/>
        </p:nvSpPr>
        <p:spPr>
          <a:xfrm xmlns:a="http://schemas.openxmlformats.org/drawingml/2006/main">
            <a:off x="964480" y="4782637"/>
            <a:ext cx="84328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a:latin typeface="Times New Roman"/>
                <a:ea typeface="Times New Roman"/>
                <a:cs typeface="Times New Roman"/>
              </a:rPr>
              <a:t>其中，</a:t>
            </a:r>
            <a:r>
              <a:rPr sz="1800">
                <a:latin typeface="Times New Roman"/>
                <a:ea typeface="Times New Roman"/>
                <a:cs typeface="Times New Roman"/>
              </a:rPr>
              <a:t>   </a:t>
            </a:r>
            <a:r>
              <a:rPr sz="1800">
                <a:latin typeface="Times New Roman"/>
                <a:ea typeface="Times New Roman"/>
                <a:cs typeface="Times New Roman"/>
              </a:rPr>
              <a:t>表示欧几里得范数</a:t>
            </a:r>
            <a:r>
              <a:rPr sz="1800">
                <a:latin typeface="Times New Roman"/>
                <a:ea typeface="Times New Roman"/>
                <a:cs typeface="Times New Roman"/>
              </a:rPr>
              <a:t>                          </a:t>
            </a:r>
            <a:r>
              <a:rPr sz="1800">
                <a:latin typeface="Times New Roman"/>
                <a:ea typeface="Times New Roman"/>
                <a:cs typeface="Times New Roman"/>
              </a:rPr>
              <a:t>。定义如下：</a:t>
            </a:r>
          </a:p>
        </p:txBody>
      </p:sp>
      <p:sp>
        <p:nvSpPr>
          <p:cNvPr id="27" name="文本框 26">
            <a:extLst xmlns:a="http://schemas.openxmlformats.org/drawingml/2006/main">
              <a:ext uri="{FF2B5EF4-FFF2-40B4-BE49-F238E27FC236}">
                <a16:creationId xmlns:a16="http://schemas.microsoft.com/office/drawing/2014/main" id="{E68208D0-2B0F-02C8-5656-E1DBE5B0D3D2}"/>
              </a:ext>
            </a:extLst>
          </p:cNvPr>
          <p:cNvSpPr>
            <a:spLocks xmlns:a="http://schemas.openxmlformats.org/drawingml/2006/main" noGrp="1"/>
          </p:cNvSpPr>
          <p:nvPr/>
        </p:nvSpPr>
        <p:spPr>
          <a:xfrm xmlns:a="http://schemas.openxmlformats.org/drawingml/2006/main">
            <a:off x="177723" y="5997203"/>
            <a:ext cx="10006314"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800">
                <a:latin typeface="Times New Roman"/>
                <a:ea typeface="Times New Roman"/>
                <a:cs typeface="Times New Roman"/>
              </a:rPr>
              <a:t>其中</a:t>
            </a:r>
            <a:r>
              <a:rPr sz="1800">
                <a:latin typeface="Times New Roman"/>
                <a:ea typeface="Times New Roman"/>
                <a:cs typeface="Times New Roman"/>
              </a:rPr>
              <a:t>,                                                              </a:t>
            </a:r>
            <a:r>
              <a:rPr sz="1800">
                <a:latin typeface="Times New Roman"/>
                <a:ea typeface="Times New Roman"/>
                <a:cs typeface="Times New Roman"/>
              </a:rPr>
              <a:t>为待优化变量，并记</a:t>
            </a:r>
            <a:r>
              <a:rPr sz="1800">
                <a:latin typeface="Times New Roman"/>
                <a:ea typeface="Times New Roman"/>
                <a:cs typeface="Times New Roman"/>
              </a:rPr>
              <a:t>                    </a:t>
            </a:r>
            <a:r>
              <a:rPr sz="1800">
                <a:latin typeface="Times New Roman"/>
                <a:ea typeface="Times New Roman"/>
                <a:cs typeface="Times New Roman"/>
              </a:rPr>
              <a:t>。上述问题可通过随机赋予节点初始位置，然后采用迭代优化算法进行数值求解。</a:t>
            </a:r>
          </a:p>
        </p:txBody>
      </p:sp>
    </p:spTree>
    <p:extLst>
      <p:ext uri="{BB962C8B-B14F-4D97-AF65-F5344CB8AC3E}">
        <p14:creationId xmlns:p14="http://schemas.microsoft.com/office/powerpoint/2010/main" val="1534420521"/>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DEFF32CD-BBDA-01C1-919D-DFB9C858F87A}"/>
              </a:ext>
            </a:extLst>
          </p:cNvPr>
          <p:cNvSpPr>
            <a:spLocks xmlns:a="http://schemas.openxmlformats.org/drawingml/2006/main" noGrp="1"/>
          </p:cNvSpPr>
          <p:nvPr/>
        </p:nvSpPr>
        <p:spPr>
          <a:xfrm xmlns:a="http://schemas.openxmlformats.org/drawingml/2006/main">
            <a:off x="3407228" y="2132013"/>
            <a:ext cx="309880"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a:spcBef>
                <a:spcPct val="0"/>
              </a:spcBef>
              <a:spcAft>
                <a:spcPct val="0"/>
              </a:spcAft>
              <a:buNone/>
            </a:pPr>
            <a:endParaRPr sz="2400">
              <a:solidFill>
                <a:srgbClr val="000000"/>
              </a:solidFill>
              <a:latin typeface="微软雅黑"/>
              <a:ea typeface="微软雅黑"/>
              <a:cs typeface="微软雅黑"/>
            </a:endParaRPr>
          </a:p>
        </p:txBody>
      </p:sp>
      <p:sp>
        <p:nvSpPr>
          <p:cNvPr id="3" name="Rectangle 2">
            <a:extLst xmlns:a="http://schemas.openxmlformats.org/drawingml/2006/main">
              <a:ext uri="{FF2B5EF4-FFF2-40B4-BE49-F238E27FC236}">
                <a16:creationId xmlns:a16="http://schemas.microsoft.com/office/drawing/2014/main" id="{239FDC4C-ACEC-5BD1-5613-152A8F3BB4BE}"/>
              </a:ext>
            </a:extLst>
          </p:cNvPr>
          <p:cNvSpPr>
            <a:spLocks xmlns:a="http://schemas.openxmlformats.org/drawingml/2006/main" noGrp="1"/>
          </p:cNvSpPr>
          <p:nvPr/>
        </p:nvSpPr>
        <p:spPr>
          <a:xfrm xmlns:a="http://schemas.openxmlformats.org/drawingml/2006/main">
            <a:off x="7666711" y="1880895"/>
            <a:ext cx="309880"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a:spcBef>
                <a:spcPct val="0"/>
              </a:spcBef>
              <a:spcAft>
                <a:spcPct val="0"/>
              </a:spcAft>
              <a:buNone/>
            </a:pPr>
            <a:endParaRPr sz="2400">
              <a:solidFill>
                <a:srgbClr val="000000"/>
              </a:solidFill>
              <a:latin typeface="微软雅黑"/>
              <a:ea typeface="微软雅黑"/>
              <a:cs typeface="微软雅黑"/>
            </a:endParaRPr>
          </a:p>
        </p:txBody>
      </p:sp>
      <p:sp>
        <p:nvSpPr>
          <p:cNvPr id="4" name="Rectangle 2">
            <a:extLst xmlns:a="http://schemas.openxmlformats.org/drawingml/2006/main">
              <a:ext uri="{FF2B5EF4-FFF2-40B4-BE49-F238E27FC236}">
                <a16:creationId xmlns:a16="http://schemas.microsoft.com/office/drawing/2014/main" id="{21BFACF4-7065-3BB5-AA04-8EE4CEC52C48}"/>
              </a:ext>
            </a:extLst>
          </p:cNvPr>
          <p:cNvSpPr>
            <a:spLocks xmlns:a="http://schemas.openxmlformats.org/drawingml/2006/main" noGrp="1"/>
          </p:cNvSpPr>
          <p:nvPr/>
        </p:nvSpPr>
        <p:spPr>
          <a:xfrm xmlns:a="http://schemas.openxmlformats.org/drawingml/2006/main">
            <a:off x="7819111" y="2033295"/>
            <a:ext cx="309880"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a:spcBef>
                <a:spcPct val="0"/>
              </a:spcBef>
              <a:spcAft>
                <a:spcPct val="0"/>
              </a:spcAft>
              <a:buNone/>
            </a:pPr>
            <a:endParaRPr sz="2400">
              <a:solidFill>
                <a:srgbClr val="000000"/>
              </a:solidFill>
              <a:latin typeface="微软雅黑"/>
              <a:ea typeface="微软雅黑"/>
              <a:cs typeface="微软雅黑"/>
            </a:endParaRPr>
          </a:p>
        </p:txBody>
      </p:sp>
      <p:pic>
        <p:nvPicPr>
          <p:cNvPr id="23" name="图片 5"/>
          <p:cNvPicPr>
            <a:picLocks xmlns:a="http://schemas.openxmlformats.org/drawingml/2006/main" noChangeAspect="1"/>
          </p:cNvPicPr>
          <p:nvPr/>
        </p:nvPicPr>
        <p:blipFill>
          <a:blip xmlns:r="http://schemas.openxmlformats.org/officeDocument/2006/relationships" xmlns:a="http://schemas.openxmlformats.org/drawingml/2006/main" r:embed="R12be3638393b47be"/>
          <a:stretch xmlns:a="http://schemas.openxmlformats.org/drawingml/2006/main">
            <a:fillRect l="0" t="0" r="0" b="0"/>
          </a:stretch>
        </p:blipFill>
        <p:spPr>
          <a:xfrm xmlns:a="http://schemas.openxmlformats.org/drawingml/2006/main">
            <a:off x="1025525" y="1183005"/>
            <a:ext cx="2967218" cy="2160000"/>
          </a:xfrm>
          <a:prstGeom xmlns:a="http://schemas.openxmlformats.org/drawingml/2006/main" prst="rect">
            <a:avLst/>
          </a:prstGeom>
          <a:ln xmlns:a="http://schemas.openxmlformats.org/drawingml/2006/main">
            <a:noFill/>
          </a:ln>
        </p:spPr>
      </p:pic>
      <p:pic>
        <p:nvPicPr>
          <p:cNvPr id="24" name="图片 73"/>
          <p:cNvPicPr>
            <a:picLocks xmlns:a="http://schemas.openxmlformats.org/drawingml/2006/main" noChangeAspect="1"/>
          </p:cNvPicPr>
          <p:nvPr/>
        </p:nvPicPr>
        <p:blipFill>
          <a:blip xmlns:r="http://schemas.openxmlformats.org/officeDocument/2006/relationships" xmlns:a="http://schemas.openxmlformats.org/drawingml/2006/main" r:embed="Re847ec4479644964"/>
          <a:stretch xmlns:a="http://schemas.openxmlformats.org/drawingml/2006/main">
            <a:fillRect l="0" t="0" r="0" b="0"/>
          </a:stretch>
        </p:blipFill>
        <p:spPr>
          <a:xfrm xmlns:a="http://schemas.openxmlformats.org/drawingml/2006/main">
            <a:off x="4233408" y="1183005"/>
            <a:ext cx="3193415" cy="2160000"/>
          </a:xfrm>
          <a:prstGeom xmlns:a="http://schemas.openxmlformats.org/drawingml/2006/main" prst="rect">
            <a:avLst/>
          </a:prstGeom>
        </p:spPr>
      </p:pic>
      <p:pic>
        <p:nvPicPr>
          <p:cNvPr id="25" name="图片 62"/>
          <p:cNvPicPr>
            <a:picLocks xmlns:a="http://schemas.openxmlformats.org/drawingml/2006/main" noChangeAspect="1"/>
          </p:cNvPicPr>
          <p:nvPr/>
        </p:nvPicPr>
        <p:blipFill>
          <a:blip xmlns:r="http://schemas.openxmlformats.org/officeDocument/2006/relationships" xmlns:a="http://schemas.openxmlformats.org/drawingml/2006/main" r:embed="Rdbd7c7fce6a2428c"/>
          <a:stretch xmlns:a="http://schemas.openxmlformats.org/drawingml/2006/main">
            <a:fillRect l="0" t="0" r="0" b="0"/>
          </a:stretch>
        </p:blipFill>
        <p:spPr>
          <a:xfrm xmlns:a="http://schemas.openxmlformats.org/drawingml/2006/main">
            <a:off x="7667488" y="1183005"/>
            <a:ext cx="3092450" cy="2160000"/>
          </a:xfrm>
          <a:prstGeom xmlns:a="http://schemas.openxmlformats.org/drawingml/2006/main" prst="rect">
            <a:avLst/>
          </a:prstGeom>
        </p:spPr>
      </p:pic>
      <p:graphicFrame>
        <p:nvGraphicFramePr>
          <p:cNvPr id="26" name="表格 7"/>
          <p:cNvGraphicFramePr/>
          <p:nvPr/>
        </p:nvGraphicFramePr>
        <p:xfrm>
          <a:off xmlns:a="http://schemas.openxmlformats.org/drawingml/2006/main" x="7194550" y="4206240"/>
          <a:ext xmlns:a="http://schemas.openxmlformats.org/drawingml/2006/main" cx="4391025" cy="1676400"/>
        </p:xfrm>
        <a:graphic xmlns:a="http://schemas.openxmlformats.org/drawingml/2006/main">
          <a:graphicData uri="http://schemas.openxmlformats.org/drawingml/2006/table">
            <a:tbl>
              <a:tblPr firstRow="1" bandRow="1"/>
              <a:tblGrid>
                <a:gridCol w="962025"/>
                <a:gridCol w="840740"/>
                <a:gridCol w="2588260"/>
              </a:tblGrid>
              <a:tr h="243840">
                <a:tc>
                  <a:txBody>
                    <a:bodyPr/>
                    <a:lstStyle/>
                    <a:p>
                      <a:pPr indent="0" algn="ctr">
                        <a:buNone/>
                      </a:pPr>
                      <a:r>
                        <a:rPr sz="1000" b="1">
                          <a:latin typeface="宋体"/>
                          <a:ea typeface="宋体"/>
                          <a:cs typeface="宋体"/>
                        </a:rPr>
                        <a:t>传感器</a:t>
                      </a:r>
                      <a:endParaRPr sz="1000" b="1">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1">
                          <a:latin typeface="宋体"/>
                          <a:ea typeface="宋体"/>
                          <a:cs typeface="宋体"/>
                        </a:rPr>
                        <a:t>频率</a:t>
                      </a:r>
                      <a:endParaRPr sz="1000" b="1">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1">
                          <a:latin typeface="宋体"/>
                          <a:ea typeface="宋体"/>
                          <a:cs typeface="宋体"/>
                        </a:rPr>
                        <a:t>参数</a:t>
                      </a:r>
                      <a:endParaRPr sz="1000" b="1">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r>
              <a:tr h="396240">
                <a:tc>
                  <a:txBody>
                    <a:bodyPr/>
                    <a:lstStyle/>
                    <a:p>
                      <a:pPr indent="0" algn="ctr">
                        <a:buNone/>
                      </a:pPr>
                      <a:r>
                        <a:rPr sz="1000" b="1">
                          <a:latin typeface="宋体"/>
                          <a:ea typeface="宋体"/>
                          <a:cs typeface="宋体"/>
                        </a:rPr>
                        <a:t>相机</a:t>
                      </a:r>
                      <a:endParaRPr sz="1000" b="1">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0">
                          <a:latin typeface="宋体"/>
                          <a:ea typeface="宋体"/>
                          <a:cs typeface="宋体"/>
                        </a:rPr>
                        <a:t>1</a:t>
                      </a:r>
                      <a:r>
                        <a:rPr sz="1000" b="0">
                          <a:latin typeface="Times New Roman"/>
                          <a:ea typeface="Times New Roman"/>
                          <a:cs typeface="Times New Roman"/>
                        </a:rPr>
                        <a:t>0Hz</a:t>
                      </a:r>
                      <a:endParaRPr sz="1000" b="0">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0">
                          <a:latin typeface="宋体"/>
                          <a:ea typeface="宋体"/>
                          <a:cs typeface="宋体"/>
                        </a:rPr>
                        <a:t>分辨率</a:t>
                      </a:r>
                      <a:r>
                        <a:rPr sz="1000" b="0">
                          <a:latin typeface="Times New Roman"/>
                          <a:ea typeface="Times New Roman"/>
                          <a:cs typeface="Times New Roman"/>
                        </a:rPr>
                        <a:t>:640×512 pixels</a:t>
                      </a:r>
                    </a:p>
                    <a:p>
                      <a:pPr indent="0" algn="ctr">
                        <a:buNone/>
                      </a:pPr>
                      <a:r>
                        <a:rPr sz="1000" b="0">
                          <a:latin typeface="宋体"/>
                          <a:ea typeface="宋体"/>
                          <a:cs typeface="宋体"/>
                        </a:rPr>
                        <a:t>镜头焦距</a:t>
                      </a:r>
                      <a:r>
                        <a:rPr sz="1000" b="0">
                          <a:latin typeface="Times New Roman"/>
                          <a:ea typeface="Times New Roman"/>
                          <a:cs typeface="Times New Roman"/>
                        </a:rPr>
                        <a:t>: 8</a:t>
                      </a:r>
                      <a:r>
                        <a:rPr sz="1000" b="0">
                          <a:latin typeface="宋体"/>
                          <a:ea typeface="宋体"/>
                          <a:cs typeface="宋体"/>
                        </a:rPr>
                        <a:t>mm</a:t>
                      </a:r>
                      <a:endParaRPr sz="1000" b="0">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r>
              <a:tr h="396240">
                <a:tc>
                  <a:txBody>
                    <a:bodyPr/>
                    <a:lstStyle/>
                    <a:p>
                      <a:pPr indent="0" algn="ctr">
                        <a:buNone/>
                      </a:pPr>
                      <a:r>
                        <a:rPr sz="1000" b="1">
                          <a:latin typeface="Times New Roman"/>
                          <a:ea typeface="Times New Roman"/>
                          <a:cs typeface="Times New Roman"/>
                        </a:rPr>
                        <a:t>MIMU</a:t>
                      </a:r>
                      <a:endParaRPr sz="1000" b="1">
                        <a:latin typeface="Times New Roman"/>
                        <a:ea typeface="Times New Roman"/>
                        <a:cs typeface="Times New Roman"/>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0">
                          <a:latin typeface="Times New Roman"/>
                          <a:ea typeface="Times New Roman"/>
                          <a:cs typeface="Times New Roman"/>
                        </a:rPr>
                        <a:t>200Hz</a:t>
                      </a:r>
                      <a:endParaRPr sz="1000" b="0">
                        <a:latin typeface="Times New Roman"/>
                        <a:ea typeface="Times New Roman"/>
                        <a:cs typeface="Times New Roman"/>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0">
                          <a:latin typeface="宋体"/>
                          <a:ea typeface="宋体"/>
                          <a:cs typeface="宋体"/>
                        </a:rPr>
                        <a:t>陀螺零偏：0.5°/h</a:t>
                      </a:r>
                    </a:p>
                    <a:p>
                      <a:pPr indent="0" algn="ctr">
                        <a:buNone/>
                      </a:pPr>
                      <a:r>
                        <a:rPr sz="1000" b="0">
                          <a:latin typeface="宋体"/>
                          <a:ea typeface="宋体"/>
                          <a:cs typeface="宋体"/>
                        </a:rPr>
                        <a:t>加表零偏：0.05mg</a:t>
                      </a:r>
                      <a:endParaRPr sz="1000" b="0">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r>
              <a:tr h="396240">
                <a:tc>
                  <a:txBody>
                    <a:bodyPr/>
                    <a:lstStyle/>
                    <a:p>
                      <a:pPr indent="0" algn="ctr">
                        <a:buNone/>
                      </a:pPr>
                      <a:r>
                        <a:rPr sz="1000" b="1">
                          <a:latin typeface="宋体"/>
                          <a:ea typeface="宋体"/>
                          <a:cs typeface="宋体"/>
                        </a:rPr>
                        <a:t>U</a:t>
                      </a:r>
                      <a:r>
                        <a:rPr sz="1000" b="1">
                          <a:latin typeface="Times New Roman"/>
                          <a:ea typeface="Times New Roman"/>
                          <a:cs typeface="Times New Roman"/>
                        </a:rPr>
                        <a:t>WB</a:t>
                      </a:r>
                      <a:endParaRPr sz="1000" b="1">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0">
                          <a:latin typeface="Times New Roman"/>
                          <a:ea typeface="Times New Roman"/>
                          <a:cs typeface="Times New Roman"/>
                        </a:rPr>
                        <a:t>25Hz</a:t>
                      </a:r>
                      <a:endParaRPr sz="1000" b="0">
                        <a:latin typeface="Times New Roman"/>
                        <a:ea typeface="Times New Roman"/>
                        <a:cs typeface="Times New Roman"/>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0">
                          <a:latin typeface="宋体"/>
                          <a:ea typeface="宋体"/>
                          <a:cs typeface="宋体"/>
                        </a:rPr>
                        <a:t>测距精度</a:t>
                      </a:r>
                      <a:r>
                        <a:rPr sz="1000" b="0">
                          <a:latin typeface="Times New Roman"/>
                          <a:ea typeface="Times New Roman"/>
                          <a:cs typeface="Times New Roman"/>
                        </a:rPr>
                        <a:t>: </a:t>
                      </a:r>
                      <a:r>
                        <a:rPr sz="1000" b="0">
                          <a:latin typeface="宋体"/>
                          <a:ea typeface="宋体"/>
                          <a:cs typeface="宋体"/>
                        </a:rPr>
                        <a:t>&lt;</a:t>
                      </a:r>
                      <a:r>
                        <a:rPr sz="1000" b="0">
                          <a:latin typeface="Times New Roman"/>
                          <a:ea typeface="Times New Roman"/>
                          <a:cs typeface="Times New Roman"/>
                        </a:rPr>
                        <a:t>0.1</a:t>
                      </a:r>
                      <a:r>
                        <a:rPr sz="1000" b="0">
                          <a:latin typeface="宋体"/>
                          <a:ea typeface="宋体"/>
                          <a:cs typeface="宋体"/>
                        </a:rPr>
                        <a:t>m</a:t>
                      </a:r>
                    </a:p>
                    <a:p>
                      <a:pPr indent="0" algn="ctr">
                        <a:buNone/>
                      </a:pPr>
                      <a:r>
                        <a:rPr sz="1000" b="0">
                          <a:latin typeface="宋体"/>
                          <a:ea typeface="宋体"/>
                          <a:cs typeface="宋体"/>
                        </a:rPr>
                        <a:t>最大测距</a:t>
                      </a:r>
                      <a:r>
                        <a:rPr sz="1000" b="0">
                          <a:latin typeface="Times New Roman"/>
                          <a:ea typeface="Times New Roman"/>
                          <a:cs typeface="Times New Roman"/>
                        </a:rPr>
                        <a:t>: 500m</a:t>
                      </a:r>
                      <a:endParaRPr sz="1000" b="0">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r>
              <a:tr h="243840">
                <a:tc>
                  <a:txBody>
                    <a:bodyPr/>
                    <a:lstStyle/>
                    <a:p>
                      <a:pPr indent="0" algn="ctr">
                        <a:buNone/>
                      </a:pPr>
                      <a:r>
                        <a:rPr sz="1000" b="1">
                          <a:latin typeface="Times New Roman"/>
                          <a:ea typeface="Times New Roman"/>
                          <a:cs typeface="Times New Roman"/>
                        </a:rPr>
                        <a:t>GNSS</a:t>
                      </a:r>
                      <a:endParaRPr sz="1000" b="1">
                        <a:latin typeface="Times New Roman"/>
                        <a:ea typeface="Times New Roman"/>
                        <a:cs typeface="Times New Roman"/>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0">
                          <a:latin typeface="宋体"/>
                          <a:ea typeface="宋体"/>
                          <a:cs typeface="宋体"/>
                        </a:rPr>
                        <a:t>1</a:t>
                      </a:r>
                      <a:r>
                        <a:rPr sz="1000" b="0">
                          <a:latin typeface="Times New Roman"/>
                          <a:ea typeface="Times New Roman"/>
                          <a:cs typeface="Times New Roman"/>
                        </a:rPr>
                        <a:t>0Hz</a:t>
                      </a:r>
                      <a:endParaRPr sz="1000" b="0">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c>
                  <a:txBody>
                    <a:bodyPr/>
                    <a:lstStyle/>
                    <a:p>
                      <a:pPr indent="0" algn="ctr">
                        <a:buNone/>
                      </a:pPr>
                      <a:r>
                        <a:rPr sz="1000" b="0">
                          <a:latin typeface="宋体"/>
                          <a:ea typeface="宋体"/>
                          <a:cs typeface="宋体"/>
                        </a:rPr>
                        <a:t>定位精度：&lt;1</a:t>
                      </a:r>
                      <a:r>
                        <a:rPr sz="1000" b="0">
                          <a:latin typeface="Times New Roman"/>
                          <a:ea typeface="Times New Roman"/>
                          <a:cs typeface="Times New Roman"/>
                        </a:rPr>
                        <a:t>.5</a:t>
                      </a:r>
                      <a:r>
                        <a:rPr sz="1000" b="0">
                          <a:latin typeface="宋体"/>
                          <a:ea typeface="宋体"/>
                          <a:cs typeface="宋体"/>
                        </a:rPr>
                        <a:t>m</a:t>
                      </a:r>
                      <a:endParaRPr sz="1000" b="0">
                        <a:latin typeface="宋体"/>
                        <a:ea typeface="宋体"/>
                        <a:cs typeface="宋体"/>
                      </a:endParaRPr>
                    </a:p>
                  </a:txBody>
                  <a:tcPr marL="91440" marR="91440" marT="45720" marB="45720" anchor="ctr">
                    <a:lnL w="12700" cmpd="sng">
                      <a:solidFill>
                        <a:srgbClr val="080000"/>
                      </a:solidFill>
                      <a:prstDash val="solid"/>
                    </a:lnL>
                    <a:lnR w="12700" cmpd="sng">
                      <a:solidFill>
                        <a:srgbClr val="080000"/>
                      </a:solidFill>
                      <a:prstDash val="solid"/>
                    </a:lnR>
                    <a:lnT w="12700" cmpd="sng">
                      <a:solidFill>
                        <a:srgbClr val="080000"/>
                      </a:solidFill>
                      <a:prstDash val="solid"/>
                    </a:lnT>
                    <a:lnB w="12700" cmpd="sng">
                      <a:solidFill>
                        <a:srgbClr val="080000"/>
                      </a:solidFill>
                      <a:prstDash val="solid"/>
                    </a:lnB>
                    <a:lnTlToBr>
                      <a:noFill/>
                    </a:lnTlToBr>
                    <a:lnBlToTr>
                      <a:noFill/>
                    </a:lnBlToTr>
                    <a:noFill/>
                  </a:tcPr>
                </a:tc>
              </a:tr>
            </a:tbl>
          </a:graphicData>
        </a:graphic>
      </p:graphicFrame>
      <p:pic>
        <p:nvPicPr>
          <p:cNvPr id="27" name="图片 35"/>
          <p:cNvPicPr>
            <a:picLocks xmlns:a="http://schemas.openxmlformats.org/drawingml/2006/main" noChangeAspect="1"/>
          </p:cNvPicPr>
          <p:nvPr/>
        </p:nvPicPr>
        <p:blipFill>
          <a:blip xmlns:r="http://schemas.openxmlformats.org/officeDocument/2006/relationships" xmlns:a="http://schemas.openxmlformats.org/drawingml/2006/main" r:embed="Rd535b3cab5e1453d"/>
          <a:stretch xmlns:a="http://schemas.openxmlformats.org/drawingml/2006/main">
            <a:fillRect l="0" t="0" r="0" b="0"/>
          </a:stretch>
        </p:blipFill>
        <p:spPr>
          <a:xfrm xmlns:a="http://schemas.openxmlformats.org/drawingml/2006/main">
            <a:off x="2606040" y="3706495"/>
            <a:ext cx="2965450" cy="2593340"/>
          </a:xfrm>
          <a:prstGeom xmlns:a="http://schemas.openxmlformats.org/drawingml/2006/main" prst="rect">
            <a:avLst/>
          </a:prstGeom>
        </p:spPr>
      </p:pic>
      <p:sp>
        <p:nvSpPr>
          <p:cNvPr id="10" name="文本框 9">
            <a:extLst xmlns:a="http://schemas.openxmlformats.org/drawingml/2006/main">
              <a:ext uri="{FF2B5EF4-FFF2-40B4-BE49-F238E27FC236}">
                <a16:creationId xmlns:a16="http://schemas.microsoft.com/office/drawing/2014/main" id="{C2DE8C44-DBE7-B988-8F25-6118030797B4}"/>
              </a:ext>
            </a:extLst>
          </p:cNvPr>
          <p:cNvSpPr>
            <a:spLocks xmlns:a="http://schemas.openxmlformats.org/drawingml/2006/main" noGrp="1"/>
          </p:cNvSpPr>
          <p:nvPr/>
        </p:nvSpPr>
        <p:spPr>
          <a:xfrm xmlns:a="http://schemas.openxmlformats.org/drawingml/2006/main">
            <a:off x="1330960" y="3343275"/>
            <a:ext cx="1918335"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rPr>
              <a:t>实验</a:t>
            </a:r>
            <a:r>
              <a:rPr>
                <a:solidFill>
                  <a:srgbClr val="000000"/>
                </a:solidFill>
                <a:latin typeface="Times New Roman"/>
                <a:ea typeface="Times New Roman"/>
                <a:cs typeface="Times New Roman"/>
              </a:rPr>
              <a:t>场地卫星图</a:t>
            </a:r>
            <a:endParaRPr>
              <a:solidFill>
                <a:srgbClr val="000000"/>
              </a:solidFill>
              <a:latin typeface="Times New Roman"/>
              <a:ea typeface="Times New Roman"/>
              <a:cs typeface="Times New Roman"/>
            </a:endParaRPr>
          </a:p>
        </p:txBody>
      </p:sp>
      <p:sp>
        <p:nvSpPr>
          <p:cNvPr id="11" name="文本框 10">
            <a:extLst xmlns:a="http://schemas.openxmlformats.org/drawingml/2006/main">
              <a:ext uri="{FF2B5EF4-FFF2-40B4-BE49-F238E27FC236}">
                <a16:creationId xmlns:a16="http://schemas.microsoft.com/office/drawing/2014/main" id="{080F2F5A-39BF-6A4D-A9CB-FD591D436D3B}"/>
              </a:ext>
            </a:extLst>
          </p:cNvPr>
          <p:cNvSpPr>
            <a:spLocks xmlns:a="http://schemas.openxmlformats.org/drawingml/2006/main" noGrp="1"/>
          </p:cNvSpPr>
          <p:nvPr/>
        </p:nvSpPr>
        <p:spPr>
          <a:xfrm xmlns:a="http://schemas.openxmlformats.org/drawingml/2006/main">
            <a:off x="4344035" y="3343275"/>
            <a:ext cx="2743835"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latin typeface="Times New Roman"/>
                <a:ea typeface="Times New Roman"/>
                <a:cs typeface="Times New Roman"/>
              </a:rPr>
              <a:t>实验使用的三架无人机</a:t>
            </a:r>
          </a:p>
        </p:txBody>
      </p:sp>
      <p:sp>
        <p:nvSpPr>
          <p:cNvPr id="12" name="文本框 11">
            <a:extLst xmlns:a="http://schemas.openxmlformats.org/drawingml/2006/main">
              <a:ext uri="{FF2B5EF4-FFF2-40B4-BE49-F238E27FC236}">
                <a16:creationId xmlns:a16="http://schemas.microsoft.com/office/drawing/2014/main" id="{A8D254F1-C3CA-382B-E26D-49BD0EB94537}"/>
              </a:ext>
            </a:extLst>
          </p:cNvPr>
          <p:cNvSpPr>
            <a:spLocks xmlns:a="http://schemas.openxmlformats.org/drawingml/2006/main" noGrp="1"/>
          </p:cNvSpPr>
          <p:nvPr/>
        </p:nvSpPr>
        <p:spPr>
          <a:xfrm xmlns:a="http://schemas.openxmlformats.org/drawingml/2006/main">
            <a:off x="7491095" y="3369310"/>
            <a:ext cx="3444875"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latin typeface="Times New Roman"/>
                <a:ea typeface="Times New Roman"/>
                <a:cs typeface="Times New Roman"/>
              </a:rPr>
              <a:t>无人机设备安装示意图</a:t>
            </a:r>
          </a:p>
        </p:txBody>
      </p:sp>
      <p:sp>
        <p:nvSpPr>
          <p:cNvPr id="13" name="文本框 12">
            <a:extLst xmlns:a="http://schemas.openxmlformats.org/drawingml/2006/main">
              <a:ext uri="{FF2B5EF4-FFF2-40B4-BE49-F238E27FC236}">
                <a16:creationId xmlns:a16="http://schemas.microsoft.com/office/drawing/2014/main" id="{B4F93F04-50F3-69D1-A80A-9DDB74E55C4A}"/>
              </a:ext>
            </a:extLst>
          </p:cNvPr>
          <p:cNvSpPr>
            <a:spLocks xmlns:a="http://schemas.openxmlformats.org/drawingml/2006/main" noGrp="1"/>
          </p:cNvSpPr>
          <p:nvPr/>
        </p:nvSpPr>
        <p:spPr>
          <a:xfrm xmlns:a="http://schemas.openxmlformats.org/drawingml/2006/main">
            <a:off x="1548765" y="6196965"/>
            <a:ext cx="508000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rPr>
              <a:t>无人机间时间同步机制</a:t>
            </a:r>
          </a:p>
        </p:txBody>
      </p:sp>
      <p:sp>
        <p:nvSpPr>
          <p:cNvPr id="14" name="文本框 13">
            <a:extLst xmlns:a="http://schemas.openxmlformats.org/drawingml/2006/main">
              <a:ext uri="{FF2B5EF4-FFF2-40B4-BE49-F238E27FC236}">
                <a16:creationId xmlns:a16="http://schemas.microsoft.com/office/drawing/2014/main" id="{2491C221-64DF-5502-3203-8D6A19943612}"/>
              </a:ext>
            </a:extLst>
          </p:cNvPr>
          <p:cNvSpPr>
            <a:spLocks xmlns:a="http://schemas.openxmlformats.org/drawingml/2006/main" noGrp="1"/>
          </p:cNvSpPr>
          <p:nvPr/>
        </p:nvSpPr>
        <p:spPr>
          <a:xfrm xmlns:a="http://schemas.openxmlformats.org/drawingml/2006/main">
            <a:off x="6756400" y="3849370"/>
            <a:ext cx="5080000" cy="3683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spAutoFit/>
          </a:bodyPr>
          <a:lstStyle xmlns:a="http://schemas.openxmlformats.org/drawingml/2006/main"/>
          <a:p xmlns:a="http://schemas.openxmlformats.org/drawingml/2006/main">
            <a:pPr indent="127000" algn="ctr">
              <a:spcBef>
                <a:spcPct val="0"/>
              </a:spcBef>
              <a:spcAft>
                <a:spcPct val="0"/>
              </a:spcAft>
              <a:buNone/>
            </a:pPr>
            <a:r>
              <a:rPr>
                <a:solidFill>
                  <a:srgbClr val="000000"/>
                </a:solidFill>
                <a:latin typeface="Times New Roman"/>
                <a:ea typeface="Times New Roman"/>
                <a:cs typeface="Times New Roman"/>
              </a:rPr>
              <a:t>无人机载传感器参数表</a:t>
            </a:r>
          </a:p>
        </p:txBody>
      </p:sp>
    </p:spTree>
    <p:extLst>
      <p:ext uri="{BB962C8B-B14F-4D97-AF65-F5344CB8AC3E}">
        <p14:creationId xmlns:p14="http://schemas.microsoft.com/office/powerpoint/2010/main" val="1917600604"/>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A2DDE99F-8471-5154-B93C-58A8406D03D4}"/>
              </a:ext>
            </a:extLst>
          </p:cNvPr>
          <p:cNvSpPr>
            <a:spLocks xmlns:a="http://schemas.openxmlformats.org/drawingml/2006/main" noGrp="1"/>
          </p:cNvSpPr>
          <p:nvPr/>
        </p:nvSpPr>
        <p:spPr>
          <a:xfrm xmlns:a="http://schemas.openxmlformats.org/drawingml/2006/main">
            <a:off x="3407228" y="2132013"/>
            <a:ext cx="309880"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a:spcBef>
                <a:spcPct val="0"/>
              </a:spcBef>
              <a:spcAft>
                <a:spcPct val="0"/>
              </a:spcAft>
              <a:buNone/>
            </a:pPr>
            <a:endParaRPr sz="2400">
              <a:solidFill>
                <a:srgbClr val="000000"/>
              </a:solidFill>
              <a:latin typeface="微软雅黑"/>
              <a:ea typeface="微软雅黑"/>
              <a:cs typeface="微软雅黑"/>
            </a:endParaRPr>
          </a:p>
        </p:txBody>
      </p:sp>
      <p:sp>
        <p:nvSpPr>
          <p:cNvPr id="3" name="Rectangle 2">
            <a:extLst xmlns:a="http://schemas.openxmlformats.org/drawingml/2006/main">
              <a:ext uri="{FF2B5EF4-FFF2-40B4-BE49-F238E27FC236}">
                <a16:creationId xmlns:a16="http://schemas.microsoft.com/office/drawing/2014/main" id="{BC5C4686-D378-D8DB-5EE2-1E4993178AF9}"/>
              </a:ext>
            </a:extLst>
          </p:cNvPr>
          <p:cNvSpPr>
            <a:spLocks xmlns:a="http://schemas.openxmlformats.org/drawingml/2006/main" noGrp="1"/>
          </p:cNvSpPr>
          <p:nvPr/>
        </p:nvSpPr>
        <p:spPr>
          <a:xfrm xmlns:a="http://schemas.openxmlformats.org/drawingml/2006/main">
            <a:off x="7666711" y="1880895"/>
            <a:ext cx="309880"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a:spcBef>
                <a:spcPct val="0"/>
              </a:spcBef>
              <a:spcAft>
                <a:spcPct val="0"/>
              </a:spcAft>
              <a:buNone/>
            </a:pPr>
            <a:endParaRPr sz="2400">
              <a:solidFill>
                <a:srgbClr val="000000"/>
              </a:solidFill>
              <a:latin typeface="微软雅黑"/>
              <a:ea typeface="微软雅黑"/>
              <a:cs typeface="微软雅黑"/>
            </a:endParaRPr>
          </a:p>
        </p:txBody>
      </p:sp>
      <p:sp>
        <p:nvSpPr>
          <p:cNvPr id="4" name="Rectangle 2">
            <a:extLst xmlns:a="http://schemas.openxmlformats.org/drawingml/2006/main">
              <a:ext uri="{FF2B5EF4-FFF2-40B4-BE49-F238E27FC236}">
                <a16:creationId xmlns:a16="http://schemas.microsoft.com/office/drawing/2014/main" id="{21F6E855-22F4-2F79-1CE1-326145AADA10}"/>
              </a:ext>
            </a:extLst>
          </p:cNvPr>
          <p:cNvSpPr>
            <a:spLocks xmlns:a="http://schemas.openxmlformats.org/drawingml/2006/main" noGrp="1"/>
          </p:cNvSpPr>
          <p:nvPr/>
        </p:nvSpPr>
        <p:spPr>
          <a:xfrm xmlns:a="http://schemas.openxmlformats.org/drawingml/2006/main">
            <a:off x="7819111" y="2033295"/>
            <a:ext cx="309880"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a:spcBef>
                <a:spcPct val="0"/>
              </a:spcBef>
              <a:spcAft>
                <a:spcPct val="0"/>
              </a:spcAft>
              <a:buNone/>
            </a:pPr>
            <a:endParaRPr sz="2400">
              <a:solidFill>
                <a:srgbClr val="000000"/>
              </a:solidFill>
              <a:latin typeface="微软雅黑"/>
              <a:ea typeface="微软雅黑"/>
              <a:cs typeface="微软雅黑"/>
            </a:endParaRPr>
          </a:p>
        </p:txBody>
      </p:sp>
      <p:sp>
        <p:nvSpPr>
          <p:cNvPr id="5" name="文本框 4">
            <a:extLst xmlns:a="http://schemas.openxmlformats.org/drawingml/2006/main">
              <a:ext uri="{FF2B5EF4-FFF2-40B4-BE49-F238E27FC236}">
                <a16:creationId xmlns:a16="http://schemas.microsoft.com/office/drawing/2014/main" id="{92E019D0-8432-F433-6E68-2E557C7E2E48}"/>
              </a:ext>
            </a:extLst>
          </p:cNvPr>
          <p:cNvSpPr>
            <a:spLocks xmlns:a="http://schemas.openxmlformats.org/drawingml/2006/main" noGrp="1"/>
          </p:cNvSpPr>
          <p:nvPr/>
        </p:nvSpPr>
        <p:spPr>
          <a:xfrm xmlns:a="http://schemas.openxmlformats.org/drawingml/2006/main">
            <a:off x="550545" y="1087120"/>
            <a:ext cx="5080000" cy="27559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spAutoFit/>
          </a:bodyPr>
          <a:lstStyle xmlns:a="http://schemas.openxmlformats.org/drawingml/2006/main"/>
          <a:p xmlns:a="http://schemas.openxmlformats.org/drawingml/2006/main">
            <a:pPr indent="127000">
              <a:spcBef>
                <a:spcPct val="0"/>
              </a:spcBef>
              <a:spcAft>
                <a:spcPct val="0"/>
              </a:spcAft>
              <a:buNone/>
            </a:pPr>
            <a:r>
              <a:rPr sz="1200">
                <a:solidFill>
                  <a:srgbClr val="000000"/>
                </a:solidFill>
                <a:latin typeface="Times New Roman"/>
                <a:ea typeface="Times New Roman"/>
                <a:cs typeface="Times New Roman"/>
              </a:rPr>
              <a:t>实验一</a:t>
            </a:r>
            <a:endParaRPr sz="2400">
              <a:solidFill>
                <a:srgbClr val="000000"/>
              </a:solidFill>
            </a:endParaRPr>
          </a:p>
        </p:txBody>
      </p:sp>
      <p:pic>
        <p:nvPicPr>
          <p:cNvPr id="24" name="图片 63"/>
          <p:cNvPicPr>
            <a:picLocks xmlns:a="http://schemas.openxmlformats.org/drawingml/2006/main" noChangeAspect="1"/>
          </p:cNvPicPr>
          <p:nvPr/>
        </p:nvPicPr>
        <p:blipFill>
          <a:blip xmlns:r="http://schemas.openxmlformats.org/officeDocument/2006/relationships" xmlns:a="http://schemas.openxmlformats.org/drawingml/2006/main" r:embed="Re067a06797484be2"/>
          <a:stretch xmlns:a="http://schemas.openxmlformats.org/drawingml/2006/main">
            <a:fillRect l="0" t="0" r="0" b="0"/>
          </a:stretch>
        </p:blipFill>
        <p:spPr>
          <a:xfrm xmlns:a="http://schemas.openxmlformats.org/drawingml/2006/main">
            <a:off x="149860" y="1123950"/>
            <a:ext cx="2676525" cy="2035175"/>
          </a:xfrm>
          <a:prstGeom xmlns:a="http://schemas.openxmlformats.org/drawingml/2006/main" prst="rect">
            <a:avLst/>
          </a:prstGeom>
        </p:spPr>
      </p:pic>
      <p:pic>
        <p:nvPicPr>
          <p:cNvPr id="25" name="Picture 3"/>
          <p:cNvPicPr>
            <a:picLocks xmlns:a="http://schemas.openxmlformats.org/drawingml/2006/main" noChangeAspect="1"/>
          </p:cNvPicPr>
          <p:nvPr/>
        </p:nvPicPr>
        <p:blipFill>
          <a:blip xmlns:r="http://schemas.openxmlformats.org/officeDocument/2006/relationships" xmlns:a="http://schemas.openxmlformats.org/drawingml/2006/main" r:embed="Rbcfb4521b92a4b18"/>
          <a:stretch xmlns:a="http://schemas.openxmlformats.org/drawingml/2006/main">
            <a:fillRect l="0" t="0" r="0" b="0"/>
          </a:stretch>
        </p:blipFill>
        <p:spPr>
          <a:xfrm xmlns:a="http://schemas.openxmlformats.org/drawingml/2006/main">
            <a:off x="2979420" y="1172845"/>
            <a:ext cx="2475230" cy="1979930"/>
          </a:xfrm>
          <a:prstGeom xmlns:a="http://schemas.openxmlformats.org/drawingml/2006/main" prst="rect">
            <a:avLst/>
          </a:prstGeom>
        </p:spPr>
      </p:pic>
      <p:pic>
        <p:nvPicPr>
          <p:cNvPr id="26" name="图片 5"/>
          <p:cNvPicPr>
            <a:picLocks xmlns:a="http://schemas.openxmlformats.org/drawingml/2006/main" noChangeAspect="1"/>
          </p:cNvPicPr>
          <p:nvPr/>
        </p:nvPicPr>
        <p:blipFill>
          <a:blip xmlns:r="http://schemas.openxmlformats.org/officeDocument/2006/relationships" xmlns:a="http://schemas.openxmlformats.org/drawingml/2006/main" r:embed="R44ec3cc6bd0e4dd6"/>
          <a:stretch xmlns:a="http://schemas.openxmlformats.org/drawingml/2006/main">
            <a:fillRect l="0" t="0" r="0" b="0"/>
          </a:stretch>
        </p:blipFill>
        <p:spPr>
          <a:xfrm xmlns:a="http://schemas.openxmlformats.org/drawingml/2006/main">
            <a:off x="453708" y="3293745"/>
            <a:ext cx="4319905" cy="3241040"/>
          </a:xfrm>
          <a:prstGeom xmlns:a="http://schemas.openxmlformats.org/drawingml/2006/main" prst="rect">
            <a:avLst/>
          </a:prstGeom>
          <a:ln xmlns:a="http://schemas.openxmlformats.org/drawingml/2006/main">
            <a:noFill/>
          </a:ln>
        </p:spPr>
      </p:pic>
      <p:pic>
        <p:nvPicPr>
          <p:cNvPr id="27" name="图片 70"/>
          <p:cNvPicPr>
            <a:picLocks xmlns:a="http://schemas.openxmlformats.org/drawingml/2006/main" noChangeAspect="1"/>
          </p:cNvPicPr>
          <p:nvPr/>
        </p:nvPicPr>
        <p:blipFill>
          <a:blip xmlns:r="http://schemas.openxmlformats.org/officeDocument/2006/relationships" xmlns:a="http://schemas.openxmlformats.org/drawingml/2006/main" r:embed="R80937e4ada2c4291"/>
          <a:stretch xmlns:a="http://schemas.openxmlformats.org/drawingml/2006/main">
            <a:fillRect l="0" t="0" r="0" b="0"/>
          </a:stretch>
        </p:blipFill>
        <p:spPr>
          <a:xfrm xmlns:a="http://schemas.openxmlformats.org/drawingml/2006/main">
            <a:off x="4320223" y="3293745"/>
            <a:ext cx="4319905" cy="3239770"/>
          </a:xfrm>
          <a:prstGeom xmlns:a="http://schemas.openxmlformats.org/drawingml/2006/main" prst="rect">
            <a:avLst/>
          </a:prstGeom>
        </p:spPr>
      </p:pic>
      <p:graphicFrame>
        <p:nvGraphicFramePr>
          <p:cNvPr id="28" name="表格 9"/>
          <p:cNvGraphicFramePr/>
          <p:nvPr/>
        </p:nvGraphicFramePr>
        <p:xfrm>
          <a:off xmlns:a="http://schemas.openxmlformats.org/drawingml/2006/main" x="5630545" y="1399540"/>
          <a:ext xmlns:a="http://schemas.openxmlformats.org/drawingml/2006/main" cx="6450330" cy="1706880"/>
        </p:xfrm>
        <a:graphic xmlns:a="http://schemas.openxmlformats.org/drawingml/2006/main">
          <a:graphicData uri="http://schemas.openxmlformats.org/drawingml/2006/table">
            <a:tbl>
              <a:tblPr firstRow="1" bandRow="1"/>
              <a:tblGrid>
                <a:gridCol w="857885"/>
                <a:gridCol w="1525270"/>
                <a:gridCol w="1699895"/>
                <a:gridCol w="1477010"/>
                <a:gridCol w="890270"/>
              </a:tblGrid>
              <a:tr h="731520">
                <a:tc>
                  <a:txBody>
                    <a:bodyPr/>
                    <a:lstStyle/>
                    <a:p>
                      <a:pPr>
                        <a:buNone/>
                      </a:pPr>
                      <a:endParaRPr sz="1600"/>
                    </a:p>
                  </a:txBody>
                  <a:tcPr marL="91440" marR="91440" marT="45720" marB="4572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c>
                  <a:txBody>
                    <a:bodyPr/>
                    <a:lstStyle/>
                    <a:p>
                      <a:pPr indent="0" algn="ctr">
                        <a:buNone/>
                      </a:pPr>
                      <a:r>
                        <a:rPr sz="1600" b="1">
                          <a:solidFill>
                            <a:schemeClr val="tx1"/>
                          </a:solidFill>
                          <a:latin typeface="Times New Roman"/>
                          <a:ea typeface="Times New Roman"/>
                          <a:cs typeface="Times New Roman"/>
                        </a:rPr>
                        <a:t>VINS-Mono</a:t>
                      </a:r>
                      <a:endParaRPr sz="1600" b="1">
                        <a:solidFill>
                          <a:schemeClr val="tx1"/>
                        </a:solidFill>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c>
                  <a:txBody>
                    <a:bodyPr/>
                    <a:lstStyle/>
                    <a:p>
                      <a:pPr indent="0" algn="ctr">
                        <a:buNone/>
                      </a:pPr>
                      <a:r>
                        <a:rPr sz="1600" b="1">
                          <a:solidFill>
                            <a:schemeClr val="tx1"/>
                          </a:solidFill>
                          <a:latin typeface="Times New Roman"/>
                          <a:ea typeface="Times New Roman"/>
                          <a:cs typeface="Times New Roman"/>
                        </a:rPr>
                        <a:t>C2VIR-SLAM</a:t>
                      </a:r>
                    </a:p>
                    <a:p>
                      <a:pPr indent="0" algn="ctr">
                        <a:buNone/>
                      </a:pPr>
                      <a:r>
                        <a:rPr sz="1600" b="1">
                          <a:solidFill>
                            <a:schemeClr val="tx1"/>
                          </a:solidFill>
                          <a:latin typeface="Times New Roman"/>
                          <a:ea typeface="Times New Roman"/>
                          <a:cs typeface="Times New Roman"/>
                        </a:rPr>
                        <a:t>Without </a:t>
                      </a:r>
                      <a:r>
                        <a:rPr sz="1600" b="1">
                          <a:solidFill>
                            <a:schemeClr val="tx1"/>
                          </a:solidFill>
                          <a:latin typeface="宋体"/>
                          <a:ea typeface="宋体"/>
                          <a:cs typeface="宋体"/>
                        </a:rPr>
                        <a:t>Co</a:t>
                      </a:r>
                      <a:r>
                        <a:rPr sz="1600" b="1">
                          <a:solidFill>
                            <a:schemeClr val="tx1"/>
                          </a:solidFill>
                          <a:latin typeface="Times New Roman"/>
                          <a:ea typeface="Times New Roman"/>
                          <a:cs typeface="Times New Roman"/>
                        </a:rPr>
                        <a:t>-Visual</a:t>
                      </a:r>
                      <a:endParaRPr sz="1600" b="1">
                        <a:solidFill>
                          <a:schemeClr val="tx1"/>
                        </a:solidFill>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c>
                  <a:txBody>
                    <a:bodyPr/>
                    <a:lstStyle/>
                    <a:p>
                      <a:pPr indent="0" algn="ctr">
                        <a:buNone/>
                      </a:pPr>
                      <a:r>
                        <a:rPr sz="1600" b="1">
                          <a:solidFill>
                            <a:schemeClr val="tx1"/>
                          </a:solidFill>
                          <a:latin typeface="Times New Roman"/>
                          <a:ea typeface="Times New Roman"/>
                          <a:cs typeface="Times New Roman"/>
                        </a:rPr>
                        <a:t>C2VIR-SLAM</a:t>
                      </a:r>
                    </a:p>
                    <a:p>
                      <a:pPr indent="0" algn="ctr">
                        <a:buNone/>
                      </a:pPr>
                      <a:r>
                        <a:rPr sz="1600" b="1">
                          <a:solidFill>
                            <a:schemeClr val="tx1"/>
                          </a:solidFill>
                          <a:latin typeface="Times New Roman"/>
                          <a:ea typeface="Times New Roman"/>
                          <a:cs typeface="Times New Roman"/>
                        </a:rPr>
                        <a:t>With </a:t>
                      </a:r>
                      <a:r>
                        <a:rPr sz="1600" b="1">
                          <a:solidFill>
                            <a:schemeClr val="tx1"/>
                          </a:solidFill>
                          <a:latin typeface="宋体"/>
                          <a:ea typeface="宋体"/>
                          <a:cs typeface="宋体"/>
                        </a:rPr>
                        <a:t>Co</a:t>
                      </a:r>
                      <a:r>
                        <a:rPr sz="1600" b="1">
                          <a:solidFill>
                            <a:schemeClr val="tx1"/>
                          </a:solidFill>
                          <a:latin typeface="Times New Roman"/>
                          <a:ea typeface="Times New Roman"/>
                          <a:cs typeface="Times New Roman"/>
                        </a:rPr>
                        <a:t>-Visual</a:t>
                      </a:r>
                      <a:endParaRPr sz="1600" b="1">
                        <a:solidFill>
                          <a:schemeClr val="tx1"/>
                        </a:solidFill>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c>
                  <a:txBody>
                    <a:bodyPr/>
                    <a:lstStyle/>
                    <a:p>
                      <a:pPr indent="0" algn="ctr">
                        <a:buNone/>
                      </a:pPr>
                      <a:r>
                        <a:rPr sz="1600" b="1">
                          <a:solidFill>
                            <a:schemeClr val="tx1"/>
                          </a:solidFill>
                          <a:latin typeface="宋体"/>
                          <a:ea typeface="宋体"/>
                          <a:cs typeface="宋体"/>
                        </a:rPr>
                        <a:t>提高百分比</a:t>
                      </a:r>
                      <a:endParaRPr sz="1600" b="1">
                        <a:solidFill>
                          <a:schemeClr val="tx1"/>
                        </a:solidFill>
                        <a:latin typeface="宋体"/>
                        <a:ea typeface="宋体"/>
                        <a:cs typeface="宋体"/>
                      </a:endParaRPr>
                    </a:p>
                  </a:txBody>
                  <a:tcPr marL="68580" marR="68580"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CC99"/>
                    </a:solidFill>
                  </a:tcPr>
                </a:tc>
              </a:tr>
              <a:tr h="487680">
                <a:tc>
                  <a:txBody>
                    <a:bodyPr/>
                    <a:lstStyle/>
                    <a:p>
                      <a:pPr indent="0" algn="ctr">
                        <a:buNone/>
                      </a:pPr>
                      <a:r>
                        <a:rPr sz="1600" b="0">
                          <a:latin typeface="宋体"/>
                          <a:ea typeface="宋体"/>
                          <a:cs typeface="宋体"/>
                        </a:rPr>
                        <a:t>无人机</a:t>
                      </a:r>
                      <a:r>
                        <a:rPr sz="1600" b="0">
                          <a:latin typeface="Times New Roman"/>
                          <a:ea typeface="Times New Roman"/>
                          <a:cs typeface="Times New Roman"/>
                        </a:rPr>
                        <a:t>A</a:t>
                      </a:r>
                      <a:endParaRPr sz="1600" b="0">
                        <a:latin typeface="宋体"/>
                        <a:ea typeface="宋体"/>
                        <a:cs typeface="宋体"/>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c>
                  <a:txBody>
                    <a:bodyPr/>
                    <a:lstStyle/>
                    <a:p>
                      <a:pPr indent="0" algn="ctr">
                        <a:buNone/>
                      </a:pPr>
                      <a:r>
                        <a:rPr sz="1600" b="0">
                          <a:latin typeface="Times New Roman"/>
                          <a:ea typeface="Times New Roman"/>
                          <a:cs typeface="Times New Roman"/>
                        </a:rPr>
                        <a:t>2.26</a:t>
                      </a:r>
                      <a:r>
                        <a:rPr sz="1600" b="0">
                          <a:latin typeface="Times New Roman"/>
                          <a:ea typeface="Times New Roman"/>
                          <a:cs typeface="Times New Roman"/>
                        </a:rPr>
                        <a:t>45</a:t>
                      </a:r>
                      <a:r>
                        <a:rPr sz="1600" b="0">
                          <a:latin typeface="Times New Roman"/>
                          <a:ea typeface="Times New Roman"/>
                          <a:cs typeface="Times New Roman"/>
                        </a:rPr>
                        <a:t>(0.8</a:t>
                      </a:r>
                      <a:r>
                        <a:rPr sz="1600" b="0">
                          <a:latin typeface="Times New Roman"/>
                          <a:ea typeface="Times New Roman"/>
                          <a:cs typeface="Times New Roman"/>
                        </a:rPr>
                        <a:t>356</a:t>
                      </a:r>
                      <a:r>
                        <a:rPr sz="1600" b="0">
                          <a:latin typeface="Times New Roman"/>
                          <a:ea typeface="Times New Roman"/>
                          <a:cs typeface="Times New Roman"/>
                        </a:rPr>
                        <a:t>%)</a:t>
                      </a:r>
                      <a:endParaRPr sz="1600" b="0">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c>
                  <a:txBody>
                    <a:bodyPr/>
                    <a:lstStyle/>
                    <a:p>
                      <a:pPr indent="0" algn="ctr">
                        <a:buNone/>
                      </a:pPr>
                      <a:r>
                        <a:rPr sz="1600" b="0">
                          <a:latin typeface="Times New Roman"/>
                          <a:ea typeface="Times New Roman"/>
                          <a:cs typeface="Times New Roman"/>
                        </a:rPr>
                        <a:t>1.6098(0.5940 %)</a:t>
                      </a:r>
                      <a:endParaRPr sz="1600" b="0">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c>
                  <a:txBody>
                    <a:bodyPr/>
                    <a:lstStyle/>
                    <a:p>
                      <a:pPr indent="0" algn="ctr">
                        <a:buNone/>
                      </a:pPr>
                      <a:r>
                        <a:rPr sz="1600" b="1">
                          <a:latin typeface="Times New Roman"/>
                          <a:ea typeface="Times New Roman"/>
                          <a:cs typeface="Times New Roman"/>
                        </a:rPr>
                        <a:t>1.</a:t>
                      </a:r>
                      <a:r>
                        <a:rPr sz="1600" b="1">
                          <a:latin typeface="Times New Roman"/>
                          <a:ea typeface="Times New Roman"/>
                          <a:cs typeface="Times New Roman"/>
                        </a:rPr>
                        <a:t>2822</a:t>
                      </a:r>
                      <a:r>
                        <a:rPr sz="1600" b="1">
                          <a:latin typeface="Times New Roman"/>
                          <a:ea typeface="Times New Roman"/>
                          <a:cs typeface="Times New Roman"/>
                        </a:rPr>
                        <a:t>(0.</a:t>
                      </a:r>
                      <a:r>
                        <a:rPr sz="1600" b="1">
                          <a:latin typeface="Times New Roman"/>
                          <a:ea typeface="Times New Roman"/>
                          <a:cs typeface="Times New Roman"/>
                        </a:rPr>
                        <a:t>4731</a:t>
                      </a:r>
                      <a:r>
                        <a:rPr sz="1600" b="1">
                          <a:latin typeface="Times New Roman"/>
                          <a:ea typeface="Times New Roman"/>
                          <a:cs typeface="Times New Roman"/>
                        </a:rPr>
                        <a:t>%)</a:t>
                      </a:r>
                      <a:endParaRPr sz="1600" b="1">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c>
                  <a:txBody>
                    <a:bodyPr/>
                    <a:lstStyle/>
                    <a:p>
                      <a:pPr indent="0" algn="ctr">
                        <a:buNone/>
                      </a:pPr>
                      <a:r>
                        <a:rPr sz="1600" b="0">
                          <a:latin typeface="Times New Roman"/>
                          <a:ea typeface="Times New Roman"/>
                          <a:cs typeface="Times New Roman"/>
                        </a:rPr>
                        <a:t>43.3782</a:t>
                      </a:r>
                      <a:r>
                        <a:rPr sz="1600" b="0">
                          <a:latin typeface="Times New Roman"/>
                          <a:ea typeface="Times New Roman"/>
                          <a:cs typeface="Times New Roman"/>
                        </a:rPr>
                        <a:t>%</a:t>
                      </a:r>
                      <a:endParaRPr sz="1600" b="0">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40000"/>
                      </a:srgbClr>
                    </a:solidFill>
                  </a:tcPr>
                </a:tc>
              </a:tr>
              <a:tr h="487680">
                <a:tc>
                  <a:txBody>
                    <a:bodyPr/>
                    <a:lstStyle/>
                    <a:p>
                      <a:pPr indent="0" algn="ctr">
                        <a:buNone/>
                      </a:pPr>
                      <a:r>
                        <a:rPr sz="1600" b="0">
                          <a:latin typeface="宋体"/>
                          <a:ea typeface="宋体"/>
                          <a:cs typeface="宋体"/>
                        </a:rPr>
                        <a:t>无人机</a:t>
                      </a:r>
                      <a:r>
                        <a:rPr sz="1600" b="0">
                          <a:latin typeface="Times New Roman"/>
                          <a:ea typeface="Times New Roman"/>
                          <a:cs typeface="Times New Roman"/>
                        </a:rPr>
                        <a:t>B</a:t>
                      </a:r>
                      <a:endParaRPr sz="1600" b="0">
                        <a:latin typeface="宋体"/>
                        <a:ea typeface="宋体"/>
                        <a:cs typeface="宋体"/>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c>
                  <a:txBody>
                    <a:bodyPr/>
                    <a:lstStyle/>
                    <a:p>
                      <a:pPr indent="0" algn="ctr">
                        <a:buNone/>
                      </a:pPr>
                      <a:r>
                        <a:rPr sz="1600" b="0">
                          <a:latin typeface="Times New Roman"/>
                          <a:ea typeface="Times New Roman"/>
                          <a:cs typeface="Times New Roman"/>
                        </a:rPr>
                        <a:t>2.5737(0.</a:t>
                      </a:r>
                      <a:r>
                        <a:rPr sz="1600" b="0">
                          <a:latin typeface="Times New Roman"/>
                          <a:ea typeface="Times New Roman"/>
                          <a:cs typeface="Times New Roman"/>
                        </a:rPr>
                        <a:t>8018</a:t>
                      </a:r>
                      <a:r>
                        <a:rPr sz="1600" b="0">
                          <a:latin typeface="Times New Roman"/>
                          <a:ea typeface="Times New Roman"/>
                          <a:cs typeface="Times New Roman"/>
                        </a:rPr>
                        <a:t>%)</a:t>
                      </a:r>
                      <a:endParaRPr sz="1600" b="0">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c>
                  <a:txBody>
                    <a:bodyPr/>
                    <a:lstStyle/>
                    <a:p>
                      <a:pPr indent="0" algn="ctr">
                        <a:buNone/>
                      </a:pPr>
                      <a:r>
                        <a:rPr sz="1600" b="0">
                          <a:latin typeface="Times New Roman"/>
                          <a:ea typeface="Times New Roman"/>
                          <a:cs typeface="Times New Roman"/>
                        </a:rPr>
                        <a:t>1.8699(0.5825 %)</a:t>
                      </a:r>
                      <a:endParaRPr sz="1600" b="0">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c>
                  <a:txBody>
                    <a:bodyPr/>
                    <a:lstStyle/>
                    <a:p>
                      <a:pPr indent="0" algn="ctr">
                        <a:buNone/>
                      </a:pPr>
                      <a:r>
                        <a:rPr sz="1600" b="1">
                          <a:latin typeface="Times New Roman"/>
                          <a:ea typeface="Times New Roman"/>
                          <a:cs typeface="Times New Roman"/>
                        </a:rPr>
                        <a:t>1.</a:t>
                      </a:r>
                      <a:r>
                        <a:rPr sz="1600" b="1">
                          <a:latin typeface="Times New Roman"/>
                          <a:ea typeface="Times New Roman"/>
                          <a:cs typeface="Times New Roman"/>
                        </a:rPr>
                        <a:t>3162</a:t>
                      </a:r>
                      <a:r>
                        <a:rPr sz="1600" b="1">
                          <a:latin typeface="Times New Roman"/>
                          <a:ea typeface="Times New Roman"/>
                          <a:cs typeface="Times New Roman"/>
                        </a:rPr>
                        <a:t>(0.</a:t>
                      </a:r>
                      <a:r>
                        <a:rPr sz="1600" b="1">
                          <a:latin typeface="Times New Roman"/>
                          <a:ea typeface="Times New Roman"/>
                          <a:cs typeface="Times New Roman"/>
                        </a:rPr>
                        <a:t>4100</a:t>
                      </a:r>
                      <a:r>
                        <a:rPr sz="1600" b="1">
                          <a:latin typeface="Times New Roman"/>
                          <a:ea typeface="Times New Roman"/>
                          <a:cs typeface="Times New Roman"/>
                        </a:rPr>
                        <a:t>%)</a:t>
                      </a:r>
                      <a:endParaRPr sz="1600" b="1">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c>
                  <a:txBody>
                    <a:bodyPr/>
                    <a:lstStyle/>
                    <a:p>
                      <a:pPr indent="0" algn="ctr">
                        <a:buNone/>
                      </a:pPr>
                      <a:r>
                        <a:rPr sz="1600" b="0">
                          <a:latin typeface="Times New Roman"/>
                          <a:ea typeface="Times New Roman"/>
                          <a:cs typeface="Times New Roman"/>
                        </a:rPr>
                        <a:t>48.8596</a:t>
                      </a:r>
                      <a:r>
                        <a:rPr sz="1600" b="0">
                          <a:latin typeface="Times New Roman"/>
                          <a:ea typeface="Times New Roman"/>
                          <a:cs typeface="Times New Roman"/>
                        </a:rPr>
                        <a:t>%</a:t>
                      </a:r>
                      <a:endParaRPr sz="1600" b="0">
                        <a:latin typeface="Times New Roman"/>
                        <a:ea typeface="Times New Roman"/>
                        <a:cs typeface="Times New Roman"/>
                      </a:endParaRPr>
                    </a:p>
                  </a:txBody>
                  <a:tcPr marL="68580" marR="6858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CC99">
                        <a:tint val="20000"/>
                      </a:srgbClr>
                    </a:solidFill>
                  </a:tcPr>
                </a:tc>
              </a:tr>
            </a:tbl>
          </a:graphicData>
        </a:graphic>
      </p:graphicFrame>
      <p:pic>
        <p:nvPicPr>
          <p:cNvPr id="29" name="图片 32"/>
          <p:cNvPicPr>
            <a:picLocks xmlns:a="http://schemas.openxmlformats.org/drawingml/2006/main" noChangeAspect="1"/>
          </p:cNvPicPr>
          <p:nvPr/>
        </p:nvPicPr>
        <p:blipFill>
          <a:blip xmlns:r="http://schemas.openxmlformats.org/officeDocument/2006/relationships" xmlns:a="http://schemas.openxmlformats.org/drawingml/2006/main" r:embed="R170b8f64ada04417"/>
          <a:srcRect xmlns:a="http://schemas.openxmlformats.org/drawingml/2006/main" l="0" t="0" r="0" b="0"/>
          <a:stretch xmlns:a="http://schemas.openxmlformats.org/drawingml/2006/main">
            <a:fillRect l="0" t="0" r="0" b="0"/>
          </a:stretch>
        </p:blipFill>
        <p:spPr>
          <a:xfrm xmlns:a="http://schemas.openxmlformats.org/drawingml/2006/main">
            <a:off x="8347710" y="3388678"/>
            <a:ext cx="3959860" cy="2966085"/>
          </a:xfrm>
          <a:prstGeom xmlns:a="http://schemas.openxmlformats.org/drawingml/2006/main" prst="rect">
            <a:avLst/>
          </a:prstGeom>
          <a:ln xmlns:a="http://schemas.openxmlformats.org/drawingml/2006/main">
            <a:noFill/>
          </a:ln>
        </p:spPr>
      </p:pic>
      <p:sp>
        <p:nvSpPr>
          <p:cNvPr id="12" name="文本框 11">
            <a:extLst xmlns:a="http://schemas.openxmlformats.org/drawingml/2006/main">
              <a:ext uri="{FF2B5EF4-FFF2-40B4-BE49-F238E27FC236}">
                <a16:creationId xmlns:a16="http://schemas.microsoft.com/office/drawing/2014/main" id="{3D9B6D72-A867-DAD2-77A9-0924A12445BB}"/>
              </a:ext>
            </a:extLst>
          </p:cNvPr>
          <p:cNvSpPr>
            <a:spLocks xmlns:a="http://schemas.openxmlformats.org/drawingml/2006/main" noGrp="1"/>
          </p:cNvSpPr>
          <p:nvPr/>
        </p:nvSpPr>
        <p:spPr>
          <a:xfrm xmlns:a="http://schemas.openxmlformats.org/drawingml/2006/main">
            <a:off x="374650" y="3152775"/>
            <a:ext cx="2014855" cy="27559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indent="127000" algn="ctr">
              <a:spcBef>
                <a:spcPct val="0"/>
              </a:spcBef>
              <a:spcAft>
                <a:spcPct val="0"/>
              </a:spcAft>
              <a:buNone/>
            </a:pPr>
            <a:r>
              <a:rPr sz="1200">
                <a:solidFill>
                  <a:srgbClr val="000000"/>
                </a:solidFill>
                <a:latin typeface="Times New Roman"/>
                <a:ea typeface="Times New Roman"/>
                <a:cs typeface="Times New Roman"/>
              </a:rPr>
              <a:t>无人机飞行</a:t>
            </a:r>
            <a:r>
              <a:rPr sz="1200">
                <a:solidFill>
                  <a:srgbClr val="000000"/>
                </a:solidFill>
                <a:latin typeface="Times New Roman"/>
                <a:ea typeface="Times New Roman"/>
                <a:cs typeface="Times New Roman"/>
              </a:rPr>
              <a:t>G</a:t>
            </a:r>
            <a:r>
              <a:rPr sz="1200">
                <a:solidFill>
                  <a:srgbClr val="000000"/>
                </a:solidFill>
                <a:latin typeface="Times New Roman"/>
                <a:ea typeface="Times New Roman"/>
                <a:cs typeface="Times New Roman"/>
              </a:rPr>
              <a:t>NSS</a:t>
            </a:r>
            <a:r>
              <a:rPr sz="1200">
                <a:solidFill>
                  <a:srgbClr val="000000"/>
                </a:solidFill>
                <a:latin typeface="Times New Roman"/>
                <a:ea typeface="Times New Roman"/>
                <a:cs typeface="Times New Roman"/>
              </a:rPr>
              <a:t>轨迹</a:t>
            </a:r>
            <a:endParaRPr sz="2400">
              <a:solidFill>
                <a:srgbClr val="000000"/>
              </a:solidFill>
            </a:endParaRPr>
          </a:p>
        </p:txBody>
      </p:sp>
      <p:sp>
        <p:nvSpPr>
          <p:cNvPr id="13" name="文本框 12">
            <a:extLst xmlns:a="http://schemas.openxmlformats.org/drawingml/2006/main">
              <a:ext uri="{FF2B5EF4-FFF2-40B4-BE49-F238E27FC236}">
                <a16:creationId xmlns:a16="http://schemas.microsoft.com/office/drawing/2014/main" id="{14D74615-E5D9-1B7E-AE95-24EF5A8B303D}"/>
              </a:ext>
            </a:extLst>
          </p:cNvPr>
          <p:cNvSpPr>
            <a:spLocks xmlns:a="http://schemas.openxmlformats.org/drawingml/2006/main" noGrp="1"/>
          </p:cNvSpPr>
          <p:nvPr/>
        </p:nvSpPr>
        <p:spPr>
          <a:xfrm xmlns:a="http://schemas.openxmlformats.org/drawingml/2006/main">
            <a:off x="3371215" y="3159125"/>
            <a:ext cx="1619250" cy="27559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spAutoFit/>
          </a:bodyPr>
          <a:lstStyle xmlns:a="http://schemas.openxmlformats.org/drawingml/2006/main"/>
          <a:p xmlns:a="http://schemas.openxmlformats.org/drawingml/2006/main">
            <a:pPr indent="127000" algn="ctr">
              <a:spcBef>
                <a:spcPct val="0"/>
              </a:spcBef>
              <a:spcAft>
                <a:spcPct val="0"/>
              </a:spcAft>
              <a:buNone/>
            </a:pPr>
            <a:r>
              <a:rPr sz="1200">
                <a:solidFill>
                  <a:srgbClr val="000000"/>
                </a:solidFill>
                <a:latin typeface="Times New Roman"/>
                <a:ea typeface="Times New Roman"/>
                <a:cs typeface="Times New Roman"/>
              </a:rPr>
              <a:t>无人机</a:t>
            </a:r>
            <a:r>
              <a:rPr sz="1200">
                <a:solidFill>
                  <a:srgbClr val="000000"/>
                </a:solidFill>
                <a:latin typeface="Times New Roman"/>
                <a:ea typeface="Times New Roman"/>
                <a:cs typeface="Times New Roman"/>
              </a:rPr>
              <a:t>A</a:t>
            </a:r>
            <a:r>
              <a:rPr sz="1200">
                <a:solidFill>
                  <a:srgbClr val="000000"/>
                </a:solidFill>
                <a:latin typeface="Times New Roman"/>
                <a:ea typeface="Times New Roman"/>
                <a:cs typeface="Times New Roman"/>
              </a:rPr>
              <a:t>观测图像</a:t>
            </a:r>
            <a:endParaRPr sz="2400">
              <a:solidFill>
                <a:srgbClr val="000000"/>
              </a:solidFill>
            </a:endParaRPr>
          </a:p>
        </p:txBody>
      </p:sp>
    </p:spTree>
    <p:extLst>
      <p:ext uri="{BB962C8B-B14F-4D97-AF65-F5344CB8AC3E}">
        <p14:creationId xmlns:p14="http://schemas.microsoft.com/office/powerpoint/2010/main" val="438617015"/>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807b86ccb0d644cb"/>
          <a:stretch xmlns:a="http://schemas.openxmlformats.org/drawingml/2006/main">
            <a:fillRect l="0" t="0" r="0" b="0"/>
          </a:stretch>
        </p:blipFill>
        <p:spPr>
          <a:xfrm xmlns:a="http://schemas.openxmlformats.org/drawingml/2006/main">
            <a:off x="6937586" y="1839595"/>
            <a:ext cx="5140960" cy="1589405"/>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4779adb762814bf6"/>
          <a:stretch xmlns:a="http://schemas.openxmlformats.org/drawingml/2006/main">
            <a:fillRect l="0" t="0" r="0" b="0"/>
          </a:stretch>
        </p:blipFill>
        <p:spPr>
          <a:xfrm xmlns:a="http://schemas.openxmlformats.org/drawingml/2006/main">
            <a:off x="7116233" y="3500649"/>
            <a:ext cx="4597400" cy="2348230"/>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59D97574-C798-0672-0DE7-4E609517CD8D}"/>
              </a:ext>
            </a:extLst>
          </p:cNvPr>
          <p:cNvSpPr>
            <a:spLocks xmlns:a="http://schemas.openxmlformats.org/drawingml/2006/main" noGrp="1"/>
          </p:cNvSpPr>
          <p:nvPr/>
        </p:nvSpPr>
        <p:spPr>
          <a:xfrm xmlns:a="http://schemas.openxmlformats.org/drawingml/2006/main">
            <a:off x="859366" y="947043"/>
            <a:ext cx="10054167" cy="8925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以卫星</a:t>
            </a:r>
            <a:r>
              <a:rPr sz="2000" b="1">
                <a:solidFill>
                  <a:srgbClr val="000000"/>
                </a:solidFill>
                <a:latin typeface="微软雅黑"/>
                <a:ea typeface="微软雅黑"/>
                <a:cs typeface="微软雅黑"/>
              </a:rPr>
              <a:t>/</a:t>
            </a:r>
            <a:r>
              <a:rPr sz="2000" b="1">
                <a:solidFill>
                  <a:srgbClr val="000000"/>
                </a:solidFill>
                <a:latin typeface="微软雅黑"/>
                <a:ea typeface="微软雅黑"/>
                <a:cs typeface="微软雅黑"/>
              </a:rPr>
              <a:t>惯性组合定位结果作为参考的位置真值，与协同定位结果进行对比。案例实验场景如图</a:t>
            </a:r>
            <a:r>
              <a:rPr sz="2000" b="1">
                <a:solidFill>
                  <a:srgbClr val="000000"/>
                </a:solidFill>
                <a:latin typeface="微软雅黑"/>
                <a:ea typeface="微软雅黑"/>
                <a:cs typeface="微软雅黑"/>
              </a:rPr>
              <a:t>6-15</a:t>
            </a:r>
            <a:r>
              <a:rPr sz="2000" b="1">
                <a:solidFill>
                  <a:srgbClr val="000000"/>
                </a:solidFill>
                <a:latin typeface="微软雅黑"/>
                <a:ea typeface="微软雅黑"/>
                <a:cs typeface="微软雅黑"/>
              </a:rPr>
              <a:t>所示，实验中采用的地面平台如图</a:t>
            </a:r>
            <a:r>
              <a:rPr sz="2000" b="1">
                <a:solidFill>
                  <a:srgbClr val="000000"/>
                </a:solidFill>
                <a:latin typeface="微软雅黑"/>
                <a:ea typeface="微软雅黑"/>
                <a:cs typeface="微软雅黑"/>
              </a:rPr>
              <a:t>6-16</a:t>
            </a:r>
            <a:r>
              <a:rPr sz="2000" b="1">
                <a:solidFill>
                  <a:srgbClr val="000000"/>
                </a:solidFill>
                <a:latin typeface="微软雅黑"/>
                <a:ea typeface="微软雅黑"/>
                <a:cs typeface="微软雅黑"/>
              </a:rPr>
              <a:t>所示：</a:t>
            </a:r>
          </a:p>
        </p:txBody>
      </p:sp>
      <p:pic>
        <p:nvPicPr>
          <p:cNvPr id="14" name="图片 6"/>
          <p:cNvPicPr>
            <a:picLocks xmlns:a="http://schemas.openxmlformats.org/drawingml/2006/main" noChangeAspect="1"/>
          </p:cNvPicPr>
          <p:nvPr/>
        </p:nvPicPr>
        <p:blipFill>
          <a:blip xmlns:r="http://schemas.openxmlformats.org/officeDocument/2006/relationships" xmlns:a="http://schemas.openxmlformats.org/drawingml/2006/main" r:embed="R8f5c8bc7a9394c7a"/>
          <a:srcRect xmlns:a="http://schemas.openxmlformats.org/drawingml/2006/main" l="0" t="0" r="0" b="0"/>
          <a:stretch xmlns:a="http://schemas.openxmlformats.org/drawingml/2006/main">
            <a:fillRect l="0" t="0" r="0" b="0"/>
          </a:stretch>
        </p:blipFill>
        <p:spPr>
          <a:xfrm xmlns:a="http://schemas.openxmlformats.org/drawingml/2006/main">
            <a:off x="1373821" y="1987784"/>
            <a:ext cx="4597631" cy="2348229"/>
          </a:xfrm>
          <a:prstGeom xmlns:a="http://schemas.openxmlformats.org/drawingml/2006/main" prst="rect">
            <a:avLst/>
          </a:prstGeom>
          <a:ln xmlns:a="http://schemas.openxmlformats.org/drawingml/2006/main">
            <a:noFill/>
          </a:ln>
        </p:spPr>
      </p:pic>
      <p:pic>
        <p:nvPicPr>
          <p:cNvPr id="15" name="图片 7"/>
          <p:cNvPicPr>
            <a:picLocks xmlns:a="http://schemas.openxmlformats.org/drawingml/2006/main" noChangeAspect="1"/>
          </p:cNvPicPr>
          <p:nvPr/>
        </p:nvPicPr>
        <p:blipFill>
          <a:blip xmlns:r="http://schemas.openxmlformats.org/officeDocument/2006/relationships" xmlns:a="http://schemas.openxmlformats.org/drawingml/2006/main" r:embed="Refbf8646f25140d5"/>
          <a:stretch xmlns:a="http://schemas.openxmlformats.org/drawingml/2006/main">
            <a:fillRect l="0" t="0" r="0" b="0"/>
          </a:stretch>
        </p:blipFill>
        <p:spPr>
          <a:xfrm xmlns:a="http://schemas.openxmlformats.org/drawingml/2006/main">
            <a:off x="2261129" y="4275645"/>
            <a:ext cx="2708805" cy="2304794"/>
          </a:xfrm>
          <a:prstGeom xmlns:a="http://schemas.openxmlformats.org/drawingml/2006/main" prst="rect">
            <a:avLst/>
          </a:prstGeom>
        </p:spPr>
      </p:pic>
    </p:spTree>
    <p:extLst>
      <p:ext uri="{BB962C8B-B14F-4D97-AF65-F5344CB8AC3E}">
        <p14:creationId xmlns:p14="http://schemas.microsoft.com/office/powerpoint/2010/main" val="176424029"/>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4" name="文本框 3">
            <a:extLst xmlns:a="http://schemas.openxmlformats.org/drawingml/2006/main">
              <a:ext uri="{FF2B5EF4-FFF2-40B4-BE49-F238E27FC236}">
                <a16:creationId xmlns:a16="http://schemas.microsoft.com/office/drawing/2014/main" id="{CD5B87CB-05BE-B650-98C4-B7C281180837}"/>
              </a:ext>
            </a:extLst>
          </p:cNvPr>
          <p:cNvSpPr>
            <a:spLocks xmlns:a="http://schemas.openxmlformats.org/drawingml/2006/main" noGrp="1"/>
          </p:cNvSpPr>
          <p:nvPr/>
        </p:nvSpPr>
        <p:spPr>
          <a:xfrm xmlns:a="http://schemas.openxmlformats.org/drawingml/2006/main">
            <a:off x="482600" y="1472970"/>
            <a:ext cx="5875868" cy="129266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以卫星</a:t>
            </a:r>
            <a:r>
              <a:rPr sz="2000" b="1">
                <a:solidFill>
                  <a:srgbClr val="000000"/>
                </a:solidFill>
                <a:latin typeface="微软雅黑"/>
                <a:ea typeface="微软雅黑"/>
                <a:cs typeface="微软雅黑"/>
              </a:rPr>
              <a:t>/</a:t>
            </a:r>
            <a:r>
              <a:rPr sz="2000" b="1">
                <a:solidFill>
                  <a:srgbClr val="000000"/>
                </a:solidFill>
                <a:latin typeface="微软雅黑"/>
                <a:ea typeface="微软雅黑"/>
                <a:cs typeface="微软雅黑"/>
              </a:rPr>
              <a:t>惯性组合定位结果作为参考的位置真值，与协同定位结果进行对比。案例实验场景如图</a:t>
            </a:r>
            <a:r>
              <a:rPr sz="2000" b="1">
                <a:solidFill>
                  <a:srgbClr val="000000"/>
                </a:solidFill>
                <a:latin typeface="微软雅黑"/>
                <a:ea typeface="微软雅黑"/>
                <a:cs typeface="微软雅黑"/>
              </a:rPr>
              <a:t>6-15</a:t>
            </a:r>
            <a:r>
              <a:rPr sz="2000" b="1">
                <a:solidFill>
                  <a:srgbClr val="000000"/>
                </a:solidFill>
                <a:latin typeface="微软雅黑"/>
                <a:ea typeface="微软雅黑"/>
                <a:cs typeface="微软雅黑"/>
              </a:rPr>
              <a:t>所示，实验中采用的地面平台如图</a:t>
            </a:r>
            <a:r>
              <a:rPr sz="2000" b="1">
                <a:solidFill>
                  <a:srgbClr val="000000"/>
                </a:solidFill>
                <a:latin typeface="微软雅黑"/>
                <a:ea typeface="微软雅黑"/>
                <a:cs typeface="微软雅黑"/>
              </a:rPr>
              <a:t>6-16</a:t>
            </a:r>
            <a:r>
              <a:rPr sz="2000" b="1">
                <a:solidFill>
                  <a:srgbClr val="000000"/>
                </a:solidFill>
                <a:latin typeface="微软雅黑"/>
                <a:ea typeface="微软雅黑"/>
                <a:cs typeface="微软雅黑"/>
              </a:rPr>
              <a:t>所示：</a:t>
            </a:r>
          </a:p>
        </p:txBody>
      </p:sp>
      <p:sp>
        <p:nvSpPr>
          <p:cNvPr id="7" name="文本框 6">
            <a:extLst xmlns:a="http://schemas.openxmlformats.org/drawingml/2006/main">
              <a:ext uri="{FF2B5EF4-FFF2-40B4-BE49-F238E27FC236}">
                <a16:creationId xmlns:a16="http://schemas.microsoft.com/office/drawing/2014/main" id="{CB2FD42B-2A41-5BBE-E21A-27219EAF7C60}"/>
              </a:ext>
            </a:extLst>
          </p:cNvPr>
          <p:cNvSpPr>
            <a:spLocks xmlns:a="http://schemas.openxmlformats.org/drawingml/2006/main" noGrp="1"/>
          </p:cNvSpPr>
          <p:nvPr/>
        </p:nvSpPr>
        <p:spPr>
          <a:xfrm xmlns:a="http://schemas.openxmlformats.org/drawingml/2006/main">
            <a:off x="618067" y="3429000"/>
            <a:ext cx="5875867" cy="24929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720000">
              <a:lnSpc>
                <a:spcPct val="130000"/>
              </a:lnSpc>
              <a:buNone/>
            </a:pPr>
            <a:r>
              <a:rPr sz="2000" b="1">
                <a:solidFill>
                  <a:srgbClr val="000000"/>
                </a:solidFill>
                <a:latin typeface="微软雅黑"/>
                <a:ea typeface="微软雅黑"/>
                <a:cs typeface="微软雅黑"/>
              </a:rPr>
              <a:t>搭载惯导系统和</a:t>
            </a:r>
            <a:r>
              <a:rPr sz="2000" b="1">
                <a:solidFill>
                  <a:srgbClr val="000000"/>
                </a:solidFill>
                <a:latin typeface="微软雅黑"/>
                <a:ea typeface="微软雅黑"/>
                <a:cs typeface="微软雅黑"/>
              </a:rPr>
              <a:t>UWB</a:t>
            </a:r>
            <a:r>
              <a:rPr sz="2000" b="1">
                <a:solidFill>
                  <a:srgbClr val="000000"/>
                </a:solidFill>
                <a:latin typeface="微软雅黑"/>
                <a:ea typeface="微软雅黑"/>
                <a:cs typeface="微软雅黑"/>
              </a:rPr>
              <a:t>测距模块的无人车围绕广场逆时针运动，</a:t>
            </a:r>
            <a:r>
              <a:rPr sz="2000" b="1">
                <a:solidFill>
                  <a:srgbClr val="000000"/>
                </a:solidFill>
                <a:latin typeface="微软雅黑"/>
                <a:ea typeface="微软雅黑"/>
                <a:cs typeface="微软雅黑"/>
              </a:rPr>
              <a:t>UWB</a:t>
            </a:r>
            <a:r>
              <a:rPr sz="2000" b="1">
                <a:solidFill>
                  <a:srgbClr val="000000"/>
                </a:solidFill>
                <a:latin typeface="微软雅黑"/>
                <a:ea typeface="微软雅黑"/>
                <a:cs typeface="微软雅黑"/>
              </a:rPr>
              <a:t>基站设置在广场中心位置，运动场景如图</a:t>
            </a:r>
            <a:r>
              <a:rPr sz="2000" b="1">
                <a:solidFill>
                  <a:srgbClr val="000000"/>
                </a:solidFill>
                <a:latin typeface="微软雅黑"/>
                <a:ea typeface="微软雅黑"/>
                <a:cs typeface="微软雅黑"/>
              </a:rPr>
              <a:t>6-17</a:t>
            </a:r>
            <a:r>
              <a:rPr sz="2000" b="1">
                <a:solidFill>
                  <a:srgbClr val="000000"/>
                </a:solidFill>
                <a:latin typeface="微软雅黑"/>
                <a:ea typeface="微软雅黑"/>
                <a:cs typeface="微软雅黑"/>
              </a:rPr>
              <a:t>所示。在运动开始前对运动平台进行了十分钟初始对准，将对准结果作为运动平台的初始运动状态。运动过程中采集平台的角速度、比力和测距信息。</a:t>
            </a:r>
          </a:p>
        </p:txBody>
      </p:sp>
      <p:pic>
        <p:nvPicPr>
          <p:cNvPr id="12" name="图片 7"/>
          <p:cNvPicPr>
            <a:picLocks xmlns:a="http://schemas.openxmlformats.org/drawingml/2006/main" noChangeAspect="1"/>
          </p:cNvPicPr>
          <p:nvPr/>
        </p:nvPicPr>
        <p:blipFill>
          <a:blip xmlns:r="http://schemas.openxmlformats.org/officeDocument/2006/relationships" xmlns:a="http://schemas.openxmlformats.org/drawingml/2006/main" r:embed="R9166a3eb57dd4965"/>
          <a:srcRect xmlns:a="http://schemas.openxmlformats.org/drawingml/2006/main" l="0" t="0" r="0" b="0"/>
          <a:stretch xmlns:a="http://schemas.openxmlformats.org/drawingml/2006/main">
            <a:fillRect l="0" t="0" r="0" b="0"/>
          </a:stretch>
        </p:blipFill>
        <p:spPr>
          <a:xfrm xmlns:a="http://schemas.openxmlformats.org/drawingml/2006/main">
            <a:off x="7611534" y="915077"/>
            <a:ext cx="2827866" cy="2771122"/>
          </a:xfrm>
          <a:prstGeom xmlns:a="http://schemas.openxmlformats.org/drawingml/2006/main" prst="rect">
            <a:avLst/>
          </a:prstGeom>
          <a:ln xmlns:a="http://schemas.openxmlformats.org/drawingml/2006/main">
            <a:noFill/>
          </a:ln>
        </p:spPr>
      </p:pic>
      <p:pic>
        <p:nvPicPr>
          <p:cNvPr id="13" name="图片 8"/>
          <p:cNvPicPr>
            <a:picLocks xmlns:a="http://schemas.openxmlformats.org/drawingml/2006/main" noChangeAspect="1"/>
          </p:cNvPicPr>
          <p:nvPr/>
        </p:nvPicPr>
        <p:blipFill>
          <a:blip xmlns:r="http://schemas.openxmlformats.org/officeDocument/2006/relationships" xmlns:a="http://schemas.openxmlformats.org/drawingml/2006/main" r:embed="R7fe531eed6f44a5b"/>
          <a:srcRect xmlns:a="http://schemas.openxmlformats.org/drawingml/2006/main" l="0" t="0" r="0" b="0"/>
          <a:stretch xmlns:a="http://schemas.openxmlformats.org/drawingml/2006/main">
            <a:fillRect l="0" t="0" r="0" b="0"/>
          </a:stretch>
        </p:blipFill>
        <p:spPr>
          <a:xfrm xmlns:a="http://schemas.openxmlformats.org/drawingml/2006/main">
            <a:off x="7209366" y="3939328"/>
            <a:ext cx="3687233" cy="267817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94191076"/>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9" name="Shape 7">
            <a:extLst xmlns:a="http://schemas.openxmlformats.org/drawingml/2006/main">
              <a:ext uri="{FF2B5EF4-FFF2-40B4-BE49-F238E27FC236}">
                <a16:creationId xmlns:a16="http://schemas.microsoft.com/office/drawing/2014/main" id="{ACEB898A-3359-436E-8346-5193D5741FA3}"/>
              </a:ext>
            </a:extLst>
          </p:cNvPr>
          <p:cNvSpPr>
            <a:spLocks xmlns:a="http://schemas.openxmlformats.org/drawingml/2006/main" noGrp="1"/>
          </p:cNvSpPr>
          <p:nvPr/>
        </p:nvSpPr>
        <p:spPr>
          <a:xfrm xmlns:a="http://schemas.openxmlformats.org/drawingml/2006/main" rot="0" flipH="0" flipV="0">
            <a:off x="542925" y="1895105"/>
            <a:ext cx="494438" cy="494438"/>
          </a:xfrm>
          <a:custGeom xmlns:a="http://schemas.openxmlformats.org/drawingml/2006/main">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xmlns:a="http://schemas.openxmlformats.org/drawingml/2006/main">
            <a:srgbClr val="3D8B8B"/>
          </a:solidFill>
        </p:spPr>
      </p:sp>
      <p:sp>
        <p:nvSpPr>
          <p:cNvPr id="10" name="Text 8">
            <a:extLst xmlns:a="http://schemas.openxmlformats.org/drawingml/2006/main">
              <a:ext uri="{FF2B5EF4-FFF2-40B4-BE49-F238E27FC236}">
                <a16:creationId xmlns:a16="http://schemas.microsoft.com/office/drawing/2014/main" id="{32972713-D710-43DC-899E-9A47635B8280}"/>
              </a:ext>
            </a:extLst>
          </p:cNvPr>
          <p:cNvSpPr>
            <a:spLocks xmlns:a="http://schemas.openxmlformats.org/drawingml/2006/main" noGrp="1"/>
          </p:cNvSpPr>
          <p:nvPr/>
        </p:nvSpPr>
        <p:spPr>
          <a:xfrm xmlns:a="http://schemas.openxmlformats.org/drawingml/2006/main" rot="0" flipH="0" flipV="0">
            <a:off x="747411" y="1987812"/>
            <a:ext cx="200865" cy="309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1</a:t>
            </a:r>
            <a:endParaRPr/>
          </a:p>
        </p:txBody>
      </p:sp>
      <p:sp>
        <p:nvSpPr>
          <p:cNvPr id="11" name="Text 9">
            <a:extLst xmlns:a="http://schemas.openxmlformats.org/drawingml/2006/main">
              <a:ext uri="{FF2B5EF4-FFF2-40B4-BE49-F238E27FC236}">
                <a16:creationId xmlns:a16="http://schemas.microsoft.com/office/drawing/2014/main" id="{9CDF1D0D-0756-41B3-9D1E-CF5C6F613D5E}"/>
              </a:ext>
            </a:extLst>
          </p:cNvPr>
          <p:cNvSpPr>
            <a:spLocks xmlns:a="http://schemas.openxmlformats.org/drawingml/2006/main" noGrp="1"/>
          </p:cNvSpPr>
          <p:nvPr/>
        </p:nvSpPr>
        <p:spPr>
          <a:xfrm xmlns:a="http://schemas.openxmlformats.org/drawingml/2006/main" rot="0" flipH="0" flipV="0">
            <a:off x="1222777" y="1895105"/>
            <a:ext cx="9329892" cy="62547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t>超宽带测距与激光测距获取的相对观测信息是否相同，若不同请进行说明？</a:t>
            </a:r>
            <a:endParaRPr/>
          </a:p>
        </p:txBody>
      </p:sp>
      <p:sp>
        <p:nvSpPr>
          <p:cNvPr id="17" name="Shape 15">
            <a:extLst xmlns:a="http://schemas.openxmlformats.org/drawingml/2006/main">
              <a:ext uri="{FF2B5EF4-FFF2-40B4-BE49-F238E27FC236}">
                <a16:creationId xmlns:a16="http://schemas.microsoft.com/office/drawing/2014/main" id="{B67A7648-E084-4DD0-8CFD-15581695ECA5}"/>
              </a:ext>
            </a:extLst>
          </p:cNvPr>
          <p:cNvSpPr>
            <a:spLocks xmlns:a="http://schemas.openxmlformats.org/drawingml/2006/main" noGrp="1"/>
          </p:cNvSpPr>
          <p:nvPr/>
        </p:nvSpPr>
        <p:spPr>
          <a:xfrm xmlns:a="http://schemas.openxmlformats.org/drawingml/2006/main" rot="0" flipH="0" flipV="0">
            <a:off x="542925" y="3100299"/>
            <a:ext cx="494438" cy="494438"/>
          </a:xfrm>
          <a:custGeom xmlns:a="http://schemas.openxmlformats.org/drawingml/2006/main">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xmlns:a="http://schemas.openxmlformats.org/drawingml/2006/main">
            <a:srgbClr val="3D8B8B"/>
          </a:solidFill>
        </p:spPr>
      </p:sp>
      <p:sp>
        <p:nvSpPr>
          <p:cNvPr id="18" name="Text 16">
            <a:extLst xmlns:a="http://schemas.openxmlformats.org/drawingml/2006/main">
              <a:ext uri="{FF2B5EF4-FFF2-40B4-BE49-F238E27FC236}">
                <a16:creationId xmlns:a16="http://schemas.microsoft.com/office/drawing/2014/main" id="{AEEE758C-8858-406C-8BA4-0DCFE1DAD9E1}"/>
              </a:ext>
            </a:extLst>
          </p:cNvPr>
          <p:cNvSpPr>
            <a:spLocks xmlns:a="http://schemas.openxmlformats.org/drawingml/2006/main" noGrp="1"/>
          </p:cNvSpPr>
          <p:nvPr/>
        </p:nvSpPr>
        <p:spPr>
          <a:xfrm xmlns:a="http://schemas.openxmlformats.org/drawingml/2006/main" rot="0" flipH="0" flipV="0">
            <a:off x="726407" y="3193006"/>
            <a:ext cx="231767" cy="309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2</a:t>
            </a:r>
            <a:endParaRPr/>
          </a:p>
        </p:txBody>
      </p:sp>
      <p:sp>
        <p:nvSpPr>
          <p:cNvPr id="19" name="Text 17">
            <a:extLst xmlns:a="http://schemas.openxmlformats.org/drawingml/2006/main">
              <a:ext uri="{FF2B5EF4-FFF2-40B4-BE49-F238E27FC236}">
                <a16:creationId xmlns:a16="http://schemas.microsoft.com/office/drawing/2014/main" id="{326002A9-5FE9-48D4-ABD9-8D034ED7AC49}"/>
              </a:ext>
            </a:extLst>
          </p:cNvPr>
          <p:cNvSpPr>
            <a:spLocks xmlns:a="http://schemas.openxmlformats.org/drawingml/2006/main" noGrp="1"/>
          </p:cNvSpPr>
          <p:nvPr/>
        </p:nvSpPr>
        <p:spPr>
          <a:xfrm xmlns:a="http://schemas.openxmlformats.org/drawingml/2006/main" rot="0" flipH="0" flipV="0">
            <a:off x="1141657" y="2830578"/>
            <a:ext cx="7439308" cy="1039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t>分析集中式协同导航算法和分布式协同导航算法的优缺点？</a:t>
            </a:r>
            <a:endParaRPr/>
          </a:p>
        </p:txBody>
      </p:sp>
      <p:sp>
        <p:nvSpPr>
          <p:cNvPr id="25" name="Shape 23">
            <a:extLst xmlns:a="http://schemas.openxmlformats.org/drawingml/2006/main">
              <a:ext uri="{FF2B5EF4-FFF2-40B4-BE49-F238E27FC236}">
                <a16:creationId xmlns:a16="http://schemas.microsoft.com/office/drawing/2014/main" id="{D29DB875-5EDA-4A2B-833B-769440FCF2DD}"/>
              </a:ext>
            </a:extLst>
          </p:cNvPr>
          <p:cNvSpPr>
            <a:spLocks xmlns:a="http://schemas.openxmlformats.org/drawingml/2006/main" noGrp="1"/>
          </p:cNvSpPr>
          <p:nvPr/>
        </p:nvSpPr>
        <p:spPr>
          <a:xfrm xmlns:a="http://schemas.openxmlformats.org/drawingml/2006/main" rot="0" flipH="0" flipV="0">
            <a:off x="542925" y="4305492"/>
            <a:ext cx="494438" cy="494438"/>
          </a:xfrm>
          <a:custGeom xmlns:a="http://schemas.openxmlformats.org/drawingml/2006/main">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xmlns:a="http://schemas.openxmlformats.org/drawingml/2006/main">
            <a:srgbClr val="3D8B8B"/>
          </a:solidFill>
        </p:spPr>
      </p:sp>
      <p:sp>
        <p:nvSpPr>
          <p:cNvPr id="26" name="Text 24">
            <a:extLst xmlns:a="http://schemas.openxmlformats.org/drawingml/2006/main">
              <a:ext uri="{FF2B5EF4-FFF2-40B4-BE49-F238E27FC236}">
                <a16:creationId xmlns:a16="http://schemas.microsoft.com/office/drawing/2014/main" id="{917B67A6-F976-4C3E-89E0-520B495FC890}"/>
              </a:ext>
            </a:extLst>
          </p:cNvPr>
          <p:cNvSpPr>
            <a:spLocks xmlns:a="http://schemas.openxmlformats.org/drawingml/2006/main" noGrp="1"/>
          </p:cNvSpPr>
          <p:nvPr/>
        </p:nvSpPr>
        <p:spPr>
          <a:xfrm xmlns:a="http://schemas.openxmlformats.org/drawingml/2006/main" rot="0" flipH="0" flipV="0">
            <a:off x="725442" y="4398200"/>
            <a:ext cx="231767" cy="309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3</a:t>
            </a:r>
            <a:endParaRPr/>
          </a:p>
        </p:txBody>
      </p:sp>
      <p:sp>
        <p:nvSpPr>
          <p:cNvPr id="27" name="Text 25">
            <a:extLst xmlns:a="http://schemas.openxmlformats.org/drawingml/2006/main">
              <a:ext uri="{FF2B5EF4-FFF2-40B4-BE49-F238E27FC236}">
                <a16:creationId xmlns:a16="http://schemas.microsoft.com/office/drawing/2014/main" id="{934BA902-3D76-4606-8B56-268E5691ECCA}"/>
              </a:ext>
            </a:extLst>
          </p:cNvPr>
          <p:cNvSpPr>
            <a:spLocks xmlns:a="http://schemas.openxmlformats.org/drawingml/2006/main" noGrp="1"/>
          </p:cNvSpPr>
          <p:nvPr/>
        </p:nvSpPr>
        <p:spPr>
          <a:xfrm xmlns:a="http://schemas.openxmlformats.org/drawingml/2006/main" rot="0" flipH="0" flipV="0">
            <a:off x="1222777" y="4305492"/>
            <a:ext cx="6388983" cy="4944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t>分析基于交叉视图的协同导航系统对通信链路的需求</a:t>
            </a:r>
            <a:endParaRPr/>
          </a:p>
        </p:txBody>
      </p:sp>
      <p:sp>
        <p:nvSpPr>
          <p:cNvPr id="45" name="矩形 44">
            <a:extLst xmlns:a="http://schemas.openxmlformats.org/drawingml/2006/main">
              <a:ext uri="{FF2B5EF4-FFF2-40B4-BE49-F238E27FC236}">
                <a16:creationId xmlns:a16="http://schemas.microsoft.com/office/drawing/2014/main" id="{20E9C4FF-9C76-48FC-A814-27180048A666}"/>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文本框 45">
            <a:extLst xmlns:a="http://schemas.openxmlformats.org/drawingml/2006/main">
              <a:ext uri="{FF2B5EF4-FFF2-40B4-BE49-F238E27FC236}">
                <a16:creationId xmlns:a16="http://schemas.microsoft.com/office/drawing/2014/main" id="{0CE11ED0-25AD-0169-4A59-973CE08C29FC}"/>
              </a:ext>
            </a:extLst>
          </p:cNvPr>
          <p:cNvSpPr>
            <a:spLocks xmlns:a="http://schemas.openxmlformats.org/drawingml/2006/main" noGrp="1"/>
          </p:cNvSpPr>
          <p:nvPr/>
        </p:nvSpPr>
        <p:spPr>
          <a:xfrm xmlns:a="http://schemas.openxmlformats.org/drawingml/2006/main" rot="0" flipH="0" flipV="0">
            <a:off x="270932" y="1021703"/>
            <a:ext cx="592031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思考题与习题</a:t>
            </a:r>
          </a:p>
        </p:txBody>
      </p:sp>
    </p:spTree>
    <p:extLst>
      <p:ext uri="{BB962C8B-B14F-4D97-AF65-F5344CB8AC3E}">
        <p14:creationId xmlns:p14="http://schemas.microsoft.com/office/powerpoint/2010/main" val="1108729843"/>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pic>
        <p:nvPicPr>
          <p:cNvPr id="17"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f597d88c412c4ef1"/>
          <a:srcRect xmlns:a="http://schemas.openxmlformats.org/drawingml/2006/main" l="0" t="0" r="0" b="84518"/>
          <a:stretch xmlns:a="http://schemas.openxmlformats.org/drawingml/2006/main">
            <a:fillRect l="0" t="0" r="0" b="0"/>
          </a:stretch>
        </p:blipFill>
        <p:spPr>
          <a:xfrm xmlns:a="http://schemas.openxmlformats.org/drawingml/2006/main" rot="0" flipH="0" flipV="0">
            <a:off x="2817813" y="1774224"/>
            <a:ext cx="6554788" cy="686393"/>
          </a:xfrm>
          <a:prstGeom xmlns:a="http://schemas.openxmlformats.org/drawingml/2006/main" prst="rect">
            <a:avLst/>
          </a:prstGeom>
        </p:spPr>
      </p:pic>
      <p:sp>
        <p:nvSpPr>
          <p:cNvPr id="13" name="文本框 5">
            <a:extLst xmlns:a="http://schemas.openxmlformats.org/drawingml/2006/main">
              <a:ext uri="{FF2B5EF4-FFF2-40B4-BE49-F238E27FC236}">
                <a16:creationId xmlns:a16="http://schemas.microsoft.com/office/drawing/2014/main" id="{D90C6A85-4211-45B2-8926-62A0BC9D2AEB}"/>
              </a:ext>
            </a:extLst>
          </p:cNvPr>
          <p:cNvSpPr>
            <a:spLocks xmlns:a="http://schemas.openxmlformats.org/drawingml/2006/main" noGrp="1"/>
          </p:cNvSpPr>
          <p:nvPr/>
        </p:nvSpPr>
        <p:spPr>
          <a:xfrm xmlns:a="http://schemas.openxmlformats.org/drawingml/2006/main" rot="0" flipH="0" flipV="0">
            <a:off x="4854894" y="1774224"/>
            <a:ext cx="2480626"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a:buNone/>
            </a:pPr>
            <a:r>
              <a:rPr sz="3600" b="1" spc="300">
                <a:solidFill>
                  <a:schemeClr val="bg1"/>
                </a:solidFill>
                <a:effectLst>
                  <a:outerShdw blurRad="101600" dist="12700" dir="5400000" algn="t" rotWithShape="0">
                    <a:schemeClr val="accent3">
                      <a:alpha val="85000"/>
                    </a:schemeClr>
                  </a:outerShdw>
                </a:effectLst>
                <a:latin typeface="+mj-ea"/>
                <a:ea typeface="+mj-ea"/>
                <a:cs typeface="+mj-ea"/>
              </a:rPr>
              <a:t>第七章 </a:t>
            </a:r>
            <a:endParaRPr sz="3600" b="1">
              <a:solidFill>
                <a:schemeClr val="bg1"/>
              </a:solidFill>
              <a:effectLst>
                <a:outerShdw blurRad="101600" dist="12700" dir="5400000" algn="t" rotWithShape="0">
                  <a:schemeClr val="accent3">
                    <a:alpha val="85000"/>
                  </a:schemeClr>
                </a:outerShdw>
              </a:effectLst>
              <a:latin typeface="+mj-ea"/>
              <a:ea typeface="+mj-ea"/>
              <a:cs typeface="+mj-ea"/>
            </a:endParaRPr>
          </a:p>
        </p:txBody>
      </p:sp>
      <p:pic>
        <p:nvPicPr>
          <p:cNvPr id="19"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f597d88c412c4ef1"/>
          <a:srcRect xmlns:a="http://schemas.openxmlformats.org/drawingml/2006/main" l="0" t="21436" r="0" b="66823"/>
          <a:stretch xmlns:a="http://schemas.openxmlformats.org/drawingml/2006/main">
            <a:fillRect l="0" t="0" r="0" b="0"/>
          </a:stretch>
        </p:blipFill>
        <p:spPr>
          <a:xfrm xmlns:a="http://schemas.openxmlformats.org/drawingml/2006/main" rot="0" flipH="0" flipV="0">
            <a:off x="977900" y="2745183"/>
            <a:ext cx="10236201" cy="812905"/>
          </a:xfrm>
          <a:prstGeom xmlns:a="http://schemas.openxmlformats.org/drawingml/2006/main" prst="rect">
            <a:avLst/>
          </a:prstGeom>
        </p:spPr>
      </p:pic>
      <p:pic>
        <p:nvPicPr>
          <p:cNvPr id="2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f597d88c412c4ef1"/>
          <a:srcRect xmlns:a="http://schemas.openxmlformats.org/drawingml/2006/main" l="0" t="77991" r="0" b="-27"/>
          <a:stretch xmlns:a="http://schemas.openxmlformats.org/drawingml/2006/main">
            <a:fillRect l="0" t="0" r="0" b="0"/>
          </a:stretch>
        </p:blipFill>
        <p:spPr>
          <a:xfrm xmlns:a="http://schemas.openxmlformats.org/drawingml/2006/main" rot="0" flipH="0" flipV="0">
            <a:off x="977900" y="3558089"/>
            <a:ext cx="10236201" cy="1525686"/>
          </a:xfrm>
          <a:prstGeom xmlns:a="http://schemas.openxmlformats.org/drawingml/2006/main" prst="rect">
            <a:avLst/>
          </a:prstGeom>
        </p:spPr>
      </p:pic>
      <p:sp>
        <p:nvSpPr>
          <p:cNvPr id="9" name="PA-文本框 47">
            <a:extLst xmlns:a="http://schemas.openxmlformats.org/drawingml/2006/main">
              <a:ext uri="{FF2B5EF4-FFF2-40B4-BE49-F238E27FC236}">
                <a16:creationId xmlns:a16="http://schemas.microsoft.com/office/drawing/2014/main" id="{985DD84F-316B-4DFC-AF2F-B67930E924AB}"/>
              </a:ext>
            </a:extLst>
          </p:cNvPr>
          <p:cNvSpPr>
            <a:spLocks xmlns:a="http://schemas.openxmlformats.org/drawingml/2006/main" noGrp="1"/>
          </p:cNvSpPr>
          <p:nvPr/>
        </p:nvSpPr>
        <p:spPr>
          <a:xfrm xmlns:a="http://schemas.openxmlformats.org/drawingml/2006/main" rot="0" flipH="0" flipV="0">
            <a:off x="2039332" y="3314315"/>
            <a:ext cx="8113336" cy="1200329"/>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lvl="0" algn="ctr">
              <a:lnSpc>
                <a:spcPct val="100000"/>
              </a:lnSpc>
              <a:buNone/>
            </a:pPr>
            <a:r>
              <a:rPr sz="7200" b="1" spc="100">
                <a:solidFill>
                  <a:schemeClr val="bg1"/>
                </a:solidFill>
                <a:effectLst>
                  <a:outerShdw blurRad="101600" dist="12700" dir="5400000" algn="t" rotWithShape="0">
                    <a:schemeClr val="accent3">
                      <a:alpha val="85000"/>
                    </a:schemeClr>
                  </a:outerShdw>
                </a:effectLst>
                <a:latin typeface="+mj-ea"/>
                <a:ea typeface="+mj-ea"/>
                <a:cs typeface="+mj-ea"/>
              </a:rPr>
              <a:t>机器人导航规划</a:t>
            </a:r>
          </a:p>
        </p:txBody>
      </p:sp>
    </p:spTree>
    <p:extLst>
      <p:ext uri="{BB962C8B-B14F-4D97-AF65-F5344CB8AC3E}">
        <p14:creationId xmlns:p14="http://schemas.microsoft.com/office/powerpoint/2010/main" val="2164159082"/>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DDEFF9F0-91D6-45B2-92A4-38C1A3E2AFF6}"/>
              </a:ext>
            </a:extLst>
          </p:cNvPr>
          <p:cNvSpPr>
            <a:spLocks xmlns:a="http://schemas.openxmlformats.org/drawingml/2006/main" noGrp="1"/>
          </p:cNvSpPr>
          <p:nvPr/>
        </p:nvSpPr>
        <p:spPr>
          <a:xfrm xmlns:a="http://schemas.openxmlformats.org/drawingml/2006/main">
            <a:off x="633657" y="3429000"/>
            <a:ext cx="10706969" cy="3305703"/>
          </a:xfrm>
          <a:custGeom xmlns:a="http://schemas.openxmlformats.org/drawingml/2006/main">
            <a:rect l="l" t="t" r="r" b="b"/>
            <a:pathLst>
              <a:path w="6700268" h="3305703">
                <a:moveTo>
                  <a:pt x="35545" y="0"/>
                </a:moveTo>
                <a:lnTo>
                  <a:pt x="6558090" y="0"/>
                </a:lnTo>
                <a:cubicBezTo>
                  <a:pt x="6636613" y="0"/>
                  <a:pt x="6700268" y="63655"/>
                  <a:pt x="6700268" y="142178"/>
                </a:cubicBezTo>
                <a:lnTo>
                  <a:pt x="6700268" y="3163524"/>
                </a:lnTo>
                <a:cubicBezTo>
                  <a:pt x="6700268" y="3242047"/>
                  <a:pt x="6636613" y="3305703"/>
                  <a:pt x="6558090" y="3305703"/>
                </a:cubicBezTo>
                <a:lnTo>
                  <a:pt x="35545" y="3305703"/>
                </a:lnTo>
                <a:cubicBezTo>
                  <a:pt x="15914" y="3305703"/>
                  <a:pt x="0" y="3289789"/>
                  <a:pt x="0" y="3270157"/>
                </a:cubicBezTo>
                <a:lnTo>
                  <a:pt x="0" y="35545"/>
                </a:lnTo>
                <a:cubicBezTo>
                  <a:pt x="0" y="15927"/>
                  <a:pt x="15927" y="0"/>
                  <a:pt x="35545"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16BA7BE0-BCFC-420F-A956-14A4BA425184}"/>
              </a:ext>
            </a:extLst>
          </p:cNvPr>
          <p:cNvSpPr>
            <a:spLocks xmlns:a="http://schemas.openxmlformats.org/drawingml/2006/main" noGrp="1"/>
          </p:cNvSpPr>
          <p:nvPr/>
        </p:nvSpPr>
        <p:spPr>
          <a:xfrm xmlns:a="http://schemas.openxmlformats.org/drawingml/2006/main">
            <a:off x="633658" y="3429000"/>
            <a:ext cx="35545" cy="3305703"/>
          </a:xfrm>
          <a:custGeom xmlns:a="http://schemas.openxmlformats.org/drawingml/2006/main">
            <a:rect l="l" t="t" r="r" b="b"/>
            <a:pathLst>
              <a:path w="35545" h="3305703">
                <a:moveTo>
                  <a:pt x="35545" y="0"/>
                </a:moveTo>
                <a:lnTo>
                  <a:pt x="35545" y="0"/>
                </a:lnTo>
                <a:lnTo>
                  <a:pt x="35545" y="3305703"/>
                </a:lnTo>
                <a:lnTo>
                  <a:pt x="35545" y="3305703"/>
                </a:lnTo>
                <a:cubicBezTo>
                  <a:pt x="15914" y="3305703"/>
                  <a:pt x="0" y="3289789"/>
                  <a:pt x="0" y="3270157"/>
                </a:cubicBezTo>
                <a:lnTo>
                  <a:pt x="0" y="35545"/>
                </a:lnTo>
                <a:cubicBezTo>
                  <a:pt x="0" y="15927"/>
                  <a:pt x="15927" y="0"/>
                  <a:pt x="35545" y="0"/>
                </a:cubicBezTo>
                <a:close/>
              </a:path>
            </a:pathLst>
          </a:custGeom>
          <a:solidFill xmlns:a="http://schemas.openxmlformats.org/drawingml/2006/main">
            <a:srgbClr val="E6B450"/>
          </a:solidFill>
        </p:spPr>
      </p:sp>
      <p:sp>
        <p:nvSpPr>
          <p:cNvPr id="7" name="Text 5">
            <a:extLst xmlns:a="http://schemas.openxmlformats.org/drawingml/2006/main">
              <a:ext uri="{FF2B5EF4-FFF2-40B4-BE49-F238E27FC236}">
                <a16:creationId xmlns:a16="http://schemas.microsoft.com/office/drawing/2014/main" id="{49FF1B9C-1911-4A97-8035-198137D13EBB}"/>
              </a:ext>
            </a:extLst>
          </p:cNvPr>
          <p:cNvSpPr>
            <a:spLocks xmlns:a="http://schemas.openxmlformats.org/drawingml/2006/main" noGrp="1"/>
          </p:cNvSpPr>
          <p:nvPr/>
        </p:nvSpPr>
        <p:spPr>
          <a:xfrm xmlns:a="http://schemas.openxmlformats.org/drawingml/2006/main">
            <a:off x="935793" y="3713361"/>
            <a:ext cx="10070874" cy="87085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本章将对</a:t>
            </a:r>
            <a:r>
              <a:rPr sz="1600" b="1">
                <a:latin typeface="微软雅黑"/>
                <a:ea typeface="微软雅黑"/>
                <a:cs typeface="微软雅黑"/>
              </a:rPr>
              <a:t>机器人导航规划</a:t>
            </a:r>
            <a:r>
              <a:rPr sz="1600">
                <a:latin typeface="微软雅黑"/>
                <a:ea typeface="微软雅黑"/>
                <a:cs typeface="微软雅黑"/>
              </a:rPr>
              <a:t>进行较为系统的介绍，从常见的</a:t>
            </a:r>
            <a:r>
              <a:rPr sz="1600" b="1">
                <a:latin typeface="微软雅黑"/>
                <a:ea typeface="微软雅黑"/>
                <a:cs typeface="微软雅黑"/>
              </a:rPr>
              <a:t>地图表示方法</a:t>
            </a:r>
            <a:r>
              <a:rPr sz="1600">
                <a:latin typeface="微软雅黑"/>
                <a:ea typeface="微软雅黑"/>
                <a:cs typeface="微软雅黑"/>
              </a:rPr>
              <a:t>入手，告诉读者用于导航的地图能够作如何处理，接着对</a:t>
            </a:r>
            <a:r>
              <a:rPr sz="1600" b="1">
                <a:latin typeface="微软雅黑"/>
                <a:ea typeface="微软雅黑"/>
                <a:cs typeface="微软雅黑"/>
              </a:rPr>
              <a:t>全局路径规划</a:t>
            </a:r>
            <a:r>
              <a:rPr sz="1600">
                <a:latin typeface="微软雅黑"/>
                <a:ea typeface="微软雅黑"/>
                <a:cs typeface="微软雅黑"/>
              </a:rPr>
              <a:t>及</a:t>
            </a:r>
            <a:r>
              <a:rPr sz="1600" b="1">
                <a:latin typeface="微软雅黑"/>
                <a:ea typeface="微软雅黑"/>
                <a:cs typeface="微软雅黑"/>
              </a:rPr>
              <a:t>局部路径规划</a:t>
            </a:r>
            <a:r>
              <a:rPr sz="1600">
                <a:latin typeface="微软雅黑"/>
                <a:ea typeface="微软雅黑"/>
                <a:cs typeface="微软雅黑"/>
              </a:rPr>
              <a:t>进行了定义。</a:t>
            </a:r>
            <a:endParaRPr sz="1600"/>
          </a:p>
        </p:txBody>
      </p:sp>
      <p:sp>
        <p:nvSpPr>
          <p:cNvPr id="8" name="Text 6">
            <a:extLst xmlns:a="http://schemas.openxmlformats.org/drawingml/2006/main">
              <a:ext uri="{FF2B5EF4-FFF2-40B4-BE49-F238E27FC236}">
                <a16:creationId xmlns:a16="http://schemas.microsoft.com/office/drawing/2014/main" id="{BD232999-0589-48B8-A801-49D6D7F481CC}"/>
              </a:ext>
            </a:extLst>
          </p:cNvPr>
          <p:cNvSpPr>
            <a:spLocks xmlns:a="http://schemas.openxmlformats.org/drawingml/2006/main" noGrp="1"/>
          </p:cNvSpPr>
          <p:nvPr/>
        </p:nvSpPr>
        <p:spPr>
          <a:xfrm xmlns:a="http://schemas.openxmlformats.org/drawingml/2006/main">
            <a:off x="935793" y="4793047"/>
            <a:ext cx="10070874" cy="57760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就全局路径规划中的经典和先进算法，分别介绍了</a:t>
            </a:r>
            <a:r>
              <a:rPr sz="1600">
                <a:highlight>
                  <a:srgbClr val="E6B450">
                    <a:alpha val="20000"/>
                  </a:srgbClr>
                </a:highlight>
                <a:latin typeface="微软雅黑"/>
                <a:ea typeface="微软雅黑"/>
                <a:cs typeface="微软雅黑"/>
              </a:rPr>
              <a:t> A*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波前传播规划方法 </a:t>
            </a:r>
            <a:r>
              <a:rPr sz="1600">
                <a:latin typeface="微软雅黑"/>
                <a:ea typeface="微软雅黑"/>
                <a:cs typeface="微软雅黑"/>
              </a:rPr>
              <a:t>及</a:t>
            </a:r>
            <a:r>
              <a:rPr sz="1600">
                <a:highlight>
                  <a:srgbClr val="E6B450">
                    <a:alpha val="20000"/>
                  </a:srgbClr>
                </a:highlight>
                <a:latin typeface="微软雅黑"/>
                <a:ea typeface="微软雅黑"/>
                <a:cs typeface="微软雅黑"/>
              </a:rPr>
              <a:t> 快速扩展随机树算法 </a:t>
            </a:r>
            <a:r>
              <a:rPr sz="1600">
                <a:latin typeface="微软雅黑"/>
                <a:ea typeface="微软雅黑"/>
                <a:cs typeface="微软雅黑"/>
              </a:rPr>
              <a:t>。</a:t>
            </a:r>
            <a:endParaRPr sz="1600"/>
          </a:p>
        </p:txBody>
      </p:sp>
      <p:sp>
        <p:nvSpPr>
          <p:cNvPr id="9" name="Text 7">
            <a:extLst xmlns:a="http://schemas.openxmlformats.org/drawingml/2006/main">
              <a:ext uri="{FF2B5EF4-FFF2-40B4-BE49-F238E27FC236}">
                <a16:creationId xmlns:a16="http://schemas.microsoft.com/office/drawing/2014/main" id="{9C8C97B5-28B5-46E1-8FE6-76BAF4B8369B}"/>
              </a:ext>
            </a:extLst>
          </p:cNvPr>
          <p:cNvSpPr>
            <a:spLocks xmlns:a="http://schemas.openxmlformats.org/drawingml/2006/main" noGrp="1"/>
          </p:cNvSpPr>
          <p:nvPr/>
        </p:nvSpPr>
        <p:spPr>
          <a:xfrm xmlns:a="http://schemas.openxmlformats.org/drawingml/2006/main">
            <a:off x="935793" y="5583927"/>
            <a:ext cx="10070874" cy="87085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对于局部路径规划，则首先进行了</a:t>
            </a:r>
            <a:r>
              <a:rPr sz="1600" b="1">
                <a:latin typeface="微软雅黑"/>
                <a:ea typeface="微软雅黑"/>
                <a:cs typeface="微软雅黑"/>
              </a:rPr>
              <a:t>避障控制</a:t>
            </a:r>
            <a:r>
              <a:rPr sz="1600">
                <a:latin typeface="微软雅黑"/>
                <a:ea typeface="微软雅黑"/>
                <a:cs typeface="微软雅黑"/>
              </a:rPr>
              <a:t>方面的论述，然后讲解了路径平滑的经典方法</a:t>
            </a:r>
            <a:r>
              <a:rPr sz="1600">
                <a:highlight>
                  <a:srgbClr val="E6B450">
                    <a:alpha val="20000"/>
                  </a:srgbClr>
                </a:highlight>
                <a:latin typeface="微软雅黑"/>
                <a:ea typeface="微软雅黑"/>
                <a:cs typeface="微软雅黑"/>
              </a:rPr>
              <a:t> 贝塞尔曲线 </a:t>
            </a:r>
            <a:r>
              <a:rPr sz="1600">
                <a:latin typeface="微软雅黑"/>
                <a:ea typeface="微软雅黑"/>
                <a:cs typeface="微软雅黑"/>
              </a:rPr>
              <a:t>，接着介绍了</a:t>
            </a:r>
            <a:r>
              <a:rPr sz="1600">
                <a:highlight>
                  <a:srgbClr val="E6B450">
                    <a:alpha val="20000"/>
                  </a:srgbClr>
                </a:highlight>
                <a:latin typeface="微软雅黑"/>
                <a:ea typeface="微软雅黑"/>
                <a:cs typeface="微软雅黑"/>
              </a:rPr>
              <a:t> 未知环境自主探索 </a:t>
            </a:r>
            <a:r>
              <a:rPr sz="1600">
                <a:latin typeface="微软雅黑"/>
                <a:ea typeface="微软雅黑"/>
                <a:cs typeface="微软雅黑"/>
              </a:rPr>
              <a:t>相关算法，最后以</a:t>
            </a:r>
            <a:r>
              <a:rPr sz="1600">
                <a:highlight>
                  <a:srgbClr val="E6B450">
                    <a:alpha val="20000"/>
                  </a:srgbClr>
                </a:highlight>
                <a:latin typeface="微软雅黑"/>
                <a:ea typeface="微软雅黑"/>
                <a:cs typeface="微软雅黑"/>
              </a:rPr>
              <a:t> TEB算法 </a:t>
            </a:r>
            <a:r>
              <a:rPr sz="1600">
                <a:latin typeface="微软雅黑"/>
                <a:ea typeface="微软雅黑"/>
                <a:cs typeface="微软雅黑"/>
              </a:rPr>
              <a:t>收尾。</a:t>
            </a:r>
            <a:endParaRPr sz="1600"/>
          </a:p>
        </p:txBody>
      </p:sp>
      <p:sp>
        <p:nvSpPr>
          <p:cNvPr id="10" name="Shape 8">
            <a:extLst xmlns:a="http://schemas.openxmlformats.org/drawingml/2006/main">
              <a:ext uri="{FF2B5EF4-FFF2-40B4-BE49-F238E27FC236}">
                <a16:creationId xmlns:a16="http://schemas.microsoft.com/office/drawing/2014/main" id="{7CCCCDDD-709E-486B-B091-FB230DCB4D1C}"/>
              </a:ext>
            </a:extLst>
          </p:cNvPr>
          <p:cNvSpPr>
            <a:spLocks xmlns:a="http://schemas.openxmlformats.org/drawingml/2006/main" noGrp="1"/>
          </p:cNvSpPr>
          <p:nvPr/>
        </p:nvSpPr>
        <p:spPr>
          <a:xfrm xmlns:a="http://schemas.openxmlformats.org/drawingml/2006/main">
            <a:off x="633658" y="1297399"/>
            <a:ext cx="10706970" cy="1608420"/>
          </a:xfrm>
          <a:custGeom xmlns:a="http://schemas.openxmlformats.org/drawingml/2006/main">
            <a:rect l="l" t="t" r="r" b="b"/>
            <a:pathLst>
              <a:path w="4469808" h="1608420">
                <a:moveTo>
                  <a:pt x="106638" y="0"/>
                </a:moveTo>
                <a:lnTo>
                  <a:pt x="4363169" y="0"/>
                </a:lnTo>
                <a:cubicBezTo>
                  <a:pt x="4422064" y="0"/>
                  <a:pt x="4469808" y="47744"/>
                  <a:pt x="4469808" y="106638"/>
                </a:cubicBezTo>
                <a:lnTo>
                  <a:pt x="4469808" y="1501782"/>
                </a:lnTo>
                <a:cubicBezTo>
                  <a:pt x="4469808" y="1560676"/>
                  <a:pt x="4422064" y="1608420"/>
                  <a:pt x="4363169" y="1608420"/>
                </a:cubicBezTo>
                <a:lnTo>
                  <a:pt x="106638" y="1608420"/>
                </a:lnTo>
                <a:cubicBezTo>
                  <a:pt x="47744" y="1608420"/>
                  <a:pt x="0" y="1560676"/>
                  <a:pt x="0" y="1501782"/>
                </a:cubicBezTo>
                <a:lnTo>
                  <a:pt x="0" y="106638"/>
                </a:lnTo>
                <a:cubicBezTo>
                  <a:pt x="0" y="47783"/>
                  <a:pt x="47783" y="0"/>
                  <a:pt x="10663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1" name="Shape 9">
            <a:extLst xmlns:a="http://schemas.openxmlformats.org/drawingml/2006/main">
              <a:ext uri="{FF2B5EF4-FFF2-40B4-BE49-F238E27FC236}">
                <a16:creationId xmlns:a16="http://schemas.microsoft.com/office/drawing/2014/main" id="{D880F550-28F4-4E61-BEB2-B2132AEE183B}"/>
              </a:ext>
            </a:extLst>
          </p:cNvPr>
          <p:cNvSpPr>
            <a:spLocks xmlns:a="http://schemas.openxmlformats.org/drawingml/2006/main" noGrp="1"/>
          </p:cNvSpPr>
          <p:nvPr/>
        </p:nvSpPr>
        <p:spPr>
          <a:xfrm xmlns:a="http://schemas.openxmlformats.org/drawingml/2006/main">
            <a:off x="904690" y="1532886"/>
            <a:ext cx="159953" cy="213271"/>
          </a:xfrm>
          <a:custGeom xmlns:a="http://schemas.openxmlformats.org/drawingml/2006/main">
            <a:rect l="l" t="t" r="r" b="b"/>
            <a:pathLst>
              <a:path w="159953" h="213271">
                <a:moveTo>
                  <a:pt x="122006" y="159953"/>
                </a:moveTo>
                <a:cubicBezTo>
                  <a:pt x="125047" y="150664"/>
                  <a:pt x="131128" y="142250"/>
                  <a:pt x="138001" y="135002"/>
                </a:cubicBezTo>
                <a:cubicBezTo>
                  <a:pt x="151622" y="120673"/>
                  <a:pt x="159953" y="101304"/>
                  <a:pt x="159953" y="79977"/>
                </a:cubicBezTo>
                <a:cubicBezTo>
                  <a:pt x="159953" y="35823"/>
                  <a:pt x="124130" y="0"/>
                  <a:pt x="79977" y="0"/>
                </a:cubicBezTo>
                <a:cubicBezTo>
                  <a:pt x="35823" y="0"/>
                  <a:pt x="0" y="35823"/>
                  <a:pt x="0" y="79977"/>
                </a:cubicBezTo>
                <a:cubicBezTo>
                  <a:pt x="0" y="101304"/>
                  <a:pt x="8331" y="120673"/>
                  <a:pt x="21952" y="135002"/>
                </a:cubicBezTo>
                <a:cubicBezTo>
                  <a:pt x="28825" y="142250"/>
                  <a:pt x="34948" y="150664"/>
                  <a:pt x="37947" y="159953"/>
                </a:cubicBezTo>
                <a:lnTo>
                  <a:pt x="121964" y="159953"/>
                </a:lnTo>
                <a:close/>
                <a:moveTo>
                  <a:pt x="119965" y="179948"/>
                </a:moveTo>
                <a:lnTo>
                  <a:pt x="39988" y="179948"/>
                </a:lnTo>
                <a:lnTo>
                  <a:pt x="39988" y="186612"/>
                </a:lnTo>
                <a:cubicBezTo>
                  <a:pt x="39988" y="205024"/>
                  <a:pt x="54901" y="219936"/>
                  <a:pt x="73312" y="219936"/>
                </a:cubicBezTo>
                <a:lnTo>
                  <a:pt x="86641" y="219936"/>
                </a:lnTo>
                <a:cubicBezTo>
                  <a:pt x="105053" y="219936"/>
                  <a:pt x="119965" y="205024"/>
                  <a:pt x="119965" y="186612"/>
                </a:cubicBezTo>
                <a:lnTo>
                  <a:pt x="119965" y="179948"/>
                </a:lnTo>
                <a:close/>
                <a:moveTo>
                  <a:pt x="76644" y="46653"/>
                </a:moveTo>
                <a:cubicBezTo>
                  <a:pt x="60066" y="46653"/>
                  <a:pt x="46653" y="60066"/>
                  <a:pt x="46653" y="76644"/>
                </a:cubicBezTo>
                <a:cubicBezTo>
                  <a:pt x="46653" y="82184"/>
                  <a:pt x="42196" y="86641"/>
                  <a:pt x="36656" y="86641"/>
                </a:cubicBezTo>
                <a:cubicBezTo>
                  <a:pt x="31116" y="86641"/>
                  <a:pt x="26659" y="82184"/>
                  <a:pt x="26659" y="76644"/>
                </a:cubicBezTo>
                <a:cubicBezTo>
                  <a:pt x="26659" y="49027"/>
                  <a:pt x="49027" y="26659"/>
                  <a:pt x="76644" y="26659"/>
                </a:cubicBezTo>
                <a:cubicBezTo>
                  <a:pt x="82184" y="26659"/>
                  <a:pt x="86641" y="31116"/>
                  <a:pt x="86641" y="36656"/>
                </a:cubicBezTo>
                <a:cubicBezTo>
                  <a:pt x="86641" y="42196"/>
                  <a:pt x="82184" y="46653"/>
                  <a:pt x="76644" y="46653"/>
                </a:cubicBezTo>
                <a:close/>
              </a:path>
            </a:pathLst>
          </a:custGeom>
          <a:solidFill xmlns:a="http://schemas.openxmlformats.org/drawingml/2006/main">
            <a:srgbClr val="E6B450"/>
          </a:solidFill>
        </p:spPr>
      </p:sp>
      <p:sp>
        <p:nvSpPr>
          <p:cNvPr id="12" name="Text 10">
            <a:extLst xmlns:a="http://schemas.openxmlformats.org/drawingml/2006/main">
              <a:ext uri="{FF2B5EF4-FFF2-40B4-BE49-F238E27FC236}">
                <a16:creationId xmlns:a16="http://schemas.microsoft.com/office/drawing/2014/main" id="{B04FEC8D-E487-42D8-9DD2-2825E2EF28FF}"/>
              </a:ext>
            </a:extLst>
          </p:cNvPr>
          <p:cNvSpPr>
            <a:spLocks xmlns:a="http://schemas.openxmlformats.org/drawingml/2006/main" noGrp="1"/>
          </p:cNvSpPr>
          <p:nvPr/>
        </p:nvSpPr>
        <p:spPr>
          <a:xfrm xmlns:a="http://schemas.openxmlformats.org/drawingml/2006/main">
            <a:off x="1224597" y="1515113"/>
            <a:ext cx="1127443" cy="248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学习目标</a:t>
            </a:r>
            <a:endParaRPr/>
          </a:p>
        </p:txBody>
      </p:sp>
      <p:sp>
        <p:nvSpPr>
          <p:cNvPr id="13" name="Text 11">
            <a:extLst xmlns:a="http://schemas.openxmlformats.org/drawingml/2006/main">
              <a:ext uri="{FF2B5EF4-FFF2-40B4-BE49-F238E27FC236}">
                <a16:creationId xmlns:a16="http://schemas.microsoft.com/office/drawing/2014/main" id="{5112BC35-149C-4AC0-8317-E74503A617F7}"/>
              </a:ext>
            </a:extLst>
          </p:cNvPr>
          <p:cNvSpPr>
            <a:spLocks xmlns:a="http://schemas.openxmlformats.org/drawingml/2006/main" noGrp="1"/>
          </p:cNvSpPr>
          <p:nvPr/>
        </p:nvSpPr>
        <p:spPr>
          <a:xfrm xmlns:a="http://schemas.openxmlformats.org/drawingml/2006/main">
            <a:off x="851371" y="1906110"/>
            <a:ext cx="10216255" cy="78199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a:latin typeface="微软雅黑"/>
                <a:ea typeface="微软雅黑"/>
                <a:cs typeface="微软雅黑"/>
              </a:rPr>
              <a:t>通过本章学习，学生将掌握机器人导航规划的核心概念和算法，能够理解不同地图表示方法的优缺点，并具备选择合适路径规划算法的能力。</a:t>
            </a:r>
            <a:endParaRPr/>
          </a:p>
        </p:txBody>
      </p:sp>
    </p:spTree>
    <p:extLst>
      <p:ext uri="{BB962C8B-B14F-4D97-AF65-F5344CB8AC3E}">
        <p14:creationId xmlns:p14="http://schemas.microsoft.com/office/powerpoint/2010/main" val="2850441444"/>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9A1FA19C-AF52-4D8A-906E-CBC31C0FBD7E}"/>
              </a:ext>
            </a:extLst>
          </p:cNvPr>
          <p:cNvSpPr>
            <a:spLocks xmlns:a="http://schemas.openxmlformats.org/drawingml/2006/main" noGrp="1"/>
          </p:cNvSpPr>
          <p:nvPr>
            <p:ph idx="4294967295"/>
          </p:nvPr>
        </p:nvSpPr>
        <p:spPr>
          <a:xfrm xmlns:a="http://schemas.openxmlformats.org/drawingml/2006/main">
            <a:off x="4724400" y="1295400"/>
            <a:ext cx="7467600" cy="3581400"/>
          </a:xfrm>
        </p:spPr>
        <p:txBody>
          <a:bodyPr xmlns:a="http://schemas.openxmlformats.org/drawingml/2006/main">
            <a:normAutofit/>
          </a:bodyPr>
          <a:lstStyle xmlns:a="http://schemas.openxmlformats.org/drawingml/2006/main"/>
          <a:p xmlns:a="http://schemas.openxmlformats.org/drawingml/2006/main">
            <a:pPr marL="0" indent="0">
              <a:lnSpc>
                <a:spcPct val="150000"/>
              </a:lnSpc>
              <a:buNone/>
            </a:pPr>
            <a:r>
              <a:rPr sz="3600"/>
              <a:t>7.1 </a:t>
            </a:r>
            <a:r>
              <a:rPr sz="3600"/>
              <a:t>地图表示</a:t>
            </a:r>
            <a:endParaRPr sz="3600"/>
          </a:p>
          <a:p xmlns:a="http://schemas.openxmlformats.org/drawingml/2006/main">
            <a:pPr marL="0" indent="0">
              <a:lnSpc>
                <a:spcPct val="150000"/>
              </a:lnSpc>
              <a:buNone/>
            </a:pPr>
            <a:r>
              <a:rPr sz="3600"/>
              <a:t>7.2 </a:t>
            </a:r>
            <a:r>
              <a:rPr sz="3600"/>
              <a:t>全局路径规划</a:t>
            </a:r>
            <a:endParaRPr sz="3600"/>
          </a:p>
          <a:p xmlns:a="http://schemas.openxmlformats.org/drawingml/2006/main">
            <a:pPr marL="0" indent="0">
              <a:lnSpc>
                <a:spcPct val="150000"/>
              </a:lnSpc>
              <a:buNone/>
            </a:pPr>
            <a:r>
              <a:rPr sz="3600"/>
              <a:t>7.3 </a:t>
            </a:r>
            <a:r>
              <a:rPr sz="3600"/>
              <a:t>局部路径规划</a:t>
            </a:r>
            <a:endParaRPr sz="3600"/>
          </a:p>
        </p:txBody>
      </p:sp>
    </p:spTree>
    <p:extLst>
      <p:ext uri="{BB962C8B-B14F-4D97-AF65-F5344CB8AC3E}">
        <p14:creationId xmlns:p14="http://schemas.microsoft.com/office/powerpoint/2010/main" val="4272819253"/>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AB8E21E3-66E2-4588-BF21-E3EE800408D2}"/>
              </a:ext>
            </a:extLst>
          </p:cNvPr>
          <p:cNvSpPr>
            <a:spLocks xmlns:a="http://schemas.openxmlformats.org/drawingml/2006/main" noGrp="1"/>
          </p:cNvSpPr>
          <p:nvPr/>
        </p:nvSpPr>
        <p:spPr>
          <a:xfrm xmlns:a="http://schemas.openxmlformats.org/drawingml/2006/main" rot="0" flipH="0" flipV="0">
            <a:off x="372673" y="1020523"/>
            <a:ext cx="11353660" cy="1909134"/>
          </a:xfrm>
          <a:custGeom xmlns:a="http://schemas.openxmlformats.org/drawingml/2006/main">
            <a:rect l="l" t="t" r="r" b="b"/>
            <a:pathLst>
              <a:path w="7842705" h="1318762">
                <a:moveTo>
                  <a:pt x="34934" y="0"/>
                </a:moveTo>
                <a:lnTo>
                  <a:pt x="7737903" y="0"/>
                </a:lnTo>
                <a:cubicBezTo>
                  <a:pt x="7795783" y="0"/>
                  <a:pt x="7842705" y="46921"/>
                  <a:pt x="7842705" y="104802"/>
                </a:cubicBezTo>
                <a:lnTo>
                  <a:pt x="7842705" y="1213960"/>
                </a:lnTo>
                <a:cubicBezTo>
                  <a:pt x="7842705" y="1271841"/>
                  <a:pt x="7795783" y="1318762"/>
                  <a:pt x="7737903" y="1318762"/>
                </a:cubicBezTo>
                <a:lnTo>
                  <a:pt x="34934" y="1318762"/>
                </a:lnTo>
                <a:cubicBezTo>
                  <a:pt x="15641" y="1318762"/>
                  <a:pt x="0" y="1303122"/>
                  <a:pt x="0" y="1283828"/>
                </a:cubicBezTo>
                <a:lnTo>
                  <a:pt x="0" y="34934"/>
                </a:lnTo>
                <a:cubicBezTo>
                  <a:pt x="0" y="15653"/>
                  <a:pt x="15653" y="0"/>
                  <a:pt x="34934"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35330421-E3E5-4291-8F61-3FF45833806A}"/>
              </a:ext>
            </a:extLst>
          </p:cNvPr>
          <p:cNvSpPr>
            <a:spLocks xmlns:a="http://schemas.openxmlformats.org/drawingml/2006/main" noGrp="1"/>
          </p:cNvSpPr>
          <p:nvPr/>
        </p:nvSpPr>
        <p:spPr>
          <a:xfrm xmlns:a="http://schemas.openxmlformats.org/drawingml/2006/main" rot="0" flipH="0" flipV="0">
            <a:off x="372673" y="1020523"/>
            <a:ext cx="50572" cy="1909134"/>
          </a:xfrm>
          <a:custGeom xmlns:a="http://schemas.openxmlformats.org/drawingml/2006/main">
            <a:rect l="l" t="t" r="r" b="b"/>
            <a:pathLst>
              <a:path w="34934" h="1318762">
                <a:moveTo>
                  <a:pt x="34934" y="0"/>
                </a:moveTo>
                <a:lnTo>
                  <a:pt x="34934" y="0"/>
                </a:lnTo>
                <a:lnTo>
                  <a:pt x="34934" y="1318762"/>
                </a:lnTo>
                <a:lnTo>
                  <a:pt x="34934" y="1318762"/>
                </a:lnTo>
                <a:cubicBezTo>
                  <a:pt x="15641" y="1318762"/>
                  <a:pt x="0" y="1303122"/>
                  <a:pt x="0" y="1283828"/>
                </a:cubicBezTo>
                <a:lnTo>
                  <a:pt x="0" y="34934"/>
                </a:lnTo>
                <a:cubicBezTo>
                  <a:pt x="0" y="15653"/>
                  <a:pt x="15653" y="0"/>
                  <a:pt x="34934"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D20DECCE-348B-42CF-A6FB-09DFD4854E16}"/>
              </a:ext>
            </a:extLst>
          </p:cNvPr>
          <p:cNvSpPr>
            <a:spLocks xmlns:a="http://schemas.openxmlformats.org/drawingml/2006/main" noGrp="1"/>
          </p:cNvSpPr>
          <p:nvPr/>
        </p:nvSpPr>
        <p:spPr>
          <a:xfrm xmlns:a="http://schemas.openxmlformats.org/drawingml/2006/main" rot="0" flipH="0" flipV="0">
            <a:off x="609735" y="1374535"/>
            <a:ext cx="474122" cy="379298"/>
          </a:xfrm>
          <a:custGeom xmlns:a="http://schemas.openxmlformats.org/drawingml/2006/main">
            <a:rect l="l" t="t" r="r" b="b"/>
            <a:pathLst>
              <a:path w="327507" h="262006">
                <a:moveTo>
                  <a:pt x="294756" y="24563"/>
                </a:moveTo>
                <a:cubicBezTo>
                  <a:pt x="294756" y="18883"/>
                  <a:pt x="291840" y="13612"/>
                  <a:pt x="286978" y="10644"/>
                </a:cubicBezTo>
                <a:cubicBezTo>
                  <a:pt x="282117" y="7676"/>
                  <a:pt x="276129" y="7369"/>
                  <a:pt x="271063" y="9928"/>
                </a:cubicBezTo>
                <a:lnTo>
                  <a:pt x="211600" y="39659"/>
                </a:lnTo>
                <a:lnTo>
                  <a:pt x="119796" y="9006"/>
                </a:lnTo>
                <a:cubicBezTo>
                  <a:pt x="115651" y="7625"/>
                  <a:pt x="111199" y="7932"/>
                  <a:pt x="107310" y="9876"/>
                </a:cubicBezTo>
                <a:lnTo>
                  <a:pt x="41808" y="42627"/>
                </a:lnTo>
                <a:cubicBezTo>
                  <a:pt x="36230" y="45442"/>
                  <a:pt x="32751" y="51122"/>
                  <a:pt x="32751" y="57314"/>
                </a:cubicBezTo>
                <a:lnTo>
                  <a:pt x="32751" y="237443"/>
                </a:lnTo>
                <a:cubicBezTo>
                  <a:pt x="32751" y="243123"/>
                  <a:pt x="35668" y="248394"/>
                  <a:pt x="40529" y="251362"/>
                </a:cubicBezTo>
                <a:cubicBezTo>
                  <a:pt x="45390" y="254330"/>
                  <a:pt x="51378" y="254637"/>
                  <a:pt x="56444" y="252078"/>
                </a:cubicBezTo>
                <a:lnTo>
                  <a:pt x="115856" y="222347"/>
                </a:lnTo>
                <a:lnTo>
                  <a:pt x="204538" y="251925"/>
                </a:lnTo>
                <a:cubicBezTo>
                  <a:pt x="202338" y="248650"/>
                  <a:pt x="200189" y="245221"/>
                  <a:pt x="198091" y="241741"/>
                </a:cubicBezTo>
                <a:cubicBezTo>
                  <a:pt x="192462" y="232377"/>
                  <a:pt x="186884" y="221630"/>
                  <a:pt x="182739" y="210116"/>
                </a:cubicBezTo>
                <a:lnTo>
                  <a:pt x="130952" y="192871"/>
                </a:lnTo>
                <a:lnTo>
                  <a:pt x="130952" y="47284"/>
                </a:lnTo>
                <a:lnTo>
                  <a:pt x="196453" y="69135"/>
                </a:lnTo>
                <a:lnTo>
                  <a:pt x="196453" y="119949"/>
                </a:lnTo>
                <a:cubicBezTo>
                  <a:pt x="212317" y="101630"/>
                  <a:pt x="235856" y="90064"/>
                  <a:pt x="261955" y="90064"/>
                </a:cubicBezTo>
                <a:cubicBezTo>
                  <a:pt x="273520" y="90064"/>
                  <a:pt x="284573" y="92316"/>
                  <a:pt x="294705" y="96461"/>
                </a:cubicBezTo>
                <a:lnTo>
                  <a:pt x="294756" y="24563"/>
                </a:lnTo>
                <a:close/>
                <a:moveTo>
                  <a:pt x="262006" y="114628"/>
                </a:moveTo>
                <a:cubicBezTo>
                  <a:pt x="228078" y="114628"/>
                  <a:pt x="200598" y="141647"/>
                  <a:pt x="200598" y="174960"/>
                </a:cubicBezTo>
                <a:cubicBezTo>
                  <a:pt x="200598" y="210219"/>
                  <a:pt x="233400" y="251925"/>
                  <a:pt x="251055" y="271831"/>
                </a:cubicBezTo>
                <a:cubicBezTo>
                  <a:pt x="256991" y="278483"/>
                  <a:pt x="267072" y="278483"/>
                  <a:pt x="273008" y="271831"/>
                </a:cubicBezTo>
                <a:cubicBezTo>
                  <a:pt x="290663" y="251925"/>
                  <a:pt x="323464" y="210219"/>
                  <a:pt x="323464" y="174960"/>
                </a:cubicBezTo>
                <a:cubicBezTo>
                  <a:pt x="323464" y="141647"/>
                  <a:pt x="295985" y="114628"/>
                  <a:pt x="262057" y="114628"/>
                </a:cubicBezTo>
                <a:close/>
                <a:moveTo>
                  <a:pt x="241537" y="176035"/>
                </a:moveTo>
                <a:cubicBezTo>
                  <a:pt x="241537" y="164738"/>
                  <a:pt x="250708" y="155566"/>
                  <a:pt x="262006" y="155566"/>
                </a:cubicBezTo>
                <a:cubicBezTo>
                  <a:pt x="273303" y="155566"/>
                  <a:pt x="282475" y="164738"/>
                  <a:pt x="282475" y="176035"/>
                </a:cubicBezTo>
                <a:cubicBezTo>
                  <a:pt x="282475" y="187332"/>
                  <a:pt x="273303" y="196504"/>
                  <a:pt x="262006" y="196504"/>
                </a:cubicBezTo>
                <a:cubicBezTo>
                  <a:pt x="250708" y="196504"/>
                  <a:pt x="241537" y="187332"/>
                  <a:pt x="241537" y="176035"/>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E6D03A31-33DE-416A-81F8-5C98F214DDC2}"/>
              </a:ext>
            </a:extLst>
          </p:cNvPr>
          <p:cNvSpPr>
            <a:spLocks xmlns:a="http://schemas.openxmlformats.org/drawingml/2006/main" noGrp="1"/>
          </p:cNvSpPr>
          <p:nvPr/>
        </p:nvSpPr>
        <p:spPr>
          <a:xfrm xmlns:a="http://schemas.openxmlformats.org/drawingml/2006/main" rot="0" flipH="0" flipV="0">
            <a:off x="1200609" y="1323962"/>
            <a:ext cx="10367484" cy="40458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地图的核心作用</a:t>
            </a:r>
            <a:endParaRPr/>
          </a:p>
        </p:txBody>
      </p:sp>
      <p:sp>
        <p:nvSpPr>
          <p:cNvPr id="9" name="Text 7">
            <a:extLst xmlns:a="http://schemas.openxmlformats.org/drawingml/2006/main">
              <a:ext uri="{FF2B5EF4-FFF2-40B4-BE49-F238E27FC236}">
                <a16:creationId xmlns:a16="http://schemas.microsoft.com/office/drawing/2014/main" id="{9F1207A4-FAA0-457B-91A6-B9F28AAC166B}"/>
              </a:ext>
            </a:extLst>
          </p:cNvPr>
          <p:cNvSpPr>
            <a:spLocks xmlns:a="http://schemas.openxmlformats.org/drawingml/2006/main" noGrp="1"/>
          </p:cNvSpPr>
          <p:nvPr/>
        </p:nvSpPr>
        <p:spPr>
          <a:xfrm xmlns:a="http://schemas.openxmlformats.org/drawingml/2006/main" rot="0" flipH="0" flipV="0">
            <a:off x="1200609" y="1880266"/>
            <a:ext cx="10329554" cy="74595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地图作为机器人感知和理解环境的一种</a:t>
            </a:r>
            <a:r>
              <a:rPr sz="1600" b="1">
                <a:latin typeface="微软雅黑"/>
                <a:ea typeface="微软雅黑"/>
                <a:cs typeface="微软雅黑"/>
              </a:rPr>
              <a:t>载体</a:t>
            </a:r>
            <a:r>
              <a:rPr sz="1600">
                <a:latin typeface="微软雅黑"/>
                <a:ea typeface="微软雅黑"/>
                <a:cs typeface="微软雅黑"/>
              </a:rPr>
              <a:t>，可以提供包括</a:t>
            </a:r>
            <a:r>
              <a:rPr sz="1600">
                <a:highlight>
                  <a:srgbClr val="E6B450">
                    <a:alpha val="20000"/>
                  </a:srgbClr>
                </a:highlight>
                <a:latin typeface="微软雅黑"/>
                <a:ea typeface="微软雅黑"/>
                <a:cs typeface="微软雅黑"/>
              </a:rPr>
              <a:t> 目标位置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障碍物布局 </a:t>
            </a:r>
            <a:r>
              <a:rPr sz="1600">
                <a:latin typeface="微软雅黑"/>
                <a:ea typeface="微软雅黑"/>
                <a:cs typeface="微软雅黑"/>
              </a:rPr>
              <a:t>及</a:t>
            </a:r>
            <a:r>
              <a:rPr sz="1600">
                <a:highlight>
                  <a:srgbClr val="E6B450">
                    <a:alpha val="20000"/>
                  </a:srgbClr>
                </a:highlight>
                <a:latin typeface="微软雅黑"/>
                <a:ea typeface="微软雅黑"/>
                <a:cs typeface="微软雅黑"/>
              </a:rPr>
              <a:t> 形状 </a:t>
            </a:r>
            <a:r>
              <a:rPr sz="1600">
                <a:latin typeface="微软雅黑"/>
                <a:ea typeface="微软雅黑"/>
                <a:cs typeface="微软雅黑"/>
              </a:rPr>
              <a:t>等关键信息，这些信息对于制定</a:t>
            </a:r>
            <a:r>
              <a:rPr sz="1600" b="1">
                <a:latin typeface="微软雅黑"/>
                <a:ea typeface="微软雅黑"/>
                <a:cs typeface="微软雅黑"/>
              </a:rPr>
              <a:t>无碰撞且高效</a:t>
            </a:r>
            <a:r>
              <a:rPr sz="1600">
                <a:latin typeface="微软雅黑"/>
                <a:ea typeface="微软雅黑"/>
                <a:cs typeface="微软雅黑"/>
              </a:rPr>
              <a:t>的导航指令至关重要。</a:t>
            </a:r>
            <a:endParaRPr sz="1600"/>
          </a:p>
        </p:txBody>
      </p:sp>
      <p:sp>
        <p:nvSpPr>
          <p:cNvPr id="10" name="Shape 8">
            <a:extLst xmlns:a="http://schemas.openxmlformats.org/drawingml/2006/main">
              <a:ext uri="{FF2B5EF4-FFF2-40B4-BE49-F238E27FC236}">
                <a16:creationId xmlns:a16="http://schemas.microsoft.com/office/drawing/2014/main" id="{9E48105D-49ED-4885-A6A1-000E9A620109}"/>
              </a:ext>
            </a:extLst>
          </p:cNvPr>
          <p:cNvSpPr>
            <a:spLocks xmlns:a="http://schemas.openxmlformats.org/drawingml/2006/main" noGrp="1"/>
          </p:cNvSpPr>
          <p:nvPr/>
        </p:nvSpPr>
        <p:spPr>
          <a:xfrm xmlns:a="http://schemas.openxmlformats.org/drawingml/2006/main" rot="0" flipH="0" flipV="0">
            <a:off x="372673" y="3226774"/>
            <a:ext cx="11353660" cy="1909134"/>
          </a:xfrm>
          <a:custGeom xmlns:a="http://schemas.openxmlformats.org/drawingml/2006/main">
            <a:rect l="l" t="t" r="r" b="b"/>
            <a:pathLst>
              <a:path w="7842705" h="1318762">
                <a:moveTo>
                  <a:pt x="34934" y="0"/>
                </a:moveTo>
                <a:lnTo>
                  <a:pt x="7737903" y="0"/>
                </a:lnTo>
                <a:cubicBezTo>
                  <a:pt x="7795783" y="0"/>
                  <a:pt x="7842705" y="46921"/>
                  <a:pt x="7842705" y="104802"/>
                </a:cubicBezTo>
                <a:lnTo>
                  <a:pt x="7842705" y="1213960"/>
                </a:lnTo>
                <a:cubicBezTo>
                  <a:pt x="7842705" y="1271841"/>
                  <a:pt x="7795783" y="1318762"/>
                  <a:pt x="7737903" y="1318762"/>
                </a:cubicBezTo>
                <a:lnTo>
                  <a:pt x="34934" y="1318762"/>
                </a:lnTo>
                <a:cubicBezTo>
                  <a:pt x="15641" y="1318762"/>
                  <a:pt x="0" y="1303122"/>
                  <a:pt x="0" y="1283828"/>
                </a:cubicBezTo>
                <a:lnTo>
                  <a:pt x="0" y="34934"/>
                </a:lnTo>
                <a:cubicBezTo>
                  <a:pt x="0" y="15653"/>
                  <a:pt x="15653" y="0"/>
                  <a:pt x="34934"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7F8A7E80-EF3E-449D-80DC-F16D0CB60EF1}"/>
              </a:ext>
            </a:extLst>
          </p:cNvPr>
          <p:cNvSpPr>
            <a:spLocks xmlns:a="http://schemas.openxmlformats.org/drawingml/2006/main" noGrp="1"/>
          </p:cNvSpPr>
          <p:nvPr/>
        </p:nvSpPr>
        <p:spPr>
          <a:xfrm xmlns:a="http://schemas.openxmlformats.org/drawingml/2006/main" rot="0" flipH="0" flipV="0">
            <a:off x="372673" y="3226774"/>
            <a:ext cx="50572" cy="1909134"/>
          </a:xfrm>
          <a:custGeom xmlns:a="http://schemas.openxmlformats.org/drawingml/2006/main">
            <a:rect l="l" t="t" r="r" b="b"/>
            <a:pathLst>
              <a:path w="34934" h="1318762">
                <a:moveTo>
                  <a:pt x="34934" y="0"/>
                </a:moveTo>
                <a:lnTo>
                  <a:pt x="34934" y="0"/>
                </a:lnTo>
                <a:lnTo>
                  <a:pt x="34934" y="1318762"/>
                </a:lnTo>
                <a:lnTo>
                  <a:pt x="34934" y="1318762"/>
                </a:lnTo>
                <a:cubicBezTo>
                  <a:pt x="15641" y="1318762"/>
                  <a:pt x="0" y="1303122"/>
                  <a:pt x="0" y="1283828"/>
                </a:cubicBezTo>
                <a:lnTo>
                  <a:pt x="0" y="34934"/>
                </a:lnTo>
                <a:cubicBezTo>
                  <a:pt x="0" y="15653"/>
                  <a:pt x="15653" y="0"/>
                  <a:pt x="34934"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FBC1FC0B-845C-4FB8-AAFE-485915753D6E}"/>
              </a:ext>
            </a:extLst>
          </p:cNvPr>
          <p:cNvSpPr>
            <a:spLocks xmlns:a="http://schemas.openxmlformats.org/drawingml/2006/main" noGrp="1"/>
          </p:cNvSpPr>
          <p:nvPr/>
        </p:nvSpPr>
        <p:spPr>
          <a:xfrm xmlns:a="http://schemas.openxmlformats.org/drawingml/2006/main" rot="0" flipH="0" flipV="0">
            <a:off x="707719" y="3580786"/>
            <a:ext cx="379298" cy="379298"/>
          </a:xfrm>
          <a:custGeom xmlns:a="http://schemas.openxmlformats.org/drawingml/2006/main">
            <a:rect l="l" t="t" r="r" b="b"/>
            <a:pathLst>
              <a:path w="262006" h="262006">
                <a:moveTo>
                  <a:pt x="229255" y="131003"/>
                </a:moveTo>
                <a:cubicBezTo>
                  <a:pt x="229255" y="76776"/>
                  <a:pt x="185230" y="32751"/>
                  <a:pt x="131003" y="32751"/>
                </a:cubicBezTo>
                <a:cubicBezTo>
                  <a:pt x="76776" y="32751"/>
                  <a:pt x="32751" y="76776"/>
                  <a:pt x="32751" y="131003"/>
                </a:cubicBezTo>
                <a:cubicBezTo>
                  <a:pt x="32751" y="185230"/>
                  <a:pt x="76776" y="229255"/>
                  <a:pt x="131003" y="229255"/>
                </a:cubicBezTo>
                <a:cubicBezTo>
                  <a:pt x="185230" y="229255"/>
                  <a:pt x="229255" y="185230"/>
                  <a:pt x="229255" y="131003"/>
                </a:cubicBezTo>
                <a:close/>
                <a:moveTo>
                  <a:pt x="0" y="131003"/>
                </a:moveTo>
                <a:cubicBezTo>
                  <a:pt x="0" y="58700"/>
                  <a:pt x="58700" y="0"/>
                  <a:pt x="131003" y="0"/>
                </a:cubicBezTo>
                <a:cubicBezTo>
                  <a:pt x="203305" y="0"/>
                  <a:pt x="262006" y="58700"/>
                  <a:pt x="262006" y="131003"/>
                </a:cubicBezTo>
                <a:cubicBezTo>
                  <a:pt x="262006" y="203305"/>
                  <a:pt x="203305" y="262006"/>
                  <a:pt x="131003" y="262006"/>
                </a:cubicBezTo>
                <a:cubicBezTo>
                  <a:pt x="58700" y="262006"/>
                  <a:pt x="0" y="203305"/>
                  <a:pt x="0" y="131003"/>
                </a:cubicBezTo>
                <a:close/>
                <a:moveTo>
                  <a:pt x="131003" y="171941"/>
                </a:moveTo>
                <a:cubicBezTo>
                  <a:pt x="153597" y="171941"/>
                  <a:pt x="171941" y="153597"/>
                  <a:pt x="171941" y="131003"/>
                </a:cubicBezTo>
                <a:cubicBezTo>
                  <a:pt x="171941" y="108408"/>
                  <a:pt x="153597" y="90064"/>
                  <a:pt x="131003" y="90064"/>
                </a:cubicBezTo>
                <a:cubicBezTo>
                  <a:pt x="108408" y="90064"/>
                  <a:pt x="90064" y="108408"/>
                  <a:pt x="90064" y="131003"/>
                </a:cubicBezTo>
                <a:cubicBezTo>
                  <a:pt x="90064" y="153597"/>
                  <a:pt x="108408" y="171941"/>
                  <a:pt x="131003" y="171941"/>
                </a:cubicBezTo>
                <a:close/>
                <a:moveTo>
                  <a:pt x="131003" y="57314"/>
                </a:moveTo>
                <a:cubicBezTo>
                  <a:pt x="171673" y="57314"/>
                  <a:pt x="204692" y="90333"/>
                  <a:pt x="204692" y="131003"/>
                </a:cubicBezTo>
                <a:cubicBezTo>
                  <a:pt x="204692" y="171673"/>
                  <a:pt x="171673" y="204692"/>
                  <a:pt x="131003" y="204692"/>
                </a:cubicBezTo>
                <a:cubicBezTo>
                  <a:pt x="90333" y="204692"/>
                  <a:pt x="57314" y="171673"/>
                  <a:pt x="57314" y="131003"/>
                </a:cubicBezTo>
                <a:cubicBezTo>
                  <a:pt x="57314" y="90333"/>
                  <a:pt x="90333" y="57314"/>
                  <a:pt x="131003" y="57314"/>
                </a:cubicBezTo>
                <a:close/>
                <a:moveTo>
                  <a:pt x="114628" y="131003"/>
                </a:moveTo>
                <a:cubicBezTo>
                  <a:pt x="114628" y="121965"/>
                  <a:pt x="121965" y="114628"/>
                  <a:pt x="131003" y="114628"/>
                </a:cubicBezTo>
                <a:cubicBezTo>
                  <a:pt x="140041" y="114628"/>
                  <a:pt x="147378" y="121965"/>
                  <a:pt x="147378" y="131003"/>
                </a:cubicBezTo>
                <a:cubicBezTo>
                  <a:pt x="147378" y="140041"/>
                  <a:pt x="140041" y="147378"/>
                  <a:pt x="131003" y="147378"/>
                </a:cubicBezTo>
                <a:cubicBezTo>
                  <a:pt x="121965" y="147378"/>
                  <a:pt x="114628" y="140041"/>
                  <a:pt x="114628" y="131003"/>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302F0792-10F6-480B-97B5-5DC3EB26D593}"/>
              </a:ext>
            </a:extLst>
          </p:cNvPr>
          <p:cNvSpPr>
            <a:spLocks xmlns:a="http://schemas.openxmlformats.org/drawingml/2006/main" noGrp="1"/>
          </p:cNvSpPr>
          <p:nvPr/>
        </p:nvSpPr>
        <p:spPr>
          <a:xfrm xmlns:a="http://schemas.openxmlformats.org/drawingml/2006/main" rot="0" flipH="0" flipV="0">
            <a:off x="1301361" y="3530213"/>
            <a:ext cx="10266339" cy="40458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选择标准</a:t>
            </a:r>
            <a:endParaRPr/>
          </a:p>
        </p:txBody>
      </p:sp>
      <p:sp>
        <p:nvSpPr>
          <p:cNvPr id="14" name="Text 12">
            <a:extLst xmlns:a="http://schemas.openxmlformats.org/drawingml/2006/main">
              <a:ext uri="{FF2B5EF4-FFF2-40B4-BE49-F238E27FC236}">
                <a16:creationId xmlns:a16="http://schemas.microsoft.com/office/drawing/2014/main" id="{BD912327-C7BC-4352-B697-8FDFF8BA8C6F}"/>
              </a:ext>
            </a:extLst>
          </p:cNvPr>
          <p:cNvSpPr>
            <a:spLocks xmlns:a="http://schemas.openxmlformats.org/drawingml/2006/main" noGrp="1"/>
          </p:cNvSpPr>
          <p:nvPr/>
        </p:nvSpPr>
        <p:spPr>
          <a:xfrm xmlns:a="http://schemas.openxmlformats.org/drawingml/2006/main" rot="0" flipH="0" flipV="0">
            <a:off x="1301361" y="4086517"/>
            <a:ext cx="10228408" cy="74595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选择一个既能</a:t>
            </a:r>
            <a:r>
              <a:rPr sz="1600" b="1">
                <a:latin typeface="微软雅黑"/>
                <a:ea typeface="微软雅黑"/>
                <a:cs typeface="微软雅黑"/>
              </a:rPr>
              <a:t>详尽地表征环境细节</a:t>
            </a:r>
            <a:r>
              <a:rPr sz="1600">
                <a:latin typeface="微软雅黑"/>
                <a:ea typeface="微软雅黑"/>
                <a:cs typeface="微软雅黑"/>
              </a:rPr>
              <a:t>又</a:t>
            </a:r>
            <a:r>
              <a:rPr sz="1600" b="1">
                <a:latin typeface="微软雅黑"/>
                <a:ea typeface="微软雅黑"/>
                <a:cs typeface="微软雅黑"/>
              </a:rPr>
              <a:t>易于算法解析和处理</a:t>
            </a:r>
            <a:r>
              <a:rPr sz="1600">
                <a:latin typeface="微软雅黑"/>
                <a:ea typeface="微软雅黑"/>
                <a:cs typeface="微软雅黑"/>
              </a:rPr>
              <a:t>的地图表示方法对于实现快速、高效的全局路径规划至关重要。</a:t>
            </a:r>
            <a:endParaRPr sz="1600"/>
          </a:p>
        </p:txBody>
      </p:sp>
      <p:sp>
        <p:nvSpPr>
          <p:cNvPr id="15" name="Shape 13">
            <a:extLst xmlns:a="http://schemas.openxmlformats.org/drawingml/2006/main">
              <a:ext uri="{FF2B5EF4-FFF2-40B4-BE49-F238E27FC236}">
                <a16:creationId xmlns:a16="http://schemas.microsoft.com/office/drawing/2014/main" id="{A229F3AE-C78B-456A-B793-2B58A51491AC}"/>
              </a:ext>
            </a:extLst>
          </p:cNvPr>
          <p:cNvSpPr>
            <a:spLocks xmlns:a="http://schemas.openxmlformats.org/drawingml/2006/main" noGrp="1"/>
          </p:cNvSpPr>
          <p:nvPr/>
        </p:nvSpPr>
        <p:spPr>
          <a:xfrm xmlns:a="http://schemas.openxmlformats.org/drawingml/2006/main" rot="0" flipH="0" flipV="0">
            <a:off x="353708" y="5439347"/>
            <a:ext cx="5575683" cy="1327543"/>
          </a:xfrm>
          <a:custGeom xmlns:a="http://schemas.openxmlformats.org/drawingml/2006/main">
            <a:rect l="l" t="t" r="r" b="b"/>
            <a:pathLst>
              <a:path w="3851484" h="917020">
                <a:moveTo>
                  <a:pt x="104806" y="0"/>
                </a:moveTo>
                <a:lnTo>
                  <a:pt x="3746678" y="0"/>
                </a:lnTo>
                <a:cubicBezTo>
                  <a:pt x="3804561" y="0"/>
                  <a:pt x="3851484" y="46923"/>
                  <a:pt x="3851484" y="104806"/>
                </a:cubicBezTo>
                <a:lnTo>
                  <a:pt x="3851484" y="812214"/>
                </a:lnTo>
                <a:cubicBezTo>
                  <a:pt x="3851484" y="870097"/>
                  <a:pt x="3804561" y="917020"/>
                  <a:pt x="3746678" y="917020"/>
                </a:cubicBezTo>
                <a:lnTo>
                  <a:pt x="104806" y="917020"/>
                </a:lnTo>
                <a:cubicBezTo>
                  <a:pt x="46923" y="917020"/>
                  <a:pt x="0" y="870097"/>
                  <a:pt x="0" y="812214"/>
                </a:cubicBezTo>
                <a:lnTo>
                  <a:pt x="0" y="104806"/>
                </a:lnTo>
                <a:cubicBezTo>
                  <a:pt x="0" y="46962"/>
                  <a:pt x="46962" y="0"/>
                  <a:pt x="104806"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6" name="Shape 14">
            <a:extLst xmlns:a="http://schemas.openxmlformats.org/drawingml/2006/main">
              <a:ext uri="{FF2B5EF4-FFF2-40B4-BE49-F238E27FC236}">
                <a16:creationId xmlns:a16="http://schemas.microsoft.com/office/drawing/2014/main" id="{35ADAD6D-DB82-4A2F-A9B1-35B2721A775C}"/>
              </a:ext>
            </a:extLst>
          </p:cNvPr>
          <p:cNvSpPr>
            <a:spLocks xmlns:a="http://schemas.openxmlformats.org/drawingml/2006/main" noGrp="1"/>
          </p:cNvSpPr>
          <p:nvPr/>
        </p:nvSpPr>
        <p:spPr>
          <a:xfrm xmlns:a="http://schemas.openxmlformats.org/drawingml/2006/main" rot="0" flipH="0" flipV="0">
            <a:off x="669790" y="5723820"/>
            <a:ext cx="265508" cy="303439"/>
          </a:xfrm>
          <a:custGeom xmlns:a="http://schemas.openxmlformats.org/drawingml/2006/main">
            <a:rect l="l" t="t" r="r" b="b"/>
            <a:pathLst>
              <a:path w="183404" h="209605">
                <a:moveTo>
                  <a:pt x="157203" y="39301"/>
                </a:moveTo>
                <a:lnTo>
                  <a:pt x="157203" y="65501"/>
                </a:lnTo>
                <a:lnTo>
                  <a:pt x="131003" y="65501"/>
                </a:lnTo>
                <a:lnTo>
                  <a:pt x="131003" y="39301"/>
                </a:lnTo>
                <a:lnTo>
                  <a:pt x="157203" y="39301"/>
                </a:lnTo>
                <a:close/>
                <a:moveTo>
                  <a:pt x="157203" y="91702"/>
                </a:moveTo>
                <a:lnTo>
                  <a:pt x="157203" y="117903"/>
                </a:lnTo>
                <a:lnTo>
                  <a:pt x="131003" y="117903"/>
                </a:lnTo>
                <a:lnTo>
                  <a:pt x="131003" y="91702"/>
                </a:lnTo>
                <a:lnTo>
                  <a:pt x="157203" y="91702"/>
                </a:lnTo>
                <a:close/>
                <a:moveTo>
                  <a:pt x="157203" y="144103"/>
                </a:moveTo>
                <a:lnTo>
                  <a:pt x="157203" y="170304"/>
                </a:lnTo>
                <a:lnTo>
                  <a:pt x="131003" y="170304"/>
                </a:lnTo>
                <a:lnTo>
                  <a:pt x="131003" y="144103"/>
                </a:lnTo>
                <a:lnTo>
                  <a:pt x="157203" y="144103"/>
                </a:lnTo>
                <a:close/>
                <a:moveTo>
                  <a:pt x="104802" y="117903"/>
                </a:moveTo>
                <a:lnTo>
                  <a:pt x="78602" y="117903"/>
                </a:lnTo>
                <a:lnTo>
                  <a:pt x="78602" y="91702"/>
                </a:lnTo>
                <a:lnTo>
                  <a:pt x="104802" y="91702"/>
                </a:lnTo>
                <a:lnTo>
                  <a:pt x="104802" y="117903"/>
                </a:lnTo>
                <a:close/>
                <a:moveTo>
                  <a:pt x="78602" y="144103"/>
                </a:moveTo>
                <a:lnTo>
                  <a:pt x="104802" y="144103"/>
                </a:lnTo>
                <a:lnTo>
                  <a:pt x="104802" y="170304"/>
                </a:lnTo>
                <a:lnTo>
                  <a:pt x="78602" y="170304"/>
                </a:lnTo>
                <a:lnTo>
                  <a:pt x="78602" y="144103"/>
                </a:lnTo>
                <a:close/>
                <a:moveTo>
                  <a:pt x="52401" y="117903"/>
                </a:moveTo>
                <a:lnTo>
                  <a:pt x="26201" y="117903"/>
                </a:lnTo>
                <a:lnTo>
                  <a:pt x="26201" y="91702"/>
                </a:lnTo>
                <a:lnTo>
                  <a:pt x="52401" y="91702"/>
                </a:lnTo>
                <a:lnTo>
                  <a:pt x="52401" y="117903"/>
                </a:lnTo>
                <a:close/>
                <a:moveTo>
                  <a:pt x="26201" y="144103"/>
                </a:moveTo>
                <a:lnTo>
                  <a:pt x="52401" y="144103"/>
                </a:lnTo>
                <a:lnTo>
                  <a:pt x="52401" y="170304"/>
                </a:lnTo>
                <a:lnTo>
                  <a:pt x="26201" y="170304"/>
                </a:lnTo>
                <a:lnTo>
                  <a:pt x="26201" y="144103"/>
                </a:lnTo>
                <a:close/>
                <a:moveTo>
                  <a:pt x="26201" y="65501"/>
                </a:moveTo>
                <a:lnTo>
                  <a:pt x="26201" y="39301"/>
                </a:lnTo>
                <a:lnTo>
                  <a:pt x="52401" y="39301"/>
                </a:lnTo>
                <a:lnTo>
                  <a:pt x="52401" y="65501"/>
                </a:lnTo>
                <a:lnTo>
                  <a:pt x="26201" y="65501"/>
                </a:lnTo>
                <a:close/>
                <a:moveTo>
                  <a:pt x="78602" y="65501"/>
                </a:moveTo>
                <a:lnTo>
                  <a:pt x="78602" y="39301"/>
                </a:lnTo>
                <a:lnTo>
                  <a:pt x="104802" y="39301"/>
                </a:lnTo>
                <a:lnTo>
                  <a:pt x="104802" y="65501"/>
                </a:lnTo>
                <a:lnTo>
                  <a:pt x="78602" y="65501"/>
                </a:lnTo>
                <a:close/>
                <a:moveTo>
                  <a:pt x="26201" y="13100"/>
                </a:moveTo>
                <a:cubicBezTo>
                  <a:pt x="11749" y="13100"/>
                  <a:pt x="0" y="24850"/>
                  <a:pt x="0" y="39301"/>
                </a:cubicBezTo>
                <a:lnTo>
                  <a:pt x="0" y="170304"/>
                </a:lnTo>
                <a:cubicBezTo>
                  <a:pt x="0" y="184755"/>
                  <a:pt x="11749" y="196504"/>
                  <a:pt x="26201" y="196504"/>
                </a:cubicBezTo>
                <a:lnTo>
                  <a:pt x="157203" y="196504"/>
                </a:lnTo>
                <a:cubicBezTo>
                  <a:pt x="171655" y="196504"/>
                  <a:pt x="183404" y="184755"/>
                  <a:pt x="183404" y="170304"/>
                </a:cubicBezTo>
                <a:lnTo>
                  <a:pt x="183404" y="39301"/>
                </a:lnTo>
                <a:cubicBezTo>
                  <a:pt x="183404" y="24850"/>
                  <a:pt x="171655" y="13100"/>
                  <a:pt x="157203" y="13100"/>
                </a:cubicBezTo>
                <a:lnTo>
                  <a:pt x="26201" y="13100"/>
                </a:ln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2169D5E6-488D-4B6F-B99E-137E27DE1280}"/>
              </a:ext>
            </a:extLst>
          </p:cNvPr>
          <p:cNvSpPr>
            <a:spLocks xmlns:a="http://schemas.openxmlformats.org/drawingml/2006/main" noGrp="1"/>
          </p:cNvSpPr>
          <p:nvPr/>
        </p:nvSpPr>
        <p:spPr>
          <a:xfrm xmlns:a="http://schemas.openxmlformats.org/drawingml/2006/main" rot="0" flipH="0" flipV="0">
            <a:off x="1143913" y="5698534"/>
            <a:ext cx="1137894" cy="3540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度量地图</a:t>
            </a:r>
            <a:endParaRPr/>
          </a:p>
        </p:txBody>
      </p:sp>
      <p:sp>
        <p:nvSpPr>
          <p:cNvPr id="18" name="Text 16">
            <a:extLst xmlns:a="http://schemas.openxmlformats.org/drawingml/2006/main">
              <a:ext uri="{FF2B5EF4-FFF2-40B4-BE49-F238E27FC236}">
                <a16:creationId xmlns:a16="http://schemas.microsoft.com/office/drawing/2014/main" id="{577A4302-E80A-4D01-848F-8C11A6729F21}"/>
              </a:ext>
            </a:extLst>
          </p:cNvPr>
          <p:cNvSpPr>
            <a:spLocks xmlns:a="http://schemas.openxmlformats.org/drawingml/2006/main" noGrp="1"/>
          </p:cNvSpPr>
          <p:nvPr/>
        </p:nvSpPr>
        <p:spPr>
          <a:xfrm xmlns:a="http://schemas.openxmlformats.org/drawingml/2006/main" rot="0" flipH="0" flipV="0">
            <a:off x="612895" y="6204265"/>
            <a:ext cx="5158456" cy="30343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精确的几何表示，适合细节建模</a:t>
            </a:r>
            <a:endParaRPr sz="1600"/>
          </a:p>
        </p:txBody>
      </p:sp>
      <p:sp>
        <p:nvSpPr>
          <p:cNvPr id="19" name="Shape 17">
            <a:extLst xmlns:a="http://schemas.openxmlformats.org/drawingml/2006/main">
              <a:ext uri="{FF2B5EF4-FFF2-40B4-BE49-F238E27FC236}">
                <a16:creationId xmlns:a16="http://schemas.microsoft.com/office/drawing/2014/main" id="{A3041556-F1A1-4717-BB6D-873376766D39}"/>
              </a:ext>
            </a:extLst>
          </p:cNvPr>
          <p:cNvSpPr>
            <a:spLocks xmlns:a="http://schemas.openxmlformats.org/drawingml/2006/main" noGrp="1"/>
          </p:cNvSpPr>
          <p:nvPr/>
        </p:nvSpPr>
        <p:spPr>
          <a:xfrm xmlns:a="http://schemas.openxmlformats.org/drawingml/2006/main" rot="0" flipH="0" flipV="0">
            <a:off x="6141365" y="5439347"/>
            <a:ext cx="5575683" cy="1327543"/>
          </a:xfrm>
          <a:custGeom xmlns:a="http://schemas.openxmlformats.org/drawingml/2006/main">
            <a:rect l="l" t="t" r="r" b="b"/>
            <a:pathLst>
              <a:path w="3851484" h="917020">
                <a:moveTo>
                  <a:pt x="104806" y="0"/>
                </a:moveTo>
                <a:lnTo>
                  <a:pt x="3746678" y="0"/>
                </a:lnTo>
                <a:cubicBezTo>
                  <a:pt x="3804561" y="0"/>
                  <a:pt x="3851484" y="46923"/>
                  <a:pt x="3851484" y="104806"/>
                </a:cubicBezTo>
                <a:lnTo>
                  <a:pt x="3851484" y="812214"/>
                </a:lnTo>
                <a:cubicBezTo>
                  <a:pt x="3851484" y="870097"/>
                  <a:pt x="3804561" y="917020"/>
                  <a:pt x="3746678" y="917020"/>
                </a:cubicBezTo>
                <a:lnTo>
                  <a:pt x="104806" y="917020"/>
                </a:lnTo>
                <a:cubicBezTo>
                  <a:pt x="46923" y="917020"/>
                  <a:pt x="0" y="870097"/>
                  <a:pt x="0" y="812214"/>
                </a:cubicBezTo>
                <a:lnTo>
                  <a:pt x="0" y="104806"/>
                </a:lnTo>
                <a:cubicBezTo>
                  <a:pt x="0" y="46962"/>
                  <a:pt x="46962" y="0"/>
                  <a:pt x="104806"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0" name="Shape 18">
            <a:extLst xmlns:a="http://schemas.openxmlformats.org/drawingml/2006/main">
              <a:ext uri="{FF2B5EF4-FFF2-40B4-BE49-F238E27FC236}">
                <a16:creationId xmlns:a16="http://schemas.microsoft.com/office/drawing/2014/main" id="{F47A0E97-D488-4604-AF75-3204292D7078}"/>
              </a:ext>
            </a:extLst>
          </p:cNvPr>
          <p:cNvSpPr>
            <a:spLocks xmlns:a="http://schemas.openxmlformats.org/drawingml/2006/main" noGrp="1"/>
          </p:cNvSpPr>
          <p:nvPr/>
        </p:nvSpPr>
        <p:spPr>
          <a:xfrm xmlns:a="http://schemas.openxmlformats.org/drawingml/2006/main" rot="0" flipH="0" flipV="0">
            <a:off x="6438482" y="5723820"/>
            <a:ext cx="303439" cy="303439"/>
          </a:xfrm>
          <a:custGeom xmlns:a="http://schemas.openxmlformats.org/drawingml/2006/main">
            <a:rect l="l" t="t" r="r" b="b"/>
            <a:pathLst>
              <a:path w="209605" h="209605">
                <a:moveTo>
                  <a:pt x="0" y="32751"/>
                </a:moveTo>
                <a:cubicBezTo>
                  <a:pt x="0" y="21902"/>
                  <a:pt x="8802" y="13100"/>
                  <a:pt x="19650" y="13100"/>
                </a:cubicBezTo>
                <a:lnTo>
                  <a:pt x="58951" y="13100"/>
                </a:lnTo>
                <a:cubicBezTo>
                  <a:pt x="69800" y="13100"/>
                  <a:pt x="78602" y="21902"/>
                  <a:pt x="78602" y="32751"/>
                </a:cubicBezTo>
                <a:lnTo>
                  <a:pt x="78602" y="39301"/>
                </a:lnTo>
                <a:lnTo>
                  <a:pt x="131003" y="39301"/>
                </a:lnTo>
                <a:lnTo>
                  <a:pt x="131003" y="32751"/>
                </a:lnTo>
                <a:cubicBezTo>
                  <a:pt x="131003" y="21902"/>
                  <a:pt x="139805" y="13100"/>
                  <a:pt x="150653" y="13100"/>
                </a:cubicBezTo>
                <a:lnTo>
                  <a:pt x="189954" y="13100"/>
                </a:lnTo>
                <a:cubicBezTo>
                  <a:pt x="200803" y="13100"/>
                  <a:pt x="209605" y="21902"/>
                  <a:pt x="209605" y="32751"/>
                </a:cubicBezTo>
                <a:lnTo>
                  <a:pt x="209605" y="72052"/>
                </a:lnTo>
                <a:cubicBezTo>
                  <a:pt x="209605" y="82900"/>
                  <a:pt x="200803" y="91702"/>
                  <a:pt x="189954" y="91702"/>
                </a:cubicBezTo>
                <a:lnTo>
                  <a:pt x="150653" y="91702"/>
                </a:lnTo>
                <a:cubicBezTo>
                  <a:pt x="139805" y="91702"/>
                  <a:pt x="131003" y="82900"/>
                  <a:pt x="131003" y="72052"/>
                </a:cubicBezTo>
                <a:lnTo>
                  <a:pt x="131003" y="65501"/>
                </a:lnTo>
                <a:lnTo>
                  <a:pt x="78602" y="65501"/>
                </a:lnTo>
                <a:lnTo>
                  <a:pt x="78602" y="72052"/>
                </a:lnTo>
                <a:cubicBezTo>
                  <a:pt x="78602" y="75040"/>
                  <a:pt x="77906" y="77906"/>
                  <a:pt x="76719" y="80444"/>
                </a:cubicBezTo>
                <a:lnTo>
                  <a:pt x="104802" y="117903"/>
                </a:lnTo>
                <a:lnTo>
                  <a:pt x="137553" y="117903"/>
                </a:lnTo>
                <a:cubicBezTo>
                  <a:pt x="148402" y="117903"/>
                  <a:pt x="157203" y="126704"/>
                  <a:pt x="157203" y="137553"/>
                </a:cubicBezTo>
                <a:lnTo>
                  <a:pt x="157203" y="176854"/>
                </a:lnTo>
                <a:cubicBezTo>
                  <a:pt x="157203" y="187703"/>
                  <a:pt x="148402" y="196504"/>
                  <a:pt x="137553" y="196504"/>
                </a:cubicBezTo>
                <a:lnTo>
                  <a:pt x="98252" y="196504"/>
                </a:lnTo>
                <a:cubicBezTo>
                  <a:pt x="87403" y="196504"/>
                  <a:pt x="78602" y="187703"/>
                  <a:pt x="78602" y="176854"/>
                </a:cubicBezTo>
                <a:lnTo>
                  <a:pt x="78602" y="137553"/>
                </a:lnTo>
                <a:cubicBezTo>
                  <a:pt x="78602" y="134565"/>
                  <a:pt x="79298" y="131699"/>
                  <a:pt x="80485" y="129161"/>
                </a:cubicBezTo>
                <a:lnTo>
                  <a:pt x="52401" y="91702"/>
                </a:lnTo>
                <a:lnTo>
                  <a:pt x="19650" y="91702"/>
                </a:lnTo>
                <a:cubicBezTo>
                  <a:pt x="8802" y="91702"/>
                  <a:pt x="0" y="82900"/>
                  <a:pt x="0" y="72052"/>
                </a:cubicBezTo>
                <a:lnTo>
                  <a:pt x="0" y="32751"/>
                </a:lnTo>
                <a:close/>
              </a:path>
            </a:pathLst>
          </a:custGeom>
          <a:solidFill xmlns:a="http://schemas.openxmlformats.org/drawingml/2006/main">
            <a:srgbClr val="E6B450"/>
          </a:solidFill>
        </p:spPr>
      </p:sp>
      <p:sp>
        <p:nvSpPr>
          <p:cNvPr id="21" name="Text 19">
            <a:extLst xmlns:a="http://schemas.openxmlformats.org/drawingml/2006/main">
              <a:ext uri="{FF2B5EF4-FFF2-40B4-BE49-F238E27FC236}">
                <a16:creationId xmlns:a16="http://schemas.microsoft.com/office/drawing/2014/main" id="{20028BC4-E6CA-4557-A0C2-D650EB3110AC}"/>
              </a:ext>
            </a:extLst>
          </p:cNvPr>
          <p:cNvSpPr>
            <a:spLocks xmlns:a="http://schemas.openxmlformats.org/drawingml/2006/main" noGrp="1"/>
          </p:cNvSpPr>
          <p:nvPr/>
        </p:nvSpPr>
        <p:spPr>
          <a:xfrm xmlns:a="http://schemas.openxmlformats.org/drawingml/2006/main" rot="0" flipH="0" flipV="0">
            <a:off x="6931569" y="5698534"/>
            <a:ext cx="1137894" cy="3540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拓扑地图</a:t>
            </a:r>
            <a:endParaRPr/>
          </a:p>
        </p:txBody>
      </p:sp>
      <p:sp>
        <p:nvSpPr>
          <p:cNvPr id="22" name="Text 20">
            <a:extLst xmlns:a="http://schemas.openxmlformats.org/drawingml/2006/main">
              <a:ext uri="{FF2B5EF4-FFF2-40B4-BE49-F238E27FC236}">
                <a16:creationId xmlns:a16="http://schemas.microsoft.com/office/drawing/2014/main" id="{39D9101A-42DE-4B9E-A07F-046AC5770B15}"/>
              </a:ext>
            </a:extLst>
          </p:cNvPr>
          <p:cNvSpPr>
            <a:spLocks xmlns:a="http://schemas.openxmlformats.org/drawingml/2006/main" noGrp="1"/>
          </p:cNvSpPr>
          <p:nvPr/>
        </p:nvSpPr>
        <p:spPr>
          <a:xfrm xmlns:a="http://schemas.openxmlformats.org/drawingml/2006/main" rot="0" flipH="0" flipV="0">
            <a:off x="6400551" y="6204265"/>
            <a:ext cx="5158456" cy="30343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抽象的连通性表示，简化规划</a:t>
            </a:r>
            <a:endParaRPr sz="1600"/>
          </a:p>
        </p:txBody>
      </p:sp>
    </p:spTree>
    <p:extLst>
      <p:ext uri="{BB962C8B-B14F-4D97-AF65-F5344CB8AC3E}">
        <p14:creationId xmlns:p14="http://schemas.microsoft.com/office/powerpoint/2010/main" val="114528139"/>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EE96E036-E14C-48E8-B372-FF77BD528C23}"/>
              </a:ext>
            </a:extLst>
          </p:cNvPr>
          <p:cNvSpPr>
            <a:spLocks xmlns:a="http://schemas.openxmlformats.org/drawingml/2006/main" noGrp="1"/>
          </p:cNvSpPr>
          <p:nvPr/>
        </p:nvSpPr>
        <p:spPr>
          <a:xfrm xmlns:a="http://schemas.openxmlformats.org/drawingml/2006/main" rot="0" flipH="0" flipV="0">
            <a:off x="338832" y="1647826"/>
            <a:ext cx="10962359" cy="1747958"/>
          </a:xfrm>
          <a:custGeom xmlns:a="http://schemas.openxmlformats.org/drawingml/2006/main">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4C05559C-F46D-410E-9BC4-7A1DC1A56023}"/>
              </a:ext>
            </a:extLst>
          </p:cNvPr>
          <p:cNvSpPr>
            <a:spLocks xmlns:a="http://schemas.openxmlformats.org/drawingml/2006/main" noGrp="1"/>
          </p:cNvSpPr>
          <p:nvPr/>
        </p:nvSpPr>
        <p:spPr>
          <a:xfrm xmlns:a="http://schemas.openxmlformats.org/drawingml/2006/main" rot="0" flipH="0" flipV="0">
            <a:off x="338832" y="1647826"/>
            <a:ext cx="46303" cy="1747958"/>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1CA60BFD-9315-4CC0-853F-A7FDC4A8BFFA}"/>
              </a:ext>
            </a:extLst>
          </p:cNvPr>
          <p:cNvSpPr>
            <a:spLocks xmlns:a="http://schemas.openxmlformats.org/drawingml/2006/main" noGrp="1"/>
          </p:cNvSpPr>
          <p:nvPr/>
        </p:nvSpPr>
        <p:spPr>
          <a:xfrm xmlns:a="http://schemas.openxmlformats.org/drawingml/2006/main" rot="0" flipH="0" flipV="0">
            <a:off x="634017" y="1971951"/>
            <a:ext cx="243094" cy="277821"/>
          </a:xfrm>
          <a:custGeom xmlns:a="http://schemas.openxmlformats.org/drawingml/2006/main">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8" y="0"/>
                </a:lnTo>
                <a:cubicBezTo>
                  <a:pt x="158688" y="0"/>
                  <a:pt x="166688" y="8000"/>
                  <a:pt x="166688" y="17859"/>
                </a:cubicBezTo>
                <a:lnTo>
                  <a:pt x="166688" y="125016"/>
                </a:lnTo>
                <a:cubicBezTo>
                  <a:pt x="166688" y="132792"/>
                  <a:pt x="161702" y="139415"/>
                  <a:pt x="154781" y="141870"/>
                </a:cubicBezTo>
                <a:lnTo>
                  <a:pt x="154781" y="166688"/>
                </a:lnTo>
                <a:cubicBezTo>
                  <a:pt x="161367" y="166688"/>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8"/>
                  <a:pt x="35719" y="166688"/>
                </a:cubicBezTo>
                <a:lnTo>
                  <a:pt x="130969" y="166688"/>
                </a:lnTo>
                <a:lnTo>
                  <a:pt x="130969" y="142875"/>
                </a:lnTo>
                <a:lnTo>
                  <a:pt x="35719" y="142875"/>
                </a:lnTo>
                <a:close/>
                <a:moveTo>
                  <a:pt x="47625" y="56555"/>
                </a:moveTo>
                <a:cubicBezTo>
                  <a:pt x="47625" y="61503"/>
                  <a:pt x="51606" y="65484"/>
                  <a:pt x="56555" y="65484"/>
                </a:cubicBezTo>
                <a:lnTo>
                  <a:pt x="122039" y="65484"/>
                </a:lnTo>
                <a:cubicBezTo>
                  <a:pt x="126988" y="65484"/>
                  <a:pt x="130969" y="61503"/>
                  <a:pt x="130969" y="56555"/>
                </a:cubicBezTo>
                <a:cubicBezTo>
                  <a:pt x="130969" y="51606"/>
                  <a:pt x="126988" y="47625"/>
                  <a:pt x="122039" y="47625"/>
                </a:cubicBezTo>
                <a:lnTo>
                  <a:pt x="56555" y="47625"/>
                </a:lnTo>
                <a:cubicBezTo>
                  <a:pt x="51606" y="47625"/>
                  <a:pt x="47625" y="51606"/>
                  <a:pt x="47625" y="56555"/>
                </a:cubicBezTo>
                <a:close/>
                <a:moveTo>
                  <a:pt x="56555" y="83344"/>
                </a:moveTo>
                <a:cubicBezTo>
                  <a:pt x="51606" y="83344"/>
                  <a:pt x="47625" y="87325"/>
                  <a:pt x="47625" y="92273"/>
                </a:cubicBezTo>
                <a:cubicBezTo>
                  <a:pt x="47625" y="97222"/>
                  <a:pt x="51606" y="101203"/>
                  <a:pt x="56555" y="101203"/>
                </a:cubicBezTo>
                <a:lnTo>
                  <a:pt x="122039" y="101203"/>
                </a:lnTo>
                <a:cubicBezTo>
                  <a:pt x="126988" y="101203"/>
                  <a:pt x="130969" y="97222"/>
                  <a:pt x="130969" y="92273"/>
                </a:cubicBezTo>
                <a:cubicBezTo>
                  <a:pt x="130969" y="87325"/>
                  <a:pt x="126988" y="83344"/>
                  <a:pt x="122039" y="83344"/>
                </a:cubicBezTo>
                <a:lnTo>
                  <a:pt x="56555" y="83344"/>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789005B4-1AFF-44E4-A51D-54645CC029A8}"/>
              </a:ext>
            </a:extLst>
          </p:cNvPr>
          <p:cNvSpPr>
            <a:spLocks xmlns:a="http://schemas.openxmlformats.org/drawingml/2006/main" noGrp="1"/>
          </p:cNvSpPr>
          <p:nvPr/>
        </p:nvSpPr>
        <p:spPr>
          <a:xfrm xmlns:a="http://schemas.openxmlformats.org/drawingml/2006/main" rot="0" flipH="0" flipV="0">
            <a:off x="1058526" y="1925647"/>
            <a:ext cx="10105744" cy="370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定义</a:t>
            </a:r>
            <a:endParaRPr/>
          </a:p>
        </p:txBody>
      </p:sp>
      <p:sp>
        <p:nvSpPr>
          <p:cNvPr id="9" name="Text 7">
            <a:extLst xmlns:a="http://schemas.openxmlformats.org/drawingml/2006/main">
              <a:ext uri="{FF2B5EF4-FFF2-40B4-BE49-F238E27FC236}">
                <a16:creationId xmlns:a16="http://schemas.microsoft.com/office/drawing/2014/main" id="{A5DD6467-389D-42FC-B8F5-FDCE3B6CAC5E}"/>
              </a:ext>
            </a:extLst>
          </p:cNvPr>
          <p:cNvSpPr>
            <a:spLocks xmlns:a="http://schemas.openxmlformats.org/drawingml/2006/main" noGrp="1"/>
          </p:cNvSpPr>
          <p:nvPr/>
        </p:nvSpPr>
        <p:spPr>
          <a:xfrm xmlns:a="http://schemas.openxmlformats.org/drawingml/2006/main" rot="0" flipH="0" flipV="0">
            <a:off x="1058526" y="2434986"/>
            <a:ext cx="10071015" cy="68297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b="1">
                <a:latin typeface="微软雅黑"/>
                <a:ea typeface="微软雅黑"/>
                <a:cs typeface="微软雅黑"/>
              </a:rPr>
              <a:t>度量地图（metric map）</a:t>
            </a:r>
            <a:r>
              <a:rPr sz="1600">
                <a:latin typeface="微软雅黑"/>
                <a:ea typeface="微软雅黑"/>
                <a:cs typeface="微软雅黑"/>
              </a:rPr>
              <a:t>可能是在移动机器人中应用最多的地图表示方法。它是机器人所处环境和环境中的物体在</a:t>
            </a:r>
            <a:r>
              <a:rPr sz="1600">
                <a:highlight>
                  <a:srgbClr val="E6B450">
                    <a:alpha val="20000"/>
                  </a:srgbClr>
                </a:highlight>
                <a:latin typeface="微软雅黑"/>
                <a:ea typeface="微软雅黑"/>
                <a:cs typeface="微软雅黑"/>
              </a:rPr>
              <a:t> 传感器视场所在水平面 </a:t>
            </a:r>
            <a:r>
              <a:rPr sz="1600">
                <a:latin typeface="微软雅黑"/>
                <a:ea typeface="微软雅黑"/>
                <a:cs typeface="微软雅黑"/>
              </a:rPr>
              <a:t>的一种二维表示方法。</a:t>
            </a:r>
            <a:endParaRPr sz="1600"/>
          </a:p>
        </p:txBody>
      </p:sp>
      <p:sp>
        <p:nvSpPr>
          <p:cNvPr id="10" name="Shape 8">
            <a:extLst xmlns:a="http://schemas.openxmlformats.org/drawingml/2006/main">
              <a:ext uri="{FF2B5EF4-FFF2-40B4-BE49-F238E27FC236}">
                <a16:creationId xmlns:a16="http://schemas.microsoft.com/office/drawing/2014/main" id="{E1EE9CD5-9854-4ADE-8A03-096A5BB25D2B}"/>
              </a:ext>
            </a:extLst>
          </p:cNvPr>
          <p:cNvSpPr>
            <a:spLocks xmlns:a="http://schemas.openxmlformats.org/drawingml/2006/main" noGrp="1"/>
          </p:cNvSpPr>
          <p:nvPr/>
        </p:nvSpPr>
        <p:spPr>
          <a:xfrm xmlns:a="http://schemas.openxmlformats.org/drawingml/2006/main" rot="0" flipH="0" flipV="0">
            <a:off x="338832" y="3667817"/>
            <a:ext cx="10962359" cy="1747958"/>
          </a:xfrm>
          <a:custGeom xmlns:a="http://schemas.openxmlformats.org/drawingml/2006/main">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4F0E5AA8-3E0D-4B7F-BC08-2226D13FC38C}"/>
              </a:ext>
            </a:extLst>
          </p:cNvPr>
          <p:cNvSpPr>
            <a:spLocks xmlns:a="http://schemas.openxmlformats.org/drawingml/2006/main" noGrp="1"/>
          </p:cNvSpPr>
          <p:nvPr/>
        </p:nvSpPr>
        <p:spPr>
          <a:xfrm xmlns:a="http://schemas.openxmlformats.org/drawingml/2006/main" rot="0" flipH="0" flipV="0">
            <a:off x="338832" y="3667817"/>
            <a:ext cx="46303" cy="1747958"/>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A8B5E36E-DDF8-4AB5-8501-C883CA80EB54}"/>
              </a:ext>
            </a:extLst>
          </p:cNvPr>
          <p:cNvSpPr>
            <a:spLocks xmlns:a="http://schemas.openxmlformats.org/drawingml/2006/main" noGrp="1"/>
          </p:cNvSpPr>
          <p:nvPr/>
        </p:nvSpPr>
        <p:spPr>
          <a:xfrm xmlns:a="http://schemas.openxmlformats.org/drawingml/2006/main" rot="0" flipH="0" flipV="0">
            <a:off x="599290" y="3991942"/>
            <a:ext cx="277821" cy="277821"/>
          </a:xfrm>
          <a:custGeom xmlns:a="http://schemas.openxmlformats.org/drawingml/2006/main">
            <a:rect l="l" t="t" r="r" b="b"/>
            <a:pathLst>
              <a:path w="190500" h="190500">
                <a:moveTo>
                  <a:pt x="83455" y="-930"/>
                </a:moveTo>
                <a:cubicBezTo>
                  <a:pt x="90822" y="-5172"/>
                  <a:pt x="99901" y="-5172"/>
                  <a:pt x="107268" y="-930"/>
                </a:cubicBezTo>
                <a:lnTo>
                  <a:pt x="172715" y="36835"/>
                </a:lnTo>
                <a:cubicBezTo>
                  <a:pt x="180082" y="41077"/>
                  <a:pt x="184621" y="48964"/>
                  <a:pt x="184621" y="57448"/>
                </a:cubicBezTo>
                <a:lnTo>
                  <a:pt x="184621" y="132978"/>
                </a:lnTo>
                <a:cubicBezTo>
                  <a:pt x="184621" y="141498"/>
                  <a:pt x="180082" y="149349"/>
                  <a:pt x="172715" y="153591"/>
                </a:cubicBezTo>
                <a:lnTo>
                  <a:pt x="107268" y="191430"/>
                </a:lnTo>
                <a:cubicBezTo>
                  <a:pt x="99901" y="195672"/>
                  <a:pt x="90822" y="195672"/>
                  <a:pt x="83455" y="191430"/>
                </a:cubicBezTo>
                <a:lnTo>
                  <a:pt x="18045" y="153665"/>
                </a:lnTo>
                <a:cubicBezTo>
                  <a:pt x="10678" y="149423"/>
                  <a:pt x="6139" y="141536"/>
                  <a:pt x="6139" y="133052"/>
                </a:cubicBezTo>
                <a:lnTo>
                  <a:pt x="6139" y="57522"/>
                </a:lnTo>
                <a:cubicBezTo>
                  <a:pt x="6139" y="49002"/>
                  <a:pt x="10678" y="41151"/>
                  <a:pt x="18045" y="36909"/>
                </a:cubicBezTo>
                <a:lnTo>
                  <a:pt x="83455" y="-930"/>
                </a:lnTo>
                <a:close/>
                <a:moveTo>
                  <a:pt x="160772" y="133015"/>
                </a:moveTo>
                <a:lnTo>
                  <a:pt x="160772" y="71214"/>
                </a:lnTo>
                <a:lnTo>
                  <a:pt x="107268" y="102096"/>
                </a:lnTo>
                <a:lnTo>
                  <a:pt x="107268" y="163897"/>
                </a:lnTo>
                <a:lnTo>
                  <a:pt x="160772" y="133015"/>
                </a:ln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9665C470-A509-41AC-ABDA-105B03BEDA47}"/>
              </a:ext>
            </a:extLst>
          </p:cNvPr>
          <p:cNvSpPr>
            <a:spLocks xmlns:a="http://schemas.openxmlformats.org/drawingml/2006/main" noGrp="1"/>
          </p:cNvSpPr>
          <p:nvPr/>
        </p:nvSpPr>
        <p:spPr>
          <a:xfrm xmlns:a="http://schemas.openxmlformats.org/drawingml/2006/main" rot="0" flipH="0" flipV="0">
            <a:off x="1025789" y="3945638"/>
            <a:ext cx="10140470" cy="370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表示特点</a:t>
            </a:r>
            <a:endParaRPr/>
          </a:p>
        </p:txBody>
      </p:sp>
      <p:sp>
        <p:nvSpPr>
          <p:cNvPr id="14" name="Text 12">
            <a:extLst xmlns:a="http://schemas.openxmlformats.org/drawingml/2006/main">
              <a:ext uri="{FF2B5EF4-FFF2-40B4-BE49-F238E27FC236}">
                <a16:creationId xmlns:a16="http://schemas.microsoft.com/office/drawing/2014/main" id="{29A5C0E3-68B2-4624-987C-28225A8B8F4A}"/>
              </a:ext>
            </a:extLst>
          </p:cNvPr>
          <p:cNvSpPr>
            <a:spLocks xmlns:a="http://schemas.openxmlformats.org/drawingml/2006/main" noGrp="1"/>
          </p:cNvSpPr>
          <p:nvPr/>
        </p:nvSpPr>
        <p:spPr>
          <a:xfrm xmlns:a="http://schemas.openxmlformats.org/drawingml/2006/main" rot="0" flipH="0" flipV="0">
            <a:off x="1025789" y="4454977"/>
            <a:ext cx="10105744" cy="68297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物体不是用它的体积来表示，而是用它们在</a:t>
            </a:r>
            <a:r>
              <a:rPr sz="1600" b="1">
                <a:latin typeface="微软雅黑"/>
                <a:ea typeface="微软雅黑"/>
                <a:cs typeface="微软雅黑"/>
              </a:rPr>
              <a:t>传感器视场所在水平面中</a:t>
            </a:r>
            <a:r>
              <a:rPr sz="1600">
                <a:latin typeface="微软雅黑"/>
                <a:ea typeface="微软雅黑"/>
                <a:cs typeface="微软雅黑"/>
              </a:rPr>
              <a:t>所占空间来表示。例如，一个</a:t>
            </a:r>
            <a:r>
              <a:rPr sz="1600" b="1">
                <a:latin typeface="微软雅黑"/>
                <a:ea typeface="微软雅黑"/>
                <a:cs typeface="微软雅黑"/>
              </a:rPr>
              <a:t>桌子</a:t>
            </a:r>
            <a:r>
              <a:rPr sz="1600">
                <a:latin typeface="微软雅黑"/>
                <a:ea typeface="微软雅黑"/>
                <a:cs typeface="微软雅黑"/>
              </a:rPr>
              <a:t>会以</a:t>
            </a:r>
            <a:r>
              <a:rPr sz="1600" b="1">
                <a:latin typeface="微软雅黑"/>
                <a:ea typeface="微软雅黑"/>
                <a:cs typeface="微软雅黑"/>
              </a:rPr>
              <a:t>四个点簇</a:t>
            </a:r>
            <a:r>
              <a:rPr sz="1600">
                <a:latin typeface="微软雅黑"/>
                <a:ea typeface="微软雅黑"/>
                <a:cs typeface="微软雅黑"/>
              </a:rPr>
              <a:t>的方式在地图中呈现，因为机器人传感器视场平面与桌子的四条腿相交。</a:t>
            </a:r>
            <a:endParaRPr sz="1600"/>
          </a:p>
        </p:txBody>
      </p:sp>
      <p:sp>
        <p:nvSpPr>
          <p:cNvPr id="15" name="Shape 13">
            <a:extLst xmlns:a="http://schemas.openxmlformats.org/drawingml/2006/main">
              <a:ext uri="{FF2B5EF4-FFF2-40B4-BE49-F238E27FC236}">
                <a16:creationId xmlns:a16="http://schemas.microsoft.com/office/drawing/2014/main" id="{089C3FF3-FA40-4D81-B980-438BDB4366CF}"/>
              </a:ext>
            </a:extLst>
          </p:cNvPr>
          <p:cNvSpPr>
            <a:spLocks xmlns:a="http://schemas.openxmlformats.org/drawingml/2006/main" noGrp="1"/>
          </p:cNvSpPr>
          <p:nvPr/>
        </p:nvSpPr>
        <p:spPr>
          <a:xfrm xmlns:a="http://schemas.openxmlformats.org/drawingml/2006/main" rot="0" flipH="0" flipV="0">
            <a:off x="321469" y="5693595"/>
            <a:ext cx="5394360" cy="1076557"/>
          </a:xfrm>
          <a:custGeom xmlns:a="http://schemas.openxmlformats.org/drawingml/2006/main">
            <a:rect l="l" t="t" r="r" b="b"/>
            <a:pathLst>
              <a:path w="3698875" h="738188">
                <a:moveTo>
                  <a:pt x="95248" y="0"/>
                </a:moveTo>
                <a:lnTo>
                  <a:pt x="3603627" y="0"/>
                </a:lnTo>
                <a:cubicBezTo>
                  <a:pt x="3656231" y="0"/>
                  <a:pt x="3698875" y="42644"/>
                  <a:pt x="3698875" y="95248"/>
                </a:cubicBezTo>
                <a:lnTo>
                  <a:pt x="3698875" y="642939"/>
                </a:lnTo>
                <a:cubicBezTo>
                  <a:pt x="3698875" y="695543"/>
                  <a:pt x="3656231" y="738188"/>
                  <a:pt x="3603627" y="738188"/>
                </a:cubicBezTo>
                <a:lnTo>
                  <a:pt x="95248" y="738188"/>
                </a:lnTo>
                <a:cubicBezTo>
                  <a:pt x="42644" y="738188"/>
                  <a:pt x="0" y="695543"/>
                  <a:pt x="0" y="642939"/>
                </a:cubicBezTo>
                <a:lnTo>
                  <a:pt x="0" y="95248"/>
                </a:lnTo>
                <a:cubicBezTo>
                  <a:pt x="0" y="42679"/>
                  <a:pt x="42679" y="0"/>
                  <a:pt x="9524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6" name="Shape 14">
            <a:extLst xmlns:a="http://schemas.openxmlformats.org/drawingml/2006/main">
              <a:ext uri="{FF2B5EF4-FFF2-40B4-BE49-F238E27FC236}">
                <a16:creationId xmlns:a16="http://schemas.microsoft.com/office/drawing/2014/main" id="{AE7A3AF6-1E88-4AB5-89DE-8D68FDD716B6}"/>
              </a:ext>
            </a:extLst>
          </p:cNvPr>
          <p:cNvSpPr>
            <a:spLocks xmlns:a="http://schemas.openxmlformats.org/drawingml/2006/main" noGrp="1"/>
          </p:cNvSpPr>
          <p:nvPr/>
        </p:nvSpPr>
        <p:spPr>
          <a:xfrm xmlns:a="http://schemas.openxmlformats.org/drawingml/2006/main" rot="0" flipH="0" flipV="0">
            <a:off x="526940" y="5930901"/>
            <a:ext cx="260457" cy="231517"/>
          </a:xfrm>
          <a:custGeom xmlns:a="http://schemas.openxmlformats.org/drawingml/2006/main">
            <a:rect l="l" t="t" r="r" b="b"/>
            <a:pathLst>
              <a:path w="178594" h="158750">
                <a:moveTo>
                  <a:pt x="64833" y="160052"/>
                </a:moveTo>
                <a:cubicBezTo>
                  <a:pt x="59035" y="165850"/>
                  <a:pt x="49609" y="165850"/>
                  <a:pt x="43780" y="160052"/>
                </a:cubicBezTo>
                <a:lnTo>
                  <a:pt x="8713" y="124985"/>
                </a:lnTo>
                <a:cubicBezTo>
                  <a:pt x="2915" y="119187"/>
                  <a:pt x="2915" y="109761"/>
                  <a:pt x="8713" y="103932"/>
                </a:cubicBezTo>
                <a:lnTo>
                  <a:pt x="13984" y="98661"/>
                </a:lnTo>
                <a:lnTo>
                  <a:pt x="36773" y="121450"/>
                </a:lnTo>
                <a:cubicBezTo>
                  <a:pt x="39688" y="124365"/>
                  <a:pt x="44400" y="124365"/>
                  <a:pt x="47284" y="121450"/>
                </a:cubicBezTo>
                <a:cubicBezTo>
                  <a:pt x="50167" y="118535"/>
                  <a:pt x="50198" y="113823"/>
                  <a:pt x="47284" y="110939"/>
                </a:cubicBezTo>
                <a:lnTo>
                  <a:pt x="24495" y="88150"/>
                </a:lnTo>
                <a:lnTo>
                  <a:pt x="35006" y="77639"/>
                </a:lnTo>
                <a:lnTo>
                  <a:pt x="50788" y="93421"/>
                </a:lnTo>
                <a:cubicBezTo>
                  <a:pt x="53702" y="96335"/>
                  <a:pt x="58415" y="96335"/>
                  <a:pt x="61299" y="93421"/>
                </a:cubicBezTo>
                <a:cubicBezTo>
                  <a:pt x="64182" y="90506"/>
                  <a:pt x="64213" y="85793"/>
                  <a:pt x="61299" y="82910"/>
                </a:cubicBezTo>
                <a:lnTo>
                  <a:pt x="45517" y="67128"/>
                </a:lnTo>
                <a:lnTo>
                  <a:pt x="56028" y="56617"/>
                </a:lnTo>
                <a:lnTo>
                  <a:pt x="78817" y="79406"/>
                </a:lnTo>
                <a:cubicBezTo>
                  <a:pt x="81731" y="82321"/>
                  <a:pt x="86444" y="82321"/>
                  <a:pt x="89328" y="79406"/>
                </a:cubicBezTo>
                <a:cubicBezTo>
                  <a:pt x="92211" y="76491"/>
                  <a:pt x="92242" y="71779"/>
                  <a:pt x="89328" y="68895"/>
                </a:cubicBezTo>
                <a:lnTo>
                  <a:pt x="66539" y="46106"/>
                </a:lnTo>
                <a:lnTo>
                  <a:pt x="77050" y="35595"/>
                </a:lnTo>
                <a:lnTo>
                  <a:pt x="92832" y="51377"/>
                </a:lnTo>
                <a:cubicBezTo>
                  <a:pt x="95746" y="54291"/>
                  <a:pt x="100459" y="54291"/>
                  <a:pt x="103343" y="51377"/>
                </a:cubicBezTo>
                <a:cubicBezTo>
                  <a:pt x="106226" y="48462"/>
                  <a:pt x="106257" y="43749"/>
                  <a:pt x="103343" y="40866"/>
                </a:cubicBezTo>
                <a:lnTo>
                  <a:pt x="87561" y="25084"/>
                </a:lnTo>
                <a:lnTo>
                  <a:pt x="98072" y="14573"/>
                </a:lnTo>
                <a:lnTo>
                  <a:pt x="120861" y="37362"/>
                </a:lnTo>
                <a:cubicBezTo>
                  <a:pt x="123775" y="40277"/>
                  <a:pt x="128488" y="40277"/>
                  <a:pt x="131372" y="37362"/>
                </a:cubicBezTo>
                <a:cubicBezTo>
                  <a:pt x="134255" y="34448"/>
                  <a:pt x="134286" y="29735"/>
                  <a:pt x="131372" y="26851"/>
                </a:cubicBezTo>
                <a:lnTo>
                  <a:pt x="108583" y="4062"/>
                </a:lnTo>
                <a:lnTo>
                  <a:pt x="113854" y="-1209"/>
                </a:lnTo>
                <a:cubicBezTo>
                  <a:pt x="119652" y="-7007"/>
                  <a:pt x="129077" y="-7007"/>
                  <a:pt x="134906" y="-1209"/>
                </a:cubicBezTo>
                <a:lnTo>
                  <a:pt x="170067" y="33765"/>
                </a:lnTo>
                <a:cubicBezTo>
                  <a:pt x="175865" y="39563"/>
                  <a:pt x="175865" y="48989"/>
                  <a:pt x="170067" y="54818"/>
                </a:cubicBezTo>
                <a:lnTo>
                  <a:pt x="64833" y="160052"/>
                </a:ln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8A0B32C7-A43C-4132-8E37-A6A90D4213A3}"/>
              </a:ext>
            </a:extLst>
          </p:cNvPr>
          <p:cNvSpPr>
            <a:spLocks xmlns:a="http://schemas.openxmlformats.org/drawingml/2006/main" noGrp="1"/>
          </p:cNvSpPr>
          <p:nvPr/>
        </p:nvSpPr>
        <p:spPr>
          <a:xfrm xmlns:a="http://schemas.openxmlformats.org/drawingml/2006/main" rot="0" flipH="0" flipV="0">
            <a:off x="940778" y="5884598"/>
            <a:ext cx="937647" cy="3241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b="1">
                <a:latin typeface="微软雅黑"/>
                <a:ea typeface="微软雅黑"/>
                <a:cs typeface="微软雅黑"/>
              </a:rPr>
              <a:t>精确度量</a:t>
            </a:r>
            <a:endParaRPr/>
          </a:p>
        </p:txBody>
      </p:sp>
      <p:sp>
        <p:nvSpPr>
          <p:cNvPr id="18" name="Text 16">
            <a:extLst xmlns:a="http://schemas.openxmlformats.org/drawingml/2006/main">
              <a:ext uri="{FF2B5EF4-FFF2-40B4-BE49-F238E27FC236}">
                <a16:creationId xmlns:a16="http://schemas.microsoft.com/office/drawing/2014/main" id="{C5C42D73-EDB9-4436-B928-69831C27AB0C}"/>
              </a:ext>
            </a:extLst>
          </p:cNvPr>
          <p:cNvSpPr>
            <a:spLocks xmlns:a="http://schemas.openxmlformats.org/drawingml/2006/main" noGrp="1"/>
          </p:cNvSpPr>
          <p:nvPr/>
        </p:nvSpPr>
        <p:spPr>
          <a:xfrm xmlns:a="http://schemas.openxmlformats.org/drawingml/2006/main" rot="0" flipH="0" flipV="0">
            <a:off x="512471" y="6301330"/>
            <a:ext cx="5104963" cy="27782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精确表示环境的几何信息</a:t>
            </a:r>
            <a:endParaRPr sz="1600"/>
          </a:p>
        </p:txBody>
      </p:sp>
      <p:sp>
        <p:nvSpPr>
          <p:cNvPr id="19" name="Shape 17">
            <a:extLst xmlns:a="http://schemas.openxmlformats.org/drawingml/2006/main">
              <a:ext uri="{FF2B5EF4-FFF2-40B4-BE49-F238E27FC236}">
                <a16:creationId xmlns:a16="http://schemas.microsoft.com/office/drawing/2014/main" id="{6BE67E3E-F317-4667-BF48-6F4A39DC6FFA}"/>
              </a:ext>
            </a:extLst>
          </p:cNvPr>
          <p:cNvSpPr>
            <a:spLocks xmlns:a="http://schemas.openxmlformats.org/drawingml/2006/main" noGrp="1"/>
          </p:cNvSpPr>
          <p:nvPr/>
        </p:nvSpPr>
        <p:spPr>
          <a:xfrm xmlns:a="http://schemas.openxmlformats.org/drawingml/2006/main" rot="0" flipH="0" flipV="0">
            <a:off x="5908640" y="5693595"/>
            <a:ext cx="5394360" cy="1076557"/>
          </a:xfrm>
          <a:custGeom xmlns:a="http://schemas.openxmlformats.org/drawingml/2006/main">
            <a:rect l="l" t="t" r="r" b="b"/>
            <a:pathLst>
              <a:path w="3698875" h="738188">
                <a:moveTo>
                  <a:pt x="95248" y="0"/>
                </a:moveTo>
                <a:lnTo>
                  <a:pt x="3603627" y="0"/>
                </a:lnTo>
                <a:cubicBezTo>
                  <a:pt x="3656231" y="0"/>
                  <a:pt x="3698875" y="42644"/>
                  <a:pt x="3698875" y="95248"/>
                </a:cubicBezTo>
                <a:lnTo>
                  <a:pt x="3698875" y="642939"/>
                </a:lnTo>
                <a:cubicBezTo>
                  <a:pt x="3698875" y="695543"/>
                  <a:pt x="3656231" y="738188"/>
                  <a:pt x="3603627" y="738188"/>
                </a:cubicBezTo>
                <a:lnTo>
                  <a:pt x="95248" y="738188"/>
                </a:lnTo>
                <a:cubicBezTo>
                  <a:pt x="42644" y="738188"/>
                  <a:pt x="0" y="695543"/>
                  <a:pt x="0" y="642939"/>
                </a:cubicBezTo>
                <a:lnTo>
                  <a:pt x="0" y="95248"/>
                </a:lnTo>
                <a:cubicBezTo>
                  <a:pt x="0" y="42679"/>
                  <a:pt x="42679" y="0"/>
                  <a:pt x="9524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0" name="Shape 18">
            <a:extLst xmlns:a="http://schemas.openxmlformats.org/drawingml/2006/main">
              <a:ext uri="{FF2B5EF4-FFF2-40B4-BE49-F238E27FC236}">
                <a16:creationId xmlns:a16="http://schemas.microsoft.com/office/drawing/2014/main" id="{35250728-B7F4-4B78-AC16-BA9C6B77829D}"/>
              </a:ext>
            </a:extLst>
          </p:cNvPr>
          <p:cNvSpPr>
            <a:spLocks xmlns:a="http://schemas.openxmlformats.org/drawingml/2006/main" noGrp="1"/>
          </p:cNvSpPr>
          <p:nvPr/>
        </p:nvSpPr>
        <p:spPr>
          <a:xfrm xmlns:a="http://schemas.openxmlformats.org/drawingml/2006/main" rot="0" flipH="0" flipV="0">
            <a:off x="6114111" y="5930901"/>
            <a:ext cx="260457" cy="231517"/>
          </a:xfrm>
          <a:custGeom xmlns:a="http://schemas.openxmlformats.org/drawingml/2006/main">
            <a:rect l="l" t="t" r="r" b="b"/>
            <a:pathLst>
              <a:path w="178594" h="158750">
                <a:moveTo>
                  <a:pt x="89297" y="9922"/>
                </a:moveTo>
                <a:cubicBezTo>
                  <a:pt x="64244" y="9922"/>
                  <a:pt x="44183" y="21332"/>
                  <a:pt x="29580" y="34913"/>
                </a:cubicBezTo>
                <a:cubicBezTo>
                  <a:pt x="15069" y="48400"/>
                  <a:pt x="5364" y="64492"/>
                  <a:pt x="744" y="75561"/>
                </a:cubicBezTo>
                <a:cubicBezTo>
                  <a:pt x="-279" y="78011"/>
                  <a:pt x="-279" y="80739"/>
                  <a:pt x="744" y="83189"/>
                </a:cubicBezTo>
                <a:cubicBezTo>
                  <a:pt x="5364" y="94258"/>
                  <a:pt x="15069" y="110381"/>
                  <a:pt x="29580" y="123837"/>
                </a:cubicBezTo>
                <a:cubicBezTo>
                  <a:pt x="44183" y="137387"/>
                  <a:pt x="64244" y="148828"/>
                  <a:pt x="89297" y="148828"/>
                </a:cubicBezTo>
                <a:cubicBezTo>
                  <a:pt x="114350" y="148828"/>
                  <a:pt x="134410" y="137418"/>
                  <a:pt x="149014" y="123837"/>
                </a:cubicBezTo>
                <a:cubicBezTo>
                  <a:pt x="163525" y="110350"/>
                  <a:pt x="173230" y="94258"/>
                  <a:pt x="177850" y="83189"/>
                </a:cubicBezTo>
                <a:cubicBezTo>
                  <a:pt x="178873" y="80739"/>
                  <a:pt x="178873" y="78011"/>
                  <a:pt x="177850" y="75561"/>
                </a:cubicBezTo>
                <a:cubicBezTo>
                  <a:pt x="173230" y="64492"/>
                  <a:pt x="163525" y="48369"/>
                  <a:pt x="149014" y="34913"/>
                </a:cubicBezTo>
                <a:cubicBezTo>
                  <a:pt x="134410" y="21363"/>
                  <a:pt x="114350" y="9922"/>
                  <a:pt x="89297" y="9922"/>
                </a:cubicBezTo>
                <a:close/>
                <a:moveTo>
                  <a:pt x="44648" y="79375"/>
                </a:moveTo>
                <a:cubicBezTo>
                  <a:pt x="44648" y="54733"/>
                  <a:pt x="64655" y="34727"/>
                  <a:pt x="89297" y="34727"/>
                </a:cubicBezTo>
                <a:cubicBezTo>
                  <a:pt x="113939" y="34727"/>
                  <a:pt x="133945" y="54733"/>
                  <a:pt x="133945" y="79375"/>
                </a:cubicBezTo>
                <a:cubicBezTo>
                  <a:pt x="133945" y="104017"/>
                  <a:pt x="113939" y="124023"/>
                  <a:pt x="89297" y="124023"/>
                </a:cubicBezTo>
                <a:cubicBezTo>
                  <a:pt x="64655" y="124023"/>
                  <a:pt x="44648" y="104017"/>
                  <a:pt x="44648" y="79375"/>
                </a:cubicBezTo>
                <a:close/>
                <a:moveTo>
                  <a:pt x="89297" y="59531"/>
                </a:moveTo>
                <a:cubicBezTo>
                  <a:pt x="89297" y="70476"/>
                  <a:pt x="80398" y="79375"/>
                  <a:pt x="69453" y="79375"/>
                </a:cubicBezTo>
                <a:cubicBezTo>
                  <a:pt x="65887" y="79375"/>
                  <a:pt x="62539" y="78445"/>
                  <a:pt x="59624" y="76771"/>
                </a:cubicBezTo>
                <a:cubicBezTo>
                  <a:pt x="59314" y="80150"/>
                  <a:pt x="59593" y="83623"/>
                  <a:pt x="60523" y="87064"/>
                </a:cubicBezTo>
                <a:cubicBezTo>
                  <a:pt x="64771" y="102939"/>
                  <a:pt x="81111" y="112365"/>
                  <a:pt x="96986" y="108117"/>
                </a:cubicBezTo>
                <a:cubicBezTo>
                  <a:pt x="112861" y="103870"/>
                  <a:pt x="122287" y="87530"/>
                  <a:pt x="118039" y="71655"/>
                </a:cubicBezTo>
                <a:cubicBezTo>
                  <a:pt x="114257" y="57485"/>
                  <a:pt x="100831" y="48462"/>
                  <a:pt x="86692" y="49702"/>
                </a:cubicBezTo>
                <a:cubicBezTo>
                  <a:pt x="88336" y="52586"/>
                  <a:pt x="89297" y="55935"/>
                  <a:pt x="89297" y="59531"/>
                </a:cubicBezTo>
                <a:close/>
              </a:path>
            </a:pathLst>
          </a:custGeom>
          <a:solidFill xmlns:a="http://schemas.openxmlformats.org/drawingml/2006/main">
            <a:srgbClr val="E6B450"/>
          </a:solidFill>
        </p:spPr>
      </p:sp>
      <p:sp>
        <p:nvSpPr>
          <p:cNvPr id="21" name="Text 19">
            <a:extLst xmlns:a="http://schemas.openxmlformats.org/drawingml/2006/main">
              <a:ext uri="{FF2B5EF4-FFF2-40B4-BE49-F238E27FC236}">
                <a16:creationId xmlns:a16="http://schemas.microsoft.com/office/drawing/2014/main" id="{851EBB6D-C4BF-4A40-9EF4-B5C240D5EFBF}"/>
              </a:ext>
            </a:extLst>
          </p:cNvPr>
          <p:cNvSpPr>
            <a:spLocks xmlns:a="http://schemas.openxmlformats.org/drawingml/2006/main" noGrp="1"/>
          </p:cNvSpPr>
          <p:nvPr/>
        </p:nvSpPr>
        <p:spPr>
          <a:xfrm xmlns:a="http://schemas.openxmlformats.org/drawingml/2006/main" rot="0" flipH="0" flipV="0">
            <a:off x="6527949" y="5884598"/>
            <a:ext cx="1146012" cy="3241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b="1">
                <a:latin typeface="微软雅黑"/>
                <a:ea typeface="微软雅黑"/>
                <a:cs typeface="微软雅黑"/>
              </a:rPr>
              <a:t>传感器平面</a:t>
            </a:r>
            <a:endParaRPr/>
          </a:p>
        </p:txBody>
      </p:sp>
      <p:sp>
        <p:nvSpPr>
          <p:cNvPr id="22" name="Text 20">
            <a:extLst xmlns:a="http://schemas.openxmlformats.org/drawingml/2006/main">
              <a:ext uri="{FF2B5EF4-FFF2-40B4-BE49-F238E27FC236}">
                <a16:creationId xmlns:a16="http://schemas.microsoft.com/office/drawing/2014/main" id="{395A21BF-CAA0-4899-8ED1-8EE5684A8036}"/>
              </a:ext>
            </a:extLst>
          </p:cNvPr>
          <p:cNvSpPr>
            <a:spLocks xmlns:a="http://schemas.openxmlformats.org/drawingml/2006/main" noGrp="1"/>
          </p:cNvSpPr>
          <p:nvPr/>
        </p:nvSpPr>
        <p:spPr>
          <a:xfrm xmlns:a="http://schemas.openxmlformats.org/drawingml/2006/main" rot="0" flipH="0" flipV="0">
            <a:off x="6099641" y="6301330"/>
            <a:ext cx="5104963" cy="27782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基于传感器视场水平面</a:t>
            </a:r>
            <a:endParaRPr sz="1600"/>
          </a:p>
        </p:txBody>
      </p:sp>
      <p:sp>
        <p:nvSpPr>
          <p:cNvPr id="46" name="矩形 45">
            <a:extLst xmlns:a="http://schemas.openxmlformats.org/drawingml/2006/main">
              <a:ext uri="{FF2B5EF4-FFF2-40B4-BE49-F238E27FC236}">
                <a16:creationId xmlns:a16="http://schemas.microsoft.com/office/drawing/2014/main" id="{6BB7965C-6B15-AD78-8AAC-CFEEA947E7D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文本框 46">
            <a:extLst xmlns:a="http://schemas.openxmlformats.org/drawingml/2006/main">
              <a:ext uri="{FF2B5EF4-FFF2-40B4-BE49-F238E27FC236}">
                <a16:creationId xmlns:a16="http://schemas.microsoft.com/office/drawing/2014/main" id="{1B4957E3-DC5B-333F-9A70-5B173094F5AC}"/>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7.1.1 </a:t>
            </a:r>
            <a:r>
              <a:rPr sz="2400" b="1">
                <a:solidFill>
                  <a:schemeClr val="accent1"/>
                </a:solidFill>
                <a:latin typeface="+mj-lt"/>
                <a:ea typeface="+mj-lt"/>
                <a:cs typeface="+mj-lt"/>
              </a:rPr>
              <a:t>度量地图</a:t>
            </a:r>
          </a:p>
        </p:txBody>
      </p:sp>
    </p:spTree>
    <p:extLst>
      <p:ext uri="{BB962C8B-B14F-4D97-AF65-F5344CB8AC3E}">
        <p14:creationId xmlns:p14="http://schemas.microsoft.com/office/powerpoint/2010/main" val="1062066078"/>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CAC87C6E-F4CA-446C-BFA1-5D04BE991DFA}"/>
              </a:ext>
            </a:extLst>
          </p:cNvPr>
          <p:cNvSpPr>
            <a:spLocks xmlns:a="http://schemas.openxmlformats.org/drawingml/2006/main" noGrp="1"/>
          </p:cNvSpPr>
          <p:nvPr/>
        </p:nvSpPr>
        <p:spPr>
          <a:xfrm xmlns:a="http://schemas.openxmlformats.org/drawingml/2006/main">
            <a:off x="344504" y="1647100"/>
            <a:ext cx="6327935" cy="1653162"/>
          </a:xfrm>
          <a:custGeom xmlns:a="http://schemas.openxmlformats.org/drawingml/2006/main">
            <a:rect l="l" t="t" r="r" b="b"/>
            <a:pathLst>
              <a:path w="5626449" h="1469900">
                <a:moveTo>
                  <a:pt x="32664" y="0"/>
                </a:moveTo>
                <a:lnTo>
                  <a:pt x="5528451" y="0"/>
                </a:lnTo>
                <a:cubicBezTo>
                  <a:pt x="5582573" y="0"/>
                  <a:pt x="5626449" y="43875"/>
                  <a:pt x="5626449" y="97998"/>
                </a:cubicBezTo>
                <a:lnTo>
                  <a:pt x="5626449" y="1371901"/>
                </a:lnTo>
                <a:cubicBezTo>
                  <a:pt x="5626449" y="1426024"/>
                  <a:pt x="5582573" y="1469900"/>
                  <a:pt x="5528451" y="1469900"/>
                </a:cubicBezTo>
                <a:lnTo>
                  <a:pt x="32664" y="1469900"/>
                </a:lnTo>
                <a:cubicBezTo>
                  <a:pt x="14624" y="1469900"/>
                  <a:pt x="0" y="1455275"/>
                  <a:pt x="0" y="1437235"/>
                </a:cubicBezTo>
                <a:lnTo>
                  <a:pt x="0" y="32664"/>
                </a:lnTo>
                <a:cubicBezTo>
                  <a:pt x="0" y="14636"/>
                  <a:pt x="14636" y="0"/>
                  <a:pt x="32664"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BF94FAF0-E656-4069-BC68-01828A0B305B}"/>
              </a:ext>
            </a:extLst>
          </p:cNvPr>
          <p:cNvSpPr>
            <a:spLocks xmlns:a="http://schemas.openxmlformats.org/drawingml/2006/main" noGrp="1"/>
          </p:cNvSpPr>
          <p:nvPr/>
        </p:nvSpPr>
        <p:spPr>
          <a:xfrm xmlns:a="http://schemas.openxmlformats.org/drawingml/2006/main">
            <a:off x="344504" y="1647100"/>
            <a:ext cx="36736" cy="1653162"/>
          </a:xfrm>
          <a:custGeom xmlns:a="http://schemas.openxmlformats.org/drawingml/2006/main">
            <a:rect l="l" t="t" r="r" b="b"/>
            <a:pathLst>
              <a:path w="32664" h="1469900">
                <a:moveTo>
                  <a:pt x="32664" y="0"/>
                </a:moveTo>
                <a:lnTo>
                  <a:pt x="32664" y="0"/>
                </a:lnTo>
                <a:lnTo>
                  <a:pt x="32664" y="1469900"/>
                </a:lnTo>
                <a:lnTo>
                  <a:pt x="32664" y="1469900"/>
                </a:lnTo>
                <a:cubicBezTo>
                  <a:pt x="14624" y="1469900"/>
                  <a:pt x="0" y="1455275"/>
                  <a:pt x="0" y="1437235"/>
                </a:cubicBezTo>
                <a:lnTo>
                  <a:pt x="0" y="32664"/>
                </a:lnTo>
                <a:cubicBezTo>
                  <a:pt x="0" y="14636"/>
                  <a:pt x="14636" y="0"/>
                  <a:pt x="32664"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E1C05CA6-584E-42D5-BDD5-D04CF14EC3FA}"/>
              </a:ext>
            </a:extLst>
          </p:cNvPr>
          <p:cNvSpPr>
            <a:spLocks xmlns:a="http://schemas.openxmlformats.org/drawingml/2006/main" noGrp="1"/>
          </p:cNvSpPr>
          <p:nvPr/>
        </p:nvSpPr>
        <p:spPr>
          <a:xfrm xmlns:a="http://schemas.openxmlformats.org/drawingml/2006/main">
            <a:off x="564925" y="1887324"/>
            <a:ext cx="192869" cy="220422"/>
          </a:xfrm>
          <a:custGeom xmlns:a="http://schemas.openxmlformats.org/drawingml/2006/main">
            <a:rect l="l" t="t" r="r" b="b"/>
            <a:pathLst>
              <a:path w="171488" h="195987">
                <a:moveTo>
                  <a:pt x="171488" y="78777"/>
                </a:moveTo>
                <a:cubicBezTo>
                  <a:pt x="165823" y="82529"/>
                  <a:pt x="159316" y="85553"/>
                  <a:pt x="152540" y="87964"/>
                </a:cubicBezTo>
                <a:cubicBezTo>
                  <a:pt x="134549" y="94395"/>
                  <a:pt x="110931" y="97993"/>
                  <a:pt x="85744" y="97993"/>
                </a:cubicBezTo>
                <a:cubicBezTo>
                  <a:pt x="60557" y="97993"/>
                  <a:pt x="36901" y="94357"/>
                  <a:pt x="18948" y="87964"/>
                </a:cubicBezTo>
                <a:cubicBezTo>
                  <a:pt x="12211" y="85553"/>
                  <a:pt x="5665" y="82529"/>
                  <a:pt x="0" y="78777"/>
                </a:cubicBezTo>
                <a:lnTo>
                  <a:pt x="0" y="110242"/>
                </a:lnTo>
                <a:cubicBezTo>
                  <a:pt x="0" y="127162"/>
                  <a:pt x="38393" y="140865"/>
                  <a:pt x="85744" y="140865"/>
                </a:cubicBezTo>
                <a:cubicBezTo>
                  <a:pt x="133095" y="140865"/>
                  <a:pt x="171488" y="127162"/>
                  <a:pt x="171488" y="110242"/>
                </a:cubicBezTo>
                <a:lnTo>
                  <a:pt x="171488" y="78777"/>
                </a:lnTo>
                <a:close/>
                <a:moveTo>
                  <a:pt x="171488" y="48997"/>
                </a:moveTo>
                <a:lnTo>
                  <a:pt x="171488" y="30623"/>
                </a:lnTo>
                <a:cubicBezTo>
                  <a:pt x="171488" y="13704"/>
                  <a:pt x="133095" y="0"/>
                  <a:pt x="85744" y="0"/>
                </a:cubicBezTo>
                <a:cubicBezTo>
                  <a:pt x="38393" y="0"/>
                  <a:pt x="0" y="13704"/>
                  <a:pt x="0" y="30623"/>
                </a:cubicBezTo>
                <a:lnTo>
                  <a:pt x="0" y="48997"/>
                </a:lnTo>
                <a:cubicBezTo>
                  <a:pt x="0" y="65916"/>
                  <a:pt x="38393" y="79620"/>
                  <a:pt x="85744" y="79620"/>
                </a:cubicBezTo>
                <a:cubicBezTo>
                  <a:pt x="133095" y="79620"/>
                  <a:pt x="171488" y="65916"/>
                  <a:pt x="171488" y="48997"/>
                </a:cubicBezTo>
                <a:close/>
                <a:moveTo>
                  <a:pt x="152540" y="149210"/>
                </a:moveTo>
                <a:cubicBezTo>
                  <a:pt x="134588" y="155603"/>
                  <a:pt x="110970" y="159239"/>
                  <a:pt x="85744" y="159239"/>
                </a:cubicBezTo>
                <a:cubicBezTo>
                  <a:pt x="60519" y="159239"/>
                  <a:pt x="36901" y="155603"/>
                  <a:pt x="18948" y="149210"/>
                </a:cubicBezTo>
                <a:cubicBezTo>
                  <a:pt x="12211" y="146799"/>
                  <a:pt x="5665" y="143775"/>
                  <a:pt x="0" y="140023"/>
                </a:cubicBezTo>
                <a:lnTo>
                  <a:pt x="0" y="165364"/>
                </a:lnTo>
                <a:cubicBezTo>
                  <a:pt x="0" y="182283"/>
                  <a:pt x="38393" y="195987"/>
                  <a:pt x="85744" y="195987"/>
                </a:cubicBezTo>
                <a:cubicBezTo>
                  <a:pt x="133095" y="195987"/>
                  <a:pt x="171488" y="182283"/>
                  <a:pt x="171488" y="165364"/>
                </a:cubicBezTo>
                <a:lnTo>
                  <a:pt x="171488" y="140023"/>
                </a:lnTo>
                <a:cubicBezTo>
                  <a:pt x="165823" y="143775"/>
                  <a:pt x="159316" y="146799"/>
                  <a:pt x="152540" y="149210"/>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1D486364-CFCE-47B3-B922-35EC8BAE9FE6}"/>
              </a:ext>
            </a:extLst>
          </p:cNvPr>
          <p:cNvSpPr>
            <a:spLocks xmlns:a="http://schemas.openxmlformats.org/drawingml/2006/main" noGrp="1"/>
          </p:cNvSpPr>
          <p:nvPr/>
        </p:nvSpPr>
        <p:spPr>
          <a:xfrm xmlns:a="http://schemas.openxmlformats.org/drawingml/2006/main">
            <a:off x="883934" y="1850587"/>
            <a:ext cx="5675854" cy="29389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600" b="1">
                <a:latin typeface="微软雅黑"/>
                <a:ea typeface="微软雅黑"/>
                <a:cs typeface="微软雅黑"/>
              </a:rPr>
              <a:t>存储需求</a:t>
            </a:r>
            <a:endParaRPr sz="1600"/>
          </a:p>
        </p:txBody>
      </p:sp>
      <p:sp>
        <p:nvSpPr>
          <p:cNvPr id="9" name="Text 7">
            <a:extLst xmlns:a="http://schemas.openxmlformats.org/drawingml/2006/main">
              <a:ext uri="{FF2B5EF4-FFF2-40B4-BE49-F238E27FC236}">
                <a16:creationId xmlns:a16="http://schemas.microsoft.com/office/drawing/2014/main" id="{B2D31E6A-E7A5-48DE-A785-CCA9F0472D18}"/>
              </a:ext>
            </a:extLst>
          </p:cNvPr>
          <p:cNvSpPr>
            <a:spLocks xmlns:a="http://schemas.openxmlformats.org/drawingml/2006/main" noGrp="1"/>
          </p:cNvSpPr>
          <p:nvPr/>
        </p:nvSpPr>
        <p:spPr>
          <a:xfrm xmlns:a="http://schemas.openxmlformats.org/drawingml/2006/main">
            <a:off x="883934" y="2271627"/>
            <a:ext cx="5648302" cy="80821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在地图中精确地表示机器人的工作空间和物体的形状意味着需要</a:t>
            </a:r>
            <a:r>
              <a:rPr sz="1600" b="1">
                <a:latin typeface="微软雅黑"/>
                <a:ea typeface="微软雅黑"/>
                <a:cs typeface="微软雅黑"/>
              </a:rPr>
              <a:t>大量的存储空间</a:t>
            </a:r>
            <a:r>
              <a:rPr sz="1600">
                <a:latin typeface="微软雅黑"/>
                <a:ea typeface="微软雅黑"/>
                <a:cs typeface="微软雅黑"/>
              </a:rPr>
              <a:t>来保存地图。度量图有不同的实现方式，最常用的一种是占用栅格地图。</a:t>
            </a:r>
            <a:endParaRPr sz="1600"/>
          </a:p>
        </p:txBody>
      </p:sp>
      <p:sp>
        <p:nvSpPr>
          <p:cNvPr id="10" name="Shape 8">
            <a:extLst xmlns:a="http://schemas.openxmlformats.org/drawingml/2006/main">
              <a:ext uri="{FF2B5EF4-FFF2-40B4-BE49-F238E27FC236}">
                <a16:creationId xmlns:a16="http://schemas.microsoft.com/office/drawing/2014/main" id="{6A0932F7-C23C-4F0F-A1C0-4314FBB1170F}"/>
              </a:ext>
            </a:extLst>
          </p:cNvPr>
          <p:cNvSpPr>
            <a:spLocks xmlns:a="http://schemas.openxmlformats.org/drawingml/2006/main" noGrp="1"/>
          </p:cNvSpPr>
          <p:nvPr/>
        </p:nvSpPr>
        <p:spPr>
          <a:xfrm xmlns:a="http://schemas.openxmlformats.org/drawingml/2006/main">
            <a:off x="344504" y="3518385"/>
            <a:ext cx="6327935" cy="1925681"/>
          </a:xfrm>
          <a:custGeom xmlns:a="http://schemas.openxmlformats.org/drawingml/2006/main">
            <a:rect l="l" t="t" r="r" b="b"/>
            <a:pathLst>
              <a:path w="5626449" h="1469900">
                <a:moveTo>
                  <a:pt x="32664" y="0"/>
                </a:moveTo>
                <a:lnTo>
                  <a:pt x="5528451" y="0"/>
                </a:lnTo>
                <a:cubicBezTo>
                  <a:pt x="5582573" y="0"/>
                  <a:pt x="5626449" y="43875"/>
                  <a:pt x="5626449" y="97998"/>
                </a:cubicBezTo>
                <a:lnTo>
                  <a:pt x="5626449" y="1371901"/>
                </a:lnTo>
                <a:cubicBezTo>
                  <a:pt x="5626449" y="1426024"/>
                  <a:pt x="5582573" y="1469900"/>
                  <a:pt x="5528451" y="1469900"/>
                </a:cubicBezTo>
                <a:lnTo>
                  <a:pt x="32664" y="1469900"/>
                </a:lnTo>
                <a:cubicBezTo>
                  <a:pt x="14624" y="1469900"/>
                  <a:pt x="0" y="1455275"/>
                  <a:pt x="0" y="1437235"/>
                </a:cubicBezTo>
                <a:lnTo>
                  <a:pt x="0" y="32664"/>
                </a:lnTo>
                <a:cubicBezTo>
                  <a:pt x="0" y="14636"/>
                  <a:pt x="14636" y="0"/>
                  <a:pt x="32664"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C539CFED-2CEC-439D-835A-4681CD21ED50}"/>
              </a:ext>
            </a:extLst>
          </p:cNvPr>
          <p:cNvSpPr>
            <a:spLocks xmlns:a="http://schemas.openxmlformats.org/drawingml/2006/main" noGrp="1"/>
          </p:cNvSpPr>
          <p:nvPr/>
        </p:nvSpPr>
        <p:spPr>
          <a:xfrm xmlns:a="http://schemas.openxmlformats.org/drawingml/2006/main">
            <a:off x="344504" y="3518385"/>
            <a:ext cx="36736" cy="1925681"/>
          </a:xfrm>
          <a:custGeom xmlns:a="http://schemas.openxmlformats.org/drawingml/2006/main">
            <a:rect l="l" t="t" r="r" b="b"/>
            <a:pathLst>
              <a:path w="32664" h="1469900">
                <a:moveTo>
                  <a:pt x="32664" y="0"/>
                </a:moveTo>
                <a:lnTo>
                  <a:pt x="32664" y="0"/>
                </a:lnTo>
                <a:lnTo>
                  <a:pt x="32664" y="1469900"/>
                </a:lnTo>
                <a:lnTo>
                  <a:pt x="32664" y="1469900"/>
                </a:lnTo>
                <a:cubicBezTo>
                  <a:pt x="14624" y="1469900"/>
                  <a:pt x="0" y="1455275"/>
                  <a:pt x="0" y="1437235"/>
                </a:cubicBezTo>
                <a:lnTo>
                  <a:pt x="0" y="32664"/>
                </a:lnTo>
                <a:cubicBezTo>
                  <a:pt x="0" y="14636"/>
                  <a:pt x="14636" y="0"/>
                  <a:pt x="32664"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2D5C3029-FC78-4BCD-8ECD-5CA32ACC585B}"/>
              </a:ext>
            </a:extLst>
          </p:cNvPr>
          <p:cNvSpPr>
            <a:spLocks xmlns:a="http://schemas.openxmlformats.org/drawingml/2006/main" noGrp="1"/>
          </p:cNvSpPr>
          <p:nvPr/>
        </p:nvSpPr>
        <p:spPr>
          <a:xfrm xmlns:a="http://schemas.openxmlformats.org/drawingml/2006/main">
            <a:off x="564925" y="3606207"/>
            <a:ext cx="192869" cy="220422"/>
          </a:xfrm>
          <a:custGeom xmlns:a="http://schemas.openxmlformats.org/drawingml/2006/main">
            <a:rect l="l" t="t" r="r" b="b"/>
            <a:pathLst>
              <a:path w="171488" h="195987">
                <a:moveTo>
                  <a:pt x="146990" y="36747"/>
                </a:moveTo>
                <a:lnTo>
                  <a:pt x="146990" y="61246"/>
                </a:lnTo>
                <a:lnTo>
                  <a:pt x="122492" y="61246"/>
                </a:lnTo>
                <a:lnTo>
                  <a:pt x="122492" y="36747"/>
                </a:lnTo>
                <a:lnTo>
                  <a:pt x="146990" y="36747"/>
                </a:lnTo>
                <a:close/>
                <a:moveTo>
                  <a:pt x="146990" y="85744"/>
                </a:moveTo>
                <a:lnTo>
                  <a:pt x="146990" y="110242"/>
                </a:lnTo>
                <a:lnTo>
                  <a:pt x="122492" y="110242"/>
                </a:lnTo>
                <a:lnTo>
                  <a:pt x="122492" y="85744"/>
                </a:lnTo>
                <a:lnTo>
                  <a:pt x="146990" y="85744"/>
                </a:lnTo>
                <a:close/>
                <a:moveTo>
                  <a:pt x="146990" y="134741"/>
                </a:moveTo>
                <a:lnTo>
                  <a:pt x="146990" y="159239"/>
                </a:lnTo>
                <a:lnTo>
                  <a:pt x="122492" y="159239"/>
                </a:lnTo>
                <a:lnTo>
                  <a:pt x="122492" y="134741"/>
                </a:lnTo>
                <a:lnTo>
                  <a:pt x="146990" y="134741"/>
                </a:lnTo>
                <a:close/>
                <a:moveTo>
                  <a:pt x="97993" y="110242"/>
                </a:moveTo>
                <a:lnTo>
                  <a:pt x="73495" y="110242"/>
                </a:lnTo>
                <a:lnTo>
                  <a:pt x="73495" y="85744"/>
                </a:lnTo>
                <a:lnTo>
                  <a:pt x="97993" y="85744"/>
                </a:lnTo>
                <a:lnTo>
                  <a:pt x="97993" y="110242"/>
                </a:lnTo>
                <a:close/>
                <a:moveTo>
                  <a:pt x="73495" y="134741"/>
                </a:moveTo>
                <a:lnTo>
                  <a:pt x="97993" y="134741"/>
                </a:lnTo>
                <a:lnTo>
                  <a:pt x="97993" y="159239"/>
                </a:lnTo>
                <a:lnTo>
                  <a:pt x="73495" y="159239"/>
                </a:lnTo>
                <a:lnTo>
                  <a:pt x="73495" y="134741"/>
                </a:lnTo>
                <a:close/>
                <a:moveTo>
                  <a:pt x="48997" y="110242"/>
                </a:moveTo>
                <a:lnTo>
                  <a:pt x="24498" y="110242"/>
                </a:lnTo>
                <a:lnTo>
                  <a:pt x="24498" y="85744"/>
                </a:lnTo>
                <a:lnTo>
                  <a:pt x="48997" y="85744"/>
                </a:lnTo>
                <a:lnTo>
                  <a:pt x="48997" y="110242"/>
                </a:lnTo>
                <a:close/>
                <a:moveTo>
                  <a:pt x="24498" y="134741"/>
                </a:moveTo>
                <a:lnTo>
                  <a:pt x="48997" y="134741"/>
                </a:lnTo>
                <a:lnTo>
                  <a:pt x="48997" y="159239"/>
                </a:lnTo>
                <a:lnTo>
                  <a:pt x="24498" y="159239"/>
                </a:lnTo>
                <a:lnTo>
                  <a:pt x="24498" y="134741"/>
                </a:lnTo>
                <a:close/>
                <a:moveTo>
                  <a:pt x="24498" y="61246"/>
                </a:moveTo>
                <a:lnTo>
                  <a:pt x="24498" y="36747"/>
                </a:lnTo>
                <a:lnTo>
                  <a:pt x="48997" y="36747"/>
                </a:lnTo>
                <a:lnTo>
                  <a:pt x="48997" y="61246"/>
                </a:lnTo>
                <a:lnTo>
                  <a:pt x="24498" y="61246"/>
                </a:lnTo>
                <a:close/>
                <a:moveTo>
                  <a:pt x="73495" y="61246"/>
                </a:moveTo>
                <a:lnTo>
                  <a:pt x="73495" y="36747"/>
                </a:lnTo>
                <a:lnTo>
                  <a:pt x="97993" y="36747"/>
                </a:lnTo>
                <a:lnTo>
                  <a:pt x="97993" y="61246"/>
                </a:lnTo>
                <a:lnTo>
                  <a:pt x="73495" y="61246"/>
                </a:lnTo>
                <a:close/>
                <a:moveTo>
                  <a:pt x="24498" y="12249"/>
                </a:moveTo>
                <a:cubicBezTo>
                  <a:pt x="10986" y="12249"/>
                  <a:pt x="0" y="23235"/>
                  <a:pt x="0" y="36747"/>
                </a:cubicBezTo>
                <a:lnTo>
                  <a:pt x="0" y="159239"/>
                </a:lnTo>
                <a:cubicBezTo>
                  <a:pt x="0" y="172751"/>
                  <a:pt x="10986" y="183737"/>
                  <a:pt x="24498" y="183737"/>
                </a:cubicBezTo>
                <a:lnTo>
                  <a:pt x="146990" y="183737"/>
                </a:lnTo>
                <a:cubicBezTo>
                  <a:pt x="160502" y="183737"/>
                  <a:pt x="171488" y="172751"/>
                  <a:pt x="171488" y="159239"/>
                </a:cubicBezTo>
                <a:lnTo>
                  <a:pt x="171488" y="36747"/>
                </a:lnTo>
                <a:cubicBezTo>
                  <a:pt x="171488" y="23235"/>
                  <a:pt x="160502" y="12249"/>
                  <a:pt x="146990" y="12249"/>
                </a:cubicBezTo>
                <a:lnTo>
                  <a:pt x="24498" y="12249"/>
                </a:ln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49C2296A-A521-4503-BB2F-69DB76C1FD2F}"/>
              </a:ext>
            </a:extLst>
          </p:cNvPr>
          <p:cNvSpPr>
            <a:spLocks xmlns:a="http://schemas.openxmlformats.org/drawingml/2006/main" noGrp="1"/>
          </p:cNvSpPr>
          <p:nvPr/>
        </p:nvSpPr>
        <p:spPr>
          <a:xfrm xmlns:a="http://schemas.openxmlformats.org/drawingml/2006/main">
            <a:off x="883934" y="3569470"/>
            <a:ext cx="5675854" cy="29389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600" b="1">
                <a:latin typeface="微软雅黑"/>
                <a:ea typeface="微软雅黑"/>
                <a:cs typeface="微软雅黑"/>
              </a:rPr>
              <a:t>占用栅格地图定义</a:t>
            </a:r>
            <a:endParaRPr sz="1600"/>
          </a:p>
        </p:txBody>
      </p:sp>
      <p:sp>
        <p:nvSpPr>
          <p:cNvPr id="14" name="Text 12">
            <a:extLst xmlns:a="http://schemas.openxmlformats.org/drawingml/2006/main">
              <a:ext uri="{FF2B5EF4-FFF2-40B4-BE49-F238E27FC236}">
                <a16:creationId xmlns:a16="http://schemas.microsoft.com/office/drawing/2014/main" id="{5DFAD4A3-402C-4960-ABA0-B9D4E61E22C8}"/>
              </a:ext>
            </a:extLst>
          </p:cNvPr>
          <p:cNvSpPr>
            <a:spLocks xmlns:a="http://schemas.openxmlformats.org/drawingml/2006/main" noGrp="1"/>
          </p:cNvSpPr>
          <p:nvPr/>
        </p:nvSpPr>
        <p:spPr>
          <a:xfrm xmlns:a="http://schemas.openxmlformats.org/drawingml/2006/main">
            <a:off x="883934" y="4142915"/>
            <a:ext cx="5648302" cy="100481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b="1">
                <a:latin typeface="微软雅黑"/>
                <a:ea typeface="微软雅黑"/>
                <a:cs typeface="微软雅黑"/>
              </a:rPr>
              <a:t>占用栅格地图（occupancy grid）</a:t>
            </a:r>
            <a:r>
              <a:rPr sz="1600">
                <a:latin typeface="微软雅黑"/>
                <a:ea typeface="微软雅黑"/>
                <a:cs typeface="微软雅黑"/>
              </a:rPr>
              <a:t>利用一个栅格将环境细分为许多单元格来建模机器人周围的物理空间。每个单元格代表环境中的一小块特定区域，根据是否有障碍物被分类为</a:t>
            </a:r>
            <a:r>
              <a:rPr sz="1600">
                <a:highlight>
                  <a:srgbClr val="E6B450">
                    <a:alpha val="20000"/>
                  </a:srgbClr>
                </a:highlight>
                <a:latin typeface="微软雅黑"/>
                <a:ea typeface="微软雅黑"/>
                <a:cs typeface="微软雅黑"/>
              </a:rPr>
              <a:t> "已占用"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"未占用" </a:t>
            </a:r>
            <a:r>
              <a:rPr sz="1600">
                <a:latin typeface="微软雅黑"/>
                <a:ea typeface="微软雅黑"/>
                <a:cs typeface="微软雅黑"/>
              </a:rPr>
              <a:t>。</a:t>
            </a:r>
            <a:endParaRPr sz="1600"/>
          </a:p>
        </p:txBody>
      </p:sp>
      <p:sp>
        <p:nvSpPr>
          <p:cNvPr id="15" name="Shape 13">
            <a:extLst xmlns:a="http://schemas.openxmlformats.org/drawingml/2006/main">
              <a:ext uri="{FF2B5EF4-FFF2-40B4-BE49-F238E27FC236}">
                <a16:creationId xmlns:a16="http://schemas.microsoft.com/office/drawing/2014/main" id="{5B3E5A09-DDC5-4F31-ADB6-ECEDA4736685}"/>
              </a:ext>
            </a:extLst>
          </p:cNvPr>
          <p:cNvSpPr>
            <a:spLocks xmlns:a="http://schemas.openxmlformats.org/drawingml/2006/main" noGrp="1"/>
          </p:cNvSpPr>
          <p:nvPr/>
        </p:nvSpPr>
        <p:spPr>
          <a:xfrm xmlns:a="http://schemas.openxmlformats.org/drawingml/2006/main">
            <a:off x="330727" y="5885333"/>
            <a:ext cx="3085901" cy="854133"/>
          </a:xfrm>
          <a:custGeom xmlns:a="http://schemas.openxmlformats.org/drawingml/2006/main">
            <a:rect l="l" t="t" r="r" b="b"/>
            <a:pathLst>
              <a:path w="2743812" h="759448">
                <a:moveTo>
                  <a:pt x="97992" y="0"/>
                </a:moveTo>
                <a:lnTo>
                  <a:pt x="2645821" y="0"/>
                </a:lnTo>
                <a:cubicBezTo>
                  <a:pt x="2699940" y="0"/>
                  <a:pt x="2743812" y="43872"/>
                  <a:pt x="2743812" y="97992"/>
                </a:cubicBezTo>
                <a:lnTo>
                  <a:pt x="2743812" y="661457"/>
                </a:lnTo>
                <a:cubicBezTo>
                  <a:pt x="2743812" y="715576"/>
                  <a:pt x="2699940" y="759448"/>
                  <a:pt x="2645821" y="759448"/>
                </a:cubicBezTo>
                <a:lnTo>
                  <a:pt x="97992" y="759448"/>
                </a:lnTo>
                <a:cubicBezTo>
                  <a:pt x="43872" y="759448"/>
                  <a:pt x="0" y="715576"/>
                  <a:pt x="0" y="661457"/>
                </a:cubicBezTo>
                <a:lnTo>
                  <a:pt x="0" y="97992"/>
                </a:lnTo>
                <a:cubicBezTo>
                  <a:pt x="0" y="43909"/>
                  <a:pt x="43909" y="0"/>
                  <a:pt x="97992"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6" name="Shape 14">
            <a:extLst xmlns:a="http://schemas.openxmlformats.org/drawingml/2006/main">
              <a:ext uri="{FF2B5EF4-FFF2-40B4-BE49-F238E27FC236}">
                <a16:creationId xmlns:a16="http://schemas.microsoft.com/office/drawing/2014/main" id="{92A5E0B2-B2F5-43F4-BACC-6DFF93B2E71C}"/>
              </a:ext>
            </a:extLst>
          </p:cNvPr>
          <p:cNvSpPr>
            <a:spLocks xmlns:a="http://schemas.openxmlformats.org/drawingml/2006/main" noGrp="1"/>
          </p:cNvSpPr>
          <p:nvPr/>
        </p:nvSpPr>
        <p:spPr>
          <a:xfrm xmlns:a="http://schemas.openxmlformats.org/drawingml/2006/main">
            <a:off x="482267" y="6091977"/>
            <a:ext cx="146948" cy="146948"/>
          </a:xfrm>
          <a:custGeom xmlns:a="http://schemas.openxmlformats.org/drawingml/2006/main">
            <a:rect l="l" t="t" r="r" b="b"/>
            <a:pathLst>
              <a:path w="130658" h="130658">
                <a:moveTo>
                  <a:pt x="32664" y="0"/>
                </a:moveTo>
                <a:lnTo>
                  <a:pt x="97993" y="0"/>
                </a:lnTo>
                <a:cubicBezTo>
                  <a:pt x="116033" y="0"/>
                  <a:pt x="130658" y="14624"/>
                  <a:pt x="130658" y="32664"/>
                </a:cubicBezTo>
                <a:lnTo>
                  <a:pt x="130658" y="97993"/>
                </a:lnTo>
                <a:cubicBezTo>
                  <a:pt x="130658" y="116033"/>
                  <a:pt x="116033" y="130658"/>
                  <a:pt x="97993" y="130658"/>
                </a:cubicBezTo>
                <a:lnTo>
                  <a:pt x="32664" y="130658"/>
                </a:lnTo>
                <a:cubicBezTo>
                  <a:pt x="14624" y="130658"/>
                  <a:pt x="0" y="116033"/>
                  <a:pt x="0" y="97993"/>
                </a:cubicBezTo>
                <a:lnTo>
                  <a:pt x="0" y="32664"/>
                </a:lnTo>
                <a:cubicBezTo>
                  <a:pt x="0" y="14636"/>
                  <a:pt x="14636" y="0"/>
                  <a:pt x="32664" y="0"/>
                </a:cubicBez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A8DAF20D-F0A4-4111-A424-827F89A0508E}"/>
              </a:ext>
            </a:extLst>
          </p:cNvPr>
          <p:cNvSpPr>
            <a:spLocks xmlns:a="http://schemas.openxmlformats.org/drawingml/2006/main" noGrp="1"/>
          </p:cNvSpPr>
          <p:nvPr/>
        </p:nvSpPr>
        <p:spPr>
          <a:xfrm xmlns:a="http://schemas.openxmlformats.org/drawingml/2006/main">
            <a:off x="739425" y="6036873"/>
            <a:ext cx="841725" cy="2571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已占用</a:t>
            </a:r>
            <a:endParaRPr sz="1600"/>
          </a:p>
        </p:txBody>
      </p:sp>
      <p:sp>
        <p:nvSpPr>
          <p:cNvPr id="18" name="Text 16">
            <a:extLst xmlns:a="http://schemas.openxmlformats.org/drawingml/2006/main">
              <a:ext uri="{FF2B5EF4-FFF2-40B4-BE49-F238E27FC236}">
                <a16:creationId xmlns:a16="http://schemas.microsoft.com/office/drawing/2014/main" id="{F3AAF57D-37F6-4BD9-B8DE-4ADF358351DE}"/>
              </a:ext>
            </a:extLst>
          </p:cNvPr>
          <p:cNvSpPr>
            <a:spLocks xmlns:a="http://schemas.openxmlformats.org/drawingml/2006/main" noGrp="1"/>
          </p:cNvSpPr>
          <p:nvPr/>
        </p:nvSpPr>
        <p:spPr>
          <a:xfrm xmlns:a="http://schemas.openxmlformats.org/drawingml/2006/main">
            <a:off x="482267" y="6367505"/>
            <a:ext cx="2856296" cy="2204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该区域有障碍物存在</a:t>
            </a:r>
            <a:endParaRPr sz="1600"/>
          </a:p>
        </p:txBody>
      </p:sp>
      <p:sp>
        <p:nvSpPr>
          <p:cNvPr id="19" name="Shape 17">
            <a:extLst xmlns:a="http://schemas.openxmlformats.org/drawingml/2006/main">
              <a:ext uri="{FF2B5EF4-FFF2-40B4-BE49-F238E27FC236}">
                <a16:creationId xmlns:a16="http://schemas.microsoft.com/office/drawing/2014/main" id="{C232B3B5-DBE3-4029-9A14-57508B91E42C}"/>
              </a:ext>
            </a:extLst>
          </p:cNvPr>
          <p:cNvSpPr>
            <a:spLocks xmlns:a="http://schemas.openxmlformats.org/drawingml/2006/main" noGrp="1"/>
          </p:cNvSpPr>
          <p:nvPr/>
        </p:nvSpPr>
        <p:spPr>
          <a:xfrm xmlns:a="http://schemas.openxmlformats.org/drawingml/2006/main">
            <a:off x="3575774" y="5885333"/>
            <a:ext cx="3085901" cy="854133"/>
          </a:xfrm>
          <a:custGeom xmlns:a="http://schemas.openxmlformats.org/drawingml/2006/main">
            <a:rect l="l" t="t" r="r" b="b"/>
            <a:pathLst>
              <a:path w="2743812" h="759448">
                <a:moveTo>
                  <a:pt x="97992" y="0"/>
                </a:moveTo>
                <a:lnTo>
                  <a:pt x="2645821" y="0"/>
                </a:lnTo>
                <a:cubicBezTo>
                  <a:pt x="2699940" y="0"/>
                  <a:pt x="2743812" y="43872"/>
                  <a:pt x="2743812" y="97992"/>
                </a:cubicBezTo>
                <a:lnTo>
                  <a:pt x="2743812" y="661457"/>
                </a:lnTo>
                <a:cubicBezTo>
                  <a:pt x="2743812" y="715576"/>
                  <a:pt x="2699940" y="759448"/>
                  <a:pt x="2645821" y="759448"/>
                </a:cubicBezTo>
                <a:lnTo>
                  <a:pt x="97992" y="759448"/>
                </a:lnTo>
                <a:cubicBezTo>
                  <a:pt x="43872" y="759448"/>
                  <a:pt x="0" y="715576"/>
                  <a:pt x="0" y="661457"/>
                </a:cubicBezTo>
                <a:lnTo>
                  <a:pt x="0" y="97992"/>
                </a:lnTo>
                <a:cubicBezTo>
                  <a:pt x="0" y="43909"/>
                  <a:pt x="43909" y="0"/>
                  <a:pt x="97992"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0" name="Shape 18">
            <a:extLst xmlns:a="http://schemas.openxmlformats.org/drawingml/2006/main">
              <a:ext uri="{FF2B5EF4-FFF2-40B4-BE49-F238E27FC236}">
                <a16:creationId xmlns:a16="http://schemas.microsoft.com/office/drawing/2014/main" id="{2728F321-0CBD-45A7-90BC-30B4352CFFA7}"/>
              </a:ext>
            </a:extLst>
          </p:cNvPr>
          <p:cNvSpPr>
            <a:spLocks xmlns:a="http://schemas.openxmlformats.org/drawingml/2006/main" noGrp="1"/>
          </p:cNvSpPr>
          <p:nvPr/>
        </p:nvSpPr>
        <p:spPr>
          <a:xfrm xmlns:a="http://schemas.openxmlformats.org/drawingml/2006/main">
            <a:off x="3736498" y="6101163"/>
            <a:ext cx="128580" cy="128580"/>
          </a:xfrm>
          <a:custGeom xmlns:a="http://schemas.openxmlformats.org/drawingml/2006/main">
            <a:rect l="l" t="t" r="r" b="b"/>
            <a:pathLst>
              <a:path w="114326" h="114326">
                <a:moveTo>
                  <a:pt x="32664" y="0"/>
                </a:moveTo>
                <a:lnTo>
                  <a:pt x="81662" y="0"/>
                </a:lnTo>
                <a:cubicBezTo>
                  <a:pt x="99689" y="0"/>
                  <a:pt x="114326" y="14636"/>
                  <a:pt x="114326" y="32664"/>
                </a:cubicBezTo>
                <a:lnTo>
                  <a:pt x="114326" y="81662"/>
                </a:lnTo>
                <a:cubicBezTo>
                  <a:pt x="114326" y="99701"/>
                  <a:pt x="99701" y="114326"/>
                  <a:pt x="81662" y="114326"/>
                </a:cubicBezTo>
                <a:lnTo>
                  <a:pt x="32664" y="114326"/>
                </a:lnTo>
                <a:cubicBezTo>
                  <a:pt x="14636" y="114326"/>
                  <a:pt x="0" y="99689"/>
                  <a:pt x="0" y="81662"/>
                </a:cubicBezTo>
                <a:lnTo>
                  <a:pt x="0" y="32664"/>
                </a:lnTo>
                <a:cubicBezTo>
                  <a:pt x="0" y="14624"/>
                  <a:pt x="14624" y="0"/>
                  <a:pt x="32664"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21" name="Text 19">
            <a:extLst xmlns:a="http://schemas.openxmlformats.org/drawingml/2006/main">
              <a:ext uri="{FF2B5EF4-FFF2-40B4-BE49-F238E27FC236}">
                <a16:creationId xmlns:a16="http://schemas.microsoft.com/office/drawing/2014/main" id="{83BDDDCF-286C-4799-8F3E-445F8319A215}"/>
              </a:ext>
            </a:extLst>
          </p:cNvPr>
          <p:cNvSpPr>
            <a:spLocks xmlns:a="http://schemas.openxmlformats.org/drawingml/2006/main" noGrp="1"/>
          </p:cNvSpPr>
          <p:nvPr/>
        </p:nvSpPr>
        <p:spPr>
          <a:xfrm xmlns:a="http://schemas.openxmlformats.org/drawingml/2006/main">
            <a:off x="3984472" y="6036873"/>
            <a:ext cx="905028" cy="2571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未占用</a:t>
            </a:r>
            <a:endParaRPr sz="1600"/>
          </a:p>
        </p:txBody>
      </p:sp>
      <p:sp>
        <p:nvSpPr>
          <p:cNvPr id="22" name="Text 20">
            <a:extLst xmlns:a="http://schemas.openxmlformats.org/drawingml/2006/main">
              <a:ext uri="{FF2B5EF4-FFF2-40B4-BE49-F238E27FC236}">
                <a16:creationId xmlns:a16="http://schemas.microsoft.com/office/drawing/2014/main" id="{885A870E-E325-4FED-A62E-A71D6F7F4EAA}"/>
              </a:ext>
            </a:extLst>
          </p:cNvPr>
          <p:cNvSpPr>
            <a:spLocks xmlns:a="http://schemas.openxmlformats.org/drawingml/2006/main" noGrp="1"/>
          </p:cNvSpPr>
          <p:nvPr/>
        </p:nvSpPr>
        <p:spPr>
          <a:xfrm xmlns:a="http://schemas.openxmlformats.org/drawingml/2006/main">
            <a:off x="3727314" y="6367505"/>
            <a:ext cx="2856296" cy="2204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机器人可以通行</a:t>
            </a:r>
            <a:endParaRPr sz="1600"/>
          </a:p>
        </p:txBody>
      </p:sp>
      <p:sp>
        <p:nvSpPr>
          <p:cNvPr id="23" name="Shape 21">
            <a:extLst xmlns:a="http://schemas.openxmlformats.org/drawingml/2006/main">
              <a:ext uri="{FF2B5EF4-FFF2-40B4-BE49-F238E27FC236}">
                <a16:creationId xmlns:a16="http://schemas.microsoft.com/office/drawing/2014/main" id="{185C080A-5016-4FB1-9589-8AB97D47510A}"/>
              </a:ext>
            </a:extLst>
          </p:cNvPr>
          <p:cNvSpPr>
            <a:spLocks xmlns:a="http://schemas.openxmlformats.org/drawingml/2006/main" noGrp="1"/>
          </p:cNvSpPr>
          <p:nvPr/>
        </p:nvSpPr>
        <p:spPr>
          <a:xfrm xmlns:a="http://schemas.openxmlformats.org/drawingml/2006/main">
            <a:off x="6807752" y="1651185"/>
            <a:ext cx="4726255" cy="5147548"/>
          </a:xfrm>
          <a:custGeom xmlns:a="http://schemas.openxmlformats.org/drawingml/2006/main">
            <a:rect l="l" t="t" r="r" b="b"/>
            <a:pathLst>
              <a:path w="5634615" h="5365133">
                <a:moveTo>
                  <a:pt x="97967" y="0"/>
                </a:moveTo>
                <a:lnTo>
                  <a:pt x="5536648" y="0"/>
                </a:lnTo>
                <a:cubicBezTo>
                  <a:pt x="5590753" y="0"/>
                  <a:pt x="5634615" y="43861"/>
                  <a:pt x="5634615" y="97967"/>
                </a:cubicBezTo>
                <a:lnTo>
                  <a:pt x="5634615" y="5267166"/>
                </a:lnTo>
                <a:cubicBezTo>
                  <a:pt x="5634615" y="5321272"/>
                  <a:pt x="5590753" y="5365133"/>
                  <a:pt x="5536648" y="5365133"/>
                </a:cubicBezTo>
                <a:lnTo>
                  <a:pt x="97967" y="5365133"/>
                </a:lnTo>
                <a:cubicBezTo>
                  <a:pt x="43861" y="5365133"/>
                  <a:pt x="0" y="5321272"/>
                  <a:pt x="0" y="5267166"/>
                </a:cubicBezTo>
                <a:lnTo>
                  <a:pt x="0" y="97967"/>
                </a:lnTo>
                <a:cubicBezTo>
                  <a:pt x="0" y="43898"/>
                  <a:pt x="43898" y="0"/>
                  <a:pt x="9796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4" name="Shape 22">
            <a:extLst xmlns:a="http://schemas.openxmlformats.org/drawingml/2006/main">
              <a:ext uri="{FF2B5EF4-FFF2-40B4-BE49-F238E27FC236}">
                <a16:creationId xmlns:a16="http://schemas.microsoft.com/office/drawing/2014/main" id="{9C85D9A7-0F23-41F8-A094-03583E45E2EB}"/>
              </a:ext>
            </a:extLst>
          </p:cNvPr>
          <p:cNvSpPr>
            <a:spLocks xmlns:a="http://schemas.openxmlformats.org/drawingml/2006/main" noGrp="1"/>
          </p:cNvSpPr>
          <p:nvPr/>
        </p:nvSpPr>
        <p:spPr>
          <a:xfrm xmlns:a="http://schemas.openxmlformats.org/drawingml/2006/main">
            <a:off x="7038444" y="1883918"/>
            <a:ext cx="142907" cy="163322"/>
          </a:xfrm>
          <a:custGeom xmlns:a="http://schemas.openxmlformats.org/drawingml/2006/main">
            <a:rect l="l" t="t" r="r" b="b"/>
            <a:pathLst>
              <a:path w="142907" h="163322">
                <a:moveTo>
                  <a:pt x="122492" y="30623"/>
                </a:moveTo>
                <a:lnTo>
                  <a:pt x="81661" y="30623"/>
                </a:lnTo>
                <a:lnTo>
                  <a:pt x="81661" y="71453"/>
                </a:lnTo>
                <a:lnTo>
                  <a:pt x="122492" y="71453"/>
                </a:lnTo>
                <a:lnTo>
                  <a:pt x="122492" y="30623"/>
                </a:lnTo>
                <a:close/>
                <a:moveTo>
                  <a:pt x="142907" y="71453"/>
                </a:moveTo>
                <a:lnTo>
                  <a:pt x="142907" y="132699"/>
                </a:lnTo>
                <a:cubicBezTo>
                  <a:pt x="142907" y="143960"/>
                  <a:pt x="133752" y="153115"/>
                  <a:pt x="122492" y="153115"/>
                </a:cubicBezTo>
                <a:lnTo>
                  <a:pt x="20415" y="153115"/>
                </a:lnTo>
                <a:cubicBezTo>
                  <a:pt x="9155" y="153115"/>
                  <a:pt x="0" y="143960"/>
                  <a:pt x="0" y="132699"/>
                </a:cubicBezTo>
                <a:lnTo>
                  <a:pt x="0" y="30623"/>
                </a:lnTo>
                <a:cubicBezTo>
                  <a:pt x="0" y="19363"/>
                  <a:pt x="9155" y="10208"/>
                  <a:pt x="20415" y="10208"/>
                </a:cubicBezTo>
                <a:lnTo>
                  <a:pt x="122492" y="10208"/>
                </a:lnTo>
                <a:cubicBezTo>
                  <a:pt x="133752" y="10208"/>
                  <a:pt x="142907" y="19363"/>
                  <a:pt x="142907" y="30623"/>
                </a:cubicBezTo>
                <a:lnTo>
                  <a:pt x="142907" y="71453"/>
                </a:lnTo>
                <a:close/>
                <a:moveTo>
                  <a:pt x="20415" y="91869"/>
                </a:moveTo>
                <a:lnTo>
                  <a:pt x="20415" y="132699"/>
                </a:lnTo>
                <a:lnTo>
                  <a:pt x="61246" y="132699"/>
                </a:lnTo>
                <a:lnTo>
                  <a:pt x="61246" y="91869"/>
                </a:lnTo>
                <a:lnTo>
                  <a:pt x="20415" y="91869"/>
                </a:lnTo>
                <a:close/>
                <a:moveTo>
                  <a:pt x="61246" y="71453"/>
                </a:moveTo>
                <a:lnTo>
                  <a:pt x="61246" y="30623"/>
                </a:lnTo>
                <a:lnTo>
                  <a:pt x="20415" y="30623"/>
                </a:lnTo>
                <a:lnTo>
                  <a:pt x="20415" y="71453"/>
                </a:lnTo>
                <a:lnTo>
                  <a:pt x="61246" y="71453"/>
                </a:lnTo>
                <a:close/>
                <a:moveTo>
                  <a:pt x="81661" y="91869"/>
                </a:moveTo>
                <a:lnTo>
                  <a:pt x="81661" y="132699"/>
                </a:lnTo>
                <a:lnTo>
                  <a:pt x="122492" y="132699"/>
                </a:lnTo>
                <a:lnTo>
                  <a:pt x="122492" y="91869"/>
                </a:lnTo>
                <a:lnTo>
                  <a:pt x="81661" y="91869"/>
                </a:lnTo>
                <a:close/>
              </a:path>
            </a:pathLst>
          </a:custGeom>
          <a:solidFill xmlns:a="http://schemas.openxmlformats.org/drawingml/2006/main">
            <a:srgbClr val="E6B450"/>
          </a:solidFill>
        </p:spPr>
      </p:sp>
      <p:sp>
        <p:nvSpPr>
          <p:cNvPr id="25" name="Text 23">
            <a:extLst xmlns:a="http://schemas.openxmlformats.org/drawingml/2006/main">
              <a:ext uri="{FF2B5EF4-FFF2-40B4-BE49-F238E27FC236}">
                <a16:creationId xmlns:a16="http://schemas.microsoft.com/office/drawing/2014/main" id="{33A6A0B4-C900-4952-8BFC-86F2F4C4081E}"/>
              </a:ext>
            </a:extLst>
          </p:cNvPr>
          <p:cNvSpPr>
            <a:spLocks xmlns:a="http://schemas.openxmlformats.org/drawingml/2006/main" noGrp="1"/>
          </p:cNvSpPr>
          <p:nvPr/>
        </p:nvSpPr>
        <p:spPr>
          <a:xfrm xmlns:a="http://schemas.openxmlformats.org/drawingml/2006/main">
            <a:off x="7211974" y="1851253"/>
            <a:ext cx="2020926" cy="22865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占用栅格地图示意</a:t>
            </a:r>
            <a:endParaRPr sz="1600"/>
          </a:p>
        </p:txBody>
      </p:sp>
      <p:sp>
        <p:nvSpPr>
          <p:cNvPr id="26" name="Shape 24">
            <a:extLst xmlns:a="http://schemas.openxmlformats.org/drawingml/2006/main">
              <a:ext uri="{FF2B5EF4-FFF2-40B4-BE49-F238E27FC236}">
                <a16:creationId xmlns:a16="http://schemas.microsoft.com/office/drawing/2014/main" id="{56562FE9-DF4C-4120-AC5E-E8031B1379A2}"/>
              </a:ext>
            </a:extLst>
          </p:cNvPr>
          <p:cNvSpPr>
            <a:spLocks xmlns:a="http://schemas.openxmlformats.org/drawingml/2006/main" noGrp="1"/>
          </p:cNvSpPr>
          <p:nvPr/>
        </p:nvSpPr>
        <p:spPr>
          <a:xfrm xmlns:a="http://schemas.openxmlformats.org/drawingml/2006/main">
            <a:off x="8031264" y="2251393"/>
            <a:ext cx="3184782" cy="3478762"/>
          </a:xfrm>
          <a:custGeom xmlns:a="http://schemas.openxmlformats.org/drawingml/2006/main">
            <a:rect l="l" t="t" r="r" b="b"/>
            <a:pathLst>
              <a:path w="3184782" h="3478762">
                <a:moveTo>
                  <a:pt x="97996" y="0"/>
                </a:moveTo>
                <a:lnTo>
                  <a:pt x="3086787" y="0"/>
                </a:lnTo>
                <a:cubicBezTo>
                  <a:pt x="3140908" y="0"/>
                  <a:pt x="3184782" y="43874"/>
                  <a:pt x="3184782" y="97996"/>
                </a:cubicBezTo>
                <a:lnTo>
                  <a:pt x="3184782" y="3380766"/>
                </a:lnTo>
                <a:cubicBezTo>
                  <a:pt x="3184782" y="3434888"/>
                  <a:pt x="3140908" y="3478762"/>
                  <a:pt x="3086787" y="3478762"/>
                </a:cubicBezTo>
                <a:lnTo>
                  <a:pt x="97996" y="3478762"/>
                </a:lnTo>
                <a:cubicBezTo>
                  <a:pt x="43874" y="3478762"/>
                  <a:pt x="0" y="3434888"/>
                  <a:pt x="0" y="3380766"/>
                </a:cubicBezTo>
                <a:lnTo>
                  <a:pt x="0" y="97996"/>
                </a:lnTo>
                <a:cubicBezTo>
                  <a:pt x="0" y="43874"/>
                  <a:pt x="43874" y="0"/>
                  <a:pt x="97996" y="0"/>
                </a:cubicBezTo>
                <a:close/>
              </a:path>
            </a:pathLst>
          </a:custGeom>
          <a:solidFill xmlns:a="http://schemas.openxmlformats.org/drawingml/2006/main">
            <a:srgbClr val="5F87A7">
              <a:alpha val="10196"/>
            </a:srgbClr>
          </a:solidFill>
          <a:ln xmlns:a="http://schemas.openxmlformats.org/drawingml/2006/main" w="25400">
            <a:solidFill>
              <a:srgbClr val="5F87A7">
                <a:alpha val="30196"/>
              </a:srgbClr>
            </a:solidFill>
            <a:prstDash val="solid"/>
          </a:ln>
        </p:spPr>
      </p:sp>
      <p:sp>
        <p:nvSpPr>
          <p:cNvPr id="27" name="Shape 25">
            <a:extLst xmlns:a="http://schemas.openxmlformats.org/drawingml/2006/main">
              <a:ext uri="{FF2B5EF4-FFF2-40B4-BE49-F238E27FC236}">
                <a16:creationId xmlns:a16="http://schemas.microsoft.com/office/drawing/2014/main" id="{47C8C04F-9F55-42FF-81A1-2649FEE203A8}"/>
              </a:ext>
            </a:extLst>
          </p:cNvPr>
          <p:cNvSpPr>
            <a:spLocks xmlns:a="http://schemas.openxmlformats.org/drawingml/2006/main" noGrp="1"/>
          </p:cNvSpPr>
          <p:nvPr/>
        </p:nvSpPr>
        <p:spPr>
          <a:xfrm xmlns:a="http://schemas.openxmlformats.org/drawingml/2006/main">
            <a:off x="817417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28" name="Shape 26">
            <a:extLst xmlns:a="http://schemas.openxmlformats.org/drawingml/2006/main">
              <a:ext uri="{FF2B5EF4-FFF2-40B4-BE49-F238E27FC236}">
                <a16:creationId xmlns:a16="http://schemas.microsoft.com/office/drawing/2014/main" id="{C9DF7EA6-8262-4FD9-BE09-0A6E4B09C8CA}"/>
              </a:ext>
            </a:extLst>
          </p:cNvPr>
          <p:cNvSpPr>
            <a:spLocks xmlns:a="http://schemas.openxmlformats.org/drawingml/2006/main" noGrp="1"/>
          </p:cNvSpPr>
          <p:nvPr/>
        </p:nvSpPr>
        <p:spPr>
          <a:xfrm xmlns:a="http://schemas.openxmlformats.org/drawingml/2006/main">
            <a:off x="846815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29" name="Shape 27">
            <a:extLst xmlns:a="http://schemas.openxmlformats.org/drawingml/2006/main">
              <a:ext uri="{FF2B5EF4-FFF2-40B4-BE49-F238E27FC236}">
                <a16:creationId xmlns:a16="http://schemas.microsoft.com/office/drawing/2014/main" id="{02FDB832-1F44-44A9-9D1D-CEEA830F034D}"/>
              </a:ext>
            </a:extLst>
          </p:cNvPr>
          <p:cNvSpPr>
            <a:spLocks xmlns:a="http://schemas.openxmlformats.org/drawingml/2006/main" noGrp="1"/>
          </p:cNvSpPr>
          <p:nvPr/>
        </p:nvSpPr>
        <p:spPr>
          <a:xfrm xmlns:a="http://schemas.openxmlformats.org/drawingml/2006/main">
            <a:off x="876213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0" name="Shape 28">
            <a:extLst xmlns:a="http://schemas.openxmlformats.org/drawingml/2006/main">
              <a:ext uri="{FF2B5EF4-FFF2-40B4-BE49-F238E27FC236}">
                <a16:creationId xmlns:a16="http://schemas.microsoft.com/office/drawing/2014/main" id="{230194BB-CC37-4ADB-981B-919084C814A7}"/>
              </a:ext>
            </a:extLst>
          </p:cNvPr>
          <p:cNvSpPr>
            <a:spLocks xmlns:a="http://schemas.openxmlformats.org/drawingml/2006/main" noGrp="1"/>
          </p:cNvSpPr>
          <p:nvPr/>
        </p:nvSpPr>
        <p:spPr>
          <a:xfrm xmlns:a="http://schemas.openxmlformats.org/drawingml/2006/main">
            <a:off x="905611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1" name="Shape 29">
            <a:extLst xmlns:a="http://schemas.openxmlformats.org/drawingml/2006/main">
              <a:ext uri="{FF2B5EF4-FFF2-40B4-BE49-F238E27FC236}">
                <a16:creationId xmlns:a16="http://schemas.microsoft.com/office/drawing/2014/main" id="{353984E3-7E44-4DE0-9461-DB33E8573A13}"/>
              </a:ext>
            </a:extLst>
          </p:cNvPr>
          <p:cNvSpPr>
            <a:spLocks xmlns:a="http://schemas.openxmlformats.org/drawingml/2006/main" noGrp="1"/>
          </p:cNvSpPr>
          <p:nvPr/>
        </p:nvSpPr>
        <p:spPr>
          <a:xfrm xmlns:a="http://schemas.openxmlformats.org/drawingml/2006/main">
            <a:off x="935009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2" name="Shape 30">
            <a:extLst xmlns:a="http://schemas.openxmlformats.org/drawingml/2006/main">
              <a:ext uri="{FF2B5EF4-FFF2-40B4-BE49-F238E27FC236}">
                <a16:creationId xmlns:a16="http://schemas.microsoft.com/office/drawing/2014/main" id="{616BEF63-9037-4D70-846B-8E1E86C5AD96}"/>
              </a:ext>
            </a:extLst>
          </p:cNvPr>
          <p:cNvSpPr>
            <a:spLocks xmlns:a="http://schemas.openxmlformats.org/drawingml/2006/main" noGrp="1"/>
          </p:cNvSpPr>
          <p:nvPr/>
        </p:nvSpPr>
        <p:spPr>
          <a:xfrm xmlns:a="http://schemas.openxmlformats.org/drawingml/2006/main">
            <a:off x="964407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3" name="Shape 31">
            <a:extLst xmlns:a="http://schemas.openxmlformats.org/drawingml/2006/main">
              <a:ext uri="{FF2B5EF4-FFF2-40B4-BE49-F238E27FC236}">
                <a16:creationId xmlns:a16="http://schemas.microsoft.com/office/drawing/2014/main" id="{E22EC4CF-735D-4935-A95E-7B568D8F3D60}"/>
              </a:ext>
            </a:extLst>
          </p:cNvPr>
          <p:cNvSpPr>
            <a:spLocks xmlns:a="http://schemas.openxmlformats.org/drawingml/2006/main" noGrp="1"/>
          </p:cNvSpPr>
          <p:nvPr/>
        </p:nvSpPr>
        <p:spPr>
          <a:xfrm xmlns:a="http://schemas.openxmlformats.org/drawingml/2006/main">
            <a:off x="993805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4" name="Shape 32">
            <a:extLst xmlns:a="http://schemas.openxmlformats.org/drawingml/2006/main">
              <a:ext uri="{FF2B5EF4-FFF2-40B4-BE49-F238E27FC236}">
                <a16:creationId xmlns:a16="http://schemas.microsoft.com/office/drawing/2014/main" id="{37E85670-34AA-45EB-8C57-B02EC6D939D6}"/>
              </a:ext>
            </a:extLst>
          </p:cNvPr>
          <p:cNvSpPr>
            <a:spLocks xmlns:a="http://schemas.openxmlformats.org/drawingml/2006/main" noGrp="1"/>
          </p:cNvSpPr>
          <p:nvPr/>
        </p:nvSpPr>
        <p:spPr>
          <a:xfrm xmlns:a="http://schemas.openxmlformats.org/drawingml/2006/main">
            <a:off x="1023203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5" name="Shape 33">
            <a:extLst xmlns:a="http://schemas.openxmlformats.org/drawingml/2006/main">
              <a:ext uri="{FF2B5EF4-FFF2-40B4-BE49-F238E27FC236}">
                <a16:creationId xmlns:a16="http://schemas.microsoft.com/office/drawing/2014/main" id="{0A915B3A-C992-4ECE-962A-40FD25C8E33F}"/>
              </a:ext>
            </a:extLst>
          </p:cNvPr>
          <p:cNvSpPr>
            <a:spLocks xmlns:a="http://schemas.openxmlformats.org/drawingml/2006/main" noGrp="1"/>
          </p:cNvSpPr>
          <p:nvPr/>
        </p:nvSpPr>
        <p:spPr>
          <a:xfrm xmlns:a="http://schemas.openxmlformats.org/drawingml/2006/main">
            <a:off x="1052601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6" name="Shape 34">
            <a:extLst xmlns:a="http://schemas.openxmlformats.org/drawingml/2006/main">
              <a:ext uri="{FF2B5EF4-FFF2-40B4-BE49-F238E27FC236}">
                <a16:creationId xmlns:a16="http://schemas.microsoft.com/office/drawing/2014/main" id="{E4EB0C1E-DE66-427E-87AD-B2C57976C078}"/>
              </a:ext>
            </a:extLst>
          </p:cNvPr>
          <p:cNvSpPr>
            <a:spLocks xmlns:a="http://schemas.openxmlformats.org/drawingml/2006/main" noGrp="1"/>
          </p:cNvSpPr>
          <p:nvPr/>
        </p:nvSpPr>
        <p:spPr>
          <a:xfrm xmlns:a="http://schemas.openxmlformats.org/drawingml/2006/main">
            <a:off x="10819991" y="239430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7" name="Shape 35">
            <a:extLst xmlns:a="http://schemas.openxmlformats.org/drawingml/2006/main">
              <a:ext uri="{FF2B5EF4-FFF2-40B4-BE49-F238E27FC236}">
                <a16:creationId xmlns:a16="http://schemas.microsoft.com/office/drawing/2014/main" id="{CEC90F84-0781-4AB1-A006-99CFD233ADA1}"/>
              </a:ext>
            </a:extLst>
          </p:cNvPr>
          <p:cNvSpPr>
            <a:spLocks xmlns:a="http://schemas.openxmlformats.org/drawingml/2006/main" noGrp="1"/>
          </p:cNvSpPr>
          <p:nvPr/>
        </p:nvSpPr>
        <p:spPr>
          <a:xfrm xmlns:a="http://schemas.openxmlformats.org/drawingml/2006/main">
            <a:off x="817417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8" name="Shape 36">
            <a:extLst xmlns:a="http://schemas.openxmlformats.org/drawingml/2006/main">
              <a:ext uri="{FF2B5EF4-FFF2-40B4-BE49-F238E27FC236}">
                <a16:creationId xmlns:a16="http://schemas.microsoft.com/office/drawing/2014/main" id="{EA54D2F9-58E8-43B6-BD77-E1D44D5D0F1D}"/>
              </a:ext>
            </a:extLst>
          </p:cNvPr>
          <p:cNvSpPr>
            <a:spLocks xmlns:a="http://schemas.openxmlformats.org/drawingml/2006/main" noGrp="1"/>
          </p:cNvSpPr>
          <p:nvPr/>
        </p:nvSpPr>
        <p:spPr>
          <a:xfrm xmlns:a="http://schemas.openxmlformats.org/drawingml/2006/main">
            <a:off x="846815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39" name="Shape 37">
            <a:extLst xmlns:a="http://schemas.openxmlformats.org/drawingml/2006/main">
              <a:ext uri="{FF2B5EF4-FFF2-40B4-BE49-F238E27FC236}">
                <a16:creationId xmlns:a16="http://schemas.microsoft.com/office/drawing/2014/main" id="{E7E9ED23-F4F7-452B-9A7D-BC221DA62344}"/>
              </a:ext>
            </a:extLst>
          </p:cNvPr>
          <p:cNvSpPr>
            <a:spLocks xmlns:a="http://schemas.openxmlformats.org/drawingml/2006/main" noGrp="1"/>
          </p:cNvSpPr>
          <p:nvPr/>
        </p:nvSpPr>
        <p:spPr>
          <a:xfrm xmlns:a="http://schemas.openxmlformats.org/drawingml/2006/main">
            <a:off x="876213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40" name="Shape 38">
            <a:extLst xmlns:a="http://schemas.openxmlformats.org/drawingml/2006/main">
              <a:ext uri="{FF2B5EF4-FFF2-40B4-BE49-F238E27FC236}">
                <a16:creationId xmlns:a16="http://schemas.microsoft.com/office/drawing/2014/main" id="{D2FF325E-CC89-4FDF-AA17-4E09F1631FC9}"/>
              </a:ext>
            </a:extLst>
          </p:cNvPr>
          <p:cNvSpPr>
            <a:spLocks xmlns:a="http://schemas.openxmlformats.org/drawingml/2006/main" noGrp="1"/>
          </p:cNvSpPr>
          <p:nvPr/>
        </p:nvSpPr>
        <p:spPr>
          <a:xfrm xmlns:a="http://schemas.openxmlformats.org/drawingml/2006/main">
            <a:off x="905611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41" name="Shape 39">
            <a:extLst xmlns:a="http://schemas.openxmlformats.org/drawingml/2006/main">
              <a:ext uri="{FF2B5EF4-FFF2-40B4-BE49-F238E27FC236}">
                <a16:creationId xmlns:a16="http://schemas.microsoft.com/office/drawing/2014/main" id="{D42C05CD-4439-40A6-A7CB-981A0042D91C}"/>
              </a:ext>
            </a:extLst>
          </p:cNvPr>
          <p:cNvSpPr>
            <a:spLocks xmlns:a="http://schemas.openxmlformats.org/drawingml/2006/main" noGrp="1"/>
          </p:cNvSpPr>
          <p:nvPr/>
        </p:nvSpPr>
        <p:spPr>
          <a:xfrm xmlns:a="http://schemas.openxmlformats.org/drawingml/2006/main">
            <a:off x="935009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42" name="Shape 40">
            <a:extLst xmlns:a="http://schemas.openxmlformats.org/drawingml/2006/main">
              <a:ext uri="{FF2B5EF4-FFF2-40B4-BE49-F238E27FC236}">
                <a16:creationId xmlns:a16="http://schemas.microsoft.com/office/drawing/2014/main" id="{5A25C411-BA7E-4A9B-BFBA-697DDD348941}"/>
              </a:ext>
            </a:extLst>
          </p:cNvPr>
          <p:cNvSpPr>
            <a:spLocks xmlns:a="http://schemas.openxmlformats.org/drawingml/2006/main" noGrp="1"/>
          </p:cNvSpPr>
          <p:nvPr/>
        </p:nvSpPr>
        <p:spPr>
          <a:xfrm xmlns:a="http://schemas.openxmlformats.org/drawingml/2006/main">
            <a:off x="964407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43" name="Shape 41">
            <a:extLst xmlns:a="http://schemas.openxmlformats.org/drawingml/2006/main">
              <a:ext uri="{FF2B5EF4-FFF2-40B4-BE49-F238E27FC236}">
                <a16:creationId xmlns:a16="http://schemas.microsoft.com/office/drawing/2014/main" id="{7AB39573-273C-4C62-B653-5EB9E5E3FFA1}"/>
              </a:ext>
            </a:extLst>
          </p:cNvPr>
          <p:cNvSpPr>
            <a:spLocks xmlns:a="http://schemas.openxmlformats.org/drawingml/2006/main" noGrp="1"/>
          </p:cNvSpPr>
          <p:nvPr/>
        </p:nvSpPr>
        <p:spPr>
          <a:xfrm xmlns:a="http://schemas.openxmlformats.org/drawingml/2006/main">
            <a:off x="993805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44" name="Shape 42">
            <a:extLst xmlns:a="http://schemas.openxmlformats.org/drawingml/2006/main">
              <a:ext uri="{FF2B5EF4-FFF2-40B4-BE49-F238E27FC236}">
                <a16:creationId xmlns:a16="http://schemas.microsoft.com/office/drawing/2014/main" id="{798B3A3D-0DB7-4C52-B5E8-30ADFF41D2D6}"/>
              </a:ext>
            </a:extLst>
          </p:cNvPr>
          <p:cNvSpPr>
            <a:spLocks xmlns:a="http://schemas.openxmlformats.org/drawingml/2006/main" noGrp="1"/>
          </p:cNvSpPr>
          <p:nvPr/>
        </p:nvSpPr>
        <p:spPr>
          <a:xfrm xmlns:a="http://schemas.openxmlformats.org/drawingml/2006/main">
            <a:off x="1023203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45" name="Shape 43">
            <a:extLst xmlns:a="http://schemas.openxmlformats.org/drawingml/2006/main">
              <a:ext uri="{FF2B5EF4-FFF2-40B4-BE49-F238E27FC236}">
                <a16:creationId xmlns:a16="http://schemas.microsoft.com/office/drawing/2014/main" id="{F2B5E05C-07E3-4B3C-97A6-EB7B494257C0}"/>
              </a:ext>
            </a:extLst>
          </p:cNvPr>
          <p:cNvSpPr>
            <a:spLocks xmlns:a="http://schemas.openxmlformats.org/drawingml/2006/main" noGrp="1"/>
          </p:cNvSpPr>
          <p:nvPr/>
        </p:nvSpPr>
        <p:spPr>
          <a:xfrm xmlns:a="http://schemas.openxmlformats.org/drawingml/2006/main">
            <a:off x="1052601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46" name="Shape 44">
            <a:extLst xmlns:a="http://schemas.openxmlformats.org/drawingml/2006/main">
              <a:ext uri="{FF2B5EF4-FFF2-40B4-BE49-F238E27FC236}">
                <a16:creationId xmlns:a16="http://schemas.microsoft.com/office/drawing/2014/main" id="{39BC4ED0-E0C3-4046-9478-3EA790068322}"/>
              </a:ext>
            </a:extLst>
          </p:cNvPr>
          <p:cNvSpPr>
            <a:spLocks xmlns:a="http://schemas.openxmlformats.org/drawingml/2006/main" noGrp="1"/>
          </p:cNvSpPr>
          <p:nvPr/>
        </p:nvSpPr>
        <p:spPr>
          <a:xfrm xmlns:a="http://schemas.openxmlformats.org/drawingml/2006/main">
            <a:off x="10819991" y="2688280"/>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47" name="Shape 45">
            <a:extLst xmlns:a="http://schemas.openxmlformats.org/drawingml/2006/main">
              <a:ext uri="{FF2B5EF4-FFF2-40B4-BE49-F238E27FC236}">
                <a16:creationId xmlns:a16="http://schemas.microsoft.com/office/drawing/2014/main" id="{61B582A3-F098-4CFC-AAC3-9F67002CE70A}"/>
              </a:ext>
            </a:extLst>
          </p:cNvPr>
          <p:cNvSpPr>
            <a:spLocks xmlns:a="http://schemas.openxmlformats.org/drawingml/2006/main" noGrp="1"/>
          </p:cNvSpPr>
          <p:nvPr/>
        </p:nvSpPr>
        <p:spPr>
          <a:xfrm xmlns:a="http://schemas.openxmlformats.org/drawingml/2006/main">
            <a:off x="817417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48" name="Shape 46">
            <a:extLst xmlns:a="http://schemas.openxmlformats.org/drawingml/2006/main">
              <a:ext uri="{FF2B5EF4-FFF2-40B4-BE49-F238E27FC236}">
                <a16:creationId xmlns:a16="http://schemas.microsoft.com/office/drawing/2014/main" id="{69DEE0C6-ABE0-4C56-86DA-0390EFBE2EAA}"/>
              </a:ext>
            </a:extLst>
          </p:cNvPr>
          <p:cNvSpPr>
            <a:spLocks xmlns:a="http://schemas.openxmlformats.org/drawingml/2006/main" noGrp="1"/>
          </p:cNvSpPr>
          <p:nvPr/>
        </p:nvSpPr>
        <p:spPr>
          <a:xfrm xmlns:a="http://schemas.openxmlformats.org/drawingml/2006/main">
            <a:off x="846815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49" name="Shape 47">
            <a:extLst xmlns:a="http://schemas.openxmlformats.org/drawingml/2006/main">
              <a:ext uri="{FF2B5EF4-FFF2-40B4-BE49-F238E27FC236}">
                <a16:creationId xmlns:a16="http://schemas.microsoft.com/office/drawing/2014/main" id="{D32487B4-CFBA-4678-9358-F1CE01A92646}"/>
              </a:ext>
            </a:extLst>
          </p:cNvPr>
          <p:cNvSpPr>
            <a:spLocks xmlns:a="http://schemas.openxmlformats.org/drawingml/2006/main" noGrp="1"/>
          </p:cNvSpPr>
          <p:nvPr/>
        </p:nvSpPr>
        <p:spPr>
          <a:xfrm xmlns:a="http://schemas.openxmlformats.org/drawingml/2006/main">
            <a:off x="876213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50" name="Shape 48">
            <a:extLst xmlns:a="http://schemas.openxmlformats.org/drawingml/2006/main">
              <a:ext uri="{FF2B5EF4-FFF2-40B4-BE49-F238E27FC236}">
                <a16:creationId xmlns:a16="http://schemas.microsoft.com/office/drawing/2014/main" id="{43EE4FA4-8D71-427F-BBDA-76365B5D1657}"/>
              </a:ext>
            </a:extLst>
          </p:cNvPr>
          <p:cNvSpPr>
            <a:spLocks xmlns:a="http://schemas.openxmlformats.org/drawingml/2006/main" noGrp="1"/>
          </p:cNvSpPr>
          <p:nvPr/>
        </p:nvSpPr>
        <p:spPr>
          <a:xfrm xmlns:a="http://schemas.openxmlformats.org/drawingml/2006/main">
            <a:off x="905611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51" name="Shape 49">
            <a:extLst xmlns:a="http://schemas.openxmlformats.org/drawingml/2006/main">
              <a:ext uri="{FF2B5EF4-FFF2-40B4-BE49-F238E27FC236}">
                <a16:creationId xmlns:a16="http://schemas.microsoft.com/office/drawing/2014/main" id="{55175EBA-6881-45F0-93A0-BB56950D2F53}"/>
              </a:ext>
            </a:extLst>
          </p:cNvPr>
          <p:cNvSpPr>
            <a:spLocks xmlns:a="http://schemas.openxmlformats.org/drawingml/2006/main" noGrp="1"/>
          </p:cNvSpPr>
          <p:nvPr/>
        </p:nvSpPr>
        <p:spPr>
          <a:xfrm xmlns:a="http://schemas.openxmlformats.org/drawingml/2006/main">
            <a:off x="935009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52" name="Shape 50">
            <a:extLst xmlns:a="http://schemas.openxmlformats.org/drawingml/2006/main">
              <a:ext uri="{FF2B5EF4-FFF2-40B4-BE49-F238E27FC236}">
                <a16:creationId xmlns:a16="http://schemas.microsoft.com/office/drawing/2014/main" id="{316E4235-C864-4207-816D-72D4B8F2A6D8}"/>
              </a:ext>
            </a:extLst>
          </p:cNvPr>
          <p:cNvSpPr>
            <a:spLocks xmlns:a="http://schemas.openxmlformats.org/drawingml/2006/main" noGrp="1"/>
          </p:cNvSpPr>
          <p:nvPr/>
        </p:nvSpPr>
        <p:spPr>
          <a:xfrm xmlns:a="http://schemas.openxmlformats.org/drawingml/2006/main">
            <a:off x="964407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53" name="Shape 51">
            <a:extLst xmlns:a="http://schemas.openxmlformats.org/drawingml/2006/main">
              <a:ext uri="{FF2B5EF4-FFF2-40B4-BE49-F238E27FC236}">
                <a16:creationId xmlns:a16="http://schemas.microsoft.com/office/drawing/2014/main" id="{5A42B10D-067A-47B4-A3C3-25B29F9556B3}"/>
              </a:ext>
            </a:extLst>
          </p:cNvPr>
          <p:cNvSpPr>
            <a:spLocks xmlns:a="http://schemas.openxmlformats.org/drawingml/2006/main" noGrp="1"/>
          </p:cNvSpPr>
          <p:nvPr/>
        </p:nvSpPr>
        <p:spPr>
          <a:xfrm xmlns:a="http://schemas.openxmlformats.org/drawingml/2006/main">
            <a:off x="993805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54" name="Shape 52">
            <a:extLst xmlns:a="http://schemas.openxmlformats.org/drawingml/2006/main">
              <a:ext uri="{FF2B5EF4-FFF2-40B4-BE49-F238E27FC236}">
                <a16:creationId xmlns:a16="http://schemas.microsoft.com/office/drawing/2014/main" id="{D2B03A1B-583B-446E-BE6C-BBDAECA68AF0}"/>
              </a:ext>
            </a:extLst>
          </p:cNvPr>
          <p:cNvSpPr>
            <a:spLocks xmlns:a="http://schemas.openxmlformats.org/drawingml/2006/main" noGrp="1"/>
          </p:cNvSpPr>
          <p:nvPr/>
        </p:nvSpPr>
        <p:spPr>
          <a:xfrm xmlns:a="http://schemas.openxmlformats.org/drawingml/2006/main">
            <a:off x="1023203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55" name="Shape 53">
            <a:extLst xmlns:a="http://schemas.openxmlformats.org/drawingml/2006/main">
              <a:ext uri="{FF2B5EF4-FFF2-40B4-BE49-F238E27FC236}">
                <a16:creationId xmlns:a16="http://schemas.microsoft.com/office/drawing/2014/main" id="{0591E670-66D6-4A07-9393-4893E6E589F0}"/>
              </a:ext>
            </a:extLst>
          </p:cNvPr>
          <p:cNvSpPr>
            <a:spLocks xmlns:a="http://schemas.openxmlformats.org/drawingml/2006/main" noGrp="1"/>
          </p:cNvSpPr>
          <p:nvPr/>
        </p:nvSpPr>
        <p:spPr>
          <a:xfrm xmlns:a="http://schemas.openxmlformats.org/drawingml/2006/main">
            <a:off x="1052601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56" name="Shape 54">
            <a:extLst xmlns:a="http://schemas.openxmlformats.org/drawingml/2006/main">
              <a:ext uri="{FF2B5EF4-FFF2-40B4-BE49-F238E27FC236}">
                <a16:creationId xmlns:a16="http://schemas.microsoft.com/office/drawing/2014/main" id="{34AD3035-E37E-47D3-A350-6DEAFD554E41}"/>
              </a:ext>
            </a:extLst>
          </p:cNvPr>
          <p:cNvSpPr>
            <a:spLocks xmlns:a="http://schemas.openxmlformats.org/drawingml/2006/main" noGrp="1"/>
          </p:cNvSpPr>
          <p:nvPr/>
        </p:nvSpPr>
        <p:spPr>
          <a:xfrm xmlns:a="http://schemas.openxmlformats.org/drawingml/2006/main">
            <a:off x="10819991" y="29822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57" name="Shape 55">
            <a:extLst xmlns:a="http://schemas.openxmlformats.org/drawingml/2006/main">
              <a:ext uri="{FF2B5EF4-FFF2-40B4-BE49-F238E27FC236}">
                <a16:creationId xmlns:a16="http://schemas.microsoft.com/office/drawing/2014/main" id="{7C509221-1537-40DB-9D37-EF388911AAFA}"/>
              </a:ext>
            </a:extLst>
          </p:cNvPr>
          <p:cNvSpPr>
            <a:spLocks xmlns:a="http://schemas.openxmlformats.org/drawingml/2006/main" noGrp="1"/>
          </p:cNvSpPr>
          <p:nvPr/>
        </p:nvSpPr>
        <p:spPr>
          <a:xfrm xmlns:a="http://schemas.openxmlformats.org/drawingml/2006/main">
            <a:off x="817417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58" name="Shape 56">
            <a:extLst xmlns:a="http://schemas.openxmlformats.org/drawingml/2006/main">
              <a:ext uri="{FF2B5EF4-FFF2-40B4-BE49-F238E27FC236}">
                <a16:creationId xmlns:a16="http://schemas.microsoft.com/office/drawing/2014/main" id="{66F17890-9381-4015-AEDA-B59BC2ECE7CB}"/>
              </a:ext>
            </a:extLst>
          </p:cNvPr>
          <p:cNvSpPr>
            <a:spLocks xmlns:a="http://schemas.openxmlformats.org/drawingml/2006/main" noGrp="1"/>
          </p:cNvSpPr>
          <p:nvPr/>
        </p:nvSpPr>
        <p:spPr>
          <a:xfrm xmlns:a="http://schemas.openxmlformats.org/drawingml/2006/main">
            <a:off x="846815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59" name="Shape 57">
            <a:extLst xmlns:a="http://schemas.openxmlformats.org/drawingml/2006/main">
              <a:ext uri="{FF2B5EF4-FFF2-40B4-BE49-F238E27FC236}">
                <a16:creationId xmlns:a16="http://schemas.microsoft.com/office/drawing/2014/main" id="{261D6480-7274-418C-A000-5374D18893E4}"/>
              </a:ext>
            </a:extLst>
          </p:cNvPr>
          <p:cNvSpPr>
            <a:spLocks xmlns:a="http://schemas.openxmlformats.org/drawingml/2006/main" noGrp="1"/>
          </p:cNvSpPr>
          <p:nvPr/>
        </p:nvSpPr>
        <p:spPr>
          <a:xfrm xmlns:a="http://schemas.openxmlformats.org/drawingml/2006/main">
            <a:off x="876213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60" name="Shape 58">
            <a:extLst xmlns:a="http://schemas.openxmlformats.org/drawingml/2006/main">
              <a:ext uri="{FF2B5EF4-FFF2-40B4-BE49-F238E27FC236}">
                <a16:creationId xmlns:a16="http://schemas.microsoft.com/office/drawing/2014/main" id="{6380B13C-8A96-4023-94FD-DE3BC817BD60}"/>
              </a:ext>
            </a:extLst>
          </p:cNvPr>
          <p:cNvSpPr>
            <a:spLocks xmlns:a="http://schemas.openxmlformats.org/drawingml/2006/main" noGrp="1"/>
          </p:cNvSpPr>
          <p:nvPr/>
        </p:nvSpPr>
        <p:spPr>
          <a:xfrm xmlns:a="http://schemas.openxmlformats.org/drawingml/2006/main">
            <a:off x="905611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61" name="Shape 59">
            <a:extLst xmlns:a="http://schemas.openxmlformats.org/drawingml/2006/main">
              <a:ext uri="{FF2B5EF4-FFF2-40B4-BE49-F238E27FC236}">
                <a16:creationId xmlns:a16="http://schemas.microsoft.com/office/drawing/2014/main" id="{16221131-59B4-4DCE-84FB-CE43FE11BB51}"/>
              </a:ext>
            </a:extLst>
          </p:cNvPr>
          <p:cNvSpPr>
            <a:spLocks xmlns:a="http://schemas.openxmlformats.org/drawingml/2006/main" noGrp="1"/>
          </p:cNvSpPr>
          <p:nvPr/>
        </p:nvSpPr>
        <p:spPr>
          <a:xfrm xmlns:a="http://schemas.openxmlformats.org/drawingml/2006/main">
            <a:off x="9354174" y="3280322"/>
            <a:ext cx="244983" cy="244983"/>
          </a:xfrm>
          <a:custGeom xmlns:a="http://schemas.openxmlformats.org/drawingml/2006/main">
            <a:rect l="l" t="t" r="r" b="b"/>
            <a:pathLst>
              <a:path w="244983" h="244983">
                <a:moveTo>
                  <a:pt x="0" y="0"/>
                </a:moveTo>
                <a:lnTo>
                  <a:pt x="244983" y="0"/>
                </a:lnTo>
                <a:lnTo>
                  <a:pt x="244983" y="244983"/>
                </a:lnTo>
                <a:lnTo>
                  <a:pt x="0" y="244983"/>
                </a:lnTo>
                <a:lnTo>
                  <a:pt x="0" y="0"/>
                </a:lnTo>
                <a:close/>
              </a:path>
            </a:pathLst>
          </a:custGeom>
          <a:solidFill xmlns:a="http://schemas.openxmlformats.org/drawingml/2006/main">
            <a:srgbClr val="5F87A7"/>
          </a:solidFill>
          <a:ln xmlns:a="http://schemas.openxmlformats.org/drawingml/2006/main" w="25400">
            <a:solidFill>
              <a:srgbClr val="E6B450"/>
            </a:solidFill>
            <a:prstDash val="solid"/>
          </a:ln>
        </p:spPr>
      </p:sp>
      <p:sp>
        <p:nvSpPr>
          <p:cNvPr id="62" name="Shape 60">
            <a:extLst xmlns:a="http://schemas.openxmlformats.org/drawingml/2006/main">
              <a:ext uri="{FF2B5EF4-FFF2-40B4-BE49-F238E27FC236}">
                <a16:creationId xmlns:a16="http://schemas.microsoft.com/office/drawing/2014/main" id="{631E12D2-DDF6-44B2-946A-2C4502ECBCA0}"/>
              </a:ext>
            </a:extLst>
          </p:cNvPr>
          <p:cNvSpPr>
            <a:spLocks xmlns:a="http://schemas.openxmlformats.org/drawingml/2006/main" noGrp="1"/>
          </p:cNvSpPr>
          <p:nvPr/>
        </p:nvSpPr>
        <p:spPr>
          <a:xfrm xmlns:a="http://schemas.openxmlformats.org/drawingml/2006/main">
            <a:off x="964407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63" name="Shape 61">
            <a:extLst xmlns:a="http://schemas.openxmlformats.org/drawingml/2006/main">
              <a:ext uri="{FF2B5EF4-FFF2-40B4-BE49-F238E27FC236}">
                <a16:creationId xmlns:a16="http://schemas.microsoft.com/office/drawing/2014/main" id="{B53A4628-A751-4A34-BBCE-D5B83A5D10DA}"/>
              </a:ext>
            </a:extLst>
          </p:cNvPr>
          <p:cNvSpPr>
            <a:spLocks xmlns:a="http://schemas.openxmlformats.org/drawingml/2006/main" noGrp="1"/>
          </p:cNvSpPr>
          <p:nvPr/>
        </p:nvSpPr>
        <p:spPr>
          <a:xfrm xmlns:a="http://schemas.openxmlformats.org/drawingml/2006/main">
            <a:off x="993805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64" name="Shape 62">
            <a:extLst xmlns:a="http://schemas.openxmlformats.org/drawingml/2006/main">
              <a:ext uri="{FF2B5EF4-FFF2-40B4-BE49-F238E27FC236}">
                <a16:creationId xmlns:a16="http://schemas.microsoft.com/office/drawing/2014/main" id="{874D0504-4955-4385-927C-DC4B69EF3159}"/>
              </a:ext>
            </a:extLst>
          </p:cNvPr>
          <p:cNvSpPr>
            <a:spLocks xmlns:a="http://schemas.openxmlformats.org/drawingml/2006/main" noGrp="1"/>
          </p:cNvSpPr>
          <p:nvPr/>
        </p:nvSpPr>
        <p:spPr>
          <a:xfrm xmlns:a="http://schemas.openxmlformats.org/drawingml/2006/main">
            <a:off x="1023203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65" name="Shape 63">
            <a:extLst xmlns:a="http://schemas.openxmlformats.org/drawingml/2006/main">
              <a:ext uri="{FF2B5EF4-FFF2-40B4-BE49-F238E27FC236}">
                <a16:creationId xmlns:a16="http://schemas.microsoft.com/office/drawing/2014/main" id="{51247300-B97A-4E12-B711-E3FB2897993F}"/>
              </a:ext>
            </a:extLst>
          </p:cNvPr>
          <p:cNvSpPr>
            <a:spLocks xmlns:a="http://schemas.openxmlformats.org/drawingml/2006/main" noGrp="1"/>
          </p:cNvSpPr>
          <p:nvPr/>
        </p:nvSpPr>
        <p:spPr>
          <a:xfrm xmlns:a="http://schemas.openxmlformats.org/drawingml/2006/main">
            <a:off x="1052601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66" name="Shape 64">
            <a:extLst xmlns:a="http://schemas.openxmlformats.org/drawingml/2006/main">
              <a:ext uri="{FF2B5EF4-FFF2-40B4-BE49-F238E27FC236}">
                <a16:creationId xmlns:a16="http://schemas.microsoft.com/office/drawing/2014/main" id="{B898190E-39AD-4A3B-BF1F-AD5F37C33F9C}"/>
              </a:ext>
            </a:extLst>
          </p:cNvPr>
          <p:cNvSpPr>
            <a:spLocks xmlns:a="http://schemas.openxmlformats.org/drawingml/2006/main" noGrp="1"/>
          </p:cNvSpPr>
          <p:nvPr/>
        </p:nvSpPr>
        <p:spPr>
          <a:xfrm xmlns:a="http://schemas.openxmlformats.org/drawingml/2006/main">
            <a:off x="10819991" y="32762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67" name="Shape 65">
            <a:extLst xmlns:a="http://schemas.openxmlformats.org/drawingml/2006/main">
              <a:ext uri="{FF2B5EF4-FFF2-40B4-BE49-F238E27FC236}">
                <a16:creationId xmlns:a16="http://schemas.microsoft.com/office/drawing/2014/main" id="{D6AF32DC-395E-4F71-80AC-1DE1A0326C8F}"/>
              </a:ext>
            </a:extLst>
          </p:cNvPr>
          <p:cNvSpPr>
            <a:spLocks xmlns:a="http://schemas.openxmlformats.org/drawingml/2006/main" noGrp="1"/>
          </p:cNvSpPr>
          <p:nvPr/>
        </p:nvSpPr>
        <p:spPr>
          <a:xfrm xmlns:a="http://schemas.openxmlformats.org/drawingml/2006/main">
            <a:off x="817417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68" name="Shape 66">
            <a:extLst xmlns:a="http://schemas.openxmlformats.org/drawingml/2006/main">
              <a:ext uri="{FF2B5EF4-FFF2-40B4-BE49-F238E27FC236}">
                <a16:creationId xmlns:a16="http://schemas.microsoft.com/office/drawing/2014/main" id="{AF1E7935-C05D-4C9B-9A17-5EEF981A4D9D}"/>
              </a:ext>
            </a:extLst>
          </p:cNvPr>
          <p:cNvSpPr>
            <a:spLocks xmlns:a="http://schemas.openxmlformats.org/drawingml/2006/main" noGrp="1"/>
          </p:cNvSpPr>
          <p:nvPr/>
        </p:nvSpPr>
        <p:spPr>
          <a:xfrm xmlns:a="http://schemas.openxmlformats.org/drawingml/2006/main">
            <a:off x="846815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69" name="Shape 67">
            <a:extLst xmlns:a="http://schemas.openxmlformats.org/drawingml/2006/main">
              <a:ext uri="{FF2B5EF4-FFF2-40B4-BE49-F238E27FC236}">
                <a16:creationId xmlns:a16="http://schemas.microsoft.com/office/drawing/2014/main" id="{1D7E7D65-1836-472A-9845-BB8585BA40B2}"/>
              </a:ext>
            </a:extLst>
          </p:cNvPr>
          <p:cNvSpPr>
            <a:spLocks xmlns:a="http://schemas.openxmlformats.org/drawingml/2006/main" noGrp="1"/>
          </p:cNvSpPr>
          <p:nvPr/>
        </p:nvSpPr>
        <p:spPr>
          <a:xfrm xmlns:a="http://schemas.openxmlformats.org/drawingml/2006/main">
            <a:off x="876213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70" name="Shape 68">
            <a:extLst xmlns:a="http://schemas.openxmlformats.org/drawingml/2006/main">
              <a:ext uri="{FF2B5EF4-FFF2-40B4-BE49-F238E27FC236}">
                <a16:creationId xmlns:a16="http://schemas.microsoft.com/office/drawing/2014/main" id="{61298A16-8B8D-4B04-88A4-1A936CACF333}"/>
              </a:ext>
            </a:extLst>
          </p:cNvPr>
          <p:cNvSpPr>
            <a:spLocks xmlns:a="http://schemas.openxmlformats.org/drawingml/2006/main" noGrp="1"/>
          </p:cNvSpPr>
          <p:nvPr/>
        </p:nvSpPr>
        <p:spPr>
          <a:xfrm xmlns:a="http://schemas.openxmlformats.org/drawingml/2006/main">
            <a:off x="905611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71" name="Shape 69">
            <a:extLst xmlns:a="http://schemas.openxmlformats.org/drawingml/2006/main">
              <a:ext uri="{FF2B5EF4-FFF2-40B4-BE49-F238E27FC236}">
                <a16:creationId xmlns:a16="http://schemas.microsoft.com/office/drawing/2014/main" id="{510AAFC2-8205-4FA3-A91F-487E8FA8A963}"/>
              </a:ext>
            </a:extLst>
          </p:cNvPr>
          <p:cNvSpPr>
            <a:spLocks xmlns:a="http://schemas.openxmlformats.org/drawingml/2006/main" noGrp="1"/>
          </p:cNvSpPr>
          <p:nvPr/>
        </p:nvSpPr>
        <p:spPr>
          <a:xfrm xmlns:a="http://schemas.openxmlformats.org/drawingml/2006/main">
            <a:off x="935009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72" name="Shape 70">
            <a:extLst xmlns:a="http://schemas.openxmlformats.org/drawingml/2006/main">
              <a:ext uri="{FF2B5EF4-FFF2-40B4-BE49-F238E27FC236}">
                <a16:creationId xmlns:a16="http://schemas.microsoft.com/office/drawing/2014/main" id="{08E777F7-FF10-4AFE-92F7-C474E49CCCE4}"/>
              </a:ext>
            </a:extLst>
          </p:cNvPr>
          <p:cNvSpPr>
            <a:spLocks xmlns:a="http://schemas.openxmlformats.org/drawingml/2006/main" noGrp="1"/>
          </p:cNvSpPr>
          <p:nvPr/>
        </p:nvSpPr>
        <p:spPr>
          <a:xfrm xmlns:a="http://schemas.openxmlformats.org/drawingml/2006/main">
            <a:off x="964407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73" name="Shape 71">
            <a:extLst xmlns:a="http://schemas.openxmlformats.org/drawingml/2006/main">
              <a:ext uri="{FF2B5EF4-FFF2-40B4-BE49-F238E27FC236}">
                <a16:creationId xmlns:a16="http://schemas.microsoft.com/office/drawing/2014/main" id="{6187FADA-C3EB-4EAA-A6C7-2E7E93316F58}"/>
              </a:ext>
            </a:extLst>
          </p:cNvPr>
          <p:cNvSpPr>
            <a:spLocks xmlns:a="http://schemas.openxmlformats.org/drawingml/2006/main" noGrp="1"/>
          </p:cNvSpPr>
          <p:nvPr/>
        </p:nvSpPr>
        <p:spPr>
          <a:xfrm xmlns:a="http://schemas.openxmlformats.org/drawingml/2006/main">
            <a:off x="993805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E6B450"/>
          </a:solidFill>
          <a:ln xmlns:a="http://schemas.openxmlformats.org/drawingml/2006/main" w="12700">
            <a:solidFill>
              <a:srgbClr val="E6B450"/>
            </a:solidFill>
            <a:prstDash val="solid"/>
          </a:ln>
        </p:spPr>
      </p:sp>
      <p:sp>
        <p:nvSpPr>
          <p:cNvPr id="74" name="Shape 72">
            <a:extLst xmlns:a="http://schemas.openxmlformats.org/drawingml/2006/main">
              <a:ext uri="{FF2B5EF4-FFF2-40B4-BE49-F238E27FC236}">
                <a16:creationId xmlns:a16="http://schemas.microsoft.com/office/drawing/2014/main" id="{6BAA7560-BAB6-49C2-A48D-B38BAC277EA3}"/>
              </a:ext>
            </a:extLst>
          </p:cNvPr>
          <p:cNvSpPr>
            <a:spLocks xmlns:a="http://schemas.openxmlformats.org/drawingml/2006/main" noGrp="1"/>
          </p:cNvSpPr>
          <p:nvPr/>
        </p:nvSpPr>
        <p:spPr>
          <a:xfrm xmlns:a="http://schemas.openxmlformats.org/drawingml/2006/main">
            <a:off x="1023203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75" name="Shape 73">
            <a:extLst xmlns:a="http://schemas.openxmlformats.org/drawingml/2006/main">
              <a:ext uri="{FF2B5EF4-FFF2-40B4-BE49-F238E27FC236}">
                <a16:creationId xmlns:a16="http://schemas.microsoft.com/office/drawing/2014/main" id="{08AFF6C2-DE89-4DF1-9F04-B6836E4AC63B}"/>
              </a:ext>
            </a:extLst>
          </p:cNvPr>
          <p:cNvSpPr>
            <a:spLocks xmlns:a="http://schemas.openxmlformats.org/drawingml/2006/main" noGrp="1"/>
          </p:cNvSpPr>
          <p:nvPr/>
        </p:nvSpPr>
        <p:spPr>
          <a:xfrm xmlns:a="http://schemas.openxmlformats.org/drawingml/2006/main">
            <a:off x="1052601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76" name="Shape 74">
            <a:extLst xmlns:a="http://schemas.openxmlformats.org/drawingml/2006/main">
              <a:ext uri="{FF2B5EF4-FFF2-40B4-BE49-F238E27FC236}">
                <a16:creationId xmlns:a16="http://schemas.microsoft.com/office/drawing/2014/main" id="{CFDB5BCD-0B53-44AB-903E-3542CA99BB73}"/>
              </a:ext>
            </a:extLst>
          </p:cNvPr>
          <p:cNvSpPr>
            <a:spLocks xmlns:a="http://schemas.openxmlformats.org/drawingml/2006/main" noGrp="1"/>
          </p:cNvSpPr>
          <p:nvPr/>
        </p:nvSpPr>
        <p:spPr>
          <a:xfrm xmlns:a="http://schemas.openxmlformats.org/drawingml/2006/main">
            <a:off x="10819991" y="35702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77" name="Shape 75">
            <a:extLst xmlns:a="http://schemas.openxmlformats.org/drawingml/2006/main">
              <a:ext uri="{FF2B5EF4-FFF2-40B4-BE49-F238E27FC236}">
                <a16:creationId xmlns:a16="http://schemas.microsoft.com/office/drawing/2014/main" id="{F65CAFE6-DE67-42FB-BC42-1901763A8B80}"/>
              </a:ext>
            </a:extLst>
          </p:cNvPr>
          <p:cNvSpPr>
            <a:spLocks xmlns:a="http://schemas.openxmlformats.org/drawingml/2006/main" noGrp="1"/>
          </p:cNvSpPr>
          <p:nvPr/>
        </p:nvSpPr>
        <p:spPr>
          <a:xfrm xmlns:a="http://schemas.openxmlformats.org/drawingml/2006/main">
            <a:off x="817417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78" name="Shape 76">
            <a:extLst xmlns:a="http://schemas.openxmlformats.org/drawingml/2006/main">
              <a:ext uri="{FF2B5EF4-FFF2-40B4-BE49-F238E27FC236}">
                <a16:creationId xmlns:a16="http://schemas.microsoft.com/office/drawing/2014/main" id="{5837843B-3BCF-4652-9CD7-05661300FD60}"/>
              </a:ext>
            </a:extLst>
          </p:cNvPr>
          <p:cNvSpPr>
            <a:spLocks xmlns:a="http://schemas.openxmlformats.org/drawingml/2006/main" noGrp="1"/>
          </p:cNvSpPr>
          <p:nvPr/>
        </p:nvSpPr>
        <p:spPr>
          <a:xfrm xmlns:a="http://schemas.openxmlformats.org/drawingml/2006/main">
            <a:off x="846815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79" name="Shape 77">
            <a:extLst xmlns:a="http://schemas.openxmlformats.org/drawingml/2006/main">
              <a:ext uri="{FF2B5EF4-FFF2-40B4-BE49-F238E27FC236}">
                <a16:creationId xmlns:a16="http://schemas.microsoft.com/office/drawing/2014/main" id="{0AE96312-A048-4918-A526-715BCC0F0F68}"/>
              </a:ext>
            </a:extLst>
          </p:cNvPr>
          <p:cNvSpPr>
            <a:spLocks xmlns:a="http://schemas.openxmlformats.org/drawingml/2006/main" noGrp="1"/>
          </p:cNvSpPr>
          <p:nvPr/>
        </p:nvSpPr>
        <p:spPr>
          <a:xfrm xmlns:a="http://schemas.openxmlformats.org/drawingml/2006/main">
            <a:off x="876213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0" name="Shape 78">
            <a:extLst xmlns:a="http://schemas.openxmlformats.org/drawingml/2006/main">
              <a:ext uri="{FF2B5EF4-FFF2-40B4-BE49-F238E27FC236}">
                <a16:creationId xmlns:a16="http://schemas.microsoft.com/office/drawing/2014/main" id="{0617511A-43C5-4A44-8B68-01397BE0C5EA}"/>
              </a:ext>
            </a:extLst>
          </p:cNvPr>
          <p:cNvSpPr>
            <a:spLocks xmlns:a="http://schemas.openxmlformats.org/drawingml/2006/main" noGrp="1"/>
          </p:cNvSpPr>
          <p:nvPr/>
        </p:nvSpPr>
        <p:spPr>
          <a:xfrm xmlns:a="http://schemas.openxmlformats.org/drawingml/2006/main">
            <a:off x="905611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1" name="Shape 79">
            <a:extLst xmlns:a="http://schemas.openxmlformats.org/drawingml/2006/main">
              <a:ext uri="{FF2B5EF4-FFF2-40B4-BE49-F238E27FC236}">
                <a16:creationId xmlns:a16="http://schemas.microsoft.com/office/drawing/2014/main" id="{D1D6F1A7-2C01-4DDB-AD22-F830D9272767}"/>
              </a:ext>
            </a:extLst>
          </p:cNvPr>
          <p:cNvSpPr>
            <a:spLocks xmlns:a="http://schemas.openxmlformats.org/drawingml/2006/main" noGrp="1"/>
          </p:cNvSpPr>
          <p:nvPr/>
        </p:nvSpPr>
        <p:spPr>
          <a:xfrm xmlns:a="http://schemas.openxmlformats.org/drawingml/2006/main">
            <a:off x="935009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2" name="Shape 80">
            <a:extLst xmlns:a="http://schemas.openxmlformats.org/drawingml/2006/main">
              <a:ext uri="{FF2B5EF4-FFF2-40B4-BE49-F238E27FC236}">
                <a16:creationId xmlns:a16="http://schemas.microsoft.com/office/drawing/2014/main" id="{0F586EE0-650B-4438-8D11-689F644E0731}"/>
              </a:ext>
            </a:extLst>
          </p:cNvPr>
          <p:cNvSpPr>
            <a:spLocks xmlns:a="http://schemas.openxmlformats.org/drawingml/2006/main" noGrp="1"/>
          </p:cNvSpPr>
          <p:nvPr/>
        </p:nvSpPr>
        <p:spPr>
          <a:xfrm xmlns:a="http://schemas.openxmlformats.org/drawingml/2006/main">
            <a:off x="964407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3" name="Shape 81">
            <a:extLst xmlns:a="http://schemas.openxmlformats.org/drawingml/2006/main">
              <a:ext uri="{FF2B5EF4-FFF2-40B4-BE49-F238E27FC236}">
                <a16:creationId xmlns:a16="http://schemas.microsoft.com/office/drawing/2014/main" id="{C2BC2D9A-6908-42A8-8B7A-6943EA87CA38}"/>
              </a:ext>
            </a:extLst>
          </p:cNvPr>
          <p:cNvSpPr>
            <a:spLocks xmlns:a="http://schemas.openxmlformats.org/drawingml/2006/main" noGrp="1"/>
          </p:cNvSpPr>
          <p:nvPr/>
        </p:nvSpPr>
        <p:spPr>
          <a:xfrm xmlns:a="http://schemas.openxmlformats.org/drawingml/2006/main">
            <a:off x="993805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4" name="Shape 82">
            <a:extLst xmlns:a="http://schemas.openxmlformats.org/drawingml/2006/main">
              <a:ext uri="{FF2B5EF4-FFF2-40B4-BE49-F238E27FC236}">
                <a16:creationId xmlns:a16="http://schemas.microsoft.com/office/drawing/2014/main" id="{E5AD05FA-4445-431F-AD2C-303E1FF2EAB4}"/>
              </a:ext>
            </a:extLst>
          </p:cNvPr>
          <p:cNvSpPr>
            <a:spLocks xmlns:a="http://schemas.openxmlformats.org/drawingml/2006/main" noGrp="1"/>
          </p:cNvSpPr>
          <p:nvPr/>
        </p:nvSpPr>
        <p:spPr>
          <a:xfrm xmlns:a="http://schemas.openxmlformats.org/drawingml/2006/main">
            <a:off x="1023203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5" name="Shape 83">
            <a:extLst xmlns:a="http://schemas.openxmlformats.org/drawingml/2006/main">
              <a:ext uri="{FF2B5EF4-FFF2-40B4-BE49-F238E27FC236}">
                <a16:creationId xmlns:a16="http://schemas.microsoft.com/office/drawing/2014/main" id="{7CA32C3F-2F27-4E1A-9317-94E80CE5BA79}"/>
              </a:ext>
            </a:extLst>
          </p:cNvPr>
          <p:cNvSpPr>
            <a:spLocks xmlns:a="http://schemas.openxmlformats.org/drawingml/2006/main" noGrp="1"/>
          </p:cNvSpPr>
          <p:nvPr/>
        </p:nvSpPr>
        <p:spPr>
          <a:xfrm xmlns:a="http://schemas.openxmlformats.org/drawingml/2006/main">
            <a:off x="1052601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6" name="Shape 84">
            <a:extLst xmlns:a="http://schemas.openxmlformats.org/drawingml/2006/main">
              <a:ext uri="{FF2B5EF4-FFF2-40B4-BE49-F238E27FC236}">
                <a16:creationId xmlns:a16="http://schemas.microsoft.com/office/drawing/2014/main" id="{32CEB122-C774-4394-A97E-04DD642BEDC4}"/>
              </a:ext>
            </a:extLst>
          </p:cNvPr>
          <p:cNvSpPr>
            <a:spLocks xmlns:a="http://schemas.openxmlformats.org/drawingml/2006/main" noGrp="1"/>
          </p:cNvSpPr>
          <p:nvPr/>
        </p:nvSpPr>
        <p:spPr>
          <a:xfrm xmlns:a="http://schemas.openxmlformats.org/drawingml/2006/main">
            <a:off x="10819991" y="38641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7" name="Shape 85">
            <a:extLst xmlns:a="http://schemas.openxmlformats.org/drawingml/2006/main">
              <a:ext uri="{FF2B5EF4-FFF2-40B4-BE49-F238E27FC236}">
                <a16:creationId xmlns:a16="http://schemas.microsoft.com/office/drawing/2014/main" id="{2E299031-FE77-4581-9AEB-B59A4EBCD57C}"/>
              </a:ext>
            </a:extLst>
          </p:cNvPr>
          <p:cNvSpPr>
            <a:spLocks xmlns:a="http://schemas.openxmlformats.org/drawingml/2006/main" noGrp="1"/>
          </p:cNvSpPr>
          <p:nvPr/>
        </p:nvSpPr>
        <p:spPr>
          <a:xfrm xmlns:a="http://schemas.openxmlformats.org/drawingml/2006/main">
            <a:off x="817417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8" name="Shape 86">
            <a:extLst xmlns:a="http://schemas.openxmlformats.org/drawingml/2006/main">
              <a:ext uri="{FF2B5EF4-FFF2-40B4-BE49-F238E27FC236}">
                <a16:creationId xmlns:a16="http://schemas.microsoft.com/office/drawing/2014/main" id="{AD489F5F-6C95-4C2F-8022-975EB6ABE697}"/>
              </a:ext>
            </a:extLst>
          </p:cNvPr>
          <p:cNvSpPr>
            <a:spLocks xmlns:a="http://schemas.openxmlformats.org/drawingml/2006/main" noGrp="1"/>
          </p:cNvSpPr>
          <p:nvPr/>
        </p:nvSpPr>
        <p:spPr>
          <a:xfrm xmlns:a="http://schemas.openxmlformats.org/drawingml/2006/main">
            <a:off x="846815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89" name="Shape 87">
            <a:extLst xmlns:a="http://schemas.openxmlformats.org/drawingml/2006/main">
              <a:ext uri="{FF2B5EF4-FFF2-40B4-BE49-F238E27FC236}">
                <a16:creationId xmlns:a16="http://schemas.microsoft.com/office/drawing/2014/main" id="{D0748DF4-347A-443B-B728-05B9FA4457B9}"/>
              </a:ext>
            </a:extLst>
          </p:cNvPr>
          <p:cNvSpPr>
            <a:spLocks xmlns:a="http://schemas.openxmlformats.org/drawingml/2006/main" noGrp="1"/>
          </p:cNvSpPr>
          <p:nvPr/>
        </p:nvSpPr>
        <p:spPr>
          <a:xfrm xmlns:a="http://schemas.openxmlformats.org/drawingml/2006/main">
            <a:off x="876213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0" name="Shape 88">
            <a:extLst xmlns:a="http://schemas.openxmlformats.org/drawingml/2006/main">
              <a:ext uri="{FF2B5EF4-FFF2-40B4-BE49-F238E27FC236}">
                <a16:creationId xmlns:a16="http://schemas.microsoft.com/office/drawing/2014/main" id="{3CC0DC1D-118D-417B-AC80-5F5D9AA84C01}"/>
              </a:ext>
            </a:extLst>
          </p:cNvPr>
          <p:cNvSpPr>
            <a:spLocks xmlns:a="http://schemas.openxmlformats.org/drawingml/2006/main" noGrp="1"/>
          </p:cNvSpPr>
          <p:nvPr/>
        </p:nvSpPr>
        <p:spPr>
          <a:xfrm xmlns:a="http://schemas.openxmlformats.org/drawingml/2006/main">
            <a:off x="905611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1" name="Shape 89">
            <a:extLst xmlns:a="http://schemas.openxmlformats.org/drawingml/2006/main">
              <a:ext uri="{FF2B5EF4-FFF2-40B4-BE49-F238E27FC236}">
                <a16:creationId xmlns:a16="http://schemas.microsoft.com/office/drawing/2014/main" id="{3E2C9EBA-0319-4B86-8699-FED929C10279}"/>
              </a:ext>
            </a:extLst>
          </p:cNvPr>
          <p:cNvSpPr>
            <a:spLocks xmlns:a="http://schemas.openxmlformats.org/drawingml/2006/main" noGrp="1"/>
          </p:cNvSpPr>
          <p:nvPr/>
        </p:nvSpPr>
        <p:spPr>
          <a:xfrm xmlns:a="http://schemas.openxmlformats.org/drawingml/2006/main">
            <a:off x="935009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2" name="Shape 90">
            <a:extLst xmlns:a="http://schemas.openxmlformats.org/drawingml/2006/main">
              <a:ext uri="{FF2B5EF4-FFF2-40B4-BE49-F238E27FC236}">
                <a16:creationId xmlns:a16="http://schemas.microsoft.com/office/drawing/2014/main" id="{F8DC1722-EC91-48F2-A260-96F80D162F88}"/>
              </a:ext>
            </a:extLst>
          </p:cNvPr>
          <p:cNvSpPr>
            <a:spLocks xmlns:a="http://schemas.openxmlformats.org/drawingml/2006/main" noGrp="1"/>
          </p:cNvSpPr>
          <p:nvPr/>
        </p:nvSpPr>
        <p:spPr>
          <a:xfrm xmlns:a="http://schemas.openxmlformats.org/drawingml/2006/main">
            <a:off x="964407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3" name="Shape 91">
            <a:extLst xmlns:a="http://schemas.openxmlformats.org/drawingml/2006/main">
              <a:ext uri="{FF2B5EF4-FFF2-40B4-BE49-F238E27FC236}">
                <a16:creationId xmlns:a16="http://schemas.microsoft.com/office/drawing/2014/main" id="{0BDE3AC6-6011-4748-B116-6D70975345FA}"/>
              </a:ext>
            </a:extLst>
          </p:cNvPr>
          <p:cNvSpPr>
            <a:spLocks xmlns:a="http://schemas.openxmlformats.org/drawingml/2006/main" noGrp="1"/>
          </p:cNvSpPr>
          <p:nvPr/>
        </p:nvSpPr>
        <p:spPr>
          <a:xfrm xmlns:a="http://schemas.openxmlformats.org/drawingml/2006/main">
            <a:off x="993805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4" name="Shape 92">
            <a:extLst xmlns:a="http://schemas.openxmlformats.org/drawingml/2006/main">
              <a:ext uri="{FF2B5EF4-FFF2-40B4-BE49-F238E27FC236}">
                <a16:creationId xmlns:a16="http://schemas.microsoft.com/office/drawing/2014/main" id="{269ED0E3-BF8F-4A13-A422-0A463ED98C11}"/>
              </a:ext>
            </a:extLst>
          </p:cNvPr>
          <p:cNvSpPr>
            <a:spLocks xmlns:a="http://schemas.openxmlformats.org/drawingml/2006/main" noGrp="1"/>
          </p:cNvSpPr>
          <p:nvPr/>
        </p:nvSpPr>
        <p:spPr>
          <a:xfrm xmlns:a="http://schemas.openxmlformats.org/drawingml/2006/main">
            <a:off x="1023203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5" name="Shape 93">
            <a:extLst xmlns:a="http://schemas.openxmlformats.org/drawingml/2006/main">
              <a:ext uri="{FF2B5EF4-FFF2-40B4-BE49-F238E27FC236}">
                <a16:creationId xmlns:a16="http://schemas.microsoft.com/office/drawing/2014/main" id="{1C484912-8283-4832-BF07-58608DCECF1B}"/>
              </a:ext>
            </a:extLst>
          </p:cNvPr>
          <p:cNvSpPr>
            <a:spLocks xmlns:a="http://schemas.openxmlformats.org/drawingml/2006/main" noGrp="1"/>
          </p:cNvSpPr>
          <p:nvPr/>
        </p:nvSpPr>
        <p:spPr>
          <a:xfrm xmlns:a="http://schemas.openxmlformats.org/drawingml/2006/main">
            <a:off x="1052601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6" name="Shape 94">
            <a:extLst xmlns:a="http://schemas.openxmlformats.org/drawingml/2006/main">
              <a:ext uri="{FF2B5EF4-FFF2-40B4-BE49-F238E27FC236}">
                <a16:creationId xmlns:a16="http://schemas.microsoft.com/office/drawing/2014/main" id="{9511DC85-37C4-4F97-A6F7-748164F23EAB}"/>
              </a:ext>
            </a:extLst>
          </p:cNvPr>
          <p:cNvSpPr>
            <a:spLocks xmlns:a="http://schemas.openxmlformats.org/drawingml/2006/main" noGrp="1"/>
          </p:cNvSpPr>
          <p:nvPr/>
        </p:nvSpPr>
        <p:spPr>
          <a:xfrm xmlns:a="http://schemas.openxmlformats.org/drawingml/2006/main">
            <a:off x="10819991" y="415817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7" name="Shape 95">
            <a:extLst xmlns:a="http://schemas.openxmlformats.org/drawingml/2006/main">
              <a:ext uri="{FF2B5EF4-FFF2-40B4-BE49-F238E27FC236}">
                <a16:creationId xmlns:a16="http://schemas.microsoft.com/office/drawing/2014/main" id="{CA9066C3-4EDC-4C1C-B9CB-39BE148DB83B}"/>
              </a:ext>
            </a:extLst>
          </p:cNvPr>
          <p:cNvSpPr>
            <a:spLocks xmlns:a="http://schemas.openxmlformats.org/drawingml/2006/main" noGrp="1"/>
          </p:cNvSpPr>
          <p:nvPr/>
        </p:nvSpPr>
        <p:spPr>
          <a:xfrm xmlns:a="http://schemas.openxmlformats.org/drawingml/2006/main">
            <a:off x="817417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8" name="Shape 96">
            <a:extLst xmlns:a="http://schemas.openxmlformats.org/drawingml/2006/main">
              <a:ext uri="{FF2B5EF4-FFF2-40B4-BE49-F238E27FC236}">
                <a16:creationId xmlns:a16="http://schemas.microsoft.com/office/drawing/2014/main" id="{5BC26D0A-71E0-4915-ACB4-1257CDDE2DBC}"/>
              </a:ext>
            </a:extLst>
          </p:cNvPr>
          <p:cNvSpPr>
            <a:spLocks xmlns:a="http://schemas.openxmlformats.org/drawingml/2006/main" noGrp="1"/>
          </p:cNvSpPr>
          <p:nvPr/>
        </p:nvSpPr>
        <p:spPr>
          <a:xfrm xmlns:a="http://schemas.openxmlformats.org/drawingml/2006/main">
            <a:off x="846815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99" name="Shape 97">
            <a:extLst xmlns:a="http://schemas.openxmlformats.org/drawingml/2006/main">
              <a:ext uri="{FF2B5EF4-FFF2-40B4-BE49-F238E27FC236}">
                <a16:creationId xmlns:a16="http://schemas.microsoft.com/office/drawing/2014/main" id="{5FB4DA44-CE7A-41B8-95FF-6292E123734F}"/>
              </a:ext>
            </a:extLst>
          </p:cNvPr>
          <p:cNvSpPr>
            <a:spLocks xmlns:a="http://schemas.openxmlformats.org/drawingml/2006/main" noGrp="1"/>
          </p:cNvSpPr>
          <p:nvPr/>
        </p:nvSpPr>
        <p:spPr>
          <a:xfrm xmlns:a="http://schemas.openxmlformats.org/drawingml/2006/main">
            <a:off x="876213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0" name="Shape 98">
            <a:extLst xmlns:a="http://schemas.openxmlformats.org/drawingml/2006/main">
              <a:ext uri="{FF2B5EF4-FFF2-40B4-BE49-F238E27FC236}">
                <a16:creationId xmlns:a16="http://schemas.microsoft.com/office/drawing/2014/main" id="{F4F618DD-29AF-4C3E-B35C-E8A697066216}"/>
              </a:ext>
            </a:extLst>
          </p:cNvPr>
          <p:cNvSpPr>
            <a:spLocks xmlns:a="http://schemas.openxmlformats.org/drawingml/2006/main" noGrp="1"/>
          </p:cNvSpPr>
          <p:nvPr/>
        </p:nvSpPr>
        <p:spPr>
          <a:xfrm xmlns:a="http://schemas.openxmlformats.org/drawingml/2006/main">
            <a:off x="905611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1" name="Shape 99">
            <a:extLst xmlns:a="http://schemas.openxmlformats.org/drawingml/2006/main">
              <a:ext uri="{FF2B5EF4-FFF2-40B4-BE49-F238E27FC236}">
                <a16:creationId xmlns:a16="http://schemas.microsoft.com/office/drawing/2014/main" id="{32E78517-1453-4D33-A431-F46579EA32E1}"/>
              </a:ext>
            </a:extLst>
          </p:cNvPr>
          <p:cNvSpPr>
            <a:spLocks xmlns:a="http://schemas.openxmlformats.org/drawingml/2006/main" noGrp="1"/>
          </p:cNvSpPr>
          <p:nvPr/>
        </p:nvSpPr>
        <p:spPr>
          <a:xfrm xmlns:a="http://schemas.openxmlformats.org/drawingml/2006/main">
            <a:off x="935009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2" name="Shape 100">
            <a:extLst xmlns:a="http://schemas.openxmlformats.org/drawingml/2006/main">
              <a:ext uri="{FF2B5EF4-FFF2-40B4-BE49-F238E27FC236}">
                <a16:creationId xmlns:a16="http://schemas.microsoft.com/office/drawing/2014/main" id="{11FEF85A-7DBA-407E-A4EF-19EE6356E0C0}"/>
              </a:ext>
            </a:extLst>
          </p:cNvPr>
          <p:cNvSpPr>
            <a:spLocks xmlns:a="http://schemas.openxmlformats.org/drawingml/2006/main" noGrp="1"/>
          </p:cNvSpPr>
          <p:nvPr/>
        </p:nvSpPr>
        <p:spPr>
          <a:xfrm xmlns:a="http://schemas.openxmlformats.org/drawingml/2006/main">
            <a:off x="964407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3" name="Shape 101">
            <a:extLst xmlns:a="http://schemas.openxmlformats.org/drawingml/2006/main">
              <a:ext uri="{FF2B5EF4-FFF2-40B4-BE49-F238E27FC236}">
                <a16:creationId xmlns:a16="http://schemas.microsoft.com/office/drawing/2014/main" id="{70815398-81E5-4C09-B655-DA35FDD42E3B}"/>
              </a:ext>
            </a:extLst>
          </p:cNvPr>
          <p:cNvSpPr>
            <a:spLocks xmlns:a="http://schemas.openxmlformats.org/drawingml/2006/main" noGrp="1"/>
          </p:cNvSpPr>
          <p:nvPr/>
        </p:nvSpPr>
        <p:spPr>
          <a:xfrm xmlns:a="http://schemas.openxmlformats.org/drawingml/2006/main">
            <a:off x="993805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4" name="Shape 102">
            <a:extLst xmlns:a="http://schemas.openxmlformats.org/drawingml/2006/main">
              <a:ext uri="{FF2B5EF4-FFF2-40B4-BE49-F238E27FC236}">
                <a16:creationId xmlns:a16="http://schemas.microsoft.com/office/drawing/2014/main" id="{676AF0BF-D68D-4529-B51F-BDCFDAD308AC}"/>
              </a:ext>
            </a:extLst>
          </p:cNvPr>
          <p:cNvSpPr>
            <a:spLocks xmlns:a="http://schemas.openxmlformats.org/drawingml/2006/main" noGrp="1"/>
          </p:cNvSpPr>
          <p:nvPr/>
        </p:nvSpPr>
        <p:spPr>
          <a:xfrm xmlns:a="http://schemas.openxmlformats.org/drawingml/2006/main">
            <a:off x="1023203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5" name="Shape 103">
            <a:extLst xmlns:a="http://schemas.openxmlformats.org/drawingml/2006/main">
              <a:ext uri="{FF2B5EF4-FFF2-40B4-BE49-F238E27FC236}">
                <a16:creationId xmlns:a16="http://schemas.microsoft.com/office/drawing/2014/main" id="{C59E3F54-E057-479A-A07D-E9D078F87BC0}"/>
              </a:ext>
            </a:extLst>
          </p:cNvPr>
          <p:cNvSpPr>
            <a:spLocks xmlns:a="http://schemas.openxmlformats.org/drawingml/2006/main" noGrp="1"/>
          </p:cNvSpPr>
          <p:nvPr/>
        </p:nvSpPr>
        <p:spPr>
          <a:xfrm xmlns:a="http://schemas.openxmlformats.org/drawingml/2006/main">
            <a:off x="1052601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6" name="Shape 104">
            <a:extLst xmlns:a="http://schemas.openxmlformats.org/drawingml/2006/main">
              <a:ext uri="{FF2B5EF4-FFF2-40B4-BE49-F238E27FC236}">
                <a16:creationId xmlns:a16="http://schemas.microsoft.com/office/drawing/2014/main" id="{EF4C1EDD-4A0A-4F2F-B7C6-713554F5C074}"/>
              </a:ext>
            </a:extLst>
          </p:cNvPr>
          <p:cNvSpPr>
            <a:spLocks xmlns:a="http://schemas.openxmlformats.org/drawingml/2006/main" noGrp="1"/>
          </p:cNvSpPr>
          <p:nvPr/>
        </p:nvSpPr>
        <p:spPr>
          <a:xfrm xmlns:a="http://schemas.openxmlformats.org/drawingml/2006/main">
            <a:off x="10819991" y="445215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7" name="Shape 105">
            <a:extLst xmlns:a="http://schemas.openxmlformats.org/drawingml/2006/main">
              <a:ext uri="{FF2B5EF4-FFF2-40B4-BE49-F238E27FC236}">
                <a16:creationId xmlns:a16="http://schemas.microsoft.com/office/drawing/2014/main" id="{1B00D5F0-DA30-4CB4-97C3-71C0539CCB77}"/>
              </a:ext>
            </a:extLst>
          </p:cNvPr>
          <p:cNvSpPr>
            <a:spLocks xmlns:a="http://schemas.openxmlformats.org/drawingml/2006/main" noGrp="1"/>
          </p:cNvSpPr>
          <p:nvPr/>
        </p:nvSpPr>
        <p:spPr>
          <a:xfrm xmlns:a="http://schemas.openxmlformats.org/drawingml/2006/main">
            <a:off x="817417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8" name="Shape 106">
            <a:extLst xmlns:a="http://schemas.openxmlformats.org/drawingml/2006/main">
              <a:ext uri="{FF2B5EF4-FFF2-40B4-BE49-F238E27FC236}">
                <a16:creationId xmlns:a16="http://schemas.microsoft.com/office/drawing/2014/main" id="{425E3509-FD37-4020-8256-4B490F83DBBB}"/>
              </a:ext>
            </a:extLst>
          </p:cNvPr>
          <p:cNvSpPr>
            <a:spLocks xmlns:a="http://schemas.openxmlformats.org/drawingml/2006/main" noGrp="1"/>
          </p:cNvSpPr>
          <p:nvPr/>
        </p:nvSpPr>
        <p:spPr>
          <a:xfrm xmlns:a="http://schemas.openxmlformats.org/drawingml/2006/main">
            <a:off x="846815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09" name="Shape 107">
            <a:extLst xmlns:a="http://schemas.openxmlformats.org/drawingml/2006/main">
              <a:ext uri="{FF2B5EF4-FFF2-40B4-BE49-F238E27FC236}">
                <a16:creationId xmlns:a16="http://schemas.microsoft.com/office/drawing/2014/main" id="{9D51ACE0-7FAD-4B1C-A089-F77712316046}"/>
              </a:ext>
            </a:extLst>
          </p:cNvPr>
          <p:cNvSpPr>
            <a:spLocks xmlns:a="http://schemas.openxmlformats.org/drawingml/2006/main" noGrp="1"/>
          </p:cNvSpPr>
          <p:nvPr/>
        </p:nvSpPr>
        <p:spPr>
          <a:xfrm xmlns:a="http://schemas.openxmlformats.org/drawingml/2006/main">
            <a:off x="876213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0" name="Shape 108">
            <a:extLst xmlns:a="http://schemas.openxmlformats.org/drawingml/2006/main">
              <a:ext uri="{FF2B5EF4-FFF2-40B4-BE49-F238E27FC236}">
                <a16:creationId xmlns:a16="http://schemas.microsoft.com/office/drawing/2014/main" id="{8D31285A-C738-4A7F-B49D-A8BDC8581398}"/>
              </a:ext>
            </a:extLst>
          </p:cNvPr>
          <p:cNvSpPr>
            <a:spLocks xmlns:a="http://schemas.openxmlformats.org/drawingml/2006/main" noGrp="1"/>
          </p:cNvSpPr>
          <p:nvPr/>
        </p:nvSpPr>
        <p:spPr>
          <a:xfrm xmlns:a="http://schemas.openxmlformats.org/drawingml/2006/main">
            <a:off x="905611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1" name="Shape 109">
            <a:extLst xmlns:a="http://schemas.openxmlformats.org/drawingml/2006/main">
              <a:ext uri="{FF2B5EF4-FFF2-40B4-BE49-F238E27FC236}">
                <a16:creationId xmlns:a16="http://schemas.microsoft.com/office/drawing/2014/main" id="{2F402F3F-477B-4CE6-A9DA-537B0E795FA2}"/>
              </a:ext>
            </a:extLst>
          </p:cNvPr>
          <p:cNvSpPr>
            <a:spLocks xmlns:a="http://schemas.openxmlformats.org/drawingml/2006/main" noGrp="1"/>
          </p:cNvSpPr>
          <p:nvPr/>
        </p:nvSpPr>
        <p:spPr>
          <a:xfrm xmlns:a="http://schemas.openxmlformats.org/drawingml/2006/main">
            <a:off x="935009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2" name="Shape 110">
            <a:extLst xmlns:a="http://schemas.openxmlformats.org/drawingml/2006/main">
              <a:ext uri="{FF2B5EF4-FFF2-40B4-BE49-F238E27FC236}">
                <a16:creationId xmlns:a16="http://schemas.microsoft.com/office/drawing/2014/main" id="{1019C150-3494-4ACC-B924-3B48AF90BB81}"/>
              </a:ext>
            </a:extLst>
          </p:cNvPr>
          <p:cNvSpPr>
            <a:spLocks xmlns:a="http://schemas.openxmlformats.org/drawingml/2006/main" noGrp="1"/>
          </p:cNvSpPr>
          <p:nvPr/>
        </p:nvSpPr>
        <p:spPr>
          <a:xfrm xmlns:a="http://schemas.openxmlformats.org/drawingml/2006/main">
            <a:off x="964407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3" name="Shape 111">
            <a:extLst xmlns:a="http://schemas.openxmlformats.org/drawingml/2006/main">
              <a:ext uri="{FF2B5EF4-FFF2-40B4-BE49-F238E27FC236}">
                <a16:creationId xmlns:a16="http://schemas.microsoft.com/office/drawing/2014/main" id="{019FD9D5-49A1-4F25-9AAA-CCC7A31327A6}"/>
              </a:ext>
            </a:extLst>
          </p:cNvPr>
          <p:cNvSpPr>
            <a:spLocks xmlns:a="http://schemas.openxmlformats.org/drawingml/2006/main" noGrp="1"/>
          </p:cNvSpPr>
          <p:nvPr/>
        </p:nvSpPr>
        <p:spPr>
          <a:xfrm xmlns:a="http://schemas.openxmlformats.org/drawingml/2006/main">
            <a:off x="993805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4" name="Shape 112">
            <a:extLst xmlns:a="http://schemas.openxmlformats.org/drawingml/2006/main">
              <a:ext uri="{FF2B5EF4-FFF2-40B4-BE49-F238E27FC236}">
                <a16:creationId xmlns:a16="http://schemas.microsoft.com/office/drawing/2014/main" id="{D81E2E3D-99DA-40B3-870A-927D1D181020}"/>
              </a:ext>
            </a:extLst>
          </p:cNvPr>
          <p:cNvSpPr>
            <a:spLocks xmlns:a="http://schemas.openxmlformats.org/drawingml/2006/main" noGrp="1"/>
          </p:cNvSpPr>
          <p:nvPr/>
        </p:nvSpPr>
        <p:spPr>
          <a:xfrm xmlns:a="http://schemas.openxmlformats.org/drawingml/2006/main">
            <a:off x="1023203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5" name="Shape 113">
            <a:extLst xmlns:a="http://schemas.openxmlformats.org/drawingml/2006/main">
              <a:ext uri="{FF2B5EF4-FFF2-40B4-BE49-F238E27FC236}">
                <a16:creationId xmlns:a16="http://schemas.microsoft.com/office/drawing/2014/main" id="{7CB50554-891C-48DC-914B-7145D9B33C4D}"/>
              </a:ext>
            </a:extLst>
          </p:cNvPr>
          <p:cNvSpPr>
            <a:spLocks xmlns:a="http://schemas.openxmlformats.org/drawingml/2006/main" noGrp="1"/>
          </p:cNvSpPr>
          <p:nvPr/>
        </p:nvSpPr>
        <p:spPr>
          <a:xfrm xmlns:a="http://schemas.openxmlformats.org/drawingml/2006/main">
            <a:off x="1052601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6" name="Shape 114">
            <a:extLst xmlns:a="http://schemas.openxmlformats.org/drawingml/2006/main">
              <a:ext uri="{FF2B5EF4-FFF2-40B4-BE49-F238E27FC236}">
                <a16:creationId xmlns:a16="http://schemas.microsoft.com/office/drawing/2014/main" id="{5687B258-62A9-4FF2-8964-C3AED9420112}"/>
              </a:ext>
            </a:extLst>
          </p:cNvPr>
          <p:cNvSpPr>
            <a:spLocks xmlns:a="http://schemas.openxmlformats.org/drawingml/2006/main" noGrp="1"/>
          </p:cNvSpPr>
          <p:nvPr/>
        </p:nvSpPr>
        <p:spPr>
          <a:xfrm xmlns:a="http://schemas.openxmlformats.org/drawingml/2006/main">
            <a:off x="10819991" y="474613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7" name="Shape 115">
            <a:extLst xmlns:a="http://schemas.openxmlformats.org/drawingml/2006/main">
              <a:ext uri="{FF2B5EF4-FFF2-40B4-BE49-F238E27FC236}">
                <a16:creationId xmlns:a16="http://schemas.microsoft.com/office/drawing/2014/main" id="{5D0B1F0A-F5F9-4672-9075-0FB8F92B618D}"/>
              </a:ext>
            </a:extLst>
          </p:cNvPr>
          <p:cNvSpPr>
            <a:spLocks xmlns:a="http://schemas.openxmlformats.org/drawingml/2006/main" noGrp="1"/>
          </p:cNvSpPr>
          <p:nvPr/>
        </p:nvSpPr>
        <p:spPr>
          <a:xfrm xmlns:a="http://schemas.openxmlformats.org/drawingml/2006/main">
            <a:off x="817417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8" name="Shape 116">
            <a:extLst xmlns:a="http://schemas.openxmlformats.org/drawingml/2006/main">
              <a:ext uri="{FF2B5EF4-FFF2-40B4-BE49-F238E27FC236}">
                <a16:creationId xmlns:a16="http://schemas.microsoft.com/office/drawing/2014/main" id="{D28AFCF5-C368-4496-BF87-FB8998BD2542}"/>
              </a:ext>
            </a:extLst>
          </p:cNvPr>
          <p:cNvSpPr>
            <a:spLocks xmlns:a="http://schemas.openxmlformats.org/drawingml/2006/main" noGrp="1"/>
          </p:cNvSpPr>
          <p:nvPr/>
        </p:nvSpPr>
        <p:spPr>
          <a:xfrm xmlns:a="http://schemas.openxmlformats.org/drawingml/2006/main">
            <a:off x="846815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19" name="Shape 117">
            <a:extLst xmlns:a="http://schemas.openxmlformats.org/drawingml/2006/main">
              <a:ext uri="{FF2B5EF4-FFF2-40B4-BE49-F238E27FC236}">
                <a16:creationId xmlns:a16="http://schemas.microsoft.com/office/drawing/2014/main" id="{A3F3803A-3E1E-463C-A3E1-C4C745BF0A4E}"/>
              </a:ext>
            </a:extLst>
          </p:cNvPr>
          <p:cNvSpPr>
            <a:spLocks xmlns:a="http://schemas.openxmlformats.org/drawingml/2006/main" noGrp="1"/>
          </p:cNvSpPr>
          <p:nvPr/>
        </p:nvSpPr>
        <p:spPr>
          <a:xfrm xmlns:a="http://schemas.openxmlformats.org/drawingml/2006/main">
            <a:off x="876213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0" name="Shape 118">
            <a:extLst xmlns:a="http://schemas.openxmlformats.org/drawingml/2006/main">
              <a:ext uri="{FF2B5EF4-FFF2-40B4-BE49-F238E27FC236}">
                <a16:creationId xmlns:a16="http://schemas.microsoft.com/office/drawing/2014/main" id="{2A468F33-2CD8-4D10-889D-2634D4E41622}"/>
              </a:ext>
            </a:extLst>
          </p:cNvPr>
          <p:cNvSpPr>
            <a:spLocks xmlns:a="http://schemas.openxmlformats.org/drawingml/2006/main" noGrp="1"/>
          </p:cNvSpPr>
          <p:nvPr/>
        </p:nvSpPr>
        <p:spPr>
          <a:xfrm xmlns:a="http://schemas.openxmlformats.org/drawingml/2006/main">
            <a:off x="905611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1" name="Shape 119">
            <a:extLst xmlns:a="http://schemas.openxmlformats.org/drawingml/2006/main">
              <a:ext uri="{FF2B5EF4-FFF2-40B4-BE49-F238E27FC236}">
                <a16:creationId xmlns:a16="http://schemas.microsoft.com/office/drawing/2014/main" id="{3C5FB04B-BAF4-4A08-B74F-CFF5BE6AA933}"/>
              </a:ext>
            </a:extLst>
          </p:cNvPr>
          <p:cNvSpPr>
            <a:spLocks xmlns:a="http://schemas.openxmlformats.org/drawingml/2006/main" noGrp="1"/>
          </p:cNvSpPr>
          <p:nvPr/>
        </p:nvSpPr>
        <p:spPr>
          <a:xfrm xmlns:a="http://schemas.openxmlformats.org/drawingml/2006/main">
            <a:off x="935009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2" name="Shape 120">
            <a:extLst xmlns:a="http://schemas.openxmlformats.org/drawingml/2006/main">
              <a:ext uri="{FF2B5EF4-FFF2-40B4-BE49-F238E27FC236}">
                <a16:creationId xmlns:a16="http://schemas.microsoft.com/office/drawing/2014/main" id="{F667D7DE-1DDA-4D90-A4F2-9A05B1D88FD1}"/>
              </a:ext>
            </a:extLst>
          </p:cNvPr>
          <p:cNvSpPr>
            <a:spLocks xmlns:a="http://schemas.openxmlformats.org/drawingml/2006/main" noGrp="1"/>
          </p:cNvSpPr>
          <p:nvPr/>
        </p:nvSpPr>
        <p:spPr>
          <a:xfrm xmlns:a="http://schemas.openxmlformats.org/drawingml/2006/main">
            <a:off x="964407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3" name="Shape 121">
            <a:extLst xmlns:a="http://schemas.openxmlformats.org/drawingml/2006/main">
              <a:ext uri="{FF2B5EF4-FFF2-40B4-BE49-F238E27FC236}">
                <a16:creationId xmlns:a16="http://schemas.microsoft.com/office/drawing/2014/main" id="{18C9DC67-E6C7-404A-8A9E-5A88171F7122}"/>
              </a:ext>
            </a:extLst>
          </p:cNvPr>
          <p:cNvSpPr>
            <a:spLocks xmlns:a="http://schemas.openxmlformats.org/drawingml/2006/main" noGrp="1"/>
          </p:cNvSpPr>
          <p:nvPr/>
        </p:nvSpPr>
        <p:spPr>
          <a:xfrm xmlns:a="http://schemas.openxmlformats.org/drawingml/2006/main">
            <a:off x="993805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4" name="Shape 122">
            <a:extLst xmlns:a="http://schemas.openxmlformats.org/drawingml/2006/main">
              <a:ext uri="{FF2B5EF4-FFF2-40B4-BE49-F238E27FC236}">
                <a16:creationId xmlns:a16="http://schemas.microsoft.com/office/drawing/2014/main" id="{2ED0F96E-0182-4BD7-9304-FBA127F971B4}"/>
              </a:ext>
            </a:extLst>
          </p:cNvPr>
          <p:cNvSpPr>
            <a:spLocks xmlns:a="http://schemas.openxmlformats.org/drawingml/2006/main" noGrp="1"/>
          </p:cNvSpPr>
          <p:nvPr/>
        </p:nvSpPr>
        <p:spPr>
          <a:xfrm xmlns:a="http://schemas.openxmlformats.org/drawingml/2006/main">
            <a:off x="1023203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5" name="Shape 123">
            <a:extLst xmlns:a="http://schemas.openxmlformats.org/drawingml/2006/main">
              <a:ext uri="{FF2B5EF4-FFF2-40B4-BE49-F238E27FC236}">
                <a16:creationId xmlns:a16="http://schemas.microsoft.com/office/drawing/2014/main" id="{D439BC09-D7CC-41A7-B5C7-1C25A4F2C501}"/>
              </a:ext>
            </a:extLst>
          </p:cNvPr>
          <p:cNvSpPr>
            <a:spLocks xmlns:a="http://schemas.openxmlformats.org/drawingml/2006/main" noGrp="1"/>
          </p:cNvSpPr>
          <p:nvPr/>
        </p:nvSpPr>
        <p:spPr>
          <a:xfrm xmlns:a="http://schemas.openxmlformats.org/drawingml/2006/main">
            <a:off x="1052601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6" name="Shape 124">
            <a:extLst xmlns:a="http://schemas.openxmlformats.org/drawingml/2006/main">
              <a:ext uri="{FF2B5EF4-FFF2-40B4-BE49-F238E27FC236}">
                <a16:creationId xmlns:a16="http://schemas.microsoft.com/office/drawing/2014/main" id="{A6229E80-F79D-4489-B02C-B5082EE0CD60}"/>
              </a:ext>
            </a:extLst>
          </p:cNvPr>
          <p:cNvSpPr>
            <a:spLocks xmlns:a="http://schemas.openxmlformats.org/drawingml/2006/main" noGrp="1"/>
          </p:cNvSpPr>
          <p:nvPr/>
        </p:nvSpPr>
        <p:spPr>
          <a:xfrm xmlns:a="http://schemas.openxmlformats.org/drawingml/2006/main">
            <a:off x="10819991" y="504011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7" name="Shape 125">
            <a:extLst xmlns:a="http://schemas.openxmlformats.org/drawingml/2006/main">
              <a:ext uri="{FF2B5EF4-FFF2-40B4-BE49-F238E27FC236}">
                <a16:creationId xmlns:a16="http://schemas.microsoft.com/office/drawing/2014/main" id="{B3FFA126-CF1B-4E74-9341-52F7CDF8883F}"/>
              </a:ext>
            </a:extLst>
          </p:cNvPr>
          <p:cNvSpPr>
            <a:spLocks xmlns:a="http://schemas.openxmlformats.org/drawingml/2006/main" noGrp="1"/>
          </p:cNvSpPr>
          <p:nvPr/>
        </p:nvSpPr>
        <p:spPr>
          <a:xfrm xmlns:a="http://schemas.openxmlformats.org/drawingml/2006/main">
            <a:off x="817417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8" name="Shape 126">
            <a:extLst xmlns:a="http://schemas.openxmlformats.org/drawingml/2006/main">
              <a:ext uri="{FF2B5EF4-FFF2-40B4-BE49-F238E27FC236}">
                <a16:creationId xmlns:a16="http://schemas.microsoft.com/office/drawing/2014/main" id="{49253722-2670-4F30-B3D3-9FD1460BA50D}"/>
              </a:ext>
            </a:extLst>
          </p:cNvPr>
          <p:cNvSpPr>
            <a:spLocks xmlns:a="http://schemas.openxmlformats.org/drawingml/2006/main" noGrp="1"/>
          </p:cNvSpPr>
          <p:nvPr/>
        </p:nvSpPr>
        <p:spPr>
          <a:xfrm xmlns:a="http://schemas.openxmlformats.org/drawingml/2006/main">
            <a:off x="846815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29" name="Shape 127">
            <a:extLst xmlns:a="http://schemas.openxmlformats.org/drawingml/2006/main">
              <a:ext uri="{FF2B5EF4-FFF2-40B4-BE49-F238E27FC236}">
                <a16:creationId xmlns:a16="http://schemas.microsoft.com/office/drawing/2014/main" id="{B942D852-ABD8-4FAF-9BF3-92AB812140EB}"/>
              </a:ext>
            </a:extLst>
          </p:cNvPr>
          <p:cNvSpPr>
            <a:spLocks xmlns:a="http://schemas.openxmlformats.org/drawingml/2006/main" noGrp="1"/>
          </p:cNvSpPr>
          <p:nvPr/>
        </p:nvSpPr>
        <p:spPr>
          <a:xfrm xmlns:a="http://schemas.openxmlformats.org/drawingml/2006/main">
            <a:off x="876213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30" name="Shape 128">
            <a:extLst xmlns:a="http://schemas.openxmlformats.org/drawingml/2006/main">
              <a:ext uri="{FF2B5EF4-FFF2-40B4-BE49-F238E27FC236}">
                <a16:creationId xmlns:a16="http://schemas.microsoft.com/office/drawing/2014/main" id="{9D281E67-B134-49F9-B15C-A9E55AC8ED9E}"/>
              </a:ext>
            </a:extLst>
          </p:cNvPr>
          <p:cNvSpPr>
            <a:spLocks xmlns:a="http://schemas.openxmlformats.org/drawingml/2006/main" noGrp="1"/>
          </p:cNvSpPr>
          <p:nvPr/>
        </p:nvSpPr>
        <p:spPr>
          <a:xfrm xmlns:a="http://schemas.openxmlformats.org/drawingml/2006/main">
            <a:off x="905611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31" name="Shape 129">
            <a:extLst xmlns:a="http://schemas.openxmlformats.org/drawingml/2006/main">
              <a:ext uri="{FF2B5EF4-FFF2-40B4-BE49-F238E27FC236}">
                <a16:creationId xmlns:a16="http://schemas.microsoft.com/office/drawing/2014/main" id="{4C8367F5-EA71-4CA8-A956-FDF9CC1EFCA4}"/>
              </a:ext>
            </a:extLst>
          </p:cNvPr>
          <p:cNvSpPr>
            <a:spLocks xmlns:a="http://schemas.openxmlformats.org/drawingml/2006/main" noGrp="1"/>
          </p:cNvSpPr>
          <p:nvPr/>
        </p:nvSpPr>
        <p:spPr>
          <a:xfrm xmlns:a="http://schemas.openxmlformats.org/drawingml/2006/main">
            <a:off x="935009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32" name="Shape 130">
            <a:extLst xmlns:a="http://schemas.openxmlformats.org/drawingml/2006/main">
              <a:ext uri="{FF2B5EF4-FFF2-40B4-BE49-F238E27FC236}">
                <a16:creationId xmlns:a16="http://schemas.microsoft.com/office/drawing/2014/main" id="{5097796D-4722-41AA-BAEA-33C915BFB068}"/>
              </a:ext>
            </a:extLst>
          </p:cNvPr>
          <p:cNvSpPr>
            <a:spLocks xmlns:a="http://schemas.openxmlformats.org/drawingml/2006/main" noGrp="1"/>
          </p:cNvSpPr>
          <p:nvPr/>
        </p:nvSpPr>
        <p:spPr>
          <a:xfrm xmlns:a="http://schemas.openxmlformats.org/drawingml/2006/main">
            <a:off x="964407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33" name="Shape 131">
            <a:extLst xmlns:a="http://schemas.openxmlformats.org/drawingml/2006/main">
              <a:ext uri="{FF2B5EF4-FFF2-40B4-BE49-F238E27FC236}">
                <a16:creationId xmlns:a16="http://schemas.microsoft.com/office/drawing/2014/main" id="{1CEB62E9-5150-4E82-96F9-A7BE82CC91DC}"/>
              </a:ext>
            </a:extLst>
          </p:cNvPr>
          <p:cNvSpPr>
            <a:spLocks xmlns:a="http://schemas.openxmlformats.org/drawingml/2006/main" noGrp="1"/>
          </p:cNvSpPr>
          <p:nvPr/>
        </p:nvSpPr>
        <p:spPr>
          <a:xfrm xmlns:a="http://schemas.openxmlformats.org/drawingml/2006/main">
            <a:off x="993805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34" name="Shape 132">
            <a:extLst xmlns:a="http://schemas.openxmlformats.org/drawingml/2006/main">
              <a:ext uri="{FF2B5EF4-FFF2-40B4-BE49-F238E27FC236}">
                <a16:creationId xmlns:a16="http://schemas.microsoft.com/office/drawing/2014/main" id="{C4B17759-F730-4672-8D9E-947F2B668A67}"/>
              </a:ext>
            </a:extLst>
          </p:cNvPr>
          <p:cNvSpPr>
            <a:spLocks xmlns:a="http://schemas.openxmlformats.org/drawingml/2006/main" noGrp="1"/>
          </p:cNvSpPr>
          <p:nvPr/>
        </p:nvSpPr>
        <p:spPr>
          <a:xfrm xmlns:a="http://schemas.openxmlformats.org/drawingml/2006/main">
            <a:off x="1023203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35" name="Shape 133">
            <a:extLst xmlns:a="http://schemas.openxmlformats.org/drawingml/2006/main">
              <a:ext uri="{FF2B5EF4-FFF2-40B4-BE49-F238E27FC236}">
                <a16:creationId xmlns:a16="http://schemas.microsoft.com/office/drawing/2014/main" id="{299126A1-8FA1-4916-8BAA-DD07547FFD6F}"/>
              </a:ext>
            </a:extLst>
          </p:cNvPr>
          <p:cNvSpPr>
            <a:spLocks xmlns:a="http://schemas.openxmlformats.org/drawingml/2006/main" noGrp="1"/>
          </p:cNvSpPr>
          <p:nvPr/>
        </p:nvSpPr>
        <p:spPr>
          <a:xfrm xmlns:a="http://schemas.openxmlformats.org/drawingml/2006/main">
            <a:off x="1052601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36" name="Shape 134">
            <a:extLst xmlns:a="http://schemas.openxmlformats.org/drawingml/2006/main">
              <a:ext uri="{FF2B5EF4-FFF2-40B4-BE49-F238E27FC236}">
                <a16:creationId xmlns:a16="http://schemas.microsoft.com/office/drawing/2014/main" id="{C4F1BDBE-FB6E-48D2-A8D0-2FA5AE22C110}"/>
              </a:ext>
            </a:extLst>
          </p:cNvPr>
          <p:cNvSpPr>
            <a:spLocks xmlns:a="http://schemas.openxmlformats.org/drawingml/2006/main" noGrp="1"/>
          </p:cNvSpPr>
          <p:nvPr/>
        </p:nvSpPr>
        <p:spPr>
          <a:xfrm xmlns:a="http://schemas.openxmlformats.org/drawingml/2006/main">
            <a:off x="10819991" y="5334099"/>
            <a:ext cx="253149" cy="253149"/>
          </a:xfrm>
          <a:custGeom xmlns:a="http://schemas.openxmlformats.org/drawingml/2006/main">
            <a:rect l="l" t="t" r="r" b="b"/>
            <a:pathLst>
              <a:path w="253149" h="253149">
                <a:moveTo>
                  <a:pt x="0" y="0"/>
                </a:moveTo>
                <a:lnTo>
                  <a:pt x="253149" y="0"/>
                </a:lnTo>
                <a:lnTo>
                  <a:pt x="253149" y="253149"/>
                </a:lnTo>
                <a:lnTo>
                  <a:pt x="0" y="253149"/>
                </a:lnTo>
                <a:lnTo>
                  <a:pt x="0" y="0"/>
                </a:lnTo>
                <a:close/>
              </a:path>
            </a:pathLst>
          </a:custGeom>
          <a:solidFill xmlns:a="http://schemas.openxmlformats.org/drawingml/2006/main">
            <a:srgbClr val="000000">
              <a:alpha val="0"/>
            </a:srgbClr>
          </a:solidFill>
          <a:ln xmlns:a="http://schemas.openxmlformats.org/drawingml/2006/main" w="12700">
            <a:solidFill>
              <a:srgbClr val="5F87A7">
                <a:alpha val="30196"/>
              </a:srgbClr>
            </a:solidFill>
            <a:prstDash val="solid"/>
          </a:ln>
        </p:spPr>
      </p:sp>
      <p:sp>
        <p:nvSpPr>
          <p:cNvPr id="137" name="Shape 135">
            <a:extLst xmlns:a="http://schemas.openxmlformats.org/drawingml/2006/main">
              <a:ext uri="{FF2B5EF4-FFF2-40B4-BE49-F238E27FC236}">
                <a16:creationId xmlns:a16="http://schemas.microsoft.com/office/drawing/2014/main" id="{312E3508-323F-404E-82D2-89BB162A2B29}"/>
              </a:ext>
            </a:extLst>
          </p:cNvPr>
          <p:cNvSpPr>
            <a:spLocks xmlns:a="http://schemas.openxmlformats.org/drawingml/2006/main" noGrp="1"/>
          </p:cNvSpPr>
          <p:nvPr/>
        </p:nvSpPr>
        <p:spPr>
          <a:xfrm xmlns:a="http://schemas.openxmlformats.org/drawingml/2006/main">
            <a:off x="7007821" y="5907101"/>
            <a:ext cx="130658" cy="130658"/>
          </a:xfrm>
          <a:custGeom xmlns:a="http://schemas.openxmlformats.org/drawingml/2006/main">
            <a:rect l="l" t="t" r="r" b="b"/>
            <a:pathLst>
              <a:path w="130658" h="130658">
                <a:moveTo>
                  <a:pt x="32664" y="0"/>
                </a:moveTo>
                <a:lnTo>
                  <a:pt x="97993" y="0"/>
                </a:lnTo>
                <a:cubicBezTo>
                  <a:pt x="116033" y="0"/>
                  <a:pt x="130658" y="14624"/>
                  <a:pt x="130658" y="32664"/>
                </a:cubicBezTo>
                <a:lnTo>
                  <a:pt x="130658" y="97993"/>
                </a:lnTo>
                <a:cubicBezTo>
                  <a:pt x="130658" y="116033"/>
                  <a:pt x="116033" y="130658"/>
                  <a:pt x="97993" y="130658"/>
                </a:cubicBezTo>
                <a:lnTo>
                  <a:pt x="32664" y="130658"/>
                </a:lnTo>
                <a:cubicBezTo>
                  <a:pt x="14624" y="130658"/>
                  <a:pt x="0" y="116033"/>
                  <a:pt x="0" y="97993"/>
                </a:cubicBezTo>
                <a:lnTo>
                  <a:pt x="0" y="32664"/>
                </a:lnTo>
                <a:cubicBezTo>
                  <a:pt x="0" y="14636"/>
                  <a:pt x="14636" y="0"/>
                  <a:pt x="32664" y="0"/>
                </a:cubicBezTo>
                <a:close/>
              </a:path>
            </a:pathLst>
          </a:custGeom>
          <a:solidFill xmlns:a="http://schemas.openxmlformats.org/drawingml/2006/main">
            <a:srgbClr val="E6B450"/>
          </a:solidFill>
        </p:spPr>
      </p:sp>
      <p:sp>
        <p:nvSpPr>
          <p:cNvPr id="138" name="Text 136">
            <a:extLst xmlns:a="http://schemas.openxmlformats.org/drawingml/2006/main">
              <a:ext uri="{FF2B5EF4-FFF2-40B4-BE49-F238E27FC236}">
                <a16:creationId xmlns:a16="http://schemas.microsoft.com/office/drawing/2014/main" id="{D7AE5371-3CAA-4BCF-A7E9-AEFF23BB44D7}"/>
              </a:ext>
            </a:extLst>
          </p:cNvPr>
          <p:cNvSpPr>
            <a:spLocks xmlns:a="http://schemas.openxmlformats.org/drawingml/2006/main" noGrp="1"/>
          </p:cNvSpPr>
          <p:nvPr/>
        </p:nvSpPr>
        <p:spPr>
          <a:xfrm xmlns:a="http://schemas.openxmlformats.org/drawingml/2006/main">
            <a:off x="7236472" y="5858105"/>
            <a:ext cx="1819639" cy="22865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已占用（障碍物）</a:t>
            </a:r>
            <a:endParaRPr sz="1600"/>
          </a:p>
        </p:txBody>
      </p:sp>
      <p:sp>
        <p:nvSpPr>
          <p:cNvPr id="139" name="Shape 137">
            <a:extLst xmlns:a="http://schemas.openxmlformats.org/drawingml/2006/main">
              <a:ext uri="{FF2B5EF4-FFF2-40B4-BE49-F238E27FC236}">
                <a16:creationId xmlns:a16="http://schemas.microsoft.com/office/drawing/2014/main" id="{BA6BF3E2-0203-47D0-B73F-EC1452796D86}"/>
              </a:ext>
            </a:extLst>
          </p:cNvPr>
          <p:cNvSpPr>
            <a:spLocks xmlns:a="http://schemas.openxmlformats.org/drawingml/2006/main" noGrp="1"/>
          </p:cNvSpPr>
          <p:nvPr/>
        </p:nvSpPr>
        <p:spPr>
          <a:xfrm xmlns:a="http://schemas.openxmlformats.org/drawingml/2006/main">
            <a:off x="7015988" y="6241912"/>
            <a:ext cx="114326" cy="114326"/>
          </a:xfrm>
          <a:custGeom xmlns:a="http://schemas.openxmlformats.org/drawingml/2006/main">
            <a:rect l="l" t="t" r="r" b="b"/>
            <a:pathLst>
              <a:path w="114326" h="114326">
                <a:moveTo>
                  <a:pt x="32664" y="0"/>
                </a:moveTo>
                <a:lnTo>
                  <a:pt x="81662" y="0"/>
                </a:lnTo>
                <a:cubicBezTo>
                  <a:pt x="99689" y="0"/>
                  <a:pt x="114326" y="14636"/>
                  <a:pt x="114326" y="32664"/>
                </a:cubicBezTo>
                <a:lnTo>
                  <a:pt x="114326" y="81662"/>
                </a:lnTo>
                <a:cubicBezTo>
                  <a:pt x="114326" y="99701"/>
                  <a:pt x="99701" y="114326"/>
                  <a:pt x="81662" y="114326"/>
                </a:cubicBezTo>
                <a:lnTo>
                  <a:pt x="32664" y="114326"/>
                </a:lnTo>
                <a:cubicBezTo>
                  <a:pt x="14636" y="114326"/>
                  <a:pt x="0" y="99689"/>
                  <a:pt x="0" y="81662"/>
                </a:cubicBezTo>
                <a:lnTo>
                  <a:pt x="0" y="32664"/>
                </a:lnTo>
                <a:cubicBezTo>
                  <a:pt x="0" y="14624"/>
                  <a:pt x="14624" y="0"/>
                  <a:pt x="32664" y="0"/>
                </a:cubicBezTo>
                <a:close/>
              </a:path>
            </a:pathLst>
          </a:custGeom>
          <a:solidFill xmlns:a="http://schemas.openxmlformats.org/drawingml/2006/main">
            <a:srgbClr val="000000">
              <a:alpha val="0"/>
            </a:srgbClr>
          </a:solidFill>
          <a:ln xmlns:a="http://schemas.openxmlformats.org/drawingml/2006/main" w="25400">
            <a:solidFill>
              <a:schemeClr val="accent5">
                <a:lumMod val="60000"/>
                <a:lumOff val="40000"/>
              </a:schemeClr>
            </a:solidFill>
            <a:prstDash val="solid"/>
          </a:ln>
        </p:spPr>
      </p:sp>
      <p:sp>
        <p:nvSpPr>
          <p:cNvPr id="140" name="Text 138">
            <a:extLst xmlns:a="http://schemas.openxmlformats.org/drawingml/2006/main">
              <a:ext uri="{FF2B5EF4-FFF2-40B4-BE49-F238E27FC236}">
                <a16:creationId xmlns:a16="http://schemas.microsoft.com/office/drawing/2014/main" id="{CCEA0B3E-A597-456C-ACA4-4E09071B1026}"/>
              </a:ext>
            </a:extLst>
          </p:cNvPr>
          <p:cNvSpPr>
            <a:spLocks xmlns:a="http://schemas.openxmlformats.org/drawingml/2006/main" noGrp="1"/>
          </p:cNvSpPr>
          <p:nvPr/>
        </p:nvSpPr>
        <p:spPr>
          <a:xfrm xmlns:a="http://schemas.openxmlformats.org/drawingml/2006/main">
            <a:off x="7236472" y="6184749"/>
            <a:ext cx="1819639" cy="22865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未占用（可通行）</a:t>
            </a:r>
            <a:endParaRPr sz="1600"/>
          </a:p>
        </p:txBody>
      </p:sp>
      <p:sp>
        <p:nvSpPr>
          <p:cNvPr id="141" name="Shape 139">
            <a:extLst xmlns:a="http://schemas.openxmlformats.org/drawingml/2006/main">
              <a:ext uri="{FF2B5EF4-FFF2-40B4-BE49-F238E27FC236}">
                <a16:creationId xmlns:a16="http://schemas.microsoft.com/office/drawing/2014/main" id="{25C7F446-72FC-4D4B-B4AD-85E565BE2C7A}"/>
              </a:ext>
            </a:extLst>
          </p:cNvPr>
          <p:cNvSpPr>
            <a:spLocks xmlns:a="http://schemas.openxmlformats.org/drawingml/2006/main" noGrp="1"/>
          </p:cNvSpPr>
          <p:nvPr/>
        </p:nvSpPr>
        <p:spPr>
          <a:xfrm xmlns:a="http://schemas.openxmlformats.org/drawingml/2006/main">
            <a:off x="7015988" y="6568556"/>
            <a:ext cx="114326" cy="114326"/>
          </a:xfrm>
          <a:custGeom xmlns:a="http://schemas.openxmlformats.org/drawingml/2006/main">
            <a:rect l="l" t="t" r="r" b="b"/>
            <a:pathLst>
              <a:path w="114326" h="114326">
                <a:moveTo>
                  <a:pt x="32664" y="0"/>
                </a:moveTo>
                <a:lnTo>
                  <a:pt x="81662" y="0"/>
                </a:lnTo>
                <a:cubicBezTo>
                  <a:pt x="99689" y="0"/>
                  <a:pt x="114326" y="14636"/>
                  <a:pt x="114326" y="32664"/>
                </a:cubicBezTo>
                <a:lnTo>
                  <a:pt x="114326" y="81662"/>
                </a:lnTo>
                <a:cubicBezTo>
                  <a:pt x="114326" y="99701"/>
                  <a:pt x="99701" y="114326"/>
                  <a:pt x="81662" y="114326"/>
                </a:cubicBezTo>
                <a:lnTo>
                  <a:pt x="32664" y="114326"/>
                </a:lnTo>
                <a:cubicBezTo>
                  <a:pt x="14636" y="114326"/>
                  <a:pt x="0" y="99689"/>
                  <a:pt x="0" y="81662"/>
                </a:cubicBezTo>
                <a:lnTo>
                  <a:pt x="0" y="32664"/>
                </a:lnTo>
                <a:cubicBezTo>
                  <a:pt x="0" y="14624"/>
                  <a:pt x="14624" y="0"/>
                  <a:pt x="32664" y="0"/>
                </a:cubicBezTo>
                <a:close/>
              </a:path>
            </a:pathLst>
          </a:custGeom>
          <a:solidFill xmlns:a="http://schemas.openxmlformats.org/drawingml/2006/main">
            <a:srgbClr val="5F87A7"/>
          </a:solidFill>
          <a:ln xmlns:a="http://schemas.openxmlformats.org/drawingml/2006/main" w="25400">
            <a:solidFill>
              <a:srgbClr val="E6B450"/>
            </a:solidFill>
            <a:prstDash val="solid"/>
          </a:ln>
        </p:spPr>
      </p:sp>
      <p:sp>
        <p:nvSpPr>
          <p:cNvPr id="142" name="Text 140">
            <a:extLst xmlns:a="http://schemas.openxmlformats.org/drawingml/2006/main">
              <a:ext uri="{FF2B5EF4-FFF2-40B4-BE49-F238E27FC236}">
                <a16:creationId xmlns:a16="http://schemas.microsoft.com/office/drawing/2014/main" id="{10530563-8352-4717-B622-FFEF79338991}"/>
              </a:ext>
            </a:extLst>
          </p:cNvPr>
          <p:cNvSpPr>
            <a:spLocks xmlns:a="http://schemas.openxmlformats.org/drawingml/2006/main" noGrp="1"/>
          </p:cNvSpPr>
          <p:nvPr/>
        </p:nvSpPr>
        <p:spPr>
          <a:xfrm xmlns:a="http://schemas.openxmlformats.org/drawingml/2006/main">
            <a:off x="7236472" y="6511393"/>
            <a:ext cx="1721263" cy="22865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机器人位置</a:t>
            </a:r>
            <a:endParaRPr sz="1600"/>
          </a:p>
        </p:txBody>
      </p:sp>
      <p:sp>
        <p:nvSpPr>
          <p:cNvPr id="144" name="矩形 143">
            <a:extLst xmlns:a="http://schemas.openxmlformats.org/drawingml/2006/main">
              <a:ext uri="{FF2B5EF4-FFF2-40B4-BE49-F238E27FC236}">
                <a16:creationId xmlns:a16="http://schemas.microsoft.com/office/drawing/2014/main" id="{A9937771-EB0E-7391-7344-5BAA352D31F2}"/>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5" name="文本框 144">
            <a:extLst xmlns:a="http://schemas.openxmlformats.org/drawingml/2006/main">
              <a:ext uri="{FF2B5EF4-FFF2-40B4-BE49-F238E27FC236}">
                <a16:creationId xmlns:a16="http://schemas.microsoft.com/office/drawing/2014/main" id="{75A77538-F7F2-8869-F089-21534CB5E3DB}"/>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7.1.1 </a:t>
            </a:r>
            <a:r>
              <a:rPr sz="2400" b="1">
                <a:solidFill>
                  <a:schemeClr val="accent1"/>
                </a:solidFill>
                <a:latin typeface="+mj-lt"/>
                <a:ea typeface="+mj-lt"/>
                <a:cs typeface="+mj-lt"/>
              </a:rPr>
              <a:t>度量地图</a:t>
            </a:r>
          </a:p>
        </p:txBody>
      </p:sp>
    </p:spTree>
    <p:extLst>
      <p:ext uri="{BB962C8B-B14F-4D97-AF65-F5344CB8AC3E}">
        <p14:creationId xmlns:p14="http://schemas.microsoft.com/office/powerpoint/2010/main" val="1141074130"/>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37364581-5414-4B1B-B30F-CD2104641CFD}"/>
              </a:ext>
            </a:extLst>
          </p:cNvPr>
          <p:cNvSpPr>
            <a:spLocks xmlns:a="http://schemas.openxmlformats.org/drawingml/2006/main" noGrp="1"/>
          </p:cNvSpPr>
          <p:nvPr/>
        </p:nvSpPr>
        <p:spPr>
          <a:xfrm xmlns:a="http://schemas.openxmlformats.org/drawingml/2006/main" rot="0" flipH="0" flipV="0">
            <a:off x="380434" y="1648547"/>
            <a:ext cx="7885846" cy="1811464"/>
          </a:xfrm>
          <a:custGeom xmlns:a="http://schemas.openxmlformats.org/drawingml/2006/main">
            <a:rect l="l" t="t" r="r" b="b"/>
            <a:pathLst>
              <a:path w="7681141" h="1367750">
                <a:moveTo>
                  <a:pt x="36232" y="0"/>
                </a:moveTo>
                <a:lnTo>
                  <a:pt x="7572446" y="0"/>
                </a:lnTo>
                <a:cubicBezTo>
                  <a:pt x="7632477" y="0"/>
                  <a:pt x="7681141" y="48664"/>
                  <a:pt x="7681141" y="108695"/>
                </a:cubicBezTo>
                <a:lnTo>
                  <a:pt x="7681141" y="1259055"/>
                </a:lnTo>
                <a:cubicBezTo>
                  <a:pt x="7681141" y="1319086"/>
                  <a:pt x="7632477" y="1367750"/>
                  <a:pt x="7572446" y="1367750"/>
                </a:cubicBezTo>
                <a:lnTo>
                  <a:pt x="36232" y="1367750"/>
                </a:lnTo>
                <a:cubicBezTo>
                  <a:pt x="16222" y="1367750"/>
                  <a:pt x="0" y="1351529"/>
                  <a:pt x="0" y="1331519"/>
                </a:cubicBezTo>
                <a:lnTo>
                  <a:pt x="0" y="36232"/>
                </a:lnTo>
                <a:cubicBezTo>
                  <a:pt x="0" y="16222"/>
                  <a:pt x="16222" y="0"/>
                  <a:pt x="36232"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2ABAC1D4-2970-46C4-978D-7E9FE3529F88}"/>
              </a:ext>
            </a:extLst>
          </p:cNvPr>
          <p:cNvSpPr>
            <a:spLocks xmlns:a="http://schemas.openxmlformats.org/drawingml/2006/main" noGrp="1"/>
          </p:cNvSpPr>
          <p:nvPr/>
        </p:nvSpPr>
        <p:spPr>
          <a:xfrm xmlns:a="http://schemas.openxmlformats.org/drawingml/2006/main" rot="0" flipH="0" flipV="0">
            <a:off x="380434" y="1648547"/>
            <a:ext cx="47986" cy="1811464"/>
          </a:xfrm>
          <a:custGeom xmlns:a="http://schemas.openxmlformats.org/drawingml/2006/main">
            <a:rect l="l" t="t" r="r" b="b"/>
            <a:pathLst>
              <a:path w="36232" h="1367750">
                <a:moveTo>
                  <a:pt x="36232" y="0"/>
                </a:moveTo>
                <a:lnTo>
                  <a:pt x="36232" y="0"/>
                </a:lnTo>
                <a:lnTo>
                  <a:pt x="36232" y="1367750"/>
                </a:lnTo>
                <a:lnTo>
                  <a:pt x="36232" y="1367750"/>
                </a:lnTo>
                <a:cubicBezTo>
                  <a:pt x="16222" y="1367750"/>
                  <a:pt x="0" y="1351529"/>
                  <a:pt x="0" y="1331519"/>
                </a:cubicBezTo>
                <a:lnTo>
                  <a:pt x="0" y="36232"/>
                </a:lnTo>
                <a:cubicBezTo>
                  <a:pt x="0" y="16222"/>
                  <a:pt x="16222" y="0"/>
                  <a:pt x="36232"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AB2E2577-9433-4E91-87A9-4A0ACD732745}"/>
              </a:ext>
            </a:extLst>
          </p:cNvPr>
          <p:cNvSpPr>
            <a:spLocks xmlns:a="http://schemas.openxmlformats.org/drawingml/2006/main" noGrp="1"/>
          </p:cNvSpPr>
          <p:nvPr/>
        </p:nvSpPr>
        <p:spPr>
          <a:xfrm xmlns:a="http://schemas.openxmlformats.org/drawingml/2006/main" rot="0" flipH="0" flipV="0">
            <a:off x="656353" y="1984448"/>
            <a:ext cx="323904" cy="287915"/>
          </a:xfrm>
          <a:custGeom xmlns:a="http://schemas.openxmlformats.org/drawingml/2006/main">
            <a:rect l="l" t="t" r="r" b="b"/>
            <a:pathLst>
              <a:path w="244565" h="217391">
                <a:moveTo>
                  <a:pt x="122282" y="-6793"/>
                </a:moveTo>
                <a:cubicBezTo>
                  <a:pt x="129798" y="-6793"/>
                  <a:pt x="135869" y="-722"/>
                  <a:pt x="135869" y="6793"/>
                </a:cubicBezTo>
                <a:lnTo>
                  <a:pt x="135869" y="14563"/>
                </a:lnTo>
                <a:cubicBezTo>
                  <a:pt x="177522" y="20508"/>
                  <a:pt x="210470" y="53456"/>
                  <a:pt x="216414" y="95108"/>
                </a:cubicBezTo>
                <a:lnTo>
                  <a:pt x="224184" y="95108"/>
                </a:lnTo>
                <a:cubicBezTo>
                  <a:pt x="231700" y="95108"/>
                  <a:pt x="237771" y="101180"/>
                  <a:pt x="237771" y="108695"/>
                </a:cubicBezTo>
                <a:cubicBezTo>
                  <a:pt x="237771" y="116211"/>
                  <a:pt x="231700" y="122282"/>
                  <a:pt x="224184" y="122282"/>
                </a:cubicBezTo>
                <a:lnTo>
                  <a:pt x="216414" y="122282"/>
                </a:lnTo>
                <a:cubicBezTo>
                  <a:pt x="210470" y="163935"/>
                  <a:pt x="177522" y="196883"/>
                  <a:pt x="135869" y="202827"/>
                </a:cubicBezTo>
                <a:lnTo>
                  <a:pt x="135869" y="210597"/>
                </a:lnTo>
                <a:cubicBezTo>
                  <a:pt x="135869" y="218113"/>
                  <a:pt x="129798" y="224184"/>
                  <a:pt x="122282" y="224184"/>
                </a:cubicBezTo>
                <a:cubicBezTo>
                  <a:pt x="114767" y="224184"/>
                  <a:pt x="108695" y="218113"/>
                  <a:pt x="108695" y="210597"/>
                </a:cubicBezTo>
                <a:lnTo>
                  <a:pt x="108695" y="202827"/>
                </a:lnTo>
                <a:cubicBezTo>
                  <a:pt x="67043" y="196883"/>
                  <a:pt x="34095" y="163935"/>
                  <a:pt x="28150" y="122282"/>
                </a:cubicBezTo>
                <a:lnTo>
                  <a:pt x="20380" y="122282"/>
                </a:lnTo>
                <a:cubicBezTo>
                  <a:pt x="12865" y="122282"/>
                  <a:pt x="6793" y="116211"/>
                  <a:pt x="6793" y="108695"/>
                </a:cubicBezTo>
                <a:cubicBezTo>
                  <a:pt x="6793" y="101180"/>
                  <a:pt x="12865" y="95108"/>
                  <a:pt x="20380" y="95108"/>
                </a:cubicBezTo>
                <a:lnTo>
                  <a:pt x="28150" y="95108"/>
                </a:lnTo>
                <a:cubicBezTo>
                  <a:pt x="34095" y="53456"/>
                  <a:pt x="67043" y="20508"/>
                  <a:pt x="108695" y="14563"/>
                </a:cubicBezTo>
                <a:lnTo>
                  <a:pt x="108695" y="6793"/>
                </a:lnTo>
                <a:cubicBezTo>
                  <a:pt x="108695" y="-722"/>
                  <a:pt x="114767" y="-6793"/>
                  <a:pt x="122282" y="-6793"/>
                </a:cubicBezTo>
                <a:close/>
                <a:moveTo>
                  <a:pt x="55706" y="122282"/>
                </a:moveTo>
                <a:cubicBezTo>
                  <a:pt x="61099" y="148904"/>
                  <a:pt x="82074" y="169879"/>
                  <a:pt x="108695" y="175271"/>
                </a:cubicBezTo>
                <a:lnTo>
                  <a:pt x="108695" y="169837"/>
                </a:lnTo>
                <a:cubicBezTo>
                  <a:pt x="108695" y="162321"/>
                  <a:pt x="114767" y="156250"/>
                  <a:pt x="122282" y="156250"/>
                </a:cubicBezTo>
                <a:cubicBezTo>
                  <a:pt x="129798" y="156250"/>
                  <a:pt x="135869" y="162321"/>
                  <a:pt x="135869" y="169837"/>
                </a:cubicBezTo>
                <a:lnTo>
                  <a:pt x="135869" y="175271"/>
                </a:lnTo>
                <a:cubicBezTo>
                  <a:pt x="162491" y="169879"/>
                  <a:pt x="183466" y="148904"/>
                  <a:pt x="188858" y="122282"/>
                </a:cubicBezTo>
                <a:lnTo>
                  <a:pt x="183423" y="122282"/>
                </a:lnTo>
                <a:cubicBezTo>
                  <a:pt x="175908" y="122282"/>
                  <a:pt x="169837" y="116211"/>
                  <a:pt x="169837" y="108695"/>
                </a:cubicBezTo>
                <a:cubicBezTo>
                  <a:pt x="169837" y="101180"/>
                  <a:pt x="175908" y="95108"/>
                  <a:pt x="183423" y="95108"/>
                </a:cubicBezTo>
                <a:lnTo>
                  <a:pt x="188858" y="95108"/>
                </a:lnTo>
                <a:cubicBezTo>
                  <a:pt x="183466" y="68487"/>
                  <a:pt x="162491" y="47512"/>
                  <a:pt x="135869" y="42119"/>
                </a:cubicBezTo>
                <a:lnTo>
                  <a:pt x="135869" y="47554"/>
                </a:lnTo>
                <a:cubicBezTo>
                  <a:pt x="135869" y="55070"/>
                  <a:pt x="129798" y="61141"/>
                  <a:pt x="122282" y="61141"/>
                </a:cubicBezTo>
                <a:cubicBezTo>
                  <a:pt x="114767" y="61141"/>
                  <a:pt x="108695" y="55070"/>
                  <a:pt x="108695" y="47554"/>
                </a:cubicBezTo>
                <a:lnTo>
                  <a:pt x="108695" y="42119"/>
                </a:lnTo>
                <a:cubicBezTo>
                  <a:pt x="82074" y="47512"/>
                  <a:pt x="61099" y="68487"/>
                  <a:pt x="55706" y="95108"/>
                </a:cubicBezTo>
                <a:lnTo>
                  <a:pt x="61141" y="95108"/>
                </a:lnTo>
                <a:cubicBezTo>
                  <a:pt x="68656" y="95108"/>
                  <a:pt x="74728" y="101180"/>
                  <a:pt x="74728" y="108695"/>
                </a:cubicBezTo>
                <a:cubicBezTo>
                  <a:pt x="74728" y="116211"/>
                  <a:pt x="68656" y="122282"/>
                  <a:pt x="61141" y="122282"/>
                </a:cubicBezTo>
                <a:lnTo>
                  <a:pt x="55706" y="122282"/>
                </a:lnTo>
                <a:close/>
                <a:moveTo>
                  <a:pt x="122282" y="88315"/>
                </a:moveTo>
                <a:cubicBezTo>
                  <a:pt x="133531" y="88315"/>
                  <a:pt x="142663" y="97447"/>
                  <a:pt x="142663" y="108695"/>
                </a:cubicBezTo>
                <a:cubicBezTo>
                  <a:pt x="142663" y="119944"/>
                  <a:pt x="133531" y="129076"/>
                  <a:pt x="122282" y="129076"/>
                </a:cubicBezTo>
                <a:cubicBezTo>
                  <a:pt x="111034" y="129076"/>
                  <a:pt x="101902" y="119944"/>
                  <a:pt x="101902" y="108695"/>
                </a:cubicBezTo>
                <a:cubicBezTo>
                  <a:pt x="101902" y="97447"/>
                  <a:pt x="111034" y="88315"/>
                  <a:pt x="122282" y="88315"/>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B441688C-0A86-445A-A941-F99AEF2FB979}"/>
              </a:ext>
            </a:extLst>
          </p:cNvPr>
          <p:cNvSpPr>
            <a:spLocks xmlns:a="http://schemas.openxmlformats.org/drawingml/2006/main" noGrp="1"/>
          </p:cNvSpPr>
          <p:nvPr/>
        </p:nvSpPr>
        <p:spPr>
          <a:xfrm xmlns:a="http://schemas.openxmlformats.org/drawingml/2006/main" rot="0" flipH="0" flipV="0">
            <a:off x="1138273" y="1936463"/>
            <a:ext cx="7128006" cy="38388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占用栅格地图</a:t>
            </a:r>
            <a:r>
              <a:rPr b="1">
                <a:latin typeface="微软雅黑"/>
                <a:ea typeface="微软雅黑"/>
                <a:cs typeface="微软雅黑"/>
              </a:rPr>
              <a:t>精度特点</a:t>
            </a:r>
            <a:endParaRPr/>
          </a:p>
        </p:txBody>
      </p:sp>
      <p:sp>
        <p:nvSpPr>
          <p:cNvPr id="9" name="Text 7">
            <a:extLst xmlns:a="http://schemas.openxmlformats.org/drawingml/2006/main">
              <a:ext uri="{FF2B5EF4-FFF2-40B4-BE49-F238E27FC236}">
                <a16:creationId xmlns:a16="http://schemas.microsoft.com/office/drawing/2014/main" id="{D85CCDE1-00EF-45BD-8FC4-1BA261B6793E}"/>
              </a:ext>
            </a:extLst>
          </p:cNvPr>
          <p:cNvSpPr>
            <a:spLocks xmlns:a="http://schemas.openxmlformats.org/drawingml/2006/main" noGrp="1"/>
          </p:cNvSpPr>
          <p:nvPr/>
        </p:nvSpPr>
        <p:spPr>
          <a:xfrm xmlns:a="http://schemas.openxmlformats.org/drawingml/2006/main" rot="0" flipH="0" flipV="0">
            <a:off x="1138273" y="2464306"/>
            <a:ext cx="7100342" cy="7077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占用栅格地图常用来表示具有</a:t>
            </a:r>
            <a:r>
              <a:rPr sz="1600" b="1">
                <a:latin typeface="微软雅黑"/>
                <a:ea typeface="微软雅黑"/>
                <a:cs typeface="微软雅黑"/>
              </a:rPr>
              <a:t>厘米级精度</a:t>
            </a:r>
            <a:r>
              <a:rPr sz="1600">
                <a:latin typeface="微软雅黑"/>
                <a:ea typeface="微软雅黑"/>
                <a:cs typeface="微软雅黑"/>
              </a:rPr>
              <a:t>的地图，其精度取决于</a:t>
            </a:r>
            <a:r>
              <a:rPr sz="1600">
                <a:highlight>
                  <a:srgbClr val="E6B450">
                    <a:alpha val="20000"/>
                  </a:srgbClr>
                </a:highlight>
                <a:latin typeface="微软雅黑"/>
                <a:ea typeface="微软雅黑"/>
                <a:cs typeface="微软雅黑"/>
              </a:rPr>
              <a:t> 单元格的尺寸 </a:t>
            </a:r>
            <a:r>
              <a:rPr sz="1600">
                <a:latin typeface="微软雅黑"/>
                <a:ea typeface="微软雅黑"/>
                <a:cs typeface="微软雅黑"/>
              </a:rPr>
              <a:t>，尺寸越小则精度越高，但这受限于任务和传感器精度。</a:t>
            </a:r>
            <a:endParaRPr sz="1600"/>
          </a:p>
        </p:txBody>
      </p:sp>
      <p:sp>
        <p:nvSpPr>
          <p:cNvPr id="14" name="Shape 12">
            <a:extLst xmlns:a="http://schemas.openxmlformats.org/drawingml/2006/main">
              <a:ext uri="{FF2B5EF4-FFF2-40B4-BE49-F238E27FC236}">
                <a16:creationId xmlns:a16="http://schemas.microsoft.com/office/drawing/2014/main" id="{114BDC7F-6233-4AE0-A42E-0DD7267D5919}"/>
              </a:ext>
            </a:extLst>
          </p:cNvPr>
          <p:cNvSpPr>
            <a:spLocks xmlns:a="http://schemas.openxmlformats.org/drawingml/2006/main" noGrp="1"/>
          </p:cNvSpPr>
          <p:nvPr/>
        </p:nvSpPr>
        <p:spPr>
          <a:xfrm xmlns:a="http://schemas.openxmlformats.org/drawingml/2006/main" rot="0" flipH="0" flipV="0">
            <a:off x="380434" y="4106738"/>
            <a:ext cx="7879290" cy="1811464"/>
          </a:xfrm>
          <a:custGeom xmlns:a="http://schemas.openxmlformats.org/drawingml/2006/main">
            <a:rect l="l" t="t" r="r" b="b"/>
            <a:pathLst>
              <a:path w="7681141" h="1367750">
                <a:moveTo>
                  <a:pt x="36232" y="0"/>
                </a:moveTo>
                <a:lnTo>
                  <a:pt x="7572446" y="0"/>
                </a:lnTo>
                <a:cubicBezTo>
                  <a:pt x="7632477" y="0"/>
                  <a:pt x="7681141" y="48664"/>
                  <a:pt x="7681141" y="108695"/>
                </a:cubicBezTo>
                <a:lnTo>
                  <a:pt x="7681141" y="1259055"/>
                </a:lnTo>
                <a:cubicBezTo>
                  <a:pt x="7681141" y="1319086"/>
                  <a:pt x="7632477" y="1367750"/>
                  <a:pt x="7572446" y="1367750"/>
                </a:cubicBezTo>
                <a:lnTo>
                  <a:pt x="36232" y="1367750"/>
                </a:lnTo>
                <a:cubicBezTo>
                  <a:pt x="16222" y="1367750"/>
                  <a:pt x="0" y="1351529"/>
                  <a:pt x="0" y="1331519"/>
                </a:cubicBezTo>
                <a:lnTo>
                  <a:pt x="0" y="36232"/>
                </a:lnTo>
                <a:cubicBezTo>
                  <a:pt x="0" y="16222"/>
                  <a:pt x="16222" y="0"/>
                  <a:pt x="36232" y="0"/>
                </a:cubicBezTo>
                <a:close/>
              </a:path>
            </a:pathLst>
          </a:custGeom>
          <a:solidFill xmlns:a="http://schemas.openxmlformats.org/drawingml/2006/main">
            <a:srgbClr val="5F87A7">
              <a:alpha val="10196"/>
            </a:srgbClr>
          </a:solidFill>
        </p:spPr>
      </p:sp>
      <p:sp>
        <p:nvSpPr>
          <p:cNvPr id="15" name="Shape 13">
            <a:extLst xmlns:a="http://schemas.openxmlformats.org/drawingml/2006/main">
              <a:ext uri="{FF2B5EF4-FFF2-40B4-BE49-F238E27FC236}">
                <a16:creationId xmlns:a16="http://schemas.microsoft.com/office/drawing/2014/main" id="{2E30638E-C45C-43A7-A1AD-ABD58EFFAB88}"/>
              </a:ext>
            </a:extLst>
          </p:cNvPr>
          <p:cNvSpPr>
            <a:spLocks xmlns:a="http://schemas.openxmlformats.org/drawingml/2006/main" noGrp="1"/>
          </p:cNvSpPr>
          <p:nvPr/>
        </p:nvSpPr>
        <p:spPr>
          <a:xfrm xmlns:a="http://schemas.openxmlformats.org/drawingml/2006/main" rot="0" flipH="0" flipV="0">
            <a:off x="380434" y="4106738"/>
            <a:ext cx="47986" cy="1811464"/>
          </a:xfrm>
          <a:custGeom xmlns:a="http://schemas.openxmlformats.org/drawingml/2006/main">
            <a:rect l="l" t="t" r="r" b="b"/>
            <a:pathLst>
              <a:path w="36232" h="1367750">
                <a:moveTo>
                  <a:pt x="36232" y="0"/>
                </a:moveTo>
                <a:lnTo>
                  <a:pt x="36232" y="0"/>
                </a:lnTo>
                <a:lnTo>
                  <a:pt x="36232" y="1367750"/>
                </a:lnTo>
                <a:lnTo>
                  <a:pt x="36232" y="1367750"/>
                </a:lnTo>
                <a:cubicBezTo>
                  <a:pt x="16222" y="1367750"/>
                  <a:pt x="0" y="1351529"/>
                  <a:pt x="0" y="1331519"/>
                </a:cubicBezTo>
                <a:lnTo>
                  <a:pt x="0" y="36232"/>
                </a:lnTo>
                <a:cubicBezTo>
                  <a:pt x="0" y="16222"/>
                  <a:pt x="16222" y="0"/>
                  <a:pt x="36232" y="0"/>
                </a:cubicBezTo>
                <a:close/>
              </a:path>
            </a:pathLst>
          </a:custGeom>
          <a:solidFill xmlns:a="http://schemas.openxmlformats.org/drawingml/2006/main">
            <a:srgbClr val="E6B450"/>
          </a:solidFill>
        </p:spPr>
      </p:sp>
      <p:sp>
        <p:nvSpPr>
          <p:cNvPr id="16" name="Shape 14">
            <a:extLst xmlns:a="http://schemas.openxmlformats.org/drawingml/2006/main">
              <a:ext uri="{FF2B5EF4-FFF2-40B4-BE49-F238E27FC236}">
                <a16:creationId xmlns:a16="http://schemas.microsoft.com/office/drawing/2014/main" id="{C4147031-E125-469A-BBF8-11802E88616B}"/>
              </a:ext>
            </a:extLst>
          </p:cNvPr>
          <p:cNvSpPr>
            <a:spLocks xmlns:a="http://schemas.openxmlformats.org/drawingml/2006/main" noGrp="1"/>
          </p:cNvSpPr>
          <p:nvPr/>
        </p:nvSpPr>
        <p:spPr>
          <a:xfrm xmlns:a="http://schemas.openxmlformats.org/drawingml/2006/main" rot="0" flipH="0" flipV="0">
            <a:off x="632360" y="4442639"/>
            <a:ext cx="323904" cy="287915"/>
          </a:xfrm>
          <a:custGeom xmlns:a="http://schemas.openxmlformats.org/drawingml/2006/main">
            <a:rect l="l" t="t" r="r" b="b"/>
            <a:pathLst>
              <a:path w="244565" h="217391">
                <a:moveTo>
                  <a:pt x="37322" y="4883"/>
                </a:moveTo>
                <a:cubicBezTo>
                  <a:pt x="32524" y="1953"/>
                  <a:pt x="26240" y="3524"/>
                  <a:pt x="23310" y="8322"/>
                </a:cubicBezTo>
                <a:cubicBezTo>
                  <a:pt x="12780" y="25730"/>
                  <a:pt x="6751" y="46153"/>
                  <a:pt x="6751" y="67935"/>
                </a:cubicBezTo>
                <a:cubicBezTo>
                  <a:pt x="6751" y="89716"/>
                  <a:pt x="12780" y="110139"/>
                  <a:pt x="23310" y="127547"/>
                </a:cubicBezTo>
                <a:cubicBezTo>
                  <a:pt x="26240" y="132345"/>
                  <a:pt x="32481" y="133916"/>
                  <a:pt x="37322" y="130986"/>
                </a:cubicBezTo>
                <a:cubicBezTo>
                  <a:pt x="42162" y="128057"/>
                  <a:pt x="43690" y="121815"/>
                  <a:pt x="40761" y="116975"/>
                </a:cubicBezTo>
                <a:cubicBezTo>
                  <a:pt x="32142" y="102709"/>
                  <a:pt x="27174" y="85895"/>
                  <a:pt x="27174" y="67935"/>
                </a:cubicBezTo>
                <a:cubicBezTo>
                  <a:pt x="27174" y="49974"/>
                  <a:pt x="32142" y="33161"/>
                  <a:pt x="40803" y="18852"/>
                </a:cubicBezTo>
                <a:cubicBezTo>
                  <a:pt x="43733" y="14054"/>
                  <a:pt x="42162" y="7770"/>
                  <a:pt x="37364" y="4840"/>
                </a:cubicBezTo>
                <a:close/>
                <a:moveTo>
                  <a:pt x="207201" y="4883"/>
                </a:moveTo>
                <a:cubicBezTo>
                  <a:pt x="202403" y="7812"/>
                  <a:pt x="200832" y="14054"/>
                  <a:pt x="203761" y="18894"/>
                </a:cubicBezTo>
                <a:cubicBezTo>
                  <a:pt x="212423" y="33203"/>
                  <a:pt x="217391" y="50017"/>
                  <a:pt x="217391" y="67977"/>
                </a:cubicBezTo>
                <a:cubicBezTo>
                  <a:pt x="217391" y="85937"/>
                  <a:pt x="212423" y="102751"/>
                  <a:pt x="203761" y="117060"/>
                </a:cubicBezTo>
                <a:cubicBezTo>
                  <a:pt x="200832" y="121858"/>
                  <a:pt x="202403" y="128142"/>
                  <a:pt x="207201" y="131071"/>
                </a:cubicBezTo>
                <a:cubicBezTo>
                  <a:pt x="211998" y="134001"/>
                  <a:pt x="218282" y="132430"/>
                  <a:pt x="221212" y="127632"/>
                </a:cubicBezTo>
                <a:cubicBezTo>
                  <a:pt x="231742" y="110224"/>
                  <a:pt x="237771" y="89801"/>
                  <a:pt x="237771" y="68020"/>
                </a:cubicBezTo>
                <a:cubicBezTo>
                  <a:pt x="237771" y="46238"/>
                  <a:pt x="231742" y="25730"/>
                  <a:pt x="221212" y="8322"/>
                </a:cubicBezTo>
                <a:cubicBezTo>
                  <a:pt x="218282" y="3524"/>
                  <a:pt x="212041" y="1953"/>
                  <a:pt x="207201" y="4883"/>
                </a:cubicBezTo>
                <a:close/>
                <a:moveTo>
                  <a:pt x="135869" y="91457"/>
                </a:moveTo>
                <a:cubicBezTo>
                  <a:pt x="143979" y="86744"/>
                  <a:pt x="149456" y="77997"/>
                  <a:pt x="149456" y="67935"/>
                </a:cubicBezTo>
                <a:cubicBezTo>
                  <a:pt x="149456" y="52947"/>
                  <a:pt x="137270" y="40761"/>
                  <a:pt x="122282" y="40761"/>
                </a:cubicBezTo>
                <a:cubicBezTo>
                  <a:pt x="107294" y="40761"/>
                  <a:pt x="95108" y="52947"/>
                  <a:pt x="95108" y="67935"/>
                </a:cubicBezTo>
                <a:cubicBezTo>
                  <a:pt x="95108" y="77997"/>
                  <a:pt x="100586" y="86786"/>
                  <a:pt x="108695" y="91457"/>
                </a:cubicBezTo>
                <a:lnTo>
                  <a:pt x="108695" y="203804"/>
                </a:lnTo>
                <a:cubicBezTo>
                  <a:pt x="108695" y="211319"/>
                  <a:pt x="114767" y="217391"/>
                  <a:pt x="122282" y="217391"/>
                </a:cubicBezTo>
                <a:cubicBezTo>
                  <a:pt x="129798" y="217391"/>
                  <a:pt x="135869" y="211319"/>
                  <a:pt x="135869" y="203804"/>
                </a:cubicBezTo>
                <a:lnTo>
                  <a:pt x="135869" y="91457"/>
                </a:lnTo>
                <a:close/>
                <a:moveTo>
                  <a:pt x="76511" y="38638"/>
                </a:moveTo>
                <a:cubicBezTo>
                  <a:pt x="79568" y="33882"/>
                  <a:pt x="78167" y="27598"/>
                  <a:pt x="73454" y="24541"/>
                </a:cubicBezTo>
                <a:cubicBezTo>
                  <a:pt x="68741" y="21484"/>
                  <a:pt x="62415" y="22885"/>
                  <a:pt x="59358" y="27598"/>
                </a:cubicBezTo>
                <a:cubicBezTo>
                  <a:pt x="51885" y="39232"/>
                  <a:pt x="47554" y="53074"/>
                  <a:pt x="47554" y="67935"/>
                </a:cubicBezTo>
                <a:cubicBezTo>
                  <a:pt x="47554" y="82795"/>
                  <a:pt x="51885" y="96637"/>
                  <a:pt x="59358" y="108271"/>
                </a:cubicBezTo>
                <a:cubicBezTo>
                  <a:pt x="62415" y="113026"/>
                  <a:pt x="68699" y="114385"/>
                  <a:pt x="73454" y="111328"/>
                </a:cubicBezTo>
                <a:cubicBezTo>
                  <a:pt x="78210" y="108271"/>
                  <a:pt x="79568" y="101987"/>
                  <a:pt x="76511" y="97231"/>
                </a:cubicBezTo>
                <a:cubicBezTo>
                  <a:pt x="71077" y="88782"/>
                  <a:pt x="67935" y="78719"/>
                  <a:pt x="67935" y="67935"/>
                </a:cubicBezTo>
                <a:cubicBezTo>
                  <a:pt x="67935" y="57150"/>
                  <a:pt x="71077" y="47087"/>
                  <a:pt x="76511" y="38638"/>
                </a:cubicBezTo>
                <a:close/>
                <a:moveTo>
                  <a:pt x="185207" y="27598"/>
                </a:moveTo>
                <a:cubicBezTo>
                  <a:pt x="182150" y="22843"/>
                  <a:pt x="175866" y="21484"/>
                  <a:pt x="171110" y="24541"/>
                </a:cubicBezTo>
                <a:cubicBezTo>
                  <a:pt x="166355" y="27598"/>
                  <a:pt x="164996" y="33882"/>
                  <a:pt x="168053" y="38638"/>
                </a:cubicBezTo>
                <a:cubicBezTo>
                  <a:pt x="173488" y="47087"/>
                  <a:pt x="176630" y="57150"/>
                  <a:pt x="176630" y="67935"/>
                </a:cubicBezTo>
                <a:cubicBezTo>
                  <a:pt x="176630" y="78719"/>
                  <a:pt x="173488" y="88782"/>
                  <a:pt x="168053" y="97231"/>
                </a:cubicBezTo>
                <a:cubicBezTo>
                  <a:pt x="164996" y="101987"/>
                  <a:pt x="166397" y="108271"/>
                  <a:pt x="171110" y="111328"/>
                </a:cubicBezTo>
                <a:cubicBezTo>
                  <a:pt x="175823" y="114385"/>
                  <a:pt x="182150" y="112984"/>
                  <a:pt x="185207" y="108271"/>
                </a:cubicBezTo>
                <a:cubicBezTo>
                  <a:pt x="192680" y="96637"/>
                  <a:pt x="197010" y="82795"/>
                  <a:pt x="197010" y="67935"/>
                </a:cubicBezTo>
                <a:cubicBezTo>
                  <a:pt x="197010" y="53074"/>
                  <a:pt x="192680" y="39232"/>
                  <a:pt x="185207" y="27598"/>
                </a:cubicBez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878440F6-CA6C-4811-B428-7A3C42E7194C}"/>
              </a:ext>
            </a:extLst>
          </p:cNvPr>
          <p:cNvSpPr>
            <a:spLocks xmlns:a="http://schemas.openxmlformats.org/drawingml/2006/main" noGrp="1"/>
          </p:cNvSpPr>
          <p:nvPr/>
        </p:nvSpPr>
        <p:spPr>
          <a:xfrm xmlns:a="http://schemas.openxmlformats.org/drawingml/2006/main" rot="0" flipH="0" flipV="0">
            <a:off x="1085039" y="4394653"/>
            <a:ext cx="7164891" cy="38388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传感器适配</a:t>
            </a:r>
            <a:endParaRPr/>
          </a:p>
        </p:txBody>
      </p:sp>
      <p:sp>
        <p:nvSpPr>
          <p:cNvPr id="18" name="Text 16">
            <a:extLst xmlns:a="http://schemas.openxmlformats.org/drawingml/2006/main">
              <a:ext uri="{FF2B5EF4-FFF2-40B4-BE49-F238E27FC236}">
                <a16:creationId xmlns:a16="http://schemas.microsoft.com/office/drawing/2014/main" id="{A7CACD10-1821-436E-A2D2-98BDF99BDA5F}"/>
              </a:ext>
            </a:extLst>
          </p:cNvPr>
          <p:cNvSpPr>
            <a:spLocks xmlns:a="http://schemas.openxmlformats.org/drawingml/2006/main" noGrp="1"/>
          </p:cNvSpPr>
          <p:nvPr/>
        </p:nvSpPr>
        <p:spPr>
          <a:xfrm xmlns:a="http://schemas.openxmlformats.org/drawingml/2006/main" rot="0" flipH="0" flipV="0">
            <a:off x="1085039" y="4922497"/>
            <a:ext cx="7137227" cy="7077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基于占用栅格的地图表示方法特别适合用来处理来自</a:t>
            </a:r>
            <a:r>
              <a:rPr sz="1600">
                <a:highlight>
                  <a:srgbClr val="E6B450">
                    <a:alpha val="20000"/>
                  </a:srgbClr>
                </a:highlight>
                <a:latin typeface="微软雅黑"/>
                <a:ea typeface="微软雅黑"/>
                <a:cs typeface="微软雅黑"/>
              </a:rPr>
              <a:t> 超声波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激光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毫米波雷达 </a:t>
            </a:r>
            <a:r>
              <a:rPr sz="1600">
                <a:latin typeface="微软雅黑"/>
                <a:ea typeface="微软雅黑"/>
                <a:cs typeface="微软雅黑"/>
              </a:rPr>
              <a:t>等传感器的距离测量数据，它可以直观地利用这些距离测量数据来"标记"出障碍物的位置。</a:t>
            </a:r>
            <a:endParaRPr sz="1600"/>
          </a:p>
        </p:txBody>
      </p:sp>
      <p:sp>
        <p:nvSpPr>
          <p:cNvPr id="44" name="矩形 43">
            <a:extLst xmlns:a="http://schemas.openxmlformats.org/drawingml/2006/main">
              <a:ext uri="{FF2B5EF4-FFF2-40B4-BE49-F238E27FC236}">
                <a16:creationId xmlns:a16="http://schemas.microsoft.com/office/drawing/2014/main" id="{64DB8E2D-C85C-D8EF-DDBE-A5D154D31813}"/>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文本框 44">
            <a:extLst xmlns:a="http://schemas.openxmlformats.org/drawingml/2006/main">
              <a:ext uri="{FF2B5EF4-FFF2-40B4-BE49-F238E27FC236}">
                <a16:creationId xmlns:a16="http://schemas.microsoft.com/office/drawing/2014/main" id="{19ED112C-42FB-6432-5A46-33565065496E}"/>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7.1.1 </a:t>
            </a:r>
            <a:r>
              <a:rPr sz="2400" b="1">
                <a:solidFill>
                  <a:schemeClr val="accent1"/>
                </a:solidFill>
                <a:latin typeface="+mj-lt"/>
                <a:ea typeface="+mj-lt"/>
                <a:cs typeface="+mj-lt"/>
              </a:rPr>
              <a:t>度量地图</a:t>
            </a:r>
          </a:p>
        </p:txBody>
      </p:sp>
      <p:pic>
        <p:nvPicPr>
          <p:cNvPr id="59" name="图片 45"/>
          <p:cNvPicPr>
            <a:picLocks xmlns:a="http://schemas.openxmlformats.org/drawingml/2006/main" noChangeAspect="1"/>
          </p:cNvPicPr>
          <p:nvPr/>
        </p:nvPicPr>
        <p:blipFill>
          <a:blip xmlns:r="http://schemas.openxmlformats.org/officeDocument/2006/relationships" xmlns:a="http://schemas.openxmlformats.org/drawingml/2006/main" r:embed="R0332978b76a3430a"/>
          <a:srcRect xmlns:a="http://schemas.openxmlformats.org/drawingml/2006/main" l="0" t="0" r="0" b="0"/>
          <a:stretch xmlns:a="http://schemas.openxmlformats.org/drawingml/2006/main">
            <a:fillRect l="0" t="0" r="0" b="0"/>
          </a:stretch>
        </p:blipFill>
        <p:spPr>
          <a:xfrm xmlns:a="http://schemas.openxmlformats.org/drawingml/2006/main">
            <a:off x="8419081" y="1393779"/>
            <a:ext cx="3102610" cy="48958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3751021037"/>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AED1A6E8-05DB-42F6-8FD5-8CAFAE6AB068}"/>
              </a:ext>
            </a:extLst>
          </p:cNvPr>
          <p:cNvSpPr>
            <a:spLocks xmlns:a="http://schemas.openxmlformats.org/drawingml/2006/main" noGrp="1"/>
          </p:cNvSpPr>
          <p:nvPr/>
        </p:nvSpPr>
        <p:spPr>
          <a:xfrm xmlns:a="http://schemas.openxmlformats.org/drawingml/2006/main">
            <a:off x="352176" y="1712361"/>
            <a:ext cx="6353424" cy="2067159"/>
          </a:xfrm>
          <a:custGeom xmlns:a="http://schemas.openxmlformats.org/drawingml/2006/main">
            <a:rect l="l" t="t" r="r" b="b"/>
            <a:pathLst>
              <a:path w="7487934" h="1509326">
                <a:moveTo>
                  <a:pt x="33541" y="0"/>
                </a:moveTo>
                <a:lnTo>
                  <a:pt x="7387307" y="0"/>
                </a:lnTo>
                <a:cubicBezTo>
                  <a:pt x="7442882" y="0"/>
                  <a:pt x="7487934" y="45052"/>
                  <a:pt x="7487934" y="100627"/>
                </a:cubicBezTo>
                <a:lnTo>
                  <a:pt x="7487934" y="1408699"/>
                </a:lnTo>
                <a:cubicBezTo>
                  <a:pt x="7487934" y="1464274"/>
                  <a:pt x="7442882" y="1509326"/>
                  <a:pt x="7387307" y="1509326"/>
                </a:cubicBezTo>
                <a:lnTo>
                  <a:pt x="33541" y="1509326"/>
                </a:lnTo>
                <a:cubicBezTo>
                  <a:pt x="15017" y="1509326"/>
                  <a:pt x="0" y="1494309"/>
                  <a:pt x="0" y="1475785"/>
                </a:cubicBezTo>
                <a:lnTo>
                  <a:pt x="0" y="33541"/>
                </a:lnTo>
                <a:cubicBezTo>
                  <a:pt x="0" y="15029"/>
                  <a:pt x="15029" y="0"/>
                  <a:pt x="33541"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E2155D3A-F511-4A72-9275-DA10053ED956}"/>
              </a:ext>
            </a:extLst>
          </p:cNvPr>
          <p:cNvSpPr>
            <a:spLocks xmlns:a="http://schemas.openxmlformats.org/drawingml/2006/main" noGrp="1"/>
          </p:cNvSpPr>
          <p:nvPr/>
        </p:nvSpPr>
        <p:spPr>
          <a:xfrm xmlns:a="http://schemas.openxmlformats.org/drawingml/2006/main">
            <a:off x="352176" y="1712361"/>
            <a:ext cx="33541" cy="2067159"/>
          </a:xfrm>
          <a:custGeom xmlns:a="http://schemas.openxmlformats.org/drawingml/2006/main">
            <a:rect l="l" t="t" r="r" b="b"/>
            <a:pathLst>
              <a:path w="33541" h="1509326">
                <a:moveTo>
                  <a:pt x="33541" y="0"/>
                </a:moveTo>
                <a:lnTo>
                  <a:pt x="33541" y="0"/>
                </a:lnTo>
                <a:lnTo>
                  <a:pt x="33541" y="1509326"/>
                </a:lnTo>
                <a:lnTo>
                  <a:pt x="33541" y="1509326"/>
                </a:lnTo>
                <a:cubicBezTo>
                  <a:pt x="15017" y="1509326"/>
                  <a:pt x="0" y="1494309"/>
                  <a:pt x="0" y="1475785"/>
                </a:cubicBezTo>
                <a:lnTo>
                  <a:pt x="0" y="33541"/>
                </a:lnTo>
                <a:cubicBezTo>
                  <a:pt x="0" y="15029"/>
                  <a:pt x="15029" y="0"/>
                  <a:pt x="33541"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E09ADB4A-F283-4B94-AE37-C66E0E7014CF}"/>
              </a:ext>
            </a:extLst>
          </p:cNvPr>
          <p:cNvSpPr>
            <a:spLocks xmlns:a="http://schemas.openxmlformats.org/drawingml/2006/main" noGrp="1"/>
          </p:cNvSpPr>
          <p:nvPr/>
        </p:nvSpPr>
        <p:spPr>
          <a:xfrm xmlns:a="http://schemas.openxmlformats.org/drawingml/2006/main">
            <a:off x="532457" y="1947146"/>
            <a:ext cx="201243" cy="201243"/>
          </a:xfrm>
          <a:custGeom xmlns:a="http://schemas.openxmlformats.org/drawingml/2006/main">
            <a:rect l="l" t="t" r="r" b="b"/>
            <a:pathLst>
              <a:path w="201243" h="201243">
                <a:moveTo>
                  <a:pt x="84389" y="275"/>
                </a:moveTo>
                <a:cubicBezTo>
                  <a:pt x="91188" y="1729"/>
                  <a:pt x="95512" y="8411"/>
                  <a:pt x="94058" y="15211"/>
                </a:cubicBezTo>
                <a:lnTo>
                  <a:pt x="86550" y="50311"/>
                </a:lnTo>
                <a:lnTo>
                  <a:pt x="136272" y="50311"/>
                </a:lnTo>
                <a:lnTo>
                  <a:pt x="144919" y="9944"/>
                </a:lnTo>
                <a:cubicBezTo>
                  <a:pt x="146373" y="3144"/>
                  <a:pt x="153055" y="-1179"/>
                  <a:pt x="159855" y="275"/>
                </a:cubicBezTo>
                <a:cubicBezTo>
                  <a:pt x="166655" y="1729"/>
                  <a:pt x="170978" y="8411"/>
                  <a:pt x="169524" y="15211"/>
                </a:cubicBezTo>
                <a:lnTo>
                  <a:pt x="162017" y="50311"/>
                </a:lnTo>
                <a:lnTo>
                  <a:pt x="188666" y="50311"/>
                </a:lnTo>
                <a:cubicBezTo>
                  <a:pt x="195623" y="50311"/>
                  <a:pt x="201243" y="55932"/>
                  <a:pt x="201243" y="62889"/>
                </a:cubicBezTo>
                <a:cubicBezTo>
                  <a:pt x="201243" y="69846"/>
                  <a:pt x="195623" y="75466"/>
                  <a:pt x="188666" y="75466"/>
                </a:cubicBezTo>
                <a:lnTo>
                  <a:pt x="156593" y="75466"/>
                </a:lnTo>
                <a:lnTo>
                  <a:pt x="145823" y="125777"/>
                </a:lnTo>
                <a:lnTo>
                  <a:pt x="172472" y="125777"/>
                </a:lnTo>
                <a:cubicBezTo>
                  <a:pt x="179429" y="125777"/>
                  <a:pt x="185050" y="131398"/>
                  <a:pt x="185050" y="138355"/>
                </a:cubicBezTo>
                <a:cubicBezTo>
                  <a:pt x="185050" y="145312"/>
                  <a:pt x="179429" y="150933"/>
                  <a:pt x="172472" y="150933"/>
                </a:cubicBezTo>
                <a:lnTo>
                  <a:pt x="140399" y="150933"/>
                </a:lnTo>
                <a:lnTo>
                  <a:pt x="131752" y="191299"/>
                </a:lnTo>
                <a:cubicBezTo>
                  <a:pt x="130297" y="198099"/>
                  <a:pt x="123615" y="202423"/>
                  <a:pt x="116816" y="200968"/>
                </a:cubicBezTo>
                <a:cubicBezTo>
                  <a:pt x="110016" y="199514"/>
                  <a:pt x="105692" y="192832"/>
                  <a:pt x="107146" y="186032"/>
                </a:cubicBezTo>
                <a:lnTo>
                  <a:pt x="114654" y="150933"/>
                </a:lnTo>
                <a:lnTo>
                  <a:pt x="64932" y="150933"/>
                </a:lnTo>
                <a:lnTo>
                  <a:pt x="56285" y="191299"/>
                </a:lnTo>
                <a:cubicBezTo>
                  <a:pt x="54831" y="198099"/>
                  <a:pt x="48149" y="202423"/>
                  <a:pt x="41349" y="200968"/>
                </a:cubicBezTo>
                <a:cubicBezTo>
                  <a:pt x="34549" y="199514"/>
                  <a:pt x="30226" y="192832"/>
                  <a:pt x="31680" y="186032"/>
                </a:cubicBezTo>
                <a:lnTo>
                  <a:pt x="39227" y="150933"/>
                </a:lnTo>
                <a:lnTo>
                  <a:pt x="12578" y="150933"/>
                </a:lnTo>
                <a:cubicBezTo>
                  <a:pt x="5621" y="150933"/>
                  <a:pt x="0" y="145312"/>
                  <a:pt x="0" y="138355"/>
                </a:cubicBezTo>
                <a:cubicBezTo>
                  <a:pt x="0" y="131398"/>
                  <a:pt x="5621" y="125777"/>
                  <a:pt x="12578" y="125777"/>
                </a:cubicBezTo>
                <a:lnTo>
                  <a:pt x="44651" y="125777"/>
                </a:lnTo>
                <a:lnTo>
                  <a:pt x="55421" y="75466"/>
                </a:lnTo>
                <a:lnTo>
                  <a:pt x="28772" y="75466"/>
                </a:lnTo>
                <a:cubicBezTo>
                  <a:pt x="21814" y="75466"/>
                  <a:pt x="16194" y="69846"/>
                  <a:pt x="16194" y="62889"/>
                </a:cubicBezTo>
                <a:cubicBezTo>
                  <a:pt x="16194" y="55932"/>
                  <a:pt x="21814" y="50311"/>
                  <a:pt x="28772" y="50311"/>
                </a:cubicBezTo>
                <a:lnTo>
                  <a:pt x="60845" y="50311"/>
                </a:lnTo>
                <a:lnTo>
                  <a:pt x="69492" y="9944"/>
                </a:lnTo>
                <a:cubicBezTo>
                  <a:pt x="70907" y="3144"/>
                  <a:pt x="77589" y="-1179"/>
                  <a:pt x="84389" y="275"/>
                </a:cubicBezTo>
                <a:close/>
                <a:moveTo>
                  <a:pt x="81126" y="75466"/>
                </a:moveTo>
                <a:lnTo>
                  <a:pt x="70357" y="125777"/>
                </a:lnTo>
                <a:lnTo>
                  <a:pt x="120078" y="125777"/>
                </a:lnTo>
                <a:lnTo>
                  <a:pt x="130848" y="75466"/>
                </a:lnTo>
                <a:lnTo>
                  <a:pt x="81126" y="75466"/>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B310F79C-487A-4B80-9BDB-51D5AE034026}"/>
              </a:ext>
            </a:extLst>
          </p:cNvPr>
          <p:cNvSpPr>
            <a:spLocks xmlns:a="http://schemas.openxmlformats.org/drawingml/2006/main" noGrp="1"/>
          </p:cNvSpPr>
          <p:nvPr/>
        </p:nvSpPr>
        <p:spPr>
          <a:xfrm xmlns:a="http://schemas.openxmlformats.org/drawingml/2006/main">
            <a:off x="833274" y="1913606"/>
            <a:ext cx="6900974" cy="2683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占用栅格的</a:t>
            </a:r>
            <a:r>
              <a:rPr b="1">
                <a:latin typeface="微软雅黑"/>
                <a:ea typeface="微软雅黑"/>
                <a:cs typeface="微软雅黑"/>
              </a:rPr>
              <a:t>计数器</a:t>
            </a:r>
            <a:endParaRPr sz="2000"/>
          </a:p>
        </p:txBody>
      </p:sp>
      <p:sp>
        <p:nvSpPr>
          <p:cNvPr id="9" name="Text 7">
            <a:extLst xmlns:a="http://schemas.openxmlformats.org/drawingml/2006/main">
              <a:ext uri="{FF2B5EF4-FFF2-40B4-BE49-F238E27FC236}">
                <a16:creationId xmlns:a16="http://schemas.microsoft.com/office/drawing/2014/main" id="{1A04005F-BD5D-47AD-8697-EC6248DF5C41}"/>
              </a:ext>
            </a:extLst>
          </p:cNvPr>
          <p:cNvSpPr>
            <a:spLocks xmlns:a="http://schemas.openxmlformats.org/drawingml/2006/main" noGrp="1"/>
          </p:cNvSpPr>
          <p:nvPr/>
        </p:nvSpPr>
        <p:spPr>
          <a:xfrm xmlns:a="http://schemas.openxmlformats.org/drawingml/2006/main">
            <a:off x="833274" y="2282552"/>
            <a:ext cx="5662353" cy="13411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具体来说，占用栅格图中的</a:t>
            </a:r>
            <a:r>
              <a:rPr sz="1600" b="1">
                <a:latin typeface="微软雅黑"/>
                <a:ea typeface="微软雅黑"/>
                <a:cs typeface="微软雅黑"/>
              </a:rPr>
              <a:t>每个单元格</a:t>
            </a:r>
            <a:r>
              <a:rPr sz="1600">
                <a:latin typeface="微软雅黑"/>
                <a:ea typeface="微软雅黑"/>
                <a:cs typeface="微软雅黑"/>
              </a:rPr>
              <a:t>都会关联一个</a:t>
            </a:r>
            <a:r>
              <a:rPr sz="1600">
                <a:highlight>
                  <a:srgbClr val="E6B450">
                    <a:alpha val="20000"/>
                  </a:srgbClr>
                </a:highlight>
                <a:latin typeface="微软雅黑"/>
                <a:ea typeface="微软雅黑"/>
                <a:cs typeface="微软雅黑"/>
              </a:rPr>
              <a:t> 计数器 </a:t>
            </a:r>
            <a:r>
              <a:rPr sz="1600">
                <a:latin typeface="微软雅黑"/>
                <a:ea typeface="微软雅黑"/>
                <a:cs typeface="微软雅黑"/>
              </a:rPr>
              <a:t>，用以记录该方格被传感器检测到的次数。如果某单元格的计数器为</a:t>
            </a:r>
            <a:r>
              <a:rPr sz="1600" b="1">
                <a:latin typeface="微软雅黑"/>
                <a:ea typeface="微软雅黑"/>
                <a:cs typeface="微软雅黑"/>
              </a:rPr>
              <a:t>零</a:t>
            </a:r>
            <a:r>
              <a:rPr sz="1600">
                <a:latin typeface="微软雅黑"/>
                <a:ea typeface="微软雅黑"/>
                <a:cs typeface="微软雅黑"/>
              </a:rPr>
              <a:t>，则认为该单元格是</a:t>
            </a:r>
            <a:r>
              <a:rPr sz="1600" b="1">
                <a:latin typeface="微软雅黑"/>
                <a:ea typeface="微软雅黑"/>
                <a:cs typeface="微软雅黑"/>
              </a:rPr>
              <a:t>"未占用"</a:t>
            </a:r>
            <a:r>
              <a:rPr sz="1600">
                <a:latin typeface="微软雅黑"/>
                <a:ea typeface="微软雅黑"/>
                <a:cs typeface="微软雅黑"/>
              </a:rPr>
              <a:t>；相反，若计数器值超过预设的</a:t>
            </a:r>
            <a:r>
              <a:rPr sz="1600" b="1">
                <a:latin typeface="微软雅黑"/>
                <a:ea typeface="微软雅黑"/>
                <a:cs typeface="微软雅黑"/>
              </a:rPr>
              <a:t>阈值</a:t>
            </a:r>
            <a:r>
              <a:rPr sz="1600">
                <a:latin typeface="微软雅黑"/>
                <a:ea typeface="微软雅黑"/>
                <a:cs typeface="微软雅黑"/>
              </a:rPr>
              <a:t>，则认为该单元格</a:t>
            </a:r>
            <a:r>
              <a:rPr sz="1600" b="1">
                <a:latin typeface="微软雅黑"/>
                <a:ea typeface="微软雅黑"/>
                <a:cs typeface="微软雅黑"/>
              </a:rPr>
              <a:t>"已占用"</a:t>
            </a:r>
            <a:r>
              <a:rPr sz="1600">
                <a:latin typeface="微软雅黑"/>
                <a:ea typeface="微软雅黑"/>
                <a:cs typeface="微软雅黑"/>
              </a:rPr>
              <a:t>。</a:t>
            </a:r>
            <a:endParaRPr sz="2400"/>
          </a:p>
        </p:txBody>
      </p:sp>
      <p:sp>
        <p:nvSpPr>
          <p:cNvPr id="23" name="Shape 21">
            <a:extLst xmlns:a="http://schemas.openxmlformats.org/drawingml/2006/main">
              <a:ext uri="{FF2B5EF4-FFF2-40B4-BE49-F238E27FC236}">
                <a16:creationId xmlns:a16="http://schemas.microsoft.com/office/drawing/2014/main" id="{EC19AC6E-A0D7-4CF4-9BFC-A8FD28D61AC8}"/>
              </a:ext>
            </a:extLst>
          </p:cNvPr>
          <p:cNvSpPr>
            <a:spLocks xmlns:a="http://schemas.openxmlformats.org/drawingml/2006/main" noGrp="1"/>
          </p:cNvSpPr>
          <p:nvPr/>
        </p:nvSpPr>
        <p:spPr>
          <a:xfrm xmlns:a="http://schemas.openxmlformats.org/drawingml/2006/main">
            <a:off x="339599" y="4099560"/>
            <a:ext cx="6366002" cy="1648132"/>
          </a:xfrm>
          <a:custGeom xmlns:a="http://schemas.openxmlformats.org/drawingml/2006/main">
            <a:rect l="l" t="t" r="r" b="b"/>
            <a:pathLst>
              <a:path w="7496319" h="1115224">
                <a:moveTo>
                  <a:pt x="100627" y="0"/>
                </a:moveTo>
                <a:lnTo>
                  <a:pt x="7395692" y="0"/>
                </a:lnTo>
                <a:cubicBezTo>
                  <a:pt x="7451267" y="0"/>
                  <a:pt x="7496319" y="45052"/>
                  <a:pt x="7496319" y="100627"/>
                </a:cubicBezTo>
                <a:lnTo>
                  <a:pt x="7496319" y="1014598"/>
                </a:lnTo>
                <a:cubicBezTo>
                  <a:pt x="7496319" y="1070172"/>
                  <a:pt x="7451267" y="1115224"/>
                  <a:pt x="7395692" y="1115224"/>
                </a:cubicBezTo>
                <a:lnTo>
                  <a:pt x="100627" y="1115224"/>
                </a:lnTo>
                <a:cubicBezTo>
                  <a:pt x="45052" y="1115224"/>
                  <a:pt x="0" y="1070172"/>
                  <a:pt x="0" y="1014598"/>
                </a:cubicBezTo>
                <a:lnTo>
                  <a:pt x="0" y="100627"/>
                </a:lnTo>
                <a:cubicBezTo>
                  <a:pt x="0" y="45089"/>
                  <a:pt x="45089" y="0"/>
                  <a:pt x="10062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4" name="Shape 22">
            <a:extLst xmlns:a="http://schemas.openxmlformats.org/drawingml/2006/main">
              <a:ext uri="{FF2B5EF4-FFF2-40B4-BE49-F238E27FC236}">
                <a16:creationId xmlns:a16="http://schemas.microsoft.com/office/drawing/2014/main" id="{EFDA627D-60C7-4E29-A1A6-FB9A010B44E6}"/>
              </a:ext>
            </a:extLst>
          </p:cNvPr>
          <p:cNvSpPr>
            <a:spLocks xmlns:a="http://schemas.openxmlformats.org/drawingml/2006/main" noGrp="1"/>
          </p:cNvSpPr>
          <p:nvPr/>
        </p:nvSpPr>
        <p:spPr>
          <a:xfrm xmlns:a="http://schemas.openxmlformats.org/drawingml/2006/main">
            <a:off x="532457" y="4299424"/>
            <a:ext cx="167703" cy="167703"/>
          </a:xfrm>
          <a:custGeom xmlns:a="http://schemas.openxmlformats.org/drawingml/2006/main">
            <a:rect l="l" t="t" r="r" b="b"/>
            <a:pathLst>
              <a:path w="167703" h="167703">
                <a:moveTo>
                  <a:pt x="157254" y="62889"/>
                </a:moveTo>
                <a:lnTo>
                  <a:pt x="159842" y="62889"/>
                </a:lnTo>
                <a:cubicBezTo>
                  <a:pt x="164198" y="62889"/>
                  <a:pt x="167703" y="59384"/>
                  <a:pt x="167703" y="55028"/>
                </a:cubicBezTo>
                <a:lnTo>
                  <a:pt x="167703" y="7861"/>
                </a:lnTo>
                <a:cubicBezTo>
                  <a:pt x="167703" y="4684"/>
                  <a:pt x="165803" y="1801"/>
                  <a:pt x="162855" y="590"/>
                </a:cubicBezTo>
                <a:cubicBezTo>
                  <a:pt x="159907" y="-622"/>
                  <a:pt x="156534" y="66"/>
                  <a:pt x="154274" y="2293"/>
                </a:cubicBezTo>
                <a:lnTo>
                  <a:pt x="137339" y="19260"/>
                </a:lnTo>
                <a:cubicBezTo>
                  <a:pt x="122829" y="7239"/>
                  <a:pt x="104159" y="0"/>
                  <a:pt x="83851" y="0"/>
                </a:cubicBezTo>
                <a:cubicBezTo>
                  <a:pt x="41598" y="0"/>
                  <a:pt x="6649" y="31248"/>
                  <a:pt x="852" y="71896"/>
                </a:cubicBezTo>
                <a:cubicBezTo>
                  <a:pt x="33" y="77628"/>
                  <a:pt x="3996" y="82934"/>
                  <a:pt x="9728" y="83753"/>
                </a:cubicBezTo>
                <a:cubicBezTo>
                  <a:pt x="15460" y="84572"/>
                  <a:pt x="20766" y="80576"/>
                  <a:pt x="21585" y="74877"/>
                </a:cubicBezTo>
                <a:cubicBezTo>
                  <a:pt x="25942" y="44382"/>
                  <a:pt x="52178" y="20963"/>
                  <a:pt x="83851" y="20963"/>
                </a:cubicBezTo>
                <a:cubicBezTo>
                  <a:pt x="98394" y="20963"/>
                  <a:pt x="111758" y="25876"/>
                  <a:pt x="122403" y="34163"/>
                </a:cubicBezTo>
                <a:lnTo>
                  <a:pt x="107107" y="49459"/>
                </a:lnTo>
                <a:cubicBezTo>
                  <a:pt x="104847" y="51719"/>
                  <a:pt x="104192" y="55093"/>
                  <a:pt x="105404" y="58041"/>
                </a:cubicBezTo>
                <a:cubicBezTo>
                  <a:pt x="106616" y="60989"/>
                  <a:pt x="109498" y="62889"/>
                  <a:pt x="112675" y="62889"/>
                </a:cubicBezTo>
                <a:lnTo>
                  <a:pt x="157254" y="62889"/>
                </a:lnTo>
                <a:close/>
                <a:moveTo>
                  <a:pt x="166884" y="95807"/>
                </a:moveTo>
                <a:cubicBezTo>
                  <a:pt x="167703" y="90075"/>
                  <a:pt x="163707" y="84769"/>
                  <a:pt x="158008" y="83950"/>
                </a:cubicBezTo>
                <a:cubicBezTo>
                  <a:pt x="152308" y="83131"/>
                  <a:pt x="146969" y="87127"/>
                  <a:pt x="146150" y="92826"/>
                </a:cubicBezTo>
                <a:cubicBezTo>
                  <a:pt x="141794" y="123288"/>
                  <a:pt x="115558" y="146707"/>
                  <a:pt x="83884" y="146707"/>
                </a:cubicBezTo>
                <a:cubicBezTo>
                  <a:pt x="69341" y="146707"/>
                  <a:pt x="55977" y="141794"/>
                  <a:pt x="45332" y="133507"/>
                </a:cubicBezTo>
                <a:lnTo>
                  <a:pt x="60596" y="118244"/>
                </a:lnTo>
                <a:cubicBezTo>
                  <a:pt x="62856" y="115984"/>
                  <a:pt x="63511" y="112610"/>
                  <a:pt x="62299" y="109662"/>
                </a:cubicBezTo>
                <a:cubicBezTo>
                  <a:pt x="61087" y="106714"/>
                  <a:pt x="58205" y="104814"/>
                  <a:pt x="55028" y="104814"/>
                </a:cubicBezTo>
                <a:lnTo>
                  <a:pt x="7861" y="104814"/>
                </a:lnTo>
                <a:cubicBezTo>
                  <a:pt x="3505" y="104814"/>
                  <a:pt x="0" y="108319"/>
                  <a:pt x="0" y="112675"/>
                </a:cubicBezTo>
                <a:lnTo>
                  <a:pt x="0" y="159842"/>
                </a:lnTo>
                <a:cubicBezTo>
                  <a:pt x="0" y="163019"/>
                  <a:pt x="1900" y="165901"/>
                  <a:pt x="4848" y="167113"/>
                </a:cubicBezTo>
                <a:cubicBezTo>
                  <a:pt x="7796" y="168325"/>
                  <a:pt x="11169" y="167637"/>
                  <a:pt x="13429" y="165410"/>
                </a:cubicBezTo>
                <a:lnTo>
                  <a:pt x="30396" y="148443"/>
                </a:lnTo>
                <a:cubicBezTo>
                  <a:pt x="44874" y="160464"/>
                  <a:pt x="63544" y="167703"/>
                  <a:pt x="83851" y="167703"/>
                </a:cubicBezTo>
                <a:cubicBezTo>
                  <a:pt x="126105" y="167703"/>
                  <a:pt x="161054" y="136455"/>
                  <a:pt x="166851" y="95807"/>
                </a:cubicBezTo>
                <a:close/>
              </a:path>
            </a:pathLst>
          </a:custGeom>
          <a:solidFill xmlns:a="http://schemas.openxmlformats.org/drawingml/2006/main">
            <a:srgbClr val="E6B450"/>
          </a:solidFill>
        </p:spPr>
      </p:sp>
      <p:sp>
        <p:nvSpPr>
          <p:cNvPr id="25" name="Text 23">
            <a:extLst xmlns:a="http://schemas.openxmlformats.org/drawingml/2006/main">
              <a:ext uri="{FF2B5EF4-FFF2-40B4-BE49-F238E27FC236}">
                <a16:creationId xmlns:a16="http://schemas.microsoft.com/office/drawing/2014/main" id="{FB77173E-821B-48D5-9FAB-DC6DEDB7EACC}"/>
              </a:ext>
            </a:extLst>
          </p:cNvPr>
          <p:cNvSpPr>
            <a:spLocks xmlns:a="http://schemas.openxmlformats.org/drawingml/2006/main" noGrp="1"/>
          </p:cNvSpPr>
          <p:nvPr/>
        </p:nvSpPr>
        <p:spPr>
          <a:xfrm xmlns:a="http://schemas.openxmlformats.org/drawingml/2006/main">
            <a:off x="821744" y="4265883"/>
            <a:ext cx="1057856" cy="234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b="1">
                <a:latin typeface="微软雅黑"/>
                <a:ea typeface="微软雅黑"/>
                <a:cs typeface="微软雅黑"/>
              </a:rPr>
              <a:t>动态适应</a:t>
            </a:r>
            <a:endParaRPr/>
          </a:p>
        </p:txBody>
      </p:sp>
      <p:sp>
        <p:nvSpPr>
          <p:cNvPr id="26" name="Text 24">
            <a:extLst xmlns:a="http://schemas.openxmlformats.org/drawingml/2006/main">
              <a:ext uri="{FF2B5EF4-FFF2-40B4-BE49-F238E27FC236}">
                <a16:creationId xmlns:a16="http://schemas.microsoft.com/office/drawing/2014/main" id="{FA72571B-D9BB-4FA0-B16B-35A173D781D4}"/>
              </a:ext>
            </a:extLst>
          </p:cNvPr>
          <p:cNvSpPr>
            <a:spLocks xmlns:a="http://schemas.openxmlformats.org/drawingml/2006/main" noGrp="1"/>
          </p:cNvSpPr>
          <p:nvPr/>
        </p:nvSpPr>
        <p:spPr>
          <a:xfrm xmlns:a="http://schemas.openxmlformats.org/drawingml/2006/main">
            <a:off x="511494" y="4700531"/>
            <a:ext cx="5984133" cy="87526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为适应环境的动态变化（如移动障碍物的出现或消失），即使被标记为"已占用"的单元格，其计数器值也会随着时间的推移逐渐减少，以反映实际环境的最新状态。</a:t>
            </a:r>
            <a:endParaRPr sz="1600"/>
          </a:p>
        </p:txBody>
      </p:sp>
      <p:sp>
        <p:nvSpPr>
          <p:cNvPr id="55" name="矩形 54">
            <a:extLst xmlns:a="http://schemas.openxmlformats.org/drawingml/2006/main">
              <a:ext uri="{FF2B5EF4-FFF2-40B4-BE49-F238E27FC236}">
                <a16:creationId xmlns:a16="http://schemas.microsoft.com/office/drawing/2014/main" id="{389C46F3-BC2F-173E-BE10-45966D113433}"/>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文本框 55">
            <a:extLst xmlns:a="http://schemas.openxmlformats.org/drawingml/2006/main">
              <a:ext uri="{FF2B5EF4-FFF2-40B4-BE49-F238E27FC236}">
                <a16:creationId xmlns:a16="http://schemas.microsoft.com/office/drawing/2014/main" id="{643F67C2-3FB5-DCB8-A844-2CDA8DA1A81B}"/>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7.1.1 </a:t>
            </a:r>
            <a:r>
              <a:rPr sz="2400" b="1">
                <a:solidFill>
                  <a:schemeClr val="accent1"/>
                </a:solidFill>
                <a:latin typeface="+mj-lt"/>
                <a:ea typeface="+mj-lt"/>
                <a:cs typeface="+mj-lt"/>
              </a:rPr>
              <a:t>度量地图</a:t>
            </a:r>
          </a:p>
        </p:txBody>
      </p:sp>
      <p:pic>
        <p:nvPicPr>
          <p:cNvPr id="69" name="图片 56"/>
          <p:cNvPicPr>
            <a:picLocks xmlns:a="http://schemas.openxmlformats.org/drawingml/2006/main" noChangeAspect="1"/>
          </p:cNvPicPr>
          <p:nvPr/>
        </p:nvPicPr>
        <p:blipFill>
          <a:blip xmlns:r="http://schemas.openxmlformats.org/officeDocument/2006/relationships" xmlns:a="http://schemas.openxmlformats.org/drawingml/2006/main" r:embed="Rd3e06fdf31874c35"/>
          <a:srcRect xmlns:a="http://schemas.openxmlformats.org/drawingml/2006/main" l="0" t="0" r="0" b="0"/>
          <a:stretch xmlns:a="http://schemas.openxmlformats.org/drawingml/2006/main">
            <a:fillRect l="0" t="0" r="0" b="0"/>
          </a:stretch>
        </p:blipFill>
        <p:spPr>
          <a:xfrm xmlns:a="http://schemas.openxmlformats.org/drawingml/2006/main">
            <a:off x="7150100" y="1712361"/>
            <a:ext cx="4600893" cy="4032893"/>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61617246"/>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DD9B9B21-3B6D-4F19-BAF1-EE6F4E4E3CBF}"/>
              </a:ext>
            </a:extLst>
          </p:cNvPr>
          <p:cNvSpPr>
            <a:spLocks xmlns:a="http://schemas.openxmlformats.org/drawingml/2006/main" noGrp="1"/>
          </p:cNvSpPr>
          <p:nvPr/>
        </p:nvSpPr>
        <p:spPr>
          <a:xfrm xmlns:a="http://schemas.openxmlformats.org/drawingml/2006/main">
            <a:off x="352176" y="1712362"/>
            <a:ext cx="6353424" cy="1547306"/>
          </a:xfrm>
          <a:custGeom xmlns:a="http://schemas.openxmlformats.org/drawingml/2006/main">
            <a:rect l="l" t="t" r="r" b="b"/>
            <a:pathLst>
              <a:path w="7487934" h="1509326">
                <a:moveTo>
                  <a:pt x="33541" y="0"/>
                </a:moveTo>
                <a:lnTo>
                  <a:pt x="7387307" y="0"/>
                </a:lnTo>
                <a:cubicBezTo>
                  <a:pt x="7442882" y="0"/>
                  <a:pt x="7487934" y="45052"/>
                  <a:pt x="7487934" y="100627"/>
                </a:cubicBezTo>
                <a:lnTo>
                  <a:pt x="7487934" y="1408699"/>
                </a:lnTo>
                <a:cubicBezTo>
                  <a:pt x="7487934" y="1464274"/>
                  <a:pt x="7442882" y="1509326"/>
                  <a:pt x="7387307" y="1509326"/>
                </a:cubicBezTo>
                <a:lnTo>
                  <a:pt x="33541" y="1509326"/>
                </a:lnTo>
                <a:cubicBezTo>
                  <a:pt x="15017" y="1509326"/>
                  <a:pt x="0" y="1494309"/>
                  <a:pt x="0" y="1475785"/>
                </a:cubicBezTo>
                <a:lnTo>
                  <a:pt x="0" y="33541"/>
                </a:lnTo>
                <a:cubicBezTo>
                  <a:pt x="0" y="15029"/>
                  <a:pt x="15029" y="0"/>
                  <a:pt x="33541"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ECD13BCF-17E1-426B-8BDF-E778CED2604F}"/>
              </a:ext>
            </a:extLst>
          </p:cNvPr>
          <p:cNvSpPr>
            <a:spLocks xmlns:a="http://schemas.openxmlformats.org/drawingml/2006/main" noGrp="1"/>
          </p:cNvSpPr>
          <p:nvPr/>
        </p:nvSpPr>
        <p:spPr>
          <a:xfrm xmlns:a="http://schemas.openxmlformats.org/drawingml/2006/main">
            <a:off x="352176" y="1712362"/>
            <a:ext cx="33541" cy="1547306"/>
          </a:xfrm>
          <a:custGeom xmlns:a="http://schemas.openxmlformats.org/drawingml/2006/main">
            <a:rect l="l" t="t" r="r" b="b"/>
            <a:pathLst>
              <a:path w="33541" h="1509326">
                <a:moveTo>
                  <a:pt x="33541" y="0"/>
                </a:moveTo>
                <a:lnTo>
                  <a:pt x="33541" y="0"/>
                </a:lnTo>
                <a:lnTo>
                  <a:pt x="33541" y="1509326"/>
                </a:lnTo>
                <a:lnTo>
                  <a:pt x="33541" y="1509326"/>
                </a:lnTo>
                <a:cubicBezTo>
                  <a:pt x="15017" y="1509326"/>
                  <a:pt x="0" y="1494309"/>
                  <a:pt x="0" y="1475785"/>
                </a:cubicBezTo>
                <a:lnTo>
                  <a:pt x="0" y="33541"/>
                </a:lnTo>
                <a:cubicBezTo>
                  <a:pt x="0" y="15029"/>
                  <a:pt x="15029" y="0"/>
                  <a:pt x="33541" y="0"/>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F8D6981E-57A5-4C97-96BE-86576EF60D5E}"/>
              </a:ext>
            </a:extLst>
          </p:cNvPr>
          <p:cNvSpPr>
            <a:spLocks xmlns:a="http://schemas.openxmlformats.org/drawingml/2006/main" noGrp="1"/>
          </p:cNvSpPr>
          <p:nvPr/>
        </p:nvSpPr>
        <p:spPr>
          <a:xfrm xmlns:a="http://schemas.openxmlformats.org/drawingml/2006/main">
            <a:off x="833274" y="1913606"/>
            <a:ext cx="6900974" cy="2683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实时更新优势</a:t>
            </a:r>
            <a:endParaRPr/>
          </a:p>
        </p:txBody>
      </p:sp>
      <p:sp>
        <p:nvSpPr>
          <p:cNvPr id="9" name="Text 7">
            <a:extLst xmlns:a="http://schemas.openxmlformats.org/drawingml/2006/main">
              <a:ext uri="{FF2B5EF4-FFF2-40B4-BE49-F238E27FC236}">
                <a16:creationId xmlns:a16="http://schemas.microsoft.com/office/drawing/2014/main" id="{47E50790-3DA7-4B85-998B-BCA0EB66D189}"/>
              </a:ext>
            </a:extLst>
          </p:cNvPr>
          <p:cNvSpPr>
            <a:spLocks xmlns:a="http://schemas.openxmlformats.org/drawingml/2006/main" noGrp="1"/>
          </p:cNvSpPr>
          <p:nvPr/>
        </p:nvSpPr>
        <p:spPr>
          <a:xfrm xmlns:a="http://schemas.openxmlformats.org/drawingml/2006/main">
            <a:off x="833274" y="2282552"/>
            <a:ext cx="5662353" cy="8077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这种机制确保了占用栅格图能够</a:t>
            </a:r>
            <a:r>
              <a:rPr sz="1600" b="1">
                <a:latin typeface="微软雅黑"/>
                <a:ea typeface="微软雅黑"/>
                <a:cs typeface="微软雅黑"/>
              </a:rPr>
              <a:t>准确、实时</a:t>
            </a:r>
            <a:r>
              <a:rPr sz="1600">
                <a:latin typeface="微软雅黑"/>
                <a:ea typeface="微软雅黑"/>
                <a:cs typeface="微软雅黑"/>
              </a:rPr>
              <a:t>地反映机器人所处的环境</a:t>
            </a:r>
            <a:r>
              <a:rPr sz="1600">
                <a:latin typeface="微软雅黑"/>
                <a:ea typeface="微软雅黑"/>
                <a:cs typeface="微软雅黑"/>
              </a:rPr>
              <a:t>。</a:t>
            </a:r>
            <a:endParaRPr sz="2000"/>
          </a:p>
        </p:txBody>
      </p:sp>
      <p:sp>
        <p:nvSpPr>
          <p:cNvPr id="23" name="Shape 21">
            <a:extLst xmlns:a="http://schemas.openxmlformats.org/drawingml/2006/main">
              <a:ext uri="{FF2B5EF4-FFF2-40B4-BE49-F238E27FC236}">
                <a16:creationId xmlns:a16="http://schemas.microsoft.com/office/drawing/2014/main" id="{190E3F12-BFCC-41A2-886F-8AB68CD8ABC4}"/>
              </a:ext>
            </a:extLst>
          </p:cNvPr>
          <p:cNvSpPr>
            <a:spLocks xmlns:a="http://schemas.openxmlformats.org/drawingml/2006/main" noGrp="1"/>
          </p:cNvSpPr>
          <p:nvPr/>
        </p:nvSpPr>
        <p:spPr>
          <a:xfrm xmlns:a="http://schemas.openxmlformats.org/drawingml/2006/main">
            <a:off x="339599" y="3598333"/>
            <a:ext cx="6366002" cy="2149359"/>
          </a:xfrm>
          <a:custGeom xmlns:a="http://schemas.openxmlformats.org/drawingml/2006/main">
            <a:rect l="l" t="t" r="r" b="b"/>
            <a:pathLst>
              <a:path w="7496319" h="1115224">
                <a:moveTo>
                  <a:pt x="100627" y="0"/>
                </a:moveTo>
                <a:lnTo>
                  <a:pt x="7395692" y="0"/>
                </a:lnTo>
                <a:cubicBezTo>
                  <a:pt x="7451267" y="0"/>
                  <a:pt x="7496319" y="45052"/>
                  <a:pt x="7496319" y="100627"/>
                </a:cubicBezTo>
                <a:lnTo>
                  <a:pt x="7496319" y="1014598"/>
                </a:lnTo>
                <a:cubicBezTo>
                  <a:pt x="7496319" y="1070172"/>
                  <a:pt x="7451267" y="1115224"/>
                  <a:pt x="7395692" y="1115224"/>
                </a:cubicBezTo>
                <a:lnTo>
                  <a:pt x="100627" y="1115224"/>
                </a:lnTo>
                <a:cubicBezTo>
                  <a:pt x="45052" y="1115224"/>
                  <a:pt x="0" y="1070172"/>
                  <a:pt x="0" y="1014598"/>
                </a:cubicBezTo>
                <a:lnTo>
                  <a:pt x="0" y="100627"/>
                </a:lnTo>
                <a:cubicBezTo>
                  <a:pt x="0" y="45089"/>
                  <a:pt x="45089" y="0"/>
                  <a:pt x="10062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5" name="Text 23">
            <a:extLst xmlns:a="http://schemas.openxmlformats.org/drawingml/2006/main">
              <a:ext uri="{FF2B5EF4-FFF2-40B4-BE49-F238E27FC236}">
                <a16:creationId xmlns:a16="http://schemas.microsoft.com/office/drawing/2014/main" id="{9530A18E-86E6-40F1-B71E-EF526416E88E}"/>
              </a:ext>
            </a:extLst>
          </p:cNvPr>
          <p:cNvSpPr>
            <a:spLocks xmlns:a="http://schemas.openxmlformats.org/drawingml/2006/main" noGrp="1"/>
          </p:cNvSpPr>
          <p:nvPr/>
        </p:nvSpPr>
        <p:spPr>
          <a:xfrm xmlns:a="http://schemas.openxmlformats.org/drawingml/2006/main">
            <a:off x="821744" y="3740948"/>
            <a:ext cx="1057856" cy="234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局限性</a:t>
            </a:r>
            <a:endParaRPr/>
          </a:p>
        </p:txBody>
      </p:sp>
      <p:sp>
        <p:nvSpPr>
          <p:cNvPr id="26" name="Text 24">
            <a:extLst xmlns:a="http://schemas.openxmlformats.org/drawingml/2006/main">
              <a:ext uri="{FF2B5EF4-FFF2-40B4-BE49-F238E27FC236}">
                <a16:creationId xmlns:a16="http://schemas.microsoft.com/office/drawing/2014/main" id="{2B85CC2A-AD1D-4BBD-B5B8-44BF918F5308}"/>
              </a:ext>
            </a:extLst>
          </p:cNvPr>
          <p:cNvSpPr>
            <a:spLocks xmlns:a="http://schemas.openxmlformats.org/drawingml/2006/main" noGrp="1"/>
          </p:cNvSpPr>
          <p:nvPr/>
        </p:nvSpPr>
        <p:spPr>
          <a:xfrm xmlns:a="http://schemas.openxmlformats.org/drawingml/2006/main">
            <a:off x="511494" y="4214992"/>
            <a:ext cx="5984133" cy="13608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占用栅格地图因其直观和易更新的特性被广泛用于表示环境结构。然而，在大范围场景中栅格地图需要处理和更新</a:t>
            </a:r>
            <a:r>
              <a:rPr sz="1600" b="1">
                <a:latin typeface="微软雅黑"/>
                <a:ea typeface="微软雅黑"/>
                <a:cs typeface="微软雅黑"/>
              </a:rPr>
              <a:t>大量栅格信息</a:t>
            </a:r>
            <a:r>
              <a:rPr sz="1600">
                <a:latin typeface="微软雅黑"/>
                <a:ea typeface="微软雅黑"/>
                <a:cs typeface="微软雅黑"/>
              </a:rPr>
              <a:t>，这导致计算资源的大量消耗，影响了机器人的响应速度和路径规划效率。为了解决这个问题，</a:t>
            </a:r>
            <a:r>
              <a:rPr sz="1600" b="1">
                <a:latin typeface="微软雅黑"/>
                <a:ea typeface="微软雅黑"/>
                <a:cs typeface="微软雅黑"/>
              </a:rPr>
              <a:t>拓扑地图</a:t>
            </a:r>
            <a:r>
              <a:rPr sz="1600">
                <a:latin typeface="微软雅黑"/>
                <a:ea typeface="微软雅黑"/>
                <a:cs typeface="微软雅黑"/>
              </a:rPr>
              <a:t>应运而生。</a:t>
            </a:r>
            <a:endParaRPr sz="2000"/>
          </a:p>
        </p:txBody>
      </p:sp>
      <p:sp>
        <p:nvSpPr>
          <p:cNvPr id="55" name="矩形 54">
            <a:extLst xmlns:a="http://schemas.openxmlformats.org/drawingml/2006/main">
              <a:ext uri="{FF2B5EF4-FFF2-40B4-BE49-F238E27FC236}">
                <a16:creationId xmlns:a16="http://schemas.microsoft.com/office/drawing/2014/main" id="{389C46F3-BC2F-173E-BE10-45966D113433}"/>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文本框 55">
            <a:extLst xmlns:a="http://schemas.openxmlformats.org/drawingml/2006/main">
              <a:ext uri="{FF2B5EF4-FFF2-40B4-BE49-F238E27FC236}">
                <a16:creationId xmlns:a16="http://schemas.microsoft.com/office/drawing/2014/main" id="{643F67C2-3FB5-DCB8-A844-2CDA8DA1A81B}"/>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7.1.1 </a:t>
            </a:r>
            <a:r>
              <a:rPr sz="2400" b="1">
                <a:solidFill>
                  <a:schemeClr val="accent1"/>
                </a:solidFill>
                <a:latin typeface="+mj-lt"/>
                <a:ea typeface="+mj-lt"/>
                <a:cs typeface="+mj-lt"/>
              </a:rPr>
              <a:t>度量地图</a:t>
            </a:r>
          </a:p>
        </p:txBody>
      </p:sp>
      <p:pic>
        <p:nvPicPr>
          <p:cNvPr id="67" name="图片 56"/>
          <p:cNvPicPr>
            <a:picLocks xmlns:a="http://schemas.openxmlformats.org/drawingml/2006/main" noChangeAspect="1"/>
          </p:cNvPicPr>
          <p:nvPr/>
        </p:nvPicPr>
        <p:blipFill>
          <a:blip xmlns:r="http://schemas.openxmlformats.org/officeDocument/2006/relationships" xmlns:a="http://schemas.openxmlformats.org/drawingml/2006/main" r:embed="Re6124fcecfb14a6b"/>
          <a:srcRect xmlns:a="http://schemas.openxmlformats.org/drawingml/2006/main" l="0" t="0" r="0" b="0"/>
          <a:stretch xmlns:a="http://schemas.openxmlformats.org/drawingml/2006/main">
            <a:fillRect l="0" t="0" r="0" b="0"/>
          </a:stretch>
        </p:blipFill>
        <p:spPr>
          <a:xfrm xmlns:a="http://schemas.openxmlformats.org/drawingml/2006/main">
            <a:off x="7150100" y="1712361"/>
            <a:ext cx="4600893" cy="4032893"/>
          </a:xfrm>
          <a:prstGeom xmlns:a="http://schemas.openxmlformats.org/drawingml/2006/main" prst="rect">
            <a:avLst/>
          </a:prstGeom>
          <a:ln xmlns:a="http://schemas.openxmlformats.org/drawingml/2006/main">
            <a:noFill/>
          </a:ln>
        </p:spPr>
      </p:pic>
      <p:sp>
        <p:nvSpPr>
          <p:cNvPr id="2" name="Shape 14">
            <a:extLst xmlns:a="http://schemas.openxmlformats.org/drawingml/2006/main">
              <a:ext uri="{FF2B5EF4-FFF2-40B4-BE49-F238E27FC236}">
                <a16:creationId xmlns:a16="http://schemas.microsoft.com/office/drawing/2014/main" id="{ECC2DDEB-3F5C-24BE-D26C-F51F323E75CA}"/>
              </a:ext>
            </a:extLst>
          </p:cNvPr>
          <p:cNvSpPr>
            <a:spLocks xmlns:a="http://schemas.openxmlformats.org/drawingml/2006/main" noGrp="1"/>
          </p:cNvSpPr>
          <p:nvPr/>
        </p:nvSpPr>
        <p:spPr>
          <a:xfrm xmlns:a="http://schemas.openxmlformats.org/drawingml/2006/main">
            <a:off x="488156" y="3750732"/>
            <a:ext cx="190500" cy="190500"/>
          </a:xfrm>
          <a:custGeom xmlns:a="http://schemas.openxmlformats.org/drawingml/2006/main">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xmlns:a="http://schemas.openxmlformats.org/drawingml/2006/main">
            <a:srgbClr val="E6B450"/>
          </a:solidFill>
        </p:spPr>
      </p:sp>
      <p:sp>
        <p:nvSpPr>
          <p:cNvPr id="3" name="Shape 10">
            <a:extLst xmlns:a="http://schemas.openxmlformats.org/drawingml/2006/main">
              <a:ext uri="{FF2B5EF4-FFF2-40B4-BE49-F238E27FC236}">
                <a16:creationId xmlns:a16="http://schemas.microsoft.com/office/drawing/2014/main" id="{308CC8B5-3FF9-2354-B298-C473CA98D99D}"/>
              </a:ext>
            </a:extLst>
          </p:cNvPr>
          <p:cNvSpPr>
            <a:spLocks xmlns:a="http://schemas.openxmlformats.org/drawingml/2006/main" noGrp="1"/>
          </p:cNvSpPr>
          <p:nvPr/>
        </p:nvSpPr>
        <p:spPr>
          <a:xfrm xmlns:a="http://schemas.openxmlformats.org/drawingml/2006/main">
            <a:off x="547688" y="1951297"/>
            <a:ext cx="190500" cy="190500"/>
          </a:xfrm>
          <a:custGeom xmlns:a="http://schemas.openxmlformats.org/drawingml/2006/main">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xmlns:a="http://schemas.openxmlformats.org/drawingml/2006/main">
            <a:srgbClr val="E6B450"/>
          </a:solidFill>
        </p:spPr>
      </p:sp>
      <p:sp>
        <p:nvSpPr>
          <p:cNvPr id="4" name="Shape 26">
            <a:extLst xmlns:a="http://schemas.openxmlformats.org/drawingml/2006/main">
              <a:ext uri="{FF2B5EF4-FFF2-40B4-BE49-F238E27FC236}">
                <a16:creationId xmlns:a16="http://schemas.microsoft.com/office/drawing/2014/main" id="{DAB2A7F2-ECB9-82F1-1C00-1D6DC324F176}"/>
              </a:ext>
            </a:extLst>
          </p:cNvPr>
          <p:cNvSpPr>
            <a:spLocks xmlns:a="http://schemas.openxmlformats.org/drawingml/2006/main" noGrp="1"/>
          </p:cNvSpPr>
          <p:nvPr/>
        </p:nvSpPr>
        <p:spPr>
          <a:xfrm xmlns:a="http://schemas.openxmlformats.org/drawingml/2006/main">
            <a:off x="725224" y="6322210"/>
            <a:ext cx="158750" cy="158750"/>
          </a:xfrm>
          <a:custGeom xmlns:a="http://schemas.openxmlformats.org/drawingml/2006/main">
            <a:rect l="l" t="t" r="r" b="b"/>
            <a:pathLst>
              <a:path w="158750" h="158750">
                <a:moveTo>
                  <a:pt x="14883" y="44648"/>
                </a:moveTo>
                <a:cubicBezTo>
                  <a:pt x="23097" y="44648"/>
                  <a:pt x="29766" y="37980"/>
                  <a:pt x="29766" y="29766"/>
                </a:cubicBezTo>
                <a:cubicBezTo>
                  <a:pt x="29766" y="21552"/>
                  <a:pt x="23097" y="14883"/>
                  <a:pt x="14883" y="14883"/>
                </a:cubicBezTo>
                <a:cubicBezTo>
                  <a:pt x="6669" y="14883"/>
                  <a:pt x="0" y="21552"/>
                  <a:pt x="0" y="29766"/>
                </a:cubicBezTo>
                <a:cubicBezTo>
                  <a:pt x="0" y="37980"/>
                  <a:pt x="6669" y="44648"/>
                  <a:pt x="14883" y="44648"/>
                </a:cubicBezTo>
                <a:close/>
                <a:moveTo>
                  <a:pt x="59531" y="19844"/>
                </a:moveTo>
                <a:cubicBezTo>
                  <a:pt x="54043" y="19844"/>
                  <a:pt x="49609" y="24278"/>
                  <a:pt x="49609" y="29766"/>
                </a:cubicBezTo>
                <a:cubicBezTo>
                  <a:pt x="49609" y="35254"/>
                  <a:pt x="54043" y="39688"/>
                  <a:pt x="59531" y="39688"/>
                </a:cubicBezTo>
                <a:lnTo>
                  <a:pt x="148828" y="39688"/>
                </a:lnTo>
                <a:cubicBezTo>
                  <a:pt x="154316" y="39688"/>
                  <a:pt x="158750" y="35254"/>
                  <a:pt x="158750" y="29766"/>
                </a:cubicBezTo>
                <a:cubicBezTo>
                  <a:pt x="158750" y="24278"/>
                  <a:pt x="154316" y="19844"/>
                  <a:pt x="148828" y="19844"/>
                </a:cubicBezTo>
                <a:lnTo>
                  <a:pt x="59531" y="19844"/>
                </a:lnTo>
                <a:close/>
                <a:moveTo>
                  <a:pt x="59531" y="69453"/>
                </a:moveTo>
                <a:cubicBezTo>
                  <a:pt x="54043" y="69453"/>
                  <a:pt x="49609" y="73887"/>
                  <a:pt x="49609" y="79375"/>
                </a:cubicBezTo>
                <a:cubicBezTo>
                  <a:pt x="49609" y="84863"/>
                  <a:pt x="54043" y="89297"/>
                  <a:pt x="59531" y="89297"/>
                </a:cubicBezTo>
                <a:lnTo>
                  <a:pt x="148828" y="89297"/>
                </a:lnTo>
                <a:cubicBezTo>
                  <a:pt x="154316" y="89297"/>
                  <a:pt x="158750" y="84863"/>
                  <a:pt x="158750" y="79375"/>
                </a:cubicBezTo>
                <a:cubicBezTo>
                  <a:pt x="158750" y="73887"/>
                  <a:pt x="154316" y="69453"/>
                  <a:pt x="148828" y="69453"/>
                </a:cubicBezTo>
                <a:lnTo>
                  <a:pt x="59531" y="69453"/>
                </a:lnTo>
                <a:close/>
                <a:moveTo>
                  <a:pt x="59531" y="119062"/>
                </a:moveTo>
                <a:cubicBezTo>
                  <a:pt x="54043" y="119062"/>
                  <a:pt x="49609" y="123496"/>
                  <a:pt x="49609" y="128984"/>
                </a:cubicBezTo>
                <a:cubicBezTo>
                  <a:pt x="49609" y="134472"/>
                  <a:pt x="54043" y="138906"/>
                  <a:pt x="59531" y="138906"/>
                </a:cubicBezTo>
                <a:lnTo>
                  <a:pt x="148828" y="138906"/>
                </a:lnTo>
                <a:cubicBezTo>
                  <a:pt x="154316" y="138906"/>
                  <a:pt x="158750" y="134472"/>
                  <a:pt x="158750" y="128984"/>
                </a:cubicBezTo>
                <a:cubicBezTo>
                  <a:pt x="158750" y="123496"/>
                  <a:pt x="154316" y="119062"/>
                  <a:pt x="148828" y="119062"/>
                </a:cubicBezTo>
                <a:lnTo>
                  <a:pt x="59531" y="119062"/>
                </a:lnTo>
                <a:close/>
                <a:moveTo>
                  <a:pt x="14883" y="143867"/>
                </a:moveTo>
                <a:cubicBezTo>
                  <a:pt x="23097" y="143867"/>
                  <a:pt x="29766" y="137198"/>
                  <a:pt x="29766" y="128984"/>
                </a:cubicBezTo>
                <a:cubicBezTo>
                  <a:pt x="29766" y="120770"/>
                  <a:pt x="23097" y="114102"/>
                  <a:pt x="14883" y="114102"/>
                </a:cubicBezTo>
                <a:cubicBezTo>
                  <a:pt x="6669" y="114102"/>
                  <a:pt x="0" y="120770"/>
                  <a:pt x="0" y="128984"/>
                </a:cubicBezTo>
                <a:cubicBezTo>
                  <a:pt x="0" y="137198"/>
                  <a:pt x="6669" y="143867"/>
                  <a:pt x="14883" y="143867"/>
                </a:cubicBezTo>
                <a:close/>
                <a:moveTo>
                  <a:pt x="29766" y="79375"/>
                </a:moveTo>
                <a:cubicBezTo>
                  <a:pt x="29766" y="71161"/>
                  <a:pt x="23097" y="64492"/>
                  <a:pt x="14883" y="64492"/>
                </a:cubicBezTo>
                <a:cubicBezTo>
                  <a:pt x="6669" y="64492"/>
                  <a:pt x="0" y="71161"/>
                  <a:pt x="0" y="79375"/>
                </a:cubicBezTo>
                <a:cubicBezTo>
                  <a:pt x="0" y="87589"/>
                  <a:pt x="6669" y="94258"/>
                  <a:pt x="14883" y="94258"/>
                </a:cubicBezTo>
                <a:cubicBezTo>
                  <a:pt x="23097" y="94258"/>
                  <a:pt x="29766" y="87589"/>
                  <a:pt x="29766" y="79375"/>
                </a:cubicBezTo>
                <a:close/>
              </a:path>
            </a:pathLst>
          </a:custGeom>
          <a:solidFill xmlns:a="http://schemas.openxmlformats.org/drawingml/2006/main">
            <a:srgbClr val="E6B450"/>
          </a:solidFill>
        </p:spPr>
      </p:sp>
      <p:sp>
        <p:nvSpPr>
          <p:cNvPr id="10" name="Shape 28">
            <a:extLst xmlns:a="http://schemas.openxmlformats.org/drawingml/2006/main">
              <a:ext uri="{FF2B5EF4-FFF2-40B4-BE49-F238E27FC236}">
                <a16:creationId xmlns:a16="http://schemas.microsoft.com/office/drawing/2014/main" id="{BCCCBC02-C765-F38F-7F1A-80928B0DDFFE}"/>
              </a:ext>
            </a:extLst>
          </p:cNvPr>
          <p:cNvSpPr>
            <a:spLocks xmlns:a="http://schemas.openxmlformats.org/drawingml/2006/main" noGrp="1"/>
          </p:cNvSpPr>
          <p:nvPr/>
        </p:nvSpPr>
        <p:spPr>
          <a:xfrm xmlns:a="http://schemas.openxmlformats.org/drawingml/2006/main">
            <a:off x="2794643" y="6192901"/>
            <a:ext cx="142875" cy="142875"/>
          </a:xfrm>
          <a:custGeom xmlns:a="http://schemas.openxmlformats.org/drawingml/2006/main">
            <a:rect l="l" t="t" r="r" b="b"/>
            <a:pathLst>
              <a:path w="142875" h="142875">
                <a:moveTo>
                  <a:pt x="37728" y="32761"/>
                </a:moveTo>
                <a:lnTo>
                  <a:pt x="30445" y="53578"/>
                </a:lnTo>
                <a:lnTo>
                  <a:pt x="112430" y="53578"/>
                </a:lnTo>
                <a:lnTo>
                  <a:pt x="105147" y="32761"/>
                </a:lnTo>
                <a:cubicBezTo>
                  <a:pt x="103891" y="29189"/>
                  <a:pt x="100515" y="26789"/>
                  <a:pt x="96720" y="26789"/>
                </a:cubicBezTo>
                <a:lnTo>
                  <a:pt x="46155" y="26789"/>
                </a:lnTo>
                <a:cubicBezTo>
                  <a:pt x="42360" y="26789"/>
                  <a:pt x="38984" y="29189"/>
                  <a:pt x="37728" y="32761"/>
                </a:cubicBezTo>
                <a:close/>
                <a:moveTo>
                  <a:pt x="11050" y="54918"/>
                </a:moveTo>
                <a:lnTo>
                  <a:pt x="20873" y="26873"/>
                </a:lnTo>
                <a:cubicBezTo>
                  <a:pt x="24640" y="16129"/>
                  <a:pt x="34770" y="8930"/>
                  <a:pt x="46155" y="8930"/>
                </a:cubicBezTo>
                <a:lnTo>
                  <a:pt x="96720" y="8930"/>
                </a:lnTo>
                <a:cubicBezTo>
                  <a:pt x="108105" y="8930"/>
                  <a:pt x="118235" y="16129"/>
                  <a:pt x="122002" y="26873"/>
                </a:cubicBezTo>
                <a:lnTo>
                  <a:pt x="131825" y="54918"/>
                </a:lnTo>
                <a:cubicBezTo>
                  <a:pt x="138299" y="57596"/>
                  <a:pt x="142875" y="63987"/>
                  <a:pt x="142875" y="71438"/>
                </a:cubicBezTo>
                <a:lnTo>
                  <a:pt x="142875" y="125016"/>
                </a:lnTo>
                <a:cubicBezTo>
                  <a:pt x="142875" y="129955"/>
                  <a:pt x="138885" y="133945"/>
                  <a:pt x="133945" y="133945"/>
                </a:cubicBezTo>
                <a:lnTo>
                  <a:pt x="125016" y="133945"/>
                </a:lnTo>
                <a:cubicBezTo>
                  <a:pt x="120076" y="133945"/>
                  <a:pt x="116086" y="129955"/>
                  <a:pt x="116086" y="125016"/>
                </a:cubicBezTo>
                <a:lnTo>
                  <a:pt x="116086" y="116086"/>
                </a:lnTo>
                <a:lnTo>
                  <a:pt x="26789" y="116086"/>
                </a:lnTo>
                <a:lnTo>
                  <a:pt x="26789" y="125016"/>
                </a:lnTo>
                <a:cubicBezTo>
                  <a:pt x="26789" y="129955"/>
                  <a:pt x="22799" y="133945"/>
                  <a:pt x="17859" y="133945"/>
                </a:cubicBezTo>
                <a:lnTo>
                  <a:pt x="8930" y="133945"/>
                </a:lnTo>
                <a:cubicBezTo>
                  <a:pt x="3990" y="133945"/>
                  <a:pt x="0" y="129955"/>
                  <a:pt x="0" y="125016"/>
                </a:cubicBezTo>
                <a:lnTo>
                  <a:pt x="0" y="71438"/>
                </a:lnTo>
                <a:cubicBezTo>
                  <a:pt x="0" y="63987"/>
                  <a:pt x="4576" y="57596"/>
                  <a:pt x="11050" y="54918"/>
                </a:cubicBezTo>
                <a:close/>
                <a:moveTo>
                  <a:pt x="35719" y="84832"/>
                </a:moveTo>
                <a:cubicBezTo>
                  <a:pt x="35719" y="79904"/>
                  <a:pt x="31717" y="75902"/>
                  <a:pt x="26789" y="75902"/>
                </a:cubicBezTo>
                <a:cubicBezTo>
                  <a:pt x="21861" y="75902"/>
                  <a:pt x="17859" y="79904"/>
                  <a:pt x="17859" y="84832"/>
                </a:cubicBezTo>
                <a:cubicBezTo>
                  <a:pt x="17859" y="89760"/>
                  <a:pt x="21861" y="93762"/>
                  <a:pt x="26789" y="93762"/>
                </a:cubicBezTo>
                <a:cubicBezTo>
                  <a:pt x="31717" y="93762"/>
                  <a:pt x="35719" y="89760"/>
                  <a:pt x="35719" y="84832"/>
                </a:cubicBezTo>
                <a:close/>
                <a:moveTo>
                  <a:pt x="116086" y="93762"/>
                </a:moveTo>
                <a:cubicBezTo>
                  <a:pt x="121014" y="93762"/>
                  <a:pt x="125016" y="89760"/>
                  <a:pt x="125016" y="84832"/>
                </a:cubicBezTo>
                <a:cubicBezTo>
                  <a:pt x="125016" y="79904"/>
                  <a:pt x="121014" y="75902"/>
                  <a:pt x="116086" y="75902"/>
                </a:cubicBezTo>
                <a:cubicBezTo>
                  <a:pt x="111158" y="75902"/>
                  <a:pt x="107156" y="79904"/>
                  <a:pt x="107156" y="84832"/>
                </a:cubicBezTo>
                <a:cubicBezTo>
                  <a:pt x="107156" y="89760"/>
                  <a:pt x="111158" y="93762"/>
                  <a:pt x="116086" y="93762"/>
                </a:cubicBezTo>
                <a:close/>
              </a:path>
            </a:pathLst>
          </a:custGeom>
          <a:solidFill xmlns:a="http://schemas.openxmlformats.org/drawingml/2006/main">
            <a:srgbClr val="E6B450"/>
          </a:solidFill>
        </p:spPr>
      </p:sp>
      <p:sp>
        <p:nvSpPr>
          <p:cNvPr id="11" name="Text 29">
            <a:extLst xmlns:a="http://schemas.openxmlformats.org/drawingml/2006/main">
              <a:ext uri="{FF2B5EF4-FFF2-40B4-BE49-F238E27FC236}">
                <a16:creationId xmlns:a16="http://schemas.microsoft.com/office/drawing/2014/main" id="{A1B9EF45-6F39-CBF6-6D6F-5B9857347FD7}"/>
              </a:ext>
            </a:extLst>
          </p:cNvPr>
          <p:cNvSpPr>
            <a:spLocks xmlns:a="http://schemas.openxmlformats.org/drawingml/2006/main" noGrp="1"/>
          </p:cNvSpPr>
          <p:nvPr/>
        </p:nvSpPr>
        <p:spPr>
          <a:xfrm xmlns:a="http://schemas.openxmlformats.org/drawingml/2006/main">
            <a:off x="3048643" y="6142101"/>
            <a:ext cx="1214438" cy="222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移动车辆</a:t>
            </a:r>
            <a:endParaRPr sz="1600"/>
          </a:p>
        </p:txBody>
      </p:sp>
      <p:sp>
        <p:nvSpPr>
          <p:cNvPr id="12" name="Text 30">
            <a:extLst xmlns:a="http://schemas.openxmlformats.org/drawingml/2006/main">
              <a:ext uri="{FF2B5EF4-FFF2-40B4-BE49-F238E27FC236}">
                <a16:creationId xmlns:a16="http://schemas.microsoft.com/office/drawing/2014/main" id="{451F68E4-5D5B-EE53-91A3-3E55F52B1B57}"/>
              </a:ext>
            </a:extLst>
          </p:cNvPr>
          <p:cNvSpPr>
            <a:spLocks xmlns:a="http://schemas.openxmlformats.org/drawingml/2006/main" noGrp="1"/>
          </p:cNvSpPr>
          <p:nvPr/>
        </p:nvSpPr>
        <p:spPr>
          <a:xfrm xmlns:a="http://schemas.openxmlformats.org/drawingml/2006/main">
            <a:off x="2919350" y="6514782"/>
            <a:ext cx="231447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停车场中的车辆移动</a:t>
            </a:r>
            <a:endParaRPr sz="1600"/>
          </a:p>
        </p:txBody>
      </p:sp>
      <p:sp>
        <p:nvSpPr>
          <p:cNvPr id="13" name="Shape 31">
            <a:extLst xmlns:a="http://schemas.openxmlformats.org/drawingml/2006/main">
              <a:ext uri="{FF2B5EF4-FFF2-40B4-BE49-F238E27FC236}">
                <a16:creationId xmlns:a16="http://schemas.microsoft.com/office/drawing/2014/main" id="{525ECFAC-3D1A-4C99-6FC2-3F1D5647BC8A}"/>
              </a:ext>
            </a:extLst>
          </p:cNvPr>
          <p:cNvSpPr>
            <a:spLocks xmlns:a="http://schemas.openxmlformats.org/drawingml/2006/main" noGrp="1"/>
          </p:cNvSpPr>
          <p:nvPr/>
        </p:nvSpPr>
        <p:spPr>
          <a:xfrm xmlns:a="http://schemas.openxmlformats.org/drawingml/2006/main">
            <a:off x="5068493" y="6187821"/>
            <a:ext cx="107156" cy="142875"/>
          </a:xfrm>
          <a:custGeom xmlns:a="http://schemas.openxmlformats.org/drawingml/2006/main">
            <a:rect l="l" t="t" r="r" b="b"/>
            <a:pathLst>
              <a:path w="107156" h="142875">
                <a:moveTo>
                  <a:pt x="53578" y="22324"/>
                </a:moveTo>
                <a:cubicBezTo>
                  <a:pt x="62203" y="22324"/>
                  <a:pt x="69205" y="15322"/>
                  <a:pt x="69205" y="6697"/>
                </a:cubicBezTo>
                <a:cubicBezTo>
                  <a:pt x="69205" y="-1927"/>
                  <a:pt x="62203" y="-8930"/>
                  <a:pt x="53578" y="-8930"/>
                </a:cubicBezTo>
                <a:cubicBezTo>
                  <a:pt x="44953" y="-8930"/>
                  <a:pt x="37951" y="-1927"/>
                  <a:pt x="37951" y="6697"/>
                </a:cubicBezTo>
                <a:cubicBezTo>
                  <a:pt x="37951" y="15322"/>
                  <a:pt x="44953" y="22324"/>
                  <a:pt x="53578" y="22324"/>
                </a:cubicBezTo>
                <a:close/>
                <a:moveTo>
                  <a:pt x="29412" y="63596"/>
                </a:moveTo>
                <a:lnTo>
                  <a:pt x="35719" y="57290"/>
                </a:lnTo>
                <a:lnTo>
                  <a:pt x="35719" y="76628"/>
                </a:lnTo>
                <a:cubicBezTo>
                  <a:pt x="35719" y="84441"/>
                  <a:pt x="39123" y="91892"/>
                  <a:pt x="45067" y="96971"/>
                </a:cubicBezTo>
                <a:lnTo>
                  <a:pt x="64991" y="114049"/>
                </a:lnTo>
                <a:cubicBezTo>
                  <a:pt x="66638" y="115472"/>
                  <a:pt x="67726" y="117425"/>
                  <a:pt x="68033" y="119574"/>
                </a:cubicBezTo>
                <a:lnTo>
                  <a:pt x="71549" y="144159"/>
                </a:lnTo>
                <a:cubicBezTo>
                  <a:pt x="72247" y="149042"/>
                  <a:pt x="76767" y="152447"/>
                  <a:pt x="81651" y="151749"/>
                </a:cubicBezTo>
                <a:cubicBezTo>
                  <a:pt x="86534" y="151051"/>
                  <a:pt x="89939" y="146531"/>
                  <a:pt x="89241" y="141647"/>
                </a:cubicBezTo>
                <a:lnTo>
                  <a:pt x="85725" y="117063"/>
                </a:lnTo>
                <a:cubicBezTo>
                  <a:pt x="84804" y="110617"/>
                  <a:pt x="81567" y="104756"/>
                  <a:pt x="76628" y="100515"/>
                </a:cubicBezTo>
                <a:lnTo>
                  <a:pt x="67001" y="92255"/>
                </a:lnTo>
                <a:lnTo>
                  <a:pt x="67001" y="60108"/>
                </a:lnTo>
                <a:lnTo>
                  <a:pt x="68061" y="61420"/>
                </a:lnTo>
                <a:cubicBezTo>
                  <a:pt x="73140" y="67782"/>
                  <a:pt x="80842" y="71465"/>
                  <a:pt x="88990" y="71465"/>
                </a:cubicBezTo>
                <a:lnTo>
                  <a:pt x="98254" y="71465"/>
                </a:lnTo>
                <a:cubicBezTo>
                  <a:pt x="103194" y="71465"/>
                  <a:pt x="107184" y="67475"/>
                  <a:pt x="107184" y="62536"/>
                </a:cubicBezTo>
                <a:cubicBezTo>
                  <a:pt x="107184" y="57596"/>
                  <a:pt x="103194" y="53606"/>
                  <a:pt x="98254" y="53606"/>
                </a:cubicBezTo>
                <a:lnTo>
                  <a:pt x="88990" y="53606"/>
                </a:lnTo>
                <a:cubicBezTo>
                  <a:pt x="86283" y="53606"/>
                  <a:pt x="83716" y="52378"/>
                  <a:pt x="82014" y="50257"/>
                </a:cubicBezTo>
                <a:lnTo>
                  <a:pt x="77019" y="44007"/>
                </a:lnTo>
                <a:cubicBezTo>
                  <a:pt x="70600" y="35970"/>
                  <a:pt x="60861" y="31282"/>
                  <a:pt x="50564" y="31282"/>
                </a:cubicBezTo>
                <a:cubicBezTo>
                  <a:pt x="41579" y="31282"/>
                  <a:pt x="32956" y="34854"/>
                  <a:pt x="26622" y="41216"/>
                </a:cubicBezTo>
                <a:lnTo>
                  <a:pt x="16771" y="50955"/>
                </a:lnTo>
                <a:cubicBezTo>
                  <a:pt x="11748" y="55978"/>
                  <a:pt x="8930" y="62787"/>
                  <a:pt x="8930" y="69903"/>
                </a:cubicBezTo>
                <a:lnTo>
                  <a:pt x="8930" y="80367"/>
                </a:lnTo>
                <a:cubicBezTo>
                  <a:pt x="8930" y="85306"/>
                  <a:pt x="12920" y="89297"/>
                  <a:pt x="17859" y="89297"/>
                </a:cubicBezTo>
                <a:cubicBezTo>
                  <a:pt x="22799" y="89297"/>
                  <a:pt x="26789" y="85306"/>
                  <a:pt x="26789" y="80367"/>
                </a:cubicBezTo>
                <a:lnTo>
                  <a:pt x="26789" y="69903"/>
                </a:lnTo>
                <a:cubicBezTo>
                  <a:pt x="26789" y="67531"/>
                  <a:pt x="27738" y="65270"/>
                  <a:pt x="29412" y="63596"/>
                </a:cubicBezTo>
                <a:close/>
                <a:moveTo>
                  <a:pt x="32872" y="113658"/>
                </a:moveTo>
                <a:cubicBezTo>
                  <a:pt x="32454" y="115109"/>
                  <a:pt x="31672" y="116449"/>
                  <a:pt x="30612" y="117509"/>
                </a:cubicBezTo>
                <a:lnTo>
                  <a:pt x="11553" y="136568"/>
                </a:lnTo>
                <a:cubicBezTo>
                  <a:pt x="8065" y="140057"/>
                  <a:pt x="8065" y="145721"/>
                  <a:pt x="11553" y="149209"/>
                </a:cubicBezTo>
                <a:cubicBezTo>
                  <a:pt x="15041" y="152698"/>
                  <a:pt x="20706" y="152698"/>
                  <a:pt x="24194" y="149209"/>
                </a:cubicBezTo>
                <a:lnTo>
                  <a:pt x="43253" y="130150"/>
                </a:lnTo>
                <a:cubicBezTo>
                  <a:pt x="46462" y="126941"/>
                  <a:pt x="48806" y="122951"/>
                  <a:pt x="50062" y="118570"/>
                </a:cubicBezTo>
                <a:lnTo>
                  <a:pt x="50676" y="116449"/>
                </a:lnTo>
                <a:lnTo>
                  <a:pt x="37840" y="105454"/>
                </a:lnTo>
                <a:cubicBezTo>
                  <a:pt x="37142" y="104840"/>
                  <a:pt x="36444" y="104226"/>
                  <a:pt x="35775" y="103556"/>
                </a:cubicBezTo>
                <a:lnTo>
                  <a:pt x="32872" y="113658"/>
                </a:lnTo>
                <a:close/>
              </a:path>
            </a:pathLst>
          </a:custGeom>
          <a:solidFill xmlns:a="http://schemas.openxmlformats.org/drawingml/2006/main">
            <a:srgbClr val="E6B450"/>
          </a:solidFill>
        </p:spPr>
      </p:sp>
      <p:sp>
        <p:nvSpPr>
          <p:cNvPr id="14" name="Text 32">
            <a:extLst xmlns:a="http://schemas.openxmlformats.org/drawingml/2006/main">
              <a:ext uri="{FF2B5EF4-FFF2-40B4-BE49-F238E27FC236}">
                <a16:creationId xmlns:a16="http://schemas.microsoft.com/office/drawing/2014/main" id="{2FFA35BD-0469-23BF-9729-E105591F44B5}"/>
              </a:ext>
            </a:extLst>
          </p:cNvPr>
          <p:cNvSpPr>
            <a:spLocks xmlns:a="http://schemas.openxmlformats.org/drawingml/2006/main" noGrp="1"/>
          </p:cNvSpPr>
          <p:nvPr/>
        </p:nvSpPr>
        <p:spPr>
          <a:xfrm xmlns:a="http://schemas.openxmlformats.org/drawingml/2006/main">
            <a:off x="5304633" y="6142101"/>
            <a:ext cx="960438" cy="222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行人走动</a:t>
            </a:r>
            <a:endParaRPr sz="1600"/>
          </a:p>
        </p:txBody>
      </p:sp>
      <p:sp>
        <p:nvSpPr>
          <p:cNvPr id="15" name="Text 33">
            <a:extLst xmlns:a="http://schemas.openxmlformats.org/drawingml/2006/main">
              <a:ext uri="{FF2B5EF4-FFF2-40B4-BE49-F238E27FC236}">
                <a16:creationId xmlns:a16="http://schemas.microsoft.com/office/drawing/2014/main" id="{AA675187-3C8C-D892-95B3-DC6F8E4D6683}"/>
              </a:ext>
            </a:extLst>
          </p:cNvPr>
          <p:cNvSpPr>
            <a:spLocks xmlns:a="http://schemas.openxmlformats.org/drawingml/2006/main" noGrp="1"/>
          </p:cNvSpPr>
          <p:nvPr/>
        </p:nvSpPr>
        <p:spPr>
          <a:xfrm xmlns:a="http://schemas.openxmlformats.org/drawingml/2006/main">
            <a:off x="5304632" y="6514782"/>
            <a:ext cx="1827213"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人群中动态避障</a:t>
            </a:r>
            <a:endParaRPr sz="1600"/>
          </a:p>
        </p:txBody>
      </p:sp>
      <p:sp>
        <p:nvSpPr>
          <p:cNvPr id="16" name="Shape 34">
            <a:extLst xmlns:a="http://schemas.openxmlformats.org/drawingml/2006/main">
              <a:ext uri="{FF2B5EF4-FFF2-40B4-BE49-F238E27FC236}">
                <a16:creationId xmlns:a16="http://schemas.microsoft.com/office/drawing/2014/main" id="{88C8563A-0CD9-078D-1C10-C0BAC533F15B}"/>
              </a:ext>
            </a:extLst>
          </p:cNvPr>
          <p:cNvSpPr>
            <a:spLocks xmlns:a="http://schemas.openxmlformats.org/drawingml/2006/main" noGrp="1"/>
          </p:cNvSpPr>
          <p:nvPr/>
        </p:nvSpPr>
        <p:spPr>
          <a:xfrm xmlns:a="http://schemas.openxmlformats.org/drawingml/2006/main">
            <a:off x="7293716" y="6192901"/>
            <a:ext cx="125016" cy="142875"/>
          </a:xfrm>
          <a:custGeom xmlns:a="http://schemas.openxmlformats.org/drawingml/2006/main">
            <a:rect l="l" t="t" r="r" b="b"/>
            <a:pathLst>
              <a:path w="125016" h="142875">
                <a:moveTo>
                  <a:pt x="103082" y="35719"/>
                </a:moveTo>
                <a:lnTo>
                  <a:pt x="93511" y="22324"/>
                </a:lnTo>
                <a:lnTo>
                  <a:pt x="31533" y="22324"/>
                </a:lnTo>
                <a:lnTo>
                  <a:pt x="21961" y="35719"/>
                </a:lnTo>
                <a:lnTo>
                  <a:pt x="103082" y="35719"/>
                </a:lnTo>
                <a:close/>
                <a:moveTo>
                  <a:pt x="0" y="41439"/>
                </a:moveTo>
                <a:cubicBezTo>
                  <a:pt x="0" y="37728"/>
                  <a:pt x="1172" y="34100"/>
                  <a:pt x="3321" y="31059"/>
                </a:cubicBezTo>
                <a:lnTo>
                  <a:pt x="16994" y="11943"/>
                </a:lnTo>
                <a:cubicBezTo>
                  <a:pt x="20343" y="7255"/>
                  <a:pt x="25757" y="4465"/>
                  <a:pt x="31505" y="4465"/>
                </a:cubicBezTo>
                <a:lnTo>
                  <a:pt x="93483" y="4465"/>
                </a:lnTo>
                <a:cubicBezTo>
                  <a:pt x="99259" y="4465"/>
                  <a:pt x="104673" y="7255"/>
                  <a:pt x="108021" y="11943"/>
                </a:cubicBezTo>
                <a:lnTo>
                  <a:pt x="121667" y="31059"/>
                </a:lnTo>
                <a:cubicBezTo>
                  <a:pt x="123844" y="34100"/>
                  <a:pt x="124988" y="37728"/>
                  <a:pt x="124988" y="41439"/>
                </a:cubicBezTo>
                <a:lnTo>
                  <a:pt x="125016" y="116086"/>
                </a:lnTo>
                <a:cubicBezTo>
                  <a:pt x="125016" y="125936"/>
                  <a:pt x="117007" y="133945"/>
                  <a:pt x="107156" y="133945"/>
                </a:cubicBezTo>
                <a:lnTo>
                  <a:pt x="17859" y="133945"/>
                </a:lnTo>
                <a:cubicBezTo>
                  <a:pt x="8009" y="133945"/>
                  <a:pt x="0" y="125936"/>
                  <a:pt x="0" y="116086"/>
                </a:cubicBezTo>
                <a:lnTo>
                  <a:pt x="0" y="41439"/>
                </a:lnTo>
                <a:close/>
              </a:path>
            </a:pathLst>
          </a:custGeom>
          <a:solidFill xmlns:a="http://schemas.openxmlformats.org/drawingml/2006/main">
            <a:srgbClr val="E6B450"/>
          </a:solidFill>
        </p:spPr>
      </p:sp>
      <p:sp>
        <p:nvSpPr>
          <p:cNvPr id="17" name="Text 35">
            <a:extLst xmlns:a="http://schemas.openxmlformats.org/drawingml/2006/main">
              <a:ext uri="{FF2B5EF4-FFF2-40B4-BE49-F238E27FC236}">
                <a16:creationId xmlns:a16="http://schemas.microsoft.com/office/drawing/2014/main" id="{EE40C6FF-2A6A-5B98-F63E-E2D9A21622F0}"/>
              </a:ext>
            </a:extLst>
          </p:cNvPr>
          <p:cNvSpPr>
            <a:spLocks xmlns:a="http://schemas.openxmlformats.org/drawingml/2006/main" noGrp="1"/>
          </p:cNvSpPr>
          <p:nvPr/>
        </p:nvSpPr>
        <p:spPr>
          <a:xfrm xmlns:a="http://schemas.openxmlformats.org/drawingml/2006/main">
            <a:off x="7538786" y="6142101"/>
            <a:ext cx="960438" cy="222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物品移动</a:t>
            </a:r>
            <a:endParaRPr sz="1600"/>
          </a:p>
        </p:txBody>
      </p:sp>
      <p:sp>
        <p:nvSpPr>
          <p:cNvPr id="18" name="Text 36">
            <a:extLst xmlns:a="http://schemas.openxmlformats.org/drawingml/2006/main">
              <a:ext uri="{FF2B5EF4-FFF2-40B4-BE49-F238E27FC236}">
                <a16:creationId xmlns:a16="http://schemas.microsoft.com/office/drawing/2014/main" id="{7DDA1B9B-FAE4-8544-69F1-2954041D7E72}"/>
              </a:ext>
            </a:extLst>
          </p:cNvPr>
          <p:cNvSpPr>
            <a:spLocks xmlns:a="http://schemas.openxmlformats.org/drawingml/2006/main" noGrp="1"/>
          </p:cNvSpPr>
          <p:nvPr/>
        </p:nvSpPr>
        <p:spPr>
          <a:xfrm xmlns:a="http://schemas.openxmlformats.org/drawingml/2006/main">
            <a:off x="7538785" y="6514782"/>
            <a:ext cx="1827213"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仓库中货物搬运</a:t>
            </a:r>
            <a:endParaRPr sz="1600"/>
          </a:p>
        </p:txBody>
      </p:sp>
      <p:sp>
        <p:nvSpPr>
          <p:cNvPr id="19" name="Text 27">
            <a:extLst xmlns:a="http://schemas.openxmlformats.org/drawingml/2006/main">
              <a:ext uri="{FF2B5EF4-FFF2-40B4-BE49-F238E27FC236}">
                <a16:creationId xmlns:a16="http://schemas.microsoft.com/office/drawing/2014/main" id="{E6BD5325-CF93-3BE4-BA5F-529EC06C9A6D}"/>
              </a:ext>
            </a:extLst>
          </p:cNvPr>
          <p:cNvSpPr>
            <a:spLocks xmlns:a="http://schemas.openxmlformats.org/drawingml/2006/main" noGrp="1"/>
          </p:cNvSpPr>
          <p:nvPr/>
        </p:nvSpPr>
        <p:spPr>
          <a:xfrm xmlns:a="http://schemas.openxmlformats.org/drawingml/2006/main">
            <a:off x="1000339" y="6301429"/>
            <a:ext cx="1463462" cy="222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动态适应场景</a:t>
            </a:r>
            <a:endParaRPr/>
          </a:p>
        </p:txBody>
      </p:sp>
    </p:spTree>
    <p:extLst>
      <p:ext uri="{BB962C8B-B14F-4D97-AF65-F5344CB8AC3E}">
        <p14:creationId xmlns:p14="http://schemas.microsoft.com/office/powerpoint/2010/main" val="2959888542"/>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B6DF3C01-C198-4E00-BB35-C4596A1EB6D6}"/>
              </a:ext>
            </a:extLst>
          </p:cNvPr>
          <p:cNvSpPr>
            <a:spLocks xmlns:a="http://schemas.openxmlformats.org/drawingml/2006/main" noGrp="1"/>
          </p:cNvSpPr>
          <p:nvPr/>
        </p:nvSpPr>
        <p:spPr>
          <a:xfrm xmlns:a="http://schemas.openxmlformats.org/drawingml/2006/main">
            <a:off x="389105" y="1686128"/>
            <a:ext cx="11093833" cy="1667599"/>
          </a:xfrm>
          <a:custGeom xmlns:a="http://schemas.openxmlformats.org/drawingml/2006/main">
            <a:rect l="l" t="t" r="r" b="b"/>
            <a:pathLst>
              <a:path w="7411550" h="1667599">
                <a:moveTo>
                  <a:pt x="37058" y="0"/>
                </a:moveTo>
                <a:lnTo>
                  <a:pt x="7300371" y="0"/>
                </a:lnTo>
                <a:cubicBezTo>
                  <a:pt x="7361774" y="0"/>
                  <a:pt x="7411550" y="49776"/>
                  <a:pt x="7411550" y="111179"/>
                </a:cubicBezTo>
                <a:lnTo>
                  <a:pt x="7411550" y="1556420"/>
                </a:lnTo>
                <a:cubicBezTo>
                  <a:pt x="7411550" y="1617822"/>
                  <a:pt x="7361774" y="1667599"/>
                  <a:pt x="7300371" y="1667599"/>
                </a:cubicBezTo>
                <a:lnTo>
                  <a:pt x="37058" y="1667599"/>
                </a:lnTo>
                <a:cubicBezTo>
                  <a:pt x="16591" y="1667599"/>
                  <a:pt x="0" y="1651007"/>
                  <a:pt x="0" y="1630541"/>
                </a:cubicBezTo>
                <a:lnTo>
                  <a:pt x="0" y="37058"/>
                </a:lnTo>
                <a:cubicBezTo>
                  <a:pt x="0" y="16591"/>
                  <a:pt x="16591" y="0"/>
                  <a:pt x="37058"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F37D7AED-DBE3-4F83-93B5-680FE90459D6}"/>
              </a:ext>
            </a:extLst>
          </p:cNvPr>
          <p:cNvSpPr>
            <a:spLocks xmlns:a="http://schemas.openxmlformats.org/drawingml/2006/main" noGrp="1"/>
          </p:cNvSpPr>
          <p:nvPr/>
        </p:nvSpPr>
        <p:spPr>
          <a:xfrm xmlns:a="http://schemas.openxmlformats.org/drawingml/2006/main">
            <a:off x="389106" y="1686128"/>
            <a:ext cx="37058" cy="1667599"/>
          </a:xfrm>
          <a:custGeom xmlns:a="http://schemas.openxmlformats.org/drawingml/2006/main">
            <a:rect l="l" t="t" r="r" b="b"/>
            <a:pathLst>
              <a:path w="37058" h="1667599">
                <a:moveTo>
                  <a:pt x="37058" y="0"/>
                </a:moveTo>
                <a:lnTo>
                  <a:pt x="37058" y="0"/>
                </a:lnTo>
                <a:lnTo>
                  <a:pt x="37058" y="1667599"/>
                </a:lnTo>
                <a:lnTo>
                  <a:pt x="37058" y="1667599"/>
                </a:lnTo>
                <a:cubicBezTo>
                  <a:pt x="16591" y="1667599"/>
                  <a:pt x="0" y="1651007"/>
                  <a:pt x="0" y="1630541"/>
                </a:cubicBezTo>
                <a:lnTo>
                  <a:pt x="0" y="37058"/>
                </a:lnTo>
                <a:cubicBezTo>
                  <a:pt x="0" y="16591"/>
                  <a:pt x="16591" y="0"/>
                  <a:pt x="37058"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AC58D980-19B1-4F72-BC3D-DE78DAF7EB41}"/>
              </a:ext>
            </a:extLst>
          </p:cNvPr>
          <p:cNvSpPr>
            <a:spLocks xmlns:a="http://schemas.openxmlformats.org/drawingml/2006/main" noGrp="1"/>
          </p:cNvSpPr>
          <p:nvPr/>
        </p:nvSpPr>
        <p:spPr>
          <a:xfrm xmlns:a="http://schemas.openxmlformats.org/drawingml/2006/main">
            <a:off x="611453" y="1945532"/>
            <a:ext cx="194553" cy="222347"/>
          </a:xfrm>
          <a:custGeom xmlns:a="http://schemas.openxmlformats.org/drawingml/2006/main">
            <a:rect l="l" t="t" r="r" b="b"/>
            <a:pathLst>
              <a:path w="194553" h="222347">
                <a:moveTo>
                  <a:pt x="166760" y="222347"/>
                </a:moveTo>
                <a:lnTo>
                  <a:pt x="41690" y="222347"/>
                </a:lnTo>
                <a:cubicBezTo>
                  <a:pt x="18674" y="222347"/>
                  <a:pt x="0" y="203673"/>
                  <a:pt x="0" y="180657"/>
                </a:cubicBezTo>
                <a:lnTo>
                  <a:pt x="0" y="41690"/>
                </a:lnTo>
                <a:cubicBezTo>
                  <a:pt x="0" y="18674"/>
                  <a:pt x="18674" y="0"/>
                  <a:pt x="41690" y="0"/>
                </a:cubicBezTo>
                <a:lnTo>
                  <a:pt x="173708" y="0"/>
                </a:lnTo>
                <a:cubicBezTo>
                  <a:pt x="185216" y="0"/>
                  <a:pt x="194553" y="9337"/>
                  <a:pt x="194553" y="20845"/>
                </a:cubicBezTo>
                <a:lnTo>
                  <a:pt x="194553" y="145915"/>
                </a:lnTo>
                <a:cubicBezTo>
                  <a:pt x="194553" y="154991"/>
                  <a:pt x="188734" y="162721"/>
                  <a:pt x="180657" y="165587"/>
                </a:cubicBezTo>
                <a:lnTo>
                  <a:pt x="180657" y="194553"/>
                </a:lnTo>
                <a:cubicBezTo>
                  <a:pt x="188343" y="194553"/>
                  <a:pt x="194553" y="200763"/>
                  <a:pt x="194553" y="208450"/>
                </a:cubicBezTo>
                <a:cubicBezTo>
                  <a:pt x="194553" y="216136"/>
                  <a:pt x="188343" y="222347"/>
                  <a:pt x="180657" y="222347"/>
                </a:cubicBezTo>
                <a:lnTo>
                  <a:pt x="166760" y="222347"/>
                </a:lnTo>
                <a:close/>
                <a:moveTo>
                  <a:pt x="41690" y="166760"/>
                </a:moveTo>
                <a:cubicBezTo>
                  <a:pt x="34003" y="166760"/>
                  <a:pt x="27793" y="172970"/>
                  <a:pt x="27793" y="180657"/>
                </a:cubicBezTo>
                <a:cubicBezTo>
                  <a:pt x="27793" y="188343"/>
                  <a:pt x="34003" y="194553"/>
                  <a:pt x="41690" y="194553"/>
                </a:cubicBezTo>
                <a:lnTo>
                  <a:pt x="152863" y="194553"/>
                </a:lnTo>
                <a:lnTo>
                  <a:pt x="152863" y="166760"/>
                </a:lnTo>
                <a:lnTo>
                  <a:pt x="41690" y="166760"/>
                </a:lnTo>
                <a:close/>
                <a:moveTo>
                  <a:pt x="55587" y="66009"/>
                </a:moveTo>
                <a:cubicBezTo>
                  <a:pt x="55587" y="71785"/>
                  <a:pt x="60233" y="76432"/>
                  <a:pt x="66009" y="76432"/>
                </a:cubicBezTo>
                <a:lnTo>
                  <a:pt x="142441" y="76432"/>
                </a:lnTo>
                <a:cubicBezTo>
                  <a:pt x="148217" y="76432"/>
                  <a:pt x="152863" y="71785"/>
                  <a:pt x="152863" y="66009"/>
                </a:cubicBezTo>
                <a:cubicBezTo>
                  <a:pt x="152863" y="60233"/>
                  <a:pt x="148217" y="55587"/>
                  <a:pt x="142441" y="55587"/>
                </a:cubicBezTo>
                <a:lnTo>
                  <a:pt x="66009" y="55587"/>
                </a:lnTo>
                <a:cubicBezTo>
                  <a:pt x="60233" y="55587"/>
                  <a:pt x="55587" y="60233"/>
                  <a:pt x="55587" y="66009"/>
                </a:cubicBezTo>
                <a:close/>
                <a:moveTo>
                  <a:pt x="66009" y="97277"/>
                </a:moveTo>
                <a:cubicBezTo>
                  <a:pt x="60233" y="97277"/>
                  <a:pt x="55587" y="101923"/>
                  <a:pt x="55587" y="107699"/>
                </a:cubicBezTo>
                <a:cubicBezTo>
                  <a:pt x="55587" y="113475"/>
                  <a:pt x="60233" y="118122"/>
                  <a:pt x="66009" y="118122"/>
                </a:cubicBezTo>
                <a:lnTo>
                  <a:pt x="142441" y="118122"/>
                </a:lnTo>
                <a:cubicBezTo>
                  <a:pt x="148217" y="118122"/>
                  <a:pt x="152863" y="113475"/>
                  <a:pt x="152863" y="107699"/>
                </a:cubicBezTo>
                <a:cubicBezTo>
                  <a:pt x="152863" y="101923"/>
                  <a:pt x="148217" y="97277"/>
                  <a:pt x="142441" y="97277"/>
                </a:cubicBezTo>
                <a:lnTo>
                  <a:pt x="66009" y="97277"/>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A128A6A5-DA1A-454C-8262-95E885377F17}"/>
              </a:ext>
            </a:extLst>
          </p:cNvPr>
          <p:cNvSpPr>
            <a:spLocks xmlns:a="http://schemas.openxmlformats.org/drawingml/2006/main" noGrp="1"/>
          </p:cNvSpPr>
          <p:nvPr/>
        </p:nvSpPr>
        <p:spPr>
          <a:xfrm xmlns:a="http://schemas.openxmlformats.org/drawingml/2006/main">
            <a:off x="933247" y="1908474"/>
            <a:ext cx="6763040" cy="29646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定义</a:t>
            </a:r>
            <a:endParaRPr/>
          </a:p>
        </p:txBody>
      </p:sp>
      <p:sp>
        <p:nvSpPr>
          <p:cNvPr id="9" name="Text 7">
            <a:extLst xmlns:a="http://schemas.openxmlformats.org/drawingml/2006/main">
              <a:ext uri="{FF2B5EF4-FFF2-40B4-BE49-F238E27FC236}">
                <a16:creationId xmlns:a16="http://schemas.microsoft.com/office/drawing/2014/main" id="{D863DD49-5B35-49BF-9DA1-3FE1687D25DD}"/>
              </a:ext>
            </a:extLst>
          </p:cNvPr>
          <p:cNvSpPr>
            <a:spLocks xmlns:a="http://schemas.openxmlformats.org/drawingml/2006/main" noGrp="1"/>
          </p:cNvSpPr>
          <p:nvPr/>
        </p:nvSpPr>
        <p:spPr>
          <a:xfrm xmlns:a="http://schemas.openxmlformats.org/drawingml/2006/main">
            <a:off x="933247" y="2316109"/>
            <a:ext cx="10217136" cy="81527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b="1">
                <a:latin typeface="微软雅黑"/>
                <a:ea typeface="微软雅黑"/>
                <a:cs typeface="微软雅黑"/>
              </a:rPr>
              <a:t>拓扑地图（topological map）</a:t>
            </a:r>
            <a:r>
              <a:rPr>
                <a:latin typeface="微软雅黑"/>
                <a:ea typeface="微软雅黑"/>
                <a:cs typeface="微软雅黑"/>
              </a:rPr>
              <a:t>不像度量地图那样详尽地考虑环境中的每一个物体，而是只考虑机器人能够识别的</a:t>
            </a:r>
            <a:r>
              <a:rPr>
                <a:highlight>
                  <a:srgbClr val="E6B450">
                    <a:alpha val="20000"/>
                  </a:srgbClr>
                </a:highlight>
                <a:latin typeface="微软雅黑"/>
                <a:ea typeface="微软雅黑"/>
                <a:cs typeface="微软雅黑"/>
              </a:rPr>
              <a:t> 特征 </a:t>
            </a:r>
            <a:r>
              <a:rPr>
                <a:latin typeface="微软雅黑"/>
                <a:ea typeface="微软雅黑"/>
                <a:cs typeface="微软雅黑"/>
              </a:rPr>
              <a:t>或者</a:t>
            </a:r>
            <a:r>
              <a:rPr>
                <a:highlight>
                  <a:srgbClr val="E6B450">
                    <a:alpha val="20000"/>
                  </a:srgbClr>
                </a:highlight>
                <a:latin typeface="微软雅黑"/>
                <a:ea typeface="微软雅黑"/>
                <a:cs typeface="微软雅黑"/>
              </a:rPr>
              <a:t> 感兴趣的地点 </a:t>
            </a:r>
            <a:r>
              <a:rPr>
                <a:latin typeface="微软雅黑"/>
                <a:ea typeface="微软雅黑"/>
                <a:cs typeface="微软雅黑"/>
              </a:rPr>
              <a:t>。这些物体或地点在拓扑地图里被称为</a:t>
            </a:r>
            <a:r>
              <a:rPr b="1">
                <a:latin typeface="微软雅黑"/>
                <a:ea typeface="微软雅黑"/>
                <a:cs typeface="微软雅黑"/>
              </a:rPr>
              <a:t>地标</a:t>
            </a:r>
            <a:r>
              <a:rPr>
                <a:latin typeface="微软雅黑"/>
                <a:ea typeface="微软雅黑"/>
                <a:cs typeface="微软雅黑"/>
              </a:rPr>
              <a:t>。</a:t>
            </a:r>
            <a:endParaRPr/>
          </a:p>
        </p:txBody>
      </p:sp>
      <p:sp>
        <p:nvSpPr>
          <p:cNvPr id="10" name="Shape 8">
            <a:extLst xmlns:a="http://schemas.openxmlformats.org/drawingml/2006/main">
              <a:ext uri="{FF2B5EF4-FFF2-40B4-BE49-F238E27FC236}">
                <a16:creationId xmlns:a16="http://schemas.microsoft.com/office/drawing/2014/main" id="{D742253F-0B58-4EF0-B37F-2D39D545B955}"/>
              </a:ext>
            </a:extLst>
          </p:cNvPr>
          <p:cNvSpPr>
            <a:spLocks xmlns:a="http://schemas.openxmlformats.org/drawingml/2006/main" noGrp="1"/>
          </p:cNvSpPr>
          <p:nvPr/>
        </p:nvSpPr>
        <p:spPr>
          <a:xfrm xmlns:a="http://schemas.openxmlformats.org/drawingml/2006/main">
            <a:off x="389106" y="3525632"/>
            <a:ext cx="11093832" cy="1667599"/>
          </a:xfrm>
          <a:custGeom xmlns:a="http://schemas.openxmlformats.org/drawingml/2006/main">
            <a:rect l="l" t="t" r="r" b="b"/>
            <a:pathLst>
              <a:path w="7411550" h="1667599">
                <a:moveTo>
                  <a:pt x="37058" y="0"/>
                </a:moveTo>
                <a:lnTo>
                  <a:pt x="7300371" y="0"/>
                </a:lnTo>
                <a:cubicBezTo>
                  <a:pt x="7361774" y="0"/>
                  <a:pt x="7411550" y="49776"/>
                  <a:pt x="7411550" y="111179"/>
                </a:cubicBezTo>
                <a:lnTo>
                  <a:pt x="7411550" y="1556420"/>
                </a:lnTo>
                <a:cubicBezTo>
                  <a:pt x="7411550" y="1617822"/>
                  <a:pt x="7361774" y="1667599"/>
                  <a:pt x="7300371" y="1667599"/>
                </a:cubicBezTo>
                <a:lnTo>
                  <a:pt x="37058" y="1667599"/>
                </a:lnTo>
                <a:cubicBezTo>
                  <a:pt x="16591" y="1667599"/>
                  <a:pt x="0" y="1651007"/>
                  <a:pt x="0" y="1630541"/>
                </a:cubicBezTo>
                <a:lnTo>
                  <a:pt x="0" y="37058"/>
                </a:lnTo>
                <a:cubicBezTo>
                  <a:pt x="0" y="16591"/>
                  <a:pt x="16591" y="0"/>
                  <a:pt x="37058"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073C0F84-BAE6-49C0-8916-EC5B3420B07F}"/>
              </a:ext>
            </a:extLst>
          </p:cNvPr>
          <p:cNvSpPr>
            <a:spLocks xmlns:a="http://schemas.openxmlformats.org/drawingml/2006/main" noGrp="1"/>
          </p:cNvSpPr>
          <p:nvPr/>
        </p:nvSpPr>
        <p:spPr>
          <a:xfrm xmlns:a="http://schemas.openxmlformats.org/drawingml/2006/main">
            <a:off x="389106" y="3525632"/>
            <a:ext cx="37058" cy="1667599"/>
          </a:xfrm>
          <a:custGeom xmlns:a="http://schemas.openxmlformats.org/drawingml/2006/main">
            <a:rect l="l" t="t" r="r" b="b"/>
            <a:pathLst>
              <a:path w="37058" h="1667599">
                <a:moveTo>
                  <a:pt x="37058" y="0"/>
                </a:moveTo>
                <a:lnTo>
                  <a:pt x="37058" y="0"/>
                </a:lnTo>
                <a:lnTo>
                  <a:pt x="37058" y="1667599"/>
                </a:lnTo>
                <a:lnTo>
                  <a:pt x="37058" y="1667599"/>
                </a:lnTo>
                <a:cubicBezTo>
                  <a:pt x="16591" y="1667599"/>
                  <a:pt x="0" y="1651007"/>
                  <a:pt x="0" y="1630541"/>
                </a:cubicBezTo>
                <a:lnTo>
                  <a:pt x="0" y="37058"/>
                </a:lnTo>
                <a:cubicBezTo>
                  <a:pt x="0" y="16591"/>
                  <a:pt x="16591" y="0"/>
                  <a:pt x="37058"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02CAAA33-C825-4B3B-8F23-606AF466F34F}"/>
              </a:ext>
            </a:extLst>
          </p:cNvPr>
          <p:cNvSpPr>
            <a:spLocks xmlns:a="http://schemas.openxmlformats.org/drawingml/2006/main" noGrp="1"/>
          </p:cNvSpPr>
          <p:nvPr/>
        </p:nvSpPr>
        <p:spPr>
          <a:xfrm xmlns:a="http://schemas.openxmlformats.org/drawingml/2006/main">
            <a:off x="597556" y="3785036"/>
            <a:ext cx="222347" cy="222347"/>
          </a:xfrm>
          <a:custGeom xmlns:a="http://schemas.openxmlformats.org/drawingml/2006/main">
            <a:rect l="l" t="t" r="r" b="b"/>
            <a:pathLst>
              <a:path w="222347" h="222347">
                <a:moveTo>
                  <a:pt x="0" y="34742"/>
                </a:moveTo>
                <a:cubicBezTo>
                  <a:pt x="0" y="23233"/>
                  <a:pt x="9337" y="13897"/>
                  <a:pt x="20845" y="13897"/>
                </a:cubicBezTo>
                <a:lnTo>
                  <a:pt x="62535" y="13897"/>
                </a:lnTo>
                <a:cubicBezTo>
                  <a:pt x="74043" y="13897"/>
                  <a:pt x="83380" y="23233"/>
                  <a:pt x="83380" y="34742"/>
                </a:cubicBezTo>
                <a:lnTo>
                  <a:pt x="83380" y="41690"/>
                </a:lnTo>
                <a:lnTo>
                  <a:pt x="138967" y="41690"/>
                </a:lnTo>
                <a:lnTo>
                  <a:pt x="138967" y="34742"/>
                </a:lnTo>
                <a:cubicBezTo>
                  <a:pt x="138967" y="23233"/>
                  <a:pt x="148303" y="13897"/>
                  <a:pt x="159812" y="13897"/>
                </a:cubicBezTo>
                <a:lnTo>
                  <a:pt x="201502" y="13897"/>
                </a:lnTo>
                <a:cubicBezTo>
                  <a:pt x="213010" y="13897"/>
                  <a:pt x="222347" y="23233"/>
                  <a:pt x="222347" y="34742"/>
                </a:cubicBezTo>
                <a:lnTo>
                  <a:pt x="222347" y="76432"/>
                </a:lnTo>
                <a:cubicBezTo>
                  <a:pt x="222347" y="87940"/>
                  <a:pt x="213010" y="97277"/>
                  <a:pt x="201502" y="97277"/>
                </a:cubicBezTo>
                <a:lnTo>
                  <a:pt x="159812" y="97277"/>
                </a:lnTo>
                <a:cubicBezTo>
                  <a:pt x="148303" y="97277"/>
                  <a:pt x="138967" y="87940"/>
                  <a:pt x="138967" y="76432"/>
                </a:cubicBezTo>
                <a:lnTo>
                  <a:pt x="138967" y="69483"/>
                </a:lnTo>
                <a:lnTo>
                  <a:pt x="83380" y="69483"/>
                </a:lnTo>
                <a:lnTo>
                  <a:pt x="83380" y="76432"/>
                </a:lnTo>
                <a:cubicBezTo>
                  <a:pt x="83380" y="79602"/>
                  <a:pt x="82642" y="82642"/>
                  <a:pt x="81382" y="85334"/>
                </a:cubicBezTo>
                <a:lnTo>
                  <a:pt x="111173" y="125070"/>
                </a:lnTo>
                <a:lnTo>
                  <a:pt x="145915" y="125070"/>
                </a:lnTo>
                <a:cubicBezTo>
                  <a:pt x="157423" y="125070"/>
                  <a:pt x="166760" y="134407"/>
                  <a:pt x="166760" y="145915"/>
                </a:cubicBezTo>
                <a:lnTo>
                  <a:pt x="166760" y="187605"/>
                </a:lnTo>
                <a:cubicBezTo>
                  <a:pt x="166760" y="199113"/>
                  <a:pt x="157423" y="208450"/>
                  <a:pt x="145915" y="208450"/>
                </a:cubicBezTo>
                <a:lnTo>
                  <a:pt x="104225" y="208450"/>
                </a:lnTo>
                <a:cubicBezTo>
                  <a:pt x="92717" y="208450"/>
                  <a:pt x="83380" y="199113"/>
                  <a:pt x="83380" y="187605"/>
                </a:cubicBezTo>
                <a:lnTo>
                  <a:pt x="83380" y="145915"/>
                </a:lnTo>
                <a:cubicBezTo>
                  <a:pt x="83380" y="142745"/>
                  <a:pt x="84118" y="139705"/>
                  <a:pt x="85378" y="137012"/>
                </a:cubicBezTo>
                <a:lnTo>
                  <a:pt x="55587" y="97277"/>
                </a:lnTo>
                <a:lnTo>
                  <a:pt x="20845" y="97277"/>
                </a:lnTo>
                <a:cubicBezTo>
                  <a:pt x="9337" y="97277"/>
                  <a:pt x="0" y="87940"/>
                  <a:pt x="0" y="76432"/>
                </a:cubicBezTo>
                <a:lnTo>
                  <a:pt x="0" y="34742"/>
                </a:ln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746051FD-9C98-4314-BA84-32DDC5442A81}"/>
              </a:ext>
            </a:extLst>
          </p:cNvPr>
          <p:cNvSpPr>
            <a:spLocks xmlns:a="http://schemas.openxmlformats.org/drawingml/2006/main" noGrp="1"/>
          </p:cNvSpPr>
          <p:nvPr/>
        </p:nvSpPr>
        <p:spPr>
          <a:xfrm xmlns:a="http://schemas.openxmlformats.org/drawingml/2006/main">
            <a:off x="933247" y="3747978"/>
            <a:ext cx="6763040" cy="29646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抽象表示</a:t>
            </a:r>
            <a:endParaRPr/>
          </a:p>
        </p:txBody>
      </p:sp>
      <p:sp>
        <p:nvSpPr>
          <p:cNvPr id="14" name="Text 12">
            <a:extLst xmlns:a="http://schemas.openxmlformats.org/drawingml/2006/main">
              <a:ext uri="{FF2B5EF4-FFF2-40B4-BE49-F238E27FC236}">
                <a16:creationId xmlns:a16="http://schemas.microsoft.com/office/drawing/2014/main" id="{B988BBCD-9B7A-4D6B-8D9A-DE4ACD8FE830}"/>
              </a:ext>
            </a:extLst>
          </p:cNvPr>
          <p:cNvSpPr>
            <a:spLocks xmlns:a="http://schemas.openxmlformats.org/drawingml/2006/main" noGrp="1"/>
          </p:cNvSpPr>
          <p:nvPr/>
        </p:nvSpPr>
        <p:spPr>
          <a:xfrm xmlns:a="http://schemas.openxmlformats.org/drawingml/2006/main">
            <a:off x="933247" y="4155614"/>
            <a:ext cx="10222432" cy="81527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a:latin typeface="微软雅黑"/>
                <a:ea typeface="微软雅黑"/>
                <a:cs typeface="微软雅黑"/>
              </a:rPr>
              <a:t>拓扑地图作为一种</a:t>
            </a:r>
            <a:r>
              <a:rPr b="1">
                <a:latin typeface="微软雅黑"/>
                <a:ea typeface="微软雅黑"/>
                <a:cs typeface="微软雅黑"/>
              </a:rPr>
              <a:t>抽象的地图表示方法</a:t>
            </a:r>
            <a:r>
              <a:rPr>
                <a:latin typeface="微软雅黑"/>
                <a:ea typeface="微软雅黑"/>
                <a:cs typeface="微软雅黑"/>
              </a:rPr>
              <a:t>，它强调的是</a:t>
            </a:r>
            <a:r>
              <a:rPr>
                <a:highlight>
                  <a:srgbClr val="E6B450">
                    <a:alpha val="20000"/>
                  </a:srgbClr>
                </a:highlight>
                <a:latin typeface="微软雅黑"/>
                <a:ea typeface="微软雅黑"/>
                <a:cs typeface="微软雅黑"/>
              </a:rPr>
              <a:t> 地点之间的连通性 </a:t>
            </a:r>
            <a:r>
              <a:rPr>
                <a:latin typeface="微软雅黑"/>
                <a:ea typeface="微软雅黑"/>
                <a:cs typeface="微软雅黑"/>
              </a:rPr>
              <a:t>而非具体的地理位置。在这种表示中，每个地标是一个代表现实世界中特定区域的</a:t>
            </a:r>
            <a:r>
              <a:rPr>
                <a:highlight>
                  <a:srgbClr val="E6B450">
                    <a:alpha val="20000"/>
                  </a:srgbClr>
                </a:highlight>
                <a:latin typeface="微软雅黑"/>
                <a:ea typeface="微软雅黑"/>
                <a:cs typeface="微软雅黑"/>
              </a:rPr>
              <a:t> 节点 </a:t>
            </a:r>
            <a:r>
              <a:rPr>
                <a:latin typeface="微软雅黑"/>
                <a:ea typeface="微软雅黑"/>
                <a:cs typeface="微软雅黑"/>
              </a:rPr>
              <a:t>，而连线则表示这些节点间的邻接关系（称为</a:t>
            </a:r>
            <a:r>
              <a:rPr>
                <a:highlight>
                  <a:srgbClr val="E6B450">
                    <a:alpha val="20000"/>
                  </a:srgbClr>
                </a:highlight>
                <a:latin typeface="微软雅黑"/>
                <a:ea typeface="微软雅黑"/>
                <a:cs typeface="微软雅黑"/>
              </a:rPr>
              <a:t> 边 </a:t>
            </a:r>
            <a:r>
              <a:rPr>
                <a:latin typeface="微软雅黑"/>
                <a:ea typeface="微软雅黑"/>
                <a:cs typeface="微软雅黑"/>
              </a:rPr>
              <a:t>）。</a:t>
            </a:r>
            <a:endParaRPr/>
          </a:p>
        </p:txBody>
      </p:sp>
      <p:sp>
        <p:nvSpPr>
          <p:cNvPr id="15" name="Shape 13">
            <a:extLst xmlns:a="http://schemas.openxmlformats.org/drawingml/2006/main">
              <a:ext uri="{FF2B5EF4-FFF2-40B4-BE49-F238E27FC236}">
                <a16:creationId xmlns:a16="http://schemas.microsoft.com/office/drawing/2014/main" id="{D8F6E79A-642E-4B9D-8E69-2C29B4E330BB}"/>
              </a:ext>
            </a:extLst>
          </p:cNvPr>
          <p:cNvSpPr>
            <a:spLocks xmlns:a="http://schemas.openxmlformats.org/drawingml/2006/main" noGrp="1"/>
          </p:cNvSpPr>
          <p:nvPr/>
        </p:nvSpPr>
        <p:spPr>
          <a:xfrm xmlns:a="http://schemas.openxmlformats.org/drawingml/2006/main">
            <a:off x="389106" y="5365136"/>
            <a:ext cx="11093832" cy="1398930"/>
          </a:xfrm>
          <a:custGeom xmlns:a="http://schemas.openxmlformats.org/drawingml/2006/main">
            <a:rect l="l" t="t" r="r" b="b"/>
            <a:pathLst>
              <a:path w="7411550" h="1398930">
                <a:moveTo>
                  <a:pt x="37058" y="0"/>
                </a:moveTo>
                <a:lnTo>
                  <a:pt x="7300377" y="0"/>
                </a:lnTo>
                <a:cubicBezTo>
                  <a:pt x="7361735" y="0"/>
                  <a:pt x="7411550" y="49815"/>
                  <a:pt x="7411550" y="111173"/>
                </a:cubicBezTo>
                <a:lnTo>
                  <a:pt x="7411550" y="1287757"/>
                </a:lnTo>
                <a:cubicBezTo>
                  <a:pt x="7411550" y="1349115"/>
                  <a:pt x="7361735" y="1398930"/>
                  <a:pt x="7300377" y="1398930"/>
                </a:cubicBezTo>
                <a:lnTo>
                  <a:pt x="37058" y="1398930"/>
                </a:lnTo>
                <a:cubicBezTo>
                  <a:pt x="16591" y="1398930"/>
                  <a:pt x="0" y="1382339"/>
                  <a:pt x="0" y="1361872"/>
                </a:cubicBezTo>
                <a:lnTo>
                  <a:pt x="0" y="37058"/>
                </a:lnTo>
                <a:cubicBezTo>
                  <a:pt x="0" y="16605"/>
                  <a:pt x="16605" y="0"/>
                  <a:pt x="37058" y="0"/>
                </a:cubicBezTo>
                <a:close/>
              </a:path>
            </a:pathLst>
          </a:custGeom>
          <a:solidFill xmlns:a="http://schemas.openxmlformats.org/drawingml/2006/main">
            <a:srgbClr val="5F87A7">
              <a:alpha val="10196"/>
            </a:srgbClr>
          </a:solidFill>
        </p:spPr>
      </p:sp>
      <p:sp>
        <p:nvSpPr>
          <p:cNvPr id="16" name="Shape 14">
            <a:extLst xmlns:a="http://schemas.openxmlformats.org/drawingml/2006/main">
              <a:ext uri="{FF2B5EF4-FFF2-40B4-BE49-F238E27FC236}">
                <a16:creationId xmlns:a16="http://schemas.microsoft.com/office/drawing/2014/main" id="{11EF4CCE-6DBE-447E-956A-A61A135377D7}"/>
              </a:ext>
            </a:extLst>
          </p:cNvPr>
          <p:cNvSpPr>
            <a:spLocks xmlns:a="http://schemas.openxmlformats.org/drawingml/2006/main" noGrp="1"/>
          </p:cNvSpPr>
          <p:nvPr/>
        </p:nvSpPr>
        <p:spPr>
          <a:xfrm xmlns:a="http://schemas.openxmlformats.org/drawingml/2006/main">
            <a:off x="389106" y="5365136"/>
            <a:ext cx="37058" cy="1398930"/>
          </a:xfrm>
          <a:custGeom xmlns:a="http://schemas.openxmlformats.org/drawingml/2006/main">
            <a:rect l="l" t="t" r="r" b="b"/>
            <a:pathLst>
              <a:path w="37058" h="1398930">
                <a:moveTo>
                  <a:pt x="37058" y="0"/>
                </a:moveTo>
                <a:lnTo>
                  <a:pt x="37058" y="0"/>
                </a:lnTo>
                <a:lnTo>
                  <a:pt x="37058" y="1398930"/>
                </a:lnTo>
                <a:lnTo>
                  <a:pt x="37058" y="1398930"/>
                </a:lnTo>
                <a:cubicBezTo>
                  <a:pt x="16591" y="1398930"/>
                  <a:pt x="0" y="1382339"/>
                  <a:pt x="0" y="1361872"/>
                </a:cubicBezTo>
                <a:lnTo>
                  <a:pt x="0" y="37058"/>
                </a:lnTo>
                <a:cubicBezTo>
                  <a:pt x="0" y="16591"/>
                  <a:pt x="16591" y="0"/>
                  <a:pt x="37058" y="0"/>
                </a:cubicBezTo>
                <a:close/>
              </a:path>
            </a:pathLst>
          </a:custGeom>
          <a:solidFill xmlns:a="http://schemas.openxmlformats.org/drawingml/2006/main">
            <a:srgbClr val="E6B450"/>
          </a:solidFill>
        </p:spPr>
      </p:sp>
      <p:sp>
        <p:nvSpPr>
          <p:cNvPr id="17" name="Shape 15">
            <a:extLst xmlns:a="http://schemas.openxmlformats.org/drawingml/2006/main">
              <a:ext uri="{FF2B5EF4-FFF2-40B4-BE49-F238E27FC236}">
                <a16:creationId xmlns:a16="http://schemas.microsoft.com/office/drawing/2014/main" id="{E50E69D8-4169-4E05-A386-FBB9D9912E74}"/>
              </a:ext>
            </a:extLst>
          </p:cNvPr>
          <p:cNvSpPr>
            <a:spLocks xmlns:a="http://schemas.openxmlformats.org/drawingml/2006/main" noGrp="1"/>
          </p:cNvSpPr>
          <p:nvPr/>
        </p:nvSpPr>
        <p:spPr>
          <a:xfrm xmlns:a="http://schemas.openxmlformats.org/drawingml/2006/main">
            <a:off x="597556" y="5624540"/>
            <a:ext cx="222347" cy="222347"/>
          </a:xfrm>
          <a:custGeom xmlns:a="http://schemas.openxmlformats.org/drawingml/2006/main">
            <a:rect l="l" t="t" r="r" b="b"/>
            <a:pathLst>
              <a:path w="222347" h="222347">
                <a:moveTo>
                  <a:pt x="190862" y="3040"/>
                </a:moveTo>
                <a:cubicBezTo>
                  <a:pt x="194944" y="-1042"/>
                  <a:pt x="201545" y="-1042"/>
                  <a:pt x="205584" y="3040"/>
                </a:cubicBezTo>
                <a:lnTo>
                  <a:pt x="219480" y="16937"/>
                </a:lnTo>
                <a:cubicBezTo>
                  <a:pt x="223562" y="21019"/>
                  <a:pt x="223562" y="27620"/>
                  <a:pt x="219480" y="31658"/>
                </a:cubicBezTo>
                <a:lnTo>
                  <a:pt x="181699" y="69440"/>
                </a:lnTo>
                <a:lnTo>
                  <a:pt x="198635" y="86376"/>
                </a:lnTo>
                <a:cubicBezTo>
                  <a:pt x="201632" y="89373"/>
                  <a:pt x="202500" y="93846"/>
                  <a:pt x="200894" y="97754"/>
                </a:cubicBezTo>
                <a:cubicBezTo>
                  <a:pt x="199287" y="101663"/>
                  <a:pt x="195509" y="104225"/>
                  <a:pt x="191296" y="104225"/>
                </a:cubicBezTo>
                <a:lnTo>
                  <a:pt x="128761" y="104225"/>
                </a:lnTo>
                <a:cubicBezTo>
                  <a:pt x="122985" y="104225"/>
                  <a:pt x="118339" y="99578"/>
                  <a:pt x="118339" y="93802"/>
                </a:cubicBezTo>
                <a:lnTo>
                  <a:pt x="118339" y="31267"/>
                </a:lnTo>
                <a:cubicBezTo>
                  <a:pt x="118339" y="27055"/>
                  <a:pt x="120857" y="23233"/>
                  <a:pt x="124766" y="21627"/>
                </a:cubicBezTo>
                <a:cubicBezTo>
                  <a:pt x="128674" y="20020"/>
                  <a:pt x="133147" y="20888"/>
                  <a:pt x="136144" y="23885"/>
                </a:cubicBezTo>
                <a:lnTo>
                  <a:pt x="153080" y="40821"/>
                </a:lnTo>
                <a:lnTo>
                  <a:pt x="190862" y="3040"/>
                </a:lnTo>
                <a:close/>
                <a:moveTo>
                  <a:pt x="31485" y="118122"/>
                </a:moveTo>
                <a:lnTo>
                  <a:pt x="94020" y="118122"/>
                </a:lnTo>
                <a:cubicBezTo>
                  <a:pt x="99795" y="118122"/>
                  <a:pt x="104442" y="122768"/>
                  <a:pt x="104442" y="128544"/>
                </a:cubicBezTo>
                <a:lnTo>
                  <a:pt x="104442" y="191079"/>
                </a:lnTo>
                <a:cubicBezTo>
                  <a:pt x="104442" y="195291"/>
                  <a:pt x="101923" y="199113"/>
                  <a:pt x="98015" y="200720"/>
                </a:cubicBezTo>
                <a:cubicBezTo>
                  <a:pt x="94106" y="202327"/>
                  <a:pt x="89633" y="201458"/>
                  <a:pt x="86637" y="198462"/>
                </a:cubicBezTo>
                <a:lnTo>
                  <a:pt x="69700" y="181525"/>
                </a:lnTo>
                <a:lnTo>
                  <a:pt x="31919" y="219307"/>
                </a:lnTo>
                <a:cubicBezTo>
                  <a:pt x="27837" y="223389"/>
                  <a:pt x="21236" y="223389"/>
                  <a:pt x="17197" y="219307"/>
                </a:cubicBezTo>
                <a:lnTo>
                  <a:pt x="3300" y="205410"/>
                </a:lnTo>
                <a:cubicBezTo>
                  <a:pt x="-782" y="201328"/>
                  <a:pt x="-782" y="194727"/>
                  <a:pt x="3300" y="190688"/>
                </a:cubicBezTo>
                <a:lnTo>
                  <a:pt x="41082" y="152907"/>
                </a:lnTo>
                <a:lnTo>
                  <a:pt x="24145" y="135970"/>
                </a:lnTo>
                <a:cubicBezTo>
                  <a:pt x="21149" y="132974"/>
                  <a:pt x="20280" y="128501"/>
                  <a:pt x="21887" y="124592"/>
                </a:cubicBezTo>
                <a:cubicBezTo>
                  <a:pt x="23494" y="120684"/>
                  <a:pt x="27272" y="118122"/>
                  <a:pt x="31485" y="118122"/>
                </a:cubicBez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080B62C2-4EDE-4C36-958F-0B02AB0D6F98}"/>
              </a:ext>
            </a:extLst>
          </p:cNvPr>
          <p:cNvSpPr>
            <a:spLocks xmlns:a="http://schemas.openxmlformats.org/drawingml/2006/main" noGrp="1"/>
          </p:cNvSpPr>
          <p:nvPr/>
        </p:nvSpPr>
        <p:spPr>
          <a:xfrm xmlns:a="http://schemas.openxmlformats.org/drawingml/2006/main">
            <a:off x="933247" y="5587483"/>
            <a:ext cx="6763040" cy="29646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简化优势</a:t>
            </a:r>
            <a:endParaRPr/>
          </a:p>
        </p:txBody>
      </p:sp>
      <p:sp>
        <p:nvSpPr>
          <p:cNvPr id="19" name="Text 17">
            <a:extLst xmlns:a="http://schemas.openxmlformats.org/drawingml/2006/main">
              <a:ext uri="{FF2B5EF4-FFF2-40B4-BE49-F238E27FC236}">
                <a16:creationId xmlns:a16="http://schemas.microsoft.com/office/drawing/2014/main" id="{7E84E1AF-6D4E-46B0-8C2B-F3E26209E857}"/>
              </a:ext>
            </a:extLst>
          </p:cNvPr>
          <p:cNvSpPr>
            <a:spLocks xmlns:a="http://schemas.openxmlformats.org/drawingml/2006/main" noGrp="1"/>
          </p:cNvSpPr>
          <p:nvPr/>
        </p:nvSpPr>
        <p:spPr>
          <a:xfrm xmlns:a="http://schemas.openxmlformats.org/drawingml/2006/main">
            <a:off x="933246" y="5995118"/>
            <a:ext cx="10222433" cy="5466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a:latin typeface="微软雅黑"/>
                <a:ea typeface="微软雅黑"/>
                <a:cs typeface="微软雅黑"/>
              </a:rPr>
              <a:t>当两个节点通过连线相连时，意味着机器人可以直接从一个节点移动到另一个节点。这种</a:t>
            </a:r>
            <a:r>
              <a:rPr b="1">
                <a:latin typeface="微软雅黑"/>
                <a:ea typeface="微软雅黑"/>
                <a:cs typeface="微软雅黑"/>
              </a:rPr>
              <a:t>简化的表示方式</a:t>
            </a:r>
            <a:r>
              <a:rPr>
                <a:latin typeface="微软雅黑"/>
                <a:ea typeface="微软雅黑"/>
                <a:cs typeface="微软雅黑"/>
              </a:rPr>
              <a:t>大幅减少了环境信息的复杂度，从而降低了路径规划时的计算负担。</a:t>
            </a:r>
            <a:endParaRPr/>
          </a:p>
        </p:txBody>
      </p:sp>
      <p:sp>
        <p:nvSpPr>
          <p:cNvPr id="51" name="矩形 50">
            <a:extLst xmlns:a="http://schemas.openxmlformats.org/drawingml/2006/main">
              <a:ext uri="{FF2B5EF4-FFF2-40B4-BE49-F238E27FC236}">
                <a16:creationId xmlns:a16="http://schemas.microsoft.com/office/drawing/2014/main" id="{7D658600-30A9-E33A-173C-2439554B09E6}"/>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文本框 51">
            <a:extLst xmlns:a="http://schemas.openxmlformats.org/drawingml/2006/main">
              <a:ext uri="{FF2B5EF4-FFF2-40B4-BE49-F238E27FC236}">
                <a16:creationId xmlns:a16="http://schemas.microsoft.com/office/drawing/2014/main" id="{01957B94-80AB-1C99-DE68-3C1F15887086}"/>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7.1.2 </a:t>
            </a:r>
            <a:r>
              <a:rPr sz="2400" b="1">
                <a:solidFill>
                  <a:schemeClr val="accent1"/>
                </a:solidFill>
                <a:latin typeface="+mj-lt"/>
                <a:ea typeface="+mj-lt"/>
                <a:cs typeface="+mj-lt"/>
              </a:rPr>
              <a:t>拓扑地图</a:t>
            </a:r>
          </a:p>
        </p:txBody>
      </p:sp>
    </p:spTree>
    <p:extLst>
      <p:ext uri="{BB962C8B-B14F-4D97-AF65-F5344CB8AC3E}">
        <p14:creationId xmlns:p14="http://schemas.microsoft.com/office/powerpoint/2010/main" val="1825951200"/>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690E1AA5-EC78-4D6F-9375-7476B863B1E3}"/>
              </a:ext>
            </a:extLst>
          </p:cNvPr>
          <p:cNvSpPr>
            <a:spLocks xmlns:a="http://schemas.openxmlformats.org/drawingml/2006/main" noGrp="1"/>
          </p:cNvSpPr>
          <p:nvPr/>
        </p:nvSpPr>
        <p:spPr>
          <a:xfrm xmlns:a="http://schemas.openxmlformats.org/drawingml/2006/main">
            <a:off x="360863" y="1910248"/>
            <a:ext cx="5593370" cy="1546554"/>
          </a:xfrm>
          <a:custGeom xmlns:a="http://schemas.openxmlformats.org/drawingml/2006/main">
            <a:rect l="l" t="t" r="r" b="b"/>
            <a:pathLst>
              <a:path w="5593370" h="1546554">
                <a:moveTo>
                  <a:pt x="34368" y="0"/>
                </a:moveTo>
                <a:lnTo>
                  <a:pt x="5490261" y="0"/>
                </a:lnTo>
                <a:cubicBezTo>
                  <a:pt x="5547207" y="0"/>
                  <a:pt x="5593370" y="46163"/>
                  <a:pt x="5593370" y="103109"/>
                </a:cubicBezTo>
                <a:lnTo>
                  <a:pt x="5593370" y="1443445"/>
                </a:lnTo>
                <a:cubicBezTo>
                  <a:pt x="5593370" y="1500391"/>
                  <a:pt x="5547207" y="1546554"/>
                  <a:pt x="5490261" y="1546554"/>
                </a:cubicBezTo>
                <a:lnTo>
                  <a:pt x="34368" y="1546554"/>
                </a:lnTo>
                <a:cubicBezTo>
                  <a:pt x="15387" y="1546554"/>
                  <a:pt x="0" y="1531167"/>
                  <a:pt x="0" y="1512186"/>
                </a:cubicBezTo>
                <a:lnTo>
                  <a:pt x="0" y="34368"/>
                </a:lnTo>
                <a:cubicBezTo>
                  <a:pt x="0" y="15400"/>
                  <a:pt x="15400" y="0"/>
                  <a:pt x="34368"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54335BC2-0600-43E9-877A-C1BE8F61BE34}"/>
              </a:ext>
            </a:extLst>
          </p:cNvPr>
          <p:cNvSpPr>
            <a:spLocks xmlns:a="http://schemas.openxmlformats.org/drawingml/2006/main" noGrp="1"/>
          </p:cNvSpPr>
          <p:nvPr/>
        </p:nvSpPr>
        <p:spPr>
          <a:xfrm xmlns:a="http://schemas.openxmlformats.org/drawingml/2006/main">
            <a:off x="360863" y="1910248"/>
            <a:ext cx="34368" cy="1546554"/>
          </a:xfrm>
          <a:custGeom xmlns:a="http://schemas.openxmlformats.org/drawingml/2006/main">
            <a:rect l="l" t="t" r="r" b="b"/>
            <a:pathLst>
              <a:path w="34368" h="1546554">
                <a:moveTo>
                  <a:pt x="34368" y="0"/>
                </a:moveTo>
                <a:lnTo>
                  <a:pt x="34368" y="0"/>
                </a:lnTo>
                <a:lnTo>
                  <a:pt x="34368" y="1546554"/>
                </a:lnTo>
                <a:lnTo>
                  <a:pt x="34368" y="1546554"/>
                </a:lnTo>
                <a:cubicBezTo>
                  <a:pt x="15387" y="1546554"/>
                  <a:pt x="0" y="1531167"/>
                  <a:pt x="0" y="1512186"/>
                </a:cubicBezTo>
                <a:lnTo>
                  <a:pt x="0" y="34368"/>
                </a:lnTo>
                <a:cubicBezTo>
                  <a:pt x="0" y="15400"/>
                  <a:pt x="15400" y="0"/>
                  <a:pt x="34368"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AA94AFA3-63B4-4F6D-B8B2-0D3438B28BE3}"/>
              </a:ext>
            </a:extLst>
          </p:cNvPr>
          <p:cNvSpPr>
            <a:spLocks xmlns:a="http://schemas.openxmlformats.org/drawingml/2006/main" noGrp="1"/>
          </p:cNvSpPr>
          <p:nvPr/>
        </p:nvSpPr>
        <p:spPr>
          <a:xfrm xmlns:a="http://schemas.openxmlformats.org/drawingml/2006/main">
            <a:off x="554182" y="2150823"/>
            <a:ext cx="206207" cy="206207"/>
          </a:xfrm>
          <a:custGeom xmlns:a="http://schemas.openxmlformats.org/drawingml/2006/main">
            <a:rect l="l" t="t" r="r" b="b"/>
            <a:pathLst>
              <a:path w="206207" h="206207">
                <a:moveTo>
                  <a:pt x="111884" y="3464"/>
                </a:moveTo>
                <a:cubicBezTo>
                  <a:pt x="106930" y="-1128"/>
                  <a:pt x="99277" y="-1128"/>
                  <a:pt x="94364" y="3464"/>
                </a:cubicBezTo>
                <a:lnTo>
                  <a:pt x="4148" y="87235"/>
                </a:lnTo>
                <a:cubicBezTo>
                  <a:pt x="282" y="90860"/>
                  <a:pt x="-1007" y="96458"/>
                  <a:pt x="926" y="101372"/>
                </a:cubicBezTo>
                <a:cubicBezTo>
                  <a:pt x="2860" y="106285"/>
                  <a:pt x="7572" y="109548"/>
                  <a:pt x="12888" y="109548"/>
                </a:cubicBezTo>
                <a:lnTo>
                  <a:pt x="19332" y="109548"/>
                </a:lnTo>
                <a:lnTo>
                  <a:pt x="19332" y="180431"/>
                </a:lnTo>
                <a:cubicBezTo>
                  <a:pt x="19332" y="194648"/>
                  <a:pt x="30891" y="206207"/>
                  <a:pt x="45108" y="206207"/>
                </a:cubicBezTo>
                <a:lnTo>
                  <a:pt x="161099" y="206207"/>
                </a:lnTo>
                <a:cubicBezTo>
                  <a:pt x="175316" y="206207"/>
                  <a:pt x="186875" y="194648"/>
                  <a:pt x="186875" y="180431"/>
                </a:cubicBezTo>
                <a:lnTo>
                  <a:pt x="186875" y="109548"/>
                </a:lnTo>
                <a:lnTo>
                  <a:pt x="193319" y="109548"/>
                </a:lnTo>
                <a:cubicBezTo>
                  <a:pt x="198636" y="109548"/>
                  <a:pt x="203388" y="106285"/>
                  <a:pt x="205321" y="101372"/>
                </a:cubicBezTo>
                <a:cubicBezTo>
                  <a:pt x="207254" y="96458"/>
                  <a:pt x="205966" y="90820"/>
                  <a:pt x="202099" y="87235"/>
                </a:cubicBezTo>
                <a:lnTo>
                  <a:pt x="111884" y="3464"/>
                </a:lnTo>
                <a:close/>
                <a:moveTo>
                  <a:pt x="96660" y="128879"/>
                </a:moveTo>
                <a:lnTo>
                  <a:pt x="109548" y="128879"/>
                </a:lnTo>
                <a:cubicBezTo>
                  <a:pt x="120220" y="128879"/>
                  <a:pt x="128879" y="137539"/>
                  <a:pt x="128879" y="148211"/>
                </a:cubicBezTo>
                <a:lnTo>
                  <a:pt x="128879" y="186875"/>
                </a:lnTo>
                <a:lnTo>
                  <a:pt x="77328" y="186875"/>
                </a:lnTo>
                <a:lnTo>
                  <a:pt x="77328" y="148211"/>
                </a:lnTo>
                <a:cubicBezTo>
                  <a:pt x="77328" y="137539"/>
                  <a:pt x="85987" y="128879"/>
                  <a:pt x="96660" y="128879"/>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FD4D1D75-0FB0-4897-BBF4-B1ED10D00902}"/>
              </a:ext>
            </a:extLst>
          </p:cNvPr>
          <p:cNvSpPr>
            <a:spLocks xmlns:a="http://schemas.openxmlformats.org/drawingml/2006/main" noGrp="1"/>
          </p:cNvSpPr>
          <p:nvPr/>
        </p:nvSpPr>
        <p:spPr>
          <a:xfrm xmlns:a="http://schemas.openxmlformats.org/drawingml/2006/main">
            <a:off x="865506" y="2116455"/>
            <a:ext cx="4991932" cy="27494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室内环境示例</a:t>
            </a:r>
            <a:endParaRPr/>
          </a:p>
        </p:txBody>
      </p:sp>
      <p:sp>
        <p:nvSpPr>
          <p:cNvPr id="9" name="Text 7">
            <a:extLst xmlns:a="http://schemas.openxmlformats.org/drawingml/2006/main">
              <a:ext uri="{FF2B5EF4-FFF2-40B4-BE49-F238E27FC236}">
                <a16:creationId xmlns:a16="http://schemas.microsoft.com/office/drawing/2014/main" id="{2E785FFD-6B13-4EBF-8B04-3A01710D5079}"/>
              </a:ext>
            </a:extLst>
          </p:cNvPr>
          <p:cNvSpPr>
            <a:spLocks xmlns:a="http://schemas.openxmlformats.org/drawingml/2006/main" noGrp="1"/>
          </p:cNvSpPr>
          <p:nvPr/>
        </p:nvSpPr>
        <p:spPr>
          <a:xfrm xmlns:a="http://schemas.openxmlformats.org/drawingml/2006/main">
            <a:off x="865506" y="2494502"/>
            <a:ext cx="4966156" cy="75609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其中各个</a:t>
            </a:r>
            <a:r>
              <a:rPr sz="1600">
                <a:highlight>
                  <a:srgbClr val="E6B450">
                    <a:alpha val="20000"/>
                  </a:srgbClr>
                </a:highlight>
                <a:latin typeface="微软雅黑"/>
                <a:ea typeface="微软雅黑"/>
                <a:cs typeface="微软雅黑"/>
              </a:rPr>
              <a:t> 房间 </a:t>
            </a:r>
            <a:r>
              <a:rPr sz="1600">
                <a:latin typeface="微软雅黑"/>
                <a:ea typeface="微软雅黑"/>
                <a:cs typeface="微软雅黑"/>
              </a:rPr>
              <a:t>以及房间在</a:t>
            </a:r>
            <a:r>
              <a:rPr sz="1600">
                <a:highlight>
                  <a:srgbClr val="E6B450">
                    <a:alpha val="20000"/>
                  </a:srgbClr>
                </a:highlight>
                <a:latin typeface="微软雅黑"/>
                <a:ea typeface="微软雅黑"/>
                <a:cs typeface="微软雅黑"/>
              </a:rPr>
              <a:t> 走廊的入口 </a:t>
            </a:r>
            <a:r>
              <a:rPr sz="1600">
                <a:latin typeface="微软雅黑"/>
                <a:ea typeface="微软雅黑"/>
                <a:cs typeface="微软雅黑"/>
              </a:rPr>
              <a:t>被设置为地标（也即拓扑图的节点），同时使用直线代表节点之间的</a:t>
            </a:r>
            <a:r>
              <a:rPr sz="1600">
                <a:highlight>
                  <a:srgbClr val="E6B450">
                    <a:alpha val="20000"/>
                  </a:srgbClr>
                </a:highlight>
                <a:latin typeface="微软雅黑"/>
                <a:ea typeface="微软雅黑"/>
                <a:cs typeface="微软雅黑"/>
              </a:rPr>
              <a:t> 连通性 </a:t>
            </a:r>
            <a:r>
              <a:rPr sz="1600">
                <a:latin typeface="微软雅黑"/>
                <a:ea typeface="微软雅黑"/>
                <a:cs typeface="微软雅黑"/>
              </a:rPr>
              <a:t>（称为拓扑图的边）。</a:t>
            </a:r>
            <a:endParaRPr sz="1600"/>
          </a:p>
        </p:txBody>
      </p:sp>
      <p:sp>
        <p:nvSpPr>
          <p:cNvPr id="10" name="Shape 8">
            <a:extLst xmlns:a="http://schemas.openxmlformats.org/drawingml/2006/main">
              <a:ext uri="{FF2B5EF4-FFF2-40B4-BE49-F238E27FC236}">
                <a16:creationId xmlns:a16="http://schemas.microsoft.com/office/drawing/2014/main" id="{CE288904-063F-4B08-B038-A7E4B96E7CEC}"/>
              </a:ext>
            </a:extLst>
          </p:cNvPr>
          <p:cNvSpPr>
            <a:spLocks xmlns:a="http://schemas.openxmlformats.org/drawingml/2006/main" noGrp="1"/>
          </p:cNvSpPr>
          <p:nvPr/>
        </p:nvSpPr>
        <p:spPr>
          <a:xfrm xmlns:a="http://schemas.openxmlformats.org/drawingml/2006/main">
            <a:off x="360863" y="3660861"/>
            <a:ext cx="5593370" cy="1546554"/>
          </a:xfrm>
          <a:custGeom xmlns:a="http://schemas.openxmlformats.org/drawingml/2006/main">
            <a:rect l="l" t="t" r="r" b="b"/>
            <a:pathLst>
              <a:path w="5593370" h="1546554">
                <a:moveTo>
                  <a:pt x="34368" y="0"/>
                </a:moveTo>
                <a:lnTo>
                  <a:pt x="5490261" y="0"/>
                </a:lnTo>
                <a:cubicBezTo>
                  <a:pt x="5547207" y="0"/>
                  <a:pt x="5593370" y="46163"/>
                  <a:pt x="5593370" y="103109"/>
                </a:cubicBezTo>
                <a:lnTo>
                  <a:pt x="5593370" y="1443445"/>
                </a:lnTo>
                <a:cubicBezTo>
                  <a:pt x="5593370" y="1500391"/>
                  <a:pt x="5547207" y="1546554"/>
                  <a:pt x="5490261" y="1546554"/>
                </a:cubicBezTo>
                <a:lnTo>
                  <a:pt x="34368" y="1546554"/>
                </a:lnTo>
                <a:cubicBezTo>
                  <a:pt x="15387" y="1546554"/>
                  <a:pt x="0" y="1531167"/>
                  <a:pt x="0" y="1512186"/>
                </a:cubicBezTo>
                <a:lnTo>
                  <a:pt x="0" y="34368"/>
                </a:lnTo>
                <a:cubicBezTo>
                  <a:pt x="0" y="15400"/>
                  <a:pt x="15400" y="0"/>
                  <a:pt x="34368"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5AE77FBE-5F2B-4ED0-BDA7-FE85AB506745}"/>
              </a:ext>
            </a:extLst>
          </p:cNvPr>
          <p:cNvSpPr>
            <a:spLocks xmlns:a="http://schemas.openxmlformats.org/drawingml/2006/main" noGrp="1"/>
          </p:cNvSpPr>
          <p:nvPr/>
        </p:nvSpPr>
        <p:spPr>
          <a:xfrm xmlns:a="http://schemas.openxmlformats.org/drawingml/2006/main">
            <a:off x="360863" y="3660861"/>
            <a:ext cx="34368" cy="1546554"/>
          </a:xfrm>
          <a:custGeom xmlns:a="http://schemas.openxmlformats.org/drawingml/2006/main">
            <a:rect l="l" t="t" r="r" b="b"/>
            <a:pathLst>
              <a:path w="34368" h="1546554">
                <a:moveTo>
                  <a:pt x="34368" y="0"/>
                </a:moveTo>
                <a:lnTo>
                  <a:pt x="34368" y="0"/>
                </a:lnTo>
                <a:lnTo>
                  <a:pt x="34368" y="1546554"/>
                </a:lnTo>
                <a:lnTo>
                  <a:pt x="34368" y="1546554"/>
                </a:lnTo>
                <a:cubicBezTo>
                  <a:pt x="15387" y="1546554"/>
                  <a:pt x="0" y="1531167"/>
                  <a:pt x="0" y="1512186"/>
                </a:cubicBezTo>
                <a:lnTo>
                  <a:pt x="0" y="34368"/>
                </a:lnTo>
                <a:cubicBezTo>
                  <a:pt x="0" y="15400"/>
                  <a:pt x="15400" y="0"/>
                  <a:pt x="34368"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A864A746-E8D9-4506-8486-E841FAD1C5DA}"/>
              </a:ext>
            </a:extLst>
          </p:cNvPr>
          <p:cNvSpPr>
            <a:spLocks xmlns:a="http://schemas.openxmlformats.org/drawingml/2006/main" noGrp="1"/>
          </p:cNvSpPr>
          <p:nvPr/>
        </p:nvSpPr>
        <p:spPr>
          <a:xfrm xmlns:a="http://schemas.openxmlformats.org/drawingml/2006/main">
            <a:off x="554182" y="3808299"/>
            <a:ext cx="206207" cy="206207"/>
          </a:xfrm>
          <a:custGeom xmlns:a="http://schemas.openxmlformats.org/drawingml/2006/main">
            <a:rect l="l" t="t" r="r" b="b"/>
            <a:pathLst>
              <a:path w="206207" h="206207">
                <a:moveTo>
                  <a:pt x="206207" y="38664"/>
                </a:moveTo>
                <a:cubicBezTo>
                  <a:pt x="206207" y="58882"/>
                  <a:pt x="182405" y="89048"/>
                  <a:pt x="172135" y="101090"/>
                </a:cubicBezTo>
                <a:cubicBezTo>
                  <a:pt x="170604" y="102862"/>
                  <a:pt x="168349" y="103547"/>
                  <a:pt x="166295" y="103104"/>
                </a:cubicBezTo>
                <a:lnTo>
                  <a:pt x="128879" y="103104"/>
                </a:lnTo>
                <a:cubicBezTo>
                  <a:pt x="121751" y="103104"/>
                  <a:pt x="115992" y="108863"/>
                  <a:pt x="115992" y="115992"/>
                </a:cubicBezTo>
                <a:cubicBezTo>
                  <a:pt x="115992" y="123120"/>
                  <a:pt x="121751" y="128879"/>
                  <a:pt x="128879" y="128879"/>
                </a:cubicBezTo>
                <a:lnTo>
                  <a:pt x="167543" y="128879"/>
                </a:lnTo>
                <a:cubicBezTo>
                  <a:pt x="188889" y="128879"/>
                  <a:pt x="206207" y="146198"/>
                  <a:pt x="206207" y="167543"/>
                </a:cubicBezTo>
                <a:cubicBezTo>
                  <a:pt x="206207" y="188889"/>
                  <a:pt x="188889" y="206207"/>
                  <a:pt x="167543" y="206207"/>
                </a:cubicBezTo>
                <a:lnTo>
                  <a:pt x="56224" y="206207"/>
                </a:lnTo>
                <a:cubicBezTo>
                  <a:pt x="59728" y="202220"/>
                  <a:pt x="63997" y="197105"/>
                  <a:pt x="68306" y="191386"/>
                </a:cubicBezTo>
                <a:cubicBezTo>
                  <a:pt x="70843" y="188003"/>
                  <a:pt x="73461" y="184298"/>
                  <a:pt x="75958" y="180431"/>
                </a:cubicBezTo>
                <a:lnTo>
                  <a:pt x="167543" y="180431"/>
                </a:lnTo>
                <a:cubicBezTo>
                  <a:pt x="174672" y="180431"/>
                  <a:pt x="180431" y="174672"/>
                  <a:pt x="180431" y="167543"/>
                </a:cubicBezTo>
                <a:cubicBezTo>
                  <a:pt x="180431" y="160415"/>
                  <a:pt x="174672" y="154655"/>
                  <a:pt x="167543" y="154655"/>
                </a:cubicBezTo>
                <a:lnTo>
                  <a:pt x="128879" y="154655"/>
                </a:lnTo>
                <a:cubicBezTo>
                  <a:pt x="107534" y="154655"/>
                  <a:pt x="90216" y="137337"/>
                  <a:pt x="90216" y="115992"/>
                </a:cubicBezTo>
                <a:cubicBezTo>
                  <a:pt x="90216" y="94646"/>
                  <a:pt x="107534" y="77328"/>
                  <a:pt x="128879" y="77328"/>
                </a:cubicBezTo>
                <a:lnTo>
                  <a:pt x="144909" y="77328"/>
                </a:lnTo>
                <a:cubicBezTo>
                  <a:pt x="136451" y="64641"/>
                  <a:pt x="128879" y="50062"/>
                  <a:pt x="128879" y="38664"/>
                </a:cubicBezTo>
                <a:cubicBezTo>
                  <a:pt x="128879" y="17318"/>
                  <a:pt x="146198" y="0"/>
                  <a:pt x="167543" y="0"/>
                </a:cubicBezTo>
                <a:cubicBezTo>
                  <a:pt x="188889" y="0"/>
                  <a:pt x="206207" y="17318"/>
                  <a:pt x="206207" y="38664"/>
                </a:cubicBezTo>
                <a:close/>
                <a:moveTo>
                  <a:pt x="47162" y="196984"/>
                </a:moveTo>
                <a:cubicBezTo>
                  <a:pt x="45631" y="198716"/>
                  <a:pt x="44262" y="200247"/>
                  <a:pt x="43094" y="201535"/>
                </a:cubicBezTo>
                <a:lnTo>
                  <a:pt x="42369" y="202341"/>
                </a:lnTo>
                <a:lnTo>
                  <a:pt x="42289" y="202260"/>
                </a:lnTo>
                <a:cubicBezTo>
                  <a:pt x="39872" y="204113"/>
                  <a:pt x="36408" y="203871"/>
                  <a:pt x="34234" y="201535"/>
                </a:cubicBezTo>
                <a:cubicBezTo>
                  <a:pt x="24084" y="190500"/>
                  <a:pt x="0" y="162106"/>
                  <a:pt x="0" y="141767"/>
                </a:cubicBezTo>
                <a:cubicBezTo>
                  <a:pt x="0" y="120422"/>
                  <a:pt x="17318" y="103104"/>
                  <a:pt x="38664" y="103104"/>
                </a:cubicBezTo>
                <a:cubicBezTo>
                  <a:pt x="60010" y="103104"/>
                  <a:pt x="77328" y="120422"/>
                  <a:pt x="77328" y="141767"/>
                </a:cubicBezTo>
                <a:cubicBezTo>
                  <a:pt x="77328" y="153850"/>
                  <a:pt x="68830" y="168752"/>
                  <a:pt x="59808" y="181197"/>
                </a:cubicBezTo>
                <a:cubicBezTo>
                  <a:pt x="55499" y="187117"/>
                  <a:pt x="51068" y="192473"/>
                  <a:pt x="47403" y="196702"/>
                </a:cubicBezTo>
                <a:lnTo>
                  <a:pt x="47162" y="196984"/>
                </a:lnTo>
                <a:close/>
                <a:moveTo>
                  <a:pt x="51552" y="141767"/>
                </a:moveTo>
                <a:cubicBezTo>
                  <a:pt x="51552" y="134654"/>
                  <a:pt x="45777" y="128879"/>
                  <a:pt x="38664" y="128879"/>
                </a:cubicBezTo>
                <a:cubicBezTo>
                  <a:pt x="31551" y="128879"/>
                  <a:pt x="25776" y="134654"/>
                  <a:pt x="25776" y="141767"/>
                </a:cubicBezTo>
                <a:cubicBezTo>
                  <a:pt x="25776" y="148880"/>
                  <a:pt x="31551" y="154655"/>
                  <a:pt x="38664" y="154655"/>
                </a:cubicBezTo>
                <a:cubicBezTo>
                  <a:pt x="45777" y="154655"/>
                  <a:pt x="51552" y="148880"/>
                  <a:pt x="51552" y="141767"/>
                </a:cubicBezTo>
                <a:close/>
                <a:moveTo>
                  <a:pt x="167543" y="51552"/>
                </a:moveTo>
                <a:cubicBezTo>
                  <a:pt x="174656" y="51552"/>
                  <a:pt x="180431" y="45777"/>
                  <a:pt x="180431" y="38664"/>
                </a:cubicBezTo>
                <a:cubicBezTo>
                  <a:pt x="180431" y="31551"/>
                  <a:pt x="174656" y="25776"/>
                  <a:pt x="167543" y="25776"/>
                </a:cubicBezTo>
                <a:cubicBezTo>
                  <a:pt x="160430" y="25776"/>
                  <a:pt x="154655" y="31551"/>
                  <a:pt x="154655" y="38664"/>
                </a:cubicBezTo>
                <a:cubicBezTo>
                  <a:pt x="154655" y="45777"/>
                  <a:pt x="160430" y="51552"/>
                  <a:pt x="167543" y="51552"/>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7A2352EE-B10C-46A1-AFBB-9AD83CE0E727}"/>
              </a:ext>
            </a:extLst>
          </p:cNvPr>
          <p:cNvSpPr>
            <a:spLocks xmlns:a="http://schemas.openxmlformats.org/drawingml/2006/main" noGrp="1"/>
          </p:cNvSpPr>
          <p:nvPr/>
        </p:nvSpPr>
        <p:spPr>
          <a:xfrm xmlns:a="http://schemas.openxmlformats.org/drawingml/2006/main">
            <a:off x="865506" y="3773931"/>
            <a:ext cx="4991932" cy="27494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600" b="1">
                <a:latin typeface="微软雅黑"/>
                <a:ea typeface="微软雅黑"/>
                <a:cs typeface="微软雅黑"/>
              </a:rPr>
              <a:t>路径规划示例</a:t>
            </a:r>
            <a:endParaRPr sz="1600"/>
          </a:p>
        </p:txBody>
      </p:sp>
      <p:sp>
        <p:nvSpPr>
          <p:cNvPr id="14" name="Text 12">
            <a:extLst xmlns:a="http://schemas.openxmlformats.org/drawingml/2006/main">
              <a:ext uri="{FF2B5EF4-FFF2-40B4-BE49-F238E27FC236}">
                <a16:creationId xmlns:a16="http://schemas.microsoft.com/office/drawing/2014/main" id="{C6B6A24A-B928-4B5A-839D-03A4D883E5E4}"/>
              </a:ext>
            </a:extLst>
          </p:cNvPr>
          <p:cNvSpPr>
            <a:spLocks xmlns:a="http://schemas.openxmlformats.org/drawingml/2006/main" noGrp="1"/>
          </p:cNvSpPr>
          <p:nvPr/>
        </p:nvSpPr>
        <p:spPr>
          <a:xfrm xmlns:a="http://schemas.openxmlformats.org/drawingml/2006/main">
            <a:off x="865506" y="4041056"/>
            <a:ext cx="4966156" cy="11642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例如，当机器人要从</a:t>
            </a:r>
            <a:r>
              <a:rPr sz="1600" b="1">
                <a:latin typeface="微软雅黑"/>
                <a:ea typeface="微软雅黑"/>
                <a:cs typeface="微软雅黑"/>
              </a:rPr>
              <a:t>走廊入口（节点1）</a:t>
            </a:r>
            <a:r>
              <a:rPr sz="1600">
                <a:latin typeface="微软雅黑"/>
                <a:ea typeface="微软雅黑"/>
                <a:cs typeface="微软雅黑"/>
              </a:rPr>
              <a:t>走到</a:t>
            </a:r>
            <a:r>
              <a:rPr sz="1600" b="1">
                <a:latin typeface="微软雅黑"/>
                <a:ea typeface="微软雅黑"/>
                <a:cs typeface="微软雅黑"/>
              </a:rPr>
              <a:t>最左下角的房间（节点9）</a:t>
            </a:r>
            <a:r>
              <a:rPr sz="1600">
                <a:latin typeface="微软雅黑"/>
                <a:ea typeface="微软雅黑"/>
                <a:cs typeface="微软雅黑"/>
              </a:rPr>
              <a:t>，那么它可以沿着图中的边，按照</a:t>
            </a:r>
            <a:r>
              <a:rPr sz="1600">
                <a:highlight>
                  <a:srgbClr val="E6B450">
                    <a:alpha val="20000"/>
                  </a:srgbClr>
                </a:highlight>
                <a:latin typeface="微软雅黑"/>
                <a:ea typeface="微软雅黑"/>
                <a:cs typeface="微软雅黑"/>
              </a:rPr>
              <a:t> 1-2-4-6-8-9 </a:t>
            </a:r>
            <a:r>
              <a:rPr sz="1600">
                <a:latin typeface="微软雅黑"/>
                <a:ea typeface="微软雅黑"/>
                <a:cs typeface="微软雅黑"/>
              </a:rPr>
              <a:t>的路线进行移动。</a:t>
            </a:r>
            <a:endParaRPr sz="1600"/>
          </a:p>
        </p:txBody>
      </p:sp>
      <p:sp>
        <p:nvSpPr>
          <p:cNvPr id="15" name="Shape 13">
            <a:extLst xmlns:a="http://schemas.openxmlformats.org/drawingml/2006/main">
              <a:ext uri="{FF2B5EF4-FFF2-40B4-BE49-F238E27FC236}">
                <a16:creationId xmlns:a16="http://schemas.microsoft.com/office/drawing/2014/main" id="{6CD3BB41-C88A-4B39-80F4-55E5BCA8019E}"/>
              </a:ext>
            </a:extLst>
          </p:cNvPr>
          <p:cNvSpPr>
            <a:spLocks xmlns:a="http://schemas.openxmlformats.org/drawingml/2006/main" noGrp="1"/>
          </p:cNvSpPr>
          <p:nvPr/>
        </p:nvSpPr>
        <p:spPr>
          <a:xfrm xmlns:a="http://schemas.openxmlformats.org/drawingml/2006/main">
            <a:off x="347975" y="5415770"/>
            <a:ext cx="5601962" cy="1280203"/>
          </a:xfrm>
          <a:custGeom xmlns:a="http://schemas.openxmlformats.org/drawingml/2006/main">
            <a:rect l="l" t="t" r="r" b="b"/>
            <a:pathLst>
              <a:path w="5601962" h="1280203">
                <a:moveTo>
                  <a:pt x="103108" y="0"/>
                </a:moveTo>
                <a:lnTo>
                  <a:pt x="5498854" y="0"/>
                </a:lnTo>
                <a:cubicBezTo>
                  <a:pt x="5555799" y="0"/>
                  <a:pt x="5601962" y="46163"/>
                  <a:pt x="5601962" y="103108"/>
                </a:cubicBezTo>
                <a:lnTo>
                  <a:pt x="5601962" y="1177095"/>
                </a:lnTo>
                <a:cubicBezTo>
                  <a:pt x="5601962" y="1234040"/>
                  <a:pt x="5555799" y="1280203"/>
                  <a:pt x="5498854" y="1280203"/>
                </a:cubicBezTo>
                <a:lnTo>
                  <a:pt x="103108" y="1280203"/>
                </a:lnTo>
                <a:cubicBezTo>
                  <a:pt x="46163" y="1280203"/>
                  <a:pt x="0" y="1234040"/>
                  <a:pt x="0" y="1177095"/>
                </a:cubicBezTo>
                <a:lnTo>
                  <a:pt x="0" y="103108"/>
                </a:lnTo>
                <a:cubicBezTo>
                  <a:pt x="0" y="46201"/>
                  <a:pt x="46201" y="0"/>
                  <a:pt x="10310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6" name="Shape 14">
            <a:extLst xmlns:a="http://schemas.openxmlformats.org/drawingml/2006/main">
              <a:ext uri="{FF2B5EF4-FFF2-40B4-BE49-F238E27FC236}">
                <a16:creationId xmlns:a16="http://schemas.microsoft.com/office/drawing/2014/main" id="{87ED21A9-0C29-4F77-A30F-8EDAAEB9F7A6}"/>
              </a:ext>
            </a:extLst>
          </p:cNvPr>
          <p:cNvSpPr>
            <a:spLocks xmlns:a="http://schemas.openxmlformats.org/drawingml/2006/main" noGrp="1"/>
          </p:cNvSpPr>
          <p:nvPr/>
        </p:nvSpPr>
        <p:spPr>
          <a:xfrm xmlns:a="http://schemas.openxmlformats.org/drawingml/2006/main">
            <a:off x="601438" y="5660641"/>
            <a:ext cx="128879" cy="171839"/>
          </a:xfrm>
          <a:custGeom xmlns:a="http://schemas.openxmlformats.org/drawingml/2006/main">
            <a:rect l="l" t="t" r="r" b="b"/>
            <a:pathLst>
              <a:path w="128879" h="171839">
                <a:moveTo>
                  <a:pt x="98304" y="128879"/>
                </a:moveTo>
                <a:cubicBezTo>
                  <a:pt x="100754" y="121395"/>
                  <a:pt x="105654" y="114615"/>
                  <a:pt x="111192" y="108776"/>
                </a:cubicBezTo>
                <a:cubicBezTo>
                  <a:pt x="122167" y="97230"/>
                  <a:pt x="128879" y="81624"/>
                  <a:pt x="128879" y="64440"/>
                </a:cubicBezTo>
                <a:cubicBezTo>
                  <a:pt x="128879" y="28864"/>
                  <a:pt x="100016" y="0"/>
                  <a:pt x="64440" y="0"/>
                </a:cubicBezTo>
                <a:cubicBezTo>
                  <a:pt x="28864" y="0"/>
                  <a:pt x="0" y="28864"/>
                  <a:pt x="0" y="64440"/>
                </a:cubicBezTo>
                <a:cubicBezTo>
                  <a:pt x="0" y="81624"/>
                  <a:pt x="6712" y="97230"/>
                  <a:pt x="17687" y="108776"/>
                </a:cubicBezTo>
                <a:cubicBezTo>
                  <a:pt x="23225" y="114615"/>
                  <a:pt x="28159" y="121395"/>
                  <a:pt x="30575" y="128879"/>
                </a:cubicBezTo>
                <a:lnTo>
                  <a:pt x="98271" y="128879"/>
                </a:lnTo>
                <a:close/>
                <a:moveTo>
                  <a:pt x="96660" y="144989"/>
                </a:moveTo>
                <a:lnTo>
                  <a:pt x="32220" y="144989"/>
                </a:lnTo>
                <a:lnTo>
                  <a:pt x="32220" y="150359"/>
                </a:lnTo>
                <a:cubicBezTo>
                  <a:pt x="32220" y="165194"/>
                  <a:pt x="44235" y="177209"/>
                  <a:pt x="59070" y="177209"/>
                </a:cubicBezTo>
                <a:lnTo>
                  <a:pt x="69810" y="177209"/>
                </a:lnTo>
                <a:cubicBezTo>
                  <a:pt x="84644" y="177209"/>
                  <a:pt x="96660" y="165194"/>
                  <a:pt x="96660" y="150359"/>
                </a:cubicBezTo>
                <a:lnTo>
                  <a:pt x="96660" y="144989"/>
                </a:lnTo>
                <a:close/>
                <a:moveTo>
                  <a:pt x="61755" y="37590"/>
                </a:moveTo>
                <a:cubicBezTo>
                  <a:pt x="48397" y="37590"/>
                  <a:pt x="37590" y="48397"/>
                  <a:pt x="37590" y="61755"/>
                </a:cubicBezTo>
                <a:cubicBezTo>
                  <a:pt x="37590" y="66219"/>
                  <a:pt x="33999" y="69810"/>
                  <a:pt x="29535" y="69810"/>
                </a:cubicBezTo>
                <a:cubicBezTo>
                  <a:pt x="25071" y="69810"/>
                  <a:pt x="21480" y="66219"/>
                  <a:pt x="21480" y="61755"/>
                </a:cubicBezTo>
                <a:cubicBezTo>
                  <a:pt x="21480" y="39503"/>
                  <a:pt x="39503" y="21480"/>
                  <a:pt x="61755" y="21480"/>
                </a:cubicBezTo>
                <a:cubicBezTo>
                  <a:pt x="66219" y="21480"/>
                  <a:pt x="69810" y="25071"/>
                  <a:pt x="69810" y="29535"/>
                </a:cubicBezTo>
                <a:cubicBezTo>
                  <a:pt x="69810" y="33999"/>
                  <a:pt x="66219" y="37590"/>
                  <a:pt x="61755" y="37590"/>
                </a:cubicBez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6BB99AE3-ABEF-475E-BB4A-DE47469C7DED}"/>
              </a:ext>
            </a:extLst>
          </p:cNvPr>
          <p:cNvSpPr>
            <a:spLocks xmlns:a="http://schemas.openxmlformats.org/drawingml/2006/main" noGrp="1"/>
          </p:cNvSpPr>
          <p:nvPr/>
        </p:nvSpPr>
        <p:spPr>
          <a:xfrm xmlns:a="http://schemas.openxmlformats.org/drawingml/2006/main">
            <a:off x="876381" y="5626273"/>
            <a:ext cx="1413852" cy="2405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b="1">
                <a:latin typeface="微软雅黑"/>
                <a:ea typeface="微软雅黑"/>
                <a:cs typeface="微软雅黑"/>
              </a:rPr>
              <a:t>拓扑地图优势</a:t>
            </a:r>
            <a:endParaRPr/>
          </a:p>
        </p:txBody>
      </p:sp>
      <p:sp>
        <p:nvSpPr>
          <p:cNvPr id="18" name="Shape 16">
            <a:extLst xmlns:a="http://schemas.openxmlformats.org/drawingml/2006/main">
              <a:ext uri="{FF2B5EF4-FFF2-40B4-BE49-F238E27FC236}">
                <a16:creationId xmlns:a16="http://schemas.microsoft.com/office/drawing/2014/main" id="{B6F583E7-9338-4A3A-AF59-499F6DDE70DE}"/>
              </a:ext>
            </a:extLst>
          </p:cNvPr>
          <p:cNvSpPr>
            <a:spLocks xmlns:a="http://schemas.openxmlformats.org/drawingml/2006/main" noGrp="1"/>
          </p:cNvSpPr>
          <p:nvPr/>
        </p:nvSpPr>
        <p:spPr>
          <a:xfrm xmlns:a="http://schemas.openxmlformats.org/drawingml/2006/main">
            <a:off x="584254" y="6004320"/>
            <a:ext cx="120288" cy="137471"/>
          </a:xfrm>
          <a:custGeom xmlns:a="http://schemas.openxmlformats.org/drawingml/2006/main">
            <a:rect l="l" t="t" r="r" b="b"/>
            <a:pathLst>
              <a:path w="120288" h="137471">
                <a:moveTo>
                  <a:pt x="116743" y="18822"/>
                </a:moveTo>
                <a:cubicBezTo>
                  <a:pt x="120583" y="21614"/>
                  <a:pt x="121442" y="26984"/>
                  <a:pt x="118650" y="30824"/>
                </a:cubicBezTo>
                <a:lnTo>
                  <a:pt x="49914" y="125335"/>
                </a:lnTo>
                <a:cubicBezTo>
                  <a:pt x="48437" y="127376"/>
                  <a:pt x="46155" y="128638"/>
                  <a:pt x="43631" y="128853"/>
                </a:cubicBezTo>
                <a:cubicBezTo>
                  <a:pt x="41107" y="129067"/>
                  <a:pt x="38664" y="128128"/>
                  <a:pt x="36892" y="126356"/>
                </a:cubicBezTo>
                <a:lnTo>
                  <a:pt x="2524" y="91988"/>
                </a:lnTo>
                <a:cubicBezTo>
                  <a:pt x="-832" y="88632"/>
                  <a:pt x="-832" y="83181"/>
                  <a:pt x="2524" y="79825"/>
                </a:cubicBezTo>
                <a:cubicBezTo>
                  <a:pt x="5880" y="76468"/>
                  <a:pt x="11331" y="76468"/>
                  <a:pt x="14687" y="79825"/>
                </a:cubicBezTo>
                <a:lnTo>
                  <a:pt x="41940" y="107077"/>
                </a:lnTo>
                <a:lnTo>
                  <a:pt x="104768" y="20701"/>
                </a:lnTo>
                <a:cubicBezTo>
                  <a:pt x="107561" y="16862"/>
                  <a:pt x="112931" y="16003"/>
                  <a:pt x="116770" y="18795"/>
                </a:cubicBezTo>
                <a:close/>
              </a:path>
            </a:pathLst>
          </a:custGeom>
          <a:solidFill xmlns:a="http://schemas.openxmlformats.org/drawingml/2006/main">
            <a:srgbClr val="E6B450"/>
          </a:solidFill>
        </p:spPr>
      </p:sp>
      <p:sp>
        <p:nvSpPr>
          <p:cNvPr id="19" name="Text 17">
            <a:extLst xmlns:a="http://schemas.openxmlformats.org/drawingml/2006/main">
              <a:ext uri="{FF2B5EF4-FFF2-40B4-BE49-F238E27FC236}">
                <a16:creationId xmlns:a16="http://schemas.microsoft.com/office/drawing/2014/main" id="{3924582B-87A7-4AB0-9521-494274D532D0}"/>
              </a:ext>
            </a:extLst>
          </p:cNvPr>
          <p:cNvSpPr>
            <a:spLocks xmlns:a="http://schemas.openxmlformats.org/drawingml/2006/main" noGrp="1"/>
          </p:cNvSpPr>
          <p:nvPr/>
        </p:nvSpPr>
        <p:spPr>
          <a:xfrm xmlns:a="http://schemas.openxmlformats.org/drawingml/2006/main">
            <a:off x="799052" y="5969952"/>
            <a:ext cx="1657709" cy="2062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简化环境表示</a:t>
            </a:r>
            <a:endParaRPr sz="1600"/>
          </a:p>
        </p:txBody>
      </p:sp>
      <p:sp>
        <p:nvSpPr>
          <p:cNvPr id="20" name="Shape 18">
            <a:extLst xmlns:a="http://schemas.openxmlformats.org/drawingml/2006/main">
              <a:ext uri="{FF2B5EF4-FFF2-40B4-BE49-F238E27FC236}">
                <a16:creationId xmlns:a16="http://schemas.microsoft.com/office/drawing/2014/main" id="{FBAB5EFB-664F-43D8-9116-35926A6BAF19}"/>
              </a:ext>
            </a:extLst>
          </p:cNvPr>
          <p:cNvSpPr>
            <a:spLocks xmlns:a="http://schemas.openxmlformats.org/drawingml/2006/main" noGrp="1"/>
          </p:cNvSpPr>
          <p:nvPr/>
        </p:nvSpPr>
        <p:spPr>
          <a:xfrm xmlns:a="http://schemas.openxmlformats.org/drawingml/2006/main">
            <a:off x="3227626" y="6004320"/>
            <a:ext cx="120288" cy="137471"/>
          </a:xfrm>
          <a:custGeom xmlns:a="http://schemas.openxmlformats.org/drawingml/2006/main">
            <a:rect l="l" t="t" r="r" b="b"/>
            <a:pathLst>
              <a:path w="120288" h="137471">
                <a:moveTo>
                  <a:pt x="116743" y="18822"/>
                </a:moveTo>
                <a:cubicBezTo>
                  <a:pt x="120583" y="21614"/>
                  <a:pt x="121442" y="26984"/>
                  <a:pt x="118650" y="30824"/>
                </a:cubicBezTo>
                <a:lnTo>
                  <a:pt x="49914" y="125335"/>
                </a:lnTo>
                <a:cubicBezTo>
                  <a:pt x="48437" y="127376"/>
                  <a:pt x="46155" y="128638"/>
                  <a:pt x="43631" y="128853"/>
                </a:cubicBezTo>
                <a:cubicBezTo>
                  <a:pt x="41107" y="129067"/>
                  <a:pt x="38664" y="128128"/>
                  <a:pt x="36892" y="126356"/>
                </a:cubicBezTo>
                <a:lnTo>
                  <a:pt x="2524" y="91988"/>
                </a:lnTo>
                <a:cubicBezTo>
                  <a:pt x="-832" y="88632"/>
                  <a:pt x="-832" y="83181"/>
                  <a:pt x="2524" y="79825"/>
                </a:cubicBezTo>
                <a:cubicBezTo>
                  <a:pt x="5880" y="76468"/>
                  <a:pt x="11331" y="76468"/>
                  <a:pt x="14687" y="79825"/>
                </a:cubicBezTo>
                <a:lnTo>
                  <a:pt x="41940" y="107077"/>
                </a:lnTo>
                <a:lnTo>
                  <a:pt x="104768" y="20701"/>
                </a:lnTo>
                <a:cubicBezTo>
                  <a:pt x="107561" y="16862"/>
                  <a:pt x="112931" y="16003"/>
                  <a:pt x="116770" y="18795"/>
                </a:cubicBezTo>
                <a:close/>
              </a:path>
            </a:pathLst>
          </a:custGeom>
          <a:solidFill xmlns:a="http://schemas.openxmlformats.org/drawingml/2006/main">
            <a:srgbClr val="E6B450"/>
          </a:solidFill>
        </p:spPr>
      </p:sp>
      <p:sp>
        <p:nvSpPr>
          <p:cNvPr id="21" name="Text 19">
            <a:extLst xmlns:a="http://schemas.openxmlformats.org/drawingml/2006/main">
              <a:ext uri="{FF2B5EF4-FFF2-40B4-BE49-F238E27FC236}">
                <a16:creationId xmlns:a16="http://schemas.microsoft.com/office/drawing/2014/main" id="{32F1C8C6-6E9F-4829-9955-3B7B8CFD3F98}"/>
              </a:ext>
            </a:extLst>
          </p:cNvPr>
          <p:cNvSpPr>
            <a:spLocks xmlns:a="http://schemas.openxmlformats.org/drawingml/2006/main" noGrp="1"/>
          </p:cNvSpPr>
          <p:nvPr/>
        </p:nvSpPr>
        <p:spPr>
          <a:xfrm xmlns:a="http://schemas.openxmlformats.org/drawingml/2006/main">
            <a:off x="3442425" y="5969952"/>
            <a:ext cx="1912742" cy="2062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降低计算复杂度</a:t>
            </a:r>
            <a:endParaRPr sz="1600"/>
          </a:p>
        </p:txBody>
      </p:sp>
      <p:sp>
        <p:nvSpPr>
          <p:cNvPr id="22" name="Shape 20">
            <a:extLst xmlns:a="http://schemas.openxmlformats.org/drawingml/2006/main">
              <a:ext uri="{FF2B5EF4-FFF2-40B4-BE49-F238E27FC236}">
                <a16:creationId xmlns:a16="http://schemas.microsoft.com/office/drawing/2014/main" id="{8F8DDEC8-4AFF-40AD-8065-DC769068F7D0}"/>
              </a:ext>
            </a:extLst>
          </p:cNvPr>
          <p:cNvSpPr>
            <a:spLocks xmlns:a="http://schemas.openxmlformats.org/drawingml/2006/main" noGrp="1"/>
          </p:cNvSpPr>
          <p:nvPr/>
        </p:nvSpPr>
        <p:spPr>
          <a:xfrm xmlns:a="http://schemas.openxmlformats.org/drawingml/2006/main">
            <a:off x="584254" y="6313631"/>
            <a:ext cx="120288" cy="137471"/>
          </a:xfrm>
          <a:custGeom xmlns:a="http://schemas.openxmlformats.org/drawingml/2006/main">
            <a:rect l="l" t="t" r="r" b="b"/>
            <a:pathLst>
              <a:path w="120288" h="137471">
                <a:moveTo>
                  <a:pt x="116743" y="18822"/>
                </a:moveTo>
                <a:cubicBezTo>
                  <a:pt x="120583" y="21614"/>
                  <a:pt x="121442" y="26984"/>
                  <a:pt x="118650" y="30824"/>
                </a:cubicBezTo>
                <a:lnTo>
                  <a:pt x="49914" y="125335"/>
                </a:lnTo>
                <a:cubicBezTo>
                  <a:pt x="48437" y="127376"/>
                  <a:pt x="46155" y="128638"/>
                  <a:pt x="43631" y="128853"/>
                </a:cubicBezTo>
                <a:cubicBezTo>
                  <a:pt x="41107" y="129067"/>
                  <a:pt x="38664" y="128128"/>
                  <a:pt x="36892" y="126356"/>
                </a:cubicBezTo>
                <a:lnTo>
                  <a:pt x="2524" y="91988"/>
                </a:lnTo>
                <a:cubicBezTo>
                  <a:pt x="-832" y="88632"/>
                  <a:pt x="-832" y="83181"/>
                  <a:pt x="2524" y="79825"/>
                </a:cubicBezTo>
                <a:cubicBezTo>
                  <a:pt x="5880" y="76468"/>
                  <a:pt x="11331" y="76468"/>
                  <a:pt x="14687" y="79825"/>
                </a:cubicBezTo>
                <a:lnTo>
                  <a:pt x="41940" y="107077"/>
                </a:lnTo>
                <a:lnTo>
                  <a:pt x="104768" y="20701"/>
                </a:lnTo>
                <a:cubicBezTo>
                  <a:pt x="107561" y="16862"/>
                  <a:pt x="112931" y="16003"/>
                  <a:pt x="116770" y="18795"/>
                </a:cubicBezTo>
                <a:close/>
              </a:path>
            </a:pathLst>
          </a:custGeom>
          <a:solidFill xmlns:a="http://schemas.openxmlformats.org/drawingml/2006/main">
            <a:srgbClr val="E6B450"/>
          </a:solidFill>
        </p:spPr>
      </p:sp>
      <p:sp>
        <p:nvSpPr>
          <p:cNvPr id="23" name="Text 21">
            <a:extLst xmlns:a="http://schemas.openxmlformats.org/drawingml/2006/main">
              <a:ext uri="{FF2B5EF4-FFF2-40B4-BE49-F238E27FC236}">
                <a16:creationId xmlns:a16="http://schemas.microsoft.com/office/drawing/2014/main" id="{F5E5679F-5D2D-4EB0-99A4-054D233F776D}"/>
              </a:ext>
            </a:extLst>
          </p:cNvPr>
          <p:cNvSpPr>
            <a:spLocks xmlns:a="http://schemas.openxmlformats.org/drawingml/2006/main" noGrp="1"/>
          </p:cNvSpPr>
          <p:nvPr/>
        </p:nvSpPr>
        <p:spPr>
          <a:xfrm xmlns:a="http://schemas.openxmlformats.org/drawingml/2006/main">
            <a:off x="799052" y="6279263"/>
            <a:ext cx="1657709" cy="2062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快速路径规划</a:t>
            </a:r>
            <a:endParaRPr sz="1600"/>
          </a:p>
        </p:txBody>
      </p:sp>
      <p:sp>
        <p:nvSpPr>
          <p:cNvPr id="24" name="Shape 22">
            <a:extLst xmlns:a="http://schemas.openxmlformats.org/drawingml/2006/main">
              <a:ext uri="{FF2B5EF4-FFF2-40B4-BE49-F238E27FC236}">
                <a16:creationId xmlns:a16="http://schemas.microsoft.com/office/drawing/2014/main" id="{F584F8BA-A779-452B-A376-40728153F0C4}"/>
              </a:ext>
            </a:extLst>
          </p:cNvPr>
          <p:cNvSpPr>
            <a:spLocks xmlns:a="http://schemas.openxmlformats.org/drawingml/2006/main" noGrp="1"/>
          </p:cNvSpPr>
          <p:nvPr/>
        </p:nvSpPr>
        <p:spPr>
          <a:xfrm xmlns:a="http://schemas.openxmlformats.org/drawingml/2006/main">
            <a:off x="3227626" y="6313631"/>
            <a:ext cx="120288" cy="137471"/>
          </a:xfrm>
          <a:custGeom xmlns:a="http://schemas.openxmlformats.org/drawingml/2006/main">
            <a:rect l="l" t="t" r="r" b="b"/>
            <a:pathLst>
              <a:path w="120288" h="137471">
                <a:moveTo>
                  <a:pt x="116743" y="18822"/>
                </a:moveTo>
                <a:cubicBezTo>
                  <a:pt x="120583" y="21614"/>
                  <a:pt x="121442" y="26984"/>
                  <a:pt x="118650" y="30824"/>
                </a:cubicBezTo>
                <a:lnTo>
                  <a:pt x="49914" y="125335"/>
                </a:lnTo>
                <a:cubicBezTo>
                  <a:pt x="48437" y="127376"/>
                  <a:pt x="46155" y="128638"/>
                  <a:pt x="43631" y="128853"/>
                </a:cubicBezTo>
                <a:cubicBezTo>
                  <a:pt x="41107" y="129067"/>
                  <a:pt x="38664" y="128128"/>
                  <a:pt x="36892" y="126356"/>
                </a:cubicBezTo>
                <a:lnTo>
                  <a:pt x="2524" y="91988"/>
                </a:lnTo>
                <a:cubicBezTo>
                  <a:pt x="-832" y="88632"/>
                  <a:pt x="-832" y="83181"/>
                  <a:pt x="2524" y="79825"/>
                </a:cubicBezTo>
                <a:cubicBezTo>
                  <a:pt x="5880" y="76468"/>
                  <a:pt x="11331" y="76468"/>
                  <a:pt x="14687" y="79825"/>
                </a:cubicBezTo>
                <a:lnTo>
                  <a:pt x="41940" y="107077"/>
                </a:lnTo>
                <a:lnTo>
                  <a:pt x="104768" y="20701"/>
                </a:lnTo>
                <a:cubicBezTo>
                  <a:pt x="107561" y="16862"/>
                  <a:pt x="112931" y="16003"/>
                  <a:pt x="116770" y="18795"/>
                </a:cubicBezTo>
                <a:close/>
              </a:path>
            </a:pathLst>
          </a:custGeom>
          <a:solidFill xmlns:a="http://schemas.openxmlformats.org/drawingml/2006/main">
            <a:srgbClr val="E6B450"/>
          </a:solidFill>
        </p:spPr>
      </p:sp>
      <p:sp>
        <p:nvSpPr>
          <p:cNvPr id="25" name="Text 23">
            <a:extLst xmlns:a="http://schemas.openxmlformats.org/drawingml/2006/main">
              <a:ext uri="{FF2B5EF4-FFF2-40B4-BE49-F238E27FC236}">
                <a16:creationId xmlns:a16="http://schemas.microsoft.com/office/drawing/2014/main" id="{98038632-E9C5-49FD-9F42-B2D6368030A0}"/>
              </a:ext>
            </a:extLst>
          </p:cNvPr>
          <p:cNvSpPr>
            <a:spLocks xmlns:a="http://schemas.openxmlformats.org/drawingml/2006/main" noGrp="1"/>
          </p:cNvSpPr>
          <p:nvPr/>
        </p:nvSpPr>
        <p:spPr>
          <a:xfrm xmlns:a="http://schemas.openxmlformats.org/drawingml/2006/main">
            <a:off x="3442425" y="6279263"/>
            <a:ext cx="1912742" cy="2062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层次化导航策略</a:t>
            </a:r>
            <a:endParaRPr sz="1600"/>
          </a:p>
        </p:txBody>
      </p:sp>
      <p:pic>
        <p:nvPicPr>
          <p:cNvPr id="94" name="图片 67"/>
          <p:cNvPicPr>
            <a:picLocks xmlns:a="http://schemas.openxmlformats.org/drawingml/2006/main" noChangeAspect="1"/>
          </p:cNvPicPr>
          <p:nvPr/>
        </p:nvPicPr>
        <p:blipFill>
          <a:blip xmlns:r="http://schemas.openxmlformats.org/officeDocument/2006/relationships" xmlns:a="http://schemas.openxmlformats.org/drawingml/2006/main" r:embed="R00cdbe83a192493b"/>
          <a:srcRect xmlns:a="http://schemas.openxmlformats.org/drawingml/2006/main" l="0" t="0" r="0" b="0"/>
          <a:stretch xmlns:a="http://schemas.openxmlformats.org/drawingml/2006/main">
            <a:fillRect l="0" t="0" r="0" b="0"/>
          </a:stretch>
        </p:blipFill>
        <p:spPr>
          <a:xfrm xmlns:a="http://schemas.openxmlformats.org/drawingml/2006/main">
            <a:off x="6186216" y="1910248"/>
            <a:ext cx="5588699" cy="4733476"/>
          </a:xfrm>
          <a:prstGeom xmlns:a="http://schemas.openxmlformats.org/drawingml/2006/main" prst="rect">
            <a:avLst/>
          </a:prstGeom>
          <a:ln xmlns:a="http://schemas.openxmlformats.org/drawingml/2006/main">
            <a:noFill/>
          </a:ln>
        </p:spPr>
      </p:pic>
      <p:sp>
        <p:nvSpPr>
          <p:cNvPr id="70" name="矩形 69">
            <a:extLst xmlns:a="http://schemas.openxmlformats.org/drawingml/2006/main">
              <a:ext uri="{FF2B5EF4-FFF2-40B4-BE49-F238E27FC236}">
                <a16:creationId xmlns:a16="http://schemas.microsoft.com/office/drawing/2014/main" id="{3B6E82CD-7808-7125-8F6A-546AA454D6BF}"/>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文本框 70">
            <a:extLst xmlns:a="http://schemas.openxmlformats.org/drawingml/2006/main">
              <a:ext uri="{FF2B5EF4-FFF2-40B4-BE49-F238E27FC236}">
                <a16:creationId xmlns:a16="http://schemas.microsoft.com/office/drawing/2014/main" id="{387F9E08-8AE8-4685-738B-DEA7BABFC94C}"/>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7.1.2 </a:t>
            </a:r>
            <a:r>
              <a:rPr sz="2400" b="1">
                <a:solidFill>
                  <a:schemeClr val="accent1"/>
                </a:solidFill>
                <a:latin typeface="+mj-lt"/>
                <a:ea typeface="+mj-lt"/>
                <a:cs typeface="+mj-lt"/>
              </a:rPr>
              <a:t>拓扑地图</a:t>
            </a:r>
          </a:p>
        </p:txBody>
      </p:sp>
    </p:spTree>
    <p:extLst>
      <p:ext uri="{BB962C8B-B14F-4D97-AF65-F5344CB8AC3E}">
        <p14:creationId xmlns:p14="http://schemas.microsoft.com/office/powerpoint/2010/main" val="102715229"/>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B66E9879-BF5F-4F47-97D2-13D47ED09653}"/>
              </a:ext>
            </a:extLst>
          </p:cNvPr>
          <p:cNvSpPr>
            <a:spLocks xmlns:a="http://schemas.openxmlformats.org/drawingml/2006/main" noGrp="1"/>
          </p:cNvSpPr>
          <p:nvPr/>
        </p:nvSpPr>
        <p:spPr>
          <a:xfrm xmlns:a="http://schemas.openxmlformats.org/drawingml/2006/main">
            <a:off x="333376" y="1758950"/>
            <a:ext cx="5390092" cy="1441450"/>
          </a:xfrm>
          <a:custGeom xmlns:a="http://schemas.openxmlformats.org/drawingml/2006/main">
            <a:rect l="l" t="t" r="r" b="b"/>
            <a:pathLst>
              <a:path w="8239125" h="1198563">
                <a:moveTo>
                  <a:pt x="31750" y="0"/>
                </a:moveTo>
                <a:lnTo>
                  <a:pt x="8143875" y="0"/>
                </a:lnTo>
                <a:cubicBezTo>
                  <a:pt x="8196480" y="0"/>
                  <a:pt x="8239125" y="42645"/>
                  <a:pt x="8239125" y="95250"/>
                </a:cubicBezTo>
                <a:lnTo>
                  <a:pt x="8239125" y="1103313"/>
                </a:lnTo>
                <a:cubicBezTo>
                  <a:pt x="8239125" y="1155918"/>
                  <a:pt x="8196480" y="1198563"/>
                  <a:pt x="8143875"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BD3D272F-3BE0-42E2-BC08-51D2516858FB}"/>
              </a:ext>
            </a:extLst>
          </p:cNvPr>
          <p:cNvSpPr>
            <a:spLocks xmlns:a="http://schemas.openxmlformats.org/drawingml/2006/main" noGrp="1"/>
          </p:cNvSpPr>
          <p:nvPr/>
        </p:nvSpPr>
        <p:spPr>
          <a:xfrm xmlns:a="http://schemas.openxmlformats.org/drawingml/2006/main">
            <a:off x="333375" y="1758950"/>
            <a:ext cx="31750" cy="1441450"/>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C04DB057-F787-43C3-A57C-7DA6304B349C}"/>
              </a:ext>
            </a:extLst>
          </p:cNvPr>
          <p:cNvSpPr>
            <a:spLocks xmlns:a="http://schemas.openxmlformats.org/drawingml/2006/main" noGrp="1"/>
          </p:cNvSpPr>
          <p:nvPr/>
        </p:nvSpPr>
        <p:spPr>
          <a:xfrm xmlns:a="http://schemas.openxmlformats.org/drawingml/2006/main">
            <a:off x="559594" y="1897592"/>
            <a:ext cx="142875" cy="190500"/>
          </a:xfrm>
          <a:custGeom xmlns:a="http://schemas.openxmlformats.org/drawingml/2006/main">
            <a:rect l="l" t="t" r="r" b="b"/>
            <a:pathLst>
              <a:path w="142875" h="190500">
                <a:moveTo>
                  <a:pt x="0" y="71438"/>
                </a:moveTo>
                <a:lnTo>
                  <a:pt x="62508" y="71438"/>
                </a:lnTo>
                <a:lnTo>
                  <a:pt x="62508" y="0"/>
                </a:lnTo>
                <a:lnTo>
                  <a:pt x="59531" y="0"/>
                </a:lnTo>
                <a:cubicBezTo>
                  <a:pt x="26640" y="0"/>
                  <a:pt x="0" y="26640"/>
                  <a:pt x="0" y="59531"/>
                </a:cubicBezTo>
                <a:lnTo>
                  <a:pt x="0" y="71438"/>
                </a:lnTo>
                <a:close/>
                <a:moveTo>
                  <a:pt x="0" y="89297"/>
                </a:moveTo>
                <a:lnTo>
                  <a:pt x="0" y="130969"/>
                </a:lnTo>
                <a:cubicBezTo>
                  <a:pt x="0" y="163860"/>
                  <a:pt x="26640" y="190500"/>
                  <a:pt x="59531" y="190500"/>
                </a:cubicBezTo>
                <a:lnTo>
                  <a:pt x="83344" y="190500"/>
                </a:lnTo>
                <a:cubicBezTo>
                  <a:pt x="116235" y="190500"/>
                  <a:pt x="142875" y="163860"/>
                  <a:pt x="142875" y="130969"/>
                </a:cubicBezTo>
                <a:lnTo>
                  <a:pt x="142875" y="89297"/>
                </a:lnTo>
                <a:lnTo>
                  <a:pt x="0" y="89297"/>
                </a:lnTo>
                <a:close/>
                <a:moveTo>
                  <a:pt x="142875" y="71438"/>
                </a:moveTo>
                <a:lnTo>
                  <a:pt x="142875" y="59531"/>
                </a:lnTo>
                <a:cubicBezTo>
                  <a:pt x="142875" y="26640"/>
                  <a:pt x="116235" y="0"/>
                  <a:pt x="83344" y="0"/>
                </a:cubicBezTo>
                <a:lnTo>
                  <a:pt x="80367" y="0"/>
                </a:lnTo>
                <a:lnTo>
                  <a:pt x="80367" y="71438"/>
                </a:lnTo>
                <a:lnTo>
                  <a:pt x="142875" y="71438"/>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6530DF4C-343D-421C-91C4-5807FF1E0FD6}"/>
              </a:ext>
            </a:extLst>
          </p:cNvPr>
          <p:cNvSpPr>
            <a:spLocks xmlns:a="http://schemas.openxmlformats.org/drawingml/2006/main" noGrp="1"/>
          </p:cNvSpPr>
          <p:nvPr/>
        </p:nvSpPr>
        <p:spPr>
          <a:xfrm xmlns:a="http://schemas.openxmlformats.org/drawingml/2006/main">
            <a:off x="849809" y="1865842"/>
            <a:ext cx="3578258"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微型老鼠机器人案例</a:t>
            </a:r>
            <a:endParaRPr/>
          </a:p>
        </p:txBody>
      </p:sp>
      <p:sp>
        <p:nvSpPr>
          <p:cNvPr id="9" name="Text 7">
            <a:extLst xmlns:a="http://schemas.openxmlformats.org/drawingml/2006/main">
              <a:ext uri="{FF2B5EF4-FFF2-40B4-BE49-F238E27FC236}">
                <a16:creationId xmlns:a16="http://schemas.microsoft.com/office/drawing/2014/main" id="{129B9E55-8C93-49FC-A8D6-6D9C32CD360F}"/>
              </a:ext>
            </a:extLst>
          </p:cNvPr>
          <p:cNvSpPr>
            <a:spLocks xmlns:a="http://schemas.openxmlformats.org/drawingml/2006/main" noGrp="1"/>
          </p:cNvSpPr>
          <p:nvPr/>
        </p:nvSpPr>
        <p:spPr>
          <a:xfrm xmlns:a="http://schemas.openxmlformats.org/drawingml/2006/main">
            <a:off x="849809" y="2367492"/>
            <a:ext cx="4761507" cy="46831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一个小型机器人利用拓扑地图进行</a:t>
            </a:r>
            <a:r>
              <a:rPr sz="1600" b="1">
                <a:latin typeface="微软雅黑"/>
                <a:ea typeface="微软雅黑"/>
                <a:cs typeface="微软雅黑"/>
              </a:rPr>
              <a:t>迷宫探索</a:t>
            </a:r>
            <a:r>
              <a:rPr sz="1600">
                <a:latin typeface="微软雅黑"/>
                <a:ea typeface="微软雅黑"/>
                <a:cs typeface="微软雅黑"/>
              </a:rPr>
              <a:t>的真实案例。一款搭载少量红外传感器和电机的微型老鼠机器人必须在迷宫中找到到达指定地点的路径。</a:t>
            </a:r>
            <a:endParaRPr sz="1600"/>
          </a:p>
        </p:txBody>
      </p:sp>
      <p:sp>
        <p:nvSpPr>
          <p:cNvPr id="15" name="Shape 13">
            <a:extLst xmlns:a="http://schemas.openxmlformats.org/drawingml/2006/main">
              <a:ext uri="{FF2B5EF4-FFF2-40B4-BE49-F238E27FC236}">
                <a16:creationId xmlns:a16="http://schemas.microsoft.com/office/drawing/2014/main" id="{E28DE5C9-5EE0-4CD7-AEA8-B111BCA9F07E}"/>
              </a:ext>
            </a:extLst>
          </p:cNvPr>
          <p:cNvSpPr>
            <a:spLocks xmlns:a="http://schemas.openxmlformats.org/drawingml/2006/main" noGrp="1"/>
          </p:cNvSpPr>
          <p:nvPr/>
        </p:nvSpPr>
        <p:spPr>
          <a:xfrm xmlns:a="http://schemas.openxmlformats.org/drawingml/2006/main">
            <a:off x="6096001" y="1758950"/>
            <a:ext cx="5762624" cy="1441450"/>
          </a:xfrm>
          <a:custGeom xmlns:a="http://schemas.openxmlformats.org/drawingml/2006/main">
            <a:rect l="l" t="t" r="r" b="b"/>
            <a:pathLst>
              <a:path w="8239125" h="1198563">
                <a:moveTo>
                  <a:pt x="31750" y="0"/>
                </a:moveTo>
                <a:lnTo>
                  <a:pt x="8143875" y="0"/>
                </a:lnTo>
                <a:cubicBezTo>
                  <a:pt x="8196480" y="0"/>
                  <a:pt x="8239125" y="42645"/>
                  <a:pt x="8239125" y="95250"/>
                </a:cubicBezTo>
                <a:lnTo>
                  <a:pt x="8239125" y="1103313"/>
                </a:lnTo>
                <a:cubicBezTo>
                  <a:pt x="8239125" y="1155918"/>
                  <a:pt x="8196480" y="1198563"/>
                  <a:pt x="8143875"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6" name="Shape 14">
            <a:extLst xmlns:a="http://schemas.openxmlformats.org/drawingml/2006/main">
              <a:ext uri="{FF2B5EF4-FFF2-40B4-BE49-F238E27FC236}">
                <a16:creationId xmlns:a16="http://schemas.microsoft.com/office/drawing/2014/main" id="{F5EEFCD8-0953-4F6A-B53E-CBDF34F5BEA3}"/>
              </a:ext>
            </a:extLst>
          </p:cNvPr>
          <p:cNvSpPr>
            <a:spLocks xmlns:a="http://schemas.openxmlformats.org/drawingml/2006/main" noGrp="1"/>
          </p:cNvSpPr>
          <p:nvPr/>
        </p:nvSpPr>
        <p:spPr>
          <a:xfrm xmlns:a="http://schemas.openxmlformats.org/drawingml/2006/main">
            <a:off x="6096000" y="1758950"/>
            <a:ext cx="31750" cy="1441450"/>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17" name="Shape 15">
            <a:extLst xmlns:a="http://schemas.openxmlformats.org/drawingml/2006/main">
              <a:ext uri="{FF2B5EF4-FFF2-40B4-BE49-F238E27FC236}">
                <a16:creationId xmlns:a16="http://schemas.microsoft.com/office/drawing/2014/main" id="{74456F8B-501B-4E1D-8E63-F7E31C1E61D9}"/>
              </a:ext>
            </a:extLst>
          </p:cNvPr>
          <p:cNvSpPr>
            <a:spLocks xmlns:a="http://schemas.openxmlformats.org/drawingml/2006/main" noGrp="1"/>
          </p:cNvSpPr>
          <p:nvPr/>
        </p:nvSpPr>
        <p:spPr>
          <a:xfrm xmlns:a="http://schemas.openxmlformats.org/drawingml/2006/main">
            <a:off x="6282531" y="1897592"/>
            <a:ext cx="238125" cy="190500"/>
          </a:xfrm>
          <a:custGeom xmlns:a="http://schemas.openxmlformats.org/drawingml/2006/main">
            <a:rect l="l" t="t" r="r" b="b"/>
            <a:pathLst>
              <a:path w="238125" h="190500">
                <a:moveTo>
                  <a:pt x="214313" y="17859"/>
                </a:moveTo>
                <a:cubicBezTo>
                  <a:pt x="214313" y="13729"/>
                  <a:pt x="212192" y="9897"/>
                  <a:pt x="208657" y="7739"/>
                </a:cubicBezTo>
                <a:cubicBezTo>
                  <a:pt x="205122" y="5581"/>
                  <a:pt x="200769" y="5358"/>
                  <a:pt x="197086" y="7218"/>
                </a:cubicBezTo>
                <a:lnTo>
                  <a:pt x="153851" y="28835"/>
                </a:lnTo>
                <a:lnTo>
                  <a:pt x="87102" y="6548"/>
                </a:lnTo>
                <a:cubicBezTo>
                  <a:pt x="84088" y="5544"/>
                  <a:pt x="80851" y="5767"/>
                  <a:pt x="78023" y="7181"/>
                </a:cubicBezTo>
                <a:lnTo>
                  <a:pt x="30398" y="30993"/>
                </a:lnTo>
                <a:cubicBezTo>
                  <a:pt x="26343" y="33040"/>
                  <a:pt x="23812" y="37170"/>
                  <a:pt x="23812" y="41672"/>
                </a:cubicBezTo>
                <a:lnTo>
                  <a:pt x="23812" y="172641"/>
                </a:lnTo>
                <a:cubicBezTo>
                  <a:pt x="23812" y="176771"/>
                  <a:pt x="25933" y="180603"/>
                  <a:pt x="29468" y="182761"/>
                </a:cubicBezTo>
                <a:cubicBezTo>
                  <a:pt x="33003" y="184919"/>
                  <a:pt x="37356" y="185142"/>
                  <a:pt x="41039" y="183282"/>
                </a:cubicBezTo>
                <a:lnTo>
                  <a:pt x="84237" y="161665"/>
                </a:lnTo>
                <a:lnTo>
                  <a:pt x="148717" y="183170"/>
                </a:lnTo>
                <a:cubicBezTo>
                  <a:pt x="147117" y="180789"/>
                  <a:pt x="145554" y="178296"/>
                  <a:pt x="144028" y="175766"/>
                </a:cubicBezTo>
                <a:cubicBezTo>
                  <a:pt x="139936" y="168957"/>
                  <a:pt x="135880" y="161144"/>
                  <a:pt x="132866" y="152772"/>
                </a:cubicBezTo>
                <a:lnTo>
                  <a:pt x="95213" y="140233"/>
                </a:lnTo>
                <a:lnTo>
                  <a:pt x="95213" y="34379"/>
                </a:lnTo>
                <a:lnTo>
                  <a:pt x="142838" y="50267"/>
                </a:lnTo>
                <a:lnTo>
                  <a:pt x="142838" y="87213"/>
                </a:lnTo>
                <a:cubicBezTo>
                  <a:pt x="154372" y="73893"/>
                  <a:pt x="171487" y="65484"/>
                  <a:pt x="190463" y="65484"/>
                </a:cubicBezTo>
                <a:cubicBezTo>
                  <a:pt x="198872" y="65484"/>
                  <a:pt x="206908" y="67121"/>
                  <a:pt x="214275" y="70135"/>
                </a:cubicBezTo>
                <a:lnTo>
                  <a:pt x="214313" y="17859"/>
                </a:lnTo>
                <a:close/>
                <a:moveTo>
                  <a:pt x="145852" y="127211"/>
                </a:moveTo>
                <a:cubicBezTo>
                  <a:pt x="145852" y="152846"/>
                  <a:pt x="169701" y="183170"/>
                  <a:pt x="182538" y="197644"/>
                </a:cubicBezTo>
                <a:cubicBezTo>
                  <a:pt x="186854" y="202481"/>
                  <a:pt x="194183" y="202481"/>
                  <a:pt x="198500" y="197644"/>
                </a:cubicBezTo>
                <a:cubicBezTo>
                  <a:pt x="211336" y="183170"/>
                  <a:pt x="235186" y="152846"/>
                  <a:pt x="235186" y="127211"/>
                </a:cubicBezTo>
                <a:cubicBezTo>
                  <a:pt x="235186" y="102989"/>
                  <a:pt x="215205" y="83344"/>
                  <a:pt x="190537" y="83344"/>
                </a:cubicBezTo>
                <a:cubicBezTo>
                  <a:pt x="165869" y="83344"/>
                  <a:pt x="145852" y="102989"/>
                  <a:pt x="145852" y="127211"/>
                </a:cubicBez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6B01A087-6058-44F2-A0D3-C031F94F3B86}"/>
              </a:ext>
            </a:extLst>
          </p:cNvPr>
          <p:cNvSpPr>
            <a:spLocks xmlns:a="http://schemas.openxmlformats.org/drawingml/2006/main" noGrp="1"/>
          </p:cNvSpPr>
          <p:nvPr/>
        </p:nvSpPr>
        <p:spPr>
          <a:xfrm xmlns:a="http://schemas.openxmlformats.org/drawingml/2006/main">
            <a:off x="6631657" y="1865842"/>
            <a:ext cx="1657633"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节点生成策略</a:t>
            </a:r>
            <a:endParaRPr/>
          </a:p>
        </p:txBody>
      </p:sp>
      <p:sp>
        <p:nvSpPr>
          <p:cNvPr id="19" name="Text 17">
            <a:extLst xmlns:a="http://schemas.openxmlformats.org/drawingml/2006/main">
              <a:ext uri="{FF2B5EF4-FFF2-40B4-BE49-F238E27FC236}">
                <a16:creationId xmlns:a16="http://schemas.microsoft.com/office/drawing/2014/main" id="{822A3CC7-42B2-42EC-9A16-F8310B3BCB73}"/>
              </a:ext>
            </a:extLst>
          </p:cNvPr>
          <p:cNvSpPr>
            <a:spLocks xmlns:a="http://schemas.openxmlformats.org/drawingml/2006/main" noGrp="1"/>
          </p:cNvSpPr>
          <p:nvPr/>
        </p:nvSpPr>
        <p:spPr>
          <a:xfrm xmlns:a="http://schemas.openxmlformats.org/drawingml/2006/main">
            <a:off x="6631657" y="2367492"/>
            <a:ext cx="4868193" cy="46831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在前进的过程中，当它的传感器探测到当前移动方向之外有</a:t>
            </a:r>
            <a:r>
              <a:rPr sz="1600" b="1">
                <a:latin typeface="微软雅黑"/>
                <a:ea typeface="微软雅黑"/>
                <a:cs typeface="微软雅黑"/>
              </a:rPr>
              <a:t>其他开放空间</a:t>
            </a:r>
            <a:r>
              <a:rPr sz="1600">
                <a:latin typeface="微软雅黑"/>
                <a:ea typeface="微软雅黑"/>
                <a:cs typeface="微软雅黑"/>
              </a:rPr>
              <a:t>时，这个位置将被标记为一个</a:t>
            </a:r>
            <a:r>
              <a:rPr sz="1600">
                <a:highlight>
                  <a:srgbClr val="E6B450">
                    <a:alpha val="20000"/>
                  </a:srgbClr>
                </a:highlight>
                <a:latin typeface="微软雅黑"/>
                <a:ea typeface="微软雅黑"/>
                <a:cs typeface="微软雅黑"/>
              </a:rPr>
              <a:t> 地图节点 </a:t>
            </a:r>
            <a:r>
              <a:rPr sz="1600">
                <a:latin typeface="微软雅黑"/>
                <a:ea typeface="微软雅黑"/>
                <a:cs typeface="微软雅黑"/>
              </a:rPr>
              <a:t>且形成一个新的探索方向。</a:t>
            </a:r>
            <a:endParaRPr sz="1600"/>
          </a:p>
        </p:txBody>
      </p:sp>
      <p:sp>
        <p:nvSpPr>
          <p:cNvPr id="62" name="矩形 61">
            <a:extLst xmlns:a="http://schemas.openxmlformats.org/drawingml/2006/main">
              <a:ext uri="{FF2B5EF4-FFF2-40B4-BE49-F238E27FC236}">
                <a16:creationId xmlns:a16="http://schemas.microsoft.com/office/drawing/2014/main" id="{F858AD85-DFF1-491C-CA53-E0196BEC9A8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文本框 62">
            <a:extLst xmlns:a="http://schemas.openxmlformats.org/drawingml/2006/main">
              <a:ext uri="{FF2B5EF4-FFF2-40B4-BE49-F238E27FC236}">
                <a16:creationId xmlns:a16="http://schemas.microsoft.com/office/drawing/2014/main" id="{42029B94-CC08-023C-6403-A6D9FF44FF9E}"/>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7.1.2 </a:t>
            </a:r>
            <a:r>
              <a:rPr sz="2400" b="1">
                <a:solidFill>
                  <a:schemeClr val="accent1"/>
                </a:solidFill>
                <a:latin typeface="+mj-lt"/>
                <a:ea typeface="+mj-lt"/>
                <a:cs typeface="+mj-lt"/>
              </a:rPr>
              <a:t>拓扑地图</a:t>
            </a:r>
          </a:p>
        </p:txBody>
      </p:sp>
      <p:pic>
        <p:nvPicPr>
          <p:cNvPr id="77" name="图片 63"/>
          <p:cNvPicPr>
            <a:picLocks xmlns:a="http://schemas.openxmlformats.org/drawingml/2006/main" noChangeAspect="1"/>
          </p:cNvPicPr>
          <p:nvPr/>
        </p:nvPicPr>
        <p:blipFill>
          <a:blip xmlns:r="http://schemas.openxmlformats.org/officeDocument/2006/relationships" xmlns:a="http://schemas.openxmlformats.org/drawingml/2006/main" r:embed="R612110671295499e"/>
          <a:srcRect xmlns:a="http://schemas.openxmlformats.org/drawingml/2006/main" l="0" t="0" r="0" b="0"/>
          <a:stretch xmlns:a="http://schemas.openxmlformats.org/drawingml/2006/main">
            <a:fillRect l="0" t="0" r="0" b="0"/>
          </a:stretch>
        </p:blipFill>
        <p:spPr>
          <a:xfrm xmlns:a="http://schemas.openxmlformats.org/drawingml/2006/main">
            <a:off x="2429933" y="3301475"/>
            <a:ext cx="7136223" cy="342258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07574155"/>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083A702D-5FE2-40BB-B5D2-1F47D89A8342}"/>
              </a:ext>
            </a:extLst>
          </p:cNvPr>
          <p:cNvSpPr>
            <a:spLocks xmlns:a="http://schemas.openxmlformats.org/drawingml/2006/main" noGrp="1"/>
          </p:cNvSpPr>
          <p:nvPr/>
        </p:nvSpPr>
        <p:spPr>
          <a:xfrm xmlns:a="http://schemas.openxmlformats.org/drawingml/2006/main" rot="0" flipH="0" flipV="0">
            <a:off x="338605" y="1704505"/>
            <a:ext cx="10818677" cy="1725048"/>
          </a:xfrm>
          <a:custGeom xmlns:a="http://schemas.openxmlformats.org/drawingml/2006/main">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4FAEC028-D234-4195-83DC-956C6B482C0B}"/>
              </a:ext>
            </a:extLst>
          </p:cNvPr>
          <p:cNvSpPr>
            <a:spLocks xmlns:a="http://schemas.openxmlformats.org/drawingml/2006/main" noGrp="1"/>
          </p:cNvSpPr>
          <p:nvPr/>
        </p:nvSpPr>
        <p:spPr>
          <a:xfrm xmlns:a="http://schemas.openxmlformats.org/drawingml/2006/main" rot="0" flipH="0" flipV="0">
            <a:off x="338605" y="1704505"/>
            <a:ext cx="45696" cy="1725048"/>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BF6E8E38-CF73-42E7-8218-84DD0725607C}"/>
              </a:ext>
            </a:extLst>
          </p:cNvPr>
          <p:cNvSpPr>
            <a:spLocks xmlns:a="http://schemas.openxmlformats.org/drawingml/2006/main" noGrp="1"/>
          </p:cNvSpPr>
          <p:nvPr/>
        </p:nvSpPr>
        <p:spPr>
          <a:xfrm xmlns:a="http://schemas.openxmlformats.org/drawingml/2006/main" rot="0" flipH="0" flipV="0">
            <a:off x="618497" y="2024382"/>
            <a:ext cx="274179" cy="274179"/>
          </a:xfrm>
          <a:custGeom xmlns:a="http://schemas.openxmlformats.org/drawingml/2006/main">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59CE953A-5C6E-4280-84EA-221D94F1F8B8}"/>
              </a:ext>
            </a:extLst>
          </p:cNvPr>
          <p:cNvSpPr>
            <a:spLocks xmlns:a="http://schemas.openxmlformats.org/drawingml/2006/main" noGrp="1"/>
          </p:cNvSpPr>
          <p:nvPr/>
        </p:nvSpPr>
        <p:spPr>
          <a:xfrm xmlns:a="http://schemas.openxmlformats.org/drawingml/2006/main" rot="0" flipH="0" flipV="0">
            <a:off x="1063146" y="1978685"/>
            <a:ext cx="9961864" cy="36557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层次化路径规划</a:t>
            </a:r>
            <a:endParaRPr/>
          </a:p>
        </p:txBody>
      </p:sp>
      <p:sp>
        <p:nvSpPr>
          <p:cNvPr id="9" name="Text 7">
            <a:extLst xmlns:a="http://schemas.openxmlformats.org/drawingml/2006/main">
              <a:ext uri="{FF2B5EF4-FFF2-40B4-BE49-F238E27FC236}">
                <a16:creationId xmlns:a16="http://schemas.microsoft.com/office/drawing/2014/main" id="{977D07D3-A8CF-478C-A0AA-D7EDFFAAE95A}"/>
              </a:ext>
            </a:extLst>
          </p:cNvPr>
          <p:cNvSpPr>
            <a:spLocks xmlns:a="http://schemas.openxmlformats.org/drawingml/2006/main" noGrp="1"/>
          </p:cNvSpPr>
          <p:nvPr/>
        </p:nvSpPr>
        <p:spPr>
          <a:xfrm xmlns:a="http://schemas.openxmlformats.org/drawingml/2006/main" rot="0" flipH="0" flipV="0">
            <a:off x="1063146" y="2481348"/>
            <a:ext cx="9927593" cy="67402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拓扑地图的简化特性使其特别适合于</a:t>
            </a:r>
            <a:r>
              <a:rPr sz="1600" b="1">
                <a:latin typeface="微软雅黑"/>
                <a:ea typeface="微软雅黑"/>
                <a:cs typeface="微软雅黑"/>
              </a:rPr>
              <a:t>层次化的路径规划策略</a:t>
            </a:r>
            <a:r>
              <a:rPr sz="1600">
                <a:latin typeface="微软雅黑"/>
                <a:ea typeface="微软雅黑"/>
                <a:cs typeface="微软雅黑"/>
              </a:rPr>
              <a:t>。在这种策略中，机器人首先在</a:t>
            </a:r>
            <a:r>
              <a:rPr sz="1600">
                <a:highlight>
                  <a:srgbClr val="E6B450">
                    <a:alpha val="20000"/>
                  </a:srgbClr>
                </a:highlight>
                <a:latin typeface="微软雅黑"/>
                <a:ea typeface="微软雅黑"/>
                <a:cs typeface="微软雅黑"/>
              </a:rPr>
              <a:t> 高层次的拓扑地图 </a:t>
            </a:r>
            <a:r>
              <a:rPr sz="1600">
                <a:latin typeface="微软雅黑"/>
                <a:ea typeface="微软雅黑"/>
                <a:cs typeface="微软雅黑"/>
              </a:rPr>
              <a:t>上进行快速导航，确定大致的行进路线。</a:t>
            </a:r>
            <a:endParaRPr sz="1600"/>
          </a:p>
        </p:txBody>
      </p:sp>
      <p:sp>
        <p:nvSpPr>
          <p:cNvPr id="10" name="Shape 8">
            <a:extLst xmlns:a="http://schemas.openxmlformats.org/drawingml/2006/main">
              <a:ext uri="{FF2B5EF4-FFF2-40B4-BE49-F238E27FC236}">
                <a16:creationId xmlns:a16="http://schemas.microsoft.com/office/drawing/2014/main" id="{80BB8567-2A0B-49B7-9D82-33A2CFEE5D86}"/>
              </a:ext>
            </a:extLst>
          </p:cNvPr>
          <p:cNvSpPr>
            <a:spLocks xmlns:a="http://schemas.openxmlformats.org/drawingml/2006/main" noGrp="1"/>
          </p:cNvSpPr>
          <p:nvPr/>
        </p:nvSpPr>
        <p:spPr>
          <a:xfrm xmlns:a="http://schemas.openxmlformats.org/drawingml/2006/main" rot="0" flipH="0" flipV="0">
            <a:off x="338605" y="3698021"/>
            <a:ext cx="10818677" cy="1725048"/>
          </a:xfrm>
          <a:custGeom xmlns:a="http://schemas.openxmlformats.org/drawingml/2006/main">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1D2B9F89-786B-4E61-85BB-FA4E4CDF39C7}"/>
              </a:ext>
            </a:extLst>
          </p:cNvPr>
          <p:cNvSpPr>
            <a:spLocks xmlns:a="http://schemas.openxmlformats.org/drawingml/2006/main" noGrp="1"/>
          </p:cNvSpPr>
          <p:nvPr/>
        </p:nvSpPr>
        <p:spPr>
          <a:xfrm xmlns:a="http://schemas.openxmlformats.org/drawingml/2006/main" rot="0" flipH="0" flipV="0">
            <a:off x="338605" y="3698021"/>
            <a:ext cx="45696" cy="1725048"/>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729B8B45-2CB2-434B-92B1-C703F4049970}"/>
              </a:ext>
            </a:extLst>
          </p:cNvPr>
          <p:cNvSpPr>
            <a:spLocks xmlns:a="http://schemas.openxmlformats.org/drawingml/2006/main" noGrp="1"/>
          </p:cNvSpPr>
          <p:nvPr/>
        </p:nvSpPr>
        <p:spPr>
          <a:xfrm xmlns:a="http://schemas.openxmlformats.org/drawingml/2006/main" rot="0" flipH="0" flipV="0">
            <a:off x="612785" y="4017897"/>
            <a:ext cx="274179" cy="274179"/>
          </a:xfrm>
          <a:custGeom xmlns:a="http://schemas.openxmlformats.org/drawingml/2006/main">
            <a:rect l="l" t="t" r="r" b="b"/>
            <a:pathLst>
              <a:path w="190500" h="190500">
                <a:moveTo>
                  <a:pt x="187003" y="56034"/>
                </a:moveTo>
                <a:lnTo>
                  <a:pt x="151284" y="91753"/>
                </a:lnTo>
                <a:cubicBezTo>
                  <a:pt x="147861" y="95176"/>
                  <a:pt x="142763" y="96180"/>
                  <a:pt x="138299" y="94320"/>
                </a:cubicBezTo>
                <a:cubicBezTo>
                  <a:pt x="133834" y="92459"/>
                  <a:pt x="130969" y="88143"/>
                  <a:pt x="130969" y="83344"/>
                </a:cubicBezTo>
                <a:lnTo>
                  <a:pt x="130969" y="59531"/>
                </a:lnTo>
                <a:lnTo>
                  <a:pt x="11906" y="59531"/>
                </a:lnTo>
                <a:cubicBezTo>
                  <a:pt x="5321" y="59531"/>
                  <a:pt x="0" y="54211"/>
                  <a:pt x="0" y="47625"/>
                </a:cubicBezTo>
                <a:cubicBezTo>
                  <a:pt x="0" y="41039"/>
                  <a:pt x="5321" y="35719"/>
                  <a:pt x="11906" y="35719"/>
                </a:cubicBezTo>
                <a:lnTo>
                  <a:pt x="130969" y="35719"/>
                </a:lnTo>
                <a:lnTo>
                  <a:pt x="130969" y="11906"/>
                </a:lnTo>
                <a:cubicBezTo>
                  <a:pt x="130969" y="7107"/>
                  <a:pt x="133871" y="2753"/>
                  <a:pt x="138336" y="893"/>
                </a:cubicBezTo>
                <a:cubicBezTo>
                  <a:pt x="142801" y="-967"/>
                  <a:pt x="147898" y="74"/>
                  <a:pt x="151321" y="3460"/>
                </a:cubicBezTo>
                <a:lnTo>
                  <a:pt x="187040" y="39179"/>
                </a:lnTo>
                <a:cubicBezTo>
                  <a:pt x="191691" y="43830"/>
                  <a:pt x="191691" y="51383"/>
                  <a:pt x="187040" y="56034"/>
                </a:cubicBezTo>
                <a:close/>
                <a:moveTo>
                  <a:pt x="39179" y="187003"/>
                </a:moveTo>
                <a:lnTo>
                  <a:pt x="3460" y="151284"/>
                </a:lnTo>
                <a:cubicBezTo>
                  <a:pt x="-1191" y="146633"/>
                  <a:pt x="-1191" y="139080"/>
                  <a:pt x="3460" y="134429"/>
                </a:cubicBezTo>
                <a:lnTo>
                  <a:pt x="39179" y="98710"/>
                </a:lnTo>
                <a:cubicBezTo>
                  <a:pt x="42602" y="95287"/>
                  <a:pt x="47699" y="94283"/>
                  <a:pt x="52164" y="96143"/>
                </a:cubicBezTo>
                <a:cubicBezTo>
                  <a:pt x="56629" y="98003"/>
                  <a:pt x="59531" y="102357"/>
                  <a:pt x="59531" y="107156"/>
                </a:cubicBezTo>
                <a:lnTo>
                  <a:pt x="59531" y="130969"/>
                </a:lnTo>
                <a:lnTo>
                  <a:pt x="178594" y="130969"/>
                </a:lnTo>
                <a:cubicBezTo>
                  <a:pt x="185179" y="130969"/>
                  <a:pt x="190500" y="136289"/>
                  <a:pt x="190500" y="142875"/>
                </a:cubicBezTo>
                <a:cubicBezTo>
                  <a:pt x="190500" y="149461"/>
                  <a:pt x="185179" y="154781"/>
                  <a:pt x="178594" y="154781"/>
                </a:cubicBezTo>
                <a:lnTo>
                  <a:pt x="59531" y="154781"/>
                </a:lnTo>
                <a:lnTo>
                  <a:pt x="59531" y="178594"/>
                </a:lnTo>
                <a:cubicBezTo>
                  <a:pt x="59531" y="183393"/>
                  <a:pt x="56629" y="187747"/>
                  <a:pt x="52164" y="189607"/>
                </a:cubicBezTo>
                <a:cubicBezTo>
                  <a:pt x="47699" y="191467"/>
                  <a:pt x="42602" y="190426"/>
                  <a:pt x="39179" y="187040"/>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C2ACE99C-BB24-4D74-B153-D377067DD6E9}"/>
              </a:ext>
            </a:extLst>
          </p:cNvPr>
          <p:cNvSpPr>
            <a:spLocks xmlns:a="http://schemas.openxmlformats.org/drawingml/2006/main" noGrp="1"/>
          </p:cNvSpPr>
          <p:nvPr/>
        </p:nvSpPr>
        <p:spPr>
          <a:xfrm xmlns:a="http://schemas.openxmlformats.org/drawingml/2006/main" rot="0" flipH="0" flipV="0">
            <a:off x="1043155" y="3972201"/>
            <a:ext cx="9984713" cy="36557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地图切换策略</a:t>
            </a:r>
            <a:endParaRPr/>
          </a:p>
        </p:txBody>
      </p:sp>
      <p:sp>
        <p:nvSpPr>
          <p:cNvPr id="14" name="Text 12">
            <a:extLst xmlns:a="http://schemas.openxmlformats.org/drawingml/2006/main">
              <a:ext uri="{FF2B5EF4-FFF2-40B4-BE49-F238E27FC236}">
                <a16:creationId xmlns:a16="http://schemas.microsoft.com/office/drawing/2014/main" id="{C33FF6E7-6D8A-4DAF-85E9-5BF103409EDA}"/>
              </a:ext>
            </a:extLst>
          </p:cNvPr>
          <p:cNvSpPr>
            <a:spLocks xmlns:a="http://schemas.openxmlformats.org/drawingml/2006/main" noGrp="1"/>
          </p:cNvSpPr>
          <p:nvPr/>
        </p:nvSpPr>
        <p:spPr>
          <a:xfrm xmlns:a="http://schemas.openxmlformats.org/drawingml/2006/main" rot="0" flipH="0" flipV="0">
            <a:off x="1043155" y="4474864"/>
            <a:ext cx="9950441" cy="67402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当遇到需要精确操作的情况时，机器人可以</a:t>
            </a:r>
            <a:r>
              <a:rPr sz="1600" b="1">
                <a:latin typeface="微软雅黑"/>
                <a:ea typeface="微软雅黑"/>
                <a:cs typeface="微软雅黑"/>
              </a:rPr>
              <a:t>切换到更详细的地图</a:t>
            </a:r>
            <a:r>
              <a:rPr sz="1600">
                <a:latin typeface="微软雅黑"/>
                <a:ea typeface="微软雅黑"/>
                <a:cs typeface="微软雅黑"/>
              </a:rPr>
              <a:t>以处理复杂的局部规划问题。这种方法不仅提高了导航的效率，还增加了机器人应对复杂环境的能力。</a:t>
            </a:r>
            <a:endParaRPr sz="1600"/>
          </a:p>
        </p:txBody>
      </p:sp>
      <p:sp>
        <p:nvSpPr>
          <p:cNvPr id="15" name="Shape 13">
            <a:extLst xmlns:a="http://schemas.openxmlformats.org/drawingml/2006/main">
              <a:ext uri="{FF2B5EF4-FFF2-40B4-BE49-F238E27FC236}">
                <a16:creationId xmlns:a16="http://schemas.microsoft.com/office/drawing/2014/main" id="{7250A0E4-7646-4977-A8B3-9446368F7899}"/>
              </a:ext>
            </a:extLst>
          </p:cNvPr>
          <p:cNvSpPr>
            <a:spLocks xmlns:a="http://schemas.openxmlformats.org/drawingml/2006/main" noGrp="1"/>
          </p:cNvSpPr>
          <p:nvPr/>
        </p:nvSpPr>
        <p:spPr>
          <a:xfrm xmlns:a="http://schemas.openxmlformats.org/drawingml/2006/main" rot="0" flipH="0" flipV="0">
            <a:off x="321469" y="5697248"/>
            <a:ext cx="5323657" cy="1199537"/>
          </a:xfrm>
          <a:custGeom xmlns:a="http://schemas.openxmlformats.org/drawingml/2006/main">
            <a:rect l="l" t="t" r="r" b="b"/>
            <a:pathLst>
              <a:path w="3698875" h="833438">
                <a:moveTo>
                  <a:pt x="95254" y="0"/>
                </a:moveTo>
                <a:lnTo>
                  <a:pt x="3603621" y="0"/>
                </a:lnTo>
                <a:cubicBezTo>
                  <a:pt x="3656193" y="0"/>
                  <a:pt x="3698875" y="42682"/>
                  <a:pt x="3698875" y="95254"/>
                </a:cubicBezTo>
                <a:lnTo>
                  <a:pt x="3698875" y="738184"/>
                </a:lnTo>
                <a:cubicBezTo>
                  <a:pt x="3698875" y="790791"/>
                  <a:pt x="3656229" y="833438"/>
                  <a:pt x="3603621" y="833438"/>
                </a:cubicBezTo>
                <a:lnTo>
                  <a:pt x="95254" y="833438"/>
                </a:lnTo>
                <a:cubicBezTo>
                  <a:pt x="42682" y="833438"/>
                  <a:pt x="0" y="790756"/>
                  <a:pt x="0" y="738184"/>
                </a:cubicBezTo>
                <a:lnTo>
                  <a:pt x="0" y="95254"/>
                </a:lnTo>
                <a:cubicBezTo>
                  <a:pt x="0" y="42682"/>
                  <a:pt x="42682" y="0"/>
                  <a:pt x="9525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6" name="Shape 14">
            <a:extLst xmlns:a="http://schemas.openxmlformats.org/drawingml/2006/main">
              <a:ext uri="{FF2B5EF4-FFF2-40B4-BE49-F238E27FC236}">
                <a16:creationId xmlns:a16="http://schemas.microsoft.com/office/drawing/2014/main" id="{638FEDB7-6D7D-4018-B358-26AA891929A0}"/>
              </a:ext>
            </a:extLst>
          </p:cNvPr>
          <p:cNvSpPr>
            <a:spLocks xmlns:a="http://schemas.openxmlformats.org/drawingml/2006/main" noGrp="1"/>
          </p:cNvSpPr>
          <p:nvPr/>
        </p:nvSpPr>
        <p:spPr>
          <a:xfrm xmlns:a="http://schemas.openxmlformats.org/drawingml/2006/main" rot="0" flipH="0" flipV="0">
            <a:off x="584224" y="5977140"/>
            <a:ext cx="228483" cy="228483"/>
          </a:xfrm>
          <a:custGeom xmlns:a="http://schemas.openxmlformats.org/drawingml/2006/main">
            <a:rect l="l" t="t" r="r" b="b"/>
            <a:pathLst>
              <a:path w="158750" h="158750">
                <a:moveTo>
                  <a:pt x="109110" y="86816"/>
                </a:moveTo>
                <a:lnTo>
                  <a:pt x="49919" y="86816"/>
                </a:lnTo>
                <a:cubicBezTo>
                  <a:pt x="50819" y="106815"/>
                  <a:pt x="55252" y="125233"/>
                  <a:pt x="61547" y="138720"/>
                </a:cubicBezTo>
                <a:cubicBezTo>
                  <a:pt x="65081" y="146317"/>
                  <a:pt x="68895" y="151681"/>
                  <a:pt x="72430" y="154967"/>
                </a:cubicBezTo>
                <a:cubicBezTo>
                  <a:pt x="75902" y="158223"/>
                  <a:pt x="78290" y="158750"/>
                  <a:pt x="79530" y="158750"/>
                </a:cubicBezTo>
                <a:cubicBezTo>
                  <a:pt x="80770" y="158750"/>
                  <a:pt x="83158" y="158223"/>
                  <a:pt x="86630" y="154967"/>
                </a:cubicBezTo>
                <a:cubicBezTo>
                  <a:pt x="90165" y="151681"/>
                  <a:pt x="93979" y="146286"/>
                  <a:pt x="97513" y="138720"/>
                </a:cubicBezTo>
                <a:cubicBezTo>
                  <a:pt x="103808" y="125233"/>
                  <a:pt x="108241" y="106815"/>
                  <a:pt x="109141" y="86816"/>
                </a:cubicBezTo>
                <a:close/>
                <a:moveTo>
                  <a:pt x="49888" y="71934"/>
                </a:moveTo>
                <a:lnTo>
                  <a:pt x="109079" y="71934"/>
                </a:lnTo>
                <a:cubicBezTo>
                  <a:pt x="108210" y="51935"/>
                  <a:pt x="103777" y="33517"/>
                  <a:pt x="97482" y="20030"/>
                </a:cubicBezTo>
                <a:cubicBezTo>
                  <a:pt x="93948" y="12464"/>
                  <a:pt x="90134" y="7069"/>
                  <a:pt x="86599" y="3783"/>
                </a:cubicBezTo>
                <a:cubicBezTo>
                  <a:pt x="83127" y="527"/>
                  <a:pt x="80739" y="0"/>
                  <a:pt x="79499" y="0"/>
                </a:cubicBezTo>
                <a:cubicBezTo>
                  <a:pt x="78259" y="0"/>
                  <a:pt x="75871" y="527"/>
                  <a:pt x="72399" y="3783"/>
                </a:cubicBezTo>
                <a:cubicBezTo>
                  <a:pt x="68864" y="7069"/>
                  <a:pt x="65050" y="12464"/>
                  <a:pt x="61516" y="20030"/>
                </a:cubicBezTo>
                <a:cubicBezTo>
                  <a:pt x="55221" y="33517"/>
                  <a:pt x="50788" y="51935"/>
                  <a:pt x="49888" y="71934"/>
                </a:cubicBezTo>
                <a:close/>
                <a:moveTo>
                  <a:pt x="35006" y="71934"/>
                </a:moveTo>
                <a:cubicBezTo>
                  <a:pt x="36091" y="45393"/>
                  <a:pt x="42943" y="20743"/>
                  <a:pt x="52958" y="4558"/>
                </a:cubicBezTo>
                <a:cubicBezTo>
                  <a:pt x="24402" y="14666"/>
                  <a:pt x="3380" y="40680"/>
                  <a:pt x="465" y="71934"/>
                </a:cubicBezTo>
                <a:lnTo>
                  <a:pt x="35006" y="71934"/>
                </a:lnTo>
                <a:close/>
                <a:moveTo>
                  <a:pt x="465" y="86816"/>
                </a:moveTo>
                <a:cubicBezTo>
                  <a:pt x="3380" y="118070"/>
                  <a:pt x="24402" y="144084"/>
                  <a:pt x="52958" y="154192"/>
                </a:cubicBezTo>
                <a:cubicBezTo>
                  <a:pt x="42943" y="138007"/>
                  <a:pt x="36091" y="113357"/>
                  <a:pt x="35006" y="86816"/>
                </a:cubicBezTo>
                <a:lnTo>
                  <a:pt x="465" y="86816"/>
                </a:lnTo>
                <a:close/>
                <a:moveTo>
                  <a:pt x="123992" y="86816"/>
                </a:moveTo>
                <a:cubicBezTo>
                  <a:pt x="122907" y="113357"/>
                  <a:pt x="116055" y="138007"/>
                  <a:pt x="106040" y="154192"/>
                </a:cubicBezTo>
                <a:cubicBezTo>
                  <a:pt x="134596" y="144053"/>
                  <a:pt x="155618" y="118070"/>
                  <a:pt x="158533" y="86816"/>
                </a:cubicBezTo>
                <a:lnTo>
                  <a:pt x="123992" y="86816"/>
                </a:lnTo>
                <a:close/>
                <a:moveTo>
                  <a:pt x="158533" y="71934"/>
                </a:moveTo>
                <a:cubicBezTo>
                  <a:pt x="155618" y="40680"/>
                  <a:pt x="134596" y="14666"/>
                  <a:pt x="106040" y="4558"/>
                </a:cubicBezTo>
                <a:cubicBezTo>
                  <a:pt x="116055" y="20743"/>
                  <a:pt x="122907" y="45393"/>
                  <a:pt x="123992" y="71934"/>
                </a:cubicBezTo>
                <a:lnTo>
                  <a:pt x="158533" y="71934"/>
                </a:ln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29978D2E-D343-454B-9DF6-76DD2B606584}"/>
              </a:ext>
            </a:extLst>
          </p:cNvPr>
          <p:cNvSpPr>
            <a:spLocks xmlns:a="http://schemas.openxmlformats.org/drawingml/2006/main" noGrp="1"/>
          </p:cNvSpPr>
          <p:nvPr/>
        </p:nvSpPr>
        <p:spPr>
          <a:xfrm xmlns:a="http://schemas.openxmlformats.org/drawingml/2006/main" rot="0" flipH="0" flipV="0">
            <a:off x="978358" y="5931443"/>
            <a:ext cx="925357" cy="3198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b="1">
                <a:latin typeface="微软雅黑"/>
                <a:ea typeface="微软雅黑"/>
                <a:cs typeface="微软雅黑"/>
              </a:rPr>
              <a:t>全局规划</a:t>
            </a:r>
            <a:endParaRPr/>
          </a:p>
        </p:txBody>
      </p:sp>
      <p:sp>
        <p:nvSpPr>
          <p:cNvPr id="18" name="Text 16">
            <a:extLst xmlns:a="http://schemas.openxmlformats.org/drawingml/2006/main">
              <a:ext uri="{FF2B5EF4-FFF2-40B4-BE49-F238E27FC236}">
                <a16:creationId xmlns:a16="http://schemas.microsoft.com/office/drawing/2014/main" id="{A2D0402F-3015-4E6F-AC57-7FAA9906B578}"/>
              </a:ext>
            </a:extLst>
          </p:cNvPr>
          <p:cNvSpPr>
            <a:spLocks xmlns:a="http://schemas.openxmlformats.org/drawingml/2006/main" noGrp="1"/>
          </p:cNvSpPr>
          <p:nvPr/>
        </p:nvSpPr>
        <p:spPr>
          <a:xfrm xmlns:a="http://schemas.openxmlformats.org/drawingml/2006/main" rot="0" flipH="0" flipV="0">
            <a:off x="555663" y="6388410"/>
            <a:ext cx="4946660" cy="27417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在拓扑地图上快速确定大致路线</a:t>
            </a:r>
            <a:endParaRPr sz="1600"/>
          </a:p>
        </p:txBody>
      </p:sp>
      <p:sp>
        <p:nvSpPr>
          <p:cNvPr id="19" name="Shape 17">
            <a:extLst xmlns:a="http://schemas.openxmlformats.org/drawingml/2006/main">
              <a:ext uri="{FF2B5EF4-FFF2-40B4-BE49-F238E27FC236}">
                <a16:creationId xmlns:a16="http://schemas.microsoft.com/office/drawing/2014/main" id="{EB6E71A0-33FA-4438-8CF7-1FF8273E0AE4}"/>
              </a:ext>
            </a:extLst>
          </p:cNvPr>
          <p:cNvSpPr>
            <a:spLocks xmlns:a="http://schemas.openxmlformats.org/drawingml/2006/main" noGrp="1"/>
          </p:cNvSpPr>
          <p:nvPr/>
        </p:nvSpPr>
        <p:spPr>
          <a:xfrm xmlns:a="http://schemas.openxmlformats.org/drawingml/2006/main" rot="0" flipH="0" flipV="0">
            <a:off x="5835410" y="5697248"/>
            <a:ext cx="5323657" cy="1199537"/>
          </a:xfrm>
          <a:custGeom xmlns:a="http://schemas.openxmlformats.org/drawingml/2006/main">
            <a:rect l="l" t="t" r="r" b="b"/>
            <a:pathLst>
              <a:path w="3698875" h="833438">
                <a:moveTo>
                  <a:pt x="95254" y="0"/>
                </a:moveTo>
                <a:lnTo>
                  <a:pt x="3603621" y="0"/>
                </a:lnTo>
                <a:cubicBezTo>
                  <a:pt x="3656193" y="0"/>
                  <a:pt x="3698875" y="42682"/>
                  <a:pt x="3698875" y="95254"/>
                </a:cubicBezTo>
                <a:lnTo>
                  <a:pt x="3698875" y="738184"/>
                </a:lnTo>
                <a:cubicBezTo>
                  <a:pt x="3698875" y="790791"/>
                  <a:pt x="3656229" y="833438"/>
                  <a:pt x="3603621" y="833438"/>
                </a:cubicBezTo>
                <a:lnTo>
                  <a:pt x="95254" y="833438"/>
                </a:lnTo>
                <a:cubicBezTo>
                  <a:pt x="42682" y="833438"/>
                  <a:pt x="0" y="790756"/>
                  <a:pt x="0" y="738184"/>
                </a:cubicBezTo>
                <a:lnTo>
                  <a:pt x="0" y="95254"/>
                </a:lnTo>
                <a:cubicBezTo>
                  <a:pt x="0" y="42682"/>
                  <a:pt x="42682" y="0"/>
                  <a:pt x="9525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0" name="Shape 18">
            <a:extLst xmlns:a="http://schemas.openxmlformats.org/drawingml/2006/main">
              <a:ext uri="{FF2B5EF4-FFF2-40B4-BE49-F238E27FC236}">
                <a16:creationId xmlns:a16="http://schemas.microsoft.com/office/drawing/2014/main" id="{BC8A0A0A-089C-491D-AE16-6CE69118FF96}"/>
              </a:ext>
            </a:extLst>
          </p:cNvPr>
          <p:cNvSpPr>
            <a:spLocks xmlns:a="http://schemas.openxmlformats.org/drawingml/2006/main" noGrp="1"/>
          </p:cNvSpPr>
          <p:nvPr/>
        </p:nvSpPr>
        <p:spPr>
          <a:xfrm xmlns:a="http://schemas.openxmlformats.org/drawingml/2006/main" rot="0" flipH="0" flipV="0">
            <a:off x="6098165" y="5977140"/>
            <a:ext cx="228483" cy="228483"/>
          </a:xfrm>
          <a:custGeom xmlns:a="http://schemas.openxmlformats.org/drawingml/2006/main">
            <a:rect l="l" t="t" r="r" b="b"/>
            <a:pathLst>
              <a:path w="158750" h="158750">
                <a:moveTo>
                  <a:pt x="128984" y="64492"/>
                </a:moveTo>
                <a:cubicBezTo>
                  <a:pt x="128984" y="78724"/>
                  <a:pt x="124365" y="91870"/>
                  <a:pt x="116582" y="102536"/>
                </a:cubicBezTo>
                <a:lnTo>
                  <a:pt x="155835" y="141821"/>
                </a:lnTo>
                <a:cubicBezTo>
                  <a:pt x="159711" y="145697"/>
                  <a:pt x="159711" y="151991"/>
                  <a:pt x="155835" y="155866"/>
                </a:cubicBezTo>
                <a:cubicBezTo>
                  <a:pt x="151960" y="159742"/>
                  <a:pt x="145666" y="159742"/>
                  <a:pt x="141790" y="155866"/>
                </a:cubicBezTo>
                <a:lnTo>
                  <a:pt x="102536" y="116582"/>
                </a:lnTo>
                <a:cubicBezTo>
                  <a:pt x="91870" y="124365"/>
                  <a:pt x="78724" y="128984"/>
                  <a:pt x="64492" y="128984"/>
                </a:cubicBezTo>
                <a:cubicBezTo>
                  <a:pt x="28866" y="128984"/>
                  <a:pt x="0" y="100118"/>
                  <a:pt x="0" y="64492"/>
                </a:cubicBezTo>
                <a:cubicBezTo>
                  <a:pt x="0" y="28866"/>
                  <a:pt x="28866" y="0"/>
                  <a:pt x="64492" y="0"/>
                </a:cubicBezTo>
                <a:cubicBezTo>
                  <a:pt x="100118" y="0"/>
                  <a:pt x="128984" y="28866"/>
                  <a:pt x="128984" y="64492"/>
                </a:cubicBezTo>
                <a:close/>
                <a:moveTo>
                  <a:pt x="64492" y="34727"/>
                </a:moveTo>
                <a:cubicBezTo>
                  <a:pt x="60368" y="34727"/>
                  <a:pt x="57051" y="38044"/>
                  <a:pt x="57051" y="42168"/>
                </a:cubicBezTo>
                <a:lnTo>
                  <a:pt x="57051" y="57051"/>
                </a:lnTo>
                <a:lnTo>
                  <a:pt x="42168" y="57051"/>
                </a:lnTo>
                <a:cubicBezTo>
                  <a:pt x="38044" y="57051"/>
                  <a:pt x="34727" y="60368"/>
                  <a:pt x="34727" y="64492"/>
                </a:cubicBezTo>
                <a:cubicBezTo>
                  <a:pt x="34727" y="68616"/>
                  <a:pt x="38044" y="71934"/>
                  <a:pt x="42168" y="71934"/>
                </a:cubicBezTo>
                <a:lnTo>
                  <a:pt x="57051" y="71934"/>
                </a:lnTo>
                <a:lnTo>
                  <a:pt x="57051" y="86816"/>
                </a:lnTo>
                <a:cubicBezTo>
                  <a:pt x="57051" y="90940"/>
                  <a:pt x="60368" y="94258"/>
                  <a:pt x="64492" y="94258"/>
                </a:cubicBezTo>
                <a:cubicBezTo>
                  <a:pt x="68616" y="94258"/>
                  <a:pt x="71934" y="90940"/>
                  <a:pt x="71934" y="86816"/>
                </a:cubicBezTo>
                <a:lnTo>
                  <a:pt x="71934" y="71934"/>
                </a:lnTo>
                <a:lnTo>
                  <a:pt x="86816" y="71934"/>
                </a:lnTo>
                <a:cubicBezTo>
                  <a:pt x="90940" y="71934"/>
                  <a:pt x="94258" y="68616"/>
                  <a:pt x="94258" y="64492"/>
                </a:cubicBezTo>
                <a:cubicBezTo>
                  <a:pt x="94258" y="60368"/>
                  <a:pt x="90940" y="57051"/>
                  <a:pt x="86816" y="57051"/>
                </a:cubicBezTo>
                <a:lnTo>
                  <a:pt x="71934" y="57051"/>
                </a:lnTo>
                <a:lnTo>
                  <a:pt x="71934" y="42168"/>
                </a:lnTo>
                <a:cubicBezTo>
                  <a:pt x="71934" y="38044"/>
                  <a:pt x="68616" y="34727"/>
                  <a:pt x="64492" y="34727"/>
                </a:cubicBezTo>
                <a:close/>
              </a:path>
            </a:pathLst>
          </a:custGeom>
          <a:solidFill xmlns:a="http://schemas.openxmlformats.org/drawingml/2006/main">
            <a:srgbClr val="E6B450"/>
          </a:solidFill>
        </p:spPr>
      </p:sp>
      <p:sp>
        <p:nvSpPr>
          <p:cNvPr id="21" name="Text 19">
            <a:extLst xmlns:a="http://schemas.openxmlformats.org/drawingml/2006/main">
              <a:ext uri="{FF2B5EF4-FFF2-40B4-BE49-F238E27FC236}">
                <a16:creationId xmlns:a16="http://schemas.microsoft.com/office/drawing/2014/main" id="{EFBDAC5D-1FA2-4C17-AA19-8600E520400B}"/>
              </a:ext>
            </a:extLst>
          </p:cNvPr>
          <p:cNvSpPr>
            <a:spLocks xmlns:a="http://schemas.openxmlformats.org/drawingml/2006/main" noGrp="1"/>
          </p:cNvSpPr>
          <p:nvPr/>
        </p:nvSpPr>
        <p:spPr>
          <a:xfrm xmlns:a="http://schemas.openxmlformats.org/drawingml/2006/main" rot="0" flipH="0" flipV="0">
            <a:off x="6492299" y="5931443"/>
            <a:ext cx="925357" cy="3198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b="1">
                <a:latin typeface="微软雅黑"/>
                <a:ea typeface="微软雅黑"/>
                <a:cs typeface="微软雅黑"/>
              </a:rPr>
              <a:t>局部规划</a:t>
            </a:r>
            <a:endParaRPr/>
          </a:p>
        </p:txBody>
      </p:sp>
      <p:sp>
        <p:nvSpPr>
          <p:cNvPr id="22" name="Text 20">
            <a:extLst xmlns:a="http://schemas.openxmlformats.org/drawingml/2006/main">
              <a:ext uri="{FF2B5EF4-FFF2-40B4-BE49-F238E27FC236}">
                <a16:creationId xmlns:a16="http://schemas.microsoft.com/office/drawing/2014/main" id="{3BFB3432-E830-41E2-B1B9-6E2736FBE967}"/>
              </a:ext>
            </a:extLst>
          </p:cNvPr>
          <p:cNvSpPr>
            <a:spLocks xmlns:a="http://schemas.openxmlformats.org/drawingml/2006/main" noGrp="1"/>
          </p:cNvSpPr>
          <p:nvPr/>
        </p:nvSpPr>
        <p:spPr>
          <a:xfrm xmlns:a="http://schemas.openxmlformats.org/drawingml/2006/main" rot="0" flipH="0" flipV="0">
            <a:off x="6069604" y="6388410"/>
            <a:ext cx="4946660" cy="27417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切换到度量地图进行精确操作</a:t>
            </a:r>
            <a:endParaRPr sz="1600"/>
          </a:p>
        </p:txBody>
      </p:sp>
      <p:sp>
        <p:nvSpPr>
          <p:cNvPr id="67" name="矩形 66">
            <a:extLst xmlns:a="http://schemas.openxmlformats.org/drawingml/2006/main">
              <a:ext uri="{FF2B5EF4-FFF2-40B4-BE49-F238E27FC236}">
                <a16:creationId xmlns:a16="http://schemas.microsoft.com/office/drawing/2014/main" id="{29C4169A-C6A2-4FD5-EE37-C8939C17CE5F}"/>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8" name="文本框 67">
            <a:extLst xmlns:a="http://schemas.openxmlformats.org/drawingml/2006/main">
              <a:ext uri="{FF2B5EF4-FFF2-40B4-BE49-F238E27FC236}">
                <a16:creationId xmlns:a16="http://schemas.microsoft.com/office/drawing/2014/main" id="{E76B6F82-7935-A4C7-338F-DDFB803B43EC}"/>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7.1.2 </a:t>
            </a:r>
            <a:r>
              <a:rPr sz="2400" b="1">
                <a:solidFill>
                  <a:schemeClr val="accent1"/>
                </a:solidFill>
                <a:latin typeface="+mj-lt"/>
                <a:ea typeface="+mj-lt"/>
                <a:cs typeface="+mj-lt"/>
              </a:rPr>
              <a:t>拓扑地图</a:t>
            </a:r>
          </a:p>
        </p:txBody>
      </p:sp>
    </p:spTree>
    <p:extLst>
      <p:ext uri="{BB962C8B-B14F-4D97-AF65-F5344CB8AC3E}">
        <p14:creationId xmlns:p14="http://schemas.microsoft.com/office/powerpoint/2010/main" val="1084592906"/>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FB90A161-B2D5-49AC-8511-CCEDE4A0CA19}"/>
              </a:ext>
            </a:extLst>
          </p:cNvPr>
          <p:cNvSpPr>
            <a:spLocks xmlns:a="http://schemas.openxmlformats.org/drawingml/2006/main" noGrp="1"/>
          </p:cNvSpPr>
          <p:nvPr>
            <p:ph idx="4294967295"/>
          </p:nvPr>
        </p:nvSpPr>
        <p:spPr>
          <a:xfrm xmlns:a="http://schemas.openxmlformats.org/drawingml/2006/main">
            <a:off x="4724400" y="1295400"/>
            <a:ext cx="7467600" cy="3581400"/>
          </a:xfrm>
        </p:spPr>
        <p:txBody>
          <a:bodyPr xmlns:a="http://schemas.openxmlformats.org/drawingml/2006/main">
            <a:normAutofit/>
          </a:bodyPr>
          <a:lstStyle xmlns:a="http://schemas.openxmlformats.org/drawingml/2006/main"/>
          <a:p xmlns:a="http://schemas.openxmlformats.org/drawingml/2006/main">
            <a:pPr marL="0" indent="0">
              <a:lnSpc>
                <a:spcPct val="150000"/>
              </a:lnSpc>
              <a:buNone/>
            </a:pPr>
            <a:r>
              <a:rPr sz="3600"/>
              <a:t>7.1 </a:t>
            </a:r>
            <a:r>
              <a:rPr sz="3600"/>
              <a:t>地图表示</a:t>
            </a:r>
            <a:endParaRPr sz="3600"/>
          </a:p>
          <a:p xmlns:a="http://schemas.openxmlformats.org/drawingml/2006/main">
            <a:pPr marL="0" indent="0">
              <a:lnSpc>
                <a:spcPct val="150000"/>
              </a:lnSpc>
              <a:buNone/>
            </a:pPr>
            <a:r>
              <a:rPr sz="3600">
                <a:solidFill>
                  <a:srgbClr val="FF0000"/>
                </a:solidFill>
              </a:rPr>
              <a:t>7.2 </a:t>
            </a:r>
            <a:r>
              <a:rPr sz="3600">
                <a:solidFill>
                  <a:srgbClr val="FF0000"/>
                </a:solidFill>
              </a:rPr>
              <a:t>全局路径规划</a:t>
            </a:r>
            <a:endParaRPr sz="3600">
              <a:solidFill>
                <a:srgbClr val="FF0000"/>
              </a:solidFill>
            </a:endParaRPr>
          </a:p>
          <a:p xmlns:a="http://schemas.openxmlformats.org/drawingml/2006/main">
            <a:pPr marL="0" indent="0">
              <a:lnSpc>
                <a:spcPct val="150000"/>
              </a:lnSpc>
              <a:buNone/>
            </a:pPr>
            <a:r>
              <a:rPr sz="3600"/>
              <a:t>7.3 </a:t>
            </a:r>
            <a:r>
              <a:rPr sz="3600"/>
              <a:t>局部路径规划</a:t>
            </a:r>
            <a:endParaRPr sz="3600"/>
          </a:p>
        </p:txBody>
      </p:sp>
    </p:spTree>
    <p:extLst>
      <p:ext uri="{BB962C8B-B14F-4D97-AF65-F5344CB8AC3E}">
        <p14:creationId xmlns:p14="http://schemas.microsoft.com/office/powerpoint/2010/main" val="3993392970"/>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3D5F5BAC-0E71-4025-BF2E-5DC516AB1749}"/>
              </a:ext>
            </a:extLst>
          </p:cNvPr>
          <p:cNvSpPr>
            <a:spLocks xmlns:a="http://schemas.openxmlformats.org/drawingml/2006/main" noGrp="1"/>
          </p:cNvSpPr>
          <p:nvPr/>
        </p:nvSpPr>
        <p:spPr>
          <a:xfrm xmlns:a="http://schemas.openxmlformats.org/drawingml/2006/main">
            <a:off x="400050" y="1733550"/>
            <a:ext cx="7448550" cy="1438275"/>
          </a:xfrm>
          <a:custGeom xmlns:a="http://schemas.openxmlformats.org/drawingml/2006/main">
            <a:rect l="l" t="t" r="r" b="b"/>
            <a:pathLst>
              <a:path w="7448550" h="1438275">
                <a:moveTo>
                  <a:pt x="38100" y="0"/>
                </a:moveTo>
                <a:lnTo>
                  <a:pt x="7334250" y="0"/>
                </a:lnTo>
                <a:cubicBezTo>
                  <a:pt x="7397376" y="0"/>
                  <a:pt x="7448550" y="51174"/>
                  <a:pt x="7448550" y="114300"/>
                </a:cubicBezTo>
                <a:lnTo>
                  <a:pt x="7448550" y="1323975"/>
                </a:lnTo>
                <a:cubicBezTo>
                  <a:pt x="7448550" y="1387101"/>
                  <a:pt x="7397376" y="1438275"/>
                  <a:pt x="7334250" y="1438275"/>
                </a:cubicBezTo>
                <a:lnTo>
                  <a:pt x="38100" y="1438275"/>
                </a:lnTo>
                <a:cubicBezTo>
                  <a:pt x="17072" y="1438275"/>
                  <a:pt x="0" y="1421203"/>
                  <a:pt x="0" y="140017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427814A3-9465-4AAD-972E-357B8F46FCAF}"/>
              </a:ext>
            </a:extLst>
          </p:cNvPr>
          <p:cNvSpPr>
            <a:spLocks xmlns:a="http://schemas.openxmlformats.org/drawingml/2006/main" noGrp="1"/>
          </p:cNvSpPr>
          <p:nvPr/>
        </p:nvSpPr>
        <p:spPr>
          <a:xfrm xmlns:a="http://schemas.openxmlformats.org/drawingml/2006/main">
            <a:off x="400050" y="1733550"/>
            <a:ext cx="38100" cy="1438275"/>
          </a:xfrm>
          <a:custGeom xmlns:a="http://schemas.openxmlformats.org/drawingml/2006/main">
            <a:rect l="l" t="t" r="r" b="b"/>
            <a:pathLst>
              <a:path w="38100" h="1438275">
                <a:moveTo>
                  <a:pt x="38100" y="0"/>
                </a:moveTo>
                <a:lnTo>
                  <a:pt x="38100" y="0"/>
                </a:lnTo>
                <a:lnTo>
                  <a:pt x="38100" y="1438275"/>
                </a:lnTo>
                <a:lnTo>
                  <a:pt x="38100" y="1438275"/>
                </a:lnTo>
                <a:cubicBezTo>
                  <a:pt x="17072" y="1438275"/>
                  <a:pt x="0" y="1421203"/>
                  <a:pt x="0" y="1400175"/>
                </a:cubicBezTo>
                <a:lnTo>
                  <a:pt x="0" y="38100"/>
                </a:lnTo>
                <a:cubicBezTo>
                  <a:pt x="0" y="17072"/>
                  <a:pt x="17072" y="0"/>
                  <a:pt x="3810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7848D7CE-5262-4199-80BD-05EE7A632605}"/>
              </a:ext>
            </a:extLst>
          </p:cNvPr>
          <p:cNvSpPr>
            <a:spLocks xmlns:a="http://schemas.openxmlformats.org/drawingml/2006/main" noGrp="1"/>
          </p:cNvSpPr>
          <p:nvPr/>
        </p:nvSpPr>
        <p:spPr>
          <a:xfrm xmlns:a="http://schemas.openxmlformats.org/drawingml/2006/main">
            <a:off x="652463" y="2000250"/>
            <a:ext cx="200025" cy="228600"/>
          </a:xfrm>
          <a:custGeom xmlns:a="http://schemas.openxmlformats.org/drawingml/2006/main">
            <a:rect l="l" t="t" r="r" b="b"/>
            <a:pathLst>
              <a:path w="200025" h="228600">
                <a:moveTo>
                  <a:pt x="171450" y="228600"/>
                </a:moveTo>
                <a:lnTo>
                  <a:pt x="42863" y="228600"/>
                </a:lnTo>
                <a:cubicBezTo>
                  <a:pt x="19199" y="228600"/>
                  <a:pt x="0" y="209401"/>
                  <a:pt x="0" y="185738"/>
                </a:cubicBezTo>
                <a:lnTo>
                  <a:pt x="0" y="42863"/>
                </a:lnTo>
                <a:cubicBezTo>
                  <a:pt x="0" y="19199"/>
                  <a:pt x="19199" y="0"/>
                  <a:pt x="42863" y="0"/>
                </a:cubicBezTo>
                <a:lnTo>
                  <a:pt x="178594" y="0"/>
                </a:lnTo>
                <a:cubicBezTo>
                  <a:pt x="190426" y="0"/>
                  <a:pt x="200025" y="9599"/>
                  <a:pt x="200025" y="21431"/>
                </a:cubicBezTo>
                <a:lnTo>
                  <a:pt x="200025" y="150019"/>
                </a:lnTo>
                <a:cubicBezTo>
                  <a:pt x="200025" y="159350"/>
                  <a:pt x="194042" y="167298"/>
                  <a:pt x="185738" y="170244"/>
                </a:cubicBezTo>
                <a:lnTo>
                  <a:pt x="185738" y="200025"/>
                </a:lnTo>
                <a:cubicBezTo>
                  <a:pt x="193640" y="200025"/>
                  <a:pt x="200025" y="206410"/>
                  <a:pt x="200025" y="214313"/>
                </a:cubicBezTo>
                <a:cubicBezTo>
                  <a:pt x="200025" y="222215"/>
                  <a:pt x="193640" y="228600"/>
                  <a:pt x="185738" y="228600"/>
                </a:cubicBezTo>
                <a:lnTo>
                  <a:pt x="171450" y="228600"/>
                </a:lnTo>
                <a:close/>
                <a:moveTo>
                  <a:pt x="42863" y="171450"/>
                </a:moveTo>
                <a:cubicBezTo>
                  <a:pt x="34960" y="171450"/>
                  <a:pt x="28575" y="177835"/>
                  <a:pt x="28575" y="185738"/>
                </a:cubicBezTo>
                <a:cubicBezTo>
                  <a:pt x="28575" y="193640"/>
                  <a:pt x="34960" y="200025"/>
                  <a:pt x="42863" y="200025"/>
                </a:cubicBezTo>
                <a:lnTo>
                  <a:pt x="157163" y="200025"/>
                </a:lnTo>
                <a:lnTo>
                  <a:pt x="157163" y="171450"/>
                </a:lnTo>
                <a:lnTo>
                  <a:pt x="42863" y="171450"/>
                </a:lnTo>
                <a:close/>
                <a:moveTo>
                  <a:pt x="57150" y="67866"/>
                </a:moveTo>
                <a:cubicBezTo>
                  <a:pt x="57150" y="73804"/>
                  <a:pt x="61927" y="78581"/>
                  <a:pt x="67866" y="78581"/>
                </a:cubicBezTo>
                <a:lnTo>
                  <a:pt x="146447" y="78581"/>
                </a:lnTo>
                <a:cubicBezTo>
                  <a:pt x="152385" y="78581"/>
                  <a:pt x="157163" y="73804"/>
                  <a:pt x="157163" y="67866"/>
                </a:cubicBezTo>
                <a:cubicBezTo>
                  <a:pt x="157163" y="61927"/>
                  <a:pt x="152385" y="57150"/>
                  <a:pt x="146447" y="57150"/>
                </a:cubicBezTo>
                <a:lnTo>
                  <a:pt x="67866" y="57150"/>
                </a:lnTo>
                <a:cubicBezTo>
                  <a:pt x="61927" y="57150"/>
                  <a:pt x="57150" y="61927"/>
                  <a:pt x="57150" y="67866"/>
                </a:cubicBezTo>
                <a:close/>
                <a:moveTo>
                  <a:pt x="67866" y="100013"/>
                </a:moveTo>
                <a:cubicBezTo>
                  <a:pt x="61927" y="100013"/>
                  <a:pt x="57150" y="104790"/>
                  <a:pt x="57150" y="110728"/>
                </a:cubicBezTo>
                <a:cubicBezTo>
                  <a:pt x="57150" y="116666"/>
                  <a:pt x="61927" y="121444"/>
                  <a:pt x="67866" y="121444"/>
                </a:cubicBezTo>
                <a:lnTo>
                  <a:pt x="146447" y="121444"/>
                </a:lnTo>
                <a:cubicBezTo>
                  <a:pt x="152385" y="121444"/>
                  <a:pt x="157163" y="116666"/>
                  <a:pt x="157163" y="110728"/>
                </a:cubicBezTo>
                <a:cubicBezTo>
                  <a:pt x="157163" y="104790"/>
                  <a:pt x="152385" y="100013"/>
                  <a:pt x="146447" y="100013"/>
                </a:cubicBezTo>
                <a:lnTo>
                  <a:pt x="67866" y="100013"/>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154A35AD-84F6-451A-852D-9ADB5AC738AA}"/>
              </a:ext>
            </a:extLst>
          </p:cNvPr>
          <p:cNvSpPr>
            <a:spLocks xmlns:a="http://schemas.openxmlformats.org/drawingml/2006/main" noGrp="1"/>
          </p:cNvSpPr>
          <p:nvPr/>
        </p:nvSpPr>
        <p:spPr>
          <a:xfrm xmlns:a="http://schemas.openxmlformats.org/drawingml/2006/main">
            <a:off x="1005036" y="1962150"/>
            <a:ext cx="672465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定义</a:t>
            </a:r>
            <a:endParaRPr sz="1600"/>
          </a:p>
        </p:txBody>
      </p:sp>
      <p:sp>
        <p:nvSpPr>
          <p:cNvPr id="9" name="Text 7">
            <a:extLst xmlns:a="http://schemas.openxmlformats.org/drawingml/2006/main">
              <a:ext uri="{FF2B5EF4-FFF2-40B4-BE49-F238E27FC236}">
                <a16:creationId xmlns:a16="http://schemas.microsoft.com/office/drawing/2014/main" id="{71D5BE82-BB81-4AEB-A6A6-2408C6D0878E}"/>
              </a:ext>
            </a:extLst>
          </p:cNvPr>
          <p:cNvSpPr>
            <a:spLocks xmlns:a="http://schemas.openxmlformats.org/drawingml/2006/main" noGrp="1"/>
          </p:cNvSpPr>
          <p:nvPr/>
        </p:nvSpPr>
        <p:spPr>
          <a:xfrm xmlns:a="http://schemas.openxmlformats.org/drawingml/2006/main">
            <a:off x="1005036" y="2381250"/>
            <a:ext cx="669607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根据对</a:t>
            </a:r>
            <a:r>
              <a:rPr sz="1600" b="1">
                <a:latin typeface="微软雅黑"/>
                <a:ea typeface="微软雅黑"/>
                <a:cs typeface="微软雅黑"/>
              </a:rPr>
              <a:t>环境信息的把握程度</a:t>
            </a:r>
            <a:r>
              <a:rPr sz="1600">
                <a:latin typeface="微软雅黑"/>
                <a:ea typeface="微软雅黑"/>
                <a:cs typeface="微软雅黑"/>
              </a:rPr>
              <a:t>可把路径规划划分为基于先验完全信息的</a:t>
            </a:r>
            <a:r>
              <a:rPr sz="1600">
                <a:highlight>
                  <a:srgbClr val="E6B450">
                    <a:alpha val="20000"/>
                  </a:srgbClr>
                </a:highlight>
                <a:latin typeface="微软雅黑"/>
                <a:ea typeface="微软雅黑"/>
                <a:cs typeface="微软雅黑"/>
              </a:rPr>
              <a:t> 全局路径规划 </a:t>
            </a:r>
            <a:r>
              <a:rPr sz="1600">
                <a:latin typeface="微软雅黑"/>
                <a:ea typeface="微软雅黑"/>
                <a:cs typeface="微软雅黑"/>
              </a:rPr>
              <a:t>和基于传感器信息的</a:t>
            </a:r>
            <a:r>
              <a:rPr sz="1600">
                <a:highlight>
                  <a:srgbClr val="E6B450">
                    <a:alpha val="20000"/>
                  </a:srgbClr>
                </a:highlight>
                <a:latin typeface="微软雅黑"/>
                <a:ea typeface="微软雅黑"/>
                <a:cs typeface="微软雅黑"/>
              </a:rPr>
              <a:t> 局部路径规划 </a:t>
            </a:r>
            <a:r>
              <a:rPr sz="1600">
                <a:latin typeface="微软雅黑"/>
                <a:ea typeface="微软雅黑"/>
                <a:cs typeface="微软雅黑"/>
              </a:rPr>
              <a:t>。</a:t>
            </a:r>
            <a:endParaRPr sz="2000"/>
          </a:p>
        </p:txBody>
      </p:sp>
      <p:sp>
        <p:nvSpPr>
          <p:cNvPr id="10" name="Shape 8">
            <a:extLst xmlns:a="http://schemas.openxmlformats.org/drawingml/2006/main">
              <a:ext uri="{FF2B5EF4-FFF2-40B4-BE49-F238E27FC236}">
                <a16:creationId xmlns:a16="http://schemas.microsoft.com/office/drawing/2014/main" id="{81E790BD-D9B8-42DB-8C7A-231990B18A24}"/>
              </a:ext>
            </a:extLst>
          </p:cNvPr>
          <p:cNvSpPr>
            <a:spLocks xmlns:a="http://schemas.openxmlformats.org/drawingml/2006/main" noGrp="1"/>
          </p:cNvSpPr>
          <p:nvPr/>
        </p:nvSpPr>
        <p:spPr>
          <a:xfrm xmlns:a="http://schemas.openxmlformats.org/drawingml/2006/main">
            <a:off x="385763" y="3400425"/>
            <a:ext cx="3609975" cy="1800225"/>
          </a:xfrm>
          <a:custGeom xmlns:a="http://schemas.openxmlformats.org/drawingml/2006/main">
            <a:rect l="l" t="t" r="r" b="b"/>
            <a:pathLst>
              <a:path w="3609975" h="1800225">
                <a:moveTo>
                  <a:pt x="114296" y="0"/>
                </a:moveTo>
                <a:lnTo>
                  <a:pt x="3495679" y="0"/>
                </a:lnTo>
                <a:cubicBezTo>
                  <a:pt x="3558761" y="0"/>
                  <a:pt x="3609975" y="51214"/>
                  <a:pt x="3609975" y="114296"/>
                </a:cubicBezTo>
                <a:lnTo>
                  <a:pt x="3609975" y="1685929"/>
                </a:lnTo>
                <a:cubicBezTo>
                  <a:pt x="3609975" y="1749011"/>
                  <a:pt x="3558761" y="1800225"/>
                  <a:pt x="3495679" y="1800225"/>
                </a:cubicBezTo>
                <a:lnTo>
                  <a:pt x="114296" y="1800225"/>
                </a:lnTo>
                <a:cubicBezTo>
                  <a:pt x="51214" y="1800225"/>
                  <a:pt x="0" y="1749011"/>
                  <a:pt x="0" y="1685929"/>
                </a:cubicBezTo>
                <a:lnTo>
                  <a:pt x="0" y="114296"/>
                </a:lnTo>
                <a:cubicBezTo>
                  <a:pt x="0" y="51214"/>
                  <a:pt x="51214" y="0"/>
                  <a:pt x="114296"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1" name="Shape 9">
            <a:extLst xmlns:a="http://schemas.openxmlformats.org/drawingml/2006/main">
              <a:ext uri="{FF2B5EF4-FFF2-40B4-BE49-F238E27FC236}">
                <a16:creationId xmlns:a16="http://schemas.microsoft.com/office/drawing/2014/main" id="{684ABA84-CA5E-4BE3-92E6-3A4C438573FD}"/>
              </a:ext>
            </a:extLst>
          </p:cNvPr>
          <p:cNvSpPr>
            <a:spLocks xmlns:a="http://schemas.openxmlformats.org/drawingml/2006/main" noGrp="1"/>
          </p:cNvSpPr>
          <p:nvPr/>
        </p:nvSpPr>
        <p:spPr>
          <a:xfrm xmlns:a="http://schemas.openxmlformats.org/drawingml/2006/main">
            <a:off x="647700" y="3652838"/>
            <a:ext cx="228600" cy="228600"/>
          </a:xfrm>
          <a:custGeom xmlns:a="http://schemas.openxmlformats.org/drawingml/2006/main">
            <a:rect l="l" t="t" r="r" b="b"/>
            <a:pathLst>
              <a:path w="228600" h="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xmlns:a="http://schemas.openxmlformats.org/drawingml/2006/main">
            <a:srgbClr val="E6B450"/>
          </a:solidFill>
        </p:spPr>
      </p:sp>
      <p:sp>
        <p:nvSpPr>
          <p:cNvPr id="12" name="Text 10">
            <a:extLst xmlns:a="http://schemas.openxmlformats.org/drawingml/2006/main">
              <a:ext uri="{FF2B5EF4-FFF2-40B4-BE49-F238E27FC236}">
                <a16:creationId xmlns:a16="http://schemas.microsoft.com/office/drawing/2014/main" id="{097154E1-F96A-401B-BCC4-24A90D5D5BE3}"/>
              </a:ext>
            </a:extLst>
          </p:cNvPr>
          <p:cNvSpPr>
            <a:spLocks xmlns:a="http://schemas.openxmlformats.org/drawingml/2006/main" noGrp="1"/>
          </p:cNvSpPr>
          <p:nvPr/>
        </p:nvSpPr>
        <p:spPr>
          <a:xfrm xmlns:a="http://schemas.openxmlformats.org/drawingml/2006/main">
            <a:off x="1019175" y="3633788"/>
            <a:ext cx="1738312"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全局路径规划</a:t>
            </a:r>
            <a:endParaRPr sz="2000"/>
          </a:p>
        </p:txBody>
      </p:sp>
      <p:sp>
        <p:nvSpPr>
          <p:cNvPr id="13" name="Shape 11">
            <a:extLst xmlns:a="http://schemas.openxmlformats.org/drawingml/2006/main">
              <a:ext uri="{FF2B5EF4-FFF2-40B4-BE49-F238E27FC236}">
                <a16:creationId xmlns:a16="http://schemas.microsoft.com/office/drawing/2014/main" id="{2367E5F7-00A5-49CF-BFE9-0944C3C19958}"/>
              </a:ext>
            </a:extLst>
          </p:cNvPr>
          <p:cNvSpPr>
            <a:spLocks xmlns:a="http://schemas.openxmlformats.org/drawingml/2006/main" noGrp="1"/>
          </p:cNvSpPr>
          <p:nvPr/>
        </p:nvSpPr>
        <p:spPr>
          <a:xfrm xmlns:a="http://schemas.openxmlformats.org/drawingml/2006/main">
            <a:off x="647700" y="4090987"/>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14" name="Text 12">
            <a:extLst xmlns:a="http://schemas.openxmlformats.org/drawingml/2006/main">
              <a:ext uri="{FF2B5EF4-FFF2-40B4-BE49-F238E27FC236}">
                <a16:creationId xmlns:a16="http://schemas.microsoft.com/office/drawing/2014/main" id="{71B2B0D0-5DA3-4413-91C2-C926309E5F3A}"/>
              </a:ext>
            </a:extLst>
          </p:cNvPr>
          <p:cNvSpPr>
            <a:spLocks xmlns:a="http://schemas.openxmlformats.org/drawingml/2006/main" noGrp="1"/>
          </p:cNvSpPr>
          <p:nvPr/>
        </p:nvSpPr>
        <p:spPr>
          <a:xfrm xmlns:a="http://schemas.openxmlformats.org/drawingml/2006/main">
            <a:off x="885824" y="4052888"/>
            <a:ext cx="1388281"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属于</a:t>
            </a:r>
            <a:r>
              <a:rPr sz="1600" b="1">
                <a:latin typeface="微软雅黑"/>
                <a:ea typeface="微软雅黑"/>
                <a:cs typeface="微软雅黑"/>
              </a:rPr>
              <a:t>静态规划</a:t>
            </a:r>
            <a:endParaRPr sz="2000"/>
          </a:p>
        </p:txBody>
      </p:sp>
      <p:sp>
        <p:nvSpPr>
          <p:cNvPr id="15" name="Shape 13">
            <a:extLst xmlns:a="http://schemas.openxmlformats.org/drawingml/2006/main">
              <a:ext uri="{FF2B5EF4-FFF2-40B4-BE49-F238E27FC236}">
                <a16:creationId xmlns:a16="http://schemas.microsoft.com/office/drawing/2014/main" id="{20A86198-E4BD-4457-A505-24188F46FEEA}"/>
              </a:ext>
            </a:extLst>
          </p:cNvPr>
          <p:cNvSpPr>
            <a:spLocks xmlns:a="http://schemas.openxmlformats.org/drawingml/2006/main" noGrp="1"/>
          </p:cNvSpPr>
          <p:nvPr/>
        </p:nvSpPr>
        <p:spPr>
          <a:xfrm xmlns:a="http://schemas.openxmlformats.org/drawingml/2006/main">
            <a:off x="647700" y="4433888"/>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16" name="Text 14">
            <a:extLst xmlns:a="http://schemas.openxmlformats.org/drawingml/2006/main">
              <a:ext uri="{FF2B5EF4-FFF2-40B4-BE49-F238E27FC236}">
                <a16:creationId xmlns:a16="http://schemas.microsoft.com/office/drawing/2014/main" id="{2E18F9E3-21B2-45C9-A082-240FDF9F5CF2}"/>
              </a:ext>
            </a:extLst>
          </p:cNvPr>
          <p:cNvSpPr>
            <a:spLocks xmlns:a="http://schemas.openxmlformats.org/drawingml/2006/main" noGrp="1"/>
          </p:cNvSpPr>
          <p:nvPr/>
        </p:nvSpPr>
        <p:spPr>
          <a:xfrm xmlns:a="http://schemas.openxmlformats.org/drawingml/2006/main">
            <a:off x="885824" y="4395788"/>
            <a:ext cx="181544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掌握</a:t>
            </a:r>
            <a:r>
              <a:rPr sz="1600" b="1">
                <a:latin typeface="微软雅黑"/>
                <a:ea typeface="微软雅黑"/>
                <a:cs typeface="微软雅黑"/>
              </a:rPr>
              <a:t>所有环境信息</a:t>
            </a:r>
            <a:endParaRPr sz="2000"/>
          </a:p>
        </p:txBody>
      </p:sp>
      <p:sp>
        <p:nvSpPr>
          <p:cNvPr id="17" name="Shape 15">
            <a:extLst xmlns:a="http://schemas.openxmlformats.org/drawingml/2006/main">
              <a:ext uri="{FF2B5EF4-FFF2-40B4-BE49-F238E27FC236}">
                <a16:creationId xmlns:a16="http://schemas.microsoft.com/office/drawing/2014/main" id="{4D7EFAC0-65A8-4263-B4A5-C9A8A290AADC}"/>
              </a:ext>
            </a:extLst>
          </p:cNvPr>
          <p:cNvSpPr>
            <a:spLocks xmlns:a="http://schemas.openxmlformats.org/drawingml/2006/main" noGrp="1"/>
          </p:cNvSpPr>
          <p:nvPr/>
        </p:nvSpPr>
        <p:spPr>
          <a:xfrm xmlns:a="http://schemas.openxmlformats.org/drawingml/2006/main">
            <a:off x="647700" y="4776788"/>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F266CA51-DC85-4DFC-9B92-7FE282CBDBE7}"/>
              </a:ext>
            </a:extLst>
          </p:cNvPr>
          <p:cNvSpPr>
            <a:spLocks xmlns:a="http://schemas.openxmlformats.org/drawingml/2006/main" noGrp="1"/>
          </p:cNvSpPr>
          <p:nvPr/>
        </p:nvSpPr>
        <p:spPr>
          <a:xfrm xmlns:a="http://schemas.openxmlformats.org/drawingml/2006/main">
            <a:off x="885825" y="4738688"/>
            <a:ext cx="2242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根据</a:t>
            </a:r>
            <a:r>
              <a:rPr sz="1600" b="1">
                <a:latin typeface="微软雅黑"/>
                <a:ea typeface="微软雅黑"/>
                <a:cs typeface="微软雅黑"/>
              </a:rPr>
              <a:t>完整地图</a:t>
            </a:r>
            <a:r>
              <a:rPr sz="1600">
                <a:latin typeface="微软雅黑"/>
                <a:ea typeface="微软雅黑"/>
                <a:cs typeface="微软雅黑"/>
              </a:rPr>
              <a:t>进行规划</a:t>
            </a:r>
            <a:endParaRPr sz="2000"/>
          </a:p>
        </p:txBody>
      </p:sp>
      <p:sp>
        <p:nvSpPr>
          <p:cNvPr id="19" name="Shape 17">
            <a:extLst xmlns:a="http://schemas.openxmlformats.org/drawingml/2006/main">
              <a:ext uri="{FF2B5EF4-FFF2-40B4-BE49-F238E27FC236}">
                <a16:creationId xmlns:a16="http://schemas.microsoft.com/office/drawing/2014/main" id="{A0A01E81-3527-44D0-830E-FE1A78BAD0F5}"/>
              </a:ext>
            </a:extLst>
          </p:cNvPr>
          <p:cNvSpPr>
            <a:spLocks xmlns:a="http://schemas.openxmlformats.org/drawingml/2006/main" noGrp="1"/>
          </p:cNvSpPr>
          <p:nvPr/>
        </p:nvSpPr>
        <p:spPr>
          <a:xfrm xmlns:a="http://schemas.openxmlformats.org/drawingml/2006/main">
            <a:off x="4233863" y="3400425"/>
            <a:ext cx="3609975" cy="1800225"/>
          </a:xfrm>
          <a:custGeom xmlns:a="http://schemas.openxmlformats.org/drawingml/2006/main">
            <a:rect l="l" t="t" r="r" b="b"/>
            <a:pathLst>
              <a:path w="3609975" h="1800225">
                <a:moveTo>
                  <a:pt x="114296" y="0"/>
                </a:moveTo>
                <a:lnTo>
                  <a:pt x="3495679" y="0"/>
                </a:lnTo>
                <a:cubicBezTo>
                  <a:pt x="3558761" y="0"/>
                  <a:pt x="3609975" y="51214"/>
                  <a:pt x="3609975" y="114296"/>
                </a:cubicBezTo>
                <a:lnTo>
                  <a:pt x="3609975" y="1685929"/>
                </a:lnTo>
                <a:cubicBezTo>
                  <a:pt x="3609975" y="1749011"/>
                  <a:pt x="3558761" y="1800225"/>
                  <a:pt x="3495679" y="1800225"/>
                </a:cubicBezTo>
                <a:lnTo>
                  <a:pt x="114296" y="1800225"/>
                </a:lnTo>
                <a:cubicBezTo>
                  <a:pt x="51214" y="1800225"/>
                  <a:pt x="0" y="1749011"/>
                  <a:pt x="0" y="1685929"/>
                </a:cubicBezTo>
                <a:lnTo>
                  <a:pt x="0" y="114296"/>
                </a:lnTo>
                <a:cubicBezTo>
                  <a:pt x="0" y="51214"/>
                  <a:pt x="51214" y="0"/>
                  <a:pt x="114296"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0" name="Shape 18">
            <a:extLst xmlns:a="http://schemas.openxmlformats.org/drawingml/2006/main">
              <a:ext uri="{FF2B5EF4-FFF2-40B4-BE49-F238E27FC236}">
                <a16:creationId xmlns:a16="http://schemas.microsoft.com/office/drawing/2014/main" id="{EAA23680-CDDC-42A4-929F-58CF8B09945D}"/>
              </a:ext>
            </a:extLst>
          </p:cNvPr>
          <p:cNvSpPr>
            <a:spLocks xmlns:a="http://schemas.openxmlformats.org/drawingml/2006/main" noGrp="1"/>
          </p:cNvSpPr>
          <p:nvPr/>
        </p:nvSpPr>
        <p:spPr>
          <a:xfrm xmlns:a="http://schemas.openxmlformats.org/drawingml/2006/main">
            <a:off x="4495800" y="3652838"/>
            <a:ext cx="228600" cy="228600"/>
          </a:xfrm>
          <a:custGeom xmlns:a="http://schemas.openxmlformats.org/drawingml/2006/main">
            <a:rect l="l" t="t" r="r" b="b"/>
            <a:pathLst>
              <a:path w="228600" h="228600">
                <a:moveTo>
                  <a:pt x="29423" y="102022"/>
                </a:moveTo>
                <a:cubicBezTo>
                  <a:pt x="35362" y="60499"/>
                  <a:pt x="71125" y="28575"/>
                  <a:pt x="114300" y="28575"/>
                </a:cubicBezTo>
                <a:cubicBezTo>
                  <a:pt x="137964" y="28575"/>
                  <a:pt x="159395" y="38174"/>
                  <a:pt x="174933" y="53667"/>
                </a:cubicBezTo>
                <a:cubicBezTo>
                  <a:pt x="175022" y="53757"/>
                  <a:pt x="175111" y="53846"/>
                  <a:pt x="175200" y="53935"/>
                </a:cubicBezTo>
                <a:lnTo>
                  <a:pt x="178594" y="57150"/>
                </a:lnTo>
                <a:lnTo>
                  <a:pt x="157207" y="57150"/>
                </a:lnTo>
                <a:cubicBezTo>
                  <a:pt x="149304" y="57150"/>
                  <a:pt x="142920" y="63535"/>
                  <a:pt x="142920" y="71438"/>
                </a:cubicBezTo>
                <a:cubicBezTo>
                  <a:pt x="142920" y="79340"/>
                  <a:pt x="149304" y="85725"/>
                  <a:pt x="157207" y="85725"/>
                </a:cubicBezTo>
                <a:lnTo>
                  <a:pt x="214357" y="85725"/>
                </a:lnTo>
                <a:cubicBezTo>
                  <a:pt x="222260" y="85725"/>
                  <a:pt x="228645" y="79340"/>
                  <a:pt x="228645" y="71438"/>
                </a:cubicBezTo>
                <a:lnTo>
                  <a:pt x="228645" y="14288"/>
                </a:lnTo>
                <a:cubicBezTo>
                  <a:pt x="228645" y="6385"/>
                  <a:pt x="222260" y="0"/>
                  <a:pt x="214357" y="0"/>
                </a:cubicBezTo>
                <a:cubicBezTo>
                  <a:pt x="206454" y="0"/>
                  <a:pt x="200070" y="6385"/>
                  <a:pt x="200070" y="14288"/>
                </a:cubicBezTo>
                <a:lnTo>
                  <a:pt x="200070" y="38130"/>
                </a:lnTo>
                <a:lnTo>
                  <a:pt x="195024" y="33352"/>
                </a:lnTo>
                <a:cubicBezTo>
                  <a:pt x="174352" y="12769"/>
                  <a:pt x="145777" y="0"/>
                  <a:pt x="114300" y="0"/>
                </a:cubicBezTo>
                <a:cubicBezTo>
                  <a:pt x="56704" y="0"/>
                  <a:pt x="9064" y="42595"/>
                  <a:pt x="1161" y="98003"/>
                </a:cubicBezTo>
                <a:cubicBezTo>
                  <a:pt x="45" y="105817"/>
                  <a:pt x="5447" y="113050"/>
                  <a:pt x="13261" y="114166"/>
                </a:cubicBezTo>
                <a:cubicBezTo>
                  <a:pt x="21074" y="115282"/>
                  <a:pt x="28307" y="109835"/>
                  <a:pt x="29423" y="102066"/>
                </a:cubicBezTo>
                <a:close/>
                <a:moveTo>
                  <a:pt x="227439" y="130597"/>
                </a:moveTo>
                <a:cubicBezTo>
                  <a:pt x="228555" y="122783"/>
                  <a:pt x="223108" y="115550"/>
                  <a:pt x="215339" y="114434"/>
                </a:cubicBezTo>
                <a:cubicBezTo>
                  <a:pt x="207571" y="113318"/>
                  <a:pt x="200293" y="118765"/>
                  <a:pt x="199177" y="126534"/>
                </a:cubicBezTo>
                <a:cubicBezTo>
                  <a:pt x="193238" y="168057"/>
                  <a:pt x="157475" y="199980"/>
                  <a:pt x="114300" y="199980"/>
                </a:cubicBezTo>
                <a:cubicBezTo>
                  <a:pt x="90636" y="199980"/>
                  <a:pt x="69205" y="190381"/>
                  <a:pt x="53667" y="174888"/>
                </a:cubicBezTo>
                <a:cubicBezTo>
                  <a:pt x="53578" y="174799"/>
                  <a:pt x="53489" y="174709"/>
                  <a:pt x="53400" y="174620"/>
                </a:cubicBezTo>
                <a:lnTo>
                  <a:pt x="50006" y="171405"/>
                </a:lnTo>
                <a:lnTo>
                  <a:pt x="71393" y="171405"/>
                </a:lnTo>
                <a:cubicBezTo>
                  <a:pt x="79296" y="171405"/>
                  <a:pt x="85680" y="165021"/>
                  <a:pt x="85680" y="157118"/>
                </a:cubicBezTo>
                <a:cubicBezTo>
                  <a:pt x="85680" y="149215"/>
                  <a:pt x="79296" y="142830"/>
                  <a:pt x="71393" y="142830"/>
                </a:cubicBezTo>
                <a:lnTo>
                  <a:pt x="14288" y="142875"/>
                </a:lnTo>
                <a:cubicBezTo>
                  <a:pt x="10492" y="142875"/>
                  <a:pt x="6831" y="144393"/>
                  <a:pt x="4152" y="147117"/>
                </a:cubicBezTo>
                <a:cubicBezTo>
                  <a:pt x="1473" y="149840"/>
                  <a:pt x="-45" y="153457"/>
                  <a:pt x="0" y="157296"/>
                </a:cubicBezTo>
                <a:lnTo>
                  <a:pt x="446" y="214000"/>
                </a:lnTo>
                <a:cubicBezTo>
                  <a:pt x="491" y="221903"/>
                  <a:pt x="6965" y="228243"/>
                  <a:pt x="14868" y="228154"/>
                </a:cubicBezTo>
                <a:cubicBezTo>
                  <a:pt x="22771" y="228064"/>
                  <a:pt x="29111" y="221635"/>
                  <a:pt x="29021" y="213732"/>
                </a:cubicBezTo>
                <a:lnTo>
                  <a:pt x="28843" y="190738"/>
                </a:lnTo>
                <a:lnTo>
                  <a:pt x="33620" y="195248"/>
                </a:lnTo>
                <a:cubicBezTo>
                  <a:pt x="54293" y="215831"/>
                  <a:pt x="82823" y="228600"/>
                  <a:pt x="114300" y="228600"/>
                </a:cubicBezTo>
                <a:cubicBezTo>
                  <a:pt x="171896" y="228600"/>
                  <a:pt x="219536" y="186005"/>
                  <a:pt x="227439" y="130597"/>
                </a:cubicBezTo>
                <a:close/>
              </a:path>
            </a:pathLst>
          </a:custGeom>
          <a:solidFill xmlns:a="http://schemas.openxmlformats.org/drawingml/2006/main">
            <a:srgbClr val="E6B450"/>
          </a:solidFill>
        </p:spPr>
      </p:sp>
      <p:sp>
        <p:nvSpPr>
          <p:cNvPr id="21" name="Text 19">
            <a:extLst xmlns:a="http://schemas.openxmlformats.org/drawingml/2006/main">
              <a:ext uri="{FF2B5EF4-FFF2-40B4-BE49-F238E27FC236}">
                <a16:creationId xmlns:a16="http://schemas.microsoft.com/office/drawing/2014/main" id="{8F47DF30-F427-4A41-A2EB-999E51F93C37}"/>
              </a:ext>
            </a:extLst>
          </p:cNvPr>
          <p:cNvSpPr>
            <a:spLocks xmlns:a="http://schemas.openxmlformats.org/drawingml/2006/main" noGrp="1"/>
          </p:cNvSpPr>
          <p:nvPr/>
        </p:nvSpPr>
        <p:spPr>
          <a:xfrm xmlns:a="http://schemas.openxmlformats.org/drawingml/2006/main">
            <a:off x="4867274" y="3633788"/>
            <a:ext cx="1508125"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局部路径规划</a:t>
            </a:r>
            <a:endParaRPr sz="2000"/>
          </a:p>
        </p:txBody>
      </p:sp>
      <p:sp>
        <p:nvSpPr>
          <p:cNvPr id="22" name="Shape 20">
            <a:extLst xmlns:a="http://schemas.openxmlformats.org/drawingml/2006/main">
              <a:ext uri="{FF2B5EF4-FFF2-40B4-BE49-F238E27FC236}">
                <a16:creationId xmlns:a16="http://schemas.microsoft.com/office/drawing/2014/main" id="{B3D15100-9CDE-436F-A98B-BDA1B7E140AD}"/>
              </a:ext>
            </a:extLst>
          </p:cNvPr>
          <p:cNvSpPr>
            <a:spLocks xmlns:a="http://schemas.openxmlformats.org/drawingml/2006/main" noGrp="1"/>
          </p:cNvSpPr>
          <p:nvPr/>
        </p:nvSpPr>
        <p:spPr>
          <a:xfrm xmlns:a="http://schemas.openxmlformats.org/drawingml/2006/main">
            <a:off x="4495800" y="4090987"/>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23" name="Text 21">
            <a:extLst xmlns:a="http://schemas.openxmlformats.org/drawingml/2006/main">
              <a:ext uri="{FF2B5EF4-FFF2-40B4-BE49-F238E27FC236}">
                <a16:creationId xmlns:a16="http://schemas.microsoft.com/office/drawing/2014/main" id="{5FC531E8-899D-4063-8842-07FDA8864B99}"/>
              </a:ext>
            </a:extLst>
          </p:cNvPr>
          <p:cNvSpPr>
            <a:spLocks xmlns:a="http://schemas.openxmlformats.org/drawingml/2006/main" noGrp="1"/>
          </p:cNvSpPr>
          <p:nvPr/>
        </p:nvSpPr>
        <p:spPr>
          <a:xfrm xmlns:a="http://schemas.openxmlformats.org/drawingml/2006/main">
            <a:off x="4733924" y="4052888"/>
            <a:ext cx="137800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属于</a:t>
            </a:r>
            <a:r>
              <a:rPr sz="1600" b="1">
                <a:latin typeface="微软雅黑"/>
                <a:ea typeface="微软雅黑"/>
                <a:cs typeface="微软雅黑"/>
              </a:rPr>
              <a:t>动态规划</a:t>
            </a:r>
            <a:endParaRPr sz="2000"/>
          </a:p>
        </p:txBody>
      </p:sp>
      <p:sp>
        <p:nvSpPr>
          <p:cNvPr id="24" name="Shape 22">
            <a:extLst xmlns:a="http://schemas.openxmlformats.org/drawingml/2006/main">
              <a:ext uri="{FF2B5EF4-FFF2-40B4-BE49-F238E27FC236}">
                <a16:creationId xmlns:a16="http://schemas.microsoft.com/office/drawing/2014/main" id="{5EF2867A-26A4-47F3-983B-5D3D36A54C84}"/>
              </a:ext>
            </a:extLst>
          </p:cNvPr>
          <p:cNvSpPr>
            <a:spLocks xmlns:a="http://schemas.openxmlformats.org/drawingml/2006/main" noGrp="1"/>
          </p:cNvSpPr>
          <p:nvPr/>
        </p:nvSpPr>
        <p:spPr>
          <a:xfrm xmlns:a="http://schemas.openxmlformats.org/drawingml/2006/main">
            <a:off x="4495800" y="4433888"/>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25" name="Text 23">
            <a:extLst xmlns:a="http://schemas.openxmlformats.org/drawingml/2006/main">
              <a:ext uri="{FF2B5EF4-FFF2-40B4-BE49-F238E27FC236}">
                <a16:creationId xmlns:a16="http://schemas.microsoft.com/office/drawing/2014/main" id="{1FA55EB0-B111-427E-AB72-DBC6145933C5}"/>
              </a:ext>
            </a:extLst>
          </p:cNvPr>
          <p:cNvSpPr>
            <a:spLocks xmlns:a="http://schemas.openxmlformats.org/drawingml/2006/main" noGrp="1"/>
          </p:cNvSpPr>
          <p:nvPr/>
        </p:nvSpPr>
        <p:spPr>
          <a:xfrm xmlns:a="http://schemas.openxmlformats.org/drawingml/2006/main">
            <a:off x="4733925" y="4395788"/>
            <a:ext cx="20140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基于</a:t>
            </a:r>
            <a:r>
              <a:rPr sz="1600" b="1">
                <a:latin typeface="微软雅黑"/>
                <a:ea typeface="微软雅黑"/>
                <a:cs typeface="微软雅黑"/>
              </a:rPr>
              <a:t>传感器实时信息</a:t>
            </a:r>
            <a:endParaRPr sz="2000"/>
          </a:p>
        </p:txBody>
      </p:sp>
      <p:sp>
        <p:nvSpPr>
          <p:cNvPr id="26" name="Shape 24">
            <a:extLst xmlns:a="http://schemas.openxmlformats.org/drawingml/2006/main">
              <a:ext uri="{FF2B5EF4-FFF2-40B4-BE49-F238E27FC236}">
                <a16:creationId xmlns:a16="http://schemas.microsoft.com/office/drawing/2014/main" id="{01CC8A75-5C5C-4A1E-AE00-9E67A77D94FB}"/>
              </a:ext>
            </a:extLst>
          </p:cNvPr>
          <p:cNvSpPr>
            <a:spLocks xmlns:a="http://schemas.openxmlformats.org/drawingml/2006/main" noGrp="1"/>
          </p:cNvSpPr>
          <p:nvPr/>
        </p:nvSpPr>
        <p:spPr>
          <a:xfrm xmlns:a="http://schemas.openxmlformats.org/drawingml/2006/main">
            <a:off x="4495800" y="4776788"/>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27" name="Text 25">
            <a:extLst xmlns:a="http://schemas.openxmlformats.org/drawingml/2006/main">
              <a:ext uri="{FF2B5EF4-FFF2-40B4-BE49-F238E27FC236}">
                <a16:creationId xmlns:a16="http://schemas.microsoft.com/office/drawing/2014/main" id="{F3750A49-8B19-4334-AC72-736EE1874E78}"/>
              </a:ext>
            </a:extLst>
          </p:cNvPr>
          <p:cNvSpPr>
            <a:spLocks xmlns:a="http://schemas.openxmlformats.org/drawingml/2006/main" noGrp="1"/>
          </p:cNvSpPr>
          <p:nvPr/>
        </p:nvSpPr>
        <p:spPr>
          <a:xfrm xmlns:a="http://schemas.openxmlformats.org/drawingml/2006/main">
            <a:off x="4733925" y="4738688"/>
            <a:ext cx="20140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了解</a:t>
            </a:r>
            <a:r>
              <a:rPr sz="1600" b="1">
                <a:latin typeface="微软雅黑"/>
                <a:ea typeface="微软雅黑"/>
                <a:cs typeface="微软雅黑"/>
              </a:rPr>
              <a:t>局部障碍物分布</a:t>
            </a:r>
            <a:endParaRPr sz="2000"/>
          </a:p>
        </p:txBody>
      </p:sp>
      <p:sp>
        <p:nvSpPr>
          <p:cNvPr id="28" name="Shape 26">
            <a:extLst xmlns:a="http://schemas.openxmlformats.org/drawingml/2006/main">
              <a:ext uri="{FF2B5EF4-FFF2-40B4-BE49-F238E27FC236}">
                <a16:creationId xmlns:a16="http://schemas.microsoft.com/office/drawing/2014/main" id="{84C861B9-26E9-4244-8FB6-A39227D22469}"/>
              </a:ext>
            </a:extLst>
          </p:cNvPr>
          <p:cNvSpPr>
            <a:spLocks xmlns:a="http://schemas.openxmlformats.org/drawingml/2006/main" noGrp="1"/>
          </p:cNvSpPr>
          <p:nvPr/>
        </p:nvSpPr>
        <p:spPr>
          <a:xfrm xmlns:a="http://schemas.openxmlformats.org/drawingml/2006/main">
            <a:off x="8158163" y="1738313"/>
            <a:ext cx="3648075" cy="4543425"/>
          </a:xfrm>
          <a:custGeom xmlns:a="http://schemas.openxmlformats.org/drawingml/2006/main">
            <a:rect l="l" t="t" r="r" b="b"/>
            <a:pathLst>
              <a:path w="3648075" h="4543425">
                <a:moveTo>
                  <a:pt x="114294" y="0"/>
                </a:moveTo>
                <a:lnTo>
                  <a:pt x="3533781" y="0"/>
                </a:lnTo>
                <a:cubicBezTo>
                  <a:pt x="3596904" y="0"/>
                  <a:pt x="3648075" y="51171"/>
                  <a:pt x="3648075" y="114294"/>
                </a:cubicBezTo>
                <a:lnTo>
                  <a:pt x="3648075" y="4429131"/>
                </a:lnTo>
                <a:cubicBezTo>
                  <a:pt x="3648075" y="4492254"/>
                  <a:pt x="3596904" y="4543425"/>
                  <a:pt x="3533781" y="4543425"/>
                </a:cubicBezTo>
                <a:lnTo>
                  <a:pt x="114294" y="4543425"/>
                </a:lnTo>
                <a:cubicBezTo>
                  <a:pt x="51171" y="4543425"/>
                  <a:pt x="0" y="4492254"/>
                  <a:pt x="0" y="4429131"/>
                </a:cubicBezTo>
                <a:lnTo>
                  <a:pt x="0" y="114294"/>
                </a:lnTo>
                <a:cubicBezTo>
                  <a:pt x="0" y="51214"/>
                  <a:pt x="51214" y="0"/>
                  <a:pt x="11429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9" name="Shape 27">
            <a:extLst xmlns:a="http://schemas.openxmlformats.org/drawingml/2006/main">
              <a:ext uri="{FF2B5EF4-FFF2-40B4-BE49-F238E27FC236}">
                <a16:creationId xmlns:a16="http://schemas.microsoft.com/office/drawing/2014/main" id="{17895523-7618-4F5E-961C-C1F29DF11029}"/>
              </a:ext>
            </a:extLst>
          </p:cNvPr>
          <p:cNvSpPr>
            <a:spLocks xmlns:a="http://schemas.openxmlformats.org/drawingml/2006/main" noGrp="1"/>
          </p:cNvSpPr>
          <p:nvPr/>
        </p:nvSpPr>
        <p:spPr>
          <a:xfrm xmlns:a="http://schemas.openxmlformats.org/drawingml/2006/main">
            <a:off x="8391525" y="2009775"/>
            <a:ext cx="238125" cy="190500"/>
          </a:xfrm>
          <a:custGeom xmlns:a="http://schemas.openxmlformats.org/drawingml/2006/main">
            <a:rect l="l" t="t" r="r" b="b"/>
            <a:pathLst>
              <a:path w="238125" h="190500">
                <a:moveTo>
                  <a:pt x="142875" y="11906"/>
                </a:moveTo>
                <a:lnTo>
                  <a:pt x="190500" y="11906"/>
                </a:lnTo>
                <a:cubicBezTo>
                  <a:pt x="197086" y="11906"/>
                  <a:pt x="202406" y="17227"/>
                  <a:pt x="202406" y="23812"/>
                </a:cubicBezTo>
                <a:cubicBezTo>
                  <a:pt x="202406" y="30398"/>
                  <a:pt x="197086" y="35719"/>
                  <a:pt x="190500" y="35719"/>
                </a:cubicBezTo>
                <a:lnTo>
                  <a:pt x="148233" y="35719"/>
                </a:lnTo>
                <a:cubicBezTo>
                  <a:pt x="146298" y="45318"/>
                  <a:pt x="139712" y="53243"/>
                  <a:pt x="130969" y="57038"/>
                </a:cubicBezTo>
                <a:lnTo>
                  <a:pt x="130969" y="166688"/>
                </a:lnTo>
                <a:lnTo>
                  <a:pt x="190500" y="166688"/>
                </a:lnTo>
                <a:cubicBezTo>
                  <a:pt x="197086" y="166688"/>
                  <a:pt x="202406" y="172008"/>
                  <a:pt x="202406" y="178594"/>
                </a:cubicBezTo>
                <a:cubicBezTo>
                  <a:pt x="202406" y="185179"/>
                  <a:pt x="197086" y="190500"/>
                  <a:pt x="190500" y="190500"/>
                </a:cubicBezTo>
                <a:lnTo>
                  <a:pt x="47625" y="190500"/>
                </a:lnTo>
                <a:cubicBezTo>
                  <a:pt x="41039" y="190500"/>
                  <a:pt x="35719" y="185179"/>
                  <a:pt x="35719" y="178594"/>
                </a:cubicBezTo>
                <a:cubicBezTo>
                  <a:pt x="35719" y="172008"/>
                  <a:pt x="41039" y="166688"/>
                  <a:pt x="47625" y="166688"/>
                </a:cubicBezTo>
                <a:lnTo>
                  <a:pt x="107156" y="166688"/>
                </a:lnTo>
                <a:lnTo>
                  <a:pt x="107156" y="57038"/>
                </a:lnTo>
                <a:cubicBezTo>
                  <a:pt x="98413" y="53206"/>
                  <a:pt x="91827" y="45281"/>
                  <a:pt x="89892" y="35719"/>
                </a:cubicBezTo>
                <a:lnTo>
                  <a:pt x="47625" y="35719"/>
                </a:lnTo>
                <a:cubicBezTo>
                  <a:pt x="41039" y="35719"/>
                  <a:pt x="35719" y="30398"/>
                  <a:pt x="35719" y="23812"/>
                </a:cubicBezTo>
                <a:cubicBezTo>
                  <a:pt x="35719" y="17227"/>
                  <a:pt x="41039" y="11906"/>
                  <a:pt x="47625" y="11906"/>
                </a:cubicBezTo>
                <a:lnTo>
                  <a:pt x="95250" y="11906"/>
                </a:lnTo>
                <a:cubicBezTo>
                  <a:pt x="100682" y="4688"/>
                  <a:pt x="109314" y="0"/>
                  <a:pt x="119063" y="0"/>
                </a:cubicBezTo>
                <a:cubicBezTo>
                  <a:pt x="128811" y="0"/>
                  <a:pt x="137443" y="4688"/>
                  <a:pt x="142875" y="11906"/>
                </a:cubicBezTo>
                <a:close/>
                <a:moveTo>
                  <a:pt x="163562" y="119063"/>
                </a:moveTo>
                <a:lnTo>
                  <a:pt x="217438" y="119063"/>
                </a:lnTo>
                <a:lnTo>
                  <a:pt x="190500" y="72851"/>
                </a:lnTo>
                <a:lnTo>
                  <a:pt x="163562" y="119063"/>
                </a:lnTo>
                <a:close/>
                <a:moveTo>
                  <a:pt x="190500" y="154781"/>
                </a:moveTo>
                <a:cubicBezTo>
                  <a:pt x="167097" y="154781"/>
                  <a:pt x="147638" y="142131"/>
                  <a:pt x="143619" y="125425"/>
                </a:cubicBezTo>
                <a:cubicBezTo>
                  <a:pt x="142652" y="121332"/>
                  <a:pt x="143991" y="117128"/>
                  <a:pt x="146112" y="113481"/>
                </a:cubicBezTo>
                <a:lnTo>
                  <a:pt x="181533" y="52760"/>
                </a:lnTo>
                <a:cubicBezTo>
                  <a:pt x="183393" y="49560"/>
                  <a:pt x="186817" y="47625"/>
                  <a:pt x="190500" y="47625"/>
                </a:cubicBezTo>
                <a:cubicBezTo>
                  <a:pt x="194183" y="47625"/>
                  <a:pt x="197607" y="49597"/>
                  <a:pt x="199467" y="52760"/>
                </a:cubicBezTo>
                <a:lnTo>
                  <a:pt x="234888" y="113481"/>
                </a:lnTo>
                <a:cubicBezTo>
                  <a:pt x="237009" y="117128"/>
                  <a:pt x="238348" y="121332"/>
                  <a:pt x="237381" y="125425"/>
                </a:cubicBezTo>
                <a:cubicBezTo>
                  <a:pt x="233363" y="142094"/>
                  <a:pt x="213903" y="154781"/>
                  <a:pt x="190500" y="154781"/>
                </a:cubicBezTo>
                <a:close/>
                <a:moveTo>
                  <a:pt x="47179" y="72851"/>
                </a:moveTo>
                <a:lnTo>
                  <a:pt x="20241" y="119063"/>
                </a:lnTo>
                <a:lnTo>
                  <a:pt x="74154" y="119063"/>
                </a:lnTo>
                <a:lnTo>
                  <a:pt x="47179" y="72851"/>
                </a:lnTo>
                <a:close/>
                <a:moveTo>
                  <a:pt x="335" y="125425"/>
                </a:moveTo>
                <a:cubicBezTo>
                  <a:pt x="-633" y="121332"/>
                  <a:pt x="707" y="117128"/>
                  <a:pt x="2828" y="113481"/>
                </a:cubicBezTo>
                <a:lnTo>
                  <a:pt x="38249" y="52760"/>
                </a:lnTo>
                <a:cubicBezTo>
                  <a:pt x="40109" y="49560"/>
                  <a:pt x="43532" y="47625"/>
                  <a:pt x="47216" y="47625"/>
                </a:cubicBezTo>
                <a:cubicBezTo>
                  <a:pt x="50899" y="47625"/>
                  <a:pt x="54322" y="49597"/>
                  <a:pt x="56183" y="52760"/>
                </a:cubicBezTo>
                <a:lnTo>
                  <a:pt x="91604" y="113481"/>
                </a:lnTo>
                <a:cubicBezTo>
                  <a:pt x="93725" y="117128"/>
                  <a:pt x="95064" y="121332"/>
                  <a:pt x="94097" y="125425"/>
                </a:cubicBezTo>
                <a:cubicBezTo>
                  <a:pt x="90078" y="142094"/>
                  <a:pt x="70619" y="154781"/>
                  <a:pt x="47216" y="154781"/>
                </a:cubicBezTo>
                <a:cubicBezTo>
                  <a:pt x="23812" y="154781"/>
                  <a:pt x="4353" y="142131"/>
                  <a:pt x="335" y="125425"/>
                </a:cubicBezTo>
                <a:close/>
              </a:path>
            </a:pathLst>
          </a:custGeom>
          <a:solidFill xmlns:a="http://schemas.openxmlformats.org/drawingml/2006/main">
            <a:srgbClr val="E6B450"/>
          </a:solidFill>
        </p:spPr>
      </p:sp>
      <p:sp>
        <p:nvSpPr>
          <p:cNvPr id="30" name="Text 28">
            <a:extLst xmlns:a="http://schemas.openxmlformats.org/drawingml/2006/main">
              <a:ext uri="{FF2B5EF4-FFF2-40B4-BE49-F238E27FC236}">
                <a16:creationId xmlns:a16="http://schemas.microsoft.com/office/drawing/2014/main" id="{85FE32E3-765F-4344-BF1C-6350074C474D}"/>
              </a:ext>
            </a:extLst>
          </p:cNvPr>
          <p:cNvSpPr>
            <a:spLocks xmlns:a="http://schemas.openxmlformats.org/drawingml/2006/main" noGrp="1"/>
          </p:cNvSpPr>
          <p:nvPr/>
        </p:nvSpPr>
        <p:spPr>
          <a:xfrm xmlns:a="http://schemas.openxmlformats.org/drawingml/2006/main">
            <a:off x="8629650" y="1971675"/>
            <a:ext cx="3038475"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500" b="1">
                <a:latin typeface="微软雅黑"/>
                <a:ea typeface="微软雅黑"/>
                <a:cs typeface="微软雅黑"/>
              </a:rPr>
              <a:t>对比总结</a:t>
            </a:r>
            <a:endParaRPr sz="1600"/>
          </a:p>
        </p:txBody>
      </p:sp>
      <p:sp>
        <p:nvSpPr>
          <p:cNvPr id="31" name="Shape 29">
            <a:extLst xmlns:a="http://schemas.openxmlformats.org/drawingml/2006/main">
              <a:ext uri="{FF2B5EF4-FFF2-40B4-BE49-F238E27FC236}">
                <a16:creationId xmlns:a16="http://schemas.microsoft.com/office/drawing/2014/main" id="{A2AD17A3-C518-4268-A73F-B1D3ECDA00E8}"/>
              </a:ext>
            </a:extLst>
          </p:cNvPr>
          <p:cNvSpPr>
            <a:spLocks xmlns:a="http://schemas.openxmlformats.org/drawingml/2006/main" noGrp="1"/>
          </p:cNvSpPr>
          <p:nvPr/>
        </p:nvSpPr>
        <p:spPr>
          <a:xfrm xmlns:a="http://schemas.openxmlformats.org/drawingml/2006/main">
            <a:off x="8415338" y="2514600"/>
            <a:ext cx="171450" cy="171450"/>
          </a:xfrm>
          <a:custGeom xmlns:a="http://schemas.openxmlformats.org/drawingml/2006/main">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75009" y="53578"/>
                </a:moveTo>
                <a:cubicBezTo>
                  <a:pt x="75009" y="47664"/>
                  <a:pt x="79811" y="42863"/>
                  <a:pt x="85725" y="42863"/>
                </a:cubicBezTo>
                <a:cubicBezTo>
                  <a:pt x="91639" y="42863"/>
                  <a:pt x="96441" y="47664"/>
                  <a:pt x="96441" y="53578"/>
                </a:cubicBezTo>
                <a:cubicBezTo>
                  <a:pt x="96441" y="59492"/>
                  <a:pt x="91639" y="64294"/>
                  <a:pt x="85725" y="64294"/>
                </a:cubicBezTo>
                <a:cubicBezTo>
                  <a:pt x="79811" y="64294"/>
                  <a:pt x="75009" y="59492"/>
                  <a:pt x="75009" y="53578"/>
                </a:cubicBezTo>
                <a:close/>
                <a:moveTo>
                  <a:pt x="72330" y="75009"/>
                </a:moveTo>
                <a:lnTo>
                  <a:pt x="88404" y="75009"/>
                </a:lnTo>
                <a:cubicBezTo>
                  <a:pt x="92858" y="75009"/>
                  <a:pt x="96441" y="78592"/>
                  <a:pt x="96441" y="83046"/>
                </a:cubicBezTo>
                <a:lnTo>
                  <a:pt x="96441" y="112514"/>
                </a:lnTo>
                <a:lnTo>
                  <a:pt x="99120" y="112514"/>
                </a:lnTo>
                <a:cubicBezTo>
                  <a:pt x="103573" y="112514"/>
                  <a:pt x="107156" y="116097"/>
                  <a:pt x="107156" y="120551"/>
                </a:cubicBezTo>
                <a:cubicBezTo>
                  <a:pt x="107156" y="125004"/>
                  <a:pt x="103573" y="128588"/>
                  <a:pt x="99120" y="128588"/>
                </a:cubicBezTo>
                <a:lnTo>
                  <a:pt x="72330" y="128588"/>
                </a:lnTo>
                <a:cubicBezTo>
                  <a:pt x="67877" y="128588"/>
                  <a:pt x="64294" y="125004"/>
                  <a:pt x="64294" y="120551"/>
                </a:cubicBezTo>
                <a:cubicBezTo>
                  <a:pt x="64294" y="116097"/>
                  <a:pt x="67877" y="112514"/>
                  <a:pt x="72330" y="112514"/>
                </a:cubicBezTo>
                <a:lnTo>
                  <a:pt x="80367" y="112514"/>
                </a:lnTo>
                <a:lnTo>
                  <a:pt x="80367" y="91083"/>
                </a:lnTo>
                <a:lnTo>
                  <a:pt x="72330" y="91083"/>
                </a:lnTo>
                <a:cubicBezTo>
                  <a:pt x="67877" y="91083"/>
                  <a:pt x="64294" y="87500"/>
                  <a:pt x="64294" y="83046"/>
                </a:cubicBezTo>
                <a:cubicBezTo>
                  <a:pt x="64294" y="78592"/>
                  <a:pt x="67877" y="75009"/>
                  <a:pt x="72330" y="75009"/>
                </a:cubicBezTo>
                <a:close/>
              </a:path>
            </a:pathLst>
          </a:custGeom>
          <a:solidFill xmlns:a="http://schemas.openxmlformats.org/drawingml/2006/main">
            <a:srgbClr val="E6B450"/>
          </a:solidFill>
        </p:spPr>
      </p:sp>
      <p:sp>
        <p:nvSpPr>
          <p:cNvPr id="32" name="Text 30">
            <a:extLst xmlns:a="http://schemas.openxmlformats.org/drawingml/2006/main">
              <a:ext uri="{FF2B5EF4-FFF2-40B4-BE49-F238E27FC236}">
                <a16:creationId xmlns:a16="http://schemas.microsoft.com/office/drawing/2014/main" id="{5E2791B2-7A3D-43F3-9D51-4FA8B4B77A5B}"/>
              </a:ext>
            </a:extLst>
          </p:cNvPr>
          <p:cNvSpPr>
            <a:spLocks xmlns:a="http://schemas.openxmlformats.org/drawingml/2006/main" noGrp="1"/>
          </p:cNvSpPr>
          <p:nvPr/>
        </p:nvSpPr>
        <p:spPr>
          <a:xfrm xmlns:a="http://schemas.openxmlformats.org/drawingml/2006/main">
            <a:off x="8610600" y="2466975"/>
            <a:ext cx="30480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信息来源</a:t>
            </a:r>
            <a:endParaRPr sz="1600"/>
          </a:p>
        </p:txBody>
      </p:sp>
      <p:sp>
        <p:nvSpPr>
          <p:cNvPr id="33" name="Shape 31">
            <a:extLst xmlns:a="http://schemas.openxmlformats.org/drawingml/2006/main">
              <a:ext uri="{FF2B5EF4-FFF2-40B4-BE49-F238E27FC236}">
                <a16:creationId xmlns:a16="http://schemas.microsoft.com/office/drawing/2014/main" id="{00A41371-B4CB-4BE4-B764-12A6E97CE33E}"/>
              </a:ext>
            </a:extLst>
          </p:cNvPr>
          <p:cNvSpPr>
            <a:spLocks xmlns:a="http://schemas.openxmlformats.org/drawingml/2006/main" noGrp="1"/>
          </p:cNvSpPr>
          <p:nvPr/>
        </p:nvSpPr>
        <p:spPr>
          <a:xfrm xmlns:a="http://schemas.openxmlformats.org/drawingml/2006/main">
            <a:off x="8391525" y="2847975"/>
            <a:ext cx="1533525" cy="685800"/>
          </a:xfrm>
          <a:custGeom xmlns:a="http://schemas.openxmlformats.org/drawingml/2006/main">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xmlns:a="http://schemas.openxmlformats.org/drawingml/2006/main">
            <a:srgbClr val="5F87A7">
              <a:alpha val="20000"/>
            </a:srgbClr>
          </a:solidFill>
        </p:spPr>
      </p:sp>
      <p:sp>
        <p:nvSpPr>
          <p:cNvPr id="34" name="Text 32">
            <a:extLst xmlns:a="http://schemas.openxmlformats.org/drawingml/2006/main">
              <a:ext uri="{FF2B5EF4-FFF2-40B4-BE49-F238E27FC236}">
                <a16:creationId xmlns:a16="http://schemas.microsoft.com/office/drawing/2014/main" id="{DFF0886C-6FB9-4937-B0A8-3D3F5E1F92C8}"/>
              </a:ext>
            </a:extLst>
          </p:cNvPr>
          <p:cNvSpPr>
            <a:spLocks xmlns:a="http://schemas.openxmlformats.org/drawingml/2006/main" noGrp="1"/>
          </p:cNvSpPr>
          <p:nvPr/>
        </p:nvSpPr>
        <p:spPr>
          <a:xfrm xmlns:a="http://schemas.openxmlformats.org/drawingml/2006/main">
            <a:off x="8505825" y="2962275"/>
            <a:ext cx="1381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全局规划</a:t>
            </a:r>
            <a:endParaRPr sz="1600"/>
          </a:p>
        </p:txBody>
      </p:sp>
      <p:sp>
        <p:nvSpPr>
          <p:cNvPr id="35" name="Text 33">
            <a:extLst xmlns:a="http://schemas.openxmlformats.org/drawingml/2006/main">
              <a:ext uri="{FF2B5EF4-FFF2-40B4-BE49-F238E27FC236}">
                <a16:creationId xmlns:a16="http://schemas.microsoft.com/office/drawing/2014/main" id="{0503A4E6-61B9-407A-9A48-D0958116DF41}"/>
              </a:ext>
            </a:extLst>
          </p:cNvPr>
          <p:cNvSpPr>
            <a:spLocks xmlns:a="http://schemas.openxmlformats.org/drawingml/2006/main" noGrp="1"/>
          </p:cNvSpPr>
          <p:nvPr/>
        </p:nvSpPr>
        <p:spPr>
          <a:xfrm xmlns:a="http://schemas.openxmlformats.org/drawingml/2006/main">
            <a:off x="8505825" y="3228975"/>
            <a:ext cx="13716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先验完全信息</a:t>
            </a:r>
            <a:endParaRPr sz="1600"/>
          </a:p>
        </p:txBody>
      </p:sp>
      <p:sp>
        <p:nvSpPr>
          <p:cNvPr id="36" name="Shape 34">
            <a:extLst xmlns:a="http://schemas.openxmlformats.org/drawingml/2006/main">
              <a:ext uri="{FF2B5EF4-FFF2-40B4-BE49-F238E27FC236}">
                <a16:creationId xmlns:a16="http://schemas.microsoft.com/office/drawing/2014/main" id="{F4367879-5A9A-4E07-B152-8A480936AC87}"/>
              </a:ext>
            </a:extLst>
          </p:cNvPr>
          <p:cNvSpPr>
            <a:spLocks xmlns:a="http://schemas.openxmlformats.org/drawingml/2006/main" noGrp="1"/>
          </p:cNvSpPr>
          <p:nvPr/>
        </p:nvSpPr>
        <p:spPr>
          <a:xfrm xmlns:a="http://schemas.openxmlformats.org/drawingml/2006/main">
            <a:off x="10039350" y="2847975"/>
            <a:ext cx="1533525" cy="685800"/>
          </a:xfrm>
          <a:custGeom xmlns:a="http://schemas.openxmlformats.org/drawingml/2006/main">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xmlns:a="http://schemas.openxmlformats.org/drawingml/2006/main">
            <a:srgbClr val="5F87A7">
              <a:alpha val="20000"/>
            </a:srgbClr>
          </a:solidFill>
        </p:spPr>
      </p:sp>
      <p:sp>
        <p:nvSpPr>
          <p:cNvPr id="37" name="Text 35">
            <a:extLst xmlns:a="http://schemas.openxmlformats.org/drawingml/2006/main">
              <a:ext uri="{FF2B5EF4-FFF2-40B4-BE49-F238E27FC236}">
                <a16:creationId xmlns:a16="http://schemas.microsoft.com/office/drawing/2014/main" id="{8E525A4F-2EBA-4EFD-A25A-C959FFAA2937}"/>
              </a:ext>
            </a:extLst>
          </p:cNvPr>
          <p:cNvSpPr>
            <a:spLocks xmlns:a="http://schemas.openxmlformats.org/drawingml/2006/main" noGrp="1"/>
          </p:cNvSpPr>
          <p:nvPr/>
        </p:nvSpPr>
        <p:spPr>
          <a:xfrm xmlns:a="http://schemas.openxmlformats.org/drawingml/2006/main">
            <a:off x="10153650" y="2962275"/>
            <a:ext cx="1381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局部规划</a:t>
            </a:r>
            <a:endParaRPr sz="1600"/>
          </a:p>
        </p:txBody>
      </p:sp>
      <p:sp>
        <p:nvSpPr>
          <p:cNvPr id="38" name="Text 36">
            <a:extLst xmlns:a="http://schemas.openxmlformats.org/drawingml/2006/main">
              <a:ext uri="{FF2B5EF4-FFF2-40B4-BE49-F238E27FC236}">
                <a16:creationId xmlns:a16="http://schemas.microsoft.com/office/drawing/2014/main" id="{7FCA8B68-DF77-43BF-93FD-4B5F5B2CFDBC}"/>
              </a:ext>
            </a:extLst>
          </p:cNvPr>
          <p:cNvSpPr>
            <a:spLocks xmlns:a="http://schemas.openxmlformats.org/drawingml/2006/main" noGrp="1"/>
          </p:cNvSpPr>
          <p:nvPr/>
        </p:nvSpPr>
        <p:spPr>
          <a:xfrm xmlns:a="http://schemas.openxmlformats.org/drawingml/2006/main">
            <a:off x="10153650" y="3228975"/>
            <a:ext cx="13716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传感器实时采集</a:t>
            </a:r>
            <a:endParaRPr sz="1600"/>
          </a:p>
        </p:txBody>
      </p:sp>
      <p:sp>
        <p:nvSpPr>
          <p:cNvPr id="39" name="Shape 37">
            <a:extLst xmlns:a="http://schemas.openxmlformats.org/drawingml/2006/main">
              <a:ext uri="{FF2B5EF4-FFF2-40B4-BE49-F238E27FC236}">
                <a16:creationId xmlns:a16="http://schemas.microsoft.com/office/drawing/2014/main" id="{52B49CE0-1EDD-44C6-973B-4BA525ED5061}"/>
              </a:ext>
            </a:extLst>
          </p:cNvPr>
          <p:cNvSpPr>
            <a:spLocks xmlns:a="http://schemas.openxmlformats.org/drawingml/2006/main" noGrp="1"/>
          </p:cNvSpPr>
          <p:nvPr/>
        </p:nvSpPr>
        <p:spPr>
          <a:xfrm xmlns:a="http://schemas.openxmlformats.org/drawingml/2006/main">
            <a:off x="8404622" y="3771900"/>
            <a:ext cx="192881" cy="171450"/>
          </a:xfrm>
          <a:custGeom xmlns:a="http://schemas.openxmlformats.org/drawingml/2006/main">
            <a:rect l="l" t="t" r="r" b="b"/>
            <a:pathLst>
              <a:path w="192881" h="171450">
                <a:moveTo>
                  <a:pt x="96441" y="10716"/>
                </a:moveTo>
                <a:cubicBezTo>
                  <a:pt x="69384" y="10716"/>
                  <a:pt x="47718" y="23039"/>
                  <a:pt x="31946" y="37706"/>
                </a:cubicBezTo>
                <a:cubicBezTo>
                  <a:pt x="16274" y="52272"/>
                  <a:pt x="5793" y="69652"/>
                  <a:pt x="804" y="81606"/>
                </a:cubicBezTo>
                <a:cubicBezTo>
                  <a:pt x="-301" y="84252"/>
                  <a:pt x="-301" y="87198"/>
                  <a:pt x="804" y="89844"/>
                </a:cubicBezTo>
                <a:cubicBezTo>
                  <a:pt x="5793" y="101798"/>
                  <a:pt x="16274" y="119211"/>
                  <a:pt x="31946" y="133744"/>
                </a:cubicBezTo>
                <a:cubicBezTo>
                  <a:pt x="47718" y="148378"/>
                  <a:pt x="69384" y="160734"/>
                  <a:pt x="96441" y="160734"/>
                </a:cubicBezTo>
                <a:cubicBezTo>
                  <a:pt x="123498" y="160734"/>
                  <a:pt x="145163" y="148411"/>
                  <a:pt x="160935" y="133744"/>
                </a:cubicBezTo>
                <a:cubicBezTo>
                  <a:pt x="176607" y="119178"/>
                  <a:pt x="187088" y="101798"/>
                  <a:pt x="192078" y="89844"/>
                </a:cubicBezTo>
                <a:cubicBezTo>
                  <a:pt x="193183" y="87198"/>
                  <a:pt x="193183" y="84252"/>
                  <a:pt x="192078" y="81606"/>
                </a:cubicBezTo>
                <a:cubicBezTo>
                  <a:pt x="187088" y="69652"/>
                  <a:pt x="176607" y="52239"/>
                  <a:pt x="160935" y="37706"/>
                </a:cubicBezTo>
                <a:cubicBezTo>
                  <a:pt x="145163" y="23072"/>
                  <a:pt x="123498" y="10716"/>
                  <a:pt x="96441" y="10716"/>
                </a:cubicBezTo>
                <a:close/>
                <a:moveTo>
                  <a:pt x="48220" y="85725"/>
                </a:moveTo>
                <a:cubicBezTo>
                  <a:pt x="48220" y="59111"/>
                  <a:pt x="69827" y="37505"/>
                  <a:pt x="96441" y="37505"/>
                </a:cubicBezTo>
                <a:cubicBezTo>
                  <a:pt x="123054" y="37505"/>
                  <a:pt x="144661" y="59111"/>
                  <a:pt x="144661" y="85725"/>
                </a:cubicBezTo>
                <a:cubicBezTo>
                  <a:pt x="144661" y="112339"/>
                  <a:pt x="123054" y="133945"/>
                  <a:pt x="96441" y="133945"/>
                </a:cubicBezTo>
                <a:cubicBezTo>
                  <a:pt x="69827" y="133945"/>
                  <a:pt x="48220" y="112339"/>
                  <a:pt x="48220" y="85725"/>
                </a:cubicBezTo>
                <a:close/>
                <a:moveTo>
                  <a:pt x="96441" y="64294"/>
                </a:moveTo>
                <a:cubicBezTo>
                  <a:pt x="96441" y="76114"/>
                  <a:pt x="86830" y="85725"/>
                  <a:pt x="75009" y="85725"/>
                </a:cubicBezTo>
                <a:cubicBezTo>
                  <a:pt x="71158" y="85725"/>
                  <a:pt x="67542" y="84720"/>
                  <a:pt x="64394" y="82912"/>
                </a:cubicBezTo>
                <a:cubicBezTo>
                  <a:pt x="64059" y="86562"/>
                  <a:pt x="64361" y="90313"/>
                  <a:pt x="65365" y="94030"/>
                </a:cubicBezTo>
                <a:cubicBezTo>
                  <a:pt x="69953" y="111175"/>
                  <a:pt x="87600" y="121354"/>
                  <a:pt x="104745" y="116767"/>
                </a:cubicBezTo>
                <a:cubicBezTo>
                  <a:pt x="121890" y="112179"/>
                  <a:pt x="132070" y="94532"/>
                  <a:pt x="127482" y="77387"/>
                </a:cubicBezTo>
                <a:cubicBezTo>
                  <a:pt x="123397" y="62084"/>
                  <a:pt x="108898" y="52339"/>
                  <a:pt x="93628" y="53679"/>
                </a:cubicBezTo>
                <a:cubicBezTo>
                  <a:pt x="95403" y="56793"/>
                  <a:pt x="96441" y="60409"/>
                  <a:pt x="96441" y="64294"/>
                </a:cubicBezTo>
                <a:close/>
              </a:path>
            </a:pathLst>
          </a:custGeom>
          <a:solidFill xmlns:a="http://schemas.openxmlformats.org/drawingml/2006/main">
            <a:srgbClr val="E6B450"/>
          </a:solidFill>
        </p:spPr>
      </p:sp>
      <p:sp>
        <p:nvSpPr>
          <p:cNvPr id="40" name="Text 38">
            <a:extLst xmlns:a="http://schemas.openxmlformats.org/drawingml/2006/main">
              <a:ext uri="{FF2B5EF4-FFF2-40B4-BE49-F238E27FC236}">
                <a16:creationId xmlns:a16="http://schemas.microsoft.com/office/drawing/2014/main" id="{799891F9-C73E-48B0-B518-1FAE669D0505}"/>
              </a:ext>
            </a:extLst>
          </p:cNvPr>
          <p:cNvSpPr>
            <a:spLocks xmlns:a="http://schemas.openxmlformats.org/drawingml/2006/main" noGrp="1"/>
          </p:cNvSpPr>
          <p:nvPr/>
        </p:nvSpPr>
        <p:spPr>
          <a:xfrm xmlns:a="http://schemas.openxmlformats.org/drawingml/2006/main">
            <a:off x="8610600" y="3724275"/>
            <a:ext cx="30480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障碍物信息</a:t>
            </a:r>
            <a:endParaRPr sz="1600"/>
          </a:p>
        </p:txBody>
      </p:sp>
      <p:sp>
        <p:nvSpPr>
          <p:cNvPr id="41" name="Shape 39">
            <a:extLst xmlns:a="http://schemas.openxmlformats.org/drawingml/2006/main">
              <a:ext uri="{FF2B5EF4-FFF2-40B4-BE49-F238E27FC236}">
                <a16:creationId xmlns:a16="http://schemas.microsoft.com/office/drawing/2014/main" id="{D92B3499-7FAE-4A9C-AB0C-8F93469996F4}"/>
              </a:ext>
            </a:extLst>
          </p:cNvPr>
          <p:cNvSpPr>
            <a:spLocks xmlns:a="http://schemas.openxmlformats.org/drawingml/2006/main" noGrp="1"/>
          </p:cNvSpPr>
          <p:nvPr/>
        </p:nvSpPr>
        <p:spPr>
          <a:xfrm xmlns:a="http://schemas.openxmlformats.org/drawingml/2006/main">
            <a:off x="8391525" y="4105275"/>
            <a:ext cx="1533525" cy="685800"/>
          </a:xfrm>
          <a:custGeom xmlns:a="http://schemas.openxmlformats.org/drawingml/2006/main">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xmlns:a="http://schemas.openxmlformats.org/drawingml/2006/main">
            <a:srgbClr val="5F87A7">
              <a:alpha val="20000"/>
            </a:srgbClr>
          </a:solidFill>
        </p:spPr>
      </p:sp>
      <p:sp>
        <p:nvSpPr>
          <p:cNvPr id="42" name="Text 40">
            <a:extLst xmlns:a="http://schemas.openxmlformats.org/drawingml/2006/main">
              <a:ext uri="{FF2B5EF4-FFF2-40B4-BE49-F238E27FC236}">
                <a16:creationId xmlns:a16="http://schemas.microsoft.com/office/drawing/2014/main" id="{BC0E579A-3F91-4CBA-BD7C-3BCEC394F85A}"/>
              </a:ext>
            </a:extLst>
          </p:cNvPr>
          <p:cNvSpPr>
            <a:spLocks xmlns:a="http://schemas.openxmlformats.org/drawingml/2006/main" noGrp="1"/>
          </p:cNvSpPr>
          <p:nvPr/>
        </p:nvSpPr>
        <p:spPr>
          <a:xfrm xmlns:a="http://schemas.openxmlformats.org/drawingml/2006/main">
            <a:off x="8505825" y="4219575"/>
            <a:ext cx="1381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全局规划</a:t>
            </a:r>
            <a:endParaRPr sz="1600"/>
          </a:p>
        </p:txBody>
      </p:sp>
      <p:sp>
        <p:nvSpPr>
          <p:cNvPr id="43" name="Text 41">
            <a:extLst xmlns:a="http://schemas.openxmlformats.org/drawingml/2006/main">
              <a:ext uri="{FF2B5EF4-FFF2-40B4-BE49-F238E27FC236}">
                <a16:creationId xmlns:a16="http://schemas.microsoft.com/office/drawing/2014/main" id="{1D32DED6-7622-44B8-8891-E0736CF92E12}"/>
              </a:ext>
            </a:extLst>
          </p:cNvPr>
          <p:cNvSpPr>
            <a:spLocks xmlns:a="http://schemas.openxmlformats.org/drawingml/2006/main" noGrp="1"/>
          </p:cNvSpPr>
          <p:nvPr/>
        </p:nvSpPr>
        <p:spPr>
          <a:xfrm xmlns:a="http://schemas.openxmlformats.org/drawingml/2006/main">
            <a:off x="8505825" y="4486275"/>
            <a:ext cx="13716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静态环境</a:t>
            </a:r>
            <a:endParaRPr sz="1600"/>
          </a:p>
        </p:txBody>
      </p:sp>
      <p:sp>
        <p:nvSpPr>
          <p:cNvPr id="44" name="Shape 42">
            <a:extLst xmlns:a="http://schemas.openxmlformats.org/drawingml/2006/main">
              <a:ext uri="{FF2B5EF4-FFF2-40B4-BE49-F238E27FC236}">
                <a16:creationId xmlns:a16="http://schemas.microsoft.com/office/drawing/2014/main" id="{BC099E50-FCDA-4B11-AD45-68817EA779E7}"/>
              </a:ext>
            </a:extLst>
          </p:cNvPr>
          <p:cNvSpPr>
            <a:spLocks xmlns:a="http://schemas.openxmlformats.org/drawingml/2006/main" noGrp="1"/>
          </p:cNvSpPr>
          <p:nvPr/>
        </p:nvSpPr>
        <p:spPr>
          <a:xfrm xmlns:a="http://schemas.openxmlformats.org/drawingml/2006/main">
            <a:off x="10039350" y="4105275"/>
            <a:ext cx="1533525" cy="685800"/>
          </a:xfrm>
          <a:custGeom xmlns:a="http://schemas.openxmlformats.org/drawingml/2006/main">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xmlns:a="http://schemas.openxmlformats.org/drawingml/2006/main">
            <a:srgbClr val="5F87A7">
              <a:alpha val="20000"/>
            </a:srgbClr>
          </a:solidFill>
        </p:spPr>
      </p:sp>
      <p:sp>
        <p:nvSpPr>
          <p:cNvPr id="45" name="Text 43">
            <a:extLst xmlns:a="http://schemas.openxmlformats.org/drawingml/2006/main">
              <a:ext uri="{FF2B5EF4-FFF2-40B4-BE49-F238E27FC236}">
                <a16:creationId xmlns:a16="http://schemas.microsoft.com/office/drawing/2014/main" id="{121C8B3A-BDC6-420F-8BF6-4311A62063C8}"/>
              </a:ext>
            </a:extLst>
          </p:cNvPr>
          <p:cNvSpPr>
            <a:spLocks xmlns:a="http://schemas.openxmlformats.org/drawingml/2006/main" noGrp="1"/>
          </p:cNvSpPr>
          <p:nvPr/>
        </p:nvSpPr>
        <p:spPr>
          <a:xfrm xmlns:a="http://schemas.openxmlformats.org/drawingml/2006/main">
            <a:off x="10153650" y="4219575"/>
            <a:ext cx="1381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局部规划</a:t>
            </a:r>
            <a:endParaRPr sz="1600"/>
          </a:p>
        </p:txBody>
      </p:sp>
      <p:sp>
        <p:nvSpPr>
          <p:cNvPr id="46" name="Text 44">
            <a:extLst xmlns:a="http://schemas.openxmlformats.org/drawingml/2006/main">
              <a:ext uri="{FF2B5EF4-FFF2-40B4-BE49-F238E27FC236}">
                <a16:creationId xmlns:a16="http://schemas.microsoft.com/office/drawing/2014/main" id="{C25750B1-D82D-4332-A4DF-E1767943CFD4}"/>
              </a:ext>
            </a:extLst>
          </p:cNvPr>
          <p:cNvSpPr>
            <a:spLocks xmlns:a="http://schemas.openxmlformats.org/drawingml/2006/main" noGrp="1"/>
          </p:cNvSpPr>
          <p:nvPr/>
        </p:nvSpPr>
        <p:spPr>
          <a:xfrm xmlns:a="http://schemas.openxmlformats.org/drawingml/2006/main">
            <a:off x="10153650" y="4486275"/>
            <a:ext cx="13716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动态环境</a:t>
            </a:r>
            <a:endParaRPr sz="1600"/>
          </a:p>
        </p:txBody>
      </p:sp>
      <p:sp>
        <p:nvSpPr>
          <p:cNvPr id="47" name="Shape 45">
            <a:extLst xmlns:a="http://schemas.openxmlformats.org/drawingml/2006/main">
              <a:ext uri="{FF2B5EF4-FFF2-40B4-BE49-F238E27FC236}">
                <a16:creationId xmlns:a16="http://schemas.microsoft.com/office/drawing/2014/main" id="{D46D9E99-7A14-496D-BE00-E6BB3D668C24}"/>
              </a:ext>
            </a:extLst>
          </p:cNvPr>
          <p:cNvSpPr>
            <a:spLocks xmlns:a="http://schemas.openxmlformats.org/drawingml/2006/main" noGrp="1"/>
          </p:cNvSpPr>
          <p:nvPr/>
        </p:nvSpPr>
        <p:spPr>
          <a:xfrm xmlns:a="http://schemas.openxmlformats.org/drawingml/2006/main">
            <a:off x="8415338" y="5029200"/>
            <a:ext cx="171450" cy="171450"/>
          </a:xfrm>
          <a:custGeom xmlns:a="http://schemas.openxmlformats.org/drawingml/2006/main">
            <a:rect l="l" t="t" r="r" b="b"/>
            <a:pathLst>
              <a:path w="171450" h="171450">
                <a:moveTo>
                  <a:pt x="171450" y="16073"/>
                </a:moveTo>
                <a:cubicBezTo>
                  <a:pt x="171450" y="12356"/>
                  <a:pt x="169541" y="8907"/>
                  <a:pt x="166360" y="6965"/>
                </a:cubicBezTo>
                <a:cubicBezTo>
                  <a:pt x="163179" y="5023"/>
                  <a:pt x="159261" y="4822"/>
                  <a:pt x="155946" y="6496"/>
                </a:cubicBezTo>
                <a:lnTo>
                  <a:pt x="117035" y="25952"/>
                </a:lnTo>
                <a:lnTo>
                  <a:pt x="56960" y="5894"/>
                </a:lnTo>
                <a:cubicBezTo>
                  <a:pt x="54248" y="4989"/>
                  <a:pt x="51335" y="5190"/>
                  <a:pt x="48790" y="6463"/>
                </a:cubicBezTo>
                <a:lnTo>
                  <a:pt x="5927" y="27894"/>
                </a:lnTo>
                <a:cubicBezTo>
                  <a:pt x="2277" y="29736"/>
                  <a:pt x="0" y="33453"/>
                  <a:pt x="0" y="37505"/>
                </a:cubicBezTo>
                <a:lnTo>
                  <a:pt x="0" y="155377"/>
                </a:lnTo>
                <a:cubicBezTo>
                  <a:pt x="0" y="159094"/>
                  <a:pt x="1909" y="162543"/>
                  <a:pt x="5090" y="164485"/>
                </a:cubicBezTo>
                <a:cubicBezTo>
                  <a:pt x="8271" y="166427"/>
                  <a:pt x="12189" y="166628"/>
                  <a:pt x="15504" y="164954"/>
                </a:cubicBezTo>
                <a:lnTo>
                  <a:pt x="54382" y="145498"/>
                </a:lnTo>
                <a:lnTo>
                  <a:pt x="114456" y="165523"/>
                </a:lnTo>
                <a:cubicBezTo>
                  <a:pt x="117169" y="166427"/>
                  <a:pt x="120082" y="166226"/>
                  <a:pt x="122627" y="164954"/>
                </a:cubicBezTo>
                <a:lnTo>
                  <a:pt x="165489" y="143522"/>
                </a:lnTo>
                <a:cubicBezTo>
                  <a:pt x="169106" y="141714"/>
                  <a:pt x="171417" y="137997"/>
                  <a:pt x="171417" y="133945"/>
                </a:cubicBezTo>
                <a:lnTo>
                  <a:pt x="171417" y="16073"/>
                </a:lnTo>
                <a:close/>
                <a:moveTo>
                  <a:pt x="64294" y="126210"/>
                </a:moveTo>
                <a:lnTo>
                  <a:pt x="64294" y="30941"/>
                </a:lnTo>
                <a:lnTo>
                  <a:pt x="107156" y="45240"/>
                </a:lnTo>
                <a:lnTo>
                  <a:pt x="107156" y="140509"/>
                </a:lnTo>
                <a:lnTo>
                  <a:pt x="64294" y="126210"/>
                </a:lnTo>
                <a:close/>
              </a:path>
            </a:pathLst>
          </a:custGeom>
          <a:solidFill xmlns:a="http://schemas.openxmlformats.org/drawingml/2006/main">
            <a:srgbClr val="E6B450"/>
          </a:solidFill>
        </p:spPr>
      </p:sp>
      <p:sp>
        <p:nvSpPr>
          <p:cNvPr id="48" name="Text 46">
            <a:extLst xmlns:a="http://schemas.openxmlformats.org/drawingml/2006/main">
              <a:ext uri="{FF2B5EF4-FFF2-40B4-BE49-F238E27FC236}">
                <a16:creationId xmlns:a16="http://schemas.microsoft.com/office/drawing/2014/main" id="{9A1C03F8-4D15-4C32-808E-B1DCED4396B3}"/>
              </a:ext>
            </a:extLst>
          </p:cNvPr>
          <p:cNvSpPr>
            <a:spLocks xmlns:a="http://schemas.openxmlformats.org/drawingml/2006/main" noGrp="1"/>
          </p:cNvSpPr>
          <p:nvPr/>
        </p:nvSpPr>
        <p:spPr>
          <a:xfrm xmlns:a="http://schemas.openxmlformats.org/drawingml/2006/main">
            <a:off x="8610600" y="4981575"/>
            <a:ext cx="30480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规划范围</a:t>
            </a:r>
            <a:endParaRPr sz="1600"/>
          </a:p>
        </p:txBody>
      </p:sp>
      <p:sp>
        <p:nvSpPr>
          <p:cNvPr id="49" name="Shape 47">
            <a:extLst xmlns:a="http://schemas.openxmlformats.org/drawingml/2006/main">
              <a:ext uri="{FF2B5EF4-FFF2-40B4-BE49-F238E27FC236}">
                <a16:creationId xmlns:a16="http://schemas.microsoft.com/office/drawing/2014/main" id="{83D486F8-AB7C-4D3C-A9B7-22D69B79ACCE}"/>
              </a:ext>
            </a:extLst>
          </p:cNvPr>
          <p:cNvSpPr>
            <a:spLocks xmlns:a="http://schemas.openxmlformats.org/drawingml/2006/main" noGrp="1"/>
          </p:cNvSpPr>
          <p:nvPr/>
        </p:nvSpPr>
        <p:spPr>
          <a:xfrm xmlns:a="http://schemas.openxmlformats.org/drawingml/2006/main">
            <a:off x="8391525" y="5362575"/>
            <a:ext cx="1533525" cy="685800"/>
          </a:xfrm>
          <a:custGeom xmlns:a="http://schemas.openxmlformats.org/drawingml/2006/main">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xmlns:a="http://schemas.openxmlformats.org/drawingml/2006/main">
            <a:srgbClr val="5F87A7">
              <a:alpha val="20000"/>
            </a:srgbClr>
          </a:solidFill>
        </p:spPr>
      </p:sp>
      <p:sp>
        <p:nvSpPr>
          <p:cNvPr id="50" name="Text 48">
            <a:extLst xmlns:a="http://schemas.openxmlformats.org/drawingml/2006/main">
              <a:ext uri="{FF2B5EF4-FFF2-40B4-BE49-F238E27FC236}">
                <a16:creationId xmlns:a16="http://schemas.microsoft.com/office/drawing/2014/main" id="{19667A44-4179-4134-B347-9C9B484CCB6E}"/>
              </a:ext>
            </a:extLst>
          </p:cNvPr>
          <p:cNvSpPr>
            <a:spLocks xmlns:a="http://schemas.openxmlformats.org/drawingml/2006/main" noGrp="1"/>
          </p:cNvSpPr>
          <p:nvPr/>
        </p:nvSpPr>
        <p:spPr>
          <a:xfrm xmlns:a="http://schemas.openxmlformats.org/drawingml/2006/main">
            <a:off x="8505825" y="5476875"/>
            <a:ext cx="1381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全局规划</a:t>
            </a:r>
            <a:endParaRPr sz="1600"/>
          </a:p>
        </p:txBody>
      </p:sp>
      <p:sp>
        <p:nvSpPr>
          <p:cNvPr id="51" name="Text 49">
            <a:extLst xmlns:a="http://schemas.openxmlformats.org/drawingml/2006/main">
              <a:ext uri="{FF2B5EF4-FFF2-40B4-BE49-F238E27FC236}">
                <a16:creationId xmlns:a16="http://schemas.microsoft.com/office/drawing/2014/main" id="{504B7FA8-3A0E-4781-9EC5-B052A87FA1F4}"/>
              </a:ext>
            </a:extLst>
          </p:cNvPr>
          <p:cNvSpPr>
            <a:spLocks xmlns:a="http://schemas.openxmlformats.org/drawingml/2006/main" noGrp="1"/>
          </p:cNvSpPr>
          <p:nvPr/>
        </p:nvSpPr>
        <p:spPr>
          <a:xfrm xmlns:a="http://schemas.openxmlformats.org/drawingml/2006/main">
            <a:off x="8505825" y="5743575"/>
            <a:ext cx="13716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起点到终点</a:t>
            </a:r>
            <a:endParaRPr sz="1600"/>
          </a:p>
        </p:txBody>
      </p:sp>
      <p:sp>
        <p:nvSpPr>
          <p:cNvPr id="52" name="Shape 50">
            <a:extLst xmlns:a="http://schemas.openxmlformats.org/drawingml/2006/main">
              <a:ext uri="{FF2B5EF4-FFF2-40B4-BE49-F238E27FC236}">
                <a16:creationId xmlns:a16="http://schemas.microsoft.com/office/drawing/2014/main" id="{143C37E0-3CD7-4A2D-83DA-4060BB9FD3A2}"/>
              </a:ext>
            </a:extLst>
          </p:cNvPr>
          <p:cNvSpPr>
            <a:spLocks xmlns:a="http://schemas.openxmlformats.org/drawingml/2006/main" noGrp="1"/>
          </p:cNvSpPr>
          <p:nvPr/>
        </p:nvSpPr>
        <p:spPr>
          <a:xfrm xmlns:a="http://schemas.openxmlformats.org/drawingml/2006/main">
            <a:off x="10039350" y="5362575"/>
            <a:ext cx="1533525" cy="685800"/>
          </a:xfrm>
          <a:custGeom xmlns:a="http://schemas.openxmlformats.org/drawingml/2006/main">
            <a:rect l="l" t="t" r="r" b="b"/>
            <a:pathLst>
              <a:path w="1533525" h="685800">
                <a:moveTo>
                  <a:pt x="76199" y="0"/>
                </a:moveTo>
                <a:lnTo>
                  <a:pt x="1457326" y="0"/>
                </a:lnTo>
                <a:cubicBezTo>
                  <a:pt x="1499409" y="0"/>
                  <a:pt x="1533525" y="34116"/>
                  <a:pt x="1533525" y="76199"/>
                </a:cubicBezTo>
                <a:lnTo>
                  <a:pt x="1533525" y="609601"/>
                </a:lnTo>
                <a:cubicBezTo>
                  <a:pt x="1533525" y="651656"/>
                  <a:pt x="1499381" y="685800"/>
                  <a:pt x="1457326" y="685800"/>
                </a:cubicBezTo>
                <a:lnTo>
                  <a:pt x="76199" y="685800"/>
                </a:lnTo>
                <a:cubicBezTo>
                  <a:pt x="34116" y="685800"/>
                  <a:pt x="0" y="651684"/>
                  <a:pt x="0" y="609601"/>
                </a:cubicBezTo>
                <a:lnTo>
                  <a:pt x="0" y="76199"/>
                </a:lnTo>
                <a:cubicBezTo>
                  <a:pt x="0" y="34144"/>
                  <a:pt x="34144" y="0"/>
                  <a:pt x="76199" y="0"/>
                </a:cubicBezTo>
                <a:close/>
              </a:path>
            </a:pathLst>
          </a:custGeom>
          <a:solidFill xmlns:a="http://schemas.openxmlformats.org/drawingml/2006/main">
            <a:srgbClr val="5F87A7">
              <a:alpha val="20000"/>
            </a:srgbClr>
          </a:solidFill>
        </p:spPr>
      </p:sp>
      <p:sp>
        <p:nvSpPr>
          <p:cNvPr id="53" name="Text 51">
            <a:extLst xmlns:a="http://schemas.openxmlformats.org/drawingml/2006/main">
              <a:ext uri="{FF2B5EF4-FFF2-40B4-BE49-F238E27FC236}">
                <a16:creationId xmlns:a16="http://schemas.microsoft.com/office/drawing/2014/main" id="{042C1632-B758-4EFD-B46A-45B50C161903}"/>
              </a:ext>
            </a:extLst>
          </p:cNvPr>
          <p:cNvSpPr>
            <a:spLocks xmlns:a="http://schemas.openxmlformats.org/drawingml/2006/main" noGrp="1"/>
          </p:cNvSpPr>
          <p:nvPr/>
        </p:nvSpPr>
        <p:spPr>
          <a:xfrm xmlns:a="http://schemas.openxmlformats.org/drawingml/2006/main">
            <a:off x="10153650" y="5476875"/>
            <a:ext cx="1381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局部规划</a:t>
            </a:r>
            <a:endParaRPr sz="1600"/>
          </a:p>
        </p:txBody>
      </p:sp>
      <p:sp>
        <p:nvSpPr>
          <p:cNvPr id="54" name="Text 52">
            <a:extLst xmlns:a="http://schemas.openxmlformats.org/drawingml/2006/main">
              <a:ext uri="{FF2B5EF4-FFF2-40B4-BE49-F238E27FC236}">
                <a16:creationId xmlns:a16="http://schemas.microsoft.com/office/drawing/2014/main" id="{20FA151C-817A-4574-A371-58A84B1EBCD7}"/>
              </a:ext>
            </a:extLst>
          </p:cNvPr>
          <p:cNvSpPr>
            <a:spLocks xmlns:a="http://schemas.openxmlformats.org/drawingml/2006/main" noGrp="1"/>
          </p:cNvSpPr>
          <p:nvPr/>
        </p:nvSpPr>
        <p:spPr>
          <a:xfrm xmlns:a="http://schemas.openxmlformats.org/drawingml/2006/main">
            <a:off x="10153650" y="5743575"/>
            <a:ext cx="13716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当前到子目标</a:t>
            </a:r>
            <a:endParaRPr sz="1600"/>
          </a:p>
        </p:txBody>
      </p:sp>
    </p:spTree>
    <p:extLst>
      <p:ext uri="{BB962C8B-B14F-4D97-AF65-F5344CB8AC3E}">
        <p14:creationId xmlns:p14="http://schemas.microsoft.com/office/powerpoint/2010/main" val="2414865611"/>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20" name="Shape 18">
            <a:extLst xmlns:a="http://schemas.openxmlformats.org/drawingml/2006/main">
              <a:ext uri="{FF2B5EF4-FFF2-40B4-BE49-F238E27FC236}">
                <a16:creationId xmlns:a16="http://schemas.microsoft.com/office/drawing/2014/main" id="{E8631D28-B0A6-4BDC-98FA-B7DA54CB9022}"/>
              </a:ext>
            </a:extLst>
          </p:cNvPr>
          <p:cNvSpPr>
            <a:spLocks xmlns:a="http://schemas.openxmlformats.org/drawingml/2006/main" noGrp="1"/>
          </p:cNvSpPr>
          <p:nvPr/>
        </p:nvSpPr>
        <p:spPr>
          <a:xfrm xmlns:a="http://schemas.openxmlformats.org/drawingml/2006/main">
            <a:off x="321468" y="4274344"/>
            <a:ext cx="8251032" cy="1289844"/>
          </a:xfrm>
          <a:custGeom xmlns:a="http://schemas.openxmlformats.org/drawingml/2006/main">
            <a:rect l="l" t="t" r="r" b="b"/>
            <a:pathLst>
              <a:path w="3040063" h="3214688">
                <a:moveTo>
                  <a:pt x="95245" y="0"/>
                </a:moveTo>
                <a:lnTo>
                  <a:pt x="2944817" y="0"/>
                </a:lnTo>
                <a:cubicBezTo>
                  <a:pt x="2997420" y="0"/>
                  <a:pt x="3040063" y="42643"/>
                  <a:pt x="3040063" y="95245"/>
                </a:cubicBezTo>
                <a:lnTo>
                  <a:pt x="3040063" y="3119442"/>
                </a:lnTo>
                <a:cubicBezTo>
                  <a:pt x="3040062" y="3172045"/>
                  <a:pt x="2997420" y="3214688"/>
                  <a:pt x="2944817" y="3214688"/>
                </a:cubicBezTo>
                <a:lnTo>
                  <a:pt x="95245" y="3214688"/>
                </a:lnTo>
                <a:cubicBezTo>
                  <a:pt x="42643" y="3214688"/>
                  <a:pt x="0" y="3172045"/>
                  <a:pt x="0" y="3119442"/>
                </a:cubicBezTo>
                <a:lnTo>
                  <a:pt x="0" y="95245"/>
                </a:lnTo>
                <a:cubicBezTo>
                  <a:pt x="0" y="42678"/>
                  <a:pt x="42678" y="0"/>
                  <a:pt x="95245"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5" name="Shape 3">
            <a:extLst xmlns:a="http://schemas.openxmlformats.org/drawingml/2006/main">
              <a:ext uri="{FF2B5EF4-FFF2-40B4-BE49-F238E27FC236}">
                <a16:creationId xmlns:a16="http://schemas.microsoft.com/office/drawing/2014/main" id="{849EF31F-18E8-44EE-80D6-B5C2EAB17CDD}"/>
              </a:ext>
            </a:extLst>
          </p:cNvPr>
          <p:cNvSpPr>
            <a:spLocks xmlns:a="http://schemas.openxmlformats.org/drawingml/2006/main" noGrp="1"/>
          </p:cNvSpPr>
          <p:nvPr/>
        </p:nvSpPr>
        <p:spPr>
          <a:xfrm xmlns:a="http://schemas.openxmlformats.org/drawingml/2006/main">
            <a:off x="333375" y="1444625"/>
            <a:ext cx="8239125" cy="1198563"/>
          </a:xfrm>
          <a:custGeom xmlns:a="http://schemas.openxmlformats.org/drawingml/2006/main">
            <a:rect l="l" t="t" r="r" b="b"/>
            <a:pathLst>
              <a:path w="8239125" h="1198563">
                <a:moveTo>
                  <a:pt x="31750" y="0"/>
                </a:moveTo>
                <a:lnTo>
                  <a:pt x="8143875" y="0"/>
                </a:lnTo>
                <a:cubicBezTo>
                  <a:pt x="8196480" y="0"/>
                  <a:pt x="8239125" y="42645"/>
                  <a:pt x="8239125" y="95250"/>
                </a:cubicBezTo>
                <a:lnTo>
                  <a:pt x="8239125" y="1103313"/>
                </a:lnTo>
                <a:cubicBezTo>
                  <a:pt x="8239125" y="1155918"/>
                  <a:pt x="8196480" y="1198563"/>
                  <a:pt x="8143875"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5AA94132-D616-4847-9DA1-0CF41683BA4A}"/>
              </a:ext>
            </a:extLst>
          </p:cNvPr>
          <p:cNvSpPr>
            <a:spLocks xmlns:a="http://schemas.openxmlformats.org/drawingml/2006/main" noGrp="1"/>
          </p:cNvSpPr>
          <p:nvPr/>
        </p:nvSpPr>
        <p:spPr>
          <a:xfrm xmlns:a="http://schemas.openxmlformats.org/drawingml/2006/main">
            <a:off x="333375" y="1444625"/>
            <a:ext cx="31750" cy="1198563"/>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63FB5FD5-767A-4190-8EC4-5EF95683988D}"/>
              </a:ext>
            </a:extLst>
          </p:cNvPr>
          <p:cNvSpPr>
            <a:spLocks xmlns:a="http://schemas.openxmlformats.org/drawingml/2006/main" noGrp="1"/>
          </p:cNvSpPr>
          <p:nvPr/>
        </p:nvSpPr>
        <p:spPr>
          <a:xfrm xmlns:a="http://schemas.openxmlformats.org/drawingml/2006/main">
            <a:off x="563563" y="1666875"/>
            <a:ext cx="190500" cy="190500"/>
          </a:xfrm>
          <a:custGeom xmlns:a="http://schemas.openxmlformats.org/drawingml/2006/main">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60A34C95-BF44-47C4-8753-E929EAA40700}"/>
              </a:ext>
            </a:extLst>
          </p:cNvPr>
          <p:cNvSpPr>
            <a:spLocks xmlns:a="http://schemas.openxmlformats.org/drawingml/2006/main" noGrp="1"/>
          </p:cNvSpPr>
          <p:nvPr/>
        </p:nvSpPr>
        <p:spPr>
          <a:xfrm xmlns:a="http://schemas.openxmlformats.org/drawingml/2006/main">
            <a:off x="902395" y="1635125"/>
            <a:ext cx="7572375"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图搜索方法</a:t>
            </a:r>
            <a:endParaRPr sz="2000"/>
          </a:p>
        </p:txBody>
      </p:sp>
      <p:sp>
        <p:nvSpPr>
          <p:cNvPr id="9" name="Text 7">
            <a:extLst xmlns:a="http://schemas.openxmlformats.org/drawingml/2006/main">
              <a:ext uri="{FF2B5EF4-FFF2-40B4-BE49-F238E27FC236}">
                <a16:creationId xmlns:a16="http://schemas.microsoft.com/office/drawing/2014/main" id="{564568D3-74DB-4689-AF0A-81CBDF656CB5}"/>
              </a:ext>
            </a:extLst>
          </p:cNvPr>
          <p:cNvSpPr>
            <a:spLocks xmlns:a="http://schemas.openxmlformats.org/drawingml/2006/main" noGrp="1"/>
          </p:cNvSpPr>
          <p:nvPr/>
        </p:nvSpPr>
        <p:spPr>
          <a:xfrm xmlns:a="http://schemas.openxmlformats.org/drawingml/2006/main">
            <a:off x="902395" y="1984375"/>
            <a:ext cx="7548563" cy="46831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多种基于</a:t>
            </a:r>
            <a:r>
              <a:rPr sz="1600" b="1">
                <a:latin typeface="微软雅黑"/>
                <a:ea typeface="微软雅黑"/>
                <a:cs typeface="微软雅黑"/>
              </a:rPr>
              <a:t>图搜索</a:t>
            </a:r>
            <a:r>
              <a:rPr sz="1600">
                <a:latin typeface="微软雅黑"/>
                <a:ea typeface="微软雅黑"/>
                <a:cs typeface="微软雅黑"/>
              </a:rPr>
              <a:t>的路径规划方法，如</a:t>
            </a:r>
            <a:r>
              <a:rPr sz="1600">
                <a:highlight>
                  <a:srgbClr val="E6B450">
                    <a:alpha val="20000"/>
                  </a:srgbClr>
                </a:highlight>
                <a:latin typeface="微软雅黑"/>
                <a:ea typeface="微软雅黑"/>
                <a:cs typeface="微软雅黑"/>
              </a:rPr>
              <a:t> Dijkstra算法 </a:t>
            </a:r>
            <a:r>
              <a:rPr sz="1600">
                <a:latin typeface="微软雅黑"/>
                <a:ea typeface="微软雅黑"/>
                <a:cs typeface="微软雅黑"/>
              </a:rPr>
              <a:t>和</a:t>
            </a:r>
            <a:r>
              <a:rPr sz="1600">
                <a:highlight>
                  <a:srgbClr val="E6B450">
                    <a:alpha val="20000"/>
                  </a:srgbClr>
                </a:highlight>
                <a:latin typeface="微软雅黑"/>
                <a:ea typeface="微软雅黑"/>
                <a:cs typeface="微软雅黑"/>
              </a:rPr>
              <a:t> A算法 </a:t>
            </a:r>
            <a:r>
              <a:rPr sz="1600">
                <a:latin typeface="微软雅黑"/>
                <a:ea typeface="微软雅黑"/>
                <a:cs typeface="微软雅黑"/>
              </a:rPr>
              <a:t>。这些方法能够在给定的地图中快速有效地找到最优路径。</a:t>
            </a:r>
            <a:endParaRPr sz="2400"/>
          </a:p>
        </p:txBody>
      </p:sp>
      <p:sp>
        <p:nvSpPr>
          <p:cNvPr id="10" name="Shape 8">
            <a:extLst xmlns:a="http://schemas.openxmlformats.org/drawingml/2006/main">
              <a:ext uri="{FF2B5EF4-FFF2-40B4-BE49-F238E27FC236}">
                <a16:creationId xmlns:a16="http://schemas.microsoft.com/office/drawing/2014/main" id="{2D004110-6BCA-49AD-BBF0-6E3677144EB9}"/>
              </a:ext>
            </a:extLst>
          </p:cNvPr>
          <p:cNvSpPr>
            <a:spLocks xmlns:a="http://schemas.openxmlformats.org/drawingml/2006/main" noGrp="1"/>
          </p:cNvSpPr>
          <p:nvPr/>
        </p:nvSpPr>
        <p:spPr>
          <a:xfrm xmlns:a="http://schemas.openxmlformats.org/drawingml/2006/main">
            <a:off x="333375" y="2829719"/>
            <a:ext cx="8239125" cy="1198563"/>
          </a:xfrm>
          <a:custGeom xmlns:a="http://schemas.openxmlformats.org/drawingml/2006/main">
            <a:rect l="l" t="t" r="r" b="b"/>
            <a:pathLst>
              <a:path w="8239125" h="1198563">
                <a:moveTo>
                  <a:pt x="31750" y="0"/>
                </a:moveTo>
                <a:lnTo>
                  <a:pt x="8143875" y="0"/>
                </a:lnTo>
                <a:cubicBezTo>
                  <a:pt x="8196480" y="0"/>
                  <a:pt x="8239125" y="42645"/>
                  <a:pt x="8239125" y="95250"/>
                </a:cubicBezTo>
                <a:lnTo>
                  <a:pt x="8239125" y="1103313"/>
                </a:lnTo>
                <a:cubicBezTo>
                  <a:pt x="8239125" y="1155918"/>
                  <a:pt x="8196480" y="1198563"/>
                  <a:pt x="8143875"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7827F51C-D8F7-414D-A537-9787594D9A25}"/>
              </a:ext>
            </a:extLst>
          </p:cNvPr>
          <p:cNvSpPr>
            <a:spLocks xmlns:a="http://schemas.openxmlformats.org/drawingml/2006/main" noGrp="1"/>
          </p:cNvSpPr>
          <p:nvPr/>
        </p:nvSpPr>
        <p:spPr>
          <a:xfrm xmlns:a="http://schemas.openxmlformats.org/drawingml/2006/main">
            <a:off x="333375" y="2829719"/>
            <a:ext cx="31750" cy="1198563"/>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2F8992F7-A72E-44BC-B445-325E0F88E24D}"/>
              </a:ext>
            </a:extLst>
          </p:cNvPr>
          <p:cNvSpPr>
            <a:spLocks xmlns:a="http://schemas.openxmlformats.org/drawingml/2006/main" noGrp="1"/>
          </p:cNvSpPr>
          <p:nvPr/>
        </p:nvSpPr>
        <p:spPr>
          <a:xfrm xmlns:a="http://schemas.openxmlformats.org/drawingml/2006/main">
            <a:off x="539750" y="3051969"/>
            <a:ext cx="214313" cy="190500"/>
          </a:xfrm>
          <a:custGeom xmlns:a="http://schemas.openxmlformats.org/drawingml/2006/main">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2E06578D-1A75-4602-BF15-6977DEF16E90}"/>
              </a:ext>
            </a:extLst>
          </p:cNvPr>
          <p:cNvSpPr>
            <a:spLocks xmlns:a="http://schemas.openxmlformats.org/drawingml/2006/main" noGrp="1"/>
          </p:cNvSpPr>
          <p:nvPr/>
        </p:nvSpPr>
        <p:spPr>
          <a:xfrm xmlns:a="http://schemas.openxmlformats.org/drawingml/2006/main">
            <a:off x="881063" y="3020219"/>
            <a:ext cx="759618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A*算法优势</a:t>
            </a:r>
            <a:endParaRPr sz="2000"/>
          </a:p>
        </p:txBody>
      </p:sp>
      <p:sp>
        <p:nvSpPr>
          <p:cNvPr id="14" name="Text 12">
            <a:extLst xmlns:a="http://schemas.openxmlformats.org/drawingml/2006/main">
              <a:ext uri="{FF2B5EF4-FFF2-40B4-BE49-F238E27FC236}">
                <a16:creationId xmlns:a16="http://schemas.microsoft.com/office/drawing/2014/main" id="{F86765D9-5C46-4F2B-B12E-F575DECBE809}"/>
              </a:ext>
            </a:extLst>
          </p:cNvPr>
          <p:cNvSpPr>
            <a:spLocks xmlns:a="http://schemas.openxmlformats.org/drawingml/2006/main" noGrp="1"/>
          </p:cNvSpPr>
          <p:nvPr/>
        </p:nvSpPr>
        <p:spPr>
          <a:xfrm xmlns:a="http://schemas.openxmlformats.org/drawingml/2006/main">
            <a:off x="881063" y="3369469"/>
            <a:ext cx="7572375" cy="46831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其中</a:t>
            </a:r>
            <a:r>
              <a:rPr sz="1600" b="1">
                <a:latin typeface="微软雅黑"/>
                <a:ea typeface="微软雅黑"/>
                <a:cs typeface="微软雅黑"/>
              </a:rPr>
              <a:t>A算法</a:t>
            </a:r>
            <a:r>
              <a:rPr sz="1600">
                <a:latin typeface="微软雅黑"/>
                <a:ea typeface="微软雅黑"/>
                <a:cs typeface="微软雅黑"/>
              </a:rPr>
              <a:t>通过</a:t>
            </a:r>
            <a:r>
              <a:rPr sz="1600">
                <a:highlight>
                  <a:srgbClr val="E6B450">
                    <a:alpha val="20000"/>
                  </a:srgbClr>
                </a:highlight>
                <a:latin typeface="微软雅黑"/>
                <a:ea typeface="微软雅黑"/>
                <a:cs typeface="微软雅黑"/>
              </a:rPr>
              <a:t> 启发式搜索 </a:t>
            </a:r>
            <a:r>
              <a:rPr sz="1600">
                <a:latin typeface="微软雅黑"/>
                <a:ea typeface="微软雅黑"/>
                <a:cs typeface="微软雅黑"/>
              </a:rPr>
              <a:t>在保证找到最优路径的同时，降低了搜索过程的</a:t>
            </a:r>
            <a:r>
              <a:rPr sz="1600">
                <a:highlight>
                  <a:srgbClr val="E6B450">
                    <a:alpha val="20000"/>
                  </a:srgbClr>
                </a:highlight>
                <a:latin typeface="微软雅黑"/>
                <a:ea typeface="微软雅黑"/>
                <a:cs typeface="微软雅黑"/>
              </a:rPr>
              <a:t> 时间 </a:t>
            </a:r>
            <a:r>
              <a:rPr sz="1600">
                <a:latin typeface="微软雅黑"/>
                <a:ea typeface="微软雅黑"/>
                <a:cs typeface="微软雅黑"/>
              </a:rPr>
              <a:t>和</a:t>
            </a:r>
            <a:r>
              <a:rPr sz="1600">
                <a:highlight>
                  <a:srgbClr val="E6B450">
                    <a:alpha val="20000"/>
                  </a:srgbClr>
                </a:highlight>
                <a:latin typeface="微软雅黑"/>
                <a:ea typeface="微软雅黑"/>
                <a:cs typeface="微软雅黑"/>
              </a:rPr>
              <a:t> 空间复杂度 </a:t>
            </a:r>
            <a:r>
              <a:rPr sz="1600">
                <a:latin typeface="微软雅黑"/>
                <a:ea typeface="微软雅黑"/>
                <a:cs typeface="微软雅黑"/>
              </a:rPr>
              <a:t>，被广泛应用于实际导航系统中。</a:t>
            </a:r>
            <a:endParaRPr sz="2400"/>
          </a:p>
        </p:txBody>
      </p:sp>
      <p:sp>
        <p:nvSpPr>
          <p:cNvPr id="19" name="Text 17">
            <a:extLst xmlns:a="http://schemas.openxmlformats.org/drawingml/2006/main">
              <a:ext uri="{FF2B5EF4-FFF2-40B4-BE49-F238E27FC236}">
                <a16:creationId xmlns:a16="http://schemas.microsoft.com/office/drawing/2014/main" id="{F4D45880-A614-47E3-8F10-621594813E82}"/>
              </a:ext>
            </a:extLst>
          </p:cNvPr>
          <p:cNvSpPr>
            <a:spLocks xmlns:a="http://schemas.openxmlformats.org/drawingml/2006/main" noGrp="1"/>
          </p:cNvSpPr>
          <p:nvPr/>
        </p:nvSpPr>
        <p:spPr>
          <a:xfrm xmlns:a="http://schemas.openxmlformats.org/drawingml/2006/main">
            <a:off x="883047" y="4541837"/>
            <a:ext cx="7572375" cy="68103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路径规划算法是一种用于在</a:t>
            </a:r>
            <a:r>
              <a:rPr sz="1600" b="1">
                <a:latin typeface="微软雅黑"/>
                <a:ea typeface="微软雅黑"/>
                <a:cs typeface="微软雅黑"/>
              </a:rPr>
              <a:t>网格或图</a:t>
            </a:r>
            <a:r>
              <a:rPr sz="1600">
                <a:latin typeface="微软雅黑"/>
                <a:ea typeface="微软雅黑"/>
                <a:cs typeface="微软雅黑"/>
              </a:rPr>
              <a:t>中找到最优路径的算法。它将通过搜索所有可能的路径来找到</a:t>
            </a:r>
            <a:r>
              <a:rPr sz="1600">
                <a:highlight>
                  <a:srgbClr val="E6B450">
                    <a:alpha val="20000"/>
                  </a:srgbClr>
                </a:highlight>
                <a:latin typeface="微软雅黑"/>
                <a:ea typeface="微软雅黑"/>
                <a:cs typeface="微软雅黑"/>
              </a:rPr>
              <a:t> 最短距离 </a:t>
            </a:r>
            <a:r>
              <a:rPr sz="1600">
                <a:latin typeface="微软雅黑"/>
                <a:ea typeface="微软雅黑"/>
                <a:cs typeface="微软雅黑"/>
              </a:rPr>
              <a:t>或</a:t>
            </a:r>
            <a:r>
              <a:rPr sz="1600">
                <a:highlight>
                  <a:srgbClr val="E6B450">
                    <a:alpha val="20000"/>
                  </a:srgbClr>
                </a:highlight>
                <a:latin typeface="微软雅黑"/>
                <a:ea typeface="微软雅黑"/>
                <a:cs typeface="微软雅黑"/>
              </a:rPr>
              <a:t> 最少代价 </a:t>
            </a:r>
            <a:r>
              <a:rPr sz="1600">
                <a:latin typeface="微软雅黑"/>
                <a:ea typeface="微软雅黑"/>
                <a:cs typeface="微软雅黑"/>
              </a:rPr>
              <a:t>的路径。</a:t>
            </a:r>
            <a:endParaRPr sz="2400"/>
          </a:p>
        </p:txBody>
      </p:sp>
      <p:sp>
        <p:nvSpPr>
          <p:cNvPr id="33" name="Shape 31">
            <a:extLst xmlns:a="http://schemas.openxmlformats.org/drawingml/2006/main">
              <a:ext uri="{FF2B5EF4-FFF2-40B4-BE49-F238E27FC236}">
                <a16:creationId xmlns:a16="http://schemas.microsoft.com/office/drawing/2014/main" id="{6FD0BCF6-5562-44E7-A366-8020FAD3BB21}"/>
              </a:ext>
            </a:extLst>
          </p:cNvPr>
          <p:cNvSpPr>
            <a:spLocks xmlns:a="http://schemas.openxmlformats.org/drawingml/2006/main" noGrp="1"/>
          </p:cNvSpPr>
          <p:nvPr/>
        </p:nvSpPr>
        <p:spPr>
          <a:xfrm xmlns:a="http://schemas.openxmlformats.org/drawingml/2006/main">
            <a:off x="8830469" y="2838954"/>
            <a:ext cx="3040063" cy="2155610"/>
          </a:xfrm>
          <a:custGeom xmlns:a="http://schemas.openxmlformats.org/drawingml/2006/main">
            <a:rect l="l" t="t" r="r" b="b"/>
            <a:pathLst>
              <a:path w="3040063" h="1785938">
                <a:moveTo>
                  <a:pt x="95244" y="0"/>
                </a:moveTo>
                <a:lnTo>
                  <a:pt x="2944818" y="0"/>
                </a:lnTo>
                <a:cubicBezTo>
                  <a:pt x="2997420" y="0"/>
                  <a:pt x="3040062" y="42642"/>
                  <a:pt x="3040062" y="95244"/>
                </a:cubicBezTo>
                <a:lnTo>
                  <a:pt x="3040063" y="1690693"/>
                </a:lnTo>
                <a:cubicBezTo>
                  <a:pt x="3040062" y="1743295"/>
                  <a:pt x="2997420" y="1785938"/>
                  <a:pt x="2944818" y="1785937"/>
                </a:cubicBezTo>
                <a:lnTo>
                  <a:pt x="95244" y="1785938"/>
                </a:lnTo>
                <a:cubicBezTo>
                  <a:pt x="42642" y="1785937"/>
                  <a:pt x="0" y="1743295"/>
                  <a:pt x="0" y="1690693"/>
                </a:cubicBezTo>
                <a:lnTo>
                  <a:pt x="0" y="95244"/>
                </a:lnTo>
                <a:cubicBezTo>
                  <a:pt x="0" y="42677"/>
                  <a:pt x="42677" y="0"/>
                  <a:pt x="9524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34" name="Shape 32">
            <a:extLst xmlns:a="http://schemas.openxmlformats.org/drawingml/2006/main">
              <a:ext uri="{FF2B5EF4-FFF2-40B4-BE49-F238E27FC236}">
                <a16:creationId xmlns:a16="http://schemas.microsoft.com/office/drawing/2014/main" id="{091EB7BF-C895-4C69-9E70-AA14CF66E230}"/>
              </a:ext>
            </a:extLst>
          </p:cNvPr>
          <p:cNvSpPr>
            <a:spLocks xmlns:a="http://schemas.openxmlformats.org/drawingml/2006/main" noGrp="1"/>
          </p:cNvSpPr>
          <p:nvPr/>
        </p:nvSpPr>
        <p:spPr>
          <a:xfrm xmlns:a="http://schemas.openxmlformats.org/drawingml/2006/main">
            <a:off x="9034859" y="3065173"/>
            <a:ext cx="178594" cy="158750"/>
          </a:xfrm>
          <a:custGeom xmlns:a="http://schemas.openxmlformats.org/drawingml/2006/main">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xmlns:a="http://schemas.openxmlformats.org/drawingml/2006/main">
            <a:srgbClr val="E6B450"/>
          </a:solidFill>
        </p:spPr>
      </p:sp>
      <p:sp>
        <p:nvSpPr>
          <p:cNvPr id="35" name="Text 33">
            <a:extLst xmlns:a="http://schemas.openxmlformats.org/drawingml/2006/main">
              <a:ext uri="{FF2B5EF4-FFF2-40B4-BE49-F238E27FC236}">
                <a16:creationId xmlns:a16="http://schemas.microsoft.com/office/drawing/2014/main" id="{B46863C0-5DBD-4059-92F5-3149AE1CEA32}"/>
              </a:ext>
            </a:extLst>
          </p:cNvPr>
          <p:cNvSpPr>
            <a:spLocks xmlns:a="http://schemas.openxmlformats.org/drawingml/2006/main" noGrp="1"/>
          </p:cNvSpPr>
          <p:nvPr/>
        </p:nvSpPr>
        <p:spPr>
          <a:xfrm xmlns:a="http://schemas.openxmlformats.org/drawingml/2006/main">
            <a:off x="9223375" y="3033423"/>
            <a:ext cx="2532063" cy="222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A*算法特点</a:t>
            </a:r>
            <a:endParaRPr/>
          </a:p>
        </p:txBody>
      </p:sp>
      <p:sp>
        <p:nvSpPr>
          <p:cNvPr id="36" name="Shape 34">
            <a:extLst xmlns:a="http://schemas.openxmlformats.org/drawingml/2006/main">
              <a:ext uri="{FF2B5EF4-FFF2-40B4-BE49-F238E27FC236}">
                <a16:creationId xmlns:a16="http://schemas.microsoft.com/office/drawing/2014/main" id="{83CACB4E-BDA7-456C-868A-7CC879A38969}"/>
              </a:ext>
            </a:extLst>
          </p:cNvPr>
          <p:cNvSpPr>
            <a:spLocks xmlns:a="http://schemas.openxmlformats.org/drawingml/2006/main" noGrp="1"/>
          </p:cNvSpPr>
          <p:nvPr/>
        </p:nvSpPr>
        <p:spPr>
          <a:xfrm xmlns:a="http://schemas.openxmlformats.org/drawingml/2006/main">
            <a:off x="9048750" y="3458152"/>
            <a:ext cx="111125" cy="127000"/>
          </a:xfrm>
          <a:custGeom xmlns:a="http://schemas.openxmlformats.org/drawingml/2006/main">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xmlns:a="http://schemas.openxmlformats.org/drawingml/2006/main">
            <a:srgbClr val="E6B450"/>
          </a:solidFill>
        </p:spPr>
      </p:sp>
      <p:sp>
        <p:nvSpPr>
          <p:cNvPr id="37" name="Text 35">
            <a:extLst xmlns:a="http://schemas.openxmlformats.org/drawingml/2006/main">
              <a:ext uri="{FF2B5EF4-FFF2-40B4-BE49-F238E27FC236}">
                <a16:creationId xmlns:a16="http://schemas.microsoft.com/office/drawing/2014/main" id="{AF0024B3-5929-4513-ACBB-1258523B75F1}"/>
              </a:ext>
            </a:extLst>
          </p:cNvPr>
          <p:cNvSpPr>
            <a:spLocks xmlns:a="http://schemas.openxmlformats.org/drawingml/2006/main" noGrp="1"/>
          </p:cNvSpPr>
          <p:nvPr/>
        </p:nvSpPr>
        <p:spPr>
          <a:xfrm xmlns:a="http://schemas.openxmlformats.org/drawingml/2006/main">
            <a:off x="9247187" y="3426402"/>
            <a:ext cx="1862137"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保证找到最优路径</a:t>
            </a:r>
            <a:endParaRPr sz="1600"/>
          </a:p>
        </p:txBody>
      </p:sp>
      <p:sp>
        <p:nvSpPr>
          <p:cNvPr id="38" name="Shape 36">
            <a:extLst xmlns:a="http://schemas.openxmlformats.org/drawingml/2006/main">
              <a:ext uri="{FF2B5EF4-FFF2-40B4-BE49-F238E27FC236}">
                <a16:creationId xmlns:a16="http://schemas.microsoft.com/office/drawing/2014/main" id="{71CB1603-E507-4828-B0CC-75A7EDCDC459}"/>
              </a:ext>
            </a:extLst>
          </p:cNvPr>
          <p:cNvSpPr>
            <a:spLocks xmlns:a="http://schemas.openxmlformats.org/drawingml/2006/main" noGrp="1"/>
          </p:cNvSpPr>
          <p:nvPr/>
        </p:nvSpPr>
        <p:spPr>
          <a:xfrm xmlns:a="http://schemas.openxmlformats.org/drawingml/2006/main">
            <a:off x="9048750" y="3819381"/>
            <a:ext cx="111125" cy="127000"/>
          </a:xfrm>
          <a:custGeom xmlns:a="http://schemas.openxmlformats.org/drawingml/2006/main">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xmlns:a="http://schemas.openxmlformats.org/drawingml/2006/main">
            <a:srgbClr val="E6B450"/>
          </a:solidFill>
        </p:spPr>
      </p:sp>
      <p:sp>
        <p:nvSpPr>
          <p:cNvPr id="39" name="Text 37">
            <a:extLst xmlns:a="http://schemas.openxmlformats.org/drawingml/2006/main">
              <a:ext uri="{FF2B5EF4-FFF2-40B4-BE49-F238E27FC236}">
                <a16:creationId xmlns:a16="http://schemas.microsoft.com/office/drawing/2014/main" id="{A00E0D13-283F-408C-9026-A755449E91BA}"/>
              </a:ext>
            </a:extLst>
          </p:cNvPr>
          <p:cNvSpPr>
            <a:spLocks xmlns:a="http://schemas.openxmlformats.org/drawingml/2006/main" noGrp="1"/>
          </p:cNvSpPr>
          <p:nvPr/>
        </p:nvSpPr>
        <p:spPr>
          <a:xfrm xmlns:a="http://schemas.openxmlformats.org/drawingml/2006/main">
            <a:off x="9247188" y="3787631"/>
            <a:ext cx="157321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降低时间复杂度</a:t>
            </a:r>
            <a:endParaRPr sz="1600"/>
          </a:p>
        </p:txBody>
      </p:sp>
      <p:sp>
        <p:nvSpPr>
          <p:cNvPr id="40" name="Shape 38">
            <a:extLst xmlns:a="http://schemas.openxmlformats.org/drawingml/2006/main">
              <a:ext uri="{FF2B5EF4-FFF2-40B4-BE49-F238E27FC236}">
                <a16:creationId xmlns:a16="http://schemas.microsoft.com/office/drawing/2014/main" id="{87778361-7AB6-4CF6-83A3-FD816741101B}"/>
              </a:ext>
            </a:extLst>
          </p:cNvPr>
          <p:cNvSpPr>
            <a:spLocks xmlns:a="http://schemas.openxmlformats.org/drawingml/2006/main" noGrp="1"/>
          </p:cNvSpPr>
          <p:nvPr/>
        </p:nvSpPr>
        <p:spPr>
          <a:xfrm xmlns:a="http://schemas.openxmlformats.org/drawingml/2006/main">
            <a:off x="9048750" y="4180610"/>
            <a:ext cx="111125" cy="127000"/>
          </a:xfrm>
          <a:custGeom xmlns:a="http://schemas.openxmlformats.org/drawingml/2006/main">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xmlns:a="http://schemas.openxmlformats.org/drawingml/2006/main">
            <a:srgbClr val="E6B450"/>
          </a:solidFill>
        </p:spPr>
      </p:sp>
      <p:sp>
        <p:nvSpPr>
          <p:cNvPr id="41" name="Text 39">
            <a:extLst xmlns:a="http://schemas.openxmlformats.org/drawingml/2006/main">
              <a:ext uri="{FF2B5EF4-FFF2-40B4-BE49-F238E27FC236}">
                <a16:creationId xmlns:a16="http://schemas.microsoft.com/office/drawing/2014/main" id="{9D7A194C-5164-447A-B362-A658B73FDC76}"/>
              </a:ext>
            </a:extLst>
          </p:cNvPr>
          <p:cNvSpPr>
            <a:spLocks xmlns:a="http://schemas.openxmlformats.org/drawingml/2006/main" noGrp="1"/>
          </p:cNvSpPr>
          <p:nvPr/>
        </p:nvSpPr>
        <p:spPr>
          <a:xfrm xmlns:a="http://schemas.openxmlformats.org/drawingml/2006/main">
            <a:off x="9247188" y="4148860"/>
            <a:ext cx="1862136"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降低空间复杂度</a:t>
            </a:r>
            <a:endParaRPr sz="1600"/>
          </a:p>
        </p:txBody>
      </p:sp>
      <p:sp>
        <p:nvSpPr>
          <p:cNvPr id="42" name="Shape 40">
            <a:extLst xmlns:a="http://schemas.openxmlformats.org/drawingml/2006/main">
              <a:ext uri="{FF2B5EF4-FFF2-40B4-BE49-F238E27FC236}">
                <a16:creationId xmlns:a16="http://schemas.microsoft.com/office/drawing/2014/main" id="{91B8BBB8-F911-438A-9CBE-D20E6429218D}"/>
              </a:ext>
            </a:extLst>
          </p:cNvPr>
          <p:cNvSpPr>
            <a:spLocks xmlns:a="http://schemas.openxmlformats.org/drawingml/2006/main" noGrp="1"/>
          </p:cNvSpPr>
          <p:nvPr/>
        </p:nvSpPr>
        <p:spPr>
          <a:xfrm xmlns:a="http://schemas.openxmlformats.org/drawingml/2006/main">
            <a:off x="9048750" y="4541837"/>
            <a:ext cx="111125" cy="127000"/>
          </a:xfrm>
          <a:custGeom xmlns:a="http://schemas.openxmlformats.org/drawingml/2006/main">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xmlns:a="http://schemas.openxmlformats.org/drawingml/2006/main">
            <a:srgbClr val="E6B450"/>
          </a:solidFill>
        </p:spPr>
      </p:sp>
      <p:sp>
        <p:nvSpPr>
          <p:cNvPr id="43" name="Text 41">
            <a:extLst xmlns:a="http://schemas.openxmlformats.org/drawingml/2006/main">
              <a:ext uri="{FF2B5EF4-FFF2-40B4-BE49-F238E27FC236}">
                <a16:creationId xmlns:a16="http://schemas.microsoft.com/office/drawing/2014/main" id="{0B2EF620-217D-4788-B34D-183CE75E2FE2}"/>
              </a:ext>
            </a:extLst>
          </p:cNvPr>
          <p:cNvSpPr>
            <a:spLocks xmlns:a="http://schemas.openxmlformats.org/drawingml/2006/main" noGrp="1"/>
          </p:cNvSpPr>
          <p:nvPr/>
        </p:nvSpPr>
        <p:spPr>
          <a:xfrm xmlns:a="http://schemas.openxmlformats.org/drawingml/2006/main">
            <a:off x="9247187" y="4510087"/>
            <a:ext cx="1963737"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广泛应用于导航系统</a:t>
            </a:r>
            <a:endParaRPr sz="1600"/>
          </a:p>
        </p:txBody>
      </p:sp>
    </p:spTree>
    <p:extLst>
      <p:ext uri="{BB962C8B-B14F-4D97-AF65-F5344CB8AC3E}">
        <p14:creationId xmlns:p14="http://schemas.microsoft.com/office/powerpoint/2010/main" val="1276849091"/>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1BC8936C-819F-4CEF-AB48-E00561C1E8E6}"/>
              </a:ext>
            </a:extLst>
          </p:cNvPr>
          <p:cNvSpPr>
            <a:spLocks xmlns:a="http://schemas.openxmlformats.org/drawingml/2006/main" noGrp="1"/>
          </p:cNvSpPr>
          <p:nvPr/>
        </p:nvSpPr>
        <p:spPr>
          <a:xfrm xmlns:a="http://schemas.openxmlformats.org/drawingml/2006/main" rot="0" flipH="0" flipV="0">
            <a:off x="356094" y="1830943"/>
            <a:ext cx="11382889" cy="2323039"/>
          </a:xfrm>
          <a:custGeom xmlns:a="http://schemas.openxmlformats.org/drawingml/2006/main">
            <a:rect l="l" t="t" r="r" b="b"/>
            <a:pathLst>
              <a:path w="7477986" h="1526120">
                <a:moveTo>
                  <a:pt x="33914" y="0"/>
                </a:moveTo>
                <a:lnTo>
                  <a:pt x="7376240" y="0"/>
                </a:lnTo>
                <a:cubicBezTo>
                  <a:pt x="7432433" y="0"/>
                  <a:pt x="7477986" y="45553"/>
                  <a:pt x="7477986" y="101746"/>
                </a:cubicBezTo>
                <a:lnTo>
                  <a:pt x="7477986" y="1424373"/>
                </a:lnTo>
                <a:cubicBezTo>
                  <a:pt x="7477986" y="1480566"/>
                  <a:pt x="7432433" y="1526120"/>
                  <a:pt x="7376240" y="1526120"/>
                </a:cubicBezTo>
                <a:lnTo>
                  <a:pt x="33914" y="1526120"/>
                </a:lnTo>
                <a:cubicBezTo>
                  <a:pt x="15184" y="1526120"/>
                  <a:pt x="0" y="1510936"/>
                  <a:pt x="0" y="1492206"/>
                </a:cubicBezTo>
                <a:lnTo>
                  <a:pt x="0" y="33914"/>
                </a:lnTo>
                <a:cubicBezTo>
                  <a:pt x="0" y="15196"/>
                  <a:pt x="15196" y="0"/>
                  <a:pt x="33914"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ACDF611F-23B0-4340-B47A-21BC0EAB62F9}"/>
              </a:ext>
            </a:extLst>
          </p:cNvPr>
          <p:cNvSpPr>
            <a:spLocks xmlns:a="http://schemas.openxmlformats.org/drawingml/2006/main" noGrp="1"/>
          </p:cNvSpPr>
          <p:nvPr/>
        </p:nvSpPr>
        <p:spPr>
          <a:xfrm xmlns:a="http://schemas.openxmlformats.org/drawingml/2006/main" rot="0" flipH="0" flipV="0">
            <a:off x="356094" y="1830943"/>
            <a:ext cx="51623" cy="2323039"/>
          </a:xfrm>
          <a:custGeom xmlns:a="http://schemas.openxmlformats.org/drawingml/2006/main">
            <a:rect l="l" t="t" r="r" b="b"/>
            <a:pathLst>
              <a:path w="33914" h="1526120">
                <a:moveTo>
                  <a:pt x="33914" y="0"/>
                </a:moveTo>
                <a:lnTo>
                  <a:pt x="33914" y="0"/>
                </a:lnTo>
                <a:lnTo>
                  <a:pt x="33914" y="1526120"/>
                </a:lnTo>
                <a:lnTo>
                  <a:pt x="33914" y="1526120"/>
                </a:lnTo>
                <a:cubicBezTo>
                  <a:pt x="15184" y="1526120"/>
                  <a:pt x="0" y="1510936"/>
                  <a:pt x="0" y="1492206"/>
                </a:cubicBezTo>
                <a:lnTo>
                  <a:pt x="0" y="33914"/>
                </a:lnTo>
                <a:cubicBezTo>
                  <a:pt x="0" y="15184"/>
                  <a:pt x="15184" y="0"/>
                  <a:pt x="33914"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7367C70F-70AD-40B7-A3A3-741D53A3BC75}"/>
              </a:ext>
            </a:extLst>
          </p:cNvPr>
          <p:cNvSpPr>
            <a:spLocks xmlns:a="http://schemas.openxmlformats.org/drawingml/2006/main" noGrp="1"/>
          </p:cNvSpPr>
          <p:nvPr/>
        </p:nvSpPr>
        <p:spPr>
          <a:xfrm xmlns:a="http://schemas.openxmlformats.org/drawingml/2006/main" rot="0" flipH="0" flipV="0">
            <a:off x="646474" y="2192305"/>
            <a:ext cx="309739" cy="309739"/>
          </a:xfrm>
          <a:custGeom xmlns:a="http://schemas.openxmlformats.org/drawingml/2006/main">
            <a:rect l="l" t="t" r="r" b="b"/>
            <a:pathLst>
              <a:path w="203483" h="203483">
                <a:moveTo>
                  <a:pt x="0" y="31794"/>
                </a:moveTo>
                <a:cubicBezTo>
                  <a:pt x="0" y="21262"/>
                  <a:pt x="8545" y="12718"/>
                  <a:pt x="19076" y="12718"/>
                </a:cubicBezTo>
                <a:lnTo>
                  <a:pt x="57229" y="12718"/>
                </a:lnTo>
                <a:cubicBezTo>
                  <a:pt x="67761" y="12718"/>
                  <a:pt x="76306" y="21262"/>
                  <a:pt x="76306" y="31794"/>
                </a:cubicBezTo>
                <a:lnTo>
                  <a:pt x="76306" y="38153"/>
                </a:lnTo>
                <a:lnTo>
                  <a:pt x="127177" y="38153"/>
                </a:lnTo>
                <a:lnTo>
                  <a:pt x="127177" y="31794"/>
                </a:lnTo>
                <a:cubicBezTo>
                  <a:pt x="127177" y="21262"/>
                  <a:pt x="135721" y="12718"/>
                  <a:pt x="146253" y="12718"/>
                </a:cubicBezTo>
                <a:lnTo>
                  <a:pt x="184406" y="12718"/>
                </a:lnTo>
                <a:cubicBezTo>
                  <a:pt x="194938" y="12718"/>
                  <a:pt x="203483" y="21262"/>
                  <a:pt x="203483" y="31794"/>
                </a:cubicBezTo>
                <a:lnTo>
                  <a:pt x="203483" y="69947"/>
                </a:lnTo>
                <a:cubicBezTo>
                  <a:pt x="203483" y="80479"/>
                  <a:pt x="194938" y="89024"/>
                  <a:pt x="184406" y="89024"/>
                </a:cubicBezTo>
                <a:lnTo>
                  <a:pt x="146253" y="89024"/>
                </a:lnTo>
                <a:cubicBezTo>
                  <a:pt x="135721" y="89024"/>
                  <a:pt x="127177" y="80479"/>
                  <a:pt x="127177" y="69947"/>
                </a:cubicBezTo>
                <a:lnTo>
                  <a:pt x="127177" y="63588"/>
                </a:lnTo>
                <a:lnTo>
                  <a:pt x="76306" y="63588"/>
                </a:lnTo>
                <a:lnTo>
                  <a:pt x="76306" y="69947"/>
                </a:lnTo>
                <a:cubicBezTo>
                  <a:pt x="76306" y="72848"/>
                  <a:pt x="75630" y="75630"/>
                  <a:pt x="74478" y="78094"/>
                </a:cubicBezTo>
                <a:lnTo>
                  <a:pt x="101741" y="114459"/>
                </a:lnTo>
                <a:lnTo>
                  <a:pt x="133535" y="114459"/>
                </a:lnTo>
                <a:cubicBezTo>
                  <a:pt x="144067" y="114459"/>
                  <a:pt x="152612" y="123004"/>
                  <a:pt x="152612" y="133535"/>
                </a:cubicBezTo>
                <a:lnTo>
                  <a:pt x="152612" y="171688"/>
                </a:lnTo>
                <a:cubicBezTo>
                  <a:pt x="152612" y="182220"/>
                  <a:pt x="144067" y="190765"/>
                  <a:pt x="133535" y="190765"/>
                </a:cubicBezTo>
                <a:lnTo>
                  <a:pt x="95382" y="190765"/>
                </a:lnTo>
                <a:cubicBezTo>
                  <a:pt x="84851" y="190765"/>
                  <a:pt x="76306" y="182220"/>
                  <a:pt x="76306" y="171688"/>
                </a:cubicBezTo>
                <a:lnTo>
                  <a:pt x="76306" y="133535"/>
                </a:lnTo>
                <a:cubicBezTo>
                  <a:pt x="76306" y="130634"/>
                  <a:pt x="76982" y="127852"/>
                  <a:pt x="78134" y="125388"/>
                </a:cubicBezTo>
                <a:lnTo>
                  <a:pt x="50871" y="89024"/>
                </a:lnTo>
                <a:lnTo>
                  <a:pt x="19076" y="89024"/>
                </a:lnTo>
                <a:cubicBezTo>
                  <a:pt x="8545" y="89024"/>
                  <a:pt x="0" y="80479"/>
                  <a:pt x="0" y="69947"/>
                </a:cubicBezTo>
                <a:lnTo>
                  <a:pt x="0" y="31794"/>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E8E8FE88-E99E-4E55-9280-F28904D00EB0}"/>
              </a:ext>
            </a:extLst>
          </p:cNvPr>
          <p:cNvSpPr>
            <a:spLocks xmlns:a="http://schemas.openxmlformats.org/drawingml/2006/main" noGrp="1"/>
          </p:cNvSpPr>
          <p:nvPr/>
        </p:nvSpPr>
        <p:spPr>
          <a:xfrm xmlns:a="http://schemas.openxmlformats.org/drawingml/2006/main" rot="0" flipH="0" flipV="0">
            <a:off x="1114107" y="2140682"/>
            <a:ext cx="10466579" cy="4129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拓扑图路径规划</a:t>
            </a:r>
            <a:endParaRPr/>
          </a:p>
        </p:txBody>
      </p:sp>
      <p:sp>
        <p:nvSpPr>
          <p:cNvPr id="9" name="Text 7">
            <a:extLst xmlns:a="http://schemas.openxmlformats.org/drawingml/2006/main">
              <a:ext uri="{FF2B5EF4-FFF2-40B4-BE49-F238E27FC236}">
                <a16:creationId xmlns:a16="http://schemas.microsoft.com/office/drawing/2014/main" id="{56D926CB-FA2D-4668-86EB-10AB707AE8FF}"/>
              </a:ext>
            </a:extLst>
          </p:cNvPr>
          <p:cNvSpPr>
            <a:spLocks xmlns:a="http://schemas.openxmlformats.org/drawingml/2006/main" noGrp="1"/>
          </p:cNvSpPr>
          <p:nvPr/>
        </p:nvSpPr>
        <p:spPr>
          <a:xfrm xmlns:a="http://schemas.openxmlformats.org/drawingml/2006/main" rot="0" flipH="0" flipV="0">
            <a:off x="1114107" y="2708537"/>
            <a:ext cx="10427861" cy="11357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拓扑图忽略环境中不必要的细节，仅仅包含其中的</a:t>
            </a:r>
            <a:r>
              <a:rPr sz="1600" b="1">
                <a:latin typeface="微软雅黑"/>
                <a:ea typeface="微软雅黑"/>
                <a:cs typeface="微软雅黑"/>
              </a:rPr>
              <a:t>重要信息（陆标）</a:t>
            </a:r>
            <a:r>
              <a:rPr sz="1600">
                <a:latin typeface="微软雅黑"/>
                <a:ea typeface="微软雅黑"/>
                <a:cs typeface="微软雅黑"/>
              </a:rPr>
              <a:t>。拓扑图使用</a:t>
            </a:r>
            <a:r>
              <a:rPr sz="1600">
                <a:highlight>
                  <a:srgbClr val="E6B450">
                    <a:alpha val="20000"/>
                  </a:srgbClr>
                </a:highlight>
                <a:latin typeface="微软雅黑"/>
                <a:ea typeface="微软雅黑"/>
                <a:cs typeface="微软雅黑"/>
              </a:rPr>
              <a:t> 图结构 </a:t>
            </a:r>
            <a:r>
              <a:rPr sz="1600">
                <a:latin typeface="微软雅黑"/>
                <a:ea typeface="微软雅黑"/>
                <a:cs typeface="微软雅黑"/>
              </a:rPr>
              <a:t>表示环境，图的节点对应环境中的陆标等物体，比如房间和房门。因为不必关注太多细节，使用拓扑图可以大大降低</a:t>
            </a:r>
            <a:r>
              <a:rPr sz="1600">
                <a:highlight>
                  <a:srgbClr val="E6B450">
                    <a:alpha val="20000"/>
                  </a:srgbClr>
                </a:highlight>
                <a:latin typeface="微软雅黑"/>
                <a:ea typeface="微软雅黑"/>
                <a:cs typeface="微软雅黑"/>
              </a:rPr>
              <a:t> 处理时间 </a:t>
            </a:r>
            <a:r>
              <a:rPr sz="1600">
                <a:latin typeface="微软雅黑"/>
                <a:ea typeface="微软雅黑"/>
                <a:cs typeface="微软雅黑"/>
              </a:rPr>
              <a:t>和</a:t>
            </a:r>
            <a:r>
              <a:rPr sz="1600">
                <a:highlight>
                  <a:srgbClr val="E6B450">
                    <a:alpha val="20000"/>
                  </a:srgbClr>
                </a:highlight>
                <a:latin typeface="微软雅黑"/>
                <a:ea typeface="微软雅黑"/>
                <a:cs typeface="微软雅黑"/>
              </a:rPr>
              <a:t> 存储空间 </a:t>
            </a:r>
            <a:r>
              <a:rPr sz="1600">
                <a:latin typeface="微软雅黑"/>
                <a:ea typeface="微软雅黑"/>
                <a:cs typeface="微软雅黑"/>
              </a:rPr>
              <a:t>。</a:t>
            </a:r>
            <a:endParaRPr sz="1600"/>
          </a:p>
        </p:txBody>
      </p:sp>
      <p:sp>
        <p:nvSpPr>
          <p:cNvPr id="10" name="Shape 8">
            <a:extLst xmlns:a="http://schemas.openxmlformats.org/drawingml/2006/main">
              <a:ext uri="{FF2B5EF4-FFF2-40B4-BE49-F238E27FC236}">
                <a16:creationId xmlns:a16="http://schemas.microsoft.com/office/drawing/2014/main" id="{537F7CA9-F5D8-4508-AF57-CC27D156C418}"/>
              </a:ext>
            </a:extLst>
          </p:cNvPr>
          <p:cNvSpPr>
            <a:spLocks xmlns:a="http://schemas.openxmlformats.org/drawingml/2006/main" noGrp="1"/>
          </p:cNvSpPr>
          <p:nvPr/>
        </p:nvSpPr>
        <p:spPr>
          <a:xfrm xmlns:a="http://schemas.openxmlformats.org/drawingml/2006/main" rot="0" flipH="0" flipV="0">
            <a:off x="356094" y="4460494"/>
            <a:ext cx="11382889" cy="1948771"/>
          </a:xfrm>
          <a:custGeom xmlns:a="http://schemas.openxmlformats.org/drawingml/2006/main">
            <a:rect l="l" t="t" r="r" b="b"/>
            <a:pathLst>
              <a:path w="7477986" h="1280245">
                <a:moveTo>
                  <a:pt x="33914" y="0"/>
                </a:moveTo>
                <a:lnTo>
                  <a:pt x="7376245" y="0"/>
                </a:lnTo>
                <a:cubicBezTo>
                  <a:pt x="7432435" y="0"/>
                  <a:pt x="7477986" y="45551"/>
                  <a:pt x="7477986" y="101741"/>
                </a:cubicBezTo>
                <a:lnTo>
                  <a:pt x="7477986" y="1178504"/>
                </a:lnTo>
                <a:cubicBezTo>
                  <a:pt x="7477986" y="1234694"/>
                  <a:pt x="7432435" y="1280245"/>
                  <a:pt x="7376245" y="1280245"/>
                </a:cubicBezTo>
                <a:lnTo>
                  <a:pt x="33914" y="1280245"/>
                </a:lnTo>
                <a:cubicBezTo>
                  <a:pt x="15184" y="1280245"/>
                  <a:pt x="0" y="1265061"/>
                  <a:pt x="0" y="1246331"/>
                </a:cubicBezTo>
                <a:lnTo>
                  <a:pt x="0" y="33914"/>
                </a:lnTo>
                <a:cubicBezTo>
                  <a:pt x="0" y="15184"/>
                  <a:pt x="15184" y="0"/>
                  <a:pt x="33914"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0B229DC9-AA26-47DF-8AE3-0EB1FEE3C3CF}"/>
              </a:ext>
            </a:extLst>
          </p:cNvPr>
          <p:cNvSpPr>
            <a:spLocks xmlns:a="http://schemas.openxmlformats.org/drawingml/2006/main" noGrp="1"/>
          </p:cNvSpPr>
          <p:nvPr/>
        </p:nvSpPr>
        <p:spPr>
          <a:xfrm xmlns:a="http://schemas.openxmlformats.org/drawingml/2006/main" rot="0" flipH="0" flipV="0">
            <a:off x="356094" y="4460494"/>
            <a:ext cx="51623" cy="1948771"/>
          </a:xfrm>
          <a:custGeom xmlns:a="http://schemas.openxmlformats.org/drawingml/2006/main">
            <a:rect l="l" t="t" r="r" b="b"/>
            <a:pathLst>
              <a:path w="33914" h="1280245">
                <a:moveTo>
                  <a:pt x="33914" y="0"/>
                </a:moveTo>
                <a:lnTo>
                  <a:pt x="33914" y="0"/>
                </a:lnTo>
                <a:lnTo>
                  <a:pt x="33914" y="1280245"/>
                </a:lnTo>
                <a:lnTo>
                  <a:pt x="33914" y="1280245"/>
                </a:lnTo>
                <a:cubicBezTo>
                  <a:pt x="15184" y="1280245"/>
                  <a:pt x="0" y="1265061"/>
                  <a:pt x="0" y="1246331"/>
                </a:cubicBezTo>
                <a:lnTo>
                  <a:pt x="0" y="33914"/>
                </a:lnTo>
                <a:cubicBezTo>
                  <a:pt x="0" y="15184"/>
                  <a:pt x="15184" y="0"/>
                  <a:pt x="33914"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09176A8A-B6D1-4EFF-B7EF-0DBD1E463D59}"/>
              </a:ext>
            </a:extLst>
          </p:cNvPr>
          <p:cNvSpPr>
            <a:spLocks xmlns:a="http://schemas.openxmlformats.org/drawingml/2006/main" noGrp="1"/>
          </p:cNvSpPr>
          <p:nvPr/>
        </p:nvSpPr>
        <p:spPr>
          <a:xfrm xmlns:a="http://schemas.openxmlformats.org/drawingml/2006/main" rot="0" flipH="0" flipV="0">
            <a:off x="659379" y="4821855"/>
            <a:ext cx="309739" cy="309739"/>
          </a:xfrm>
          <a:custGeom xmlns:a="http://schemas.openxmlformats.org/drawingml/2006/main">
            <a:rect l="l" t="t" r="r" b="b"/>
            <a:pathLst>
              <a:path w="203483" h="203483">
                <a:moveTo>
                  <a:pt x="203483" y="38153"/>
                </a:moveTo>
                <a:cubicBezTo>
                  <a:pt x="203483" y="58104"/>
                  <a:pt x="179995" y="87871"/>
                  <a:pt x="169860" y="99754"/>
                </a:cubicBezTo>
                <a:cubicBezTo>
                  <a:pt x="168350" y="101503"/>
                  <a:pt x="166124" y="102178"/>
                  <a:pt x="164098" y="101741"/>
                </a:cubicBezTo>
                <a:lnTo>
                  <a:pt x="127177" y="101741"/>
                </a:lnTo>
                <a:cubicBezTo>
                  <a:pt x="120142" y="101741"/>
                  <a:pt x="114459" y="107425"/>
                  <a:pt x="114459" y="114459"/>
                </a:cubicBezTo>
                <a:cubicBezTo>
                  <a:pt x="114459" y="121493"/>
                  <a:pt x="120142" y="127177"/>
                  <a:pt x="127177" y="127177"/>
                </a:cubicBezTo>
                <a:lnTo>
                  <a:pt x="165330" y="127177"/>
                </a:lnTo>
                <a:cubicBezTo>
                  <a:pt x="186393" y="127177"/>
                  <a:pt x="203483" y="144266"/>
                  <a:pt x="203483" y="165330"/>
                </a:cubicBezTo>
                <a:cubicBezTo>
                  <a:pt x="203483" y="186393"/>
                  <a:pt x="186393" y="203483"/>
                  <a:pt x="165330" y="203483"/>
                </a:cubicBezTo>
                <a:lnTo>
                  <a:pt x="55481" y="203483"/>
                </a:lnTo>
                <a:cubicBezTo>
                  <a:pt x="58938" y="199548"/>
                  <a:pt x="63151" y="194501"/>
                  <a:pt x="67404" y="188857"/>
                </a:cubicBezTo>
                <a:cubicBezTo>
                  <a:pt x="69907" y="185519"/>
                  <a:pt x="72491" y="181863"/>
                  <a:pt x="74955" y="178047"/>
                </a:cubicBezTo>
                <a:lnTo>
                  <a:pt x="165330" y="178047"/>
                </a:lnTo>
                <a:cubicBezTo>
                  <a:pt x="172364" y="178047"/>
                  <a:pt x="178047" y="172364"/>
                  <a:pt x="178047" y="165330"/>
                </a:cubicBezTo>
                <a:cubicBezTo>
                  <a:pt x="178047" y="158295"/>
                  <a:pt x="172364" y="152612"/>
                  <a:pt x="165330" y="152612"/>
                </a:cubicBezTo>
                <a:lnTo>
                  <a:pt x="127177" y="152612"/>
                </a:lnTo>
                <a:cubicBezTo>
                  <a:pt x="106113" y="152612"/>
                  <a:pt x="89024" y="135523"/>
                  <a:pt x="89024" y="114459"/>
                </a:cubicBezTo>
                <a:cubicBezTo>
                  <a:pt x="89024" y="93395"/>
                  <a:pt x="106113" y="76306"/>
                  <a:pt x="127177" y="76306"/>
                </a:cubicBezTo>
                <a:lnTo>
                  <a:pt x="142994" y="76306"/>
                </a:lnTo>
                <a:cubicBezTo>
                  <a:pt x="134648" y="63787"/>
                  <a:pt x="127177" y="49400"/>
                  <a:pt x="127177" y="38153"/>
                </a:cubicBezTo>
                <a:cubicBezTo>
                  <a:pt x="127177" y="17089"/>
                  <a:pt x="144266" y="0"/>
                  <a:pt x="165330" y="0"/>
                </a:cubicBezTo>
                <a:cubicBezTo>
                  <a:pt x="186393" y="0"/>
                  <a:pt x="203483" y="17089"/>
                  <a:pt x="203483" y="38153"/>
                </a:cubicBezTo>
                <a:close/>
                <a:moveTo>
                  <a:pt x="46539" y="194382"/>
                </a:moveTo>
                <a:cubicBezTo>
                  <a:pt x="45028" y="196090"/>
                  <a:pt x="43677" y="197601"/>
                  <a:pt x="42525" y="198872"/>
                </a:cubicBezTo>
                <a:lnTo>
                  <a:pt x="41809" y="199667"/>
                </a:lnTo>
                <a:lnTo>
                  <a:pt x="41730" y="199588"/>
                </a:lnTo>
                <a:cubicBezTo>
                  <a:pt x="39345" y="201416"/>
                  <a:pt x="35927" y="201178"/>
                  <a:pt x="33781" y="198872"/>
                </a:cubicBezTo>
                <a:cubicBezTo>
                  <a:pt x="23766" y="187983"/>
                  <a:pt x="0" y="159964"/>
                  <a:pt x="0" y="139894"/>
                </a:cubicBezTo>
                <a:cubicBezTo>
                  <a:pt x="0" y="118831"/>
                  <a:pt x="17089" y="101741"/>
                  <a:pt x="38153" y="101741"/>
                </a:cubicBezTo>
                <a:cubicBezTo>
                  <a:pt x="59217" y="101741"/>
                  <a:pt x="76306" y="118831"/>
                  <a:pt x="76306" y="139894"/>
                </a:cubicBezTo>
                <a:cubicBezTo>
                  <a:pt x="76306" y="151817"/>
                  <a:pt x="67920" y="166522"/>
                  <a:pt x="59018" y="178802"/>
                </a:cubicBezTo>
                <a:cubicBezTo>
                  <a:pt x="54765" y="184645"/>
                  <a:pt x="50394" y="189930"/>
                  <a:pt x="46777" y="194103"/>
                </a:cubicBezTo>
                <a:lnTo>
                  <a:pt x="46539" y="194382"/>
                </a:lnTo>
                <a:close/>
                <a:moveTo>
                  <a:pt x="50871" y="139894"/>
                </a:moveTo>
                <a:cubicBezTo>
                  <a:pt x="50871" y="132875"/>
                  <a:pt x="45172" y="127177"/>
                  <a:pt x="38153" y="127177"/>
                </a:cubicBezTo>
                <a:cubicBezTo>
                  <a:pt x="31134" y="127177"/>
                  <a:pt x="25435" y="132875"/>
                  <a:pt x="25435" y="139894"/>
                </a:cubicBezTo>
                <a:cubicBezTo>
                  <a:pt x="25435" y="146913"/>
                  <a:pt x="31134" y="152612"/>
                  <a:pt x="38153" y="152612"/>
                </a:cubicBezTo>
                <a:cubicBezTo>
                  <a:pt x="45172" y="152612"/>
                  <a:pt x="50871" y="146913"/>
                  <a:pt x="50871" y="139894"/>
                </a:cubicBezTo>
                <a:close/>
                <a:moveTo>
                  <a:pt x="165330" y="50871"/>
                </a:moveTo>
                <a:cubicBezTo>
                  <a:pt x="172349" y="50871"/>
                  <a:pt x="178047" y="45172"/>
                  <a:pt x="178047" y="38153"/>
                </a:cubicBezTo>
                <a:cubicBezTo>
                  <a:pt x="178047" y="31134"/>
                  <a:pt x="172349" y="25435"/>
                  <a:pt x="165330" y="25435"/>
                </a:cubicBezTo>
                <a:cubicBezTo>
                  <a:pt x="158311" y="25435"/>
                  <a:pt x="152612" y="31134"/>
                  <a:pt x="152612" y="38153"/>
                </a:cubicBezTo>
                <a:cubicBezTo>
                  <a:pt x="152612" y="45172"/>
                  <a:pt x="158311" y="50871"/>
                  <a:pt x="165330" y="50871"/>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AF8EEFF7-0186-4FA6-9C21-1EB9F649C789}"/>
              </a:ext>
            </a:extLst>
          </p:cNvPr>
          <p:cNvSpPr>
            <a:spLocks xmlns:a="http://schemas.openxmlformats.org/drawingml/2006/main" noGrp="1"/>
          </p:cNvSpPr>
          <p:nvPr/>
        </p:nvSpPr>
        <p:spPr>
          <a:xfrm xmlns:a="http://schemas.openxmlformats.org/drawingml/2006/main" rot="0" flipH="0" flipV="0">
            <a:off x="1139313" y="4770233"/>
            <a:ext cx="10440768" cy="4129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最短路径搜索</a:t>
            </a:r>
            <a:endParaRPr/>
          </a:p>
        </p:txBody>
      </p:sp>
      <p:sp>
        <p:nvSpPr>
          <p:cNvPr id="14" name="Text 12">
            <a:extLst xmlns:a="http://schemas.openxmlformats.org/drawingml/2006/main">
              <a:ext uri="{FF2B5EF4-FFF2-40B4-BE49-F238E27FC236}">
                <a16:creationId xmlns:a16="http://schemas.microsoft.com/office/drawing/2014/main" id="{8CF5FDA2-3EDF-443C-A436-211EE46BE789}"/>
              </a:ext>
            </a:extLst>
          </p:cNvPr>
          <p:cNvSpPr>
            <a:spLocks xmlns:a="http://schemas.openxmlformats.org/drawingml/2006/main" noGrp="1"/>
          </p:cNvSpPr>
          <p:nvPr/>
        </p:nvSpPr>
        <p:spPr>
          <a:xfrm xmlns:a="http://schemas.openxmlformats.org/drawingml/2006/main" rot="0" flipH="0" flipV="0">
            <a:off x="1139313" y="5338086"/>
            <a:ext cx="10402049" cy="761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拓扑图路径规划将</a:t>
            </a:r>
            <a:r>
              <a:rPr sz="1600" b="1">
                <a:latin typeface="微软雅黑"/>
                <a:ea typeface="微软雅黑"/>
                <a:cs typeface="微软雅黑"/>
              </a:rPr>
              <a:t>出发节点</a:t>
            </a:r>
            <a:r>
              <a:rPr sz="1600">
                <a:latin typeface="微软雅黑"/>
                <a:ea typeface="微软雅黑"/>
                <a:cs typeface="微软雅黑"/>
              </a:rPr>
              <a:t>和</a:t>
            </a:r>
            <a:r>
              <a:rPr sz="1600" b="1">
                <a:latin typeface="微软雅黑"/>
                <a:ea typeface="微软雅黑"/>
                <a:cs typeface="微软雅黑"/>
              </a:rPr>
              <a:t>目标节点</a:t>
            </a:r>
            <a:r>
              <a:rPr sz="1600">
                <a:latin typeface="微软雅黑"/>
                <a:ea typeface="微软雅黑"/>
                <a:cs typeface="微软雅黑"/>
              </a:rPr>
              <a:t>作为输入。使用例如</a:t>
            </a:r>
            <a:r>
              <a:rPr sz="1600">
                <a:highlight>
                  <a:srgbClr val="E6B450">
                    <a:alpha val="20000"/>
                  </a:srgbClr>
                </a:highlight>
                <a:latin typeface="微软雅黑"/>
                <a:ea typeface="微软雅黑"/>
                <a:cs typeface="微软雅黑"/>
              </a:rPr>
              <a:t> Dijkstra </a:t>
            </a:r>
            <a:r>
              <a:rPr sz="1600">
                <a:latin typeface="微软雅黑"/>
                <a:ea typeface="微软雅黑"/>
                <a:cs typeface="微软雅黑"/>
              </a:rPr>
              <a:t>或者</a:t>
            </a:r>
            <a:r>
              <a:rPr sz="1600">
                <a:highlight>
                  <a:srgbClr val="E6B450">
                    <a:alpha val="20000"/>
                  </a:srgbClr>
                </a:highlight>
                <a:latin typeface="微软雅黑"/>
                <a:ea typeface="微软雅黑"/>
                <a:cs typeface="微软雅黑"/>
              </a:rPr>
              <a:t> Floyd-Warshall </a:t>
            </a:r>
            <a:r>
              <a:rPr sz="1600">
                <a:latin typeface="微软雅黑"/>
                <a:ea typeface="微软雅黑"/>
                <a:cs typeface="微软雅黑"/>
              </a:rPr>
              <a:t>等最短路径搜索算法，很容易找到拓扑图中两个节点之间的最短路径。</a:t>
            </a:r>
            <a:endParaRPr sz="1600"/>
          </a:p>
        </p:txBody>
      </p:sp>
      <p:sp>
        <p:nvSpPr>
          <p:cNvPr id="53" name="矩形 52">
            <a:extLst xmlns:a="http://schemas.openxmlformats.org/drawingml/2006/main">
              <a:ext uri="{FF2B5EF4-FFF2-40B4-BE49-F238E27FC236}">
                <a16:creationId xmlns:a16="http://schemas.microsoft.com/office/drawing/2014/main" id="{B15310DE-575D-10DC-D081-017631259B00}"/>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文本框 53">
            <a:extLst xmlns:a="http://schemas.openxmlformats.org/drawingml/2006/main">
              <a:ext uri="{FF2B5EF4-FFF2-40B4-BE49-F238E27FC236}">
                <a16:creationId xmlns:a16="http://schemas.microsoft.com/office/drawing/2014/main" id="{3E57A7B2-42FE-E42E-1B22-85E608499B24}"/>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7.2.1 A*</a:t>
            </a:r>
            <a:r>
              <a:rPr sz="2400" b="1">
                <a:solidFill>
                  <a:schemeClr val="accent1"/>
                </a:solidFill>
                <a:latin typeface="+mj-lt"/>
                <a:ea typeface="+mj-lt"/>
                <a:cs typeface="+mj-lt"/>
              </a:rPr>
              <a:t>规划方法</a:t>
            </a:r>
          </a:p>
        </p:txBody>
      </p:sp>
    </p:spTree>
    <p:extLst>
      <p:ext uri="{BB962C8B-B14F-4D97-AF65-F5344CB8AC3E}">
        <p14:creationId xmlns:p14="http://schemas.microsoft.com/office/powerpoint/2010/main" val="3036323887"/>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3" name="Shape 31">
            <a:extLst xmlns:a="http://schemas.openxmlformats.org/drawingml/2006/main">
              <a:ext uri="{FF2B5EF4-FFF2-40B4-BE49-F238E27FC236}">
                <a16:creationId xmlns:a16="http://schemas.microsoft.com/office/drawing/2014/main" id="{6BD4D055-A69D-10C5-FC36-1CBC562BC321}"/>
              </a:ext>
            </a:extLst>
          </p:cNvPr>
          <p:cNvSpPr>
            <a:spLocks xmlns:a="http://schemas.openxmlformats.org/drawingml/2006/main" noGrp="1"/>
          </p:cNvSpPr>
          <p:nvPr/>
        </p:nvSpPr>
        <p:spPr>
          <a:xfrm xmlns:a="http://schemas.openxmlformats.org/drawingml/2006/main">
            <a:off x="420000" y="2070392"/>
            <a:ext cx="5022850" cy="2747141"/>
          </a:xfrm>
          <a:custGeom xmlns:a="http://schemas.openxmlformats.org/drawingml/2006/main">
            <a:rect l="l" t="t" r="r" b="b"/>
            <a:pathLst>
              <a:path w="3040063" h="1785938">
                <a:moveTo>
                  <a:pt x="95244" y="0"/>
                </a:moveTo>
                <a:lnTo>
                  <a:pt x="2944818" y="0"/>
                </a:lnTo>
                <a:cubicBezTo>
                  <a:pt x="2997420" y="0"/>
                  <a:pt x="3040062" y="42642"/>
                  <a:pt x="3040062" y="95244"/>
                </a:cubicBezTo>
                <a:lnTo>
                  <a:pt x="3040063" y="1690693"/>
                </a:lnTo>
                <a:cubicBezTo>
                  <a:pt x="3040062" y="1743295"/>
                  <a:pt x="2997420" y="1785938"/>
                  <a:pt x="2944818" y="1785937"/>
                </a:cubicBezTo>
                <a:lnTo>
                  <a:pt x="95244" y="1785938"/>
                </a:lnTo>
                <a:cubicBezTo>
                  <a:pt x="42642" y="1785937"/>
                  <a:pt x="0" y="1743295"/>
                  <a:pt x="0" y="1690693"/>
                </a:cubicBezTo>
                <a:lnTo>
                  <a:pt x="0" y="95244"/>
                </a:lnTo>
                <a:cubicBezTo>
                  <a:pt x="0" y="42677"/>
                  <a:pt x="42677" y="0"/>
                  <a:pt x="9524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7" name="Shape 15">
            <a:extLst xmlns:a="http://schemas.openxmlformats.org/drawingml/2006/main">
              <a:ext uri="{FF2B5EF4-FFF2-40B4-BE49-F238E27FC236}">
                <a16:creationId xmlns:a16="http://schemas.microsoft.com/office/drawing/2014/main" id="{BFF662BD-B479-4B5A-9015-9C5623EE1216}"/>
              </a:ext>
            </a:extLst>
          </p:cNvPr>
          <p:cNvSpPr>
            <a:spLocks xmlns:a="http://schemas.openxmlformats.org/drawingml/2006/main" noGrp="1"/>
          </p:cNvSpPr>
          <p:nvPr/>
        </p:nvSpPr>
        <p:spPr>
          <a:xfrm xmlns:a="http://schemas.openxmlformats.org/drawingml/2006/main">
            <a:off x="521424" y="2182862"/>
            <a:ext cx="254353" cy="203483"/>
          </a:xfrm>
          <a:custGeom xmlns:a="http://schemas.openxmlformats.org/drawingml/2006/main">
            <a:rect l="l" t="t" r="r" b="b"/>
            <a:pathLst>
              <a:path w="254353" h="203483">
                <a:moveTo>
                  <a:pt x="165290" y="83658"/>
                </a:moveTo>
                <a:cubicBezTo>
                  <a:pt x="170138" y="82347"/>
                  <a:pt x="175226" y="84652"/>
                  <a:pt x="177411" y="89143"/>
                </a:cubicBezTo>
                <a:lnTo>
                  <a:pt x="184804" y="104086"/>
                </a:lnTo>
                <a:cubicBezTo>
                  <a:pt x="188897" y="104643"/>
                  <a:pt x="192911" y="105755"/>
                  <a:pt x="196687" y="107305"/>
                </a:cubicBezTo>
                <a:lnTo>
                  <a:pt x="210597" y="98045"/>
                </a:lnTo>
                <a:cubicBezTo>
                  <a:pt x="214770" y="95263"/>
                  <a:pt x="220294" y="95820"/>
                  <a:pt x="223831" y="99357"/>
                </a:cubicBezTo>
                <a:lnTo>
                  <a:pt x="231461" y="106987"/>
                </a:lnTo>
                <a:cubicBezTo>
                  <a:pt x="234999" y="110524"/>
                  <a:pt x="235555" y="116088"/>
                  <a:pt x="232773" y="120222"/>
                </a:cubicBezTo>
                <a:lnTo>
                  <a:pt x="223513" y="134092"/>
                </a:lnTo>
                <a:cubicBezTo>
                  <a:pt x="224268" y="135960"/>
                  <a:pt x="224944" y="137907"/>
                  <a:pt x="225500" y="139934"/>
                </a:cubicBezTo>
                <a:cubicBezTo>
                  <a:pt x="226056" y="141961"/>
                  <a:pt x="226414" y="143948"/>
                  <a:pt x="226692" y="145975"/>
                </a:cubicBezTo>
                <a:lnTo>
                  <a:pt x="241675" y="153367"/>
                </a:lnTo>
                <a:cubicBezTo>
                  <a:pt x="246166" y="155593"/>
                  <a:pt x="248471" y="160680"/>
                  <a:pt x="247160" y="165489"/>
                </a:cubicBezTo>
                <a:lnTo>
                  <a:pt x="244378" y="175901"/>
                </a:lnTo>
                <a:cubicBezTo>
                  <a:pt x="243066" y="180710"/>
                  <a:pt x="238575" y="183969"/>
                  <a:pt x="233568" y="183651"/>
                </a:cubicBezTo>
                <a:lnTo>
                  <a:pt x="216876" y="182578"/>
                </a:lnTo>
                <a:cubicBezTo>
                  <a:pt x="214372" y="185797"/>
                  <a:pt x="211471" y="188778"/>
                  <a:pt x="208172" y="191321"/>
                </a:cubicBezTo>
                <a:lnTo>
                  <a:pt x="209245" y="207974"/>
                </a:lnTo>
                <a:cubicBezTo>
                  <a:pt x="209563" y="212981"/>
                  <a:pt x="206304" y="217512"/>
                  <a:pt x="201495" y="218784"/>
                </a:cubicBezTo>
                <a:lnTo>
                  <a:pt x="191083" y="221566"/>
                </a:lnTo>
                <a:cubicBezTo>
                  <a:pt x="186234" y="222877"/>
                  <a:pt x="181187" y="220572"/>
                  <a:pt x="178961" y="216081"/>
                </a:cubicBezTo>
                <a:lnTo>
                  <a:pt x="171569" y="201138"/>
                </a:lnTo>
                <a:cubicBezTo>
                  <a:pt x="167476" y="200581"/>
                  <a:pt x="163462" y="199469"/>
                  <a:pt x="159686" y="197919"/>
                </a:cubicBezTo>
                <a:lnTo>
                  <a:pt x="145776" y="207179"/>
                </a:lnTo>
                <a:cubicBezTo>
                  <a:pt x="141603" y="209961"/>
                  <a:pt x="136079" y="209404"/>
                  <a:pt x="132542" y="205867"/>
                </a:cubicBezTo>
                <a:lnTo>
                  <a:pt x="124911" y="198237"/>
                </a:lnTo>
                <a:cubicBezTo>
                  <a:pt x="121374" y="194699"/>
                  <a:pt x="120818" y="189175"/>
                  <a:pt x="123600" y="185002"/>
                </a:cubicBezTo>
                <a:lnTo>
                  <a:pt x="132860" y="171092"/>
                </a:lnTo>
                <a:cubicBezTo>
                  <a:pt x="132105" y="169224"/>
                  <a:pt x="131429" y="167277"/>
                  <a:pt x="130873" y="165250"/>
                </a:cubicBezTo>
                <a:cubicBezTo>
                  <a:pt x="130316" y="163223"/>
                  <a:pt x="129959" y="161196"/>
                  <a:pt x="129680" y="159209"/>
                </a:cubicBezTo>
                <a:lnTo>
                  <a:pt x="114697" y="151817"/>
                </a:lnTo>
                <a:cubicBezTo>
                  <a:pt x="110207" y="149592"/>
                  <a:pt x="107941" y="144504"/>
                  <a:pt x="109213" y="139696"/>
                </a:cubicBezTo>
                <a:lnTo>
                  <a:pt x="111995" y="129283"/>
                </a:lnTo>
                <a:cubicBezTo>
                  <a:pt x="113306" y="124474"/>
                  <a:pt x="117797" y="121215"/>
                  <a:pt x="122805" y="121533"/>
                </a:cubicBezTo>
                <a:lnTo>
                  <a:pt x="139457" y="122606"/>
                </a:lnTo>
                <a:cubicBezTo>
                  <a:pt x="141961" y="119387"/>
                  <a:pt x="144862" y="116406"/>
                  <a:pt x="148161" y="113863"/>
                </a:cubicBezTo>
                <a:lnTo>
                  <a:pt x="147088" y="97250"/>
                </a:lnTo>
                <a:cubicBezTo>
                  <a:pt x="146770" y="92243"/>
                  <a:pt x="150029" y="87712"/>
                  <a:pt x="154838" y="86440"/>
                </a:cubicBezTo>
                <a:lnTo>
                  <a:pt x="165250" y="83658"/>
                </a:lnTo>
                <a:close/>
                <a:moveTo>
                  <a:pt x="178206" y="135125"/>
                </a:moveTo>
                <a:cubicBezTo>
                  <a:pt x="168555" y="135136"/>
                  <a:pt x="160728" y="142981"/>
                  <a:pt x="160739" y="152632"/>
                </a:cubicBezTo>
                <a:cubicBezTo>
                  <a:pt x="160750" y="162283"/>
                  <a:pt x="168595" y="170110"/>
                  <a:pt x="178246" y="170099"/>
                </a:cubicBezTo>
                <a:cubicBezTo>
                  <a:pt x="187897" y="170088"/>
                  <a:pt x="195724" y="162243"/>
                  <a:pt x="195713" y="152592"/>
                </a:cubicBezTo>
                <a:cubicBezTo>
                  <a:pt x="195702" y="142941"/>
                  <a:pt x="187857" y="135114"/>
                  <a:pt x="178206" y="135125"/>
                </a:cubicBezTo>
                <a:close/>
                <a:moveTo>
                  <a:pt x="89381" y="-18083"/>
                </a:moveTo>
                <a:lnTo>
                  <a:pt x="99794" y="-15301"/>
                </a:lnTo>
                <a:cubicBezTo>
                  <a:pt x="104603" y="-13989"/>
                  <a:pt x="107862" y="-9459"/>
                  <a:pt x="107544" y="-4491"/>
                </a:cubicBezTo>
                <a:lnTo>
                  <a:pt x="106471" y="12122"/>
                </a:lnTo>
                <a:cubicBezTo>
                  <a:pt x="109769" y="14665"/>
                  <a:pt x="112671" y="17606"/>
                  <a:pt x="115174" y="20865"/>
                </a:cubicBezTo>
                <a:lnTo>
                  <a:pt x="131866" y="19792"/>
                </a:lnTo>
                <a:cubicBezTo>
                  <a:pt x="136834" y="19474"/>
                  <a:pt x="141365" y="22733"/>
                  <a:pt x="142676" y="27542"/>
                </a:cubicBezTo>
                <a:lnTo>
                  <a:pt x="145458" y="37954"/>
                </a:lnTo>
                <a:cubicBezTo>
                  <a:pt x="146730" y="42763"/>
                  <a:pt x="144465" y="47850"/>
                  <a:pt x="139974" y="50076"/>
                </a:cubicBezTo>
                <a:lnTo>
                  <a:pt x="124991" y="57468"/>
                </a:lnTo>
                <a:cubicBezTo>
                  <a:pt x="124713" y="59495"/>
                  <a:pt x="124315" y="61522"/>
                  <a:pt x="123799" y="63509"/>
                </a:cubicBezTo>
                <a:cubicBezTo>
                  <a:pt x="123282" y="65496"/>
                  <a:pt x="122566" y="67483"/>
                  <a:pt x="121811" y="69351"/>
                </a:cubicBezTo>
                <a:lnTo>
                  <a:pt x="131071" y="83261"/>
                </a:lnTo>
                <a:cubicBezTo>
                  <a:pt x="133853" y="87434"/>
                  <a:pt x="133297" y="92958"/>
                  <a:pt x="129760" y="96495"/>
                </a:cubicBezTo>
                <a:lnTo>
                  <a:pt x="122129" y="104126"/>
                </a:lnTo>
                <a:cubicBezTo>
                  <a:pt x="118592" y="107663"/>
                  <a:pt x="113068" y="108219"/>
                  <a:pt x="108895" y="105437"/>
                </a:cubicBezTo>
                <a:lnTo>
                  <a:pt x="94985" y="96177"/>
                </a:lnTo>
                <a:cubicBezTo>
                  <a:pt x="91209" y="97727"/>
                  <a:pt x="87195" y="98840"/>
                  <a:pt x="83102" y="99396"/>
                </a:cubicBezTo>
                <a:lnTo>
                  <a:pt x="75710" y="114340"/>
                </a:lnTo>
                <a:cubicBezTo>
                  <a:pt x="73484" y="118831"/>
                  <a:pt x="68397" y="121096"/>
                  <a:pt x="63588" y="119824"/>
                </a:cubicBezTo>
                <a:lnTo>
                  <a:pt x="53176" y="117042"/>
                </a:lnTo>
                <a:cubicBezTo>
                  <a:pt x="48327" y="115731"/>
                  <a:pt x="45108" y="111200"/>
                  <a:pt x="45426" y="106232"/>
                </a:cubicBezTo>
                <a:lnTo>
                  <a:pt x="46499" y="89580"/>
                </a:lnTo>
                <a:cubicBezTo>
                  <a:pt x="43200" y="87037"/>
                  <a:pt x="40299" y="84096"/>
                  <a:pt x="37795" y="80837"/>
                </a:cubicBezTo>
                <a:lnTo>
                  <a:pt x="21103" y="81910"/>
                </a:lnTo>
                <a:cubicBezTo>
                  <a:pt x="16136" y="82228"/>
                  <a:pt x="11605" y="78969"/>
                  <a:pt x="10293" y="74160"/>
                </a:cubicBezTo>
                <a:lnTo>
                  <a:pt x="7511" y="63747"/>
                </a:lnTo>
                <a:cubicBezTo>
                  <a:pt x="6240" y="58938"/>
                  <a:pt x="8505" y="53851"/>
                  <a:pt x="12996" y="51626"/>
                </a:cubicBezTo>
                <a:lnTo>
                  <a:pt x="27979" y="44234"/>
                </a:lnTo>
                <a:cubicBezTo>
                  <a:pt x="28257" y="42207"/>
                  <a:pt x="28654" y="40220"/>
                  <a:pt x="29171" y="38193"/>
                </a:cubicBezTo>
                <a:cubicBezTo>
                  <a:pt x="29728" y="36166"/>
                  <a:pt x="30363" y="34218"/>
                  <a:pt x="31158" y="32351"/>
                </a:cubicBezTo>
                <a:lnTo>
                  <a:pt x="21898" y="18480"/>
                </a:lnTo>
                <a:cubicBezTo>
                  <a:pt x="19116" y="14307"/>
                  <a:pt x="19673" y="8783"/>
                  <a:pt x="23210" y="5246"/>
                </a:cubicBezTo>
                <a:lnTo>
                  <a:pt x="30840" y="-2385"/>
                </a:lnTo>
                <a:cubicBezTo>
                  <a:pt x="34377" y="-5922"/>
                  <a:pt x="39902" y="-6478"/>
                  <a:pt x="44075" y="-3696"/>
                </a:cubicBezTo>
                <a:lnTo>
                  <a:pt x="57985" y="5564"/>
                </a:lnTo>
                <a:cubicBezTo>
                  <a:pt x="61760" y="4014"/>
                  <a:pt x="65774" y="2901"/>
                  <a:pt x="69868" y="2345"/>
                </a:cubicBezTo>
                <a:lnTo>
                  <a:pt x="77260" y="-12598"/>
                </a:lnTo>
                <a:cubicBezTo>
                  <a:pt x="79485" y="-17089"/>
                  <a:pt x="84533" y="-19355"/>
                  <a:pt x="89381" y="-18083"/>
                </a:cubicBezTo>
                <a:close/>
                <a:moveTo>
                  <a:pt x="76465" y="33384"/>
                </a:moveTo>
                <a:cubicBezTo>
                  <a:pt x="66814" y="33384"/>
                  <a:pt x="58978" y="41219"/>
                  <a:pt x="58978" y="50871"/>
                </a:cubicBezTo>
                <a:cubicBezTo>
                  <a:pt x="58978" y="60522"/>
                  <a:pt x="66814" y="68357"/>
                  <a:pt x="76465" y="68357"/>
                </a:cubicBezTo>
                <a:cubicBezTo>
                  <a:pt x="86116" y="68357"/>
                  <a:pt x="93952" y="60522"/>
                  <a:pt x="93952" y="50871"/>
                </a:cubicBezTo>
                <a:cubicBezTo>
                  <a:pt x="93952" y="41219"/>
                  <a:pt x="86116" y="33384"/>
                  <a:pt x="76465" y="33384"/>
                </a:cubicBez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3D47A550-315E-4D06-8893-766AA06BDF23}"/>
              </a:ext>
            </a:extLst>
          </p:cNvPr>
          <p:cNvSpPr>
            <a:spLocks xmlns:a="http://schemas.openxmlformats.org/drawingml/2006/main" noGrp="1"/>
          </p:cNvSpPr>
          <p:nvPr/>
        </p:nvSpPr>
        <p:spPr>
          <a:xfrm xmlns:a="http://schemas.openxmlformats.org/drawingml/2006/main">
            <a:off x="854071" y="2148948"/>
            <a:ext cx="1774829" cy="2713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600" b="1">
                <a:latin typeface="微软雅黑"/>
                <a:ea typeface="微软雅黑"/>
                <a:cs typeface="微软雅黑"/>
              </a:rPr>
              <a:t>Dijkstra算法过程</a:t>
            </a:r>
            <a:endParaRPr sz="1600"/>
          </a:p>
        </p:txBody>
      </p:sp>
      <p:sp>
        <p:nvSpPr>
          <p:cNvPr id="19" name="Text 17">
            <a:extLst xmlns:a="http://schemas.openxmlformats.org/drawingml/2006/main">
              <a:ext uri="{FF2B5EF4-FFF2-40B4-BE49-F238E27FC236}">
                <a16:creationId xmlns:a16="http://schemas.microsoft.com/office/drawing/2014/main" id="{4A4241C5-7360-4B4B-9F32-F83428975F51}"/>
              </a:ext>
            </a:extLst>
          </p:cNvPr>
          <p:cNvSpPr>
            <a:spLocks xmlns:a="http://schemas.openxmlformats.org/drawingml/2006/main" noGrp="1"/>
          </p:cNvSpPr>
          <p:nvPr/>
        </p:nvSpPr>
        <p:spPr>
          <a:xfrm xmlns:a="http://schemas.openxmlformats.org/drawingml/2006/main">
            <a:off x="854072" y="2590801"/>
            <a:ext cx="4395262" cy="200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从初始节点开始，这个算法计算每个节点和它直接相邻节点之间的距离。然后，它从里面选取距离最短的节点并且用计算出的距离来标记它们。一旦拓展完所有相邻节点，这个算法将转向下一个距离最短的节点，算法一直持续到目标节点时结束。机器人按照搜索到的最短路径进行导航。</a:t>
            </a:r>
            <a:endParaRPr sz="1600"/>
          </a:p>
        </p:txBody>
      </p:sp>
      <p:sp>
        <p:nvSpPr>
          <p:cNvPr id="53" name="矩形 52">
            <a:extLst xmlns:a="http://schemas.openxmlformats.org/drawingml/2006/main">
              <a:ext uri="{FF2B5EF4-FFF2-40B4-BE49-F238E27FC236}">
                <a16:creationId xmlns:a16="http://schemas.microsoft.com/office/drawing/2014/main" id="{B15310DE-575D-10DC-D081-017631259B00}"/>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文本框 53">
            <a:extLst xmlns:a="http://schemas.openxmlformats.org/drawingml/2006/main">
              <a:ext uri="{FF2B5EF4-FFF2-40B4-BE49-F238E27FC236}">
                <a16:creationId xmlns:a16="http://schemas.microsoft.com/office/drawing/2014/main" id="{3E57A7B2-42FE-E42E-1B22-85E608499B24}"/>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7.2.1 A*</a:t>
            </a:r>
            <a:r>
              <a:rPr sz="2400" b="1">
                <a:solidFill>
                  <a:schemeClr val="accent1"/>
                </a:solidFill>
                <a:latin typeface="+mj-lt"/>
                <a:ea typeface="+mj-lt"/>
                <a:cs typeface="+mj-lt"/>
              </a:rPr>
              <a:t>规划方法</a:t>
            </a:r>
          </a:p>
        </p:txBody>
      </p:sp>
      <p:pic>
        <p:nvPicPr>
          <p:cNvPr id="62" name="图片 1"/>
          <p:cNvPicPr>
            <a:picLocks xmlns:a="http://schemas.openxmlformats.org/drawingml/2006/main" noChangeAspect="1"/>
          </p:cNvPicPr>
          <p:nvPr/>
        </p:nvPicPr>
        <p:blipFill>
          <a:blip xmlns:r="http://schemas.openxmlformats.org/officeDocument/2006/relationships" xmlns:a="http://schemas.openxmlformats.org/drawingml/2006/main" r:embed="Rd3e8e37b7b2542c7"/>
          <a:srcRect xmlns:a="http://schemas.openxmlformats.org/drawingml/2006/main" l="0" t="0" r="0" b="0"/>
          <a:stretch xmlns:a="http://schemas.openxmlformats.org/drawingml/2006/main">
            <a:fillRect l="0" t="0" r="0" b="0"/>
          </a:stretch>
        </p:blipFill>
        <p:spPr>
          <a:xfrm xmlns:a="http://schemas.openxmlformats.org/drawingml/2006/main">
            <a:off x="5748867" y="1905079"/>
            <a:ext cx="5946650" cy="482767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24257634"/>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91CD33E3-468C-48F8-A41D-4B25DC40C77A}"/>
              </a:ext>
            </a:extLst>
          </p:cNvPr>
          <p:cNvSpPr>
            <a:spLocks xmlns:a="http://schemas.openxmlformats.org/drawingml/2006/main" noGrp="1"/>
          </p:cNvSpPr>
          <p:nvPr/>
        </p:nvSpPr>
        <p:spPr>
          <a:xfrm xmlns:a="http://schemas.openxmlformats.org/drawingml/2006/main">
            <a:off x="392386" y="1700340"/>
            <a:ext cx="11088414" cy="1410722"/>
          </a:xfrm>
          <a:custGeom xmlns:a="http://schemas.openxmlformats.org/drawingml/2006/main">
            <a:rect l="l" t="t" r="r" b="b"/>
            <a:pathLst>
              <a:path w="7408625" h="1410722">
                <a:moveTo>
                  <a:pt x="37370" y="0"/>
                </a:moveTo>
                <a:lnTo>
                  <a:pt x="7296515" y="0"/>
                </a:lnTo>
                <a:cubicBezTo>
                  <a:pt x="7358432" y="0"/>
                  <a:pt x="7408625" y="50193"/>
                  <a:pt x="7408625" y="112110"/>
                </a:cubicBezTo>
                <a:lnTo>
                  <a:pt x="7408625" y="1298612"/>
                </a:lnTo>
                <a:cubicBezTo>
                  <a:pt x="7408625" y="1360528"/>
                  <a:pt x="7358432" y="1410722"/>
                  <a:pt x="7296515" y="1410722"/>
                </a:cubicBezTo>
                <a:lnTo>
                  <a:pt x="37370" y="1410722"/>
                </a:lnTo>
                <a:cubicBezTo>
                  <a:pt x="16731" y="1410722"/>
                  <a:pt x="0" y="1393991"/>
                  <a:pt x="0" y="1373352"/>
                </a:cubicBezTo>
                <a:lnTo>
                  <a:pt x="0" y="37370"/>
                </a:lnTo>
                <a:cubicBezTo>
                  <a:pt x="0" y="16745"/>
                  <a:pt x="16745" y="0"/>
                  <a:pt x="3737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F8930EF7-FBDB-4301-9A89-5F5FB7575B10}"/>
              </a:ext>
            </a:extLst>
          </p:cNvPr>
          <p:cNvSpPr>
            <a:spLocks xmlns:a="http://schemas.openxmlformats.org/drawingml/2006/main" noGrp="1"/>
          </p:cNvSpPr>
          <p:nvPr/>
        </p:nvSpPr>
        <p:spPr>
          <a:xfrm xmlns:a="http://schemas.openxmlformats.org/drawingml/2006/main">
            <a:off x="392386" y="1700340"/>
            <a:ext cx="37370" cy="1410722"/>
          </a:xfrm>
          <a:custGeom xmlns:a="http://schemas.openxmlformats.org/drawingml/2006/main">
            <a:rect l="l" t="t" r="r" b="b"/>
            <a:pathLst>
              <a:path w="37370" h="1410722">
                <a:moveTo>
                  <a:pt x="37370" y="0"/>
                </a:moveTo>
                <a:lnTo>
                  <a:pt x="37370" y="0"/>
                </a:lnTo>
                <a:lnTo>
                  <a:pt x="37370" y="1410722"/>
                </a:lnTo>
                <a:lnTo>
                  <a:pt x="37370" y="1410722"/>
                </a:lnTo>
                <a:cubicBezTo>
                  <a:pt x="16731" y="1410722"/>
                  <a:pt x="0" y="1393991"/>
                  <a:pt x="0" y="1373352"/>
                </a:cubicBezTo>
                <a:lnTo>
                  <a:pt x="0" y="37370"/>
                </a:lnTo>
                <a:cubicBezTo>
                  <a:pt x="0" y="16745"/>
                  <a:pt x="16745" y="0"/>
                  <a:pt x="3737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903D1B46-3722-4E09-9571-C8126EF9B414}"/>
              </a:ext>
            </a:extLst>
          </p:cNvPr>
          <p:cNvSpPr>
            <a:spLocks xmlns:a="http://schemas.openxmlformats.org/drawingml/2006/main" noGrp="1"/>
          </p:cNvSpPr>
          <p:nvPr/>
        </p:nvSpPr>
        <p:spPr>
          <a:xfrm xmlns:a="http://schemas.openxmlformats.org/drawingml/2006/main">
            <a:off x="597922" y="1961931"/>
            <a:ext cx="252248" cy="224221"/>
          </a:xfrm>
          <a:custGeom xmlns:a="http://schemas.openxmlformats.org/drawingml/2006/main">
            <a:rect l="l" t="t" r="r" b="b"/>
            <a:pathLst>
              <a:path w="252248" h="224221">
                <a:moveTo>
                  <a:pt x="135540" y="-8277"/>
                </a:moveTo>
                <a:cubicBezTo>
                  <a:pt x="133744" y="-11780"/>
                  <a:pt x="130109" y="-14014"/>
                  <a:pt x="126168" y="-14014"/>
                </a:cubicBezTo>
                <a:cubicBezTo>
                  <a:pt x="122227" y="-14014"/>
                  <a:pt x="118592" y="-11780"/>
                  <a:pt x="116796" y="-8277"/>
                </a:cubicBezTo>
                <a:lnTo>
                  <a:pt x="84564" y="54873"/>
                </a:lnTo>
                <a:lnTo>
                  <a:pt x="14539" y="65996"/>
                </a:lnTo>
                <a:cubicBezTo>
                  <a:pt x="10642" y="66609"/>
                  <a:pt x="7401" y="69368"/>
                  <a:pt x="6175" y="73134"/>
                </a:cubicBezTo>
                <a:cubicBezTo>
                  <a:pt x="4949" y="76901"/>
                  <a:pt x="5956" y="81017"/>
                  <a:pt x="8715" y="83820"/>
                </a:cubicBezTo>
                <a:lnTo>
                  <a:pt x="58814" y="133963"/>
                </a:lnTo>
                <a:lnTo>
                  <a:pt x="47778" y="203988"/>
                </a:lnTo>
                <a:cubicBezTo>
                  <a:pt x="47165" y="207886"/>
                  <a:pt x="48786" y="211827"/>
                  <a:pt x="51982" y="214148"/>
                </a:cubicBezTo>
                <a:cubicBezTo>
                  <a:pt x="55179" y="216469"/>
                  <a:pt x="59383" y="216820"/>
                  <a:pt x="62931" y="215024"/>
                </a:cubicBezTo>
                <a:lnTo>
                  <a:pt x="126168" y="182880"/>
                </a:lnTo>
                <a:lnTo>
                  <a:pt x="189361" y="215024"/>
                </a:lnTo>
                <a:cubicBezTo>
                  <a:pt x="192865" y="216820"/>
                  <a:pt x="197113" y="216469"/>
                  <a:pt x="200310" y="214148"/>
                </a:cubicBezTo>
                <a:cubicBezTo>
                  <a:pt x="203507" y="211827"/>
                  <a:pt x="205127" y="207930"/>
                  <a:pt x="204514" y="203988"/>
                </a:cubicBezTo>
                <a:lnTo>
                  <a:pt x="193434" y="133963"/>
                </a:lnTo>
                <a:lnTo>
                  <a:pt x="243533" y="83820"/>
                </a:lnTo>
                <a:cubicBezTo>
                  <a:pt x="246336" y="81017"/>
                  <a:pt x="247300" y="76901"/>
                  <a:pt x="246073" y="73134"/>
                </a:cubicBezTo>
                <a:cubicBezTo>
                  <a:pt x="244847" y="69368"/>
                  <a:pt x="241650" y="66609"/>
                  <a:pt x="237709" y="65996"/>
                </a:cubicBezTo>
                <a:lnTo>
                  <a:pt x="167728" y="54873"/>
                </a:lnTo>
                <a:lnTo>
                  <a:pt x="135540" y="-8277"/>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3ED09107-26A8-4E3B-9B90-4DAAF7C09E99}"/>
              </a:ext>
            </a:extLst>
          </p:cNvPr>
          <p:cNvSpPr>
            <a:spLocks xmlns:a="http://schemas.openxmlformats.org/drawingml/2006/main" noGrp="1"/>
          </p:cNvSpPr>
          <p:nvPr/>
        </p:nvSpPr>
        <p:spPr>
          <a:xfrm xmlns:a="http://schemas.openxmlformats.org/drawingml/2006/main">
            <a:off x="960237" y="1924561"/>
            <a:ext cx="6726621" cy="2989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A*算法概述</a:t>
            </a:r>
            <a:endParaRPr/>
          </a:p>
        </p:txBody>
      </p:sp>
      <p:sp>
        <p:nvSpPr>
          <p:cNvPr id="9" name="Text 7">
            <a:extLst xmlns:a="http://schemas.openxmlformats.org/drawingml/2006/main">
              <a:ext uri="{FF2B5EF4-FFF2-40B4-BE49-F238E27FC236}">
                <a16:creationId xmlns:a16="http://schemas.microsoft.com/office/drawing/2014/main" id="{ED37FEC4-275A-4301-9351-7F32A0990FC3}"/>
              </a:ext>
            </a:extLst>
          </p:cNvPr>
          <p:cNvSpPr>
            <a:spLocks xmlns:a="http://schemas.openxmlformats.org/drawingml/2006/main" noGrp="1"/>
          </p:cNvSpPr>
          <p:nvPr/>
        </p:nvSpPr>
        <p:spPr>
          <a:xfrm xmlns:a="http://schemas.openxmlformats.org/drawingml/2006/main">
            <a:off x="960237" y="2335632"/>
            <a:ext cx="10085260" cy="55120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A*算法是</a:t>
            </a:r>
            <a:r>
              <a:rPr sz="1600" b="1">
                <a:latin typeface="微软雅黑"/>
                <a:ea typeface="微软雅黑"/>
                <a:cs typeface="微软雅黑"/>
              </a:rPr>
              <a:t>传统路径规划算法</a:t>
            </a:r>
            <a:r>
              <a:rPr sz="1600">
                <a:latin typeface="微软雅黑"/>
                <a:ea typeface="微软雅黑"/>
                <a:cs typeface="微软雅黑"/>
              </a:rPr>
              <a:t>中基于图搜索的典型算法，该算法采用</a:t>
            </a:r>
            <a:r>
              <a:rPr sz="1600">
                <a:highlight>
                  <a:srgbClr val="E6B450">
                    <a:alpha val="20000"/>
                  </a:srgbClr>
                </a:highlight>
                <a:latin typeface="微软雅黑"/>
                <a:ea typeface="微软雅黑"/>
                <a:cs typeface="微软雅黑"/>
              </a:rPr>
              <a:t> 启发式搜索策略 </a:t>
            </a:r>
            <a:r>
              <a:rPr sz="1600">
                <a:latin typeface="微软雅黑"/>
                <a:ea typeface="微软雅黑"/>
                <a:cs typeface="微软雅黑"/>
              </a:rPr>
              <a:t>，尤其适用于</a:t>
            </a:r>
            <a:r>
              <a:rPr sz="1600">
                <a:highlight>
                  <a:srgbClr val="E6B450">
                    <a:alpha val="20000"/>
                  </a:srgbClr>
                </a:highlight>
                <a:latin typeface="微软雅黑"/>
                <a:ea typeface="微软雅黑"/>
                <a:cs typeface="微软雅黑"/>
              </a:rPr>
              <a:t> 静态且已知 </a:t>
            </a:r>
            <a:r>
              <a:rPr sz="1600">
                <a:latin typeface="微软雅黑"/>
                <a:ea typeface="微软雅黑"/>
                <a:cs typeface="微软雅黑"/>
              </a:rPr>
              <a:t>的地图环境下的路径规划问题。</a:t>
            </a:r>
            <a:endParaRPr sz="1600"/>
          </a:p>
        </p:txBody>
      </p:sp>
      <p:sp>
        <p:nvSpPr>
          <p:cNvPr id="10" name="Shape 8">
            <a:extLst xmlns:a="http://schemas.openxmlformats.org/drawingml/2006/main">
              <a:ext uri="{FF2B5EF4-FFF2-40B4-BE49-F238E27FC236}">
                <a16:creationId xmlns:a16="http://schemas.microsoft.com/office/drawing/2014/main" id="{FA1CE539-7E81-4DA9-88AA-34B4212CA5C0}"/>
              </a:ext>
            </a:extLst>
          </p:cNvPr>
          <p:cNvSpPr>
            <a:spLocks xmlns:a="http://schemas.openxmlformats.org/drawingml/2006/main" noGrp="1"/>
          </p:cNvSpPr>
          <p:nvPr/>
        </p:nvSpPr>
        <p:spPr>
          <a:xfrm xmlns:a="http://schemas.openxmlformats.org/drawingml/2006/main">
            <a:off x="378372" y="3335283"/>
            <a:ext cx="11102398" cy="1924561"/>
          </a:xfrm>
          <a:custGeom xmlns:a="http://schemas.openxmlformats.org/drawingml/2006/main">
            <a:rect l="l" t="t" r="r" b="b"/>
            <a:pathLst>
              <a:path w="7417968" h="1924561">
                <a:moveTo>
                  <a:pt x="112106" y="0"/>
                </a:moveTo>
                <a:lnTo>
                  <a:pt x="7305862" y="0"/>
                </a:lnTo>
                <a:cubicBezTo>
                  <a:pt x="7367776" y="0"/>
                  <a:pt x="7417968" y="50191"/>
                  <a:pt x="7417968" y="112106"/>
                </a:cubicBezTo>
                <a:lnTo>
                  <a:pt x="7417968" y="1812455"/>
                </a:lnTo>
                <a:cubicBezTo>
                  <a:pt x="7417968" y="1874369"/>
                  <a:pt x="7367776" y="1924561"/>
                  <a:pt x="7305862" y="1924561"/>
                </a:cubicBezTo>
                <a:lnTo>
                  <a:pt x="112106" y="1924561"/>
                </a:lnTo>
                <a:cubicBezTo>
                  <a:pt x="50191" y="1924561"/>
                  <a:pt x="0" y="1874369"/>
                  <a:pt x="0" y="1812455"/>
                </a:cubicBezTo>
                <a:lnTo>
                  <a:pt x="0" y="112106"/>
                </a:lnTo>
                <a:cubicBezTo>
                  <a:pt x="0" y="50191"/>
                  <a:pt x="50191" y="0"/>
                  <a:pt x="112106"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1" name="Shape 9">
            <a:extLst xmlns:a="http://schemas.openxmlformats.org/drawingml/2006/main">
              <a:ext uri="{FF2B5EF4-FFF2-40B4-BE49-F238E27FC236}">
                <a16:creationId xmlns:a16="http://schemas.microsoft.com/office/drawing/2014/main" id="{232A1F21-1805-43FB-9D1C-E33AF7E5AF1D}"/>
              </a:ext>
            </a:extLst>
          </p:cNvPr>
          <p:cNvSpPr>
            <a:spLocks xmlns:a="http://schemas.openxmlformats.org/drawingml/2006/main" noGrp="1"/>
          </p:cNvSpPr>
          <p:nvPr/>
        </p:nvSpPr>
        <p:spPr>
          <a:xfrm xmlns:a="http://schemas.openxmlformats.org/drawingml/2006/main">
            <a:off x="663320" y="3601545"/>
            <a:ext cx="168166" cy="224221"/>
          </a:xfrm>
          <a:custGeom xmlns:a="http://schemas.openxmlformats.org/drawingml/2006/main">
            <a:rect l="l" t="t" r="r" b="b"/>
            <a:pathLst>
              <a:path w="168166" h="224221">
                <a:moveTo>
                  <a:pt x="28028" y="0"/>
                </a:moveTo>
                <a:cubicBezTo>
                  <a:pt x="12569" y="0"/>
                  <a:pt x="0" y="12569"/>
                  <a:pt x="0" y="28028"/>
                </a:cubicBezTo>
                <a:lnTo>
                  <a:pt x="0" y="196193"/>
                </a:lnTo>
                <a:cubicBezTo>
                  <a:pt x="0" y="211652"/>
                  <a:pt x="12569" y="224221"/>
                  <a:pt x="28028" y="224221"/>
                </a:cubicBezTo>
                <a:lnTo>
                  <a:pt x="140138" y="224221"/>
                </a:lnTo>
                <a:cubicBezTo>
                  <a:pt x="155597" y="224221"/>
                  <a:pt x="168166" y="211652"/>
                  <a:pt x="168166" y="196193"/>
                </a:cubicBezTo>
                <a:lnTo>
                  <a:pt x="168166" y="28028"/>
                </a:lnTo>
                <a:cubicBezTo>
                  <a:pt x="168166" y="12569"/>
                  <a:pt x="155597" y="0"/>
                  <a:pt x="140138" y="0"/>
                </a:cubicBezTo>
                <a:lnTo>
                  <a:pt x="28028" y="0"/>
                </a:lnTo>
                <a:close/>
                <a:moveTo>
                  <a:pt x="42041" y="28028"/>
                </a:moveTo>
                <a:lnTo>
                  <a:pt x="126124" y="28028"/>
                </a:lnTo>
                <a:cubicBezTo>
                  <a:pt x="133876" y="28028"/>
                  <a:pt x="140138" y="34290"/>
                  <a:pt x="140138" y="42041"/>
                </a:cubicBezTo>
                <a:lnTo>
                  <a:pt x="140138" y="56055"/>
                </a:lnTo>
                <a:cubicBezTo>
                  <a:pt x="140138" y="63807"/>
                  <a:pt x="133876" y="70069"/>
                  <a:pt x="126124" y="70069"/>
                </a:cubicBezTo>
                <a:lnTo>
                  <a:pt x="42041" y="70069"/>
                </a:lnTo>
                <a:cubicBezTo>
                  <a:pt x="34290" y="70069"/>
                  <a:pt x="28028" y="63807"/>
                  <a:pt x="28028" y="56055"/>
                </a:cubicBezTo>
                <a:lnTo>
                  <a:pt x="28028" y="42041"/>
                </a:lnTo>
                <a:cubicBezTo>
                  <a:pt x="28028" y="34290"/>
                  <a:pt x="34290" y="28028"/>
                  <a:pt x="42041" y="28028"/>
                </a:cubicBezTo>
                <a:close/>
                <a:moveTo>
                  <a:pt x="49048" y="101600"/>
                </a:moveTo>
                <a:cubicBezTo>
                  <a:pt x="49048" y="107401"/>
                  <a:pt x="44339" y="112110"/>
                  <a:pt x="38538" y="112110"/>
                </a:cubicBezTo>
                <a:cubicBezTo>
                  <a:pt x="32737" y="112110"/>
                  <a:pt x="28028" y="107401"/>
                  <a:pt x="28028" y="101600"/>
                </a:cubicBezTo>
                <a:cubicBezTo>
                  <a:pt x="28028" y="95799"/>
                  <a:pt x="32737" y="91090"/>
                  <a:pt x="38538" y="91090"/>
                </a:cubicBezTo>
                <a:cubicBezTo>
                  <a:pt x="44339" y="91090"/>
                  <a:pt x="49048" y="95799"/>
                  <a:pt x="49048" y="101600"/>
                </a:cubicBezTo>
                <a:close/>
                <a:moveTo>
                  <a:pt x="84083" y="112110"/>
                </a:moveTo>
                <a:cubicBezTo>
                  <a:pt x="78282" y="112110"/>
                  <a:pt x="73572" y="107401"/>
                  <a:pt x="73572" y="101600"/>
                </a:cubicBezTo>
                <a:cubicBezTo>
                  <a:pt x="73572" y="95799"/>
                  <a:pt x="78282" y="91090"/>
                  <a:pt x="84083" y="91090"/>
                </a:cubicBezTo>
                <a:cubicBezTo>
                  <a:pt x="89884" y="91090"/>
                  <a:pt x="94593" y="95799"/>
                  <a:pt x="94593" y="101600"/>
                </a:cubicBezTo>
                <a:cubicBezTo>
                  <a:pt x="94593" y="107401"/>
                  <a:pt x="89884" y="112110"/>
                  <a:pt x="84083" y="112110"/>
                </a:cubicBezTo>
                <a:close/>
                <a:moveTo>
                  <a:pt x="140138" y="101600"/>
                </a:moveTo>
                <a:cubicBezTo>
                  <a:pt x="140138" y="107401"/>
                  <a:pt x="135428" y="112110"/>
                  <a:pt x="129628" y="112110"/>
                </a:cubicBezTo>
                <a:cubicBezTo>
                  <a:pt x="123827" y="112110"/>
                  <a:pt x="119117" y="107401"/>
                  <a:pt x="119117" y="101600"/>
                </a:cubicBezTo>
                <a:cubicBezTo>
                  <a:pt x="119117" y="95799"/>
                  <a:pt x="123827" y="91090"/>
                  <a:pt x="129628" y="91090"/>
                </a:cubicBezTo>
                <a:cubicBezTo>
                  <a:pt x="135428" y="91090"/>
                  <a:pt x="140138" y="95799"/>
                  <a:pt x="140138" y="101600"/>
                </a:cubicBezTo>
                <a:close/>
                <a:moveTo>
                  <a:pt x="38538" y="154152"/>
                </a:moveTo>
                <a:cubicBezTo>
                  <a:pt x="32737" y="154152"/>
                  <a:pt x="28028" y="149442"/>
                  <a:pt x="28028" y="143641"/>
                </a:cubicBezTo>
                <a:cubicBezTo>
                  <a:pt x="28028" y="137841"/>
                  <a:pt x="32737" y="133131"/>
                  <a:pt x="38538" y="133131"/>
                </a:cubicBezTo>
                <a:cubicBezTo>
                  <a:pt x="44339" y="133131"/>
                  <a:pt x="49048" y="137841"/>
                  <a:pt x="49048" y="143641"/>
                </a:cubicBezTo>
                <a:cubicBezTo>
                  <a:pt x="49048" y="149442"/>
                  <a:pt x="44339" y="154152"/>
                  <a:pt x="38538" y="154152"/>
                </a:cubicBezTo>
                <a:close/>
                <a:moveTo>
                  <a:pt x="94593" y="143641"/>
                </a:moveTo>
                <a:cubicBezTo>
                  <a:pt x="94593" y="149442"/>
                  <a:pt x="89884" y="154152"/>
                  <a:pt x="84083" y="154152"/>
                </a:cubicBezTo>
                <a:cubicBezTo>
                  <a:pt x="78282" y="154152"/>
                  <a:pt x="73572" y="149442"/>
                  <a:pt x="73572" y="143641"/>
                </a:cubicBezTo>
                <a:cubicBezTo>
                  <a:pt x="73572" y="137841"/>
                  <a:pt x="78282" y="133131"/>
                  <a:pt x="84083" y="133131"/>
                </a:cubicBezTo>
                <a:cubicBezTo>
                  <a:pt x="89884" y="133131"/>
                  <a:pt x="94593" y="137841"/>
                  <a:pt x="94593" y="143641"/>
                </a:cubicBezTo>
                <a:close/>
                <a:moveTo>
                  <a:pt x="129628" y="154152"/>
                </a:moveTo>
                <a:cubicBezTo>
                  <a:pt x="123827" y="154152"/>
                  <a:pt x="119117" y="149442"/>
                  <a:pt x="119117" y="143641"/>
                </a:cubicBezTo>
                <a:cubicBezTo>
                  <a:pt x="119117" y="137841"/>
                  <a:pt x="123827" y="133131"/>
                  <a:pt x="129628" y="133131"/>
                </a:cubicBezTo>
                <a:cubicBezTo>
                  <a:pt x="135428" y="133131"/>
                  <a:pt x="140138" y="137841"/>
                  <a:pt x="140138" y="143641"/>
                </a:cubicBezTo>
                <a:cubicBezTo>
                  <a:pt x="140138" y="149442"/>
                  <a:pt x="135428" y="154152"/>
                  <a:pt x="129628" y="154152"/>
                </a:cubicBezTo>
                <a:close/>
                <a:moveTo>
                  <a:pt x="28028" y="185683"/>
                </a:moveTo>
                <a:cubicBezTo>
                  <a:pt x="28028" y="179858"/>
                  <a:pt x="32713" y="175172"/>
                  <a:pt x="38538" y="175172"/>
                </a:cubicBezTo>
                <a:lnTo>
                  <a:pt x="87586" y="175172"/>
                </a:lnTo>
                <a:cubicBezTo>
                  <a:pt x="93411" y="175172"/>
                  <a:pt x="98097" y="179858"/>
                  <a:pt x="98097" y="185683"/>
                </a:cubicBezTo>
                <a:cubicBezTo>
                  <a:pt x="98097" y="191507"/>
                  <a:pt x="93411" y="196193"/>
                  <a:pt x="87586" y="196193"/>
                </a:cubicBezTo>
                <a:lnTo>
                  <a:pt x="38538" y="196193"/>
                </a:lnTo>
                <a:cubicBezTo>
                  <a:pt x="32713" y="196193"/>
                  <a:pt x="28028" y="191507"/>
                  <a:pt x="28028" y="185683"/>
                </a:cubicBezTo>
                <a:close/>
                <a:moveTo>
                  <a:pt x="129628" y="175172"/>
                </a:moveTo>
                <a:cubicBezTo>
                  <a:pt x="135452" y="175172"/>
                  <a:pt x="140138" y="179858"/>
                  <a:pt x="140138" y="185683"/>
                </a:cubicBezTo>
                <a:cubicBezTo>
                  <a:pt x="140138" y="191507"/>
                  <a:pt x="135452" y="196193"/>
                  <a:pt x="129628" y="196193"/>
                </a:cubicBezTo>
                <a:cubicBezTo>
                  <a:pt x="123803" y="196193"/>
                  <a:pt x="119117" y="191507"/>
                  <a:pt x="119117" y="185683"/>
                </a:cubicBezTo>
                <a:cubicBezTo>
                  <a:pt x="119117" y="179858"/>
                  <a:pt x="123803" y="175172"/>
                  <a:pt x="129628" y="175172"/>
                </a:cubicBezTo>
                <a:close/>
              </a:path>
            </a:pathLst>
          </a:custGeom>
          <a:solidFill xmlns:a="http://schemas.openxmlformats.org/drawingml/2006/main">
            <a:srgbClr val="E6B450"/>
          </a:solidFill>
        </p:spPr>
      </p:sp>
      <p:sp>
        <p:nvSpPr>
          <p:cNvPr id="12" name="Text 10">
            <a:extLst xmlns:a="http://schemas.openxmlformats.org/drawingml/2006/main">
              <a:ext uri="{FF2B5EF4-FFF2-40B4-BE49-F238E27FC236}">
                <a16:creationId xmlns:a16="http://schemas.microsoft.com/office/drawing/2014/main" id="{18CAAEA3-C53D-4915-A340-B84741202935}"/>
              </a:ext>
            </a:extLst>
          </p:cNvPr>
          <p:cNvSpPr>
            <a:spLocks xmlns:a="http://schemas.openxmlformats.org/drawingml/2006/main" noGrp="1"/>
          </p:cNvSpPr>
          <p:nvPr/>
        </p:nvSpPr>
        <p:spPr>
          <a:xfrm xmlns:a="http://schemas.openxmlformats.org/drawingml/2006/main">
            <a:off x="1037021" y="3564175"/>
            <a:ext cx="5072993" cy="2989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代价函数</a:t>
            </a:r>
            <a:endParaRPr/>
          </a:p>
        </p:txBody>
      </p:sp>
      <p:sp>
        <p:nvSpPr>
          <p:cNvPr id="13" name="Text 11">
            <a:extLst xmlns:a="http://schemas.openxmlformats.org/drawingml/2006/main">
              <a:ext uri="{FF2B5EF4-FFF2-40B4-BE49-F238E27FC236}">
                <a16:creationId xmlns:a16="http://schemas.microsoft.com/office/drawing/2014/main" id="{BDB0A0EA-6E28-4BA8-BDC5-B6D158711768}"/>
              </a:ext>
            </a:extLst>
          </p:cNvPr>
          <p:cNvSpPr>
            <a:spLocks xmlns:a="http://schemas.openxmlformats.org/drawingml/2006/main" noGrp="1"/>
          </p:cNvSpPr>
          <p:nvPr/>
        </p:nvSpPr>
        <p:spPr>
          <a:xfrm xmlns:a="http://schemas.openxmlformats.org/drawingml/2006/main">
            <a:off x="1037021" y="3975246"/>
            <a:ext cx="5044966" cy="27093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A*算法节点的扩展基于代价函数</a:t>
            </a:r>
            <a:r>
              <a:rPr sz="1600" b="1">
                <a:latin typeface="微软雅黑"/>
                <a:ea typeface="微软雅黑"/>
                <a:cs typeface="微软雅黑"/>
              </a:rPr>
              <a:t>f(n)</a:t>
            </a:r>
            <a:r>
              <a:rPr sz="1600">
                <a:latin typeface="微软雅黑"/>
                <a:ea typeface="微软雅黑"/>
                <a:cs typeface="微软雅黑"/>
              </a:rPr>
              <a:t>进行，f(n)</a:t>
            </a:r>
            <a:r>
              <a:rPr sz="1600">
                <a:latin typeface="微软雅黑"/>
                <a:ea typeface="微软雅黑"/>
                <a:cs typeface="微软雅黑"/>
              </a:rPr>
              <a:t>的定义为</a:t>
            </a:r>
            <a:endParaRPr sz="2000"/>
          </a:p>
        </p:txBody>
      </p:sp>
      <p:sp>
        <p:nvSpPr>
          <p:cNvPr id="14" name="Shape 12">
            <a:extLst xmlns:a="http://schemas.openxmlformats.org/drawingml/2006/main">
              <a:ext uri="{FF2B5EF4-FFF2-40B4-BE49-F238E27FC236}">
                <a16:creationId xmlns:a16="http://schemas.microsoft.com/office/drawing/2014/main" id="{999297A1-7042-4266-8AE1-46847FB653AA}"/>
              </a:ext>
            </a:extLst>
          </p:cNvPr>
          <p:cNvSpPr>
            <a:spLocks xmlns:a="http://schemas.openxmlformats.org/drawingml/2006/main" noGrp="1"/>
          </p:cNvSpPr>
          <p:nvPr/>
        </p:nvSpPr>
        <p:spPr>
          <a:xfrm xmlns:a="http://schemas.openxmlformats.org/drawingml/2006/main">
            <a:off x="2442489" y="4397995"/>
            <a:ext cx="4960883" cy="635292"/>
          </a:xfrm>
          <a:custGeom xmlns:a="http://schemas.openxmlformats.org/drawingml/2006/main">
            <a:rect l="l" t="t" r="r" b="b"/>
            <a:pathLst>
              <a:path w="4960883" h="635292">
                <a:moveTo>
                  <a:pt x="74742" y="0"/>
                </a:moveTo>
                <a:lnTo>
                  <a:pt x="4886141" y="0"/>
                </a:lnTo>
                <a:cubicBezTo>
                  <a:pt x="4927420" y="0"/>
                  <a:pt x="4960883" y="33463"/>
                  <a:pt x="4960883" y="74742"/>
                </a:cubicBezTo>
                <a:lnTo>
                  <a:pt x="4960883" y="560550"/>
                </a:lnTo>
                <a:cubicBezTo>
                  <a:pt x="4960883" y="601829"/>
                  <a:pt x="4927420" y="635292"/>
                  <a:pt x="4886141" y="635292"/>
                </a:cubicBezTo>
                <a:lnTo>
                  <a:pt x="74742" y="635292"/>
                </a:lnTo>
                <a:cubicBezTo>
                  <a:pt x="33463" y="635292"/>
                  <a:pt x="0" y="601829"/>
                  <a:pt x="0" y="560550"/>
                </a:cubicBezTo>
                <a:lnTo>
                  <a:pt x="0" y="74742"/>
                </a:lnTo>
                <a:cubicBezTo>
                  <a:pt x="0" y="33463"/>
                  <a:pt x="33463" y="0"/>
                  <a:pt x="74742" y="0"/>
                </a:cubicBezTo>
                <a:close/>
              </a:path>
            </a:pathLst>
          </a:custGeom>
          <a:solidFill xmlns:a="http://schemas.openxmlformats.org/drawingml/2006/main">
            <a:srgbClr val="5F87A7">
              <a:alpha val="20000"/>
            </a:srgbClr>
          </a:solidFill>
        </p:spPr>
      </p:sp>
      <p:sp>
        <p:nvSpPr>
          <p:cNvPr id="15" name="Text 13">
            <a:extLst xmlns:a="http://schemas.openxmlformats.org/drawingml/2006/main">
              <a:ext uri="{FF2B5EF4-FFF2-40B4-BE49-F238E27FC236}">
                <a16:creationId xmlns:a16="http://schemas.microsoft.com/office/drawing/2014/main" id="{80D22FAA-061D-4CCF-8087-09F95F8A02E4}"/>
              </a:ext>
            </a:extLst>
          </p:cNvPr>
          <p:cNvSpPr>
            <a:spLocks xmlns:a="http://schemas.openxmlformats.org/drawingml/2006/main" noGrp="1"/>
          </p:cNvSpPr>
          <p:nvPr/>
        </p:nvSpPr>
        <p:spPr>
          <a:xfrm xmlns:a="http://schemas.openxmlformats.org/drawingml/2006/main">
            <a:off x="2521900" y="4547476"/>
            <a:ext cx="4802060" cy="33633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00000"/>
              </a:lnSpc>
              <a:buNone/>
            </a:pPr>
            <a:r>
              <a:rPr sz="2205" b="1">
                <a:latin typeface="微软雅黑"/>
                <a:ea typeface="微软雅黑"/>
                <a:cs typeface="微软雅黑"/>
              </a:rPr>
              <a:t>f(n) = g(n) + h(n)</a:t>
            </a:r>
            <a:endParaRPr sz="1600"/>
          </a:p>
        </p:txBody>
      </p:sp>
      <p:sp>
        <p:nvSpPr>
          <p:cNvPr id="16" name="Shape 14">
            <a:extLst xmlns:a="http://schemas.openxmlformats.org/drawingml/2006/main">
              <a:ext uri="{FF2B5EF4-FFF2-40B4-BE49-F238E27FC236}">
                <a16:creationId xmlns:a16="http://schemas.microsoft.com/office/drawing/2014/main" id="{434AA82C-3485-451D-97CC-D479D5AA5197}"/>
              </a:ext>
            </a:extLst>
          </p:cNvPr>
          <p:cNvSpPr>
            <a:spLocks xmlns:a="http://schemas.openxmlformats.org/drawingml/2006/main" noGrp="1"/>
          </p:cNvSpPr>
          <p:nvPr/>
        </p:nvSpPr>
        <p:spPr>
          <a:xfrm xmlns:a="http://schemas.openxmlformats.org/drawingml/2006/main">
            <a:off x="392386" y="5491070"/>
            <a:ext cx="5402284" cy="1220879"/>
          </a:xfrm>
          <a:custGeom xmlns:a="http://schemas.openxmlformats.org/drawingml/2006/main">
            <a:rect l="l" t="t" r="r" b="b"/>
            <a:pathLst>
              <a:path w="3624901" h="990308">
                <a:moveTo>
                  <a:pt x="37370" y="0"/>
                </a:moveTo>
                <a:lnTo>
                  <a:pt x="3512788" y="0"/>
                </a:lnTo>
                <a:cubicBezTo>
                  <a:pt x="3574707" y="0"/>
                  <a:pt x="3624901" y="50195"/>
                  <a:pt x="3624901" y="112113"/>
                </a:cubicBezTo>
                <a:lnTo>
                  <a:pt x="3624901" y="878195"/>
                </a:lnTo>
                <a:cubicBezTo>
                  <a:pt x="3624901" y="940113"/>
                  <a:pt x="3574707" y="990308"/>
                  <a:pt x="3512788" y="990308"/>
                </a:cubicBezTo>
                <a:lnTo>
                  <a:pt x="37370" y="990308"/>
                </a:lnTo>
                <a:cubicBezTo>
                  <a:pt x="16731" y="990308"/>
                  <a:pt x="0" y="973577"/>
                  <a:pt x="0" y="952938"/>
                </a:cubicBezTo>
                <a:lnTo>
                  <a:pt x="0" y="37370"/>
                </a:lnTo>
                <a:cubicBezTo>
                  <a:pt x="0" y="16745"/>
                  <a:pt x="16745" y="0"/>
                  <a:pt x="37370" y="0"/>
                </a:cubicBezTo>
                <a:close/>
              </a:path>
            </a:pathLst>
          </a:custGeom>
          <a:solidFill xmlns:a="http://schemas.openxmlformats.org/drawingml/2006/main">
            <a:srgbClr val="5F87A7">
              <a:alpha val="10196"/>
            </a:srgbClr>
          </a:solidFill>
        </p:spPr>
      </p:sp>
      <p:sp>
        <p:nvSpPr>
          <p:cNvPr id="17" name="Shape 15">
            <a:extLst xmlns:a="http://schemas.openxmlformats.org/drawingml/2006/main">
              <a:ext uri="{FF2B5EF4-FFF2-40B4-BE49-F238E27FC236}">
                <a16:creationId xmlns:a16="http://schemas.microsoft.com/office/drawing/2014/main" id="{BE93B87E-DA61-453E-9F13-B7AF05CC83A8}"/>
              </a:ext>
            </a:extLst>
          </p:cNvPr>
          <p:cNvSpPr>
            <a:spLocks xmlns:a="http://schemas.openxmlformats.org/drawingml/2006/main" noGrp="1"/>
          </p:cNvSpPr>
          <p:nvPr/>
        </p:nvSpPr>
        <p:spPr>
          <a:xfrm xmlns:a="http://schemas.openxmlformats.org/drawingml/2006/main">
            <a:off x="392386" y="5491070"/>
            <a:ext cx="37370" cy="1220879"/>
          </a:xfrm>
          <a:custGeom xmlns:a="http://schemas.openxmlformats.org/drawingml/2006/main">
            <a:rect l="l" t="t" r="r" b="b"/>
            <a:pathLst>
              <a:path w="37370" h="990308">
                <a:moveTo>
                  <a:pt x="37370" y="0"/>
                </a:moveTo>
                <a:lnTo>
                  <a:pt x="37370" y="0"/>
                </a:lnTo>
                <a:lnTo>
                  <a:pt x="37370" y="990308"/>
                </a:lnTo>
                <a:lnTo>
                  <a:pt x="37370" y="990308"/>
                </a:lnTo>
                <a:cubicBezTo>
                  <a:pt x="16731" y="990308"/>
                  <a:pt x="0" y="973577"/>
                  <a:pt x="0" y="952938"/>
                </a:cubicBezTo>
                <a:lnTo>
                  <a:pt x="0" y="37370"/>
                </a:lnTo>
                <a:cubicBezTo>
                  <a:pt x="0" y="16745"/>
                  <a:pt x="16745" y="0"/>
                  <a:pt x="37370" y="0"/>
                </a:cubicBezTo>
                <a:close/>
              </a:path>
            </a:pathLst>
          </a:custGeom>
          <a:solidFill xmlns:a="http://schemas.openxmlformats.org/drawingml/2006/main">
            <a:srgbClr val="E6B450"/>
          </a:solidFill>
        </p:spPr>
      </p:sp>
      <p:sp>
        <p:nvSpPr>
          <p:cNvPr id="18" name="Shape 16">
            <a:extLst xmlns:a="http://schemas.openxmlformats.org/drawingml/2006/main">
              <a:ext uri="{FF2B5EF4-FFF2-40B4-BE49-F238E27FC236}">
                <a16:creationId xmlns:a16="http://schemas.microsoft.com/office/drawing/2014/main" id="{A2EAFEE1-9136-4460-80E5-D0DED357ECF8}"/>
              </a:ext>
            </a:extLst>
          </p:cNvPr>
          <p:cNvSpPr>
            <a:spLocks xmlns:a="http://schemas.openxmlformats.org/drawingml/2006/main" noGrp="1"/>
          </p:cNvSpPr>
          <p:nvPr/>
        </p:nvSpPr>
        <p:spPr>
          <a:xfrm xmlns:a="http://schemas.openxmlformats.org/drawingml/2006/main">
            <a:off x="621278" y="5715292"/>
            <a:ext cx="186851" cy="186851"/>
          </a:xfrm>
          <a:custGeom xmlns:a="http://schemas.openxmlformats.org/drawingml/2006/main">
            <a:rect l="l" t="t" r="r" b="b"/>
            <a:pathLst>
              <a:path w="186851" h="186851">
                <a:moveTo>
                  <a:pt x="186851" y="35034"/>
                </a:moveTo>
                <a:cubicBezTo>
                  <a:pt x="186851" y="53355"/>
                  <a:pt x="165282" y="80689"/>
                  <a:pt x="155976" y="91601"/>
                </a:cubicBezTo>
                <a:cubicBezTo>
                  <a:pt x="154590" y="93206"/>
                  <a:pt x="152546" y="93827"/>
                  <a:pt x="150685" y="93425"/>
                </a:cubicBezTo>
                <a:lnTo>
                  <a:pt x="116782" y="93425"/>
                </a:lnTo>
                <a:cubicBezTo>
                  <a:pt x="110322" y="93425"/>
                  <a:pt x="105103" y="98644"/>
                  <a:pt x="105103" y="105103"/>
                </a:cubicBezTo>
                <a:cubicBezTo>
                  <a:pt x="105103" y="111563"/>
                  <a:pt x="110322" y="116782"/>
                  <a:pt x="116782" y="116782"/>
                </a:cubicBezTo>
                <a:lnTo>
                  <a:pt x="151816" y="116782"/>
                </a:lnTo>
                <a:cubicBezTo>
                  <a:pt x="171158" y="116782"/>
                  <a:pt x="186851" y="132474"/>
                  <a:pt x="186851" y="151816"/>
                </a:cubicBezTo>
                <a:cubicBezTo>
                  <a:pt x="186851" y="171158"/>
                  <a:pt x="171158" y="186851"/>
                  <a:pt x="151816" y="186851"/>
                </a:cubicBezTo>
                <a:lnTo>
                  <a:pt x="50946" y="186851"/>
                </a:lnTo>
                <a:cubicBezTo>
                  <a:pt x="54121" y="183238"/>
                  <a:pt x="57989" y="178603"/>
                  <a:pt x="61894" y="173421"/>
                </a:cubicBezTo>
                <a:cubicBezTo>
                  <a:pt x="64193" y="170355"/>
                  <a:pt x="66566" y="166998"/>
                  <a:pt x="68828" y="163494"/>
                </a:cubicBezTo>
                <a:lnTo>
                  <a:pt x="151816" y="163494"/>
                </a:lnTo>
                <a:cubicBezTo>
                  <a:pt x="158276" y="163494"/>
                  <a:pt x="163494" y="158276"/>
                  <a:pt x="163494" y="151816"/>
                </a:cubicBezTo>
                <a:cubicBezTo>
                  <a:pt x="163494" y="145357"/>
                  <a:pt x="158276" y="140138"/>
                  <a:pt x="151816" y="140138"/>
                </a:cubicBezTo>
                <a:lnTo>
                  <a:pt x="116782" y="140138"/>
                </a:lnTo>
                <a:cubicBezTo>
                  <a:pt x="97440" y="140138"/>
                  <a:pt x="81747" y="124445"/>
                  <a:pt x="81747" y="105103"/>
                </a:cubicBezTo>
                <a:cubicBezTo>
                  <a:pt x="81747" y="85761"/>
                  <a:pt x="97440" y="70069"/>
                  <a:pt x="116782" y="70069"/>
                </a:cubicBezTo>
                <a:lnTo>
                  <a:pt x="131306" y="70069"/>
                </a:lnTo>
                <a:cubicBezTo>
                  <a:pt x="123643" y="58573"/>
                  <a:pt x="116782" y="45362"/>
                  <a:pt x="116782" y="35034"/>
                </a:cubicBezTo>
                <a:cubicBezTo>
                  <a:pt x="116782" y="15693"/>
                  <a:pt x="132474" y="0"/>
                  <a:pt x="151816" y="0"/>
                </a:cubicBezTo>
                <a:cubicBezTo>
                  <a:pt x="171158" y="0"/>
                  <a:pt x="186851" y="15693"/>
                  <a:pt x="186851" y="35034"/>
                </a:cubicBezTo>
                <a:close/>
                <a:moveTo>
                  <a:pt x="42735" y="178493"/>
                </a:moveTo>
                <a:cubicBezTo>
                  <a:pt x="41348" y="180063"/>
                  <a:pt x="40107" y="181449"/>
                  <a:pt x="39049" y="182617"/>
                </a:cubicBezTo>
                <a:lnTo>
                  <a:pt x="38392" y="183347"/>
                </a:lnTo>
                <a:lnTo>
                  <a:pt x="38319" y="183274"/>
                </a:lnTo>
                <a:cubicBezTo>
                  <a:pt x="36129" y="184953"/>
                  <a:pt x="32991" y="184734"/>
                  <a:pt x="31020" y="182617"/>
                </a:cubicBezTo>
                <a:cubicBezTo>
                  <a:pt x="21824" y="172618"/>
                  <a:pt x="0" y="146889"/>
                  <a:pt x="0" y="128460"/>
                </a:cubicBezTo>
                <a:cubicBezTo>
                  <a:pt x="0" y="109118"/>
                  <a:pt x="15693" y="93425"/>
                  <a:pt x="35034" y="93425"/>
                </a:cubicBezTo>
                <a:cubicBezTo>
                  <a:pt x="54376" y="93425"/>
                  <a:pt x="70069" y="109118"/>
                  <a:pt x="70069" y="128460"/>
                </a:cubicBezTo>
                <a:cubicBezTo>
                  <a:pt x="70069" y="139408"/>
                  <a:pt x="62369" y="152911"/>
                  <a:pt x="54194" y="164188"/>
                </a:cubicBezTo>
                <a:cubicBezTo>
                  <a:pt x="50289" y="169552"/>
                  <a:pt x="46275" y="174406"/>
                  <a:pt x="42954" y="178238"/>
                </a:cubicBezTo>
                <a:lnTo>
                  <a:pt x="42735" y="178493"/>
                </a:lnTo>
                <a:close/>
                <a:moveTo>
                  <a:pt x="46713" y="128460"/>
                </a:moveTo>
                <a:cubicBezTo>
                  <a:pt x="46713" y="122014"/>
                  <a:pt x="41480" y="116782"/>
                  <a:pt x="35034" y="116782"/>
                </a:cubicBezTo>
                <a:cubicBezTo>
                  <a:pt x="28589" y="116782"/>
                  <a:pt x="23356" y="122014"/>
                  <a:pt x="23356" y="128460"/>
                </a:cubicBezTo>
                <a:cubicBezTo>
                  <a:pt x="23356" y="134905"/>
                  <a:pt x="28589" y="140138"/>
                  <a:pt x="35034" y="140138"/>
                </a:cubicBezTo>
                <a:cubicBezTo>
                  <a:pt x="41480" y="140138"/>
                  <a:pt x="46713" y="134905"/>
                  <a:pt x="46713" y="128460"/>
                </a:cubicBezTo>
                <a:close/>
                <a:moveTo>
                  <a:pt x="151816" y="46713"/>
                </a:moveTo>
                <a:cubicBezTo>
                  <a:pt x="158261" y="46713"/>
                  <a:pt x="163494" y="41480"/>
                  <a:pt x="163494" y="35034"/>
                </a:cubicBezTo>
                <a:cubicBezTo>
                  <a:pt x="163494" y="28589"/>
                  <a:pt x="158261" y="23356"/>
                  <a:pt x="151816" y="23356"/>
                </a:cubicBezTo>
                <a:cubicBezTo>
                  <a:pt x="145371" y="23356"/>
                  <a:pt x="140138" y="28589"/>
                  <a:pt x="140138" y="35034"/>
                </a:cubicBezTo>
                <a:cubicBezTo>
                  <a:pt x="140138" y="41480"/>
                  <a:pt x="145371" y="46713"/>
                  <a:pt x="151816" y="46713"/>
                </a:cubicBezTo>
                <a:close/>
              </a:path>
            </a:pathLst>
          </a:custGeom>
          <a:solidFill xmlns:a="http://schemas.openxmlformats.org/drawingml/2006/main">
            <a:srgbClr val="E6B450"/>
          </a:solidFill>
        </p:spPr>
      </p:sp>
      <p:sp>
        <p:nvSpPr>
          <p:cNvPr id="19" name="Text 17">
            <a:extLst xmlns:a="http://schemas.openxmlformats.org/drawingml/2006/main">
              <a:ext uri="{FF2B5EF4-FFF2-40B4-BE49-F238E27FC236}">
                <a16:creationId xmlns:a16="http://schemas.microsoft.com/office/drawing/2014/main" id="{1A9BB4C5-621C-4AA6-A15E-FC805F345009}"/>
              </a:ext>
            </a:extLst>
          </p:cNvPr>
          <p:cNvSpPr>
            <a:spLocks xmlns:a="http://schemas.openxmlformats.org/drawingml/2006/main" noGrp="1"/>
          </p:cNvSpPr>
          <p:nvPr/>
        </p:nvSpPr>
        <p:spPr>
          <a:xfrm xmlns:a="http://schemas.openxmlformats.org/drawingml/2006/main">
            <a:off x="943594" y="5677922"/>
            <a:ext cx="1545605" cy="2615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g(n) 实际代价</a:t>
            </a:r>
            <a:endParaRPr sz="2000"/>
          </a:p>
        </p:txBody>
      </p:sp>
      <p:sp>
        <p:nvSpPr>
          <p:cNvPr id="20" name="Text 18">
            <a:extLst xmlns:a="http://schemas.openxmlformats.org/drawingml/2006/main">
              <a:ext uri="{FF2B5EF4-FFF2-40B4-BE49-F238E27FC236}">
                <a16:creationId xmlns:a16="http://schemas.microsoft.com/office/drawing/2014/main" id="{9A25BB58-0E98-48C8-85B4-75C3BFFB1125}"/>
              </a:ext>
            </a:extLst>
          </p:cNvPr>
          <p:cNvSpPr>
            <a:spLocks xmlns:a="http://schemas.openxmlformats.org/drawingml/2006/main" noGrp="1"/>
          </p:cNvSpPr>
          <p:nvPr/>
        </p:nvSpPr>
        <p:spPr>
          <a:xfrm xmlns:a="http://schemas.openxmlformats.org/drawingml/2006/main">
            <a:off x="597922" y="6051622"/>
            <a:ext cx="4168811" cy="53332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从</a:t>
            </a:r>
            <a:r>
              <a:rPr sz="1600" b="1">
                <a:latin typeface="微软雅黑"/>
                <a:ea typeface="微软雅黑"/>
                <a:cs typeface="微软雅黑"/>
              </a:rPr>
              <a:t>起始节点</a:t>
            </a:r>
            <a:r>
              <a:rPr sz="1600">
                <a:latin typeface="微软雅黑"/>
                <a:ea typeface="微软雅黑"/>
                <a:cs typeface="微软雅黑"/>
              </a:rPr>
              <a:t>到当前节点的实际路径长度代价</a:t>
            </a:r>
            <a:endParaRPr sz="2400"/>
          </a:p>
        </p:txBody>
      </p:sp>
      <p:sp>
        <p:nvSpPr>
          <p:cNvPr id="21" name="Shape 19">
            <a:extLst xmlns:a="http://schemas.openxmlformats.org/drawingml/2006/main">
              <a:ext uri="{FF2B5EF4-FFF2-40B4-BE49-F238E27FC236}">
                <a16:creationId xmlns:a16="http://schemas.microsoft.com/office/drawing/2014/main" id="{EDD4FF40-6D09-4C1E-BE27-BB27AC1F45B5}"/>
              </a:ext>
            </a:extLst>
          </p:cNvPr>
          <p:cNvSpPr>
            <a:spLocks xmlns:a="http://schemas.openxmlformats.org/drawingml/2006/main" noGrp="1"/>
          </p:cNvSpPr>
          <p:nvPr/>
        </p:nvSpPr>
        <p:spPr>
          <a:xfrm xmlns:a="http://schemas.openxmlformats.org/drawingml/2006/main">
            <a:off x="6078486" y="5491070"/>
            <a:ext cx="5402284" cy="1220879"/>
          </a:xfrm>
          <a:custGeom xmlns:a="http://schemas.openxmlformats.org/drawingml/2006/main">
            <a:rect l="l" t="t" r="r" b="b"/>
            <a:pathLst>
              <a:path w="3624901" h="990308">
                <a:moveTo>
                  <a:pt x="37370" y="0"/>
                </a:moveTo>
                <a:lnTo>
                  <a:pt x="3512788" y="0"/>
                </a:lnTo>
                <a:cubicBezTo>
                  <a:pt x="3574707" y="0"/>
                  <a:pt x="3624901" y="50195"/>
                  <a:pt x="3624901" y="112113"/>
                </a:cubicBezTo>
                <a:lnTo>
                  <a:pt x="3624901" y="878195"/>
                </a:lnTo>
                <a:cubicBezTo>
                  <a:pt x="3624901" y="940113"/>
                  <a:pt x="3574707" y="990308"/>
                  <a:pt x="3512788" y="990308"/>
                </a:cubicBezTo>
                <a:lnTo>
                  <a:pt x="37370" y="990308"/>
                </a:lnTo>
                <a:cubicBezTo>
                  <a:pt x="16731" y="990308"/>
                  <a:pt x="0" y="973577"/>
                  <a:pt x="0" y="952938"/>
                </a:cubicBezTo>
                <a:lnTo>
                  <a:pt x="0" y="37370"/>
                </a:lnTo>
                <a:cubicBezTo>
                  <a:pt x="0" y="16745"/>
                  <a:pt x="16745" y="0"/>
                  <a:pt x="37370" y="0"/>
                </a:cubicBezTo>
                <a:close/>
              </a:path>
            </a:pathLst>
          </a:custGeom>
          <a:solidFill xmlns:a="http://schemas.openxmlformats.org/drawingml/2006/main">
            <a:srgbClr val="5F87A7">
              <a:alpha val="10196"/>
            </a:srgbClr>
          </a:solidFill>
        </p:spPr>
      </p:sp>
      <p:sp>
        <p:nvSpPr>
          <p:cNvPr id="22" name="Shape 20">
            <a:extLst xmlns:a="http://schemas.openxmlformats.org/drawingml/2006/main">
              <a:ext uri="{FF2B5EF4-FFF2-40B4-BE49-F238E27FC236}">
                <a16:creationId xmlns:a16="http://schemas.microsoft.com/office/drawing/2014/main" id="{E26DF5E2-DFF0-4D76-BBF6-FE9A5C2A8995}"/>
              </a:ext>
            </a:extLst>
          </p:cNvPr>
          <p:cNvSpPr>
            <a:spLocks xmlns:a="http://schemas.openxmlformats.org/drawingml/2006/main" noGrp="1"/>
          </p:cNvSpPr>
          <p:nvPr/>
        </p:nvSpPr>
        <p:spPr>
          <a:xfrm xmlns:a="http://schemas.openxmlformats.org/drawingml/2006/main">
            <a:off x="6078486" y="5491070"/>
            <a:ext cx="37370" cy="1220879"/>
          </a:xfrm>
          <a:custGeom xmlns:a="http://schemas.openxmlformats.org/drawingml/2006/main">
            <a:rect l="l" t="t" r="r" b="b"/>
            <a:pathLst>
              <a:path w="37370" h="990308">
                <a:moveTo>
                  <a:pt x="37370" y="0"/>
                </a:moveTo>
                <a:lnTo>
                  <a:pt x="37370" y="0"/>
                </a:lnTo>
                <a:lnTo>
                  <a:pt x="37370" y="990308"/>
                </a:lnTo>
                <a:lnTo>
                  <a:pt x="37370" y="990308"/>
                </a:lnTo>
                <a:cubicBezTo>
                  <a:pt x="16731" y="990308"/>
                  <a:pt x="0" y="973577"/>
                  <a:pt x="0" y="952938"/>
                </a:cubicBezTo>
                <a:lnTo>
                  <a:pt x="0" y="37370"/>
                </a:lnTo>
                <a:cubicBezTo>
                  <a:pt x="0" y="16745"/>
                  <a:pt x="16745" y="0"/>
                  <a:pt x="37370" y="0"/>
                </a:cubicBezTo>
                <a:close/>
              </a:path>
            </a:pathLst>
          </a:custGeom>
          <a:solidFill xmlns:a="http://schemas.openxmlformats.org/drawingml/2006/main">
            <a:srgbClr val="E6B450"/>
          </a:solidFill>
        </p:spPr>
      </p:sp>
      <p:sp>
        <p:nvSpPr>
          <p:cNvPr id="23" name="Shape 21">
            <a:extLst xmlns:a="http://schemas.openxmlformats.org/drawingml/2006/main">
              <a:ext uri="{FF2B5EF4-FFF2-40B4-BE49-F238E27FC236}">
                <a16:creationId xmlns:a16="http://schemas.microsoft.com/office/drawing/2014/main" id="{16020E4A-8070-49C7-A6E9-28BA130DE071}"/>
              </a:ext>
            </a:extLst>
          </p:cNvPr>
          <p:cNvSpPr>
            <a:spLocks xmlns:a="http://schemas.openxmlformats.org/drawingml/2006/main" noGrp="1"/>
          </p:cNvSpPr>
          <p:nvPr/>
        </p:nvSpPr>
        <p:spPr>
          <a:xfrm xmlns:a="http://schemas.openxmlformats.org/drawingml/2006/main">
            <a:off x="6330735" y="5715292"/>
            <a:ext cx="140138" cy="186851"/>
          </a:xfrm>
          <a:custGeom xmlns:a="http://schemas.openxmlformats.org/drawingml/2006/main">
            <a:rect l="l" t="t" r="r" b="b"/>
            <a:pathLst>
              <a:path w="140138" h="186851">
                <a:moveTo>
                  <a:pt x="106892" y="140138"/>
                </a:moveTo>
                <a:cubicBezTo>
                  <a:pt x="109556" y="132000"/>
                  <a:pt x="114884" y="124628"/>
                  <a:pt x="120905" y="118278"/>
                </a:cubicBezTo>
                <a:cubicBezTo>
                  <a:pt x="132839" y="105724"/>
                  <a:pt x="140138" y="88754"/>
                  <a:pt x="140138" y="70069"/>
                </a:cubicBezTo>
                <a:cubicBezTo>
                  <a:pt x="140138" y="31385"/>
                  <a:pt x="108753" y="0"/>
                  <a:pt x="70069" y="0"/>
                </a:cubicBezTo>
                <a:cubicBezTo>
                  <a:pt x="31385" y="0"/>
                  <a:pt x="0" y="31385"/>
                  <a:pt x="0" y="70069"/>
                </a:cubicBezTo>
                <a:cubicBezTo>
                  <a:pt x="0" y="88754"/>
                  <a:pt x="7299" y="105724"/>
                  <a:pt x="19232" y="118278"/>
                </a:cubicBezTo>
                <a:cubicBezTo>
                  <a:pt x="25254" y="124628"/>
                  <a:pt x="30619" y="132000"/>
                  <a:pt x="33246" y="140138"/>
                </a:cubicBezTo>
                <a:lnTo>
                  <a:pt x="106855" y="140138"/>
                </a:lnTo>
                <a:close/>
                <a:moveTo>
                  <a:pt x="105103" y="157655"/>
                </a:moveTo>
                <a:lnTo>
                  <a:pt x="35034" y="157655"/>
                </a:lnTo>
                <a:lnTo>
                  <a:pt x="35034" y="163494"/>
                </a:lnTo>
                <a:cubicBezTo>
                  <a:pt x="35034" y="179625"/>
                  <a:pt x="48099" y="192690"/>
                  <a:pt x="64230" y="192690"/>
                </a:cubicBezTo>
                <a:lnTo>
                  <a:pt x="75908" y="192690"/>
                </a:lnTo>
                <a:cubicBezTo>
                  <a:pt x="92039" y="192690"/>
                  <a:pt x="105103" y="179625"/>
                  <a:pt x="105103" y="163494"/>
                </a:cubicBezTo>
                <a:lnTo>
                  <a:pt x="105103" y="157655"/>
                </a:lnTo>
                <a:close/>
                <a:moveTo>
                  <a:pt x="67149" y="40874"/>
                </a:moveTo>
                <a:cubicBezTo>
                  <a:pt x="52625" y="40874"/>
                  <a:pt x="40874" y="52625"/>
                  <a:pt x="40874" y="67149"/>
                </a:cubicBezTo>
                <a:cubicBezTo>
                  <a:pt x="40874" y="72003"/>
                  <a:pt x="36969" y="75908"/>
                  <a:pt x="32115" y="75908"/>
                </a:cubicBezTo>
                <a:cubicBezTo>
                  <a:pt x="27261" y="75908"/>
                  <a:pt x="23356" y="72003"/>
                  <a:pt x="23356" y="67149"/>
                </a:cubicBezTo>
                <a:cubicBezTo>
                  <a:pt x="23356" y="42954"/>
                  <a:pt x="42954" y="23356"/>
                  <a:pt x="67149" y="23356"/>
                </a:cubicBezTo>
                <a:cubicBezTo>
                  <a:pt x="72003" y="23356"/>
                  <a:pt x="75908" y="27261"/>
                  <a:pt x="75908" y="32115"/>
                </a:cubicBezTo>
                <a:cubicBezTo>
                  <a:pt x="75908" y="36969"/>
                  <a:pt x="72003" y="40874"/>
                  <a:pt x="67149" y="40874"/>
                </a:cubicBezTo>
                <a:close/>
              </a:path>
            </a:pathLst>
          </a:custGeom>
          <a:solidFill xmlns:a="http://schemas.openxmlformats.org/drawingml/2006/main">
            <a:srgbClr val="E6B450"/>
          </a:solidFill>
        </p:spPr>
      </p:sp>
      <p:sp>
        <p:nvSpPr>
          <p:cNvPr id="24" name="Text 22">
            <a:extLst xmlns:a="http://schemas.openxmlformats.org/drawingml/2006/main">
              <a:ext uri="{FF2B5EF4-FFF2-40B4-BE49-F238E27FC236}">
                <a16:creationId xmlns:a16="http://schemas.microsoft.com/office/drawing/2014/main" id="{03F92E02-EE71-403A-B0A9-5D7FDE1ECBA6}"/>
              </a:ext>
            </a:extLst>
          </p:cNvPr>
          <p:cNvSpPr>
            <a:spLocks xmlns:a="http://schemas.openxmlformats.org/drawingml/2006/main" noGrp="1"/>
          </p:cNvSpPr>
          <p:nvPr/>
        </p:nvSpPr>
        <p:spPr>
          <a:xfrm xmlns:a="http://schemas.openxmlformats.org/drawingml/2006/main">
            <a:off x="6629696" y="5677922"/>
            <a:ext cx="1606330" cy="2615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h(n) 启发式函数</a:t>
            </a:r>
            <a:endParaRPr sz="2000"/>
          </a:p>
        </p:txBody>
      </p:sp>
      <p:sp>
        <p:nvSpPr>
          <p:cNvPr id="25" name="Text 23">
            <a:extLst xmlns:a="http://schemas.openxmlformats.org/drawingml/2006/main">
              <a:ext uri="{FF2B5EF4-FFF2-40B4-BE49-F238E27FC236}">
                <a16:creationId xmlns:a16="http://schemas.microsoft.com/office/drawing/2014/main" id="{BF6E690A-C9F7-45F5-9394-C5A6A27AF540}"/>
              </a:ext>
            </a:extLst>
          </p:cNvPr>
          <p:cNvSpPr>
            <a:spLocks xmlns:a="http://schemas.openxmlformats.org/drawingml/2006/main" noGrp="1"/>
          </p:cNvSpPr>
          <p:nvPr/>
        </p:nvSpPr>
        <p:spPr>
          <a:xfrm xmlns:a="http://schemas.openxmlformats.org/drawingml/2006/main">
            <a:off x="6284022" y="6051623"/>
            <a:ext cx="3307255" cy="24290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当前节点到</a:t>
            </a:r>
            <a:r>
              <a:rPr sz="1600" b="1">
                <a:latin typeface="微软雅黑"/>
                <a:ea typeface="微软雅黑"/>
                <a:cs typeface="微软雅黑"/>
              </a:rPr>
              <a:t>目标节点</a:t>
            </a:r>
            <a:r>
              <a:rPr sz="1600">
                <a:latin typeface="微软雅黑"/>
                <a:ea typeface="微软雅黑"/>
                <a:cs typeface="微软雅黑"/>
              </a:rPr>
              <a:t>的预估代价</a:t>
            </a:r>
            <a:endParaRPr sz="2400"/>
          </a:p>
        </p:txBody>
      </p:sp>
      <p:sp>
        <p:nvSpPr>
          <p:cNvPr id="45" name="矩形 44">
            <a:extLst xmlns:a="http://schemas.openxmlformats.org/drawingml/2006/main">
              <a:ext uri="{FF2B5EF4-FFF2-40B4-BE49-F238E27FC236}">
                <a16:creationId xmlns:a16="http://schemas.microsoft.com/office/drawing/2014/main" id="{64A52AED-868F-D123-86D7-1AFB52DA2479}"/>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文本框 45">
            <a:extLst xmlns:a="http://schemas.openxmlformats.org/drawingml/2006/main">
              <a:ext uri="{FF2B5EF4-FFF2-40B4-BE49-F238E27FC236}">
                <a16:creationId xmlns:a16="http://schemas.microsoft.com/office/drawing/2014/main" id="{0E33481C-B021-A1A9-6C9E-1713C909444A}"/>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7.2.1 A*</a:t>
            </a:r>
            <a:r>
              <a:rPr sz="2400" b="1">
                <a:solidFill>
                  <a:schemeClr val="accent1"/>
                </a:solidFill>
                <a:latin typeface="+mj-lt"/>
                <a:ea typeface="+mj-lt"/>
                <a:cs typeface="+mj-lt"/>
              </a:rPr>
              <a:t>规划方法</a:t>
            </a:r>
          </a:p>
        </p:txBody>
      </p:sp>
    </p:spTree>
    <p:extLst>
      <p:ext uri="{BB962C8B-B14F-4D97-AF65-F5344CB8AC3E}">
        <p14:creationId xmlns:p14="http://schemas.microsoft.com/office/powerpoint/2010/main" val="3574592425"/>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26" name="Shape 24">
            <a:extLst xmlns:a="http://schemas.openxmlformats.org/drawingml/2006/main">
              <a:ext uri="{FF2B5EF4-FFF2-40B4-BE49-F238E27FC236}">
                <a16:creationId xmlns:a16="http://schemas.microsoft.com/office/drawing/2014/main" id="{FD814004-ABF8-41EE-8177-E8FC66730DC0}"/>
              </a:ext>
            </a:extLst>
          </p:cNvPr>
          <p:cNvSpPr>
            <a:spLocks xmlns:a="http://schemas.openxmlformats.org/drawingml/2006/main" noGrp="1"/>
          </p:cNvSpPr>
          <p:nvPr/>
        </p:nvSpPr>
        <p:spPr>
          <a:xfrm xmlns:a="http://schemas.openxmlformats.org/drawingml/2006/main">
            <a:off x="859488" y="1705011"/>
            <a:ext cx="3708984" cy="5006938"/>
          </a:xfrm>
          <a:custGeom xmlns:a="http://schemas.openxmlformats.org/drawingml/2006/main">
            <a:rect l="l" t="t" r="r" b="b"/>
            <a:pathLst>
              <a:path w="3708984" h="4456386">
                <a:moveTo>
                  <a:pt x="112123" y="0"/>
                </a:moveTo>
                <a:lnTo>
                  <a:pt x="3596861" y="0"/>
                </a:lnTo>
                <a:cubicBezTo>
                  <a:pt x="3658785" y="0"/>
                  <a:pt x="3708984" y="50199"/>
                  <a:pt x="3708984" y="112123"/>
                </a:cubicBezTo>
                <a:lnTo>
                  <a:pt x="3708984" y="4344264"/>
                </a:lnTo>
                <a:cubicBezTo>
                  <a:pt x="3708984" y="4406187"/>
                  <a:pt x="3658785" y="4456386"/>
                  <a:pt x="3596861" y="4456386"/>
                </a:cubicBezTo>
                <a:lnTo>
                  <a:pt x="112123" y="4456386"/>
                </a:lnTo>
                <a:cubicBezTo>
                  <a:pt x="50199" y="4456386"/>
                  <a:pt x="0" y="4406187"/>
                  <a:pt x="0" y="4344264"/>
                </a:cubicBezTo>
                <a:lnTo>
                  <a:pt x="0" y="112123"/>
                </a:lnTo>
                <a:cubicBezTo>
                  <a:pt x="0" y="50240"/>
                  <a:pt x="50240" y="0"/>
                  <a:pt x="112123"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7" name="Shape 25">
            <a:extLst xmlns:a="http://schemas.openxmlformats.org/drawingml/2006/main">
              <a:ext uri="{FF2B5EF4-FFF2-40B4-BE49-F238E27FC236}">
                <a16:creationId xmlns:a16="http://schemas.microsoft.com/office/drawing/2014/main" id="{CDE047DF-94FE-40CA-BD38-5FDD8BB9BFD4}"/>
              </a:ext>
            </a:extLst>
          </p:cNvPr>
          <p:cNvSpPr>
            <a:spLocks xmlns:a="http://schemas.openxmlformats.org/drawingml/2006/main" noGrp="1"/>
          </p:cNvSpPr>
          <p:nvPr/>
        </p:nvSpPr>
        <p:spPr>
          <a:xfrm xmlns:a="http://schemas.openxmlformats.org/drawingml/2006/main">
            <a:off x="1111737" y="1902569"/>
            <a:ext cx="186851" cy="209935"/>
          </a:xfrm>
          <a:custGeom xmlns:a="http://schemas.openxmlformats.org/drawingml/2006/main">
            <a:rect l="l" t="t" r="r" b="b"/>
            <a:pathLst>
              <a:path w="186851" h="186851">
                <a:moveTo>
                  <a:pt x="17517" y="52552"/>
                </a:moveTo>
                <a:cubicBezTo>
                  <a:pt x="27185" y="52552"/>
                  <a:pt x="35034" y="44703"/>
                  <a:pt x="35034" y="35034"/>
                </a:cubicBezTo>
                <a:cubicBezTo>
                  <a:pt x="35034" y="25366"/>
                  <a:pt x="27185" y="17517"/>
                  <a:pt x="17517" y="17517"/>
                </a:cubicBezTo>
                <a:cubicBezTo>
                  <a:pt x="7849" y="17517"/>
                  <a:pt x="0" y="25366"/>
                  <a:pt x="0" y="35034"/>
                </a:cubicBezTo>
                <a:cubicBezTo>
                  <a:pt x="0" y="44703"/>
                  <a:pt x="7849" y="52552"/>
                  <a:pt x="17517" y="52552"/>
                </a:cubicBezTo>
                <a:close/>
                <a:moveTo>
                  <a:pt x="70069" y="23356"/>
                </a:moveTo>
                <a:cubicBezTo>
                  <a:pt x="63609" y="23356"/>
                  <a:pt x="58391" y="28575"/>
                  <a:pt x="58391" y="35034"/>
                </a:cubicBezTo>
                <a:cubicBezTo>
                  <a:pt x="58391" y="41494"/>
                  <a:pt x="63609" y="46713"/>
                  <a:pt x="70069" y="46713"/>
                </a:cubicBezTo>
                <a:lnTo>
                  <a:pt x="175172" y="46713"/>
                </a:lnTo>
                <a:cubicBezTo>
                  <a:pt x="181632" y="46713"/>
                  <a:pt x="186851" y="41494"/>
                  <a:pt x="186851" y="35034"/>
                </a:cubicBezTo>
                <a:cubicBezTo>
                  <a:pt x="186851" y="28575"/>
                  <a:pt x="181632" y="23356"/>
                  <a:pt x="175172" y="23356"/>
                </a:cubicBezTo>
                <a:lnTo>
                  <a:pt x="70069" y="23356"/>
                </a:lnTo>
                <a:close/>
                <a:moveTo>
                  <a:pt x="70069" y="81747"/>
                </a:moveTo>
                <a:cubicBezTo>
                  <a:pt x="63609" y="81747"/>
                  <a:pt x="58391" y="86966"/>
                  <a:pt x="58391" y="93425"/>
                </a:cubicBezTo>
                <a:cubicBezTo>
                  <a:pt x="58391" y="99885"/>
                  <a:pt x="63609" y="105103"/>
                  <a:pt x="70069" y="105103"/>
                </a:cubicBezTo>
                <a:lnTo>
                  <a:pt x="175172" y="105103"/>
                </a:lnTo>
                <a:cubicBezTo>
                  <a:pt x="181632" y="105103"/>
                  <a:pt x="186851" y="99885"/>
                  <a:pt x="186851" y="93425"/>
                </a:cubicBezTo>
                <a:cubicBezTo>
                  <a:pt x="186851" y="86966"/>
                  <a:pt x="181632" y="81747"/>
                  <a:pt x="175172" y="81747"/>
                </a:cubicBezTo>
                <a:lnTo>
                  <a:pt x="70069" y="81747"/>
                </a:lnTo>
                <a:close/>
                <a:moveTo>
                  <a:pt x="70069" y="140138"/>
                </a:moveTo>
                <a:cubicBezTo>
                  <a:pt x="63609" y="140138"/>
                  <a:pt x="58391" y="145357"/>
                  <a:pt x="58391" y="151816"/>
                </a:cubicBezTo>
                <a:cubicBezTo>
                  <a:pt x="58391" y="158276"/>
                  <a:pt x="63609" y="163494"/>
                  <a:pt x="70069" y="163494"/>
                </a:cubicBezTo>
                <a:lnTo>
                  <a:pt x="175172" y="163494"/>
                </a:lnTo>
                <a:cubicBezTo>
                  <a:pt x="181632" y="163494"/>
                  <a:pt x="186851" y="158276"/>
                  <a:pt x="186851" y="151816"/>
                </a:cubicBezTo>
                <a:cubicBezTo>
                  <a:pt x="186851" y="145357"/>
                  <a:pt x="181632" y="140138"/>
                  <a:pt x="175172" y="140138"/>
                </a:cubicBezTo>
                <a:lnTo>
                  <a:pt x="70069" y="140138"/>
                </a:lnTo>
                <a:close/>
                <a:moveTo>
                  <a:pt x="17517" y="169333"/>
                </a:moveTo>
                <a:cubicBezTo>
                  <a:pt x="27185" y="169333"/>
                  <a:pt x="35034" y="161484"/>
                  <a:pt x="35034" y="151816"/>
                </a:cubicBezTo>
                <a:cubicBezTo>
                  <a:pt x="35034" y="142148"/>
                  <a:pt x="27185" y="134299"/>
                  <a:pt x="17517" y="134299"/>
                </a:cubicBezTo>
                <a:cubicBezTo>
                  <a:pt x="7849" y="134299"/>
                  <a:pt x="0" y="142148"/>
                  <a:pt x="0" y="151816"/>
                </a:cubicBezTo>
                <a:cubicBezTo>
                  <a:pt x="0" y="161484"/>
                  <a:pt x="7849" y="169333"/>
                  <a:pt x="17517" y="169333"/>
                </a:cubicBezTo>
                <a:close/>
                <a:moveTo>
                  <a:pt x="35034" y="93425"/>
                </a:moveTo>
                <a:cubicBezTo>
                  <a:pt x="35034" y="83757"/>
                  <a:pt x="27185" y="75908"/>
                  <a:pt x="17517" y="75908"/>
                </a:cubicBezTo>
                <a:cubicBezTo>
                  <a:pt x="7849" y="75908"/>
                  <a:pt x="0" y="83757"/>
                  <a:pt x="0" y="93425"/>
                </a:cubicBezTo>
                <a:cubicBezTo>
                  <a:pt x="0" y="103093"/>
                  <a:pt x="7849" y="110943"/>
                  <a:pt x="17517" y="110943"/>
                </a:cubicBezTo>
                <a:cubicBezTo>
                  <a:pt x="27185" y="110943"/>
                  <a:pt x="35034" y="103093"/>
                  <a:pt x="35034" y="93425"/>
                </a:cubicBezTo>
                <a:close/>
              </a:path>
            </a:pathLst>
          </a:custGeom>
          <a:solidFill xmlns:a="http://schemas.openxmlformats.org/drawingml/2006/main">
            <a:srgbClr val="E6B450"/>
          </a:solidFill>
        </p:spPr>
      </p:sp>
      <p:sp>
        <p:nvSpPr>
          <p:cNvPr id="28" name="Text 26">
            <a:extLst xmlns:a="http://schemas.openxmlformats.org/drawingml/2006/main">
              <a:ext uri="{FF2B5EF4-FFF2-40B4-BE49-F238E27FC236}">
                <a16:creationId xmlns:a16="http://schemas.microsoft.com/office/drawing/2014/main" id="{BA24925A-01AF-41F3-B9C4-D18B721EAA1A}"/>
              </a:ext>
            </a:extLst>
          </p:cNvPr>
          <p:cNvSpPr>
            <a:spLocks xmlns:a="http://schemas.openxmlformats.org/drawingml/2006/main" noGrp="1"/>
          </p:cNvSpPr>
          <p:nvPr/>
        </p:nvSpPr>
        <p:spPr>
          <a:xfrm xmlns:a="http://schemas.openxmlformats.org/drawingml/2006/main">
            <a:off x="1321943" y="1860581"/>
            <a:ext cx="3111062" cy="29390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常用启发式函数</a:t>
            </a:r>
            <a:endParaRPr/>
          </a:p>
        </p:txBody>
      </p:sp>
      <p:sp>
        <p:nvSpPr>
          <p:cNvPr id="29" name="Shape 27">
            <a:extLst xmlns:a="http://schemas.openxmlformats.org/drawingml/2006/main">
              <a:ext uri="{FF2B5EF4-FFF2-40B4-BE49-F238E27FC236}">
                <a16:creationId xmlns:a16="http://schemas.microsoft.com/office/drawing/2014/main" id="{1C9840B9-9B8C-4617-9D76-245F74699CBE}"/>
              </a:ext>
            </a:extLst>
          </p:cNvPr>
          <p:cNvSpPr>
            <a:spLocks xmlns:a="http://schemas.openxmlformats.org/drawingml/2006/main" noGrp="1"/>
          </p:cNvSpPr>
          <p:nvPr/>
        </p:nvSpPr>
        <p:spPr>
          <a:xfrm xmlns:a="http://schemas.openxmlformats.org/drawingml/2006/main">
            <a:off x="1088380" y="2466024"/>
            <a:ext cx="3251200" cy="1217620"/>
          </a:xfrm>
          <a:custGeom xmlns:a="http://schemas.openxmlformats.org/drawingml/2006/main">
            <a:rect l="l" t="t" r="r" b="b"/>
            <a:pathLst>
              <a:path w="3251200" h="1083733">
                <a:moveTo>
                  <a:pt x="74745" y="0"/>
                </a:moveTo>
                <a:lnTo>
                  <a:pt x="3176455" y="0"/>
                </a:lnTo>
                <a:cubicBezTo>
                  <a:pt x="3217735" y="0"/>
                  <a:pt x="3251200" y="33465"/>
                  <a:pt x="3251200" y="74745"/>
                </a:cubicBezTo>
                <a:lnTo>
                  <a:pt x="3251200" y="1008988"/>
                </a:lnTo>
                <a:cubicBezTo>
                  <a:pt x="3251200" y="1050269"/>
                  <a:pt x="3217735" y="1083733"/>
                  <a:pt x="3176455" y="1083733"/>
                </a:cubicBezTo>
                <a:lnTo>
                  <a:pt x="74745" y="1083733"/>
                </a:lnTo>
                <a:cubicBezTo>
                  <a:pt x="33465" y="1083733"/>
                  <a:pt x="0" y="1050269"/>
                  <a:pt x="0" y="1008988"/>
                </a:cubicBezTo>
                <a:lnTo>
                  <a:pt x="0" y="74745"/>
                </a:lnTo>
                <a:cubicBezTo>
                  <a:pt x="0" y="33492"/>
                  <a:pt x="33492" y="0"/>
                  <a:pt x="74745" y="0"/>
                </a:cubicBezTo>
                <a:close/>
              </a:path>
            </a:pathLst>
          </a:custGeom>
          <a:solidFill xmlns:a="http://schemas.openxmlformats.org/drawingml/2006/main">
            <a:srgbClr val="5F87A7">
              <a:alpha val="20000"/>
            </a:srgbClr>
          </a:solidFill>
        </p:spPr>
      </p:sp>
      <p:sp>
        <p:nvSpPr>
          <p:cNvPr id="30" name="Shape 28">
            <a:extLst xmlns:a="http://schemas.openxmlformats.org/drawingml/2006/main">
              <a:ext uri="{FF2B5EF4-FFF2-40B4-BE49-F238E27FC236}">
                <a16:creationId xmlns:a16="http://schemas.microsoft.com/office/drawing/2014/main" id="{91AD643E-C8CC-4FCD-A85E-26C2739C8E34}"/>
              </a:ext>
            </a:extLst>
          </p:cNvPr>
          <p:cNvSpPr>
            <a:spLocks xmlns:a="http://schemas.openxmlformats.org/drawingml/2006/main" noGrp="1"/>
          </p:cNvSpPr>
          <p:nvPr/>
        </p:nvSpPr>
        <p:spPr>
          <a:xfrm xmlns:a="http://schemas.openxmlformats.org/drawingml/2006/main">
            <a:off x="1265888" y="2550902"/>
            <a:ext cx="130795" cy="167947"/>
          </a:xfrm>
          <a:custGeom xmlns:a="http://schemas.openxmlformats.org/drawingml/2006/main">
            <a:rect l="l" t="t" r="r" b="b"/>
            <a:pathLst>
              <a:path w="130795" h="149480">
                <a:moveTo>
                  <a:pt x="74740" y="18685"/>
                </a:moveTo>
                <a:cubicBezTo>
                  <a:pt x="74740" y="13517"/>
                  <a:pt x="70565" y="9343"/>
                  <a:pt x="65398" y="9343"/>
                </a:cubicBezTo>
                <a:cubicBezTo>
                  <a:pt x="60230" y="9343"/>
                  <a:pt x="56055" y="13517"/>
                  <a:pt x="56055" y="18685"/>
                </a:cubicBezTo>
                <a:lnTo>
                  <a:pt x="56055" y="65398"/>
                </a:lnTo>
                <a:lnTo>
                  <a:pt x="9343" y="65398"/>
                </a:lnTo>
                <a:cubicBezTo>
                  <a:pt x="4175" y="65398"/>
                  <a:pt x="0" y="69573"/>
                  <a:pt x="0" y="74740"/>
                </a:cubicBezTo>
                <a:cubicBezTo>
                  <a:pt x="0" y="79908"/>
                  <a:pt x="4175" y="84083"/>
                  <a:pt x="9343" y="84083"/>
                </a:cubicBezTo>
                <a:lnTo>
                  <a:pt x="56055" y="84083"/>
                </a:lnTo>
                <a:lnTo>
                  <a:pt x="56055" y="130795"/>
                </a:lnTo>
                <a:cubicBezTo>
                  <a:pt x="56055" y="135963"/>
                  <a:pt x="60230" y="140138"/>
                  <a:pt x="65398" y="140138"/>
                </a:cubicBezTo>
                <a:cubicBezTo>
                  <a:pt x="70565" y="140138"/>
                  <a:pt x="74740" y="135963"/>
                  <a:pt x="74740" y="130795"/>
                </a:cubicBezTo>
                <a:lnTo>
                  <a:pt x="74740" y="84083"/>
                </a:lnTo>
                <a:lnTo>
                  <a:pt x="121453" y="84083"/>
                </a:lnTo>
                <a:cubicBezTo>
                  <a:pt x="126620" y="84083"/>
                  <a:pt x="130795" y="79908"/>
                  <a:pt x="130795" y="74740"/>
                </a:cubicBezTo>
                <a:cubicBezTo>
                  <a:pt x="130795" y="69573"/>
                  <a:pt x="126620" y="65398"/>
                  <a:pt x="121453" y="65398"/>
                </a:cubicBezTo>
                <a:lnTo>
                  <a:pt x="74740" y="65398"/>
                </a:lnTo>
                <a:lnTo>
                  <a:pt x="74740" y="18685"/>
                </a:lnTo>
                <a:close/>
              </a:path>
            </a:pathLst>
          </a:custGeom>
          <a:solidFill xmlns:a="http://schemas.openxmlformats.org/drawingml/2006/main">
            <a:srgbClr val="E6B450"/>
          </a:solidFill>
        </p:spPr>
      </p:sp>
      <p:sp>
        <p:nvSpPr>
          <p:cNvPr id="31" name="Text 29">
            <a:extLst xmlns:a="http://schemas.openxmlformats.org/drawingml/2006/main">
              <a:ext uri="{FF2B5EF4-FFF2-40B4-BE49-F238E27FC236}">
                <a16:creationId xmlns:a16="http://schemas.microsoft.com/office/drawing/2014/main" id="{B6F5C619-B919-4962-900C-A76A740D1E47}"/>
              </a:ext>
            </a:extLst>
          </p:cNvPr>
          <p:cNvSpPr>
            <a:spLocks xmlns:a="http://schemas.openxmlformats.org/drawingml/2006/main" noGrp="1"/>
          </p:cNvSpPr>
          <p:nvPr/>
        </p:nvSpPr>
        <p:spPr>
          <a:xfrm xmlns:a="http://schemas.openxmlformats.org/drawingml/2006/main">
            <a:off x="1536821" y="2487921"/>
            <a:ext cx="1261387" cy="29390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曼哈顿距离</a:t>
            </a:r>
            <a:endParaRPr sz="1600"/>
          </a:p>
        </p:txBody>
      </p:sp>
      <p:sp>
        <p:nvSpPr>
          <p:cNvPr id="33" name="Text 31">
            <a:extLst xmlns:a="http://schemas.openxmlformats.org/drawingml/2006/main">
              <a:ext uri="{FF2B5EF4-FFF2-40B4-BE49-F238E27FC236}">
                <a16:creationId xmlns:a16="http://schemas.microsoft.com/office/drawing/2014/main" id="{974C72EC-48DC-448F-9A29-09D3F60B962B}"/>
              </a:ext>
            </a:extLst>
          </p:cNvPr>
          <p:cNvSpPr>
            <a:spLocks xmlns:a="http://schemas.openxmlformats.org/drawingml/2006/main" noGrp="1"/>
          </p:cNvSpPr>
          <p:nvPr/>
        </p:nvSpPr>
        <p:spPr>
          <a:xfrm xmlns:a="http://schemas.openxmlformats.org/drawingml/2006/main">
            <a:off x="1237861" y="3362838"/>
            <a:ext cx="3017637" cy="20993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网格地图，四方向移动</a:t>
            </a:r>
            <a:endParaRPr sz="1600"/>
          </a:p>
        </p:txBody>
      </p:sp>
      <p:sp>
        <p:nvSpPr>
          <p:cNvPr id="34" name="Shape 32">
            <a:extLst xmlns:a="http://schemas.openxmlformats.org/drawingml/2006/main">
              <a:ext uri="{FF2B5EF4-FFF2-40B4-BE49-F238E27FC236}">
                <a16:creationId xmlns:a16="http://schemas.microsoft.com/office/drawing/2014/main" id="{81DD305A-23F0-4E47-BE68-398117B99EFF}"/>
              </a:ext>
            </a:extLst>
          </p:cNvPr>
          <p:cNvSpPr>
            <a:spLocks xmlns:a="http://schemas.openxmlformats.org/drawingml/2006/main" noGrp="1"/>
          </p:cNvSpPr>
          <p:nvPr/>
        </p:nvSpPr>
        <p:spPr>
          <a:xfrm xmlns:a="http://schemas.openxmlformats.org/drawingml/2006/main">
            <a:off x="1088380" y="3851592"/>
            <a:ext cx="3251200" cy="1217620"/>
          </a:xfrm>
          <a:custGeom xmlns:a="http://schemas.openxmlformats.org/drawingml/2006/main">
            <a:rect l="l" t="t" r="r" b="b"/>
            <a:pathLst>
              <a:path w="3251200" h="1083733">
                <a:moveTo>
                  <a:pt x="74745" y="0"/>
                </a:moveTo>
                <a:lnTo>
                  <a:pt x="3176455" y="0"/>
                </a:lnTo>
                <a:cubicBezTo>
                  <a:pt x="3217735" y="0"/>
                  <a:pt x="3251200" y="33465"/>
                  <a:pt x="3251200" y="74745"/>
                </a:cubicBezTo>
                <a:lnTo>
                  <a:pt x="3251200" y="1008988"/>
                </a:lnTo>
                <a:cubicBezTo>
                  <a:pt x="3251200" y="1050269"/>
                  <a:pt x="3217735" y="1083733"/>
                  <a:pt x="3176455" y="1083733"/>
                </a:cubicBezTo>
                <a:lnTo>
                  <a:pt x="74745" y="1083733"/>
                </a:lnTo>
                <a:cubicBezTo>
                  <a:pt x="33465" y="1083733"/>
                  <a:pt x="0" y="1050269"/>
                  <a:pt x="0" y="1008988"/>
                </a:cubicBezTo>
                <a:lnTo>
                  <a:pt x="0" y="74745"/>
                </a:lnTo>
                <a:cubicBezTo>
                  <a:pt x="0" y="33492"/>
                  <a:pt x="33492" y="0"/>
                  <a:pt x="74745" y="0"/>
                </a:cubicBezTo>
                <a:close/>
              </a:path>
            </a:pathLst>
          </a:custGeom>
          <a:solidFill xmlns:a="http://schemas.openxmlformats.org/drawingml/2006/main">
            <a:srgbClr val="5F87A7">
              <a:alpha val="20000"/>
            </a:srgbClr>
          </a:solidFill>
        </p:spPr>
      </p:sp>
      <p:sp>
        <p:nvSpPr>
          <p:cNvPr id="35" name="Shape 33">
            <a:extLst xmlns:a="http://schemas.openxmlformats.org/drawingml/2006/main">
              <a:ext uri="{FF2B5EF4-FFF2-40B4-BE49-F238E27FC236}">
                <a16:creationId xmlns:a16="http://schemas.microsoft.com/office/drawing/2014/main" id="{6977A643-F603-4558-93F9-68450CC7A7B5}"/>
              </a:ext>
            </a:extLst>
          </p:cNvPr>
          <p:cNvSpPr>
            <a:spLocks xmlns:a="http://schemas.openxmlformats.org/drawingml/2006/main" noGrp="1"/>
          </p:cNvSpPr>
          <p:nvPr/>
        </p:nvSpPr>
        <p:spPr>
          <a:xfrm xmlns:a="http://schemas.openxmlformats.org/drawingml/2006/main">
            <a:off x="1256546" y="3936470"/>
            <a:ext cx="149480" cy="167947"/>
          </a:xfrm>
          <a:custGeom xmlns:a="http://schemas.openxmlformats.org/drawingml/2006/main">
            <a:rect l="l" t="t" r="r" b="b"/>
            <a:pathLst>
              <a:path w="149480" h="149480">
                <a:moveTo>
                  <a:pt x="0" y="74740"/>
                </a:moveTo>
                <a:cubicBezTo>
                  <a:pt x="0" y="33490"/>
                  <a:pt x="33490" y="0"/>
                  <a:pt x="74740" y="0"/>
                </a:cubicBezTo>
                <a:cubicBezTo>
                  <a:pt x="115990" y="0"/>
                  <a:pt x="149480" y="33490"/>
                  <a:pt x="149480" y="74740"/>
                </a:cubicBezTo>
                <a:cubicBezTo>
                  <a:pt x="149480" y="115990"/>
                  <a:pt x="115990" y="149480"/>
                  <a:pt x="74740" y="149480"/>
                </a:cubicBezTo>
                <a:cubicBezTo>
                  <a:pt x="33490" y="149480"/>
                  <a:pt x="0" y="115990"/>
                  <a:pt x="0" y="74740"/>
                </a:cubicBezTo>
                <a:close/>
              </a:path>
            </a:pathLst>
          </a:custGeom>
          <a:solidFill xmlns:a="http://schemas.openxmlformats.org/drawingml/2006/main">
            <a:srgbClr val="E6B450"/>
          </a:solidFill>
        </p:spPr>
      </p:sp>
      <p:sp>
        <p:nvSpPr>
          <p:cNvPr id="36" name="Text 34">
            <a:extLst xmlns:a="http://schemas.openxmlformats.org/drawingml/2006/main">
              <a:ext uri="{FF2B5EF4-FFF2-40B4-BE49-F238E27FC236}">
                <a16:creationId xmlns:a16="http://schemas.microsoft.com/office/drawing/2014/main" id="{2403CBCA-94FE-4EC6-95D8-0556C3DE2E20}"/>
              </a:ext>
            </a:extLst>
          </p:cNvPr>
          <p:cNvSpPr>
            <a:spLocks xmlns:a="http://schemas.openxmlformats.org/drawingml/2006/main" noGrp="1"/>
          </p:cNvSpPr>
          <p:nvPr/>
        </p:nvSpPr>
        <p:spPr>
          <a:xfrm xmlns:a="http://schemas.openxmlformats.org/drawingml/2006/main">
            <a:off x="1536821" y="3873490"/>
            <a:ext cx="1415393" cy="29390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欧几里得距离</a:t>
            </a:r>
            <a:endParaRPr sz="1600"/>
          </a:p>
        </p:txBody>
      </p:sp>
      <p:sp>
        <p:nvSpPr>
          <p:cNvPr id="38" name="Text 36">
            <a:extLst xmlns:a="http://schemas.openxmlformats.org/drawingml/2006/main">
              <a:ext uri="{FF2B5EF4-FFF2-40B4-BE49-F238E27FC236}">
                <a16:creationId xmlns:a16="http://schemas.microsoft.com/office/drawing/2014/main" id="{8461A76B-C841-4307-9D54-39C8CF57EFC1}"/>
              </a:ext>
            </a:extLst>
          </p:cNvPr>
          <p:cNvSpPr>
            <a:spLocks xmlns:a="http://schemas.openxmlformats.org/drawingml/2006/main" noGrp="1"/>
          </p:cNvSpPr>
          <p:nvPr/>
        </p:nvSpPr>
        <p:spPr>
          <a:xfrm xmlns:a="http://schemas.openxmlformats.org/drawingml/2006/main">
            <a:off x="1237861" y="4748406"/>
            <a:ext cx="3017637" cy="20993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连续空间，直线距离</a:t>
            </a:r>
            <a:endParaRPr sz="1600"/>
          </a:p>
        </p:txBody>
      </p:sp>
      <p:sp>
        <p:nvSpPr>
          <p:cNvPr id="39" name="Shape 37">
            <a:extLst xmlns:a="http://schemas.openxmlformats.org/drawingml/2006/main">
              <a:ext uri="{FF2B5EF4-FFF2-40B4-BE49-F238E27FC236}">
                <a16:creationId xmlns:a16="http://schemas.microsoft.com/office/drawing/2014/main" id="{F06D09EC-BD58-429E-8CBC-12642FB06BCC}"/>
              </a:ext>
            </a:extLst>
          </p:cNvPr>
          <p:cNvSpPr>
            <a:spLocks xmlns:a="http://schemas.openxmlformats.org/drawingml/2006/main" noGrp="1"/>
          </p:cNvSpPr>
          <p:nvPr/>
        </p:nvSpPr>
        <p:spPr>
          <a:xfrm xmlns:a="http://schemas.openxmlformats.org/drawingml/2006/main">
            <a:off x="1088380" y="5237159"/>
            <a:ext cx="3251200" cy="1217620"/>
          </a:xfrm>
          <a:custGeom xmlns:a="http://schemas.openxmlformats.org/drawingml/2006/main">
            <a:rect l="l" t="t" r="r" b="b"/>
            <a:pathLst>
              <a:path w="3251200" h="1083733">
                <a:moveTo>
                  <a:pt x="74745" y="0"/>
                </a:moveTo>
                <a:lnTo>
                  <a:pt x="3176455" y="0"/>
                </a:lnTo>
                <a:cubicBezTo>
                  <a:pt x="3217735" y="0"/>
                  <a:pt x="3251200" y="33465"/>
                  <a:pt x="3251200" y="74745"/>
                </a:cubicBezTo>
                <a:lnTo>
                  <a:pt x="3251200" y="1008988"/>
                </a:lnTo>
                <a:cubicBezTo>
                  <a:pt x="3251200" y="1050269"/>
                  <a:pt x="3217735" y="1083733"/>
                  <a:pt x="3176455" y="1083733"/>
                </a:cubicBezTo>
                <a:lnTo>
                  <a:pt x="74745" y="1083733"/>
                </a:lnTo>
                <a:cubicBezTo>
                  <a:pt x="33465" y="1083733"/>
                  <a:pt x="0" y="1050269"/>
                  <a:pt x="0" y="1008988"/>
                </a:cubicBezTo>
                <a:lnTo>
                  <a:pt x="0" y="74745"/>
                </a:lnTo>
                <a:cubicBezTo>
                  <a:pt x="0" y="33492"/>
                  <a:pt x="33492" y="0"/>
                  <a:pt x="74745" y="0"/>
                </a:cubicBezTo>
                <a:close/>
              </a:path>
            </a:pathLst>
          </a:custGeom>
          <a:solidFill xmlns:a="http://schemas.openxmlformats.org/drawingml/2006/main">
            <a:srgbClr val="5F87A7">
              <a:alpha val="20000"/>
            </a:srgbClr>
          </a:solidFill>
        </p:spPr>
      </p:sp>
      <p:sp>
        <p:nvSpPr>
          <p:cNvPr id="40" name="Shape 38">
            <a:extLst xmlns:a="http://schemas.openxmlformats.org/drawingml/2006/main">
              <a:ext uri="{FF2B5EF4-FFF2-40B4-BE49-F238E27FC236}">
                <a16:creationId xmlns:a16="http://schemas.microsoft.com/office/drawing/2014/main" id="{33C675A5-6AC1-46FB-9E57-83E8DB8DC62D}"/>
              </a:ext>
            </a:extLst>
          </p:cNvPr>
          <p:cNvSpPr>
            <a:spLocks xmlns:a="http://schemas.openxmlformats.org/drawingml/2006/main" noGrp="1"/>
          </p:cNvSpPr>
          <p:nvPr/>
        </p:nvSpPr>
        <p:spPr>
          <a:xfrm xmlns:a="http://schemas.openxmlformats.org/drawingml/2006/main">
            <a:off x="1265888" y="5347438"/>
            <a:ext cx="130795" cy="167947"/>
          </a:xfrm>
          <a:custGeom xmlns:a="http://schemas.openxmlformats.org/drawingml/2006/main">
            <a:rect l="l" t="t" r="r" b="b"/>
            <a:pathLst>
              <a:path w="130795" h="149480">
                <a:moveTo>
                  <a:pt x="18685" y="9343"/>
                </a:moveTo>
                <a:lnTo>
                  <a:pt x="112110" y="9343"/>
                </a:lnTo>
                <a:cubicBezTo>
                  <a:pt x="122416" y="9343"/>
                  <a:pt x="130795" y="17722"/>
                  <a:pt x="130795" y="28028"/>
                </a:cubicBezTo>
                <a:lnTo>
                  <a:pt x="130795" y="121453"/>
                </a:lnTo>
                <a:cubicBezTo>
                  <a:pt x="130795" y="131759"/>
                  <a:pt x="122416" y="140138"/>
                  <a:pt x="112110" y="140138"/>
                </a:cubicBezTo>
                <a:lnTo>
                  <a:pt x="18685" y="140138"/>
                </a:lnTo>
                <a:cubicBezTo>
                  <a:pt x="8379" y="140138"/>
                  <a:pt x="0" y="131759"/>
                  <a:pt x="0" y="121453"/>
                </a:cubicBezTo>
                <a:lnTo>
                  <a:pt x="0" y="28028"/>
                </a:lnTo>
                <a:cubicBezTo>
                  <a:pt x="0" y="17722"/>
                  <a:pt x="8379" y="9343"/>
                  <a:pt x="18685" y="9343"/>
                </a:cubicBezTo>
                <a:close/>
              </a:path>
            </a:pathLst>
          </a:custGeom>
          <a:solidFill xmlns:a="http://schemas.openxmlformats.org/drawingml/2006/main">
            <a:srgbClr val="E6B450"/>
          </a:solidFill>
        </p:spPr>
      </p:sp>
      <p:sp>
        <p:nvSpPr>
          <p:cNvPr id="41" name="Text 39">
            <a:extLst xmlns:a="http://schemas.openxmlformats.org/drawingml/2006/main">
              <a:ext uri="{FF2B5EF4-FFF2-40B4-BE49-F238E27FC236}">
                <a16:creationId xmlns:a16="http://schemas.microsoft.com/office/drawing/2014/main" id="{E6267494-7583-4A72-949A-AAEB30F1C552}"/>
              </a:ext>
            </a:extLst>
          </p:cNvPr>
          <p:cNvSpPr>
            <a:spLocks xmlns:a="http://schemas.openxmlformats.org/drawingml/2006/main" noGrp="1"/>
          </p:cNvSpPr>
          <p:nvPr/>
        </p:nvSpPr>
        <p:spPr>
          <a:xfrm xmlns:a="http://schemas.openxmlformats.org/drawingml/2006/main">
            <a:off x="1536821" y="5284458"/>
            <a:ext cx="1578887" cy="29390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切比雪夫距离</a:t>
            </a:r>
            <a:endParaRPr sz="1600"/>
          </a:p>
        </p:txBody>
      </p:sp>
      <p:sp>
        <p:nvSpPr>
          <p:cNvPr id="43" name="Text 41">
            <a:extLst xmlns:a="http://schemas.openxmlformats.org/drawingml/2006/main">
              <a:ext uri="{FF2B5EF4-FFF2-40B4-BE49-F238E27FC236}">
                <a16:creationId xmlns:a16="http://schemas.microsoft.com/office/drawing/2014/main" id="{D77B3494-4870-4C23-985A-EB979D8DE961}"/>
              </a:ext>
            </a:extLst>
          </p:cNvPr>
          <p:cNvSpPr>
            <a:spLocks xmlns:a="http://schemas.openxmlformats.org/drawingml/2006/main" noGrp="1"/>
          </p:cNvSpPr>
          <p:nvPr/>
        </p:nvSpPr>
        <p:spPr>
          <a:xfrm xmlns:a="http://schemas.openxmlformats.org/drawingml/2006/main">
            <a:off x="1237861" y="6133974"/>
            <a:ext cx="3017637" cy="20993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a:latin typeface="微软雅黑"/>
                <a:ea typeface="微软雅黑"/>
                <a:cs typeface="微软雅黑"/>
              </a:rPr>
              <a:t>八方向移动</a:t>
            </a:r>
            <a:endParaRPr sz="1600"/>
          </a:p>
        </p:txBody>
      </p:sp>
      <p:sp>
        <p:nvSpPr>
          <p:cNvPr id="45" name="矩形 44">
            <a:extLst xmlns:a="http://schemas.openxmlformats.org/drawingml/2006/main">
              <a:ext uri="{FF2B5EF4-FFF2-40B4-BE49-F238E27FC236}">
                <a16:creationId xmlns:a16="http://schemas.microsoft.com/office/drawing/2014/main" id="{64A52AED-868F-D123-86D7-1AFB52DA2479}"/>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文本框 45">
            <a:extLst xmlns:a="http://schemas.openxmlformats.org/drawingml/2006/main">
              <a:ext uri="{FF2B5EF4-FFF2-40B4-BE49-F238E27FC236}">
                <a16:creationId xmlns:a16="http://schemas.microsoft.com/office/drawing/2014/main" id="{0E33481C-B021-A1A9-6C9E-1713C909444A}"/>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7.2.1 A*</a:t>
            </a:r>
            <a:r>
              <a:rPr sz="2400" b="1">
                <a:solidFill>
                  <a:schemeClr val="accent1"/>
                </a:solidFill>
                <a:latin typeface="+mj-lt"/>
                <a:ea typeface="+mj-lt"/>
                <a:cs typeface="+mj-lt"/>
              </a:rPr>
              <a:t>规划方法</a:t>
            </a:r>
          </a:p>
        </p:txBody>
      </p:sp>
      <p:pic>
        <p:nvPicPr>
          <p:cNvPr id="65" name="图片 1"/>
          <p:cNvPicPr>
            <a:picLocks xmlns:a="http://schemas.openxmlformats.org/drawingml/2006/main" noChangeAspect="1"/>
          </p:cNvPicPr>
          <p:nvPr/>
        </p:nvPicPr>
        <p:blipFill>
          <a:blip xmlns:r="http://schemas.openxmlformats.org/officeDocument/2006/relationships" xmlns:a="http://schemas.openxmlformats.org/drawingml/2006/main" r:embed="Re24b3aef00a84195"/>
          <a:srcRect xmlns:a="http://schemas.openxmlformats.org/drawingml/2006/main" l="0" t="0" r="0" b="0"/>
          <a:stretch xmlns:a="http://schemas.openxmlformats.org/drawingml/2006/main">
            <a:fillRect l="0" t="0" r="0" b="0"/>
          </a:stretch>
        </p:blipFill>
        <p:spPr>
          <a:xfrm xmlns:a="http://schemas.openxmlformats.org/drawingml/2006/main">
            <a:off x="5626628" y="1703953"/>
            <a:ext cx="4728105" cy="492689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844101361"/>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954F76EA-86BF-4622-A5A3-01031217F84B}"/>
              </a:ext>
            </a:extLst>
          </p:cNvPr>
          <p:cNvSpPr>
            <a:spLocks xmlns:a="http://schemas.openxmlformats.org/drawingml/2006/main" noGrp="1"/>
          </p:cNvSpPr>
          <p:nvPr/>
        </p:nvSpPr>
        <p:spPr>
          <a:xfrm xmlns:a="http://schemas.openxmlformats.org/drawingml/2006/main">
            <a:off x="368390" y="1867298"/>
            <a:ext cx="11192081" cy="1578820"/>
          </a:xfrm>
          <a:custGeom xmlns:a="http://schemas.openxmlformats.org/drawingml/2006/main">
            <a:rect l="l" t="t" r="r" b="b"/>
            <a:pathLst>
              <a:path w="7455540" h="1578820">
                <a:moveTo>
                  <a:pt x="35085" y="0"/>
                </a:moveTo>
                <a:lnTo>
                  <a:pt x="7350280" y="0"/>
                </a:lnTo>
                <a:cubicBezTo>
                  <a:pt x="7408413" y="0"/>
                  <a:pt x="7455540" y="47126"/>
                  <a:pt x="7455540" y="105260"/>
                </a:cubicBezTo>
                <a:lnTo>
                  <a:pt x="7455540" y="1473560"/>
                </a:lnTo>
                <a:cubicBezTo>
                  <a:pt x="7455540" y="1531694"/>
                  <a:pt x="7408413" y="1578820"/>
                  <a:pt x="7350280" y="1578820"/>
                </a:cubicBezTo>
                <a:lnTo>
                  <a:pt x="35085" y="1578820"/>
                </a:lnTo>
                <a:cubicBezTo>
                  <a:pt x="15708" y="1578820"/>
                  <a:pt x="0" y="1563112"/>
                  <a:pt x="0" y="1543735"/>
                </a:cubicBezTo>
                <a:lnTo>
                  <a:pt x="0" y="35085"/>
                </a:lnTo>
                <a:cubicBezTo>
                  <a:pt x="0" y="15721"/>
                  <a:pt x="15721" y="0"/>
                  <a:pt x="35085"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403C5C17-C94E-4750-99A4-9EF1146363CC}"/>
              </a:ext>
            </a:extLst>
          </p:cNvPr>
          <p:cNvSpPr>
            <a:spLocks xmlns:a="http://schemas.openxmlformats.org/drawingml/2006/main" noGrp="1"/>
          </p:cNvSpPr>
          <p:nvPr/>
        </p:nvSpPr>
        <p:spPr>
          <a:xfrm xmlns:a="http://schemas.openxmlformats.org/drawingml/2006/main">
            <a:off x="368391" y="1867298"/>
            <a:ext cx="35085" cy="1578820"/>
          </a:xfrm>
          <a:custGeom xmlns:a="http://schemas.openxmlformats.org/drawingml/2006/main">
            <a:rect l="l" t="t" r="r" b="b"/>
            <a:pathLst>
              <a:path w="35085" h="1578820">
                <a:moveTo>
                  <a:pt x="35085" y="0"/>
                </a:moveTo>
                <a:lnTo>
                  <a:pt x="35085" y="0"/>
                </a:lnTo>
                <a:lnTo>
                  <a:pt x="35085" y="1578820"/>
                </a:lnTo>
                <a:lnTo>
                  <a:pt x="35085" y="1578820"/>
                </a:lnTo>
                <a:cubicBezTo>
                  <a:pt x="15708" y="1578820"/>
                  <a:pt x="0" y="1563112"/>
                  <a:pt x="0" y="1543735"/>
                </a:cubicBezTo>
                <a:lnTo>
                  <a:pt x="0" y="35085"/>
                </a:lnTo>
                <a:cubicBezTo>
                  <a:pt x="0" y="15721"/>
                  <a:pt x="15721" y="0"/>
                  <a:pt x="35085"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46AC42C5-FAF4-4579-B10E-5A14E9CCC3AC}"/>
              </a:ext>
            </a:extLst>
          </p:cNvPr>
          <p:cNvSpPr>
            <a:spLocks xmlns:a="http://schemas.openxmlformats.org/drawingml/2006/main" noGrp="1"/>
          </p:cNvSpPr>
          <p:nvPr/>
        </p:nvSpPr>
        <p:spPr>
          <a:xfrm xmlns:a="http://schemas.openxmlformats.org/drawingml/2006/main">
            <a:off x="565744" y="2112892"/>
            <a:ext cx="210509" cy="210509"/>
          </a:xfrm>
          <a:custGeom xmlns:a="http://schemas.openxmlformats.org/drawingml/2006/main">
            <a:rect l="l" t="t" r="r" b="b"/>
            <a:pathLst>
              <a:path w="210509" h="210509">
                <a:moveTo>
                  <a:pt x="168819" y="51024"/>
                </a:moveTo>
                <a:cubicBezTo>
                  <a:pt x="177329" y="57438"/>
                  <a:pt x="187732" y="63646"/>
                  <a:pt x="199326" y="65209"/>
                </a:cubicBezTo>
                <a:cubicBezTo>
                  <a:pt x="204712" y="65949"/>
                  <a:pt x="209687" y="62125"/>
                  <a:pt x="210427" y="56739"/>
                </a:cubicBezTo>
                <a:cubicBezTo>
                  <a:pt x="211167" y="51353"/>
                  <a:pt x="207343" y="46378"/>
                  <a:pt x="201957" y="45638"/>
                </a:cubicBezTo>
                <a:cubicBezTo>
                  <a:pt x="195420" y="44774"/>
                  <a:pt x="188307" y="40992"/>
                  <a:pt x="180701" y="35277"/>
                </a:cubicBezTo>
                <a:cubicBezTo>
                  <a:pt x="164913" y="23353"/>
                  <a:pt x="143492" y="23353"/>
                  <a:pt x="127662" y="35277"/>
                </a:cubicBezTo>
                <a:cubicBezTo>
                  <a:pt x="117795" y="42719"/>
                  <a:pt x="110929" y="46090"/>
                  <a:pt x="105255" y="46090"/>
                </a:cubicBezTo>
                <a:cubicBezTo>
                  <a:pt x="99581" y="46090"/>
                  <a:pt x="92715" y="42719"/>
                  <a:pt x="82847" y="35277"/>
                </a:cubicBezTo>
                <a:cubicBezTo>
                  <a:pt x="67059" y="23353"/>
                  <a:pt x="45638" y="23353"/>
                  <a:pt x="29808" y="35277"/>
                </a:cubicBezTo>
                <a:cubicBezTo>
                  <a:pt x="22202" y="40992"/>
                  <a:pt x="15089" y="44774"/>
                  <a:pt x="8552" y="45638"/>
                </a:cubicBezTo>
                <a:cubicBezTo>
                  <a:pt x="3166" y="46378"/>
                  <a:pt x="-658" y="51312"/>
                  <a:pt x="82" y="56739"/>
                </a:cubicBezTo>
                <a:cubicBezTo>
                  <a:pt x="822" y="62166"/>
                  <a:pt x="5756" y="65949"/>
                  <a:pt x="11183" y="65209"/>
                </a:cubicBezTo>
                <a:cubicBezTo>
                  <a:pt x="22778" y="63646"/>
                  <a:pt x="33221" y="57438"/>
                  <a:pt x="41691" y="51024"/>
                </a:cubicBezTo>
                <a:cubicBezTo>
                  <a:pt x="50448" y="44404"/>
                  <a:pt x="62207" y="44404"/>
                  <a:pt x="70965" y="51024"/>
                </a:cubicBezTo>
                <a:cubicBezTo>
                  <a:pt x="80915" y="58548"/>
                  <a:pt x="92468" y="65784"/>
                  <a:pt x="105255" y="65784"/>
                </a:cubicBezTo>
                <a:cubicBezTo>
                  <a:pt x="118041" y="65784"/>
                  <a:pt x="129554" y="58507"/>
                  <a:pt x="139545" y="51024"/>
                </a:cubicBezTo>
                <a:cubicBezTo>
                  <a:pt x="148302" y="44404"/>
                  <a:pt x="160061" y="44404"/>
                  <a:pt x="168819" y="51024"/>
                </a:cubicBezTo>
                <a:close/>
                <a:moveTo>
                  <a:pt x="168819" y="110230"/>
                </a:moveTo>
                <a:cubicBezTo>
                  <a:pt x="177329" y="116644"/>
                  <a:pt x="187732" y="122852"/>
                  <a:pt x="199326" y="124414"/>
                </a:cubicBezTo>
                <a:cubicBezTo>
                  <a:pt x="204712" y="125154"/>
                  <a:pt x="209687" y="121331"/>
                  <a:pt x="210427" y="115945"/>
                </a:cubicBezTo>
                <a:cubicBezTo>
                  <a:pt x="211167" y="110559"/>
                  <a:pt x="207343" y="105584"/>
                  <a:pt x="201957" y="104844"/>
                </a:cubicBezTo>
                <a:cubicBezTo>
                  <a:pt x="195420" y="103980"/>
                  <a:pt x="188307" y="100198"/>
                  <a:pt x="180701" y="94483"/>
                </a:cubicBezTo>
                <a:cubicBezTo>
                  <a:pt x="164913" y="82559"/>
                  <a:pt x="143492" y="82559"/>
                  <a:pt x="127662" y="94483"/>
                </a:cubicBezTo>
                <a:cubicBezTo>
                  <a:pt x="117795" y="101924"/>
                  <a:pt x="110929" y="105296"/>
                  <a:pt x="105255" y="105296"/>
                </a:cubicBezTo>
                <a:cubicBezTo>
                  <a:pt x="99581" y="105296"/>
                  <a:pt x="92715" y="101924"/>
                  <a:pt x="82847" y="94483"/>
                </a:cubicBezTo>
                <a:cubicBezTo>
                  <a:pt x="67059" y="82559"/>
                  <a:pt x="45638" y="82559"/>
                  <a:pt x="29808" y="94483"/>
                </a:cubicBezTo>
                <a:cubicBezTo>
                  <a:pt x="22202" y="100198"/>
                  <a:pt x="15089" y="103980"/>
                  <a:pt x="8552" y="104844"/>
                </a:cubicBezTo>
                <a:cubicBezTo>
                  <a:pt x="3166" y="105542"/>
                  <a:pt x="-658" y="110517"/>
                  <a:pt x="82" y="115945"/>
                </a:cubicBezTo>
                <a:cubicBezTo>
                  <a:pt x="822" y="121372"/>
                  <a:pt x="5756" y="125154"/>
                  <a:pt x="11183" y="124414"/>
                </a:cubicBezTo>
                <a:cubicBezTo>
                  <a:pt x="22778" y="122852"/>
                  <a:pt x="33221" y="116644"/>
                  <a:pt x="41691" y="110230"/>
                </a:cubicBezTo>
                <a:cubicBezTo>
                  <a:pt x="50448" y="103610"/>
                  <a:pt x="62207" y="103610"/>
                  <a:pt x="70965" y="110230"/>
                </a:cubicBezTo>
                <a:cubicBezTo>
                  <a:pt x="80915" y="117754"/>
                  <a:pt x="92468" y="124990"/>
                  <a:pt x="105255" y="124990"/>
                </a:cubicBezTo>
                <a:cubicBezTo>
                  <a:pt x="118041" y="124990"/>
                  <a:pt x="129554" y="117713"/>
                  <a:pt x="139545" y="110230"/>
                </a:cubicBezTo>
                <a:cubicBezTo>
                  <a:pt x="148302" y="103610"/>
                  <a:pt x="160061" y="103610"/>
                  <a:pt x="168819" y="110230"/>
                </a:cubicBezTo>
                <a:close/>
                <a:moveTo>
                  <a:pt x="139545" y="169435"/>
                </a:moveTo>
                <a:cubicBezTo>
                  <a:pt x="148302" y="162816"/>
                  <a:pt x="160061" y="162816"/>
                  <a:pt x="168819" y="169435"/>
                </a:cubicBezTo>
                <a:cubicBezTo>
                  <a:pt x="177329" y="175849"/>
                  <a:pt x="187732" y="182058"/>
                  <a:pt x="199326" y="183620"/>
                </a:cubicBezTo>
                <a:cubicBezTo>
                  <a:pt x="204712" y="184360"/>
                  <a:pt x="209687" y="180536"/>
                  <a:pt x="210427" y="175150"/>
                </a:cubicBezTo>
                <a:cubicBezTo>
                  <a:pt x="211167" y="169764"/>
                  <a:pt x="207343" y="164789"/>
                  <a:pt x="201957" y="164049"/>
                </a:cubicBezTo>
                <a:cubicBezTo>
                  <a:pt x="195420" y="163186"/>
                  <a:pt x="188307" y="159403"/>
                  <a:pt x="180701" y="153688"/>
                </a:cubicBezTo>
                <a:cubicBezTo>
                  <a:pt x="164913" y="141765"/>
                  <a:pt x="143492" y="141765"/>
                  <a:pt x="127662" y="153688"/>
                </a:cubicBezTo>
                <a:cubicBezTo>
                  <a:pt x="117795" y="161130"/>
                  <a:pt x="110929" y="164502"/>
                  <a:pt x="105255" y="164502"/>
                </a:cubicBezTo>
                <a:cubicBezTo>
                  <a:pt x="99581" y="164502"/>
                  <a:pt x="92715" y="161130"/>
                  <a:pt x="82847" y="153688"/>
                </a:cubicBezTo>
                <a:cubicBezTo>
                  <a:pt x="67059" y="141765"/>
                  <a:pt x="45638" y="141765"/>
                  <a:pt x="29808" y="153688"/>
                </a:cubicBezTo>
                <a:cubicBezTo>
                  <a:pt x="22202" y="159403"/>
                  <a:pt x="15089" y="163186"/>
                  <a:pt x="8552" y="164049"/>
                </a:cubicBezTo>
                <a:cubicBezTo>
                  <a:pt x="3166" y="164789"/>
                  <a:pt x="-658" y="169723"/>
                  <a:pt x="82" y="175150"/>
                </a:cubicBezTo>
                <a:cubicBezTo>
                  <a:pt x="822" y="180578"/>
                  <a:pt x="5756" y="184360"/>
                  <a:pt x="11183" y="183620"/>
                </a:cubicBezTo>
                <a:cubicBezTo>
                  <a:pt x="22778" y="182058"/>
                  <a:pt x="33221" y="175849"/>
                  <a:pt x="41691" y="169435"/>
                </a:cubicBezTo>
                <a:cubicBezTo>
                  <a:pt x="50448" y="162816"/>
                  <a:pt x="62207" y="162816"/>
                  <a:pt x="70965" y="169435"/>
                </a:cubicBezTo>
                <a:cubicBezTo>
                  <a:pt x="80915" y="176959"/>
                  <a:pt x="92468" y="184196"/>
                  <a:pt x="105255" y="184196"/>
                </a:cubicBezTo>
                <a:cubicBezTo>
                  <a:pt x="118041" y="184196"/>
                  <a:pt x="129554" y="176918"/>
                  <a:pt x="139545" y="169435"/>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898C47B4-57BF-460F-A404-569A03626883}"/>
              </a:ext>
            </a:extLst>
          </p:cNvPr>
          <p:cNvSpPr>
            <a:spLocks xmlns:a="http://schemas.openxmlformats.org/drawingml/2006/main" noGrp="1"/>
          </p:cNvSpPr>
          <p:nvPr/>
        </p:nvSpPr>
        <p:spPr>
          <a:xfrm xmlns:a="http://schemas.openxmlformats.org/drawingml/2006/main">
            <a:off x="883564" y="2077807"/>
            <a:ext cx="6832783" cy="28067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波前规划算法</a:t>
            </a:r>
            <a:endParaRPr/>
          </a:p>
        </p:txBody>
      </p:sp>
      <p:sp>
        <p:nvSpPr>
          <p:cNvPr id="9" name="Text 7">
            <a:extLst xmlns:a="http://schemas.openxmlformats.org/drawingml/2006/main">
              <a:ext uri="{FF2B5EF4-FFF2-40B4-BE49-F238E27FC236}">
                <a16:creationId xmlns:a16="http://schemas.microsoft.com/office/drawing/2014/main" id="{43A01C70-1892-4CB5-ADB5-83DFDD9E153D}"/>
              </a:ext>
            </a:extLst>
          </p:cNvPr>
          <p:cNvSpPr>
            <a:spLocks xmlns:a="http://schemas.openxmlformats.org/drawingml/2006/main" noGrp="1"/>
          </p:cNvSpPr>
          <p:nvPr/>
        </p:nvSpPr>
        <p:spPr>
          <a:xfrm xmlns:a="http://schemas.openxmlformats.org/drawingml/2006/main">
            <a:off x="883564" y="2463741"/>
            <a:ext cx="10310436" cy="7718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b="1">
                <a:latin typeface="微软雅黑"/>
                <a:ea typeface="微软雅黑"/>
                <a:cs typeface="微软雅黑"/>
              </a:rPr>
              <a:t>波前(wavefront)规划算法</a:t>
            </a:r>
            <a:r>
              <a:rPr sz="1600">
                <a:latin typeface="微软雅黑"/>
                <a:ea typeface="微软雅黑"/>
                <a:cs typeface="微软雅黑"/>
              </a:rPr>
              <a:t>是一种在占用栅格地图上两点之间确定最短路径的常用算法。按照波前理论，可将位形空间视为具有</a:t>
            </a:r>
            <a:r>
              <a:rPr sz="1600">
                <a:highlight>
                  <a:srgbClr val="E6B450">
                    <a:alpha val="20000"/>
                  </a:srgbClr>
                </a:highlight>
                <a:latin typeface="微软雅黑"/>
                <a:ea typeface="微软雅黑"/>
                <a:cs typeface="微软雅黑"/>
              </a:rPr>
              <a:t> 导热性 </a:t>
            </a:r>
            <a:r>
              <a:rPr sz="1600">
                <a:latin typeface="微软雅黑"/>
                <a:ea typeface="微软雅黑"/>
                <a:cs typeface="微软雅黑"/>
              </a:rPr>
              <a:t>的材料，而热量会从初始节点辐射至目标节点。在存在可行路径的情况下，热量最终将扩散到目标处。</a:t>
            </a:r>
            <a:endParaRPr sz="1600"/>
          </a:p>
        </p:txBody>
      </p:sp>
      <p:sp>
        <p:nvSpPr>
          <p:cNvPr id="10" name="Shape 8">
            <a:extLst xmlns:a="http://schemas.openxmlformats.org/drawingml/2006/main">
              <a:ext uri="{FF2B5EF4-FFF2-40B4-BE49-F238E27FC236}">
                <a16:creationId xmlns:a16="http://schemas.microsoft.com/office/drawing/2014/main" id="{C3A55196-395B-404C-A5A1-2B026FACDB7D}"/>
              </a:ext>
            </a:extLst>
          </p:cNvPr>
          <p:cNvSpPr>
            <a:spLocks xmlns:a="http://schemas.openxmlformats.org/drawingml/2006/main" noGrp="1"/>
          </p:cNvSpPr>
          <p:nvPr/>
        </p:nvSpPr>
        <p:spPr>
          <a:xfrm xmlns:a="http://schemas.openxmlformats.org/drawingml/2006/main">
            <a:off x="368390" y="3654434"/>
            <a:ext cx="11192081" cy="1324455"/>
          </a:xfrm>
          <a:custGeom xmlns:a="http://schemas.openxmlformats.org/drawingml/2006/main">
            <a:rect l="l" t="t" r="r" b="b"/>
            <a:pathLst>
              <a:path w="7455540" h="1324455">
                <a:moveTo>
                  <a:pt x="35085" y="0"/>
                </a:moveTo>
                <a:lnTo>
                  <a:pt x="7350285" y="0"/>
                </a:lnTo>
                <a:cubicBezTo>
                  <a:pt x="7408416" y="0"/>
                  <a:pt x="7455540" y="47124"/>
                  <a:pt x="7455540" y="105254"/>
                </a:cubicBezTo>
                <a:lnTo>
                  <a:pt x="7455540" y="1219200"/>
                </a:lnTo>
                <a:cubicBezTo>
                  <a:pt x="7455540" y="1277331"/>
                  <a:pt x="7408416" y="1324455"/>
                  <a:pt x="7350285" y="1324455"/>
                </a:cubicBezTo>
                <a:lnTo>
                  <a:pt x="35085" y="1324455"/>
                </a:lnTo>
                <a:cubicBezTo>
                  <a:pt x="15708" y="1324455"/>
                  <a:pt x="0" y="1308747"/>
                  <a:pt x="0" y="1289370"/>
                </a:cubicBezTo>
                <a:lnTo>
                  <a:pt x="0" y="35085"/>
                </a:lnTo>
                <a:cubicBezTo>
                  <a:pt x="0" y="15721"/>
                  <a:pt x="15721" y="0"/>
                  <a:pt x="35085"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7A5239C1-F316-4B57-BEF4-176D1F0CD4A6}"/>
              </a:ext>
            </a:extLst>
          </p:cNvPr>
          <p:cNvSpPr>
            <a:spLocks xmlns:a="http://schemas.openxmlformats.org/drawingml/2006/main" noGrp="1"/>
          </p:cNvSpPr>
          <p:nvPr/>
        </p:nvSpPr>
        <p:spPr>
          <a:xfrm xmlns:a="http://schemas.openxmlformats.org/drawingml/2006/main">
            <a:off x="368391" y="3654434"/>
            <a:ext cx="35085" cy="1324455"/>
          </a:xfrm>
          <a:custGeom xmlns:a="http://schemas.openxmlformats.org/drawingml/2006/main">
            <a:rect l="l" t="t" r="r" b="b"/>
            <a:pathLst>
              <a:path w="35085" h="1324455">
                <a:moveTo>
                  <a:pt x="35085" y="0"/>
                </a:moveTo>
                <a:lnTo>
                  <a:pt x="35085" y="0"/>
                </a:lnTo>
                <a:lnTo>
                  <a:pt x="35085" y="1324455"/>
                </a:lnTo>
                <a:lnTo>
                  <a:pt x="35085" y="1324455"/>
                </a:lnTo>
                <a:cubicBezTo>
                  <a:pt x="15708" y="1324455"/>
                  <a:pt x="0" y="1308747"/>
                  <a:pt x="0" y="1289370"/>
                </a:cubicBezTo>
                <a:lnTo>
                  <a:pt x="0" y="35085"/>
                </a:lnTo>
                <a:cubicBezTo>
                  <a:pt x="0" y="15721"/>
                  <a:pt x="15721" y="0"/>
                  <a:pt x="35085"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017A3FC0-1C65-4134-A456-1ADA1ECD36AE}"/>
              </a:ext>
            </a:extLst>
          </p:cNvPr>
          <p:cNvSpPr>
            <a:spLocks xmlns:a="http://schemas.openxmlformats.org/drawingml/2006/main" noGrp="1"/>
          </p:cNvSpPr>
          <p:nvPr/>
        </p:nvSpPr>
        <p:spPr>
          <a:xfrm xmlns:a="http://schemas.openxmlformats.org/drawingml/2006/main">
            <a:off x="596443" y="3900029"/>
            <a:ext cx="157882" cy="210509"/>
          </a:xfrm>
          <a:custGeom xmlns:a="http://schemas.openxmlformats.org/drawingml/2006/main">
            <a:rect l="l" t="t" r="r" b="b"/>
            <a:pathLst>
              <a:path w="157882" h="210509">
                <a:moveTo>
                  <a:pt x="120426" y="157882"/>
                </a:moveTo>
                <a:cubicBezTo>
                  <a:pt x="123428" y="148713"/>
                  <a:pt x="129430" y="140408"/>
                  <a:pt x="136214" y="133254"/>
                </a:cubicBezTo>
                <a:cubicBezTo>
                  <a:pt x="149659" y="119110"/>
                  <a:pt x="157882" y="99992"/>
                  <a:pt x="157882" y="78941"/>
                </a:cubicBezTo>
                <a:cubicBezTo>
                  <a:pt x="157882" y="35359"/>
                  <a:pt x="122523" y="0"/>
                  <a:pt x="78941" y="0"/>
                </a:cubicBezTo>
                <a:cubicBezTo>
                  <a:pt x="35359" y="0"/>
                  <a:pt x="0" y="35359"/>
                  <a:pt x="0" y="78941"/>
                </a:cubicBezTo>
                <a:cubicBezTo>
                  <a:pt x="0" y="99992"/>
                  <a:pt x="8223" y="119110"/>
                  <a:pt x="21668" y="133254"/>
                </a:cubicBezTo>
                <a:cubicBezTo>
                  <a:pt x="28452" y="140408"/>
                  <a:pt x="34496" y="148713"/>
                  <a:pt x="37456" y="157882"/>
                </a:cubicBezTo>
                <a:lnTo>
                  <a:pt x="120385" y="157882"/>
                </a:lnTo>
                <a:close/>
                <a:moveTo>
                  <a:pt x="118412" y="177617"/>
                </a:moveTo>
                <a:lnTo>
                  <a:pt x="39471" y="177617"/>
                </a:lnTo>
                <a:lnTo>
                  <a:pt x="39471" y="184196"/>
                </a:lnTo>
                <a:cubicBezTo>
                  <a:pt x="39471" y="202369"/>
                  <a:pt x="54190" y="217088"/>
                  <a:pt x="72363" y="217088"/>
                </a:cubicBezTo>
                <a:lnTo>
                  <a:pt x="85519" y="217088"/>
                </a:lnTo>
                <a:cubicBezTo>
                  <a:pt x="103692" y="217088"/>
                  <a:pt x="118412" y="202369"/>
                  <a:pt x="118412" y="184196"/>
                </a:cubicBezTo>
                <a:lnTo>
                  <a:pt x="118412" y="177617"/>
                </a:lnTo>
                <a:close/>
                <a:moveTo>
                  <a:pt x="75652" y="46049"/>
                </a:moveTo>
                <a:cubicBezTo>
                  <a:pt x="59288" y="46049"/>
                  <a:pt x="46049" y="59288"/>
                  <a:pt x="46049" y="75652"/>
                </a:cubicBezTo>
                <a:cubicBezTo>
                  <a:pt x="46049" y="81120"/>
                  <a:pt x="41650" y="85519"/>
                  <a:pt x="36181" y="85519"/>
                </a:cubicBezTo>
                <a:cubicBezTo>
                  <a:pt x="30713" y="85519"/>
                  <a:pt x="26314" y="81120"/>
                  <a:pt x="26314" y="75652"/>
                </a:cubicBezTo>
                <a:cubicBezTo>
                  <a:pt x="26314" y="48392"/>
                  <a:pt x="48392" y="26314"/>
                  <a:pt x="75652" y="26314"/>
                </a:cubicBezTo>
                <a:cubicBezTo>
                  <a:pt x="81120" y="26314"/>
                  <a:pt x="85519" y="30713"/>
                  <a:pt x="85519" y="36181"/>
                </a:cubicBezTo>
                <a:cubicBezTo>
                  <a:pt x="85519" y="41650"/>
                  <a:pt x="81120" y="46049"/>
                  <a:pt x="75652" y="46049"/>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50A03EB5-FF37-4016-B6B0-0749F853C196}"/>
              </a:ext>
            </a:extLst>
          </p:cNvPr>
          <p:cNvSpPr>
            <a:spLocks xmlns:a="http://schemas.openxmlformats.org/drawingml/2006/main" noGrp="1"/>
          </p:cNvSpPr>
          <p:nvPr/>
        </p:nvSpPr>
        <p:spPr>
          <a:xfrm xmlns:a="http://schemas.openxmlformats.org/drawingml/2006/main">
            <a:off x="890964" y="3864944"/>
            <a:ext cx="6832783" cy="28067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波前传播特点</a:t>
            </a:r>
            <a:endParaRPr/>
          </a:p>
        </p:txBody>
      </p:sp>
      <p:sp>
        <p:nvSpPr>
          <p:cNvPr id="14" name="Text 12">
            <a:extLst xmlns:a="http://schemas.openxmlformats.org/drawingml/2006/main">
              <a:ext uri="{FF2B5EF4-FFF2-40B4-BE49-F238E27FC236}">
                <a16:creationId xmlns:a16="http://schemas.microsoft.com/office/drawing/2014/main" id="{53CE858D-EBEF-4731-9F11-95F64D84B7A0}"/>
              </a:ext>
            </a:extLst>
          </p:cNvPr>
          <p:cNvSpPr>
            <a:spLocks xmlns:a="http://schemas.openxmlformats.org/drawingml/2006/main" noGrp="1"/>
          </p:cNvSpPr>
          <p:nvPr/>
        </p:nvSpPr>
        <p:spPr>
          <a:xfrm xmlns:a="http://schemas.openxmlformats.org/drawingml/2006/main">
            <a:off x="890964" y="4250877"/>
            <a:ext cx="10310436" cy="5175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波前传播具有两个有趣的特点：第一，从所有栅格单元到目标节点的</a:t>
            </a:r>
            <a:r>
              <a:rPr sz="1600" b="1">
                <a:latin typeface="微软雅黑"/>
                <a:ea typeface="微软雅黑"/>
                <a:cs typeface="微软雅黑"/>
              </a:rPr>
              <a:t>最佳路径</a:t>
            </a:r>
            <a:r>
              <a:rPr sz="1600">
                <a:latin typeface="微软雅黑"/>
                <a:ea typeface="微软雅黑"/>
                <a:cs typeface="微软雅黑"/>
              </a:rPr>
              <a:t>将作为路径规划的"副产品"；第二，可以利用不同的</a:t>
            </a:r>
            <a:r>
              <a:rPr sz="1600" b="1">
                <a:latin typeface="微软雅黑"/>
                <a:ea typeface="微软雅黑"/>
                <a:cs typeface="微软雅黑"/>
              </a:rPr>
              <a:t>热传导率</a:t>
            </a:r>
            <a:r>
              <a:rPr sz="1600">
                <a:latin typeface="微软雅黑"/>
                <a:ea typeface="微软雅黑"/>
                <a:cs typeface="微软雅黑"/>
              </a:rPr>
              <a:t>表达穿越任意地形的成本。</a:t>
            </a:r>
            <a:endParaRPr sz="1600"/>
          </a:p>
        </p:txBody>
      </p:sp>
      <p:sp>
        <p:nvSpPr>
          <p:cNvPr id="15" name="Shape 13">
            <a:extLst xmlns:a="http://schemas.openxmlformats.org/drawingml/2006/main">
              <a:ext uri="{FF2B5EF4-FFF2-40B4-BE49-F238E27FC236}">
                <a16:creationId xmlns:a16="http://schemas.microsoft.com/office/drawing/2014/main" id="{2F11223A-30C3-41E1-90D9-DF7D9CE16F09}"/>
              </a:ext>
            </a:extLst>
          </p:cNvPr>
          <p:cNvSpPr>
            <a:spLocks xmlns:a="http://schemas.openxmlformats.org/drawingml/2006/main" noGrp="1"/>
          </p:cNvSpPr>
          <p:nvPr/>
        </p:nvSpPr>
        <p:spPr>
          <a:xfrm xmlns:a="http://schemas.openxmlformats.org/drawingml/2006/main">
            <a:off x="355235" y="5189398"/>
            <a:ext cx="11205248" cy="1587591"/>
          </a:xfrm>
          <a:custGeom xmlns:a="http://schemas.openxmlformats.org/drawingml/2006/main">
            <a:rect l="l" t="t" r="r" b="b"/>
            <a:pathLst>
              <a:path w="7464311" h="1587591">
                <a:moveTo>
                  <a:pt x="105257" y="0"/>
                </a:moveTo>
                <a:lnTo>
                  <a:pt x="7359053" y="0"/>
                </a:lnTo>
                <a:cubicBezTo>
                  <a:pt x="7417185" y="0"/>
                  <a:pt x="7464311" y="47125"/>
                  <a:pt x="7464311" y="105257"/>
                </a:cubicBezTo>
                <a:lnTo>
                  <a:pt x="7464311" y="1482334"/>
                </a:lnTo>
                <a:cubicBezTo>
                  <a:pt x="7464311" y="1540466"/>
                  <a:pt x="7417185" y="1587591"/>
                  <a:pt x="7359053" y="1587591"/>
                </a:cubicBezTo>
                <a:lnTo>
                  <a:pt x="105257" y="1587591"/>
                </a:lnTo>
                <a:cubicBezTo>
                  <a:pt x="47125" y="1587591"/>
                  <a:pt x="0" y="1540466"/>
                  <a:pt x="0" y="1482334"/>
                </a:cubicBezTo>
                <a:lnTo>
                  <a:pt x="0" y="105257"/>
                </a:lnTo>
                <a:cubicBezTo>
                  <a:pt x="0" y="47164"/>
                  <a:pt x="47164" y="0"/>
                  <a:pt x="10525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6" name="Shape 14">
            <a:extLst xmlns:a="http://schemas.openxmlformats.org/drawingml/2006/main">
              <a:ext uri="{FF2B5EF4-FFF2-40B4-BE49-F238E27FC236}">
                <a16:creationId xmlns:a16="http://schemas.microsoft.com/office/drawing/2014/main" id="{FE552E0F-9734-427C-A72C-C62B5EF99624}"/>
              </a:ext>
            </a:extLst>
          </p:cNvPr>
          <p:cNvSpPr>
            <a:spLocks xmlns:a="http://schemas.openxmlformats.org/drawingml/2006/main" noGrp="1"/>
          </p:cNvSpPr>
          <p:nvPr/>
        </p:nvSpPr>
        <p:spPr>
          <a:xfrm xmlns:a="http://schemas.openxmlformats.org/drawingml/2006/main">
            <a:off x="539430" y="5439378"/>
            <a:ext cx="210509" cy="210509"/>
          </a:xfrm>
          <a:custGeom xmlns:a="http://schemas.openxmlformats.org/drawingml/2006/main">
            <a:rect l="l" t="t" r="r" b="b"/>
            <a:pathLst>
              <a:path w="210509" h="210509">
                <a:moveTo>
                  <a:pt x="80216" y="3906"/>
                </a:moveTo>
                <a:cubicBezTo>
                  <a:pt x="81449" y="-2179"/>
                  <a:pt x="86835" y="-6578"/>
                  <a:pt x="93085" y="-6578"/>
                </a:cubicBezTo>
                <a:lnTo>
                  <a:pt x="117671" y="-6578"/>
                </a:lnTo>
                <a:cubicBezTo>
                  <a:pt x="123921" y="-6578"/>
                  <a:pt x="129307" y="-2179"/>
                  <a:pt x="130540" y="3906"/>
                </a:cubicBezTo>
                <a:lnTo>
                  <a:pt x="136502" y="32687"/>
                </a:lnTo>
                <a:cubicBezTo>
                  <a:pt x="142299" y="35153"/>
                  <a:pt x="147727" y="38319"/>
                  <a:pt x="152660" y="42061"/>
                </a:cubicBezTo>
                <a:lnTo>
                  <a:pt x="180536" y="32810"/>
                </a:lnTo>
                <a:cubicBezTo>
                  <a:pt x="186457" y="30836"/>
                  <a:pt x="192953" y="33303"/>
                  <a:pt x="196078" y="38730"/>
                </a:cubicBezTo>
                <a:lnTo>
                  <a:pt x="208371" y="60028"/>
                </a:lnTo>
                <a:cubicBezTo>
                  <a:pt x="211496" y="65455"/>
                  <a:pt x="210386" y="72280"/>
                  <a:pt x="205699" y="76433"/>
                </a:cubicBezTo>
                <a:lnTo>
                  <a:pt x="183785" y="95922"/>
                </a:lnTo>
                <a:cubicBezTo>
                  <a:pt x="184155" y="98964"/>
                  <a:pt x="184319" y="102089"/>
                  <a:pt x="184319" y="105255"/>
                </a:cubicBezTo>
                <a:cubicBezTo>
                  <a:pt x="184319" y="108421"/>
                  <a:pt x="184113" y="111545"/>
                  <a:pt x="183785" y="114588"/>
                </a:cubicBezTo>
                <a:lnTo>
                  <a:pt x="205740" y="134117"/>
                </a:lnTo>
                <a:cubicBezTo>
                  <a:pt x="210427" y="138270"/>
                  <a:pt x="211496" y="145136"/>
                  <a:pt x="208412" y="150522"/>
                </a:cubicBezTo>
                <a:lnTo>
                  <a:pt x="196119" y="171820"/>
                </a:lnTo>
                <a:cubicBezTo>
                  <a:pt x="192994" y="177206"/>
                  <a:pt x="186498" y="179714"/>
                  <a:pt x="180578" y="177741"/>
                </a:cubicBezTo>
                <a:lnTo>
                  <a:pt x="152702" y="168490"/>
                </a:lnTo>
                <a:cubicBezTo>
                  <a:pt x="147727" y="172231"/>
                  <a:pt x="142299" y="175356"/>
                  <a:pt x="136543" y="177864"/>
                </a:cubicBezTo>
                <a:lnTo>
                  <a:pt x="130623" y="206603"/>
                </a:lnTo>
                <a:cubicBezTo>
                  <a:pt x="129348" y="212730"/>
                  <a:pt x="123962" y="217088"/>
                  <a:pt x="117754" y="217088"/>
                </a:cubicBezTo>
                <a:lnTo>
                  <a:pt x="93167" y="217088"/>
                </a:lnTo>
                <a:cubicBezTo>
                  <a:pt x="86917" y="217088"/>
                  <a:pt x="81531" y="212688"/>
                  <a:pt x="80298" y="206603"/>
                </a:cubicBezTo>
                <a:lnTo>
                  <a:pt x="74377" y="177864"/>
                </a:lnTo>
                <a:cubicBezTo>
                  <a:pt x="68580" y="175397"/>
                  <a:pt x="63194" y="172231"/>
                  <a:pt x="58219" y="168490"/>
                </a:cubicBezTo>
                <a:lnTo>
                  <a:pt x="30220" y="177741"/>
                </a:lnTo>
                <a:cubicBezTo>
                  <a:pt x="24299" y="179714"/>
                  <a:pt x="17803" y="177247"/>
                  <a:pt x="14678" y="171820"/>
                </a:cubicBezTo>
                <a:lnTo>
                  <a:pt x="2385" y="150522"/>
                </a:lnTo>
                <a:cubicBezTo>
                  <a:pt x="-740" y="145095"/>
                  <a:pt x="370" y="138270"/>
                  <a:pt x="5057" y="134117"/>
                </a:cubicBezTo>
                <a:lnTo>
                  <a:pt x="27013" y="114588"/>
                </a:lnTo>
                <a:cubicBezTo>
                  <a:pt x="26643" y="111545"/>
                  <a:pt x="26478" y="108421"/>
                  <a:pt x="26478" y="105255"/>
                </a:cubicBezTo>
                <a:cubicBezTo>
                  <a:pt x="26478" y="102089"/>
                  <a:pt x="26684" y="98964"/>
                  <a:pt x="27013" y="95922"/>
                </a:cubicBezTo>
                <a:lnTo>
                  <a:pt x="5057" y="76392"/>
                </a:lnTo>
                <a:cubicBezTo>
                  <a:pt x="370" y="72239"/>
                  <a:pt x="-699" y="65373"/>
                  <a:pt x="2385" y="59987"/>
                </a:cubicBezTo>
                <a:lnTo>
                  <a:pt x="14678" y="38689"/>
                </a:lnTo>
                <a:cubicBezTo>
                  <a:pt x="17803" y="33262"/>
                  <a:pt x="24299" y="30795"/>
                  <a:pt x="30220" y="32769"/>
                </a:cubicBezTo>
                <a:lnTo>
                  <a:pt x="58096" y="42020"/>
                </a:lnTo>
                <a:cubicBezTo>
                  <a:pt x="63071" y="38278"/>
                  <a:pt x="68498" y="35153"/>
                  <a:pt x="74254" y="32645"/>
                </a:cubicBezTo>
                <a:lnTo>
                  <a:pt x="80216" y="3906"/>
                </a:lnTo>
                <a:close/>
                <a:moveTo>
                  <a:pt x="105378" y="138147"/>
                </a:moveTo>
                <a:cubicBezTo>
                  <a:pt x="117129" y="138103"/>
                  <a:pt x="127964" y="131793"/>
                  <a:pt x="133802" y="121594"/>
                </a:cubicBezTo>
                <a:cubicBezTo>
                  <a:pt x="139639" y="111395"/>
                  <a:pt x="139592" y="98857"/>
                  <a:pt x="133678" y="88702"/>
                </a:cubicBezTo>
                <a:cubicBezTo>
                  <a:pt x="127765" y="78547"/>
                  <a:pt x="116883" y="72319"/>
                  <a:pt x="105131" y="72363"/>
                </a:cubicBezTo>
                <a:cubicBezTo>
                  <a:pt x="93380" y="72407"/>
                  <a:pt x="82545" y="78717"/>
                  <a:pt x="76708" y="88915"/>
                </a:cubicBezTo>
                <a:cubicBezTo>
                  <a:pt x="70870" y="99114"/>
                  <a:pt x="70917" y="111653"/>
                  <a:pt x="76831" y="121808"/>
                </a:cubicBezTo>
                <a:cubicBezTo>
                  <a:pt x="82745" y="131962"/>
                  <a:pt x="93627" y="138191"/>
                  <a:pt x="105378" y="138147"/>
                </a:cubicBez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8D96189D-4D63-4BC0-8577-B33F8F1E4E46}"/>
              </a:ext>
            </a:extLst>
          </p:cNvPr>
          <p:cNvSpPr>
            <a:spLocks xmlns:a="http://schemas.openxmlformats.org/drawingml/2006/main" noGrp="1"/>
          </p:cNvSpPr>
          <p:nvPr/>
        </p:nvSpPr>
        <p:spPr>
          <a:xfrm xmlns:a="http://schemas.openxmlformats.org/drawingml/2006/main">
            <a:off x="857250" y="5404293"/>
            <a:ext cx="6850325" cy="28067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算法假设</a:t>
            </a:r>
            <a:endParaRPr/>
          </a:p>
        </p:txBody>
      </p:sp>
      <p:sp>
        <p:nvSpPr>
          <p:cNvPr id="18" name="Text 16">
            <a:extLst xmlns:a="http://schemas.openxmlformats.org/drawingml/2006/main">
              <a:ext uri="{FF2B5EF4-FFF2-40B4-BE49-F238E27FC236}">
                <a16:creationId xmlns:a16="http://schemas.microsoft.com/office/drawing/2014/main" id="{4C960CE3-E19F-40F0-8227-54A6A2CC5E90}"/>
              </a:ext>
            </a:extLst>
          </p:cNvPr>
          <p:cNvSpPr>
            <a:spLocks xmlns:a="http://schemas.openxmlformats.org/drawingml/2006/main" noGrp="1"/>
          </p:cNvSpPr>
          <p:nvPr/>
        </p:nvSpPr>
        <p:spPr>
          <a:xfrm xmlns:a="http://schemas.openxmlformats.org/drawingml/2006/main">
            <a:off x="857250" y="5790227"/>
            <a:ext cx="10337010" cy="7718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这种方法中，全局路径规划器假设地图中每个单元格的大小都能够容纳机器人。假设机器人建立了一个二维的占用栅格地图来表示它所处的环境，并且机器人的当前位置以及期望位置在地图中是已知的。</a:t>
            </a:r>
            <a:endParaRPr sz="1600"/>
          </a:p>
        </p:txBody>
      </p:sp>
      <p:sp>
        <p:nvSpPr>
          <p:cNvPr id="40" name="矩形 39">
            <a:extLst xmlns:a="http://schemas.openxmlformats.org/drawingml/2006/main">
              <a:ext uri="{FF2B5EF4-FFF2-40B4-BE49-F238E27FC236}">
                <a16:creationId xmlns:a16="http://schemas.microsoft.com/office/drawing/2014/main" id="{E1C74BBA-976F-84DA-8C47-0D10EF8C2FDF}"/>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文本框 40">
            <a:extLst xmlns:a="http://schemas.openxmlformats.org/drawingml/2006/main">
              <a:ext uri="{FF2B5EF4-FFF2-40B4-BE49-F238E27FC236}">
                <a16:creationId xmlns:a16="http://schemas.microsoft.com/office/drawing/2014/main" id="{C19FAC2D-0C92-4018-8E4E-B5F950177D66}"/>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7.2.1</a:t>
            </a:r>
            <a:r>
              <a:rPr sz="2400" b="1">
                <a:solidFill>
                  <a:schemeClr val="accent1"/>
                </a:solidFill>
                <a:latin typeface="+mj-lt"/>
                <a:ea typeface="+mj-lt"/>
                <a:cs typeface="+mj-lt"/>
              </a:rPr>
              <a:t>波前传播规划方法</a:t>
            </a:r>
          </a:p>
        </p:txBody>
      </p:sp>
    </p:spTree>
    <p:extLst>
      <p:ext uri="{BB962C8B-B14F-4D97-AF65-F5344CB8AC3E}">
        <p14:creationId xmlns:p14="http://schemas.microsoft.com/office/powerpoint/2010/main" val="1094706692"/>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2C8026C0-54C2-48E2-BF1F-8EB929272873}"/>
              </a:ext>
            </a:extLst>
          </p:cNvPr>
          <p:cNvSpPr>
            <a:spLocks xmlns:a="http://schemas.openxmlformats.org/drawingml/2006/main" noGrp="1"/>
          </p:cNvSpPr>
          <p:nvPr/>
        </p:nvSpPr>
        <p:spPr>
          <a:xfrm xmlns:a="http://schemas.openxmlformats.org/drawingml/2006/main">
            <a:off x="391486" y="1945822"/>
            <a:ext cx="7550092" cy="1677798"/>
          </a:xfrm>
          <a:custGeom xmlns:a="http://schemas.openxmlformats.org/drawingml/2006/main">
            <a:rect l="l" t="t" r="r" b="b"/>
            <a:pathLst>
              <a:path w="7550092" h="1677798">
                <a:moveTo>
                  <a:pt x="37284" y="0"/>
                </a:moveTo>
                <a:lnTo>
                  <a:pt x="7438233" y="0"/>
                </a:lnTo>
                <a:cubicBezTo>
                  <a:pt x="7500011" y="0"/>
                  <a:pt x="7550092" y="50081"/>
                  <a:pt x="7550092" y="111859"/>
                </a:cubicBezTo>
                <a:lnTo>
                  <a:pt x="7550092" y="1565939"/>
                </a:lnTo>
                <a:cubicBezTo>
                  <a:pt x="7550092" y="1627717"/>
                  <a:pt x="7500011" y="1677798"/>
                  <a:pt x="7438233" y="1677798"/>
                </a:cubicBezTo>
                <a:lnTo>
                  <a:pt x="37284" y="1677798"/>
                </a:lnTo>
                <a:cubicBezTo>
                  <a:pt x="16693" y="1677798"/>
                  <a:pt x="0" y="1661105"/>
                  <a:pt x="0" y="1640514"/>
                </a:cubicBezTo>
                <a:lnTo>
                  <a:pt x="0" y="37284"/>
                </a:lnTo>
                <a:cubicBezTo>
                  <a:pt x="0" y="16693"/>
                  <a:pt x="16693" y="0"/>
                  <a:pt x="37284"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B1BE1781-B96B-43D7-8EC5-9E6D66B2C35C}"/>
              </a:ext>
            </a:extLst>
          </p:cNvPr>
          <p:cNvSpPr>
            <a:spLocks xmlns:a="http://schemas.openxmlformats.org/drawingml/2006/main" noGrp="1"/>
          </p:cNvSpPr>
          <p:nvPr/>
        </p:nvSpPr>
        <p:spPr>
          <a:xfrm xmlns:a="http://schemas.openxmlformats.org/drawingml/2006/main">
            <a:off x="391486" y="1945822"/>
            <a:ext cx="37284" cy="1677798"/>
          </a:xfrm>
          <a:custGeom xmlns:a="http://schemas.openxmlformats.org/drawingml/2006/main">
            <a:rect l="l" t="t" r="r" b="b"/>
            <a:pathLst>
              <a:path w="37284" h="1677798">
                <a:moveTo>
                  <a:pt x="37284" y="0"/>
                </a:moveTo>
                <a:lnTo>
                  <a:pt x="37284" y="0"/>
                </a:lnTo>
                <a:lnTo>
                  <a:pt x="37284" y="1677798"/>
                </a:lnTo>
                <a:lnTo>
                  <a:pt x="37284" y="1677798"/>
                </a:lnTo>
                <a:cubicBezTo>
                  <a:pt x="16693" y="1677798"/>
                  <a:pt x="0" y="1661105"/>
                  <a:pt x="0" y="1640514"/>
                </a:cubicBezTo>
                <a:lnTo>
                  <a:pt x="0" y="37284"/>
                </a:lnTo>
                <a:cubicBezTo>
                  <a:pt x="0" y="16693"/>
                  <a:pt x="16693" y="0"/>
                  <a:pt x="37284"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5B7A230F-56D3-4DFD-B11A-0193B668C17A}"/>
              </a:ext>
            </a:extLst>
          </p:cNvPr>
          <p:cNvSpPr>
            <a:spLocks xmlns:a="http://schemas.openxmlformats.org/drawingml/2006/main" noGrp="1"/>
          </p:cNvSpPr>
          <p:nvPr/>
        </p:nvSpPr>
        <p:spPr>
          <a:xfrm xmlns:a="http://schemas.openxmlformats.org/drawingml/2006/main">
            <a:off x="601211" y="2206813"/>
            <a:ext cx="223706" cy="223706"/>
          </a:xfrm>
          <a:custGeom xmlns:a="http://schemas.openxmlformats.org/drawingml/2006/main">
            <a:rect l="l" t="t" r="r" b="b"/>
            <a:pathLst>
              <a:path w="223706" h="223706">
                <a:moveTo>
                  <a:pt x="85244" y="4151"/>
                </a:moveTo>
                <a:cubicBezTo>
                  <a:pt x="86555" y="-2316"/>
                  <a:pt x="92279" y="-6991"/>
                  <a:pt x="98920" y="-6991"/>
                </a:cubicBezTo>
                <a:lnTo>
                  <a:pt x="125048" y="-6991"/>
                </a:lnTo>
                <a:cubicBezTo>
                  <a:pt x="131690" y="-6991"/>
                  <a:pt x="137413" y="-2316"/>
                  <a:pt x="138724" y="4151"/>
                </a:cubicBezTo>
                <a:lnTo>
                  <a:pt x="145060" y="34736"/>
                </a:lnTo>
                <a:cubicBezTo>
                  <a:pt x="151220" y="37357"/>
                  <a:pt x="156988" y="40722"/>
                  <a:pt x="162231" y="44698"/>
                </a:cubicBezTo>
                <a:lnTo>
                  <a:pt x="191854" y="34867"/>
                </a:lnTo>
                <a:cubicBezTo>
                  <a:pt x="198146" y="32769"/>
                  <a:pt x="205050" y="35391"/>
                  <a:pt x="208370" y="41158"/>
                </a:cubicBezTo>
                <a:lnTo>
                  <a:pt x="221434" y="63791"/>
                </a:lnTo>
                <a:cubicBezTo>
                  <a:pt x="224755" y="69559"/>
                  <a:pt x="223575" y="76812"/>
                  <a:pt x="218594" y="81225"/>
                </a:cubicBezTo>
                <a:lnTo>
                  <a:pt x="195306" y="101935"/>
                </a:lnTo>
                <a:cubicBezTo>
                  <a:pt x="195699" y="105168"/>
                  <a:pt x="195874" y="108489"/>
                  <a:pt x="195874" y="111853"/>
                </a:cubicBezTo>
                <a:cubicBezTo>
                  <a:pt x="195874" y="115218"/>
                  <a:pt x="195656" y="118538"/>
                  <a:pt x="195306" y="121771"/>
                </a:cubicBezTo>
                <a:lnTo>
                  <a:pt x="218638" y="142525"/>
                </a:lnTo>
                <a:cubicBezTo>
                  <a:pt x="223619" y="146938"/>
                  <a:pt x="224755" y="154235"/>
                  <a:pt x="221478" y="159959"/>
                </a:cubicBezTo>
                <a:lnTo>
                  <a:pt x="208414" y="182592"/>
                </a:lnTo>
                <a:cubicBezTo>
                  <a:pt x="205093" y="188315"/>
                  <a:pt x="198190" y="190981"/>
                  <a:pt x="191898" y="188883"/>
                </a:cubicBezTo>
                <a:lnTo>
                  <a:pt x="162275" y="179053"/>
                </a:lnTo>
                <a:cubicBezTo>
                  <a:pt x="156988" y="183029"/>
                  <a:pt x="151220" y="186349"/>
                  <a:pt x="145103" y="189014"/>
                </a:cubicBezTo>
                <a:lnTo>
                  <a:pt x="138812" y="219556"/>
                </a:lnTo>
                <a:cubicBezTo>
                  <a:pt x="137457" y="226066"/>
                  <a:pt x="131733" y="230697"/>
                  <a:pt x="125136" y="230697"/>
                </a:cubicBezTo>
                <a:lnTo>
                  <a:pt x="99008" y="230697"/>
                </a:lnTo>
                <a:cubicBezTo>
                  <a:pt x="92366" y="230697"/>
                  <a:pt x="86643" y="226022"/>
                  <a:pt x="85332" y="219556"/>
                </a:cubicBezTo>
                <a:lnTo>
                  <a:pt x="79040" y="189014"/>
                </a:lnTo>
                <a:cubicBezTo>
                  <a:pt x="72879" y="186393"/>
                  <a:pt x="67156" y="183029"/>
                  <a:pt x="61869" y="179053"/>
                </a:cubicBezTo>
                <a:lnTo>
                  <a:pt x="32114" y="188883"/>
                </a:lnTo>
                <a:cubicBezTo>
                  <a:pt x="25822" y="190981"/>
                  <a:pt x="18919" y="188359"/>
                  <a:pt x="15598" y="182592"/>
                </a:cubicBezTo>
                <a:lnTo>
                  <a:pt x="2534" y="159959"/>
                </a:lnTo>
                <a:cubicBezTo>
                  <a:pt x="-786" y="154191"/>
                  <a:pt x="393" y="146938"/>
                  <a:pt x="5374" y="142525"/>
                </a:cubicBezTo>
                <a:lnTo>
                  <a:pt x="28706" y="121771"/>
                </a:lnTo>
                <a:cubicBezTo>
                  <a:pt x="28313" y="118538"/>
                  <a:pt x="28138" y="115218"/>
                  <a:pt x="28138" y="111853"/>
                </a:cubicBezTo>
                <a:cubicBezTo>
                  <a:pt x="28138" y="108489"/>
                  <a:pt x="28357" y="105168"/>
                  <a:pt x="28706" y="101935"/>
                </a:cubicBezTo>
                <a:lnTo>
                  <a:pt x="5374" y="81181"/>
                </a:lnTo>
                <a:cubicBezTo>
                  <a:pt x="393" y="76768"/>
                  <a:pt x="-743" y="69471"/>
                  <a:pt x="2534" y="63748"/>
                </a:cubicBezTo>
                <a:lnTo>
                  <a:pt x="15598" y="41115"/>
                </a:lnTo>
                <a:cubicBezTo>
                  <a:pt x="18919" y="35347"/>
                  <a:pt x="25822" y="32726"/>
                  <a:pt x="32114" y="34823"/>
                </a:cubicBezTo>
                <a:lnTo>
                  <a:pt x="61738" y="44654"/>
                </a:lnTo>
                <a:cubicBezTo>
                  <a:pt x="67025" y="40678"/>
                  <a:pt x="72792" y="37357"/>
                  <a:pt x="78909" y="34692"/>
                </a:cubicBezTo>
                <a:lnTo>
                  <a:pt x="85244" y="4151"/>
                </a:lnTo>
                <a:close/>
                <a:moveTo>
                  <a:pt x="111984" y="146807"/>
                </a:moveTo>
                <a:cubicBezTo>
                  <a:pt x="124472" y="146761"/>
                  <a:pt x="135987" y="140055"/>
                  <a:pt x="142190" y="129217"/>
                </a:cubicBezTo>
                <a:cubicBezTo>
                  <a:pt x="148393" y="118378"/>
                  <a:pt x="148343" y="105054"/>
                  <a:pt x="142059" y="94263"/>
                </a:cubicBezTo>
                <a:cubicBezTo>
                  <a:pt x="135774" y="83471"/>
                  <a:pt x="124210" y="76852"/>
                  <a:pt x="111722" y="76899"/>
                </a:cubicBezTo>
                <a:cubicBezTo>
                  <a:pt x="99234" y="76946"/>
                  <a:pt x="87720" y="83651"/>
                  <a:pt x="81517" y="94490"/>
                </a:cubicBezTo>
                <a:cubicBezTo>
                  <a:pt x="75313" y="105328"/>
                  <a:pt x="75363" y="118652"/>
                  <a:pt x="81648" y="129444"/>
                </a:cubicBezTo>
                <a:cubicBezTo>
                  <a:pt x="87932" y="140235"/>
                  <a:pt x="99496" y="146854"/>
                  <a:pt x="111984" y="146807"/>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5F86D54A-CC31-43C6-8838-90DF88AAF9DD}"/>
              </a:ext>
            </a:extLst>
          </p:cNvPr>
          <p:cNvSpPr>
            <a:spLocks xmlns:a="http://schemas.openxmlformats.org/drawingml/2006/main" noGrp="1"/>
          </p:cNvSpPr>
          <p:nvPr/>
        </p:nvSpPr>
        <p:spPr>
          <a:xfrm xmlns:a="http://schemas.openxmlformats.org/drawingml/2006/main">
            <a:off x="938955" y="2169529"/>
            <a:ext cx="6897615" cy="2982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算法前提</a:t>
            </a:r>
            <a:endParaRPr/>
          </a:p>
        </p:txBody>
      </p:sp>
      <p:sp>
        <p:nvSpPr>
          <p:cNvPr id="9" name="Text 7">
            <a:extLst xmlns:a="http://schemas.openxmlformats.org/drawingml/2006/main">
              <a:ext uri="{FF2B5EF4-FFF2-40B4-BE49-F238E27FC236}">
                <a16:creationId xmlns:a16="http://schemas.microsoft.com/office/drawing/2014/main" id="{6E5405E5-07E4-4FC1-97CE-3CC54E6A27D3}"/>
              </a:ext>
            </a:extLst>
          </p:cNvPr>
          <p:cNvSpPr>
            <a:spLocks xmlns:a="http://schemas.openxmlformats.org/drawingml/2006/main" noGrp="1"/>
          </p:cNvSpPr>
          <p:nvPr/>
        </p:nvSpPr>
        <p:spPr>
          <a:xfrm xmlns:a="http://schemas.openxmlformats.org/drawingml/2006/main">
            <a:off x="938955" y="2579657"/>
            <a:ext cx="6869651" cy="82025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波前规划器需要另外一个地图更新每个单元格的值。算法的第一步将原地图的信息导入到用于路径规划的地图中。单元格中的值通过</a:t>
            </a:r>
            <a:r>
              <a:rPr sz="1600" b="1">
                <a:latin typeface="微软雅黑"/>
                <a:ea typeface="微软雅黑"/>
                <a:cs typeface="微软雅黑"/>
              </a:rPr>
              <a:t>邻域连通性</a:t>
            </a:r>
            <a:r>
              <a:rPr sz="1600">
                <a:latin typeface="微软雅黑"/>
                <a:ea typeface="微软雅黑"/>
                <a:cs typeface="微软雅黑"/>
              </a:rPr>
              <a:t>来更新。单元格之间的连通性可以使用</a:t>
            </a:r>
            <a:r>
              <a:rPr sz="1600">
                <a:highlight>
                  <a:srgbClr val="E6B450">
                    <a:alpha val="20000"/>
                  </a:srgbClr>
                </a:highlight>
                <a:latin typeface="微软雅黑"/>
                <a:ea typeface="微软雅黑"/>
                <a:cs typeface="微软雅黑"/>
              </a:rPr>
              <a:t> 四邻域 </a:t>
            </a:r>
            <a:r>
              <a:rPr sz="1600">
                <a:latin typeface="微软雅黑"/>
                <a:ea typeface="微软雅黑"/>
                <a:cs typeface="微软雅黑"/>
              </a:rPr>
              <a:t>或</a:t>
            </a:r>
            <a:r>
              <a:rPr sz="1600">
                <a:highlight>
                  <a:srgbClr val="E6B450">
                    <a:alpha val="20000"/>
                  </a:srgbClr>
                </a:highlight>
                <a:latin typeface="微软雅黑"/>
                <a:ea typeface="微软雅黑"/>
                <a:cs typeface="微软雅黑"/>
              </a:rPr>
              <a:t> 八邻域 </a:t>
            </a:r>
            <a:r>
              <a:rPr sz="1600">
                <a:latin typeface="微软雅黑"/>
                <a:ea typeface="微软雅黑"/>
                <a:cs typeface="微软雅黑"/>
              </a:rPr>
              <a:t>连通性。</a:t>
            </a:r>
            <a:endParaRPr sz="2000"/>
          </a:p>
        </p:txBody>
      </p:sp>
      <p:sp>
        <p:nvSpPr>
          <p:cNvPr id="10" name="Shape 8">
            <a:extLst xmlns:a="http://schemas.openxmlformats.org/drawingml/2006/main">
              <a:ext uri="{FF2B5EF4-FFF2-40B4-BE49-F238E27FC236}">
                <a16:creationId xmlns:a16="http://schemas.microsoft.com/office/drawing/2014/main" id="{629BD5E7-4B8B-47BF-B364-C791482D5DE7}"/>
              </a:ext>
            </a:extLst>
          </p:cNvPr>
          <p:cNvSpPr>
            <a:spLocks xmlns:a="http://schemas.openxmlformats.org/drawingml/2006/main" noGrp="1"/>
          </p:cNvSpPr>
          <p:nvPr/>
        </p:nvSpPr>
        <p:spPr>
          <a:xfrm xmlns:a="http://schemas.openxmlformats.org/drawingml/2006/main">
            <a:off x="391486" y="3844997"/>
            <a:ext cx="7550092" cy="1677798"/>
          </a:xfrm>
          <a:custGeom xmlns:a="http://schemas.openxmlformats.org/drawingml/2006/main">
            <a:rect l="l" t="t" r="r" b="b"/>
            <a:pathLst>
              <a:path w="7550092" h="1677798">
                <a:moveTo>
                  <a:pt x="37284" y="0"/>
                </a:moveTo>
                <a:lnTo>
                  <a:pt x="7438233" y="0"/>
                </a:lnTo>
                <a:cubicBezTo>
                  <a:pt x="7500011" y="0"/>
                  <a:pt x="7550092" y="50081"/>
                  <a:pt x="7550092" y="111859"/>
                </a:cubicBezTo>
                <a:lnTo>
                  <a:pt x="7550092" y="1565939"/>
                </a:lnTo>
                <a:cubicBezTo>
                  <a:pt x="7550092" y="1627717"/>
                  <a:pt x="7500011" y="1677798"/>
                  <a:pt x="7438233" y="1677798"/>
                </a:cubicBezTo>
                <a:lnTo>
                  <a:pt x="37284" y="1677798"/>
                </a:lnTo>
                <a:cubicBezTo>
                  <a:pt x="16693" y="1677798"/>
                  <a:pt x="0" y="1661105"/>
                  <a:pt x="0" y="1640514"/>
                </a:cubicBezTo>
                <a:lnTo>
                  <a:pt x="0" y="37284"/>
                </a:lnTo>
                <a:cubicBezTo>
                  <a:pt x="0" y="16693"/>
                  <a:pt x="16693" y="0"/>
                  <a:pt x="37284"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E09A5511-CE8F-44EE-A4A0-A729D3229DED}"/>
              </a:ext>
            </a:extLst>
          </p:cNvPr>
          <p:cNvSpPr>
            <a:spLocks xmlns:a="http://schemas.openxmlformats.org/drawingml/2006/main" noGrp="1"/>
          </p:cNvSpPr>
          <p:nvPr/>
        </p:nvSpPr>
        <p:spPr>
          <a:xfrm xmlns:a="http://schemas.openxmlformats.org/drawingml/2006/main">
            <a:off x="391486" y="3844997"/>
            <a:ext cx="37284" cy="1677798"/>
          </a:xfrm>
          <a:custGeom xmlns:a="http://schemas.openxmlformats.org/drawingml/2006/main">
            <a:rect l="l" t="t" r="r" b="b"/>
            <a:pathLst>
              <a:path w="37284" h="1677798">
                <a:moveTo>
                  <a:pt x="37284" y="0"/>
                </a:moveTo>
                <a:lnTo>
                  <a:pt x="37284" y="0"/>
                </a:lnTo>
                <a:lnTo>
                  <a:pt x="37284" y="1677798"/>
                </a:lnTo>
                <a:lnTo>
                  <a:pt x="37284" y="1677798"/>
                </a:lnTo>
                <a:cubicBezTo>
                  <a:pt x="16693" y="1677798"/>
                  <a:pt x="0" y="1661105"/>
                  <a:pt x="0" y="1640514"/>
                </a:cubicBezTo>
                <a:lnTo>
                  <a:pt x="0" y="37284"/>
                </a:lnTo>
                <a:cubicBezTo>
                  <a:pt x="0" y="16693"/>
                  <a:pt x="16693" y="0"/>
                  <a:pt x="37284"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6BB0C730-C177-493D-82D1-6FE736229772}"/>
              </a:ext>
            </a:extLst>
          </p:cNvPr>
          <p:cNvSpPr>
            <a:spLocks xmlns:a="http://schemas.openxmlformats.org/drawingml/2006/main" noGrp="1"/>
          </p:cNvSpPr>
          <p:nvPr/>
        </p:nvSpPr>
        <p:spPr>
          <a:xfrm xmlns:a="http://schemas.openxmlformats.org/drawingml/2006/main">
            <a:off x="601211" y="4105988"/>
            <a:ext cx="223706" cy="223706"/>
          </a:xfrm>
          <a:custGeom xmlns:a="http://schemas.openxmlformats.org/drawingml/2006/main">
            <a:rect l="l" t="t" r="r" b="b"/>
            <a:pathLst>
              <a:path w="223706" h="223706">
                <a:moveTo>
                  <a:pt x="111853" y="0"/>
                </a:moveTo>
                <a:cubicBezTo>
                  <a:pt x="118276" y="0"/>
                  <a:pt x="124175" y="3539"/>
                  <a:pt x="127233" y="9175"/>
                </a:cubicBezTo>
                <a:lnTo>
                  <a:pt x="221609" y="183946"/>
                </a:lnTo>
                <a:cubicBezTo>
                  <a:pt x="224537" y="189364"/>
                  <a:pt x="224406" y="195918"/>
                  <a:pt x="221260" y="201205"/>
                </a:cubicBezTo>
                <a:cubicBezTo>
                  <a:pt x="218114" y="206492"/>
                  <a:pt x="212390" y="209725"/>
                  <a:pt x="206229" y="209725"/>
                </a:cubicBezTo>
                <a:lnTo>
                  <a:pt x="17477" y="209725"/>
                </a:lnTo>
                <a:cubicBezTo>
                  <a:pt x="11316" y="209725"/>
                  <a:pt x="5636" y="206492"/>
                  <a:pt x="2447" y="201205"/>
                </a:cubicBezTo>
                <a:cubicBezTo>
                  <a:pt x="-743" y="195918"/>
                  <a:pt x="-830" y="189364"/>
                  <a:pt x="2097" y="183946"/>
                </a:cubicBezTo>
                <a:lnTo>
                  <a:pt x="96473" y="9175"/>
                </a:lnTo>
                <a:cubicBezTo>
                  <a:pt x="99532" y="3539"/>
                  <a:pt x="105430" y="0"/>
                  <a:pt x="111853" y="0"/>
                </a:cubicBezTo>
                <a:close/>
                <a:moveTo>
                  <a:pt x="111853" y="73404"/>
                </a:moveTo>
                <a:cubicBezTo>
                  <a:pt x="106042" y="73404"/>
                  <a:pt x="101367" y="78079"/>
                  <a:pt x="101367" y="83890"/>
                </a:cubicBezTo>
                <a:lnTo>
                  <a:pt x="101367" y="132826"/>
                </a:lnTo>
                <a:cubicBezTo>
                  <a:pt x="101367" y="138637"/>
                  <a:pt x="106042" y="143312"/>
                  <a:pt x="111853" y="143312"/>
                </a:cubicBezTo>
                <a:cubicBezTo>
                  <a:pt x="117664" y="143312"/>
                  <a:pt x="122339" y="138637"/>
                  <a:pt x="122339" y="132826"/>
                </a:cubicBezTo>
                <a:lnTo>
                  <a:pt x="122339" y="83890"/>
                </a:lnTo>
                <a:cubicBezTo>
                  <a:pt x="122339" y="78079"/>
                  <a:pt x="117664" y="73404"/>
                  <a:pt x="111853" y="73404"/>
                </a:cubicBezTo>
                <a:close/>
                <a:moveTo>
                  <a:pt x="123519" y="167780"/>
                </a:moveTo>
                <a:cubicBezTo>
                  <a:pt x="123785" y="163450"/>
                  <a:pt x="121625" y="159330"/>
                  <a:pt x="117913" y="157084"/>
                </a:cubicBezTo>
                <a:cubicBezTo>
                  <a:pt x="114201" y="154839"/>
                  <a:pt x="109549" y="154839"/>
                  <a:pt x="105837" y="157084"/>
                </a:cubicBezTo>
                <a:cubicBezTo>
                  <a:pt x="102125" y="159330"/>
                  <a:pt x="99966" y="163450"/>
                  <a:pt x="100231" y="167780"/>
                </a:cubicBezTo>
                <a:cubicBezTo>
                  <a:pt x="99966" y="172110"/>
                  <a:pt x="102125" y="176230"/>
                  <a:pt x="105837" y="178475"/>
                </a:cubicBezTo>
                <a:cubicBezTo>
                  <a:pt x="109549" y="180721"/>
                  <a:pt x="114201" y="180721"/>
                  <a:pt x="117913" y="178475"/>
                </a:cubicBezTo>
                <a:cubicBezTo>
                  <a:pt x="121625" y="176230"/>
                  <a:pt x="123785" y="172110"/>
                  <a:pt x="123519" y="167780"/>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8299C71C-81E9-4214-849F-5224F4B15870}"/>
              </a:ext>
            </a:extLst>
          </p:cNvPr>
          <p:cNvSpPr>
            <a:spLocks xmlns:a="http://schemas.openxmlformats.org/drawingml/2006/main" noGrp="1"/>
          </p:cNvSpPr>
          <p:nvPr/>
        </p:nvSpPr>
        <p:spPr>
          <a:xfrm xmlns:a="http://schemas.openxmlformats.org/drawingml/2006/main">
            <a:off x="938955" y="4068703"/>
            <a:ext cx="6897615" cy="2982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连通性选择</a:t>
            </a:r>
            <a:endParaRPr/>
          </a:p>
        </p:txBody>
      </p:sp>
      <p:sp>
        <p:nvSpPr>
          <p:cNvPr id="14" name="Text 12">
            <a:extLst xmlns:a="http://schemas.openxmlformats.org/drawingml/2006/main">
              <a:ext uri="{FF2B5EF4-FFF2-40B4-BE49-F238E27FC236}">
                <a16:creationId xmlns:a16="http://schemas.microsoft.com/office/drawing/2014/main" id="{90B80E2D-0277-482A-BECF-0A7EC6014D11}"/>
              </a:ext>
            </a:extLst>
          </p:cNvPr>
          <p:cNvSpPr>
            <a:spLocks xmlns:a="http://schemas.openxmlformats.org/drawingml/2006/main" noGrp="1"/>
          </p:cNvSpPr>
          <p:nvPr/>
        </p:nvSpPr>
        <p:spPr>
          <a:xfrm xmlns:a="http://schemas.openxmlformats.org/drawingml/2006/main">
            <a:off x="938955" y="4478832"/>
            <a:ext cx="6869651" cy="82025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选择四邻域或者八邻域取决于每个单元格在地图中代表的尺寸以及机器人在单元格之间运动的能力。</a:t>
            </a:r>
            <a:r>
              <a:rPr sz="1600" b="1">
                <a:latin typeface="微软雅黑"/>
                <a:ea typeface="微软雅黑"/>
                <a:cs typeface="微软雅黑"/>
              </a:rPr>
              <a:t>确定连通性很重要</a:t>
            </a:r>
            <a:r>
              <a:rPr sz="1600">
                <a:latin typeface="微软雅黑"/>
                <a:ea typeface="微软雅黑"/>
                <a:cs typeface="微软雅黑"/>
              </a:rPr>
              <a:t>，因为这将不仅影响地图中单元格值的更新方式，而且影响规划器如何搜索最短路径。</a:t>
            </a:r>
            <a:endParaRPr sz="2000"/>
          </a:p>
        </p:txBody>
      </p:sp>
      <p:sp>
        <p:nvSpPr>
          <p:cNvPr id="23" name="Shape 21">
            <a:extLst xmlns:a="http://schemas.openxmlformats.org/drawingml/2006/main">
              <a:ext uri="{FF2B5EF4-FFF2-40B4-BE49-F238E27FC236}">
                <a16:creationId xmlns:a16="http://schemas.microsoft.com/office/drawing/2014/main" id="{2D361AE5-4C7B-4477-9A4F-A21319D68DFC}"/>
              </a:ext>
            </a:extLst>
          </p:cNvPr>
          <p:cNvSpPr>
            <a:spLocks xmlns:a="http://schemas.openxmlformats.org/drawingml/2006/main" noGrp="1"/>
          </p:cNvSpPr>
          <p:nvPr/>
        </p:nvSpPr>
        <p:spPr>
          <a:xfrm xmlns:a="http://schemas.openxmlformats.org/drawingml/2006/main">
            <a:off x="8248592" y="1950484"/>
            <a:ext cx="3569982" cy="3572312"/>
          </a:xfrm>
          <a:custGeom xmlns:a="http://schemas.openxmlformats.org/drawingml/2006/main">
            <a:rect l="l" t="t" r="r" b="b"/>
            <a:pathLst>
              <a:path w="3569982" h="4781725">
                <a:moveTo>
                  <a:pt x="111848" y="0"/>
                </a:moveTo>
                <a:lnTo>
                  <a:pt x="3458134" y="0"/>
                </a:lnTo>
                <a:cubicBezTo>
                  <a:pt x="3519906" y="0"/>
                  <a:pt x="3569982" y="50076"/>
                  <a:pt x="3569982" y="111848"/>
                </a:cubicBezTo>
                <a:lnTo>
                  <a:pt x="3569982" y="4669877"/>
                </a:lnTo>
                <a:cubicBezTo>
                  <a:pt x="3569982" y="4731649"/>
                  <a:pt x="3519906" y="4781725"/>
                  <a:pt x="3458134" y="4781725"/>
                </a:cubicBezTo>
                <a:lnTo>
                  <a:pt x="111848" y="4781725"/>
                </a:lnTo>
                <a:cubicBezTo>
                  <a:pt x="50076" y="4781725"/>
                  <a:pt x="0" y="4731649"/>
                  <a:pt x="0" y="4669877"/>
                </a:cubicBezTo>
                <a:lnTo>
                  <a:pt x="0" y="111848"/>
                </a:lnTo>
                <a:cubicBezTo>
                  <a:pt x="0" y="50076"/>
                  <a:pt x="50076" y="0"/>
                  <a:pt x="11184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4" name="Shape 22">
            <a:extLst xmlns:a="http://schemas.openxmlformats.org/drawingml/2006/main">
              <a:ext uri="{FF2B5EF4-FFF2-40B4-BE49-F238E27FC236}">
                <a16:creationId xmlns:a16="http://schemas.microsoft.com/office/drawing/2014/main" id="{28AB69C7-F14D-4B6F-BDAD-13126000D471}"/>
              </a:ext>
            </a:extLst>
          </p:cNvPr>
          <p:cNvSpPr>
            <a:spLocks xmlns:a="http://schemas.openxmlformats.org/drawingml/2006/main" noGrp="1"/>
          </p:cNvSpPr>
          <p:nvPr/>
        </p:nvSpPr>
        <p:spPr>
          <a:xfrm xmlns:a="http://schemas.openxmlformats.org/drawingml/2006/main">
            <a:off x="8511913" y="2216134"/>
            <a:ext cx="163119" cy="186422"/>
          </a:xfrm>
          <a:custGeom xmlns:a="http://schemas.openxmlformats.org/drawingml/2006/main">
            <a:rect l="l" t="t" r="r" b="b"/>
            <a:pathLst>
              <a:path w="163119" h="186422">
                <a:moveTo>
                  <a:pt x="139817" y="34954"/>
                </a:moveTo>
                <a:lnTo>
                  <a:pt x="139817" y="58257"/>
                </a:lnTo>
                <a:lnTo>
                  <a:pt x="116514" y="58257"/>
                </a:lnTo>
                <a:lnTo>
                  <a:pt x="116514" y="34954"/>
                </a:lnTo>
                <a:lnTo>
                  <a:pt x="139817" y="34954"/>
                </a:lnTo>
                <a:close/>
                <a:moveTo>
                  <a:pt x="139817" y="81560"/>
                </a:moveTo>
                <a:lnTo>
                  <a:pt x="139817" y="104862"/>
                </a:lnTo>
                <a:lnTo>
                  <a:pt x="116514" y="104862"/>
                </a:lnTo>
                <a:lnTo>
                  <a:pt x="116514" y="81560"/>
                </a:lnTo>
                <a:lnTo>
                  <a:pt x="139817" y="81560"/>
                </a:lnTo>
                <a:close/>
                <a:moveTo>
                  <a:pt x="139817" y="128165"/>
                </a:moveTo>
                <a:lnTo>
                  <a:pt x="139817" y="151468"/>
                </a:lnTo>
                <a:lnTo>
                  <a:pt x="116514" y="151468"/>
                </a:lnTo>
                <a:lnTo>
                  <a:pt x="116514" y="128165"/>
                </a:lnTo>
                <a:lnTo>
                  <a:pt x="139817" y="128165"/>
                </a:lnTo>
                <a:close/>
                <a:moveTo>
                  <a:pt x="93211" y="104862"/>
                </a:moveTo>
                <a:lnTo>
                  <a:pt x="69908" y="104862"/>
                </a:lnTo>
                <a:lnTo>
                  <a:pt x="69908" y="81560"/>
                </a:lnTo>
                <a:lnTo>
                  <a:pt x="93211" y="81560"/>
                </a:lnTo>
                <a:lnTo>
                  <a:pt x="93211" y="104862"/>
                </a:lnTo>
                <a:close/>
                <a:moveTo>
                  <a:pt x="69908" y="128165"/>
                </a:moveTo>
                <a:lnTo>
                  <a:pt x="93211" y="128165"/>
                </a:lnTo>
                <a:lnTo>
                  <a:pt x="93211" y="151468"/>
                </a:lnTo>
                <a:lnTo>
                  <a:pt x="69908" y="151468"/>
                </a:lnTo>
                <a:lnTo>
                  <a:pt x="69908" y="128165"/>
                </a:lnTo>
                <a:close/>
                <a:moveTo>
                  <a:pt x="46606" y="104862"/>
                </a:moveTo>
                <a:lnTo>
                  <a:pt x="23303" y="104862"/>
                </a:lnTo>
                <a:lnTo>
                  <a:pt x="23303" y="81560"/>
                </a:lnTo>
                <a:lnTo>
                  <a:pt x="46606" y="81560"/>
                </a:lnTo>
                <a:lnTo>
                  <a:pt x="46606" y="104862"/>
                </a:lnTo>
                <a:close/>
                <a:moveTo>
                  <a:pt x="23303" y="128165"/>
                </a:moveTo>
                <a:lnTo>
                  <a:pt x="46606" y="128165"/>
                </a:lnTo>
                <a:lnTo>
                  <a:pt x="46606" y="151468"/>
                </a:lnTo>
                <a:lnTo>
                  <a:pt x="23303" y="151468"/>
                </a:lnTo>
                <a:lnTo>
                  <a:pt x="23303" y="128165"/>
                </a:lnTo>
                <a:close/>
                <a:moveTo>
                  <a:pt x="23303" y="58257"/>
                </a:moveTo>
                <a:lnTo>
                  <a:pt x="23303" y="34954"/>
                </a:lnTo>
                <a:lnTo>
                  <a:pt x="46606" y="34954"/>
                </a:lnTo>
                <a:lnTo>
                  <a:pt x="46606" y="58257"/>
                </a:lnTo>
                <a:lnTo>
                  <a:pt x="23303" y="58257"/>
                </a:lnTo>
                <a:close/>
                <a:moveTo>
                  <a:pt x="69908" y="58257"/>
                </a:moveTo>
                <a:lnTo>
                  <a:pt x="69908" y="34954"/>
                </a:lnTo>
                <a:lnTo>
                  <a:pt x="93211" y="34954"/>
                </a:lnTo>
                <a:lnTo>
                  <a:pt x="93211" y="58257"/>
                </a:lnTo>
                <a:lnTo>
                  <a:pt x="69908" y="58257"/>
                </a:lnTo>
                <a:close/>
                <a:moveTo>
                  <a:pt x="23303" y="11651"/>
                </a:moveTo>
                <a:cubicBezTo>
                  <a:pt x="10450" y="11651"/>
                  <a:pt x="0" y="22101"/>
                  <a:pt x="0" y="34954"/>
                </a:cubicBezTo>
                <a:lnTo>
                  <a:pt x="0" y="151468"/>
                </a:lnTo>
                <a:cubicBezTo>
                  <a:pt x="0" y="164321"/>
                  <a:pt x="10450" y="174771"/>
                  <a:pt x="23303" y="174771"/>
                </a:cubicBezTo>
                <a:lnTo>
                  <a:pt x="139817" y="174771"/>
                </a:lnTo>
                <a:cubicBezTo>
                  <a:pt x="152669" y="174771"/>
                  <a:pt x="163119" y="164321"/>
                  <a:pt x="163119" y="151468"/>
                </a:cubicBezTo>
                <a:lnTo>
                  <a:pt x="163119" y="34954"/>
                </a:lnTo>
                <a:cubicBezTo>
                  <a:pt x="163119" y="22101"/>
                  <a:pt x="152669" y="11651"/>
                  <a:pt x="139817" y="11651"/>
                </a:cubicBezTo>
                <a:lnTo>
                  <a:pt x="23303" y="11651"/>
                </a:lnTo>
                <a:close/>
              </a:path>
            </a:pathLst>
          </a:custGeom>
          <a:solidFill xmlns:a="http://schemas.openxmlformats.org/drawingml/2006/main">
            <a:srgbClr val="E6B450"/>
          </a:solidFill>
        </p:spPr>
      </p:sp>
      <p:sp>
        <p:nvSpPr>
          <p:cNvPr id="25" name="Text 23">
            <a:extLst xmlns:a="http://schemas.openxmlformats.org/drawingml/2006/main">
              <a:ext uri="{FF2B5EF4-FFF2-40B4-BE49-F238E27FC236}">
                <a16:creationId xmlns:a16="http://schemas.microsoft.com/office/drawing/2014/main" id="{162ABF22-B96C-4C11-957D-E91E1CD1BD86}"/>
              </a:ext>
            </a:extLst>
          </p:cNvPr>
          <p:cNvSpPr>
            <a:spLocks xmlns:a="http://schemas.openxmlformats.org/drawingml/2006/main" noGrp="1"/>
          </p:cNvSpPr>
          <p:nvPr/>
        </p:nvSpPr>
        <p:spPr>
          <a:xfrm xmlns:a="http://schemas.openxmlformats.org/drawingml/2006/main">
            <a:off x="8709986" y="2178850"/>
            <a:ext cx="2973431" cy="2609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邻域连通性示意</a:t>
            </a:r>
            <a:endParaRPr sz="2000"/>
          </a:p>
        </p:txBody>
      </p:sp>
      <p:sp>
        <p:nvSpPr>
          <p:cNvPr id="26" name="Text 24">
            <a:extLst xmlns:a="http://schemas.openxmlformats.org/drawingml/2006/main">
              <a:ext uri="{FF2B5EF4-FFF2-40B4-BE49-F238E27FC236}">
                <a16:creationId xmlns:a16="http://schemas.microsoft.com/office/drawing/2014/main" id="{4B2FAA2F-41F9-4E49-9939-765C1B47F87B}"/>
              </a:ext>
            </a:extLst>
          </p:cNvPr>
          <p:cNvSpPr>
            <a:spLocks xmlns:a="http://schemas.openxmlformats.org/drawingml/2006/main" noGrp="1"/>
          </p:cNvSpPr>
          <p:nvPr/>
        </p:nvSpPr>
        <p:spPr>
          <a:xfrm xmlns:a="http://schemas.openxmlformats.org/drawingml/2006/main">
            <a:off x="8947674" y="3444189"/>
            <a:ext cx="978716" cy="2609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b="1">
                <a:latin typeface="微软雅黑"/>
                <a:ea typeface="微软雅黑"/>
                <a:cs typeface="微软雅黑"/>
              </a:rPr>
              <a:t>四邻域</a:t>
            </a:r>
            <a:endParaRPr sz="2000"/>
          </a:p>
        </p:txBody>
      </p:sp>
      <p:sp>
        <p:nvSpPr>
          <p:cNvPr id="27" name="Shape 25">
            <a:extLst xmlns:a="http://schemas.openxmlformats.org/drawingml/2006/main">
              <a:ext uri="{FF2B5EF4-FFF2-40B4-BE49-F238E27FC236}">
                <a16:creationId xmlns:a16="http://schemas.microsoft.com/office/drawing/2014/main" id="{426D14A9-286B-4518-9177-EC080A2A4075}"/>
              </a:ext>
            </a:extLst>
          </p:cNvPr>
          <p:cNvSpPr>
            <a:spLocks xmlns:a="http://schemas.openxmlformats.org/drawingml/2006/main" noGrp="1"/>
          </p:cNvSpPr>
          <p:nvPr/>
        </p:nvSpPr>
        <p:spPr>
          <a:xfrm xmlns:a="http://schemas.openxmlformats.org/drawingml/2006/main">
            <a:off x="9325179" y="4189877"/>
            <a:ext cx="223706" cy="223706"/>
          </a:xfrm>
          <a:custGeom xmlns:a="http://schemas.openxmlformats.org/drawingml/2006/main">
            <a:rect l="l" t="t" r="r" b="b"/>
            <a:pathLst>
              <a:path w="223706" h="223706">
                <a:moveTo>
                  <a:pt x="111853" y="0"/>
                </a:moveTo>
                <a:lnTo>
                  <a:pt x="111853" y="0"/>
                </a:lnTo>
                <a:cubicBezTo>
                  <a:pt x="173587" y="0"/>
                  <a:pt x="223706" y="50120"/>
                  <a:pt x="223706" y="111853"/>
                </a:cubicBezTo>
                <a:lnTo>
                  <a:pt x="223706" y="111853"/>
                </a:lnTo>
                <a:cubicBezTo>
                  <a:pt x="223706" y="173587"/>
                  <a:pt x="173587" y="223706"/>
                  <a:pt x="111853" y="223706"/>
                </a:cubicBezTo>
                <a:lnTo>
                  <a:pt x="111853" y="223706"/>
                </a:lnTo>
                <a:cubicBezTo>
                  <a:pt x="50120" y="223706"/>
                  <a:pt x="0" y="173587"/>
                  <a:pt x="0" y="111853"/>
                </a:cubicBezTo>
                <a:lnTo>
                  <a:pt x="0" y="111853"/>
                </a:lnTo>
                <a:cubicBezTo>
                  <a:pt x="0" y="50120"/>
                  <a:pt x="50120" y="0"/>
                  <a:pt x="111853" y="0"/>
                </a:cubicBezTo>
                <a:close/>
              </a:path>
            </a:pathLst>
          </a:custGeom>
          <a:solidFill xmlns:a="http://schemas.openxmlformats.org/drawingml/2006/main">
            <a:srgbClr val="E6B450"/>
          </a:solidFill>
        </p:spPr>
      </p:sp>
      <p:sp>
        <p:nvSpPr>
          <p:cNvPr id="28" name="Shape 26">
            <a:extLst xmlns:a="http://schemas.openxmlformats.org/drawingml/2006/main">
              <a:ext uri="{FF2B5EF4-FFF2-40B4-BE49-F238E27FC236}">
                <a16:creationId xmlns:a16="http://schemas.microsoft.com/office/drawing/2014/main" id="{996D46A8-22C6-4B27-AE22-12FE374F5620}"/>
              </a:ext>
            </a:extLst>
          </p:cNvPr>
          <p:cNvSpPr>
            <a:spLocks xmlns:a="http://schemas.openxmlformats.org/drawingml/2006/main" noGrp="1"/>
          </p:cNvSpPr>
          <p:nvPr/>
        </p:nvSpPr>
        <p:spPr>
          <a:xfrm xmlns:a="http://schemas.openxmlformats.org/drawingml/2006/main">
            <a:off x="9334500" y="3863639"/>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29" name="Shape 27">
            <a:extLst xmlns:a="http://schemas.openxmlformats.org/drawingml/2006/main">
              <a:ext uri="{FF2B5EF4-FFF2-40B4-BE49-F238E27FC236}">
                <a16:creationId xmlns:a16="http://schemas.microsoft.com/office/drawing/2014/main" id="{4AE0EF5B-6381-4C56-A016-45D38AC318B7}"/>
              </a:ext>
            </a:extLst>
          </p:cNvPr>
          <p:cNvSpPr>
            <a:spLocks xmlns:a="http://schemas.openxmlformats.org/drawingml/2006/main" noGrp="1"/>
          </p:cNvSpPr>
          <p:nvPr/>
        </p:nvSpPr>
        <p:spPr>
          <a:xfrm xmlns:a="http://schemas.openxmlformats.org/drawingml/2006/main">
            <a:off x="9334500" y="4534758"/>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30" name="Shape 28">
            <a:extLst xmlns:a="http://schemas.openxmlformats.org/drawingml/2006/main">
              <a:ext uri="{FF2B5EF4-FFF2-40B4-BE49-F238E27FC236}">
                <a16:creationId xmlns:a16="http://schemas.microsoft.com/office/drawing/2014/main" id="{921514D2-5520-4C4B-8652-729377FA55C6}"/>
              </a:ext>
            </a:extLst>
          </p:cNvPr>
          <p:cNvSpPr>
            <a:spLocks xmlns:a="http://schemas.openxmlformats.org/drawingml/2006/main" noGrp="1"/>
          </p:cNvSpPr>
          <p:nvPr/>
        </p:nvSpPr>
        <p:spPr>
          <a:xfrm xmlns:a="http://schemas.openxmlformats.org/drawingml/2006/main">
            <a:off x="8998940" y="4199199"/>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31" name="Shape 29">
            <a:extLst xmlns:a="http://schemas.openxmlformats.org/drawingml/2006/main">
              <a:ext uri="{FF2B5EF4-FFF2-40B4-BE49-F238E27FC236}">
                <a16:creationId xmlns:a16="http://schemas.microsoft.com/office/drawing/2014/main" id="{1ABEFCD1-B114-43B5-8946-9545193E6EED}"/>
              </a:ext>
            </a:extLst>
          </p:cNvPr>
          <p:cNvSpPr>
            <a:spLocks xmlns:a="http://schemas.openxmlformats.org/drawingml/2006/main" noGrp="1"/>
          </p:cNvSpPr>
          <p:nvPr/>
        </p:nvSpPr>
        <p:spPr>
          <a:xfrm xmlns:a="http://schemas.openxmlformats.org/drawingml/2006/main">
            <a:off x="9670060" y="4199199"/>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32" name="Text 30">
            <a:extLst xmlns:a="http://schemas.openxmlformats.org/drawingml/2006/main">
              <a:ext uri="{FF2B5EF4-FFF2-40B4-BE49-F238E27FC236}">
                <a16:creationId xmlns:a16="http://schemas.microsoft.com/office/drawing/2014/main" id="{CB4216E3-3235-4A5D-A503-1B756C5E31EE}"/>
              </a:ext>
            </a:extLst>
          </p:cNvPr>
          <p:cNvSpPr>
            <a:spLocks xmlns:a="http://schemas.openxmlformats.org/drawingml/2006/main" noGrp="1"/>
          </p:cNvSpPr>
          <p:nvPr/>
        </p:nvSpPr>
        <p:spPr>
          <a:xfrm xmlns:a="http://schemas.openxmlformats.org/drawingml/2006/main">
            <a:off x="10140775" y="3444189"/>
            <a:ext cx="978716" cy="2609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b="1">
                <a:latin typeface="微软雅黑"/>
                <a:ea typeface="微软雅黑"/>
                <a:cs typeface="微软雅黑"/>
              </a:rPr>
              <a:t>八邻域</a:t>
            </a:r>
            <a:endParaRPr sz="2000"/>
          </a:p>
        </p:txBody>
      </p:sp>
      <p:sp>
        <p:nvSpPr>
          <p:cNvPr id="33" name="Shape 31">
            <a:extLst xmlns:a="http://schemas.openxmlformats.org/drawingml/2006/main">
              <a:ext uri="{FF2B5EF4-FFF2-40B4-BE49-F238E27FC236}">
                <a16:creationId xmlns:a16="http://schemas.microsoft.com/office/drawing/2014/main" id="{42ED84B0-2C72-4B34-B8D8-2E5261C8893D}"/>
              </a:ext>
            </a:extLst>
          </p:cNvPr>
          <p:cNvSpPr>
            <a:spLocks xmlns:a="http://schemas.openxmlformats.org/drawingml/2006/main" noGrp="1"/>
          </p:cNvSpPr>
          <p:nvPr/>
        </p:nvSpPr>
        <p:spPr>
          <a:xfrm xmlns:a="http://schemas.openxmlformats.org/drawingml/2006/main">
            <a:off x="10518280" y="4189877"/>
            <a:ext cx="223706" cy="223706"/>
          </a:xfrm>
          <a:custGeom xmlns:a="http://schemas.openxmlformats.org/drawingml/2006/main">
            <a:rect l="l" t="t" r="r" b="b"/>
            <a:pathLst>
              <a:path w="223706" h="223706">
                <a:moveTo>
                  <a:pt x="111853" y="0"/>
                </a:moveTo>
                <a:lnTo>
                  <a:pt x="111853" y="0"/>
                </a:lnTo>
                <a:cubicBezTo>
                  <a:pt x="173587" y="0"/>
                  <a:pt x="223706" y="50120"/>
                  <a:pt x="223706" y="111853"/>
                </a:cubicBezTo>
                <a:lnTo>
                  <a:pt x="223706" y="111853"/>
                </a:lnTo>
                <a:cubicBezTo>
                  <a:pt x="223706" y="173587"/>
                  <a:pt x="173587" y="223706"/>
                  <a:pt x="111853" y="223706"/>
                </a:cubicBezTo>
                <a:lnTo>
                  <a:pt x="111853" y="223706"/>
                </a:lnTo>
                <a:cubicBezTo>
                  <a:pt x="50120" y="223706"/>
                  <a:pt x="0" y="173587"/>
                  <a:pt x="0" y="111853"/>
                </a:cubicBezTo>
                <a:lnTo>
                  <a:pt x="0" y="111853"/>
                </a:lnTo>
                <a:cubicBezTo>
                  <a:pt x="0" y="50120"/>
                  <a:pt x="50120" y="0"/>
                  <a:pt x="111853" y="0"/>
                </a:cubicBezTo>
                <a:close/>
              </a:path>
            </a:pathLst>
          </a:custGeom>
          <a:solidFill xmlns:a="http://schemas.openxmlformats.org/drawingml/2006/main">
            <a:srgbClr val="E6B450"/>
          </a:solidFill>
        </p:spPr>
      </p:sp>
      <p:sp>
        <p:nvSpPr>
          <p:cNvPr id="34" name="Shape 32">
            <a:extLst xmlns:a="http://schemas.openxmlformats.org/drawingml/2006/main">
              <a:ext uri="{FF2B5EF4-FFF2-40B4-BE49-F238E27FC236}">
                <a16:creationId xmlns:a16="http://schemas.microsoft.com/office/drawing/2014/main" id="{3C6DBBD4-4A93-403C-A934-25848CA7E07A}"/>
              </a:ext>
            </a:extLst>
          </p:cNvPr>
          <p:cNvSpPr>
            <a:spLocks xmlns:a="http://schemas.openxmlformats.org/drawingml/2006/main" noGrp="1"/>
          </p:cNvSpPr>
          <p:nvPr/>
        </p:nvSpPr>
        <p:spPr>
          <a:xfrm xmlns:a="http://schemas.openxmlformats.org/drawingml/2006/main">
            <a:off x="10527601" y="3863639"/>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35" name="Shape 33">
            <a:extLst xmlns:a="http://schemas.openxmlformats.org/drawingml/2006/main">
              <a:ext uri="{FF2B5EF4-FFF2-40B4-BE49-F238E27FC236}">
                <a16:creationId xmlns:a16="http://schemas.microsoft.com/office/drawing/2014/main" id="{C71EF1DE-F754-4DD0-9D4D-D80562BE3009}"/>
              </a:ext>
            </a:extLst>
          </p:cNvPr>
          <p:cNvSpPr>
            <a:spLocks xmlns:a="http://schemas.openxmlformats.org/drawingml/2006/main" noGrp="1"/>
          </p:cNvSpPr>
          <p:nvPr/>
        </p:nvSpPr>
        <p:spPr>
          <a:xfrm xmlns:a="http://schemas.openxmlformats.org/drawingml/2006/main">
            <a:off x="10527601" y="4534758"/>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36" name="Shape 34">
            <a:extLst xmlns:a="http://schemas.openxmlformats.org/drawingml/2006/main">
              <a:ext uri="{FF2B5EF4-FFF2-40B4-BE49-F238E27FC236}">
                <a16:creationId xmlns:a16="http://schemas.microsoft.com/office/drawing/2014/main" id="{C3029567-7AC5-4611-823B-270FF936F496}"/>
              </a:ext>
            </a:extLst>
          </p:cNvPr>
          <p:cNvSpPr>
            <a:spLocks xmlns:a="http://schemas.openxmlformats.org/drawingml/2006/main" noGrp="1"/>
          </p:cNvSpPr>
          <p:nvPr/>
        </p:nvSpPr>
        <p:spPr>
          <a:xfrm xmlns:a="http://schemas.openxmlformats.org/drawingml/2006/main">
            <a:off x="10192041" y="4199199"/>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37" name="Shape 35">
            <a:extLst xmlns:a="http://schemas.openxmlformats.org/drawingml/2006/main">
              <a:ext uri="{FF2B5EF4-FFF2-40B4-BE49-F238E27FC236}">
                <a16:creationId xmlns:a16="http://schemas.microsoft.com/office/drawing/2014/main" id="{96C6E434-C52C-416A-AEC2-13AF511FB9B4}"/>
              </a:ext>
            </a:extLst>
          </p:cNvPr>
          <p:cNvSpPr>
            <a:spLocks xmlns:a="http://schemas.openxmlformats.org/drawingml/2006/main" noGrp="1"/>
          </p:cNvSpPr>
          <p:nvPr/>
        </p:nvSpPr>
        <p:spPr>
          <a:xfrm xmlns:a="http://schemas.openxmlformats.org/drawingml/2006/main">
            <a:off x="10863161" y="4199199"/>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38" name="Shape 36">
            <a:extLst xmlns:a="http://schemas.openxmlformats.org/drawingml/2006/main">
              <a:ext uri="{FF2B5EF4-FFF2-40B4-BE49-F238E27FC236}">
                <a16:creationId xmlns:a16="http://schemas.microsoft.com/office/drawing/2014/main" id="{3F1EF388-8555-4391-9D46-C4EECF9AFDBC}"/>
              </a:ext>
            </a:extLst>
          </p:cNvPr>
          <p:cNvSpPr>
            <a:spLocks xmlns:a="http://schemas.openxmlformats.org/drawingml/2006/main" noGrp="1"/>
          </p:cNvSpPr>
          <p:nvPr/>
        </p:nvSpPr>
        <p:spPr>
          <a:xfrm xmlns:a="http://schemas.openxmlformats.org/drawingml/2006/main">
            <a:off x="10192041" y="3863639"/>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39" name="Shape 37">
            <a:extLst xmlns:a="http://schemas.openxmlformats.org/drawingml/2006/main">
              <a:ext uri="{FF2B5EF4-FFF2-40B4-BE49-F238E27FC236}">
                <a16:creationId xmlns:a16="http://schemas.microsoft.com/office/drawing/2014/main" id="{5204B825-A939-437C-A130-639B7BBA3639}"/>
              </a:ext>
            </a:extLst>
          </p:cNvPr>
          <p:cNvSpPr>
            <a:spLocks xmlns:a="http://schemas.openxmlformats.org/drawingml/2006/main" noGrp="1"/>
          </p:cNvSpPr>
          <p:nvPr/>
        </p:nvSpPr>
        <p:spPr>
          <a:xfrm xmlns:a="http://schemas.openxmlformats.org/drawingml/2006/main">
            <a:off x="10863161" y="3863639"/>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40" name="Shape 38">
            <a:extLst xmlns:a="http://schemas.openxmlformats.org/drawingml/2006/main">
              <a:ext uri="{FF2B5EF4-FFF2-40B4-BE49-F238E27FC236}">
                <a16:creationId xmlns:a16="http://schemas.microsoft.com/office/drawing/2014/main" id="{6524987F-E834-4F99-AED5-A253A2D61EFA}"/>
              </a:ext>
            </a:extLst>
          </p:cNvPr>
          <p:cNvSpPr>
            <a:spLocks xmlns:a="http://schemas.openxmlformats.org/drawingml/2006/main" noGrp="1"/>
          </p:cNvSpPr>
          <p:nvPr/>
        </p:nvSpPr>
        <p:spPr>
          <a:xfrm xmlns:a="http://schemas.openxmlformats.org/drawingml/2006/main">
            <a:off x="10192041" y="4534758"/>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41" name="Shape 39">
            <a:extLst xmlns:a="http://schemas.openxmlformats.org/drawingml/2006/main">
              <a:ext uri="{FF2B5EF4-FFF2-40B4-BE49-F238E27FC236}">
                <a16:creationId xmlns:a16="http://schemas.microsoft.com/office/drawing/2014/main" id="{CE27A092-48DF-4F9A-BA15-A813823521A6}"/>
              </a:ext>
            </a:extLst>
          </p:cNvPr>
          <p:cNvSpPr>
            <a:spLocks xmlns:a="http://schemas.openxmlformats.org/drawingml/2006/main" noGrp="1"/>
          </p:cNvSpPr>
          <p:nvPr/>
        </p:nvSpPr>
        <p:spPr>
          <a:xfrm xmlns:a="http://schemas.openxmlformats.org/drawingml/2006/main">
            <a:off x="10863161" y="4534758"/>
            <a:ext cx="205064" cy="205064"/>
          </a:xfrm>
          <a:custGeom xmlns:a="http://schemas.openxmlformats.org/drawingml/2006/main">
            <a:rect l="l" t="t" r="r" b="b"/>
            <a:pathLst>
              <a:path w="205064" h="205064">
                <a:moveTo>
                  <a:pt x="102532" y="0"/>
                </a:moveTo>
                <a:lnTo>
                  <a:pt x="102532" y="0"/>
                </a:lnTo>
                <a:cubicBezTo>
                  <a:pt x="159121" y="0"/>
                  <a:pt x="205064" y="45943"/>
                  <a:pt x="205064" y="102532"/>
                </a:cubicBezTo>
                <a:lnTo>
                  <a:pt x="205064" y="102532"/>
                </a:lnTo>
                <a:cubicBezTo>
                  <a:pt x="205064" y="159121"/>
                  <a:pt x="159121" y="205064"/>
                  <a:pt x="102532" y="205064"/>
                </a:cubicBezTo>
                <a:lnTo>
                  <a:pt x="102532" y="205064"/>
                </a:lnTo>
                <a:cubicBezTo>
                  <a:pt x="45943" y="205064"/>
                  <a:pt x="0" y="159121"/>
                  <a:pt x="0" y="102532"/>
                </a:cubicBezTo>
                <a:lnTo>
                  <a:pt x="0" y="102532"/>
                </a:lnTo>
                <a:cubicBezTo>
                  <a:pt x="0" y="45943"/>
                  <a:pt x="45943" y="0"/>
                  <a:pt x="102532" y="0"/>
                </a:cubicBezTo>
                <a:close/>
              </a:path>
            </a:pathLst>
          </a:custGeom>
          <a:solidFill xmlns:a="http://schemas.openxmlformats.org/drawingml/2006/main">
            <a:srgbClr val="000000">
              <a:alpha val="0"/>
            </a:srgbClr>
          </a:solidFill>
          <a:ln xmlns:a="http://schemas.openxmlformats.org/drawingml/2006/main" w="25400">
            <a:solidFill>
              <a:srgbClr val="E6B450"/>
            </a:solidFill>
            <a:prstDash val="solid"/>
          </a:ln>
        </p:spPr>
      </p:sp>
      <p:sp>
        <p:nvSpPr>
          <p:cNvPr id="49" name="矩形 48">
            <a:extLst xmlns:a="http://schemas.openxmlformats.org/drawingml/2006/main">
              <a:ext uri="{FF2B5EF4-FFF2-40B4-BE49-F238E27FC236}">
                <a16:creationId xmlns:a16="http://schemas.microsoft.com/office/drawing/2014/main" id="{BBF833E9-2519-3306-C5AE-DA544314AF6E}"/>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文本框 49">
            <a:extLst xmlns:a="http://schemas.openxmlformats.org/drawingml/2006/main">
              <a:ext uri="{FF2B5EF4-FFF2-40B4-BE49-F238E27FC236}">
                <a16:creationId xmlns:a16="http://schemas.microsoft.com/office/drawing/2014/main" id="{C02C755F-FACB-B978-23C9-19C8DF44E000}"/>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7.2.1</a:t>
            </a:r>
            <a:r>
              <a:rPr sz="2400" b="1">
                <a:solidFill>
                  <a:schemeClr val="accent1"/>
                </a:solidFill>
                <a:latin typeface="+mj-lt"/>
                <a:ea typeface="+mj-lt"/>
                <a:cs typeface="+mj-lt"/>
              </a:rPr>
              <a:t>波前传播规划方法</a:t>
            </a:r>
          </a:p>
        </p:txBody>
      </p:sp>
    </p:spTree>
    <p:extLst>
      <p:ext uri="{BB962C8B-B14F-4D97-AF65-F5344CB8AC3E}">
        <p14:creationId xmlns:p14="http://schemas.microsoft.com/office/powerpoint/2010/main" val="1264643133"/>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4947A288-E2B1-461A-9989-2141EE248764}"/>
              </a:ext>
            </a:extLst>
          </p:cNvPr>
          <p:cNvSpPr>
            <a:spLocks xmlns:a="http://schemas.openxmlformats.org/drawingml/2006/main" noGrp="1"/>
          </p:cNvSpPr>
          <p:nvPr/>
        </p:nvSpPr>
        <p:spPr>
          <a:xfrm xmlns:a="http://schemas.openxmlformats.org/drawingml/2006/main">
            <a:off x="343667" y="1634697"/>
            <a:ext cx="4851788" cy="2965012"/>
          </a:xfrm>
          <a:custGeom xmlns:a="http://schemas.openxmlformats.org/drawingml/2006/main">
            <a:rect l="l" t="t" r="r" b="b"/>
            <a:pathLst>
              <a:path w="8117090" h="1235565">
                <a:moveTo>
                  <a:pt x="32730" y="0"/>
                </a:moveTo>
                <a:lnTo>
                  <a:pt x="8018900" y="0"/>
                </a:lnTo>
                <a:cubicBezTo>
                  <a:pt x="8073129" y="0"/>
                  <a:pt x="8117090" y="43961"/>
                  <a:pt x="8117090" y="98190"/>
                </a:cubicBezTo>
                <a:lnTo>
                  <a:pt x="8117090" y="1137375"/>
                </a:lnTo>
                <a:cubicBezTo>
                  <a:pt x="8117090" y="1191604"/>
                  <a:pt x="8073129" y="1235565"/>
                  <a:pt x="8018900" y="1235565"/>
                </a:cubicBezTo>
                <a:lnTo>
                  <a:pt x="32730" y="1235565"/>
                </a:lnTo>
                <a:cubicBezTo>
                  <a:pt x="14654" y="1235565"/>
                  <a:pt x="0" y="1220911"/>
                  <a:pt x="0" y="1202835"/>
                </a:cubicBezTo>
                <a:lnTo>
                  <a:pt x="0" y="32730"/>
                </a:lnTo>
                <a:cubicBezTo>
                  <a:pt x="0" y="14666"/>
                  <a:pt x="14666" y="0"/>
                  <a:pt x="3273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851A3E98-934C-4FEE-9F1A-549AE2289115}"/>
              </a:ext>
            </a:extLst>
          </p:cNvPr>
          <p:cNvSpPr>
            <a:spLocks xmlns:a="http://schemas.openxmlformats.org/drawingml/2006/main" noGrp="1"/>
          </p:cNvSpPr>
          <p:nvPr/>
        </p:nvSpPr>
        <p:spPr>
          <a:xfrm xmlns:a="http://schemas.openxmlformats.org/drawingml/2006/main">
            <a:off x="343667" y="1634697"/>
            <a:ext cx="32730" cy="2965012"/>
          </a:xfrm>
          <a:custGeom xmlns:a="http://schemas.openxmlformats.org/drawingml/2006/main">
            <a:rect l="l" t="t" r="r" b="b"/>
            <a:pathLst>
              <a:path w="32730" h="1235565">
                <a:moveTo>
                  <a:pt x="32730" y="0"/>
                </a:moveTo>
                <a:lnTo>
                  <a:pt x="32730" y="0"/>
                </a:lnTo>
                <a:lnTo>
                  <a:pt x="32730" y="1235565"/>
                </a:lnTo>
                <a:lnTo>
                  <a:pt x="32730" y="1235565"/>
                </a:lnTo>
                <a:cubicBezTo>
                  <a:pt x="14654" y="1235565"/>
                  <a:pt x="0" y="1220911"/>
                  <a:pt x="0" y="1202835"/>
                </a:cubicBezTo>
                <a:lnTo>
                  <a:pt x="0" y="32730"/>
                </a:lnTo>
                <a:cubicBezTo>
                  <a:pt x="0" y="14666"/>
                  <a:pt x="14666" y="0"/>
                  <a:pt x="3273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646D018B-354A-4AE4-887A-0340F212B96E}"/>
              </a:ext>
            </a:extLst>
          </p:cNvPr>
          <p:cNvSpPr>
            <a:spLocks xmlns:a="http://schemas.openxmlformats.org/drawingml/2006/main" noGrp="1"/>
          </p:cNvSpPr>
          <p:nvPr/>
        </p:nvSpPr>
        <p:spPr>
          <a:xfrm xmlns:a="http://schemas.openxmlformats.org/drawingml/2006/main">
            <a:off x="556413" y="1831078"/>
            <a:ext cx="327302" cy="327302"/>
          </a:xfrm>
          <a:custGeom xmlns:a="http://schemas.openxmlformats.org/drawingml/2006/main">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xmlns:a="http://schemas.openxmlformats.org/drawingml/2006/main">
            <a:srgbClr val="E6B450">
              <a:alpha val="20000"/>
            </a:srgbClr>
          </a:solidFill>
        </p:spPr>
      </p:sp>
      <p:sp>
        <p:nvSpPr>
          <p:cNvPr id="8" name="Text 6">
            <a:extLst xmlns:a="http://schemas.openxmlformats.org/drawingml/2006/main">
              <a:ext uri="{FF2B5EF4-FFF2-40B4-BE49-F238E27FC236}">
                <a16:creationId xmlns:a16="http://schemas.microsoft.com/office/drawing/2014/main" id="{A5EBC6ED-3935-4811-9971-86B7B84749EC}"/>
              </a:ext>
            </a:extLst>
          </p:cNvPr>
          <p:cNvSpPr>
            <a:spLocks xmlns:a="http://schemas.openxmlformats.org/drawingml/2006/main" noGrp="1"/>
          </p:cNvSpPr>
          <p:nvPr/>
        </p:nvSpPr>
        <p:spPr>
          <a:xfrm xmlns:a="http://schemas.openxmlformats.org/drawingml/2006/main">
            <a:off x="690531" y="1880174"/>
            <a:ext cx="130921" cy="22911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1</a:t>
            </a:r>
            <a:endParaRPr sz="2400"/>
          </a:p>
        </p:txBody>
      </p:sp>
      <p:sp>
        <p:nvSpPr>
          <p:cNvPr id="9" name="Text 7">
            <a:extLst xmlns:a="http://schemas.openxmlformats.org/drawingml/2006/main">
              <a:ext uri="{FF2B5EF4-FFF2-40B4-BE49-F238E27FC236}">
                <a16:creationId xmlns:a16="http://schemas.microsoft.com/office/drawing/2014/main" id="{93565F5B-6A59-454E-A169-92DCD17226A5}"/>
              </a:ext>
            </a:extLst>
          </p:cNvPr>
          <p:cNvSpPr>
            <a:spLocks xmlns:a="http://schemas.openxmlformats.org/drawingml/2006/main" noGrp="1"/>
          </p:cNvSpPr>
          <p:nvPr/>
        </p:nvSpPr>
        <p:spPr>
          <a:xfrm xmlns:a="http://schemas.openxmlformats.org/drawingml/2006/main">
            <a:off x="1014636" y="1831078"/>
            <a:ext cx="7347930" cy="26184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初始化地图</a:t>
            </a:r>
            <a:endParaRPr sz="2000"/>
          </a:p>
        </p:txBody>
      </p:sp>
      <p:sp>
        <p:nvSpPr>
          <p:cNvPr id="10" name="Text 8">
            <a:extLst xmlns:a="http://schemas.openxmlformats.org/drawingml/2006/main">
              <a:ext uri="{FF2B5EF4-FFF2-40B4-BE49-F238E27FC236}">
                <a16:creationId xmlns:a16="http://schemas.microsoft.com/office/drawing/2014/main" id="{3A5949C3-D52C-4344-8172-3C502E3F0B43}"/>
              </a:ext>
            </a:extLst>
          </p:cNvPr>
          <p:cNvSpPr>
            <a:spLocks xmlns:a="http://schemas.openxmlformats.org/drawingml/2006/main" noGrp="1"/>
          </p:cNvSpPr>
          <p:nvPr/>
        </p:nvSpPr>
        <p:spPr>
          <a:xfrm xmlns:a="http://schemas.openxmlformats.org/drawingml/2006/main">
            <a:off x="1014636" y="2191111"/>
            <a:ext cx="3905634" cy="2242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地图中所有的</a:t>
            </a:r>
            <a:r>
              <a:rPr sz="1600" b="1">
                <a:latin typeface="微软雅黑"/>
                <a:ea typeface="微软雅黑"/>
                <a:cs typeface="微软雅黑"/>
              </a:rPr>
              <a:t>自由单元格</a:t>
            </a:r>
            <a:r>
              <a:rPr sz="1600">
                <a:latin typeface="微软雅黑"/>
                <a:ea typeface="微软雅黑"/>
                <a:cs typeface="微软雅黑"/>
              </a:rPr>
              <a:t>初始值设置为</a:t>
            </a:r>
            <a:r>
              <a:rPr sz="1600" b="1">
                <a:latin typeface="微软雅黑"/>
                <a:ea typeface="微软雅黑"/>
                <a:cs typeface="微软雅黑"/>
              </a:rPr>
              <a:t>0</a:t>
            </a:r>
            <a:r>
              <a:rPr sz="1600">
                <a:latin typeface="微软雅黑"/>
                <a:ea typeface="微软雅黑"/>
                <a:cs typeface="微软雅黑"/>
              </a:rPr>
              <a:t>，有</a:t>
            </a:r>
            <a:r>
              <a:rPr sz="1600" b="1">
                <a:latin typeface="微软雅黑"/>
                <a:ea typeface="微软雅黑"/>
                <a:cs typeface="微软雅黑"/>
              </a:rPr>
              <a:t>障碍物</a:t>
            </a:r>
            <a:r>
              <a:rPr sz="1600">
                <a:latin typeface="微软雅黑"/>
                <a:ea typeface="微软雅黑"/>
                <a:cs typeface="微软雅黑"/>
              </a:rPr>
              <a:t>的单元格初始值设置为</a:t>
            </a:r>
            <a:r>
              <a:rPr sz="1600" b="1">
                <a:latin typeface="微软雅黑"/>
                <a:ea typeface="微软雅黑"/>
                <a:cs typeface="微软雅黑"/>
              </a:rPr>
              <a:t>1</a:t>
            </a:r>
            <a:r>
              <a:rPr sz="1600">
                <a:latin typeface="微软雅黑"/>
                <a:ea typeface="微软雅黑"/>
                <a:cs typeface="微软雅黑"/>
              </a:rPr>
              <a:t>，机器人当前位置标记为</a:t>
            </a:r>
            <a:r>
              <a:rPr sz="1600">
                <a:highlight>
                  <a:srgbClr val="E6B450">
                    <a:alpha val="20000"/>
                  </a:srgbClr>
                </a:highlight>
                <a:latin typeface="微软雅黑"/>
                <a:ea typeface="微软雅黑"/>
                <a:cs typeface="微软雅黑"/>
              </a:rPr>
              <a:t> “</a:t>
            </a:r>
            <a:r>
              <a:rPr sz="1600">
                <a:highlight>
                  <a:srgbClr val="E6B450">
                    <a:alpha val="20000"/>
                  </a:srgbClr>
                </a:highlight>
                <a:latin typeface="微软雅黑"/>
                <a:ea typeface="微软雅黑"/>
                <a:cs typeface="微软雅黑"/>
              </a:rPr>
              <a:t>开始</a:t>
            </a:r>
            <a:r>
              <a:rPr sz="1600">
                <a:highlight>
                  <a:srgbClr val="E6B450">
                    <a:alpha val="20000"/>
                  </a:srgbClr>
                </a:highlight>
                <a:latin typeface="微软雅黑"/>
                <a:ea typeface="微软雅黑"/>
                <a:cs typeface="微软雅黑"/>
              </a:rPr>
              <a:t>” </a:t>
            </a:r>
            <a:r>
              <a:rPr sz="1600">
                <a:latin typeface="微软雅黑"/>
                <a:ea typeface="微软雅黑"/>
                <a:cs typeface="微软雅黑"/>
              </a:rPr>
              <a:t>，</a:t>
            </a:r>
            <a:r>
              <a:rPr sz="1600">
                <a:latin typeface="微软雅黑"/>
                <a:ea typeface="微软雅黑"/>
                <a:cs typeface="微软雅黑"/>
              </a:rPr>
              <a:t>期望机器人到达的位置标记为</a:t>
            </a:r>
            <a:r>
              <a:rPr sz="1600">
                <a:highlight>
                  <a:srgbClr val="E6B450">
                    <a:alpha val="20000"/>
                  </a:srgbClr>
                </a:highlight>
                <a:latin typeface="微软雅黑"/>
                <a:ea typeface="微软雅黑"/>
                <a:cs typeface="微软雅黑"/>
              </a:rPr>
              <a:t> “</a:t>
            </a:r>
            <a:r>
              <a:rPr sz="1600">
                <a:highlight>
                  <a:srgbClr val="E6B450">
                    <a:alpha val="20000"/>
                  </a:srgbClr>
                </a:highlight>
                <a:latin typeface="微软雅黑"/>
                <a:ea typeface="微软雅黑"/>
                <a:cs typeface="微软雅黑"/>
              </a:rPr>
              <a:t>目的地</a:t>
            </a:r>
            <a:r>
              <a:rPr sz="1600">
                <a:highlight>
                  <a:srgbClr val="E6B450">
                    <a:alpha val="20000"/>
                  </a:srgbClr>
                </a:highlight>
                <a:latin typeface="微软雅黑"/>
                <a:ea typeface="微软雅黑"/>
                <a:cs typeface="微软雅黑"/>
              </a:rPr>
              <a:t>" </a:t>
            </a:r>
            <a:r>
              <a:rPr sz="1600">
                <a:latin typeface="微软雅黑"/>
                <a:ea typeface="微软雅黑"/>
                <a:cs typeface="微软雅黑"/>
              </a:rPr>
              <a:t>，并且它的值被设置为</a:t>
            </a:r>
            <a:r>
              <a:rPr sz="1600" b="1">
                <a:latin typeface="微软雅黑"/>
                <a:ea typeface="微软雅黑"/>
                <a:cs typeface="微软雅黑"/>
              </a:rPr>
              <a:t>2</a:t>
            </a:r>
            <a:r>
              <a:rPr sz="1600">
                <a:latin typeface="微软雅黑"/>
                <a:ea typeface="微软雅黑"/>
                <a:cs typeface="微软雅黑"/>
              </a:rPr>
              <a:t>。</a:t>
            </a:r>
            <a:endParaRPr sz="2400"/>
          </a:p>
        </p:txBody>
      </p:sp>
      <p:sp>
        <p:nvSpPr>
          <p:cNvPr id="115" name="矩形 114">
            <a:extLst xmlns:a="http://schemas.openxmlformats.org/drawingml/2006/main">
              <a:ext uri="{FF2B5EF4-FFF2-40B4-BE49-F238E27FC236}">
                <a16:creationId xmlns:a16="http://schemas.microsoft.com/office/drawing/2014/main" id="{3980A332-AF64-72AF-7357-EB946B073E1A}"/>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6" name="文本框 115">
            <a:extLst xmlns:a="http://schemas.openxmlformats.org/drawingml/2006/main">
              <a:ext uri="{FF2B5EF4-FFF2-40B4-BE49-F238E27FC236}">
                <a16:creationId xmlns:a16="http://schemas.microsoft.com/office/drawing/2014/main" id="{DAC62AEA-1370-5C49-7DCC-B0B588D06122}"/>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7.2.1</a:t>
            </a:r>
            <a:r>
              <a:rPr sz="2400" b="1">
                <a:solidFill>
                  <a:schemeClr val="accent1"/>
                </a:solidFill>
                <a:latin typeface="+mj-lt"/>
                <a:ea typeface="+mj-lt"/>
                <a:cs typeface="+mj-lt"/>
              </a:rPr>
              <a:t>波前传播规划方法</a:t>
            </a:r>
          </a:p>
        </p:txBody>
      </p:sp>
      <p:pic>
        <p:nvPicPr>
          <p:cNvPr id="126" name="图片 119"/>
          <p:cNvPicPr>
            <a:picLocks xmlns:a="http://schemas.openxmlformats.org/drawingml/2006/main" noChangeAspect="1"/>
          </p:cNvPicPr>
          <p:nvPr/>
        </p:nvPicPr>
        <p:blipFill>
          <a:blip xmlns:r="http://schemas.openxmlformats.org/officeDocument/2006/relationships" xmlns:a="http://schemas.openxmlformats.org/drawingml/2006/main" r:embed="R75167ea2487d482e"/>
          <a:srcRect xmlns:a="http://schemas.openxmlformats.org/drawingml/2006/main" l="0" t="3085" r="49723" b="49685"/>
          <a:stretch xmlns:a="http://schemas.openxmlformats.org/drawingml/2006/main">
            <a:fillRect l="0" t="0" r="0" b="0"/>
          </a:stretch>
        </p:blipFill>
        <p:spPr>
          <a:xfrm xmlns:a="http://schemas.openxmlformats.org/drawingml/2006/main">
            <a:off x="5526057" y="1095477"/>
            <a:ext cx="6032251" cy="5762523"/>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3952976529"/>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66875BF8-EB53-4F8E-937F-0A260AD9B19E}"/>
              </a:ext>
            </a:extLst>
          </p:cNvPr>
          <p:cNvSpPr>
            <a:spLocks xmlns:a="http://schemas.openxmlformats.org/drawingml/2006/main" noGrp="1"/>
          </p:cNvSpPr>
          <p:nvPr/>
        </p:nvSpPr>
        <p:spPr>
          <a:xfrm xmlns:a="http://schemas.openxmlformats.org/drawingml/2006/main">
            <a:off x="343667" y="1634698"/>
            <a:ext cx="5426751" cy="741358"/>
          </a:xfrm>
          <a:custGeom xmlns:a="http://schemas.openxmlformats.org/drawingml/2006/main">
            <a:rect l="l" t="t" r="r" b="b"/>
            <a:pathLst>
              <a:path w="8117090" h="1235565">
                <a:moveTo>
                  <a:pt x="32730" y="0"/>
                </a:moveTo>
                <a:lnTo>
                  <a:pt x="8018900" y="0"/>
                </a:lnTo>
                <a:cubicBezTo>
                  <a:pt x="8073129" y="0"/>
                  <a:pt x="8117090" y="43961"/>
                  <a:pt x="8117090" y="98190"/>
                </a:cubicBezTo>
                <a:lnTo>
                  <a:pt x="8117090" y="1137375"/>
                </a:lnTo>
                <a:cubicBezTo>
                  <a:pt x="8117090" y="1191604"/>
                  <a:pt x="8073129" y="1235565"/>
                  <a:pt x="8018900" y="1235565"/>
                </a:cubicBezTo>
                <a:lnTo>
                  <a:pt x="32730" y="1235565"/>
                </a:lnTo>
                <a:cubicBezTo>
                  <a:pt x="14654" y="1235565"/>
                  <a:pt x="0" y="1220911"/>
                  <a:pt x="0" y="1202835"/>
                </a:cubicBezTo>
                <a:lnTo>
                  <a:pt x="0" y="32730"/>
                </a:lnTo>
                <a:cubicBezTo>
                  <a:pt x="0" y="14666"/>
                  <a:pt x="14666" y="0"/>
                  <a:pt x="3273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9659A1B2-EED2-482A-B76E-F5A201B16C37}"/>
              </a:ext>
            </a:extLst>
          </p:cNvPr>
          <p:cNvSpPr>
            <a:spLocks xmlns:a="http://schemas.openxmlformats.org/drawingml/2006/main" noGrp="1"/>
          </p:cNvSpPr>
          <p:nvPr/>
        </p:nvSpPr>
        <p:spPr>
          <a:xfrm xmlns:a="http://schemas.openxmlformats.org/drawingml/2006/main">
            <a:off x="343667" y="1634698"/>
            <a:ext cx="32730" cy="741358"/>
          </a:xfrm>
          <a:custGeom xmlns:a="http://schemas.openxmlformats.org/drawingml/2006/main">
            <a:rect l="l" t="t" r="r" b="b"/>
            <a:pathLst>
              <a:path w="32730" h="1235565">
                <a:moveTo>
                  <a:pt x="32730" y="0"/>
                </a:moveTo>
                <a:lnTo>
                  <a:pt x="32730" y="0"/>
                </a:lnTo>
                <a:lnTo>
                  <a:pt x="32730" y="1235565"/>
                </a:lnTo>
                <a:lnTo>
                  <a:pt x="32730" y="1235565"/>
                </a:lnTo>
                <a:cubicBezTo>
                  <a:pt x="14654" y="1235565"/>
                  <a:pt x="0" y="1220911"/>
                  <a:pt x="0" y="1202835"/>
                </a:cubicBezTo>
                <a:lnTo>
                  <a:pt x="0" y="32730"/>
                </a:lnTo>
                <a:cubicBezTo>
                  <a:pt x="0" y="14666"/>
                  <a:pt x="14666" y="0"/>
                  <a:pt x="3273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D5FF03C5-5DC7-418E-93E7-C3B819F3475A}"/>
              </a:ext>
            </a:extLst>
          </p:cNvPr>
          <p:cNvSpPr>
            <a:spLocks xmlns:a="http://schemas.openxmlformats.org/drawingml/2006/main" noGrp="1"/>
          </p:cNvSpPr>
          <p:nvPr/>
        </p:nvSpPr>
        <p:spPr>
          <a:xfrm xmlns:a="http://schemas.openxmlformats.org/drawingml/2006/main">
            <a:off x="556413" y="1831078"/>
            <a:ext cx="327302" cy="327302"/>
          </a:xfrm>
          <a:custGeom xmlns:a="http://schemas.openxmlformats.org/drawingml/2006/main">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xmlns:a="http://schemas.openxmlformats.org/drawingml/2006/main">
            <a:srgbClr val="E6B450">
              <a:alpha val="20000"/>
            </a:srgbClr>
          </a:solidFill>
        </p:spPr>
      </p:sp>
      <p:sp>
        <p:nvSpPr>
          <p:cNvPr id="8" name="Text 6">
            <a:extLst xmlns:a="http://schemas.openxmlformats.org/drawingml/2006/main">
              <a:ext uri="{FF2B5EF4-FFF2-40B4-BE49-F238E27FC236}">
                <a16:creationId xmlns:a16="http://schemas.microsoft.com/office/drawing/2014/main" id="{1739FF91-E189-4B7F-A34A-C033FBF5FBD4}"/>
              </a:ext>
            </a:extLst>
          </p:cNvPr>
          <p:cNvSpPr>
            <a:spLocks xmlns:a="http://schemas.openxmlformats.org/drawingml/2006/main" noGrp="1"/>
          </p:cNvSpPr>
          <p:nvPr/>
        </p:nvSpPr>
        <p:spPr>
          <a:xfrm xmlns:a="http://schemas.openxmlformats.org/drawingml/2006/main">
            <a:off x="690531" y="1880174"/>
            <a:ext cx="130921" cy="22911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1</a:t>
            </a:r>
            <a:endParaRPr sz="2400"/>
          </a:p>
        </p:txBody>
      </p:sp>
      <p:sp>
        <p:nvSpPr>
          <p:cNvPr id="9" name="Text 7">
            <a:extLst xmlns:a="http://schemas.openxmlformats.org/drawingml/2006/main">
              <a:ext uri="{FF2B5EF4-FFF2-40B4-BE49-F238E27FC236}">
                <a16:creationId xmlns:a16="http://schemas.microsoft.com/office/drawing/2014/main" id="{CC14DE57-CA7E-4467-8BA2-2887C8E1718E}"/>
              </a:ext>
            </a:extLst>
          </p:cNvPr>
          <p:cNvSpPr>
            <a:spLocks xmlns:a="http://schemas.openxmlformats.org/drawingml/2006/main" noGrp="1"/>
          </p:cNvSpPr>
          <p:nvPr/>
        </p:nvSpPr>
        <p:spPr>
          <a:xfrm xmlns:a="http://schemas.openxmlformats.org/drawingml/2006/main">
            <a:off x="1014636" y="1831078"/>
            <a:ext cx="7347930" cy="26184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初始化地图</a:t>
            </a:r>
            <a:endParaRPr sz="2000"/>
          </a:p>
        </p:txBody>
      </p:sp>
      <p:sp>
        <p:nvSpPr>
          <p:cNvPr id="11" name="Shape 9">
            <a:extLst xmlns:a="http://schemas.openxmlformats.org/drawingml/2006/main">
              <a:ext uri="{FF2B5EF4-FFF2-40B4-BE49-F238E27FC236}">
                <a16:creationId xmlns:a16="http://schemas.microsoft.com/office/drawing/2014/main" id="{11E5A17A-9C24-48DF-AA6D-FA571181D353}"/>
              </a:ext>
            </a:extLst>
          </p:cNvPr>
          <p:cNvSpPr>
            <a:spLocks xmlns:a="http://schemas.openxmlformats.org/drawingml/2006/main" noGrp="1"/>
          </p:cNvSpPr>
          <p:nvPr/>
        </p:nvSpPr>
        <p:spPr>
          <a:xfrm xmlns:a="http://schemas.openxmlformats.org/drawingml/2006/main">
            <a:off x="343667" y="2473732"/>
            <a:ext cx="5426751" cy="1313348"/>
          </a:xfrm>
          <a:custGeom xmlns:a="http://schemas.openxmlformats.org/drawingml/2006/main">
            <a:rect l="l" t="t" r="r" b="b"/>
            <a:pathLst>
              <a:path w="8117090" h="990089">
                <a:moveTo>
                  <a:pt x="32730" y="0"/>
                </a:moveTo>
                <a:lnTo>
                  <a:pt x="8018903" y="0"/>
                </a:lnTo>
                <a:cubicBezTo>
                  <a:pt x="8073130" y="0"/>
                  <a:pt x="8117090" y="43960"/>
                  <a:pt x="8117090" y="98187"/>
                </a:cubicBezTo>
                <a:lnTo>
                  <a:pt x="8117090" y="891902"/>
                </a:lnTo>
                <a:cubicBezTo>
                  <a:pt x="8117090" y="946129"/>
                  <a:pt x="8073130" y="990089"/>
                  <a:pt x="8018903" y="990089"/>
                </a:cubicBezTo>
                <a:lnTo>
                  <a:pt x="32730" y="990089"/>
                </a:lnTo>
                <a:cubicBezTo>
                  <a:pt x="14654" y="990089"/>
                  <a:pt x="0" y="975435"/>
                  <a:pt x="0" y="957358"/>
                </a:cubicBezTo>
                <a:lnTo>
                  <a:pt x="0" y="32730"/>
                </a:lnTo>
                <a:cubicBezTo>
                  <a:pt x="0" y="14666"/>
                  <a:pt x="14666" y="0"/>
                  <a:pt x="32730" y="0"/>
                </a:cubicBezTo>
                <a:close/>
              </a:path>
            </a:pathLst>
          </a:custGeom>
          <a:solidFill xmlns:a="http://schemas.openxmlformats.org/drawingml/2006/main">
            <a:srgbClr val="5F87A7">
              <a:alpha val="10196"/>
            </a:srgbClr>
          </a:solidFill>
        </p:spPr>
      </p:sp>
      <p:sp>
        <p:nvSpPr>
          <p:cNvPr id="12" name="Shape 10">
            <a:extLst xmlns:a="http://schemas.openxmlformats.org/drawingml/2006/main">
              <a:ext uri="{FF2B5EF4-FFF2-40B4-BE49-F238E27FC236}">
                <a16:creationId xmlns:a16="http://schemas.microsoft.com/office/drawing/2014/main" id="{07DEC409-7477-43DB-A786-FE147AD1A903}"/>
              </a:ext>
            </a:extLst>
          </p:cNvPr>
          <p:cNvSpPr>
            <a:spLocks xmlns:a="http://schemas.openxmlformats.org/drawingml/2006/main" noGrp="1"/>
          </p:cNvSpPr>
          <p:nvPr/>
        </p:nvSpPr>
        <p:spPr>
          <a:xfrm xmlns:a="http://schemas.openxmlformats.org/drawingml/2006/main">
            <a:off x="343667" y="2473732"/>
            <a:ext cx="32730" cy="1313348"/>
          </a:xfrm>
          <a:custGeom xmlns:a="http://schemas.openxmlformats.org/drawingml/2006/main">
            <a:rect l="l" t="t" r="r" b="b"/>
            <a:pathLst>
              <a:path w="32730" h="990089">
                <a:moveTo>
                  <a:pt x="32730" y="0"/>
                </a:moveTo>
                <a:lnTo>
                  <a:pt x="32730" y="0"/>
                </a:lnTo>
                <a:lnTo>
                  <a:pt x="32730" y="990089"/>
                </a:lnTo>
                <a:lnTo>
                  <a:pt x="32730" y="990089"/>
                </a:lnTo>
                <a:cubicBezTo>
                  <a:pt x="14654" y="990089"/>
                  <a:pt x="0" y="975435"/>
                  <a:pt x="0" y="957358"/>
                </a:cubicBezTo>
                <a:lnTo>
                  <a:pt x="0" y="32730"/>
                </a:lnTo>
                <a:cubicBezTo>
                  <a:pt x="0" y="14666"/>
                  <a:pt x="14666" y="0"/>
                  <a:pt x="32730" y="0"/>
                </a:cubicBezTo>
                <a:close/>
              </a:path>
            </a:pathLst>
          </a:custGeom>
          <a:solidFill xmlns:a="http://schemas.openxmlformats.org/drawingml/2006/main">
            <a:srgbClr val="E6B450"/>
          </a:solidFill>
        </p:spPr>
      </p:sp>
      <p:sp>
        <p:nvSpPr>
          <p:cNvPr id="13" name="Shape 11">
            <a:extLst xmlns:a="http://schemas.openxmlformats.org/drawingml/2006/main">
              <a:ext uri="{FF2B5EF4-FFF2-40B4-BE49-F238E27FC236}">
                <a16:creationId xmlns:a16="http://schemas.microsoft.com/office/drawing/2014/main" id="{EEECA89B-25A4-49ED-9B2B-775EAC7F1905}"/>
              </a:ext>
            </a:extLst>
          </p:cNvPr>
          <p:cNvSpPr>
            <a:spLocks xmlns:a="http://schemas.openxmlformats.org/drawingml/2006/main" noGrp="1"/>
          </p:cNvSpPr>
          <p:nvPr/>
        </p:nvSpPr>
        <p:spPr>
          <a:xfrm xmlns:a="http://schemas.openxmlformats.org/drawingml/2006/main">
            <a:off x="556413" y="2670113"/>
            <a:ext cx="327302" cy="327302"/>
          </a:xfrm>
          <a:custGeom xmlns:a="http://schemas.openxmlformats.org/drawingml/2006/main">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xmlns:a="http://schemas.openxmlformats.org/drawingml/2006/main">
            <a:srgbClr val="E6B450">
              <a:alpha val="20000"/>
            </a:srgbClr>
          </a:solidFill>
        </p:spPr>
      </p:sp>
      <p:sp>
        <p:nvSpPr>
          <p:cNvPr id="14" name="Text 12">
            <a:extLst xmlns:a="http://schemas.openxmlformats.org/drawingml/2006/main">
              <a:ext uri="{FF2B5EF4-FFF2-40B4-BE49-F238E27FC236}">
                <a16:creationId xmlns:a16="http://schemas.microsoft.com/office/drawing/2014/main" id="{8A476DDF-5CB5-4E8D-A6B6-69C80082BE10}"/>
              </a:ext>
            </a:extLst>
          </p:cNvPr>
          <p:cNvSpPr>
            <a:spLocks xmlns:a="http://schemas.openxmlformats.org/drawingml/2006/main" noGrp="1"/>
          </p:cNvSpPr>
          <p:nvPr/>
        </p:nvSpPr>
        <p:spPr>
          <a:xfrm xmlns:a="http://schemas.openxmlformats.org/drawingml/2006/main">
            <a:off x="677234" y="2719209"/>
            <a:ext cx="155468" cy="22911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2</a:t>
            </a:r>
            <a:endParaRPr sz="2400"/>
          </a:p>
        </p:txBody>
      </p:sp>
      <p:sp>
        <p:nvSpPr>
          <p:cNvPr id="15" name="Text 13">
            <a:extLst xmlns:a="http://schemas.openxmlformats.org/drawingml/2006/main">
              <a:ext uri="{FF2B5EF4-FFF2-40B4-BE49-F238E27FC236}">
                <a16:creationId xmlns:a16="http://schemas.microsoft.com/office/drawing/2014/main" id="{ACB13688-6614-452A-8306-AE26F33A7E9E}"/>
              </a:ext>
            </a:extLst>
          </p:cNvPr>
          <p:cNvSpPr>
            <a:spLocks xmlns:a="http://schemas.openxmlformats.org/drawingml/2006/main" noGrp="1"/>
          </p:cNvSpPr>
          <p:nvPr/>
        </p:nvSpPr>
        <p:spPr>
          <a:xfrm xmlns:a="http://schemas.openxmlformats.org/drawingml/2006/main">
            <a:off x="1014636" y="2670113"/>
            <a:ext cx="4426760" cy="26184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从目的地开始更新</a:t>
            </a:r>
            <a:endParaRPr sz="2000"/>
          </a:p>
        </p:txBody>
      </p:sp>
      <p:sp>
        <p:nvSpPr>
          <p:cNvPr id="16" name="Text 14">
            <a:extLst xmlns:a="http://schemas.openxmlformats.org/drawingml/2006/main">
              <a:ext uri="{FF2B5EF4-FFF2-40B4-BE49-F238E27FC236}">
                <a16:creationId xmlns:a16="http://schemas.microsoft.com/office/drawing/2014/main" id="{4C5203FE-B7B0-4930-8BCF-E8EC166009A9}"/>
              </a:ext>
            </a:extLst>
          </p:cNvPr>
          <p:cNvSpPr>
            <a:spLocks xmlns:a="http://schemas.openxmlformats.org/drawingml/2006/main" noGrp="1"/>
          </p:cNvSpPr>
          <p:nvPr/>
        </p:nvSpPr>
        <p:spPr>
          <a:xfrm xmlns:a="http://schemas.openxmlformats.org/drawingml/2006/main">
            <a:off x="1014636" y="3030145"/>
            <a:ext cx="4459490" cy="63091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从目的地单元格开始，将其所有</a:t>
            </a:r>
            <a:r>
              <a:rPr sz="1600" b="1">
                <a:latin typeface="微软雅黑"/>
                <a:ea typeface="微软雅黑"/>
                <a:cs typeface="微软雅黑"/>
              </a:rPr>
              <a:t>毗邻的自由空间</a:t>
            </a:r>
            <a:r>
              <a:rPr sz="1600">
                <a:latin typeface="微软雅黑"/>
                <a:ea typeface="微软雅黑"/>
                <a:cs typeface="微软雅黑"/>
              </a:rPr>
              <a:t>单元格的值增加</a:t>
            </a:r>
            <a:r>
              <a:rPr sz="1600" b="1">
                <a:latin typeface="微软雅黑"/>
                <a:ea typeface="微软雅黑"/>
                <a:cs typeface="微软雅黑"/>
              </a:rPr>
              <a:t>1</a:t>
            </a:r>
            <a:r>
              <a:rPr sz="1600">
                <a:latin typeface="微软雅黑"/>
                <a:ea typeface="微软雅黑"/>
                <a:cs typeface="微软雅黑"/>
              </a:rPr>
              <a:t>。</a:t>
            </a:r>
            <a:endParaRPr sz="2400"/>
          </a:p>
        </p:txBody>
      </p:sp>
      <p:sp>
        <p:nvSpPr>
          <p:cNvPr id="17" name="Shape 15">
            <a:extLst xmlns:a="http://schemas.openxmlformats.org/drawingml/2006/main">
              <a:ext uri="{FF2B5EF4-FFF2-40B4-BE49-F238E27FC236}">
                <a16:creationId xmlns:a16="http://schemas.microsoft.com/office/drawing/2014/main" id="{5F68212B-D992-4735-BC1D-1181729F20DA}"/>
              </a:ext>
            </a:extLst>
          </p:cNvPr>
          <p:cNvSpPr>
            <a:spLocks xmlns:a="http://schemas.openxmlformats.org/drawingml/2006/main" noGrp="1"/>
          </p:cNvSpPr>
          <p:nvPr/>
        </p:nvSpPr>
        <p:spPr>
          <a:xfrm xmlns:a="http://schemas.openxmlformats.org/drawingml/2006/main">
            <a:off x="343667" y="3858523"/>
            <a:ext cx="5426751" cy="1199458"/>
          </a:xfrm>
          <a:custGeom xmlns:a="http://schemas.openxmlformats.org/drawingml/2006/main">
            <a:rect l="l" t="t" r="r" b="b"/>
            <a:pathLst>
              <a:path w="8117090" h="990089">
                <a:moveTo>
                  <a:pt x="32730" y="0"/>
                </a:moveTo>
                <a:lnTo>
                  <a:pt x="8018903" y="0"/>
                </a:lnTo>
                <a:cubicBezTo>
                  <a:pt x="8073130" y="0"/>
                  <a:pt x="8117090" y="43960"/>
                  <a:pt x="8117090" y="98187"/>
                </a:cubicBezTo>
                <a:lnTo>
                  <a:pt x="8117090" y="891902"/>
                </a:lnTo>
                <a:cubicBezTo>
                  <a:pt x="8117090" y="946129"/>
                  <a:pt x="8073130" y="990089"/>
                  <a:pt x="8018903" y="990089"/>
                </a:cubicBezTo>
                <a:lnTo>
                  <a:pt x="32730" y="990089"/>
                </a:lnTo>
                <a:cubicBezTo>
                  <a:pt x="14654" y="990089"/>
                  <a:pt x="0" y="975435"/>
                  <a:pt x="0" y="957358"/>
                </a:cubicBezTo>
                <a:lnTo>
                  <a:pt x="0" y="32730"/>
                </a:lnTo>
                <a:cubicBezTo>
                  <a:pt x="0" y="14666"/>
                  <a:pt x="14666" y="0"/>
                  <a:pt x="32730" y="0"/>
                </a:cubicBezTo>
                <a:close/>
              </a:path>
            </a:pathLst>
          </a:custGeom>
          <a:solidFill xmlns:a="http://schemas.openxmlformats.org/drawingml/2006/main">
            <a:srgbClr val="5F87A7">
              <a:alpha val="10196"/>
            </a:srgbClr>
          </a:solidFill>
        </p:spPr>
      </p:sp>
      <p:sp>
        <p:nvSpPr>
          <p:cNvPr id="18" name="Shape 16">
            <a:extLst xmlns:a="http://schemas.openxmlformats.org/drawingml/2006/main">
              <a:ext uri="{FF2B5EF4-FFF2-40B4-BE49-F238E27FC236}">
                <a16:creationId xmlns:a16="http://schemas.microsoft.com/office/drawing/2014/main" id="{8D4C8EEF-98C8-41F8-954D-FD9D6ECCE290}"/>
              </a:ext>
            </a:extLst>
          </p:cNvPr>
          <p:cNvSpPr>
            <a:spLocks xmlns:a="http://schemas.openxmlformats.org/drawingml/2006/main" noGrp="1"/>
          </p:cNvSpPr>
          <p:nvPr/>
        </p:nvSpPr>
        <p:spPr>
          <a:xfrm xmlns:a="http://schemas.openxmlformats.org/drawingml/2006/main">
            <a:off x="343667" y="3858523"/>
            <a:ext cx="32730" cy="1199458"/>
          </a:xfrm>
          <a:custGeom xmlns:a="http://schemas.openxmlformats.org/drawingml/2006/main">
            <a:rect l="l" t="t" r="r" b="b"/>
            <a:pathLst>
              <a:path w="32730" h="990089">
                <a:moveTo>
                  <a:pt x="32730" y="0"/>
                </a:moveTo>
                <a:lnTo>
                  <a:pt x="32730" y="0"/>
                </a:lnTo>
                <a:lnTo>
                  <a:pt x="32730" y="990089"/>
                </a:lnTo>
                <a:lnTo>
                  <a:pt x="32730" y="990089"/>
                </a:lnTo>
                <a:cubicBezTo>
                  <a:pt x="14654" y="990089"/>
                  <a:pt x="0" y="975435"/>
                  <a:pt x="0" y="957358"/>
                </a:cubicBezTo>
                <a:lnTo>
                  <a:pt x="0" y="32730"/>
                </a:lnTo>
                <a:cubicBezTo>
                  <a:pt x="0" y="14666"/>
                  <a:pt x="14666" y="0"/>
                  <a:pt x="32730" y="0"/>
                </a:cubicBezTo>
                <a:close/>
              </a:path>
            </a:pathLst>
          </a:custGeom>
          <a:solidFill xmlns:a="http://schemas.openxmlformats.org/drawingml/2006/main">
            <a:srgbClr val="E6B450"/>
          </a:solidFill>
        </p:spPr>
      </p:sp>
      <p:sp>
        <p:nvSpPr>
          <p:cNvPr id="19" name="Shape 17">
            <a:extLst xmlns:a="http://schemas.openxmlformats.org/drawingml/2006/main">
              <a:ext uri="{FF2B5EF4-FFF2-40B4-BE49-F238E27FC236}">
                <a16:creationId xmlns:a16="http://schemas.microsoft.com/office/drawing/2014/main" id="{6BF7A93A-1403-4E8E-BA19-AA5703FFA8A7}"/>
              </a:ext>
            </a:extLst>
          </p:cNvPr>
          <p:cNvSpPr>
            <a:spLocks xmlns:a="http://schemas.openxmlformats.org/drawingml/2006/main" noGrp="1"/>
          </p:cNvSpPr>
          <p:nvPr/>
        </p:nvSpPr>
        <p:spPr>
          <a:xfrm xmlns:a="http://schemas.openxmlformats.org/drawingml/2006/main">
            <a:off x="556413" y="4054904"/>
            <a:ext cx="327302" cy="327302"/>
          </a:xfrm>
          <a:custGeom xmlns:a="http://schemas.openxmlformats.org/drawingml/2006/main">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xmlns:a="http://schemas.openxmlformats.org/drawingml/2006/main">
            <a:srgbClr val="E6B450">
              <a:alpha val="20000"/>
            </a:srgbClr>
          </a:solidFill>
        </p:spPr>
      </p:sp>
      <p:sp>
        <p:nvSpPr>
          <p:cNvPr id="20" name="Text 18">
            <a:extLst xmlns:a="http://schemas.openxmlformats.org/drawingml/2006/main">
              <a:ext uri="{FF2B5EF4-FFF2-40B4-BE49-F238E27FC236}">
                <a16:creationId xmlns:a16="http://schemas.microsoft.com/office/drawing/2014/main" id="{4E58DA78-3CDC-4A74-B4FA-4C2E9AABC628}"/>
              </a:ext>
            </a:extLst>
          </p:cNvPr>
          <p:cNvSpPr>
            <a:spLocks xmlns:a="http://schemas.openxmlformats.org/drawingml/2006/main" noGrp="1"/>
          </p:cNvSpPr>
          <p:nvPr/>
        </p:nvSpPr>
        <p:spPr>
          <a:xfrm xmlns:a="http://schemas.openxmlformats.org/drawingml/2006/main">
            <a:off x="676595" y="4103999"/>
            <a:ext cx="163651" cy="22911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3</a:t>
            </a:r>
            <a:endParaRPr sz="2400"/>
          </a:p>
        </p:txBody>
      </p:sp>
      <p:sp>
        <p:nvSpPr>
          <p:cNvPr id="21" name="Text 19">
            <a:extLst xmlns:a="http://schemas.openxmlformats.org/drawingml/2006/main">
              <a:ext uri="{FF2B5EF4-FFF2-40B4-BE49-F238E27FC236}">
                <a16:creationId xmlns:a16="http://schemas.microsoft.com/office/drawing/2014/main" id="{A6485BDC-FCF3-4ED0-B552-1A33B8D3F229}"/>
              </a:ext>
            </a:extLst>
          </p:cNvPr>
          <p:cNvSpPr>
            <a:spLocks xmlns:a="http://schemas.openxmlformats.org/drawingml/2006/main" noGrp="1"/>
          </p:cNvSpPr>
          <p:nvPr/>
        </p:nvSpPr>
        <p:spPr>
          <a:xfrm xmlns:a="http://schemas.openxmlformats.org/drawingml/2006/main">
            <a:off x="1014636" y="4054904"/>
            <a:ext cx="3927624" cy="26184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迭代更新</a:t>
            </a:r>
            <a:endParaRPr sz="2000"/>
          </a:p>
        </p:txBody>
      </p:sp>
      <p:sp>
        <p:nvSpPr>
          <p:cNvPr id="22" name="Text 20">
            <a:extLst xmlns:a="http://schemas.openxmlformats.org/drawingml/2006/main">
              <a:ext uri="{FF2B5EF4-FFF2-40B4-BE49-F238E27FC236}">
                <a16:creationId xmlns:a16="http://schemas.microsoft.com/office/drawing/2014/main" id="{94F06599-0BC4-4ACE-8C77-A8DDA6D70FCE}"/>
              </a:ext>
            </a:extLst>
          </p:cNvPr>
          <p:cNvSpPr>
            <a:spLocks xmlns:a="http://schemas.openxmlformats.org/drawingml/2006/main" noGrp="1"/>
          </p:cNvSpPr>
          <p:nvPr/>
        </p:nvSpPr>
        <p:spPr>
          <a:xfrm xmlns:a="http://schemas.openxmlformats.org/drawingml/2006/main">
            <a:off x="1014636" y="4414936"/>
            <a:ext cx="4459490" cy="4957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重复之前的步骤，但是仅仅从</a:t>
            </a:r>
            <a:r>
              <a:rPr sz="1600" b="1">
                <a:latin typeface="微软雅黑"/>
                <a:ea typeface="微软雅黑"/>
                <a:cs typeface="微软雅黑"/>
              </a:rPr>
              <a:t>最近的修改过</a:t>
            </a:r>
            <a:r>
              <a:rPr sz="1600">
                <a:latin typeface="微软雅黑"/>
                <a:ea typeface="微软雅黑"/>
                <a:cs typeface="微软雅黑"/>
              </a:rPr>
              <a:t>的单元格开始。</a:t>
            </a:r>
            <a:endParaRPr sz="2400"/>
          </a:p>
        </p:txBody>
      </p:sp>
      <p:sp>
        <p:nvSpPr>
          <p:cNvPr id="23" name="Shape 21">
            <a:extLst xmlns:a="http://schemas.openxmlformats.org/drawingml/2006/main">
              <a:ext uri="{FF2B5EF4-FFF2-40B4-BE49-F238E27FC236}">
                <a16:creationId xmlns:a16="http://schemas.microsoft.com/office/drawing/2014/main" id="{92FA2777-2EA5-4B95-8854-8A57845D4553}"/>
              </a:ext>
            </a:extLst>
          </p:cNvPr>
          <p:cNvSpPr>
            <a:spLocks xmlns:a="http://schemas.openxmlformats.org/drawingml/2006/main" noGrp="1"/>
          </p:cNvSpPr>
          <p:nvPr/>
        </p:nvSpPr>
        <p:spPr>
          <a:xfrm xmlns:a="http://schemas.openxmlformats.org/drawingml/2006/main">
            <a:off x="343667" y="5150181"/>
            <a:ext cx="5426751" cy="1199458"/>
          </a:xfrm>
          <a:custGeom xmlns:a="http://schemas.openxmlformats.org/drawingml/2006/main">
            <a:rect l="l" t="t" r="r" b="b"/>
            <a:pathLst>
              <a:path w="8117090" h="990089">
                <a:moveTo>
                  <a:pt x="32730" y="0"/>
                </a:moveTo>
                <a:lnTo>
                  <a:pt x="8018903" y="0"/>
                </a:lnTo>
                <a:cubicBezTo>
                  <a:pt x="8073130" y="0"/>
                  <a:pt x="8117090" y="43960"/>
                  <a:pt x="8117090" y="98187"/>
                </a:cubicBezTo>
                <a:lnTo>
                  <a:pt x="8117090" y="891902"/>
                </a:lnTo>
                <a:cubicBezTo>
                  <a:pt x="8117090" y="946129"/>
                  <a:pt x="8073130" y="990089"/>
                  <a:pt x="8018903" y="990089"/>
                </a:cubicBezTo>
                <a:lnTo>
                  <a:pt x="32730" y="990089"/>
                </a:lnTo>
                <a:cubicBezTo>
                  <a:pt x="14654" y="990089"/>
                  <a:pt x="0" y="975435"/>
                  <a:pt x="0" y="957358"/>
                </a:cubicBezTo>
                <a:lnTo>
                  <a:pt x="0" y="32730"/>
                </a:lnTo>
                <a:cubicBezTo>
                  <a:pt x="0" y="14666"/>
                  <a:pt x="14666" y="0"/>
                  <a:pt x="32730" y="0"/>
                </a:cubicBezTo>
                <a:close/>
              </a:path>
            </a:pathLst>
          </a:custGeom>
          <a:solidFill xmlns:a="http://schemas.openxmlformats.org/drawingml/2006/main">
            <a:srgbClr val="5F87A7">
              <a:alpha val="10196"/>
            </a:srgbClr>
          </a:solidFill>
        </p:spPr>
      </p:sp>
      <p:sp>
        <p:nvSpPr>
          <p:cNvPr id="24" name="Shape 22">
            <a:extLst xmlns:a="http://schemas.openxmlformats.org/drawingml/2006/main">
              <a:ext uri="{FF2B5EF4-FFF2-40B4-BE49-F238E27FC236}">
                <a16:creationId xmlns:a16="http://schemas.microsoft.com/office/drawing/2014/main" id="{444A443C-983F-4381-B5E3-CC9BD1327AAB}"/>
              </a:ext>
            </a:extLst>
          </p:cNvPr>
          <p:cNvSpPr>
            <a:spLocks xmlns:a="http://schemas.openxmlformats.org/drawingml/2006/main" noGrp="1"/>
          </p:cNvSpPr>
          <p:nvPr/>
        </p:nvSpPr>
        <p:spPr>
          <a:xfrm xmlns:a="http://schemas.openxmlformats.org/drawingml/2006/main">
            <a:off x="343667" y="5150181"/>
            <a:ext cx="32730" cy="1199458"/>
          </a:xfrm>
          <a:custGeom xmlns:a="http://schemas.openxmlformats.org/drawingml/2006/main">
            <a:rect l="l" t="t" r="r" b="b"/>
            <a:pathLst>
              <a:path w="32730" h="990089">
                <a:moveTo>
                  <a:pt x="32730" y="0"/>
                </a:moveTo>
                <a:lnTo>
                  <a:pt x="32730" y="0"/>
                </a:lnTo>
                <a:lnTo>
                  <a:pt x="32730" y="990089"/>
                </a:lnTo>
                <a:lnTo>
                  <a:pt x="32730" y="990089"/>
                </a:lnTo>
                <a:cubicBezTo>
                  <a:pt x="14654" y="990089"/>
                  <a:pt x="0" y="975435"/>
                  <a:pt x="0" y="957358"/>
                </a:cubicBezTo>
                <a:lnTo>
                  <a:pt x="0" y="32730"/>
                </a:lnTo>
                <a:cubicBezTo>
                  <a:pt x="0" y="14666"/>
                  <a:pt x="14666" y="0"/>
                  <a:pt x="32730" y="0"/>
                </a:cubicBezTo>
                <a:close/>
              </a:path>
            </a:pathLst>
          </a:custGeom>
          <a:solidFill xmlns:a="http://schemas.openxmlformats.org/drawingml/2006/main">
            <a:srgbClr val="E6B450"/>
          </a:solidFill>
        </p:spPr>
      </p:sp>
      <p:sp>
        <p:nvSpPr>
          <p:cNvPr id="25" name="Shape 23">
            <a:extLst xmlns:a="http://schemas.openxmlformats.org/drawingml/2006/main">
              <a:ext uri="{FF2B5EF4-FFF2-40B4-BE49-F238E27FC236}">
                <a16:creationId xmlns:a16="http://schemas.microsoft.com/office/drawing/2014/main" id="{C2CC4652-B8B2-47BE-ADA3-5A68CF4A896B}"/>
              </a:ext>
            </a:extLst>
          </p:cNvPr>
          <p:cNvSpPr>
            <a:spLocks xmlns:a="http://schemas.openxmlformats.org/drawingml/2006/main" noGrp="1"/>
          </p:cNvSpPr>
          <p:nvPr/>
        </p:nvSpPr>
        <p:spPr>
          <a:xfrm xmlns:a="http://schemas.openxmlformats.org/drawingml/2006/main">
            <a:off x="556413" y="5346562"/>
            <a:ext cx="327302" cy="327302"/>
          </a:xfrm>
          <a:custGeom xmlns:a="http://schemas.openxmlformats.org/drawingml/2006/main">
            <a:rect l="l" t="t" r="r" b="b"/>
            <a:pathLst>
              <a:path w="327302" h="327302">
                <a:moveTo>
                  <a:pt x="163651" y="0"/>
                </a:moveTo>
                <a:lnTo>
                  <a:pt x="163651" y="0"/>
                </a:lnTo>
                <a:cubicBezTo>
                  <a:pt x="254033" y="0"/>
                  <a:pt x="327302" y="73269"/>
                  <a:pt x="327302" y="163651"/>
                </a:cubicBezTo>
                <a:lnTo>
                  <a:pt x="327302" y="163651"/>
                </a:lnTo>
                <a:cubicBezTo>
                  <a:pt x="327302" y="254033"/>
                  <a:pt x="254033" y="327302"/>
                  <a:pt x="163651" y="327302"/>
                </a:cubicBezTo>
                <a:lnTo>
                  <a:pt x="163651" y="327302"/>
                </a:lnTo>
                <a:cubicBezTo>
                  <a:pt x="73269" y="327302"/>
                  <a:pt x="0" y="254033"/>
                  <a:pt x="0" y="163651"/>
                </a:cubicBezTo>
                <a:lnTo>
                  <a:pt x="0" y="163651"/>
                </a:lnTo>
                <a:cubicBezTo>
                  <a:pt x="0" y="73269"/>
                  <a:pt x="73269" y="0"/>
                  <a:pt x="163651" y="0"/>
                </a:cubicBezTo>
                <a:close/>
              </a:path>
            </a:pathLst>
          </a:custGeom>
          <a:solidFill xmlns:a="http://schemas.openxmlformats.org/drawingml/2006/main">
            <a:srgbClr val="E6B450">
              <a:alpha val="20000"/>
            </a:srgbClr>
          </a:solidFill>
        </p:spPr>
      </p:sp>
      <p:sp>
        <p:nvSpPr>
          <p:cNvPr id="26" name="Text 24">
            <a:extLst xmlns:a="http://schemas.openxmlformats.org/drawingml/2006/main">
              <a:ext uri="{FF2B5EF4-FFF2-40B4-BE49-F238E27FC236}">
                <a16:creationId xmlns:a16="http://schemas.microsoft.com/office/drawing/2014/main" id="{F54C6063-AABD-43F7-87F1-B60C9B338D49}"/>
              </a:ext>
            </a:extLst>
          </p:cNvPr>
          <p:cNvSpPr>
            <a:spLocks xmlns:a="http://schemas.openxmlformats.org/drawingml/2006/main" noGrp="1"/>
          </p:cNvSpPr>
          <p:nvPr/>
        </p:nvSpPr>
        <p:spPr>
          <a:xfrm xmlns:a="http://schemas.openxmlformats.org/drawingml/2006/main">
            <a:off x="676595" y="5395658"/>
            <a:ext cx="163651" cy="22911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4</a:t>
            </a:r>
            <a:endParaRPr sz="2400"/>
          </a:p>
        </p:txBody>
      </p:sp>
      <p:sp>
        <p:nvSpPr>
          <p:cNvPr id="27" name="Text 25">
            <a:extLst xmlns:a="http://schemas.openxmlformats.org/drawingml/2006/main">
              <a:ext uri="{FF2B5EF4-FFF2-40B4-BE49-F238E27FC236}">
                <a16:creationId xmlns:a16="http://schemas.microsoft.com/office/drawing/2014/main" id="{18B39D17-86F9-47E6-9EF6-23A7FB864754}"/>
              </a:ext>
            </a:extLst>
          </p:cNvPr>
          <p:cNvSpPr>
            <a:spLocks xmlns:a="http://schemas.openxmlformats.org/drawingml/2006/main" noGrp="1"/>
          </p:cNvSpPr>
          <p:nvPr/>
        </p:nvSpPr>
        <p:spPr>
          <a:xfrm xmlns:a="http://schemas.openxmlformats.org/drawingml/2006/main">
            <a:off x="1014636" y="5346562"/>
            <a:ext cx="4459490" cy="26184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完成地图更新</a:t>
            </a:r>
            <a:endParaRPr sz="2000"/>
          </a:p>
        </p:txBody>
      </p:sp>
      <p:sp>
        <p:nvSpPr>
          <p:cNvPr id="28" name="Text 26">
            <a:extLst xmlns:a="http://schemas.openxmlformats.org/drawingml/2006/main">
              <a:ext uri="{FF2B5EF4-FFF2-40B4-BE49-F238E27FC236}">
                <a16:creationId xmlns:a16="http://schemas.microsoft.com/office/drawing/2014/main" id="{1C456409-EC9B-41AB-AF68-ABA63A32D268}"/>
              </a:ext>
            </a:extLst>
          </p:cNvPr>
          <p:cNvSpPr>
            <a:spLocks xmlns:a="http://schemas.openxmlformats.org/drawingml/2006/main" noGrp="1"/>
          </p:cNvSpPr>
          <p:nvPr/>
        </p:nvSpPr>
        <p:spPr>
          <a:xfrm xmlns:a="http://schemas.openxmlformats.org/drawingml/2006/main">
            <a:off x="1014636" y="5706594"/>
            <a:ext cx="4459490" cy="49139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重复以上步骤直到完成地图，只有</a:t>
            </a:r>
            <a:r>
              <a:rPr sz="1600" b="1">
                <a:latin typeface="微软雅黑"/>
                <a:ea typeface="微软雅黑"/>
                <a:cs typeface="微软雅黑"/>
              </a:rPr>
              <a:t>不可到达区域</a:t>
            </a:r>
            <a:r>
              <a:rPr sz="1600">
                <a:latin typeface="微软雅黑"/>
                <a:ea typeface="微软雅黑"/>
                <a:cs typeface="微软雅黑"/>
              </a:rPr>
              <a:t>的单元格的值为</a:t>
            </a:r>
            <a:r>
              <a:rPr sz="1600" b="1">
                <a:latin typeface="微软雅黑"/>
                <a:ea typeface="微软雅黑"/>
                <a:cs typeface="微软雅黑"/>
              </a:rPr>
              <a:t>0</a:t>
            </a:r>
            <a:r>
              <a:rPr sz="1600">
                <a:latin typeface="微软雅黑"/>
                <a:ea typeface="微软雅黑"/>
                <a:cs typeface="微软雅黑"/>
              </a:rPr>
              <a:t>。</a:t>
            </a:r>
            <a:endParaRPr sz="2400"/>
          </a:p>
        </p:txBody>
      </p:sp>
      <p:sp>
        <p:nvSpPr>
          <p:cNvPr id="115" name="矩形 114">
            <a:extLst xmlns:a="http://schemas.openxmlformats.org/drawingml/2006/main">
              <a:ext uri="{FF2B5EF4-FFF2-40B4-BE49-F238E27FC236}">
                <a16:creationId xmlns:a16="http://schemas.microsoft.com/office/drawing/2014/main" id="{3980A332-AF64-72AF-7357-EB946B073E1A}"/>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6" name="文本框 115">
            <a:extLst xmlns:a="http://schemas.openxmlformats.org/drawingml/2006/main">
              <a:ext uri="{FF2B5EF4-FFF2-40B4-BE49-F238E27FC236}">
                <a16:creationId xmlns:a16="http://schemas.microsoft.com/office/drawing/2014/main" id="{DAC62AEA-1370-5C49-7DCC-B0B588D06122}"/>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7.2.1</a:t>
            </a:r>
            <a:r>
              <a:rPr sz="2400" b="1">
                <a:solidFill>
                  <a:schemeClr val="accent1"/>
                </a:solidFill>
                <a:latin typeface="+mj-lt"/>
                <a:ea typeface="+mj-lt"/>
                <a:cs typeface="+mj-lt"/>
              </a:rPr>
              <a:t>波前传播规划方法</a:t>
            </a:r>
          </a:p>
        </p:txBody>
      </p:sp>
      <p:pic>
        <p:nvPicPr>
          <p:cNvPr id="151" name="图片 119"/>
          <p:cNvPicPr>
            <a:picLocks xmlns:a="http://schemas.openxmlformats.org/drawingml/2006/main" noChangeAspect="1"/>
          </p:cNvPicPr>
          <p:nvPr/>
        </p:nvPicPr>
        <p:blipFill>
          <a:blip xmlns:r="http://schemas.openxmlformats.org/officeDocument/2006/relationships" xmlns:a="http://schemas.openxmlformats.org/drawingml/2006/main" r:embed="R3c76ec5b450e431d"/>
          <a:srcRect xmlns:a="http://schemas.openxmlformats.org/drawingml/2006/main" l="50860" t="53386" r="0" b="0"/>
          <a:stretch xmlns:a="http://schemas.openxmlformats.org/drawingml/2006/main">
            <a:fillRect l="0" t="0" r="0" b="0"/>
          </a:stretch>
        </p:blipFill>
        <p:spPr>
          <a:xfrm xmlns:a="http://schemas.openxmlformats.org/drawingml/2006/main">
            <a:off x="6519774" y="1685460"/>
            <a:ext cx="4896370" cy="4723229"/>
          </a:xfrm>
          <a:prstGeom xmlns:a="http://schemas.openxmlformats.org/drawingml/2006/main" prst="rect">
            <a:avLst/>
          </a:prstGeom>
          <a:ln xmlns:a="http://schemas.openxmlformats.org/drawingml/2006/main">
            <a:noFill/>
          </a:ln>
        </p:spPr>
      </p:pic>
      <p:sp>
        <p:nvSpPr>
          <p:cNvPr id="121" name="Shape 22">
            <a:extLst xmlns:a="http://schemas.openxmlformats.org/drawingml/2006/main">
              <a:ext uri="{FF2B5EF4-FFF2-40B4-BE49-F238E27FC236}">
                <a16:creationId xmlns:a16="http://schemas.microsoft.com/office/drawing/2014/main" id="{E1F7F88D-DE83-4923-94D2-272B0D2FDF5E}"/>
              </a:ext>
            </a:extLst>
          </p:cNvPr>
          <p:cNvSpPr>
            <a:spLocks xmlns:a="http://schemas.openxmlformats.org/drawingml/2006/main" noGrp="1"/>
          </p:cNvSpPr>
          <p:nvPr/>
        </p:nvSpPr>
        <p:spPr>
          <a:xfrm xmlns:a="http://schemas.openxmlformats.org/drawingml/2006/main">
            <a:off x="6519774" y="6480132"/>
            <a:ext cx="4896370" cy="347669"/>
          </a:xfrm>
          <a:custGeom xmlns:a="http://schemas.openxmlformats.org/drawingml/2006/main">
            <a:rect l="l" t="t" r="r" b="b"/>
            <a:pathLst>
              <a:path w="8195018" h="1222417">
                <a:moveTo>
                  <a:pt x="96510" y="0"/>
                </a:moveTo>
                <a:lnTo>
                  <a:pt x="8098509" y="0"/>
                </a:lnTo>
                <a:cubicBezTo>
                  <a:pt x="8151810" y="0"/>
                  <a:pt x="8195018" y="43209"/>
                  <a:pt x="8195018" y="96510"/>
                </a:cubicBezTo>
                <a:lnTo>
                  <a:pt x="8195018" y="1125907"/>
                </a:lnTo>
                <a:cubicBezTo>
                  <a:pt x="8195018" y="1179172"/>
                  <a:pt x="8151774" y="1222417"/>
                  <a:pt x="8098509" y="1222417"/>
                </a:cubicBezTo>
                <a:lnTo>
                  <a:pt x="96510" y="1222417"/>
                </a:lnTo>
                <a:cubicBezTo>
                  <a:pt x="43209" y="1222417"/>
                  <a:pt x="0" y="1179208"/>
                  <a:pt x="0" y="1125907"/>
                </a:cubicBezTo>
                <a:lnTo>
                  <a:pt x="0" y="96510"/>
                </a:lnTo>
                <a:cubicBezTo>
                  <a:pt x="0" y="43245"/>
                  <a:pt x="43245" y="0"/>
                  <a:pt x="96510"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24" name="Text 25">
            <a:extLst xmlns:a="http://schemas.openxmlformats.org/drawingml/2006/main">
              <a:ext uri="{FF2B5EF4-FFF2-40B4-BE49-F238E27FC236}">
                <a16:creationId xmlns:a16="http://schemas.microsoft.com/office/drawing/2014/main" id="{AB73A0D1-2248-493A-9AC3-506C02BFD3AA}"/>
              </a:ext>
            </a:extLst>
          </p:cNvPr>
          <p:cNvSpPr>
            <a:spLocks xmlns:a="http://schemas.openxmlformats.org/drawingml/2006/main" noGrp="1"/>
          </p:cNvSpPr>
          <p:nvPr/>
        </p:nvSpPr>
        <p:spPr>
          <a:xfrm xmlns:a="http://schemas.openxmlformats.org/drawingml/2006/main">
            <a:off x="6879963" y="6459376"/>
            <a:ext cx="4210599" cy="36842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400">
                <a:latin typeface="微软雅黑"/>
                <a:ea typeface="微软雅黑"/>
                <a:cs typeface="微软雅黑"/>
              </a:rPr>
              <a:t>波前规划器可能发现</a:t>
            </a:r>
            <a:r>
              <a:rPr sz="1400" b="1">
                <a:latin typeface="微软雅黑"/>
                <a:ea typeface="微软雅黑"/>
                <a:cs typeface="微软雅黑"/>
              </a:rPr>
              <a:t>不止一条路径</a:t>
            </a:r>
            <a:r>
              <a:rPr sz="1400">
                <a:latin typeface="微软雅黑"/>
                <a:ea typeface="微软雅黑"/>
                <a:cs typeface="微软雅黑"/>
              </a:rPr>
              <a:t>。</a:t>
            </a:r>
            <a:endParaRPr sz="2000"/>
          </a:p>
        </p:txBody>
      </p:sp>
    </p:spTree>
    <p:extLst>
      <p:ext uri="{BB962C8B-B14F-4D97-AF65-F5344CB8AC3E}">
        <p14:creationId xmlns:p14="http://schemas.microsoft.com/office/powerpoint/2010/main" val="3920366465"/>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074C466E-B6E0-4BB7-85F1-6A0899B73008}"/>
              </a:ext>
            </a:extLst>
          </p:cNvPr>
          <p:cNvSpPr>
            <a:spLocks xmlns:a="http://schemas.openxmlformats.org/drawingml/2006/main" noGrp="1"/>
          </p:cNvSpPr>
          <p:nvPr/>
        </p:nvSpPr>
        <p:spPr>
          <a:xfrm xmlns:a="http://schemas.openxmlformats.org/drawingml/2006/main">
            <a:off x="333375" y="1735570"/>
            <a:ext cx="8975725" cy="1198563"/>
          </a:xfrm>
          <a:custGeom xmlns:a="http://schemas.openxmlformats.org/drawingml/2006/main">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B15215C9-D19E-42DA-A504-29BCB1B11924}"/>
              </a:ext>
            </a:extLst>
          </p:cNvPr>
          <p:cNvSpPr>
            <a:spLocks xmlns:a="http://schemas.openxmlformats.org/drawingml/2006/main" noGrp="1"/>
          </p:cNvSpPr>
          <p:nvPr/>
        </p:nvSpPr>
        <p:spPr>
          <a:xfrm xmlns:a="http://schemas.openxmlformats.org/drawingml/2006/main">
            <a:off x="333375" y="1735570"/>
            <a:ext cx="31750" cy="1198563"/>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9" name="Text 7">
            <a:extLst xmlns:a="http://schemas.openxmlformats.org/drawingml/2006/main">
              <a:ext uri="{FF2B5EF4-FFF2-40B4-BE49-F238E27FC236}">
                <a16:creationId xmlns:a16="http://schemas.microsoft.com/office/drawing/2014/main" id="{B42AEEE8-46A1-4AF5-80CB-C614517E9716}"/>
              </a:ext>
            </a:extLst>
          </p:cNvPr>
          <p:cNvSpPr>
            <a:spLocks xmlns:a="http://schemas.openxmlformats.org/drawingml/2006/main" noGrp="1"/>
          </p:cNvSpPr>
          <p:nvPr/>
        </p:nvSpPr>
        <p:spPr>
          <a:xfrm xmlns:a="http://schemas.openxmlformats.org/drawingml/2006/main">
            <a:off x="678656" y="1967346"/>
            <a:ext cx="8211343" cy="7762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b="1">
                <a:latin typeface="微软雅黑"/>
                <a:ea typeface="微软雅黑"/>
                <a:cs typeface="微软雅黑"/>
              </a:rPr>
              <a:t>Steven Lavalle</a:t>
            </a:r>
            <a:r>
              <a:rPr sz="1600">
                <a:latin typeface="微软雅黑"/>
                <a:ea typeface="微软雅黑"/>
                <a:cs typeface="微软雅黑"/>
              </a:rPr>
              <a:t>提出了一种名为</a:t>
            </a:r>
            <a:r>
              <a:rPr sz="1600">
                <a:highlight>
                  <a:srgbClr val="E6B450">
                    <a:alpha val="20000"/>
                  </a:srgbClr>
                </a:highlight>
                <a:latin typeface="微软雅黑"/>
                <a:ea typeface="微软雅黑"/>
                <a:cs typeface="微软雅黑"/>
              </a:rPr>
              <a:t> 快速扩展随机树（rapidly exploring random trees，缩写为RRT） </a:t>
            </a:r>
            <a:r>
              <a:rPr sz="1600">
                <a:latin typeface="微软雅黑"/>
                <a:ea typeface="微软雅黑"/>
                <a:cs typeface="微软雅黑"/>
              </a:rPr>
              <a:t>的算法，该算法对</a:t>
            </a:r>
            <a:r>
              <a:rPr sz="1600">
                <a:highlight>
                  <a:srgbClr val="E6B450">
                    <a:alpha val="20000"/>
                  </a:srgbClr>
                </a:highlight>
                <a:latin typeface="微软雅黑"/>
                <a:ea typeface="微软雅黑"/>
                <a:cs typeface="微软雅黑"/>
              </a:rPr>
              <a:t> 空间和姿态 </a:t>
            </a:r>
            <a:r>
              <a:rPr sz="1600">
                <a:latin typeface="微软雅黑"/>
                <a:ea typeface="微软雅黑"/>
                <a:cs typeface="微软雅黑"/>
              </a:rPr>
              <a:t>进行随机性采样。</a:t>
            </a:r>
            <a:endParaRPr sz="2400"/>
          </a:p>
        </p:txBody>
      </p:sp>
      <p:sp>
        <p:nvSpPr>
          <p:cNvPr id="10" name="Shape 8">
            <a:extLst xmlns:a="http://schemas.openxmlformats.org/drawingml/2006/main">
              <a:ext uri="{FF2B5EF4-FFF2-40B4-BE49-F238E27FC236}">
                <a16:creationId xmlns:a16="http://schemas.microsoft.com/office/drawing/2014/main" id="{113847FE-3509-447C-A0A6-7BE99F5932BE}"/>
              </a:ext>
            </a:extLst>
          </p:cNvPr>
          <p:cNvSpPr>
            <a:spLocks xmlns:a="http://schemas.openxmlformats.org/drawingml/2006/main" noGrp="1"/>
          </p:cNvSpPr>
          <p:nvPr/>
        </p:nvSpPr>
        <p:spPr>
          <a:xfrm xmlns:a="http://schemas.openxmlformats.org/drawingml/2006/main">
            <a:off x="333375" y="3120664"/>
            <a:ext cx="8975725" cy="2797538"/>
          </a:xfrm>
          <a:custGeom xmlns:a="http://schemas.openxmlformats.org/drawingml/2006/main">
            <a:rect l="l" t="t" r="r" b="b"/>
            <a:pathLst>
              <a:path w="7516813" h="960438">
                <a:moveTo>
                  <a:pt x="31750" y="0"/>
                </a:moveTo>
                <a:lnTo>
                  <a:pt x="7421566" y="0"/>
                </a:lnTo>
                <a:cubicBezTo>
                  <a:pt x="7474169" y="0"/>
                  <a:pt x="7516813" y="42643"/>
                  <a:pt x="7516813" y="95247"/>
                </a:cubicBezTo>
                <a:lnTo>
                  <a:pt x="7516813" y="865191"/>
                </a:lnTo>
                <a:cubicBezTo>
                  <a:pt x="7516813" y="917794"/>
                  <a:pt x="7474169" y="960437"/>
                  <a:pt x="7421566" y="960438"/>
                </a:cubicBezTo>
                <a:lnTo>
                  <a:pt x="31750" y="960438"/>
                </a:lnTo>
                <a:cubicBezTo>
                  <a:pt x="14227" y="960438"/>
                  <a:pt x="0" y="946211"/>
                  <a:pt x="0" y="928688"/>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AF1E6ED4-4F7E-41D6-ACB6-731158EAFF62}"/>
              </a:ext>
            </a:extLst>
          </p:cNvPr>
          <p:cNvSpPr>
            <a:spLocks xmlns:a="http://schemas.openxmlformats.org/drawingml/2006/main" noGrp="1"/>
          </p:cNvSpPr>
          <p:nvPr/>
        </p:nvSpPr>
        <p:spPr>
          <a:xfrm xmlns:a="http://schemas.openxmlformats.org/drawingml/2006/main">
            <a:off x="333374" y="3120664"/>
            <a:ext cx="45719" cy="2797538"/>
          </a:xfrm>
          <a:custGeom xmlns:a="http://schemas.openxmlformats.org/drawingml/2006/main">
            <a:rect l="l" t="t" r="r" b="b"/>
            <a:pathLst>
              <a:path w="31750" h="960438">
                <a:moveTo>
                  <a:pt x="31750" y="0"/>
                </a:moveTo>
                <a:lnTo>
                  <a:pt x="31750" y="0"/>
                </a:lnTo>
                <a:lnTo>
                  <a:pt x="31750" y="960438"/>
                </a:lnTo>
                <a:lnTo>
                  <a:pt x="31750" y="960438"/>
                </a:lnTo>
                <a:cubicBezTo>
                  <a:pt x="14227" y="960438"/>
                  <a:pt x="0" y="946211"/>
                  <a:pt x="0" y="928688"/>
                </a:cubicBezTo>
                <a:lnTo>
                  <a:pt x="0" y="31750"/>
                </a:lnTo>
                <a:cubicBezTo>
                  <a:pt x="0" y="14227"/>
                  <a:pt x="14227" y="0"/>
                  <a:pt x="31750"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0C3CBED6-B790-4F13-BB2A-1C5E0EC66E03}"/>
              </a:ext>
            </a:extLst>
          </p:cNvPr>
          <p:cNvSpPr>
            <a:spLocks xmlns:a="http://schemas.openxmlformats.org/drawingml/2006/main" noGrp="1"/>
          </p:cNvSpPr>
          <p:nvPr/>
        </p:nvSpPr>
        <p:spPr>
          <a:xfrm xmlns:a="http://schemas.openxmlformats.org/drawingml/2006/main">
            <a:off x="563563" y="3342914"/>
            <a:ext cx="190500" cy="190500"/>
          </a:xfrm>
          <a:custGeom xmlns:a="http://schemas.openxmlformats.org/drawingml/2006/main">
            <a:rect l="l" t="t" r="r" b="b"/>
            <a:pathLst>
              <a:path w="190500" h="190500">
                <a:moveTo>
                  <a:pt x="190500" y="11906"/>
                </a:moveTo>
                <a:cubicBezTo>
                  <a:pt x="190500" y="52127"/>
                  <a:pt x="161999" y="85688"/>
                  <a:pt x="124123" y="93538"/>
                </a:cubicBezTo>
                <a:cubicBezTo>
                  <a:pt x="121183" y="71921"/>
                  <a:pt x="111472" y="52462"/>
                  <a:pt x="97148" y="37393"/>
                </a:cubicBezTo>
                <a:cubicBezTo>
                  <a:pt x="112068" y="14883"/>
                  <a:pt x="137629" y="0"/>
                  <a:pt x="166688" y="0"/>
                </a:cubicBezTo>
                <a:lnTo>
                  <a:pt x="178594" y="0"/>
                </a:lnTo>
                <a:cubicBezTo>
                  <a:pt x="185179" y="0"/>
                  <a:pt x="190500" y="5321"/>
                  <a:pt x="190500" y="11906"/>
                </a:cubicBezTo>
                <a:close/>
                <a:moveTo>
                  <a:pt x="0" y="35719"/>
                </a:moveTo>
                <a:cubicBezTo>
                  <a:pt x="0" y="29133"/>
                  <a:pt x="5321" y="23812"/>
                  <a:pt x="11906" y="23812"/>
                </a:cubicBezTo>
                <a:lnTo>
                  <a:pt x="23812" y="23812"/>
                </a:lnTo>
                <a:cubicBezTo>
                  <a:pt x="69838" y="23812"/>
                  <a:pt x="107156" y="61131"/>
                  <a:pt x="107156" y="107156"/>
                </a:cubicBezTo>
                <a:lnTo>
                  <a:pt x="107156" y="178594"/>
                </a:lnTo>
                <a:cubicBezTo>
                  <a:pt x="107156" y="185179"/>
                  <a:pt x="101836" y="190500"/>
                  <a:pt x="95250" y="190500"/>
                </a:cubicBezTo>
                <a:cubicBezTo>
                  <a:pt x="88664" y="190500"/>
                  <a:pt x="83344" y="185179"/>
                  <a:pt x="83344" y="178594"/>
                </a:cubicBezTo>
                <a:lnTo>
                  <a:pt x="83344" y="119063"/>
                </a:lnTo>
                <a:cubicBezTo>
                  <a:pt x="37319" y="119063"/>
                  <a:pt x="0" y="81744"/>
                  <a:pt x="0" y="35719"/>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06B024BA-DB49-485D-84AD-FFD49B564ABC}"/>
              </a:ext>
            </a:extLst>
          </p:cNvPr>
          <p:cNvSpPr>
            <a:spLocks xmlns:a="http://schemas.openxmlformats.org/drawingml/2006/main" noGrp="1"/>
          </p:cNvSpPr>
          <p:nvPr/>
        </p:nvSpPr>
        <p:spPr>
          <a:xfrm xmlns:a="http://schemas.openxmlformats.org/drawingml/2006/main">
            <a:off x="904875" y="3311164"/>
            <a:ext cx="4849813"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基本思想</a:t>
            </a:r>
            <a:endParaRPr sz="2000"/>
          </a:p>
        </p:txBody>
      </p:sp>
      <p:sp>
        <p:nvSpPr>
          <p:cNvPr id="14" name="Text 12">
            <a:extLst xmlns:a="http://schemas.openxmlformats.org/drawingml/2006/main">
              <a:ext uri="{FF2B5EF4-FFF2-40B4-BE49-F238E27FC236}">
                <a16:creationId xmlns:a16="http://schemas.microsoft.com/office/drawing/2014/main" id="{D6C32444-5A6B-43EB-A4D0-31635ED847DD}"/>
              </a:ext>
            </a:extLst>
          </p:cNvPr>
          <p:cNvSpPr>
            <a:spLocks xmlns:a="http://schemas.openxmlformats.org/drawingml/2006/main" noGrp="1"/>
          </p:cNvSpPr>
          <p:nvPr/>
        </p:nvSpPr>
        <p:spPr>
          <a:xfrm xmlns:a="http://schemas.openxmlformats.org/drawingml/2006/main">
            <a:off x="904874" y="3660415"/>
            <a:ext cx="7985125" cy="17844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t>1</a:t>
            </a:r>
            <a:r>
              <a:rPr sz="1600"/>
              <a:t>）算法的初始条件包括先验地图和初始节点，树的根节点便是初始节点；</a:t>
            </a:r>
            <a:endParaRPr sz="1600"/>
          </a:p>
          <a:p xmlns:a="http://schemas.openxmlformats.org/drawingml/2006/main">
            <a:endParaRPr sz="1600"/>
          </a:p>
          <a:p xmlns:a="http://schemas.openxmlformats.org/drawingml/2006/main">
            <a:r>
              <a:rPr sz="1600"/>
              <a:t>2</a:t>
            </a:r>
            <a:r>
              <a:rPr sz="1600"/>
              <a:t>）对位形空间随机采样，生成一组候选位姿节点；</a:t>
            </a:r>
            <a:endParaRPr sz="1600"/>
          </a:p>
          <a:p xmlns:a="http://schemas.openxmlformats.org/drawingml/2006/main">
            <a:endParaRPr sz="1600"/>
          </a:p>
          <a:p xmlns:a="http://schemas.openxmlformats.org/drawingml/2006/main">
            <a:r>
              <a:rPr sz="1600"/>
              <a:t>3</a:t>
            </a:r>
            <a:r>
              <a:rPr sz="1600"/>
              <a:t>）从列表中随机选择一个候选节点，检查该节点是否为有效位姿，即机器人或其组成部分未在墙壁或物体内。如果节点是无效的，重复此过程，直到获得有效节点。</a:t>
            </a:r>
          </a:p>
        </p:txBody>
      </p:sp>
      <p:sp>
        <p:nvSpPr>
          <p:cNvPr id="47" name="矩形 46">
            <a:extLst xmlns:a="http://schemas.openxmlformats.org/drawingml/2006/main">
              <a:ext uri="{FF2B5EF4-FFF2-40B4-BE49-F238E27FC236}">
                <a16:creationId xmlns:a16="http://schemas.microsoft.com/office/drawing/2014/main" id="{5763B547-F6AA-62B0-6260-3698857C02B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文本框 47">
            <a:extLst xmlns:a="http://schemas.openxmlformats.org/drawingml/2006/main">
              <a:ext uri="{FF2B5EF4-FFF2-40B4-BE49-F238E27FC236}">
                <a16:creationId xmlns:a16="http://schemas.microsoft.com/office/drawing/2014/main" id="{69BFB0D2-DBD2-D74D-D1A7-333D286F22F0}"/>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7.2.2 </a:t>
            </a:r>
            <a:r>
              <a:rPr sz="2400" b="1">
                <a:solidFill>
                  <a:schemeClr val="accent1"/>
                </a:solidFill>
                <a:latin typeface="+mj-lt"/>
                <a:ea typeface="+mj-lt"/>
                <a:cs typeface="+mj-lt"/>
              </a:rPr>
              <a:t>快速扩展随机树算法</a:t>
            </a:r>
          </a:p>
        </p:txBody>
      </p:sp>
    </p:spTree>
    <p:extLst>
      <p:ext uri="{BB962C8B-B14F-4D97-AF65-F5344CB8AC3E}">
        <p14:creationId xmlns:p14="http://schemas.microsoft.com/office/powerpoint/2010/main" val="2027527528"/>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3D739C82-8E0A-4C4C-82FB-3FF8374E43C7}"/>
              </a:ext>
            </a:extLst>
          </p:cNvPr>
          <p:cNvSpPr>
            <a:spLocks xmlns:a="http://schemas.openxmlformats.org/drawingml/2006/main" noGrp="1"/>
          </p:cNvSpPr>
          <p:nvPr/>
        </p:nvSpPr>
        <p:spPr>
          <a:xfrm xmlns:a="http://schemas.openxmlformats.org/drawingml/2006/main">
            <a:off x="333375" y="1735570"/>
            <a:ext cx="8975725" cy="1198563"/>
          </a:xfrm>
          <a:custGeom xmlns:a="http://schemas.openxmlformats.org/drawingml/2006/main">
            <a:rect l="l" t="t" r="r" b="b"/>
            <a:pathLst>
              <a:path w="7516813" h="1198563">
                <a:moveTo>
                  <a:pt x="31750" y="0"/>
                </a:moveTo>
                <a:lnTo>
                  <a:pt x="7421563" y="0"/>
                </a:lnTo>
                <a:cubicBezTo>
                  <a:pt x="7474168" y="0"/>
                  <a:pt x="7516813" y="42645"/>
                  <a:pt x="7516813" y="95250"/>
                </a:cubicBezTo>
                <a:lnTo>
                  <a:pt x="7516813" y="1103313"/>
                </a:lnTo>
                <a:cubicBezTo>
                  <a:pt x="7516813" y="1155918"/>
                  <a:pt x="7474168" y="1198563"/>
                  <a:pt x="7421563" y="1198563"/>
                </a:cubicBezTo>
                <a:lnTo>
                  <a:pt x="31750" y="1198563"/>
                </a:lnTo>
                <a:cubicBezTo>
                  <a:pt x="14215" y="1198563"/>
                  <a:pt x="0" y="1184348"/>
                  <a:pt x="0" y="11668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BDF25434-77F5-422A-9C9D-2F1EC601AD70}"/>
              </a:ext>
            </a:extLst>
          </p:cNvPr>
          <p:cNvSpPr>
            <a:spLocks xmlns:a="http://schemas.openxmlformats.org/drawingml/2006/main" noGrp="1"/>
          </p:cNvSpPr>
          <p:nvPr/>
        </p:nvSpPr>
        <p:spPr>
          <a:xfrm xmlns:a="http://schemas.openxmlformats.org/drawingml/2006/main">
            <a:off x="333375" y="1735570"/>
            <a:ext cx="31750" cy="1198563"/>
          </a:xfrm>
          <a:custGeom xmlns:a="http://schemas.openxmlformats.org/drawingml/2006/main">
            <a:rect l="l" t="t" r="r" b="b"/>
            <a:pathLst>
              <a:path w="31750" h="1198563">
                <a:moveTo>
                  <a:pt x="31750" y="0"/>
                </a:moveTo>
                <a:lnTo>
                  <a:pt x="31750" y="0"/>
                </a:lnTo>
                <a:lnTo>
                  <a:pt x="31750" y="1198563"/>
                </a:lnTo>
                <a:lnTo>
                  <a:pt x="31750" y="1198563"/>
                </a:lnTo>
                <a:cubicBezTo>
                  <a:pt x="14227" y="1198563"/>
                  <a:pt x="0" y="1184336"/>
                  <a:pt x="0" y="1166813"/>
                </a:cubicBezTo>
                <a:lnTo>
                  <a:pt x="0" y="31750"/>
                </a:lnTo>
                <a:cubicBezTo>
                  <a:pt x="0" y="14227"/>
                  <a:pt x="14227" y="0"/>
                  <a:pt x="31750" y="0"/>
                </a:cubicBezTo>
                <a:close/>
              </a:path>
            </a:pathLst>
          </a:custGeom>
          <a:solidFill xmlns:a="http://schemas.openxmlformats.org/drawingml/2006/main">
            <a:srgbClr val="E6B450"/>
          </a:solidFill>
        </p:spPr>
      </p:sp>
      <p:sp>
        <p:nvSpPr>
          <p:cNvPr id="9" name="Text 7">
            <a:extLst xmlns:a="http://schemas.openxmlformats.org/drawingml/2006/main">
              <a:ext uri="{FF2B5EF4-FFF2-40B4-BE49-F238E27FC236}">
                <a16:creationId xmlns:a16="http://schemas.microsoft.com/office/drawing/2014/main" id="{C9DF2340-FD5C-48E5-B114-9A6A9147314B}"/>
              </a:ext>
            </a:extLst>
          </p:cNvPr>
          <p:cNvSpPr>
            <a:spLocks xmlns:a="http://schemas.openxmlformats.org/drawingml/2006/main" noGrp="1"/>
          </p:cNvSpPr>
          <p:nvPr/>
        </p:nvSpPr>
        <p:spPr>
          <a:xfrm xmlns:a="http://schemas.openxmlformats.org/drawingml/2006/main">
            <a:off x="678656" y="1967346"/>
            <a:ext cx="8211343" cy="7762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b="1">
                <a:latin typeface="微软雅黑"/>
                <a:ea typeface="微软雅黑"/>
                <a:cs typeface="微软雅黑"/>
              </a:rPr>
              <a:t>Steven Lavalle</a:t>
            </a:r>
            <a:r>
              <a:rPr sz="1600">
                <a:latin typeface="微软雅黑"/>
                <a:ea typeface="微软雅黑"/>
                <a:cs typeface="微软雅黑"/>
              </a:rPr>
              <a:t>提出了一种名为</a:t>
            </a:r>
            <a:r>
              <a:rPr sz="1600">
                <a:highlight>
                  <a:srgbClr val="E6B450">
                    <a:alpha val="20000"/>
                  </a:srgbClr>
                </a:highlight>
                <a:latin typeface="微软雅黑"/>
                <a:ea typeface="微软雅黑"/>
                <a:cs typeface="微软雅黑"/>
              </a:rPr>
              <a:t> 快速扩展随机树（rapidly exploring random trees，缩写为RRT） </a:t>
            </a:r>
            <a:r>
              <a:rPr sz="1600">
                <a:latin typeface="微软雅黑"/>
                <a:ea typeface="微软雅黑"/>
                <a:cs typeface="微软雅黑"/>
              </a:rPr>
              <a:t>的算法，该算法对</a:t>
            </a:r>
            <a:r>
              <a:rPr sz="1600">
                <a:highlight>
                  <a:srgbClr val="E6B450">
                    <a:alpha val="20000"/>
                  </a:srgbClr>
                </a:highlight>
                <a:latin typeface="微软雅黑"/>
                <a:ea typeface="微软雅黑"/>
                <a:cs typeface="微软雅黑"/>
              </a:rPr>
              <a:t> 空间和姿态 </a:t>
            </a:r>
            <a:r>
              <a:rPr sz="1600">
                <a:latin typeface="微软雅黑"/>
                <a:ea typeface="微软雅黑"/>
                <a:cs typeface="微软雅黑"/>
              </a:rPr>
              <a:t>进行随机性采样。</a:t>
            </a:r>
            <a:endParaRPr sz="2400"/>
          </a:p>
        </p:txBody>
      </p:sp>
      <p:sp>
        <p:nvSpPr>
          <p:cNvPr id="10" name="Shape 8">
            <a:extLst xmlns:a="http://schemas.openxmlformats.org/drawingml/2006/main">
              <a:ext uri="{FF2B5EF4-FFF2-40B4-BE49-F238E27FC236}">
                <a16:creationId xmlns:a16="http://schemas.microsoft.com/office/drawing/2014/main" id="{91827BE9-743C-489B-8A71-99C2A2CC4FA7}"/>
              </a:ext>
            </a:extLst>
          </p:cNvPr>
          <p:cNvSpPr>
            <a:spLocks xmlns:a="http://schemas.openxmlformats.org/drawingml/2006/main" noGrp="1"/>
          </p:cNvSpPr>
          <p:nvPr/>
        </p:nvSpPr>
        <p:spPr>
          <a:xfrm xmlns:a="http://schemas.openxmlformats.org/drawingml/2006/main">
            <a:off x="333375" y="3120664"/>
            <a:ext cx="8975725" cy="2511210"/>
          </a:xfrm>
          <a:custGeom xmlns:a="http://schemas.openxmlformats.org/drawingml/2006/main">
            <a:rect l="l" t="t" r="r" b="b"/>
            <a:pathLst>
              <a:path w="7516813" h="960438">
                <a:moveTo>
                  <a:pt x="31750" y="0"/>
                </a:moveTo>
                <a:lnTo>
                  <a:pt x="7421566" y="0"/>
                </a:lnTo>
                <a:cubicBezTo>
                  <a:pt x="7474169" y="0"/>
                  <a:pt x="7516813" y="42643"/>
                  <a:pt x="7516813" y="95247"/>
                </a:cubicBezTo>
                <a:lnTo>
                  <a:pt x="7516813" y="865191"/>
                </a:lnTo>
                <a:cubicBezTo>
                  <a:pt x="7516813" y="917794"/>
                  <a:pt x="7474169" y="960437"/>
                  <a:pt x="7421566" y="960438"/>
                </a:cubicBezTo>
                <a:lnTo>
                  <a:pt x="31750" y="960438"/>
                </a:lnTo>
                <a:cubicBezTo>
                  <a:pt x="14227" y="960438"/>
                  <a:pt x="0" y="946211"/>
                  <a:pt x="0" y="928688"/>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ED2FE1C7-F703-4BAF-8205-BB034A9E580D}"/>
              </a:ext>
            </a:extLst>
          </p:cNvPr>
          <p:cNvSpPr>
            <a:spLocks xmlns:a="http://schemas.openxmlformats.org/drawingml/2006/main" noGrp="1"/>
          </p:cNvSpPr>
          <p:nvPr/>
        </p:nvSpPr>
        <p:spPr>
          <a:xfrm xmlns:a="http://schemas.openxmlformats.org/drawingml/2006/main">
            <a:off x="333374" y="3120664"/>
            <a:ext cx="45719" cy="2511210"/>
          </a:xfrm>
          <a:custGeom xmlns:a="http://schemas.openxmlformats.org/drawingml/2006/main">
            <a:rect l="l" t="t" r="r" b="b"/>
            <a:pathLst>
              <a:path w="31750" h="960438">
                <a:moveTo>
                  <a:pt x="31750" y="0"/>
                </a:moveTo>
                <a:lnTo>
                  <a:pt x="31750" y="0"/>
                </a:lnTo>
                <a:lnTo>
                  <a:pt x="31750" y="960438"/>
                </a:lnTo>
                <a:lnTo>
                  <a:pt x="31750" y="960438"/>
                </a:lnTo>
                <a:cubicBezTo>
                  <a:pt x="14227" y="960438"/>
                  <a:pt x="0" y="946211"/>
                  <a:pt x="0" y="928688"/>
                </a:cubicBezTo>
                <a:lnTo>
                  <a:pt x="0" y="31750"/>
                </a:lnTo>
                <a:cubicBezTo>
                  <a:pt x="0" y="14227"/>
                  <a:pt x="14227" y="0"/>
                  <a:pt x="31750"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A7FB71C4-FBF5-4F5E-8DB2-D14E3A4867D5}"/>
              </a:ext>
            </a:extLst>
          </p:cNvPr>
          <p:cNvSpPr>
            <a:spLocks xmlns:a="http://schemas.openxmlformats.org/drawingml/2006/main" noGrp="1"/>
          </p:cNvSpPr>
          <p:nvPr/>
        </p:nvSpPr>
        <p:spPr>
          <a:xfrm xmlns:a="http://schemas.openxmlformats.org/drawingml/2006/main">
            <a:off x="563563" y="3342914"/>
            <a:ext cx="190500" cy="190500"/>
          </a:xfrm>
          <a:custGeom xmlns:a="http://schemas.openxmlformats.org/drawingml/2006/main">
            <a:rect l="l" t="t" r="r" b="b"/>
            <a:pathLst>
              <a:path w="190500" h="190500">
                <a:moveTo>
                  <a:pt x="190500" y="11906"/>
                </a:moveTo>
                <a:cubicBezTo>
                  <a:pt x="190500" y="52127"/>
                  <a:pt x="161999" y="85688"/>
                  <a:pt x="124123" y="93538"/>
                </a:cubicBezTo>
                <a:cubicBezTo>
                  <a:pt x="121183" y="71921"/>
                  <a:pt x="111472" y="52462"/>
                  <a:pt x="97148" y="37393"/>
                </a:cubicBezTo>
                <a:cubicBezTo>
                  <a:pt x="112068" y="14883"/>
                  <a:pt x="137629" y="0"/>
                  <a:pt x="166688" y="0"/>
                </a:cubicBezTo>
                <a:lnTo>
                  <a:pt x="178594" y="0"/>
                </a:lnTo>
                <a:cubicBezTo>
                  <a:pt x="185179" y="0"/>
                  <a:pt x="190500" y="5321"/>
                  <a:pt x="190500" y="11906"/>
                </a:cubicBezTo>
                <a:close/>
                <a:moveTo>
                  <a:pt x="0" y="35719"/>
                </a:moveTo>
                <a:cubicBezTo>
                  <a:pt x="0" y="29133"/>
                  <a:pt x="5321" y="23812"/>
                  <a:pt x="11906" y="23812"/>
                </a:cubicBezTo>
                <a:lnTo>
                  <a:pt x="23812" y="23812"/>
                </a:lnTo>
                <a:cubicBezTo>
                  <a:pt x="69838" y="23812"/>
                  <a:pt x="107156" y="61131"/>
                  <a:pt x="107156" y="107156"/>
                </a:cubicBezTo>
                <a:lnTo>
                  <a:pt x="107156" y="178594"/>
                </a:lnTo>
                <a:cubicBezTo>
                  <a:pt x="107156" y="185179"/>
                  <a:pt x="101836" y="190500"/>
                  <a:pt x="95250" y="190500"/>
                </a:cubicBezTo>
                <a:cubicBezTo>
                  <a:pt x="88664" y="190500"/>
                  <a:pt x="83344" y="185179"/>
                  <a:pt x="83344" y="178594"/>
                </a:cubicBezTo>
                <a:lnTo>
                  <a:pt x="83344" y="119063"/>
                </a:lnTo>
                <a:cubicBezTo>
                  <a:pt x="37319" y="119063"/>
                  <a:pt x="0" y="81744"/>
                  <a:pt x="0" y="35719"/>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3B2A5157-F6E6-49C3-86C1-7B65B4BA461A}"/>
              </a:ext>
            </a:extLst>
          </p:cNvPr>
          <p:cNvSpPr>
            <a:spLocks xmlns:a="http://schemas.openxmlformats.org/drawingml/2006/main" noGrp="1"/>
          </p:cNvSpPr>
          <p:nvPr/>
        </p:nvSpPr>
        <p:spPr>
          <a:xfrm xmlns:a="http://schemas.openxmlformats.org/drawingml/2006/main">
            <a:off x="904875" y="3311164"/>
            <a:ext cx="4849813"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基本思想</a:t>
            </a:r>
            <a:endParaRPr sz="2000"/>
          </a:p>
        </p:txBody>
      </p:sp>
      <p:sp>
        <p:nvSpPr>
          <p:cNvPr id="14" name="Text 12">
            <a:extLst xmlns:a="http://schemas.openxmlformats.org/drawingml/2006/main">
              <a:ext uri="{FF2B5EF4-FFF2-40B4-BE49-F238E27FC236}">
                <a16:creationId xmlns:a16="http://schemas.microsoft.com/office/drawing/2014/main" id="{E95A80B4-5461-48C6-B6E4-10C7238707AF}"/>
              </a:ext>
            </a:extLst>
          </p:cNvPr>
          <p:cNvSpPr>
            <a:spLocks xmlns:a="http://schemas.openxmlformats.org/drawingml/2006/main" noGrp="1"/>
          </p:cNvSpPr>
          <p:nvPr/>
        </p:nvSpPr>
        <p:spPr>
          <a:xfrm xmlns:a="http://schemas.openxmlformats.org/drawingml/2006/main">
            <a:off x="904874" y="3660414"/>
            <a:ext cx="7985125" cy="197145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t>1</a:t>
            </a:r>
            <a:r>
              <a:rPr sz="1600"/>
              <a:t>）对于有效的候选节点，检查树中最邻近节点与该节点之间是否存在无碰撞路径，也就是说，机器人是否可以通过平移和旋转从树中的节点无碰撞地运动到候选节点如果可以，那么将该节点添加到树中。否则，则放弃此候选节点，选择另一个节点。</a:t>
            </a:r>
            <a:endParaRPr sz="1600"/>
          </a:p>
          <a:p xmlns:a="http://schemas.openxmlformats.org/drawingml/2006/main">
            <a:endParaRPr sz="1600"/>
          </a:p>
          <a:p xmlns:a="http://schemas.openxmlformats.org/drawingml/2006/main">
            <a:r>
              <a:rPr sz="1600"/>
              <a:t>2</a:t>
            </a:r>
            <a:r>
              <a:rPr sz="1600"/>
              <a:t>）重复上面的步骤，直至树结构中包括目标节点。</a:t>
            </a:r>
            <a:endParaRPr sz="1600"/>
          </a:p>
          <a:p xmlns:a="http://schemas.openxmlformats.org/drawingml/2006/main">
            <a:endParaRPr sz="1600"/>
          </a:p>
          <a:p xmlns:a="http://schemas.openxmlformats.org/drawingml/2006/main">
            <a:r>
              <a:rPr sz="1600"/>
              <a:t>3</a:t>
            </a:r>
            <a:r>
              <a:rPr sz="1600"/>
              <a:t>）完成树的构建后，基于树规划路径。</a:t>
            </a:r>
          </a:p>
        </p:txBody>
      </p:sp>
      <p:sp>
        <p:nvSpPr>
          <p:cNvPr id="47" name="矩形 46">
            <a:extLst xmlns:a="http://schemas.openxmlformats.org/drawingml/2006/main">
              <a:ext uri="{FF2B5EF4-FFF2-40B4-BE49-F238E27FC236}">
                <a16:creationId xmlns:a16="http://schemas.microsoft.com/office/drawing/2014/main" id="{5763B547-F6AA-62B0-6260-3698857C02B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文本框 47">
            <a:extLst xmlns:a="http://schemas.openxmlformats.org/drawingml/2006/main">
              <a:ext uri="{FF2B5EF4-FFF2-40B4-BE49-F238E27FC236}">
                <a16:creationId xmlns:a16="http://schemas.microsoft.com/office/drawing/2014/main" id="{69BFB0D2-DBD2-D74D-D1A7-333D286F22F0}"/>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7.2.2 </a:t>
            </a:r>
            <a:r>
              <a:rPr sz="2400" b="1">
                <a:solidFill>
                  <a:schemeClr val="accent1"/>
                </a:solidFill>
                <a:latin typeface="+mj-lt"/>
                <a:ea typeface="+mj-lt"/>
                <a:cs typeface="+mj-lt"/>
              </a:rPr>
              <a:t>快速扩展随机树算法</a:t>
            </a:r>
          </a:p>
        </p:txBody>
      </p:sp>
    </p:spTree>
    <p:extLst>
      <p:ext uri="{BB962C8B-B14F-4D97-AF65-F5344CB8AC3E}">
        <p14:creationId xmlns:p14="http://schemas.microsoft.com/office/powerpoint/2010/main" val="4046591527"/>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FBE85337-17CA-4410-A02F-EE5550BF1B10}"/>
              </a:ext>
            </a:extLst>
          </p:cNvPr>
          <p:cNvSpPr>
            <a:spLocks xmlns:a="http://schemas.openxmlformats.org/drawingml/2006/main" noGrp="1"/>
          </p:cNvSpPr>
          <p:nvPr>
            <p:ph idx="4294967295"/>
          </p:nvPr>
        </p:nvSpPr>
        <p:spPr>
          <a:xfrm xmlns:a="http://schemas.openxmlformats.org/drawingml/2006/main">
            <a:off x="4724400" y="1295400"/>
            <a:ext cx="7467600" cy="3581400"/>
          </a:xfrm>
        </p:spPr>
        <p:txBody>
          <a:bodyPr xmlns:a="http://schemas.openxmlformats.org/drawingml/2006/main">
            <a:normAutofit/>
          </a:bodyPr>
          <a:lstStyle xmlns:a="http://schemas.openxmlformats.org/drawingml/2006/main"/>
          <a:p xmlns:a="http://schemas.openxmlformats.org/drawingml/2006/main">
            <a:pPr marL="0" indent="0">
              <a:lnSpc>
                <a:spcPct val="150000"/>
              </a:lnSpc>
              <a:buNone/>
            </a:pPr>
            <a:r>
              <a:rPr sz="3600"/>
              <a:t>7.1 </a:t>
            </a:r>
            <a:r>
              <a:rPr sz="3600"/>
              <a:t>地图表示</a:t>
            </a:r>
            <a:endParaRPr sz="3600"/>
          </a:p>
          <a:p xmlns:a="http://schemas.openxmlformats.org/drawingml/2006/main">
            <a:pPr marL="0" indent="0">
              <a:lnSpc>
                <a:spcPct val="150000"/>
              </a:lnSpc>
              <a:buNone/>
            </a:pPr>
            <a:r>
              <a:rPr sz="3600"/>
              <a:t>7.2 </a:t>
            </a:r>
            <a:r>
              <a:rPr sz="3600"/>
              <a:t>全局路径规划</a:t>
            </a:r>
            <a:endParaRPr sz="3600"/>
          </a:p>
          <a:p xmlns:a="http://schemas.openxmlformats.org/drawingml/2006/main">
            <a:pPr marL="0" indent="0">
              <a:lnSpc>
                <a:spcPct val="150000"/>
              </a:lnSpc>
              <a:buNone/>
            </a:pPr>
            <a:r>
              <a:rPr sz="3600">
                <a:solidFill>
                  <a:srgbClr val="FF0000"/>
                </a:solidFill>
              </a:rPr>
              <a:t>7.3 </a:t>
            </a:r>
            <a:r>
              <a:rPr sz="3600">
                <a:solidFill>
                  <a:srgbClr val="FF0000"/>
                </a:solidFill>
              </a:rPr>
              <a:t>局部路径规划</a:t>
            </a:r>
            <a:endParaRPr sz="3600">
              <a:solidFill>
                <a:srgbClr val="FF0000"/>
              </a:solidFill>
            </a:endParaRPr>
          </a:p>
        </p:txBody>
      </p:sp>
    </p:spTree>
    <p:extLst>
      <p:ext uri="{BB962C8B-B14F-4D97-AF65-F5344CB8AC3E}">
        <p14:creationId xmlns:p14="http://schemas.microsoft.com/office/powerpoint/2010/main" val="3362451090"/>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CB61911F-8D3D-43A9-8BD4-D635EAC638D7}"/>
              </a:ext>
            </a:extLst>
          </p:cNvPr>
          <p:cNvSpPr>
            <a:spLocks xmlns:a="http://schemas.openxmlformats.org/drawingml/2006/main" noGrp="1"/>
          </p:cNvSpPr>
          <p:nvPr/>
        </p:nvSpPr>
        <p:spPr>
          <a:xfrm xmlns:a="http://schemas.openxmlformats.org/drawingml/2006/main">
            <a:off x="342518" y="1806317"/>
            <a:ext cx="7502769" cy="1565611"/>
          </a:xfrm>
          <a:custGeom xmlns:a="http://schemas.openxmlformats.org/drawingml/2006/main">
            <a:rect l="l" t="t" r="r" b="b"/>
            <a:pathLst>
              <a:path w="7502769" h="1467933">
                <a:moveTo>
                  <a:pt x="32621" y="0"/>
                </a:moveTo>
                <a:lnTo>
                  <a:pt x="7404902" y="0"/>
                </a:lnTo>
                <a:cubicBezTo>
                  <a:pt x="7458953" y="0"/>
                  <a:pt x="7502769" y="43817"/>
                  <a:pt x="7502769" y="97867"/>
                </a:cubicBezTo>
                <a:lnTo>
                  <a:pt x="7502769" y="1370066"/>
                </a:lnTo>
                <a:cubicBezTo>
                  <a:pt x="7502769" y="1424117"/>
                  <a:pt x="7458953" y="1467933"/>
                  <a:pt x="7404902" y="1467933"/>
                </a:cubicBezTo>
                <a:lnTo>
                  <a:pt x="32621" y="1467933"/>
                </a:lnTo>
                <a:cubicBezTo>
                  <a:pt x="14605" y="1467933"/>
                  <a:pt x="0" y="1453328"/>
                  <a:pt x="0" y="1435312"/>
                </a:cubicBezTo>
                <a:lnTo>
                  <a:pt x="0" y="32621"/>
                </a:lnTo>
                <a:cubicBezTo>
                  <a:pt x="0" y="14605"/>
                  <a:pt x="14605" y="0"/>
                  <a:pt x="32621"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5328E71B-1C18-460B-9A8E-6D99F47CFAB3}"/>
              </a:ext>
            </a:extLst>
          </p:cNvPr>
          <p:cNvSpPr>
            <a:spLocks xmlns:a="http://schemas.openxmlformats.org/drawingml/2006/main" noGrp="1"/>
          </p:cNvSpPr>
          <p:nvPr/>
        </p:nvSpPr>
        <p:spPr>
          <a:xfrm xmlns:a="http://schemas.openxmlformats.org/drawingml/2006/main">
            <a:off x="342518" y="1806317"/>
            <a:ext cx="32621" cy="1565611"/>
          </a:xfrm>
          <a:custGeom xmlns:a="http://schemas.openxmlformats.org/drawingml/2006/main">
            <a:rect l="l" t="t" r="r" b="b"/>
            <a:pathLst>
              <a:path w="32621" h="1467933">
                <a:moveTo>
                  <a:pt x="32621" y="0"/>
                </a:moveTo>
                <a:lnTo>
                  <a:pt x="32621" y="0"/>
                </a:lnTo>
                <a:lnTo>
                  <a:pt x="32621" y="1467933"/>
                </a:lnTo>
                <a:lnTo>
                  <a:pt x="32621" y="1467933"/>
                </a:lnTo>
                <a:cubicBezTo>
                  <a:pt x="14605" y="1467933"/>
                  <a:pt x="0" y="1453328"/>
                  <a:pt x="0" y="1435312"/>
                </a:cubicBezTo>
                <a:lnTo>
                  <a:pt x="0" y="32621"/>
                </a:lnTo>
                <a:cubicBezTo>
                  <a:pt x="0" y="14605"/>
                  <a:pt x="14605" y="0"/>
                  <a:pt x="32621"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11BADEEB-68A3-4633-9BD5-42FD1F6BFF9E}"/>
              </a:ext>
            </a:extLst>
          </p:cNvPr>
          <p:cNvSpPr>
            <a:spLocks xmlns:a="http://schemas.openxmlformats.org/drawingml/2006/main" noGrp="1"/>
          </p:cNvSpPr>
          <p:nvPr/>
        </p:nvSpPr>
        <p:spPr>
          <a:xfrm xmlns:a="http://schemas.openxmlformats.org/drawingml/2006/main">
            <a:off x="526009" y="1978717"/>
            <a:ext cx="195724" cy="195724"/>
          </a:xfrm>
          <a:custGeom xmlns:a="http://schemas.openxmlformats.org/drawingml/2006/main">
            <a:rect l="l" t="t" r="r" b="b"/>
            <a:pathLst>
              <a:path w="195724" h="195724">
                <a:moveTo>
                  <a:pt x="97862" y="0"/>
                </a:moveTo>
                <a:cubicBezTo>
                  <a:pt x="99621" y="0"/>
                  <a:pt x="101379" y="382"/>
                  <a:pt x="102985" y="1109"/>
                </a:cubicBezTo>
                <a:lnTo>
                  <a:pt x="175005" y="31652"/>
                </a:lnTo>
                <a:cubicBezTo>
                  <a:pt x="183415" y="35207"/>
                  <a:pt x="189684" y="43503"/>
                  <a:pt x="189646" y="53518"/>
                </a:cubicBezTo>
                <a:cubicBezTo>
                  <a:pt x="189455" y="91440"/>
                  <a:pt x="173858" y="160823"/>
                  <a:pt x="107992" y="192360"/>
                </a:cubicBezTo>
                <a:cubicBezTo>
                  <a:pt x="101608" y="195419"/>
                  <a:pt x="94192" y="195419"/>
                  <a:pt x="87808" y="192360"/>
                </a:cubicBezTo>
                <a:cubicBezTo>
                  <a:pt x="21904" y="160823"/>
                  <a:pt x="6346" y="91440"/>
                  <a:pt x="6155" y="53518"/>
                </a:cubicBezTo>
                <a:cubicBezTo>
                  <a:pt x="6116" y="43503"/>
                  <a:pt x="12386" y="35207"/>
                  <a:pt x="20796" y="31652"/>
                </a:cubicBezTo>
                <a:lnTo>
                  <a:pt x="92778" y="1109"/>
                </a:lnTo>
                <a:cubicBezTo>
                  <a:pt x="94384" y="382"/>
                  <a:pt x="96104" y="0"/>
                  <a:pt x="97862" y="0"/>
                </a:cubicBezTo>
                <a:close/>
                <a:moveTo>
                  <a:pt x="97862" y="25536"/>
                </a:moveTo>
                <a:lnTo>
                  <a:pt x="97862" y="170074"/>
                </a:lnTo>
                <a:cubicBezTo>
                  <a:pt x="150616" y="144538"/>
                  <a:pt x="164798" y="87961"/>
                  <a:pt x="165142" y="54092"/>
                </a:cubicBezTo>
                <a:lnTo>
                  <a:pt x="97862" y="25574"/>
                </a:lnTo>
                <a:lnTo>
                  <a:pt x="97862" y="25574"/>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659F26C3-A355-42E6-A6AF-A70A00D3A331}"/>
              </a:ext>
            </a:extLst>
          </p:cNvPr>
          <p:cNvSpPr>
            <a:spLocks xmlns:a="http://schemas.openxmlformats.org/drawingml/2006/main" noGrp="1"/>
          </p:cNvSpPr>
          <p:nvPr/>
        </p:nvSpPr>
        <p:spPr>
          <a:xfrm xmlns:a="http://schemas.openxmlformats.org/drawingml/2006/main">
            <a:off x="821507" y="1946096"/>
            <a:ext cx="6923751" cy="26096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VFH方法介绍</a:t>
            </a:r>
            <a:endParaRPr sz="2000"/>
          </a:p>
        </p:txBody>
      </p:sp>
      <p:sp>
        <p:nvSpPr>
          <p:cNvPr id="9" name="Text 7">
            <a:extLst xmlns:a="http://schemas.openxmlformats.org/drawingml/2006/main">
              <a:ext uri="{FF2B5EF4-FFF2-40B4-BE49-F238E27FC236}">
                <a16:creationId xmlns:a16="http://schemas.microsoft.com/office/drawing/2014/main" id="{1571A415-28B5-41E2-A059-A463EEB550B8}"/>
              </a:ext>
            </a:extLst>
          </p:cNvPr>
          <p:cNvSpPr>
            <a:spLocks xmlns:a="http://schemas.openxmlformats.org/drawingml/2006/main" noGrp="1"/>
          </p:cNvSpPr>
          <p:nvPr/>
        </p:nvSpPr>
        <p:spPr>
          <a:xfrm xmlns:a="http://schemas.openxmlformats.org/drawingml/2006/main">
            <a:off x="821507" y="2422684"/>
            <a:ext cx="6899286" cy="717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b="1">
                <a:latin typeface="微软雅黑"/>
                <a:ea typeface="微软雅黑"/>
                <a:cs typeface="微软雅黑"/>
              </a:rPr>
              <a:t>向量场直方图方法（Vector Field </a:t>
            </a:r>
            <a:r>
              <a:rPr sz="1600" b="1">
                <a:latin typeface="微软雅黑"/>
                <a:ea typeface="微软雅黑"/>
                <a:cs typeface="微软雅黑"/>
              </a:rPr>
              <a:t>Histogram，简称VFH）</a:t>
            </a:r>
            <a:r>
              <a:rPr sz="1600">
                <a:latin typeface="微软雅黑"/>
                <a:ea typeface="微软雅黑"/>
                <a:cs typeface="微软雅黑"/>
              </a:rPr>
              <a:t>是一个用于移动机器人的</a:t>
            </a:r>
            <a:r>
              <a:rPr sz="1600">
                <a:highlight>
                  <a:srgbClr val="E6B450">
                    <a:alpha val="20000"/>
                  </a:srgbClr>
                </a:highlight>
                <a:latin typeface="微软雅黑"/>
                <a:ea typeface="微软雅黑"/>
                <a:cs typeface="微软雅黑"/>
              </a:rPr>
              <a:t> 实时避障方法 </a:t>
            </a:r>
            <a:r>
              <a:rPr sz="1600">
                <a:latin typeface="微软雅黑"/>
                <a:ea typeface="微软雅黑"/>
                <a:cs typeface="微软雅黑"/>
              </a:rPr>
              <a:t>。VFH是一个公认的高效且可靠的导航方法，尤其适用于在有很多障碍物的环境中漫游。</a:t>
            </a:r>
            <a:endParaRPr sz="2400"/>
          </a:p>
        </p:txBody>
      </p:sp>
      <p:sp>
        <p:nvSpPr>
          <p:cNvPr id="10" name="Shape 8">
            <a:extLst xmlns:a="http://schemas.openxmlformats.org/drawingml/2006/main">
              <a:ext uri="{FF2B5EF4-FFF2-40B4-BE49-F238E27FC236}">
                <a16:creationId xmlns:a16="http://schemas.microsoft.com/office/drawing/2014/main" id="{373CC553-810D-446C-A8D7-03623D10497F}"/>
              </a:ext>
            </a:extLst>
          </p:cNvPr>
          <p:cNvSpPr>
            <a:spLocks xmlns:a="http://schemas.openxmlformats.org/drawingml/2006/main" noGrp="1"/>
          </p:cNvSpPr>
          <p:nvPr/>
        </p:nvSpPr>
        <p:spPr>
          <a:xfrm xmlns:a="http://schemas.openxmlformats.org/drawingml/2006/main">
            <a:off x="342518" y="3786058"/>
            <a:ext cx="7502769" cy="1231433"/>
          </a:xfrm>
          <a:custGeom xmlns:a="http://schemas.openxmlformats.org/drawingml/2006/main">
            <a:rect l="l" t="t" r="r" b="b"/>
            <a:pathLst>
              <a:path w="7502769" h="1231433">
                <a:moveTo>
                  <a:pt x="32621" y="0"/>
                </a:moveTo>
                <a:lnTo>
                  <a:pt x="7404907" y="0"/>
                </a:lnTo>
                <a:cubicBezTo>
                  <a:pt x="7458955" y="0"/>
                  <a:pt x="7502769" y="43814"/>
                  <a:pt x="7502769" y="97862"/>
                </a:cubicBezTo>
                <a:lnTo>
                  <a:pt x="7502769" y="1133571"/>
                </a:lnTo>
                <a:cubicBezTo>
                  <a:pt x="7502769" y="1187618"/>
                  <a:pt x="7458955" y="1231433"/>
                  <a:pt x="7404907" y="1231433"/>
                </a:cubicBezTo>
                <a:lnTo>
                  <a:pt x="32621" y="1231433"/>
                </a:lnTo>
                <a:cubicBezTo>
                  <a:pt x="14605" y="1231433"/>
                  <a:pt x="0" y="1216828"/>
                  <a:pt x="0" y="1198812"/>
                </a:cubicBezTo>
                <a:lnTo>
                  <a:pt x="0" y="32621"/>
                </a:lnTo>
                <a:cubicBezTo>
                  <a:pt x="0" y="14605"/>
                  <a:pt x="14605" y="0"/>
                  <a:pt x="32621"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124D0A81-36E0-4A68-AFA3-3E4E73FD0A39}"/>
              </a:ext>
            </a:extLst>
          </p:cNvPr>
          <p:cNvSpPr>
            <a:spLocks xmlns:a="http://schemas.openxmlformats.org/drawingml/2006/main" noGrp="1"/>
          </p:cNvSpPr>
          <p:nvPr/>
        </p:nvSpPr>
        <p:spPr>
          <a:xfrm xmlns:a="http://schemas.openxmlformats.org/drawingml/2006/main">
            <a:off x="342518" y="3786058"/>
            <a:ext cx="32621" cy="1231433"/>
          </a:xfrm>
          <a:custGeom xmlns:a="http://schemas.openxmlformats.org/drawingml/2006/main">
            <a:rect l="l" t="t" r="r" b="b"/>
            <a:pathLst>
              <a:path w="32621" h="1231433">
                <a:moveTo>
                  <a:pt x="32621" y="0"/>
                </a:moveTo>
                <a:lnTo>
                  <a:pt x="32621" y="0"/>
                </a:lnTo>
                <a:lnTo>
                  <a:pt x="32621" y="1231433"/>
                </a:lnTo>
                <a:lnTo>
                  <a:pt x="32621" y="1231433"/>
                </a:lnTo>
                <a:cubicBezTo>
                  <a:pt x="14605" y="1231433"/>
                  <a:pt x="0" y="1216828"/>
                  <a:pt x="0" y="1198812"/>
                </a:cubicBezTo>
                <a:lnTo>
                  <a:pt x="0" y="32621"/>
                </a:lnTo>
                <a:cubicBezTo>
                  <a:pt x="0" y="14605"/>
                  <a:pt x="14605" y="0"/>
                  <a:pt x="32621"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CE8418BE-3525-45C1-AC71-D4C18E0466EE}"/>
              </a:ext>
            </a:extLst>
          </p:cNvPr>
          <p:cNvSpPr>
            <a:spLocks xmlns:a="http://schemas.openxmlformats.org/drawingml/2006/main" noGrp="1"/>
          </p:cNvSpPr>
          <p:nvPr/>
        </p:nvSpPr>
        <p:spPr>
          <a:xfrm xmlns:a="http://schemas.openxmlformats.org/drawingml/2006/main">
            <a:off x="513777" y="3903569"/>
            <a:ext cx="220190" cy="195724"/>
          </a:xfrm>
          <a:custGeom xmlns:a="http://schemas.openxmlformats.org/drawingml/2006/main">
            <a:rect l="l" t="t" r="r" b="b"/>
            <a:pathLst>
              <a:path w="220190" h="195724">
                <a:moveTo>
                  <a:pt x="110095" y="12233"/>
                </a:moveTo>
                <a:cubicBezTo>
                  <a:pt x="79207" y="12233"/>
                  <a:pt x="54474" y="26300"/>
                  <a:pt x="36469" y="43044"/>
                </a:cubicBezTo>
                <a:cubicBezTo>
                  <a:pt x="18579" y="59673"/>
                  <a:pt x="6613" y="79513"/>
                  <a:pt x="917" y="93160"/>
                </a:cubicBezTo>
                <a:cubicBezTo>
                  <a:pt x="-344" y="96180"/>
                  <a:pt x="-344" y="99544"/>
                  <a:pt x="917" y="102564"/>
                </a:cubicBezTo>
                <a:cubicBezTo>
                  <a:pt x="6613" y="116211"/>
                  <a:pt x="18579" y="136090"/>
                  <a:pt x="36469" y="152680"/>
                </a:cubicBezTo>
                <a:cubicBezTo>
                  <a:pt x="54474" y="169386"/>
                  <a:pt x="79207" y="183492"/>
                  <a:pt x="110095" y="183492"/>
                </a:cubicBezTo>
                <a:cubicBezTo>
                  <a:pt x="140983" y="183492"/>
                  <a:pt x="165716" y="169424"/>
                  <a:pt x="183721" y="152680"/>
                </a:cubicBezTo>
                <a:cubicBezTo>
                  <a:pt x="201611" y="136051"/>
                  <a:pt x="213577" y="116211"/>
                  <a:pt x="219273" y="102564"/>
                </a:cubicBezTo>
                <a:cubicBezTo>
                  <a:pt x="220534" y="99544"/>
                  <a:pt x="220534" y="96180"/>
                  <a:pt x="219273" y="93160"/>
                </a:cubicBezTo>
                <a:cubicBezTo>
                  <a:pt x="213577" y="79513"/>
                  <a:pt x="201611" y="59635"/>
                  <a:pt x="183721" y="43044"/>
                </a:cubicBezTo>
                <a:cubicBezTo>
                  <a:pt x="165716" y="26339"/>
                  <a:pt x="140983" y="12233"/>
                  <a:pt x="110095" y="12233"/>
                </a:cubicBezTo>
                <a:close/>
                <a:moveTo>
                  <a:pt x="55047" y="97862"/>
                </a:moveTo>
                <a:cubicBezTo>
                  <a:pt x="55047" y="67481"/>
                  <a:pt x="79713" y="42815"/>
                  <a:pt x="110095" y="42815"/>
                </a:cubicBezTo>
                <a:cubicBezTo>
                  <a:pt x="140477" y="42815"/>
                  <a:pt x="165142" y="67481"/>
                  <a:pt x="165142" y="97862"/>
                </a:cubicBezTo>
                <a:cubicBezTo>
                  <a:pt x="165142" y="128244"/>
                  <a:pt x="140477" y="152910"/>
                  <a:pt x="110095" y="152910"/>
                </a:cubicBezTo>
                <a:cubicBezTo>
                  <a:pt x="79713" y="152910"/>
                  <a:pt x="55047" y="128244"/>
                  <a:pt x="55047" y="97862"/>
                </a:cubicBezTo>
                <a:close/>
                <a:moveTo>
                  <a:pt x="110095" y="73397"/>
                </a:moveTo>
                <a:cubicBezTo>
                  <a:pt x="110095" y="86891"/>
                  <a:pt x="99124" y="97862"/>
                  <a:pt x="85629" y="97862"/>
                </a:cubicBezTo>
                <a:cubicBezTo>
                  <a:pt x="81233" y="97862"/>
                  <a:pt x="77105" y="96715"/>
                  <a:pt x="73511" y="94651"/>
                </a:cubicBezTo>
                <a:cubicBezTo>
                  <a:pt x="73129" y="98818"/>
                  <a:pt x="73473" y="103099"/>
                  <a:pt x="74620" y="107343"/>
                </a:cubicBezTo>
                <a:cubicBezTo>
                  <a:pt x="79857" y="126915"/>
                  <a:pt x="100003" y="138536"/>
                  <a:pt x="119575" y="133299"/>
                </a:cubicBezTo>
                <a:cubicBezTo>
                  <a:pt x="139148" y="128062"/>
                  <a:pt x="150769" y="107916"/>
                  <a:pt x="145532" y="88344"/>
                </a:cubicBezTo>
                <a:cubicBezTo>
                  <a:pt x="140868" y="70874"/>
                  <a:pt x="124316" y="59749"/>
                  <a:pt x="106884" y="61279"/>
                </a:cubicBezTo>
                <a:cubicBezTo>
                  <a:pt x="108910" y="64834"/>
                  <a:pt x="110095" y="68962"/>
                  <a:pt x="110095" y="73397"/>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3C87139B-FE53-472F-AE4A-5C2E1DC52F64}"/>
              </a:ext>
            </a:extLst>
          </p:cNvPr>
          <p:cNvSpPr>
            <a:spLocks xmlns:a="http://schemas.openxmlformats.org/drawingml/2006/main" noGrp="1"/>
          </p:cNvSpPr>
          <p:nvPr/>
        </p:nvSpPr>
        <p:spPr>
          <a:xfrm xmlns:a="http://schemas.openxmlformats.org/drawingml/2006/main">
            <a:off x="825712" y="3870949"/>
            <a:ext cx="6923751" cy="26096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VFH </a:t>
            </a:r>
            <a:r>
              <a:rPr b="1">
                <a:latin typeface="微软雅黑"/>
                <a:ea typeface="微软雅黑"/>
                <a:cs typeface="微软雅黑"/>
              </a:rPr>
              <a:t>环境适应性</a:t>
            </a:r>
            <a:endParaRPr sz="2000"/>
          </a:p>
        </p:txBody>
      </p:sp>
      <p:sp>
        <p:nvSpPr>
          <p:cNvPr id="14" name="Text 12">
            <a:extLst xmlns:a="http://schemas.openxmlformats.org/drawingml/2006/main">
              <a:ext uri="{FF2B5EF4-FFF2-40B4-BE49-F238E27FC236}">
                <a16:creationId xmlns:a16="http://schemas.microsoft.com/office/drawing/2014/main" id="{E73FE684-B815-434A-9597-FEFBD7B04A99}"/>
              </a:ext>
            </a:extLst>
          </p:cNvPr>
          <p:cNvSpPr>
            <a:spLocks xmlns:a="http://schemas.openxmlformats.org/drawingml/2006/main" noGrp="1"/>
          </p:cNvSpPr>
          <p:nvPr/>
        </p:nvSpPr>
        <p:spPr>
          <a:xfrm xmlns:a="http://schemas.openxmlformats.org/drawingml/2006/main">
            <a:off x="825712" y="4257021"/>
            <a:ext cx="6899286" cy="648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机器人在导航前</a:t>
            </a:r>
            <a:r>
              <a:rPr sz="1600" b="1">
                <a:latin typeface="微软雅黑"/>
                <a:ea typeface="微软雅黑"/>
                <a:cs typeface="微软雅黑"/>
              </a:rPr>
              <a:t>不需要了解环境</a:t>
            </a:r>
            <a:r>
              <a:rPr sz="1600">
                <a:latin typeface="微软雅黑"/>
                <a:ea typeface="微软雅黑"/>
                <a:cs typeface="微软雅黑"/>
              </a:rPr>
              <a:t>。这对于在高度动态的环境中导航是非常有优势的</a:t>
            </a:r>
            <a:r>
              <a:rPr sz="1600">
                <a:latin typeface="微软雅黑"/>
                <a:ea typeface="微软雅黑"/>
                <a:cs typeface="微软雅黑"/>
              </a:rPr>
              <a:t>。</a:t>
            </a:r>
            <a:r>
              <a:rPr sz="1600">
                <a:latin typeface="微软雅黑"/>
                <a:ea typeface="微软雅黑"/>
                <a:cs typeface="微软雅黑"/>
              </a:rPr>
              <a:t>VFH使机器人能够探测障碍物并及时改变行驶路线以避开障碍物</a:t>
            </a:r>
            <a:r>
              <a:rPr sz="1600">
                <a:latin typeface="微软雅黑"/>
                <a:ea typeface="微软雅黑"/>
                <a:cs typeface="微软雅黑"/>
              </a:rPr>
              <a:t>。</a:t>
            </a:r>
            <a:endParaRPr sz="2400"/>
          </a:p>
        </p:txBody>
      </p:sp>
      <p:sp>
        <p:nvSpPr>
          <p:cNvPr id="19" name="Shape 17">
            <a:extLst xmlns:a="http://schemas.openxmlformats.org/drawingml/2006/main">
              <a:ext uri="{FF2B5EF4-FFF2-40B4-BE49-F238E27FC236}">
                <a16:creationId xmlns:a16="http://schemas.microsoft.com/office/drawing/2014/main" id="{73DD99A3-4A06-4AE0-A4FB-95779D2A3B4B}"/>
              </a:ext>
            </a:extLst>
          </p:cNvPr>
          <p:cNvSpPr>
            <a:spLocks xmlns:a="http://schemas.openxmlformats.org/drawingml/2006/main" noGrp="1"/>
          </p:cNvSpPr>
          <p:nvPr/>
        </p:nvSpPr>
        <p:spPr>
          <a:xfrm xmlns:a="http://schemas.openxmlformats.org/drawingml/2006/main">
            <a:off x="8110968" y="1703067"/>
            <a:ext cx="3751385" cy="4558748"/>
          </a:xfrm>
          <a:custGeom xmlns:a="http://schemas.openxmlformats.org/drawingml/2006/main">
            <a:rect l="l" t="t" r="r" b="b"/>
            <a:pathLst>
              <a:path w="3751385" h="4558748">
                <a:moveTo>
                  <a:pt x="97874" y="0"/>
                </a:moveTo>
                <a:lnTo>
                  <a:pt x="3653511" y="0"/>
                </a:lnTo>
                <a:cubicBezTo>
                  <a:pt x="3707565" y="0"/>
                  <a:pt x="3751385" y="43820"/>
                  <a:pt x="3751385" y="97874"/>
                </a:cubicBezTo>
                <a:lnTo>
                  <a:pt x="3751385" y="4460874"/>
                </a:lnTo>
                <a:cubicBezTo>
                  <a:pt x="3751385" y="4514928"/>
                  <a:pt x="3707565" y="4558748"/>
                  <a:pt x="3653511" y="4558748"/>
                </a:cubicBezTo>
                <a:lnTo>
                  <a:pt x="97874" y="4558748"/>
                </a:lnTo>
                <a:cubicBezTo>
                  <a:pt x="43820" y="4558748"/>
                  <a:pt x="0" y="4514928"/>
                  <a:pt x="0" y="4460874"/>
                </a:cubicBezTo>
                <a:lnTo>
                  <a:pt x="0" y="97874"/>
                </a:lnTo>
                <a:cubicBezTo>
                  <a:pt x="0" y="43856"/>
                  <a:pt x="43856" y="0"/>
                  <a:pt x="9787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0" name="Shape 18">
            <a:extLst xmlns:a="http://schemas.openxmlformats.org/drawingml/2006/main">
              <a:ext uri="{FF2B5EF4-FFF2-40B4-BE49-F238E27FC236}">
                <a16:creationId xmlns:a16="http://schemas.microsoft.com/office/drawing/2014/main" id="{C82CA611-B8CF-4834-8F24-9A556561471F}"/>
              </a:ext>
            </a:extLst>
          </p:cNvPr>
          <p:cNvSpPr>
            <a:spLocks xmlns:a="http://schemas.openxmlformats.org/drawingml/2006/main" noGrp="1"/>
          </p:cNvSpPr>
          <p:nvPr/>
        </p:nvSpPr>
        <p:spPr>
          <a:xfrm xmlns:a="http://schemas.openxmlformats.org/drawingml/2006/main">
            <a:off x="8331158" y="1935490"/>
            <a:ext cx="163104" cy="163104"/>
          </a:xfrm>
          <a:custGeom xmlns:a="http://schemas.openxmlformats.org/drawingml/2006/main">
            <a:rect l="l" t="t" r="r" b="b"/>
            <a:pathLst>
              <a:path w="163104" h="163104">
                <a:moveTo>
                  <a:pt x="15291" y="45873"/>
                </a:moveTo>
                <a:cubicBezTo>
                  <a:pt x="23730" y="45873"/>
                  <a:pt x="30582" y="39021"/>
                  <a:pt x="30582" y="30582"/>
                </a:cubicBezTo>
                <a:cubicBezTo>
                  <a:pt x="30582" y="22143"/>
                  <a:pt x="23730" y="15291"/>
                  <a:pt x="15291" y="15291"/>
                </a:cubicBezTo>
                <a:cubicBezTo>
                  <a:pt x="6852" y="15291"/>
                  <a:pt x="0" y="22143"/>
                  <a:pt x="0" y="30582"/>
                </a:cubicBezTo>
                <a:cubicBezTo>
                  <a:pt x="0" y="39021"/>
                  <a:pt x="6852" y="45873"/>
                  <a:pt x="15291" y="45873"/>
                </a:cubicBezTo>
                <a:close/>
                <a:moveTo>
                  <a:pt x="61164" y="20388"/>
                </a:moveTo>
                <a:cubicBezTo>
                  <a:pt x="55525" y="20388"/>
                  <a:pt x="50970" y="24943"/>
                  <a:pt x="50970" y="30582"/>
                </a:cubicBezTo>
                <a:cubicBezTo>
                  <a:pt x="50970" y="36220"/>
                  <a:pt x="55525" y="40776"/>
                  <a:pt x="61164" y="40776"/>
                </a:cubicBezTo>
                <a:lnTo>
                  <a:pt x="152910" y="40776"/>
                </a:lnTo>
                <a:cubicBezTo>
                  <a:pt x="158548" y="40776"/>
                  <a:pt x="163104" y="36220"/>
                  <a:pt x="163104" y="30582"/>
                </a:cubicBezTo>
                <a:cubicBezTo>
                  <a:pt x="163104" y="24943"/>
                  <a:pt x="158548" y="20388"/>
                  <a:pt x="152910" y="20388"/>
                </a:cubicBezTo>
                <a:lnTo>
                  <a:pt x="61164" y="20388"/>
                </a:lnTo>
                <a:close/>
                <a:moveTo>
                  <a:pt x="61164" y="71358"/>
                </a:moveTo>
                <a:cubicBezTo>
                  <a:pt x="55525" y="71358"/>
                  <a:pt x="50970" y="75913"/>
                  <a:pt x="50970" y="81552"/>
                </a:cubicBezTo>
                <a:cubicBezTo>
                  <a:pt x="50970" y="87190"/>
                  <a:pt x="55525" y="91746"/>
                  <a:pt x="61164" y="91746"/>
                </a:cubicBezTo>
                <a:lnTo>
                  <a:pt x="152910" y="91746"/>
                </a:lnTo>
                <a:cubicBezTo>
                  <a:pt x="158548" y="91746"/>
                  <a:pt x="163104" y="87190"/>
                  <a:pt x="163104" y="81552"/>
                </a:cubicBezTo>
                <a:cubicBezTo>
                  <a:pt x="163104" y="75913"/>
                  <a:pt x="158548" y="71358"/>
                  <a:pt x="152910" y="71358"/>
                </a:cubicBezTo>
                <a:lnTo>
                  <a:pt x="61164" y="71358"/>
                </a:lnTo>
                <a:close/>
                <a:moveTo>
                  <a:pt x="61164" y="122328"/>
                </a:moveTo>
                <a:cubicBezTo>
                  <a:pt x="55525" y="122328"/>
                  <a:pt x="50970" y="126883"/>
                  <a:pt x="50970" y="132522"/>
                </a:cubicBezTo>
                <a:cubicBezTo>
                  <a:pt x="50970" y="138160"/>
                  <a:pt x="55525" y="142716"/>
                  <a:pt x="61164" y="142716"/>
                </a:cubicBezTo>
                <a:lnTo>
                  <a:pt x="152910" y="142716"/>
                </a:lnTo>
                <a:cubicBezTo>
                  <a:pt x="158548" y="142716"/>
                  <a:pt x="163104" y="138160"/>
                  <a:pt x="163104" y="132522"/>
                </a:cubicBezTo>
                <a:cubicBezTo>
                  <a:pt x="163104" y="126883"/>
                  <a:pt x="158548" y="122328"/>
                  <a:pt x="152910" y="122328"/>
                </a:cubicBezTo>
                <a:lnTo>
                  <a:pt x="61164" y="122328"/>
                </a:lnTo>
                <a:close/>
                <a:moveTo>
                  <a:pt x="15291" y="147813"/>
                </a:moveTo>
                <a:cubicBezTo>
                  <a:pt x="23730" y="147813"/>
                  <a:pt x="30582" y="140961"/>
                  <a:pt x="30582" y="132522"/>
                </a:cubicBezTo>
                <a:cubicBezTo>
                  <a:pt x="30582" y="124082"/>
                  <a:pt x="23730" y="117231"/>
                  <a:pt x="15291" y="117231"/>
                </a:cubicBezTo>
                <a:cubicBezTo>
                  <a:pt x="6852" y="117231"/>
                  <a:pt x="0" y="124082"/>
                  <a:pt x="0" y="132522"/>
                </a:cubicBezTo>
                <a:cubicBezTo>
                  <a:pt x="0" y="140961"/>
                  <a:pt x="6852" y="147813"/>
                  <a:pt x="15291" y="147813"/>
                </a:cubicBezTo>
                <a:close/>
                <a:moveTo>
                  <a:pt x="30582" y="81552"/>
                </a:moveTo>
                <a:cubicBezTo>
                  <a:pt x="30582" y="73113"/>
                  <a:pt x="23730" y="66261"/>
                  <a:pt x="15291" y="66261"/>
                </a:cubicBezTo>
                <a:cubicBezTo>
                  <a:pt x="6852" y="66261"/>
                  <a:pt x="0" y="73113"/>
                  <a:pt x="0" y="81552"/>
                </a:cubicBezTo>
                <a:cubicBezTo>
                  <a:pt x="0" y="89991"/>
                  <a:pt x="6852" y="96843"/>
                  <a:pt x="15291" y="96843"/>
                </a:cubicBezTo>
                <a:cubicBezTo>
                  <a:pt x="23730" y="96843"/>
                  <a:pt x="30582" y="89991"/>
                  <a:pt x="30582" y="81552"/>
                </a:cubicBezTo>
                <a:close/>
              </a:path>
            </a:pathLst>
          </a:custGeom>
          <a:solidFill xmlns:a="http://schemas.openxmlformats.org/drawingml/2006/main">
            <a:srgbClr val="E6B450"/>
          </a:solidFill>
        </p:spPr>
      </p:sp>
      <p:sp>
        <p:nvSpPr>
          <p:cNvPr id="21" name="Text 19">
            <a:extLst xmlns:a="http://schemas.openxmlformats.org/drawingml/2006/main">
              <a:ext uri="{FF2B5EF4-FFF2-40B4-BE49-F238E27FC236}">
                <a16:creationId xmlns:a16="http://schemas.microsoft.com/office/drawing/2014/main" id="{1A762E33-2676-4D1B-A8B4-906011546B51}"/>
              </a:ext>
            </a:extLst>
          </p:cNvPr>
          <p:cNvSpPr>
            <a:spLocks xmlns:a="http://schemas.openxmlformats.org/drawingml/2006/main" noGrp="1"/>
          </p:cNvSpPr>
          <p:nvPr/>
        </p:nvSpPr>
        <p:spPr>
          <a:xfrm xmlns:a="http://schemas.openxmlformats.org/drawingml/2006/main">
            <a:off x="8514649" y="1902869"/>
            <a:ext cx="3229453" cy="22834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VFH方法特点</a:t>
            </a:r>
            <a:endParaRPr sz="1600"/>
          </a:p>
        </p:txBody>
      </p:sp>
      <p:sp>
        <p:nvSpPr>
          <p:cNvPr id="22" name="Shape 20">
            <a:extLst xmlns:a="http://schemas.openxmlformats.org/drawingml/2006/main">
              <a:ext uri="{FF2B5EF4-FFF2-40B4-BE49-F238E27FC236}">
                <a16:creationId xmlns:a16="http://schemas.microsoft.com/office/drawing/2014/main" id="{39047956-DDD9-4674-8C05-79255937051E}"/>
              </a:ext>
            </a:extLst>
          </p:cNvPr>
          <p:cNvSpPr>
            <a:spLocks xmlns:a="http://schemas.openxmlformats.org/drawingml/2006/main" noGrp="1"/>
          </p:cNvSpPr>
          <p:nvPr/>
        </p:nvSpPr>
        <p:spPr>
          <a:xfrm xmlns:a="http://schemas.openxmlformats.org/drawingml/2006/main">
            <a:off x="8310770" y="2294318"/>
            <a:ext cx="3351781" cy="842703"/>
          </a:xfrm>
          <a:custGeom xmlns:a="http://schemas.openxmlformats.org/drawingml/2006/main">
            <a:rect l="l" t="t" r="r" b="b"/>
            <a:pathLst>
              <a:path w="3351781" h="750277">
                <a:moveTo>
                  <a:pt x="65244" y="0"/>
                </a:moveTo>
                <a:lnTo>
                  <a:pt x="3286537" y="0"/>
                </a:lnTo>
                <a:cubicBezTo>
                  <a:pt x="3322570" y="0"/>
                  <a:pt x="3351781" y="29211"/>
                  <a:pt x="3351781" y="65244"/>
                </a:cubicBezTo>
                <a:lnTo>
                  <a:pt x="3351781" y="685033"/>
                </a:lnTo>
                <a:cubicBezTo>
                  <a:pt x="3351781" y="721066"/>
                  <a:pt x="3322570" y="750277"/>
                  <a:pt x="3286537" y="750277"/>
                </a:cubicBezTo>
                <a:lnTo>
                  <a:pt x="65244" y="750277"/>
                </a:lnTo>
                <a:cubicBezTo>
                  <a:pt x="29211" y="750277"/>
                  <a:pt x="0" y="721066"/>
                  <a:pt x="0" y="685033"/>
                </a:cubicBezTo>
                <a:lnTo>
                  <a:pt x="0" y="65244"/>
                </a:lnTo>
                <a:cubicBezTo>
                  <a:pt x="0" y="29211"/>
                  <a:pt x="29211" y="0"/>
                  <a:pt x="65244" y="0"/>
                </a:cubicBezTo>
                <a:close/>
              </a:path>
            </a:pathLst>
          </a:custGeom>
          <a:solidFill xmlns:a="http://schemas.openxmlformats.org/drawingml/2006/main">
            <a:srgbClr val="5F87A7">
              <a:alpha val="20000"/>
            </a:srgbClr>
          </a:solidFill>
        </p:spPr>
      </p:sp>
      <p:sp>
        <p:nvSpPr>
          <p:cNvPr id="23" name="Shape 21">
            <a:extLst xmlns:a="http://schemas.openxmlformats.org/drawingml/2006/main">
              <a:ext uri="{FF2B5EF4-FFF2-40B4-BE49-F238E27FC236}">
                <a16:creationId xmlns:a16="http://schemas.microsoft.com/office/drawing/2014/main" id="{CDC67B5A-8940-4BF5-8459-CFE5484E3F08}"/>
              </a:ext>
            </a:extLst>
          </p:cNvPr>
          <p:cNvSpPr>
            <a:spLocks xmlns:a="http://schemas.openxmlformats.org/drawingml/2006/main" noGrp="1"/>
          </p:cNvSpPr>
          <p:nvPr/>
        </p:nvSpPr>
        <p:spPr>
          <a:xfrm xmlns:a="http://schemas.openxmlformats.org/drawingml/2006/main">
            <a:off x="8461640" y="2465577"/>
            <a:ext cx="146793" cy="146793"/>
          </a:xfrm>
          <a:custGeom xmlns:a="http://schemas.openxmlformats.org/drawingml/2006/main">
            <a:rect l="l" t="t" r="r" b="b"/>
            <a:pathLst>
              <a:path w="146793" h="146793">
                <a:moveTo>
                  <a:pt x="73397" y="0"/>
                </a:moveTo>
                <a:cubicBezTo>
                  <a:pt x="113905" y="0"/>
                  <a:pt x="146793" y="32888"/>
                  <a:pt x="146793" y="73397"/>
                </a:cubicBezTo>
                <a:cubicBezTo>
                  <a:pt x="146793" y="113905"/>
                  <a:pt x="113905" y="146793"/>
                  <a:pt x="73397" y="146793"/>
                </a:cubicBezTo>
                <a:cubicBezTo>
                  <a:pt x="32888" y="146793"/>
                  <a:pt x="0" y="113905"/>
                  <a:pt x="0" y="73397"/>
                </a:cubicBezTo>
                <a:cubicBezTo>
                  <a:pt x="0" y="32888"/>
                  <a:pt x="32888" y="0"/>
                  <a:pt x="73397" y="0"/>
                </a:cubicBezTo>
                <a:close/>
                <a:moveTo>
                  <a:pt x="66516" y="34405"/>
                </a:moveTo>
                <a:lnTo>
                  <a:pt x="66516" y="73397"/>
                </a:lnTo>
                <a:cubicBezTo>
                  <a:pt x="66516" y="75690"/>
                  <a:pt x="67663" y="77841"/>
                  <a:pt x="69583" y="79131"/>
                </a:cubicBezTo>
                <a:lnTo>
                  <a:pt x="97107" y="97480"/>
                </a:lnTo>
                <a:cubicBezTo>
                  <a:pt x="100261" y="99602"/>
                  <a:pt x="104533" y="98741"/>
                  <a:pt x="106655" y="95559"/>
                </a:cubicBezTo>
                <a:cubicBezTo>
                  <a:pt x="108776" y="92377"/>
                  <a:pt x="107916" y="88133"/>
                  <a:pt x="104734" y="86012"/>
                </a:cubicBezTo>
                <a:lnTo>
                  <a:pt x="80278" y="69727"/>
                </a:lnTo>
                <a:lnTo>
                  <a:pt x="80278" y="34405"/>
                </a:lnTo>
                <a:cubicBezTo>
                  <a:pt x="80278" y="30591"/>
                  <a:pt x="77210" y="27524"/>
                  <a:pt x="73397" y="27524"/>
                </a:cubicBezTo>
                <a:cubicBezTo>
                  <a:pt x="69583" y="27524"/>
                  <a:pt x="66516" y="30591"/>
                  <a:pt x="66516" y="34405"/>
                </a:cubicBezTo>
                <a:close/>
              </a:path>
            </a:pathLst>
          </a:custGeom>
          <a:solidFill xmlns:a="http://schemas.openxmlformats.org/drawingml/2006/main">
            <a:srgbClr val="E6B450"/>
          </a:solidFill>
        </p:spPr>
      </p:sp>
      <p:sp>
        <p:nvSpPr>
          <p:cNvPr id="24" name="Text 22">
            <a:extLst xmlns:a="http://schemas.openxmlformats.org/drawingml/2006/main">
              <a:ext uri="{FF2B5EF4-FFF2-40B4-BE49-F238E27FC236}">
                <a16:creationId xmlns:a16="http://schemas.microsoft.com/office/drawing/2014/main" id="{8B8C4B3B-1A9B-48AD-9E0F-B4EED715511D}"/>
              </a:ext>
            </a:extLst>
          </p:cNvPr>
          <p:cNvSpPr>
            <a:spLocks xmlns:a="http://schemas.openxmlformats.org/drawingml/2006/main" noGrp="1"/>
          </p:cNvSpPr>
          <p:nvPr/>
        </p:nvSpPr>
        <p:spPr>
          <a:xfrm xmlns:a="http://schemas.openxmlformats.org/drawingml/2006/main">
            <a:off x="8722606" y="2424801"/>
            <a:ext cx="878594" cy="22834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实时性</a:t>
            </a:r>
            <a:endParaRPr sz="1600"/>
          </a:p>
        </p:txBody>
      </p:sp>
      <p:sp>
        <p:nvSpPr>
          <p:cNvPr id="25" name="Text 23">
            <a:extLst xmlns:a="http://schemas.openxmlformats.org/drawingml/2006/main">
              <a:ext uri="{FF2B5EF4-FFF2-40B4-BE49-F238E27FC236}">
                <a16:creationId xmlns:a16="http://schemas.microsoft.com/office/drawing/2014/main" id="{E02E8888-CA16-443E-AA0C-B963B097E186}"/>
              </a:ext>
            </a:extLst>
          </p:cNvPr>
          <p:cNvSpPr>
            <a:spLocks xmlns:a="http://schemas.openxmlformats.org/drawingml/2006/main" noGrp="1"/>
          </p:cNvSpPr>
          <p:nvPr/>
        </p:nvSpPr>
        <p:spPr>
          <a:xfrm xmlns:a="http://schemas.openxmlformats.org/drawingml/2006/main">
            <a:off x="8441253" y="2718387"/>
            <a:ext cx="3156056" cy="1957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实时避障响应，适用于动态环境</a:t>
            </a:r>
            <a:endParaRPr sz="1600"/>
          </a:p>
        </p:txBody>
      </p:sp>
      <p:sp>
        <p:nvSpPr>
          <p:cNvPr id="26" name="Shape 24">
            <a:extLst xmlns:a="http://schemas.openxmlformats.org/drawingml/2006/main">
              <a:ext uri="{FF2B5EF4-FFF2-40B4-BE49-F238E27FC236}">
                <a16:creationId xmlns:a16="http://schemas.microsoft.com/office/drawing/2014/main" id="{553BFA9E-9857-4602-AEE8-3B07507B29AE}"/>
              </a:ext>
            </a:extLst>
          </p:cNvPr>
          <p:cNvSpPr>
            <a:spLocks xmlns:a="http://schemas.openxmlformats.org/drawingml/2006/main" noGrp="1"/>
          </p:cNvSpPr>
          <p:nvPr/>
        </p:nvSpPr>
        <p:spPr>
          <a:xfrm xmlns:a="http://schemas.openxmlformats.org/drawingml/2006/main">
            <a:off x="8310770" y="3270328"/>
            <a:ext cx="3351781" cy="842703"/>
          </a:xfrm>
          <a:custGeom xmlns:a="http://schemas.openxmlformats.org/drawingml/2006/main">
            <a:rect l="l" t="t" r="r" b="b"/>
            <a:pathLst>
              <a:path w="3351781" h="750277">
                <a:moveTo>
                  <a:pt x="65244" y="0"/>
                </a:moveTo>
                <a:lnTo>
                  <a:pt x="3286537" y="0"/>
                </a:lnTo>
                <a:cubicBezTo>
                  <a:pt x="3322570" y="0"/>
                  <a:pt x="3351781" y="29211"/>
                  <a:pt x="3351781" y="65244"/>
                </a:cubicBezTo>
                <a:lnTo>
                  <a:pt x="3351781" y="685033"/>
                </a:lnTo>
                <a:cubicBezTo>
                  <a:pt x="3351781" y="721066"/>
                  <a:pt x="3322570" y="750277"/>
                  <a:pt x="3286537" y="750277"/>
                </a:cubicBezTo>
                <a:lnTo>
                  <a:pt x="65244" y="750277"/>
                </a:lnTo>
                <a:cubicBezTo>
                  <a:pt x="29211" y="750277"/>
                  <a:pt x="0" y="721066"/>
                  <a:pt x="0" y="685033"/>
                </a:cubicBezTo>
                <a:lnTo>
                  <a:pt x="0" y="65244"/>
                </a:lnTo>
                <a:cubicBezTo>
                  <a:pt x="0" y="29211"/>
                  <a:pt x="29211" y="0"/>
                  <a:pt x="65244" y="0"/>
                </a:cubicBezTo>
                <a:close/>
              </a:path>
            </a:pathLst>
          </a:custGeom>
          <a:solidFill xmlns:a="http://schemas.openxmlformats.org/drawingml/2006/main">
            <a:srgbClr val="5F87A7">
              <a:alpha val="20000"/>
            </a:srgbClr>
          </a:solidFill>
        </p:spPr>
      </p:sp>
      <p:sp>
        <p:nvSpPr>
          <p:cNvPr id="27" name="Shape 25">
            <a:extLst xmlns:a="http://schemas.openxmlformats.org/drawingml/2006/main">
              <a:ext uri="{FF2B5EF4-FFF2-40B4-BE49-F238E27FC236}">
                <a16:creationId xmlns:a16="http://schemas.microsoft.com/office/drawing/2014/main" id="{F74D0AB1-ED27-4BC8-AC16-83D8D1889CBF}"/>
              </a:ext>
            </a:extLst>
          </p:cNvPr>
          <p:cNvSpPr>
            <a:spLocks xmlns:a="http://schemas.openxmlformats.org/drawingml/2006/main" noGrp="1"/>
          </p:cNvSpPr>
          <p:nvPr/>
        </p:nvSpPr>
        <p:spPr>
          <a:xfrm xmlns:a="http://schemas.openxmlformats.org/drawingml/2006/main">
            <a:off x="8443291" y="3441587"/>
            <a:ext cx="183492" cy="146793"/>
          </a:xfrm>
          <a:custGeom xmlns:a="http://schemas.openxmlformats.org/drawingml/2006/main">
            <a:rect l="l" t="t" r="r" b="b"/>
            <a:pathLst>
              <a:path w="183492" h="146793">
                <a:moveTo>
                  <a:pt x="165142" y="13762"/>
                </a:moveTo>
                <a:cubicBezTo>
                  <a:pt x="165142" y="10579"/>
                  <a:pt x="163508" y="7626"/>
                  <a:pt x="160785" y="5963"/>
                </a:cubicBezTo>
                <a:cubicBezTo>
                  <a:pt x="158061" y="4301"/>
                  <a:pt x="154706" y="4129"/>
                  <a:pt x="151868" y="5562"/>
                </a:cubicBezTo>
                <a:lnTo>
                  <a:pt x="118553" y="22220"/>
                </a:lnTo>
                <a:lnTo>
                  <a:pt x="67118" y="5046"/>
                </a:lnTo>
                <a:cubicBezTo>
                  <a:pt x="64795" y="4272"/>
                  <a:pt x="62301" y="4444"/>
                  <a:pt x="60122" y="5533"/>
                </a:cubicBezTo>
                <a:lnTo>
                  <a:pt x="23424" y="23883"/>
                </a:lnTo>
                <a:cubicBezTo>
                  <a:pt x="20299" y="25459"/>
                  <a:pt x="18349" y="28642"/>
                  <a:pt x="18349" y="32111"/>
                </a:cubicBezTo>
                <a:lnTo>
                  <a:pt x="18349" y="133031"/>
                </a:lnTo>
                <a:cubicBezTo>
                  <a:pt x="18349" y="136214"/>
                  <a:pt x="19983" y="139167"/>
                  <a:pt x="22707" y="140830"/>
                </a:cubicBezTo>
                <a:cubicBezTo>
                  <a:pt x="25431" y="142493"/>
                  <a:pt x="28785" y="142665"/>
                  <a:pt x="31624" y="141231"/>
                </a:cubicBezTo>
                <a:lnTo>
                  <a:pt x="64910" y="124574"/>
                </a:lnTo>
                <a:lnTo>
                  <a:pt x="114596" y="141145"/>
                </a:lnTo>
                <a:cubicBezTo>
                  <a:pt x="113363" y="139310"/>
                  <a:pt x="112159" y="137389"/>
                  <a:pt x="110984" y="135440"/>
                </a:cubicBezTo>
                <a:cubicBezTo>
                  <a:pt x="107830" y="130193"/>
                  <a:pt x="104705" y="124172"/>
                  <a:pt x="102383" y="117721"/>
                </a:cubicBezTo>
                <a:lnTo>
                  <a:pt x="73368" y="108059"/>
                </a:lnTo>
                <a:lnTo>
                  <a:pt x="73368" y="26492"/>
                </a:lnTo>
                <a:lnTo>
                  <a:pt x="110066" y="38734"/>
                </a:lnTo>
                <a:lnTo>
                  <a:pt x="110066" y="67204"/>
                </a:lnTo>
                <a:cubicBezTo>
                  <a:pt x="118954" y="56940"/>
                  <a:pt x="132143" y="50460"/>
                  <a:pt x="146765" y="50460"/>
                </a:cubicBezTo>
                <a:cubicBezTo>
                  <a:pt x="153244" y="50460"/>
                  <a:pt x="159437" y="51722"/>
                  <a:pt x="165114" y="54044"/>
                </a:cubicBezTo>
                <a:lnTo>
                  <a:pt x="165142" y="13762"/>
                </a:lnTo>
                <a:close/>
                <a:moveTo>
                  <a:pt x="112389" y="98025"/>
                </a:moveTo>
                <a:cubicBezTo>
                  <a:pt x="112389" y="117779"/>
                  <a:pt x="130766" y="141145"/>
                  <a:pt x="140658" y="152298"/>
                </a:cubicBezTo>
                <a:cubicBezTo>
                  <a:pt x="143984" y="156025"/>
                  <a:pt x="149632" y="156025"/>
                  <a:pt x="152957" y="152298"/>
                </a:cubicBezTo>
                <a:cubicBezTo>
                  <a:pt x="162849" y="141145"/>
                  <a:pt x="181227" y="117779"/>
                  <a:pt x="181227" y="98025"/>
                </a:cubicBezTo>
                <a:cubicBezTo>
                  <a:pt x="181227" y="79360"/>
                  <a:pt x="165831" y="64222"/>
                  <a:pt x="146822" y="64222"/>
                </a:cubicBezTo>
                <a:cubicBezTo>
                  <a:pt x="127813" y="64222"/>
                  <a:pt x="112389" y="79360"/>
                  <a:pt x="112389" y="98025"/>
                </a:cubicBezTo>
                <a:close/>
              </a:path>
            </a:pathLst>
          </a:custGeom>
          <a:solidFill xmlns:a="http://schemas.openxmlformats.org/drawingml/2006/main">
            <a:srgbClr val="E6B450"/>
          </a:solidFill>
        </p:spPr>
      </p:sp>
      <p:sp>
        <p:nvSpPr>
          <p:cNvPr id="28" name="Text 26">
            <a:extLst xmlns:a="http://schemas.openxmlformats.org/drawingml/2006/main">
              <a:ext uri="{FF2B5EF4-FFF2-40B4-BE49-F238E27FC236}">
                <a16:creationId xmlns:a16="http://schemas.microsoft.com/office/drawing/2014/main" id="{27F2C41B-4AFB-436D-AC6F-5BFD9BEB109F}"/>
              </a:ext>
            </a:extLst>
          </p:cNvPr>
          <p:cNvSpPr>
            <a:spLocks xmlns:a="http://schemas.openxmlformats.org/drawingml/2006/main" noGrp="1"/>
          </p:cNvSpPr>
          <p:nvPr/>
        </p:nvSpPr>
        <p:spPr>
          <a:xfrm xmlns:a="http://schemas.openxmlformats.org/drawingml/2006/main">
            <a:off x="8722606" y="3400811"/>
            <a:ext cx="1513594" cy="22834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无需先验地图</a:t>
            </a:r>
            <a:endParaRPr sz="1600"/>
          </a:p>
        </p:txBody>
      </p:sp>
      <p:sp>
        <p:nvSpPr>
          <p:cNvPr id="29" name="Text 27">
            <a:extLst xmlns:a="http://schemas.openxmlformats.org/drawingml/2006/main">
              <a:ext uri="{FF2B5EF4-FFF2-40B4-BE49-F238E27FC236}">
                <a16:creationId xmlns:a16="http://schemas.microsoft.com/office/drawing/2014/main" id="{83C19600-8278-4A42-9666-B9098A7C11D5}"/>
              </a:ext>
            </a:extLst>
          </p:cNvPr>
          <p:cNvSpPr>
            <a:spLocks xmlns:a="http://schemas.openxmlformats.org/drawingml/2006/main" noGrp="1"/>
          </p:cNvSpPr>
          <p:nvPr/>
        </p:nvSpPr>
        <p:spPr>
          <a:xfrm xmlns:a="http://schemas.openxmlformats.org/drawingml/2006/main">
            <a:off x="8441253" y="3694397"/>
            <a:ext cx="3156056" cy="1957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导航前不需要了解环境信息</a:t>
            </a:r>
            <a:endParaRPr sz="1600"/>
          </a:p>
        </p:txBody>
      </p:sp>
      <p:sp>
        <p:nvSpPr>
          <p:cNvPr id="30" name="Shape 28">
            <a:extLst xmlns:a="http://schemas.openxmlformats.org/drawingml/2006/main">
              <a:ext uri="{FF2B5EF4-FFF2-40B4-BE49-F238E27FC236}">
                <a16:creationId xmlns:a16="http://schemas.microsoft.com/office/drawing/2014/main" id="{E0CDEE94-A20E-442E-A1F2-07861E65BCCB}"/>
              </a:ext>
            </a:extLst>
          </p:cNvPr>
          <p:cNvSpPr>
            <a:spLocks xmlns:a="http://schemas.openxmlformats.org/drawingml/2006/main" noGrp="1"/>
          </p:cNvSpPr>
          <p:nvPr/>
        </p:nvSpPr>
        <p:spPr>
          <a:xfrm xmlns:a="http://schemas.openxmlformats.org/drawingml/2006/main">
            <a:off x="8310770" y="4290788"/>
            <a:ext cx="3351781" cy="750277"/>
          </a:xfrm>
          <a:custGeom xmlns:a="http://schemas.openxmlformats.org/drawingml/2006/main">
            <a:rect l="l" t="t" r="r" b="b"/>
            <a:pathLst>
              <a:path w="3351781" h="750277">
                <a:moveTo>
                  <a:pt x="65244" y="0"/>
                </a:moveTo>
                <a:lnTo>
                  <a:pt x="3286537" y="0"/>
                </a:lnTo>
                <a:cubicBezTo>
                  <a:pt x="3322570" y="0"/>
                  <a:pt x="3351781" y="29211"/>
                  <a:pt x="3351781" y="65244"/>
                </a:cubicBezTo>
                <a:lnTo>
                  <a:pt x="3351781" y="685033"/>
                </a:lnTo>
                <a:cubicBezTo>
                  <a:pt x="3351781" y="721066"/>
                  <a:pt x="3322570" y="750277"/>
                  <a:pt x="3286537" y="750277"/>
                </a:cubicBezTo>
                <a:lnTo>
                  <a:pt x="65244" y="750277"/>
                </a:lnTo>
                <a:cubicBezTo>
                  <a:pt x="29211" y="750277"/>
                  <a:pt x="0" y="721066"/>
                  <a:pt x="0" y="685033"/>
                </a:cubicBezTo>
                <a:lnTo>
                  <a:pt x="0" y="65244"/>
                </a:lnTo>
                <a:cubicBezTo>
                  <a:pt x="0" y="29211"/>
                  <a:pt x="29211" y="0"/>
                  <a:pt x="65244" y="0"/>
                </a:cubicBezTo>
                <a:close/>
              </a:path>
            </a:pathLst>
          </a:custGeom>
          <a:solidFill xmlns:a="http://schemas.openxmlformats.org/drawingml/2006/main">
            <a:srgbClr val="5F87A7">
              <a:alpha val="20000"/>
            </a:srgbClr>
          </a:solidFill>
        </p:spPr>
      </p:sp>
      <p:sp>
        <p:nvSpPr>
          <p:cNvPr id="31" name="Shape 29">
            <a:extLst xmlns:a="http://schemas.openxmlformats.org/drawingml/2006/main">
              <a:ext uri="{FF2B5EF4-FFF2-40B4-BE49-F238E27FC236}">
                <a16:creationId xmlns:a16="http://schemas.microsoft.com/office/drawing/2014/main" id="{E1C9385F-A6A5-4AB0-93FB-4607EF921B59}"/>
              </a:ext>
            </a:extLst>
          </p:cNvPr>
          <p:cNvSpPr>
            <a:spLocks xmlns:a="http://schemas.openxmlformats.org/drawingml/2006/main" noGrp="1"/>
          </p:cNvSpPr>
          <p:nvPr/>
        </p:nvSpPr>
        <p:spPr>
          <a:xfrm xmlns:a="http://schemas.openxmlformats.org/drawingml/2006/main">
            <a:off x="8461640" y="4462047"/>
            <a:ext cx="146793" cy="146793"/>
          </a:xfrm>
          <a:custGeom xmlns:a="http://schemas.openxmlformats.org/drawingml/2006/main">
            <a:rect l="l" t="t" r="r" b="b"/>
            <a:pathLst>
              <a:path w="146793" h="146793">
                <a:moveTo>
                  <a:pt x="81424" y="-373"/>
                </a:moveTo>
                <a:cubicBezTo>
                  <a:pt x="76464" y="-3240"/>
                  <a:pt x="70329" y="-3240"/>
                  <a:pt x="65369" y="-373"/>
                </a:cubicBezTo>
                <a:lnTo>
                  <a:pt x="41228" y="13561"/>
                </a:lnTo>
                <a:cubicBezTo>
                  <a:pt x="36268" y="16428"/>
                  <a:pt x="33201" y="21732"/>
                  <a:pt x="33201" y="27466"/>
                </a:cubicBezTo>
                <a:lnTo>
                  <a:pt x="33201" y="56682"/>
                </a:lnTo>
                <a:lnTo>
                  <a:pt x="7884" y="71304"/>
                </a:lnTo>
                <a:cubicBezTo>
                  <a:pt x="2924" y="74171"/>
                  <a:pt x="-143" y="79475"/>
                  <a:pt x="-143" y="85209"/>
                </a:cubicBezTo>
                <a:lnTo>
                  <a:pt x="-143" y="113105"/>
                </a:lnTo>
                <a:cubicBezTo>
                  <a:pt x="-143" y="118840"/>
                  <a:pt x="2924" y="124144"/>
                  <a:pt x="7884" y="127011"/>
                </a:cubicBezTo>
                <a:lnTo>
                  <a:pt x="32054" y="140945"/>
                </a:lnTo>
                <a:cubicBezTo>
                  <a:pt x="37014" y="143812"/>
                  <a:pt x="43149" y="143812"/>
                  <a:pt x="48109" y="140945"/>
                </a:cubicBezTo>
                <a:lnTo>
                  <a:pt x="73425" y="126323"/>
                </a:lnTo>
                <a:lnTo>
                  <a:pt x="98741" y="140945"/>
                </a:lnTo>
                <a:cubicBezTo>
                  <a:pt x="103701" y="143812"/>
                  <a:pt x="109837" y="143812"/>
                  <a:pt x="114797" y="140945"/>
                </a:cubicBezTo>
                <a:lnTo>
                  <a:pt x="138909" y="127011"/>
                </a:lnTo>
                <a:cubicBezTo>
                  <a:pt x="143869" y="124144"/>
                  <a:pt x="146937" y="118840"/>
                  <a:pt x="146937" y="113105"/>
                </a:cubicBezTo>
                <a:lnTo>
                  <a:pt x="146937" y="85209"/>
                </a:lnTo>
                <a:cubicBezTo>
                  <a:pt x="146937" y="79475"/>
                  <a:pt x="143869" y="74171"/>
                  <a:pt x="138909" y="71304"/>
                </a:cubicBezTo>
                <a:lnTo>
                  <a:pt x="113593" y="56682"/>
                </a:lnTo>
                <a:lnTo>
                  <a:pt x="113593" y="27466"/>
                </a:lnTo>
                <a:cubicBezTo>
                  <a:pt x="113593" y="21732"/>
                  <a:pt x="110525" y="16428"/>
                  <a:pt x="105565" y="13561"/>
                </a:cubicBezTo>
                <a:lnTo>
                  <a:pt x="81424" y="-373"/>
                </a:lnTo>
                <a:close/>
                <a:moveTo>
                  <a:pt x="66516" y="83890"/>
                </a:moveTo>
                <a:lnTo>
                  <a:pt x="66516" y="114424"/>
                </a:lnTo>
                <a:lnTo>
                  <a:pt x="41200" y="129046"/>
                </a:lnTo>
                <a:cubicBezTo>
                  <a:pt x="40856" y="129247"/>
                  <a:pt x="40454" y="129362"/>
                  <a:pt x="40053" y="129362"/>
                </a:cubicBezTo>
                <a:lnTo>
                  <a:pt x="40053" y="99171"/>
                </a:lnTo>
                <a:lnTo>
                  <a:pt x="66516" y="83890"/>
                </a:lnTo>
                <a:close/>
                <a:moveTo>
                  <a:pt x="132859" y="84062"/>
                </a:moveTo>
                <a:cubicBezTo>
                  <a:pt x="133060" y="84406"/>
                  <a:pt x="133175" y="84808"/>
                  <a:pt x="133175" y="85209"/>
                </a:cubicBezTo>
                <a:lnTo>
                  <a:pt x="133175" y="113105"/>
                </a:lnTo>
                <a:cubicBezTo>
                  <a:pt x="133175" y="113937"/>
                  <a:pt x="132745" y="114682"/>
                  <a:pt x="132028" y="115084"/>
                </a:cubicBezTo>
                <a:lnTo>
                  <a:pt x="107859" y="129018"/>
                </a:lnTo>
                <a:cubicBezTo>
                  <a:pt x="107515" y="129218"/>
                  <a:pt x="107113" y="129333"/>
                  <a:pt x="106712" y="129333"/>
                </a:cubicBezTo>
                <a:lnTo>
                  <a:pt x="106712" y="99143"/>
                </a:lnTo>
                <a:lnTo>
                  <a:pt x="132859" y="84062"/>
                </a:lnTo>
                <a:close/>
                <a:moveTo>
                  <a:pt x="99860" y="27466"/>
                </a:moveTo>
                <a:lnTo>
                  <a:pt x="99860" y="56682"/>
                </a:lnTo>
                <a:lnTo>
                  <a:pt x="73397" y="71963"/>
                </a:lnTo>
                <a:lnTo>
                  <a:pt x="73397" y="41429"/>
                </a:lnTo>
                <a:lnTo>
                  <a:pt x="99544" y="26348"/>
                </a:lnTo>
                <a:cubicBezTo>
                  <a:pt x="99745" y="26692"/>
                  <a:pt x="99860" y="27094"/>
                  <a:pt x="99860" y="27495"/>
                </a:cubicBezTo>
                <a:close/>
              </a:path>
            </a:pathLst>
          </a:custGeom>
          <a:solidFill xmlns:a="http://schemas.openxmlformats.org/drawingml/2006/main">
            <a:srgbClr val="E6B450"/>
          </a:solidFill>
        </p:spPr>
      </p:sp>
      <p:sp>
        <p:nvSpPr>
          <p:cNvPr id="32" name="Text 30">
            <a:extLst xmlns:a="http://schemas.openxmlformats.org/drawingml/2006/main">
              <a:ext uri="{FF2B5EF4-FFF2-40B4-BE49-F238E27FC236}">
                <a16:creationId xmlns:a16="http://schemas.microsoft.com/office/drawing/2014/main" id="{67EE9E86-E500-459B-9FEE-5104F8D99ED4}"/>
              </a:ext>
            </a:extLst>
          </p:cNvPr>
          <p:cNvSpPr>
            <a:spLocks xmlns:a="http://schemas.openxmlformats.org/drawingml/2006/main" noGrp="1"/>
          </p:cNvSpPr>
          <p:nvPr/>
        </p:nvSpPr>
        <p:spPr>
          <a:xfrm xmlns:a="http://schemas.openxmlformats.org/drawingml/2006/main">
            <a:off x="8722606" y="4421271"/>
            <a:ext cx="1376434" cy="22834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适应复杂环境</a:t>
            </a:r>
            <a:endParaRPr sz="1600"/>
          </a:p>
        </p:txBody>
      </p:sp>
      <p:sp>
        <p:nvSpPr>
          <p:cNvPr id="33" name="Text 31">
            <a:extLst xmlns:a="http://schemas.openxmlformats.org/drawingml/2006/main">
              <a:ext uri="{FF2B5EF4-FFF2-40B4-BE49-F238E27FC236}">
                <a16:creationId xmlns:a16="http://schemas.microsoft.com/office/drawing/2014/main" id="{F16D7EC2-9DEF-4A83-8706-BAD5254C91DB}"/>
              </a:ext>
            </a:extLst>
          </p:cNvPr>
          <p:cNvSpPr>
            <a:spLocks xmlns:a="http://schemas.openxmlformats.org/drawingml/2006/main" noGrp="1"/>
          </p:cNvSpPr>
          <p:nvPr/>
        </p:nvSpPr>
        <p:spPr>
          <a:xfrm xmlns:a="http://schemas.openxmlformats.org/drawingml/2006/main">
            <a:off x="8441253" y="4714857"/>
            <a:ext cx="3156056" cy="1957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适用于多障碍物环境</a:t>
            </a:r>
            <a:endParaRPr sz="1600"/>
          </a:p>
        </p:txBody>
      </p:sp>
      <p:sp>
        <p:nvSpPr>
          <p:cNvPr id="34" name="Shape 32">
            <a:extLst xmlns:a="http://schemas.openxmlformats.org/drawingml/2006/main">
              <a:ext uri="{FF2B5EF4-FFF2-40B4-BE49-F238E27FC236}">
                <a16:creationId xmlns:a16="http://schemas.microsoft.com/office/drawing/2014/main" id="{BD9F7182-DF75-4CF9-9DEA-804A4E88D739}"/>
              </a:ext>
            </a:extLst>
          </p:cNvPr>
          <p:cNvSpPr>
            <a:spLocks xmlns:a="http://schemas.openxmlformats.org/drawingml/2006/main" noGrp="1"/>
          </p:cNvSpPr>
          <p:nvPr/>
        </p:nvSpPr>
        <p:spPr>
          <a:xfrm xmlns:a="http://schemas.openxmlformats.org/drawingml/2006/main">
            <a:off x="8310770" y="5247748"/>
            <a:ext cx="3351781" cy="750277"/>
          </a:xfrm>
          <a:custGeom xmlns:a="http://schemas.openxmlformats.org/drawingml/2006/main">
            <a:rect l="l" t="t" r="r" b="b"/>
            <a:pathLst>
              <a:path w="3351781" h="750277">
                <a:moveTo>
                  <a:pt x="65244" y="0"/>
                </a:moveTo>
                <a:lnTo>
                  <a:pt x="3286537" y="0"/>
                </a:lnTo>
                <a:cubicBezTo>
                  <a:pt x="3322570" y="0"/>
                  <a:pt x="3351781" y="29211"/>
                  <a:pt x="3351781" y="65244"/>
                </a:cubicBezTo>
                <a:lnTo>
                  <a:pt x="3351781" y="685033"/>
                </a:lnTo>
                <a:cubicBezTo>
                  <a:pt x="3351781" y="721066"/>
                  <a:pt x="3322570" y="750277"/>
                  <a:pt x="3286537" y="750277"/>
                </a:cubicBezTo>
                <a:lnTo>
                  <a:pt x="65244" y="750277"/>
                </a:lnTo>
                <a:cubicBezTo>
                  <a:pt x="29211" y="750277"/>
                  <a:pt x="0" y="721066"/>
                  <a:pt x="0" y="685033"/>
                </a:cubicBezTo>
                <a:lnTo>
                  <a:pt x="0" y="65244"/>
                </a:lnTo>
                <a:cubicBezTo>
                  <a:pt x="0" y="29211"/>
                  <a:pt x="29211" y="0"/>
                  <a:pt x="65244" y="0"/>
                </a:cubicBezTo>
                <a:close/>
              </a:path>
            </a:pathLst>
          </a:custGeom>
          <a:solidFill xmlns:a="http://schemas.openxmlformats.org/drawingml/2006/main">
            <a:srgbClr val="5F87A7">
              <a:alpha val="20000"/>
            </a:srgbClr>
          </a:solidFill>
        </p:spPr>
      </p:sp>
      <p:sp>
        <p:nvSpPr>
          <p:cNvPr id="35" name="Shape 33">
            <a:extLst xmlns:a="http://schemas.openxmlformats.org/drawingml/2006/main">
              <a:ext uri="{FF2B5EF4-FFF2-40B4-BE49-F238E27FC236}">
                <a16:creationId xmlns:a16="http://schemas.microsoft.com/office/drawing/2014/main" id="{5AD3873D-6730-4AB0-9F1F-7D4F36B3DE90}"/>
              </a:ext>
            </a:extLst>
          </p:cNvPr>
          <p:cNvSpPr>
            <a:spLocks xmlns:a="http://schemas.openxmlformats.org/drawingml/2006/main" noGrp="1"/>
          </p:cNvSpPr>
          <p:nvPr/>
        </p:nvSpPr>
        <p:spPr>
          <a:xfrm xmlns:a="http://schemas.openxmlformats.org/drawingml/2006/main">
            <a:off x="8461640" y="5419006"/>
            <a:ext cx="146793" cy="146793"/>
          </a:xfrm>
          <a:custGeom xmlns:a="http://schemas.openxmlformats.org/drawingml/2006/main">
            <a:rect l="l" t="t" r="r" b="b"/>
            <a:pathLst>
              <a:path w="146793" h="146793">
                <a:moveTo>
                  <a:pt x="73397" y="0"/>
                </a:moveTo>
                <a:cubicBezTo>
                  <a:pt x="74716" y="0"/>
                  <a:pt x="76034" y="287"/>
                  <a:pt x="77239" y="831"/>
                </a:cubicBezTo>
                <a:lnTo>
                  <a:pt x="131254" y="23739"/>
                </a:lnTo>
                <a:cubicBezTo>
                  <a:pt x="137561" y="26406"/>
                  <a:pt x="142263" y="32627"/>
                  <a:pt x="142235" y="40139"/>
                </a:cubicBezTo>
                <a:cubicBezTo>
                  <a:pt x="142091" y="68580"/>
                  <a:pt x="130394" y="120617"/>
                  <a:pt x="80994" y="144270"/>
                </a:cubicBezTo>
                <a:cubicBezTo>
                  <a:pt x="76206" y="146564"/>
                  <a:pt x="70644" y="146564"/>
                  <a:pt x="65856" y="144270"/>
                </a:cubicBezTo>
                <a:cubicBezTo>
                  <a:pt x="16428" y="120617"/>
                  <a:pt x="4759" y="68580"/>
                  <a:pt x="4616" y="40139"/>
                </a:cubicBezTo>
                <a:cubicBezTo>
                  <a:pt x="4587" y="32627"/>
                  <a:pt x="9289" y="26406"/>
                  <a:pt x="15597" y="23739"/>
                </a:cubicBezTo>
                <a:lnTo>
                  <a:pt x="69583" y="831"/>
                </a:lnTo>
                <a:cubicBezTo>
                  <a:pt x="70788" y="287"/>
                  <a:pt x="72078" y="0"/>
                  <a:pt x="73397" y="0"/>
                </a:cubicBezTo>
                <a:close/>
                <a:moveTo>
                  <a:pt x="73397" y="19152"/>
                </a:moveTo>
                <a:lnTo>
                  <a:pt x="73397" y="127555"/>
                </a:lnTo>
                <a:cubicBezTo>
                  <a:pt x="112962" y="108403"/>
                  <a:pt x="123599" y="65971"/>
                  <a:pt x="123857" y="40569"/>
                </a:cubicBezTo>
                <a:lnTo>
                  <a:pt x="73397" y="19181"/>
                </a:lnTo>
                <a:lnTo>
                  <a:pt x="73397" y="19181"/>
                </a:lnTo>
                <a:close/>
              </a:path>
            </a:pathLst>
          </a:custGeom>
          <a:solidFill xmlns:a="http://schemas.openxmlformats.org/drawingml/2006/main">
            <a:srgbClr val="E6B450"/>
          </a:solidFill>
        </p:spPr>
      </p:sp>
      <p:sp>
        <p:nvSpPr>
          <p:cNvPr id="36" name="Text 34">
            <a:extLst xmlns:a="http://schemas.openxmlformats.org/drawingml/2006/main">
              <a:ext uri="{FF2B5EF4-FFF2-40B4-BE49-F238E27FC236}">
                <a16:creationId xmlns:a16="http://schemas.microsoft.com/office/drawing/2014/main" id="{82D3FD62-DC72-43D9-919A-E4B735832D05}"/>
              </a:ext>
            </a:extLst>
          </p:cNvPr>
          <p:cNvSpPr>
            <a:spLocks xmlns:a="http://schemas.openxmlformats.org/drawingml/2006/main" noGrp="1"/>
          </p:cNvSpPr>
          <p:nvPr/>
        </p:nvSpPr>
        <p:spPr>
          <a:xfrm xmlns:a="http://schemas.openxmlformats.org/drawingml/2006/main">
            <a:off x="8722606" y="5378230"/>
            <a:ext cx="985274" cy="22834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高效可靠</a:t>
            </a:r>
            <a:endParaRPr sz="1600"/>
          </a:p>
        </p:txBody>
      </p:sp>
      <p:sp>
        <p:nvSpPr>
          <p:cNvPr id="37" name="Text 35">
            <a:extLst xmlns:a="http://schemas.openxmlformats.org/drawingml/2006/main">
              <a:ext uri="{FF2B5EF4-FFF2-40B4-BE49-F238E27FC236}">
                <a16:creationId xmlns:a16="http://schemas.microsoft.com/office/drawing/2014/main" id="{65EB8122-F338-4294-B228-070903313C32}"/>
              </a:ext>
            </a:extLst>
          </p:cNvPr>
          <p:cNvSpPr>
            <a:spLocks xmlns:a="http://schemas.openxmlformats.org/drawingml/2006/main" noGrp="1"/>
          </p:cNvSpPr>
          <p:nvPr/>
        </p:nvSpPr>
        <p:spPr>
          <a:xfrm xmlns:a="http://schemas.openxmlformats.org/drawingml/2006/main">
            <a:off x="8441253" y="5671817"/>
            <a:ext cx="3156056" cy="1957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公认的避障导航方法</a:t>
            </a:r>
            <a:endParaRPr sz="1600"/>
          </a:p>
        </p:txBody>
      </p:sp>
      <p:sp>
        <p:nvSpPr>
          <p:cNvPr id="41" name="矩形 40">
            <a:extLst xmlns:a="http://schemas.openxmlformats.org/drawingml/2006/main">
              <a:ext uri="{FF2B5EF4-FFF2-40B4-BE49-F238E27FC236}">
                <a16:creationId xmlns:a16="http://schemas.microsoft.com/office/drawing/2014/main" id="{8F38CE67-2E95-240D-3FBD-08531A9078D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文本框 41">
            <a:extLst xmlns:a="http://schemas.openxmlformats.org/drawingml/2006/main">
              <a:ext uri="{FF2B5EF4-FFF2-40B4-BE49-F238E27FC236}">
                <a16:creationId xmlns:a16="http://schemas.microsoft.com/office/drawing/2014/main" id="{D33615BA-4AD5-8D34-2757-A0500DA14740}"/>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7.3.1 </a:t>
            </a:r>
            <a:r>
              <a:rPr sz="2400" b="1">
                <a:solidFill>
                  <a:schemeClr val="accent1"/>
                </a:solidFill>
                <a:latin typeface="+mj-lt"/>
                <a:ea typeface="+mj-lt"/>
                <a:cs typeface="+mj-lt"/>
              </a:rPr>
              <a:t>避障控制</a:t>
            </a:r>
          </a:p>
        </p:txBody>
      </p:sp>
    </p:spTree>
    <p:extLst>
      <p:ext uri="{BB962C8B-B14F-4D97-AF65-F5344CB8AC3E}">
        <p14:creationId xmlns:p14="http://schemas.microsoft.com/office/powerpoint/2010/main" val="3571759167"/>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6757DF11-C20C-4343-BD44-9D2116585126}"/>
              </a:ext>
            </a:extLst>
          </p:cNvPr>
          <p:cNvSpPr>
            <a:spLocks xmlns:a="http://schemas.openxmlformats.org/drawingml/2006/main" noGrp="1"/>
          </p:cNvSpPr>
          <p:nvPr/>
        </p:nvSpPr>
        <p:spPr>
          <a:xfrm xmlns:a="http://schemas.openxmlformats.org/drawingml/2006/main">
            <a:off x="343206" y="1736610"/>
            <a:ext cx="8122552" cy="1927340"/>
          </a:xfrm>
          <a:custGeom xmlns:a="http://schemas.openxmlformats.org/drawingml/2006/main">
            <a:rect l="l" t="t" r="r" b="b"/>
            <a:pathLst>
              <a:path w="8122552" h="1470885">
                <a:moveTo>
                  <a:pt x="32686" y="0"/>
                </a:moveTo>
                <a:lnTo>
                  <a:pt x="8024488" y="0"/>
                </a:lnTo>
                <a:cubicBezTo>
                  <a:pt x="8078648" y="0"/>
                  <a:pt x="8122552" y="43905"/>
                  <a:pt x="8122552" y="98064"/>
                </a:cubicBezTo>
                <a:lnTo>
                  <a:pt x="8122552" y="1372821"/>
                </a:lnTo>
                <a:cubicBezTo>
                  <a:pt x="8122552" y="1426980"/>
                  <a:pt x="8078648" y="1470885"/>
                  <a:pt x="8024488" y="1470885"/>
                </a:cubicBezTo>
                <a:lnTo>
                  <a:pt x="32686" y="1470885"/>
                </a:lnTo>
                <a:cubicBezTo>
                  <a:pt x="14634" y="1470885"/>
                  <a:pt x="0" y="1456251"/>
                  <a:pt x="0" y="1438198"/>
                </a:cubicBezTo>
                <a:lnTo>
                  <a:pt x="0" y="32686"/>
                </a:lnTo>
                <a:cubicBezTo>
                  <a:pt x="0" y="14646"/>
                  <a:pt x="14646" y="0"/>
                  <a:pt x="32686"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5BA35B8C-F678-4CC8-AEF7-5A7FA043FF81}"/>
              </a:ext>
            </a:extLst>
          </p:cNvPr>
          <p:cNvSpPr>
            <a:spLocks xmlns:a="http://schemas.openxmlformats.org/drawingml/2006/main" noGrp="1"/>
          </p:cNvSpPr>
          <p:nvPr/>
        </p:nvSpPr>
        <p:spPr>
          <a:xfrm xmlns:a="http://schemas.openxmlformats.org/drawingml/2006/main">
            <a:off x="343206" y="1736610"/>
            <a:ext cx="32686" cy="1927340"/>
          </a:xfrm>
          <a:custGeom xmlns:a="http://schemas.openxmlformats.org/drawingml/2006/main">
            <a:rect l="l" t="t" r="r" b="b"/>
            <a:pathLst>
              <a:path w="32686" h="1470885">
                <a:moveTo>
                  <a:pt x="32686" y="0"/>
                </a:moveTo>
                <a:lnTo>
                  <a:pt x="32686" y="0"/>
                </a:lnTo>
                <a:lnTo>
                  <a:pt x="32686" y="1470885"/>
                </a:lnTo>
                <a:lnTo>
                  <a:pt x="32686" y="1470885"/>
                </a:lnTo>
                <a:cubicBezTo>
                  <a:pt x="14634" y="1470885"/>
                  <a:pt x="0" y="1456251"/>
                  <a:pt x="0" y="1438198"/>
                </a:cubicBezTo>
                <a:lnTo>
                  <a:pt x="0" y="32686"/>
                </a:lnTo>
                <a:cubicBezTo>
                  <a:pt x="0" y="14646"/>
                  <a:pt x="14646" y="0"/>
                  <a:pt x="32686"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018ED230-EC50-43FE-80CA-952CF2B1DA19}"/>
              </a:ext>
            </a:extLst>
          </p:cNvPr>
          <p:cNvSpPr>
            <a:spLocks xmlns:a="http://schemas.openxmlformats.org/drawingml/2006/main" noGrp="1"/>
          </p:cNvSpPr>
          <p:nvPr/>
        </p:nvSpPr>
        <p:spPr>
          <a:xfrm xmlns:a="http://schemas.openxmlformats.org/drawingml/2006/main">
            <a:off x="539324" y="1965414"/>
            <a:ext cx="171603" cy="196118"/>
          </a:xfrm>
          <a:custGeom xmlns:a="http://schemas.openxmlformats.org/drawingml/2006/main">
            <a:rect l="l" t="t" r="r" b="b"/>
            <a:pathLst>
              <a:path w="171603" h="196118">
                <a:moveTo>
                  <a:pt x="147088" y="36772"/>
                </a:moveTo>
                <a:lnTo>
                  <a:pt x="147088" y="61287"/>
                </a:lnTo>
                <a:lnTo>
                  <a:pt x="122574" y="61287"/>
                </a:lnTo>
                <a:lnTo>
                  <a:pt x="122574" y="36772"/>
                </a:lnTo>
                <a:lnTo>
                  <a:pt x="147088" y="36772"/>
                </a:lnTo>
                <a:close/>
                <a:moveTo>
                  <a:pt x="147088" y="85802"/>
                </a:moveTo>
                <a:lnTo>
                  <a:pt x="147088" y="110316"/>
                </a:lnTo>
                <a:lnTo>
                  <a:pt x="122574" y="110316"/>
                </a:lnTo>
                <a:lnTo>
                  <a:pt x="122574" y="85802"/>
                </a:lnTo>
                <a:lnTo>
                  <a:pt x="147088" y="85802"/>
                </a:lnTo>
                <a:close/>
                <a:moveTo>
                  <a:pt x="147088" y="134831"/>
                </a:moveTo>
                <a:lnTo>
                  <a:pt x="147088" y="159346"/>
                </a:lnTo>
                <a:lnTo>
                  <a:pt x="122574" y="159346"/>
                </a:lnTo>
                <a:lnTo>
                  <a:pt x="122574" y="134831"/>
                </a:lnTo>
                <a:lnTo>
                  <a:pt x="147088" y="134831"/>
                </a:lnTo>
                <a:close/>
                <a:moveTo>
                  <a:pt x="98059" y="110316"/>
                </a:moveTo>
                <a:lnTo>
                  <a:pt x="73544" y="110316"/>
                </a:lnTo>
                <a:lnTo>
                  <a:pt x="73544" y="85802"/>
                </a:lnTo>
                <a:lnTo>
                  <a:pt x="98059" y="85802"/>
                </a:lnTo>
                <a:lnTo>
                  <a:pt x="98059" y="110316"/>
                </a:lnTo>
                <a:close/>
                <a:moveTo>
                  <a:pt x="73544" y="134831"/>
                </a:moveTo>
                <a:lnTo>
                  <a:pt x="98059" y="134831"/>
                </a:lnTo>
                <a:lnTo>
                  <a:pt x="98059" y="159346"/>
                </a:lnTo>
                <a:lnTo>
                  <a:pt x="73544" y="159346"/>
                </a:lnTo>
                <a:lnTo>
                  <a:pt x="73544" y="134831"/>
                </a:lnTo>
                <a:close/>
                <a:moveTo>
                  <a:pt x="49029" y="110316"/>
                </a:moveTo>
                <a:lnTo>
                  <a:pt x="24515" y="110316"/>
                </a:lnTo>
                <a:lnTo>
                  <a:pt x="24515" y="85802"/>
                </a:lnTo>
                <a:lnTo>
                  <a:pt x="49029" y="85802"/>
                </a:lnTo>
                <a:lnTo>
                  <a:pt x="49029" y="110316"/>
                </a:lnTo>
                <a:close/>
                <a:moveTo>
                  <a:pt x="24515" y="134831"/>
                </a:moveTo>
                <a:lnTo>
                  <a:pt x="49029" y="134831"/>
                </a:lnTo>
                <a:lnTo>
                  <a:pt x="49029" y="159346"/>
                </a:lnTo>
                <a:lnTo>
                  <a:pt x="24515" y="159346"/>
                </a:lnTo>
                <a:lnTo>
                  <a:pt x="24515" y="134831"/>
                </a:lnTo>
                <a:close/>
                <a:moveTo>
                  <a:pt x="24515" y="61287"/>
                </a:moveTo>
                <a:lnTo>
                  <a:pt x="24515" y="36772"/>
                </a:lnTo>
                <a:lnTo>
                  <a:pt x="49029" y="36772"/>
                </a:lnTo>
                <a:lnTo>
                  <a:pt x="49029" y="61287"/>
                </a:lnTo>
                <a:lnTo>
                  <a:pt x="24515" y="61287"/>
                </a:lnTo>
                <a:close/>
                <a:moveTo>
                  <a:pt x="73544" y="61287"/>
                </a:moveTo>
                <a:lnTo>
                  <a:pt x="73544" y="36772"/>
                </a:lnTo>
                <a:lnTo>
                  <a:pt x="98059" y="36772"/>
                </a:lnTo>
                <a:lnTo>
                  <a:pt x="98059" y="61287"/>
                </a:lnTo>
                <a:lnTo>
                  <a:pt x="73544" y="61287"/>
                </a:lnTo>
                <a:close/>
                <a:moveTo>
                  <a:pt x="24515" y="12257"/>
                </a:moveTo>
                <a:cubicBezTo>
                  <a:pt x="10993" y="12257"/>
                  <a:pt x="0" y="23251"/>
                  <a:pt x="0" y="36772"/>
                </a:cubicBezTo>
                <a:lnTo>
                  <a:pt x="0" y="159346"/>
                </a:lnTo>
                <a:cubicBezTo>
                  <a:pt x="0" y="172867"/>
                  <a:pt x="10993" y="183861"/>
                  <a:pt x="24515" y="183861"/>
                </a:cubicBezTo>
                <a:lnTo>
                  <a:pt x="147088" y="183861"/>
                </a:lnTo>
                <a:cubicBezTo>
                  <a:pt x="160610" y="183861"/>
                  <a:pt x="171603" y="172867"/>
                  <a:pt x="171603" y="159346"/>
                </a:cubicBezTo>
                <a:lnTo>
                  <a:pt x="171603" y="36772"/>
                </a:lnTo>
                <a:cubicBezTo>
                  <a:pt x="171603" y="23251"/>
                  <a:pt x="160610" y="12257"/>
                  <a:pt x="147088" y="12257"/>
                </a:cubicBezTo>
                <a:lnTo>
                  <a:pt x="24515" y="12257"/>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14F54D19-1E4C-4FFF-8500-BDAD3BCB6CC7}"/>
              </a:ext>
            </a:extLst>
          </p:cNvPr>
          <p:cNvSpPr>
            <a:spLocks xmlns:a="http://schemas.openxmlformats.org/drawingml/2006/main" noGrp="1"/>
          </p:cNvSpPr>
          <p:nvPr/>
        </p:nvSpPr>
        <p:spPr>
          <a:xfrm xmlns:a="http://schemas.openxmlformats.org/drawingml/2006/main">
            <a:off x="823159" y="1932728"/>
            <a:ext cx="7542370" cy="2614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VFH </a:t>
            </a:r>
            <a:r>
              <a:rPr b="1">
                <a:latin typeface="微软雅黑"/>
                <a:ea typeface="微软雅黑"/>
                <a:cs typeface="微软雅黑"/>
              </a:rPr>
              <a:t>使用</a:t>
            </a:r>
            <a:r>
              <a:rPr b="1">
                <a:latin typeface="微软雅黑"/>
                <a:ea typeface="微软雅黑"/>
                <a:cs typeface="微软雅黑"/>
              </a:rPr>
              <a:t>栅格地图</a:t>
            </a:r>
            <a:endParaRPr sz="2000"/>
          </a:p>
        </p:txBody>
      </p:sp>
      <p:sp>
        <p:nvSpPr>
          <p:cNvPr id="9" name="Text 7">
            <a:extLst xmlns:a="http://schemas.openxmlformats.org/drawingml/2006/main">
              <a:ext uri="{FF2B5EF4-FFF2-40B4-BE49-F238E27FC236}">
                <a16:creationId xmlns:a16="http://schemas.microsoft.com/office/drawing/2014/main" id="{42A5EA3F-A0C1-46A9-8F89-65DB2C003928}"/>
              </a:ext>
            </a:extLst>
          </p:cNvPr>
          <p:cNvSpPr>
            <a:spLocks xmlns:a="http://schemas.openxmlformats.org/drawingml/2006/main" noGrp="1"/>
          </p:cNvSpPr>
          <p:nvPr/>
        </p:nvSpPr>
        <p:spPr>
          <a:xfrm xmlns:a="http://schemas.openxmlformats.org/drawingml/2006/main">
            <a:off x="823159" y="2292277"/>
            <a:ext cx="7517855" cy="122562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VFH方法使用了</a:t>
            </a:r>
            <a:r>
              <a:rPr sz="1600" b="1">
                <a:latin typeface="微软雅黑"/>
                <a:ea typeface="微软雅黑"/>
                <a:cs typeface="微软雅黑"/>
              </a:rPr>
              <a:t>二维笛卡尔坐标系的栅格</a:t>
            </a:r>
            <a:r>
              <a:rPr sz="1600">
                <a:latin typeface="微软雅黑"/>
                <a:ea typeface="微软雅黑"/>
                <a:cs typeface="微软雅黑"/>
              </a:rPr>
              <a:t>，该栅格根据</a:t>
            </a:r>
            <a:r>
              <a:rPr sz="1600">
                <a:highlight>
                  <a:srgbClr val="E6B450">
                    <a:alpha val="20000"/>
                  </a:srgbClr>
                </a:highlight>
                <a:latin typeface="微软雅黑"/>
                <a:ea typeface="微软雅黑"/>
                <a:cs typeface="微软雅黑"/>
              </a:rPr>
              <a:t> 超声波传感器 </a:t>
            </a:r>
            <a:r>
              <a:rPr sz="1600">
                <a:latin typeface="微软雅黑"/>
                <a:ea typeface="微软雅黑"/>
                <a:cs typeface="微软雅黑"/>
              </a:rPr>
              <a:t>或</a:t>
            </a:r>
            <a:r>
              <a:rPr sz="1600">
                <a:highlight>
                  <a:srgbClr val="E6B450">
                    <a:alpha val="20000"/>
                  </a:srgbClr>
                </a:highlight>
                <a:latin typeface="微软雅黑"/>
                <a:ea typeface="微软雅黑"/>
                <a:cs typeface="微软雅黑"/>
              </a:rPr>
              <a:t> 激光测距仪传感器 </a:t>
            </a:r>
            <a:r>
              <a:rPr sz="1600">
                <a:latin typeface="微软雅黑"/>
                <a:ea typeface="微软雅黑"/>
                <a:cs typeface="微软雅黑"/>
              </a:rPr>
              <a:t>获得的信息进行连续不断的更新。这个栅格和由占用栅格度量图在原理上是相似的，只是这个网格的尺度更小，它只表示机器人周围的环境而且机器人总是处于栅格的中心。</a:t>
            </a:r>
            <a:endParaRPr sz="2400"/>
          </a:p>
        </p:txBody>
      </p:sp>
      <p:sp>
        <p:nvSpPr>
          <p:cNvPr id="49" name="矩形 48">
            <a:extLst xmlns:a="http://schemas.openxmlformats.org/drawingml/2006/main">
              <a:ext uri="{FF2B5EF4-FFF2-40B4-BE49-F238E27FC236}">
                <a16:creationId xmlns:a16="http://schemas.microsoft.com/office/drawing/2014/main" id="{535710CE-110A-F6B4-4B32-DC106A41601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文本框 49">
            <a:extLst xmlns:a="http://schemas.openxmlformats.org/drawingml/2006/main">
              <a:ext uri="{FF2B5EF4-FFF2-40B4-BE49-F238E27FC236}">
                <a16:creationId xmlns:a16="http://schemas.microsoft.com/office/drawing/2014/main" id="{135CB5FF-FD58-3C16-9361-8779CC15F5E7}"/>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7.3.1 </a:t>
            </a:r>
            <a:r>
              <a:rPr sz="2400" b="1">
                <a:solidFill>
                  <a:schemeClr val="accent1"/>
                </a:solidFill>
                <a:latin typeface="+mj-lt"/>
                <a:ea typeface="+mj-lt"/>
                <a:cs typeface="+mj-lt"/>
              </a:rPr>
              <a:t>避障控制</a:t>
            </a:r>
          </a:p>
        </p:txBody>
      </p:sp>
      <p:pic>
        <p:nvPicPr>
          <p:cNvPr id="59" name="图片 51"/>
          <p:cNvPicPr>
            <a:picLocks xmlns:a="http://schemas.openxmlformats.org/drawingml/2006/main" noChangeAspect="1"/>
          </p:cNvPicPr>
          <p:nvPr/>
        </p:nvPicPr>
        <p:blipFill>
          <a:blip xmlns:r="http://schemas.openxmlformats.org/officeDocument/2006/relationships" xmlns:a="http://schemas.openxmlformats.org/drawingml/2006/main" r:embed="Rf79bf6e245064bf7"/>
          <a:srcRect xmlns:a="http://schemas.openxmlformats.org/drawingml/2006/main" l="0" t="0" r="0" b="0"/>
          <a:stretch xmlns:a="http://schemas.openxmlformats.org/drawingml/2006/main">
            <a:fillRect l="0" t="0" r="0" b="0"/>
          </a:stretch>
        </p:blipFill>
        <p:spPr>
          <a:xfrm xmlns:a="http://schemas.openxmlformats.org/drawingml/2006/main">
            <a:off x="2394522" y="3762008"/>
            <a:ext cx="6071236" cy="291285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3772427983"/>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0" name="Shape 8">
            <a:extLst xmlns:a="http://schemas.openxmlformats.org/drawingml/2006/main">
              <a:ext uri="{FF2B5EF4-FFF2-40B4-BE49-F238E27FC236}">
                <a16:creationId xmlns:a16="http://schemas.microsoft.com/office/drawing/2014/main" id="{6E10A14D-72EC-4AE0-9DAA-AC159977756F}"/>
              </a:ext>
            </a:extLst>
          </p:cNvPr>
          <p:cNvSpPr>
            <a:spLocks xmlns:a="http://schemas.openxmlformats.org/drawingml/2006/main" noGrp="1"/>
          </p:cNvSpPr>
          <p:nvPr/>
        </p:nvSpPr>
        <p:spPr>
          <a:xfrm xmlns:a="http://schemas.openxmlformats.org/drawingml/2006/main">
            <a:off x="343206" y="1807720"/>
            <a:ext cx="8122552" cy="1697480"/>
          </a:xfrm>
          <a:custGeom xmlns:a="http://schemas.openxmlformats.org/drawingml/2006/main">
            <a:rect l="l" t="t" r="r" b="b"/>
            <a:pathLst>
              <a:path w="8122552" h="1233909">
                <a:moveTo>
                  <a:pt x="32686" y="0"/>
                </a:moveTo>
                <a:lnTo>
                  <a:pt x="8024494" y="0"/>
                </a:lnTo>
                <a:cubicBezTo>
                  <a:pt x="8078650" y="0"/>
                  <a:pt x="8122552" y="43902"/>
                  <a:pt x="8122552" y="98059"/>
                </a:cubicBezTo>
                <a:lnTo>
                  <a:pt x="8122552" y="1135850"/>
                </a:lnTo>
                <a:cubicBezTo>
                  <a:pt x="8122552" y="1190006"/>
                  <a:pt x="8078650" y="1233909"/>
                  <a:pt x="8024494" y="1233909"/>
                </a:cubicBez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21283BB2-9111-4CE5-8381-41B732645DAA}"/>
              </a:ext>
            </a:extLst>
          </p:cNvPr>
          <p:cNvSpPr>
            <a:spLocks xmlns:a="http://schemas.openxmlformats.org/drawingml/2006/main" noGrp="1"/>
          </p:cNvSpPr>
          <p:nvPr/>
        </p:nvSpPr>
        <p:spPr>
          <a:xfrm xmlns:a="http://schemas.openxmlformats.org/drawingml/2006/main">
            <a:off x="343206" y="1807720"/>
            <a:ext cx="32686" cy="1697480"/>
          </a:xfrm>
          <a:custGeom xmlns:a="http://schemas.openxmlformats.org/drawingml/2006/main">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7C9CA75F-1165-45B1-966C-C4A10337DF98}"/>
              </a:ext>
            </a:extLst>
          </p:cNvPr>
          <p:cNvSpPr>
            <a:spLocks xmlns:a="http://schemas.openxmlformats.org/drawingml/2006/main" noGrp="1"/>
          </p:cNvSpPr>
          <p:nvPr/>
        </p:nvSpPr>
        <p:spPr>
          <a:xfrm xmlns:a="http://schemas.openxmlformats.org/drawingml/2006/main">
            <a:off x="823159" y="2003838"/>
            <a:ext cx="7542370" cy="2614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VFH </a:t>
            </a:r>
            <a:r>
              <a:rPr b="1">
                <a:latin typeface="微软雅黑"/>
                <a:ea typeface="微软雅黑"/>
                <a:cs typeface="微软雅黑"/>
              </a:rPr>
              <a:t>构建</a:t>
            </a:r>
            <a:r>
              <a:rPr b="1">
                <a:latin typeface="微软雅黑"/>
                <a:ea typeface="微软雅黑"/>
                <a:cs typeface="微软雅黑"/>
              </a:rPr>
              <a:t>极坐标直方图</a:t>
            </a:r>
            <a:endParaRPr sz="2000"/>
          </a:p>
        </p:txBody>
      </p:sp>
      <p:sp>
        <p:nvSpPr>
          <p:cNvPr id="14" name="Text 12">
            <a:extLst xmlns:a="http://schemas.openxmlformats.org/drawingml/2006/main">
              <a:ext uri="{FF2B5EF4-FFF2-40B4-BE49-F238E27FC236}">
                <a16:creationId xmlns:a16="http://schemas.microsoft.com/office/drawing/2014/main" id="{09E005BA-E242-49D8-9901-65912F8629DB}"/>
              </a:ext>
            </a:extLst>
          </p:cNvPr>
          <p:cNvSpPr>
            <a:spLocks xmlns:a="http://schemas.openxmlformats.org/drawingml/2006/main" noGrp="1"/>
          </p:cNvSpPr>
          <p:nvPr/>
        </p:nvSpPr>
        <p:spPr>
          <a:xfrm xmlns:a="http://schemas.openxmlformats.org/drawingml/2006/main">
            <a:off x="823159" y="2363387"/>
            <a:ext cx="7517855" cy="88781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让绕机器人</a:t>
            </a:r>
            <a:r>
              <a:rPr sz="1600" b="1">
                <a:latin typeface="微软雅黑"/>
                <a:ea typeface="微软雅黑"/>
                <a:cs typeface="微软雅黑"/>
              </a:rPr>
              <a:t>360度</a:t>
            </a:r>
            <a:r>
              <a:rPr sz="1600">
                <a:latin typeface="微软雅黑"/>
                <a:ea typeface="微软雅黑"/>
                <a:cs typeface="微软雅黑"/>
              </a:rPr>
              <a:t>构建一些向量，这些向量全部从机器人的几何中心出发，指向障碍物或者栅格边缘。显然，如果存在障碍物的话则这些向量的长度将不同，按次序将它们排列可以进一步得到一个</a:t>
            </a:r>
            <a:r>
              <a:rPr sz="1600">
                <a:highlight>
                  <a:srgbClr val="E6B450">
                    <a:alpha val="20000"/>
                  </a:srgbClr>
                </a:highlight>
                <a:latin typeface="微软雅黑"/>
                <a:ea typeface="微软雅黑"/>
                <a:cs typeface="微软雅黑"/>
              </a:rPr>
              <a:t> 极坐标下的直方图 </a:t>
            </a:r>
            <a:r>
              <a:rPr sz="1600">
                <a:latin typeface="微软雅黑"/>
                <a:ea typeface="微软雅黑"/>
                <a:cs typeface="微软雅黑"/>
              </a:rPr>
              <a:t>。</a:t>
            </a:r>
            <a:endParaRPr sz="2400"/>
          </a:p>
        </p:txBody>
      </p:sp>
      <p:sp>
        <p:nvSpPr>
          <p:cNvPr id="17" name="Shape 15">
            <a:extLst xmlns:a="http://schemas.openxmlformats.org/drawingml/2006/main">
              <a:ext uri="{FF2B5EF4-FFF2-40B4-BE49-F238E27FC236}">
                <a16:creationId xmlns:a16="http://schemas.microsoft.com/office/drawing/2014/main" id="{96E97AF3-882B-4207-8B16-6A3A9A73414A}"/>
              </a:ext>
            </a:extLst>
          </p:cNvPr>
          <p:cNvSpPr>
            <a:spLocks xmlns:a="http://schemas.openxmlformats.org/drawingml/2006/main" noGrp="1"/>
          </p:cNvSpPr>
          <p:nvPr/>
        </p:nvSpPr>
        <p:spPr>
          <a:xfrm xmlns:a="http://schemas.openxmlformats.org/drawingml/2006/main">
            <a:off x="527067" y="2033715"/>
            <a:ext cx="196118" cy="196118"/>
          </a:xfrm>
          <a:custGeom xmlns:a="http://schemas.openxmlformats.org/drawingml/2006/main">
            <a:rect l="l" t="t" r="r" b="b"/>
            <a:pathLst>
              <a:path w="196118" h="196118">
                <a:moveTo>
                  <a:pt x="12257" y="12257"/>
                </a:moveTo>
                <a:cubicBezTo>
                  <a:pt x="19037" y="12257"/>
                  <a:pt x="24515" y="17735"/>
                  <a:pt x="24515" y="24515"/>
                </a:cubicBezTo>
                <a:lnTo>
                  <a:pt x="24515" y="153217"/>
                </a:lnTo>
                <a:cubicBezTo>
                  <a:pt x="24515" y="156588"/>
                  <a:pt x="27273" y="159346"/>
                  <a:pt x="30643" y="159346"/>
                </a:cubicBezTo>
                <a:lnTo>
                  <a:pt x="183861" y="159346"/>
                </a:lnTo>
                <a:cubicBezTo>
                  <a:pt x="190640" y="159346"/>
                  <a:pt x="196118" y="164823"/>
                  <a:pt x="196118" y="171603"/>
                </a:cubicBezTo>
                <a:cubicBezTo>
                  <a:pt x="196118" y="178383"/>
                  <a:pt x="190640" y="183861"/>
                  <a:pt x="183861" y="183861"/>
                </a:cubicBezTo>
                <a:lnTo>
                  <a:pt x="30643" y="183861"/>
                </a:lnTo>
                <a:cubicBezTo>
                  <a:pt x="13713" y="183861"/>
                  <a:pt x="0" y="170148"/>
                  <a:pt x="0" y="153217"/>
                </a:cubicBezTo>
                <a:lnTo>
                  <a:pt x="0" y="24515"/>
                </a:lnTo>
                <a:cubicBezTo>
                  <a:pt x="0" y="17735"/>
                  <a:pt x="5478" y="12257"/>
                  <a:pt x="12257" y="12257"/>
                </a:cubicBezTo>
                <a:close/>
                <a:moveTo>
                  <a:pt x="49029" y="36772"/>
                </a:moveTo>
                <a:cubicBezTo>
                  <a:pt x="49029" y="29992"/>
                  <a:pt x="54507" y="24515"/>
                  <a:pt x="61287" y="24515"/>
                </a:cubicBezTo>
                <a:lnTo>
                  <a:pt x="134831" y="24515"/>
                </a:lnTo>
                <a:cubicBezTo>
                  <a:pt x="141611" y="24515"/>
                  <a:pt x="147088" y="29992"/>
                  <a:pt x="147088" y="36772"/>
                </a:cubicBezTo>
                <a:cubicBezTo>
                  <a:pt x="147088" y="43552"/>
                  <a:pt x="141611" y="49029"/>
                  <a:pt x="134831" y="49029"/>
                </a:cubicBezTo>
                <a:lnTo>
                  <a:pt x="61287" y="49029"/>
                </a:lnTo>
                <a:cubicBezTo>
                  <a:pt x="54507" y="49029"/>
                  <a:pt x="49029" y="43552"/>
                  <a:pt x="49029" y="36772"/>
                </a:cubicBezTo>
                <a:close/>
                <a:moveTo>
                  <a:pt x="61287" y="67416"/>
                </a:moveTo>
                <a:lnTo>
                  <a:pt x="110316" y="67416"/>
                </a:lnTo>
                <a:cubicBezTo>
                  <a:pt x="117096" y="67416"/>
                  <a:pt x="122574" y="72893"/>
                  <a:pt x="122574" y="79673"/>
                </a:cubicBezTo>
                <a:cubicBezTo>
                  <a:pt x="122574" y="86453"/>
                  <a:pt x="117096" y="91930"/>
                  <a:pt x="110316" y="91930"/>
                </a:cubicBezTo>
                <a:lnTo>
                  <a:pt x="61287" y="91930"/>
                </a:lnTo>
                <a:cubicBezTo>
                  <a:pt x="54507" y="91930"/>
                  <a:pt x="49029" y="86453"/>
                  <a:pt x="49029" y="79673"/>
                </a:cubicBezTo>
                <a:cubicBezTo>
                  <a:pt x="49029" y="72893"/>
                  <a:pt x="54507" y="67416"/>
                  <a:pt x="61287" y="67416"/>
                </a:cubicBezTo>
                <a:close/>
                <a:moveTo>
                  <a:pt x="61287" y="110316"/>
                </a:moveTo>
                <a:lnTo>
                  <a:pt x="159346" y="110316"/>
                </a:lnTo>
                <a:cubicBezTo>
                  <a:pt x="166126" y="110316"/>
                  <a:pt x="171603" y="115794"/>
                  <a:pt x="171603" y="122574"/>
                </a:cubicBezTo>
                <a:cubicBezTo>
                  <a:pt x="171603" y="129354"/>
                  <a:pt x="166126" y="134831"/>
                  <a:pt x="159346" y="134831"/>
                </a:cubicBezTo>
                <a:lnTo>
                  <a:pt x="61287" y="134831"/>
                </a:lnTo>
                <a:cubicBezTo>
                  <a:pt x="54507" y="134831"/>
                  <a:pt x="49029" y="129354"/>
                  <a:pt x="49029" y="122574"/>
                </a:cubicBezTo>
                <a:cubicBezTo>
                  <a:pt x="49029" y="115794"/>
                  <a:pt x="54507" y="110316"/>
                  <a:pt x="61287" y="110316"/>
                </a:cubicBezTo>
                <a:close/>
              </a:path>
            </a:pathLst>
          </a:custGeom>
          <a:solidFill xmlns:a="http://schemas.openxmlformats.org/drawingml/2006/main">
            <a:srgbClr val="E6B450"/>
          </a:solidFill>
        </p:spPr>
      </p:sp>
      <p:sp>
        <p:nvSpPr>
          <p:cNvPr id="49" name="矩形 48">
            <a:extLst xmlns:a="http://schemas.openxmlformats.org/drawingml/2006/main">
              <a:ext uri="{FF2B5EF4-FFF2-40B4-BE49-F238E27FC236}">
                <a16:creationId xmlns:a16="http://schemas.microsoft.com/office/drawing/2014/main" id="{535710CE-110A-F6B4-4B32-DC106A41601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文本框 49">
            <a:extLst xmlns:a="http://schemas.openxmlformats.org/drawingml/2006/main">
              <a:ext uri="{FF2B5EF4-FFF2-40B4-BE49-F238E27FC236}">
                <a16:creationId xmlns:a16="http://schemas.microsoft.com/office/drawing/2014/main" id="{135CB5FF-FD58-3C16-9361-8779CC15F5E7}"/>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7.3.1 </a:t>
            </a:r>
            <a:r>
              <a:rPr sz="2400" b="1">
                <a:solidFill>
                  <a:schemeClr val="accent1"/>
                </a:solidFill>
                <a:latin typeface="+mj-lt"/>
                <a:ea typeface="+mj-lt"/>
                <a:cs typeface="+mj-lt"/>
              </a:rPr>
              <a:t>避障控制</a:t>
            </a:r>
          </a:p>
        </p:txBody>
      </p:sp>
      <p:pic>
        <p:nvPicPr>
          <p:cNvPr id="60" name="图片 50"/>
          <p:cNvPicPr>
            <a:picLocks xmlns:a="http://schemas.openxmlformats.org/drawingml/2006/main" noChangeAspect="1"/>
          </p:cNvPicPr>
          <p:nvPr/>
        </p:nvPicPr>
        <p:blipFill>
          <a:blip xmlns:r="http://schemas.openxmlformats.org/officeDocument/2006/relationships" xmlns:a="http://schemas.openxmlformats.org/drawingml/2006/main" r:embed="R227a560498ba42ee"/>
          <a:srcRect xmlns:a="http://schemas.openxmlformats.org/drawingml/2006/main" l="0" t="1721" r="48011" b="0"/>
          <a:stretch xmlns:a="http://schemas.openxmlformats.org/drawingml/2006/main">
            <a:fillRect l="0" t="0" r="0" b="0"/>
          </a:stretch>
        </p:blipFill>
        <p:spPr>
          <a:xfrm xmlns:a="http://schemas.openxmlformats.org/drawingml/2006/main">
            <a:off x="8616933" y="1619576"/>
            <a:ext cx="3136917" cy="5146411"/>
          </a:xfrm>
          <a:prstGeom xmlns:a="http://schemas.openxmlformats.org/drawingml/2006/main" prst="rect">
            <a:avLst/>
          </a:prstGeom>
          <a:ln xmlns:a="http://schemas.openxmlformats.org/drawingml/2006/main">
            <a:noFill/>
          </a:ln>
        </p:spPr>
      </p:pic>
      <p:pic>
        <p:nvPicPr>
          <p:cNvPr id="61" name="图片 1"/>
          <p:cNvPicPr>
            <a:picLocks xmlns:a="http://schemas.openxmlformats.org/drawingml/2006/main" noChangeAspect="1"/>
          </p:cNvPicPr>
          <p:nvPr/>
        </p:nvPicPr>
        <p:blipFill>
          <a:blip xmlns:r="http://schemas.openxmlformats.org/officeDocument/2006/relationships" xmlns:a="http://schemas.openxmlformats.org/drawingml/2006/main" r:embed="R2fa7240628f34992"/>
          <a:srcRect xmlns:a="http://schemas.openxmlformats.org/drawingml/2006/main" l="0" t="0" r="0" b="0"/>
          <a:stretch xmlns:a="http://schemas.openxmlformats.org/drawingml/2006/main">
            <a:fillRect l="0" t="0" r="0" b="0"/>
          </a:stretch>
        </p:blipFill>
        <p:spPr>
          <a:xfrm xmlns:a="http://schemas.openxmlformats.org/drawingml/2006/main">
            <a:off x="2394522" y="3762008"/>
            <a:ext cx="6071236" cy="291285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6455846"/>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C066313A-96E2-4B8E-9D44-309FC6A0261E}"/>
              </a:ext>
            </a:extLst>
          </p:cNvPr>
          <p:cNvSpPr>
            <a:spLocks xmlns:a="http://schemas.openxmlformats.org/drawingml/2006/main" noGrp="1"/>
          </p:cNvSpPr>
          <p:nvPr/>
        </p:nvSpPr>
        <p:spPr>
          <a:xfrm xmlns:a="http://schemas.openxmlformats.org/drawingml/2006/main">
            <a:off x="355107" y="1725833"/>
            <a:ext cx="7981448" cy="1692726"/>
          </a:xfrm>
          <a:custGeom xmlns:a="http://schemas.openxmlformats.org/drawingml/2006/main">
            <a:rect l="l" t="t" r="r" b="b"/>
            <a:pathLst>
              <a:path w="7981448" h="1276693">
                <a:moveTo>
                  <a:pt x="33820" y="0"/>
                </a:moveTo>
                <a:lnTo>
                  <a:pt x="7879989" y="0"/>
                </a:lnTo>
                <a:cubicBezTo>
                  <a:pt x="7936023" y="0"/>
                  <a:pt x="7981448" y="45425"/>
                  <a:pt x="7981448" y="101459"/>
                </a:cubicBezTo>
                <a:lnTo>
                  <a:pt x="7981448" y="1175235"/>
                </a:lnTo>
                <a:cubicBezTo>
                  <a:pt x="7981448" y="1231269"/>
                  <a:pt x="7936023" y="1276693"/>
                  <a:pt x="7879989" y="1276693"/>
                </a:cubicBezTo>
                <a:lnTo>
                  <a:pt x="33820" y="1276693"/>
                </a:lnTo>
                <a:cubicBezTo>
                  <a:pt x="15142" y="1276693"/>
                  <a:pt x="0" y="1261552"/>
                  <a:pt x="0" y="1242874"/>
                </a:cubicBezTo>
                <a:lnTo>
                  <a:pt x="0" y="33820"/>
                </a:lnTo>
                <a:cubicBezTo>
                  <a:pt x="0" y="15142"/>
                  <a:pt x="15142" y="0"/>
                  <a:pt x="3382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F4298EE9-5CF1-4197-92E5-6DE049AE847B}"/>
              </a:ext>
            </a:extLst>
          </p:cNvPr>
          <p:cNvSpPr>
            <a:spLocks xmlns:a="http://schemas.openxmlformats.org/drawingml/2006/main" noGrp="1"/>
          </p:cNvSpPr>
          <p:nvPr/>
        </p:nvSpPr>
        <p:spPr>
          <a:xfrm xmlns:a="http://schemas.openxmlformats.org/drawingml/2006/main">
            <a:off x="355107" y="1725833"/>
            <a:ext cx="33820" cy="1692726"/>
          </a:xfrm>
          <a:custGeom xmlns:a="http://schemas.openxmlformats.org/drawingml/2006/main">
            <a:rect l="l" t="t" r="r" b="b"/>
            <a:pathLst>
              <a:path w="33820" h="1276693">
                <a:moveTo>
                  <a:pt x="33820" y="0"/>
                </a:moveTo>
                <a:lnTo>
                  <a:pt x="33820" y="0"/>
                </a:lnTo>
                <a:lnTo>
                  <a:pt x="33820" y="1276693"/>
                </a:lnTo>
                <a:lnTo>
                  <a:pt x="33820" y="1276693"/>
                </a:lnTo>
                <a:cubicBezTo>
                  <a:pt x="15142" y="1276693"/>
                  <a:pt x="0" y="1261552"/>
                  <a:pt x="0" y="1242874"/>
                </a:cubicBezTo>
                <a:lnTo>
                  <a:pt x="0" y="33820"/>
                </a:lnTo>
                <a:cubicBezTo>
                  <a:pt x="0" y="15142"/>
                  <a:pt x="15142" y="0"/>
                  <a:pt x="3382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F60656BA-6090-4C1A-ADD4-F7FDAFA9D8B2}"/>
              </a:ext>
            </a:extLst>
          </p:cNvPr>
          <p:cNvSpPr>
            <a:spLocks xmlns:a="http://schemas.openxmlformats.org/drawingml/2006/main" noGrp="1"/>
          </p:cNvSpPr>
          <p:nvPr/>
        </p:nvSpPr>
        <p:spPr>
          <a:xfrm xmlns:a="http://schemas.openxmlformats.org/drawingml/2006/main">
            <a:off x="549570" y="1962571"/>
            <a:ext cx="202918" cy="202918"/>
          </a:xfrm>
          <a:custGeom xmlns:a="http://schemas.openxmlformats.org/drawingml/2006/main">
            <a:rect l="l" t="t" r="r" b="b"/>
            <a:pathLst>
              <a:path w="202918" h="202918">
                <a:moveTo>
                  <a:pt x="164871" y="82436"/>
                </a:moveTo>
                <a:cubicBezTo>
                  <a:pt x="164871" y="100627"/>
                  <a:pt x="158966" y="117431"/>
                  <a:pt x="149018" y="131065"/>
                </a:cubicBezTo>
                <a:lnTo>
                  <a:pt x="199193" y="181279"/>
                </a:lnTo>
                <a:cubicBezTo>
                  <a:pt x="204147" y="186233"/>
                  <a:pt x="204147" y="194278"/>
                  <a:pt x="199193" y="199232"/>
                </a:cubicBezTo>
                <a:cubicBezTo>
                  <a:pt x="194239" y="204186"/>
                  <a:pt x="186193" y="204186"/>
                  <a:pt x="181239" y="199232"/>
                </a:cubicBezTo>
                <a:lnTo>
                  <a:pt x="131065" y="149018"/>
                </a:lnTo>
                <a:cubicBezTo>
                  <a:pt x="117431" y="158966"/>
                  <a:pt x="100627" y="164871"/>
                  <a:pt x="82436" y="164871"/>
                </a:cubicBezTo>
                <a:cubicBezTo>
                  <a:pt x="36898" y="164871"/>
                  <a:pt x="0" y="127973"/>
                  <a:pt x="0" y="82436"/>
                </a:cubicBezTo>
                <a:cubicBezTo>
                  <a:pt x="0" y="36898"/>
                  <a:pt x="36898" y="0"/>
                  <a:pt x="82436" y="0"/>
                </a:cubicBezTo>
                <a:cubicBezTo>
                  <a:pt x="127973" y="0"/>
                  <a:pt x="164871" y="36898"/>
                  <a:pt x="164871" y="82436"/>
                </a:cubicBezTo>
                <a:close/>
                <a:moveTo>
                  <a:pt x="82436" y="139506"/>
                </a:moveTo>
                <a:cubicBezTo>
                  <a:pt x="113934" y="139506"/>
                  <a:pt x="139506" y="113934"/>
                  <a:pt x="139506" y="82436"/>
                </a:cubicBezTo>
                <a:cubicBezTo>
                  <a:pt x="139506" y="50937"/>
                  <a:pt x="113934" y="25365"/>
                  <a:pt x="82436" y="25365"/>
                </a:cubicBezTo>
                <a:cubicBezTo>
                  <a:pt x="50937" y="25365"/>
                  <a:pt x="25365" y="50937"/>
                  <a:pt x="25365" y="82436"/>
                </a:cubicBezTo>
                <a:cubicBezTo>
                  <a:pt x="25365" y="113934"/>
                  <a:pt x="50937" y="139506"/>
                  <a:pt x="82436" y="139506"/>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89588EB0-6BAC-4E74-B3A2-5FC01D9B8365}"/>
              </a:ext>
            </a:extLst>
          </p:cNvPr>
          <p:cNvSpPr>
            <a:spLocks xmlns:a="http://schemas.openxmlformats.org/drawingml/2006/main" noGrp="1"/>
          </p:cNvSpPr>
          <p:nvPr/>
        </p:nvSpPr>
        <p:spPr>
          <a:xfrm xmlns:a="http://schemas.openxmlformats.org/drawingml/2006/main">
            <a:off x="863988" y="1928751"/>
            <a:ext cx="7372693" cy="2705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VFH </a:t>
            </a:r>
            <a:r>
              <a:rPr b="1">
                <a:latin typeface="微软雅黑"/>
                <a:ea typeface="微软雅黑"/>
                <a:cs typeface="微软雅黑"/>
              </a:rPr>
              <a:t>候选凹槽选择</a:t>
            </a:r>
            <a:endParaRPr/>
          </a:p>
        </p:txBody>
      </p:sp>
      <p:sp>
        <p:nvSpPr>
          <p:cNvPr id="9" name="Text 7">
            <a:extLst xmlns:a="http://schemas.openxmlformats.org/drawingml/2006/main">
              <a:ext uri="{FF2B5EF4-FFF2-40B4-BE49-F238E27FC236}">
                <a16:creationId xmlns:a16="http://schemas.microsoft.com/office/drawing/2014/main" id="{FB7AA5C8-BD04-40EB-AE27-AD2EFBAD479A}"/>
              </a:ext>
            </a:extLst>
          </p:cNvPr>
          <p:cNvSpPr>
            <a:spLocks xmlns:a="http://schemas.openxmlformats.org/drawingml/2006/main" noGrp="1"/>
          </p:cNvSpPr>
          <p:nvPr/>
        </p:nvSpPr>
        <p:spPr>
          <a:xfrm xmlns:a="http://schemas.openxmlformats.org/drawingml/2006/main">
            <a:off x="863988" y="2300768"/>
            <a:ext cx="7347329" cy="8551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从这个直方图中，可以计算出一个</a:t>
            </a:r>
            <a:r>
              <a:rPr sz="1600" b="1">
                <a:latin typeface="微软雅黑"/>
                <a:ea typeface="微软雅黑"/>
                <a:cs typeface="微软雅黑"/>
              </a:rPr>
              <a:t>候选凹槽</a:t>
            </a:r>
            <a:r>
              <a:rPr sz="1600">
                <a:latin typeface="微软雅黑"/>
                <a:ea typeface="微软雅黑"/>
                <a:cs typeface="微软雅黑"/>
              </a:rPr>
              <a:t>，它代表一个扇形区域，且在这个扇形区域中</a:t>
            </a:r>
            <a:r>
              <a:rPr sz="1600">
                <a:highlight>
                  <a:srgbClr val="E6B450">
                    <a:alpha val="20000"/>
                  </a:srgbClr>
                </a:highlight>
                <a:latin typeface="微软雅黑"/>
                <a:ea typeface="微软雅黑"/>
                <a:cs typeface="微软雅黑"/>
              </a:rPr>
              <a:t> 障碍物密度小于某个阈值 </a:t>
            </a:r>
            <a:r>
              <a:rPr sz="1600">
                <a:latin typeface="微软雅黑"/>
                <a:ea typeface="微软雅黑"/>
                <a:cs typeface="微软雅黑"/>
              </a:rPr>
              <a:t>。这个候选凹槽的选择遵循基于接近机器人</a:t>
            </a:r>
            <a:r>
              <a:rPr sz="1600">
                <a:highlight>
                  <a:srgbClr val="E6B450">
                    <a:alpha val="20000"/>
                  </a:srgbClr>
                </a:highlight>
                <a:latin typeface="微软雅黑"/>
                <a:ea typeface="微软雅黑"/>
                <a:cs typeface="微软雅黑"/>
              </a:rPr>
              <a:t> 期望路线 </a:t>
            </a:r>
            <a:r>
              <a:rPr sz="1600">
                <a:latin typeface="微软雅黑"/>
                <a:ea typeface="微软雅黑"/>
                <a:cs typeface="微软雅黑"/>
              </a:rPr>
              <a:t>的原则</a:t>
            </a:r>
            <a:r>
              <a:rPr sz="1600">
                <a:latin typeface="微软雅黑"/>
                <a:ea typeface="微软雅黑"/>
                <a:cs typeface="微软雅黑"/>
              </a:rPr>
              <a:t>。</a:t>
            </a:r>
            <a:r>
              <a:rPr sz="1600">
                <a:latin typeface="微软雅黑"/>
                <a:ea typeface="微软雅黑"/>
                <a:cs typeface="微软雅黑"/>
              </a:rPr>
              <a:t>根据目标方向， 凹槽</a:t>
            </a:r>
            <a:r>
              <a:rPr sz="1600">
                <a:latin typeface="微软雅黑"/>
                <a:ea typeface="微软雅黑"/>
                <a:cs typeface="微软雅黑"/>
              </a:rPr>
              <a:t>A</a:t>
            </a:r>
            <a:r>
              <a:rPr sz="1600">
                <a:latin typeface="微软雅黑"/>
                <a:ea typeface="微软雅黑"/>
                <a:cs typeface="微软雅黑"/>
              </a:rPr>
              <a:t>被选为机器人导航的候选方向。</a:t>
            </a:r>
            <a:endParaRPr sz="2000"/>
          </a:p>
        </p:txBody>
      </p:sp>
      <p:sp>
        <p:nvSpPr>
          <p:cNvPr id="31" name="矩形 30">
            <a:extLst xmlns:a="http://schemas.openxmlformats.org/drawingml/2006/main">
              <a:ext uri="{FF2B5EF4-FFF2-40B4-BE49-F238E27FC236}">
                <a16:creationId xmlns:a16="http://schemas.microsoft.com/office/drawing/2014/main" id="{0442365D-FDB2-C9A0-CCAE-6FE5B9C4569F}"/>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文本框 31">
            <a:extLst xmlns:a="http://schemas.openxmlformats.org/drawingml/2006/main">
              <a:ext uri="{FF2B5EF4-FFF2-40B4-BE49-F238E27FC236}">
                <a16:creationId xmlns:a16="http://schemas.microsoft.com/office/drawing/2014/main" id="{009BD4CC-4027-97B1-D61F-E9ED15204145}"/>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7.3.1 </a:t>
            </a:r>
            <a:r>
              <a:rPr sz="2400" b="1">
                <a:solidFill>
                  <a:schemeClr val="accent1"/>
                </a:solidFill>
                <a:latin typeface="+mj-lt"/>
                <a:ea typeface="+mj-lt"/>
                <a:cs typeface="+mj-lt"/>
              </a:rPr>
              <a:t>避障控制</a:t>
            </a:r>
          </a:p>
        </p:txBody>
      </p:sp>
      <p:pic>
        <p:nvPicPr>
          <p:cNvPr id="42" name="图片 32"/>
          <p:cNvPicPr>
            <a:picLocks xmlns:a="http://schemas.openxmlformats.org/drawingml/2006/main" noChangeAspect="1"/>
          </p:cNvPicPr>
          <p:nvPr/>
        </p:nvPicPr>
        <p:blipFill>
          <a:blip xmlns:r="http://schemas.openxmlformats.org/officeDocument/2006/relationships" xmlns:a="http://schemas.openxmlformats.org/drawingml/2006/main" r:embed="R5fb96021e2f943b2"/>
          <a:srcRect xmlns:a="http://schemas.openxmlformats.org/drawingml/2006/main" l="53823" t="1721" r="0" b="0"/>
          <a:stretch xmlns:a="http://schemas.openxmlformats.org/drawingml/2006/main">
            <a:fillRect l="0" t="0" r="0" b="0"/>
          </a:stretch>
        </p:blipFill>
        <p:spPr>
          <a:xfrm xmlns:a="http://schemas.openxmlformats.org/drawingml/2006/main">
            <a:off x="9239250" y="1267000"/>
            <a:ext cx="2786593" cy="5147021"/>
          </a:xfrm>
          <a:prstGeom xmlns:a="http://schemas.openxmlformats.org/drawingml/2006/main" prst="rect">
            <a:avLst/>
          </a:prstGeom>
          <a:ln xmlns:a="http://schemas.openxmlformats.org/drawingml/2006/main">
            <a:noFill/>
          </a:ln>
        </p:spPr>
      </p:pic>
      <p:pic>
        <p:nvPicPr>
          <p:cNvPr id="43" name="图片 34"/>
          <p:cNvPicPr>
            <a:picLocks xmlns:a="http://schemas.openxmlformats.org/drawingml/2006/main" noChangeAspect="1"/>
          </p:cNvPicPr>
          <p:nvPr/>
        </p:nvPicPr>
        <p:blipFill>
          <a:blip xmlns:r="http://schemas.openxmlformats.org/officeDocument/2006/relationships" xmlns:a="http://schemas.openxmlformats.org/drawingml/2006/main" r:embed="Rc502f0f0f0244885"/>
          <a:srcRect xmlns:a="http://schemas.openxmlformats.org/drawingml/2006/main" l="0" t="0" r="0" b="0"/>
          <a:stretch xmlns:a="http://schemas.openxmlformats.org/drawingml/2006/main">
            <a:fillRect l="0" t="0" r="0" b="0"/>
          </a:stretch>
        </p:blipFill>
        <p:spPr>
          <a:xfrm xmlns:a="http://schemas.openxmlformats.org/drawingml/2006/main">
            <a:off x="2394522" y="3762008"/>
            <a:ext cx="6071236" cy="291285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39436137"/>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97D498E1-75FB-4F63-B904-DEC057CEE93B}"/>
              </a:ext>
            </a:extLst>
          </p:cNvPr>
          <p:cNvSpPr>
            <a:spLocks xmlns:a="http://schemas.openxmlformats.org/drawingml/2006/main" noGrp="1"/>
          </p:cNvSpPr>
          <p:nvPr/>
        </p:nvSpPr>
        <p:spPr>
          <a:xfrm xmlns:a="http://schemas.openxmlformats.org/drawingml/2006/main">
            <a:off x="364978" y="1824026"/>
            <a:ext cx="7864405" cy="2154880"/>
          </a:xfrm>
          <a:custGeom xmlns:a="http://schemas.openxmlformats.org/drawingml/2006/main">
            <a:rect l="l" t="t" r="r" b="b"/>
            <a:pathLst>
              <a:path w="7864405" h="1564191">
                <a:moveTo>
                  <a:pt x="34760" y="0"/>
                </a:moveTo>
                <a:lnTo>
                  <a:pt x="7760120" y="0"/>
                </a:lnTo>
                <a:cubicBezTo>
                  <a:pt x="7817715" y="0"/>
                  <a:pt x="7864405" y="46690"/>
                  <a:pt x="7864405" y="104285"/>
                </a:cubicBezTo>
                <a:lnTo>
                  <a:pt x="7864405" y="1459906"/>
                </a:lnTo>
                <a:cubicBezTo>
                  <a:pt x="7864405" y="1517501"/>
                  <a:pt x="7817715" y="1564191"/>
                  <a:pt x="7760120" y="1564191"/>
                </a:cubicBezTo>
                <a:lnTo>
                  <a:pt x="34760" y="1564191"/>
                </a:lnTo>
                <a:cubicBezTo>
                  <a:pt x="15562" y="1564191"/>
                  <a:pt x="0" y="1548629"/>
                  <a:pt x="0" y="1529431"/>
                </a:cubicBezTo>
                <a:lnTo>
                  <a:pt x="0" y="34760"/>
                </a:lnTo>
                <a:cubicBezTo>
                  <a:pt x="0" y="15575"/>
                  <a:pt x="15575" y="0"/>
                  <a:pt x="3476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4A18F922-FDB4-427C-943E-B0DC76B761D5}"/>
              </a:ext>
            </a:extLst>
          </p:cNvPr>
          <p:cNvSpPr>
            <a:spLocks xmlns:a="http://schemas.openxmlformats.org/drawingml/2006/main" noGrp="1"/>
          </p:cNvSpPr>
          <p:nvPr/>
        </p:nvSpPr>
        <p:spPr>
          <a:xfrm xmlns:a="http://schemas.openxmlformats.org/drawingml/2006/main">
            <a:off x="364978" y="1824026"/>
            <a:ext cx="34760" cy="2154880"/>
          </a:xfrm>
          <a:custGeom xmlns:a="http://schemas.openxmlformats.org/drawingml/2006/main">
            <a:rect l="l" t="t" r="r" b="b"/>
            <a:pathLst>
              <a:path w="34760" h="1564191">
                <a:moveTo>
                  <a:pt x="34760" y="0"/>
                </a:moveTo>
                <a:lnTo>
                  <a:pt x="34760" y="0"/>
                </a:lnTo>
                <a:lnTo>
                  <a:pt x="34760" y="1564191"/>
                </a:lnTo>
                <a:lnTo>
                  <a:pt x="34760" y="1564191"/>
                </a:lnTo>
                <a:cubicBezTo>
                  <a:pt x="15562" y="1564191"/>
                  <a:pt x="0" y="1548629"/>
                  <a:pt x="0" y="1529431"/>
                </a:cubicBezTo>
                <a:lnTo>
                  <a:pt x="0" y="34760"/>
                </a:lnTo>
                <a:cubicBezTo>
                  <a:pt x="0" y="15575"/>
                  <a:pt x="15575" y="0"/>
                  <a:pt x="3476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8504B2B7-378B-4D74-9C83-4844AD4F39C8}"/>
              </a:ext>
            </a:extLst>
          </p:cNvPr>
          <p:cNvSpPr>
            <a:spLocks xmlns:a="http://schemas.openxmlformats.org/drawingml/2006/main" noGrp="1"/>
          </p:cNvSpPr>
          <p:nvPr/>
        </p:nvSpPr>
        <p:spPr>
          <a:xfrm xmlns:a="http://schemas.openxmlformats.org/drawingml/2006/main">
            <a:off x="560502" y="2067345"/>
            <a:ext cx="208559" cy="208559"/>
          </a:xfrm>
          <a:custGeom xmlns:a="http://schemas.openxmlformats.org/drawingml/2006/main">
            <a:rect l="l" t="t" r="r" b="b"/>
            <a:pathLst>
              <a:path w="208559" h="208559">
                <a:moveTo>
                  <a:pt x="104279" y="0"/>
                </a:moveTo>
                <a:cubicBezTo>
                  <a:pt x="110267" y="0"/>
                  <a:pt x="115766" y="3299"/>
                  <a:pt x="118618" y="8554"/>
                </a:cubicBezTo>
                <a:lnTo>
                  <a:pt x="206604" y="171491"/>
                </a:lnTo>
                <a:cubicBezTo>
                  <a:pt x="209333" y="176542"/>
                  <a:pt x="209211" y="182652"/>
                  <a:pt x="206278" y="187581"/>
                </a:cubicBezTo>
                <a:cubicBezTo>
                  <a:pt x="203345" y="192510"/>
                  <a:pt x="198009" y="195524"/>
                  <a:pt x="192265" y="195524"/>
                </a:cubicBezTo>
                <a:lnTo>
                  <a:pt x="16294" y="195524"/>
                </a:lnTo>
                <a:cubicBezTo>
                  <a:pt x="10550" y="195524"/>
                  <a:pt x="5255" y="192510"/>
                  <a:pt x="2281" y="187581"/>
                </a:cubicBezTo>
                <a:cubicBezTo>
                  <a:pt x="-692" y="182652"/>
                  <a:pt x="-774" y="176542"/>
                  <a:pt x="1955" y="171491"/>
                </a:cubicBezTo>
                <a:lnTo>
                  <a:pt x="89941" y="8554"/>
                </a:lnTo>
                <a:cubicBezTo>
                  <a:pt x="92792" y="3299"/>
                  <a:pt x="98291" y="0"/>
                  <a:pt x="104279" y="0"/>
                </a:cubicBezTo>
                <a:close/>
                <a:moveTo>
                  <a:pt x="104279" y="68433"/>
                </a:moveTo>
                <a:cubicBezTo>
                  <a:pt x="98862" y="68433"/>
                  <a:pt x="94503" y="72792"/>
                  <a:pt x="94503" y="78210"/>
                </a:cubicBezTo>
                <a:lnTo>
                  <a:pt x="94503" y="123832"/>
                </a:lnTo>
                <a:cubicBezTo>
                  <a:pt x="94503" y="129249"/>
                  <a:pt x="98862" y="133608"/>
                  <a:pt x="104279" y="133608"/>
                </a:cubicBezTo>
                <a:cubicBezTo>
                  <a:pt x="109697" y="133608"/>
                  <a:pt x="114056" y="129249"/>
                  <a:pt x="114056" y="123832"/>
                </a:cubicBezTo>
                <a:lnTo>
                  <a:pt x="114056" y="78210"/>
                </a:lnTo>
                <a:cubicBezTo>
                  <a:pt x="114056" y="72792"/>
                  <a:pt x="109697" y="68433"/>
                  <a:pt x="104279" y="68433"/>
                </a:cubicBezTo>
                <a:close/>
                <a:moveTo>
                  <a:pt x="115155" y="156419"/>
                </a:moveTo>
                <a:cubicBezTo>
                  <a:pt x="115403" y="152382"/>
                  <a:pt x="113390" y="148541"/>
                  <a:pt x="109929" y="146448"/>
                </a:cubicBezTo>
                <a:cubicBezTo>
                  <a:pt x="106468" y="144354"/>
                  <a:pt x="102131" y="144354"/>
                  <a:pt x="98671" y="146448"/>
                </a:cubicBezTo>
                <a:cubicBezTo>
                  <a:pt x="95210" y="148541"/>
                  <a:pt x="93197" y="152382"/>
                  <a:pt x="93444" y="156419"/>
                </a:cubicBezTo>
                <a:cubicBezTo>
                  <a:pt x="93197" y="160456"/>
                  <a:pt x="95210" y="164297"/>
                  <a:pt x="98671" y="166390"/>
                </a:cubicBezTo>
                <a:cubicBezTo>
                  <a:pt x="102131" y="168484"/>
                  <a:pt x="106468" y="168484"/>
                  <a:pt x="109929" y="166390"/>
                </a:cubicBezTo>
                <a:cubicBezTo>
                  <a:pt x="113390" y="164297"/>
                  <a:pt x="115403" y="160456"/>
                  <a:pt x="115155" y="156419"/>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0A72D831-32D4-4A93-886E-2F1F84B8867B}"/>
              </a:ext>
            </a:extLst>
          </p:cNvPr>
          <p:cNvSpPr>
            <a:spLocks xmlns:a="http://schemas.openxmlformats.org/drawingml/2006/main" noGrp="1"/>
          </p:cNvSpPr>
          <p:nvPr/>
        </p:nvSpPr>
        <p:spPr>
          <a:xfrm xmlns:a="http://schemas.openxmlformats.org/drawingml/2006/main">
            <a:off x="875377" y="2032585"/>
            <a:ext cx="7247418" cy="27807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局限性分析</a:t>
            </a:r>
            <a:endParaRPr/>
          </a:p>
        </p:txBody>
      </p:sp>
      <p:sp>
        <p:nvSpPr>
          <p:cNvPr id="9" name="Text 7">
            <a:extLst xmlns:a="http://schemas.openxmlformats.org/drawingml/2006/main">
              <a:ext uri="{FF2B5EF4-FFF2-40B4-BE49-F238E27FC236}">
                <a16:creationId xmlns:a16="http://schemas.microsoft.com/office/drawing/2014/main" id="{FC9FA898-01AB-4BC4-9131-A4FF22AAC725}"/>
              </a:ext>
            </a:extLst>
          </p:cNvPr>
          <p:cNvSpPr>
            <a:spLocks xmlns:a="http://schemas.openxmlformats.org/drawingml/2006/main" noGrp="1"/>
          </p:cNvSpPr>
          <p:nvPr/>
        </p:nvSpPr>
        <p:spPr>
          <a:xfrm xmlns:a="http://schemas.openxmlformats.org/drawingml/2006/main">
            <a:off x="875377" y="2414943"/>
            <a:ext cx="7221349" cy="1231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当然，VFH也有缺点和局限性。例如，它</a:t>
            </a:r>
            <a:r>
              <a:rPr sz="1600" b="1">
                <a:latin typeface="微软雅黑"/>
                <a:ea typeface="微软雅黑"/>
                <a:cs typeface="微软雅黑"/>
              </a:rPr>
              <a:t>不会实时搜索所有通往目的地的最优路径</a:t>
            </a:r>
            <a:r>
              <a:rPr sz="1600">
                <a:latin typeface="微软雅黑"/>
                <a:ea typeface="微软雅黑"/>
                <a:cs typeface="微软雅黑"/>
              </a:rPr>
              <a:t>，因为它仅仅用了</a:t>
            </a:r>
            <a:r>
              <a:rPr sz="1600">
                <a:highlight>
                  <a:srgbClr val="E6B450">
                    <a:alpha val="20000"/>
                  </a:srgbClr>
                </a:highlight>
                <a:latin typeface="微软雅黑"/>
                <a:ea typeface="微软雅黑"/>
                <a:cs typeface="微软雅黑"/>
              </a:rPr>
              <a:t> 局部信息 </a:t>
            </a:r>
            <a:r>
              <a:rPr sz="1600">
                <a:latin typeface="微软雅黑"/>
                <a:ea typeface="微软雅黑"/>
                <a:cs typeface="微软雅黑"/>
              </a:rPr>
              <a:t>而不是</a:t>
            </a:r>
            <a:r>
              <a:rPr sz="1600">
                <a:highlight>
                  <a:srgbClr val="E6B450">
                    <a:alpha val="20000"/>
                  </a:srgbClr>
                </a:highlight>
                <a:latin typeface="微软雅黑"/>
                <a:ea typeface="微软雅黑"/>
                <a:cs typeface="微软雅黑"/>
              </a:rPr>
              <a:t> 全局信息 </a:t>
            </a:r>
            <a:r>
              <a:rPr sz="1600">
                <a:latin typeface="微软雅黑"/>
                <a:ea typeface="微软雅黑"/>
                <a:cs typeface="微软雅黑"/>
              </a:rPr>
              <a:t>。由于VFH算法使用的裕度，机器人在通过狭窄空间时面临不能搜索到可通行路径的困难。而且VFH不能保证到达期望的位置，因为它仅仅使用局部信息。</a:t>
            </a:r>
            <a:endParaRPr sz="2000"/>
          </a:p>
        </p:txBody>
      </p:sp>
      <p:sp>
        <p:nvSpPr>
          <p:cNvPr id="22" name="Shape 20">
            <a:extLst xmlns:a="http://schemas.openxmlformats.org/drawingml/2006/main">
              <a:ext uri="{FF2B5EF4-FFF2-40B4-BE49-F238E27FC236}">
                <a16:creationId xmlns:a16="http://schemas.microsoft.com/office/drawing/2014/main" id="{1759354F-F6F6-4F5A-BD00-AE3687D5C429}"/>
              </a:ext>
            </a:extLst>
          </p:cNvPr>
          <p:cNvSpPr>
            <a:spLocks xmlns:a="http://schemas.openxmlformats.org/drawingml/2006/main" noGrp="1"/>
          </p:cNvSpPr>
          <p:nvPr/>
        </p:nvSpPr>
        <p:spPr>
          <a:xfrm xmlns:a="http://schemas.openxmlformats.org/drawingml/2006/main">
            <a:off x="364978" y="4724297"/>
            <a:ext cx="7864405" cy="1765403"/>
          </a:xfrm>
          <a:custGeom xmlns:a="http://schemas.openxmlformats.org/drawingml/2006/main">
            <a:rect l="l" t="t" r="r" b="b"/>
            <a:pathLst>
              <a:path w="7864405" h="1564191">
                <a:moveTo>
                  <a:pt x="34760" y="0"/>
                </a:moveTo>
                <a:lnTo>
                  <a:pt x="7760120" y="0"/>
                </a:lnTo>
                <a:cubicBezTo>
                  <a:pt x="7817715" y="0"/>
                  <a:pt x="7864405" y="46690"/>
                  <a:pt x="7864405" y="104285"/>
                </a:cubicBezTo>
                <a:lnTo>
                  <a:pt x="7864405" y="1459906"/>
                </a:lnTo>
                <a:cubicBezTo>
                  <a:pt x="7864405" y="1517501"/>
                  <a:pt x="7817715" y="1564191"/>
                  <a:pt x="7760120" y="1564191"/>
                </a:cubicBezTo>
                <a:lnTo>
                  <a:pt x="34760" y="1564191"/>
                </a:lnTo>
                <a:cubicBezTo>
                  <a:pt x="15562" y="1564191"/>
                  <a:pt x="0" y="1548629"/>
                  <a:pt x="0" y="1529431"/>
                </a:cubicBezTo>
                <a:lnTo>
                  <a:pt x="0" y="34760"/>
                </a:lnTo>
                <a:cubicBezTo>
                  <a:pt x="0" y="15575"/>
                  <a:pt x="15575" y="0"/>
                  <a:pt x="34760" y="0"/>
                </a:cubicBezTo>
                <a:close/>
              </a:path>
            </a:pathLst>
          </a:custGeom>
          <a:solidFill xmlns:a="http://schemas.openxmlformats.org/drawingml/2006/main">
            <a:srgbClr val="5F87A7">
              <a:alpha val="10196"/>
            </a:srgbClr>
          </a:solidFill>
        </p:spPr>
      </p:sp>
      <p:sp>
        <p:nvSpPr>
          <p:cNvPr id="23" name="Shape 21">
            <a:extLst xmlns:a="http://schemas.openxmlformats.org/drawingml/2006/main">
              <a:ext uri="{FF2B5EF4-FFF2-40B4-BE49-F238E27FC236}">
                <a16:creationId xmlns:a16="http://schemas.microsoft.com/office/drawing/2014/main" id="{D781D795-CC5A-45FA-87DE-F2B8DF41AE10}"/>
              </a:ext>
            </a:extLst>
          </p:cNvPr>
          <p:cNvSpPr>
            <a:spLocks xmlns:a="http://schemas.openxmlformats.org/drawingml/2006/main" noGrp="1"/>
          </p:cNvSpPr>
          <p:nvPr/>
        </p:nvSpPr>
        <p:spPr>
          <a:xfrm xmlns:a="http://schemas.openxmlformats.org/drawingml/2006/main">
            <a:off x="364978" y="4724297"/>
            <a:ext cx="34760" cy="1765403"/>
          </a:xfrm>
          <a:custGeom xmlns:a="http://schemas.openxmlformats.org/drawingml/2006/main">
            <a:rect l="l" t="t" r="r" b="b"/>
            <a:pathLst>
              <a:path w="34760" h="1564191">
                <a:moveTo>
                  <a:pt x="34760" y="0"/>
                </a:moveTo>
                <a:lnTo>
                  <a:pt x="34760" y="0"/>
                </a:lnTo>
                <a:lnTo>
                  <a:pt x="34760" y="1564191"/>
                </a:lnTo>
                <a:lnTo>
                  <a:pt x="34760" y="1564191"/>
                </a:lnTo>
                <a:cubicBezTo>
                  <a:pt x="15562" y="1564191"/>
                  <a:pt x="0" y="1548629"/>
                  <a:pt x="0" y="1529431"/>
                </a:cubicBezTo>
                <a:lnTo>
                  <a:pt x="0" y="34760"/>
                </a:lnTo>
                <a:cubicBezTo>
                  <a:pt x="0" y="15575"/>
                  <a:pt x="15575" y="0"/>
                  <a:pt x="34760" y="0"/>
                </a:cubicBezTo>
                <a:close/>
              </a:path>
            </a:pathLst>
          </a:custGeom>
          <a:solidFill xmlns:a="http://schemas.openxmlformats.org/drawingml/2006/main">
            <a:srgbClr val="E6B450"/>
          </a:solidFill>
        </p:spPr>
      </p:sp>
      <p:sp>
        <p:nvSpPr>
          <p:cNvPr id="24" name="Shape 22">
            <a:extLst xmlns:a="http://schemas.openxmlformats.org/drawingml/2006/main">
              <a:ext uri="{FF2B5EF4-FFF2-40B4-BE49-F238E27FC236}">
                <a16:creationId xmlns:a16="http://schemas.microsoft.com/office/drawing/2014/main" id="{8190358A-2F94-4B2F-B86D-33EBD2C83818}"/>
              </a:ext>
            </a:extLst>
          </p:cNvPr>
          <p:cNvSpPr>
            <a:spLocks xmlns:a="http://schemas.openxmlformats.org/drawingml/2006/main" noGrp="1"/>
          </p:cNvSpPr>
          <p:nvPr/>
        </p:nvSpPr>
        <p:spPr>
          <a:xfrm xmlns:a="http://schemas.openxmlformats.org/drawingml/2006/main">
            <a:off x="547467" y="4967615"/>
            <a:ext cx="234629" cy="208559"/>
          </a:xfrm>
          <a:custGeom xmlns:a="http://schemas.openxmlformats.org/drawingml/2006/main">
            <a:rect l="l" t="t" r="r" b="b"/>
            <a:pathLst>
              <a:path w="234629" h="208559">
                <a:moveTo>
                  <a:pt x="170880" y="39105"/>
                </a:moveTo>
                <a:cubicBezTo>
                  <a:pt x="164118" y="39105"/>
                  <a:pt x="157560" y="40938"/>
                  <a:pt x="151816" y="44278"/>
                </a:cubicBezTo>
                <a:cubicBezTo>
                  <a:pt x="145380" y="37761"/>
                  <a:pt x="137885" y="32302"/>
                  <a:pt x="129616" y="28188"/>
                </a:cubicBezTo>
                <a:cubicBezTo>
                  <a:pt x="141103" y="18412"/>
                  <a:pt x="155727" y="13035"/>
                  <a:pt x="170880" y="13035"/>
                </a:cubicBezTo>
                <a:cubicBezTo>
                  <a:pt x="206074" y="13035"/>
                  <a:pt x="234629" y="41549"/>
                  <a:pt x="234629" y="76784"/>
                </a:cubicBezTo>
                <a:cubicBezTo>
                  <a:pt x="234629" y="93689"/>
                  <a:pt x="227908" y="109901"/>
                  <a:pt x="215972" y="121836"/>
                </a:cubicBezTo>
                <a:lnTo>
                  <a:pt x="187010" y="150798"/>
                </a:lnTo>
                <a:cubicBezTo>
                  <a:pt x="175075" y="162733"/>
                  <a:pt x="158863" y="169454"/>
                  <a:pt x="141958" y="169454"/>
                </a:cubicBezTo>
                <a:cubicBezTo>
                  <a:pt x="106764" y="169454"/>
                  <a:pt x="78210" y="140940"/>
                  <a:pt x="78210" y="105705"/>
                </a:cubicBezTo>
                <a:cubicBezTo>
                  <a:pt x="78210" y="105094"/>
                  <a:pt x="78210" y="104483"/>
                  <a:pt x="78250" y="103872"/>
                </a:cubicBezTo>
                <a:cubicBezTo>
                  <a:pt x="78454" y="96662"/>
                  <a:pt x="84442" y="91000"/>
                  <a:pt x="91652" y="91204"/>
                </a:cubicBezTo>
                <a:cubicBezTo>
                  <a:pt x="98862" y="91407"/>
                  <a:pt x="104524" y="97395"/>
                  <a:pt x="104320" y="104605"/>
                </a:cubicBezTo>
                <a:cubicBezTo>
                  <a:pt x="104320" y="104972"/>
                  <a:pt x="104320" y="105338"/>
                  <a:pt x="104320" y="105664"/>
                </a:cubicBezTo>
                <a:cubicBezTo>
                  <a:pt x="104320" y="126480"/>
                  <a:pt x="121184" y="143343"/>
                  <a:pt x="141999" y="143343"/>
                </a:cubicBezTo>
                <a:cubicBezTo>
                  <a:pt x="151979" y="143343"/>
                  <a:pt x="161552" y="139392"/>
                  <a:pt x="168639" y="132304"/>
                </a:cubicBezTo>
                <a:lnTo>
                  <a:pt x="197601" y="103343"/>
                </a:lnTo>
                <a:cubicBezTo>
                  <a:pt x="204648" y="96296"/>
                  <a:pt x="208640" y="86682"/>
                  <a:pt x="208640" y="76702"/>
                </a:cubicBezTo>
                <a:cubicBezTo>
                  <a:pt x="208640" y="55887"/>
                  <a:pt x="191776" y="39023"/>
                  <a:pt x="170961" y="39023"/>
                </a:cubicBezTo>
                <a:close/>
                <a:moveTo>
                  <a:pt x="112100" y="70592"/>
                </a:moveTo>
                <a:cubicBezTo>
                  <a:pt x="111326" y="70266"/>
                  <a:pt x="110552" y="69818"/>
                  <a:pt x="109860" y="69330"/>
                </a:cubicBezTo>
                <a:cubicBezTo>
                  <a:pt x="104727" y="66682"/>
                  <a:pt x="98862" y="65175"/>
                  <a:pt x="92711" y="65175"/>
                </a:cubicBezTo>
                <a:cubicBezTo>
                  <a:pt x="82731" y="65175"/>
                  <a:pt x="73159" y="69126"/>
                  <a:pt x="66071" y="76214"/>
                </a:cubicBezTo>
                <a:lnTo>
                  <a:pt x="37109" y="105176"/>
                </a:lnTo>
                <a:cubicBezTo>
                  <a:pt x="30062" y="112223"/>
                  <a:pt x="26070" y="121836"/>
                  <a:pt x="26070" y="131816"/>
                </a:cubicBezTo>
                <a:cubicBezTo>
                  <a:pt x="26070" y="152631"/>
                  <a:pt x="42934" y="169495"/>
                  <a:pt x="63749" y="169495"/>
                </a:cubicBezTo>
                <a:cubicBezTo>
                  <a:pt x="70470" y="169495"/>
                  <a:pt x="77028" y="167702"/>
                  <a:pt x="82772" y="164362"/>
                </a:cubicBezTo>
                <a:cubicBezTo>
                  <a:pt x="89208" y="170880"/>
                  <a:pt x="96703" y="176338"/>
                  <a:pt x="105013" y="180452"/>
                </a:cubicBezTo>
                <a:cubicBezTo>
                  <a:pt x="93526" y="190188"/>
                  <a:pt x="78943" y="195605"/>
                  <a:pt x="63749" y="195605"/>
                </a:cubicBezTo>
                <a:cubicBezTo>
                  <a:pt x="28555" y="195605"/>
                  <a:pt x="0" y="167091"/>
                  <a:pt x="0" y="131856"/>
                </a:cubicBezTo>
                <a:cubicBezTo>
                  <a:pt x="0" y="114952"/>
                  <a:pt x="6721" y="98740"/>
                  <a:pt x="18656" y="86804"/>
                </a:cubicBezTo>
                <a:lnTo>
                  <a:pt x="47618" y="57842"/>
                </a:lnTo>
                <a:cubicBezTo>
                  <a:pt x="59553" y="45907"/>
                  <a:pt x="75766" y="39186"/>
                  <a:pt x="92670" y="39186"/>
                </a:cubicBezTo>
                <a:cubicBezTo>
                  <a:pt x="127946" y="39186"/>
                  <a:pt x="156419" y="67945"/>
                  <a:pt x="156419" y="103098"/>
                </a:cubicBezTo>
                <a:cubicBezTo>
                  <a:pt x="156419" y="103628"/>
                  <a:pt x="156419" y="104157"/>
                  <a:pt x="156419" y="104687"/>
                </a:cubicBezTo>
                <a:cubicBezTo>
                  <a:pt x="156256" y="111897"/>
                  <a:pt x="150268" y="117559"/>
                  <a:pt x="143058" y="117396"/>
                </a:cubicBezTo>
                <a:cubicBezTo>
                  <a:pt x="135848" y="117233"/>
                  <a:pt x="130186" y="111245"/>
                  <a:pt x="130349" y="104035"/>
                </a:cubicBezTo>
                <a:cubicBezTo>
                  <a:pt x="130349" y="103709"/>
                  <a:pt x="130349" y="103424"/>
                  <a:pt x="130349" y="103098"/>
                </a:cubicBezTo>
                <a:cubicBezTo>
                  <a:pt x="130349" y="89371"/>
                  <a:pt x="123017" y="77313"/>
                  <a:pt x="112100" y="70674"/>
                </a:cubicBezTo>
                <a:close/>
              </a:path>
            </a:pathLst>
          </a:custGeom>
          <a:solidFill xmlns:a="http://schemas.openxmlformats.org/drawingml/2006/main">
            <a:srgbClr val="E6B450"/>
          </a:solidFill>
        </p:spPr>
      </p:sp>
      <p:sp>
        <p:nvSpPr>
          <p:cNvPr id="25" name="Text 23">
            <a:extLst xmlns:a="http://schemas.openxmlformats.org/drawingml/2006/main">
              <a:ext uri="{FF2B5EF4-FFF2-40B4-BE49-F238E27FC236}">
                <a16:creationId xmlns:a16="http://schemas.microsoft.com/office/drawing/2014/main" id="{E6AB0D85-0C22-4217-BF13-B3036CC4FC12}"/>
              </a:ext>
            </a:extLst>
          </p:cNvPr>
          <p:cNvSpPr>
            <a:spLocks xmlns:a="http://schemas.openxmlformats.org/drawingml/2006/main" noGrp="1"/>
          </p:cNvSpPr>
          <p:nvPr/>
        </p:nvSpPr>
        <p:spPr>
          <a:xfrm xmlns:a="http://schemas.openxmlformats.org/drawingml/2006/main">
            <a:off x="875377" y="4932856"/>
            <a:ext cx="7247418" cy="27807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结合使用策略</a:t>
            </a:r>
            <a:endParaRPr/>
          </a:p>
        </p:txBody>
      </p:sp>
      <p:sp>
        <p:nvSpPr>
          <p:cNvPr id="26" name="Text 24">
            <a:extLst xmlns:a="http://schemas.openxmlformats.org/drawingml/2006/main">
              <a:ext uri="{FF2B5EF4-FFF2-40B4-BE49-F238E27FC236}">
                <a16:creationId xmlns:a16="http://schemas.microsoft.com/office/drawing/2014/main" id="{0EC51FF2-1835-4A94-8571-79ADC15F502C}"/>
              </a:ext>
            </a:extLst>
          </p:cNvPr>
          <p:cNvSpPr>
            <a:spLocks xmlns:a="http://schemas.openxmlformats.org/drawingml/2006/main" noGrp="1"/>
          </p:cNvSpPr>
          <p:nvPr/>
        </p:nvSpPr>
        <p:spPr>
          <a:xfrm xmlns:a="http://schemas.openxmlformats.org/drawingml/2006/main">
            <a:off x="875377" y="5315212"/>
            <a:ext cx="7221349" cy="93318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尽管VFH有上述缺点，为了得到通往目的地的路径，它在</a:t>
            </a:r>
            <a:r>
              <a:rPr sz="1600" b="1">
                <a:latin typeface="微软雅黑"/>
                <a:ea typeface="微软雅黑"/>
                <a:cs typeface="微软雅黑"/>
              </a:rPr>
              <a:t>实时避障</a:t>
            </a:r>
            <a:r>
              <a:rPr sz="1600">
                <a:latin typeface="微软雅黑"/>
                <a:ea typeface="微软雅黑"/>
                <a:cs typeface="微软雅黑"/>
              </a:rPr>
              <a:t>方面还是有广泛的应用。因为这个原因，VFH一般与能够规划一系列到达目的地前必须经过的</a:t>
            </a:r>
            <a:r>
              <a:rPr sz="1600">
                <a:highlight>
                  <a:srgbClr val="E6B450">
                    <a:alpha val="20000"/>
                  </a:srgbClr>
                </a:highlight>
                <a:latin typeface="微软雅黑"/>
                <a:ea typeface="微软雅黑"/>
                <a:cs typeface="微软雅黑"/>
              </a:rPr>
              <a:t> 航路点 </a:t>
            </a:r>
            <a:r>
              <a:rPr sz="1600">
                <a:latin typeface="微软雅黑"/>
                <a:ea typeface="微软雅黑"/>
                <a:cs typeface="微软雅黑"/>
              </a:rPr>
              <a:t>的路径规划器结合使用。VFH算法在避障的同时依次到达这些航线点。</a:t>
            </a:r>
            <a:endParaRPr sz="2000"/>
          </a:p>
        </p:txBody>
      </p:sp>
      <p:sp>
        <p:nvSpPr>
          <p:cNvPr id="53" name="矩形 52">
            <a:extLst xmlns:a="http://schemas.openxmlformats.org/drawingml/2006/main">
              <a:ext uri="{FF2B5EF4-FFF2-40B4-BE49-F238E27FC236}">
                <a16:creationId xmlns:a16="http://schemas.microsoft.com/office/drawing/2014/main" id="{988444E1-B7A5-8B5B-4114-F4443109A2CD}"/>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文本框 53">
            <a:extLst xmlns:a="http://schemas.openxmlformats.org/drawingml/2006/main">
              <a:ext uri="{FF2B5EF4-FFF2-40B4-BE49-F238E27FC236}">
                <a16:creationId xmlns:a16="http://schemas.microsoft.com/office/drawing/2014/main" id="{5A03413F-879C-D994-A3CF-0C1DD2855C41}"/>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7.3.1 </a:t>
            </a:r>
            <a:r>
              <a:rPr sz="2400" b="1">
                <a:solidFill>
                  <a:schemeClr val="accent1"/>
                </a:solidFill>
                <a:latin typeface="+mj-lt"/>
                <a:ea typeface="+mj-lt"/>
                <a:cs typeface="+mj-lt"/>
              </a:rPr>
              <a:t>避障控制</a:t>
            </a:r>
          </a:p>
        </p:txBody>
      </p:sp>
    </p:spTree>
    <p:extLst>
      <p:ext uri="{BB962C8B-B14F-4D97-AF65-F5344CB8AC3E}">
        <p14:creationId xmlns:p14="http://schemas.microsoft.com/office/powerpoint/2010/main" val="3288715444"/>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AF3916AC-BBD4-41EE-A722-C0DEBC591D17}"/>
              </a:ext>
            </a:extLst>
          </p:cNvPr>
          <p:cNvSpPr>
            <a:spLocks xmlns:a="http://schemas.openxmlformats.org/drawingml/2006/main" noGrp="1"/>
          </p:cNvSpPr>
          <p:nvPr/>
        </p:nvSpPr>
        <p:spPr>
          <a:xfrm xmlns:a="http://schemas.openxmlformats.org/drawingml/2006/main">
            <a:off x="343206" y="1743537"/>
            <a:ext cx="10750244" cy="1400608"/>
          </a:xfrm>
          <a:custGeom xmlns:a="http://schemas.openxmlformats.org/drawingml/2006/main">
            <a:rect l="l" t="t" r="r" b="b"/>
            <a:pathLst>
              <a:path w="8122552" h="1233909">
                <a:moveTo>
                  <a:pt x="32686" y="0"/>
                </a:moveTo>
                <a:lnTo>
                  <a:pt x="8024494" y="0"/>
                </a:lnTo>
                <a:cubicBezTo>
                  <a:pt x="8078650" y="0"/>
                  <a:pt x="8122552" y="43902"/>
                  <a:pt x="8122552" y="98059"/>
                </a:cubicBezTo>
                <a:lnTo>
                  <a:pt x="8122552" y="1135850"/>
                </a:lnTo>
                <a:cubicBezTo>
                  <a:pt x="8122552" y="1190006"/>
                  <a:pt x="8078650" y="1233909"/>
                  <a:pt x="8024494" y="1233909"/>
                </a:cubicBez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288C6ABB-48B4-440A-9DB2-8311BF795803}"/>
              </a:ext>
            </a:extLst>
          </p:cNvPr>
          <p:cNvSpPr>
            <a:spLocks xmlns:a="http://schemas.openxmlformats.org/drawingml/2006/main" noGrp="1"/>
          </p:cNvSpPr>
          <p:nvPr/>
        </p:nvSpPr>
        <p:spPr>
          <a:xfrm xmlns:a="http://schemas.openxmlformats.org/drawingml/2006/main">
            <a:off x="343206" y="1743537"/>
            <a:ext cx="37102" cy="1400608"/>
          </a:xfrm>
          <a:custGeom xmlns:a="http://schemas.openxmlformats.org/drawingml/2006/main">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B2F723D5-D12E-4AA0-A124-34DFD42324D1}"/>
              </a:ext>
            </a:extLst>
          </p:cNvPr>
          <p:cNvSpPr>
            <a:spLocks xmlns:a="http://schemas.openxmlformats.org/drawingml/2006/main" noGrp="1"/>
          </p:cNvSpPr>
          <p:nvPr/>
        </p:nvSpPr>
        <p:spPr>
          <a:xfrm xmlns:a="http://schemas.openxmlformats.org/drawingml/2006/main">
            <a:off x="561182" y="2003252"/>
            <a:ext cx="222613" cy="222613"/>
          </a:xfrm>
          <a:custGeom xmlns:a="http://schemas.openxmlformats.org/drawingml/2006/main">
            <a:rect l="l" t="t" r="r" b="b"/>
            <a:pathLst>
              <a:path w="196118" h="196118">
                <a:moveTo>
                  <a:pt x="24515" y="36772"/>
                </a:moveTo>
                <a:cubicBezTo>
                  <a:pt x="24515" y="29992"/>
                  <a:pt x="29992" y="24515"/>
                  <a:pt x="36772" y="24515"/>
                </a:cubicBezTo>
                <a:lnTo>
                  <a:pt x="98059" y="24515"/>
                </a:lnTo>
                <a:cubicBezTo>
                  <a:pt x="104839" y="24515"/>
                  <a:pt x="110316" y="29992"/>
                  <a:pt x="110316" y="36772"/>
                </a:cubicBezTo>
                <a:lnTo>
                  <a:pt x="110316" y="147088"/>
                </a:lnTo>
                <a:lnTo>
                  <a:pt x="147088" y="147088"/>
                </a:lnTo>
                <a:lnTo>
                  <a:pt x="147088" y="98059"/>
                </a:lnTo>
                <a:cubicBezTo>
                  <a:pt x="147088" y="91279"/>
                  <a:pt x="152566" y="85802"/>
                  <a:pt x="159346" y="85802"/>
                </a:cubicBezTo>
                <a:lnTo>
                  <a:pt x="183861" y="85802"/>
                </a:lnTo>
                <a:cubicBezTo>
                  <a:pt x="190640" y="85802"/>
                  <a:pt x="196118" y="91279"/>
                  <a:pt x="196118" y="98059"/>
                </a:cubicBezTo>
                <a:cubicBezTo>
                  <a:pt x="196118" y="104839"/>
                  <a:pt x="190640" y="110316"/>
                  <a:pt x="183861" y="110316"/>
                </a:cubicBezTo>
                <a:lnTo>
                  <a:pt x="171603" y="110316"/>
                </a:lnTo>
                <a:lnTo>
                  <a:pt x="171603" y="159346"/>
                </a:lnTo>
                <a:cubicBezTo>
                  <a:pt x="171603" y="166126"/>
                  <a:pt x="166126" y="171603"/>
                  <a:pt x="159346" y="171603"/>
                </a:cubicBezTo>
                <a:lnTo>
                  <a:pt x="98059" y="171603"/>
                </a:lnTo>
                <a:cubicBezTo>
                  <a:pt x="91279" y="171603"/>
                  <a:pt x="85802" y="166126"/>
                  <a:pt x="85802" y="159346"/>
                </a:cubicBezTo>
                <a:lnTo>
                  <a:pt x="85802" y="49029"/>
                </a:lnTo>
                <a:lnTo>
                  <a:pt x="49029" y="49029"/>
                </a:lnTo>
                <a:lnTo>
                  <a:pt x="49029" y="98059"/>
                </a:lnTo>
                <a:cubicBezTo>
                  <a:pt x="49029" y="104839"/>
                  <a:pt x="43552" y="110316"/>
                  <a:pt x="36772" y="110316"/>
                </a:cubicBezTo>
                <a:lnTo>
                  <a:pt x="12257" y="110316"/>
                </a:lnTo>
                <a:cubicBezTo>
                  <a:pt x="5478" y="110316"/>
                  <a:pt x="0" y="104839"/>
                  <a:pt x="0" y="98059"/>
                </a:cubicBezTo>
                <a:cubicBezTo>
                  <a:pt x="0" y="91279"/>
                  <a:pt x="5478" y="85802"/>
                  <a:pt x="12257" y="85802"/>
                </a:cubicBezTo>
                <a:lnTo>
                  <a:pt x="24515" y="85802"/>
                </a:lnTo>
                <a:lnTo>
                  <a:pt x="24515" y="36772"/>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4A46B0F1-467F-48FA-8FCD-5FF1A513AFD0}"/>
              </a:ext>
            </a:extLst>
          </p:cNvPr>
          <p:cNvSpPr>
            <a:spLocks xmlns:a="http://schemas.openxmlformats.org/drawingml/2006/main" noGrp="1"/>
          </p:cNvSpPr>
          <p:nvPr/>
        </p:nvSpPr>
        <p:spPr>
          <a:xfrm xmlns:a="http://schemas.openxmlformats.org/drawingml/2006/main">
            <a:off x="904812" y="1966150"/>
            <a:ext cx="8542780" cy="29681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路径平滑的必要性</a:t>
            </a:r>
            <a:endParaRPr sz="2000"/>
          </a:p>
        </p:txBody>
      </p:sp>
      <p:sp>
        <p:nvSpPr>
          <p:cNvPr id="9" name="Text 7">
            <a:extLst xmlns:a="http://schemas.openxmlformats.org/drawingml/2006/main">
              <a:ext uri="{FF2B5EF4-FFF2-40B4-BE49-F238E27FC236}">
                <a16:creationId xmlns:a16="http://schemas.microsoft.com/office/drawing/2014/main" id="{5C705DD2-21B0-442B-8F1A-D966F3931626}"/>
              </a:ext>
            </a:extLst>
          </p:cNvPr>
          <p:cNvSpPr>
            <a:spLocks xmlns:a="http://schemas.openxmlformats.org/drawingml/2006/main" noGrp="1"/>
          </p:cNvSpPr>
          <p:nvPr/>
        </p:nvSpPr>
        <p:spPr>
          <a:xfrm xmlns:a="http://schemas.openxmlformats.org/drawingml/2006/main">
            <a:off x="904812" y="2374274"/>
            <a:ext cx="9880123" cy="54725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全局路径规划（例如A*算法）算法计算路径完毕后，其结果是一串用来表示所经过的</a:t>
            </a:r>
            <a:r>
              <a:rPr sz="1600" b="1">
                <a:latin typeface="微软雅黑"/>
                <a:ea typeface="微软雅黑"/>
                <a:cs typeface="微软雅黑"/>
              </a:rPr>
              <a:t>路径点的坐标</a:t>
            </a:r>
            <a:r>
              <a:rPr sz="1600">
                <a:latin typeface="微软雅黑"/>
                <a:ea typeface="微软雅黑"/>
                <a:cs typeface="微软雅黑"/>
              </a:rPr>
              <a:t>，但这样的路径通常是有</a:t>
            </a:r>
            <a:r>
              <a:rPr sz="1600">
                <a:highlight>
                  <a:srgbClr val="E6B450">
                    <a:alpha val="20000"/>
                  </a:srgbClr>
                </a:highlight>
                <a:latin typeface="微软雅黑"/>
                <a:ea typeface="微软雅黑"/>
                <a:cs typeface="微软雅黑"/>
              </a:rPr>
              <a:t> "锯齿"形状 </a:t>
            </a:r>
            <a:r>
              <a:rPr sz="1600">
                <a:latin typeface="微软雅黑"/>
                <a:ea typeface="微软雅黑"/>
                <a:cs typeface="微软雅黑"/>
              </a:rPr>
              <a:t>的，并不符合实际需求，因此需要进行</a:t>
            </a:r>
            <a:r>
              <a:rPr sz="1600" b="1">
                <a:latin typeface="微软雅黑"/>
                <a:ea typeface="微软雅黑"/>
                <a:cs typeface="微软雅黑"/>
              </a:rPr>
              <a:t>平滑处理</a:t>
            </a:r>
            <a:r>
              <a:rPr sz="1600">
                <a:latin typeface="微软雅黑"/>
                <a:ea typeface="微软雅黑"/>
                <a:cs typeface="微软雅黑"/>
              </a:rPr>
              <a:t>。</a:t>
            </a:r>
            <a:endParaRPr sz="2400"/>
          </a:p>
        </p:txBody>
      </p:sp>
      <p:sp>
        <p:nvSpPr>
          <p:cNvPr id="10" name="Shape 8">
            <a:extLst xmlns:a="http://schemas.openxmlformats.org/drawingml/2006/main">
              <a:ext uri="{FF2B5EF4-FFF2-40B4-BE49-F238E27FC236}">
                <a16:creationId xmlns:a16="http://schemas.microsoft.com/office/drawing/2014/main" id="{AC6E9CB0-F35B-450B-AB3F-22EBF281C8AC}"/>
              </a:ext>
            </a:extLst>
          </p:cNvPr>
          <p:cNvSpPr>
            <a:spLocks xmlns:a="http://schemas.openxmlformats.org/drawingml/2006/main" noGrp="1"/>
          </p:cNvSpPr>
          <p:nvPr/>
        </p:nvSpPr>
        <p:spPr>
          <a:xfrm xmlns:a="http://schemas.openxmlformats.org/drawingml/2006/main">
            <a:off x="343206" y="3362120"/>
            <a:ext cx="10750244" cy="1400608"/>
          </a:xfrm>
          <a:custGeom xmlns:a="http://schemas.openxmlformats.org/drawingml/2006/main">
            <a:rect l="l" t="t" r="r" b="b"/>
            <a:pathLst>
              <a:path w="8122552" h="1233909">
                <a:moveTo>
                  <a:pt x="32686" y="0"/>
                </a:moveTo>
                <a:lnTo>
                  <a:pt x="8024494" y="0"/>
                </a:lnTo>
                <a:cubicBezTo>
                  <a:pt x="8078650" y="0"/>
                  <a:pt x="8122552" y="43902"/>
                  <a:pt x="8122552" y="98059"/>
                </a:cubicBezTo>
                <a:lnTo>
                  <a:pt x="8122552" y="1135850"/>
                </a:lnTo>
                <a:cubicBezTo>
                  <a:pt x="8122552" y="1190006"/>
                  <a:pt x="8078650" y="1233909"/>
                  <a:pt x="8024494" y="1233909"/>
                </a:cubicBez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85A46488-E528-4C63-B205-32EBA2EFCF3C}"/>
              </a:ext>
            </a:extLst>
          </p:cNvPr>
          <p:cNvSpPr>
            <a:spLocks xmlns:a="http://schemas.openxmlformats.org/drawingml/2006/main" noGrp="1"/>
          </p:cNvSpPr>
          <p:nvPr/>
        </p:nvSpPr>
        <p:spPr>
          <a:xfrm xmlns:a="http://schemas.openxmlformats.org/drawingml/2006/main">
            <a:off x="343206" y="3362120"/>
            <a:ext cx="37102" cy="1400608"/>
          </a:xfrm>
          <a:custGeom xmlns:a="http://schemas.openxmlformats.org/drawingml/2006/main">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7284FD12-4727-4BDC-9FCA-8A52B177EF10}"/>
              </a:ext>
            </a:extLst>
          </p:cNvPr>
          <p:cNvSpPr>
            <a:spLocks xmlns:a="http://schemas.openxmlformats.org/drawingml/2006/main" noGrp="1"/>
          </p:cNvSpPr>
          <p:nvPr/>
        </p:nvSpPr>
        <p:spPr>
          <a:xfrm xmlns:a="http://schemas.openxmlformats.org/drawingml/2006/main">
            <a:off x="524079" y="3621835"/>
            <a:ext cx="278266" cy="222613"/>
          </a:xfrm>
          <a:custGeom xmlns:a="http://schemas.openxmlformats.org/drawingml/2006/main">
            <a:rect l="l" t="t" r="r" b="b"/>
            <a:pathLst>
              <a:path w="245147" h="196118">
                <a:moveTo>
                  <a:pt x="113381" y="52094"/>
                </a:moveTo>
                <a:lnTo>
                  <a:pt x="113381" y="33708"/>
                </a:lnTo>
                <a:lnTo>
                  <a:pt x="131767" y="33708"/>
                </a:lnTo>
                <a:lnTo>
                  <a:pt x="131767" y="52094"/>
                </a:lnTo>
                <a:lnTo>
                  <a:pt x="113381" y="52094"/>
                </a:lnTo>
                <a:close/>
                <a:moveTo>
                  <a:pt x="110316" y="12257"/>
                </a:moveTo>
                <a:cubicBezTo>
                  <a:pt x="100166" y="12257"/>
                  <a:pt x="91930" y="20493"/>
                  <a:pt x="91930" y="30643"/>
                </a:cubicBezTo>
                <a:lnTo>
                  <a:pt x="91930" y="32176"/>
                </a:lnTo>
                <a:lnTo>
                  <a:pt x="46578" y="32176"/>
                </a:lnTo>
                <a:cubicBezTo>
                  <a:pt x="42594" y="24017"/>
                  <a:pt x="34206" y="18386"/>
                  <a:pt x="24515" y="18386"/>
                </a:cubicBezTo>
                <a:cubicBezTo>
                  <a:pt x="10993" y="18386"/>
                  <a:pt x="0" y="29379"/>
                  <a:pt x="0" y="42901"/>
                </a:cubicBezTo>
                <a:cubicBezTo>
                  <a:pt x="0" y="56422"/>
                  <a:pt x="10993" y="67416"/>
                  <a:pt x="24515" y="67416"/>
                </a:cubicBezTo>
                <a:cubicBezTo>
                  <a:pt x="34206" y="67416"/>
                  <a:pt x="42594" y="61785"/>
                  <a:pt x="46578" y="53626"/>
                </a:cubicBezTo>
                <a:lnTo>
                  <a:pt x="72204" y="53626"/>
                </a:lnTo>
                <a:cubicBezTo>
                  <a:pt x="49642" y="68795"/>
                  <a:pt x="34321" y="93846"/>
                  <a:pt x="32367" y="122574"/>
                </a:cubicBezTo>
                <a:lnTo>
                  <a:pt x="30643" y="122574"/>
                </a:lnTo>
                <a:cubicBezTo>
                  <a:pt x="20493" y="122574"/>
                  <a:pt x="12257" y="130809"/>
                  <a:pt x="12257" y="140960"/>
                </a:cubicBezTo>
                <a:lnTo>
                  <a:pt x="12257" y="165475"/>
                </a:lnTo>
                <a:cubicBezTo>
                  <a:pt x="12257" y="175625"/>
                  <a:pt x="20493" y="183861"/>
                  <a:pt x="30643" y="183861"/>
                </a:cubicBezTo>
                <a:lnTo>
                  <a:pt x="55158" y="183861"/>
                </a:lnTo>
                <a:cubicBezTo>
                  <a:pt x="65309" y="183861"/>
                  <a:pt x="73544" y="175625"/>
                  <a:pt x="73544" y="165475"/>
                </a:cubicBezTo>
                <a:lnTo>
                  <a:pt x="73544" y="140960"/>
                </a:lnTo>
                <a:cubicBezTo>
                  <a:pt x="73544" y="130809"/>
                  <a:pt x="65309" y="122574"/>
                  <a:pt x="55158" y="122574"/>
                </a:cubicBezTo>
                <a:lnTo>
                  <a:pt x="53894" y="122574"/>
                </a:lnTo>
                <a:cubicBezTo>
                  <a:pt x="56154" y="96910"/>
                  <a:pt x="72472" y="75306"/>
                  <a:pt x="95071" y="65462"/>
                </a:cubicBezTo>
                <a:cubicBezTo>
                  <a:pt x="98365" y="70327"/>
                  <a:pt x="103958" y="73544"/>
                  <a:pt x="110316" y="73544"/>
                </a:cubicBezTo>
                <a:lnTo>
                  <a:pt x="134831" y="73544"/>
                </a:lnTo>
                <a:cubicBezTo>
                  <a:pt x="141190" y="73544"/>
                  <a:pt x="146744" y="70327"/>
                  <a:pt x="150076" y="65462"/>
                </a:cubicBezTo>
                <a:cubicBezTo>
                  <a:pt x="172676" y="75306"/>
                  <a:pt x="188993" y="96910"/>
                  <a:pt x="191253" y="122574"/>
                </a:cubicBezTo>
                <a:lnTo>
                  <a:pt x="189989" y="122574"/>
                </a:lnTo>
                <a:cubicBezTo>
                  <a:pt x="179839" y="122574"/>
                  <a:pt x="171603" y="130809"/>
                  <a:pt x="171603" y="140960"/>
                </a:cubicBezTo>
                <a:lnTo>
                  <a:pt x="171603" y="165475"/>
                </a:lnTo>
                <a:cubicBezTo>
                  <a:pt x="171603" y="175625"/>
                  <a:pt x="179839" y="183861"/>
                  <a:pt x="189989" y="183861"/>
                </a:cubicBezTo>
                <a:lnTo>
                  <a:pt x="214504" y="183861"/>
                </a:lnTo>
                <a:cubicBezTo>
                  <a:pt x="224655" y="183861"/>
                  <a:pt x="232890" y="175625"/>
                  <a:pt x="232890" y="165475"/>
                </a:cubicBezTo>
                <a:lnTo>
                  <a:pt x="232890" y="140960"/>
                </a:lnTo>
                <a:cubicBezTo>
                  <a:pt x="232890" y="130809"/>
                  <a:pt x="224655" y="122574"/>
                  <a:pt x="214504" y="122574"/>
                </a:cubicBezTo>
                <a:lnTo>
                  <a:pt x="212780" y="122574"/>
                </a:lnTo>
                <a:cubicBezTo>
                  <a:pt x="210865" y="93846"/>
                  <a:pt x="195505" y="68795"/>
                  <a:pt x="172944" y="53626"/>
                </a:cubicBezTo>
                <a:lnTo>
                  <a:pt x="198569" y="53626"/>
                </a:lnTo>
                <a:cubicBezTo>
                  <a:pt x="202553" y="61785"/>
                  <a:pt x="210942" y="67416"/>
                  <a:pt x="220633" y="67416"/>
                </a:cubicBezTo>
                <a:cubicBezTo>
                  <a:pt x="234154" y="67416"/>
                  <a:pt x="245147" y="56422"/>
                  <a:pt x="245147" y="42901"/>
                </a:cubicBezTo>
                <a:cubicBezTo>
                  <a:pt x="245147" y="29379"/>
                  <a:pt x="234154" y="18386"/>
                  <a:pt x="220633" y="18386"/>
                </a:cubicBezTo>
                <a:cubicBezTo>
                  <a:pt x="210942" y="18386"/>
                  <a:pt x="202553" y="24017"/>
                  <a:pt x="198569" y="32176"/>
                </a:cubicBezTo>
                <a:lnTo>
                  <a:pt x="153217" y="32176"/>
                </a:lnTo>
                <a:lnTo>
                  <a:pt x="153217" y="30643"/>
                </a:lnTo>
                <a:cubicBezTo>
                  <a:pt x="153217" y="20493"/>
                  <a:pt x="144982" y="12257"/>
                  <a:pt x="134831" y="12257"/>
                </a:cubicBezTo>
                <a:lnTo>
                  <a:pt x="110316" y="12257"/>
                </a:lnTo>
                <a:close/>
                <a:moveTo>
                  <a:pt x="33708" y="144024"/>
                </a:moveTo>
                <a:lnTo>
                  <a:pt x="52094" y="144024"/>
                </a:lnTo>
                <a:lnTo>
                  <a:pt x="52094" y="162410"/>
                </a:lnTo>
                <a:lnTo>
                  <a:pt x="33708" y="162410"/>
                </a:lnTo>
                <a:lnTo>
                  <a:pt x="33708" y="144024"/>
                </a:lnTo>
                <a:close/>
                <a:moveTo>
                  <a:pt x="193054" y="162410"/>
                </a:moveTo>
                <a:lnTo>
                  <a:pt x="193054" y="144024"/>
                </a:lnTo>
                <a:lnTo>
                  <a:pt x="211440" y="144024"/>
                </a:lnTo>
                <a:lnTo>
                  <a:pt x="211440" y="162410"/>
                </a:lnTo>
                <a:lnTo>
                  <a:pt x="193054" y="162410"/>
                </a:ln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8E3BFC5E-9103-43D1-AD26-F2A7BFA39402}"/>
              </a:ext>
            </a:extLst>
          </p:cNvPr>
          <p:cNvSpPr>
            <a:spLocks xmlns:a="http://schemas.openxmlformats.org/drawingml/2006/main" noGrp="1"/>
          </p:cNvSpPr>
          <p:nvPr/>
        </p:nvSpPr>
        <p:spPr>
          <a:xfrm xmlns:a="http://schemas.openxmlformats.org/drawingml/2006/main">
            <a:off x="894377" y="3584733"/>
            <a:ext cx="8552054" cy="29681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贝塞尔曲线介绍</a:t>
            </a:r>
            <a:endParaRPr sz="2000"/>
          </a:p>
        </p:txBody>
      </p:sp>
      <p:sp>
        <p:nvSpPr>
          <p:cNvPr id="14" name="Text 12">
            <a:extLst xmlns:a="http://schemas.openxmlformats.org/drawingml/2006/main">
              <a:ext uri="{FF2B5EF4-FFF2-40B4-BE49-F238E27FC236}">
                <a16:creationId xmlns:a16="http://schemas.microsoft.com/office/drawing/2014/main" id="{6D83FC5C-B1B8-4183-B0A2-D89F94CAD6D7}"/>
              </a:ext>
            </a:extLst>
          </p:cNvPr>
          <p:cNvSpPr>
            <a:spLocks xmlns:a="http://schemas.openxmlformats.org/drawingml/2006/main" noGrp="1"/>
          </p:cNvSpPr>
          <p:nvPr/>
        </p:nvSpPr>
        <p:spPr>
          <a:xfrm xmlns:a="http://schemas.openxmlformats.org/drawingml/2006/main">
            <a:off x="894377" y="3992857"/>
            <a:ext cx="9890886" cy="54725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路径平滑处理的相关算法有：</a:t>
            </a:r>
            <a:r>
              <a:rPr sz="1600">
                <a:highlight>
                  <a:srgbClr val="E6B450">
                    <a:alpha val="20000"/>
                  </a:srgbClr>
                </a:highlight>
                <a:latin typeface="微软雅黑"/>
                <a:ea typeface="微软雅黑"/>
                <a:cs typeface="微软雅黑"/>
              </a:rPr>
              <a:t> 佛洛依德算法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贝塞尔曲线 </a:t>
            </a:r>
            <a:r>
              <a:rPr sz="1600">
                <a:latin typeface="微软雅黑"/>
                <a:ea typeface="微软雅黑"/>
                <a:cs typeface="微软雅黑"/>
              </a:rPr>
              <a:t>等，本节将针对贝塞尔曲线进行介绍。</a:t>
            </a:r>
            <a:r>
              <a:rPr sz="1600" b="1">
                <a:latin typeface="微软雅黑"/>
                <a:ea typeface="微软雅黑"/>
                <a:cs typeface="微软雅黑"/>
              </a:rPr>
              <a:t>贝塞尔曲线(Bezier curve)</a:t>
            </a:r>
            <a:r>
              <a:rPr sz="1600">
                <a:latin typeface="微软雅黑"/>
                <a:ea typeface="微软雅黑"/>
                <a:cs typeface="微软雅黑"/>
              </a:rPr>
              <a:t>，又称贝兹曲线或贝济埃曲线，是应用于二维图形应用程序的数学曲线。</a:t>
            </a:r>
            <a:endParaRPr sz="2400"/>
          </a:p>
        </p:txBody>
      </p:sp>
      <p:sp>
        <p:nvSpPr>
          <p:cNvPr id="15" name="Shape 13">
            <a:extLst xmlns:a="http://schemas.openxmlformats.org/drawingml/2006/main">
              <a:ext uri="{FF2B5EF4-FFF2-40B4-BE49-F238E27FC236}">
                <a16:creationId xmlns:a16="http://schemas.microsoft.com/office/drawing/2014/main" id="{1313F759-9A77-4DD3-9283-A8F5D1E7E375}"/>
              </a:ext>
            </a:extLst>
          </p:cNvPr>
          <p:cNvSpPr>
            <a:spLocks xmlns:a="http://schemas.openxmlformats.org/drawingml/2006/main" noGrp="1"/>
          </p:cNvSpPr>
          <p:nvPr/>
        </p:nvSpPr>
        <p:spPr>
          <a:xfrm xmlns:a="http://schemas.openxmlformats.org/drawingml/2006/main">
            <a:off x="343206" y="4980703"/>
            <a:ext cx="10750244" cy="1669599"/>
          </a:xfrm>
          <a:custGeom xmlns:a="http://schemas.openxmlformats.org/drawingml/2006/main">
            <a:rect l="l" t="t" r="r" b="b"/>
            <a:pathLst>
              <a:path w="8122552" h="1470885">
                <a:moveTo>
                  <a:pt x="32686" y="0"/>
                </a:moveTo>
                <a:lnTo>
                  <a:pt x="8024488" y="0"/>
                </a:lnTo>
                <a:cubicBezTo>
                  <a:pt x="8078648" y="0"/>
                  <a:pt x="8122552" y="43905"/>
                  <a:pt x="8122552" y="98064"/>
                </a:cubicBezTo>
                <a:lnTo>
                  <a:pt x="8122552" y="1372821"/>
                </a:lnTo>
                <a:cubicBezTo>
                  <a:pt x="8122552" y="1426980"/>
                  <a:pt x="8078648" y="1470885"/>
                  <a:pt x="8024488" y="1470885"/>
                </a:cubicBezTo>
                <a:lnTo>
                  <a:pt x="32686" y="1470885"/>
                </a:lnTo>
                <a:cubicBezTo>
                  <a:pt x="14634" y="1470885"/>
                  <a:pt x="0" y="1456251"/>
                  <a:pt x="0" y="1438198"/>
                </a:cubicBezTo>
                <a:lnTo>
                  <a:pt x="0" y="32686"/>
                </a:lnTo>
                <a:cubicBezTo>
                  <a:pt x="0" y="14646"/>
                  <a:pt x="14646" y="0"/>
                  <a:pt x="32686" y="0"/>
                </a:cubicBezTo>
                <a:close/>
              </a:path>
            </a:pathLst>
          </a:custGeom>
          <a:solidFill xmlns:a="http://schemas.openxmlformats.org/drawingml/2006/main">
            <a:srgbClr val="5F87A7">
              <a:alpha val="10196"/>
            </a:srgbClr>
          </a:solidFill>
        </p:spPr>
      </p:sp>
      <p:sp>
        <p:nvSpPr>
          <p:cNvPr id="16" name="Shape 14">
            <a:extLst xmlns:a="http://schemas.openxmlformats.org/drawingml/2006/main">
              <a:ext uri="{FF2B5EF4-FFF2-40B4-BE49-F238E27FC236}">
                <a16:creationId xmlns:a16="http://schemas.microsoft.com/office/drawing/2014/main" id="{90AC006C-F10B-4764-8143-E2E6D3308A9B}"/>
              </a:ext>
            </a:extLst>
          </p:cNvPr>
          <p:cNvSpPr>
            <a:spLocks xmlns:a="http://schemas.openxmlformats.org/drawingml/2006/main" noGrp="1"/>
          </p:cNvSpPr>
          <p:nvPr/>
        </p:nvSpPr>
        <p:spPr>
          <a:xfrm xmlns:a="http://schemas.openxmlformats.org/drawingml/2006/main">
            <a:off x="343206" y="4980703"/>
            <a:ext cx="37102" cy="1669599"/>
          </a:xfrm>
          <a:custGeom xmlns:a="http://schemas.openxmlformats.org/drawingml/2006/main">
            <a:rect l="l" t="t" r="r" b="b"/>
            <a:pathLst>
              <a:path w="32686" h="1470885">
                <a:moveTo>
                  <a:pt x="32686" y="0"/>
                </a:moveTo>
                <a:lnTo>
                  <a:pt x="32686" y="0"/>
                </a:lnTo>
                <a:lnTo>
                  <a:pt x="32686" y="1470885"/>
                </a:lnTo>
                <a:lnTo>
                  <a:pt x="32686" y="1470885"/>
                </a:lnTo>
                <a:cubicBezTo>
                  <a:pt x="14634" y="1470885"/>
                  <a:pt x="0" y="1456251"/>
                  <a:pt x="0" y="1438198"/>
                </a:cubicBezTo>
                <a:lnTo>
                  <a:pt x="0" y="32686"/>
                </a:lnTo>
                <a:cubicBezTo>
                  <a:pt x="0" y="14646"/>
                  <a:pt x="14646" y="0"/>
                  <a:pt x="32686" y="0"/>
                </a:cubicBezTo>
                <a:close/>
              </a:path>
            </a:pathLst>
          </a:custGeom>
          <a:solidFill xmlns:a="http://schemas.openxmlformats.org/drawingml/2006/main">
            <a:srgbClr val="E6B450"/>
          </a:solidFill>
        </p:spPr>
      </p:sp>
      <p:sp>
        <p:nvSpPr>
          <p:cNvPr id="17" name="Shape 15">
            <a:extLst xmlns:a="http://schemas.openxmlformats.org/drawingml/2006/main">
              <a:ext uri="{FF2B5EF4-FFF2-40B4-BE49-F238E27FC236}">
                <a16:creationId xmlns:a16="http://schemas.microsoft.com/office/drawing/2014/main" id="{B1A6867F-BAA1-4802-B506-2C9D14A6D120}"/>
              </a:ext>
            </a:extLst>
          </p:cNvPr>
          <p:cNvSpPr>
            <a:spLocks xmlns:a="http://schemas.openxmlformats.org/drawingml/2006/main" noGrp="1"/>
          </p:cNvSpPr>
          <p:nvPr/>
        </p:nvSpPr>
        <p:spPr>
          <a:xfrm xmlns:a="http://schemas.openxmlformats.org/drawingml/2006/main">
            <a:off x="551906" y="5240418"/>
            <a:ext cx="222613" cy="222613"/>
          </a:xfrm>
          <a:custGeom xmlns:a="http://schemas.openxmlformats.org/drawingml/2006/main">
            <a:rect l="l" t="t" r="r" b="b"/>
            <a:pathLst>
              <a:path w="196118" h="196118">
                <a:moveTo>
                  <a:pt x="135176" y="8121"/>
                </a:moveTo>
                <a:lnTo>
                  <a:pt x="117977" y="25319"/>
                </a:lnTo>
                <a:lnTo>
                  <a:pt x="170799" y="78141"/>
                </a:lnTo>
                <a:lnTo>
                  <a:pt x="187997" y="60942"/>
                </a:lnTo>
                <a:cubicBezTo>
                  <a:pt x="193207" y="55771"/>
                  <a:pt x="196118" y="48723"/>
                  <a:pt x="196118" y="41369"/>
                </a:cubicBezTo>
                <a:cubicBezTo>
                  <a:pt x="196118" y="34014"/>
                  <a:pt x="193207" y="26966"/>
                  <a:pt x="187997" y="21795"/>
                </a:cubicBezTo>
                <a:lnTo>
                  <a:pt x="174323" y="8121"/>
                </a:lnTo>
                <a:cubicBezTo>
                  <a:pt x="169152" y="2911"/>
                  <a:pt x="162104" y="0"/>
                  <a:pt x="154749" y="0"/>
                </a:cubicBezTo>
                <a:cubicBezTo>
                  <a:pt x="147395" y="0"/>
                  <a:pt x="140347" y="2911"/>
                  <a:pt x="135176" y="8121"/>
                </a:cubicBezTo>
                <a:close/>
                <a:moveTo>
                  <a:pt x="104992" y="38304"/>
                </a:moveTo>
                <a:lnTo>
                  <a:pt x="22561" y="120697"/>
                </a:lnTo>
                <a:cubicBezTo>
                  <a:pt x="18463" y="124795"/>
                  <a:pt x="15475" y="129928"/>
                  <a:pt x="13904" y="135521"/>
                </a:cubicBezTo>
                <a:lnTo>
                  <a:pt x="345" y="184473"/>
                </a:lnTo>
                <a:cubicBezTo>
                  <a:pt x="-536" y="187653"/>
                  <a:pt x="345" y="191100"/>
                  <a:pt x="2720" y="193437"/>
                </a:cubicBezTo>
                <a:cubicBezTo>
                  <a:pt x="5094" y="195773"/>
                  <a:pt x="8504" y="196693"/>
                  <a:pt x="11683" y="195812"/>
                </a:cubicBezTo>
                <a:lnTo>
                  <a:pt x="60636" y="182214"/>
                </a:lnTo>
                <a:cubicBezTo>
                  <a:pt x="66228" y="180643"/>
                  <a:pt x="71323" y="177694"/>
                  <a:pt x="75459" y="173557"/>
                </a:cubicBezTo>
                <a:lnTo>
                  <a:pt x="157814" y="91126"/>
                </a:lnTo>
                <a:lnTo>
                  <a:pt x="104992" y="38304"/>
                </a:ln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3EA37579-F2FB-4463-A67C-B263BF4B9991}"/>
              </a:ext>
            </a:extLst>
          </p:cNvPr>
          <p:cNvSpPr>
            <a:spLocks xmlns:a="http://schemas.openxmlformats.org/drawingml/2006/main" noGrp="1"/>
          </p:cNvSpPr>
          <p:nvPr/>
        </p:nvSpPr>
        <p:spPr>
          <a:xfrm xmlns:a="http://schemas.openxmlformats.org/drawingml/2006/main">
            <a:off x="888000" y="5203316"/>
            <a:ext cx="8561330" cy="29681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贝塞尔曲线应用</a:t>
            </a:r>
            <a:endParaRPr sz="2000"/>
          </a:p>
        </p:txBody>
      </p:sp>
      <p:sp>
        <p:nvSpPr>
          <p:cNvPr id="19" name="Text 17">
            <a:extLst xmlns:a="http://schemas.openxmlformats.org/drawingml/2006/main">
              <a:ext uri="{FF2B5EF4-FFF2-40B4-BE49-F238E27FC236}">
                <a16:creationId xmlns:a16="http://schemas.microsoft.com/office/drawing/2014/main" id="{07DF3140-457E-4057-8C8B-325C21D66F23}"/>
              </a:ext>
            </a:extLst>
          </p:cNvPr>
          <p:cNvSpPr>
            <a:spLocks xmlns:a="http://schemas.openxmlformats.org/drawingml/2006/main" noGrp="1"/>
          </p:cNvSpPr>
          <p:nvPr/>
        </p:nvSpPr>
        <p:spPr>
          <a:xfrm xmlns:a="http://schemas.openxmlformats.org/drawingml/2006/main">
            <a:off x="888000" y="5611440"/>
            <a:ext cx="9901648" cy="816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一般的矢量图形软件通过它来精确画出曲线，贝兹曲线由</a:t>
            </a:r>
            <a:r>
              <a:rPr sz="1600" b="1">
                <a:latin typeface="微软雅黑"/>
                <a:ea typeface="微软雅黑"/>
                <a:cs typeface="微软雅黑"/>
              </a:rPr>
              <a:t>线段与节点</a:t>
            </a:r>
            <a:r>
              <a:rPr sz="1600">
                <a:latin typeface="微软雅黑"/>
                <a:ea typeface="微软雅黑"/>
                <a:cs typeface="微软雅黑"/>
              </a:rPr>
              <a:t>组成，节点是可拖动的支点，线段像可伸缩的皮筋，在绘图工具上看到的</a:t>
            </a:r>
            <a:r>
              <a:rPr sz="1600">
                <a:highlight>
                  <a:srgbClr val="E6B450">
                    <a:alpha val="20000"/>
                  </a:srgbClr>
                </a:highlight>
                <a:latin typeface="微软雅黑"/>
                <a:ea typeface="微软雅黑"/>
                <a:cs typeface="微软雅黑"/>
              </a:rPr>
              <a:t> 钢笔工具 </a:t>
            </a:r>
            <a:r>
              <a:rPr sz="1600">
                <a:latin typeface="微软雅黑"/>
                <a:ea typeface="微软雅黑"/>
                <a:cs typeface="微软雅黑"/>
              </a:rPr>
              <a:t>就是来做这种矢量曲线的。贝塞尔曲线是计算机图形学中相当重要的参数曲线，在一些比较成熟的位图软件中也有贝塞尔曲线工具，如</a:t>
            </a:r>
            <a:r>
              <a:rPr sz="1600">
                <a:highlight>
                  <a:srgbClr val="E6B450">
                    <a:alpha val="20000"/>
                  </a:srgbClr>
                </a:highlight>
                <a:latin typeface="微软雅黑"/>
                <a:ea typeface="微软雅黑"/>
                <a:cs typeface="微软雅黑"/>
              </a:rPr>
              <a:t> PhotoShop </a:t>
            </a:r>
            <a:r>
              <a:rPr sz="1600">
                <a:latin typeface="微软雅黑"/>
                <a:ea typeface="微软雅黑"/>
                <a:cs typeface="微软雅黑"/>
              </a:rPr>
              <a:t>等。</a:t>
            </a:r>
            <a:endParaRPr sz="2400"/>
          </a:p>
        </p:txBody>
      </p:sp>
      <p:sp>
        <p:nvSpPr>
          <p:cNvPr id="36" name="矩形 35">
            <a:extLst xmlns:a="http://schemas.openxmlformats.org/drawingml/2006/main">
              <a:ext uri="{FF2B5EF4-FFF2-40B4-BE49-F238E27FC236}">
                <a16:creationId xmlns:a16="http://schemas.microsoft.com/office/drawing/2014/main" id="{37BFF80C-9073-C5F3-D47F-91040A3A0EC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文本框 36">
            <a:extLst xmlns:a="http://schemas.openxmlformats.org/drawingml/2006/main">
              <a:ext uri="{FF2B5EF4-FFF2-40B4-BE49-F238E27FC236}">
                <a16:creationId xmlns:a16="http://schemas.microsoft.com/office/drawing/2014/main" id="{6DBBCC85-B68D-3357-85F9-4DCCAC099340}"/>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spTree>
    <p:extLst>
      <p:ext uri="{BB962C8B-B14F-4D97-AF65-F5344CB8AC3E}">
        <p14:creationId xmlns:p14="http://schemas.microsoft.com/office/powerpoint/2010/main" val="650587636"/>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81ECE304-4853-49B5-BBB8-42131BFFE1F7}"/>
              </a:ext>
            </a:extLst>
          </p:cNvPr>
          <p:cNvSpPr>
            <a:spLocks xmlns:a="http://schemas.openxmlformats.org/drawingml/2006/main" noGrp="1"/>
          </p:cNvSpPr>
          <p:nvPr/>
        </p:nvSpPr>
        <p:spPr>
          <a:xfrm xmlns:a="http://schemas.openxmlformats.org/drawingml/2006/main">
            <a:off x="400050" y="1733550"/>
            <a:ext cx="10440336" cy="1876425"/>
          </a:xfrm>
          <a:custGeom xmlns:a="http://schemas.openxmlformats.org/drawingml/2006/main">
            <a:rect l="l" t="t" r="r" b="b"/>
            <a:pathLst>
              <a:path w="7448550" h="1876425">
                <a:moveTo>
                  <a:pt x="38100" y="0"/>
                </a:moveTo>
                <a:lnTo>
                  <a:pt x="7334257" y="0"/>
                </a:lnTo>
                <a:cubicBezTo>
                  <a:pt x="7397379" y="0"/>
                  <a:pt x="7448550" y="51171"/>
                  <a:pt x="7448550" y="114293"/>
                </a:cubicBezTo>
                <a:lnTo>
                  <a:pt x="7448550" y="1762132"/>
                </a:lnTo>
                <a:cubicBezTo>
                  <a:pt x="7448550" y="1825254"/>
                  <a:pt x="7397379" y="1876425"/>
                  <a:pt x="7334257" y="1876425"/>
                </a:cubicBezTo>
                <a:lnTo>
                  <a:pt x="38100" y="1876425"/>
                </a:lnTo>
                <a:cubicBezTo>
                  <a:pt x="17058" y="1876425"/>
                  <a:pt x="0" y="1859367"/>
                  <a:pt x="0" y="18383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EBFC97BD-4721-4F2B-883A-29FF011AEF98}"/>
              </a:ext>
            </a:extLst>
          </p:cNvPr>
          <p:cNvSpPr>
            <a:spLocks xmlns:a="http://schemas.openxmlformats.org/drawingml/2006/main" noGrp="1"/>
          </p:cNvSpPr>
          <p:nvPr/>
        </p:nvSpPr>
        <p:spPr>
          <a:xfrm xmlns:a="http://schemas.openxmlformats.org/drawingml/2006/main">
            <a:off x="400050" y="1733550"/>
            <a:ext cx="38100" cy="1876425"/>
          </a:xfrm>
          <a:custGeom xmlns:a="http://schemas.openxmlformats.org/drawingml/2006/main">
            <a:rect l="l" t="t" r="r" b="b"/>
            <a:pathLst>
              <a:path w="38100" h="1876425">
                <a:moveTo>
                  <a:pt x="38100" y="0"/>
                </a:moveTo>
                <a:lnTo>
                  <a:pt x="38100" y="0"/>
                </a:lnTo>
                <a:lnTo>
                  <a:pt x="38100" y="1876425"/>
                </a:lnTo>
                <a:lnTo>
                  <a:pt x="38100" y="1876425"/>
                </a:lnTo>
                <a:cubicBezTo>
                  <a:pt x="17072" y="1876425"/>
                  <a:pt x="0" y="1859353"/>
                  <a:pt x="0" y="1838325"/>
                </a:cubicBezTo>
                <a:lnTo>
                  <a:pt x="0" y="38100"/>
                </a:lnTo>
                <a:cubicBezTo>
                  <a:pt x="0" y="17072"/>
                  <a:pt x="17072" y="0"/>
                  <a:pt x="3810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50822838-18F7-4462-9979-F359D8CDCA89}"/>
              </a:ext>
            </a:extLst>
          </p:cNvPr>
          <p:cNvSpPr>
            <a:spLocks xmlns:a="http://schemas.openxmlformats.org/drawingml/2006/main" noGrp="1"/>
          </p:cNvSpPr>
          <p:nvPr/>
        </p:nvSpPr>
        <p:spPr>
          <a:xfrm xmlns:a="http://schemas.openxmlformats.org/drawingml/2006/main">
            <a:off x="676275" y="2000250"/>
            <a:ext cx="228600" cy="228600"/>
          </a:xfrm>
          <a:custGeom xmlns:a="http://schemas.openxmlformats.org/drawingml/2006/main">
            <a:rect l="l" t="t" r="r" b="b"/>
            <a:pathLst>
              <a:path w="228600" h="228600">
                <a:moveTo>
                  <a:pt x="14288" y="28575"/>
                </a:moveTo>
                <a:cubicBezTo>
                  <a:pt x="6385" y="28575"/>
                  <a:pt x="0" y="34960"/>
                  <a:pt x="0" y="42863"/>
                </a:cubicBezTo>
                <a:cubicBezTo>
                  <a:pt x="0" y="50765"/>
                  <a:pt x="6385" y="57150"/>
                  <a:pt x="14288" y="57150"/>
                </a:cubicBezTo>
                <a:lnTo>
                  <a:pt x="52998" y="57150"/>
                </a:lnTo>
                <a:cubicBezTo>
                  <a:pt x="58489" y="69786"/>
                  <a:pt x="71080" y="78581"/>
                  <a:pt x="85725" y="78581"/>
                </a:cubicBezTo>
                <a:cubicBezTo>
                  <a:pt x="100370" y="78581"/>
                  <a:pt x="112961" y="69786"/>
                  <a:pt x="118452" y="57150"/>
                </a:cubicBezTo>
                <a:lnTo>
                  <a:pt x="214313" y="57150"/>
                </a:lnTo>
                <a:cubicBezTo>
                  <a:pt x="222215" y="57150"/>
                  <a:pt x="228600" y="50765"/>
                  <a:pt x="228600" y="42863"/>
                </a:cubicBezTo>
                <a:cubicBezTo>
                  <a:pt x="228600" y="34960"/>
                  <a:pt x="222215" y="28575"/>
                  <a:pt x="214313" y="28575"/>
                </a:cubicBezTo>
                <a:lnTo>
                  <a:pt x="118452" y="28575"/>
                </a:lnTo>
                <a:cubicBezTo>
                  <a:pt x="112961" y="15939"/>
                  <a:pt x="100370" y="7144"/>
                  <a:pt x="85725" y="7144"/>
                </a:cubicBezTo>
                <a:cubicBezTo>
                  <a:pt x="71080" y="7144"/>
                  <a:pt x="58489" y="15939"/>
                  <a:pt x="52998" y="28575"/>
                </a:cubicBezTo>
                <a:lnTo>
                  <a:pt x="14288" y="28575"/>
                </a:lnTo>
                <a:close/>
                <a:moveTo>
                  <a:pt x="14288" y="100013"/>
                </a:moveTo>
                <a:cubicBezTo>
                  <a:pt x="6385" y="100013"/>
                  <a:pt x="0" y="106397"/>
                  <a:pt x="0" y="114300"/>
                </a:cubicBezTo>
                <a:cubicBezTo>
                  <a:pt x="0" y="122203"/>
                  <a:pt x="6385" y="128588"/>
                  <a:pt x="14288" y="128588"/>
                </a:cubicBezTo>
                <a:lnTo>
                  <a:pt x="124435" y="128588"/>
                </a:lnTo>
                <a:cubicBezTo>
                  <a:pt x="129927" y="141223"/>
                  <a:pt x="142518" y="150019"/>
                  <a:pt x="157163" y="150019"/>
                </a:cubicBezTo>
                <a:cubicBezTo>
                  <a:pt x="171807" y="150019"/>
                  <a:pt x="184398" y="141223"/>
                  <a:pt x="189890" y="128588"/>
                </a:cubicBezTo>
                <a:lnTo>
                  <a:pt x="214313" y="128588"/>
                </a:lnTo>
                <a:cubicBezTo>
                  <a:pt x="222215" y="128588"/>
                  <a:pt x="228600" y="122203"/>
                  <a:pt x="228600" y="114300"/>
                </a:cubicBezTo>
                <a:cubicBezTo>
                  <a:pt x="228600" y="106397"/>
                  <a:pt x="222215" y="100013"/>
                  <a:pt x="214313" y="100013"/>
                </a:cubicBezTo>
                <a:lnTo>
                  <a:pt x="189890" y="100013"/>
                </a:lnTo>
                <a:cubicBezTo>
                  <a:pt x="184398" y="87377"/>
                  <a:pt x="171807" y="78581"/>
                  <a:pt x="157163" y="78581"/>
                </a:cubicBezTo>
                <a:cubicBezTo>
                  <a:pt x="142518" y="78581"/>
                  <a:pt x="129927" y="87377"/>
                  <a:pt x="124435" y="100013"/>
                </a:cubicBezTo>
                <a:lnTo>
                  <a:pt x="14288" y="100013"/>
                </a:lnTo>
                <a:close/>
                <a:moveTo>
                  <a:pt x="14288" y="171450"/>
                </a:moveTo>
                <a:cubicBezTo>
                  <a:pt x="6385" y="171450"/>
                  <a:pt x="0" y="177835"/>
                  <a:pt x="0" y="185738"/>
                </a:cubicBezTo>
                <a:cubicBezTo>
                  <a:pt x="0" y="193640"/>
                  <a:pt x="6385" y="200025"/>
                  <a:pt x="14288" y="200025"/>
                </a:cubicBezTo>
                <a:lnTo>
                  <a:pt x="38710" y="200025"/>
                </a:lnTo>
                <a:cubicBezTo>
                  <a:pt x="44202" y="212661"/>
                  <a:pt x="56793" y="221456"/>
                  <a:pt x="71438" y="221456"/>
                </a:cubicBezTo>
                <a:cubicBezTo>
                  <a:pt x="86082" y="221456"/>
                  <a:pt x="98673" y="212661"/>
                  <a:pt x="104165" y="200025"/>
                </a:cubicBezTo>
                <a:lnTo>
                  <a:pt x="214313" y="200025"/>
                </a:lnTo>
                <a:cubicBezTo>
                  <a:pt x="222215" y="200025"/>
                  <a:pt x="228600" y="193640"/>
                  <a:pt x="228600" y="185738"/>
                </a:cubicBezTo>
                <a:cubicBezTo>
                  <a:pt x="228600" y="177835"/>
                  <a:pt x="222215" y="171450"/>
                  <a:pt x="214313" y="171450"/>
                </a:cubicBezTo>
                <a:lnTo>
                  <a:pt x="104165" y="171450"/>
                </a:lnTo>
                <a:cubicBezTo>
                  <a:pt x="98673" y="158814"/>
                  <a:pt x="86082" y="150019"/>
                  <a:pt x="71438" y="150019"/>
                </a:cubicBezTo>
                <a:cubicBezTo>
                  <a:pt x="56793" y="150019"/>
                  <a:pt x="44202" y="158814"/>
                  <a:pt x="38710" y="171450"/>
                </a:cubicBezTo>
                <a:lnTo>
                  <a:pt x="14288" y="171450"/>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71E817B7-82FE-4765-8B3D-26F6C8358ECA}"/>
              </a:ext>
            </a:extLst>
          </p:cNvPr>
          <p:cNvSpPr>
            <a:spLocks xmlns:a="http://schemas.openxmlformats.org/drawingml/2006/main" noGrp="1"/>
          </p:cNvSpPr>
          <p:nvPr/>
        </p:nvSpPr>
        <p:spPr>
          <a:xfrm xmlns:a="http://schemas.openxmlformats.org/drawingml/2006/main">
            <a:off x="1085850" y="1962150"/>
            <a:ext cx="4086225"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贝塞尔曲线</a:t>
            </a:r>
            <a:r>
              <a:rPr b="1">
                <a:latin typeface="微软雅黑"/>
                <a:ea typeface="微软雅黑"/>
                <a:cs typeface="微软雅黑"/>
              </a:rPr>
              <a:t>的</a:t>
            </a:r>
            <a:r>
              <a:rPr sz="1800" b="1">
                <a:latin typeface="微软雅黑"/>
                <a:ea typeface="微软雅黑"/>
                <a:cs typeface="微软雅黑"/>
              </a:rPr>
              <a:t>控制点</a:t>
            </a:r>
            <a:endParaRPr sz="1600"/>
          </a:p>
        </p:txBody>
      </p:sp>
      <p:sp>
        <p:nvSpPr>
          <p:cNvPr id="9" name="Text 7">
            <a:extLst xmlns:a="http://schemas.openxmlformats.org/drawingml/2006/main">
              <a:ext uri="{FF2B5EF4-FFF2-40B4-BE49-F238E27FC236}">
                <a16:creationId xmlns:a16="http://schemas.microsoft.com/office/drawing/2014/main" id="{7FCB807F-B301-4544-82EA-BA4711A36A84}"/>
              </a:ext>
            </a:extLst>
          </p:cNvPr>
          <p:cNvSpPr>
            <a:spLocks xmlns:a="http://schemas.openxmlformats.org/drawingml/2006/main" noGrp="1"/>
          </p:cNvSpPr>
          <p:nvPr/>
        </p:nvSpPr>
        <p:spPr>
          <a:xfrm xmlns:a="http://schemas.openxmlformats.org/drawingml/2006/main">
            <a:off x="1085850" y="2381250"/>
            <a:ext cx="4057650"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贝塞尔曲线的一些特性为：</a:t>
            </a:r>
            <a:endParaRPr sz="2000"/>
          </a:p>
        </p:txBody>
      </p:sp>
      <p:sp>
        <p:nvSpPr>
          <p:cNvPr id="10" name="Shape 8">
            <a:extLst xmlns:a="http://schemas.openxmlformats.org/drawingml/2006/main">
              <a:ext uri="{FF2B5EF4-FFF2-40B4-BE49-F238E27FC236}">
                <a16:creationId xmlns:a16="http://schemas.microsoft.com/office/drawing/2014/main" id="{1999A6F7-7272-444A-8411-D90D21F1C0F8}"/>
              </a:ext>
            </a:extLst>
          </p:cNvPr>
          <p:cNvSpPr>
            <a:spLocks xmlns:a="http://schemas.openxmlformats.org/drawingml/2006/main" noGrp="1"/>
          </p:cNvSpPr>
          <p:nvPr/>
        </p:nvSpPr>
        <p:spPr>
          <a:xfrm xmlns:a="http://schemas.openxmlformats.org/drawingml/2006/main">
            <a:off x="1104900" y="2850356"/>
            <a:ext cx="152400" cy="152400"/>
          </a:xfrm>
          <a:custGeom xmlns:a="http://schemas.openxmlformats.org/drawingml/2006/main">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47625"/>
                </a:moveTo>
                <a:cubicBezTo>
                  <a:pt x="91971" y="47625"/>
                  <a:pt x="104775" y="60429"/>
                  <a:pt x="104775" y="76200"/>
                </a:cubicBezTo>
                <a:cubicBezTo>
                  <a:pt x="104775" y="91971"/>
                  <a:pt x="91971" y="104775"/>
                  <a:pt x="76200" y="104775"/>
                </a:cubicBezTo>
                <a:cubicBezTo>
                  <a:pt x="60429" y="104775"/>
                  <a:pt x="47625" y="91971"/>
                  <a:pt x="47625" y="76200"/>
                </a:cubicBezTo>
                <a:cubicBezTo>
                  <a:pt x="47625" y="60429"/>
                  <a:pt x="60429" y="47625"/>
                  <a:pt x="76200" y="47625"/>
                </a:cubicBezTo>
                <a:close/>
              </a:path>
            </a:pathLst>
          </a:custGeom>
          <a:solidFill xmlns:a="http://schemas.openxmlformats.org/drawingml/2006/main">
            <a:srgbClr val="E6B450"/>
          </a:solidFill>
        </p:spPr>
      </p:sp>
      <p:sp>
        <p:nvSpPr>
          <p:cNvPr id="11" name="Text 9">
            <a:extLst xmlns:a="http://schemas.openxmlformats.org/drawingml/2006/main">
              <a:ext uri="{FF2B5EF4-FFF2-40B4-BE49-F238E27FC236}">
                <a16:creationId xmlns:a16="http://schemas.microsoft.com/office/drawing/2014/main" id="{EF73E901-2E4F-4D73-B7D7-8EE649786DAF}"/>
              </a:ext>
            </a:extLst>
          </p:cNvPr>
          <p:cNvSpPr>
            <a:spLocks xmlns:a="http://schemas.openxmlformats.org/drawingml/2006/main" noGrp="1"/>
          </p:cNvSpPr>
          <p:nvPr/>
        </p:nvSpPr>
        <p:spPr>
          <a:xfrm xmlns:a="http://schemas.openxmlformats.org/drawingml/2006/main">
            <a:off x="1352550" y="2812256"/>
            <a:ext cx="4510617"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使用</a:t>
            </a:r>
            <a:r>
              <a:rPr sz="1600" b="1">
                <a:latin typeface="微软雅黑"/>
                <a:ea typeface="微软雅黑"/>
                <a:cs typeface="微软雅黑"/>
              </a:rPr>
              <a:t>n个控制点</a:t>
            </a:r>
            <a:r>
              <a:rPr sz="1600">
                <a:latin typeface="微软雅黑"/>
                <a:ea typeface="微软雅黑"/>
                <a:cs typeface="微软雅黑"/>
              </a:rPr>
              <a:t> P</a:t>
            </a:r>
            <a:r>
              <a:rPr sz="1050">
                <a:latin typeface="微软雅黑"/>
                <a:ea typeface="微软雅黑"/>
                <a:cs typeface="微软雅黑"/>
              </a:rPr>
              <a:t>0</a:t>
            </a:r>
            <a:r>
              <a:rPr sz="1600">
                <a:latin typeface="微软雅黑"/>
                <a:ea typeface="微软雅黑"/>
                <a:cs typeface="微软雅黑"/>
              </a:rPr>
              <a:t>, P</a:t>
            </a:r>
            <a:r>
              <a:rPr sz="1050">
                <a:latin typeface="微软雅黑"/>
                <a:ea typeface="微软雅黑"/>
                <a:cs typeface="微软雅黑"/>
              </a:rPr>
              <a:t>1</a:t>
            </a:r>
            <a:r>
              <a:rPr sz="1600">
                <a:latin typeface="微软雅黑"/>
                <a:ea typeface="微软雅黑"/>
                <a:cs typeface="微软雅黑"/>
              </a:rPr>
              <a:t>, ..., P</a:t>
            </a:r>
            <a:r>
              <a:rPr sz="1050">
                <a:latin typeface="微软雅黑"/>
                <a:ea typeface="微软雅黑"/>
                <a:cs typeface="微软雅黑"/>
              </a:rPr>
              <a:t>n-1</a:t>
            </a:r>
            <a:r>
              <a:rPr sz="1600">
                <a:latin typeface="微软雅黑"/>
                <a:ea typeface="微软雅黑"/>
                <a:cs typeface="微软雅黑"/>
              </a:rPr>
              <a:t> 来控制曲线的形状</a:t>
            </a:r>
            <a:endParaRPr sz="2000"/>
          </a:p>
        </p:txBody>
      </p:sp>
      <p:sp>
        <p:nvSpPr>
          <p:cNvPr id="12" name="Shape 10">
            <a:extLst xmlns:a="http://schemas.openxmlformats.org/drawingml/2006/main">
              <a:ext uri="{FF2B5EF4-FFF2-40B4-BE49-F238E27FC236}">
                <a16:creationId xmlns:a16="http://schemas.microsoft.com/office/drawing/2014/main" id="{D8EFBD04-D497-445C-9C15-952AEEC336B9}"/>
              </a:ext>
            </a:extLst>
          </p:cNvPr>
          <p:cNvSpPr>
            <a:spLocks xmlns:a="http://schemas.openxmlformats.org/drawingml/2006/main" noGrp="1"/>
          </p:cNvSpPr>
          <p:nvPr/>
        </p:nvSpPr>
        <p:spPr>
          <a:xfrm xmlns:a="http://schemas.openxmlformats.org/drawingml/2006/main">
            <a:off x="1104900" y="3193256"/>
            <a:ext cx="152400" cy="152400"/>
          </a:xfrm>
          <a:custGeom xmlns:a="http://schemas.openxmlformats.org/drawingml/2006/main">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47625"/>
                </a:moveTo>
                <a:cubicBezTo>
                  <a:pt x="91971" y="47625"/>
                  <a:pt x="104775" y="60429"/>
                  <a:pt x="104775" y="76200"/>
                </a:cubicBezTo>
                <a:cubicBezTo>
                  <a:pt x="104775" y="91971"/>
                  <a:pt x="91971" y="104775"/>
                  <a:pt x="76200" y="104775"/>
                </a:cubicBezTo>
                <a:cubicBezTo>
                  <a:pt x="60429" y="104775"/>
                  <a:pt x="47625" y="91971"/>
                  <a:pt x="47625" y="76200"/>
                </a:cubicBezTo>
                <a:cubicBezTo>
                  <a:pt x="47625" y="60429"/>
                  <a:pt x="60429" y="47625"/>
                  <a:pt x="76200" y="47625"/>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FF360BEF-CF93-4CA2-A086-FFAB36C2EAAB}"/>
              </a:ext>
            </a:extLst>
          </p:cNvPr>
          <p:cNvSpPr>
            <a:spLocks xmlns:a="http://schemas.openxmlformats.org/drawingml/2006/main" noGrp="1"/>
          </p:cNvSpPr>
          <p:nvPr/>
        </p:nvSpPr>
        <p:spPr>
          <a:xfrm xmlns:a="http://schemas.openxmlformats.org/drawingml/2006/main">
            <a:off x="1352550" y="3155156"/>
            <a:ext cx="54673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曲线经过</a:t>
            </a:r>
            <a:r>
              <a:rPr sz="1600" b="1">
                <a:latin typeface="微软雅黑"/>
                <a:ea typeface="微软雅黑"/>
                <a:cs typeface="微软雅黑"/>
              </a:rPr>
              <a:t>起点P0</a:t>
            </a:r>
            <a:r>
              <a:rPr sz="1600">
                <a:latin typeface="微软雅黑"/>
                <a:ea typeface="微软雅黑"/>
                <a:cs typeface="微软雅黑"/>
              </a:rPr>
              <a:t>和</a:t>
            </a:r>
            <a:r>
              <a:rPr sz="1600" b="1">
                <a:latin typeface="微软雅黑"/>
                <a:ea typeface="微软雅黑"/>
                <a:cs typeface="微软雅黑"/>
              </a:rPr>
              <a:t>终点Pn-1</a:t>
            </a:r>
            <a:r>
              <a:rPr sz="1600">
                <a:latin typeface="微软雅黑"/>
                <a:ea typeface="微软雅黑"/>
                <a:cs typeface="微软雅黑"/>
              </a:rPr>
              <a:t>，但不经过中间点P</a:t>
            </a:r>
            <a:r>
              <a:rPr sz="1050">
                <a:latin typeface="微软雅黑"/>
                <a:ea typeface="微软雅黑"/>
                <a:cs typeface="微软雅黑"/>
              </a:rPr>
              <a:t>1</a:t>
            </a:r>
            <a:r>
              <a:rPr sz="1600">
                <a:latin typeface="微软雅黑"/>
                <a:ea typeface="微软雅黑"/>
                <a:cs typeface="微软雅黑"/>
              </a:rPr>
              <a:t>, ..., P</a:t>
            </a:r>
            <a:r>
              <a:rPr sz="1050">
                <a:latin typeface="微软雅黑"/>
                <a:ea typeface="微软雅黑"/>
                <a:cs typeface="微软雅黑"/>
              </a:rPr>
              <a:t>n-2</a:t>
            </a:r>
            <a:endParaRPr sz="2000"/>
          </a:p>
        </p:txBody>
      </p:sp>
      <p:sp>
        <p:nvSpPr>
          <p:cNvPr id="14" name="Shape 12">
            <a:extLst xmlns:a="http://schemas.openxmlformats.org/drawingml/2006/main">
              <a:ext uri="{FF2B5EF4-FFF2-40B4-BE49-F238E27FC236}">
                <a16:creationId xmlns:a16="http://schemas.microsoft.com/office/drawing/2014/main" id="{DC1AAAFE-0AD8-46D2-A1F8-E48AF616FF6B}"/>
              </a:ext>
            </a:extLst>
          </p:cNvPr>
          <p:cNvSpPr>
            <a:spLocks xmlns:a="http://schemas.openxmlformats.org/drawingml/2006/main" noGrp="1"/>
          </p:cNvSpPr>
          <p:nvPr/>
        </p:nvSpPr>
        <p:spPr>
          <a:xfrm xmlns:a="http://schemas.openxmlformats.org/drawingml/2006/main">
            <a:off x="385763" y="3845719"/>
            <a:ext cx="10453687" cy="1457325"/>
          </a:xfrm>
          <a:custGeom xmlns:a="http://schemas.openxmlformats.org/drawingml/2006/main">
            <a:rect l="l" t="t" r="r" b="b"/>
            <a:pathLst>
              <a:path w="7458075" h="1457325">
                <a:moveTo>
                  <a:pt x="114298" y="0"/>
                </a:moveTo>
                <a:lnTo>
                  <a:pt x="7343777" y="0"/>
                </a:lnTo>
                <a:cubicBezTo>
                  <a:pt x="7406860" y="0"/>
                  <a:pt x="7458075" y="51215"/>
                  <a:pt x="7458075" y="114298"/>
                </a:cubicBezTo>
                <a:lnTo>
                  <a:pt x="7458075" y="1343027"/>
                </a:lnTo>
                <a:cubicBezTo>
                  <a:pt x="7458075" y="1406110"/>
                  <a:pt x="7406860" y="1457325"/>
                  <a:pt x="7343777" y="1457325"/>
                </a:cubicBezTo>
                <a:lnTo>
                  <a:pt x="114298" y="1457325"/>
                </a:lnTo>
                <a:cubicBezTo>
                  <a:pt x="51215" y="1457325"/>
                  <a:pt x="0" y="1406110"/>
                  <a:pt x="0" y="1343027"/>
                </a:cubicBezTo>
                <a:lnTo>
                  <a:pt x="0" y="114298"/>
                </a:lnTo>
                <a:cubicBezTo>
                  <a:pt x="0" y="51215"/>
                  <a:pt x="51215" y="0"/>
                  <a:pt x="11429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5" name="Shape 13">
            <a:extLst xmlns:a="http://schemas.openxmlformats.org/drawingml/2006/main">
              <a:ext uri="{FF2B5EF4-FFF2-40B4-BE49-F238E27FC236}">
                <a16:creationId xmlns:a16="http://schemas.microsoft.com/office/drawing/2014/main" id="{CE29B23C-AE3E-4499-8083-E2EBF25E1686}"/>
              </a:ext>
            </a:extLst>
          </p:cNvPr>
          <p:cNvSpPr>
            <a:spLocks xmlns:a="http://schemas.openxmlformats.org/drawingml/2006/main" noGrp="1"/>
          </p:cNvSpPr>
          <p:nvPr/>
        </p:nvSpPr>
        <p:spPr>
          <a:xfrm xmlns:a="http://schemas.openxmlformats.org/drawingml/2006/main">
            <a:off x="642938" y="4117181"/>
            <a:ext cx="190500" cy="190500"/>
          </a:xfrm>
          <a:custGeom xmlns:a="http://schemas.openxmlformats.org/drawingml/2006/main">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xmlns:a="http://schemas.openxmlformats.org/drawingml/2006/main">
            <a:srgbClr val="E6B450"/>
          </a:solidFill>
        </p:spPr>
      </p:sp>
      <p:sp>
        <p:nvSpPr>
          <p:cNvPr id="16" name="Text 14">
            <a:extLst xmlns:a="http://schemas.openxmlformats.org/drawingml/2006/main">
              <a:ext uri="{FF2B5EF4-FFF2-40B4-BE49-F238E27FC236}">
                <a16:creationId xmlns:a16="http://schemas.microsoft.com/office/drawing/2014/main" id="{C51F300F-2EE5-4996-8D3C-2A7762F87FFC}"/>
              </a:ext>
            </a:extLst>
          </p:cNvPr>
          <p:cNvSpPr>
            <a:spLocks xmlns:a="http://schemas.openxmlformats.org/drawingml/2006/main" noGrp="1"/>
          </p:cNvSpPr>
          <p:nvPr/>
        </p:nvSpPr>
        <p:spPr>
          <a:xfrm xmlns:a="http://schemas.openxmlformats.org/drawingml/2006/main">
            <a:off x="971550" y="4079081"/>
            <a:ext cx="13144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关键特性</a:t>
            </a:r>
            <a:endParaRPr sz="2000"/>
          </a:p>
        </p:txBody>
      </p:sp>
      <p:sp>
        <p:nvSpPr>
          <p:cNvPr id="17" name="Shape 15">
            <a:extLst xmlns:a="http://schemas.openxmlformats.org/drawingml/2006/main">
              <a:ext uri="{FF2B5EF4-FFF2-40B4-BE49-F238E27FC236}">
                <a16:creationId xmlns:a16="http://schemas.microsoft.com/office/drawing/2014/main" id="{B3E93374-E5D5-4518-8DA1-0594EE7E9915}"/>
              </a:ext>
            </a:extLst>
          </p:cNvPr>
          <p:cNvSpPr>
            <a:spLocks xmlns:a="http://schemas.openxmlformats.org/drawingml/2006/main" noGrp="1"/>
          </p:cNvSpPr>
          <p:nvPr/>
        </p:nvSpPr>
        <p:spPr>
          <a:xfrm xmlns:a="http://schemas.openxmlformats.org/drawingml/2006/main">
            <a:off x="647700" y="4536281"/>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C302782A-1955-4AB7-943B-1B6DA9517898}"/>
              </a:ext>
            </a:extLst>
          </p:cNvPr>
          <p:cNvSpPr>
            <a:spLocks xmlns:a="http://schemas.openxmlformats.org/drawingml/2006/main" noGrp="1"/>
          </p:cNvSpPr>
          <p:nvPr/>
        </p:nvSpPr>
        <p:spPr>
          <a:xfrm xmlns:a="http://schemas.openxmlformats.org/drawingml/2006/main">
            <a:off x="885824" y="4498181"/>
            <a:ext cx="15271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控制点决定形状</a:t>
            </a:r>
            <a:endParaRPr sz="2000"/>
          </a:p>
        </p:txBody>
      </p:sp>
      <p:sp>
        <p:nvSpPr>
          <p:cNvPr id="19" name="Shape 17">
            <a:extLst xmlns:a="http://schemas.openxmlformats.org/drawingml/2006/main">
              <a:ext uri="{FF2B5EF4-FFF2-40B4-BE49-F238E27FC236}">
                <a16:creationId xmlns:a16="http://schemas.microsoft.com/office/drawing/2014/main" id="{754AB82F-0E0F-4D4E-BAE0-0FFF7BB14357}"/>
              </a:ext>
            </a:extLst>
          </p:cNvPr>
          <p:cNvSpPr>
            <a:spLocks xmlns:a="http://schemas.openxmlformats.org/drawingml/2006/main" noGrp="1"/>
          </p:cNvSpPr>
          <p:nvPr/>
        </p:nvSpPr>
        <p:spPr>
          <a:xfrm xmlns:a="http://schemas.openxmlformats.org/drawingml/2006/main">
            <a:off x="4200525" y="4536281"/>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20" name="Text 18">
            <a:extLst xmlns:a="http://schemas.openxmlformats.org/drawingml/2006/main">
              <a:ext uri="{FF2B5EF4-FFF2-40B4-BE49-F238E27FC236}">
                <a16:creationId xmlns:a16="http://schemas.microsoft.com/office/drawing/2014/main" id="{DE7004CA-5B03-437B-9DD7-94DD135C51AF}"/>
              </a:ext>
            </a:extLst>
          </p:cNvPr>
          <p:cNvSpPr>
            <a:spLocks xmlns:a="http://schemas.openxmlformats.org/drawingml/2006/main" noGrp="1"/>
          </p:cNvSpPr>
          <p:nvPr/>
        </p:nvSpPr>
        <p:spPr>
          <a:xfrm xmlns:a="http://schemas.openxmlformats.org/drawingml/2006/main">
            <a:off x="4438650" y="4498181"/>
            <a:ext cx="15684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通过起点和终点</a:t>
            </a:r>
            <a:endParaRPr sz="2000"/>
          </a:p>
        </p:txBody>
      </p:sp>
      <p:sp>
        <p:nvSpPr>
          <p:cNvPr id="21" name="Shape 19">
            <a:extLst xmlns:a="http://schemas.openxmlformats.org/drawingml/2006/main">
              <a:ext uri="{FF2B5EF4-FFF2-40B4-BE49-F238E27FC236}">
                <a16:creationId xmlns:a16="http://schemas.microsoft.com/office/drawing/2014/main" id="{649B13AE-0646-462A-BF26-E9F06B88103D}"/>
              </a:ext>
            </a:extLst>
          </p:cNvPr>
          <p:cNvSpPr>
            <a:spLocks xmlns:a="http://schemas.openxmlformats.org/drawingml/2006/main" noGrp="1"/>
          </p:cNvSpPr>
          <p:nvPr/>
        </p:nvSpPr>
        <p:spPr>
          <a:xfrm xmlns:a="http://schemas.openxmlformats.org/drawingml/2006/main">
            <a:off x="647700" y="4879181"/>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22" name="Text 20">
            <a:extLst xmlns:a="http://schemas.openxmlformats.org/drawingml/2006/main">
              <a:ext uri="{FF2B5EF4-FFF2-40B4-BE49-F238E27FC236}">
                <a16:creationId xmlns:a16="http://schemas.microsoft.com/office/drawing/2014/main" id="{073EC6CF-274D-480A-B64B-7DE1FE141E9E}"/>
              </a:ext>
            </a:extLst>
          </p:cNvPr>
          <p:cNvSpPr>
            <a:spLocks xmlns:a="http://schemas.openxmlformats.org/drawingml/2006/main" noGrp="1"/>
          </p:cNvSpPr>
          <p:nvPr/>
        </p:nvSpPr>
        <p:spPr>
          <a:xfrm xmlns:a="http://schemas.openxmlformats.org/drawingml/2006/main">
            <a:off x="885825" y="4841081"/>
            <a:ext cx="191664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不经过中间点</a:t>
            </a:r>
            <a:endParaRPr sz="2000"/>
          </a:p>
        </p:txBody>
      </p:sp>
      <p:sp>
        <p:nvSpPr>
          <p:cNvPr id="23" name="Shape 21">
            <a:extLst xmlns:a="http://schemas.openxmlformats.org/drawingml/2006/main">
              <a:ext uri="{FF2B5EF4-FFF2-40B4-BE49-F238E27FC236}">
                <a16:creationId xmlns:a16="http://schemas.microsoft.com/office/drawing/2014/main" id="{2ACA6733-3D7F-4A0C-83AD-8C93F09CA6DF}"/>
              </a:ext>
            </a:extLst>
          </p:cNvPr>
          <p:cNvSpPr>
            <a:spLocks xmlns:a="http://schemas.openxmlformats.org/drawingml/2006/main" noGrp="1"/>
          </p:cNvSpPr>
          <p:nvPr/>
        </p:nvSpPr>
        <p:spPr>
          <a:xfrm xmlns:a="http://schemas.openxmlformats.org/drawingml/2006/main">
            <a:off x="4200525" y="4879181"/>
            <a:ext cx="133350" cy="152400"/>
          </a:xfrm>
          <a:custGeom xmlns:a="http://schemas.openxmlformats.org/drawingml/2006/main">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xmlns:a="http://schemas.openxmlformats.org/drawingml/2006/main">
            <a:srgbClr val="E6B450"/>
          </a:solidFill>
        </p:spPr>
      </p:sp>
      <p:sp>
        <p:nvSpPr>
          <p:cNvPr id="24" name="Text 22">
            <a:extLst xmlns:a="http://schemas.openxmlformats.org/drawingml/2006/main">
              <a:ext uri="{FF2B5EF4-FFF2-40B4-BE49-F238E27FC236}">
                <a16:creationId xmlns:a16="http://schemas.microsoft.com/office/drawing/2014/main" id="{857E65D7-1572-49E3-A02B-72CA02713D05}"/>
              </a:ext>
            </a:extLst>
          </p:cNvPr>
          <p:cNvSpPr>
            <a:spLocks xmlns:a="http://schemas.openxmlformats.org/drawingml/2006/main" noGrp="1"/>
          </p:cNvSpPr>
          <p:nvPr/>
        </p:nvSpPr>
        <p:spPr>
          <a:xfrm xmlns:a="http://schemas.openxmlformats.org/drawingml/2006/main">
            <a:off x="4438650" y="4841081"/>
            <a:ext cx="14795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平滑连续曲线</a:t>
            </a:r>
            <a:endParaRPr sz="2000"/>
          </a:p>
        </p:txBody>
      </p:sp>
      <p:sp>
        <p:nvSpPr>
          <p:cNvPr id="43" name="矩形 42">
            <a:extLst xmlns:a="http://schemas.openxmlformats.org/drawingml/2006/main">
              <a:ext uri="{FF2B5EF4-FFF2-40B4-BE49-F238E27FC236}">
                <a16:creationId xmlns:a16="http://schemas.microsoft.com/office/drawing/2014/main" id="{5C279C09-7B1E-60A7-80FC-0FB5F25A83D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文本框 43">
            <a:extLst xmlns:a="http://schemas.openxmlformats.org/drawingml/2006/main">
              <a:ext uri="{FF2B5EF4-FFF2-40B4-BE49-F238E27FC236}">
                <a16:creationId xmlns:a16="http://schemas.microsoft.com/office/drawing/2014/main" id="{070AD9CA-FF4C-C699-3402-C39FFF996A1E}"/>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spTree>
    <p:extLst>
      <p:ext uri="{BB962C8B-B14F-4D97-AF65-F5344CB8AC3E}">
        <p14:creationId xmlns:p14="http://schemas.microsoft.com/office/powerpoint/2010/main" val="3989830872"/>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AB8A9081-D358-4987-9C82-1A010EE02DC6}"/>
              </a:ext>
            </a:extLst>
          </p:cNvPr>
          <p:cNvSpPr>
            <a:spLocks xmlns:a="http://schemas.openxmlformats.org/drawingml/2006/main" noGrp="1"/>
          </p:cNvSpPr>
          <p:nvPr/>
        </p:nvSpPr>
        <p:spPr>
          <a:xfrm xmlns:a="http://schemas.openxmlformats.org/drawingml/2006/main">
            <a:off x="400050" y="1733550"/>
            <a:ext cx="7448550" cy="1152525"/>
          </a:xfrm>
          <a:custGeom xmlns:a="http://schemas.openxmlformats.org/drawingml/2006/main">
            <a:rect l="l" t="t" r="r" b="b"/>
            <a:pathLst>
              <a:path w="7448550" h="1152525">
                <a:moveTo>
                  <a:pt x="38100" y="0"/>
                </a:moveTo>
                <a:lnTo>
                  <a:pt x="7334254" y="0"/>
                </a:lnTo>
                <a:cubicBezTo>
                  <a:pt x="7397378" y="0"/>
                  <a:pt x="7448550" y="51172"/>
                  <a:pt x="7448550" y="114296"/>
                </a:cubicBezTo>
                <a:lnTo>
                  <a:pt x="7448550" y="1038229"/>
                </a:lnTo>
                <a:cubicBezTo>
                  <a:pt x="7448550" y="1101353"/>
                  <a:pt x="7397378" y="1152525"/>
                  <a:pt x="7334254" y="1152525"/>
                </a:cubicBezTo>
                <a:lnTo>
                  <a:pt x="38100" y="1152525"/>
                </a:lnTo>
                <a:cubicBezTo>
                  <a:pt x="17072" y="1152525"/>
                  <a:pt x="0" y="1135453"/>
                  <a:pt x="0" y="11144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9B521FE4-277B-4949-A3CE-1A7CDD7687AA}"/>
              </a:ext>
            </a:extLst>
          </p:cNvPr>
          <p:cNvSpPr>
            <a:spLocks xmlns:a="http://schemas.openxmlformats.org/drawingml/2006/main" noGrp="1"/>
          </p:cNvSpPr>
          <p:nvPr/>
        </p:nvSpPr>
        <p:spPr>
          <a:xfrm xmlns:a="http://schemas.openxmlformats.org/drawingml/2006/main">
            <a:off x="400050" y="1733550"/>
            <a:ext cx="38100" cy="1152525"/>
          </a:xfrm>
          <a:custGeom xmlns:a="http://schemas.openxmlformats.org/drawingml/2006/main">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AABBB718-FCF5-4D9A-9006-DEA1D780686A}"/>
              </a:ext>
            </a:extLst>
          </p:cNvPr>
          <p:cNvSpPr>
            <a:spLocks xmlns:a="http://schemas.openxmlformats.org/drawingml/2006/main" noGrp="1"/>
          </p:cNvSpPr>
          <p:nvPr/>
        </p:nvSpPr>
        <p:spPr>
          <a:xfrm xmlns:a="http://schemas.openxmlformats.org/drawingml/2006/main">
            <a:off x="676275" y="2000250"/>
            <a:ext cx="228600" cy="228600"/>
          </a:xfrm>
          <a:custGeom xmlns:a="http://schemas.openxmlformats.org/drawingml/2006/main">
            <a:rect l="l" t="t" r="r" b="b"/>
            <a:pathLst>
              <a:path w="228600" h="228600">
                <a:moveTo>
                  <a:pt x="0" y="32147"/>
                </a:moveTo>
                <a:cubicBezTo>
                  <a:pt x="0" y="26253"/>
                  <a:pt x="4777" y="21431"/>
                  <a:pt x="10716" y="21431"/>
                </a:cubicBezTo>
                <a:lnTo>
                  <a:pt x="32147" y="21431"/>
                </a:lnTo>
                <a:cubicBezTo>
                  <a:pt x="38085" y="21431"/>
                  <a:pt x="42863" y="26209"/>
                  <a:pt x="42863" y="32147"/>
                </a:cubicBezTo>
                <a:lnTo>
                  <a:pt x="42863" y="78581"/>
                </a:lnTo>
                <a:lnTo>
                  <a:pt x="53578" y="78581"/>
                </a:lnTo>
                <a:cubicBezTo>
                  <a:pt x="59516" y="78581"/>
                  <a:pt x="64294" y="83359"/>
                  <a:pt x="64294" y="89297"/>
                </a:cubicBezTo>
                <a:cubicBezTo>
                  <a:pt x="64294" y="95235"/>
                  <a:pt x="59516" y="100013"/>
                  <a:pt x="53578" y="100013"/>
                </a:cubicBezTo>
                <a:lnTo>
                  <a:pt x="10716" y="100013"/>
                </a:lnTo>
                <a:cubicBezTo>
                  <a:pt x="4777" y="100013"/>
                  <a:pt x="0" y="95235"/>
                  <a:pt x="0" y="89297"/>
                </a:cubicBezTo>
                <a:cubicBezTo>
                  <a:pt x="0" y="83359"/>
                  <a:pt x="4777" y="78581"/>
                  <a:pt x="10716" y="78581"/>
                </a:cubicBezTo>
                <a:lnTo>
                  <a:pt x="21431" y="78581"/>
                </a:lnTo>
                <a:lnTo>
                  <a:pt x="21431" y="42863"/>
                </a:lnTo>
                <a:lnTo>
                  <a:pt x="10716" y="42863"/>
                </a:lnTo>
                <a:cubicBezTo>
                  <a:pt x="4777" y="42863"/>
                  <a:pt x="0" y="38085"/>
                  <a:pt x="0" y="32147"/>
                </a:cubicBezTo>
                <a:close/>
                <a:moveTo>
                  <a:pt x="13573" y="134481"/>
                </a:moveTo>
                <a:cubicBezTo>
                  <a:pt x="18663" y="130641"/>
                  <a:pt x="24869" y="128588"/>
                  <a:pt x="31254" y="128588"/>
                </a:cubicBezTo>
                <a:lnTo>
                  <a:pt x="33442" y="128588"/>
                </a:lnTo>
                <a:cubicBezTo>
                  <a:pt x="48488" y="128588"/>
                  <a:pt x="60722" y="140821"/>
                  <a:pt x="60722" y="155868"/>
                </a:cubicBezTo>
                <a:cubicBezTo>
                  <a:pt x="60722" y="164619"/>
                  <a:pt x="56525" y="172789"/>
                  <a:pt x="49470" y="177924"/>
                </a:cubicBezTo>
                <a:lnTo>
                  <a:pt x="38755" y="185738"/>
                </a:lnTo>
                <a:lnTo>
                  <a:pt x="53578" y="185738"/>
                </a:lnTo>
                <a:cubicBezTo>
                  <a:pt x="59516" y="185738"/>
                  <a:pt x="64294" y="190515"/>
                  <a:pt x="64294" y="196453"/>
                </a:cubicBezTo>
                <a:cubicBezTo>
                  <a:pt x="64294" y="202391"/>
                  <a:pt x="59516" y="207169"/>
                  <a:pt x="53578" y="207169"/>
                </a:cubicBezTo>
                <a:lnTo>
                  <a:pt x="13082" y="207169"/>
                </a:lnTo>
                <a:cubicBezTo>
                  <a:pt x="5849" y="207169"/>
                  <a:pt x="0" y="201320"/>
                  <a:pt x="0" y="194087"/>
                </a:cubicBezTo>
                <a:cubicBezTo>
                  <a:pt x="0" y="189890"/>
                  <a:pt x="2009" y="185961"/>
                  <a:pt x="5402" y="183505"/>
                </a:cubicBezTo>
                <a:lnTo>
                  <a:pt x="36880" y="160600"/>
                </a:lnTo>
                <a:cubicBezTo>
                  <a:pt x="38398" y="159484"/>
                  <a:pt x="39291" y="157743"/>
                  <a:pt x="39291" y="155868"/>
                </a:cubicBezTo>
                <a:cubicBezTo>
                  <a:pt x="39291" y="152653"/>
                  <a:pt x="36656" y="150019"/>
                  <a:pt x="33442" y="150019"/>
                </a:cubicBezTo>
                <a:lnTo>
                  <a:pt x="31254" y="150019"/>
                </a:lnTo>
                <a:cubicBezTo>
                  <a:pt x="29513" y="150019"/>
                  <a:pt x="27816" y="150599"/>
                  <a:pt x="26432" y="151626"/>
                </a:cubicBezTo>
                <a:lnTo>
                  <a:pt x="17145" y="158591"/>
                </a:lnTo>
                <a:cubicBezTo>
                  <a:pt x="12412" y="162163"/>
                  <a:pt x="5715" y="161181"/>
                  <a:pt x="2143" y="156448"/>
                </a:cubicBezTo>
                <a:cubicBezTo>
                  <a:pt x="-1429" y="151715"/>
                  <a:pt x="-446" y="145018"/>
                  <a:pt x="4286" y="141446"/>
                </a:cubicBezTo>
                <a:lnTo>
                  <a:pt x="13573" y="134481"/>
                </a:lnTo>
                <a:close/>
                <a:moveTo>
                  <a:pt x="100013" y="28575"/>
                </a:moveTo>
                <a:lnTo>
                  <a:pt x="214313" y="28575"/>
                </a:lnTo>
                <a:cubicBezTo>
                  <a:pt x="222215" y="28575"/>
                  <a:pt x="228600" y="34960"/>
                  <a:pt x="228600" y="42863"/>
                </a:cubicBezTo>
                <a:cubicBezTo>
                  <a:pt x="228600" y="50765"/>
                  <a:pt x="222215" y="57150"/>
                  <a:pt x="214313" y="57150"/>
                </a:cubicBezTo>
                <a:lnTo>
                  <a:pt x="100013" y="57150"/>
                </a:lnTo>
                <a:cubicBezTo>
                  <a:pt x="92110" y="57150"/>
                  <a:pt x="85725" y="50765"/>
                  <a:pt x="85725" y="42863"/>
                </a:cubicBezTo>
                <a:cubicBezTo>
                  <a:pt x="85725" y="34960"/>
                  <a:pt x="92110" y="28575"/>
                  <a:pt x="100013" y="28575"/>
                </a:cubicBezTo>
                <a:close/>
                <a:moveTo>
                  <a:pt x="100013" y="100013"/>
                </a:moveTo>
                <a:lnTo>
                  <a:pt x="214313" y="100013"/>
                </a:lnTo>
                <a:cubicBezTo>
                  <a:pt x="222215" y="100013"/>
                  <a:pt x="228600" y="106397"/>
                  <a:pt x="228600" y="114300"/>
                </a:cubicBezTo>
                <a:cubicBezTo>
                  <a:pt x="228600" y="122203"/>
                  <a:pt x="222215" y="128588"/>
                  <a:pt x="214313" y="128588"/>
                </a:cubicBezTo>
                <a:lnTo>
                  <a:pt x="100013" y="128588"/>
                </a:lnTo>
                <a:cubicBezTo>
                  <a:pt x="92110" y="128588"/>
                  <a:pt x="85725" y="122203"/>
                  <a:pt x="85725" y="114300"/>
                </a:cubicBezTo>
                <a:cubicBezTo>
                  <a:pt x="85725" y="106397"/>
                  <a:pt x="92110" y="100013"/>
                  <a:pt x="100013" y="100013"/>
                </a:cubicBezTo>
                <a:close/>
                <a:moveTo>
                  <a:pt x="100013" y="171450"/>
                </a:moveTo>
                <a:lnTo>
                  <a:pt x="214313" y="171450"/>
                </a:lnTo>
                <a:cubicBezTo>
                  <a:pt x="222215" y="171450"/>
                  <a:pt x="228600" y="177835"/>
                  <a:pt x="228600" y="185738"/>
                </a:cubicBezTo>
                <a:cubicBezTo>
                  <a:pt x="228600" y="193640"/>
                  <a:pt x="222215" y="200025"/>
                  <a:pt x="214313" y="200025"/>
                </a:cubicBezTo>
                <a:lnTo>
                  <a:pt x="100013" y="200025"/>
                </a:lnTo>
                <a:cubicBezTo>
                  <a:pt x="92110" y="200025"/>
                  <a:pt x="85725" y="193640"/>
                  <a:pt x="85725" y="185738"/>
                </a:cubicBezTo>
                <a:cubicBezTo>
                  <a:pt x="85725" y="177835"/>
                  <a:pt x="92110" y="171450"/>
                  <a:pt x="100013" y="171450"/>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80FD4EB6-E163-4102-8AEF-10B1FEFAE0EA}"/>
              </a:ext>
            </a:extLst>
          </p:cNvPr>
          <p:cNvSpPr>
            <a:spLocks xmlns:a="http://schemas.openxmlformats.org/drawingml/2006/main" noGrp="1"/>
          </p:cNvSpPr>
          <p:nvPr/>
        </p:nvSpPr>
        <p:spPr>
          <a:xfrm xmlns:a="http://schemas.openxmlformats.org/drawingml/2006/main">
            <a:off x="1085850" y="1962150"/>
            <a:ext cx="508635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第一步</a:t>
            </a:r>
            <a:endParaRPr sz="1600"/>
          </a:p>
        </p:txBody>
      </p:sp>
      <p:sp>
        <p:nvSpPr>
          <p:cNvPr id="9" name="Text 7">
            <a:extLst xmlns:a="http://schemas.openxmlformats.org/drawingml/2006/main">
              <a:ext uri="{FF2B5EF4-FFF2-40B4-BE49-F238E27FC236}">
                <a16:creationId xmlns:a16="http://schemas.microsoft.com/office/drawing/2014/main" id="{B331E19F-5A6F-49DC-82FA-CC12406854FB}"/>
              </a:ext>
            </a:extLst>
          </p:cNvPr>
          <p:cNvSpPr>
            <a:spLocks xmlns:a="http://schemas.openxmlformats.org/drawingml/2006/main" noGrp="1"/>
          </p:cNvSpPr>
          <p:nvPr/>
        </p:nvSpPr>
        <p:spPr>
          <a:xfrm xmlns:a="http://schemas.openxmlformats.org/drawingml/2006/main">
            <a:off x="1085850" y="2381250"/>
            <a:ext cx="505777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在</a:t>
            </a:r>
            <a:r>
              <a:rPr sz="1600" b="1">
                <a:latin typeface="微软雅黑"/>
                <a:ea typeface="微软雅黑"/>
                <a:cs typeface="微软雅黑"/>
              </a:rPr>
              <a:t>二维平面内</a:t>
            </a:r>
            <a:r>
              <a:rPr sz="1600">
                <a:latin typeface="微软雅黑"/>
                <a:ea typeface="微软雅黑"/>
                <a:cs typeface="微软雅黑"/>
              </a:rPr>
              <a:t>选三个不同的点并依次用线段连接</a:t>
            </a:r>
            <a:endParaRPr sz="2000"/>
          </a:p>
        </p:txBody>
      </p:sp>
      <p:sp>
        <p:nvSpPr>
          <p:cNvPr id="10" name="Shape 8">
            <a:extLst xmlns:a="http://schemas.openxmlformats.org/drawingml/2006/main">
              <a:ext uri="{FF2B5EF4-FFF2-40B4-BE49-F238E27FC236}">
                <a16:creationId xmlns:a16="http://schemas.microsoft.com/office/drawing/2014/main" id="{9CCED44B-5853-4042-88F6-2DDD7EB90046}"/>
              </a:ext>
            </a:extLst>
          </p:cNvPr>
          <p:cNvSpPr>
            <a:spLocks xmlns:a="http://schemas.openxmlformats.org/drawingml/2006/main" noGrp="1"/>
          </p:cNvSpPr>
          <p:nvPr/>
        </p:nvSpPr>
        <p:spPr>
          <a:xfrm xmlns:a="http://schemas.openxmlformats.org/drawingml/2006/main">
            <a:off x="385763" y="3121819"/>
            <a:ext cx="7458075" cy="2038350"/>
          </a:xfrm>
          <a:custGeom xmlns:a="http://schemas.openxmlformats.org/drawingml/2006/main">
            <a:rect l="l" t="t" r="r" b="b"/>
            <a:pathLst>
              <a:path w="7458075" h="2038350">
                <a:moveTo>
                  <a:pt x="114290" y="0"/>
                </a:moveTo>
                <a:lnTo>
                  <a:pt x="7343785" y="0"/>
                </a:lnTo>
                <a:cubicBezTo>
                  <a:pt x="7406905" y="0"/>
                  <a:pt x="7458075" y="51170"/>
                  <a:pt x="7458075" y="114290"/>
                </a:cubicBezTo>
                <a:lnTo>
                  <a:pt x="7458075" y="1924060"/>
                </a:lnTo>
                <a:cubicBezTo>
                  <a:pt x="7458075" y="1987180"/>
                  <a:pt x="7406905" y="2038350"/>
                  <a:pt x="7343785" y="2038350"/>
                </a:cubicBezTo>
                <a:lnTo>
                  <a:pt x="114290" y="2038350"/>
                </a:lnTo>
                <a:cubicBezTo>
                  <a:pt x="51170" y="2038350"/>
                  <a:pt x="0" y="1987180"/>
                  <a:pt x="0" y="1924060"/>
                </a:cubicBezTo>
                <a:lnTo>
                  <a:pt x="0" y="114290"/>
                </a:lnTo>
                <a:cubicBezTo>
                  <a:pt x="0" y="51212"/>
                  <a:pt x="51212" y="0"/>
                  <a:pt x="114290"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1" name="Shape 9">
            <a:extLst xmlns:a="http://schemas.openxmlformats.org/drawingml/2006/main">
              <a:ext uri="{FF2B5EF4-FFF2-40B4-BE49-F238E27FC236}">
                <a16:creationId xmlns:a16="http://schemas.microsoft.com/office/drawing/2014/main" id="{D7532AA1-1D14-4AF1-B6FA-94E24BBEBDD4}"/>
              </a:ext>
            </a:extLst>
          </p:cNvPr>
          <p:cNvSpPr>
            <a:spLocks xmlns:a="http://schemas.openxmlformats.org/drawingml/2006/main" noGrp="1"/>
          </p:cNvSpPr>
          <p:nvPr/>
        </p:nvSpPr>
        <p:spPr>
          <a:xfrm xmlns:a="http://schemas.openxmlformats.org/drawingml/2006/main">
            <a:off x="642938" y="3393281"/>
            <a:ext cx="190500" cy="190500"/>
          </a:xfrm>
          <a:custGeom xmlns:a="http://schemas.openxmlformats.org/drawingml/2006/main">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7"/>
                  <a:pt x="119063" y="133945"/>
                </a:cubicBezTo>
                <a:cubicBezTo>
                  <a:pt x="119063" y="138894"/>
                  <a:pt x="115081" y="142875"/>
                  <a:pt x="110133" y="142875"/>
                </a:cubicBezTo>
                <a:lnTo>
                  <a:pt x="80367" y="142875"/>
                </a:lnTo>
                <a:cubicBezTo>
                  <a:pt x="75419" y="142875"/>
                  <a:pt x="71438" y="138894"/>
                  <a:pt x="71438" y="133945"/>
                </a:cubicBezTo>
                <a:cubicBezTo>
                  <a:pt x="71438" y="128997"/>
                  <a:pt x="75419" y="125016"/>
                  <a:pt x="80367" y="125016"/>
                </a:cubicBezTo>
                <a:lnTo>
                  <a:pt x="89297" y="125016"/>
                </a:lnTo>
                <a:lnTo>
                  <a:pt x="89297" y="101203"/>
                </a:lnTo>
                <a:lnTo>
                  <a:pt x="80367" y="101203"/>
                </a:lnTo>
                <a:cubicBezTo>
                  <a:pt x="75419" y="101203"/>
                  <a:pt x="71438" y="97222"/>
                  <a:pt x="71438" y="92273"/>
                </a:cubicBezTo>
                <a:cubicBezTo>
                  <a:pt x="71438" y="87325"/>
                  <a:pt x="75419" y="83344"/>
                  <a:pt x="80367" y="83344"/>
                </a:cubicBezTo>
                <a:close/>
              </a:path>
            </a:pathLst>
          </a:custGeom>
          <a:solidFill xmlns:a="http://schemas.openxmlformats.org/drawingml/2006/main">
            <a:srgbClr val="E6B450"/>
          </a:solidFill>
        </p:spPr>
      </p:sp>
      <p:sp>
        <p:nvSpPr>
          <p:cNvPr id="12" name="Text 10">
            <a:extLst xmlns:a="http://schemas.openxmlformats.org/drawingml/2006/main">
              <a:ext uri="{FF2B5EF4-FFF2-40B4-BE49-F238E27FC236}">
                <a16:creationId xmlns:a16="http://schemas.microsoft.com/office/drawing/2014/main" id="{5C05413F-84E9-46D0-9DB4-C059B9791222}"/>
              </a:ext>
            </a:extLst>
          </p:cNvPr>
          <p:cNvSpPr>
            <a:spLocks xmlns:a="http://schemas.openxmlformats.org/drawingml/2006/main" noGrp="1"/>
          </p:cNvSpPr>
          <p:nvPr/>
        </p:nvSpPr>
        <p:spPr>
          <a:xfrm xmlns:a="http://schemas.openxmlformats.org/drawingml/2006/main">
            <a:off x="971550" y="3355181"/>
            <a:ext cx="8572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500" b="1">
                <a:latin typeface="微软雅黑"/>
                <a:ea typeface="微软雅黑"/>
                <a:cs typeface="微软雅黑"/>
              </a:rPr>
              <a:t>构建基础</a:t>
            </a:r>
            <a:endParaRPr sz="1600"/>
          </a:p>
        </p:txBody>
      </p:sp>
      <p:sp>
        <p:nvSpPr>
          <p:cNvPr id="13" name="Text 11">
            <a:extLst xmlns:a="http://schemas.openxmlformats.org/drawingml/2006/main">
              <a:ext uri="{FF2B5EF4-FFF2-40B4-BE49-F238E27FC236}">
                <a16:creationId xmlns:a16="http://schemas.microsoft.com/office/drawing/2014/main" id="{2CB9335C-51B7-4265-A73A-C1272197B0CC}"/>
              </a:ext>
            </a:extLst>
          </p:cNvPr>
          <p:cNvSpPr>
            <a:spLocks xmlns:a="http://schemas.openxmlformats.org/drawingml/2006/main" noGrp="1"/>
          </p:cNvSpPr>
          <p:nvPr/>
        </p:nvSpPr>
        <p:spPr>
          <a:xfrm xmlns:a="http://schemas.openxmlformats.org/drawingml/2006/main">
            <a:off x="619125" y="3774281"/>
            <a:ext cx="707707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选择三个不同的点P</a:t>
            </a:r>
            <a:r>
              <a:rPr sz="1100">
                <a:latin typeface="微软雅黑"/>
                <a:ea typeface="微软雅黑"/>
                <a:cs typeface="微软雅黑"/>
              </a:rPr>
              <a:t>0</a:t>
            </a:r>
            <a:r>
              <a:rPr sz="1600">
                <a:latin typeface="微软雅黑"/>
                <a:ea typeface="微软雅黑"/>
                <a:cs typeface="微软雅黑"/>
              </a:rPr>
              <a:t>、P</a:t>
            </a:r>
            <a:r>
              <a:rPr sz="1100">
                <a:latin typeface="微软雅黑"/>
                <a:ea typeface="微软雅黑"/>
                <a:cs typeface="微软雅黑"/>
              </a:rPr>
              <a:t>1</a:t>
            </a:r>
            <a:r>
              <a:rPr sz="1600">
                <a:latin typeface="微软雅黑"/>
                <a:ea typeface="微软雅黑"/>
                <a:cs typeface="微软雅黑"/>
              </a:rPr>
              <a:t>、P</a:t>
            </a:r>
            <a:r>
              <a:rPr sz="1100">
                <a:latin typeface="微软雅黑"/>
                <a:ea typeface="微软雅黑"/>
                <a:cs typeface="微软雅黑"/>
              </a:rPr>
              <a:t>2</a:t>
            </a:r>
            <a:r>
              <a:rPr sz="1600">
                <a:latin typeface="微软雅黑"/>
                <a:ea typeface="微软雅黑"/>
                <a:cs typeface="微软雅黑"/>
              </a:rPr>
              <a:t>，这是构建二阶贝塞尔曲线的基础。</a:t>
            </a:r>
            <a:endParaRPr sz="2000"/>
          </a:p>
        </p:txBody>
      </p:sp>
      <p:sp>
        <p:nvSpPr>
          <p:cNvPr id="14" name="Shape 12">
            <a:extLst xmlns:a="http://schemas.openxmlformats.org/drawingml/2006/main">
              <a:ext uri="{FF2B5EF4-FFF2-40B4-BE49-F238E27FC236}">
                <a16:creationId xmlns:a16="http://schemas.microsoft.com/office/drawing/2014/main" id="{09C9FD7E-6D7E-48C4-8585-ABBCDC50D96C}"/>
              </a:ext>
            </a:extLst>
          </p:cNvPr>
          <p:cNvSpPr>
            <a:spLocks xmlns:a="http://schemas.openxmlformats.org/drawingml/2006/main" noGrp="1"/>
          </p:cNvSpPr>
          <p:nvPr/>
        </p:nvSpPr>
        <p:spPr>
          <a:xfrm xmlns:a="http://schemas.openxmlformats.org/drawingml/2006/main">
            <a:off x="619125" y="4205288"/>
            <a:ext cx="2257425" cy="723900"/>
          </a:xfrm>
          <a:custGeom xmlns:a="http://schemas.openxmlformats.org/drawingml/2006/main">
            <a:rect l="l" t="t" r="r" b="b"/>
            <a:pathLst>
              <a:path w="2257425" h="723900">
                <a:moveTo>
                  <a:pt x="76198" y="0"/>
                </a:moveTo>
                <a:lnTo>
                  <a:pt x="2181227" y="0"/>
                </a:lnTo>
                <a:cubicBezTo>
                  <a:pt x="2223282" y="0"/>
                  <a:pt x="2257425" y="34143"/>
                  <a:pt x="2257425" y="76198"/>
                </a:cubicBezTo>
                <a:lnTo>
                  <a:pt x="2257425" y="647702"/>
                </a:lnTo>
                <a:cubicBezTo>
                  <a:pt x="2257425" y="689757"/>
                  <a:pt x="2223282" y="723900"/>
                  <a:pt x="2181227" y="723900"/>
                </a:cubicBezTo>
                <a:lnTo>
                  <a:pt x="76198" y="723900"/>
                </a:lnTo>
                <a:cubicBezTo>
                  <a:pt x="34143" y="723900"/>
                  <a:pt x="0" y="689757"/>
                  <a:pt x="0" y="647702"/>
                </a:cubicBezTo>
                <a:lnTo>
                  <a:pt x="0" y="76198"/>
                </a:lnTo>
                <a:cubicBezTo>
                  <a:pt x="0" y="34143"/>
                  <a:pt x="34143" y="0"/>
                  <a:pt x="76198" y="0"/>
                </a:cubicBezTo>
                <a:close/>
              </a:path>
            </a:pathLst>
          </a:custGeom>
          <a:solidFill xmlns:a="http://schemas.openxmlformats.org/drawingml/2006/main">
            <a:srgbClr val="5F87A7">
              <a:alpha val="20000"/>
            </a:srgbClr>
          </a:solidFill>
        </p:spPr>
      </p:sp>
      <p:sp>
        <p:nvSpPr>
          <p:cNvPr id="15" name="Text 13">
            <a:extLst xmlns:a="http://schemas.openxmlformats.org/drawingml/2006/main">
              <a:ext uri="{FF2B5EF4-FFF2-40B4-BE49-F238E27FC236}">
                <a16:creationId xmlns:a16="http://schemas.microsoft.com/office/drawing/2014/main" id="{577BBED6-1CD9-4F7A-B967-1FCDFAA0B617}"/>
              </a:ext>
            </a:extLst>
          </p:cNvPr>
          <p:cNvSpPr>
            <a:spLocks xmlns:a="http://schemas.openxmlformats.org/drawingml/2006/main" noGrp="1"/>
          </p:cNvSpPr>
          <p:nvPr/>
        </p:nvSpPr>
        <p:spPr>
          <a:xfrm xmlns:a="http://schemas.openxmlformats.org/drawingml/2006/main">
            <a:off x="690563" y="4319588"/>
            <a:ext cx="21145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b="1">
                <a:latin typeface="微软雅黑"/>
                <a:ea typeface="微软雅黑"/>
                <a:cs typeface="微软雅黑"/>
              </a:rPr>
              <a:t>P</a:t>
            </a:r>
            <a:r>
              <a:rPr sz="1100" b="1">
                <a:latin typeface="微软雅黑"/>
                <a:ea typeface="微软雅黑"/>
                <a:cs typeface="微软雅黑"/>
              </a:rPr>
              <a:t>0</a:t>
            </a:r>
            <a:endParaRPr sz="2000"/>
          </a:p>
        </p:txBody>
      </p:sp>
      <p:sp>
        <p:nvSpPr>
          <p:cNvPr id="16" name="Text 14">
            <a:extLst xmlns:a="http://schemas.openxmlformats.org/drawingml/2006/main">
              <a:ext uri="{FF2B5EF4-FFF2-40B4-BE49-F238E27FC236}">
                <a16:creationId xmlns:a16="http://schemas.microsoft.com/office/drawing/2014/main" id="{80A2B67C-5B75-4A84-AFE8-EE9E30A7ABF3}"/>
              </a:ext>
            </a:extLst>
          </p:cNvPr>
          <p:cNvSpPr>
            <a:spLocks xmlns:a="http://schemas.openxmlformats.org/drawingml/2006/main" noGrp="1"/>
          </p:cNvSpPr>
          <p:nvPr/>
        </p:nvSpPr>
        <p:spPr>
          <a:xfrm xmlns:a="http://schemas.openxmlformats.org/drawingml/2006/main">
            <a:off x="700088" y="4624388"/>
            <a:ext cx="20955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20000"/>
              </a:lnSpc>
              <a:buNone/>
            </a:pPr>
            <a:r>
              <a:rPr sz="1600">
                <a:latin typeface="微软雅黑"/>
                <a:ea typeface="微软雅黑"/>
                <a:cs typeface="微软雅黑"/>
              </a:rPr>
              <a:t>起点</a:t>
            </a:r>
            <a:endParaRPr sz="2800"/>
          </a:p>
        </p:txBody>
      </p:sp>
      <p:sp>
        <p:nvSpPr>
          <p:cNvPr id="17" name="Shape 15">
            <a:extLst xmlns:a="http://schemas.openxmlformats.org/drawingml/2006/main">
              <a:ext uri="{FF2B5EF4-FFF2-40B4-BE49-F238E27FC236}">
                <a16:creationId xmlns:a16="http://schemas.microsoft.com/office/drawing/2014/main" id="{99364870-37F5-4AB3-A247-6DE54264548D}"/>
              </a:ext>
            </a:extLst>
          </p:cNvPr>
          <p:cNvSpPr>
            <a:spLocks xmlns:a="http://schemas.openxmlformats.org/drawingml/2006/main" noGrp="1"/>
          </p:cNvSpPr>
          <p:nvPr/>
        </p:nvSpPr>
        <p:spPr>
          <a:xfrm xmlns:a="http://schemas.openxmlformats.org/drawingml/2006/main">
            <a:off x="2987576" y="4205288"/>
            <a:ext cx="2257425" cy="723900"/>
          </a:xfrm>
          <a:custGeom xmlns:a="http://schemas.openxmlformats.org/drawingml/2006/main">
            <a:rect l="l" t="t" r="r" b="b"/>
            <a:pathLst>
              <a:path w="2257425" h="723900">
                <a:moveTo>
                  <a:pt x="76198" y="0"/>
                </a:moveTo>
                <a:lnTo>
                  <a:pt x="2181227" y="0"/>
                </a:lnTo>
                <a:cubicBezTo>
                  <a:pt x="2223282" y="0"/>
                  <a:pt x="2257425" y="34143"/>
                  <a:pt x="2257425" y="76198"/>
                </a:cubicBezTo>
                <a:lnTo>
                  <a:pt x="2257425" y="647702"/>
                </a:lnTo>
                <a:cubicBezTo>
                  <a:pt x="2257425" y="689757"/>
                  <a:pt x="2223282" y="723900"/>
                  <a:pt x="2181227" y="723900"/>
                </a:cubicBezTo>
                <a:lnTo>
                  <a:pt x="76198" y="723900"/>
                </a:lnTo>
                <a:cubicBezTo>
                  <a:pt x="34143" y="723900"/>
                  <a:pt x="0" y="689757"/>
                  <a:pt x="0" y="647702"/>
                </a:cubicBezTo>
                <a:lnTo>
                  <a:pt x="0" y="76198"/>
                </a:lnTo>
                <a:cubicBezTo>
                  <a:pt x="0" y="34143"/>
                  <a:pt x="34143" y="0"/>
                  <a:pt x="76198" y="0"/>
                </a:cubicBezTo>
                <a:close/>
              </a:path>
            </a:pathLst>
          </a:custGeom>
          <a:solidFill xmlns:a="http://schemas.openxmlformats.org/drawingml/2006/main">
            <a:srgbClr val="5F87A7">
              <a:alpha val="20000"/>
            </a:srgbClr>
          </a:solidFill>
        </p:spPr>
      </p:sp>
      <p:sp>
        <p:nvSpPr>
          <p:cNvPr id="18" name="Text 16">
            <a:extLst xmlns:a="http://schemas.openxmlformats.org/drawingml/2006/main">
              <a:ext uri="{FF2B5EF4-FFF2-40B4-BE49-F238E27FC236}">
                <a16:creationId xmlns:a16="http://schemas.microsoft.com/office/drawing/2014/main" id="{E00DC286-B043-4BDC-9FE6-8FFCB4BEEF22}"/>
              </a:ext>
            </a:extLst>
          </p:cNvPr>
          <p:cNvSpPr>
            <a:spLocks xmlns:a="http://schemas.openxmlformats.org/drawingml/2006/main" noGrp="1"/>
          </p:cNvSpPr>
          <p:nvPr/>
        </p:nvSpPr>
        <p:spPr>
          <a:xfrm xmlns:a="http://schemas.openxmlformats.org/drawingml/2006/main">
            <a:off x="3059013" y="4319588"/>
            <a:ext cx="21145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b="1">
                <a:latin typeface="微软雅黑"/>
                <a:ea typeface="微软雅黑"/>
                <a:cs typeface="微软雅黑"/>
              </a:rPr>
              <a:t>P</a:t>
            </a:r>
            <a:r>
              <a:rPr sz="1100" b="1">
                <a:latin typeface="微软雅黑"/>
                <a:ea typeface="微软雅黑"/>
                <a:cs typeface="微软雅黑"/>
              </a:rPr>
              <a:t>1</a:t>
            </a:r>
            <a:endParaRPr sz="2000"/>
          </a:p>
        </p:txBody>
      </p:sp>
      <p:sp>
        <p:nvSpPr>
          <p:cNvPr id="19" name="Text 17">
            <a:extLst xmlns:a="http://schemas.openxmlformats.org/drawingml/2006/main">
              <a:ext uri="{FF2B5EF4-FFF2-40B4-BE49-F238E27FC236}">
                <a16:creationId xmlns:a16="http://schemas.microsoft.com/office/drawing/2014/main" id="{7BF91148-E052-4D6E-BE37-FBDC7A19BB10}"/>
              </a:ext>
            </a:extLst>
          </p:cNvPr>
          <p:cNvSpPr>
            <a:spLocks xmlns:a="http://schemas.openxmlformats.org/drawingml/2006/main" noGrp="1"/>
          </p:cNvSpPr>
          <p:nvPr/>
        </p:nvSpPr>
        <p:spPr>
          <a:xfrm xmlns:a="http://schemas.openxmlformats.org/drawingml/2006/main">
            <a:off x="3068538" y="4624388"/>
            <a:ext cx="20955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20000"/>
              </a:lnSpc>
              <a:buNone/>
            </a:pPr>
            <a:r>
              <a:rPr sz="1600">
                <a:latin typeface="微软雅黑"/>
                <a:ea typeface="微软雅黑"/>
                <a:cs typeface="微软雅黑"/>
              </a:rPr>
              <a:t>控制点</a:t>
            </a:r>
            <a:endParaRPr sz="2800"/>
          </a:p>
        </p:txBody>
      </p:sp>
      <p:sp>
        <p:nvSpPr>
          <p:cNvPr id="20" name="Shape 18">
            <a:extLst xmlns:a="http://schemas.openxmlformats.org/drawingml/2006/main">
              <a:ext uri="{FF2B5EF4-FFF2-40B4-BE49-F238E27FC236}">
                <a16:creationId xmlns:a16="http://schemas.microsoft.com/office/drawing/2014/main" id="{6C6380D0-705D-47F7-8055-1651832AC735}"/>
              </a:ext>
            </a:extLst>
          </p:cNvPr>
          <p:cNvSpPr>
            <a:spLocks xmlns:a="http://schemas.openxmlformats.org/drawingml/2006/main" noGrp="1"/>
          </p:cNvSpPr>
          <p:nvPr/>
        </p:nvSpPr>
        <p:spPr>
          <a:xfrm xmlns:a="http://schemas.openxmlformats.org/drawingml/2006/main">
            <a:off x="5356175" y="4205288"/>
            <a:ext cx="2257425" cy="723900"/>
          </a:xfrm>
          <a:custGeom xmlns:a="http://schemas.openxmlformats.org/drawingml/2006/main">
            <a:rect l="l" t="t" r="r" b="b"/>
            <a:pathLst>
              <a:path w="2257425" h="723900">
                <a:moveTo>
                  <a:pt x="76198" y="0"/>
                </a:moveTo>
                <a:lnTo>
                  <a:pt x="2181227" y="0"/>
                </a:lnTo>
                <a:cubicBezTo>
                  <a:pt x="2223282" y="0"/>
                  <a:pt x="2257425" y="34143"/>
                  <a:pt x="2257425" y="76198"/>
                </a:cubicBezTo>
                <a:lnTo>
                  <a:pt x="2257425" y="647702"/>
                </a:lnTo>
                <a:cubicBezTo>
                  <a:pt x="2257425" y="689757"/>
                  <a:pt x="2223282" y="723900"/>
                  <a:pt x="2181227" y="723900"/>
                </a:cubicBezTo>
                <a:lnTo>
                  <a:pt x="76198" y="723900"/>
                </a:lnTo>
                <a:cubicBezTo>
                  <a:pt x="34143" y="723900"/>
                  <a:pt x="0" y="689757"/>
                  <a:pt x="0" y="647702"/>
                </a:cubicBezTo>
                <a:lnTo>
                  <a:pt x="0" y="76198"/>
                </a:lnTo>
                <a:cubicBezTo>
                  <a:pt x="0" y="34143"/>
                  <a:pt x="34143" y="0"/>
                  <a:pt x="76198" y="0"/>
                </a:cubicBezTo>
                <a:close/>
              </a:path>
            </a:pathLst>
          </a:custGeom>
          <a:solidFill xmlns:a="http://schemas.openxmlformats.org/drawingml/2006/main">
            <a:srgbClr val="5F87A7">
              <a:alpha val="20000"/>
            </a:srgbClr>
          </a:solidFill>
        </p:spPr>
      </p:sp>
      <p:sp>
        <p:nvSpPr>
          <p:cNvPr id="21" name="Text 19">
            <a:extLst xmlns:a="http://schemas.openxmlformats.org/drawingml/2006/main">
              <a:ext uri="{FF2B5EF4-FFF2-40B4-BE49-F238E27FC236}">
                <a16:creationId xmlns:a16="http://schemas.microsoft.com/office/drawing/2014/main" id="{210FAE2A-3E81-4BE6-BCA8-B30FEC5A2C14}"/>
              </a:ext>
            </a:extLst>
          </p:cNvPr>
          <p:cNvSpPr>
            <a:spLocks xmlns:a="http://schemas.openxmlformats.org/drawingml/2006/main" noGrp="1"/>
          </p:cNvSpPr>
          <p:nvPr/>
        </p:nvSpPr>
        <p:spPr>
          <a:xfrm xmlns:a="http://schemas.openxmlformats.org/drawingml/2006/main">
            <a:off x="5427613" y="4319588"/>
            <a:ext cx="21145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b="1">
                <a:latin typeface="微软雅黑"/>
                <a:ea typeface="微软雅黑"/>
                <a:cs typeface="微软雅黑"/>
              </a:rPr>
              <a:t>P</a:t>
            </a:r>
            <a:r>
              <a:rPr sz="1100" b="1">
                <a:latin typeface="微软雅黑"/>
                <a:ea typeface="微软雅黑"/>
                <a:cs typeface="微软雅黑"/>
              </a:rPr>
              <a:t>2</a:t>
            </a:r>
            <a:endParaRPr sz="2000"/>
          </a:p>
        </p:txBody>
      </p:sp>
      <p:sp>
        <p:nvSpPr>
          <p:cNvPr id="22" name="Text 20">
            <a:extLst xmlns:a="http://schemas.openxmlformats.org/drawingml/2006/main">
              <a:ext uri="{FF2B5EF4-FFF2-40B4-BE49-F238E27FC236}">
                <a16:creationId xmlns:a16="http://schemas.microsoft.com/office/drawing/2014/main" id="{7B4F4E31-64EB-4BDA-8711-D593C324E983}"/>
              </a:ext>
            </a:extLst>
          </p:cNvPr>
          <p:cNvSpPr>
            <a:spLocks xmlns:a="http://schemas.openxmlformats.org/drawingml/2006/main" noGrp="1"/>
          </p:cNvSpPr>
          <p:nvPr/>
        </p:nvSpPr>
        <p:spPr>
          <a:xfrm xmlns:a="http://schemas.openxmlformats.org/drawingml/2006/main">
            <a:off x="5437138" y="4624388"/>
            <a:ext cx="20955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20000"/>
              </a:lnSpc>
              <a:buNone/>
            </a:pPr>
            <a:r>
              <a:rPr sz="1600">
                <a:latin typeface="微软雅黑"/>
                <a:ea typeface="微软雅黑"/>
                <a:cs typeface="微软雅黑"/>
              </a:rPr>
              <a:t>终点</a:t>
            </a:r>
            <a:endParaRPr sz="2800"/>
          </a:p>
        </p:txBody>
      </p:sp>
      <p:sp>
        <p:nvSpPr>
          <p:cNvPr id="23" name="Shape 21">
            <a:extLst xmlns:a="http://schemas.openxmlformats.org/drawingml/2006/main">
              <a:ext uri="{FF2B5EF4-FFF2-40B4-BE49-F238E27FC236}">
                <a16:creationId xmlns:a16="http://schemas.microsoft.com/office/drawing/2014/main" id="{6F211C51-0FD9-4530-AD2D-12F997B71169}"/>
              </a:ext>
            </a:extLst>
          </p:cNvPr>
          <p:cNvSpPr>
            <a:spLocks xmlns:a="http://schemas.openxmlformats.org/drawingml/2006/main" noGrp="1"/>
          </p:cNvSpPr>
          <p:nvPr/>
        </p:nvSpPr>
        <p:spPr>
          <a:xfrm xmlns:a="http://schemas.openxmlformats.org/drawingml/2006/main">
            <a:off x="8158163" y="1738313"/>
            <a:ext cx="3648075" cy="4124325"/>
          </a:xfrm>
          <a:custGeom xmlns:a="http://schemas.openxmlformats.org/drawingml/2006/main">
            <a:rect l="l" t="t" r="r" b="b"/>
            <a:pathLst>
              <a:path w="3648075" h="4124325">
                <a:moveTo>
                  <a:pt x="114294" y="0"/>
                </a:moveTo>
                <a:lnTo>
                  <a:pt x="3533781" y="0"/>
                </a:lnTo>
                <a:cubicBezTo>
                  <a:pt x="3596904" y="0"/>
                  <a:pt x="3648075" y="51171"/>
                  <a:pt x="3648075" y="114294"/>
                </a:cubicBezTo>
                <a:lnTo>
                  <a:pt x="3648075" y="4010031"/>
                </a:lnTo>
                <a:cubicBezTo>
                  <a:pt x="3648075" y="4073154"/>
                  <a:pt x="3596904" y="4124325"/>
                  <a:pt x="3533781" y="4124325"/>
                </a:cubicBezTo>
                <a:lnTo>
                  <a:pt x="114294" y="4124325"/>
                </a:lnTo>
                <a:cubicBezTo>
                  <a:pt x="51171" y="4124325"/>
                  <a:pt x="0" y="4073154"/>
                  <a:pt x="0" y="4010031"/>
                </a:cubicBezTo>
                <a:lnTo>
                  <a:pt x="0" y="114294"/>
                </a:lnTo>
                <a:cubicBezTo>
                  <a:pt x="0" y="51214"/>
                  <a:pt x="51214" y="0"/>
                  <a:pt x="11429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4" name="Shape 22">
            <a:extLst xmlns:a="http://schemas.openxmlformats.org/drawingml/2006/main">
              <a:ext uri="{FF2B5EF4-FFF2-40B4-BE49-F238E27FC236}">
                <a16:creationId xmlns:a16="http://schemas.microsoft.com/office/drawing/2014/main" id="{73957079-711B-4BE2-9B50-58F3EFB0D427}"/>
              </a:ext>
            </a:extLst>
          </p:cNvPr>
          <p:cNvSpPr>
            <a:spLocks xmlns:a="http://schemas.openxmlformats.org/drawingml/2006/main" noGrp="1"/>
          </p:cNvSpPr>
          <p:nvPr/>
        </p:nvSpPr>
        <p:spPr>
          <a:xfrm xmlns:a="http://schemas.openxmlformats.org/drawingml/2006/main">
            <a:off x="8415338" y="2009775"/>
            <a:ext cx="190500" cy="190500"/>
          </a:xfrm>
          <a:custGeom xmlns:a="http://schemas.openxmlformats.org/drawingml/2006/main">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xmlns:a="http://schemas.openxmlformats.org/drawingml/2006/main">
            <a:srgbClr val="E6B450"/>
          </a:solidFill>
        </p:spPr>
      </p:sp>
      <p:sp>
        <p:nvSpPr>
          <p:cNvPr id="25" name="Text 23">
            <a:extLst xmlns:a="http://schemas.openxmlformats.org/drawingml/2006/main">
              <a:ext uri="{FF2B5EF4-FFF2-40B4-BE49-F238E27FC236}">
                <a16:creationId xmlns:a16="http://schemas.microsoft.com/office/drawing/2014/main" id="{00093D33-B0E7-4901-BAFA-F7452EDD3A82}"/>
              </a:ext>
            </a:extLst>
          </p:cNvPr>
          <p:cNvSpPr>
            <a:spLocks xmlns:a="http://schemas.openxmlformats.org/drawingml/2006/main" noGrp="1"/>
          </p:cNvSpPr>
          <p:nvPr/>
        </p:nvSpPr>
        <p:spPr>
          <a:xfrm xmlns:a="http://schemas.openxmlformats.org/drawingml/2006/main">
            <a:off x="8629650" y="1971675"/>
            <a:ext cx="3038475"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Step 1 示意</a:t>
            </a:r>
            <a:endParaRPr sz="1600"/>
          </a:p>
        </p:txBody>
      </p:sp>
      <p:sp>
        <p:nvSpPr>
          <p:cNvPr id="36" name="Shape 33">
            <a:extLst xmlns:a="http://schemas.openxmlformats.org/drawingml/2006/main">
              <a:ext uri="{FF2B5EF4-FFF2-40B4-BE49-F238E27FC236}">
                <a16:creationId xmlns:a16="http://schemas.microsoft.com/office/drawing/2014/main" id="{8EF9A1F7-3041-4EDD-9707-23F386AEEAF8}"/>
              </a:ext>
            </a:extLst>
          </p:cNvPr>
          <p:cNvSpPr>
            <a:spLocks xmlns:a="http://schemas.openxmlformats.org/drawingml/2006/main" noGrp="1"/>
          </p:cNvSpPr>
          <p:nvPr/>
        </p:nvSpPr>
        <p:spPr>
          <a:xfrm xmlns:a="http://schemas.openxmlformats.org/drawingml/2006/main">
            <a:off x="8391525" y="5095875"/>
            <a:ext cx="3181350" cy="533400"/>
          </a:xfrm>
          <a:custGeom xmlns:a="http://schemas.openxmlformats.org/drawingml/2006/main">
            <a:rect l="l" t="t" r="r" b="b"/>
            <a:pathLst>
              <a:path w="3181350" h="533400">
                <a:moveTo>
                  <a:pt x="76202" y="0"/>
                </a:moveTo>
                <a:lnTo>
                  <a:pt x="3105148" y="0"/>
                </a:lnTo>
                <a:cubicBezTo>
                  <a:pt x="3147233" y="0"/>
                  <a:pt x="3181350" y="34117"/>
                  <a:pt x="3181350" y="76202"/>
                </a:cubicBezTo>
                <a:lnTo>
                  <a:pt x="3181350" y="457198"/>
                </a:lnTo>
                <a:cubicBezTo>
                  <a:pt x="3181350" y="499283"/>
                  <a:pt x="3147233" y="533400"/>
                  <a:pt x="3105148" y="533400"/>
                </a:cubicBezTo>
                <a:lnTo>
                  <a:pt x="76202" y="533400"/>
                </a:lnTo>
                <a:cubicBezTo>
                  <a:pt x="34117" y="533400"/>
                  <a:pt x="0" y="499283"/>
                  <a:pt x="0" y="457198"/>
                </a:cubicBezTo>
                <a:lnTo>
                  <a:pt x="0" y="76202"/>
                </a:lnTo>
                <a:cubicBezTo>
                  <a:pt x="0" y="34145"/>
                  <a:pt x="34145" y="0"/>
                  <a:pt x="76202" y="0"/>
                </a:cubicBezTo>
                <a:close/>
              </a:path>
            </a:pathLst>
          </a:custGeom>
          <a:solidFill xmlns:a="http://schemas.openxmlformats.org/drawingml/2006/main">
            <a:srgbClr val="5F87A7">
              <a:alpha val="20000"/>
            </a:srgbClr>
          </a:solidFill>
        </p:spPr>
      </p:sp>
      <p:sp>
        <p:nvSpPr>
          <p:cNvPr id="37" name="Shape 34">
            <a:extLst xmlns:a="http://schemas.openxmlformats.org/drawingml/2006/main">
              <a:ext uri="{FF2B5EF4-FFF2-40B4-BE49-F238E27FC236}">
                <a16:creationId xmlns:a16="http://schemas.microsoft.com/office/drawing/2014/main" id="{7354E62E-5F0B-4781-A78B-7E49BBC9DA40}"/>
              </a:ext>
            </a:extLst>
          </p:cNvPr>
          <p:cNvSpPr>
            <a:spLocks xmlns:a="http://schemas.openxmlformats.org/drawingml/2006/main" noGrp="1"/>
          </p:cNvSpPr>
          <p:nvPr/>
        </p:nvSpPr>
        <p:spPr>
          <a:xfrm xmlns:a="http://schemas.openxmlformats.org/drawingml/2006/main">
            <a:off x="8758291" y="5286375"/>
            <a:ext cx="152400" cy="152400"/>
          </a:xfrm>
          <a:custGeom xmlns:a="http://schemas.openxmlformats.org/drawingml/2006/main">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xmlns:a="http://schemas.openxmlformats.org/drawingml/2006/main">
            <a:srgbClr val="E6B450"/>
          </a:solidFill>
        </p:spPr>
      </p:sp>
      <p:sp>
        <p:nvSpPr>
          <p:cNvPr id="38" name="Text 35">
            <a:extLst xmlns:a="http://schemas.openxmlformats.org/drawingml/2006/main">
              <a:ext uri="{FF2B5EF4-FFF2-40B4-BE49-F238E27FC236}">
                <a16:creationId xmlns:a16="http://schemas.microsoft.com/office/drawing/2014/main" id="{DBB9541B-9937-47F5-B139-FB35DE68644B}"/>
              </a:ext>
            </a:extLst>
          </p:cNvPr>
          <p:cNvSpPr>
            <a:spLocks xmlns:a="http://schemas.openxmlformats.org/drawingml/2006/main" noGrp="1"/>
          </p:cNvSpPr>
          <p:nvPr/>
        </p:nvSpPr>
        <p:spPr>
          <a:xfrm xmlns:a="http://schemas.openxmlformats.org/drawingml/2006/main">
            <a:off x="8753475" y="5248275"/>
            <a:ext cx="27051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a:latin typeface="微软雅黑"/>
                <a:ea typeface="微软雅黑"/>
                <a:cs typeface="微软雅黑"/>
              </a:rPr>
              <a:t>选择三个点并用线段连接</a:t>
            </a:r>
            <a:endParaRPr sz="1600"/>
          </a:p>
        </p:txBody>
      </p:sp>
      <p:sp>
        <p:nvSpPr>
          <p:cNvPr id="40" name="矩形 39">
            <a:extLst xmlns:a="http://schemas.openxmlformats.org/drawingml/2006/main">
              <a:ext uri="{FF2B5EF4-FFF2-40B4-BE49-F238E27FC236}">
                <a16:creationId xmlns:a16="http://schemas.microsoft.com/office/drawing/2014/main" id="{29637FA9-9FBF-512F-9A44-ACCA3C29CBD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文本框 40">
            <a:extLst xmlns:a="http://schemas.openxmlformats.org/drawingml/2006/main">
              <a:ext uri="{FF2B5EF4-FFF2-40B4-BE49-F238E27FC236}">
                <a16:creationId xmlns:a16="http://schemas.microsoft.com/office/drawing/2014/main" id="{1AF32AD6-64E8-2AE3-C87D-FD2A3B899BD7}"/>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pic>
        <p:nvPicPr>
          <p:cNvPr id="69" name="图片 41"/>
          <p:cNvPicPr>
            <a:picLocks xmlns:a="http://schemas.openxmlformats.org/drawingml/2006/main" noChangeAspect="1"/>
          </p:cNvPicPr>
          <p:nvPr/>
        </p:nvPicPr>
        <p:blipFill>
          <a:blip xmlns:r="http://schemas.openxmlformats.org/officeDocument/2006/relationships" xmlns:a="http://schemas.openxmlformats.org/drawingml/2006/main" r:embed="R99403bcc49744a55">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8158162" y="2657475"/>
            <a:ext cx="3648075" cy="2124170"/>
          </a:xfrm>
          <a:prstGeom xmlns:a="http://schemas.openxmlformats.org/drawingml/2006/main" prst="rect">
            <a:avLst/>
          </a:prstGeom>
        </p:spPr>
      </p:pic>
    </p:spTree>
    <p:extLst>
      <p:ext uri="{BB962C8B-B14F-4D97-AF65-F5344CB8AC3E}">
        <p14:creationId xmlns:p14="http://schemas.microsoft.com/office/powerpoint/2010/main" val="4105850735"/>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5325DE32-382A-4ADC-AE45-20AD87A769EB}"/>
              </a:ext>
            </a:extLst>
          </p:cNvPr>
          <p:cNvSpPr>
            <a:spLocks xmlns:a="http://schemas.openxmlformats.org/drawingml/2006/main" noGrp="1"/>
          </p:cNvSpPr>
          <p:nvPr/>
        </p:nvSpPr>
        <p:spPr>
          <a:xfrm xmlns:a="http://schemas.openxmlformats.org/drawingml/2006/main">
            <a:off x="400050" y="1733550"/>
            <a:ext cx="7448550" cy="1152525"/>
          </a:xfrm>
          <a:custGeom xmlns:a="http://schemas.openxmlformats.org/drawingml/2006/main">
            <a:rect l="l" t="t" r="r" b="b"/>
            <a:pathLst>
              <a:path w="7448550" h="1152525">
                <a:moveTo>
                  <a:pt x="38100" y="0"/>
                </a:moveTo>
                <a:lnTo>
                  <a:pt x="7334254" y="0"/>
                </a:lnTo>
                <a:cubicBezTo>
                  <a:pt x="7397378" y="0"/>
                  <a:pt x="7448550" y="51172"/>
                  <a:pt x="7448550" y="114296"/>
                </a:cubicBezTo>
                <a:lnTo>
                  <a:pt x="7448550" y="1038229"/>
                </a:lnTo>
                <a:cubicBezTo>
                  <a:pt x="7448550" y="1101353"/>
                  <a:pt x="7397378" y="1152525"/>
                  <a:pt x="7334254" y="1152525"/>
                </a:cubicBezTo>
                <a:lnTo>
                  <a:pt x="38100" y="1152525"/>
                </a:lnTo>
                <a:cubicBezTo>
                  <a:pt x="17072" y="1152525"/>
                  <a:pt x="0" y="1135453"/>
                  <a:pt x="0" y="11144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B5DBDDBC-634B-4F2D-843F-56F93E131521}"/>
              </a:ext>
            </a:extLst>
          </p:cNvPr>
          <p:cNvSpPr>
            <a:spLocks xmlns:a="http://schemas.openxmlformats.org/drawingml/2006/main" noGrp="1"/>
          </p:cNvSpPr>
          <p:nvPr/>
        </p:nvSpPr>
        <p:spPr>
          <a:xfrm xmlns:a="http://schemas.openxmlformats.org/drawingml/2006/main">
            <a:off x="400050" y="1733550"/>
            <a:ext cx="38100" cy="1152525"/>
          </a:xfrm>
          <a:custGeom xmlns:a="http://schemas.openxmlformats.org/drawingml/2006/main">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D82DB07D-4B00-4E1F-BBED-368408B2ECA3}"/>
              </a:ext>
            </a:extLst>
          </p:cNvPr>
          <p:cNvSpPr>
            <a:spLocks xmlns:a="http://schemas.openxmlformats.org/drawingml/2006/main" noGrp="1"/>
          </p:cNvSpPr>
          <p:nvPr/>
        </p:nvSpPr>
        <p:spPr>
          <a:xfrm xmlns:a="http://schemas.openxmlformats.org/drawingml/2006/main">
            <a:off x="676275" y="2000250"/>
            <a:ext cx="228600" cy="228600"/>
          </a:xfrm>
          <a:custGeom xmlns:a="http://schemas.openxmlformats.org/drawingml/2006/main">
            <a:rect l="l" t="t" r="r" b="b"/>
            <a:pathLst>
              <a:path w="228600" h="228600">
                <a:moveTo>
                  <a:pt x="0" y="32147"/>
                </a:moveTo>
                <a:cubicBezTo>
                  <a:pt x="0" y="26253"/>
                  <a:pt x="4777" y="21431"/>
                  <a:pt x="10716" y="21431"/>
                </a:cubicBezTo>
                <a:lnTo>
                  <a:pt x="32147" y="21431"/>
                </a:lnTo>
                <a:cubicBezTo>
                  <a:pt x="38085" y="21431"/>
                  <a:pt x="42863" y="26209"/>
                  <a:pt x="42863" y="32147"/>
                </a:cubicBezTo>
                <a:lnTo>
                  <a:pt x="42863" y="78581"/>
                </a:lnTo>
                <a:lnTo>
                  <a:pt x="53578" y="78581"/>
                </a:lnTo>
                <a:cubicBezTo>
                  <a:pt x="59516" y="78581"/>
                  <a:pt x="64294" y="83359"/>
                  <a:pt x="64294" y="89297"/>
                </a:cubicBezTo>
                <a:cubicBezTo>
                  <a:pt x="64294" y="95235"/>
                  <a:pt x="59516" y="100013"/>
                  <a:pt x="53578" y="100013"/>
                </a:cubicBezTo>
                <a:lnTo>
                  <a:pt x="10716" y="100013"/>
                </a:lnTo>
                <a:cubicBezTo>
                  <a:pt x="4777" y="100013"/>
                  <a:pt x="0" y="95235"/>
                  <a:pt x="0" y="89297"/>
                </a:cubicBezTo>
                <a:cubicBezTo>
                  <a:pt x="0" y="83359"/>
                  <a:pt x="4777" y="78581"/>
                  <a:pt x="10716" y="78581"/>
                </a:cubicBezTo>
                <a:lnTo>
                  <a:pt x="21431" y="78581"/>
                </a:lnTo>
                <a:lnTo>
                  <a:pt x="21431" y="42863"/>
                </a:lnTo>
                <a:lnTo>
                  <a:pt x="10716" y="42863"/>
                </a:lnTo>
                <a:cubicBezTo>
                  <a:pt x="4777" y="42863"/>
                  <a:pt x="0" y="38085"/>
                  <a:pt x="0" y="32147"/>
                </a:cubicBezTo>
                <a:close/>
                <a:moveTo>
                  <a:pt x="13573" y="134481"/>
                </a:moveTo>
                <a:cubicBezTo>
                  <a:pt x="18663" y="130641"/>
                  <a:pt x="24869" y="128588"/>
                  <a:pt x="31254" y="128588"/>
                </a:cubicBezTo>
                <a:lnTo>
                  <a:pt x="33442" y="128588"/>
                </a:lnTo>
                <a:cubicBezTo>
                  <a:pt x="48488" y="128588"/>
                  <a:pt x="60722" y="140821"/>
                  <a:pt x="60722" y="155868"/>
                </a:cubicBezTo>
                <a:cubicBezTo>
                  <a:pt x="60722" y="164619"/>
                  <a:pt x="56525" y="172789"/>
                  <a:pt x="49470" y="177924"/>
                </a:cubicBezTo>
                <a:lnTo>
                  <a:pt x="38755" y="185738"/>
                </a:lnTo>
                <a:lnTo>
                  <a:pt x="53578" y="185738"/>
                </a:lnTo>
                <a:cubicBezTo>
                  <a:pt x="59516" y="185738"/>
                  <a:pt x="64294" y="190515"/>
                  <a:pt x="64294" y="196453"/>
                </a:cubicBezTo>
                <a:cubicBezTo>
                  <a:pt x="64294" y="202391"/>
                  <a:pt x="59516" y="207169"/>
                  <a:pt x="53578" y="207169"/>
                </a:cubicBezTo>
                <a:lnTo>
                  <a:pt x="13082" y="207169"/>
                </a:lnTo>
                <a:cubicBezTo>
                  <a:pt x="5849" y="207169"/>
                  <a:pt x="0" y="201320"/>
                  <a:pt x="0" y="194087"/>
                </a:cubicBezTo>
                <a:cubicBezTo>
                  <a:pt x="0" y="189890"/>
                  <a:pt x="2009" y="185961"/>
                  <a:pt x="5402" y="183505"/>
                </a:cubicBezTo>
                <a:lnTo>
                  <a:pt x="36880" y="160600"/>
                </a:lnTo>
                <a:cubicBezTo>
                  <a:pt x="38398" y="159484"/>
                  <a:pt x="39291" y="157743"/>
                  <a:pt x="39291" y="155868"/>
                </a:cubicBezTo>
                <a:cubicBezTo>
                  <a:pt x="39291" y="152653"/>
                  <a:pt x="36656" y="150019"/>
                  <a:pt x="33442" y="150019"/>
                </a:cubicBezTo>
                <a:lnTo>
                  <a:pt x="31254" y="150019"/>
                </a:lnTo>
                <a:cubicBezTo>
                  <a:pt x="29513" y="150019"/>
                  <a:pt x="27816" y="150599"/>
                  <a:pt x="26432" y="151626"/>
                </a:cubicBezTo>
                <a:lnTo>
                  <a:pt x="17145" y="158591"/>
                </a:lnTo>
                <a:cubicBezTo>
                  <a:pt x="12412" y="162163"/>
                  <a:pt x="5715" y="161181"/>
                  <a:pt x="2143" y="156448"/>
                </a:cubicBezTo>
                <a:cubicBezTo>
                  <a:pt x="-1429" y="151715"/>
                  <a:pt x="-446" y="145018"/>
                  <a:pt x="4286" y="141446"/>
                </a:cubicBezTo>
                <a:lnTo>
                  <a:pt x="13573" y="134481"/>
                </a:lnTo>
                <a:close/>
                <a:moveTo>
                  <a:pt x="100013" y="28575"/>
                </a:moveTo>
                <a:lnTo>
                  <a:pt x="214313" y="28575"/>
                </a:lnTo>
                <a:cubicBezTo>
                  <a:pt x="222215" y="28575"/>
                  <a:pt x="228600" y="34960"/>
                  <a:pt x="228600" y="42863"/>
                </a:cubicBezTo>
                <a:cubicBezTo>
                  <a:pt x="228600" y="50765"/>
                  <a:pt x="222215" y="57150"/>
                  <a:pt x="214313" y="57150"/>
                </a:cubicBezTo>
                <a:lnTo>
                  <a:pt x="100013" y="57150"/>
                </a:lnTo>
                <a:cubicBezTo>
                  <a:pt x="92110" y="57150"/>
                  <a:pt x="85725" y="50765"/>
                  <a:pt x="85725" y="42863"/>
                </a:cubicBezTo>
                <a:cubicBezTo>
                  <a:pt x="85725" y="34960"/>
                  <a:pt x="92110" y="28575"/>
                  <a:pt x="100013" y="28575"/>
                </a:cubicBezTo>
                <a:close/>
                <a:moveTo>
                  <a:pt x="100013" y="100013"/>
                </a:moveTo>
                <a:lnTo>
                  <a:pt x="214313" y="100013"/>
                </a:lnTo>
                <a:cubicBezTo>
                  <a:pt x="222215" y="100013"/>
                  <a:pt x="228600" y="106397"/>
                  <a:pt x="228600" y="114300"/>
                </a:cubicBezTo>
                <a:cubicBezTo>
                  <a:pt x="228600" y="122203"/>
                  <a:pt x="222215" y="128588"/>
                  <a:pt x="214313" y="128588"/>
                </a:cubicBezTo>
                <a:lnTo>
                  <a:pt x="100013" y="128588"/>
                </a:lnTo>
                <a:cubicBezTo>
                  <a:pt x="92110" y="128588"/>
                  <a:pt x="85725" y="122203"/>
                  <a:pt x="85725" y="114300"/>
                </a:cubicBezTo>
                <a:cubicBezTo>
                  <a:pt x="85725" y="106397"/>
                  <a:pt x="92110" y="100013"/>
                  <a:pt x="100013" y="100013"/>
                </a:cubicBezTo>
                <a:close/>
                <a:moveTo>
                  <a:pt x="100013" y="171450"/>
                </a:moveTo>
                <a:lnTo>
                  <a:pt x="214313" y="171450"/>
                </a:lnTo>
                <a:cubicBezTo>
                  <a:pt x="222215" y="171450"/>
                  <a:pt x="228600" y="177835"/>
                  <a:pt x="228600" y="185738"/>
                </a:cubicBezTo>
                <a:cubicBezTo>
                  <a:pt x="228600" y="193640"/>
                  <a:pt x="222215" y="200025"/>
                  <a:pt x="214313" y="200025"/>
                </a:cubicBezTo>
                <a:lnTo>
                  <a:pt x="100013" y="200025"/>
                </a:lnTo>
                <a:cubicBezTo>
                  <a:pt x="92110" y="200025"/>
                  <a:pt x="85725" y="193640"/>
                  <a:pt x="85725" y="185738"/>
                </a:cubicBezTo>
                <a:cubicBezTo>
                  <a:pt x="85725" y="177835"/>
                  <a:pt x="92110" y="171450"/>
                  <a:pt x="100013" y="171450"/>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18F5064C-F5DE-4C2F-8D88-7C7AC22F4A48}"/>
              </a:ext>
            </a:extLst>
          </p:cNvPr>
          <p:cNvSpPr>
            <a:spLocks xmlns:a="http://schemas.openxmlformats.org/drawingml/2006/main" noGrp="1"/>
          </p:cNvSpPr>
          <p:nvPr/>
        </p:nvSpPr>
        <p:spPr>
          <a:xfrm xmlns:a="http://schemas.openxmlformats.org/drawingml/2006/main">
            <a:off x="1085850" y="1962150"/>
            <a:ext cx="64770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第二步</a:t>
            </a:r>
            <a:endParaRPr sz="1600"/>
          </a:p>
        </p:txBody>
      </p:sp>
      <p:sp>
        <p:nvSpPr>
          <p:cNvPr id="9" name="Text 7">
            <a:extLst xmlns:a="http://schemas.openxmlformats.org/drawingml/2006/main">
              <a:ext uri="{FF2B5EF4-FFF2-40B4-BE49-F238E27FC236}">
                <a16:creationId xmlns:a16="http://schemas.microsoft.com/office/drawing/2014/main" id="{ACE2CD49-53C9-49F1-ABC1-240EBE5E920D}"/>
              </a:ext>
            </a:extLst>
          </p:cNvPr>
          <p:cNvSpPr>
            <a:spLocks xmlns:a="http://schemas.openxmlformats.org/drawingml/2006/main" noGrp="1"/>
          </p:cNvSpPr>
          <p:nvPr/>
        </p:nvSpPr>
        <p:spPr>
          <a:xfrm xmlns:a="http://schemas.openxmlformats.org/drawingml/2006/main">
            <a:off x="1085850" y="2381250"/>
            <a:ext cx="644842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在线段P</a:t>
            </a:r>
            <a:r>
              <a:rPr sz="1100">
                <a:latin typeface="微软雅黑"/>
                <a:ea typeface="微软雅黑"/>
                <a:cs typeface="微软雅黑"/>
              </a:rPr>
              <a:t>0</a:t>
            </a:r>
            <a:r>
              <a:rPr sz="1600">
                <a:latin typeface="微软雅黑"/>
                <a:ea typeface="微软雅黑"/>
                <a:cs typeface="微软雅黑"/>
              </a:rPr>
              <a:t>P</a:t>
            </a:r>
            <a:r>
              <a:rPr sz="1100">
                <a:latin typeface="微软雅黑"/>
                <a:ea typeface="微软雅黑"/>
                <a:cs typeface="微软雅黑"/>
              </a:rPr>
              <a:t>1</a:t>
            </a:r>
            <a:r>
              <a:rPr sz="1600">
                <a:latin typeface="微软雅黑"/>
                <a:ea typeface="微软雅黑"/>
                <a:cs typeface="微软雅黑"/>
              </a:rPr>
              <a:t>和P</a:t>
            </a:r>
            <a:r>
              <a:rPr sz="1100">
                <a:latin typeface="微软雅黑"/>
                <a:ea typeface="微软雅黑"/>
                <a:cs typeface="微软雅黑"/>
              </a:rPr>
              <a:t>1</a:t>
            </a:r>
            <a:r>
              <a:rPr sz="1600">
                <a:latin typeface="微软雅黑"/>
                <a:ea typeface="微软雅黑"/>
                <a:cs typeface="微软雅黑"/>
              </a:rPr>
              <a:t>P</a:t>
            </a:r>
            <a:r>
              <a:rPr sz="1100">
                <a:latin typeface="微软雅黑"/>
                <a:ea typeface="微软雅黑"/>
                <a:cs typeface="微软雅黑"/>
              </a:rPr>
              <a:t>2</a:t>
            </a:r>
            <a:r>
              <a:rPr sz="1600">
                <a:latin typeface="微软雅黑"/>
                <a:ea typeface="微软雅黑"/>
                <a:cs typeface="微软雅黑"/>
              </a:rPr>
              <a:t>上找到A、B两个点，使得</a:t>
            </a:r>
            <a:endParaRPr sz="2000"/>
          </a:p>
        </p:txBody>
      </p:sp>
      <p:sp>
        <p:nvSpPr>
          <p:cNvPr id="10" name="Shape 8">
            <a:extLst xmlns:a="http://schemas.openxmlformats.org/drawingml/2006/main">
              <a:ext uri="{FF2B5EF4-FFF2-40B4-BE49-F238E27FC236}">
                <a16:creationId xmlns:a16="http://schemas.microsoft.com/office/drawing/2014/main" id="{8CD37837-C30A-488F-AF43-EC4152E40154}"/>
              </a:ext>
            </a:extLst>
          </p:cNvPr>
          <p:cNvSpPr>
            <a:spLocks xmlns:a="http://schemas.openxmlformats.org/drawingml/2006/main" noGrp="1"/>
          </p:cNvSpPr>
          <p:nvPr/>
        </p:nvSpPr>
        <p:spPr>
          <a:xfrm xmlns:a="http://schemas.openxmlformats.org/drawingml/2006/main">
            <a:off x="385763" y="3121819"/>
            <a:ext cx="7458075" cy="2007394"/>
          </a:xfrm>
          <a:custGeom xmlns:a="http://schemas.openxmlformats.org/drawingml/2006/main">
            <a:rect l="l" t="t" r="r" b="b"/>
            <a:pathLst>
              <a:path w="7458075" h="1885950">
                <a:moveTo>
                  <a:pt x="114307" y="0"/>
                </a:moveTo>
                <a:lnTo>
                  <a:pt x="7343768" y="0"/>
                </a:lnTo>
                <a:cubicBezTo>
                  <a:pt x="7406898" y="0"/>
                  <a:pt x="7458075" y="51177"/>
                  <a:pt x="7458075" y="114307"/>
                </a:cubicBezTo>
                <a:lnTo>
                  <a:pt x="7458075" y="1771643"/>
                </a:lnTo>
                <a:cubicBezTo>
                  <a:pt x="7458075" y="1834773"/>
                  <a:pt x="7406898" y="1885950"/>
                  <a:pt x="7343768" y="1885950"/>
                </a:cubicBezTo>
                <a:lnTo>
                  <a:pt x="114307" y="1885950"/>
                </a:lnTo>
                <a:cubicBezTo>
                  <a:pt x="51177" y="1885950"/>
                  <a:pt x="0" y="1834773"/>
                  <a:pt x="0" y="1771643"/>
                </a:cubicBezTo>
                <a:lnTo>
                  <a:pt x="0" y="114307"/>
                </a:lnTo>
                <a:cubicBezTo>
                  <a:pt x="0" y="51219"/>
                  <a:pt x="51219" y="0"/>
                  <a:pt x="11430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1" name="Shape 9">
            <a:extLst xmlns:a="http://schemas.openxmlformats.org/drawingml/2006/main">
              <a:ext uri="{FF2B5EF4-FFF2-40B4-BE49-F238E27FC236}">
                <a16:creationId xmlns:a16="http://schemas.microsoft.com/office/drawing/2014/main" id="{2787513D-5968-444C-8780-04E4009376FB}"/>
              </a:ext>
            </a:extLst>
          </p:cNvPr>
          <p:cNvSpPr>
            <a:spLocks xmlns:a="http://schemas.openxmlformats.org/drawingml/2006/main" noGrp="1"/>
          </p:cNvSpPr>
          <p:nvPr/>
        </p:nvSpPr>
        <p:spPr>
          <a:xfrm xmlns:a="http://schemas.openxmlformats.org/drawingml/2006/main">
            <a:off x="666750" y="3393281"/>
            <a:ext cx="142875" cy="190500"/>
          </a:xfrm>
          <a:custGeom xmlns:a="http://schemas.openxmlformats.org/drawingml/2006/main">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xmlns:a="http://schemas.openxmlformats.org/drawingml/2006/main">
            <a:srgbClr val="E6B450"/>
          </a:solidFill>
        </p:spPr>
      </p:sp>
      <p:sp>
        <p:nvSpPr>
          <p:cNvPr id="12" name="Text 10">
            <a:extLst xmlns:a="http://schemas.openxmlformats.org/drawingml/2006/main">
              <a:ext uri="{FF2B5EF4-FFF2-40B4-BE49-F238E27FC236}">
                <a16:creationId xmlns:a16="http://schemas.microsoft.com/office/drawing/2014/main" id="{BE207FE7-719E-4940-91D5-1005AD18178B}"/>
              </a:ext>
            </a:extLst>
          </p:cNvPr>
          <p:cNvSpPr>
            <a:spLocks xmlns:a="http://schemas.openxmlformats.org/drawingml/2006/main" noGrp="1"/>
          </p:cNvSpPr>
          <p:nvPr/>
        </p:nvSpPr>
        <p:spPr>
          <a:xfrm xmlns:a="http://schemas.openxmlformats.org/drawingml/2006/main">
            <a:off x="971550" y="3355181"/>
            <a:ext cx="139573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比例关系</a:t>
            </a:r>
            <a:endParaRPr sz="2000"/>
          </a:p>
        </p:txBody>
      </p:sp>
      <p:sp>
        <p:nvSpPr>
          <p:cNvPr id="13" name="Text 11">
            <a:extLst xmlns:a="http://schemas.openxmlformats.org/drawingml/2006/main">
              <a:ext uri="{FF2B5EF4-FFF2-40B4-BE49-F238E27FC236}">
                <a16:creationId xmlns:a16="http://schemas.microsoft.com/office/drawing/2014/main" id="{85C5656A-81F5-4B68-A5B4-00FCEF54232B}"/>
              </a:ext>
            </a:extLst>
          </p:cNvPr>
          <p:cNvSpPr>
            <a:spLocks xmlns:a="http://schemas.openxmlformats.org/drawingml/2006/main" noGrp="1"/>
          </p:cNvSpPr>
          <p:nvPr/>
        </p:nvSpPr>
        <p:spPr>
          <a:xfrm xmlns:a="http://schemas.openxmlformats.org/drawingml/2006/main">
            <a:off x="619125" y="3774281"/>
            <a:ext cx="707707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参数t表示点在边上的位置比例，取值范围在0到1之间。</a:t>
            </a:r>
            <a:endParaRPr sz="2000"/>
          </a:p>
        </p:txBody>
      </p:sp>
      <p:sp>
        <p:nvSpPr>
          <p:cNvPr id="14" name="Shape 12">
            <a:extLst xmlns:a="http://schemas.openxmlformats.org/drawingml/2006/main">
              <a:ext uri="{FF2B5EF4-FFF2-40B4-BE49-F238E27FC236}">
                <a16:creationId xmlns:a16="http://schemas.microsoft.com/office/drawing/2014/main" id="{021D9D08-871D-49B1-BA77-AF4E53FA2B95}"/>
              </a:ext>
            </a:extLst>
          </p:cNvPr>
          <p:cNvSpPr>
            <a:spLocks xmlns:a="http://schemas.openxmlformats.org/drawingml/2006/main" noGrp="1"/>
          </p:cNvSpPr>
          <p:nvPr/>
        </p:nvSpPr>
        <p:spPr>
          <a:xfrm xmlns:a="http://schemas.openxmlformats.org/drawingml/2006/main">
            <a:off x="619125" y="4205287"/>
            <a:ext cx="6991350" cy="788987"/>
          </a:xfrm>
          <a:custGeom xmlns:a="http://schemas.openxmlformats.org/drawingml/2006/main">
            <a:rect l="l" t="t" r="r" b="b"/>
            <a:pathLst>
              <a:path w="6991350" h="571500">
                <a:moveTo>
                  <a:pt x="76198" y="0"/>
                </a:moveTo>
                <a:lnTo>
                  <a:pt x="6915152" y="0"/>
                </a:lnTo>
                <a:cubicBezTo>
                  <a:pt x="6957235" y="0"/>
                  <a:pt x="6991350" y="34115"/>
                  <a:pt x="6991350" y="76198"/>
                </a:cubicBezTo>
                <a:lnTo>
                  <a:pt x="6991350" y="495302"/>
                </a:lnTo>
                <a:cubicBezTo>
                  <a:pt x="6991350" y="537385"/>
                  <a:pt x="6957235" y="571500"/>
                  <a:pt x="6915152" y="571500"/>
                </a:cubicBezTo>
                <a:lnTo>
                  <a:pt x="76198" y="571500"/>
                </a:lnTo>
                <a:cubicBezTo>
                  <a:pt x="34115" y="571500"/>
                  <a:pt x="0" y="537385"/>
                  <a:pt x="0" y="495302"/>
                </a:cubicBezTo>
                <a:lnTo>
                  <a:pt x="0" y="76198"/>
                </a:lnTo>
                <a:cubicBezTo>
                  <a:pt x="0" y="34115"/>
                  <a:pt x="34115" y="0"/>
                  <a:pt x="76198" y="0"/>
                </a:cubicBezTo>
                <a:close/>
              </a:path>
            </a:pathLst>
          </a:custGeom>
          <a:solidFill xmlns:a="http://schemas.openxmlformats.org/drawingml/2006/main">
            <a:srgbClr val="5F87A7">
              <a:alpha val="20000"/>
            </a:srgbClr>
          </a:solidFill>
        </p:spPr>
      </p:sp>
      <p:sp>
        <p:nvSpPr>
          <p:cNvPr id="16" name="Shape 14">
            <a:extLst xmlns:a="http://schemas.openxmlformats.org/drawingml/2006/main">
              <a:ext uri="{FF2B5EF4-FFF2-40B4-BE49-F238E27FC236}">
                <a16:creationId xmlns:a16="http://schemas.microsoft.com/office/drawing/2014/main" id="{62BD2F7E-5F18-4FD0-9400-7AE3258A551C}"/>
              </a:ext>
            </a:extLst>
          </p:cNvPr>
          <p:cNvSpPr>
            <a:spLocks xmlns:a="http://schemas.openxmlformats.org/drawingml/2006/main" noGrp="1"/>
          </p:cNvSpPr>
          <p:nvPr/>
        </p:nvSpPr>
        <p:spPr>
          <a:xfrm xmlns:a="http://schemas.openxmlformats.org/drawingml/2006/main">
            <a:off x="400050" y="5243513"/>
            <a:ext cx="7448550" cy="1152525"/>
          </a:xfrm>
          <a:custGeom xmlns:a="http://schemas.openxmlformats.org/drawingml/2006/main">
            <a:rect l="l" t="t" r="r" b="b"/>
            <a:pathLst>
              <a:path w="7448550" h="1152525">
                <a:moveTo>
                  <a:pt x="38100" y="0"/>
                </a:moveTo>
                <a:lnTo>
                  <a:pt x="7334254" y="0"/>
                </a:lnTo>
                <a:cubicBezTo>
                  <a:pt x="7397378" y="0"/>
                  <a:pt x="7448550" y="51172"/>
                  <a:pt x="7448550" y="114296"/>
                </a:cubicBezTo>
                <a:lnTo>
                  <a:pt x="7448550" y="1038229"/>
                </a:lnTo>
                <a:cubicBezTo>
                  <a:pt x="7448550" y="1101353"/>
                  <a:pt x="7397378" y="1152525"/>
                  <a:pt x="7334254" y="1152525"/>
                </a:cubicBezTo>
                <a:lnTo>
                  <a:pt x="38100" y="1152525"/>
                </a:lnTo>
                <a:cubicBezTo>
                  <a:pt x="17072" y="1152525"/>
                  <a:pt x="0" y="1135453"/>
                  <a:pt x="0" y="11144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17" name="Shape 15">
            <a:extLst xmlns:a="http://schemas.openxmlformats.org/drawingml/2006/main">
              <a:ext uri="{FF2B5EF4-FFF2-40B4-BE49-F238E27FC236}">
                <a16:creationId xmlns:a16="http://schemas.microsoft.com/office/drawing/2014/main" id="{F26871C2-0737-4113-942B-5F0AD46C0628}"/>
              </a:ext>
            </a:extLst>
          </p:cNvPr>
          <p:cNvSpPr>
            <a:spLocks xmlns:a="http://schemas.openxmlformats.org/drawingml/2006/main" noGrp="1"/>
          </p:cNvSpPr>
          <p:nvPr/>
        </p:nvSpPr>
        <p:spPr>
          <a:xfrm xmlns:a="http://schemas.openxmlformats.org/drawingml/2006/main">
            <a:off x="400050" y="5243513"/>
            <a:ext cx="38100" cy="1152525"/>
          </a:xfrm>
          <a:custGeom xmlns:a="http://schemas.openxmlformats.org/drawingml/2006/main">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xmlns:a="http://schemas.openxmlformats.org/drawingml/2006/main">
            <a:srgbClr val="E6B450"/>
          </a:solidFill>
        </p:spPr>
      </p:sp>
      <p:sp>
        <p:nvSpPr>
          <p:cNvPr id="18" name="Shape 16">
            <a:extLst xmlns:a="http://schemas.openxmlformats.org/drawingml/2006/main">
              <a:ext uri="{FF2B5EF4-FFF2-40B4-BE49-F238E27FC236}">
                <a16:creationId xmlns:a16="http://schemas.microsoft.com/office/drawing/2014/main" id="{55E0164D-C936-4D78-86B5-1E8090A5EE6B}"/>
              </a:ext>
            </a:extLst>
          </p:cNvPr>
          <p:cNvSpPr>
            <a:spLocks xmlns:a="http://schemas.openxmlformats.org/drawingml/2006/main" noGrp="1"/>
          </p:cNvSpPr>
          <p:nvPr/>
        </p:nvSpPr>
        <p:spPr>
          <a:xfrm xmlns:a="http://schemas.openxmlformats.org/drawingml/2006/main">
            <a:off x="704850" y="5510213"/>
            <a:ext cx="171450" cy="228600"/>
          </a:xfrm>
          <a:custGeom xmlns:a="http://schemas.openxmlformats.org/drawingml/2006/main">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xmlns:a="http://schemas.openxmlformats.org/drawingml/2006/main">
            <a:srgbClr val="E6B450"/>
          </a:solidFill>
        </p:spPr>
      </p:sp>
      <p:sp>
        <p:nvSpPr>
          <p:cNvPr id="19" name="Text 17">
            <a:extLst xmlns:a="http://schemas.openxmlformats.org/drawingml/2006/main">
              <a:ext uri="{FF2B5EF4-FFF2-40B4-BE49-F238E27FC236}">
                <a16:creationId xmlns:a16="http://schemas.microsoft.com/office/drawing/2014/main" id="{EDEFD21F-794F-41D3-A217-A2A69155602F}"/>
              </a:ext>
            </a:extLst>
          </p:cNvPr>
          <p:cNvSpPr>
            <a:spLocks xmlns:a="http://schemas.openxmlformats.org/drawingml/2006/main" noGrp="1"/>
          </p:cNvSpPr>
          <p:nvPr/>
        </p:nvSpPr>
        <p:spPr>
          <a:xfrm xmlns:a="http://schemas.openxmlformats.org/drawingml/2006/main">
            <a:off x="1085850" y="5472113"/>
            <a:ext cx="60579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参数t的意义</a:t>
            </a:r>
            <a:endParaRPr sz="1600"/>
          </a:p>
        </p:txBody>
      </p:sp>
      <p:sp>
        <p:nvSpPr>
          <p:cNvPr id="20" name="Text 18">
            <a:extLst xmlns:a="http://schemas.openxmlformats.org/drawingml/2006/main">
              <a:ext uri="{FF2B5EF4-FFF2-40B4-BE49-F238E27FC236}">
                <a16:creationId xmlns:a16="http://schemas.microsoft.com/office/drawing/2014/main" id="{3C4941B3-0A7D-4120-B24E-5D5A150EB93D}"/>
              </a:ext>
            </a:extLst>
          </p:cNvPr>
          <p:cNvSpPr>
            <a:spLocks xmlns:a="http://schemas.openxmlformats.org/drawingml/2006/main" noGrp="1"/>
          </p:cNvSpPr>
          <p:nvPr/>
        </p:nvSpPr>
        <p:spPr>
          <a:xfrm xmlns:a="http://schemas.openxmlformats.org/drawingml/2006/main">
            <a:off x="1085850" y="5891213"/>
            <a:ext cx="602932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当t从0变化到1时，点A和点B分别在各自的线段上移动，形成动态的构造过程。</a:t>
            </a:r>
            <a:endParaRPr sz="2000"/>
          </a:p>
        </p:txBody>
      </p:sp>
      <p:sp>
        <p:nvSpPr>
          <p:cNvPr id="21" name="Shape 19">
            <a:extLst xmlns:a="http://schemas.openxmlformats.org/drawingml/2006/main">
              <a:ext uri="{FF2B5EF4-FFF2-40B4-BE49-F238E27FC236}">
                <a16:creationId xmlns:a16="http://schemas.microsoft.com/office/drawing/2014/main" id="{A3DC4422-ED95-44BA-AD72-76182C62DB4B}"/>
              </a:ext>
            </a:extLst>
          </p:cNvPr>
          <p:cNvSpPr>
            <a:spLocks xmlns:a="http://schemas.openxmlformats.org/drawingml/2006/main" noGrp="1"/>
          </p:cNvSpPr>
          <p:nvPr/>
        </p:nvSpPr>
        <p:spPr>
          <a:xfrm xmlns:a="http://schemas.openxmlformats.org/drawingml/2006/main">
            <a:off x="8158163" y="1738313"/>
            <a:ext cx="3648075" cy="4657725"/>
          </a:xfrm>
          <a:custGeom xmlns:a="http://schemas.openxmlformats.org/drawingml/2006/main">
            <a:rect l="l" t="t" r="r" b="b"/>
            <a:pathLst>
              <a:path w="3648075" h="4657725">
                <a:moveTo>
                  <a:pt x="114294" y="0"/>
                </a:moveTo>
                <a:lnTo>
                  <a:pt x="3533781" y="0"/>
                </a:lnTo>
                <a:cubicBezTo>
                  <a:pt x="3596904" y="0"/>
                  <a:pt x="3648075" y="51171"/>
                  <a:pt x="3648075" y="114294"/>
                </a:cubicBezTo>
                <a:lnTo>
                  <a:pt x="3648075" y="4543431"/>
                </a:lnTo>
                <a:cubicBezTo>
                  <a:pt x="3648075" y="4606554"/>
                  <a:pt x="3596904" y="4657725"/>
                  <a:pt x="3533781" y="4657725"/>
                </a:cubicBezTo>
                <a:lnTo>
                  <a:pt x="114294" y="4657725"/>
                </a:lnTo>
                <a:cubicBezTo>
                  <a:pt x="51171" y="4657725"/>
                  <a:pt x="0" y="4606554"/>
                  <a:pt x="0" y="4543431"/>
                </a:cubicBezTo>
                <a:lnTo>
                  <a:pt x="0" y="114294"/>
                </a:lnTo>
                <a:cubicBezTo>
                  <a:pt x="0" y="51214"/>
                  <a:pt x="51214" y="0"/>
                  <a:pt x="11429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2" name="Shape 20">
            <a:extLst xmlns:a="http://schemas.openxmlformats.org/drawingml/2006/main">
              <a:ext uri="{FF2B5EF4-FFF2-40B4-BE49-F238E27FC236}">
                <a16:creationId xmlns:a16="http://schemas.microsoft.com/office/drawing/2014/main" id="{A2809262-A36D-47B6-A833-508AC656B49F}"/>
              </a:ext>
            </a:extLst>
          </p:cNvPr>
          <p:cNvSpPr>
            <a:spLocks xmlns:a="http://schemas.openxmlformats.org/drawingml/2006/main" noGrp="1"/>
          </p:cNvSpPr>
          <p:nvPr/>
        </p:nvSpPr>
        <p:spPr>
          <a:xfrm xmlns:a="http://schemas.openxmlformats.org/drawingml/2006/main">
            <a:off x="8415338" y="2009775"/>
            <a:ext cx="190500" cy="190500"/>
          </a:xfrm>
          <a:custGeom xmlns:a="http://schemas.openxmlformats.org/drawingml/2006/main">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xmlns:a="http://schemas.openxmlformats.org/drawingml/2006/main">
            <a:srgbClr val="E6B450"/>
          </a:solidFill>
        </p:spPr>
      </p:sp>
      <p:sp>
        <p:nvSpPr>
          <p:cNvPr id="23" name="Text 21">
            <a:extLst xmlns:a="http://schemas.openxmlformats.org/drawingml/2006/main">
              <a:ext uri="{FF2B5EF4-FFF2-40B4-BE49-F238E27FC236}">
                <a16:creationId xmlns:a16="http://schemas.microsoft.com/office/drawing/2014/main" id="{00E95FE4-8AA4-4708-B68E-F54CC170DD9B}"/>
              </a:ext>
            </a:extLst>
          </p:cNvPr>
          <p:cNvSpPr>
            <a:spLocks xmlns:a="http://schemas.openxmlformats.org/drawingml/2006/main" noGrp="1"/>
          </p:cNvSpPr>
          <p:nvPr/>
        </p:nvSpPr>
        <p:spPr>
          <a:xfrm xmlns:a="http://schemas.openxmlformats.org/drawingml/2006/main">
            <a:off x="8629650" y="1971675"/>
            <a:ext cx="3038475"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Step 2 示意</a:t>
            </a:r>
            <a:endParaRPr sz="1600"/>
          </a:p>
        </p:txBody>
      </p:sp>
      <p:sp>
        <p:nvSpPr>
          <p:cNvPr id="37" name="Shape 34">
            <a:extLst xmlns:a="http://schemas.openxmlformats.org/drawingml/2006/main">
              <a:ext uri="{FF2B5EF4-FFF2-40B4-BE49-F238E27FC236}">
                <a16:creationId xmlns:a16="http://schemas.microsoft.com/office/drawing/2014/main" id="{036D7D6D-4228-46B3-B960-3E2FFB9501F0}"/>
              </a:ext>
            </a:extLst>
          </p:cNvPr>
          <p:cNvSpPr>
            <a:spLocks xmlns:a="http://schemas.openxmlformats.org/drawingml/2006/main" noGrp="1"/>
          </p:cNvSpPr>
          <p:nvPr/>
        </p:nvSpPr>
        <p:spPr>
          <a:xfrm xmlns:a="http://schemas.openxmlformats.org/drawingml/2006/main">
            <a:off x="8391525" y="5626894"/>
            <a:ext cx="3181350" cy="533400"/>
          </a:xfrm>
          <a:custGeom xmlns:a="http://schemas.openxmlformats.org/drawingml/2006/main">
            <a:rect l="l" t="t" r="r" b="b"/>
            <a:pathLst>
              <a:path w="3181350" h="533400">
                <a:moveTo>
                  <a:pt x="76202" y="0"/>
                </a:moveTo>
                <a:lnTo>
                  <a:pt x="3105148" y="0"/>
                </a:lnTo>
                <a:cubicBezTo>
                  <a:pt x="3147233" y="0"/>
                  <a:pt x="3181350" y="34117"/>
                  <a:pt x="3181350" y="76202"/>
                </a:cubicBezTo>
                <a:lnTo>
                  <a:pt x="3181350" y="457198"/>
                </a:lnTo>
                <a:cubicBezTo>
                  <a:pt x="3181350" y="499283"/>
                  <a:pt x="3147233" y="533400"/>
                  <a:pt x="3105148" y="533400"/>
                </a:cubicBezTo>
                <a:lnTo>
                  <a:pt x="76202" y="533400"/>
                </a:lnTo>
                <a:cubicBezTo>
                  <a:pt x="34117" y="533400"/>
                  <a:pt x="0" y="499283"/>
                  <a:pt x="0" y="457198"/>
                </a:cubicBezTo>
                <a:lnTo>
                  <a:pt x="0" y="76202"/>
                </a:lnTo>
                <a:cubicBezTo>
                  <a:pt x="0" y="34145"/>
                  <a:pt x="34145" y="0"/>
                  <a:pt x="76202" y="0"/>
                </a:cubicBezTo>
                <a:close/>
              </a:path>
            </a:pathLst>
          </a:custGeom>
          <a:solidFill xmlns:a="http://schemas.openxmlformats.org/drawingml/2006/main">
            <a:srgbClr val="5F87A7">
              <a:alpha val="20000"/>
            </a:srgbClr>
          </a:solidFill>
        </p:spPr>
      </p:sp>
      <p:sp>
        <p:nvSpPr>
          <p:cNvPr id="38" name="Shape 35">
            <a:extLst xmlns:a="http://schemas.openxmlformats.org/drawingml/2006/main">
              <a:ext uri="{FF2B5EF4-FFF2-40B4-BE49-F238E27FC236}">
                <a16:creationId xmlns:a16="http://schemas.microsoft.com/office/drawing/2014/main" id="{3B55D2DC-4754-4D72-B2A7-DF1BDE40EFA2}"/>
              </a:ext>
            </a:extLst>
          </p:cNvPr>
          <p:cNvSpPr>
            <a:spLocks xmlns:a="http://schemas.openxmlformats.org/drawingml/2006/main" noGrp="1"/>
          </p:cNvSpPr>
          <p:nvPr/>
        </p:nvSpPr>
        <p:spPr>
          <a:xfrm xmlns:a="http://schemas.openxmlformats.org/drawingml/2006/main">
            <a:off x="8692322" y="5817394"/>
            <a:ext cx="152400" cy="152400"/>
          </a:xfrm>
          <a:custGeom xmlns:a="http://schemas.openxmlformats.org/drawingml/2006/main">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xmlns:a="http://schemas.openxmlformats.org/drawingml/2006/main">
            <a:srgbClr val="E6B450"/>
          </a:solidFill>
        </p:spPr>
      </p:sp>
      <p:sp>
        <p:nvSpPr>
          <p:cNvPr id="39" name="Text 36">
            <a:extLst xmlns:a="http://schemas.openxmlformats.org/drawingml/2006/main">
              <a:ext uri="{FF2B5EF4-FFF2-40B4-BE49-F238E27FC236}">
                <a16:creationId xmlns:a16="http://schemas.microsoft.com/office/drawing/2014/main" id="{F2B3C5E7-2810-4EF5-8094-DA25354E4D13}"/>
              </a:ext>
            </a:extLst>
          </p:cNvPr>
          <p:cNvSpPr>
            <a:spLocks xmlns:a="http://schemas.openxmlformats.org/drawingml/2006/main" noGrp="1"/>
          </p:cNvSpPr>
          <p:nvPr/>
        </p:nvSpPr>
        <p:spPr>
          <a:xfrm xmlns:a="http://schemas.openxmlformats.org/drawingml/2006/main">
            <a:off x="8753475" y="5779294"/>
            <a:ext cx="27051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a:latin typeface="微软雅黑"/>
                <a:ea typeface="微软雅黑"/>
                <a:cs typeface="微软雅黑"/>
              </a:rPr>
              <a:t>按相同比例找到A、B两点</a:t>
            </a:r>
            <a:endParaRPr sz="1600"/>
          </a:p>
        </p:txBody>
      </p:sp>
      <p:sp>
        <p:nvSpPr>
          <p:cNvPr id="41" name="矩形 40">
            <a:extLst xmlns:a="http://schemas.openxmlformats.org/drawingml/2006/main">
              <a:ext uri="{FF2B5EF4-FFF2-40B4-BE49-F238E27FC236}">
                <a16:creationId xmlns:a16="http://schemas.microsoft.com/office/drawing/2014/main" id="{31D32C41-6D22-B9AE-38C9-7137D7FD3BED}"/>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文本框 41">
            <a:extLst xmlns:a="http://schemas.openxmlformats.org/drawingml/2006/main">
              <a:ext uri="{FF2B5EF4-FFF2-40B4-BE49-F238E27FC236}">
                <a16:creationId xmlns:a16="http://schemas.microsoft.com/office/drawing/2014/main" id="{A0DF7DBD-8A8D-111C-49C9-9D732E45E910}"/>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pic>
        <p:nvPicPr>
          <p:cNvPr id="67" name="图片 42"/>
          <p:cNvPicPr>
            <a:picLocks xmlns:a="http://schemas.openxmlformats.org/drawingml/2006/main" noChangeAspect="1"/>
          </p:cNvPicPr>
          <p:nvPr/>
        </p:nvPicPr>
        <p:blipFill>
          <a:blip xmlns:r="http://schemas.openxmlformats.org/officeDocument/2006/relationships" xmlns:a="http://schemas.openxmlformats.org/drawingml/2006/main" r:embed="Rf24e95aed1374426">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8153401" y="2972674"/>
            <a:ext cx="3648075" cy="2129234"/>
          </a:xfrm>
          <a:prstGeom xmlns:a="http://schemas.openxmlformats.org/drawingml/2006/main" prst="rect">
            <a:avLst/>
          </a:prstGeom>
        </p:spPr>
      </p:pic>
    </p:spTree>
    <p:extLst>
      <p:ext uri="{BB962C8B-B14F-4D97-AF65-F5344CB8AC3E}">
        <p14:creationId xmlns:p14="http://schemas.microsoft.com/office/powerpoint/2010/main" val="4181518080"/>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16D78B19-7464-44D8-A781-EFE1CDDD65E8}"/>
              </a:ext>
            </a:extLst>
          </p:cNvPr>
          <p:cNvSpPr>
            <a:spLocks xmlns:a="http://schemas.openxmlformats.org/drawingml/2006/main" noGrp="1"/>
          </p:cNvSpPr>
          <p:nvPr/>
        </p:nvSpPr>
        <p:spPr>
          <a:xfrm xmlns:a="http://schemas.openxmlformats.org/drawingml/2006/main">
            <a:off x="388811" y="1684847"/>
            <a:ext cx="7581813" cy="1397020"/>
          </a:xfrm>
          <a:custGeom xmlns:a="http://schemas.openxmlformats.org/drawingml/2006/main">
            <a:rect l="l" t="t" r="r" b="b"/>
            <a:pathLst>
              <a:path w="7581813" h="1120146">
                <a:moveTo>
                  <a:pt x="37030" y="0"/>
                </a:moveTo>
                <a:lnTo>
                  <a:pt x="7470728" y="0"/>
                </a:lnTo>
                <a:cubicBezTo>
                  <a:pt x="7532079" y="0"/>
                  <a:pt x="7581813" y="49734"/>
                  <a:pt x="7581813" y="111085"/>
                </a:cubicBezTo>
                <a:lnTo>
                  <a:pt x="7581813" y="1009061"/>
                </a:lnTo>
                <a:cubicBezTo>
                  <a:pt x="7581813" y="1070411"/>
                  <a:pt x="7532079" y="1120146"/>
                  <a:pt x="7470728" y="1120146"/>
                </a:cubicBezTo>
                <a:lnTo>
                  <a:pt x="37030" y="1120146"/>
                </a:lnTo>
                <a:cubicBezTo>
                  <a:pt x="16579" y="1120146"/>
                  <a:pt x="0" y="1103567"/>
                  <a:pt x="0" y="1083116"/>
                </a:cubicBezTo>
                <a:lnTo>
                  <a:pt x="0" y="37030"/>
                </a:lnTo>
                <a:cubicBezTo>
                  <a:pt x="0" y="16579"/>
                  <a:pt x="16579" y="0"/>
                  <a:pt x="3703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6F6D6ED6-31B4-4404-B51B-6E35073B8BBE}"/>
              </a:ext>
            </a:extLst>
          </p:cNvPr>
          <p:cNvSpPr>
            <a:spLocks xmlns:a="http://schemas.openxmlformats.org/drawingml/2006/main" noGrp="1"/>
          </p:cNvSpPr>
          <p:nvPr/>
        </p:nvSpPr>
        <p:spPr>
          <a:xfrm xmlns:a="http://schemas.openxmlformats.org/drawingml/2006/main">
            <a:off x="388811" y="1684847"/>
            <a:ext cx="37030" cy="1397020"/>
          </a:xfrm>
          <a:custGeom xmlns:a="http://schemas.openxmlformats.org/drawingml/2006/main">
            <a:rect l="l" t="t" r="r" b="b"/>
            <a:pathLst>
              <a:path w="37030" h="1120146">
                <a:moveTo>
                  <a:pt x="37030" y="0"/>
                </a:moveTo>
                <a:lnTo>
                  <a:pt x="37030" y="0"/>
                </a:lnTo>
                <a:lnTo>
                  <a:pt x="37030" y="1120146"/>
                </a:lnTo>
                <a:lnTo>
                  <a:pt x="37030" y="1120146"/>
                </a:lnTo>
                <a:cubicBezTo>
                  <a:pt x="16579" y="1120146"/>
                  <a:pt x="0" y="1103567"/>
                  <a:pt x="0" y="1083116"/>
                </a:cubicBezTo>
                <a:lnTo>
                  <a:pt x="0" y="37030"/>
                </a:lnTo>
                <a:cubicBezTo>
                  <a:pt x="0" y="16579"/>
                  <a:pt x="16579" y="0"/>
                  <a:pt x="3703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EE68E295-A4A0-47B4-A216-EE1E4F2AF3B0}"/>
              </a:ext>
            </a:extLst>
          </p:cNvPr>
          <p:cNvSpPr>
            <a:spLocks xmlns:a="http://schemas.openxmlformats.org/drawingml/2006/main" noGrp="1"/>
          </p:cNvSpPr>
          <p:nvPr/>
        </p:nvSpPr>
        <p:spPr>
          <a:xfrm xmlns:a="http://schemas.openxmlformats.org/drawingml/2006/main">
            <a:off x="657276" y="1944055"/>
            <a:ext cx="222178" cy="222178"/>
          </a:xfrm>
          <a:custGeom xmlns:a="http://schemas.openxmlformats.org/drawingml/2006/main">
            <a:rect l="l" t="t" r="r" b="b"/>
            <a:pathLst>
              <a:path w="222178" h="222178">
                <a:moveTo>
                  <a:pt x="0" y="31244"/>
                </a:moveTo>
                <a:cubicBezTo>
                  <a:pt x="0" y="25516"/>
                  <a:pt x="4643" y="20829"/>
                  <a:pt x="10415" y="20829"/>
                </a:cubicBezTo>
                <a:lnTo>
                  <a:pt x="31244" y="20829"/>
                </a:lnTo>
                <a:cubicBezTo>
                  <a:pt x="37015" y="20829"/>
                  <a:pt x="41658" y="25472"/>
                  <a:pt x="41658" y="31244"/>
                </a:cubicBezTo>
                <a:lnTo>
                  <a:pt x="41658" y="76374"/>
                </a:lnTo>
                <a:lnTo>
                  <a:pt x="52073" y="76374"/>
                </a:lnTo>
                <a:cubicBezTo>
                  <a:pt x="57844" y="76374"/>
                  <a:pt x="62487" y="81017"/>
                  <a:pt x="62487" y="86788"/>
                </a:cubicBezTo>
                <a:cubicBezTo>
                  <a:pt x="62487" y="92560"/>
                  <a:pt x="57844" y="97203"/>
                  <a:pt x="52073" y="97203"/>
                </a:cubicBezTo>
                <a:lnTo>
                  <a:pt x="10415" y="97203"/>
                </a:lnTo>
                <a:cubicBezTo>
                  <a:pt x="4643" y="97203"/>
                  <a:pt x="0" y="92560"/>
                  <a:pt x="0" y="86788"/>
                </a:cubicBezTo>
                <a:cubicBezTo>
                  <a:pt x="0" y="81017"/>
                  <a:pt x="4643" y="76374"/>
                  <a:pt x="10415" y="76374"/>
                </a:cubicBezTo>
                <a:lnTo>
                  <a:pt x="20829" y="76374"/>
                </a:lnTo>
                <a:lnTo>
                  <a:pt x="20829" y="41658"/>
                </a:lnTo>
                <a:lnTo>
                  <a:pt x="10415" y="41658"/>
                </a:lnTo>
                <a:cubicBezTo>
                  <a:pt x="4643" y="41658"/>
                  <a:pt x="0" y="37015"/>
                  <a:pt x="0" y="31244"/>
                </a:cubicBezTo>
                <a:close/>
                <a:moveTo>
                  <a:pt x="13192" y="130703"/>
                </a:moveTo>
                <a:cubicBezTo>
                  <a:pt x="18139" y="126971"/>
                  <a:pt x="24171" y="124975"/>
                  <a:pt x="30376" y="124975"/>
                </a:cubicBezTo>
                <a:lnTo>
                  <a:pt x="32502" y="124975"/>
                </a:lnTo>
                <a:cubicBezTo>
                  <a:pt x="47126" y="124975"/>
                  <a:pt x="59016" y="136865"/>
                  <a:pt x="59016" y="151489"/>
                </a:cubicBezTo>
                <a:cubicBezTo>
                  <a:pt x="59016" y="159994"/>
                  <a:pt x="54937" y="167935"/>
                  <a:pt x="48081" y="172925"/>
                </a:cubicBezTo>
                <a:lnTo>
                  <a:pt x="37666" y="180519"/>
                </a:lnTo>
                <a:lnTo>
                  <a:pt x="52073" y="180519"/>
                </a:lnTo>
                <a:cubicBezTo>
                  <a:pt x="57844" y="180519"/>
                  <a:pt x="62487" y="185163"/>
                  <a:pt x="62487" y="190934"/>
                </a:cubicBezTo>
                <a:cubicBezTo>
                  <a:pt x="62487" y="196705"/>
                  <a:pt x="57844" y="201349"/>
                  <a:pt x="52073" y="201349"/>
                </a:cubicBezTo>
                <a:lnTo>
                  <a:pt x="12714" y="201349"/>
                </a:lnTo>
                <a:cubicBezTo>
                  <a:pt x="5685" y="201349"/>
                  <a:pt x="0" y="195664"/>
                  <a:pt x="0" y="188634"/>
                </a:cubicBezTo>
                <a:cubicBezTo>
                  <a:pt x="0" y="184555"/>
                  <a:pt x="1953" y="180736"/>
                  <a:pt x="5251" y="178350"/>
                </a:cubicBezTo>
                <a:lnTo>
                  <a:pt x="35844" y="156088"/>
                </a:lnTo>
                <a:cubicBezTo>
                  <a:pt x="37319" y="155004"/>
                  <a:pt x="38187" y="153311"/>
                  <a:pt x="38187" y="151489"/>
                </a:cubicBezTo>
                <a:cubicBezTo>
                  <a:pt x="38187" y="148364"/>
                  <a:pt x="35627" y="145804"/>
                  <a:pt x="32502" y="145804"/>
                </a:cubicBezTo>
                <a:lnTo>
                  <a:pt x="30376" y="145804"/>
                </a:lnTo>
                <a:cubicBezTo>
                  <a:pt x="28683" y="145804"/>
                  <a:pt x="27035" y="146368"/>
                  <a:pt x="25689" y="147366"/>
                </a:cubicBezTo>
                <a:lnTo>
                  <a:pt x="16663" y="154136"/>
                </a:lnTo>
                <a:cubicBezTo>
                  <a:pt x="12064" y="157607"/>
                  <a:pt x="5554" y="156653"/>
                  <a:pt x="2083" y="152053"/>
                </a:cubicBezTo>
                <a:cubicBezTo>
                  <a:pt x="-1389" y="147453"/>
                  <a:pt x="-434" y="140944"/>
                  <a:pt x="4166" y="137472"/>
                </a:cubicBezTo>
                <a:lnTo>
                  <a:pt x="13192" y="130703"/>
                </a:lnTo>
                <a:close/>
                <a:moveTo>
                  <a:pt x="97203" y="27772"/>
                </a:moveTo>
                <a:lnTo>
                  <a:pt x="208292" y="27772"/>
                </a:lnTo>
                <a:cubicBezTo>
                  <a:pt x="215972" y="27772"/>
                  <a:pt x="222178" y="33978"/>
                  <a:pt x="222178" y="41658"/>
                </a:cubicBezTo>
                <a:cubicBezTo>
                  <a:pt x="222178" y="49339"/>
                  <a:pt x="215972" y="55544"/>
                  <a:pt x="208292" y="55544"/>
                </a:cubicBezTo>
                <a:lnTo>
                  <a:pt x="97203" y="55544"/>
                </a:lnTo>
                <a:cubicBezTo>
                  <a:pt x="89522" y="55544"/>
                  <a:pt x="83317" y="49339"/>
                  <a:pt x="83317" y="41658"/>
                </a:cubicBezTo>
                <a:cubicBezTo>
                  <a:pt x="83317" y="33978"/>
                  <a:pt x="89522" y="27772"/>
                  <a:pt x="97203" y="27772"/>
                </a:cubicBezTo>
                <a:close/>
                <a:moveTo>
                  <a:pt x="97203" y="97203"/>
                </a:moveTo>
                <a:lnTo>
                  <a:pt x="208292" y="97203"/>
                </a:lnTo>
                <a:cubicBezTo>
                  <a:pt x="215972" y="97203"/>
                  <a:pt x="222178" y="103408"/>
                  <a:pt x="222178" y="111089"/>
                </a:cubicBezTo>
                <a:cubicBezTo>
                  <a:pt x="222178" y="118770"/>
                  <a:pt x="215972" y="124975"/>
                  <a:pt x="208292" y="124975"/>
                </a:cubicBezTo>
                <a:lnTo>
                  <a:pt x="97203" y="124975"/>
                </a:lnTo>
                <a:cubicBezTo>
                  <a:pt x="89522" y="124975"/>
                  <a:pt x="83317" y="118770"/>
                  <a:pt x="83317" y="111089"/>
                </a:cubicBezTo>
                <a:cubicBezTo>
                  <a:pt x="83317" y="103408"/>
                  <a:pt x="89522" y="97203"/>
                  <a:pt x="97203" y="97203"/>
                </a:cubicBezTo>
                <a:close/>
                <a:moveTo>
                  <a:pt x="97203" y="166633"/>
                </a:moveTo>
                <a:lnTo>
                  <a:pt x="208292" y="166633"/>
                </a:lnTo>
                <a:cubicBezTo>
                  <a:pt x="215972" y="166633"/>
                  <a:pt x="222178" y="172839"/>
                  <a:pt x="222178" y="180519"/>
                </a:cubicBezTo>
                <a:cubicBezTo>
                  <a:pt x="222178" y="188200"/>
                  <a:pt x="215972" y="194405"/>
                  <a:pt x="208292" y="194405"/>
                </a:cubicBezTo>
                <a:lnTo>
                  <a:pt x="97203" y="194405"/>
                </a:lnTo>
                <a:cubicBezTo>
                  <a:pt x="89522" y="194405"/>
                  <a:pt x="83317" y="188200"/>
                  <a:pt x="83317" y="180519"/>
                </a:cubicBezTo>
                <a:cubicBezTo>
                  <a:pt x="83317" y="172839"/>
                  <a:pt x="89522" y="166633"/>
                  <a:pt x="97203" y="166633"/>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ED433835-6468-4865-A135-9A37879A52FB}"/>
              </a:ext>
            </a:extLst>
          </p:cNvPr>
          <p:cNvSpPr>
            <a:spLocks xmlns:a="http://schemas.openxmlformats.org/drawingml/2006/main" noGrp="1"/>
          </p:cNvSpPr>
          <p:nvPr/>
        </p:nvSpPr>
        <p:spPr>
          <a:xfrm xmlns:a="http://schemas.openxmlformats.org/drawingml/2006/main">
            <a:off x="1055344" y="1907025"/>
            <a:ext cx="6739390" cy="29623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第三步</a:t>
            </a:r>
            <a:endParaRPr/>
          </a:p>
        </p:txBody>
      </p:sp>
      <p:sp>
        <p:nvSpPr>
          <p:cNvPr id="9" name="Text 7">
            <a:extLst xmlns:a="http://schemas.openxmlformats.org/drawingml/2006/main">
              <a:ext uri="{FF2B5EF4-FFF2-40B4-BE49-F238E27FC236}">
                <a16:creationId xmlns:a16="http://schemas.microsoft.com/office/drawing/2014/main" id="{90D8A202-7B8D-4137-8DBE-1FC2814E0EF7}"/>
              </a:ext>
            </a:extLst>
          </p:cNvPr>
          <p:cNvSpPr>
            <a:spLocks xmlns:a="http://schemas.openxmlformats.org/drawingml/2006/main" noGrp="1"/>
          </p:cNvSpPr>
          <p:nvPr/>
        </p:nvSpPr>
        <p:spPr>
          <a:xfrm xmlns:a="http://schemas.openxmlformats.org/drawingml/2006/main">
            <a:off x="1055344" y="2314351"/>
            <a:ext cx="6711617" cy="2684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连接AB，并在AB上找到C点，使其满足</a:t>
            </a:r>
            <a:endParaRPr sz="2000"/>
          </a:p>
        </p:txBody>
      </p:sp>
      <p:sp>
        <p:nvSpPr>
          <p:cNvPr id="10" name="Shape 8">
            <a:extLst xmlns:a="http://schemas.openxmlformats.org/drawingml/2006/main">
              <a:ext uri="{FF2B5EF4-FFF2-40B4-BE49-F238E27FC236}">
                <a16:creationId xmlns:a16="http://schemas.microsoft.com/office/drawing/2014/main" id="{0225F896-2394-476E-AB48-B6E6492EBF7C}"/>
              </a:ext>
            </a:extLst>
          </p:cNvPr>
          <p:cNvSpPr>
            <a:spLocks xmlns:a="http://schemas.openxmlformats.org/drawingml/2006/main" noGrp="1"/>
          </p:cNvSpPr>
          <p:nvPr/>
        </p:nvSpPr>
        <p:spPr>
          <a:xfrm xmlns:a="http://schemas.openxmlformats.org/drawingml/2006/main">
            <a:off x="374925" y="3528786"/>
            <a:ext cx="7591071" cy="625474"/>
          </a:xfrm>
          <a:custGeom xmlns:a="http://schemas.openxmlformats.org/drawingml/2006/main">
            <a:rect l="l" t="t" r="r" b="b"/>
            <a:pathLst>
              <a:path w="7591071" h="1832966">
                <a:moveTo>
                  <a:pt x="111096" y="0"/>
                </a:moveTo>
                <a:lnTo>
                  <a:pt x="7479975" y="0"/>
                </a:lnTo>
                <a:cubicBezTo>
                  <a:pt x="7541331" y="0"/>
                  <a:pt x="7591071" y="49739"/>
                  <a:pt x="7591071" y="111096"/>
                </a:cubicBezTo>
                <a:lnTo>
                  <a:pt x="7591071" y="1721870"/>
                </a:lnTo>
                <a:cubicBezTo>
                  <a:pt x="7591071" y="1783226"/>
                  <a:pt x="7541331" y="1832966"/>
                  <a:pt x="7479975" y="1832966"/>
                </a:cubicBezTo>
                <a:lnTo>
                  <a:pt x="111096" y="1832966"/>
                </a:lnTo>
                <a:cubicBezTo>
                  <a:pt x="49739" y="1832966"/>
                  <a:pt x="0" y="1783226"/>
                  <a:pt x="0" y="1721870"/>
                </a:cubicBezTo>
                <a:lnTo>
                  <a:pt x="0" y="111096"/>
                </a:lnTo>
                <a:cubicBezTo>
                  <a:pt x="0" y="49780"/>
                  <a:pt x="49780" y="0"/>
                  <a:pt x="111096"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3" name="Text 11">
            <a:extLst xmlns:a="http://schemas.openxmlformats.org/drawingml/2006/main">
              <a:ext uri="{FF2B5EF4-FFF2-40B4-BE49-F238E27FC236}">
                <a16:creationId xmlns:a16="http://schemas.microsoft.com/office/drawing/2014/main" id="{3FE59E43-8363-4DA3-8302-44925B939078}"/>
              </a:ext>
            </a:extLst>
          </p:cNvPr>
          <p:cNvSpPr>
            <a:spLocks xmlns:a="http://schemas.openxmlformats.org/drawingml/2006/main" noGrp="1"/>
          </p:cNvSpPr>
          <p:nvPr/>
        </p:nvSpPr>
        <p:spPr>
          <a:xfrm xmlns:a="http://schemas.openxmlformats.org/drawingml/2006/main">
            <a:off x="601731" y="3668246"/>
            <a:ext cx="7220774" cy="2684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根据抛物线的三切线定理，</a:t>
            </a:r>
            <a:r>
              <a:rPr sz="1600">
                <a:latin typeface="微软雅黑"/>
                <a:ea typeface="微软雅黑"/>
                <a:cs typeface="微软雅黑"/>
              </a:rPr>
              <a:t>C点是贝塞尔曲线上的点，满足相同比例关系</a:t>
            </a:r>
            <a:r>
              <a:rPr sz="1600">
                <a:latin typeface="微软雅黑"/>
                <a:ea typeface="微软雅黑"/>
                <a:cs typeface="微软雅黑"/>
              </a:rPr>
              <a:t>。</a:t>
            </a:r>
            <a:endParaRPr sz="2000"/>
          </a:p>
        </p:txBody>
      </p:sp>
      <p:sp>
        <p:nvSpPr>
          <p:cNvPr id="21" name="Shape 19">
            <a:extLst xmlns:a="http://schemas.openxmlformats.org/drawingml/2006/main">
              <a:ext uri="{FF2B5EF4-FFF2-40B4-BE49-F238E27FC236}">
                <a16:creationId xmlns:a16="http://schemas.microsoft.com/office/drawing/2014/main" id="{4E9332A6-E61E-474F-8B5B-66F8AB47F225}"/>
              </a:ext>
            </a:extLst>
          </p:cNvPr>
          <p:cNvSpPr>
            <a:spLocks xmlns:a="http://schemas.openxmlformats.org/drawingml/2006/main" noGrp="1"/>
          </p:cNvSpPr>
          <p:nvPr/>
        </p:nvSpPr>
        <p:spPr>
          <a:xfrm xmlns:a="http://schemas.openxmlformats.org/drawingml/2006/main">
            <a:off x="8274527" y="1689476"/>
            <a:ext cx="3545585" cy="4526870"/>
          </a:xfrm>
          <a:custGeom xmlns:a="http://schemas.openxmlformats.org/drawingml/2006/main">
            <a:rect l="l" t="t" r="r" b="b"/>
            <a:pathLst>
              <a:path w="3545585" h="4526870">
                <a:moveTo>
                  <a:pt x="111083" y="0"/>
                </a:moveTo>
                <a:lnTo>
                  <a:pt x="3434502" y="0"/>
                </a:lnTo>
                <a:cubicBezTo>
                  <a:pt x="3495852" y="0"/>
                  <a:pt x="3545585" y="49734"/>
                  <a:pt x="3545585" y="111083"/>
                </a:cubicBezTo>
                <a:lnTo>
                  <a:pt x="3545585" y="4415787"/>
                </a:lnTo>
                <a:cubicBezTo>
                  <a:pt x="3545585" y="4477137"/>
                  <a:pt x="3495852" y="4526870"/>
                  <a:pt x="3434502" y="4526870"/>
                </a:cubicBezTo>
                <a:lnTo>
                  <a:pt x="111083" y="4526870"/>
                </a:lnTo>
                <a:cubicBezTo>
                  <a:pt x="49734" y="4526870"/>
                  <a:pt x="0" y="4477137"/>
                  <a:pt x="0" y="4415787"/>
                </a:cubicBezTo>
                <a:lnTo>
                  <a:pt x="0" y="111083"/>
                </a:lnTo>
                <a:cubicBezTo>
                  <a:pt x="0" y="49775"/>
                  <a:pt x="49775" y="0"/>
                  <a:pt x="111083"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2" name="Shape 20">
            <a:extLst xmlns:a="http://schemas.openxmlformats.org/drawingml/2006/main">
              <a:ext uri="{FF2B5EF4-FFF2-40B4-BE49-F238E27FC236}">
                <a16:creationId xmlns:a16="http://schemas.microsoft.com/office/drawing/2014/main" id="{5F2C42FD-08CD-40DC-83BC-83BE4E04E624}"/>
              </a:ext>
            </a:extLst>
          </p:cNvPr>
          <p:cNvSpPr>
            <a:spLocks xmlns:a="http://schemas.openxmlformats.org/drawingml/2006/main" noGrp="1"/>
          </p:cNvSpPr>
          <p:nvPr/>
        </p:nvSpPr>
        <p:spPr>
          <a:xfrm xmlns:a="http://schemas.openxmlformats.org/drawingml/2006/main">
            <a:off x="8524477" y="1953312"/>
            <a:ext cx="185148" cy="185148"/>
          </a:xfrm>
          <a:custGeom xmlns:a="http://schemas.openxmlformats.org/drawingml/2006/main">
            <a:rect l="l" t="t" r="r" b="b"/>
            <a:pathLst>
              <a:path w="185148" h="185148">
                <a:moveTo>
                  <a:pt x="0" y="28929"/>
                </a:moveTo>
                <a:cubicBezTo>
                  <a:pt x="0" y="19347"/>
                  <a:pt x="7775" y="11572"/>
                  <a:pt x="17358" y="11572"/>
                </a:cubicBezTo>
                <a:lnTo>
                  <a:pt x="52073" y="11572"/>
                </a:lnTo>
                <a:cubicBezTo>
                  <a:pt x="61656" y="11572"/>
                  <a:pt x="69431" y="19347"/>
                  <a:pt x="69431" y="28929"/>
                </a:cubicBezTo>
                <a:lnTo>
                  <a:pt x="69431" y="34715"/>
                </a:lnTo>
                <a:lnTo>
                  <a:pt x="115718" y="34715"/>
                </a:lnTo>
                <a:lnTo>
                  <a:pt x="115718" y="28929"/>
                </a:lnTo>
                <a:cubicBezTo>
                  <a:pt x="115718" y="19347"/>
                  <a:pt x="123492" y="11572"/>
                  <a:pt x="133075" y="11572"/>
                </a:cubicBezTo>
                <a:lnTo>
                  <a:pt x="167790" y="11572"/>
                </a:lnTo>
                <a:cubicBezTo>
                  <a:pt x="177373" y="11572"/>
                  <a:pt x="185148" y="19347"/>
                  <a:pt x="185148" y="28929"/>
                </a:cubicBezTo>
                <a:lnTo>
                  <a:pt x="185148" y="63645"/>
                </a:lnTo>
                <a:cubicBezTo>
                  <a:pt x="185148" y="73228"/>
                  <a:pt x="177373" y="81002"/>
                  <a:pt x="167790" y="81002"/>
                </a:cubicBezTo>
                <a:lnTo>
                  <a:pt x="133075" y="81002"/>
                </a:lnTo>
                <a:cubicBezTo>
                  <a:pt x="123492" y="81002"/>
                  <a:pt x="115718" y="73228"/>
                  <a:pt x="115718" y="63645"/>
                </a:cubicBezTo>
                <a:lnTo>
                  <a:pt x="115718" y="57859"/>
                </a:lnTo>
                <a:lnTo>
                  <a:pt x="69431" y="57859"/>
                </a:lnTo>
                <a:lnTo>
                  <a:pt x="69431" y="63645"/>
                </a:lnTo>
                <a:cubicBezTo>
                  <a:pt x="69431" y="66284"/>
                  <a:pt x="68816" y="68816"/>
                  <a:pt x="67767" y="71058"/>
                </a:cubicBezTo>
                <a:lnTo>
                  <a:pt x="92574" y="104146"/>
                </a:lnTo>
                <a:lnTo>
                  <a:pt x="121503" y="104146"/>
                </a:lnTo>
                <a:cubicBezTo>
                  <a:pt x="131086" y="104146"/>
                  <a:pt x="138861" y="111921"/>
                  <a:pt x="138861" y="121503"/>
                </a:cubicBezTo>
                <a:lnTo>
                  <a:pt x="138861" y="156219"/>
                </a:lnTo>
                <a:cubicBezTo>
                  <a:pt x="138861" y="165802"/>
                  <a:pt x="131086" y="173576"/>
                  <a:pt x="121503" y="173576"/>
                </a:cubicBezTo>
                <a:lnTo>
                  <a:pt x="86788" y="173576"/>
                </a:lnTo>
                <a:cubicBezTo>
                  <a:pt x="77205" y="173576"/>
                  <a:pt x="69431" y="165802"/>
                  <a:pt x="69431" y="156219"/>
                </a:cubicBezTo>
                <a:lnTo>
                  <a:pt x="69431" y="121503"/>
                </a:lnTo>
                <a:cubicBezTo>
                  <a:pt x="69431" y="118864"/>
                  <a:pt x="70045" y="116332"/>
                  <a:pt x="71094" y="114090"/>
                </a:cubicBezTo>
                <a:lnTo>
                  <a:pt x="46287" y="81002"/>
                </a:lnTo>
                <a:lnTo>
                  <a:pt x="17358" y="81002"/>
                </a:lnTo>
                <a:cubicBezTo>
                  <a:pt x="7775" y="81002"/>
                  <a:pt x="0" y="73228"/>
                  <a:pt x="0" y="63645"/>
                </a:cubicBezTo>
                <a:lnTo>
                  <a:pt x="0" y="28929"/>
                </a:lnTo>
                <a:close/>
              </a:path>
            </a:pathLst>
          </a:custGeom>
          <a:solidFill xmlns:a="http://schemas.openxmlformats.org/drawingml/2006/main">
            <a:srgbClr val="E6B450"/>
          </a:solidFill>
        </p:spPr>
      </p:sp>
      <p:sp>
        <p:nvSpPr>
          <p:cNvPr id="23" name="Text 21">
            <a:extLst xmlns:a="http://schemas.openxmlformats.org/drawingml/2006/main">
              <a:ext uri="{FF2B5EF4-FFF2-40B4-BE49-F238E27FC236}">
                <a16:creationId xmlns:a16="http://schemas.microsoft.com/office/drawing/2014/main" id="{A23AAE6B-DAE6-44B7-BC6E-8F06D903B99C}"/>
              </a:ext>
            </a:extLst>
          </p:cNvPr>
          <p:cNvSpPr>
            <a:spLocks xmlns:a="http://schemas.openxmlformats.org/drawingml/2006/main" noGrp="1"/>
          </p:cNvSpPr>
          <p:nvPr/>
        </p:nvSpPr>
        <p:spPr>
          <a:xfrm xmlns:a="http://schemas.openxmlformats.org/drawingml/2006/main">
            <a:off x="8732769" y="1916282"/>
            <a:ext cx="2953112" cy="2592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Step 3 示意</a:t>
            </a:r>
            <a:endParaRPr sz="1600"/>
          </a:p>
        </p:txBody>
      </p:sp>
      <p:sp>
        <p:nvSpPr>
          <p:cNvPr id="39" name="Shape 35">
            <a:extLst xmlns:a="http://schemas.openxmlformats.org/drawingml/2006/main">
              <a:ext uri="{FF2B5EF4-FFF2-40B4-BE49-F238E27FC236}">
                <a16:creationId xmlns:a16="http://schemas.microsoft.com/office/drawing/2014/main" id="{743CA5CC-8089-4B6B-97A3-AADE4F6B0197}"/>
              </a:ext>
            </a:extLst>
          </p:cNvPr>
          <p:cNvSpPr>
            <a:spLocks xmlns:a="http://schemas.openxmlformats.org/drawingml/2006/main" noGrp="1"/>
          </p:cNvSpPr>
          <p:nvPr/>
        </p:nvSpPr>
        <p:spPr>
          <a:xfrm xmlns:a="http://schemas.openxmlformats.org/drawingml/2006/main">
            <a:off x="8501334" y="5468811"/>
            <a:ext cx="3091973" cy="518415"/>
          </a:xfrm>
          <a:custGeom xmlns:a="http://schemas.openxmlformats.org/drawingml/2006/main">
            <a:rect l="l" t="t" r="r" b="b"/>
            <a:pathLst>
              <a:path w="3091973" h="518415">
                <a:moveTo>
                  <a:pt x="74061" y="0"/>
                </a:moveTo>
                <a:lnTo>
                  <a:pt x="3017912" y="0"/>
                </a:lnTo>
                <a:cubicBezTo>
                  <a:pt x="3058815" y="0"/>
                  <a:pt x="3091973" y="33158"/>
                  <a:pt x="3091973" y="74061"/>
                </a:cubicBezTo>
                <a:lnTo>
                  <a:pt x="3091973" y="444354"/>
                </a:lnTo>
                <a:cubicBezTo>
                  <a:pt x="3091973" y="485256"/>
                  <a:pt x="3058815" y="518415"/>
                  <a:pt x="3017912" y="518415"/>
                </a:cubicBezTo>
                <a:lnTo>
                  <a:pt x="74061" y="518415"/>
                </a:lnTo>
                <a:cubicBezTo>
                  <a:pt x="33185" y="518415"/>
                  <a:pt x="0" y="485229"/>
                  <a:pt x="0" y="444354"/>
                </a:cubicBezTo>
                <a:lnTo>
                  <a:pt x="0" y="74061"/>
                </a:lnTo>
                <a:cubicBezTo>
                  <a:pt x="0" y="33158"/>
                  <a:pt x="33158" y="0"/>
                  <a:pt x="74061" y="0"/>
                </a:cubicBezTo>
                <a:close/>
              </a:path>
            </a:pathLst>
          </a:custGeom>
          <a:solidFill xmlns:a="http://schemas.openxmlformats.org/drawingml/2006/main">
            <a:srgbClr val="5F87A7">
              <a:alpha val="20000"/>
            </a:srgbClr>
          </a:solidFill>
        </p:spPr>
      </p:sp>
      <p:sp>
        <p:nvSpPr>
          <p:cNvPr id="40" name="Shape 36">
            <a:extLst xmlns:a="http://schemas.openxmlformats.org/drawingml/2006/main">
              <a:ext uri="{FF2B5EF4-FFF2-40B4-BE49-F238E27FC236}">
                <a16:creationId xmlns:a16="http://schemas.microsoft.com/office/drawing/2014/main" id="{6A27EB69-E9AA-4C4C-B196-80C7DB5556EF}"/>
              </a:ext>
            </a:extLst>
          </p:cNvPr>
          <p:cNvSpPr>
            <a:spLocks xmlns:a="http://schemas.openxmlformats.org/drawingml/2006/main" noGrp="1"/>
          </p:cNvSpPr>
          <p:nvPr/>
        </p:nvSpPr>
        <p:spPr>
          <a:xfrm xmlns:a="http://schemas.openxmlformats.org/drawingml/2006/main">
            <a:off x="8633252" y="5653959"/>
            <a:ext cx="148118" cy="148118"/>
          </a:xfrm>
          <a:custGeom xmlns:a="http://schemas.openxmlformats.org/drawingml/2006/main">
            <a:rect l="l" t="t" r="r" b="b"/>
            <a:pathLst>
              <a:path w="148118" h="148118">
                <a:moveTo>
                  <a:pt x="74059" y="148118"/>
                </a:moveTo>
                <a:cubicBezTo>
                  <a:pt x="114934" y="148118"/>
                  <a:pt x="148118" y="114934"/>
                  <a:pt x="148118" y="74059"/>
                </a:cubicBezTo>
                <a:cubicBezTo>
                  <a:pt x="148118" y="33185"/>
                  <a:pt x="114934" y="0"/>
                  <a:pt x="74059" y="0"/>
                </a:cubicBezTo>
                <a:cubicBezTo>
                  <a:pt x="33185" y="0"/>
                  <a:pt x="0" y="33185"/>
                  <a:pt x="0" y="74059"/>
                </a:cubicBezTo>
                <a:cubicBezTo>
                  <a:pt x="0" y="114934"/>
                  <a:pt x="33185" y="148118"/>
                  <a:pt x="74059" y="148118"/>
                </a:cubicBezTo>
                <a:close/>
                <a:moveTo>
                  <a:pt x="64802" y="46287"/>
                </a:moveTo>
                <a:cubicBezTo>
                  <a:pt x="64802" y="41178"/>
                  <a:pt x="68950" y="37030"/>
                  <a:pt x="74059" y="37030"/>
                </a:cubicBezTo>
                <a:cubicBezTo>
                  <a:pt x="79169" y="37030"/>
                  <a:pt x="83317" y="41178"/>
                  <a:pt x="83317" y="46287"/>
                </a:cubicBezTo>
                <a:cubicBezTo>
                  <a:pt x="83317" y="51396"/>
                  <a:pt x="79169" y="55544"/>
                  <a:pt x="74059" y="55544"/>
                </a:cubicBezTo>
                <a:cubicBezTo>
                  <a:pt x="68950" y="55544"/>
                  <a:pt x="64802" y="51396"/>
                  <a:pt x="64802" y="46287"/>
                </a:cubicBezTo>
                <a:close/>
                <a:moveTo>
                  <a:pt x="62487" y="64802"/>
                </a:moveTo>
                <a:lnTo>
                  <a:pt x="76374" y="64802"/>
                </a:lnTo>
                <a:cubicBezTo>
                  <a:pt x="80221" y="64802"/>
                  <a:pt x="83317" y="67897"/>
                  <a:pt x="83317" y="71745"/>
                </a:cubicBezTo>
                <a:lnTo>
                  <a:pt x="83317" y="97203"/>
                </a:lnTo>
                <a:lnTo>
                  <a:pt x="85631" y="97203"/>
                </a:lnTo>
                <a:cubicBezTo>
                  <a:pt x="89479" y="97203"/>
                  <a:pt x="92574" y="100298"/>
                  <a:pt x="92574" y="104146"/>
                </a:cubicBezTo>
                <a:cubicBezTo>
                  <a:pt x="92574" y="107993"/>
                  <a:pt x="89479" y="111089"/>
                  <a:pt x="85631" y="111089"/>
                </a:cubicBezTo>
                <a:lnTo>
                  <a:pt x="62487" y="111089"/>
                </a:lnTo>
                <a:cubicBezTo>
                  <a:pt x="58640" y="111089"/>
                  <a:pt x="55544" y="107993"/>
                  <a:pt x="55544" y="104146"/>
                </a:cubicBezTo>
                <a:cubicBezTo>
                  <a:pt x="55544" y="100298"/>
                  <a:pt x="58640" y="97203"/>
                  <a:pt x="62487" y="97203"/>
                </a:cubicBezTo>
                <a:lnTo>
                  <a:pt x="69431" y="97203"/>
                </a:lnTo>
                <a:lnTo>
                  <a:pt x="69431" y="78688"/>
                </a:lnTo>
                <a:lnTo>
                  <a:pt x="62487" y="78688"/>
                </a:lnTo>
                <a:cubicBezTo>
                  <a:pt x="58640" y="78688"/>
                  <a:pt x="55544" y="75592"/>
                  <a:pt x="55544" y="71745"/>
                </a:cubicBezTo>
                <a:cubicBezTo>
                  <a:pt x="55544" y="67897"/>
                  <a:pt x="58640" y="64802"/>
                  <a:pt x="62487" y="64802"/>
                </a:cubicBezTo>
                <a:close/>
              </a:path>
            </a:pathLst>
          </a:custGeom>
          <a:solidFill xmlns:a="http://schemas.openxmlformats.org/drawingml/2006/main">
            <a:srgbClr val="E6B450"/>
          </a:solidFill>
        </p:spPr>
      </p:sp>
      <p:sp>
        <p:nvSpPr>
          <p:cNvPr id="41" name="Text 37">
            <a:extLst xmlns:a="http://schemas.openxmlformats.org/drawingml/2006/main">
              <a:ext uri="{FF2B5EF4-FFF2-40B4-BE49-F238E27FC236}">
                <a16:creationId xmlns:a16="http://schemas.microsoft.com/office/drawing/2014/main" id="{DA57B784-3251-451E-B219-6E8BB8E9CE5E}"/>
              </a:ext>
            </a:extLst>
          </p:cNvPr>
          <p:cNvSpPr>
            <a:spLocks xmlns:a="http://schemas.openxmlformats.org/drawingml/2006/main" noGrp="1"/>
          </p:cNvSpPr>
          <p:nvPr/>
        </p:nvSpPr>
        <p:spPr>
          <a:xfrm xmlns:a="http://schemas.openxmlformats.org/drawingml/2006/main">
            <a:off x="8809568" y="5616929"/>
            <a:ext cx="2714638" cy="22217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a:latin typeface="微软雅黑"/>
                <a:ea typeface="微软雅黑"/>
                <a:cs typeface="微软雅黑"/>
              </a:rPr>
              <a:t>连接AB，按相同比例找到C点</a:t>
            </a:r>
            <a:endParaRPr sz="1600"/>
          </a:p>
        </p:txBody>
      </p:sp>
      <p:sp>
        <p:nvSpPr>
          <p:cNvPr id="43" name="矩形 42">
            <a:extLst xmlns:a="http://schemas.openxmlformats.org/drawingml/2006/main">
              <a:ext uri="{FF2B5EF4-FFF2-40B4-BE49-F238E27FC236}">
                <a16:creationId xmlns:a16="http://schemas.microsoft.com/office/drawing/2014/main" id="{5FA89253-B0AE-398E-A6FD-0C680239EA49}"/>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文本框 43">
            <a:extLst xmlns:a="http://schemas.openxmlformats.org/drawingml/2006/main">
              <a:ext uri="{FF2B5EF4-FFF2-40B4-BE49-F238E27FC236}">
                <a16:creationId xmlns:a16="http://schemas.microsoft.com/office/drawing/2014/main" id="{FC13483B-FB99-1AAA-C74B-5041D8372A9B}"/>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pic>
        <p:nvPicPr>
          <p:cNvPr id="61" name="图片 44"/>
          <p:cNvPicPr>
            <a:picLocks xmlns:a="http://schemas.openxmlformats.org/drawingml/2006/main" noChangeAspect="1"/>
          </p:cNvPicPr>
          <p:nvPr/>
        </p:nvPicPr>
        <p:blipFill>
          <a:blip xmlns:r="http://schemas.openxmlformats.org/officeDocument/2006/relationships" xmlns:a="http://schemas.openxmlformats.org/drawingml/2006/main" r:embed="R3efd4e12dd924c07">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8279154" y="2779834"/>
            <a:ext cx="3524035" cy="2050903"/>
          </a:xfrm>
          <a:prstGeom xmlns:a="http://schemas.openxmlformats.org/drawingml/2006/main" prst="rect">
            <a:avLst/>
          </a:prstGeom>
        </p:spPr>
      </p:pic>
    </p:spTree>
    <p:extLst>
      <p:ext uri="{BB962C8B-B14F-4D97-AF65-F5344CB8AC3E}">
        <p14:creationId xmlns:p14="http://schemas.microsoft.com/office/powerpoint/2010/main" val="611324443"/>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D0B8461C-FF0A-49C4-94EC-53B31C7C25D5}"/>
              </a:ext>
            </a:extLst>
          </p:cNvPr>
          <p:cNvSpPr>
            <a:spLocks xmlns:a="http://schemas.openxmlformats.org/drawingml/2006/main" noGrp="1"/>
          </p:cNvSpPr>
          <p:nvPr/>
        </p:nvSpPr>
        <p:spPr>
          <a:xfrm xmlns:a="http://schemas.openxmlformats.org/drawingml/2006/main">
            <a:off x="335340" y="1654032"/>
            <a:ext cx="8215827" cy="966098"/>
          </a:xfrm>
          <a:custGeom xmlns:a="http://schemas.openxmlformats.org/drawingml/2006/main">
            <a:rect l="l" t="t" r="r" b="b"/>
            <a:pathLst>
              <a:path w="8215827" h="966098">
                <a:moveTo>
                  <a:pt x="31937" y="0"/>
                </a:moveTo>
                <a:lnTo>
                  <a:pt x="8120019" y="0"/>
                </a:lnTo>
                <a:cubicBezTo>
                  <a:pt x="8172932" y="0"/>
                  <a:pt x="8215827" y="42895"/>
                  <a:pt x="8215827" y="95808"/>
                </a:cubicBezTo>
                <a:lnTo>
                  <a:pt x="8215827" y="870290"/>
                </a:lnTo>
                <a:cubicBezTo>
                  <a:pt x="8215827" y="923204"/>
                  <a:pt x="8172932" y="966098"/>
                  <a:pt x="8120019" y="966098"/>
                </a:cubicBezTo>
                <a:lnTo>
                  <a:pt x="31937" y="966098"/>
                </a:lnTo>
                <a:cubicBezTo>
                  <a:pt x="14299" y="966098"/>
                  <a:pt x="0" y="951799"/>
                  <a:pt x="0" y="934161"/>
                </a:cubicBezTo>
                <a:lnTo>
                  <a:pt x="0" y="31937"/>
                </a:lnTo>
                <a:cubicBezTo>
                  <a:pt x="0" y="14311"/>
                  <a:pt x="14311" y="0"/>
                  <a:pt x="31937"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37E0B1D5-7443-42FE-8278-9EB5FA3549A7}"/>
              </a:ext>
            </a:extLst>
          </p:cNvPr>
          <p:cNvSpPr>
            <a:spLocks xmlns:a="http://schemas.openxmlformats.org/drawingml/2006/main" noGrp="1"/>
          </p:cNvSpPr>
          <p:nvPr/>
        </p:nvSpPr>
        <p:spPr>
          <a:xfrm xmlns:a="http://schemas.openxmlformats.org/drawingml/2006/main">
            <a:off x="335340" y="1654032"/>
            <a:ext cx="31937" cy="966098"/>
          </a:xfrm>
          <a:custGeom xmlns:a="http://schemas.openxmlformats.org/drawingml/2006/main">
            <a:rect l="l" t="t" r="r" b="b"/>
            <a:pathLst>
              <a:path w="31937" h="966098">
                <a:moveTo>
                  <a:pt x="31937" y="0"/>
                </a:moveTo>
                <a:lnTo>
                  <a:pt x="31937" y="0"/>
                </a:lnTo>
                <a:lnTo>
                  <a:pt x="31937" y="966098"/>
                </a:lnTo>
                <a:lnTo>
                  <a:pt x="31937" y="966098"/>
                </a:lnTo>
                <a:cubicBezTo>
                  <a:pt x="14299" y="966098"/>
                  <a:pt x="0" y="951799"/>
                  <a:pt x="0" y="934161"/>
                </a:cubicBezTo>
                <a:lnTo>
                  <a:pt x="0" y="31937"/>
                </a:lnTo>
                <a:cubicBezTo>
                  <a:pt x="0" y="14311"/>
                  <a:pt x="14311" y="0"/>
                  <a:pt x="31937"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59E56EE6-AA40-41AF-8A0E-9A34F976E1C2}"/>
              </a:ext>
            </a:extLst>
          </p:cNvPr>
          <p:cNvSpPr>
            <a:spLocks xmlns:a="http://schemas.openxmlformats.org/drawingml/2006/main" noGrp="1"/>
          </p:cNvSpPr>
          <p:nvPr/>
        </p:nvSpPr>
        <p:spPr>
          <a:xfrm xmlns:a="http://schemas.openxmlformats.org/drawingml/2006/main">
            <a:off x="566884" y="1877592"/>
            <a:ext cx="191623" cy="191623"/>
          </a:xfrm>
          <a:custGeom xmlns:a="http://schemas.openxmlformats.org/drawingml/2006/main">
            <a:rect l="l" t="t" r="r" b="b"/>
            <a:pathLst>
              <a:path w="191623" h="191623">
                <a:moveTo>
                  <a:pt x="0" y="26947"/>
                </a:moveTo>
                <a:cubicBezTo>
                  <a:pt x="0" y="22007"/>
                  <a:pt x="4005" y="17965"/>
                  <a:pt x="8982" y="17965"/>
                </a:cubicBezTo>
                <a:lnTo>
                  <a:pt x="26947" y="17965"/>
                </a:lnTo>
                <a:cubicBezTo>
                  <a:pt x="31925" y="17965"/>
                  <a:pt x="35929" y="21969"/>
                  <a:pt x="35929" y="26947"/>
                </a:cubicBezTo>
                <a:lnTo>
                  <a:pt x="35929" y="65870"/>
                </a:lnTo>
                <a:lnTo>
                  <a:pt x="44912" y="65870"/>
                </a:lnTo>
                <a:cubicBezTo>
                  <a:pt x="49889" y="65870"/>
                  <a:pt x="53894" y="69875"/>
                  <a:pt x="53894" y="74853"/>
                </a:cubicBezTo>
                <a:cubicBezTo>
                  <a:pt x="53894" y="79830"/>
                  <a:pt x="49889" y="83835"/>
                  <a:pt x="44912" y="83835"/>
                </a:cubicBezTo>
                <a:lnTo>
                  <a:pt x="8982" y="83835"/>
                </a:lnTo>
                <a:cubicBezTo>
                  <a:pt x="4005" y="83835"/>
                  <a:pt x="0" y="79830"/>
                  <a:pt x="0" y="74853"/>
                </a:cubicBezTo>
                <a:cubicBezTo>
                  <a:pt x="0" y="69875"/>
                  <a:pt x="4005" y="65870"/>
                  <a:pt x="8982" y="65870"/>
                </a:cubicBezTo>
                <a:lnTo>
                  <a:pt x="17965" y="65870"/>
                </a:lnTo>
                <a:lnTo>
                  <a:pt x="17965" y="35929"/>
                </a:lnTo>
                <a:lnTo>
                  <a:pt x="8982" y="35929"/>
                </a:lnTo>
                <a:cubicBezTo>
                  <a:pt x="4005" y="35929"/>
                  <a:pt x="0" y="31925"/>
                  <a:pt x="0" y="26947"/>
                </a:cubicBezTo>
                <a:close/>
                <a:moveTo>
                  <a:pt x="11378" y="112728"/>
                </a:moveTo>
                <a:cubicBezTo>
                  <a:pt x="15644" y="109509"/>
                  <a:pt x="20846" y="107788"/>
                  <a:pt x="26198" y="107788"/>
                </a:cubicBezTo>
                <a:lnTo>
                  <a:pt x="28032" y="107788"/>
                </a:lnTo>
                <a:cubicBezTo>
                  <a:pt x="40645" y="107788"/>
                  <a:pt x="50900" y="118043"/>
                  <a:pt x="50900" y="130655"/>
                </a:cubicBezTo>
                <a:cubicBezTo>
                  <a:pt x="50900" y="137991"/>
                  <a:pt x="47382" y="144840"/>
                  <a:pt x="41468" y="149144"/>
                </a:cubicBezTo>
                <a:lnTo>
                  <a:pt x="32486" y="155694"/>
                </a:lnTo>
                <a:lnTo>
                  <a:pt x="44912" y="155694"/>
                </a:lnTo>
                <a:cubicBezTo>
                  <a:pt x="49889" y="155694"/>
                  <a:pt x="53894" y="159698"/>
                  <a:pt x="53894" y="164676"/>
                </a:cubicBezTo>
                <a:cubicBezTo>
                  <a:pt x="53894" y="169654"/>
                  <a:pt x="49889" y="173658"/>
                  <a:pt x="44912" y="173658"/>
                </a:cubicBezTo>
                <a:lnTo>
                  <a:pt x="10966" y="173658"/>
                </a:lnTo>
                <a:cubicBezTo>
                  <a:pt x="4903" y="173658"/>
                  <a:pt x="0" y="168755"/>
                  <a:pt x="0" y="162692"/>
                </a:cubicBezTo>
                <a:cubicBezTo>
                  <a:pt x="0" y="159174"/>
                  <a:pt x="1684" y="155881"/>
                  <a:pt x="4529" y="153822"/>
                </a:cubicBezTo>
                <a:lnTo>
                  <a:pt x="30914" y="134622"/>
                </a:lnTo>
                <a:cubicBezTo>
                  <a:pt x="32187" y="133687"/>
                  <a:pt x="32935" y="132227"/>
                  <a:pt x="32935" y="130655"/>
                </a:cubicBezTo>
                <a:cubicBezTo>
                  <a:pt x="32935" y="127961"/>
                  <a:pt x="30727" y="125752"/>
                  <a:pt x="28032" y="125752"/>
                </a:cubicBezTo>
                <a:lnTo>
                  <a:pt x="26198" y="125752"/>
                </a:lnTo>
                <a:cubicBezTo>
                  <a:pt x="24739" y="125752"/>
                  <a:pt x="23317" y="126239"/>
                  <a:pt x="22156" y="127100"/>
                </a:cubicBezTo>
                <a:lnTo>
                  <a:pt x="14372" y="132938"/>
                </a:lnTo>
                <a:cubicBezTo>
                  <a:pt x="10405" y="135932"/>
                  <a:pt x="4791" y="135109"/>
                  <a:pt x="1796" y="131142"/>
                </a:cubicBezTo>
                <a:cubicBezTo>
                  <a:pt x="-1198" y="127175"/>
                  <a:pt x="-374" y="121561"/>
                  <a:pt x="3593" y="118567"/>
                </a:cubicBezTo>
                <a:lnTo>
                  <a:pt x="11378" y="112728"/>
                </a:lnTo>
                <a:close/>
                <a:moveTo>
                  <a:pt x="83835" y="23953"/>
                </a:moveTo>
                <a:lnTo>
                  <a:pt x="179646" y="23953"/>
                </a:lnTo>
                <a:cubicBezTo>
                  <a:pt x="186271" y="23953"/>
                  <a:pt x="191623" y="29305"/>
                  <a:pt x="191623" y="35929"/>
                </a:cubicBezTo>
                <a:cubicBezTo>
                  <a:pt x="191623" y="42554"/>
                  <a:pt x="186271" y="47906"/>
                  <a:pt x="179646" y="47906"/>
                </a:cubicBezTo>
                <a:lnTo>
                  <a:pt x="83835" y="47906"/>
                </a:lnTo>
                <a:cubicBezTo>
                  <a:pt x="77211" y="47906"/>
                  <a:pt x="71859" y="42554"/>
                  <a:pt x="71859" y="35929"/>
                </a:cubicBezTo>
                <a:cubicBezTo>
                  <a:pt x="71859" y="29305"/>
                  <a:pt x="77211" y="23953"/>
                  <a:pt x="83835" y="23953"/>
                </a:cubicBezTo>
                <a:close/>
                <a:moveTo>
                  <a:pt x="83835" y="83835"/>
                </a:moveTo>
                <a:lnTo>
                  <a:pt x="179646" y="83835"/>
                </a:lnTo>
                <a:cubicBezTo>
                  <a:pt x="186271" y="83835"/>
                  <a:pt x="191623" y="89187"/>
                  <a:pt x="191623" y="95811"/>
                </a:cubicBezTo>
                <a:cubicBezTo>
                  <a:pt x="191623" y="102436"/>
                  <a:pt x="186271" y="107788"/>
                  <a:pt x="179646" y="107788"/>
                </a:cubicBezTo>
                <a:lnTo>
                  <a:pt x="83835" y="107788"/>
                </a:lnTo>
                <a:cubicBezTo>
                  <a:pt x="77211" y="107788"/>
                  <a:pt x="71859" y="102436"/>
                  <a:pt x="71859" y="95811"/>
                </a:cubicBezTo>
                <a:cubicBezTo>
                  <a:pt x="71859" y="89187"/>
                  <a:pt x="77211" y="83835"/>
                  <a:pt x="83835" y="83835"/>
                </a:cubicBezTo>
                <a:close/>
                <a:moveTo>
                  <a:pt x="83835" y="143717"/>
                </a:moveTo>
                <a:lnTo>
                  <a:pt x="179646" y="143717"/>
                </a:lnTo>
                <a:cubicBezTo>
                  <a:pt x="186271" y="143717"/>
                  <a:pt x="191623" y="149069"/>
                  <a:pt x="191623" y="155694"/>
                </a:cubicBezTo>
                <a:cubicBezTo>
                  <a:pt x="191623" y="162318"/>
                  <a:pt x="186271" y="167670"/>
                  <a:pt x="179646" y="167670"/>
                </a:cubicBezTo>
                <a:lnTo>
                  <a:pt x="83835" y="167670"/>
                </a:lnTo>
                <a:cubicBezTo>
                  <a:pt x="77211" y="167670"/>
                  <a:pt x="71859" y="162318"/>
                  <a:pt x="71859" y="155694"/>
                </a:cubicBezTo>
                <a:cubicBezTo>
                  <a:pt x="71859" y="149069"/>
                  <a:pt x="77211" y="143717"/>
                  <a:pt x="83835" y="143717"/>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4BEAD8D7-6F4A-4283-B287-FC4D94A07885}"/>
              </a:ext>
            </a:extLst>
          </p:cNvPr>
          <p:cNvSpPr>
            <a:spLocks xmlns:a="http://schemas.openxmlformats.org/drawingml/2006/main" noGrp="1"/>
          </p:cNvSpPr>
          <p:nvPr/>
        </p:nvSpPr>
        <p:spPr>
          <a:xfrm xmlns:a="http://schemas.openxmlformats.org/drawingml/2006/main">
            <a:off x="910208" y="1845655"/>
            <a:ext cx="2962169" cy="25549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第四步</a:t>
            </a:r>
            <a:endParaRPr sz="2000"/>
          </a:p>
        </p:txBody>
      </p:sp>
      <p:sp>
        <p:nvSpPr>
          <p:cNvPr id="9" name="Text 7">
            <a:extLst xmlns:a="http://schemas.openxmlformats.org/drawingml/2006/main">
              <a:ext uri="{FF2B5EF4-FFF2-40B4-BE49-F238E27FC236}">
                <a16:creationId xmlns:a16="http://schemas.microsoft.com/office/drawing/2014/main" id="{938D628A-B6EF-4857-A756-6F82FA84C7F5}"/>
              </a:ext>
            </a:extLst>
          </p:cNvPr>
          <p:cNvSpPr>
            <a:spLocks xmlns:a="http://schemas.openxmlformats.org/drawingml/2006/main" noGrp="1"/>
          </p:cNvSpPr>
          <p:nvPr/>
        </p:nvSpPr>
        <p:spPr>
          <a:xfrm xmlns:a="http://schemas.openxmlformats.org/drawingml/2006/main">
            <a:off x="910208" y="2196964"/>
            <a:ext cx="3912300" cy="231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400">
                <a:latin typeface="微软雅黑"/>
                <a:ea typeface="微软雅黑"/>
                <a:cs typeface="微软雅黑"/>
              </a:rPr>
              <a:t>找出符合上述条件的</a:t>
            </a:r>
            <a:r>
              <a:rPr sz="1400" b="1">
                <a:latin typeface="微软雅黑"/>
                <a:ea typeface="微软雅黑"/>
                <a:cs typeface="微软雅黑"/>
              </a:rPr>
              <a:t>所有点</a:t>
            </a:r>
            <a:r>
              <a:rPr sz="1400">
                <a:latin typeface="微软雅黑"/>
                <a:ea typeface="微软雅黑"/>
                <a:cs typeface="微软雅黑"/>
              </a:rPr>
              <a:t>。</a:t>
            </a:r>
            <a:endParaRPr sz="2000"/>
          </a:p>
        </p:txBody>
      </p:sp>
      <p:sp>
        <p:nvSpPr>
          <p:cNvPr id="10" name="Shape 8">
            <a:extLst xmlns:a="http://schemas.openxmlformats.org/drawingml/2006/main">
              <a:ext uri="{FF2B5EF4-FFF2-40B4-BE49-F238E27FC236}">
                <a16:creationId xmlns:a16="http://schemas.microsoft.com/office/drawing/2014/main" id="{0AA57D94-864F-498D-9E13-3F583479E41A}"/>
              </a:ext>
            </a:extLst>
          </p:cNvPr>
          <p:cNvSpPr>
            <a:spLocks xmlns:a="http://schemas.openxmlformats.org/drawingml/2006/main" noGrp="1"/>
          </p:cNvSpPr>
          <p:nvPr/>
        </p:nvSpPr>
        <p:spPr>
          <a:xfrm xmlns:a="http://schemas.openxmlformats.org/drawingml/2006/main">
            <a:off x="323363" y="2817742"/>
            <a:ext cx="8223811" cy="1580888"/>
          </a:xfrm>
          <a:custGeom xmlns:a="http://schemas.openxmlformats.org/drawingml/2006/main">
            <a:rect l="l" t="t" r="r" b="b"/>
            <a:pathLst>
              <a:path w="8223811" h="1580888">
                <a:moveTo>
                  <a:pt x="95818" y="0"/>
                </a:moveTo>
                <a:lnTo>
                  <a:pt x="8127994" y="0"/>
                </a:lnTo>
                <a:cubicBezTo>
                  <a:pt x="8180912" y="0"/>
                  <a:pt x="8223811" y="42899"/>
                  <a:pt x="8223811" y="95818"/>
                </a:cubicBezTo>
                <a:lnTo>
                  <a:pt x="8223811" y="1485070"/>
                </a:lnTo>
                <a:cubicBezTo>
                  <a:pt x="8223811" y="1537989"/>
                  <a:pt x="8180912" y="1580888"/>
                  <a:pt x="8127994" y="1580888"/>
                </a:cubicBezTo>
                <a:lnTo>
                  <a:pt x="95818" y="1580888"/>
                </a:lnTo>
                <a:cubicBezTo>
                  <a:pt x="42899" y="1580888"/>
                  <a:pt x="0" y="1537989"/>
                  <a:pt x="0" y="1485070"/>
                </a:cubicBezTo>
                <a:lnTo>
                  <a:pt x="0" y="95818"/>
                </a:lnTo>
                <a:cubicBezTo>
                  <a:pt x="0" y="42934"/>
                  <a:pt x="42934" y="0"/>
                  <a:pt x="9581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1" name="Shape 9">
            <a:extLst xmlns:a="http://schemas.openxmlformats.org/drawingml/2006/main">
              <a:ext uri="{FF2B5EF4-FFF2-40B4-BE49-F238E27FC236}">
                <a16:creationId xmlns:a16="http://schemas.microsoft.com/office/drawing/2014/main" id="{571C6270-68DC-46FB-9468-9BFBE3C313E4}"/>
              </a:ext>
            </a:extLst>
          </p:cNvPr>
          <p:cNvSpPr>
            <a:spLocks xmlns:a="http://schemas.openxmlformats.org/drawingml/2006/main" noGrp="1"/>
          </p:cNvSpPr>
          <p:nvPr/>
        </p:nvSpPr>
        <p:spPr>
          <a:xfrm xmlns:a="http://schemas.openxmlformats.org/drawingml/2006/main">
            <a:off x="538939" y="3045294"/>
            <a:ext cx="159686" cy="159686"/>
          </a:xfrm>
          <a:custGeom xmlns:a="http://schemas.openxmlformats.org/drawingml/2006/main">
            <a:rect l="l" t="t" r="r" b="b"/>
            <a:pathLst>
              <a:path w="159686" h="159686">
                <a:moveTo>
                  <a:pt x="149736" y="59882"/>
                </a:moveTo>
                <a:lnTo>
                  <a:pt x="152200" y="59882"/>
                </a:lnTo>
                <a:cubicBezTo>
                  <a:pt x="156348" y="59882"/>
                  <a:pt x="159686" y="56545"/>
                  <a:pt x="159686" y="52397"/>
                </a:cubicBezTo>
                <a:lnTo>
                  <a:pt x="159686" y="7485"/>
                </a:lnTo>
                <a:cubicBezTo>
                  <a:pt x="159686" y="4460"/>
                  <a:pt x="157877" y="1715"/>
                  <a:pt x="155070" y="561"/>
                </a:cubicBezTo>
                <a:cubicBezTo>
                  <a:pt x="152263" y="-593"/>
                  <a:pt x="149050" y="62"/>
                  <a:pt x="146898" y="2183"/>
                </a:cubicBezTo>
                <a:lnTo>
                  <a:pt x="130774" y="18339"/>
                </a:lnTo>
                <a:cubicBezTo>
                  <a:pt x="116957" y="6893"/>
                  <a:pt x="99180" y="0"/>
                  <a:pt x="79843" y="0"/>
                </a:cubicBezTo>
                <a:cubicBezTo>
                  <a:pt x="39610" y="0"/>
                  <a:pt x="6331" y="29754"/>
                  <a:pt x="811" y="68459"/>
                </a:cubicBezTo>
                <a:cubicBezTo>
                  <a:pt x="31" y="73917"/>
                  <a:pt x="3805" y="78970"/>
                  <a:pt x="9263" y="79749"/>
                </a:cubicBezTo>
                <a:cubicBezTo>
                  <a:pt x="14721" y="80529"/>
                  <a:pt x="19774" y="76724"/>
                  <a:pt x="20553" y="71297"/>
                </a:cubicBezTo>
                <a:cubicBezTo>
                  <a:pt x="24701" y="42261"/>
                  <a:pt x="49683" y="19961"/>
                  <a:pt x="79843" y="19961"/>
                </a:cubicBezTo>
                <a:cubicBezTo>
                  <a:pt x="93691" y="19961"/>
                  <a:pt x="106416" y="24639"/>
                  <a:pt x="116552" y="32530"/>
                </a:cubicBezTo>
                <a:lnTo>
                  <a:pt x="101987" y="47095"/>
                </a:lnTo>
                <a:cubicBezTo>
                  <a:pt x="99835" y="49247"/>
                  <a:pt x="99211" y="52459"/>
                  <a:pt x="100365" y="55266"/>
                </a:cubicBezTo>
                <a:cubicBezTo>
                  <a:pt x="101519" y="58073"/>
                  <a:pt x="104264" y="59882"/>
                  <a:pt x="107289" y="59882"/>
                </a:cubicBezTo>
                <a:lnTo>
                  <a:pt x="149736" y="59882"/>
                </a:lnTo>
                <a:close/>
                <a:moveTo>
                  <a:pt x="158906" y="91227"/>
                </a:moveTo>
                <a:cubicBezTo>
                  <a:pt x="159686" y="85769"/>
                  <a:pt x="155881" y="80716"/>
                  <a:pt x="150454" y="79936"/>
                </a:cubicBezTo>
                <a:cubicBezTo>
                  <a:pt x="145027" y="79157"/>
                  <a:pt x="139943" y="82962"/>
                  <a:pt x="139164" y="88389"/>
                </a:cubicBezTo>
                <a:cubicBezTo>
                  <a:pt x="135015" y="117394"/>
                  <a:pt x="110033" y="139694"/>
                  <a:pt x="79874" y="139694"/>
                </a:cubicBezTo>
                <a:cubicBezTo>
                  <a:pt x="66026" y="139694"/>
                  <a:pt x="53301" y="135015"/>
                  <a:pt x="43165" y="127125"/>
                </a:cubicBezTo>
                <a:lnTo>
                  <a:pt x="57699" y="112591"/>
                </a:lnTo>
                <a:cubicBezTo>
                  <a:pt x="59851" y="110439"/>
                  <a:pt x="60475" y="107226"/>
                  <a:pt x="59321" y="104419"/>
                </a:cubicBezTo>
                <a:cubicBezTo>
                  <a:pt x="58167" y="101612"/>
                  <a:pt x="55422" y="99804"/>
                  <a:pt x="52397" y="99804"/>
                </a:cubicBezTo>
                <a:lnTo>
                  <a:pt x="7485" y="99804"/>
                </a:lnTo>
                <a:cubicBezTo>
                  <a:pt x="3337" y="99804"/>
                  <a:pt x="0" y="103141"/>
                  <a:pt x="0" y="107289"/>
                </a:cubicBezTo>
                <a:lnTo>
                  <a:pt x="0" y="152200"/>
                </a:lnTo>
                <a:cubicBezTo>
                  <a:pt x="0" y="155226"/>
                  <a:pt x="1809" y="157970"/>
                  <a:pt x="4616" y="159124"/>
                </a:cubicBezTo>
                <a:cubicBezTo>
                  <a:pt x="7423" y="160278"/>
                  <a:pt x="10635" y="159623"/>
                  <a:pt x="12787" y="157502"/>
                </a:cubicBezTo>
                <a:lnTo>
                  <a:pt x="28943" y="141347"/>
                </a:lnTo>
                <a:cubicBezTo>
                  <a:pt x="42728" y="152793"/>
                  <a:pt x="60506" y="159686"/>
                  <a:pt x="79843" y="159686"/>
                </a:cubicBezTo>
                <a:cubicBezTo>
                  <a:pt x="120076" y="159686"/>
                  <a:pt x="153354" y="129932"/>
                  <a:pt x="158875" y="91227"/>
                </a:cubicBezTo>
                <a:close/>
              </a:path>
            </a:pathLst>
          </a:custGeom>
          <a:solidFill xmlns:a="http://schemas.openxmlformats.org/drawingml/2006/main">
            <a:srgbClr val="E6B450"/>
          </a:solidFill>
        </p:spPr>
      </p:sp>
      <p:sp>
        <p:nvSpPr>
          <p:cNvPr id="12" name="Text 10">
            <a:extLst xmlns:a="http://schemas.openxmlformats.org/drawingml/2006/main">
              <a:ext uri="{FF2B5EF4-FFF2-40B4-BE49-F238E27FC236}">
                <a16:creationId xmlns:a16="http://schemas.microsoft.com/office/drawing/2014/main" id="{3CCBEA08-B658-4134-94DA-FE7A163830D5}"/>
              </a:ext>
            </a:extLst>
          </p:cNvPr>
          <p:cNvSpPr>
            <a:spLocks xmlns:a="http://schemas.openxmlformats.org/drawingml/2006/main" noGrp="1"/>
          </p:cNvSpPr>
          <p:nvPr/>
        </p:nvSpPr>
        <p:spPr>
          <a:xfrm xmlns:a="http://schemas.openxmlformats.org/drawingml/2006/main">
            <a:off x="814397" y="3013357"/>
            <a:ext cx="1314970" cy="223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动态生成</a:t>
            </a:r>
            <a:endParaRPr sz="2400"/>
          </a:p>
        </p:txBody>
      </p:sp>
      <p:sp>
        <p:nvSpPr>
          <p:cNvPr id="13" name="Text 11">
            <a:extLst xmlns:a="http://schemas.openxmlformats.org/drawingml/2006/main">
              <a:ext uri="{FF2B5EF4-FFF2-40B4-BE49-F238E27FC236}">
                <a16:creationId xmlns:a16="http://schemas.microsoft.com/office/drawing/2014/main" id="{6F83F1C1-9055-4661-B27E-BA10A24A0735}"/>
              </a:ext>
            </a:extLst>
          </p:cNvPr>
          <p:cNvSpPr>
            <a:spLocks xmlns:a="http://schemas.openxmlformats.org/drawingml/2006/main" noGrp="1"/>
          </p:cNvSpPr>
          <p:nvPr/>
        </p:nvSpPr>
        <p:spPr>
          <a:xfrm xmlns:a="http://schemas.openxmlformats.org/drawingml/2006/main">
            <a:off x="518978" y="3364665"/>
            <a:ext cx="7904440" cy="231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通过让参数t从0连续变化到1，可以生成贝塞尔曲线上的所有点。</a:t>
            </a:r>
            <a:endParaRPr sz="2400"/>
          </a:p>
        </p:txBody>
      </p:sp>
      <p:sp>
        <p:nvSpPr>
          <p:cNvPr id="14" name="Shape 12">
            <a:extLst xmlns:a="http://schemas.openxmlformats.org/drawingml/2006/main">
              <a:ext uri="{FF2B5EF4-FFF2-40B4-BE49-F238E27FC236}">
                <a16:creationId xmlns:a16="http://schemas.microsoft.com/office/drawing/2014/main" id="{C66B24B3-6988-44A3-967E-4A667D869BA8}"/>
              </a:ext>
            </a:extLst>
          </p:cNvPr>
          <p:cNvSpPr>
            <a:spLocks xmlns:a="http://schemas.openxmlformats.org/drawingml/2006/main" noGrp="1"/>
          </p:cNvSpPr>
          <p:nvPr/>
        </p:nvSpPr>
        <p:spPr>
          <a:xfrm xmlns:a="http://schemas.openxmlformats.org/drawingml/2006/main">
            <a:off x="518978" y="3725954"/>
            <a:ext cx="7832582" cy="479057"/>
          </a:xfrm>
          <a:custGeom xmlns:a="http://schemas.openxmlformats.org/drawingml/2006/main">
            <a:rect l="l" t="t" r="r" b="b"/>
            <a:pathLst>
              <a:path w="7832582" h="479057">
                <a:moveTo>
                  <a:pt x="63873" y="0"/>
                </a:moveTo>
                <a:lnTo>
                  <a:pt x="7768709" y="0"/>
                </a:lnTo>
                <a:cubicBezTo>
                  <a:pt x="7803985" y="0"/>
                  <a:pt x="7832582" y="28597"/>
                  <a:pt x="7832582" y="63873"/>
                </a:cubicBezTo>
                <a:lnTo>
                  <a:pt x="7832582" y="415184"/>
                </a:lnTo>
                <a:cubicBezTo>
                  <a:pt x="7832582" y="450460"/>
                  <a:pt x="7803985" y="479057"/>
                  <a:pt x="7768709" y="479057"/>
                </a:cubicBezTo>
                <a:lnTo>
                  <a:pt x="63873" y="479057"/>
                </a:lnTo>
                <a:cubicBezTo>
                  <a:pt x="28597" y="479057"/>
                  <a:pt x="0" y="450460"/>
                  <a:pt x="0" y="415184"/>
                </a:cubicBezTo>
                <a:lnTo>
                  <a:pt x="0" y="63873"/>
                </a:lnTo>
                <a:cubicBezTo>
                  <a:pt x="0" y="28620"/>
                  <a:pt x="28620" y="0"/>
                  <a:pt x="63873" y="0"/>
                </a:cubicBezTo>
                <a:close/>
              </a:path>
            </a:pathLst>
          </a:custGeom>
          <a:solidFill xmlns:a="http://schemas.openxmlformats.org/drawingml/2006/main">
            <a:srgbClr val="5F87A7">
              <a:alpha val="20000"/>
            </a:srgbClr>
          </a:solidFill>
        </p:spPr>
      </p:sp>
      <p:sp>
        <p:nvSpPr>
          <p:cNvPr id="15" name="Text 13">
            <a:extLst xmlns:a="http://schemas.openxmlformats.org/drawingml/2006/main">
              <a:ext uri="{FF2B5EF4-FFF2-40B4-BE49-F238E27FC236}">
                <a16:creationId xmlns:a16="http://schemas.microsoft.com/office/drawing/2014/main" id="{07DFB48B-FDCA-4273-92DF-0FBC48C91B01}"/>
              </a:ext>
            </a:extLst>
          </p:cNvPr>
          <p:cNvSpPr>
            <a:spLocks xmlns:a="http://schemas.openxmlformats.org/drawingml/2006/main" noGrp="1"/>
          </p:cNvSpPr>
          <p:nvPr/>
        </p:nvSpPr>
        <p:spPr>
          <a:xfrm xmlns:a="http://schemas.openxmlformats.org/drawingml/2006/main">
            <a:off x="606806" y="3853702"/>
            <a:ext cx="7656927" cy="223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20000"/>
              </a:lnSpc>
              <a:buNone/>
            </a:pPr>
            <a:r>
              <a:rPr sz="1255">
                <a:latin typeface="微软雅黑"/>
                <a:ea typeface="微软雅黑"/>
                <a:cs typeface="微软雅黑"/>
              </a:rPr>
              <a:t>t ∈ [0, 1]</a:t>
            </a:r>
            <a:endParaRPr sz="1600"/>
          </a:p>
        </p:txBody>
      </p:sp>
      <p:sp>
        <p:nvSpPr>
          <p:cNvPr id="16" name="Shape 14">
            <a:extLst xmlns:a="http://schemas.openxmlformats.org/drawingml/2006/main">
              <a:ext uri="{FF2B5EF4-FFF2-40B4-BE49-F238E27FC236}">
                <a16:creationId xmlns:a16="http://schemas.microsoft.com/office/drawing/2014/main" id="{54322485-7194-415A-9CF5-6D6548C5003E}"/>
              </a:ext>
            </a:extLst>
          </p:cNvPr>
          <p:cNvSpPr>
            <a:spLocks xmlns:a="http://schemas.openxmlformats.org/drawingml/2006/main" noGrp="1"/>
          </p:cNvSpPr>
          <p:nvPr/>
        </p:nvSpPr>
        <p:spPr>
          <a:xfrm xmlns:a="http://schemas.openxmlformats.org/drawingml/2006/main">
            <a:off x="335340" y="4596241"/>
            <a:ext cx="8215827" cy="966098"/>
          </a:xfrm>
          <a:custGeom xmlns:a="http://schemas.openxmlformats.org/drawingml/2006/main">
            <a:rect l="l" t="t" r="r" b="b"/>
            <a:pathLst>
              <a:path w="8215827" h="966098">
                <a:moveTo>
                  <a:pt x="31937" y="0"/>
                </a:moveTo>
                <a:lnTo>
                  <a:pt x="8120019" y="0"/>
                </a:lnTo>
                <a:cubicBezTo>
                  <a:pt x="8172932" y="0"/>
                  <a:pt x="8215827" y="42895"/>
                  <a:pt x="8215827" y="95808"/>
                </a:cubicBezTo>
                <a:lnTo>
                  <a:pt x="8215827" y="870290"/>
                </a:lnTo>
                <a:cubicBezTo>
                  <a:pt x="8215827" y="923204"/>
                  <a:pt x="8172932" y="966098"/>
                  <a:pt x="8120019" y="966098"/>
                </a:cubicBezTo>
                <a:lnTo>
                  <a:pt x="31937" y="966098"/>
                </a:lnTo>
                <a:cubicBezTo>
                  <a:pt x="14299" y="966098"/>
                  <a:pt x="0" y="951799"/>
                  <a:pt x="0" y="934161"/>
                </a:cubicBezTo>
                <a:lnTo>
                  <a:pt x="0" y="31937"/>
                </a:lnTo>
                <a:cubicBezTo>
                  <a:pt x="0" y="14311"/>
                  <a:pt x="14311" y="0"/>
                  <a:pt x="31937" y="0"/>
                </a:cubicBezTo>
                <a:close/>
              </a:path>
            </a:pathLst>
          </a:custGeom>
          <a:solidFill xmlns:a="http://schemas.openxmlformats.org/drawingml/2006/main">
            <a:srgbClr val="5F87A7">
              <a:alpha val="10196"/>
            </a:srgbClr>
          </a:solidFill>
        </p:spPr>
      </p:sp>
      <p:sp>
        <p:nvSpPr>
          <p:cNvPr id="17" name="Shape 15">
            <a:extLst xmlns:a="http://schemas.openxmlformats.org/drawingml/2006/main">
              <a:ext uri="{FF2B5EF4-FFF2-40B4-BE49-F238E27FC236}">
                <a16:creationId xmlns:a16="http://schemas.microsoft.com/office/drawing/2014/main" id="{4A45C70A-A18D-4D89-B710-40E1B759945E}"/>
              </a:ext>
            </a:extLst>
          </p:cNvPr>
          <p:cNvSpPr>
            <a:spLocks xmlns:a="http://schemas.openxmlformats.org/drawingml/2006/main" noGrp="1"/>
          </p:cNvSpPr>
          <p:nvPr/>
        </p:nvSpPr>
        <p:spPr>
          <a:xfrm xmlns:a="http://schemas.openxmlformats.org/drawingml/2006/main">
            <a:off x="335340" y="4596241"/>
            <a:ext cx="31937" cy="966098"/>
          </a:xfrm>
          <a:custGeom xmlns:a="http://schemas.openxmlformats.org/drawingml/2006/main">
            <a:rect l="l" t="t" r="r" b="b"/>
            <a:pathLst>
              <a:path w="31937" h="966098">
                <a:moveTo>
                  <a:pt x="31937" y="0"/>
                </a:moveTo>
                <a:lnTo>
                  <a:pt x="31937" y="0"/>
                </a:lnTo>
                <a:lnTo>
                  <a:pt x="31937" y="966098"/>
                </a:lnTo>
                <a:lnTo>
                  <a:pt x="31937" y="966098"/>
                </a:lnTo>
                <a:cubicBezTo>
                  <a:pt x="14299" y="966098"/>
                  <a:pt x="0" y="951799"/>
                  <a:pt x="0" y="934161"/>
                </a:cubicBezTo>
                <a:lnTo>
                  <a:pt x="0" y="31937"/>
                </a:lnTo>
                <a:cubicBezTo>
                  <a:pt x="0" y="14311"/>
                  <a:pt x="14311" y="0"/>
                  <a:pt x="31937" y="0"/>
                </a:cubicBezTo>
                <a:close/>
              </a:path>
            </a:pathLst>
          </a:custGeom>
          <a:solidFill xmlns:a="http://schemas.openxmlformats.org/drawingml/2006/main">
            <a:srgbClr val="E6B450"/>
          </a:solidFill>
        </p:spPr>
      </p:sp>
      <p:sp>
        <p:nvSpPr>
          <p:cNvPr id="18" name="Shape 16">
            <a:extLst xmlns:a="http://schemas.openxmlformats.org/drawingml/2006/main">
              <a:ext uri="{FF2B5EF4-FFF2-40B4-BE49-F238E27FC236}">
                <a16:creationId xmlns:a16="http://schemas.microsoft.com/office/drawing/2014/main" id="{A3A583E9-0689-4E71-8022-285A9906B3E4}"/>
              </a:ext>
            </a:extLst>
          </p:cNvPr>
          <p:cNvSpPr>
            <a:spLocks xmlns:a="http://schemas.openxmlformats.org/drawingml/2006/main" noGrp="1"/>
          </p:cNvSpPr>
          <p:nvPr/>
        </p:nvSpPr>
        <p:spPr>
          <a:xfrm xmlns:a="http://schemas.openxmlformats.org/drawingml/2006/main">
            <a:off x="554908" y="4819801"/>
            <a:ext cx="215576" cy="191623"/>
          </a:xfrm>
          <a:custGeom xmlns:a="http://schemas.openxmlformats.org/drawingml/2006/main">
            <a:rect l="l" t="t" r="r" b="b"/>
            <a:pathLst>
              <a:path w="215576" h="191623">
                <a:moveTo>
                  <a:pt x="115834" y="-7074"/>
                </a:moveTo>
                <a:cubicBezTo>
                  <a:pt x="114300" y="-10068"/>
                  <a:pt x="111194" y="-11976"/>
                  <a:pt x="107825" y="-11976"/>
                </a:cubicBezTo>
                <a:cubicBezTo>
                  <a:pt x="104457" y="-11976"/>
                  <a:pt x="101350" y="-10068"/>
                  <a:pt x="99816" y="-7074"/>
                </a:cubicBezTo>
                <a:lnTo>
                  <a:pt x="72270" y="46895"/>
                </a:lnTo>
                <a:lnTo>
                  <a:pt x="12426" y="56401"/>
                </a:lnTo>
                <a:cubicBezTo>
                  <a:pt x="9095" y="56925"/>
                  <a:pt x="6325" y="59283"/>
                  <a:pt x="5277" y="62502"/>
                </a:cubicBezTo>
                <a:cubicBezTo>
                  <a:pt x="4229" y="65721"/>
                  <a:pt x="5090" y="69239"/>
                  <a:pt x="7448" y="71634"/>
                </a:cubicBezTo>
                <a:lnTo>
                  <a:pt x="50264" y="114487"/>
                </a:lnTo>
                <a:lnTo>
                  <a:pt x="40832" y="174332"/>
                </a:lnTo>
                <a:cubicBezTo>
                  <a:pt x="40308" y="177663"/>
                  <a:pt x="41693" y="181031"/>
                  <a:pt x="44425" y="183015"/>
                </a:cubicBezTo>
                <a:cubicBezTo>
                  <a:pt x="47157" y="184998"/>
                  <a:pt x="50750" y="185298"/>
                  <a:pt x="53782" y="183763"/>
                </a:cubicBezTo>
                <a:lnTo>
                  <a:pt x="107825" y="156292"/>
                </a:lnTo>
                <a:lnTo>
                  <a:pt x="161831" y="183763"/>
                </a:lnTo>
                <a:cubicBezTo>
                  <a:pt x="164826" y="185298"/>
                  <a:pt x="168456" y="184998"/>
                  <a:pt x="171188" y="183015"/>
                </a:cubicBezTo>
                <a:cubicBezTo>
                  <a:pt x="173920" y="181031"/>
                  <a:pt x="175305" y="177700"/>
                  <a:pt x="174781" y="174332"/>
                </a:cubicBezTo>
                <a:lnTo>
                  <a:pt x="165312" y="114487"/>
                </a:lnTo>
                <a:lnTo>
                  <a:pt x="208128" y="71634"/>
                </a:lnTo>
                <a:cubicBezTo>
                  <a:pt x="210523" y="69239"/>
                  <a:pt x="211346" y="65721"/>
                  <a:pt x="210299" y="62502"/>
                </a:cubicBezTo>
                <a:cubicBezTo>
                  <a:pt x="209251" y="59283"/>
                  <a:pt x="206518" y="56925"/>
                  <a:pt x="203150" y="56401"/>
                </a:cubicBezTo>
                <a:lnTo>
                  <a:pt x="143343" y="46895"/>
                </a:lnTo>
                <a:lnTo>
                  <a:pt x="115834" y="-7074"/>
                </a:lnTo>
                <a:close/>
              </a:path>
            </a:pathLst>
          </a:custGeom>
          <a:solidFill xmlns:a="http://schemas.openxmlformats.org/drawingml/2006/main">
            <a:srgbClr val="E6B450"/>
          </a:solidFill>
        </p:spPr>
      </p:sp>
      <p:sp>
        <p:nvSpPr>
          <p:cNvPr id="19" name="Text 17">
            <a:extLst xmlns:a="http://schemas.openxmlformats.org/drawingml/2006/main">
              <a:ext uri="{FF2B5EF4-FFF2-40B4-BE49-F238E27FC236}">
                <a16:creationId xmlns:a16="http://schemas.microsoft.com/office/drawing/2014/main" id="{5B51B43E-4F42-414D-AD53-38FC5A26E0E4}"/>
              </a:ext>
            </a:extLst>
          </p:cNvPr>
          <p:cNvSpPr>
            <a:spLocks xmlns:a="http://schemas.openxmlformats.org/drawingml/2006/main" noGrp="1"/>
          </p:cNvSpPr>
          <p:nvPr/>
        </p:nvSpPr>
        <p:spPr>
          <a:xfrm xmlns:a="http://schemas.openxmlformats.org/drawingml/2006/main">
            <a:off x="910208" y="4787864"/>
            <a:ext cx="3912299" cy="25549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二阶贝塞尔曲线</a:t>
            </a:r>
            <a:endParaRPr sz="2000"/>
          </a:p>
        </p:txBody>
      </p:sp>
      <p:sp>
        <p:nvSpPr>
          <p:cNvPr id="20" name="Text 18">
            <a:extLst xmlns:a="http://schemas.openxmlformats.org/drawingml/2006/main">
              <a:ext uri="{FF2B5EF4-FFF2-40B4-BE49-F238E27FC236}">
                <a16:creationId xmlns:a16="http://schemas.microsoft.com/office/drawing/2014/main" id="{CB950AEA-0474-442D-A33C-DF37BE0CE220}"/>
              </a:ext>
            </a:extLst>
          </p:cNvPr>
          <p:cNvSpPr>
            <a:spLocks xmlns:a="http://schemas.openxmlformats.org/drawingml/2006/main" noGrp="1"/>
          </p:cNvSpPr>
          <p:nvPr/>
        </p:nvSpPr>
        <p:spPr>
          <a:xfrm xmlns:a="http://schemas.openxmlformats.org/drawingml/2006/main">
            <a:off x="910208" y="5139172"/>
            <a:ext cx="5693792" cy="231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上述为一个</a:t>
            </a:r>
            <a:r>
              <a:rPr sz="1600" b="1">
                <a:latin typeface="微软雅黑"/>
                <a:ea typeface="微软雅黑"/>
                <a:cs typeface="微软雅黑"/>
              </a:rPr>
              <a:t>二阶贝塞尔曲线</a:t>
            </a:r>
            <a:r>
              <a:rPr sz="1600">
                <a:latin typeface="微软雅黑"/>
                <a:ea typeface="微软雅黑"/>
                <a:cs typeface="微软雅黑"/>
              </a:rPr>
              <a:t>。同样的，也有n阶贝塞尔曲线。</a:t>
            </a:r>
            <a:endParaRPr sz="2400"/>
          </a:p>
        </p:txBody>
      </p:sp>
      <p:sp>
        <p:nvSpPr>
          <p:cNvPr id="21" name="Shape 19">
            <a:extLst xmlns:a="http://schemas.openxmlformats.org/drawingml/2006/main">
              <a:ext uri="{FF2B5EF4-FFF2-40B4-BE49-F238E27FC236}">
                <a16:creationId xmlns:a16="http://schemas.microsoft.com/office/drawing/2014/main" id="{96D466D4-70E8-4033-85EE-1AA69F8563A4}"/>
              </a:ext>
            </a:extLst>
          </p:cNvPr>
          <p:cNvSpPr>
            <a:spLocks xmlns:a="http://schemas.openxmlformats.org/drawingml/2006/main" noGrp="1"/>
          </p:cNvSpPr>
          <p:nvPr/>
        </p:nvSpPr>
        <p:spPr>
          <a:xfrm xmlns:a="http://schemas.openxmlformats.org/drawingml/2006/main">
            <a:off x="323363" y="5759950"/>
            <a:ext cx="8223811" cy="974083"/>
          </a:xfrm>
          <a:custGeom xmlns:a="http://schemas.openxmlformats.org/drawingml/2006/main">
            <a:rect l="l" t="t" r="r" b="b"/>
            <a:pathLst>
              <a:path w="8223811" h="974083">
                <a:moveTo>
                  <a:pt x="95811" y="0"/>
                </a:moveTo>
                <a:lnTo>
                  <a:pt x="8128001" y="0"/>
                </a:lnTo>
                <a:cubicBezTo>
                  <a:pt x="8180915" y="0"/>
                  <a:pt x="8223811" y="42896"/>
                  <a:pt x="8223811" y="95811"/>
                </a:cubicBezTo>
                <a:lnTo>
                  <a:pt x="8223811" y="878272"/>
                </a:lnTo>
                <a:cubicBezTo>
                  <a:pt x="8223811" y="931187"/>
                  <a:pt x="8180915" y="974083"/>
                  <a:pt x="8128001" y="974083"/>
                </a:cubicBezTo>
                <a:lnTo>
                  <a:pt x="95811" y="974083"/>
                </a:lnTo>
                <a:cubicBezTo>
                  <a:pt x="42896" y="974083"/>
                  <a:pt x="0" y="931187"/>
                  <a:pt x="0" y="878272"/>
                </a:cubicBezTo>
                <a:lnTo>
                  <a:pt x="0" y="95811"/>
                </a:lnTo>
                <a:cubicBezTo>
                  <a:pt x="0" y="42931"/>
                  <a:pt x="42931" y="0"/>
                  <a:pt x="95811"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2" name="Shape 20">
            <a:extLst xmlns:a="http://schemas.openxmlformats.org/drawingml/2006/main">
              <a:ext uri="{FF2B5EF4-FFF2-40B4-BE49-F238E27FC236}">
                <a16:creationId xmlns:a16="http://schemas.microsoft.com/office/drawing/2014/main" id="{8B458375-AD7F-468C-8D0E-27DF920D4497}"/>
              </a:ext>
            </a:extLst>
          </p:cNvPr>
          <p:cNvSpPr>
            <a:spLocks xmlns:a="http://schemas.openxmlformats.org/drawingml/2006/main" noGrp="1"/>
          </p:cNvSpPr>
          <p:nvPr/>
        </p:nvSpPr>
        <p:spPr>
          <a:xfrm xmlns:a="http://schemas.openxmlformats.org/drawingml/2006/main">
            <a:off x="538939" y="5987502"/>
            <a:ext cx="159686" cy="159686"/>
          </a:xfrm>
          <a:custGeom xmlns:a="http://schemas.openxmlformats.org/drawingml/2006/main">
            <a:rect l="l" t="t" r="r" b="b"/>
            <a:pathLst>
              <a:path w="159686" h="159686">
                <a:moveTo>
                  <a:pt x="72514" y="1622"/>
                </a:moveTo>
                <a:cubicBezTo>
                  <a:pt x="77161" y="-530"/>
                  <a:pt x="82525" y="-530"/>
                  <a:pt x="87172" y="1622"/>
                </a:cubicBezTo>
                <a:lnTo>
                  <a:pt x="155350" y="33122"/>
                </a:lnTo>
                <a:cubicBezTo>
                  <a:pt x="158001" y="34339"/>
                  <a:pt x="159686" y="36990"/>
                  <a:pt x="159686" y="39921"/>
                </a:cubicBezTo>
                <a:cubicBezTo>
                  <a:pt x="159686" y="42853"/>
                  <a:pt x="158001" y="45504"/>
                  <a:pt x="155350" y="46721"/>
                </a:cubicBezTo>
                <a:lnTo>
                  <a:pt x="87172" y="78221"/>
                </a:lnTo>
                <a:cubicBezTo>
                  <a:pt x="82525" y="80373"/>
                  <a:pt x="77161" y="80373"/>
                  <a:pt x="72514" y="78221"/>
                </a:cubicBezTo>
                <a:lnTo>
                  <a:pt x="4335" y="46721"/>
                </a:lnTo>
                <a:cubicBezTo>
                  <a:pt x="1684" y="45473"/>
                  <a:pt x="0" y="42822"/>
                  <a:pt x="0" y="39921"/>
                </a:cubicBezTo>
                <a:cubicBezTo>
                  <a:pt x="0" y="37021"/>
                  <a:pt x="1684" y="34339"/>
                  <a:pt x="4335" y="33122"/>
                </a:cubicBezTo>
                <a:lnTo>
                  <a:pt x="72514" y="1622"/>
                </a:lnTo>
                <a:close/>
                <a:moveTo>
                  <a:pt x="15002" y="68116"/>
                </a:moveTo>
                <a:lnTo>
                  <a:pt x="66245" y="91788"/>
                </a:lnTo>
                <a:cubicBezTo>
                  <a:pt x="74884" y="95780"/>
                  <a:pt x="84833" y="95780"/>
                  <a:pt x="93472" y="91788"/>
                </a:cubicBezTo>
                <a:lnTo>
                  <a:pt x="144715" y="68116"/>
                </a:lnTo>
                <a:lnTo>
                  <a:pt x="155350" y="73044"/>
                </a:lnTo>
                <a:cubicBezTo>
                  <a:pt x="158001" y="74260"/>
                  <a:pt x="159686" y="76911"/>
                  <a:pt x="159686" y="79843"/>
                </a:cubicBezTo>
                <a:cubicBezTo>
                  <a:pt x="159686" y="82775"/>
                  <a:pt x="158001" y="85426"/>
                  <a:pt x="155350" y="86642"/>
                </a:cubicBezTo>
                <a:lnTo>
                  <a:pt x="87172" y="118142"/>
                </a:lnTo>
                <a:cubicBezTo>
                  <a:pt x="82525" y="120294"/>
                  <a:pt x="77161" y="120294"/>
                  <a:pt x="72514" y="118142"/>
                </a:cubicBezTo>
                <a:lnTo>
                  <a:pt x="4335" y="86642"/>
                </a:lnTo>
                <a:cubicBezTo>
                  <a:pt x="1684" y="85394"/>
                  <a:pt x="0" y="82743"/>
                  <a:pt x="0" y="79843"/>
                </a:cubicBezTo>
                <a:cubicBezTo>
                  <a:pt x="0" y="76942"/>
                  <a:pt x="1684" y="74260"/>
                  <a:pt x="4335" y="73044"/>
                </a:cubicBezTo>
                <a:lnTo>
                  <a:pt x="14971" y="68116"/>
                </a:lnTo>
                <a:close/>
                <a:moveTo>
                  <a:pt x="4335" y="112965"/>
                </a:moveTo>
                <a:lnTo>
                  <a:pt x="14971" y="108037"/>
                </a:lnTo>
                <a:lnTo>
                  <a:pt x="66213" y="131709"/>
                </a:lnTo>
                <a:cubicBezTo>
                  <a:pt x="74853" y="135702"/>
                  <a:pt x="84802" y="135702"/>
                  <a:pt x="93441" y="131709"/>
                </a:cubicBezTo>
                <a:lnTo>
                  <a:pt x="144684" y="108037"/>
                </a:lnTo>
                <a:lnTo>
                  <a:pt x="155319" y="112965"/>
                </a:lnTo>
                <a:cubicBezTo>
                  <a:pt x="157970" y="114181"/>
                  <a:pt x="159654" y="116833"/>
                  <a:pt x="159654" y="119764"/>
                </a:cubicBezTo>
                <a:cubicBezTo>
                  <a:pt x="159654" y="122696"/>
                  <a:pt x="157970" y="125347"/>
                  <a:pt x="155319" y="126563"/>
                </a:cubicBezTo>
                <a:lnTo>
                  <a:pt x="87141" y="158064"/>
                </a:lnTo>
                <a:cubicBezTo>
                  <a:pt x="82494" y="160216"/>
                  <a:pt x="77129" y="160216"/>
                  <a:pt x="72482" y="158064"/>
                </a:cubicBezTo>
                <a:lnTo>
                  <a:pt x="4335" y="126563"/>
                </a:lnTo>
                <a:cubicBezTo>
                  <a:pt x="1684" y="125316"/>
                  <a:pt x="0" y="122665"/>
                  <a:pt x="0" y="119764"/>
                </a:cubicBezTo>
                <a:cubicBezTo>
                  <a:pt x="0" y="116864"/>
                  <a:pt x="1684" y="114181"/>
                  <a:pt x="4335" y="112965"/>
                </a:cubicBezTo>
                <a:close/>
              </a:path>
            </a:pathLst>
          </a:custGeom>
          <a:solidFill xmlns:a="http://schemas.openxmlformats.org/drawingml/2006/main">
            <a:srgbClr val="E6B450"/>
          </a:solidFill>
        </p:spPr>
      </p:sp>
      <p:sp>
        <p:nvSpPr>
          <p:cNvPr id="23" name="Text 21">
            <a:extLst xmlns:a="http://schemas.openxmlformats.org/drawingml/2006/main">
              <a:ext uri="{FF2B5EF4-FFF2-40B4-BE49-F238E27FC236}">
                <a16:creationId xmlns:a16="http://schemas.microsoft.com/office/drawing/2014/main" id="{26897E0E-F0DB-4085-9131-B5269CF6694D}"/>
              </a:ext>
            </a:extLst>
          </p:cNvPr>
          <p:cNvSpPr>
            <a:spLocks xmlns:a="http://schemas.openxmlformats.org/drawingml/2006/main" noGrp="1"/>
          </p:cNvSpPr>
          <p:nvPr/>
        </p:nvSpPr>
        <p:spPr>
          <a:xfrm xmlns:a="http://schemas.openxmlformats.org/drawingml/2006/main">
            <a:off x="814396" y="5955565"/>
            <a:ext cx="2005003" cy="223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b="1">
                <a:latin typeface="微软雅黑"/>
                <a:ea typeface="微软雅黑"/>
                <a:cs typeface="微软雅黑"/>
              </a:rPr>
              <a:t>高阶贝塞尔曲线</a:t>
            </a:r>
            <a:endParaRPr sz="2400"/>
          </a:p>
        </p:txBody>
      </p:sp>
      <p:sp>
        <p:nvSpPr>
          <p:cNvPr id="24" name="Text 22">
            <a:extLst xmlns:a="http://schemas.openxmlformats.org/drawingml/2006/main">
              <a:ext uri="{FF2B5EF4-FFF2-40B4-BE49-F238E27FC236}">
                <a16:creationId xmlns:a16="http://schemas.microsoft.com/office/drawing/2014/main" id="{CA0AABF6-20B2-4C54-AB26-6358A418A67E}"/>
              </a:ext>
            </a:extLst>
          </p:cNvPr>
          <p:cNvSpPr>
            <a:spLocks xmlns:a="http://schemas.openxmlformats.org/drawingml/2006/main" noGrp="1"/>
          </p:cNvSpPr>
          <p:nvPr/>
        </p:nvSpPr>
        <p:spPr>
          <a:xfrm xmlns:a="http://schemas.openxmlformats.org/drawingml/2006/main">
            <a:off x="518978" y="6306873"/>
            <a:ext cx="7904440" cy="231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通过增加控制点，可以构建更复杂的曲线形状。</a:t>
            </a:r>
            <a:endParaRPr sz="2400"/>
          </a:p>
        </p:txBody>
      </p:sp>
      <p:sp>
        <p:nvSpPr>
          <p:cNvPr id="25" name="Shape 23">
            <a:extLst xmlns:a="http://schemas.openxmlformats.org/drawingml/2006/main">
              <a:ext uri="{FF2B5EF4-FFF2-40B4-BE49-F238E27FC236}">
                <a16:creationId xmlns:a16="http://schemas.microsoft.com/office/drawing/2014/main" id="{8DF9C534-FDCD-489F-B817-91F7877E96D9}"/>
              </a:ext>
            </a:extLst>
          </p:cNvPr>
          <p:cNvSpPr>
            <a:spLocks xmlns:a="http://schemas.openxmlformats.org/drawingml/2006/main" noGrp="1"/>
          </p:cNvSpPr>
          <p:nvPr/>
        </p:nvSpPr>
        <p:spPr>
          <a:xfrm xmlns:a="http://schemas.openxmlformats.org/drawingml/2006/main">
            <a:off x="8811529" y="1658025"/>
            <a:ext cx="3057980" cy="5078004"/>
          </a:xfrm>
          <a:custGeom xmlns:a="http://schemas.openxmlformats.org/drawingml/2006/main">
            <a:rect l="l" t="t" r="r" b="b"/>
            <a:pathLst>
              <a:path w="3057980" h="5078004">
                <a:moveTo>
                  <a:pt x="95807" y="0"/>
                </a:moveTo>
                <a:lnTo>
                  <a:pt x="2962174" y="0"/>
                </a:lnTo>
                <a:cubicBezTo>
                  <a:pt x="3015086" y="0"/>
                  <a:pt x="3057980" y="42894"/>
                  <a:pt x="3057980" y="95807"/>
                </a:cubicBezTo>
                <a:lnTo>
                  <a:pt x="3057980" y="4982197"/>
                </a:lnTo>
                <a:cubicBezTo>
                  <a:pt x="3057980" y="5035110"/>
                  <a:pt x="3015086" y="5078004"/>
                  <a:pt x="2962174" y="5078004"/>
                </a:cubicBezTo>
                <a:lnTo>
                  <a:pt x="95807" y="5078004"/>
                </a:lnTo>
                <a:cubicBezTo>
                  <a:pt x="42894" y="5078004"/>
                  <a:pt x="0" y="5035110"/>
                  <a:pt x="0" y="4982197"/>
                </a:cubicBezTo>
                <a:lnTo>
                  <a:pt x="0" y="95807"/>
                </a:lnTo>
                <a:cubicBezTo>
                  <a:pt x="0" y="42929"/>
                  <a:pt x="42929" y="0"/>
                  <a:pt x="9580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6" name="Shape 24">
            <a:extLst xmlns:a="http://schemas.openxmlformats.org/drawingml/2006/main">
              <a:ext uri="{FF2B5EF4-FFF2-40B4-BE49-F238E27FC236}">
                <a16:creationId xmlns:a16="http://schemas.microsoft.com/office/drawing/2014/main" id="{23668A82-6B05-4EC2-ADC3-CDBDC0CEFC9D}"/>
              </a:ext>
            </a:extLst>
          </p:cNvPr>
          <p:cNvSpPr>
            <a:spLocks xmlns:a="http://schemas.openxmlformats.org/drawingml/2006/main" noGrp="1"/>
          </p:cNvSpPr>
          <p:nvPr/>
        </p:nvSpPr>
        <p:spPr>
          <a:xfrm xmlns:a="http://schemas.openxmlformats.org/drawingml/2006/main">
            <a:off x="9027105" y="1885577"/>
            <a:ext cx="159686" cy="159686"/>
          </a:xfrm>
          <a:custGeom xmlns:a="http://schemas.openxmlformats.org/drawingml/2006/main">
            <a:rect l="l" t="t" r="r" b="b"/>
            <a:pathLst>
              <a:path w="159686" h="159686">
                <a:moveTo>
                  <a:pt x="0" y="24951"/>
                </a:moveTo>
                <a:cubicBezTo>
                  <a:pt x="0" y="16686"/>
                  <a:pt x="6706" y="9980"/>
                  <a:pt x="14971" y="9980"/>
                </a:cubicBezTo>
                <a:lnTo>
                  <a:pt x="44912" y="9980"/>
                </a:lnTo>
                <a:cubicBezTo>
                  <a:pt x="53177" y="9980"/>
                  <a:pt x="59882" y="16686"/>
                  <a:pt x="59882" y="24951"/>
                </a:cubicBezTo>
                <a:lnTo>
                  <a:pt x="59882" y="29941"/>
                </a:lnTo>
                <a:lnTo>
                  <a:pt x="99804" y="29941"/>
                </a:lnTo>
                <a:lnTo>
                  <a:pt x="99804" y="24951"/>
                </a:lnTo>
                <a:cubicBezTo>
                  <a:pt x="99804" y="16686"/>
                  <a:pt x="106509" y="9980"/>
                  <a:pt x="114774" y="9980"/>
                </a:cubicBezTo>
                <a:lnTo>
                  <a:pt x="144715" y="9980"/>
                </a:lnTo>
                <a:cubicBezTo>
                  <a:pt x="152980" y="9980"/>
                  <a:pt x="159686" y="16686"/>
                  <a:pt x="159686" y="24951"/>
                </a:cubicBezTo>
                <a:lnTo>
                  <a:pt x="159686" y="54892"/>
                </a:lnTo>
                <a:cubicBezTo>
                  <a:pt x="159686" y="63157"/>
                  <a:pt x="152980" y="69862"/>
                  <a:pt x="144715" y="69862"/>
                </a:cubicBezTo>
                <a:lnTo>
                  <a:pt x="114774" y="69862"/>
                </a:lnTo>
                <a:cubicBezTo>
                  <a:pt x="106509" y="69862"/>
                  <a:pt x="99804" y="63157"/>
                  <a:pt x="99804" y="54892"/>
                </a:cubicBezTo>
                <a:lnTo>
                  <a:pt x="99804" y="49902"/>
                </a:lnTo>
                <a:lnTo>
                  <a:pt x="59882" y="49902"/>
                </a:lnTo>
                <a:lnTo>
                  <a:pt x="59882" y="54892"/>
                </a:lnTo>
                <a:cubicBezTo>
                  <a:pt x="59882" y="57169"/>
                  <a:pt x="59352" y="59352"/>
                  <a:pt x="58447" y="61286"/>
                </a:cubicBezTo>
                <a:lnTo>
                  <a:pt x="79843" y="89823"/>
                </a:lnTo>
                <a:lnTo>
                  <a:pt x="104794" y="89823"/>
                </a:lnTo>
                <a:cubicBezTo>
                  <a:pt x="113059" y="89823"/>
                  <a:pt x="119764" y="96529"/>
                  <a:pt x="119764" y="104794"/>
                </a:cubicBezTo>
                <a:lnTo>
                  <a:pt x="119764" y="134735"/>
                </a:lnTo>
                <a:cubicBezTo>
                  <a:pt x="119764" y="143000"/>
                  <a:pt x="113059" y="149705"/>
                  <a:pt x="104794" y="149705"/>
                </a:cubicBezTo>
                <a:lnTo>
                  <a:pt x="74853" y="149705"/>
                </a:lnTo>
                <a:cubicBezTo>
                  <a:pt x="66588" y="149705"/>
                  <a:pt x="59882" y="143000"/>
                  <a:pt x="59882" y="134735"/>
                </a:cubicBezTo>
                <a:lnTo>
                  <a:pt x="59882" y="104794"/>
                </a:lnTo>
                <a:cubicBezTo>
                  <a:pt x="59882" y="102517"/>
                  <a:pt x="60412" y="100334"/>
                  <a:pt x="61317" y="98400"/>
                </a:cubicBezTo>
                <a:lnTo>
                  <a:pt x="39921" y="69862"/>
                </a:lnTo>
                <a:lnTo>
                  <a:pt x="14971" y="69862"/>
                </a:lnTo>
                <a:cubicBezTo>
                  <a:pt x="6706" y="69862"/>
                  <a:pt x="0" y="63157"/>
                  <a:pt x="0" y="54892"/>
                </a:cubicBezTo>
                <a:lnTo>
                  <a:pt x="0" y="24951"/>
                </a:lnTo>
                <a:close/>
              </a:path>
            </a:pathLst>
          </a:custGeom>
          <a:solidFill xmlns:a="http://schemas.openxmlformats.org/drawingml/2006/main">
            <a:srgbClr val="E6B450"/>
          </a:solidFill>
        </p:spPr>
      </p:sp>
      <p:sp>
        <p:nvSpPr>
          <p:cNvPr id="27" name="Text 25">
            <a:extLst xmlns:a="http://schemas.openxmlformats.org/drawingml/2006/main">
              <a:ext uri="{FF2B5EF4-FFF2-40B4-BE49-F238E27FC236}">
                <a16:creationId xmlns:a16="http://schemas.microsoft.com/office/drawing/2014/main" id="{CB3993D3-8CD3-4B77-9A84-D5133395C65F}"/>
              </a:ext>
            </a:extLst>
          </p:cNvPr>
          <p:cNvSpPr>
            <a:spLocks xmlns:a="http://schemas.openxmlformats.org/drawingml/2006/main" noGrp="1"/>
          </p:cNvSpPr>
          <p:nvPr/>
        </p:nvSpPr>
        <p:spPr>
          <a:xfrm xmlns:a="http://schemas.openxmlformats.org/drawingml/2006/main">
            <a:off x="9206751" y="1853640"/>
            <a:ext cx="2546986" cy="223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Step 4 示意</a:t>
            </a:r>
            <a:endParaRPr sz="1600"/>
          </a:p>
        </p:txBody>
      </p:sp>
      <p:sp>
        <p:nvSpPr>
          <p:cNvPr id="41" name="Shape 37">
            <a:extLst xmlns:a="http://schemas.openxmlformats.org/drawingml/2006/main">
              <a:ext uri="{FF2B5EF4-FFF2-40B4-BE49-F238E27FC236}">
                <a16:creationId xmlns:a16="http://schemas.microsoft.com/office/drawing/2014/main" id="{3C7B4CDC-4A63-4F0F-9277-CDDE02C93687}"/>
              </a:ext>
            </a:extLst>
          </p:cNvPr>
          <p:cNvSpPr>
            <a:spLocks xmlns:a="http://schemas.openxmlformats.org/drawingml/2006/main" noGrp="1"/>
          </p:cNvSpPr>
          <p:nvPr/>
        </p:nvSpPr>
        <p:spPr>
          <a:xfrm xmlns:a="http://schemas.openxmlformats.org/drawingml/2006/main">
            <a:off x="9007144" y="6093294"/>
            <a:ext cx="2666750" cy="447120"/>
          </a:xfrm>
          <a:custGeom xmlns:a="http://schemas.openxmlformats.org/drawingml/2006/main">
            <a:rect l="l" t="t" r="r" b="b"/>
            <a:pathLst>
              <a:path w="2666750" h="447120">
                <a:moveTo>
                  <a:pt x="63876" y="0"/>
                </a:moveTo>
                <a:lnTo>
                  <a:pt x="2602875" y="0"/>
                </a:lnTo>
                <a:cubicBezTo>
                  <a:pt x="2638152" y="0"/>
                  <a:pt x="2666750" y="28598"/>
                  <a:pt x="2666750" y="63876"/>
                </a:cubicBezTo>
                <a:lnTo>
                  <a:pt x="2666750" y="383244"/>
                </a:lnTo>
                <a:cubicBezTo>
                  <a:pt x="2666750" y="418522"/>
                  <a:pt x="2638152" y="447120"/>
                  <a:pt x="2602875" y="447120"/>
                </a:cubicBezTo>
                <a:lnTo>
                  <a:pt x="63876" y="447120"/>
                </a:lnTo>
                <a:cubicBezTo>
                  <a:pt x="28598" y="447120"/>
                  <a:pt x="0" y="418522"/>
                  <a:pt x="0" y="383244"/>
                </a:cubicBezTo>
                <a:lnTo>
                  <a:pt x="0" y="63876"/>
                </a:lnTo>
                <a:cubicBezTo>
                  <a:pt x="0" y="28598"/>
                  <a:pt x="28598" y="0"/>
                  <a:pt x="63876" y="0"/>
                </a:cubicBezTo>
                <a:close/>
              </a:path>
            </a:pathLst>
          </a:custGeom>
          <a:solidFill xmlns:a="http://schemas.openxmlformats.org/drawingml/2006/main">
            <a:srgbClr val="5F87A7">
              <a:alpha val="20000"/>
            </a:srgbClr>
          </a:solidFill>
        </p:spPr>
      </p:sp>
      <p:sp>
        <p:nvSpPr>
          <p:cNvPr id="42" name="Shape 38">
            <a:extLst xmlns:a="http://schemas.openxmlformats.org/drawingml/2006/main">
              <a:ext uri="{FF2B5EF4-FFF2-40B4-BE49-F238E27FC236}">
                <a16:creationId xmlns:a16="http://schemas.microsoft.com/office/drawing/2014/main" id="{C0F5ACD3-4403-496A-AD25-BA0716BB36AC}"/>
              </a:ext>
            </a:extLst>
          </p:cNvPr>
          <p:cNvSpPr>
            <a:spLocks xmlns:a="http://schemas.openxmlformats.org/drawingml/2006/main" noGrp="1"/>
          </p:cNvSpPr>
          <p:nvPr/>
        </p:nvSpPr>
        <p:spPr>
          <a:xfrm xmlns:a="http://schemas.openxmlformats.org/drawingml/2006/main">
            <a:off x="9509099" y="6252979"/>
            <a:ext cx="127749" cy="127749"/>
          </a:xfrm>
          <a:custGeom xmlns:a="http://schemas.openxmlformats.org/drawingml/2006/main">
            <a:rect l="l" t="t" r="r" b="b"/>
            <a:pathLst>
              <a:path w="127749" h="127749">
                <a:moveTo>
                  <a:pt x="63874" y="127749"/>
                </a:moveTo>
                <a:cubicBezTo>
                  <a:pt x="99127" y="127749"/>
                  <a:pt x="127749" y="99127"/>
                  <a:pt x="127749" y="63874"/>
                </a:cubicBezTo>
                <a:cubicBezTo>
                  <a:pt x="127749" y="28621"/>
                  <a:pt x="99127" y="0"/>
                  <a:pt x="63874" y="0"/>
                </a:cubicBezTo>
                <a:cubicBezTo>
                  <a:pt x="28621" y="0"/>
                  <a:pt x="0" y="28621"/>
                  <a:pt x="0" y="63874"/>
                </a:cubicBezTo>
                <a:cubicBezTo>
                  <a:pt x="0" y="99127"/>
                  <a:pt x="28621" y="127749"/>
                  <a:pt x="63874" y="127749"/>
                </a:cubicBezTo>
                <a:close/>
                <a:moveTo>
                  <a:pt x="55890" y="39921"/>
                </a:moveTo>
                <a:cubicBezTo>
                  <a:pt x="55890" y="35515"/>
                  <a:pt x="59468" y="31937"/>
                  <a:pt x="63874" y="31937"/>
                </a:cubicBezTo>
                <a:cubicBezTo>
                  <a:pt x="68281" y="31937"/>
                  <a:pt x="71859" y="35515"/>
                  <a:pt x="71859" y="39921"/>
                </a:cubicBezTo>
                <a:cubicBezTo>
                  <a:pt x="71859" y="44328"/>
                  <a:pt x="68281" y="47906"/>
                  <a:pt x="63874" y="47906"/>
                </a:cubicBezTo>
                <a:cubicBezTo>
                  <a:pt x="59468" y="47906"/>
                  <a:pt x="55890" y="44328"/>
                  <a:pt x="55890" y="39921"/>
                </a:cubicBezTo>
                <a:close/>
                <a:moveTo>
                  <a:pt x="53894" y="55890"/>
                </a:moveTo>
                <a:lnTo>
                  <a:pt x="65870" y="55890"/>
                </a:lnTo>
                <a:cubicBezTo>
                  <a:pt x="69189" y="55890"/>
                  <a:pt x="71859" y="58560"/>
                  <a:pt x="71859" y="61878"/>
                </a:cubicBezTo>
                <a:lnTo>
                  <a:pt x="71859" y="83835"/>
                </a:lnTo>
                <a:lnTo>
                  <a:pt x="73855" y="83835"/>
                </a:lnTo>
                <a:cubicBezTo>
                  <a:pt x="77173" y="83835"/>
                  <a:pt x="79843" y="86505"/>
                  <a:pt x="79843" y="89823"/>
                </a:cubicBezTo>
                <a:cubicBezTo>
                  <a:pt x="79843" y="93142"/>
                  <a:pt x="77173" y="95811"/>
                  <a:pt x="73855" y="95811"/>
                </a:cubicBezTo>
                <a:lnTo>
                  <a:pt x="53894" y="95811"/>
                </a:lnTo>
                <a:cubicBezTo>
                  <a:pt x="50575" y="95811"/>
                  <a:pt x="47906" y="93142"/>
                  <a:pt x="47906" y="89823"/>
                </a:cubicBezTo>
                <a:cubicBezTo>
                  <a:pt x="47906" y="86505"/>
                  <a:pt x="50575" y="83835"/>
                  <a:pt x="53894" y="83835"/>
                </a:cubicBezTo>
                <a:lnTo>
                  <a:pt x="59882" y="83835"/>
                </a:lnTo>
                <a:lnTo>
                  <a:pt x="59882" y="67866"/>
                </a:lnTo>
                <a:lnTo>
                  <a:pt x="53894" y="67866"/>
                </a:lnTo>
                <a:cubicBezTo>
                  <a:pt x="50575" y="67866"/>
                  <a:pt x="47906" y="65197"/>
                  <a:pt x="47906" y="61878"/>
                </a:cubicBezTo>
                <a:cubicBezTo>
                  <a:pt x="47906" y="58560"/>
                  <a:pt x="50575" y="55890"/>
                  <a:pt x="53894" y="55890"/>
                </a:cubicBezTo>
                <a:close/>
              </a:path>
            </a:pathLst>
          </a:custGeom>
          <a:solidFill xmlns:a="http://schemas.openxmlformats.org/drawingml/2006/main">
            <a:srgbClr val="E6B450"/>
          </a:solidFill>
        </p:spPr>
      </p:sp>
      <p:sp>
        <p:nvSpPr>
          <p:cNvPr id="43" name="Text 39">
            <a:extLst xmlns:a="http://schemas.openxmlformats.org/drawingml/2006/main">
              <a:ext uri="{FF2B5EF4-FFF2-40B4-BE49-F238E27FC236}">
                <a16:creationId xmlns:a16="http://schemas.microsoft.com/office/drawing/2014/main" id="{70700271-4531-4D8E-B578-A6913F323D5D}"/>
              </a:ext>
            </a:extLst>
          </p:cNvPr>
          <p:cNvSpPr>
            <a:spLocks xmlns:a="http://schemas.openxmlformats.org/drawingml/2006/main" noGrp="1"/>
          </p:cNvSpPr>
          <p:nvPr/>
        </p:nvSpPr>
        <p:spPr>
          <a:xfrm xmlns:a="http://schemas.openxmlformats.org/drawingml/2006/main">
            <a:off x="9302798" y="6221042"/>
            <a:ext cx="2275285" cy="19162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a:latin typeface="微软雅黑"/>
                <a:ea typeface="微软雅黑"/>
                <a:cs typeface="微软雅黑"/>
              </a:rPr>
              <a:t>二阶贝塞尔曲线</a:t>
            </a:r>
            <a:endParaRPr sz="1600"/>
          </a:p>
        </p:txBody>
      </p:sp>
      <p:sp>
        <p:nvSpPr>
          <p:cNvPr id="45" name="矩形 44">
            <a:extLst xmlns:a="http://schemas.openxmlformats.org/drawingml/2006/main">
              <a:ext uri="{FF2B5EF4-FFF2-40B4-BE49-F238E27FC236}">
                <a16:creationId xmlns:a16="http://schemas.microsoft.com/office/drawing/2014/main" id="{A368F1D9-D67F-08C3-9E98-C1E4D99EE786}"/>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文本框 45">
            <a:extLst xmlns:a="http://schemas.openxmlformats.org/drawingml/2006/main">
              <a:ext uri="{FF2B5EF4-FFF2-40B4-BE49-F238E27FC236}">
                <a16:creationId xmlns:a16="http://schemas.microsoft.com/office/drawing/2014/main" id="{E59C4F53-8028-B3D7-935D-30E7DBDD46EE}"/>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pic>
        <p:nvPicPr>
          <p:cNvPr id="76" name="图片 46"/>
          <p:cNvPicPr>
            <a:picLocks xmlns:a="http://schemas.openxmlformats.org/drawingml/2006/main" noChangeAspect="1"/>
          </p:cNvPicPr>
          <p:nvPr/>
        </p:nvPicPr>
        <p:blipFill>
          <a:blip xmlns:r="http://schemas.openxmlformats.org/officeDocument/2006/relationships" xmlns:a="http://schemas.openxmlformats.org/drawingml/2006/main" r:embed="Rdd66bb8e40fa47fe">
            <a:clrChange>
              <a:clrFrom>
                <a:srgbClr val="FFFFFF"/>
              </a:clrFrom>
              <a:clrTo>
                <a:srgbClr val="FFFFFF">
                  <a:alpha val="0"/>
                </a:srgbClr>
              </a:clrTo>
            </a:clrChange>
          </a:blip>
          <a:srcRect xmlns:a="http://schemas.openxmlformats.org/drawingml/2006/main" l="0" t="0" r="0" b="0"/>
          <a:stretch xmlns:a="http://schemas.openxmlformats.org/drawingml/2006/main">
            <a:fillRect l="0" t="0" r="0" b="0"/>
          </a:stretch>
        </p:blipFill>
        <p:spPr>
          <a:xfrm xmlns:a="http://schemas.openxmlformats.org/drawingml/2006/main">
            <a:off x="8807536" y="3153800"/>
            <a:ext cx="3049124" cy="1846583"/>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3100453084"/>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00A83546-FE79-43F7-97EF-4B7173E7E188}"/>
              </a:ext>
            </a:extLst>
          </p:cNvPr>
          <p:cNvSpPr>
            <a:spLocks xmlns:a="http://schemas.openxmlformats.org/drawingml/2006/main" noGrp="1"/>
          </p:cNvSpPr>
          <p:nvPr/>
        </p:nvSpPr>
        <p:spPr>
          <a:xfrm xmlns:a="http://schemas.openxmlformats.org/drawingml/2006/main">
            <a:off x="333375" y="1666298"/>
            <a:ext cx="8239125" cy="2194501"/>
          </a:xfrm>
          <a:custGeom xmlns:a="http://schemas.openxmlformats.org/drawingml/2006/main">
            <a:rect l="l" t="t" r="r" b="b"/>
            <a:pathLst>
              <a:path w="8239125" h="1865312">
                <a:moveTo>
                  <a:pt x="31750" y="0"/>
                </a:moveTo>
                <a:lnTo>
                  <a:pt x="8143882" y="0"/>
                </a:lnTo>
                <a:cubicBezTo>
                  <a:pt x="8196448" y="0"/>
                  <a:pt x="8239125" y="42677"/>
                  <a:pt x="8239125" y="95243"/>
                </a:cubicBezTo>
                <a:lnTo>
                  <a:pt x="8239125" y="1770070"/>
                </a:lnTo>
                <a:cubicBezTo>
                  <a:pt x="8239125" y="1822671"/>
                  <a:pt x="8196483" y="1865312"/>
                  <a:pt x="8143882" y="1865312"/>
                </a:cubicBezTo>
                <a:lnTo>
                  <a:pt x="31750" y="1865312"/>
                </a:lnTo>
                <a:cubicBezTo>
                  <a:pt x="14215" y="1865312"/>
                  <a:pt x="0" y="1851098"/>
                  <a:pt x="0" y="183356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A5116A98-82E3-448A-B9BC-A5600C808163}"/>
              </a:ext>
            </a:extLst>
          </p:cNvPr>
          <p:cNvSpPr>
            <a:spLocks xmlns:a="http://schemas.openxmlformats.org/drawingml/2006/main" noGrp="1"/>
          </p:cNvSpPr>
          <p:nvPr/>
        </p:nvSpPr>
        <p:spPr>
          <a:xfrm xmlns:a="http://schemas.openxmlformats.org/drawingml/2006/main">
            <a:off x="333375" y="1666298"/>
            <a:ext cx="31750" cy="2194501"/>
          </a:xfrm>
          <a:custGeom xmlns:a="http://schemas.openxmlformats.org/drawingml/2006/main">
            <a:rect l="l" t="t" r="r" b="b"/>
            <a:pathLst>
              <a:path w="31750" h="1865312">
                <a:moveTo>
                  <a:pt x="31750" y="0"/>
                </a:moveTo>
                <a:lnTo>
                  <a:pt x="31750" y="0"/>
                </a:lnTo>
                <a:lnTo>
                  <a:pt x="31750" y="1865312"/>
                </a:lnTo>
                <a:lnTo>
                  <a:pt x="31750" y="1865312"/>
                </a:lnTo>
                <a:cubicBezTo>
                  <a:pt x="14227" y="1865312"/>
                  <a:pt x="0" y="1851086"/>
                  <a:pt x="0" y="1833563"/>
                </a:cubicBezTo>
                <a:lnTo>
                  <a:pt x="0" y="31750"/>
                </a:lnTo>
                <a:cubicBezTo>
                  <a:pt x="0" y="14227"/>
                  <a:pt x="14227" y="0"/>
                  <a:pt x="3175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0EC97A95-7B8B-4AE4-9921-55293A8F37EE}"/>
              </a:ext>
            </a:extLst>
          </p:cNvPr>
          <p:cNvSpPr>
            <a:spLocks xmlns:a="http://schemas.openxmlformats.org/drawingml/2006/main" noGrp="1"/>
          </p:cNvSpPr>
          <p:nvPr/>
        </p:nvSpPr>
        <p:spPr>
          <a:xfrm xmlns:a="http://schemas.openxmlformats.org/drawingml/2006/main">
            <a:off x="575469" y="1888549"/>
            <a:ext cx="166688" cy="190500"/>
          </a:xfrm>
          <a:custGeom xmlns:a="http://schemas.openxmlformats.org/drawingml/2006/main">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8" y="0"/>
                </a:lnTo>
                <a:cubicBezTo>
                  <a:pt x="158688" y="0"/>
                  <a:pt x="166688" y="8000"/>
                  <a:pt x="166688" y="17859"/>
                </a:cubicBezTo>
                <a:lnTo>
                  <a:pt x="166688" y="125016"/>
                </a:lnTo>
                <a:cubicBezTo>
                  <a:pt x="166688" y="132792"/>
                  <a:pt x="161702" y="139415"/>
                  <a:pt x="154781" y="141870"/>
                </a:cubicBezTo>
                <a:lnTo>
                  <a:pt x="154781" y="166688"/>
                </a:lnTo>
                <a:cubicBezTo>
                  <a:pt x="161367" y="166688"/>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8"/>
                  <a:pt x="35719" y="166688"/>
                </a:cubicBezTo>
                <a:lnTo>
                  <a:pt x="130969" y="166688"/>
                </a:lnTo>
                <a:lnTo>
                  <a:pt x="130969" y="142875"/>
                </a:lnTo>
                <a:lnTo>
                  <a:pt x="35719" y="142875"/>
                </a:lnTo>
                <a:close/>
                <a:moveTo>
                  <a:pt x="47625" y="56555"/>
                </a:moveTo>
                <a:cubicBezTo>
                  <a:pt x="47625" y="61503"/>
                  <a:pt x="51606" y="65484"/>
                  <a:pt x="56555" y="65484"/>
                </a:cubicBezTo>
                <a:lnTo>
                  <a:pt x="122039" y="65484"/>
                </a:lnTo>
                <a:cubicBezTo>
                  <a:pt x="126988" y="65484"/>
                  <a:pt x="130969" y="61503"/>
                  <a:pt x="130969" y="56555"/>
                </a:cubicBezTo>
                <a:cubicBezTo>
                  <a:pt x="130969" y="51606"/>
                  <a:pt x="126988" y="47625"/>
                  <a:pt x="122039" y="47625"/>
                </a:cubicBezTo>
                <a:lnTo>
                  <a:pt x="56555" y="47625"/>
                </a:lnTo>
                <a:cubicBezTo>
                  <a:pt x="51606" y="47625"/>
                  <a:pt x="47625" y="51606"/>
                  <a:pt x="47625" y="56555"/>
                </a:cubicBezTo>
                <a:close/>
                <a:moveTo>
                  <a:pt x="56555" y="83344"/>
                </a:moveTo>
                <a:cubicBezTo>
                  <a:pt x="51606" y="83344"/>
                  <a:pt x="47625" y="87325"/>
                  <a:pt x="47625" y="92273"/>
                </a:cubicBezTo>
                <a:cubicBezTo>
                  <a:pt x="47625" y="97222"/>
                  <a:pt x="51606" y="101203"/>
                  <a:pt x="56555" y="101203"/>
                </a:cubicBezTo>
                <a:lnTo>
                  <a:pt x="122039" y="101203"/>
                </a:lnTo>
                <a:cubicBezTo>
                  <a:pt x="126988" y="101203"/>
                  <a:pt x="130969" y="97222"/>
                  <a:pt x="130969" y="92273"/>
                </a:cubicBezTo>
                <a:cubicBezTo>
                  <a:pt x="130969" y="87325"/>
                  <a:pt x="126988" y="83344"/>
                  <a:pt x="122039" y="83344"/>
                </a:cubicBezTo>
                <a:lnTo>
                  <a:pt x="56555" y="83344"/>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E75768DE-EBC0-4AB8-A53E-EE7D833D7191}"/>
              </a:ext>
            </a:extLst>
          </p:cNvPr>
          <p:cNvSpPr>
            <a:spLocks xmlns:a="http://schemas.openxmlformats.org/drawingml/2006/main" noGrp="1"/>
          </p:cNvSpPr>
          <p:nvPr/>
        </p:nvSpPr>
        <p:spPr>
          <a:xfrm xmlns:a="http://schemas.openxmlformats.org/drawingml/2006/main">
            <a:off x="904875" y="1856799"/>
            <a:ext cx="69532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1. 一次贝塞尔曲线（线性公式）</a:t>
            </a:r>
            <a:endParaRPr sz="2000"/>
          </a:p>
        </p:txBody>
      </p:sp>
      <p:sp>
        <p:nvSpPr>
          <p:cNvPr id="9" name="Text 7">
            <a:extLst xmlns:a="http://schemas.openxmlformats.org/drawingml/2006/main">
              <a:ext uri="{FF2B5EF4-FFF2-40B4-BE49-F238E27FC236}">
                <a16:creationId xmlns:a16="http://schemas.microsoft.com/office/drawing/2014/main" id="{8B74ACD7-7E94-4201-A929-13897593F69E}"/>
              </a:ext>
            </a:extLst>
          </p:cNvPr>
          <p:cNvSpPr>
            <a:spLocks xmlns:a="http://schemas.openxmlformats.org/drawingml/2006/main" noGrp="1"/>
          </p:cNvSpPr>
          <p:nvPr/>
        </p:nvSpPr>
        <p:spPr>
          <a:xfrm xmlns:a="http://schemas.openxmlformats.org/drawingml/2006/main">
            <a:off x="904875" y="2206048"/>
            <a:ext cx="6929438" cy="63023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定义：给定点P</a:t>
            </a:r>
            <a:r>
              <a:rPr sz="1050">
                <a:latin typeface="微软雅黑"/>
                <a:ea typeface="微软雅黑"/>
                <a:cs typeface="微软雅黑"/>
              </a:rPr>
              <a:t>0</a:t>
            </a:r>
            <a:r>
              <a:rPr sz="1600">
                <a:latin typeface="微软雅黑"/>
                <a:ea typeface="微软雅黑"/>
                <a:cs typeface="微软雅黑"/>
              </a:rPr>
              <a:t>、P</a:t>
            </a:r>
            <a:r>
              <a:rPr sz="1050">
                <a:latin typeface="微软雅黑"/>
                <a:ea typeface="微软雅黑"/>
                <a:cs typeface="微软雅黑"/>
              </a:rPr>
              <a:t>1</a:t>
            </a:r>
            <a:r>
              <a:rPr sz="1600">
                <a:latin typeface="微软雅黑"/>
                <a:ea typeface="微软雅黑"/>
                <a:cs typeface="微软雅黑"/>
              </a:rPr>
              <a:t>，线性贝塞尔曲线只是一条两点之间的直线，这条线由下式给出，且其等同于线性插值：</a:t>
            </a:r>
            <a:endParaRPr sz="2400"/>
          </a:p>
        </p:txBody>
      </p:sp>
      <p:sp>
        <p:nvSpPr>
          <p:cNvPr id="10" name="Shape 8">
            <a:extLst xmlns:a="http://schemas.openxmlformats.org/drawingml/2006/main">
              <a:ext uri="{FF2B5EF4-FFF2-40B4-BE49-F238E27FC236}">
                <a16:creationId xmlns:a16="http://schemas.microsoft.com/office/drawing/2014/main" id="{9F366B3F-7C5B-4485-87F0-2D8CC63B3D5A}"/>
              </a:ext>
            </a:extLst>
          </p:cNvPr>
          <p:cNvSpPr>
            <a:spLocks xmlns:a="http://schemas.openxmlformats.org/drawingml/2006/main" noGrp="1"/>
          </p:cNvSpPr>
          <p:nvPr/>
        </p:nvSpPr>
        <p:spPr>
          <a:xfrm xmlns:a="http://schemas.openxmlformats.org/drawingml/2006/main">
            <a:off x="908844" y="2905740"/>
            <a:ext cx="6850063" cy="769938"/>
          </a:xfrm>
          <a:custGeom xmlns:a="http://schemas.openxmlformats.org/drawingml/2006/main">
            <a:rect l="l" t="t" r="r" b="b"/>
            <a:pathLst>
              <a:path w="6850063" h="769938">
                <a:moveTo>
                  <a:pt x="63497" y="0"/>
                </a:moveTo>
                <a:lnTo>
                  <a:pt x="6786566" y="0"/>
                </a:lnTo>
                <a:cubicBezTo>
                  <a:pt x="6821634" y="0"/>
                  <a:pt x="6850062" y="28428"/>
                  <a:pt x="6850062" y="63497"/>
                </a:cubicBezTo>
                <a:lnTo>
                  <a:pt x="6850063" y="706441"/>
                </a:lnTo>
                <a:cubicBezTo>
                  <a:pt x="6850062" y="741509"/>
                  <a:pt x="6821634" y="769938"/>
                  <a:pt x="6786566" y="769938"/>
                </a:cubicBezTo>
                <a:lnTo>
                  <a:pt x="63497" y="769938"/>
                </a:lnTo>
                <a:cubicBezTo>
                  <a:pt x="28428" y="769938"/>
                  <a:pt x="0" y="741509"/>
                  <a:pt x="0" y="706441"/>
                </a:cubicBezTo>
                <a:lnTo>
                  <a:pt x="0" y="63497"/>
                </a:lnTo>
                <a:cubicBezTo>
                  <a:pt x="0" y="28428"/>
                  <a:pt x="28428" y="0"/>
                  <a:pt x="6349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32" name="Shape 30">
            <a:extLst xmlns:a="http://schemas.openxmlformats.org/drawingml/2006/main">
              <a:ext uri="{FF2B5EF4-FFF2-40B4-BE49-F238E27FC236}">
                <a16:creationId xmlns:a16="http://schemas.microsoft.com/office/drawing/2014/main" id="{3254A60C-7A5C-4150-A6F9-AFE9CD72C856}"/>
              </a:ext>
            </a:extLst>
          </p:cNvPr>
          <p:cNvSpPr>
            <a:spLocks xmlns:a="http://schemas.openxmlformats.org/drawingml/2006/main" noGrp="1"/>
          </p:cNvSpPr>
          <p:nvPr/>
        </p:nvSpPr>
        <p:spPr>
          <a:xfrm xmlns:a="http://schemas.openxmlformats.org/drawingml/2006/main">
            <a:off x="8830469" y="1670269"/>
            <a:ext cx="3040063" cy="4603532"/>
          </a:xfrm>
          <a:custGeom xmlns:a="http://schemas.openxmlformats.org/drawingml/2006/main">
            <a:rect l="l" t="t" r="r" b="b"/>
            <a:pathLst>
              <a:path w="3040063" h="5754688">
                <a:moveTo>
                  <a:pt x="95245" y="0"/>
                </a:moveTo>
                <a:lnTo>
                  <a:pt x="2944817" y="0"/>
                </a:lnTo>
                <a:cubicBezTo>
                  <a:pt x="2997420" y="0"/>
                  <a:pt x="3040063" y="42643"/>
                  <a:pt x="3040063" y="95245"/>
                </a:cubicBezTo>
                <a:lnTo>
                  <a:pt x="3040063" y="5659442"/>
                </a:lnTo>
                <a:cubicBezTo>
                  <a:pt x="3040063" y="5712045"/>
                  <a:pt x="2997420" y="5754688"/>
                  <a:pt x="2944817" y="5754688"/>
                </a:cubicBezTo>
                <a:lnTo>
                  <a:pt x="95245" y="5754688"/>
                </a:lnTo>
                <a:cubicBezTo>
                  <a:pt x="42643" y="5754688"/>
                  <a:pt x="0" y="5712045"/>
                  <a:pt x="0" y="5659442"/>
                </a:cubicBezTo>
                <a:lnTo>
                  <a:pt x="0" y="95245"/>
                </a:lnTo>
                <a:cubicBezTo>
                  <a:pt x="0" y="42678"/>
                  <a:pt x="42678" y="0"/>
                  <a:pt x="95245"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txBody>
          <a:bodyPr xmlns:a="http://schemas.openxmlformats.org/drawingml/2006/main"/>
          <a:lstStyle xmlns:a="http://schemas.openxmlformats.org/drawingml/2006/main"/>
          <a:p xmlns:a="http://schemas.openxmlformats.org/drawingml/2006/main">
            <a:endParaRPr sz="1600"/>
          </a:p>
        </p:txBody>
      </p:sp>
      <p:sp>
        <p:nvSpPr>
          <p:cNvPr id="33" name="Shape 31">
            <a:extLst xmlns:a="http://schemas.openxmlformats.org/drawingml/2006/main">
              <a:ext uri="{FF2B5EF4-FFF2-40B4-BE49-F238E27FC236}">
                <a16:creationId xmlns:a16="http://schemas.microsoft.com/office/drawing/2014/main" id="{680A27A3-A418-405E-BBF0-6666CF85D08F}"/>
              </a:ext>
            </a:extLst>
          </p:cNvPr>
          <p:cNvSpPr>
            <a:spLocks xmlns:a="http://schemas.openxmlformats.org/drawingml/2006/main" noGrp="1"/>
          </p:cNvSpPr>
          <p:nvPr/>
        </p:nvSpPr>
        <p:spPr>
          <a:xfrm xmlns:a="http://schemas.openxmlformats.org/drawingml/2006/main">
            <a:off x="9044781" y="1896487"/>
            <a:ext cx="158750" cy="158750"/>
          </a:xfrm>
          <a:custGeom xmlns:a="http://schemas.openxmlformats.org/drawingml/2006/main">
            <a:rect l="l" t="t" r="r" b="b"/>
            <a:pathLst>
              <a:path w="158750" h="158750">
                <a:moveTo>
                  <a:pt x="20433" y="70848"/>
                </a:moveTo>
                <a:cubicBezTo>
                  <a:pt x="24557" y="42013"/>
                  <a:pt x="49392" y="19844"/>
                  <a:pt x="79375" y="19844"/>
                </a:cubicBezTo>
                <a:cubicBezTo>
                  <a:pt x="95808" y="19844"/>
                  <a:pt x="110691" y="26510"/>
                  <a:pt x="121481" y="37269"/>
                </a:cubicBezTo>
                <a:cubicBezTo>
                  <a:pt x="121543" y="37331"/>
                  <a:pt x="121605" y="37393"/>
                  <a:pt x="121667" y="37455"/>
                </a:cubicBezTo>
                <a:lnTo>
                  <a:pt x="124023" y="39688"/>
                </a:lnTo>
                <a:lnTo>
                  <a:pt x="109172" y="39688"/>
                </a:lnTo>
                <a:cubicBezTo>
                  <a:pt x="103684" y="39688"/>
                  <a:pt x="99250" y="44121"/>
                  <a:pt x="99250" y="49609"/>
                </a:cubicBezTo>
                <a:cubicBezTo>
                  <a:pt x="99250" y="55097"/>
                  <a:pt x="103684" y="59531"/>
                  <a:pt x="109172" y="59531"/>
                </a:cubicBezTo>
                <a:lnTo>
                  <a:pt x="148859" y="59531"/>
                </a:lnTo>
                <a:cubicBezTo>
                  <a:pt x="154347" y="59531"/>
                  <a:pt x="158781" y="55097"/>
                  <a:pt x="158781" y="49609"/>
                </a:cubicBezTo>
                <a:lnTo>
                  <a:pt x="158781" y="9922"/>
                </a:lnTo>
                <a:cubicBezTo>
                  <a:pt x="158781" y="4434"/>
                  <a:pt x="154347" y="0"/>
                  <a:pt x="148859" y="0"/>
                </a:cubicBezTo>
                <a:cubicBezTo>
                  <a:pt x="143371" y="0"/>
                  <a:pt x="138937" y="4434"/>
                  <a:pt x="138937" y="9922"/>
                </a:cubicBezTo>
                <a:lnTo>
                  <a:pt x="138937" y="26479"/>
                </a:lnTo>
                <a:lnTo>
                  <a:pt x="135434" y="23161"/>
                </a:lnTo>
                <a:cubicBezTo>
                  <a:pt x="121078" y="8868"/>
                  <a:pt x="101234" y="0"/>
                  <a:pt x="79375" y="0"/>
                </a:cubicBezTo>
                <a:cubicBezTo>
                  <a:pt x="39377" y="0"/>
                  <a:pt x="6294" y="29580"/>
                  <a:pt x="806" y="68058"/>
                </a:cubicBezTo>
                <a:cubicBezTo>
                  <a:pt x="31" y="73484"/>
                  <a:pt x="3783" y="78507"/>
                  <a:pt x="9209" y="79282"/>
                </a:cubicBezTo>
                <a:cubicBezTo>
                  <a:pt x="14635" y="80057"/>
                  <a:pt x="19658" y="76274"/>
                  <a:pt x="20433" y="70879"/>
                </a:cubicBezTo>
                <a:close/>
                <a:moveTo>
                  <a:pt x="157944" y="90692"/>
                </a:moveTo>
                <a:cubicBezTo>
                  <a:pt x="158719" y="85266"/>
                  <a:pt x="154936" y="80243"/>
                  <a:pt x="149541" y="79468"/>
                </a:cubicBezTo>
                <a:cubicBezTo>
                  <a:pt x="144146" y="78693"/>
                  <a:pt x="139092" y="82476"/>
                  <a:pt x="138317" y="87871"/>
                </a:cubicBezTo>
                <a:cubicBezTo>
                  <a:pt x="134193" y="116706"/>
                  <a:pt x="109358" y="138875"/>
                  <a:pt x="79375" y="138875"/>
                </a:cubicBezTo>
                <a:cubicBezTo>
                  <a:pt x="62942" y="138875"/>
                  <a:pt x="48059" y="132209"/>
                  <a:pt x="37269" y="121450"/>
                </a:cubicBezTo>
                <a:cubicBezTo>
                  <a:pt x="37207" y="121388"/>
                  <a:pt x="37145" y="121326"/>
                  <a:pt x="37083" y="121264"/>
                </a:cubicBezTo>
                <a:lnTo>
                  <a:pt x="34727" y="119031"/>
                </a:lnTo>
                <a:lnTo>
                  <a:pt x="49578" y="119031"/>
                </a:lnTo>
                <a:cubicBezTo>
                  <a:pt x="55066" y="119031"/>
                  <a:pt x="59500" y="114598"/>
                  <a:pt x="59500" y="109110"/>
                </a:cubicBezTo>
                <a:cubicBezTo>
                  <a:pt x="59500" y="103622"/>
                  <a:pt x="55066" y="99188"/>
                  <a:pt x="49578" y="99188"/>
                </a:cubicBezTo>
                <a:lnTo>
                  <a:pt x="9922" y="99219"/>
                </a:lnTo>
                <a:cubicBezTo>
                  <a:pt x="7286" y="99219"/>
                  <a:pt x="4744" y="100273"/>
                  <a:pt x="2884" y="102164"/>
                </a:cubicBezTo>
                <a:cubicBezTo>
                  <a:pt x="1023" y="104056"/>
                  <a:pt x="-31" y="106567"/>
                  <a:pt x="0" y="109234"/>
                </a:cubicBezTo>
                <a:lnTo>
                  <a:pt x="310" y="148611"/>
                </a:lnTo>
                <a:cubicBezTo>
                  <a:pt x="341" y="154099"/>
                  <a:pt x="4837" y="158502"/>
                  <a:pt x="10325" y="158440"/>
                </a:cubicBezTo>
                <a:cubicBezTo>
                  <a:pt x="15813" y="158378"/>
                  <a:pt x="20216" y="153913"/>
                  <a:pt x="20154" y="148425"/>
                </a:cubicBezTo>
                <a:lnTo>
                  <a:pt x="20030" y="132457"/>
                </a:lnTo>
                <a:lnTo>
                  <a:pt x="23347" y="135589"/>
                </a:lnTo>
                <a:cubicBezTo>
                  <a:pt x="37703" y="149882"/>
                  <a:pt x="57516" y="158750"/>
                  <a:pt x="79375" y="158750"/>
                </a:cubicBezTo>
                <a:cubicBezTo>
                  <a:pt x="119373" y="158750"/>
                  <a:pt x="152456" y="129170"/>
                  <a:pt x="157944" y="90692"/>
                </a:cubicBezTo>
                <a:close/>
              </a:path>
            </a:pathLst>
          </a:custGeom>
          <a:solidFill xmlns:a="http://schemas.openxmlformats.org/drawingml/2006/main">
            <a:srgbClr val="E6B450"/>
          </a:solidFill>
        </p:spPr>
      </p:sp>
      <p:sp>
        <p:nvSpPr>
          <p:cNvPr id="34" name="Text 32">
            <a:extLst xmlns:a="http://schemas.openxmlformats.org/drawingml/2006/main">
              <a:ext uri="{FF2B5EF4-FFF2-40B4-BE49-F238E27FC236}">
                <a16:creationId xmlns:a16="http://schemas.microsoft.com/office/drawing/2014/main" id="{3BA2E337-0666-4599-B1BC-E07FF550EA14}"/>
              </a:ext>
            </a:extLst>
          </p:cNvPr>
          <p:cNvSpPr>
            <a:spLocks xmlns:a="http://schemas.openxmlformats.org/drawingml/2006/main" noGrp="1"/>
          </p:cNvSpPr>
          <p:nvPr/>
        </p:nvSpPr>
        <p:spPr>
          <a:xfrm xmlns:a="http://schemas.openxmlformats.org/drawingml/2006/main">
            <a:off x="9223375" y="1864737"/>
            <a:ext cx="2532063" cy="222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一次贝塞尔曲线示意</a:t>
            </a:r>
            <a:endParaRPr sz="1600"/>
          </a:p>
        </p:txBody>
      </p:sp>
      <p:sp>
        <p:nvSpPr>
          <p:cNvPr id="42" name="Shape 39">
            <a:extLst xmlns:a="http://schemas.openxmlformats.org/drawingml/2006/main">
              <a:ext uri="{FF2B5EF4-FFF2-40B4-BE49-F238E27FC236}">
                <a16:creationId xmlns:a16="http://schemas.microsoft.com/office/drawing/2014/main" id="{F225ECA7-694C-4F0E-9896-D9D2F3068CF5}"/>
              </a:ext>
            </a:extLst>
          </p:cNvPr>
          <p:cNvSpPr>
            <a:spLocks xmlns:a="http://schemas.openxmlformats.org/drawingml/2006/main" noGrp="1"/>
          </p:cNvSpPr>
          <p:nvPr/>
        </p:nvSpPr>
        <p:spPr>
          <a:xfrm xmlns:a="http://schemas.openxmlformats.org/drawingml/2006/main">
            <a:off x="9024938" y="5497066"/>
            <a:ext cx="2651125" cy="444500"/>
          </a:xfrm>
          <a:custGeom xmlns:a="http://schemas.openxmlformats.org/drawingml/2006/main">
            <a:rect l="l" t="t" r="r" b="b"/>
            <a:pathLst>
              <a:path w="2651125" h="444500">
                <a:moveTo>
                  <a:pt x="63501" y="0"/>
                </a:moveTo>
                <a:lnTo>
                  <a:pt x="2587624" y="0"/>
                </a:lnTo>
                <a:cubicBezTo>
                  <a:pt x="2622695" y="0"/>
                  <a:pt x="2651125" y="28430"/>
                  <a:pt x="2651125" y="63501"/>
                </a:cubicBezTo>
                <a:lnTo>
                  <a:pt x="2651125" y="380999"/>
                </a:lnTo>
                <a:cubicBezTo>
                  <a:pt x="2651125" y="416070"/>
                  <a:pt x="2622695" y="444500"/>
                  <a:pt x="2587624" y="444500"/>
                </a:cubicBezTo>
                <a:lnTo>
                  <a:pt x="63501" y="444500"/>
                </a:lnTo>
                <a:cubicBezTo>
                  <a:pt x="28454" y="444500"/>
                  <a:pt x="0" y="416046"/>
                  <a:pt x="0" y="380999"/>
                </a:cubicBezTo>
                <a:lnTo>
                  <a:pt x="0" y="63501"/>
                </a:lnTo>
                <a:cubicBezTo>
                  <a:pt x="0" y="28454"/>
                  <a:pt x="28454" y="0"/>
                  <a:pt x="63501" y="0"/>
                </a:cubicBezTo>
                <a:close/>
              </a:path>
            </a:pathLst>
          </a:custGeom>
          <a:solidFill xmlns:a="http://schemas.openxmlformats.org/drawingml/2006/main">
            <a:srgbClr val="5F87A7">
              <a:alpha val="20000"/>
            </a:srgbClr>
          </a:solidFill>
        </p:spPr>
      </p:sp>
      <p:sp>
        <p:nvSpPr>
          <p:cNvPr id="43" name="Shape 40">
            <a:extLst xmlns:a="http://schemas.openxmlformats.org/drawingml/2006/main">
              <a:ext uri="{FF2B5EF4-FFF2-40B4-BE49-F238E27FC236}">
                <a16:creationId xmlns:a16="http://schemas.microsoft.com/office/drawing/2014/main" id="{5DAC02B6-6AE5-44C7-838F-1D48A27EDAE5}"/>
              </a:ext>
            </a:extLst>
          </p:cNvPr>
          <p:cNvSpPr>
            <a:spLocks xmlns:a="http://schemas.openxmlformats.org/drawingml/2006/main" noGrp="1"/>
          </p:cNvSpPr>
          <p:nvPr/>
        </p:nvSpPr>
        <p:spPr>
          <a:xfrm xmlns:a="http://schemas.openxmlformats.org/drawingml/2006/main">
            <a:off x="9195494" y="5655816"/>
            <a:ext cx="127000" cy="127000"/>
          </a:xfrm>
          <a:custGeom xmlns:a="http://schemas.openxmlformats.org/drawingml/2006/main">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55563" y="39688"/>
                </a:moveTo>
                <a:cubicBezTo>
                  <a:pt x="55563" y="35307"/>
                  <a:pt x="59119" y="31750"/>
                  <a:pt x="63500" y="31750"/>
                </a:cubicBezTo>
                <a:cubicBezTo>
                  <a:pt x="67881" y="31750"/>
                  <a:pt x="71438" y="35307"/>
                  <a:pt x="71438" y="39688"/>
                </a:cubicBezTo>
                <a:cubicBezTo>
                  <a:pt x="71438" y="44068"/>
                  <a:pt x="67881" y="47625"/>
                  <a:pt x="63500" y="47625"/>
                </a:cubicBezTo>
                <a:cubicBezTo>
                  <a:pt x="59119" y="47625"/>
                  <a:pt x="55563" y="44068"/>
                  <a:pt x="55563" y="39688"/>
                </a:cubicBezTo>
                <a:close/>
                <a:moveTo>
                  <a:pt x="53578" y="55563"/>
                </a:moveTo>
                <a:lnTo>
                  <a:pt x="65484" y="55563"/>
                </a:lnTo>
                <a:cubicBezTo>
                  <a:pt x="68783" y="55563"/>
                  <a:pt x="71438" y="58217"/>
                  <a:pt x="71438" y="61516"/>
                </a:cubicBezTo>
                <a:lnTo>
                  <a:pt x="71438" y="83344"/>
                </a:lnTo>
                <a:lnTo>
                  <a:pt x="73422" y="83344"/>
                </a:lnTo>
                <a:cubicBezTo>
                  <a:pt x="76721" y="83344"/>
                  <a:pt x="79375" y="85998"/>
                  <a:pt x="79375" y="89297"/>
                </a:cubicBezTo>
                <a:cubicBezTo>
                  <a:pt x="79375" y="92596"/>
                  <a:pt x="76721" y="95250"/>
                  <a:pt x="73422" y="95250"/>
                </a:cubicBezTo>
                <a:lnTo>
                  <a:pt x="53578" y="95250"/>
                </a:lnTo>
                <a:cubicBezTo>
                  <a:pt x="50279" y="95250"/>
                  <a:pt x="47625" y="92596"/>
                  <a:pt x="47625" y="89297"/>
                </a:cubicBezTo>
                <a:cubicBezTo>
                  <a:pt x="47625" y="85998"/>
                  <a:pt x="50279" y="83344"/>
                  <a:pt x="53578" y="83344"/>
                </a:cubicBezTo>
                <a:lnTo>
                  <a:pt x="59531" y="83344"/>
                </a:lnTo>
                <a:lnTo>
                  <a:pt x="59531" y="67469"/>
                </a:lnTo>
                <a:lnTo>
                  <a:pt x="53578" y="67469"/>
                </a:lnTo>
                <a:cubicBezTo>
                  <a:pt x="50279" y="67469"/>
                  <a:pt x="47625" y="64815"/>
                  <a:pt x="47625" y="61516"/>
                </a:cubicBezTo>
                <a:cubicBezTo>
                  <a:pt x="47625" y="58217"/>
                  <a:pt x="50279" y="55563"/>
                  <a:pt x="53578" y="55563"/>
                </a:cubicBezTo>
                <a:close/>
              </a:path>
            </a:pathLst>
          </a:custGeom>
          <a:solidFill xmlns:a="http://schemas.openxmlformats.org/drawingml/2006/main">
            <a:srgbClr val="E6B450"/>
          </a:solidFill>
        </p:spPr>
      </p:sp>
      <p:sp>
        <p:nvSpPr>
          <p:cNvPr id="44" name="Text 41">
            <a:extLst xmlns:a="http://schemas.openxmlformats.org/drawingml/2006/main">
              <a:ext uri="{FF2B5EF4-FFF2-40B4-BE49-F238E27FC236}">
                <a16:creationId xmlns:a16="http://schemas.microsoft.com/office/drawing/2014/main" id="{8C6537C4-2801-4ECB-A567-732239C87563}"/>
              </a:ext>
            </a:extLst>
          </p:cNvPr>
          <p:cNvSpPr>
            <a:spLocks xmlns:a="http://schemas.openxmlformats.org/drawingml/2006/main" noGrp="1"/>
          </p:cNvSpPr>
          <p:nvPr/>
        </p:nvSpPr>
        <p:spPr>
          <a:xfrm xmlns:a="http://schemas.openxmlformats.org/drawingml/2006/main">
            <a:off x="9318625" y="5624066"/>
            <a:ext cx="2262188"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a:latin typeface="微软雅黑"/>
                <a:ea typeface="微软雅黑"/>
                <a:cs typeface="微软雅黑"/>
              </a:rPr>
              <a:t>一次贝塞尔曲线是直线</a:t>
            </a:r>
            <a:endParaRPr sz="1600"/>
          </a:p>
        </p:txBody>
      </p:sp>
      <p:sp>
        <p:nvSpPr>
          <p:cNvPr id="46" name="矩形 45">
            <a:extLst xmlns:a="http://schemas.openxmlformats.org/drawingml/2006/main">
              <a:ext uri="{FF2B5EF4-FFF2-40B4-BE49-F238E27FC236}">
                <a16:creationId xmlns:a16="http://schemas.microsoft.com/office/drawing/2014/main" id="{F894349C-366D-FF35-CD67-ED71CBF06583}"/>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文本框 46">
            <a:extLst xmlns:a="http://schemas.openxmlformats.org/drawingml/2006/main">
              <a:ext uri="{FF2B5EF4-FFF2-40B4-BE49-F238E27FC236}">
                <a16:creationId xmlns:a16="http://schemas.microsoft.com/office/drawing/2014/main" id="{1E868F0A-2B37-8697-1559-78EDC2D93523}"/>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sp>
        <p:nvSpPr>
          <p:cNvPr id="3" name="直接连接符 2">
            <a:extLst xmlns:a="http://schemas.openxmlformats.org/drawingml/2006/main">
              <a:ext uri="{FF2B5EF4-FFF2-40B4-BE49-F238E27FC236}">
                <a16:creationId xmlns:a16="http://schemas.microsoft.com/office/drawing/2014/main" id="{D3A4CA3A-A4DB-4B59-9F1D-DBF66F1E56F9}"/>
              </a:ext>
            </a:extLst>
          </p:cNvPr>
          <p:cNvSpPr>
            <a:spLocks xmlns:a="http://schemas.openxmlformats.org/drawingml/2006/main" noGrp="1"/>
          </p:cNvSpPr>
          <p:nvPr/>
        </p:nvSpPr>
        <p:spPr>
          <a:xfrm xmlns:a="http://schemas.openxmlformats.org/drawingml/2006/main">
            <a:off x="9618133" y="3149600"/>
            <a:ext cx="1566334" cy="643467"/>
          </a:xfrm>
          <a:prstGeom xmlns:a="http://schemas.openxmlformats.org/drawingml/2006/main" prst="line">
            <a:avLst/>
          </a:prstGeom>
          <a:ln xmlns:a="http://schemas.openxmlformats.org/drawingml/2006/main" w="19050">
            <a:solidFill>
              <a:srgbClr val="FF0000"/>
            </a:solidFill>
            <a:headEnd type="diamond" w="med" len="med"/>
            <a:tailEnd type="diamond"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 name="文本框 3">
            <a:extLst xmlns:a="http://schemas.openxmlformats.org/drawingml/2006/main">
              <a:ext uri="{FF2B5EF4-FFF2-40B4-BE49-F238E27FC236}">
                <a16:creationId xmlns:a16="http://schemas.microsoft.com/office/drawing/2014/main" id="{05F9931D-AA36-0B67-B6B5-AA2EE83DC742}"/>
              </a:ext>
            </a:extLst>
          </p:cNvPr>
          <p:cNvSpPr>
            <a:spLocks xmlns:a="http://schemas.openxmlformats.org/drawingml/2006/main" noGrp="1"/>
          </p:cNvSpPr>
          <p:nvPr/>
        </p:nvSpPr>
        <p:spPr>
          <a:xfrm xmlns:a="http://schemas.openxmlformats.org/drawingml/2006/main">
            <a:off x="9318625" y="3149600"/>
            <a:ext cx="409086"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latin typeface="微软雅黑"/>
                <a:ea typeface="微软雅黑"/>
                <a:cs typeface="微软雅黑"/>
              </a:rPr>
              <a:t>P</a:t>
            </a:r>
            <a:r>
              <a:rPr sz="1100">
                <a:latin typeface="微软雅黑"/>
                <a:ea typeface="微软雅黑"/>
                <a:cs typeface="微软雅黑"/>
              </a:rPr>
              <a:t>0</a:t>
            </a:r>
            <a:endParaRPr/>
          </a:p>
        </p:txBody>
      </p:sp>
      <p:sp>
        <p:nvSpPr>
          <p:cNvPr id="11" name="文本框 10">
            <a:extLst xmlns:a="http://schemas.openxmlformats.org/drawingml/2006/main">
              <a:ext uri="{FF2B5EF4-FFF2-40B4-BE49-F238E27FC236}">
                <a16:creationId xmlns:a16="http://schemas.microsoft.com/office/drawing/2014/main" id="{C0D129AA-9A5B-9F0D-3BD6-CE125DA53D3E}"/>
              </a:ext>
            </a:extLst>
          </p:cNvPr>
          <p:cNvSpPr>
            <a:spLocks xmlns:a="http://schemas.openxmlformats.org/drawingml/2006/main" noGrp="1"/>
          </p:cNvSpPr>
          <p:nvPr/>
        </p:nvSpPr>
        <p:spPr>
          <a:xfrm xmlns:a="http://schemas.openxmlformats.org/drawingml/2006/main">
            <a:off x="11039475" y="3880455"/>
            <a:ext cx="409086"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latin typeface="微软雅黑"/>
                <a:ea typeface="微软雅黑"/>
                <a:cs typeface="微软雅黑"/>
              </a:rPr>
              <a:t>P</a:t>
            </a:r>
            <a:r>
              <a:rPr sz="1100">
                <a:latin typeface="微软雅黑"/>
                <a:ea typeface="微软雅黑"/>
                <a:cs typeface="微软雅黑"/>
              </a:rPr>
              <a:t>1</a:t>
            </a:r>
            <a:endParaRPr/>
          </a:p>
        </p:txBody>
      </p:sp>
    </p:spTree>
    <p:extLst>
      <p:ext uri="{BB962C8B-B14F-4D97-AF65-F5344CB8AC3E}">
        <p14:creationId xmlns:p14="http://schemas.microsoft.com/office/powerpoint/2010/main" val="4257676589"/>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CA7EDFE6-D456-4909-A226-3B1857439A21}"/>
              </a:ext>
            </a:extLst>
          </p:cNvPr>
          <p:cNvSpPr>
            <a:spLocks xmlns:a="http://schemas.openxmlformats.org/drawingml/2006/main" noGrp="1"/>
          </p:cNvSpPr>
          <p:nvPr/>
        </p:nvSpPr>
        <p:spPr>
          <a:xfrm xmlns:a="http://schemas.openxmlformats.org/drawingml/2006/main">
            <a:off x="393895" y="1706880"/>
            <a:ext cx="7521526" cy="2419643"/>
          </a:xfrm>
          <a:custGeom xmlns:a="http://schemas.openxmlformats.org/drawingml/2006/main">
            <a:rect l="l" t="t" r="r" b="b"/>
            <a:pathLst>
              <a:path w="7521526" h="2419643">
                <a:moveTo>
                  <a:pt x="37514" y="0"/>
                </a:moveTo>
                <a:lnTo>
                  <a:pt x="7408989" y="0"/>
                </a:lnTo>
                <a:cubicBezTo>
                  <a:pt x="7471141" y="0"/>
                  <a:pt x="7521526" y="50385"/>
                  <a:pt x="7521526" y="112538"/>
                </a:cubicBezTo>
                <a:lnTo>
                  <a:pt x="7521526" y="2307105"/>
                </a:lnTo>
                <a:cubicBezTo>
                  <a:pt x="7521526" y="2369258"/>
                  <a:pt x="7471141" y="2419643"/>
                  <a:pt x="7408989" y="2419643"/>
                </a:cubicBezTo>
                <a:lnTo>
                  <a:pt x="37514" y="2419643"/>
                </a:lnTo>
                <a:cubicBezTo>
                  <a:pt x="16796" y="2419643"/>
                  <a:pt x="0" y="2402848"/>
                  <a:pt x="0" y="2382129"/>
                </a:cubicBezTo>
                <a:lnTo>
                  <a:pt x="0" y="37514"/>
                </a:lnTo>
                <a:cubicBezTo>
                  <a:pt x="0" y="16809"/>
                  <a:pt x="16809" y="0"/>
                  <a:pt x="37514"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F1254027-8037-4238-8CF7-C2B03A4ACA23}"/>
              </a:ext>
            </a:extLst>
          </p:cNvPr>
          <p:cNvSpPr>
            <a:spLocks xmlns:a="http://schemas.openxmlformats.org/drawingml/2006/main" noGrp="1"/>
          </p:cNvSpPr>
          <p:nvPr/>
        </p:nvSpPr>
        <p:spPr>
          <a:xfrm xmlns:a="http://schemas.openxmlformats.org/drawingml/2006/main">
            <a:off x="393895" y="1706880"/>
            <a:ext cx="37514" cy="2419643"/>
          </a:xfrm>
          <a:custGeom xmlns:a="http://schemas.openxmlformats.org/drawingml/2006/main">
            <a:rect l="l" t="t" r="r" b="b"/>
            <a:pathLst>
              <a:path w="37514" h="2419643">
                <a:moveTo>
                  <a:pt x="37514" y="0"/>
                </a:moveTo>
                <a:lnTo>
                  <a:pt x="37514" y="0"/>
                </a:lnTo>
                <a:lnTo>
                  <a:pt x="37514" y="2419643"/>
                </a:lnTo>
                <a:lnTo>
                  <a:pt x="37514" y="2419643"/>
                </a:lnTo>
                <a:cubicBezTo>
                  <a:pt x="16796" y="2419643"/>
                  <a:pt x="0" y="2402848"/>
                  <a:pt x="0" y="2382129"/>
                </a:cubicBezTo>
                <a:lnTo>
                  <a:pt x="0" y="37514"/>
                </a:lnTo>
                <a:cubicBezTo>
                  <a:pt x="0" y="16809"/>
                  <a:pt x="16809" y="0"/>
                  <a:pt x="37514"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1D74937D-B04D-47F5-BA2D-3EC2977FEA60}"/>
              </a:ext>
            </a:extLst>
          </p:cNvPr>
          <p:cNvSpPr>
            <a:spLocks xmlns:a="http://schemas.openxmlformats.org/drawingml/2006/main" noGrp="1"/>
          </p:cNvSpPr>
          <p:nvPr/>
        </p:nvSpPr>
        <p:spPr>
          <a:xfrm xmlns:a="http://schemas.openxmlformats.org/drawingml/2006/main">
            <a:off x="618978" y="1969477"/>
            <a:ext cx="196948" cy="225083"/>
          </a:xfrm>
          <a:custGeom xmlns:a="http://schemas.openxmlformats.org/drawingml/2006/main">
            <a:rect l="l" t="t" r="r" b="b"/>
            <a:pathLst>
              <a:path w="196948" h="225083">
                <a:moveTo>
                  <a:pt x="168812" y="225083"/>
                </a:moveTo>
                <a:lnTo>
                  <a:pt x="42203" y="225083"/>
                </a:lnTo>
                <a:cubicBezTo>
                  <a:pt x="18903" y="225083"/>
                  <a:pt x="0" y="206180"/>
                  <a:pt x="0" y="182880"/>
                </a:cubicBezTo>
                <a:lnTo>
                  <a:pt x="0" y="42203"/>
                </a:lnTo>
                <a:cubicBezTo>
                  <a:pt x="0" y="18903"/>
                  <a:pt x="18903" y="0"/>
                  <a:pt x="42203" y="0"/>
                </a:cubicBezTo>
                <a:lnTo>
                  <a:pt x="175846" y="0"/>
                </a:lnTo>
                <a:cubicBezTo>
                  <a:pt x="187496" y="0"/>
                  <a:pt x="196948" y="9452"/>
                  <a:pt x="196948" y="21102"/>
                </a:cubicBezTo>
                <a:lnTo>
                  <a:pt x="196948" y="147711"/>
                </a:lnTo>
                <a:cubicBezTo>
                  <a:pt x="196948" y="156899"/>
                  <a:pt x="191057" y="164724"/>
                  <a:pt x="182880" y="167625"/>
                </a:cubicBezTo>
                <a:lnTo>
                  <a:pt x="182880" y="196948"/>
                </a:lnTo>
                <a:cubicBezTo>
                  <a:pt x="190661" y="196948"/>
                  <a:pt x="196948" y="203234"/>
                  <a:pt x="196948" y="211015"/>
                </a:cubicBezTo>
                <a:cubicBezTo>
                  <a:pt x="196948" y="218797"/>
                  <a:pt x="190661" y="225083"/>
                  <a:pt x="182880" y="225083"/>
                </a:cubicBezTo>
                <a:lnTo>
                  <a:pt x="168812" y="225083"/>
                </a:lnTo>
                <a:close/>
                <a:moveTo>
                  <a:pt x="42203" y="168812"/>
                </a:moveTo>
                <a:cubicBezTo>
                  <a:pt x="34422" y="168812"/>
                  <a:pt x="28135" y="175099"/>
                  <a:pt x="28135" y="182880"/>
                </a:cubicBezTo>
                <a:cubicBezTo>
                  <a:pt x="28135" y="190661"/>
                  <a:pt x="34422" y="196948"/>
                  <a:pt x="42203" y="196948"/>
                </a:cubicBezTo>
                <a:lnTo>
                  <a:pt x="154745" y="196948"/>
                </a:lnTo>
                <a:lnTo>
                  <a:pt x="154745" y="168812"/>
                </a:lnTo>
                <a:lnTo>
                  <a:pt x="42203" y="168812"/>
                </a:lnTo>
                <a:close/>
                <a:moveTo>
                  <a:pt x="56271" y="66822"/>
                </a:moveTo>
                <a:cubicBezTo>
                  <a:pt x="56271" y="72668"/>
                  <a:pt x="60975" y="77372"/>
                  <a:pt x="66822" y="77372"/>
                </a:cubicBezTo>
                <a:lnTo>
                  <a:pt x="144194" y="77372"/>
                </a:lnTo>
                <a:cubicBezTo>
                  <a:pt x="150041" y="77372"/>
                  <a:pt x="154745" y="72668"/>
                  <a:pt x="154745" y="66822"/>
                </a:cubicBezTo>
                <a:cubicBezTo>
                  <a:pt x="154745" y="60975"/>
                  <a:pt x="150041" y="56271"/>
                  <a:pt x="144194" y="56271"/>
                </a:cubicBezTo>
                <a:lnTo>
                  <a:pt x="66822" y="56271"/>
                </a:lnTo>
                <a:cubicBezTo>
                  <a:pt x="60975" y="56271"/>
                  <a:pt x="56271" y="60975"/>
                  <a:pt x="56271" y="66822"/>
                </a:cubicBezTo>
                <a:close/>
                <a:moveTo>
                  <a:pt x="66822" y="98474"/>
                </a:moveTo>
                <a:cubicBezTo>
                  <a:pt x="60975" y="98474"/>
                  <a:pt x="56271" y="103178"/>
                  <a:pt x="56271" y="109025"/>
                </a:cubicBezTo>
                <a:cubicBezTo>
                  <a:pt x="56271" y="114872"/>
                  <a:pt x="60975" y="119575"/>
                  <a:pt x="66822" y="119575"/>
                </a:cubicBezTo>
                <a:lnTo>
                  <a:pt x="144194" y="119575"/>
                </a:lnTo>
                <a:cubicBezTo>
                  <a:pt x="150041" y="119575"/>
                  <a:pt x="154745" y="114872"/>
                  <a:pt x="154745" y="109025"/>
                </a:cubicBezTo>
                <a:cubicBezTo>
                  <a:pt x="154745" y="103178"/>
                  <a:pt x="150041" y="98474"/>
                  <a:pt x="144194" y="98474"/>
                </a:cubicBezTo>
                <a:lnTo>
                  <a:pt x="66822" y="98474"/>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425DEF43-B0AB-41A3-B315-4C9D211656F8}"/>
              </a:ext>
            </a:extLst>
          </p:cNvPr>
          <p:cNvSpPr>
            <a:spLocks xmlns:a="http://schemas.openxmlformats.org/drawingml/2006/main" noGrp="1"/>
          </p:cNvSpPr>
          <p:nvPr/>
        </p:nvSpPr>
        <p:spPr>
          <a:xfrm xmlns:a="http://schemas.openxmlformats.org/drawingml/2006/main">
            <a:off x="944733" y="1931963"/>
            <a:ext cx="6855655" cy="30011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2. 二次贝塞尔曲线（二次方公式）</a:t>
            </a:r>
            <a:endParaRPr/>
          </a:p>
        </p:txBody>
      </p:sp>
      <p:sp>
        <p:nvSpPr>
          <p:cNvPr id="9" name="Text 7">
            <a:extLst xmlns:a="http://schemas.openxmlformats.org/drawingml/2006/main">
              <a:ext uri="{FF2B5EF4-FFF2-40B4-BE49-F238E27FC236}">
                <a16:creationId xmlns:a16="http://schemas.microsoft.com/office/drawing/2014/main" id="{35813106-90A2-423C-AF5B-4C2894EA6799}"/>
              </a:ext>
            </a:extLst>
          </p:cNvPr>
          <p:cNvSpPr>
            <a:spLocks xmlns:a="http://schemas.openxmlformats.org/drawingml/2006/main" noGrp="1"/>
          </p:cNvSpPr>
          <p:nvPr/>
        </p:nvSpPr>
        <p:spPr>
          <a:xfrm xmlns:a="http://schemas.openxmlformats.org/drawingml/2006/main">
            <a:off x="944733" y="2344615"/>
            <a:ext cx="6827520" cy="973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定义：二次贝塞尔曲线的路径由给定点P</a:t>
            </a:r>
            <a:r>
              <a:rPr sz="1050">
                <a:latin typeface="微软雅黑"/>
                <a:ea typeface="微软雅黑"/>
                <a:cs typeface="微软雅黑"/>
              </a:rPr>
              <a:t>0</a:t>
            </a:r>
            <a:r>
              <a:rPr sz="1600">
                <a:latin typeface="微软雅黑"/>
                <a:ea typeface="微软雅黑"/>
                <a:cs typeface="微软雅黑"/>
              </a:rPr>
              <a:t>、P</a:t>
            </a:r>
            <a:r>
              <a:rPr sz="1050">
                <a:latin typeface="微软雅黑"/>
                <a:ea typeface="微软雅黑"/>
                <a:cs typeface="微软雅黑"/>
              </a:rPr>
              <a:t>1</a:t>
            </a:r>
            <a:r>
              <a:rPr sz="1600">
                <a:latin typeface="微软雅黑"/>
                <a:ea typeface="微软雅黑"/>
                <a:cs typeface="微软雅黑"/>
              </a:rPr>
              <a:t>、P</a:t>
            </a:r>
            <a:r>
              <a:rPr sz="1050">
                <a:latin typeface="微软雅黑"/>
                <a:ea typeface="微软雅黑"/>
                <a:cs typeface="微软雅黑"/>
              </a:rPr>
              <a:t>2</a:t>
            </a:r>
            <a:r>
              <a:rPr sz="1600">
                <a:latin typeface="微软雅黑"/>
                <a:ea typeface="微软雅黑"/>
                <a:cs typeface="微软雅黑"/>
              </a:rPr>
              <a:t>的函数B(t)给出。假设P</a:t>
            </a:r>
            <a:r>
              <a:rPr sz="1050">
                <a:latin typeface="微软雅黑"/>
                <a:ea typeface="微软雅黑"/>
                <a:cs typeface="微软雅黑"/>
              </a:rPr>
              <a:t>0</a:t>
            </a:r>
            <a:r>
              <a:rPr sz="1600">
                <a:latin typeface="微软雅黑"/>
                <a:ea typeface="微软雅黑"/>
                <a:cs typeface="微软雅黑"/>
              </a:rPr>
              <a:t>、P</a:t>
            </a:r>
            <a:r>
              <a:rPr sz="1050">
                <a:latin typeface="微软雅黑"/>
                <a:ea typeface="微软雅黑"/>
                <a:cs typeface="微软雅黑"/>
              </a:rPr>
              <a:t>1</a:t>
            </a:r>
            <a:r>
              <a:rPr sz="1600">
                <a:latin typeface="微软雅黑"/>
                <a:ea typeface="微软雅黑"/>
                <a:cs typeface="微软雅黑"/>
              </a:rPr>
              <a:t>上的点为</a:t>
            </a:r>
            <a:r>
              <a:rPr sz="1600">
                <a:latin typeface="微软雅黑"/>
                <a:ea typeface="微软雅黑"/>
                <a:cs typeface="微软雅黑"/>
              </a:rPr>
              <a:t>A</a:t>
            </a:r>
            <a:r>
              <a:rPr sz="1600">
                <a:latin typeface="微软雅黑"/>
                <a:ea typeface="微软雅黑"/>
                <a:cs typeface="微软雅黑"/>
              </a:rPr>
              <a:t>，P</a:t>
            </a:r>
            <a:r>
              <a:rPr sz="1050">
                <a:latin typeface="微软雅黑"/>
                <a:ea typeface="微软雅黑"/>
                <a:cs typeface="微软雅黑"/>
              </a:rPr>
              <a:t>1</a:t>
            </a:r>
            <a:r>
              <a:rPr sz="1600">
                <a:latin typeface="微软雅黑"/>
                <a:ea typeface="微软雅黑"/>
                <a:cs typeface="微软雅黑"/>
              </a:rPr>
              <a:t>、P</a:t>
            </a:r>
            <a:r>
              <a:rPr sz="1050">
                <a:latin typeface="微软雅黑"/>
                <a:ea typeface="微软雅黑"/>
                <a:cs typeface="微软雅黑"/>
              </a:rPr>
              <a:t>2</a:t>
            </a:r>
            <a:r>
              <a:rPr sz="1600">
                <a:latin typeface="微软雅黑"/>
                <a:ea typeface="微软雅黑"/>
                <a:cs typeface="微软雅黑"/>
              </a:rPr>
              <a:t>上的点为</a:t>
            </a:r>
            <a:r>
              <a:rPr sz="1600">
                <a:latin typeface="微软雅黑"/>
                <a:ea typeface="微软雅黑"/>
                <a:cs typeface="微软雅黑"/>
              </a:rPr>
              <a:t>B</a:t>
            </a:r>
            <a:r>
              <a:rPr sz="1600">
                <a:latin typeface="微软雅黑"/>
                <a:ea typeface="微软雅黑"/>
                <a:cs typeface="微软雅黑"/>
              </a:rPr>
              <a:t>，Q</a:t>
            </a:r>
            <a:r>
              <a:rPr sz="1050">
                <a:latin typeface="微软雅黑"/>
                <a:ea typeface="微软雅黑"/>
                <a:cs typeface="微软雅黑"/>
              </a:rPr>
              <a:t>0</a:t>
            </a:r>
            <a:r>
              <a:rPr sz="1600">
                <a:latin typeface="微软雅黑"/>
                <a:ea typeface="微软雅黑"/>
                <a:cs typeface="微软雅黑"/>
              </a:rPr>
              <a:t>、Q</a:t>
            </a:r>
            <a:r>
              <a:rPr sz="1050">
                <a:latin typeface="微软雅黑"/>
                <a:ea typeface="微软雅黑"/>
                <a:cs typeface="微软雅黑"/>
              </a:rPr>
              <a:t>1</a:t>
            </a:r>
            <a:r>
              <a:rPr sz="1600">
                <a:latin typeface="微软雅黑"/>
                <a:ea typeface="微软雅黑"/>
                <a:cs typeface="微软雅黑"/>
              </a:rPr>
              <a:t>上的点为</a:t>
            </a:r>
            <a:r>
              <a:rPr sz="1600">
                <a:latin typeface="微软雅黑"/>
                <a:ea typeface="微软雅黑"/>
                <a:cs typeface="微软雅黑"/>
              </a:rPr>
              <a:t>C</a:t>
            </a:r>
            <a:r>
              <a:rPr sz="1600">
                <a:latin typeface="微软雅黑"/>
                <a:ea typeface="微软雅黑"/>
                <a:cs typeface="微软雅黑"/>
              </a:rPr>
              <a:t>（也即</a:t>
            </a:r>
            <a:r>
              <a:rPr sz="1600">
                <a:latin typeface="微软雅黑"/>
                <a:ea typeface="微软雅黑"/>
                <a:cs typeface="微软雅黑"/>
              </a:rPr>
              <a:t>C</a:t>
            </a:r>
            <a:r>
              <a:rPr sz="1600">
                <a:latin typeface="微软雅黑"/>
                <a:ea typeface="微软雅黑"/>
                <a:cs typeface="微软雅黑"/>
              </a:rPr>
              <a:t>为二次贝塞尔曲线上的点）。则根据一次贝塞尔曲线公式有：</a:t>
            </a:r>
            <a:endParaRPr sz="2000"/>
          </a:p>
        </p:txBody>
      </p:sp>
      <p:sp>
        <p:nvSpPr>
          <p:cNvPr id="10" name="Shape 8">
            <a:extLst xmlns:a="http://schemas.openxmlformats.org/drawingml/2006/main">
              <a:ext uri="{FF2B5EF4-FFF2-40B4-BE49-F238E27FC236}">
                <a16:creationId xmlns:a16="http://schemas.microsoft.com/office/drawing/2014/main" id="{AAE0BA0C-1513-4E69-9966-CD7220A7E0F4}"/>
              </a:ext>
            </a:extLst>
          </p:cNvPr>
          <p:cNvSpPr>
            <a:spLocks xmlns:a="http://schemas.openxmlformats.org/drawingml/2006/main" noGrp="1"/>
          </p:cNvSpPr>
          <p:nvPr/>
        </p:nvSpPr>
        <p:spPr>
          <a:xfrm xmlns:a="http://schemas.openxmlformats.org/drawingml/2006/main">
            <a:off x="949423" y="3437207"/>
            <a:ext cx="2185182" cy="609600"/>
          </a:xfrm>
          <a:custGeom xmlns:a="http://schemas.openxmlformats.org/drawingml/2006/main">
            <a:rect l="l" t="t" r="r" b="b"/>
            <a:pathLst>
              <a:path w="2185182" h="609600">
                <a:moveTo>
                  <a:pt x="75030" y="0"/>
                </a:moveTo>
                <a:lnTo>
                  <a:pt x="2110152" y="0"/>
                </a:lnTo>
                <a:cubicBezTo>
                  <a:pt x="2151590" y="0"/>
                  <a:pt x="2185182" y="33592"/>
                  <a:pt x="2185182" y="75030"/>
                </a:cubicBezTo>
                <a:lnTo>
                  <a:pt x="2185182" y="534570"/>
                </a:lnTo>
                <a:cubicBezTo>
                  <a:pt x="2185182" y="576008"/>
                  <a:pt x="2151590" y="609600"/>
                  <a:pt x="2110152" y="609600"/>
                </a:cubicBezTo>
                <a:lnTo>
                  <a:pt x="75030" y="609600"/>
                </a:lnTo>
                <a:cubicBezTo>
                  <a:pt x="33592" y="609600"/>
                  <a:pt x="0" y="576008"/>
                  <a:pt x="0" y="534570"/>
                </a:cubicBezTo>
                <a:lnTo>
                  <a:pt x="0" y="75030"/>
                </a:lnTo>
                <a:cubicBezTo>
                  <a:pt x="0" y="33592"/>
                  <a:pt x="33592" y="0"/>
                  <a:pt x="75030"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3" name="Shape 11">
            <a:extLst xmlns:a="http://schemas.openxmlformats.org/drawingml/2006/main">
              <a:ext uri="{FF2B5EF4-FFF2-40B4-BE49-F238E27FC236}">
                <a16:creationId xmlns:a16="http://schemas.microsoft.com/office/drawing/2014/main" id="{9E193FE6-654B-4F5F-8DA2-30FD7D5F0709}"/>
              </a:ext>
            </a:extLst>
          </p:cNvPr>
          <p:cNvSpPr>
            <a:spLocks xmlns:a="http://schemas.openxmlformats.org/drawingml/2006/main" noGrp="1"/>
          </p:cNvSpPr>
          <p:nvPr/>
        </p:nvSpPr>
        <p:spPr>
          <a:xfrm xmlns:a="http://schemas.openxmlformats.org/drawingml/2006/main">
            <a:off x="3221502" y="3437207"/>
            <a:ext cx="2185182" cy="609600"/>
          </a:xfrm>
          <a:custGeom xmlns:a="http://schemas.openxmlformats.org/drawingml/2006/main">
            <a:rect l="l" t="t" r="r" b="b"/>
            <a:pathLst>
              <a:path w="2185182" h="609600">
                <a:moveTo>
                  <a:pt x="75030" y="0"/>
                </a:moveTo>
                <a:lnTo>
                  <a:pt x="2110152" y="0"/>
                </a:lnTo>
                <a:cubicBezTo>
                  <a:pt x="2151590" y="0"/>
                  <a:pt x="2185182" y="33592"/>
                  <a:pt x="2185182" y="75030"/>
                </a:cubicBezTo>
                <a:lnTo>
                  <a:pt x="2185182" y="534570"/>
                </a:lnTo>
                <a:cubicBezTo>
                  <a:pt x="2185182" y="576008"/>
                  <a:pt x="2151590" y="609600"/>
                  <a:pt x="2110152" y="609600"/>
                </a:cubicBezTo>
                <a:lnTo>
                  <a:pt x="75030" y="609600"/>
                </a:lnTo>
                <a:cubicBezTo>
                  <a:pt x="33592" y="609600"/>
                  <a:pt x="0" y="576008"/>
                  <a:pt x="0" y="534570"/>
                </a:cubicBezTo>
                <a:lnTo>
                  <a:pt x="0" y="75030"/>
                </a:lnTo>
                <a:cubicBezTo>
                  <a:pt x="0" y="33592"/>
                  <a:pt x="33592" y="0"/>
                  <a:pt x="75030"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6" name="Shape 14">
            <a:extLst xmlns:a="http://schemas.openxmlformats.org/drawingml/2006/main">
              <a:ext uri="{FF2B5EF4-FFF2-40B4-BE49-F238E27FC236}">
                <a16:creationId xmlns:a16="http://schemas.microsoft.com/office/drawing/2014/main" id="{5A68CFC6-3F36-4F13-BC40-FCDC8D724937}"/>
              </a:ext>
            </a:extLst>
          </p:cNvPr>
          <p:cNvSpPr>
            <a:spLocks xmlns:a="http://schemas.openxmlformats.org/drawingml/2006/main" noGrp="1"/>
          </p:cNvSpPr>
          <p:nvPr/>
        </p:nvSpPr>
        <p:spPr>
          <a:xfrm xmlns:a="http://schemas.openxmlformats.org/drawingml/2006/main">
            <a:off x="5493580" y="3437207"/>
            <a:ext cx="2185182" cy="609600"/>
          </a:xfrm>
          <a:custGeom xmlns:a="http://schemas.openxmlformats.org/drawingml/2006/main">
            <a:rect l="l" t="t" r="r" b="b"/>
            <a:pathLst>
              <a:path w="2185182" h="609600">
                <a:moveTo>
                  <a:pt x="75030" y="0"/>
                </a:moveTo>
                <a:lnTo>
                  <a:pt x="2110152" y="0"/>
                </a:lnTo>
                <a:cubicBezTo>
                  <a:pt x="2151590" y="0"/>
                  <a:pt x="2185182" y="33592"/>
                  <a:pt x="2185182" y="75030"/>
                </a:cubicBezTo>
                <a:lnTo>
                  <a:pt x="2185182" y="534570"/>
                </a:lnTo>
                <a:cubicBezTo>
                  <a:pt x="2185182" y="576008"/>
                  <a:pt x="2151590" y="609600"/>
                  <a:pt x="2110152" y="609600"/>
                </a:cubicBezTo>
                <a:lnTo>
                  <a:pt x="75030" y="609600"/>
                </a:lnTo>
                <a:cubicBezTo>
                  <a:pt x="33592" y="609600"/>
                  <a:pt x="0" y="576008"/>
                  <a:pt x="0" y="534570"/>
                </a:cubicBezTo>
                <a:lnTo>
                  <a:pt x="0" y="75030"/>
                </a:lnTo>
                <a:cubicBezTo>
                  <a:pt x="0" y="33592"/>
                  <a:pt x="33592" y="0"/>
                  <a:pt x="75030"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9" name="Shape 17">
            <a:extLst xmlns:a="http://schemas.openxmlformats.org/drawingml/2006/main">
              <a:ext uri="{FF2B5EF4-FFF2-40B4-BE49-F238E27FC236}">
                <a16:creationId xmlns:a16="http://schemas.microsoft.com/office/drawing/2014/main" id="{BD4DD5D6-8D91-44C8-933A-681D161C6DE2}"/>
              </a:ext>
            </a:extLst>
          </p:cNvPr>
          <p:cNvSpPr>
            <a:spLocks xmlns:a="http://schemas.openxmlformats.org/drawingml/2006/main" noGrp="1"/>
          </p:cNvSpPr>
          <p:nvPr/>
        </p:nvSpPr>
        <p:spPr>
          <a:xfrm xmlns:a="http://schemas.openxmlformats.org/drawingml/2006/main">
            <a:off x="393895" y="4349262"/>
            <a:ext cx="7521526" cy="2128911"/>
          </a:xfrm>
          <a:custGeom xmlns:a="http://schemas.openxmlformats.org/drawingml/2006/main">
            <a:rect l="l" t="t" r="r" b="b"/>
            <a:pathLst>
              <a:path w="7521526" h="2128911">
                <a:moveTo>
                  <a:pt x="37514" y="0"/>
                </a:moveTo>
                <a:lnTo>
                  <a:pt x="7408992" y="0"/>
                </a:lnTo>
                <a:cubicBezTo>
                  <a:pt x="7471143" y="0"/>
                  <a:pt x="7521526" y="50383"/>
                  <a:pt x="7521526" y="112534"/>
                </a:cubicBezTo>
                <a:lnTo>
                  <a:pt x="7521526" y="2016377"/>
                </a:lnTo>
                <a:cubicBezTo>
                  <a:pt x="7521526" y="2078527"/>
                  <a:pt x="7471143" y="2128911"/>
                  <a:pt x="7408992" y="2128911"/>
                </a:cubicBezTo>
                <a:lnTo>
                  <a:pt x="37514" y="2128911"/>
                </a:lnTo>
                <a:cubicBezTo>
                  <a:pt x="16796" y="2128911"/>
                  <a:pt x="0" y="2112115"/>
                  <a:pt x="0" y="2091397"/>
                </a:cubicBezTo>
                <a:lnTo>
                  <a:pt x="0" y="37514"/>
                </a:lnTo>
                <a:cubicBezTo>
                  <a:pt x="0" y="16809"/>
                  <a:pt x="16809" y="0"/>
                  <a:pt x="37514" y="0"/>
                </a:cubicBezTo>
                <a:close/>
              </a:path>
            </a:pathLst>
          </a:custGeom>
          <a:solidFill xmlns:a="http://schemas.openxmlformats.org/drawingml/2006/main">
            <a:srgbClr val="5F87A7">
              <a:alpha val="10196"/>
            </a:srgbClr>
          </a:solidFill>
        </p:spPr>
      </p:sp>
      <p:sp>
        <p:nvSpPr>
          <p:cNvPr id="20" name="Shape 18">
            <a:extLst xmlns:a="http://schemas.openxmlformats.org/drawingml/2006/main">
              <a:ext uri="{FF2B5EF4-FFF2-40B4-BE49-F238E27FC236}">
                <a16:creationId xmlns:a16="http://schemas.microsoft.com/office/drawing/2014/main" id="{615CFDB1-4F55-43A0-B6B0-1F89BA6A71CF}"/>
              </a:ext>
            </a:extLst>
          </p:cNvPr>
          <p:cNvSpPr>
            <a:spLocks xmlns:a="http://schemas.openxmlformats.org/drawingml/2006/main" noGrp="1"/>
          </p:cNvSpPr>
          <p:nvPr/>
        </p:nvSpPr>
        <p:spPr>
          <a:xfrm xmlns:a="http://schemas.openxmlformats.org/drawingml/2006/main">
            <a:off x="393895" y="4349262"/>
            <a:ext cx="37514" cy="2128911"/>
          </a:xfrm>
          <a:custGeom xmlns:a="http://schemas.openxmlformats.org/drawingml/2006/main">
            <a:rect l="l" t="t" r="r" b="b"/>
            <a:pathLst>
              <a:path w="37514" h="2128911">
                <a:moveTo>
                  <a:pt x="37514" y="0"/>
                </a:moveTo>
                <a:lnTo>
                  <a:pt x="37514" y="0"/>
                </a:lnTo>
                <a:lnTo>
                  <a:pt x="37514" y="2128911"/>
                </a:lnTo>
                <a:lnTo>
                  <a:pt x="37514" y="2128911"/>
                </a:lnTo>
                <a:cubicBezTo>
                  <a:pt x="16796" y="2128911"/>
                  <a:pt x="0" y="2112115"/>
                  <a:pt x="0" y="2091397"/>
                </a:cubicBezTo>
                <a:lnTo>
                  <a:pt x="0" y="37514"/>
                </a:lnTo>
                <a:cubicBezTo>
                  <a:pt x="0" y="16809"/>
                  <a:pt x="16809" y="0"/>
                  <a:pt x="37514" y="0"/>
                </a:cubicBezTo>
                <a:close/>
              </a:path>
            </a:pathLst>
          </a:custGeom>
          <a:solidFill xmlns:a="http://schemas.openxmlformats.org/drawingml/2006/main">
            <a:srgbClr val="E6B450"/>
          </a:solidFill>
        </p:spPr>
      </p:sp>
      <p:sp>
        <p:nvSpPr>
          <p:cNvPr id="21" name="Shape 19">
            <a:extLst xmlns:a="http://schemas.openxmlformats.org/drawingml/2006/main">
              <a:ext uri="{FF2B5EF4-FFF2-40B4-BE49-F238E27FC236}">
                <a16:creationId xmlns:a16="http://schemas.microsoft.com/office/drawing/2014/main" id="{FA951449-DDC1-4EC1-8778-7E05E9AE0B40}"/>
              </a:ext>
            </a:extLst>
          </p:cNvPr>
          <p:cNvSpPr>
            <a:spLocks xmlns:a="http://schemas.openxmlformats.org/drawingml/2006/main" noGrp="1"/>
          </p:cNvSpPr>
          <p:nvPr/>
        </p:nvSpPr>
        <p:spPr>
          <a:xfrm xmlns:a="http://schemas.openxmlformats.org/drawingml/2006/main">
            <a:off x="694006" y="4611858"/>
            <a:ext cx="168812" cy="225083"/>
          </a:xfrm>
          <a:custGeom xmlns:a="http://schemas.openxmlformats.org/drawingml/2006/main">
            <a:rect l="l" t="t" r="r" b="b"/>
            <a:pathLst>
              <a:path w="168812" h="225083">
                <a:moveTo>
                  <a:pt x="28135" y="0"/>
                </a:moveTo>
                <a:cubicBezTo>
                  <a:pt x="12617" y="0"/>
                  <a:pt x="0" y="12617"/>
                  <a:pt x="0" y="28135"/>
                </a:cubicBezTo>
                <a:lnTo>
                  <a:pt x="0" y="196948"/>
                </a:lnTo>
                <a:cubicBezTo>
                  <a:pt x="0" y="212466"/>
                  <a:pt x="12617" y="225083"/>
                  <a:pt x="28135" y="225083"/>
                </a:cubicBezTo>
                <a:lnTo>
                  <a:pt x="140677" y="225083"/>
                </a:lnTo>
                <a:cubicBezTo>
                  <a:pt x="156195" y="225083"/>
                  <a:pt x="168812" y="212466"/>
                  <a:pt x="168812" y="196948"/>
                </a:cubicBezTo>
                <a:lnTo>
                  <a:pt x="168812" y="28135"/>
                </a:lnTo>
                <a:cubicBezTo>
                  <a:pt x="168812" y="12617"/>
                  <a:pt x="156195" y="0"/>
                  <a:pt x="140677" y="0"/>
                </a:cubicBezTo>
                <a:lnTo>
                  <a:pt x="28135" y="0"/>
                </a:lnTo>
                <a:close/>
                <a:moveTo>
                  <a:pt x="42203" y="28135"/>
                </a:moveTo>
                <a:lnTo>
                  <a:pt x="126609" y="28135"/>
                </a:lnTo>
                <a:cubicBezTo>
                  <a:pt x="134390" y="28135"/>
                  <a:pt x="140677" y="34422"/>
                  <a:pt x="140677" y="42203"/>
                </a:cubicBezTo>
                <a:lnTo>
                  <a:pt x="140677" y="56271"/>
                </a:lnTo>
                <a:cubicBezTo>
                  <a:pt x="140677" y="64052"/>
                  <a:pt x="134390" y="70338"/>
                  <a:pt x="126609" y="70338"/>
                </a:cubicBezTo>
                <a:lnTo>
                  <a:pt x="42203" y="70338"/>
                </a:lnTo>
                <a:cubicBezTo>
                  <a:pt x="34422" y="70338"/>
                  <a:pt x="28135" y="64052"/>
                  <a:pt x="28135" y="56271"/>
                </a:cubicBezTo>
                <a:lnTo>
                  <a:pt x="28135" y="42203"/>
                </a:lnTo>
                <a:cubicBezTo>
                  <a:pt x="28135" y="34422"/>
                  <a:pt x="34422" y="28135"/>
                  <a:pt x="42203" y="28135"/>
                </a:cubicBezTo>
                <a:close/>
                <a:moveTo>
                  <a:pt x="49237" y="101991"/>
                </a:moveTo>
                <a:cubicBezTo>
                  <a:pt x="49237" y="107814"/>
                  <a:pt x="44509" y="112542"/>
                  <a:pt x="38686" y="112542"/>
                </a:cubicBezTo>
                <a:cubicBezTo>
                  <a:pt x="32863" y="112542"/>
                  <a:pt x="28135" y="107814"/>
                  <a:pt x="28135" y="101991"/>
                </a:cubicBezTo>
                <a:cubicBezTo>
                  <a:pt x="28135" y="96168"/>
                  <a:pt x="32863" y="91440"/>
                  <a:pt x="38686" y="91440"/>
                </a:cubicBezTo>
                <a:cubicBezTo>
                  <a:pt x="44509" y="91440"/>
                  <a:pt x="49237" y="96168"/>
                  <a:pt x="49237" y="101991"/>
                </a:cubicBezTo>
                <a:close/>
                <a:moveTo>
                  <a:pt x="84406" y="112542"/>
                </a:moveTo>
                <a:cubicBezTo>
                  <a:pt x="78583" y="112542"/>
                  <a:pt x="73855" y="107814"/>
                  <a:pt x="73855" y="101991"/>
                </a:cubicBezTo>
                <a:cubicBezTo>
                  <a:pt x="73855" y="96168"/>
                  <a:pt x="78583" y="91440"/>
                  <a:pt x="84406" y="91440"/>
                </a:cubicBezTo>
                <a:cubicBezTo>
                  <a:pt x="90229" y="91440"/>
                  <a:pt x="94957" y="96168"/>
                  <a:pt x="94957" y="101991"/>
                </a:cubicBezTo>
                <a:cubicBezTo>
                  <a:pt x="94957" y="107814"/>
                  <a:pt x="90229" y="112542"/>
                  <a:pt x="84406" y="112542"/>
                </a:cubicBezTo>
                <a:close/>
                <a:moveTo>
                  <a:pt x="140677" y="101991"/>
                </a:moveTo>
                <a:cubicBezTo>
                  <a:pt x="140677" y="107814"/>
                  <a:pt x="135949" y="112542"/>
                  <a:pt x="130126" y="112542"/>
                </a:cubicBezTo>
                <a:cubicBezTo>
                  <a:pt x="124303" y="112542"/>
                  <a:pt x="119575" y="107814"/>
                  <a:pt x="119575" y="101991"/>
                </a:cubicBezTo>
                <a:cubicBezTo>
                  <a:pt x="119575" y="96168"/>
                  <a:pt x="124303" y="91440"/>
                  <a:pt x="130126" y="91440"/>
                </a:cubicBezTo>
                <a:cubicBezTo>
                  <a:pt x="135949" y="91440"/>
                  <a:pt x="140677" y="96168"/>
                  <a:pt x="140677" y="101991"/>
                </a:cubicBezTo>
                <a:close/>
                <a:moveTo>
                  <a:pt x="38686" y="154745"/>
                </a:moveTo>
                <a:cubicBezTo>
                  <a:pt x="32863" y="154745"/>
                  <a:pt x="28135" y="150017"/>
                  <a:pt x="28135" y="144194"/>
                </a:cubicBezTo>
                <a:cubicBezTo>
                  <a:pt x="28135" y="138371"/>
                  <a:pt x="32863" y="133643"/>
                  <a:pt x="38686" y="133643"/>
                </a:cubicBezTo>
                <a:cubicBezTo>
                  <a:pt x="44509" y="133643"/>
                  <a:pt x="49237" y="138371"/>
                  <a:pt x="49237" y="144194"/>
                </a:cubicBezTo>
                <a:cubicBezTo>
                  <a:pt x="49237" y="150017"/>
                  <a:pt x="44509" y="154745"/>
                  <a:pt x="38686" y="154745"/>
                </a:cubicBezTo>
                <a:close/>
                <a:moveTo>
                  <a:pt x="94957" y="144194"/>
                </a:moveTo>
                <a:cubicBezTo>
                  <a:pt x="94957" y="150017"/>
                  <a:pt x="90229" y="154745"/>
                  <a:pt x="84406" y="154745"/>
                </a:cubicBezTo>
                <a:cubicBezTo>
                  <a:pt x="78583" y="154745"/>
                  <a:pt x="73855" y="150017"/>
                  <a:pt x="73855" y="144194"/>
                </a:cubicBezTo>
                <a:cubicBezTo>
                  <a:pt x="73855" y="138371"/>
                  <a:pt x="78583" y="133643"/>
                  <a:pt x="84406" y="133643"/>
                </a:cubicBezTo>
                <a:cubicBezTo>
                  <a:pt x="90229" y="133643"/>
                  <a:pt x="94957" y="138371"/>
                  <a:pt x="94957" y="144194"/>
                </a:cubicBezTo>
                <a:close/>
                <a:moveTo>
                  <a:pt x="130126" y="154745"/>
                </a:moveTo>
                <a:cubicBezTo>
                  <a:pt x="124303" y="154745"/>
                  <a:pt x="119575" y="150017"/>
                  <a:pt x="119575" y="144194"/>
                </a:cubicBezTo>
                <a:cubicBezTo>
                  <a:pt x="119575" y="138371"/>
                  <a:pt x="124303" y="133643"/>
                  <a:pt x="130126" y="133643"/>
                </a:cubicBezTo>
                <a:cubicBezTo>
                  <a:pt x="135949" y="133643"/>
                  <a:pt x="140677" y="138371"/>
                  <a:pt x="140677" y="144194"/>
                </a:cubicBezTo>
                <a:cubicBezTo>
                  <a:pt x="140677" y="150017"/>
                  <a:pt x="135949" y="154745"/>
                  <a:pt x="130126" y="154745"/>
                </a:cubicBezTo>
                <a:close/>
                <a:moveTo>
                  <a:pt x="28135" y="186397"/>
                </a:moveTo>
                <a:cubicBezTo>
                  <a:pt x="28135" y="180550"/>
                  <a:pt x="32839" y="175846"/>
                  <a:pt x="38686" y="175846"/>
                </a:cubicBezTo>
                <a:lnTo>
                  <a:pt x="87923" y="175846"/>
                </a:lnTo>
                <a:cubicBezTo>
                  <a:pt x="93770" y="175846"/>
                  <a:pt x="98474" y="180550"/>
                  <a:pt x="98474" y="186397"/>
                </a:cubicBezTo>
                <a:cubicBezTo>
                  <a:pt x="98474" y="192244"/>
                  <a:pt x="93770" y="196948"/>
                  <a:pt x="87923" y="196948"/>
                </a:cubicBezTo>
                <a:lnTo>
                  <a:pt x="38686" y="196948"/>
                </a:lnTo>
                <a:cubicBezTo>
                  <a:pt x="32839" y="196948"/>
                  <a:pt x="28135" y="192244"/>
                  <a:pt x="28135" y="186397"/>
                </a:cubicBezTo>
                <a:close/>
                <a:moveTo>
                  <a:pt x="130126" y="175846"/>
                </a:moveTo>
                <a:cubicBezTo>
                  <a:pt x="135973" y="175846"/>
                  <a:pt x="140677" y="180550"/>
                  <a:pt x="140677" y="186397"/>
                </a:cubicBezTo>
                <a:cubicBezTo>
                  <a:pt x="140677" y="192244"/>
                  <a:pt x="135973" y="196948"/>
                  <a:pt x="130126" y="196948"/>
                </a:cubicBezTo>
                <a:cubicBezTo>
                  <a:pt x="124279" y="196948"/>
                  <a:pt x="119575" y="192244"/>
                  <a:pt x="119575" y="186397"/>
                </a:cubicBezTo>
                <a:cubicBezTo>
                  <a:pt x="119575" y="180550"/>
                  <a:pt x="124279" y="175846"/>
                  <a:pt x="130126" y="175846"/>
                </a:cubicBezTo>
                <a:close/>
              </a:path>
            </a:pathLst>
          </a:custGeom>
          <a:solidFill xmlns:a="http://schemas.openxmlformats.org/drawingml/2006/main">
            <a:srgbClr val="E6B450"/>
          </a:solidFill>
        </p:spPr>
      </p:sp>
      <p:sp>
        <p:nvSpPr>
          <p:cNvPr id="22" name="Text 20">
            <a:extLst xmlns:a="http://schemas.openxmlformats.org/drawingml/2006/main">
              <a:ext uri="{FF2B5EF4-FFF2-40B4-BE49-F238E27FC236}">
                <a16:creationId xmlns:a16="http://schemas.microsoft.com/office/drawing/2014/main" id="{4CCBB740-C184-48EE-B404-BCF65E9D6BA5}"/>
              </a:ext>
            </a:extLst>
          </p:cNvPr>
          <p:cNvSpPr>
            <a:spLocks xmlns:a="http://schemas.openxmlformats.org/drawingml/2006/main" noGrp="1"/>
          </p:cNvSpPr>
          <p:nvPr/>
        </p:nvSpPr>
        <p:spPr>
          <a:xfrm xmlns:a="http://schemas.openxmlformats.org/drawingml/2006/main">
            <a:off x="1069145" y="4574345"/>
            <a:ext cx="4914314" cy="30011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二次贝塞尔曲线公式</a:t>
            </a:r>
            <a:endParaRPr/>
          </a:p>
        </p:txBody>
      </p:sp>
      <p:sp>
        <p:nvSpPr>
          <p:cNvPr id="23" name="Text 21">
            <a:extLst xmlns:a="http://schemas.openxmlformats.org/drawingml/2006/main">
              <a:ext uri="{FF2B5EF4-FFF2-40B4-BE49-F238E27FC236}">
                <a16:creationId xmlns:a16="http://schemas.microsoft.com/office/drawing/2014/main" id="{2871C62F-84C5-4F8D-BC37-6438547C4A62}"/>
              </a:ext>
            </a:extLst>
          </p:cNvPr>
          <p:cNvSpPr>
            <a:spLocks xmlns:a="http://schemas.openxmlformats.org/drawingml/2006/main" noGrp="1"/>
          </p:cNvSpPr>
          <p:nvPr/>
        </p:nvSpPr>
        <p:spPr>
          <a:xfrm xmlns:a="http://schemas.openxmlformats.org/drawingml/2006/main">
            <a:off x="1069144" y="4986997"/>
            <a:ext cx="6113975" cy="271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将上式中的</a:t>
            </a:r>
            <a:r>
              <a:rPr sz="1600">
                <a:latin typeface="微软雅黑"/>
                <a:ea typeface="微软雅黑"/>
                <a:cs typeface="微软雅黑"/>
              </a:rPr>
              <a:t>A</a:t>
            </a:r>
            <a:r>
              <a:rPr sz="1600">
                <a:latin typeface="微软雅黑"/>
                <a:ea typeface="微软雅黑"/>
                <a:cs typeface="微软雅黑"/>
              </a:rPr>
              <a:t>、</a:t>
            </a:r>
            <a:r>
              <a:rPr sz="1600">
                <a:latin typeface="微软雅黑"/>
                <a:ea typeface="微软雅黑"/>
                <a:cs typeface="微软雅黑"/>
              </a:rPr>
              <a:t>B</a:t>
            </a:r>
            <a:r>
              <a:rPr sz="1600">
                <a:latin typeface="微软雅黑"/>
                <a:ea typeface="微软雅黑"/>
                <a:cs typeface="微软雅黑"/>
              </a:rPr>
              <a:t>带入</a:t>
            </a:r>
            <a:r>
              <a:rPr sz="1600">
                <a:latin typeface="微软雅黑"/>
                <a:ea typeface="微软雅黑"/>
                <a:cs typeface="微软雅黑"/>
              </a:rPr>
              <a:t>C</a:t>
            </a:r>
            <a:r>
              <a:rPr sz="1600">
                <a:latin typeface="微软雅黑"/>
                <a:ea typeface="微软雅黑"/>
                <a:cs typeface="微软雅黑"/>
              </a:rPr>
              <a:t>中，即可得到二次贝塞尔曲线的公式</a:t>
            </a:r>
            <a:r>
              <a:rPr sz="1600">
                <a:latin typeface="微软雅黑"/>
                <a:ea typeface="微软雅黑"/>
                <a:cs typeface="微软雅黑"/>
              </a:rPr>
              <a:t>：</a:t>
            </a:r>
            <a:endParaRPr sz="2000"/>
          </a:p>
        </p:txBody>
      </p:sp>
      <p:sp>
        <p:nvSpPr>
          <p:cNvPr id="24" name="Shape 22">
            <a:extLst xmlns:a="http://schemas.openxmlformats.org/drawingml/2006/main">
              <a:ext uri="{FF2B5EF4-FFF2-40B4-BE49-F238E27FC236}">
                <a16:creationId xmlns:a16="http://schemas.microsoft.com/office/drawing/2014/main" id="{CEFCBDA9-475C-4C77-8AFE-DC8A9C90A2DA}"/>
              </a:ext>
            </a:extLst>
          </p:cNvPr>
          <p:cNvSpPr>
            <a:spLocks xmlns:a="http://schemas.openxmlformats.org/drawingml/2006/main" noGrp="1"/>
          </p:cNvSpPr>
          <p:nvPr/>
        </p:nvSpPr>
        <p:spPr>
          <a:xfrm xmlns:a="http://schemas.openxmlformats.org/drawingml/2006/main">
            <a:off x="1073834" y="5378548"/>
            <a:ext cx="4792394" cy="872197"/>
          </a:xfrm>
          <a:custGeom xmlns:a="http://schemas.openxmlformats.org/drawingml/2006/main">
            <a:rect l="l" t="t" r="r" b="b"/>
            <a:pathLst>
              <a:path w="4792394" h="872197">
                <a:moveTo>
                  <a:pt x="75026" y="0"/>
                </a:moveTo>
                <a:lnTo>
                  <a:pt x="4717367" y="0"/>
                </a:lnTo>
                <a:cubicBezTo>
                  <a:pt x="4758803" y="0"/>
                  <a:pt x="4792394" y="33590"/>
                  <a:pt x="4792394" y="75026"/>
                </a:cubicBezTo>
                <a:lnTo>
                  <a:pt x="4792394" y="797171"/>
                </a:lnTo>
                <a:cubicBezTo>
                  <a:pt x="4792394" y="838606"/>
                  <a:pt x="4758803" y="872197"/>
                  <a:pt x="4717367" y="872197"/>
                </a:cubicBezTo>
                <a:lnTo>
                  <a:pt x="75026" y="872197"/>
                </a:lnTo>
                <a:cubicBezTo>
                  <a:pt x="33618" y="872197"/>
                  <a:pt x="0" y="838579"/>
                  <a:pt x="0" y="797171"/>
                </a:cubicBezTo>
                <a:lnTo>
                  <a:pt x="0" y="75026"/>
                </a:lnTo>
                <a:cubicBezTo>
                  <a:pt x="0" y="33618"/>
                  <a:pt x="33618" y="0"/>
                  <a:pt x="75026"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7" name="Shape 25">
            <a:extLst xmlns:a="http://schemas.openxmlformats.org/drawingml/2006/main">
              <a:ext uri="{FF2B5EF4-FFF2-40B4-BE49-F238E27FC236}">
                <a16:creationId xmlns:a16="http://schemas.microsoft.com/office/drawing/2014/main" id="{F6CA7938-D4CE-4C65-8D11-F0927F2918DD}"/>
              </a:ext>
            </a:extLst>
          </p:cNvPr>
          <p:cNvSpPr>
            <a:spLocks xmlns:a="http://schemas.openxmlformats.org/drawingml/2006/main" noGrp="1"/>
          </p:cNvSpPr>
          <p:nvPr/>
        </p:nvSpPr>
        <p:spPr>
          <a:xfrm xmlns:a="http://schemas.openxmlformats.org/drawingml/2006/main">
            <a:off x="8215972" y="1711569"/>
            <a:ext cx="3591951" cy="4764258"/>
          </a:xfrm>
          <a:custGeom xmlns:a="http://schemas.openxmlformats.org/drawingml/2006/main">
            <a:rect l="l" t="t" r="r" b="b"/>
            <a:pathLst>
              <a:path w="3591951" h="4764258">
                <a:moveTo>
                  <a:pt x="112536" y="0"/>
                </a:moveTo>
                <a:lnTo>
                  <a:pt x="3479415" y="0"/>
                </a:lnTo>
                <a:cubicBezTo>
                  <a:pt x="3541567" y="0"/>
                  <a:pt x="3591951" y="50384"/>
                  <a:pt x="3591951" y="112536"/>
                </a:cubicBezTo>
                <a:lnTo>
                  <a:pt x="3591951" y="4651723"/>
                </a:lnTo>
                <a:cubicBezTo>
                  <a:pt x="3591951" y="4713874"/>
                  <a:pt x="3541567" y="4764258"/>
                  <a:pt x="3479415" y="4764258"/>
                </a:cubicBezTo>
                <a:lnTo>
                  <a:pt x="112536" y="4764258"/>
                </a:lnTo>
                <a:cubicBezTo>
                  <a:pt x="50384" y="4764258"/>
                  <a:pt x="0" y="4713874"/>
                  <a:pt x="0" y="4651723"/>
                </a:cubicBezTo>
                <a:lnTo>
                  <a:pt x="0" y="112536"/>
                </a:lnTo>
                <a:cubicBezTo>
                  <a:pt x="0" y="50426"/>
                  <a:pt x="50426" y="0"/>
                  <a:pt x="112536"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8" name="Shape 26">
            <a:extLst xmlns:a="http://schemas.openxmlformats.org/drawingml/2006/main">
              <a:ext uri="{FF2B5EF4-FFF2-40B4-BE49-F238E27FC236}">
                <a16:creationId xmlns:a16="http://schemas.microsoft.com/office/drawing/2014/main" id="{30F24AFA-885C-4CB1-AB3A-17620FCB6872}"/>
              </a:ext>
            </a:extLst>
          </p:cNvPr>
          <p:cNvSpPr>
            <a:spLocks xmlns:a="http://schemas.openxmlformats.org/drawingml/2006/main" noGrp="1"/>
          </p:cNvSpPr>
          <p:nvPr/>
        </p:nvSpPr>
        <p:spPr>
          <a:xfrm xmlns:a="http://schemas.openxmlformats.org/drawingml/2006/main">
            <a:off x="8445744" y="1978855"/>
            <a:ext cx="234462" cy="187569"/>
          </a:xfrm>
          <a:custGeom xmlns:a="http://schemas.openxmlformats.org/drawingml/2006/main">
            <a:rect l="l" t="t" r="r" b="b"/>
            <a:pathLst>
              <a:path w="234462" h="187569">
                <a:moveTo>
                  <a:pt x="108438" y="49823"/>
                </a:moveTo>
                <a:lnTo>
                  <a:pt x="108438" y="32238"/>
                </a:lnTo>
                <a:lnTo>
                  <a:pt x="126023" y="32238"/>
                </a:lnTo>
                <a:lnTo>
                  <a:pt x="126023" y="49823"/>
                </a:lnTo>
                <a:lnTo>
                  <a:pt x="108438" y="49823"/>
                </a:lnTo>
                <a:close/>
                <a:moveTo>
                  <a:pt x="105508" y="11723"/>
                </a:moveTo>
                <a:cubicBezTo>
                  <a:pt x="95800" y="11723"/>
                  <a:pt x="87923" y="19600"/>
                  <a:pt x="87923" y="29308"/>
                </a:cubicBezTo>
                <a:lnTo>
                  <a:pt x="87923" y="30773"/>
                </a:lnTo>
                <a:lnTo>
                  <a:pt x="44548" y="30773"/>
                </a:lnTo>
                <a:cubicBezTo>
                  <a:pt x="40738" y="22970"/>
                  <a:pt x="32715" y="17585"/>
                  <a:pt x="23446" y="17585"/>
                </a:cubicBezTo>
                <a:cubicBezTo>
                  <a:pt x="10514" y="17585"/>
                  <a:pt x="0" y="28099"/>
                  <a:pt x="0" y="41031"/>
                </a:cubicBezTo>
                <a:cubicBezTo>
                  <a:pt x="0" y="53963"/>
                  <a:pt x="10514" y="64477"/>
                  <a:pt x="23446" y="64477"/>
                </a:cubicBezTo>
                <a:cubicBezTo>
                  <a:pt x="32715" y="64477"/>
                  <a:pt x="40738" y="59092"/>
                  <a:pt x="44548" y="51288"/>
                </a:cubicBezTo>
                <a:lnTo>
                  <a:pt x="69056" y="51288"/>
                </a:lnTo>
                <a:cubicBezTo>
                  <a:pt x="47478" y="65796"/>
                  <a:pt x="32825" y="89755"/>
                  <a:pt x="30956" y="117231"/>
                </a:cubicBezTo>
                <a:lnTo>
                  <a:pt x="29308" y="117231"/>
                </a:lnTo>
                <a:cubicBezTo>
                  <a:pt x="19600" y="117231"/>
                  <a:pt x="11723" y="125107"/>
                  <a:pt x="11723" y="134815"/>
                </a:cubicBezTo>
                <a:lnTo>
                  <a:pt x="11723" y="158262"/>
                </a:lnTo>
                <a:cubicBezTo>
                  <a:pt x="11723" y="167970"/>
                  <a:pt x="19600" y="175846"/>
                  <a:pt x="29308" y="175846"/>
                </a:cubicBezTo>
                <a:lnTo>
                  <a:pt x="52754" y="175846"/>
                </a:lnTo>
                <a:cubicBezTo>
                  <a:pt x="62462" y="175846"/>
                  <a:pt x="70338" y="167970"/>
                  <a:pt x="70338" y="158262"/>
                </a:cubicBezTo>
                <a:lnTo>
                  <a:pt x="70338" y="134815"/>
                </a:lnTo>
                <a:cubicBezTo>
                  <a:pt x="70338" y="125107"/>
                  <a:pt x="62462" y="117231"/>
                  <a:pt x="52754" y="117231"/>
                </a:cubicBezTo>
                <a:lnTo>
                  <a:pt x="51545" y="117231"/>
                </a:lnTo>
                <a:cubicBezTo>
                  <a:pt x="53706" y="92686"/>
                  <a:pt x="69313" y="72024"/>
                  <a:pt x="90927" y="62609"/>
                </a:cubicBezTo>
                <a:cubicBezTo>
                  <a:pt x="94078" y="67261"/>
                  <a:pt x="99426" y="70338"/>
                  <a:pt x="105508" y="70338"/>
                </a:cubicBezTo>
                <a:lnTo>
                  <a:pt x="128954" y="70338"/>
                </a:lnTo>
                <a:cubicBezTo>
                  <a:pt x="135035" y="70338"/>
                  <a:pt x="140347" y="67261"/>
                  <a:pt x="143534" y="62609"/>
                </a:cubicBezTo>
                <a:cubicBezTo>
                  <a:pt x="165149" y="72024"/>
                  <a:pt x="180755" y="92686"/>
                  <a:pt x="182917" y="117231"/>
                </a:cubicBezTo>
                <a:lnTo>
                  <a:pt x="181708" y="117231"/>
                </a:lnTo>
                <a:cubicBezTo>
                  <a:pt x="172000" y="117231"/>
                  <a:pt x="164123" y="125107"/>
                  <a:pt x="164123" y="134815"/>
                </a:cubicBezTo>
                <a:lnTo>
                  <a:pt x="164123" y="158262"/>
                </a:lnTo>
                <a:cubicBezTo>
                  <a:pt x="164123" y="167970"/>
                  <a:pt x="172000" y="175846"/>
                  <a:pt x="181708" y="175846"/>
                </a:cubicBezTo>
                <a:lnTo>
                  <a:pt x="205154" y="175846"/>
                </a:lnTo>
                <a:cubicBezTo>
                  <a:pt x="214862" y="175846"/>
                  <a:pt x="222738" y="167970"/>
                  <a:pt x="222738" y="158262"/>
                </a:cubicBezTo>
                <a:lnTo>
                  <a:pt x="222738" y="134815"/>
                </a:lnTo>
                <a:cubicBezTo>
                  <a:pt x="222738" y="125107"/>
                  <a:pt x="214862" y="117231"/>
                  <a:pt x="205154" y="117231"/>
                </a:cubicBezTo>
                <a:lnTo>
                  <a:pt x="203505" y="117231"/>
                </a:lnTo>
                <a:cubicBezTo>
                  <a:pt x="201674" y="89755"/>
                  <a:pt x="186983" y="65796"/>
                  <a:pt x="165405" y="51288"/>
                </a:cubicBezTo>
                <a:lnTo>
                  <a:pt x="189914" y="51288"/>
                </a:lnTo>
                <a:cubicBezTo>
                  <a:pt x="193724" y="59092"/>
                  <a:pt x="201747" y="64477"/>
                  <a:pt x="211015" y="64477"/>
                </a:cubicBezTo>
                <a:cubicBezTo>
                  <a:pt x="223947" y="64477"/>
                  <a:pt x="234462" y="53963"/>
                  <a:pt x="234462" y="41031"/>
                </a:cubicBezTo>
                <a:cubicBezTo>
                  <a:pt x="234462" y="28099"/>
                  <a:pt x="223947" y="17585"/>
                  <a:pt x="211015" y="17585"/>
                </a:cubicBezTo>
                <a:cubicBezTo>
                  <a:pt x="201747" y="17585"/>
                  <a:pt x="193724" y="22970"/>
                  <a:pt x="189914" y="30773"/>
                </a:cubicBezTo>
                <a:lnTo>
                  <a:pt x="146538" y="30773"/>
                </a:lnTo>
                <a:lnTo>
                  <a:pt x="146538" y="29308"/>
                </a:lnTo>
                <a:cubicBezTo>
                  <a:pt x="146538" y="19600"/>
                  <a:pt x="138662" y="11723"/>
                  <a:pt x="128954" y="11723"/>
                </a:cubicBezTo>
                <a:lnTo>
                  <a:pt x="105508" y="11723"/>
                </a:lnTo>
                <a:close/>
                <a:moveTo>
                  <a:pt x="32238" y="137746"/>
                </a:moveTo>
                <a:lnTo>
                  <a:pt x="49823" y="137746"/>
                </a:lnTo>
                <a:lnTo>
                  <a:pt x="49823" y="155331"/>
                </a:lnTo>
                <a:lnTo>
                  <a:pt x="32238" y="155331"/>
                </a:lnTo>
                <a:lnTo>
                  <a:pt x="32238" y="137746"/>
                </a:lnTo>
                <a:close/>
                <a:moveTo>
                  <a:pt x="184638" y="155331"/>
                </a:moveTo>
                <a:lnTo>
                  <a:pt x="184638" y="137746"/>
                </a:lnTo>
                <a:lnTo>
                  <a:pt x="202223" y="137746"/>
                </a:lnTo>
                <a:lnTo>
                  <a:pt x="202223" y="155331"/>
                </a:lnTo>
                <a:lnTo>
                  <a:pt x="184638" y="155331"/>
                </a:lnTo>
                <a:close/>
              </a:path>
            </a:pathLst>
          </a:custGeom>
          <a:solidFill xmlns:a="http://schemas.openxmlformats.org/drawingml/2006/main">
            <a:srgbClr val="E6B450"/>
          </a:solidFill>
        </p:spPr>
      </p:sp>
      <p:sp>
        <p:nvSpPr>
          <p:cNvPr id="29" name="Text 27">
            <a:extLst xmlns:a="http://schemas.openxmlformats.org/drawingml/2006/main">
              <a:ext uri="{FF2B5EF4-FFF2-40B4-BE49-F238E27FC236}">
                <a16:creationId xmlns:a16="http://schemas.microsoft.com/office/drawing/2014/main" id="{1989653E-EC6C-4733-B1B8-DD5E1202AD47}"/>
              </a:ext>
            </a:extLst>
          </p:cNvPr>
          <p:cNvSpPr>
            <a:spLocks xmlns:a="http://schemas.openxmlformats.org/drawingml/2006/main" noGrp="1"/>
          </p:cNvSpPr>
          <p:nvPr/>
        </p:nvSpPr>
        <p:spPr>
          <a:xfrm xmlns:a="http://schemas.openxmlformats.org/drawingml/2006/main">
            <a:off x="8680206" y="1941342"/>
            <a:ext cx="2991729" cy="26259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二次贝塞尔曲线示意</a:t>
            </a:r>
            <a:endParaRPr sz="1600"/>
          </a:p>
        </p:txBody>
      </p:sp>
      <p:sp>
        <p:nvSpPr>
          <p:cNvPr id="40" name="Shape 36">
            <a:extLst xmlns:a="http://schemas.openxmlformats.org/drawingml/2006/main">
              <a:ext uri="{FF2B5EF4-FFF2-40B4-BE49-F238E27FC236}">
                <a16:creationId xmlns:a16="http://schemas.microsoft.com/office/drawing/2014/main" id="{E88E11FE-555B-4845-842C-E8BB42A95631}"/>
              </a:ext>
            </a:extLst>
          </p:cNvPr>
          <p:cNvSpPr>
            <a:spLocks xmlns:a="http://schemas.openxmlformats.org/drawingml/2006/main" noGrp="1"/>
          </p:cNvSpPr>
          <p:nvPr/>
        </p:nvSpPr>
        <p:spPr>
          <a:xfrm xmlns:a="http://schemas.openxmlformats.org/drawingml/2006/main">
            <a:off x="8445744" y="5720862"/>
            <a:ext cx="3132406" cy="525194"/>
          </a:xfrm>
          <a:custGeom xmlns:a="http://schemas.openxmlformats.org/drawingml/2006/main">
            <a:rect l="l" t="t" r="r" b="b"/>
            <a:pathLst>
              <a:path w="3132406" h="525194">
                <a:moveTo>
                  <a:pt x="75029" y="0"/>
                </a:moveTo>
                <a:lnTo>
                  <a:pt x="3057377" y="0"/>
                </a:lnTo>
                <a:cubicBezTo>
                  <a:pt x="3098814" y="0"/>
                  <a:pt x="3132406" y="33592"/>
                  <a:pt x="3132406" y="75029"/>
                </a:cubicBezTo>
                <a:lnTo>
                  <a:pt x="3132406" y="450165"/>
                </a:lnTo>
                <a:cubicBezTo>
                  <a:pt x="3132406" y="491602"/>
                  <a:pt x="3098814" y="525194"/>
                  <a:pt x="3057377" y="525194"/>
                </a:cubicBezTo>
                <a:lnTo>
                  <a:pt x="75029" y="525194"/>
                </a:lnTo>
                <a:cubicBezTo>
                  <a:pt x="33619" y="525194"/>
                  <a:pt x="0" y="491574"/>
                  <a:pt x="0" y="450165"/>
                </a:cubicBezTo>
                <a:lnTo>
                  <a:pt x="0" y="75029"/>
                </a:lnTo>
                <a:cubicBezTo>
                  <a:pt x="0" y="33592"/>
                  <a:pt x="33592" y="0"/>
                  <a:pt x="75029" y="0"/>
                </a:cubicBezTo>
                <a:close/>
              </a:path>
            </a:pathLst>
          </a:custGeom>
          <a:solidFill xmlns:a="http://schemas.openxmlformats.org/drawingml/2006/main">
            <a:srgbClr val="5F87A7">
              <a:alpha val="20000"/>
            </a:srgbClr>
          </a:solidFill>
        </p:spPr>
      </p:sp>
      <p:sp>
        <p:nvSpPr>
          <p:cNvPr id="41" name="Shape 37">
            <a:extLst xmlns:a="http://schemas.openxmlformats.org/drawingml/2006/main">
              <a:ext uri="{FF2B5EF4-FFF2-40B4-BE49-F238E27FC236}">
                <a16:creationId xmlns:a16="http://schemas.microsoft.com/office/drawing/2014/main" id="{111AC9A1-A4A2-40D5-958B-79940206721A}"/>
              </a:ext>
            </a:extLst>
          </p:cNvPr>
          <p:cNvSpPr>
            <a:spLocks xmlns:a="http://schemas.openxmlformats.org/drawingml/2006/main" noGrp="1"/>
          </p:cNvSpPr>
          <p:nvPr/>
        </p:nvSpPr>
        <p:spPr>
          <a:xfrm xmlns:a="http://schemas.openxmlformats.org/drawingml/2006/main">
            <a:off x="8747612" y="5908431"/>
            <a:ext cx="150055" cy="150055"/>
          </a:xfrm>
          <a:custGeom xmlns:a="http://schemas.openxmlformats.org/drawingml/2006/main">
            <a:rect l="l" t="t" r="r" b="b"/>
            <a:pathLst>
              <a:path w="150055" h="150055">
                <a:moveTo>
                  <a:pt x="75028" y="150055"/>
                </a:moveTo>
                <a:cubicBezTo>
                  <a:pt x="116437" y="150055"/>
                  <a:pt x="150055" y="116437"/>
                  <a:pt x="150055" y="75028"/>
                </a:cubicBezTo>
                <a:cubicBezTo>
                  <a:pt x="150055" y="33619"/>
                  <a:pt x="116437" y="0"/>
                  <a:pt x="75028" y="0"/>
                </a:cubicBezTo>
                <a:cubicBezTo>
                  <a:pt x="33619" y="0"/>
                  <a:pt x="0" y="33619"/>
                  <a:pt x="0" y="75028"/>
                </a:cubicBezTo>
                <a:cubicBezTo>
                  <a:pt x="0" y="116437"/>
                  <a:pt x="33619" y="150055"/>
                  <a:pt x="75028" y="150055"/>
                </a:cubicBezTo>
                <a:close/>
                <a:moveTo>
                  <a:pt x="65649" y="46892"/>
                </a:moveTo>
                <a:cubicBezTo>
                  <a:pt x="65649" y="41716"/>
                  <a:pt x="69852" y="37514"/>
                  <a:pt x="75028" y="37514"/>
                </a:cubicBezTo>
                <a:cubicBezTo>
                  <a:pt x="80204" y="37514"/>
                  <a:pt x="84406" y="41716"/>
                  <a:pt x="84406" y="46892"/>
                </a:cubicBezTo>
                <a:cubicBezTo>
                  <a:pt x="84406" y="52068"/>
                  <a:pt x="80204" y="56271"/>
                  <a:pt x="75028" y="56271"/>
                </a:cubicBezTo>
                <a:cubicBezTo>
                  <a:pt x="69852" y="56271"/>
                  <a:pt x="65649" y="52068"/>
                  <a:pt x="65649" y="46892"/>
                </a:cubicBezTo>
                <a:close/>
                <a:moveTo>
                  <a:pt x="63305" y="65649"/>
                </a:moveTo>
                <a:lnTo>
                  <a:pt x="77372" y="65649"/>
                </a:lnTo>
                <a:cubicBezTo>
                  <a:pt x="81270" y="65649"/>
                  <a:pt x="84406" y="68785"/>
                  <a:pt x="84406" y="72683"/>
                </a:cubicBezTo>
                <a:lnTo>
                  <a:pt x="84406" y="98474"/>
                </a:lnTo>
                <a:lnTo>
                  <a:pt x="86751" y="98474"/>
                </a:lnTo>
                <a:cubicBezTo>
                  <a:pt x="90649" y="98474"/>
                  <a:pt x="93785" y="101610"/>
                  <a:pt x="93785" y="105508"/>
                </a:cubicBezTo>
                <a:cubicBezTo>
                  <a:pt x="93785" y="109406"/>
                  <a:pt x="90649" y="112542"/>
                  <a:pt x="86751" y="112542"/>
                </a:cubicBezTo>
                <a:lnTo>
                  <a:pt x="63305" y="112542"/>
                </a:lnTo>
                <a:cubicBezTo>
                  <a:pt x="59407" y="112542"/>
                  <a:pt x="56271" y="109406"/>
                  <a:pt x="56271" y="105508"/>
                </a:cubicBezTo>
                <a:cubicBezTo>
                  <a:pt x="56271" y="101610"/>
                  <a:pt x="59407" y="98474"/>
                  <a:pt x="63305" y="98474"/>
                </a:cubicBezTo>
                <a:lnTo>
                  <a:pt x="70338" y="98474"/>
                </a:lnTo>
                <a:lnTo>
                  <a:pt x="70338" y="79717"/>
                </a:lnTo>
                <a:lnTo>
                  <a:pt x="63305" y="79717"/>
                </a:lnTo>
                <a:cubicBezTo>
                  <a:pt x="59407" y="79717"/>
                  <a:pt x="56271" y="76581"/>
                  <a:pt x="56271" y="72683"/>
                </a:cubicBezTo>
                <a:cubicBezTo>
                  <a:pt x="56271" y="68785"/>
                  <a:pt x="59407" y="65649"/>
                  <a:pt x="63305" y="65649"/>
                </a:cubicBezTo>
                <a:close/>
              </a:path>
            </a:pathLst>
          </a:custGeom>
          <a:solidFill xmlns:a="http://schemas.openxmlformats.org/drawingml/2006/main">
            <a:srgbClr val="E6B450"/>
          </a:solidFill>
        </p:spPr>
      </p:sp>
      <p:sp>
        <p:nvSpPr>
          <p:cNvPr id="42" name="Text 38">
            <a:extLst xmlns:a="http://schemas.openxmlformats.org/drawingml/2006/main">
              <a:ext uri="{FF2B5EF4-FFF2-40B4-BE49-F238E27FC236}">
                <a16:creationId xmlns:a16="http://schemas.microsoft.com/office/drawing/2014/main" id="{90874C5F-BA1B-4051-8F5E-BA354E32C184}"/>
              </a:ext>
            </a:extLst>
          </p:cNvPr>
          <p:cNvSpPr>
            <a:spLocks xmlns:a="http://schemas.openxmlformats.org/drawingml/2006/main" noGrp="1"/>
          </p:cNvSpPr>
          <p:nvPr/>
        </p:nvSpPr>
        <p:spPr>
          <a:xfrm xmlns:a="http://schemas.openxmlformats.org/drawingml/2006/main">
            <a:off x="8801260" y="5870917"/>
            <a:ext cx="2664349" cy="22508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buNone/>
            </a:pPr>
            <a:r>
              <a:rPr sz="1600">
                <a:latin typeface="微软雅黑"/>
                <a:ea typeface="微软雅黑"/>
                <a:cs typeface="微软雅黑"/>
              </a:rPr>
              <a:t>二次贝塞尔曲线是抛物线</a:t>
            </a:r>
            <a:endParaRPr sz="1600"/>
          </a:p>
        </p:txBody>
      </p:sp>
      <p:sp>
        <p:nvSpPr>
          <p:cNvPr id="44" name="矩形 43">
            <a:extLst xmlns:a="http://schemas.openxmlformats.org/drawingml/2006/main">
              <a:ext uri="{FF2B5EF4-FFF2-40B4-BE49-F238E27FC236}">
                <a16:creationId xmlns:a16="http://schemas.microsoft.com/office/drawing/2014/main" id="{7BF80386-B86D-50A3-83B7-3121ED7E026C}"/>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文本框 44">
            <a:extLst xmlns:a="http://schemas.openxmlformats.org/drawingml/2006/main">
              <a:ext uri="{FF2B5EF4-FFF2-40B4-BE49-F238E27FC236}">
                <a16:creationId xmlns:a16="http://schemas.microsoft.com/office/drawing/2014/main" id="{A02DB12A-72AD-8D7A-F11F-A9FA71546CED}"/>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pic>
        <p:nvPicPr>
          <p:cNvPr id="69" name="图片 45"/>
          <p:cNvPicPr>
            <a:picLocks xmlns:a="http://schemas.openxmlformats.org/drawingml/2006/main" noChangeAspect="1"/>
          </p:cNvPicPr>
          <p:nvPr/>
        </p:nvPicPr>
        <p:blipFill>
          <a:blip xmlns:r="http://schemas.openxmlformats.org/officeDocument/2006/relationships" xmlns:a="http://schemas.openxmlformats.org/drawingml/2006/main" r:embed="R55464db1540945a1">
            <a:clrChange>
              <a:clrFrom>
                <a:srgbClr val="FFFFFF"/>
              </a:clrFrom>
              <a:clrTo>
                <a:srgbClr val="FFFFFF">
                  <a:alpha val="0"/>
                </a:srgbClr>
              </a:clrTo>
            </a:clrChange>
          </a:blip>
          <a:srcRect xmlns:a="http://schemas.openxmlformats.org/drawingml/2006/main" l="0" t="0" r="0" b="0"/>
          <a:stretch xmlns:a="http://schemas.openxmlformats.org/drawingml/2006/main">
            <a:fillRect l="0" t="0" r="0" b="0"/>
          </a:stretch>
        </p:blipFill>
        <p:spPr>
          <a:xfrm xmlns:a="http://schemas.openxmlformats.org/drawingml/2006/main">
            <a:off x="8807536" y="3153800"/>
            <a:ext cx="3049124" cy="1846583"/>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049529111"/>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35868B6B-71E7-4CA3-8C7E-F38E54E600F0}"/>
              </a:ext>
            </a:extLst>
          </p:cNvPr>
          <p:cNvSpPr>
            <a:spLocks xmlns:a="http://schemas.openxmlformats.org/drawingml/2006/main" noGrp="1"/>
          </p:cNvSpPr>
          <p:nvPr/>
        </p:nvSpPr>
        <p:spPr>
          <a:xfrm xmlns:a="http://schemas.openxmlformats.org/drawingml/2006/main">
            <a:off x="333375" y="1617806"/>
            <a:ext cx="8239125" cy="1396023"/>
          </a:xfrm>
          <a:custGeom xmlns:a="http://schemas.openxmlformats.org/drawingml/2006/main">
            <a:rect l="l" t="t" r="r" b="b"/>
            <a:pathLst>
              <a:path w="8239125" h="1809750">
                <a:moveTo>
                  <a:pt x="31750" y="0"/>
                </a:moveTo>
                <a:lnTo>
                  <a:pt x="8143878" y="0"/>
                </a:lnTo>
                <a:cubicBezTo>
                  <a:pt x="8196481" y="0"/>
                  <a:pt x="8239125" y="42644"/>
                  <a:pt x="8239125" y="95247"/>
                </a:cubicBezTo>
                <a:lnTo>
                  <a:pt x="8239125" y="1714503"/>
                </a:lnTo>
                <a:cubicBezTo>
                  <a:pt x="8239125" y="1767106"/>
                  <a:pt x="8196481" y="1809750"/>
                  <a:pt x="8143878" y="1809750"/>
                </a:cubicBezTo>
                <a:lnTo>
                  <a:pt x="31750" y="1809750"/>
                </a:lnTo>
                <a:cubicBezTo>
                  <a:pt x="14215" y="1809750"/>
                  <a:pt x="0" y="1795535"/>
                  <a:pt x="0" y="1778000"/>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B94B8109-31F8-471D-A55D-C1A66C6B430C}"/>
              </a:ext>
            </a:extLst>
          </p:cNvPr>
          <p:cNvSpPr>
            <a:spLocks xmlns:a="http://schemas.openxmlformats.org/drawingml/2006/main" noGrp="1"/>
          </p:cNvSpPr>
          <p:nvPr/>
        </p:nvSpPr>
        <p:spPr>
          <a:xfrm xmlns:a="http://schemas.openxmlformats.org/drawingml/2006/main">
            <a:off x="333375" y="1617806"/>
            <a:ext cx="31750" cy="1399091"/>
          </a:xfrm>
          <a:custGeom xmlns:a="http://schemas.openxmlformats.org/drawingml/2006/main">
            <a:rect l="l" t="t" r="r" b="b"/>
            <a:pathLst>
              <a:path w="31750" h="1809750">
                <a:moveTo>
                  <a:pt x="31750" y="0"/>
                </a:moveTo>
                <a:lnTo>
                  <a:pt x="31750" y="0"/>
                </a:lnTo>
                <a:lnTo>
                  <a:pt x="31750" y="1809750"/>
                </a:lnTo>
                <a:lnTo>
                  <a:pt x="31750" y="1809750"/>
                </a:lnTo>
                <a:cubicBezTo>
                  <a:pt x="14227" y="1809750"/>
                  <a:pt x="0" y="1795523"/>
                  <a:pt x="0" y="1778000"/>
                </a:cubicBezTo>
                <a:lnTo>
                  <a:pt x="0" y="31750"/>
                </a:lnTo>
                <a:cubicBezTo>
                  <a:pt x="0" y="14227"/>
                  <a:pt x="14227" y="0"/>
                  <a:pt x="3175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AE28D07A-9A25-4345-9047-423C31629DEB}"/>
              </a:ext>
            </a:extLst>
          </p:cNvPr>
          <p:cNvSpPr>
            <a:spLocks xmlns:a="http://schemas.openxmlformats.org/drawingml/2006/main" noGrp="1"/>
          </p:cNvSpPr>
          <p:nvPr/>
        </p:nvSpPr>
        <p:spPr>
          <a:xfrm xmlns:a="http://schemas.openxmlformats.org/drawingml/2006/main">
            <a:off x="575469" y="1694586"/>
            <a:ext cx="166688" cy="190500"/>
          </a:xfrm>
          <a:custGeom xmlns:a="http://schemas.openxmlformats.org/drawingml/2006/main">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8" y="0"/>
                </a:lnTo>
                <a:cubicBezTo>
                  <a:pt x="158688" y="0"/>
                  <a:pt x="166688" y="8000"/>
                  <a:pt x="166688" y="17859"/>
                </a:cubicBezTo>
                <a:lnTo>
                  <a:pt x="166688" y="125016"/>
                </a:lnTo>
                <a:cubicBezTo>
                  <a:pt x="166688" y="132792"/>
                  <a:pt x="161702" y="139415"/>
                  <a:pt x="154781" y="141870"/>
                </a:cubicBezTo>
                <a:lnTo>
                  <a:pt x="154781" y="166688"/>
                </a:lnTo>
                <a:cubicBezTo>
                  <a:pt x="161367" y="166688"/>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8"/>
                  <a:pt x="35719" y="166688"/>
                </a:cubicBezTo>
                <a:lnTo>
                  <a:pt x="130969" y="166688"/>
                </a:lnTo>
                <a:lnTo>
                  <a:pt x="130969" y="142875"/>
                </a:lnTo>
                <a:lnTo>
                  <a:pt x="35719" y="142875"/>
                </a:lnTo>
                <a:close/>
                <a:moveTo>
                  <a:pt x="47625" y="56555"/>
                </a:moveTo>
                <a:cubicBezTo>
                  <a:pt x="47625" y="61503"/>
                  <a:pt x="51606" y="65484"/>
                  <a:pt x="56555" y="65484"/>
                </a:cubicBezTo>
                <a:lnTo>
                  <a:pt x="122039" y="65484"/>
                </a:lnTo>
                <a:cubicBezTo>
                  <a:pt x="126988" y="65484"/>
                  <a:pt x="130969" y="61503"/>
                  <a:pt x="130969" y="56555"/>
                </a:cubicBezTo>
                <a:cubicBezTo>
                  <a:pt x="130969" y="51606"/>
                  <a:pt x="126988" y="47625"/>
                  <a:pt x="122039" y="47625"/>
                </a:cubicBezTo>
                <a:lnTo>
                  <a:pt x="56555" y="47625"/>
                </a:lnTo>
                <a:cubicBezTo>
                  <a:pt x="51606" y="47625"/>
                  <a:pt x="47625" y="51606"/>
                  <a:pt x="47625" y="56555"/>
                </a:cubicBezTo>
                <a:close/>
                <a:moveTo>
                  <a:pt x="56555" y="83344"/>
                </a:moveTo>
                <a:cubicBezTo>
                  <a:pt x="51606" y="83344"/>
                  <a:pt x="47625" y="87325"/>
                  <a:pt x="47625" y="92273"/>
                </a:cubicBezTo>
                <a:cubicBezTo>
                  <a:pt x="47625" y="97222"/>
                  <a:pt x="51606" y="101203"/>
                  <a:pt x="56555" y="101203"/>
                </a:cubicBezTo>
                <a:lnTo>
                  <a:pt x="122039" y="101203"/>
                </a:lnTo>
                <a:cubicBezTo>
                  <a:pt x="126988" y="101203"/>
                  <a:pt x="130969" y="97222"/>
                  <a:pt x="130969" y="92273"/>
                </a:cubicBezTo>
                <a:cubicBezTo>
                  <a:pt x="130969" y="87325"/>
                  <a:pt x="126988" y="83344"/>
                  <a:pt x="122039" y="83344"/>
                </a:cubicBezTo>
                <a:lnTo>
                  <a:pt x="56555" y="83344"/>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75EEBA7B-D964-42AA-971B-EEDDDB7AFA92}"/>
              </a:ext>
            </a:extLst>
          </p:cNvPr>
          <p:cNvSpPr>
            <a:spLocks xmlns:a="http://schemas.openxmlformats.org/drawingml/2006/main" noGrp="1"/>
          </p:cNvSpPr>
          <p:nvPr/>
        </p:nvSpPr>
        <p:spPr>
          <a:xfrm xmlns:a="http://schemas.openxmlformats.org/drawingml/2006/main">
            <a:off x="904875" y="1662836"/>
            <a:ext cx="3717925"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3. 三次贝塞尔曲线（三次方公式）</a:t>
            </a:r>
            <a:endParaRPr/>
          </a:p>
        </p:txBody>
      </p:sp>
      <p:sp>
        <p:nvSpPr>
          <p:cNvPr id="9" name="Text 7">
            <a:extLst xmlns:a="http://schemas.openxmlformats.org/drawingml/2006/main">
              <a:ext uri="{FF2B5EF4-FFF2-40B4-BE49-F238E27FC236}">
                <a16:creationId xmlns:a16="http://schemas.microsoft.com/office/drawing/2014/main" id="{89E9EEB7-7DBC-464D-8B5F-19FAE886D34A}"/>
              </a:ext>
            </a:extLst>
          </p:cNvPr>
          <p:cNvSpPr>
            <a:spLocks xmlns:a="http://schemas.openxmlformats.org/drawingml/2006/main" noGrp="1"/>
          </p:cNvSpPr>
          <p:nvPr/>
        </p:nvSpPr>
        <p:spPr>
          <a:xfrm xmlns:a="http://schemas.openxmlformats.org/drawingml/2006/main">
            <a:off x="904875" y="2012086"/>
            <a:ext cx="3333750" cy="2301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同理可得三次贝塞尔曲线公式：</a:t>
            </a:r>
            <a:endParaRPr sz="2400"/>
          </a:p>
        </p:txBody>
      </p:sp>
      <p:sp>
        <p:nvSpPr>
          <p:cNvPr id="10" name="Shape 8">
            <a:extLst xmlns:a="http://schemas.openxmlformats.org/drawingml/2006/main">
              <a:ext uri="{FF2B5EF4-FFF2-40B4-BE49-F238E27FC236}">
                <a16:creationId xmlns:a16="http://schemas.microsoft.com/office/drawing/2014/main" id="{C58EEC59-7846-43DD-9BB1-780C0DF71F23}"/>
              </a:ext>
            </a:extLst>
          </p:cNvPr>
          <p:cNvSpPr>
            <a:spLocks xmlns:a="http://schemas.openxmlformats.org/drawingml/2006/main" noGrp="1"/>
          </p:cNvSpPr>
          <p:nvPr/>
        </p:nvSpPr>
        <p:spPr>
          <a:xfrm xmlns:a="http://schemas.openxmlformats.org/drawingml/2006/main">
            <a:off x="908844" y="2343478"/>
            <a:ext cx="5564115" cy="546100"/>
          </a:xfrm>
          <a:custGeom xmlns:a="http://schemas.openxmlformats.org/drawingml/2006/main">
            <a:rect l="l" t="t" r="r" b="b"/>
            <a:pathLst>
              <a:path w="3254375" h="746125">
                <a:moveTo>
                  <a:pt x="63503" y="0"/>
                </a:moveTo>
                <a:lnTo>
                  <a:pt x="3190872" y="0"/>
                </a:lnTo>
                <a:cubicBezTo>
                  <a:pt x="3225944" y="0"/>
                  <a:pt x="3254375" y="28431"/>
                  <a:pt x="3254375" y="63503"/>
                </a:cubicBezTo>
                <a:lnTo>
                  <a:pt x="3254375" y="682622"/>
                </a:lnTo>
                <a:cubicBezTo>
                  <a:pt x="3254375" y="717694"/>
                  <a:pt x="3225944" y="746125"/>
                  <a:pt x="3190872" y="746125"/>
                </a:cubicBezTo>
                <a:lnTo>
                  <a:pt x="63503" y="746125"/>
                </a:lnTo>
                <a:cubicBezTo>
                  <a:pt x="28431" y="746125"/>
                  <a:pt x="0" y="717694"/>
                  <a:pt x="0" y="682622"/>
                </a:cubicBezTo>
                <a:lnTo>
                  <a:pt x="0" y="63503"/>
                </a:lnTo>
                <a:cubicBezTo>
                  <a:pt x="0" y="28431"/>
                  <a:pt x="28431" y="0"/>
                  <a:pt x="63503"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3" name="Shape 11">
            <a:extLst xmlns:a="http://schemas.openxmlformats.org/drawingml/2006/main">
              <a:ext uri="{FF2B5EF4-FFF2-40B4-BE49-F238E27FC236}">
                <a16:creationId xmlns:a16="http://schemas.microsoft.com/office/drawing/2014/main" id="{E65CFA6D-B25C-472A-AC3A-A7BD945396C3}"/>
              </a:ext>
            </a:extLst>
          </p:cNvPr>
          <p:cNvSpPr>
            <a:spLocks xmlns:a="http://schemas.openxmlformats.org/drawingml/2006/main" noGrp="1"/>
          </p:cNvSpPr>
          <p:nvPr/>
        </p:nvSpPr>
        <p:spPr>
          <a:xfrm xmlns:a="http://schemas.openxmlformats.org/drawingml/2006/main">
            <a:off x="333375" y="3089597"/>
            <a:ext cx="8239125" cy="2012552"/>
          </a:xfrm>
          <a:custGeom xmlns:a="http://schemas.openxmlformats.org/drawingml/2006/main">
            <a:rect l="l" t="t" r="r" b="b"/>
            <a:pathLst>
              <a:path w="8239125" h="1809750">
                <a:moveTo>
                  <a:pt x="31750" y="0"/>
                </a:moveTo>
                <a:lnTo>
                  <a:pt x="8143878" y="0"/>
                </a:lnTo>
                <a:cubicBezTo>
                  <a:pt x="8196481" y="0"/>
                  <a:pt x="8239125" y="42644"/>
                  <a:pt x="8239125" y="95247"/>
                </a:cubicBezTo>
                <a:lnTo>
                  <a:pt x="8239125" y="1714503"/>
                </a:lnTo>
                <a:cubicBezTo>
                  <a:pt x="8239125" y="1767106"/>
                  <a:pt x="8196481" y="1809750"/>
                  <a:pt x="8143878" y="1809750"/>
                </a:cubicBezTo>
                <a:lnTo>
                  <a:pt x="31750" y="1809750"/>
                </a:lnTo>
                <a:cubicBezTo>
                  <a:pt x="14215" y="1809750"/>
                  <a:pt x="0" y="1795535"/>
                  <a:pt x="0" y="1778000"/>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4" name="Shape 12">
            <a:extLst xmlns:a="http://schemas.openxmlformats.org/drawingml/2006/main">
              <a:ext uri="{FF2B5EF4-FFF2-40B4-BE49-F238E27FC236}">
                <a16:creationId xmlns:a16="http://schemas.microsoft.com/office/drawing/2014/main" id="{383090B3-DECD-4F1C-BE03-88F0ED864616}"/>
              </a:ext>
            </a:extLst>
          </p:cNvPr>
          <p:cNvSpPr>
            <a:spLocks xmlns:a="http://schemas.openxmlformats.org/drawingml/2006/main" noGrp="1"/>
          </p:cNvSpPr>
          <p:nvPr/>
        </p:nvSpPr>
        <p:spPr>
          <a:xfrm xmlns:a="http://schemas.openxmlformats.org/drawingml/2006/main">
            <a:off x="333375" y="3089597"/>
            <a:ext cx="31750" cy="2012552"/>
          </a:xfrm>
          <a:custGeom xmlns:a="http://schemas.openxmlformats.org/drawingml/2006/main">
            <a:rect l="l" t="t" r="r" b="b"/>
            <a:pathLst>
              <a:path w="31750" h="1809750">
                <a:moveTo>
                  <a:pt x="31750" y="0"/>
                </a:moveTo>
                <a:lnTo>
                  <a:pt x="31750" y="0"/>
                </a:lnTo>
                <a:lnTo>
                  <a:pt x="31750" y="1809750"/>
                </a:lnTo>
                <a:lnTo>
                  <a:pt x="31750" y="1809750"/>
                </a:lnTo>
                <a:cubicBezTo>
                  <a:pt x="14227" y="1809750"/>
                  <a:pt x="0" y="1795523"/>
                  <a:pt x="0" y="1778000"/>
                </a:cubicBezTo>
                <a:lnTo>
                  <a:pt x="0" y="31750"/>
                </a:lnTo>
                <a:cubicBezTo>
                  <a:pt x="0" y="14227"/>
                  <a:pt x="14227" y="0"/>
                  <a:pt x="31750" y="0"/>
                </a:cubicBezTo>
                <a:close/>
              </a:path>
            </a:pathLst>
          </a:custGeom>
          <a:solidFill xmlns:a="http://schemas.openxmlformats.org/drawingml/2006/main">
            <a:srgbClr val="E6B450"/>
          </a:solidFill>
        </p:spPr>
      </p:sp>
      <p:sp>
        <p:nvSpPr>
          <p:cNvPr id="15" name="Shape 13">
            <a:extLst xmlns:a="http://schemas.openxmlformats.org/drawingml/2006/main">
              <a:ext uri="{FF2B5EF4-FFF2-40B4-BE49-F238E27FC236}">
                <a16:creationId xmlns:a16="http://schemas.microsoft.com/office/drawing/2014/main" id="{A3C7414F-8D43-4C3C-99F9-11D080673438}"/>
              </a:ext>
            </a:extLst>
          </p:cNvPr>
          <p:cNvSpPr>
            <a:spLocks xmlns:a="http://schemas.openxmlformats.org/drawingml/2006/main" noGrp="1"/>
          </p:cNvSpPr>
          <p:nvPr/>
        </p:nvSpPr>
        <p:spPr>
          <a:xfrm xmlns:a="http://schemas.openxmlformats.org/drawingml/2006/main">
            <a:off x="539750" y="3166376"/>
            <a:ext cx="238125" cy="190500"/>
          </a:xfrm>
          <a:custGeom xmlns:a="http://schemas.openxmlformats.org/drawingml/2006/main">
            <a:rect l="l" t="t" r="r" b="b"/>
            <a:pathLst>
              <a:path w="238125" h="190500">
                <a:moveTo>
                  <a:pt x="0" y="95250"/>
                </a:moveTo>
                <a:cubicBezTo>
                  <a:pt x="0" y="62359"/>
                  <a:pt x="26640" y="35719"/>
                  <a:pt x="59531" y="35719"/>
                </a:cubicBezTo>
                <a:cubicBezTo>
                  <a:pt x="78284" y="35719"/>
                  <a:pt x="95920" y="44537"/>
                  <a:pt x="107156" y="59531"/>
                </a:cubicBezTo>
                <a:lnTo>
                  <a:pt x="119063" y="75419"/>
                </a:lnTo>
                <a:lnTo>
                  <a:pt x="130969" y="59531"/>
                </a:lnTo>
                <a:cubicBezTo>
                  <a:pt x="142205" y="44537"/>
                  <a:pt x="159841" y="35719"/>
                  <a:pt x="178594" y="35719"/>
                </a:cubicBezTo>
                <a:cubicBezTo>
                  <a:pt x="211485" y="35719"/>
                  <a:pt x="238125" y="62359"/>
                  <a:pt x="238125" y="95250"/>
                </a:cubicBezTo>
                <a:cubicBezTo>
                  <a:pt x="238125" y="128141"/>
                  <a:pt x="211485" y="154781"/>
                  <a:pt x="178594" y="154781"/>
                </a:cubicBezTo>
                <a:cubicBezTo>
                  <a:pt x="159841" y="154781"/>
                  <a:pt x="142205" y="145963"/>
                  <a:pt x="130969" y="130969"/>
                </a:cubicBezTo>
                <a:lnTo>
                  <a:pt x="119063" y="115081"/>
                </a:lnTo>
                <a:lnTo>
                  <a:pt x="107156" y="130969"/>
                </a:lnTo>
                <a:cubicBezTo>
                  <a:pt x="95920" y="145963"/>
                  <a:pt x="78284" y="154781"/>
                  <a:pt x="59531" y="154781"/>
                </a:cubicBezTo>
                <a:cubicBezTo>
                  <a:pt x="26640" y="154781"/>
                  <a:pt x="0" y="128141"/>
                  <a:pt x="0" y="95250"/>
                </a:cubicBezTo>
                <a:close/>
                <a:moveTo>
                  <a:pt x="104180" y="95250"/>
                </a:moveTo>
                <a:lnTo>
                  <a:pt x="88106" y="73819"/>
                </a:lnTo>
                <a:cubicBezTo>
                  <a:pt x="81372" y="64815"/>
                  <a:pt x="70768" y="59531"/>
                  <a:pt x="59531" y="59531"/>
                </a:cubicBezTo>
                <a:cubicBezTo>
                  <a:pt x="39812" y="59531"/>
                  <a:pt x="23812" y="75530"/>
                  <a:pt x="23812" y="95250"/>
                </a:cubicBezTo>
                <a:cubicBezTo>
                  <a:pt x="23812" y="114970"/>
                  <a:pt x="39812" y="130969"/>
                  <a:pt x="59531" y="130969"/>
                </a:cubicBezTo>
                <a:cubicBezTo>
                  <a:pt x="70768" y="130969"/>
                  <a:pt x="81372" y="125685"/>
                  <a:pt x="88106" y="116681"/>
                </a:cubicBezTo>
                <a:lnTo>
                  <a:pt x="104180" y="95250"/>
                </a:lnTo>
                <a:close/>
                <a:moveTo>
                  <a:pt x="133945" y="95250"/>
                </a:moveTo>
                <a:lnTo>
                  <a:pt x="150019" y="116681"/>
                </a:lnTo>
                <a:cubicBezTo>
                  <a:pt x="156753" y="125685"/>
                  <a:pt x="167357" y="130969"/>
                  <a:pt x="178594" y="130969"/>
                </a:cubicBezTo>
                <a:cubicBezTo>
                  <a:pt x="198313" y="130969"/>
                  <a:pt x="214313" y="114970"/>
                  <a:pt x="214313" y="95250"/>
                </a:cubicBezTo>
                <a:cubicBezTo>
                  <a:pt x="214313" y="75530"/>
                  <a:pt x="198313" y="59531"/>
                  <a:pt x="178594" y="59531"/>
                </a:cubicBezTo>
                <a:cubicBezTo>
                  <a:pt x="167357" y="59531"/>
                  <a:pt x="156753" y="64815"/>
                  <a:pt x="150019" y="73819"/>
                </a:cubicBezTo>
                <a:lnTo>
                  <a:pt x="133945" y="95250"/>
                </a:lnTo>
                <a:close/>
              </a:path>
            </a:pathLst>
          </a:custGeom>
          <a:solidFill xmlns:a="http://schemas.openxmlformats.org/drawingml/2006/main">
            <a:srgbClr val="E6B450"/>
          </a:solidFill>
        </p:spPr>
      </p:sp>
      <p:sp>
        <p:nvSpPr>
          <p:cNvPr id="16" name="Text 14">
            <a:extLst xmlns:a="http://schemas.openxmlformats.org/drawingml/2006/main">
              <a:ext uri="{FF2B5EF4-FFF2-40B4-BE49-F238E27FC236}">
                <a16:creationId xmlns:a16="http://schemas.microsoft.com/office/drawing/2014/main" id="{6BEBFA25-5405-4FCD-9F72-573BAD5BC10F}"/>
              </a:ext>
            </a:extLst>
          </p:cNvPr>
          <p:cNvSpPr>
            <a:spLocks xmlns:a="http://schemas.openxmlformats.org/drawingml/2006/main" noGrp="1"/>
          </p:cNvSpPr>
          <p:nvPr/>
        </p:nvSpPr>
        <p:spPr>
          <a:xfrm xmlns:a="http://schemas.openxmlformats.org/drawingml/2006/main">
            <a:off x="904874" y="3134626"/>
            <a:ext cx="3987165"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4. n次贝塞尔曲线（一般参数公式）</a:t>
            </a:r>
            <a:endParaRPr/>
          </a:p>
        </p:txBody>
      </p:sp>
      <p:sp>
        <p:nvSpPr>
          <p:cNvPr id="17" name="Text 15">
            <a:extLst xmlns:a="http://schemas.openxmlformats.org/drawingml/2006/main">
              <a:ext uri="{FF2B5EF4-FFF2-40B4-BE49-F238E27FC236}">
                <a16:creationId xmlns:a16="http://schemas.microsoft.com/office/drawing/2014/main" id="{7A0F1F65-23ED-4856-8F5F-48643DD903F1}"/>
              </a:ext>
            </a:extLst>
          </p:cNvPr>
          <p:cNvSpPr>
            <a:spLocks xmlns:a="http://schemas.openxmlformats.org/drawingml/2006/main" noGrp="1"/>
          </p:cNvSpPr>
          <p:nvPr/>
        </p:nvSpPr>
        <p:spPr>
          <a:xfrm xmlns:a="http://schemas.openxmlformats.org/drawingml/2006/main">
            <a:off x="904875" y="3483876"/>
            <a:ext cx="3514725" cy="2301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n次贝塞尔曲线的一般参数公式为：</a:t>
            </a:r>
            <a:endParaRPr sz="2400"/>
          </a:p>
        </p:txBody>
      </p:sp>
      <p:sp>
        <p:nvSpPr>
          <p:cNvPr id="18" name="Shape 16">
            <a:extLst xmlns:a="http://schemas.openxmlformats.org/drawingml/2006/main">
              <a:ext uri="{FF2B5EF4-FFF2-40B4-BE49-F238E27FC236}">
                <a16:creationId xmlns:a16="http://schemas.microsoft.com/office/drawing/2014/main" id="{39739D99-9D64-4442-80BC-B86F77CAE1C3}"/>
              </a:ext>
            </a:extLst>
          </p:cNvPr>
          <p:cNvSpPr>
            <a:spLocks xmlns:a="http://schemas.openxmlformats.org/drawingml/2006/main" noGrp="1"/>
          </p:cNvSpPr>
          <p:nvPr/>
        </p:nvSpPr>
        <p:spPr>
          <a:xfrm xmlns:a="http://schemas.openxmlformats.org/drawingml/2006/main">
            <a:off x="908842" y="3815266"/>
            <a:ext cx="7147575" cy="1141412"/>
          </a:xfrm>
          <a:custGeom xmlns:a="http://schemas.openxmlformats.org/drawingml/2006/main">
            <a:rect l="l" t="t" r="r" b="b"/>
            <a:pathLst>
              <a:path w="2984500" h="746125">
                <a:moveTo>
                  <a:pt x="63503" y="0"/>
                </a:moveTo>
                <a:lnTo>
                  <a:pt x="2920997" y="0"/>
                </a:lnTo>
                <a:cubicBezTo>
                  <a:pt x="2956069" y="0"/>
                  <a:pt x="2984500" y="28431"/>
                  <a:pt x="2984500" y="63503"/>
                </a:cubicBezTo>
                <a:lnTo>
                  <a:pt x="2984500" y="682622"/>
                </a:lnTo>
                <a:cubicBezTo>
                  <a:pt x="2984500" y="717694"/>
                  <a:pt x="2956069" y="746125"/>
                  <a:pt x="2920997" y="746125"/>
                </a:cubicBezTo>
                <a:lnTo>
                  <a:pt x="63503" y="746125"/>
                </a:lnTo>
                <a:cubicBezTo>
                  <a:pt x="28431" y="746125"/>
                  <a:pt x="0" y="717694"/>
                  <a:pt x="0" y="682622"/>
                </a:cubicBezTo>
                <a:lnTo>
                  <a:pt x="0" y="63503"/>
                </a:lnTo>
                <a:cubicBezTo>
                  <a:pt x="0" y="28431"/>
                  <a:pt x="28431" y="0"/>
                  <a:pt x="63503"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1" name="Shape 19">
            <a:extLst xmlns:a="http://schemas.openxmlformats.org/drawingml/2006/main">
              <a:ext uri="{FF2B5EF4-FFF2-40B4-BE49-F238E27FC236}">
                <a16:creationId xmlns:a16="http://schemas.microsoft.com/office/drawing/2014/main" id="{F36940BD-4D1D-4ADE-9BD0-C6999BA6944A}"/>
              </a:ext>
            </a:extLst>
          </p:cNvPr>
          <p:cNvSpPr>
            <a:spLocks xmlns:a="http://schemas.openxmlformats.org/drawingml/2006/main" noGrp="1"/>
          </p:cNvSpPr>
          <p:nvPr/>
        </p:nvSpPr>
        <p:spPr>
          <a:xfrm xmlns:a="http://schemas.openxmlformats.org/drawingml/2006/main">
            <a:off x="333375" y="5224103"/>
            <a:ext cx="8239125" cy="1479190"/>
          </a:xfrm>
          <a:custGeom xmlns:a="http://schemas.openxmlformats.org/drawingml/2006/main">
            <a:rect l="l" t="t" r="r" b="b"/>
            <a:pathLst>
              <a:path w="8239125" h="1770063">
                <a:moveTo>
                  <a:pt x="31750" y="0"/>
                </a:moveTo>
                <a:lnTo>
                  <a:pt x="8143878" y="0"/>
                </a:lnTo>
                <a:cubicBezTo>
                  <a:pt x="8196481" y="0"/>
                  <a:pt x="8239125" y="42644"/>
                  <a:pt x="8239125" y="95247"/>
                </a:cubicBezTo>
                <a:lnTo>
                  <a:pt x="8239125" y="1674815"/>
                </a:lnTo>
                <a:cubicBezTo>
                  <a:pt x="8239125" y="1727419"/>
                  <a:pt x="8196481" y="1770063"/>
                  <a:pt x="8143878" y="1770063"/>
                </a:cubicBezTo>
                <a:lnTo>
                  <a:pt x="31750" y="1770063"/>
                </a:lnTo>
                <a:cubicBezTo>
                  <a:pt x="14227" y="1770063"/>
                  <a:pt x="0" y="1755836"/>
                  <a:pt x="0" y="173831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22" name="Shape 20">
            <a:extLst xmlns:a="http://schemas.openxmlformats.org/drawingml/2006/main">
              <a:ext uri="{FF2B5EF4-FFF2-40B4-BE49-F238E27FC236}">
                <a16:creationId xmlns:a16="http://schemas.microsoft.com/office/drawing/2014/main" id="{22EC7146-C434-4B49-8D25-4D5BF5E52D8C}"/>
              </a:ext>
            </a:extLst>
          </p:cNvPr>
          <p:cNvSpPr>
            <a:spLocks xmlns:a="http://schemas.openxmlformats.org/drawingml/2006/main" noGrp="1"/>
          </p:cNvSpPr>
          <p:nvPr/>
        </p:nvSpPr>
        <p:spPr>
          <a:xfrm xmlns:a="http://schemas.openxmlformats.org/drawingml/2006/main">
            <a:off x="333375" y="5224103"/>
            <a:ext cx="31750" cy="1479190"/>
          </a:xfrm>
          <a:custGeom xmlns:a="http://schemas.openxmlformats.org/drawingml/2006/main">
            <a:rect l="l" t="t" r="r" b="b"/>
            <a:pathLst>
              <a:path w="31750" h="1770063">
                <a:moveTo>
                  <a:pt x="31750" y="0"/>
                </a:moveTo>
                <a:lnTo>
                  <a:pt x="31750" y="0"/>
                </a:lnTo>
                <a:lnTo>
                  <a:pt x="31750" y="1770063"/>
                </a:lnTo>
                <a:lnTo>
                  <a:pt x="31750" y="1770063"/>
                </a:lnTo>
                <a:cubicBezTo>
                  <a:pt x="14227" y="1770063"/>
                  <a:pt x="0" y="1755836"/>
                  <a:pt x="0" y="1738313"/>
                </a:cubicBezTo>
                <a:lnTo>
                  <a:pt x="0" y="31750"/>
                </a:lnTo>
                <a:cubicBezTo>
                  <a:pt x="0" y="14227"/>
                  <a:pt x="14227" y="0"/>
                  <a:pt x="31750" y="0"/>
                </a:cubicBezTo>
                <a:close/>
              </a:path>
            </a:pathLst>
          </a:custGeom>
          <a:solidFill xmlns:a="http://schemas.openxmlformats.org/drawingml/2006/main">
            <a:srgbClr val="E6B450"/>
          </a:solidFill>
        </p:spPr>
      </p:sp>
      <p:sp>
        <p:nvSpPr>
          <p:cNvPr id="23" name="Shape 21">
            <a:extLst xmlns:a="http://schemas.openxmlformats.org/drawingml/2006/main">
              <a:ext uri="{FF2B5EF4-FFF2-40B4-BE49-F238E27FC236}">
                <a16:creationId xmlns:a16="http://schemas.microsoft.com/office/drawing/2014/main" id="{00603AC7-9559-47C0-A20D-EC5B4E16C7EE}"/>
              </a:ext>
            </a:extLst>
          </p:cNvPr>
          <p:cNvSpPr>
            <a:spLocks xmlns:a="http://schemas.openxmlformats.org/drawingml/2006/main" noGrp="1"/>
          </p:cNvSpPr>
          <p:nvPr/>
        </p:nvSpPr>
        <p:spPr>
          <a:xfrm xmlns:a="http://schemas.openxmlformats.org/drawingml/2006/main">
            <a:off x="563563" y="5361685"/>
            <a:ext cx="190500" cy="190500"/>
          </a:xfrm>
          <a:custGeom xmlns:a="http://schemas.openxmlformats.org/drawingml/2006/main">
            <a:rect l="l" t="t" r="r" b="b"/>
            <a:pathLst>
              <a:path w="190500" h="190500">
                <a:moveTo>
                  <a:pt x="56666" y="22324"/>
                </a:moveTo>
                <a:cubicBezTo>
                  <a:pt x="73856" y="-7441"/>
                  <a:pt x="116830" y="-7441"/>
                  <a:pt x="134020" y="22324"/>
                </a:cubicBezTo>
                <a:lnTo>
                  <a:pt x="147898" y="46360"/>
                </a:lnTo>
                <a:lnTo>
                  <a:pt x="158204" y="40407"/>
                </a:lnTo>
                <a:cubicBezTo>
                  <a:pt x="161330" y="38584"/>
                  <a:pt x="165236" y="38844"/>
                  <a:pt x="168101" y="41039"/>
                </a:cubicBezTo>
                <a:cubicBezTo>
                  <a:pt x="170966" y="43235"/>
                  <a:pt x="172231" y="46955"/>
                  <a:pt x="171301" y="50453"/>
                </a:cubicBezTo>
                <a:lnTo>
                  <a:pt x="162558" y="82972"/>
                </a:lnTo>
                <a:cubicBezTo>
                  <a:pt x="161292" y="87734"/>
                  <a:pt x="156381" y="90562"/>
                  <a:pt x="151619" y="89297"/>
                </a:cubicBezTo>
                <a:lnTo>
                  <a:pt x="119100" y="80590"/>
                </a:lnTo>
                <a:cubicBezTo>
                  <a:pt x="115602" y="79660"/>
                  <a:pt x="113035" y="76721"/>
                  <a:pt x="112551" y="73149"/>
                </a:cubicBezTo>
                <a:cubicBezTo>
                  <a:pt x="112068" y="69577"/>
                  <a:pt x="113816" y="66042"/>
                  <a:pt x="116942" y="64257"/>
                </a:cubicBezTo>
                <a:lnTo>
                  <a:pt x="127248" y="58303"/>
                </a:lnTo>
                <a:lnTo>
                  <a:pt x="113370" y="34268"/>
                </a:lnTo>
                <a:cubicBezTo>
                  <a:pt x="105333" y="20389"/>
                  <a:pt x="85316" y="20389"/>
                  <a:pt x="77279" y="34268"/>
                </a:cubicBezTo>
                <a:lnTo>
                  <a:pt x="75307" y="37654"/>
                </a:lnTo>
                <a:cubicBezTo>
                  <a:pt x="72033" y="43346"/>
                  <a:pt x="64740" y="45281"/>
                  <a:pt x="59048" y="42007"/>
                </a:cubicBezTo>
                <a:cubicBezTo>
                  <a:pt x="53355" y="38733"/>
                  <a:pt x="51420" y="31440"/>
                  <a:pt x="54694" y="25710"/>
                </a:cubicBezTo>
                <a:lnTo>
                  <a:pt x="56666" y="22324"/>
                </a:lnTo>
                <a:close/>
                <a:moveTo>
                  <a:pt x="167320" y="103845"/>
                </a:moveTo>
                <a:cubicBezTo>
                  <a:pt x="173013" y="100571"/>
                  <a:pt x="180305" y="102505"/>
                  <a:pt x="183579" y="108198"/>
                </a:cubicBezTo>
                <a:lnTo>
                  <a:pt x="185551" y="111584"/>
                </a:lnTo>
                <a:cubicBezTo>
                  <a:pt x="202741" y="141350"/>
                  <a:pt x="181273" y="178557"/>
                  <a:pt x="146893" y="178557"/>
                </a:cubicBezTo>
                <a:lnTo>
                  <a:pt x="119137" y="178557"/>
                </a:lnTo>
                <a:lnTo>
                  <a:pt x="119137" y="190463"/>
                </a:lnTo>
                <a:cubicBezTo>
                  <a:pt x="119137" y="194072"/>
                  <a:pt x="116979" y="197346"/>
                  <a:pt x="113630" y="198723"/>
                </a:cubicBezTo>
                <a:cubicBezTo>
                  <a:pt x="110282" y="200099"/>
                  <a:pt x="106449" y="199355"/>
                  <a:pt x="103882" y="196788"/>
                </a:cubicBezTo>
                <a:lnTo>
                  <a:pt x="80070" y="172975"/>
                </a:lnTo>
                <a:cubicBezTo>
                  <a:pt x="76572" y="169478"/>
                  <a:pt x="76572" y="163823"/>
                  <a:pt x="80070" y="160362"/>
                </a:cubicBezTo>
                <a:lnTo>
                  <a:pt x="103882" y="136550"/>
                </a:lnTo>
                <a:cubicBezTo>
                  <a:pt x="106449" y="133983"/>
                  <a:pt x="110282" y="133238"/>
                  <a:pt x="113630" y="134615"/>
                </a:cubicBezTo>
                <a:cubicBezTo>
                  <a:pt x="116979" y="135992"/>
                  <a:pt x="119137" y="139266"/>
                  <a:pt x="119137" y="142875"/>
                </a:cubicBezTo>
                <a:lnTo>
                  <a:pt x="119137" y="154781"/>
                </a:lnTo>
                <a:lnTo>
                  <a:pt x="146893" y="154781"/>
                </a:lnTo>
                <a:cubicBezTo>
                  <a:pt x="162930" y="154781"/>
                  <a:pt x="172975" y="137406"/>
                  <a:pt x="164939" y="123527"/>
                </a:cubicBezTo>
                <a:lnTo>
                  <a:pt x="162967" y="120142"/>
                </a:lnTo>
                <a:cubicBezTo>
                  <a:pt x="159693" y="114449"/>
                  <a:pt x="161627" y="107156"/>
                  <a:pt x="167320" y="103882"/>
                </a:cubicBezTo>
                <a:close/>
                <a:moveTo>
                  <a:pt x="18976" y="87585"/>
                </a:moveTo>
                <a:lnTo>
                  <a:pt x="8669" y="81632"/>
                </a:lnTo>
                <a:cubicBezTo>
                  <a:pt x="5544" y="79809"/>
                  <a:pt x="3795" y="76312"/>
                  <a:pt x="4279" y="72740"/>
                </a:cubicBezTo>
                <a:cubicBezTo>
                  <a:pt x="4763" y="69168"/>
                  <a:pt x="7330" y="66229"/>
                  <a:pt x="10827" y="65298"/>
                </a:cubicBezTo>
                <a:lnTo>
                  <a:pt x="43346" y="56555"/>
                </a:lnTo>
                <a:cubicBezTo>
                  <a:pt x="48109" y="55290"/>
                  <a:pt x="53020" y="58117"/>
                  <a:pt x="54285" y="62880"/>
                </a:cubicBezTo>
                <a:lnTo>
                  <a:pt x="62992" y="95399"/>
                </a:lnTo>
                <a:cubicBezTo>
                  <a:pt x="63922" y="98896"/>
                  <a:pt x="62657" y="102580"/>
                  <a:pt x="59792" y="104812"/>
                </a:cubicBezTo>
                <a:cubicBezTo>
                  <a:pt x="56927" y="107045"/>
                  <a:pt x="53020" y="107268"/>
                  <a:pt x="49895" y="105445"/>
                </a:cubicBezTo>
                <a:lnTo>
                  <a:pt x="39588" y="99492"/>
                </a:lnTo>
                <a:lnTo>
                  <a:pt x="25710" y="123527"/>
                </a:lnTo>
                <a:cubicBezTo>
                  <a:pt x="17673" y="137406"/>
                  <a:pt x="27719" y="154781"/>
                  <a:pt x="43755" y="154781"/>
                </a:cubicBezTo>
                <a:lnTo>
                  <a:pt x="47699" y="154781"/>
                </a:lnTo>
                <a:cubicBezTo>
                  <a:pt x="54285" y="154781"/>
                  <a:pt x="59606" y="160102"/>
                  <a:pt x="59606" y="166688"/>
                </a:cubicBezTo>
                <a:cubicBezTo>
                  <a:pt x="59606" y="173273"/>
                  <a:pt x="54285" y="178594"/>
                  <a:pt x="47699" y="178594"/>
                </a:cubicBezTo>
                <a:lnTo>
                  <a:pt x="43755" y="178594"/>
                </a:lnTo>
                <a:cubicBezTo>
                  <a:pt x="9413" y="178594"/>
                  <a:pt x="-12055" y="141387"/>
                  <a:pt x="5135" y="111621"/>
                </a:cubicBezTo>
                <a:lnTo>
                  <a:pt x="18976" y="87585"/>
                </a:lnTo>
                <a:close/>
              </a:path>
            </a:pathLst>
          </a:custGeom>
          <a:solidFill xmlns:a="http://schemas.openxmlformats.org/drawingml/2006/main">
            <a:srgbClr val="E6B450"/>
          </a:solidFill>
        </p:spPr>
      </p:sp>
      <p:sp>
        <p:nvSpPr>
          <p:cNvPr id="24" name="Text 22">
            <a:extLst xmlns:a="http://schemas.openxmlformats.org/drawingml/2006/main">
              <a:ext uri="{FF2B5EF4-FFF2-40B4-BE49-F238E27FC236}">
                <a16:creationId xmlns:a16="http://schemas.microsoft.com/office/drawing/2014/main" id="{35A26810-37B5-4E38-8532-9CCEB1318B6A}"/>
              </a:ext>
            </a:extLst>
          </p:cNvPr>
          <p:cNvSpPr>
            <a:spLocks xmlns:a="http://schemas.openxmlformats.org/drawingml/2006/main" noGrp="1"/>
          </p:cNvSpPr>
          <p:nvPr/>
        </p:nvSpPr>
        <p:spPr>
          <a:xfrm xmlns:a="http://schemas.openxmlformats.org/drawingml/2006/main">
            <a:off x="904875" y="5329935"/>
            <a:ext cx="23177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递归表达</a:t>
            </a:r>
            <a:endParaRPr/>
          </a:p>
        </p:txBody>
      </p:sp>
      <p:sp>
        <p:nvSpPr>
          <p:cNvPr id="25" name="Text 23">
            <a:extLst xmlns:a="http://schemas.openxmlformats.org/drawingml/2006/main">
              <a:ext uri="{FF2B5EF4-FFF2-40B4-BE49-F238E27FC236}">
                <a16:creationId xmlns:a16="http://schemas.microsoft.com/office/drawing/2014/main" id="{D5153FD5-6D7E-461D-A3B4-4332B8BA42F1}"/>
              </a:ext>
            </a:extLst>
          </p:cNvPr>
          <p:cNvSpPr>
            <a:spLocks xmlns:a="http://schemas.openxmlformats.org/drawingml/2006/main" noGrp="1"/>
          </p:cNvSpPr>
          <p:nvPr/>
        </p:nvSpPr>
        <p:spPr>
          <a:xfrm xmlns:a="http://schemas.openxmlformats.org/drawingml/2006/main">
            <a:off x="904875" y="5679185"/>
            <a:ext cx="3333750" cy="2301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n次贝塞尔曲线可由如下递归表达：</a:t>
            </a:r>
            <a:endParaRPr sz="2400"/>
          </a:p>
        </p:txBody>
      </p:sp>
      <p:sp>
        <p:nvSpPr>
          <p:cNvPr id="26" name="Shape 24">
            <a:extLst xmlns:a="http://schemas.openxmlformats.org/drawingml/2006/main">
              <a:ext uri="{FF2B5EF4-FFF2-40B4-BE49-F238E27FC236}">
                <a16:creationId xmlns:a16="http://schemas.microsoft.com/office/drawing/2014/main" id="{4135A9FD-6A12-4631-A67B-700A57B7AEF3}"/>
              </a:ext>
            </a:extLst>
          </p:cNvPr>
          <p:cNvSpPr>
            <a:spLocks xmlns:a="http://schemas.openxmlformats.org/drawingml/2006/main" noGrp="1"/>
          </p:cNvSpPr>
          <p:nvPr/>
        </p:nvSpPr>
        <p:spPr>
          <a:xfrm xmlns:a="http://schemas.openxmlformats.org/drawingml/2006/main">
            <a:off x="942181" y="6056216"/>
            <a:ext cx="3510756" cy="513918"/>
          </a:xfrm>
          <a:custGeom xmlns:a="http://schemas.openxmlformats.org/drawingml/2006/main">
            <a:rect l="l" t="t" r="r" b="b"/>
            <a:pathLst>
              <a:path w="2214563" h="706438">
                <a:moveTo>
                  <a:pt x="63502" y="0"/>
                </a:moveTo>
                <a:lnTo>
                  <a:pt x="2151061" y="0"/>
                </a:lnTo>
                <a:cubicBezTo>
                  <a:pt x="2186132" y="0"/>
                  <a:pt x="2214563" y="28431"/>
                  <a:pt x="2214563" y="63502"/>
                </a:cubicBezTo>
                <a:lnTo>
                  <a:pt x="2214563" y="642936"/>
                </a:lnTo>
                <a:cubicBezTo>
                  <a:pt x="2214563" y="678007"/>
                  <a:pt x="2186132" y="706438"/>
                  <a:pt x="2151061" y="706438"/>
                </a:cubicBezTo>
                <a:lnTo>
                  <a:pt x="63502" y="706438"/>
                </a:lnTo>
                <a:cubicBezTo>
                  <a:pt x="28431" y="706438"/>
                  <a:pt x="0" y="678007"/>
                  <a:pt x="0" y="642936"/>
                </a:cubicBezTo>
                <a:lnTo>
                  <a:pt x="0" y="63502"/>
                </a:lnTo>
                <a:cubicBezTo>
                  <a:pt x="0" y="28431"/>
                  <a:pt x="28431" y="0"/>
                  <a:pt x="63502"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9" name="Shape 27">
            <a:extLst xmlns:a="http://schemas.openxmlformats.org/drawingml/2006/main">
              <a:ext uri="{FF2B5EF4-FFF2-40B4-BE49-F238E27FC236}">
                <a16:creationId xmlns:a16="http://schemas.microsoft.com/office/drawing/2014/main" id="{FC7E2632-4CBE-42D3-985A-08D6C9CA8624}"/>
              </a:ext>
            </a:extLst>
          </p:cNvPr>
          <p:cNvSpPr>
            <a:spLocks xmlns:a="http://schemas.openxmlformats.org/drawingml/2006/main" noGrp="1"/>
          </p:cNvSpPr>
          <p:nvPr/>
        </p:nvSpPr>
        <p:spPr>
          <a:xfrm xmlns:a="http://schemas.openxmlformats.org/drawingml/2006/main">
            <a:off x="8830469" y="1621775"/>
            <a:ext cx="3040063" cy="5014552"/>
          </a:xfrm>
          <a:custGeom xmlns:a="http://schemas.openxmlformats.org/drawingml/2006/main">
            <a:rect l="l" t="t" r="r" b="b"/>
            <a:pathLst>
              <a:path w="3040063" h="5762625">
                <a:moveTo>
                  <a:pt x="95245" y="0"/>
                </a:moveTo>
                <a:lnTo>
                  <a:pt x="2944817" y="0"/>
                </a:lnTo>
                <a:cubicBezTo>
                  <a:pt x="2997420" y="0"/>
                  <a:pt x="3040063" y="42643"/>
                  <a:pt x="3040063" y="95245"/>
                </a:cubicBezTo>
                <a:lnTo>
                  <a:pt x="3040063" y="5667380"/>
                </a:lnTo>
                <a:cubicBezTo>
                  <a:pt x="3040063" y="5719982"/>
                  <a:pt x="2997420" y="5762625"/>
                  <a:pt x="2944817" y="5762625"/>
                </a:cubicBezTo>
                <a:lnTo>
                  <a:pt x="95245" y="5762625"/>
                </a:lnTo>
                <a:cubicBezTo>
                  <a:pt x="42643" y="5762625"/>
                  <a:pt x="0" y="5719982"/>
                  <a:pt x="0" y="5667380"/>
                </a:cubicBezTo>
                <a:lnTo>
                  <a:pt x="0" y="95245"/>
                </a:lnTo>
                <a:cubicBezTo>
                  <a:pt x="0" y="42678"/>
                  <a:pt x="42678" y="0"/>
                  <a:pt x="95245"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30" name="Shape 28">
            <a:extLst xmlns:a="http://schemas.openxmlformats.org/drawingml/2006/main">
              <a:ext uri="{FF2B5EF4-FFF2-40B4-BE49-F238E27FC236}">
                <a16:creationId xmlns:a16="http://schemas.microsoft.com/office/drawing/2014/main" id="{5B4AADF8-2F76-4BCE-B733-DDEC96E3640B}"/>
              </a:ext>
            </a:extLst>
          </p:cNvPr>
          <p:cNvSpPr>
            <a:spLocks xmlns:a="http://schemas.openxmlformats.org/drawingml/2006/main" noGrp="1"/>
          </p:cNvSpPr>
          <p:nvPr/>
        </p:nvSpPr>
        <p:spPr>
          <a:xfrm xmlns:a="http://schemas.openxmlformats.org/drawingml/2006/main">
            <a:off x="8903758" y="1847994"/>
            <a:ext cx="158750" cy="158750"/>
          </a:xfrm>
          <a:custGeom xmlns:a="http://schemas.openxmlformats.org/drawingml/2006/main">
            <a:rect l="l" t="t" r="r" b="b"/>
            <a:pathLst>
              <a:path w="158750" h="158750">
                <a:moveTo>
                  <a:pt x="72089" y="1612"/>
                </a:moveTo>
                <a:cubicBezTo>
                  <a:pt x="76708" y="-527"/>
                  <a:pt x="82042" y="-527"/>
                  <a:pt x="86661" y="1612"/>
                </a:cubicBezTo>
                <a:lnTo>
                  <a:pt x="154440" y="32928"/>
                </a:lnTo>
                <a:cubicBezTo>
                  <a:pt x="157076" y="34137"/>
                  <a:pt x="158750" y="36773"/>
                  <a:pt x="158750" y="39688"/>
                </a:cubicBezTo>
                <a:cubicBezTo>
                  <a:pt x="158750" y="42602"/>
                  <a:pt x="157076" y="45238"/>
                  <a:pt x="154440" y="46447"/>
                </a:cubicBezTo>
                <a:lnTo>
                  <a:pt x="86661" y="77763"/>
                </a:lnTo>
                <a:cubicBezTo>
                  <a:pt x="82042" y="79902"/>
                  <a:pt x="76708" y="79902"/>
                  <a:pt x="72089" y="77763"/>
                </a:cubicBezTo>
                <a:lnTo>
                  <a:pt x="4310" y="46447"/>
                </a:lnTo>
                <a:cubicBezTo>
                  <a:pt x="1674" y="45207"/>
                  <a:pt x="0" y="42571"/>
                  <a:pt x="0" y="39688"/>
                </a:cubicBezTo>
                <a:cubicBezTo>
                  <a:pt x="0" y="36804"/>
                  <a:pt x="1674" y="34137"/>
                  <a:pt x="4310" y="32928"/>
                </a:cubicBezTo>
                <a:lnTo>
                  <a:pt x="72089" y="1612"/>
                </a:lnTo>
                <a:close/>
                <a:moveTo>
                  <a:pt x="14914" y="67717"/>
                </a:moveTo>
                <a:lnTo>
                  <a:pt x="65856" y="91250"/>
                </a:lnTo>
                <a:cubicBezTo>
                  <a:pt x="74445" y="95219"/>
                  <a:pt x="84336" y="95219"/>
                  <a:pt x="92925" y="91250"/>
                </a:cubicBezTo>
                <a:lnTo>
                  <a:pt x="143867" y="67717"/>
                </a:lnTo>
                <a:lnTo>
                  <a:pt x="154440" y="72616"/>
                </a:lnTo>
                <a:cubicBezTo>
                  <a:pt x="157076" y="73825"/>
                  <a:pt x="158750" y="76460"/>
                  <a:pt x="158750" y="79375"/>
                </a:cubicBezTo>
                <a:cubicBezTo>
                  <a:pt x="158750" y="82290"/>
                  <a:pt x="157076" y="84925"/>
                  <a:pt x="154440" y="86134"/>
                </a:cubicBezTo>
                <a:lnTo>
                  <a:pt x="86661" y="117450"/>
                </a:lnTo>
                <a:cubicBezTo>
                  <a:pt x="82042" y="119590"/>
                  <a:pt x="76708" y="119590"/>
                  <a:pt x="72089" y="117450"/>
                </a:cubicBezTo>
                <a:lnTo>
                  <a:pt x="4310" y="86134"/>
                </a:lnTo>
                <a:cubicBezTo>
                  <a:pt x="1674" y="84894"/>
                  <a:pt x="0" y="82259"/>
                  <a:pt x="0" y="79375"/>
                </a:cubicBezTo>
                <a:cubicBezTo>
                  <a:pt x="0" y="76491"/>
                  <a:pt x="1674" y="73825"/>
                  <a:pt x="4310" y="72616"/>
                </a:cubicBezTo>
                <a:lnTo>
                  <a:pt x="14883" y="67717"/>
                </a:lnTo>
                <a:close/>
                <a:moveTo>
                  <a:pt x="4310" y="112303"/>
                </a:moveTo>
                <a:lnTo>
                  <a:pt x="14883" y="107404"/>
                </a:lnTo>
                <a:lnTo>
                  <a:pt x="65825" y="130938"/>
                </a:lnTo>
                <a:cubicBezTo>
                  <a:pt x="74414" y="134906"/>
                  <a:pt x="84305" y="134906"/>
                  <a:pt x="92894" y="130938"/>
                </a:cubicBezTo>
                <a:lnTo>
                  <a:pt x="143836" y="107404"/>
                </a:lnTo>
                <a:lnTo>
                  <a:pt x="154409" y="112303"/>
                </a:lnTo>
                <a:cubicBezTo>
                  <a:pt x="157045" y="113512"/>
                  <a:pt x="158719" y="116148"/>
                  <a:pt x="158719" y="119062"/>
                </a:cubicBezTo>
                <a:cubicBezTo>
                  <a:pt x="158719" y="121977"/>
                  <a:pt x="157045" y="124613"/>
                  <a:pt x="154409" y="125822"/>
                </a:cubicBezTo>
                <a:lnTo>
                  <a:pt x="86630" y="157138"/>
                </a:lnTo>
                <a:cubicBezTo>
                  <a:pt x="82010" y="159277"/>
                  <a:pt x="76677" y="159277"/>
                  <a:pt x="72058" y="157138"/>
                </a:cubicBezTo>
                <a:lnTo>
                  <a:pt x="4310" y="125822"/>
                </a:lnTo>
                <a:cubicBezTo>
                  <a:pt x="1674" y="124582"/>
                  <a:pt x="0" y="121946"/>
                  <a:pt x="0" y="119062"/>
                </a:cubicBezTo>
                <a:cubicBezTo>
                  <a:pt x="0" y="116179"/>
                  <a:pt x="1674" y="113512"/>
                  <a:pt x="4310" y="112303"/>
                </a:cubicBezTo>
                <a:close/>
              </a:path>
            </a:pathLst>
          </a:custGeom>
          <a:solidFill xmlns:a="http://schemas.openxmlformats.org/drawingml/2006/main">
            <a:srgbClr val="E6B450"/>
          </a:solidFill>
        </p:spPr>
      </p:sp>
      <p:sp>
        <p:nvSpPr>
          <p:cNvPr id="31" name="Text 29">
            <a:extLst xmlns:a="http://schemas.openxmlformats.org/drawingml/2006/main">
              <a:ext uri="{FF2B5EF4-FFF2-40B4-BE49-F238E27FC236}">
                <a16:creationId xmlns:a16="http://schemas.microsoft.com/office/drawing/2014/main" id="{1315EBB0-731C-45FF-8E62-B81F7620B4E4}"/>
              </a:ext>
            </a:extLst>
          </p:cNvPr>
          <p:cNvSpPr>
            <a:spLocks xmlns:a="http://schemas.openxmlformats.org/drawingml/2006/main" noGrp="1"/>
          </p:cNvSpPr>
          <p:nvPr/>
        </p:nvSpPr>
        <p:spPr>
          <a:xfrm xmlns:a="http://schemas.openxmlformats.org/drawingml/2006/main">
            <a:off x="9223375" y="1816244"/>
            <a:ext cx="2532063" cy="222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高阶贝塞尔曲线</a:t>
            </a:r>
            <a:endParaRPr sz="2000"/>
          </a:p>
        </p:txBody>
      </p:sp>
      <p:sp>
        <p:nvSpPr>
          <p:cNvPr id="49" name="矩形 48">
            <a:extLst xmlns:a="http://schemas.openxmlformats.org/drawingml/2006/main">
              <a:ext uri="{FF2B5EF4-FFF2-40B4-BE49-F238E27FC236}">
                <a16:creationId xmlns:a16="http://schemas.microsoft.com/office/drawing/2014/main" id="{99C07196-5640-05C6-153F-1925FB71822C}"/>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文本框 49">
            <a:extLst xmlns:a="http://schemas.openxmlformats.org/drawingml/2006/main">
              <a:ext uri="{FF2B5EF4-FFF2-40B4-BE49-F238E27FC236}">
                <a16:creationId xmlns:a16="http://schemas.microsoft.com/office/drawing/2014/main" id="{B7B1CB6D-C128-9B84-85EE-C71636D5EA47}"/>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pic>
        <p:nvPicPr>
          <p:cNvPr id="75" name="图片 57"/>
          <p:cNvPicPr>
            <a:picLocks xmlns:a="http://schemas.openxmlformats.org/drawingml/2006/main" noChangeAspect="1"/>
          </p:cNvPicPr>
          <p:nvPr/>
        </p:nvPicPr>
        <p:blipFill>
          <a:blip xmlns:r="http://schemas.openxmlformats.org/officeDocument/2006/relationships" xmlns:a="http://schemas.openxmlformats.org/drawingml/2006/main" r:embed="Rfd40508fe8f74312">
            <a:clrChange>
              <a:clrFrom>
                <a:srgbClr val="FEFEFE"/>
              </a:clrFrom>
              <a:clrTo>
                <a:srgbClr val="FEFEFE">
                  <a:alpha val="0"/>
                </a:srgbClr>
              </a:clrTo>
            </a:clrChange>
          </a:blip>
          <a:srcRect xmlns:a="http://schemas.openxmlformats.org/drawingml/2006/main" l="8740" t="0" r="0" b="0"/>
          <a:stretch xmlns:a="http://schemas.openxmlformats.org/drawingml/2006/main">
            <a:fillRect l="0" t="0" r="0" b="0"/>
          </a:stretch>
        </p:blipFill>
        <p:spPr>
          <a:xfrm xmlns:a="http://schemas.openxmlformats.org/drawingml/2006/main">
            <a:off x="9156483" y="2210914"/>
            <a:ext cx="2709069" cy="4286251"/>
          </a:xfrm>
          <a:prstGeom xmlns:a="http://schemas.openxmlformats.org/drawingml/2006/main" prst="rect">
            <a:avLst/>
          </a:prstGeom>
        </p:spPr>
      </p:pic>
      <p:sp>
        <p:nvSpPr>
          <p:cNvPr id="2" name="文本框 1">
            <a:extLst xmlns:a="http://schemas.openxmlformats.org/drawingml/2006/main">
              <a:ext uri="{FF2B5EF4-FFF2-40B4-BE49-F238E27FC236}">
                <a16:creationId xmlns:a16="http://schemas.microsoft.com/office/drawing/2014/main" id="{E860E1A6-A3A6-758F-4474-4A659025AA63}"/>
              </a:ext>
            </a:extLst>
          </p:cNvPr>
          <p:cNvSpPr>
            <a:spLocks xmlns:a="http://schemas.openxmlformats.org/drawingml/2006/main" noGrp="1"/>
          </p:cNvSpPr>
          <p:nvPr/>
        </p:nvSpPr>
        <p:spPr>
          <a:xfrm xmlns:a="http://schemas.openxmlformats.org/drawingml/2006/main">
            <a:off x="8903758" y="2242274"/>
            <a:ext cx="245798"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t>三阶</a:t>
            </a:r>
          </a:p>
        </p:txBody>
      </p:sp>
      <p:sp>
        <p:nvSpPr>
          <p:cNvPr id="3" name="文本框 2">
            <a:extLst xmlns:a="http://schemas.openxmlformats.org/drawingml/2006/main">
              <a:ext uri="{FF2B5EF4-FFF2-40B4-BE49-F238E27FC236}">
                <a16:creationId xmlns:a16="http://schemas.microsoft.com/office/drawing/2014/main" id="{37BB7C8B-5373-F6B3-97B3-9CF56E6780EF}"/>
              </a:ext>
            </a:extLst>
          </p:cNvPr>
          <p:cNvSpPr>
            <a:spLocks xmlns:a="http://schemas.openxmlformats.org/drawingml/2006/main" noGrp="1"/>
          </p:cNvSpPr>
          <p:nvPr/>
        </p:nvSpPr>
        <p:spPr>
          <a:xfrm xmlns:a="http://schemas.openxmlformats.org/drawingml/2006/main">
            <a:off x="8903758" y="3395849"/>
            <a:ext cx="245798"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t>四阶</a:t>
            </a:r>
          </a:p>
        </p:txBody>
      </p:sp>
      <p:sp>
        <p:nvSpPr>
          <p:cNvPr id="4" name="文本框 3">
            <a:extLst xmlns:a="http://schemas.openxmlformats.org/drawingml/2006/main">
              <a:ext uri="{FF2B5EF4-FFF2-40B4-BE49-F238E27FC236}">
                <a16:creationId xmlns:a16="http://schemas.microsoft.com/office/drawing/2014/main" id="{D895F748-E0D9-F4F7-A4A0-CB5700AFFBAF}"/>
              </a:ext>
            </a:extLst>
          </p:cNvPr>
          <p:cNvSpPr>
            <a:spLocks xmlns:a="http://schemas.openxmlformats.org/drawingml/2006/main" noGrp="1"/>
          </p:cNvSpPr>
          <p:nvPr/>
        </p:nvSpPr>
        <p:spPr>
          <a:xfrm xmlns:a="http://schemas.openxmlformats.org/drawingml/2006/main">
            <a:off x="8903758" y="4931715"/>
            <a:ext cx="245798"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t>五阶</a:t>
            </a:r>
          </a:p>
        </p:txBody>
      </p:sp>
    </p:spTree>
    <p:extLst>
      <p:ext uri="{BB962C8B-B14F-4D97-AF65-F5344CB8AC3E}">
        <p14:creationId xmlns:p14="http://schemas.microsoft.com/office/powerpoint/2010/main" val="3631006755"/>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B3F1650B-6D6D-46A8-AB0E-5A3013AF5E2C}"/>
              </a:ext>
            </a:extLst>
          </p:cNvPr>
          <p:cNvSpPr>
            <a:spLocks xmlns:a="http://schemas.openxmlformats.org/drawingml/2006/main" noGrp="1"/>
          </p:cNvSpPr>
          <p:nvPr/>
        </p:nvSpPr>
        <p:spPr>
          <a:xfrm xmlns:a="http://schemas.openxmlformats.org/drawingml/2006/main">
            <a:off x="341376" y="1680187"/>
            <a:ext cx="8144256" cy="1729510"/>
          </a:xfrm>
          <a:custGeom xmlns:a="http://schemas.openxmlformats.org/drawingml/2006/main">
            <a:rect l="l" t="t" r="r" b="b"/>
            <a:pathLst>
              <a:path w="8144256" h="1227328">
                <a:moveTo>
                  <a:pt x="32512" y="0"/>
                </a:moveTo>
                <a:lnTo>
                  <a:pt x="8046720" y="0"/>
                </a:lnTo>
                <a:cubicBezTo>
                  <a:pt x="8100588" y="0"/>
                  <a:pt x="8144256" y="43668"/>
                  <a:pt x="8144256" y="97536"/>
                </a:cubicBezTo>
                <a:lnTo>
                  <a:pt x="8144256" y="1129792"/>
                </a:lnTo>
                <a:cubicBezTo>
                  <a:pt x="8144256" y="1183660"/>
                  <a:pt x="8100588" y="1227328"/>
                  <a:pt x="8046720" y="1227328"/>
                </a:cubicBezTo>
                <a:lnTo>
                  <a:pt x="32512" y="1227328"/>
                </a:lnTo>
                <a:cubicBezTo>
                  <a:pt x="14556" y="1227328"/>
                  <a:pt x="0" y="1212772"/>
                  <a:pt x="0" y="1194816"/>
                </a:cubicBezTo>
                <a:lnTo>
                  <a:pt x="0" y="32512"/>
                </a:lnTo>
                <a:cubicBezTo>
                  <a:pt x="0" y="14556"/>
                  <a:pt x="14556" y="0"/>
                  <a:pt x="32512"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1AD3BC48-BE10-4356-8178-EC37ED89E76C}"/>
              </a:ext>
            </a:extLst>
          </p:cNvPr>
          <p:cNvSpPr>
            <a:spLocks xmlns:a="http://schemas.openxmlformats.org/drawingml/2006/main" noGrp="1"/>
          </p:cNvSpPr>
          <p:nvPr/>
        </p:nvSpPr>
        <p:spPr>
          <a:xfrm xmlns:a="http://schemas.openxmlformats.org/drawingml/2006/main">
            <a:off x="341376" y="1680187"/>
            <a:ext cx="32512" cy="1729510"/>
          </a:xfrm>
          <a:custGeom xmlns:a="http://schemas.openxmlformats.org/drawingml/2006/main">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2091E049-A9EB-445D-B5C8-ECBEE69132B8}"/>
              </a:ext>
            </a:extLst>
          </p:cNvPr>
          <p:cNvSpPr>
            <a:spLocks xmlns:a="http://schemas.openxmlformats.org/drawingml/2006/main" noGrp="1"/>
          </p:cNvSpPr>
          <p:nvPr/>
        </p:nvSpPr>
        <p:spPr>
          <a:xfrm xmlns:a="http://schemas.openxmlformats.org/drawingml/2006/main">
            <a:off x="536448" y="1907771"/>
            <a:ext cx="170688" cy="195072"/>
          </a:xfrm>
          <a:custGeom xmlns:a="http://schemas.openxmlformats.org/drawingml/2006/main">
            <a:rect l="l" t="t" r="r" b="b"/>
            <a:pathLst>
              <a:path w="170688" h="195072">
                <a:moveTo>
                  <a:pt x="146304" y="195072"/>
                </a:moveTo>
                <a:lnTo>
                  <a:pt x="36576" y="195072"/>
                </a:lnTo>
                <a:cubicBezTo>
                  <a:pt x="16383" y="195072"/>
                  <a:pt x="0" y="178689"/>
                  <a:pt x="0" y="158496"/>
                </a:cubicBezTo>
                <a:lnTo>
                  <a:pt x="0" y="36576"/>
                </a:lnTo>
                <a:cubicBezTo>
                  <a:pt x="0" y="16383"/>
                  <a:pt x="16383" y="0"/>
                  <a:pt x="36576" y="0"/>
                </a:cubicBezTo>
                <a:lnTo>
                  <a:pt x="152400" y="0"/>
                </a:lnTo>
                <a:cubicBezTo>
                  <a:pt x="162496" y="0"/>
                  <a:pt x="170688" y="8191"/>
                  <a:pt x="170688" y="18288"/>
                </a:cubicBezTo>
                <a:lnTo>
                  <a:pt x="170688" y="128016"/>
                </a:lnTo>
                <a:cubicBezTo>
                  <a:pt x="170688" y="135979"/>
                  <a:pt x="165583" y="142761"/>
                  <a:pt x="158496" y="145275"/>
                </a:cubicBezTo>
                <a:lnTo>
                  <a:pt x="158496" y="170688"/>
                </a:lnTo>
                <a:cubicBezTo>
                  <a:pt x="165240" y="170688"/>
                  <a:pt x="170688" y="176136"/>
                  <a:pt x="170688" y="182880"/>
                </a:cubicBezTo>
                <a:cubicBezTo>
                  <a:pt x="170688" y="189624"/>
                  <a:pt x="165240" y="195072"/>
                  <a:pt x="158496" y="195072"/>
                </a:cubicBezTo>
                <a:lnTo>
                  <a:pt x="146304" y="195072"/>
                </a:lnTo>
                <a:close/>
                <a:moveTo>
                  <a:pt x="36576" y="146304"/>
                </a:moveTo>
                <a:cubicBezTo>
                  <a:pt x="29832" y="146304"/>
                  <a:pt x="24384" y="151752"/>
                  <a:pt x="24384" y="158496"/>
                </a:cubicBezTo>
                <a:cubicBezTo>
                  <a:pt x="24384" y="165240"/>
                  <a:pt x="29832" y="170688"/>
                  <a:pt x="36576" y="170688"/>
                </a:cubicBezTo>
                <a:lnTo>
                  <a:pt x="134112" y="170688"/>
                </a:lnTo>
                <a:lnTo>
                  <a:pt x="134112" y="146304"/>
                </a:lnTo>
                <a:lnTo>
                  <a:pt x="36576" y="146304"/>
                </a:lnTo>
                <a:close/>
                <a:moveTo>
                  <a:pt x="48768" y="57912"/>
                </a:moveTo>
                <a:cubicBezTo>
                  <a:pt x="48768" y="62979"/>
                  <a:pt x="52845" y="67056"/>
                  <a:pt x="57912" y="67056"/>
                </a:cubicBezTo>
                <a:lnTo>
                  <a:pt x="124968" y="67056"/>
                </a:lnTo>
                <a:cubicBezTo>
                  <a:pt x="130035" y="67056"/>
                  <a:pt x="134112" y="62979"/>
                  <a:pt x="134112" y="57912"/>
                </a:cubicBezTo>
                <a:cubicBezTo>
                  <a:pt x="134112" y="52845"/>
                  <a:pt x="130035" y="48768"/>
                  <a:pt x="124968" y="48768"/>
                </a:cubicBezTo>
                <a:lnTo>
                  <a:pt x="57912" y="48768"/>
                </a:lnTo>
                <a:cubicBezTo>
                  <a:pt x="52845" y="48768"/>
                  <a:pt x="48768" y="52845"/>
                  <a:pt x="48768" y="57912"/>
                </a:cubicBezTo>
                <a:close/>
                <a:moveTo>
                  <a:pt x="57912" y="85344"/>
                </a:moveTo>
                <a:cubicBezTo>
                  <a:pt x="52845" y="85344"/>
                  <a:pt x="48768" y="89421"/>
                  <a:pt x="48768" y="94488"/>
                </a:cubicBezTo>
                <a:cubicBezTo>
                  <a:pt x="48768" y="99555"/>
                  <a:pt x="52845" y="103632"/>
                  <a:pt x="57912" y="103632"/>
                </a:cubicBezTo>
                <a:lnTo>
                  <a:pt x="124968" y="103632"/>
                </a:lnTo>
                <a:cubicBezTo>
                  <a:pt x="130035" y="103632"/>
                  <a:pt x="134112" y="99555"/>
                  <a:pt x="134112" y="94488"/>
                </a:cubicBezTo>
                <a:cubicBezTo>
                  <a:pt x="134112" y="89421"/>
                  <a:pt x="130035" y="85344"/>
                  <a:pt x="124968" y="85344"/>
                </a:cubicBezTo>
                <a:lnTo>
                  <a:pt x="57912" y="85344"/>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AB8196C6-FBAE-4716-BA48-98ED36CF9AD2}"/>
              </a:ext>
            </a:extLst>
          </p:cNvPr>
          <p:cNvSpPr>
            <a:spLocks xmlns:a="http://schemas.openxmlformats.org/drawingml/2006/main" noGrp="1"/>
          </p:cNvSpPr>
          <p:nvPr/>
        </p:nvSpPr>
        <p:spPr>
          <a:xfrm xmlns:a="http://schemas.openxmlformats.org/drawingml/2006/main">
            <a:off x="818769" y="1875259"/>
            <a:ext cx="7575296" cy="260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贝塞尔曲线</a:t>
            </a:r>
            <a:r>
              <a:rPr b="1">
                <a:latin typeface="微软雅黑"/>
                <a:ea typeface="微软雅黑"/>
                <a:cs typeface="微软雅黑"/>
              </a:rPr>
              <a:t>核心概念</a:t>
            </a:r>
            <a:endParaRPr sz="2000"/>
          </a:p>
        </p:txBody>
      </p:sp>
      <p:sp>
        <p:nvSpPr>
          <p:cNvPr id="9" name="Text 7">
            <a:extLst xmlns:a="http://schemas.openxmlformats.org/drawingml/2006/main">
              <a:ext uri="{FF2B5EF4-FFF2-40B4-BE49-F238E27FC236}">
                <a16:creationId xmlns:a16="http://schemas.microsoft.com/office/drawing/2014/main" id="{1E4E8384-4E8F-4E02-B299-199F8B10563C}"/>
              </a:ext>
            </a:extLst>
          </p:cNvPr>
          <p:cNvSpPr>
            <a:spLocks xmlns:a="http://schemas.openxmlformats.org/drawingml/2006/main" noGrp="1"/>
          </p:cNvSpPr>
          <p:nvPr/>
        </p:nvSpPr>
        <p:spPr>
          <a:xfrm xmlns:a="http://schemas.openxmlformats.org/drawingml/2006/main">
            <a:off x="818769" y="2232891"/>
            <a:ext cx="7550912" cy="9184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由上可知，贝塞尔曲线是应用于</a:t>
            </a:r>
            <a:r>
              <a:rPr sz="1600" b="1">
                <a:latin typeface="微软雅黑"/>
                <a:ea typeface="微软雅黑"/>
                <a:cs typeface="微软雅黑"/>
              </a:rPr>
              <a:t>二维图形应用程序</a:t>
            </a:r>
            <a:r>
              <a:rPr sz="1600">
                <a:latin typeface="微软雅黑"/>
                <a:ea typeface="微软雅黑"/>
                <a:cs typeface="微软雅黑"/>
              </a:rPr>
              <a:t>的数学曲线，由一组称为</a:t>
            </a:r>
            <a:r>
              <a:rPr sz="1600">
                <a:highlight>
                  <a:srgbClr val="E6B450">
                    <a:alpha val="20000"/>
                  </a:srgbClr>
                </a:highlight>
                <a:latin typeface="微软雅黑"/>
                <a:ea typeface="微软雅黑"/>
                <a:cs typeface="微软雅黑"/>
              </a:rPr>
              <a:t> 控制点 </a:t>
            </a:r>
            <a:r>
              <a:rPr sz="1600">
                <a:latin typeface="微软雅黑"/>
                <a:ea typeface="微软雅黑"/>
                <a:cs typeface="微软雅黑"/>
              </a:rPr>
              <a:t>的向量来确定，给定的控制点按顺序连接构成</a:t>
            </a:r>
            <a:r>
              <a:rPr sz="1600">
                <a:highlight>
                  <a:srgbClr val="E6B450">
                    <a:alpha val="20000"/>
                  </a:srgbClr>
                </a:highlight>
                <a:latin typeface="微软雅黑"/>
                <a:ea typeface="微软雅黑"/>
                <a:cs typeface="微软雅黑"/>
              </a:rPr>
              <a:t> 控制多边形 </a:t>
            </a:r>
            <a:r>
              <a:rPr sz="1600">
                <a:latin typeface="微软雅黑"/>
                <a:ea typeface="微软雅黑"/>
                <a:cs typeface="微软雅黑"/>
              </a:rPr>
              <a:t>，贝塞尔曲线逼近这个多边形，进而通过调整控制点坐标改变曲线的形状。</a:t>
            </a:r>
            <a:endParaRPr sz="2400"/>
          </a:p>
        </p:txBody>
      </p:sp>
      <p:sp>
        <p:nvSpPr>
          <p:cNvPr id="10" name="Shape 8">
            <a:extLst xmlns:a="http://schemas.openxmlformats.org/drawingml/2006/main">
              <a:ext uri="{FF2B5EF4-FFF2-40B4-BE49-F238E27FC236}">
                <a16:creationId xmlns:a16="http://schemas.microsoft.com/office/drawing/2014/main" id="{A9D277BF-A818-4B5D-8D04-65ABBECDDD8B}"/>
              </a:ext>
            </a:extLst>
          </p:cNvPr>
          <p:cNvSpPr>
            <a:spLocks xmlns:a="http://schemas.openxmlformats.org/drawingml/2006/main" noGrp="1"/>
          </p:cNvSpPr>
          <p:nvPr/>
        </p:nvSpPr>
        <p:spPr>
          <a:xfrm xmlns:a="http://schemas.openxmlformats.org/drawingml/2006/main">
            <a:off x="341376" y="3507233"/>
            <a:ext cx="8144256" cy="1822426"/>
          </a:xfrm>
          <a:custGeom xmlns:a="http://schemas.openxmlformats.org/drawingml/2006/main">
            <a:rect l="l" t="t" r="r" b="b"/>
            <a:pathLst>
              <a:path w="8144256" h="1227328">
                <a:moveTo>
                  <a:pt x="32512" y="0"/>
                </a:moveTo>
                <a:lnTo>
                  <a:pt x="8046720" y="0"/>
                </a:lnTo>
                <a:cubicBezTo>
                  <a:pt x="8100588" y="0"/>
                  <a:pt x="8144256" y="43668"/>
                  <a:pt x="8144256" y="97536"/>
                </a:cubicBezTo>
                <a:lnTo>
                  <a:pt x="8144256" y="1129792"/>
                </a:lnTo>
                <a:cubicBezTo>
                  <a:pt x="8144256" y="1183660"/>
                  <a:pt x="8100588" y="1227328"/>
                  <a:pt x="8046720" y="1227328"/>
                </a:cubicBezTo>
                <a:lnTo>
                  <a:pt x="32512" y="1227328"/>
                </a:lnTo>
                <a:cubicBezTo>
                  <a:pt x="14556" y="1227328"/>
                  <a:pt x="0" y="1212772"/>
                  <a:pt x="0" y="1194816"/>
                </a:cubicBezTo>
                <a:lnTo>
                  <a:pt x="0" y="32512"/>
                </a:lnTo>
                <a:cubicBezTo>
                  <a:pt x="0" y="14556"/>
                  <a:pt x="14556" y="0"/>
                  <a:pt x="32512"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B13B26EB-05F0-4C50-A9E6-BE8955C3586F}"/>
              </a:ext>
            </a:extLst>
          </p:cNvPr>
          <p:cNvSpPr>
            <a:spLocks xmlns:a="http://schemas.openxmlformats.org/drawingml/2006/main" noGrp="1"/>
          </p:cNvSpPr>
          <p:nvPr/>
        </p:nvSpPr>
        <p:spPr>
          <a:xfrm xmlns:a="http://schemas.openxmlformats.org/drawingml/2006/main">
            <a:off x="341376" y="3507233"/>
            <a:ext cx="32512" cy="1822426"/>
          </a:xfrm>
          <a:custGeom xmlns:a="http://schemas.openxmlformats.org/drawingml/2006/main">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8CE67FF5-31FE-4D06-BCA7-BE1227A8290C}"/>
              </a:ext>
            </a:extLst>
          </p:cNvPr>
          <p:cNvSpPr>
            <a:spLocks xmlns:a="http://schemas.openxmlformats.org/drawingml/2006/main" noGrp="1"/>
          </p:cNvSpPr>
          <p:nvPr/>
        </p:nvSpPr>
        <p:spPr>
          <a:xfrm xmlns:a="http://schemas.openxmlformats.org/drawingml/2006/main">
            <a:off x="503936" y="3734817"/>
            <a:ext cx="243840" cy="195072"/>
          </a:xfrm>
          <a:custGeom xmlns:a="http://schemas.openxmlformats.org/drawingml/2006/main">
            <a:rect l="l" t="t" r="r" b="b"/>
            <a:pathLst>
              <a:path w="243840" h="195072">
                <a:moveTo>
                  <a:pt x="158458" y="80201"/>
                </a:moveTo>
                <a:cubicBezTo>
                  <a:pt x="163106" y="78943"/>
                  <a:pt x="167983" y="81153"/>
                  <a:pt x="170078" y="85458"/>
                </a:cubicBezTo>
                <a:lnTo>
                  <a:pt x="177165" y="99784"/>
                </a:lnTo>
                <a:cubicBezTo>
                  <a:pt x="181089" y="100317"/>
                  <a:pt x="184937" y="101384"/>
                  <a:pt x="188557" y="102870"/>
                </a:cubicBezTo>
                <a:lnTo>
                  <a:pt x="201892" y="93993"/>
                </a:lnTo>
                <a:cubicBezTo>
                  <a:pt x="205892" y="91326"/>
                  <a:pt x="211188" y="91859"/>
                  <a:pt x="214579" y="95250"/>
                </a:cubicBezTo>
                <a:lnTo>
                  <a:pt x="221894" y="102565"/>
                </a:lnTo>
                <a:cubicBezTo>
                  <a:pt x="225285" y="105956"/>
                  <a:pt x="225819" y="111290"/>
                  <a:pt x="223152" y="115253"/>
                </a:cubicBezTo>
                <a:lnTo>
                  <a:pt x="214274" y="128549"/>
                </a:lnTo>
                <a:cubicBezTo>
                  <a:pt x="214998" y="130340"/>
                  <a:pt x="215646" y="132207"/>
                  <a:pt x="216179" y="134150"/>
                </a:cubicBezTo>
                <a:cubicBezTo>
                  <a:pt x="216713" y="136093"/>
                  <a:pt x="217056" y="137998"/>
                  <a:pt x="217322" y="139941"/>
                </a:cubicBezTo>
                <a:lnTo>
                  <a:pt x="231686" y="147028"/>
                </a:lnTo>
                <a:cubicBezTo>
                  <a:pt x="235991" y="149162"/>
                  <a:pt x="238201" y="154038"/>
                  <a:pt x="236944" y="158648"/>
                </a:cubicBezTo>
                <a:lnTo>
                  <a:pt x="234277" y="168631"/>
                </a:lnTo>
                <a:cubicBezTo>
                  <a:pt x="233020" y="173241"/>
                  <a:pt x="228714" y="176365"/>
                  <a:pt x="223914" y="176060"/>
                </a:cubicBezTo>
                <a:lnTo>
                  <a:pt x="207912" y="175031"/>
                </a:lnTo>
                <a:cubicBezTo>
                  <a:pt x="205511" y="178117"/>
                  <a:pt x="202730" y="180975"/>
                  <a:pt x="199568" y="183413"/>
                </a:cubicBezTo>
                <a:lnTo>
                  <a:pt x="200597" y="199377"/>
                </a:lnTo>
                <a:cubicBezTo>
                  <a:pt x="200901" y="204178"/>
                  <a:pt x="197777" y="208521"/>
                  <a:pt x="193167" y="209741"/>
                </a:cubicBezTo>
                <a:lnTo>
                  <a:pt x="183185" y="212407"/>
                </a:lnTo>
                <a:cubicBezTo>
                  <a:pt x="178537" y="213665"/>
                  <a:pt x="173698" y="211455"/>
                  <a:pt x="171564" y="207150"/>
                </a:cubicBezTo>
                <a:lnTo>
                  <a:pt x="164478" y="192824"/>
                </a:lnTo>
                <a:cubicBezTo>
                  <a:pt x="160553" y="192291"/>
                  <a:pt x="156705" y="191224"/>
                  <a:pt x="153086" y="189738"/>
                </a:cubicBezTo>
                <a:lnTo>
                  <a:pt x="139751" y="198615"/>
                </a:lnTo>
                <a:cubicBezTo>
                  <a:pt x="135750" y="201282"/>
                  <a:pt x="130454" y="200749"/>
                  <a:pt x="127063" y="197358"/>
                </a:cubicBezTo>
                <a:lnTo>
                  <a:pt x="119748" y="190043"/>
                </a:lnTo>
                <a:cubicBezTo>
                  <a:pt x="116357" y="186652"/>
                  <a:pt x="115824" y="181356"/>
                  <a:pt x="118491" y="177355"/>
                </a:cubicBezTo>
                <a:lnTo>
                  <a:pt x="127368" y="164021"/>
                </a:lnTo>
                <a:cubicBezTo>
                  <a:pt x="126644" y="162230"/>
                  <a:pt x="125997" y="160363"/>
                  <a:pt x="125463" y="158420"/>
                </a:cubicBezTo>
                <a:cubicBezTo>
                  <a:pt x="124930" y="156477"/>
                  <a:pt x="124587" y="154534"/>
                  <a:pt x="124320" y="152629"/>
                </a:cubicBezTo>
                <a:lnTo>
                  <a:pt x="109957" y="145542"/>
                </a:lnTo>
                <a:cubicBezTo>
                  <a:pt x="105651" y="143408"/>
                  <a:pt x="103480" y="138532"/>
                  <a:pt x="104699" y="133922"/>
                </a:cubicBezTo>
                <a:lnTo>
                  <a:pt x="107366" y="123939"/>
                </a:lnTo>
                <a:cubicBezTo>
                  <a:pt x="108623" y="119329"/>
                  <a:pt x="112928" y="116205"/>
                  <a:pt x="117729" y="116510"/>
                </a:cubicBezTo>
                <a:lnTo>
                  <a:pt x="133693" y="117539"/>
                </a:lnTo>
                <a:cubicBezTo>
                  <a:pt x="136093" y="114452"/>
                  <a:pt x="138874" y="111595"/>
                  <a:pt x="142037" y="109157"/>
                </a:cubicBezTo>
                <a:lnTo>
                  <a:pt x="141008" y="93231"/>
                </a:lnTo>
                <a:cubicBezTo>
                  <a:pt x="140703" y="88430"/>
                  <a:pt x="143827" y="84087"/>
                  <a:pt x="148438" y="82868"/>
                </a:cubicBezTo>
                <a:lnTo>
                  <a:pt x="158420" y="80201"/>
                </a:lnTo>
                <a:close/>
                <a:moveTo>
                  <a:pt x="170840" y="129540"/>
                </a:moveTo>
                <a:cubicBezTo>
                  <a:pt x="161588" y="129551"/>
                  <a:pt x="154085" y="137071"/>
                  <a:pt x="154095" y="146323"/>
                </a:cubicBezTo>
                <a:cubicBezTo>
                  <a:pt x="154106" y="155575"/>
                  <a:pt x="161626" y="163079"/>
                  <a:pt x="170879" y="163068"/>
                </a:cubicBezTo>
                <a:cubicBezTo>
                  <a:pt x="180131" y="163057"/>
                  <a:pt x="187634" y="155537"/>
                  <a:pt x="187623" y="146285"/>
                </a:cubicBezTo>
                <a:cubicBezTo>
                  <a:pt x="187613" y="137033"/>
                  <a:pt x="180093" y="129529"/>
                  <a:pt x="170840" y="129540"/>
                </a:cubicBezTo>
                <a:close/>
                <a:moveTo>
                  <a:pt x="85687" y="-17335"/>
                </a:moveTo>
                <a:lnTo>
                  <a:pt x="95669" y="-14668"/>
                </a:lnTo>
                <a:cubicBezTo>
                  <a:pt x="100279" y="-13411"/>
                  <a:pt x="103403" y="-9068"/>
                  <a:pt x="103099" y="-4305"/>
                </a:cubicBezTo>
                <a:lnTo>
                  <a:pt x="102070" y="11620"/>
                </a:lnTo>
                <a:cubicBezTo>
                  <a:pt x="105232" y="14059"/>
                  <a:pt x="108014" y="16878"/>
                  <a:pt x="110414" y="20003"/>
                </a:cubicBezTo>
                <a:lnTo>
                  <a:pt x="126416" y="18974"/>
                </a:lnTo>
                <a:cubicBezTo>
                  <a:pt x="131178" y="18669"/>
                  <a:pt x="135522" y="21793"/>
                  <a:pt x="136779" y="26403"/>
                </a:cubicBezTo>
                <a:lnTo>
                  <a:pt x="139446" y="36386"/>
                </a:lnTo>
                <a:cubicBezTo>
                  <a:pt x="140665" y="40996"/>
                  <a:pt x="138493" y="45872"/>
                  <a:pt x="134188" y="48006"/>
                </a:cubicBezTo>
                <a:lnTo>
                  <a:pt x="119825" y="55093"/>
                </a:lnTo>
                <a:cubicBezTo>
                  <a:pt x="119558" y="57036"/>
                  <a:pt x="119177" y="58979"/>
                  <a:pt x="118682" y="60884"/>
                </a:cubicBezTo>
                <a:cubicBezTo>
                  <a:pt x="118186" y="62789"/>
                  <a:pt x="117500" y="64694"/>
                  <a:pt x="116777" y="66484"/>
                </a:cubicBezTo>
                <a:lnTo>
                  <a:pt x="125654" y="79819"/>
                </a:lnTo>
                <a:cubicBezTo>
                  <a:pt x="128321" y="83820"/>
                  <a:pt x="127787" y="89116"/>
                  <a:pt x="124397" y="92507"/>
                </a:cubicBezTo>
                <a:lnTo>
                  <a:pt x="117081" y="99822"/>
                </a:lnTo>
                <a:cubicBezTo>
                  <a:pt x="113690" y="103213"/>
                  <a:pt x="108394" y="103746"/>
                  <a:pt x="104394" y="101079"/>
                </a:cubicBezTo>
                <a:lnTo>
                  <a:pt x="91059" y="92202"/>
                </a:lnTo>
                <a:cubicBezTo>
                  <a:pt x="87440" y="93688"/>
                  <a:pt x="83591" y="94755"/>
                  <a:pt x="79667" y="95288"/>
                </a:cubicBezTo>
                <a:lnTo>
                  <a:pt x="72581" y="109614"/>
                </a:lnTo>
                <a:cubicBezTo>
                  <a:pt x="70447" y="113919"/>
                  <a:pt x="65570" y="116091"/>
                  <a:pt x="60960" y="114871"/>
                </a:cubicBezTo>
                <a:lnTo>
                  <a:pt x="50978" y="112204"/>
                </a:lnTo>
                <a:cubicBezTo>
                  <a:pt x="46330" y="110947"/>
                  <a:pt x="43244" y="106604"/>
                  <a:pt x="43548" y="101841"/>
                </a:cubicBezTo>
                <a:lnTo>
                  <a:pt x="44577" y="85877"/>
                </a:lnTo>
                <a:cubicBezTo>
                  <a:pt x="41415" y="83439"/>
                  <a:pt x="38633" y="80620"/>
                  <a:pt x="36233" y="77495"/>
                </a:cubicBezTo>
                <a:lnTo>
                  <a:pt x="20231" y="78524"/>
                </a:lnTo>
                <a:cubicBezTo>
                  <a:pt x="15469" y="78829"/>
                  <a:pt x="11125" y="75705"/>
                  <a:pt x="9868" y="71095"/>
                </a:cubicBezTo>
                <a:lnTo>
                  <a:pt x="7201" y="61112"/>
                </a:lnTo>
                <a:cubicBezTo>
                  <a:pt x="5982" y="56502"/>
                  <a:pt x="8153" y="51626"/>
                  <a:pt x="12459" y="49492"/>
                </a:cubicBezTo>
                <a:lnTo>
                  <a:pt x="26822" y="42405"/>
                </a:lnTo>
                <a:cubicBezTo>
                  <a:pt x="27089" y="40462"/>
                  <a:pt x="27470" y="38557"/>
                  <a:pt x="27965" y="36614"/>
                </a:cubicBezTo>
                <a:cubicBezTo>
                  <a:pt x="28499" y="34671"/>
                  <a:pt x="29108" y="32804"/>
                  <a:pt x="29870" y="31013"/>
                </a:cubicBezTo>
                <a:lnTo>
                  <a:pt x="20993" y="17717"/>
                </a:lnTo>
                <a:cubicBezTo>
                  <a:pt x="18326" y="13716"/>
                  <a:pt x="18859" y="8420"/>
                  <a:pt x="22250" y="5029"/>
                </a:cubicBezTo>
                <a:lnTo>
                  <a:pt x="29566" y="-2286"/>
                </a:lnTo>
                <a:cubicBezTo>
                  <a:pt x="32957" y="-5677"/>
                  <a:pt x="38252" y="-6210"/>
                  <a:pt x="42253" y="-3543"/>
                </a:cubicBezTo>
                <a:lnTo>
                  <a:pt x="55588" y="5334"/>
                </a:lnTo>
                <a:cubicBezTo>
                  <a:pt x="59207" y="3848"/>
                  <a:pt x="63055" y="2781"/>
                  <a:pt x="66980" y="2248"/>
                </a:cubicBezTo>
                <a:lnTo>
                  <a:pt x="74066" y="-12078"/>
                </a:lnTo>
                <a:cubicBezTo>
                  <a:pt x="76200" y="-16383"/>
                  <a:pt x="81039" y="-18555"/>
                  <a:pt x="85687" y="-17335"/>
                </a:cubicBezTo>
                <a:close/>
                <a:moveTo>
                  <a:pt x="73304" y="32004"/>
                </a:moveTo>
                <a:cubicBezTo>
                  <a:pt x="64052" y="32004"/>
                  <a:pt x="56540" y="39516"/>
                  <a:pt x="56540" y="48768"/>
                </a:cubicBezTo>
                <a:cubicBezTo>
                  <a:pt x="56540" y="58020"/>
                  <a:pt x="64052" y="65532"/>
                  <a:pt x="73304" y="65532"/>
                </a:cubicBezTo>
                <a:cubicBezTo>
                  <a:pt x="82557" y="65532"/>
                  <a:pt x="90068" y="58020"/>
                  <a:pt x="90068" y="48768"/>
                </a:cubicBezTo>
                <a:cubicBezTo>
                  <a:pt x="90068" y="39516"/>
                  <a:pt x="82557" y="32004"/>
                  <a:pt x="73304" y="32004"/>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1CBED261-45F9-4C28-803E-7E552D2953B7}"/>
              </a:ext>
            </a:extLst>
          </p:cNvPr>
          <p:cNvSpPr>
            <a:spLocks xmlns:a="http://schemas.openxmlformats.org/drawingml/2006/main" noGrp="1"/>
          </p:cNvSpPr>
          <p:nvPr/>
        </p:nvSpPr>
        <p:spPr>
          <a:xfrm xmlns:a="http://schemas.openxmlformats.org/drawingml/2006/main">
            <a:off x="827786" y="3702305"/>
            <a:ext cx="7567168" cy="260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控制点作用</a:t>
            </a:r>
            <a:endParaRPr sz="2000"/>
          </a:p>
        </p:txBody>
      </p:sp>
      <p:sp>
        <p:nvSpPr>
          <p:cNvPr id="14" name="Text 12">
            <a:extLst xmlns:a="http://schemas.openxmlformats.org/drawingml/2006/main">
              <a:ext uri="{FF2B5EF4-FFF2-40B4-BE49-F238E27FC236}">
                <a16:creationId xmlns:a16="http://schemas.microsoft.com/office/drawing/2014/main" id="{0AEED103-ABEE-44B1-B6D7-1E114C17ACC4}"/>
              </a:ext>
            </a:extLst>
          </p:cNvPr>
          <p:cNvSpPr>
            <a:spLocks xmlns:a="http://schemas.openxmlformats.org/drawingml/2006/main" noGrp="1"/>
          </p:cNvSpPr>
          <p:nvPr/>
        </p:nvSpPr>
        <p:spPr>
          <a:xfrm xmlns:a="http://schemas.openxmlformats.org/drawingml/2006/main">
            <a:off x="827786" y="4059937"/>
            <a:ext cx="7542784" cy="90691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控制点的作用是</a:t>
            </a:r>
            <a:r>
              <a:rPr sz="1600" b="1">
                <a:latin typeface="微软雅黑"/>
                <a:ea typeface="微软雅黑"/>
                <a:cs typeface="微软雅黑"/>
              </a:rPr>
              <a:t>控制曲线的弯曲程度</a:t>
            </a:r>
            <a:r>
              <a:rPr sz="1600">
                <a:latin typeface="微软雅黑"/>
                <a:ea typeface="微软雅黑"/>
                <a:cs typeface="微软雅黑"/>
              </a:rPr>
              <a:t>，其线只需要很少的控制点就能够生成较复杂的平滑曲线。该方法能够保证输入的控制点与生成的曲线之间的关系非常</a:t>
            </a:r>
            <a:r>
              <a:rPr sz="1600">
                <a:highlight>
                  <a:srgbClr val="E6B450">
                    <a:alpha val="20000"/>
                  </a:srgbClr>
                </a:highlight>
                <a:latin typeface="微软雅黑"/>
                <a:ea typeface="微软雅黑"/>
                <a:cs typeface="微软雅黑"/>
              </a:rPr>
              <a:t> 简洁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明确 </a:t>
            </a:r>
            <a:r>
              <a:rPr sz="1600">
                <a:latin typeface="微软雅黑"/>
                <a:ea typeface="微软雅黑"/>
                <a:cs typeface="微软雅黑"/>
              </a:rPr>
              <a:t>，因此常用于路径平滑。</a:t>
            </a:r>
            <a:endParaRPr sz="2400"/>
          </a:p>
        </p:txBody>
      </p:sp>
      <p:sp>
        <p:nvSpPr>
          <p:cNvPr id="15" name="Shape 13">
            <a:extLst xmlns:a="http://schemas.openxmlformats.org/drawingml/2006/main">
              <a:ext uri="{FF2B5EF4-FFF2-40B4-BE49-F238E27FC236}">
                <a16:creationId xmlns:a16="http://schemas.microsoft.com/office/drawing/2014/main" id="{6FDCE4AE-58BA-466C-82C8-71CC36F0088A}"/>
              </a:ext>
            </a:extLst>
          </p:cNvPr>
          <p:cNvSpPr>
            <a:spLocks xmlns:a="http://schemas.openxmlformats.org/drawingml/2006/main" noGrp="1"/>
          </p:cNvSpPr>
          <p:nvPr/>
        </p:nvSpPr>
        <p:spPr>
          <a:xfrm xmlns:a="http://schemas.openxmlformats.org/drawingml/2006/main">
            <a:off x="8753348" y="1684251"/>
            <a:ext cx="3113024" cy="5047488"/>
          </a:xfrm>
          <a:custGeom xmlns:a="http://schemas.openxmlformats.org/drawingml/2006/main">
            <a:rect l="l" t="t" r="r" b="b"/>
            <a:pathLst>
              <a:path w="3113024" h="5047488">
                <a:moveTo>
                  <a:pt x="97531" y="0"/>
                </a:moveTo>
                <a:lnTo>
                  <a:pt x="3015493" y="0"/>
                </a:lnTo>
                <a:cubicBezTo>
                  <a:pt x="3069358" y="0"/>
                  <a:pt x="3113024" y="43666"/>
                  <a:pt x="3113024" y="97531"/>
                </a:cubicBezTo>
                <a:lnTo>
                  <a:pt x="3113024" y="4949957"/>
                </a:lnTo>
                <a:cubicBezTo>
                  <a:pt x="3113024" y="5003822"/>
                  <a:pt x="3069358" y="5047488"/>
                  <a:pt x="3015493" y="5047488"/>
                </a:cubicBezTo>
                <a:lnTo>
                  <a:pt x="97531" y="5047488"/>
                </a:lnTo>
                <a:cubicBezTo>
                  <a:pt x="43666" y="5047488"/>
                  <a:pt x="0" y="5003822"/>
                  <a:pt x="0" y="4949957"/>
                </a:cubicBezTo>
                <a:lnTo>
                  <a:pt x="0" y="97531"/>
                </a:lnTo>
                <a:cubicBezTo>
                  <a:pt x="0" y="43702"/>
                  <a:pt x="43702" y="0"/>
                  <a:pt x="97531"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6" name="Shape 14">
            <a:extLst xmlns:a="http://schemas.openxmlformats.org/drawingml/2006/main">
              <a:ext uri="{FF2B5EF4-FFF2-40B4-BE49-F238E27FC236}">
                <a16:creationId xmlns:a16="http://schemas.microsoft.com/office/drawing/2014/main" id="{EABED714-B5DF-432C-8E6D-21FFEE6FBFC6}"/>
              </a:ext>
            </a:extLst>
          </p:cNvPr>
          <p:cNvSpPr>
            <a:spLocks xmlns:a="http://schemas.openxmlformats.org/drawingml/2006/main" noGrp="1"/>
          </p:cNvSpPr>
          <p:nvPr/>
        </p:nvSpPr>
        <p:spPr>
          <a:xfrm xmlns:a="http://schemas.openxmlformats.org/drawingml/2006/main">
            <a:off x="8972804" y="1915899"/>
            <a:ext cx="162560" cy="162560"/>
          </a:xfrm>
          <a:custGeom xmlns:a="http://schemas.openxmlformats.org/drawingml/2006/main">
            <a:rect l="l" t="t" r="r" b="b"/>
            <a:pathLst>
              <a:path w="162560" h="162560">
                <a:moveTo>
                  <a:pt x="15240" y="45720"/>
                </a:moveTo>
                <a:cubicBezTo>
                  <a:pt x="23651" y="45720"/>
                  <a:pt x="30480" y="38891"/>
                  <a:pt x="30480" y="30480"/>
                </a:cubicBezTo>
                <a:cubicBezTo>
                  <a:pt x="30480" y="22069"/>
                  <a:pt x="23651" y="15240"/>
                  <a:pt x="15240" y="15240"/>
                </a:cubicBezTo>
                <a:cubicBezTo>
                  <a:pt x="6829" y="15240"/>
                  <a:pt x="0" y="22069"/>
                  <a:pt x="0" y="30480"/>
                </a:cubicBezTo>
                <a:cubicBezTo>
                  <a:pt x="0" y="38891"/>
                  <a:pt x="6829" y="45720"/>
                  <a:pt x="15240" y="45720"/>
                </a:cubicBezTo>
                <a:close/>
                <a:moveTo>
                  <a:pt x="60960" y="20320"/>
                </a:moveTo>
                <a:cubicBezTo>
                  <a:pt x="55340" y="20320"/>
                  <a:pt x="50800" y="24860"/>
                  <a:pt x="50800" y="30480"/>
                </a:cubicBezTo>
                <a:cubicBezTo>
                  <a:pt x="50800" y="36100"/>
                  <a:pt x="55340" y="40640"/>
                  <a:pt x="60960" y="40640"/>
                </a:cubicBezTo>
                <a:lnTo>
                  <a:pt x="152400" y="40640"/>
                </a:lnTo>
                <a:cubicBezTo>
                  <a:pt x="158020" y="40640"/>
                  <a:pt x="162560" y="36100"/>
                  <a:pt x="162560" y="30480"/>
                </a:cubicBezTo>
                <a:cubicBezTo>
                  <a:pt x="162560" y="24860"/>
                  <a:pt x="158020" y="20320"/>
                  <a:pt x="152400" y="20320"/>
                </a:cubicBezTo>
                <a:lnTo>
                  <a:pt x="60960" y="20320"/>
                </a:lnTo>
                <a:close/>
                <a:moveTo>
                  <a:pt x="60960" y="71120"/>
                </a:moveTo>
                <a:cubicBezTo>
                  <a:pt x="55340" y="71120"/>
                  <a:pt x="50800" y="75660"/>
                  <a:pt x="50800" y="81280"/>
                </a:cubicBezTo>
                <a:cubicBezTo>
                  <a:pt x="50800" y="86900"/>
                  <a:pt x="55340" y="91440"/>
                  <a:pt x="60960" y="91440"/>
                </a:cubicBezTo>
                <a:lnTo>
                  <a:pt x="152400" y="91440"/>
                </a:lnTo>
                <a:cubicBezTo>
                  <a:pt x="158020" y="91440"/>
                  <a:pt x="162560" y="86900"/>
                  <a:pt x="162560" y="81280"/>
                </a:cubicBezTo>
                <a:cubicBezTo>
                  <a:pt x="162560" y="75660"/>
                  <a:pt x="158020" y="71120"/>
                  <a:pt x="152400" y="71120"/>
                </a:cubicBezTo>
                <a:lnTo>
                  <a:pt x="60960" y="71120"/>
                </a:lnTo>
                <a:close/>
                <a:moveTo>
                  <a:pt x="60960" y="121920"/>
                </a:moveTo>
                <a:cubicBezTo>
                  <a:pt x="55340" y="121920"/>
                  <a:pt x="50800" y="126460"/>
                  <a:pt x="50800" y="132080"/>
                </a:cubicBezTo>
                <a:cubicBezTo>
                  <a:pt x="50800" y="137700"/>
                  <a:pt x="55340" y="142240"/>
                  <a:pt x="60960" y="142240"/>
                </a:cubicBezTo>
                <a:lnTo>
                  <a:pt x="152400" y="142240"/>
                </a:lnTo>
                <a:cubicBezTo>
                  <a:pt x="158020" y="142240"/>
                  <a:pt x="162560" y="137700"/>
                  <a:pt x="162560" y="132080"/>
                </a:cubicBezTo>
                <a:cubicBezTo>
                  <a:pt x="162560" y="126460"/>
                  <a:pt x="158020" y="121920"/>
                  <a:pt x="152400" y="121920"/>
                </a:cubicBezTo>
                <a:lnTo>
                  <a:pt x="60960" y="121920"/>
                </a:lnTo>
                <a:close/>
                <a:moveTo>
                  <a:pt x="15240" y="147320"/>
                </a:moveTo>
                <a:cubicBezTo>
                  <a:pt x="23651" y="147320"/>
                  <a:pt x="30480" y="140491"/>
                  <a:pt x="30480" y="132080"/>
                </a:cubicBezTo>
                <a:cubicBezTo>
                  <a:pt x="30480" y="123669"/>
                  <a:pt x="23651" y="116840"/>
                  <a:pt x="15240" y="116840"/>
                </a:cubicBezTo>
                <a:cubicBezTo>
                  <a:pt x="6829" y="116840"/>
                  <a:pt x="0" y="123669"/>
                  <a:pt x="0" y="132080"/>
                </a:cubicBezTo>
                <a:cubicBezTo>
                  <a:pt x="0" y="140491"/>
                  <a:pt x="6829" y="147320"/>
                  <a:pt x="15240" y="147320"/>
                </a:cubicBezTo>
                <a:close/>
                <a:moveTo>
                  <a:pt x="30480" y="81280"/>
                </a:moveTo>
                <a:cubicBezTo>
                  <a:pt x="30480" y="72869"/>
                  <a:pt x="23651" y="66040"/>
                  <a:pt x="15240" y="66040"/>
                </a:cubicBezTo>
                <a:cubicBezTo>
                  <a:pt x="6829" y="66040"/>
                  <a:pt x="0" y="72869"/>
                  <a:pt x="0" y="81280"/>
                </a:cubicBezTo>
                <a:cubicBezTo>
                  <a:pt x="0" y="89691"/>
                  <a:pt x="6829" y="96520"/>
                  <a:pt x="15240" y="96520"/>
                </a:cubicBezTo>
                <a:cubicBezTo>
                  <a:pt x="23651" y="96520"/>
                  <a:pt x="30480" y="89691"/>
                  <a:pt x="30480" y="81280"/>
                </a:cubicBez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E48F0C6F-2410-45F0-957E-08DE35314A01}"/>
              </a:ext>
            </a:extLst>
          </p:cNvPr>
          <p:cNvSpPr>
            <a:spLocks xmlns:a="http://schemas.openxmlformats.org/drawingml/2006/main" noGrp="1"/>
          </p:cNvSpPr>
          <p:nvPr/>
        </p:nvSpPr>
        <p:spPr>
          <a:xfrm xmlns:a="http://schemas.openxmlformats.org/drawingml/2006/main">
            <a:off x="9155684" y="1883387"/>
            <a:ext cx="2592832" cy="227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600" b="1">
                <a:latin typeface="微软雅黑"/>
                <a:ea typeface="微软雅黑"/>
                <a:cs typeface="微软雅黑"/>
              </a:rPr>
              <a:t>贝塞尔曲线特点</a:t>
            </a:r>
            <a:endParaRPr sz="1600"/>
          </a:p>
        </p:txBody>
      </p:sp>
      <p:sp>
        <p:nvSpPr>
          <p:cNvPr id="18" name="Shape 16">
            <a:extLst xmlns:a="http://schemas.openxmlformats.org/drawingml/2006/main">
              <a:ext uri="{FF2B5EF4-FFF2-40B4-BE49-F238E27FC236}">
                <a16:creationId xmlns:a16="http://schemas.microsoft.com/office/drawing/2014/main" id="{E9D0472F-3074-43FB-871D-48C3CAC133C6}"/>
              </a:ext>
            </a:extLst>
          </p:cNvPr>
          <p:cNvSpPr>
            <a:spLocks xmlns:a="http://schemas.openxmlformats.org/drawingml/2006/main" noGrp="1"/>
          </p:cNvSpPr>
          <p:nvPr/>
        </p:nvSpPr>
        <p:spPr>
          <a:xfrm xmlns:a="http://schemas.openxmlformats.org/drawingml/2006/main">
            <a:off x="8952484" y="2273531"/>
            <a:ext cx="2714752" cy="747776"/>
          </a:xfrm>
          <a:custGeom xmlns:a="http://schemas.openxmlformats.org/drawingml/2006/main">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xmlns:a="http://schemas.openxmlformats.org/drawingml/2006/main">
            <a:srgbClr val="5F87A7">
              <a:alpha val="20000"/>
            </a:srgbClr>
          </a:solidFill>
        </p:spPr>
      </p:sp>
      <p:sp>
        <p:nvSpPr>
          <p:cNvPr id="19" name="Shape 17">
            <a:extLst xmlns:a="http://schemas.openxmlformats.org/drawingml/2006/main">
              <a:ext uri="{FF2B5EF4-FFF2-40B4-BE49-F238E27FC236}">
                <a16:creationId xmlns:a16="http://schemas.microsoft.com/office/drawing/2014/main" id="{60ADCFCB-5B83-4F18-8091-D4DEEA9EB9C3}"/>
              </a:ext>
            </a:extLst>
          </p:cNvPr>
          <p:cNvSpPr>
            <a:spLocks xmlns:a="http://schemas.openxmlformats.org/drawingml/2006/main" noGrp="1"/>
          </p:cNvSpPr>
          <p:nvPr/>
        </p:nvSpPr>
        <p:spPr>
          <a:xfrm xmlns:a="http://schemas.openxmlformats.org/drawingml/2006/main">
            <a:off x="9111996" y="2444219"/>
            <a:ext cx="128016" cy="146304"/>
          </a:xfrm>
          <a:custGeom xmlns:a="http://schemas.openxmlformats.org/drawingml/2006/main">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xmlns:a="http://schemas.openxmlformats.org/drawingml/2006/main">
            <a:srgbClr val="E6B450"/>
          </a:solidFill>
        </p:spPr>
      </p:sp>
      <p:sp>
        <p:nvSpPr>
          <p:cNvPr id="20" name="Text 18">
            <a:extLst xmlns:a="http://schemas.openxmlformats.org/drawingml/2006/main">
              <a:ext uri="{FF2B5EF4-FFF2-40B4-BE49-F238E27FC236}">
                <a16:creationId xmlns:a16="http://schemas.microsoft.com/office/drawing/2014/main" id="{94C1416F-0254-49E8-A482-39B30415E1A8}"/>
              </a:ext>
            </a:extLst>
          </p:cNvPr>
          <p:cNvSpPr>
            <a:spLocks xmlns:a="http://schemas.openxmlformats.org/drawingml/2006/main" noGrp="1"/>
          </p:cNvSpPr>
          <p:nvPr/>
        </p:nvSpPr>
        <p:spPr>
          <a:xfrm xmlns:a="http://schemas.openxmlformats.org/drawingml/2006/main">
            <a:off x="9362948" y="2403579"/>
            <a:ext cx="658368" cy="227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简洁性</a:t>
            </a:r>
            <a:endParaRPr sz="1600"/>
          </a:p>
        </p:txBody>
      </p:sp>
      <p:sp>
        <p:nvSpPr>
          <p:cNvPr id="21" name="Text 19">
            <a:extLst xmlns:a="http://schemas.openxmlformats.org/drawingml/2006/main">
              <a:ext uri="{FF2B5EF4-FFF2-40B4-BE49-F238E27FC236}">
                <a16:creationId xmlns:a16="http://schemas.microsoft.com/office/drawing/2014/main" id="{1B53209E-2DC4-446C-9CBA-6BB9E5438B37}"/>
              </a:ext>
            </a:extLst>
          </p:cNvPr>
          <p:cNvSpPr>
            <a:spLocks xmlns:a="http://schemas.openxmlformats.org/drawingml/2006/main" noGrp="1"/>
          </p:cNvSpPr>
          <p:nvPr/>
        </p:nvSpPr>
        <p:spPr>
          <a:xfrm xmlns:a="http://schemas.openxmlformats.org/drawingml/2006/main">
            <a:off x="9082532" y="2696187"/>
            <a:ext cx="2519680" cy="1950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控制点与曲线关系明确</a:t>
            </a:r>
            <a:endParaRPr sz="1600"/>
          </a:p>
        </p:txBody>
      </p:sp>
      <p:sp>
        <p:nvSpPr>
          <p:cNvPr id="22" name="Shape 20">
            <a:extLst xmlns:a="http://schemas.openxmlformats.org/drawingml/2006/main">
              <a:ext uri="{FF2B5EF4-FFF2-40B4-BE49-F238E27FC236}">
                <a16:creationId xmlns:a16="http://schemas.microsoft.com/office/drawing/2014/main" id="{D58EB067-1F5C-4989-B4FC-BC1CCC1DB097}"/>
              </a:ext>
            </a:extLst>
          </p:cNvPr>
          <p:cNvSpPr>
            <a:spLocks xmlns:a="http://schemas.openxmlformats.org/drawingml/2006/main" noGrp="1"/>
          </p:cNvSpPr>
          <p:nvPr/>
        </p:nvSpPr>
        <p:spPr>
          <a:xfrm xmlns:a="http://schemas.openxmlformats.org/drawingml/2006/main">
            <a:off x="8952484" y="3151355"/>
            <a:ext cx="2714752" cy="747776"/>
          </a:xfrm>
          <a:custGeom xmlns:a="http://schemas.openxmlformats.org/drawingml/2006/main">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xmlns:a="http://schemas.openxmlformats.org/drawingml/2006/main">
            <a:srgbClr val="5F87A7">
              <a:alpha val="20000"/>
            </a:srgbClr>
          </a:solidFill>
        </p:spPr>
      </p:sp>
      <p:sp>
        <p:nvSpPr>
          <p:cNvPr id="23" name="Shape 21">
            <a:extLst xmlns:a="http://schemas.openxmlformats.org/drawingml/2006/main">
              <a:ext uri="{FF2B5EF4-FFF2-40B4-BE49-F238E27FC236}">
                <a16:creationId xmlns:a16="http://schemas.microsoft.com/office/drawing/2014/main" id="{AE179998-6272-4CCD-8AC5-67C901194C23}"/>
              </a:ext>
            </a:extLst>
          </p:cNvPr>
          <p:cNvSpPr>
            <a:spLocks xmlns:a="http://schemas.openxmlformats.org/drawingml/2006/main" noGrp="1"/>
          </p:cNvSpPr>
          <p:nvPr/>
        </p:nvSpPr>
        <p:spPr>
          <a:xfrm xmlns:a="http://schemas.openxmlformats.org/drawingml/2006/main">
            <a:off x="9111996" y="3322043"/>
            <a:ext cx="128016" cy="146304"/>
          </a:xfrm>
          <a:custGeom xmlns:a="http://schemas.openxmlformats.org/drawingml/2006/main">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xmlns:a="http://schemas.openxmlformats.org/drawingml/2006/main">
            <a:srgbClr val="E6B450"/>
          </a:solidFill>
        </p:spPr>
      </p:sp>
      <p:sp>
        <p:nvSpPr>
          <p:cNvPr id="24" name="Text 22">
            <a:extLst xmlns:a="http://schemas.openxmlformats.org/drawingml/2006/main">
              <a:ext uri="{FF2B5EF4-FFF2-40B4-BE49-F238E27FC236}">
                <a16:creationId xmlns:a16="http://schemas.microsoft.com/office/drawing/2014/main" id="{786D0E94-6852-41AB-9E60-330C65DC5EC8}"/>
              </a:ext>
            </a:extLst>
          </p:cNvPr>
          <p:cNvSpPr>
            <a:spLocks xmlns:a="http://schemas.openxmlformats.org/drawingml/2006/main" noGrp="1"/>
          </p:cNvSpPr>
          <p:nvPr/>
        </p:nvSpPr>
        <p:spPr>
          <a:xfrm xmlns:a="http://schemas.openxmlformats.org/drawingml/2006/main">
            <a:off x="9362948" y="3281403"/>
            <a:ext cx="710692" cy="227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平滑性</a:t>
            </a:r>
            <a:endParaRPr sz="1600"/>
          </a:p>
        </p:txBody>
      </p:sp>
      <p:sp>
        <p:nvSpPr>
          <p:cNvPr id="25" name="Text 23">
            <a:extLst xmlns:a="http://schemas.openxmlformats.org/drawingml/2006/main">
              <a:ext uri="{FF2B5EF4-FFF2-40B4-BE49-F238E27FC236}">
                <a16:creationId xmlns:a16="http://schemas.microsoft.com/office/drawing/2014/main" id="{4EC4C159-D73A-4265-A245-5A3CE61AD600}"/>
              </a:ext>
            </a:extLst>
          </p:cNvPr>
          <p:cNvSpPr>
            <a:spLocks xmlns:a="http://schemas.openxmlformats.org/drawingml/2006/main" noGrp="1"/>
          </p:cNvSpPr>
          <p:nvPr/>
        </p:nvSpPr>
        <p:spPr>
          <a:xfrm xmlns:a="http://schemas.openxmlformats.org/drawingml/2006/main">
            <a:off x="9082532" y="3574011"/>
            <a:ext cx="2519680" cy="1950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自动生成平滑连续曲线</a:t>
            </a:r>
            <a:endParaRPr sz="1600"/>
          </a:p>
        </p:txBody>
      </p:sp>
      <p:sp>
        <p:nvSpPr>
          <p:cNvPr id="26" name="Shape 24">
            <a:extLst xmlns:a="http://schemas.openxmlformats.org/drawingml/2006/main">
              <a:ext uri="{FF2B5EF4-FFF2-40B4-BE49-F238E27FC236}">
                <a16:creationId xmlns:a16="http://schemas.microsoft.com/office/drawing/2014/main" id="{1CA16518-B14E-4950-8D20-92550D9CF708}"/>
              </a:ext>
            </a:extLst>
          </p:cNvPr>
          <p:cNvSpPr>
            <a:spLocks xmlns:a="http://schemas.openxmlformats.org/drawingml/2006/main" noGrp="1"/>
          </p:cNvSpPr>
          <p:nvPr/>
        </p:nvSpPr>
        <p:spPr>
          <a:xfrm xmlns:a="http://schemas.openxmlformats.org/drawingml/2006/main">
            <a:off x="8952484" y="4029179"/>
            <a:ext cx="2714752" cy="747776"/>
          </a:xfrm>
          <a:custGeom xmlns:a="http://schemas.openxmlformats.org/drawingml/2006/main">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xmlns:a="http://schemas.openxmlformats.org/drawingml/2006/main">
            <a:srgbClr val="5F87A7">
              <a:alpha val="20000"/>
            </a:srgbClr>
          </a:solidFill>
        </p:spPr>
      </p:sp>
      <p:sp>
        <p:nvSpPr>
          <p:cNvPr id="27" name="Shape 25">
            <a:extLst xmlns:a="http://schemas.openxmlformats.org/drawingml/2006/main">
              <a:ext uri="{FF2B5EF4-FFF2-40B4-BE49-F238E27FC236}">
                <a16:creationId xmlns:a16="http://schemas.microsoft.com/office/drawing/2014/main" id="{9B37F202-B956-45A7-B87E-AABB2F77F189}"/>
              </a:ext>
            </a:extLst>
          </p:cNvPr>
          <p:cNvSpPr>
            <a:spLocks xmlns:a="http://schemas.openxmlformats.org/drawingml/2006/main" noGrp="1"/>
          </p:cNvSpPr>
          <p:nvPr/>
        </p:nvSpPr>
        <p:spPr>
          <a:xfrm xmlns:a="http://schemas.openxmlformats.org/drawingml/2006/main">
            <a:off x="9111996" y="4199867"/>
            <a:ext cx="128016" cy="146304"/>
          </a:xfrm>
          <a:custGeom xmlns:a="http://schemas.openxmlformats.org/drawingml/2006/main">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xmlns:a="http://schemas.openxmlformats.org/drawingml/2006/main">
            <a:srgbClr val="E6B450"/>
          </a:solidFill>
        </p:spPr>
      </p:sp>
      <p:sp>
        <p:nvSpPr>
          <p:cNvPr id="28" name="Text 26">
            <a:extLst xmlns:a="http://schemas.openxmlformats.org/drawingml/2006/main">
              <a:ext uri="{FF2B5EF4-FFF2-40B4-BE49-F238E27FC236}">
                <a16:creationId xmlns:a16="http://schemas.microsoft.com/office/drawing/2014/main" id="{94F38930-CB1B-4E20-B77E-6EF98B93D2B2}"/>
              </a:ext>
            </a:extLst>
          </p:cNvPr>
          <p:cNvSpPr>
            <a:spLocks xmlns:a="http://schemas.openxmlformats.org/drawingml/2006/main" noGrp="1"/>
          </p:cNvSpPr>
          <p:nvPr/>
        </p:nvSpPr>
        <p:spPr>
          <a:xfrm xmlns:a="http://schemas.openxmlformats.org/drawingml/2006/main">
            <a:off x="9362948" y="4159227"/>
            <a:ext cx="614172" cy="227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灵活性</a:t>
            </a:r>
            <a:endParaRPr sz="1600"/>
          </a:p>
        </p:txBody>
      </p:sp>
      <p:sp>
        <p:nvSpPr>
          <p:cNvPr id="29" name="Text 27">
            <a:extLst xmlns:a="http://schemas.openxmlformats.org/drawingml/2006/main">
              <a:ext uri="{FF2B5EF4-FFF2-40B4-BE49-F238E27FC236}">
                <a16:creationId xmlns:a16="http://schemas.microsoft.com/office/drawing/2014/main" id="{34BB9E7D-C0EA-40D2-B90D-15FFC44405A7}"/>
              </a:ext>
            </a:extLst>
          </p:cNvPr>
          <p:cNvSpPr>
            <a:spLocks xmlns:a="http://schemas.openxmlformats.org/drawingml/2006/main" noGrp="1"/>
          </p:cNvSpPr>
          <p:nvPr/>
        </p:nvSpPr>
        <p:spPr>
          <a:xfrm xmlns:a="http://schemas.openxmlformats.org/drawingml/2006/main">
            <a:off x="9082532" y="4451835"/>
            <a:ext cx="2519680" cy="1950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调整控制点改变曲线形状</a:t>
            </a:r>
            <a:endParaRPr sz="1600"/>
          </a:p>
        </p:txBody>
      </p:sp>
      <p:sp>
        <p:nvSpPr>
          <p:cNvPr id="30" name="Shape 28">
            <a:extLst xmlns:a="http://schemas.openxmlformats.org/drawingml/2006/main">
              <a:ext uri="{FF2B5EF4-FFF2-40B4-BE49-F238E27FC236}">
                <a16:creationId xmlns:a16="http://schemas.microsoft.com/office/drawing/2014/main" id="{E8C9399B-6717-44E7-A6E0-9CBFA23D5349}"/>
              </a:ext>
            </a:extLst>
          </p:cNvPr>
          <p:cNvSpPr>
            <a:spLocks xmlns:a="http://schemas.openxmlformats.org/drawingml/2006/main" noGrp="1"/>
          </p:cNvSpPr>
          <p:nvPr/>
        </p:nvSpPr>
        <p:spPr>
          <a:xfrm xmlns:a="http://schemas.openxmlformats.org/drawingml/2006/main">
            <a:off x="8952484" y="4907003"/>
            <a:ext cx="2714752" cy="747776"/>
          </a:xfrm>
          <a:custGeom xmlns:a="http://schemas.openxmlformats.org/drawingml/2006/main">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xmlns:a="http://schemas.openxmlformats.org/drawingml/2006/main">
            <a:srgbClr val="5F87A7">
              <a:alpha val="20000"/>
            </a:srgbClr>
          </a:solidFill>
        </p:spPr>
      </p:sp>
      <p:sp>
        <p:nvSpPr>
          <p:cNvPr id="31" name="Shape 29">
            <a:extLst xmlns:a="http://schemas.openxmlformats.org/drawingml/2006/main">
              <a:ext uri="{FF2B5EF4-FFF2-40B4-BE49-F238E27FC236}">
                <a16:creationId xmlns:a16="http://schemas.microsoft.com/office/drawing/2014/main" id="{4BFE6BF0-5D55-4403-A2F0-87BC363D7375}"/>
              </a:ext>
            </a:extLst>
          </p:cNvPr>
          <p:cNvSpPr>
            <a:spLocks xmlns:a="http://schemas.openxmlformats.org/drawingml/2006/main" noGrp="1"/>
          </p:cNvSpPr>
          <p:nvPr/>
        </p:nvSpPr>
        <p:spPr>
          <a:xfrm xmlns:a="http://schemas.openxmlformats.org/drawingml/2006/main">
            <a:off x="9111996" y="5077691"/>
            <a:ext cx="128016" cy="146304"/>
          </a:xfrm>
          <a:custGeom xmlns:a="http://schemas.openxmlformats.org/drawingml/2006/main">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xmlns:a="http://schemas.openxmlformats.org/drawingml/2006/main">
            <a:srgbClr val="E6B450"/>
          </a:solidFill>
        </p:spPr>
      </p:sp>
      <p:sp>
        <p:nvSpPr>
          <p:cNvPr id="32" name="Text 30">
            <a:extLst xmlns:a="http://schemas.openxmlformats.org/drawingml/2006/main">
              <a:ext uri="{FF2B5EF4-FFF2-40B4-BE49-F238E27FC236}">
                <a16:creationId xmlns:a16="http://schemas.microsoft.com/office/drawing/2014/main" id="{C074A9DC-C9E7-4BC5-9CFE-63DAA4F88E6F}"/>
              </a:ext>
            </a:extLst>
          </p:cNvPr>
          <p:cNvSpPr>
            <a:spLocks xmlns:a="http://schemas.openxmlformats.org/drawingml/2006/main" noGrp="1"/>
          </p:cNvSpPr>
          <p:nvPr/>
        </p:nvSpPr>
        <p:spPr>
          <a:xfrm xmlns:a="http://schemas.openxmlformats.org/drawingml/2006/main">
            <a:off x="9362948" y="5037051"/>
            <a:ext cx="791972" cy="227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高效性</a:t>
            </a:r>
            <a:endParaRPr sz="1600"/>
          </a:p>
        </p:txBody>
      </p:sp>
      <p:sp>
        <p:nvSpPr>
          <p:cNvPr id="33" name="Text 31">
            <a:extLst xmlns:a="http://schemas.openxmlformats.org/drawingml/2006/main">
              <a:ext uri="{FF2B5EF4-FFF2-40B4-BE49-F238E27FC236}">
                <a16:creationId xmlns:a16="http://schemas.microsoft.com/office/drawing/2014/main" id="{CC16FB6F-EB90-4184-B16C-04779A55DB7A}"/>
              </a:ext>
            </a:extLst>
          </p:cNvPr>
          <p:cNvSpPr>
            <a:spLocks xmlns:a="http://schemas.openxmlformats.org/drawingml/2006/main" noGrp="1"/>
          </p:cNvSpPr>
          <p:nvPr/>
        </p:nvSpPr>
        <p:spPr>
          <a:xfrm xmlns:a="http://schemas.openxmlformats.org/drawingml/2006/main">
            <a:off x="9082532" y="5329659"/>
            <a:ext cx="2519680" cy="1950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少量控制点生成复杂曲线</a:t>
            </a:r>
            <a:endParaRPr sz="1600"/>
          </a:p>
        </p:txBody>
      </p:sp>
      <p:sp>
        <p:nvSpPr>
          <p:cNvPr id="34" name="Shape 32">
            <a:extLst xmlns:a="http://schemas.openxmlformats.org/drawingml/2006/main">
              <a:ext uri="{FF2B5EF4-FFF2-40B4-BE49-F238E27FC236}">
                <a16:creationId xmlns:a16="http://schemas.microsoft.com/office/drawing/2014/main" id="{A17F9B45-E0CC-4F9C-B628-0502F43A5884}"/>
              </a:ext>
            </a:extLst>
          </p:cNvPr>
          <p:cNvSpPr>
            <a:spLocks xmlns:a="http://schemas.openxmlformats.org/drawingml/2006/main" noGrp="1"/>
          </p:cNvSpPr>
          <p:nvPr/>
        </p:nvSpPr>
        <p:spPr>
          <a:xfrm xmlns:a="http://schemas.openxmlformats.org/drawingml/2006/main">
            <a:off x="8952484" y="5784827"/>
            <a:ext cx="2714752" cy="747776"/>
          </a:xfrm>
          <a:custGeom xmlns:a="http://schemas.openxmlformats.org/drawingml/2006/main">
            <a:rect l="l" t="t" r="r" b="b"/>
            <a:pathLst>
              <a:path w="2714752" h="747776">
                <a:moveTo>
                  <a:pt x="65027" y="0"/>
                </a:moveTo>
                <a:lnTo>
                  <a:pt x="2649725" y="0"/>
                </a:lnTo>
                <a:cubicBezTo>
                  <a:pt x="2685639" y="0"/>
                  <a:pt x="2714752" y="29113"/>
                  <a:pt x="2714752" y="65027"/>
                </a:cubicBezTo>
                <a:lnTo>
                  <a:pt x="2714752" y="682749"/>
                </a:lnTo>
                <a:cubicBezTo>
                  <a:pt x="2714752" y="718663"/>
                  <a:pt x="2685639" y="747776"/>
                  <a:pt x="2649725" y="747776"/>
                </a:cubicBezTo>
                <a:lnTo>
                  <a:pt x="65027" y="747776"/>
                </a:lnTo>
                <a:cubicBezTo>
                  <a:pt x="29113" y="747776"/>
                  <a:pt x="0" y="718663"/>
                  <a:pt x="0" y="682749"/>
                </a:cubicBezTo>
                <a:lnTo>
                  <a:pt x="0" y="65027"/>
                </a:lnTo>
                <a:cubicBezTo>
                  <a:pt x="0" y="29113"/>
                  <a:pt x="29113" y="0"/>
                  <a:pt x="65027" y="0"/>
                </a:cubicBezTo>
                <a:close/>
              </a:path>
            </a:pathLst>
          </a:custGeom>
          <a:solidFill xmlns:a="http://schemas.openxmlformats.org/drawingml/2006/main">
            <a:srgbClr val="5F87A7">
              <a:alpha val="20000"/>
            </a:srgbClr>
          </a:solidFill>
        </p:spPr>
      </p:sp>
      <p:sp>
        <p:nvSpPr>
          <p:cNvPr id="35" name="Shape 33">
            <a:extLst xmlns:a="http://schemas.openxmlformats.org/drawingml/2006/main">
              <a:ext uri="{FF2B5EF4-FFF2-40B4-BE49-F238E27FC236}">
                <a16:creationId xmlns:a16="http://schemas.microsoft.com/office/drawing/2014/main" id="{49911582-C797-4E9E-8D36-816E16FDCD1C}"/>
              </a:ext>
            </a:extLst>
          </p:cNvPr>
          <p:cNvSpPr>
            <a:spLocks xmlns:a="http://schemas.openxmlformats.org/drawingml/2006/main" noGrp="1"/>
          </p:cNvSpPr>
          <p:nvPr/>
        </p:nvSpPr>
        <p:spPr>
          <a:xfrm xmlns:a="http://schemas.openxmlformats.org/drawingml/2006/main">
            <a:off x="9111996" y="5955515"/>
            <a:ext cx="128016" cy="146304"/>
          </a:xfrm>
          <a:custGeom xmlns:a="http://schemas.openxmlformats.org/drawingml/2006/main">
            <a:rect l="l" t="t" r="r" b="b"/>
            <a:pathLst>
              <a:path w="128016" h="146304">
                <a:moveTo>
                  <a:pt x="124244" y="20031"/>
                </a:moveTo>
                <a:cubicBezTo>
                  <a:pt x="128330" y="23003"/>
                  <a:pt x="129245" y="28718"/>
                  <a:pt x="126273" y="32804"/>
                </a:cubicBezTo>
                <a:lnTo>
                  <a:pt x="53121" y="133388"/>
                </a:lnTo>
                <a:cubicBezTo>
                  <a:pt x="51549" y="135560"/>
                  <a:pt x="49120" y="136903"/>
                  <a:pt x="46434" y="137131"/>
                </a:cubicBezTo>
                <a:cubicBezTo>
                  <a:pt x="43748" y="137360"/>
                  <a:pt x="41148" y="136360"/>
                  <a:pt x="39262" y="134474"/>
                </a:cubicBezTo>
                <a:lnTo>
                  <a:pt x="2686" y="97898"/>
                </a:lnTo>
                <a:cubicBezTo>
                  <a:pt x="-886" y="94326"/>
                  <a:pt x="-886" y="88525"/>
                  <a:pt x="2686" y="84953"/>
                </a:cubicBezTo>
                <a:cubicBezTo>
                  <a:pt x="6258" y="81382"/>
                  <a:pt x="12059" y="81382"/>
                  <a:pt x="15631" y="84953"/>
                </a:cubicBezTo>
                <a:lnTo>
                  <a:pt x="44634" y="113957"/>
                </a:lnTo>
                <a:lnTo>
                  <a:pt x="111500" y="22031"/>
                </a:lnTo>
                <a:cubicBezTo>
                  <a:pt x="114471" y="17945"/>
                  <a:pt x="120186" y="17031"/>
                  <a:pt x="124273" y="20003"/>
                </a:cubicBezTo>
                <a:close/>
              </a:path>
            </a:pathLst>
          </a:custGeom>
          <a:solidFill xmlns:a="http://schemas.openxmlformats.org/drawingml/2006/main">
            <a:srgbClr val="E6B450"/>
          </a:solidFill>
        </p:spPr>
      </p:sp>
      <p:sp>
        <p:nvSpPr>
          <p:cNvPr id="36" name="Text 34">
            <a:extLst xmlns:a="http://schemas.openxmlformats.org/drawingml/2006/main">
              <a:ext uri="{FF2B5EF4-FFF2-40B4-BE49-F238E27FC236}">
                <a16:creationId xmlns:a16="http://schemas.microsoft.com/office/drawing/2014/main" id="{CAE8B00E-ACF7-423F-AFE8-106403A55D8A}"/>
              </a:ext>
            </a:extLst>
          </p:cNvPr>
          <p:cNvSpPr>
            <a:spLocks xmlns:a="http://schemas.openxmlformats.org/drawingml/2006/main" noGrp="1"/>
          </p:cNvSpPr>
          <p:nvPr/>
        </p:nvSpPr>
        <p:spPr>
          <a:xfrm xmlns:a="http://schemas.openxmlformats.org/drawingml/2006/main">
            <a:off x="9362948" y="5914875"/>
            <a:ext cx="827532" cy="227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b="1">
                <a:latin typeface="微软雅黑"/>
                <a:ea typeface="微软雅黑"/>
                <a:cs typeface="微软雅黑"/>
              </a:rPr>
              <a:t>应用广泛</a:t>
            </a:r>
            <a:endParaRPr sz="1600"/>
          </a:p>
        </p:txBody>
      </p:sp>
      <p:sp>
        <p:nvSpPr>
          <p:cNvPr id="37" name="Text 35">
            <a:extLst xmlns:a="http://schemas.openxmlformats.org/drawingml/2006/main">
              <a:ext uri="{FF2B5EF4-FFF2-40B4-BE49-F238E27FC236}">
                <a16:creationId xmlns:a16="http://schemas.microsoft.com/office/drawing/2014/main" id="{472D720C-BE01-4B07-873B-7DFA1ABEF31B}"/>
              </a:ext>
            </a:extLst>
          </p:cNvPr>
          <p:cNvSpPr>
            <a:spLocks xmlns:a="http://schemas.openxmlformats.org/drawingml/2006/main" noGrp="1"/>
          </p:cNvSpPr>
          <p:nvPr/>
        </p:nvSpPr>
        <p:spPr>
          <a:xfrm xmlns:a="http://schemas.openxmlformats.org/drawingml/2006/main">
            <a:off x="9082532" y="6207483"/>
            <a:ext cx="2519680" cy="1950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30000"/>
              </a:lnSpc>
              <a:buNone/>
            </a:pPr>
            <a:r>
              <a:rPr sz="1600">
                <a:latin typeface="微软雅黑"/>
                <a:ea typeface="微软雅黑"/>
                <a:cs typeface="微软雅黑"/>
              </a:rPr>
              <a:t>路径平滑、图形设计等</a:t>
            </a:r>
            <a:endParaRPr sz="1600"/>
          </a:p>
        </p:txBody>
      </p:sp>
      <p:sp>
        <p:nvSpPr>
          <p:cNvPr id="39" name="矩形 38">
            <a:extLst xmlns:a="http://schemas.openxmlformats.org/drawingml/2006/main">
              <a:ext uri="{FF2B5EF4-FFF2-40B4-BE49-F238E27FC236}">
                <a16:creationId xmlns:a16="http://schemas.microsoft.com/office/drawing/2014/main" id="{01876086-9764-E8D5-2CF5-1CD224ADAAE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文本框 39">
            <a:extLst xmlns:a="http://schemas.openxmlformats.org/drawingml/2006/main">
              <a:ext uri="{FF2B5EF4-FFF2-40B4-BE49-F238E27FC236}">
                <a16:creationId xmlns:a16="http://schemas.microsoft.com/office/drawing/2014/main" id="{D9B7449A-46AE-4A4A-816C-D89CB53C9948}"/>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7.3.2 </a:t>
            </a:r>
            <a:r>
              <a:rPr sz="2400" b="1">
                <a:solidFill>
                  <a:schemeClr val="accent1"/>
                </a:solidFill>
                <a:latin typeface="+mj-lt"/>
                <a:ea typeface="+mj-lt"/>
                <a:cs typeface="+mj-lt"/>
              </a:rPr>
              <a:t>路径平滑</a:t>
            </a:r>
          </a:p>
        </p:txBody>
      </p:sp>
    </p:spTree>
    <p:extLst>
      <p:ext uri="{BB962C8B-B14F-4D97-AF65-F5344CB8AC3E}">
        <p14:creationId xmlns:p14="http://schemas.microsoft.com/office/powerpoint/2010/main" val="1182552750"/>
      </p:ext>
    </p:extLst>
  </p:cSld>
</p:sld>
</file>

<file path=ppt/slides/slide125.xml><?xml version="1.0" encoding="utf-8"?>
<p:sld xmlns:p="http://schemas.openxmlformats.org/presentationml/2006/main">
  <p:cSld>
    <p:spTree>
      <p:nvGrpSpPr>
        <p:cNvPr id="1" name=""/>
        <p:cNvGrpSpPr/>
        <p:nvPr/>
      </p:nvGrpSpPr>
      <p:grpSpPr>
        <a:xfrm xmlns:a="http://schemas.openxmlformats.org/drawingml/2006/main"/>
      </p:grpSpPr>
      <p:sp>
        <p:nvSpPr>
          <p:cNvPr id="2" name="Shape 24">
            <a:extLst xmlns:a="http://schemas.openxmlformats.org/drawingml/2006/main">
              <a:ext uri="{FF2B5EF4-FFF2-40B4-BE49-F238E27FC236}">
                <a16:creationId xmlns:a16="http://schemas.microsoft.com/office/drawing/2014/main" id="{7534F584-3720-238F-9EFE-3556FBEE29BB}"/>
              </a:ext>
            </a:extLst>
          </p:cNvPr>
          <p:cNvSpPr>
            <a:spLocks xmlns:a="http://schemas.openxmlformats.org/drawingml/2006/main" noGrp="1"/>
          </p:cNvSpPr>
          <p:nvPr/>
        </p:nvSpPr>
        <p:spPr>
          <a:xfrm xmlns:a="http://schemas.openxmlformats.org/drawingml/2006/main">
            <a:off x="956505" y="6384539"/>
            <a:ext cx="9398227" cy="365294"/>
          </a:xfrm>
          <a:custGeom xmlns:a="http://schemas.openxmlformats.org/drawingml/2006/main">
            <a:rect l="l" t="t" r="r" b="b"/>
            <a:pathLst>
              <a:path w="2214563" h="706438">
                <a:moveTo>
                  <a:pt x="63502" y="0"/>
                </a:moveTo>
                <a:lnTo>
                  <a:pt x="2151061" y="0"/>
                </a:lnTo>
                <a:cubicBezTo>
                  <a:pt x="2186132" y="0"/>
                  <a:pt x="2214563" y="28431"/>
                  <a:pt x="2214563" y="63502"/>
                </a:cubicBezTo>
                <a:lnTo>
                  <a:pt x="2214563" y="642936"/>
                </a:lnTo>
                <a:cubicBezTo>
                  <a:pt x="2214563" y="678007"/>
                  <a:pt x="2186132" y="706438"/>
                  <a:pt x="2151061" y="706438"/>
                </a:cubicBezTo>
                <a:lnTo>
                  <a:pt x="63502" y="706438"/>
                </a:lnTo>
                <a:cubicBezTo>
                  <a:pt x="28431" y="706438"/>
                  <a:pt x="0" y="678007"/>
                  <a:pt x="0" y="642936"/>
                </a:cubicBezTo>
                <a:lnTo>
                  <a:pt x="0" y="63502"/>
                </a:lnTo>
                <a:cubicBezTo>
                  <a:pt x="0" y="28431"/>
                  <a:pt x="28431" y="0"/>
                  <a:pt x="63502"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5" name="Shape 3">
            <a:extLst xmlns:a="http://schemas.openxmlformats.org/drawingml/2006/main">
              <a:ext uri="{FF2B5EF4-FFF2-40B4-BE49-F238E27FC236}">
                <a16:creationId xmlns:a16="http://schemas.microsoft.com/office/drawing/2014/main" id="{A5A587F6-E4BC-4886-86B7-087A06743E21}"/>
              </a:ext>
            </a:extLst>
          </p:cNvPr>
          <p:cNvSpPr>
            <a:spLocks xmlns:a="http://schemas.openxmlformats.org/drawingml/2006/main" noGrp="1"/>
          </p:cNvSpPr>
          <p:nvPr/>
        </p:nvSpPr>
        <p:spPr>
          <a:xfrm xmlns:a="http://schemas.openxmlformats.org/drawingml/2006/main">
            <a:off x="398804" y="1728150"/>
            <a:ext cx="5222430" cy="2776117"/>
          </a:xfrm>
          <a:custGeom xmlns:a="http://schemas.openxmlformats.org/drawingml/2006/main">
            <a:rect l="l" t="t" r="r" b="b"/>
            <a:pathLst>
              <a:path w="7396860" h="1709159">
                <a:moveTo>
                  <a:pt x="37981" y="0"/>
                </a:moveTo>
                <a:lnTo>
                  <a:pt x="7282910" y="0"/>
                </a:lnTo>
                <a:cubicBezTo>
                  <a:pt x="7345843" y="0"/>
                  <a:pt x="7396860" y="51017"/>
                  <a:pt x="7396860" y="113950"/>
                </a:cubicBezTo>
                <a:lnTo>
                  <a:pt x="7396860" y="1595209"/>
                </a:lnTo>
                <a:cubicBezTo>
                  <a:pt x="7396860" y="1658142"/>
                  <a:pt x="7345843" y="1709159"/>
                  <a:pt x="7282910" y="1709159"/>
                </a:cubicBezTo>
                <a:lnTo>
                  <a:pt x="37981" y="1709159"/>
                </a:lnTo>
                <a:cubicBezTo>
                  <a:pt x="17005" y="1709159"/>
                  <a:pt x="0" y="1692154"/>
                  <a:pt x="0" y="1671178"/>
                </a:cubicBezTo>
                <a:lnTo>
                  <a:pt x="0" y="37981"/>
                </a:lnTo>
                <a:cubicBezTo>
                  <a:pt x="0" y="17005"/>
                  <a:pt x="17005" y="0"/>
                  <a:pt x="37981"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4302CB4B-863D-4042-B3BC-E57FBB8D8D65}"/>
              </a:ext>
            </a:extLst>
          </p:cNvPr>
          <p:cNvSpPr>
            <a:spLocks xmlns:a="http://schemas.openxmlformats.org/drawingml/2006/main" noGrp="1"/>
          </p:cNvSpPr>
          <p:nvPr/>
        </p:nvSpPr>
        <p:spPr>
          <a:xfrm xmlns:a="http://schemas.openxmlformats.org/drawingml/2006/main">
            <a:off x="398804" y="1728150"/>
            <a:ext cx="37981" cy="2776117"/>
          </a:xfrm>
          <a:custGeom xmlns:a="http://schemas.openxmlformats.org/drawingml/2006/main">
            <a:rect l="l" t="t" r="r" b="b"/>
            <a:pathLst>
              <a:path w="37981" h="1709159">
                <a:moveTo>
                  <a:pt x="37981" y="0"/>
                </a:moveTo>
                <a:lnTo>
                  <a:pt x="37981" y="0"/>
                </a:lnTo>
                <a:lnTo>
                  <a:pt x="37981" y="1709159"/>
                </a:lnTo>
                <a:lnTo>
                  <a:pt x="37981" y="1709159"/>
                </a:lnTo>
                <a:cubicBezTo>
                  <a:pt x="17005" y="1709159"/>
                  <a:pt x="0" y="1692154"/>
                  <a:pt x="0" y="1671178"/>
                </a:cubicBezTo>
                <a:lnTo>
                  <a:pt x="0" y="37981"/>
                </a:lnTo>
                <a:cubicBezTo>
                  <a:pt x="0" y="17019"/>
                  <a:pt x="17019" y="0"/>
                  <a:pt x="37981"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BE5EEDEE-4E17-4A5B-A018-01627EA49603}"/>
              </a:ext>
            </a:extLst>
          </p:cNvPr>
          <p:cNvSpPr>
            <a:spLocks xmlns:a="http://schemas.openxmlformats.org/drawingml/2006/main" noGrp="1"/>
          </p:cNvSpPr>
          <p:nvPr/>
        </p:nvSpPr>
        <p:spPr>
          <a:xfrm xmlns:a="http://schemas.openxmlformats.org/drawingml/2006/main">
            <a:off x="612449" y="1994019"/>
            <a:ext cx="227888" cy="227888"/>
          </a:xfrm>
          <a:custGeom xmlns:a="http://schemas.openxmlformats.org/drawingml/2006/main">
            <a:rect l="l" t="t" r="r" b="b"/>
            <a:pathLst>
              <a:path w="227888" h="227888">
                <a:moveTo>
                  <a:pt x="53411" y="24925"/>
                </a:moveTo>
                <a:cubicBezTo>
                  <a:pt x="53411" y="11172"/>
                  <a:pt x="64583" y="0"/>
                  <a:pt x="78336" y="0"/>
                </a:cubicBezTo>
                <a:lnTo>
                  <a:pt x="89019" y="0"/>
                </a:lnTo>
                <a:cubicBezTo>
                  <a:pt x="96897" y="0"/>
                  <a:pt x="103262" y="6365"/>
                  <a:pt x="103262" y="14243"/>
                </a:cubicBezTo>
                <a:lnTo>
                  <a:pt x="103262" y="213645"/>
                </a:lnTo>
                <a:cubicBezTo>
                  <a:pt x="103262" y="221523"/>
                  <a:pt x="96897" y="227888"/>
                  <a:pt x="89019" y="227888"/>
                </a:cubicBezTo>
                <a:lnTo>
                  <a:pt x="74776" y="227888"/>
                </a:lnTo>
                <a:cubicBezTo>
                  <a:pt x="61512" y="227888"/>
                  <a:pt x="50340" y="218808"/>
                  <a:pt x="47180" y="206523"/>
                </a:cubicBezTo>
                <a:cubicBezTo>
                  <a:pt x="46868" y="206523"/>
                  <a:pt x="46601" y="206523"/>
                  <a:pt x="46290" y="206523"/>
                </a:cubicBezTo>
                <a:cubicBezTo>
                  <a:pt x="26617" y="206523"/>
                  <a:pt x="10682" y="190589"/>
                  <a:pt x="10682" y="170916"/>
                </a:cubicBezTo>
                <a:cubicBezTo>
                  <a:pt x="10682" y="162904"/>
                  <a:pt x="13353" y="155516"/>
                  <a:pt x="17804" y="149551"/>
                </a:cubicBezTo>
                <a:cubicBezTo>
                  <a:pt x="9169" y="143053"/>
                  <a:pt x="3561" y="132727"/>
                  <a:pt x="3561" y="121065"/>
                </a:cubicBezTo>
                <a:cubicBezTo>
                  <a:pt x="3561" y="107312"/>
                  <a:pt x="11394" y="95339"/>
                  <a:pt x="22789" y="89419"/>
                </a:cubicBezTo>
                <a:cubicBezTo>
                  <a:pt x="19629" y="84078"/>
                  <a:pt x="17804" y="77847"/>
                  <a:pt x="17804" y="71215"/>
                </a:cubicBezTo>
                <a:cubicBezTo>
                  <a:pt x="17804" y="51542"/>
                  <a:pt x="33738" y="35607"/>
                  <a:pt x="53411" y="35607"/>
                </a:cubicBezTo>
                <a:lnTo>
                  <a:pt x="53411" y="24925"/>
                </a:lnTo>
                <a:close/>
                <a:moveTo>
                  <a:pt x="174477" y="24925"/>
                </a:moveTo>
                <a:lnTo>
                  <a:pt x="174477" y="35607"/>
                </a:lnTo>
                <a:cubicBezTo>
                  <a:pt x="194150" y="35607"/>
                  <a:pt x="210084" y="51542"/>
                  <a:pt x="210084" y="71215"/>
                </a:cubicBezTo>
                <a:cubicBezTo>
                  <a:pt x="210084" y="77891"/>
                  <a:pt x="208259" y="84123"/>
                  <a:pt x="205099" y="89419"/>
                </a:cubicBezTo>
                <a:cubicBezTo>
                  <a:pt x="216538" y="95339"/>
                  <a:pt x="224327" y="107268"/>
                  <a:pt x="224327" y="121065"/>
                </a:cubicBezTo>
                <a:cubicBezTo>
                  <a:pt x="224327" y="132727"/>
                  <a:pt x="218719" y="143053"/>
                  <a:pt x="210084" y="149551"/>
                </a:cubicBezTo>
                <a:cubicBezTo>
                  <a:pt x="214535" y="155516"/>
                  <a:pt x="217206" y="162904"/>
                  <a:pt x="217206" y="170916"/>
                </a:cubicBezTo>
                <a:cubicBezTo>
                  <a:pt x="217206" y="190589"/>
                  <a:pt x="201271" y="206523"/>
                  <a:pt x="181598" y="206523"/>
                </a:cubicBezTo>
                <a:cubicBezTo>
                  <a:pt x="181287" y="206523"/>
                  <a:pt x="181020" y="206523"/>
                  <a:pt x="180708" y="206523"/>
                </a:cubicBezTo>
                <a:cubicBezTo>
                  <a:pt x="177548" y="218808"/>
                  <a:pt x="166376" y="227888"/>
                  <a:pt x="153112" y="227888"/>
                </a:cubicBezTo>
                <a:lnTo>
                  <a:pt x="138869" y="227888"/>
                </a:lnTo>
                <a:cubicBezTo>
                  <a:pt x="130991" y="227888"/>
                  <a:pt x="124626" y="221523"/>
                  <a:pt x="124626" y="213645"/>
                </a:cubicBezTo>
                <a:lnTo>
                  <a:pt x="124626" y="14243"/>
                </a:lnTo>
                <a:cubicBezTo>
                  <a:pt x="124626" y="6365"/>
                  <a:pt x="130991" y="0"/>
                  <a:pt x="138869" y="0"/>
                </a:cubicBezTo>
                <a:lnTo>
                  <a:pt x="149551" y="0"/>
                </a:lnTo>
                <a:cubicBezTo>
                  <a:pt x="163305" y="0"/>
                  <a:pt x="174477" y="11172"/>
                  <a:pt x="174477" y="24925"/>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357D0467-58A4-4A18-A609-D03EC2D96274}"/>
              </a:ext>
            </a:extLst>
          </p:cNvPr>
          <p:cNvSpPr>
            <a:spLocks xmlns:a="http://schemas.openxmlformats.org/drawingml/2006/main" noGrp="1"/>
          </p:cNvSpPr>
          <p:nvPr/>
        </p:nvSpPr>
        <p:spPr>
          <a:xfrm xmlns:a="http://schemas.openxmlformats.org/drawingml/2006/main">
            <a:off x="956506" y="1956037"/>
            <a:ext cx="2122450" cy="3038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795" b="1">
                <a:latin typeface="微软雅黑"/>
                <a:ea typeface="微软雅黑"/>
                <a:cs typeface="微软雅黑"/>
              </a:rPr>
              <a:t>探索决策的重要性</a:t>
            </a:r>
            <a:endParaRPr sz="1600"/>
          </a:p>
        </p:txBody>
      </p:sp>
      <p:sp>
        <p:nvSpPr>
          <p:cNvPr id="9" name="Text 7">
            <a:extLst xmlns:a="http://schemas.openxmlformats.org/drawingml/2006/main">
              <a:ext uri="{FF2B5EF4-FFF2-40B4-BE49-F238E27FC236}">
                <a16:creationId xmlns:a16="http://schemas.microsoft.com/office/drawing/2014/main" id="{DE2673AF-7CC2-45BF-B0BB-1AEFF36CF430}"/>
              </a:ext>
            </a:extLst>
          </p:cNvPr>
          <p:cNvSpPr>
            <a:spLocks xmlns:a="http://schemas.openxmlformats.org/drawingml/2006/main" noGrp="1"/>
          </p:cNvSpPr>
          <p:nvPr/>
        </p:nvSpPr>
        <p:spPr>
          <a:xfrm xmlns:a="http://schemas.openxmlformats.org/drawingml/2006/main">
            <a:off x="956506" y="2373832"/>
            <a:ext cx="4238151" cy="191623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自主探索系统中</a:t>
            </a:r>
            <a:r>
              <a:rPr sz="1600" b="1">
                <a:latin typeface="微软雅黑"/>
                <a:ea typeface="微软雅黑"/>
                <a:cs typeface="微软雅黑"/>
              </a:rPr>
              <a:t>探索决策与路径规划</a:t>
            </a:r>
            <a:r>
              <a:rPr sz="1600">
                <a:latin typeface="微软雅黑"/>
                <a:ea typeface="微软雅黑"/>
                <a:cs typeface="微软雅黑"/>
              </a:rPr>
              <a:t>部分的关系如图7-15所示。探索决策模块在整个自主探索系统的软件框架中占有重要地位，它相当于机器人的</a:t>
            </a:r>
            <a:r>
              <a:rPr sz="1600">
                <a:highlight>
                  <a:srgbClr val="E6B450">
                    <a:alpha val="20000"/>
                  </a:srgbClr>
                </a:highlight>
                <a:latin typeface="微软雅黑"/>
                <a:ea typeface="微软雅黑"/>
                <a:cs typeface="微软雅黑"/>
              </a:rPr>
              <a:t> 大脑 </a:t>
            </a:r>
            <a:r>
              <a:rPr sz="1600">
                <a:latin typeface="微软雅黑"/>
                <a:ea typeface="微软雅黑"/>
                <a:cs typeface="微软雅黑"/>
              </a:rPr>
              <a:t>，需要思考机器人到哪里才能获取到更多的环境信息，所以它是系统实现</a:t>
            </a:r>
            <a:r>
              <a:rPr sz="1600">
                <a:highlight>
                  <a:srgbClr val="E6B450">
                    <a:alpha val="20000"/>
                  </a:srgbClr>
                </a:highlight>
                <a:latin typeface="微软雅黑"/>
                <a:ea typeface="微软雅黑"/>
                <a:cs typeface="微软雅黑"/>
              </a:rPr>
              <a:t> 自主移动 </a:t>
            </a:r>
            <a:r>
              <a:rPr sz="1600">
                <a:latin typeface="微软雅黑"/>
                <a:ea typeface="微软雅黑"/>
                <a:cs typeface="微软雅黑"/>
              </a:rPr>
              <a:t>的基础。</a:t>
            </a:r>
            <a:endParaRPr sz="2000"/>
          </a:p>
        </p:txBody>
      </p:sp>
      <p:sp>
        <p:nvSpPr>
          <p:cNvPr id="10" name="Shape 8">
            <a:extLst xmlns:a="http://schemas.openxmlformats.org/drawingml/2006/main">
              <a:ext uri="{FF2B5EF4-FFF2-40B4-BE49-F238E27FC236}">
                <a16:creationId xmlns:a16="http://schemas.microsoft.com/office/drawing/2014/main" id="{1E5F8201-19FD-4005-A145-6F4950AC15F8}"/>
              </a:ext>
            </a:extLst>
          </p:cNvPr>
          <p:cNvSpPr>
            <a:spLocks xmlns:a="http://schemas.openxmlformats.org/drawingml/2006/main" noGrp="1"/>
          </p:cNvSpPr>
          <p:nvPr/>
        </p:nvSpPr>
        <p:spPr>
          <a:xfrm xmlns:a="http://schemas.openxmlformats.org/drawingml/2006/main">
            <a:off x="398804" y="4670356"/>
            <a:ext cx="5222430" cy="1433794"/>
          </a:xfrm>
          <a:custGeom xmlns:a="http://schemas.openxmlformats.org/drawingml/2006/main">
            <a:rect l="l" t="t" r="r" b="b"/>
            <a:pathLst>
              <a:path w="7396860" h="1433794">
                <a:moveTo>
                  <a:pt x="37981" y="0"/>
                </a:moveTo>
                <a:lnTo>
                  <a:pt x="7282916" y="0"/>
                </a:lnTo>
                <a:cubicBezTo>
                  <a:pt x="7345846" y="0"/>
                  <a:pt x="7396860" y="51014"/>
                  <a:pt x="7396860" y="113944"/>
                </a:cubicBezTo>
                <a:lnTo>
                  <a:pt x="7396860" y="1319851"/>
                </a:lnTo>
                <a:cubicBezTo>
                  <a:pt x="7396860" y="1382780"/>
                  <a:pt x="7345846" y="1433794"/>
                  <a:pt x="7282916" y="1433794"/>
                </a:cubicBezTo>
                <a:lnTo>
                  <a:pt x="37981" y="1433794"/>
                </a:lnTo>
                <a:cubicBezTo>
                  <a:pt x="17005" y="1433794"/>
                  <a:pt x="0" y="1416790"/>
                  <a:pt x="0" y="1395813"/>
                </a:cubicBezTo>
                <a:lnTo>
                  <a:pt x="0" y="37981"/>
                </a:lnTo>
                <a:cubicBezTo>
                  <a:pt x="0" y="17019"/>
                  <a:pt x="17019" y="0"/>
                  <a:pt x="37981"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E49A279D-815D-4ECF-A65A-8292C323530D}"/>
              </a:ext>
            </a:extLst>
          </p:cNvPr>
          <p:cNvSpPr>
            <a:spLocks xmlns:a="http://schemas.openxmlformats.org/drawingml/2006/main" noGrp="1"/>
          </p:cNvSpPr>
          <p:nvPr/>
        </p:nvSpPr>
        <p:spPr>
          <a:xfrm xmlns:a="http://schemas.openxmlformats.org/drawingml/2006/main">
            <a:off x="398804" y="4670356"/>
            <a:ext cx="37981" cy="1433794"/>
          </a:xfrm>
          <a:custGeom xmlns:a="http://schemas.openxmlformats.org/drawingml/2006/main">
            <a:rect l="l" t="t" r="r" b="b"/>
            <a:pathLst>
              <a:path w="37981" h="1433794">
                <a:moveTo>
                  <a:pt x="37981" y="0"/>
                </a:moveTo>
                <a:lnTo>
                  <a:pt x="37981" y="0"/>
                </a:lnTo>
                <a:lnTo>
                  <a:pt x="37981" y="1433794"/>
                </a:lnTo>
                <a:lnTo>
                  <a:pt x="37981" y="1433794"/>
                </a:lnTo>
                <a:cubicBezTo>
                  <a:pt x="17005" y="1433794"/>
                  <a:pt x="0" y="1416790"/>
                  <a:pt x="0" y="1395813"/>
                </a:cubicBezTo>
                <a:lnTo>
                  <a:pt x="0" y="37981"/>
                </a:lnTo>
                <a:cubicBezTo>
                  <a:pt x="0" y="17019"/>
                  <a:pt x="17019" y="0"/>
                  <a:pt x="37981"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6FEA2ACA-8036-454B-ADF8-EAF2D210F5E1}"/>
              </a:ext>
            </a:extLst>
          </p:cNvPr>
          <p:cNvSpPr>
            <a:spLocks xmlns:a="http://schemas.openxmlformats.org/drawingml/2006/main" noGrp="1"/>
          </p:cNvSpPr>
          <p:nvPr/>
        </p:nvSpPr>
        <p:spPr>
          <a:xfrm xmlns:a="http://schemas.openxmlformats.org/drawingml/2006/main">
            <a:off x="674168" y="4936226"/>
            <a:ext cx="227888" cy="227888"/>
          </a:xfrm>
          <a:custGeom xmlns:a="http://schemas.openxmlformats.org/drawingml/2006/main">
            <a:rect l="l" t="t" r="r" b="b"/>
            <a:pathLst>
              <a:path w="227888" h="227888">
                <a:moveTo>
                  <a:pt x="0" y="35607"/>
                </a:moveTo>
                <a:cubicBezTo>
                  <a:pt x="0" y="23812"/>
                  <a:pt x="9570" y="14243"/>
                  <a:pt x="21364" y="14243"/>
                </a:cubicBezTo>
                <a:lnTo>
                  <a:pt x="64093" y="14243"/>
                </a:lnTo>
                <a:cubicBezTo>
                  <a:pt x="75888" y="14243"/>
                  <a:pt x="85458" y="23812"/>
                  <a:pt x="85458" y="35607"/>
                </a:cubicBezTo>
                <a:lnTo>
                  <a:pt x="85458" y="42729"/>
                </a:lnTo>
                <a:lnTo>
                  <a:pt x="142430" y="42729"/>
                </a:lnTo>
                <a:lnTo>
                  <a:pt x="142430" y="35607"/>
                </a:lnTo>
                <a:cubicBezTo>
                  <a:pt x="142430" y="23812"/>
                  <a:pt x="151999" y="14243"/>
                  <a:pt x="163794" y="14243"/>
                </a:cubicBezTo>
                <a:lnTo>
                  <a:pt x="206523" y="14243"/>
                </a:lnTo>
                <a:cubicBezTo>
                  <a:pt x="218318" y="14243"/>
                  <a:pt x="227888" y="23812"/>
                  <a:pt x="227888" y="35607"/>
                </a:cubicBezTo>
                <a:lnTo>
                  <a:pt x="227888" y="78336"/>
                </a:lnTo>
                <a:cubicBezTo>
                  <a:pt x="227888" y="90131"/>
                  <a:pt x="218318" y="99701"/>
                  <a:pt x="206523" y="99701"/>
                </a:cubicBezTo>
                <a:lnTo>
                  <a:pt x="163794" y="99701"/>
                </a:lnTo>
                <a:cubicBezTo>
                  <a:pt x="151999" y="99701"/>
                  <a:pt x="142430" y="90131"/>
                  <a:pt x="142430" y="78336"/>
                </a:cubicBezTo>
                <a:lnTo>
                  <a:pt x="142430" y="71215"/>
                </a:lnTo>
                <a:lnTo>
                  <a:pt x="85458" y="71215"/>
                </a:lnTo>
                <a:lnTo>
                  <a:pt x="85458" y="78336"/>
                </a:lnTo>
                <a:cubicBezTo>
                  <a:pt x="85458" y="81586"/>
                  <a:pt x="84701" y="84701"/>
                  <a:pt x="83411" y="87461"/>
                </a:cubicBezTo>
                <a:lnTo>
                  <a:pt x="113944" y="128187"/>
                </a:lnTo>
                <a:lnTo>
                  <a:pt x="149551" y="128187"/>
                </a:lnTo>
                <a:cubicBezTo>
                  <a:pt x="161346" y="128187"/>
                  <a:pt x="170916" y="137756"/>
                  <a:pt x="170916" y="149551"/>
                </a:cubicBezTo>
                <a:lnTo>
                  <a:pt x="170916" y="192280"/>
                </a:lnTo>
                <a:cubicBezTo>
                  <a:pt x="170916" y="204075"/>
                  <a:pt x="161346" y="213645"/>
                  <a:pt x="149551" y="213645"/>
                </a:cubicBezTo>
                <a:lnTo>
                  <a:pt x="106822" y="213645"/>
                </a:lnTo>
                <a:cubicBezTo>
                  <a:pt x="95027" y="213645"/>
                  <a:pt x="85458" y="204075"/>
                  <a:pt x="85458" y="192280"/>
                </a:cubicBezTo>
                <a:lnTo>
                  <a:pt x="85458" y="149551"/>
                </a:lnTo>
                <a:cubicBezTo>
                  <a:pt x="85458" y="146302"/>
                  <a:pt x="86215" y="143187"/>
                  <a:pt x="87505" y="140427"/>
                </a:cubicBezTo>
                <a:lnTo>
                  <a:pt x="56972" y="99701"/>
                </a:lnTo>
                <a:lnTo>
                  <a:pt x="21364" y="99701"/>
                </a:lnTo>
                <a:cubicBezTo>
                  <a:pt x="9570" y="99701"/>
                  <a:pt x="0" y="90131"/>
                  <a:pt x="0" y="78336"/>
                </a:cubicBezTo>
                <a:lnTo>
                  <a:pt x="0" y="35607"/>
                </a:ln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15EE3648-161E-4BC1-BAF1-EB4B63A49E75}"/>
              </a:ext>
            </a:extLst>
          </p:cNvPr>
          <p:cNvSpPr>
            <a:spLocks xmlns:a="http://schemas.openxmlformats.org/drawingml/2006/main" noGrp="1"/>
          </p:cNvSpPr>
          <p:nvPr/>
        </p:nvSpPr>
        <p:spPr>
          <a:xfrm xmlns:a="http://schemas.openxmlformats.org/drawingml/2006/main">
            <a:off x="1082319" y="4898244"/>
            <a:ext cx="1508719" cy="3038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795" b="1">
                <a:latin typeface="微软雅黑"/>
                <a:ea typeface="微软雅黑"/>
                <a:cs typeface="微软雅黑"/>
              </a:rPr>
              <a:t>系统架构</a:t>
            </a:r>
            <a:endParaRPr sz="1600"/>
          </a:p>
        </p:txBody>
      </p:sp>
      <p:sp>
        <p:nvSpPr>
          <p:cNvPr id="14" name="Text 12">
            <a:extLst xmlns:a="http://schemas.openxmlformats.org/drawingml/2006/main">
              <a:ext uri="{FF2B5EF4-FFF2-40B4-BE49-F238E27FC236}">
                <a16:creationId xmlns:a16="http://schemas.microsoft.com/office/drawing/2014/main" id="{77FC2596-EB8A-401E-9E2C-B4CEE124E478}"/>
              </a:ext>
            </a:extLst>
          </p:cNvPr>
          <p:cNvSpPr>
            <a:spLocks xmlns:a="http://schemas.openxmlformats.org/drawingml/2006/main" noGrp="1"/>
          </p:cNvSpPr>
          <p:nvPr/>
        </p:nvSpPr>
        <p:spPr>
          <a:xfrm xmlns:a="http://schemas.openxmlformats.org/drawingml/2006/main">
            <a:off x="1082319" y="5316039"/>
            <a:ext cx="4112338" cy="560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探索决策和路径规划相互配合实现机器人的自主探索</a:t>
            </a:r>
            <a:r>
              <a:rPr sz="1600">
                <a:latin typeface="微软雅黑"/>
                <a:ea typeface="微软雅黑"/>
                <a:cs typeface="微软雅黑"/>
              </a:rPr>
              <a:t>。</a:t>
            </a:r>
            <a:endParaRPr sz="2000"/>
          </a:p>
        </p:txBody>
      </p:sp>
      <p:sp>
        <p:nvSpPr>
          <p:cNvPr id="19" name="Text 17">
            <a:extLst xmlns:a="http://schemas.openxmlformats.org/drawingml/2006/main">
              <a:ext uri="{FF2B5EF4-FFF2-40B4-BE49-F238E27FC236}">
                <a16:creationId xmlns:a16="http://schemas.microsoft.com/office/drawing/2014/main" id="{DA56D1EF-F93A-48E3-925B-3314B958A160}"/>
              </a:ext>
            </a:extLst>
          </p:cNvPr>
          <p:cNvSpPr>
            <a:spLocks xmlns:a="http://schemas.openxmlformats.org/drawingml/2006/main" noGrp="1"/>
          </p:cNvSpPr>
          <p:nvPr/>
        </p:nvSpPr>
        <p:spPr>
          <a:xfrm xmlns:a="http://schemas.openxmlformats.org/drawingml/2006/main">
            <a:off x="1207250" y="6384539"/>
            <a:ext cx="8889249" cy="2753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lnSpc>
                <a:spcPct val="140000"/>
              </a:lnSpc>
              <a:buNone/>
            </a:pPr>
            <a:r>
              <a:rPr sz="1600">
                <a:latin typeface="微软雅黑"/>
                <a:ea typeface="微软雅黑"/>
                <a:cs typeface="微软雅黑"/>
              </a:rPr>
              <a:t>探索决策负责</a:t>
            </a:r>
            <a:r>
              <a:rPr sz="1600" b="1">
                <a:latin typeface="微软雅黑"/>
                <a:ea typeface="微软雅黑"/>
                <a:cs typeface="微软雅黑"/>
              </a:rPr>
              <a:t>确定探索目标</a:t>
            </a:r>
            <a:r>
              <a:rPr sz="1600">
                <a:latin typeface="微软雅黑"/>
                <a:ea typeface="微软雅黑"/>
                <a:cs typeface="微软雅黑"/>
              </a:rPr>
              <a:t>，路径规划负责</a:t>
            </a:r>
            <a:r>
              <a:rPr sz="1600" b="1">
                <a:latin typeface="微软雅黑"/>
                <a:ea typeface="微软雅黑"/>
                <a:cs typeface="微软雅黑"/>
              </a:rPr>
              <a:t>计算到达目标的路径</a:t>
            </a:r>
            <a:r>
              <a:rPr sz="1600">
                <a:latin typeface="微软雅黑"/>
                <a:ea typeface="微软雅黑"/>
                <a:cs typeface="微软雅黑"/>
              </a:rPr>
              <a:t>，两者协同工作。</a:t>
            </a:r>
            <a:endParaRPr sz="2000"/>
          </a:p>
        </p:txBody>
      </p:sp>
      <p:sp>
        <p:nvSpPr>
          <p:cNvPr id="43" name="矩形 42">
            <a:extLst xmlns:a="http://schemas.openxmlformats.org/drawingml/2006/main">
              <a:ext uri="{FF2B5EF4-FFF2-40B4-BE49-F238E27FC236}">
                <a16:creationId xmlns:a16="http://schemas.microsoft.com/office/drawing/2014/main" id="{87A960FD-ACC1-A18E-DF66-20CCCF2BE20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文本框 43">
            <a:extLst xmlns:a="http://schemas.openxmlformats.org/drawingml/2006/main">
              <a:ext uri="{FF2B5EF4-FFF2-40B4-BE49-F238E27FC236}">
                <a16:creationId xmlns:a16="http://schemas.microsoft.com/office/drawing/2014/main" id="{D0087F8A-422B-57DA-6426-5FFC2D369D2B}"/>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7.3.3 </a:t>
            </a:r>
            <a:r>
              <a:rPr sz="2400" b="1">
                <a:solidFill>
                  <a:schemeClr val="accent1"/>
                </a:solidFill>
                <a:latin typeface="+mj-lt"/>
                <a:ea typeface="+mj-lt"/>
                <a:cs typeface="+mj-lt"/>
              </a:rPr>
              <a:t>未知环境自主探索</a:t>
            </a:r>
          </a:p>
        </p:txBody>
      </p:sp>
      <p:pic>
        <p:nvPicPr>
          <p:cNvPr id="60" name="图片 44"/>
          <p:cNvPicPr>
            <a:picLocks xmlns:a="http://schemas.openxmlformats.org/drawingml/2006/main" noChangeAspect="1"/>
          </p:cNvPicPr>
          <p:nvPr/>
        </p:nvPicPr>
        <p:blipFill>
          <a:blip xmlns:r="http://schemas.openxmlformats.org/officeDocument/2006/relationships" xmlns:a="http://schemas.openxmlformats.org/drawingml/2006/main" r:embed="Rde4fe8d575bf472c"/>
          <a:srcRect xmlns:a="http://schemas.openxmlformats.org/drawingml/2006/main" l="0" t="0" r="0" b="0"/>
          <a:stretch xmlns:a="http://schemas.openxmlformats.org/drawingml/2006/main">
            <a:fillRect l="0" t="0" r="0" b="0"/>
          </a:stretch>
        </p:blipFill>
        <p:spPr>
          <a:xfrm xmlns:a="http://schemas.openxmlformats.org/drawingml/2006/main">
            <a:off x="5621234" y="1679434"/>
            <a:ext cx="6570766" cy="428600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757272254"/>
      </p:ext>
    </p:extLst>
  </p:cSld>
</p:sld>
</file>

<file path=ppt/slides/slide126.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BE033DC7-44DA-424B-A7BA-8FEA7269F57E}"/>
              </a:ext>
            </a:extLst>
          </p:cNvPr>
          <p:cNvSpPr>
            <a:spLocks xmlns:a="http://schemas.openxmlformats.org/drawingml/2006/main" noGrp="1"/>
          </p:cNvSpPr>
          <p:nvPr/>
        </p:nvSpPr>
        <p:spPr>
          <a:xfrm xmlns:a="http://schemas.openxmlformats.org/drawingml/2006/main">
            <a:off x="356094" y="1903293"/>
            <a:ext cx="9753105" cy="2152239"/>
          </a:xfrm>
          <a:custGeom xmlns:a="http://schemas.openxmlformats.org/drawingml/2006/main">
            <a:rect l="l" t="t" r="r" b="b"/>
            <a:pathLst>
              <a:path w="7969736" h="1526120">
                <a:moveTo>
                  <a:pt x="33914" y="0"/>
                </a:moveTo>
                <a:lnTo>
                  <a:pt x="7867989" y="0"/>
                </a:lnTo>
                <a:cubicBezTo>
                  <a:pt x="7924182" y="0"/>
                  <a:pt x="7969736" y="45553"/>
                  <a:pt x="7969736" y="101746"/>
                </a:cubicBezTo>
                <a:lnTo>
                  <a:pt x="7969736" y="1424373"/>
                </a:lnTo>
                <a:cubicBezTo>
                  <a:pt x="7969736" y="1480566"/>
                  <a:pt x="7924182" y="1526120"/>
                  <a:pt x="7867989" y="1526120"/>
                </a:cubicBezTo>
                <a:lnTo>
                  <a:pt x="33914" y="1526120"/>
                </a:lnTo>
                <a:cubicBezTo>
                  <a:pt x="15184" y="1526120"/>
                  <a:pt x="0" y="1510936"/>
                  <a:pt x="0" y="1492206"/>
                </a:cubicBezTo>
                <a:lnTo>
                  <a:pt x="0" y="33914"/>
                </a:lnTo>
                <a:cubicBezTo>
                  <a:pt x="0" y="15196"/>
                  <a:pt x="15196" y="0"/>
                  <a:pt x="33914"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3060CEA3-86A8-404B-B6CA-E2ACEBA6530F}"/>
              </a:ext>
            </a:extLst>
          </p:cNvPr>
          <p:cNvSpPr>
            <a:spLocks xmlns:a="http://schemas.openxmlformats.org/drawingml/2006/main" noGrp="1"/>
          </p:cNvSpPr>
          <p:nvPr/>
        </p:nvSpPr>
        <p:spPr>
          <a:xfrm xmlns:a="http://schemas.openxmlformats.org/drawingml/2006/main">
            <a:off x="356095" y="1903293"/>
            <a:ext cx="33914" cy="2152239"/>
          </a:xfrm>
          <a:custGeom xmlns:a="http://schemas.openxmlformats.org/drawingml/2006/main">
            <a:rect l="l" t="t" r="r" b="b"/>
            <a:pathLst>
              <a:path w="33914" h="1526120">
                <a:moveTo>
                  <a:pt x="33914" y="0"/>
                </a:moveTo>
                <a:lnTo>
                  <a:pt x="33914" y="0"/>
                </a:lnTo>
                <a:lnTo>
                  <a:pt x="33914" y="1526120"/>
                </a:lnTo>
                <a:lnTo>
                  <a:pt x="33914" y="1526120"/>
                </a:lnTo>
                <a:cubicBezTo>
                  <a:pt x="15184" y="1526120"/>
                  <a:pt x="0" y="1510936"/>
                  <a:pt x="0" y="1492206"/>
                </a:cubicBezTo>
                <a:lnTo>
                  <a:pt x="0" y="33914"/>
                </a:lnTo>
                <a:cubicBezTo>
                  <a:pt x="0" y="15184"/>
                  <a:pt x="15184" y="0"/>
                  <a:pt x="33914"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11AA7447-5C20-4DC2-BDEB-A036B02AF3C7}"/>
              </a:ext>
            </a:extLst>
          </p:cNvPr>
          <p:cNvSpPr>
            <a:spLocks xmlns:a="http://schemas.openxmlformats.org/drawingml/2006/main" noGrp="1"/>
          </p:cNvSpPr>
          <p:nvPr/>
        </p:nvSpPr>
        <p:spPr>
          <a:xfrm xmlns:a="http://schemas.openxmlformats.org/drawingml/2006/main">
            <a:off x="559577" y="2140691"/>
            <a:ext cx="178047" cy="203483"/>
          </a:xfrm>
          <a:custGeom xmlns:a="http://schemas.openxmlformats.org/drawingml/2006/main">
            <a:rect l="l" t="t" r="r" b="b"/>
            <a:pathLst>
              <a:path w="178047" h="203483">
                <a:moveTo>
                  <a:pt x="0" y="178047"/>
                </a:moveTo>
                <a:cubicBezTo>
                  <a:pt x="0" y="185082"/>
                  <a:pt x="5683" y="190765"/>
                  <a:pt x="12718" y="190765"/>
                </a:cubicBezTo>
                <a:cubicBezTo>
                  <a:pt x="19752" y="190765"/>
                  <a:pt x="25435" y="185082"/>
                  <a:pt x="25435" y="178047"/>
                </a:cubicBezTo>
                <a:lnTo>
                  <a:pt x="25435" y="38153"/>
                </a:lnTo>
                <a:lnTo>
                  <a:pt x="165330" y="38153"/>
                </a:lnTo>
                <a:cubicBezTo>
                  <a:pt x="172364" y="38153"/>
                  <a:pt x="178047" y="32470"/>
                  <a:pt x="178047" y="25435"/>
                </a:cubicBezTo>
                <a:cubicBezTo>
                  <a:pt x="178047" y="18401"/>
                  <a:pt x="172364" y="12718"/>
                  <a:pt x="165330" y="12718"/>
                </a:cubicBezTo>
                <a:lnTo>
                  <a:pt x="25435" y="12718"/>
                </a:lnTo>
                <a:cubicBezTo>
                  <a:pt x="11406" y="12718"/>
                  <a:pt x="0" y="24124"/>
                  <a:pt x="0" y="38153"/>
                </a:cubicBezTo>
                <a:lnTo>
                  <a:pt x="0" y="178047"/>
                </a:lnTo>
                <a:close/>
                <a:moveTo>
                  <a:pt x="50871" y="178047"/>
                </a:moveTo>
                <a:cubicBezTo>
                  <a:pt x="50871" y="185082"/>
                  <a:pt x="56554" y="190765"/>
                  <a:pt x="63588" y="190765"/>
                </a:cubicBezTo>
                <a:cubicBezTo>
                  <a:pt x="70623" y="190765"/>
                  <a:pt x="76306" y="185082"/>
                  <a:pt x="76306" y="178047"/>
                </a:cubicBezTo>
                <a:cubicBezTo>
                  <a:pt x="76306" y="171013"/>
                  <a:pt x="70623" y="165330"/>
                  <a:pt x="63588" y="165330"/>
                </a:cubicBezTo>
                <a:cubicBezTo>
                  <a:pt x="56554" y="165330"/>
                  <a:pt x="50871" y="171013"/>
                  <a:pt x="50871" y="178047"/>
                </a:cubicBezTo>
                <a:close/>
                <a:moveTo>
                  <a:pt x="101741" y="178047"/>
                </a:moveTo>
                <a:cubicBezTo>
                  <a:pt x="101741" y="185082"/>
                  <a:pt x="107425" y="190765"/>
                  <a:pt x="114459" y="190765"/>
                </a:cubicBezTo>
                <a:cubicBezTo>
                  <a:pt x="121493" y="190765"/>
                  <a:pt x="127177" y="185082"/>
                  <a:pt x="127177" y="178047"/>
                </a:cubicBezTo>
                <a:cubicBezTo>
                  <a:pt x="127177" y="171013"/>
                  <a:pt x="121493" y="165330"/>
                  <a:pt x="114459" y="165330"/>
                </a:cubicBezTo>
                <a:cubicBezTo>
                  <a:pt x="107425" y="165330"/>
                  <a:pt x="101741" y="171013"/>
                  <a:pt x="101741" y="178047"/>
                </a:cubicBezTo>
                <a:close/>
                <a:moveTo>
                  <a:pt x="165330" y="190765"/>
                </a:moveTo>
                <a:cubicBezTo>
                  <a:pt x="172364" y="190765"/>
                  <a:pt x="178047" y="185082"/>
                  <a:pt x="178047" y="178047"/>
                </a:cubicBezTo>
                <a:cubicBezTo>
                  <a:pt x="178047" y="171013"/>
                  <a:pt x="172364" y="165330"/>
                  <a:pt x="165330" y="165330"/>
                </a:cubicBezTo>
                <a:cubicBezTo>
                  <a:pt x="158295" y="165330"/>
                  <a:pt x="152612" y="171013"/>
                  <a:pt x="152612" y="178047"/>
                </a:cubicBezTo>
                <a:cubicBezTo>
                  <a:pt x="152612" y="185082"/>
                  <a:pt x="158295" y="190765"/>
                  <a:pt x="165330" y="190765"/>
                </a:cubicBezTo>
                <a:close/>
                <a:moveTo>
                  <a:pt x="152612" y="76306"/>
                </a:moveTo>
                <a:cubicBezTo>
                  <a:pt x="152612" y="83325"/>
                  <a:pt x="158311" y="89024"/>
                  <a:pt x="165330" y="89024"/>
                </a:cubicBezTo>
                <a:cubicBezTo>
                  <a:pt x="172349" y="89024"/>
                  <a:pt x="178047" y="83325"/>
                  <a:pt x="178047" y="76306"/>
                </a:cubicBezTo>
                <a:cubicBezTo>
                  <a:pt x="178047" y="69287"/>
                  <a:pt x="172349" y="63588"/>
                  <a:pt x="165330" y="63588"/>
                </a:cubicBezTo>
                <a:cubicBezTo>
                  <a:pt x="158311" y="63588"/>
                  <a:pt x="152612" y="69287"/>
                  <a:pt x="152612" y="76306"/>
                </a:cubicBezTo>
                <a:close/>
                <a:moveTo>
                  <a:pt x="165330" y="139894"/>
                </a:moveTo>
                <a:cubicBezTo>
                  <a:pt x="172349" y="139894"/>
                  <a:pt x="178047" y="134196"/>
                  <a:pt x="178047" y="127177"/>
                </a:cubicBezTo>
                <a:cubicBezTo>
                  <a:pt x="178047" y="120158"/>
                  <a:pt x="172349" y="114459"/>
                  <a:pt x="165330" y="114459"/>
                </a:cubicBezTo>
                <a:cubicBezTo>
                  <a:pt x="158311" y="114459"/>
                  <a:pt x="152612" y="120158"/>
                  <a:pt x="152612" y="127177"/>
                </a:cubicBezTo>
                <a:cubicBezTo>
                  <a:pt x="152612" y="134196"/>
                  <a:pt x="158311" y="139894"/>
                  <a:pt x="165330" y="139894"/>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40D8E32D-DC6D-4B92-9710-C477FF563AF6}"/>
              </a:ext>
            </a:extLst>
          </p:cNvPr>
          <p:cNvSpPr>
            <a:spLocks xmlns:a="http://schemas.openxmlformats.org/drawingml/2006/main" noGrp="1"/>
          </p:cNvSpPr>
          <p:nvPr/>
        </p:nvSpPr>
        <p:spPr>
          <a:xfrm xmlns:a="http://schemas.openxmlformats.org/drawingml/2006/main">
            <a:off x="854071" y="2106777"/>
            <a:ext cx="7367766" cy="2713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边界引导策略</a:t>
            </a:r>
            <a:endParaRPr/>
          </a:p>
        </p:txBody>
      </p:sp>
      <p:sp>
        <p:nvSpPr>
          <p:cNvPr id="9" name="Text 7">
            <a:extLst xmlns:a="http://schemas.openxmlformats.org/drawingml/2006/main">
              <a:ext uri="{FF2B5EF4-FFF2-40B4-BE49-F238E27FC236}">
                <a16:creationId xmlns:a16="http://schemas.microsoft.com/office/drawing/2014/main" id="{8145BCD6-6317-4DD7-8179-65E67E07316B}"/>
              </a:ext>
            </a:extLst>
          </p:cNvPr>
          <p:cNvSpPr>
            <a:spLocks xmlns:a="http://schemas.openxmlformats.org/drawingml/2006/main" noGrp="1"/>
          </p:cNvSpPr>
          <p:nvPr/>
        </p:nvSpPr>
        <p:spPr>
          <a:xfrm xmlns:a="http://schemas.openxmlformats.org/drawingml/2006/main">
            <a:off x="854071" y="2479829"/>
            <a:ext cx="8764062" cy="13471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传统的探索算法通常利用</a:t>
            </a:r>
            <a:r>
              <a:rPr sz="1600" b="1">
                <a:latin typeface="微软雅黑"/>
                <a:ea typeface="微软雅黑"/>
                <a:cs typeface="微软雅黑"/>
              </a:rPr>
              <a:t>边界（Frontier）</a:t>
            </a:r>
            <a:r>
              <a:rPr sz="1600">
                <a:latin typeface="微软雅黑"/>
                <a:ea typeface="微软雅黑"/>
                <a:cs typeface="微软雅黑"/>
              </a:rPr>
              <a:t>作为引导，并采取</a:t>
            </a:r>
            <a:r>
              <a:rPr sz="1600">
                <a:highlight>
                  <a:srgbClr val="E6B450">
                    <a:alpha val="20000"/>
                  </a:srgbClr>
                </a:highlight>
                <a:latin typeface="微软雅黑"/>
                <a:ea typeface="微软雅黑"/>
                <a:cs typeface="微软雅黑"/>
              </a:rPr>
              <a:t> 贪心策略（Greedy strategy） </a:t>
            </a:r>
            <a:r>
              <a:rPr sz="1600">
                <a:latin typeface="微软雅黑"/>
                <a:ea typeface="微软雅黑"/>
                <a:cs typeface="微软雅黑"/>
              </a:rPr>
              <a:t>。机器人选择得分最高的边界作为局部目标点，机器人的行进和所建立的地图随之扩大，边界也随之变化，直到某个时刻地图中不再出现新的边界，这表明机器人传感器已经覆盖了所有未知空间，即自主探索已完成。</a:t>
            </a:r>
            <a:endParaRPr sz="2000"/>
          </a:p>
        </p:txBody>
      </p:sp>
      <p:sp>
        <p:nvSpPr>
          <p:cNvPr id="15" name="Shape 13">
            <a:extLst xmlns:a="http://schemas.openxmlformats.org/drawingml/2006/main">
              <a:ext uri="{FF2B5EF4-FFF2-40B4-BE49-F238E27FC236}">
                <a16:creationId xmlns:a16="http://schemas.microsoft.com/office/drawing/2014/main" id="{665B6012-9EFA-4974-B845-28C3C68E3860}"/>
              </a:ext>
            </a:extLst>
          </p:cNvPr>
          <p:cNvSpPr>
            <a:spLocks xmlns:a="http://schemas.openxmlformats.org/drawingml/2006/main" noGrp="1"/>
          </p:cNvSpPr>
          <p:nvPr/>
        </p:nvSpPr>
        <p:spPr>
          <a:xfrm xmlns:a="http://schemas.openxmlformats.org/drawingml/2006/main">
            <a:off x="356095" y="4399063"/>
            <a:ext cx="9753104" cy="2374270"/>
          </a:xfrm>
          <a:custGeom xmlns:a="http://schemas.openxmlformats.org/drawingml/2006/main">
            <a:rect l="l" t="t" r="r" b="b"/>
            <a:pathLst>
              <a:path w="7969736" h="1280245">
                <a:moveTo>
                  <a:pt x="33914" y="0"/>
                </a:moveTo>
                <a:lnTo>
                  <a:pt x="7867995" y="0"/>
                </a:lnTo>
                <a:cubicBezTo>
                  <a:pt x="7924185" y="0"/>
                  <a:pt x="7969736" y="45551"/>
                  <a:pt x="7969736" y="101741"/>
                </a:cubicBezTo>
                <a:lnTo>
                  <a:pt x="7969736" y="1178504"/>
                </a:lnTo>
                <a:cubicBezTo>
                  <a:pt x="7969736" y="1234694"/>
                  <a:pt x="7924185" y="1280245"/>
                  <a:pt x="7867995" y="1280245"/>
                </a:cubicBezTo>
                <a:lnTo>
                  <a:pt x="33914" y="1280245"/>
                </a:lnTo>
                <a:cubicBezTo>
                  <a:pt x="15184" y="1280245"/>
                  <a:pt x="0" y="1265061"/>
                  <a:pt x="0" y="1246331"/>
                </a:cubicBezTo>
                <a:lnTo>
                  <a:pt x="0" y="33914"/>
                </a:lnTo>
                <a:cubicBezTo>
                  <a:pt x="0" y="15184"/>
                  <a:pt x="15184" y="0"/>
                  <a:pt x="33914" y="0"/>
                </a:cubicBezTo>
                <a:close/>
              </a:path>
            </a:pathLst>
          </a:custGeom>
          <a:solidFill xmlns:a="http://schemas.openxmlformats.org/drawingml/2006/main">
            <a:srgbClr val="5F87A7">
              <a:alpha val="10196"/>
            </a:srgbClr>
          </a:solidFill>
        </p:spPr>
      </p:sp>
      <p:sp>
        <p:nvSpPr>
          <p:cNvPr id="16" name="Shape 14">
            <a:extLst xmlns:a="http://schemas.openxmlformats.org/drawingml/2006/main">
              <a:ext uri="{FF2B5EF4-FFF2-40B4-BE49-F238E27FC236}">
                <a16:creationId xmlns:a16="http://schemas.microsoft.com/office/drawing/2014/main" id="{D29B04AE-0EB3-4315-9C13-6BDF73EAEC13}"/>
              </a:ext>
            </a:extLst>
          </p:cNvPr>
          <p:cNvSpPr>
            <a:spLocks xmlns:a="http://schemas.openxmlformats.org/drawingml/2006/main" noGrp="1"/>
          </p:cNvSpPr>
          <p:nvPr/>
        </p:nvSpPr>
        <p:spPr>
          <a:xfrm xmlns:a="http://schemas.openxmlformats.org/drawingml/2006/main">
            <a:off x="356095" y="4399063"/>
            <a:ext cx="33914" cy="2374270"/>
          </a:xfrm>
          <a:custGeom xmlns:a="http://schemas.openxmlformats.org/drawingml/2006/main">
            <a:rect l="l" t="t" r="r" b="b"/>
            <a:pathLst>
              <a:path w="33914" h="1280245">
                <a:moveTo>
                  <a:pt x="33914" y="0"/>
                </a:moveTo>
                <a:lnTo>
                  <a:pt x="33914" y="0"/>
                </a:lnTo>
                <a:lnTo>
                  <a:pt x="33914" y="1280245"/>
                </a:lnTo>
                <a:lnTo>
                  <a:pt x="33914" y="1280245"/>
                </a:lnTo>
                <a:cubicBezTo>
                  <a:pt x="15184" y="1280245"/>
                  <a:pt x="0" y="1265061"/>
                  <a:pt x="0" y="1246331"/>
                </a:cubicBezTo>
                <a:lnTo>
                  <a:pt x="0" y="33914"/>
                </a:lnTo>
                <a:cubicBezTo>
                  <a:pt x="0" y="15184"/>
                  <a:pt x="15184" y="0"/>
                  <a:pt x="33914" y="0"/>
                </a:cubicBezTo>
                <a:close/>
              </a:path>
            </a:pathLst>
          </a:custGeom>
          <a:solidFill xmlns:a="http://schemas.openxmlformats.org/drawingml/2006/main">
            <a:srgbClr val="E6B450"/>
          </a:solidFill>
        </p:spPr>
      </p:sp>
      <p:sp>
        <p:nvSpPr>
          <p:cNvPr id="17" name="Shape 15">
            <a:extLst xmlns:a="http://schemas.openxmlformats.org/drawingml/2006/main">
              <a:ext uri="{FF2B5EF4-FFF2-40B4-BE49-F238E27FC236}">
                <a16:creationId xmlns:a16="http://schemas.microsoft.com/office/drawing/2014/main" id="{922D9419-54D3-4161-B5EE-E0943AE4A868}"/>
              </a:ext>
            </a:extLst>
          </p:cNvPr>
          <p:cNvSpPr>
            <a:spLocks xmlns:a="http://schemas.openxmlformats.org/drawingml/2006/main" noGrp="1"/>
          </p:cNvSpPr>
          <p:nvPr/>
        </p:nvSpPr>
        <p:spPr>
          <a:xfrm xmlns:a="http://schemas.openxmlformats.org/drawingml/2006/main">
            <a:off x="551099" y="4636460"/>
            <a:ext cx="203483" cy="203483"/>
          </a:xfrm>
          <a:custGeom xmlns:a="http://schemas.openxmlformats.org/drawingml/2006/main">
            <a:rect l="l" t="t" r="r" b="b"/>
            <a:pathLst>
              <a:path w="203483" h="203483">
                <a:moveTo>
                  <a:pt x="101741" y="0"/>
                </a:moveTo>
                <a:cubicBezTo>
                  <a:pt x="107583" y="0"/>
                  <a:pt x="112949" y="3219"/>
                  <a:pt x="115731" y="8346"/>
                </a:cubicBezTo>
                <a:lnTo>
                  <a:pt x="201575" y="167317"/>
                </a:lnTo>
                <a:cubicBezTo>
                  <a:pt x="204238" y="172245"/>
                  <a:pt x="204118" y="178206"/>
                  <a:pt x="201257" y="183015"/>
                </a:cubicBezTo>
                <a:cubicBezTo>
                  <a:pt x="198396" y="187824"/>
                  <a:pt x="193189" y="190765"/>
                  <a:pt x="187586" y="190765"/>
                </a:cubicBezTo>
                <a:lnTo>
                  <a:pt x="15897" y="190765"/>
                </a:lnTo>
                <a:cubicBezTo>
                  <a:pt x="10293" y="190765"/>
                  <a:pt x="5127" y="187824"/>
                  <a:pt x="2226" y="183015"/>
                </a:cubicBezTo>
                <a:cubicBezTo>
                  <a:pt x="-676" y="178206"/>
                  <a:pt x="-755" y="172245"/>
                  <a:pt x="1908" y="167317"/>
                </a:cubicBezTo>
                <a:lnTo>
                  <a:pt x="87752" y="8346"/>
                </a:lnTo>
                <a:cubicBezTo>
                  <a:pt x="90534" y="3219"/>
                  <a:pt x="95899" y="0"/>
                  <a:pt x="101741" y="0"/>
                </a:cubicBezTo>
                <a:close/>
                <a:moveTo>
                  <a:pt x="101741" y="66768"/>
                </a:moveTo>
                <a:cubicBezTo>
                  <a:pt x="96456" y="66768"/>
                  <a:pt x="92203" y="71020"/>
                  <a:pt x="92203" y="76306"/>
                </a:cubicBezTo>
                <a:lnTo>
                  <a:pt x="92203" y="120818"/>
                </a:lnTo>
                <a:cubicBezTo>
                  <a:pt x="92203" y="126104"/>
                  <a:pt x="96456" y="130356"/>
                  <a:pt x="101741" y="130356"/>
                </a:cubicBezTo>
                <a:cubicBezTo>
                  <a:pt x="107027" y="130356"/>
                  <a:pt x="111280" y="126104"/>
                  <a:pt x="111280" y="120818"/>
                </a:cubicBezTo>
                <a:lnTo>
                  <a:pt x="111280" y="76306"/>
                </a:lnTo>
                <a:cubicBezTo>
                  <a:pt x="111280" y="71020"/>
                  <a:pt x="107027" y="66768"/>
                  <a:pt x="101741" y="66768"/>
                </a:cubicBezTo>
                <a:close/>
                <a:moveTo>
                  <a:pt x="112353" y="152612"/>
                </a:moveTo>
                <a:cubicBezTo>
                  <a:pt x="112594" y="148673"/>
                  <a:pt x="110630" y="144926"/>
                  <a:pt x="107253" y="142883"/>
                </a:cubicBezTo>
                <a:cubicBezTo>
                  <a:pt x="103877" y="140841"/>
                  <a:pt x="99646" y="140841"/>
                  <a:pt x="96269" y="142883"/>
                </a:cubicBezTo>
                <a:cubicBezTo>
                  <a:pt x="92893" y="144926"/>
                  <a:pt x="90928" y="148673"/>
                  <a:pt x="91170" y="152612"/>
                </a:cubicBezTo>
                <a:cubicBezTo>
                  <a:pt x="90928" y="156551"/>
                  <a:pt x="92893" y="160298"/>
                  <a:pt x="96269" y="162341"/>
                </a:cubicBezTo>
                <a:cubicBezTo>
                  <a:pt x="99646" y="164383"/>
                  <a:pt x="103877" y="164383"/>
                  <a:pt x="107253" y="162341"/>
                </a:cubicBezTo>
                <a:cubicBezTo>
                  <a:pt x="110630" y="160298"/>
                  <a:pt x="112594" y="156551"/>
                  <a:pt x="112353" y="152612"/>
                </a:cubicBez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90A378E6-D154-4E83-9E6B-5BDD21FCC88C}"/>
              </a:ext>
            </a:extLst>
          </p:cNvPr>
          <p:cNvSpPr>
            <a:spLocks xmlns:a="http://schemas.openxmlformats.org/drawingml/2006/main" noGrp="1"/>
          </p:cNvSpPr>
          <p:nvPr/>
        </p:nvSpPr>
        <p:spPr>
          <a:xfrm xmlns:a="http://schemas.openxmlformats.org/drawingml/2006/main">
            <a:off x="867451" y="4602546"/>
            <a:ext cx="7359288" cy="2713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600" b="1">
                <a:latin typeface="微软雅黑"/>
                <a:ea typeface="微软雅黑"/>
                <a:cs typeface="微软雅黑"/>
              </a:rPr>
              <a:t>算法局限性</a:t>
            </a:r>
            <a:endParaRPr sz="1600"/>
          </a:p>
        </p:txBody>
      </p:sp>
      <p:sp>
        <p:nvSpPr>
          <p:cNvPr id="19" name="Text 17">
            <a:extLst xmlns:a="http://schemas.openxmlformats.org/drawingml/2006/main">
              <a:ext uri="{FF2B5EF4-FFF2-40B4-BE49-F238E27FC236}">
                <a16:creationId xmlns:a16="http://schemas.microsoft.com/office/drawing/2014/main" id="{BD661849-0D92-4FEF-9739-535DA68E9A32}"/>
              </a:ext>
            </a:extLst>
          </p:cNvPr>
          <p:cNvSpPr>
            <a:spLocks xmlns:a="http://schemas.openxmlformats.org/drawingml/2006/main" noGrp="1"/>
          </p:cNvSpPr>
          <p:nvPr/>
        </p:nvSpPr>
        <p:spPr>
          <a:xfrm xmlns:a="http://schemas.openxmlformats.org/drawingml/2006/main">
            <a:off x="867451" y="4975596"/>
            <a:ext cx="8750682" cy="152680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这种算法在</a:t>
            </a:r>
            <a:r>
              <a:rPr sz="1600" b="1">
                <a:latin typeface="微软雅黑"/>
                <a:ea typeface="微软雅黑"/>
                <a:cs typeface="微软雅黑"/>
              </a:rPr>
              <a:t>二维地图</a:t>
            </a:r>
            <a:r>
              <a:rPr sz="1600">
                <a:latin typeface="微软雅黑"/>
                <a:ea typeface="微软雅黑"/>
                <a:cs typeface="微软雅黑"/>
              </a:rPr>
              <a:t>中能够有较好的效果，但对于</a:t>
            </a:r>
            <a:r>
              <a:rPr sz="1600" b="1">
                <a:latin typeface="微软雅黑"/>
                <a:ea typeface="微软雅黑"/>
                <a:cs typeface="微软雅黑"/>
              </a:rPr>
              <a:t>三维地图</a:t>
            </a:r>
            <a:r>
              <a:rPr sz="1600">
                <a:latin typeface="微软雅黑"/>
                <a:ea typeface="微软雅黑"/>
                <a:cs typeface="微软雅黑"/>
              </a:rPr>
              <a:t>，受环境和传感器的影响，空间中很容易产生大量无效的边界，导致机器人难以找到有效的探索路径。</a:t>
            </a:r>
            <a:endParaRPr sz="1600"/>
          </a:p>
          <a:p xmlns:a="http://schemas.openxmlformats.org/drawingml/2006/main">
            <a:pPr>
              <a:lnSpc>
                <a:spcPct val="140000"/>
              </a:lnSpc>
              <a:buNone/>
            </a:pPr>
            <a:r>
              <a:rPr sz="1600">
                <a:latin typeface="微软雅黑"/>
                <a:ea typeface="微软雅黑"/>
                <a:cs typeface="微软雅黑"/>
              </a:rPr>
              <a:t>此外，由于计算资源和算法的局限性，很多方法只能通过</a:t>
            </a:r>
            <a:r>
              <a:rPr sz="1600" b="1">
                <a:latin typeface="微软雅黑"/>
                <a:ea typeface="微软雅黑"/>
                <a:cs typeface="微软雅黑"/>
              </a:rPr>
              <a:t>随机采样</a:t>
            </a:r>
            <a:r>
              <a:rPr sz="1600">
                <a:latin typeface="微软雅黑"/>
                <a:ea typeface="微软雅黑"/>
                <a:cs typeface="微软雅黑"/>
              </a:rPr>
              <a:t>生成路径，在每次移动后都需要重新采样，这容易使机器人变得</a:t>
            </a:r>
            <a:r>
              <a:rPr sz="1600">
                <a:highlight>
                  <a:srgbClr val="E6B450">
                    <a:alpha val="20000"/>
                  </a:srgbClr>
                </a:highlight>
                <a:latin typeface="微软雅黑"/>
                <a:ea typeface="微软雅黑"/>
                <a:cs typeface="微软雅黑"/>
              </a:rPr>
              <a:t> 短视 </a:t>
            </a:r>
            <a:r>
              <a:rPr sz="1600">
                <a:latin typeface="微软雅黑"/>
                <a:ea typeface="微软雅黑"/>
                <a:cs typeface="微软雅黑"/>
              </a:rPr>
              <a:t>，只关注当前最大收益而忽略长远收益。</a:t>
            </a:r>
            <a:endParaRPr sz="1600"/>
          </a:p>
        </p:txBody>
      </p:sp>
      <p:sp>
        <p:nvSpPr>
          <p:cNvPr id="58" name="矩形 57">
            <a:extLst xmlns:a="http://schemas.openxmlformats.org/drawingml/2006/main">
              <a:ext uri="{FF2B5EF4-FFF2-40B4-BE49-F238E27FC236}">
                <a16:creationId xmlns:a16="http://schemas.microsoft.com/office/drawing/2014/main" id="{78DF965A-4F0E-AFC8-6740-291D9B0CDD96}"/>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文本框 58">
            <a:extLst xmlns:a="http://schemas.openxmlformats.org/drawingml/2006/main">
              <a:ext uri="{FF2B5EF4-FFF2-40B4-BE49-F238E27FC236}">
                <a16:creationId xmlns:a16="http://schemas.microsoft.com/office/drawing/2014/main" id="{62FD746A-6C8C-1D6E-BBC9-EBC5FA6145D7}"/>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7.3.3 </a:t>
            </a:r>
            <a:r>
              <a:rPr sz="2400" b="1">
                <a:solidFill>
                  <a:schemeClr val="accent1"/>
                </a:solidFill>
                <a:latin typeface="+mj-lt"/>
                <a:ea typeface="+mj-lt"/>
                <a:cs typeface="+mj-lt"/>
              </a:rPr>
              <a:t>未知环境自主探索</a:t>
            </a:r>
          </a:p>
        </p:txBody>
      </p:sp>
    </p:spTree>
    <p:extLst>
      <p:ext uri="{BB962C8B-B14F-4D97-AF65-F5344CB8AC3E}">
        <p14:creationId xmlns:p14="http://schemas.microsoft.com/office/powerpoint/2010/main" val="781685437"/>
      </p:ext>
    </p:extLst>
  </p:cSld>
</p:sld>
</file>

<file path=ppt/slides/slide127.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484D889E-D2B5-4E77-8F07-3E7CE690F1A4}"/>
              </a:ext>
            </a:extLst>
          </p:cNvPr>
          <p:cNvSpPr>
            <a:spLocks xmlns:a="http://schemas.openxmlformats.org/drawingml/2006/main" noGrp="1"/>
          </p:cNvSpPr>
          <p:nvPr/>
        </p:nvSpPr>
        <p:spPr>
          <a:xfrm xmlns:a="http://schemas.openxmlformats.org/drawingml/2006/main">
            <a:off x="338442" y="1826804"/>
            <a:ext cx="10812157" cy="1216783"/>
          </a:xfrm>
          <a:custGeom xmlns:a="http://schemas.openxmlformats.org/drawingml/2006/main">
            <a:rect l="l" t="t" r="r" b="b"/>
            <a:pathLst>
              <a:path w="7510208" h="1216783">
                <a:moveTo>
                  <a:pt x="32233" y="0"/>
                </a:moveTo>
                <a:lnTo>
                  <a:pt x="7413510" y="0"/>
                </a:lnTo>
                <a:cubicBezTo>
                  <a:pt x="7466914" y="0"/>
                  <a:pt x="7510208" y="43293"/>
                  <a:pt x="7510208" y="96698"/>
                </a:cubicBezTo>
                <a:lnTo>
                  <a:pt x="7510208" y="1120085"/>
                </a:lnTo>
                <a:cubicBezTo>
                  <a:pt x="7510208" y="1173490"/>
                  <a:pt x="7466914" y="1216783"/>
                  <a:pt x="7413510" y="1216783"/>
                </a:cubicBezTo>
                <a:lnTo>
                  <a:pt x="32233" y="1216783"/>
                </a:lnTo>
                <a:cubicBezTo>
                  <a:pt x="14431" y="1216783"/>
                  <a:pt x="0" y="1202352"/>
                  <a:pt x="0" y="1184550"/>
                </a:cubicBezTo>
                <a:lnTo>
                  <a:pt x="0" y="32233"/>
                </a:lnTo>
                <a:cubicBezTo>
                  <a:pt x="0" y="14443"/>
                  <a:pt x="14443" y="0"/>
                  <a:pt x="32233"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E1062B07-4F07-42ED-AE20-2C15D12F3260}"/>
              </a:ext>
            </a:extLst>
          </p:cNvPr>
          <p:cNvSpPr>
            <a:spLocks xmlns:a="http://schemas.openxmlformats.org/drawingml/2006/main" noGrp="1"/>
          </p:cNvSpPr>
          <p:nvPr/>
        </p:nvSpPr>
        <p:spPr>
          <a:xfrm xmlns:a="http://schemas.openxmlformats.org/drawingml/2006/main">
            <a:off x="338443" y="1826804"/>
            <a:ext cx="32233" cy="1216783"/>
          </a:xfrm>
          <a:custGeom xmlns:a="http://schemas.openxmlformats.org/drawingml/2006/main">
            <a:rect l="l" t="t" r="r" b="b"/>
            <a:pathLst>
              <a:path w="32233" h="1216783">
                <a:moveTo>
                  <a:pt x="32233" y="0"/>
                </a:moveTo>
                <a:lnTo>
                  <a:pt x="32233" y="0"/>
                </a:lnTo>
                <a:lnTo>
                  <a:pt x="32233" y="1216783"/>
                </a:lnTo>
                <a:lnTo>
                  <a:pt x="32233" y="1216783"/>
                </a:lnTo>
                <a:cubicBezTo>
                  <a:pt x="14431" y="1216783"/>
                  <a:pt x="0" y="1202352"/>
                  <a:pt x="0" y="1184550"/>
                </a:cubicBezTo>
                <a:lnTo>
                  <a:pt x="0" y="32233"/>
                </a:lnTo>
                <a:cubicBezTo>
                  <a:pt x="0" y="14443"/>
                  <a:pt x="14443" y="0"/>
                  <a:pt x="32233"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ADD35B18-6CFB-493D-BC82-DED2BD8BC8C1}"/>
              </a:ext>
            </a:extLst>
          </p:cNvPr>
          <p:cNvSpPr>
            <a:spLocks xmlns:a="http://schemas.openxmlformats.org/drawingml/2006/main" noGrp="1"/>
          </p:cNvSpPr>
          <p:nvPr/>
        </p:nvSpPr>
        <p:spPr>
          <a:xfrm xmlns:a="http://schemas.openxmlformats.org/drawingml/2006/main">
            <a:off x="519751" y="2052432"/>
            <a:ext cx="193396" cy="193396"/>
          </a:xfrm>
          <a:custGeom xmlns:a="http://schemas.openxmlformats.org/drawingml/2006/main">
            <a:rect l="l" t="t" r="r" b="b"/>
            <a:pathLst>
              <a:path w="193396" h="193396">
                <a:moveTo>
                  <a:pt x="102704" y="7630"/>
                </a:moveTo>
                <a:cubicBezTo>
                  <a:pt x="99002" y="5515"/>
                  <a:pt x="94432" y="5515"/>
                  <a:pt x="90692" y="7630"/>
                </a:cubicBezTo>
                <a:lnTo>
                  <a:pt x="6081" y="55979"/>
                </a:lnTo>
                <a:cubicBezTo>
                  <a:pt x="1322" y="58699"/>
                  <a:pt x="-1020" y="64289"/>
                  <a:pt x="378" y="69577"/>
                </a:cubicBezTo>
                <a:cubicBezTo>
                  <a:pt x="1775" y="74865"/>
                  <a:pt x="6610" y="78567"/>
                  <a:pt x="12087" y="78567"/>
                </a:cubicBezTo>
                <a:lnTo>
                  <a:pt x="24174" y="78567"/>
                </a:lnTo>
                <a:lnTo>
                  <a:pt x="24174" y="157134"/>
                </a:lnTo>
                <a:lnTo>
                  <a:pt x="24174" y="157134"/>
                </a:lnTo>
                <a:lnTo>
                  <a:pt x="4835" y="171639"/>
                </a:lnTo>
                <a:cubicBezTo>
                  <a:pt x="1775" y="173905"/>
                  <a:pt x="0" y="177494"/>
                  <a:pt x="0" y="181309"/>
                </a:cubicBezTo>
                <a:cubicBezTo>
                  <a:pt x="0" y="187994"/>
                  <a:pt x="5401" y="193396"/>
                  <a:pt x="12087" y="193396"/>
                </a:cubicBezTo>
                <a:lnTo>
                  <a:pt x="181309" y="193396"/>
                </a:lnTo>
                <a:cubicBezTo>
                  <a:pt x="187994" y="193396"/>
                  <a:pt x="193396" y="187994"/>
                  <a:pt x="193396" y="181309"/>
                </a:cubicBezTo>
                <a:cubicBezTo>
                  <a:pt x="193396" y="177494"/>
                  <a:pt x="191621" y="173905"/>
                  <a:pt x="188561" y="171639"/>
                </a:cubicBezTo>
                <a:lnTo>
                  <a:pt x="169221" y="157134"/>
                </a:lnTo>
                <a:lnTo>
                  <a:pt x="169221" y="78567"/>
                </a:lnTo>
                <a:lnTo>
                  <a:pt x="181309" y="78567"/>
                </a:lnTo>
                <a:cubicBezTo>
                  <a:pt x="186786" y="78567"/>
                  <a:pt x="191583" y="74865"/>
                  <a:pt x="192980" y="69577"/>
                </a:cubicBezTo>
                <a:cubicBezTo>
                  <a:pt x="194378" y="64289"/>
                  <a:pt x="192036" y="58699"/>
                  <a:pt x="187277" y="55979"/>
                </a:cubicBezTo>
                <a:lnTo>
                  <a:pt x="102666" y="7630"/>
                </a:lnTo>
                <a:close/>
                <a:moveTo>
                  <a:pt x="151091" y="78567"/>
                </a:moveTo>
                <a:lnTo>
                  <a:pt x="151091" y="157134"/>
                </a:lnTo>
                <a:lnTo>
                  <a:pt x="126916" y="157134"/>
                </a:lnTo>
                <a:lnTo>
                  <a:pt x="126916" y="78567"/>
                </a:lnTo>
                <a:lnTo>
                  <a:pt x="151091" y="78567"/>
                </a:lnTo>
                <a:close/>
                <a:moveTo>
                  <a:pt x="108785" y="78567"/>
                </a:moveTo>
                <a:lnTo>
                  <a:pt x="108785" y="157134"/>
                </a:lnTo>
                <a:lnTo>
                  <a:pt x="84611" y="157134"/>
                </a:lnTo>
                <a:lnTo>
                  <a:pt x="84611" y="78567"/>
                </a:lnTo>
                <a:lnTo>
                  <a:pt x="108785" y="78567"/>
                </a:lnTo>
                <a:close/>
                <a:moveTo>
                  <a:pt x="66480" y="78567"/>
                </a:moveTo>
                <a:lnTo>
                  <a:pt x="66480" y="157134"/>
                </a:lnTo>
                <a:lnTo>
                  <a:pt x="42305" y="157134"/>
                </a:lnTo>
                <a:lnTo>
                  <a:pt x="42305" y="78567"/>
                </a:lnTo>
                <a:lnTo>
                  <a:pt x="66480" y="78567"/>
                </a:lnTo>
                <a:close/>
                <a:moveTo>
                  <a:pt x="96698" y="36262"/>
                </a:moveTo>
                <a:cubicBezTo>
                  <a:pt x="103369" y="36262"/>
                  <a:pt x="108785" y="41678"/>
                  <a:pt x="108785" y="48349"/>
                </a:cubicBezTo>
                <a:cubicBezTo>
                  <a:pt x="108785" y="55020"/>
                  <a:pt x="103369" y="60436"/>
                  <a:pt x="96698" y="60436"/>
                </a:cubicBezTo>
                <a:cubicBezTo>
                  <a:pt x="90027" y="60436"/>
                  <a:pt x="84611" y="55020"/>
                  <a:pt x="84611" y="48349"/>
                </a:cubicBezTo>
                <a:cubicBezTo>
                  <a:pt x="84611" y="41678"/>
                  <a:pt x="90027" y="36262"/>
                  <a:pt x="96698" y="36262"/>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BFE8A05A-2BFB-4B05-9D24-D6CA7FA2000F}"/>
              </a:ext>
            </a:extLst>
          </p:cNvPr>
          <p:cNvSpPr>
            <a:spLocks xmlns:a="http://schemas.openxmlformats.org/drawingml/2006/main" noGrp="1"/>
          </p:cNvSpPr>
          <p:nvPr/>
        </p:nvSpPr>
        <p:spPr>
          <a:xfrm xmlns:a="http://schemas.openxmlformats.org/drawingml/2006/main">
            <a:off x="811734" y="2020199"/>
            <a:ext cx="6938078" cy="2578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TARE</a:t>
            </a:r>
            <a:r>
              <a:rPr b="1">
                <a:latin typeface="微软雅黑"/>
                <a:ea typeface="微软雅黑"/>
                <a:cs typeface="微软雅黑"/>
              </a:rPr>
              <a:t>算法来源</a:t>
            </a:r>
            <a:endParaRPr sz="2000"/>
          </a:p>
        </p:txBody>
      </p:sp>
      <p:sp>
        <p:nvSpPr>
          <p:cNvPr id="9" name="Text 7">
            <a:extLst xmlns:a="http://schemas.openxmlformats.org/drawingml/2006/main">
              <a:ext uri="{FF2B5EF4-FFF2-40B4-BE49-F238E27FC236}">
                <a16:creationId xmlns:a16="http://schemas.microsoft.com/office/drawing/2014/main" id="{30F9B6A8-4A37-4BB7-979B-247E33D425D4}"/>
              </a:ext>
            </a:extLst>
          </p:cNvPr>
          <p:cNvSpPr>
            <a:spLocks xmlns:a="http://schemas.openxmlformats.org/drawingml/2006/main" noGrp="1"/>
          </p:cNvSpPr>
          <p:nvPr/>
        </p:nvSpPr>
        <p:spPr>
          <a:xfrm xmlns:a="http://schemas.openxmlformats.org/drawingml/2006/main">
            <a:off x="811733" y="2374759"/>
            <a:ext cx="9268497" cy="3515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算法引入</a:t>
            </a:r>
            <a:r>
              <a:rPr sz="1600">
                <a:highlight>
                  <a:srgbClr val="E6B450">
                    <a:alpha val="20000"/>
                  </a:srgbClr>
                </a:highlight>
                <a:latin typeface="微软雅黑"/>
                <a:ea typeface="微软雅黑"/>
                <a:cs typeface="微软雅黑"/>
              </a:rPr>
              <a:t> 全局引导 </a:t>
            </a:r>
            <a:r>
              <a:rPr sz="1600">
                <a:latin typeface="微软雅黑"/>
                <a:ea typeface="微软雅黑"/>
                <a:cs typeface="微软雅黑"/>
              </a:rPr>
              <a:t>来解决贪心策略带来的短视行为，并将探索决策模块分为</a:t>
            </a:r>
            <a:r>
              <a:rPr sz="1600">
                <a:highlight>
                  <a:srgbClr val="E6B450">
                    <a:alpha val="20000"/>
                  </a:srgbClr>
                </a:highlight>
                <a:latin typeface="微软雅黑"/>
                <a:ea typeface="微软雅黑"/>
                <a:cs typeface="微软雅黑"/>
              </a:rPr>
              <a:t> 全局 </a:t>
            </a:r>
            <a:r>
              <a:rPr sz="1600">
                <a:latin typeface="微软雅黑"/>
                <a:ea typeface="微软雅黑"/>
                <a:cs typeface="微软雅黑"/>
              </a:rPr>
              <a:t>和</a:t>
            </a:r>
            <a:r>
              <a:rPr sz="1600">
                <a:highlight>
                  <a:srgbClr val="E6B450">
                    <a:alpha val="20000"/>
                  </a:srgbClr>
                </a:highlight>
                <a:latin typeface="微软雅黑"/>
                <a:ea typeface="微软雅黑"/>
                <a:cs typeface="微软雅黑"/>
              </a:rPr>
              <a:t> 局部 </a:t>
            </a:r>
            <a:r>
              <a:rPr sz="1600">
                <a:latin typeface="微软雅黑"/>
                <a:ea typeface="微软雅黑"/>
                <a:cs typeface="微软雅黑"/>
              </a:rPr>
              <a:t>两个层次。</a:t>
            </a:r>
            <a:endParaRPr sz="2400"/>
          </a:p>
        </p:txBody>
      </p:sp>
      <p:sp>
        <p:nvSpPr>
          <p:cNvPr id="10" name="Shape 8">
            <a:extLst xmlns:a="http://schemas.openxmlformats.org/drawingml/2006/main">
              <a:ext uri="{FF2B5EF4-FFF2-40B4-BE49-F238E27FC236}">
                <a16:creationId xmlns:a16="http://schemas.microsoft.com/office/drawing/2014/main" id="{342389F8-F276-4FF1-A4B1-FA2DA2F54FC2}"/>
              </a:ext>
            </a:extLst>
          </p:cNvPr>
          <p:cNvSpPr>
            <a:spLocks xmlns:a="http://schemas.openxmlformats.org/drawingml/2006/main" noGrp="1"/>
          </p:cNvSpPr>
          <p:nvPr/>
        </p:nvSpPr>
        <p:spPr>
          <a:xfrm xmlns:a="http://schemas.openxmlformats.org/drawingml/2006/main">
            <a:off x="338442" y="3232953"/>
            <a:ext cx="10812157" cy="1547167"/>
          </a:xfrm>
          <a:custGeom xmlns:a="http://schemas.openxmlformats.org/drawingml/2006/main">
            <a:rect l="l" t="t" r="r" b="b"/>
            <a:pathLst>
              <a:path w="7510208" h="1547167">
                <a:moveTo>
                  <a:pt x="32233" y="0"/>
                </a:moveTo>
                <a:lnTo>
                  <a:pt x="7413510" y="0"/>
                </a:lnTo>
                <a:cubicBezTo>
                  <a:pt x="7466914" y="0"/>
                  <a:pt x="7510208" y="43293"/>
                  <a:pt x="7510208" y="96698"/>
                </a:cubicBezTo>
                <a:lnTo>
                  <a:pt x="7510208" y="1450469"/>
                </a:lnTo>
                <a:cubicBezTo>
                  <a:pt x="7510208" y="1503874"/>
                  <a:pt x="7466914" y="1547167"/>
                  <a:pt x="7413510" y="1547167"/>
                </a:cubicBezTo>
                <a:lnTo>
                  <a:pt x="32233" y="1547167"/>
                </a:lnTo>
                <a:cubicBezTo>
                  <a:pt x="14431" y="1547167"/>
                  <a:pt x="0" y="1532736"/>
                  <a:pt x="0" y="1514935"/>
                </a:cubicBezTo>
                <a:lnTo>
                  <a:pt x="0" y="32233"/>
                </a:lnTo>
                <a:cubicBezTo>
                  <a:pt x="0" y="14443"/>
                  <a:pt x="14443" y="0"/>
                  <a:pt x="32233"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0BD5AD6F-1B6C-4938-B491-C987BDA7A9FF}"/>
              </a:ext>
            </a:extLst>
          </p:cNvPr>
          <p:cNvSpPr>
            <a:spLocks xmlns:a="http://schemas.openxmlformats.org/drawingml/2006/main" noGrp="1"/>
          </p:cNvSpPr>
          <p:nvPr/>
        </p:nvSpPr>
        <p:spPr>
          <a:xfrm xmlns:a="http://schemas.openxmlformats.org/drawingml/2006/main">
            <a:off x="338443" y="3232953"/>
            <a:ext cx="32233" cy="1547167"/>
          </a:xfrm>
          <a:custGeom xmlns:a="http://schemas.openxmlformats.org/drawingml/2006/main">
            <a:rect l="l" t="t" r="r" b="b"/>
            <a:pathLst>
              <a:path w="32233" h="1547167">
                <a:moveTo>
                  <a:pt x="32233" y="0"/>
                </a:moveTo>
                <a:lnTo>
                  <a:pt x="32233" y="0"/>
                </a:lnTo>
                <a:lnTo>
                  <a:pt x="32233" y="1547167"/>
                </a:lnTo>
                <a:lnTo>
                  <a:pt x="32233" y="1547167"/>
                </a:lnTo>
                <a:cubicBezTo>
                  <a:pt x="14431" y="1547167"/>
                  <a:pt x="0" y="1532736"/>
                  <a:pt x="0" y="1514935"/>
                </a:cubicBezTo>
                <a:lnTo>
                  <a:pt x="0" y="32233"/>
                </a:lnTo>
                <a:cubicBezTo>
                  <a:pt x="0" y="14443"/>
                  <a:pt x="14443" y="0"/>
                  <a:pt x="32233"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4F68EC8F-2716-464D-BA74-8A41820EAFD9}"/>
              </a:ext>
            </a:extLst>
          </p:cNvPr>
          <p:cNvSpPr>
            <a:spLocks xmlns:a="http://schemas.openxmlformats.org/drawingml/2006/main" noGrp="1"/>
          </p:cNvSpPr>
          <p:nvPr/>
        </p:nvSpPr>
        <p:spPr>
          <a:xfrm xmlns:a="http://schemas.openxmlformats.org/drawingml/2006/main">
            <a:off x="519751" y="3458582"/>
            <a:ext cx="193396" cy="193396"/>
          </a:xfrm>
          <a:custGeom xmlns:a="http://schemas.openxmlformats.org/drawingml/2006/main">
            <a:rect l="l" t="t" r="r" b="b"/>
            <a:pathLst>
              <a:path w="193396" h="193396">
                <a:moveTo>
                  <a:pt x="87821" y="1964"/>
                </a:moveTo>
                <a:cubicBezTo>
                  <a:pt x="93450" y="-642"/>
                  <a:pt x="99946" y="-642"/>
                  <a:pt x="105575" y="1964"/>
                </a:cubicBezTo>
                <a:lnTo>
                  <a:pt x="188146" y="40115"/>
                </a:lnTo>
                <a:cubicBezTo>
                  <a:pt x="191356" y="41588"/>
                  <a:pt x="193396" y="44798"/>
                  <a:pt x="193396" y="48349"/>
                </a:cubicBezTo>
                <a:cubicBezTo>
                  <a:pt x="193396" y="51900"/>
                  <a:pt x="191356" y="55110"/>
                  <a:pt x="188146" y="56583"/>
                </a:cubicBezTo>
                <a:lnTo>
                  <a:pt x="105575" y="94734"/>
                </a:lnTo>
                <a:cubicBezTo>
                  <a:pt x="99946" y="97340"/>
                  <a:pt x="93450" y="97340"/>
                  <a:pt x="87821" y="94734"/>
                </a:cubicBezTo>
                <a:lnTo>
                  <a:pt x="5250" y="56583"/>
                </a:lnTo>
                <a:cubicBezTo>
                  <a:pt x="2040" y="55073"/>
                  <a:pt x="0" y="51862"/>
                  <a:pt x="0" y="48349"/>
                </a:cubicBezTo>
                <a:cubicBezTo>
                  <a:pt x="0" y="44836"/>
                  <a:pt x="2040" y="41588"/>
                  <a:pt x="5250" y="40115"/>
                </a:cubicBezTo>
                <a:lnTo>
                  <a:pt x="87821" y="1964"/>
                </a:lnTo>
                <a:close/>
                <a:moveTo>
                  <a:pt x="18169" y="82495"/>
                </a:moveTo>
                <a:lnTo>
                  <a:pt x="80229" y="111165"/>
                </a:lnTo>
                <a:cubicBezTo>
                  <a:pt x="90692" y="116000"/>
                  <a:pt x="102742" y="116000"/>
                  <a:pt x="113205" y="111165"/>
                </a:cubicBezTo>
                <a:lnTo>
                  <a:pt x="175265" y="82495"/>
                </a:lnTo>
                <a:lnTo>
                  <a:pt x="188146" y="88464"/>
                </a:lnTo>
                <a:cubicBezTo>
                  <a:pt x="191356" y="89937"/>
                  <a:pt x="193396" y="93147"/>
                  <a:pt x="193396" y="96698"/>
                </a:cubicBezTo>
                <a:cubicBezTo>
                  <a:pt x="193396" y="100249"/>
                  <a:pt x="191356" y="103459"/>
                  <a:pt x="188146" y="104932"/>
                </a:cubicBezTo>
                <a:lnTo>
                  <a:pt x="105575" y="143083"/>
                </a:lnTo>
                <a:cubicBezTo>
                  <a:pt x="99946" y="145689"/>
                  <a:pt x="93450" y="145689"/>
                  <a:pt x="87821" y="143083"/>
                </a:cubicBezTo>
                <a:lnTo>
                  <a:pt x="5250" y="104932"/>
                </a:lnTo>
                <a:cubicBezTo>
                  <a:pt x="2040" y="103421"/>
                  <a:pt x="0" y="100211"/>
                  <a:pt x="0" y="96698"/>
                </a:cubicBezTo>
                <a:cubicBezTo>
                  <a:pt x="0" y="93185"/>
                  <a:pt x="2040" y="89937"/>
                  <a:pt x="5250" y="88464"/>
                </a:cubicBezTo>
                <a:lnTo>
                  <a:pt x="18131" y="82495"/>
                </a:lnTo>
                <a:close/>
                <a:moveTo>
                  <a:pt x="5250" y="136812"/>
                </a:moveTo>
                <a:lnTo>
                  <a:pt x="18131" y="130844"/>
                </a:lnTo>
                <a:lnTo>
                  <a:pt x="80191" y="159514"/>
                </a:lnTo>
                <a:cubicBezTo>
                  <a:pt x="90654" y="164349"/>
                  <a:pt x="102704" y="164349"/>
                  <a:pt x="113167" y="159514"/>
                </a:cubicBezTo>
                <a:lnTo>
                  <a:pt x="175227" y="130844"/>
                </a:lnTo>
                <a:lnTo>
                  <a:pt x="188108" y="136812"/>
                </a:lnTo>
                <a:cubicBezTo>
                  <a:pt x="191318" y="138286"/>
                  <a:pt x="193358" y="141496"/>
                  <a:pt x="193358" y="145047"/>
                </a:cubicBezTo>
                <a:cubicBezTo>
                  <a:pt x="193358" y="148598"/>
                  <a:pt x="191318" y="151808"/>
                  <a:pt x="188108" y="153281"/>
                </a:cubicBezTo>
                <a:lnTo>
                  <a:pt x="105537" y="191432"/>
                </a:lnTo>
                <a:cubicBezTo>
                  <a:pt x="99909" y="194038"/>
                  <a:pt x="93412" y="194038"/>
                  <a:pt x="87784" y="191432"/>
                </a:cubicBezTo>
                <a:lnTo>
                  <a:pt x="5250" y="153281"/>
                </a:lnTo>
                <a:cubicBezTo>
                  <a:pt x="2040" y="151770"/>
                  <a:pt x="0" y="148560"/>
                  <a:pt x="0" y="145047"/>
                </a:cubicBezTo>
                <a:cubicBezTo>
                  <a:pt x="0" y="141534"/>
                  <a:pt x="2040" y="138286"/>
                  <a:pt x="5250" y="136812"/>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9C85F044-50CF-4BE1-9FE9-3EFBE4F1E178}"/>
              </a:ext>
            </a:extLst>
          </p:cNvPr>
          <p:cNvSpPr>
            <a:spLocks xmlns:a="http://schemas.openxmlformats.org/drawingml/2006/main" noGrp="1"/>
          </p:cNvSpPr>
          <p:nvPr/>
        </p:nvSpPr>
        <p:spPr>
          <a:xfrm xmlns:a="http://schemas.openxmlformats.org/drawingml/2006/main">
            <a:off x="811734" y="3426349"/>
            <a:ext cx="6938078" cy="2578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层次化结构</a:t>
            </a:r>
            <a:endParaRPr/>
          </a:p>
        </p:txBody>
      </p:sp>
      <p:sp>
        <p:nvSpPr>
          <p:cNvPr id="14" name="Text 12">
            <a:extLst xmlns:a="http://schemas.openxmlformats.org/drawingml/2006/main">
              <a:ext uri="{FF2B5EF4-FFF2-40B4-BE49-F238E27FC236}">
                <a16:creationId xmlns:a16="http://schemas.microsoft.com/office/drawing/2014/main" id="{56BE5109-7F81-4F65-AE88-3E586BB23780}"/>
              </a:ext>
            </a:extLst>
          </p:cNvPr>
          <p:cNvSpPr>
            <a:spLocks xmlns:a="http://schemas.openxmlformats.org/drawingml/2006/main" noGrp="1"/>
          </p:cNvSpPr>
          <p:nvPr/>
        </p:nvSpPr>
        <p:spPr>
          <a:xfrm xmlns:a="http://schemas.openxmlformats.org/drawingml/2006/main">
            <a:off x="811733" y="3780908"/>
            <a:ext cx="9822399" cy="70911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在全局层，TARE计算一条</a:t>
            </a:r>
            <a:r>
              <a:rPr sz="1600" b="1">
                <a:latin typeface="微软雅黑"/>
                <a:ea typeface="微软雅黑"/>
                <a:cs typeface="微软雅黑"/>
              </a:rPr>
              <a:t>粗略的全局路径</a:t>
            </a:r>
            <a:r>
              <a:rPr sz="1600">
                <a:latin typeface="微软雅黑"/>
                <a:ea typeface="微软雅黑"/>
                <a:cs typeface="微软雅黑"/>
              </a:rPr>
              <a:t>来确定机器人的大致行进方向；在局部层，TARE会寻找一条能让机器人传感器能</a:t>
            </a:r>
            <a:r>
              <a:rPr sz="1600">
                <a:highlight>
                  <a:srgbClr val="E6B450">
                    <a:alpha val="20000"/>
                  </a:srgbClr>
                </a:highlight>
                <a:latin typeface="微软雅黑"/>
                <a:ea typeface="微软雅黑"/>
                <a:cs typeface="微软雅黑"/>
              </a:rPr>
              <a:t> 完全覆盖局部探索区域 </a:t>
            </a:r>
            <a:r>
              <a:rPr sz="1600">
                <a:latin typeface="微软雅黑"/>
                <a:ea typeface="微软雅黑"/>
                <a:cs typeface="微软雅黑"/>
              </a:rPr>
              <a:t>的路线从而使得机器人的行进路线能够更具目的性，避免了单纯地追求未知区域的大小而忽略探索效率的问题。</a:t>
            </a:r>
            <a:endParaRPr sz="2400"/>
          </a:p>
        </p:txBody>
      </p:sp>
      <p:sp>
        <p:nvSpPr>
          <p:cNvPr id="15" name="Shape 13">
            <a:extLst xmlns:a="http://schemas.openxmlformats.org/drawingml/2006/main">
              <a:ext uri="{FF2B5EF4-FFF2-40B4-BE49-F238E27FC236}">
                <a16:creationId xmlns:a16="http://schemas.microsoft.com/office/drawing/2014/main" id="{9730A0FF-C50B-44FA-9877-9E5E1195E886}"/>
              </a:ext>
            </a:extLst>
          </p:cNvPr>
          <p:cNvSpPr>
            <a:spLocks xmlns:a="http://schemas.openxmlformats.org/drawingml/2006/main" noGrp="1"/>
          </p:cNvSpPr>
          <p:nvPr/>
        </p:nvSpPr>
        <p:spPr>
          <a:xfrm xmlns:a="http://schemas.openxmlformats.org/drawingml/2006/main">
            <a:off x="338442" y="4971502"/>
            <a:ext cx="10812157" cy="1450469"/>
          </a:xfrm>
          <a:custGeom xmlns:a="http://schemas.openxmlformats.org/drawingml/2006/main">
            <a:rect l="l" t="t" r="r" b="b"/>
            <a:pathLst>
              <a:path w="7510208" h="1450469">
                <a:moveTo>
                  <a:pt x="32233" y="0"/>
                </a:moveTo>
                <a:lnTo>
                  <a:pt x="7413505" y="0"/>
                </a:lnTo>
                <a:cubicBezTo>
                  <a:pt x="7466912" y="0"/>
                  <a:pt x="7510208" y="43295"/>
                  <a:pt x="7510208" y="96703"/>
                </a:cubicBezTo>
                <a:lnTo>
                  <a:pt x="7510208" y="1353766"/>
                </a:lnTo>
                <a:cubicBezTo>
                  <a:pt x="7510208" y="1407174"/>
                  <a:pt x="7466912" y="1450469"/>
                  <a:pt x="7413505" y="1450469"/>
                </a:cubicBezTo>
                <a:lnTo>
                  <a:pt x="32233" y="1450469"/>
                </a:lnTo>
                <a:cubicBezTo>
                  <a:pt x="14431" y="1450469"/>
                  <a:pt x="0" y="1436038"/>
                  <a:pt x="0" y="1418237"/>
                </a:cubicBezTo>
                <a:lnTo>
                  <a:pt x="0" y="32233"/>
                </a:lnTo>
                <a:cubicBezTo>
                  <a:pt x="0" y="14443"/>
                  <a:pt x="14443" y="0"/>
                  <a:pt x="32233" y="0"/>
                </a:cubicBezTo>
                <a:close/>
              </a:path>
            </a:pathLst>
          </a:custGeom>
          <a:solidFill xmlns:a="http://schemas.openxmlformats.org/drawingml/2006/main">
            <a:srgbClr val="5F87A7">
              <a:alpha val="10196"/>
            </a:srgbClr>
          </a:solidFill>
        </p:spPr>
      </p:sp>
      <p:sp>
        <p:nvSpPr>
          <p:cNvPr id="16" name="Shape 14">
            <a:extLst xmlns:a="http://schemas.openxmlformats.org/drawingml/2006/main">
              <a:ext uri="{FF2B5EF4-FFF2-40B4-BE49-F238E27FC236}">
                <a16:creationId xmlns:a16="http://schemas.microsoft.com/office/drawing/2014/main" id="{34F0A479-7F5A-40C6-A59B-B988E7A3EFFC}"/>
              </a:ext>
            </a:extLst>
          </p:cNvPr>
          <p:cNvSpPr>
            <a:spLocks xmlns:a="http://schemas.openxmlformats.org/drawingml/2006/main" noGrp="1"/>
          </p:cNvSpPr>
          <p:nvPr/>
        </p:nvSpPr>
        <p:spPr>
          <a:xfrm xmlns:a="http://schemas.openxmlformats.org/drawingml/2006/main">
            <a:off x="338443" y="4971502"/>
            <a:ext cx="32233" cy="1450469"/>
          </a:xfrm>
          <a:custGeom xmlns:a="http://schemas.openxmlformats.org/drawingml/2006/main">
            <a:rect l="l" t="t" r="r" b="b"/>
            <a:pathLst>
              <a:path w="32233" h="1450469">
                <a:moveTo>
                  <a:pt x="32233" y="0"/>
                </a:moveTo>
                <a:lnTo>
                  <a:pt x="32233" y="0"/>
                </a:lnTo>
                <a:lnTo>
                  <a:pt x="32233" y="1450469"/>
                </a:lnTo>
                <a:lnTo>
                  <a:pt x="32233" y="1450469"/>
                </a:lnTo>
                <a:cubicBezTo>
                  <a:pt x="14431" y="1450469"/>
                  <a:pt x="0" y="1436038"/>
                  <a:pt x="0" y="1418237"/>
                </a:cubicBezTo>
                <a:lnTo>
                  <a:pt x="0" y="32233"/>
                </a:lnTo>
                <a:cubicBezTo>
                  <a:pt x="0" y="14443"/>
                  <a:pt x="14443" y="0"/>
                  <a:pt x="32233" y="0"/>
                </a:cubicBezTo>
                <a:close/>
              </a:path>
            </a:pathLst>
          </a:custGeom>
          <a:solidFill xmlns:a="http://schemas.openxmlformats.org/drawingml/2006/main">
            <a:srgbClr val="E6B450"/>
          </a:solidFill>
        </p:spPr>
      </p:sp>
      <p:sp>
        <p:nvSpPr>
          <p:cNvPr id="17" name="Shape 15">
            <a:extLst xmlns:a="http://schemas.openxmlformats.org/drawingml/2006/main">
              <a:ext uri="{FF2B5EF4-FFF2-40B4-BE49-F238E27FC236}">
                <a16:creationId xmlns:a16="http://schemas.microsoft.com/office/drawing/2014/main" id="{4992FF43-0646-4517-A4F9-2908350B055D}"/>
              </a:ext>
            </a:extLst>
          </p:cNvPr>
          <p:cNvSpPr>
            <a:spLocks xmlns:a="http://schemas.openxmlformats.org/drawingml/2006/main" noGrp="1"/>
          </p:cNvSpPr>
          <p:nvPr/>
        </p:nvSpPr>
        <p:spPr>
          <a:xfrm xmlns:a="http://schemas.openxmlformats.org/drawingml/2006/main">
            <a:off x="519751" y="5197130"/>
            <a:ext cx="193396" cy="193396"/>
          </a:xfrm>
          <a:custGeom xmlns:a="http://schemas.openxmlformats.org/drawingml/2006/main">
            <a:rect l="l" t="t" r="r" b="b"/>
            <a:pathLst>
              <a:path w="193396" h="193396">
                <a:moveTo>
                  <a:pt x="0" y="96698"/>
                </a:moveTo>
                <a:cubicBezTo>
                  <a:pt x="0" y="43329"/>
                  <a:pt x="43329" y="0"/>
                  <a:pt x="96698" y="0"/>
                </a:cubicBezTo>
                <a:cubicBezTo>
                  <a:pt x="150067" y="0"/>
                  <a:pt x="193396" y="43329"/>
                  <a:pt x="193396" y="96698"/>
                </a:cubicBezTo>
                <a:cubicBezTo>
                  <a:pt x="193396" y="150067"/>
                  <a:pt x="150067" y="193396"/>
                  <a:pt x="96698" y="193396"/>
                </a:cubicBezTo>
                <a:cubicBezTo>
                  <a:pt x="43329" y="193396"/>
                  <a:pt x="0" y="150067"/>
                  <a:pt x="0" y="96698"/>
                </a:cubicBezTo>
                <a:close/>
                <a:moveTo>
                  <a:pt x="108785" y="36262"/>
                </a:moveTo>
                <a:cubicBezTo>
                  <a:pt x="108785" y="29591"/>
                  <a:pt x="103369" y="24174"/>
                  <a:pt x="96698" y="24174"/>
                </a:cubicBezTo>
                <a:cubicBezTo>
                  <a:pt x="90027" y="24174"/>
                  <a:pt x="84611" y="29591"/>
                  <a:pt x="84611" y="36262"/>
                </a:cubicBezTo>
                <a:cubicBezTo>
                  <a:pt x="84611" y="42933"/>
                  <a:pt x="90027" y="48349"/>
                  <a:pt x="96698" y="48349"/>
                </a:cubicBezTo>
                <a:cubicBezTo>
                  <a:pt x="103369" y="48349"/>
                  <a:pt x="108785" y="42933"/>
                  <a:pt x="108785" y="36262"/>
                </a:cubicBezTo>
                <a:close/>
                <a:moveTo>
                  <a:pt x="96698" y="157134"/>
                </a:moveTo>
                <a:cubicBezTo>
                  <a:pt x="110032" y="157134"/>
                  <a:pt x="120872" y="146293"/>
                  <a:pt x="120872" y="132960"/>
                </a:cubicBezTo>
                <a:cubicBezTo>
                  <a:pt x="120872" y="126841"/>
                  <a:pt x="118606" y="121212"/>
                  <a:pt x="114829" y="116982"/>
                </a:cubicBezTo>
                <a:lnTo>
                  <a:pt x="141081" y="64516"/>
                </a:lnTo>
                <a:cubicBezTo>
                  <a:pt x="143309" y="60021"/>
                  <a:pt x="141496" y="54581"/>
                  <a:pt x="137039" y="52353"/>
                </a:cubicBezTo>
                <a:cubicBezTo>
                  <a:pt x="132582" y="50124"/>
                  <a:pt x="127105" y="51937"/>
                  <a:pt x="124876" y="56395"/>
                </a:cubicBezTo>
                <a:lnTo>
                  <a:pt x="98624" y="108861"/>
                </a:lnTo>
                <a:cubicBezTo>
                  <a:pt x="97982" y="108823"/>
                  <a:pt x="97340" y="108785"/>
                  <a:pt x="96698" y="108785"/>
                </a:cubicBezTo>
                <a:cubicBezTo>
                  <a:pt x="83364" y="108785"/>
                  <a:pt x="72523" y="119626"/>
                  <a:pt x="72523" y="132960"/>
                </a:cubicBezTo>
                <a:cubicBezTo>
                  <a:pt x="72523" y="146293"/>
                  <a:pt x="83364" y="157134"/>
                  <a:pt x="96698" y="157134"/>
                </a:cubicBezTo>
                <a:close/>
                <a:moveTo>
                  <a:pt x="66480" y="54393"/>
                </a:moveTo>
                <a:cubicBezTo>
                  <a:pt x="66480" y="47721"/>
                  <a:pt x="61064" y="42305"/>
                  <a:pt x="54393" y="42305"/>
                </a:cubicBezTo>
                <a:cubicBezTo>
                  <a:pt x="47721" y="42305"/>
                  <a:pt x="42305" y="47721"/>
                  <a:pt x="42305" y="54393"/>
                </a:cubicBezTo>
                <a:cubicBezTo>
                  <a:pt x="42305" y="61064"/>
                  <a:pt x="47721" y="66480"/>
                  <a:pt x="54393" y="66480"/>
                </a:cubicBezTo>
                <a:cubicBezTo>
                  <a:pt x="61064" y="66480"/>
                  <a:pt x="66480" y="61064"/>
                  <a:pt x="66480" y="54393"/>
                </a:cubicBezTo>
                <a:close/>
                <a:moveTo>
                  <a:pt x="36262" y="108785"/>
                </a:moveTo>
                <a:cubicBezTo>
                  <a:pt x="42933" y="108785"/>
                  <a:pt x="48349" y="103369"/>
                  <a:pt x="48349" y="96698"/>
                </a:cubicBezTo>
                <a:cubicBezTo>
                  <a:pt x="48349" y="90027"/>
                  <a:pt x="42933" y="84611"/>
                  <a:pt x="36262" y="84611"/>
                </a:cubicBezTo>
                <a:cubicBezTo>
                  <a:pt x="29591" y="84611"/>
                  <a:pt x="24174" y="90027"/>
                  <a:pt x="24174" y="96698"/>
                </a:cubicBezTo>
                <a:cubicBezTo>
                  <a:pt x="24174" y="103369"/>
                  <a:pt x="29591" y="108785"/>
                  <a:pt x="36262" y="108785"/>
                </a:cubicBezTo>
                <a:close/>
                <a:moveTo>
                  <a:pt x="169221" y="96698"/>
                </a:moveTo>
                <a:cubicBezTo>
                  <a:pt x="169221" y="90027"/>
                  <a:pt x="163805" y="84611"/>
                  <a:pt x="157134" y="84611"/>
                </a:cubicBezTo>
                <a:cubicBezTo>
                  <a:pt x="150463" y="84611"/>
                  <a:pt x="145047" y="90027"/>
                  <a:pt x="145047" y="96698"/>
                </a:cubicBezTo>
                <a:cubicBezTo>
                  <a:pt x="145047" y="103369"/>
                  <a:pt x="150463" y="108785"/>
                  <a:pt x="157134" y="108785"/>
                </a:cubicBezTo>
                <a:cubicBezTo>
                  <a:pt x="163805" y="108785"/>
                  <a:pt x="169221" y="103369"/>
                  <a:pt x="169221" y="96698"/>
                </a:cubicBez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9E586B90-7E3C-495F-9A04-7216FFDAD208}"/>
              </a:ext>
            </a:extLst>
          </p:cNvPr>
          <p:cNvSpPr>
            <a:spLocks xmlns:a="http://schemas.openxmlformats.org/drawingml/2006/main" noGrp="1"/>
          </p:cNvSpPr>
          <p:nvPr/>
        </p:nvSpPr>
        <p:spPr>
          <a:xfrm xmlns:a="http://schemas.openxmlformats.org/drawingml/2006/main">
            <a:off x="811734" y="5164897"/>
            <a:ext cx="6938078" cy="2578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性能优势</a:t>
            </a:r>
            <a:endParaRPr sz="2000"/>
          </a:p>
        </p:txBody>
      </p:sp>
      <p:sp>
        <p:nvSpPr>
          <p:cNvPr id="19" name="Text 17">
            <a:extLst xmlns:a="http://schemas.openxmlformats.org/drawingml/2006/main">
              <a:ext uri="{FF2B5EF4-FFF2-40B4-BE49-F238E27FC236}">
                <a16:creationId xmlns:a16="http://schemas.microsoft.com/office/drawing/2014/main" id="{1FCD3990-D501-4F66-992D-CD5A979F5E67}"/>
              </a:ext>
            </a:extLst>
          </p:cNvPr>
          <p:cNvSpPr>
            <a:spLocks xmlns:a="http://schemas.openxmlformats.org/drawingml/2006/main" noGrp="1"/>
          </p:cNvSpPr>
          <p:nvPr/>
        </p:nvSpPr>
        <p:spPr>
          <a:xfrm xmlns:a="http://schemas.openxmlformats.org/drawingml/2006/main">
            <a:off x="811734" y="5519457"/>
            <a:ext cx="9822398" cy="70911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由于计算时间和资源的限制，TARE算法能够有效集中主要的计算资源于</a:t>
            </a:r>
            <a:r>
              <a:rPr sz="1600" b="1">
                <a:latin typeface="微软雅黑"/>
                <a:ea typeface="微软雅黑"/>
                <a:cs typeface="微软雅黑"/>
              </a:rPr>
              <a:t>离机器人较近的空间</a:t>
            </a:r>
            <a:r>
              <a:rPr sz="1600">
                <a:latin typeface="微软雅黑"/>
                <a:ea typeface="微软雅黑"/>
                <a:cs typeface="微软雅黑"/>
              </a:rPr>
              <a:t>之内，避免了浪费在远处不确定性更大的地方的情况发生。因此，TARE算法能够提高探索效率，减少无效探索，从而对于</a:t>
            </a:r>
            <a:r>
              <a:rPr sz="1600">
                <a:highlight>
                  <a:srgbClr val="E6B450">
                    <a:alpha val="20000"/>
                  </a:srgbClr>
                </a:highlight>
                <a:latin typeface="微软雅黑"/>
                <a:ea typeface="微软雅黑"/>
                <a:cs typeface="微软雅黑"/>
              </a:rPr>
              <a:t> 三维环境 </a:t>
            </a:r>
            <a:r>
              <a:rPr sz="1600">
                <a:latin typeface="微软雅黑"/>
                <a:ea typeface="微软雅黑"/>
                <a:cs typeface="微软雅黑"/>
              </a:rPr>
              <a:t>下的机器人探索任务具有重要的应用价值。</a:t>
            </a:r>
            <a:endParaRPr sz="2400"/>
          </a:p>
        </p:txBody>
      </p:sp>
      <p:sp>
        <p:nvSpPr>
          <p:cNvPr id="44" name="矩形 43">
            <a:extLst xmlns:a="http://schemas.openxmlformats.org/drawingml/2006/main">
              <a:ext uri="{FF2B5EF4-FFF2-40B4-BE49-F238E27FC236}">
                <a16:creationId xmlns:a16="http://schemas.microsoft.com/office/drawing/2014/main" id="{0DD5D719-1D4E-AED0-D0B2-2480C896ED18}"/>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文本框 44">
            <a:extLst xmlns:a="http://schemas.openxmlformats.org/drawingml/2006/main">
              <a:ext uri="{FF2B5EF4-FFF2-40B4-BE49-F238E27FC236}">
                <a16:creationId xmlns:a16="http://schemas.microsoft.com/office/drawing/2014/main" id="{992BB8CC-E403-3403-FCF1-96D2FD44A2B6}"/>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7.3.3 </a:t>
            </a:r>
            <a:r>
              <a:rPr sz="2400" b="1">
                <a:solidFill>
                  <a:schemeClr val="accent1"/>
                </a:solidFill>
                <a:latin typeface="+mj-lt"/>
                <a:ea typeface="+mj-lt"/>
                <a:cs typeface="+mj-lt"/>
              </a:rPr>
              <a:t>未知环境自主探索</a:t>
            </a:r>
          </a:p>
        </p:txBody>
      </p:sp>
    </p:spTree>
    <p:extLst>
      <p:ext uri="{BB962C8B-B14F-4D97-AF65-F5344CB8AC3E}">
        <p14:creationId xmlns:p14="http://schemas.microsoft.com/office/powerpoint/2010/main" val="4033798865"/>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F3E917A0-B740-4BA6-9D94-CB6491FC732A}"/>
              </a:ext>
            </a:extLst>
          </p:cNvPr>
          <p:cNvSpPr>
            <a:spLocks xmlns:a="http://schemas.openxmlformats.org/drawingml/2006/main" noGrp="1"/>
          </p:cNvSpPr>
          <p:nvPr/>
        </p:nvSpPr>
        <p:spPr>
          <a:xfrm xmlns:a="http://schemas.openxmlformats.org/drawingml/2006/main">
            <a:off x="391486" y="1696440"/>
            <a:ext cx="5920414" cy="2024660"/>
          </a:xfrm>
          <a:custGeom xmlns:a="http://schemas.openxmlformats.org/drawingml/2006/main">
            <a:rect l="l" t="t" r="r" b="b"/>
            <a:pathLst>
              <a:path w="7550092" h="1677798">
                <a:moveTo>
                  <a:pt x="37284" y="0"/>
                </a:moveTo>
                <a:lnTo>
                  <a:pt x="7438233" y="0"/>
                </a:lnTo>
                <a:cubicBezTo>
                  <a:pt x="7500011" y="0"/>
                  <a:pt x="7550092" y="50081"/>
                  <a:pt x="7550092" y="111859"/>
                </a:cubicBezTo>
                <a:lnTo>
                  <a:pt x="7550092" y="1565939"/>
                </a:lnTo>
                <a:cubicBezTo>
                  <a:pt x="7550092" y="1627717"/>
                  <a:pt x="7500011" y="1677798"/>
                  <a:pt x="7438233" y="1677798"/>
                </a:cubicBezTo>
                <a:lnTo>
                  <a:pt x="37284" y="1677798"/>
                </a:lnTo>
                <a:cubicBezTo>
                  <a:pt x="16693" y="1677798"/>
                  <a:pt x="0" y="1661105"/>
                  <a:pt x="0" y="1640514"/>
                </a:cubicBezTo>
                <a:lnTo>
                  <a:pt x="0" y="37284"/>
                </a:lnTo>
                <a:cubicBezTo>
                  <a:pt x="0" y="16693"/>
                  <a:pt x="16693" y="0"/>
                  <a:pt x="37284"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7FD92CFD-34CB-4B21-AD08-C5A1E62A1F5A}"/>
              </a:ext>
            </a:extLst>
          </p:cNvPr>
          <p:cNvSpPr>
            <a:spLocks xmlns:a="http://schemas.openxmlformats.org/drawingml/2006/main" noGrp="1"/>
          </p:cNvSpPr>
          <p:nvPr/>
        </p:nvSpPr>
        <p:spPr>
          <a:xfrm xmlns:a="http://schemas.openxmlformats.org/drawingml/2006/main">
            <a:off x="391486" y="1696440"/>
            <a:ext cx="37284" cy="2024660"/>
          </a:xfrm>
          <a:custGeom xmlns:a="http://schemas.openxmlformats.org/drawingml/2006/main">
            <a:rect l="l" t="t" r="r" b="b"/>
            <a:pathLst>
              <a:path w="37284" h="1677798">
                <a:moveTo>
                  <a:pt x="37284" y="0"/>
                </a:moveTo>
                <a:lnTo>
                  <a:pt x="37284" y="0"/>
                </a:lnTo>
                <a:lnTo>
                  <a:pt x="37284" y="1677798"/>
                </a:lnTo>
                <a:lnTo>
                  <a:pt x="37284" y="1677798"/>
                </a:lnTo>
                <a:cubicBezTo>
                  <a:pt x="16693" y="1677798"/>
                  <a:pt x="0" y="1661105"/>
                  <a:pt x="0" y="1640514"/>
                </a:cubicBezTo>
                <a:lnTo>
                  <a:pt x="0" y="37284"/>
                </a:lnTo>
                <a:cubicBezTo>
                  <a:pt x="0" y="16693"/>
                  <a:pt x="16693" y="0"/>
                  <a:pt x="37284"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205E7A8E-2B8E-4C58-AACC-E711A1A00945}"/>
              </a:ext>
            </a:extLst>
          </p:cNvPr>
          <p:cNvSpPr>
            <a:spLocks xmlns:a="http://schemas.openxmlformats.org/drawingml/2006/main" noGrp="1"/>
          </p:cNvSpPr>
          <p:nvPr/>
        </p:nvSpPr>
        <p:spPr>
          <a:xfrm xmlns:a="http://schemas.openxmlformats.org/drawingml/2006/main">
            <a:off x="601211" y="1957431"/>
            <a:ext cx="223706" cy="223706"/>
          </a:xfrm>
          <a:custGeom xmlns:a="http://schemas.openxmlformats.org/drawingml/2006/main">
            <a:rect l="l" t="t" r="r" b="b"/>
            <a:pathLst>
              <a:path w="223706" h="223706">
                <a:moveTo>
                  <a:pt x="223706" y="20972"/>
                </a:moveTo>
                <a:cubicBezTo>
                  <a:pt x="223706" y="16123"/>
                  <a:pt x="221216" y="11622"/>
                  <a:pt x="217065" y="9088"/>
                </a:cubicBezTo>
                <a:cubicBezTo>
                  <a:pt x="212914" y="6554"/>
                  <a:pt x="207802" y="6292"/>
                  <a:pt x="203477" y="8476"/>
                </a:cubicBezTo>
                <a:lnTo>
                  <a:pt x="152706" y="33862"/>
                </a:lnTo>
                <a:lnTo>
                  <a:pt x="74321" y="7690"/>
                </a:lnTo>
                <a:cubicBezTo>
                  <a:pt x="70782" y="6510"/>
                  <a:pt x="66981" y="6772"/>
                  <a:pt x="63660" y="8433"/>
                </a:cubicBezTo>
                <a:lnTo>
                  <a:pt x="7734" y="36396"/>
                </a:lnTo>
                <a:cubicBezTo>
                  <a:pt x="2971" y="38799"/>
                  <a:pt x="0" y="43649"/>
                  <a:pt x="0" y="48936"/>
                </a:cubicBezTo>
                <a:lnTo>
                  <a:pt x="0" y="202734"/>
                </a:lnTo>
                <a:cubicBezTo>
                  <a:pt x="0" y="207584"/>
                  <a:pt x="2490" y="212084"/>
                  <a:pt x="6641" y="214618"/>
                </a:cubicBezTo>
                <a:cubicBezTo>
                  <a:pt x="10792" y="217153"/>
                  <a:pt x="15904" y="217415"/>
                  <a:pt x="20230" y="215230"/>
                </a:cubicBezTo>
                <a:lnTo>
                  <a:pt x="70957" y="189845"/>
                </a:lnTo>
                <a:lnTo>
                  <a:pt x="149342" y="215973"/>
                </a:lnTo>
                <a:cubicBezTo>
                  <a:pt x="152881" y="217153"/>
                  <a:pt x="156682" y="216890"/>
                  <a:pt x="160003" y="215230"/>
                </a:cubicBezTo>
                <a:lnTo>
                  <a:pt x="215929" y="187267"/>
                </a:lnTo>
                <a:cubicBezTo>
                  <a:pt x="220648" y="184907"/>
                  <a:pt x="223663" y="180057"/>
                  <a:pt x="223663" y="174771"/>
                </a:cubicBezTo>
                <a:lnTo>
                  <a:pt x="223663" y="20972"/>
                </a:lnTo>
                <a:close/>
                <a:moveTo>
                  <a:pt x="83890" y="164678"/>
                </a:moveTo>
                <a:lnTo>
                  <a:pt x="83890" y="40372"/>
                </a:lnTo>
                <a:lnTo>
                  <a:pt x="139817" y="59029"/>
                </a:lnTo>
                <a:lnTo>
                  <a:pt x="139817" y="183334"/>
                </a:lnTo>
                <a:lnTo>
                  <a:pt x="83890" y="164678"/>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C6F06376-7B2E-4CD3-BAF0-5DA16489D797}"/>
              </a:ext>
            </a:extLst>
          </p:cNvPr>
          <p:cNvSpPr>
            <a:spLocks xmlns:a="http://schemas.openxmlformats.org/drawingml/2006/main" noGrp="1"/>
          </p:cNvSpPr>
          <p:nvPr/>
        </p:nvSpPr>
        <p:spPr>
          <a:xfrm xmlns:a="http://schemas.openxmlformats.org/drawingml/2006/main">
            <a:off x="938955" y="1920147"/>
            <a:ext cx="1741900" cy="2982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600" b="1">
                <a:latin typeface="微软雅黑"/>
                <a:ea typeface="微软雅黑"/>
                <a:cs typeface="微软雅黑"/>
              </a:rPr>
              <a:t>TARE </a:t>
            </a:r>
            <a:r>
              <a:rPr sz="1760" b="1">
                <a:latin typeface="微软雅黑"/>
                <a:ea typeface="微软雅黑"/>
                <a:cs typeface="微软雅黑"/>
              </a:rPr>
              <a:t>算法示意</a:t>
            </a:r>
            <a:endParaRPr sz="1600"/>
          </a:p>
        </p:txBody>
      </p:sp>
      <p:sp>
        <p:nvSpPr>
          <p:cNvPr id="9" name="Text 7">
            <a:extLst xmlns:a="http://schemas.openxmlformats.org/drawingml/2006/main">
              <a:ext uri="{FF2B5EF4-FFF2-40B4-BE49-F238E27FC236}">
                <a16:creationId xmlns:a16="http://schemas.microsoft.com/office/drawing/2014/main" id="{BC2B6115-957D-442D-89B9-74AC9FE052B4}"/>
              </a:ext>
            </a:extLst>
          </p:cNvPr>
          <p:cNvSpPr>
            <a:spLocks xmlns:a="http://schemas.openxmlformats.org/drawingml/2006/main" noGrp="1"/>
          </p:cNvSpPr>
          <p:nvPr/>
        </p:nvSpPr>
        <p:spPr>
          <a:xfrm xmlns:a="http://schemas.openxmlformats.org/drawingml/2006/main">
            <a:off x="938955" y="2330275"/>
            <a:ext cx="5157045" cy="115348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在一个</a:t>
            </a:r>
            <a:r>
              <a:rPr sz="1600" b="1">
                <a:latin typeface="微软雅黑"/>
                <a:ea typeface="微软雅黑"/>
                <a:cs typeface="微软雅黑"/>
              </a:rPr>
              <a:t>局部区域</a:t>
            </a:r>
            <a:r>
              <a:rPr sz="1600">
                <a:latin typeface="微软雅黑"/>
                <a:ea typeface="微软雅黑"/>
                <a:cs typeface="微软雅黑"/>
              </a:rPr>
              <a:t>内，机器人会沿着一条由计算机大量计算给出的</a:t>
            </a:r>
            <a:r>
              <a:rPr sz="1600">
                <a:highlight>
                  <a:srgbClr val="E6B450">
                    <a:alpha val="20000"/>
                  </a:srgbClr>
                </a:highlight>
                <a:latin typeface="微软雅黑"/>
                <a:ea typeface="微软雅黑"/>
                <a:cs typeface="微软雅黑"/>
              </a:rPr>
              <a:t>精细路径</a:t>
            </a:r>
            <a:r>
              <a:rPr sz="1600">
                <a:latin typeface="微软雅黑"/>
                <a:ea typeface="微软雅黑"/>
                <a:cs typeface="微软雅黑"/>
              </a:rPr>
              <a:t>进行。而在这个区域之外，则是由一条由计算机少量计算给出的</a:t>
            </a:r>
            <a:r>
              <a:rPr sz="1600">
                <a:highlight>
                  <a:srgbClr val="E6B450">
                    <a:alpha val="20000"/>
                  </a:srgbClr>
                </a:highlight>
                <a:latin typeface="微软雅黑"/>
                <a:ea typeface="微软雅黑"/>
                <a:cs typeface="微软雅黑"/>
              </a:rPr>
              <a:t>粗略路径</a:t>
            </a:r>
            <a:r>
              <a:rPr sz="1600">
                <a:latin typeface="微软雅黑"/>
                <a:ea typeface="微软雅黑"/>
                <a:cs typeface="微软雅黑"/>
              </a:rPr>
              <a:t>引导，此外，还包括未被探索完，但目前机器人并不会对此处精细计算的子空间。</a:t>
            </a:r>
            <a:endParaRPr sz="2000"/>
          </a:p>
        </p:txBody>
      </p:sp>
      <p:sp>
        <p:nvSpPr>
          <p:cNvPr id="10" name="Shape 8">
            <a:extLst xmlns:a="http://schemas.openxmlformats.org/drawingml/2006/main">
              <a:ext uri="{FF2B5EF4-FFF2-40B4-BE49-F238E27FC236}">
                <a16:creationId xmlns:a16="http://schemas.microsoft.com/office/drawing/2014/main" id="{F042F541-421E-4360-BF1B-58FBEC639786}"/>
              </a:ext>
            </a:extLst>
          </p:cNvPr>
          <p:cNvSpPr>
            <a:spLocks xmlns:a="http://schemas.openxmlformats.org/drawingml/2006/main" noGrp="1"/>
          </p:cNvSpPr>
          <p:nvPr/>
        </p:nvSpPr>
        <p:spPr>
          <a:xfrm xmlns:a="http://schemas.openxmlformats.org/drawingml/2006/main">
            <a:off x="391486" y="3887714"/>
            <a:ext cx="5920414" cy="2074935"/>
          </a:xfrm>
          <a:custGeom xmlns:a="http://schemas.openxmlformats.org/drawingml/2006/main">
            <a:rect l="l" t="t" r="r" b="b"/>
            <a:pathLst>
              <a:path w="7550092" h="1677798">
                <a:moveTo>
                  <a:pt x="37284" y="0"/>
                </a:moveTo>
                <a:lnTo>
                  <a:pt x="7438233" y="0"/>
                </a:lnTo>
                <a:cubicBezTo>
                  <a:pt x="7500011" y="0"/>
                  <a:pt x="7550092" y="50081"/>
                  <a:pt x="7550092" y="111859"/>
                </a:cubicBezTo>
                <a:lnTo>
                  <a:pt x="7550092" y="1565939"/>
                </a:lnTo>
                <a:cubicBezTo>
                  <a:pt x="7550092" y="1627717"/>
                  <a:pt x="7500011" y="1677798"/>
                  <a:pt x="7438233" y="1677798"/>
                </a:cubicBezTo>
                <a:lnTo>
                  <a:pt x="37284" y="1677798"/>
                </a:lnTo>
                <a:cubicBezTo>
                  <a:pt x="16693" y="1677798"/>
                  <a:pt x="0" y="1661105"/>
                  <a:pt x="0" y="1640514"/>
                </a:cubicBezTo>
                <a:lnTo>
                  <a:pt x="0" y="37284"/>
                </a:lnTo>
                <a:cubicBezTo>
                  <a:pt x="0" y="16693"/>
                  <a:pt x="16693" y="0"/>
                  <a:pt x="37284"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C2BA326F-99E0-436E-ADE1-BBFBCE5211B9}"/>
              </a:ext>
            </a:extLst>
          </p:cNvPr>
          <p:cNvSpPr>
            <a:spLocks xmlns:a="http://schemas.openxmlformats.org/drawingml/2006/main" noGrp="1"/>
          </p:cNvSpPr>
          <p:nvPr/>
        </p:nvSpPr>
        <p:spPr>
          <a:xfrm xmlns:a="http://schemas.openxmlformats.org/drawingml/2006/main">
            <a:off x="391486" y="3887714"/>
            <a:ext cx="37284" cy="2074935"/>
          </a:xfrm>
          <a:custGeom xmlns:a="http://schemas.openxmlformats.org/drawingml/2006/main">
            <a:rect l="l" t="t" r="r" b="b"/>
            <a:pathLst>
              <a:path w="37284" h="1677798">
                <a:moveTo>
                  <a:pt x="37284" y="0"/>
                </a:moveTo>
                <a:lnTo>
                  <a:pt x="37284" y="0"/>
                </a:lnTo>
                <a:lnTo>
                  <a:pt x="37284" y="1677798"/>
                </a:lnTo>
                <a:lnTo>
                  <a:pt x="37284" y="1677798"/>
                </a:lnTo>
                <a:cubicBezTo>
                  <a:pt x="16693" y="1677798"/>
                  <a:pt x="0" y="1661105"/>
                  <a:pt x="0" y="1640514"/>
                </a:cubicBezTo>
                <a:lnTo>
                  <a:pt x="0" y="37284"/>
                </a:lnTo>
                <a:cubicBezTo>
                  <a:pt x="0" y="16693"/>
                  <a:pt x="16693" y="0"/>
                  <a:pt x="37284"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9AD2E49B-81D1-4313-A9EF-107ECA615C1C}"/>
              </a:ext>
            </a:extLst>
          </p:cNvPr>
          <p:cNvSpPr>
            <a:spLocks xmlns:a="http://schemas.openxmlformats.org/drawingml/2006/main" noGrp="1"/>
          </p:cNvSpPr>
          <p:nvPr/>
        </p:nvSpPr>
        <p:spPr>
          <a:xfrm xmlns:a="http://schemas.openxmlformats.org/drawingml/2006/main">
            <a:off x="573248" y="4148706"/>
            <a:ext cx="279633" cy="223706"/>
          </a:xfrm>
          <a:custGeom xmlns:a="http://schemas.openxmlformats.org/drawingml/2006/main">
            <a:rect l="l" t="t" r="r" b="b"/>
            <a:pathLst>
              <a:path w="279633" h="223706">
                <a:moveTo>
                  <a:pt x="167780" y="13982"/>
                </a:moveTo>
                <a:lnTo>
                  <a:pt x="223706" y="13982"/>
                </a:lnTo>
                <a:cubicBezTo>
                  <a:pt x="231440" y="13982"/>
                  <a:pt x="237688" y="20230"/>
                  <a:pt x="237688" y="27963"/>
                </a:cubicBezTo>
                <a:cubicBezTo>
                  <a:pt x="237688" y="35697"/>
                  <a:pt x="231440" y="41945"/>
                  <a:pt x="223706" y="41945"/>
                </a:cubicBezTo>
                <a:lnTo>
                  <a:pt x="174072" y="41945"/>
                </a:lnTo>
                <a:cubicBezTo>
                  <a:pt x="171800" y="53218"/>
                  <a:pt x="164066" y="62524"/>
                  <a:pt x="153798" y="66981"/>
                </a:cubicBezTo>
                <a:lnTo>
                  <a:pt x="153798" y="195743"/>
                </a:lnTo>
                <a:lnTo>
                  <a:pt x="223706" y="195743"/>
                </a:lnTo>
                <a:cubicBezTo>
                  <a:pt x="231440" y="195743"/>
                  <a:pt x="237688" y="201991"/>
                  <a:pt x="237688" y="209725"/>
                </a:cubicBezTo>
                <a:cubicBezTo>
                  <a:pt x="237688" y="217458"/>
                  <a:pt x="231440" y="223706"/>
                  <a:pt x="223706" y="223706"/>
                </a:cubicBezTo>
                <a:lnTo>
                  <a:pt x="55927" y="223706"/>
                </a:lnTo>
                <a:cubicBezTo>
                  <a:pt x="48193" y="223706"/>
                  <a:pt x="41945" y="217458"/>
                  <a:pt x="41945" y="209725"/>
                </a:cubicBezTo>
                <a:cubicBezTo>
                  <a:pt x="41945" y="201991"/>
                  <a:pt x="48193" y="195743"/>
                  <a:pt x="55927" y="195743"/>
                </a:cubicBezTo>
                <a:lnTo>
                  <a:pt x="125835" y="195743"/>
                </a:lnTo>
                <a:lnTo>
                  <a:pt x="125835" y="66981"/>
                </a:lnTo>
                <a:cubicBezTo>
                  <a:pt x="115567" y="62481"/>
                  <a:pt x="107833" y="53174"/>
                  <a:pt x="105561" y="41945"/>
                </a:cubicBezTo>
                <a:lnTo>
                  <a:pt x="55927" y="41945"/>
                </a:lnTo>
                <a:cubicBezTo>
                  <a:pt x="48193" y="41945"/>
                  <a:pt x="41945" y="35697"/>
                  <a:pt x="41945" y="27963"/>
                </a:cubicBezTo>
                <a:cubicBezTo>
                  <a:pt x="41945" y="20230"/>
                  <a:pt x="48193" y="13982"/>
                  <a:pt x="55927" y="13982"/>
                </a:cubicBezTo>
                <a:lnTo>
                  <a:pt x="111853" y="13982"/>
                </a:lnTo>
                <a:cubicBezTo>
                  <a:pt x="118232" y="5505"/>
                  <a:pt x="128369" y="0"/>
                  <a:pt x="139817" y="0"/>
                </a:cubicBezTo>
                <a:cubicBezTo>
                  <a:pt x="151264" y="0"/>
                  <a:pt x="161401" y="5505"/>
                  <a:pt x="167780" y="13982"/>
                </a:cubicBezTo>
                <a:close/>
                <a:moveTo>
                  <a:pt x="192073" y="139817"/>
                </a:moveTo>
                <a:lnTo>
                  <a:pt x="255340" y="139817"/>
                </a:lnTo>
                <a:lnTo>
                  <a:pt x="223706" y="85550"/>
                </a:lnTo>
                <a:lnTo>
                  <a:pt x="192073" y="139817"/>
                </a:lnTo>
                <a:close/>
                <a:moveTo>
                  <a:pt x="223706" y="181761"/>
                </a:moveTo>
                <a:cubicBezTo>
                  <a:pt x="196224" y="181761"/>
                  <a:pt x="173372" y="166906"/>
                  <a:pt x="168654" y="147288"/>
                </a:cubicBezTo>
                <a:cubicBezTo>
                  <a:pt x="167518" y="142482"/>
                  <a:pt x="169091" y="137544"/>
                  <a:pt x="171581" y="133263"/>
                </a:cubicBezTo>
                <a:lnTo>
                  <a:pt x="213176" y="61956"/>
                </a:lnTo>
                <a:cubicBezTo>
                  <a:pt x="215361" y="58199"/>
                  <a:pt x="219381" y="55927"/>
                  <a:pt x="223706" y="55927"/>
                </a:cubicBezTo>
                <a:cubicBezTo>
                  <a:pt x="228032" y="55927"/>
                  <a:pt x="232052" y="58242"/>
                  <a:pt x="234236" y="61956"/>
                </a:cubicBezTo>
                <a:lnTo>
                  <a:pt x="275832" y="133263"/>
                </a:lnTo>
                <a:cubicBezTo>
                  <a:pt x="278322" y="137544"/>
                  <a:pt x="279895" y="142482"/>
                  <a:pt x="278759" y="147288"/>
                </a:cubicBezTo>
                <a:cubicBezTo>
                  <a:pt x="274040" y="166862"/>
                  <a:pt x="251189" y="181761"/>
                  <a:pt x="223706" y="181761"/>
                </a:cubicBezTo>
                <a:close/>
                <a:moveTo>
                  <a:pt x="55402" y="85550"/>
                </a:moveTo>
                <a:lnTo>
                  <a:pt x="23769" y="139817"/>
                </a:lnTo>
                <a:lnTo>
                  <a:pt x="87079" y="139817"/>
                </a:lnTo>
                <a:lnTo>
                  <a:pt x="55402" y="85550"/>
                </a:lnTo>
                <a:close/>
                <a:moveTo>
                  <a:pt x="393" y="147288"/>
                </a:moveTo>
                <a:cubicBezTo>
                  <a:pt x="-743" y="142482"/>
                  <a:pt x="830" y="137544"/>
                  <a:pt x="3321" y="133263"/>
                </a:cubicBezTo>
                <a:lnTo>
                  <a:pt x="44916" y="61956"/>
                </a:lnTo>
                <a:cubicBezTo>
                  <a:pt x="47101" y="58199"/>
                  <a:pt x="51120" y="55927"/>
                  <a:pt x="55446" y="55927"/>
                </a:cubicBezTo>
                <a:cubicBezTo>
                  <a:pt x="59772" y="55927"/>
                  <a:pt x="63791" y="58242"/>
                  <a:pt x="65976" y="61956"/>
                </a:cubicBezTo>
                <a:lnTo>
                  <a:pt x="107571" y="133263"/>
                </a:lnTo>
                <a:cubicBezTo>
                  <a:pt x="110062" y="137544"/>
                  <a:pt x="111635" y="142482"/>
                  <a:pt x="110499" y="147288"/>
                </a:cubicBezTo>
                <a:cubicBezTo>
                  <a:pt x="105780" y="166862"/>
                  <a:pt x="82929" y="181761"/>
                  <a:pt x="55446" y="181761"/>
                </a:cubicBezTo>
                <a:cubicBezTo>
                  <a:pt x="27963" y="181761"/>
                  <a:pt x="5112" y="166906"/>
                  <a:pt x="393" y="147288"/>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103C1801-AB3E-4EDF-B7E1-A5B6C6BFF749}"/>
              </a:ext>
            </a:extLst>
          </p:cNvPr>
          <p:cNvSpPr>
            <a:spLocks xmlns:a="http://schemas.openxmlformats.org/drawingml/2006/main" noGrp="1"/>
          </p:cNvSpPr>
          <p:nvPr/>
        </p:nvSpPr>
        <p:spPr>
          <a:xfrm xmlns:a="http://schemas.openxmlformats.org/drawingml/2006/main">
            <a:off x="938955" y="4111421"/>
            <a:ext cx="1652661" cy="2982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760" b="1">
                <a:latin typeface="微软雅黑"/>
                <a:ea typeface="微软雅黑"/>
                <a:cs typeface="微软雅黑"/>
              </a:rPr>
              <a:t>计算资源分配</a:t>
            </a:r>
            <a:endParaRPr sz="1600"/>
          </a:p>
        </p:txBody>
      </p:sp>
      <p:sp>
        <p:nvSpPr>
          <p:cNvPr id="14" name="Text 12">
            <a:extLst xmlns:a="http://schemas.openxmlformats.org/drawingml/2006/main">
              <a:ext uri="{FF2B5EF4-FFF2-40B4-BE49-F238E27FC236}">
                <a16:creationId xmlns:a16="http://schemas.microsoft.com/office/drawing/2014/main" id="{E38BFF7B-958D-4C00-AEDA-56845A1775DF}"/>
              </a:ext>
            </a:extLst>
          </p:cNvPr>
          <p:cNvSpPr>
            <a:spLocks xmlns:a="http://schemas.openxmlformats.org/drawingml/2006/main" noGrp="1"/>
          </p:cNvSpPr>
          <p:nvPr/>
        </p:nvSpPr>
        <p:spPr>
          <a:xfrm xmlns:a="http://schemas.openxmlformats.org/drawingml/2006/main">
            <a:off x="938955" y="4521550"/>
            <a:ext cx="5157045" cy="11807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TARE算法通过在不同区域分配不同的计算资源，实现了</a:t>
            </a:r>
            <a:r>
              <a:rPr sz="1600" b="1">
                <a:latin typeface="微软雅黑"/>
                <a:ea typeface="微软雅黑"/>
                <a:cs typeface="微软雅黑"/>
              </a:rPr>
              <a:t>效率与精度的平衡</a:t>
            </a:r>
            <a:r>
              <a:rPr sz="1600">
                <a:latin typeface="微软雅黑"/>
                <a:ea typeface="微软雅黑"/>
                <a:cs typeface="微软雅黑"/>
              </a:rPr>
              <a:t>。在机器人附近的局部区域进行精细计算，确保探索质量；在远离机器人的区域进行粗略计算，保证全局引导。</a:t>
            </a:r>
            <a:endParaRPr sz="2000"/>
          </a:p>
        </p:txBody>
      </p:sp>
      <p:sp>
        <p:nvSpPr>
          <p:cNvPr id="23" name="Shape 21">
            <a:extLst xmlns:a="http://schemas.openxmlformats.org/drawingml/2006/main">
              <a:ext uri="{FF2B5EF4-FFF2-40B4-BE49-F238E27FC236}">
                <a16:creationId xmlns:a16="http://schemas.microsoft.com/office/drawing/2014/main" id="{920511E5-8EBE-40CB-87F3-51B9DBFA36CA}"/>
              </a:ext>
            </a:extLst>
          </p:cNvPr>
          <p:cNvSpPr>
            <a:spLocks xmlns:a="http://schemas.openxmlformats.org/drawingml/2006/main" noGrp="1"/>
          </p:cNvSpPr>
          <p:nvPr/>
        </p:nvSpPr>
        <p:spPr>
          <a:xfrm xmlns:a="http://schemas.openxmlformats.org/drawingml/2006/main">
            <a:off x="6859369" y="1701102"/>
            <a:ext cx="5154656" cy="4261548"/>
          </a:xfrm>
          <a:custGeom xmlns:a="http://schemas.openxmlformats.org/drawingml/2006/main">
            <a:rect l="l" t="t" r="r" b="b"/>
            <a:pathLst>
              <a:path w="3569982" h="4781725">
                <a:moveTo>
                  <a:pt x="111848" y="0"/>
                </a:moveTo>
                <a:lnTo>
                  <a:pt x="3458134" y="0"/>
                </a:lnTo>
                <a:cubicBezTo>
                  <a:pt x="3519906" y="0"/>
                  <a:pt x="3569982" y="50076"/>
                  <a:pt x="3569982" y="111848"/>
                </a:cubicBezTo>
                <a:lnTo>
                  <a:pt x="3569982" y="4669877"/>
                </a:lnTo>
                <a:cubicBezTo>
                  <a:pt x="3569982" y="4731649"/>
                  <a:pt x="3519906" y="4781725"/>
                  <a:pt x="3458134" y="4781725"/>
                </a:cubicBezTo>
                <a:lnTo>
                  <a:pt x="111848" y="4781725"/>
                </a:lnTo>
                <a:cubicBezTo>
                  <a:pt x="50076" y="4781725"/>
                  <a:pt x="0" y="4731649"/>
                  <a:pt x="0" y="4669877"/>
                </a:cubicBezTo>
                <a:lnTo>
                  <a:pt x="0" y="111848"/>
                </a:lnTo>
                <a:cubicBezTo>
                  <a:pt x="0" y="50076"/>
                  <a:pt x="50076" y="0"/>
                  <a:pt x="11184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43" name="矩形 42">
            <a:extLst xmlns:a="http://schemas.openxmlformats.org/drawingml/2006/main">
              <a:ext uri="{FF2B5EF4-FFF2-40B4-BE49-F238E27FC236}">
                <a16:creationId xmlns:a16="http://schemas.microsoft.com/office/drawing/2014/main" id="{5A1312E7-9497-E392-451A-3829A81554A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文本框 43">
            <a:extLst xmlns:a="http://schemas.openxmlformats.org/drawingml/2006/main">
              <a:ext uri="{FF2B5EF4-FFF2-40B4-BE49-F238E27FC236}">
                <a16:creationId xmlns:a16="http://schemas.microsoft.com/office/drawing/2014/main" id="{88AA9233-E761-096B-A3F2-93ACAA7B67EE}"/>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7.3.3 </a:t>
            </a:r>
            <a:r>
              <a:rPr sz="2400" b="1">
                <a:solidFill>
                  <a:schemeClr val="accent1"/>
                </a:solidFill>
                <a:latin typeface="+mj-lt"/>
                <a:ea typeface="+mj-lt"/>
                <a:cs typeface="+mj-lt"/>
              </a:rPr>
              <a:t>未知环境自主探索</a:t>
            </a:r>
          </a:p>
        </p:txBody>
      </p:sp>
      <p:pic>
        <p:nvPicPr>
          <p:cNvPr id="59" name="图片 1"/>
          <p:cNvPicPr>
            <a:picLocks xmlns:a="http://schemas.openxmlformats.org/drawingml/2006/main" noChangeAspect="1"/>
          </p:cNvPicPr>
          <p:nvPr/>
        </p:nvPicPr>
        <p:blipFill>
          <a:blip xmlns:r="http://schemas.openxmlformats.org/officeDocument/2006/relationships" xmlns:a="http://schemas.openxmlformats.org/drawingml/2006/main" r:embed="Rfd06ec22f10447c3">
            <a:clrChange>
              <a:clrFrom>
                <a:srgbClr val="FFFFFF"/>
              </a:clrFrom>
              <a:clrTo>
                <a:srgbClr val="FFFFFF">
                  <a:alpha val="0"/>
                </a:srgbClr>
              </a:clrTo>
            </a:clrChange>
          </a:blip>
          <a:srcRect xmlns:a="http://schemas.openxmlformats.org/drawingml/2006/main" l="0" t="0" r="0" b="0"/>
          <a:stretch xmlns:a="http://schemas.openxmlformats.org/drawingml/2006/main">
            <a:fillRect l="0" t="0" r="0" b="0"/>
          </a:stretch>
        </p:blipFill>
        <p:spPr>
          <a:xfrm xmlns:a="http://schemas.openxmlformats.org/drawingml/2006/main">
            <a:off x="6845885" y="1858535"/>
            <a:ext cx="5168140" cy="3856464"/>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4201237981"/>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0F4DA895-83B1-42A3-9902-27D3B67BCCA7}"/>
              </a:ext>
            </a:extLst>
          </p:cNvPr>
          <p:cNvSpPr>
            <a:spLocks xmlns:a="http://schemas.openxmlformats.org/drawingml/2006/main" noGrp="1"/>
          </p:cNvSpPr>
          <p:nvPr/>
        </p:nvSpPr>
        <p:spPr>
          <a:xfrm xmlns:a="http://schemas.openxmlformats.org/drawingml/2006/main">
            <a:off x="369188" y="1766070"/>
            <a:ext cx="7814483" cy="1995439"/>
          </a:xfrm>
          <a:custGeom xmlns:a="http://schemas.openxmlformats.org/drawingml/2006/main">
            <a:rect l="l" t="t" r="r" b="b"/>
            <a:pathLst>
              <a:path w="7814483" h="1582235">
                <a:moveTo>
                  <a:pt x="35161" y="0"/>
                </a:moveTo>
                <a:lnTo>
                  <a:pt x="7708995" y="0"/>
                </a:lnTo>
                <a:cubicBezTo>
                  <a:pt x="7767255" y="0"/>
                  <a:pt x="7814483" y="47228"/>
                  <a:pt x="7814483" y="105488"/>
                </a:cubicBezTo>
                <a:lnTo>
                  <a:pt x="7814483" y="1476747"/>
                </a:lnTo>
                <a:cubicBezTo>
                  <a:pt x="7814483" y="1535007"/>
                  <a:pt x="7767255" y="1582235"/>
                  <a:pt x="7708995" y="1582235"/>
                </a:cubicBezTo>
                <a:lnTo>
                  <a:pt x="35161" y="1582235"/>
                </a:lnTo>
                <a:cubicBezTo>
                  <a:pt x="15755" y="1582235"/>
                  <a:pt x="0" y="1566480"/>
                  <a:pt x="0" y="1547074"/>
                </a:cubicBezTo>
                <a:lnTo>
                  <a:pt x="0" y="35161"/>
                </a:lnTo>
                <a:cubicBezTo>
                  <a:pt x="0" y="15755"/>
                  <a:pt x="15755" y="0"/>
                  <a:pt x="35161"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62CB0929-7748-4148-9B1D-BE55E34AFBF7}"/>
              </a:ext>
            </a:extLst>
          </p:cNvPr>
          <p:cNvSpPr>
            <a:spLocks xmlns:a="http://schemas.openxmlformats.org/drawingml/2006/main" noGrp="1"/>
          </p:cNvSpPr>
          <p:nvPr/>
        </p:nvSpPr>
        <p:spPr>
          <a:xfrm xmlns:a="http://schemas.openxmlformats.org/drawingml/2006/main">
            <a:off x="369188" y="1766070"/>
            <a:ext cx="35161" cy="1995439"/>
          </a:xfrm>
          <a:custGeom xmlns:a="http://schemas.openxmlformats.org/drawingml/2006/main">
            <a:rect l="l" t="t" r="r" b="b"/>
            <a:pathLst>
              <a:path w="35161" h="1582235">
                <a:moveTo>
                  <a:pt x="35161" y="0"/>
                </a:moveTo>
                <a:lnTo>
                  <a:pt x="35161" y="0"/>
                </a:lnTo>
                <a:lnTo>
                  <a:pt x="35161" y="1582235"/>
                </a:lnTo>
                <a:lnTo>
                  <a:pt x="35161" y="1582235"/>
                </a:lnTo>
                <a:cubicBezTo>
                  <a:pt x="15755" y="1582235"/>
                  <a:pt x="0" y="1566480"/>
                  <a:pt x="0" y="1547074"/>
                </a:cubicBezTo>
                <a:lnTo>
                  <a:pt x="0" y="35161"/>
                </a:lnTo>
                <a:cubicBezTo>
                  <a:pt x="0" y="15755"/>
                  <a:pt x="15755" y="0"/>
                  <a:pt x="35161"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C7808519-BF06-472D-B11D-5F1BB965244E}"/>
              </a:ext>
            </a:extLst>
          </p:cNvPr>
          <p:cNvSpPr>
            <a:spLocks xmlns:a="http://schemas.openxmlformats.org/drawingml/2006/main" noGrp="1"/>
          </p:cNvSpPr>
          <p:nvPr/>
        </p:nvSpPr>
        <p:spPr>
          <a:xfrm xmlns:a="http://schemas.openxmlformats.org/drawingml/2006/main">
            <a:off x="566968" y="2012196"/>
            <a:ext cx="210965" cy="210965"/>
          </a:xfrm>
          <a:custGeom xmlns:a="http://schemas.openxmlformats.org/drawingml/2006/main">
            <a:rect l="l" t="t" r="r" b="b"/>
            <a:pathLst>
              <a:path w="210965" h="210965">
                <a:moveTo>
                  <a:pt x="171409" y="85704"/>
                </a:moveTo>
                <a:cubicBezTo>
                  <a:pt x="171409" y="104617"/>
                  <a:pt x="165269" y="122088"/>
                  <a:pt x="154927" y="136262"/>
                </a:cubicBezTo>
                <a:lnTo>
                  <a:pt x="207091" y="188467"/>
                </a:lnTo>
                <a:cubicBezTo>
                  <a:pt x="212242" y="193618"/>
                  <a:pt x="212242" y="201982"/>
                  <a:pt x="207091" y="207133"/>
                </a:cubicBezTo>
                <a:cubicBezTo>
                  <a:pt x="201941" y="212283"/>
                  <a:pt x="193577" y="212283"/>
                  <a:pt x="188426" y="207133"/>
                </a:cubicBezTo>
                <a:lnTo>
                  <a:pt x="136262" y="154927"/>
                </a:lnTo>
                <a:cubicBezTo>
                  <a:pt x="122088" y="165269"/>
                  <a:pt x="104617" y="171409"/>
                  <a:pt x="85704" y="171409"/>
                </a:cubicBezTo>
                <a:cubicBezTo>
                  <a:pt x="38361" y="171409"/>
                  <a:pt x="0" y="133048"/>
                  <a:pt x="0" y="85704"/>
                </a:cubicBezTo>
                <a:cubicBezTo>
                  <a:pt x="0" y="38361"/>
                  <a:pt x="38361" y="0"/>
                  <a:pt x="85704" y="0"/>
                </a:cubicBezTo>
                <a:cubicBezTo>
                  <a:pt x="133048" y="0"/>
                  <a:pt x="171409" y="38361"/>
                  <a:pt x="171409" y="85704"/>
                </a:cubicBezTo>
                <a:close/>
                <a:moveTo>
                  <a:pt x="85704" y="145038"/>
                </a:moveTo>
                <a:cubicBezTo>
                  <a:pt x="118452" y="145038"/>
                  <a:pt x="145038" y="118452"/>
                  <a:pt x="145038" y="85704"/>
                </a:cubicBezTo>
                <a:cubicBezTo>
                  <a:pt x="145038" y="52957"/>
                  <a:pt x="118452" y="26371"/>
                  <a:pt x="85704" y="26371"/>
                </a:cubicBezTo>
                <a:cubicBezTo>
                  <a:pt x="52957" y="26371"/>
                  <a:pt x="26371" y="52957"/>
                  <a:pt x="26371" y="85704"/>
                </a:cubicBezTo>
                <a:cubicBezTo>
                  <a:pt x="26371" y="118452"/>
                  <a:pt x="52957" y="145038"/>
                  <a:pt x="85704" y="145038"/>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C7F59A2E-24F3-476A-B5FF-1831E2F0BCA8}"/>
              </a:ext>
            </a:extLst>
          </p:cNvPr>
          <p:cNvSpPr>
            <a:spLocks xmlns:a="http://schemas.openxmlformats.org/drawingml/2006/main" noGrp="1"/>
          </p:cNvSpPr>
          <p:nvPr/>
        </p:nvSpPr>
        <p:spPr>
          <a:xfrm xmlns:a="http://schemas.openxmlformats.org/drawingml/2006/main">
            <a:off x="885475" y="1977035"/>
            <a:ext cx="7190379" cy="28128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TARE </a:t>
            </a:r>
            <a:r>
              <a:rPr b="1">
                <a:latin typeface="微软雅黑"/>
                <a:ea typeface="微软雅黑"/>
                <a:cs typeface="微软雅黑"/>
              </a:rPr>
              <a:t>局部路径优化策略</a:t>
            </a:r>
            <a:endParaRPr sz="1600"/>
          </a:p>
        </p:txBody>
      </p:sp>
      <p:sp>
        <p:nvSpPr>
          <p:cNvPr id="9" name="Text 7">
            <a:extLst xmlns:a="http://schemas.openxmlformats.org/drawingml/2006/main">
              <a:ext uri="{FF2B5EF4-FFF2-40B4-BE49-F238E27FC236}">
                <a16:creationId xmlns:a16="http://schemas.microsoft.com/office/drawing/2014/main" id="{C1FCF9C6-C249-4758-B56D-DEB3FED8F2C4}"/>
              </a:ext>
            </a:extLst>
          </p:cNvPr>
          <p:cNvSpPr>
            <a:spLocks xmlns:a="http://schemas.openxmlformats.org/drawingml/2006/main" noGrp="1"/>
          </p:cNvSpPr>
          <p:nvPr/>
        </p:nvSpPr>
        <p:spPr>
          <a:xfrm xmlns:a="http://schemas.openxmlformats.org/drawingml/2006/main">
            <a:off x="885475" y="2363804"/>
            <a:ext cx="7164009" cy="12175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TARE算法在机器人附近的局部区域内会寻找一条</a:t>
            </a:r>
            <a:r>
              <a:rPr sz="1600" b="1">
                <a:latin typeface="微软雅黑"/>
                <a:ea typeface="微软雅黑"/>
                <a:cs typeface="微软雅黑"/>
              </a:rPr>
              <a:t>最短路径</a:t>
            </a:r>
            <a:r>
              <a:rPr sz="1600">
                <a:latin typeface="微软雅黑"/>
                <a:ea typeface="微软雅黑"/>
                <a:cs typeface="微软雅黑"/>
              </a:rPr>
              <a:t>，以使传感器能够</a:t>
            </a:r>
            <a:r>
              <a:rPr sz="1600">
                <a:highlight>
                  <a:srgbClr val="E6B450">
                    <a:alpha val="20000"/>
                  </a:srgbClr>
                </a:highlight>
                <a:latin typeface="微软雅黑"/>
                <a:ea typeface="微软雅黑"/>
                <a:cs typeface="微软雅黑"/>
              </a:rPr>
              <a:t> 完全覆盖该区域 </a:t>
            </a:r>
            <a:r>
              <a:rPr sz="1600">
                <a:latin typeface="微软雅黑"/>
                <a:ea typeface="微软雅黑"/>
                <a:cs typeface="微软雅黑"/>
              </a:rPr>
              <a:t>，并保证地图质量。这一方法不同于传统方法只用边界点引导机器人进行探索，而是采取</a:t>
            </a:r>
            <a:r>
              <a:rPr sz="1600">
                <a:highlight>
                  <a:srgbClr val="E6B450">
                    <a:alpha val="20000"/>
                  </a:srgbClr>
                </a:highlight>
                <a:latin typeface="微软雅黑"/>
                <a:ea typeface="微软雅黑"/>
                <a:cs typeface="微软雅黑"/>
              </a:rPr>
              <a:t> 视点循环 </a:t>
            </a:r>
            <a:r>
              <a:rPr sz="1600">
                <a:latin typeface="微软雅黑"/>
                <a:ea typeface="微软雅黑"/>
                <a:cs typeface="微软雅黑"/>
              </a:rPr>
              <a:t>的方式寻找能让传感器"看全、看好"的最短路径。</a:t>
            </a:r>
            <a:endParaRPr sz="2000"/>
          </a:p>
        </p:txBody>
      </p:sp>
      <p:sp>
        <p:nvSpPr>
          <p:cNvPr id="10" name="Shape 8">
            <a:extLst xmlns:a="http://schemas.openxmlformats.org/drawingml/2006/main">
              <a:ext uri="{FF2B5EF4-FFF2-40B4-BE49-F238E27FC236}">
                <a16:creationId xmlns:a16="http://schemas.microsoft.com/office/drawing/2014/main" id="{A709187D-30A6-4801-9B48-2933BF3FDE86}"/>
              </a:ext>
            </a:extLst>
          </p:cNvPr>
          <p:cNvSpPr>
            <a:spLocks xmlns:a="http://schemas.openxmlformats.org/drawingml/2006/main" noGrp="1"/>
          </p:cNvSpPr>
          <p:nvPr/>
        </p:nvSpPr>
        <p:spPr>
          <a:xfrm xmlns:a="http://schemas.openxmlformats.org/drawingml/2006/main">
            <a:off x="369188" y="3951928"/>
            <a:ext cx="7814483" cy="1804636"/>
          </a:xfrm>
          <a:custGeom xmlns:a="http://schemas.openxmlformats.org/drawingml/2006/main">
            <a:rect l="l" t="t" r="r" b="b"/>
            <a:pathLst>
              <a:path w="7814483" h="1582235">
                <a:moveTo>
                  <a:pt x="35161" y="0"/>
                </a:moveTo>
                <a:lnTo>
                  <a:pt x="7708995" y="0"/>
                </a:lnTo>
                <a:cubicBezTo>
                  <a:pt x="7767255" y="0"/>
                  <a:pt x="7814483" y="47228"/>
                  <a:pt x="7814483" y="105488"/>
                </a:cubicBezTo>
                <a:lnTo>
                  <a:pt x="7814483" y="1476747"/>
                </a:lnTo>
                <a:cubicBezTo>
                  <a:pt x="7814483" y="1535007"/>
                  <a:pt x="7767255" y="1582235"/>
                  <a:pt x="7708995" y="1582235"/>
                </a:cubicBezTo>
                <a:lnTo>
                  <a:pt x="35161" y="1582235"/>
                </a:lnTo>
                <a:cubicBezTo>
                  <a:pt x="15755" y="1582235"/>
                  <a:pt x="0" y="1566480"/>
                  <a:pt x="0" y="1547074"/>
                </a:cubicBezTo>
                <a:lnTo>
                  <a:pt x="0" y="35161"/>
                </a:lnTo>
                <a:cubicBezTo>
                  <a:pt x="0" y="15755"/>
                  <a:pt x="15755" y="0"/>
                  <a:pt x="35161"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99844C56-D651-4FF0-AF76-A71561D5D9D9}"/>
              </a:ext>
            </a:extLst>
          </p:cNvPr>
          <p:cNvSpPr>
            <a:spLocks xmlns:a="http://schemas.openxmlformats.org/drawingml/2006/main" noGrp="1"/>
          </p:cNvSpPr>
          <p:nvPr/>
        </p:nvSpPr>
        <p:spPr>
          <a:xfrm xmlns:a="http://schemas.openxmlformats.org/drawingml/2006/main">
            <a:off x="369188" y="3951928"/>
            <a:ext cx="35161" cy="1804636"/>
          </a:xfrm>
          <a:custGeom xmlns:a="http://schemas.openxmlformats.org/drawingml/2006/main">
            <a:rect l="l" t="t" r="r" b="b"/>
            <a:pathLst>
              <a:path w="35161" h="1582235">
                <a:moveTo>
                  <a:pt x="35161" y="0"/>
                </a:moveTo>
                <a:lnTo>
                  <a:pt x="35161" y="0"/>
                </a:lnTo>
                <a:lnTo>
                  <a:pt x="35161" y="1582235"/>
                </a:lnTo>
                <a:lnTo>
                  <a:pt x="35161" y="1582235"/>
                </a:lnTo>
                <a:cubicBezTo>
                  <a:pt x="15755" y="1582235"/>
                  <a:pt x="0" y="1566480"/>
                  <a:pt x="0" y="1547074"/>
                </a:cubicBezTo>
                <a:lnTo>
                  <a:pt x="0" y="35161"/>
                </a:lnTo>
                <a:cubicBezTo>
                  <a:pt x="0" y="15755"/>
                  <a:pt x="15755" y="0"/>
                  <a:pt x="35161"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955578E4-F374-4A07-9859-9B30EB1F861A}"/>
              </a:ext>
            </a:extLst>
          </p:cNvPr>
          <p:cNvSpPr>
            <a:spLocks xmlns:a="http://schemas.openxmlformats.org/drawingml/2006/main" noGrp="1"/>
          </p:cNvSpPr>
          <p:nvPr/>
        </p:nvSpPr>
        <p:spPr>
          <a:xfrm xmlns:a="http://schemas.openxmlformats.org/drawingml/2006/main">
            <a:off x="553782" y="4198053"/>
            <a:ext cx="237335" cy="210965"/>
          </a:xfrm>
          <a:custGeom xmlns:a="http://schemas.openxmlformats.org/drawingml/2006/main">
            <a:rect l="l" t="t" r="r" b="b"/>
            <a:pathLst>
              <a:path w="237335" h="210965">
                <a:moveTo>
                  <a:pt x="118668" y="13185"/>
                </a:moveTo>
                <a:cubicBezTo>
                  <a:pt x="85375" y="13185"/>
                  <a:pt x="58716" y="28348"/>
                  <a:pt x="39309" y="46396"/>
                </a:cubicBezTo>
                <a:cubicBezTo>
                  <a:pt x="20025" y="64320"/>
                  <a:pt x="7128" y="85704"/>
                  <a:pt x="989" y="100414"/>
                </a:cubicBezTo>
                <a:cubicBezTo>
                  <a:pt x="-371" y="103669"/>
                  <a:pt x="-371" y="107295"/>
                  <a:pt x="989" y="110550"/>
                </a:cubicBezTo>
                <a:cubicBezTo>
                  <a:pt x="7128" y="125260"/>
                  <a:pt x="20025" y="146686"/>
                  <a:pt x="39309" y="164569"/>
                </a:cubicBezTo>
                <a:cubicBezTo>
                  <a:pt x="58716" y="182575"/>
                  <a:pt x="85375" y="197779"/>
                  <a:pt x="118668" y="197779"/>
                </a:cubicBezTo>
                <a:cubicBezTo>
                  <a:pt x="151960" y="197779"/>
                  <a:pt x="178620" y="182616"/>
                  <a:pt x="198027" y="164569"/>
                </a:cubicBezTo>
                <a:cubicBezTo>
                  <a:pt x="217310" y="146645"/>
                  <a:pt x="230207" y="125260"/>
                  <a:pt x="236346" y="110550"/>
                </a:cubicBezTo>
                <a:cubicBezTo>
                  <a:pt x="237706" y="107295"/>
                  <a:pt x="237706" y="103669"/>
                  <a:pt x="236346" y="100414"/>
                </a:cubicBezTo>
                <a:cubicBezTo>
                  <a:pt x="230207" y="85704"/>
                  <a:pt x="217310" y="64278"/>
                  <a:pt x="198027" y="46396"/>
                </a:cubicBezTo>
                <a:cubicBezTo>
                  <a:pt x="178620" y="28390"/>
                  <a:pt x="151960" y="13185"/>
                  <a:pt x="118668" y="13185"/>
                </a:cubicBezTo>
                <a:close/>
                <a:moveTo>
                  <a:pt x="59334" y="105482"/>
                </a:moveTo>
                <a:cubicBezTo>
                  <a:pt x="59334" y="72735"/>
                  <a:pt x="85920" y="46149"/>
                  <a:pt x="118668" y="46149"/>
                </a:cubicBezTo>
                <a:cubicBezTo>
                  <a:pt x="151415" y="46149"/>
                  <a:pt x="178001" y="72735"/>
                  <a:pt x="178001" y="105482"/>
                </a:cubicBezTo>
                <a:cubicBezTo>
                  <a:pt x="178001" y="138230"/>
                  <a:pt x="151415" y="164816"/>
                  <a:pt x="118668" y="164816"/>
                </a:cubicBezTo>
                <a:cubicBezTo>
                  <a:pt x="85920" y="164816"/>
                  <a:pt x="59334" y="138230"/>
                  <a:pt x="59334" y="105482"/>
                </a:cubicBezTo>
                <a:close/>
                <a:moveTo>
                  <a:pt x="118668" y="79112"/>
                </a:moveTo>
                <a:cubicBezTo>
                  <a:pt x="118668" y="93657"/>
                  <a:pt x="106842" y="105482"/>
                  <a:pt x="92297" y="105482"/>
                </a:cubicBezTo>
                <a:cubicBezTo>
                  <a:pt x="87559" y="105482"/>
                  <a:pt x="83109" y="104246"/>
                  <a:pt x="79235" y="102021"/>
                </a:cubicBezTo>
                <a:cubicBezTo>
                  <a:pt x="78823" y="106512"/>
                  <a:pt x="79194" y="111127"/>
                  <a:pt x="80430" y="115701"/>
                </a:cubicBezTo>
                <a:cubicBezTo>
                  <a:pt x="86075" y="136797"/>
                  <a:pt x="107790" y="149323"/>
                  <a:pt x="128886" y="143678"/>
                </a:cubicBezTo>
                <a:cubicBezTo>
                  <a:pt x="149983" y="138034"/>
                  <a:pt x="162509" y="116319"/>
                  <a:pt x="156864" y="95223"/>
                </a:cubicBezTo>
                <a:cubicBezTo>
                  <a:pt x="151837" y="76392"/>
                  <a:pt x="133996" y="64402"/>
                  <a:pt x="115206" y="66050"/>
                </a:cubicBezTo>
                <a:cubicBezTo>
                  <a:pt x="117390" y="69882"/>
                  <a:pt x="118668" y="74332"/>
                  <a:pt x="118668" y="79112"/>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28EC7A5D-B5FE-4C37-B28C-B245E498757B}"/>
              </a:ext>
            </a:extLst>
          </p:cNvPr>
          <p:cNvSpPr>
            <a:spLocks xmlns:a="http://schemas.openxmlformats.org/drawingml/2006/main" noGrp="1"/>
          </p:cNvSpPr>
          <p:nvPr/>
        </p:nvSpPr>
        <p:spPr>
          <a:xfrm xmlns:a="http://schemas.openxmlformats.org/drawingml/2006/main">
            <a:off x="885475" y="4162892"/>
            <a:ext cx="7190379" cy="28128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传感器覆盖优化</a:t>
            </a:r>
            <a:endParaRPr/>
          </a:p>
        </p:txBody>
      </p:sp>
      <p:sp>
        <p:nvSpPr>
          <p:cNvPr id="14" name="Text 12">
            <a:extLst xmlns:a="http://schemas.openxmlformats.org/drawingml/2006/main">
              <a:ext uri="{FF2B5EF4-FFF2-40B4-BE49-F238E27FC236}">
                <a16:creationId xmlns:a16="http://schemas.microsoft.com/office/drawing/2014/main" id="{A0A61B3A-5046-4F36-871A-F158ED4990C8}"/>
              </a:ext>
            </a:extLst>
          </p:cNvPr>
          <p:cNvSpPr>
            <a:spLocks xmlns:a="http://schemas.openxmlformats.org/drawingml/2006/main" noGrp="1"/>
          </p:cNvSpPr>
          <p:nvPr/>
        </p:nvSpPr>
        <p:spPr>
          <a:xfrm xmlns:a="http://schemas.openxmlformats.org/drawingml/2006/main">
            <a:off x="885475" y="4549661"/>
            <a:ext cx="7164009" cy="9159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在建图时，为了获得高质量的数据，</a:t>
            </a:r>
            <a:r>
              <a:rPr sz="1600" b="1">
                <a:latin typeface="微软雅黑"/>
                <a:ea typeface="微软雅黑"/>
                <a:cs typeface="微软雅黑"/>
              </a:rPr>
              <a:t>激光雷达</a:t>
            </a:r>
            <a:r>
              <a:rPr sz="1600">
                <a:latin typeface="微软雅黑"/>
                <a:ea typeface="微软雅黑"/>
                <a:cs typeface="微软雅黑"/>
              </a:rPr>
              <a:t>需要从特定范围内的角度和距离观测物体。因此，TARE算法通过</a:t>
            </a:r>
            <a:r>
              <a:rPr sz="1600">
                <a:highlight>
                  <a:srgbClr val="E6B450">
                    <a:alpha val="20000"/>
                  </a:srgbClr>
                </a:highlight>
                <a:latin typeface="微软雅黑"/>
                <a:ea typeface="微软雅黑"/>
                <a:cs typeface="微软雅黑"/>
              </a:rPr>
              <a:t> 循环采样视点 </a:t>
            </a:r>
            <a:r>
              <a:rPr sz="1600">
                <a:latin typeface="微软雅黑"/>
                <a:ea typeface="微软雅黑"/>
                <a:cs typeface="微软雅黑"/>
              </a:rPr>
              <a:t>，寻找最优路径来最大化传感器对物体表面的覆盖，从而实现</a:t>
            </a:r>
            <a:r>
              <a:rPr sz="1600">
                <a:highlight>
                  <a:srgbClr val="E6B450">
                    <a:alpha val="20000"/>
                  </a:srgbClr>
                </a:highlight>
                <a:latin typeface="微软雅黑"/>
                <a:ea typeface="微软雅黑"/>
                <a:cs typeface="微软雅黑"/>
              </a:rPr>
              <a:t> 高质量地图 </a:t>
            </a:r>
            <a:r>
              <a:rPr sz="1600">
                <a:latin typeface="微软雅黑"/>
                <a:ea typeface="微软雅黑"/>
                <a:cs typeface="微软雅黑"/>
              </a:rPr>
              <a:t>的构建。如图7-17所示。</a:t>
            </a:r>
            <a:endParaRPr sz="2000"/>
          </a:p>
        </p:txBody>
      </p:sp>
      <p:sp>
        <p:nvSpPr>
          <p:cNvPr id="20" name="Shape 18">
            <a:extLst xmlns:a="http://schemas.openxmlformats.org/drawingml/2006/main">
              <a:ext uri="{FF2B5EF4-FFF2-40B4-BE49-F238E27FC236}">
                <a16:creationId xmlns:a16="http://schemas.microsoft.com/office/drawing/2014/main" id="{C9408AD7-08A4-4AD2-8AD6-19FD47605BF4}"/>
              </a:ext>
            </a:extLst>
          </p:cNvPr>
          <p:cNvSpPr>
            <a:spLocks xmlns:a="http://schemas.openxmlformats.org/drawingml/2006/main" noGrp="1"/>
          </p:cNvSpPr>
          <p:nvPr/>
        </p:nvSpPr>
        <p:spPr>
          <a:xfrm xmlns:a="http://schemas.openxmlformats.org/drawingml/2006/main">
            <a:off x="8466331" y="1770466"/>
            <a:ext cx="3366645" cy="3986098"/>
          </a:xfrm>
          <a:custGeom xmlns:a="http://schemas.openxmlformats.org/drawingml/2006/main">
            <a:rect l="l" t="t" r="r" b="b"/>
            <a:pathLst>
              <a:path w="3366645" h="4896138">
                <a:moveTo>
                  <a:pt x="105477" y="0"/>
                </a:moveTo>
                <a:lnTo>
                  <a:pt x="3261168" y="0"/>
                </a:lnTo>
                <a:cubicBezTo>
                  <a:pt x="3319421" y="0"/>
                  <a:pt x="3366645" y="47224"/>
                  <a:pt x="3366645" y="105477"/>
                </a:cubicBezTo>
                <a:lnTo>
                  <a:pt x="3366645" y="4790661"/>
                </a:lnTo>
                <a:cubicBezTo>
                  <a:pt x="3366645" y="4848915"/>
                  <a:pt x="3319421" y="4896138"/>
                  <a:pt x="3261168" y="4896138"/>
                </a:cubicBezTo>
                <a:lnTo>
                  <a:pt x="105477" y="4896138"/>
                </a:lnTo>
                <a:cubicBezTo>
                  <a:pt x="47224" y="4896138"/>
                  <a:pt x="0" y="4848915"/>
                  <a:pt x="0" y="4790661"/>
                </a:cubicBezTo>
                <a:lnTo>
                  <a:pt x="0" y="105477"/>
                </a:lnTo>
                <a:cubicBezTo>
                  <a:pt x="0" y="47263"/>
                  <a:pt x="47263" y="0"/>
                  <a:pt x="10547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39" name="矩形 38">
            <a:extLst xmlns:a="http://schemas.openxmlformats.org/drawingml/2006/main">
              <a:ext uri="{FF2B5EF4-FFF2-40B4-BE49-F238E27FC236}">
                <a16:creationId xmlns:a16="http://schemas.microsoft.com/office/drawing/2014/main" id="{B0E020A0-D1AE-F9D1-731B-5437F2E4EBBD}"/>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文本框 39">
            <a:extLst xmlns:a="http://schemas.openxmlformats.org/drawingml/2006/main">
              <a:ext uri="{FF2B5EF4-FFF2-40B4-BE49-F238E27FC236}">
                <a16:creationId xmlns:a16="http://schemas.microsoft.com/office/drawing/2014/main" id="{E9574F81-F7C3-6A4D-B7B5-5D6F0C248D71}"/>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7.3.3 </a:t>
            </a:r>
            <a:r>
              <a:rPr sz="2400" b="1">
                <a:solidFill>
                  <a:schemeClr val="accent1"/>
                </a:solidFill>
                <a:latin typeface="+mj-lt"/>
                <a:ea typeface="+mj-lt"/>
                <a:cs typeface="+mj-lt"/>
              </a:rPr>
              <a:t>未知环境自主探索</a:t>
            </a:r>
          </a:p>
        </p:txBody>
      </p:sp>
      <p:pic>
        <p:nvPicPr>
          <p:cNvPr id="55" name="图片 1"/>
          <p:cNvPicPr>
            <a:picLocks xmlns:a="http://schemas.openxmlformats.org/drawingml/2006/main" noChangeAspect="1"/>
          </p:cNvPicPr>
          <p:nvPr/>
        </p:nvPicPr>
        <p:blipFill>
          <a:blip xmlns:r="http://schemas.openxmlformats.org/officeDocument/2006/relationships" xmlns:a="http://schemas.openxmlformats.org/drawingml/2006/main" r:embed="Rabe43730ada64966">
            <a:clrChange>
              <a:clrFrom>
                <a:srgbClr val="FFFFFF"/>
              </a:clrFrom>
              <a:clrTo>
                <a:srgbClr val="FFFFFF">
                  <a:alpha val="0"/>
                </a:srgbClr>
              </a:clrTo>
            </a:clrChange>
          </a:blip>
          <a:srcRect xmlns:a="http://schemas.openxmlformats.org/drawingml/2006/main" l="0" t="0" r="0" b="0"/>
          <a:stretch xmlns:a="http://schemas.openxmlformats.org/drawingml/2006/main">
            <a:fillRect l="0" t="0" r="0" b="0"/>
          </a:stretch>
        </p:blipFill>
        <p:spPr>
          <a:xfrm xmlns:a="http://schemas.openxmlformats.org/drawingml/2006/main">
            <a:off x="8500966" y="2392662"/>
            <a:ext cx="3288096" cy="251249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807166782"/>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sp>
        <p:nvSpPr>
          <p:cNvPr id="7" name="Shape 5">
            <a:extLst xmlns:a="http://schemas.openxmlformats.org/drawingml/2006/main">
              <a:ext uri="{FF2B5EF4-FFF2-40B4-BE49-F238E27FC236}">
                <a16:creationId xmlns:a16="http://schemas.microsoft.com/office/drawing/2014/main" id="{243A15CF-3FA1-45F2-9991-313DFC5E72C9}"/>
              </a:ext>
            </a:extLst>
          </p:cNvPr>
          <p:cNvSpPr>
            <a:spLocks xmlns:a="http://schemas.openxmlformats.org/drawingml/2006/main" noGrp="1"/>
          </p:cNvSpPr>
          <p:nvPr/>
        </p:nvSpPr>
        <p:spPr>
          <a:xfrm xmlns:a="http://schemas.openxmlformats.org/drawingml/2006/main">
            <a:off x="614363" y="2145723"/>
            <a:ext cx="228600" cy="228600"/>
          </a:xfrm>
          <a:custGeom xmlns:a="http://schemas.openxmlformats.org/drawingml/2006/main">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3261300E-7289-48F6-A78C-51CB89AD7A59}"/>
              </a:ext>
            </a:extLst>
          </p:cNvPr>
          <p:cNvSpPr>
            <a:spLocks xmlns:a="http://schemas.openxmlformats.org/drawingml/2006/main" noGrp="1"/>
          </p:cNvSpPr>
          <p:nvPr/>
        </p:nvSpPr>
        <p:spPr>
          <a:xfrm xmlns:a="http://schemas.openxmlformats.org/drawingml/2006/main">
            <a:off x="959495" y="2107623"/>
            <a:ext cx="6772275"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TARE </a:t>
            </a:r>
            <a:r>
              <a:rPr sz="1800" b="1">
                <a:latin typeface="微软雅黑"/>
                <a:ea typeface="微软雅黑"/>
                <a:cs typeface="微软雅黑"/>
              </a:rPr>
              <a:t>层级结构优势</a:t>
            </a:r>
            <a:endParaRPr sz="1600"/>
          </a:p>
        </p:txBody>
      </p:sp>
      <p:sp>
        <p:nvSpPr>
          <p:cNvPr id="9" name="Text 7">
            <a:extLst xmlns:a="http://schemas.openxmlformats.org/drawingml/2006/main">
              <a:ext uri="{FF2B5EF4-FFF2-40B4-BE49-F238E27FC236}">
                <a16:creationId xmlns:a16="http://schemas.microsoft.com/office/drawing/2014/main" id="{326085BC-5AE3-4DF3-8461-12EBB1229559}"/>
              </a:ext>
            </a:extLst>
          </p:cNvPr>
          <p:cNvSpPr>
            <a:spLocks xmlns:a="http://schemas.openxmlformats.org/drawingml/2006/main" noGrp="1"/>
          </p:cNvSpPr>
          <p:nvPr/>
        </p:nvSpPr>
        <p:spPr>
          <a:xfrm xmlns:a="http://schemas.openxmlformats.org/drawingml/2006/main">
            <a:off x="1278149" y="2616778"/>
            <a:ext cx="6743700" cy="838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TARE算法采用了</a:t>
            </a:r>
            <a:r>
              <a:rPr sz="1600" b="1">
                <a:latin typeface="微软雅黑"/>
                <a:ea typeface="微软雅黑"/>
                <a:cs typeface="微软雅黑"/>
              </a:rPr>
              <a:t>层级结构</a:t>
            </a:r>
            <a:r>
              <a:rPr sz="1600">
                <a:latin typeface="微软雅黑"/>
                <a:ea typeface="微软雅黑"/>
                <a:cs typeface="微软雅黑"/>
              </a:rPr>
              <a:t>，能够在相似的计算资源下处理</a:t>
            </a:r>
            <a:r>
              <a:rPr sz="1600">
                <a:highlight>
                  <a:srgbClr val="E6B450">
                    <a:alpha val="20000"/>
                  </a:srgbClr>
                </a:highlight>
                <a:latin typeface="微软雅黑"/>
                <a:ea typeface="微软雅黑"/>
                <a:cs typeface="微软雅黑"/>
              </a:rPr>
              <a:t> 更大范围的环境 </a:t>
            </a:r>
            <a:r>
              <a:rPr sz="1600">
                <a:latin typeface="微软雅黑"/>
                <a:ea typeface="微软雅黑"/>
                <a:cs typeface="微软雅黑"/>
              </a:rPr>
              <a:t>，并给出接近最优解的路径。相较于其他前沿方法，TARE算法具有更高的探索效率和更快的计算速度，在实际应用中具有广泛的适用性和重要价值。</a:t>
            </a:r>
            <a:endParaRPr sz="2000"/>
          </a:p>
        </p:txBody>
      </p:sp>
      <p:sp>
        <p:nvSpPr>
          <p:cNvPr id="14" name="Text 12">
            <a:extLst xmlns:a="http://schemas.openxmlformats.org/drawingml/2006/main">
              <a:ext uri="{FF2B5EF4-FFF2-40B4-BE49-F238E27FC236}">
                <a16:creationId xmlns:a16="http://schemas.microsoft.com/office/drawing/2014/main" id="{A11BF7A1-8E34-4C6E-B27F-22DCFB72DE42}"/>
              </a:ext>
            </a:extLst>
          </p:cNvPr>
          <p:cNvSpPr>
            <a:spLocks xmlns:a="http://schemas.openxmlformats.org/drawingml/2006/main" noGrp="1"/>
          </p:cNvSpPr>
          <p:nvPr/>
        </p:nvSpPr>
        <p:spPr>
          <a:xfrm xmlns:a="http://schemas.openxmlformats.org/drawingml/2006/main">
            <a:off x="1311486" y="3809351"/>
            <a:ext cx="671512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在每个层级中，TARE利用解决</a:t>
            </a:r>
            <a:r>
              <a:rPr sz="1600" b="1">
                <a:latin typeface="微软雅黑"/>
                <a:ea typeface="微软雅黑"/>
                <a:cs typeface="微软雅黑"/>
              </a:rPr>
              <a:t>旅行商问题（TSP）</a:t>
            </a:r>
            <a:r>
              <a:rPr sz="1600">
                <a:latin typeface="微软雅黑"/>
                <a:ea typeface="微软雅黑"/>
                <a:cs typeface="微软雅黑"/>
              </a:rPr>
              <a:t>的方法来确定机器人探索目标的顺序。这种优化策略确保了探索路径的高效性。</a:t>
            </a:r>
            <a:endParaRPr sz="2000"/>
          </a:p>
        </p:txBody>
      </p:sp>
      <p:sp>
        <p:nvSpPr>
          <p:cNvPr id="49" name="矩形 48">
            <a:extLst xmlns:a="http://schemas.openxmlformats.org/drawingml/2006/main">
              <a:ext uri="{FF2B5EF4-FFF2-40B4-BE49-F238E27FC236}">
                <a16:creationId xmlns:a16="http://schemas.microsoft.com/office/drawing/2014/main" id="{F52FCA8E-68CB-E84B-0FC1-584F8E9256F4}"/>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文本框 49">
            <a:extLst xmlns:a="http://schemas.openxmlformats.org/drawingml/2006/main">
              <a:ext uri="{FF2B5EF4-FFF2-40B4-BE49-F238E27FC236}">
                <a16:creationId xmlns:a16="http://schemas.microsoft.com/office/drawing/2014/main" id="{BFEFC395-6E42-8B3B-6456-EBEEEDC1CBE3}"/>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7.3.3 </a:t>
            </a:r>
            <a:r>
              <a:rPr sz="2400" b="1">
                <a:solidFill>
                  <a:schemeClr val="accent1"/>
                </a:solidFill>
                <a:latin typeface="+mj-lt"/>
                <a:ea typeface="+mj-lt"/>
                <a:cs typeface="+mj-lt"/>
              </a:rPr>
              <a:t>未知环境自主探索</a:t>
            </a:r>
          </a:p>
        </p:txBody>
      </p:sp>
      <p:sp>
        <p:nvSpPr>
          <p:cNvPr id="2" name="Shape 21">
            <a:extLst xmlns:a="http://schemas.openxmlformats.org/drawingml/2006/main">
              <a:ext uri="{FF2B5EF4-FFF2-40B4-BE49-F238E27FC236}">
                <a16:creationId xmlns:a16="http://schemas.microsoft.com/office/drawing/2014/main" id="{F2223A5D-38C2-7E68-5D8E-EDB299766547}"/>
              </a:ext>
            </a:extLst>
          </p:cNvPr>
          <p:cNvSpPr>
            <a:spLocks xmlns:a="http://schemas.openxmlformats.org/drawingml/2006/main" noGrp="1"/>
          </p:cNvSpPr>
          <p:nvPr/>
        </p:nvSpPr>
        <p:spPr>
          <a:xfrm xmlns:a="http://schemas.openxmlformats.org/drawingml/2006/main">
            <a:off x="472422" y="1902197"/>
            <a:ext cx="8484541" cy="2884547"/>
          </a:xfrm>
          <a:custGeom xmlns:a="http://schemas.openxmlformats.org/drawingml/2006/main">
            <a:rect l="l" t="t" r="r" b="b"/>
            <a:pathLst>
              <a:path w="3569982" h="4781725">
                <a:moveTo>
                  <a:pt x="111848" y="0"/>
                </a:moveTo>
                <a:lnTo>
                  <a:pt x="3458134" y="0"/>
                </a:lnTo>
                <a:cubicBezTo>
                  <a:pt x="3519906" y="0"/>
                  <a:pt x="3569982" y="50076"/>
                  <a:pt x="3569982" y="111848"/>
                </a:cubicBezTo>
                <a:lnTo>
                  <a:pt x="3569982" y="4669877"/>
                </a:lnTo>
                <a:cubicBezTo>
                  <a:pt x="3569982" y="4731649"/>
                  <a:pt x="3519906" y="4781725"/>
                  <a:pt x="3458134" y="4781725"/>
                </a:cubicBezTo>
                <a:lnTo>
                  <a:pt x="111848" y="4781725"/>
                </a:lnTo>
                <a:cubicBezTo>
                  <a:pt x="50076" y="4781725"/>
                  <a:pt x="0" y="4731649"/>
                  <a:pt x="0" y="4669877"/>
                </a:cubicBezTo>
                <a:lnTo>
                  <a:pt x="0" y="111848"/>
                </a:lnTo>
                <a:cubicBezTo>
                  <a:pt x="0" y="50076"/>
                  <a:pt x="50076" y="0"/>
                  <a:pt x="111848"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3" name="Shape 13">
            <a:extLst xmlns:a="http://schemas.openxmlformats.org/drawingml/2006/main">
              <a:ext uri="{FF2B5EF4-FFF2-40B4-BE49-F238E27FC236}">
                <a16:creationId xmlns:a16="http://schemas.microsoft.com/office/drawing/2014/main" id="{18E7758C-9E0E-0788-68D7-3AAAE0ADA317}"/>
              </a:ext>
            </a:extLst>
          </p:cNvPr>
          <p:cNvSpPr>
            <a:spLocks xmlns:a="http://schemas.openxmlformats.org/drawingml/2006/main" noGrp="1"/>
          </p:cNvSpPr>
          <p:nvPr/>
        </p:nvSpPr>
        <p:spPr>
          <a:xfrm xmlns:a="http://schemas.openxmlformats.org/drawingml/2006/main">
            <a:off x="961592" y="2613963"/>
            <a:ext cx="190500" cy="190500"/>
          </a:xfrm>
          <a:custGeom xmlns:a="http://schemas.openxmlformats.org/drawingml/2006/main">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xmlns:a="http://schemas.openxmlformats.org/drawingml/2006/main">
            <a:srgbClr val="E6B450"/>
          </a:solidFill>
        </p:spPr>
      </p:sp>
      <p:sp>
        <p:nvSpPr>
          <p:cNvPr id="4" name="Shape 13">
            <a:extLst xmlns:a="http://schemas.openxmlformats.org/drawingml/2006/main">
              <a:ext uri="{FF2B5EF4-FFF2-40B4-BE49-F238E27FC236}">
                <a16:creationId xmlns:a16="http://schemas.microsoft.com/office/drawing/2014/main" id="{D332DD9F-DDE2-AC73-DF5C-A73F91AC1646}"/>
              </a:ext>
            </a:extLst>
          </p:cNvPr>
          <p:cNvSpPr>
            <a:spLocks xmlns:a="http://schemas.openxmlformats.org/drawingml/2006/main" noGrp="1"/>
          </p:cNvSpPr>
          <p:nvPr/>
        </p:nvSpPr>
        <p:spPr>
          <a:xfrm xmlns:a="http://schemas.openxmlformats.org/drawingml/2006/main">
            <a:off x="961592" y="3860874"/>
            <a:ext cx="190500" cy="190500"/>
          </a:xfrm>
          <a:custGeom xmlns:a="http://schemas.openxmlformats.org/drawingml/2006/main">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xmlns:a="http://schemas.openxmlformats.org/drawingml/2006/main">
            <a:srgbClr val="E6B450"/>
          </a:solidFill>
        </p:spPr>
      </p:sp>
    </p:spTree>
    <p:extLst>
      <p:ext uri="{BB962C8B-B14F-4D97-AF65-F5344CB8AC3E}">
        <p14:creationId xmlns:p14="http://schemas.microsoft.com/office/powerpoint/2010/main" val="374756703"/>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8AC02E27-3BDE-4F56-AD32-ED008281F6B1}"/>
              </a:ext>
            </a:extLst>
          </p:cNvPr>
          <p:cNvSpPr>
            <a:spLocks xmlns:a="http://schemas.openxmlformats.org/drawingml/2006/main" noGrp="1"/>
          </p:cNvSpPr>
          <p:nvPr/>
        </p:nvSpPr>
        <p:spPr>
          <a:xfrm xmlns:a="http://schemas.openxmlformats.org/drawingml/2006/main">
            <a:off x="343206" y="1889010"/>
            <a:ext cx="7501512" cy="1795706"/>
          </a:xfrm>
          <a:custGeom xmlns:a="http://schemas.openxmlformats.org/drawingml/2006/main">
            <a:rect l="l" t="t" r="r" b="b"/>
            <a:pathLst>
              <a:path w="7501512" h="1470885">
                <a:moveTo>
                  <a:pt x="32686" y="0"/>
                </a:moveTo>
                <a:lnTo>
                  <a:pt x="7403448" y="0"/>
                </a:lnTo>
                <a:cubicBezTo>
                  <a:pt x="7457607" y="0"/>
                  <a:pt x="7501512" y="43905"/>
                  <a:pt x="7501512" y="98064"/>
                </a:cubicBezTo>
                <a:lnTo>
                  <a:pt x="7501512" y="1372821"/>
                </a:lnTo>
                <a:cubicBezTo>
                  <a:pt x="7501512" y="1426980"/>
                  <a:pt x="7457607" y="1470885"/>
                  <a:pt x="7403448" y="1470885"/>
                </a:cubicBezTo>
                <a:lnTo>
                  <a:pt x="32686" y="1470885"/>
                </a:lnTo>
                <a:cubicBezTo>
                  <a:pt x="14634" y="1470885"/>
                  <a:pt x="0" y="1456251"/>
                  <a:pt x="0" y="1438198"/>
                </a:cubicBezTo>
                <a:lnTo>
                  <a:pt x="0" y="32686"/>
                </a:lnTo>
                <a:cubicBezTo>
                  <a:pt x="0" y="14646"/>
                  <a:pt x="14646" y="0"/>
                  <a:pt x="32686"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5C1A4B08-5922-47EF-A348-30500660DE62}"/>
              </a:ext>
            </a:extLst>
          </p:cNvPr>
          <p:cNvSpPr>
            <a:spLocks xmlns:a="http://schemas.openxmlformats.org/drawingml/2006/main" noGrp="1"/>
          </p:cNvSpPr>
          <p:nvPr/>
        </p:nvSpPr>
        <p:spPr>
          <a:xfrm xmlns:a="http://schemas.openxmlformats.org/drawingml/2006/main">
            <a:off x="343206" y="1889010"/>
            <a:ext cx="32686" cy="1795706"/>
          </a:xfrm>
          <a:custGeom xmlns:a="http://schemas.openxmlformats.org/drawingml/2006/main">
            <a:rect l="l" t="t" r="r" b="b"/>
            <a:pathLst>
              <a:path w="32686" h="1470885">
                <a:moveTo>
                  <a:pt x="32686" y="0"/>
                </a:moveTo>
                <a:lnTo>
                  <a:pt x="32686" y="0"/>
                </a:lnTo>
                <a:lnTo>
                  <a:pt x="32686" y="1470885"/>
                </a:lnTo>
                <a:lnTo>
                  <a:pt x="32686" y="1470885"/>
                </a:lnTo>
                <a:cubicBezTo>
                  <a:pt x="14634" y="1470885"/>
                  <a:pt x="0" y="1456251"/>
                  <a:pt x="0" y="1438198"/>
                </a:cubicBezTo>
                <a:lnTo>
                  <a:pt x="0" y="32686"/>
                </a:lnTo>
                <a:cubicBezTo>
                  <a:pt x="0" y="14646"/>
                  <a:pt x="14646" y="0"/>
                  <a:pt x="32686"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EABF739D-714F-464E-BCF7-F964ADEE67C0}"/>
              </a:ext>
            </a:extLst>
          </p:cNvPr>
          <p:cNvSpPr>
            <a:spLocks xmlns:a="http://schemas.openxmlformats.org/drawingml/2006/main" noGrp="1"/>
          </p:cNvSpPr>
          <p:nvPr/>
        </p:nvSpPr>
        <p:spPr>
          <a:xfrm xmlns:a="http://schemas.openxmlformats.org/drawingml/2006/main">
            <a:off x="539324" y="2117814"/>
            <a:ext cx="171603" cy="196118"/>
          </a:xfrm>
          <a:custGeom xmlns:a="http://schemas.openxmlformats.org/drawingml/2006/main">
            <a:rect l="l" t="t" r="r" b="b"/>
            <a:pathLst>
              <a:path w="171603" h="196118">
                <a:moveTo>
                  <a:pt x="147088" y="196118"/>
                </a:moveTo>
                <a:lnTo>
                  <a:pt x="36772" y="196118"/>
                </a:lnTo>
                <a:cubicBezTo>
                  <a:pt x="16471" y="196118"/>
                  <a:pt x="0" y="179647"/>
                  <a:pt x="0" y="159346"/>
                </a:cubicBezTo>
                <a:lnTo>
                  <a:pt x="0" y="36772"/>
                </a:lnTo>
                <a:cubicBezTo>
                  <a:pt x="0" y="16471"/>
                  <a:pt x="16471" y="0"/>
                  <a:pt x="36772" y="0"/>
                </a:cubicBezTo>
                <a:lnTo>
                  <a:pt x="153217" y="0"/>
                </a:lnTo>
                <a:cubicBezTo>
                  <a:pt x="163368" y="0"/>
                  <a:pt x="171603" y="8235"/>
                  <a:pt x="171603" y="18386"/>
                </a:cubicBezTo>
                <a:lnTo>
                  <a:pt x="171603" y="128702"/>
                </a:lnTo>
                <a:cubicBezTo>
                  <a:pt x="171603" y="136708"/>
                  <a:pt x="166470" y="143526"/>
                  <a:pt x="159346" y="146054"/>
                </a:cubicBezTo>
                <a:lnTo>
                  <a:pt x="159346" y="171603"/>
                </a:lnTo>
                <a:cubicBezTo>
                  <a:pt x="166126" y="171603"/>
                  <a:pt x="171603" y="177081"/>
                  <a:pt x="171603" y="183861"/>
                </a:cubicBezTo>
                <a:cubicBezTo>
                  <a:pt x="171603" y="190640"/>
                  <a:pt x="166126" y="196118"/>
                  <a:pt x="159346" y="196118"/>
                </a:cubicBezTo>
                <a:lnTo>
                  <a:pt x="147088" y="196118"/>
                </a:lnTo>
                <a:close/>
                <a:moveTo>
                  <a:pt x="36772" y="147088"/>
                </a:moveTo>
                <a:cubicBezTo>
                  <a:pt x="29992" y="147088"/>
                  <a:pt x="24515" y="152566"/>
                  <a:pt x="24515" y="159346"/>
                </a:cubicBezTo>
                <a:cubicBezTo>
                  <a:pt x="24515" y="166126"/>
                  <a:pt x="29992" y="171603"/>
                  <a:pt x="36772" y="171603"/>
                </a:cubicBezTo>
                <a:lnTo>
                  <a:pt x="134831" y="171603"/>
                </a:lnTo>
                <a:lnTo>
                  <a:pt x="134831" y="147088"/>
                </a:lnTo>
                <a:lnTo>
                  <a:pt x="36772" y="147088"/>
                </a:lnTo>
                <a:close/>
                <a:moveTo>
                  <a:pt x="49029" y="58223"/>
                </a:moveTo>
                <a:cubicBezTo>
                  <a:pt x="49029" y="63317"/>
                  <a:pt x="53128" y="67416"/>
                  <a:pt x="58223" y="67416"/>
                </a:cubicBezTo>
                <a:lnTo>
                  <a:pt x="125638" y="67416"/>
                </a:lnTo>
                <a:cubicBezTo>
                  <a:pt x="130733" y="67416"/>
                  <a:pt x="134831" y="63317"/>
                  <a:pt x="134831" y="58223"/>
                </a:cubicBezTo>
                <a:cubicBezTo>
                  <a:pt x="134831" y="53128"/>
                  <a:pt x="130733" y="49029"/>
                  <a:pt x="125638" y="49029"/>
                </a:cubicBezTo>
                <a:lnTo>
                  <a:pt x="58223" y="49029"/>
                </a:lnTo>
                <a:cubicBezTo>
                  <a:pt x="53128" y="49029"/>
                  <a:pt x="49029" y="53128"/>
                  <a:pt x="49029" y="58223"/>
                </a:cubicBezTo>
                <a:close/>
                <a:moveTo>
                  <a:pt x="58223" y="85802"/>
                </a:moveTo>
                <a:cubicBezTo>
                  <a:pt x="53128" y="85802"/>
                  <a:pt x="49029" y="89900"/>
                  <a:pt x="49029" y="94995"/>
                </a:cubicBezTo>
                <a:cubicBezTo>
                  <a:pt x="49029" y="100089"/>
                  <a:pt x="53128" y="104188"/>
                  <a:pt x="58223" y="104188"/>
                </a:cubicBezTo>
                <a:lnTo>
                  <a:pt x="125638" y="104188"/>
                </a:lnTo>
                <a:cubicBezTo>
                  <a:pt x="130733" y="104188"/>
                  <a:pt x="134831" y="100089"/>
                  <a:pt x="134831" y="94995"/>
                </a:cubicBezTo>
                <a:cubicBezTo>
                  <a:pt x="134831" y="89900"/>
                  <a:pt x="130733" y="85802"/>
                  <a:pt x="125638" y="85802"/>
                </a:cubicBezTo>
                <a:lnTo>
                  <a:pt x="58223" y="85802"/>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728D6BC8-C1BE-4163-86C4-FE81059B04BB}"/>
              </a:ext>
            </a:extLst>
          </p:cNvPr>
          <p:cNvSpPr>
            <a:spLocks xmlns:a="http://schemas.openxmlformats.org/drawingml/2006/main" noGrp="1"/>
          </p:cNvSpPr>
          <p:nvPr/>
        </p:nvSpPr>
        <p:spPr>
          <a:xfrm xmlns:a="http://schemas.openxmlformats.org/drawingml/2006/main">
            <a:off x="823159" y="2085128"/>
            <a:ext cx="6921330" cy="2614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TEB算法定义</a:t>
            </a:r>
            <a:endParaRPr sz="2000"/>
          </a:p>
        </p:txBody>
      </p:sp>
      <p:sp>
        <p:nvSpPr>
          <p:cNvPr id="9" name="Text 7">
            <a:extLst xmlns:a="http://schemas.openxmlformats.org/drawingml/2006/main">
              <a:ext uri="{FF2B5EF4-FFF2-40B4-BE49-F238E27FC236}">
                <a16:creationId xmlns:a16="http://schemas.microsoft.com/office/drawing/2014/main" id="{E9F519D0-1F96-43CC-82DC-05FE6894E8CC}"/>
              </a:ext>
            </a:extLst>
          </p:cNvPr>
          <p:cNvSpPr>
            <a:spLocks xmlns:a="http://schemas.openxmlformats.org/drawingml/2006/main" noGrp="1"/>
          </p:cNvSpPr>
          <p:nvPr/>
        </p:nvSpPr>
        <p:spPr>
          <a:xfrm xmlns:a="http://schemas.openxmlformats.org/drawingml/2006/main">
            <a:off x="823159" y="2444677"/>
            <a:ext cx="6896815" cy="1107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TEB全称是</a:t>
            </a:r>
            <a:r>
              <a:rPr sz="1600" b="1">
                <a:latin typeface="微软雅黑"/>
                <a:ea typeface="微软雅黑"/>
                <a:cs typeface="微软雅黑"/>
              </a:rPr>
              <a:t>Timed Elastic Band</a:t>
            </a:r>
            <a:r>
              <a:rPr sz="1600">
                <a:latin typeface="微软雅黑"/>
                <a:ea typeface="微软雅黑"/>
                <a:cs typeface="微软雅黑"/>
              </a:rPr>
              <a:t>，译为</a:t>
            </a:r>
            <a:r>
              <a:rPr sz="1600">
                <a:highlight>
                  <a:srgbClr val="E6B450">
                    <a:alpha val="20000"/>
                  </a:srgbClr>
                </a:highlight>
                <a:latin typeface="微软雅黑"/>
                <a:ea typeface="微软雅黑"/>
                <a:cs typeface="微软雅黑"/>
              </a:rPr>
              <a:t> </a:t>
            </a:r>
            <a:r>
              <a:rPr sz="1600">
                <a:highlight>
                  <a:srgbClr val="E6B450">
                    <a:alpha val="20000"/>
                  </a:srgbClr>
                </a:highlight>
                <a:latin typeface="微软雅黑"/>
                <a:ea typeface="微软雅黑"/>
                <a:cs typeface="微软雅黑"/>
              </a:rPr>
              <a:t>时间橡皮筋</a:t>
            </a:r>
            <a:r>
              <a:rPr sz="1600">
                <a:highlight>
                  <a:srgbClr val="E6B450">
                    <a:alpha val="20000"/>
                  </a:srgbClr>
                </a:highlight>
                <a:latin typeface="微软雅黑"/>
                <a:ea typeface="微软雅黑"/>
                <a:cs typeface="微软雅黑"/>
              </a:rPr>
              <a:t> </a:t>
            </a:r>
            <a:r>
              <a:rPr sz="1600">
                <a:latin typeface="微软雅黑"/>
                <a:ea typeface="微软雅黑"/>
                <a:cs typeface="微软雅黑"/>
              </a:rPr>
              <a:t>。</a:t>
            </a:r>
            <a:r>
              <a:rPr sz="1600">
                <a:latin typeface="微软雅黑"/>
                <a:ea typeface="微软雅黑"/>
                <a:cs typeface="微软雅黑"/>
              </a:rPr>
              <a:t>像</a:t>
            </a:r>
            <a:r>
              <a:rPr sz="1600">
                <a:latin typeface="微软雅黑"/>
                <a:ea typeface="微软雅黑"/>
                <a:cs typeface="微软雅黑"/>
              </a:rPr>
              <a:t>导航的起点和终点之间拉了一条绷直的橡皮筋作为行走路线，如果路中间有障碍物，就会将橡皮筋撑开，影响行走时的路径。该方法通过对全局轨迹进行修正，从而优化机器人的局部运动轨迹，属于</a:t>
            </a:r>
            <a:r>
              <a:rPr sz="1600">
                <a:highlight>
                  <a:srgbClr val="E6B450">
                    <a:alpha val="20000"/>
                  </a:srgbClr>
                </a:highlight>
                <a:latin typeface="微软雅黑"/>
                <a:ea typeface="微软雅黑"/>
                <a:cs typeface="微软雅黑"/>
              </a:rPr>
              <a:t> 局部路径规划 </a:t>
            </a:r>
            <a:r>
              <a:rPr sz="1600">
                <a:latin typeface="微软雅黑"/>
                <a:ea typeface="微软雅黑"/>
                <a:cs typeface="微软雅黑"/>
              </a:rPr>
              <a:t>。</a:t>
            </a:r>
            <a:endParaRPr sz="2400"/>
          </a:p>
        </p:txBody>
      </p:sp>
      <p:sp>
        <p:nvSpPr>
          <p:cNvPr id="10" name="Shape 8">
            <a:extLst xmlns:a="http://schemas.openxmlformats.org/drawingml/2006/main">
              <a:ext uri="{FF2B5EF4-FFF2-40B4-BE49-F238E27FC236}">
                <a16:creationId xmlns:a16="http://schemas.microsoft.com/office/drawing/2014/main" id="{9805A3E6-B8FA-4E0A-B55F-7FAF2FA9A24D}"/>
              </a:ext>
            </a:extLst>
          </p:cNvPr>
          <p:cNvSpPr>
            <a:spLocks xmlns:a="http://schemas.openxmlformats.org/drawingml/2006/main" noGrp="1"/>
          </p:cNvSpPr>
          <p:nvPr/>
        </p:nvSpPr>
        <p:spPr>
          <a:xfrm xmlns:a="http://schemas.openxmlformats.org/drawingml/2006/main">
            <a:off x="343206" y="3796423"/>
            <a:ext cx="7501512" cy="1524001"/>
          </a:xfrm>
          <a:custGeom xmlns:a="http://schemas.openxmlformats.org/drawingml/2006/main">
            <a:rect l="l" t="t" r="r" b="b"/>
            <a:pathLst>
              <a:path w="7501512" h="1233909">
                <a:moveTo>
                  <a:pt x="32686" y="0"/>
                </a:moveTo>
                <a:lnTo>
                  <a:pt x="7403453" y="0"/>
                </a:lnTo>
                <a:cubicBezTo>
                  <a:pt x="7457610" y="0"/>
                  <a:pt x="7501512" y="43902"/>
                  <a:pt x="7501512" y="98059"/>
                </a:cubicBezTo>
                <a:lnTo>
                  <a:pt x="7501512" y="1135850"/>
                </a:lnTo>
                <a:cubicBezTo>
                  <a:pt x="7501512" y="1190006"/>
                  <a:pt x="7457610" y="1233909"/>
                  <a:pt x="7403453" y="1233909"/>
                </a:cubicBez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5F87A7">
              <a:alpha val="10196"/>
            </a:srgbClr>
          </a:solidFill>
        </p:spPr>
      </p:sp>
      <p:sp>
        <p:nvSpPr>
          <p:cNvPr id="11" name="Shape 9">
            <a:extLst xmlns:a="http://schemas.openxmlformats.org/drawingml/2006/main">
              <a:ext uri="{FF2B5EF4-FFF2-40B4-BE49-F238E27FC236}">
                <a16:creationId xmlns:a16="http://schemas.microsoft.com/office/drawing/2014/main" id="{53C96C96-E9E5-4232-8D1E-09B930E92F35}"/>
              </a:ext>
            </a:extLst>
          </p:cNvPr>
          <p:cNvSpPr>
            <a:spLocks xmlns:a="http://schemas.openxmlformats.org/drawingml/2006/main" noGrp="1"/>
          </p:cNvSpPr>
          <p:nvPr/>
        </p:nvSpPr>
        <p:spPr>
          <a:xfrm xmlns:a="http://schemas.openxmlformats.org/drawingml/2006/main">
            <a:off x="343206" y="3796423"/>
            <a:ext cx="32686" cy="1524001"/>
          </a:xfrm>
          <a:custGeom xmlns:a="http://schemas.openxmlformats.org/drawingml/2006/main">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E6B450"/>
          </a:solidFill>
        </p:spPr>
      </p:sp>
      <p:sp>
        <p:nvSpPr>
          <p:cNvPr id="12" name="Shape 10">
            <a:extLst xmlns:a="http://schemas.openxmlformats.org/drawingml/2006/main">
              <a:ext uri="{FF2B5EF4-FFF2-40B4-BE49-F238E27FC236}">
                <a16:creationId xmlns:a16="http://schemas.microsoft.com/office/drawing/2014/main" id="{8B0B5690-88BD-442A-952D-8180ED82C76B}"/>
              </a:ext>
            </a:extLst>
          </p:cNvPr>
          <p:cNvSpPr>
            <a:spLocks xmlns:a="http://schemas.openxmlformats.org/drawingml/2006/main" noGrp="1"/>
          </p:cNvSpPr>
          <p:nvPr/>
        </p:nvSpPr>
        <p:spPr>
          <a:xfrm xmlns:a="http://schemas.openxmlformats.org/drawingml/2006/main">
            <a:off x="502552" y="4025227"/>
            <a:ext cx="245147" cy="196118"/>
          </a:xfrm>
          <a:custGeom xmlns:a="http://schemas.openxmlformats.org/drawingml/2006/main">
            <a:rect l="l" t="t" r="r" b="b"/>
            <a:pathLst>
              <a:path w="245147" h="196118">
                <a:moveTo>
                  <a:pt x="159308" y="80631"/>
                </a:moveTo>
                <a:cubicBezTo>
                  <a:pt x="163981" y="79366"/>
                  <a:pt x="168884" y="81588"/>
                  <a:pt x="170990" y="85917"/>
                </a:cubicBezTo>
                <a:lnTo>
                  <a:pt x="178115" y="100319"/>
                </a:lnTo>
                <a:cubicBezTo>
                  <a:pt x="182060" y="100855"/>
                  <a:pt x="185929" y="101928"/>
                  <a:pt x="189568" y="103422"/>
                </a:cubicBezTo>
                <a:lnTo>
                  <a:pt x="202974" y="94497"/>
                </a:lnTo>
                <a:cubicBezTo>
                  <a:pt x="206996" y="91815"/>
                  <a:pt x="212321" y="92352"/>
                  <a:pt x="215730" y="95761"/>
                </a:cubicBezTo>
                <a:lnTo>
                  <a:pt x="223084" y="103115"/>
                </a:lnTo>
                <a:cubicBezTo>
                  <a:pt x="226493" y="106524"/>
                  <a:pt x="227030" y="111887"/>
                  <a:pt x="224348" y="115870"/>
                </a:cubicBezTo>
                <a:lnTo>
                  <a:pt x="215423" y="129239"/>
                </a:lnTo>
                <a:cubicBezTo>
                  <a:pt x="216151" y="131039"/>
                  <a:pt x="216802" y="132916"/>
                  <a:pt x="217339" y="134869"/>
                </a:cubicBezTo>
                <a:cubicBezTo>
                  <a:pt x="217875" y="136823"/>
                  <a:pt x="218220" y="138738"/>
                  <a:pt x="218488" y="140692"/>
                </a:cubicBezTo>
                <a:lnTo>
                  <a:pt x="232928" y="147816"/>
                </a:lnTo>
                <a:cubicBezTo>
                  <a:pt x="237257" y="149961"/>
                  <a:pt x="239478" y="154864"/>
                  <a:pt x="238214" y="159499"/>
                </a:cubicBezTo>
                <a:lnTo>
                  <a:pt x="235533" y="169535"/>
                </a:lnTo>
                <a:cubicBezTo>
                  <a:pt x="234269" y="174170"/>
                  <a:pt x="229941" y="177311"/>
                  <a:pt x="225114" y="177004"/>
                </a:cubicBezTo>
                <a:lnTo>
                  <a:pt x="209027" y="175970"/>
                </a:lnTo>
                <a:cubicBezTo>
                  <a:pt x="206613" y="179073"/>
                  <a:pt x="203817" y="181945"/>
                  <a:pt x="200638" y="184397"/>
                </a:cubicBezTo>
                <a:lnTo>
                  <a:pt x="201672" y="200446"/>
                </a:lnTo>
                <a:cubicBezTo>
                  <a:pt x="201979" y="205273"/>
                  <a:pt x="198838" y="209639"/>
                  <a:pt x="194203" y="210865"/>
                </a:cubicBezTo>
                <a:lnTo>
                  <a:pt x="184167" y="213546"/>
                </a:lnTo>
                <a:cubicBezTo>
                  <a:pt x="179494" y="214810"/>
                  <a:pt x="174629" y="212589"/>
                  <a:pt x="172484" y="208260"/>
                </a:cubicBezTo>
                <a:lnTo>
                  <a:pt x="165360" y="193858"/>
                </a:lnTo>
                <a:cubicBezTo>
                  <a:pt x="161414" y="193322"/>
                  <a:pt x="157546" y="192249"/>
                  <a:pt x="153907" y="190755"/>
                </a:cubicBezTo>
                <a:lnTo>
                  <a:pt x="140500" y="199680"/>
                </a:lnTo>
                <a:cubicBezTo>
                  <a:pt x="136478" y="202362"/>
                  <a:pt x="131154" y="201825"/>
                  <a:pt x="127745" y="198416"/>
                </a:cubicBezTo>
                <a:lnTo>
                  <a:pt x="120390" y="191062"/>
                </a:lnTo>
                <a:cubicBezTo>
                  <a:pt x="116981" y="187653"/>
                  <a:pt x="116445" y="182328"/>
                  <a:pt x="119126" y="178306"/>
                </a:cubicBezTo>
                <a:lnTo>
                  <a:pt x="128051" y="164900"/>
                </a:lnTo>
                <a:cubicBezTo>
                  <a:pt x="127323" y="163100"/>
                  <a:pt x="126672" y="161223"/>
                  <a:pt x="126136" y="159269"/>
                </a:cubicBezTo>
                <a:cubicBezTo>
                  <a:pt x="125600" y="157316"/>
                  <a:pt x="125255" y="155362"/>
                  <a:pt x="124987" y="153447"/>
                </a:cubicBezTo>
                <a:lnTo>
                  <a:pt x="110546" y="146322"/>
                </a:lnTo>
                <a:cubicBezTo>
                  <a:pt x="106218" y="144177"/>
                  <a:pt x="104034" y="139274"/>
                  <a:pt x="105260" y="134640"/>
                </a:cubicBezTo>
                <a:lnTo>
                  <a:pt x="107941" y="124604"/>
                </a:lnTo>
                <a:cubicBezTo>
                  <a:pt x="109206" y="119969"/>
                  <a:pt x="113534" y="116828"/>
                  <a:pt x="118360" y="117135"/>
                </a:cubicBezTo>
                <a:lnTo>
                  <a:pt x="134410" y="118169"/>
                </a:lnTo>
                <a:cubicBezTo>
                  <a:pt x="136823" y="115066"/>
                  <a:pt x="139619" y="112193"/>
                  <a:pt x="142798" y="109742"/>
                </a:cubicBezTo>
                <a:lnTo>
                  <a:pt x="141764" y="93731"/>
                </a:lnTo>
                <a:cubicBezTo>
                  <a:pt x="141458" y="88904"/>
                  <a:pt x="144599" y="84538"/>
                  <a:pt x="149234" y="83312"/>
                </a:cubicBezTo>
                <a:lnTo>
                  <a:pt x="159269" y="80631"/>
                </a:lnTo>
                <a:close/>
                <a:moveTo>
                  <a:pt x="171756" y="130235"/>
                </a:moveTo>
                <a:cubicBezTo>
                  <a:pt x="162455" y="130245"/>
                  <a:pt x="154911" y="137806"/>
                  <a:pt x="154922" y="147108"/>
                </a:cubicBezTo>
                <a:cubicBezTo>
                  <a:pt x="154932" y="156410"/>
                  <a:pt x="162493" y="163953"/>
                  <a:pt x="171795" y="163942"/>
                </a:cubicBezTo>
                <a:cubicBezTo>
                  <a:pt x="181097" y="163932"/>
                  <a:pt x="188640" y="156371"/>
                  <a:pt x="188629" y="147069"/>
                </a:cubicBezTo>
                <a:cubicBezTo>
                  <a:pt x="188619" y="137767"/>
                  <a:pt x="181058" y="130224"/>
                  <a:pt x="171756" y="130235"/>
                </a:cubicBezTo>
                <a:close/>
                <a:moveTo>
                  <a:pt x="86146" y="-17428"/>
                </a:moveTo>
                <a:lnTo>
                  <a:pt x="96182" y="-14747"/>
                </a:lnTo>
                <a:cubicBezTo>
                  <a:pt x="100817" y="-13483"/>
                  <a:pt x="103958" y="-9116"/>
                  <a:pt x="103651" y="-4328"/>
                </a:cubicBezTo>
                <a:lnTo>
                  <a:pt x="102617" y="11683"/>
                </a:lnTo>
                <a:cubicBezTo>
                  <a:pt x="105796" y="14134"/>
                  <a:pt x="108593" y="16969"/>
                  <a:pt x="111006" y="20110"/>
                </a:cubicBezTo>
                <a:lnTo>
                  <a:pt x="127094" y="19076"/>
                </a:lnTo>
                <a:cubicBezTo>
                  <a:pt x="131882" y="18769"/>
                  <a:pt x="136248" y="21910"/>
                  <a:pt x="137512" y="26545"/>
                </a:cubicBezTo>
                <a:lnTo>
                  <a:pt x="140194" y="36581"/>
                </a:lnTo>
                <a:cubicBezTo>
                  <a:pt x="141419" y="41215"/>
                  <a:pt x="139236" y="46118"/>
                  <a:pt x="134908" y="48263"/>
                </a:cubicBezTo>
                <a:lnTo>
                  <a:pt x="120467" y="55388"/>
                </a:lnTo>
                <a:cubicBezTo>
                  <a:pt x="120199" y="57342"/>
                  <a:pt x="119816" y="59295"/>
                  <a:pt x="119318" y="61210"/>
                </a:cubicBezTo>
                <a:cubicBezTo>
                  <a:pt x="118820" y="63125"/>
                  <a:pt x="118130" y="65041"/>
                  <a:pt x="117403" y="66841"/>
                </a:cubicBezTo>
                <a:lnTo>
                  <a:pt x="126328" y="80247"/>
                </a:lnTo>
                <a:cubicBezTo>
                  <a:pt x="129009" y="84269"/>
                  <a:pt x="128473" y="89594"/>
                  <a:pt x="125064" y="93003"/>
                </a:cubicBezTo>
                <a:lnTo>
                  <a:pt x="117709" y="100357"/>
                </a:lnTo>
                <a:cubicBezTo>
                  <a:pt x="114300" y="103766"/>
                  <a:pt x="108976" y="104303"/>
                  <a:pt x="104954" y="101621"/>
                </a:cubicBezTo>
                <a:lnTo>
                  <a:pt x="91547" y="92696"/>
                </a:lnTo>
                <a:cubicBezTo>
                  <a:pt x="87908" y="94190"/>
                  <a:pt x="84040" y="95263"/>
                  <a:pt x="80094" y="95799"/>
                </a:cubicBezTo>
                <a:lnTo>
                  <a:pt x="72970" y="110201"/>
                </a:lnTo>
                <a:cubicBezTo>
                  <a:pt x="70825" y="114530"/>
                  <a:pt x="65922" y="116713"/>
                  <a:pt x="61287" y="115487"/>
                </a:cubicBezTo>
                <a:lnTo>
                  <a:pt x="51251" y="112806"/>
                </a:lnTo>
                <a:cubicBezTo>
                  <a:pt x="46578" y="111542"/>
                  <a:pt x="43475" y="107175"/>
                  <a:pt x="43782" y="102387"/>
                </a:cubicBezTo>
                <a:lnTo>
                  <a:pt x="44816" y="86338"/>
                </a:lnTo>
                <a:cubicBezTo>
                  <a:pt x="41637" y="83886"/>
                  <a:pt x="38841" y="81052"/>
                  <a:pt x="36427" y="77911"/>
                </a:cubicBezTo>
                <a:lnTo>
                  <a:pt x="20340" y="78945"/>
                </a:lnTo>
                <a:cubicBezTo>
                  <a:pt x="15552" y="79252"/>
                  <a:pt x="11185" y="76111"/>
                  <a:pt x="9921" y="71476"/>
                </a:cubicBezTo>
                <a:lnTo>
                  <a:pt x="7240" y="61440"/>
                </a:lnTo>
                <a:cubicBezTo>
                  <a:pt x="6014" y="56805"/>
                  <a:pt x="8197" y="51902"/>
                  <a:pt x="12526" y="49757"/>
                </a:cubicBezTo>
                <a:lnTo>
                  <a:pt x="26966" y="42633"/>
                </a:lnTo>
                <a:cubicBezTo>
                  <a:pt x="27234" y="40679"/>
                  <a:pt x="27617" y="38764"/>
                  <a:pt x="28115" y="36810"/>
                </a:cubicBezTo>
                <a:cubicBezTo>
                  <a:pt x="28652" y="34857"/>
                  <a:pt x="29264" y="32980"/>
                  <a:pt x="30031" y="31180"/>
                </a:cubicBezTo>
                <a:lnTo>
                  <a:pt x="21106" y="17811"/>
                </a:lnTo>
                <a:cubicBezTo>
                  <a:pt x="18424" y="13790"/>
                  <a:pt x="18961" y="8465"/>
                  <a:pt x="22370" y="5056"/>
                </a:cubicBezTo>
                <a:lnTo>
                  <a:pt x="29724" y="-2298"/>
                </a:lnTo>
                <a:cubicBezTo>
                  <a:pt x="33133" y="-5707"/>
                  <a:pt x="38458" y="-6244"/>
                  <a:pt x="42479" y="-3562"/>
                </a:cubicBezTo>
                <a:lnTo>
                  <a:pt x="55886" y="5363"/>
                </a:lnTo>
                <a:cubicBezTo>
                  <a:pt x="59525" y="3869"/>
                  <a:pt x="63394" y="2796"/>
                  <a:pt x="67339" y="2260"/>
                </a:cubicBezTo>
                <a:lnTo>
                  <a:pt x="74464" y="-12142"/>
                </a:lnTo>
                <a:cubicBezTo>
                  <a:pt x="76609" y="-16471"/>
                  <a:pt x="81473" y="-18654"/>
                  <a:pt x="86146" y="-17428"/>
                </a:cubicBezTo>
                <a:close/>
                <a:moveTo>
                  <a:pt x="73697" y="32176"/>
                </a:moveTo>
                <a:cubicBezTo>
                  <a:pt x="64396" y="32176"/>
                  <a:pt x="56844" y="39728"/>
                  <a:pt x="56844" y="49029"/>
                </a:cubicBezTo>
                <a:cubicBezTo>
                  <a:pt x="56844" y="58331"/>
                  <a:pt x="64396" y="65883"/>
                  <a:pt x="73697" y="65883"/>
                </a:cubicBezTo>
                <a:cubicBezTo>
                  <a:pt x="82999" y="65883"/>
                  <a:pt x="90551" y="58331"/>
                  <a:pt x="90551" y="49029"/>
                </a:cubicBezTo>
                <a:cubicBezTo>
                  <a:pt x="90551" y="39728"/>
                  <a:pt x="82999" y="32176"/>
                  <a:pt x="73697" y="32176"/>
                </a:cubicBezTo>
                <a:close/>
              </a:path>
            </a:pathLst>
          </a:custGeom>
          <a:solidFill xmlns:a="http://schemas.openxmlformats.org/drawingml/2006/main">
            <a:srgbClr val="E6B450"/>
          </a:solidFill>
        </p:spPr>
      </p:sp>
      <p:sp>
        <p:nvSpPr>
          <p:cNvPr id="13" name="Text 11">
            <a:extLst xmlns:a="http://schemas.openxmlformats.org/drawingml/2006/main">
              <a:ext uri="{FF2B5EF4-FFF2-40B4-BE49-F238E27FC236}">
                <a16:creationId xmlns:a16="http://schemas.microsoft.com/office/drawing/2014/main" id="{80F34B94-301A-419C-914A-0CF57406F98F}"/>
              </a:ext>
            </a:extLst>
          </p:cNvPr>
          <p:cNvSpPr>
            <a:spLocks xmlns:a="http://schemas.openxmlformats.org/drawingml/2006/main" noGrp="1"/>
          </p:cNvSpPr>
          <p:nvPr/>
        </p:nvSpPr>
        <p:spPr>
          <a:xfrm xmlns:a="http://schemas.openxmlformats.org/drawingml/2006/main">
            <a:off x="823159" y="3992541"/>
            <a:ext cx="6921330" cy="2614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优化目标</a:t>
            </a:r>
            <a:endParaRPr sz="2000"/>
          </a:p>
        </p:txBody>
      </p:sp>
      <p:sp>
        <p:nvSpPr>
          <p:cNvPr id="14" name="Text 12">
            <a:extLst xmlns:a="http://schemas.openxmlformats.org/drawingml/2006/main">
              <a:ext uri="{FF2B5EF4-FFF2-40B4-BE49-F238E27FC236}">
                <a16:creationId xmlns:a16="http://schemas.microsoft.com/office/drawing/2014/main" id="{691E294A-DC24-44F3-B8E2-DB17064E4C53}"/>
              </a:ext>
            </a:extLst>
          </p:cNvPr>
          <p:cNvSpPr>
            <a:spLocks xmlns:a="http://schemas.openxmlformats.org/drawingml/2006/main" noGrp="1"/>
          </p:cNvSpPr>
          <p:nvPr/>
        </p:nvSpPr>
        <p:spPr>
          <a:xfrm xmlns:a="http://schemas.openxmlformats.org/drawingml/2006/main">
            <a:off x="823159" y="4352090"/>
            <a:ext cx="6896815" cy="87027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算法拥有多种优化目标，包括但不限于</a:t>
            </a:r>
            <a:r>
              <a:rPr sz="1600">
                <a:latin typeface="微软雅黑"/>
                <a:ea typeface="微软雅黑"/>
                <a:cs typeface="微软雅黑"/>
              </a:rPr>
              <a:t>：</a:t>
            </a:r>
            <a:r>
              <a:rPr sz="1600">
                <a:highlight>
                  <a:srgbClr val="E6B450">
                    <a:alpha val="20000"/>
                  </a:srgbClr>
                </a:highlight>
                <a:latin typeface="微软雅黑"/>
                <a:ea typeface="微软雅黑"/>
                <a:cs typeface="微软雅黑"/>
              </a:rPr>
              <a:t> 整体路径长度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轨迹运行时间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与障碍物的距离 </a:t>
            </a:r>
            <a:r>
              <a:rPr sz="1600">
                <a:latin typeface="微软雅黑"/>
                <a:ea typeface="微软雅黑"/>
                <a:cs typeface="微软雅黑"/>
              </a:rPr>
              <a:t>、</a:t>
            </a:r>
            <a:r>
              <a:rPr sz="1600">
                <a:highlight>
                  <a:srgbClr val="E6B450">
                    <a:alpha val="20000"/>
                  </a:srgbClr>
                </a:highlight>
                <a:latin typeface="微软雅黑"/>
                <a:ea typeface="微软雅黑"/>
                <a:cs typeface="微软雅黑"/>
              </a:rPr>
              <a:t> 通过中间路径点 </a:t>
            </a:r>
            <a:r>
              <a:rPr sz="1600">
                <a:latin typeface="微软雅黑"/>
                <a:ea typeface="微软雅黑"/>
                <a:cs typeface="微软雅黑"/>
              </a:rPr>
              <a:t>以及机器人动力学、运动学以及几何约束的符合性。</a:t>
            </a:r>
            <a:endParaRPr sz="2400"/>
          </a:p>
        </p:txBody>
      </p:sp>
      <p:sp>
        <p:nvSpPr>
          <p:cNvPr id="15" name="Shape 13">
            <a:extLst xmlns:a="http://schemas.openxmlformats.org/drawingml/2006/main">
              <a:ext uri="{FF2B5EF4-FFF2-40B4-BE49-F238E27FC236}">
                <a16:creationId xmlns:a16="http://schemas.microsoft.com/office/drawing/2014/main" id="{10CD19B5-BE42-4036-8D3C-69D5EADB42E9}"/>
              </a:ext>
            </a:extLst>
          </p:cNvPr>
          <p:cNvSpPr>
            <a:spLocks xmlns:a="http://schemas.openxmlformats.org/drawingml/2006/main" noGrp="1"/>
          </p:cNvSpPr>
          <p:nvPr/>
        </p:nvSpPr>
        <p:spPr>
          <a:xfrm xmlns:a="http://schemas.openxmlformats.org/drawingml/2006/main">
            <a:off x="343206" y="5513309"/>
            <a:ext cx="11505588" cy="1233909"/>
          </a:xfrm>
          <a:custGeom xmlns:a="http://schemas.openxmlformats.org/drawingml/2006/main">
            <a:rect l="l" t="t" r="r" b="b"/>
            <a:pathLst>
              <a:path w="7501512" h="1233909">
                <a:moveTo>
                  <a:pt x="32686" y="0"/>
                </a:moveTo>
                <a:lnTo>
                  <a:pt x="7403453" y="0"/>
                </a:lnTo>
                <a:cubicBezTo>
                  <a:pt x="7457610" y="0"/>
                  <a:pt x="7501512" y="43902"/>
                  <a:pt x="7501512" y="98059"/>
                </a:cubicBezTo>
                <a:lnTo>
                  <a:pt x="7501512" y="1135850"/>
                </a:lnTo>
                <a:cubicBezTo>
                  <a:pt x="7501512" y="1190006"/>
                  <a:pt x="7457610" y="1233909"/>
                  <a:pt x="7403453" y="1233909"/>
                </a:cubicBez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5F87A7">
              <a:alpha val="10196"/>
            </a:srgbClr>
          </a:solidFill>
        </p:spPr>
      </p:sp>
      <p:sp>
        <p:nvSpPr>
          <p:cNvPr id="16" name="Shape 14">
            <a:extLst xmlns:a="http://schemas.openxmlformats.org/drawingml/2006/main">
              <a:ext uri="{FF2B5EF4-FFF2-40B4-BE49-F238E27FC236}">
                <a16:creationId xmlns:a16="http://schemas.microsoft.com/office/drawing/2014/main" id="{C9B41944-F73D-4ADB-931C-C698E53480A7}"/>
              </a:ext>
            </a:extLst>
          </p:cNvPr>
          <p:cNvSpPr>
            <a:spLocks xmlns:a="http://schemas.openxmlformats.org/drawingml/2006/main" noGrp="1"/>
          </p:cNvSpPr>
          <p:nvPr/>
        </p:nvSpPr>
        <p:spPr>
          <a:xfrm xmlns:a="http://schemas.openxmlformats.org/drawingml/2006/main">
            <a:off x="343206" y="5513309"/>
            <a:ext cx="32686" cy="1233909"/>
          </a:xfrm>
          <a:custGeom xmlns:a="http://schemas.openxmlformats.org/drawingml/2006/main">
            <a:rect l="l" t="t" r="r" b="b"/>
            <a:pathLst>
              <a:path w="32686" h="1233909">
                <a:moveTo>
                  <a:pt x="32686" y="0"/>
                </a:moveTo>
                <a:lnTo>
                  <a:pt x="32686" y="0"/>
                </a:lnTo>
                <a:lnTo>
                  <a:pt x="32686" y="1233909"/>
                </a:lnTo>
                <a:lnTo>
                  <a:pt x="32686" y="1233909"/>
                </a:lnTo>
                <a:cubicBezTo>
                  <a:pt x="14634" y="1233909"/>
                  <a:pt x="0" y="1219275"/>
                  <a:pt x="0" y="1201223"/>
                </a:cubicBezTo>
                <a:lnTo>
                  <a:pt x="0" y="32686"/>
                </a:lnTo>
                <a:cubicBezTo>
                  <a:pt x="0" y="14646"/>
                  <a:pt x="14646" y="0"/>
                  <a:pt x="32686" y="0"/>
                </a:cubicBezTo>
                <a:close/>
              </a:path>
            </a:pathLst>
          </a:custGeom>
          <a:solidFill xmlns:a="http://schemas.openxmlformats.org/drawingml/2006/main">
            <a:srgbClr val="E6B450"/>
          </a:solidFill>
        </p:spPr>
      </p:sp>
      <p:sp>
        <p:nvSpPr>
          <p:cNvPr id="17" name="Shape 15">
            <a:extLst xmlns:a="http://schemas.openxmlformats.org/drawingml/2006/main">
              <a:ext uri="{FF2B5EF4-FFF2-40B4-BE49-F238E27FC236}">
                <a16:creationId xmlns:a16="http://schemas.microsoft.com/office/drawing/2014/main" id="{93F2C329-DA9A-45AE-9813-9ECD134A7922}"/>
              </a:ext>
            </a:extLst>
          </p:cNvPr>
          <p:cNvSpPr>
            <a:spLocks xmlns:a="http://schemas.openxmlformats.org/drawingml/2006/main" noGrp="1"/>
          </p:cNvSpPr>
          <p:nvPr/>
        </p:nvSpPr>
        <p:spPr>
          <a:xfrm xmlns:a="http://schemas.openxmlformats.org/drawingml/2006/main">
            <a:off x="502552" y="5742113"/>
            <a:ext cx="245147" cy="196118"/>
          </a:xfrm>
          <a:custGeom xmlns:a="http://schemas.openxmlformats.org/drawingml/2006/main">
            <a:rect l="l" t="t" r="r" b="b"/>
            <a:pathLst>
              <a:path w="245147" h="196118">
                <a:moveTo>
                  <a:pt x="147088" y="12257"/>
                </a:moveTo>
                <a:lnTo>
                  <a:pt x="196118" y="12257"/>
                </a:lnTo>
                <a:cubicBezTo>
                  <a:pt x="202898" y="12257"/>
                  <a:pt x="208375" y="17735"/>
                  <a:pt x="208375" y="24515"/>
                </a:cubicBezTo>
                <a:cubicBezTo>
                  <a:pt x="208375" y="31295"/>
                  <a:pt x="202898" y="36772"/>
                  <a:pt x="196118" y="36772"/>
                </a:cubicBezTo>
                <a:lnTo>
                  <a:pt x="152604" y="36772"/>
                </a:lnTo>
                <a:cubicBezTo>
                  <a:pt x="150612" y="46655"/>
                  <a:pt x="143833" y="54813"/>
                  <a:pt x="134831" y="58720"/>
                </a:cubicBezTo>
                <a:lnTo>
                  <a:pt x="134831" y="171603"/>
                </a:lnTo>
                <a:lnTo>
                  <a:pt x="196118" y="171603"/>
                </a:lnTo>
                <a:cubicBezTo>
                  <a:pt x="202898" y="171603"/>
                  <a:pt x="208375" y="177081"/>
                  <a:pt x="208375" y="183861"/>
                </a:cubicBezTo>
                <a:cubicBezTo>
                  <a:pt x="208375" y="190640"/>
                  <a:pt x="202898" y="196118"/>
                  <a:pt x="196118" y="196118"/>
                </a:cubicBezTo>
                <a:lnTo>
                  <a:pt x="49029" y="196118"/>
                </a:lnTo>
                <a:cubicBezTo>
                  <a:pt x="42250" y="196118"/>
                  <a:pt x="36772" y="190640"/>
                  <a:pt x="36772" y="183861"/>
                </a:cubicBezTo>
                <a:cubicBezTo>
                  <a:pt x="36772" y="177081"/>
                  <a:pt x="42250" y="171603"/>
                  <a:pt x="49029" y="171603"/>
                </a:cubicBezTo>
                <a:lnTo>
                  <a:pt x="110316" y="171603"/>
                </a:lnTo>
                <a:lnTo>
                  <a:pt x="110316" y="58720"/>
                </a:lnTo>
                <a:cubicBezTo>
                  <a:pt x="101315" y="54775"/>
                  <a:pt x="94535" y="46616"/>
                  <a:pt x="92543" y="36772"/>
                </a:cubicBezTo>
                <a:lnTo>
                  <a:pt x="49029" y="36772"/>
                </a:lnTo>
                <a:cubicBezTo>
                  <a:pt x="42250" y="36772"/>
                  <a:pt x="36772" y="31295"/>
                  <a:pt x="36772" y="24515"/>
                </a:cubicBezTo>
                <a:cubicBezTo>
                  <a:pt x="36772" y="17735"/>
                  <a:pt x="42250" y="12257"/>
                  <a:pt x="49029" y="12257"/>
                </a:cubicBezTo>
                <a:lnTo>
                  <a:pt x="98059" y="12257"/>
                </a:lnTo>
                <a:cubicBezTo>
                  <a:pt x="103651" y="4826"/>
                  <a:pt x="112538" y="0"/>
                  <a:pt x="122574" y="0"/>
                </a:cubicBezTo>
                <a:cubicBezTo>
                  <a:pt x="132609" y="0"/>
                  <a:pt x="141496" y="4826"/>
                  <a:pt x="147088" y="12257"/>
                </a:cubicBezTo>
                <a:close/>
                <a:moveTo>
                  <a:pt x="168386" y="122574"/>
                </a:moveTo>
                <a:lnTo>
                  <a:pt x="223850" y="122574"/>
                </a:lnTo>
                <a:lnTo>
                  <a:pt x="196118" y="75000"/>
                </a:lnTo>
                <a:lnTo>
                  <a:pt x="168386" y="122574"/>
                </a:lnTo>
                <a:close/>
                <a:moveTo>
                  <a:pt x="196118" y="159346"/>
                </a:moveTo>
                <a:cubicBezTo>
                  <a:pt x="172025" y="159346"/>
                  <a:pt x="151991" y="146322"/>
                  <a:pt x="147855" y="129124"/>
                </a:cubicBezTo>
                <a:cubicBezTo>
                  <a:pt x="146859" y="124910"/>
                  <a:pt x="148238" y="120582"/>
                  <a:pt x="150421" y="116828"/>
                </a:cubicBezTo>
                <a:lnTo>
                  <a:pt x="186887" y="54315"/>
                </a:lnTo>
                <a:cubicBezTo>
                  <a:pt x="188802" y="51021"/>
                  <a:pt x="192326" y="49029"/>
                  <a:pt x="196118" y="49029"/>
                </a:cubicBezTo>
                <a:cubicBezTo>
                  <a:pt x="199910" y="49029"/>
                  <a:pt x="203434" y="51060"/>
                  <a:pt x="205349" y="54315"/>
                </a:cubicBezTo>
                <a:lnTo>
                  <a:pt x="241815" y="116828"/>
                </a:lnTo>
                <a:cubicBezTo>
                  <a:pt x="243998" y="120582"/>
                  <a:pt x="245377" y="124910"/>
                  <a:pt x="244381" y="129124"/>
                </a:cubicBezTo>
                <a:cubicBezTo>
                  <a:pt x="240245" y="146284"/>
                  <a:pt x="220211" y="159346"/>
                  <a:pt x="196118" y="159346"/>
                </a:cubicBezTo>
                <a:close/>
                <a:moveTo>
                  <a:pt x="48570" y="75000"/>
                </a:moveTo>
                <a:lnTo>
                  <a:pt x="20838" y="122574"/>
                </a:lnTo>
                <a:lnTo>
                  <a:pt x="76340" y="122574"/>
                </a:lnTo>
                <a:lnTo>
                  <a:pt x="48570" y="75000"/>
                </a:lnTo>
                <a:close/>
                <a:moveTo>
                  <a:pt x="345" y="129124"/>
                </a:moveTo>
                <a:cubicBezTo>
                  <a:pt x="-651" y="124910"/>
                  <a:pt x="728" y="120582"/>
                  <a:pt x="2911" y="116828"/>
                </a:cubicBezTo>
                <a:lnTo>
                  <a:pt x="39377" y="54315"/>
                </a:lnTo>
                <a:cubicBezTo>
                  <a:pt x="41292" y="51021"/>
                  <a:pt x="44816" y="49029"/>
                  <a:pt x="48608" y="49029"/>
                </a:cubicBezTo>
                <a:cubicBezTo>
                  <a:pt x="52400" y="49029"/>
                  <a:pt x="55924" y="51060"/>
                  <a:pt x="57839" y="54315"/>
                </a:cubicBezTo>
                <a:lnTo>
                  <a:pt x="94305" y="116828"/>
                </a:lnTo>
                <a:cubicBezTo>
                  <a:pt x="96489" y="120582"/>
                  <a:pt x="97867" y="124910"/>
                  <a:pt x="96872" y="129124"/>
                </a:cubicBezTo>
                <a:cubicBezTo>
                  <a:pt x="92735" y="146284"/>
                  <a:pt x="72702" y="159346"/>
                  <a:pt x="48608" y="159346"/>
                </a:cubicBezTo>
                <a:cubicBezTo>
                  <a:pt x="24515" y="159346"/>
                  <a:pt x="4482" y="146322"/>
                  <a:pt x="345" y="129124"/>
                </a:cubicBezTo>
                <a:close/>
              </a:path>
            </a:pathLst>
          </a:custGeom>
          <a:solidFill xmlns:a="http://schemas.openxmlformats.org/drawingml/2006/main">
            <a:srgbClr val="E6B450"/>
          </a:solidFill>
        </p:spPr>
      </p:sp>
      <p:sp>
        <p:nvSpPr>
          <p:cNvPr id="18" name="Text 16">
            <a:extLst xmlns:a="http://schemas.openxmlformats.org/drawingml/2006/main">
              <a:ext uri="{FF2B5EF4-FFF2-40B4-BE49-F238E27FC236}">
                <a16:creationId xmlns:a16="http://schemas.microsoft.com/office/drawing/2014/main" id="{97FC9DD0-E356-46ED-B706-77708E400A26}"/>
              </a:ext>
            </a:extLst>
          </p:cNvPr>
          <p:cNvSpPr>
            <a:spLocks xmlns:a="http://schemas.openxmlformats.org/drawingml/2006/main" noGrp="1"/>
          </p:cNvSpPr>
          <p:nvPr/>
        </p:nvSpPr>
        <p:spPr>
          <a:xfrm xmlns:a="http://schemas.openxmlformats.org/drawingml/2006/main">
            <a:off x="825968" y="5709427"/>
            <a:ext cx="6921330" cy="2614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545" b="1">
                <a:latin typeface="微软雅黑"/>
                <a:ea typeface="微软雅黑"/>
                <a:cs typeface="微软雅黑"/>
              </a:rPr>
              <a:t>与MPC对比</a:t>
            </a:r>
            <a:endParaRPr sz="1600"/>
          </a:p>
        </p:txBody>
      </p:sp>
      <p:sp>
        <p:nvSpPr>
          <p:cNvPr id="19" name="Text 17">
            <a:extLst xmlns:a="http://schemas.openxmlformats.org/drawingml/2006/main">
              <a:ext uri="{FF2B5EF4-FFF2-40B4-BE49-F238E27FC236}">
                <a16:creationId xmlns:a16="http://schemas.microsoft.com/office/drawing/2014/main" id="{BEACA62D-D340-499B-B885-C9DA8ED6DE7C}"/>
              </a:ext>
            </a:extLst>
          </p:cNvPr>
          <p:cNvSpPr>
            <a:spLocks xmlns:a="http://schemas.openxmlformats.org/drawingml/2006/main" noGrp="1"/>
          </p:cNvSpPr>
          <p:nvPr/>
        </p:nvSpPr>
        <p:spPr>
          <a:xfrm xmlns:a="http://schemas.openxmlformats.org/drawingml/2006/main">
            <a:off x="825968" y="6068976"/>
            <a:ext cx="10872080" cy="48212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它和</a:t>
            </a:r>
            <a:r>
              <a:rPr sz="1600" b="1">
                <a:latin typeface="微软雅黑"/>
                <a:ea typeface="微软雅黑"/>
                <a:cs typeface="微软雅黑"/>
              </a:rPr>
              <a:t>MPC</a:t>
            </a:r>
            <a:r>
              <a:rPr sz="1600">
                <a:latin typeface="微软雅黑"/>
                <a:ea typeface="微软雅黑"/>
                <a:cs typeface="微软雅黑"/>
              </a:rPr>
              <a:t>同属于优化方法，只不过TEB计算</a:t>
            </a:r>
            <a:r>
              <a:rPr sz="1600">
                <a:highlight>
                  <a:srgbClr val="E6B450">
                    <a:alpha val="20000"/>
                  </a:srgbClr>
                </a:highlight>
                <a:latin typeface="微软雅黑"/>
                <a:ea typeface="微软雅黑"/>
                <a:cs typeface="微软雅黑"/>
              </a:rPr>
              <a:t> 最优的轨迹 </a:t>
            </a:r>
            <a:r>
              <a:rPr sz="1600">
                <a:latin typeface="微软雅黑"/>
                <a:ea typeface="微软雅黑"/>
                <a:cs typeface="微软雅黑"/>
              </a:rPr>
              <a:t>，再通过计算得到最优控制量，而MPC可以理解为直接计算最优控制量；MPC使用</a:t>
            </a:r>
            <a:r>
              <a:rPr sz="1600">
                <a:highlight>
                  <a:srgbClr val="E6B450">
                    <a:alpha val="20000"/>
                  </a:srgbClr>
                </a:highlight>
                <a:latin typeface="微软雅黑"/>
                <a:ea typeface="微软雅黑"/>
                <a:cs typeface="微软雅黑"/>
              </a:rPr>
              <a:t> OSPQ </a:t>
            </a:r>
            <a:r>
              <a:rPr sz="1600">
                <a:latin typeface="微软雅黑"/>
                <a:ea typeface="微软雅黑"/>
                <a:cs typeface="微软雅黑"/>
              </a:rPr>
              <a:t>优化器求解，TEB使用</a:t>
            </a:r>
            <a:r>
              <a:rPr sz="1600">
                <a:highlight>
                  <a:srgbClr val="E6B450">
                    <a:alpha val="20000"/>
                  </a:srgbClr>
                </a:highlight>
                <a:latin typeface="微软雅黑"/>
                <a:ea typeface="微软雅黑"/>
                <a:cs typeface="微软雅黑"/>
              </a:rPr>
              <a:t> g2o </a:t>
            </a:r>
            <a:r>
              <a:rPr sz="1600">
                <a:latin typeface="微软雅黑"/>
                <a:ea typeface="微软雅黑"/>
                <a:cs typeface="微软雅黑"/>
              </a:rPr>
              <a:t>来求解。</a:t>
            </a:r>
            <a:endParaRPr sz="2400"/>
          </a:p>
        </p:txBody>
      </p:sp>
      <p:sp>
        <p:nvSpPr>
          <p:cNvPr id="20" name="Shape 18">
            <a:extLst xmlns:a="http://schemas.openxmlformats.org/drawingml/2006/main">
              <a:ext uri="{FF2B5EF4-FFF2-40B4-BE49-F238E27FC236}">
                <a16:creationId xmlns:a16="http://schemas.microsoft.com/office/drawing/2014/main" id="{AE0AABE9-E646-47D6-B9D5-1BB67A85436C}"/>
              </a:ext>
            </a:extLst>
          </p:cNvPr>
          <p:cNvSpPr>
            <a:spLocks xmlns:a="http://schemas.openxmlformats.org/drawingml/2006/main" noGrp="1"/>
          </p:cNvSpPr>
          <p:nvPr/>
        </p:nvSpPr>
        <p:spPr>
          <a:xfrm xmlns:a="http://schemas.openxmlformats.org/drawingml/2006/main">
            <a:off x="8107869" y="1893096"/>
            <a:ext cx="3750756" cy="3424093"/>
          </a:xfrm>
          <a:custGeom xmlns:a="http://schemas.openxmlformats.org/drawingml/2006/main">
            <a:rect l="l" t="t" r="r" b="b"/>
            <a:pathLst>
              <a:path w="3750756" h="4314595">
                <a:moveTo>
                  <a:pt x="98045" y="0"/>
                </a:moveTo>
                <a:lnTo>
                  <a:pt x="3652711" y="0"/>
                </a:lnTo>
                <a:cubicBezTo>
                  <a:pt x="3706860" y="0"/>
                  <a:pt x="3750756" y="43896"/>
                  <a:pt x="3750756" y="98045"/>
                </a:cubicBezTo>
                <a:lnTo>
                  <a:pt x="3750756" y="4216550"/>
                </a:lnTo>
                <a:cubicBezTo>
                  <a:pt x="3750756" y="4270699"/>
                  <a:pt x="3706860" y="4314595"/>
                  <a:pt x="3652711" y="4314595"/>
                </a:cubicBezTo>
                <a:lnTo>
                  <a:pt x="98045" y="4314595"/>
                </a:lnTo>
                <a:cubicBezTo>
                  <a:pt x="43896" y="4314595"/>
                  <a:pt x="0" y="4270699"/>
                  <a:pt x="0" y="4216550"/>
                </a:cubicBezTo>
                <a:lnTo>
                  <a:pt x="0" y="98045"/>
                </a:lnTo>
                <a:cubicBezTo>
                  <a:pt x="0" y="43932"/>
                  <a:pt x="43932" y="0"/>
                  <a:pt x="98045"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1" name="Shape 19">
            <a:extLst xmlns:a="http://schemas.openxmlformats.org/drawingml/2006/main">
              <a:ext uri="{FF2B5EF4-FFF2-40B4-BE49-F238E27FC236}">
                <a16:creationId xmlns:a16="http://schemas.microsoft.com/office/drawing/2014/main" id="{D8F2C891-37C1-4D7B-973A-FF2FC5342B91}"/>
              </a:ext>
            </a:extLst>
          </p:cNvPr>
          <p:cNvSpPr>
            <a:spLocks xmlns:a="http://schemas.openxmlformats.org/drawingml/2006/main" noGrp="1"/>
          </p:cNvSpPr>
          <p:nvPr/>
        </p:nvSpPr>
        <p:spPr>
          <a:xfrm xmlns:a="http://schemas.openxmlformats.org/drawingml/2006/main">
            <a:off x="8328502" y="2125986"/>
            <a:ext cx="163432" cy="163432"/>
          </a:xfrm>
          <a:custGeom xmlns:a="http://schemas.openxmlformats.org/drawingml/2006/main">
            <a:rect l="l" t="t" r="r" b="b"/>
            <a:pathLst>
              <a:path w="163432" h="163432">
                <a:moveTo>
                  <a:pt x="21035" y="72938"/>
                </a:moveTo>
                <a:cubicBezTo>
                  <a:pt x="25281" y="43252"/>
                  <a:pt x="50849" y="20429"/>
                  <a:pt x="81716" y="20429"/>
                </a:cubicBezTo>
                <a:cubicBezTo>
                  <a:pt x="98634" y="20429"/>
                  <a:pt x="113955" y="27292"/>
                  <a:pt x="125064" y="38368"/>
                </a:cubicBezTo>
                <a:cubicBezTo>
                  <a:pt x="125127" y="38432"/>
                  <a:pt x="125191" y="38496"/>
                  <a:pt x="125255" y="38560"/>
                </a:cubicBezTo>
                <a:lnTo>
                  <a:pt x="127681" y="40858"/>
                </a:lnTo>
                <a:lnTo>
                  <a:pt x="112391" y="40858"/>
                </a:lnTo>
                <a:cubicBezTo>
                  <a:pt x="106741" y="40858"/>
                  <a:pt x="102177" y="45423"/>
                  <a:pt x="102177" y="51072"/>
                </a:cubicBezTo>
                <a:cubicBezTo>
                  <a:pt x="102177" y="56722"/>
                  <a:pt x="106741" y="61287"/>
                  <a:pt x="112391" y="61287"/>
                </a:cubicBezTo>
                <a:lnTo>
                  <a:pt x="153249" y="61287"/>
                </a:lnTo>
                <a:cubicBezTo>
                  <a:pt x="158899" y="61287"/>
                  <a:pt x="163464" y="56722"/>
                  <a:pt x="163464" y="51072"/>
                </a:cubicBezTo>
                <a:lnTo>
                  <a:pt x="163464" y="10214"/>
                </a:lnTo>
                <a:cubicBezTo>
                  <a:pt x="163464" y="4565"/>
                  <a:pt x="158899" y="0"/>
                  <a:pt x="153249" y="0"/>
                </a:cubicBezTo>
                <a:cubicBezTo>
                  <a:pt x="147599" y="0"/>
                  <a:pt x="143035" y="4565"/>
                  <a:pt x="143035" y="10214"/>
                </a:cubicBezTo>
                <a:lnTo>
                  <a:pt x="143035" y="27260"/>
                </a:lnTo>
                <a:lnTo>
                  <a:pt x="139428" y="23844"/>
                </a:lnTo>
                <a:cubicBezTo>
                  <a:pt x="124649" y="9129"/>
                  <a:pt x="104220" y="0"/>
                  <a:pt x="81716" y="0"/>
                </a:cubicBezTo>
                <a:cubicBezTo>
                  <a:pt x="40539" y="0"/>
                  <a:pt x="6480" y="30452"/>
                  <a:pt x="830" y="70065"/>
                </a:cubicBezTo>
                <a:cubicBezTo>
                  <a:pt x="32" y="75651"/>
                  <a:pt x="3894" y="80822"/>
                  <a:pt x="9480" y="81620"/>
                </a:cubicBezTo>
                <a:cubicBezTo>
                  <a:pt x="15066" y="82418"/>
                  <a:pt x="20237" y="78524"/>
                  <a:pt x="21035" y="72970"/>
                </a:cubicBezTo>
                <a:close/>
                <a:moveTo>
                  <a:pt x="162602" y="93367"/>
                </a:moveTo>
                <a:cubicBezTo>
                  <a:pt x="163400" y="87781"/>
                  <a:pt x="159505" y="82610"/>
                  <a:pt x="153951" y="81812"/>
                </a:cubicBezTo>
                <a:cubicBezTo>
                  <a:pt x="148397" y="81014"/>
                  <a:pt x="143194" y="84908"/>
                  <a:pt x="142396" y="90462"/>
                </a:cubicBezTo>
                <a:cubicBezTo>
                  <a:pt x="138151" y="120148"/>
                  <a:pt x="112583" y="142971"/>
                  <a:pt x="81716" y="142971"/>
                </a:cubicBezTo>
                <a:cubicBezTo>
                  <a:pt x="64798" y="142971"/>
                  <a:pt x="49476" y="136108"/>
                  <a:pt x="38368" y="125032"/>
                </a:cubicBezTo>
                <a:cubicBezTo>
                  <a:pt x="38304" y="124968"/>
                  <a:pt x="38240" y="124904"/>
                  <a:pt x="38177" y="124840"/>
                </a:cubicBezTo>
                <a:lnTo>
                  <a:pt x="35751" y="122542"/>
                </a:lnTo>
                <a:lnTo>
                  <a:pt x="51040" y="122542"/>
                </a:lnTo>
                <a:cubicBezTo>
                  <a:pt x="56690" y="122542"/>
                  <a:pt x="61255" y="117977"/>
                  <a:pt x="61255" y="112327"/>
                </a:cubicBezTo>
                <a:cubicBezTo>
                  <a:pt x="61255" y="106677"/>
                  <a:pt x="56690" y="102113"/>
                  <a:pt x="51040" y="102113"/>
                </a:cubicBezTo>
                <a:lnTo>
                  <a:pt x="10214" y="102145"/>
                </a:lnTo>
                <a:cubicBezTo>
                  <a:pt x="7501" y="102145"/>
                  <a:pt x="4884" y="103230"/>
                  <a:pt x="2969" y="105177"/>
                </a:cubicBezTo>
                <a:cubicBezTo>
                  <a:pt x="1053" y="107124"/>
                  <a:pt x="-32" y="109710"/>
                  <a:pt x="0" y="112455"/>
                </a:cubicBezTo>
                <a:lnTo>
                  <a:pt x="319" y="152994"/>
                </a:lnTo>
                <a:cubicBezTo>
                  <a:pt x="351" y="158644"/>
                  <a:pt x="4980" y="163176"/>
                  <a:pt x="10629" y="163112"/>
                </a:cubicBezTo>
                <a:cubicBezTo>
                  <a:pt x="16279" y="163049"/>
                  <a:pt x="20812" y="158452"/>
                  <a:pt x="20748" y="152802"/>
                </a:cubicBezTo>
                <a:lnTo>
                  <a:pt x="20620" y="136363"/>
                </a:lnTo>
                <a:lnTo>
                  <a:pt x="24036" y="139587"/>
                </a:lnTo>
                <a:cubicBezTo>
                  <a:pt x="38815" y="154302"/>
                  <a:pt x="59212" y="163432"/>
                  <a:pt x="81716" y="163432"/>
                </a:cubicBezTo>
                <a:cubicBezTo>
                  <a:pt x="122893" y="163432"/>
                  <a:pt x="156952" y="132980"/>
                  <a:pt x="162602" y="93367"/>
                </a:cubicBezTo>
                <a:close/>
              </a:path>
            </a:pathLst>
          </a:custGeom>
          <a:solidFill xmlns:a="http://schemas.openxmlformats.org/drawingml/2006/main">
            <a:srgbClr val="E6B450"/>
          </a:solidFill>
        </p:spPr>
      </p:sp>
      <p:sp>
        <p:nvSpPr>
          <p:cNvPr id="22" name="Text 20">
            <a:extLst xmlns:a="http://schemas.openxmlformats.org/drawingml/2006/main">
              <a:ext uri="{FF2B5EF4-FFF2-40B4-BE49-F238E27FC236}">
                <a16:creationId xmlns:a16="http://schemas.microsoft.com/office/drawing/2014/main" id="{4092F78F-2E31-4A12-8C44-B9B31CD64402}"/>
              </a:ext>
            </a:extLst>
          </p:cNvPr>
          <p:cNvSpPr>
            <a:spLocks xmlns:a="http://schemas.openxmlformats.org/drawingml/2006/main" noGrp="1"/>
          </p:cNvSpPr>
          <p:nvPr/>
        </p:nvSpPr>
        <p:spPr>
          <a:xfrm xmlns:a="http://schemas.openxmlformats.org/drawingml/2006/main">
            <a:off x="8512362" y="2093299"/>
            <a:ext cx="3227775" cy="2288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20000"/>
              </a:lnSpc>
              <a:buNone/>
            </a:pPr>
            <a:r>
              <a:rPr sz="1285" b="1">
                <a:latin typeface="微软雅黑"/>
                <a:ea typeface="微软雅黑"/>
                <a:cs typeface="微软雅黑"/>
              </a:rPr>
              <a:t>橡皮筋</a:t>
            </a:r>
            <a:r>
              <a:rPr sz="1285" b="1">
                <a:latin typeface="微软雅黑"/>
                <a:ea typeface="微软雅黑"/>
                <a:cs typeface="微软雅黑"/>
              </a:rPr>
              <a:t>示意的</a:t>
            </a:r>
            <a:r>
              <a:rPr sz="1285" b="1">
                <a:latin typeface="微软雅黑"/>
                <a:ea typeface="微软雅黑"/>
                <a:cs typeface="微软雅黑"/>
              </a:rPr>
              <a:t>TEB</a:t>
            </a:r>
            <a:endParaRPr sz="1600"/>
          </a:p>
        </p:txBody>
      </p:sp>
      <p:sp>
        <p:nvSpPr>
          <p:cNvPr id="39" name="矩形 38">
            <a:extLst xmlns:a="http://schemas.openxmlformats.org/drawingml/2006/main">
              <a:ext uri="{FF2B5EF4-FFF2-40B4-BE49-F238E27FC236}">
                <a16:creationId xmlns:a16="http://schemas.microsoft.com/office/drawing/2014/main" id="{304CE31C-D23B-2574-FAED-0BBF3260BB63}"/>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文本框 39">
            <a:extLst xmlns:a="http://schemas.openxmlformats.org/drawingml/2006/main">
              <a:ext uri="{FF2B5EF4-FFF2-40B4-BE49-F238E27FC236}">
                <a16:creationId xmlns:a16="http://schemas.microsoft.com/office/drawing/2014/main" id="{6A4BD783-447C-42B7-ABDA-D811CC33989D}"/>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pic>
        <p:nvPicPr>
          <p:cNvPr id="62" name="图片 1"/>
          <p:cNvPicPr>
            <a:picLocks xmlns:a="http://schemas.openxmlformats.org/drawingml/2006/main" noChangeAspect="1"/>
          </p:cNvPicPr>
          <p:nvPr/>
        </p:nvPicPr>
        <p:blipFill>
          <a:blip xmlns:r="http://schemas.openxmlformats.org/officeDocument/2006/relationships" xmlns:a="http://schemas.openxmlformats.org/drawingml/2006/main" r:embed="R4a383cec540641af"/>
          <a:srcRect xmlns:a="http://schemas.openxmlformats.org/drawingml/2006/main" l="0" t="0" r="0" b="0"/>
          <a:stretch xmlns:a="http://schemas.openxmlformats.org/drawingml/2006/main">
            <a:fillRect l="0" t="0" r="0" b="0"/>
          </a:stretch>
        </p:blipFill>
        <p:spPr>
          <a:xfrm xmlns:a="http://schemas.openxmlformats.org/drawingml/2006/main">
            <a:off x="8222575" y="2601559"/>
            <a:ext cx="3508159" cy="196941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1413927"/>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03A26015-C1E3-47EE-98FB-5FC0C0B236BD}"/>
              </a:ext>
            </a:extLst>
          </p:cNvPr>
          <p:cNvSpPr>
            <a:spLocks xmlns:a="http://schemas.openxmlformats.org/drawingml/2006/main" noGrp="1"/>
          </p:cNvSpPr>
          <p:nvPr/>
        </p:nvSpPr>
        <p:spPr>
          <a:xfrm xmlns:a="http://schemas.openxmlformats.org/drawingml/2006/main">
            <a:off x="400050" y="1733550"/>
            <a:ext cx="5543550" cy="2266950"/>
          </a:xfrm>
          <a:custGeom xmlns:a="http://schemas.openxmlformats.org/drawingml/2006/main">
            <a:rect l="l" t="t" r="r" b="b"/>
            <a:pathLst>
              <a:path w="5543550" h="2266950">
                <a:moveTo>
                  <a:pt x="38100" y="0"/>
                </a:moveTo>
                <a:lnTo>
                  <a:pt x="5429250" y="0"/>
                </a:lnTo>
                <a:cubicBezTo>
                  <a:pt x="5492376" y="0"/>
                  <a:pt x="5543550" y="51174"/>
                  <a:pt x="5543550" y="114300"/>
                </a:cubicBezTo>
                <a:lnTo>
                  <a:pt x="5543550" y="2152650"/>
                </a:lnTo>
                <a:cubicBezTo>
                  <a:pt x="5543550" y="2215776"/>
                  <a:pt x="5492376" y="2266950"/>
                  <a:pt x="5429250" y="2266950"/>
                </a:cubicBezTo>
                <a:lnTo>
                  <a:pt x="38100" y="2266950"/>
                </a:lnTo>
                <a:cubicBezTo>
                  <a:pt x="17072" y="2266950"/>
                  <a:pt x="0" y="2249878"/>
                  <a:pt x="0" y="2228850"/>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45B109A8-FE14-4A61-8892-8D9E2DDF0525}"/>
              </a:ext>
            </a:extLst>
          </p:cNvPr>
          <p:cNvSpPr>
            <a:spLocks xmlns:a="http://schemas.openxmlformats.org/drawingml/2006/main" noGrp="1"/>
          </p:cNvSpPr>
          <p:nvPr/>
        </p:nvSpPr>
        <p:spPr>
          <a:xfrm xmlns:a="http://schemas.openxmlformats.org/drawingml/2006/main">
            <a:off x="400050" y="1733550"/>
            <a:ext cx="38100" cy="2266950"/>
          </a:xfrm>
          <a:custGeom xmlns:a="http://schemas.openxmlformats.org/drawingml/2006/main">
            <a:rect l="l" t="t" r="r" b="b"/>
            <a:pathLst>
              <a:path w="38100" h="2266950">
                <a:moveTo>
                  <a:pt x="38100" y="0"/>
                </a:moveTo>
                <a:lnTo>
                  <a:pt x="38100" y="0"/>
                </a:lnTo>
                <a:lnTo>
                  <a:pt x="38100" y="2266950"/>
                </a:lnTo>
                <a:lnTo>
                  <a:pt x="38100" y="2266950"/>
                </a:lnTo>
                <a:cubicBezTo>
                  <a:pt x="17072" y="2266950"/>
                  <a:pt x="0" y="2249878"/>
                  <a:pt x="0" y="2228850"/>
                </a:cubicBezTo>
                <a:lnTo>
                  <a:pt x="0" y="38100"/>
                </a:lnTo>
                <a:cubicBezTo>
                  <a:pt x="0" y="17072"/>
                  <a:pt x="17072" y="0"/>
                  <a:pt x="3810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9517B5AA-E341-410E-BB6B-75C9AF039A92}"/>
              </a:ext>
            </a:extLst>
          </p:cNvPr>
          <p:cNvSpPr>
            <a:spLocks xmlns:a="http://schemas.openxmlformats.org/drawingml/2006/main" noGrp="1"/>
          </p:cNvSpPr>
          <p:nvPr/>
        </p:nvSpPr>
        <p:spPr>
          <a:xfrm xmlns:a="http://schemas.openxmlformats.org/drawingml/2006/main">
            <a:off x="647700" y="1962150"/>
            <a:ext cx="457200" cy="457200"/>
          </a:xfrm>
          <a:custGeom xmlns:a="http://schemas.openxmlformats.org/drawingml/2006/main">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xmlns:a="http://schemas.openxmlformats.org/drawingml/2006/main">
            <a:srgbClr val="E6B450">
              <a:alpha val="20000"/>
            </a:srgbClr>
          </a:solidFill>
        </p:spPr>
      </p:sp>
      <p:sp>
        <p:nvSpPr>
          <p:cNvPr id="8" name="Text 6">
            <a:extLst xmlns:a="http://schemas.openxmlformats.org/drawingml/2006/main">
              <a:ext uri="{FF2B5EF4-FFF2-40B4-BE49-F238E27FC236}">
                <a16:creationId xmlns:a16="http://schemas.microsoft.com/office/drawing/2014/main" id="{355CB70C-03FA-41CE-BFF4-D09A7192D0A6}"/>
              </a:ext>
            </a:extLst>
          </p:cNvPr>
          <p:cNvSpPr>
            <a:spLocks xmlns:a="http://schemas.openxmlformats.org/drawingml/2006/main" noGrp="1"/>
          </p:cNvSpPr>
          <p:nvPr/>
        </p:nvSpPr>
        <p:spPr>
          <a:xfrm xmlns:a="http://schemas.openxmlformats.org/drawingml/2006/main">
            <a:off x="830461" y="2038350"/>
            <a:ext cx="20955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1</a:t>
            </a:r>
            <a:endParaRPr sz="1600"/>
          </a:p>
        </p:txBody>
      </p:sp>
      <p:sp>
        <p:nvSpPr>
          <p:cNvPr id="9" name="Text 7">
            <a:extLst xmlns:a="http://schemas.openxmlformats.org/drawingml/2006/main">
              <a:ext uri="{FF2B5EF4-FFF2-40B4-BE49-F238E27FC236}">
                <a16:creationId xmlns:a16="http://schemas.microsoft.com/office/drawing/2014/main" id="{535BB088-09CA-443C-8DDD-02FF0A070748}"/>
              </a:ext>
            </a:extLst>
          </p:cNvPr>
          <p:cNvSpPr>
            <a:spLocks xmlns:a="http://schemas.openxmlformats.org/drawingml/2006/main" noGrp="1"/>
          </p:cNvSpPr>
          <p:nvPr/>
        </p:nvSpPr>
        <p:spPr>
          <a:xfrm xmlns:a="http://schemas.openxmlformats.org/drawingml/2006/main">
            <a:off x="1257300" y="2038350"/>
            <a:ext cx="45720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时间弹性</a:t>
            </a:r>
            <a:endParaRPr sz="1600"/>
          </a:p>
        </p:txBody>
      </p:sp>
      <p:sp>
        <p:nvSpPr>
          <p:cNvPr id="10" name="Text 8">
            <a:extLst xmlns:a="http://schemas.openxmlformats.org/drawingml/2006/main">
              <a:ext uri="{FF2B5EF4-FFF2-40B4-BE49-F238E27FC236}">
                <a16:creationId xmlns:a16="http://schemas.microsoft.com/office/drawing/2014/main" id="{018BF004-A507-4AAE-97A5-BD7950E9DB86}"/>
              </a:ext>
            </a:extLst>
          </p:cNvPr>
          <p:cNvSpPr>
            <a:spLocks xmlns:a="http://schemas.openxmlformats.org/drawingml/2006/main" noGrp="1"/>
          </p:cNvSpPr>
          <p:nvPr/>
        </p:nvSpPr>
        <p:spPr>
          <a:xfrm xmlns:a="http://schemas.openxmlformats.org/drawingml/2006/main">
            <a:off x="1257300" y="2381250"/>
            <a:ext cx="4543425" cy="1390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考虑了机器人在路径规划过程中的</a:t>
            </a:r>
            <a:r>
              <a:rPr sz="1600" b="1">
                <a:latin typeface="微软雅黑"/>
                <a:ea typeface="微软雅黑"/>
                <a:cs typeface="微软雅黑"/>
              </a:rPr>
              <a:t>运动时间</a:t>
            </a:r>
            <a:r>
              <a:rPr sz="1600">
                <a:latin typeface="微软雅黑"/>
                <a:ea typeface="微软雅黑"/>
                <a:cs typeface="微软雅黑"/>
              </a:rPr>
              <a:t>，通过对路径特征进行建模，可以根据不同的速度限制和运动约束生成</a:t>
            </a:r>
            <a:r>
              <a:rPr sz="1600">
                <a:latin typeface="微软雅黑"/>
                <a:ea typeface="微软雅黑"/>
                <a:cs typeface="微软雅黑"/>
              </a:rPr>
              <a:t> </a:t>
            </a:r>
            <a:r>
              <a:rPr sz="1600">
                <a:latin typeface="微软雅黑"/>
                <a:ea typeface="微软雅黑"/>
                <a:cs typeface="微软雅黑"/>
              </a:rPr>
              <a:t>时间弹性的轨迹</a:t>
            </a:r>
            <a:r>
              <a:rPr sz="1600">
                <a:latin typeface="微软雅黑"/>
                <a:ea typeface="微软雅黑"/>
                <a:cs typeface="微软雅黑"/>
              </a:rPr>
              <a:t> 。</a:t>
            </a:r>
            <a:endParaRPr sz="2000"/>
          </a:p>
        </p:txBody>
      </p:sp>
      <p:sp>
        <p:nvSpPr>
          <p:cNvPr id="11" name="Shape 9">
            <a:extLst xmlns:a="http://schemas.openxmlformats.org/drawingml/2006/main">
              <a:ext uri="{FF2B5EF4-FFF2-40B4-BE49-F238E27FC236}">
                <a16:creationId xmlns:a16="http://schemas.microsoft.com/office/drawing/2014/main" id="{4D954656-99F1-48D6-AF2D-D4E4DF9B1791}"/>
              </a:ext>
            </a:extLst>
          </p:cNvPr>
          <p:cNvSpPr>
            <a:spLocks xmlns:a="http://schemas.openxmlformats.org/drawingml/2006/main" noGrp="1"/>
          </p:cNvSpPr>
          <p:nvPr/>
        </p:nvSpPr>
        <p:spPr>
          <a:xfrm xmlns:a="http://schemas.openxmlformats.org/drawingml/2006/main">
            <a:off x="6267450" y="1733550"/>
            <a:ext cx="5543550" cy="2266950"/>
          </a:xfrm>
          <a:custGeom xmlns:a="http://schemas.openxmlformats.org/drawingml/2006/main">
            <a:rect l="l" t="t" r="r" b="b"/>
            <a:pathLst>
              <a:path w="5543550" h="2266950">
                <a:moveTo>
                  <a:pt x="38100" y="0"/>
                </a:moveTo>
                <a:lnTo>
                  <a:pt x="5429250" y="0"/>
                </a:lnTo>
                <a:cubicBezTo>
                  <a:pt x="5492376" y="0"/>
                  <a:pt x="5543550" y="51174"/>
                  <a:pt x="5543550" y="114300"/>
                </a:cubicBezTo>
                <a:lnTo>
                  <a:pt x="5543550" y="2152650"/>
                </a:lnTo>
                <a:cubicBezTo>
                  <a:pt x="5543550" y="2215776"/>
                  <a:pt x="5492376" y="2266950"/>
                  <a:pt x="5429250" y="2266950"/>
                </a:cubicBezTo>
                <a:lnTo>
                  <a:pt x="38100" y="2266950"/>
                </a:lnTo>
                <a:cubicBezTo>
                  <a:pt x="17072" y="2266950"/>
                  <a:pt x="0" y="2249878"/>
                  <a:pt x="0" y="2228850"/>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12" name="Shape 10">
            <a:extLst xmlns:a="http://schemas.openxmlformats.org/drawingml/2006/main">
              <a:ext uri="{FF2B5EF4-FFF2-40B4-BE49-F238E27FC236}">
                <a16:creationId xmlns:a16="http://schemas.microsoft.com/office/drawing/2014/main" id="{044AA2CB-D3EA-44B1-AEBF-61F0CBE3827C}"/>
              </a:ext>
            </a:extLst>
          </p:cNvPr>
          <p:cNvSpPr>
            <a:spLocks xmlns:a="http://schemas.openxmlformats.org/drawingml/2006/main" noGrp="1"/>
          </p:cNvSpPr>
          <p:nvPr/>
        </p:nvSpPr>
        <p:spPr>
          <a:xfrm xmlns:a="http://schemas.openxmlformats.org/drawingml/2006/main">
            <a:off x="6267450" y="1733550"/>
            <a:ext cx="38100" cy="2266950"/>
          </a:xfrm>
          <a:custGeom xmlns:a="http://schemas.openxmlformats.org/drawingml/2006/main">
            <a:rect l="l" t="t" r="r" b="b"/>
            <a:pathLst>
              <a:path w="38100" h="2266950">
                <a:moveTo>
                  <a:pt x="38100" y="0"/>
                </a:moveTo>
                <a:lnTo>
                  <a:pt x="38100" y="0"/>
                </a:lnTo>
                <a:lnTo>
                  <a:pt x="38100" y="2266950"/>
                </a:lnTo>
                <a:lnTo>
                  <a:pt x="38100" y="2266950"/>
                </a:lnTo>
                <a:cubicBezTo>
                  <a:pt x="17072" y="2266950"/>
                  <a:pt x="0" y="2249878"/>
                  <a:pt x="0" y="2228850"/>
                </a:cubicBezTo>
                <a:lnTo>
                  <a:pt x="0" y="38100"/>
                </a:lnTo>
                <a:cubicBezTo>
                  <a:pt x="0" y="17072"/>
                  <a:pt x="17072" y="0"/>
                  <a:pt x="38100" y="0"/>
                </a:cubicBezTo>
                <a:close/>
              </a:path>
            </a:pathLst>
          </a:custGeom>
          <a:solidFill xmlns:a="http://schemas.openxmlformats.org/drawingml/2006/main">
            <a:srgbClr val="E6B450"/>
          </a:solidFill>
        </p:spPr>
      </p:sp>
      <p:sp>
        <p:nvSpPr>
          <p:cNvPr id="13" name="Shape 11">
            <a:extLst xmlns:a="http://schemas.openxmlformats.org/drawingml/2006/main">
              <a:ext uri="{FF2B5EF4-FFF2-40B4-BE49-F238E27FC236}">
                <a16:creationId xmlns:a16="http://schemas.microsoft.com/office/drawing/2014/main" id="{647CC205-2F69-4159-B3EB-945590C05A6C}"/>
              </a:ext>
            </a:extLst>
          </p:cNvPr>
          <p:cNvSpPr>
            <a:spLocks xmlns:a="http://schemas.openxmlformats.org/drawingml/2006/main" noGrp="1"/>
          </p:cNvSpPr>
          <p:nvPr/>
        </p:nvSpPr>
        <p:spPr>
          <a:xfrm xmlns:a="http://schemas.openxmlformats.org/drawingml/2006/main">
            <a:off x="6515100" y="1962150"/>
            <a:ext cx="457200" cy="457200"/>
          </a:xfrm>
          <a:custGeom xmlns:a="http://schemas.openxmlformats.org/drawingml/2006/main">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xmlns:a="http://schemas.openxmlformats.org/drawingml/2006/main">
            <a:srgbClr val="E6B450">
              <a:alpha val="20000"/>
            </a:srgbClr>
          </a:solidFill>
        </p:spPr>
      </p:sp>
      <p:sp>
        <p:nvSpPr>
          <p:cNvPr id="14" name="Text 12">
            <a:extLst xmlns:a="http://schemas.openxmlformats.org/drawingml/2006/main">
              <a:ext uri="{FF2B5EF4-FFF2-40B4-BE49-F238E27FC236}">
                <a16:creationId xmlns:a16="http://schemas.microsoft.com/office/drawing/2014/main" id="{290907CB-A6AF-4BC2-89AB-67496246AEC1}"/>
              </a:ext>
            </a:extLst>
          </p:cNvPr>
          <p:cNvSpPr>
            <a:spLocks xmlns:a="http://schemas.openxmlformats.org/drawingml/2006/main" noGrp="1"/>
          </p:cNvSpPr>
          <p:nvPr/>
        </p:nvSpPr>
        <p:spPr>
          <a:xfrm xmlns:a="http://schemas.openxmlformats.org/drawingml/2006/main">
            <a:off x="6677174" y="2038350"/>
            <a:ext cx="24765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2</a:t>
            </a:r>
            <a:endParaRPr sz="1600"/>
          </a:p>
        </p:txBody>
      </p:sp>
      <p:sp>
        <p:nvSpPr>
          <p:cNvPr id="15" name="Text 13">
            <a:extLst xmlns:a="http://schemas.openxmlformats.org/drawingml/2006/main">
              <a:ext uri="{FF2B5EF4-FFF2-40B4-BE49-F238E27FC236}">
                <a16:creationId xmlns:a16="http://schemas.microsoft.com/office/drawing/2014/main" id="{C0014DD9-4CA7-46A1-8513-0AB8F87F9A59}"/>
              </a:ext>
            </a:extLst>
          </p:cNvPr>
          <p:cNvSpPr>
            <a:spLocks xmlns:a="http://schemas.openxmlformats.org/drawingml/2006/main" noGrp="1"/>
          </p:cNvSpPr>
          <p:nvPr/>
        </p:nvSpPr>
        <p:spPr>
          <a:xfrm xmlns:a="http://schemas.openxmlformats.org/drawingml/2006/main">
            <a:off x="7124700" y="2038350"/>
            <a:ext cx="45720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局部优化</a:t>
            </a:r>
            <a:endParaRPr sz="1600"/>
          </a:p>
        </p:txBody>
      </p:sp>
      <p:sp>
        <p:nvSpPr>
          <p:cNvPr id="16" name="Text 14">
            <a:extLst xmlns:a="http://schemas.openxmlformats.org/drawingml/2006/main">
              <a:ext uri="{FF2B5EF4-FFF2-40B4-BE49-F238E27FC236}">
                <a16:creationId xmlns:a16="http://schemas.microsoft.com/office/drawing/2014/main" id="{C6657C3F-7286-4273-96F1-67E9A2B7B7B7}"/>
              </a:ext>
            </a:extLst>
          </p:cNvPr>
          <p:cNvSpPr>
            <a:spLocks xmlns:a="http://schemas.openxmlformats.org/drawingml/2006/main" noGrp="1"/>
          </p:cNvSpPr>
          <p:nvPr/>
        </p:nvSpPr>
        <p:spPr>
          <a:xfrm xmlns:a="http://schemas.openxmlformats.org/drawingml/2006/main">
            <a:off x="7124700" y="2381250"/>
            <a:ext cx="4543425" cy="11144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是一种</a:t>
            </a:r>
            <a:r>
              <a:rPr sz="1600" b="1">
                <a:latin typeface="微软雅黑"/>
                <a:ea typeface="微软雅黑"/>
                <a:cs typeface="微软雅黑"/>
              </a:rPr>
              <a:t>局部路径规划算法</a:t>
            </a:r>
            <a:r>
              <a:rPr sz="1600">
                <a:latin typeface="微软雅黑"/>
                <a:ea typeface="微软雅黑"/>
                <a:cs typeface="微软雅黑"/>
              </a:rPr>
              <a:t>，主要用于解决机器人在具体环境中的</a:t>
            </a:r>
            <a:r>
              <a:rPr sz="1600">
                <a:highlight>
                  <a:srgbClr val="E6B450">
                    <a:alpha val="20000"/>
                  </a:srgbClr>
                </a:highlight>
                <a:latin typeface="微软雅黑"/>
                <a:ea typeface="微软雅黑"/>
                <a:cs typeface="微软雅黑"/>
              </a:rPr>
              <a:t> </a:t>
            </a:r>
            <a:r>
              <a:rPr sz="1600">
                <a:highlight>
                  <a:srgbClr val="E6B450">
                    <a:alpha val="20000"/>
                  </a:srgbClr>
                </a:highlight>
                <a:latin typeface="微软雅黑"/>
                <a:ea typeface="微软雅黑"/>
                <a:cs typeface="微软雅黑"/>
              </a:rPr>
              <a:t>实时路径规划问题</a:t>
            </a:r>
            <a:r>
              <a:rPr sz="1600">
                <a:highlight>
                  <a:srgbClr val="E6B450">
                    <a:alpha val="20000"/>
                  </a:srgbClr>
                </a:highlight>
                <a:latin typeface="微软雅黑"/>
                <a:ea typeface="微软雅黑"/>
                <a:cs typeface="微软雅黑"/>
              </a:rPr>
              <a:t> </a:t>
            </a:r>
            <a:r>
              <a:rPr sz="1600">
                <a:latin typeface="微软雅黑"/>
                <a:ea typeface="微软雅黑"/>
                <a:cs typeface="微软雅黑"/>
              </a:rPr>
              <a:t>。</a:t>
            </a:r>
            <a:endParaRPr sz="2000"/>
          </a:p>
        </p:txBody>
      </p:sp>
      <p:sp>
        <p:nvSpPr>
          <p:cNvPr id="17" name="Shape 15">
            <a:extLst xmlns:a="http://schemas.openxmlformats.org/drawingml/2006/main">
              <a:ext uri="{FF2B5EF4-FFF2-40B4-BE49-F238E27FC236}">
                <a16:creationId xmlns:a16="http://schemas.microsoft.com/office/drawing/2014/main" id="{FE6A7B76-74D1-4B13-BAA6-C8C963BD4132}"/>
              </a:ext>
            </a:extLst>
          </p:cNvPr>
          <p:cNvSpPr>
            <a:spLocks xmlns:a="http://schemas.openxmlformats.org/drawingml/2006/main" noGrp="1"/>
          </p:cNvSpPr>
          <p:nvPr/>
        </p:nvSpPr>
        <p:spPr>
          <a:xfrm xmlns:a="http://schemas.openxmlformats.org/drawingml/2006/main">
            <a:off x="400050" y="4307681"/>
            <a:ext cx="5543550" cy="1990725"/>
          </a:xfrm>
          <a:custGeom xmlns:a="http://schemas.openxmlformats.org/drawingml/2006/main">
            <a:rect l="l" t="t" r="r" b="b"/>
            <a:pathLst>
              <a:path w="5543550" h="1990725">
                <a:moveTo>
                  <a:pt x="38100" y="0"/>
                </a:moveTo>
                <a:lnTo>
                  <a:pt x="5429243" y="0"/>
                </a:lnTo>
                <a:cubicBezTo>
                  <a:pt x="5492373" y="0"/>
                  <a:pt x="5543550" y="51177"/>
                  <a:pt x="5543550" y="114307"/>
                </a:cubicBezTo>
                <a:lnTo>
                  <a:pt x="5543550" y="1876418"/>
                </a:lnTo>
                <a:cubicBezTo>
                  <a:pt x="5543550" y="1939548"/>
                  <a:pt x="5492373" y="1990725"/>
                  <a:pt x="5429243" y="1990725"/>
                </a:cubicBezTo>
                <a:lnTo>
                  <a:pt x="38100" y="1990725"/>
                </a:lnTo>
                <a:cubicBezTo>
                  <a:pt x="17072" y="1990725"/>
                  <a:pt x="0" y="1973653"/>
                  <a:pt x="0" y="19526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18" name="Shape 16">
            <a:extLst xmlns:a="http://schemas.openxmlformats.org/drawingml/2006/main">
              <a:ext uri="{FF2B5EF4-FFF2-40B4-BE49-F238E27FC236}">
                <a16:creationId xmlns:a16="http://schemas.microsoft.com/office/drawing/2014/main" id="{24C52020-3506-47AF-810C-9B159E0BACA8}"/>
              </a:ext>
            </a:extLst>
          </p:cNvPr>
          <p:cNvSpPr>
            <a:spLocks xmlns:a="http://schemas.openxmlformats.org/drawingml/2006/main" noGrp="1"/>
          </p:cNvSpPr>
          <p:nvPr/>
        </p:nvSpPr>
        <p:spPr>
          <a:xfrm xmlns:a="http://schemas.openxmlformats.org/drawingml/2006/main">
            <a:off x="400050" y="4307681"/>
            <a:ext cx="38100" cy="1990725"/>
          </a:xfrm>
          <a:custGeom xmlns:a="http://schemas.openxmlformats.org/drawingml/2006/main">
            <a:rect l="l" t="t" r="r" b="b"/>
            <a:pathLst>
              <a:path w="38100" h="1990725">
                <a:moveTo>
                  <a:pt x="38100" y="0"/>
                </a:moveTo>
                <a:lnTo>
                  <a:pt x="38100" y="0"/>
                </a:lnTo>
                <a:lnTo>
                  <a:pt x="38100" y="1990725"/>
                </a:lnTo>
                <a:lnTo>
                  <a:pt x="38100" y="1990725"/>
                </a:lnTo>
                <a:cubicBezTo>
                  <a:pt x="17072" y="1990725"/>
                  <a:pt x="0" y="1973653"/>
                  <a:pt x="0" y="1952625"/>
                </a:cubicBezTo>
                <a:lnTo>
                  <a:pt x="0" y="38100"/>
                </a:lnTo>
                <a:cubicBezTo>
                  <a:pt x="0" y="17072"/>
                  <a:pt x="17072" y="0"/>
                  <a:pt x="38100" y="0"/>
                </a:cubicBezTo>
                <a:close/>
              </a:path>
            </a:pathLst>
          </a:custGeom>
          <a:solidFill xmlns:a="http://schemas.openxmlformats.org/drawingml/2006/main">
            <a:srgbClr val="E6B450"/>
          </a:solidFill>
        </p:spPr>
      </p:sp>
      <p:sp>
        <p:nvSpPr>
          <p:cNvPr id="19" name="Shape 17">
            <a:extLst xmlns:a="http://schemas.openxmlformats.org/drawingml/2006/main">
              <a:ext uri="{FF2B5EF4-FFF2-40B4-BE49-F238E27FC236}">
                <a16:creationId xmlns:a16="http://schemas.microsoft.com/office/drawing/2014/main" id="{51CB6789-D037-462E-8E9F-B79EA8CECF63}"/>
              </a:ext>
            </a:extLst>
          </p:cNvPr>
          <p:cNvSpPr>
            <a:spLocks xmlns:a="http://schemas.openxmlformats.org/drawingml/2006/main" noGrp="1"/>
          </p:cNvSpPr>
          <p:nvPr/>
        </p:nvSpPr>
        <p:spPr>
          <a:xfrm xmlns:a="http://schemas.openxmlformats.org/drawingml/2006/main">
            <a:off x="647700" y="4536281"/>
            <a:ext cx="457200" cy="457200"/>
          </a:xfrm>
          <a:custGeom xmlns:a="http://schemas.openxmlformats.org/drawingml/2006/main">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xmlns:a="http://schemas.openxmlformats.org/drawingml/2006/main">
            <a:srgbClr val="E6B450">
              <a:alpha val="20000"/>
            </a:srgbClr>
          </a:solidFill>
        </p:spPr>
      </p:sp>
      <p:sp>
        <p:nvSpPr>
          <p:cNvPr id="20" name="Text 18">
            <a:extLst xmlns:a="http://schemas.openxmlformats.org/drawingml/2006/main">
              <a:ext uri="{FF2B5EF4-FFF2-40B4-BE49-F238E27FC236}">
                <a16:creationId xmlns:a16="http://schemas.microsoft.com/office/drawing/2014/main" id="{59ED461A-820F-49F0-B6CE-CD4A13144CF6}"/>
              </a:ext>
            </a:extLst>
          </p:cNvPr>
          <p:cNvSpPr>
            <a:spLocks xmlns:a="http://schemas.openxmlformats.org/drawingml/2006/main" noGrp="1"/>
          </p:cNvSpPr>
          <p:nvPr/>
        </p:nvSpPr>
        <p:spPr>
          <a:xfrm xmlns:a="http://schemas.openxmlformats.org/drawingml/2006/main">
            <a:off x="808732" y="4612481"/>
            <a:ext cx="24765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3</a:t>
            </a:r>
            <a:endParaRPr sz="1600"/>
          </a:p>
        </p:txBody>
      </p:sp>
      <p:sp>
        <p:nvSpPr>
          <p:cNvPr id="21" name="Text 19">
            <a:extLst xmlns:a="http://schemas.openxmlformats.org/drawingml/2006/main">
              <a:ext uri="{FF2B5EF4-FFF2-40B4-BE49-F238E27FC236}">
                <a16:creationId xmlns:a16="http://schemas.microsoft.com/office/drawing/2014/main" id="{53E9A640-6521-47F5-B184-48916F96FEF2}"/>
              </a:ext>
            </a:extLst>
          </p:cNvPr>
          <p:cNvSpPr>
            <a:spLocks xmlns:a="http://schemas.openxmlformats.org/drawingml/2006/main" noGrp="1"/>
          </p:cNvSpPr>
          <p:nvPr/>
        </p:nvSpPr>
        <p:spPr>
          <a:xfrm xmlns:a="http://schemas.openxmlformats.org/drawingml/2006/main">
            <a:off x="1257300" y="4612481"/>
            <a:ext cx="45720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多目标支持</a:t>
            </a:r>
            <a:endParaRPr sz="1600"/>
          </a:p>
        </p:txBody>
      </p:sp>
      <p:sp>
        <p:nvSpPr>
          <p:cNvPr id="22" name="Text 20">
            <a:extLst xmlns:a="http://schemas.openxmlformats.org/drawingml/2006/main">
              <a:ext uri="{FF2B5EF4-FFF2-40B4-BE49-F238E27FC236}">
                <a16:creationId xmlns:a16="http://schemas.microsoft.com/office/drawing/2014/main" id="{AC1FC9F3-D961-4E2C-8291-53428A97F989}"/>
              </a:ext>
            </a:extLst>
          </p:cNvPr>
          <p:cNvSpPr>
            <a:spLocks xmlns:a="http://schemas.openxmlformats.org/drawingml/2006/main" noGrp="1"/>
          </p:cNvSpPr>
          <p:nvPr/>
        </p:nvSpPr>
        <p:spPr>
          <a:xfrm xmlns:a="http://schemas.openxmlformats.org/drawingml/2006/main">
            <a:off x="1257300" y="4955381"/>
            <a:ext cx="4543425" cy="11144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能够有效处理机器人面临的</a:t>
            </a:r>
            <a:r>
              <a:rPr sz="1600" b="1">
                <a:latin typeface="微软雅黑"/>
                <a:ea typeface="微软雅黑"/>
                <a:cs typeface="微软雅黑"/>
              </a:rPr>
              <a:t>多个目标点</a:t>
            </a:r>
            <a:r>
              <a:rPr sz="1600">
                <a:latin typeface="微软雅黑"/>
                <a:ea typeface="微软雅黑"/>
                <a:cs typeface="微软雅黑"/>
              </a:rPr>
              <a:t>或轨迹约束。通过灵活的轨迹生成和优化策略，可以在考虑多个目标的情况下生成最优的运动轨迹</a:t>
            </a:r>
            <a:r>
              <a:rPr sz="1600">
                <a:latin typeface="微软雅黑"/>
                <a:ea typeface="微软雅黑"/>
                <a:cs typeface="微软雅黑"/>
              </a:rPr>
              <a:t>。</a:t>
            </a:r>
            <a:endParaRPr sz="2000"/>
          </a:p>
        </p:txBody>
      </p:sp>
      <p:sp>
        <p:nvSpPr>
          <p:cNvPr id="23" name="Shape 21">
            <a:extLst xmlns:a="http://schemas.openxmlformats.org/drawingml/2006/main">
              <a:ext uri="{FF2B5EF4-FFF2-40B4-BE49-F238E27FC236}">
                <a16:creationId xmlns:a16="http://schemas.microsoft.com/office/drawing/2014/main" id="{978E3FA0-B53C-4177-AABC-475AA8A03BD7}"/>
              </a:ext>
            </a:extLst>
          </p:cNvPr>
          <p:cNvSpPr>
            <a:spLocks xmlns:a="http://schemas.openxmlformats.org/drawingml/2006/main" noGrp="1"/>
          </p:cNvSpPr>
          <p:nvPr/>
        </p:nvSpPr>
        <p:spPr>
          <a:xfrm xmlns:a="http://schemas.openxmlformats.org/drawingml/2006/main">
            <a:off x="6267450" y="4307681"/>
            <a:ext cx="5543550" cy="1990725"/>
          </a:xfrm>
          <a:custGeom xmlns:a="http://schemas.openxmlformats.org/drawingml/2006/main">
            <a:rect l="l" t="t" r="r" b="b"/>
            <a:pathLst>
              <a:path w="5543550" h="1990725">
                <a:moveTo>
                  <a:pt x="38100" y="0"/>
                </a:moveTo>
                <a:lnTo>
                  <a:pt x="5429243" y="0"/>
                </a:lnTo>
                <a:cubicBezTo>
                  <a:pt x="5492373" y="0"/>
                  <a:pt x="5543550" y="51177"/>
                  <a:pt x="5543550" y="114307"/>
                </a:cubicBezTo>
                <a:lnTo>
                  <a:pt x="5543550" y="1876418"/>
                </a:lnTo>
                <a:cubicBezTo>
                  <a:pt x="5543550" y="1939548"/>
                  <a:pt x="5492373" y="1990725"/>
                  <a:pt x="5429243" y="1990725"/>
                </a:cubicBezTo>
                <a:lnTo>
                  <a:pt x="38100" y="1990725"/>
                </a:lnTo>
                <a:cubicBezTo>
                  <a:pt x="17072" y="1990725"/>
                  <a:pt x="0" y="1973653"/>
                  <a:pt x="0" y="19526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24" name="Shape 22">
            <a:extLst xmlns:a="http://schemas.openxmlformats.org/drawingml/2006/main">
              <a:ext uri="{FF2B5EF4-FFF2-40B4-BE49-F238E27FC236}">
                <a16:creationId xmlns:a16="http://schemas.microsoft.com/office/drawing/2014/main" id="{9A9C096A-33F6-4A06-8303-8EDDDC4B95B6}"/>
              </a:ext>
            </a:extLst>
          </p:cNvPr>
          <p:cNvSpPr>
            <a:spLocks xmlns:a="http://schemas.openxmlformats.org/drawingml/2006/main" noGrp="1"/>
          </p:cNvSpPr>
          <p:nvPr/>
        </p:nvSpPr>
        <p:spPr>
          <a:xfrm xmlns:a="http://schemas.openxmlformats.org/drawingml/2006/main">
            <a:off x="6267450" y="4307681"/>
            <a:ext cx="38100" cy="1990725"/>
          </a:xfrm>
          <a:custGeom xmlns:a="http://schemas.openxmlformats.org/drawingml/2006/main">
            <a:rect l="l" t="t" r="r" b="b"/>
            <a:pathLst>
              <a:path w="38100" h="1990725">
                <a:moveTo>
                  <a:pt x="38100" y="0"/>
                </a:moveTo>
                <a:lnTo>
                  <a:pt x="38100" y="0"/>
                </a:lnTo>
                <a:lnTo>
                  <a:pt x="38100" y="1990725"/>
                </a:lnTo>
                <a:lnTo>
                  <a:pt x="38100" y="1990725"/>
                </a:lnTo>
                <a:cubicBezTo>
                  <a:pt x="17072" y="1990725"/>
                  <a:pt x="0" y="1973653"/>
                  <a:pt x="0" y="1952625"/>
                </a:cubicBezTo>
                <a:lnTo>
                  <a:pt x="0" y="38100"/>
                </a:lnTo>
                <a:cubicBezTo>
                  <a:pt x="0" y="17072"/>
                  <a:pt x="17072" y="0"/>
                  <a:pt x="38100" y="0"/>
                </a:cubicBezTo>
                <a:close/>
              </a:path>
            </a:pathLst>
          </a:custGeom>
          <a:solidFill xmlns:a="http://schemas.openxmlformats.org/drawingml/2006/main">
            <a:srgbClr val="E6B450"/>
          </a:solidFill>
        </p:spPr>
      </p:sp>
      <p:sp>
        <p:nvSpPr>
          <p:cNvPr id="25" name="Shape 23">
            <a:extLst xmlns:a="http://schemas.openxmlformats.org/drawingml/2006/main">
              <a:ext uri="{FF2B5EF4-FFF2-40B4-BE49-F238E27FC236}">
                <a16:creationId xmlns:a16="http://schemas.microsoft.com/office/drawing/2014/main" id="{7DB49F76-BA46-4111-BE5C-73D83EDF4406}"/>
              </a:ext>
            </a:extLst>
          </p:cNvPr>
          <p:cNvSpPr>
            <a:spLocks xmlns:a="http://schemas.openxmlformats.org/drawingml/2006/main" noGrp="1"/>
          </p:cNvSpPr>
          <p:nvPr/>
        </p:nvSpPr>
        <p:spPr>
          <a:xfrm xmlns:a="http://schemas.openxmlformats.org/drawingml/2006/main">
            <a:off x="6515100" y="4536281"/>
            <a:ext cx="457200" cy="457200"/>
          </a:xfrm>
          <a:custGeom xmlns:a="http://schemas.openxmlformats.org/drawingml/2006/main">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xmlns:a="http://schemas.openxmlformats.org/drawingml/2006/main">
            <a:srgbClr val="E6B450">
              <a:alpha val="20000"/>
            </a:srgbClr>
          </a:solidFill>
        </p:spPr>
      </p:sp>
      <p:sp>
        <p:nvSpPr>
          <p:cNvPr id="26" name="Text 24">
            <a:extLst xmlns:a="http://schemas.openxmlformats.org/drawingml/2006/main">
              <a:ext uri="{FF2B5EF4-FFF2-40B4-BE49-F238E27FC236}">
                <a16:creationId xmlns:a16="http://schemas.microsoft.com/office/drawing/2014/main" id="{752F1D7C-2F59-4FAC-B02D-58B014E954CE}"/>
              </a:ext>
            </a:extLst>
          </p:cNvPr>
          <p:cNvSpPr>
            <a:spLocks xmlns:a="http://schemas.openxmlformats.org/drawingml/2006/main" noGrp="1"/>
          </p:cNvSpPr>
          <p:nvPr/>
        </p:nvSpPr>
        <p:spPr>
          <a:xfrm xmlns:a="http://schemas.openxmlformats.org/drawingml/2006/main">
            <a:off x="6676281" y="4612481"/>
            <a:ext cx="24765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4</a:t>
            </a:r>
            <a:endParaRPr sz="1600"/>
          </a:p>
        </p:txBody>
      </p:sp>
      <p:sp>
        <p:nvSpPr>
          <p:cNvPr id="27" name="Text 25">
            <a:extLst xmlns:a="http://schemas.openxmlformats.org/drawingml/2006/main">
              <a:ext uri="{FF2B5EF4-FFF2-40B4-BE49-F238E27FC236}">
                <a16:creationId xmlns:a16="http://schemas.microsoft.com/office/drawing/2014/main" id="{DA175775-9A24-43F3-8EBD-9C9899AA0801}"/>
              </a:ext>
            </a:extLst>
          </p:cNvPr>
          <p:cNvSpPr>
            <a:spLocks xmlns:a="http://schemas.openxmlformats.org/drawingml/2006/main" noGrp="1"/>
          </p:cNvSpPr>
          <p:nvPr/>
        </p:nvSpPr>
        <p:spPr>
          <a:xfrm xmlns:a="http://schemas.openxmlformats.org/drawingml/2006/main">
            <a:off x="7124700" y="4612481"/>
            <a:ext cx="45720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高效性</a:t>
            </a:r>
            <a:endParaRPr sz="1600"/>
          </a:p>
        </p:txBody>
      </p:sp>
      <p:sp>
        <p:nvSpPr>
          <p:cNvPr id="28" name="Text 26">
            <a:extLst xmlns:a="http://schemas.openxmlformats.org/drawingml/2006/main">
              <a:ext uri="{FF2B5EF4-FFF2-40B4-BE49-F238E27FC236}">
                <a16:creationId xmlns:a16="http://schemas.microsoft.com/office/drawing/2014/main" id="{385E1463-BE2F-48CD-A25B-A9BEDCBC62AC}"/>
              </a:ext>
            </a:extLst>
          </p:cNvPr>
          <p:cNvSpPr>
            <a:spLocks xmlns:a="http://schemas.openxmlformats.org/drawingml/2006/main" noGrp="1"/>
          </p:cNvSpPr>
          <p:nvPr/>
        </p:nvSpPr>
        <p:spPr>
          <a:xfrm xmlns:a="http://schemas.openxmlformats.org/drawingml/2006/main">
            <a:off x="7124700" y="4955381"/>
            <a:ext cx="4543425" cy="11144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通过合理的优化策略和启发式方法，在保证路径质量的同时，能够实现较高的计算效率</a:t>
            </a:r>
            <a:r>
              <a:rPr sz="1600">
                <a:latin typeface="微软雅黑"/>
                <a:ea typeface="微软雅黑"/>
                <a:cs typeface="微软雅黑"/>
              </a:rPr>
              <a:t>。</a:t>
            </a:r>
            <a:endParaRPr sz="2000"/>
          </a:p>
        </p:txBody>
      </p:sp>
      <p:sp>
        <p:nvSpPr>
          <p:cNvPr id="30" name="矩形 29">
            <a:extLst xmlns:a="http://schemas.openxmlformats.org/drawingml/2006/main">
              <a:ext uri="{FF2B5EF4-FFF2-40B4-BE49-F238E27FC236}">
                <a16:creationId xmlns:a16="http://schemas.microsoft.com/office/drawing/2014/main" id="{70E94061-9449-AB0F-566F-397C4B880A8A}"/>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文本框 30">
            <a:extLst xmlns:a="http://schemas.openxmlformats.org/drawingml/2006/main">
              <a:ext uri="{FF2B5EF4-FFF2-40B4-BE49-F238E27FC236}">
                <a16:creationId xmlns:a16="http://schemas.microsoft.com/office/drawing/2014/main" id="{5EE46E4D-767A-C65E-F0EF-337A3C36BE9A}"/>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spTree>
    <p:extLst>
      <p:ext uri="{BB962C8B-B14F-4D97-AF65-F5344CB8AC3E}">
        <p14:creationId xmlns:p14="http://schemas.microsoft.com/office/powerpoint/2010/main" val="785800769"/>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36F8D679-5A7F-4D4F-89E4-2A4AA98A09F8}"/>
              </a:ext>
            </a:extLst>
          </p:cNvPr>
          <p:cNvSpPr>
            <a:spLocks xmlns:a="http://schemas.openxmlformats.org/drawingml/2006/main" noGrp="1"/>
          </p:cNvSpPr>
          <p:nvPr/>
        </p:nvSpPr>
        <p:spPr>
          <a:xfrm xmlns:a="http://schemas.openxmlformats.org/drawingml/2006/main">
            <a:off x="333375" y="1777134"/>
            <a:ext cx="8239125" cy="1801813"/>
          </a:xfrm>
          <a:custGeom xmlns:a="http://schemas.openxmlformats.org/drawingml/2006/main">
            <a:rect l="l" t="t" r="r" b="b"/>
            <a:pathLst>
              <a:path w="8239125" h="1801813">
                <a:moveTo>
                  <a:pt x="31750" y="0"/>
                </a:moveTo>
                <a:lnTo>
                  <a:pt x="8143881" y="0"/>
                </a:lnTo>
                <a:cubicBezTo>
                  <a:pt x="8196483" y="0"/>
                  <a:pt x="8239125" y="42642"/>
                  <a:pt x="8239125" y="95244"/>
                </a:cubicBezTo>
                <a:lnTo>
                  <a:pt x="8239125" y="1706569"/>
                </a:lnTo>
                <a:cubicBezTo>
                  <a:pt x="8239125" y="1759170"/>
                  <a:pt x="8196483" y="1801813"/>
                  <a:pt x="8143881" y="1801813"/>
                </a:cubicBezTo>
                <a:lnTo>
                  <a:pt x="31750" y="1801813"/>
                </a:lnTo>
                <a:cubicBezTo>
                  <a:pt x="14215" y="1801813"/>
                  <a:pt x="0" y="1787598"/>
                  <a:pt x="0" y="1770063"/>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04406C4E-91EC-4BA0-A5BC-EA802979E03D}"/>
              </a:ext>
            </a:extLst>
          </p:cNvPr>
          <p:cNvSpPr>
            <a:spLocks xmlns:a="http://schemas.openxmlformats.org/drawingml/2006/main" noGrp="1"/>
          </p:cNvSpPr>
          <p:nvPr/>
        </p:nvSpPr>
        <p:spPr>
          <a:xfrm xmlns:a="http://schemas.openxmlformats.org/drawingml/2006/main">
            <a:off x="333375" y="1777134"/>
            <a:ext cx="31750" cy="1801813"/>
          </a:xfrm>
          <a:custGeom xmlns:a="http://schemas.openxmlformats.org/drawingml/2006/main">
            <a:rect l="l" t="t" r="r" b="b"/>
            <a:pathLst>
              <a:path w="31750" h="1801813">
                <a:moveTo>
                  <a:pt x="31750" y="0"/>
                </a:moveTo>
                <a:lnTo>
                  <a:pt x="31750" y="0"/>
                </a:lnTo>
                <a:lnTo>
                  <a:pt x="31750" y="1801813"/>
                </a:lnTo>
                <a:lnTo>
                  <a:pt x="31750" y="1801813"/>
                </a:lnTo>
                <a:cubicBezTo>
                  <a:pt x="14227" y="1801813"/>
                  <a:pt x="0" y="1787586"/>
                  <a:pt x="0" y="1770063"/>
                </a:cubicBezTo>
                <a:lnTo>
                  <a:pt x="0" y="31750"/>
                </a:lnTo>
                <a:cubicBezTo>
                  <a:pt x="0" y="14227"/>
                  <a:pt x="14227" y="0"/>
                  <a:pt x="3175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4EE75001-A48E-46D4-A7E1-6244D027BD93}"/>
              </a:ext>
            </a:extLst>
          </p:cNvPr>
          <p:cNvSpPr>
            <a:spLocks xmlns:a="http://schemas.openxmlformats.org/drawingml/2006/main" noGrp="1"/>
          </p:cNvSpPr>
          <p:nvPr/>
        </p:nvSpPr>
        <p:spPr>
          <a:xfrm xmlns:a="http://schemas.openxmlformats.org/drawingml/2006/main">
            <a:off x="563563" y="1999384"/>
            <a:ext cx="190500" cy="190500"/>
          </a:xfrm>
          <a:custGeom xmlns:a="http://schemas.openxmlformats.org/drawingml/2006/main">
            <a:rect l="l" t="t" r="r" b="b"/>
            <a:pathLst>
              <a:path w="190500" h="190500">
                <a:moveTo>
                  <a:pt x="11906" y="23812"/>
                </a:moveTo>
                <a:cubicBezTo>
                  <a:pt x="5321" y="23812"/>
                  <a:pt x="0" y="29133"/>
                  <a:pt x="0" y="35719"/>
                </a:cubicBezTo>
                <a:cubicBezTo>
                  <a:pt x="0" y="42304"/>
                  <a:pt x="5321" y="47625"/>
                  <a:pt x="11906" y="47625"/>
                </a:cubicBezTo>
                <a:lnTo>
                  <a:pt x="44165" y="47625"/>
                </a:lnTo>
                <a:cubicBezTo>
                  <a:pt x="48741" y="58155"/>
                  <a:pt x="59234" y="65484"/>
                  <a:pt x="71438" y="65484"/>
                </a:cubicBezTo>
                <a:cubicBezTo>
                  <a:pt x="83641" y="65484"/>
                  <a:pt x="94134" y="58155"/>
                  <a:pt x="98710" y="47625"/>
                </a:cubicBezTo>
                <a:lnTo>
                  <a:pt x="178594" y="47625"/>
                </a:lnTo>
                <a:cubicBezTo>
                  <a:pt x="185179" y="47625"/>
                  <a:pt x="190500" y="42304"/>
                  <a:pt x="190500" y="35719"/>
                </a:cubicBezTo>
                <a:cubicBezTo>
                  <a:pt x="190500" y="29133"/>
                  <a:pt x="185179" y="23812"/>
                  <a:pt x="178594" y="23812"/>
                </a:cubicBezTo>
                <a:lnTo>
                  <a:pt x="98710" y="23812"/>
                </a:lnTo>
                <a:cubicBezTo>
                  <a:pt x="94134" y="13283"/>
                  <a:pt x="83641" y="5953"/>
                  <a:pt x="71438" y="5953"/>
                </a:cubicBezTo>
                <a:cubicBezTo>
                  <a:pt x="59234" y="5953"/>
                  <a:pt x="48741" y="13283"/>
                  <a:pt x="44165" y="23812"/>
                </a:cubicBezTo>
                <a:lnTo>
                  <a:pt x="11906" y="23812"/>
                </a:lnTo>
                <a:close/>
                <a:moveTo>
                  <a:pt x="11906" y="83344"/>
                </a:moveTo>
                <a:cubicBezTo>
                  <a:pt x="5321" y="83344"/>
                  <a:pt x="0" y="88664"/>
                  <a:pt x="0" y="95250"/>
                </a:cubicBezTo>
                <a:cubicBezTo>
                  <a:pt x="0" y="101836"/>
                  <a:pt x="5321" y="107156"/>
                  <a:pt x="11906" y="107156"/>
                </a:cubicBezTo>
                <a:lnTo>
                  <a:pt x="103696" y="107156"/>
                </a:lnTo>
                <a:cubicBezTo>
                  <a:pt x="108272" y="117686"/>
                  <a:pt x="118765" y="125016"/>
                  <a:pt x="130969" y="125016"/>
                </a:cubicBezTo>
                <a:cubicBezTo>
                  <a:pt x="143173" y="125016"/>
                  <a:pt x="153665" y="117686"/>
                  <a:pt x="158242" y="107156"/>
                </a:cubicBezTo>
                <a:lnTo>
                  <a:pt x="178594" y="107156"/>
                </a:lnTo>
                <a:cubicBezTo>
                  <a:pt x="185179" y="107156"/>
                  <a:pt x="190500" y="101836"/>
                  <a:pt x="190500" y="95250"/>
                </a:cubicBezTo>
                <a:cubicBezTo>
                  <a:pt x="190500" y="88664"/>
                  <a:pt x="185179" y="83344"/>
                  <a:pt x="178594" y="83344"/>
                </a:cubicBezTo>
                <a:lnTo>
                  <a:pt x="158242" y="83344"/>
                </a:lnTo>
                <a:cubicBezTo>
                  <a:pt x="153665" y="72814"/>
                  <a:pt x="143173" y="65484"/>
                  <a:pt x="130969" y="65484"/>
                </a:cubicBezTo>
                <a:cubicBezTo>
                  <a:pt x="118765" y="65484"/>
                  <a:pt x="108272" y="72814"/>
                  <a:pt x="103696" y="83344"/>
                </a:cubicBezTo>
                <a:lnTo>
                  <a:pt x="11906" y="83344"/>
                </a:lnTo>
                <a:close/>
                <a:moveTo>
                  <a:pt x="11906" y="142875"/>
                </a:moveTo>
                <a:cubicBezTo>
                  <a:pt x="5321" y="142875"/>
                  <a:pt x="0" y="148196"/>
                  <a:pt x="0" y="154781"/>
                </a:cubicBezTo>
                <a:cubicBezTo>
                  <a:pt x="0" y="161367"/>
                  <a:pt x="5321" y="166688"/>
                  <a:pt x="11906" y="166688"/>
                </a:cubicBezTo>
                <a:lnTo>
                  <a:pt x="32258" y="166688"/>
                </a:lnTo>
                <a:cubicBezTo>
                  <a:pt x="36835" y="177217"/>
                  <a:pt x="47327" y="184547"/>
                  <a:pt x="59531" y="184547"/>
                </a:cubicBezTo>
                <a:cubicBezTo>
                  <a:pt x="71735" y="184547"/>
                  <a:pt x="82228" y="177217"/>
                  <a:pt x="86804" y="166688"/>
                </a:cubicBezTo>
                <a:lnTo>
                  <a:pt x="178594" y="166688"/>
                </a:lnTo>
                <a:cubicBezTo>
                  <a:pt x="185179" y="166688"/>
                  <a:pt x="190500" y="161367"/>
                  <a:pt x="190500" y="154781"/>
                </a:cubicBezTo>
                <a:cubicBezTo>
                  <a:pt x="190500" y="148196"/>
                  <a:pt x="185179" y="142875"/>
                  <a:pt x="178594" y="142875"/>
                </a:cubicBezTo>
                <a:lnTo>
                  <a:pt x="86804" y="142875"/>
                </a:lnTo>
                <a:cubicBezTo>
                  <a:pt x="82228" y="132345"/>
                  <a:pt x="71735" y="125016"/>
                  <a:pt x="59531" y="125016"/>
                </a:cubicBezTo>
                <a:cubicBezTo>
                  <a:pt x="47327" y="125016"/>
                  <a:pt x="36835" y="132345"/>
                  <a:pt x="32258" y="142875"/>
                </a:cubicBezTo>
                <a:lnTo>
                  <a:pt x="11906" y="142875"/>
                </a:ln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F9B79F3B-33BB-483A-9AFC-E3888136A199}"/>
              </a:ext>
            </a:extLst>
          </p:cNvPr>
          <p:cNvSpPr>
            <a:spLocks xmlns:a="http://schemas.openxmlformats.org/drawingml/2006/main" noGrp="1"/>
          </p:cNvSpPr>
          <p:nvPr/>
        </p:nvSpPr>
        <p:spPr>
          <a:xfrm xmlns:a="http://schemas.openxmlformats.org/drawingml/2006/main">
            <a:off x="904875" y="1967634"/>
            <a:ext cx="2111375"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TEB算法参数</a:t>
            </a:r>
            <a:endParaRPr sz="2000"/>
          </a:p>
        </p:txBody>
      </p:sp>
      <p:sp>
        <p:nvSpPr>
          <p:cNvPr id="9" name="Text 7">
            <a:extLst xmlns:a="http://schemas.openxmlformats.org/drawingml/2006/main">
              <a:ext uri="{FF2B5EF4-FFF2-40B4-BE49-F238E27FC236}">
                <a16:creationId xmlns:a16="http://schemas.microsoft.com/office/drawing/2014/main" id="{B096D0FB-A414-4BA0-B7C6-D0EC3DCA7A0F}"/>
              </a:ext>
            </a:extLst>
          </p:cNvPr>
          <p:cNvSpPr>
            <a:spLocks xmlns:a="http://schemas.openxmlformats.org/drawingml/2006/main" noGrp="1"/>
          </p:cNvSpPr>
          <p:nvPr/>
        </p:nvSpPr>
        <p:spPr>
          <a:xfrm xmlns:a="http://schemas.openxmlformats.org/drawingml/2006/main">
            <a:off x="904875" y="2316884"/>
            <a:ext cx="3245485" cy="2301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TEB算法的参数/决定因素为：</a:t>
            </a:r>
            <a:endParaRPr sz="2400"/>
          </a:p>
        </p:txBody>
      </p:sp>
      <p:sp>
        <p:nvSpPr>
          <p:cNvPr id="10" name="Shape 8">
            <a:extLst xmlns:a="http://schemas.openxmlformats.org/drawingml/2006/main">
              <a:ext uri="{FF2B5EF4-FFF2-40B4-BE49-F238E27FC236}">
                <a16:creationId xmlns:a16="http://schemas.microsoft.com/office/drawing/2014/main" id="{96BF8685-BBEE-48FE-8CD7-4F423CD04FF4}"/>
              </a:ext>
            </a:extLst>
          </p:cNvPr>
          <p:cNvSpPr>
            <a:spLocks xmlns:a="http://schemas.openxmlformats.org/drawingml/2006/main" noGrp="1"/>
          </p:cNvSpPr>
          <p:nvPr/>
        </p:nvSpPr>
        <p:spPr>
          <a:xfrm xmlns:a="http://schemas.openxmlformats.org/drawingml/2006/main">
            <a:off x="908844" y="2648275"/>
            <a:ext cx="3708876" cy="738188"/>
          </a:xfrm>
          <a:custGeom xmlns:a="http://schemas.openxmlformats.org/drawingml/2006/main">
            <a:rect l="l" t="t" r="r" b="b"/>
            <a:pathLst>
              <a:path w="2008187" h="738188">
                <a:moveTo>
                  <a:pt x="63499" y="0"/>
                </a:moveTo>
                <a:lnTo>
                  <a:pt x="1944689" y="0"/>
                </a:lnTo>
                <a:cubicBezTo>
                  <a:pt x="1979758" y="0"/>
                  <a:pt x="2008187" y="28429"/>
                  <a:pt x="2008187" y="63499"/>
                </a:cubicBezTo>
                <a:lnTo>
                  <a:pt x="2008187" y="674689"/>
                </a:lnTo>
                <a:cubicBezTo>
                  <a:pt x="2008187" y="709758"/>
                  <a:pt x="1979758" y="738188"/>
                  <a:pt x="1944689" y="738188"/>
                </a:cubicBezTo>
                <a:lnTo>
                  <a:pt x="63499" y="738188"/>
                </a:lnTo>
                <a:cubicBezTo>
                  <a:pt x="28429" y="738188"/>
                  <a:pt x="0" y="709758"/>
                  <a:pt x="0" y="674689"/>
                </a:cubicBezTo>
                <a:lnTo>
                  <a:pt x="0" y="63499"/>
                </a:lnTo>
                <a:cubicBezTo>
                  <a:pt x="0" y="28453"/>
                  <a:pt x="28453" y="0"/>
                  <a:pt x="63499"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3" name="Shape 11">
            <a:extLst xmlns:a="http://schemas.openxmlformats.org/drawingml/2006/main">
              <a:ext uri="{FF2B5EF4-FFF2-40B4-BE49-F238E27FC236}">
                <a16:creationId xmlns:a16="http://schemas.microsoft.com/office/drawing/2014/main" id="{1A6A2C08-33BF-4D61-AC1D-D0069112EA45}"/>
              </a:ext>
            </a:extLst>
          </p:cNvPr>
          <p:cNvSpPr>
            <a:spLocks xmlns:a="http://schemas.openxmlformats.org/drawingml/2006/main" noGrp="1"/>
          </p:cNvSpPr>
          <p:nvPr/>
        </p:nvSpPr>
        <p:spPr>
          <a:xfrm xmlns:a="http://schemas.openxmlformats.org/drawingml/2006/main">
            <a:off x="333375" y="3771431"/>
            <a:ext cx="8239125" cy="2135188"/>
          </a:xfrm>
          <a:custGeom xmlns:a="http://schemas.openxmlformats.org/drawingml/2006/main">
            <a:rect l="l" t="t" r="r" b="b"/>
            <a:pathLst>
              <a:path w="8239125" h="2135188">
                <a:moveTo>
                  <a:pt x="31750" y="0"/>
                </a:moveTo>
                <a:lnTo>
                  <a:pt x="8143874" y="0"/>
                </a:lnTo>
                <a:cubicBezTo>
                  <a:pt x="8196480" y="0"/>
                  <a:pt x="8239125" y="42645"/>
                  <a:pt x="8239125" y="95251"/>
                </a:cubicBezTo>
                <a:lnTo>
                  <a:pt x="8239125" y="2039937"/>
                </a:lnTo>
                <a:cubicBezTo>
                  <a:pt x="8239125" y="2092542"/>
                  <a:pt x="8196480" y="2135188"/>
                  <a:pt x="8143874" y="2135188"/>
                </a:cubicBezTo>
                <a:lnTo>
                  <a:pt x="31750" y="2135188"/>
                </a:lnTo>
                <a:cubicBezTo>
                  <a:pt x="14227" y="2135188"/>
                  <a:pt x="0" y="2120961"/>
                  <a:pt x="0" y="2103438"/>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4" name="Shape 12">
            <a:extLst xmlns:a="http://schemas.openxmlformats.org/drawingml/2006/main">
              <a:ext uri="{FF2B5EF4-FFF2-40B4-BE49-F238E27FC236}">
                <a16:creationId xmlns:a16="http://schemas.microsoft.com/office/drawing/2014/main" id="{94A2CFF7-D3DB-49D4-8CC7-8768B5F439E7}"/>
              </a:ext>
            </a:extLst>
          </p:cNvPr>
          <p:cNvSpPr>
            <a:spLocks xmlns:a="http://schemas.openxmlformats.org/drawingml/2006/main" noGrp="1"/>
          </p:cNvSpPr>
          <p:nvPr/>
        </p:nvSpPr>
        <p:spPr>
          <a:xfrm xmlns:a="http://schemas.openxmlformats.org/drawingml/2006/main">
            <a:off x="333375" y="3771431"/>
            <a:ext cx="31750" cy="2135188"/>
          </a:xfrm>
          <a:custGeom xmlns:a="http://schemas.openxmlformats.org/drawingml/2006/main">
            <a:rect l="l" t="t" r="r" b="b"/>
            <a:pathLst>
              <a:path w="31750" h="2135188">
                <a:moveTo>
                  <a:pt x="31750" y="0"/>
                </a:moveTo>
                <a:lnTo>
                  <a:pt x="31750" y="0"/>
                </a:lnTo>
                <a:lnTo>
                  <a:pt x="31750" y="2135188"/>
                </a:lnTo>
                <a:lnTo>
                  <a:pt x="31750" y="2135188"/>
                </a:lnTo>
                <a:cubicBezTo>
                  <a:pt x="14227" y="2135188"/>
                  <a:pt x="0" y="2120961"/>
                  <a:pt x="0" y="2103438"/>
                </a:cubicBezTo>
                <a:lnTo>
                  <a:pt x="0" y="31750"/>
                </a:lnTo>
                <a:cubicBezTo>
                  <a:pt x="0" y="14227"/>
                  <a:pt x="14227" y="0"/>
                  <a:pt x="31750" y="0"/>
                </a:cubicBezTo>
                <a:close/>
              </a:path>
            </a:pathLst>
          </a:custGeom>
          <a:solidFill xmlns:a="http://schemas.openxmlformats.org/drawingml/2006/main">
            <a:srgbClr val="E6B450"/>
          </a:solidFill>
        </p:spPr>
      </p:sp>
      <p:sp>
        <p:nvSpPr>
          <p:cNvPr id="15" name="Shape 13">
            <a:extLst xmlns:a="http://schemas.openxmlformats.org/drawingml/2006/main">
              <a:ext uri="{FF2B5EF4-FFF2-40B4-BE49-F238E27FC236}">
                <a16:creationId xmlns:a16="http://schemas.microsoft.com/office/drawing/2014/main" id="{D0CB6C56-62E8-4056-AA4B-56E8B90C4525}"/>
              </a:ext>
            </a:extLst>
          </p:cNvPr>
          <p:cNvSpPr>
            <a:spLocks xmlns:a="http://schemas.openxmlformats.org/drawingml/2006/main" noGrp="1"/>
          </p:cNvSpPr>
          <p:nvPr/>
        </p:nvSpPr>
        <p:spPr>
          <a:xfrm xmlns:a="http://schemas.openxmlformats.org/drawingml/2006/main">
            <a:off x="563563" y="3993681"/>
            <a:ext cx="190500" cy="190500"/>
          </a:xfrm>
          <a:custGeom xmlns:a="http://schemas.openxmlformats.org/drawingml/2006/main">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xmlns:a="http://schemas.openxmlformats.org/drawingml/2006/main">
            <a:srgbClr val="E6B450"/>
          </a:solidFill>
        </p:spPr>
      </p:sp>
      <p:sp>
        <p:nvSpPr>
          <p:cNvPr id="16" name="Text 14">
            <a:extLst xmlns:a="http://schemas.openxmlformats.org/drawingml/2006/main">
              <a:ext uri="{FF2B5EF4-FFF2-40B4-BE49-F238E27FC236}">
                <a16:creationId xmlns:a16="http://schemas.microsoft.com/office/drawing/2014/main" id="{5CFB502E-F454-4E0B-9AF3-C0346B70CDD8}"/>
              </a:ext>
            </a:extLst>
          </p:cNvPr>
          <p:cNvSpPr>
            <a:spLocks xmlns:a="http://schemas.openxmlformats.org/drawingml/2006/main" noGrp="1"/>
          </p:cNvSpPr>
          <p:nvPr/>
        </p:nvSpPr>
        <p:spPr>
          <a:xfrm xmlns:a="http://schemas.openxmlformats.org/drawingml/2006/main">
            <a:off x="904875" y="3961931"/>
            <a:ext cx="6421438"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安全限制条件</a:t>
            </a:r>
            <a:endParaRPr sz="2000"/>
          </a:p>
        </p:txBody>
      </p:sp>
      <p:sp>
        <p:nvSpPr>
          <p:cNvPr id="17" name="Text 15">
            <a:extLst xmlns:a="http://schemas.openxmlformats.org/drawingml/2006/main">
              <a:ext uri="{FF2B5EF4-FFF2-40B4-BE49-F238E27FC236}">
                <a16:creationId xmlns:a16="http://schemas.microsoft.com/office/drawing/2014/main" id="{EDD71561-F9C1-46DF-AABB-173188F0945E}"/>
              </a:ext>
            </a:extLst>
          </p:cNvPr>
          <p:cNvSpPr>
            <a:spLocks xmlns:a="http://schemas.openxmlformats.org/drawingml/2006/main" noGrp="1"/>
          </p:cNvSpPr>
          <p:nvPr/>
        </p:nvSpPr>
        <p:spPr>
          <a:xfrm xmlns:a="http://schemas.openxmlformats.org/drawingml/2006/main">
            <a:off x="904875" y="4311181"/>
            <a:ext cx="6397625" cy="2301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TEB算法的安全限制条件为：</a:t>
            </a:r>
            <a:endParaRPr sz="2400"/>
          </a:p>
        </p:txBody>
      </p:sp>
      <p:sp>
        <p:nvSpPr>
          <p:cNvPr id="18" name="Shape 16">
            <a:extLst xmlns:a="http://schemas.openxmlformats.org/drawingml/2006/main">
              <a:ext uri="{FF2B5EF4-FFF2-40B4-BE49-F238E27FC236}">
                <a16:creationId xmlns:a16="http://schemas.microsoft.com/office/drawing/2014/main" id="{2ADBA40D-1DFA-48DE-A257-A7D65FC1FFEC}"/>
              </a:ext>
            </a:extLst>
          </p:cNvPr>
          <p:cNvSpPr>
            <a:spLocks xmlns:a="http://schemas.openxmlformats.org/drawingml/2006/main" noGrp="1"/>
          </p:cNvSpPr>
          <p:nvPr/>
        </p:nvSpPr>
        <p:spPr>
          <a:xfrm xmlns:a="http://schemas.openxmlformats.org/drawingml/2006/main">
            <a:off x="908844" y="4642572"/>
            <a:ext cx="6318250" cy="1073518"/>
          </a:xfrm>
          <a:custGeom xmlns:a="http://schemas.openxmlformats.org/drawingml/2006/main">
            <a:rect l="l" t="t" r="r" b="b"/>
            <a:pathLst>
              <a:path w="6318250" h="738188">
                <a:moveTo>
                  <a:pt x="63499" y="0"/>
                </a:moveTo>
                <a:lnTo>
                  <a:pt x="6254751" y="0"/>
                </a:lnTo>
                <a:cubicBezTo>
                  <a:pt x="6289821" y="0"/>
                  <a:pt x="6318250" y="28429"/>
                  <a:pt x="6318250" y="63499"/>
                </a:cubicBezTo>
                <a:lnTo>
                  <a:pt x="6318250" y="674689"/>
                </a:lnTo>
                <a:cubicBezTo>
                  <a:pt x="6318250" y="709758"/>
                  <a:pt x="6289821" y="738188"/>
                  <a:pt x="6254751" y="738188"/>
                </a:cubicBezTo>
                <a:lnTo>
                  <a:pt x="63499" y="738188"/>
                </a:lnTo>
                <a:cubicBezTo>
                  <a:pt x="28429" y="738188"/>
                  <a:pt x="0" y="709758"/>
                  <a:pt x="0" y="674689"/>
                </a:cubicBezTo>
                <a:lnTo>
                  <a:pt x="0" y="63499"/>
                </a:lnTo>
                <a:cubicBezTo>
                  <a:pt x="0" y="28453"/>
                  <a:pt x="28453" y="0"/>
                  <a:pt x="63499"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2" name="Shape 20">
            <a:extLst xmlns:a="http://schemas.openxmlformats.org/drawingml/2006/main">
              <a:ext uri="{FF2B5EF4-FFF2-40B4-BE49-F238E27FC236}">
                <a16:creationId xmlns:a16="http://schemas.microsoft.com/office/drawing/2014/main" id="{E24D1037-89F4-44AA-8E07-90CE6DCE8DF8}"/>
              </a:ext>
            </a:extLst>
          </p:cNvPr>
          <p:cNvSpPr>
            <a:spLocks xmlns:a="http://schemas.openxmlformats.org/drawingml/2006/main" noGrp="1"/>
          </p:cNvSpPr>
          <p:nvPr/>
        </p:nvSpPr>
        <p:spPr>
          <a:xfrm xmlns:a="http://schemas.openxmlformats.org/drawingml/2006/main">
            <a:off x="8922177" y="1777133"/>
            <a:ext cx="3142823" cy="4129485"/>
          </a:xfrm>
          <a:custGeom xmlns:a="http://schemas.openxmlformats.org/drawingml/2006/main">
            <a:rect l="l" t="t" r="r" b="b"/>
            <a:pathLst>
              <a:path w="8247062" h="1436688">
                <a:moveTo>
                  <a:pt x="95252" y="0"/>
                </a:moveTo>
                <a:lnTo>
                  <a:pt x="8151810" y="0"/>
                </a:lnTo>
                <a:cubicBezTo>
                  <a:pt x="8204417" y="0"/>
                  <a:pt x="8247062" y="42646"/>
                  <a:pt x="8247062" y="95252"/>
                </a:cubicBezTo>
                <a:lnTo>
                  <a:pt x="8247062" y="1341435"/>
                </a:lnTo>
                <a:cubicBezTo>
                  <a:pt x="8247062" y="1394042"/>
                  <a:pt x="8204417" y="1436688"/>
                  <a:pt x="8151810" y="1436688"/>
                </a:cubicBezTo>
                <a:lnTo>
                  <a:pt x="95252" y="1436688"/>
                </a:lnTo>
                <a:cubicBezTo>
                  <a:pt x="42646" y="1436688"/>
                  <a:pt x="0" y="1394042"/>
                  <a:pt x="0" y="1341435"/>
                </a:cubicBezTo>
                <a:lnTo>
                  <a:pt x="0" y="95252"/>
                </a:lnTo>
                <a:cubicBezTo>
                  <a:pt x="0" y="42681"/>
                  <a:pt x="42681" y="0"/>
                  <a:pt x="95252"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3" name="Shape 21">
            <a:extLst xmlns:a="http://schemas.openxmlformats.org/drawingml/2006/main">
              <a:ext uri="{FF2B5EF4-FFF2-40B4-BE49-F238E27FC236}">
                <a16:creationId xmlns:a16="http://schemas.microsoft.com/office/drawing/2014/main" id="{33F827D0-E34D-494B-9AF2-B3130BDF944F}"/>
              </a:ext>
            </a:extLst>
          </p:cNvPr>
          <p:cNvSpPr>
            <a:spLocks xmlns:a="http://schemas.openxmlformats.org/drawingml/2006/main" noGrp="1"/>
          </p:cNvSpPr>
          <p:nvPr/>
        </p:nvSpPr>
        <p:spPr>
          <a:xfrm xmlns:a="http://schemas.openxmlformats.org/drawingml/2006/main">
            <a:off x="9088864" y="2003353"/>
            <a:ext cx="190500" cy="190500"/>
          </a:xfrm>
          <a:custGeom xmlns:a="http://schemas.openxmlformats.org/drawingml/2006/main">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xmlns:a="http://schemas.openxmlformats.org/drawingml/2006/main">
            <a:srgbClr val="E6B450"/>
          </a:solidFill>
        </p:spPr>
      </p:sp>
      <p:sp>
        <p:nvSpPr>
          <p:cNvPr id="24" name="Text 22">
            <a:extLst xmlns:a="http://schemas.openxmlformats.org/drawingml/2006/main">
              <a:ext uri="{FF2B5EF4-FFF2-40B4-BE49-F238E27FC236}">
                <a16:creationId xmlns:a16="http://schemas.microsoft.com/office/drawing/2014/main" id="{A2527A3F-3B87-4196-90FD-1E33A7EFAAF2}"/>
              </a:ext>
            </a:extLst>
          </p:cNvPr>
          <p:cNvSpPr>
            <a:spLocks xmlns:a="http://schemas.openxmlformats.org/drawingml/2006/main" noGrp="1"/>
          </p:cNvSpPr>
          <p:nvPr/>
        </p:nvSpPr>
        <p:spPr>
          <a:xfrm xmlns:a="http://schemas.openxmlformats.org/drawingml/2006/main">
            <a:off x="9968345" y="1971603"/>
            <a:ext cx="2534872" cy="250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代价函数作用</a:t>
            </a:r>
            <a:endParaRPr sz="2000"/>
          </a:p>
        </p:txBody>
      </p:sp>
      <p:sp>
        <p:nvSpPr>
          <p:cNvPr id="25" name="Text 23">
            <a:extLst xmlns:a="http://schemas.openxmlformats.org/drawingml/2006/main">
              <a:ext uri="{FF2B5EF4-FFF2-40B4-BE49-F238E27FC236}">
                <a16:creationId xmlns:a16="http://schemas.microsoft.com/office/drawing/2014/main" id="{5F7BD50D-CDFF-4657-9836-67F76C052DC5}"/>
              </a:ext>
            </a:extLst>
          </p:cNvPr>
          <p:cNvSpPr>
            <a:spLocks xmlns:a="http://schemas.openxmlformats.org/drawingml/2006/main" noGrp="1"/>
          </p:cNvSpPr>
          <p:nvPr/>
        </p:nvSpPr>
        <p:spPr>
          <a:xfrm xmlns:a="http://schemas.openxmlformats.org/drawingml/2006/main">
            <a:off x="9234977" y="2320852"/>
            <a:ext cx="2676371" cy="358576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所以这个代价函数的目的就是计算每一个点和障碍物的距离，如果距离小于dmin这个代价函数就会对整体代价引入新误差，这样计算梯度的时候就会把当前点往</a:t>
            </a:r>
            <a:r>
              <a:rPr sz="1600" b="1">
                <a:latin typeface="微软雅黑"/>
                <a:ea typeface="微软雅黑"/>
                <a:cs typeface="微软雅黑"/>
              </a:rPr>
              <a:t>远离障碍物</a:t>
            </a:r>
            <a:r>
              <a:rPr sz="1600">
                <a:latin typeface="微软雅黑"/>
                <a:ea typeface="微软雅黑"/>
                <a:cs typeface="微软雅黑"/>
              </a:rPr>
              <a:t>的方向踢，但会出现一个问题，就是当路径点被障碍物包围的时候，优化就会很大概率会失败。</a:t>
            </a:r>
            <a:endParaRPr sz="1600"/>
          </a:p>
        </p:txBody>
      </p:sp>
      <p:sp>
        <p:nvSpPr>
          <p:cNvPr id="46" name="矩形 45">
            <a:extLst xmlns:a="http://schemas.openxmlformats.org/drawingml/2006/main">
              <a:ext uri="{FF2B5EF4-FFF2-40B4-BE49-F238E27FC236}">
                <a16:creationId xmlns:a16="http://schemas.microsoft.com/office/drawing/2014/main" id="{BD22704F-8A31-A5AE-DC93-F1B74C4227DD}"/>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文本框 46">
            <a:extLst xmlns:a="http://schemas.openxmlformats.org/drawingml/2006/main">
              <a:ext uri="{FF2B5EF4-FFF2-40B4-BE49-F238E27FC236}">
                <a16:creationId xmlns:a16="http://schemas.microsoft.com/office/drawing/2014/main" id="{E3B81FDB-C820-E0DA-7675-CEE6A365C3C8}"/>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spTree>
    <p:extLst>
      <p:ext uri="{BB962C8B-B14F-4D97-AF65-F5344CB8AC3E}">
        <p14:creationId xmlns:p14="http://schemas.microsoft.com/office/powerpoint/2010/main" val="3817334605"/>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B2EEABD0-3A29-4DD4-8E5C-56072C569559}"/>
              </a:ext>
            </a:extLst>
          </p:cNvPr>
          <p:cNvSpPr>
            <a:spLocks xmlns:a="http://schemas.openxmlformats.org/drawingml/2006/main" noGrp="1"/>
          </p:cNvSpPr>
          <p:nvPr/>
        </p:nvSpPr>
        <p:spPr>
          <a:xfrm xmlns:a="http://schemas.openxmlformats.org/drawingml/2006/main">
            <a:off x="367334" y="1792673"/>
            <a:ext cx="4906539" cy="2859960"/>
          </a:xfrm>
          <a:custGeom xmlns:a="http://schemas.openxmlformats.org/drawingml/2006/main">
            <a:rect l="l" t="t" r="r" b="b"/>
            <a:pathLst>
              <a:path w="5588729" h="2859960">
                <a:moveTo>
                  <a:pt x="34984" y="0"/>
                </a:moveTo>
                <a:lnTo>
                  <a:pt x="5483768" y="0"/>
                </a:lnTo>
                <a:cubicBezTo>
                  <a:pt x="5541736" y="0"/>
                  <a:pt x="5588729" y="46992"/>
                  <a:pt x="5588729" y="104961"/>
                </a:cubicBezTo>
                <a:lnTo>
                  <a:pt x="5588729" y="2754999"/>
                </a:lnTo>
                <a:cubicBezTo>
                  <a:pt x="5588729" y="2812967"/>
                  <a:pt x="5541736" y="2859960"/>
                  <a:pt x="5483768" y="2859960"/>
                </a:cubicBezTo>
                <a:lnTo>
                  <a:pt x="34984" y="2859960"/>
                </a:lnTo>
                <a:cubicBezTo>
                  <a:pt x="15663" y="2859960"/>
                  <a:pt x="0" y="2844297"/>
                  <a:pt x="0" y="2824976"/>
                </a:cubicBezTo>
                <a:lnTo>
                  <a:pt x="0" y="34984"/>
                </a:lnTo>
                <a:cubicBezTo>
                  <a:pt x="0" y="15676"/>
                  <a:pt x="15676" y="0"/>
                  <a:pt x="34984"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85F5DFAC-BA4E-47C1-A9D3-D15CBCDA5FC4}"/>
              </a:ext>
            </a:extLst>
          </p:cNvPr>
          <p:cNvSpPr>
            <a:spLocks xmlns:a="http://schemas.openxmlformats.org/drawingml/2006/main" noGrp="1"/>
          </p:cNvSpPr>
          <p:nvPr/>
        </p:nvSpPr>
        <p:spPr>
          <a:xfrm xmlns:a="http://schemas.openxmlformats.org/drawingml/2006/main">
            <a:off x="367334" y="1792673"/>
            <a:ext cx="34984" cy="2859960"/>
          </a:xfrm>
          <a:custGeom xmlns:a="http://schemas.openxmlformats.org/drawingml/2006/main">
            <a:rect l="l" t="t" r="r" b="b"/>
            <a:pathLst>
              <a:path w="34984" h="2859960">
                <a:moveTo>
                  <a:pt x="34984" y="0"/>
                </a:moveTo>
                <a:lnTo>
                  <a:pt x="34984" y="0"/>
                </a:lnTo>
                <a:lnTo>
                  <a:pt x="34984" y="2859960"/>
                </a:lnTo>
                <a:lnTo>
                  <a:pt x="34984" y="2859960"/>
                </a:lnTo>
                <a:cubicBezTo>
                  <a:pt x="15663" y="2859960"/>
                  <a:pt x="0" y="2844297"/>
                  <a:pt x="0" y="2824976"/>
                </a:cubicBezTo>
                <a:lnTo>
                  <a:pt x="0" y="34984"/>
                </a:lnTo>
                <a:cubicBezTo>
                  <a:pt x="0" y="15676"/>
                  <a:pt x="15676" y="0"/>
                  <a:pt x="34984"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948649B4-41A2-4EA6-A1E6-D105207D0DD8}"/>
              </a:ext>
            </a:extLst>
          </p:cNvPr>
          <p:cNvSpPr>
            <a:spLocks xmlns:a="http://schemas.openxmlformats.org/drawingml/2006/main" noGrp="1"/>
          </p:cNvSpPr>
          <p:nvPr/>
        </p:nvSpPr>
        <p:spPr>
          <a:xfrm xmlns:a="http://schemas.openxmlformats.org/drawingml/2006/main">
            <a:off x="590359" y="2037562"/>
            <a:ext cx="157429" cy="209905"/>
          </a:xfrm>
          <a:custGeom xmlns:a="http://schemas.openxmlformats.org/drawingml/2006/main">
            <a:rect l="l" t="t" r="r" b="b"/>
            <a:pathLst>
              <a:path w="157429" h="209905">
                <a:moveTo>
                  <a:pt x="0" y="77321"/>
                </a:moveTo>
                <a:cubicBezTo>
                  <a:pt x="0" y="34602"/>
                  <a:pt x="35258" y="0"/>
                  <a:pt x="78714" y="0"/>
                </a:cubicBezTo>
                <a:cubicBezTo>
                  <a:pt x="122171" y="0"/>
                  <a:pt x="157429" y="34602"/>
                  <a:pt x="157429" y="77321"/>
                </a:cubicBezTo>
                <a:cubicBezTo>
                  <a:pt x="157429" y="126230"/>
                  <a:pt x="108150" y="184856"/>
                  <a:pt x="87570" y="207199"/>
                </a:cubicBezTo>
                <a:cubicBezTo>
                  <a:pt x="82732" y="212447"/>
                  <a:pt x="74656" y="212447"/>
                  <a:pt x="69818" y="207199"/>
                </a:cubicBezTo>
                <a:cubicBezTo>
                  <a:pt x="49238" y="184856"/>
                  <a:pt x="-41" y="126230"/>
                  <a:pt x="-41" y="77321"/>
                </a:cubicBezTo>
                <a:close/>
                <a:moveTo>
                  <a:pt x="78714" y="104953"/>
                </a:moveTo>
                <a:cubicBezTo>
                  <a:pt x="93196" y="104953"/>
                  <a:pt x="104953" y="93196"/>
                  <a:pt x="104953" y="78714"/>
                </a:cubicBezTo>
                <a:cubicBezTo>
                  <a:pt x="104953" y="64233"/>
                  <a:pt x="93196" y="52476"/>
                  <a:pt x="78714" y="52476"/>
                </a:cubicBezTo>
                <a:cubicBezTo>
                  <a:pt x="64233" y="52476"/>
                  <a:pt x="52476" y="64233"/>
                  <a:pt x="52476" y="78714"/>
                </a:cubicBezTo>
                <a:cubicBezTo>
                  <a:pt x="52476" y="93196"/>
                  <a:pt x="64233" y="104953"/>
                  <a:pt x="78714" y="104953"/>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549AAE30-C7D0-4362-8690-321B62AF6C0D}"/>
              </a:ext>
            </a:extLst>
          </p:cNvPr>
          <p:cNvSpPr>
            <a:spLocks xmlns:a="http://schemas.openxmlformats.org/drawingml/2006/main" noGrp="1"/>
          </p:cNvSpPr>
          <p:nvPr/>
        </p:nvSpPr>
        <p:spPr>
          <a:xfrm xmlns:a="http://schemas.openxmlformats.org/drawingml/2006/main">
            <a:off x="881028" y="2002578"/>
            <a:ext cx="4967759" cy="27987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途径点限制条件</a:t>
            </a:r>
            <a:endParaRPr/>
          </a:p>
        </p:txBody>
      </p:sp>
      <p:sp>
        <p:nvSpPr>
          <p:cNvPr id="9" name="Text 7">
            <a:extLst xmlns:a="http://schemas.openxmlformats.org/drawingml/2006/main">
              <a:ext uri="{FF2B5EF4-FFF2-40B4-BE49-F238E27FC236}">
                <a16:creationId xmlns:a16="http://schemas.microsoft.com/office/drawing/2014/main" id="{E8E60BB9-D5F0-4773-8A31-9B4F2A9ABDC9}"/>
              </a:ext>
            </a:extLst>
          </p:cNvPr>
          <p:cNvSpPr>
            <a:spLocks xmlns:a="http://schemas.openxmlformats.org/drawingml/2006/main" noGrp="1"/>
          </p:cNvSpPr>
          <p:nvPr/>
        </p:nvSpPr>
        <p:spPr>
          <a:xfrm xmlns:a="http://schemas.openxmlformats.org/drawingml/2006/main">
            <a:off x="881028" y="2387405"/>
            <a:ext cx="4941521" cy="2536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TEB算法的途径点限制条件为：</a:t>
            </a:r>
            <a:endParaRPr sz="2000"/>
          </a:p>
        </p:txBody>
      </p:sp>
      <p:sp>
        <p:nvSpPr>
          <p:cNvPr id="10" name="Shape 8">
            <a:extLst xmlns:a="http://schemas.openxmlformats.org/drawingml/2006/main">
              <a:ext uri="{FF2B5EF4-FFF2-40B4-BE49-F238E27FC236}">
                <a16:creationId xmlns:a16="http://schemas.microsoft.com/office/drawing/2014/main" id="{4318FEA8-4E04-4249-BCE9-8984989BDB58}"/>
              </a:ext>
            </a:extLst>
          </p:cNvPr>
          <p:cNvSpPr>
            <a:spLocks xmlns:a="http://schemas.openxmlformats.org/drawingml/2006/main" noGrp="1"/>
          </p:cNvSpPr>
          <p:nvPr/>
        </p:nvSpPr>
        <p:spPr>
          <a:xfrm xmlns:a="http://schemas.openxmlformats.org/drawingml/2006/main">
            <a:off x="885401" y="2752552"/>
            <a:ext cx="4007215" cy="813383"/>
          </a:xfrm>
          <a:custGeom xmlns:a="http://schemas.openxmlformats.org/drawingml/2006/main">
            <a:rect l="l" t="t" r="r" b="b"/>
            <a:pathLst>
              <a:path w="4854060" h="813383">
                <a:moveTo>
                  <a:pt x="69967" y="0"/>
                </a:moveTo>
                <a:lnTo>
                  <a:pt x="4784093" y="0"/>
                </a:lnTo>
                <a:cubicBezTo>
                  <a:pt x="4822735" y="0"/>
                  <a:pt x="4854060" y="31325"/>
                  <a:pt x="4854060" y="69967"/>
                </a:cubicBezTo>
                <a:lnTo>
                  <a:pt x="4854060" y="743416"/>
                </a:lnTo>
                <a:cubicBezTo>
                  <a:pt x="4854060" y="782058"/>
                  <a:pt x="4822735" y="813383"/>
                  <a:pt x="4784093" y="813383"/>
                </a:cubicBezTo>
                <a:lnTo>
                  <a:pt x="69967" y="813383"/>
                </a:lnTo>
                <a:cubicBezTo>
                  <a:pt x="31325" y="813383"/>
                  <a:pt x="0" y="782058"/>
                  <a:pt x="0" y="743416"/>
                </a:cubicBezTo>
                <a:lnTo>
                  <a:pt x="0" y="69967"/>
                </a:lnTo>
                <a:cubicBezTo>
                  <a:pt x="0" y="31325"/>
                  <a:pt x="31325" y="0"/>
                  <a:pt x="69967"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8" name="Shape 16">
            <a:extLst xmlns:a="http://schemas.openxmlformats.org/drawingml/2006/main">
              <a:ext uri="{FF2B5EF4-FFF2-40B4-BE49-F238E27FC236}">
                <a16:creationId xmlns:a16="http://schemas.microsoft.com/office/drawing/2014/main" id="{897BD1D5-8619-4FBD-AED0-39769705A81D}"/>
              </a:ext>
            </a:extLst>
          </p:cNvPr>
          <p:cNvSpPr>
            <a:spLocks xmlns:a="http://schemas.openxmlformats.org/drawingml/2006/main" noGrp="1"/>
          </p:cNvSpPr>
          <p:nvPr/>
        </p:nvSpPr>
        <p:spPr>
          <a:xfrm xmlns:a="http://schemas.openxmlformats.org/drawingml/2006/main">
            <a:off x="5761405" y="1792673"/>
            <a:ext cx="5588729" cy="2859960"/>
          </a:xfrm>
          <a:custGeom xmlns:a="http://schemas.openxmlformats.org/drawingml/2006/main">
            <a:rect l="l" t="t" r="r" b="b"/>
            <a:pathLst>
              <a:path w="5588729" h="2501372">
                <a:moveTo>
                  <a:pt x="34984" y="0"/>
                </a:moveTo>
                <a:lnTo>
                  <a:pt x="5483771" y="0"/>
                </a:lnTo>
                <a:cubicBezTo>
                  <a:pt x="5541699" y="0"/>
                  <a:pt x="5588729" y="47030"/>
                  <a:pt x="5588729" y="104958"/>
                </a:cubicBezTo>
                <a:lnTo>
                  <a:pt x="5588729" y="2396414"/>
                </a:lnTo>
                <a:cubicBezTo>
                  <a:pt x="5588729" y="2454342"/>
                  <a:pt x="5541699" y="2501372"/>
                  <a:pt x="5483771" y="2501372"/>
                </a:cubicBezTo>
                <a:lnTo>
                  <a:pt x="34984" y="2501372"/>
                </a:lnTo>
                <a:cubicBezTo>
                  <a:pt x="15663" y="2501372"/>
                  <a:pt x="0" y="2485709"/>
                  <a:pt x="0" y="2466387"/>
                </a:cubicBezTo>
                <a:lnTo>
                  <a:pt x="0" y="34984"/>
                </a:lnTo>
                <a:cubicBezTo>
                  <a:pt x="0" y="15676"/>
                  <a:pt x="15676" y="0"/>
                  <a:pt x="34984" y="0"/>
                </a:cubicBezTo>
                <a:close/>
              </a:path>
            </a:pathLst>
          </a:custGeom>
          <a:solidFill xmlns:a="http://schemas.openxmlformats.org/drawingml/2006/main">
            <a:srgbClr val="5F87A7">
              <a:alpha val="10196"/>
            </a:srgbClr>
          </a:solidFill>
        </p:spPr>
      </p:sp>
      <p:sp>
        <p:nvSpPr>
          <p:cNvPr id="19" name="Shape 17">
            <a:extLst xmlns:a="http://schemas.openxmlformats.org/drawingml/2006/main">
              <a:ext uri="{FF2B5EF4-FFF2-40B4-BE49-F238E27FC236}">
                <a16:creationId xmlns:a16="http://schemas.microsoft.com/office/drawing/2014/main" id="{26162E1D-9EC9-47A6-A2B1-DD15253B2FD2}"/>
              </a:ext>
            </a:extLst>
          </p:cNvPr>
          <p:cNvSpPr>
            <a:spLocks xmlns:a="http://schemas.openxmlformats.org/drawingml/2006/main" noGrp="1"/>
          </p:cNvSpPr>
          <p:nvPr/>
        </p:nvSpPr>
        <p:spPr>
          <a:xfrm xmlns:a="http://schemas.openxmlformats.org/drawingml/2006/main">
            <a:off x="5761405" y="1792673"/>
            <a:ext cx="34984" cy="2859960"/>
          </a:xfrm>
          <a:custGeom xmlns:a="http://schemas.openxmlformats.org/drawingml/2006/main">
            <a:rect l="l" t="t" r="r" b="b"/>
            <a:pathLst>
              <a:path w="34984" h="2501372">
                <a:moveTo>
                  <a:pt x="34984" y="0"/>
                </a:moveTo>
                <a:lnTo>
                  <a:pt x="34984" y="0"/>
                </a:lnTo>
                <a:lnTo>
                  <a:pt x="34984" y="2501372"/>
                </a:lnTo>
                <a:lnTo>
                  <a:pt x="34984" y="2501372"/>
                </a:lnTo>
                <a:cubicBezTo>
                  <a:pt x="15663" y="2501372"/>
                  <a:pt x="0" y="2485709"/>
                  <a:pt x="0" y="2466387"/>
                </a:cubicBezTo>
                <a:lnTo>
                  <a:pt x="0" y="34984"/>
                </a:lnTo>
                <a:cubicBezTo>
                  <a:pt x="0" y="15676"/>
                  <a:pt x="15676" y="0"/>
                  <a:pt x="34984" y="0"/>
                </a:cubicBezTo>
                <a:close/>
              </a:path>
            </a:pathLst>
          </a:custGeom>
          <a:solidFill xmlns:a="http://schemas.openxmlformats.org/drawingml/2006/main">
            <a:srgbClr val="E6B450"/>
          </a:solidFill>
        </p:spPr>
      </p:sp>
      <p:sp>
        <p:nvSpPr>
          <p:cNvPr id="20" name="Shape 18">
            <a:extLst xmlns:a="http://schemas.openxmlformats.org/drawingml/2006/main">
              <a:ext uri="{FF2B5EF4-FFF2-40B4-BE49-F238E27FC236}">
                <a16:creationId xmlns:a16="http://schemas.microsoft.com/office/drawing/2014/main" id="{FEF7FF8A-CC30-49DF-8A07-AF8DFF5D9119}"/>
              </a:ext>
            </a:extLst>
          </p:cNvPr>
          <p:cNvSpPr>
            <a:spLocks xmlns:a="http://schemas.openxmlformats.org/drawingml/2006/main" noGrp="1"/>
          </p:cNvSpPr>
          <p:nvPr/>
        </p:nvSpPr>
        <p:spPr>
          <a:xfrm xmlns:a="http://schemas.openxmlformats.org/drawingml/2006/main">
            <a:off x="5993176" y="2037562"/>
            <a:ext cx="209905" cy="209905"/>
          </a:xfrm>
          <a:custGeom xmlns:a="http://schemas.openxmlformats.org/drawingml/2006/main">
            <a:rect l="l" t="t" r="r" b="b"/>
            <a:pathLst>
              <a:path w="209905" h="209905">
                <a:moveTo>
                  <a:pt x="0" y="104953"/>
                </a:moveTo>
                <a:cubicBezTo>
                  <a:pt x="0" y="47028"/>
                  <a:pt x="47028" y="0"/>
                  <a:pt x="104953" y="0"/>
                </a:cubicBezTo>
                <a:cubicBezTo>
                  <a:pt x="162878" y="0"/>
                  <a:pt x="209905" y="47028"/>
                  <a:pt x="209905" y="104953"/>
                </a:cubicBezTo>
                <a:cubicBezTo>
                  <a:pt x="209905" y="162878"/>
                  <a:pt x="162878" y="209905"/>
                  <a:pt x="104953" y="209905"/>
                </a:cubicBezTo>
                <a:cubicBezTo>
                  <a:pt x="47028" y="209905"/>
                  <a:pt x="0" y="162878"/>
                  <a:pt x="0" y="104953"/>
                </a:cubicBezTo>
                <a:close/>
                <a:moveTo>
                  <a:pt x="118072" y="39357"/>
                </a:moveTo>
                <a:cubicBezTo>
                  <a:pt x="118072" y="32117"/>
                  <a:pt x="112193" y="26238"/>
                  <a:pt x="104953" y="26238"/>
                </a:cubicBezTo>
                <a:cubicBezTo>
                  <a:pt x="97712" y="26238"/>
                  <a:pt x="91834" y="32117"/>
                  <a:pt x="91834" y="39357"/>
                </a:cubicBezTo>
                <a:cubicBezTo>
                  <a:pt x="91834" y="46598"/>
                  <a:pt x="97712" y="52476"/>
                  <a:pt x="104953" y="52476"/>
                </a:cubicBezTo>
                <a:cubicBezTo>
                  <a:pt x="112193" y="52476"/>
                  <a:pt x="118072" y="46598"/>
                  <a:pt x="118072" y="39357"/>
                </a:cubicBezTo>
                <a:close/>
                <a:moveTo>
                  <a:pt x="104953" y="170548"/>
                </a:moveTo>
                <a:cubicBezTo>
                  <a:pt x="119425" y="170548"/>
                  <a:pt x="131191" y="158782"/>
                  <a:pt x="131191" y="144310"/>
                </a:cubicBezTo>
                <a:cubicBezTo>
                  <a:pt x="131191" y="137668"/>
                  <a:pt x="128731" y="131560"/>
                  <a:pt x="124631" y="126968"/>
                </a:cubicBezTo>
                <a:lnTo>
                  <a:pt x="153124" y="70023"/>
                </a:lnTo>
                <a:cubicBezTo>
                  <a:pt x="155543" y="65144"/>
                  <a:pt x="153575" y="59241"/>
                  <a:pt x="148738" y="56822"/>
                </a:cubicBezTo>
                <a:cubicBezTo>
                  <a:pt x="143900" y="54403"/>
                  <a:pt x="137955" y="56371"/>
                  <a:pt x="135537" y="61209"/>
                </a:cubicBezTo>
                <a:lnTo>
                  <a:pt x="107044" y="118154"/>
                </a:lnTo>
                <a:cubicBezTo>
                  <a:pt x="106347" y="118113"/>
                  <a:pt x="105650" y="118072"/>
                  <a:pt x="104953" y="118072"/>
                </a:cubicBezTo>
                <a:cubicBezTo>
                  <a:pt x="90481" y="118072"/>
                  <a:pt x="78714" y="129838"/>
                  <a:pt x="78714" y="144310"/>
                </a:cubicBezTo>
                <a:cubicBezTo>
                  <a:pt x="78714" y="158782"/>
                  <a:pt x="90481" y="170548"/>
                  <a:pt x="104953" y="170548"/>
                </a:cubicBezTo>
                <a:close/>
                <a:moveTo>
                  <a:pt x="72155" y="59036"/>
                </a:moveTo>
                <a:cubicBezTo>
                  <a:pt x="72155" y="51795"/>
                  <a:pt x="66276" y="45917"/>
                  <a:pt x="59036" y="45917"/>
                </a:cubicBezTo>
                <a:cubicBezTo>
                  <a:pt x="51795" y="45917"/>
                  <a:pt x="45917" y="51795"/>
                  <a:pt x="45917" y="59036"/>
                </a:cubicBezTo>
                <a:cubicBezTo>
                  <a:pt x="45917" y="66276"/>
                  <a:pt x="51795" y="72155"/>
                  <a:pt x="59036" y="72155"/>
                </a:cubicBezTo>
                <a:cubicBezTo>
                  <a:pt x="66276" y="72155"/>
                  <a:pt x="72155" y="66276"/>
                  <a:pt x="72155" y="59036"/>
                </a:cubicBezTo>
                <a:close/>
                <a:moveTo>
                  <a:pt x="39357" y="118072"/>
                </a:moveTo>
                <a:cubicBezTo>
                  <a:pt x="46598" y="118072"/>
                  <a:pt x="52476" y="112193"/>
                  <a:pt x="52476" y="104953"/>
                </a:cubicBezTo>
                <a:cubicBezTo>
                  <a:pt x="52476" y="97712"/>
                  <a:pt x="46598" y="91834"/>
                  <a:pt x="39357" y="91834"/>
                </a:cubicBezTo>
                <a:cubicBezTo>
                  <a:pt x="32117" y="91834"/>
                  <a:pt x="26238" y="97712"/>
                  <a:pt x="26238" y="104953"/>
                </a:cubicBezTo>
                <a:cubicBezTo>
                  <a:pt x="26238" y="112193"/>
                  <a:pt x="32117" y="118072"/>
                  <a:pt x="39357" y="118072"/>
                </a:cubicBezTo>
                <a:close/>
                <a:moveTo>
                  <a:pt x="183667" y="104953"/>
                </a:moveTo>
                <a:cubicBezTo>
                  <a:pt x="183667" y="97712"/>
                  <a:pt x="177789" y="91834"/>
                  <a:pt x="170548" y="91834"/>
                </a:cubicBezTo>
                <a:cubicBezTo>
                  <a:pt x="163307" y="91834"/>
                  <a:pt x="157429" y="97712"/>
                  <a:pt x="157429" y="104953"/>
                </a:cubicBezTo>
                <a:cubicBezTo>
                  <a:pt x="157429" y="112193"/>
                  <a:pt x="163307" y="118072"/>
                  <a:pt x="170548" y="118072"/>
                </a:cubicBezTo>
                <a:cubicBezTo>
                  <a:pt x="177789" y="118072"/>
                  <a:pt x="183667" y="112193"/>
                  <a:pt x="183667" y="104953"/>
                </a:cubicBezTo>
                <a:close/>
              </a:path>
            </a:pathLst>
          </a:custGeom>
          <a:solidFill xmlns:a="http://schemas.openxmlformats.org/drawingml/2006/main">
            <a:srgbClr val="E6B450"/>
          </a:solidFill>
        </p:spPr>
      </p:sp>
      <p:sp>
        <p:nvSpPr>
          <p:cNvPr id="21" name="Text 19">
            <a:extLst xmlns:a="http://schemas.openxmlformats.org/drawingml/2006/main">
              <a:ext uri="{FF2B5EF4-FFF2-40B4-BE49-F238E27FC236}">
                <a16:creationId xmlns:a16="http://schemas.microsoft.com/office/drawing/2014/main" id="{F39BFA40-622F-4CB7-AAC6-F3842F9BE0DD}"/>
              </a:ext>
            </a:extLst>
          </p:cNvPr>
          <p:cNvSpPr>
            <a:spLocks xmlns:a="http://schemas.openxmlformats.org/drawingml/2006/main" noGrp="1"/>
          </p:cNvSpPr>
          <p:nvPr/>
        </p:nvSpPr>
        <p:spPr>
          <a:xfrm xmlns:a="http://schemas.openxmlformats.org/drawingml/2006/main">
            <a:off x="6350261" y="2002578"/>
            <a:ext cx="4897791" cy="27987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速度限制条件</a:t>
            </a:r>
            <a:endParaRPr/>
          </a:p>
        </p:txBody>
      </p:sp>
      <p:sp>
        <p:nvSpPr>
          <p:cNvPr id="22" name="Text 20">
            <a:extLst xmlns:a="http://schemas.openxmlformats.org/drawingml/2006/main">
              <a:ext uri="{FF2B5EF4-FFF2-40B4-BE49-F238E27FC236}">
                <a16:creationId xmlns:a16="http://schemas.microsoft.com/office/drawing/2014/main" id="{51B6CA76-E8CE-428F-B4FA-EE58F3C84C8D}"/>
              </a:ext>
            </a:extLst>
          </p:cNvPr>
          <p:cNvSpPr>
            <a:spLocks xmlns:a="http://schemas.openxmlformats.org/drawingml/2006/main" noGrp="1"/>
          </p:cNvSpPr>
          <p:nvPr/>
        </p:nvSpPr>
        <p:spPr>
          <a:xfrm xmlns:a="http://schemas.openxmlformats.org/drawingml/2006/main">
            <a:off x="6350261" y="2387405"/>
            <a:ext cx="4871552" cy="2536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TEB算法的速度限制条件为：</a:t>
            </a:r>
            <a:endParaRPr sz="2000"/>
          </a:p>
        </p:txBody>
      </p:sp>
      <p:sp>
        <p:nvSpPr>
          <p:cNvPr id="23" name="Shape 21">
            <a:extLst xmlns:a="http://schemas.openxmlformats.org/drawingml/2006/main">
              <a:ext uri="{FF2B5EF4-FFF2-40B4-BE49-F238E27FC236}">
                <a16:creationId xmlns:a16="http://schemas.microsoft.com/office/drawing/2014/main" id="{D465B7E1-FA8C-4456-8DAF-99D8FBDC1B71}"/>
              </a:ext>
            </a:extLst>
          </p:cNvPr>
          <p:cNvSpPr>
            <a:spLocks xmlns:a="http://schemas.openxmlformats.org/drawingml/2006/main" noGrp="1"/>
          </p:cNvSpPr>
          <p:nvPr/>
        </p:nvSpPr>
        <p:spPr>
          <a:xfrm xmlns:a="http://schemas.openxmlformats.org/drawingml/2006/main">
            <a:off x="6354634" y="2752552"/>
            <a:ext cx="2045621" cy="874606"/>
          </a:xfrm>
          <a:custGeom xmlns:a="http://schemas.openxmlformats.org/drawingml/2006/main">
            <a:rect l="l" t="t" r="r" b="b"/>
            <a:pathLst>
              <a:path w="2335197" h="708430">
                <a:moveTo>
                  <a:pt x="69972" y="0"/>
                </a:moveTo>
                <a:lnTo>
                  <a:pt x="2265225" y="0"/>
                </a:lnTo>
                <a:cubicBezTo>
                  <a:pt x="2303869" y="0"/>
                  <a:pt x="2335197" y="31327"/>
                  <a:pt x="2335197" y="69972"/>
                </a:cubicBezTo>
                <a:lnTo>
                  <a:pt x="2335197" y="638459"/>
                </a:lnTo>
                <a:cubicBezTo>
                  <a:pt x="2335197" y="677103"/>
                  <a:pt x="2303869" y="708430"/>
                  <a:pt x="2265225" y="708430"/>
                </a:cubicBezTo>
                <a:lnTo>
                  <a:pt x="69972" y="708430"/>
                </a:lnTo>
                <a:cubicBezTo>
                  <a:pt x="31327" y="708430"/>
                  <a:pt x="0" y="677103"/>
                  <a:pt x="0" y="638459"/>
                </a:cubicBezTo>
                <a:lnTo>
                  <a:pt x="0" y="69972"/>
                </a:lnTo>
                <a:cubicBezTo>
                  <a:pt x="0" y="31327"/>
                  <a:pt x="31327" y="0"/>
                  <a:pt x="69972"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6" name="Shape 24">
            <a:extLst xmlns:a="http://schemas.openxmlformats.org/drawingml/2006/main">
              <a:ext uri="{FF2B5EF4-FFF2-40B4-BE49-F238E27FC236}">
                <a16:creationId xmlns:a16="http://schemas.microsoft.com/office/drawing/2014/main" id="{A20C9FE1-CDA3-4273-97E6-6194B18DF39D}"/>
              </a:ext>
            </a:extLst>
          </p:cNvPr>
          <p:cNvSpPr>
            <a:spLocks xmlns:a="http://schemas.openxmlformats.org/drawingml/2006/main" noGrp="1"/>
          </p:cNvSpPr>
          <p:nvPr/>
        </p:nvSpPr>
        <p:spPr>
          <a:xfrm xmlns:a="http://schemas.openxmlformats.org/drawingml/2006/main">
            <a:off x="8551842" y="2752551"/>
            <a:ext cx="2691016" cy="874607"/>
          </a:xfrm>
          <a:custGeom xmlns:a="http://schemas.openxmlformats.org/drawingml/2006/main">
            <a:rect l="l" t="t" r="r" b="b"/>
            <a:pathLst>
              <a:path w="2335197" h="708430">
                <a:moveTo>
                  <a:pt x="69972" y="0"/>
                </a:moveTo>
                <a:lnTo>
                  <a:pt x="2265225" y="0"/>
                </a:lnTo>
                <a:cubicBezTo>
                  <a:pt x="2303869" y="0"/>
                  <a:pt x="2335197" y="31327"/>
                  <a:pt x="2335197" y="69972"/>
                </a:cubicBezTo>
                <a:lnTo>
                  <a:pt x="2335197" y="638459"/>
                </a:lnTo>
                <a:cubicBezTo>
                  <a:pt x="2335197" y="677103"/>
                  <a:pt x="2303869" y="708430"/>
                  <a:pt x="2265225" y="708430"/>
                </a:cubicBezTo>
                <a:lnTo>
                  <a:pt x="69972" y="708430"/>
                </a:lnTo>
                <a:cubicBezTo>
                  <a:pt x="31327" y="708430"/>
                  <a:pt x="0" y="677103"/>
                  <a:pt x="0" y="638459"/>
                </a:cubicBezTo>
                <a:lnTo>
                  <a:pt x="0" y="69972"/>
                </a:lnTo>
                <a:cubicBezTo>
                  <a:pt x="0" y="31327"/>
                  <a:pt x="31327" y="0"/>
                  <a:pt x="69972"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9" name="Text 27">
            <a:extLst xmlns:a="http://schemas.openxmlformats.org/drawingml/2006/main">
              <a:ext uri="{FF2B5EF4-FFF2-40B4-BE49-F238E27FC236}">
                <a16:creationId xmlns:a16="http://schemas.microsoft.com/office/drawing/2014/main" id="{44354481-97CF-4E7A-BBF8-B9CFF45E3230}"/>
              </a:ext>
            </a:extLst>
          </p:cNvPr>
          <p:cNvSpPr>
            <a:spLocks xmlns:a="http://schemas.openxmlformats.org/drawingml/2006/main" noGrp="1"/>
          </p:cNvSpPr>
          <p:nvPr/>
        </p:nvSpPr>
        <p:spPr>
          <a:xfrm xmlns:a="http://schemas.openxmlformats.org/drawingml/2006/main">
            <a:off x="6350261" y="3762803"/>
            <a:ext cx="4871552" cy="792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函数Normalize()是把角度插值限定在</a:t>
            </a:r>
            <a:r>
              <a:rPr sz="1600" b="1">
                <a:latin typeface="微软雅黑"/>
                <a:ea typeface="微软雅黑"/>
                <a:cs typeface="微软雅黑"/>
              </a:rPr>
              <a:t>[-π, π]</a:t>
            </a:r>
            <a:r>
              <a:rPr sz="1600">
                <a:latin typeface="微软雅黑"/>
                <a:ea typeface="微软雅黑"/>
                <a:cs typeface="微软雅黑"/>
              </a:rPr>
              <a:t>之间，否则会导致角速度的计算问题。</a:t>
            </a:r>
            <a:endParaRPr sz="2000"/>
          </a:p>
        </p:txBody>
      </p:sp>
      <p:sp>
        <p:nvSpPr>
          <p:cNvPr id="36" name="矩形 35">
            <a:extLst xmlns:a="http://schemas.openxmlformats.org/drawingml/2006/main">
              <a:ext uri="{FF2B5EF4-FFF2-40B4-BE49-F238E27FC236}">
                <a16:creationId xmlns:a16="http://schemas.microsoft.com/office/drawing/2014/main" id="{9ADBEA1F-49C3-5F9A-AFE8-ECEE846BC21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文本框 36">
            <a:extLst xmlns:a="http://schemas.openxmlformats.org/drawingml/2006/main">
              <a:ext uri="{FF2B5EF4-FFF2-40B4-BE49-F238E27FC236}">
                <a16:creationId xmlns:a16="http://schemas.microsoft.com/office/drawing/2014/main" id="{D6C6C3C1-9143-FDC4-3D42-94BE22FA24A9}"/>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spTree>
    <p:extLst>
      <p:ext uri="{BB962C8B-B14F-4D97-AF65-F5344CB8AC3E}">
        <p14:creationId xmlns:p14="http://schemas.microsoft.com/office/powerpoint/2010/main" val="1313248629"/>
      </p:ext>
    </p:extLst>
  </p:cSld>
</p:sld>
</file>

<file path=ppt/slides/slide135.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28816C2A-7EEC-495C-9F8E-1A6A0FE45B14}"/>
              </a:ext>
            </a:extLst>
          </p:cNvPr>
          <p:cNvSpPr>
            <a:spLocks xmlns:a="http://schemas.openxmlformats.org/drawingml/2006/main" noGrp="1"/>
          </p:cNvSpPr>
          <p:nvPr/>
        </p:nvSpPr>
        <p:spPr>
          <a:xfrm xmlns:a="http://schemas.openxmlformats.org/drawingml/2006/main">
            <a:off x="400050" y="2093768"/>
            <a:ext cx="5886450" cy="3299499"/>
          </a:xfrm>
          <a:custGeom xmlns:a="http://schemas.openxmlformats.org/drawingml/2006/main">
            <a:rect l="l" t="t" r="r" b="b"/>
            <a:pathLst>
              <a:path w="7448550" h="2562225">
                <a:moveTo>
                  <a:pt x="38100" y="0"/>
                </a:moveTo>
                <a:lnTo>
                  <a:pt x="7334249" y="0"/>
                </a:lnTo>
                <a:cubicBezTo>
                  <a:pt x="7397376" y="0"/>
                  <a:pt x="7448550" y="51174"/>
                  <a:pt x="7448550" y="114301"/>
                </a:cubicBezTo>
                <a:lnTo>
                  <a:pt x="7448550" y="2447924"/>
                </a:lnTo>
                <a:cubicBezTo>
                  <a:pt x="7448550" y="2511051"/>
                  <a:pt x="7397376" y="2562225"/>
                  <a:pt x="7334249" y="2562225"/>
                </a:cubicBezTo>
                <a:lnTo>
                  <a:pt x="38100" y="2562225"/>
                </a:lnTo>
                <a:cubicBezTo>
                  <a:pt x="17072" y="2562225"/>
                  <a:pt x="0" y="2545153"/>
                  <a:pt x="0" y="25241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E7FD1A65-3E05-4903-8CD8-1D553608B7E9}"/>
              </a:ext>
            </a:extLst>
          </p:cNvPr>
          <p:cNvSpPr>
            <a:spLocks xmlns:a="http://schemas.openxmlformats.org/drawingml/2006/main" noGrp="1"/>
          </p:cNvSpPr>
          <p:nvPr/>
        </p:nvSpPr>
        <p:spPr>
          <a:xfrm xmlns:a="http://schemas.openxmlformats.org/drawingml/2006/main">
            <a:off x="400050" y="2093768"/>
            <a:ext cx="38100" cy="3299499"/>
          </a:xfrm>
          <a:custGeom xmlns:a="http://schemas.openxmlformats.org/drawingml/2006/main">
            <a:rect l="l" t="t" r="r" b="b"/>
            <a:pathLst>
              <a:path w="38100" h="2562225">
                <a:moveTo>
                  <a:pt x="38100" y="0"/>
                </a:moveTo>
                <a:lnTo>
                  <a:pt x="38100" y="0"/>
                </a:lnTo>
                <a:lnTo>
                  <a:pt x="38100" y="2562225"/>
                </a:lnTo>
                <a:lnTo>
                  <a:pt x="38100" y="2562225"/>
                </a:lnTo>
                <a:cubicBezTo>
                  <a:pt x="17072" y="2562225"/>
                  <a:pt x="0" y="2545153"/>
                  <a:pt x="0" y="2524125"/>
                </a:cubicBezTo>
                <a:lnTo>
                  <a:pt x="0" y="38100"/>
                </a:lnTo>
                <a:cubicBezTo>
                  <a:pt x="0" y="17072"/>
                  <a:pt x="17072" y="0"/>
                  <a:pt x="3810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48955488-68C7-42A6-8F78-D94627FE4809}"/>
              </a:ext>
            </a:extLst>
          </p:cNvPr>
          <p:cNvSpPr>
            <a:spLocks xmlns:a="http://schemas.openxmlformats.org/drawingml/2006/main" noGrp="1"/>
          </p:cNvSpPr>
          <p:nvPr/>
        </p:nvSpPr>
        <p:spPr>
          <a:xfrm xmlns:a="http://schemas.openxmlformats.org/drawingml/2006/main">
            <a:off x="704850" y="2360468"/>
            <a:ext cx="171450" cy="228600"/>
          </a:xfrm>
          <a:custGeom xmlns:a="http://schemas.openxmlformats.org/drawingml/2006/main">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42863" y="28575"/>
                </a:moveTo>
                <a:lnTo>
                  <a:pt x="128588" y="28575"/>
                </a:lnTo>
                <a:cubicBezTo>
                  <a:pt x="136490" y="28575"/>
                  <a:pt x="142875" y="34960"/>
                  <a:pt x="142875" y="42863"/>
                </a:cubicBezTo>
                <a:lnTo>
                  <a:pt x="142875" y="57150"/>
                </a:lnTo>
                <a:cubicBezTo>
                  <a:pt x="142875" y="65053"/>
                  <a:pt x="136490" y="71438"/>
                  <a:pt x="128588" y="71438"/>
                </a:cubicBezTo>
                <a:lnTo>
                  <a:pt x="42863" y="71438"/>
                </a:lnTo>
                <a:cubicBezTo>
                  <a:pt x="34960" y="71438"/>
                  <a:pt x="28575" y="65053"/>
                  <a:pt x="28575" y="57150"/>
                </a:cubicBezTo>
                <a:lnTo>
                  <a:pt x="28575" y="42863"/>
                </a:lnTo>
                <a:cubicBezTo>
                  <a:pt x="28575" y="34960"/>
                  <a:pt x="34960" y="28575"/>
                  <a:pt x="42863" y="28575"/>
                </a:cubicBezTo>
                <a:close/>
                <a:moveTo>
                  <a:pt x="50006" y="103584"/>
                </a:moveTo>
                <a:cubicBezTo>
                  <a:pt x="50006" y="109498"/>
                  <a:pt x="45205" y="114300"/>
                  <a:pt x="39291" y="114300"/>
                </a:cubicBezTo>
                <a:cubicBezTo>
                  <a:pt x="33377" y="114300"/>
                  <a:pt x="28575" y="109498"/>
                  <a:pt x="28575" y="103584"/>
                </a:cubicBezTo>
                <a:cubicBezTo>
                  <a:pt x="28575" y="97670"/>
                  <a:pt x="33377" y="92869"/>
                  <a:pt x="39291" y="92869"/>
                </a:cubicBezTo>
                <a:cubicBezTo>
                  <a:pt x="45205" y="92869"/>
                  <a:pt x="50006" y="97670"/>
                  <a:pt x="50006" y="103584"/>
                </a:cubicBezTo>
                <a:close/>
                <a:moveTo>
                  <a:pt x="85725" y="114300"/>
                </a:moveTo>
                <a:cubicBezTo>
                  <a:pt x="79811" y="114300"/>
                  <a:pt x="75009" y="109498"/>
                  <a:pt x="75009" y="103584"/>
                </a:cubicBezTo>
                <a:cubicBezTo>
                  <a:pt x="75009" y="97670"/>
                  <a:pt x="79811" y="92869"/>
                  <a:pt x="85725" y="92869"/>
                </a:cubicBezTo>
                <a:cubicBezTo>
                  <a:pt x="91639" y="92869"/>
                  <a:pt x="96441" y="97670"/>
                  <a:pt x="96441" y="103584"/>
                </a:cubicBezTo>
                <a:cubicBezTo>
                  <a:pt x="96441" y="109498"/>
                  <a:pt x="91639" y="114300"/>
                  <a:pt x="85725" y="114300"/>
                </a:cubicBezTo>
                <a:close/>
                <a:moveTo>
                  <a:pt x="142875" y="103584"/>
                </a:moveTo>
                <a:cubicBezTo>
                  <a:pt x="142875" y="109498"/>
                  <a:pt x="138073" y="114300"/>
                  <a:pt x="132159" y="114300"/>
                </a:cubicBezTo>
                <a:cubicBezTo>
                  <a:pt x="126245" y="114300"/>
                  <a:pt x="121444" y="109498"/>
                  <a:pt x="121444" y="103584"/>
                </a:cubicBezTo>
                <a:cubicBezTo>
                  <a:pt x="121444" y="97670"/>
                  <a:pt x="126245" y="92869"/>
                  <a:pt x="132159" y="92869"/>
                </a:cubicBezTo>
                <a:cubicBezTo>
                  <a:pt x="138073" y="92869"/>
                  <a:pt x="142875" y="97670"/>
                  <a:pt x="142875" y="103584"/>
                </a:cubicBezTo>
                <a:close/>
                <a:moveTo>
                  <a:pt x="39291" y="157163"/>
                </a:moveTo>
                <a:cubicBezTo>
                  <a:pt x="33377" y="157163"/>
                  <a:pt x="28575" y="152361"/>
                  <a:pt x="28575" y="146447"/>
                </a:cubicBezTo>
                <a:cubicBezTo>
                  <a:pt x="28575" y="140533"/>
                  <a:pt x="33377" y="135731"/>
                  <a:pt x="39291" y="135731"/>
                </a:cubicBezTo>
                <a:cubicBezTo>
                  <a:pt x="45205" y="135731"/>
                  <a:pt x="50006" y="140533"/>
                  <a:pt x="50006" y="146447"/>
                </a:cubicBezTo>
                <a:cubicBezTo>
                  <a:pt x="50006" y="152361"/>
                  <a:pt x="45205" y="157163"/>
                  <a:pt x="39291" y="157163"/>
                </a:cubicBezTo>
                <a:close/>
                <a:moveTo>
                  <a:pt x="96441" y="146447"/>
                </a:moveTo>
                <a:cubicBezTo>
                  <a:pt x="96441" y="152361"/>
                  <a:pt x="91639" y="157163"/>
                  <a:pt x="85725" y="157163"/>
                </a:cubicBezTo>
                <a:cubicBezTo>
                  <a:pt x="79811" y="157163"/>
                  <a:pt x="75009" y="152361"/>
                  <a:pt x="75009" y="146447"/>
                </a:cubicBezTo>
                <a:cubicBezTo>
                  <a:pt x="75009" y="140533"/>
                  <a:pt x="79811" y="135731"/>
                  <a:pt x="85725" y="135731"/>
                </a:cubicBezTo>
                <a:cubicBezTo>
                  <a:pt x="91639" y="135731"/>
                  <a:pt x="96441" y="140533"/>
                  <a:pt x="96441" y="146447"/>
                </a:cubicBezTo>
                <a:close/>
                <a:moveTo>
                  <a:pt x="132159" y="157163"/>
                </a:moveTo>
                <a:cubicBezTo>
                  <a:pt x="126245" y="157163"/>
                  <a:pt x="121444" y="152361"/>
                  <a:pt x="121444" y="146447"/>
                </a:cubicBezTo>
                <a:cubicBezTo>
                  <a:pt x="121444" y="140533"/>
                  <a:pt x="126245" y="135731"/>
                  <a:pt x="132159" y="135731"/>
                </a:cubicBezTo>
                <a:cubicBezTo>
                  <a:pt x="138073" y="135731"/>
                  <a:pt x="142875" y="140533"/>
                  <a:pt x="142875" y="146447"/>
                </a:cubicBezTo>
                <a:cubicBezTo>
                  <a:pt x="142875" y="152361"/>
                  <a:pt x="138073" y="157163"/>
                  <a:pt x="132159" y="157163"/>
                </a:cubicBezTo>
                <a:close/>
                <a:moveTo>
                  <a:pt x="28575" y="189309"/>
                </a:moveTo>
                <a:cubicBezTo>
                  <a:pt x="28575" y="183371"/>
                  <a:pt x="33352" y="178594"/>
                  <a:pt x="39291" y="178594"/>
                </a:cubicBezTo>
                <a:lnTo>
                  <a:pt x="89297" y="178594"/>
                </a:lnTo>
                <a:cubicBezTo>
                  <a:pt x="95235" y="178594"/>
                  <a:pt x="100013" y="183371"/>
                  <a:pt x="100013" y="189309"/>
                </a:cubicBezTo>
                <a:cubicBezTo>
                  <a:pt x="100013" y="195248"/>
                  <a:pt x="95235" y="200025"/>
                  <a:pt x="89297" y="200025"/>
                </a:cubicBezTo>
                <a:lnTo>
                  <a:pt x="39291" y="200025"/>
                </a:lnTo>
                <a:cubicBezTo>
                  <a:pt x="33352" y="200025"/>
                  <a:pt x="28575" y="195248"/>
                  <a:pt x="28575" y="189309"/>
                </a:cubicBezTo>
                <a:close/>
                <a:moveTo>
                  <a:pt x="132159" y="178594"/>
                </a:moveTo>
                <a:cubicBezTo>
                  <a:pt x="138098" y="178594"/>
                  <a:pt x="142875" y="183371"/>
                  <a:pt x="142875" y="189309"/>
                </a:cubicBezTo>
                <a:cubicBezTo>
                  <a:pt x="142875" y="195248"/>
                  <a:pt x="138098" y="200025"/>
                  <a:pt x="132159" y="200025"/>
                </a:cubicBezTo>
                <a:cubicBezTo>
                  <a:pt x="126221" y="200025"/>
                  <a:pt x="121444" y="195248"/>
                  <a:pt x="121444" y="189309"/>
                </a:cubicBezTo>
                <a:cubicBezTo>
                  <a:pt x="121444" y="183371"/>
                  <a:pt x="126221" y="178594"/>
                  <a:pt x="132159" y="178594"/>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63F66ED3-D480-41A3-9F76-44777B13CD26}"/>
              </a:ext>
            </a:extLst>
          </p:cNvPr>
          <p:cNvSpPr>
            <a:spLocks xmlns:a="http://schemas.openxmlformats.org/drawingml/2006/main" noGrp="1"/>
          </p:cNvSpPr>
          <p:nvPr/>
        </p:nvSpPr>
        <p:spPr>
          <a:xfrm xmlns:a="http://schemas.openxmlformats.org/drawingml/2006/main">
            <a:off x="1085850" y="2322368"/>
            <a:ext cx="4752975"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代价函数</a:t>
            </a:r>
            <a:endParaRPr sz="1600"/>
          </a:p>
        </p:txBody>
      </p:sp>
      <p:sp>
        <p:nvSpPr>
          <p:cNvPr id="9" name="Text 7">
            <a:extLst xmlns:a="http://schemas.openxmlformats.org/drawingml/2006/main">
              <a:ext uri="{FF2B5EF4-FFF2-40B4-BE49-F238E27FC236}">
                <a16:creationId xmlns:a16="http://schemas.microsoft.com/office/drawing/2014/main" id="{E9B51E31-3938-41A0-B026-AC86D84E9373}"/>
              </a:ext>
            </a:extLst>
          </p:cNvPr>
          <p:cNvSpPr>
            <a:spLocks xmlns:a="http://schemas.openxmlformats.org/drawingml/2006/main" noGrp="1"/>
          </p:cNvSpPr>
          <p:nvPr/>
        </p:nvSpPr>
        <p:spPr>
          <a:xfrm xmlns:a="http://schemas.openxmlformats.org/drawingml/2006/main">
            <a:off x="1085850" y="2741468"/>
            <a:ext cx="4724400"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TEB算法的代价函数为：</a:t>
            </a:r>
            <a:endParaRPr sz="2000"/>
          </a:p>
        </p:txBody>
      </p:sp>
      <p:sp>
        <p:nvSpPr>
          <p:cNvPr id="10" name="Shape 8">
            <a:extLst xmlns:a="http://schemas.openxmlformats.org/drawingml/2006/main">
              <a:ext uri="{FF2B5EF4-FFF2-40B4-BE49-F238E27FC236}">
                <a16:creationId xmlns:a16="http://schemas.microsoft.com/office/drawing/2014/main" id="{6AA59158-48F8-4504-ADC7-EB58D82DF969}"/>
              </a:ext>
            </a:extLst>
          </p:cNvPr>
          <p:cNvSpPr>
            <a:spLocks xmlns:a="http://schemas.openxmlformats.org/drawingml/2006/main" noGrp="1"/>
          </p:cNvSpPr>
          <p:nvPr/>
        </p:nvSpPr>
        <p:spPr>
          <a:xfrm xmlns:a="http://schemas.openxmlformats.org/drawingml/2006/main">
            <a:off x="1090613" y="3139137"/>
            <a:ext cx="4629150" cy="885825"/>
          </a:xfrm>
          <a:custGeom xmlns:a="http://schemas.openxmlformats.org/drawingml/2006/main">
            <a:rect l="l" t="t" r="r" b="b"/>
            <a:pathLst>
              <a:path w="4629150" h="885825">
                <a:moveTo>
                  <a:pt x="76199" y="0"/>
                </a:moveTo>
                <a:lnTo>
                  <a:pt x="4552951" y="0"/>
                </a:lnTo>
                <a:cubicBezTo>
                  <a:pt x="4595035" y="0"/>
                  <a:pt x="4629150" y="34115"/>
                  <a:pt x="4629150" y="76199"/>
                </a:cubicBezTo>
                <a:lnTo>
                  <a:pt x="4629150" y="809626"/>
                </a:lnTo>
                <a:cubicBezTo>
                  <a:pt x="4629150" y="851710"/>
                  <a:pt x="4595035" y="885825"/>
                  <a:pt x="4552951" y="885825"/>
                </a:cubicBezTo>
                <a:lnTo>
                  <a:pt x="76199" y="885825"/>
                </a:lnTo>
                <a:cubicBezTo>
                  <a:pt x="34115" y="885825"/>
                  <a:pt x="0" y="851710"/>
                  <a:pt x="0" y="809626"/>
                </a:cubicBezTo>
                <a:lnTo>
                  <a:pt x="0" y="76199"/>
                </a:lnTo>
                <a:cubicBezTo>
                  <a:pt x="0" y="34143"/>
                  <a:pt x="34143" y="0"/>
                  <a:pt x="76199"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35" name="矩形 34">
            <a:extLst xmlns:a="http://schemas.openxmlformats.org/drawingml/2006/main">
              <a:ext uri="{FF2B5EF4-FFF2-40B4-BE49-F238E27FC236}">
                <a16:creationId xmlns:a16="http://schemas.microsoft.com/office/drawing/2014/main" id="{482000B4-E38B-6ECA-EEB8-6A4708EA5599}"/>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文本框 35">
            <a:extLst xmlns:a="http://schemas.openxmlformats.org/drawingml/2006/main">
              <a:ext uri="{FF2B5EF4-FFF2-40B4-BE49-F238E27FC236}">
                <a16:creationId xmlns:a16="http://schemas.microsoft.com/office/drawing/2014/main" id="{C5C772B8-EF20-38F1-1EE1-04B3BA55DE4A}"/>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sp>
        <p:nvSpPr>
          <p:cNvPr id="38" name="Shape 3">
            <a:extLst xmlns:a="http://schemas.openxmlformats.org/drawingml/2006/main">
              <a:ext uri="{FF2B5EF4-FFF2-40B4-BE49-F238E27FC236}">
                <a16:creationId xmlns:a16="http://schemas.microsoft.com/office/drawing/2014/main" id="{425D429A-453C-4272-905C-892B4D8AE02B}"/>
              </a:ext>
            </a:extLst>
          </p:cNvPr>
          <p:cNvSpPr>
            <a:spLocks xmlns:a="http://schemas.openxmlformats.org/drawingml/2006/main" noGrp="1"/>
          </p:cNvSpPr>
          <p:nvPr/>
        </p:nvSpPr>
        <p:spPr>
          <a:xfrm xmlns:a="http://schemas.openxmlformats.org/drawingml/2006/main">
            <a:off x="6810929" y="2115199"/>
            <a:ext cx="4290458" cy="3278068"/>
          </a:xfrm>
          <a:custGeom xmlns:a="http://schemas.openxmlformats.org/drawingml/2006/main">
            <a:rect l="l" t="t" r="r" b="b"/>
            <a:pathLst>
              <a:path w="7448550" h="2047875">
                <a:moveTo>
                  <a:pt x="38100" y="0"/>
                </a:moveTo>
                <a:lnTo>
                  <a:pt x="7334258" y="0"/>
                </a:lnTo>
                <a:cubicBezTo>
                  <a:pt x="7397380" y="0"/>
                  <a:pt x="7448550" y="51170"/>
                  <a:pt x="7448550" y="114292"/>
                </a:cubicBezTo>
                <a:lnTo>
                  <a:pt x="7448550" y="1933583"/>
                </a:lnTo>
                <a:cubicBezTo>
                  <a:pt x="7448550" y="1996705"/>
                  <a:pt x="7397380" y="2047875"/>
                  <a:pt x="7334258" y="2047875"/>
                </a:cubicBezTo>
                <a:lnTo>
                  <a:pt x="38100" y="2047875"/>
                </a:lnTo>
                <a:cubicBezTo>
                  <a:pt x="17072" y="2047875"/>
                  <a:pt x="0" y="2030803"/>
                  <a:pt x="0" y="200977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39" name="Shape 4">
            <a:extLst xmlns:a="http://schemas.openxmlformats.org/drawingml/2006/main">
              <a:ext uri="{FF2B5EF4-FFF2-40B4-BE49-F238E27FC236}">
                <a16:creationId xmlns:a16="http://schemas.microsoft.com/office/drawing/2014/main" id="{3419E8F2-FB72-4952-81FC-368CE9E4EBB6}"/>
              </a:ext>
            </a:extLst>
          </p:cNvPr>
          <p:cNvSpPr>
            <a:spLocks xmlns:a="http://schemas.openxmlformats.org/drawingml/2006/main" noGrp="1"/>
          </p:cNvSpPr>
          <p:nvPr/>
        </p:nvSpPr>
        <p:spPr>
          <a:xfrm xmlns:a="http://schemas.openxmlformats.org/drawingml/2006/main">
            <a:off x="6810929" y="2115199"/>
            <a:ext cx="38100" cy="3278068"/>
          </a:xfrm>
          <a:custGeom xmlns:a="http://schemas.openxmlformats.org/drawingml/2006/main">
            <a:rect l="l" t="t" r="r" b="b"/>
            <a:pathLst>
              <a:path w="38100" h="2047875">
                <a:moveTo>
                  <a:pt x="38100" y="0"/>
                </a:moveTo>
                <a:lnTo>
                  <a:pt x="38100" y="0"/>
                </a:lnTo>
                <a:lnTo>
                  <a:pt x="38100" y="2047875"/>
                </a:lnTo>
                <a:lnTo>
                  <a:pt x="38100" y="2047875"/>
                </a:lnTo>
                <a:cubicBezTo>
                  <a:pt x="17072" y="2047875"/>
                  <a:pt x="0" y="2030803"/>
                  <a:pt x="0" y="2009775"/>
                </a:cubicBezTo>
                <a:lnTo>
                  <a:pt x="0" y="38100"/>
                </a:lnTo>
                <a:cubicBezTo>
                  <a:pt x="0" y="17072"/>
                  <a:pt x="17072" y="0"/>
                  <a:pt x="38100" y="0"/>
                </a:cubicBezTo>
                <a:close/>
              </a:path>
            </a:pathLst>
          </a:custGeom>
          <a:solidFill xmlns:a="http://schemas.openxmlformats.org/drawingml/2006/main">
            <a:srgbClr val="E6B450"/>
          </a:solidFill>
        </p:spPr>
      </p:sp>
      <p:sp>
        <p:nvSpPr>
          <p:cNvPr id="40" name="Shape 5">
            <a:extLst xmlns:a="http://schemas.openxmlformats.org/drawingml/2006/main">
              <a:ext uri="{FF2B5EF4-FFF2-40B4-BE49-F238E27FC236}">
                <a16:creationId xmlns:a16="http://schemas.microsoft.com/office/drawing/2014/main" id="{A3699B17-695A-4D86-AF43-68EF7F372BB2}"/>
              </a:ext>
            </a:extLst>
          </p:cNvPr>
          <p:cNvSpPr>
            <a:spLocks xmlns:a="http://schemas.openxmlformats.org/drawingml/2006/main" noGrp="1"/>
          </p:cNvSpPr>
          <p:nvPr/>
        </p:nvSpPr>
        <p:spPr>
          <a:xfrm xmlns:a="http://schemas.openxmlformats.org/drawingml/2006/main">
            <a:off x="7087154" y="2381899"/>
            <a:ext cx="228600" cy="228600"/>
          </a:xfrm>
          <a:custGeom xmlns:a="http://schemas.openxmlformats.org/drawingml/2006/main">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xmlns:a="http://schemas.openxmlformats.org/drawingml/2006/main">
            <a:srgbClr val="E6B450"/>
          </a:solidFill>
        </p:spPr>
      </p:sp>
      <p:sp>
        <p:nvSpPr>
          <p:cNvPr id="41" name="Text 6">
            <a:extLst xmlns:a="http://schemas.openxmlformats.org/drawingml/2006/main">
              <a:ext uri="{FF2B5EF4-FFF2-40B4-BE49-F238E27FC236}">
                <a16:creationId xmlns:a16="http://schemas.microsoft.com/office/drawing/2014/main" id="{1D443BC0-5CE1-4CB5-A718-8BA2972D5C81}"/>
              </a:ext>
            </a:extLst>
          </p:cNvPr>
          <p:cNvSpPr>
            <a:spLocks xmlns:a="http://schemas.openxmlformats.org/drawingml/2006/main" noGrp="1"/>
          </p:cNvSpPr>
          <p:nvPr/>
        </p:nvSpPr>
        <p:spPr>
          <a:xfrm xmlns:a="http://schemas.openxmlformats.org/drawingml/2006/main">
            <a:off x="7496729" y="2343799"/>
            <a:ext cx="3228975"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sz="1800" b="1">
                <a:latin typeface="微软雅黑"/>
                <a:ea typeface="微软雅黑"/>
                <a:cs typeface="微软雅黑"/>
              </a:rPr>
              <a:t>加速度限制条件</a:t>
            </a:r>
            <a:endParaRPr sz="1600"/>
          </a:p>
        </p:txBody>
      </p:sp>
      <p:sp>
        <p:nvSpPr>
          <p:cNvPr id="42" name="Text 7">
            <a:extLst xmlns:a="http://schemas.openxmlformats.org/drawingml/2006/main">
              <a:ext uri="{FF2B5EF4-FFF2-40B4-BE49-F238E27FC236}">
                <a16:creationId xmlns:a16="http://schemas.microsoft.com/office/drawing/2014/main" id="{9C48A1B9-6E90-415C-9A8E-6E7D824A4C29}"/>
              </a:ext>
            </a:extLst>
          </p:cNvPr>
          <p:cNvSpPr>
            <a:spLocks xmlns:a="http://schemas.openxmlformats.org/drawingml/2006/main" noGrp="1"/>
          </p:cNvSpPr>
          <p:nvPr/>
        </p:nvSpPr>
        <p:spPr>
          <a:xfrm xmlns:a="http://schemas.openxmlformats.org/drawingml/2006/main">
            <a:off x="7496729" y="2762899"/>
            <a:ext cx="3200400"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TEB算法的加速度限制条件为：</a:t>
            </a:r>
            <a:endParaRPr sz="2000"/>
          </a:p>
        </p:txBody>
      </p:sp>
      <p:sp>
        <p:nvSpPr>
          <p:cNvPr id="43" name="Shape 8">
            <a:extLst xmlns:a="http://schemas.openxmlformats.org/drawingml/2006/main">
              <a:ext uri="{FF2B5EF4-FFF2-40B4-BE49-F238E27FC236}">
                <a16:creationId xmlns:a16="http://schemas.microsoft.com/office/drawing/2014/main" id="{29C6A4E9-29A2-4EFF-B573-B9EFCFA0F3C8}"/>
              </a:ext>
            </a:extLst>
          </p:cNvPr>
          <p:cNvSpPr>
            <a:spLocks xmlns:a="http://schemas.openxmlformats.org/drawingml/2006/main" noGrp="1"/>
          </p:cNvSpPr>
          <p:nvPr/>
        </p:nvSpPr>
        <p:spPr>
          <a:xfrm xmlns:a="http://schemas.openxmlformats.org/drawingml/2006/main">
            <a:off x="7501492" y="3160568"/>
            <a:ext cx="2620408" cy="771525"/>
          </a:xfrm>
          <a:custGeom xmlns:a="http://schemas.openxmlformats.org/drawingml/2006/main">
            <a:rect l="l" t="t" r="r" b="b"/>
            <a:pathLst>
              <a:path w="1495425" h="771525">
                <a:moveTo>
                  <a:pt x="76204" y="0"/>
                </a:moveTo>
                <a:lnTo>
                  <a:pt x="1419221" y="0"/>
                </a:lnTo>
                <a:cubicBezTo>
                  <a:pt x="1461308" y="0"/>
                  <a:pt x="1495425" y="34117"/>
                  <a:pt x="1495425" y="76204"/>
                </a:cubicBezTo>
                <a:lnTo>
                  <a:pt x="1495425" y="695321"/>
                </a:lnTo>
                <a:cubicBezTo>
                  <a:pt x="1495425" y="737408"/>
                  <a:pt x="1461308" y="771525"/>
                  <a:pt x="1419221" y="771525"/>
                </a:cubicBezTo>
                <a:lnTo>
                  <a:pt x="76204" y="771525"/>
                </a:lnTo>
                <a:cubicBezTo>
                  <a:pt x="34117" y="771525"/>
                  <a:pt x="0" y="737408"/>
                  <a:pt x="0" y="695321"/>
                </a:cubicBezTo>
                <a:lnTo>
                  <a:pt x="0" y="76204"/>
                </a:lnTo>
                <a:cubicBezTo>
                  <a:pt x="0" y="34146"/>
                  <a:pt x="34146" y="0"/>
                  <a:pt x="7620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46" name="Shape 11">
            <a:extLst xmlns:a="http://schemas.openxmlformats.org/drawingml/2006/main">
              <a:ext uri="{FF2B5EF4-FFF2-40B4-BE49-F238E27FC236}">
                <a16:creationId xmlns:a16="http://schemas.microsoft.com/office/drawing/2014/main" id="{15A920DA-BDB1-466D-AE4D-EDD54663BB3E}"/>
              </a:ext>
            </a:extLst>
          </p:cNvPr>
          <p:cNvSpPr>
            <a:spLocks xmlns:a="http://schemas.openxmlformats.org/drawingml/2006/main" noGrp="1"/>
          </p:cNvSpPr>
          <p:nvPr/>
        </p:nvSpPr>
        <p:spPr>
          <a:xfrm xmlns:a="http://schemas.openxmlformats.org/drawingml/2006/main">
            <a:off x="7496729" y="4277374"/>
            <a:ext cx="2625171" cy="771525"/>
          </a:xfrm>
          <a:custGeom xmlns:a="http://schemas.openxmlformats.org/drawingml/2006/main">
            <a:rect l="l" t="t" r="r" b="b"/>
            <a:pathLst>
              <a:path w="1495425" h="771525">
                <a:moveTo>
                  <a:pt x="76204" y="0"/>
                </a:moveTo>
                <a:lnTo>
                  <a:pt x="1419221" y="0"/>
                </a:lnTo>
                <a:cubicBezTo>
                  <a:pt x="1461308" y="0"/>
                  <a:pt x="1495425" y="34117"/>
                  <a:pt x="1495425" y="76204"/>
                </a:cubicBezTo>
                <a:lnTo>
                  <a:pt x="1495425" y="695321"/>
                </a:lnTo>
                <a:cubicBezTo>
                  <a:pt x="1495425" y="737408"/>
                  <a:pt x="1461308" y="771525"/>
                  <a:pt x="1419221" y="771525"/>
                </a:cubicBezTo>
                <a:lnTo>
                  <a:pt x="76204" y="771525"/>
                </a:lnTo>
                <a:cubicBezTo>
                  <a:pt x="34117" y="771525"/>
                  <a:pt x="0" y="737408"/>
                  <a:pt x="0" y="695321"/>
                </a:cubicBezTo>
                <a:lnTo>
                  <a:pt x="0" y="76204"/>
                </a:lnTo>
                <a:cubicBezTo>
                  <a:pt x="0" y="34146"/>
                  <a:pt x="34146" y="0"/>
                  <a:pt x="7620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49" name="Shape 8">
            <a:extLst xmlns:a="http://schemas.openxmlformats.org/drawingml/2006/main">
              <a:ext uri="{FF2B5EF4-FFF2-40B4-BE49-F238E27FC236}">
                <a16:creationId xmlns:a16="http://schemas.microsoft.com/office/drawing/2014/main" id="{5710007E-6DC5-E496-CA25-30F3F88B89D1}"/>
              </a:ext>
            </a:extLst>
          </p:cNvPr>
          <p:cNvSpPr>
            <a:spLocks xmlns:a="http://schemas.openxmlformats.org/drawingml/2006/main" noGrp="1"/>
          </p:cNvSpPr>
          <p:nvPr/>
        </p:nvSpPr>
        <p:spPr>
          <a:xfrm xmlns:a="http://schemas.openxmlformats.org/drawingml/2006/main">
            <a:off x="1133475" y="4170892"/>
            <a:ext cx="4629150" cy="885825"/>
          </a:xfrm>
          <a:custGeom xmlns:a="http://schemas.openxmlformats.org/drawingml/2006/main">
            <a:rect l="l" t="t" r="r" b="b"/>
            <a:pathLst>
              <a:path w="4629150" h="885825">
                <a:moveTo>
                  <a:pt x="76199" y="0"/>
                </a:moveTo>
                <a:lnTo>
                  <a:pt x="4552951" y="0"/>
                </a:lnTo>
                <a:cubicBezTo>
                  <a:pt x="4595035" y="0"/>
                  <a:pt x="4629150" y="34115"/>
                  <a:pt x="4629150" y="76199"/>
                </a:cubicBezTo>
                <a:lnTo>
                  <a:pt x="4629150" y="809626"/>
                </a:lnTo>
                <a:cubicBezTo>
                  <a:pt x="4629150" y="851710"/>
                  <a:pt x="4595035" y="885825"/>
                  <a:pt x="4552951" y="885825"/>
                </a:cubicBezTo>
                <a:lnTo>
                  <a:pt x="76199" y="885825"/>
                </a:lnTo>
                <a:cubicBezTo>
                  <a:pt x="34115" y="885825"/>
                  <a:pt x="0" y="851710"/>
                  <a:pt x="0" y="809626"/>
                </a:cubicBezTo>
                <a:lnTo>
                  <a:pt x="0" y="76199"/>
                </a:lnTo>
                <a:cubicBezTo>
                  <a:pt x="0" y="34143"/>
                  <a:pt x="34143" y="0"/>
                  <a:pt x="76199"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Tree>
    <p:extLst>
      <p:ext uri="{BB962C8B-B14F-4D97-AF65-F5344CB8AC3E}">
        <p14:creationId xmlns:p14="http://schemas.microsoft.com/office/powerpoint/2010/main" val="4191847624"/>
      </p:ext>
    </p:extLst>
  </p:cSld>
</p:sld>
</file>

<file path=ppt/slides/slide136.xml><?xml version="1.0" encoding="utf-8"?>
<p:sld xmlns:p="http://schemas.openxmlformats.org/presentationml/2006/main">
  <p:cSld>
    <p:spTree>
      <p:nvGrpSpPr>
        <p:cNvPr id="1" name=""/>
        <p:cNvGrpSpPr/>
        <p:nvPr/>
      </p:nvGrpSpPr>
      <p:grpSpPr>
        <a:xfrm xmlns:a="http://schemas.openxmlformats.org/drawingml/2006/main"/>
      </p:grpSpPr>
      <p:sp>
        <p:nvSpPr>
          <p:cNvPr id="16" name="Shape 14">
            <a:extLst xmlns:a="http://schemas.openxmlformats.org/drawingml/2006/main">
              <a:ext uri="{FF2B5EF4-FFF2-40B4-BE49-F238E27FC236}">
                <a16:creationId xmlns:a16="http://schemas.microsoft.com/office/drawing/2014/main" id="{14E17D87-4CCC-4710-B661-6613B6436F3E}"/>
              </a:ext>
            </a:extLst>
          </p:cNvPr>
          <p:cNvSpPr>
            <a:spLocks xmlns:a="http://schemas.openxmlformats.org/drawingml/2006/main" noGrp="1"/>
          </p:cNvSpPr>
          <p:nvPr/>
        </p:nvSpPr>
        <p:spPr>
          <a:xfrm xmlns:a="http://schemas.openxmlformats.org/drawingml/2006/main">
            <a:off x="400050" y="1789905"/>
            <a:ext cx="8443382" cy="3679561"/>
          </a:xfrm>
          <a:custGeom xmlns:a="http://schemas.openxmlformats.org/drawingml/2006/main">
            <a:rect l="l" t="t" r="r" b="b"/>
            <a:pathLst>
              <a:path w="7448550" h="2333625">
                <a:moveTo>
                  <a:pt x="38100" y="0"/>
                </a:moveTo>
                <a:lnTo>
                  <a:pt x="7334249" y="0"/>
                </a:lnTo>
                <a:cubicBezTo>
                  <a:pt x="7397376" y="0"/>
                  <a:pt x="7448550" y="51174"/>
                  <a:pt x="7448550" y="114301"/>
                </a:cubicBezTo>
                <a:lnTo>
                  <a:pt x="7448550" y="2219324"/>
                </a:lnTo>
                <a:cubicBezTo>
                  <a:pt x="7448550" y="2282451"/>
                  <a:pt x="7397376" y="2333625"/>
                  <a:pt x="7334249" y="2333625"/>
                </a:cubicBezTo>
                <a:lnTo>
                  <a:pt x="38100" y="2333625"/>
                </a:lnTo>
                <a:cubicBezTo>
                  <a:pt x="17072" y="2333625"/>
                  <a:pt x="0" y="2316553"/>
                  <a:pt x="0" y="22955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17" name="Shape 15">
            <a:extLst xmlns:a="http://schemas.openxmlformats.org/drawingml/2006/main">
              <a:ext uri="{FF2B5EF4-FFF2-40B4-BE49-F238E27FC236}">
                <a16:creationId xmlns:a16="http://schemas.microsoft.com/office/drawing/2014/main" id="{9338517F-2EA0-452C-93E0-46E5B0AD92FB}"/>
              </a:ext>
            </a:extLst>
          </p:cNvPr>
          <p:cNvSpPr>
            <a:spLocks xmlns:a="http://schemas.openxmlformats.org/drawingml/2006/main" noGrp="1"/>
          </p:cNvSpPr>
          <p:nvPr/>
        </p:nvSpPr>
        <p:spPr>
          <a:xfrm xmlns:a="http://schemas.openxmlformats.org/drawingml/2006/main">
            <a:off x="400050" y="1789905"/>
            <a:ext cx="38100" cy="3679561"/>
          </a:xfrm>
          <a:custGeom xmlns:a="http://schemas.openxmlformats.org/drawingml/2006/main">
            <a:rect l="l" t="t" r="r" b="b"/>
            <a:pathLst>
              <a:path w="38100" h="2333625">
                <a:moveTo>
                  <a:pt x="38100" y="0"/>
                </a:moveTo>
                <a:lnTo>
                  <a:pt x="38100" y="0"/>
                </a:lnTo>
                <a:lnTo>
                  <a:pt x="38100" y="2333625"/>
                </a:lnTo>
                <a:lnTo>
                  <a:pt x="38100" y="2333625"/>
                </a:lnTo>
                <a:cubicBezTo>
                  <a:pt x="17072" y="2333625"/>
                  <a:pt x="0" y="2316553"/>
                  <a:pt x="0" y="2295525"/>
                </a:cubicBezTo>
                <a:lnTo>
                  <a:pt x="0" y="38100"/>
                </a:lnTo>
                <a:cubicBezTo>
                  <a:pt x="0" y="17072"/>
                  <a:pt x="17072" y="0"/>
                  <a:pt x="38100" y="0"/>
                </a:cubicBezTo>
                <a:close/>
              </a:path>
            </a:pathLst>
          </a:custGeom>
          <a:solidFill xmlns:a="http://schemas.openxmlformats.org/drawingml/2006/main">
            <a:srgbClr val="E6B450"/>
          </a:solidFill>
        </p:spPr>
      </p:sp>
      <p:sp>
        <p:nvSpPr>
          <p:cNvPr id="18" name="Shape 16">
            <a:extLst xmlns:a="http://schemas.openxmlformats.org/drawingml/2006/main">
              <a:ext uri="{FF2B5EF4-FFF2-40B4-BE49-F238E27FC236}">
                <a16:creationId xmlns:a16="http://schemas.microsoft.com/office/drawing/2014/main" id="{EE43636C-02E4-4C52-AA29-315EE136B352}"/>
              </a:ext>
            </a:extLst>
          </p:cNvPr>
          <p:cNvSpPr>
            <a:spLocks xmlns:a="http://schemas.openxmlformats.org/drawingml/2006/main" noGrp="1"/>
          </p:cNvSpPr>
          <p:nvPr/>
        </p:nvSpPr>
        <p:spPr>
          <a:xfrm xmlns:a="http://schemas.openxmlformats.org/drawingml/2006/main">
            <a:off x="647700" y="2056606"/>
            <a:ext cx="171450" cy="228600"/>
          </a:xfrm>
          <a:custGeom xmlns:a="http://schemas.openxmlformats.org/drawingml/2006/main">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42863" y="28575"/>
                </a:moveTo>
                <a:lnTo>
                  <a:pt x="128588" y="28575"/>
                </a:lnTo>
                <a:cubicBezTo>
                  <a:pt x="136490" y="28575"/>
                  <a:pt x="142875" y="34960"/>
                  <a:pt x="142875" y="42863"/>
                </a:cubicBezTo>
                <a:lnTo>
                  <a:pt x="142875" y="57150"/>
                </a:lnTo>
                <a:cubicBezTo>
                  <a:pt x="142875" y="65053"/>
                  <a:pt x="136490" y="71438"/>
                  <a:pt x="128588" y="71438"/>
                </a:cubicBezTo>
                <a:lnTo>
                  <a:pt x="42863" y="71438"/>
                </a:lnTo>
                <a:cubicBezTo>
                  <a:pt x="34960" y="71438"/>
                  <a:pt x="28575" y="65053"/>
                  <a:pt x="28575" y="57150"/>
                </a:cubicBezTo>
                <a:lnTo>
                  <a:pt x="28575" y="42863"/>
                </a:lnTo>
                <a:cubicBezTo>
                  <a:pt x="28575" y="34960"/>
                  <a:pt x="34960" y="28575"/>
                  <a:pt x="42863" y="28575"/>
                </a:cubicBezTo>
                <a:close/>
                <a:moveTo>
                  <a:pt x="50006" y="103584"/>
                </a:moveTo>
                <a:cubicBezTo>
                  <a:pt x="50006" y="109498"/>
                  <a:pt x="45205" y="114300"/>
                  <a:pt x="39291" y="114300"/>
                </a:cubicBezTo>
                <a:cubicBezTo>
                  <a:pt x="33377" y="114300"/>
                  <a:pt x="28575" y="109498"/>
                  <a:pt x="28575" y="103584"/>
                </a:cubicBezTo>
                <a:cubicBezTo>
                  <a:pt x="28575" y="97670"/>
                  <a:pt x="33377" y="92869"/>
                  <a:pt x="39291" y="92869"/>
                </a:cubicBezTo>
                <a:cubicBezTo>
                  <a:pt x="45205" y="92869"/>
                  <a:pt x="50006" y="97670"/>
                  <a:pt x="50006" y="103584"/>
                </a:cubicBezTo>
                <a:close/>
                <a:moveTo>
                  <a:pt x="85725" y="114300"/>
                </a:moveTo>
                <a:cubicBezTo>
                  <a:pt x="79811" y="114300"/>
                  <a:pt x="75009" y="109498"/>
                  <a:pt x="75009" y="103584"/>
                </a:cubicBezTo>
                <a:cubicBezTo>
                  <a:pt x="75009" y="97670"/>
                  <a:pt x="79811" y="92869"/>
                  <a:pt x="85725" y="92869"/>
                </a:cubicBezTo>
                <a:cubicBezTo>
                  <a:pt x="91639" y="92869"/>
                  <a:pt x="96441" y="97670"/>
                  <a:pt x="96441" y="103584"/>
                </a:cubicBezTo>
                <a:cubicBezTo>
                  <a:pt x="96441" y="109498"/>
                  <a:pt x="91639" y="114300"/>
                  <a:pt x="85725" y="114300"/>
                </a:cubicBezTo>
                <a:close/>
                <a:moveTo>
                  <a:pt x="142875" y="103584"/>
                </a:moveTo>
                <a:cubicBezTo>
                  <a:pt x="142875" y="109498"/>
                  <a:pt x="138073" y="114300"/>
                  <a:pt x="132159" y="114300"/>
                </a:cubicBezTo>
                <a:cubicBezTo>
                  <a:pt x="126245" y="114300"/>
                  <a:pt x="121444" y="109498"/>
                  <a:pt x="121444" y="103584"/>
                </a:cubicBezTo>
                <a:cubicBezTo>
                  <a:pt x="121444" y="97670"/>
                  <a:pt x="126245" y="92869"/>
                  <a:pt x="132159" y="92869"/>
                </a:cubicBezTo>
                <a:cubicBezTo>
                  <a:pt x="138073" y="92869"/>
                  <a:pt x="142875" y="97670"/>
                  <a:pt x="142875" y="103584"/>
                </a:cubicBezTo>
                <a:close/>
                <a:moveTo>
                  <a:pt x="39291" y="157163"/>
                </a:moveTo>
                <a:cubicBezTo>
                  <a:pt x="33377" y="157163"/>
                  <a:pt x="28575" y="152361"/>
                  <a:pt x="28575" y="146447"/>
                </a:cubicBezTo>
                <a:cubicBezTo>
                  <a:pt x="28575" y="140533"/>
                  <a:pt x="33377" y="135731"/>
                  <a:pt x="39291" y="135731"/>
                </a:cubicBezTo>
                <a:cubicBezTo>
                  <a:pt x="45205" y="135731"/>
                  <a:pt x="50006" y="140533"/>
                  <a:pt x="50006" y="146447"/>
                </a:cubicBezTo>
                <a:cubicBezTo>
                  <a:pt x="50006" y="152361"/>
                  <a:pt x="45205" y="157163"/>
                  <a:pt x="39291" y="157163"/>
                </a:cubicBezTo>
                <a:close/>
                <a:moveTo>
                  <a:pt x="96441" y="146447"/>
                </a:moveTo>
                <a:cubicBezTo>
                  <a:pt x="96441" y="152361"/>
                  <a:pt x="91639" y="157163"/>
                  <a:pt x="85725" y="157163"/>
                </a:cubicBezTo>
                <a:cubicBezTo>
                  <a:pt x="79811" y="157163"/>
                  <a:pt x="75009" y="152361"/>
                  <a:pt x="75009" y="146447"/>
                </a:cubicBezTo>
                <a:cubicBezTo>
                  <a:pt x="75009" y="140533"/>
                  <a:pt x="79811" y="135731"/>
                  <a:pt x="85725" y="135731"/>
                </a:cubicBezTo>
                <a:cubicBezTo>
                  <a:pt x="91639" y="135731"/>
                  <a:pt x="96441" y="140533"/>
                  <a:pt x="96441" y="146447"/>
                </a:cubicBezTo>
                <a:close/>
                <a:moveTo>
                  <a:pt x="132159" y="157163"/>
                </a:moveTo>
                <a:cubicBezTo>
                  <a:pt x="126245" y="157163"/>
                  <a:pt x="121444" y="152361"/>
                  <a:pt x="121444" y="146447"/>
                </a:cubicBezTo>
                <a:cubicBezTo>
                  <a:pt x="121444" y="140533"/>
                  <a:pt x="126245" y="135731"/>
                  <a:pt x="132159" y="135731"/>
                </a:cubicBezTo>
                <a:cubicBezTo>
                  <a:pt x="138073" y="135731"/>
                  <a:pt x="142875" y="140533"/>
                  <a:pt x="142875" y="146447"/>
                </a:cubicBezTo>
                <a:cubicBezTo>
                  <a:pt x="142875" y="152361"/>
                  <a:pt x="138073" y="157163"/>
                  <a:pt x="132159" y="157163"/>
                </a:cubicBezTo>
                <a:close/>
                <a:moveTo>
                  <a:pt x="28575" y="189309"/>
                </a:moveTo>
                <a:cubicBezTo>
                  <a:pt x="28575" y="183371"/>
                  <a:pt x="33352" y="178594"/>
                  <a:pt x="39291" y="178594"/>
                </a:cubicBezTo>
                <a:lnTo>
                  <a:pt x="89297" y="178594"/>
                </a:lnTo>
                <a:cubicBezTo>
                  <a:pt x="95235" y="178594"/>
                  <a:pt x="100013" y="183371"/>
                  <a:pt x="100013" y="189309"/>
                </a:cubicBezTo>
                <a:cubicBezTo>
                  <a:pt x="100013" y="195248"/>
                  <a:pt x="95235" y="200025"/>
                  <a:pt x="89297" y="200025"/>
                </a:cubicBezTo>
                <a:lnTo>
                  <a:pt x="39291" y="200025"/>
                </a:lnTo>
                <a:cubicBezTo>
                  <a:pt x="33352" y="200025"/>
                  <a:pt x="28575" y="195248"/>
                  <a:pt x="28575" y="189309"/>
                </a:cubicBezTo>
                <a:close/>
                <a:moveTo>
                  <a:pt x="132159" y="178594"/>
                </a:moveTo>
                <a:cubicBezTo>
                  <a:pt x="138098" y="178594"/>
                  <a:pt x="142875" y="183371"/>
                  <a:pt x="142875" y="189309"/>
                </a:cubicBezTo>
                <a:cubicBezTo>
                  <a:pt x="142875" y="195248"/>
                  <a:pt x="138098" y="200025"/>
                  <a:pt x="132159" y="200025"/>
                </a:cubicBezTo>
                <a:cubicBezTo>
                  <a:pt x="126221" y="200025"/>
                  <a:pt x="121444" y="195248"/>
                  <a:pt x="121444" y="189309"/>
                </a:cubicBezTo>
                <a:cubicBezTo>
                  <a:pt x="121444" y="183371"/>
                  <a:pt x="126221" y="178594"/>
                  <a:pt x="132159" y="178594"/>
                </a:cubicBezTo>
                <a:close/>
              </a:path>
            </a:pathLst>
          </a:custGeom>
          <a:solidFill xmlns:a="http://schemas.openxmlformats.org/drawingml/2006/main">
            <a:srgbClr val="E6B450"/>
          </a:solidFill>
        </p:spPr>
      </p:sp>
      <p:sp>
        <p:nvSpPr>
          <p:cNvPr id="19" name="Text 17">
            <a:extLst xmlns:a="http://schemas.openxmlformats.org/drawingml/2006/main">
              <a:ext uri="{FF2B5EF4-FFF2-40B4-BE49-F238E27FC236}">
                <a16:creationId xmlns:a16="http://schemas.microsoft.com/office/drawing/2014/main" id="{7BBAB888-5B8D-4177-9937-87F4D9ED8C08}"/>
              </a:ext>
            </a:extLst>
          </p:cNvPr>
          <p:cNvSpPr>
            <a:spLocks xmlns:a="http://schemas.openxmlformats.org/drawingml/2006/main" noGrp="1"/>
          </p:cNvSpPr>
          <p:nvPr/>
        </p:nvSpPr>
        <p:spPr>
          <a:xfrm xmlns:a="http://schemas.openxmlformats.org/drawingml/2006/main">
            <a:off x="975866" y="2018506"/>
            <a:ext cx="676275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加速度</a:t>
            </a:r>
            <a:r>
              <a:rPr sz="1800" b="1">
                <a:latin typeface="微软雅黑"/>
                <a:ea typeface="微软雅黑"/>
                <a:cs typeface="微软雅黑"/>
              </a:rPr>
              <a:t>代价函数</a:t>
            </a:r>
            <a:endParaRPr sz="1600"/>
          </a:p>
        </p:txBody>
      </p:sp>
      <p:sp>
        <p:nvSpPr>
          <p:cNvPr id="20" name="Text 18">
            <a:extLst xmlns:a="http://schemas.openxmlformats.org/drawingml/2006/main">
              <a:ext uri="{FF2B5EF4-FFF2-40B4-BE49-F238E27FC236}">
                <a16:creationId xmlns:a16="http://schemas.microsoft.com/office/drawing/2014/main" id="{01436137-9786-47D1-9A64-D308B85B8C20}"/>
              </a:ext>
            </a:extLst>
          </p:cNvPr>
          <p:cNvSpPr>
            <a:spLocks xmlns:a="http://schemas.openxmlformats.org/drawingml/2006/main" noGrp="1"/>
          </p:cNvSpPr>
          <p:nvPr/>
        </p:nvSpPr>
        <p:spPr>
          <a:xfrm xmlns:a="http://schemas.openxmlformats.org/drawingml/2006/main">
            <a:off x="975866" y="2437606"/>
            <a:ext cx="673417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这里求线性加速度的时候就需要考虑线速度的正负了，使用</a:t>
            </a:r>
            <a:r>
              <a:rPr sz="1600" b="1">
                <a:latin typeface="微软雅黑"/>
                <a:ea typeface="微软雅黑"/>
                <a:cs typeface="微软雅黑"/>
              </a:rPr>
              <a:t>点乘</a:t>
            </a:r>
            <a:r>
              <a:rPr sz="1600">
                <a:latin typeface="微软雅黑"/>
                <a:ea typeface="微软雅黑"/>
                <a:cs typeface="微软雅黑"/>
              </a:rPr>
              <a:t>的方法来确定线速度的方向即可。得到加速度公式后即可写出相应的代价函数：</a:t>
            </a:r>
            <a:endParaRPr sz="2000"/>
          </a:p>
        </p:txBody>
      </p:sp>
      <p:sp>
        <p:nvSpPr>
          <p:cNvPr id="21" name="Shape 19">
            <a:extLst xmlns:a="http://schemas.openxmlformats.org/drawingml/2006/main">
              <a:ext uri="{FF2B5EF4-FFF2-40B4-BE49-F238E27FC236}">
                <a16:creationId xmlns:a16="http://schemas.microsoft.com/office/drawing/2014/main" id="{A83E7622-34E0-4C85-9746-20A24A042349}"/>
              </a:ext>
            </a:extLst>
          </p:cNvPr>
          <p:cNvSpPr>
            <a:spLocks xmlns:a="http://schemas.openxmlformats.org/drawingml/2006/main" noGrp="1"/>
          </p:cNvSpPr>
          <p:nvPr/>
        </p:nvSpPr>
        <p:spPr>
          <a:xfrm xmlns:a="http://schemas.openxmlformats.org/drawingml/2006/main">
            <a:off x="980628" y="3113881"/>
            <a:ext cx="6867971" cy="1002905"/>
          </a:xfrm>
          <a:custGeom xmlns:a="http://schemas.openxmlformats.org/drawingml/2006/main">
            <a:rect l="l" t="t" r="r" b="b"/>
            <a:pathLst>
              <a:path w="3257550" h="771525">
                <a:moveTo>
                  <a:pt x="76204" y="0"/>
                </a:moveTo>
                <a:lnTo>
                  <a:pt x="3181346" y="0"/>
                </a:lnTo>
                <a:cubicBezTo>
                  <a:pt x="3223433" y="0"/>
                  <a:pt x="3257550" y="34117"/>
                  <a:pt x="3257550" y="76204"/>
                </a:cubicBezTo>
                <a:lnTo>
                  <a:pt x="3257550" y="695321"/>
                </a:lnTo>
                <a:cubicBezTo>
                  <a:pt x="3257550" y="737408"/>
                  <a:pt x="3223433" y="771525"/>
                  <a:pt x="3181346" y="771525"/>
                </a:cubicBezTo>
                <a:lnTo>
                  <a:pt x="76204" y="771525"/>
                </a:lnTo>
                <a:cubicBezTo>
                  <a:pt x="34117" y="771525"/>
                  <a:pt x="0" y="737408"/>
                  <a:pt x="0" y="695321"/>
                </a:cubicBezTo>
                <a:lnTo>
                  <a:pt x="0" y="76204"/>
                </a:lnTo>
                <a:cubicBezTo>
                  <a:pt x="0" y="34146"/>
                  <a:pt x="34146" y="0"/>
                  <a:pt x="7620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4" name="Shape 22">
            <a:extLst xmlns:a="http://schemas.openxmlformats.org/drawingml/2006/main">
              <a:ext uri="{FF2B5EF4-FFF2-40B4-BE49-F238E27FC236}">
                <a16:creationId xmlns:a16="http://schemas.microsoft.com/office/drawing/2014/main" id="{0515B4DA-8BDE-48D3-8C76-05BF6DC7F7C1}"/>
              </a:ext>
            </a:extLst>
          </p:cNvPr>
          <p:cNvSpPr>
            <a:spLocks xmlns:a="http://schemas.openxmlformats.org/drawingml/2006/main" noGrp="1"/>
          </p:cNvSpPr>
          <p:nvPr/>
        </p:nvSpPr>
        <p:spPr>
          <a:xfrm xmlns:a="http://schemas.openxmlformats.org/drawingml/2006/main">
            <a:off x="980628" y="4238626"/>
            <a:ext cx="6867971" cy="1002905"/>
          </a:xfrm>
          <a:custGeom xmlns:a="http://schemas.openxmlformats.org/drawingml/2006/main">
            <a:rect l="l" t="t" r="r" b="b"/>
            <a:pathLst>
              <a:path w="3257550" h="771525">
                <a:moveTo>
                  <a:pt x="76204" y="0"/>
                </a:moveTo>
                <a:lnTo>
                  <a:pt x="3181346" y="0"/>
                </a:lnTo>
                <a:cubicBezTo>
                  <a:pt x="3223433" y="0"/>
                  <a:pt x="3257550" y="34117"/>
                  <a:pt x="3257550" y="76204"/>
                </a:cubicBezTo>
                <a:lnTo>
                  <a:pt x="3257550" y="695321"/>
                </a:lnTo>
                <a:cubicBezTo>
                  <a:pt x="3257550" y="737408"/>
                  <a:pt x="3223433" y="771525"/>
                  <a:pt x="3181346" y="771525"/>
                </a:cubicBezTo>
                <a:lnTo>
                  <a:pt x="76204" y="771525"/>
                </a:lnTo>
                <a:cubicBezTo>
                  <a:pt x="34117" y="771525"/>
                  <a:pt x="0" y="737408"/>
                  <a:pt x="0" y="695321"/>
                </a:cubicBezTo>
                <a:lnTo>
                  <a:pt x="0" y="76204"/>
                </a:lnTo>
                <a:cubicBezTo>
                  <a:pt x="0" y="34146"/>
                  <a:pt x="34146" y="0"/>
                  <a:pt x="7620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46" name="矩形 45">
            <a:extLst xmlns:a="http://schemas.openxmlformats.org/drawingml/2006/main">
              <a:ext uri="{FF2B5EF4-FFF2-40B4-BE49-F238E27FC236}">
                <a16:creationId xmlns:a16="http://schemas.microsoft.com/office/drawing/2014/main" id="{FD2C2E90-1AFB-72BE-4625-2C11ED6F44F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文本框 46">
            <a:extLst xmlns:a="http://schemas.openxmlformats.org/drawingml/2006/main">
              <a:ext uri="{FF2B5EF4-FFF2-40B4-BE49-F238E27FC236}">
                <a16:creationId xmlns:a16="http://schemas.microsoft.com/office/drawing/2014/main" id="{3576D714-AA64-CB54-E560-E5DE533A4C6A}"/>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spTree>
    <p:extLst>
      <p:ext uri="{BB962C8B-B14F-4D97-AF65-F5344CB8AC3E}">
        <p14:creationId xmlns:p14="http://schemas.microsoft.com/office/powerpoint/2010/main" val="4210003095"/>
      </p:ext>
    </p:extLst>
  </p:cSld>
</p:sld>
</file>

<file path=ppt/slides/slide137.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A77F8661-1A29-46EE-A87F-86735775AD4F}"/>
              </a:ext>
            </a:extLst>
          </p:cNvPr>
          <p:cNvSpPr>
            <a:spLocks xmlns:a="http://schemas.openxmlformats.org/drawingml/2006/main" noGrp="1"/>
          </p:cNvSpPr>
          <p:nvPr/>
        </p:nvSpPr>
        <p:spPr>
          <a:xfrm xmlns:a="http://schemas.openxmlformats.org/drawingml/2006/main">
            <a:off x="333375" y="1694008"/>
            <a:ext cx="8239125" cy="1898752"/>
          </a:xfrm>
          <a:custGeom xmlns:a="http://schemas.openxmlformats.org/drawingml/2006/main">
            <a:rect l="l" t="t" r="r" b="b"/>
            <a:pathLst>
              <a:path w="8239125" h="2365375">
                <a:moveTo>
                  <a:pt x="31750" y="0"/>
                </a:moveTo>
                <a:lnTo>
                  <a:pt x="8143871" y="0"/>
                </a:lnTo>
                <a:cubicBezTo>
                  <a:pt x="8196478" y="0"/>
                  <a:pt x="8239125" y="42647"/>
                  <a:pt x="8239125" y="95254"/>
                </a:cubicBezTo>
                <a:lnTo>
                  <a:pt x="8239125" y="2270121"/>
                </a:lnTo>
                <a:cubicBezTo>
                  <a:pt x="8239125" y="2322728"/>
                  <a:pt x="8196478" y="2365375"/>
                  <a:pt x="8143871" y="2365375"/>
                </a:cubicBezTo>
                <a:lnTo>
                  <a:pt x="31750" y="2365375"/>
                </a:lnTo>
                <a:cubicBezTo>
                  <a:pt x="14227" y="2365375"/>
                  <a:pt x="0" y="2351148"/>
                  <a:pt x="0" y="2333625"/>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DFBCF50C-2A21-4D03-B021-605CC51AB6FB}"/>
              </a:ext>
            </a:extLst>
          </p:cNvPr>
          <p:cNvSpPr>
            <a:spLocks xmlns:a="http://schemas.openxmlformats.org/drawingml/2006/main" noGrp="1"/>
          </p:cNvSpPr>
          <p:nvPr/>
        </p:nvSpPr>
        <p:spPr>
          <a:xfrm xmlns:a="http://schemas.openxmlformats.org/drawingml/2006/main">
            <a:off x="333375" y="1694008"/>
            <a:ext cx="31750" cy="1898752"/>
          </a:xfrm>
          <a:custGeom xmlns:a="http://schemas.openxmlformats.org/drawingml/2006/main">
            <a:rect l="l" t="t" r="r" b="b"/>
            <a:pathLst>
              <a:path w="31750" h="2365375">
                <a:moveTo>
                  <a:pt x="31750" y="0"/>
                </a:moveTo>
                <a:lnTo>
                  <a:pt x="31750" y="0"/>
                </a:lnTo>
                <a:lnTo>
                  <a:pt x="31750" y="2365375"/>
                </a:lnTo>
                <a:lnTo>
                  <a:pt x="31750" y="2365375"/>
                </a:lnTo>
                <a:cubicBezTo>
                  <a:pt x="14227" y="2365375"/>
                  <a:pt x="0" y="2351148"/>
                  <a:pt x="0" y="2333625"/>
                </a:cubicBezTo>
                <a:lnTo>
                  <a:pt x="0" y="31750"/>
                </a:lnTo>
                <a:cubicBezTo>
                  <a:pt x="0" y="14227"/>
                  <a:pt x="14227" y="0"/>
                  <a:pt x="31750"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D35ADA0F-BDAC-4234-9B79-28122635AC59}"/>
              </a:ext>
            </a:extLst>
          </p:cNvPr>
          <p:cNvSpPr>
            <a:spLocks xmlns:a="http://schemas.openxmlformats.org/drawingml/2006/main" noGrp="1"/>
          </p:cNvSpPr>
          <p:nvPr/>
        </p:nvSpPr>
        <p:spPr>
          <a:xfrm xmlns:a="http://schemas.openxmlformats.org/drawingml/2006/main">
            <a:off x="523875" y="1916257"/>
            <a:ext cx="190500" cy="190500"/>
          </a:xfrm>
          <a:custGeom xmlns:a="http://schemas.openxmlformats.org/drawingml/2006/main">
            <a:rect l="l" t="t" r="r" b="b"/>
            <a:pathLst>
              <a:path w="190500" h="190500">
                <a:moveTo>
                  <a:pt x="72591" y="3535"/>
                </a:moveTo>
                <a:cubicBezTo>
                  <a:pt x="73707" y="-1972"/>
                  <a:pt x="78581" y="-5953"/>
                  <a:pt x="84237" y="-5953"/>
                </a:cubicBezTo>
                <a:lnTo>
                  <a:pt x="106487" y="-5953"/>
                </a:lnTo>
                <a:cubicBezTo>
                  <a:pt x="112142" y="-5953"/>
                  <a:pt x="117016" y="-1972"/>
                  <a:pt x="118132" y="3535"/>
                </a:cubicBezTo>
                <a:lnTo>
                  <a:pt x="123527" y="29580"/>
                </a:lnTo>
                <a:cubicBezTo>
                  <a:pt x="128774" y="31812"/>
                  <a:pt x="133685" y="34677"/>
                  <a:pt x="138150" y="38063"/>
                </a:cubicBezTo>
                <a:lnTo>
                  <a:pt x="163376" y="29691"/>
                </a:lnTo>
                <a:cubicBezTo>
                  <a:pt x="168734" y="27905"/>
                  <a:pt x="174613" y="30138"/>
                  <a:pt x="177440" y="35049"/>
                </a:cubicBezTo>
                <a:lnTo>
                  <a:pt x="188565" y="54322"/>
                </a:lnTo>
                <a:cubicBezTo>
                  <a:pt x="191393" y="59234"/>
                  <a:pt x="190388" y="65410"/>
                  <a:pt x="186147" y="69168"/>
                </a:cubicBezTo>
                <a:lnTo>
                  <a:pt x="166315" y="86804"/>
                </a:lnTo>
                <a:cubicBezTo>
                  <a:pt x="166650" y="89557"/>
                  <a:pt x="166799" y="92385"/>
                  <a:pt x="166799" y="95250"/>
                </a:cubicBezTo>
                <a:cubicBezTo>
                  <a:pt x="166799" y="98115"/>
                  <a:pt x="166613" y="100943"/>
                  <a:pt x="166315" y="103696"/>
                </a:cubicBezTo>
                <a:lnTo>
                  <a:pt x="186184" y="121369"/>
                </a:lnTo>
                <a:cubicBezTo>
                  <a:pt x="190426" y="125127"/>
                  <a:pt x="191393" y="131341"/>
                  <a:pt x="188602" y="136215"/>
                </a:cubicBezTo>
                <a:lnTo>
                  <a:pt x="177478" y="155488"/>
                </a:lnTo>
                <a:cubicBezTo>
                  <a:pt x="174650" y="160362"/>
                  <a:pt x="168771" y="162632"/>
                  <a:pt x="163413" y="160846"/>
                </a:cubicBezTo>
                <a:lnTo>
                  <a:pt x="138187" y="152474"/>
                </a:lnTo>
                <a:cubicBezTo>
                  <a:pt x="133685" y="155860"/>
                  <a:pt x="128774" y="158688"/>
                  <a:pt x="123565" y="160958"/>
                </a:cubicBezTo>
                <a:lnTo>
                  <a:pt x="118207" y="186965"/>
                </a:lnTo>
                <a:cubicBezTo>
                  <a:pt x="117053" y="192509"/>
                  <a:pt x="112179" y="196453"/>
                  <a:pt x="106561" y="196453"/>
                </a:cubicBezTo>
                <a:lnTo>
                  <a:pt x="84311" y="196453"/>
                </a:lnTo>
                <a:cubicBezTo>
                  <a:pt x="78656" y="196453"/>
                  <a:pt x="73782" y="192472"/>
                  <a:pt x="72665" y="186965"/>
                </a:cubicBezTo>
                <a:lnTo>
                  <a:pt x="67308" y="160958"/>
                </a:lnTo>
                <a:cubicBezTo>
                  <a:pt x="62061" y="158725"/>
                  <a:pt x="57187" y="155860"/>
                  <a:pt x="52685" y="152474"/>
                </a:cubicBezTo>
                <a:lnTo>
                  <a:pt x="27347" y="160846"/>
                </a:lnTo>
                <a:cubicBezTo>
                  <a:pt x="21989" y="162632"/>
                  <a:pt x="16111" y="160400"/>
                  <a:pt x="13283" y="155488"/>
                </a:cubicBezTo>
                <a:lnTo>
                  <a:pt x="2158" y="136215"/>
                </a:lnTo>
                <a:cubicBezTo>
                  <a:pt x="-670" y="131304"/>
                  <a:pt x="335" y="125127"/>
                  <a:pt x="4576" y="121369"/>
                </a:cubicBezTo>
                <a:lnTo>
                  <a:pt x="24445" y="103696"/>
                </a:lnTo>
                <a:cubicBezTo>
                  <a:pt x="24110" y="100943"/>
                  <a:pt x="23961" y="98115"/>
                  <a:pt x="23961" y="95250"/>
                </a:cubicBezTo>
                <a:cubicBezTo>
                  <a:pt x="23961" y="92385"/>
                  <a:pt x="24147" y="89557"/>
                  <a:pt x="24445" y="86804"/>
                </a:cubicBezTo>
                <a:lnTo>
                  <a:pt x="4576" y="69131"/>
                </a:lnTo>
                <a:cubicBezTo>
                  <a:pt x="335" y="65373"/>
                  <a:pt x="-633" y="59159"/>
                  <a:pt x="2158" y="54285"/>
                </a:cubicBezTo>
                <a:lnTo>
                  <a:pt x="13283" y="35012"/>
                </a:lnTo>
                <a:cubicBezTo>
                  <a:pt x="16111" y="30100"/>
                  <a:pt x="21989" y="27868"/>
                  <a:pt x="27347" y="29654"/>
                </a:cubicBezTo>
                <a:lnTo>
                  <a:pt x="52574" y="38026"/>
                </a:lnTo>
                <a:cubicBezTo>
                  <a:pt x="57076" y="34640"/>
                  <a:pt x="61987" y="31812"/>
                  <a:pt x="67196" y="29542"/>
                </a:cubicBezTo>
                <a:lnTo>
                  <a:pt x="72591" y="3535"/>
                </a:lnTo>
                <a:close/>
                <a:moveTo>
                  <a:pt x="95362" y="125016"/>
                </a:moveTo>
                <a:cubicBezTo>
                  <a:pt x="105996" y="124976"/>
                  <a:pt x="115801" y="119266"/>
                  <a:pt x="121084" y="110036"/>
                </a:cubicBezTo>
                <a:cubicBezTo>
                  <a:pt x="126366" y="100807"/>
                  <a:pt x="126324" y="89460"/>
                  <a:pt x="120972" y="80271"/>
                </a:cubicBezTo>
                <a:cubicBezTo>
                  <a:pt x="115620" y="71081"/>
                  <a:pt x="105773" y="65444"/>
                  <a:pt x="95138" y="65484"/>
                </a:cubicBezTo>
                <a:cubicBezTo>
                  <a:pt x="84504" y="65524"/>
                  <a:pt x="74699" y="71234"/>
                  <a:pt x="69416" y="80464"/>
                </a:cubicBezTo>
                <a:cubicBezTo>
                  <a:pt x="64134" y="89693"/>
                  <a:pt x="64176" y="101040"/>
                  <a:pt x="69528" y="110229"/>
                </a:cubicBezTo>
                <a:cubicBezTo>
                  <a:pt x="74880" y="119419"/>
                  <a:pt x="84727" y="125056"/>
                  <a:pt x="95362" y="125016"/>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ADC9D41E-C2DB-4A35-87B0-B5279CF8C280}"/>
              </a:ext>
            </a:extLst>
          </p:cNvPr>
          <p:cNvSpPr>
            <a:spLocks xmlns:a="http://schemas.openxmlformats.org/drawingml/2006/main" noGrp="1"/>
          </p:cNvSpPr>
          <p:nvPr/>
        </p:nvSpPr>
        <p:spPr>
          <a:xfrm xmlns:a="http://schemas.openxmlformats.org/drawingml/2006/main">
            <a:off x="825500" y="1884507"/>
            <a:ext cx="76517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非完整运动学约束</a:t>
            </a:r>
            <a:endParaRPr sz="2000"/>
          </a:p>
        </p:txBody>
      </p:sp>
      <p:sp>
        <p:nvSpPr>
          <p:cNvPr id="9" name="Text 7">
            <a:extLst xmlns:a="http://schemas.openxmlformats.org/drawingml/2006/main">
              <a:ext uri="{FF2B5EF4-FFF2-40B4-BE49-F238E27FC236}">
                <a16:creationId xmlns:a16="http://schemas.microsoft.com/office/drawing/2014/main" id="{C8D3C329-D2F8-4D36-9332-FA104A6F855E}"/>
              </a:ext>
            </a:extLst>
          </p:cNvPr>
          <p:cNvSpPr>
            <a:spLocks xmlns:a="http://schemas.openxmlformats.org/drawingml/2006/main" noGrp="1"/>
          </p:cNvSpPr>
          <p:nvPr/>
        </p:nvSpPr>
        <p:spPr>
          <a:xfrm xmlns:a="http://schemas.openxmlformats.org/drawingml/2006/main">
            <a:off x="825500" y="2233757"/>
            <a:ext cx="7627938" cy="2301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TEB算法的非完整运动学为：</a:t>
            </a:r>
            <a:endParaRPr sz="2400"/>
          </a:p>
        </p:txBody>
      </p:sp>
      <p:sp>
        <p:nvSpPr>
          <p:cNvPr id="10" name="Shape 8">
            <a:extLst xmlns:a="http://schemas.openxmlformats.org/drawingml/2006/main">
              <a:ext uri="{FF2B5EF4-FFF2-40B4-BE49-F238E27FC236}">
                <a16:creationId xmlns:a16="http://schemas.microsoft.com/office/drawing/2014/main" id="{3FA67B2A-B179-4238-99F5-9837E8F64543}"/>
              </a:ext>
            </a:extLst>
          </p:cNvPr>
          <p:cNvSpPr>
            <a:spLocks xmlns:a="http://schemas.openxmlformats.org/drawingml/2006/main" noGrp="1"/>
          </p:cNvSpPr>
          <p:nvPr/>
        </p:nvSpPr>
        <p:spPr>
          <a:xfrm xmlns:a="http://schemas.openxmlformats.org/drawingml/2006/main">
            <a:off x="829469" y="2565148"/>
            <a:ext cx="7548563" cy="738188"/>
          </a:xfrm>
          <a:custGeom xmlns:a="http://schemas.openxmlformats.org/drawingml/2006/main">
            <a:rect l="l" t="t" r="r" b="b"/>
            <a:pathLst>
              <a:path w="7548563" h="738188">
                <a:moveTo>
                  <a:pt x="63499" y="0"/>
                </a:moveTo>
                <a:lnTo>
                  <a:pt x="7485064" y="0"/>
                </a:lnTo>
                <a:cubicBezTo>
                  <a:pt x="7520133" y="0"/>
                  <a:pt x="7548563" y="28429"/>
                  <a:pt x="7548563" y="63499"/>
                </a:cubicBezTo>
                <a:lnTo>
                  <a:pt x="7548563" y="674689"/>
                </a:lnTo>
                <a:cubicBezTo>
                  <a:pt x="7548563" y="709758"/>
                  <a:pt x="7520133" y="738187"/>
                  <a:pt x="7485064" y="738188"/>
                </a:cubicBezTo>
                <a:lnTo>
                  <a:pt x="63499" y="738188"/>
                </a:lnTo>
                <a:cubicBezTo>
                  <a:pt x="28429" y="738188"/>
                  <a:pt x="0" y="709758"/>
                  <a:pt x="0" y="674689"/>
                </a:cubicBezTo>
                <a:lnTo>
                  <a:pt x="0" y="63499"/>
                </a:lnTo>
                <a:cubicBezTo>
                  <a:pt x="0" y="28453"/>
                  <a:pt x="28453" y="0"/>
                  <a:pt x="63499"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4" name="Shape 12">
            <a:extLst xmlns:a="http://schemas.openxmlformats.org/drawingml/2006/main">
              <a:ext uri="{FF2B5EF4-FFF2-40B4-BE49-F238E27FC236}">
                <a16:creationId xmlns:a16="http://schemas.microsoft.com/office/drawing/2014/main" id="{228963B3-E498-4346-9BB6-1D38580A18A4}"/>
              </a:ext>
            </a:extLst>
          </p:cNvPr>
          <p:cNvSpPr>
            <a:spLocks xmlns:a="http://schemas.openxmlformats.org/drawingml/2006/main" noGrp="1"/>
          </p:cNvSpPr>
          <p:nvPr/>
        </p:nvSpPr>
        <p:spPr>
          <a:xfrm xmlns:a="http://schemas.openxmlformats.org/drawingml/2006/main">
            <a:off x="333375" y="3943096"/>
            <a:ext cx="8239125" cy="2430067"/>
          </a:xfrm>
          <a:custGeom xmlns:a="http://schemas.openxmlformats.org/drawingml/2006/main">
            <a:rect l="l" t="t" r="r" b="b"/>
            <a:pathLst>
              <a:path w="8239125" h="2135188">
                <a:moveTo>
                  <a:pt x="31750" y="0"/>
                </a:moveTo>
                <a:lnTo>
                  <a:pt x="8143874" y="0"/>
                </a:lnTo>
                <a:cubicBezTo>
                  <a:pt x="8196480" y="0"/>
                  <a:pt x="8239125" y="42645"/>
                  <a:pt x="8239125" y="95251"/>
                </a:cubicBezTo>
                <a:lnTo>
                  <a:pt x="8239125" y="2039937"/>
                </a:lnTo>
                <a:cubicBezTo>
                  <a:pt x="8239125" y="2092542"/>
                  <a:pt x="8196480" y="2135188"/>
                  <a:pt x="8143874" y="2135188"/>
                </a:cubicBezTo>
                <a:lnTo>
                  <a:pt x="31750" y="2135188"/>
                </a:lnTo>
                <a:cubicBezTo>
                  <a:pt x="14227" y="2135188"/>
                  <a:pt x="0" y="2120961"/>
                  <a:pt x="0" y="2103438"/>
                </a:cubicBezTo>
                <a:lnTo>
                  <a:pt x="0" y="31750"/>
                </a:lnTo>
                <a:cubicBezTo>
                  <a:pt x="0" y="14227"/>
                  <a:pt x="14227" y="0"/>
                  <a:pt x="31750" y="0"/>
                </a:cubicBezTo>
                <a:close/>
              </a:path>
            </a:pathLst>
          </a:custGeom>
          <a:solidFill xmlns:a="http://schemas.openxmlformats.org/drawingml/2006/main">
            <a:srgbClr val="5F87A7">
              <a:alpha val="10196"/>
            </a:srgbClr>
          </a:solidFill>
        </p:spPr>
      </p:sp>
      <p:sp>
        <p:nvSpPr>
          <p:cNvPr id="15" name="Shape 13">
            <a:extLst xmlns:a="http://schemas.openxmlformats.org/drawingml/2006/main">
              <a:ext uri="{FF2B5EF4-FFF2-40B4-BE49-F238E27FC236}">
                <a16:creationId xmlns:a16="http://schemas.microsoft.com/office/drawing/2014/main" id="{9A863C4A-86CB-4763-A002-1D9FC7F21F30}"/>
              </a:ext>
            </a:extLst>
          </p:cNvPr>
          <p:cNvSpPr>
            <a:spLocks xmlns:a="http://schemas.openxmlformats.org/drawingml/2006/main" noGrp="1"/>
          </p:cNvSpPr>
          <p:nvPr/>
        </p:nvSpPr>
        <p:spPr>
          <a:xfrm xmlns:a="http://schemas.openxmlformats.org/drawingml/2006/main">
            <a:off x="333375" y="3943096"/>
            <a:ext cx="31750" cy="2430067"/>
          </a:xfrm>
          <a:custGeom xmlns:a="http://schemas.openxmlformats.org/drawingml/2006/main">
            <a:rect l="l" t="t" r="r" b="b"/>
            <a:pathLst>
              <a:path w="31750" h="2135188">
                <a:moveTo>
                  <a:pt x="31750" y="0"/>
                </a:moveTo>
                <a:lnTo>
                  <a:pt x="31750" y="0"/>
                </a:lnTo>
                <a:lnTo>
                  <a:pt x="31750" y="2135188"/>
                </a:lnTo>
                <a:lnTo>
                  <a:pt x="31750" y="2135188"/>
                </a:lnTo>
                <a:cubicBezTo>
                  <a:pt x="14227" y="2135188"/>
                  <a:pt x="0" y="2120961"/>
                  <a:pt x="0" y="2103438"/>
                </a:cubicBezTo>
                <a:lnTo>
                  <a:pt x="0" y="31750"/>
                </a:lnTo>
                <a:cubicBezTo>
                  <a:pt x="0" y="14227"/>
                  <a:pt x="14227" y="0"/>
                  <a:pt x="31750" y="0"/>
                </a:cubicBezTo>
                <a:close/>
              </a:path>
            </a:pathLst>
          </a:custGeom>
          <a:solidFill xmlns:a="http://schemas.openxmlformats.org/drawingml/2006/main">
            <a:srgbClr val="E6B450"/>
          </a:solidFill>
        </p:spPr>
      </p:sp>
      <p:sp>
        <p:nvSpPr>
          <p:cNvPr id="16" name="Shape 14">
            <a:extLst xmlns:a="http://schemas.openxmlformats.org/drawingml/2006/main">
              <a:ext uri="{FF2B5EF4-FFF2-40B4-BE49-F238E27FC236}">
                <a16:creationId xmlns:a16="http://schemas.microsoft.com/office/drawing/2014/main" id="{FB716C6E-D5A5-43CA-8C1D-B3DB500BDDFF}"/>
              </a:ext>
            </a:extLst>
          </p:cNvPr>
          <p:cNvSpPr>
            <a:spLocks xmlns:a="http://schemas.openxmlformats.org/drawingml/2006/main" noGrp="1"/>
          </p:cNvSpPr>
          <p:nvPr/>
        </p:nvSpPr>
        <p:spPr>
          <a:xfrm xmlns:a="http://schemas.openxmlformats.org/drawingml/2006/main">
            <a:off x="575469" y="4165347"/>
            <a:ext cx="166688" cy="190500"/>
          </a:xfrm>
          <a:custGeom xmlns:a="http://schemas.openxmlformats.org/drawingml/2006/main">
            <a:rect l="l" t="t" r="r" b="b"/>
            <a:pathLst>
              <a:path w="166688" h="190500">
                <a:moveTo>
                  <a:pt x="126057" y="-3683"/>
                </a:moveTo>
                <a:cubicBezTo>
                  <a:pt x="130485" y="-484"/>
                  <a:pt x="132122" y="5321"/>
                  <a:pt x="130113" y="10381"/>
                </a:cubicBezTo>
                <a:lnTo>
                  <a:pt x="100943" y="83344"/>
                </a:lnTo>
                <a:lnTo>
                  <a:pt x="154781" y="83344"/>
                </a:lnTo>
                <a:cubicBezTo>
                  <a:pt x="159804" y="83344"/>
                  <a:pt x="164269" y="86469"/>
                  <a:pt x="165981" y="91194"/>
                </a:cubicBezTo>
                <a:cubicBezTo>
                  <a:pt x="167692" y="95920"/>
                  <a:pt x="166241" y="101203"/>
                  <a:pt x="162409" y="104403"/>
                </a:cubicBezTo>
                <a:lnTo>
                  <a:pt x="55252" y="193700"/>
                </a:lnTo>
                <a:cubicBezTo>
                  <a:pt x="51048" y="197197"/>
                  <a:pt x="45058" y="197383"/>
                  <a:pt x="40630" y="194183"/>
                </a:cubicBezTo>
                <a:cubicBezTo>
                  <a:pt x="36202" y="190984"/>
                  <a:pt x="34565" y="185179"/>
                  <a:pt x="36575" y="180119"/>
                </a:cubicBezTo>
                <a:lnTo>
                  <a:pt x="65745" y="107156"/>
                </a:lnTo>
                <a:lnTo>
                  <a:pt x="11906" y="107156"/>
                </a:lnTo>
                <a:cubicBezTo>
                  <a:pt x="6883" y="107156"/>
                  <a:pt x="2418" y="104031"/>
                  <a:pt x="707" y="99306"/>
                </a:cubicBezTo>
                <a:cubicBezTo>
                  <a:pt x="-1005" y="94580"/>
                  <a:pt x="446" y="89297"/>
                  <a:pt x="4279" y="86097"/>
                </a:cubicBezTo>
                <a:lnTo>
                  <a:pt x="111435" y="-3200"/>
                </a:lnTo>
                <a:cubicBezTo>
                  <a:pt x="115639" y="-6697"/>
                  <a:pt x="121630" y="-6883"/>
                  <a:pt x="126057" y="-3683"/>
                </a:cubicBez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776743D9-5D96-4B95-8801-7F3CB2D27115}"/>
              </a:ext>
            </a:extLst>
          </p:cNvPr>
          <p:cNvSpPr>
            <a:spLocks xmlns:a="http://schemas.openxmlformats.org/drawingml/2006/main" noGrp="1"/>
          </p:cNvSpPr>
          <p:nvPr/>
        </p:nvSpPr>
        <p:spPr>
          <a:xfrm xmlns:a="http://schemas.openxmlformats.org/drawingml/2006/main">
            <a:off x="904875" y="4133597"/>
            <a:ext cx="7318375"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最快约束</a:t>
            </a:r>
            <a:endParaRPr sz="2000"/>
          </a:p>
        </p:txBody>
      </p:sp>
      <p:sp>
        <p:nvSpPr>
          <p:cNvPr id="18" name="Text 16">
            <a:extLst xmlns:a="http://schemas.openxmlformats.org/drawingml/2006/main">
              <a:ext uri="{FF2B5EF4-FFF2-40B4-BE49-F238E27FC236}">
                <a16:creationId xmlns:a16="http://schemas.microsoft.com/office/drawing/2014/main" id="{1F8029DC-EAAA-45D3-8E04-69DA17DC30F7}"/>
              </a:ext>
            </a:extLst>
          </p:cNvPr>
          <p:cNvSpPr>
            <a:spLocks xmlns:a="http://schemas.openxmlformats.org/drawingml/2006/main" noGrp="1"/>
          </p:cNvSpPr>
          <p:nvPr/>
        </p:nvSpPr>
        <p:spPr>
          <a:xfrm xmlns:a="http://schemas.openxmlformats.org/drawingml/2006/main">
            <a:off x="904875" y="4482847"/>
            <a:ext cx="7294563" cy="2301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TEB算法的最快约束为：</a:t>
            </a:r>
            <a:endParaRPr sz="2400"/>
          </a:p>
        </p:txBody>
      </p:sp>
      <p:sp>
        <p:nvSpPr>
          <p:cNvPr id="19" name="Shape 17">
            <a:extLst xmlns:a="http://schemas.openxmlformats.org/drawingml/2006/main">
              <a:ext uri="{FF2B5EF4-FFF2-40B4-BE49-F238E27FC236}">
                <a16:creationId xmlns:a16="http://schemas.microsoft.com/office/drawing/2014/main" id="{33E02DD1-8FB0-4B4F-8301-6C58F5725E47}"/>
              </a:ext>
            </a:extLst>
          </p:cNvPr>
          <p:cNvSpPr>
            <a:spLocks xmlns:a="http://schemas.openxmlformats.org/drawingml/2006/main" noGrp="1"/>
          </p:cNvSpPr>
          <p:nvPr/>
        </p:nvSpPr>
        <p:spPr>
          <a:xfrm xmlns:a="http://schemas.openxmlformats.org/drawingml/2006/main">
            <a:off x="908844" y="4814237"/>
            <a:ext cx="7215188" cy="738188"/>
          </a:xfrm>
          <a:custGeom xmlns:a="http://schemas.openxmlformats.org/drawingml/2006/main">
            <a:rect l="l" t="t" r="r" b="b"/>
            <a:pathLst>
              <a:path w="7215188" h="738188">
                <a:moveTo>
                  <a:pt x="63499" y="0"/>
                </a:moveTo>
                <a:lnTo>
                  <a:pt x="7151689" y="0"/>
                </a:lnTo>
                <a:cubicBezTo>
                  <a:pt x="7186758" y="0"/>
                  <a:pt x="7215188" y="28429"/>
                  <a:pt x="7215188" y="63499"/>
                </a:cubicBezTo>
                <a:lnTo>
                  <a:pt x="7215188" y="674689"/>
                </a:lnTo>
                <a:cubicBezTo>
                  <a:pt x="7215188" y="709758"/>
                  <a:pt x="7186758" y="738187"/>
                  <a:pt x="7151689" y="738188"/>
                </a:cubicBezTo>
                <a:lnTo>
                  <a:pt x="63499" y="738188"/>
                </a:lnTo>
                <a:cubicBezTo>
                  <a:pt x="28429" y="738188"/>
                  <a:pt x="0" y="709758"/>
                  <a:pt x="0" y="674689"/>
                </a:cubicBezTo>
                <a:lnTo>
                  <a:pt x="0" y="63499"/>
                </a:lnTo>
                <a:cubicBezTo>
                  <a:pt x="0" y="28453"/>
                  <a:pt x="28453" y="0"/>
                  <a:pt x="63499"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22" name="Text 20">
            <a:extLst xmlns:a="http://schemas.openxmlformats.org/drawingml/2006/main">
              <a:ext uri="{FF2B5EF4-FFF2-40B4-BE49-F238E27FC236}">
                <a16:creationId xmlns:a16="http://schemas.microsoft.com/office/drawing/2014/main" id="{26F12B6F-9BED-49AF-8FC9-AA41B60317B2}"/>
              </a:ext>
            </a:extLst>
          </p:cNvPr>
          <p:cNvSpPr>
            <a:spLocks xmlns:a="http://schemas.openxmlformats.org/drawingml/2006/main" noGrp="1"/>
          </p:cNvSpPr>
          <p:nvPr/>
        </p:nvSpPr>
        <p:spPr>
          <a:xfrm xmlns:a="http://schemas.openxmlformats.org/drawingml/2006/main">
            <a:off x="904875" y="5651643"/>
            <a:ext cx="7294563" cy="51208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这个约束的目的就是让优化出来的轨迹在符合运动学约束的情况下，轨迹的</a:t>
            </a:r>
            <a:r>
              <a:rPr sz="1600" b="1">
                <a:latin typeface="微软雅黑"/>
                <a:ea typeface="微软雅黑"/>
                <a:cs typeface="微软雅黑"/>
              </a:rPr>
              <a:t>速度要尽可能大</a:t>
            </a:r>
            <a:r>
              <a:rPr sz="1600">
                <a:latin typeface="微软雅黑"/>
                <a:ea typeface="微软雅黑"/>
                <a:cs typeface="微软雅黑"/>
              </a:rPr>
              <a:t>。</a:t>
            </a:r>
            <a:endParaRPr sz="2400"/>
          </a:p>
        </p:txBody>
      </p:sp>
      <p:sp>
        <p:nvSpPr>
          <p:cNvPr id="33" name="矩形 32">
            <a:extLst xmlns:a="http://schemas.openxmlformats.org/drawingml/2006/main">
              <a:ext uri="{FF2B5EF4-FFF2-40B4-BE49-F238E27FC236}">
                <a16:creationId xmlns:a16="http://schemas.microsoft.com/office/drawing/2014/main" id="{A19965C8-0EB0-9EEF-9C2A-2EC9D008A3BE}"/>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文本框 33">
            <a:extLst xmlns:a="http://schemas.openxmlformats.org/drawingml/2006/main">
              <a:ext uri="{FF2B5EF4-FFF2-40B4-BE49-F238E27FC236}">
                <a16:creationId xmlns:a16="http://schemas.microsoft.com/office/drawing/2014/main" id="{6B1F409C-FC3E-29F0-1D6F-00C9477A213E}"/>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spTree>
    <p:extLst>
      <p:ext uri="{BB962C8B-B14F-4D97-AF65-F5344CB8AC3E}">
        <p14:creationId xmlns:p14="http://schemas.microsoft.com/office/powerpoint/2010/main" val="3565681850"/>
      </p:ext>
    </p:extLst>
  </p:cSld>
</p:sld>
</file>

<file path=ppt/slides/slide138.xml><?xml version="1.0" encoding="utf-8"?>
<p:sld xmlns:p="http://schemas.openxmlformats.org/presentationml/2006/main">
  <p:cSld>
    <p:spTree>
      <p:nvGrpSpPr>
        <p:cNvPr id="1" name=""/>
        <p:cNvGrpSpPr/>
        <p:nvPr/>
      </p:nvGrpSpPr>
      <p:grpSpPr>
        <a:xfrm xmlns:a="http://schemas.openxmlformats.org/drawingml/2006/main"/>
      </p:grpSpPr>
      <p:sp>
        <p:nvSpPr>
          <p:cNvPr id="5" name="Shape 3">
            <a:extLst xmlns:a="http://schemas.openxmlformats.org/drawingml/2006/main">
              <a:ext uri="{FF2B5EF4-FFF2-40B4-BE49-F238E27FC236}">
                <a16:creationId xmlns:a16="http://schemas.microsoft.com/office/drawing/2014/main" id="{D1C0AEBB-3A77-480A-9783-EBC91176BEDD}"/>
              </a:ext>
            </a:extLst>
          </p:cNvPr>
          <p:cNvSpPr>
            <a:spLocks xmlns:a="http://schemas.openxmlformats.org/drawingml/2006/main" noGrp="1"/>
          </p:cNvSpPr>
          <p:nvPr/>
        </p:nvSpPr>
        <p:spPr>
          <a:xfrm xmlns:a="http://schemas.openxmlformats.org/drawingml/2006/main">
            <a:off x="342060" y="1787061"/>
            <a:ext cx="8136144" cy="2190814"/>
          </a:xfrm>
          <a:custGeom xmlns:a="http://schemas.openxmlformats.org/drawingml/2006/main">
            <a:rect l="l" t="t" r="r" b="b"/>
            <a:pathLst>
              <a:path w="8136144" h="2190814">
                <a:moveTo>
                  <a:pt x="32577" y="0"/>
                </a:moveTo>
                <a:lnTo>
                  <a:pt x="8038412" y="0"/>
                </a:lnTo>
                <a:cubicBezTo>
                  <a:pt x="8092388" y="0"/>
                  <a:pt x="8136144" y="43756"/>
                  <a:pt x="8136144" y="97732"/>
                </a:cubicBezTo>
                <a:lnTo>
                  <a:pt x="8136144" y="2093081"/>
                </a:lnTo>
                <a:cubicBezTo>
                  <a:pt x="8136144" y="2147057"/>
                  <a:pt x="8092388" y="2190814"/>
                  <a:pt x="8038412" y="2190814"/>
                </a:cubicBezTo>
                <a:lnTo>
                  <a:pt x="32577" y="2190814"/>
                </a:lnTo>
                <a:cubicBezTo>
                  <a:pt x="14585" y="2190814"/>
                  <a:pt x="0" y="2176228"/>
                  <a:pt x="0" y="2158236"/>
                </a:cubicBezTo>
                <a:lnTo>
                  <a:pt x="0" y="32577"/>
                </a:lnTo>
                <a:cubicBezTo>
                  <a:pt x="0" y="14597"/>
                  <a:pt x="14597" y="0"/>
                  <a:pt x="32577" y="0"/>
                </a:cubicBezTo>
                <a:close/>
              </a:path>
            </a:pathLst>
          </a:custGeom>
          <a:solidFill xmlns:a="http://schemas.openxmlformats.org/drawingml/2006/main">
            <a:srgbClr val="5F87A7">
              <a:alpha val="10196"/>
            </a:srgbClr>
          </a:solidFill>
        </p:spPr>
      </p:sp>
      <p:sp>
        <p:nvSpPr>
          <p:cNvPr id="6" name="Shape 4">
            <a:extLst xmlns:a="http://schemas.openxmlformats.org/drawingml/2006/main">
              <a:ext uri="{FF2B5EF4-FFF2-40B4-BE49-F238E27FC236}">
                <a16:creationId xmlns:a16="http://schemas.microsoft.com/office/drawing/2014/main" id="{1CE79622-495F-4865-A947-5057D67B302C}"/>
              </a:ext>
            </a:extLst>
          </p:cNvPr>
          <p:cNvSpPr>
            <a:spLocks xmlns:a="http://schemas.openxmlformats.org/drawingml/2006/main" noGrp="1"/>
          </p:cNvSpPr>
          <p:nvPr/>
        </p:nvSpPr>
        <p:spPr>
          <a:xfrm xmlns:a="http://schemas.openxmlformats.org/drawingml/2006/main">
            <a:off x="342060" y="1787061"/>
            <a:ext cx="32577" cy="2190814"/>
          </a:xfrm>
          <a:custGeom xmlns:a="http://schemas.openxmlformats.org/drawingml/2006/main">
            <a:rect l="l" t="t" r="r" b="b"/>
            <a:pathLst>
              <a:path w="32577" h="2190814">
                <a:moveTo>
                  <a:pt x="32577" y="0"/>
                </a:moveTo>
                <a:lnTo>
                  <a:pt x="32577" y="0"/>
                </a:lnTo>
                <a:lnTo>
                  <a:pt x="32577" y="2190814"/>
                </a:lnTo>
                <a:lnTo>
                  <a:pt x="32577" y="2190814"/>
                </a:lnTo>
                <a:cubicBezTo>
                  <a:pt x="14585" y="2190814"/>
                  <a:pt x="0" y="2176228"/>
                  <a:pt x="0" y="2158236"/>
                </a:cubicBezTo>
                <a:lnTo>
                  <a:pt x="0" y="32577"/>
                </a:lnTo>
                <a:cubicBezTo>
                  <a:pt x="0" y="14597"/>
                  <a:pt x="14597" y="0"/>
                  <a:pt x="32577" y="0"/>
                </a:cubicBezTo>
                <a:close/>
              </a:path>
            </a:pathLst>
          </a:custGeom>
          <a:solidFill xmlns:a="http://schemas.openxmlformats.org/drawingml/2006/main">
            <a:srgbClr val="E6B450"/>
          </a:solidFill>
        </p:spPr>
      </p:sp>
      <p:sp>
        <p:nvSpPr>
          <p:cNvPr id="7" name="Shape 5">
            <a:extLst xmlns:a="http://schemas.openxmlformats.org/drawingml/2006/main">
              <a:ext uri="{FF2B5EF4-FFF2-40B4-BE49-F238E27FC236}">
                <a16:creationId xmlns:a16="http://schemas.microsoft.com/office/drawing/2014/main" id="{B284BB69-D04C-4627-A7DE-44110949E580}"/>
              </a:ext>
            </a:extLst>
          </p:cNvPr>
          <p:cNvSpPr>
            <a:spLocks xmlns:a="http://schemas.openxmlformats.org/drawingml/2006/main" noGrp="1"/>
          </p:cNvSpPr>
          <p:nvPr/>
        </p:nvSpPr>
        <p:spPr>
          <a:xfrm xmlns:a="http://schemas.openxmlformats.org/drawingml/2006/main">
            <a:off x="578244" y="2015101"/>
            <a:ext cx="195463" cy="195463"/>
          </a:xfrm>
          <a:custGeom xmlns:a="http://schemas.openxmlformats.org/drawingml/2006/main">
            <a:rect l="l" t="t" r="r" b="b"/>
            <a:pathLst>
              <a:path w="195463" h="195463">
                <a:moveTo>
                  <a:pt x="167785" y="2672"/>
                </a:moveTo>
                <a:cubicBezTo>
                  <a:pt x="171374" y="-916"/>
                  <a:pt x="177176" y="-916"/>
                  <a:pt x="180727" y="2672"/>
                </a:cubicBezTo>
                <a:lnTo>
                  <a:pt x="192943" y="14889"/>
                </a:lnTo>
                <a:cubicBezTo>
                  <a:pt x="196532" y="18477"/>
                  <a:pt x="196532" y="24280"/>
                  <a:pt x="192943" y="27831"/>
                </a:cubicBezTo>
                <a:lnTo>
                  <a:pt x="159730" y="61044"/>
                </a:lnTo>
                <a:lnTo>
                  <a:pt x="174619" y="75933"/>
                </a:lnTo>
                <a:cubicBezTo>
                  <a:pt x="177253" y="78567"/>
                  <a:pt x="178016" y="82499"/>
                  <a:pt x="176604" y="85935"/>
                </a:cubicBezTo>
                <a:cubicBezTo>
                  <a:pt x="175191" y="89371"/>
                  <a:pt x="171870" y="91623"/>
                  <a:pt x="168167" y="91623"/>
                </a:cubicBezTo>
                <a:lnTo>
                  <a:pt x="113193" y="91623"/>
                </a:lnTo>
                <a:cubicBezTo>
                  <a:pt x="108115" y="91623"/>
                  <a:pt x="104031" y="87538"/>
                  <a:pt x="104031" y="82461"/>
                </a:cubicBezTo>
                <a:lnTo>
                  <a:pt x="104031" y="27487"/>
                </a:lnTo>
                <a:cubicBezTo>
                  <a:pt x="104031" y="23784"/>
                  <a:pt x="106245" y="20424"/>
                  <a:pt x="109681" y="19012"/>
                </a:cubicBezTo>
                <a:cubicBezTo>
                  <a:pt x="113117" y="17599"/>
                  <a:pt x="117049" y="18363"/>
                  <a:pt x="119683" y="20997"/>
                </a:cubicBezTo>
                <a:lnTo>
                  <a:pt x="134572" y="35886"/>
                </a:lnTo>
                <a:lnTo>
                  <a:pt x="167785" y="2672"/>
                </a:lnTo>
                <a:close/>
                <a:moveTo>
                  <a:pt x="27678" y="103840"/>
                </a:moveTo>
                <a:lnTo>
                  <a:pt x="82652" y="103840"/>
                </a:lnTo>
                <a:cubicBezTo>
                  <a:pt x="87729" y="103840"/>
                  <a:pt x="91814" y="107925"/>
                  <a:pt x="91814" y="113002"/>
                </a:cubicBezTo>
                <a:lnTo>
                  <a:pt x="91814" y="167976"/>
                </a:lnTo>
                <a:cubicBezTo>
                  <a:pt x="91814" y="171679"/>
                  <a:pt x="89600" y="175039"/>
                  <a:pt x="86164" y="176451"/>
                </a:cubicBezTo>
                <a:cubicBezTo>
                  <a:pt x="82728" y="177864"/>
                  <a:pt x="78796" y="177100"/>
                  <a:pt x="76162" y="174466"/>
                </a:cubicBezTo>
                <a:lnTo>
                  <a:pt x="61273" y="159577"/>
                </a:lnTo>
                <a:lnTo>
                  <a:pt x="28060" y="192791"/>
                </a:lnTo>
                <a:cubicBezTo>
                  <a:pt x="24471" y="196379"/>
                  <a:pt x="18668" y="196379"/>
                  <a:pt x="15118" y="192791"/>
                </a:cubicBezTo>
                <a:lnTo>
                  <a:pt x="2901" y="180574"/>
                </a:lnTo>
                <a:cubicBezTo>
                  <a:pt x="-687" y="176986"/>
                  <a:pt x="-687" y="171183"/>
                  <a:pt x="2901" y="167632"/>
                </a:cubicBezTo>
                <a:lnTo>
                  <a:pt x="36115" y="134419"/>
                </a:lnTo>
                <a:lnTo>
                  <a:pt x="21226" y="119530"/>
                </a:lnTo>
                <a:cubicBezTo>
                  <a:pt x="18592" y="116896"/>
                  <a:pt x="17828" y="112964"/>
                  <a:pt x="19241" y="109528"/>
                </a:cubicBezTo>
                <a:cubicBezTo>
                  <a:pt x="20653" y="106092"/>
                  <a:pt x="23975" y="103840"/>
                  <a:pt x="27678" y="103840"/>
                </a:cubicBezTo>
                <a:close/>
              </a:path>
            </a:pathLst>
          </a:custGeom>
          <a:solidFill xmlns:a="http://schemas.openxmlformats.org/drawingml/2006/main">
            <a:srgbClr val="E6B450"/>
          </a:solidFill>
        </p:spPr>
      </p:sp>
      <p:sp>
        <p:nvSpPr>
          <p:cNvPr id="8" name="Text 6">
            <a:extLst xmlns:a="http://schemas.openxmlformats.org/drawingml/2006/main">
              <a:ext uri="{FF2B5EF4-FFF2-40B4-BE49-F238E27FC236}">
                <a16:creationId xmlns:a16="http://schemas.microsoft.com/office/drawing/2014/main" id="{966EF6D5-67DA-4512-9C63-997518620DBB}"/>
              </a:ext>
            </a:extLst>
          </p:cNvPr>
          <p:cNvSpPr>
            <a:spLocks xmlns:a="http://schemas.openxmlformats.org/drawingml/2006/main" noGrp="1"/>
          </p:cNvSpPr>
          <p:nvPr/>
        </p:nvSpPr>
        <p:spPr>
          <a:xfrm xmlns:a="http://schemas.openxmlformats.org/drawingml/2006/main">
            <a:off x="928449" y="1982523"/>
            <a:ext cx="6694605" cy="2606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最短约束</a:t>
            </a:r>
            <a:endParaRPr sz="2000"/>
          </a:p>
        </p:txBody>
      </p:sp>
      <p:sp>
        <p:nvSpPr>
          <p:cNvPr id="9" name="Text 7">
            <a:extLst xmlns:a="http://schemas.openxmlformats.org/drawingml/2006/main">
              <a:ext uri="{FF2B5EF4-FFF2-40B4-BE49-F238E27FC236}">
                <a16:creationId xmlns:a16="http://schemas.microsoft.com/office/drawing/2014/main" id="{5BA40F97-ACCC-4BB6-BC24-FD11E23554BC}"/>
              </a:ext>
            </a:extLst>
          </p:cNvPr>
          <p:cNvSpPr>
            <a:spLocks xmlns:a="http://schemas.openxmlformats.org/drawingml/2006/main" noGrp="1"/>
          </p:cNvSpPr>
          <p:nvPr/>
        </p:nvSpPr>
        <p:spPr>
          <a:xfrm xmlns:a="http://schemas.openxmlformats.org/drawingml/2006/main">
            <a:off x="928449" y="2340872"/>
            <a:ext cx="6670172" cy="236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TEB算法的最短约束为：</a:t>
            </a:r>
            <a:endParaRPr sz="2400"/>
          </a:p>
        </p:txBody>
      </p:sp>
      <p:sp>
        <p:nvSpPr>
          <p:cNvPr id="10" name="Shape 8">
            <a:extLst xmlns:a="http://schemas.openxmlformats.org/drawingml/2006/main">
              <a:ext uri="{FF2B5EF4-FFF2-40B4-BE49-F238E27FC236}">
                <a16:creationId xmlns:a16="http://schemas.microsoft.com/office/drawing/2014/main" id="{D5D53209-8863-4435-A0EA-6E77719567DE}"/>
              </a:ext>
            </a:extLst>
          </p:cNvPr>
          <p:cNvSpPr>
            <a:spLocks xmlns:a="http://schemas.openxmlformats.org/drawingml/2006/main" noGrp="1"/>
          </p:cNvSpPr>
          <p:nvPr/>
        </p:nvSpPr>
        <p:spPr>
          <a:xfrm xmlns:a="http://schemas.openxmlformats.org/drawingml/2006/main">
            <a:off x="932521" y="2680896"/>
            <a:ext cx="6588729" cy="757419"/>
          </a:xfrm>
          <a:custGeom xmlns:a="http://schemas.openxmlformats.org/drawingml/2006/main">
            <a:rect l="l" t="t" r="r" b="b"/>
            <a:pathLst>
              <a:path w="6588729" h="757419">
                <a:moveTo>
                  <a:pt x="65153" y="0"/>
                </a:moveTo>
                <a:lnTo>
                  <a:pt x="6523576" y="0"/>
                </a:lnTo>
                <a:cubicBezTo>
                  <a:pt x="6559559" y="0"/>
                  <a:pt x="6588729" y="29170"/>
                  <a:pt x="6588729" y="65153"/>
                </a:cubicBezTo>
                <a:lnTo>
                  <a:pt x="6588729" y="692266"/>
                </a:lnTo>
                <a:cubicBezTo>
                  <a:pt x="6588729" y="728249"/>
                  <a:pt x="6559559" y="757419"/>
                  <a:pt x="6523576" y="757419"/>
                </a:cubicBezTo>
                <a:lnTo>
                  <a:pt x="65153" y="757419"/>
                </a:lnTo>
                <a:cubicBezTo>
                  <a:pt x="29170" y="757419"/>
                  <a:pt x="0" y="728249"/>
                  <a:pt x="0" y="692266"/>
                </a:cubicBezTo>
                <a:lnTo>
                  <a:pt x="0" y="65153"/>
                </a:lnTo>
                <a:cubicBezTo>
                  <a:pt x="0" y="29170"/>
                  <a:pt x="29170" y="0"/>
                  <a:pt x="65153"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14" name="Shape 12">
            <a:extLst xmlns:a="http://schemas.openxmlformats.org/drawingml/2006/main">
              <a:ext uri="{FF2B5EF4-FFF2-40B4-BE49-F238E27FC236}">
                <a16:creationId xmlns:a16="http://schemas.microsoft.com/office/drawing/2014/main" id="{7B6CF670-42C2-4225-8BDC-6C14C2F79E5B}"/>
              </a:ext>
            </a:extLst>
          </p:cNvPr>
          <p:cNvSpPr>
            <a:spLocks xmlns:a="http://schemas.openxmlformats.org/drawingml/2006/main" noGrp="1"/>
          </p:cNvSpPr>
          <p:nvPr/>
        </p:nvSpPr>
        <p:spPr>
          <a:xfrm xmlns:a="http://schemas.openxmlformats.org/drawingml/2006/main">
            <a:off x="342060" y="4169265"/>
            <a:ext cx="8136144" cy="2426998"/>
          </a:xfrm>
          <a:custGeom xmlns:a="http://schemas.openxmlformats.org/drawingml/2006/main">
            <a:rect l="l" t="t" r="r" b="b"/>
            <a:pathLst>
              <a:path w="8136144" h="2426998">
                <a:moveTo>
                  <a:pt x="32577" y="0"/>
                </a:moveTo>
                <a:lnTo>
                  <a:pt x="8038409" y="0"/>
                </a:lnTo>
                <a:cubicBezTo>
                  <a:pt x="8092387" y="0"/>
                  <a:pt x="8136144" y="43758"/>
                  <a:pt x="8136144" y="97735"/>
                </a:cubicBezTo>
                <a:lnTo>
                  <a:pt x="8136144" y="2329263"/>
                </a:lnTo>
                <a:cubicBezTo>
                  <a:pt x="8136144" y="2383240"/>
                  <a:pt x="8092387" y="2426998"/>
                  <a:pt x="8038409" y="2426998"/>
                </a:cubicBezTo>
                <a:lnTo>
                  <a:pt x="32577" y="2426998"/>
                </a:lnTo>
                <a:cubicBezTo>
                  <a:pt x="14585" y="2426998"/>
                  <a:pt x="0" y="2412413"/>
                  <a:pt x="0" y="2394421"/>
                </a:cubicBezTo>
                <a:lnTo>
                  <a:pt x="0" y="32577"/>
                </a:lnTo>
                <a:cubicBezTo>
                  <a:pt x="0" y="14597"/>
                  <a:pt x="14597" y="0"/>
                  <a:pt x="32577" y="0"/>
                </a:cubicBezTo>
                <a:close/>
              </a:path>
            </a:pathLst>
          </a:custGeom>
          <a:solidFill xmlns:a="http://schemas.openxmlformats.org/drawingml/2006/main">
            <a:srgbClr val="5F87A7">
              <a:alpha val="10196"/>
            </a:srgbClr>
          </a:solidFill>
        </p:spPr>
      </p:sp>
      <p:sp>
        <p:nvSpPr>
          <p:cNvPr id="15" name="Shape 13">
            <a:extLst xmlns:a="http://schemas.openxmlformats.org/drawingml/2006/main">
              <a:ext uri="{FF2B5EF4-FFF2-40B4-BE49-F238E27FC236}">
                <a16:creationId xmlns:a16="http://schemas.microsoft.com/office/drawing/2014/main" id="{6F3C87F9-D48E-4995-A148-28EBE9492CBC}"/>
              </a:ext>
            </a:extLst>
          </p:cNvPr>
          <p:cNvSpPr>
            <a:spLocks xmlns:a="http://schemas.openxmlformats.org/drawingml/2006/main" noGrp="1"/>
          </p:cNvSpPr>
          <p:nvPr/>
        </p:nvSpPr>
        <p:spPr>
          <a:xfrm xmlns:a="http://schemas.openxmlformats.org/drawingml/2006/main">
            <a:off x="342060" y="4169265"/>
            <a:ext cx="32577" cy="2426998"/>
          </a:xfrm>
          <a:custGeom xmlns:a="http://schemas.openxmlformats.org/drawingml/2006/main">
            <a:rect l="l" t="t" r="r" b="b"/>
            <a:pathLst>
              <a:path w="32577" h="2426998">
                <a:moveTo>
                  <a:pt x="32577" y="0"/>
                </a:moveTo>
                <a:lnTo>
                  <a:pt x="32577" y="0"/>
                </a:lnTo>
                <a:lnTo>
                  <a:pt x="32577" y="2426998"/>
                </a:lnTo>
                <a:lnTo>
                  <a:pt x="32577" y="2426998"/>
                </a:lnTo>
                <a:cubicBezTo>
                  <a:pt x="14585" y="2426998"/>
                  <a:pt x="0" y="2412413"/>
                  <a:pt x="0" y="2394421"/>
                </a:cubicBezTo>
                <a:lnTo>
                  <a:pt x="0" y="32577"/>
                </a:lnTo>
                <a:cubicBezTo>
                  <a:pt x="0" y="14597"/>
                  <a:pt x="14597" y="0"/>
                  <a:pt x="32577" y="0"/>
                </a:cubicBezTo>
                <a:close/>
              </a:path>
            </a:pathLst>
          </a:custGeom>
          <a:solidFill xmlns:a="http://schemas.openxmlformats.org/drawingml/2006/main">
            <a:srgbClr val="E6B450"/>
          </a:solidFill>
        </p:spPr>
      </p:sp>
      <p:sp>
        <p:nvSpPr>
          <p:cNvPr id="16" name="Shape 14">
            <a:extLst xmlns:a="http://schemas.openxmlformats.org/drawingml/2006/main">
              <a:ext uri="{FF2B5EF4-FFF2-40B4-BE49-F238E27FC236}">
                <a16:creationId xmlns:a16="http://schemas.microsoft.com/office/drawing/2014/main" id="{127ED609-E5D8-4D6F-9870-A25F34CAFB52}"/>
              </a:ext>
            </a:extLst>
          </p:cNvPr>
          <p:cNvSpPr>
            <a:spLocks xmlns:a="http://schemas.openxmlformats.org/drawingml/2006/main" noGrp="1"/>
          </p:cNvSpPr>
          <p:nvPr/>
        </p:nvSpPr>
        <p:spPr>
          <a:xfrm xmlns:a="http://schemas.openxmlformats.org/drawingml/2006/main">
            <a:off x="549739" y="4397305"/>
            <a:ext cx="195463" cy="195463"/>
          </a:xfrm>
          <a:custGeom xmlns:a="http://schemas.openxmlformats.org/drawingml/2006/main">
            <a:rect l="l" t="t" r="r" b="b"/>
            <a:pathLst>
              <a:path w="195463" h="195463">
                <a:moveTo>
                  <a:pt x="24433" y="36649"/>
                </a:moveTo>
                <a:cubicBezTo>
                  <a:pt x="24433" y="29892"/>
                  <a:pt x="29892" y="24433"/>
                  <a:pt x="36649" y="24433"/>
                </a:cubicBezTo>
                <a:lnTo>
                  <a:pt x="97731" y="24433"/>
                </a:lnTo>
                <a:cubicBezTo>
                  <a:pt x="104489" y="24433"/>
                  <a:pt x="109948" y="29892"/>
                  <a:pt x="109948" y="36649"/>
                </a:cubicBezTo>
                <a:lnTo>
                  <a:pt x="109948" y="146597"/>
                </a:lnTo>
                <a:lnTo>
                  <a:pt x="146597" y="146597"/>
                </a:lnTo>
                <a:lnTo>
                  <a:pt x="146597" y="97731"/>
                </a:lnTo>
                <a:cubicBezTo>
                  <a:pt x="146597" y="90974"/>
                  <a:pt x="152056" y="85515"/>
                  <a:pt x="158814" y="85515"/>
                </a:cubicBezTo>
                <a:lnTo>
                  <a:pt x="183246" y="85515"/>
                </a:lnTo>
                <a:cubicBezTo>
                  <a:pt x="190004" y="85515"/>
                  <a:pt x="195463" y="90974"/>
                  <a:pt x="195463" y="97731"/>
                </a:cubicBezTo>
                <a:cubicBezTo>
                  <a:pt x="195463" y="104489"/>
                  <a:pt x="190004" y="109948"/>
                  <a:pt x="183246" y="109948"/>
                </a:cubicBezTo>
                <a:lnTo>
                  <a:pt x="171030" y="109948"/>
                </a:lnTo>
                <a:lnTo>
                  <a:pt x="171030" y="158814"/>
                </a:lnTo>
                <a:cubicBezTo>
                  <a:pt x="171030" y="165571"/>
                  <a:pt x="165571" y="171030"/>
                  <a:pt x="158814" y="171030"/>
                </a:cubicBezTo>
                <a:lnTo>
                  <a:pt x="97731" y="171030"/>
                </a:lnTo>
                <a:cubicBezTo>
                  <a:pt x="90974" y="171030"/>
                  <a:pt x="85515" y="165571"/>
                  <a:pt x="85515" y="158814"/>
                </a:cubicBezTo>
                <a:lnTo>
                  <a:pt x="85515" y="48866"/>
                </a:lnTo>
                <a:lnTo>
                  <a:pt x="48866" y="48866"/>
                </a:lnTo>
                <a:lnTo>
                  <a:pt x="48866" y="97731"/>
                </a:lnTo>
                <a:cubicBezTo>
                  <a:pt x="48866" y="104489"/>
                  <a:pt x="43407" y="109948"/>
                  <a:pt x="36649" y="109948"/>
                </a:cubicBezTo>
                <a:lnTo>
                  <a:pt x="12216" y="109948"/>
                </a:lnTo>
                <a:cubicBezTo>
                  <a:pt x="5459" y="109948"/>
                  <a:pt x="0" y="104489"/>
                  <a:pt x="0" y="97731"/>
                </a:cubicBezTo>
                <a:cubicBezTo>
                  <a:pt x="0" y="90974"/>
                  <a:pt x="5459" y="85515"/>
                  <a:pt x="12216" y="85515"/>
                </a:cubicBezTo>
                <a:lnTo>
                  <a:pt x="24433" y="85515"/>
                </a:lnTo>
                <a:lnTo>
                  <a:pt x="24433" y="36649"/>
                </a:lnTo>
                <a:close/>
              </a:path>
            </a:pathLst>
          </a:custGeom>
          <a:solidFill xmlns:a="http://schemas.openxmlformats.org/drawingml/2006/main">
            <a:srgbClr val="E6B450"/>
          </a:solidFill>
        </p:spPr>
      </p:sp>
      <p:sp>
        <p:nvSpPr>
          <p:cNvPr id="17" name="Text 15">
            <a:extLst xmlns:a="http://schemas.openxmlformats.org/drawingml/2006/main">
              <a:ext uri="{FF2B5EF4-FFF2-40B4-BE49-F238E27FC236}">
                <a16:creationId xmlns:a16="http://schemas.microsoft.com/office/drawing/2014/main" id="{8C2FF322-46C6-4133-A298-E27EB5935E18}"/>
              </a:ext>
            </a:extLst>
          </p:cNvPr>
          <p:cNvSpPr>
            <a:spLocks xmlns:a="http://schemas.openxmlformats.org/drawingml/2006/main" noGrp="1"/>
          </p:cNvSpPr>
          <p:nvPr/>
        </p:nvSpPr>
        <p:spPr>
          <a:xfrm xmlns:a="http://schemas.openxmlformats.org/drawingml/2006/main">
            <a:off x="868258" y="4364728"/>
            <a:ext cx="7509034" cy="2606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加速度变化率约束</a:t>
            </a:r>
            <a:endParaRPr sz="2000"/>
          </a:p>
        </p:txBody>
      </p:sp>
      <p:sp>
        <p:nvSpPr>
          <p:cNvPr id="18" name="Text 16">
            <a:extLst xmlns:a="http://schemas.openxmlformats.org/drawingml/2006/main">
              <a:ext uri="{FF2B5EF4-FFF2-40B4-BE49-F238E27FC236}">
                <a16:creationId xmlns:a16="http://schemas.microsoft.com/office/drawing/2014/main" id="{5539C6D6-7C64-4CB5-843A-27FE21024A57}"/>
              </a:ext>
            </a:extLst>
          </p:cNvPr>
          <p:cNvSpPr>
            <a:spLocks xmlns:a="http://schemas.openxmlformats.org/drawingml/2006/main" noGrp="1"/>
          </p:cNvSpPr>
          <p:nvPr/>
        </p:nvSpPr>
        <p:spPr>
          <a:xfrm xmlns:a="http://schemas.openxmlformats.org/drawingml/2006/main">
            <a:off x="868258" y="4723077"/>
            <a:ext cx="7484601" cy="236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latin typeface="微软雅黑"/>
                <a:ea typeface="微软雅黑"/>
                <a:cs typeface="微软雅黑"/>
              </a:rPr>
              <a:t>TEB算法的加速度变化率约束为：</a:t>
            </a:r>
            <a:endParaRPr sz="2400"/>
          </a:p>
        </p:txBody>
      </p:sp>
      <p:sp>
        <p:nvSpPr>
          <p:cNvPr id="19" name="Shape 17">
            <a:extLst xmlns:a="http://schemas.openxmlformats.org/drawingml/2006/main">
              <a:ext uri="{FF2B5EF4-FFF2-40B4-BE49-F238E27FC236}">
                <a16:creationId xmlns:a16="http://schemas.microsoft.com/office/drawing/2014/main" id="{2F43F3E8-FA95-4791-ADC1-B0F4627EC1AE}"/>
              </a:ext>
            </a:extLst>
          </p:cNvPr>
          <p:cNvSpPr>
            <a:spLocks xmlns:a="http://schemas.openxmlformats.org/drawingml/2006/main" noGrp="1"/>
          </p:cNvSpPr>
          <p:nvPr/>
        </p:nvSpPr>
        <p:spPr>
          <a:xfrm xmlns:a="http://schemas.openxmlformats.org/drawingml/2006/main">
            <a:off x="872330" y="5092424"/>
            <a:ext cx="7403158" cy="986646"/>
          </a:xfrm>
          <a:custGeom xmlns:a="http://schemas.openxmlformats.org/drawingml/2006/main">
            <a:rect l="l" t="t" r="r" b="b"/>
            <a:pathLst>
              <a:path w="7403158" h="757419">
                <a:moveTo>
                  <a:pt x="65153" y="0"/>
                </a:moveTo>
                <a:lnTo>
                  <a:pt x="7338005" y="0"/>
                </a:lnTo>
                <a:cubicBezTo>
                  <a:pt x="7373988" y="0"/>
                  <a:pt x="7403158" y="29170"/>
                  <a:pt x="7403158" y="65153"/>
                </a:cubicBezTo>
                <a:lnTo>
                  <a:pt x="7403158" y="692266"/>
                </a:lnTo>
                <a:cubicBezTo>
                  <a:pt x="7403158" y="728249"/>
                  <a:pt x="7373988" y="757419"/>
                  <a:pt x="7338005" y="757419"/>
                </a:cubicBezTo>
                <a:lnTo>
                  <a:pt x="65153" y="757419"/>
                </a:lnTo>
                <a:cubicBezTo>
                  <a:pt x="29170" y="757419"/>
                  <a:pt x="0" y="728249"/>
                  <a:pt x="0" y="692266"/>
                </a:cubicBezTo>
                <a:lnTo>
                  <a:pt x="0" y="65153"/>
                </a:lnTo>
                <a:cubicBezTo>
                  <a:pt x="0" y="29170"/>
                  <a:pt x="29170" y="0"/>
                  <a:pt x="65153"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43" name="矩形 42">
            <a:extLst xmlns:a="http://schemas.openxmlformats.org/drawingml/2006/main">
              <a:ext uri="{FF2B5EF4-FFF2-40B4-BE49-F238E27FC236}">
                <a16:creationId xmlns:a16="http://schemas.microsoft.com/office/drawing/2014/main" id="{991AB4F3-8B5D-77FA-DC9F-98333333B5E0}"/>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文本框 43">
            <a:extLst xmlns:a="http://schemas.openxmlformats.org/drawingml/2006/main">
              <a:ext uri="{FF2B5EF4-FFF2-40B4-BE49-F238E27FC236}">
                <a16:creationId xmlns:a16="http://schemas.microsoft.com/office/drawing/2014/main" id="{F38AA97A-AC72-29E3-3853-EFA021454C02}"/>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spTree>
    <p:extLst>
      <p:ext uri="{BB962C8B-B14F-4D97-AF65-F5344CB8AC3E}">
        <p14:creationId xmlns:p14="http://schemas.microsoft.com/office/powerpoint/2010/main" val="1324527616"/>
      </p:ext>
    </p:extLst>
  </p:cSld>
</p:sld>
</file>

<file path=ppt/slides/slide139.xml><?xml version="1.0" encoding="utf-8"?>
<p:sld xmlns:p="http://schemas.openxmlformats.org/presentationml/2006/main">
  <p:cSld>
    <p:spTree>
      <p:nvGrpSpPr>
        <p:cNvPr id="1" name=""/>
        <p:cNvGrpSpPr/>
        <p:nvPr/>
      </p:nvGrpSpPr>
      <p:grpSpPr>
        <a:xfrm xmlns:a="http://schemas.openxmlformats.org/drawingml/2006/main"/>
      </p:grpSpPr>
      <p:sp>
        <p:nvSpPr>
          <p:cNvPr id="16" name="Shape 14">
            <a:extLst xmlns:a="http://schemas.openxmlformats.org/drawingml/2006/main">
              <a:ext uri="{FF2B5EF4-FFF2-40B4-BE49-F238E27FC236}">
                <a16:creationId xmlns:a16="http://schemas.microsoft.com/office/drawing/2014/main" id="{6F31811E-D0D0-4CEF-A687-8A01AAB4B45B}"/>
              </a:ext>
            </a:extLst>
          </p:cNvPr>
          <p:cNvSpPr>
            <a:spLocks xmlns:a="http://schemas.openxmlformats.org/drawingml/2006/main" noGrp="1"/>
          </p:cNvSpPr>
          <p:nvPr/>
        </p:nvSpPr>
        <p:spPr>
          <a:xfrm xmlns:a="http://schemas.openxmlformats.org/drawingml/2006/main">
            <a:off x="400049" y="1789905"/>
            <a:ext cx="11292417" cy="4492362"/>
          </a:xfrm>
          <a:custGeom xmlns:a="http://schemas.openxmlformats.org/drawingml/2006/main">
            <a:rect l="l" t="t" r="r" b="b"/>
            <a:pathLst>
              <a:path w="7448550" h="2333625">
                <a:moveTo>
                  <a:pt x="38100" y="0"/>
                </a:moveTo>
                <a:lnTo>
                  <a:pt x="7334249" y="0"/>
                </a:lnTo>
                <a:cubicBezTo>
                  <a:pt x="7397376" y="0"/>
                  <a:pt x="7448550" y="51174"/>
                  <a:pt x="7448550" y="114301"/>
                </a:cubicBezTo>
                <a:lnTo>
                  <a:pt x="7448550" y="2219324"/>
                </a:lnTo>
                <a:cubicBezTo>
                  <a:pt x="7448550" y="2282451"/>
                  <a:pt x="7397376" y="2333625"/>
                  <a:pt x="7334249" y="2333625"/>
                </a:cubicBezTo>
                <a:lnTo>
                  <a:pt x="38100" y="2333625"/>
                </a:lnTo>
                <a:cubicBezTo>
                  <a:pt x="17072" y="2333625"/>
                  <a:pt x="0" y="2316553"/>
                  <a:pt x="0" y="2295525"/>
                </a:cubicBezTo>
                <a:lnTo>
                  <a:pt x="0" y="38100"/>
                </a:lnTo>
                <a:cubicBezTo>
                  <a:pt x="0" y="17072"/>
                  <a:pt x="17072" y="0"/>
                  <a:pt x="38100" y="0"/>
                </a:cubicBezTo>
                <a:close/>
              </a:path>
            </a:pathLst>
          </a:custGeom>
          <a:solidFill xmlns:a="http://schemas.openxmlformats.org/drawingml/2006/main">
            <a:srgbClr val="5F87A7">
              <a:alpha val="10196"/>
            </a:srgbClr>
          </a:solidFill>
        </p:spPr>
      </p:sp>
      <p:sp>
        <p:nvSpPr>
          <p:cNvPr id="17" name="Shape 15">
            <a:extLst xmlns:a="http://schemas.openxmlformats.org/drawingml/2006/main">
              <a:ext uri="{FF2B5EF4-FFF2-40B4-BE49-F238E27FC236}">
                <a16:creationId xmlns:a16="http://schemas.microsoft.com/office/drawing/2014/main" id="{BD5C3E41-DEF0-4F78-A8A3-1FAAA025C7CC}"/>
              </a:ext>
            </a:extLst>
          </p:cNvPr>
          <p:cNvSpPr>
            <a:spLocks xmlns:a="http://schemas.openxmlformats.org/drawingml/2006/main" noGrp="1"/>
          </p:cNvSpPr>
          <p:nvPr/>
        </p:nvSpPr>
        <p:spPr>
          <a:xfrm xmlns:a="http://schemas.openxmlformats.org/drawingml/2006/main">
            <a:off x="400050" y="1789905"/>
            <a:ext cx="38100" cy="4492362"/>
          </a:xfrm>
          <a:custGeom xmlns:a="http://schemas.openxmlformats.org/drawingml/2006/main">
            <a:rect l="l" t="t" r="r" b="b"/>
            <a:pathLst>
              <a:path w="38100" h="2333625">
                <a:moveTo>
                  <a:pt x="38100" y="0"/>
                </a:moveTo>
                <a:lnTo>
                  <a:pt x="38100" y="0"/>
                </a:lnTo>
                <a:lnTo>
                  <a:pt x="38100" y="2333625"/>
                </a:lnTo>
                <a:lnTo>
                  <a:pt x="38100" y="2333625"/>
                </a:lnTo>
                <a:cubicBezTo>
                  <a:pt x="17072" y="2333625"/>
                  <a:pt x="0" y="2316553"/>
                  <a:pt x="0" y="2295525"/>
                </a:cubicBezTo>
                <a:lnTo>
                  <a:pt x="0" y="38100"/>
                </a:lnTo>
                <a:cubicBezTo>
                  <a:pt x="0" y="17072"/>
                  <a:pt x="17072" y="0"/>
                  <a:pt x="38100" y="0"/>
                </a:cubicBezTo>
                <a:close/>
              </a:path>
            </a:pathLst>
          </a:custGeom>
          <a:solidFill xmlns:a="http://schemas.openxmlformats.org/drawingml/2006/main">
            <a:srgbClr val="E6B450"/>
          </a:solidFill>
        </p:spPr>
      </p:sp>
      <p:sp>
        <p:nvSpPr>
          <p:cNvPr id="18" name="Shape 16">
            <a:extLst xmlns:a="http://schemas.openxmlformats.org/drawingml/2006/main">
              <a:ext uri="{FF2B5EF4-FFF2-40B4-BE49-F238E27FC236}">
                <a16:creationId xmlns:a16="http://schemas.microsoft.com/office/drawing/2014/main" id="{72B99D6F-A35C-44F9-8886-3734A47B7F1E}"/>
              </a:ext>
            </a:extLst>
          </p:cNvPr>
          <p:cNvSpPr>
            <a:spLocks xmlns:a="http://schemas.openxmlformats.org/drawingml/2006/main" noGrp="1"/>
          </p:cNvSpPr>
          <p:nvPr/>
        </p:nvSpPr>
        <p:spPr>
          <a:xfrm xmlns:a="http://schemas.openxmlformats.org/drawingml/2006/main">
            <a:off x="647700" y="2056606"/>
            <a:ext cx="171450" cy="228600"/>
          </a:xfrm>
          <a:custGeom xmlns:a="http://schemas.openxmlformats.org/drawingml/2006/main">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42863" y="28575"/>
                </a:moveTo>
                <a:lnTo>
                  <a:pt x="128588" y="28575"/>
                </a:lnTo>
                <a:cubicBezTo>
                  <a:pt x="136490" y="28575"/>
                  <a:pt x="142875" y="34960"/>
                  <a:pt x="142875" y="42863"/>
                </a:cubicBezTo>
                <a:lnTo>
                  <a:pt x="142875" y="57150"/>
                </a:lnTo>
                <a:cubicBezTo>
                  <a:pt x="142875" y="65053"/>
                  <a:pt x="136490" y="71438"/>
                  <a:pt x="128588" y="71438"/>
                </a:cubicBezTo>
                <a:lnTo>
                  <a:pt x="42863" y="71438"/>
                </a:lnTo>
                <a:cubicBezTo>
                  <a:pt x="34960" y="71438"/>
                  <a:pt x="28575" y="65053"/>
                  <a:pt x="28575" y="57150"/>
                </a:cubicBezTo>
                <a:lnTo>
                  <a:pt x="28575" y="42863"/>
                </a:lnTo>
                <a:cubicBezTo>
                  <a:pt x="28575" y="34960"/>
                  <a:pt x="34960" y="28575"/>
                  <a:pt x="42863" y="28575"/>
                </a:cubicBezTo>
                <a:close/>
                <a:moveTo>
                  <a:pt x="50006" y="103584"/>
                </a:moveTo>
                <a:cubicBezTo>
                  <a:pt x="50006" y="109498"/>
                  <a:pt x="45205" y="114300"/>
                  <a:pt x="39291" y="114300"/>
                </a:cubicBezTo>
                <a:cubicBezTo>
                  <a:pt x="33377" y="114300"/>
                  <a:pt x="28575" y="109498"/>
                  <a:pt x="28575" y="103584"/>
                </a:cubicBezTo>
                <a:cubicBezTo>
                  <a:pt x="28575" y="97670"/>
                  <a:pt x="33377" y="92869"/>
                  <a:pt x="39291" y="92869"/>
                </a:cubicBezTo>
                <a:cubicBezTo>
                  <a:pt x="45205" y="92869"/>
                  <a:pt x="50006" y="97670"/>
                  <a:pt x="50006" y="103584"/>
                </a:cubicBezTo>
                <a:close/>
                <a:moveTo>
                  <a:pt x="85725" y="114300"/>
                </a:moveTo>
                <a:cubicBezTo>
                  <a:pt x="79811" y="114300"/>
                  <a:pt x="75009" y="109498"/>
                  <a:pt x="75009" y="103584"/>
                </a:cubicBezTo>
                <a:cubicBezTo>
                  <a:pt x="75009" y="97670"/>
                  <a:pt x="79811" y="92869"/>
                  <a:pt x="85725" y="92869"/>
                </a:cubicBezTo>
                <a:cubicBezTo>
                  <a:pt x="91639" y="92869"/>
                  <a:pt x="96441" y="97670"/>
                  <a:pt x="96441" y="103584"/>
                </a:cubicBezTo>
                <a:cubicBezTo>
                  <a:pt x="96441" y="109498"/>
                  <a:pt x="91639" y="114300"/>
                  <a:pt x="85725" y="114300"/>
                </a:cubicBezTo>
                <a:close/>
                <a:moveTo>
                  <a:pt x="142875" y="103584"/>
                </a:moveTo>
                <a:cubicBezTo>
                  <a:pt x="142875" y="109498"/>
                  <a:pt x="138073" y="114300"/>
                  <a:pt x="132159" y="114300"/>
                </a:cubicBezTo>
                <a:cubicBezTo>
                  <a:pt x="126245" y="114300"/>
                  <a:pt x="121444" y="109498"/>
                  <a:pt x="121444" y="103584"/>
                </a:cubicBezTo>
                <a:cubicBezTo>
                  <a:pt x="121444" y="97670"/>
                  <a:pt x="126245" y="92869"/>
                  <a:pt x="132159" y="92869"/>
                </a:cubicBezTo>
                <a:cubicBezTo>
                  <a:pt x="138073" y="92869"/>
                  <a:pt x="142875" y="97670"/>
                  <a:pt x="142875" y="103584"/>
                </a:cubicBezTo>
                <a:close/>
                <a:moveTo>
                  <a:pt x="39291" y="157163"/>
                </a:moveTo>
                <a:cubicBezTo>
                  <a:pt x="33377" y="157163"/>
                  <a:pt x="28575" y="152361"/>
                  <a:pt x="28575" y="146447"/>
                </a:cubicBezTo>
                <a:cubicBezTo>
                  <a:pt x="28575" y="140533"/>
                  <a:pt x="33377" y="135731"/>
                  <a:pt x="39291" y="135731"/>
                </a:cubicBezTo>
                <a:cubicBezTo>
                  <a:pt x="45205" y="135731"/>
                  <a:pt x="50006" y="140533"/>
                  <a:pt x="50006" y="146447"/>
                </a:cubicBezTo>
                <a:cubicBezTo>
                  <a:pt x="50006" y="152361"/>
                  <a:pt x="45205" y="157163"/>
                  <a:pt x="39291" y="157163"/>
                </a:cubicBezTo>
                <a:close/>
                <a:moveTo>
                  <a:pt x="96441" y="146447"/>
                </a:moveTo>
                <a:cubicBezTo>
                  <a:pt x="96441" y="152361"/>
                  <a:pt x="91639" y="157163"/>
                  <a:pt x="85725" y="157163"/>
                </a:cubicBezTo>
                <a:cubicBezTo>
                  <a:pt x="79811" y="157163"/>
                  <a:pt x="75009" y="152361"/>
                  <a:pt x="75009" y="146447"/>
                </a:cubicBezTo>
                <a:cubicBezTo>
                  <a:pt x="75009" y="140533"/>
                  <a:pt x="79811" y="135731"/>
                  <a:pt x="85725" y="135731"/>
                </a:cubicBezTo>
                <a:cubicBezTo>
                  <a:pt x="91639" y="135731"/>
                  <a:pt x="96441" y="140533"/>
                  <a:pt x="96441" y="146447"/>
                </a:cubicBezTo>
                <a:close/>
                <a:moveTo>
                  <a:pt x="132159" y="157163"/>
                </a:moveTo>
                <a:cubicBezTo>
                  <a:pt x="126245" y="157163"/>
                  <a:pt x="121444" y="152361"/>
                  <a:pt x="121444" y="146447"/>
                </a:cubicBezTo>
                <a:cubicBezTo>
                  <a:pt x="121444" y="140533"/>
                  <a:pt x="126245" y="135731"/>
                  <a:pt x="132159" y="135731"/>
                </a:cubicBezTo>
                <a:cubicBezTo>
                  <a:pt x="138073" y="135731"/>
                  <a:pt x="142875" y="140533"/>
                  <a:pt x="142875" y="146447"/>
                </a:cubicBezTo>
                <a:cubicBezTo>
                  <a:pt x="142875" y="152361"/>
                  <a:pt x="138073" y="157163"/>
                  <a:pt x="132159" y="157163"/>
                </a:cubicBezTo>
                <a:close/>
                <a:moveTo>
                  <a:pt x="28575" y="189309"/>
                </a:moveTo>
                <a:cubicBezTo>
                  <a:pt x="28575" y="183371"/>
                  <a:pt x="33352" y="178594"/>
                  <a:pt x="39291" y="178594"/>
                </a:cubicBezTo>
                <a:lnTo>
                  <a:pt x="89297" y="178594"/>
                </a:lnTo>
                <a:cubicBezTo>
                  <a:pt x="95235" y="178594"/>
                  <a:pt x="100013" y="183371"/>
                  <a:pt x="100013" y="189309"/>
                </a:cubicBezTo>
                <a:cubicBezTo>
                  <a:pt x="100013" y="195248"/>
                  <a:pt x="95235" y="200025"/>
                  <a:pt x="89297" y="200025"/>
                </a:cubicBezTo>
                <a:lnTo>
                  <a:pt x="39291" y="200025"/>
                </a:lnTo>
                <a:cubicBezTo>
                  <a:pt x="33352" y="200025"/>
                  <a:pt x="28575" y="195248"/>
                  <a:pt x="28575" y="189309"/>
                </a:cubicBezTo>
                <a:close/>
                <a:moveTo>
                  <a:pt x="132159" y="178594"/>
                </a:moveTo>
                <a:cubicBezTo>
                  <a:pt x="138098" y="178594"/>
                  <a:pt x="142875" y="183371"/>
                  <a:pt x="142875" y="189309"/>
                </a:cubicBezTo>
                <a:cubicBezTo>
                  <a:pt x="142875" y="195248"/>
                  <a:pt x="138098" y="200025"/>
                  <a:pt x="132159" y="200025"/>
                </a:cubicBezTo>
                <a:cubicBezTo>
                  <a:pt x="126221" y="200025"/>
                  <a:pt x="121444" y="195248"/>
                  <a:pt x="121444" y="189309"/>
                </a:cubicBezTo>
                <a:cubicBezTo>
                  <a:pt x="121444" y="183371"/>
                  <a:pt x="126221" y="178594"/>
                  <a:pt x="132159" y="178594"/>
                </a:cubicBezTo>
                <a:close/>
              </a:path>
            </a:pathLst>
          </a:custGeom>
          <a:solidFill xmlns:a="http://schemas.openxmlformats.org/drawingml/2006/main">
            <a:srgbClr val="E6B450"/>
          </a:solidFill>
        </p:spPr>
      </p:sp>
      <p:sp>
        <p:nvSpPr>
          <p:cNvPr id="19" name="Text 17">
            <a:extLst xmlns:a="http://schemas.openxmlformats.org/drawingml/2006/main">
              <a:ext uri="{FF2B5EF4-FFF2-40B4-BE49-F238E27FC236}">
                <a16:creationId xmlns:a16="http://schemas.microsoft.com/office/drawing/2014/main" id="{58A46820-F50A-4D4A-A860-8B1291E72E58}"/>
              </a:ext>
            </a:extLst>
          </p:cNvPr>
          <p:cNvSpPr>
            <a:spLocks xmlns:a="http://schemas.openxmlformats.org/drawingml/2006/main" noGrp="1"/>
          </p:cNvSpPr>
          <p:nvPr/>
        </p:nvSpPr>
        <p:spPr>
          <a:xfrm xmlns:a="http://schemas.openxmlformats.org/drawingml/2006/main">
            <a:off x="975866" y="2018506"/>
            <a:ext cx="676275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10000"/>
              </a:lnSpc>
              <a:buNone/>
            </a:pPr>
            <a:r>
              <a:rPr b="1">
                <a:latin typeface="微软雅黑"/>
                <a:ea typeface="微软雅黑"/>
                <a:cs typeface="微软雅黑"/>
              </a:rPr>
              <a:t>TEB</a:t>
            </a:r>
            <a:r>
              <a:rPr b="1">
                <a:latin typeface="微软雅黑"/>
                <a:ea typeface="微软雅黑"/>
                <a:cs typeface="微软雅黑"/>
              </a:rPr>
              <a:t>算法的最小二乘问题</a:t>
            </a:r>
            <a:endParaRPr sz="1600"/>
          </a:p>
        </p:txBody>
      </p:sp>
      <p:sp>
        <p:nvSpPr>
          <p:cNvPr id="20" name="Text 18">
            <a:extLst xmlns:a="http://schemas.openxmlformats.org/drawingml/2006/main">
              <a:ext uri="{FF2B5EF4-FFF2-40B4-BE49-F238E27FC236}">
                <a16:creationId xmlns:a16="http://schemas.microsoft.com/office/drawing/2014/main" id="{DA780125-D7A9-4E84-A6C9-B7E4C476119A}"/>
              </a:ext>
            </a:extLst>
          </p:cNvPr>
          <p:cNvSpPr>
            <a:spLocks xmlns:a="http://schemas.openxmlformats.org/drawingml/2006/main" noGrp="1"/>
          </p:cNvSpPr>
          <p:nvPr/>
        </p:nvSpPr>
        <p:spPr>
          <a:xfrm xmlns:a="http://schemas.openxmlformats.org/drawingml/2006/main">
            <a:off x="990153" y="2509574"/>
            <a:ext cx="8814247" cy="22463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ct val="140000"/>
              </a:lnSpc>
              <a:buNone/>
            </a:pPr>
            <a:r>
              <a:rPr sz="1600"/>
              <a:t>代价函数整理完过后，需要做的就是如何把这些代价函数给建模成最小二乘问题</a:t>
            </a:r>
            <a:endParaRPr/>
          </a:p>
        </p:txBody>
      </p:sp>
      <p:sp>
        <p:nvSpPr>
          <p:cNvPr id="21" name="Shape 19">
            <a:extLst xmlns:a="http://schemas.openxmlformats.org/drawingml/2006/main">
              <a:ext uri="{FF2B5EF4-FFF2-40B4-BE49-F238E27FC236}">
                <a16:creationId xmlns:a16="http://schemas.microsoft.com/office/drawing/2014/main" id="{1886233F-2A48-4FA3-9E8C-12631AF09618}"/>
              </a:ext>
            </a:extLst>
          </p:cNvPr>
          <p:cNvSpPr>
            <a:spLocks xmlns:a="http://schemas.openxmlformats.org/drawingml/2006/main" noGrp="1"/>
          </p:cNvSpPr>
          <p:nvPr/>
        </p:nvSpPr>
        <p:spPr>
          <a:xfrm xmlns:a="http://schemas.openxmlformats.org/drawingml/2006/main">
            <a:off x="975866" y="2920476"/>
            <a:ext cx="10428205" cy="3146160"/>
          </a:xfrm>
          <a:custGeom xmlns:a="http://schemas.openxmlformats.org/drawingml/2006/main">
            <a:rect l="l" t="t" r="r" b="b"/>
            <a:pathLst>
              <a:path w="3257550" h="771525">
                <a:moveTo>
                  <a:pt x="76204" y="0"/>
                </a:moveTo>
                <a:lnTo>
                  <a:pt x="3181346" y="0"/>
                </a:lnTo>
                <a:cubicBezTo>
                  <a:pt x="3223433" y="0"/>
                  <a:pt x="3257550" y="34117"/>
                  <a:pt x="3257550" y="76204"/>
                </a:cubicBezTo>
                <a:lnTo>
                  <a:pt x="3257550" y="695321"/>
                </a:lnTo>
                <a:cubicBezTo>
                  <a:pt x="3257550" y="737408"/>
                  <a:pt x="3223433" y="771525"/>
                  <a:pt x="3181346" y="771525"/>
                </a:cubicBezTo>
                <a:lnTo>
                  <a:pt x="76204" y="771525"/>
                </a:lnTo>
                <a:cubicBezTo>
                  <a:pt x="34117" y="771525"/>
                  <a:pt x="0" y="737408"/>
                  <a:pt x="0" y="695321"/>
                </a:cubicBezTo>
                <a:lnTo>
                  <a:pt x="0" y="76204"/>
                </a:lnTo>
                <a:cubicBezTo>
                  <a:pt x="0" y="34146"/>
                  <a:pt x="34146" y="0"/>
                  <a:pt x="76204" y="0"/>
                </a:cubicBezTo>
                <a:close/>
              </a:path>
            </a:pathLst>
          </a:custGeom>
          <a:solidFill xmlns:a="http://schemas.openxmlformats.org/drawingml/2006/main">
            <a:srgbClr val="E6B450">
              <a:alpha val="10196"/>
            </a:srgbClr>
          </a:solidFill>
          <a:ln xmlns:a="http://schemas.openxmlformats.org/drawingml/2006/main" w="12700">
            <a:solidFill>
              <a:srgbClr val="E6B450">
                <a:alpha val="30196"/>
              </a:srgbClr>
            </a:solidFill>
            <a:prstDash val="solid"/>
          </a:ln>
        </p:spPr>
      </p:sp>
      <p:sp>
        <p:nvSpPr>
          <p:cNvPr id="46" name="矩形 45">
            <a:extLst xmlns:a="http://schemas.openxmlformats.org/drawingml/2006/main">
              <a:ext uri="{FF2B5EF4-FFF2-40B4-BE49-F238E27FC236}">
                <a16:creationId xmlns:a16="http://schemas.microsoft.com/office/drawing/2014/main" id="{FD2C2E90-1AFB-72BE-4625-2C11ED6F44FB}"/>
              </a:ext>
            </a:extLst>
          </p:cNvPr>
          <p:cNvSpPr>
            <a:spLocks xmlns:a="http://schemas.openxmlformats.org/drawingml/2006/main" noGrp="1"/>
          </p:cNvSpPr>
          <p:nvPr/>
        </p:nvSpPr>
        <p:spPr>
          <a:xfrm xmlns:a="http://schemas.openxmlformats.org/drawingml/2006/main" rot="0" flipH="0" flipV="0">
            <a:off x="0" y="939798"/>
            <a:ext cx="5022850" cy="625474"/>
          </a:xfrm>
          <a:prstGeom xmlns:a="http://schemas.openxmlformats.org/drawingml/2006/main" prst="rect">
            <a:avLst/>
          </a:prstGeom>
          <a:gradFill xmlns:a="http://schemas.openxmlformats.org/drawingml/2006/main">
            <a:gsLst>
              <a:gs pos="0">
                <a:schemeClr val="accent3">
                  <a:lumMod val="20000"/>
                  <a:lumOff val="80000"/>
                </a:schemeClr>
              </a:gs>
              <a:gs pos="93000">
                <a:schemeClr val="accent3">
                  <a:lumMod val="20000"/>
                  <a:lumOff val="80000"/>
                  <a:alpha val="0"/>
                </a:schemeClr>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文本框 46">
            <a:extLst xmlns:a="http://schemas.openxmlformats.org/drawingml/2006/main">
              <a:ext uri="{FF2B5EF4-FFF2-40B4-BE49-F238E27FC236}">
                <a16:creationId xmlns:a16="http://schemas.microsoft.com/office/drawing/2014/main" id="{3576D714-AA64-CB54-E560-E5DE533A4C6A}"/>
              </a:ext>
            </a:extLst>
          </p:cNvPr>
          <p:cNvSpPr>
            <a:spLocks xmlns:a="http://schemas.openxmlformats.org/drawingml/2006/main" noGrp="1"/>
          </p:cNvSpPr>
          <p:nvPr/>
        </p:nvSpPr>
        <p:spPr>
          <a:xfrm xmlns:a="http://schemas.openxmlformats.org/drawingml/2006/main" rot="0" flipH="0" flipV="0">
            <a:off x="270933" y="1021703"/>
            <a:ext cx="399214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accent1"/>
                </a:solidFill>
                <a:latin typeface="+mj-lt"/>
                <a:ea typeface="+mj-lt"/>
                <a:cs typeface="+mj-lt"/>
              </a:rPr>
              <a:t>7.3.4 TEB</a:t>
            </a:r>
            <a:r>
              <a:rPr sz="2400" b="1">
                <a:solidFill>
                  <a:schemeClr val="accent1"/>
                </a:solidFill>
                <a:latin typeface="+mj-lt"/>
                <a:ea typeface="+mj-lt"/>
                <a:cs typeface="+mj-lt"/>
              </a:rPr>
              <a:t>算法</a:t>
            </a:r>
          </a:p>
        </p:txBody>
      </p:sp>
      <p:pic>
        <p:nvPicPr>
          <p:cNvPr id="57" name="图片 1"/>
          <p:cNvPicPr>
            <a:picLocks xmlns:a="http://schemas.openxmlformats.org/drawingml/2006/main" noChangeAspect="1"/>
          </p:cNvPicPr>
          <p:nvPr/>
        </p:nvPicPr>
        <p:blipFill>
          <a:blip xmlns:r="http://schemas.openxmlformats.org/officeDocument/2006/relationships" xmlns:a="http://schemas.openxmlformats.org/drawingml/2006/main" r:embed="R47bfca383cae49f7">
            <a:clrChange>
              <a:clrFrom>
                <a:srgbClr val="FFFFFF"/>
              </a:clrFrom>
              <a:clrTo>
                <a:srgbClr val="FFFFFF">
                  <a:alpha val="0"/>
                </a:srgbClr>
              </a:clrTo>
            </a:clrChange>
          </a:blip>
          <a:srcRect xmlns:a="http://schemas.openxmlformats.org/drawingml/2006/main" l="0" t="0" r="8463" b="0"/>
          <a:stretch xmlns:a="http://schemas.openxmlformats.org/drawingml/2006/main">
            <a:fillRect l="0" t="0" r="0" b="0"/>
          </a:stretch>
        </p:blipFill>
        <p:spPr>
          <a:xfrm xmlns:a="http://schemas.openxmlformats.org/drawingml/2006/main">
            <a:off x="1042504" y="3011488"/>
            <a:ext cx="10361567" cy="279664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3157155314"/>
      </p:ext>
    </p:extLst>
  </p:cSld>
</p:sld>
</file>

<file path=ppt/theme/theme1.xml><?xml version="1.0" encoding="utf-8"?>
<a:theme xmlns:a="http://schemas.openxmlformats.org/drawingml/2006/main" name="Office 主题​​">
  <a:themeElements>
    <a:clrScheme name="0718">
      <a:dk1>
        <a:sysClr val="windowText" lastClr="000000"/>
      </a:dk1>
      <a:lt1>
        <a:sysClr val="window" lastClr="FFFFFF"/>
      </a:lt1>
      <a:dk2>
        <a:srgbClr val="000000"/>
      </a:dk2>
      <a:lt2>
        <a:srgbClr val="FFFFFF"/>
      </a:lt2>
      <a:accent1>
        <a:srgbClr val="0D2D7F"/>
      </a:accent1>
      <a:accent2>
        <a:srgbClr val="0C47AF"/>
      </a:accent2>
      <a:accent3>
        <a:srgbClr val="00BBFB"/>
      </a:accent3>
      <a:accent4>
        <a:srgbClr val="FFC000"/>
      </a:accent4>
      <a:accent5>
        <a:srgbClr val="5B9BD5"/>
      </a:accent5>
      <a:accent6>
        <a:srgbClr val="70AD47"/>
      </a:accent6>
      <a:hlink>
        <a:srgbClr val="0563C1"/>
      </a:hlink>
      <a:folHlink>
        <a:srgbClr val="954F72"/>
      </a:folHlink>
    </a:clrScheme>
    <a:fontScheme name="自定义 11">
      <a:majorFont>
        <a:latin typeface="Arial Black"/>
        <a:ea typeface="微软雅黑"/>
        <a:cs typeface=""/>
      </a:majorFont>
      <a:minorFont>
        <a:latin typeface="Arial"/>
        <a:ea typeface="微软雅黑"/>
        <a:cs typeface=""/>
      </a:minorFont>
    </a:fontScheme>
    <a:fmtScheme name="0718">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2026-10-10T08:59:16.4900000Z</dcterms:created>
  <dcterms:modified xsi:type="dcterms:W3CDTF">2026-10-10T08:59:16.4900000Z</dcterms:modified>
</coreProperties>
</file>