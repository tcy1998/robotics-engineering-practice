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11" r:id="rId1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6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51560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749808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31599B"/>
                </a:solidFill>
                <a:latin typeface="微软雅黑"/>
              </a:rPr>
              <a:t>普通高等教育新工科具身智能系列教材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6472" y="1865376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>
                <a:solidFill>
                  <a:srgbClr val="222833"/>
                </a:solidFill>
                <a:latin typeface="微软雅黑"/>
              </a:rPr>
              <a:t>具身智能导论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944368"/>
            <a:ext cx="813816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600" b="1" i="0">
                <a:solidFill>
                  <a:srgbClr val="24477D"/>
                </a:solidFill>
                <a:latin typeface="微软雅黑"/>
              </a:rPr>
              <a:t>第 10 章  具身数据与采集训练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9896" y="4187952"/>
            <a:ext cx="57790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0" i="0">
                <a:solidFill>
                  <a:srgbClr val="5B5B5B"/>
                </a:solidFill>
                <a:latin typeface="微软雅黑"/>
              </a:rPr>
              <a:t>秦建军  江磊  刘宇飞  邢伯阳  王陆旸  李国通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4816" y="822960"/>
            <a:ext cx="303580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00" b="0" i="0">
                <a:solidFill>
                  <a:srgbClr val="5B5B5B"/>
                </a:solidFill>
                <a:latin typeface="微软雅黑"/>
              </a:rPr>
              <a:t>国家地方共建人形机器人创新中心组织编写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4809744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7B8798"/>
                </a:solidFill>
                <a:latin typeface="微软雅黑"/>
              </a:rPr>
              <a:t>机械工业出版社 · 《具身智能导论》配套课件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900" b="1" i="0">
                <a:solidFill>
                  <a:srgbClr val="24477D"/>
                </a:solidFill>
                <a:latin typeface="Noto Serif CJK SC"/>
              </a:rPr>
              <a:t>“天下难事，必作于易；天下大事，必作于细。”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596896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667085"/>
                </a:solidFill>
                <a:latin typeface="Noto Serif CJK SC"/>
              </a:rPr>
              <a:t>——老子《道德经·第六十三章》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200400"/>
            <a:ext cx="10195560" cy="1920240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0120" y="3200400"/>
            <a:ext cx="64008" cy="192024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364992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C63F45"/>
                </a:solidFill>
                <a:latin typeface="微软雅黑"/>
              </a:rPr>
              <a:t>具身数据的基本思想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22191"/>
            <a:ext cx="964692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50" b="0" i="0">
                <a:solidFill>
                  <a:srgbClr val="222833"/>
                </a:solidFill>
                <a:latin typeface="微软雅黑"/>
              </a:rPr>
              <a:t>具身数据记录多模态观测、执行动作、环境反馈与任务上下文形成的动态轨迹，为策略学习、世界模型构建和跨域迁移提供可信的“经验”基础。数据的规模、质量与多样性直接影响具身智能的训练与落地效果。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具身数据让机器人</a:t>
            </a:r>
            <a:r>
              <a:rPr lang="zh-CN" altLang="en-US"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sz="35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交互经验</a:t>
            </a:r>
            <a:r>
              <a:rPr sz="35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3246120" cy="3063240"/>
          </a:xfrm>
          <a:prstGeom prst="roundRect">
            <a:avLst>
              <a:gd name="adj" fmla="val 3417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3232" y="1664208"/>
            <a:ext cx="64008" cy="306324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3544" y="1810512"/>
            <a:ext cx="2862072" cy="31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多模态观测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68296"/>
            <a:ext cx="2862072" cy="91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0" i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视觉、深度、点云、触觉、本体状态与语言指令等共同描述机器人所处环境。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3063240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306324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2862072" cy="31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动作与反馈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368296"/>
            <a:ext cx="2862072" cy="91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0" i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动作会改变后续状态，环境反馈又反过来影响策略，形成连续的感知—动作闭环。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1664208"/>
            <a:ext cx="3246120" cy="3063240"/>
          </a:xfrm>
          <a:prstGeom prst="roundRect">
            <a:avLst>
              <a:gd name="adj" fmla="val 280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07808" y="1664208"/>
            <a:ext cx="64008" cy="306324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18120" y="1810512"/>
            <a:ext cx="2862072" cy="31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68296"/>
            <a:ext cx="2862072" cy="91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0" i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具身数据支撑模仿学习、强化学习、世界模型、VLA 与跨域迁移。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23189"/>
            <a:ext cx="10972800" cy="327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50" b="1" i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与互联网静态数据相比，具身数据的核心在于“真实交互、时序因果和本体约束”。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572768"/>
            <a:ext cx="3346704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572768"/>
            <a:ext cx="64008" cy="1664208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719072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31599B"/>
                </a:solidFill>
                <a:latin typeface="微软雅黑"/>
              </a:rPr>
              <a:t>01  基本概念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276856"/>
            <a:ext cx="29626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222833"/>
                </a:solidFill>
                <a:latin typeface="微软雅黑"/>
              </a:rPr>
              <a:t>理解具身数据的概念、内涵、核心特点与体系结构，掌握其与传统人工智能数据集的区别与联系。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572768"/>
            <a:ext cx="3346704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9663" y="1572768"/>
            <a:ext cx="64008" cy="1664208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9976" y="1719072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2F8E72"/>
                </a:solidFill>
                <a:latin typeface="微软雅黑"/>
              </a:rPr>
              <a:t>02  格式规范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276856"/>
            <a:ext cx="29626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222833"/>
                </a:solidFill>
                <a:latin typeface="微软雅黑"/>
              </a:rPr>
              <a:t>熟悉主要格式、表示规范和多模态对齐方法，能够区分主流开源数据标准。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17536" y="1572768"/>
            <a:ext cx="3346704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17536" y="1572768"/>
            <a:ext cx="64008" cy="1664208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7848" y="1719072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C58A24"/>
                </a:solidFill>
                <a:latin typeface="微软雅黑"/>
              </a:rPr>
              <a:t>03  采集技术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276856"/>
            <a:ext cx="29626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222833"/>
                </a:solidFill>
                <a:latin typeface="微软雅黑"/>
              </a:rPr>
              <a:t>了解运动捕捉、机械臂、遥操作、VR/AR、仿真生成等典型采集设备与技术。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95728" y="3584448"/>
            <a:ext cx="3346704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95728" y="3584448"/>
            <a:ext cx="64008" cy="1664208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06040" y="3730752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C63F45"/>
                </a:solidFill>
                <a:latin typeface="微软雅黑"/>
              </a:rPr>
              <a:t>04  数据集与训练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288536"/>
            <a:ext cx="29626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222833"/>
                </a:solidFill>
                <a:latin typeface="微软雅黑"/>
              </a:rPr>
              <a:t>了解典型具身数据集、白虎数据集及具身数据训练流程、预处理与模型选择。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584448"/>
            <a:ext cx="3346704" cy="1664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0" y="3584448"/>
            <a:ext cx="64008" cy="1664208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53912" y="3730752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7558A8"/>
                </a:solidFill>
                <a:latin typeface="微软雅黑"/>
              </a:rPr>
              <a:t>05  实践复现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288536"/>
            <a:ext cx="29626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222833"/>
                </a:solidFill>
                <a:latin typeface="微软雅黑"/>
              </a:rPr>
              <a:t>基于 LeRobot 完成低成本机械臂的数据采集、质检、策略训练与部署闭环。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本章目录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17207"/>
            <a:ext cx="8778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10.1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1717207"/>
            <a:ext cx="9052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22833"/>
                </a:solidFill>
                <a:latin typeface="微软雅黑"/>
              </a:rPr>
              <a:t>具身数据的概念与特点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092111"/>
            <a:ext cx="10222992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38414"/>
            <a:ext cx="8778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10.2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2238414"/>
            <a:ext cx="9052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22833"/>
                </a:solidFill>
                <a:latin typeface="微软雅黑"/>
              </a:rPr>
              <a:t>具身数据的主要格式与表示规范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613319"/>
            <a:ext cx="10222992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759622"/>
            <a:ext cx="8778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10.3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2759622"/>
            <a:ext cx="9052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22833"/>
                </a:solidFill>
                <a:latin typeface="微软雅黑"/>
              </a:rPr>
              <a:t>具身数据的采集设备与采集方式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134527"/>
            <a:ext cx="10222992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280830"/>
            <a:ext cx="8778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10.4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280830"/>
            <a:ext cx="9052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22833"/>
                </a:solidFill>
                <a:latin typeface="微软雅黑"/>
              </a:rPr>
              <a:t>典型的具身数据集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655734"/>
            <a:ext cx="10222992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3802038"/>
            <a:ext cx="8778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10.5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3802038"/>
            <a:ext cx="9052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22833"/>
                </a:solidFill>
                <a:latin typeface="微软雅黑"/>
              </a:rPr>
              <a:t>白虎数据集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4176942"/>
            <a:ext cx="10222992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4323246"/>
            <a:ext cx="8778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10.6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5648" y="4323246"/>
            <a:ext cx="9052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22833"/>
                </a:solidFill>
                <a:latin typeface="微软雅黑"/>
              </a:rPr>
              <a:t>具身数据的训练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4698150"/>
            <a:ext cx="10222992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4844454"/>
            <a:ext cx="8778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10.7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4844454"/>
            <a:ext cx="9052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22833"/>
                </a:solidFill>
                <a:latin typeface="微软雅黑"/>
              </a:rPr>
              <a:t>案例：基于 LeRobot 的数据采集实践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5219359"/>
            <a:ext cx="10222992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5365663"/>
            <a:ext cx="8778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31599B"/>
                </a:solidFill>
                <a:latin typeface="微软雅黑"/>
              </a:rPr>
              <a:t>10.8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5648" y="5365663"/>
            <a:ext cx="90525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22833"/>
                </a:solidFill>
                <a:latin typeface="微软雅黑"/>
              </a:rPr>
              <a:t>小结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5740567"/>
            <a:ext cx="10222992" cy="9144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45920"/>
            <a:ext cx="7635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24477D"/>
                </a:solidFill>
                <a:latin typeface="微软雅黑"/>
              </a:rPr>
              <a:t>具身数据的概念与特点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第10章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10.1 具身数据的概念与特点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1037844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具身数据以物理智能体或仿真智能体在环境中的实时交互为载体，记录感知输入、动作执行、环境反馈和任务上下文。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它不仅服务于模型训练，也承担“具身接地（Embodiment Grounding）”的作用：让智能表征与物理世界因果规律建立稳定映射。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相比只依赖仿真合成数据的预训练，真实具身数据更强调真实物理约束下的交互经验，直接影响迁移学习样本效率与鲁棒性。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具身接地强调“通过物理交互获得语义锚定”，而不是只依赖人工标注。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基于真机的具身数据采集场景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</a:t>
            </a:r>
          </a:p>
        </p:txBody>
      </p:sp>
      <p:pic>
        <p:nvPicPr>
          <p:cNvPr id="9" name="Picture 8" descr="p02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67" y="1645920"/>
            <a:ext cx="7146304" cy="428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具身数据采集场景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10.1.1 基本概念与内涵：什么是具身数据？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>
              <a:gd name="adj" fmla="val 3014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222833"/>
                </a:solidFill>
                <a:latin typeface="微软雅黑"/>
              </a:rPr>
              <a:t>具身数据是智能体在物理或仿真环境中，通过“感知—动作—交互”循环产生的多模态时序数据集合。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“具身”的含义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数据与具体本体的运动学、动力学特性和环境物理约束紧密耦合，成为可用于策略学习、迁移与世界模型构建的“经验”。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同一任务在不同机器人本体上，数据分布和可执行动作空间都可能不同。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一条具身数据轨迹 / Episode 的形式化表示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56132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q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39" y="2297369"/>
            <a:ext cx="8869680" cy="8916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3794760"/>
            <a:ext cx="10012680" cy="613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50" b="0" i="0" dirty="0">
                <a:solidFill>
                  <a:srgbClr val="222833"/>
                </a:solidFill>
                <a:latin typeface="微软雅黑"/>
              </a:rPr>
              <a:t>oₜ：</a:t>
            </a: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多模态观测；a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ₜ：</a:t>
            </a: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动作；r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ₜ：</a:t>
            </a: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即时奖励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环境反馈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；</a:t>
            </a:r>
            <a:endParaRPr lang="en-US" sz="1850" b="0" i="0" dirty="0">
              <a:solidFill>
                <a:srgbClr val="222833"/>
              </a:solidFill>
              <a:latin typeface="微软雅黑"/>
            </a:endParaRPr>
          </a:p>
          <a:p>
            <a:pPr algn="ctr">
              <a:lnSpc>
                <a:spcPct val="112000"/>
              </a:lnSpc>
            </a:pPr>
            <a:r>
              <a:rPr sz="1850" b="0" i="0" dirty="0">
                <a:solidFill>
                  <a:srgbClr val="222833"/>
                </a:solidFill>
                <a:latin typeface="微软雅黑"/>
              </a:rPr>
              <a:t>sₜ₊₁：</a:t>
            </a: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下一时刻状态；l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ₜ：</a:t>
            </a: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语言指令（可选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）；</a:t>
            </a: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T：片段长度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Episode：具身数据集最基本的组织单元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91640"/>
            <a:ext cx="10241280" cy="21568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一个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Episode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记录本体从任务开始、执行动作到任务结束的完整过程</a:t>
            </a:r>
            <a:endParaRPr sz="24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一次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Episode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通常对应一次演示（Demonstration）或一次轨迹采样（Rollout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在 RLDS 或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LeRobot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等标准格式中，Episode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是一系列时间步的有序集合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4748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4477D"/>
                </a:solidFill>
                <a:latin typeface="微软雅黑"/>
              </a:rPr>
              <a:t>Episode 把“观测—动作—反馈”的连续关系保留下来，是训练时序策略的天然样本单元。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Episode 包含的关键信息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476775"/>
              </p:ext>
            </p:extLst>
          </p:nvPr>
        </p:nvGraphicFramePr>
        <p:xfrm>
          <a:off x="621792" y="160020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</a:rPr>
                        <a:t>内容</a:t>
                      </a:r>
                      <a:endParaRPr sz="160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含义</a:t>
                      </a:r>
                      <a:endParaRPr sz="16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示例</a:t>
                      </a:r>
                      <a:endParaRPr sz="16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833"/>
                          </a:solidFill>
                        </a:rPr>
                        <a:t>observations</a:t>
                      </a:r>
                      <a:endParaRPr sz="16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机器人看到 / 感知到的传感器数据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RGB、深度、关节角、末端位置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833"/>
                          </a:solidFill>
                        </a:rPr>
                        <a:t>actions</a:t>
                      </a:r>
                      <a:endParaRPr sz="16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机器人实际执行的动作指令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关节速度、扭矩、夹爪开合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833"/>
                          </a:solidFill>
                        </a:rPr>
                        <a:t>rewards</a:t>
                      </a:r>
                      <a:endParaRPr sz="16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奖励信号（可选）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成功 +1，失败 +0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833"/>
                          </a:solidFill>
                        </a:rPr>
                        <a:t>is_terminal</a:t>
                      </a:r>
                      <a:endParaRPr sz="16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是否到达任务结束状态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True / False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833"/>
                          </a:solidFill>
                        </a:rPr>
                        <a:t>language_instruction</a:t>
                      </a:r>
                      <a:endParaRPr sz="16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自然语言任务指令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“把红色苹果放到盘子里”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833"/>
                          </a:solidFill>
                        </a:rPr>
                        <a:t>timestamps</a:t>
                      </a:r>
                      <a:endParaRPr sz="16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精确时间戳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每帧图像对应时间点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22833"/>
                          </a:solidFill>
                        </a:rPr>
                        <a:t>metadata</a:t>
                      </a:r>
                      <a:endParaRPr sz="16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833"/>
                          </a:solidFill>
                        </a:rPr>
                        <a:t>额外信息</a:t>
                      </a:r>
                      <a:endParaRPr sz="16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222833"/>
                          </a:solidFill>
                        </a:rPr>
                        <a:t>任务类型、机器人型号、成功与否</a:t>
                      </a:r>
                      <a:endParaRPr sz="1600" b="0" dirty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具身数据集：由多个独立 Episode 组成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691640"/>
            <a:ext cx="1014984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q1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103120"/>
            <a:ext cx="4663440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40690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 i="0">
                <a:solidFill>
                  <a:srgbClr val="222833"/>
                </a:solidFill>
                <a:latin typeface="微软雅黑"/>
              </a:rPr>
              <a:t>数据集 D 由 N 条独立 Episode 组成。每条轨迹记录一次完整交互经验，训练时可随机采样 Episode 组成 Batch。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“多条完整经验”比“孤立帧”更能保留动作与环境变化之间的因果关系。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为什么以 Episode 为单位组织具身数据？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64208"/>
            <a:ext cx="2651760" cy="3337560"/>
          </a:xfrm>
          <a:prstGeom prst="roundRect">
            <a:avLst>
              <a:gd name="adj" fmla="val 188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664208"/>
            <a:ext cx="64008" cy="333756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810512"/>
            <a:ext cx="22677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模块化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368296"/>
            <a:ext cx="226771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 dirty="0" err="1">
                <a:solidFill>
                  <a:srgbClr val="222833"/>
                </a:solidFill>
                <a:latin typeface="微软雅黑"/>
              </a:rPr>
              <a:t>每条</a:t>
            </a:r>
            <a:r>
              <a:rPr sz="1750" b="0" i="0" dirty="0">
                <a:solidFill>
                  <a:srgbClr val="222833"/>
                </a:solidFill>
                <a:latin typeface="微软雅黑"/>
              </a:rPr>
              <a:t> Episode </a:t>
            </a:r>
            <a:r>
              <a:rPr sz="1750" b="0" i="0" dirty="0" err="1">
                <a:solidFill>
                  <a:srgbClr val="222833"/>
                </a:solidFill>
                <a:latin typeface="微软雅黑"/>
              </a:rPr>
              <a:t>可独立加载、切分和训练，便于工程管理</a:t>
            </a:r>
            <a:r>
              <a:rPr sz="175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1664208"/>
            <a:ext cx="2651760" cy="3337560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38144" y="1664208"/>
            <a:ext cx="64008" cy="333756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8456" y="1810512"/>
            <a:ext cx="22677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时序性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2368296"/>
            <a:ext cx="226771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222833"/>
                </a:solidFill>
                <a:latin typeface="微软雅黑"/>
              </a:rPr>
              <a:t>保留动作与观测的因果链，可直接适配模仿学习、扩散策略等时序模型。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664208"/>
            <a:ext cx="2651760" cy="3337560"/>
          </a:xfrm>
          <a:prstGeom prst="roundRect">
            <a:avLst>
              <a:gd name="adj" fmla="val 2944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54496" y="1664208"/>
            <a:ext cx="64008" cy="333756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8" y="1810512"/>
            <a:ext cx="226771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 dirty="0" err="1">
                <a:solidFill>
                  <a:srgbClr val="C58A24"/>
                </a:solidFill>
                <a:latin typeface="微软雅黑"/>
              </a:rPr>
              <a:t>可重复</a:t>
            </a:r>
            <a:endParaRPr sz="1900" b="1" i="0" dirty="0">
              <a:solidFill>
                <a:srgbClr val="C58A24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64808" y="2368296"/>
            <a:ext cx="226771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训练时可随机采样多条 Episode 组成 Batch 并行训练。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0848" y="1664208"/>
            <a:ext cx="2514600" cy="3337560"/>
          </a:xfrm>
          <a:prstGeom prst="roundRect">
            <a:avLst>
              <a:gd name="adj" fmla="val 4793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0848" y="1664208"/>
            <a:ext cx="64008" cy="333756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60" y="1810512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标准化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68296"/>
            <a:ext cx="213055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22833"/>
                </a:solidFill>
                <a:latin typeface="微软雅黑"/>
              </a:rPr>
              <a:t>RLDS、LeRobot 等都以完整轨迹为逻辑单元，方便跨机器人统一使用。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具身数据：连接策略优化、世界模型与迁移学习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74519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874519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210312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观测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7841" y="2148839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4729" y="1874519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54729" y="1874519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9321" y="210312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3891" y="2148839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79" y="1874519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0779" y="1874519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5371" y="210312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环境反馈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9941" y="2148839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6829" y="1874519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26829" y="1874519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1421" y="210312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下一状态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30752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/>
              </a:rPr>
              <a:t>具身数据蕴含物理世界的因果关系：动作如何改变状态、接触如何产生力反馈、视觉如何对应本体运动</a:t>
            </a:r>
            <a:r>
              <a:rPr sz="200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52628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这些交互经验构成世界模型学习、策略优化与跨域迁移之间的桥梁。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10.1.2 具身数据的主要类型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4008" cy="333756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操作类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68296"/>
            <a:ext cx="222199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单臂 / 双臂 / 灵巧手的抓取、装配、烹饪等精细操作。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6432" y="1664208"/>
            <a:ext cx="64008" cy="333756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66744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导航类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368296"/>
            <a:ext cx="222199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>
                <a:solidFill>
                  <a:srgbClr val="222833"/>
                </a:solidFill>
                <a:latin typeface="微软雅黑"/>
              </a:rPr>
              <a:t>移动机器人或轮式底盘的路径规划、定位与避障。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54496" y="1664208"/>
            <a:ext cx="64008" cy="333756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8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人形全身控制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368296"/>
            <a:ext cx="222199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22833"/>
                </a:solidFill>
                <a:latin typeface="微软雅黑"/>
              </a:rPr>
              <a:t>双足行走、平衡保持与全身协调，高自由度、长时序、动态性强。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664208"/>
            <a:ext cx="233172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1664208"/>
            <a:ext cx="64008" cy="333756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2872" y="1810512"/>
            <a:ext cx="19476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跨本体迁移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368296"/>
            <a:ext cx="194767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80" b="0" i="0">
                <a:solidFill>
                  <a:srgbClr val="222833"/>
                </a:solidFill>
                <a:latin typeface="微软雅黑"/>
              </a:rPr>
              <a:t>多本体同任务并行采集，用统一动作 / 观测表征支持跨机器人迁移。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操作类数据：精细操作与接触力学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680192" cy="1750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聚焦单臂、双臂或灵巧手的抓取、组装、烹饪等任务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典型要求包括毫米级末端控制精度、高频力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触觉反馈，以及物体交互过程中的接触力学建模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典型数据集包括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RT-1 / RT-2、ALOHA 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27039"/>
            <a:ext cx="10972800" cy="10089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操作类数据的核心是“精确动作</a:t>
            </a:r>
            <a:r>
              <a:rPr sz="20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sz="2000" b="1" i="0" dirty="0" err="1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高频交互反馈</a:t>
            </a:r>
            <a:r>
              <a:rPr sz="20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sz="2000" b="1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2000"/>
              </a:lnSpc>
            </a:pPr>
            <a:r>
              <a:rPr lang="zh-CN" altLang="en-US" sz="2000" b="1" i="0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对具身训练的价值：</a:t>
            </a:r>
            <a:r>
              <a:rPr lang="zh-CN" altLang="en-US" sz="20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高质量操作类轨迹可用于模仿学习、扩散策略和 </a:t>
            </a:r>
            <a:r>
              <a:rPr lang="en-US" altLang="zh-CN" sz="20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VLA </a:t>
            </a:r>
            <a:r>
              <a:rPr lang="zh-CN" altLang="en-US" sz="2000" b="1" dirty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等模型训练。</a:t>
            </a:r>
          </a:p>
          <a:p>
            <a:pPr algn="ctr">
              <a:lnSpc>
                <a:spcPct val="112000"/>
              </a:lnSpc>
            </a:pPr>
            <a:endParaRPr lang="en-US" sz="2000" b="1" i="0" dirty="0">
              <a:solidFill>
                <a:srgbClr val="24477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Mobile ALOHA：双臂遥操作数据采集示例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采用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Mobile ALOHA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平台采集数据的示例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29E5B98-5AB4-E60B-D25B-9B60961FB8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433" y="2039492"/>
            <a:ext cx="6592485" cy="3724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导航类数据：长时序定位与地图信息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10241280" cy="182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涉及移动机器人或轮式底盘在室内外环境中的路径规划与避障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强调全局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局部地图构建与长时序定位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数据通常包含里程计、激光雷达或视觉惯性里程计（VIO）序列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时间跨度可达数分钟至数小时，对多传感器同步精度要求高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导航类数据更强调“长时序一致性”和“多传感器同步”。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人形全身控制类：高自由度下的动态数据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10241280" cy="22338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覆盖双足行走、平衡保持、全身协调等复杂动态任务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人形机器人自由度高、动力学不稳定，对数据时序长度与稳定性要求极高</a:t>
            </a:r>
            <a:endParaRPr sz="24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需要同时记录质心轨迹、零力矩点（ZMP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）、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各关节力矩及多视角视觉信息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数据采集难度和安全风险显著高于普通机械臂操作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63188"/>
            <a:ext cx="10972800" cy="31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高动态人形任务要求数据既“长”，又“稳”，还要包含全身动力学信息。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跨本体迁移类：让不同机器人共享经验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241280" cy="21568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专门面向不同机器人平台之间的知识迁移，通常包含多本体执行同一任务的并行记录</a:t>
            </a:r>
            <a:endParaRPr sz="2400" dirty="0">
              <a:solidFill>
                <a:srgbClr val="222833"/>
              </a:solidFill>
              <a:latin typeface="微软雅黑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核心是构造统一的动作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观测表征，例如采用本体无关的末端位姿描述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目标是让策略在不同形态智能体之间迁移，是构建通用具身智能的重要数据基础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跨本体数据的关键不只是“更多机器人”，而是“可共享的统一表示”。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具身数据的四个典型特点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4008" cy="333756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多模态异构性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68296"/>
            <a:ext cx="2221992" cy="1698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/>
              </a:rPr>
              <a:t>视觉、触觉、本体感受、语言等多模态同时存在，格式和采样频率差异大</a:t>
            </a:r>
            <a:r>
              <a:rPr sz="200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6432" y="1664208"/>
            <a:ext cx="64008" cy="333756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66744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时序性与因果性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368296"/>
            <a:ext cx="2221992" cy="1353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222833"/>
                </a:solidFill>
                <a:latin typeface="微软雅黑"/>
              </a:rPr>
              <a:t>当前动作直接影响后续观测，形成连续“观测—动作—反馈”链。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54496" y="1664208"/>
            <a:ext cx="64008" cy="333756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8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物理交互性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368296"/>
            <a:ext cx="2221992" cy="1353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222833"/>
                </a:solidFill>
                <a:latin typeface="微软雅黑"/>
              </a:rPr>
              <a:t>需要捕捉接触、摩擦、碰撞、变形和力反馈，采集受硬件安全约束。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664208"/>
            <a:ext cx="233172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1664208"/>
            <a:ext cx="64008" cy="333756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2872" y="1810512"/>
            <a:ext cx="19476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具身接地性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368296"/>
            <a:ext cx="1947672" cy="16984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222833"/>
                </a:solidFill>
                <a:latin typeface="微软雅黑"/>
              </a:rPr>
              <a:t>语义通过物理交互获得经验性锚定，数据强依赖本体形态与动力学。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特点① 多模态异构性：不同模态必须精确对齐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27632"/>
            <a:ext cx="10332720" cy="23107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视觉：RGB、深度、点云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触觉：力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力矩、触觉阵列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本体感受：关节角度、速度、加速度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语言：任务指令与语义标注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不同模态在格式与采样频率上差异显著，需要时间戳同步和外参标定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8523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30" b="1" i="0">
                <a:solidFill>
                  <a:srgbClr val="24477D"/>
                </a:solidFill>
                <a:latin typeface="微软雅黑"/>
              </a:rPr>
              <a:t>只有把“同一时刻、同一空间坐标系”对齐，才能完整刻画交互过程。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特点② 时序性与因果性：不满足传统 i.i.d. 假设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96596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219456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观测 oₜ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7841" y="2240279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4729" y="1965960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54729" y="196596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9321" y="219456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动作 aₜ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3891" y="2240279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79" y="1965960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0779" y="196596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5371" y="219456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环境反馈 rₜ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9941" y="2240279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6829" y="1965960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26829" y="196596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1421" y="219456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观测 oₜ₊₁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03904"/>
            <a:ext cx="10424160" cy="797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0" i="0">
                <a:solidFill>
                  <a:srgbClr val="222833"/>
                </a:solidFill>
                <a:latin typeface="微软雅黑"/>
              </a:rPr>
              <a:t>当前动作会直接改变后续观测，因此相邻样本并非独立；这与传统静态数据集的独立同分布（i.i.d.）假设形成鲜明对比。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956048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具身数据往往需要借助马尔可夫决策过程（MDP）等框架进行建模。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特点③ 物理交互性：数据采集受真实世界约束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真实接触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797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>
                <a:solidFill>
                  <a:srgbClr val="222833"/>
                </a:solidFill>
                <a:latin typeface="微软雅黑"/>
              </a:rPr>
              <a:t>高质量数据要记录摩擦、碰撞、变形、接触力等真实物理现象。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63F45"/>
                </a:solidFill>
                <a:latin typeface="微软雅黑"/>
              </a:rPr>
              <a:t>安全机制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1210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采集需配合碰撞检测、力限幅、异常中断与紧急停止等硬件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2400" b="0" i="0" dirty="0" err="1">
                <a:solidFill>
                  <a:srgbClr val="222833"/>
                </a:solidFill>
                <a:latin typeface="微软雅黑"/>
              </a:rPr>
              <a:t>软件保护</a:t>
            </a:r>
            <a:r>
              <a:rPr sz="240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具身数据的获取成本天然高于“静态拍照 + 人工标注”。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特点④ 具身接地性：同一任务因本体而异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1750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“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接地”强调语义概念通过物理交互获得经验性锚定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数据高度依赖机器人形态、自由度与动力学特性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例如同一个抓取任务，在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6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自由度工业机械臂与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7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自由度协作臂上，会产生显著不同的可行轨迹和关节序列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具身数据不仅描述“任务是什么”，还隐含“这个身体如何完成任务”。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10.1.3 具身数据金字塔：成本、真实性与价值的层级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78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具身数据可按采集成本、真实性与价值形成金字塔结构。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从底层互联网预训练数据逐步上升到顶层真实世界自主采集数据。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层级越高，通常真实性和任务价值越高，但采集成本和稀缺性也越高。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高效系统需要同时利用“规模大的低成本数据”和“稀缺的高价值真实数据”。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具身数据金字塔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具身数据金字塔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38D1EDC-20BA-C7DA-6625-97918ED06C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451" y="1853797"/>
            <a:ext cx="7762026" cy="380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金字塔底层：互联网预训练数据与仿真合成数据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>
              <a:gd name="adj" fmla="val 3445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互联网预训练数据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60" b="0" i="0">
                <a:solidFill>
                  <a:srgbClr val="222833"/>
                </a:solidFill>
                <a:latin typeface="微软雅黑"/>
              </a:rPr>
              <a:t>海量图像、视频与文本用于视觉—语言模型初始化；成本最低、规模巨大，但缺乏物理交互监督。典型如 LAION-5B、WebText。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仿真合成数据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60" b="0" i="0">
                <a:solidFill>
                  <a:srgbClr val="222833"/>
                </a:solidFill>
                <a:latin typeface="微软雅黑"/>
              </a:rPr>
              <a:t>借助 Isaac Sim、MuJoCo、Gazebo 等批量生成；可复现、可并行、可自动标注，但存在 Sim-to-Real 域差距。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金字塔中上层：第一视角、遥操作与自主采集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664208"/>
            <a:ext cx="3310128" cy="3383280"/>
          </a:xfrm>
          <a:prstGeom prst="roundRect">
            <a:avLst>
              <a:gd name="adj" fmla="val 1727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664208"/>
            <a:ext cx="64008" cy="338328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810512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第一视角真实交互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368296"/>
            <a:ext cx="2926080" cy="2542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22833"/>
                </a:solidFill>
                <a:latin typeface="微软雅黑"/>
              </a:rPr>
              <a:t>Ego4D、EPIC-KITCHENS 等提供人类日常交互中的视觉—动作关联，可作为模仿学习辅助监督。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664208"/>
            <a:ext cx="3310128" cy="3383280"/>
          </a:xfrm>
          <a:prstGeom prst="roundRect">
            <a:avLst>
              <a:gd name="adj" fmla="val 2996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9663" y="1664208"/>
            <a:ext cx="64008" cy="338328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9976" y="1810512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遥操作交互演示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368296"/>
            <a:ext cx="2926080" cy="2542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22833"/>
                </a:solidFill>
                <a:latin typeface="微软雅黑"/>
              </a:rPr>
              <a:t>人类专家通过主从控制或 VR / AR 设备提供高质量演示，但采集效率受人力限制。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17536" y="1664208"/>
            <a:ext cx="3310128" cy="3383280"/>
          </a:xfrm>
          <a:prstGeom prst="roundRect">
            <a:avLst>
              <a:gd name="adj" fmla="val 2996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17536" y="1664208"/>
            <a:ext cx="64008" cy="338328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7848" y="1810512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现实世界自主采集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368296"/>
            <a:ext cx="2926080" cy="2542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22833"/>
                </a:solidFill>
                <a:latin typeface="微软雅黑"/>
              </a:rPr>
              <a:t>机器人通过策略 Rollout 主动探索获得长期数据，真实性和价值最高，也最稀缺。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金字塔各层并非割裂：形成“预训练—微调—自主进化”闭环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38528"/>
            <a:ext cx="245516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938528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167128"/>
            <a:ext cx="21259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底层：表征先验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5556" y="2212848"/>
            <a:ext cx="201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5012" y="1938528"/>
            <a:ext cx="245516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5012" y="1938528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9604" y="2167128"/>
            <a:ext cx="21259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中层：交互原型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8" y="2212848"/>
            <a:ext cx="201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1938528"/>
            <a:ext cx="245516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27064" y="1938528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2167128"/>
            <a:ext cx="21259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顶层：策略微调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9660" y="2212848"/>
            <a:ext cx="201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9116" y="1938528"/>
            <a:ext cx="2455164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29116" y="1938528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3708" y="2167128"/>
            <a:ext cx="21259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自主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6732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0" i="0">
                <a:solidFill>
                  <a:srgbClr val="222833"/>
                </a:solidFill>
                <a:latin typeface="微软雅黑"/>
              </a:rPr>
              <a:t>自下而上：低成本数据把视觉、语言与基本交互知识迁移到真实任务。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074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0" i="0">
                <a:solidFill>
                  <a:srgbClr val="222833"/>
                </a:solidFill>
                <a:latin typeface="微软雅黑"/>
              </a:rPr>
              <a:t>自上而下：高价值真实数据筛选和修正底层数据与模型，使系统持续迭代。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理想的数据管线应充分利用金字塔全层数据。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10.1.4 具身数据集的组成：从动态轨迹到标准文件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1033272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00" dirty="0" err="1">
                <a:solidFill>
                  <a:srgbClr val="222833"/>
                </a:solidFill>
                <a:latin typeface="微软雅黑"/>
              </a:rPr>
              <a:t>传统人工智能数据集以静态、独立样本为主；具身数据则以动态轨迹为核心，强依赖本体与环境</a:t>
            </a:r>
            <a:r>
              <a:rPr sz="21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00" dirty="0" err="1">
                <a:solidFill>
                  <a:srgbClr val="222833"/>
                </a:solidFill>
                <a:latin typeface="微软雅黑"/>
              </a:rPr>
              <a:t>一条</a:t>
            </a:r>
            <a:r>
              <a:rPr sz="2100" dirty="0">
                <a:solidFill>
                  <a:srgbClr val="222833"/>
                </a:solidFill>
                <a:latin typeface="微软雅黑"/>
              </a:rPr>
              <a:t> Episode </a:t>
            </a:r>
            <a:r>
              <a:rPr sz="2100" dirty="0" err="1">
                <a:solidFill>
                  <a:srgbClr val="222833"/>
                </a:solidFill>
                <a:latin typeface="微软雅黑"/>
              </a:rPr>
              <a:t>通常打包为一个文件夹或一个</a:t>
            </a:r>
            <a:r>
              <a:rPr sz="2100" dirty="0">
                <a:solidFill>
                  <a:srgbClr val="222833"/>
                </a:solidFill>
                <a:latin typeface="微软雅黑"/>
              </a:rPr>
              <a:t> HDF5 </a:t>
            </a:r>
            <a:r>
              <a:rPr sz="2100" dirty="0" err="1">
                <a:solidFill>
                  <a:srgbClr val="222833"/>
                </a:solidFill>
                <a:latin typeface="微软雅黑"/>
              </a:rPr>
              <a:t>文件，大小可从几十</a:t>
            </a:r>
            <a:r>
              <a:rPr sz="2100" dirty="0">
                <a:solidFill>
                  <a:srgbClr val="222833"/>
                </a:solidFill>
                <a:latin typeface="微软雅黑"/>
              </a:rPr>
              <a:t> MB </a:t>
            </a:r>
            <a:r>
              <a:rPr sz="2100" dirty="0" err="1">
                <a:solidFill>
                  <a:srgbClr val="222833"/>
                </a:solidFill>
                <a:latin typeface="微软雅黑"/>
              </a:rPr>
              <a:t>到数百</a:t>
            </a:r>
            <a:r>
              <a:rPr sz="2100" dirty="0">
                <a:solidFill>
                  <a:srgbClr val="222833"/>
                </a:solidFill>
                <a:latin typeface="微软雅黑"/>
              </a:rPr>
              <a:t> MB。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00" dirty="0" err="1">
                <a:solidFill>
                  <a:srgbClr val="222833"/>
                </a:solidFill>
                <a:latin typeface="微软雅黑"/>
              </a:rPr>
              <a:t>标准文件通常同时包含元数据、观测序列、动作序列、奖励</a:t>
            </a:r>
            <a:r>
              <a:rPr sz="210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2100" dirty="0" err="1">
                <a:solidFill>
                  <a:srgbClr val="222833"/>
                </a:solidFill>
                <a:latin typeface="微软雅黑"/>
              </a:rPr>
              <a:t>标注以及辅助信息</a:t>
            </a:r>
            <a:r>
              <a:rPr sz="21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0235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具身数据文件的核心要求：能完整复现“任务上下文 + 多模态观测 + 动作轨迹”。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白虎数据集中一条 Episode 的文件结构示例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33</a:t>
            </a:r>
          </a:p>
        </p:txBody>
      </p:sp>
      <p:pic>
        <p:nvPicPr>
          <p:cNvPr id="9" name="Picture 8" descr="p05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183" y="1645920"/>
            <a:ext cx="4538873" cy="428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基于青龙公版机采集数据的文件结构示例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标准 Episode 文件结构的五类内容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21488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64008" cy="352044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1" i="0">
                <a:solidFill>
                  <a:srgbClr val="31599B"/>
                </a:solidFill>
                <a:latin typeface="微软雅黑"/>
              </a:rPr>
              <a:t>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68296"/>
            <a:ext cx="1764792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39" b="0" i="0">
                <a:solidFill>
                  <a:srgbClr val="222833"/>
                </a:solidFill>
                <a:latin typeface="微软雅黑"/>
              </a:rPr>
              <a:t>任务描述、本体型号、标定参数、时间戳基准。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664208"/>
            <a:ext cx="21488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8064" y="1664208"/>
            <a:ext cx="64008" cy="352044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08376" y="1810512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1" i="0">
                <a:solidFill>
                  <a:srgbClr val="2F8E72"/>
                </a:solidFill>
                <a:latin typeface="微软雅黑"/>
              </a:rPr>
              <a:t>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2368296"/>
            <a:ext cx="1764792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39" b="0" i="0">
                <a:solidFill>
                  <a:srgbClr val="222833"/>
                </a:solidFill>
                <a:latin typeface="微软雅黑"/>
              </a:rPr>
              <a:t>图像、深度、点云、关节状态、本体感受。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664208"/>
            <a:ext cx="21488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1664208"/>
            <a:ext cx="64008" cy="352044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39512" y="1810512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1" i="0">
                <a:solidFill>
                  <a:srgbClr val="C58A24"/>
                </a:solidFill>
                <a:latin typeface="微软雅黑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368296"/>
            <a:ext cx="1764792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39" b="0" i="0">
                <a:solidFill>
                  <a:srgbClr val="222833"/>
                </a:solidFill>
                <a:latin typeface="微软雅黑"/>
              </a:rPr>
              <a:t>目标关节角、末端位姿或速度指令。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1664208"/>
            <a:ext cx="21488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60336" y="1664208"/>
            <a:ext cx="64008" cy="352044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0648" y="1810512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60" b="1" i="0">
                <a:solidFill>
                  <a:srgbClr val="C63F45"/>
                </a:solidFill>
                <a:latin typeface="微软雅黑"/>
              </a:rPr>
              <a:t>Reward / Annotation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368296"/>
            <a:ext cx="1764792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80" b="0" i="0">
                <a:solidFill>
                  <a:srgbClr val="222833"/>
                </a:solidFill>
                <a:latin typeface="微软雅黑"/>
              </a:rPr>
              <a:t>完成信号、稀疏 / 稠密奖励、语言指令、关键帧标注。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664208"/>
            <a:ext cx="21488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91472" y="1664208"/>
            <a:ext cx="64008" cy="352044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01784" y="1810512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1" i="0">
                <a:solidFill>
                  <a:srgbClr val="7558A8"/>
                </a:solidFill>
                <a:latin typeface="微软雅黑"/>
              </a:rPr>
              <a:t>Auxiliary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2368296"/>
            <a:ext cx="1764792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22833"/>
                </a:solidFill>
                <a:latin typeface="微软雅黑"/>
              </a:rPr>
              <a:t>力 / 力矩、接触标志、系统日志、异常中断标记。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从原始 Episode 到可训练数据：预处理不可缺少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75688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时间戳对齐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9075" y="2121408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5379" y="1847088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05379" y="1847088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9971" y="2075688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缺失值插补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7526" y="2121408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3830" y="1847088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43830" y="1847088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08422" y="2075688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异常值剔除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5977" y="2121408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2281" y="1847088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82281" y="1847088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6873" y="2075688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观测归一化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4428" y="2121408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0732" y="1847088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20732" y="1847088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85324" y="2075688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数据增强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767328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 i="0">
                <a:solidFill>
                  <a:srgbClr val="222833"/>
                </a:solidFill>
                <a:latin typeface="微软雅黑"/>
              </a:rPr>
              <a:t>例如：将关节角度映射到 [-1, 1]，对图像做颜色抖动，对动作加少量噪声，以提升训练稳定性与泛化性能。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“采到了”并不等于“能训练”，数据工程质量直接影响模型上限。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45920"/>
            <a:ext cx="7635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24477D"/>
                </a:solidFill>
                <a:latin typeface="微软雅黑"/>
              </a:rPr>
              <a:t>具身数据的主要格式与表示规范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第10章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10.2 格式与表示规范：连接采集端与训练端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10332720" cy="21568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传统数据常采用“图像文件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+ JSON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标注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”；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具身数据需要处理海量多模态时序序列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数据规范必须兼顾跨硬件、跨平台的可交换性与训练友好性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格式选择直接影响数据加载速度、存储成本、多模态对齐精度，以及模仿学习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强化学习的样本效率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9379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80" b="1" i="0">
                <a:solidFill>
                  <a:srgbClr val="24477D"/>
                </a:solidFill>
                <a:latin typeface="微软雅黑"/>
              </a:rPr>
              <a:t>具身数据格式设计，本质上是在“存得下、读得快、对得齐、能共享”之间做工程权衡。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双臂叠衣服 Episode 的数据片段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双臂协作叠衣服过程中一个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Episode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的数据片段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1D95BC2-DC28-ED0F-337A-AFA1010747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310" y="1629977"/>
            <a:ext cx="8594110" cy="4064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10.2.1 视觉数据：最占存储空间的模态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4008" cy="333756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RGB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68296"/>
            <a:ext cx="222199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222833"/>
                </a:solidFill>
                <a:latin typeface="微软雅黑"/>
              </a:rPr>
              <a:t>JPEG / PNG 单帧，长序列推荐 H.264 / H.265 编码的 MP4。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6432" y="1664208"/>
            <a:ext cx="64008" cy="333756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66744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深度图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368296"/>
            <a:ext cx="222199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222833"/>
                </a:solidFill>
                <a:latin typeface="微软雅黑"/>
              </a:rPr>
              <a:t>常用 uint16 PNG，按固定比例编码实际距离，适合精密操作。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54496" y="1664208"/>
            <a:ext cx="64008" cy="333756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8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点云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368296"/>
            <a:ext cx="222199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22833"/>
                </a:solidFill>
                <a:latin typeface="微软雅黑"/>
              </a:rPr>
              <a:t>二进制 PCD / PLY，或嵌入 HDF5，记录 xyz / rgb / 法向量等。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664208"/>
            <a:ext cx="233172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1664208"/>
            <a:ext cx="64008" cy="333756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2872" y="1810512"/>
            <a:ext cx="19476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全景视觉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368296"/>
            <a:ext cx="194767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22833"/>
                </a:solidFill>
                <a:latin typeface="微软雅黑"/>
              </a:rPr>
              <a:t>360° 等矩形投影，常用高分辨率 JPEG / MP4。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RGB 图像：单帧与长时序的存储选择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1568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单帧常用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JPEG（有损压缩，典型压缩比约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1:10～1:20）或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PNG（无损）格式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长时序列推荐采用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H.264 / H.265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编码的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MP4，既节省存储，又保留时间连续性。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LeRobot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默认采用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MP4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存储第一视角视频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0235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视觉数据常是整个 Episode 的主要存储开销，因此压缩策略很关键。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深度图：用 16 bit 保留精密距离信息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1750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通常采用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16 bit 无符号整数（uint16）PNG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存储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像素值按固定比例编码实际距离，例如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1 mm 或 0.1 mm / LSB。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相比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8 bit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深度表示，可显著减少量化误差，尤其适合抓取和装配等精密操作任务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4477D"/>
                </a:solidFill>
                <a:latin typeface="微软雅黑"/>
              </a:rPr>
              <a:t>深度信息“精不精”，会直接影响末端定位、抓取点估计与接触前控制。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点云：统一表达 3D 几何与外观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常用二进制 PCD（Point Cloud Data）或 PLY 格式存储。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也可将点云直接嵌入 HDF5 文件，减少大量小文件带来的 I/O 开销。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每个点通常包含 (x, y, z, r, g, b)，还可附加法向量、强度等属性。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点云把“看见”转化为“可计算的三维空间结构”。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全景视觉与工程上的“视频 + 关键帧深度图”策略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全景视觉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0" i="0">
                <a:solidFill>
                  <a:srgbClr val="222833"/>
                </a:solidFill>
                <a:latin typeface="微软雅黑"/>
              </a:rPr>
              <a:t>360° 图像采用等矩形投影（Equirectangular Projection），便于后续球面展开和多视点生成。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推荐混合策略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0" i="0">
                <a:solidFill>
                  <a:srgbClr val="222833"/>
                </a:solidFill>
                <a:latin typeface="微软雅黑"/>
              </a:rPr>
              <a:t>用 MP4 保存连续 RGB 视频，用关键帧深度图保留精确距离；兼顾连续性、精度与存储成本。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10.2.2 动作与轨迹数据：机器人的“控制日志”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动作 / 轨迹数据需要高精度、低冗余地记录智能体执行信息。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主要包括关节角度与速度、末端执行器位姿、力 / 力矩信号等。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通常与视觉数据打包在同一 Episode 中，便于扩散策略等模型同步读取“观测—动作”对。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4477D"/>
                </a:solidFill>
                <a:latin typeface="微软雅黑"/>
              </a:rPr>
              <a:t>控制日志必须与视觉等观测严格对齐，否则模型学到的就是错误因果关系。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关节角度与速度：float32 + 高效列式存储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关节角度与关节速度通常以 float32 向量存储，维度等于机器人自由度（DoF）。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例如 7-DoF 机械臂的关节角度和速度均为长度 7 的向量。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教材推荐使用 Parquet 列式存储，便于按时间同步进行高效切片读取。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80" b="1" i="0">
                <a:solidFill>
                  <a:srgbClr val="24477D"/>
                </a:solidFill>
                <a:latin typeface="微软雅黑"/>
              </a:rPr>
              <a:t>结构化时序状态数据适合用列式格式，而不是把每个时间步拆成大量独立文件。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两个关节的动作轨迹：指令值与实际状态值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46</a:t>
            </a:r>
          </a:p>
        </p:txBody>
      </p:sp>
      <p:pic>
        <p:nvPicPr>
          <p:cNvPr id="9" name="Picture 8" descr="p07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277" y="1645920"/>
            <a:ext cx="5062684" cy="428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两个关节的动作轨迹数据曲线片段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末端执行器位姿：位置 + 单位四元数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56132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q1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39" y="2297369"/>
            <a:ext cx="8869680" cy="8916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3794760"/>
            <a:ext cx="10012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推荐用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 7 维向量表达末端位姿：3 </a:t>
            </a: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维位置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 + 4 </a:t>
            </a:r>
            <a:r>
              <a:rPr sz="1850" b="0" i="0" dirty="0" err="1">
                <a:solidFill>
                  <a:srgbClr val="222833"/>
                </a:solidFill>
                <a:latin typeface="微软雅黑"/>
              </a:rPr>
              <a:t>维单位四元数。相比欧拉角，可避免奇异性和数值不稳定</a:t>
            </a:r>
            <a:r>
              <a:rPr sz="185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力 / 力矩信号：接触密集任务的重要监督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通常用 6 维向量表示：3 维力 + 3 维力矩。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采样率由具体传感器与控制系统决定，常以 float32 数组或时序信号保存。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力反馈曲线可直接用于抓取、装配、插接等接触密集任务的策略训练。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触觉 / 力觉让策略不仅“看见接触”，还能够“感知接触强度和方向”。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10.2.3 语言与指令标注：为数据注入任务语义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语言指令是视觉—语言—动作（VLA）模型训练的关键条件信号。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大型机器人数据集通常保存自然语言任务描述，但具体字段和存储方式会随数据标准变化。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主流方式包括自然语言指令、视觉问答对（VQA）和层次化任务描述。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80" b="1" i="0">
                <a:solidFill>
                  <a:srgbClr val="24477D"/>
                </a:solidFill>
                <a:latin typeface="微软雅黑"/>
              </a:rPr>
              <a:t>没有语义标注的轨迹告诉模型“做了什么”，语言标注进一步告诉模型“为什么做”。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自然语言指令：模板化 JSON 标注示例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755648"/>
            <a:ext cx="10149840" cy="297180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1920240"/>
            <a:ext cx="9729215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{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  "instruction": "抓取桌上的红色咖啡杯并放置到右侧托盘",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  "task_id": "pick_and_place_coffee_mug",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  "variation_id": 3</a:t>
            </a:r>
          </a:p>
          <a:p>
            <a:pPr algn="l">
              <a:lnSpc>
                <a:spcPct val="102000"/>
              </a:lnSpc>
            </a:pPr>
            <a:r>
              <a:rPr sz="1700" b="0" i="0">
                <a:solidFill>
                  <a:srgbClr val="222833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4477D"/>
                </a:solidFill>
                <a:latin typeface="微软雅黑"/>
              </a:rPr>
              <a:t>模板化字段便于把语言条件、任务类别和任务变体统一纳入数据管线。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VQA 与“原子技能 → 复合任务”的分层标注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视觉问答对（VQA）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将任务信息组织为 &lt;image, question, answer&gt; 三元组，可直接用于多模态大模型微调。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结构化任务描述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0" i="0">
                <a:solidFill>
                  <a:srgbClr val="222833"/>
                </a:solidFill>
                <a:latin typeface="微软雅黑"/>
              </a:rPr>
              <a:t>使用 atomic_skills: [grasp, lift, place] 等层次化表示，便于层次化强化学习和复杂任务分解。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10.2.4 多模态数据对齐：具身数据质量的核心保障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66420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时间戳同步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所有传感器记录高精度时间戳，采用插值或最近邻对齐至主时钟。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传感器融合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把 RGB、深度、关节状态、力 / 力矩等组织为统一观测字典。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07808" y="1664208"/>
            <a:ext cx="64008" cy="3246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Episode / Chunk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完整轨迹用于保存，训练时再切成固定长度片段，以适应 GPU 显存。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统一观测字典：同一时间步组织多模态输入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561320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q10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39" y="2313755"/>
            <a:ext cx="8869680" cy="858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3794760"/>
            <a:ext cx="10012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将 RGB、深度、关节状态、力 / 力矩等模态统一组织到 oₜ 中，训练时可以作为一个整体输入模型。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Episode 与 Chunk：保存完整轨迹，训练固定长度片段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一个完整 Episode 可包含数百到数千时间步。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训练时受 GPU 显存限制，常把长轨迹切分为固定长度 Chunk，例如 128～256 步。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LeRobot 常采用“Episode 文件夹 + Parquet 索引”的组织方式。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Episode 负责“完整经验”，Chunk 负责“训练效率”。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10.2.5 开源数据标准与交换格式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66420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以 Episode / Step 为基本结构，适合强化学习数据与大规模流式读取。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LeRobot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MP4 视频 + Parquet 状态文件，轻量、高效、PyTorch 友好。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07808" y="1664208"/>
            <a:ext cx="64008" cy="3246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HDF5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层次化二进制容器，可压缩、并行 I/O，适合多模态长期存储与管理。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RLDS：以 Episode 和 Step 组织机器人交互数据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73352"/>
            <a:ext cx="103327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3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30">
                <a:solidFill>
                  <a:srgbClr val="222833"/>
                </a:solidFill>
                <a:latin typeface="微软雅黑"/>
              </a:rPr>
              <a:t>RLDS（Reinforcement Learning Datasets）由 Google DeepMind 提出，是 TFDS 在具身智能 / 强化学习数据领域的重要规范。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3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30">
                <a:solidFill>
                  <a:srgbClr val="222833"/>
                </a:solidFill>
                <a:latin typeface="微软雅黑"/>
              </a:rPr>
              <a:t>每个 Episode 包含 metadata 和一系列 Step；每个 Step 可含 observation、action、reward、discount 等字段。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3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30">
                <a:solidFill>
                  <a:srgbClr val="222833"/>
                </a:solidFill>
                <a:latin typeface="微软雅黑"/>
              </a:rPr>
              <a:t>支持流式读取和并行处理，被 Open X-Embodiment 等跨平台机器人数据集广泛采用。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RLDS 强调“时序交互语义”和“大规模数据流式处理”。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RLDS 数据格式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RLDS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数据格式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 descr="drawing">
            <a:extLst>
              <a:ext uri="{FF2B5EF4-FFF2-40B4-BE49-F238E27FC236}">
                <a16:creationId xmlns:a16="http://schemas.microsoft.com/office/drawing/2014/main" id="{5F4FCEDD-6B07-A34A-9282-554D6082C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081" y="2060328"/>
            <a:ext cx="6857046" cy="3334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LeRobot Dataset：面向低成本机器人训练的轻量数据格式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103327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采用“MP4 视频文件 + Parquet 结构化状态文件”的组合方式。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高度兼容 PyTorch 生态，加载速度快、存储开销低。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20">
                <a:solidFill>
                  <a:srgbClr val="222833"/>
                </a:solidFill>
                <a:latin typeface="微软雅黑"/>
              </a:rPr>
              <a:t>特别适合低成本机械臂、消费级硬件以及日常具身智能场景中的模型训练与快速迭代。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视觉用视频压缩，状态用列式存储——这是 LeRobot 的核心工程取舍。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LeRobot Dataset：典型目录结构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59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572768"/>
            <a:ext cx="10287000" cy="452628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1737360"/>
            <a:ext cx="9866376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&lt;dataset_name&gt;/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├── data/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└── chunk-000/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    ├── episode_000000.parquet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    ├── episode_000001.parquet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    └── ...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├── videos/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└── chunk-000/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    ├── observation.images.main/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    │   ├── episode_000000.mp4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    │   └── ...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    ├── observation.images.secondary_0/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    │   └── episode_000000.mp4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    └── ...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├── meta/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├── info.json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├── episodes.jsonl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├── tasks.jsonl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│   └── episodes_stats.jsonl / stats.json</a:t>
            </a:r>
          </a:p>
          <a:p>
            <a:pPr algn="l">
              <a:lnSpc>
                <a:spcPct val="102000"/>
              </a:lnSpc>
            </a:pPr>
            <a:r>
              <a:rPr sz="1220" b="0" i="0">
                <a:solidFill>
                  <a:srgbClr val="222833"/>
                </a:solidFill>
                <a:latin typeface="Consolas"/>
              </a:rPr>
              <a:t>└── README.md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HDF5：把多模态数据封装进层次化二进制文件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HDF5 支持 gzip、zstd 等压缩方式和并行 I/O。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通过 Group 与 Dataset 组织多层结构，可把图像、状态、动作、标注等模态整合到单个文件。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特别适合超大规模多模态数据集的长期存储与管理，例如白虎数据集。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robomimic 等经典具身智能框架也广泛使用 HDF5。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8523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80" b="1" i="0">
                <a:solidFill>
                  <a:srgbClr val="24477D"/>
                </a:solidFill>
                <a:latin typeface="微软雅黑"/>
              </a:rPr>
              <a:t>HDF5 更像“多模态数据仓库”，而 LeRobot 更强调训练端的轻量与易用。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HDF5 文件结构示例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HDF5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文件结构示例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 descr="An illustration of a HDF5 file structure which contains groups, datasets and associated metadata">
            <a:extLst>
              <a:ext uri="{FF2B5EF4-FFF2-40B4-BE49-F238E27FC236}">
                <a16:creationId xmlns:a16="http://schemas.microsoft.com/office/drawing/2014/main" id="{B491D0D9-C8DB-021E-B2B4-46F5E04417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399" y="2221950"/>
            <a:ext cx="5617981" cy="3282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三类主流格式的工程定位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219337"/>
              </p:ext>
            </p:extLst>
          </p:nvPr>
        </p:nvGraphicFramePr>
        <p:xfrm>
          <a:off x="566928" y="1691640"/>
          <a:ext cx="110642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727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</a:rPr>
                        <a:t>格式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组织方式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主要优势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727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833"/>
                          </a:solidFill>
                        </a:rPr>
                        <a:t>RLDS</a:t>
                      </a:r>
                      <a:endParaRPr sz="18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Episode + Step 时序结构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流式读取、强化学习语义清晰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跨平台机器人学习、大规模数据联盟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27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833"/>
                          </a:solidFill>
                        </a:rPr>
                        <a:t>LeRobot</a:t>
                      </a:r>
                      <a:endParaRPr sz="18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MP4 + Parquet + 元数据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轻量、高效、PyTorch 友好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低成本机器人、模仿学习快速迭代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727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833"/>
                          </a:solidFill>
                        </a:rPr>
                        <a:t>HDF5</a:t>
                      </a:r>
                      <a:endParaRPr sz="18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单文件层次化 Group / Dataset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多模态整合、压缩、并行 I/O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833"/>
                          </a:solidFill>
                        </a:rPr>
                        <a:t>长期存储、超大规模多模态管理</a:t>
                      </a:r>
                      <a:endParaRPr sz="1800" b="0" dirty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45920"/>
            <a:ext cx="7635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24477D"/>
                </a:solidFill>
                <a:latin typeface="微软雅黑"/>
              </a:rPr>
              <a:t>具身数据的采集设备与采集方式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第10章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10.3 具身数据采集：从“网络爬取”转向“真实交互”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10332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00">
                <a:solidFill>
                  <a:srgbClr val="222833"/>
                </a:solidFill>
                <a:latin typeface="微软雅黑"/>
              </a:rPr>
              <a:t>具身数据采集需要面对高硬件成本、物理安全约束、本体特异性映射和多模态同步等挑战。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00">
                <a:solidFill>
                  <a:srgbClr val="222833"/>
                </a:solidFill>
                <a:latin typeface="微软雅黑"/>
              </a:rPr>
              <a:t>采集系统通常由操控本体、执行本体、感知传感器、控制接口和数据记录平台构成。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00">
                <a:solidFill>
                  <a:srgbClr val="222833"/>
                </a:solidFill>
                <a:latin typeface="微软雅黑"/>
              </a:rPr>
              <a:t>随着具身智能走向规模化，操控本体正在演化为专用数据采集设备和终端。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75504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60" b="1" i="0">
                <a:solidFill>
                  <a:srgbClr val="24477D"/>
                </a:solidFill>
                <a:latin typeface="微软雅黑"/>
              </a:rPr>
              <a:t>采集系统的目标是：让人或策略能够稳定地产生“高质量、可对齐、可复用”的交互轨迹。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10.3.1 采集硬件系统概述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操控本体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9075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5379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05379" y="182880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9971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执行本体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7526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3830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43830" y="182880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08422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感知传感器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5977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2281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82281" y="182880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6873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控制接口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4428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0732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20732" y="1828800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85324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数据记录平台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22191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 i="0">
                <a:solidFill>
                  <a:srgbClr val="222833"/>
                </a:solidFill>
                <a:latin typeface="微软雅黑"/>
              </a:rPr>
              <a:t>采集硬件的核心不是单一设备，而是把“人 / 策略输入—机器人执行—多模态感知—时序记录”构成统一系统。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559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典型的数据采集装置和终端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78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lang="zh-CN" altLang="en-US" sz="1600" b="1" i="0" dirty="0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部分常见</a:t>
            </a:r>
            <a:r>
              <a:rPr sz="1600" b="1" i="0" dirty="0" err="1">
                <a:solidFill>
                  <a:srgbClr val="2228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数据采集装置和终端</a:t>
            </a:r>
            <a:endParaRPr sz="1600" b="1" i="0" dirty="0">
              <a:solidFill>
                <a:srgbClr val="2228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D0D95A7-A43B-A1AE-57D3-72F67D6900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01" y="1537397"/>
            <a:ext cx="2925407" cy="2193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9847905-D9D6-5C7D-8B4B-07205E5893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511" y="1537397"/>
            <a:ext cx="4062822" cy="2193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 descr="Buy Meta Quest 3 512GB All-In-One Virtual Reality Headset | Virtual reality  headsets and accessories | Argos">
            <a:extLst>
              <a:ext uri="{FF2B5EF4-FFF2-40B4-BE49-F238E27FC236}">
                <a16:creationId xmlns:a16="http://schemas.microsoft.com/office/drawing/2014/main" id="{243E70EF-7CC5-AB5E-7D7D-8282F45493F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54"/>
          <a:stretch>
            <a:fillRect/>
          </a:stretch>
        </p:blipFill>
        <p:spPr bwMode="auto">
          <a:xfrm>
            <a:off x="388697" y="3791065"/>
            <a:ext cx="3380869" cy="22892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041DC4E-530E-DF2D-6618-D7D46F658D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17" t="10480" r="20419" b="11037"/>
          <a:stretch>
            <a:fillRect/>
          </a:stretch>
        </p:blipFill>
        <p:spPr bwMode="auto">
          <a:xfrm>
            <a:off x="4960841" y="3970834"/>
            <a:ext cx="2051114" cy="173951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7EF11E4-8F62-B159-76BA-3A22A2BA09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8536" y="1958701"/>
            <a:ext cx="3543881" cy="354388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运动捕捉系统（MoCap）：人形全身控制的重要采集设备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337560"/>
          </a:xfrm>
          <a:prstGeom prst="roundRect">
            <a:avLst>
              <a:gd name="adj" fmla="val 338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33756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光学动捕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多台高速红外相机 + 反光标记点，可实现毫米至亚毫米级全身姿态捕捉；但受场地和遮挡限制。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337560"/>
          </a:xfrm>
          <a:prstGeom prst="roundRect">
            <a:avLst>
              <a:gd name="adj" fmla="val 240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33756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惯性动捕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IMU 穿戴式采集，不依赖固定场地，适合行走、翻腾等大范围动作；但会产生累计漂移，需要校准。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2180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30" b="1" i="0">
                <a:solidFill>
                  <a:srgbClr val="24477D"/>
                </a:solidFill>
                <a:latin typeface="微软雅黑"/>
              </a:rPr>
              <a:t>动捕数据通常结合逆运动学或运动重定向转换为机器人关节角序列。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机械臂 / 灵巧手与移动底盘：直接产生任务轨迹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机械臂与灵巧手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30" b="0" i="0">
                <a:solidFill>
                  <a:srgbClr val="222833"/>
                </a:solidFill>
                <a:latin typeface="微软雅黑"/>
              </a:rPr>
              <a:t>主流的操作数据采集方式，可高精度记录抓取、装配等任务轨迹，尤其适合精细手部交互。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移动底盘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30" b="0" i="0">
                <a:solidFill>
                  <a:srgbClr val="222833"/>
                </a:solidFill>
                <a:latin typeface="微软雅黑"/>
              </a:rPr>
              <a:t>轮式、履带式或腿足式移动平台常用于导航与移动操作任务的数据采集。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穿戴式遥操作设备与多视角相机阵列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337560"/>
          </a:xfrm>
          <a:prstGeom prst="roundRect">
            <a:avLst>
              <a:gd name="adj" fmla="val 3248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33756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穿戴式遥操作交互设备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外骨骼手套、力反馈主手、VR / AR 头显等，使人类专家能够以更自然方式操作机器人完成示范。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337560"/>
          </a:xfrm>
          <a:prstGeom prst="roundRect">
            <a:avLst>
              <a:gd name="adj" fmla="val 171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33756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多视角相机阵列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RGB-D、鱼眼、顶部全局相机与腕部第一视角相机共同提供丰富视觉 / 深度数据，支持多模态融合。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硬件同步：ROS 2 与统一 SDK 连接采集链路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多种采集设备通常通过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 ROS 2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或专用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 SDK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接入统一数据管线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统一接口需要同时处理控制命令、相机流、状态反馈和精确时间戳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教材强调亚毫秒级时间同步，以保证不同模态能够可靠对齐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多模态采集系统的“隐形基础设施”是统一时钟、统一接口和稳定数据流。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不同人形机器人本体的采集场景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71</a:t>
            </a:r>
          </a:p>
        </p:txBody>
      </p:sp>
      <p:pic>
        <p:nvPicPr>
          <p:cNvPr id="9" name="Picture 8" descr="p11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504" y="1645920"/>
            <a:ext cx="7854230" cy="428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222833"/>
                </a:solidFill>
                <a:latin typeface="微软雅黑"/>
              </a:rPr>
              <a:t>图 10-10  不同的人形机器人本体在采集数据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10.3.2 遥操作交互：目前主流的高质量数据采集方式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由人类专家通过主端设备实时控制机器人完成示范任务。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系统同步记录多模态 Episode，包括视觉、关节状态、动作和任务语义。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优势是数据质量高、任务语义清晰，特别适合 VLA 模型和模仿学习训练。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遥操作的本质：把人类专家的技能“转写”为机器人的时序数据。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主从控制：Leader → Follower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人类操作主臂 / 主设备，产生关节角度或末端位姿命令。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>
              <a:gd name="adj" fmla="val 3301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Follower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从臂实时跟随并执行任务，同时记录机器人实际状态和多模态观测。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 dirty="0" err="1">
                <a:solidFill>
                  <a:srgbClr val="24477D"/>
                </a:solidFill>
                <a:latin typeface="微软雅黑"/>
              </a:rPr>
              <a:t>LeRobot</a:t>
            </a:r>
            <a:r>
              <a:rPr sz="1950" b="1" i="0" dirty="0">
                <a:solidFill>
                  <a:srgbClr val="24477D"/>
                </a:solidFill>
                <a:latin typeface="微软雅黑"/>
              </a:rPr>
              <a:t> </a:t>
            </a:r>
            <a:r>
              <a:rPr sz="1950" b="1" i="0" dirty="0" err="1">
                <a:solidFill>
                  <a:srgbClr val="24477D"/>
                </a:solidFill>
                <a:latin typeface="微软雅黑"/>
              </a:rPr>
              <a:t>中的</a:t>
            </a:r>
            <a:r>
              <a:rPr sz="1950" b="1" i="0" dirty="0">
                <a:solidFill>
                  <a:srgbClr val="24477D"/>
                </a:solidFill>
                <a:latin typeface="微软雅黑"/>
              </a:rPr>
              <a:t> SO-100 Leader-Follower </a:t>
            </a:r>
            <a:r>
              <a:rPr sz="1950" b="1" i="0" dirty="0" err="1">
                <a:solidFill>
                  <a:srgbClr val="24477D"/>
                </a:solidFill>
                <a:latin typeface="微软雅黑"/>
              </a:rPr>
              <a:t>是低成本遥操作采集的典型实现</a:t>
            </a:r>
            <a:r>
              <a:rPr sz="1950" b="1" i="0" dirty="0">
                <a:solidFill>
                  <a:srgbClr val="24477D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VR / AR 遥操作：更自然的第一人称交互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通过 Meta Quest、Apple Vision Pro 等沉浸式头显提供第一人称视角。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结合手部追踪，把人类手部动作映射到机器人操作。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适合复杂、空间交互强的操作任务，尤其是双臂和人形机器人。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VR / AR 降低了“人如何表达动作意图”的门槛。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同构 / 异构映射：遥操作精度与通用性的权衡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>
              <a:gd name="adj" fmla="val 2726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同构映射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主从结构相同，映射直接、控制精度高，但硬件成本通常较高。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>
              <a:gd name="adj" fmla="val 1433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异构映射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70" b="0" i="0">
                <a:solidFill>
                  <a:srgbClr val="222833"/>
                </a:solidFill>
                <a:latin typeface="微软雅黑"/>
              </a:rPr>
              <a:t>主从结构不同，需要运动学求解、雅可比转置映射或学习映射网络，把人体 / 主端动作转移到机器人。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动捕辅助采集：把人类全身运动映射到机器人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22338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MoCap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系统可用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100 Hz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以上采样率捕捉人类全身运动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通过强化学习或优化方法把人体动作映射到机器人本体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教材以宇树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Embodied Avatar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为例：使用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43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个追踪器的全身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MoCap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套装，实现低延迟镜像控制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主要挑战是人体与机器人动力学差异带来的稳定性问题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沉浸式头显采集数据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通过沉浸式头显采集数据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C1E17A8-65B2-685C-948C-1BE58F5EA0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581" y="1683793"/>
            <a:ext cx="6298837" cy="4153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Embodied Avatar：全身动捕驱动人形机器人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宇树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Embodied Avatar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系统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2BA3250-392F-5BAB-2764-1EABFA9E55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113" y="2006554"/>
            <a:ext cx="5307057" cy="3554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10.3.3 仿真数据生成：低成本补充真实数据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先在仿真环境中批量生成大量 Episode，再通过域随机化尽量接近现实世界。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可以显著减少真实硬件磨损和采集时间。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仿真数据可直接导出为 LeRobot 等标准格式，并与真实数据混合训练。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仿真不是替代真实数据，而是把昂贵的真实采集集中到最有价值的部分。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通过仿真环境批量采集具身数据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通过仿真环境采集数据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 descr="Lightwheel Accelerates Physical AI Development With NVIDIA Simulation and  Foundation Models">
            <a:extLst>
              <a:ext uri="{FF2B5EF4-FFF2-40B4-BE49-F238E27FC236}">
                <a16:creationId xmlns:a16="http://schemas.microsoft.com/office/drawing/2014/main" id="{BADDF45D-A73D-FD9E-08C4-0CFF60C5C0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853" y="2028092"/>
            <a:ext cx="6894713" cy="3874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仿真数据生成的四个步骤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10378440" cy="3491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1 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搭建仿真环境：用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Isaac Lab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等构建与真实机器人对应的机械臂、相机和物体模型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2 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设置域随机化：每个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Episode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随机改变光照、物体颜色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位置、地面摩擦系数等参数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3 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批量生成数据：自动执行成百上千次任务，并同步记录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RGB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视频与状态文件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2400" b="1" dirty="0">
                <a:solidFill>
                  <a:srgbClr val="31599B"/>
                </a:solidFill>
                <a:latin typeface="微软雅黑"/>
              </a:rPr>
              <a:t>4 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数据导出：保存为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LeRobot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等标准格式，与真实数据混合训练；后期用少量真实数据微调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10.3.4 数据质量保障：原始数据必须经过质检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20240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192024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214884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自动清洗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7841" y="219456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4729" y="1920240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54729" y="192024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9321" y="214884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可视化检查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3891" y="219456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79" y="1920240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40779" y="192024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5371" y="214884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标准化处理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9941" y="2194560"/>
            <a:ext cx="228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6829" y="1920240"/>
            <a:ext cx="2411729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26829" y="192024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1421" y="2148840"/>
            <a:ext cx="208254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伦理与安全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4048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 i="0">
                <a:solidFill>
                  <a:srgbClr val="222833"/>
                </a:solidFill>
                <a:latin typeface="微软雅黑"/>
              </a:rPr>
              <a:t>抖动、碰撞、时间戳错位、过曝、任务失败等都会污染训练集；质量保障需要在采集后立即执行。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数据清洗与可视化检查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自动清洗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10" b="0" i="0">
                <a:solidFill>
                  <a:srgbClr val="222833"/>
                </a:solidFill>
                <a:latin typeface="微软雅黑"/>
              </a:rPr>
              <a:t>脚本检查碰撞、力反馈异常、图像过曝、时间戳错位，删除过短或任务失败的 Episode。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可视化检查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10" b="0" i="0">
                <a:solidFill>
                  <a:srgbClr val="222833"/>
                </a:solidFill>
                <a:latin typeface="微软雅黑"/>
              </a:rPr>
              <a:t>用 LeRobot 回放工具抽查轨迹，验证关节运动是否顺畅、图像是否清晰。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标准化处理与伦理安全规范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429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标准化处理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587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统一动作空间（如归一化到 [-1,1]）、补齐缺失帧、添加任务成功标签。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42900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63F45"/>
                </a:solidFill>
                <a:latin typeface="微软雅黑"/>
              </a:rPr>
              <a:t>伦理与安全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587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80" b="0" i="0">
                <a:solidFill>
                  <a:srgbClr val="222833"/>
                </a:solidFill>
                <a:latin typeface="微软雅黑"/>
              </a:rPr>
              <a:t>全程操作员在场、设置急停；涉及人员 / 隐私时模糊敏感信息；数据加密并遵守实验室和当地法规。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45920"/>
            <a:ext cx="7635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24477D"/>
                </a:solidFill>
                <a:latin typeface="微软雅黑"/>
              </a:rPr>
              <a:t>典型的具身数据集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第10章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10.4 典型具身数据集：算法验证与基础模型训练的入口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典型数据集通常已完成多模态对齐、格式标准化和质量清洗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可通过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 Hugging Face Hub 或 GitHub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等平台下载并导入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LeRobot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等框架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选择数据集时需要关注规模、任务类型、本体覆盖范围和实际使用方式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数据集不仅要“大”，还要与目标本体、目标任务和目标模态匹配。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Open X-Embodiment（OXE）：跨机器人数据联盟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由 21 家机构联合构建，包含 22 种不同机器人本体（单臂、双臂、四足等）。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包含 100 万余条真实机器人轨迹，覆盖 527 种技能和 16 万余个任务实例。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提供 RGB、关节角度、力反馈与自然语言指令等多模态数据。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采用统一的 RLDS / LeRobot 格式，可用于 RT-X 系列模型预训练。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Open X-Embodiment 数据集主页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Open X-Embodiment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数据集主页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B523AB9-292B-A13B-C2B5-2357FAB633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063" y="1484457"/>
            <a:ext cx="9292249" cy="4395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DROID：大规模真实世界机器人操作数据集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000" dirty="0" err="1">
                <a:solidFill>
                  <a:srgbClr val="222833"/>
                </a:solidFill>
                <a:latin typeface="微软雅黑"/>
              </a:rPr>
              <a:t>包含超过</a:t>
            </a:r>
            <a:r>
              <a:rPr sz="2000" dirty="0">
                <a:solidFill>
                  <a:srgbClr val="222833"/>
                </a:solidFill>
                <a:latin typeface="微软雅黑"/>
              </a:rPr>
              <a:t> 76,000 </a:t>
            </a:r>
            <a:r>
              <a:rPr sz="2000" dirty="0" err="1">
                <a:solidFill>
                  <a:srgbClr val="222833"/>
                </a:solidFill>
                <a:latin typeface="微软雅黑"/>
              </a:rPr>
              <a:t>条专家遥操作交互演示轨迹，覆盖</a:t>
            </a:r>
            <a:r>
              <a:rPr sz="2000" dirty="0">
                <a:solidFill>
                  <a:srgbClr val="222833"/>
                </a:solidFill>
                <a:latin typeface="微软雅黑"/>
              </a:rPr>
              <a:t> 86 </a:t>
            </a:r>
            <a:r>
              <a:rPr sz="2000" dirty="0" err="1">
                <a:solidFill>
                  <a:srgbClr val="222833"/>
                </a:solidFill>
                <a:latin typeface="微软雅黑"/>
              </a:rPr>
              <a:t>种日常操作任务</a:t>
            </a:r>
            <a:r>
              <a:rPr sz="20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000" dirty="0" err="1">
                <a:solidFill>
                  <a:srgbClr val="222833"/>
                </a:solidFill>
                <a:latin typeface="微软雅黑"/>
              </a:rPr>
              <a:t>采集自</a:t>
            </a:r>
            <a:r>
              <a:rPr sz="2000" dirty="0">
                <a:solidFill>
                  <a:srgbClr val="222833"/>
                </a:solidFill>
                <a:latin typeface="微软雅黑"/>
              </a:rPr>
              <a:t> 564 </a:t>
            </a:r>
            <a:r>
              <a:rPr sz="2000" dirty="0" err="1">
                <a:solidFill>
                  <a:srgbClr val="222833"/>
                </a:solidFill>
                <a:latin typeface="微软雅黑"/>
              </a:rPr>
              <a:t>个真实室内场景，涵盖</a:t>
            </a:r>
            <a:r>
              <a:rPr sz="2000" dirty="0">
                <a:solidFill>
                  <a:srgbClr val="222833"/>
                </a:solidFill>
                <a:latin typeface="微软雅黑"/>
              </a:rPr>
              <a:t> 52 </a:t>
            </a:r>
            <a:r>
              <a:rPr sz="2000" dirty="0" err="1">
                <a:solidFill>
                  <a:srgbClr val="222833"/>
                </a:solidFill>
                <a:latin typeface="微软雅黑"/>
              </a:rPr>
              <a:t>栋不同建筑</a:t>
            </a:r>
            <a:r>
              <a:rPr sz="20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000" dirty="0" err="1">
                <a:solidFill>
                  <a:srgbClr val="222833"/>
                </a:solidFill>
                <a:latin typeface="微软雅黑"/>
              </a:rPr>
              <a:t>统一使用腕部第一视角相机</a:t>
            </a:r>
            <a:r>
              <a:rPr sz="2000" dirty="0">
                <a:solidFill>
                  <a:srgbClr val="222833"/>
                </a:solidFill>
                <a:latin typeface="微软雅黑"/>
              </a:rPr>
              <a:t> + </a:t>
            </a:r>
            <a:r>
              <a:rPr sz="2000" dirty="0" err="1">
                <a:solidFill>
                  <a:srgbClr val="222833"/>
                </a:solidFill>
                <a:latin typeface="微软雅黑"/>
              </a:rPr>
              <a:t>第三视角全局相机，并记录关节状态、末端位姿和语言指令</a:t>
            </a:r>
            <a:r>
              <a:rPr sz="20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000" dirty="0" err="1">
                <a:solidFill>
                  <a:srgbClr val="222833"/>
                </a:solidFill>
                <a:latin typeface="微软雅黑"/>
              </a:rPr>
              <a:t>任务从桌面抓取扩展到抽屉开合、物品收纳、按钮按压等长程操作</a:t>
            </a:r>
            <a:r>
              <a:rPr sz="20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HM3D：真实建筑规模的 3D 导航数据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Habitat-Matterport 3D（HM3D）包含 1,000 个真实建筑规模的 3D 扫描场景。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总可导航面积超过 11 万平方米。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支持 Habitat 模拟器快速训练 PointGoal、ObjectNav 等导航任务。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HM3D 的核心价值在于“大规模真实几何场景 + 高效仿真训练”。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HM3D：真实建筑规模的 3D 扫描场景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HM3D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真实建筑规模的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3D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扫描场景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 descr="00000-kfPV7w3FaU5">
            <a:extLst>
              <a:ext uri="{FF2B5EF4-FFF2-40B4-BE49-F238E27FC236}">
                <a16:creationId xmlns:a16="http://schemas.microsoft.com/office/drawing/2014/main" id="{66677D3B-FF07-A5C3-EF49-67FFA731C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396" y="1528690"/>
            <a:ext cx="4197195" cy="4197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ProcTHOR：程序化生成大规模交互式室内场景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由 AI2 提出的具身智能数据生成框架。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通过程序化方式采样大规模交互式室内场景。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官方 ProcTHOR-10k 数据集包含 10,000 个生成房屋。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支持导航、重排、机械臂操作等多种具身 AI 任务的训练与泛化。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与真实采集相比，程序化生成可以大规模扩充“场景多样性”。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四类典型数据集的侧重点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966139"/>
              </p:ext>
            </p:extLst>
          </p:nvPr>
        </p:nvGraphicFramePr>
        <p:xfrm>
          <a:off x="621792" y="160020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</a:rPr>
                        <a:t>数据集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主要类型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规模 / 覆盖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典型用途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833"/>
                          </a:solidFill>
                        </a:rPr>
                        <a:t>OXE</a:t>
                      </a:r>
                      <a:endParaRPr sz="18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跨本体真实操作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百万级轨迹 / 22 类本体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跨机器人预训练、RT-X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833"/>
                          </a:solidFill>
                        </a:rPr>
                        <a:t>DROID</a:t>
                      </a:r>
                      <a:endParaRPr sz="18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真实日常操作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7.6 万+ 遥操作演示 / 564 场景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长程操作、语言条件策略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833"/>
                          </a:solidFill>
                        </a:rPr>
                        <a:t>HM3D</a:t>
                      </a:r>
                      <a:endParaRPr sz="18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真实建筑 3D 扫描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1000 场景 / 11 万㎡+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导航、ObjectNav、PointGoal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22833"/>
                          </a:solidFill>
                        </a:rPr>
                        <a:t>ProcTHOR</a:t>
                      </a:r>
                      <a:endParaRPr sz="1800" b="1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程序化室内场景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833"/>
                          </a:solidFill>
                        </a:rPr>
                        <a:t>10k 生成房屋</a:t>
                      </a:r>
                      <a:endParaRPr sz="1800" b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833"/>
                          </a:solidFill>
                        </a:rPr>
                        <a:t>导航、重排、操作泛化</a:t>
                      </a:r>
                      <a:endParaRPr sz="1800" b="0" dirty="0">
                        <a:solidFill>
                          <a:srgbClr val="222833"/>
                        </a:solidFill>
                        <a:latin typeface="微软雅黑"/>
                      </a:endParaRP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45920"/>
            <a:ext cx="7635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24477D"/>
                </a:solidFill>
                <a:latin typeface="微软雅黑"/>
              </a:rPr>
              <a:t>白虎数据集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第10章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10.5 白虎数据集：面向真实世界通用机器人训练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10332720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8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80">
                <a:solidFill>
                  <a:srgbClr val="222833"/>
                </a:solidFill>
                <a:latin typeface="微软雅黑"/>
              </a:rPr>
              <a:t>由国家地方共建人形机器人创新中心牵头构建，覆盖多种异构机器人本体和真实应用场景。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8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80">
                <a:solidFill>
                  <a:srgbClr val="222833"/>
                </a:solidFill>
                <a:latin typeface="微软雅黑"/>
              </a:rPr>
              <a:t>目标是缓解具身智能“数据荒漠”，支撑通用机器人策略、跨本体迁移和多模态感知学习。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8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80">
                <a:solidFill>
                  <a:srgbClr val="222833"/>
                </a:solidFill>
                <a:latin typeface="微软雅黑"/>
              </a:rPr>
              <a:t>教材指出：白虎已通过权威质量评估认证，并入选多项高质量数据集典型案例。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白虎的核心路线：真机 + 真场景 + 真任务 + 统一标准。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白虎数据集的定位与开放能力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66420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百万量级异构数据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覆盖多种机器人平台和任务类型，提供规模化真实交互经验。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兼容 LeRobot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数据可直接导入主流开源训练框架，降低训练门槛。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07808" y="1664208"/>
            <a:ext cx="64008" cy="3246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产业化支撑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80" b="0" i="0">
                <a:solidFill>
                  <a:srgbClr val="222833"/>
                </a:solidFill>
                <a:latin typeface="微软雅黑"/>
              </a:rPr>
              <a:t>连接训练场、数据标准、开源平台与模型训练，推动实验室原型走向落地。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10.5.1 背景与基础设施：“麒麟”具身智能训练场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00">
                <a:solidFill>
                  <a:srgbClr val="222833"/>
                </a:solidFill>
                <a:latin typeface="微软雅黑"/>
              </a:rPr>
              <a:t>白虎数据集依托我国首个异构人形机器人训练场——“麒麟”具身智能训练场。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00">
                <a:solidFill>
                  <a:srgbClr val="222833"/>
                </a:solidFill>
                <a:latin typeface="微软雅黑"/>
              </a:rPr>
              <a:t>训练场面积超过 5000 平方米，覆盖家居、工业、餐饮、特种作业等真实应用场景。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00">
                <a:solidFill>
                  <a:srgbClr val="222833"/>
                </a:solidFill>
                <a:latin typeface="微软雅黑"/>
              </a:rPr>
              <a:t>配备 100 余台异构本体，包括全尺寸人形、轮式人形、机械臂等。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00">
                <a:solidFill>
                  <a:srgbClr val="222833"/>
                </a:solidFill>
                <a:latin typeface="微软雅黑"/>
              </a:rPr>
              <a:t>形成“真机 + 真场景 + 真任务”的数据生产闭环。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白虎数据集采集的本体类型分布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白虎数据集采集的本体类型分布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8FE108D-2ADD-D589-F6D8-73B7D3ADE6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708" y="1826234"/>
            <a:ext cx="6174597" cy="401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“麒麟”训练场：虚实融合、异构兼容的采训推闭环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73352"/>
            <a:ext cx="1033272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训练场以“虚实融合、异构兼容”为训练范式，构建采集—训练—推理闭环。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依托超 5000 平方米物理空间和 10 余个可重构高仿真场景，把真实交互与数字孪生深度融合。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通过统一数据标准和动作评价体系，兼容 100 余款异构机器人本体进行协同训练。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目标是实现“一机训练、多机共享”，突破不同品牌、不同构型之间的数据孤岛。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“麒麟”训练场的三个主要特点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3246120" cy="3337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664208"/>
            <a:ext cx="64008" cy="333756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1  强异构兼容性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68296"/>
            <a:ext cx="286207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80" b="0" i="0">
                <a:solidFill>
                  <a:srgbClr val="222833"/>
                </a:solidFill>
                <a:latin typeface="微软雅黑"/>
              </a:rPr>
              <a:t>双足、轮式、机械臂等跨构型机器人同台训练，兼容 100+ 本体。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3337560"/>
          </a:xfrm>
          <a:prstGeom prst="roundRect">
            <a:avLst>
              <a:gd name="adj" fmla="val 4307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333756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2  高保真虚实融合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368296"/>
            <a:ext cx="286207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80" b="0" i="0">
                <a:solidFill>
                  <a:srgbClr val="222833"/>
                </a:solidFill>
                <a:latin typeface="微软雅黑"/>
              </a:rPr>
              <a:t>真实场景与仿真双向闭环，单日可生成约 5 万条高质量交互记录。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1664208"/>
            <a:ext cx="3246120" cy="3337560"/>
          </a:xfrm>
          <a:prstGeom prst="roundRect">
            <a:avLst>
              <a:gd name="adj" fmla="val 283"/>
            </a:avLst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07808" y="1664208"/>
            <a:ext cx="64008" cy="333756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3  标准化开源引领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68296"/>
            <a:ext cx="286207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60" b="0" i="0">
                <a:solidFill>
                  <a:srgbClr val="222833"/>
                </a:solidFill>
                <a:latin typeface="微软雅黑"/>
              </a:rPr>
              <a:t>数据进入 OpenLoong 社区，已训练 100+ 原子技能，并推进关键标准建设。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“麒麟”训练效果与网络化布局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19064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00" dirty="0" err="1">
                <a:solidFill>
                  <a:srgbClr val="222833"/>
                </a:solidFill>
                <a:latin typeface="微软雅黑"/>
              </a:rPr>
              <a:t>实体机器人可完成桌面整理、物品分拣、倒水服务等多阶段任务，平均任务成功率超过</a:t>
            </a:r>
            <a:r>
              <a:rPr sz="2100" dirty="0">
                <a:solidFill>
                  <a:srgbClr val="222833"/>
                </a:solidFill>
                <a:latin typeface="微软雅黑"/>
              </a:rPr>
              <a:t> 90%。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00" dirty="0" err="1">
                <a:solidFill>
                  <a:srgbClr val="222833"/>
                </a:solidFill>
                <a:latin typeface="微软雅黑"/>
              </a:rPr>
              <a:t>部分技能仅需数百条数据即可实现多位置泛化执行</a:t>
            </a:r>
            <a:r>
              <a:rPr sz="21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00" dirty="0">
                <a:solidFill>
                  <a:srgbClr val="222833"/>
                </a:solidFill>
                <a:latin typeface="微软雅黑"/>
              </a:rPr>
              <a:t>“麒麟”作为“1 + </a:t>
            </a:r>
            <a:r>
              <a:rPr sz="2100" dirty="0" err="1">
                <a:solidFill>
                  <a:srgbClr val="222833"/>
                </a:solidFill>
                <a:latin typeface="微软雅黑"/>
              </a:rPr>
              <a:t>N”训练场网络核心中枢，推动区域分训练场建设，构建标准化能力体系</a:t>
            </a:r>
            <a:r>
              <a:rPr sz="21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9379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50" b="1" i="0">
                <a:solidFill>
                  <a:srgbClr val="24477D"/>
                </a:solidFill>
                <a:latin typeface="微软雅黑"/>
              </a:rPr>
              <a:t>训练场把“数据采集—模型训练—能力评测—真实验证”组织成可规模复制的工程系统。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“麒麟”具身智能训练场局部场景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>
                <a:solidFill>
                  <a:srgbClr val="222833"/>
                </a:solidFill>
                <a:latin typeface="微软雅黑"/>
              </a:rPr>
              <a:t>“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麒麟”具身智能训练场局部场景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53BB92F-30DA-7768-10D4-5846526E58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532" y="1665333"/>
            <a:ext cx="6446576" cy="419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10.5.2 白虎的数据规模与模态构成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64008" cy="333756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68296"/>
            <a:ext cx="222199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70" b="0" i="0">
                <a:solidFill>
                  <a:srgbClr val="222833"/>
                </a:solidFill>
                <a:latin typeface="微软雅黑"/>
              </a:rPr>
              <a:t>截至 2025 年底，教材记载累计采集超过 600 万条高质量真机与仿真 Episode，总原始数据量达数 PB。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6432" y="1664208"/>
            <a:ext cx="64008" cy="333756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66744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关节 / 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368296"/>
            <a:ext cx="222199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222833"/>
                </a:solidFill>
                <a:latin typeface="微软雅黑"/>
              </a:rPr>
              <a:t>100 Hz 以上记录关节角、速度、末端位姿和力 / 力矩。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1664208"/>
            <a:ext cx="260604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54496" y="1664208"/>
            <a:ext cx="64008" cy="333756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8" y="1810512"/>
            <a:ext cx="22219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视觉 / 语言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368296"/>
            <a:ext cx="222199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222833"/>
                </a:solidFill>
                <a:latin typeface="微软雅黑"/>
              </a:rPr>
              <a:t>RGB-D 腕部第一视角 + 全局视角；自然语言任务描述、技能标签。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664208"/>
            <a:ext cx="233172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1664208"/>
            <a:ext cx="64008" cy="333756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2872" y="1810512"/>
            <a:ext cx="19476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辅助模态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368296"/>
            <a:ext cx="1947672" cy="2496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22833"/>
                </a:solidFill>
                <a:latin typeface="微软雅黑"/>
              </a:rPr>
              <a:t>触觉阵列、IMU，部分 Episode 还包含环境地图信息。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白虎的数据格式与开发者访问方式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统一采用 HDF5，并提供 LeRobot / RLDS 兼容接口，保证跨平台兼容性与训练效率。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开发者可通过 OpenLoong 社区或 AtomGit 下载指定子集。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配套 SDK 支持快速开展数据读取、可视化和模型训练实验。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“统一数据格式 + 开源工具链”是把大规模数据真正转化为模型能力的关键。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10.5.3 “矩阵式”任务结构：原子技能 × 复合场景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白虎把复杂任务拆解为原子技能与复合场景的组合。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这种结构化任务体系有利于数据复用、任务组合和分层学习。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研究者可以按需组合任务，快速构造自定义训练集。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矩阵式组织把“长任务”拆成可复用的技能积木。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白虎数据集的五大应用场景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106</a:t>
            </a:r>
          </a:p>
        </p:txBody>
      </p:sp>
      <p:pic>
        <p:nvPicPr>
          <p:cNvPr id="9" name="Picture 8" descr="p17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942730"/>
            <a:ext cx="10323576" cy="36949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222833"/>
                </a:solidFill>
                <a:latin typeface="微软雅黑"/>
              </a:rPr>
              <a:t>图 10-18  白虎数据集 5 大应用场景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白虎任务体系：场景、任务、技能与物体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21488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64008" cy="352044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1" i="0">
                <a:solidFill>
                  <a:srgbClr val="31599B"/>
                </a:solidFill>
                <a:latin typeface="微软雅黑"/>
              </a:rPr>
              <a:t>5 大场景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68296"/>
            <a:ext cx="1764792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22833"/>
                </a:solidFill>
                <a:latin typeface="微软雅黑"/>
              </a:rPr>
              <a:t>工业制造、家居家政、餐饮服务、商超药店和其他应用场景。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664208"/>
            <a:ext cx="21488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8064" y="1664208"/>
            <a:ext cx="64008" cy="352044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08376" y="1810512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1" i="0">
                <a:solidFill>
                  <a:srgbClr val="2F8E72"/>
                </a:solidFill>
                <a:latin typeface="微软雅黑"/>
              </a:rPr>
              <a:t>380+ 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2368296"/>
            <a:ext cx="1764792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39" b="0" i="0">
                <a:solidFill>
                  <a:srgbClr val="222833"/>
                </a:solidFill>
                <a:latin typeface="微软雅黑"/>
              </a:rPr>
              <a:t>抓取、放置、装配、烹饪、搬运、巡检等。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664208"/>
            <a:ext cx="21488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1664208"/>
            <a:ext cx="64008" cy="352044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39512" y="1810512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1" i="0">
                <a:solidFill>
                  <a:srgbClr val="C58A24"/>
                </a:solidFill>
                <a:latin typeface="微软雅黑"/>
              </a:rPr>
              <a:t>100+ 原子技能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368296"/>
            <a:ext cx="1764792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22833"/>
                </a:solidFill>
                <a:latin typeface="微软雅黑"/>
              </a:rPr>
              <a:t>抓取、抬起、放置、旋转、协同等基础动作单元。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1664208"/>
            <a:ext cx="21488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60336" y="1664208"/>
            <a:ext cx="64008" cy="352044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70648" y="1810512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1" i="0">
                <a:solidFill>
                  <a:srgbClr val="C63F45"/>
                </a:solidFill>
                <a:latin typeface="微软雅黑"/>
              </a:rPr>
              <a:t>500+ 目标物体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368296"/>
            <a:ext cx="1764792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22833"/>
                </a:solidFill>
                <a:latin typeface="微软雅黑"/>
              </a:rPr>
              <a:t>覆盖日用品、工业零件、餐饮器具等多种材质和形状。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1472" y="1664208"/>
            <a:ext cx="21488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91472" y="1664208"/>
            <a:ext cx="64008" cy="352044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01784" y="1810512"/>
            <a:ext cx="17647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1" i="0">
                <a:solidFill>
                  <a:srgbClr val="7558A8"/>
                </a:solidFill>
                <a:latin typeface="微软雅黑"/>
              </a:rPr>
              <a:t>双臂协同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2368296"/>
            <a:ext cx="1764792" cy="2679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22833"/>
                </a:solidFill>
                <a:latin typeface="微软雅黑"/>
              </a:rPr>
              <a:t>支持对称 / 非对称双臂操作和精细装配等高难度任务。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10.5.4 白虎-VTouch：跨本体视触觉多模态数据集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聚焦精细操作中的接触感知问题。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总规模超过 6 万分钟真实交互数据，其中视触觉接触数据占比 57%。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教材记载约包含 9072 万对真实接触样本。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面向装配、抓取易碎物等接触密集型任务，弥补触觉维度的数据空白。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白虎-VTouch 数据任务分类层级结构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白虎-VTouch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数据任务分类层级结构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517BB7D-BEF3-4FE4-ACE7-503777651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474" y="1491430"/>
            <a:ext cx="5846102" cy="4341484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白虎-VTouch：跨本体设计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覆盖轮臂机器人 D-Wheel、双足机器人青龙、手持智能终端等多种本体。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同一任务可在不同形态机器人上并行采集。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为跨本体接触技能迁移和统一视触觉表示提供数据基础。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跨本体视触觉数据让“接触经验”也能在不同机器人之间共享。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白虎-VTouch：高频视触觉融合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视觉 + 触觉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同时记录 RGB-D 与触觉信息，精确捕捉接触瞬间的形变和力分布。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传感器能力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80" b="0" i="0">
                <a:solidFill>
                  <a:srgbClr val="222833"/>
                </a:solidFill>
                <a:latin typeface="微软雅黑"/>
              </a:rPr>
              <a:t>教材给出：视触觉传感器最高 640×480 像素、120 Hz 刷新率，可图像级记录微观接触状态。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白虎-VTouch：开源与应用价值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首批 6000 分钟高质量数据及配套处理脚本已开放。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开发者可直接用于多模态策略训练。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适合装配、插接、抓取易碎物等接触密集任务。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提供从视觉主导到视触觉融合策略的关键训练资源。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触觉数据的加入，让具身模型从“看到动作”进一步走向“理解接触”。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10.5.5 开源生态与标准建设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白虎坚持“边建边开、逐步开放”，首批 10 万余条真实机器人动作数据已在开源平台开放。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国地中心配套开发仿真平台，实现异构真机数据与仿真数据的双轮驱动，降低反向迁移门槛。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2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20">
                <a:solidFill>
                  <a:srgbClr val="222833"/>
                </a:solidFill>
                <a:latin typeface="微软雅黑"/>
              </a:rPr>
              <a:t>围绕《人形机器人数据集》国家标准项目，统一不同来源 / 类型的数据结构、表示方法和质量评价方式。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大规模数据生态需要同时解决“开放、标准、质量、工具链”四件事。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白虎数据集管理流程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6034399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白虎数据集管理流程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72A9E4D-55FB-D448-2EF5-3E8CF00326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62"/>
          <a:stretch>
            <a:fillRect/>
          </a:stretch>
        </p:blipFill>
        <p:spPr bwMode="auto">
          <a:xfrm>
            <a:off x="1836638" y="1445167"/>
            <a:ext cx="8979408" cy="44057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45920"/>
            <a:ext cx="7635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24477D"/>
                </a:solidFill>
                <a:latin typeface="微软雅黑"/>
              </a:rPr>
              <a:t>具身数据的训练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第10章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10.6 具身数据训练：把 Episode 转化为可部署策略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10332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00">
                <a:solidFill>
                  <a:srgbClr val="222833"/>
                </a:solidFill>
                <a:latin typeface="微软雅黑"/>
              </a:rPr>
              <a:t>训练的目标是把多模态 Episode 转化为机器人能够实际执行的策略。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00">
                <a:solidFill>
                  <a:srgbClr val="222833"/>
                </a:solidFill>
                <a:latin typeface="微软雅黑"/>
              </a:rPr>
              <a:t>与静态图像 / 文本训练不同，需要同时处理时序因果、多模态对齐和物理约束。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00">
                <a:solidFill>
                  <a:srgbClr val="222833"/>
                </a:solidFill>
                <a:latin typeface="微软雅黑"/>
              </a:rPr>
              <a:t>训练流程、预处理质量和模型选择共同决定泛化能力、鲁棒性与现实执行效果。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数据训练是从“记录经验”到“形成技能”的关键一步。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10.6.1 具身数据训练的五个阶段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数据加载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9075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5379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05379" y="182880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9971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数据预处理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7526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3830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43830" y="182880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08422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模型训练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5977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2281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82281" y="182880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6873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评估迭代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4428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0732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20732" y="1828800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85324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策略部署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22191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 i="0">
                <a:solidFill>
                  <a:srgbClr val="222833"/>
                </a:solidFill>
                <a:latin typeface="微软雅黑"/>
              </a:rPr>
              <a:t>整个流程高度模块化，大部分操作可以通过 LeRobot 等开源框架自动完成。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从数据到策略，需要形成可重复、可评估、可持续迭代的工程管线。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具身数据训练流程图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214" y="3300984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具身数据训练流程图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83CB250-4C93-A0C5-0C29-21AB58E620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488" y="457200"/>
            <a:ext cx="5340610" cy="618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阶段 1：数据加载与准备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从 Hugging Face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Hub、OpenLoong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社区或本地存储加载标准化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 Episode。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支持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LeRobot、RLDS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等主流格式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训练前检查模态完整性、时间戳对齐和任务标注质量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先保证数据“完整且对齐”，再谈模型和算法。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阶段 2：数据预处理与时序 Chunk 切分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82496"/>
            <a:ext cx="10332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00">
                <a:solidFill>
                  <a:srgbClr val="222833"/>
                </a:solidFill>
                <a:latin typeface="微软雅黑"/>
              </a:rPr>
              <a:t>动作归一化：把关节角、末端位姿等映射到 [-1,1]，降低量纲差异。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00">
                <a:solidFill>
                  <a:srgbClr val="222833"/>
                </a:solidFill>
                <a:latin typeface="微软雅黑"/>
              </a:rPr>
              <a:t>时序 Chunk：把长 Episode 切成 128～256 步固定长度序列，适配 GPU 显存。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0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00">
                <a:solidFill>
                  <a:srgbClr val="222833"/>
                </a:solidFill>
                <a:latin typeface="微软雅黑"/>
              </a:rPr>
              <a:t>多模态融合：把 RGB、深度、关节状态、力反馈组织为统一观测字典。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75504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预处理的目标是让模型看到“尺度统一、长度可控、模态对齐”的训练样本。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数据增强：让策略在环境变化中更稳健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视觉增强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随机亮度、对比度、裁剪等，增加外观多样性。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动作与环境增强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20" b="0" i="0">
                <a:solidFill>
                  <a:srgbClr val="222833"/>
                </a:solidFill>
                <a:latin typeface="微软雅黑"/>
              </a:rPr>
              <a:t>动作序列加入少量高斯噪声，并结合仿真域随机化提升策略鲁棒性。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20" b="1" i="0">
                <a:solidFill>
                  <a:srgbClr val="24477D"/>
                </a:solidFill>
                <a:latin typeface="微软雅黑"/>
              </a:rPr>
              <a:t>增强不能破坏任务语义和动作可行性，否则会把噪声当成“监督”。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10.6.3 典型训练框架与模型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66420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扩散策略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生成式动作序列模型，适合平滑、高精度、接触密集型操作。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基于 Transformer 的动作分块预测，适合低成本硬件的长时序控制。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07808" y="1664208"/>
            <a:ext cx="64008" cy="3246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VLA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融合视觉、语言和动作，适合自然语言条件下的开放任务。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扩散策略：生成平滑、精确的动作序列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73352"/>
            <a:ext cx="10332720" cy="3154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基于扩散模型的生成式策略，可直接生成连续动作块。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特别适合接触密集型和高精度操作任务。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50">
                <a:solidFill>
                  <a:srgbClr val="222833"/>
                </a:solidFill>
                <a:latin typeface="微软雅黑"/>
              </a:rPr>
              <a:t>教材强调其在视觉干扰、物体位移、任务阶段被打断等异常情况下，可以表现出一定自主纠偏能力。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80" b="1" i="0">
                <a:solidFill>
                  <a:srgbClr val="24477D"/>
                </a:solidFill>
                <a:latin typeface="微软雅黑"/>
              </a:rPr>
              <a:t>生成式动作分布有利于处理“一种观测对应多种可行动作”的多模态控制问题。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扩散策略在机器人操作任务中的鲁棒性测试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124</a:t>
            </a:r>
          </a:p>
        </p:txBody>
      </p:sp>
      <p:pic>
        <p:nvPicPr>
          <p:cNvPr id="9" name="Picture 8" descr="p21_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260" y="1645919"/>
            <a:ext cx="7942718" cy="428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扩散策略在机器人操作任务中的鲁棒性测试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ACT 与 VLA：长时序控制和语言条件任务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75564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使用 Transformer 预测动作 Chunk，适合低成本硬件上的长时序控制；通过分块预测减少逐步误差累积。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755648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75564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901952"/>
            <a:ext cx="46908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VLA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59736"/>
            <a:ext cx="46908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30" b="0" i="0">
                <a:solidFill>
                  <a:srgbClr val="222833"/>
                </a:solidFill>
                <a:latin typeface="微软雅黑"/>
              </a:rPr>
              <a:t>把视觉和自然语言指令共同映射到动作，适合开放式任务和多任务机器人。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4477D"/>
                </a:solidFill>
                <a:latin typeface="微软雅黑"/>
              </a:rPr>
              <a:t>LeRobot 同时提供数据、训练、评估与部署接口，适合从教学实验到工程验证。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19" y="1663512"/>
            <a:ext cx="8617753" cy="623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 dirty="0" err="1">
                <a:solidFill>
                  <a:srgbClr val="24477D"/>
                </a:solidFill>
                <a:latin typeface="微软雅黑"/>
              </a:rPr>
              <a:t>案例：基于</a:t>
            </a:r>
            <a:r>
              <a:rPr sz="3900" b="1" i="0" dirty="0">
                <a:solidFill>
                  <a:srgbClr val="24477D"/>
                </a:solidFill>
                <a:latin typeface="微软雅黑"/>
              </a:rPr>
              <a:t> </a:t>
            </a:r>
            <a:r>
              <a:rPr sz="3900" b="1" i="0" dirty="0" err="1">
                <a:solidFill>
                  <a:srgbClr val="24477D"/>
                </a:solidFill>
                <a:latin typeface="微软雅黑"/>
              </a:rPr>
              <a:t>LeRobot</a:t>
            </a:r>
            <a:r>
              <a:rPr sz="3900" b="1" i="0" dirty="0">
                <a:solidFill>
                  <a:srgbClr val="24477D"/>
                </a:solidFill>
                <a:latin typeface="微软雅黑"/>
              </a:rPr>
              <a:t> </a:t>
            </a:r>
            <a:r>
              <a:rPr sz="3900" b="1" i="0" dirty="0" err="1">
                <a:solidFill>
                  <a:srgbClr val="24477D"/>
                </a:solidFill>
                <a:latin typeface="微软雅黑"/>
              </a:rPr>
              <a:t>的数据采集实践</a:t>
            </a:r>
            <a:endParaRPr sz="3900" b="1" i="0" dirty="0">
              <a:solidFill>
                <a:srgbClr val="24477D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第10章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495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 dirty="0">
                <a:solidFill>
                  <a:srgbClr val="24477D"/>
                </a:solidFill>
                <a:latin typeface="微软雅黑"/>
              </a:rPr>
              <a:t>10.7 </a:t>
            </a:r>
            <a:r>
              <a:rPr sz="3100" b="1" i="0" dirty="0" err="1">
                <a:solidFill>
                  <a:srgbClr val="24477D"/>
                </a:solidFill>
                <a:latin typeface="微软雅黑"/>
              </a:rPr>
              <a:t>实践案例：低成本机械臂的数据采集</a:t>
            </a:r>
            <a:endParaRPr sz="3100" b="1" i="0" dirty="0">
              <a:solidFill>
                <a:srgbClr val="24477D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12203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以 SO-ARM101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低成本机械臂为例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覆盖硬件准备、主从遥操作、数据质量检查、策略训练与部署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采用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LeRobot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150" dirty="0" err="1">
                <a:solidFill>
                  <a:srgbClr val="222833"/>
                </a:solidFill>
                <a:latin typeface="微软雅黑"/>
              </a:rPr>
              <a:t>开源框架，可在普通实验室环境快速复现</a:t>
            </a:r>
            <a:r>
              <a:rPr sz="215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实践目标：亲手走完“采数据 → 看数据 → 训策略 → 上真机”的完整流程。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LeRobot 数据可视化界面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LeRobot</a:t>
            </a:r>
            <a:r>
              <a:rPr sz="1600" b="1" i="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1600" b="1" i="0" dirty="0" err="1">
                <a:solidFill>
                  <a:srgbClr val="222833"/>
                </a:solidFill>
                <a:latin typeface="微软雅黑"/>
              </a:rPr>
              <a:t>数据可视化</a:t>
            </a:r>
            <a:endParaRPr sz="1600" b="1" i="0" dirty="0">
              <a:solidFill>
                <a:srgbClr val="222833"/>
              </a:solidFill>
              <a:latin typeface="微软雅黑"/>
            </a:endParaRPr>
          </a:p>
        </p:txBody>
      </p:sp>
      <p:pic>
        <p:nvPicPr>
          <p:cNvPr id="11" name="图片 10" descr="Visualize Dataset space">
            <a:extLst>
              <a:ext uri="{FF2B5EF4-FFF2-40B4-BE49-F238E27FC236}">
                <a16:creationId xmlns:a16="http://schemas.microsoft.com/office/drawing/2014/main" id="{6D8C7F8D-313C-0D83-5585-FFA1D40165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213" y="1910086"/>
            <a:ext cx="4827574" cy="3900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1. 环境与工具准备：硬件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准备机械臂硬件，并配置腕部相机与外部相机。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准备一台带 NVIDIA GPU 的工作站。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教材建议显存 ≥ 8 GB，推荐 RTX 3060 及以上。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相机、机械臂、计算机三者需要在采集和部署阶段保持稳定一致。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1. 环境与工具准备：安装 LeRobot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10149840" cy="11887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2130552"/>
            <a:ext cx="972921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000" b="0" i="0">
                <a:solidFill>
                  <a:srgbClr val="222833"/>
                </a:solidFill>
                <a:latin typeface="Consolas"/>
              </a:rPr>
              <a:t>pip install "lerobot[sim]"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10241280" cy="30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0" i="0" dirty="0" err="1">
                <a:solidFill>
                  <a:srgbClr val="222833"/>
                </a:solidFill>
                <a:latin typeface="微软雅黑"/>
              </a:rPr>
              <a:t>该安装方式包含仿真、可视化与训练支持</a:t>
            </a:r>
            <a:r>
              <a:rPr sz="190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建议在独立 Python / Conda 环境中完成依赖管理。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1. 环境与工具准备：登录 Hugging 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10149840" cy="11887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2130552"/>
            <a:ext cx="972921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000" b="0" i="0">
                <a:solidFill>
                  <a:srgbClr val="222833"/>
                </a:solidFill>
                <a:latin typeface="Consolas"/>
              </a:rPr>
              <a:t>huggingface-cli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0" i="0">
                <a:solidFill>
                  <a:srgbClr val="222833"/>
                </a:solidFill>
                <a:latin typeface="微软雅黑"/>
              </a:rPr>
              <a:t>账号用于数据集上传、下载和后续模型 / 数据版本管理。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2. 实践步骤（1）：硬件与实验场景搭建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78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920" b="1">
                <a:solidFill>
                  <a:srgbClr val="31599B"/>
                </a:solidFill>
                <a:latin typeface="微软雅黑"/>
              </a:rPr>
              <a:t>1  </a:t>
            </a:r>
            <a:r>
              <a:rPr sz="1920">
                <a:solidFill>
                  <a:srgbClr val="222833"/>
                </a:solidFill>
                <a:latin typeface="微软雅黑"/>
              </a:rPr>
              <a:t>将机械臂牢固固定在工作台上。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920" b="1">
                <a:solidFill>
                  <a:srgbClr val="31599B"/>
                </a:solidFill>
                <a:latin typeface="微软雅黑"/>
              </a:rPr>
              <a:t>2  </a:t>
            </a:r>
            <a:r>
              <a:rPr sz="1920">
                <a:solidFill>
                  <a:srgbClr val="222833"/>
                </a:solidFill>
                <a:latin typeface="微软雅黑"/>
              </a:rPr>
              <a:t>配置双摄像头：腕部第一视角相机 + 顶部全局视角相机。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920" b="1">
                <a:solidFill>
                  <a:srgbClr val="31599B"/>
                </a:solidFill>
                <a:latin typeface="微软雅黑"/>
              </a:rPr>
              <a:t>3  </a:t>
            </a:r>
            <a:r>
              <a:rPr sz="1920">
                <a:solidFill>
                  <a:srgbClr val="222833"/>
                </a:solidFill>
                <a:latin typeface="微软雅黑"/>
              </a:rPr>
              <a:t>准备稳定光源、纯色背景和训练物体，例如积木、咖啡杯等。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920" b="1">
                <a:solidFill>
                  <a:srgbClr val="31599B"/>
                </a:solidFill>
                <a:latin typeface="微软雅黑"/>
              </a:rPr>
              <a:t>4  </a:t>
            </a:r>
            <a:r>
              <a:rPr sz="1920">
                <a:solidFill>
                  <a:srgbClr val="222833"/>
                </a:solidFill>
                <a:latin typeface="微软雅黑"/>
              </a:rPr>
              <a:t>标定相机内外参数，确保采集与推理阶段视觉参数严格一致。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2. 实践步骤（2）：Leader-Follower 遥操作采集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783080"/>
            <a:ext cx="10149840" cy="23317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1947672"/>
            <a:ext cx="9729215" cy="2011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20" b="0" i="0">
                <a:solidFill>
                  <a:srgbClr val="222833"/>
                </a:solidFill>
                <a:latin typeface="Consolas"/>
              </a:rPr>
              <a:t>lerobot record \</a:t>
            </a:r>
          </a:p>
          <a:p>
            <a:pPr algn="l">
              <a:lnSpc>
                <a:spcPct val="102000"/>
              </a:lnSpc>
            </a:pPr>
            <a:r>
              <a:rPr sz="1720" b="0" i="0">
                <a:solidFill>
                  <a:srgbClr val="222833"/>
                </a:solidFill>
                <a:latin typeface="Consolas"/>
              </a:rPr>
              <a:t>  --task pick_and_place_cube \</a:t>
            </a:r>
          </a:p>
          <a:p>
            <a:pPr algn="l">
              <a:lnSpc>
                <a:spcPct val="102000"/>
              </a:lnSpc>
            </a:pPr>
            <a:r>
              <a:rPr sz="1720" b="0" i="0">
                <a:solidFill>
                  <a:srgbClr val="222833"/>
                </a:solidFill>
                <a:latin typeface="Consolas"/>
              </a:rPr>
              <a:t>  --repo_id your_username/so100_pick_and_place \</a:t>
            </a:r>
          </a:p>
          <a:p>
            <a:pPr algn="l">
              <a:lnSpc>
                <a:spcPct val="102000"/>
              </a:lnSpc>
            </a:pPr>
            <a:r>
              <a:rPr sz="1720" b="0" i="0">
                <a:solidFill>
                  <a:srgbClr val="222833"/>
                </a:solidFill>
                <a:latin typeface="Consolas"/>
              </a:rPr>
              <a:t>  --num_episodes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1772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0" i="0">
                <a:solidFill>
                  <a:srgbClr val="222833"/>
                </a:solidFill>
                <a:latin typeface="微软雅黑"/>
              </a:rPr>
              <a:t>操作主臂完成任务，系统自动同步记录视觉、状态与动作，形成多模态 Episode。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遥操作采集：快捷键与采集规模建议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66420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保存 / 下一条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按 ▶ 键保存当前 Episode，并开始下一条。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重录 / 退出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按 ◀ 键重录当前 Episode；按 ESC 退出采集。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07808" y="1664208"/>
            <a:ext cx="64008" cy="3246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采集规模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每类任务建议 50～200 条高质量 Episode；单条时长 10～60 s。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采集时动作应平稳，避免急停和碰撞，优先保证轨迹质量。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2. 实践步骤（3）：数据质量检查与回放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采集完成后应立即进行质量检查，尽早发现系统性问题。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检查视觉质量、动作质量和物理安全。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不符合要求的 Episode 应及时剔除或重录。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4477D"/>
                </a:solidFill>
                <a:latin typeface="微软雅黑"/>
              </a:rPr>
              <a:t>高质量的小数据集，通常比混入大量失败轨迹的大数据集更适合入门训练。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使用 LeRobot 回放工具检查数据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828800"/>
            <a:ext cx="10149840" cy="132588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1993392"/>
            <a:ext cx="972921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50" b="0" i="0">
                <a:solidFill>
                  <a:srgbClr val="222833"/>
                </a:solidFill>
                <a:latin typeface="Consolas"/>
              </a:rPr>
              <a:t>lerobot replay --repo_id your_username/so100_pick_and_place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102412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重点检查：图像清晰度 / 曝光 / 遮挡；关节运动平滑性；轨迹连续性；碰撞、力反馈突变与限位触发。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2. 实践步骤（4）：数据格式与训练衔接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0332720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LeRobot 默认采用 MP4 视频 + Parquet 状态文件。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采集后的数据可直接用于模仿学习策略训练。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15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150">
                <a:solidFill>
                  <a:srgbClr val="222833"/>
                </a:solidFill>
                <a:latin typeface="微软雅黑"/>
              </a:rPr>
              <a:t>教材分别给出扩散策略和 ACT / 控制部署相关命令示例。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3892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规范化数据格式让“采集端”和“训练端”无需额外转换即可衔接。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扩散策略训练命令示例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27632"/>
            <a:ext cx="10378440" cy="41605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792224"/>
            <a:ext cx="995781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80" b="0" i="0">
                <a:solidFill>
                  <a:srgbClr val="222833"/>
                </a:solidFill>
                <a:latin typeface="Consolas"/>
              </a:rPr>
              <a:t>lerobot train \</a:t>
            </a:r>
          </a:p>
          <a:p>
            <a:pPr algn="l">
              <a:lnSpc>
                <a:spcPct val="102000"/>
              </a:lnSpc>
            </a:pPr>
            <a:r>
              <a:rPr sz="1480" b="0" i="0">
                <a:solidFill>
                  <a:srgbClr val="222833"/>
                </a:solidFill>
                <a:latin typeface="Consolas"/>
              </a:rPr>
              <a:t>  --policy=diffusion \</a:t>
            </a:r>
          </a:p>
          <a:p>
            <a:pPr algn="l">
              <a:lnSpc>
                <a:spcPct val="102000"/>
              </a:lnSpc>
            </a:pPr>
            <a:r>
              <a:rPr sz="1480" b="0" i="0">
                <a:solidFill>
                  <a:srgbClr val="222833"/>
                </a:solidFill>
                <a:latin typeface="Consolas"/>
              </a:rPr>
              <a:t>  --dataset.repo_id=your_username/so100_pick_and_place \</a:t>
            </a:r>
          </a:p>
          <a:p>
            <a:pPr algn="l">
              <a:lnSpc>
                <a:spcPct val="102000"/>
              </a:lnSpc>
            </a:pPr>
            <a:r>
              <a:rPr sz="1480" b="0" i="0">
                <a:solidFill>
                  <a:srgbClr val="222833"/>
                </a:solidFill>
                <a:latin typeface="Consolas"/>
              </a:rPr>
              <a:t>  --train_steps=20000 \</a:t>
            </a:r>
          </a:p>
          <a:p>
            <a:pPr algn="l">
              <a:lnSpc>
                <a:spcPct val="102000"/>
              </a:lnSpc>
            </a:pPr>
            <a:r>
              <a:rPr sz="1480" b="0" i="0">
                <a:solidFill>
                  <a:srgbClr val="222833"/>
                </a:solidFill>
                <a:latin typeface="Consolas"/>
              </a:rPr>
              <a:t>  --eval_freq=500 \</a:t>
            </a:r>
          </a:p>
          <a:p>
            <a:pPr algn="l">
              <a:lnSpc>
                <a:spcPct val="102000"/>
              </a:lnSpc>
            </a:pPr>
            <a:r>
              <a:rPr sz="1480" b="0" i="0">
                <a:solidFill>
                  <a:srgbClr val="222833"/>
                </a:solidFill>
                <a:latin typeface="Consolas"/>
              </a:rPr>
              <a:t>  --output_dir=outputs/so100_diffusion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策略控制 / 部署命令示例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783080"/>
            <a:ext cx="10378440" cy="2788920"/>
          </a:xfrm>
          <a:prstGeom prst="roundRect">
            <a:avLst/>
          </a:prstGeom>
          <a:solidFill>
            <a:srgbClr val="F4F6FA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1947672"/>
            <a:ext cx="9957815" cy="2468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620" b="0" i="0">
                <a:solidFill>
                  <a:srgbClr val="222833"/>
                </a:solidFill>
                <a:latin typeface="Consolas"/>
              </a:rPr>
              <a:t>lerobot control_robot \</a:t>
            </a:r>
          </a:p>
          <a:p>
            <a:pPr algn="l">
              <a:lnSpc>
                <a:spcPct val="102000"/>
              </a:lnSpc>
            </a:pPr>
            <a:r>
              <a:rPr sz="1620" b="0" i="0">
                <a:solidFill>
                  <a:srgbClr val="222833"/>
                </a:solidFill>
                <a:latin typeface="Consolas"/>
              </a:rPr>
              <a:t>  --robot.type=so100 \</a:t>
            </a:r>
          </a:p>
          <a:p>
            <a:pPr algn="l">
              <a:lnSpc>
                <a:spcPct val="102000"/>
              </a:lnSpc>
            </a:pPr>
            <a:r>
              <a:rPr sz="1620" b="0" i="0">
                <a:solidFill>
                  <a:srgbClr val="222833"/>
                </a:solidFill>
                <a:latin typeface="Consolas"/>
              </a:rPr>
              <a:t>  --control.type=record \</a:t>
            </a:r>
          </a:p>
          <a:p>
            <a:pPr algn="l">
              <a:lnSpc>
                <a:spcPct val="102000"/>
              </a:lnSpc>
            </a:pPr>
            <a:r>
              <a:rPr sz="1620" b="0" i="0">
                <a:solidFill>
                  <a:srgbClr val="222833"/>
                </a:solidFill>
                <a:latin typeface="Consolas"/>
              </a:rPr>
              <a:t>  --policy.path=outputs/so100_diffusion/checkpoint_last.pt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6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50" b="0" i="0">
                <a:solidFill>
                  <a:srgbClr val="222833"/>
                </a:solidFill>
                <a:latin typeface="微软雅黑"/>
              </a:rPr>
              <a:t>教材将该命令作为从训练结果到机器人控制的衔接示例。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24477D"/>
                </a:solidFill>
                <a:latin typeface="微软雅黑"/>
              </a:rPr>
              <a:t>3. 实验结果与分析：规范的数据工程能显著提高可用性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103327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1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10">
                <a:solidFill>
                  <a:srgbClr val="222833"/>
                </a:solidFill>
                <a:latin typeface="微软雅黑"/>
              </a:rPr>
              <a:t>教材介绍：使用 80～150 条遥操作演示训练扩散策略，在真实低成本机械臂上可取得较好的抓取—放置效果。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1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10">
                <a:solidFill>
                  <a:srgbClr val="222833"/>
                </a:solidFill>
                <a:latin typeface="微软雅黑"/>
              </a:rPr>
              <a:t>与未进行归一化和清洗的基线相比，标准化预处理与质量筛选能够提高成功率。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010" b="1">
                <a:solidFill>
                  <a:srgbClr val="222833"/>
                </a:solidFill>
                <a:latin typeface="微软雅黑"/>
              </a:rPr>
              <a:t>• </a:t>
            </a:r>
            <a:r>
              <a:rPr sz="2010">
                <a:solidFill>
                  <a:srgbClr val="222833"/>
                </a:solidFill>
                <a:latin typeface="微软雅黑"/>
              </a:rPr>
              <a:t>低成本硬件 + 规范化具身数据工程 + 开源框架，可在较短时间内完成从数据采集到真实部署的闭环。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实践扩展：从抓取—放置走向更复杂任务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664208"/>
            <a:ext cx="64008" cy="3246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31599B"/>
                </a:solidFill>
                <a:latin typeface="微软雅黑"/>
              </a:rPr>
              <a:t>抽屉开关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引入长时序接触与更复杂的关节运动。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664208"/>
            <a:ext cx="64008" cy="3246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2F8E72"/>
                </a:solidFill>
                <a:latin typeface="微软雅黑"/>
              </a:rPr>
              <a:t>物体堆叠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需要更高的空间精度与失败恢复能力。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07808" y="1664208"/>
            <a:ext cx="64008" cy="3246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1810512"/>
            <a:ext cx="286207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C58A24"/>
                </a:solidFill>
                <a:latin typeface="微软雅黑"/>
              </a:rPr>
              <a:t>双臂协同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368296"/>
            <a:ext cx="2862072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222833"/>
                </a:solidFill>
                <a:latin typeface="微软雅黑"/>
              </a:rPr>
              <a:t>扩展到多本体 / 多臂同步数据和复杂协同策略。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3036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24477D"/>
                </a:solidFill>
                <a:latin typeface="微软雅黑"/>
              </a:rPr>
              <a:t>逐步扩展任务，可形成个人或实验室的具身数据库。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7043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" y="0"/>
            <a:ext cx="219456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9968" y="1426464"/>
            <a:ext cx="173736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>
                <a:solidFill>
                  <a:srgbClr val="31599B"/>
                </a:solidFill>
                <a:latin typeface="微软雅黑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645920"/>
            <a:ext cx="7635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24477D"/>
                </a:solidFill>
                <a:latin typeface="微软雅黑"/>
              </a:rPr>
              <a:t>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第10章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10.8 本章小结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10332720" cy="2717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介绍了具身数据的概念、内涵、核心特点与体系结构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梳理了主要格式规范、多模态对齐方法和开源数据标准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介绍了遥操作、动捕、仿真生成等采集方式及质量保障流程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分析了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OXE、DROID、HM3D、ProcTHOR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与白虎等典型数据集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2400" b="1" dirty="0">
                <a:solidFill>
                  <a:srgbClr val="222833"/>
                </a:solidFill>
                <a:latin typeface="微软雅黑"/>
              </a:rPr>
              <a:t>•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给出了数据训练流程、预处理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/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增强技术，以及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LeRobot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 </a:t>
            </a:r>
            <a:r>
              <a:rPr sz="2400" dirty="0" err="1">
                <a:solidFill>
                  <a:srgbClr val="222833"/>
                </a:solidFill>
                <a:latin typeface="微软雅黑"/>
              </a:rPr>
              <a:t>机械臂实践案例</a:t>
            </a:r>
            <a:r>
              <a:rPr sz="240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B7C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3716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具身智能导论 · 第 10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具身数据与采集训练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27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>
                <a:solidFill>
                  <a:srgbClr val="24477D"/>
                </a:solidFill>
                <a:latin typeface="微软雅黑"/>
              </a:rPr>
              <a:t>从“数据”到“技能”的完整链路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53312"/>
            <a:ext cx="11109960" cy="9144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57432" y="6473952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8C98AA"/>
                </a:solidFill>
                <a:latin typeface="微软雅黑"/>
              </a:rPr>
              <a:t>144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64008" cy="960120"/>
          </a:xfrm>
          <a:prstGeom prst="rect">
            <a:avLst/>
          </a:prstGeom>
          <a:solidFill>
            <a:srgbClr val="31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31599B"/>
                </a:solidFill>
                <a:latin typeface="微软雅黑"/>
              </a:rPr>
              <a:t>数据采集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9075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5379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05379" y="1828800"/>
            <a:ext cx="64008" cy="960120"/>
          </a:xfrm>
          <a:prstGeom prst="rect">
            <a:avLst/>
          </a:prstGeom>
          <a:solidFill>
            <a:srgbClr val="2F8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9971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F8E72"/>
                </a:solidFill>
                <a:latin typeface="微软雅黑"/>
              </a:rPr>
              <a:t>标准存储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7526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3830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43830" y="1828800"/>
            <a:ext cx="64008" cy="960120"/>
          </a:xfrm>
          <a:prstGeom prst="rect">
            <a:avLst/>
          </a:prstGeom>
          <a:solidFill>
            <a:srgbClr val="C58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08422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58A24"/>
                </a:solidFill>
                <a:latin typeface="微软雅黑"/>
              </a:rPr>
              <a:t>质量保障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5977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2281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82281" y="1828800"/>
            <a:ext cx="64008" cy="960120"/>
          </a:xfrm>
          <a:prstGeom prst="rect">
            <a:avLst/>
          </a:prstGeom>
          <a:solidFill>
            <a:srgbClr val="C63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6873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C63F45"/>
                </a:solidFill>
                <a:latin typeface="微软雅黑"/>
              </a:rPr>
              <a:t>模型训练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4428" y="2103120"/>
            <a:ext cx="1280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8C98AA"/>
                </a:solidFill>
                <a:latin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0732" y="1828800"/>
            <a:ext cx="2064715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20732" y="1828800"/>
            <a:ext cx="64008" cy="960120"/>
          </a:xfrm>
          <a:prstGeom prst="rect">
            <a:avLst/>
          </a:prstGeom>
          <a:solidFill>
            <a:srgbClr val="755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85324" y="2057400"/>
            <a:ext cx="17355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7558A8"/>
                </a:solidFill>
                <a:latin typeface="微软雅黑"/>
              </a:rPr>
              <a:t>策略部署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22191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 i="0" dirty="0" err="1">
                <a:solidFill>
                  <a:srgbClr val="222833"/>
                </a:solidFill>
                <a:latin typeface="微软雅黑"/>
              </a:rPr>
              <a:t>具身智能的数据工程不是单一“采集”步骤，而是贯穿采集、对齐、存储、清洗、训练、评估与部署的全流程</a:t>
            </a:r>
            <a:r>
              <a:rPr sz="2000" b="0" i="0" dirty="0">
                <a:solidFill>
                  <a:srgbClr val="222833"/>
                </a:solidFill>
                <a:latin typeface="微软雅黑"/>
              </a:rPr>
              <a:t>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93792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50" b="1" i="0">
                <a:solidFill>
                  <a:srgbClr val="24477D"/>
                </a:solidFill>
                <a:latin typeface="微软雅黑"/>
              </a:rPr>
              <a:t>数据质量、数据多样性和工程标准化共同决定策略的最终上限。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97480"/>
            <a:ext cx="1219169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800" b="1" i="0">
                <a:solidFill>
                  <a:srgbClr val="FFFFFF"/>
                </a:solidFill>
                <a:latin typeface="微软雅黑"/>
              </a:rPr>
              <a:t>谢 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5351</Words>
  <Application>Microsoft Office PowerPoint</Application>
  <PresentationFormat>宽屏</PresentationFormat>
  <Paragraphs>1228</Paragraphs>
  <Slides>145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145</vt:i4>
      </vt:variant>
    </vt:vector>
  </HeadingPairs>
  <TitlesOfParts>
    <vt:vector size="151" baseType="lpstr">
      <vt:lpstr>Noto Serif CJK SC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具身智能导论 第10章 具身数据与采集训练</dc:title>
  <dc:subject>机械工业出版社《具身智能导论》配套课件</dc:subject>
  <dc:creator>国家地方共建人形机器人创新中心</dc:creator>
  <cp:keywords>具身智能, 具身数据, LeRobot, 白虎数据集, 数据采集, 训练</cp:keywords>
  <dc:description>generated using python-pptx</dc:description>
  <cp:lastModifiedBy>Qin JJ</cp:lastModifiedBy>
  <cp:revision>6</cp:revision>
  <dcterms:created xsi:type="dcterms:W3CDTF">2013-01-27T09:14:16Z</dcterms:created>
  <dcterms:modified xsi:type="dcterms:W3CDTF">2026-09-13T15:07:32Z</dcterms:modified>
  <cp:category/>
</cp:coreProperties>
</file>