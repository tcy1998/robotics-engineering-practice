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7"/>
  </p:notesMasterIdLst>
  <p:sldIdLst>
    <p:sldId id="392"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9" r:id="rId94"/>
    <p:sldId id="350"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 id="367" r:id="rId111"/>
    <p:sldId id="368" r:id="rId112"/>
    <p:sldId id="369" r:id="rId113"/>
    <p:sldId id="370" r:id="rId114"/>
    <p:sldId id="371" r:id="rId115"/>
    <p:sldId id="372" r:id="rId116"/>
    <p:sldId id="373" r:id="rId117"/>
    <p:sldId id="374" r:id="rId118"/>
    <p:sldId id="375" r:id="rId119"/>
    <p:sldId id="376" r:id="rId120"/>
    <p:sldId id="377" r:id="rId121"/>
    <p:sldId id="378" r:id="rId122"/>
    <p:sldId id="379" r:id="rId123"/>
    <p:sldId id="380" r:id="rId124"/>
    <p:sldId id="381" r:id="rId125"/>
    <p:sldId id="393" r:id="rId1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47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41" autoAdjust="0"/>
    <p:restoredTop sz="94610"/>
  </p:normalViewPr>
  <p:slideViewPr>
    <p:cSldViewPr snapToGrid="0" snapToObjects="1">
      <p:cViewPr varScale="1">
        <p:scale>
          <a:sx n="86" d="100"/>
          <a:sy n="86" d="100"/>
        </p:scale>
        <p:origin x="571" y="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554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等线"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125</a:t>
            </a:fld>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31599B"/>
          </a:solidFill>
          <a:ln w="12700">
            <a:solidFill>
              <a:srgbClr val="31599B"/>
            </a:solidFill>
            <a:prstDash val="solid"/>
          </a:ln>
        </p:spPr>
      </p:sp>
      <p:sp>
        <p:nvSpPr>
          <p:cNvPr id="3" name="Shape 1"/>
          <p:cNvSpPr/>
          <p:nvPr/>
        </p:nvSpPr>
        <p:spPr>
          <a:xfrm>
            <a:off x="118872" y="0"/>
            <a:ext cx="41148" cy="6858000"/>
          </a:xfrm>
          <a:prstGeom prst="rect">
            <a:avLst/>
          </a:prstGeom>
          <a:solidFill>
            <a:srgbClr val="AFC0DF"/>
          </a:solidFill>
          <a:ln w="12700">
            <a:solidFill>
              <a:srgbClr val="AFC0DF"/>
            </a:solidFill>
            <a:prstDash val="solid"/>
          </a:ln>
        </p:spPr>
      </p:sp>
      <p:sp>
        <p:nvSpPr>
          <p:cNvPr id="4" name="Text 2"/>
          <p:cNvSpPr/>
          <p:nvPr/>
        </p:nvSpPr>
        <p:spPr>
          <a:xfrm>
            <a:off x="438912" y="164592"/>
            <a:ext cx="3017520" cy="219456"/>
          </a:xfrm>
          <a:prstGeom prst="rect">
            <a:avLst/>
          </a:prstGeom>
          <a:noFill/>
          <a:ln/>
        </p:spPr>
        <p:txBody>
          <a:bodyPr wrap="square" lIns="0" tIns="0" rIns="0" bIns="0" rtlCol="0" anchor="ctr"/>
          <a:lstStyle/>
          <a:p>
            <a:pPr marL="0" indent="0">
              <a:buNone/>
            </a:pPr>
            <a:r>
              <a:rPr lang="en-US" sz="900" dirty="0">
                <a:solidFill>
                  <a:srgbClr val="65738A"/>
                </a:solidFill>
                <a:latin typeface="Noto Sans CJK SC" pitchFamily="34" charset="0"/>
                <a:ea typeface="Noto Sans CJK SC" pitchFamily="34" charset="-122"/>
                <a:cs typeface="Noto Sans CJK SC" pitchFamily="34" charset="-120"/>
              </a:rPr>
              <a:t>具身智能导论 · 第4章</a:t>
            </a:r>
            <a:endParaRPr lang="en-US" sz="900" dirty="0"/>
          </a:p>
        </p:txBody>
      </p:sp>
      <p:sp>
        <p:nvSpPr>
          <p:cNvPr id="5" name="Text 3"/>
          <p:cNvSpPr/>
          <p:nvPr/>
        </p:nvSpPr>
        <p:spPr>
          <a:xfrm>
            <a:off x="8412480" y="164592"/>
            <a:ext cx="3154680" cy="219456"/>
          </a:xfrm>
          <a:prstGeom prst="rect">
            <a:avLst/>
          </a:prstGeom>
          <a:noFill/>
          <a:ln/>
        </p:spPr>
        <p:txBody>
          <a:bodyPr wrap="square" lIns="0" tIns="0" rIns="0" bIns="0" rtlCol="0" anchor="ctr"/>
          <a:lstStyle/>
          <a:p>
            <a:pPr marL="0" indent="0" algn="r">
              <a:buNone/>
            </a:pPr>
            <a:r>
              <a:rPr lang="en-US" sz="900" dirty="0">
                <a:solidFill>
                  <a:srgbClr val="8C98AA"/>
                </a:solidFill>
                <a:latin typeface="Noto Sans CJK SC" pitchFamily="34" charset="0"/>
                <a:ea typeface="Noto Sans CJK SC" pitchFamily="34" charset="-122"/>
                <a:cs typeface="Noto Sans CJK SC" pitchFamily="34" charset="-120"/>
              </a:rPr>
              <a:t>遥操作交互与模仿学习</a:t>
            </a:r>
            <a:endParaRPr lang="en-US" sz="9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051560" cy="6858000"/>
          </a:xfrm>
          <a:prstGeom prst="parallelogram">
            <a:avLst/>
          </a:prstGeom>
          <a:solidFill>
            <a:srgbClr val="31599B"/>
          </a:solidFill>
          <a:ln w="12700">
            <a:solidFill>
              <a:srgbClr val="31599B"/>
            </a:solidFill>
            <a:prstDash val="solid"/>
          </a:ln>
        </p:spPr>
        <p:txBody>
          <a:bodyPr/>
          <a:lstStyle/>
          <a:p>
            <a:endParaRPr lang="zh-CN" altLang="en-US"/>
          </a:p>
        </p:txBody>
      </p:sp>
      <p:sp>
        <p:nvSpPr>
          <p:cNvPr id="3" name="Shape 1"/>
          <p:cNvSpPr/>
          <p:nvPr/>
        </p:nvSpPr>
        <p:spPr>
          <a:xfrm>
            <a:off x="804672" y="0"/>
            <a:ext cx="219456" cy="6858000"/>
          </a:xfrm>
          <a:prstGeom prst="parallelogram">
            <a:avLst/>
          </a:prstGeom>
          <a:solidFill>
            <a:srgbClr val="B6C5E0"/>
          </a:solidFill>
          <a:ln w="12700">
            <a:solidFill>
              <a:srgbClr val="B6C5E0"/>
            </a:solidFill>
            <a:prstDash val="solid"/>
          </a:ln>
        </p:spPr>
        <p:txBody>
          <a:bodyPr/>
          <a:lstStyle/>
          <a:p>
            <a:endParaRPr lang="zh-CN" altLang="en-US"/>
          </a:p>
        </p:txBody>
      </p:sp>
      <p:sp>
        <p:nvSpPr>
          <p:cNvPr id="4" name="Text 2"/>
          <p:cNvSpPr/>
          <p:nvPr/>
        </p:nvSpPr>
        <p:spPr>
          <a:xfrm>
            <a:off x="1325880" y="749808"/>
            <a:ext cx="5303520" cy="329184"/>
          </a:xfrm>
          <a:prstGeom prst="rect">
            <a:avLst/>
          </a:prstGeom>
          <a:noFill/>
          <a:ln/>
        </p:spPr>
        <p:txBody>
          <a:bodyPr wrap="square" lIns="0" tIns="0" rIns="0" bIns="0" rtlCol="0" anchor="ctr"/>
          <a:lstStyle/>
          <a:p>
            <a:pPr marL="0" indent="0">
              <a:buNone/>
            </a:pPr>
            <a:r>
              <a:rPr lang="en-US" sz="1500" b="1" dirty="0">
                <a:solidFill>
                  <a:srgbClr val="31599B"/>
                </a:solidFill>
                <a:latin typeface="Noto Sans CJK SC" pitchFamily="34" charset="0"/>
                <a:ea typeface="Noto Sans CJK SC" pitchFamily="34" charset="-122"/>
                <a:cs typeface="Noto Sans CJK SC" pitchFamily="34" charset="-120"/>
              </a:rPr>
              <a:t>普通高等教育新工科具身智能系列教材</a:t>
            </a:r>
            <a:endParaRPr lang="en-US" sz="1500" dirty="0"/>
          </a:p>
        </p:txBody>
      </p:sp>
      <p:sp>
        <p:nvSpPr>
          <p:cNvPr id="5" name="Text 3"/>
          <p:cNvSpPr/>
          <p:nvPr/>
        </p:nvSpPr>
        <p:spPr>
          <a:xfrm>
            <a:off x="3774440" y="1867152"/>
            <a:ext cx="5303520" cy="594360"/>
          </a:xfrm>
          <a:prstGeom prst="rect">
            <a:avLst/>
          </a:prstGeom>
          <a:noFill/>
          <a:ln/>
        </p:spPr>
        <p:txBody>
          <a:bodyPr wrap="square" lIns="0" tIns="0" rIns="0" bIns="0" rtlCol="0" anchor="ctr"/>
          <a:lstStyle/>
          <a:p>
            <a:pPr marL="0" indent="0" algn="ctr">
              <a:buNone/>
            </a:pPr>
            <a:r>
              <a:rPr lang="en-US" sz="2800" b="1" dirty="0">
                <a:solidFill>
                  <a:srgbClr val="222833"/>
                </a:solidFill>
                <a:latin typeface="Noto Sans CJK SC" pitchFamily="34" charset="0"/>
                <a:ea typeface="Noto Sans CJK SC" pitchFamily="34" charset="-122"/>
                <a:cs typeface="Noto Sans CJK SC" pitchFamily="34" charset="-120"/>
              </a:rPr>
              <a:t>具身智能导论</a:t>
            </a:r>
            <a:endParaRPr lang="en-US" sz="2800" dirty="0"/>
          </a:p>
        </p:txBody>
      </p:sp>
      <p:sp>
        <p:nvSpPr>
          <p:cNvPr id="6" name="Text 4"/>
          <p:cNvSpPr/>
          <p:nvPr/>
        </p:nvSpPr>
        <p:spPr>
          <a:xfrm>
            <a:off x="3134360" y="2940304"/>
            <a:ext cx="6990080" cy="658368"/>
          </a:xfrm>
          <a:prstGeom prst="rect">
            <a:avLst/>
          </a:prstGeom>
          <a:noFill/>
          <a:ln/>
        </p:spPr>
        <p:txBody>
          <a:bodyPr wrap="square" lIns="0" tIns="0" rIns="0" bIns="0" rtlCol="0" anchor="ctr"/>
          <a:lstStyle/>
          <a:p>
            <a:pPr algn="ctr"/>
            <a:r>
              <a:rPr lang="en-US" sz="3600" b="1" dirty="0">
                <a:solidFill>
                  <a:srgbClr val="24477D"/>
                </a:solidFill>
                <a:latin typeface="Noto Sans CJK SC" pitchFamily="34" charset="0"/>
                <a:ea typeface="Noto Sans CJK SC" pitchFamily="34" charset="-122"/>
                <a:cs typeface="Noto Sans CJK SC" pitchFamily="34" charset="-120"/>
              </a:rPr>
              <a:t>第 4 章 </a:t>
            </a:r>
            <a:r>
              <a:rPr lang="en-US" altLang="zh-CN" sz="3600" b="1" dirty="0" err="1">
                <a:solidFill>
                  <a:srgbClr val="24477D"/>
                </a:solidFill>
                <a:latin typeface="Noto Sans CJK SC" pitchFamily="34" charset="0"/>
                <a:ea typeface="Noto Sans CJK SC" pitchFamily="34" charset="-122"/>
                <a:cs typeface="Noto Sans CJK SC" pitchFamily="34" charset="-120"/>
              </a:rPr>
              <a:t>遥操作交互与模仿学习</a:t>
            </a:r>
            <a:endParaRPr lang="en-US" sz="3600" dirty="0"/>
          </a:p>
        </p:txBody>
      </p:sp>
      <p:sp>
        <p:nvSpPr>
          <p:cNvPr id="7" name="Text 5"/>
          <p:cNvSpPr/>
          <p:nvPr/>
        </p:nvSpPr>
        <p:spPr>
          <a:xfrm>
            <a:off x="3739896" y="4183888"/>
            <a:ext cx="5779008" cy="347472"/>
          </a:xfrm>
          <a:prstGeom prst="rect">
            <a:avLst/>
          </a:prstGeom>
          <a:noFill/>
          <a:ln/>
        </p:spPr>
        <p:txBody>
          <a:bodyPr wrap="square" lIns="0" tIns="0" rIns="0" bIns="0" rtlCol="0" anchor="ctr"/>
          <a:lstStyle/>
          <a:p>
            <a:pPr algn="ctr"/>
            <a:r>
              <a:rPr lang="en-US" altLang="zh-CN" dirty="0">
                <a:solidFill>
                  <a:srgbClr val="5B5B5B"/>
                </a:solidFill>
                <a:latin typeface="微软雅黑" pitchFamily="34" charset="0"/>
                <a:ea typeface="微软雅黑" pitchFamily="34" charset="-122"/>
                <a:cs typeface="微软雅黑" pitchFamily="34" charset="-120"/>
              </a:rPr>
              <a:t>秦建军  </a:t>
            </a:r>
            <a:r>
              <a:rPr lang="en-US" altLang="zh-CN" dirty="0" err="1">
                <a:solidFill>
                  <a:srgbClr val="5B5B5B"/>
                </a:solidFill>
                <a:latin typeface="微软雅黑" pitchFamily="34" charset="0"/>
                <a:ea typeface="微软雅黑" pitchFamily="34" charset="-122"/>
                <a:cs typeface="微软雅黑" pitchFamily="34" charset="-120"/>
              </a:rPr>
              <a:t>江磊</a:t>
            </a:r>
            <a:r>
              <a:rPr lang="en-US" altLang="zh-CN" dirty="0">
                <a:solidFill>
                  <a:srgbClr val="5B5B5B"/>
                </a:solidFill>
                <a:latin typeface="微软雅黑" pitchFamily="34" charset="0"/>
                <a:ea typeface="微软雅黑" pitchFamily="34" charset="-122"/>
                <a:cs typeface="微软雅黑" pitchFamily="34" charset="-120"/>
              </a:rPr>
              <a:t>  </a:t>
            </a:r>
            <a:r>
              <a:rPr lang="en-US" altLang="zh-CN" dirty="0" err="1">
                <a:solidFill>
                  <a:srgbClr val="5B5B5B"/>
                </a:solidFill>
                <a:latin typeface="微软雅黑" pitchFamily="34" charset="0"/>
                <a:ea typeface="微软雅黑" pitchFamily="34" charset="-122"/>
                <a:cs typeface="微软雅黑" pitchFamily="34" charset="-120"/>
              </a:rPr>
              <a:t>刘宇飞</a:t>
            </a:r>
            <a:r>
              <a:rPr lang="en-US" altLang="zh-CN" dirty="0">
                <a:solidFill>
                  <a:srgbClr val="5B5B5B"/>
                </a:solidFill>
                <a:latin typeface="微软雅黑" pitchFamily="34" charset="0"/>
                <a:ea typeface="微软雅黑" pitchFamily="34" charset="-122"/>
                <a:cs typeface="微软雅黑" pitchFamily="34" charset="-120"/>
              </a:rPr>
              <a:t>  </a:t>
            </a:r>
            <a:r>
              <a:rPr lang="en-US" altLang="zh-CN" dirty="0" err="1">
                <a:solidFill>
                  <a:srgbClr val="5B5B5B"/>
                </a:solidFill>
                <a:latin typeface="微软雅黑" pitchFamily="34" charset="0"/>
                <a:ea typeface="微软雅黑" pitchFamily="34" charset="-122"/>
                <a:cs typeface="微软雅黑" pitchFamily="34" charset="-120"/>
              </a:rPr>
              <a:t>邢伯阳</a:t>
            </a:r>
            <a:r>
              <a:rPr lang="en-US" altLang="zh-CN" dirty="0">
                <a:solidFill>
                  <a:srgbClr val="5B5B5B"/>
                </a:solidFill>
                <a:latin typeface="微软雅黑" pitchFamily="34" charset="0"/>
                <a:ea typeface="微软雅黑" pitchFamily="34" charset="-122"/>
                <a:cs typeface="微软雅黑" pitchFamily="34" charset="-120"/>
              </a:rPr>
              <a:t>  </a:t>
            </a:r>
            <a:r>
              <a:rPr lang="en-US" altLang="zh-CN" dirty="0" err="1">
                <a:solidFill>
                  <a:srgbClr val="5B5B5B"/>
                </a:solidFill>
                <a:latin typeface="微软雅黑" pitchFamily="34" charset="0"/>
                <a:ea typeface="微软雅黑" pitchFamily="34" charset="-122"/>
                <a:cs typeface="微软雅黑" pitchFamily="34" charset="-120"/>
              </a:rPr>
              <a:t>王陆旸</a:t>
            </a:r>
            <a:r>
              <a:rPr lang="en-US" altLang="zh-CN" dirty="0">
                <a:solidFill>
                  <a:srgbClr val="5B5B5B"/>
                </a:solidFill>
                <a:latin typeface="微软雅黑" pitchFamily="34" charset="0"/>
                <a:ea typeface="微软雅黑" pitchFamily="34" charset="-122"/>
                <a:cs typeface="微软雅黑" pitchFamily="34" charset="-120"/>
              </a:rPr>
              <a:t>  </a:t>
            </a:r>
            <a:r>
              <a:rPr lang="en-US" altLang="zh-CN" dirty="0" err="1">
                <a:solidFill>
                  <a:srgbClr val="5B5B5B"/>
                </a:solidFill>
                <a:latin typeface="微软雅黑" pitchFamily="34" charset="0"/>
                <a:ea typeface="微软雅黑" pitchFamily="34" charset="-122"/>
                <a:cs typeface="微软雅黑" pitchFamily="34" charset="-120"/>
              </a:rPr>
              <a:t>李国通</a:t>
            </a:r>
            <a:endParaRPr lang="en-US" altLang="zh-CN" dirty="0"/>
          </a:p>
        </p:txBody>
      </p:sp>
      <p:sp>
        <p:nvSpPr>
          <p:cNvPr id="8" name="Text 6"/>
          <p:cNvSpPr/>
          <p:nvPr/>
        </p:nvSpPr>
        <p:spPr>
          <a:xfrm>
            <a:off x="8814994" y="824736"/>
            <a:ext cx="3035812" cy="310896"/>
          </a:xfrm>
          <a:prstGeom prst="rect">
            <a:avLst/>
          </a:prstGeom>
          <a:noFill/>
          <a:ln/>
        </p:spPr>
        <p:txBody>
          <a:bodyPr wrap="square" lIns="0" tIns="0" rIns="0" bIns="0" rtlCol="0" anchor="ctr"/>
          <a:lstStyle/>
          <a:p>
            <a:r>
              <a:rPr lang="zh-CN" altLang="en-US" sz="1200" dirty="0">
                <a:solidFill>
                  <a:srgbClr val="5B5B5B"/>
                </a:solidFill>
                <a:latin typeface="微软雅黑" pitchFamily="34" charset="0"/>
                <a:ea typeface="微软雅黑" pitchFamily="34" charset="-122"/>
                <a:cs typeface="微软雅黑" pitchFamily="34" charset="-120"/>
              </a:rPr>
              <a:t>国家地方共建人形机器人创新中心组织编写</a:t>
            </a:r>
            <a:endParaRPr lang="en-US" altLang="zh-CN" sz="1200" dirty="0"/>
          </a:p>
        </p:txBody>
      </p:sp>
      <p:sp>
        <p:nvSpPr>
          <p:cNvPr id="12" name="Text 6">
            <a:extLst>
              <a:ext uri="{FF2B5EF4-FFF2-40B4-BE49-F238E27FC236}">
                <a16:creationId xmlns:a16="http://schemas.microsoft.com/office/drawing/2014/main" id="{CE2C3258-81C6-0D2D-C4FD-891592355382}"/>
              </a:ext>
            </a:extLst>
          </p:cNvPr>
          <p:cNvSpPr/>
          <p:nvPr/>
        </p:nvSpPr>
        <p:spPr>
          <a:xfrm>
            <a:off x="4379976" y="4805680"/>
            <a:ext cx="4367784" cy="310896"/>
          </a:xfrm>
          <a:prstGeom prst="rect">
            <a:avLst/>
          </a:prstGeom>
          <a:noFill/>
          <a:ln/>
        </p:spPr>
        <p:txBody>
          <a:bodyPr wrap="square" lIns="0" tIns="0" rIns="0" bIns="0" rtlCol="0" anchor="ctr"/>
          <a:lstStyle/>
          <a:p>
            <a:pPr marL="0" indent="0" algn="ctr">
              <a:buNone/>
            </a:pPr>
            <a:r>
              <a:rPr lang="en-US" sz="1250" dirty="0">
                <a:solidFill>
                  <a:srgbClr val="7B8798"/>
                </a:solidFill>
                <a:latin typeface="Noto Sans CJK SC" pitchFamily="34" charset="0"/>
                <a:ea typeface="Noto Sans CJK SC" pitchFamily="34" charset="-122"/>
                <a:cs typeface="Noto Sans CJK SC" pitchFamily="34" charset="-120"/>
              </a:rPr>
              <a:t>机械工业出版社 · 《具身智能导论》配套课件</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开篇：为什么具身智能需要“向人学习”？</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914400" y="1664208"/>
            <a:ext cx="10241280" cy="841248"/>
          </a:xfrm>
          <a:prstGeom prst="rect">
            <a:avLst/>
          </a:prstGeom>
          <a:noFill/>
          <a:ln/>
        </p:spPr>
        <p:txBody>
          <a:bodyPr wrap="square" lIns="0" tIns="0" rIns="0" bIns="0" rtlCol="0" anchor="ctr"/>
          <a:lstStyle/>
          <a:p>
            <a:pPr marL="0" indent="0" algn="ctr">
              <a:buNone/>
            </a:pPr>
            <a:r>
              <a:rPr lang="en-US" sz="3100" b="1" dirty="0">
                <a:solidFill>
                  <a:srgbClr val="24477D"/>
                </a:solidFill>
                <a:latin typeface="Noto Serif CJK SC" pitchFamily="34" charset="0"/>
                <a:ea typeface="Noto Serif CJK SC" pitchFamily="34" charset="-122"/>
                <a:cs typeface="Noto Serif CJK SC" pitchFamily="34" charset="-120"/>
              </a:rPr>
              <a:t>“学莫便乎近其人。”</a:t>
            </a:r>
            <a:endParaRPr lang="en-US" sz="3100" dirty="0"/>
          </a:p>
        </p:txBody>
      </p:sp>
      <p:sp>
        <p:nvSpPr>
          <p:cNvPr id="5" name="Text 3"/>
          <p:cNvSpPr/>
          <p:nvPr/>
        </p:nvSpPr>
        <p:spPr>
          <a:xfrm>
            <a:off x="7543800" y="2578608"/>
            <a:ext cx="2834640" cy="310896"/>
          </a:xfrm>
          <a:prstGeom prst="rect">
            <a:avLst/>
          </a:prstGeom>
          <a:noFill/>
          <a:ln/>
        </p:spPr>
        <p:txBody>
          <a:bodyPr wrap="square" lIns="0" tIns="0" rIns="0" bIns="0" rtlCol="0" anchor="ctr"/>
          <a:lstStyle/>
          <a:p>
            <a:pPr marL="0" indent="0" algn="r">
              <a:buNone/>
            </a:pPr>
            <a:r>
              <a:rPr lang="en-US" sz="1400" dirty="0">
                <a:solidFill>
                  <a:srgbClr val="667085"/>
                </a:solidFill>
                <a:latin typeface="Noto Serif CJK SC" pitchFamily="34" charset="0"/>
                <a:ea typeface="Noto Serif CJK SC" pitchFamily="34" charset="-122"/>
                <a:cs typeface="Noto Serif CJK SC" pitchFamily="34" charset="-120"/>
              </a:rPr>
              <a:t>—— 荀子《劝学》</a:t>
            </a:r>
            <a:endParaRPr lang="en-US" sz="1400" dirty="0"/>
          </a:p>
        </p:txBody>
      </p:sp>
      <p:sp>
        <p:nvSpPr>
          <p:cNvPr id="6" name="Shape 4"/>
          <p:cNvSpPr/>
          <p:nvPr/>
        </p:nvSpPr>
        <p:spPr>
          <a:xfrm>
            <a:off x="960120" y="3200400"/>
            <a:ext cx="10241280" cy="2057400"/>
          </a:xfrm>
          <a:prstGeom prst="roundRect">
            <a:avLst>
              <a:gd name="adj" fmla="val 2222"/>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7" name="Shape 5"/>
          <p:cNvSpPr/>
          <p:nvPr/>
        </p:nvSpPr>
        <p:spPr>
          <a:xfrm>
            <a:off x="960120" y="3200400"/>
            <a:ext cx="64008" cy="2057400"/>
          </a:xfrm>
          <a:prstGeom prst="rect">
            <a:avLst/>
          </a:prstGeom>
          <a:solidFill>
            <a:srgbClr val="C63F45"/>
          </a:solidFill>
          <a:ln w="12700">
            <a:solidFill>
              <a:srgbClr val="C63F45"/>
            </a:solidFill>
            <a:prstDash val="solid"/>
          </a:ln>
        </p:spPr>
      </p:sp>
      <p:sp>
        <p:nvSpPr>
          <p:cNvPr id="9" name="Text 7"/>
          <p:cNvSpPr/>
          <p:nvPr/>
        </p:nvSpPr>
        <p:spPr>
          <a:xfrm>
            <a:off x="1170432" y="3767328"/>
            <a:ext cx="9857232" cy="1344168"/>
          </a:xfrm>
          <a:prstGeom prst="rect">
            <a:avLst/>
          </a:prstGeom>
          <a:noFill/>
          <a:ln/>
        </p:spPr>
        <p:txBody>
          <a:bodyPr wrap="square" lIns="254" tIns="254" rIns="254" bIns="254" rtlCol="0" anchor="t">
            <a:normAutofit/>
          </a:bodyPr>
          <a:lstStyle/>
          <a:p>
            <a:pPr marL="0" indent="0">
              <a:buNone/>
            </a:pPr>
            <a:r>
              <a:rPr lang="en-US" sz="2000" dirty="0" err="1">
                <a:solidFill>
                  <a:srgbClr val="222833"/>
                </a:solidFill>
                <a:latin typeface="Noto Sans CJK SC" pitchFamily="34" charset="0"/>
                <a:ea typeface="Noto Sans CJK SC" pitchFamily="34" charset="-122"/>
                <a:cs typeface="Noto Sans CJK SC" pitchFamily="34" charset="-120"/>
              </a:rPr>
              <a:t>机器人在连续闭环中完成抓取、搬运、装配和导航：当前动作会改变后续状态，而接触、遮挡、延迟与扰动又持续影响决策</a:t>
            </a:r>
            <a:r>
              <a:rPr lang="en-US" sz="2000" dirty="0">
                <a:solidFill>
                  <a:srgbClr val="222833"/>
                </a:solidFill>
                <a:latin typeface="Noto Sans CJK SC" pitchFamily="34" charset="0"/>
                <a:ea typeface="Noto Sans CJK SC" pitchFamily="34" charset="-122"/>
                <a:cs typeface="Noto Sans CJK SC" pitchFamily="34" charset="-120"/>
              </a:rPr>
              <a:t>。</a:t>
            </a:r>
            <a:r>
              <a:rPr lang="zh-CN" altLang="en-US" sz="2000" dirty="0">
                <a:solidFill>
                  <a:srgbClr val="222833"/>
                </a:solidFill>
                <a:latin typeface="Noto Sans CJK SC" pitchFamily="34" charset="0"/>
                <a:ea typeface="Noto Sans CJK SC" pitchFamily="34" charset="-122"/>
                <a:cs typeface="Noto Sans CJK SC" pitchFamily="34" charset="-120"/>
              </a:rPr>
              <a:t>向人学习是一种便捷高效的方式。</a:t>
            </a:r>
            <a:endParaRPr lang="en-US" sz="20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用专家演示缩短“试错学习”路径</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65960"/>
            <a:ext cx="2560320" cy="1417320"/>
          </a:xfrm>
          <a:prstGeom prst="roundRect">
            <a:avLst>
              <a:gd name="adj" fmla="val 2581"/>
            </a:avLst>
          </a:prstGeom>
          <a:solidFill>
            <a:srgbClr val="EDF2FA"/>
          </a:solidFill>
          <a:ln w="12700">
            <a:solidFill>
              <a:srgbClr val="DDE3EC"/>
            </a:solidFill>
            <a:prstDash val="solid"/>
          </a:ln>
        </p:spPr>
      </p:sp>
      <p:sp>
        <p:nvSpPr>
          <p:cNvPr id="5" name="Text 3"/>
          <p:cNvSpPr/>
          <p:nvPr/>
        </p:nvSpPr>
        <p:spPr>
          <a:xfrm>
            <a:off x="822960" y="2112264"/>
            <a:ext cx="384048" cy="384048"/>
          </a:xfrm>
          <a:prstGeom prst="rect">
            <a:avLst/>
          </a:prstGeom>
          <a:noFill/>
          <a:ln/>
        </p:spPr>
        <p:txBody>
          <a:bodyPr wrap="square" lIns="0" tIns="0" rIns="0" bIns="0" rtlCol="0" anchor="ctr"/>
          <a:lstStyle/>
          <a:p>
            <a:pPr marL="0" indent="0" algn="ctr">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1</a:t>
            </a:r>
            <a:endParaRPr lang="en-US" sz="2000" dirty="0">
              <a:latin typeface="微软雅黑" panose="020B0503020204020204" pitchFamily="34" charset="-122"/>
              <a:ea typeface="微软雅黑" panose="020B0503020204020204" pitchFamily="34" charset="-122"/>
            </a:endParaRPr>
          </a:p>
        </p:txBody>
      </p:sp>
      <p:sp>
        <p:nvSpPr>
          <p:cNvPr id="6" name="Text 4"/>
          <p:cNvSpPr/>
          <p:nvPr/>
        </p:nvSpPr>
        <p:spPr>
          <a:xfrm>
            <a:off x="1307592" y="2112264"/>
            <a:ext cx="1810512" cy="310896"/>
          </a:xfrm>
          <a:prstGeom prst="rect">
            <a:avLst/>
          </a:prstGeom>
          <a:noFill/>
          <a:ln/>
        </p:spPr>
        <p:txBody>
          <a:bodyPr wrap="square" lIns="0" tIns="0" rIns="0" bIns="0" rtlCol="0" anchor="ctr">
            <a:normAutofit/>
          </a:bodyPr>
          <a:lstStyle/>
          <a:p>
            <a:pPr marL="0" indent="0">
              <a:buNone/>
            </a:pPr>
            <a:r>
              <a:rPr lang="en-US" sz="1600" b="1" dirty="0">
                <a:solidFill>
                  <a:srgbClr val="31599B"/>
                </a:solidFill>
                <a:latin typeface="微软雅黑" panose="020B0503020204020204" pitchFamily="34" charset="-122"/>
                <a:ea typeface="微软雅黑" panose="020B0503020204020204" pitchFamily="34" charset="-122"/>
                <a:cs typeface="Noto Sans CJK SC" pitchFamily="34" charset="-120"/>
              </a:rPr>
              <a:t>遥操作交互</a:t>
            </a:r>
            <a:endParaRPr lang="en-US" sz="1600" dirty="0">
              <a:latin typeface="微软雅黑" panose="020B0503020204020204" pitchFamily="34" charset="-122"/>
              <a:ea typeface="微软雅黑" panose="020B0503020204020204" pitchFamily="34" charset="-122"/>
            </a:endParaRPr>
          </a:p>
        </p:txBody>
      </p:sp>
      <p:sp>
        <p:nvSpPr>
          <p:cNvPr id="7" name="Text 5"/>
          <p:cNvSpPr/>
          <p:nvPr/>
        </p:nvSpPr>
        <p:spPr>
          <a:xfrm>
            <a:off x="877824" y="2587752"/>
            <a:ext cx="2231136" cy="566928"/>
          </a:xfrm>
          <a:prstGeom prst="rect">
            <a:avLst/>
          </a:prstGeom>
          <a:noFill/>
          <a:ln/>
        </p:spPr>
        <p:txBody>
          <a:bodyPr wrap="square" lIns="0" tIns="0" rIns="0" bIns="0" rtlCol="0" anchor="ctr">
            <a:normAutofit/>
          </a:bodyPr>
          <a:lstStyle/>
          <a:p>
            <a:pPr marL="0" indent="0" algn="ctr">
              <a:buNone/>
            </a:pPr>
            <a:r>
              <a:rPr lang="en-US" sz="1340" dirty="0">
                <a:solidFill>
                  <a:srgbClr val="222833"/>
                </a:solidFill>
                <a:latin typeface="微软雅黑" panose="020B0503020204020204" pitchFamily="34" charset="-122"/>
                <a:ea typeface="微软雅黑" panose="020B0503020204020204" pitchFamily="34" charset="-122"/>
                <a:cs typeface="Noto Sans CJK SC" pitchFamily="34" charset="-120"/>
              </a:rPr>
              <a:t>专家直接控制机器人，生成与本体动作空间一致的演示。</a:t>
            </a:r>
            <a:endParaRPr lang="en-US" sz="1340" dirty="0">
              <a:latin typeface="微软雅黑" panose="020B0503020204020204" pitchFamily="34" charset="-122"/>
              <a:ea typeface="微软雅黑" panose="020B0503020204020204" pitchFamily="34" charset="-122"/>
            </a:endParaRPr>
          </a:p>
        </p:txBody>
      </p:sp>
      <p:sp>
        <p:nvSpPr>
          <p:cNvPr id="8" name="Shape 6"/>
          <p:cNvSpPr/>
          <p:nvPr/>
        </p:nvSpPr>
        <p:spPr>
          <a:xfrm>
            <a:off x="3328416" y="2459736"/>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65960"/>
            <a:ext cx="2560320" cy="1417320"/>
          </a:xfrm>
          <a:prstGeom prst="roundRect">
            <a:avLst>
              <a:gd name="adj" fmla="val 2581"/>
            </a:avLst>
          </a:prstGeom>
          <a:solidFill>
            <a:srgbClr val="EAF5F1"/>
          </a:solidFill>
          <a:ln w="12700">
            <a:solidFill>
              <a:srgbClr val="DDE3EC"/>
            </a:solidFill>
            <a:prstDash val="solid"/>
          </a:ln>
        </p:spPr>
      </p:sp>
      <p:sp>
        <p:nvSpPr>
          <p:cNvPr id="10" name="Text 8"/>
          <p:cNvSpPr/>
          <p:nvPr/>
        </p:nvSpPr>
        <p:spPr>
          <a:xfrm>
            <a:off x="3509010" y="2112264"/>
            <a:ext cx="384048" cy="384048"/>
          </a:xfrm>
          <a:prstGeom prst="rect">
            <a:avLst/>
          </a:prstGeom>
          <a:noFill/>
          <a:ln/>
        </p:spPr>
        <p:txBody>
          <a:bodyPr wrap="square" lIns="0" tIns="0" rIns="0" bIns="0" rtlCol="0" anchor="ctr"/>
          <a:lstStyle/>
          <a:p>
            <a:pPr marL="0" indent="0" algn="ctr">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2</a:t>
            </a:r>
            <a:endParaRPr lang="en-US" sz="2000" dirty="0">
              <a:latin typeface="微软雅黑" panose="020B0503020204020204" pitchFamily="34" charset="-122"/>
              <a:ea typeface="微软雅黑" panose="020B0503020204020204" pitchFamily="34" charset="-122"/>
            </a:endParaRPr>
          </a:p>
        </p:txBody>
      </p:sp>
      <p:sp>
        <p:nvSpPr>
          <p:cNvPr id="11" name="Text 9"/>
          <p:cNvSpPr/>
          <p:nvPr/>
        </p:nvSpPr>
        <p:spPr>
          <a:xfrm>
            <a:off x="3993642" y="2112264"/>
            <a:ext cx="1810512" cy="310896"/>
          </a:xfrm>
          <a:prstGeom prst="rect">
            <a:avLst/>
          </a:prstGeom>
          <a:noFill/>
          <a:ln/>
        </p:spPr>
        <p:txBody>
          <a:bodyPr wrap="square" lIns="0" tIns="0" rIns="0" bIns="0" rtlCol="0" anchor="ctr">
            <a:normAutofit/>
          </a:bodyPr>
          <a:lstStyle/>
          <a:p>
            <a:pPr marL="0" indent="0">
              <a:buNone/>
            </a:pPr>
            <a:r>
              <a:rPr lang="en-US" sz="1600" b="1" dirty="0">
                <a:solidFill>
                  <a:srgbClr val="2F8E72"/>
                </a:solidFill>
                <a:latin typeface="微软雅黑" panose="020B0503020204020204" pitchFamily="34" charset="-122"/>
                <a:ea typeface="微软雅黑" panose="020B0503020204020204" pitchFamily="34" charset="-122"/>
                <a:cs typeface="Noto Sans CJK SC" pitchFamily="34" charset="-120"/>
              </a:rPr>
              <a:t>行为克隆</a:t>
            </a:r>
            <a:endParaRPr lang="en-US" sz="1600" dirty="0">
              <a:latin typeface="微软雅黑" panose="020B0503020204020204" pitchFamily="34" charset="-122"/>
              <a:ea typeface="微软雅黑" panose="020B0503020204020204" pitchFamily="34" charset="-122"/>
            </a:endParaRPr>
          </a:p>
        </p:txBody>
      </p:sp>
      <p:sp>
        <p:nvSpPr>
          <p:cNvPr id="12" name="Text 10"/>
          <p:cNvSpPr/>
          <p:nvPr/>
        </p:nvSpPr>
        <p:spPr>
          <a:xfrm>
            <a:off x="3563874" y="2587752"/>
            <a:ext cx="2231136" cy="566928"/>
          </a:xfrm>
          <a:prstGeom prst="rect">
            <a:avLst/>
          </a:prstGeom>
          <a:noFill/>
          <a:ln/>
        </p:spPr>
        <p:txBody>
          <a:bodyPr wrap="square" lIns="0" tIns="0" rIns="0" bIns="0" rtlCol="0" anchor="ctr">
            <a:normAutofit/>
          </a:bodyPr>
          <a:lstStyle/>
          <a:p>
            <a:pPr marL="0" indent="0" algn="ctr">
              <a:buNone/>
            </a:pPr>
            <a:r>
              <a:rPr lang="en-US" sz="1340" dirty="0">
                <a:solidFill>
                  <a:srgbClr val="222833"/>
                </a:solidFill>
                <a:latin typeface="微软雅黑" panose="020B0503020204020204" pitchFamily="34" charset="-122"/>
                <a:ea typeface="微软雅黑" panose="020B0503020204020204" pitchFamily="34" charset="-122"/>
                <a:cs typeface="Noto Sans CJK SC" pitchFamily="34" charset="-120"/>
              </a:rPr>
              <a:t>把专家状态—动作对当作监督数据，直接拟合策略。</a:t>
            </a:r>
            <a:endParaRPr lang="en-US" sz="1340" dirty="0">
              <a:latin typeface="微软雅黑" panose="020B0503020204020204" pitchFamily="34" charset="-122"/>
              <a:ea typeface="微软雅黑" panose="020B0503020204020204" pitchFamily="34" charset="-122"/>
            </a:endParaRPr>
          </a:p>
        </p:txBody>
      </p:sp>
      <p:sp>
        <p:nvSpPr>
          <p:cNvPr id="13" name="Shape 11"/>
          <p:cNvSpPr/>
          <p:nvPr/>
        </p:nvSpPr>
        <p:spPr>
          <a:xfrm>
            <a:off x="6014466" y="2459736"/>
            <a:ext cx="347472" cy="438912"/>
          </a:xfrm>
          <a:prstGeom prst="chevron">
            <a:avLst/>
          </a:prstGeom>
          <a:solidFill>
            <a:srgbClr val="D8E2F1"/>
          </a:solidFill>
          <a:ln w="12700">
            <a:solidFill>
              <a:srgbClr val="D8E2F1"/>
            </a:solidFill>
            <a:prstDash val="solid"/>
          </a:ln>
        </p:spPr>
      </p:sp>
      <p:sp>
        <p:nvSpPr>
          <p:cNvPr id="14" name="Shape 12"/>
          <p:cNvSpPr/>
          <p:nvPr/>
        </p:nvSpPr>
        <p:spPr>
          <a:xfrm>
            <a:off x="6085332" y="1965960"/>
            <a:ext cx="2560320" cy="1417320"/>
          </a:xfrm>
          <a:prstGeom prst="roundRect">
            <a:avLst>
              <a:gd name="adj" fmla="val 2581"/>
            </a:avLst>
          </a:prstGeom>
          <a:solidFill>
            <a:srgbClr val="FFF4DE"/>
          </a:solidFill>
          <a:ln w="12700">
            <a:solidFill>
              <a:srgbClr val="DDE3EC"/>
            </a:solidFill>
            <a:prstDash val="solid"/>
          </a:ln>
        </p:spPr>
      </p:sp>
      <p:sp>
        <p:nvSpPr>
          <p:cNvPr id="15" name="Text 13"/>
          <p:cNvSpPr/>
          <p:nvPr/>
        </p:nvSpPr>
        <p:spPr>
          <a:xfrm>
            <a:off x="6195060" y="2112264"/>
            <a:ext cx="384048" cy="384048"/>
          </a:xfrm>
          <a:prstGeom prst="rect">
            <a:avLst/>
          </a:prstGeom>
          <a:noFill/>
          <a:ln/>
        </p:spPr>
        <p:txBody>
          <a:bodyPr wrap="square" lIns="0" tIns="0" rIns="0" bIns="0" rtlCol="0" anchor="ctr"/>
          <a:lstStyle/>
          <a:p>
            <a:pPr marL="0" indent="0" algn="ctr">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3</a:t>
            </a:r>
            <a:endParaRPr lang="en-US" sz="2000" dirty="0">
              <a:latin typeface="微软雅黑" panose="020B0503020204020204" pitchFamily="34" charset="-122"/>
              <a:ea typeface="微软雅黑" panose="020B0503020204020204" pitchFamily="34" charset="-122"/>
            </a:endParaRPr>
          </a:p>
        </p:txBody>
      </p:sp>
      <p:sp>
        <p:nvSpPr>
          <p:cNvPr id="16" name="Text 14"/>
          <p:cNvSpPr/>
          <p:nvPr/>
        </p:nvSpPr>
        <p:spPr>
          <a:xfrm>
            <a:off x="6679692" y="2112264"/>
            <a:ext cx="1810512" cy="310896"/>
          </a:xfrm>
          <a:prstGeom prst="rect">
            <a:avLst/>
          </a:prstGeom>
          <a:noFill/>
          <a:ln/>
        </p:spPr>
        <p:txBody>
          <a:bodyPr wrap="square" lIns="0" tIns="0" rIns="0" bIns="0" rtlCol="0" anchor="ctr">
            <a:normAutofit/>
          </a:bodyPr>
          <a:lstStyle/>
          <a:p>
            <a:pPr marL="0" indent="0">
              <a:buNone/>
            </a:pPr>
            <a:r>
              <a:rPr lang="en-US" sz="1600" b="1" dirty="0">
                <a:solidFill>
                  <a:srgbClr val="C58A24"/>
                </a:solidFill>
                <a:latin typeface="微软雅黑" panose="020B0503020204020204" pitchFamily="34" charset="-122"/>
                <a:ea typeface="微软雅黑" panose="020B0503020204020204" pitchFamily="34" charset="-122"/>
                <a:cs typeface="Noto Sans CJK SC" pitchFamily="34" charset="-120"/>
              </a:rPr>
              <a:t>逆强化学习</a:t>
            </a:r>
            <a:endParaRPr lang="en-US" sz="1600" dirty="0">
              <a:latin typeface="微软雅黑" panose="020B0503020204020204" pitchFamily="34" charset="-122"/>
              <a:ea typeface="微软雅黑" panose="020B0503020204020204" pitchFamily="34" charset="-122"/>
            </a:endParaRPr>
          </a:p>
        </p:txBody>
      </p:sp>
      <p:sp>
        <p:nvSpPr>
          <p:cNvPr id="17" name="Text 15"/>
          <p:cNvSpPr/>
          <p:nvPr/>
        </p:nvSpPr>
        <p:spPr>
          <a:xfrm>
            <a:off x="6249924" y="2587752"/>
            <a:ext cx="2231136" cy="566928"/>
          </a:xfrm>
          <a:prstGeom prst="rect">
            <a:avLst/>
          </a:prstGeom>
          <a:noFill/>
          <a:ln/>
        </p:spPr>
        <p:txBody>
          <a:bodyPr wrap="square" lIns="0" tIns="0" rIns="0" bIns="0" rtlCol="0" anchor="ctr">
            <a:normAutofit/>
          </a:bodyPr>
          <a:lstStyle/>
          <a:p>
            <a:pPr marL="0" indent="0" algn="ctr">
              <a:buNone/>
            </a:pPr>
            <a:r>
              <a:rPr lang="en-US" sz="1340" dirty="0">
                <a:solidFill>
                  <a:srgbClr val="222833"/>
                </a:solidFill>
                <a:latin typeface="微软雅黑" panose="020B0503020204020204" pitchFamily="34" charset="-122"/>
                <a:ea typeface="微软雅黑" panose="020B0503020204020204" pitchFamily="34" charset="-122"/>
                <a:cs typeface="Noto Sans CJK SC" pitchFamily="34" charset="-120"/>
              </a:rPr>
              <a:t>从专家行为反推隐含奖励，再优化可泛化策略。</a:t>
            </a:r>
            <a:endParaRPr lang="en-US" sz="1340" dirty="0">
              <a:latin typeface="微软雅黑" panose="020B0503020204020204" pitchFamily="34" charset="-122"/>
              <a:ea typeface="微软雅黑" panose="020B0503020204020204" pitchFamily="34" charset="-122"/>
            </a:endParaRPr>
          </a:p>
        </p:txBody>
      </p:sp>
      <p:sp>
        <p:nvSpPr>
          <p:cNvPr id="18" name="Shape 16"/>
          <p:cNvSpPr/>
          <p:nvPr/>
        </p:nvSpPr>
        <p:spPr>
          <a:xfrm>
            <a:off x="8700516" y="2459736"/>
            <a:ext cx="347472" cy="438912"/>
          </a:xfrm>
          <a:prstGeom prst="chevron">
            <a:avLst/>
          </a:prstGeom>
          <a:solidFill>
            <a:srgbClr val="D8E2F1"/>
          </a:solidFill>
          <a:ln w="12700">
            <a:solidFill>
              <a:srgbClr val="D8E2F1"/>
            </a:solidFill>
            <a:prstDash val="solid"/>
          </a:ln>
        </p:spPr>
      </p:sp>
      <p:sp>
        <p:nvSpPr>
          <p:cNvPr id="19" name="Shape 17"/>
          <p:cNvSpPr/>
          <p:nvPr/>
        </p:nvSpPr>
        <p:spPr>
          <a:xfrm>
            <a:off x="8771382" y="1965960"/>
            <a:ext cx="2560320" cy="1417320"/>
          </a:xfrm>
          <a:prstGeom prst="roundRect">
            <a:avLst>
              <a:gd name="adj" fmla="val 2581"/>
            </a:avLst>
          </a:prstGeom>
          <a:solidFill>
            <a:srgbClr val="F1ECFA"/>
          </a:solidFill>
          <a:ln w="12700">
            <a:solidFill>
              <a:srgbClr val="DDE3EC"/>
            </a:solidFill>
            <a:prstDash val="solid"/>
          </a:ln>
        </p:spPr>
      </p:sp>
      <p:sp>
        <p:nvSpPr>
          <p:cNvPr id="20" name="Text 18"/>
          <p:cNvSpPr/>
          <p:nvPr/>
        </p:nvSpPr>
        <p:spPr>
          <a:xfrm>
            <a:off x="8881110" y="2112264"/>
            <a:ext cx="384048" cy="384048"/>
          </a:xfrm>
          <a:prstGeom prst="rect">
            <a:avLst/>
          </a:prstGeom>
          <a:noFill/>
          <a:ln/>
        </p:spPr>
        <p:txBody>
          <a:bodyPr wrap="square" lIns="0" tIns="0" rIns="0" bIns="0" rtlCol="0" anchor="ctr"/>
          <a:lstStyle/>
          <a:p>
            <a:pPr marL="0" indent="0" algn="ctr">
              <a:buNone/>
            </a:pPr>
            <a:r>
              <a:rPr lang="en-US" sz="2000" b="1" dirty="0">
                <a:solidFill>
                  <a:srgbClr val="7558A8"/>
                </a:solidFill>
                <a:latin typeface="微软雅黑" panose="020B0503020204020204" pitchFamily="34" charset="-122"/>
                <a:ea typeface="微软雅黑" panose="020B0503020204020204" pitchFamily="34" charset="-122"/>
                <a:cs typeface="Noto Sans CJK SC" pitchFamily="34" charset="-120"/>
              </a:rPr>
              <a:t>4</a:t>
            </a:r>
            <a:endParaRPr lang="en-US" sz="2000" dirty="0">
              <a:latin typeface="微软雅黑" panose="020B0503020204020204" pitchFamily="34" charset="-122"/>
              <a:ea typeface="微软雅黑" panose="020B0503020204020204" pitchFamily="34" charset="-122"/>
            </a:endParaRPr>
          </a:p>
        </p:txBody>
      </p:sp>
      <p:sp>
        <p:nvSpPr>
          <p:cNvPr id="21" name="Text 19"/>
          <p:cNvSpPr/>
          <p:nvPr/>
        </p:nvSpPr>
        <p:spPr>
          <a:xfrm>
            <a:off x="9365742" y="2112264"/>
            <a:ext cx="1810512" cy="310896"/>
          </a:xfrm>
          <a:prstGeom prst="rect">
            <a:avLst/>
          </a:prstGeom>
          <a:noFill/>
          <a:ln/>
        </p:spPr>
        <p:txBody>
          <a:bodyPr wrap="square" lIns="0" tIns="0" rIns="0" bIns="0" rtlCol="0" anchor="ctr">
            <a:normAutofit/>
          </a:bodyPr>
          <a:lstStyle/>
          <a:p>
            <a:pPr marL="0" indent="0">
              <a:buNone/>
            </a:pPr>
            <a:r>
              <a:rPr lang="en-US" sz="1600" b="1" dirty="0">
                <a:solidFill>
                  <a:srgbClr val="7558A8"/>
                </a:solidFill>
                <a:latin typeface="微软雅黑" panose="020B0503020204020204" pitchFamily="34" charset="-122"/>
                <a:ea typeface="微软雅黑" panose="020B0503020204020204" pitchFamily="34" charset="-122"/>
                <a:cs typeface="Noto Sans CJK SC" pitchFamily="34" charset="-120"/>
              </a:rPr>
              <a:t>高级模仿学习</a:t>
            </a:r>
            <a:endParaRPr lang="en-US" sz="1600" dirty="0">
              <a:latin typeface="微软雅黑" panose="020B0503020204020204" pitchFamily="34" charset="-122"/>
              <a:ea typeface="微软雅黑" panose="020B0503020204020204" pitchFamily="34" charset="-122"/>
            </a:endParaRPr>
          </a:p>
        </p:txBody>
      </p:sp>
      <p:sp>
        <p:nvSpPr>
          <p:cNvPr id="22" name="Text 20"/>
          <p:cNvSpPr/>
          <p:nvPr/>
        </p:nvSpPr>
        <p:spPr>
          <a:xfrm>
            <a:off x="8935974" y="2587752"/>
            <a:ext cx="2231136" cy="566928"/>
          </a:xfrm>
          <a:prstGeom prst="rect">
            <a:avLst/>
          </a:prstGeom>
          <a:noFill/>
          <a:ln/>
        </p:spPr>
        <p:txBody>
          <a:bodyPr wrap="square" lIns="0" tIns="0" rIns="0" bIns="0" rtlCol="0" anchor="ctr">
            <a:normAutofit/>
          </a:bodyPr>
          <a:lstStyle/>
          <a:p>
            <a:pPr marL="0" indent="0" algn="ctr">
              <a:buNone/>
            </a:pPr>
            <a:r>
              <a:rPr lang="en-US" sz="1340" dirty="0">
                <a:solidFill>
                  <a:srgbClr val="222833"/>
                </a:solidFill>
                <a:latin typeface="微软雅黑" panose="020B0503020204020204" pitchFamily="34" charset="-122"/>
                <a:ea typeface="微软雅黑" panose="020B0503020204020204" pitchFamily="34" charset="-122"/>
                <a:cs typeface="Noto Sans CJK SC" pitchFamily="34" charset="-120"/>
              </a:rPr>
              <a:t>通过分布匹配、层次分解和动作分块提高鲁棒性。</a:t>
            </a:r>
            <a:endParaRPr lang="en-US" sz="1340" dirty="0">
              <a:latin typeface="微软雅黑" panose="020B0503020204020204" pitchFamily="34" charset="-122"/>
              <a:ea typeface="微软雅黑" panose="020B0503020204020204" pitchFamily="34" charset="-122"/>
            </a:endParaRPr>
          </a:p>
        </p:txBody>
      </p:sp>
      <p:sp>
        <p:nvSpPr>
          <p:cNvPr id="23" name="Text 21"/>
          <p:cNvSpPr/>
          <p:nvPr/>
        </p:nvSpPr>
        <p:spPr>
          <a:xfrm>
            <a:off x="1005840" y="4160520"/>
            <a:ext cx="10058400" cy="530352"/>
          </a:xfrm>
          <a:prstGeom prst="rect">
            <a:avLst/>
          </a:prstGeom>
          <a:noFill/>
          <a:ln/>
        </p:spPr>
        <p:txBody>
          <a:bodyPr wrap="square" lIns="0" tIns="0" rIns="0" bIns="0" rtlCol="0" anchor="ctr"/>
          <a:lstStyle/>
          <a:p>
            <a:pPr marL="0" indent="0" algn="ctr">
              <a:buNone/>
            </a:pPr>
            <a:r>
              <a:rPr lang="en-US" sz="1900" b="1" dirty="0">
                <a:solidFill>
                  <a:srgbClr val="24477D"/>
                </a:solidFill>
                <a:latin typeface="微软雅黑" panose="020B0503020204020204" pitchFamily="34" charset="-122"/>
                <a:ea typeface="微软雅黑" panose="020B0503020204020204" pitchFamily="34" charset="-122"/>
                <a:cs typeface="Noto Sans CJK SC" pitchFamily="34" charset="-120"/>
              </a:rPr>
              <a:t>共同目标：通过观察和复制专家行为，直接学习完成任务所需的策略。</a:t>
            </a:r>
            <a:endParaRPr lang="en-US" sz="19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学习目标</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621792" y="1554480"/>
            <a:ext cx="3547872" cy="1700784"/>
          </a:xfrm>
          <a:prstGeom prst="roundRect">
            <a:avLst>
              <a:gd name="adj" fmla="val 268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621792" y="1554480"/>
            <a:ext cx="64008" cy="1700784"/>
          </a:xfrm>
          <a:prstGeom prst="rect">
            <a:avLst/>
          </a:prstGeom>
          <a:solidFill>
            <a:srgbClr val="31599B"/>
          </a:solidFill>
          <a:ln w="12700">
            <a:solidFill>
              <a:srgbClr val="31599B"/>
            </a:solidFill>
            <a:prstDash val="solid"/>
          </a:ln>
        </p:spPr>
      </p:sp>
      <p:sp>
        <p:nvSpPr>
          <p:cNvPr id="6" name="Text 4"/>
          <p:cNvSpPr/>
          <p:nvPr/>
        </p:nvSpPr>
        <p:spPr>
          <a:xfrm>
            <a:off x="832104" y="1700784"/>
            <a:ext cx="3163824" cy="329184"/>
          </a:xfrm>
          <a:prstGeom prst="rect">
            <a:avLst/>
          </a:prstGeom>
          <a:noFill/>
          <a:ln/>
        </p:spPr>
        <p:txBody>
          <a:bodyPr wrap="square" lIns="0" tIns="0" rIns="0" bIns="0" rtlCol="0" anchor="ctr">
            <a:normAutofit/>
          </a:bodyPr>
          <a:lstStyle/>
          <a:p>
            <a:pPr marL="0" indent="0">
              <a:buNone/>
            </a:pPr>
            <a:r>
              <a:rPr lang="en-US" sz="1750" b="1" dirty="0">
                <a:solidFill>
                  <a:srgbClr val="31599B"/>
                </a:solidFill>
                <a:latin typeface="Noto Sans CJK SC" pitchFamily="34" charset="0"/>
                <a:ea typeface="Noto Sans CJK SC" pitchFamily="34" charset="-122"/>
                <a:cs typeface="Noto Sans CJK SC" pitchFamily="34" charset="-120"/>
              </a:rPr>
              <a:t>01  遥操作与重定向</a:t>
            </a:r>
            <a:endParaRPr lang="en-US" sz="1750" dirty="0"/>
          </a:p>
        </p:txBody>
      </p:sp>
      <p:sp>
        <p:nvSpPr>
          <p:cNvPr id="7" name="Text 5"/>
          <p:cNvSpPr/>
          <p:nvPr/>
        </p:nvSpPr>
        <p:spPr>
          <a:xfrm>
            <a:off x="832104" y="2121408"/>
            <a:ext cx="3163824" cy="987552"/>
          </a:xfrm>
          <a:prstGeom prst="rect">
            <a:avLst/>
          </a:prstGeom>
          <a:noFill/>
          <a:ln/>
        </p:spPr>
        <p:txBody>
          <a:bodyPr wrap="square" lIns="254" tIns="254" rIns="254" bIns="254" rtlCol="0" anchor="t">
            <a:normAutofit/>
          </a:bodyPr>
          <a:lstStyle/>
          <a:p>
            <a:pPr marL="0" indent="0">
              <a:buNone/>
            </a:pPr>
            <a:r>
              <a:rPr lang="en-US" sz="1370" dirty="0">
                <a:solidFill>
                  <a:srgbClr val="222833"/>
                </a:solidFill>
                <a:latin typeface="Noto Sans CJK SC" pitchFamily="34" charset="0"/>
                <a:ea typeface="Noto Sans CJK SC" pitchFamily="34" charset="-122"/>
                <a:cs typeface="Noto Sans CJK SC" pitchFamily="34" charset="-120"/>
              </a:rPr>
              <a:t>理解遥操作作为专家演示数据采集方式的优势与挑战，掌握重定向等关键环节。</a:t>
            </a:r>
            <a:endParaRPr lang="en-US" sz="1370" dirty="0"/>
          </a:p>
        </p:txBody>
      </p:sp>
      <p:sp>
        <p:nvSpPr>
          <p:cNvPr id="8" name="Shape 6"/>
          <p:cNvSpPr/>
          <p:nvPr/>
        </p:nvSpPr>
        <p:spPr>
          <a:xfrm>
            <a:off x="4443984" y="1554480"/>
            <a:ext cx="3547872" cy="1700784"/>
          </a:xfrm>
          <a:prstGeom prst="roundRect">
            <a:avLst>
              <a:gd name="adj" fmla="val 268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43984" y="1554480"/>
            <a:ext cx="64008" cy="1700784"/>
          </a:xfrm>
          <a:prstGeom prst="rect">
            <a:avLst/>
          </a:prstGeom>
          <a:solidFill>
            <a:srgbClr val="2F8E72"/>
          </a:solidFill>
          <a:ln w="12700">
            <a:solidFill>
              <a:srgbClr val="2F8E72"/>
            </a:solidFill>
            <a:prstDash val="solid"/>
          </a:ln>
        </p:spPr>
      </p:sp>
      <p:sp>
        <p:nvSpPr>
          <p:cNvPr id="10" name="Text 8"/>
          <p:cNvSpPr/>
          <p:nvPr/>
        </p:nvSpPr>
        <p:spPr>
          <a:xfrm>
            <a:off x="4654296" y="1700784"/>
            <a:ext cx="3163824" cy="329184"/>
          </a:xfrm>
          <a:prstGeom prst="rect">
            <a:avLst/>
          </a:prstGeom>
          <a:noFill/>
          <a:ln/>
        </p:spPr>
        <p:txBody>
          <a:bodyPr wrap="square" lIns="0" tIns="0" rIns="0" bIns="0" rtlCol="0" anchor="ctr">
            <a:normAutofit/>
          </a:bodyPr>
          <a:lstStyle/>
          <a:p>
            <a:pPr marL="0" indent="0">
              <a:buNone/>
            </a:pPr>
            <a:r>
              <a:rPr lang="en-US" sz="1750" b="1" dirty="0">
                <a:solidFill>
                  <a:srgbClr val="2F8E72"/>
                </a:solidFill>
                <a:latin typeface="Noto Sans CJK SC" pitchFamily="34" charset="0"/>
                <a:ea typeface="Noto Sans CJK SC" pitchFamily="34" charset="-122"/>
                <a:cs typeface="Noto Sans CJK SC" pitchFamily="34" charset="-120"/>
              </a:rPr>
              <a:t>02  行为克隆</a:t>
            </a:r>
            <a:endParaRPr lang="en-US" sz="1750" dirty="0"/>
          </a:p>
        </p:txBody>
      </p:sp>
      <p:sp>
        <p:nvSpPr>
          <p:cNvPr id="11" name="Text 9"/>
          <p:cNvSpPr/>
          <p:nvPr/>
        </p:nvSpPr>
        <p:spPr>
          <a:xfrm>
            <a:off x="4654296" y="2121408"/>
            <a:ext cx="3163824" cy="987552"/>
          </a:xfrm>
          <a:prstGeom prst="rect">
            <a:avLst/>
          </a:prstGeom>
          <a:noFill/>
          <a:ln/>
        </p:spPr>
        <p:txBody>
          <a:bodyPr wrap="square" lIns="254" tIns="254" rIns="254" bIns="254" rtlCol="0" anchor="t">
            <a:normAutofit/>
          </a:bodyPr>
          <a:lstStyle/>
          <a:p>
            <a:pPr marL="0" indent="0">
              <a:buNone/>
            </a:pPr>
            <a:r>
              <a:rPr lang="en-US" sz="1370" dirty="0">
                <a:solidFill>
                  <a:srgbClr val="222833"/>
                </a:solidFill>
                <a:latin typeface="Noto Sans CJK SC" pitchFamily="34" charset="0"/>
                <a:ea typeface="Noto Sans CJK SC" pitchFamily="34" charset="-122"/>
                <a:cs typeface="Noto Sans CJK SC" pitchFamily="34" charset="-120"/>
              </a:rPr>
              <a:t>掌握连续/离散动作空间中的损失函数，理解其简单高效特性与局限。</a:t>
            </a:r>
            <a:endParaRPr lang="en-US" sz="1370" dirty="0"/>
          </a:p>
        </p:txBody>
      </p:sp>
      <p:sp>
        <p:nvSpPr>
          <p:cNvPr id="12" name="Shape 10"/>
          <p:cNvSpPr/>
          <p:nvPr/>
        </p:nvSpPr>
        <p:spPr>
          <a:xfrm>
            <a:off x="8266176" y="1554480"/>
            <a:ext cx="3547872" cy="1700784"/>
          </a:xfrm>
          <a:prstGeom prst="roundRect">
            <a:avLst>
              <a:gd name="adj" fmla="val 268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266176" y="1554480"/>
            <a:ext cx="64008" cy="1700784"/>
          </a:xfrm>
          <a:prstGeom prst="rect">
            <a:avLst/>
          </a:prstGeom>
          <a:solidFill>
            <a:srgbClr val="C58A24"/>
          </a:solidFill>
          <a:ln w="12700">
            <a:solidFill>
              <a:srgbClr val="C58A24"/>
            </a:solidFill>
            <a:prstDash val="solid"/>
          </a:ln>
        </p:spPr>
      </p:sp>
      <p:sp>
        <p:nvSpPr>
          <p:cNvPr id="14" name="Text 12"/>
          <p:cNvSpPr/>
          <p:nvPr/>
        </p:nvSpPr>
        <p:spPr>
          <a:xfrm>
            <a:off x="8476488" y="1700784"/>
            <a:ext cx="3163824" cy="329184"/>
          </a:xfrm>
          <a:prstGeom prst="rect">
            <a:avLst/>
          </a:prstGeom>
          <a:noFill/>
          <a:ln/>
        </p:spPr>
        <p:txBody>
          <a:bodyPr wrap="square" lIns="0" tIns="0" rIns="0" bIns="0" rtlCol="0" anchor="ctr">
            <a:normAutofit/>
          </a:bodyPr>
          <a:lstStyle/>
          <a:p>
            <a:pPr marL="0" indent="0">
              <a:buNone/>
            </a:pPr>
            <a:r>
              <a:rPr lang="en-US" sz="1750" b="1" dirty="0">
                <a:solidFill>
                  <a:srgbClr val="C58A24"/>
                </a:solidFill>
                <a:latin typeface="Noto Sans CJK SC" pitchFamily="34" charset="0"/>
                <a:ea typeface="Noto Sans CJK SC" pitchFamily="34" charset="-122"/>
                <a:cs typeface="Noto Sans CJK SC" pitchFamily="34" charset="-120"/>
              </a:rPr>
              <a:t>03  逆强化学习</a:t>
            </a:r>
            <a:endParaRPr lang="en-US" sz="1750" dirty="0"/>
          </a:p>
        </p:txBody>
      </p:sp>
      <p:sp>
        <p:nvSpPr>
          <p:cNvPr id="15" name="Text 13"/>
          <p:cNvSpPr/>
          <p:nvPr/>
        </p:nvSpPr>
        <p:spPr>
          <a:xfrm>
            <a:off x="8476488" y="2121408"/>
            <a:ext cx="3163824" cy="987552"/>
          </a:xfrm>
          <a:prstGeom prst="rect">
            <a:avLst/>
          </a:prstGeom>
          <a:noFill/>
          <a:ln/>
        </p:spPr>
        <p:txBody>
          <a:bodyPr wrap="square" lIns="254" tIns="254" rIns="254" bIns="254" rtlCol="0" anchor="t">
            <a:normAutofit/>
          </a:bodyPr>
          <a:lstStyle/>
          <a:p>
            <a:pPr marL="0" indent="0">
              <a:buNone/>
            </a:pPr>
            <a:r>
              <a:rPr lang="en-US" sz="1370" dirty="0">
                <a:solidFill>
                  <a:srgbClr val="222833"/>
                </a:solidFill>
                <a:latin typeface="Noto Sans CJK SC" pitchFamily="34" charset="0"/>
                <a:ea typeface="Noto Sans CJK SC" pitchFamily="34" charset="-122"/>
                <a:cs typeface="Noto Sans CJK SC" pitchFamily="34" charset="-120"/>
              </a:rPr>
              <a:t>理解奖励函数推断、最大熵 IRL 及其泛化能力，与行为克隆进行区分。</a:t>
            </a:r>
            <a:endParaRPr lang="en-US" sz="1370" dirty="0"/>
          </a:p>
        </p:txBody>
      </p:sp>
      <p:sp>
        <p:nvSpPr>
          <p:cNvPr id="16" name="Shape 14"/>
          <p:cNvSpPr/>
          <p:nvPr/>
        </p:nvSpPr>
        <p:spPr>
          <a:xfrm>
            <a:off x="621792" y="3584448"/>
            <a:ext cx="3547872" cy="1700784"/>
          </a:xfrm>
          <a:prstGeom prst="roundRect">
            <a:avLst>
              <a:gd name="adj" fmla="val 268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7" name="Shape 15"/>
          <p:cNvSpPr/>
          <p:nvPr/>
        </p:nvSpPr>
        <p:spPr>
          <a:xfrm>
            <a:off x="621792" y="3584448"/>
            <a:ext cx="64008" cy="1700784"/>
          </a:xfrm>
          <a:prstGeom prst="rect">
            <a:avLst/>
          </a:prstGeom>
          <a:solidFill>
            <a:srgbClr val="C63F45"/>
          </a:solidFill>
          <a:ln w="12700">
            <a:solidFill>
              <a:srgbClr val="C63F45"/>
            </a:solidFill>
            <a:prstDash val="solid"/>
          </a:ln>
        </p:spPr>
      </p:sp>
      <p:sp>
        <p:nvSpPr>
          <p:cNvPr id="18" name="Text 16"/>
          <p:cNvSpPr/>
          <p:nvPr/>
        </p:nvSpPr>
        <p:spPr>
          <a:xfrm>
            <a:off x="832104" y="3730752"/>
            <a:ext cx="3163824" cy="329184"/>
          </a:xfrm>
          <a:prstGeom prst="rect">
            <a:avLst/>
          </a:prstGeom>
          <a:noFill/>
          <a:ln/>
        </p:spPr>
        <p:txBody>
          <a:bodyPr wrap="square" lIns="0" tIns="0" rIns="0" bIns="0" rtlCol="0" anchor="ctr">
            <a:normAutofit/>
          </a:bodyPr>
          <a:lstStyle/>
          <a:p>
            <a:pPr marL="0" indent="0">
              <a:buNone/>
            </a:pPr>
            <a:r>
              <a:rPr lang="en-US" sz="1750" b="1" dirty="0">
                <a:solidFill>
                  <a:srgbClr val="C63F45"/>
                </a:solidFill>
                <a:latin typeface="Noto Sans CJK SC" pitchFamily="34" charset="0"/>
                <a:ea typeface="Noto Sans CJK SC" pitchFamily="34" charset="-122"/>
                <a:cs typeface="Noto Sans CJK SC" pitchFamily="34" charset="-120"/>
              </a:rPr>
              <a:t>04  高级模仿学习</a:t>
            </a:r>
            <a:endParaRPr lang="en-US" sz="1750" dirty="0"/>
          </a:p>
        </p:txBody>
      </p:sp>
      <p:sp>
        <p:nvSpPr>
          <p:cNvPr id="19" name="Text 17"/>
          <p:cNvSpPr/>
          <p:nvPr/>
        </p:nvSpPr>
        <p:spPr>
          <a:xfrm>
            <a:off x="832104" y="4151376"/>
            <a:ext cx="3163824" cy="987552"/>
          </a:xfrm>
          <a:prstGeom prst="rect">
            <a:avLst/>
          </a:prstGeom>
          <a:noFill/>
          <a:ln/>
        </p:spPr>
        <p:txBody>
          <a:bodyPr wrap="square" lIns="254" tIns="254" rIns="254" bIns="254" rtlCol="0" anchor="t">
            <a:normAutofit/>
          </a:bodyPr>
          <a:lstStyle/>
          <a:p>
            <a:pPr marL="0" indent="0">
              <a:buNone/>
            </a:pPr>
            <a:r>
              <a:rPr lang="en-US" sz="1370" dirty="0">
                <a:solidFill>
                  <a:srgbClr val="222833"/>
                </a:solidFill>
                <a:latin typeface="Noto Sans CJK SC" pitchFamily="34" charset="0"/>
                <a:ea typeface="Noto Sans CJK SC" pitchFamily="34" charset="-122"/>
                <a:cs typeface="Noto Sans CJK SC" pitchFamily="34" charset="-120"/>
              </a:rPr>
              <a:t>了解 GAIL、分层模仿学习，以及它们在分布漂移和长时序任务中的作用。</a:t>
            </a:r>
            <a:endParaRPr lang="en-US" sz="1370" dirty="0"/>
          </a:p>
        </p:txBody>
      </p:sp>
      <p:sp>
        <p:nvSpPr>
          <p:cNvPr id="20" name="Shape 18"/>
          <p:cNvSpPr/>
          <p:nvPr/>
        </p:nvSpPr>
        <p:spPr>
          <a:xfrm>
            <a:off x="4443984" y="3584448"/>
            <a:ext cx="3547872" cy="1700784"/>
          </a:xfrm>
          <a:prstGeom prst="roundRect">
            <a:avLst>
              <a:gd name="adj" fmla="val 268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21" name="Shape 19"/>
          <p:cNvSpPr/>
          <p:nvPr/>
        </p:nvSpPr>
        <p:spPr>
          <a:xfrm>
            <a:off x="4443984" y="3584448"/>
            <a:ext cx="64008" cy="1700784"/>
          </a:xfrm>
          <a:prstGeom prst="rect">
            <a:avLst/>
          </a:prstGeom>
          <a:solidFill>
            <a:srgbClr val="7558A8"/>
          </a:solidFill>
          <a:ln w="12700">
            <a:solidFill>
              <a:srgbClr val="7558A8"/>
            </a:solidFill>
            <a:prstDash val="solid"/>
          </a:ln>
        </p:spPr>
      </p:sp>
      <p:sp>
        <p:nvSpPr>
          <p:cNvPr id="22" name="Text 20"/>
          <p:cNvSpPr/>
          <p:nvPr/>
        </p:nvSpPr>
        <p:spPr>
          <a:xfrm>
            <a:off x="4654296" y="3730752"/>
            <a:ext cx="3163824" cy="329184"/>
          </a:xfrm>
          <a:prstGeom prst="rect">
            <a:avLst/>
          </a:prstGeom>
          <a:noFill/>
          <a:ln/>
        </p:spPr>
        <p:txBody>
          <a:bodyPr wrap="square" lIns="0" tIns="0" rIns="0" bIns="0" rtlCol="0" anchor="ctr">
            <a:normAutofit/>
          </a:bodyPr>
          <a:lstStyle/>
          <a:p>
            <a:pPr marL="0" indent="0">
              <a:buNone/>
            </a:pPr>
            <a:r>
              <a:rPr lang="en-US" sz="1750" b="1" dirty="0">
                <a:solidFill>
                  <a:srgbClr val="7558A8"/>
                </a:solidFill>
                <a:latin typeface="Noto Sans CJK SC" pitchFamily="34" charset="0"/>
                <a:ea typeface="Noto Sans CJK SC" pitchFamily="34" charset="-122"/>
                <a:cs typeface="Noto Sans CJK SC" pitchFamily="34" charset="-120"/>
              </a:rPr>
              <a:t>05  实践验证</a:t>
            </a:r>
            <a:endParaRPr lang="en-US" sz="1750" dirty="0"/>
          </a:p>
        </p:txBody>
      </p:sp>
      <p:sp>
        <p:nvSpPr>
          <p:cNvPr id="23" name="Text 21"/>
          <p:cNvSpPr/>
          <p:nvPr/>
        </p:nvSpPr>
        <p:spPr>
          <a:xfrm>
            <a:off x="4654296" y="4151376"/>
            <a:ext cx="3163824" cy="987552"/>
          </a:xfrm>
          <a:prstGeom prst="rect">
            <a:avLst/>
          </a:prstGeom>
          <a:noFill/>
          <a:ln/>
        </p:spPr>
        <p:txBody>
          <a:bodyPr wrap="square" lIns="254" tIns="254" rIns="254" bIns="254" rtlCol="0" anchor="t">
            <a:normAutofit/>
          </a:bodyPr>
          <a:lstStyle/>
          <a:p>
            <a:pPr marL="0" indent="0">
              <a:buNone/>
            </a:pPr>
            <a:r>
              <a:rPr lang="en-US" sz="1370" dirty="0">
                <a:solidFill>
                  <a:srgbClr val="222833"/>
                </a:solidFill>
                <a:latin typeface="Noto Sans CJK SC" pitchFamily="34" charset="0"/>
                <a:ea typeface="Noto Sans CJK SC" pitchFamily="34" charset="-122"/>
                <a:cs typeface="Noto Sans CJK SC" pitchFamily="34" charset="-120"/>
              </a:rPr>
              <a:t>基于 LeRobot 与 ALOHA 演示数据完成行为克隆训练，评估成功率与迁移挑战。</a:t>
            </a:r>
            <a:endParaRPr lang="en-US" sz="137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Noto Sans CJK SC" pitchFamily="34" charset="0"/>
                <a:ea typeface="Noto Sans CJK SC" pitchFamily="34" charset="-122"/>
                <a:cs typeface="Noto Sans CJK SC" pitchFamily="34" charset="-120"/>
              </a:rPr>
              <a:t>本章</a:t>
            </a:r>
            <a:r>
              <a:rPr lang="zh-CN" altLang="en-US" sz="3500" b="1" dirty="0">
                <a:solidFill>
                  <a:srgbClr val="24477D"/>
                </a:solidFill>
                <a:latin typeface="Noto Sans CJK SC" pitchFamily="34" charset="0"/>
                <a:ea typeface="Noto Sans CJK SC" pitchFamily="34" charset="-122"/>
                <a:cs typeface="Noto Sans CJK SC" pitchFamily="34" charset="-120"/>
              </a:rPr>
              <a:t>目录</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31520" y="1536192"/>
            <a:ext cx="713232"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4.1</a:t>
            </a:r>
            <a:endParaRPr lang="en-US" sz="2800" dirty="0">
              <a:latin typeface="微软雅黑" panose="020B0503020204020204" pitchFamily="34" charset="-122"/>
              <a:ea typeface="微软雅黑" panose="020B0503020204020204" pitchFamily="34" charset="-122"/>
            </a:endParaRPr>
          </a:p>
        </p:txBody>
      </p:sp>
      <p:sp>
        <p:nvSpPr>
          <p:cNvPr id="5" name="Text 3"/>
          <p:cNvSpPr/>
          <p:nvPr/>
        </p:nvSpPr>
        <p:spPr>
          <a:xfrm>
            <a:off x="1572768" y="1536192"/>
            <a:ext cx="2514600" cy="274320"/>
          </a:xfrm>
          <a:prstGeom prst="rect">
            <a:avLst/>
          </a:prstGeom>
          <a:noFill/>
          <a:ln/>
        </p:spPr>
        <p:txBody>
          <a:bodyPr wrap="square" lIns="0" tIns="0" rIns="0" bIns="0" rtlCol="0" anchor="ctr"/>
          <a:lstStyle/>
          <a:p>
            <a:r>
              <a:rPr lang="en-US" sz="2800" b="1" dirty="0" err="1">
                <a:solidFill>
                  <a:srgbClr val="222833"/>
                </a:solidFill>
                <a:latin typeface="微软雅黑" panose="020B0503020204020204" pitchFamily="34" charset="-122"/>
                <a:ea typeface="微软雅黑" panose="020B0503020204020204" pitchFamily="34" charset="-122"/>
              </a:rPr>
              <a:t>遥操作交互</a:t>
            </a:r>
            <a:endParaRPr lang="en-US" sz="2800" b="1" dirty="0">
              <a:solidFill>
                <a:srgbClr val="222833"/>
              </a:solidFill>
              <a:latin typeface="微软雅黑" panose="020B0503020204020204" pitchFamily="34" charset="-122"/>
              <a:ea typeface="微软雅黑" panose="020B0503020204020204" pitchFamily="34" charset="-122"/>
            </a:endParaRPr>
          </a:p>
        </p:txBody>
      </p:sp>
      <p:sp>
        <p:nvSpPr>
          <p:cNvPr id="7" name="Shape 5"/>
          <p:cNvSpPr/>
          <p:nvPr/>
        </p:nvSpPr>
        <p:spPr>
          <a:xfrm>
            <a:off x="731520" y="1920240"/>
            <a:ext cx="10241280" cy="0"/>
          </a:xfrm>
          <a:prstGeom prst="line">
            <a:avLst/>
          </a:prstGeom>
          <a:noFill/>
          <a:ln w="12700">
            <a:solidFill>
              <a:srgbClr val="E3E7EE"/>
            </a:solidFill>
            <a:prstDash val="solid"/>
          </a:ln>
        </p:spPr>
      </p:sp>
      <p:sp>
        <p:nvSpPr>
          <p:cNvPr id="8" name="Text 6"/>
          <p:cNvSpPr/>
          <p:nvPr/>
        </p:nvSpPr>
        <p:spPr>
          <a:xfrm>
            <a:off x="731520" y="2176272"/>
            <a:ext cx="713232"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4.2</a:t>
            </a:r>
            <a:endParaRPr lang="en-US" sz="2800" dirty="0">
              <a:latin typeface="微软雅黑" panose="020B0503020204020204" pitchFamily="34" charset="-122"/>
              <a:ea typeface="微软雅黑" panose="020B0503020204020204" pitchFamily="34" charset="-122"/>
            </a:endParaRPr>
          </a:p>
        </p:txBody>
      </p:sp>
      <p:sp>
        <p:nvSpPr>
          <p:cNvPr id="9" name="Text 7"/>
          <p:cNvSpPr/>
          <p:nvPr/>
        </p:nvSpPr>
        <p:spPr>
          <a:xfrm>
            <a:off x="1572768" y="2176272"/>
            <a:ext cx="2514600" cy="274320"/>
          </a:xfrm>
          <a:prstGeom prst="rect">
            <a:avLst/>
          </a:prstGeom>
          <a:noFill/>
          <a:ln/>
        </p:spPr>
        <p:txBody>
          <a:bodyPr wrap="square" lIns="0" tIns="0" rIns="0" bIns="0" rtlCol="0" anchor="ctr"/>
          <a:lstStyle/>
          <a:p>
            <a:pPr marL="0" indent="0">
              <a:buNone/>
            </a:pPr>
            <a:r>
              <a:rPr lang="en-US" sz="2800" b="1" dirty="0">
                <a:solidFill>
                  <a:srgbClr val="222833"/>
                </a:solidFill>
                <a:latin typeface="微软雅黑" panose="020B0503020204020204" pitchFamily="34" charset="-122"/>
                <a:ea typeface="微软雅黑" panose="020B0503020204020204" pitchFamily="34" charset="-122"/>
                <a:cs typeface="Noto Sans CJK SC" pitchFamily="34" charset="-120"/>
              </a:rPr>
              <a:t>行为克隆</a:t>
            </a:r>
            <a:endParaRPr lang="en-US" sz="2800" dirty="0">
              <a:latin typeface="微软雅黑" panose="020B0503020204020204" pitchFamily="34" charset="-122"/>
              <a:ea typeface="微软雅黑" panose="020B0503020204020204" pitchFamily="34" charset="-122"/>
            </a:endParaRPr>
          </a:p>
        </p:txBody>
      </p:sp>
      <p:sp>
        <p:nvSpPr>
          <p:cNvPr id="11" name="Shape 9"/>
          <p:cNvSpPr/>
          <p:nvPr/>
        </p:nvSpPr>
        <p:spPr>
          <a:xfrm>
            <a:off x="731520" y="2560320"/>
            <a:ext cx="10241280" cy="0"/>
          </a:xfrm>
          <a:prstGeom prst="line">
            <a:avLst/>
          </a:prstGeom>
          <a:noFill/>
          <a:ln w="12700">
            <a:solidFill>
              <a:srgbClr val="E3E7EE"/>
            </a:solidFill>
            <a:prstDash val="solid"/>
          </a:ln>
        </p:spPr>
      </p:sp>
      <p:sp>
        <p:nvSpPr>
          <p:cNvPr id="12" name="Text 10"/>
          <p:cNvSpPr/>
          <p:nvPr/>
        </p:nvSpPr>
        <p:spPr>
          <a:xfrm>
            <a:off x="731520" y="2816352"/>
            <a:ext cx="713232"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4.3</a:t>
            </a:r>
            <a:endParaRPr lang="en-US" sz="2800" dirty="0">
              <a:latin typeface="微软雅黑" panose="020B0503020204020204" pitchFamily="34" charset="-122"/>
              <a:ea typeface="微软雅黑" panose="020B0503020204020204" pitchFamily="34" charset="-122"/>
            </a:endParaRPr>
          </a:p>
        </p:txBody>
      </p:sp>
      <p:sp>
        <p:nvSpPr>
          <p:cNvPr id="13" name="Text 11"/>
          <p:cNvSpPr/>
          <p:nvPr/>
        </p:nvSpPr>
        <p:spPr>
          <a:xfrm>
            <a:off x="1572768" y="2816352"/>
            <a:ext cx="2514600" cy="274320"/>
          </a:xfrm>
          <a:prstGeom prst="rect">
            <a:avLst/>
          </a:prstGeom>
          <a:noFill/>
          <a:ln/>
        </p:spPr>
        <p:txBody>
          <a:bodyPr wrap="square" lIns="0" tIns="0" rIns="0" bIns="0" rtlCol="0" anchor="ctr"/>
          <a:lstStyle/>
          <a:p>
            <a:pPr marL="0" indent="0">
              <a:buNone/>
            </a:pPr>
            <a:r>
              <a:rPr lang="en-US" sz="2800" b="1" dirty="0">
                <a:solidFill>
                  <a:srgbClr val="222833"/>
                </a:solidFill>
                <a:latin typeface="微软雅黑" panose="020B0503020204020204" pitchFamily="34" charset="-122"/>
                <a:ea typeface="微软雅黑" panose="020B0503020204020204" pitchFamily="34" charset="-122"/>
                <a:cs typeface="Noto Sans CJK SC" pitchFamily="34" charset="-120"/>
              </a:rPr>
              <a:t>逆强化学习</a:t>
            </a:r>
            <a:endParaRPr lang="en-US" sz="2800" dirty="0">
              <a:latin typeface="微软雅黑" panose="020B0503020204020204" pitchFamily="34" charset="-122"/>
              <a:ea typeface="微软雅黑" panose="020B0503020204020204" pitchFamily="34" charset="-122"/>
            </a:endParaRPr>
          </a:p>
        </p:txBody>
      </p:sp>
      <p:sp>
        <p:nvSpPr>
          <p:cNvPr id="15" name="Shape 13"/>
          <p:cNvSpPr/>
          <p:nvPr/>
        </p:nvSpPr>
        <p:spPr>
          <a:xfrm>
            <a:off x="731520" y="3200400"/>
            <a:ext cx="10241280" cy="0"/>
          </a:xfrm>
          <a:prstGeom prst="line">
            <a:avLst/>
          </a:prstGeom>
          <a:noFill/>
          <a:ln w="12700">
            <a:solidFill>
              <a:srgbClr val="E3E7EE"/>
            </a:solidFill>
            <a:prstDash val="solid"/>
          </a:ln>
        </p:spPr>
      </p:sp>
      <p:sp>
        <p:nvSpPr>
          <p:cNvPr id="16" name="Text 14"/>
          <p:cNvSpPr/>
          <p:nvPr/>
        </p:nvSpPr>
        <p:spPr>
          <a:xfrm>
            <a:off x="731520" y="3456432"/>
            <a:ext cx="713232"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4.4</a:t>
            </a:r>
            <a:endParaRPr lang="en-US" sz="2800" dirty="0">
              <a:latin typeface="微软雅黑" panose="020B0503020204020204" pitchFamily="34" charset="-122"/>
              <a:ea typeface="微软雅黑" panose="020B0503020204020204" pitchFamily="34" charset="-122"/>
            </a:endParaRPr>
          </a:p>
        </p:txBody>
      </p:sp>
      <p:sp>
        <p:nvSpPr>
          <p:cNvPr id="17" name="Text 15"/>
          <p:cNvSpPr/>
          <p:nvPr/>
        </p:nvSpPr>
        <p:spPr>
          <a:xfrm>
            <a:off x="1572768" y="3456432"/>
            <a:ext cx="2514600" cy="274320"/>
          </a:xfrm>
          <a:prstGeom prst="rect">
            <a:avLst/>
          </a:prstGeom>
          <a:noFill/>
          <a:ln/>
        </p:spPr>
        <p:txBody>
          <a:bodyPr wrap="square" lIns="0" tIns="0" rIns="0" bIns="0" rtlCol="0" anchor="ctr"/>
          <a:lstStyle/>
          <a:p>
            <a:pPr marL="0" indent="0">
              <a:buNone/>
            </a:pPr>
            <a:r>
              <a:rPr lang="en-US" sz="2800" b="1" dirty="0">
                <a:solidFill>
                  <a:srgbClr val="222833"/>
                </a:solidFill>
                <a:latin typeface="微软雅黑" panose="020B0503020204020204" pitchFamily="34" charset="-122"/>
                <a:ea typeface="微软雅黑" panose="020B0503020204020204" pitchFamily="34" charset="-122"/>
                <a:cs typeface="Noto Sans CJK SC" pitchFamily="34" charset="-120"/>
              </a:rPr>
              <a:t>模仿学习扩展</a:t>
            </a:r>
            <a:endParaRPr lang="en-US" sz="2800" dirty="0">
              <a:latin typeface="微软雅黑" panose="020B0503020204020204" pitchFamily="34" charset="-122"/>
              <a:ea typeface="微软雅黑" panose="020B0503020204020204" pitchFamily="34" charset="-122"/>
            </a:endParaRPr>
          </a:p>
        </p:txBody>
      </p:sp>
      <p:sp>
        <p:nvSpPr>
          <p:cNvPr id="19" name="Shape 17"/>
          <p:cNvSpPr/>
          <p:nvPr/>
        </p:nvSpPr>
        <p:spPr>
          <a:xfrm>
            <a:off x="731520" y="3840480"/>
            <a:ext cx="10241280" cy="0"/>
          </a:xfrm>
          <a:prstGeom prst="line">
            <a:avLst/>
          </a:prstGeom>
          <a:noFill/>
          <a:ln w="12700">
            <a:solidFill>
              <a:srgbClr val="E3E7EE"/>
            </a:solidFill>
            <a:prstDash val="solid"/>
          </a:ln>
        </p:spPr>
      </p:sp>
      <p:sp>
        <p:nvSpPr>
          <p:cNvPr id="20" name="Text 18"/>
          <p:cNvSpPr/>
          <p:nvPr/>
        </p:nvSpPr>
        <p:spPr>
          <a:xfrm>
            <a:off x="731520" y="4096512"/>
            <a:ext cx="713232"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4.5</a:t>
            </a:r>
            <a:endParaRPr lang="en-US" sz="2800" dirty="0">
              <a:latin typeface="微软雅黑" panose="020B0503020204020204" pitchFamily="34" charset="-122"/>
              <a:ea typeface="微软雅黑" panose="020B0503020204020204" pitchFamily="34" charset="-122"/>
            </a:endParaRPr>
          </a:p>
        </p:txBody>
      </p:sp>
      <p:sp>
        <p:nvSpPr>
          <p:cNvPr id="21" name="Text 19"/>
          <p:cNvSpPr/>
          <p:nvPr/>
        </p:nvSpPr>
        <p:spPr>
          <a:xfrm>
            <a:off x="1572768" y="4096512"/>
            <a:ext cx="2514600" cy="274320"/>
          </a:xfrm>
          <a:prstGeom prst="rect">
            <a:avLst/>
          </a:prstGeom>
          <a:noFill/>
          <a:ln/>
        </p:spPr>
        <p:txBody>
          <a:bodyPr wrap="square" lIns="0" tIns="0" rIns="0" bIns="0" rtlCol="0" anchor="ctr"/>
          <a:lstStyle/>
          <a:p>
            <a:pPr marL="0" indent="0">
              <a:buNone/>
            </a:pPr>
            <a:r>
              <a:rPr lang="en-US" sz="2800" b="1" dirty="0">
                <a:solidFill>
                  <a:srgbClr val="222833"/>
                </a:solidFill>
                <a:latin typeface="微软雅黑" panose="020B0503020204020204" pitchFamily="34" charset="-122"/>
                <a:ea typeface="微软雅黑" panose="020B0503020204020204" pitchFamily="34" charset="-122"/>
                <a:cs typeface="Noto Sans CJK SC" pitchFamily="34" charset="-120"/>
              </a:rPr>
              <a:t>分布漂移及缓解</a:t>
            </a:r>
            <a:endParaRPr lang="en-US" sz="2800" dirty="0">
              <a:latin typeface="微软雅黑" panose="020B0503020204020204" pitchFamily="34" charset="-122"/>
              <a:ea typeface="微软雅黑" panose="020B0503020204020204" pitchFamily="34" charset="-122"/>
            </a:endParaRPr>
          </a:p>
        </p:txBody>
      </p:sp>
      <p:sp>
        <p:nvSpPr>
          <p:cNvPr id="23" name="Shape 21"/>
          <p:cNvSpPr/>
          <p:nvPr/>
        </p:nvSpPr>
        <p:spPr>
          <a:xfrm>
            <a:off x="731520" y="4480560"/>
            <a:ext cx="10241280" cy="0"/>
          </a:xfrm>
          <a:prstGeom prst="line">
            <a:avLst/>
          </a:prstGeom>
          <a:noFill/>
          <a:ln w="12700">
            <a:solidFill>
              <a:srgbClr val="E3E7EE"/>
            </a:solidFill>
            <a:prstDash val="solid"/>
          </a:ln>
        </p:spPr>
      </p:sp>
      <p:sp>
        <p:nvSpPr>
          <p:cNvPr id="24" name="Text 22"/>
          <p:cNvSpPr/>
          <p:nvPr/>
        </p:nvSpPr>
        <p:spPr>
          <a:xfrm>
            <a:off x="731520" y="4736592"/>
            <a:ext cx="713232"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4.6</a:t>
            </a:r>
            <a:endParaRPr lang="en-US" sz="2800" dirty="0">
              <a:latin typeface="微软雅黑" panose="020B0503020204020204" pitchFamily="34" charset="-122"/>
              <a:ea typeface="微软雅黑" panose="020B0503020204020204" pitchFamily="34" charset="-122"/>
            </a:endParaRPr>
          </a:p>
        </p:txBody>
      </p:sp>
      <p:sp>
        <p:nvSpPr>
          <p:cNvPr id="25" name="Text 23"/>
          <p:cNvSpPr/>
          <p:nvPr/>
        </p:nvSpPr>
        <p:spPr>
          <a:xfrm>
            <a:off x="1572768" y="4736592"/>
            <a:ext cx="2514600" cy="274320"/>
          </a:xfrm>
          <a:prstGeom prst="rect">
            <a:avLst/>
          </a:prstGeom>
          <a:noFill/>
          <a:ln/>
        </p:spPr>
        <p:txBody>
          <a:bodyPr wrap="square" lIns="0" tIns="0" rIns="0" bIns="0" rtlCol="0" anchor="ctr"/>
          <a:lstStyle/>
          <a:p>
            <a:pPr marL="0" indent="0">
              <a:buNone/>
            </a:pPr>
            <a:r>
              <a:rPr lang="en-US" sz="2800" b="1" dirty="0">
                <a:solidFill>
                  <a:srgbClr val="222833"/>
                </a:solidFill>
                <a:latin typeface="微软雅黑" panose="020B0503020204020204" pitchFamily="34" charset="-122"/>
                <a:ea typeface="微软雅黑" panose="020B0503020204020204" pitchFamily="34" charset="-122"/>
                <a:cs typeface="Noto Sans CJK SC" pitchFamily="34" charset="-120"/>
              </a:rPr>
              <a:t>实践案例</a:t>
            </a:r>
            <a:endParaRPr lang="en-US" sz="2800" dirty="0">
              <a:latin typeface="微软雅黑" panose="020B0503020204020204" pitchFamily="34" charset="-122"/>
              <a:ea typeface="微软雅黑" panose="020B0503020204020204" pitchFamily="34" charset="-122"/>
            </a:endParaRPr>
          </a:p>
        </p:txBody>
      </p:sp>
      <p:sp>
        <p:nvSpPr>
          <p:cNvPr id="27" name="Shape 25"/>
          <p:cNvSpPr/>
          <p:nvPr/>
        </p:nvSpPr>
        <p:spPr>
          <a:xfrm>
            <a:off x="731520" y="5120640"/>
            <a:ext cx="10241280" cy="0"/>
          </a:xfrm>
          <a:prstGeom prst="line">
            <a:avLst/>
          </a:prstGeom>
          <a:noFill/>
          <a:ln w="12700">
            <a:solidFill>
              <a:srgbClr val="E3E7EE"/>
            </a:solidFill>
            <a:prstDash val="solid"/>
          </a:ln>
        </p:spPr>
      </p:sp>
      <p:sp>
        <p:nvSpPr>
          <p:cNvPr id="28" name="Text 26"/>
          <p:cNvSpPr/>
          <p:nvPr/>
        </p:nvSpPr>
        <p:spPr>
          <a:xfrm>
            <a:off x="731520" y="5376672"/>
            <a:ext cx="713232" cy="274320"/>
          </a:xfrm>
          <a:prstGeom prst="rect">
            <a:avLst/>
          </a:prstGeom>
          <a:noFill/>
          <a:ln/>
        </p:spPr>
        <p:txBody>
          <a:bodyPr wrap="square" lIns="0" tIns="0" rIns="0" bIns="0" rtlCol="0" anchor="ct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4.7</a:t>
            </a:r>
            <a:endParaRPr lang="en-US" sz="2800" dirty="0">
              <a:latin typeface="微软雅黑" panose="020B0503020204020204" pitchFamily="34" charset="-122"/>
              <a:ea typeface="微软雅黑" panose="020B0503020204020204" pitchFamily="34" charset="-122"/>
            </a:endParaRPr>
          </a:p>
        </p:txBody>
      </p:sp>
      <p:sp>
        <p:nvSpPr>
          <p:cNvPr id="29" name="Text 27"/>
          <p:cNvSpPr/>
          <p:nvPr/>
        </p:nvSpPr>
        <p:spPr>
          <a:xfrm>
            <a:off x="1572768" y="5376672"/>
            <a:ext cx="2514600" cy="274320"/>
          </a:xfrm>
          <a:prstGeom prst="rect">
            <a:avLst/>
          </a:prstGeom>
          <a:noFill/>
          <a:ln/>
        </p:spPr>
        <p:txBody>
          <a:bodyPr wrap="square" lIns="0" tIns="0" rIns="0" bIns="0" rtlCol="0" anchor="ctr"/>
          <a:lstStyle/>
          <a:p>
            <a:pPr marL="0" indent="0">
              <a:buNone/>
            </a:pPr>
            <a:r>
              <a:rPr lang="en-US" sz="2800" b="1" dirty="0" err="1">
                <a:solidFill>
                  <a:srgbClr val="222833"/>
                </a:solidFill>
                <a:latin typeface="微软雅黑" panose="020B0503020204020204" pitchFamily="34" charset="-122"/>
                <a:ea typeface="微软雅黑" panose="020B0503020204020204" pitchFamily="34" charset="-122"/>
                <a:cs typeface="Noto Sans CJK SC" pitchFamily="34" charset="-120"/>
              </a:rPr>
              <a:t>小结</a:t>
            </a:r>
            <a:endParaRPr lang="en-US" sz="2800" dirty="0">
              <a:latin typeface="微软雅黑" panose="020B0503020204020204" pitchFamily="34" charset="-122"/>
              <a:ea typeface="微软雅黑" panose="020B0503020204020204" pitchFamily="34" charset="-122"/>
            </a:endParaRPr>
          </a:p>
        </p:txBody>
      </p:sp>
      <p:sp>
        <p:nvSpPr>
          <p:cNvPr id="31" name="Shape 29"/>
          <p:cNvSpPr/>
          <p:nvPr/>
        </p:nvSpPr>
        <p:spPr>
          <a:xfrm>
            <a:off x="731520" y="5760720"/>
            <a:ext cx="10241280" cy="0"/>
          </a:xfrm>
          <a:prstGeom prst="line">
            <a:avLst/>
          </a:prstGeom>
          <a:noFill/>
          <a:ln w="12700">
            <a:solidFill>
              <a:srgbClr val="E3E7EE"/>
            </a:solidFill>
            <a:prstDash val="solid"/>
          </a:ln>
        </p:spPr>
      </p:sp>
      <p:sp>
        <p:nvSpPr>
          <p:cNvPr id="32"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4" name="Text 2"/>
          <p:cNvSpPr/>
          <p:nvPr/>
        </p:nvSpPr>
        <p:spPr>
          <a:xfrm>
            <a:off x="1417320" y="1554480"/>
            <a:ext cx="1600200" cy="1143000"/>
          </a:xfrm>
          <a:prstGeom prst="rect">
            <a:avLst/>
          </a:prstGeom>
          <a:noFill/>
          <a:ln/>
        </p:spPr>
        <p:txBody>
          <a:bodyPr wrap="square" lIns="0" tIns="0" rIns="0" bIns="0" rtlCol="0" anchor="ctr"/>
          <a:lstStyle/>
          <a:p>
            <a:pPr algn="r"/>
            <a:r>
              <a:rPr lang="en-US" altLang="zh-CN" sz="8000" b="1" dirty="0">
                <a:solidFill>
                  <a:srgbClr val="31599B"/>
                </a:solidFill>
                <a:latin typeface="Noto Sans CJK SC" pitchFamily="34" charset="0"/>
                <a:ea typeface="Noto Sans CJK SC" pitchFamily="34" charset="-122"/>
                <a:cs typeface="Noto Sans CJK SC" pitchFamily="34" charset="-120"/>
              </a:rPr>
              <a:t>01</a:t>
            </a:r>
            <a:endParaRPr lang="en-US" altLang="zh-CN" sz="8000" dirty="0"/>
          </a:p>
        </p:txBody>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Noto Sans CJK SC" pitchFamily="34" charset="0"/>
                <a:ea typeface="Noto Sans CJK SC" pitchFamily="34" charset="-122"/>
                <a:cs typeface="Noto Sans CJK SC" pitchFamily="34" charset="-120"/>
              </a:rPr>
              <a:t>遥操作交互</a:t>
            </a:r>
            <a:endParaRPr lang="en-US" sz="3900" dirty="0"/>
          </a:p>
        </p:txBody>
      </p:sp>
      <p:sp>
        <p:nvSpPr>
          <p:cNvPr id="17" name="Text 15"/>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Noto Sans CJK SC" pitchFamily="34" charset="0"/>
                <a:ea typeface="Noto Sans CJK SC" pitchFamily="34" charset="-122"/>
                <a:cs typeface="Noto Sans CJK SC" pitchFamily="34" charset="-120"/>
              </a:rPr>
              <a:t>具身智能导论 · 第4章</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4.1 遥操作交互：模仿学习从“高质量演示”开始</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13232" y="1627632"/>
            <a:ext cx="10241280" cy="4343400"/>
          </a:xfrm>
          <a:prstGeom prst="rect">
            <a:avLst/>
          </a:prstGeom>
          <a:noFill/>
          <a:ln/>
        </p:spPr>
        <p:txBody>
          <a:bodyPr wrap="square" lIns="635" tIns="635" rIns="635" bIns="635" rtlCol="0" anchor="t">
            <a:normAutofit/>
          </a:bodyPr>
          <a:lstStyle/>
          <a:p>
            <a:pPr marL="228600" indent="-228600">
              <a:lnSpc>
                <a:spcPct val="150000"/>
              </a:lnSpc>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模仿学习泛指“利用专家演示来学习行为策略”的一类方法。</a:t>
            </a:r>
            <a:endParaRPr lang="en-US" sz="2400" dirty="0">
              <a:latin typeface="微软雅黑" panose="020B0503020204020204" pitchFamily="34" charset="-122"/>
              <a:ea typeface="微软雅黑" panose="020B0503020204020204" pitchFamily="34" charset="-122"/>
            </a:endParaRPr>
          </a:p>
          <a:p>
            <a:pPr marL="228600" indent="-228600">
              <a:lnSpc>
                <a:spcPct val="150000"/>
              </a:lnSpc>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专家演示数据的质量在很大程度上决定了策略学习效果。</a:t>
            </a:r>
            <a:endParaRPr lang="en-US" sz="2400" dirty="0">
              <a:latin typeface="微软雅黑" panose="020B0503020204020204" pitchFamily="34" charset="-122"/>
              <a:ea typeface="微软雅黑" panose="020B0503020204020204" pitchFamily="34" charset="-122"/>
            </a:endParaRPr>
          </a:p>
          <a:p>
            <a:pPr marL="228600" indent="-228600">
              <a:lnSpc>
                <a:spcPct val="150000"/>
              </a:lnSpc>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演示可来自示教拖动、动作捕捉、视频观察和遥操作交互等方式。</a:t>
            </a:r>
            <a:endParaRPr lang="en-US" sz="2400" dirty="0">
              <a:latin typeface="微软雅黑" panose="020B0503020204020204" pitchFamily="34" charset="-122"/>
              <a:ea typeface="微软雅黑" panose="020B0503020204020204" pitchFamily="34" charset="-122"/>
            </a:endParaRPr>
          </a:p>
          <a:p>
            <a:pPr marL="228600" indent="-228600">
              <a:lnSpc>
                <a:spcPct val="150000"/>
              </a:lnSpc>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遥操作能够把专家意图直接转化为与机器人本体一致的动作指令，并同步记录感知、状态与控制量。</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专家演示数据的常见来源</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658368" y="1664208"/>
            <a:ext cx="2578608" cy="3429000"/>
          </a:xfrm>
          <a:prstGeom prst="roundRect">
            <a:avLst>
              <a:gd name="adj" fmla="val 1773"/>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658368" y="1664208"/>
            <a:ext cx="64008" cy="3429000"/>
          </a:xfrm>
          <a:prstGeom prst="rect">
            <a:avLst/>
          </a:prstGeom>
          <a:solidFill>
            <a:srgbClr val="31599B"/>
          </a:solidFill>
          <a:ln w="12700">
            <a:solidFill>
              <a:srgbClr val="31599B"/>
            </a:solidFill>
            <a:prstDash val="solid"/>
          </a:ln>
        </p:spPr>
      </p:sp>
      <p:sp>
        <p:nvSpPr>
          <p:cNvPr id="6" name="Text 4"/>
          <p:cNvSpPr/>
          <p:nvPr/>
        </p:nvSpPr>
        <p:spPr>
          <a:xfrm>
            <a:off x="868680" y="1810512"/>
            <a:ext cx="2194560"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Noto Sans CJK SC" pitchFamily="34" charset="0"/>
                <a:ea typeface="Noto Sans CJK SC" pitchFamily="34" charset="-122"/>
                <a:cs typeface="Noto Sans CJK SC" pitchFamily="34" charset="-120"/>
              </a:rPr>
              <a:t>示教拖动</a:t>
            </a:r>
            <a:endParaRPr lang="en-US" sz="2400" dirty="0"/>
          </a:p>
        </p:txBody>
      </p:sp>
      <p:sp>
        <p:nvSpPr>
          <p:cNvPr id="7" name="Text 5"/>
          <p:cNvSpPr/>
          <p:nvPr/>
        </p:nvSpPr>
        <p:spPr>
          <a:xfrm>
            <a:off x="868680" y="2231136"/>
            <a:ext cx="2194560" cy="271576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操作者直接拖动机器人或机械臂完成任务，获取轨迹。</a:t>
            </a:r>
            <a:endParaRPr lang="en-US" sz="2400" dirty="0"/>
          </a:p>
        </p:txBody>
      </p:sp>
      <p:sp>
        <p:nvSpPr>
          <p:cNvPr id="8" name="Shape 6"/>
          <p:cNvSpPr/>
          <p:nvPr/>
        </p:nvSpPr>
        <p:spPr>
          <a:xfrm>
            <a:off x="3456432" y="1664208"/>
            <a:ext cx="2578608" cy="3429000"/>
          </a:xfrm>
          <a:prstGeom prst="roundRect">
            <a:avLst>
              <a:gd name="adj" fmla="val 1773"/>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3456432" y="1664208"/>
            <a:ext cx="64008" cy="3429000"/>
          </a:xfrm>
          <a:prstGeom prst="rect">
            <a:avLst/>
          </a:prstGeom>
          <a:solidFill>
            <a:srgbClr val="2F8E72"/>
          </a:solidFill>
          <a:ln w="12700">
            <a:solidFill>
              <a:srgbClr val="2F8E72"/>
            </a:solidFill>
            <a:prstDash val="solid"/>
          </a:ln>
        </p:spPr>
      </p:sp>
      <p:sp>
        <p:nvSpPr>
          <p:cNvPr id="10" name="Text 8"/>
          <p:cNvSpPr/>
          <p:nvPr/>
        </p:nvSpPr>
        <p:spPr>
          <a:xfrm>
            <a:off x="3666744" y="1810512"/>
            <a:ext cx="2194560"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Noto Sans CJK SC" pitchFamily="34" charset="0"/>
                <a:ea typeface="Noto Sans CJK SC" pitchFamily="34" charset="-122"/>
                <a:cs typeface="Noto Sans CJK SC" pitchFamily="34" charset="-120"/>
              </a:rPr>
              <a:t>动作捕捉</a:t>
            </a:r>
            <a:endParaRPr lang="en-US" sz="2400" dirty="0"/>
          </a:p>
        </p:txBody>
      </p:sp>
      <p:sp>
        <p:nvSpPr>
          <p:cNvPr id="11" name="Text 9"/>
          <p:cNvSpPr/>
          <p:nvPr/>
        </p:nvSpPr>
        <p:spPr>
          <a:xfrm>
            <a:off x="3666744" y="2231136"/>
            <a:ext cx="2194560" cy="271576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记录人体运动，再通过重定向映射到机器人。</a:t>
            </a:r>
            <a:endParaRPr lang="en-US" sz="2400" dirty="0"/>
          </a:p>
        </p:txBody>
      </p:sp>
      <p:sp>
        <p:nvSpPr>
          <p:cNvPr id="12" name="Shape 10"/>
          <p:cNvSpPr/>
          <p:nvPr/>
        </p:nvSpPr>
        <p:spPr>
          <a:xfrm>
            <a:off x="6254496" y="1664208"/>
            <a:ext cx="2578608" cy="3429000"/>
          </a:xfrm>
          <a:prstGeom prst="roundRect">
            <a:avLst>
              <a:gd name="adj" fmla="val 1773"/>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6254496" y="1664208"/>
            <a:ext cx="64008" cy="3429000"/>
          </a:xfrm>
          <a:prstGeom prst="rect">
            <a:avLst/>
          </a:prstGeom>
          <a:solidFill>
            <a:srgbClr val="C58A24"/>
          </a:solidFill>
          <a:ln w="12700">
            <a:solidFill>
              <a:srgbClr val="C58A24"/>
            </a:solidFill>
            <a:prstDash val="solid"/>
          </a:ln>
        </p:spPr>
      </p:sp>
      <p:sp>
        <p:nvSpPr>
          <p:cNvPr id="14" name="Text 12"/>
          <p:cNvSpPr/>
          <p:nvPr/>
        </p:nvSpPr>
        <p:spPr>
          <a:xfrm>
            <a:off x="6464808" y="1810512"/>
            <a:ext cx="2194560"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Noto Sans CJK SC" pitchFamily="34" charset="0"/>
                <a:ea typeface="Noto Sans CJK SC" pitchFamily="34" charset="-122"/>
                <a:cs typeface="Noto Sans CJK SC" pitchFamily="34" charset="-120"/>
              </a:rPr>
              <a:t>视频观察</a:t>
            </a:r>
            <a:endParaRPr lang="en-US" sz="2400" dirty="0"/>
          </a:p>
        </p:txBody>
      </p:sp>
      <p:sp>
        <p:nvSpPr>
          <p:cNvPr id="15" name="Text 13"/>
          <p:cNvSpPr/>
          <p:nvPr/>
        </p:nvSpPr>
        <p:spPr>
          <a:xfrm>
            <a:off x="6464808" y="2231136"/>
            <a:ext cx="2194560" cy="271576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从人类示范视频中提取动作或目标信息。</a:t>
            </a:r>
            <a:endParaRPr lang="en-US" sz="2400" dirty="0"/>
          </a:p>
        </p:txBody>
      </p:sp>
      <p:sp>
        <p:nvSpPr>
          <p:cNvPr id="16" name="Shape 14"/>
          <p:cNvSpPr/>
          <p:nvPr/>
        </p:nvSpPr>
        <p:spPr>
          <a:xfrm>
            <a:off x="9052560" y="1664208"/>
            <a:ext cx="2578608" cy="3429000"/>
          </a:xfrm>
          <a:prstGeom prst="roundRect">
            <a:avLst>
              <a:gd name="adj" fmla="val 1773"/>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7" name="Shape 15"/>
          <p:cNvSpPr/>
          <p:nvPr/>
        </p:nvSpPr>
        <p:spPr>
          <a:xfrm>
            <a:off x="9052560" y="1664208"/>
            <a:ext cx="64008" cy="3429000"/>
          </a:xfrm>
          <a:prstGeom prst="rect">
            <a:avLst/>
          </a:prstGeom>
          <a:solidFill>
            <a:srgbClr val="C63F45"/>
          </a:solidFill>
          <a:ln w="12700">
            <a:solidFill>
              <a:srgbClr val="C63F45"/>
            </a:solidFill>
            <a:prstDash val="solid"/>
          </a:ln>
        </p:spPr>
      </p:sp>
      <p:sp>
        <p:nvSpPr>
          <p:cNvPr id="18" name="Text 16"/>
          <p:cNvSpPr/>
          <p:nvPr/>
        </p:nvSpPr>
        <p:spPr>
          <a:xfrm>
            <a:off x="9262872" y="1810512"/>
            <a:ext cx="2194560"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Noto Sans CJK SC" pitchFamily="34" charset="0"/>
                <a:ea typeface="Noto Sans CJK SC" pitchFamily="34" charset="-122"/>
                <a:cs typeface="Noto Sans CJK SC" pitchFamily="34" charset="-120"/>
              </a:rPr>
              <a:t>遥操作交互</a:t>
            </a:r>
            <a:endParaRPr lang="en-US" sz="2400" dirty="0"/>
          </a:p>
        </p:txBody>
      </p:sp>
      <p:sp>
        <p:nvSpPr>
          <p:cNvPr id="19" name="Text 17"/>
          <p:cNvSpPr/>
          <p:nvPr/>
        </p:nvSpPr>
        <p:spPr>
          <a:xfrm>
            <a:off x="9262872" y="2231136"/>
            <a:ext cx="2194560" cy="271576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专家直接在闭环中控制机器人，动作标签天然与机器人执行空间对齐。</a:t>
            </a:r>
            <a:endParaRPr lang="en-US" sz="2400" dirty="0"/>
          </a:p>
        </p:txBody>
      </p:sp>
      <p:sp>
        <p:nvSpPr>
          <p:cNvPr id="20" name="Text 18"/>
          <p:cNvSpPr/>
          <p:nvPr/>
        </p:nvSpPr>
        <p:spPr>
          <a:xfrm>
            <a:off x="617220" y="5505398"/>
            <a:ext cx="10698480" cy="329184"/>
          </a:xfrm>
          <a:prstGeom prst="rect">
            <a:avLst/>
          </a:prstGeom>
          <a:noFill/>
          <a:ln/>
        </p:spPr>
        <p:txBody>
          <a:bodyPr wrap="square" lIns="0" tIns="0" rIns="0" bIns="0" rtlCol="0" anchor="ctr">
            <a:normAutofit fontScale="92500" lnSpcReduction="10000"/>
          </a:bodyPr>
          <a:lstStyle/>
          <a:p>
            <a:pPr marL="0" indent="0" algn="ctr">
              <a:buNone/>
            </a:pPr>
            <a:r>
              <a:rPr lang="en-US" sz="2400" b="1" dirty="0" err="1">
                <a:solidFill>
                  <a:srgbClr val="C00000"/>
                </a:solidFill>
                <a:latin typeface="微软雅黑" panose="020B0503020204020204" pitchFamily="34" charset="-122"/>
                <a:ea typeface="微软雅黑" panose="020B0503020204020204" pitchFamily="34" charset="-122"/>
              </a:rPr>
              <a:t>本章重点关注遥操作交互，因为它是具身智能真机模仿学习数据采集的重要技术支撑</a:t>
            </a:r>
            <a:r>
              <a:rPr lang="en-US" sz="2400" b="1" dirty="0">
                <a:solidFill>
                  <a:srgbClr val="C00000"/>
                </a:solidFill>
                <a:latin typeface="微软雅黑" panose="020B0503020204020204" pitchFamily="34" charset="-122"/>
                <a:ea typeface="微软雅黑" panose="020B0503020204020204" pitchFamily="34" charset="-122"/>
              </a:rPr>
              <a:t>。</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遥操作</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从危险作业走向具身智能数据采集</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01.png"/>
          <p:cNvPicPr>
            <a:picLocks noChangeAspect="1"/>
          </p:cNvPicPr>
          <p:nvPr/>
        </p:nvPicPr>
        <p:blipFill>
          <a:blip r:embed="rId3"/>
          <a:stretch>
            <a:fillRect/>
          </a:stretch>
        </p:blipFill>
        <p:spPr>
          <a:xfrm>
            <a:off x="1227656" y="1554480"/>
            <a:ext cx="4174088" cy="3611880"/>
          </a:xfrm>
          <a:prstGeom prst="rect">
            <a:avLst/>
          </a:prstGeom>
        </p:spPr>
      </p:pic>
      <p:sp>
        <p:nvSpPr>
          <p:cNvPr id="5" name="Text 2"/>
          <p:cNvSpPr/>
          <p:nvPr/>
        </p:nvSpPr>
        <p:spPr>
          <a:xfrm>
            <a:off x="685800" y="5212080"/>
            <a:ext cx="5257800" cy="256032"/>
          </a:xfrm>
          <a:prstGeom prst="rect">
            <a:avLst/>
          </a:prstGeom>
          <a:noFill/>
          <a:ln/>
        </p:spPr>
        <p:txBody>
          <a:bodyPr wrap="square" lIns="0" tIns="0" rIns="0" bIns="0" rtlCol="0" anchor="ctr">
            <a:normAutofit/>
          </a:bodyPr>
          <a:lstStyle/>
          <a:p>
            <a:pPr algn="ctr"/>
            <a:r>
              <a:rPr lang="en-US" sz="1600" b="1" dirty="0" err="1">
                <a:solidFill>
                  <a:schemeClr val="accent1">
                    <a:lumMod val="50000"/>
                  </a:schemeClr>
                </a:solidFill>
                <a:latin typeface="微软雅黑" panose="020B0503020204020204" pitchFamily="34" charset="-122"/>
                <a:ea typeface="微软雅黑" panose="020B0503020204020204" pitchFamily="34" charset="-122"/>
              </a:rPr>
              <a:t>模拟卫星维修</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pic>
        <p:nvPicPr>
          <p:cNvPr id="6" name="Image 1" descr="/mnt/data/ch4_pdfimages/img-002.png"/>
          <p:cNvPicPr>
            <a:picLocks noChangeAspect="1"/>
          </p:cNvPicPr>
          <p:nvPr/>
        </p:nvPicPr>
        <p:blipFill>
          <a:blip r:embed="rId4"/>
          <a:stretch>
            <a:fillRect/>
          </a:stretch>
        </p:blipFill>
        <p:spPr>
          <a:xfrm>
            <a:off x="6263640" y="1860523"/>
            <a:ext cx="5257800" cy="2999794"/>
          </a:xfrm>
          <a:prstGeom prst="rect">
            <a:avLst/>
          </a:prstGeom>
        </p:spPr>
      </p:pic>
      <p:sp>
        <p:nvSpPr>
          <p:cNvPr id="7" name="Text 3"/>
          <p:cNvSpPr/>
          <p:nvPr/>
        </p:nvSpPr>
        <p:spPr>
          <a:xfrm>
            <a:off x="6263640" y="5212080"/>
            <a:ext cx="5257800" cy="256032"/>
          </a:xfrm>
          <a:prstGeom prst="rect">
            <a:avLst/>
          </a:prstGeom>
          <a:noFill/>
          <a:ln/>
        </p:spPr>
        <p:txBody>
          <a:bodyPr wrap="square" lIns="0" tIns="0" rIns="0" bIns="0" rtlCol="0" anchor="ctr">
            <a:normAutofit/>
          </a:bodyPr>
          <a:lstStyle/>
          <a:p>
            <a:pPr algn="ctr"/>
            <a:r>
              <a:rPr lang="en-US" sz="1600" b="1" dirty="0" err="1">
                <a:solidFill>
                  <a:schemeClr val="accent1">
                    <a:lumMod val="50000"/>
                  </a:schemeClr>
                </a:solidFill>
                <a:latin typeface="微软雅黑" panose="020B0503020204020204" pitchFamily="34" charset="-122"/>
                <a:ea typeface="微软雅黑" panose="020B0503020204020204" pitchFamily="34" charset="-122"/>
              </a:rPr>
              <a:t>手术机器人的主要组成</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8" name="Text 4"/>
          <p:cNvSpPr/>
          <p:nvPr/>
        </p:nvSpPr>
        <p:spPr>
          <a:xfrm>
            <a:off x="1335024" y="5819875"/>
            <a:ext cx="10469880" cy="530352"/>
          </a:xfrm>
          <a:prstGeom prst="rect">
            <a:avLst/>
          </a:prstGeom>
          <a:noFill/>
          <a:ln/>
        </p:spPr>
        <p:txBody>
          <a:bodyPr wrap="square" lIns="0" tIns="0" rIns="0" bIns="0" rtlCol="0" anchor="ctr"/>
          <a:lstStyle/>
          <a:p>
            <a:r>
              <a:rPr lang="en-US" sz="1900" b="1" dirty="0">
                <a:solidFill>
                  <a:srgbClr val="31599B"/>
                </a:solidFill>
                <a:latin typeface="微软雅黑" panose="020B0503020204020204" pitchFamily="34" charset="-122"/>
                <a:ea typeface="微软雅黑" panose="020B0503020204020204" pitchFamily="34" charset="-122"/>
              </a:rPr>
              <a:t>早期遥操作主要面向危险环境与空间在轨维护；随后在手术机器人中形成成熟主从系统。进入具身智能时代，遥操作成为真机模仿学习数据采集的关键支撑。</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4.1.1 基本原理：典型“主端—从端”闭环</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65960"/>
            <a:ext cx="2560320" cy="1417320"/>
          </a:xfrm>
          <a:prstGeom prst="roundRect">
            <a:avLst>
              <a:gd name="adj" fmla="val 2581"/>
            </a:avLst>
          </a:prstGeom>
          <a:solidFill>
            <a:srgbClr val="EDF2FA"/>
          </a:solidFill>
          <a:ln w="12700">
            <a:solidFill>
              <a:srgbClr val="DDE3EC"/>
            </a:solidFill>
            <a:prstDash val="solid"/>
          </a:ln>
        </p:spPr>
      </p:sp>
      <p:sp>
        <p:nvSpPr>
          <p:cNvPr id="5" name="Text 3"/>
          <p:cNvSpPr/>
          <p:nvPr/>
        </p:nvSpPr>
        <p:spPr>
          <a:xfrm>
            <a:off x="822960" y="2112264"/>
            <a:ext cx="384048" cy="384048"/>
          </a:xfrm>
          <a:prstGeom prst="rect">
            <a:avLst/>
          </a:prstGeom>
          <a:noFill/>
          <a:ln/>
        </p:spPr>
        <p:txBody>
          <a:bodyPr wrap="square" lIns="0" tIns="0" rIns="0" bIns="0" rtlCol="0" anchor="ctr"/>
          <a:lstStyle/>
          <a:p>
            <a:pPr marL="0" indent="0" algn="ctr">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主</a:t>
            </a:r>
            <a:endParaRPr lang="en-US" sz="2000" dirty="0">
              <a:latin typeface="微软雅黑" panose="020B0503020204020204" pitchFamily="34" charset="-122"/>
              <a:ea typeface="微软雅黑" panose="020B0503020204020204" pitchFamily="34" charset="-122"/>
            </a:endParaRPr>
          </a:p>
        </p:txBody>
      </p:sp>
      <p:sp>
        <p:nvSpPr>
          <p:cNvPr id="6" name="Text 4"/>
          <p:cNvSpPr/>
          <p:nvPr/>
        </p:nvSpPr>
        <p:spPr>
          <a:xfrm>
            <a:off x="1307592" y="2112264"/>
            <a:ext cx="1810512" cy="310896"/>
          </a:xfrm>
          <a:prstGeom prst="rect">
            <a:avLst/>
          </a:prstGeom>
          <a:noFill/>
          <a:ln/>
        </p:spPr>
        <p:txBody>
          <a:bodyPr wrap="square" lIns="0" tIns="0" rIns="0" bIns="0" rtlCol="0" anchor="ctr">
            <a:normAutofit fontScale="85000" lnSpcReduction="10000"/>
          </a:bodyPr>
          <a:lstStyle/>
          <a:p>
            <a:pPr marL="0" indent="0">
              <a:buNone/>
            </a:pPr>
            <a:r>
              <a:rPr lang="en-US" sz="1600" b="1" dirty="0">
                <a:solidFill>
                  <a:srgbClr val="31599B"/>
                </a:solidFill>
                <a:latin typeface="微软雅黑" panose="020B0503020204020204" pitchFamily="34" charset="-122"/>
                <a:ea typeface="微软雅黑" panose="020B0503020204020204" pitchFamily="34" charset="-122"/>
                <a:cs typeface="Noto Sans CJK SC" pitchFamily="34" charset="-120"/>
              </a:rPr>
              <a:t>人类操作者与交互设备</a:t>
            </a:r>
            <a:endParaRPr lang="en-US" sz="1600" dirty="0">
              <a:latin typeface="微软雅黑" panose="020B0503020204020204" pitchFamily="34" charset="-122"/>
              <a:ea typeface="微软雅黑" panose="020B0503020204020204" pitchFamily="34" charset="-122"/>
            </a:endParaRPr>
          </a:p>
        </p:txBody>
      </p:sp>
      <p:sp>
        <p:nvSpPr>
          <p:cNvPr id="7" name="Text 5"/>
          <p:cNvSpPr/>
          <p:nvPr/>
        </p:nvSpPr>
        <p:spPr>
          <a:xfrm>
            <a:off x="877824" y="2587752"/>
            <a:ext cx="2231136" cy="566928"/>
          </a:xfrm>
          <a:prstGeom prst="rect">
            <a:avLst/>
          </a:prstGeom>
          <a:noFill/>
          <a:ln/>
        </p:spPr>
        <p:txBody>
          <a:bodyPr wrap="square" lIns="0" tIns="0" rIns="0" bIns="0" rtlCol="0" anchor="ctr">
            <a:no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操纵杆、主手、数据手套、VR </a:t>
            </a: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头显、触觉设备等</a:t>
            </a:r>
            <a:endParaRPr lang="en-US" dirty="0">
              <a:latin typeface="微软雅黑" panose="020B0503020204020204" pitchFamily="34" charset="-122"/>
              <a:ea typeface="微软雅黑" panose="020B0503020204020204" pitchFamily="34" charset="-122"/>
            </a:endParaRPr>
          </a:p>
        </p:txBody>
      </p:sp>
      <p:sp>
        <p:nvSpPr>
          <p:cNvPr id="8" name="Shape 6"/>
          <p:cNvSpPr/>
          <p:nvPr/>
        </p:nvSpPr>
        <p:spPr>
          <a:xfrm>
            <a:off x="3328416" y="2459736"/>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65960"/>
            <a:ext cx="2560320" cy="1417320"/>
          </a:xfrm>
          <a:prstGeom prst="roundRect">
            <a:avLst>
              <a:gd name="adj" fmla="val 2581"/>
            </a:avLst>
          </a:prstGeom>
          <a:solidFill>
            <a:srgbClr val="EAF5F1"/>
          </a:solidFill>
          <a:ln w="12700">
            <a:solidFill>
              <a:srgbClr val="DDE3EC"/>
            </a:solidFill>
            <a:prstDash val="solid"/>
          </a:ln>
        </p:spPr>
      </p:sp>
      <p:sp>
        <p:nvSpPr>
          <p:cNvPr id="10" name="Text 8"/>
          <p:cNvSpPr/>
          <p:nvPr/>
        </p:nvSpPr>
        <p:spPr>
          <a:xfrm>
            <a:off x="3509010" y="2112264"/>
            <a:ext cx="384048" cy="384048"/>
          </a:xfrm>
          <a:prstGeom prst="rect">
            <a:avLst/>
          </a:prstGeom>
          <a:noFill/>
          <a:ln/>
        </p:spPr>
        <p:txBody>
          <a:bodyPr wrap="square" lIns="0" tIns="0" rIns="0" bIns="0" rtlCol="0" anchor="ctr"/>
          <a:lstStyle/>
          <a:p>
            <a:pPr marL="0" indent="0" algn="ctr">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映</a:t>
            </a:r>
            <a:endParaRPr lang="en-US" sz="2000" dirty="0">
              <a:latin typeface="微软雅黑" panose="020B0503020204020204" pitchFamily="34" charset="-122"/>
              <a:ea typeface="微软雅黑" panose="020B0503020204020204" pitchFamily="34" charset="-122"/>
            </a:endParaRPr>
          </a:p>
        </p:txBody>
      </p:sp>
      <p:sp>
        <p:nvSpPr>
          <p:cNvPr id="11" name="Text 9"/>
          <p:cNvSpPr/>
          <p:nvPr/>
        </p:nvSpPr>
        <p:spPr>
          <a:xfrm>
            <a:off x="3993642" y="2112264"/>
            <a:ext cx="1810512" cy="310896"/>
          </a:xfrm>
          <a:prstGeom prst="rect">
            <a:avLst/>
          </a:prstGeom>
          <a:noFill/>
          <a:ln/>
        </p:spPr>
        <p:txBody>
          <a:bodyPr wrap="square" lIns="0" tIns="0" rIns="0" bIns="0" rtlCol="0" anchor="ctr">
            <a:normAutofit/>
          </a:bodyPr>
          <a:lstStyle/>
          <a:p>
            <a:pPr marL="0" indent="0">
              <a:buNone/>
            </a:pPr>
            <a:r>
              <a:rPr lang="en-US" sz="1600" b="1" dirty="0">
                <a:solidFill>
                  <a:srgbClr val="2F8E72"/>
                </a:solidFill>
                <a:latin typeface="微软雅黑" panose="020B0503020204020204" pitchFamily="34" charset="-122"/>
                <a:ea typeface="微软雅黑" panose="020B0503020204020204" pitchFamily="34" charset="-122"/>
                <a:cs typeface="Noto Sans CJK SC" pitchFamily="34" charset="-120"/>
              </a:rPr>
              <a:t>控制映射与通信</a:t>
            </a:r>
            <a:endParaRPr lang="en-US" sz="1600" dirty="0">
              <a:latin typeface="微软雅黑" panose="020B0503020204020204" pitchFamily="34" charset="-122"/>
              <a:ea typeface="微软雅黑" panose="020B0503020204020204" pitchFamily="34" charset="-122"/>
            </a:endParaRPr>
          </a:p>
        </p:txBody>
      </p:sp>
      <p:sp>
        <p:nvSpPr>
          <p:cNvPr id="12" name="Text 10"/>
          <p:cNvSpPr/>
          <p:nvPr/>
        </p:nvSpPr>
        <p:spPr>
          <a:xfrm>
            <a:off x="3563874" y="2587752"/>
            <a:ext cx="2231136" cy="566928"/>
          </a:xfrm>
          <a:prstGeom prst="rect">
            <a:avLst/>
          </a:prstGeom>
          <a:noFill/>
          <a:ln/>
        </p:spPr>
        <p:txBody>
          <a:bodyPr wrap="square" lIns="0" tIns="0" rIns="0" bIns="0" rtlCol="0" anchor="ctr">
            <a:noAutofit/>
          </a:bodyPr>
          <a:lstStyle/>
          <a:p>
            <a:pPr marL="0" indent="0" algn="ctr">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把主端输入转换为机器人可执行动作指令</a:t>
            </a:r>
            <a:endParaRPr lang="en-US" dirty="0">
              <a:latin typeface="微软雅黑" panose="020B0503020204020204" pitchFamily="34" charset="-122"/>
              <a:ea typeface="微软雅黑" panose="020B0503020204020204" pitchFamily="34" charset="-122"/>
            </a:endParaRPr>
          </a:p>
        </p:txBody>
      </p:sp>
      <p:sp>
        <p:nvSpPr>
          <p:cNvPr id="13" name="Shape 11"/>
          <p:cNvSpPr/>
          <p:nvPr/>
        </p:nvSpPr>
        <p:spPr>
          <a:xfrm>
            <a:off x="6014466" y="2459736"/>
            <a:ext cx="347472" cy="438912"/>
          </a:xfrm>
          <a:prstGeom prst="chevron">
            <a:avLst/>
          </a:prstGeom>
          <a:solidFill>
            <a:srgbClr val="D8E2F1"/>
          </a:solidFill>
          <a:ln w="12700">
            <a:solidFill>
              <a:srgbClr val="D8E2F1"/>
            </a:solidFill>
            <a:prstDash val="solid"/>
          </a:ln>
        </p:spPr>
      </p:sp>
      <p:sp>
        <p:nvSpPr>
          <p:cNvPr id="14" name="Shape 12"/>
          <p:cNvSpPr/>
          <p:nvPr/>
        </p:nvSpPr>
        <p:spPr>
          <a:xfrm>
            <a:off x="6085332" y="1965960"/>
            <a:ext cx="2560320" cy="1417320"/>
          </a:xfrm>
          <a:prstGeom prst="roundRect">
            <a:avLst>
              <a:gd name="adj" fmla="val 2581"/>
            </a:avLst>
          </a:prstGeom>
          <a:solidFill>
            <a:srgbClr val="FFF4DE"/>
          </a:solidFill>
          <a:ln w="12700">
            <a:solidFill>
              <a:srgbClr val="DDE3EC"/>
            </a:solidFill>
            <a:prstDash val="solid"/>
          </a:ln>
        </p:spPr>
      </p:sp>
      <p:sp>
        <p:nvSpPr>
          <p:cNvPr id="15" name="Text 13"/>
          <p:cNvSpPr/>
          <p:nvPr/>
        </p:nvSpPr>
        <p:spPr>
          <a:xfrm>
            <a:off x="6195060" y="2112264"/>
            <a:ext cx="384048" cy="384048"/>
          </a:xfrm>
          <a:prstGeom prst="rect">
            <a:avLst/>
          </a:prstGeom>
          <a:noFill/>
          <a:ln/>
        </p:spPr>
        <p:txBody>
          <a:bodyPr wrap="square" lIns="0" tIns="0" rIns="0" bIns="0" rtlCol="0" anchor="ctr"/>
          <a:lstStyle/>
          <a:p>
            <a:pPr marL="0" indent="0" algn="ctr">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从</a:t>
            </a:r>
            <a:endParaRPr lang="en-US" sz="2000" dirty="0">
              <a:latin typeface="微软雅黑" panose="020B0503020204020204" pitchFamily="34" charset="-122"/>
              <a:ea typeface="微软雅黑" panose="020B0503020204020204" pitchFamily="34" charset="-122"/>
            </a:endParaRPr>
          </a:p>
        </p:txBody>
      </p:sp>
      <p:sp>
        <p:nvSpPr>
          <p:cNvPr id="16" name="Text 14"/>
          <p:cNvSpPr/>
          <p:nvPr/>
        </p:nvSpPr>
        <p:spPr>
          <a:xfrm>
            <a:off x="6679692" y="2112264"/>
            <a:ext cx="1810512" cy="310896"/>
          </a:xfrm>
          <a:prstGeom prst="rect">
            <a:avLst/>
          </a:prstGeom>
          <a:noFill/>
          <a:ln/>
        </p:spPr>
        <p:txBody>
          <a:bodyPr wrap="square" lIns="0" tIns="0" rIns="0" bIns="0" rtlCol="0" anchor="ctr">
            <a:normAutofit/>
          </a:bodyPr>
          <a:lstStyle/>
          <a:p>
            <a:pPr marL="0" indent="0">
              <a:buNone/>
            </a:pPr>
            <a:r>
              <a:rPr lang="en-US" sz="1600" b="1" dirty="0">
                <a:solidFill>
                  <a:srgbClr val="C58A24"/>
                </a:solidFill>
                <a:latin typeface="微软雅黑" panose="020B0503020204020204" pitchFamily="34" charset="-122"/>
                <a:ea typeface="微软雅黑" panose="020B0503020204020204" pitchFamily="34" charset="-122"/>
                <a:cs typeface="Noto Sans CJK SC" pitchFamily="34" charset="-120"/>
              </a:rPr>
              <a:t>机器人执行机构</a:t>
            </a:r>
            <a:endParaRPr lang="en-US" sz="1600" dirty="0">
              <a:latin typeface="微软雅黑" panose="020B0503020204020204" pitchFamily="34" charset="-122"/>
              <a:ea typeface="微软雅黑" panose="020B0503020204020204" pitchFamily="34" charset="-122"/>
            </a:endParaRPr>
          </a:p>
        </p:txBody>
      </p:sp>
      <p:sp>
        <p:nvSpPr>
          <p:cNvPr id="17" name="Text 15"/>
          <p:cNvSpPr/>
          <p:nvPr/>
        </p:nvSpPr>
        <p:spPr>
          <a:xfrm>
            <a:off x="6249924" y="2587752"/>
            <a:ext cx="2231136" cy="566928"/>
          </a:xfrm>
          <a:prstGeom prst="rect">
            <a:avLst/>
          </a:prstGeom>
          <a:noFill/>
          <a:ln/>
        </p:spPr>
        <p:txBody>
          <a:bodyPr wrap="square" lIns="0" tIns="0" rIns="0" bIns="0" rtlCol="0" anchor="ctr">
            <a:noAutofit/>
          </a:bodyPr>
          <a:lstStyle/>
          <a:p>
            <a:pPr marL="0" indent="0" algn="ctr">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夹爪、机械臂、移动底盘、人形机器人或灵巧手</a:t>
            </a:r>
            <a:endParaRPr lang="en-US" dirty="0">
              <a:latin typeface="微软雅黑" panose="020B0503020204020204" pitchFamily="34" charset="-122"/>
              <a:ea typeface="微软雅黑" panose="020B0503020204020204" pitchFamily="34" charset="-122"/>
            </a:endParaRPr>
          </a:p>
        </p:txBody>
      </p:sp>
      <p:sp>
        <p:nvSpPr>
          <p:cNvPr id="18" name="Shape 16"/>
          <p:cNvSpPr/>
          <p:nvPr/>
        </p:nvSpPr>
        <p:spPr>
          <a:xfrm>
            <a:off x="8700516" y="2459736"/>
            <a:ext cx="347472" cy="438912"/>
          </a:xfrm>
          <a:prstGeom prst="chevron">
            <a:avLst/>
          </a:prstGeom>
          <a:solidFill>
            <a:srgbClr val="D8E2F1"/>
          </a:solidFill>
          <a:ln w="12700">
            <a:solidFill>
              <a:srgbClr val="D8E2F1"/>
            </a:solidFill>
            <a:prstDash val="solid"/>
          </a:ln>
        </p:spPr>
      </p:sp>
      <p:sp>
        <p:nvSpPr>
          <p:cNvPr id="19" name="Shape 17"/>
          <p:cNvSpPr/>
          <p:nvPr/>
        </p:nvSpPr>
        <p:spPr>
          <a:xfrm>
            <a:off x="8771382" y="1965960"/>
            <a:ext cx="2560320" cy="1417320"/>
          </a:xfrm>
          <a:prstGeom prst="roundRect">
            <a:avLst>
              <a:gd name="adj" fmla="val 2581"/>
            </a:avLst>
          </a:prstGeom>
          <a:solidFill>
            <a:srgbClr val="FDECEE"/>
          </a:solidFill>
          <a:ln w="12700">
            <a:solidFill>
              <a:srgbClr val="DDE3EC"/>
            </a:solidFill>
            <a:prstDash val="solid"/>
          </a:ln>
        </p:spPr>
      </p:sp>
      <p:sp>
        <p:nvSpPr>
          <p:cNvPr id="20" name="Text 18"/>
          <p:cNvSpPr/>
          <p:nvPr/>
        </p:nvSpPr>
        <p:spPr>
          <a:xfrm>
            <a:off x="8881110" y="2112264"/>
            <a:ext cx="384048" cy="384048"/>
          </a:xfrm>
          <a:prstGeom prst="rect">
            <a:avLst/>
          </a:prstGeom>
          <a:noFill/>
          <a:ln/>
        </p:spPr>
        <p:txBody>
          <a:bodyPr wrap="square" lIns="0" tIns="0" rIns="0" bIns="0" rtlCol="0" anchor="ctr"/>
          <a:lstStyle/>
          <a:p>
            <a:pPr marL="0" indent="0" algn="ctr">
              <a:buNone/>
            </a:pPr>
            <a:r>
              <a:rPr lang="en-US" sz="2000" b="1" dirty="0">
                <a:solidFill>
                  <a:srgbClr val="C63F45"/>
                </a:solidFill>
                <a:latin typeface="微软雅黑" panose="020B0503020204020204" pitchFamily="34" charset="-122"/>
                <a:ea typeface="微软雅黑" panose="020B0503020204020204" pitchFamily="34" charset="-122"/>
                <a:cs typeface="Noto Sans CJK SC" pitchFamily="34" charset="-120"/>
              </a:rPr>
              <a:t>馈</a:t>
            </a:r>
            <a:endParaRPr lang="en-US" sz="2000" dirty="0">
              <a:latin typeface="微软雅黑" panose="020B0503020204020204" pitchFamily="34" charset="-122"/>
              <a:ea typeface="微软雅黑" panose="020B0503020204020204" pitchFamily="34" charset="-122"/>
            </a:endParaRPr>
          </a:p>
        </p:txBody>
      </p:sp>
      <p:sp>
        <p:nvSpPr>
          <p:cNvPr id="21" name="Text 19"/>
          <p:cNvSpPr/>
          <p:nvPr/>
        </p:nvSpPr>
        <p:spPr>
          <a:xfrm>
            <a:off x="9365742" y="2112264"/>
            <a:ext cx="1810512" cy="310896"/>
          </a:xfrm>
          <a:prstGeom prst="rect">
            <a:avLst/>
          </a:prstGeom>
          <a:noFill/>
          <a:ln/>
        </p:spPr>
        <p:txBody>
          <a:bodyPr wrap="square" lIns="0" tIns="0" rIns="0" bIns="0" rtlCol="0" anchor="ctr">
            <a:normAutofit/>
          </a:bodyPr>
          <a:lstStyle/>
          <a:p>
            <a:pPr marL="0" indent="0">
              <a:buNone/>
            </a:pPr>
            <a:r>
              <a:rPr lang="en-US" sz="1600" b="1" dirty="0">
                <a:solidFill>
                  <a:srgbClr val="C63F45"/>
                </a:solidFill>
                <a:latin typeface="微软雅黑" panose="020B0503020204020204" pitchFamily="34" charset="-122"/>
                <a:ea typeface="微软雅黑" panose="020B0503020204020204" pitchFamily="34" charset="-122"/>
                <a:cs typeface="Noto Sans CJK SC" pitchFamily="34" charset="-120"/>
              </a:rPr>
              <a:t>多模态反馈</a:t>
            </a:r>
            <a:endParaRPr lang="en-US" sz="1600" dirty="0">
              <a:latin typeface="微软雅黑" panose="020B0503020204020204" pitchFamily="34" charset="-122"/>
              <a:ea typeface="微软雅黑" panose="020B0503020204020204" pitchFamily="34" charset="-122"/>
            </a:endParaRPr>
          </a:p>
        </p:txBody>
      </p:sp>
      <p:sp>
        <p:nvSpPr>
          <p:cNvPr id="22" name="Text 20"/>
          <p:cNvSpPr/>
          <p:nvPr/>
        </p:nvSpPr>
        <p:spPr>
          <a:xfrm>
            <a:off x="8935974" y="2587752"/>
            <a:ext cx="2231136" cy="566928"/>
          </a:xfrm>
          <a:prstGeom prst="rect">
            <a:avLst/>
          </a:prstGeom>
          <a:noFill/>
          <a:ln/>
        </p:spPr>
        <p:txBody>
          <a:bodyPr wrap="square" lIns="0" tIns="0" rIns="0" bIns="0" rtlCol="0" anchor="ctr">
            <a:normAutofit fontScale="92500"/>
          </a:bodyPr>
          <a:lstStyle/>
          <a:p>
            <a:pPr marL="0" indent="0" algn="ctr">
              <a:buNone/>
            </a:pPr>
            <a:r>
              <a:rPr lang="en-US" sz="1600" dirty="0" err="1">
                <a:solidFill>
                  <a:srgbClr val="222833"/>
                </a:solidFill>
                <a:latin typeface="微软雅黑" panose="020B0503020204020204" pitchFamily="34" charset="-122"/>
                <a:ea typeface="微软雅黑" panose="020B0503020204020204" pitchFamily="34" charset="-122"/>
                <a:cs typeface="Noto Sans CJK SC" pitchFamily="34" charset="-120"/>
              </a:rPr>
              <a:t>视觉、位姿、力觉和触觉返回主端，支持持续修正</a:t>
            </a:r>
            <a:endParaRPr lang="en-US" sz="1600" dirty="0">
              <a:latin typeface="微软雅黑" panose="020B0503020204020204" pitchFamily="34" charset="-122"/>
              <a:ea typeface="微软雅黑" panose="020B0503020204020204" pitchFamily="34" charset="-122"/>
            </a:endParaRPr>
          </a:p>
        </p:txBody>
      </p:sp>
      <p:sp>
        <p:nvSpPr>
          <p:cNvPr id="23" name="Text 21"/>
          <p:cNvSpPr/>
          <p:nvPr/>
        </p:nvSpPr>
        <p:spPr>
          <a:xfrm>
            <a:off x="914400" y="4206240"/>
            <a:ext cx="10332720" cy="566928"/>
          </a:xfrm>
          <a:prstGeom prst="rect">
            <a:avLst/>
          </a:prstGeom>
          <a:noFill/>
          <a:ln/>
        </p:spPr>
        <p:txBody>
          <a:bodyPr wrap="square" lIns="0" tIns="0" rIns="0" bIns="0" rtlCol="0" anchor="ctr">
            <a:normAutofit/>
          </a:bodyPr>
          <a:lstStyle/>
          <a:p>
            <a:pPr marL="0" indent="0" algn="ctr">
              <a:buNone/>
            </a:pPr>
            <a:r>
              <a:rPr lang="en-US" sz="1800" b="1" dirty="0">
                <a:solidFill>
                  <a:srgbClr val="24477D"/>
                </a:solidFill>
                <a:latin typeface="微软雅黑" panose="020B0503020204020204" pitchFamily="34" charset="-122"/>
                <a:ea typeface="微软雅黑" panose="020B0503020204020204" pitchFamily="34" charset="-122"/>
                <a:cs typeface="Noto Sans CJK SC" pitchFamily="34" charset="-120"/>
              </a:rPr>
              <a:t>遥操作的价值不仅是“远程控制”，更在于稳定生成与本体动作一致、时间同步、可重复利用的演示数据。</a:t>
            </a:r>
            <a:endParaRPr lang="en-US" sz="1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VR 遥操作：人在主端，机器人在从端</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04.png"/>
          <p:cNvPicPr>
            <a:picLocks noChangeAspect="1"/>
          </p:cNvPicPr>
          <p:nvPr/>
        </p:nvPicPr>
        <p:blipFill>
          <a:blip r:embed="rId3"/>
          <a:stretch>
            <a:fillRect/>
          </a:stretch>
        </p:blipFill>
        <p:spPr>
          <a:xfrm>
            <a:off x="1043373" y="1572768"/>
            <a:ext cx="5914254" cy="4434840"/>
          </a:xfrm>
          <a:prstGeom prst="rect">
            <a:avLst/>
          </a:prstGeom>
        </p:spPr>
      </p:pic>
      <p:sp>
        <p:nvSpPr>
          <p:cNvPr id="5" name="Text 2"/>
          <p:cNvSpPr/>
          <p:nvPr/>
        </p:nvSpPr>
        <p:spPr>
          <a:xfrm>
            <a:off x="777240" y="6053328"/>
            <a:ext cx="6446520" cy="256032"/>
          </a:xfrm>
          <a:prstGeom prst="rect">
            <a:avLst/>
          </a:prstGeom>
          <a:noFill/>
          <a:ln/>
        </p:spPr>
        <p:txBody>
          <a:bodyPr wrap="square" lIns="0" tIns="0" rIns="0" bIns="0" rtlCol="0" anchor="ctr">
            <a:normAutofit/>
          </a:bodyPr>
          <a:lstStyle/>
          <a:p>
            <a:pPr marL="0" indent="0" algn="ctr">
              <a:buNone/>
            </a:pPr>
            <a:r>
              <a:rPr lang="en-US" sz="1600" b="1" dirty="0" err="1">
                <a:solidFill>
                  <a:schemeClr val="accent1">
                    <a:lumMod val="50000"/>
                  </a:schemeClr>
                </a:solidFill>
                <a:latin typeface="微软雅黑" panose="020B0503020204020204" pitchFamily="34" charset="-122"/>
                <a:ea typeface="微软雅黑" panose="020B0503020204020204" pitchFamily="34" charset="-122"/>
              </a:rPr>
              <a:t>遥操作交互机器人通过</a:t>
            </a:r>
            <a:r>
              <a:rPr lang="en-US" sz="1050" dirty="0">
                <a:solidFill>
                  <a:srgbClr val="667085"/>
                </a:solidFill>
                <a:latin typeface="Noto Sans CJK SC" pitchFamily="34" charset="0"/>
                <a:ea typeface="Noto Sans CJK SC" pitchFamily="34" charset="-122"/>
                <a:cs typeface="Noto Sans CJK SC" pitchFamily="34" charset="-120"/>
              </a:rPr>
              <a:t> </a:t>
            </a:r>
            <a:r>
              <a:rPr lang="en-US" sz="1600" b="1" dirty="0">
                <a:solidFill>
                  <a:schemeClr val="accent1">
                    <a:lumMod val="50000"/>
                  </a:schemeClr>
                </a:solidFill>
                <a:latin typeface="微软雅黑" panose="020B0503020204020204" pitchFamily="34" charset="-122"/>
                <a:ea typeface="微软雅黑" panose="020B0503020204020204" pitchFamily="34" charset="-122"/>
              </a:rPr>
              <a:t>VR</a:t>
            </a:r>
            <a:r>
              <a:rPr lang="en-US" sz="1050" dirty="0">
                <a:solidFill>
                  <a:srgbClr val="667085"/>
                </a:solidFill>
                <a:latin typeface="Noto Sans CJK SC" pitchFamily="34" charset="0"/>
                <a:ea typeface="Noto Sans CJK SC" pitchFamily="34" charset="-122"/>
                <a:cs typeface="Noto Sans CJK SC" pitchFamily="34" charset="-120"/>
              </a:rPr>
              <a:t>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控制器采集数据</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7635240" y="1691640"/>
            <a:ext cx="3520440"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7" name="Shape 4"/>
          <p:cNvSpPr/>
          <p:nvPr/>
        </p:nvSpPr>
        <p:spPr>
          <a:xfrm>
            <a:off x="7635240" y="1691640"/>
            <a:ext cx="64008" cy="1234440"/>
          </a:xfrm>
          <a:prstGeom prst="rect">
            <a:avLst/>
          </a:prstGeom>
          <a:solidFill>
            <a:srgbClr val="31599B"/>
          </a:solidFill>
          <a:ln w="12700">
            <a:solidFill>
              <a:srgbClr val="31599B"/>
            </a:solidFill>
            <a:prstDash val="solid"/>
          </a:ln>
        </p:spPr>
      </p:sp>
      <p:sp>
        <p:nvSpPr>
          <p:cNvPr id="8" name="Text 5"/>
          <p:cNvSpPr/>
          <p:nvPr/>
        </p:nvSpPr>
        <p:spPr>
          <a:xfrm>
            <a:off x="7845552" y="1837944"/>
            <a:ext cx="3136392" cy="329184"/>
          </a:xfrm>
          <a:prstGeom prst="rect">
            <a:avLst/>
          </a:prstGeom>
          <a:noFill/>
          <a:ln/>
        </p:spPr>
        <p:txBody>
          <a:bodyPr wrap="square" lIns="0" tIns="0" rIns="0" bIns="0" rtlCol="0" anchor="ctr">
            <a:normAutofit/>
          </a:bodyPr>
          <a:lstStyle/>
          <a:p>
            <a:pPr marL="0" indent="0">
              <a:buNone/>
            </a:pPr>
            <a:r>
              <a:rPr lang="en-US" sz="1750" b="1" dirty="0">
                <a:solidFill>
                  <a:srgbClr val="31599B"/>
                </a:solidFill>
                <a:latin typeface="Noto Sans CJK SC" pitchFamily="34" charset="0"/>
                <a:ea typeface="Noto Sans CJK SC" pitchFamily="34" charset="-122"/>
                <a:cs typeface="Noto Sans CJK SC" pitchFamily="34" charset="-120"/>
              </a:rPr>
              <a:t>输入</a:t>
            </a:r>
            <a:endParaRPr lang="en-US" sz="1750" dirty="0"/>
          </a:p>
        </p:txBody>
      </p:sp>
      <p:sp>
        <p:nvSpPr>
          <p:cNvPr id="9" name="Text 6"/>
          <p:cNvSpPr/>
          <p:nvPr/>
        </p:nvSpPr>
        <p:spPr>
          <a:xfrm>
            <a:off x="7845552" y="2258568"/>
            <a:ext cx="3136392" cy="521208"/>
          </a:xfrm>
          <a:prstGeom prst="rect">
            <a:avLst/>
          </a:prstGeom>
          <a:noFill/>
          <a:ln/>
        </p:spPr>
        <p:txBody>
          <a:bodyPr wrap="square" lIns="254" tIns="254" rIns="254" bIns="254" rtlCol="0" anchor="t">
            <a:normAutofit fontScale="92500" lnSpcReduction="20000"/>
          </a:bodyPr>
          <a:lstStyle/>
          <a:p>
            <a:pPr marL="0" indent="0">
              <a:buNone/>
            </a:pPr>
            <a:r>
              <a:rPr lang="en-US" sz="2000" dirty="0">
                <a:solidFill>
                  <a:srgbClr val="222833"/>
                </a:solidFill>
                <a:latin typeface="Noto Sans CJK SC" pitchFamily="34" charset="0"/>
                <a:ea typeface="Noto Sans CJK SC" pitchFamily="34" charset="-122"/>
                <a:cs typeface="Noto Sans CJK SC" pitchFamily="34" charset="-120"/>
              </a:rPr>
              <a:t>人类通过 VR 控制器给出动作意图。</a:t>
            </a:r>
            <a:endParaRPr lang="en-US" sz="2000" dirty="0"/>
          </a:p>
        </p:txBody>
      </p:sp>
      <p:sp>
        <p:nvSpPr>
          <p:cNvPr id="10" name="Shape 7"/>
          <p:cNvSpPr/>
          <p:nvPr/>
        </p:nvSpPr>
        <p:spPr>
          <a:xfrm>
            <a:off x="7635240" y="3090672"/>
            <a:ext cx="3520440"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1" name="Shape 8"/>
          <p:cNvSpPr/>
          <p:nvPr/>
        </p:nvSpPr>
        <p:spPr>
          <a:xfrm>
            <a:off x="7635240" y="3090672"/>
            <a:ext cx="64008" cy="1234440"/>
          </a:xfrm>
          <a:prstGeom prst="rect">
            <a:avLst/>
          </a:prstGeom>
          <a:solidFill>
            <a:srgbClr val="2F8E72"/>
          </a:solidFill>
          <a:ln w="12700">
            <a:solidFill>
              <a:srgbClr val="2F8E72"/>
            </a:solidFill>
            <a:prstDash val="solid"/>
          </a:ln>
        </p:spPr>
      </p:sp>
      <p:sp>
        <p:nvSpPr>
          <p:cNvPr id="12" name="Text 9"/>
          <p:cNvSpPr/>
          <p:nvPr/>
        </p:nvSpPr>
        <p:spPr>
          <a:xfrm>
            <a:off x="7845552" y="3236976"/>
            <a:ext cx="3136392" cy="329184"/>
          </a:xfrm>
          <a:prstGeom prst="rect">
            <a:avLst/>
          </a:prstGeom>
          <a:noFill/>
          <a:ln/>
        </p:spPr>
        <p:txBody>
          <a:bodyPr wrap="square" lIns="0" tIns="0" rIns="0" bIns="0" rtlCol="0" anchor="ctr">
            <a:normAutofit/>
          </a:bodyPr>
          <a:lstStyle/>
          <a:p>
            <a:pPr marL="0" indent="0">
              <a:buNone/>
            </a:pPr>
            <a:r>
              <a:rPr lang="en-US" sz="1750" b="1" dirty="0">
                <a:solidFill>
                  <a:srgbClr val="2F8E72"/>
                </a:solidFill>
                <a:latin typeface="Noto Sans CJK SC" pitchFamily="34" charset="0"/>
                <a:ea typeface="Noto Sans CJK SC" pitchFamily="34" charset="-122"/>
                <a:cs typeface="Noto Sans CJK SC" pitchFamily="34" charset="-120"/>
              </a:rPr>
              <a:t>执行</a:t>
            </a:r>
            <a:endParaRPr lang="en-US" sz="1750" dirty="0"/>
          </a:p>
        </p:txBody>
      </p:sp>
      <p:sp>
        <p:nvSpPr>
          <p:cNvPr id="13" name="Text 10"/>
          <p:cNvSpPr/>
          <p:nvPr/>
        </p:nvSpPr>
        <p:spPr>
          <a:xfrm>
            <a:off x="7845552" y="3657600"/>
            <a:ext cx="3136392" cy="521208"/>
          </a:xfrm>
          <a:prstGeom prst="rect">
            <a:avLst/>
          </a:prstGeom>
          <a:noFill/>
          <a:ln/>
        </p:spPr>
        <p:txBody>
          <a:bodyPr wrap="square" lIns="254" tIns="254" rIns="254" bIns="254" rtlCol="0" anchor="t">
            <a:normAutofit fontScale="92500" lnSpcReduction="20000"/>
          </a:bodyPr>
          <a:lstStyle/>
          <a:p>
            <a:pPr marL="0" indent="0">
              <a:buNone/>
            </a:pPr>
            <a:r>
              <a:rPr lang="en-US" sz="2000" dirty="0">
                <a:solidFill>
                  <a:srgbClr val="222833"/>
                </a:solidFill>
                <a:latin typeface="Noto Sans CJK SC" pitchFamily="34" charset="0"/>
                <a:ea typeface="Noto Sans CJK SC" pitchFamily="34" charset="-122"/>
                <a:cs typeface="Noto Sans CJK SC" pitchFamily="34" charset="-120"/>
              </a:rPr>
              <a:t>机器人在真实环境中完成对应动作。</a:t>
            </a:r>
            <a:endParaRPr lang="en-US" sz="2000" dirty="0"/>
          </a:p>
        </p:txBody>
      </p:sp>
      <p:sp>
        <p:nvSpPr>
          <p:cNvPr id="14" name="Shape 11"/>
          <p:cNvSpPr/>
          <p:nvPr/>
        </p:nvSpPr>
        <p:spPr>
          <a:xfrm>
            <a:off x="7635240" y="4489704"/>
            <a:ext cx="3520440"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5" name="Shape 12"/>
          <p:cNvSpPr/>
          <p:nvPr/>
        </p:nvSpPr>
        <p:spPr>
          <a:xfrm>
            <a:off x="7635240" y="4489704"/>
            <a:ext cx="64008" cy="1234440"/>
          </a:xfrm>
          <a:prstGeom prst="rect">
            <a:avLst/>
          </a:prstGeom>
          <a:solidFill>
            <a:srgbClr val="C58A24"/>
          </a:solidFill>
          <a:ln w="12700">
            <a:solidFill>
              <a:srgbClr val="C58A24"/>
            </a:solidFill>
            <a:prstDash val="solid"/>
          </a:ln>
        </p:spPr>
      </p:sp>
      <p:sp>
        <p:nvSpPr>
          <p:cNvPr id="16" name="Text 13"/>
          <p:cNvSpPr/>
          <p:nvPr/>
        </p:nvSpPr>
        <p:spPr>
          <a:xfrm>
            <a:off x="7845552" y="4636008"/>
            <a:ext cx="3136392" cy="329184"/>
          </a:xfrm>
          <a:prstGeom prst="rect">
            <a:avLst/>
          </a:prstGeom>
          <a:noFill/>
          <a:ln/>
        </p:spPr>
        <p:txBody>
          <a:bodyPr wrap="square" lIns="0" tIns="0" rIns="0" bIns="0" rtlCol="0" anchor="ctr">
            <a:normAutofit/>
          </a:bodyPr>
          <a:lstStyle/>
          <a:p>
            <a:pPr marL="0" indent="0">
              <a:buNone/>
            </a:pPr>
            <a:r>
              <a:rPr lang="en-US" sz="1750" b="1" dirty="0">
                <a:solidFill>
                  <a:srgbClr val="C58A24"/>
                </a:solidFill>
                <a:latin typeface="Noto Sans CJK SC" pitchFamily="34" charset="0"/>
                <a:ea typeface="Noto Sans CJK SC" pitchFamily="34" charset="-122"/>
                <a:cs typeface="Noto Sans CJK SC" pitchFamily="34" charset="-120"/>
              </a:rPr>
              <a:t>记录</a:t>
            </a:r>
            <a:endParaRPr lang="en-US" sz="1750" dirty="0"/>
          </a:p>
        </p:txBody>
      </p:sp>
      <p:sp>
        <p:nvSpPr>
          <p:cNvPr id="17" name="Text 14"/>
          <p:cNvSpPr/>
          <p:nvPr/>
        </p:nvSpPr>
        <p:spPr>
          <a:xfrm>
            <a:off x="7845552" y="5056632"/>
            <a:ext cx="3136392" cy="521208"/>
          </a:xfrm>
          <a:prstGeom prst="rect">
            <a:avLst/>
          </a:prstGeom>
          <a:noFill/>
          <a:ln/>
        </p:spPr>
        <p:txBody>
          <a:bodyPr wrap="square" lIns="254" tIns="254" rIns="254" bIns="254" rtlCol="0" anchor="t">
            <a:normAutofit lnSpcReduction="10000"/>
          </a:bodyPr>
          <a:lstStyle/>
          <a:p>
            <a:pPr marL="0" indent="0">
              <a:buNone/>
            </a:pPr>
            <a:r>
              <a:rPr lang="en-US" dirty="0">
                <a:solidFill>
                  <a:srgbClr val="222833"/>
                </a:solidFill>
                <a:latin typeface="Noto Sans CJK SC" pitchFamily="34" charset="0"/>
                <a:ea typeface="Noto Sans CJK SC" pitchFamily="34" charset="-122"/>
                <a:cs typeface="Noto Sans CJK SC" pitchFamily="34" charset="-120"/>
              </a:rPr>
              <a:t>同步保存视觉、本体状态和动作，形成可训练数据。</a:t>
            </a:r>
            <a:endParaRPr lang="en-US"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主端与从端：分别承担什么功能？</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31599B"/>
          </a:solidFill>
          <a:ln w="12700">
            <a:solidFill>
              <a:srgbClr val="31599B"/>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31599B"/>
                </a:solidFill>
                <a:latin typeface="Noto Sans CJK SC" pitchFamily="34" charset="0"/>
                <a:ea typeface="Noto Sans CJK SC" pitchFamily="34" charset="-122"/>
                <a:cs typeface="Noto Sans CJK SC" pitchFamily="34" charset="-120"/>
              </a:rPr>
              <a:t>主端：产生专家意图</a:t>
            </a:r>
            <a:endParaRPr lang="en-US" sz="2400" dirty="0"/>
          </a:p>
        </p:txBody>
      </p:sp>
      <p:sp>
        <p:nvSpPr>
          <p:cNvPr id="7" name="Text 5"/>
          <p:cNvSpPr/>
          <p:nvPr/>
        </p:nvSpPr>
        <p:spPr>
          <a:xfrm>
            <a:off x="987552" y="2231136"/>
            <a:ext cx="4690872" cy="2807208"/>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Noto Sans CJK SC" pitchFamily="34" charset="0"/>
                <a:ea typeface="Noto Sans CJK SC" pitchFamily="34" charset="-122"/>
                <a:cs typeface="Noto Sans CJK SC" pitchFamily="34" charset="-120"/>
              </a:rPr>
              <a:t>由操作者和交互设备构成。设备可以提供位置、姿态、关节运动或触觉输入，形成控制信号</a:t>
            </a:r>
            <a:endParaRPr lang="en-US" sz="2400" dirty="0"/>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2F8E72"/>
                </a:solidFill>
                <a:latin typeface="Noto Sans CJK SC" pitchFamily="34" charset="0"/>
                <a:ea typeface="Noto Sans CJK SC" pitchFamily="34" charset="-122"/>
                <a:cs typeface="Noto Sans CJK SC" pitchFamily="34" charset="-120"/>
              </a:rPr>
              <a:t>从端：执行与反馈</a:t>
            </a:r>
            <a:endParaRPr lang="en-US" sz="2400" dirty="0"/>
          </a:p>
        </p:txBody>
      </p:sp>
      <p:sp>
        <p:nvSpPr>
          <p:cNvPr id="11" name="Text 9"/>
          <p:cNvSpPr/>
          <p:nvPr/>
        </p:nvSpPr>
        <p:spPr>
          <a:xfrm>
            <a:off x="6382512" y="2231136"/>
            <a:ext cx="4690872" cy="2807208"/>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Noto Sans CJK SC" pitchFamily="34" charset="0"/>
                <a:ea typeface="Noto Sans CJK SC" pitchFamily="34" charset="-122"/>
                <a:cs typeface="Noto Sans CJK SC" pitchFamily="34" charset="-120"/>
              </a:rPr>
              <a:t>由机器人本体和执行机构构成。执行动作后，把视觉、位姿、力觉或触觉等信息返回给操作者</a:t>
            </a:r>
            <a:endParaRPr lang="en-US" sz="24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反馈通道决定遥操作是否形成稳定闭环</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627632"/>
            <a:ext cx="3246120" cy="3474720"/>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13232" y="1627632"/>
            <a:ext cx="64008" cy="3474720"/>
          </a:xfrm>
          <a:prstGeom prst="rect">
            <a:avLst/>
          </a:prstGeom>
          <a:solidFill>
            <a:srgbClr val="31599B"/>
          </a:solidFill>
          <a:ln w="12700">
            <a:solidFill>
              <a:srgbClr val="31599B"/>
            </a:solidFill>
            <a:prstDash val="solid"/>
          </a:ln>
        </p:spPr>
      </p:sp>
      <p:sp>
        <p:nvSpPr>
          <p:cNvPr id="6" name="Text 4"/>
          <p:cNvSpPr/>
          <p:nvPr/>
        </p:nvSpPr>
        <p:spPr>
          <a:xfrm>
            <a:off x="923544" y="1773936"/>
            <a:ext cx="28620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Noto Sans CJK SC" pitchFamily="34" charset="0"/>
                <a:ea typeface="Noto Sans CJK SC" pitchFamily="34" charset="-122"/>
                <a:cs typeface="Noto Sans CJK SC" pitchFamily="34" charset="-120"/>
              </a:rPr>
              <a:t>视觉反馈</a:t>
            </a:r>
            <a:endParaRPr lang="en-US" sz="2400" dirty="0"/>
          </a:p>
        </p:txBody>
      </p:sp>
      <p:sp>
        <p:nvSpPr>
          <p:cNvPr id="7" name="Text 5"/>
          <p:cNvSpPr/>
          <p:nvPr/>
        </p:nvSpPr>
        <p:spPr>
          <a:xfrm>
            <a:off x="923544" y="2194560"/>
            <a:ext cx="2862072" cy="276148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让操作者判断目标、空间关系、遮挡与执行结果。</a:t>
            </a:r>
            <a:endParaRPr lang="en-US" sz="2400" dirty="0"/>
          </a:p>
        </p:txBody>
      </p:sp>
      <p:sp>
        <p:nvSpPr>
          <p:cNvPr id="8" name="Shape 6"/>
          <p:cNvSpPr/>
          <p:nvPr/>
        </p:nvSpPr>
        <p:spPr>
          <a:xfrm>
            <a:off x="4160520" y="1627632"/>
            <a:ext cx="3246120" cy="3474720"/>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160520" y="1627632"/>
            <a:ext cx="64008" cy="3474720"/>
          </a:xfrm>
          <a:prstGeom prst="rect">
            <a:avLst/>
          </a:prstGeom>
          <a:solidFill>
            <a:srgbClr val="2F8E72"/>
          </a:solidFill>
          <a:ln w="12700">
            <a:solidFill>
              <a:srgbClr val="2F8E72"/>
            </a:solidFill>
            <a:prstDash val="solid"/>
          </a:ln>
        </p:spPr>
      </p:sp>
      <p:sp>
        <p:nvSpPr>
          <p:cNvPr id="10" name="Text 8"/>
          <p:cNvSpPr/>
          <p:nvPr/>
        </p:nvSpPr>
        <p:spPr>
          <a:xfrm>
            <a:off x="4370832" y="1773936"/>
            <a:ext cx="28620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Noto Sans CJK SC" pitchFamily="34" charset="0"/>
                <a:ea typeface="Noto Sans CJK SC" pitchFamily="34" charset="-122"/>
                <a:cs typeface="Noto Sans CJK SC" pitchFamily="34" charset="-120"/>
              </a:rPr>
              <a:t>位姿反馈</a:t>
            </a:r>
            <a:endParaRPr lang="en-US" sz="2400" dirty="0"/>
          </a:p>
        </p:txBody>
      </p:sp>
      <p:sp>
        <p:nvSpPr>
          <p:cNvPr id="11" name="Text 9"/>
          <p:cNvSpPr/>
          <p:nvPr/>
        </p:nvSpPr>
        <p:spPr>
          <a:xfrm>
            <a:off x="4370832" y="2194560"/>
            <a:ext cx="2862072" cy="276148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反映末端或本体当前状态，为动作修正提供依据。</a:t>
            </a:r>
            <a:endParaRPr lang="en-US" sz="2400" dirty="0"/>
          </a:p>
        </p:txBody>
      </p:sp>
      <p:sp>
        <p:nvSpPr>
          <p:cNvPr id="12" name="Shape 10"/>
          <p:cNvSpPr/>
          <p:nvPr/>
        </p:nvSpPr>
        <p:spPr>
          <a:xfrm>
            <a:off x="7607808" y="1627632"/>
            <a:ext cx="3246120" cy="3474720"/>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7607808" y="1627632"/>
            <a:ext cx="64008" cy="3474720"/>
          </a:xfrm>
          <a:prstGeom prst="rect">
            <a:avLst/>
          </a:prstGeom>
          <a:solidFill>
            <a:srgbClr val="C58A24"/>
          </a:solidFill>
          <a:ln w="12700">
            <a:solidFill>
              <a:srgbClr val="C58A24"/>
            </a:solidFill>
            <a:prstDash val="solid"/>
          </a:ln>
        </p:spPr>
      </p:sp>
      <p:sp>
        <p:nvSpPr>
          <p:cNvPr id="14" name="Text 12"/>
          <p:cNvSpPr/>
          <p:nvPr/>
        </p:nvSpPr>
        <p:spPr>
          <a:xfrm>
            <a:off x="7818120" y="1773936"/>
            <a:ext cx="286207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Noto Sans CJK SC" pitchFamily="34" charset="0"/>
                <a:ea typeface="Noto Sans CJK SC" pitchFamily="34" charset="-122"/>
                <a:cs typeface="Noto Sans CJK SC" pitchFamily="34" charset="-120"/>
              </a:rPr>
              <a:t>力觉 / 触觉反馈</a:t>
            </a:r>
            <a:endParaRPr lang="en-US" sz="2400" dirty="0"/>
          </a:p>
        </p:txBody>
      </p:sp>
      <p:sp>
        <p:nvSpPr>
          <p:cNvPr id="15" name="Text 13"/>
          <p:cNvSpPr/>
          <p:nvPr/>
        </p:nvSpPr>
        <p:spPr>
          <a:xfrm>
            <a:off x="7818120" y="2194560"/>
            <a:ext cx="2862072" cy="276148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以振动、阻尼或力阻抗等方式增强接触感知，提高精细操作准确性。</a:t>
            </a:r>
            <a:endParaRPr lang="en-US" sz="2400" dirty="0"/>
          </a:p>
        </p:txBody>
      </p:sp>
      <p:sp>
        <p:nvSpPr>
          <p:cNvPr id="16" name="Text 14"/>
          <p:cNvSpPr/>
          <p:nvPr/>
        </p:nvSpPr>
        <p:spPr>
          <a:xfrm>
            <a:off x="650955" y="5674252"/>
            <a:ext cx="10698480" cy="329184"/>
          </a:xfrm>
          <a:prstGeom prst="rect">
            <a:avLst/>
          </a:prstGeom>
          <a:noFill/>
          <a:ln/>
        </p:spPr>
        <p:txBody>
          <a:bodyPr wrap="square" lIns="0" tIns="0" rIns="0" bIns="0" rtlCol="0" anchor="ctr">
            <a:normAutofit/>
          </a:bodyPr>
          <a:lstStyle/>
          <a:p>
            <a:pPr marL="0" indent="0" algn="ctr">
              <a:buNone/>
            </a:pPr>
            <a:r>
              <a:rPr lang="en-US" sz="1900" b="1" dirty="0" err="1">
                <a:solidFill>
                  <a:srgbClr val="31599B"/>
                </a:solidFill>
                <a:latin typeface="微软雅黑" panose="020B0503020204020204" pitchFamily="34" charset="-122"/>
                <a:ea typeface="微软雅黑" panose="020B0503020204020204" pitchFamily="34" charset="-122"/>
              </a:rPr>
              <a:t>反馈越充分，专家越容易在操作过程中实时纠错并生成高质量样本</a:t>
            </a:r>
            <a:r>
              <a:rPr lang="en-US" sz="1900" b="1" dirty="0">
                <a:solidFill>
                  <a:srgbClr val="31599B"/>
                </a:solidFill>
                <a:latin typeface="微软雅黑" panose="020B0503020204020204" pitchFamily="34" charset="-122"/>
                <a:ea typeface="微软雅黑" panose="020B0503020204020204" pitchFamily="34" charset="-122"/>
              </a:rPr>
              <a:t>。</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一次专家演示如何表示为轨迹？</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737616" y="1517905"/>
            <a:ext cx="5303520" cy="256032"/>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4.1.1 基本原理</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2050208"/>
            <a:ext cx="10607040" cy="493776"/>
          </a:xfrm>
          <a:prstGeom prst="rect">
            <a:avLst/>
          </a:prstGeom>
          <a:noFill/>
          <a:ln/>
        </p:spPr>
        <p:txBody>
          <a:bodyPr wrap="square" lIns="0" tIns="0" rIns="0" bIns="0" rtlCol="0" anchor="ctr">
            <a:normAutofit/>
          </a:bodyPr>
          <a:lstStyle/>
          <a:p>
            <a:pPr marL="342900" indent="-342900">
              <a:buFont typeface="Arial" panose="020B0604020202020204" pitchFamily="34" charset="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一次专家演示可看作按时间排列的“观测—状态—动作”三元组序列。</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2188124" y="2882378"/>
            <a:ext cx="7635240" cy="834258"/>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1.png"/>
          <p:cNvPicPr>
            <a:picLocks noChangeAspect="1"/>
          </p:cNvPicPr>
          <p:nvPr/>
        </p:nvPicPr>
        <p:blipFill>
          <a:blip r:embed="rId3"/>
          <a:srcRect l="28138" t="20885" r="29807" b="23899"/>
          <a:stretch>
            <a:fillRect/>
          </a:stretch>
        </p:blipFill>
        <p:spPr>
          <a:xfrm>
            <a:off x="4408961" y="2882378"/>
            <a:ext cx="3071675" cy="754602"/>
          </a:xfrm>
          <a:prstGeom prst="rect">
            <a:avLst/>
          </a:prstGeom>
        </p:spPr>
      </p:pic>
      <p:sp>
        <p:nvSpPr>
          <p:cNvPr id="8" name="Text 5"/>
          <p:cNvSpPr/>
          <p:nvPr/>
        </p:nvSpPr>
        <p:spPr>
          <a:xfrm>
            <a:off x="7223760" y="3694176"/>
            <a:ext cx="868680" cy="228600"/>
          </a:xfrm>
          <a:prstGeom prst="rect">
            <a:avLst/>
          </a:prstGeom>
          <a:noFill/>
          <a:ln/>
        </p:spPr>
        <p:txBody>
          <a:bodyPr wrap="square" lIns="0" tIns="0" rIns="0" bIns="0" rtlCol="0" anchor="ctr"/>
          <a:lstStyle/>
          <a:p>
            <a:pPr marL="0" indent="0" algn="r">
              <a:buNone/>
            </a:pPr>
            <a:endParaRPr lang="en-US" sz="1100" dirty="0">
              <a:latin typeface="微软雅黑" panose="020B0503020204020204" pitchFamily="34" charset="-122"/>
              <a:ea typeface="微软雅黑" panose="020B0503020204020204" pitchFamily="34" charset="-122"/>
            </a:endParaRPr>
          </a:p>
        </p:txBody>
      </p:sp>
      <p:sp>
        <p:nvSpPr>
          <p:cNvPr id="13" name="Shape 10"/>
          <p:cNvSpPr/>
          <p:nvPr/>
        </p:nvSpPr>
        <p:spPr>
          <a:xfrm>
            <a:off x="737616" y="5217189"/>
            <a:ext cx="10716768" cy="837076"/>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57072" y="5352504"/>
            <a:ext cx="10241280" cy="518751"/>
          </a:xfrm>
          <a:prstGeom prst="rect">
            <a:avLst/>
          </a:prstGeom>
          <a:noFill/>
          <a:ln/>
        </p:spPr>
        <p:txBody>
          <a:bodyPr wrap="square" lIns="254" tIns="254" rIns="254" bIns="254" rtlCol="0" anchor="ctr">
            <a:no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轨迹把人类演示转化为结构化时序数据，是后续行为克隆和更复杂模仿学习方法的基本输入。</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14</a:t>
            </a:fld>
            <a:endParaRPr lang="en-US">
              <a:latin typeface="微软雅黑" panose="020B0503020204020204" pitchFamily="34" charset="-122"/>
              <a:ea typeface="微软雅黑" panose="020B0503020204020204" pitchFamily="34" charset="-122"/>
            </a:endParaRPr>
          </a:p>
        </p:txBody>
      </p:sp>
      <p:sp>
        <p:nvSpPr>
          <p:cNvPr id="18" name="Text 6">
            <a:extLst>
              <a:ext uri="{FF2B5EF4-FFF2-40B4-BE49-F238E27FC236}">
                <a16:creationId xmlns:a16="http://schemas.microsoft.com/office/drawing/2014/main" id="{FEF1BBED-81DD-3641-5AEE-8FDC4F0F5355}"/>
              </a:ext>
            </a:extLst>
          </p:cNvPr>
          <p:cNvSpPr/>
          <p:nvPr/>
        </p:nvSpPr>
        <p:spPr>
          <a:xfrm>
            <a:off x="1398307" y="4267712"/>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20" name="Text 7">
            <a:extLst>
              <a:ext uri="{FF2B5EF4-FFF2-40B4-BE49-F238E27FC236}">
                <a16:creationId xmlns:a16="http://schemas.microsoft.com/office/drawing/2014/main" id="{8E383227-DE09-2057-E3FD-29FB51CBA578}"/>
              </a:ext>
            </a:extLst>
          </p:cNvPr>
          <p:cNvSpPr/>
          <p:nvPr/>
        </p:nvSpPr>
        <p:spPr>
          <a:xfrm>
            <a:off x="2925635" y="3999299"/>
            <a:ext cx="5739414" cy="766822"/>
          </a:xfrm>
          <a:prstGeom prst="rect">
            <a:avLst/>
          </a:prstGeom>
          <a:noFill/>
          <a:ln/>
        </p:spPr>
        <p:txBody>
          <a:bodyPr wrap="square" lIns="127" tIns="127" rIns="127" bIns="127" rtlCol="0" anchor="t">
            <a:noAutofit/>
          </a:bodyPr>
          <a:lstStyle/>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o</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：时刻</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t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的观测</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s</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：机器人内部状态</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a</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：专家动作</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控制命令</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T：轨迹长度</a:t>
            </a:r>
            <a:endParaRPr lang="en-US" altLang="zh-CN" sz="2400" dirty="0">
              <a:latin typeface="微软雅黑" panose="020B0503020204020204" pitchFamily="34" charset="-122"/>
              <a:ea typeface="微软雅黑" panose="020B0503020204020204" pitchFamily="34" charset="-122"/>
            </a:endParaRPr>
          </a:p>
          <a:p>
            <a:pPr marL="0" indent="0">
              <a:buNone/>
            </a:pP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轨迹中的三个核心字段</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31520" y="1664208"/>
            <a:ext cx="3337560" cy="3493008"/>
          </a:xfrm>
          <a:prstGeom prst="roundRect">
            <a:avLst>
              <a:gd name="adj" fmla="val 137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31520" y="1664208"/>
            <a:ext cx="64008" cy="3493008"/>
          </a:xfrm>
          <a:prstGeom prst="rect">
            <a:avLst/>
          </a:prstGeom>
          <a:solidFill>
            <a:srgbClr val="31599B"/>
          </a:solidFill>
          <a:ln w="12700">
            <a:solidFill>
              <a:srgbClr val="31599B"/>
            </a:solidFill>
            <a:prstDash val="solid"/>
          </a:ln>
        </p:spPr>
      </p:sp>
      <p:sp>
        <p:nvSpPr>
          <p:cNvPr id="6" name="Text 4"/>
          <p:cNvSpPr/>
          <p:nvPr/>
        </p:nvSpPr>
        <p:spPr>
          <a:xfrm>
            <a:off x="941832" y="1810512"/>
            <a:ext cx="2953512" cy="329184"/>
          </a:xfrm>
          <a:prstGeom prst="rect">
            <a:avLst/>
          </a:prstGeom>
          <a:noFill/>
          <a:ln/>
        </p:spPr>
        <p:txBody>
          <a:bodyPr wrap="square" lIns="0" tIns="0" rIns="0" bIns="0" rtlCol="0" anchor="ctr">
            <a:normAutofit/>
          </a:bodyPr>
          <a:lstStyle/>
          <a:p>
            <a:pPr marL="0" indent="0">
              <a:buNone/>
            </a:pPr>
            <a:r>
              <a:rPr lang="en-US" sz="1750" b="1" dirty="0">
                <a:solidFill>
                  <a:srgbClr val="31599B"/>
                </a:solidFill>
                <a:latin typeface="微软雅黑" panose="020B0503020204020204" pitchFamily="34" charset="-122"/>
                <a:ea typeface="微软雅黑" panose="020B0503020204020204" pitchFamily="34" charset="-122"/>
                <a:cs typeface="Noto Sans CJK SC" pitchFamily="34" charset="-120"/>
              </a:rPr>
              <a:t>观测 oₜ</a:t>
            </a:r>
            <a:endParaRPr lang="en-US" sz="1750" dirty="0">
              <a:latin typeface="微软雅黑" panose="020B0503020204020204" pitchFamily="34" charset="-122"/>
              <a:ea typeface="微软雅黑" panose="020B0503020204020204" pitchFamily="34" charset="-122"/>
            </a:endParaRPr>
          </a:p>
        </p:txBody>
      </p:sp>
      <p:sp>
        <p:nvSpPr>
          <p:cNvPr id="7" name="Text 5"/>
          <p:cNvSpPr/>
          <p:nvPr/>
        </p:nvSpPr>
        <p:spPr>
          <a:xfrm>
            <a:off x="941832" y="2231136"/>
            <a:ext cx="2953512" cy="2779776"/>
          </a:xfrm>
          <a:prstGeom prst="rect">
            <a:avLst/>
          </a:prstGeom>
          <a:noFill/>
          <a:ln/>
        </p:spPr>
        <p:txBody>
          <a:bodyPr wrap="square" lIns="254" tIns="254" rIns="254" bIns="254" rtlCol="0" anchor="t">
            <a:normAutofit/>
          </a:bodyPr>
          <a:lstStyle/>
          <a:p>
            <a:pPr marL="0" indent="0">
              <a:buNone/>
            </a:pPr>
            <a:r>
              <a:rPr lang="en-US" sz="1700" dirty="0">
                <a:solidFill>
                  <a:srgbClr val="222833"/>
                </a:solidFill>
                <a:latin typeface="微软雅黑" panose="020B0503020204020204" pitchFamily="34" charset="-122"/>
                <a:ea typeface="微软雅黑" panose="020B0503020204020204" pitchFamily="34" charset="-122"/>
                <a:cs typeface="Noto Sans CJK SC" pitchFamily="34" charset="-120"/>
              </a:rPr>
              <a:t>相机图像、深度信息、触觉读数等外部感知信息。</a:t>
            </a:r>
            <a:endParaRPr lang="en-US" sz="1700" dirty="0">
              <a:latin typeface="微软雅黑" panose="020B0503020204020204" pitchFamily="34" charset="-122"/>
              <a:ea typeface="微软雅黑" panose="020B0503020204020204" pitchFamily="34" charset="-122"/>
            </a:endParaRPr>
          </a:p>
        </p:txBody>
      </p:sp>
      <p:sp>
        <p:nvSpPr>
          <p:cNvPr id="8" name="Shape 6"/>
          <p:cNvSpPr/>
          <p:nvPr/>
        </p:nvSpPr>
        <p:spPr>
          <a:xfrm>
            <a:off x="4416552" y="1664208"/>
            <a:ext cx="3337560" cy="3493008"/>
          </a:xfrm>
          <a:prstGeom prst="roundRect">
            <a:avLst>
              <a:gd name="adj" fmla="val 137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16552" y="1664208"/>
            <a:ext cx="64008" cy="3493008"/>
          </a:xfrm>
          <a:prstGeom prst="rect">
            <a:avLst/>
          </a:prstGeom>
          <a:solidFill>
            <a:srgbClr val="2F8E72"/>
          </a:solidFill>
          <a:ln w="12700">
            <a:solidFill>
              <a:srgbClr val="2F8E72"/>
            </a:solidFill>
            <a:prstDash val="solid"/>
          </a:ln>
        </p:spPr>
      </p:sp>
      <p:sp>
        <p:nvSpPr>
          <p:cNvPr id="10" name="Text 8"/>
          <p:cNvSpPr/>
          <p:nvPr/>
        </p:nvSpPr>
        <p:spPr>
          <a:xfrm>
            <a:off x="4626864" y="1810512"/>
            <a:ext cx="2953512" cy="329184"/>
          </a:xfrm>
          <a:prstGeom prst="rect">
            <a:avLst/>
          </a:prstGeom>
          <a:noFill/>
          <a:ln/>
        </p:spPr>
        <p:txBody>
          <a:bodyPr wrap="square" lIns="0" tIns="0" rIns="0" bIns="0" rtlCol="0" anchor="ctr">
            <a:normAutofit/>
          </a:bodyPr>
          <a:lstStyle/>
          <a:p>
            <a:pPr marL="0" indent="0">
              <a:buNone/>
            </a:pPr>
            <a:r>
              <a:rPr lang="en-US" sz="1750" b="1" dirty="0">
                <a:solidFill>
                  <a:srgbClr val="2F8E72"/>
                </a:solidFill>
                <a:latin typeface="微软雅黑" panose="020B0503020204020204" pitchFamily="34" charset="-122"/>
                <a:ea typeface="微软雅黑" panose="020B0503020204020204" pitchFamily="34" charset="-122"/>
                <a:cs typeface="Noto Sans CJK SC" pitchFamily="34" charset="-120"/>
              </a:rPr>
              <a:t>状态 sₜ</a:t>
            </a:r>
            <a:endParaRPr lang="en-US" sz="1750" dirty="0">
              <a:latin typeface="微软雅黑" panose="020B0503020204020204" pitchFamily="34" charset="-122"/>
              <a:ea typeface="微软雅黑" panose="020B0503020204020204" pitchFamily="34" charset="-122"/>
            </a:endParaRPr>
          </a:p>
        </p:txBody>
      </p:sp>
      <p:sp>
        <p:nvSpPr>
          <p:cNvPr id="11" name="Text 9"/>
          <p:cNvSpPr/>
          <p:nvPr/>
        </p:nvSpPr>
        <p:spPr>
          <a:xfrm>
            <a:off x="4626864" y="2231136"/>
            <a:ext cx="2953512" cy="2779776"/>
          </a:xfrm>
          <a:prstGeom prst="rect">
            <a:avLst/>
          </a:prstGeom>
          <a:noFill/>
          <a:ln/>
        </p:spPr>
        <p:txBody>
          <a:bodyPr wrap="square" lIns="254" tIns="254" rIns="254" bIns="254" rtlCol="0" anchor="t">
            <a:normAutofit/>
          </a:bodyPr>
          <a:lstStyle/>
          <a:p>
            <a:pPr marL="0" indent="0">
              <a:buNone/>
            </a:pPr>
            <a:r>
              <a:rPr lang="en-US" sz="1700" dirty="0">
                <a:solidFill>
                  <a:srgbClr val="222833"/>
                </a:solidFill>
                <a:latin typeface="微软雅黑" panose="020B0503020204020204" pitchFamily="34" charset="-122"/>
                <a:ea typeface="微软雅黑" panose="020B0503020204020204" pitchFamily="34" charset="-122"/>
                <a:cs typeface="Noto Sans CJK SC" pitchFamily="34" charset="-120"/>
              </a:rPr>
              <a:t>关节角、末端位姿、夹爪开合状态等机器人内部状态。</a:t>
            </a:r>
            <a:endParaRPr lang="en-US" sz="1700" dirty="0">
              <a:latin typeface="微软雅黑" panose="020B0503020204020204" pitchFamily="34" charset="-122"/>
              <a:ea typeface="微软雅黑" panose="020B0503020204020204" pitchFamily="34" charset="-122"/>
            </a:endParaRPr>
          </a:p>
        </p:txBody>
      </p:sp>
      <p:sp>
        <p:nvSpPr>
          <p:cNvPr id="12" name="Shape 10"/>
          <p:cNvSpPr/>
          <p:nvPr/>
        </p:nvSpPr>
        <p:spPr>
          <a:xfrm>
            <a:off x="8101584" y="1664208"/>
            <a:ext cx="3337560" cy="3493008"/>
          </a:xfrm>
          <a:prstGeom prst="roundRect">
            <a:avLst>
              <a:gd name="adj" fmla="val 137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101584" y="1664208"/>
            <a:ext cx="64008" cy="3493008"/>
          </a:xfrm>
          <a:prstGeom prst="rect">
            <a:avLst/>
          </a:prstGeom>
          <a:solidFill>
            <a:srgbClr val="C58A24"/>
          </a:solidFill>
          <a:ln w="12700">
            <a:solidFill>
              <a:srgbClr val="C58A24"/>
            </a:solidFill>
            <a:prstDash val="solid"/>
          </a:ln>
        </p:spPr>
      </p:sp>
      <p:sp>
        <p:nvSpPr>
          <p:cNvPr id="14" name="Text 12"/>
          <p:cNvSpPr/>
          <p:nvPr/>
        </p:nvSpPr>
        <p:spPr>
          <a:xfrm>
            <a:off x="8311896" y="1810512"/>
            <a:ext cx="2953512" cy="329184"/>
          </a:xfrm>
          <a:prstGeom prst="rect">
            <a:avLst/>
          </a:prstGeom>
          <a:noFill/>
          <a:ln/>
        </p:spPr>
        <p:txBody>
          <a:bodyPr wrap="square" lIns="0" tIns="0" rIns="0" bIns="0" rtlCol="0" anchor="ctr">
            <a:normAutofit/>
          </a:bodyPr>
          <a:lstStyle/>
          <a:p>
            <a:pPr marL="0" indent="0">
              <a:buNone/>
            </a:pPr>
            <a:r>
              <a:rPr lang="en-US" sz="1750" b="1" dirty="0">
                <a:solidFill>
                  <a:srgbClr val="C58A24"/>
                </a:solidFill>
                <a:latin typeface="微软雅黑" panose="020B0503020204020204" pitchFamily="34" charset="-122"/>
                <a:ea typeface="微软雅黑" panose="020B0503020204020204" pitchFamily="34" charset="-122"/>
                <a:cs typeface="Noto Sans CJK SC" pitchFamily="34" charset="-120"/>
              </a:rPr>
              <a:t>动作 aₜ</a:t>
            </a:r>
            <a:endParaRPr lang="en-US" sz="1750" dirty="0">
              <a:latin typeface="微软雅黑" panose="020B0503020204020204" pitchFamily="34" charset="-122"/>
              <a:ea typeface="微软雅黑" panose="020B0503020204020204" pitchFamily="34" charset="-122"/>
            </a:endParaRPr>
          </a:p>
        </p:txBody>
      </p:sp>
      <p:sp>
        <p:nvSpPr>
          <p:cNvPr id="15" name="Text 13"/>
          <p:cNvSpPr/>
          <p:nvPr/>
        </p:nvSpPr>
        <p:spPr>
          <a:xfrm>
            <a:off x="8311896" y="2231136"/>
            <a:ext cx="2953512" cy="2779776"/>
          </a:xfrm>
          <a:prstGeom prst="rect">
            <a:avLst/>
          </a:prstGeom>
          <a:noFill/>
          <a:ln/>
        </p:spPr>
        <p:txBody>
          <a:bodyPr wrap="square" lIns="254" tIns="254" rIns="254" bIns="254" rtlCol="0" anchor="t">
            <a:normAutofit/>
          </a:bodyPr>
          <a:lstStyle/>
          <a:p>
            <a:pPr marL="0" indent="0">
              <a:buNone/>
            </a:pPr>
            <a:r>
              <a:rPr lang="en-US" sz="1700" dirty="0">
                <a:solidFill>
                  <a:srgbClr val="222833"/>
                </a:solidFill>
                <a:latin typeface="微软雅黑" panose="020B0503020204020204" pitchFamily="34" charset="-122"/>
                <a:ea typeface="微软雅黑" panose="020B0503020204020204" pitchFamily="34" charset="-122"/>
                <a:cs typeface="Noto Sans CJK SC" pitchFamily="34" charset="-120"/>
              </a:rPr>
              <a:t>专家通过遥操作施加给机器人的动作或控制命令。</a:t>
            </a:r>
            <a:endParaRPr lang="en-US" sz="1700" dirty="0">
              <a:latin typeface="微软雅黑" panose="020B0503020204020204" pitchFamily="34" charset="-122"/>
              <a:ea typeface="微软雅黑" panose="020B0503020204020204" pitchFamily="34" charset="-122"/>
            </a:endParaRPr>
          </a:p>
        </p:txBody>
      </p:sp>
      <p:sp>
        <p:nvSpPr>
          <p:cNvPr id="16" name="Text 14"/>
          <p:cNvSpPr/>
          <p:nvPr/>
        </p:nvSpPr>
        <p:spPr>
          <a:xfrm>
            <a:off x="914400" y="5616547"/>
            <a:ext cx="10698480" cy="329184"/>
          </a:xfrm>
          <a:prstGeom prst="rect">
            <a:avLst/>
          </a:prstGeom>
          <a:noFill/>
          <a:ln/>
        </p:spPr>
        <p:txBody>
          <a:bodyPr wrap="square" lIns="0" tIns="0" rIns="0" bIns="0" rtlCol="0" anchor="ctr">
            <a:normAutofit/>
          </a:bodyPr>
          <a:lstStyle/>
          <a:p>
            <a:pPr algn="ctr"/>
            <a:r>
              <a:rPr lang="en-US" sz="1900" b="1" dirty="0" err="1">
                <a:solidFill>
                  <a:srgbClr val="31599B"/>
                </a:solidFill>
                <a:latin typeface="微软雅黑" panose="020B0503020204020204" pitchFamily="34" charset="-122"/>
                <a:ea typeface="微软雅黑" panose="020B0503020204020204" pitchFamily="34" charset="-122"/>
              </a:rPr>
              <a:t>只有时间同步，三类数据才能共同描述“机器人看到什么、处于什么状态、专家让它做什么</a:t>
            </a:r>
            <a:r>
              <a:rPr lang="en-US" sz="1900" b="1" dirty="0">
                <a:solidFill>
                  <a:srgbClr val="31599B"/>
                </a:solidFill>
                <a:latin typeface="微软雅黑" panose="020B0503020204020204" pitchFamily="34" charset="-122"/>
                <a:ea typeface="微软雅黑" panose="020B0503020204020204" pitchFamily="34" charset="-122"/>
              </a:rPr>
              <a:t>”。</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15</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加入接触力 / 触觉后的演示轨迹</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1572768"/>
            <a:ext cx="10607040" cy="493776"/>
          </a:xfrm>
          <a:prstGeom prst="rect">
            <a:avLst/>
          </a:prstGeom>
          <a:noFill/>
          <a:ln/>
        </p:spPr>
        <p:txBody>
          <a:bodyPr wrap="square" lIns="0" tIns="0" rIns="0" bIns="0" rtlCol="0" anchor="ctr">
            <a:normAutofit/>
          </a:bodyPr>
          <a:lstStyle/>
          <a:p>
            <a:pPr marL="342900" indent="-342900">
              <a:buFont typeface="Arial" panose="020B0604020202020204" pitchFamily="34" charset="0"/>
              <a:buChar char="•"/>
            </a:pPr>
            <a:r>
              <a:rPr lang="en-US" sz="2400" dirty="0" err="1">
                <a:solidFill>
                  <a:srgbClr val="222833"/>
                </a:solidFill>
                <a:latin typeface="微软雅黑" panose="020B0503020204020204" pitchFamily="34" charset="-122"/>
                <a:ea typeface="微软雅黑" panose="020B0503020204020204" pitchFamily="34" charset="-122"/>
              </a:rPr>
              <a:t>若系统记录接触力、力矩或触觉反馈，可把它作为附加字段并入演示轨迹</a:t>
            </a:r>
            <a:r>
              <a:rPr lang="en-US" sz="2400" dirty="0">
                <a:solidFill>
                  <a:srgbClr val="222833"/>
                </a:solidFill>
                <a:latin typeface="微软雅黑" panose="020B0503020204020204" pitchFamily="34" charset="-122"/>
                <a:ea typeface="微软雅黑" panose="020B0503020204020204" pitchFamily="34" charset="-122"/>
              </a:rPr>
              <a:t>。</a:t>
            </a:r>
          </a:p>
        </p:txBody>
      </p:sp>
      <p:sp>
        <p:nvSpPr>
          <p:cNvPr id="6" name="Shape 4"/>
          <p:cNvSpPr/>
          <p:nvPr/>
        </p:nvSpPr>
        <p:spPr>
          <a:xfrm>
            <a:off x="2225722" y="2513527"/>
            <a:ext cx="4934120" cy="953817"/>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txBody>
          <a:bodyPr/>
          <a:lstStyle/>
          <a:p>
            <a:endParaRPr lang="zh-CN" altLang="en-US" dirty="0">
              <a:latin typeface="微软雅黑" panose="020B0503020204020204" pitchFamily="34" charset="-122"/>
              <a:ea typeface="微软雅黑" panose="020B0503020204020204" pitchFamily="34" charset="-122"/>
            </a:endParaRPr>
          </a:p>
        </p:txBody>
      </p:sp>
      <p:pic>
        <p:nvPicPr>
          <p:cNvPr id="7" name="Image 0" descr="/mnt/data/ch4_formula_rendered/eq-4-2.png"/>
          <p:cNvPicPr>
            <a:picLocks noChangeAspect="1"/>
          </p:cNvPicPr>
          <p:nvPr/>
        </p:nvPicPr>
        <p:blipFill>
          <a:blip r:embed="rId3"/>
          <a:srcRect l="29821" t="29483" r="29911" b="30517"/>
          <a:stretch>
            <a:fillRect/>
          </a:stretch>
        </p:blipFill>
        <p:spPr>
          <a:xfrm>
            <a:off x="2627791" y="2569198"/>
            <a:ext cx="4212454" cy="750532"/>
          </a:xfrm>
          <a:prstGeom prst="rect">
            <a:avLst/>
          </a:prstGeom>
        </p:spPr>
      </p:pic>
      <p:sp>
        <p:nvSpPr>
          <p:cNvPr id="13" name="Shape 10"/>
          <p:cNvSpPr/>
          <p:nvPr/>
        </p:nvSpPr>
        <p:spPr>
          <a:xfrm>
            <a:off x="655527" y="5239245"/>
            <a:ext cx="10716768" cy="1298448"/>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874983" y="5476989"/>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在接触丰富的抓取、装配等任务中，额外的力觉/触觉信息能够补充视觉与本体状态。</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16</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F258A986-E4C5-1303-EA93-0ACBA1A032F4}"/>
              </a:ext>
            </a:extLst>
          </p:cNvPr>
          <p:cNvSpPr/>
          <p:nvPr/>
        </p:nvSpPr>
        <p:spPr>
          <a:xfrm>
            <a:off x="1398307" y="4267712"/>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3EEFC2ED-4D41-C603-2A34-EDC4E18F7EB4}"/>
              </a:ext>
            </a:extLst>
          </p:cNvPr>
          <p:cNvSpPr/>
          <p:nvPr/>
        </p:nvSpPr>
        <p:spPr>
          <a:xfrm>
            <a:off x="2885685" y="4216391"/>
            <a:ext cx="5739414" cy="766822"/>
          </a:xfrm>
          <a:prstGeom prst="rect">
            <a:avLst/>
          </a:prstGeom>
          <a:noFill/>
          <a:ln/>
        </p:spPr>
        <p:txBody>
          <a:bodyPr wrap="square" lIns="127" tIns="127" rIns="127" bIns="127" rtlCol="0" anchor="t">
            <a:noAutofit/>
          </a:bodyPr>
          <a:lstStyle/>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f</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：接触力、力矩或触觉反馈</a:t>
            </a:r>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N条演示如何构成训练数据集</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1572768"/>
            <a:ext cx="10607040" cy="493776"/>
          </a:xfrm>
          <a:prstGeom prst="rect">
            <a:avLst/>
          </a:prstGeom>
          <a:noFill/>
          <a:ln/>
        </p:spPr>
        <p:txBody>
          <a:bodyPr wrap="square" lIns="0" tIns="0" rIns="0" bIns="0" rtlCol="0" anchor="ctr">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rPr>
              <a:t>多条专家演示轨迹汇集后形成专家数据集</a:t>
            </a:r>
            <a:r>
              <a:rPr lang="en-US" sz="2400" dirty="0">
                <a:solidFill>
                  <a:srgbClr val="222833"/>
                </a:solidFill>
                <a:latin typeface="微软雅黑" panose="020B0503020204020204" pitchFamily="34" charset="-122"/>
                <a:ea typeface="微软雅黑" panose="020B0503020204020204" pitchFamily="34" charset="-122"/>
              </a:rPr>
              <a:t> </a:t>
            </a:r>
            <a:r>
              <a:rPr lang="en-US" sz="2400" i="1" dirty="0">
                <a:solidFill>
                  <a:srgbClr val="222833"/>
                </a:solidFill>
                <a:latin typeface="微软雅黑" panose="020B0503020204020204" pitchFamily="34" charset="-122"/>
                <a:ea typeface="微软雅黑" panose="020B0503020204020204" pitchFamily="34" charset="-122"/>
              </a:rPr>
              <a:t>D</a:t>
            </a:r>
            <a:r>
              <a:rPr lang="en-US" sz="2400" i="1" baseline="-25000" dirty="0">
                <a:solidFill>
                  <a:srgbClr val="222833"/>
                </a:solidFill>
                <a:latin typeface="微软雅黑" panose="020B0503020204020204" pitchFamily="34" charset="-122"/>
                <a:ea typeface="微软雅黑" panose="020B0503020204020204" pitchFamily="34" charset="-122"/>
              </a:rPr>
              <a:t>E</a:t>
            </a:r>
            <a:endParaRPr lang="en-US" sz="2400" dirty="0">
              <a:solidFill>
                <a:srgbClr val="222833"/>
              </a:solidFill>
              <a:latin typeface="微软雅黑" panose="020B0503020204020204" pitchFamily="34" charset="-122"/>
              <a:ea typeface="微软雅黑" panose="020B0503020204020204" pitchFamily="34" charset="-122"/>
            </a:endParaRPr>
          </a:p>
        </p:txBody>
      </p:sp>
      <p:sp>
        <p:nvSpPr>
          <p:cNvPr id="6" name="Shape 4"/>
          <p:cNvSpPr/>
          <p:nvPr/>
        </p:nvSpPr>
        <p:spPr>
          <a:xfrm>
            <a:off x="713232" y="2445798"/>
            <a:ext cx="7635240" cy="1020932"/>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3.png"/>
          <p:cNvPicPr>
            <a:picLocks noChangeAspect="1"/>
          </p:cNvPicPr>
          <p:nvPr/>
        </p:nvPicPr>
        <p:blipFill>
          <a:blip r:embed="rId3"/>
          <a:srcRect l="31652" t="23200" r="35263" b="26245"/>
          <a:stretch>
            <a:fillRect/>
          </a:stretch>
        </p:blipFill>
        <p:spPr>
          <a:xfrm>
            <a:off x="3195961" y="2572393"/>
            <a:ext cx="2482311" cy="776797"/>
          </a:xfrm>
          <a:prstGeom prst="rect">
            <a:avLst/>
          </a:prstGeom>
        </p:spPr>
      </p:pic>
      <p:sp>
        <p:nvSpPr>
          <p:cNvPr id="13" name="Shape 10"/>
          <p:cNvSpPr/>
          <p:nvPr/>
        </p:nvSpPr>
        <p:spPr>
          <a:xfrm>
            <a:off x="668844" y="5517472"/>
            <a:ext cx="10716768" cy="930292"/>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888300" y="5579083"/>
            <a:ext cx="10241280" cy="804672"/>
          </a:xfrm>
          <a:prstGeom prst="rect">
            <a:avLst/>
          </a:prstGeom>
          <a:noFill/>
          <a:ln/>
        </p:spPr>
        <p:txBody>
          <a:bodyPr wrap="square" lIns="254" tIns="254" rIns="254" bIns="254" rtlCol="0" anchor="ctr">
            <a:normAutofit/>
          </a:bodyPr>
          <a:lstStyle/>
          <a:p>
            <a:r>
              <a:rPr lang="en-US" sz="2400" dirty="0">
                <a:solidFill>
                  <a:srgbClr val="222833"/>
                </a:solidFill>
                <a:latin typeface="微软雅黑" panose="020B0503020204020204" pitchFamily="34" charset="-122"/>
                <a:ea typeface="微软雅黑" panose="020B0503020204020204" pitchFamily="34" charset="-122"/>
              </a:rPr>
              <a:t>对行为克隆而言，它本质上是一组时间对齐的观测—状态—动作样本；对 IRL、GAIL </a:t>
            </a:r>
            <a:r>
              <a:rPr lang="en-US" sz="2400" dirty="0" err="1">
                <a:solidFill>
                  <a:srgbClr val="222833"/>
                </a:solidFill>
                <a:latin typeface="微软雅黑" panose="020B0503020204020204" pitchFamily="34" charset="-122"/>
                <a:ea typeface="微软雅黑" panose="020B0503020204020204" pitchFamily="34" charset="-122"/>
              </a:rPr>
              <a:t>等方法而言，它还支持奖励推断与轨迹分布匹配</a:t>
            </a:r>
            <a:r>
              <a:rPr lang="en-US" sz="2400" dirty="0">
                <a:solidFill>
                  <a:srgbClr val="222833"/>
                </a:solidFill>
                <a:latin typeface="微软雅黑" panose="020B0503020204020204" pitchFamily="34" charset="-122"/>
                <a:ea typeface="微软雅黑" panose="020B0503020204020204" pitchFamily="34" charset="-122"/>
              </a:rPr>
              <a:t>。</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17</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F744AB56-D554-CE2F-18D4-96D5A69121BB}"/>
              </a:ext>
            </a:extLst>
          </p:cNvPr>
          <p:cNvSpPr/>
          <p:nvPr/>
        </p:nvSpPr>
        <p:spPr>
          <a:xfrm>
            <a:off x="1398307" y="4267712"/>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71700ADA-ABD7-2884-77E2-E092D3AE0248}"/>
              </a:ext>
            </a:extLst>
          </p:cNvPr>
          <p:cNvSpPr/>
          <p:nvPr/>
        </p:nvSpPr>
        <p:spPr>
          <a:xfrm>
            <a:off x="2885685" y="4216391"/>
            <a:ext cx="7518944" cy="766822"/>
          </a:xfrm>
          <a:prstGeom prst="rect">
            <a:avLst/>
          </a:prstGeom>
          <a:noFill/>
          <a:ln/>
        </p:spPr>
        <p:txBody>
          <a:bodyPr wrap="square" lIns="127" tIns="127" rIns="127" bIns="127" rtlCol="0" anchor="t">
            <a:noAutofit/>
          </a:bodyPr>
          <a:lstStyle/>
          <a:p>
            <a:r>
              <a:rPr lang="en-US" altLang="zh-CN" sz="2400" i="1" dirty="0">
                <a:solidFill>
                  <a:srgbClr val="222833"/>
                </a:solidFill>
                <a:latin typeface="微软雅黑" panose="020B0503020204020204" pitchFamily="34" charset="-122"/>
                <a:ea typeface="微软雅黑" panose="020B0503020204020204" pitchFamily="34" charset="-122"/>
              </a:rPr>
              <a:t>D</a:t>
            </a:r>
            <a:r>
              <a:rPr lang="en-US" altLang="zh-CN" sz="2400" i="1" baseline="-25000" dirty="0">
                <a:solidFill>
                  <a:srgbClr val="222833"/>
                </a:solidFill>
                <a:latin typeface="微软雅黑" panose="020B0503020204020204" pitchFamily="34" charset="-122"/>
                <a:ea typeface="微软雅黑" panose="020B0503020204020204" pitchFamily="34" charset="-122"/>
              </a:rPr>
              <a:t>E </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专家演示数据集</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i="1" dirty="0">
                <a:solidFill>
                  <a:srgbClr val="222833"/>
                </a:solidFill>
                <a:latin typeface="微软雅黑" panose="020B0503020204020204" pitchFamily="34" charset="-122"/>
                <a:ea typeface="微软雅黑" panose="020B0503020204020204" pitchFamily="34" charset="-122"/>
                <a:cs typeface="Noto Sans CJK SC" pitchFamily="34" charset="-120"/>
              </a:rPr>
              <a:t>τ</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ⁱ：第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i</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条演示轨迹</a:t>
            </a:r>
            <a:endParaRPr lang="en-US" altLang="zh-CN" sz="2400" dirty="0">
              <a:latin typeface="微软雅黑" panose="020B0503020204020204" pitchFamily="34" charset="-122"/>
              <a:ea typeface="微软雅黑" panose="020B0503020204020204" pitchFamily="34" charset="-122"/>
            </a:endParaRPr>
          </a:p>
          <a:p>
            <a:r>
              <a:rPr lang="en-US" altLang="zh-CN" sz="2400" i="1" dirty="0" err="1">
                <a:solidFill>
                  <a:srgbClr val="222833"/>
                </a:solidFill>
                <a:latin typeface="微软雅黑" panose="020B0503020204020204" pitchFamily="34" charset="-122"/>
                <a:ea typeface="微软雅黑" panose="020B0503020204020204" pitchFamily="34" charset="-122"/>
                <a:cs typeface="Noto Sans CJK SC" pitchFamily="34" charset="-120"/>
              </a:rPr>
              <a:t>N</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：演示轨迹总数</a:t>
            </a:r>
            <a:endParaRPr lang="en-US" altLang="zh-CN" sz="2400" dirty="0">
              <a:latin typeface="微软雅黑" panose="020B0503020204020204" pitchFamily="34" charset="-122"/>
              <a:ea typeface="微软雅黑" panose="020B0503020204020204" pitchFamily="34" charset="-122"/>
            </a:endParaRPr>
          </a:p>
          <a:p>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典型遥操作交互数据采集流程</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65960"/>
            <a:ext cx="2560320" cy="1417320"/>
          </a:xfrm>
          <a:prstGeom prst="roundRect">
            <a:avLst>
              <a:gd name="adj" fmla="val 2581"/>
            </a:avLst>
          </a:prstGeom>
          <a:solidFill>
            <a:srgbClr val="EDF2FA"/>
          </a:solidFill>
          <a:ln w="12700">
            <a:solidFill>
              <a:srgbClr val="DDE3EC"/>
            </a:solidFill>
            <a:prstDash val="solid"/>
          </a:ln>
        </p:spPr>
      </p:sp>
      <p:sp>
        <p:nvSpPr>
          <p:cNvPr id="5" name="Text 3"/>
          <p:cNvSpPr/>
          <p:nvPr/>
        </p:nvSpPr>
        <p:spPr>
          <a:xfrm>
            <a:off x="822960" y="2112264"/>
            <a:ext cx="384048" cy="384048"/>
          </a:xfrm>
          <a:prstGeom prst="rect">
            <a:avLst/>
          </a:prstGeom>
          <a:noFill/>
          <a:ln/>
        </p:spPr>
        <p:txBody>
          <a:bodyPr wrap="square" lIns="0" tIns="0" rIns="0" bIns="0" rtlCol="0" anchor="ctr"/>
          <a:lstStyle/>
          <a:p>
            <a:pPr marL="0" indent="0" algn="ctr">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1</a:t>
            </a:r>
            <a:endParaRPr lang="en-US" sz="2000" dirty="0">
              <a:latin typeface="微软雅黑" panose="020B0503020204020204" pitchFamily="34" charset="-122"/>
              <a:ea typeface="微软雅黑" panose="020B0503020204020204" pitchFamily="34" charset="-122"/>
            </a:endParaRPr>
          </a:p>
        </p:txBody>
      </p:sp>
      <p:sp>
        <p:nvSpPr>
          <p:cNvPr id="6" name="Text 4"/>
          <p:cNvSpPr/>
          <p:nvPr/>
        </p:nvSpPr>
        <p:spPr>
          <a:xfrm>
            <a:off x="1307592" y="2112264"/>
            <a:ext cx="1810512" cy="310896"/>
          </a:xfrm>
          <a:prstGeom prst="rect">
            <a:avLst/>
          </a:prstGeom>
          <a:noFill/>
          <a:ln/>
        </p:spPr>
        <p:txBody>
          <a:bodyPr wrap="square" lIns="0" tIns="0" rIns="0" bIns="0" rtlCol="0" anchor="ctr">
            <a:normAutofit/>
          </a:bodyPr>
          <a:lstStyle/>
          <a:p>
            <a:pPr marL="0" indent="0">
              <a:buNone/>
            </a:pPr>
            <a:r>
              <a:rPr lang="en-US" sz="1600" b="1" dirty="0">
                <a:solidFill>
                  <a:srgbClr val="31599B"/>
                </a:solidFill>
                <a:latin typeface="微软雅黑" panose="020B0503020204020204" pitchFamily="34" charset="-122"/>
                <a:ea typeface="微软雅黑" panose="020B0503020204020204" pitchFamily="34" charset="-122"/>
                <a:cs typeface="Noto Sans CJK SC" pitchFamily="34" charset="-120"/>
              </a:rPr>
              <a:t>操作</a:t>
            </a:r>
            <a:endParaRPr lang="en-US" sz="1600" dirty="0">
              <a:latin typeface="微软雅黑" panose="020B0503020204020204" pitchFamily="34" charset="-122"/>
              <a:ea typeface="微软雅黑" panose="020B0503020204020204" pitchFamily="34" charset="-122"/>
            </a:endParaRPr>
          </a:p>
        </p:txBody>
      </p:sp>
      <p:sp>
        <p:nvSpPr>
          <p:cNvPr id="7" name="Text 5"/>
          <p:cNvSpPr/>
          <p:nvPr/>
        </p:nvSpPr>
        <p:spPr>
          <a:xfrm>
            <a:off x="877824" y="2587752"/>
            <a:ext cx="2231136" cy="566928"/>
          </a:xfrm>
          <a:prstGeom prst="rect">
            <a:avLst/>
          </a:prstGeom>
          <a:noFill/>
          <a:ln/>
        </p:spPr>
        <p:txBody>
          <a:bodyPr wrap="square" lIns="0" tIns="0" rIns="0" bIns="0" rtlCol="0" anchor="ctr">
            <a:no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专家通过遥控设备产生控制信号，机器人执行动作。</a:t>
            </a:r>
            <a:endParaRPr lang="en-US" dirty="0">
              <a:latin typeface="微软雅黑" panose="020B0503020204020204" pitchFamily="34" charset="-122"/>
              <a:ea typeface="微软雅黑" panose="020B0503020204020204" pitchFamily="34" charset="-122"/>
            </a:endParaRPr>
          </a:p>
        </p:txBody>
      </p:sp>
      <p:sp>
        <p:nvSpPr>
          <p:cNvPr id="8" name="Shape 6"/>
          <p:cNvSpPr/>
          <p:nvPr/>
        </p:nvSpPr>
        <p:spPr>
          <a:xfrm>
            <a:off x="3328416" y="2459736"/>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65960"/>
            <a:ext cx="2560320" cy="1417320"/>
          </a:xfrm>
          <a:prstGeom prst="roundRect">
            <a:avLst>
              <a:gd name="adj" fmla="val 2581"/>
            </a:avLst>
          </a:prstGeom>
          <a:solidFill>
            <a:srgbClr val="EAF5F1"/>
          </a:solidFill>
          <a:ln w="12700">
            <a:solidFill>
              <a:srgbClr val="DDE3EC"/>
            </a:solidFill>
            <a:prstDash val="solid"/>
          </a:ln>
        </p:spPr>
      </p:sp>
      <p:sp>
        <p:nvSpPr>
          <p:cNvPr id="10" name="Text 8"/>
          <p:cNvSpPr/>
          <p:nvPr/>
        </p:nvSpPr>
        <p:spPr>
          <a:xfrm>
            <a:off x="3509010" y="2112264"/>
            <a:ext cx="384048" cy="384048"/>
          </a:xfrm>
          <a:prstGeom prst="rect">
            <a:avLst/>
          </a:prstGeom>
          <a:noFill/>
          <a:ln/>
        </p:spPr>
        <p:txBody>
          <a:bodyPr wrap="square" lIns="0" tIns="0" rIns="0" bIns="0" rtlCol="0" anchor="ctr"/>
          <a:lstStyle/>
          <a:p>
            <a:pPr marL="0" indent="0" algn="ctr">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2</a:t>
            </a:r>
            <a:endParaRPr lang="en-US" sz="2000" dirty="0">
              <a:latin typeface="微软雅黑" panose="020B0503020204020204" pitchFamily="34" charset="-122"/>
              <a:ea typeface="微软雅黑" panose="020B0503020204020204" pitchFamily="34" charset="-122"/>
            </a:endParaRPr>
          </a:p>
        </p:txBody>
      </p:sp>
      <p:sp>
        <p:nvSpPr>
          <p:cNvPr id="11" name="Text 9"/>
          <p:cNvSpPr/>
          <p:nvPr/>
        </p:nvSpPr>
        <p:spPr>
          <a:xfrm>
            <a:off x="3993642" y="2112264"/>
            <a:ext cx="1810512" cy="310896"/>
          </a:xfrm>
          <a:prstGeom prst="rect">
            <a:avLst/>
          </a:prstGeom>
          <a:noFill/>
          <a:ln/>
        </p:spPr>
        <p:txBody>
          <a:bodyPr wrap="square" lIns="0" tIns="0" rIns="0" bIns="0" rtlCol="0" anchor="ctr">
            <a:normAutofit/>
          </a:bodyPr>
          <a:lstStyle/>
          <a:p>
            <a:pPr marL="0" indent="0">
              <a:buNone/>
            </a:pPr>
            <a:r>
              <a:rPr lang="en-US" sz="1600" b="1" dirty="0">
                <a:solidFill>
                  <a:srgbClr val="2F8E72"/>
                </a:solidFill>
                <a:latin typeface="微软雅黑" panose="020B0503020204020204" pitchFamily="34" charset="-122"/>
                <a:ea typeface="微软雅黑" panose="020B0503020204020204" pitchFamily="34" charset="-122"/>
                <a:cs typeface="Noto Sans CJK SC" pitchFamily="34" charset="-120"/>
              </a:rPr>
              <a:t>反馈</a:t>
            </a:r>
            <a:endParaRPr lang="en-US" sz="1600" dirty="0">
              <a:latin typeface="微软雅黑" panose="020B0503020204020204" pitchFamily="34" charset="-122"/>
              <a:ea typeface="微软雅黑" panose="020B0503020204020204" pitchFamily="34" charset="-122"/>
            </a:endParaRPr>
          </a:p>
        </p:txBody>
      </p:sp>
      <p:sp>
        <p:nvSpPr>
          <p:cNvPr id="12" name="Text 10"/>
          <p:cNvSpPr/>
          <p:nvPr/>
        </p:nvSpPr>
        <p:spPr>
          <a:xfrm>
            <a:off x="3563874" y="2587752"/>
            <a:ext cx="2231136" cy="566928"/>
          </a:xfrm>
          <a:prstGeom prst="rect">
            <a:avLst/>
          </a:prstGeom>
          <a:noFill/>
          <a:ln/>
        </p:spPr>
        <p:txBody>
          <a:bodyPr wrap="square" lIns="0" tIns="0" rIns="0" bIns="0" rtlCol="0" anchor="ctr">
            <a:no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视觉、触觉或力觉反馈帮助专家持续修正。</a:t>
            </a:r>
            <a:endParaRPr lang="en-US" dirty="0">
              <a:latin typeface="微软雅黑" panose="020B0503020204020204" pitchFamily="34" charset="-122"/>
              <a:ea typeface="微软雅黑" panose="020B0503020204020204" pitchFamily="34" charset="-122"/>
            </a:endParaRPr>
          </a:p>
        </p:txBody>
      </p:sp>
      <p:sp>
        <p:nvSpPr>
          <p:cNvPr id="13" name="Shape 11"/>
          <p:cNvSpPr/>
          <p:nvPr/>
        </p:nvSpPr>
        <p:spPr>
          <a:xfrm>
            <a:off x="6014466" y="2459736"/>
            <a:ext cx="347472" cy="438912"/>
          </a:xfrm>
          <a:prstGeom prst="chevron">
            <a:avLst/>
          </a:prstGeom>
          <a:solidFill>
            <a:srgbClr val="D8E2F1"/>
          </a:solidFill>
          <a:ln w="12700">
            <a:solidFill>
              <a:srgbClr val="D8E2F1"/>
            </a:solidFill>
            <a:prstDash val="solid"/>
          </a:ln>
        </p:spPr>
      </p:sp>
      <p:sp>
        <p:nvSpPr>
          <p:cNvPr id="14" name="Shape 12"/>
          <p:cNvSpPr/>
          <p:nvPr/>
        </p:nvSpPr>
        <p:spPr>
          <a:xfrm>
            <a:off x="6085332" y="1965960"/>
            <a:ext cx="2560320" cy="1417320"/>
          </a:xfrm>
          <a:prstGeom prst="roundRect">
            <a:avLst>
              <a:gd name="adj" fmla="val 2581"/>
            </a:avLst>
          </a:prstGeom>
          <a:solidFill>
            <a:srgbClr val="FFF4DE"/>
          </a:solidFill>
          <a:ln w="12700">
            <a:solidFill>
              <a:srgbClr val="DDE3EC"/>
            </a:solidFill>
            <a:prstDash val="solid"/>
          </a:ln>
        </p:spPr>
      </p:sp>
      <p:sp>
        <p:nvSpPr>
          <p:cNvPr id="15" name="Text 13"/>
          <p:cNvSpPr/>
          <p:nvPr/>
        </p:nvSpPr>
        <p:spPr>
          <a:xfrm>
            <a:off x="6195060" y="2112264"/>
            <a:ext cx="384048" cy="384048"/>
          </a:xfrm>
          <a:prstGeom prst="rect">
            <a:avLst/>
          </a:prstGeom>
          <a:noFill/>
          <a:ln/>
        </p:spPr>
        <p:txBody>
          <a:bodyPr wrap="square" lIns="0" tIns="0" rIns="0" bIns="0" rtlCol="0" anchor="ctr"/>
          <a:lstStyle/>
          <a:p>
            <a:pPr marL="0" indent="0" algn="ctr">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3</a:t>
            </a:r>
            <a:endParaRPr lang="en-US" sz="2000" dirty="0">
              <a:latin typeface="微软雅黑" panose="020B0503020204020204" pitchFamily="34" charset="-122"/>
              <a:ea typeface="微软雅黑" panose="020B0503020204020204" pitchFamily="34" charset="-122"/>
            </a:endParaRPr>
          </a:p>
        </p:txBody>
      </p:sp>
      <p:sp>
        <p:nvSpPr>
          <p:cNvPr id="16" name="Text 14"/>
          <p:cNvSpPr/>
          <p:nvPr/>
        </p:nvSpPr>
        <p:spPr>
          <a:xfrm>
            <a:off x="6679692" y="2112264"/>
            <a:ext cx="1810512" cy="310896"/>
          </a:xfrm>
          <a:prstGeom prst="rect">
            <a:avLst/>
          </a:prstGeom>
          <a:noFill/>
          <a:ln/>
        </p:spPr>
        <p:txBody>
          <a:bodyPr wrap="square" lIns="0" tIns="0" rIns="0" bIns="0" rtlCol="0" anchor="ctr">
            <a:normAutofit/>
          </a:bodyPr>
          <a:lstStyle/>
          <a:p>
            <a:pPr marL="0" indent="0">
              <a:buNone/>
            </a:pPr>
            <a:r>
              <a:rPr lang="en-US" sz="1600" b="1" dirty="0">
                <a:solidFill>
                  <a:srgbClr val="C58A24"/>
                </a:solidFill>
                <a:latin typeface="微软雅黑" panose="020B0503020204020204" pitchFamily="34" charset="-122"/>
                <a:ea typeface="微软雅黑" panose="020B0503020204020204" pitchFamily="34" charset="-122"/>
                <a:cs typeface="Noto Sans CJK SC" pitchFamily="34" charset="-120"/>
              </a:rPr>
              <a:t>记录</a:t>
            </a:r>
            <a:endParaRPr lang="en-US" sz="1600" dirty="0">
              <a:latin typeface="微软雅黑" panose="020B0503020204020204" pitchFamily="34" charset="-122"/>
              <a:ea typeface="微软雅黑" panose="020B0503020204020204" pitchFamily="34" charset="-122"/>
            </a:endParaRPr>
          </a:p>
        </p:txBody>
      </p:sp>
      <p:sp>
        <p:nvSpPr>
          <p:cNvPr id="17" name="Text 15"/>
          <p:cNvSpPr/>
          <p:nvPr/>
        </p:nvSpPr>
        <p:spPr>
          <a:xfrm>
            <a:off x="6249924" y="2587752"/>
            <a:ext cx="2231136" cy="566928"/>
          </a:xfrm>
          <a:prstGeom prst="rect">
            <a:avLst/>
          </a:prstGeom>
          <a:noFill/>
          <a:ln/>
        </p:spPr>
        <p:txBody>
          <a:bodyPr wrap="square" lIns="0" tIns="0" rIns="0" bIns="0" rtlCol="0" anchor="ctr">
            <a:no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同步记录多模态数据，并利用时间戳完成对齐。</a:t>
            </a:r>
            <a:endParaRPr lang="en-US" dirty="0">
              <a:latin typeface="微软雅黑" panose="020B0503020204020204" pitchFamily="34" charset="-122"/>
              <a:ea typeface="微软雅黑" panose="020B0503020204020204" pitchFamily="34" charset="-122"/>
            </a:endParaRPr>
          </a:p>
        </p:txBody>
      </p:sp>
      <p:sp>
        <p:nvSpPr>
          <p:cNvPr id="18" name="Shape 16"/>
          <p:cNvSpPr/>
          <p:nvPr/>
        </p:nvSpPr>
        <p:spPr>
          <a:xfrm>
            <a:off x="8700516" y="2459736"/>
            <a:ext cx="347472" cy="438912"/>
          </a:xfrm>
          <a:prstGeom prst="chevron">
            <a:avLst/>
          </a:prstGeom>
          <a:solidFill>
            <a:srgbClr val="D8E2F1"/>
          </a:solidFill>
          <a:ln w="12700">
            <a:solidFill>
              <a:srgbClr val="D8E2F1"/>
            </a:solidFill>
            <a:prstDash val="solid"/>
          </a:ln>
        </p:spPr>
      </p:sp>
      <p:sp>
        <p:nvSpPr>
          <p:cNvPr id="19" name="Shape 17"/>
          <p:cNvSpPr/>
          <p:nvPr/>
        </p:nvSpPr>
        <p:spPr>
          <a:xfrm>
            <a:off x="8771382" y="1965960"/>
            <a:ext cx="2560320" cy="1417320"/>
          </a:xfrm>
          <a:prstGeom prst="roundRect">
            <a:avLst>
              <a:gd name="adj" fmla="val 2581"/>
            </a:avLst>
          </a:prstGeom>
          <a:solidFill>
            <a:srgbClr val="FDECEE"/>
          </a:solidFill>
          <a:ln w="12700">
            <a:solidFill>
              <a:srgbClr val="DDE3EC"/>
            </a:solidFill>
            <a:prstDash val="solid"/>
          </a:ln>
        </p:spPr>
      </p:sp>
      <p:sp>
        <p:nvSpPr>
          <p:cNvPr id="20" name="Text 18"/>
          <p:cNvSpPr/>
          <p:nvPr/>
        </p:nvSpPr>
        <p:spPr>
          <a:xfrm>
            <a:off x="8881110" y="2112264"/>
            <a:ext cx="384048" cy="384048"/>
          </a:xfrm>
          <a:prstGeom prst="rect">
            <a:avLst/>
          </a:prstGeom>
          <a:noFill/>
          <a:ln/>
        </p:spPr>
        <p:txBody>
          <a:bodyPr wrap="square" lIns="0" tIns="0" rIns="0" bIns="0" rtlCol="0" anchor="ctr"/>
          <a:lstStyle/>
          <a:p>
            <a:pPr marL="0" indent="0" algn="ctr">
              <a:buNone/>
            </a:pPr>
            <a:r>
              <a:rPr lang="en-US" sz="2000" b="1" dirty="0">
                <a:solidFill>
                  <a:srgbClr val="C63F45"/>
                </a:solidFill>
                <a:latin typeface="微软雅黑" panose="020B0503020204020204" pitchFamily="34" charset="-122"/>
                <a:ea typeface="微软雅黑" panose="020B0503020204020204" pitchFamily="34" charset="-122"/>
                <a:cs typeface="Noto Sans CJK SC" pitchFamily="34" charset="-120"/>
              </a:rPr>
              <a:t>4</a:t>
            </a:r>
            <a:endParaRPr lang="en-US" sz="2000" dirty="0">
              <a:latin typeface="微软雅黑" panose="020B0503020204020204" pitchFamily="34" charset="-122"/>
              <a:ea typeface="微软雅黑" panose="020B0503020204020204" pitchFamily="34" charset="-122"/>
            </a:endParaRPr>
          </a:p>
        </p:txBody>
      </p:sp>
      <p:sp>
        <p:nvSpPr>
          <p:cNvPr id="21" name="Text 19"/>
          <p:cNvSpPr/>
          <p:nvPr/>
        </p:nvSpPr>
        <p:spPr>
          <a:xfrm>
            <a:off x="9365742" y="2112264"/>
            <a:ext cx="1810512" cy="310896"/>
          </a:xfrm>
          <a:prstGeom prst="rect">
            <a:avLst/>
          </a:prstGeom>
          <a:noFill/>
          <a:ln/>
        </p:spPr>
        <p:txBody>
          <a:bodyPr wrap="square" lIns="0" tIns="0" rIns="0" bIns="0" rtlCol="0" anchor="ctr">
            <a:normAutofit/>
          </a:bodyPr>
          <a:lstStyle/>
          <a:p>
            <a:pPr marL="0" indent="0">
              <a:buNone/>
            </a:pPr>
            <a:r>
              <a:rPr lang="en-US" sz="1600" b="1" dirty="0">
                <a:solidFill>
                  <a:srgbClr val="C63F45"/>
                </a:solidFill>
                <a:latin typeface="微软雅黑" panose="020B0503020204020204" pitchFamily="34" charset="-122"/>
                <a:ea typeface="微软雅黑" panose="020B0503020204020204" pitchFamily="34" charset="-122"/>
                <a:cs typeface="Noto Sans CJK SC" pitchFamily="34" charset="-120"/>
              </a:rPr>
              <a:t>后处理</a:t>
            </a:r>
            <a:endParaRPr lang="en-US" sz="1600" dirty="0">
              <a:latin typeface="微软雅黑" panose="020B0503020204020204" pitchFamily="34" charset="-122"/>
              <a:ea typeface="微软雅黑" panose="020B0503020204020204" pitchFamily="34" charset="-122"/>
            </a:endParaRPr>
          </a:p>
        </p:txBody>
      </p:sp>
      <p:sp>
        <p:nvSpPr>
          <p:cNvPr id="22" name="Text 20"/>
          <p:cNvSpPr/>
          <p:nvPr/>
        </p:nvSpPr>
        <p:spPr>
          <a:xfrm>
            <a:off x="8810244" y="2587752"/>
            <a:ext cx="2459958" cy="713232"/>
          </a:xfrm>
          <a:prstGeom prst="rect">
            <a:avLst/>
          </a:prstGeom>
          <a:noFill/>
          <a:ln/>
        </p:spPr>
        <p:txBody>
          <a:bodyPr wrap="square" lIns="0" tIns="0" rIns="0" bIns="0" rtlCol="0" anchor="ctr">
            <a:normAutofit fontScale="92500"/>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数据增强、噪声模拟，并映射到机器人动作空间。</a:t>
            </a:r>
            <a:endParaRPr lang="en-US" dirty="0">
              <a:latin typeface="微软雅黑" panose="020B0503020204020204" pitchFamily="34" charset="-122"/>
              <a:ea typeface="微软雅黑" panose="020B0503020204020204" pitchFamily="34" charset="-122"/>
            </a:endParaRPr>
          </a:p>
        </p:txBody>
      </p:sp>
      <p:sp>
        <p:nvSpPr>
          <p:cNvPr id="23" name="Text 21"/>
          <p:cNvSpPr/>
          <p:nvPr/>
        </p:nvSpPr>
        <p:spPr>
          <a:xfrm>
            <a:off x="2148840" y="4187952"/>
            <a:ext cx="7863840" cy="530352"/>
          </a:xfrm>
          <a:prstGeom prst="rect">
            <a:avLst/>
          </a:prstGeom>
          <a:noFill/>
          <a:ln/>
        </p:spPr>
        <p:txBody>
          <a:bodyPr wrap="square" lIns="0" tIns="0" rIns="0" bIns="0" rtlCol="0" anchor="ctr"/>
          <a:lstStyle/>
          <a:p>
            <a:pPr marL="0" indent="0" algn="ctr">
              <a:buNone/>
            </a:pPr>
            <a:r>
              <a:rPr lang="en-US" sz="2000" b="1" dirty="0">
                <a:solidFill>
                  <a:srgbClr val="24477D"/>
                </a:solidFill>
                <a:latin typeface="微软雅黑" panose="020B0503020204020204" pitchFamily="34" charset="-122"/>
                <a:ea typeface="微软雅黑" panose="020B0503020204020204" pitchFamily="34" charset="-122"/>
                <a:cs typeface="Noto Sans CJK SC" pitchFamily="34" charset="-120"/>
              </a:rPr>
              <a:t>输出：结构化、可重复使用的专家演示数据集</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18</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Noto Sans CJK SC" pitchFamily="34" charset="0"/>
                <a:ea typeface="Noto Sans CJK SC" pitchFamily="34" charset="-122"/>
                <a:cs typeface="Noto Sans CJK SC" pitchFamily="34" charset="-120"/>
              </a:rPr>
              <a:t>遥操作交互是一个人</a:t>
            </a:r>
            <a:r>
              <a:rPr lang="en-US" sz="3500" b="1" dirty="0">
                <a:solidFill>
                  <a:srgbClr val="24477D"/>
                </a:solidFill>
                <a:latin typeface="Noto Sans CJK SC" pitchFamily="34" charset="0"/>
                <a:ea typeface="Noto Sans CJK SC" pitchFamily="34" charset="-122"/>
                <a:cs typeface="Noto Sans CJK SC" pitchFamily="34" charset="-120"/>
              </a:rPr>
              <a:t>/</a:t>
            </a:r>
            <a:r>
              <a:rPr lang="en-US" sz="3500" b="1" dirty="0" err="1">
                <a:solidFill>
                  <a:srgbClr val="24477D"/>
                </a:solidFill>
                <a:latin typeface="Noto Sans CJK SC" pitchFamily="34" charset="0"/>
                <a:ea typeface="Noto Sans CJK SC" pitchFamily="34" charset="-122"/>
                <a:cs typeface="Noto Sans CJK SC" pitchFamily="34" charset="-120"/>
              </a:rPr>
              <a:t>机器人反馈系统</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05.png"/>
          <p:cNvPicPr>
            <a:picLocks noChangeAspect="1"/>
          </p:cNvPicPr>
          <p:nvPr/>
        </p:nvPicPr>
        <p:blipFill>
          <a:blip r:embed="rId3"/>
          <a:stretch>
            <a:fillRect/>
          </a:stretch>
        </p:blipFill>
        <p:spPr>
          <a:xfrm>
            <a:off x="731520" y="1718003"/>
            <a:ext cx="6903720" cy="4235810"/>
          </a:xfrm>
          <a:prstGeom prst="rect">
            <a:avLst/>
          </a:prstGeom>
        </p:spPr>
      </p:pic>
      <p:sp>
        <p:nvSpPr>
          <p:cNvPr id="5" name="Text 2"/>
          <p:cNvSpPr/>
          <p:nvPr/>
        </p:nvSpPr>
        <p:spPr>
          <a:xfrm>
            <a:off x="731520" y="6144768"/>
            <a:ext cx="6903720" cy="256032"/>
          </a:xfrm>
          <a:prstGeom prst="rect">
            <a:avLst/>
          </a:prstGeom>
          <a:noFill/>
          <a:ln/>
        </p:spPr>
        <p:txBody>
          <a:bodyPr wrap="square" lIns="0" tIns="0" rIns="0" bIns="0" rtlCol="0" anchor="ctr">
            <a:normAutofit/>
          </a:bodyPr>
          <a:lstStyle/>
          <a:p>
            <a:pPr marL="0" indent="0" algn="ctr">
              <a:buNone/>
            </a:pPr>
            <a:r>
              <a:rPr lang="en-US" sz="1600" b="1" dirty="0" err="1">
                <a:solidFill>
                  <a:schemeClr val="accent1">
                    <a:lumMod val="50000"/>
                  </a:schemeClr>
                </a:solidFill>
                <a:latin typeface="微软雅黑" panose="020B0503020204020204" pitchFamily="34" charset="-122"/>
                <a:ea typeface="微软雅黑" panose="020B0503020204020204" pitchFamily="34" charset="-122"/>
              </a:rPr>
              <a:t>遥操作交互流程图</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7973568" y="1627632"/>
            <a:ext cx="3291840" cy="1207008"/>
          </a:xfrm>
          <a:prstGeom prst="roundRect">
            <a:avLst>
              <a:gd name="adj" fmla="val 378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7" name="Shape 4"/>
          <p:cNvSpPr/>
          <p:nvPr/>
        </p:nvSpPr>
        <p:spPr>
          <a:xfrm>
            <a:off x="7973568" y="1627632"/>
            <a:ext cx="64008" cy="1207008"/>
          </a:xfrm>
          <a:prstGeom prst="rect">
            <a:avLst/>
          </a:prstGeom>
          <a:solidFill>
            <a:srgbClr val="31599B"/>
          </a:solidFill>
          <a:ln w="12700">
            <a:solidFill>
              <a:srgbClr val="31599B"/>
            </a:solidFill>
            <a:prstDash val="solid"/>
          </a:ln>
        </p:spPr>
      </p:sp>
      <p:sp>
        <p:nvSpPr>
          <p:cNvPr id="8" name="Text 5"/>
          <p:cNvSpPr/>
          <p:nvPr/>
        </p:nvSpPr>
        <p:spPr>
          <a:xfrm>
            <a:off x="8183880" y="1773936"/>
            <a:ext cx="2907792" cy="329184"/>
          </a:xfrm>
          <a:prstGeom prst="rect">
            <a:avLst/>
          </a:prstGeom>
          <a:noFill/>
          <a:ln/>
        </p:spPr>
        <p:txBody>
          <a:bodyPr wrap="square" lIns="0" tIns="0" rIns="0" bIns="0" rtlCol="0" anchor="ctr">
            <a:normAutofit/>
          </a:bodyPr>
          <a:lstStyle/>
          <a:p>
            <a:pPr marL="0" indent="0">
              <a:buNone/>
            </a:pPr>
            <a:r>
              <a:rPr lang="en-US" b="1" dirty="0">
                <a:solidFill>
                  <a:srgbClr val="31599B"/>
                </a:solidFill>
                <a:latin typeface="Noto Sans CJK SC" pitchFamily="34" charset="0"/>
                <a:ea typeface="Noto Sans CJK SC" pitchFamily="34" charset="-122"/>
                <a:cs typeface="Noto Sans CJK SC" pitchFamily="34" charset="-120"/>
              </a:rPr>
              <a:t>专家输入</a:t>
            </a:r>
            <a:endParaRPr lang="en-US" dirty="0"/>
          </a:p>
        </p:txBody>
      </p:sp>
      <p:sp>
        <p:nvSpPr>
          <p:cNvPr id="9" name="Text 6"/>
          <p:cNvSpPr/>
          <p:nvPr/>
        </p:nvSpPr>
        <p:spPr>
          <a:xfrm>
            <a:off x="8183880" y="2194560"/>
            <a:ext cx="2907792" cy="493776"/>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Noto Sans CJK SC" pitchFamily="34" charset="0"/>
                <a:ea typeface="Noto Sans CJK SC" pitchFamily="34" charset="-122"/>
                <a:cs typeface="Noto Sans CJK SC" pitchFamily="34" charset="-120"/>
              </a:rPr>
              <a:t>位置、力矩等控制量经主端设备送入系统。</a:t>
            </a:r>
            <a:endParaRPr lang="en-US" sz="1600" dirty="0"/>
          </a:p>
        </p:txBody>
      </p:sp>
      <p:sp>
        <p:nvSpPr>
          <p:cNvPr id="10" name="Shape 7"/>
          <p:cNvSpPr/>
          <p:nvPr/>
        </p:nvSpPr>
        <p:spPr>
          <a:xfrm>
            <a:off x="7973568" y="2999232"/>
            <a:ext cx="3291840" cy="1207008"/>
          </a:xfrm>
          <a:prstGeom prst="roundRect">
            <a:avLst>
              <a:gd name="adj" fmla="val 378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1" name="Shape 8"/>
          <p:cNvSpPr/>
          <p:nvPr/>
        </p:nvSpPr>
        <p:spPr>
          <a:xfrm>
            <a:off x="7973568" y="2999232"/>
            <a:ext cx="64008" cy="1207008"/>
          </a:xfrm>
          <a:prstGeom prst="rect">
            <a:avLst/>
          </a:prstGeom>
          <a:solidFill>
            <a:srgbClr val="2F8E72"/>
          </a:solidFill>
          <a:ln w="12700">
            <a:solidFill>
              <a:srgbClr val="2F8E72"/>
            </a:solidFill>
            <a:prstDash val="solid"/>
          </a:ln>
        </p:spPr>
      </p:sp>
      <p:sp>
        <p:nvSpPr>
          <p:cNvPr id="12" name="Text 9"/>
          <p:cNvSpPr/>
          <p:nvPr/>
        </p:nvSpPr>
        <p:spPr>
          <a:xfrm>
            <a:off x="8183880" y="3145536"/>
            <a:ext cx="2907792" cy="329184"/>
          </a:xfrm>
          <a:prstGeom prst="rect">
            <a:avLst/>
          </a:prstGeom>
          <a:noFill/>
          <a:ln/>
        </p:spPr>
        <p:txBody>
          <a:bodyPr wrap="square" lIns="0" tIns="0" rIns="0" bIns="0" rtlCol="0" anchor="ctr">
            <a:normAutofit/>
          </a:bodyPr>
          <a:lstStyle/>
          <a:p>
            <a:pPr marL="0" indent="0">
              <a:buNone/>
            </a:pPr>
            <a:r>
              <a:rPr lang="en-US" b="1" dirty="0">
                <a:solidFill>
                  <a:srgbClr val="2F8E72"/>
                </a:solidFill>
                <a:latin typeface="Noto Sans CJK SC" pitchFamily="34" charset="0"/>
                <a:ea typeface="Noto Sans CJK SC" pitchFamily="34" charset="-122"/>
                <a:cs typeface="Noto Sans CJK SC" pitchFamily="34" charset="-120"/>
              </a:rPr>
              <a:t>虚实耦合</a:t>
            </a:r>
            <a:endParaRPr lang="en-US" dirty="0"/>
          </a:p>
        </p:txBody>
      </p:sp>
      <p:sp>
        <p:nvSpPr>
          <p:cNvPr id="13" name="Text 10"/>
          <p:cNvSpPr/>
          <p:nvPr/>
        </p:nvSpPr>
        <p:spPr>
          <a:xfrm>
            <a:off x="8183880" y="3566160"/>
            <a:ext cx="2907792" cy="493776"/>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Noto Sans CJK SC" pitchFamily="34" charset="0"/>
                <a:ea typeface="Noto Sans CJK SC" pitchFamily="34" charset="-122"/>
                <a:cs typeface="Noto Sans CJK SC" pitchFamily="34" charset="-120"/>
              </a:rPr>
              <a:t>通信、仿真与机器人控制共同维持闭环。</a:t>
            </a:r>
            <a:endParaRPr lang="en-US" sz="1600" dirty="0"/>
          </a:p>
        </p:txBody>
      </p:sp>
      <p:sp>
        <p:nvSpPr>
          <p:cNvPr id="14" name="Shape 11"/>
          <p:cNvSpPr/>
          <p:nvPr/>
        </p:nvSpPr>
        <p:spPr>
          <a:xfrm>
            <a:off x="7973568" y="4370832"/>
            <a:ext cx="3291840" cy="1207008"/>
          </a:xfrm>
          <a:prstGeom prst="roundRect">
            <a:avLst>
              <a:gd name="adj" fmla="val 378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txBody>
          <a:bodyPr/>
          <a:lstStyle/>
          <a:p>
            <a:endParaRPr lang="zh-CN" altLang="en-US" dirty="0"/>
          </a:p>
        </p:txBody>
      </p:sp>
      <p:sp>
        <p:nvSpPr>
          <p:cNvPr id="15" name="Shape 12"/>
          <p:cNvSpPr/>
          <p:nvPr/>
        </p:nvSpPr>
        <p:spPr>
          <a:xfrm>
            <a:off x="7973568" y="4370832"/>
            <a:ext cx="64008" cy="1207008"/>
          </a:xfrm>
          <a:prstGeom prst="rect">
            <a:avLst/>
          </a:prstGeom>
          <a:solidFill>
            <a:srgbClr val="C58A24"/>
          </a:solidFill>
          <a:ln w="12700">
            <a:solidFill>
              <a:srgbClr val="C58A24"/>
            </a:solidFill>
            <a:prstDash val="solid"/>
          </a:ln>
        </p:spPr>
      </p:sp>
      <p:sp>
        <p:nvSpPr>
          <p:cNvPr id="16" name="Text 13"/>
          <p:cNvSpPr/>
          <p:nvPr/>
        </p:nvSpPr>
        <p:spPr>
          <a:xfrm>
            <a:off x="8183880" y="4517136"/>
            <a:ext cx="2907792" cy="329184"/>
          </a:xfrm>
          <a:prstGeom prst="rect">
            <a:avLst/>
          </a:prstGeom>
          <a:noFill/>
          <a:ln/>
        </p:spPr>
        <p:txBody>
          <a:bodyPr wrap="square" lIns="0" tIns="0" rIns="0" bIns="0" rtlCol="0" anchor="ctr">
            <a:normAutofit/>
          </a:bodyPr>
          <a:lstStyle/>
          <a:p>
            <a:pPr marL="0" indent="0">
              <a:buNone/>
            </a:pPr>
            <a:r>
              <a:rPr lang="en-US" b="1" dirty="0">
                <a:solidFill>
                  <a:srgbClr val="C58A24"/>
                </a:solidFill>
                <a:latin typeface="Noto Sans CJK SC" pitchFamily="34" charset="0"/>
                <a:ea typeface="Noto Sans CJK SC" pitchFamily="34" charset="-122"/>
                <a:cs typeface="Noto Sans CJK SC" pitchFamily="34" charset="-120"/>
              </a:rPr>
              <a:t>多感官反馈</a:t>
            </a:r>
            <a:endParaRPr lang="en-US" dirty="0"/>
          </a:p>
        </p:txBody>
      </p:sp>
      <p:sp>
        <p:nvSpPr>
          <p:cNvPr id="17" name="Text 14"/>
          <p:cNvSpPr/>
          <p:nvPr/>
        </p:nvSpPr>
        <p:spPr>
          <a:xfrm>
            <a:off x="8183880" y="4937760"/>
            <a:ext cx="2907792" cy="493776"/>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Noto Sans CJK SC" pitchFamily="34" charset="0"/>
                <a:ea typeface="Noto Sans CJK SC" pitchFamily="34" charset="-122"/>
                <a:cs typeface="Noto Sans CJK SC" pitchFamily="34" charset="-120"/>
              </a:rPr>
              <a:t>机器人状态返回专家，形成持续修正。</a:t>
            </a:r>
            <a:endParaRPr lang="en-US" sz="16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遥操作数据</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的</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一致性</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要求</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3246120" cy="349300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49808" y="1664208"/>
            <a:ext cx="64008" cy="3493008"/>
          </a:xfrm>
          <a:prstGeom prst="rect">
            <a:avLst/>
          </a:prstGeom>
          <a:solidFill>
            <a:srgbClr val="31599B"/>
          </a:solidFill>
          <a:ln w="12700">
            <a:solidFill>
              <a:srgbClr val="31599B"/>
            </a:solidFill>
            <a:prstDash val="solid"/>
          </a:ln>
        </p:spPr>
      </p:sp>
      <p:sp>
        <p:nvSpPr>
          <p:cNvPr id="6" name="Text 4"/>
          <p:cNvSpPr/>
          <p:nvPr/>
        </p:nvSpPr>
        <p:spPr>
          <a:xfrm>
            <a:off x="960120" y="1810512"/>
            <a:ext cx="2862072"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动作空间一致</a:t>
            </a:r>
            <a:endParaRPr lang="en-US" sz="2000" dirty="0">
              <a:latin typeface="微软雅黑" panose="020B0503020204020204" pitchFamily="34" charset="-122"/>
              <a:ea typeface="微软雅黑" panose="020B0503020204020204" pitchFamily="34" charset="-122"/>
            </a:endParaRPr>
          </a:p>
        </p:txBody>
      </p:sp>
      <p:sp>
        <p:nvSpPr>
          <p:cNvPr id="7" name="Text 5"/>
          <p:cNvSpPr/>
          <p:nvPr/>
        </p:nvSpPr>
        <p:spPr>
          <a:xfrm>
            <a:off x="960120" y="2231136"/>
            <a:ext cx="2862072" cy="2779776"/>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专家动作要能真实落到机器人可执行的动作空间。</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4434840" y="1664208"/>
            <a:ext cx="3246120" cy="349300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34840" y="1664208"/>
            <a:ext cx="64008" cy="3493008"/>
          </a:xfrm>
          <a:prstGeom prst="rect">
            <a:avLst/>
          </a:prstGeom>
          <a:solidFill>
            <a:srgbClr val="2F8E72"/>
          </a:solidFill>
          <a:ln w="12700">
            <a:solidFill>
              <a:srgbClr val="2F8E72"/>
            </a:solidFill>
            <a:prstDash val="solid"/>
          </a:ln>
        </p:spPr>
      </p:sp>
      <p:sp>
        <p:nvSpPr>
          <p:cNvPr id="10" name="Text 8"/>
          <p:cNvSpPr/>
          <p:nvPr/>
        </p:nvSpPr>
        <p:spPr>
          <a:xfrm>
            <a:off x="4645152" y="1810512"/>
            <a:ext cx="286207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时间一致</a:t>
            </a:r>
            <a:endParaRPr lang="en-US" sz="2000" dirty="0">
              <a:latin typeface="微软雅黑" panose="020B0503020204020204" pitchFamily="34" charset="-122"/>
              <a:ea typeface="微软雅黑" panose="020B0503020204020204" pitchFamily="34" charset="-122"/>
            </a:endParaRPr>
          </a:p>
        </p:txBody>
      </p:sp>
      <p:sp>
        <p:nvSpPr>
          <p:cNvPr id="11" name="Text 9"/>
          <p:cNvSpPr/>
          <p:nvPr/>
        </p:nvSpPr>
        <p:spPr>
          <a:xfrm>
            <a:off x="4645152" y="2231136"/>
            <a:ext cx="2862072" cy="2779776"/>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图像、状态、动作与反馈需要时间同步，避免错位监督。</a:t>
            </a:r>
            <a:endParaRPr lang="en-US" sz="2000" dirty="0">
              <a:latin typeface="微软雅黑" panose="020B0503020204020204" pitchFamily="34" charset="-122"/>
              <a:ea typeface="微软雅黑" panose="020B0503020204020204" pitchFamily="34" charset="-122"/>
            </a:endParaRPr>
          </a:p>
        </p:txBody>
      </p:sp>
      <p:sp>
        <p:nvSpPr>
          <p:cNvPr id="12" name="Shape 10"/>
          <p:cNvSpPr/>
          <p:nvPr/>
        </p:nvSpPr>
        <p:spPr>
          <a:xfrm>
            <a:off x="8119872" y="1664208"/>
            <a:ext cx="3246120" cy="349300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119872" y="1664208"/>
            <a:ext cx="64008" cy="3493008"/>
          </a:xfrm>
          <a:prstGeom prst="rect">
            <a:avLst/>
          </a:prstGeom>
          <a:solidFill>
            <a:srgbClr val="C58A24"/>
          </a:solidFill>
          <a:ln w="12700">
            <a:solidFill>
              <a:srgbClr val="C58A24"/>
            </a:solidFill>
            <a:prstDash val="solid"/>
          </a:ln>
        </p:spPr>
      </p:sp>
      <p:sp>
        <p:nvSpPr>
          <p:cNvPr id="14" name="Text 12"/>
          <p:cNvSpPr/>
          <p:nvPr/>
        </p:nvSpPr>
        <p:spPr>
          <a:xfrm>
            <a:off x="8330184" y="1810512"/>
            <a:ext cx="2862072" cy="329184"/>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任务一致</a:t>
            </a:r>
            <a:endParaRPr lang="en-US" sz="2000" dirty="0">
              <a:latin typeface="微软雅黑" panose="020B0503020204020204" pitchFamily="34" charset="-122"/>
              <a:ea typeface="微软雅黑" panose="020B0503020204020204" pitchFamily="34" charset="-122"/>
            </a:endParaRPr>
          </a:p>
        </p:txBody>
      </p:sp>
      <p:sp>
        <p:nvSpPr>
          <p:cNvPr id="15" name="Text 13"/>
          <p:cNvSpPr/>
          <p:nvPr/>
        </p:nvSpPr>
        <p:spPr>
          <a:xfrm>
            <a:off x="8330184" y="2231136"/>
            <a:ext cx="2862072" cy="2779776"/>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演示应覆盖目标任务的关键状态与典型变化，而非只记录单一理想条件。</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20</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4.1.2 </a:t>
            </a:r>
            <a:r>
              <a:rPr lang="en-US" sz="3500" b="1" dirty="0" err="1">
                <a:solidFill>
                  <a:srgbClr val="24477D"/>
                </a:solidFill>
                <a:latin typeface="Noto Sans CJK SC" pitchFamily="34" charset="0"/>
                <a:ea typeface="Noto Sans CJK SC" pitchFamily="34" charset="-122"/>
                <a:cs typeface="Noto Sans CJK SC" pitchFamily="34" charset="-120"/>
              </a:rPr>
              <a:t>重定向：把人的动作转换为机器人的动作</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64208"/>
            <a:ext cx="10149840" cy="4069080"/>
          </a:xfrm>
          <a:prstGeom prst="rect">
            <a:avLst/>
          </a:prstGeom>
          <a:noFill/>
          <a:ln/>
        </p:spPr>
        <p:txBody>
          <a:bodyPr wrap="square" lIns="635" tIns="635" rIns="635" bIns="635" rtlCol="0" anchor="t">
            <a:normAutofit/>
          </a:bodyPr>
          <a:lstStyle/>
          <a:p>
            <a:pPr marL="228600" indent="-228600">
              <a:lnSpc>
                <a:spcPct val="150000"/>
              </a:lnSpc>
              <a:buSzPct val="100000"/>
              <a:buChar char="•"/>
            </a:pPr>
            <a:r>
              <a:rPr lang="en-US" sz="2800" dirty="0" err="1">
                <a:solidFill>
                  <a:srgbClr val="222833"/>
                </a:solidFill>
                <a:latin typeface="Noto Sans CJK SC" pitchFamily="34" charset="0"/>
                <a:ea typeface="Noto Sans CJK SC" pitchFamily="34" charset="-122"/>
                <a:cs typeface="Noto Sans CJK SC" pitchFamily="34" charset="-120"/>
              </a:rPr>
              <a:t>重定向是主端控制信号到从端机器人可执行动作空间映射的核心环节</a:t>
            </a:r>
            <a:endParaRPr lang="en-US" sz="2800" dirty="0"/>
          </a:p>
          <a:p>
            <a:pPr marL="228600" indent="-228600">
              <a:lnSpc>
                <a:spcPct val="150000"/>
              </a:lnSpc>
              <a:buSzPct val="100000"/>
              <a:buChar char="•"/>
            </a:pPr>
            <a:r>
              <a:rPr lang="en-US" sz="2800" dirty="0" err="1">
                <a:solidFill>
                  <a:srgbClr val="222833"/>
                </a:solidFill>
                <a:latin typeface="Noto Sans CJK SC" pitchFamily="34" charset="0"/>
                <a:ea typeface="Noto Sans CJK SC" pitchFamily="34" charset="-122"/>
                <a:cs typeface="Noto Sans CJK SC" pitchFamily="34" charset="-120"/>
              </a:rPr>
              <a:t>目标：在机器人自身运动学约束下，把主端动作或关节指令转换为可以精确执行的控制量</a:t>
            </a:r>
            <a:endParaRPr lang="en-US" sz="2800" dirty="0"/>
          </a:p>
          <a:p>
            <a:pPr marL="228600" indent="-228600">
              <a:lnSpc>
                <a:spcPct val="150000"/>
              </a:lnSpc>
              <a:buSzPct val="100000"/>
              <a:buChar char="•"/>
            </a:pPr>
            <a:r>
              <a:rPr lang="en-US" sz="2800" dirty="0">
                <a:solidFill>
                  <a:srgbClr val="222833"/>
                </a:solidFill>
                <a:latin typeface="Noto Sans CJK SC" pitchFamily="34" charset="0"/>
                <a:ea typeface="Noto Sans CJK SC" pitchFamily="34" charset="-122"/>
                <a:cs typeface="Noto Sans CJK SC" pitchFamily="34" charset="-120"/>
              </a:rPr>
              <a:t>重定向质量直接决定演示数据中的动作字段 aₜ </a:t>
            </a:r>
            <a:r>
              <a:rPr lang="en-US" sz="2800" dirty="0" err="1">
                <a:solidFill>
                  <a:srgbClr val="222833"/>
                </a:solidFill>
                <a:latin typeface="Noto Sans CJK SC" pitchFamily="34" charset="0"/>
                <a:ea typeface="Noto Sans CJK SC" pitchFamily="34" charset="-122"/>
                <a:cs typeface="Noto Sans CJK SC" pitchFamily="34" charset="-120"/>
              </a:rPr>
              <a:t>是否真实反映专家意图</a:t>
            </a:r>
            <a:endParaRPr lang="en-US" sz="28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重定向的两类典型场景</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31599B"/>
          </a:solidFill>
          <a:ln w="12700">
            <a:solidFill>
              <a:srgbClr val="31599B"/>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同构 / 近同构映射</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23113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主端和从端具有相同或高度相似的运动学结构，例如 ALOHA 的 Leader—Follower 双臂。可采用关节空间直接映射并做少量标定补偿。</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C58A24"/>
          </a:solidFill>
          <a:ln w="12700">
            <a:solidFill>
              <a:srgbClr val="C58A24"/>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异构重定向</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23113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主端来自数据手套、VR 控制器、动作捕捉或人类视频。需要处理自由度差异、关节极限、工作空间不匹配和接触方式差异。</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ALOHA 同构重定向：关节空间直接映射</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502920" y="1603309"/>
            <a:ext cx="5303520" cy="256032"/>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rPr>
              <a:t>4.1.2</a:t>
            </a:r>
            <a:r>
              <a:rPr lang="en-US" sz="1150" dirty="0">
                <a:solidFill>
                  <a:srgbClr val="4F73B5"/>
                </a:solidFill>
                <a:latin typeface="微软雅黑" panose="020B0503020204020204" pitchFamily="34" charset="-122"/>
                <a:ea typeface="微软雅黑" panose="020B0503020204020204" pitchFamily="34" charset="-122"/>
                <a:cs typeface="Noto Sans CJK SC" pitchFamily="34" charset="-120"/>
              </a:rPr>
              <a:t> </a:t>
            </a:r>
            <a:r>
              <a:rPr lang="en-US" sz="2800" dirty="0" err="1">
                <a:solidFill>
                  <a:srgbClr val="4F73B5"/>
                </a:solidFill>
                <a:latin typeface="微软雅黑" panose="020B0503020204020204" pitchFamily="34" charset="-122"/>
                <a:ea typeface="微软雅黑" panose="020B0503020204020204" pitchFamily="34" charset="-122"/>
              </a:rPr>
              <a:t>重定向技术</a:t>
            </a:r>
            <a:endParaRPr lang="en-US" sz="2800" dirty="0">
              <a:solidFill>
                <a:srgbClr val="4F73B5"/>
              </a:solidFill>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49808" y="2109336"/>
            <a:ext cx="10607040" cy="862908"/>
          </a:xfrm>
          <a:prstGeom prst="rect">
            <a:avLst/>
          </a:prstGeom>
          <a:noFill/>
          <a:ln/>
        </p:spPr>
        <p:txBody>
          <a:bodyPr wrap="square" lIns="0" tIns="0" rIns="0" bIns="0" rtlCol="0" anchor="ctr">
            <a:normAutofit/>
          </a:bodyPr>
          <a:lstStyle/>
          <a:p>
            <a:pPr marL="342900" indent="-342900">
              <a:buFont typeface="Arial" panose="020B0604020202020204" pitchFamily="34" charset="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当主臂与从臂结构相似时，可通过重定向函数直接把主端关节角映射到机器人关节角</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2152480" y="3049686"/>
            <a:ext cx="7635240" cy="776845"/>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4.png"/>
          <p:cNvPicPr>
            <a:picLocks noChangeAspect="1"/>
          </p:cNvPicPr>
          <p:nvPr/>
        </p:nvPicPr>
        <p:blipFill>
          <a:blip r:embed="rId3"/>
          <a:srcRect l="31707" t="25852" r="32279" b="27487"/>
          <a:stretch>
            <a:fillRect/>
          </a:stretch>
        </p:blipFill>
        <p:spPr>
          <a:xfrm>
            <a:off x="4075180" y="3106240"/>
            <a:ext cx="3772680" cy="720291"/>
          </a:xfrm>
          <a:prstGeom prst="rect">
            <a:avLst/>
          </a:prstGeom>
        </p:spPr>
      </p:pic>
      <p:sp>
        <p:nvSpPr>
          <p:cNvPr id="13" name="Shape 10"/>
          <p:cNvSpPr/>
          <p:nvPr/>
        </p:nvSpPr>
        <p:spPr>
          <a:xfrm>
            <a:off x="713232" y="5279197"/>
            <a:ext cx="10716768" cy="1006195"/>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32688" y="5516941"/>
            <a:ext cx="10241280" cy="623557"/>
          </a:xfrm>
          <a:prstGeom prst="rect">
            <a:avLst/>
          </a:prstGeom>
          <a:noFill/>
          <a:ln/>
        </p:spPr>
        <p:txBody>
          <a:bodyPr wrap="square" lIns="254" tIns="254" rIns="254" bIns="254" rtlCol="0" anchor="ctr">
            <a:no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直接映射避免复杂逆运动学求解，尤其适合高精度、接触丰富的双臂操作数据采集。</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23</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A468FE8D-47DE-1B65-03F7-5018C58C70D1}"/>
              </a:ext>
            </a:extLst>
          </p:cNvPr>
          <p:cNvSpPr/>
          <p:nvPr/>
        </p:nvSpPr>
        <p:spPr>
          <a:xfrm>
            <a:off x="1398307" y="4267712"/>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C07A3514-E8E2-033E-A841-52C337FFE942}"/>
              </a:ext>
            </a:extLst>
          </p:cNvPr>
          <p:cNvSpPr/>
          <p:nvPr/>
        </p:nvSpPr>
        <p:spPr>
          <a:xfrm>
            <a:off x="2885685" y="4166294"/>
            <a:ext cx="7518944" cy="766822"/>
          </a:xfrm>
          <a:prstGeom prst="rect">
            <a:avLst/>
          </a:prstGeom>
          <a:noFill/>
          <a:ln/>
        </p:spPr>
        <p:txBody>
          <a:bodyPr wrap="square" lIns="127" tIns="127" rIns="127" bIns="127" rtlCol="0" anchor="t">
            <a:noAutofit/>
          </a:bodyPr>
          <a:lstStyle/>
          <a:p>
            <a:r>
              <a:rPr lang="en-US" altLang="zh-CN" sz="2400" i="1" dirty="0" err="1">
                <a:solidFill>
                  <a:srgbClr val="222833"/>
                </a:solidFill>
                <a:latin typeface="微软雅黑" panose="020B0503020204020204" pitchFamily="34" charset="-122"/>
                <a:ea typeface="微软雅黑" panose="020B0503020204020204" pitchFamily="34" charset="-122"/>
                <a:cs typeface="Noto Sans CJK SC" pitchFamily="34" charset="-120"/>
              </a:rPr>
              <a:t>θ</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robot</a:t>
            </a:r>
            <a:r>
              <a:rPr lang="en-US" altLang="zh-CN" sz="2400" i="1"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：机器人关节角</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i="1" dirty="0" err="1">
                <a:solidFill>
                  <a:srgbClr val="222833"/>
                </a:solidFill>
                <a:latin typeface="微软雅黑" panose="020B0503020204020204" pitchFamily="34" charset="-122"/>
                <a:ea typeface="微软雅黑" panose="020B0503020204020204" pitchFamily="34" charset="-122"/>
                <a:cs typeface="Noto Sans CJK SC" pitchFamily="34" charset="-120"/>
              </a:rPr>
              <a:t>θ</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master,t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：主端关节角</a:t>
            </a:r>
            <a:endPar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endParaRPr>
          </a:p>
          <a:p>
            <a:r>
              <a:rPr lang="en-US" altLang="zh-CN" sz="2400" i="1" dirty="0" err="1">
                <a:solidFill>
                  <a:srgbClr val="222833"/>
                </a:solidFill>
                <a:latin typeface="微软雅黑" panose="020B0503020204020204" pitchFamily="34" charset="-122"/>
                <a:ea typeface="微软雅黑" panose="020B0503020204020204" pitchFamily="34" charset="-122"/>
                <a:cs typeface="Noto Sans CJK SC" pitchFamily="34" charset="-120"/>
              </a:rPr>
              <a:t>R</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：重定向函数</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i="1" dirty="0" err="1">
                <a:solidFill>
                  <a:srgbClr val="222833"/>
                </a:solidFill>
                <a:latin typeface="微软雅黑" panose="020B0503020204020204" pitchFamily="34" charset="-122"/>
                <a:ea typeface="微软雅黑" panose="020B0503020204020204" pitchFamily="34" charset="-122"/>
                <a:cs typeface="Noto Sans CJK SC" pitchFamily="34" charset="-120"/>
              </a:rPr>
              <a:t>c</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：标定参数</a:t>
            </a:r>
            <a:endParaRPr lang="en-US" altLang="zh-CN" sz="2400" dirty="0">
              <a:latin typeface="微软雅黑" panose="020B0503020204020204" pitchFamily="34" charset="-122"/>
              <a:ea typeface="微软雅黑" panose="020B0503020204020204" pitchFamily="34" charset="-122"/>
            </a:endParaRPr>
          </a:p>
          <a:p>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Noto Sans CJK SC" pitchFamily="34" charset="0"/>
                <a:ea typeface="Noto Sans CJK SC" pitchFamily="34" charset="-122"/>
                <a:cs typeface="Noto Sans CJK SC" pitchFamily="34" charset="-120"/>
              </a:rPr>
              <a:t>异构重定向示例：手部跟踪</a:t>
            </a:r>
            <a:r>
              <a:rPr lang="en-US" sz="3500" b="1" dirty="0">
                <a:solidFill>
                  <a:srgbClr val="24477D"/>
                </a:solidFill>
                <a:latin typeface="Noto Sans CJK SC" pitchFamily="34" charset="0"/>
                <a:ea typeface="Noto Sans CJK SC" pitchFamily="34" charset="-122"/>
                <a:cs typeface="Noto Sans CJK SC" pitchFamily="34" charset="-120"/>
              </a:rPr>
              <a:t> → </a:t>
            </a:r>
            <a:r>
              <a:rPr lang="en-US" sz="3500" b="1" dirty="0" err="1">
                <a:solidFill>
                  <a:srgbClr val="24477D"/>
                </a:solidFill>
                <a:latin typeface="Noto Sans CJK SC" pitchFamily="34" charset="0"/>
                <a:ea typeface="Noto Sans CJK SC" pitchFamily="34" charset="-122"/>
                <a:cs typeface="Noto Sans CJK SC" pitchFamily="34" charset="-120"/>
              </a:rPr>
              <a:t>灵巧手</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06.png"/>
          <p:cNvPicPr>
            <a:picLocks noChangeAspect="1"/>
          </p:cNvPicPr>
          <p:nvPr/>
        </p:nvPicPr>
        <p:blipFill>
          <a:blip r:embed="rId3"/>
          <a:stretch>
            <a:fillRect/>
          </a:stretch>
        </p:blipFill>
        <p:spPr>
          <a:xfrm>
            <a:off x="731520" y="2344481"/>
            <a:ext cx="7498080" cy="2900559"/>
          </a:xfrm>
          <a:prstGeom prst="rect">
            <a:avLst/>
          </a:prstGeom>
        </p:spPr>
      </p:pic>
      <p:sp>
        <p:nvSpPr>
          <p:cNvPr id="5" name="Text 2"/>
          <p:cNvSpPr/>
          <p:nvPr/>
        </p:nvSpPr>
        <p:spPr>
          <a:xfrm>
            <a:off x="687132" y="5521999"/>
            <a:ext cx="7498080" cy="256032"/>
          </a:xfrm>
          <a:prstGeom prst="rect">
            <a:avLst/>
          </a:prstGeom>
          <a:noFill/>
          <a:ln/>
        </p:spPr>
        <p:txBody>
          <a:bodyPr wrap="square" lIns="0" tIns="0" rIns="0" bIns="0" rtlCol="0" anchor="ctr">
            <a:normAutofit/>
          </a:bodyPr>
          <a:lstStyle/>
          <a:p>
            <a:pPr marL="0" indent="0" algn="ctr">
              <a:buNone/>
            </a:pPr>
            <a:r>
              <a:rPr lang="en-US" sz="1600" b="1" dirty="0" err="1">
                <a:solidFill>
                  <a:schemeClr val="accent1">
                    <a:lumMod val="50000"/>
                  </a:schemeClr>
                </a:solidFill>
                <a:latin typeface="微软雅黑" panose="020B0503020204020204" pitchFamily="34" charset="-122"/>
                <a:ea typeface="微软雅黑" panose="020B0503020204020204" pitchFamily="34" charset="-122"/>
              </a:rPr>
              <a:t>手部跟踪到机器人</a:t>
            </a:r>
            <a:r>
              <a:rPr lang="en-US" sz="1600" b="1" dirty="0">
                <a:solidFill>
                  <a:schemeClr val="accent1">
                    <a:lumMod val="50000"/>
                  </a:schemeClr>
                </a:solidFill>
                <a:latin typeface="微软雅黑" panose="020B0503020204020204" pitchFamily="34" charset="-122"/>
                <a:ea typeface="微软雅黑" panose="020B0503020204020204" pitchFamily="34" charset="-122"/>
              </a:rPr>
              <a:t>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Inspire（因时）灵巧手重定向示意图</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8503920" y="1691640"/>
            <a:ext cx="2743200"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7" name="Shape 4"/>
          <p:cNvSpPr/>
          <p:nvPr/>
        </p:nvSpPr>
        <p:spPr>
          <a:xfrm>
            <a:off x="8503920" y="1691640"/>
            <a:ext cx="64008" cy="1234440"/>
          </a:xfrm>
          <a:prstGeom prst="rect">
            <a:avLst/>
          </a:prstGeom>
          <a:solidFill>
            <a:srgbClr val="C63F45"/>
          </a:solidFill>
          <a:ln w="12700">
            <a:solidFill>
              <a:srgbClr val="C63F45"/>
            </a:solidFill>
            <a:prstDash val="solid"/>
          </a:ln>
        </p:spPr>
      </p:sp>
      <p:sp>
        <p:nvSpPr>
          <p:cNvPr id="8" name="Text 5"/>
          <p:cNvSpPr/>
          <p:nvPr/>
        </p:nvSpPr>
        <p:spPr>
          <a:xfrm>
            <a:off x="8714232" y="1837944"/>
            <a:ext cx="2359152" cy="329184"/>
          </a:xfrm>
          <a:prstGeom prst="rect">
            <a:avLst/>
          </a:prstGeom>
          <a:noFill/>
          <a:ln/>
        </p:spPr>
        <p:txBody>
          <a:bodyPr wrap="square" lIns="0" tIns="0" rIns="0" bIns="0" rtlCol="0" anchor="ctr">
            <a:normAutofit/>
          </a:bodyPr>
          <a:lstStyle/>
          <a:p>
            <a:pPr marL="0" indent="0">
              <a:buNone/>
            </a:pPr>
            <a:r>
              <a:rPr lang="en-US" sz="1750" b="1" dirty="0">
                <a:solidFill>
                  <a:srgbClr val="C63F45"/>
                </a:solidFill>
                <a:latin typeface="Noto Sans CJK SC" pitchFamily="34" charset="0"/>
                <a:ea typeface="Noto Sans CJK SC" pitchFamily="34" charset="-122"/>
                <a:cs typeface="Noto Sans CJK SC" pitchFamily="34" charset="-120"/>
              </a:rPr>
              <a:t>输入差异</a:t>
            </a:r>
            <a:endParaRPr lang="en-US" sz="1750" dirty="0"/>
          </a:p>
        </p:txBody>
      </p:sp>
      <p:sp>
        <p:nvSpPr>
          <p:cNvPr id="9" name="Text 6"/>
          <p:cNvSpPr/>
          <p:nvPr/>
        </p:nvSpPr>
        <p:spPr>
          <a:xfrm>
            <a:off x="8714232" y="2258568"/>
            <a:ext cx="2359152" cy="521208"/>
          </a:xfrm>
          <a:prstGeom prst="rect">
            <a:avLst/>
          </a:prstGeom>
          <a:noFill/>
          <a:ln/>
        </p:spPr>
        <p:txBody>
          <a:bodyPr wrap="square" lIns="254" tIns="254" rIns="254" bIns="254" rtlCol="0" anchor="t">
            <a:normAutofit/>
          </a:bodyPr>
          <a:lstStyle/>
          <a:p>
            <a:pPr marL="0" indent="0">
              <a:buNone/>
            </a:pPr>
            <a:r>
              <a:rPr lang="en-US" sz="1370" dirty="0">
                <a:solidFill>
                  <a:srgbClr val="222833"/>
                </a:solidFill>
                <a:latin typeface="Noto Sans CJK SC" pitchFamily="34" charset="0"/>
                <a:ea typeface="Noto Sans CJK SC" pitchFamily="34" charset="-122"/>
                <a:cs typeface="Noto Sans CJK SC" pitchFamily="34" charset="-120"/>
              </a:rPr>
              <a:t>人手与机器人灵巧手的自由度、关节结构并不完全一致。</a:t>
            </a:r>
            <a:endParaRPr lang="en-US" sz="1370" dirty="0"/>
          </a:p>
        </p:txBody>
      </p:sp>
      <p:sp>
        <p:nvSpPr>
          <p:cNvPr id="10" name="Shape 7"/>
          <p:cNvSpPr/>
          <p:nvPr/>
        </p:nvSpPr>
        <p:spPr>
          <a:xfrm>
            <a:off x="8503920" y="3108960"/>
            <a:ext cx="2743200"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1" name="Shape 8"/>
          <p:cNvSpPr/>
          <p:nvPr/>
        </p:nvSpPr>
        <p:spPr>
          <a:xfrm>
            <a:off x="8503920" y="3108960"/>
            <a:ext cx="64008" cy="1234440"/>
          </a:xfrm>
          <a:prstGeom prst="rect">
            <a:avLst/>
          </a:prstGeom>
          <a:solidFill>
            <a:srgbClr val="2F8E72"/>
          </a:solidFill>
          <a:ln w="12700">
            <a:solidFill>
              <a:srgbClr val="2F8E72"/>
            </a:solidFill>
            <a:prstDash val="solid"/>
          </a:ln>
        </p:spPr>
      </p:sp>
      <p:sp>
        <p:nvSpPr>
          <p:cNvPr id="12" name="Text 9"/>
          <p:cNvSpPr/>
          <p:nvPr/>
        </p:nvSpPr>
        <p:spPr>
          <a:xfrm>
            <a:off x="8714232" y="3255264"/>
            <a:ext cx="2359152" cy="329184"/>
          </a:xfrm>
          <a:prstGeom prst="rect">
            <a:avLst/>
          </a:prstGeom>
          <a:noFill/>
          <a:ln/>
        </p:spPr>
        <p:txBody>
          <a:bodyPr wrap="square" lIns="0" tIns="0" rIns="0" bIns="0" rtlCol="0" anchor="ctr">
            <a:normAutofit/>
          </a:bodyPr>
          <a:lstStyle/>
          <a:p>
            <a:pPr marL="0" indent="0">
              <a:buNone/>
            </a:pPr>
            <a:r>
              <a:rPr lang="en-US" sz="1750" b="1" dirty="0">
                <a:solidFill>
                  <a:srgbClr val="2F8E72"/>
                </a:solidFill>
                <a:latin typeface="Noto Sans CJK SC" pitchFamily="34" charset="0"/>
                <a:ea typeface="Noto Sans CJK SC" pitchFamily="34" charset="-122"/>
                <a:cs typeface="Noto Sans CJK SC" pitchFamily="34" charset="-120"/>
              </a:rPr>
              <a:t>映射目标</a:t>
            </a:r>
            <a:endParaRPr lang="en-US" sz="1750" dirty="0"/>
          </a:p>
        </p:txBody>
      </p:sp>
      <p:sp>
        <p:nvSpPr>
          <p:cNvPr id="13" name="Text 10"/>
          <p:cNvSpPr/>
          <p:nvPr/>
        </p:nvSpPr>
        <p:spPr>
          <a:xfrm>
            <a:off x="8714232" y="3675888"/>
            <a:ext cx="2359152" cy="521208"/>
          </a:xfrm>
          <a:prstGeom prst="rect">
            <a:avLst/>
          </a:prstGeom>
          <a:noFill/>
          <a:ln/>
        </p:spPr>
        <p:txBody>
          <a:bodyPr wrap="square" lIns="254" tIns="254" rIns="254" bIns="254" rtlCol="0" anchor="t">
            <a:normAutofit/>
          </a:bodyPr>
          <a:lstStyle/>
          <a:p>
            <a:pPr marL="0" indent="0">
              <a:buNone/>
            </a:pPr>
            <a:r>
              <a:rPr lang="en-US" sz="1370" dirty="0">
                <a:solidFill>
                  <a:srgbClr val="222833"/>
                </a:solidFill>
                <a:latin typeface="Noto Sans CJK SC" pitchFamily="34" charset="0"/>
                <a:ea typeface="Noto Sans CJK SC" pitchFamily="34" charset="-122"/>
                <a:cs typeface="Noto Sans CJK SC" pitchFamily="34" charset="-120"/>
              </a:rPr>
              <a:t>在关节极限与运动学约束下保持动作语义与接触意图。</a:t>
            </a:r>
            <a:endParaRPr lang="en-US" sz="1370" dirty="0"/>
          </a:p>
        </p:txBody>
      </p:sp>
      <p:sp>
        <p:nvSpPr>
          <p:cNvPr id="14" name="Shape 11"/>
          <p:cNvSpPr/>
          <p:nvPr/>
        </p:nvSpPr>
        <p:spPr>
          <a:xfrm>
            <a:off x="8503920" y="4526280"/>
            <a:ext cx="2743200"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5" name="Shape 12"/>
          <p:cNvSpPr/>
          <p:nvPr/>
        </p:nvSpPr>
        <p:spPr>
          <a:xfrm>
            <a:off x="8503920" y="4526280"/>
            <a:ext cx="64008" cy="1234440"/>
          </a:xfrm>
          <a:prstGeom prst="rect">
            <a:avLst/>
          </a:prstGeom>
          <a:solidFill>
            <a:srgbClr val="31599B"/>
          </a:solidFill>
          <a:ln w="12700">
            <a:solidFill>
              <a:srgbClr val="31599B"/>
            </a:solidFill>
            <a:prstDash val="solid"/>
          </a:ln>
        </p:spPr>
      </p:sp>
      <p:sp>
        <p:nvSpPr>
          <p:cNvPr id="16" name="Text 13"/>
          <p:cNvSpPr/>
          <p:nvPr/>
        </p:nvSpPr>
        <p:spPr>
          <a:xfrm>
            <a:off x="8714232" y="4672584"/>
            <a:ext cx="2359152" cy="329184"/>
          </a:xfrm>
          <a:prstGeom prst="rect">
            <a:avLst/>
          </a:prstGeom>
          <a:noFill/>
          <a:ln/>
        </p:spPr>
        <p:txBody>
          <a:bodyPr wrap="square" lIns="0" tIns="0" rIns="0" bIns="0" rtlCol="0" anchor="ctr">
            <a:normAutofit/>
          </a:bodyPr>
          <a:lstStyle/>
          <a:p>
            <a:pPr marL="0" indent="0">
              <a:buNone/>
            </a:pPr>
            <a:r>
              <a:rPr lang="en-US" sz="1750" b="1" dirty="0">
                <a:solidFill>
                  <a:srgbClr val="31599B"/>
                </a:solidFill>
                <a:latin typeface="Noto Sans CJK SC" pitchFamily="34" charset="0"/>
                <a:ea typeface="Noto Sans CJK SC" pitchFamily="34" charset="-122"/>
                <a:cs typeface="Noto Sans CJK SC" pitchFamily="34" charset="-120"/>
              </a:rPr>
              <a:t>输出</a:t>
            </a:r>
            <a:endParaRPr lang="en-US" sz="1750" dirty="0"/>
          </a:p>
        </p:txBody>
      </p:sp>
      <p:sp>
        <p:nvSpPr>
          <p:cNvPr id="17" name="Text 14"/>
          <p:cNvSpPr/>
          <p:nvPr/>
        </p:nvSpPr>
        <p:spPr>
          <a:xfrm>
            <a:off x="8714232" y="5093208"/>
            <a:ext cx="2359152" cy="521208"/>
          </a:xfrm>
          <a:prstGeom prst="rect">
            <a:avLst/>
          </a:prstGeom>
          <a:noFill/>
          <a:ln/>
        </p:spPr>
        <p:txBody>
          <a:bodyPr wrap="square" lIns="254" tIns="254" rIns="254" bIns="254" rtlCol="0" anchor="t">
            <a:normAutofit/>
          </a:bodyPr>
          <a:lstStyle/>
          <a:p>
            <a:pPr marL="0" indent="0">
              <a:buNone/>
            </a:pPr>
            <a:r>
              <a:rPr lang="en-US" sz="1370" dirty="0">
                <a:solidFill>
                  <a:srgbClr val="222833"/>
                </a:solidFill>
                <a:latin typeface="Noto Sans CJK SC" pitchFamily="34" charset="0"/>
                <a:ea typeface="Noto Sans CJK SC" pitchFamily="34" charset="-122"/>
                <a:cs typeface="Noto Sans CJK SC" pitchFamily="34" charset="-120"/>
              </a:rPr>
              <a:t>得到机器人可以执行的关节或末端控制量。</a:t>
            </a:r>
            <a:endParaRPr lang="en-US" sz="137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异构重定向为什么更难？</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658368" y="1645920"/>
            <a:ext cx="2578608" cy="3474720"/>
          </a:xfrm>
          <a:prstGeom prst="roundRect">
            <a:avLst>
              <a:gd name="adj" fmla="val 1773"/>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658368" y="1645920"/>
            <a:ext cx="64008" cy="3474720"/>
          </a:xfrm>
          <a:prstGeom prst="rect">
            <a:avLst/>
          </a:prstGeom>
          <a:solidFill>
            <a:srgbClr val="31599B"/>
          </a:solidFill>
          <a:ln w="12700">
            <a:solidFill>
              <a:srgbClr val="31599B"/>
            </a:solidFill>
            <a:prstDash val="solid"/>
          </a:ln>
        </p:spPr>
      </p:sp>
      <p:sp>
        <p:nvSpPr>
          <p:cNvPr id="6" name="Text 4"/>
          <p:cNvSpPr/>
          <p:nvPr/>
        </p:nvSpPr>
        <p:spPr>
          <a:xfrm>
            <a:off x="868680" y="1792224"/>
            <a:ext cx="2194560"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Noto Sans CJK SC" pitchFamily="34" charset="0"/>
                <a:ea typeface="Noto Sans CJK SC" pitchFamily="34" charset="-122"/>
                <a:cs typeface="Noto Sans CJK SC" pitchFamily="34" charset="-120"/>
              </a:rPr>
              <a:t>自由度差异</a:t>
            </a:r>
            <a:endParaRPr lang="en-US" sz="2400" dirty="0"/>
          </a:p>
        </p:txBody>
      </p:sp>
      <p:sp>
        <p:nvSpPr>
          <p:cNvPr id="7" name="Text 5"/>
          <p:cNvSpPr/>
          <p:nvPr/>
        </p:nvSpPr>
        <p:spPr>
          <a:xfrm>
            <a:off x="868680" y="2621223"/>
            <a:ext cx="2194560" cy="276148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人的关节维度与机器人关节维度可能不一致。</a:t>
            </a:r>
            <a:endParaRPr lang="en-US" sz="2400" dirty="0"/>
          </a:p>
        </p:txBody>
      </p:sp>
      <p:sp>
        <p:nvSpPr>
          <p:cNvPr id="8" name="Shape 6"/>
          <p:cNvSpPr/>
          <p:nvPr/>
        </p:nvSpPr>
        <p:spPr>
          <a:xfrm>
            <a:off x="3456432" y="1645920"/>
            <a:ext cx="2578608" cy="3474720"/>
          </a:xfrm>
          <a:prstGeom prst="roundRect">
            <a:avLst>
              <a:gd name="adj" fmla="val 1773"/>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3456432" y="1645920"/>
            <a:ext cx="64008" cy="3474720"/>
          </a:xfrm>
          <a:prstGeom prst="rect">
            <a:avLst/>
          </a:prstGeom>
          <a:solidFill>
            <a:srgbClr val="2F8E72"/>
          </a:solidFill>
          <a:ln w="12700">
            <a:solidFill>
              <a:srgbClr val="2F8E72"/>
            </a:solidFill>
            <a:prstDash val="solid"/>
          </a:ln>
        </p:spPr>
      </p:sp>
      <p:sp>
        <p:nvSpPr>
          <p:cNvPr id="10" name="Text 8"/>
          <p:cNvSpPr/>
          <p:nvPr/>
        </p:nvSpPr>
        <p:spPr>
          <a:xfrm>
            <a:off x="3666744" y="1792224"/>
            <a:ext cx="2194560"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Noto Sans CJK SC" pitchFamily="34" charset="0"/>
                <a:ea typeface="Noto Sans CJK SC" pitchFamily="34" charset="-122"/>
                <a:cs typeface="Noto Sans CJK SC" pitchFamily="34" charset="-120"/>
              </a:rPr>
              <a:t>关节极限</a:t>
            </a:r>
            <a:endParaRPr lang="en-US" sz="2400" dirty="0"/>
          </a:p>
        </p:txBody>
      </p:sp>
      <p:sp>
        <p:nvSpPr>
          <p:cNvPr id="11" name="Text 9"/>
          <p:cNvSpPr/>
          <p:nvPr/>
        </p:nvSpPr>
        <p:spPr>
          <a:xfrm>
            <a:off x="3666744" y="2621223"/>
            <a:ext cx="2194560" cy="276148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机器人具有明确的物理角度与速度限制。</a:t>
            </a:r>
            <a:endParaRPr lang="en-US" sz="2400" dirty="0"/>
          </a:p>
        </p:txBody>
      </p:sp>
      <p:sp>
        <p:nvSpPr>
          <p:cNvPr id="12" name="Shape 10"/>
          <p:cNvSpPr/>
          <p:nvPr/>
        </p:nvSpPr>
        <p:spPr>
          <a:xfrm>
            <a:off x="6254496" y="1645920"/>
            <a:ext cx="2578608" cy="3474720"/>
          </a:xfrm>
          <a:prstGeom prst="roundRect">
            <a:avLst>
              <a:gd name="adj" fmla="val 1773"/>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6254496" y="1645920"/>
            <a:ext cx="64008" cy="3474720"/>
          </a:xfrm>
          <a:prstGeom prst="rect">
            <a:avLst/>
          </a:prstGeom>
          <a:solidFill>
            <a:srgbClr val="C58A24"/>
          </a:solidFill>
          <a:ln w="12700">
            <a:solidFill>
              <a:srgbClr val="C58A24"/>
            </a:solidFill>
            <a:prstDash val="solid"/>
          </a:ln>
        </p:spPr>
      </p:sp>
      <p:sp>
        <p:nvSpPr>
          <p:cNvPr id="14" name="Text 12"/>
          <p:cNvSpPr/>
          <p:nvPr/>
        </p:nvSpPr>
        <p:spPr>
          <a:xfrm>
            <a:off x="6464808" y="1792224"/>
            <a:ext cx="2194560"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58A24"/>
                </a:solidFill>
                <a:latin typeface="Noto Sans CJK SC" pitchFamily="34" charset="0"/>
                <a:ea typeface="Noto Sans CJK SC" pitchFamily="34" charset="-122"/>
                <a:cs typeface="Noto Sans CJK SC" pitchFamily="34" charset="-120"/>
              </a:rPr>
              <a:t>工作空间差异</a:t>
            </a:r>
            <a:endParaRPr lang="en-US" sz="2400" dirty="0"/>
          </a:p>
        </p:txBody>
      </p:sp>
      <p:sp>
        <p:nvSpPr>
          <p:cNvPr id="15" name="Text 13"/>
          <p:cNvSpPr/>
          <p:nvPr/>
        </p:nvSpPr>
        <p:spPr>
          <a:xfrm>
            <a:off x="6464808" y="2621223"/>
            <a:ext cx="2194560" cy="276148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Noto Sans CJK SC" pitchFamily="34" charset="0"/>
                <a:ea typeface="Noto Sans CJK SC" pitchFamily="34" charset="-122"/>
                <a:cs typeface="Noto Sans CJK SC" pitchFamily="34" charset="-120"/>
              </a:rPr>
              <a:t>相同人体动作在机器人上可能不可达或会进入奇异区。</a:t>
            </a:r>
            <a:endParaRPr lang="en-US" sz="2000" dirty="0"/>
          </a:p>
        </p:txBody>
      </p:sp>
      <p:sp>
        <p:nvSpPr>
          <p:cNvPr id="16" name="Shape 14"/>
          <p:cNvSpPr/>
          <p:nvPr/>
        </p:nvSpPr>
        <p:spPr>
          <a:xfrm>
            <a:off x="9052560" y="1645920"/>
            <a:ext cx="2578608" cy="3474720"/>
          </a:xfrm>
          <a:prstGeom prst="roundRect">
            <a:avLst>
              <a:gd name="adj" fmla="val 1773"/>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7" name="Shape 15"/>
          <p:cNvSpPr/>
          <p:nvPr/>
        </p:nvSpPr>
        <p:spPr>
          <a:xfrm>
            <a:off x="9052560" y="1645920"/>
            <a:ext cx="64008" cy="3474720"/>
          </a:xfrm>
          <a:prstGeom prst="rect">
            <a:avLst/>
          </a:prstGeom>
          <a:solidFill>
            <a:srgbClr val="C63F45"/>
          </a:solidFill>
          <a:ln w="12700">
            <a:solidFill>
              <a:srgbClr val="C63F45"/>
            </a:solidFill>
            <a:prstDash val="solid"/>
          </a:ln>
        </p:spPr>
      </p:sp>
      <p:sp>
        <p:nvSpPr>
          <p:cNvPr id="18" name="Text 16"/>
          <p:cNvSpPr/>
          <p:nvPr/>
        </p:nvSpPr>
        <p:spPr>
          <a:xfrm>
            <a:off x="9262872" y="1792224"/>
            <a:ext cx="2194560"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63F45"/>
                </a:solidFill>
                <a:latin typeface="Noto Sans CJK SC" pitchFamily="34" charset="0"/>
                <a:ea typeface="Noto Sans CJK SC" pitchFamily="34" charset="-122"/>
                <a:cs typeface="Noto Sans CJK SC" pitchFamily="34" charset="-120"/>
              </a:rPr>
              <a:t>接触方式差异</a:t>
            </a:r>
            <a:endParaRPr lang="en-US" sz="2400" dirty="0"/>
          </a:p>
        </p:txBody>
      </p:sp>
      <p:sp>
        <p:nvSpPr>
          <p:cNvPr id="19" name="Text 17"/>
          <p:cNvSpPr/>
          <p:nvPr/>
        </p:nvSpPr>
        <p:spPr>
          <a:xfrm>
            <a:off x="9262872" y="2621223"/>
            <a:ext cx="2194560" cy="276148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Noto Sans CJK SC" pitchFamily="34" charset="0"/>
                <a:ea typeface="Noto Sans CJK SC" pitchFamily="34" charset="-122"/>
                <a:cs typeface="Noto Sans CJK SC" pitchFamily="34" charset="-120"/>
              </a:rPr>
              <a:t>人与机器人手部结构、接触点和碰撞关系可能完全不同。</a:t>
            </a:r>
            <a:endParaRPr lang="en-US" sz="20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异构重定向的三类方法</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664208"/>
            <a:ext cx="3246120" cy="3566160"/>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13232" y="1664208"/>
            <a:ext cx="64008" cy="3566160"/>
          </a:xfrm>
          <a:prstGeom prst="rect">
            <a:avLst/>
          </a:prstGeom>
          <a:solidFill>
            <a:srgbClr val="31599B"/>
          </a:solidFill>
          <a:ln w="12700">
            <a:solidFill>
              <a:srgbClr val="31599B"/>
            </a:solidFill>
            <a:prstDash val="solid"/>
          </a:ln>
        </p:spPr>
      </p:sp>
      <p:sp>
        <p:nvSpPr>
          <p:cNvPr id="6" name="Text 4"/>
          <p:cNvSpPr/>
          <p:nvPr/>
        </p:nvSpPr>
        <p:spPr>
          <a:xfrm>
            <a:off x="923544"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1  基于运动学的 IK</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23544" y="2510788"/>
            <a:ext cx="2862072" cy="285292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利用 Jacobian 伪逆或数值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IK，把目标末端位姿映射到关节空间，并显式约束关节极限和奇异性</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160520" y="1664208"/>
            <a:ext cx="3246120" cy="3566160"/>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160520" y="1664208"/>
            <a:ext cx="64008" cy="3566160"/>
          </a:xfrm>
          <a:prstGeom prst="rect">
            <a:avLst/>
          </a:prstGeom>
          <a:solidFill>
            <a:srgbClr val="2F8E72"/>
          </a:solidFill>
          <a:ln w="12700">
            <a:solidFill>
              <a:srgbClr val="2F8E72"/>
            </a:solidFill>
            <a:prstDash val="solid"/>
          </a:ln>
        </p:spPr>
      </p:sp>
      <p:sp>
        <p:nvSpPr>
          <p:cNvPr id="10" name="Text 8"/>
          <p:cNvSpPr/>
          <p:nvPr/>
        </p:nvSpPr>
        <p:spPr>
          <a:xfrm>
            <a:off x="4370832" y="1810512"/>
            <a:ext cx="28620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2  基于优化</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370832" y="2510788"/>
            <a:ext cx="2862072" cy="2852928"/>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构造末端位姿误差、关节极限惩罚和碰撞惩罚的联合代价函数</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7607808" y="1664208"/>
            <a:ext cx="3246120" cy="3566160"/>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7607808" y="1664208"/>
            <a:ext cx="64008" cy="3566160"/>
          </a:xfrm>
          <a:prstGeom prst="rect">
            <a:avLst/>
          </a:prstGeom>
          <a:solidFill>
            <a:srgbClr val="C58A24"/>
          </a:solidFill>
          <a:ln w="12700">
            <a:solidFill>
              <a:srgbClr val="C58A24"/>
            </a:solidFill>
            <a:prstDash val="solid"/>
          </a:ln>
        </p:spPr>
      </p:sp>
      <p:sp>
        <p:nvSpPr>
          <p:cNvPr id="14" name="Text 12"/>
          <p:cNvSpPr/>
          <p:nvPr/>
        </p:nvSpPr>
        <p:spPr>
          <a:xfrm>
            <a:off x="7818120" y="1810512"/>
            <a:ext cx="28620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3  基于学习</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7818120" y="2510788"/>
            <a:ext cx="2862072" cy="285292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用 MLP 或 Transformer 从大量人—</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机配对数据中学习复杂非线性映射</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26</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优化式重定向：同时满足目标位姿与物理约束</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1572768"/>
            <a:ext cx="10607040" cy="493776"/>
          </a:xfrm>
          <a:prstGeom prst="rect">
            <a:avLst/>
          </a:prstGeom>
          <a:noFill/>
          <a:ln/>
        </p:spPr>
        <p:txBody>
          <a:bodyPr wrap="square" lIns="0" tIns="0" rIns="0" bIns="0" rtlCol="0" anchor="ctr">
            <a:normAutofit/>
          </a:bodyPr>
          <a:lstStyle/>
          <a:p>
            <a:pPr marL="285750" indent="-285750">
              <a:buFont typeface="Arial" panose="020B0604020202020204" pitchFamily="34" charset="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优化目标由末端位姿误差、关节极限惩罚和碰撞惩罚共同组成。</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2311213" y="2367941"/>
            <a:ext cx="7635240" cy="1280160"/>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5.png"/>
          <p:cNvPicPr>
            <a:picLocks noChangeAspect="1"/>
          </p:cNvPicPr>
          <p:nvPr/>
        </p:nvPicPr>
        <p:blipFill>
          <a:blip r:embed="rId3"/>
          <a:srcRect l="25870" t="4333" r="26939" b="26205"/>
          <a:stretch>
            <a:fillRect/>
          </a:stretch>
        </p:blipFill>
        <p:spPr>
          <a:xfrm>
            <a:off x="3701989" y="2578254"/>
            <a:ext cx="5440565" cy="743594"/>
          </a:xfrm>
          <a:prstGeom prst="rect">
            <a:avLst/>
          </a:prstGeom>
        </p:spPr>
      </p:pic>
      <p:sp>
        <p:nvSpPr>
          <p:cNvPr id="13" name="Shape 10"/>
          <p:cNvSpPr/>
          <p:nvPr/>
        </p:nvSpPr>
        <p:spPr>
          <a:xfrm>
            <a:off x="603504" y="5402169"/>
            <a:ext cx="10716768" cy="688552"/>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877824" y="5402169"/>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数值优化在“跟随人的动作”与“保持机器人可行、安全”之间寻找平衡。</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27</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5A7FB740-9CA6-150F-5255-FA80A4BDA7A2}"/>
              </a:ext>
            </a:extLst>
          </p:cNvPr>
          <p:cNvSpPr/>
          <p:nvPr/>
        </p:nvSpPr>
        <p:spPr>
          <a:xfrm>
            <a:off x="947603" y="4377646"/>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FB5B632E-8A82-D82B-5E5E-9F3CCD00F026}"/>
              </a:ext>
            </a:extLst>
          </p:cNvPr>
          <p:cNvSpPr/>
          <p:nvPr/>
        </p:nvSpPr>
        <p:spPr>
          <a:xfrm>
            <a:off x="2434981" y="4146865"/>
            <a:ext cx="8955070" cy="766822"/>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f(θ)：</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正运动学</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p</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target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：目标末端位姿</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L</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joint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：关节极限惩罚</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P</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collision</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：碰撞惩罚</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λ₁, λ₂：</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权重</a:t>
            </a:r>
            <a:endParaRPr lang="en-US" altLang="zh-CN" sz="2400" dirty="0">
              <a:latin typeface="微软雅黑" panose="020B0503020204020204" pitchFamily="34" charset="-122"/>
              <a:ea typeface="微软雅黑" panose="020B0503020204020204" pitchFamily="34" charset="-122"/>
            </a:endParaRPr>
          </a:p>
          <a:p>
            <a:endParaRPr lang="en-US"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zh-CN" altLang="en-US" sz="3500" b="1" dirty="0">
                <a:solidFill>
                  <a:srgbClr val="24477D"/>
                </a:solidFill>
                <a:latin typeface="Noto Sans CJK SC" pitchFamily="34" charset="0"/>
                <a:ea typeface="Noto Sans CJK SC" pitchFamily="34" charset="-122"/>
                <a:cs typeface="Noto Sans CJK SC" pitchFamily="34" charset="-120"/>
              </a:rPr>
              <a:t>误差和惩罚的解释</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31520" y="1664208"/>
            <a:ext cx="3337560" cy="3493008"/>
          </a:xfrm>
          <a:prstGeom prst="roundRect">
            <a:avLst>
              <a:gd name="adj" fmla="val 137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31520" y="1664208"/>
            <a:ext cx="64008" cy="3493008"/>
          </a:xfrm>
          <a:prstGeom prst="rect">
            <a:avLst/>
          </a:prstGeom>
          <a:solidFill>
            <a:srgbClr val="31599B"/>
          </a:solidFill>
          <a:ln w="12700">
            <a:solidFill>
              <a:srgbClr val="31599B"/>
            </a:solidFill>
            <a:prstDash val="solid"/>
          </a:ln>
        </p:spPr>
      </p:sp>
      <p:sp>
        <p:nvSpPr>
          <p:cNvPr id="6" name="Text 4"/>
          <p:cNvSpPr/>
          <p:nvPr/>
        </p:nvSpPr>
        <p:spPr>
          <a:xfrm>
            <a:off x="941832" y="1810512"/>
            <a:ext cx="295351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Noto Sans CJK SC" pitchFamily="34" charset="0"/>
                <a:ea typeface="Noto Sans CJK SC" pitchFamily="34" charset="-122"/>
                <a:cs typeface="Noto Sans CJK SC" pitchFamily="34" charset="-120"/>
              </a:rPr>
              <a:t>末端位姿误差</a:t>
            </a:r>
            <a:endParaRPr lang="en-US" sz="2400" dirty="0"/>
          </a:p>
        </p:txBody>
      </p:sp>
      <p:sp>
        <p:nvSpPr>
          <p:cNvPr id="7" name="Text 5"/>
          <p:cNvSpPr/>
          <p:nvPr/>
        </p:nvSpPr>
        <p:spPr>
          <a:xfrm>
            <a:off x="879693" y="2754922"/>
            <a:ext cx="295351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让机器人末端尽可能接近主端给出的目标位姿。</a:t>
            </a:r>
            <a:endParaRPr lang="en-US" sz="2400" dirty="0"/>
          </a:p>
        </p:txBody>
      </p:sp>
      <p:sp>
        <p:nvSpPr>
          <p:cNvPr id="8" name="Shape 6"/>
          <p:cNvSpPr/>
          <p:nvPr/>
        </p:nvSpPr>
        <p:spPr>
          <a:xfrm>
            <a:off x="4416552" y="1664208"/>
            <a:ext cx="3337560" cy="3493008"/>
          </a:xfrm>
          <a:prstGeom prst="roundRect">
            <a:avLst>
              <a:gd name="adj" fmla="val 137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16552" y="1664208"/>
            <a:ext cx="64008" cy="3493008"/>
          </a:xfrm>
          <a:prstGeom prst="rect">
            <a:avLst/>
          </a:prstGeom>
          <a:solidFill>
            <a:srgbClr val="2F8E72"/>
          </a:solidFill>
          <a:ln w="12700">
            <a:solidFill>
              <a:srgbClr val="2F8E72"/>
            </a:solidFill>
            <a:prstDash val="solid"/>
          </a:ln>
        </p:spPr>
      </p:sp>
      <p:sp>
        <p:nvSpPr>
          <p:cNvPr id="10" name="Text 8"/>
          <p:cNvSpPr/>
          <p:nvPr/>
        </p:nvSpPr>
        <p:spPr>
          <a:xfrm>
            <a:off x="4626864" y="1810512"/>
            <a:ext cx="295351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Noto Sans CJK SC" pitchFamily="34" charset="0"/>
                <a:ea typeface="Noto Sans CJK SC" pitchFamily="34" charset="-122"/>
                <a:cs typeface="Noto Sans CJK SC" pitchFamily="34" charset="-120"/>
              </a:rPr>
              <a:t>关节极限惩罚</a:t>
            </a:r>
            <a:endParaRPr lang="en-US" sz="2400" dirty="0"/>
          </a:p>
        </p:txBody>
      </p:sp>
      <p:sp>
        <p:nvSpPr>
          <p:cNvPr id="11" name="Text 9"/>
          <p:cNvSpPr/>
          <p:nvPr/>
        </p:nvSpPr>
        <p:spPr>
          <a:xfrm>
            <a:off x="4564725" y="2754922"/>
            <a:ext cx="295351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防止关节超出物理极限，并降低不可执行姿态。</a:t>
            </a:r>
            <a:endParaRPr lang="en-US" sz="2400" dirty="0"/>
          </a:p>
        </p:txBody>
      </p:sp>
      <p:sp>
        <p:nvSpPr>
          <p:cNvPr id="12" name="Shape 10"/>
          <p:cNvSpPr/>
          <p:nvPr/>
        </p:nvSpPr>
        <p:spPr>
          <a:xfrm>
            <a:off x="8101584" y="1664208"/>
            <a:ext cx="3337560" cy="3493008"/>
          </a:xfrm>
          <a:prstGeom prst="roundRect">
            <a:avLst>
              <a:gd name="adj" fmla="val 137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101584" y="1664208"/>
            <a:ext cx="64008" cy="3493008"/>
          </a:xfrm>
          <a:prstGeom prst="rect">
            <a:avLst/>
          </a:prstGeom>
          <a:solidFill>
            <a:srgbClr val="C63F45"/>
          </a:solidFill>
          <a:ln w="12700">
            <a:solidFill>
              <a:srgbClr val="C63F45"/>
            </a:solidFill>
            <a:prstDash val="solid"/>
          </a:ln>
        </p:spPr>
      </p:sp>
      <p:sp>
        <p:nvSpPr>
          <p:cNvPr id="14" name="Text 12"/>
          <p:cNvSpPr/>
          <p:nvPr/>
        </p:nvSpPr>
        <p:spPr>
          <a:xfrm>
            <a:off x="8311896" y="1810512"/>
            <a:ext cx="295351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63F45"/>
                </a:solidFill>
                <a:latin typeface="Noto Sans CJK SC" pitchFamily="34" charset="0"/>
                <a:ea typeface="Noto Sans CJK SC" pitchFamily="34" charset="-122"/>
                <a:cs typeface="Noto Sans CJK SC" pitchFamily="34" charset="-120"/>
              </a:rPr>
              <a:t>碰撞惩罚</a:t>
            </a:r>
            <a:endParaRPr lang="en-US" sz="2400" dirty="0"/>
          </a:p>
        </p:txBody>
      </p:sp>
      <p:sp>
        <p:nvSpPr>
          <p:cNvPr id="15" name="Text 13"/>
          <p:cNvSpPr/>
          <p:nvPr/>
        </p:nvSpPr>
        <p:spPr>
          <a:xfrm>
            <a:off x="8249757" y="2754922"/>
            <a:ext cx="295351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同时考虑机器人自碰撞与机器人—环境碰撞。</a:t>
            </a:r>
            <a:endParaRPr lang="en-US" sz="2400" dirty="0"/>
          </a:p>
        </p:txBody>
      </p:sp>
      <p:sp>
        <p:nvSpPr>
          <p:cNvPr id="16" name="Text 14"/>
          <p:cNvSpPr/>
          <p:nvPr/>
        </p:nvSpPr>
        <p:spPr>
          <a:xfrm>
            <a:off x="685800" y="6144768"/>
            <a:ext cx="10698480" cy="329184"/>
          </a:xfrm>
          <a:prstGeom prst="rect">
            <a:avLst/>
          </a:prstGeom>
          <a:noFill/>
          <a:ln/>
        </p:spPr>
        <p:txBody>
          <a:bodyPr wrap="square" lIns="0" tIns="0" rIns="0" bIns="0" rtlCol="0" anchor="ctr"/>
          <a:lstStyle/>
          <a:p>
            <a:pPr algn="ctr"/>
            <a:r>
              <a:rPr lang="en-US" sz="2000" b="1">
                <a:solidFill>
                  <a:srgbClr val="24477D"/>
                </a:solidFill>
                <a:latin typeface="微软雅黑" panose="020B0503020204020204" pitchFamily="34" charset="-122"/>
                <a:ea typeface="微软雅黑" panose="020B0503020204020204" pitchFamily="34" charset="-122"/>
              </a:rPr>
              <a:t>该优化问题可通过序列二次规划或梯度下降等数值方法求解。</a:t>
            </a:r>
            <a:endParaRPr lang="en-US" sz="2000" b="1" dirty="0">
              <a:solidFill>
                <a:srgbClr val="24477D"/>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重定向误差会在长时序任务中被放大</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20240"/>
            <a:ext cx="2560320" cy="1417320"/>
          </a:xfrm>
          <a:prstGeom prst="roundRect">
            <a:avLst>
              <a:gd name="adj" fmla="val 2581"/>
            </a:avLst>
          </a:prstGeom>
          <a:solidFill>
            <a:srgbClr val="EDF2FA"/>
          </a:solidFill>
          <a:ln w="12700">
            <a:solidFill>
              <a:srgbClr val="DDE3EC"/>
            </a:solidFill>
            <a:prstDash val="solid"/>
          </a:ln>
        </p:spPr>
      </p:sp>
      <p:sp>
        <p:nvSpPr>
          <p:cNvPr id="5" name="Text 3"/>
          <p:cNvSpPr/>
          <p:nvPr/>
        </p:nvSpPr>
        <p:spPr>
          <a:xfrm>
            <a:off x="822960" y="2066544"/>
            <a:ext cx="384048" cy="384048"/>
          </a:xfrm>
          <a:prstGeom prst="rect">
            <a:avLst/>
          </a:prstGeom>
          <a:noFill/>
          <a:ln/>
        </p:spPr>
        <p:txBody>
          <a:bodyPr wrap="square" lIns="0" tIns="0" rIns="0" bIns="0" rtlCol="0" anchor="ctr"/>
          <a:lstStyle/>
          <a:p>
            <a:pPr marL="0" indent="0" algn="ctr">
              <a:buNone/>
            </a:pPr>
            <a:r>
              <a:rPr lang="en-US" sz="2000" b="1" dirty="0">
                <a:solidFill>
                  <a:srgbClr val="31599B"/>
                </a:solidFill>
                <a:latin typeface="Noto Sans CJK SC" pitchFamily="34" charset="0"/>
                <a:ea typeface="Noto Sans CJK SC" pitchFamily="34" charset="-122"/>
                <a:cs typeface="Noto Sans CJK SC" pitchFamily="34" charset="-120"/>
              </a:rPr>
              <a:t>源</a:t>
            </a:r>
            <a:endParaRPr lang="en-US" sz="2000" dirty="0"/>
          </a:p>
        </p:txBody>
      </p:sp>
      <p:sp>
        <p:nvSpPr>
          <p:cNvPr id="6" name="Text 4"/>
          <p:cNvSpPr/>
          <p:nvPr/>
        </p:nvSpPr>
        <p:spPr>
          <a:xfrm>
            <a:off x="130759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31599B"/>
                </a:solidFill>
                <a:latin typeface="Noto Sans CJK SC" pitchFamily="34" charset="0"/>
                <a:ea typeface="Noto Sans CJK SC" pitchFamily="34" charset="-122"/>
                <a:cs typeface="Noto Sans CJK SC" pitchFamily="34" charset="-120"/>
              </a:rPr>
              <a:t>专家动作</a:t>
            </a:r>
            <a:endParaRPr lang="en-US" sz="1600" dirty="0"/>
          </a:p>
        </p:txBody>
      </p:sp>
      <p:sp>
        <p:nvSpPr>
          <p:cNvPr id="7" name="Text 5"/>
          <p:cNvSpPr/>
          <p:nvPr/>
        </p:nvSpPr>
        <p:spPr>
          <a:xfrm>
            <a:off x="877824" y="2542032"/>
            <a:ext cx="2231136" cy="566928"/>
          </a:xfrm>
          <a:prstGeom prst="rect">
            <a:avLst/>
          </a:prstGeom>
          <a:noFill/>
          <a:ln/>
        </p:spPr>
        <p:txBody>
          <a:bodyPr wrap="square" lIns="0" tIns="0" rIns="0" bIns="0" rtlCol="0" anchor="ctr">
            <a:normAutofit/>
          </a:bodyPr>
          <a:lstStyle/>
          <a:p>
            <a:pPr marL="0" indent="0" algn="ctr">
              <a:buNone/>
            </a:pPr>
            <a:r>
              <a:rPr lang="en-US" sz="1340" dirty="0">
                <a:solidFill>
                  <a:srgbClr val="222833"/>
                </a:solidFill>
                <a:latin typeface="Noto Sans CJK SC" pitchFamily="34" charset="0"/>
                <a:ea typeface="Noto Sans CJK SC" pitchFamily="34" charset="-122"/>
                <a:cs typeface="Noto Sans CJK SC" pitchFamily="34" charset="-120"/>
              </a:rPr>
              <a:t>主端动作包含专家真实意图。</a:t>
            </a:r>
            <a:endParaRPr lang="en-US" sz="1340" dirty="0"/>
          </a:p>
        </p:txBody>
      </p:sp>
      <p:sp>
        <p:nvSpPr>
          <p:cNvPr id="8" name="Shape 6"/>
          <p:cNvSpPr/>
          <p:nvPr/>
        </p:nvSpPr>
        <p:spPr>
          <a:xfrm>
            <a:off x="3328416" y="2414016"/>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20240"/>
            <a:ext cx="2560320" cy="1417320"/>
          </a:xfrm>
          <a:prstGeom prst="roundRect">
            <a:avLst>
              <a:gd name="adj" fmla="val 2581"/>
            </a:avLst>
          </a:prstGeom>
          <a:solidFill>
            <a:srgbClr val="FFF4DE"/>
          </a:solidFill>
          <a:ln w="12700">
            <a:solidFill>
              <a:srgbClr val="DDE3EC"/>
            </a:solidFill>
            <a:prstDash val="solid"/>
          </a:ln>
        </p:spPr>
      </p:sp>
      <p:sp>
        <p:nvSpPr>
          <p:cNvPr id="10" name="Text 8"/>
          <p:cNvSpPr/>
          <p:nvPr/>
        </p:nvSpPr>
        <p:spPr>
          <a:xfrm>
            <a:off x="3509010" y="2066544"/>
            <a:ext cx="384048" cy="384048"/>
          </a:xfrm>
          <a:prstGeom prst="rect">
            <a:avLst/>
          </a:prstGeom>
          <a:noFill/>
          <a:ln/>
        </p:spPr>
        <p:txBody>
          <a:bodyPr wrap="square" lIns="0" tIns="0" rIns="0" bIns="0" rtlCol="0" anchor="ctr"/>
          <a:lstStyle/>
          <a:p>
            <a:pPr marL="0" indent="0" algn="ctr">
              <a:buNone/>
            </a:pPr>
            <a:r>
              <a:rPr lang="en-US" sz="2000" b="1" dirty="0">
                <a:solidFill>
                  <a:srgbClr val="C58A24"/>
                </a:solidFill>
                <a:latin typeface="Noto Sans CJK SC" pitchFamily="34" charset="0"/>
                <a:ea typeface="Noto Sans CJK SC" pitchFamily="34" charset="-122"/>
                <a:cs typeface="Noto Sans CJK SC" pitchFamily="34" charset="-120"/>
              </a:rPr>
              <a:t>映</a:t>
            </a:r>
            <a:endParaRPr lang="en-US" sz="2000" dirty="0"/>
          </a:p>
        </p:txBody>
      </p:sp>
      <p:sp>
        <p:nvSpPr>
          <p:cNvPr id="11" name="Text 9"/>
          <p:cNvSpPr/>
          <p:nvPr/>
        </p:nvSpPr>
        <p:spPr>
          <a:xfrm>
            <a:off x="399364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C58A24"/>
                </a:solidFill>
                <a:latin typeface="Noto Sans CJK SC" pitchFamily="34" charset="0"/>
                <a:ea typeface="Noto Sans CJK SC" pitchFamily="34" charset="-122"/>
                <a:cs typeface="Noto Sans CJK SC" pitchFamily="34" charset="-120"/>
              </a:rPr>
              <a:t>重定向</a:t>
            </a:r>
            <a:endParaRPr lang="en-US" sz="1600" dirty="0"/>
          </a:p>
        </p:txBody>
      </p:sp>
      <p:sp>
        <p:nvSpPr>
          <p:cNvPr id="12" name="Text 10"/>
          <p:cNvSpPr/>
          <p:nvPr/>
        </p:nvSpPr>
        <p:spPr>
          <a:xfrm>
            <a:off x="3563874" y="2542032"/>
            <a:ext cx="2231136" cy="566928"/>
          </a:xfrm>
          <a:prstGeom prst="rect">
            <a:avLst/>
          </a:prstGeom>
          <a:noFill/>
          <a:ln/>
        </p:spPr>
        <p:txBody>
          <a:bodyPr wrap="square" lIns="0" tIns="0" rIns="0" bIns="0" rtlCol="0" anchor="ctr">
            <a:normAutofit/>
          </a:bodyPr>
          <a:lstStyle/>
          <a:p>
            <a:pPr marL="0" indent="0" algn="ctr">
              <a:buNone/>
            </a:pPr>
            <a:r>
              <a:rPr lang="en-US" sz="1340" dirty="0">
                <a:solidFill>
                  <a:srgbClr val="222833"/>
                </a:solidFill>
                <a:latin typeface="Noto Sans CJK SC" pitchFamily="34" charset="0"/>
                <a:ea typeface="Noto Sans CJK SC" pitchFamily="34" charset="-122"/>
                <a:cs typeface="Noto Sans CJK SC" pitchFamily="34" charset="-120"/>
              </a:rPr>
              <a:t>若映射产生系统性偏差，动作标签会被污染。</a:t>
            </a:r>
            <a:endParaRPr lang="en-US" sz="1340" dirty="0"/>
          </a:p>
        </p:txBody>
      </p:sp>
      <p:sp>
        <p:nvSpPr>
          <p:cNvPr id="13" name="Shape 11"/>
          <p:cNvSpPr/>
          <p:nvPr/>
        </p:nvSpPr>
        <p:spPr>
          <a:xfrm>
            <a:off x="6014466" y="2414016"/>
            <a:ext cx="347472" cy="438912"/>
          </a:xfrm>
          <a:prstGeom prst="chevron">
            <a:avLst/>
          </a:prstGeom>
          <a:solidFill>
            <a:srgbClr val="D8E2F1"/>
          </a:solidFill>
          <a:ln w="12700">
            <a:solidFill>
              <a:srgbClr val="D8E2F1"/>
            </a:solidFill>
            <a:prstDash val="solid"/>
          </a:ln>
        </p:spPr>
      </p:sp>
      <p:sp>
        <p:nvSpPr>
          <p:cNvPr id="14" name="Shape 12"/>
          <p:cNvSpPr/>
          <p:nvPr/>
        </p:nvSpPr>
        <p:spPr>
          <a:xfrm>
            <a:off x="6085332" y="1920240"/>
            <a:ext cx="2560320" cy="1417320"/>
          </a:xfrm>
          <a:prstGeom prst="roundRect">
            <a:avLst>
              <a:gd name="adj" fmla="val 2581"/>
            </a:avLst>
          </a:prstGeom>
          <a:solidFill>
            <a:srgbClr val="FDECEE"/>
          </a:solidFill>
          <a:ln w="12700">
            <a:solidFill>
              <a:srgbClr val="DDE3EC"/>
            </a:solidFill>
            <a:prstDash val="solid"/>
          </a:ln>
        </p:spPr>
      </p:sp>
      <p:sp>
        <p:nvSpPr>
          <p:cNvPr id="15" name="Text 13"/>
          <p:cNvSpPr/>
          <p:nvPr/>
        </p:nvSpPr>
        <p:spPr>
          <a:xfrm>
            <a:off x="6195060" y="2066544"/>
            <a:ext cx="384048" cy="384048"/>
          </a:xfrm>
          <a:prstGeom prst="rect">
            <a:avLst/>
          </a:prstGeom>
          <a:noFill/>
          <a:ln/>
        </p:spPr>
        <p:txBody>
          <a:bodyPr wrap="square" lIns="0" tIns="0" rIns="0" bIns="0" rtlCol="0" anchor="ctr"/>
          <a:lstStyle/>
          <a:p>
            <a:pPr marL="0" indent="0" algn="ctr">
              <a:buNone/>
            </a:pPr>
            <a:r>
              <a:rPr lang="en-US" sz="2000" b="1" dirty="0">
                <a:solidFill>
                  <a:srgbClr val="C63F45"/>
                </a:solidFill>
                <a:latin typeface="Noto Sans CJK SC" pitchFamily="34" charset="0"/>
                <a:ea typeface="Noto Sans CJK SC" pitchFamily="34" charset="-122"/>
                <a:cs typeface="Noto Sans CJK SC" pitchFamily="34" charset="-120"/>
              </a:rPr>
              <a:t>学</a:t>
            </a:r>
            <a:endParaRPr lang="en-US" sz="2000" dirty="0"/>
          </a:p>
        </p:txBody>
      </p:sp>
      <p:sp>
        <p:nvSpPr>
          <p:cNvPr id="16" name="Text 14"/>
          <p:cNvSpPr/>
          <p:nvPr/>
        </p:nvSpPr>
        <p:spPr>
          <a:xfrm>
            <a:off x="667969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C63F45"/>
                </a:solidFill>
                <a:latin typeface="Noto Sans CJK SC" pitchFamily="34" charset="0"/>
                <a:ea typeface="Noto Sans CJK SC" pitchFamily="34" charset="-122"/>
                <a:cs typeface="Noto Sans CJK SC" pitchFamily="34" charset="-120"/>
              </a:rPr>
              <a:t>行为克隆</a:t>
            </a:r>
            <a:endParaRPr lang="en-US" sz="1600" dirty="0"/>
          </a:p>
        </p:txBody>
      </p:sp>
      <p:sp>
        <p:nvSpPr>
          <p:cNvPr id="17" name="Text 15"/>
          <p:cNvSpPr/>
          <p:nvPr/>
        </p:nvSpPr>
        <p:spPr>
          <a:xfrm>
            <a:off x="6249924" y="2542032"/>
            <a:ext cx="2231136" cy="566928"/>
          </a:xfrm>
          <a:prstGeom prst="rect">
            <a:avLst/>
          </a:prstGeom>
          <a:noFill/>
          <a:ln/>
        </p:spPr>
        <p:txBody>
          <a:bodyPr wrap="square" lIns="0" tIns="0" rIns="0" bIns="0" rtlCol="0" anchor="ctr">
            <a:normAutofit/>
          </a:bodyPr>
          <a:lstStyle/>
          <a:p>
            <a:pPr marL="0" indent="0" algn="ctr">
              <a:buNone/>
            </a:pPr>
            <a:r>
              <a:rPr lang="en-US" sz="1340" dirty="0">
                <a:solidFill>
                  <a:srgbClr val="222833"/>
                </a:solidFill>
                <a:latin typeface="Noto Sans CJK SC" pitchFamily="34" charset="0"/>
                <a:ea typeface="Noto Sans CJK SC" pitchFamily="34" charset="-122"/>
                <a:cs typeface="Noto Sans CJK SC" pitchFamily="34" charset="-120"/>
              </a:rPr>
              <a:t>监督损失会把带偏差的动作当作“正确答案”。</a:t>
            </a:r>
            <a:endParaRPr lang="en-US" sz="1340" dirty="0"/>
          </a:p>
        </p:txBody>
      </p:sp>
      <p:sp>
        <p:nvSpPr>
          <p:cNvPr id="18" name="Shape 16"/>
          <p:cNvSpPr/>
          <p:nvPr/>
        </p:nvSpPr>
        <p:spPr>
          <a:xfrm>
            <a:off x="8700516" y="2414016"/>
            <a:ext cx="347472" cy="438912"/>
          </a:xfrm>
          <a:prstGeom prst="chevron">
            <a:avLst/>
          </a:prstGeom>
          <a:solidFill>
            <a:srgbClr val="D8E2F1"/>
          </a:solidFill>
          <a:ln w="12700">
            <a:solidFill>
              <a:srgbClr val="D8E2F1"/>
            </a:solidFill>
            <a:prstDash val="solid"/>
          </a:ln>
        </p:spPr>
      </p:sp>
      <p:sp>
        <p:nvSpPr>
          <p:cNvPr id="19" name="Shape 17"/>
          <p:cNvSpPr/>
          <p:nvPr/>
        </p:nvSpPr>
        <p:spPr>
          <a:xfrm>
            <a:off x="8771382" y="1920240"/>
            <a:ext cx="2560320" cy="1417320"/>
          </a:xfrm>
          <a:prstGeom prst="roundRect">
            <a:avLst>
              <a:gd name="adj" fmla="val 2581"/>
            </a:avLst>
          </a:prstGeom>
          <a:solidFill>
            <a:srgbClr val="F1ECFA"/>
          </a:solidFill>
          <a:ln w="12700">
            <a:solidFill>
              <a:srgbClr val="DDE3EC"/>
            </a:solidFill>
            <a:prstDash val="solid"/>
          </a:ln>
        </p:spPr>
      </p:sp>
      <p:sp>
        <p:nvSpPr>
          <p:cNvPr id="20" name="Text 18"/>
          <p:cNvSpPr/>
          <p:nvPr/>
        </p:nvSpPr>
        <p:spPr>
          <a:xfrm>
            <a:off x="8881110" y="2066544"/>
            <a:ext cx="384048" cy="384048"/>
          </a:xfrm>
          <a:prstGeom prst="rect">
            <a:avLst/>
          </a:prstGeom>
          <a:noFill/>
          <a:ln/>
        </p:spPr>
        <p:txBody>
          <a:bodyPr wrap="square" lIns="0" tIns="0" rIns="0" bIns="0" rtlCol="0" anchor="ctr"/>
          <a:lstStyle/>
          <a:p>
            <a:pPr marL="0" indent="0" algn="ctr">
              <a:buNone/>
            </a:pPr>
            <a:r>
              <a:rPr lang="en-US" sz="2000" b="1" dirty="0">
                <a:solidFill>
                  <a:srgbClr val="7558A8"/>
                </a:solidFill>
                <a:latin typeface="Noto Sans CJK SC" pitchFamily="34" charset="0"/>
                <a:ea typeface="Noto Sans CJK SC" pitchFamily="34" charset="-122"/>
                <a:cs typeface="Noto Sans CJK SC" pitchFamily="34" charset="-120"/>
              </a:rPr>
              <a:t>累</a:t>
            </a:r>
            <a:endParaRPr lang="en-US" sz="2000" dirty="0"/>
          </a:p>
        </p:txBody>
      </p:sp>
      <p:sp>
        <p:nvSpPr>
          <p:cNvPr id="21" name="Text 19"/>
          <p:cNvSpPr/>
          <p:nvPr/>
        </p:nvSpPr>
        <p:spPr>
          <a:xfrm>
            <a:off x="936574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7558A8"/>
                </a:solidFill>
                <a:latin typeface="Noto Sans CJK SC" pitchFamily="34" charset="0"/>
                <a:ea typeface="Noto Sans CJK SC" pitchFamily="34" charset="-122"/>
                <a:cs typeface="Noto Sans CJK SC" pitchFamily="34" charset="-120"/>
              </a:rPr>
              <a:t>长时序执行</a:t>
            </a:r>
            <a:endParaRPr lang="en-US" sz="1600" dirty="0"/>
          </a:p>
        </p:txBody>
      </p:sp>
      <p:sp>
        <p:nvSpPr>
          <p:cNvPr id="22" name="Text 20"/>
          <p:cNvSpPr/>
          <p:nvPr/>
        </p:nvSpPr>
        <p:spPr>
          <a:xfrm>
            <a:off x="8935974" y="2542032"/>
            <a:ext cx="2231136" cy="566928"/>
          </a:xfrm>
          <a:prstGeom prst="rect">
            <a:avLst/>
          </a:prstGeom>
          <a:noFill/>
          <a:ln/>
        </p:spPr>
        <p:txBody>
          <a:bodyPr wrap="square" lIns="0" tIns="0" rIns="0" bIns="0" rtlCol="0" anchor="ctr">
            <a:normAutofit/>
          </a:bodyPr>
          <a:lstStyle/>
          <a:p>
            <a:pPr marL="0" indent="0" algn="ctr">
              <a:buNone/>
            </a:pPr>
            <a:r>
              <a:rPr lang="en-US" sz="1340" dirty="0">
                <a:solidFill>
                  <a:srgbClr val="222833"/>
                </a:solidFill>
                <a:latin typeface="Noto Sans CJK SC" pitchFamily="34" charset="0"/>
                <a:ea typeface="Noto Sans CJK SC" pitchFamily="34" charset="-122"/>
                <a:cs typeface="Noto Sans CJK SC" pitchFamily="34" charset="-120"/>
              </a:rPr>
              <a:t>小偏差通过分布漂移不断放大。</a:t>
            </a:r>
            <a:endParaRPr lang="en-US" sz="1340" dirty="0"/>
          </a:p>
        </p:txBody>
      </p:sp>
      <p:sp>
        <p:nvSpPr>
          <p:cNvPr id="23" name="Text 21"/>
          <p:cNvSpPr/>
          <p:nvPr/>
        </p:nvSpPr>
        <p:spPr>
          <a:xfrm>
            <a:off x="914400" y="4160520"/>
            <a:ext cx="10287000" cy="530352"/>
          </a:xfrm>
          <a:prstGeom prst="rect">
            <a:avLst/>
          </a:prstGeom>
          <a:noFill/>
          <a:ln/>
        </p:spPr>
        <p:txBody>
          <a:bodyPr wrap="square" lIns="0" tIns="0" rIns="0" bIns="0" rtlCol="0" anchor="ctr"/>
          <a:lstStyle/>
          <a:p>
            <a:pPr marL="0" indent="0" algn="ctr">
              <a:buNone/>
            </a:pPr>
            <a:r>
              <a:rPr lang="en-US" sz="1900" b="1" dirty="0">
                <a:solidFill>
                  <a:srgbClr val="24477D"/>
                </a:solidFill>
                <a:latin typeface="Noto Sans CJK SC" pitchFamily="34" charset="0"/>
                <a:ea typeface="Noto Sans CJK SC" pitchFamily="34" charset="-122"/>
                <a:cs typeface="Noto Sans CJK SC" pitchFamily="34" charset="-120"/>
              </a:rPr>
              <a:t>因此，重定向不是数据采集后的“附属步骤”，而是演示质量的核心决定因素。</a:t>
            </a:r>
            <a:endParaRPr lang="en-US" sz="19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Mobile ALOHA</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07.png"/>
          <p:cNvPicPr>
            <a:picLocks noChangeAspect="1"/>
          </p:cNvPicPr>
          <p:nvPr/>
        </p:nvPicPr>
        <p:blipFill>
          <a:blip r:embed="rId3"/>
          <a:stretch>
            <a:fillRect/>
          </a:stretch>
        </p:blipFill>
        <p:spPr>
          <a:xfrm>
            <a:off x="777240" y="1660237"/>
            <a:ext cx="6812280" cy="4259903"/>
          </a:xfrm>
          <a:prstGeom prst="rect">
            <a:avLst/>
          </a:prstGeom>
        </p:spPr>
      </p:pic>
      <p:sp>
        <p:nvSpPr>
          <p:cNvPr id="5" name="Text 2"/>
          <p:cNvSpPr/>
          <p:nvPr/>
        </p:nvSpPr>
        <p:spPr>
          <a:xfrm>
            <a:off x="777240" y="6053328"/>
            <a:ext cx="6812280" cy="256032"/>
          </a:xfrm>
          <a:prstGeom prst="rect">
            <a:avLst/>
          </a:prstGeom>
          <a:noFill/>
          <a:ln/>
        </p:spPr>
        <p:txBody>
          <a:bodyPr wrap="square" lIns="0" tIns="0" rIns="0" bIns="0" rtlCol="0" anchor="ctr">
            <a:normAutofit/>
          </a:bodyPr>
          <a:lstStyle/>
          <a:p>
            <a:pPr marL="0" indent="0" algn="ctr">
              <a:buNone/>
            </a:pPr>
            <a:r>
              <a:rPr lang="en-US" sz="1600" b="1" dirty="0">
                <a:solidFill>
                  <a:schemeClr val="accent1">
                    <a:lumMod val="50000"/>
                  </a:schemeClr>
                </a:solidFill>
                <a:latin typeface="微软雅黑" panose="020B0503020204020204" pitchFamily="34" charset="-122"/>
                <a:ea typeface="微软雅黑" panose="020B0503020204020204" pitchFamily="34" charset="-122"/>
              </a:rPr>
              <a:t>教材图4-6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遥操作双臂协作向洗衣机投放衣物</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Text 3"/>
          <p:cNvSpPr/>
          <p:nvPr/>
        </p:nvSpPr>
        <p:spPr>
          <a:xfrm>
            <a:off x="7818120" y="1755648"/>
            <a:ext cx="3337560" cy="3931920"/>
          </a:xfrm>
          <a:prstGeom prst="rect">
            <a:avLst/>
          </a:prstGeom>
          <a:noFill/>
          <a:ln/>
        </p:spPr>
        <p:txBody>
          <a:bodyPr wrap="square" lIns="635" tIns="635" rIns="635" bIns="635" rtlCol="0" anchor="t">
            <a:normAutofit lnSpcReduction="10000"/>
          </a:bodyPr>
          <a:lstStyle/>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Mobile ALOHA 在桌面双臂系统基础上加入移动底盘与全身遥操作接口。</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重定向不仅要处理双臂，还要同步处理移动底盘与双臂之间的协调映射。</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目标是提升演示数据的可重复性和后续策略的泛化潜力。</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30</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4.1.3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遥操作交互的主要优势</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31520" y="1645920"/>
            <a:ext cx="3310128" cy="3611880"/>
          </a:xfrm>
          <a:prstGeom prst="roundRect">
            <a:avLst>
              <a:gd name="adj" fmla="val 1381"/>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31520" y="1645920"/>
            <a:ext cx="64008" cy="3611880"/>
          </a:xfrm>
          <a:prstGeom prst="rect">
            <a:avLst/>
          </a:prstGeom>
          <a:solidFill>
            <a:srgbClr val="31599B"/>
          </a:solidFill>
          <a:ln w="12700">
            <a:solidFill>
              <a:srgbClr val="31599B"/>
            </a:solidFill>
            <a:prstDash val="solid"/>
          </a:ln>
        </p:spPr>
      </p:sp>
      <p:sp>
        <p:nvSpPr>
          <p:cNvPr id="6" name="Text 4"/>
          <p:cNvSpPr/>
          <p:nvPr/>
        </p:nvSpPr>
        <p:spPr>
          <a:xfrm>
            <a:off x="941832" y="1792224"/>
            <a:ext cx="2926080"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动作标签直接可用</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41832" y="2403722"/>
            <a:ext cx="2926080" cy="289864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可直接获得与机器人执行空间一致的动作标签，特别适合接触丰富、精度要求高的任务。</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407408" y="1645920"/>
            <a:ext cx="3310128" cy="3611880"/>
          </a:xfrm>
          <a:prstGeom prst="roundRect">
            <a:avLst>
              <a:gd name="adj" fmla="val 1381"/>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07408" y="1645920"/>
            <a:ext cx="64008" cy="3611880"/>
          </a:xfrm>
          <a:prstGeom prst="rect">
            <a:avLst/>
          </a:prstGeom>
          <a:solidFill>
            <a:srgbClr val="2F8E72"/>
          </a:solidFill>
          <a:ln w="12700">
            <a:solidFill>
              <a:srgbClr val="2F8E72"/>
            </a:solidFill>
            <a:prstDash val="solid"/>
          </a:ln>
        </p:spPr>
      </p:sp>
      <p:sp>
        <p:nvSpPr>
          <p:cNvPr id="10" name="Text 8"/>
          <p:cNvSpPr/>
          <p:nvPr/>
        </p:nvSpPr>
        <p:spPr>
          <a:xfrm>
            <a:off x="4617720" y="1792224"/>
            <a:ext cx="2926080"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多模态同步采集</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617720" y="2403722"/>
            <a:ext cx="2926080" cy="289864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专家动作、本体状态、视觉输入及必要的力觉/触觉可以在同一任务中联合记录。</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8083296" y="1645920"/>
            <a:ext cx="3310128" cy="3611880"/>
          </a:xfrm>
          <a:prstGeom prst="roundRect">
            <a:avLst>
              <a:gd name="adj" fmla="val 1381"/>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083296" y="1645920"/>
            <a:ext cx="64008" cy="3611880"/>
          </a:xfrm>
          <a:prstGeom prst="rect">
            <a:avLst/>
          </a:prstGeom>
          <a:solidFill>
            <a:srgbClr val="C58A24"/>
          </a:solidFill>
          <a:ln w="12700">
            <a:solidFill>
              <a:srgbClr val="C58A24"/>
            </a:solidFill>
            <a:prstDash val="solid"/>
          </a:ln>
        </p:spPr>
      </p:sp>
      <p:sp>
        <p:nvSpPr>
          <p:cNvPr id="14" name="Text 12"/>
          <p:cNvSpPr/>
          <p:nvPr/>
        </p:nvSpPr>
        <p:spPr>
          <a:xfrm>
            <a:off x="8293608" y="1792224"/>
            <a:ext cx="2926080"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闭环实时纠错</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293608" y="2403722"/>
            <a:ext cx="2926080" cy="289864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操作者可以根据反馈在执行过程中修正错误，因此更容易获得高质量样本。</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31</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遥操作交互面临的现实挑战</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2322097219"/>
              </p:ext>
            </p:extLst>
          </p:nvPr>
        </p:nvGraphicFramePr>
        <p:xfrm>
          <a:off x="731520" y="1664208"/>
          <a:ext cx="10698480" cy="4160520"/>
        </p:xfrm>
        <a:graphic>
          <a:graphicData uri="http://schemas.openxmlformats.org/drawingml/2006/table">
            <a:tbl>
              <a:tblPr/>
              <a:tblGrid>
                <a:gridCol w="205740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832104">
                <a:tc>
                  <a:txBody>
                    <a:bodyPr/>
                    <a:lstStyle/>
                    <a:p>
                      <a:pPr marL="0" indent="0" algn="ctr">
                        <a:buNone/>
                      </a:pPr>
                      <a:r>
                        <a:rPr lang="en-US" sz="1360" dirty="0">
                          <a:solidFill>
                            <a:srgbClr val="222833"/>
                          </a:solidFill>
                          <a:latin typeface="Noto Sans CJK SC" pitchFamily="34" charset="0"/>
                          <a:ea typeface="Noto Sans CJK SC" pitchFamily="34" charset="-122"/>
                          <a:cs typeface="Noto Sans CJK SC" pitchFamily="34" charset="-120"/>
                        </a:rPr>
                        <a:t>挑战</a:t>
                      </a:r>
                      <a:endParaRPr lang="en-US" sz="136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360" dirty="0">
                          <a:solidFill>
                            <a:srgbClr val="222833"/>
                          </a:solidFill>
                          <a:latin typeface="Noto Sans CJK SC" pitchFamily="34" charset="0"/>
                          <a:ea typeface="Noto Sans CJK SC" pitchFamily="34" charset="-122"/>
                          <a:cs typeface="Noto Sans CJK SC" pitchFamily="34" charset="-120"/>
                        </a:rPr>
                        <a:t>影响</a:t>
                      </a:r>
                      <a:endParaRPr lang="en-US" sz="136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360" dirty="0">
                          <a:solidFill>
                            <a:srgbClr val="222833"/>
                          </a:solidFill>
                          <a:latin typeface="Noto Sans CJK SC" pitchFamily="34" charset="0"/>
                          <a:ea typeface="Noto Sans CJK SC" pitchFamily="34" charset="-122"/>
                          <a:cs typeface="Noto Sans CJK SC" pitchFamily="34" charset="-120"/>
                        </a:rPr>
                        <a:t>需要关注</a:t>
                      </a:r>
                      <a:endParaRPr lang="en-US" sz="136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32104">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形态差异</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动作无法直接对应</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自由度、关节极限、工作空间、接触方式</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32104">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通信与视觉限制</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专家判断受到干扰</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延迟、带宽、视角、反馈充分性</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32104">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操作者差异</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演示一致性波动</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疲劳、熟练程度、人机工效</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32104">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数据集偏差</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策略容易对固定条件过拟合</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任务覆盖、失败轨迹、相机位姿与场景多样性</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731520" y="1664208"/>
            <a:ext cx="10698480" cy="502920"/>
          </a:xfrm>
          <a:prstGeom prst="rect">
            <a:avLst/>
          </a:prstGeom>
          <a:solidFill>
            <a:srgbClr val="31599B"/>
          </a:solidFill>
          <a:ln w="12700">
            <a:solidFill>
              <a:srgbClr val="31599B"/>
            </a:solidFill>
            <a:prstDash val="solid"/>
          </a:ln>
        </p:spPr>
      </p:sp>
      <p:sp>
        <p:nvSpPr>
          <p:cNvPr id="6" name="Text 3"/>
          <p:cNvSpPr/>
          <p:nvPr/>
        </p:nvSpPr>
        <p:spPr>
          <a:xfrm>
            <a:off x="749808" y="1773936"/>
            <a:ext cx="2020824" cy="256032"/>
          </a:xfrm>
          <a:prstGeom prst="rect">
            <a:avLst/>
          </a:prstGeom>
          <a:noFill/>
          <a:ln/>
        </p:spPr>
        <p:txBody>
          <a:bodyPr wrap="square" lIns="0" tIns="0" rIns="0" bIns="0" rtlCol="0" anchor="ctr">
            <a:noAutofit/>
          </a:bodyPr>
          <a:lstStyle/>
          <a:p>
            <a:pPr marL="0" indent="0" algn="ctr">
              <a:buNone/>
            </a:pPr>
            <a:r>
              <a:rPr lang="en-US" sz="2400" b="1" dirty="0">
                <a:solidFill>
                  <a:srgbClr val="FFFFFF"/>
                </a:solidFill>
                <a:latin typeface="微软雅黑" panose="020B0503020204020204" pitchFamily="34" charset="-122"/>
                <a:ea typeface="微软雅黑" panose="020B0503020204020204" pitchFamily="34" charset="-122"/>
                <a:cs typeface="Noto Sans CJK SC" pitchFamily="34" charset="-120"/>
              </a:rPr>
              <a:t>挑战</a:t>
            </a:r>
            <a:endParaRPr lang="en-US" sz="2400" dirty="0">
              <a:latin typeface="微软雅黑" panose="020B0503020204020204" pitchFamily="34" charset="-122"/>
              <a:ea typeface="微软雅黑" panose="020B0503020204020204" pitchFamily="34" charset="-122"/>
            </a:endParaRPr>
          </a:p>
        </p:txBody>
      </p:sp>
      <p:sp>
        <p:nvSpPr>
          <p:cNvPr id="7" name="Text 4"/>
          <p:cNvSpPr/>
          <p:nvPr/>
        </p:nvSpPr>
        <p:spPr>
          <a:xfrm>
            <a:off x="2807208" y="1773936"/>
            <a:ext cx="3209544" cy="256032"/>
          </a:xfrm>
          <a:prstGeom prst="rect">
            <a:avLst/>
          </a:prstGeom>
          <a:noFill/>
          <a:ln/>
        </p:spPr>
        <p:txBody>
          <a:bodyPr wrap="square" lIns="0" tIns="0" rIns="0" bIns="0" rtlCol="0" anchor="ctr">
            <a:noAutofit/>
          </a:bodyPr>
          <a:lstStyle/>
          <a:p>
            <a:pPr marL="0" indent="0" algn="ctr">
              <a:buNone/>
            </a:pPr>
            <a:r>
              <a:rPr lang="en-US" sz="2400" b="1" dirty="0">
                <a:solidFill>
                  <a:srgbClr val="FFFFFF"/>
                </a:solidFill>
                <a:latin typeface="微软雅黑" panose="020B0503020204020204" pitchFamily="34" charset="-122"/>
                <a:ea typeface="微软雅黑" panose="020B0503020204020204" pitchFamily="34" charset="-122"/>
                <a:cs typeface="Noto Sans CJK SC" pitchFamily="34" charset="-120"/>
              </a:rPr>
              <a:t>影响</a:t>
            </a:r>
            <a:endParaRPr lang="en-US" sz="2400" dirty="0">
              <a:latin typeface="微软雅黑" panose="020B0503020204020204" pitchFamily="34" charset="-122"/>
              <a:ea typeface="微软雅黑" panose="020B0503020204020204" pitchFamily="34" charset="-122"/>
            </a:endParaRPr>
          </a:p>
        </p:txBody>
      </p:sp>
      <p:sp>
        <p:nvSpPr>
          <p:cNvPr id="8" name="Text 5"/>
          <p:cNvSpPr/>
          <p:nvPr/>
        </p:nvSpPr>
        <p:spPr>
          <a:xfrm>
            <a:off x="6053328" y="1697366"/>
            <a:ext cx="5358384" cy="436604"/>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需要关注</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32</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大规模遥操作系统不能只追求“能操作”</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685800" y="1645920"/>
            <a:ext cx="3493008" cy="1627632"/>
          </a:xfrm>
          <a:prstGeom prst="roundRect">
            <a:avLst>
              <a:gd name="adj" fmla="val 280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685800" y="1645920"/>
            <a:ext cx="64008" cy="1627632"/>
          </a:xfrm>
          <a:prstGeom prst="rect">
            <a:avLst/>
          </a:prstGeom>
          <a:solidFill>
            <a:srgbClr val="31599B"/>
          </a:solidFill>
          <a:ln w="12700">
            <a:solidFill>
              <a:srgbClr val="31599B"/>
            </a:solidFill>
            <a:prstDash val="solid"/>
          </a:ln>
        </p:spPr>
      </p:sp>
      <p:sp>
        <p:nvSpPr>
          <p:cNvPr id="6" name="Text 4"/>
          <p:cNvSpPr/>
          <p:nvPr/>
        </p:nvSpPr>
        <p:spPr>
          <a:xfrm>
            <a:off x="896112" y="1792224"/>
            <a:ext cx="3108960"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人机工效</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896112" y="2212848"/>
            <a:ext cx="3108960" cy="91440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降低长时间操作疲劳</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480560" y="1645920"/>
            <a:ext cx="3493008" cy="1627632"/>
          </a:xfrm>
          <a:prstGeom prst="roundRect">
            <a:avLst>
              <a:gd name="adj" fmla="val 280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80560" y="1645920"/>
            <a:ext cx="64008" cy="1627632"/>
          </a:xfrm>
          <a:prstGeom prst="rect">
            <a:avLst/>
          </a:prstGeom>
          <a:solidFill>
            <a:srgbClr val="2F8E72"/>
          </a:solidFill>
          <a:ln w="12700">
            <a:solidFill>
              <a:srgbClr val="2F8E72"/>
            </a:solidFill>
            <a:prstDash val="solid"/>
          </a:ln>
        </p:spPr>
      </p:sp>
      <p:sp>
        <p:nvSpPr>
          <p:cNvPr id="10" name="Text 8"/>
          <p:cNvSpPr/>
          <p:nvPr/>
        </p:nvSpPr>
        <p:spPr>
          <a:xfrm>
            <a:off x="4690872" y="1792224"/>
            <a:ext cx="3108960"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时间同步</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690872" y="2212848"/>
            <a:ext cx="3108960" cy="91440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确保多模态数据一一对齐</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8275320" y="1645920"/>
            <a:ext cx="3493008" cy="1627632"/>
          </a:xfrm>
          <a:prstGeom prst="roundRect">
            <a:avLst>
              <a:gd name="adj" fmla="val 280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275320" y="1645920"/>
            <a:ext cx="64008" cy="1627632"/>
          </a:xfrm>
          <a:prstGeom prst="rect">
            <a:avLst/>
          </a:prstGeom>
          <a:solidFill>
            <a:srgbClr val="C58A24"/>
          </a:solidFill>
          <a:ln w="12700">
            <a:solidFill>
              <a:srgbClr val="C58A24"/>
            </a:solidFill>
            <a:prstDash val="solid"/>
          </a:ln>
        </p:spPr>
      </p:sp>
      <p:sp>
        <p:nvSpPr>
          <p:cNvPr id="14" name="Text 12"/>
          <p:cNvSpPr/>
          <p:nvPr/>
        </p:nvSpPr>
        <p:spPr>
          <a:xfrm>
            <a:off x="8485632" y="1792224"/>
            <a:ext cx="3108960"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标定精度</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485632" y="2212848"/>
            <a:ext cx="3108960" cy="91440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避免系统性动作偏差</a:t>
            </a:r>
            <a:endParaRPr lang="en-US" sz="2400" dirty="0">
              <a:latin typeface="微软雅黑" panose="020B0503020204020204" pitchFamily="34" charset="-122"/>
              <a:ea typeface="微软雅黑" panose="020B0503020204020204" pitchFamily="34" charset="-122"/>
            </a:endParaRPr>
          </a:p>
        </p:txBody>
      </p:sp>
      <p:sp>
        <p:nvSpPr>
          <p:cNvPr id="16" name="Shape 14"/>
          <p:cNvSpPr/>
          <p:nvPr/>
        </p:nvSpPr>
        <p:spPr>
          <a:xfrm>
            <a:off x="685800" y="3639312"/>
            <a:ext cx="3493008" cy="1627632"/>
          </a:xfrm>
          <a:prstGeom prst="roundRect">
            <a:avLst>
              <a:gd name="adj" fmla="val 280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7" name="Shape 15"/>
          <p:cNvSpPr/>
          <p:nvPr/>
        </p:nvSpPr>
        <p:spPr>
          <a:xfrm>
            <a:off x="685800" y="3639312"/>
            <a:ext cx="64008" cy="1627632"/>
          </a:xfrm>
          <a:prstGeom prst="rect">
            <a:avLst/>
          </a:prstGeom>
          <a:solidFill>
            <a:srgbClr val="C63F45"/>
          </a:solidFill>
          <a:ln w="12700">
            <a:solidFill>
              <a:srgbClr val="C63F45"/>
            </a:solidFill>
            <a:prstDash val="solid"/>
          </a:ln>
        </p:spPr>
      </p:sp>
      <p:sp>
        <p:nvSpPr>
          <p:cNvPr id="18" name="Text 16"/>
          <p:cNvSpPr/>
          <p:nvPr/>
        </p:nvSpPr>
        <p:spPr>
          <a:xfrm>
            <a:off x="896112" y="3785616"/>
            <a:ext cx="3108960"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失败轨迹</a:t>
            </a:r>
            <a:endParaRPr lang="en-US" sz="2400" dirty="0">
              <a:latin typeface="微软雅黑" panose="020B0503020204020204" pitchFamily="34" charset="-122"/>
              <a:ea typeface="微软雅黑" panose="020B0503020204020204" pitchFamily="34" charset="-122"/>
            </a:endParaRPr>
          </a:p>
        </p:txBody>
      </p:sp>
      <p:sp>
        <p:nvSpPr>
          <p:cNvPr id="19" name="Text 17"/>
          <p:cNvSpPr/>
          <p:nvPr/>
        </p:nvSpPr>
        <p:spPr>
          <a:xfrm>
            <a:off x="896112" y="4206240"/>
            <a:ext cx="3108960" cy="91440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保留策略可能进入的非理想状态</a:t>
            </a:r>
            <a:endParaRPr lang="en-US" sz="2400" dirty="0">
              <a:latin typeface="微软雅黑" panose="020B0503020204020204" pitchFamily="34" charset="-122"/>
              <a:ea typeface="微软雅黑" panose="020B0503020204020204" pitchFamily="34" charset="-122"/>
            </a:endParaRPr>
          </a:p>
        </p:txBody>
      </p:sp>
      <p:sp>
        <p:nvSpPr>
          <p:cNvPr id="20" name="Shape 18"/>
          <p:cNvSpPr/>
          <p:nvPr/>
        </p:nvSpPr>
        <p:spPr>
          <a:xfrm>
            <a:off x="4480560" y="3639312"/>
            <a:ext cx="3493008" cy="1627632"/>
          </a:xfrm>
          <a:prstGeom prst="roundRect">
            <a:avLst>
              <a:gd name="adj" fmla="val 280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21" name="Shape 19"/>
          <p:cNvSpPr/>
          <p:nvPr/>
        </p:nvSpPr>
        <p:spPr>
          <a:xfrm>
            <a:off x="4480560" y="3639312"/>
            <a:ext cx="64008" cy="1627632"/>
          </a:xfrm>
          <a:prstGeom prst="rect">
            <a:avLst/>
          </a:prstGeom>
          <a:solidFill>
            <a:srgbClr val="7558A8"/>
          </a:solidFill>
          <a:ln w="12700">
            <a:solidFill>
              <a:srgbClr val="7558A8"/>
            </a:solidFill>
            <a:prstDash val="solid"/>
          </a:ln>
        </p:spPr>
      </p:sp>
      <p:sp>
        <p:nvSpPr>
          <p:cNvPr id="22" name="Text 20"/>
          <p:cNvSpPr/>
          <p:nvPr/>
        </p:nvSpPr>
        <p:spPr>
          <a:xfrm>
            <a:off x="4690872" y="3785616"/>
            <a:ext cx="3108960" cy="329184"/>
          </a:xfrm>
          <a:prstGeom prst="rect">
            <a:avLst/>
          </a:prstGeom>
          <a:noFill/>
          <a:ln/>
        </p:spPr>
        <p:txBody>
          <a:bodyPr wrap="square" lIns="0" tIns="0" rIns="0" bIns="0" rtlCol="0" anchor="ctr">
            <a:noAutofit/>
          </a:bodyPr>
          <a:lstStyle/>
          <a:p>
            <a:pPr marL="0" indent="0">
              <a:buNone/>
            </a:pPr>
            <a:r>
              <a:rPr lang="en-US" sz="2400" b="1" dirty="0">
                <a:solidFill>
                  <a:srgbClr val="7558A8"/>
                </a:solidFill>
                <a:latin typeface="微软雅黑" panose="020B0503020204020204" pitchFamily="34" charset="-122"/>
                <a:ea typeface="微软雅黑" panose="020B0503020204020204" pitchFamily="34" charset="-122"/>
                <a:cs typeface="Noto Sans CJK SC" pitchFamily="34" charset="-120"/>
              </a:rPr>
              <a:t>数据清洗</a:t>
            </a:r>
            <a:endParaRPr lang="en-US" sz="2400" dirty="0">
              <a:latin typeface="微软雅黑" panose="020B0503020204020204" pitchFamily="34" charset="-122"/>
              <a:ea typeface="微软雅黑" panose="020B0503020204020204" pitchFamily="34" charset="-122"/>
            </a:endParaRPr>
          </a:p>
        </p:txBody>
      </p:sp>
      <p:sp>
        <p:nvSpPr>
          <p:cNvPr id="23" name="Text 21"/>
          <p:cNvSpPr/>
          <p:nvPr/>
        </p:nvSpPr>
        <p:spPr>
          <a:xfrm>
            <a:off x="4690872" y="4206240"/>
            <a:ext cx="3108960" cy="91440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剔除异常和错误同步样本</a:t>
            </a:r>
            <a:endParaRPr lang="en-US" sz="2400" dirty="0">
              <a:latin typeface="微软雅黑" panose="020B0503020204020204" pitchFamily="34" charset="-122"/>
              <a:ea typeface="微软雅黑" panose="020B0503020204020204" pitchFamily="34" charset="-122"/>
            </a:endParaRPr>
          </a:p>
        </p:txBody>
      </p:sp>
      <p:sp>
        <p:nvSpPr>
          <p:cNvPr id="24" name="Shape 22"/>
          <p:cNvSpPr/>
          <p:nvPr/>
        </p:nvSpPr>
        <p:spPr>
          <a:xfrm>
            <a:off x="8275320" y="3639312"/>
            <a:ext cx="3493008" cy="1627632"/>
          </a:xfrm>
          <a:prstGeom prst="roundRect">
            <a:avLst>
              <a:gd name="adj" fmla="val 280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25" name="Shape 23"/>
          <p:cNvSpPr/>
          <p:nvPr/>
        </p:nvSpPr>
        <p:spPr>
          <a:xfrm>
            <a:off x="8275320" y="3639312"/>
            <a:ext cx="64008" cy="1627632"/>
          </a:xfrm>
          <a:prstGeom prst="rect">
            <a:avLst/>
          </a:prstGeom>
          <a:solidFill>
            <a:srgbClr val="4F73B5"/>
          </a:solidFill>
          <a:ln w="12700">
            <a:solidFill>
              <a:srgbClr val="4F73B5"/>
            </a:solidFill>
            <a:prstDash val="solid"/>
          </a:ln>
        </p:spPr>
      </p:sp>
      <p:sp>
        <p:nvSpPr>
          <p:cNvPr id="26" name="Text 24"/>
          <p:cNvSpPr/>
          <p:nvPr/>
        </p:nvSpPr>
        <p:spPr>
          <a:xfrm>
            <a:off x="8485632" y="3785616"/>
            <a:ext cx="3108960" cy="329184"/>
          </a:xfrm>
          <a:prstGeom prst="rect">
            <a:avLst/>
          </a:prstGeom>
          <a:noFill/>
          <a:ln/>
        </p:spPr>
        <p:txBody>
          <a:bodyPr wrap="square" lIns="0" tIns="0" rIns="0" bIns="0" rtlCol="0" anchor="ctr">
            <a:noAutofit/>
          </a:bodyPr>
          <a:lstStyle/>
          <a:p>
            <a:pPr marL="0" indent="0">
              <a:buNone/>
            </a:pPr>
            <a:r>
              <a:rPr lang="en-US" sz="2400" b="1" dirty="0">
                <a:solidFill>
                  <a:srgbClr val="4F73B5"/>
                </a:solidFill>
                <a:latin typeface="微软雅黑" panose="020B0503020204020204" pitchFamily="34" charset="-122"/>
                <a:ea typeface="微软雅黑" panose="020B0503020204020204" pitchFamily="34" charset="-122"/>
                <a:cs typeface="Noto Sans CJK SC" pitchFamily="34" charset="-120"/>
              </a:rPr>
              <a:t>任务覆盖</a:t>
            </a:r>
            <a:endParaRPr lang="en-US" sz="2400" dirty="0">
              <a:latin typeface="微软雅黑" panose="020B0503020204020204" pitchFamily="34" charset="-122"/>
              <a:ea typeface="微软雅黑" panose="020B0503020204020204" pitchFamily="34" charset="-122"/>
            </a:endParaRPr>
          </a:p>
        </p:txBody>
      </p:sp>
      <p:sp>
        <p:nvSpPr>
          <p:cNvPr id="27" name="Text 25"/>
          <p:cNvSpPr/>
          <p:nvPr/>
        </p:nvSpPr>
        <p:spPr>
          <a:xfrm>
            <a:off x="8485632" y="4206240"/>
            <a:ext cx="3108960" cy="914400"/>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扩大场景、操作者和初始状态分布</a:t>
            </a:r>
            <a:endParaRPr lang="en-US" sz="2400" dirty="0">
              <a:latin typeface="微软雅黑" panose="020B0503020204020204" pitchFamily="34" charset="-122"/>
              <a:ea typeface="微软雅黑" panose="020B0503020204020204" pitchFamily="34" charset="-122"/>
            </a:endParaRPr>
          </a:p>
        </p:txBody>
      </p:sp>
      <p:sp>
        <p:nvSpPr>
          <p:cNvPr id="28"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33</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4.1.4 ALOHA：低成本遥操作 + 端到端模仿学习</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77240" y="1719072"/>
            <a:ext cx="10058400" cy="4114800"/>
          </a:xfrm>
          <a:prstGeom prst="rect">
            <a:avLst/>
          </a:prstGeom>
          <a:noFill/>
          <a:ln/>
        </p:spPr>
        <p:txBody>
          <a:bodyPr wrap="square" lIns="635" tIns="635" rIns="635" bIns="635" rtlCol="0" anchor="t">
            <a:normAutofit/>
          </a:bodyPr>
          <a:lstStyle/>
          <a:p>
            <a:pPr marL="228600" indent="-228600">
              <a:buSzPct val="100000"/>
              <a:buChar char="•"/>
            </a:pPr>
            <a:r>
              <a:rPr lang="en-US" sz="2800" dirty="0">
                <a:solidFill>
                  <a:srgbClr val="222833"/>
                </a:solidFill>
                <a:latin typeface="Noto Sans CJK SC" pitchFamily="34" charset="0"/>
                <a:ea typeface="Noto Sans CJK SC" pitchFamily="34" charset="-122"/>
                <a:cs typeface="Noto Sans CJK SC" pitchFamily="34" charset="-120"/>
              </a:rPr>
              <a:t>ALOHA 验证了低成本双臂遥操作与端到端模仿学习结合的可行性。</a:t>
            </a:r>
            <a:endParaRPr lang="en-US" sz="2800" dirty="0"/>
          </a:p>
          <a:p>
            <a:pPr marL="228600" indent="-228600">
              <a:buSzPct val="100000"/>
              <a:buChar char="•"/>
            </a:pPr>
            <a:r>
              <a:rPr lang="en-US" sz="2800" dirty="0">
                <a:solidFill>
                  <a:srgbClr val="222833"/>
                </a:solidFill>
                <a:latin typeface="Noto Sans CJK SC" pitchFamily="34" charset="0"/>
                <a:ea typeface="Noto Sans CJK SC" pitchFamily="34" charset="-122"/>
                <a:cs typeface="Noto Sans CJK SC" pitchFamily="34" charset="-120"/>
              </a:rPr>
              <a:t>通过定制遥操作接口采集真实专家演示，使机器人能够完成多个高精细双臂操作任务。</a:t>
            </a:r>
            <a:endParaRPr lang="en-US" sz="2800" dirty="0"/>
          </a:p>
          <a:p>
            <a:pPr marL="228600" indent="-228600">
              <a:buSzPct val="100000"/>
              <a:buChar char="•"/>
            </a:pPr>
            <a:r>
              <a:rPr lang="en-US" sz="2800" dirty="0">
                <a:solidFill>
                  <a:srgbClr val="222833"/>
                </a:solidFill>
                <a:latin typeface="Noto Sans CJK SC" pitchFamily="34" charset="0"/>
                <a:ea typeface="Noto Sans CJK SC" pitchFamily="34" charset="-122"/>
                <a:cs typeface="Noto Sans CJK SC" pitchFamily="34" charset="-120"/>
              </a:rPr>
              <a:t>即使硬件成本较低、精度有限，精心设计的数据采集与策略学习流程仍可支持复杂操作。</a:t>
            </a:r>
            <a:endParaRPr lang="en-US" sz="28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Mobile ALOHA：</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轮式双臂</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移动操作</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07.png"/>
          <p:cNvPicPr>
            <a:picLocks noChangeAspect="1"/>
          </p:cNvPicPr>
          <p:nvPr/>
        </p:nvPicPr>
        <p:blipFill>
          <a:blip r:embed="rId3"/>
          <a:stretch>
            <a:fillRect/>
          </a:stretch>
        </p:blipFill>
        <p:spPr>
          <a:xfrm>
            <a:off x="731520" y="1797516"/>
            <a:ext cx="6080760" cy="3802464"/>
          </a:xfrm>
          <a:prstGeom prst="rect">
            <a:avLst/>
          </a:prstGeom>
        </p:spPr>
      </p:pic>
      <p:sp>
        <p:nvSpPr>
          <p:cNvPr id="5" name="Text 2"/>
          <p:cNvSpPr/>
          <p:nvPr/>
        </p:nvSpPr>
        <p:spPr>
          <a:xfrm>
            <a:off x="731520" y="5870448"/>
            <a:ext cx="6080760" cy="256032"/>
          </a:xfrm>
          <a:prstGeom prst="rect">
            <a:avLst/>
          </a:prstGeom>
          <a:noFill/>
          <a:ln/>
        </p:spPr>
        <p:txBody>
          <a:bodyPr wrap="square" lIns="0" tIns="0" rIns="0" bIns="0" rtlCol="0" anchor="ctr">
            <a:normAutofit/>
          </a:bodyPr>
          <a:lstStyle/>
          <a:p>
            <a:pPr marL="0" indent="0" algn="ctr">
              <a:buNone/>
            </a:pPr>
            <a:r>
              <a:rPr lang="en-US" sz="1600" b="1" dirty="0">
                <a:solidFill>
                  <a:schemeClr val="accent1">
                    <a:lumMod val="50000"/>
                  </a:schemeClr>
                </a:solidFill>
                <a:latin typeface="微软雅黑" panose="020B0503020204020204" pitchFamily="34" charset="-122"/>
                <a:ea typeface="微软雅黑" panose="020B0503020204020204" pitchFamily="34" charset="-122"/>
              </a:rPr>
              <a:t>Mobile ALOHA</a:t>
            </a:r>
          </a:p>
        </p:txBody>
      </p:sp>
      <p:sp>
        <p:nvSpPr>
          <p:cNvPr id="6" name="Shape 3"/>
          <p:cNvSpPr/>
          <p:nvPr/>
        </p:nvSpPr>
        <p:spPr>
          <a:xfrm>
            <a:off x="7132320" y="1627632"/>
            <a:ext cx="4069080" cy="1481328"/>
          </a:xfrm>
          <a:prstGeom prst="roundRect">
            <a:avLst>
              <a:gd name="adj" fmla="val 3086"/>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7" name="Shape 4"/>
          <p:cNvSpPr/>
          <p:nvPr/>
        </p:nvSpPr>
        <p:spPr>
          <a:xfrm>
            <a:off x="7132320" y="1627632"/>
            <a:ext cx="64008" cy="1481328"/>
          </a:xfrm>
          <a:prstGeom prst="rect">
            <a:avLst/>
          </a:prstGeom>
          <a:solidFill>
            <a:srgbClr val="31599B"/>
          </a:solidFill>
          <a:ln w="12700">
            <a:solidFill>
              <a:srgbClr val="31599B"/>
            </a:solidFill>
            <a:prstDash val="solid"/>
          </a:ln>
        </p:spPr>
      </p:sp>
      <p:sp>
        <p:nvSpPr>
          <p:cNvPr id="8" name="Text 5"/>
          <p:cNvSpPr/>
          <p:nvPr/>
        </p:nvSpPr>
        <p:spPr>
          <a:xfrm>
            <a:off x="7342632" y="1773936"/>
            <a:ext cx="3685032" cy="329184"/>
          </a:xfrm>
          <a:prstGeom prst="rect">
            <a:avLst/>
          </a:prstGeom>
          <a:noFill/>
          <a:ln/>
        </p:spPr>
        <p:txBody>
          <a:bodyPr wrap="square" lIns="0" tIns="0" rIns="0" bIns="0" rtlCol="0" anchor="ctr">
            <a:normAutofit/>
          </a:bodyPr>
          <a:lstStyle/>
          <a:p>
            <a:pPr marL="0" indent="0">
              <a:buNone/>
            </a:pPr>
            <a:r>
              <a:rPr lang="en-US" sz="1750" b="1" dirty="0">
                <a:solidFill>
                  <a:srgbClr val="31599B"/>
                </a:solidFill>
                <a:latin typeface="微软雅黑" panose="020B0503020204020204" pitchFamily="34" charset="-122"/>
                <a:ea typeface="微软雅黑" panose="020B0503020204020204" pitchFamily="34" charset="-122"/>
                <a:cs typeface="Noto Sans CJK SC" pitchFamily="34" charset="-120"/>
              </a:rPr>
              <a:t>平台扩展</a:t>
            </a:r>
            <a:endParaRPr lang="en-US" sz="1750" dirty="0">
              <a:latin typeface="微软雅黑" panose="020B0503020204020204" pitchFamily="34" charset="-122"/>
              <a:ea typeface="微软雅黑" panose="020B0503020204020204" pitchFamily="34" charset="-122"/>
            </a:endParaRPr>
          </a:p>
        </p:txBody>
      </p:sp>
      <p:sp>
        <p:nvSpPr>
          <p:cNvPr id="9" name="Text 6"/>
          <p:cNvSpPr/>
          <p:nvPr/>
        </p:nvSpPr>
        <p:spPr>
          <a:xfrm>
            <a:off x="7342632" y="2194560"/>
            <a:ext cx="3685032" cy="768096"/>
          </a:xfrm>
          <a:prstGeom prst="rect">
            <a:avLst/>
          </a:prstGeom>
          <a:noFill/>
          <a:ln/>
        </p:spPr>
        <p:txBody>
          <a:bodyPr wrap="square" lIns="254" tIns="254" rIns="254" bIns="254" rtlCol="0" anchor="t">
            <a:normAutofit/>
          </a:bodyPr>
          <a:lstStyle/>
          <a:p>
            <a:pPr marL="0" indent="0">
              <a:buNone/>
            </a:pPr>
            <a:r>
              <a:rPr lang="en-US" sz="1500" dirty="0">
                <a:solidFill>
                  <a:srgbClr val="222833"/>
                </a:solidFill>
                <a:latin typeface="微软雅黑" panose="020B0503020204020204" pitchFamily="34" charset="-122"/>
                <a:ea typeface="微软雅黑" panose="020B0503020204020204" pitchFamily="34" charset="-122"/>
                <a:cs typeface="Noto Sans CJK SC" pitchFamily="34" charset="-120"/>
              </a:rPr>
              <a:t>加入移动底盘和全身遥操作接口，把演示采集扩展到移动操作任务。</a:t>
            </a:r>
            <a:endParaRPr lang="en-US" sz="1500" dirty="0">
              <a:latin typeface="微软雅黑" panose="020B0503020204020204" pitchFamily="34" charset="-122"/>
              <a:ea typeface="微软雅黑" panose="020B0503020204020204" pitchFamily="34" charset="-122"/>
            </a:endParaRPr>
          </a:p>
        </p:txBody>
      </p:sp>
      <p:sp>
        <p:nvSpPr>
          <p:cNvPr id="10" name="Shape 7"/>
          <p:cNvSpPr/>
          <p:nvPr/>
        </p:nvSpPr>
        <p:spPr>
          <a:xfrm>
            <a:off x="7132320" y="3291840"/>
            <a:ext cx="4069080" cy="1481328"/>
          </a:xfrm>
          <a:prstGeom prst="roundRect">
            <a:avLst>
              <a:gd name="adj" fmla="val 3086"/>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1" name="Shape 8"/>
          <p:cNvSpPr/>
          <p:nvPr/>
        </p:nvSpPr>
        <p:spPr>
          <a:xfrm>
            <a:off x="7132320" y="3291840"/>
            <a:ext cx="64008" cy="1481328"/>
          </a:xfrm>
          <a:prstGeom prst="rect">
            <a:avLst/>
          </a:prstGeom>
          <a:solidFill>
            <a:srgbClr val="2F8E72"/>
          </a:solidFill>
          <a:ln w="12700">
            <a:solidFill>
              <a:srgbClr val="2F8E72"/>
            </a:solidFill>
            <a:prstDash val="solid"/>
          </a:ln>
        </p:spPr>
      </p:sp>
      <p:sp>
        <p:nvSpPr>
          <p:cNvPr id="12" name="Text 9"/>
          <p:cNvSpPr/>
          <p:nvPr/>
        </p:nvSpPr>
        <p:spPr>
          <a:xfrm>
            <a:off x="7342632" y="3438144"/>
            <a:ext cx="3685032" cy="329184"/>
          </a:xfrm>
          <a:prstGeom prst="rect">
            <a:avLst/>
          </a:prstGeom>
          <a:noFill/>
          <a:ln/>
        </p:spPr>
        <p:txBody>
          <a:bodyPr wrap="square" lIns="0" tIns="0" rIns="0" bIns="0" rtlCol="0" anchor="ctr">
            <a:normAutofit/>
          </a:bodyPr>
          <a:lstStyle/>
          <a:p>
            <a:pPr marL="0" indent="0">
              <a:buNone/>
            </a:pPr>
            <a:r>
              <a:rPr lang="en-US" sz="1750" b="1" dirty="0" err="1">
                <a:solidFill>
                  <a:srgbClr val="2F8E72"/>
                </a:solidFill>
                <a:latin typeface="微软雅黑" panose="020B0503020204020204" pitchFamily="34" charset="-122"/>
                <a:ea typeface="微软雅黑" panose="020B0503020204020204" pitchFamily="34" charset="-122"/>
                <a:cs typeface="Noto Sans CJK SC" pitchFamily="34" charset="-120"/>
              </a:rPr>
              <a:t>结果</a:t>
            </a:r>
            <a:endParaRPr lang="en-US" sz="1750" dirty="0">
              <a:latin typeface="微软雅黑" panose="020B0503020204020204" pitchFamily="34" charset="-122"/>
              <a:ea typeface="微软雅黑" panose="020B0503020204020204" pitchFamily="34" charset="-122"/>
            </a:endParaRPr>
          </a:p>
        </p:txBody>
      </p:sp>
      <p:sp>
        <p:nvSpPr>
          <p:cNvPr id="13" name="Text 10"/>
          <p:cNvSpPr/>
          <p:nvPr/>
        </p:nvSpPr>
        <p:spPr>
          <a:xfrm>
            <a:off x="7342632" y="3858768"/>
            <a:ext cx="3685032" cy="768096"/>
          </a:xfrm>
          <a:prstGeom prst="rect">
            <a:avLst/>
          </a:prstGeom>
          <a:noFill/>
          <a:ln/>
        </p:spPr>
        <p:txBody>
          <a:bodyPr wrap="square" lIns="254" tIns="254" rIns="254" bIns="254" rtlCol="0" anchor="t">
            <a:normAutofit/>
          </a:bodyPr>
          <a:lstStyle/>
          <a:p>
            <a:pPr marL="0" indent="0">
              <a:buNone/>
            </a:pPr>
            <a:r>
              <a:rPr lang="en-US" sz="1470" dirty="0">
                <a:solidFill>
                  <a:srgbClr val="222833"/>
                </a:solidFill>
                <a:latin typeface="微软雅黑" panose="020B0503020204020204" pitchFamily="34" charset="-122"/>
                <a:ea typeface="微软雅黑" panose="020B0503020204020204" pitchFamily="34" charset="-122"/>
                <a:cs typeface="Noto Sans CJK SC" pitchFamily="34" charset="-120"/>
              </a:rPr>
              <a:t>在每个任务约 50 次演示并与静态数据协同训练时，若干复杂任务成功率可提升至接近 90%。</a:t>
            </a:r>
            <a:endParaRPr lang="en-US" sz="1470" dirty="0">
              <a:latin typeface="微软雅黑" panose="020B0503020204020204" pitchFamily="34" charset="-122"/>
              <a:ea typeface="微软雅黑" panose="020B0503020204020204" pitchFamily="34" charset="-122"/>
            </a:endParaRPr>
          </a:p>
        </p:txBody>
      </p:sp>
      <p:sp>
        <p:nvSpPr>
          <p:cNvPr id="14" name="Shape 11"/>
          <p:cNvSpPr/>
          <p:nvPr/>
        </p:nvSpPr>
        <p:spPr>
          <a:xfrm>
            <a:off x="7132320" y="4956048"/>
            <a:ext cx="4069080" cy="1051560"/>
          </a:xfrm>
          <a:prstGeom prst="roundRect">
            <a:avLst>
              <a:gd name="adj" fmla="val 434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5" name="Shape 12"/>
          <p:cNvSpPr/>
          <p:nvPr/>
        </p:nvSpPr>
        <p:spPr>
          <a:xfrm>
            <a:off x="7132320" y="4956048"/>
            <a:ext cx="64008" cy="1051560"/>
          </a:xfrm>
          <a:prstGeom prst="rect">
            <a:avLst/>
          </a:prstGeom>
          <a:solidFill>
            <a:srgbClr val="C58A24"/>
          </a:solidFill>
          <a:ln w="12700">
            <a:solidFill>
              <a:srgbClr val="C58A24"/>
            </a:solidFill>
            <a:prstDash val="solid"/>
          </a:ln>
        </p:spPr>
      </p:sp>
      <p:sp>
        <p:nvSpPr>
          <p:cNvPr id="16" name="Text 13"/>
          <p:cNvSpPr/>
          <p:nvPr/>
        </p:nvSpPr>
        <p:spPr>
          <a:xfrm>
            <a:off x="7342632" y="5102352"/>
            <a:ext cx="3685032" cy="329184"/>
          </a:xfrm>
          <a:prstGeom prst="rect">
            <a:avLst/>
          </a:prstGeom>
          <a:noFill/>
          <a:ln/>
        </p:spPr>
        <p:txBody>
          <a:bodyPr wrap="square" lIns="0" tIns="0" rIns="0" bIns="0" rtlCol="0" anchor="ctr">
            <a:normAutofit/>
          </a:bodyPr>
          <a:lstStyle/>
          <a:p>
            <a:pPr marL="0" indent="0">
              <a:buNone/>
            </a:pPr>
            <a:r>
              <a:rPr lang="en-US" sz="1750" b="1" dirty="0">
                <a:solidFill>
                  <a:srgbClr val="C58A24"/>
                </a:solidFill>
                <a:latin typeface="微软雅黑" panose="020B0503020204020204" pitchFamily="34" charset="-122"/>
                <a:ea typeface="微软雅黑" panose="020B0503020204020204" pitchFamily="34" charset="-122"/>
                <a:cs typeface="Noto Sans CJK SC" pitchFamily="34" charset="-120"/>
              </a:rPr>
              <a:t>意义</a:t>
            </a:r>
            <a:endParaRPr lang="en-US" sz="1750" dirty="0">
              <a:latin typeface="微软雅黑" panose="020B0503020204020204" pitchFamily="34" charset="-122"/>
              <a:ea typeface="微软雅黑" panose="020B0503020204020204" pitchFamily="34" charset="-122"/>
            </a:endParaRPr>
          </a:p>
        </p:txBody>
      </p:sp>
      <p:sp>
        <p:nvSpPr>
          <p:cNvPr id="17" name="Text 14"/>
          <p:cNvSpPr/>
          <p:nvPr/>
        </p:nvSpPr>
        <p:spPr>
          <a:xfrm>
            <a:off x="7342632" y="5522976"/>
            <a:ext cx="3685032" cy="338328"/>
          </a:xfrm>
          <a:prstGeom prst="rect">
            <a:avLst/>
          </a:prstGeom>
          <a:noFill/>
          <a:ln/>
        </p:spPr>
        <p:txBody>
          <a:bodyPr wrap="square" lIns="254" tIns="254" rIns="254" bIns="254" rtlCol="0" anchor="t">
            <a:normAutofit/>
          </a:bodyPr>
          <a:lstStyle/>
          <a:p>
            <a:pPr marL="0" indent="0">
              <a:buNone/>
            </a:pPr>
            <a:r>
              <a:rPr lang="en-US" sz="1400" dirty="0">
                <a:solidFill>
                  <a:srgbClr val="222833"/>
                </a:solidFill>
                <a:latin typeface="微软雅黑" panose="020B0503020204020204" pitchFamily="34" charset="-122"/>
                <a:ea typeface="微软雅黑" panose="020B0503020204020204" pitchFamily="34" charset="-122"/>
                <a:cs typeface="Noto Sans CJK SC" pitchFamily="34" charset="-120"/>
              </a:rPr>
              <a:t>体现高质量真机演示对复杂具身任务的价值。</a:t>
            </a:r>
            <a:endParaRPr lang="en-US" sz="1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35</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案例：通用运动重定向 GMR</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08.png"/>
          <p:cNvPicPr>
            <a:picLocks noChangeAspect="1"/>
          </p:cNvPicPr>
          <p:nvPr/>
        </p:nvPicPr>
        <p:blipFill>
          <a:blip r:embed="rId3"/>
          <a:stretch>
            <a:fillRect/>
          </a:stretch>
        </p:blipFill>
        <p:spPr>
          <a:xfrm>
            <a:off x="5047488" y="1790450"/>
            <a:ext cx="6949440" cy="4045196"/>
          </a:xfrm>
          <a:prstGeom prst="rect">
            <a:avLst/>
          </a:prstGeom>
        </p:spPr>
      </p:pic>
      <p:sp>
        <p:nvSpPr>
          <p:cNvPr id="5" name="Text 2"/>
          <p:cNvSpPr/>
          <p:nvPr/>
        </p:nvSpPr>
        <p:spPr>
          <a:xfrm>
            <a:off x="5047488" y="6099048"/>
            <a:ext cx="6949440" cy="256032"/>
          </a:xfrm>
          <a:prstGeom prst="rect">
            <a:avLst/>
          </a:prstGeom>
          <a:noFill/>
          <a:ln/>
        </p:spPr>
        <p:txBody>
          <a:bodyPr wrap="square" lIns="0" tIns="0" rIns="0" bIns="0" rtlCol="0" anchor="ctr">
            <a:normAutofit/>
          </a:bodyPr>
          <a:lstStyle/>
          <a:p>
            <a:pPr marL="0" indent="0" algn="ctr">
              <a:buNone/>
            </a:pPr>
            <a:r>
              <a:rPr lang="en-US" sz="1050" dirty="0">
                <a:solidFill>
                  <a:srgbClr val="667085"/>
                </a:solidFill>
                <a:latin typeface="微软雅黑" panose="020B0503020204020204" pitchFamily="34" charset="-122"/>
                <a:ea typeface="微软雅黑" panose="020B0503020204020204" pitchFamily="34" charset="-122"/>
                <a:cs typeface="Noto Sans CJK SC" pitchFamily="34" charset="-120"/>
              </a:rPr>
              <a:t>教材图4-7 通用运动重定向技术</a:t>
            </a:r>
            <a:endParaRPr lang="en-US" sz="1050" dirty="0">
              <a:latin typeface="微软雅黑" panose="020B0503020204020204" pitchFamily="34" charset="-122"/>
              <a:ea typeface="微软雅黑" panose="020B0503020204020204" pitchFamily="34" charset="-122"/>
            </a:endParaRPr>
          </a:p>
        </p:txBody>
      </p:sp>
      <p:sp>
        <p:nvSpPr>
          <p:cNvPr id="6" name="Text 3"/>
          <p:cNvSpPr/>
          <p:nvPr/>
        </p:nvSpPr>
        <p:spPr>
          <a:xfrm>
            <a:off x="620550" y="1145312"/>
            <a:ext cx="3895344" cy="5201780"/>
          </a:xfrm>
          <a:prstGeom prst="rect">
            <a:avLst/>
          </a:prstGeom>
          <a:noFill/>
          <a:ln/>
        </p:spPr>
        <p:txBody>
          <a:bodyPr wrap="square" lIns="635" tIns="635" rIns="635" bIns="635" rtlCol="0" anchor="t">
            <a:normAutofit fontScale="92500"/>
          </a:bodyPr>
          <a:lstStyle/>
          <a:p>
            <a:pPr marL="228600" indent="-228600">
              <a:buSzPct val="100000"/>
              <a:buChar char="•"/>
            </a:pPr>
            <a:endParaRPr lang="en-US" sz="2500" dirty="0">
              <a:solidFill>
                <a:srgbClr val="222833"/>
              </a:solidFill>
              <a:latin typeface="微软雅黑" panose="020B0503020204020204" pitchFamily="34" charset="-122"/>
              <a:ea typeface="微软雅黑" panose="020B0503020204020204" pitchFamily="34" charset="-122"/>
            </a:endParaRPr>
          </a:p>
          <a:p>
            <a:pPr marL="228600" indent="-228600">
              <a:lnSpc>
                <a:spcPct val="100000"/>
              </a:lnSpc>
              <a:buSzPct val="100000"/>
              <a:buChar char="•"/>
            </a:pPr>
            <a:r>
              <a:rPr lang="en-US" altLang="zh-CN" sz="2500" dirty="0">
                <a:solidFill>
                  <a:srgbClr val="222833"/>
                </a:solidFill>
                <a:latin typeface="微软雅黑" panose="020B0503020204020204" pitchFamily="34" charset="-122"/>
                <a:ea typeface="微软雅黑" panose="020B0503020204020204" pitchFamily="34" charset="-122"/>
              </a:rPr>
              <a:t>‌GMR</a:t>
            </a:r>
            <a:r>
              <a:rPr lang="zh-CN" altLang="en-US" sz="2500" dirty="0">
                <a:solidFill>
                  <a:srgbClr val="222833"/>
                </a:solidFill>
                <a:latin typeface="微软雅黑" panose="020B0503020204020204" pitchFamily="34" charset="-122"/>
                <a:ea typeface="微软雅黑" panose="020B0503020204020204" pitchFamily="34" charset="-122"/>
              </a:rPr>
              <a:t>（</a:t>
            </a:r>
            <a:r>
              <a:rPr lang="en-US" altLang="zh-CN" sz="2500" dirty="0">
                <a:solidFill>
                  <a:srgbClr val="222833"/>
                </a:solidFill>
                <a:latin typeface="微软雅黑" panose="020B0503020204020204" pitchFamily="34" charset="-122"/>
                <a:ea typeface="微软雅黑" panose="020B0503020204020204" pitchFamily="34" charset="-122"/>
              </a:rPr>
              <a:t>General Motion Retargeting</a:t>
            </a:r>
            <a:r>
              <a:rPr lang="zh-CN" altLang="en-US" sz="2500" dirty="0">
                <a:solidFill>
                  <a:srgbClr val="222833"/>
                </a:solidFill>
                <a:latin typeface="微软雅黑" panose="020B0503020204020204" pitchFamily="34" charset="-122"/>
                <a:ea typeface="微软雅黑" panose="020B0503020204020204" pitchFamily="34" charset="-122"/>
              </a:rPr>
              <a:t>，通用运动重定向）是斯坦福大学团队提出的开源算法框架，用于将人类动作实时映射到不同型号的人形机器人上</a:t>
            </a:r>
            <a:endParaRPr lang="en-US" altLang="zh-CN" sz="2500" dirty="0">
              <a:solidFill>
                <a:srgbClr val="222833"/>
              </a:solidFill>
              <a:latin typeface="微软雅黑" panose="020B0503020204020204" pitchFamily="34" charset="-122"/>
              <a:ea typeface="微软雅黑" panose="020B0503020204020204" pitchFamily="34" charset="-122"/>
            </a:endParaRPr>
          </a:p>
          <a:p>
            <a:pPr marL="228600" indent="-228600">
              <a:lnSpc>
                <a:spcPct val="100000"/>
              </a:lnSpc>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面向多种人形机器人的实时通用运动重定向框架</a:t>
            </a:r>
            <a:endPar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endParaRPr>
          </a:p>
          <a:p>
            <a:pPr marL="228600" indent="-228600">
              <a:lnSpc>
                <a:spcPct val="100000"/>
              </a:lnSpc>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采用多目标逆运动学优化，减少对特定机器人结构和</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GPU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的依赖</a:t>
            </a:r>
            <a:endPar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endParaRPr>
          </a:p>
          <a:p>
            <a:pPr marL="228600" indent="-228600">
              <a:lnSpc>
                <a:spcPct val="100000"/>
              </a:lnSpc>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通过关键身体部位匹配、笛卡儿空间对齐、非均匀局部缩放和两阶段</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IK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提升轨迹保真度</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36</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GMR 的三个主要特点</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3246120" cy="358444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49808" y="1664208"/>
            <a:ext cx="64008" cy="3584448"/>
          </a:xfrm>
          <a:prstGeom prst="rect">
            <a:avLst/>
          </a:prstGeom>
          <a:solidFill>
            <a:srgbClr val="31599B"/>
          </a:solidFill>
          <a:ln w="12700">
            <a:solidFill>
              <a:srgbClr val="31599B"/>
            </a:solidFill>
            <a:prstDash val="solid"/>
          </a:ln>
        </p:spPr>
      </p:sp>
      <p:sp>
        <p:nvSpPr>
          <p:cNvPr id="6" name="Text 4"/>
          <p:cNvSpPr/>
          <p:nvPr/>
        </p:nvSpPr>
        <p:spPr>
          <a:xfrm>
            <a:off x="960120"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通用性强</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60120" y="2591816"/>
            <a:ext cx="2862072" cy="287121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支持 Unitree G1/H1、Fourier GR3、Booster T1 等多种人形机器人平台，可一键切换。</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434840" y="1664208"/>
            <a:ext cx="3246120" cy="358444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34840" y="1664208"/>
            <a:ext cx="64008" cy="3584448"/>
          </a:xfrm>
          <a:prstGeom prst="rect">
            <a:avLst/>
          </a:prstGeom>
          <a:solidFill>
            <a:srgbClr val="2F8E72"/>
          </a:solidFill>
          <a:ln w="12700">
            <a:solidFill>
              <a:srgbClr val="2F8E72"/>
            </a:solidFill>
            <a:prstDash val="solid"/>
          </a:ln>
        </p:spPr>
      </p:sp>
      <p:sp>
        <p:nvSpPr>
          <p:cNvPr id="10" name="Text 8"/>
          <p:cNvSpPr/>
          <p:nvPr/>
        </p:nvSpPr>
        <p:spPr>
          <a:xfrm>
            <a:off x="4645152" y="1810512"/>
            <a:ext cx="28620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高保真与物理可行</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645152" y="2591816"/>
            <a:ext cx="2862072" cy="2871216"/>
          </a:xfrm>
          <a:prstGeom prst="rect">
            <a:avLst/>
          </a:prstGeom>
          <a:noFill/>
          <a:ln/>
        </p:spPr>
        <p:txBody>
          <a:bodyPr wrap="square" lIns="254" tIns="254" rIns="254" bIns="254" rtlCol="0" anchor="t">
            <a:normAutofit/>
          </a:bodyPr>
          <a:lstStyle/>
          <a:p>
            <a:pPr marL="0" indent="0">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降低运动失真，同时满足关节速度约束和物理合理性。</a:t>
            </a:r>
            <a:endParaRPr lang="en-US" sz="2800" dirty="0">
              <a:latin typeface="微软雅黑" panose="020B0503020204020204" pitchFamily="34" charset="-122"/>
              <a:ea typeface="微软雅黑" panose="020B0503020204020204" pitchFamily="34" charset="-122"/>
            </a:endParaRPr>
          </a:p>
        </p:txBody>
      </p:sp>
      <p:sp>
        <p:nvSpPr>
          <p:cNvPr id="12" name="Shape 10"/>
          <p:cNvSpPr/>
          <p:nvPr/>
        </p:nvSpPr>
        <p:spPr>
          <a:xfrm>
            <a:off x="8119872" y="1664208"/>
            <a:ext cx="3246120" cy="358444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119872" y="1664208"/>
            <a:ext cx="64008" cy="3584448"/>
          </a:xfrm>
          <a:prstGeom prst="rect">
            <a:avLst/>
          </a:prstGeom>
          <a:solidFill>
            <a:srgbClr val="C58A24"/>
          </a:solidFill>
          <a:ln w="12700">
            <a:solidFill>
              <a:srgbClr val="C58A24"/>
            </a:solidFill>
            <a:prstDash val="solid"/>
          </a:ln>
        </p:spPr>
      </p:sp>
      <p:sp>
        <p:nvSpPr>
          <p:cNvPr id="14" name="Text 12"/>
          <p:cNvSpPr/>
          <p:nvPr/>
        </p:nvSpPr>
        <p:spPr>
          <a:xfrm>
            <a:off x="8330184" y="1810512"/>
            <a:ext cx="28620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多格式兼容与实时</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330184" y="2591816"/>
            <a:ext cx="2862072" cy="287121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支持 SMPL-X、BVH、FBX、Xsens 等输入源，普通 CPU 可达 60–70 FPS。</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37</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GMR 的实体机器人表现与作用</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31599B"/>
          </a:solidFill>
          <a:ln w="12700">
            <a:solidFill>
              <a:srgbClr val="31599B"/>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31599B"/>
                </a:solidFill>
                <a:latin typeface="Noto Sans CJK SC" pitchFamily="34" charset="0"/>
                <a:ea typeface="Noto Sans CJK SC" pitchFamily="34" charset="-122"/>
                <a:cs typeface="Noto Sans CJK SC" pitchFamily="34" charset="-120"/>
              </a:rPr>
              <a:t>实体测试</a:t>
            </a:r>
            <a:endParaRPr lang="en-US" sz="2400" dirty="0"/>
          </a:p>
        </p:txBody>
      </p:sp>
      <p:sp>
        <p:nvSpPr>
          <p:cNvPr id="7" name="Text 5"/>
          <p:cNvSpPr/>
          <p:nvPr/>
        </p:nvSpPr>
        <p:spPr>
          <a:xfrm>
            <a:off x="987552" y="223113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可实时映射恰恰舞、跳跃、行走、拾取物体等复杂动作，并显著改善足部滑动、地面穿透和自碰撞等伪影。</a:t>
            </a:r>
            <a:endParaRPr lang="en-US" sz="2400" dirty="0"/>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2F8E72"/>
                </a:solidFill>
                <a:latin typeface="Noto Sans CJK SC" pitchFamily="34" charset="0"/>
                <a:ea typeface="Noto Sans CJK SC" pitchFamily="34" charset="-122"/>
                <a:cs typeface="Noto Sans CJK SC" pitchFamily="34" charset="-120"/>
              </a:rPr>
              <a:t>数据价值</a:t>
            </a:r>
            <a:endParaRPr lang="en-US" sz="2400" dirty="0"/>
          </a:p>
        </p:txBody>
      </p:sp>
      <p:sp>
        <p:nvSpPr>
          <p:cNvPr id="11" name="Text 9"/>
          <p:cNvSpPr/>
          <p:nvPr/>
        </p:nvSpPr>
        <p:spPr>
          <a:xfrm>
            <a:off x="6382512" y="223113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作为全身遥操作与模仿学习流程的核心模块，为“小规模高质量数据 + 强泛化架构”的路径提供关键技术支撑。</a:t>
            </a:r>
            <a:endParaRPr lang="en-US" sz="24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4" name="Text 2"/>
          <p:cNvSpPr/>
          <p:nvPr/>
        </p:nvSpPr>
        <p:spPr>
          <a:xfrm>
            <a:off x="1417320" y="1554480"/>
            <a:ext cx="1600200" cy="1143000"/>
          </a:xfrm>
          <a:prstGeom prst="rect">
            <a:avLst/>
          </a:prstGeom>
          <a:noFill/>
          <a:ln/>
        </p:spPr>
        <p:txBody>
          <a:bodyPr wrap="square" lIns="0" tIns="0" rIns="0" bIns="0" rtlCol="0" anchor="ctr"/>
          <a:lstStyle/>
          <a:p>
            <a:pPr marL="0" indent="0" algn="r">
              <a:buNone/>
            </a:pPr>
            <a:r>
              <a:rPr lang="en-US" sz="7600" b="1" dirty="0">
                <a:solidFill>
                  <a:srgbClr val="24477D"/>
                </a:solidFill>
                <a:latin typeface="Noto Sans CJK SC" pitchFamily="34" charset="0"/>
                <a:ea typeface="Noto Sans CJK SC" pitchFamily="34" charset="-122"/>
                <a:cs typeface="Noto Sans CJK SC" pitchFamily="34" charset="-120"/>
              </a:rPr>
              <a:t>2</a:t>
            </a:r>
            <a:endParaRPr lang="en-US" sz="7600" dirty="0">
              <a:solidFill>
                <a:srgbClr val="24477D"/>
              </a:solidFill>
            </a:endParaRPr>
          </a:p>
        </p:txBody>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Noto Sans CJK SC" pitchFamily="34" charset="0"/>
                <a:ea typeface="Noto Sans CJK SC" pitchFamily="34" charset="-122"/>
                <a:cs typeface="Noto Sans CJK SC" pitchFamily="34" charset="-120"/>
              </a:rPr>
              <a:t>行为克隆</a:t>
            </a:r>
            <a:endParaRPr lang="en-US" sz="3900" dirty="0"/>
          </a:p>
        </p:txBody>
      </p:sp>
      <p:sp>
        <p:nvSpPr>
          <p:cNvPr id="15" name="Text 13"/>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Noto Sans CJK SC" pitchFamily="34" charset="0"/>
                <a:ea typeface="Noto Sans CJK SC" pitchFamily="34" charset="-122"/>
                <a:cs typeface="Noto Sans CJK SC" pitchFamily="34" charset="-120"/>
              </a:rPr>
              <a:t>具身智能导论 · 第4章</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4.2 行为克隆：最直接的模仿学习方法</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64208"/>
            <a:ext cx="10149840" cy="4251960"/>
          </a:xfrm>
          <a:prstGeom prst="rect">
            <a:avLst/>
          </a:prstGeom>
          <a:noFill/>
          <a:ln/>
        </p:spPr>
        <p:txBody>
          <a:bodyPr wrap="square" lIns="635" tIns="635" rIns="635" bIns="635" rtlCol="0" anchor="t">
            <a:normAutofit/>
          </a:bodyPr>
          <a:lstStyle/>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行为克隆（BC）把模仿学习描述为一个监督学习问题。</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训练数据由专家演示中的状态—动作样本组成。</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目标是学习参数化策略 πθ(a|s)，使机器人在任意状态下的输出尽可能接近专家策略。</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优点是简单、高效、无需显式奖励函数。</a:t>
            </a:r>
            <a:endParaRPr lang="en-US" sz="2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40</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行为克隆的专家数据集</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713232" y="1109378"/>
            <a:ext cx="5303520" cy="1285102"/>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4.2 行为克隆</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2183453"/>
            <a:ext cx="10607040" cy="493776"/>
          </a:xfrm>
          <a:prstGeom prst="rect">
            <a:avLst/>
          </a:prstGeom>
          <a:noFill/>
          <a:ln/>
        </p:spPr>
        <p:txBody>
          <a:bodyPr wrap="square" lIns="0" tIns="0" rIns="0" bIns="0" rtlCol="0" anchor="ctr">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rPr>
              <a:t>行为克隆把专家演示拆解为</a:t>
            </a:r>
            <a:r>
              <a:rPr lang="en-US" sz="2400" dirty="0">
                <a:solidFill>
                  <a:srgbClr val="222833"/>
                </a:solidFill>
                <a:latin typeface="微软雅黑" panose="020B0503020204020204" pitchFamily="34" charset="-122"/>
                <a:ea typeface="微软雅黑" panose="020B0503020204020204" pitchFamily="34" charset="-122"/>
              </a:rPr>
              <a:t> M 个状态—</a:t>
            </a:r>
            <a:r>
              <a:rPr lang="en-US" sz="2400" dirty="0" err="1">
                <a:solidFill>
                  <a:srgbClr val="222833"/>
                </a:solidFill>
                <a:latin typeface="微软雅黑" panose="020B0503020204020204" pitchFamily="34" charset="-122"/>
                <a:ea typeface="微软雅黑" panose="020B0503020204020204" pitchFamily="34" charset="-122"/>
              </a:rPr>
              <a:t>动作样本</a:t>
            </a:r>
            <a:endParaRPr lang="en-US" sz="2400" dirty="0">
              <a:solidFill>
                <a:srgbClr val="222833"/>
              </a:solidFill>
              <a:latin typeface="微软雅黑" panose="020B0503020204020204" pitchFamily="34" charset="-122"/>
              <a:ea typeface="微软雅黑" panose="020B0503020204020204" pitchFamily="34" charset="-122"/>
            </a:endParaRPr>
          </a:p>
        </p:txBody>
      </p:sp>
      <p:sp>
        <p:nvSpPr>
          <p:cNvPr id="6" name="Shape 4"/>
          <p:cNvSpPr/>
          <p:nvPr/>
        </p:nvSpPr>
        <p:spPr>
          <a:xfrm>
            <a:off x="713232" y="3070352"/>
            <a:ext cx="7635240" cy="953007"/>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6.png"/>
          <p:cNvPicPr>
            <a:picLocks noChangeAspect="1"/>
          </p:cNvPicPr>
          <p:nvPr/>
        </p:nvPicPr>
        <p:blipFill>
          <a:blip r:embed="rId3"/>
          <a:srcRect l="30401" t="28622" r="30840" b="29955"/>
          <a:stretch>
            <a:fillRect/>
          </a:stretch>
        </p:blipFill>
        <p:spPr>
          <a:xfrm>
            <a:off x="2716033" y="3147431"/>
            <a:ext cx="3430767" cy="725051"/>
          </a:xfrm>
          <a:prstGeom prst="rect">
            <a:avLst/>
          </a:prstGeom>
        </p:spPr>
      </p:pic>
      <p:sp>
        <p:nvSpPr>
          <p:cNvPr id="13" name="Shape 10"/>
          <p:cNvSpPr/>
          <p:nvPr/>
        </p:nvSpPr>
        <p:spPr>
          <a:xfrm>
            <a:off x="788416" y="5416853"/>
            <a:ext cx="10716768" cy="848360"/>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1007872" y="5490005"/>
            <a:ext cx="10241280" cy="585216"/>
          </a:xfrm>
          <a:prstGeom prst="rect">
            <a:avLst/>
          </a:prstGeom>
          <a:noFill/>
          <a:ln/>
        </p:spPr>
        <p:txBody>
          <a:bodyPr wrap="square" lIns="254" tIns="254" rIns="254" bIns="254" rtlCol="0" anchor="ctr">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rPr>
              <a:t>把时序演示转化为可直接用于监督学习的训练样本</a:t>
            </a:r>
            <a:r>
              <a:rPr lang="en-US" sz="2400" dirty="0">
                <a:solidFill>
                  <a:srgbClr val="222833"/>
                </a:solidFill>
                <a:latin typeface="微软雅黑" panose="020B0503020204020204" pitchFamily="34" charset="-122"/>
                <a:ea typeface="微软雅黑" panose="020B0503020204020204" pitchFamily="34" charset="-122"/>
              </a:rPr>
              <a:t>。</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41</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CB68BFA7-F116-FAF2-23AA-6E770C2AFEA7}"/>
              </a:ext>
            </a:extLst>
          </p:cNvPr>
          <p:cNvSpPr/>
          <p:nvPr/>
        </p:nvSpPr>
        <p:spPr>
          <a:xfrm>
            <a:off x="877824" y="4582946"/>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8DD083EF-B235-57D7-5A61-75D741DB0BEF}"/>
              </a:ext>
            </a:extLst>
          </p:cNvPr>
          <p:cNvSpPr/>
          <p:nvPr/>
        </p:nvSpPr>
        <p:spPr>
          <a:xfrm>
            <a:off x="2365202" y="4352165"/>
            <a:ext cx="8955070" cy="766822"/>
          </a:xfrm>
          <a:prstGeom prst="rect">
            <a:avLst/>
          </a:prstGeom>
          <a:noFill/>
          <a:ln/>
        </p:spPr>
        <p:txBody>
          <a:bodyPr wrap="square" lIns="127" tIns="127" rIns="127" bIns="127" rtlCol="0" anchor="t">
            <a:noAutofit/>
          </a:bodyPr>
          <a:lstStyle/>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D</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E</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：专家数据集</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s</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i</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：第</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i</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个状态</a:t>
            </a:r>
            <a:endPar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a</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i</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：对应专家动作</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M：样本数</a:t>
            </a:r>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行为克隆的学习</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10.png"/>
          <p:cNvPicPr>
            <a:picLocks noChangeAspect="1"/>
          </p:cNvPicPr>
          <p:nvPr/>
        </p:nvPicPr>
        <p:blipFill>
          <a:blip r:embed="rId3"/>
          <a:stretch>
            <a:fillRect/>
          </a:stretch>
        </p:blipFill>
        <p:spPr>
          <a:xfrm>
            <a:off x="1347314" y="1554480"/>
            <a:ext cx="5489252" cy="4526280"/>
          </a:xfrm>
          <a:prstGeom prst="rect">
            <a:avLst/>
          </a:prstGeom>
        </p:spPr>
      </p:pic>
      <p:sp>
        <p:nvSpPr>
          <p:cNvPr id="5" name="Text 2"/>
          <p:cNvSpPr/>
          <p:nvPr/>
        </p:nvSpPr>
        <p:spPr>
          <a:xfrm>
            <a:off x="777240" y="6126480"/>
            <a:ext cx="6629400" cy="256032"/>
          </a:xfrm>
          <a:prstGeom prst="rect">
            <a:avLst/>
          </a:prstGeom>
          <a:noFill/>
          <a:ln/>
        </p:spPr>
        <p:txBody>
          <a:bodyPr wrap="square" lIns="0" tIns="0" rIns="0" bIns="0" rtlCol="0" anchor="ctr">
            <a:normAutofit/>
          </a:bodyPr>
          <a:lstStyle/>
          <a:p>
            <a:pPr marL="0" indent="0" algn="ctr">
              <a:buNone/>
            </a:pPr>
            <a:r>
              <a:rPr lang="en-US" sz="1600" b="1" dirty="0" err="1">
                <a:solidFill>
                  <a:schemeClr val="accent1">
                    <a:lumMod val="50000"/>
                  </a:schemeClr>
                </a:solidFill>
                <a:latin typeface="微软雅黑" panose="020B0503020204020204" pitchFamily="34" charset="-122"/>
                <a:ea typeface="微软雅黑" panose="020B0503020204020204" pitchFamily="34" charset="-122"/>
              </a:rPr>
              <a:t>行为克隆示意图</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7726680" y="1627632"/>
            <a:ext cx="3337560"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7" name="Shape 4"/>
          <p:cNvSpPr/>
          <p:nvPr/>
        </p:nvSpPr>
        <p:spPr>
          <a:xfrm>
            <a:off x="7726680" y="1627632"/>
            <a:ext cx="64008" cy="1234440"/>
          </a:xfrm>
          <a:prstGeom prst="rect">
            <a:avLst/>
          </a:prstGeom>
          <a:solidFill>
            <a:srgbClr val="31599B"/>
          </a:solidFill>
          <a:ln w="12700">
            <a:solidFill>
              <a:srgbClr val="31599B"/>
            </a:solidFill>
            <a:prstDash val="solid"/>
          </a:ln>
        </p:spPr>
      </p:sp>
      <p:sp>
        <p:nvSpPr>
          <p:cNvPr id="8" name="Text 5"/>
          <p:cNvSpPr/>
          <p:nvPr/>
        </p:nvSpPr>
        <p:spPr>
          <a:xfrm>
            <a:off x="7936992" y="1773936"/>
            <a:ext cx="2953512" cy="329184"/>
          </a:xfrm>
          <a:prstGeom prst="rect">
            <a:avLst/>
          </a:prstGeom>
          <a:noFill/>
          <a:ln/>
        </p:spPr>
        <p:txBody>
          <a:bodyPr wrap="square" lIns="0" tIns="0" rIns="0" bIns="0" rtlCol="0" anchor="ctr">
            <a:normAutofit/>
          </a:bodyPr>
          <a:lstStyle/>
          <a:p>
            <a:pPr marL="0" indent="0">
              <a:buNone/>
            </a:pPr>
            <a:r>
              <a:rPr lang="en-US" sz="1750" b="1" dirty="0">
                <a:solidFill>
                  <a:srgbClr val="31599B"/>
                </a:solidFill>
                <a:latin typeface="微软雅黑" panose="020B0503020204020204" pitchFamily="34" charset="-122"/>
                <a:ea typeface="微软雅黑" panose="020B0503020204020204" pitchFamily="34" charset="-122"/>
                <a:cs typeface="Noto Sans CJK SC" pitchFamily="34" charset="-120"/>
              </a:rPr>
              <a:t>输入</a:t>
            </a:r>
            <a:endParaRPr lang="en-US" sz="1750" dirty="0">
              <a:latin typeface="微软雅黑" panose="020B0503020204020204" pitchFamily="34" charset="-122"/>
              <a:ea typeface="微软雅黑" panose="020B0503020204020204" pitchFamily="34" charset="-122"/>
            </a:endParaRPr>
          </a:p>
        </p:txBody>
      </p:sp>
      <p:sp>
        <p:nvSpPr>
          <p:cNvPr id="9" name="Text 6"/>
          <p:cNvSpPr/>
          <p:nvPr/>
        </p:nvSpPr>
        <p:spPr>
          <a:xfrm>
            <a:off x="7936992" y="2194560"/>
            <a:ext cx="2953512" cy="521208"/>
          </a:xfrm>
          <a:prstGeom prst="rect">
            <a:avLst/>
          </a:prstGeom>
          <a:noFill/>
          <a:ln/>
        </p:spPr>
        <p:txBody>
          <a:bodyPr wrap="square" lIns="254" tIns="254" rIns="254" bIns="254" rtlCol="0" anchor="t">
            <a:normAutofit/>
          </a:bodyPr>
          <a:lstStyle/>
          <a:p>
            <a:pPr marL="0" indent="0">
              <a:buNone/>
            </a:pPr>
            <a:r>
              <a:rPr lang="en-US" sz="1500" dirty="0">
                <a:solidFill>
                  <a:srgbClr val="222833"/>
                </a:solidFill>
                <a:latin typeface="微软雅黑" panose="020B0503020204020204" pitchFamily="34" charset="-122"/>
                <a:ea typeface="微软雅黑" panose="020B0503020204020204" pitchFamily="34" charset="-122"/>
                <a:cs typeface="Noto Sans CJK SC" pitchFamily="34" charset="-120"/>
              </a:rPr>
              <a:t>专家状态或观测 X。</a:t>
            </a:r>
            <a:endParaRPr lang="en-US" sz="1500" dirty="0">
              <a:latin typeface="微软雅黑" panose="020B0503020204020204" pitchFamily="34" charset="-122"/>
              <a:ea typeface="微软雅黑" panose="020B0503020204020204" pitchFamily="34" charset="-122"/>
            </a:endParaRPr>
          </a:p>
        </p:txBody>
      </p:sp>
      <p:sp>
        <p:nvSpPr>
          <p:cNvPr id="10" name="Shape 7"/>
          <p:cNvSpPr/>
          <p:nvPr/>
        </p:nvSpPr>
        <p:spPr>
          <a:xfrm>
            <a:off x="7726680" y="3044952"/>
            <a:ext cx="3337560"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1" name="Shape 8"/>
          <p:cNvSpPr/>
          <p:nvPr/>
        </p:nvSpPr>
        <p:spPr>
          <a:xfrm>
            <a:off x="7726680" y="3044952"/>
            <a:ext cx="64008" cy="1234440"/>
          </a:xfrm>
          <a:prstGeom prst="rect">
            <a:avLst/>
          </a:prstGeom>
          <a:solidFill>
            <a:srgbClr val="2F8E72"/>
          </a:solidFill>
          <a:ln w="12700">
            <a:solidFill>
              <a:srgbClr val="2F8E72"/>
            </a:solidFill>
            <a:prstDash val="solid"/>
          </a:ln>
        </p:spPr>
      </p:sp>
      <p:sp>
        <p:nvSpPr>
          <p:cNvPr id="12" name="Text 9"/>
          <p:cNvSpPr/>
          <p:nvPr/>
        </p:nvSpPr>
        <p:spPr>
          <a:xfrm>
            <a:off x="7936992" y="3191256"/>
            <a:ext cx="2953512" cy="329184"/>
          </a:xfrm>
          <a:prstGeom prst="rect">
            <a:avLst/>
          </a:prstGeom>
          <a:noFill/>
          <a:ln/>
        </p:spPr>
        <p:txBody>
          <a:bodyPr wrap="square" lIns="0" tIns="0" rIns="0" bIns="0" rtlCol="0" anchor="ctr">
            <a:normAutofit/>
          </a:bodyPr>
          <a:lstStyle/>
          <a:p>
            <a:pPr marL="0" indent="0">
              <a:buNone/>
            </a:pPr>
            <a:r>
              <a:rPr lang="en-US" sz="1750" b="1" dirty="0">
                <a:solidFill>
                  <a:srgbClr val="2F8E72"/>
                </a:solidFill>
                <a:latin typeface="微软雅黑" panose="020B0503020204020204" pitchFamily="34" charset="-122"/>
                <a:ea typeface="微软雅黑" panose="020B0503020204020204" pitchFamily="34" charset="-122"/>
                <a:cs typeface="Noto Sans CJK SC" pitchFamily="34" charset="-120"/>
              </a:rPr>
              <a:t>监督信号</a:t>
            </a:r>
            <a:endParaRPr lang="en-US" sz="1750" dirty="0">
              <a:latin typeface="微软雅黑" panose="020B0503020204020204" pitchFamily="34" charset="-122"/>
              <a:ea typeface="微软雅黑" panose="020B0503020204020204" pitchFamily="34" charset="-122"/>
            </a:endParaRPr>
          </a:p>
        </p:txBody>
      </p:sp>
      <p:sp>
        <p:nvSpPr>
          <p:cNvPr id="13" name="Text 10"/>
          <p:cNvSpPr/>
          <p:nvPr/>
        </p:nvSpPr>
        <p:spPr>
          <a:xfrm>
            <a:off x="7936992" y="3611880"/>
            <a:ext cx="2953512" cy="521208"/>
          </a:xfrm>
          <a:prstGeom prst="rect">
            <a:avLst/>
          </a:prstGeom>
          <a:noFill/>
          <a:ln/>
        </p:spPr>
        <p:txBody>
          <a:bodyPr wrap="square" lIns="254" tIns="254" rIns="254" bIns="254" rtlCol="0" anchor="t">
            <a:normAutofit/>
          </a:bodyPr>
          <a:lstStyle/>
          <a:p>
            <a:pPr marL="0" indent="0">
              <a:buNone/>
            </a:pPr>
            <a:r>
              <a:rPr lang="en-US" sz="1500" dirty="0">
                <a:solidFill>
                  <a:srgbClr val="222833"/>
                </a:solidFill>
                <a:latin typeface="微软雅黑" panose="020B0503020204020204" pitchFamily="34" charset="-122"/>
                <a:ea typeface="微软雅黑" panose="020B0503020204020204" pitchFamily="34" charset="-122"/>
                <a:cs typeface="Noto Sans CJK SC" pitchFamily="34" charset="-120"/>
              </a:rPr>
              <a:t>专家动作 / 控制量 Y。</a:t>
            </a:r>
            <a:endParaRPr lang="en-US" sz="1500" dirty="0">
              <a:latin typeface="微软雅黑" panose="020B0503020204020204" pitchFamily="34" charset="-122"/>
              <a:ea typeface="微软雅黑" panose="020B0503020204020204" pitchFamily="34" charset="-122"/>
            </a:endParaRPr>
          </a:p>
        </p:txBody>
      </p:sp>
      <p:sp>
        <p:nvSpPr>
          <p:cNvPr id="14" name="Shape 11"/>
          <p:cNvSpPr/>
          <p:nvPr/>
        </p:nvSpPr>
        <p:spPr>
          <a:xfrm>
            <a:off x="7726680" y="4462272"/>
            <a:ext cx="3337560"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5" name="Shape 12"/>
          <p:cNvSpPr/>
          <p:nvPr/>
        </p:nvSpPr>
        <p:spPr>
          <a:xfrm>
            <a:off x="7726680" y="4462272"/>
            <a:ext cx="64008" cy="1234440"/>
          </a:xfrm>
          <a:prstGeom prst="rect">
            <a:avLst/>
          </a:prstGeom>
          <a:solidFill>
            <a:srgbClr val="C58A24"/>
          </a:solidFill>
          <a:ln w="12700">
            <a:solidFill>
              <a:srgbClr val="C58A24"/>
            </a:solidFill>
            <a:prstDash val="solid"/>
          </a:ln>
        </p:spPr>
      </p:sp>
      <p:sp>
        <p:nvSpPr>
          <p:cNvPr id="16" name="Text 13"/>
          <p:cNvSpPr/>
          <p:nvPr/>
        </p:nvSpPr>
        <p:spPr>
          <a:xfrm>
            <a:off x="7936992" y="4608576"/>
            <a:ext cx="2953512" cy="329184"/>
          </a:xfrm>
          <a:prstGeom prst="rect">
            <a:avLst/>
          </a:prstGeom>
          <a:noFill/>
          <a:ln/>
        </p:spPr>
        <p:txBody>
          <a:bodyPr wrap="square" lIns="0" tIns="0" rIns="0" bIns="0" rtlCol="0" anchor="ctr">
            <a:normAutofit/>
          </a:bodyPr>
          <a:lstStyle/>
          <a:p>
            <a:pPr marL="0" indent="0">
              <a:buNone/>
            </a:pPr>
            <a:r>
              <a:rPr lang="en-US" sz="1750" b="1" dirty="0">
                <a:solidFill>
                  <a:srgbClr val="C58A24"/>
                </a:solidFill>
                <a:latin typeface="微软雅黑" panose="020B0503020204020204" pitchFamily="34" charset="-122"/>
                <a:ea typeface="微软雅黑" panose="020B0503020204020204" pitchFamily="34" charset="-122"/>
                <a:cs typeface="Noto Sans CJK SC" pitchFamily="34" charset="-120"/>
              </a:rPr>
              <a:t>学习目标</a:t>
            </a:r>
            <a:endParaRPr lang="en-US" sz="1750" dirty="0">
              <a:latin typeface="微软雅黑" panose="020B0503020204020204" pitchFamily="34" charset="-122"/>
              <a:ea typeface="微软雅黑" panose="020B0503020204020204" pitchFamily="34" charset="-122"/>
            </a:endParaRPr>
          </a:p>
        </p:txBody>
      </p:sp>
      <p:sp>
        <p:nvSpPr>
          <p:cNvPr id="17" name="Text 14"/>
          <p:cNvSpPr/>
          <p:nvPr/>
        </p:nvSpPr>
        <p:spPr>
          <a:xfrm>
            <a:off x="7936992" y="5029200"/>
            <a:ext cx="2953512" cy="521208"/>
          </a:xfrm>
          <a:prstGeom prst="rect">
            <a:avLst/>
          </a:prstGeom>
          <a:noFill/>
          <a:ln/>
        </p:spPr>
        <p:txBody>
          <a:bodyPr wrap="square" lIns="254" tIns="254" rIns="254" bIns="254" rtlCol="0" anchor="t">
            <a:normAutofit/>
          </a:bodyPr>
          <a:lstStyle/>
          <a:p>
            <a:pPr marL="0" indent="0">
              <a:buNone/>
            </a:pPr>
            <a:r>
              <a:rPr lang="en-US" sz="1500" dirty="0">
                <a:solidFill>
                  <a:srgbClr val="222833"/>
                </a:solidFill>
                <a:latin typeface="微软雅黑" panose="020B0503020204020204" pitchFamily="34" charset="-122"/>
                <a:ea typeface="微软雅黑" panose="020B0503020204020204" pitchFamily="34" charset="-122"/>
                <a:cs typeface="Noto Sans CJK SC" pitchFamily="34" charset="-120"/>
              </a:rPr>
              <a:t>训练策略从状态映射到动作，使输出接近专家。</a:t>
            </a:r>
            <a:endParaRPr lang="en-US" sz="15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42</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连续动作空间：策略通常输出连续控制量</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493008"/>
          </a:xfrm>
          <a:prstGeom prst="roundRect">
            <a:avLst>
              <a:gd name="adj" fmla="val 130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493008"/>
          </a:xfrm>
          <a:prstGeom prst="rect">
            <a:avLst/>
          </a:prstGeom>
          <a:solidFill>
            <a:srgbClr val="31599B"/>
          </a:solidFill>
          <a:ln w="12700">
            <a:solidFill>
              <a:srgbClr val="31599B"/>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适用场景</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383536"/>
            <a:ext cx="46908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机械臂关节角、末端位姿、夹爪连续控制、人形机器人动作等。</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493008"/>
          </a:xfrm>
          <a:prstGeom prst="roundRect">
            <a:avLst>
              <a:gd name="adj" fmla="val 130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493008"/>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常用损失</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383536"/>
            <a:ext cx="46908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如果策略输出 μθ(s) 为连续动作，可使用均方误差衡量预测动作与专家动作的差异。</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43</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连续动作行为克隆：均方误差损失</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1593088"/>
            <a:ext cx="10607040" cy="493776"/>
          </a:xfrm>
          <a:prstGeom prst="rect">
            <a:avLst/>
          </a:prstGeom>
          <a:noFill/>
          <a:ln/>
        </p:spPr>
        <p:txBody>
          <a:bodyPr wrap="square" lIns="0" tIns="0" rIns="0" bIns="0" rtlCol="0" anchor="ctr">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连续动作空间中</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可</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采用</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MSE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形式拟合专家动作</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1932432" y="2426715"/>
            <a:ext cx="7635240" cy="804672"/>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7.png"/>
          <p:cNvPicPr>
            <a:picLocks noChangeAspect="1"/>
          </p:cNvPicPr>
          <p:nvPr/>
        </p:nvPicPr>
        <p:blipFill>
          <a:blip r:embed="rId3"/>
          <a:srcRect l="29254" t="24376" r="29958" b="24266"/>
          <a:stretch>
            <a:fillRect/>
          </a:stretch>
        </p:blipFill>
        <p:spPr>
          <a:xfrm>
            <a:off x="3434079" y="2472791"/>
            <a:ext cx="4494827" cy="728472"/>
          </a:xfrm>
          <a:prstGeom prst="rect">
            <a:avLst/>
          </a:prstGeom>
        </p:spPr>
      </p:pic>
      <p:sp>
        <p:nvSpPr>
          <p:cNvPr id="13" name="Shape 10"/>
          <p:cNvSpPr/>
          <p:nvPr/>
        </p:nvSpPr>
        <p:spPr>
          <a:xfrm>
            <a:off x="713232" y="4574032"/>
            <a:ext cx="10716768" cy="804672"/>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32688" y="4574032"/>
            <a:ext cx="10241280" cy="804672"/>
          </a:xfrm>
          <a:prstGeom prst="rect">
            <a:avLst/>
          </a:prstGeom>
          <a:noFill/>
          <a:ln/>
        </p:spPr>
        <p:txBody>
          <a:bodyPr wrap="square" lIns="254" tIns="254" rIns="254" bIns="254" rtlCol="0" anchor="ctr">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最小化动作误差等价于让策略在专家分布覆盖的状态上尽量复制专家动作</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44</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7A7684E3-273C-EA30-A5DD-FDFA9BD46C72}"/>
              </a:ext>
            </a:extLst>
          </p:cNvPr>
          <p:cNvSpPr/>
          <p:nvPr/>
        </p:nvSpPr>
        <p:spPr>
          <a:xfrm>
            <a:off x="932688" y="3913785"/>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0666C7A1-BAA0-42A6-00E0-273D43D0883F}"/>
              </a:ext>
            </a:extLst>
          </p:cNvPr>
          <p:cNvSpPr/>
          <p:nvPr/>
        </p:nvSpPr>
        <p:spPr>
          <a:xfrm>
            <a:off x="2420066" y="3683004"/>
            <a:ext cx="8955070" cy="766822"/>
          </a:xfrm>
          <a:prstGeom prst="rect">
            <a:avLst/>
          </a:prstGeom>
          <a:noFill/>
          <a:ln/>
        </p:spPr>
        <p:txBody>
          <a:bodyPr wrap="square" lIns="127" tIns="127" rIns="127" bIns="127" rtlCol="0" anchor="t">
            <a:noAutofit/>
          </a:bodyPr>
          <a:lstStyle/>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a：专家动作</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μθ</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(s)：</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策略输出</a:t>
            </a:r>
            <a:endParaRPr lang="en-US" altLang="zh-CN" sz="2400" dirty="0">
              <a:latin typeface="微软雅黑" panose="020B0503020204020204" pitchFamily="34" charset="-122"/>
              <a:ea typeface="微软雅黑" panose="020B0503020204020204" pitchFamily="34" charset="-122"/>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D</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E</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：专家数据集</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E：对样本取期望</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离散动作空间：策略输出动作概率分布</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493008"/>
          </a:xfrm>
          <a:prstGeom prst="roundRect">
            <a:avLst>
              <a:gd name="adj" fmla="val 130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493008"/>
          </a:xfrm>
          <a:prstGeom prst="rect">
            <a:avLst/>
          </a:prstGeom>
          <a:solidFill>
            <a:srgbClr val="31599B"/>
          </a:solidFill>
          <a:ln w="12700">
            <a:solidFill>
              <a:srgbClr val="31599B"/>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Noto Sans CJK SC" pitchFamily="34" charset="0"/>
                <a:ea typeface="Noto Sans CJK SC" pitchFamily="34" charset="-122"/>
                <a:cs typeface="Noto Sans CJK SC" pitchFamily="34" charset="-120"/>
              </a:rPr>
              <a:t>离散动作</a:t>
            </a:r>
            <a:endParaRPr lang="en-US" sz="2400" dirty="0"/>
          </a:p>
        </p:txBody>
      </p:sp>
      <p:sp>
        <p:nvSpPr>
          <p:cNvPr id="7" name="Text 5"/>
          <p:cNvSpPr/>
          <p:nvPr/>
        </p:nvSpPr>
        <p:spPr>
          <a:xfrm>
            <a:off x="987552" y="2662936"/>
            <a:ext cx="46908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例如“左 / 右 / 上 / 下”或有限个离散技能。</a:t>
            </a:r>
            <a:endParaRPr lang="en-US" sz="2400" dirty="0"/>
          </a:p>
        </p:txBody>
      </p:sp>
      <p:sp>
        <p:nvSpPr>
          <p:cNvPr id="8" name="Shape 6"/>
          <p:cNvSpPr/>
          <p:nvPr/>
        </p:nvSpPr>
        <p:spPr>
          <a:xfrm>
            <a:off x="6172200" y="1664208"/>
            <a:ext cx="5074920" cy="3493008"/>
          </a:xfrm>
          <a:prstGeom prst="roundRect">
            <a:avLst>
              <a:gd name="adj" fmla="val 130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493008"/>
          </a:xfrm>
          <a:prstGeom prst="rect">
            <a:avLst/>
          </a:prstGeom>
          <a:solidFill>
            <a:srgbClr val="C58A24"/>
          </a:solidFill>
          <a:ln w="12700">
            <a:solidFill>
              <a:srgbClr val="C58A24"/>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58A24"/>
                </a:solidFill>
                <a:latin typeface="Noto Sans CJK SC" pitchFamily="34" charset="0"/>
                <a:ea typeface="Noto Sans CJK SC" pitchFamily="34" charset="-122"/>
                <a:cs typeface="Noto Sans CJK SC" pitchFamily="34" charset="-120"/>
              </a:rPr>
              <a:t>交叉熵 / 负对数似然</a:t>
            </a:r>
            <a:endParaRPr lang="en-US" sz="2400" dirty="0"/>
          </a:p>
        </p:txBody>
      </p:sp>
      <p:sp>
        <p:nvSpPr>
          <p:cNvPr id="11" name="Text 9"/>
          <p:cNvSpPr/>
          <p:nvPr/>
        </p:nvSpPr>
        <p:spPr>
          <a:xfrm>
            <a:off x="6382512" y="2662936"/>
            <a:ext cx="46908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策略给每个动作分配概率，训练时提高专家动作对应的概率。</a:t>
            </a:r>
            <a:endParaRPr lang="en-US" sz="24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离散动作行为克隆：交叉熵损失</a:t>
            </a:r>
            <a:endParaRPr lang="en-US" sz="35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1572768"/>
            <a:ext cx="10607040" cy="493776"/>
          </a:xfrm>
          <a:prstGeom prst="rect">
            <a:avLst/>
          </a:prstGeom>
          <a:noFill/>
          <a:ln/>
        </p:spPr>
        <p:txBody>
          <a:bodyPr wrap="square" lIns="0" tIns="0" rIns="0" bIns="0" rtlCol="0" anchor="ctr">
            <a:normAutofit/>
          </a:bodyPr>
          <a:lstStyle/>
          <a:p>
            <a:pPr marL="342900" indent="-342900">
              <a:buFont typeface="Arial" panose="020B0604020202020204" pitchFamily="34" charset="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离散动作空间中</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交叉熵损失可</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使用负对数似然形式</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1764792" y="3061207"/>
            <a:ext cx="7635240" cy="713233"/>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8.png"/>
          <p:cNvPicPr>
            <a:picLocks noChangeAspect="1"/>
          </p:cNvPicPr>
          <p:nvPr/>
        </p:nvPicPr>
        <p:blipFill>
          <a:blip r:embed="rId3"/>
          <a:srcRect l="29888" t="32189" r="30760" b="34421"/>
          <a:stretch>
            <a:fillRect/>
          </a:stretch>
        </p:blipFill>
        <p:spPr>
          <a:xfrm>
            <a:off x="3662679" y="3271519"/>
            <a:ext cx="4192845" cy="448056"/>
          </a:xfrm>
          <a:prstGeom prst="rect">
            <a:avLst/>
          </a:prstGeom>
        </p:spPr>
      </p:pic>
      <p:sp>
        <p:nvSpPr>
          <p:cNvPr id="13" name="Shape 10"/>
          <p:cNvSpPr/>
          <p:nvPr/>
        </p:nvSpPr>
        <p:spPr>
          <a:xfrm>
            <a:off x="737616" y="4553712"/>
            <a:ext cx="10716768" cy="912367"/>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32688" y="4553712"/>
            <a:ext cx="10241280" cy="804672"/>
          </a:xfrm>
          <a:prstGeom prst="rect">
            <a:avLst/>
          </a:prstGeom>
          <a:noFill/>
          <a:ln/>
        </p:spPr>
        <p:txBody>
          <a:bodyPr wrap="square" lIns="254" tIns="254" rIns="254" bIns="254" rtlCol="0" anchor="ctr">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当专家动作的预测概率越高，负对数损失越小</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46</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Noto Sans CJK SC" pitchFamily="34" charset="0"/>
                <a:ea typeface="Noto Sans CJK SC" pitchFamily="34" charset="-122"/>
                <a:cs typeface="Noto Sans CJK SC" pitchFamily="34" charset="-120"/>
              </a:rPr>
              <a:t>损失函数</a:t>
            </a:r>
            <a:r>
              <a:rPr lang="zh-CN" altLang="en-US" sz="3500" b="1" dirty="0">
                <a:solidFill>
                  <a:srgbClr val="24477D"/>
                </a:solidFill>
                <a:latin typeface="Noto Sans CJK SC" pitchFamily="34" charset="0"/>
                <a:ea typeface="Noto Sans CJK SC" pitchFamily="34" charset="-122"/>
                <a:cs typeface="Noto Sans CJK SC" pitchFamily="34" charset="-120"/>
              </a:rPr>
              <a:t>的</a:t>
            </a:r>
            <a:r>
              <a:rPr lang="en-US" sz="3500" b="1" dirty="0" err="1">
                <a:solidFill>
                  <a:srgbClr val="24477D"/>
                </a:solidFill>
                <a:latin typeface="Noto Sans CJK SC" pitchFamily="34" charset="0"/>
                <a:ea typeface="Noto Sans CJK SC" pitchFamily="34" charset="-122"/>
                <a:cs typeface="Noto Sans CJK SC" pitchFamily="34" charset="-120"/>
              </a:rPr>
              <a:t>选择</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graphicFrame>
        <p:nvGraphicFramePr>
          <p:cNvPr id="48" name="Table 0"/>
          <p:cNvGraphicFramePr>
            <a:graphicFrameLocks noGrp="1"/>
          </p:cNvGraphicFramePr>
          <p:nvPr>
            <p:extLst>
              <p:ext uri="{D42A27DB-BD31-4B8C-83A1-F6EECF244321}">
                <p14:modId xmlns:p14="http://schemas.microsoft.com/office/powerpoint/2010/main" val="1567562508"/>
              </p:ext>
            </p:extLst>
          </p:nvPr>
        </p:nvGraphicFramePr>
        <p:xfrm>
          <a:off x="822960" y="1847088"/>
          <a:ext cx="10469880" cy="2971800"/>
        </p:xfrm>
        <a:graphic>
          <a:graphicData uri="http://schemas.openxmlformats.org/drawingml/2006/table">
            <a:tbl>
              <a:tblPr/>
              <a:tblGrid>
                <a:gridCol w="18288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tblGrid>
              <a:tr h="99060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动作空间</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策略输出</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典型损失</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目标</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9060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连续动作</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连续控制量 μθ(s)</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均方误差 MSE</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减小预测动作与专家动作的数值差异</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9060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离散动作</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动作概率 πθ(a|s)</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交叉熵 / 负对数似然</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提高专家动作对应概率</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Shape 2"/>
          <p:cNvSpPr/>
          <p:nvPr/>
        </p:nvSpPr>
        <p:spPr>
          <a:xfrm>
            <a:off x="822960" y="1847088"/>
            <a:ext cx="10469880" cy="502920"/>
          </a:xfrm>
          <a:prstGeom prst="rect">
            <a:avLst/>
          </a:prstGeom>
          <a:solidFill>
            <a:srgbClr val="31599B"/>
          </a:solidFill>
          <a:ln w="12700">
            <a:solidFill>
              <a:srgbClr val="31599B"/>
            </a:solidFill>
            <a:prstDash val="solid"/>
          </a:ln>
        </p:spPr>
      </p:sp>
      <p:sp>
        <p:nvSpPr>
          <p:cNvPr id="6" name="Text 3"/>
          <p:cNvSpPr/>
          <p:nvPr/>
        </p:nvSpPr>
        <p:spPr>
          <a:xfrm>
            <a:off x="841248" y="1956816"/>
            <a:ext cx="1792224" cy="256032"/>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Noto Sans CJK SC" pitchFamily="34" charset="0"/>
                <a:ea typeface="Noto Sans CJK SC" pitchFamily="34" charset="-122"/>
                <a:cs typeface="Noto Sans CJK SC" pitchFamily="34" charset="-120"/>
              </a:rPr>
              <a:t>动作空间</a:t>
            </a:r>
            <a:endParaRPr lang="en-US" sz="1500" dirty="0"/>
          </a:p>
        </p:txBody>
      </p:sp>
      <p:sp>
        <p:nvSpPr>
          <p:cNvPr id="7" name="Text 4"/>
          <p:cNvSpPr/>
          <p:nvPr/>
        </p:nvSpPr>
        <p:spPr>
          <a:xfrm>
            <a:off x="2670048" y="1956816"/>
            <a:ext cx="2798064" cy="256032"/>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Noto Sans CJK SC" pitchFamily="34" charset="0"/>
                <a:ea typeface="Noto Sans CJK SC" pitchFamily="34" charset="-122"/>
                <a:cs typeface="Noto Sans CJK SC" pitchFamily="34" charset="-120"/>
              </a:rPr>
              <a:t>策略输出</a:t>
            </a:r>
            <a:endParaRPr lang="en-US" sz="1500" dirty="0"/>
          </a:p>
        </p:txBody>
      </p:sp>
      <p:sp>
        <p:nvSpPr>
          <p:cNvPr id="8" name="Text 5"/>
          <p:cNvSpPr/>
          <p:nvPr/>
        </p:nvSpPr>
        <p:spPr>
          <a:xfrm>
            <a:off x="5504688" y="1956816"/>
            <a:ext cx="2889504" cy="256032"/>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Noto Sans CJK SC" pitchFamily="34" charset="0"/>
                <a:ea typeface="Noto Sans CJK SC" pitchFamily="34" charset="-122"/>
                <a:cs typeface="Noto Sans CJK SC" pitchFamily="34" charset="-120"/>
              </a:rPr>
              <a:t>典型损失</a:t>
            </a:r>
            <a:endParaRPr lang="en-US" sz="1500" dirty="0"/>
          </a:p>
        </p:txBody>
      </p:sp>
      <p:sp>
        <p:nvSpPr>
          <p:cNvPr id="9" name="Text 6"/>
          <p:cNvSpPr/>
          <p:nvPr/>
        </p:nvSpPr>
        <p:spPr>
          <a:xfrm>
            <a:off x="8430768" y="1956816"/>
            <a:ext cx="2843784" cy="256032"/>
          </a:xfrm>
          <a:prstGeom prst="rect">
            <a:avLst/>
          </a:prstGeom>
          <a:noFill/>
          <a:ln/>
        </p:spPr>
        <p:txBody>
          <a:bodyPr wrap="square" lIns="0" tIns="0" rIns="0" bIns="0" rtlCol="0" anchor="ctr">
            <a:normAutofit/>
          </a:bodyPr>
          <a:lstStyle/>
          <a:p>
            <a:pPr marL="0" indent="0" algn="ctr">
              <a:buNone/>
            </a:pPr>
            <a:r>
              <a:rPr lang="en-US" sz="1500" b="1" dirty="0">
                <a:solidFill>
                  <a:srgbClr val="FFFFFF"/>
                </a:solidFill>
                <a:latin typeface="Noto Sans CJK SC" pitchFamily="34" charset="0"/>
                <a:ea typeface="Noto Sans CJK SC" pitchFamily="34" charset="-122"/>
                <a:cs typeface="Noto Sans CJK SC" pitchFamily="34" charset="-120"/>
              </a:rPr>
              <a:t>目标</a:t>
            </a:r>
            <a:endParaRPr lang="en-US" sz="15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行为克隆的本质：只在“专家见过的分布”上学习</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38528"/>
            <a:ext cx="2560320" cy="1417320"/>
          </a:xfrm>
          <a:prstGeom prst="roundRect">
            <a:avLst>
              <a:gd name="adj" fmla="val 2581"/>
            </a:avLst>
          </a:prstGeom>
          <a:solidFill>
            <a:srgbClr val="EDF2FA"/>
          </a:solidFill>
          <a:ln w="12700">
            <a:solidFill>
              <a:srgbClr val="DDE3EC"/>
            </a:solidFill>
            <a:prstDash val="solid"/>
          </a:ln>
        </p:spPr>
      </p:sp>
      <p:sp>
        <p:nvSpPr>
          <p:cNvPr id="5" name="Text 3"/>
          <p:cNvSpPr/>
          <p:nvPr/>
        </p:nvSpPr>
        <p:spPr>
          <a:xfrm>
            <a:off x="822960" y="2084832"/>
            <a:ext cx="384048" cy="384048"/>
          </a:xfrm>
          <a:prstGeom prst="rect">
            <a:avLst/>
          </a:prstGeom>
          <a:noFill/>
          <a:ln/>
        </p:spPr>
        <p:txBody>
          <a:bodyPr wrap="square" lIns="0" tIns="0" rIns="0" bIns="0" rtlCol="0" anchor="ctr"/>
          <a:lstStyle/>
          <a:p>
            <a:pPr marL="0" indent="0" algn="ctr">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数</a:t>
            </a:r>
            <a:endParaRPr lang="en-US" sz="2000" dirty="0">
              <a:latin typeface="微软雅黑" panose="020B0503020204020204" pitchFamily="34" charset="-122"/>
              <a:ea typeface="微软雅黑" panose="020B0503020204020204" pitchFamily="34" charset="-122"/>
            </a:endParaRPr>
          </a:p>
        </p:txBody>
      </p:sp>
      <p:sp>
        <p:nvSpPr>
          <p:cNvPr id="6" name="Text 4"/>
          <p:cNvSpPr/>
          <p:nvPr/>
        </p:nvSpPr>
        <p:spPr>
          <a:xfrm>
            <a:off x="1307592" y="2084832"/>
            <a:ext cx="1810512" cy="310896"/>
          </a:xfrm>
          <a:prstGeom prst="rect">
            <a:avLst/>
          </a:prstGeom>
          <a:noFill/>
          <a:ln/>
        </p:spPr>
        <p:txBody>
          <a:bodyPr wrap="square" lIns="0" tIns="0" rIns="0" bIns="0" rtlCol="0" anchor="ctr">
            <a:normAutofit/>
          </a:bodyPr>
          <a:lstStyle/>
          <a:p>
            <a:pPr marL="0" indent="0">
              <a:buNone/>
            </a:pPr>
            <a:r>
              <a:rPr lang="en-US" sz="1600" b="1" dirty="0">
                <a:solidFill>
                  <a:srgbClr val="31599B"/>
                </a:solidFill>
                <a:latin typeface="微软雅黑" panose="020B0503020204020204" pitchFamily="34" charset="-122"/>
                <a:ea typeface="微软雅黑" panose="020B0503020204020204" pitchFamily="34" charset="-122"/>
                <a:cs typeface="Noto Sans CJK SC" pitchFamily="34" charset="-120"/>
              </a:rPr>
              <a:t>专家数据</a:t>
            </a:r>
            <a:endParaRPr lang="en-US" sz="1600" dirty="0">
              <a:latin typeface="微软雅黑" panose="020B0503020204020204" pitchFamily="34" charset="-122"/>
              <a:ea typeface="微软雅黑" panose="020B0503020204020204" pitchFamily="34" charset="-122"/>
            </a:endParaRPr>
          </a:p>
        </p:txBody>
      </p:sp>
      <p:sp>
        <p:nvSpPr>
          <p:cNvPr id="7" name="Text 5"/>
          <p:cNvSpPr/>
          <p:nvPr/>
        </p:nvSpPr>
        <p:spPr>
          <a:xfrm>
            <a:off x="877824" y="2560320"/>
            <a:ext cx="2231136" cy="566928"/>
          </a:xfrm>
          <a:prstGeom prst="rect">
            <a:avLst/>
          </a:prstGeom>
          <a:noFill/>
          <a:ln/>
        </p:spPr>
        <p:txBody>
          <a:bodyPr wrap="square" lIns="0" tIns="0" rIns="0" bIns="0" rtlCol="0" anchor="ctr">
            <a:noAutofit/>
          </a:bodyPr>
          <a:lstStyle/>
          <a:p>
            <a:pPr marL="0" indent="0" algn="ctr">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状态来自专家演示分布</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3328416" y="2432304"/>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38528"/>
            <a:ext cx="2560320" cy="1417320"/>
          </a:xfrm>
          <a:prstGeom prst="roundRect">
            <a:avLst>
              <a:gd name="adj" fmla="val 2581"/>
            </a:avLst>
          </a:prstGeom>
          <a:solidFill>
            <a:srgbClr val="EAF5F1"/>
          </a:solidFill>
          <a:ln w="12700">
            <a:solidFill>
              <a:srgbClr val="DDE3EC"/>
            </a:solidFill>
            <a:prstDash val="solid"/>
          </a:ln>
        </p:spPr>
      </p:sp>
      <p:sp>
        <p:nvSpPr>
          <p:cNvPr id="10" name="Text 8"/>
          <p:cNvSpPr/>
          <p:nvPr/>
        </p:nvSpPr>
        <p:spPr>
          <a:xfrm>
            <a:off x="3509010" y="2084832"/>
            <a:ext cx="384048" cy="384048"/>
          </a:xfrm>
          <a:prstGeom prst="rect">
            <a:avLst/>
          </a:prstGeom>
          <a:noFill/>
          <a:ln/>
        </p:spPr>
        <p:txBody>
          <a:bodyPr wrap="square" lIns="0" tIns="0" rIns="0" bIns="0" rtlCol="0" anchor="ctr"/>
          <a:lstStyle/>
          <a:p>
            <a:pPr marL="0" indent="0" algn="ctr">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拟</a:t>
            </a:r>
            <a:endParaRPr lang="en-US" sz="2000" dirty="0">
              <a:latin typeface="微软雅黑" panose="020B0503020204020204" pitchFamily="34" charset="-122"/>
              <a:ea typeface="微软雅黑" panose="020B0503020204020204" pitchFamily="34" charset="-122"/>
            </a:endParaRPr>
          </a:p>
        </p:txBody>
      </p:sp>
      <p:sp>
        <p:nvSpPr>
          <p:cNvPr id="11" name="Text 9"/>
          <p:cNvSpPr/>
          <p:nvPr/>
        </p:nvSpPr>
        <p:spPr>
          <a:xfrm>
            <a:off x="3993642" y="2084832"/>
            <a:ext cx="1810512" cy="310896"/>
          </a:xfrm>
          <a:prstGeom prst="rect">
            <a:avLst/>
          </a:prstGeom>
          <a:noFill/>
          <a:ln/>
        </p:spPr>
        <p:txBody>
          <a:bodyPr wrap="square" lIns="0" tIns="0" rIns="0" bIns="0" rtlCol="0" anchor="ctr">
            <a:normAutofit/>
          </a:bodyPr>
          <a:lstStyle/>
          <a:p>
            <a:pPr marL="0" indent="0">
              <a:buNone/>
            </a:pPr>
            <a:r>
              <a:rPr lang="en-US" sz="1600" b="1" dirty="0">
                <a:solidFill>
                  <a:srgbClr val="2F8E72"/>
                </a:solidFill>
                <a:latin typeface="微软雅黑" panose="020B0503020204020204" pitchFamily="34" charset="-122"/>
                <a:ea typeface="微软雅黑" panose="020B0503020204020204" pitchFamily="34" charset="-122"/>
                <a:cs typeface="Noto Sans CJK SC" pitchFamily="34" charset="-120"/>
              </a:rPr>
              <a:t>监督拟合</a:t>
            </a:r>
            <a:endParaRPr lang="en-US" sz="1600" dirty="0">
              <a:latin typeface="微软雅黑" panose="020B0503020204020204" pitchFamily="34" charset="-122"/>
              <a:ea typeface="微软雅黑" panose="020B0503020204020204" pitchFamily="34" charset="-122"/>
            </a:endParaRPr>
          </a:p>
        </p:txBody>
      </p:sp>
      <p:sp>
        <p:nvSpPr>
          <p:cNvPr id="12" name="Text 10"/>
          <p:cNvSpPr/>
          <p:nvPr/>
        </p:nvSpPr>
        <p:spPr>
          <a:xfrm>
            <a:off x="3563874" y="2560320"/>
            <a:ext cx="2231136" cy="566928"/>
          </a:xfrm>
          <a:prstGeom prst="rect">
            <a:avLst/>
          </a:prstGeom>
          <a:noFill/>
          <a:ln/>
        </p:spPr>
        <p:txBody>
          <a:bodyPr wrap="square" lIns="0" tIns="0" rIns="0" bIns="0" rtlCol="0" anchor="ctr">
            <a:noAutofit/>
          </a:bodyPr>
          <a:lstStyle/>
          <a:p>
            <a:pPr marL="0" indent="0" algn="ctr">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策略学习专家在这些状态下做什么</a:t>
            </a:r>
            <a:endParaRPr lang="en-US" sz="2000" dirty="0">
              <a:latin typeface="微软雅黑" panose="020B0503020204020204" pitchFamily="34" charset="-122"/>
              <a:ea typeface="微软雅黑" panose="020B0503020204020204" pitchFamily="34" charset="-122"/>
            </a:endParaRPr>
          </a:p>
        </p:txBody>
      </p:sp>
      <p:sp>
        <p:nvSpPr>
          <p:cNvPr id="13" name="Shape 11"/>
          <p:cNvSpPr/>
          <p:nvPr/>
        </p:nvSpPr>
        <p:spPr>
          <a:xfrm>
            <a:off x="6014466" y="2432304"/>
            <a:ext cx="347472" cy="438912"/>
          </a:xfrm>
          <a:prstGeom prst="chevron">
            <a:avLst/>
          </a:prstGeom>
          <a:solidFill>
            <a:srgbClr val="D8E2F1"/>
          </a:solidFill>
          <a:ln w="12700">
            <a:solidFill>
              <a:srgbClr val="D8E2F1"/>
            </a:solidFill>
            <a:prstDash val="solid"/>
          </a:ln>
        </p:spPr>
      </p:sp>
      <p:sp>
        <p:nvSpPr>
          <p:cNvPr id="14" name="Shape 12"/>
          <p:cNvSpPr/>
          <p:nvPr/>
        </p:nvSpPr>
        <p:spPr>
          <a:xfrm>
            <a:off x="6085332" y="1938528"/>
            <a:ext cx="2560320" cy="1417320"/>
          </a:xfrm>
          <a:prstGeom prst="roundRect">
            <a:avLst>
              <a:gd name="adj" fmla="val 2581"/>
            </a:avLst>
          </a:prstGeom>
          <a:solidFill>
            <a:srgbClr val="FFF4DE"/>
          </a:solidFill>
          <a:ln w="12700">
            <a:solidFill>
              <a:srgbClr val="DDE3EC"/>
            </a:solidFill>
            <a:prstDash val="solid"/>
          </a:ln>
        </p:spPr>
      </p:sp>
      <p:sp>
        <p:nvSpPr>
          <p:cNvPr id="15" name="Text 13"/>
          <p:cNvSpPr/>
          <p:nvPr/>
        </p:nvSpPr>
        <p:spPr>
          <a:xfrm>
            <a:off x="6195060" y="2084832"/>
            <a:ext cx="384048" cy="384048"/>
          </a:xfrm>
          <a:prstGeom prst="rect">
            <a:avLst/>
          </a:prstGeom>
          <a:noFill/>
          <a:ln/>
        </p:spPr>
        <p:txBody>
          <a:bodyPr wrap="square" lIns="0" tIns="0" rIns="0" bIns="0" rtlCol="0" anchor="ctr"/>
          <a:lstStyle/>
          <a:p>
            <a:pPr marL="0" indent="0" algn="ctr">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执</a:t>
            </a:r>
            <a:endParaRPr lang="en-US" sz="2000" dirty="0">
              <a:latin typeface="微软雅黑" panose="020B0503020204020204" pitchFamily="34" charset="-122"/>
              <a:ea typeface="微软雅黑" panose="020B0503020204020204" pitchFamily="34" charset="-122"/>
            </a:endParaRPr>
          </a:p>
        </p:txBody>
      </p:sp>
      <p:sp>
        <p:nvSpPr>
          <p:cNvPr id="16" name="Text 14"/>
          <p:cNvSpPr/>
          <p:nvPr/>
        </p:nvSpPr>
        <p:spPr>
          <a:xfrm>
            <a:off x="6679692" y="2084832"/>
            <a:ext cx="1810512" cy="310896"/>
          </a:xfrm>
          <a:prstGeom prst="rect">
            <a:avLst/>
          </a:prstGeom>
          <a:noFill/>
          <a:ln/>
        </p:spPr>
        <p:txBody>
          <a:bodyPr wrap="square" lIns="0" tIns="0" rIns="0" bIns="0" rtlCol="0" anchor="ctr">
            <a:normAutofit/>
          </a:bodyPr>
          <a:lstStyle/>
          <a:p>
            <a:pPr marL="0" indent="0">
              <a:buNone/>
            </a:pPr>
            <a:r>
              <a:rPr lang="en-US" sz="1600" b="1" dirty="0">
                <a:solidFill>
                  <a:srgbClr val="C58A24"/>
                </a:solidFill>
                <a:latin typeface="微软雅黑" panose="020B0503020204020204" pitchFamily="34" charset="-122"/>
                <a:ea typeface="微软雅黑" panose="020B0503020204020204" pitchFamily="34" charset="-122"/>
                <a:cs typeface="Noto Sans CJK SC" pitchFamily="34" charset="-120"/>
              </a:rPr>
              <a:t>策略执行</a:t>
            </a:r>
            <a:endParaRPr lang="en-US" sz="1600" dirty="0">
              <a:latin typeface="微软雅黑" panose="020B0503020204020204" pitchFamily="34" charset="-122"/>
              <a:ea typeface="微软雅黑" panose="020B0503020204020204" pitchFamily="34" charset="-122"/>
            </a:endParaRPr>
          </a:p>
        </p:txBody>
      </p:sp>
      <p:sp>
        <p:nvSpPr>
          <p:cNvPr id="17" name="Text 15"/>
          <p:cNvSpPr/>
          <p:nvPr/>
        </p:nvSpPr>
        <p:spPr>
          <a:xfrm>
            <a:off x="6249924" y="2560320"/>
            <a:ext cx="2231136" cy="566928"/>
          </a:xfrm>
          <a:prstGeom prst="rect">
            <a:avLst/>
          </a:prstGeom>
          <a:noFill/>
          <a:ln/>
        </p:spPr>
        <p:txBody>
          <a:bodyPr wrap="square" lIns="0" tIns="0" rIns="0" bIns="0" rtlCol="0" anchor="ctr">
            <a:noAutofit/>
          </a:bodyPr>
          <a:lstStyle/>
          <a:p>
            <a:pPr marL="0" indent="0" algn="ctr">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机器人自行执行后可能进入新状态</a:t>
            </a:r>
            <a:endParaRPr lang="en-US" sz="2000" dirty="0">
              <a:latin typeface="微软雅黑" panose="020B0503020204020204" pitchFamily="34" charset="-122"/>
              <a:ea typeface="微软雅黑" panose="020B0503020204020204" pitchFamily="34" charset="-122"/>
            </a:endParaRPr>
          </a:p>
        </p:txBody>
      </p:sp>
      <p:sp>
        <p:nvSpPr>
          <p:cNvPr id="18" name="Shape 16"/>
          <p:cNvSpPr/>
          <p:nvPr/>
        </p:nvSpPr>
        <p:spPr>
          <a:xfrm>
            <a:off x="8700516" y="2432304"/>
            <a:ext cx="347472" cy="438912"/>
          </a:xfrm>
          <a:prstGeom prst="chevron">
            <a:avLst/>
          </a:prstGeom>
          <a:solidFill>
            <a:srgbClr val="D8E2F1"/>
          </a:solidFill>
          <a:ln w="12700">
            <a:solidFill>
              <a:srgbClr val="D8E2F1"/>
            </a:solidFill>
            <a:prstDash val="solid"/>
          </a:ln>
        </p:spPr>
      </p:sp>
      <p:sp>
        <p:nvSpPr>
          <p:cNvPr id="19" name="Shape 17"/>
          <p:cNvSpPr/>
          <p:nvPr/>
        </p:nvSpPr>
        <p:spPr>
          <a:xfrm>
            <a:off x="8771382" y="1938528"/>
            <a:ext cx="2560320" cy="1417320"/>
          </a:xfrm>
          <a:prstGeom prst="roundRect">
            <a:avLst>
              <a:gd name="adj" fmla="val 2581"/>
            </a:avLst>
          </a:prstGeom>
          <a:solidFill>
            <a:srgbClr val="FDECEE"/>
          </a:solidFill>
          <a:ln w="12700">
            <a:solidFill>
              <a:srgbClr val="DDE3EC"/>
            </a:solidFill>
            <a:prstDash val="solid"/>
          </a:ln>
        </p:spPr>
      </p:sp>
      <p:sp>
        <p:nvSpPr>
          <p:cNvPr id="20" name="Text 18"/>
          <p:cNvSpPr/>
          <p:nvPr/>
        </p:nvSpPr>
        <p:spPr>
          <a:xfrm>
            <a:off x="8881110" y="2084832"/>
            <a:ext cx="384048" cy="384048"/>
          </a:xfrm>
          <a:prstGeom prst="rect">
            <a:avLst/>
          </a:prstGeom>
          <a:noFill/>
          <a:ln/>
        </p:spPr>
        <p:txBody>
          <a:bodyPr wrap="square" lIns="0" tIns="0" rIns="0" bIns="0" rtlCol="0" anchor="ctr"/>
          <a:lstStyle/>
          <a:p>
            <a:pPr marL="0" indent="0" algn="ctr">
              <a:buNone/>
            </a:pPr>
            <a:r>
              <a:rPr lang="en-US" sz="2000" b="1" dirty="0">
                <a:solidFill>
                  <a:srgbClr val="C63F45"/>
                </a:solidFill>
                <a:latin typeface="微软雅黑" panose="020B0503020204020204" pitchFamily="34" charset="-122"/>
                <a:ea typeface="微软雅黑" panose="020B0503020204020204" pitchFamily="34" charset="-122"/>
                <a:cs typeface="Noto Sans CJK SC" pitchFamily="34" charset="-120"/>
              </a:rPr>
              <a:t>偏</a:t>
            </a:r>
            <a:endParaRPr lang="en-US" sz="2000" dirty="0">
              <a:latin typeface="微软雅黑" panose="020B0503020204020204" pitchFamily="34" charset="-122"/>
              <a:ea typeface="微软雅黑" panose="020B0503020204020204" pitchFamily="34" charset="-122"/>
            </a:endParaRPr>
          </a:p>
        </p:txBody>
      </p:sp>
      <p:sp>
        <p:nvSpPr>
          <p:cNvPr id="21" name="Text 19"/>
          <p:cNvSpPr/>
          <p:nvPr/>
        </p:nvSpPr>
        <p:spPr>
          <a:xfrm>
            <a:off x="9365742" y="2084832"/>
            <a:ext cx="1810512" cy="310896"/>
          </a:xfrm>
          <a:prstGeom prst="rect">
            <a:avLst/>
          </a:prstGeom>
          <a:noFill/>
          <a:ln/>
        </p:spPr>
        <p:txBody>
          <a:bodyPr wrap="square" lIns="0" tIns="0" rIns="0" bIns="0" rtlCol="0" anchor="ctr">
            <a:normAutofit/>
          </a:bodyPr>
          <a:lstStyle/>
          <a:p>
            <a:pPr marL="0" indent="0">
              <a:buNone/>
            </a:pPr>
            <a:r>
              <a:rPr lang="en-US" sz="1600" b="1" dirty="0">
                <a:solidFill>
                  <a:srgbClr val="C63F45"/>
                </a:solidFill>
                <a:latin typeface="微软雅黑" panose="020B0503020204020204" pitchFamily="34" charset="-122"/>
                <a:ea typeface="微软雅黑" panose="020B0503020204020204" pitchFamily="34" charset="-122"/>
                <a:cs typeface="Noto Sans CJK SC" pitchFamily="34" charset="-120"/>
              </a:rPr>
              <a:t>潜在问题</a:t>
            </a:r>
            <a:endParaRPr lang="en-US" sz="1600" dirty="0">
              <a:latin typeface="微软雅黑" panose="020B0503020204020204" pitchFamily="34" charset="-122"/>
              <a:ea typeface="微软雅黑" panose="020B0503020204020204" pitchFamily="34" charset="-122"/>
            </a:endParaRPr>
          </a:p>
        </p:txBody>
      </p:sp>
      <p:sp>
        <p:nvSpPr>
          <p:cNvPr id="22" name="Text 20"/>
          <p:cNvSpPr/>
          <p:nvPr/>
        </p:nvSpPr>
        <p:spPr>
          <a:xfrm>
            <a:off x="8935974" y="2560320"/>
            <a:ext cx="2231136" cy="566928"/>
          </a:xfrm>
          <a:prstGeom prst="rect">
            <a:avLst/>
          </a:prstGeom>
          <a:noFill/>
          <a:ln/>
        </p:spPr>
        <p:txBody>
          <a:bodyPr wrap="square" lIns="0" tIns="0" rIns="0" bIns="0" rtlCol="0" anchor="ctr">
            <a:normAutofit/>
          </a:bodyPr>
          <a:lstStyle/>
          <a:p>
            <a:pPr marL="0" indent="0" algn="ctr">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新状态缺少专家标签，容易发生分布漂移</a:t>
            </a:r>
            <a:endParaRPr lang="en-US" dirty="0">
              <a:latin typeface="微软雅黑" panose="020B0503020204020204" pitchFamily="34" charset="-122"/>
              <a:ea typeface="微软雅黑" panose="020B0503020204020204" pitchFamily="34" charset="-122"/>
            </a:endParaRPr>
          </a:p>
        </p:txBody>
      </p:sp>
      <p:sp>
        <p:nvSpPr>
          <p:cNvPr id="23" name="Text 21"/>
          <p:cNvSpPr/>
          <p:nvPr/>
        </p:nvSpPr>
        <p:spPr>
          <a:xfrm>
            <a:off x="1371600" y="4187952"/>
            <a:ext cx="9418320" cy="502920"/>
          </a:xfrm>
          <a:prstGeom prst="rect">
            <a:avLst/>
          </a:prstGeom>
          <a:noFill/>
          <a:ln/>
        </p:spPr>
        <p:txBody>
          <a:bodyPr wrap="square" lIns="0" tIns="0" rIns="0" bIns="0" rtlCol="0" anchor="ctr"/>
          <a:lstStyle/>
          <a:p>
            <a:pPr marL="0" indent="0" algn="ctr">
              <a:buNone/>
            </a:pPr>
            <a:r>
              <a:rPr lang="en-US" sz="2400" b="1" dirty="0" err="1">
                <a:solidFill>
                  <a:srgbClr val="24477D"/>
                </a:solidFill>
                <a:latin typeface="微软雅黑" panose="020B0503020204020204" pitchFamily="34" charset="-122"/>
                <a:ea typeface="微软雅黑" panose="020B0503020204020204" pitchFamily="34" charset="-122"/>
                <a:cs typeface="Noto Sans CJK SC" pitchFamily="34" charset="-120"/>
              </a:rPr>
              <a:t>因此，BC的简单高效与后续分布漂移问题是</a:t>
            </a:r>
            <a:r>
              <a:rPr lang="zh-CN" altLang="en-US" sz="2400" b="1" dirty="0">
                <a:solidFill>
                  <a:srgbClr val="24477D"/>
                </a:solidFill>
                <a:latin typeface="微软雅黑" panose="020B0503020204020204" pitchFamily="34" charset="-122"/>
                <a:ea typeface="微软雅黑" panose="020B0503020204020204" pitchFamily="34" charset="-122"/>
                <a:cs typeface="Noto Sans CJK SC" pitchFamily="34" charset="-120"/>
              </a:rPr>
              <a:t>一对矛盾</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48</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4.2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小结：行为克隆</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的应用</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场景</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2F8E72"/>
          </a:solidFill>
          <a:ln w="12700">
            <a:solidFill>
              <a:srgbClr val="2F8E72"/>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适合</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525776"/>
            <a:ext cx="4690872" cy="2807208"/>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专家数据较充分、执行状态与训练分布接近、任务无需显式奖励设计时，BC</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能以较低复杂度快速获得策略</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C63F45"/>
          </a:solidFill>
          <a:ln w="12700">
            <a:solidFill>
              <a:srgbClr val="C63F45"/>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需</a:t>
            </a:r>
            <a:r>
              <a:rPr lang="zh-CN" alt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注意</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52577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当任务长时序、容易偏离专家轨迹或部署环境变化明显时，纯 BC 容易累积误差，需要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DAgger、ACT</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等方法缓解</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49</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4" name="Text 2"/>
          <p:cNvSpPr/>
          <p:nvPr/>
        </p:nvSpPr>
        <p:spPr>
          <a:xfrm>
            <a:off x="1417320" y="1554480"/>
            <a:ext cx="1600200" cy="1143000"/>
          </a:xfrm>
          <a:prstGeom prst="rect">
            <a:avLst/>
          </a:prstGeom>
          <a:noFill/>
          <a:ln/>
        </p:spPr>
        <p:txBody>
          <a:bodyPr wrap="square" lIns="0" tIns="0" rIns="0" bIns="0" rtlCol="0" anchor="ctr"/>
          <a:lstStyle/>
          <a:p>
            <a:pPr marL="0" indent="0" algn="r">
              <a:buNone/>
            </a:pPr>
            <a:r>
              <a:rPr lang="en-US" sz="7600" b="1" dirty="0">
                <a:solidFill>
                  <a:srgbClr val="24477D"/>
                </a:solidFill>
                <a:latin typeface="Noto Sans CJK SC" pitchFamily="34" charset="0"/>
                <a:ea typeface="Noto Sans CJK SC" pitchFamily="34" charset="-122"/>
                <a:cs typeface="Noto Sans CJK SC" pitchFamily="34" charset="-120"/>
              </a:rPr>
              <a:t>3</a:t>
            </a:r>
            <a:endParaRPr lang="en-US" sz="7600" dirty="0">
              <a:solidFill>
                <a:srgbClr val="24477D"/>
              </a:solidFill>
            </a:endParaRPr>
          </a:p>
        </p:txBody>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Noto Sans CJK SC" pitchFamily="34" charset="0"/>
                <a:ea typeface="Noto Sans CJK SC" pitchFamily="34" charset="-122"/>
                <a:cs typeface="Noto Sans CJK SC" pitchFamily="34" charset="-120"/>
              </a:rPr>
              <a:t>逆强化学习</a:t>
            </a:r>
            <a:endParaRPr lang="en-US" sz="3900" dirty="0"/>
          </a:p>
        </p:txBody>
      </p:sp>
      <p:sp>
        <p:nvSpPr>
          <p:cNvPr id="17" name="Text 15"/>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Noto Sans CJK SC" pitchFamily="34" charset="0"/>
                <a:ea typeface="Noto Sans CJK SC" pitchFamily="34" charset="-122"/>
                <a:cs typeface="Noto Sans CJK SC" pitchFamily="34" charset="-120"/>
              </a:rPr>
              <a:t>具身智能导论 · 第4章</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4.3 逆强化学习：从行为反推隐含奖励</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64208"/>
            <a:ext cx="10149840" cy="4069080"/>
          </a:xfrm>
          <a:prstGeom prst="rect">
            <a:avLst/>
          </a:prstGeom>
          <a:noFill/>
          <a:ln/>
        </p:spPr>
        <p:txBody>
          <a:bodyPr wrap="square" lIns="635" tIns="635" rIns="635" bIns="635" rtlCol="0" anchor="t">
            <a:normAutofit/>
          </a:bodyPr>
          <a:lstStyle/>
          <a:p>
            <a:pPr marL="228600" indent="-228600">
              <a:buSzPct val="100000"/>
              <a:buChar char="•"/>
            </a:pPr>
            <a:r>
              <a:rPr lang="en-US" sz="2800" dirty="0" err="1">
                <a:solidFill>
                  <a:srgbClr val="222833"/>
                </a:solidFill>
                <a:latin typeface="Noto Sans CJK SC" pitchFamily="34" charset="0"/>
                <a:ea typeface="Noto Sans CJK SC" pitchFamily="34" charset="-122"/>
                <a:cs typeface="Noto Sans CJK SC" pitchFamily="34" charset="-120"/>
              </a:rPr>
              <a:t>逆强化学习（IRL）通过观察专家演示，推断专家背后的奖励函数</a:t>
            </a:r>
            <a:endParaRPr lang="en-US" sz="2800" dirty="0"/>
          </a:p>
          <a:p>
            <a:pPr marL="228600" indent="-228600">
              <a:buSzPct val="100000"/>
              <a:buChar char="•"/>
            </a:pPr>
            <a:r>
              <a:rPr lang="en-US" sz="2800" dirty="0">
                <a:solidFill>
                  <a:srgbClr val="222833"/>
                </a:solidFill>
                <a:latin typeface="Noto Sans CJK SC" pitchFamily="34" charset="0"/>
                <a:ea typeface="Noto Sans CJK SC" pitchFamily="34" charset="-122"/>
                <a:cs typeface="Noto Sans CJK SC" pitchFamily="34" charset="-120"/>
              </a:rPr>
              <a:t>与行为克隆直接拟合状态—</a:t>
            </a:r>
            <a:r>
              <a:rPr lang="en-US" sz="2800" dirty="0" err="1">
                <a:solidFill>
                  <a:srgbClr val="222833"/>
                </a:solidFill>
                <a:latin typeface="Noto Sans CJK SC" pitchFamily="34" charset="0"/>
                <a:ea typeface="Noto Sans CJK SC" pitchFamily="34" charset="-122"/>
                <a:cs typeface="Noto Sans CJK SC" pitchFamily="34" charset="-120"/>
              </a:rPr>
              <a:t>动作映射不同，IRL</a:t>
            </a:r>
            <a:r>
              <a:rPr lang="en-US" sz="2800" dirty="0">
                <a:solidFill>
                  <a:srgbClr val="222833"/>
                </a:solidFill>
                <a:latin typeface="Noto Sans CJK SC" pitchFamily="34" charset="0"/>
                <a:ea typeface="Noto Sans CJK SC" pitchFamily="34" charset="-122"/>
                <a:cs typeface="Noto Sans CJK SC" pitchFamily="34" charset="-120"/>
              </a:rPr>
              <a:t> </a:t>
            </a:r>
            <a:r>
              <a:rPr lang="en-US" sz="2800" dirty="0" err="1">
                <a:solidFill>
                  <a:srgbClr val="222833"/>
                </a:solidFill>
                <a:latin typeface="Noto Sans CJK SC" pitchFamily="34" charset="0"/>
                <a:ea typeface="Noto Sans CJK SC" pitchFamily="34" charset="-122"/>
                <a:cs typeface="Noto Sans CJK SC" pitchFamily="34" charset="-120"/>
              </a:rPr>
              <a:t>尝试恢复专家最优性背后的任务目标</a:t>
            </a:r>
            <a:endParaRPr lang="en-US" sz="2800" dirty="0"/>
          </a:p>
          <a:p>
            <a:pPr marL="228600" indent="-228600">
              <a:buSzPct val="100000"/>
              <a:buChar char="•"/>
            </a:pPr>
            <a:r>
              <a:rPr lang="en-US" sz="2800" dirty="0" err="1">
                <a:solidFill>
                  <a:srgbClr val="222833"/>
                </a:solidFill>
                <a:latin typeface="Noto Sans CJK SC" pitchFamily="34" charset="0"/>
                <a:ea typeface="Noto Sans CJK SC" pitchFamily="34" charset="-122"/>
                <a:cs typeface="Noto Sans CJK SC" pitchFamily="34" charset="-120"/>
              </a:rPr>
              <a:t>获得奖励函数后，再结合强化学习优化策略，从而提升泛化与跨任务迁移能力</a:t>
            </a:r>
            <a:endParaRPr lang="en-US" sz="28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行为克隆 vs </a:t>
            </a:r>
            <a:r>
              <a:rPr lang="en-US" sz="3500" b="1" dirty="0" err="1">
                <a:solidFill>
                  <a:srgbClr val="24477D"/>
                </a:solidFill>
                <a:latin typeface="Noto Sans CJK SC" pitchFamily="34" charset="0"/>
                <a:ea typeface="Noto Sans CJK SC" pitchFamily="34" charset="-122"/>
                <a:cs typeface="Noto Sans CJK SC" pitchFamily="34" charset="-120"/>
              </a:rPr>
              <a:t>逆强化学习</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graphicFrame>
        <p:nvGraphicFramePr>
          <p:cNvPr id="53" name="Table 0"/>
          <p:cNvGraphicFramePr>
            <a:graphicFrameLocks noGrp="1"/>
          </p:cNvGraphicFramePr>
          <p:nvPr>
            <p:extLst>
              <p:ext uri="{D42A27DB-BD31-4B8C-83A1-F6EECF244321}">
                <p14:modId xmlns:p14="http://schemas.microsoft.com/office/powerpoint/2010/main" val="2706399978"/>
              </p:ext>
            </p:extLst>
          </p:nvPr>
        </p:nvGraphicFramePr>
        <p:xfrm>
          <a:off x="685800" y="1664208"/>
          <a:ext cx="10835640" cy="4328160"/>
        </p:xfrm>
        <a:graphic>
          <a:graphicData uri="http://schemas.openxmlformats.org/drawingml/2006/table">
            <a:tbl>
              <a:tblPr/>
              <a:tblGrid>
                <a:gridCol w="23774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841248">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比较维度</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行为克隆 BC</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逆强化学习 IRL</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41248">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直接学习对象</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状态 → 动作映射</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隐含奖励函数 / 任务目标</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1248">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训练方式</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监督学习</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奖励推断 + 前向 RL</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41248">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泛化来源</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依赖专家状态覆盖</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利用恢复出的任务目标重新求策略</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41248">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复杂度</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较低</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较高</a:t>
                      </a:r>
                      <a:endParaRPr lang="en-US" sz="2800" dirty="0">
                        <a:latin typeface="微软雅黑" panose="020B0503020204020204" pitchFamily="34" charset="-122"/>
                        <a:ea typeface="微软雅黑" panose="020B0503020204020204" pitchFamily="34" charset="-122"/>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685800" y="1664208"/>
            <a:ext cx="10835640" cy="502920"/>
          </a:xfrm>
          <a:prstGeom prst="rect">
            <a:avLst/>
          </a:prstGeom>
          <a:solidFill>
            <a:srgbClr val="31599B"/>
          </a:solidFill>
          <a:ln w="12700">
            <a:solidFill>
              <a:srgbClr val="31599B"/>
            </a:solidFill>
            <a:prstDash val="solid"/>
          </a:ln>
        </p:spPr>
      </p:sp>
      <p:sp>
        <p:nvSpPr>
          <p:cNvPr id="6" name="Text 3"/>
          <p:cNvSpPr/>
          <p:nvPr/>
        </p:nvSpPr>
        <p:spPr>
          <a:xfrm>
            <a:off x="704088" y="1773936"/>
            <a:ext cx="2340864" cy="256032"/>
          </a:xfrm>
          <a:prstGeom prst="rect">
            <a:avLst/>
          </a:prstGeom>
          <a:noFill/>
          <a:ln/>
        </p:spPr>
        <p:txBody>
          <a:bodyPr wrap="square" lIns="0" tIns="0" rIns="0" bIns="0" rtlCol="0" anchor="ctr">
            <a:noAutofit/>
          </a:bodyPr>
          <a:lstStyle/>
          <a:p>
            <a:pPr marL="0" indent="0" algn="ctr">
              <a:buNone/>
            </a:pPr>
            <a:r>
              <a:rPr lang="en-US" sz="2400" b="1" dirty="0">
                <a:solidFill>
                  <a:srgbClr val="FFFFFF"/>
                </a:solidFill>
                <a:latin typeface="Noto Sans CJK SC" pitchFamily="34" charset="0"/>
                <a:ea typeface="Noto Sans CJK SC" pitchFamily="34" charset="-122"/>
                <a:cs typeface="Noto Sans CJK SC" pitchFamily="34" charset="-120"/>
              </a:rPr>
              <a:t>比较维度</a:t>
            </a:r>
            <a:endParaRPr lang="en-US" sz="2400" dirty="0"/>
          </a:p>
        </p:txBody>
      </p:sp>
      <p:sp>
        <p:nvSpPr>
          <p:cNvPr id="7" name="Text 4"/>
          <p:cNvSpPr/>
          <p:nvPr/>
        </p:nvSpPr>
        <p:spPr>
          <a:xfrm>
            <a:off x="3081528" y="1773936"/>
            <a:ext cx="4169664" cy="256032"/>
          </a:xfrm>
          <a:prstGeom prst="rect">
            <a:avLst/>
          </a:prstGeom>
          <a:noFill/>
          <a:ln/>
        </p:spPr>
        <p:txBody>
          <a:bodyPr wrap="square" lIns="0" tIns="0" rIns="0" bIns="0" rtlCol="0" anchor="ctr">
            <a:noAutofit/>
          </a:bodyPr>
          <a:lstStyle/>
          <a:p>
            <a:pPr marL="0" indent="0" algn="ctr">
              <a:buNone/>
            </a:pPr>
            <a:r>
              <a:rPr lang="en-US" sz="2400" b="1" dirty="0">
                <a:solidFill>
                  <a:srgbClr val="FFFFFF"/>
                </a:solidFill>
                <a:latin typeface="Noto Sans CJK SC" pitchFamily="34" charset="0"/>
                <a:ea typeface="Noto Sans CJK SC" pitchFamily="34" charset="-122"/>
                <a:cs typeface="Noto Sans CJK SC" pitchFamily="34" charset="-120"/>
              </a:rPr>
              <a:t>行为克隆 BC</a:t>
            </a:r>
            <a:endParaRPr lang="en-US" sz="2400" dirty="0"/>
          </a:p>
        </p:txBody>
      </p:sp>
      <p:sp>
        <p:nvSpPr>
          <p:cNvPr id="8" name="Text 5"/>
          <p:cNvSpPr/>
          <p:nvPr/>
        </p:nvSpPr>
        <p:spPr>
          <a:xfrm>
            <a:off x="7287768" y="1773936"/>
            <a:ext cx="4215384" cy="446024"/>
          </a:xfrm>
          <a:prstGeom prst="rect">
            <a:avLst/>
          </a:prstGeom>
          <a:noFill/>
          <a:ln/>
        </p:spPr>
        <p:txBody>
          <a:bodyPr wrap="square" lIns="0" tIns="0" rIns="0" bIns="0" rtlCol="0" anchor="ctr">
            <a:normAutofit/>
          </a:bodyPr>
          <a:lstStyle/>
          <a:p>
            <a:pPr marL="0" indent="0" algn="ctr">
              <a:buNone/>
            </a:pPr>
            <a:r>
              <a:rPr lang="en-US" sz="2000" b="1" dirty="0">
                <a:solidFill>
                  <a:srgbClr val="FFFFFF"/>
                </a:solidFill>
                <a:latin typeface="Noto Sans CJK SC" pitchFamily="34" charset="0"/>
                <a:ea typeface="Noto Sans CJK SC" pitchFamily="34" charset="-122"/>
                <a:cs typeface="Noto Sans CJK SC" pitchFamily="34" charset="-120"/>
              </a:rPr>
              <a:t>逆强化学习 IRL</a:t>
            </a:r>
            <a:endParaRPr lang="en-US" sz="20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逆强化学习的</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主要环节</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12.png"/>
          <p:cNvPicPr>
            <a:picLocks noChangeAspect="1"/>
          </p:cNvPicPr>
          <p:nvPr/>
        </p:nvPicPr>
        <p:blipFill>
          <a:blip r:embed="rId3"/>
          <a:stretch>
            <a:fillRect/>
          </a:stretch>
        </p:blipFill>
        <p:spPr>
          <a:xfrm>
            <a:off x="868680" y="2061452"/>
            <a:ext cx="6537960" cy="3457471"/>
          </a:xfrm>
          <a:prstGeom prst="rect">
            <a:avLst/>
          </a:prstGeom>
        </p:spPr>
      </p:pic>
      <p:sp>
        <p:nvSpPr>
          <p:cNvPr id="5" name="Text 2"/>
          <p:cNvSpPr/>
          <p:nvPr/>
        </p:nvSpPr>
        <p:spPr>
          <a:xfrm>
            <a:off x="868680" y="6053328"/>
            <a:ext cx="6537960" cy="256032"/>
          </a:xfrm>
          <a:prstGeom prst="rect">
            <a:avLst/>
          </a:prstGeom>
          <a:noFill/>
          <a:ln/>
        </p:spPr>
        <p:txBody>
          <a:bodyPr wrap="square" lIns="0" tIns="0" rIns="0" bIns="0" rtlCol="0" anchor="ctr">
            <a:normAutofit/>
          </a:bodyPr>
          <a:lstStyle/>
          <a:p>
            <a:pPr marL="0" indent="0" algn="ctr">
              <a:buNone/>
            </a:pPr>
            <a:r>
              <a:rPr lang="en-US" sz="1050" dirty="0" err="1">
                <a:solidFill>
                  <a:srgbClr val="667085"/>
                </a:solidFill>
                <a:latin typeface="微软雅黑" panose="020B0503020204020204" pitchFamily="34" charset="-122"/>
                <a:ea typeface="微软雅黑" panose="020B0503020204020204" pitchFamily="34" charset="-122"/>
                <a:cs typeface="Noto Sans CJK SC" pitchFamily="34" charset="-120"/>
              </a:rPr>
              <a:t>逆强化学习</a:t>
            </a:r>
            <a:endParaRPr lang="en-US" sz="1050" dirty="0">
              <a:latin typeface="微软雅黑" panose="020B0503020204020204" pitchFamily="34" charset="-122"/>
              <a:ea typeface="微软雅黑" panose="020B0503020204020204" pitchFamily="34" charset="-122"/>
            </a:endParaRPr>
          </a:p>
        </p:txBody>
      </p:sp>
      <p:sp>
        <p:nvSpPr>
          <p:cNvPr id="6" name="Shape 3"/>
          <p:cNvSpPr/>
          <p:nvPr/>
        </p:nvSpPr>
        <p:spPr>
          <a:xfrm>
            <a:off x="7726680" y="1700784"/>
            <a:ext cx="3337560" cy="1143000"/>
          </a:xfrm>
          <a:prstGeom prst="roundRect">
            <a:avLst>
              <a:gd name="adj" fmla="val 400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7" name="Shape 4"/>
          <p:cNvSpPr/>
          <p:nvPr/>
        </p:nvSpPr>
        <p:spPr>
          <a:xfrm>
            <a:off x="7726680" y="1700784"/>
            <a:ext cx="64008" cy="1143000"/>
          </a:xfrm>
          <a:prstGeom prst="rect">
            <a:avLst/>
          </a:prstGeom>
          <a:solidFill>
            <a:srgbClr val="31599B"/>
          </a:solidFill>
          <a:ln w="12700">
            <a:solidFill>
              <a:srgbClr val="31599B"/>
            </a:solidFill>
            <a:prstDash val="solid"/>
          </a:ln>
        </p:spPr>
      </p:sp>
      <p:sp>
        <p:nvSpPr>
          <p:cNvPr id="8" name="Text 5"/>
          <p:cNvSpPr/>
          <p:nvPr/>
        </p:nvSpPr>
        <p:spPr>
          <a:xfrm>
            <a:off x="7936992" y="1847088"/>
            <a:ext cx="2953512" cy="329184"/>
          </a:xfrm>
          <a:prstGeom prst="rect">
            <a:avLst/>
          </a:prstGeom>
          <a:noFill/>
          <a:ln/>
        </p:spPr>
        <p:txBody>
          <a:bodyPr wrap="square" lIns="0" tIns="0" rIns="0" bIns="0" rtlCol="0" anchor="ctr">
            <a:normAutofit/>
          </a:bodyPr>
          <a:lstStyle/>
          <a:p>
            <a:pPr marL="0" indent="0">
              <a:buNone/>
            </a:pPr>
            <a:r>
              <a:rPr lang="en-US" sz="1750" b="1" dirty="0">
                <a:solidFill>
                  <a:srgbClr val="31599B"/>
                </a:solidFill>
                <a:latin typeface="微软雅黑" panose="020B0503020204020204" pitchFamily="34" charset="-122"/>
                <a:ea typeface="微软雅黑" panose="020B0503020204020204" pitchFamily="34" charset="-122"/>
                <a:cs typeface="Noto Sans CJK SC" pitchFamily="34" charset="-120"/>
              </a:rPr>
              <a:t>输入</a:t>
            </a:r>
            <a:endParaRPr lang="en-US" sz="1750" dirty="0">
              <a:latin typeface="微软雅黑" panose="020B0503020204020204" pitchFamily="34" charset="-122"/>
              <a:ea typeface="微软雅黑" panose="020B0503020204020204" pitchFamily="34" charset="-122"/>
            </a:endParaRPr>
          </a:p>
        </p:txBody>
      </p:sp>
      <p:sp>
        <p:nvSpPr>
          <p:cNvPr id="9" name="Text 6"/>
          <p:cNvSpPr/>
          <p:nvPr/>
        </p:nvSpPr>
        <p:spPr>
          <a:xfrm>
            <a:off x="7936992" y="2267712"/>
            <a:ext cx="2953512" cy="429768"/>
          </a:xfrm>
          <a:prstGeom prst="rect">
            <a:avLst/>
          </a:prstGeom>
          <a:noFill/>
          <a:ln/>
        </p:spPr>
        <p:txBody>
          <a:bodyPr wrap="square" lIns="254" tIns="254" rIns="254" bIns="254" rtlCol="0" anchor="t">
            <a:normAutofit/>
          </a:bodyPr>
          <a:lstStyle/>
          <a:p>
            <a:pPr marL="0" indent="0">
              <a:buNone/>
            </a:pPr>
            <a:r>
              <a:rPr lang="en-US" sz="1450" dirty="0">
                <a:solidFill>
                  <a:srgbClr val="222833"/>
                </a:solidFill>
                <a:latin typeface="微软雅黑" panose="020B0503020204020204" pitchFamily="34" charset="-122"/>
                <a:ea typeface="微软雅黑" panose="020B0503020204020204" pitchFamily="34" charset="-122"/>
                <a:cs typeface="Noto Sans CJK SC" pitchFamily="34" charset="-120"/>
              </a:rPr>
              <a:t>专家轨迹：状态、动作序列。</a:t>
            </a:r>
            <a:endParaRPr lang="en-US" sz="1450" dirty="0">
              <a:latin typeface="微软雅黑" panose="020B0503020204020204" pitchFamily="34" charset="-122"/>
              <a:ea typeface="微软雅黑" panose="020B0503020204020204" pitchFamily="34" charset="-122"/>
            </a:endParaRPr>
          </a:p>
        </p:txBody>
      </p:sp>
      <p:sp>
        <p:nvSpPr>
          <p:cNvPr id="10" name="Shape 7"/>
          <p:cNvSpPr/>
          <p:nvPr/>
        </p:nvSpPr>
        <p:spPr>
          <a:xfrm>
            <a:off x="7726680" y="2999232"/>
            <a:ext cx="3337560" cy="1143000"/>
          </a:xfrm>
          <a:prstGeom prst="roundRect">
            <a:avLst>
              <a:gd name="adj" fmla="val 400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1" name="Shape 8"/>
          <p:cNvSpPr/>
          <p:nvPr/>
        </p:nvSpPr>
        <p:spPr>
          <a:xfrm>
            <a:off x="7726680" y="2999232"/>
            <a:ext cx="64008" cy="1143000"/>
          </a:xfrm>
          <a:prstGeom prst="rect">
            <a:avLst/>
          </a:prstGeom>
          <a:solidFill>
            <a:srgbClr val="2F8E72"/>
          </a:solidFill>
          <a:ln w="12700">
            <a:solidFill>
              <a:srgbClr val="2F8E72"/>
            </a:solidFill>
            <a:prstDash val="solid"/>
          </a:ln>
        </p:spPr>
      </p:sp>
      <p:sp>
        <p:nvSpPr>
          <p:cNvPr id="12" name="Text 9"/>
          <p:cNvSpPr/>
          <p:nvPr/>
        </p:nvSpPr>
        <p:spPr>
          <a:xfrm>
            <a:off x="7936992" y="3145536"/>
            <a:ext cx="2953512" cy="329184"/>
          </a:xfrm>
          <a:prstGeom prst="rect">
            <a:avLst/>
          </a:prstGeom>
          <a:noFill/>
          <a:ln/>
        </p:spPr>
        <p:txBody>
          <a:bodyPr wrap="square" lIns="0" tIns="0" rIns="0" bIns="0" rtlCol="0" anchor="ctr">
            <a:normAutofit/>
          </a:bodyPr>
          <a:lstStyle/>
          <a:p>
            <a:pPr marL="0" indent="0">
              <a:buNone/>
            </a:pPr>
            <a:r>
              <a:rPr lang="en-US" sz="1750" b="1" dirty="0">
                <a:solidFill>
                  <a:srgbClr val="2F8E72"/>
                </a:solidFill>
                <a:latin typeface="微软雅黑" panose="020B0503020204020204" pitchFamily="34" charset="-122"/>
                <a:ea typeface="微软雅黑" panose="020B0503020204020204" pitchFamily="34" charset="-122"/>
                <a:cs typeface="Noto Sans CJK SC" pitchFamily="34" charset="-120"/>
              </a:rPr>
              <a:t>推断</a:t>
            </a:r>
            <a:endParaRPr lang="en-US" sz="1750" dirty="0">
              <a:latin typeface="微软雅黑" panose="020B0503020204020204" pitchFamily="34" charset="-122"/>
              <a:ea typeface="微软雅黑" panose="020B0503020204020204" pitchFamily="34" charset="-122"/>
            </a:endParaRPr>
          </a:p>
        </p:txBody>
      </p:sp>
      <p:sp>
        <p:nvSpPr>
          <p:cNvPr id="13" name="Text 10"/>
          <p:cNvSpPr/>
          <p:nvPr/>
        </p:nvSpPr>
        <p:spPr>
          <a:xfrm>
            <a:off x="7936992" y="3566160"/>
            <a:ext cx="2953512" cy="429768"/>
          </a:xfrm>
          <a:prstGeom prst="rect">
            <a:avLst/>
          </a:prstGeom>
          <a:noFill/>
          <a:ln/>
        </p:spPr>
        <p:txBody>
          <a:bodyPr wrap="square" lIns="254" tIns="254" rIns="254" bIns="254" rtlCol="0" anchor="t">
            <a:normAutofit/>
          </a:bodyPr>
          <a:lstStyle/>
          <a:p>
            <a:pPr marL="0" indent="0">
              <a:buNone/>
            </a:pPr>
            <a:r>
              <a:rPr lang="en-US" sz="1450" dirty="0">
                <a:solidFill>
                  <a:srgbClr val="222833"/>
                </a:solidFill>
                <a:latin typeface="微软雅黑" panose="020B0503020204020204" pitchFamily="34" charset="-122"/>
                <a:ea typeface="微软雅黑" panose="020B0503020204020204" pitchFamily="34" charset="-122"/>
                <a:cs typeface="Noto Sans CJK SC" pitchFamily="34" charset="-120"/>
              </a:rPr>
              <a:t>寻找能够解释专家行为的奖励函数。</a:t>
            </a:r>
            <a:endParaRPr lang="en-US" sz="1450" dirty="0">
              <a:latin typeface="微软雅黑" panose="020B0503020204020204" pitchFamily="34" charset="-122"/>
              <a:ea typeface="微软雅黑" panose="020B0503020204020204" pitchFamily="34" charset="-122"/>
            </a:endParaRPr>
          </a:p>
        </p:txBody>
      </p:sp>
      <p:sp>
        <p:nvSpPr>
          <p:cNvPr id="14" name="Shape 11"/>
          <p:cNvSpPr/>
          <p:nvPr/>
        </p:nvSpPr>
        <p:spPr>
          <a:xfrm>
            <a:off x="7726680" y="4297680"/>
            <a:ext cx="3337560" cy="1143000"/>
          </a:xfrm>
          <a:prstGeom prst="roundRect">
            <a:avLst>
              <a:gd name="adj" fmla="val 400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5" name="Shape 12"/>
          <p:cNvSpPr/>
          <p:nvPr/>
        </p:nvSpPr>
        <p:spPr>
          <a:xfrm>
            <a:off x="7726680" y="4297680"/>
            <a:ext cx="64008" cy="1143000"/>
          </a:xfrm>
          <a:prstGeom prst="rect">
            <a:avLst/>
          </a:prstGeom>
          <a:solidFill>
            <a:srgbClr val="C58A24"/>
          </a:solidFill>
          <a:ln w="12700">
            <a:solidFill>
              <a:srgbClr val="C58A24"/>
            </a:solidFill>
            <a:prstDash val="solid"/>
          </a:ln>
        </p:spPr>
      </p:sp>
      <p:sp>
        <p:nvSpPr>
          <p:cNvPr id="16" name="Text 13"/>
          <p:cNvSpPr/>
          <p:nvPr/>
        </p:nvSpPr>
        <p:spPr>
          <a:xfrm>
            <a:off x="7936992" y="4443984"/>
            <a:ext cx="2953512" cy="329184"/>
          </a:xfrm>
          <a:prstGeom prst="rect">
            <a:avLst/>
          </a:prstGeom>
          <a:noFill/>
          <a:ln/>
        </p:spPr>
        <p:txBody>
          <a:bodyPr wrap="square" lIns="0" tIns="0" rIns="0" bIns="0" rtlCol="0" anchor="ctr">
            <a:normAutofit/>
          </a:bodyPr>
          <a:lstStyle/>
          <a:p>
            <a:pPr marL="0" indent="0">
              <a:buNone/>
            </a:pPr>
            <a:r>
              <a:rPr lang="en-US" sz="1750" b="1" dirty="0">
                <a:solidFill>
                  <a:srgbClr val="C58A24"/>
                </a:solidFill>
                <a:latin typeface="微软雅黑" panose="020B0503020204020204" pitchFamily="34" charset="-122"/>
                <a:ea typeface="微软雅黑" panose="020B0503020204020204" pitchFamily="34" charset="-122"/>
                <a:cs typeface="Noto Sans CJK SC" pitchFamily="34" charset="-120"/>
              </a:rPr>
              <a:t>优化</a:t>
            </a:r>
            <a:endParaRPr lang="en-US" sz="1750" dirty="0">
              <a:latin typeface="微软雅黑" panose="020B0503020204020204" pitchFamily="34" charset="-122"/>
              <a:ea typeface="微软雅黑" panose="020B0503020204020204" pitchFamily="34" charset="-122"/>
            </a:endParaRPr>
          </a:p>
        </p:txBody>
      </p:sp>
      <p:sp>
        <p:nvSpPr>
          <p:cNvPr id="17" name="Text 14"/>
          <p:cNvSpPr/>
          <p:nvPr/>
        </p:nvSpPr>
        <p:spPr>
          <a:xfrm>
            <a:off x="7936992" y="4864608"/>
            <a:ext cx="2953512" cy="429768"/>
          </a:xfrm>
          <a:prstGeom prst="rect">
            <a:avLst/>
          </a:prstGeom>
          <a:noFill/>
          <a:ln/>
        </p:spPr>
        <p:txBody>
          <a:bodyPr wrap="square" lIns="254" tIns="254" rIns="254" bIns="254" rtlCol="0" anchor="t">
            <a:normAutofit lnSpcReduction="10000"/>
          </a:bodyPr>
          <a:lstStyle/>
          <a:p>
            <a:pPr marL="0" indent="0">
              <a:buNone/>
            </a:pPr>
            <a:r>
              <a:rPr lang="en-US" sz="1450" dirty="0">
                <a:solidFill>
                  <a:srgbClr val="222833"/>
                </a:solidFill>
                <a:latin typeface="微软雅黑" panose="020B0503020204020204" pitchFamily="34" charset="-122"/>
                <a:ea typeface="微软雅黑" panose="020B0503020204020204" pitchFamily="34" charset="-122"/>
                <a:cs typeface="Noto Sans CJK SC" pitchFamily="34" charset="-120"/>
              </a:rPr>
              <a:t>在推断奖励下求新的最优策略，并与专家行为比较。</a:t>
            </a:r>
            <a:endParaRPr lang="en-US" sz="145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53</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2800" b="1" dirty="0">
                <a:solidFill>
                  <a:srgbClr val="24477D"/>
                </a:solidFill>
                <a:latin typeface="微软雅黑" panose="020B0503020204020204" pitchFamily="34" charset="-122"/>
                <a:ea typeface="微软雅黑" panose="020B0503020204020204" pitchFamily="34" charset="-122"/>
                <a:cs typeface="Noto Sans CJK SC" pitchFamily="34" charset="-120"/>
              </a:rPr>
              <a:t>IRL 的奖励函数表示：特征的线性组合</a:t>
            </a:r>
            <a:endParaRPr lang="en-US" sz="2800" dirty="0">
              <a:latin typeface="微软雅黑" panose="020B0503020204020204" pitchFamily="34" charset="-122"/>
              <a:ea typeface="微软雅黑" panose="020B0503020204020204" pitchFamily="34" charset="-122"/>
            </a:endParaRPr>
          </a:p>
        </p:txBody>
      </p:sp>
      <p:sp>
        <p:nvSpPr>
          <p:cNvPr id="3" name="Text 1"/>
          <p:cNvSpPr/>
          <p:nvPr/>
        </p:nvSpPr>
        <p:spPr>
          <a:xfrm>
            <a:off x="707134" y="1345694"/>
            <a:ext cx="5729225" cy="493776"/>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4.3.1 基本原理</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814832" y="1985518"/>
            <a:ext cx="10607040" cy="493776"/>
          </a:xfrm>
          <a:prstGeom prst="rect">
            <a:avLst/>
          </a:prstGeom>
          <a:noFill/>
          <a:ln/>
        </p:spPr>
        <p:txBody>
          <a:bodyPr wrap="square" lIns="0" tIns="0" rIns="0" bIns="0" rtlCol="0" anchor="ctr">
            <a:normAutofit/>
          </a:bodyPr>
          <a:lstStyle/>
          <a:p>
            <a:pPr marL="342900" indent="-342900">
              <a:buFont typeface="Arial" panose="020B0604020202020204" pitchFamily="34" charset="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假设未知奖励可以写成状态</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—动作特征的线性组合。</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997712" y="2837435"/>
            <a:ext cx="7635240" cy="858519"/>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9.png"/>
          <p:cNvPicPr>
            <a:picLocks noChangeAspect="1"/>
          </p:cNvPicPr>
          <p:nvPr/>
        </p:nvPicPr>
        <p:blipFill>
          <a:blip r:embed="rId3"/>
          <a:srcRect l="29187" t="28267" r="27714" b="28178"/>
          <a:stretch>
            <a:fillRect/>
          </a:stretch>
        </p:blipFill>
        <p:spPr>
          <a:xfrm>
            <a:off x="2839719" y="2917699"/>
            <a:ext cx="3716565" cy="778255"/>
          </a:xfrm>
          <a:prstGeom prst="rect">
            <a:avLst/>
          </a:prstGeom>
        </p:spPr>
      </p:pic>
      <p:sp>
        <p:nvSpPr>
          <p:cNvPr id="13" name="Shape 10"/>
          <p:cNvSpPr/>
          <p:nvPr/>
        </p:nvSpPr>
        <p:spPr>
          <a:xfrm>
            <a:off x="651256" y="5257040"/>
            <a:ext cx="10716768" cy="792986"/>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870712" y="5429250"/>
            <a:ext cx="10241280" cy="502412"/>
          </a:xfrm>
          <a:prstGeom prst="rect">
            <a:avLst/>
          </a:prstGeom>
          <a:noFill/>
          <a:ln/>
        </p:spPr>
        <p:txBody>
          <a:bodyPr wrap="square" lIns="254" tIns="254" rIns="254" bIns="254" rtlCol="0" anchor="ctr">
            <a:normAutofit/>
          </a:bodyPr>
          <a:lstStyle/>
          <a:p>
            <a:pPr marL="0" indent="0">
              <a:buNone/>
            </a:pP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权重</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w</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的学习</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就是在学习“专家更看重哪些行为特征</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sz="1600" b="0">
                <a:latin typeface="微软雅黑" panose="020B0503020204020204" pitchFamily="34" charset="-122"/>
                <a:ea typeface="微软雅黑" panose="020B0503020204020204" pitchFamily="34" charset="-122"/>
              </a:rPr>
              <a:t>54</a:t>
            </a:fld>
            <a:endParaRPr lang="en-US" sz="1600">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6208C053-6617-E383-C2CE-B1C515F96970}"/>
              </a:ext>
            </a:extLst>
          </p:cNvPr>
          <p:cNvSpPr/>
          <p:nvPr/>
        </p:nvSpPr>
        <p:spPr>
          <a:xfrm>
            <a:off x="834136" y="4346218"/>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1E951765-6ADB-232C-49EB-54834D85A343}"/>
              </a:ext>
            </a:extLst>
          </p:cNvPr>
          <p:cNvSpPr/>
          <p:nvPr/>
        </p:nvSpPr>
        <p:spPr>
          <a:xfrm>
            <a:off x="2321514" y="4115437"/>
            <a:ext cx="7284766" cy="766822"/>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φ(</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s,a</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特征向量</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w：待学习的权重</a:t>
            </a:r>
            <a:endParaRPr lang="en-US" altLang="zh-CN" sz="2400" dirty="0">
              <a:latin typeface="微软雅黑" panose="020B0503020204020204" pitchFamily="34" charset="-122"/>
              <a:ea typeface="微软雅黑" panose="020B0503020204020204" pitchFamily="34" charset="-122"/>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r</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w</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s,a</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由权重定义的奖励</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奖励权重 w 的含义：把专家偏好写进奖励函数</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3246120" cy="349300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49808" y="1664208"/>
            <a:ext cx="64008" cy="3493008"/>
          </a:xfrm>
          <a:prstGeom prst="rect">
            <a:avLst/>
          </a:prstGeom>
          <a:solidFill>
            <a:srgbClr val="31599B"/>
          </a:solidFill>
          <a:ln w="12700">
            <a:solidFill>
              <a:srgbClr val="31599B"/>
            </a:solidFill>
            <a:prstDash val="solid"/>
          </a:ln>
        </p:spPr>
      </p:sp>
      <p:sp>
        <p:nvSpPr>
          <p:cNvPr id="6" name="Text 4"/>
          <p:cNvSpPr/>
          <p:nvPr/>
        </p:nvSpPr>
        <p:spPr>
          <a:xfrm>
            <a:off x="960120" y="1810512"/>
            <a:ext cx="2862072" cy="329184"/>
          </a:xfrm>
          <a:prstGeom prst="rect">
            <a:avLst/>
          </a:prstGeom>
          <a:noFill/>
          <a:ln/>
        </p:spPr>
        <p:txBody>
          <a:bodyPr wrap="square" lIns="0" tIns="0" rIns="0" bIns="0" rtlCol="0" anchor="ctr">
            <a:noAutofit/>
          </a:bodyPr>
          <a:lstStyle/>
          <a:p>
            <a:pPr marL="0" indent="0">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特征 φ(s,a)</a:t>
            </a:r>
            <a:endParaRPr lang="en-US" sz="2800" dirty="0">
              <a:latin typeface="微软雅黑" panose="020B0503020204020204" pitchFamily="34" charset="-122"/>
              <a:ea typeface="微软雅黑" panose="020B0503020204020204" pitchFamily="34" charset="-122"/>
            </a:endParaRPr>
          </a:p>
        </p:txBody>
      </p:sp>
      <p:sp>
        <p:nvSpPr>
          <p:cNvPr id="7" name="Text 5"/>
          <p:cNvSpPr/>
          <p:nvPr/>
        </p:nvSpPr>
        <p:spPr>
          <a:xfrm>
            <a:off x="960120" y="2744216"/>
            <a:ext cx="28620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描述状态—动作的属性，例如任务中的安全、效率或动作质量等可表示特征。</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434840" y="1664208"/>
            <a:ext cx="3246120" cy="349300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34840" y="1664208"/>
            <a:ext cx="64008" cy="3493008"/>
          </a:xfrm>
          <a:prstGeom prst="rect">
            <a:avLst/>
          </a:prstGeom>
          <a:solidFill>
            <a:srgbClr val="2F8E72"/>
          </a:solidFill>
          <a:ln w="12700">
            <a:solidFill>
              <a:srgbClr val="2F8E72"/>
            </a:solidFill>
            <a:prstDash val="solid"/>
          </a:ln>
        </p:spPr>
      </p:sp>
      <p:sp>
        <p:nvSpPr>
          <p:cNvPr id="10" name="Text 8"/>
          <p:cNvSpPr/>
          <p:nvPr/>
        </p:nvSpPr>
        <p:spPr>
          <a:xfrm>
            <a:off x="4645152" y="1810512"/>
            <a:ext cx="2862072" cy="329184"/>
          </a:xfrm>
          <a:prstGeom prst="rect">
            <a:avLst/>
          </a:prstGeom>
          <a:noFill/>
          <a:ln/>
        </p:spPr>
        <p:txBody>
          <a:bodyPr wrap="square" lIns="0" tIns="0" rIns="0" bIns="0" rtlCol="0" anchor="ctr">
            <a:noAutofit/>
          </a:bodyPr>
          <a:lstStyle/>
          <a:p>
            <a:pPr marL="0" indent="0">
              <a:buNone/>
            </a:pPr>
            <a:r>
              <a:rPr lang="en-US" sz="2800" b="1" dirty="0">
                <a:solidFill>
                  <a:srgbClr val="2F8E72"/>
                </a:solidFill>
                <a:latin typeface="微软雅黑" panose="020B0503020204020204" pitchFamily="34" charset="-122"/>
                <a:ea typeface="微软雅黑" panose="020B0503020204020204" pitchFamily="34" charset="-122"/>
                <a:cs typeface="Noto Sans CJK SC" pitchFamily="34" charset="-120"/>
              </a:rPr>
              <a:t>权重 w</a:t>
            </a:r>
            <a:endParaRPr lang="en-US" sz="2800" dirty="0">
              <a:latin typeface="微软雅黑" panose="020B0503020204020204" pitchFamily="34" charset="-122"/>
              <a:ea typeface="微软雅黑" panose="020B0503020204020204" pitchFamily="34" charset="-122"/>
            </a:endParaRPr>
          </a:p>
        </p:txBody>
      </p:sp>
      <p:sp>
        <p:nvSpPr>
          <p:cNvPr id="11" name="Text 9"/>
          <p:cNvSpPr/>
          <p:nvPr/>
        </p:nvSpPr>
        <p:spPr>
          <a:xfrm>
            <a:off x="4645152" y="2744216"/>
            <a:ext cx="28620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决定不同特征在奖励中的相对重要程度。</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8119872" y="1664208"/>
            <a:ext cx="3246120" cy="349300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119872" y="1664208"/>
            <a:ext cx="64008" cy="3493008"/>
          </a:xfrm>
          <a:prstGeom prst="rect">
            <a:avLst/>
          </a:prstGeom>
          <a:solidFill>
            <a:srgbClr val="C58A24"/>
          </a:solidFill>
          <a:ln w="12700">
            <a:solidFill>
              <a:srgbClr val="C58A24"/>
            </a:solidFill>
            <a:prstDash val="solid"/>
          </a:ln>
        </p:spPr>
      </p:sp>
      <p:sp>
        <p:nvSpPr>
          <p:cNvPr id="14" name="Text 12"/>
          <p:cNvSpPr/>
          <p:nvPr/>
        </p:nvSpPr>
        <p:spPr>
          <a:xfrm>
            <a:off x="8330184" y="1810512"/>
            <a:ext cx="2862072" cy="329184"/>
          </a:xfrm>
          <a:prstGeom prst="rect">
            <a:avLst/>
          </a:prstGeom>
          <a:noFill/>
          <a:ln/>
        </p:spPr>
        <p:txBody>
          <a:bodyPr wrap="square" lIns="0" tIns="0" rIns="0" bIns="0" rtlCol="0" anchor="ctr">
            <a:normAutofit fontScale="92500" lnSpcReduction="20000"/>
          </a:bodyPr>
          <a:lstStyle/>
          <a:p>
            <a:pPr marL="0" indent="0">
              <a:buNone/>
            </a:pPr>
            <a:r>
              <a:rPr lang="en-US" sz="2800" b="1" dirty="0" err="1">
                <a:solidFill>
                  <a:srgbClr val="C58A24"/>
                </a:solidFill>
                <a:latin typeface="微软雅黑" panose="020B0503020204020204" pitchFamily="34" charset="-122"/>
                <a:ea typeface="微软雅黑" panose="020B0503020204020204" pitchFamily="34" charset="-122"/>
                <a:cs typeface="Noto Sans CJK SC" pitchFamily="34" charset="-120"/>
              </a:rPr>
              <a:t>奖励</a:t>
            </a:r>
            <a:r>
              <a:rPr lang="en-US" sz="2800" b="1" dirty="0">
                <a:solidFill>
                  <a:srgbClr val="C58A24"/>
                </a:solidFill>
                <a:latin typeface="微软雅黑" panose="020B0503020204020204" pitchFamily="34" charset="-122"/>
                <a:ea typeface="微软雅黑" panose="020B0503020204020204" pitchFamily="34" charset="-122"/>
                <a:cs typeface="Noto Sans CJK SC" pitchFamily="34" charset="-120"/>
              </a:rPr>
              <a:t> </a:t>
            </a:r>
            <a:r>
              <a:rPr lang="en-US" sz="2800" b="1" dirty="0" err="1">
                <a:solidFill>
                  <a:srgbClr val="C58A24"/>
                </a:solidFill>
                <a:latin typeface="微软雅黑" panose="020B0503020204020204" pitchFamily="34" charset="-122"/>
                <a:ea typeface="微软雅黑" panose="020B0503020204020204" pitchFamily="34" charset="-122"/>
                <a:cs typeface="Noto Sans CJK SC" pitchFamily="34" charset="-120"/>
              </a:rPr>
              <a:t>r</a:t>
            </a:r>
            <a:r>
              <a:rPr lang="en-US" sz="2800" b="1" baseline="-25000" dirty="0" err="1">
                <a:solidFill>
                  <a:srgbClr val="C58A24"/>
                </a:solidFill>
                <a:latin typeface="微软雅黑" panose="020B0503020204020204" pitchFamily="34" charset="-122"/>
                <a:ea typeface="微软雅黑" panose="020B0503020204020204" pitchFamily="34" charset="-122"/>
                <a:cs typeface="Noto Sans CJK SC" pitchFamily="34" charset="-120"/>
              </a:rPr>
              <a:t>w</a:t>
            </a:r>
            <a:endParaRPr lang="en-US" sz="2800" baseline="-25000" dirty="0">
              <a:latin typeface="微软雅黑" panose="020B0503020204020204" pitchFamily="34" charset="-122"/>
              <a:ea typeface="微软雅黑" panose="020B0503020204020204" pitchFamily="34" charset="-122"/>
            </a:endParaRPr>
          </a:p>
        </p:txBody>
      </p:sp>
      <p:sp>
        <p:nvSpPr>
          <p:cNvPr id="15" name="Text 13"/>
          <p:cNvSpPr/>
          <p:nvPr/>
        </p:nvSpPr>
        <p:spPr>
          <a:xfrm>
            <a:off x="8330184" y="2744216"/>
            <a:ext cx="28620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由特征与权重共同决定，成为后续前向 RL 的优化目标。</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55</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给定奖励后，策略的期望回报如何表示？</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502920" y="1571752"/>
            <a:ext cx="5303520" cy="256032"/>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4.3.1 基本原理</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2046223"/>
            <a:ext cx="10607040" cy="493776"/>
          </a:xfrm>
          <a:prstGeom prst="rect">
            <a:avLst/>
          </a:prstGeom>
          <a:noFill/>
          <a:ln/>
        </p:spPr>
        <p:txBody>
          <a:bodyPr wrap="square" lIns="0" tIns="0" rIns="0" bIns="0" rtlCol="0" anchor="ctr">
            <a:normAutofit/>
          </a:bodyPr>
          <a:lstStyle/>
          <a:p>
            <a:pPr marL="342900" indent="-342900">
              <a:buFont typeface="Arial" panose="020B0604020202020204" pitchFamily="34" charset="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策略的期望回报可以进一步写成奖励权重与策略特征期望的内积。</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713232" y="2946400"/>
            <a:ext cx="7635240" cy="1076960"/>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10.png"/>
          <p:cNvPicPr>
            <a:picLocks noChangeAspect="1"/>
          </p:cNvPicPr>
          <p:nvPr/>
        </p:nvPicPr>
        <p:blipFill>
          <a:blip r:embed="rId3"/>
          <a:srcRect l="29184" t="5748" r="29747" b="13047"/>
          <a:stretch>
            <a:fillRect/>
          </a:stretch>
        </p:blipFill>
        <p:spPr>
          <a:xfrm>
            <a:off x="2129536" y="3002638"/>
            <a:ext cx="4446016" cy="948585"/>
          </a:xfrm>
          <a:prstGeom prst="rect">
            <a:avLst/>
          </a:prstGeom>
        </p:spPr>
      </p:pic>
      <p:sp>
        <p:nvSpPr>
          <p:cNvPr id="13" name="Shape 10"/>
          <p:cNvSpPr/>
          <p:nvPr/>
        </p:nvSpPr>
        <p:spPr>
          <a:xfrm>
            <a:off x="737616" y="5336032"/>
            <a:ext cx="10716768" cy="1046479"/>
          </a:xfrm>
          <a:prstGeom prst="roundRect">
            <a:avLst>
              <a:gd name="adj" fmla="val 2817"/>
            </a:avLst>
          </a:prstGeom>
          <a:solidFill>
            <a:srgbClr val="FFF4DE"/>
          </a:solidFill>
          <a:ln w="12700">
            <a:solidFill>
              <a:srgbClr val="F0D89A"/>
            </a:solidFill>
            <a:prstDash val="solid"/>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14" name="Text 11"/>
          <p:cNvSpPr/>
          <p:nvPr/>
        </p:nvSpPr>
        <p:spPr>
          <a:xfrm>
            <a:off x="1014984" y="5449316"/>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这一步把“策略表现”连接到“奖励权重 × 特征期望”，为 IRL 中比较专家与学习策略提供基础。</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56</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EE3539F2-28C5-E5AA-A90C-D2E34B4B3E90}"/>
              </a:ext>
            </a:extLst>
          </p:cNvPr>
          <p:cNvSpPr/>
          <p:nvPr/>
        </p:nvSpPr>
        <p:spPr>
          <a:xfrm>
            <a:off x="834136" y="4560973"/>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87481CDC-C40B-0203-E1B0-7A81BF519CB8}"/>
              </a:ext>
            </a:extLst>
          </p:cNvPr>
          <p:cNvSpPr/>
          <p:nvPr/>
        </p:nvSpPr>
        <p:spPr>
          <a:xfrm>
            <a:off x="2321514" y="4330192"/>
            <a:ext cx="7284766" cy="766822"/>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π：</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策略</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γ：折扣因子</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r</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w</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：奖励函数</a:t>
            </a:r>
            <a:endParaRPr lang="en-US" altLang="zh-CN" sz="2400" dirty="0">
              <a:latin typeface="微软雅黑" panose="020B0503020204020204" pitchFamily="34" charset="-122"/>
              <a:ea typeface="微软雅黑" panose="020B0503020204020204" pitchFamily="34" charset="-122"/>
            </a:endParaRPr>
          </a:p>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μ(π)：</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策略特征期望</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策略特征期望 μ(π)</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558800" y="1534270"/>
            <a:ext cx="5303520" cy="256032"/>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4.3.1 基本原理</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54380" y="2126035"/>
            <a:ext cx="10607040" cy="493776"/>
          </a:xfrm>
          <a:prstGeom prst="rect">
            <a:avLst/>
          </a:prstGeom>
          <a:noFill/>
          <a:ln/>
        </p:spPr>
        <p:txBody>
          <a:bodyPr wrap="square" lIns="0" tIns="0" rIns="0" bIns="0" rtlCol="0" anchor="ctr">
            <a:normAutofit/>
          </a:bodyPr>
          <a:lstStyle/>
          <a:p>
            <a:pPr marL="342900" indent="-342900">
              <a:buFont typeface="Arial" panose="020B0604020202020204" pitchFamily="34" charset="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特征期望把策略运行过程中长期访问到的状态—</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动作特征做折扣累积</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782320" y="2895092"/>
            <a:ext cx="7635240" cy="1150113"/>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11.png"/>
          <p:cNvPicPr>
            <a:picLocks noChangeAspect="1"/>
          </p:cNvPicPr>
          <p:nvPr/>
        </p:nvPicPr>
        <p:blipFill>
          <a:blip r:embed="rId3"/>
          <a:srcRect l="32659" t="5021" r="32742" b="11094"/>
          <a:stretch>
            <a:fillRect/>
          </a:stretch>
        </p:blipFill>
        <p:spPr>
          <a:xfrm>
            <a:off x="2646679" y="2900680"/>
            <a:ext cx="3938385" cy="1056640"/>
          </a:xfrm>
          <a:prstGeom prst="rect">
            <a:avLst/>
          </a:prstGeom>
        </p:spPr>
      </p:pic>
      <p:sp>
        <p:nvSpPr>
          <p:cNvPr id="13" name="Shape 10"/>
          <p:cNvSpPr/>
          <p:nvPr/>
        </p:nvSpPr>
        <p:spPr>
          <a:xfrm>
            <a:off x="782320" y="5243178"/>
            <a:ext cx="10716768" cy="788306"/>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1001776" y="5299964"/>
            <a:ext cx="10241280" cy="648208"/>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IRL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希望找到奖励，使专家策略在该奖励下优于其他策略</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57</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24D331C9-4CA4-610A-1CD4-6AA97DCFC7C8}"/>
              </a:ext>
            </a:extLst>
          </p:cNvPr>
          <p:cNvSpPr/>
          <p:nvPr/>
        </p:nvSpPr>
        <p:spPr>
          <a:xfrm>
            <a:off x="834136" y="4560973"/>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661D3956-35B2-99A6-2E47-B33980F9C3C4}"/>
              </a:ext>
            </a:extLst>
          </p:cNvPr>
          <p:cNvSpPr/>
          <p:nvPr/>
        </p:nvSpPr>
        <p:spPr>
          <a:xfrm>
            <a:off x="2321514" y="4330192"/>
            <a:ext cx="7284766" cy="766822"/>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ρ₀：</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初始状态分布</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φ(</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s_t,a_t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时刻</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t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的特征</a:t>
            </a:r>
            <a:endParaRPr lang="en-US" altLang="zh-CN" sz="2400" dirty="0">
              <a:latin typeface="微软雅黑" panose="020B0503020204020204" pitchFamily="34" charset="-122"/>
              <a:ea typeface="微软雅黑" panose="020B0503020204020204" pitchFamily="34" charset="-122"/>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γ：折扣因子</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IRL的</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局限性</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：奖励函数可能不唯一</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C63F45"/>
          </a:solidFill>
          <a:ln w="12700">
            <a:solidFill>
              <a:srgbClr val="C63F45"/>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800" b="1" dirty="0">
                <a:solidFill>
                  <a:srgbClr val="C63F45"/>
                </a:solidFill>
                <a:latin typeface="微软雅黑" panose="020B0503020204020204" pitchFamily="34" charset="-122"/>
                <a:ea typeface="微软雅黑" panose="020B0503020204020204" pitchFamily="34" charset="-122"/>
                <a:cs typeface="Noto Sans CJK SC" pitchFamily="34" charset="-120"/>
              </a:rPr>
              <a:t>同一行为可由多个奖励解释</a:t>
            </a:r>
            <a:endParaRPr lang="en-US" sz="2800" dirty="0">
              <a:latin typeface="微软雅黑" panose="020B0503020204020204" pitchFamily="34" charset="-122"/>
              <a:ea typeface="微软雅黑" panose="020B0503020204020204" pitchFamily="34" charset="-122"/>
            </a:endParaRPr>
          </a:p>
        </p:txBody>
      </p:sp>
      <p:sp>
        <p:nvSpPr>
          <p:cNvPr id="7" name="Text 5"/>
          <p:cNvSpPr/>
          <p:nvPr/>
        </p:nvSpPr>
        <p:spPr>
          <a:xfrm>
            <a:off x="987552" y="246481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Ng 和 Russell 的基本 IRL 框架面临“不适定”问题：不同奖励函数可能产生相同或近似的最优行为。</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800" b="1" dirty="0" err="1">
                <a:solidFill>
                  <a:srgbClr val="2F8E72"/>
                </a:solidFill>
                <a:latin typeface="微软雅黑" panose="020B0503020204020204" pitchFamily="34" charset="-122"/>
                <a:ea typeface="微软雅黑" panose="020B0503020204020204" pitchFamily="34" charset="-122"/>
                <a:cs typeface="Noto Sans CJK SC" pitchFamily="34" charset="-120"/>
              </a:rPr>
              <a:t>解决</a:t>
            </a:r>
            <a:r>
              <a:rPr lang="zh-CN" altLang="en-US" sz="2800" b="1" dirty="0">
                <a:solidFill>
                  <a:srgbClr val="2F8E72"/>
                </a:solidFill>
                <a:latin typeface="微软雅黑" panose="020B0503020204020204" pitchFamily="34" charset="-122"/>
                <a:ea typeface="微软雅黑" panose="020B0503020204020204" pitchFamily="34" charset="-122"/>
                <a:cs typeface="Noto Sans CJK SC" pitchFamily="34" charset="-120"/>
              </a:rPr>
              <a:t>思路</a:t>
            </a:r>
            <a:r>
              <a:rPr lang="en-US" sz="2800" b="1" dirty="0">
                <a:solidFill>
                  <a:srgbClr val="2F8E72"/>
                </a:solidFill>
                <a:latin typeface="微软雅黑" panose="020B0503020204020204" pitchFamily="34" charset="-122"/>
                <a:ea typeface="微软雅黑" panose="020B0503020204020204" pitchFamily="34" charset="-122"/>
                <a:cs typeface="Noto Sans CJK SC" pitchFamily="34" charset="-120"/>
              </a:rPr>
              <a:t>：引入额外原则</a:t>
            </a:r>
            <a:endParaRPr lang="en-US" sz="28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46481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最大熵 IRL 通过熵正则约束轨迹分布，使对专家行为的解释更唯一、更鲁棒。</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58</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最大熵 IRL：回报与策略熵共同进入优化目标</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538480" y="1586992"/>
            <a:ext cx="5303520" cy="256032"/>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rPr>
              <a:t>4.3.1 </a:t>
            </a:r>
            <a:r>
              <a:rPr lang="en-US" sz="2800" dirty="0" err="1">
                <a:solidFill>
                  <a:srgbClr val="4F73B5"/>
                </a:solidFill>
                <a:latin typeface="微软雅黑" panose="020B0503020204020204" pitchFamily="34" charset="-122"/>
                <a:ea typeface="微软雅黑" panose="020B0503020204020204" pitchFamily="34" charset="-122"/>
              </a:rPr>
              <a:t>最大熵</a:t>
            </a:r>
            <a:r>
              <a:rPr lang="en-US" sz="2800" dirty="0">
                <a:solidFill>
                  <a:srgbClr val="4F73B5"/>
                </a:solidFill>
                <a:latin typeface="微软雅黑" panose="020B0503020204020204" pitchFamily="34" charset="-122"/>
                <a:ea typeface="微软雅黑" panose="020B0503020204020204" pitchFamily="34" charset="-122"/>
              </a:rPr>
              <a:t> IRL</a:t>
            </a: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92480" y="2102612"/>
            <a:ext cx="10607040" cy="493776"/>
          </a:xfrm>
          <a:prstGeom prst="rect">
            <a:avLst/>
          </a:prstGeom>
          <a:noFill/>
          <a:ln/>
        </p:spPr>
        <p:txBody>
          <a:bodyPr wrap="square" lIns="0" tIns="0" rIns="0" bIns="0" rtlCol="0" anchor="ctr">
            <a:normAutofit/>
          </a:bodyPr>
          <a:lstStyle/>
          <a:p>
            <a:pPr marL="342900" indent="-342900">
              <a:buFont typeface="Arial" panose="020B0604020202020204" pitchFamily="34" charset="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最大熵 IRL 在奖励优化中加入熵正则项。</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1321816" y="2646171"/>
            <a:ext cx="7635240" cy="1313688"/>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12.png"/>
          <p:cNvPicPr>
            <a:picLocks noChangeAspect="1"/>
          </p:cNvPicPr>
          <p:nvPr/>
        </p:nvPicPr>
        <p:blipFill>
          <a:blip r:embed="rId3"/>
          <a:srcRect l="29002" t="18624" r="30295" b="19258"/>
          <a:stretch>
            <a:fillRect/>
          </a:stretch>
        </p:blipFill>
        <p:spPr>
          <a:xfrm>
            <a:off x="1883766" y="2758440"/>
            <a:ext cx="6583578" cy="989584"/>
          </a:xfrm>
          <a:prstGeom prst="rect">
            <a:avLst/>
          </a:prstGeom>
        </p:spPr>
      </p:pic>
      <p:sp>
        <p:nvSpPr>
          <p:cNvPr id="13" name="Shape 10"/>
          <p:cNvSpPr/>
          <p:nvPr/>
        </p:nvSpPr>
        <p:spPr>
          <a:xfrm>
            <a:off x="713232" y="5153152"/>
            <a:ext cx="10716768" cy="864615"/>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32688" y="5153152"/>
            <a:ext cx="10802112" cy="804672"/>
          </a:xfrm>
          <a:prstGeom prst="rect">
            <a:avLst/>
          </a:prstGeom>
          <a:noFill/>
          <a:ln/>
        </p:spPr>
        <p:txBody>
          <a:bodyPr wrap="square" lIns="254" tIns="254" rIns="254" bIns="254" rtlCol="0" anchor="ctr">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熵项鼓励在满足高回报的同时保留合理随机性，缓解对单一解释的过度偏好</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59</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F83F3DD7-FA4C-B8F9-E1E9-AC314AA60934}"/>
              </a:ext>
            </a:extLst>
          </p:cNvPr>
          <p:cNvSpPr/>
          <p:nvPr/>
        </p:nvSpPr>
        <p:spPr>
          <a:xfrm>
            <a:off x="834136" y="4428638"/>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049FAAAC-E7F3-7A53-5FC6-71864E152F33}"/>
              </a:ext>
            </a:extLst>
          </p:cNvPr>
          <p:cNvSpPr/>
          <p:nvPr/>
        </p:nvSpPr>
        <p:spPr>
          <a:xfrm>
            <a:off x="2324077" y="4227401"/>
            <a:ext cx="7284766" cy="766822"/>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H(π)：</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策略熵</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λ：平衡系数</a:t>
            </a:r>
            <a:endParaRPr lang="en-US" altLang="zh-CN" sz="2400" dirty="0">
              <a:latin typeface="微软雅黑" panose="020B0503020204020204" pitchFamily="34" charset="-122"/>
              <a:ea typeface="微软雅黑" panose="020B0503020204020204" pitchFamily="34" charset="-122"/>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r</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w</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：IRL</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学到的奖励</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π</a:t>
            </a:r>
            <a:r>
              <a:rPr lang="en-US" altLang="zh-CN" sz="2400" baseline="-25000" dirty="0">
                <a:solidFill>
                  <a:srgbClr val="222833"/>
                </a:solidFill>
                <a:latin typeface="微软雅黑" panose="020B0503020204020204" pitchFamily="34" charset="-122"/>
                <a:ea typeface="微软雅黑" panose="020B0503020204020204" pitchFamily="34" charset="-122"/>
                <a:cs typeface="Noto Sans CJK SC" pitchFamily="34" charset="-120"/>
              </a:rPr>
              <a:t>w</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对应最优策略</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最大熵解释专家行为</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31599B"/>
          </a:solidFill>
          <a:ln w="12700">
            <a:solidFill>
              <a:srgbClr val="31599B"/>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高回报约束</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78485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专家行为仍需在推断奖励下表现优良。</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最大熵原则</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78485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在满足奖励约束的轨迹中不过度偏好某一条唯一轨迹，提升分布解释的鲁棒性。</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60</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最大熵 IRL 的似然目标</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610410" y="1397260"/>
            <a:ext cx="5303520" cy="635709"/>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4.3.1 最大熵 IRL</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2224532"/>
            <a:ext cx="10607040" cy="493776"/>
          </a:xfrm>
          <a:prstGeom prst="rect">
            <a:avLst/>
          </a:prstGeom>
          <a:noFill/>
          <a:ln/>
        </p:spPr>
        <p:txBody>
          <a:bodyPr wrap="square" lIns="0" tIns="0" rIns="0" bIns="0" rtlCol="0" anchor="ctr">
            <a:normAutofit/>
          </a:bodyPr>
          <a:lstStyle/>
          <a:p>
            <a:pPr marL="342900" indent="-342900">
              <a:buFont typeface="Arial" panose="020B0604020202020204" pitchFamily="34" charset="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对专家演示轨迹的似然进行优化，从而学习奖励权重 w。</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2096310" y="3022879"/>
            <a:ext cx="7635240" cy="1031240"/>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13.png"/>
          <p:cNvPicPr>
            <a:picLocks noChangeAspect="1"/>
          </p:cNvPicPr>
          <p:nvPr/>
        </p:nvPicPr>
        <p:blipFill>
          <a:blip r:embed="rId3"/>
          <a:srcRect l="20323" t="11920" r="18214" b="12047"/>
          <a:stretch>
            <a:fillRect/>
          </a:stretch>
        </p:blipFill>
        <p:spPr>
          <a:xfrm>
            <a:off x="2845816" y="3108224"/>
            <a:ext cx="6136228" cy="845311"/>
          </a:xfrm>
          <a:prstGeom prst="rect">
            <a:avLst/>
          </a:prstGeom>
        </p:spPr>
      </p:pic>
      <p:sp>
        <p:nvSpPr>
          <p:cNvPr id="13" name="Shape 10"/>
          <p:cNvSpPr/>
          <p:nvPr/>
        </p:nvSpPr>
        <p:spPr>
          <a:xfrm>
            <a:off x="719328" y="5064760"/>
            <a:ext cx="10716768" cy="804672"/>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38784" y="5137912"/>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通过梯度上升优化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w，使专家轨迹在学到的奖励模型下具有更高概率</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61</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9CD14F90-1E01-5605-7076-4486A6B1593F}"/>
              </a:ext>
            </a:extLst>
          </p:cNvPr>
          <p:cNvSpPr/>
          <p:nvPr/>
        </p:nvSpPr>
        <p:spPr>
          <a:xfrm>
            <a:off x="834136" y="4428638"/>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FCB941C5-780D-BA34-9B43-76407C5B8123}"/>
              </a:ext>
            </a:extLst>
          </p:cNvPr>
          <p:cNvSpPr/>
          <p:nvPr/>
        </p:nvSpPr>
        <p:spPr>
          <a:xfrm>
            <a:off x="2324077" y="4227401"/>
            <a:ext cx="7284766" cy="766822"/>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H(π)：</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策略熵</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P(</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τ|w</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奖励</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w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下轨迹概率</a:t>
            </a:r>
            <a:endParaRPr lang="en-US" altLang="zh-CN" sz="2400" dirty="0">
              <a:latin typeface="微软雅黑" panose="020B0503020204020204" pitchFamily="34" charset="-122"/>
              <a:ea typeface="微软雅黑" panose="020B0503020204020204" pitchFamily="34" charset="-122"/>
            </a:endParaRPr>
          </a:p>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Z(w)：</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配分函数</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轨迹概率与累积奖励的关系</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2057400" y="2069592"/>
            <a:ext cx="7132320" cy="1239518"/>
          </a:xfrm>
          <a:prstGeom prst="roundRect">
            <a:avLst/>
          </a:prstGeom>
          <a:solidFill>
            <a:srgbClr val="FFFFFF"/>
          </a:solidFill>
          <a:ln w="12700">
            <a:solidFill>
              <a:srgbClr val="D7DEE8"/>
            </a:solidFill>
            <a:prstDash val="solid"/>
          </a:ln>
          <a:effectLst>
            <a:outerShdw blurRad="12700" dist="3810" dir="2700000" algn="bl" rotWithShape="0">
              <a:srgbClr val="000000">
                <a:alpha val="6000"/>
              </a:srgbClr>
            </a:outerShdw>
          </a:effectLst>
        </p:spPr>
      </p:sp>
      <p:pic>
        <p:nvPicPr>
          <p:cNvPr id="5" name="Image 0" descr="/mnt/data/ch4_formula_rendered/eq-maxent-prob.png"/>
          <p:cNvPicPr>
            <a:picLocks noChangeAspect="1"/>
          </p:cNvPicPr>
          <p:nvPr/>
        </p:nvPicPr>
        <p:blipFill>
          <a:blip r:embed="rId3"/>
          <a:srcRect l="30244" t="15680" r="28801" b="23950"/>
          <a:stretch>
            <a:fillRect/>
          </a:stretch>
        </p:blipFill>
        <p:spPr>
          <a:xfrm>
            <a:off x="3667759" y="2166113"/>
            <a:ext cx="4574909" cy="985520"/>
          </a:xfrm>
          <a:prstGeom prst="rect">
            <a:avLst/>
          </a:prstGeom>
        </p:spPr>
      </p:pic>
      <p:sp>
        <p:nvSpPr>
          <p:cNvPr id="10" name="Text 7"/>
          <p:cNvSpPr/>
          <p:nvPr/>
        </p:nvSpPr>
        <p:spPr>
          <a:xfrm>
            <a:off x="1369060" y="5041897"/>
            <a:ext cx="9664192" cy="530352"/>
          </a:xfrm>
          <a:prstGeom prst="rect">
            <a:avLst/>
          </a:prstGeom>
          <a:noFill/>
          <a:ln/>
        </p:spPr>
        <p:txBody>
          <a:bodyPr wrap="square" lIns="0" tIns="0" rIns="0" bIns="0" rtlCol="0" anchor="ctr"/>
          <a:lstStyle/>
          <a:p>
            <a:pPr algn="ctr"/>
            <a:r>
              <a:rPr lang="en-US" altLang="zh-CN" sz="2400" b="1" dirty="0" err="1">
                <a:solidFill>
                  <a:srgbClr val="24477D"/>
                </a:solidFill>
                <a:latin typeface="微软雅黑" panose="020B0503020204020204" pitchFamily="34" charset="-122"/>
                <a:ea typeface="微软雅黑" panose="020B0503020204020204" pitchFamily="34" charset="-122"/>
              </a:rPr>
              <a:t>累积奖励越高的轨迹，在最大熵模型中应具有更高概率</a:t>
            </a:r>
            <a:endParaRPr lang="en-US" altLang="zh-CN" sz="2400" b="1" dirty="0">
              <a:solidFill>
                <a:srgbClr val="24477D"/>
              </a:solidFill>
              <a:latin typeface="微软雅黑" panose="020B0503020204020204" pitchFamily="34" charset="-122"/>
              <a:ea typeface="微软雅黑" panose="020B0503020204020204" pitchFamily="34" charset="-122"/>
            </a:endParaRPr>
          </a:p>
          <a:p>
            <a:pPr algn="ctr"/>
            <a:endParaRPr lang="en-US" sz="2400" b="1" dirty="0">
              <a:solidFill>
                <a:srgbClr val="24477D"/>
              </a:solidFill>
              <a:latin typeface="微软雅黑" panose="020B0503020204020204" pitchFamily="34" charset="-122"/>
              <a:ea typeface="微软雅黑" panose="020B0503020204020204" pitchFamily="34" charset="-122"/>
            </a:endParaRPr>
          </a:p>
          <a:p>
            <a:pPr algn="ctr"/>
            <a:r>
              <a:rPr lang="en-US" sz="2400" b="1" dirty="0">
                <a:solidFill>
                  <a:srgbClr val="24477D"/>
                </a:solidFill>
                <a:latin typeface="微软雅黑" panose="020B0503020204020204" pitchFamily="34" charset="-122"/>
                <a:ea typeface="微软雅黑" panose="020B0503020204020204" pitchFamily="34" charset="-122"/>
              </a:rPr>
              <a:t>Z(w) </a:t>
            </a:r>
            <a:r>
              <a:rPr lang="en-US" sz="2400" b="1" dirty="0" err="1">
                <a:solidFill>
                  <a:srgbClr val="24477D"/>
                </a:solidFill>
                <a:latin typeface="微软雅黑" panose="020B0503020204020204" pitchFamily="34" charset="-122"/>
                <a:ea typeface="微软雅黑" panose="020B0503020204020204" pitchFamily="34" charset="-122"/>
              </a:rPr>
              <a:t>对所有轨迹概率进行归一化</a:t>
            </a:r>
            <a:endParaRPr lang="en-US" sz="2400" b="1" dirty="0">
              <a:solidFill>
                <a:srgbClr val="24477D"/>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62</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学徒学习：直接匹配专家与学习策略的特征期望</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640080" y="1326270"/>
            <a:ext cx="5303520" cy="585216"/>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4.3.1 学徒学习</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54380" y="1923907"/>
            <a:ext cx="10607040" cy="970683"/>
          </a:xfrm>
          <a:prstGeom prst="rect">
            <a:avLst/>
          </a:prstGeom>
          <a:noFill/>
          <a:ln/>
        </p:spPr>
        <p:txBody>
          <a:bodyPr wrap="square" lIns="0" tIns="0" rIns="0" bIns="0" rtlCol="0" anchor="ctr">
            <a:normAutofit/>
          </a:bodyPr>
          <a:lstStyle/>
          <a:p>
            <a:pPr marL="342900" indent="-342900">
              <a:buFont typeface="Arial" panose="020B0604020202020204" pitchFamily="34" charset="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Abbeel 和 Ng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的学徒学习不显式恢复奖励，而是要求学习策略与专家在特征期望上足够接近</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2240280" y="3175099"/>
            <a:ext cx="7635240" cy="765255"/>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14.png"/>
          <p:cNvPicPr>
            <a:picLocks noChangeAspect="1"/>
          </p:cNvPicPr>
          <p:nvPr/>
        </p:nvPicPr>
        <p:blipFill>
          <a:blip r:embed="rId3"/>
          <a:srcRect l="31930" t="34144" r="32163" b="31682"/>
          <a:stretch>
            <a:fillRect/>
          </a:stretch>
        </p:blipFill>
        <p:spPr>
          <a:xfrm>
            <a:off x="4239177" y="3290510"/>
            <a:ext cx="3503300" cy="586104"/>
          </a:xfrm>
          <a:prstGeom prst="rect">
            <a:avLst/>
          </a:prstGeom>
        </p:spPr>
      </p:pic>
      <p:sp>
        <p:nvSpPr>
          <p:cNvPr id="13" name="Shape 10"/>
          <p:cNvSpPr/>
          <p:nvPr/>
        </p:nvSpPr>
        <p:spPr>
          <a:xfrm>
            <a:off x="603504" y="5468112"/>
            <a:ext cx="10716768" cy="850392"/>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822960" y="5468112"/>
            <a:ext cx="10241280" cy="804672"/>
          </a:xfrm>
          <a:prstGeom prst="rect">
            <a:avLst/>
          </a:prstGeom>
          <a:noFill/>
          <a:ln/>
        </p:spPr>
        <p:txBody>
          <a:bodyPr wrap="square" lIns="254" tIns="254" rIns="254" bIns="254" rtlCol="0" anchor="ctr">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当特征期望接近时，可以保证在未知奖励下学习者表现接近专家水平</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63</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B7D89DE7-A718-0BF4-1C85-71EADBE4414D}"/>
              </a:ext>
            </a:extLst>
          </p:cNvPr>
          <p:cNvSpPr/>
          <p:nvPr/>
        </p:nvSpPr>
        <p:spPr>
          <a:xfrm>
            <a:off x="922953" y="4608576"/>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A0BA48D8-7FD2-69B2-0CF0-1B4550F1B5AC}"/>
              </a:ext>
            </a:extLst>
          </p:cNvPr>
          <p:cNvSpPr/>
          <p:nvPr/>
        </p:nvSpPr>
        <p:spPr>
          <a:xfrm>
            <a:off x="2374369" y="4371470"/>
            <a:ext cx="7284766" cy="766822"/>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μ(π)：</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学习策略特征期望</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μ(π</a:t>
            </a:r>
            <a:r>
              <a:rPr lang="en-US" altLang="zh-CN" sz="2400" baseline="-25000" dirty="0">
                <a:solidFill>
                  <a:srgbClr val="222833"/>
                </a:solidFill>
                <a:latin typeface="微软雅黑" panose="020B0503020204020204" pitchFamily="34" charset="-122"/>
                <a:ea typeface="微软雅黑" panose="020B0503020204020204" pitchFamily="34" charset="-122"/>
                <a:cs typeface="Noto Sans CJK SC" pitchFamily="34" charset="-120"/>
              </a:rPr>
              <a:t>E</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专家特征期望</a:t>
            </a:r>
            <a:endParaRPr lang="en-US" altLang="zh-CN" sz="2400" dirty="0">
              <a:latin typeface="微软雅黑" panose="020B0503020204020204" pitchFamily="34" charset="-122"/>
              <a:ea typeface="微软雅黑" panose="020B0503020204020204" pitchFamily="34" charset="-122"/>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ε：允许误差</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Guided Cost Learning：把深度学习引入最大熵 IRL</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91640"/>
            <a:ext cx="5074920" cy="3474720"/>
          </a:xfrm>
          <a:prstGeom prst="roundRect">
            <a:avLst>
              <a:gd name="adj" fmla="val 1316"/>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91640"/>
            <a:ext cx="64008" cy="3474720"/>
          </a:xfrm>
          <a:prstGeom prst="rect">
            <a:avLst/>
          </a:prstGeom>
          <a:solidFill>
            <a:srgbClr val="31599B"/>
          </a:solidFill>
          <a:ln w="12700">
            <a:solidFill>
              <a:srgbClr val="31599B"/>
            </a:solidFill>
            <a:prstDash val="solid"/>
          </a:ln>
        </p:spPr>
      </p:sp>
      <p:sp>
        <p:nvSpPr>
          <p:cNvPr id="6" name="Text 4"/>
          <p:cNvSpPr/>
          <p:nvPr/>
        </p:nvSpPr>
        <p:spPr>
          <a:xfrm>
            <a:off x="987552" y="1837944"/>
            <a:ext cx="46908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31599B"/>
                </a:solidFill>
                <a:latin typeface="Noto Sans CJK SC" pitchFamily="34" charset="0"/>
                <a:ea typeface="Noto Sans CJK SC" pitchFamily="34" charset="-122"/>
                <a:cs typeface="Noto Sans CJK SC" pitchFamily="34" charset="-120"/>
              </a:rPr>
              <a:t>核心思路</a:t>
            </a:r>
            <a:endParaRPr lang="en-US" sz="2400" dirty="0"/>
          </a:p>
        </p:txBody>
      </p:sp>
      <p:sp>
        <p:nvSpPr>
          <p:cNvPr id="7" name="Text 5"/>
          <p:cNvSpPr/>
          <p:nvPr/>
        </p:nvSpPr>
        <p:spPr>
          <a:xfrm>
            <a:off x="987552" y="2258568"/>
            <a:ext cx="4690872" cy="276148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Finn 等人将深度学习与最大熵 IRL 结合，用深度模型表示复杂、非线性的奖励函数。</a:t>
            </a:r>
            <a:endParaRPr lang="en-US" sz="2400" dirty="0"/>
          </a:p>
        </p:txBody>
      </p:sp>
      <p:sp>
        <p:nvSpPr>
          <p:cNvPr id="8" name="Shape 6"/>
          <p:cNvSpPr/>
          <p:nvPr/>
        </p:nvSpPr>
        <p:spPr>
          <a:xfrm>
            <a:off x="6172200" y="1691640"/>
            <a:ext cx="5074920" cy="3474720"/>
          </a:xfrm>
          <a:prstGeom prst="roundRect">
            <a:avLst>
              <a:gd name="adj" fmla="val 1316"/>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91640"/>
            <a:ext cx="64008" cy="3474720"/>
          </a:xfrm>
          <a:prstGeom prst="rect">
            <a:avLst/>
          </a:prstGeom>
          <a:solidFill>
            <a:srgbClr val="2F8E72"/>
          </a:solidFill>
          <a:ln w="12700">
            <a:solidFill>
              <a:srgbClr val="2F8E72"/>
            </a:solidFill>
            <a:prstDash val="solid"/>
          </a:ln>
        </p:spPr>
      </p:sp>
      <p:sp>
        <p:nvSpPr>
          <p:cNvPr id="10" name="Text 8"/>
          <p:cNvSpPr/>
          <p:nvPr/>
        </p:nvSpPr>
        <p:spPr>
          <a:xfrm>
            <a:off x="6382512" y="1837944"/>
            <a:ext cx="46908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2F8E72"/>
                </a:solidFill>
                <a:latin typeface="Noto Sans CJK SC" pitchFamily="34" charset="0"/>
                <a:ea typeface="Noto Sans CJK SC" pitchFamily="34" charset="-122"/>
                <a:cs typeface="Noto Sans CJK SC" pitchFamily="34" charset="-120"/>
              </a:rPr>
              <a:t>适用问题</a:t>
            </a:r>
            <a:endParaRPr lang="en-US" sz="2400" dirty="0"/>
          </a:p>
        </p:txBody>
      </p:sp>
      <p:sp>
        <p:nvSpPr>
          <p:cNvPr id="11" name="Text 9"/>
          <p:cNvSpPr/>
          <p:nvPr/>
        </p:nvSpPr>
        <p:spPr>
          <a:xfrm>
            <a:off x="6382512" y="2258568"/>
            <a:ext cx="4690872" cy="276148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适用于高维状态空间与未知动力学条件，增强传统线性奖励表示的表达能力。</a:t>
            </a:r>
            <a:endParaRPr lang="en-US" sz="24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IRL 往往需要与“前向强化学习”反复交替</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20240"/>
            <a:ext cx="2560320" cy="1417320"/>
          </a:xfrm>
          <a:prstGeom prst="roundRect">
            <a:avLst>
              <a:gd name="adj" fmla="val 2581"/>
            </a:avLst>
          </a:prstGeom>
          <a:solidFill>
            <a:srgbClr val="EDF2FA"/>
          </a:solidFill>
          <a:ln w="12700">
            <a:solidFill>
              <a:srgbClr val="DDE3EC"/>
            </a:solidFill>
            <a:prstDash val="solid"/>
          </a:ln>
        </p:spPr>
      </p:sp>
      <p:sp>
        <p:nvSpPr>
          <p:cNvPr id="5" name="Text 3"/>
          <p:cNvSpPr/>
          <p:nvPr/>
        </p:nvSpPr>
        <p:spPr>
          <a:xfrm>
            <a:off x="822960" y="2066544"/>
            <a:ext cx="384048" cy="384048"/>
          </a:xfrm>
          <a:prstGeom prst="rect">
            <a:avLst/>
          </a:prstGeom>
          <a:noFill/>
          <a:ln/>
        </p:spPr>
        <p:txBody>
          <a:bodyPr wrap="square" lIns="0" tIns="0" rIns="0" bIns="0" rtlCol="0" anchor="ctr"/>
          <a:lstStyle/>
          <a:p>
            <a:pPr marL="0" indent="0" algn="ctr">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1</a:t>
            </a:r>
            <a:endParaRPr lang="en-US" sz="2800" dirty="0">
              <a:latin typeface="微软雅黑" panose="020B0503020204020204" pitchFamily="34" charset="-122"/>
              <a:ea typeface="微软雅黑" panose="020B0503020204020204" pitchFamily="34" charset="-122"/>
            </a:endParaRPr>
          </a:p>
        </p:txBody>
      </p:sp>
      <p:sp>
        <p:nvSpPr>
          <p:cNvPr id="6" name="Text 4"/>
          <p:cNvSpPr/>
          <p:nvPr/>
        </p:nvSpPr>
        <p:spPr>
          <a:xfrm>
            <a:off x="1307592" y="2066544"/>
            <a:ext cx="1810512" cy="310896"/>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观察专家</a:t>
            </a:r>
            <a:endParaRPr lang="en-US" sz="2000" dirty="0">
              <a:latin typeface="微软雅黑" panose="020B0503020204020204" pitchFamily="34" charset="-122"/>
              <a:ea typeface="微软雅黑" panose="020B0503020204020204" pitchFamily="34" charset="-122"/>
            </a:endParaRPr>
          </a:p>
        </p:txBody>
      </p:sp>
      <p:sp>
        <p:nvSpPr>
          <p:cNvPr id="7" name="Text 5"/>
          <p:cNvSpPr/>
          <p:nvPr/>
        </p:nvSpPr>
        <p:spPr>
          <a:xfrm>
            <a:off x="877824" y="2542032"/>
            <a:ext cx="2231136" cy="566928"/>
          </a:xfrm>
          <a:prstGeom prst="rect">
            <a:avLst/>
          </a:prstGeom>
          <a:noFill/>
          <a:ln/>
        </p:spPr>
        <p:txBody>
          <a:bodyPr wrap="square" lIns="0" tIns="0" rIns="0" bIns="0" rtlCol="0" anchor="ctr">
            <a:normAutofit/>
          </a:bodyPr>
          <a:lstStyle/>
          <a:p>
            <a:pPr marL="0" indent="0" algn="ctr">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获得专家轨迹</a:t>
            </a:r>
            <a:endParaRPr lang="en-US" dirty="0">
              <a:latin typeface="微软雅黑" panose="020B0503020204020204" pitchFamily="34" charset="-122"/>
              <a:ea typeface="微软雅黑" panose="020B0503020204020204" pitchFamily="34" charset="-122"/>
            </a:endParaRPr>
          </a:p>
        </p:txBody>
      </p:sp>
      <p:sp>
        <p:nvSpPr>
          <p:cNvPr id="8" name="Shape 6"/>
          <p:cNvSpPr/>
          <p:nvPr/>
        </p:nvSpPr>
        <p:spPr>
          <a:xfrm>
            <a:off x="3328416" y="2414016"/>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20240"/>
            <a:ext cx="2560320" cy="1417320"/>
          </a:xfrm>
          <a:prstGeom prst="roundRect">
            <a:avLst>
              <a:gd name="adj" fmla="val 2581"/>
            </a:avLst>
          </a:prstGeom>
          <a:solidFill>
            <a:srgbClr val="EAF5F1"/>
          </a:solidFill>
          <a:ln w="12700">
            <a:solidFill>
              <a:srgbClr val="DDE3EC"/>
            </a:solidFill>
            <a:prstDash val="solid"/>
          </a:ln>
        </p:spPr>
      </p:sp>
      <p:sp>
        <p:nvSpPr>
          <p:cNvPr id="10" name="Text 8"/>
          <p:cNvSpPr/>
          <p:nvPr/>
        </p:nvSpPr>
        <p:spPr>
          <a:xfrm>
            <a:off x="3509010" y="2066544"/>
            <a:ext cx="384048" cy="384048"/>
          </a:xfrm>
          <a:prstGeom prst="rect">
            <a:avLst/>
          </a:prstGeom>
          <a:noFill/>
          <a:ln/>
        </p:spPr>
        <p:txBody>
          <a:bodyPr wrap="square" lIns="0" tIns="0" rIns="0" bIns="0" rtlCol="0" anchor="ctr"/>
          <a:lstStyle/>
          <a:p>
            <a:pPr marL="0" indent="0" algn="ctr">
              <a:buNone/>
            </a:pPr>
            <a:r>
              <a:rPr lang="en-US" sz="2800" b="1" dirty="0">
                <a:solidFill>
                  <a:srgbClr val="2F8E72"/>
                </a:solidFill>
                <a:latin typeface="微软雅黑" panose="020B0503020204020204" pitchFamily="34" charset="-122"/>
                <a:ea typeface="微软雅黑" panose="020B0503020204020204" pitchFamily="34" charset="-122"/>
                <a:cs typeface="Noto Sans CJK SC" pitchFamily="34" charset="-120"/>
              </a:rPr>
              <a:t>2</a:t>
            </a:r>
            <a:endParaRPr lang="en-US" sz="2800" dirty="0">
              <a:latin typeface="微软雅黑" panose="020B0503020204020204" pitchFamily="34" charset="-122"/>
              <a:ea typeface="微软雅黑" panose="020B0503020204020204" pitchFamily="34" charset="-122"/>
            </a:endParaRPr>
          </a:p>
        </p:txBody>
      </p:sp>
      <p:sp>
        <p:nvSpPr>
          <p:cNvPr id="11" name="Text 9"/>
          <p:cNvSpPr/>
          <p:nvPr/>
        </p:nvSpPr>
        <p:spPr>
          <a:xfrm>
            <a:off x="3993642" y="2066544"/>
            <a:ext cx="1810512" cy="310896"/>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推断奖励</a:t>
            </a:r>
            <a:endParaRPr lang="en-US" sz="2000" dirty="0">
              <a:latin typeface="微软雅黑" panose="020B0503020204020204" pitchFamily="34" charset="-122"/>
              <a:ea typeface="微软雅黑" panose="020B0503020204020204" pitchFamily="34" charset="-122"/>
            </a:endParaRPr>
          </a:p>
        </p:txBody>
      </p:sp>
      <p:sp>
        <p:nvSpPr>
          <p:cNvPr id="12" name="Text 10"/>
          <p:cNvSpPr/>
          <p:nvPr/>
        </p:nvSpPr>
        <p:spPr>
          <a:xfrm>
            <a:off x="3563874" y="2542032"/>
            <a:ext cx="2231136" cy="566928"/>
          </a:xfrm>
          <a:prstGeom prst="rect">
            <a:avLst/>
          </a:prstGeom>
          <a:noFill/>
          <a:ln/>
        </p:spPr>
        <p:txBody>
          <a:bodyPr wrap="square" lIns="0" tIns="0" rIns="0" bIns="0" rtlCol="0" anchor="ctr">
            <a:normAutofit/>
          </a:bodyPr>
          <a:lstStyle/>
          <a:p>
            <a:pPr marL="0" indent="0" algn="ctr">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更新奖励参数，使专家行为更合理</a:t>
            </a:r>
            <a:endParaRPr lang="en-US" dirty="0">
              <a:latin typeface="微软雅黑" panose="020B0503020204020204" pitchFamily="34" charset="-122"/>
              <a:ea typeface="微软雅黑" panose="020B0503020204020204" pitchFamily="34" charset="-122"/>
            </a:endParaRPr>
          </a:p>
        </p:txBody>
      </p:sp>
      <p:sp>
        <p:nvSpPr>
          <p:cNvPr id="13" name="Shape 11"/>
          <p:cNvSpPr/>
          <p:nvPr/>
        </p:nvSpPr>
        <p:spPr>
          <a:xfrm>
            <a:off x="6014466" y="2414016"/>
            <a:ext cx="347472" cy="438912"/>
          </a:xfrm>
          <a:prstGeom prst="chevron">
            <a:avLst/>
          </a:prstGeom>
          <a:solidFill>
            <a:srgbClr val="D8E2F1"/>
          </a:solidFill>
          <a:ln w="12700">
            <a:solidFill>
              <a:srgbClr val="D8E2F1"/>
            </a:solidFill>
            <a:prstDash val="solid"/>
          </a:ln>
        </p:spPr>
      </p:sp>
      <p:sp>
        <p:nvSpPr>
          <p:cNvPr id="14" name="Shape 12"/>
          <p:cNvSpPr/>
          <p:nvPr/>
        </p:nvSpPr>
        <p:spPr>
          <a:xfrm>
            <a:off x="6085332" y="1920240"/>
            <a:ext cx="2560320" cy="1417320"/>
          </a:xfrm>
          <a:prstGeom prst="roundRect">
            <a:avLst>
              <a:gd name="adj" fmla="val 2581"/>
            </a:avLst>
          </a:prstGeom>
          <a:solidFill>
            <a:srgbClr val="FFF4DE"/>
          </a:solidFill>
          <a:ln w="12700">
            <a:solidFill>
              <a:srgbClr val="DDE3EC"/>
            </a:solidFill>
            <a:prstDash val="solid"/>
          </a:ln>
        </p:spPr>
      </p:sp>
      <p:sp>
        <p:nvSpPr>
          <p:cNvPr id="15" name="Text 13"/>
          <p:cNvSpPr/>
          <p:nvPr/>
        </p:nvSpPr>
        <p:spPr>
          <a:xfrm>
            <a:off x="6195060" y="2066544"/>
            <a:ext cx="384048" cy="384048"/>
          </a:xfrm>
          <a:prstGeom prst="rect">
            <a:avLst/>
          </a:prstGeom>
          <a:noFill/>
          <a:ln/>
        </p:spPr>
        <p:txBody>
          <a:bodyPr wrap="square" lIns="0" tIns="0" rIns="0" bIns="0" rtlCol="0" anchor="ctr"/>
          <a:lstStyle/>
          <a:p>
            <a:pPr marL="0" indent="0" algn="ctr">
              <a:buNone/>
            </a:pPr>
            <a:r>
              <a:rPr lang="en-US" sz="2800" b="1" dirty="0">
                <a:solidFill>
                  <a:srgbClr val="C58A24"/>
                </a:solidFill>
                <a:latin typeface="微软雅黑" panose="020B0503020204020204" pitchFamily="34" charset="-122"/>
                <a:ea typeface="微软雅黑" panose="020B0503020204020204" pitchFamily="34" charset="-122"/>
                <a:cs typeface="Noto Sans CJK SC" pitchFamily="34" charset="-120"/>
              </a:rPr>
              <a:t>3</a:t>
            </a:r>
            <a:endParaRPr lang="en-US" sz="2800" dirty="0">
              <a:latin typeface="微软雅黑" panose="020B0503020204020204" pitchFamily="34" charset="-122"/>
              <a:ea typeface="微软雅黑" panose="020B0503020204020204" pitchFamily="34" charset="-122"/>
            </a:endParaRPr>
          </a:p>
        </p:txBody>
      </p:sp>
      <p:sp>
        <p:nvSpPr>
          <p:cNvPr id="16" name="Text 14"/>
          <p:cNvSpPr/>
          <p:nvPr/>
        </p:nvSpPr>
        <p:spPr>
          <a:xfrm>
            <a:off x="6679692" y="2066544"/>
            <a:ext cx="1810512" cy="310896"/>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前向 RL</a:t>
            </a:r>
            <a:endParaRPr lang="en-US" sz="2000" dirty="0">
              <a:latin typeface="微软雅黑" panose="020B0503020204020204" pitchFamily="34" charset="-122"/>
              <a:ea typeface="微软雅黑" panose="020B0503020204020204" pitchFamily="34" charset="-122"/>
            </a:endParaRPr>
          </a:p>
        </p:txBody>
      </p:sp>
      <p:sp>
        <p:nvSpPr>
          <p:cNvPr id="17" name="Text 15"/>
          <p:cNvSpPr/>
          <p:nvPr/>
        </p:nvSpPr>
        <p:spPr>
          <a:xfrm>
            <a:off x="6249924" y="2542032"/>
            <a:ext cx="2231136" cy="566928"/>
          </a:xfrm>
          <a:prstGeom prst="rect">
            <a:avLst/>
          </a:prstGeom>
          <a:noFill/>
          <a:ln/>
        </p:spPr>
        <p:txBody>
          <a:bodyPr wrap="square" lIns="0" tIns="0" rIns="0" bIns="0" rtlCol="0" anchor="ctr">
            <a:normAutofit/>
          </a:bodyPr>
          <a:lstStyle/>
          <a:p>
            <a:pPr marL="0" indent="0" algn="ctr">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在当前奖励下求一个新策略</a:t>
            </a:r>
            <a:endParaRPr lang="en-US" dirty="0">
              <a:latin typeface="微软雅黑" panose="020B0503020204020204" pitchFamily="34" charset="-122"/>
              <a:ea typeface="微软雅黑" panose="020B0503020204020204" pitchFamily="34" charset="-122"/>
            </a:endParaRPr>
          </a:p>
        </p:txBody>
      </p:sp>
      <p:sp>
        <p:nvSpPr>
          <p:cNvPr id="18" name="Shape 16"/>
          <p:cNvSpPr/>
          <p:nvPr/>
        </p:nvSpPr>
        <p:spPr>
          <a:xfrm>
            <a:off x="8700516" y="2414016"/>
            <a:ext cx="347472" cy="438912"/>
          </a:xfrm>
          <a:prstGeom prst="chevron">
            <a:avLst/>
          </a:prstGeom>
          <a:solidFill>
            <a:srgbClr val="D8E2F1"/>
          </a:solidFill>
          <a:ln w="12700">
            <a:solidFill>
              <a:srgbClr val="D8E2F1"/>
            </a:solidFill>
            <a:prstDash val="solid"/>
          </a:ln>
        </p:spPr>
      </p:sp>
      <p:sp>
        <p:nvSpPr>
          <p:cNvPr id="19" name="Shape 17"/>
          <p:cNvSpPr/>
          <p:nvPr/>
        </p:nvSpPr>
        <p:spPr>
          <a:xfrm>
            <a:off x="8771382" y="1920240"/>
            <a:ext cx="2560320" cy="1417320"/>
          </a:xfrm>
          <a:prstGeom prst="roundRect">
            <a:avLst>
              <a:gd name="adj" fmla="val 2581"/>
            </a:avLst>
          </a:prstGeom>
          <a:solidFill>
            <a:srgbClr val="FDECEE"/>
          </a:solidFill>
          <a:ln w="12700">
            <a:solidFill>
              <a:srgbClr val="DDE3EC"/>
            </a:solidFill>
            <a:prstDash val="solid"/>
          </a:ln>
        </p:spPr>
      </p:sp>
      <p:sp>
        <p:nvSpPr>
          <p:cNvPr id="20" name="Text 18"/>
          <p:cNvSpPr/>
          <p:nvPr/>
        </p:nvSpPr>
        <p:spPr>
          <a:xfrm>
            <a:off x="8881110" y="2066544"/>
            <a:ext cx="384048" cy="384048"/>
          </a:xfrm>
          <a:prstGeom prst="rect">
            <a:avLst/>
          </a:prstGeom>
          <a:noFill/>
          <a:ln/>
        </p:spPr>
        <p:txBody>
          <a:bodyPr wrap="square" lIns="0" tIns="0" rIns="0" bIns="0" rtlCol="0" anchor="ctr"/>
          <a:lstStyle/>
          <a:p>
            <a:pPr marL="0" indent="0" algn="ctr">
              <a:buNone/>
            </a:pPr>
            <a:r>
              <a:rPr lang="en-US" sz="2800" b="1" dirty="0">
                <a:solidFill>
                  <a:srgbClr val="C63F45"/>
                </a:solidFill>
                <a:latin typeface="微软雅黑" panose="020B0503020204020204" pitchFamily="34" charset="-122"/>
                <a:ea typeface="微软雅黑" panose="020B0503020204020204" pitchFamily="34" charset="-122"/>
                <a:cs typeface="Noto Sans CJK SC" pitchFamily="34" charset="-120"/>
              </a:rPr>
              <a:t>4</a:t>
            </a:r>
            <a:endParaRPr lang="en-US" sz="2800" dirty="0">
              <a:latin typeface="微软雅黑" panose="020B0503020204020204" pitchFamily="34" charset="-122"/>
              <a:ea typeface="微软雅黑" panose="020B0503020204020204" pitchFamily="34" charset="-122"/>
            </a:endParaRPr>
          </a:p>
        </p:txBody>
      </p:sp>
      <p:sp>
        <p:nvSpPr>
          <p:cNvPr id="21" name="Text 19"/>
          <p:cNvSpPr/>
          <p:nvPr/>
        </p:nvSpPr>
        <p:spPr>
          <a:xfrm>
            <a:off x="9365742" y="2066544"/>
            <a:ext cx="1810512" cy="310896"/>
          </a:xfrm>
          <a:prstGeom prst="rect">
            <a:avLst/>
          </a:prstGeom>
          <a:noFill/>
          <a:ln/>
        </p:spPr>
        <p:txBody>
          <a:bodyPr wrap="square" lIns="0" tIns="0" rIns="0" bIns="0" rtlCol="0" anchor="ctr">
            <a:normAutofit/>
          </a:bodyPr>
          <a:lstStyle/>
          <a:p>
            <a:pPr marL="0" indent="0">
              <a:buNone/>
            </a:pPr>
            <a:r>
              <a:rPr lang="en-US" sz="2000" b="1" dirty="0">
                <a:solidFill>
                  <a:srgbClr val="C63F45"/>
                </a:solidFill>
                <a:latin typeface="微软雅黑" panose="020B0503020204020204" pitchFamily="34" charset="-122"/>
                <a:ea typeface="微软雅黑" panose="020B0503020204020204" pitchFamily="34" charset="-122"/>
                <a:cs typeface="Noto Sans CJK SC" pitchFamily="34" charset="-120"/>
              </a:rPr>
              <a:t>比较与迭代</a:t>
            </a:r>
            <a:endParaRPr lang="en-US" sz="2000" dirty="0">
              <a:latin typeface="微软雅黑" panose="020B0503020204020204" pitchFamily="34" charset="-122"/>
              <a:ea typeface="微软雅黑" panose="020B0503020204020204" pitchFamily="34" charset="-122"/>
            </a:endParaRPr>
          </a:p>
        </p:txBody>
      </p:sp>
      <p:sp>
        <p:nvSpPr>
          <p:cNvPr id="22" name="Text 20"/>
          <p:cNvSpPr/>
          <p:nvPr/>
        </p:nvSpPr>
        <p:spPr>
          <a:xfrm>
            <a:off x="8935974" y="2542032"/>
            <a:ext cx="2231136" cy="566928"/>
          </a:xfrm>
          <a:prstGeom prst="rect">
            <a:avLst/>
          </a:prstGeom>
          <a:noFill/>
          <a:ln/>
        </p:spPr>
        <p:txBody>
          <a:bodyPr wrap="square" lIns="0" tIns="0" rIns="0" bIns="0" rtlCol="0" anchor="ctr">
            <a:normAutofit/>
          </a:bodyPr>
          <a:lstStyle/>
          <a:p>
            <a:pPr marL="0" indent="0" algn="ctr">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比较策略与专家，继续调整奖励</a:t>
            </a:r>
            <a:endParaRPr lang="en-US" dirty="0">
              <a:latin typeface="微软雅黑" panose="020B0503020204020204" pitchFamily="34" charset="-122"/>
              <a:ea typeface="微软雅黑" panose="020B0503020204020204" pitchFamily="34" charset="-122"/>
            </a:endParaRPr>
          </a:p>
        </p:txBody>
      </p:sp>
      <p:sp>
        <p:nvSpPr>
          <p:cNvPr id="23" name="Text 21"/>
          <p:cNvSpPr/>
          <p:nvPr/>
        </p:nvSpPr>
        <p:spPr>
          <a:xfrm>
            <a:off x="2011680" y="4160520"/>
            <a:ext cx="8138160" cy="502920"/>
          </a:xfrm>
          <a:prstGeom prst="rect">
            <a:avLst/>
          </a:prstGeom>
          <a:noFill/>
          <a:ln/>
        </p:spPr>
        <p:txBody>
          <a:bodyPr wrap="square" lIns="0" tIns="0" rIns="0" bIns="0" rtlCol="0" anchor="ctr"/>
          <a:lstStyle/>
          <a:p>
            <a:pPr marL="0" indent="0" algn="ctr">
              <a:buNone/>
            </a:pPr>
            <a:r>
              <a:rPr lang="en-US" sz="2400" b="1" dirty="0">
                <a:solidFill>
                  <a:srgbClr val="24477D"/>
                </a:solidFill>
                <a:latin typeface="微软雅黑" panose="020B0503020204020204" pitchFamily="34" charset="-122"/>
                <a:ea typeface="微软雅黑" panose="020B0503020204020204" pitchFamily="34" charset="-122"/>
                <a:cs typeface="Noto Sans CJK SC" pitchFamily="34" charset="-120"/>
              </a:rPr>
              <a:t>这也是 IRL 通常比 BC 计算更复杂的重要原因。</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65</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IRL 的优势与局限</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2F8E72"/>
          </a:solidFill>
          <a:ln w="12700">
            <a:solidFill>
              <a:srgbClr val="2F8E72"/>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优势：学习“任务目标”</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608439"/>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通过恢复奖励而不是直接复制动作，具备更强的泛化与跨任务迁移潜力，尤其适合奖励难以直接设计的复杂任务。</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C63F45"/>
          </a:solidFill>
          <a:ln w="12700">
            <a:solidFill>
              <a:srgbClr val="C63F45"/>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局限：求解成本更高</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608439"/>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每轮通常需要多次调用前向 RL；奖励函数可能不唯一；在连续控制和大规模任务中计算效率受限。</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66</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4.3.2 IRL </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在</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机器人</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中的</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应用</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31520" y="1664208"/>
            <a:ext cx="3337560" cy="3493008"/>
          </a:xfrm>
          <a:prstGeom prst="roundRect">
            <a:avLst>
              <a:gd name="adj" fmla="val 137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31520" y="1664208"/>
            <a:ext cx="64008" cy="3493008"/>
          </a:xfrm>
          <a:prstGeom prst="rect">
            <a:avLst/>
          </a:prstGeom>
          <a:solidFill>
            <a:srgbClr val="31599B"/>
          </a:solidFill>
          <a:ln w="12700">
            <a:solidFill>
              <a:srgbClr val="31599B"/>
            </a:solidFill>
            <a:prstDash val="solid"/>
          </a:ln>
        </p:spPr>
      </p:sp>
      <p:sp>
        <p:nvSpPr>
          <p:cNvPr id="6" name="Text 4"/>
          <p:cNvSpPr/>
          <p:nvPr/>
        </p:nvSpPr>
        <p:spPr>
          <a:xfrm>
            <a:off x="941832" y="1810512"/>
            <a:ext cx="2953512"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自动驾驶</a:t>
            </a:r>
            <a:endParaRPr lang="en-US" sz="2000" dirty="0">
              <a:latin typeface="微软雅黑" panose="020B0503020204020204" pitchFamily="34" charset="-122"/>
              <a:ea typeface="微软雅黑" panose="020B0503020204020204" pitchFamily="34" charset="-122"/>
            </a:endParaRPr>
          </a:p>
        </p:txBody>
      </p:sp>
      <p:sp>
        <p:nvSpPr>
          <p:cNvPr id="7" name="Text 5"/>
          <p:cNvSpPr/>
          <p:nvPr/>
        </p:nvSpPr>
        <p:spPr>
          <a:xfrm>
            <a:off x="941832" y="2577367"/>
            <a:ext cx="2953512" cy="2779776"/>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从人类驾驶数据中推断“安全距离”“</a:t>
            </a: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舒适加速”等隐含奖励，提高策略鲁棒性</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4416552" y="1664208"/>
            <a:ext cx="3337560" cy="3493008"/>
          </a:xfrm>
          <a:prstGeom prst="roundRect">
            <a:avLst>
              <a:gd name="adj" fmla="val 137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16552" y="1664208"/>
            <a:ext cx="64008" cy="3493008"/>
          </a:xfrm>
          <a:prstGeom prst="rect">
            <a:avLst/>
          </a:prstGeom>
          <a:solidFill>
            <a:srgbClr val="2F8E72"/>
          </a:solidFill>
          <a:ln w="12700">
            <a:solidFill>
              <a:srgbClr val="2F8E72"/>
            </a:solidFill>
            <a:prstDash val="solid"/>
          </a:ln>
        </p:spPr>
      </p:sp>
      <p:sp>
        <p:nvSpPr>
          <p:cNvPr id="10" name="Text 8"/>
          <p:cNvSpPr/>
          <p:nvPr/>
        </p:nvSpPr>
        <p:spPr>
          <a:xfrm>
            <a:off x="4626864" y="1810512"/>
            <a:ext cx="295351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特技飞行 / 机械臂</a:t>
            </a:r>
            <a:endParaRPr lang="en-US" sz="2000" dirty="0">
              <a:latin typeface="微软雅黑" panose="020B0503020204020204" pitchFamily="34" charset="-122"/>
              <a:ea typeface="微软雅黑" panose="020B0503020204020204" pitchFamily="34" charset="-122"/>
            </a:endParaRPr>
          </a:p>
        </p:txBody>
      </p:sp>
      <p:sp>
        <p:nvSpPr>
          <p:cNvPr id="11" name="Text 9"/>
          <p:cNvSpPr/>
          <p:nvPr/>
        </p:nvSpPr>
        <p:spPr>
          <a:xfrm>
            <a:off x="4626864" y="2577367"/>
            <a:ext cx="2953512" cy="2779776"/>
          </a:xfrm>
          <a:prstGeom prst="rect">
            <a:avLst/>
          </a:prstGeom>
          <a:noFill/>
          <a:ln/>
        </p:spPr>
        <p:txBody>
          <a:bodyPr wrap="square" lIns="254" tIns="254" rIns="254" bIns="254" rtlCol="0" anchor="t">
            <a:normAutofit/>
          </a:bodyPr>
          <a:lstStyle/>
          <a:p>
            <a:pPr marL="0" indent="0">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学徒学习通过匹配专家轨迹特征，可学习复杂技能</a:t>
            </a:r>
            <a:endParaRPr lang="en-US" sz="2000" dirty="0">
              <a:latin typeface="微软雅黑" panose="020B0503020204020204" pitchFamily="34" charset="-122"/>
              <a:ea typeface="微软雅黑" panose="020B0503020204020204" pitchFamily="34" charset="-122"/>
            </a:endParaRPr>
          </a:p>
        </p:txBody>
      </p:sp>
      <p:sp>
        <p:nvSpPr>
          <p:cNvPr id="12" name="Shape 10"/>
          <p:cNvSpPr/>
          <p:nvPr/>
        </p:nvSpPr>
        <p:spPr>
          <a:xfrm>
            <a:off x="8101584" y="1664208"/>
            <a:ext cx="3337560" cy="3493008"/>
          </a:xfrm>
          <a:prstGeom prst="roundRect">
            <a:avLst>
              <a:gd name="adj" fmla="val 137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101584" y="1664208"/>
            <a:ext cx="64008" cy="3493008"/>
          </a:xfrm>
          <a:prstGeom prst="rect">
            <a:avLst/>
          </a:prstGeom>
          <a:solidFill>
            <a:srgbClr val="C58A24"/>
          </a:solidFill>
          <a:ln w="12700">
            <a:solidFill>
              <a:srgbClr val="C58A24"/>
            </a:solidFill>
            <a:prstDash val="solid"/>
          </a:ln>
        </p:spPr>
      </p:sp>
      <p:sp>
        <p:nvSpPr>
          <p:cNvPr id="14" name="Text 12"/>
          <p:cNvSpPr/>
          <p:nvPr/>
        </p:nvSpPr>
        <p:spPr>
          <a:xfrm>
            <a:off x="8311896" y="1810512"/>
            <a:ext cx="2953512" cy="329184"/>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医疗机器人</a:t>
            </a:r>
            <a:endParaRPr lang="en-US" sz="2000" dirty="0">
              <a:latin typeface="微软雅黑" panose="020B0503020204020204" pitchFamily="34" charset="-122"/>
              <a:ea typeface="微软雅黑" panose="020B0503020204020204" pitchFamily="34" charset="-122"/>
            </a:endParaRPr>
          </a:p>
        </p:txBody>
      </p:sp>
      <p:sp>
        <p:nvSpPr>
          <p:cNvPr id="15" name="Text 13"/>
          <p:cNvSpPr/>
          <p:nvPr/>
        </p:nvSpPr>
        <p:spPr>
          <a:xfrm>
            <a:off x="8311896" y="2577367"/>
            <a:ext cx="2953512" cy="2779776"/>
          </a:xfrm>
          <a:prstGeom prst="rect">
            <a:avLst/>
          </a:prstGeom>
          <a:noFill/>
          <a:ln/>
        </p:spPr>
        <p:txBody>
          <a:bodyPr wrap="square" lIns="254" tIns="254" rIns="254" bIns="254" rtlCol="0" anchor="t">
            <a:normAutofit/>
          </a:bodyPr>
          <a:lstStyle/>
          <a:p>
            <a:pPr marL="0" indent="0">
              <a:buNone/>
            </a:pPr>
            <a:r>
              <a:rPr lang="en-US" sz="2000" dirty="0" err="1">
                <a:solidFill>
                  <a:srgbClr val="222833"/>
                </a:solidFill>
                <a:latin typeface="微软雅黑" panose="020B0503020204020204" pitchFamily="34" charset="-122"/>
                <a:ea typeface="微软雅黑" panose="020B0503020204020204" pitchFamily="34" charset="-122"/>
                <a:cs typeface="Noto Sans CJK SC" pitchFamily="34" charset="-120"/>
              </a:rPr>
              <a:t>学习外科医生的路径偏好，避免敏感区域，并用于技能评估与个性化优化</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67</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高维 IRL 在手术操作训练中的效果</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13.png"/>
          <p:cNvPicPr>
            <a:picLocks noChangeAspect="1"/>
          </p:cNvPicPr>
          <p:nvPr/>
        </p:nvPicPr>
        <p:blipFill>
          <a:blip r:embed="rId3"/>
          <a:stretch>
            <a:fillRect/>
          </a:stretch>
        </p:blipFill>
        <p:spPr>
          <a:xfrm>
            <a:off x="777240" y="2204977"/>
            <a:ext cx="7315200" cy="2036566"/>
          </a:xfrm>
          <a:prstGeom prst="rect">
            <a:avLst/>
          </a:prstGeom>
        </p:spPr>
      </p:pic>
      <p:sp>
        <p:nvSpPr>
          <p:cNvPr id="5" name="Text 2"/>
          <p:cNvSpPr/>
          <p:nvPr/>
        </p:nvSpPr>
        <p:spPr>
          <a:xfrm>
            <a:off x="777240" y="4846320"/>
            <a:ext cx="7315200" cy="256032"/>
          </a:xfrm>
          <a:prstGeom prst="rect">
            <a:avLst/>
          </a:prstGeom>
          <a:noFill/>
          <a:ln/>
        </p:spPr>
        <p:txBody>
          <a:bodyPr wrap="square" lIns="0" tIns="0" rIns="0" bIns="0" rtlCol="0" anchor="ctr">
            <a:normAutofit/>
          </a:bodyPr>
          <a:lstStyle/>
          <a:p>
            <a:pPr marL="0" indent="0" algn="ctr">
              <a:buNone/>
            </a:pPr>
            <a:r>
              <a:rPr lang="en-US" sz="1600" b="1" dirty="0" err="1">
                <a:solidFill>
                  <a:schemeClr val="accent1">
                    <a:lumMod val="50000"/>
                  </a:schemeClr>
                </a:solidFill>
                <a:latin typeface="微软雅黑" panose="020B0503020204020204" pitchFamily="34" charset="-122"/>
                <a:ea typeface="微软雅黑" panose="020B0503020204020204" pitchFamily="34" charset="-122"/>
              </a:rPr>
              <a:t>高维逆强化学习算法在手术操作训练中的效果</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8412480" y="1645920"/>
            <a:ext cx="2880360" cy="1143000"/>
          </a:xfrm>
          <a:prstGeom prst="roundRect">
            <a:avLst>
              <a:gd name="adj" fmla="val 400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7" name="Shape 4"/>
          <p:cNvSpPr/>
          <p:nvPr/>
        </p:nvSpPr>
        <p:spPr>
          <a:xfrm>
            <a:off x="8412480" y="1645920"/>
            <a:ext cx="64008" cy="1143000"/>
          </a:xfrm>
          <a:prstGeom prst="rect">
            <a:avLst/>
          </a:prstGeom>
          <a:solidFill>
            <a:srgbClr val="31599B"/>
          </a:solidFill>
          <a:ln w="12700">
            <a:solidFill>
              <a:srgbClr val="31599B"/>
            </a:solidFill>
            <a:prstDash val="solid"/>
          </a:ln>
        </p:spPr>
      </p:sp>
      <p:sp>
        <p:nvSpPr>
          <p:cNvPr id="8" name="Text 5"/>
          <p:cNvSpPr/>
          <p:nvPr/>
        </p:nvSpPr>
        <p:spPr>
          <a:xfrm>
            <a:off x="8622792" y="1792224"/>
            <a:ext cx="2496312" cy="329184"/>
          </a:xfrm>
          <a:prstGeom prst="rect">
            <a:avLst/>
          </a:prstGeom>
          <a:noFill/>
          <a:ln/>
        </p:spPr>
        <p:txBody>
          <a:bodyPr wrap="square" lIns="0" tIns="0" rIns="0" bIns="0" rtlCol="0" anchor="ctr">
            <a:normAutofit/>
          </a:bodyPr>
          <a:lstStyle/>
          <a:p>
            <a:pPr marL="0" indent="0">
              <a:buNone/>
            </a:pPr>
            <a:r>
              <a:rPr lang="en-US" sz="1750" b="1" dirty="0">
                <a:solidFill>
                  <a:srgbClr val="31599B"/>
                </a:solidFill>
                <a:latin typeface="微软雅黑" panose="020B0503020204020204" pitchFamily="34" charset="-122"/>
                <a:ea typeface="微软雅黑" panose="020B0503020204020204" pitchFamily="34" charset="-122"/>
                <a:cs typeface="Noto Sans CJK SC" pitchFamily="34" charset="-120"/>
              </a:rPr>
              <a:t>收敛</a:t>
            </a:r>
            <a:endParaRPr lang="en-US" sz="1750" dirty="0">
              <a:latin typeface="微软雅黑" panose="020B0503020204020204" pitchFamily="34" charset="-122"/>
              <a:ea typeface="微软雅黑" panose="020B0503020204020204" pitchFamily="34" charset="-122"/>
            </a:endParaRPr>
          </a:p>
        </p:txBody>
      </p:sp>
      <p:sp>
        <p:nvSpPr>
          <p:cNvPr id="9" name="Text 6"/>
          <p:cNvSpPr/>
          <p:nvPr/>
        </p:nvSpPr>
        <p:spPr>
          <a:xfrm>
            <a:off x="8622792" y="2212848"/>
            <a:ext cx="2496312" cy="429768"/>
          </a:xfrm>
          <a:prstGeom prst="rect">
            <a:avLst/>
          </a:prstGeom>
          <a:noFill/>
          <a:ln/>
        </p:spPr>
        <p:txBody>
          <a:bodyPr wrap="square" lIns="254" tIns="254" rIns="254" bIns="254" rtlCol="0" anchor="t">
            <a:normAutofit fontScale="92500" lnSpcReduction="20000"/>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模拟实验中 &lt; 100 次迭代。</a:t>
            </a:r>
            <a:endParaRPr lang="en-US" dirty="0">
              <a:latin typeface="微软雅黑" panose="020B0503020204020204" pitchFamily="34" charset="-122"/>
              <a:ea typeface="微软雅黑" panose="020B0503020204020204" pitchFamily="34" charset="-122"/>
            </a:endParaRPr>
          </a:p>
        </p:txBody>
      </p:sp>
      <p:sp>
        <p:nvSpPr>
          <p:cNvPr id="10" name="Shape 7"/>
          <p:cNvSpPr/>
          <p:nvPr/>
        </p:nvSpPr>
        <p:spPr>
          <a:xfrm>
            <a:off x="8412480" y="2926080"/>
            <a:ext cx="2880360" cy="1143000"/>
          </a:xfrm>
          <a:prstGeom prst="roundRect">
            <a:avLst>
              <a:gd name="adj" fmla="val 400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1" name="Shape 8"/>
          <p:cNvSpPr/>
          <p:nvPr/>
        </p:nvSpPr>
        <p:spPr>
          <a:xfrm>
            <a:off x="8412480" y="2926080"/>
            <a:ext cx="64008" cy="1143000"/>
          </a:xfrm>
          <a:prstGeom prst="rect">
            <a:avLst/>
          </a:prstGeom>
          <a:solidFill>
            <a:srgbClr val="2F8E72"/>
          </a:solidFill>
          <a:ln w="12700">
            <a:solidFill>
              <a:srgbClr val="2F8E72"/>
            </a:solidFill>
            <a:prstDash val="solid"/>
          </a:ln>
        </p:spPr>
      </p:sp>
      <p:sp>
        <p:nvSpPr>
          <p:cNvPr id="12" name="Text 9"/>
          <p:cNvSpPr/>
          <p:nvPr/>
        </p:nvSpPr>
        <p:spPr>
          <a:xfrm>
            <a:off x="8622792" y="3072384"/>
            <a:ext cx="2496312" cy="329184"/>
          </a:xfrm>
          <a:prstGeom prst="rect">
            <a:avLst/>
          </a:prstGeom>
          <a:noFill/>
          <a:ln/>
        </p:spPr>
        <p:txBody>
          <a:bodyPr wrap="square" lIns="0" tIns="0" rIns="0" bIns="0" rtlCol="0" anchor="ctr">
            <a:normAutofit/>
          </a:bodyPr>
          <a:lstStyle/>
          <a:p>
            <a:pPr marL="0" indent="0">
              <a:buNone/>
            </a:pPr>
            <a:r>
              <a:rPr lang="en-US" sz="1750" b="1" dirty="0">
                <a:solidFill>
                  <a:srgbClr val="2F8E72"/>
                </a:solidFill>
                <a:latin typeface="微软雅黑" panose="020B0503020204020204" pitchFamily="34" charset="-122"/>
                <a:ea typeface="微软雅黑" panose="020B0503020204020204" pitchFamily="34" charset="-122"/>
                <a:cs typeface="Noto Sans CJK SC" pitchFamily="34" charset="-120"/>
              </a:rPr>
              <a:t>奖励恢复</a:t>
            </a:r>
            <a:endParaRPr lang="en-US" sz="1750" dirty="0">
              <a:latin typeface="微软雅黑" panose="020B0503020204020204" pitchFamily="34" charset="-122"/>
              <a:ea typeface="微软雅黑" panose="020B0503020204020204" pitchFamily="34" charset="-122"/>
            </a:endParaRPr>
          </a:p>
        </p:txBody>
      </p:sp>
      <p:sp>
        <p:nvSpPr>
          <p:cNvPr id="13" name="Text 10"/>
          <p:cNvSpPr/>
          <p:nvPr/>
        </p:nvSpPr>
        <p:spPr>
          <a:xfrm>
            <a:off x="8622792" y="3493008"/>
            <a:ext cx="2496312" cy="429768"/>
          </a:xfrm>
          <a:prstGeom prst="rect">
            <a:avLst/>
          </a:prstGeom>
          <a:noFill/>
          <a:ln/>
        </p:spPr>
        <p:txBody>
          <a:bodyPr wrap="square" lIns="254" tIns="254" rIns="254" bIns="254" rtlCol="0" anchor="t">
            <a:norm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准确率达到 85%。</a:t>
            </a:r>
            <a:endParaRPr lang="en-US" dirty="0">
              <a:latin typeface="微软雅黑" panose="020B0503020204020204" pitchFamily="34" charset="-122"/>
              <a:ea typeface="微软雅黑" panose="020B0503020204020204" pitchFamily="34" charset="-122"/>
            </a:endParaRPr>
          </a:p>
        </p:txBody>
      </p:sp>
      <p:sp>
        <p:nvSpPr>
          <p:cNvPr id="14" name="Shape 11"/>
          <p:cNvSpPr/>
          <p:nvPr/>
        </p:nvSpPr>
        <p:spPr>
          <a:xfrm>
            <a:off x="8412480" y="4206240"/>
            <a:ext cx="2880360" cy="1143000"/>
          </a:xfrm>
          <a:prstGeom prst="roundRect">
            <a:avLst>
              <a:gd name="adj" fmla="val 4000"/>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5" name="Shape 12"/>
          <p:cNvSpPr/>
          <p:nvPr/>
        </p:nvSpPr>
        <p:spPr>
          <a:xfrm>
            <a:off x="8412480" y="4206240"/>
            <a:ext cx="64008" cy="1143000"/>
          </a:xfrm>
          <a:prstGeom prst="rect">
            <a:avLst/>
          </a:prstGeom>
          <a:solidFill>
            <a:srgbClr val="C58A24"/>
          </a:solidFill>
          <a:ln w="12700">
            <a:solidFill>
              <a:srgbClr val="C58A24"/>
            </a:solidFill>
            <a:prstDash val="solid"/>
          </a:ln>
        </p:spPr>
      </p:sp>
      <p:sp>
        <p:nvSpPr>
          <p:cNvPr id="16" name="Text 13"/>
          <p:cNvSpPr/>
          <p:nvPr/>
        </p:nvSpPr>
        <p:spPr>
          <a:xfrm>
            <a:off x="8622792" y="4352544"/>
            <a:ext cx="2496312" cy="329184"/>
          </a:xfrm>
          <a:prstGeom prst="rect">
            <a:avLst/>
          </a:prstGeom>
          <a:noFill/>
          <a:ln/>
        </p:spPr>
        <p:txBody>
          <a:bodyPr wrap="square" lIns="0" tIns="0" rIns="0" bIns="0" rtlCol="0" anchor="ctr">
            <a:normAutofit/>
          </a:bodyPr>
          <a:lstStyle/>
          <a:p>
            <a:pPr marL="0" indent="0">
              <a:buNone/>
            </a:pPr>
            <a:r>
              <a:rPr lang="en-US" sz="1750" b="1" dirty="0">
                <a:solidFill>
                  <a:srgbClr val="C58A24"/>
                </a:solidFill>
                <a:latin typeface="微软雅黑" panose="020B0503020204020204" pitchFamily="34" charset="-122"/>
                <a:ea typeface="微软雅黑" panose="020B0503020204020204" pitchFamily="34" charset="-122"/>
                <a:cs typeface="Noto Sans CJK SC" pitchFamily="34" charset="-120"/>
              </a:rPr>
              <a:t>状态变化识别</a:t>
            </a:r>
            <a:endParaRPr lang="en-US" sz="1750" dirty="0">
              <a:latin typeface="微软雅黑" panose="020B0503020204020204" pitchFamily="34" charset="-122"/>
              <a:ea typeface="微软雅黑" panose="020B0503020204020204" pitchFamily="34" charset="-122"/>
            </a:endParaRPr>
          </a:p>
        </p:txBody>
      </p:sp>
      <p:sp>
        <p:nvSpPr>
          <p:cNvPr id="17" name="Text 14"/>
          <p:cNvSpPr/>
          <p:nvPr/>
        </p:nvSpPr>
        <p:spPr>
          <a:xfrm>
            <a:off x="8622792" y="4773168"/>
            <a:ext cx="2496312" cy="429768"/>
          </a:xfrm>
          <a:prstGeom prst="rect">
            <a:avLst/>
          </a:prstGeom>
          <a:noFill/>
          <a:ln/>
        </p:spPr>
        <p:txBody>
          <a:bodyPr wrap="square" lIns="254" tIns="254" rIns="254" bIns="254" rtlCol="0" anchor="t">
            <a:noAutofit/>
          </a:bodyPr>
          <a:lstStyle/>
          <a:p>
            <a:pPr marL="0" indent="0">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可检测疲劳导致的 10%–20% 技能下降。</a:t>
            </a:r>
            <a:endParaRPr lang="en-US" sz="16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68</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Noto Sans CJK SC" pitchFamily="34" charset="0"/>
                <a:ea typeface="Noto Sans CJK SC" pitchFamily="34" charset="-122"/>
                <a:cs typeface="Noto Sans CJK SC" pitchFamily="34" charset="-120"/>
              </a:rPr>
              <a:t>临床评估结果</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1051560" y="1737360"/>
            <a:ext cx="4526280" cy="1791513"/>
          </a:xfrm>
          <a:prstGeom prst="roundRect">
            <a:avLst>
              <a:gd name="adj" fmla="val 1351"/>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1051560" y="1737360"/>
            <a:ext cx="64008" cy="1791513"/>
          </a:xfrm>
          <a:prstGeom prst="rect">
            <a:avLst/>
          </a:prstGeom>
          <a:solidFill>
            <a:srgbClr val="C63F45"/>
          </a:solidFill>
          <a:ln w="12700">
            <a:solidFill>
              <a:srgbClr val="C63F45"/>
            </a:solidFill>
            <a:prstDash val="solid"/>
          </a:ln>
        </p:spPr>
      </p:sp>
      <p:sp>
        <p:nvSpPr>
          <p:cNvPr id="6" name="Text 4"/>
          <p:cNvSpPr/>
          <p:nvPr/>
        </p:nvSpPr>
        <p:spPr>
          <a:xfrm>
            <a:off x="1243584" y="1662255"/>
            <a:ext cx="4142232" cy="642033"/>
          </a:xfrm>
          <a:prstGeom prst="rect">
            <a:avLst/>
          </a:prstGeom>
          <a:noFill/>
          <a:ln/>
        </p:spPr>
        <p:txBody>
          <a:bodyPr wrap="square" lIns="0" tIns="0" rIns="0" bIns="0" rtlCol="0" anchor="ctr">
            <a:normAutofit/>
          </a:bodyPr>
          <a:lstStyle/>
          <a:p>
            <a:pPr marL="0" indent="0">
              <a:buNone/>
            </a:pPr>
            <a:r>
              <a:rPr lang="en-US" sz="2000" b="1" dirty="0">
                <a:solidFill>
                  <a:srgbClr val="C63F45"/>
                </a:solidFill>
                <a:latin typeface="Noto Sans CJK SC" pitchFamily="34" charset="0"/>
                <a:ea typeface="Noto Sans CJK SC" pitchFamily="34" charset="-122"/>
                <a:cs typeface="Noto Sans CJK SC" pitchFamily="34" charset="-120"/>
              </a:rPr>
              <a:t>疲劳检测</a:t>
            </a:r>
            <a:endParaRPr lang="en-US" sz="2000" dirty="0"/>
          </a:p>
        </p:txBody>
      </p:sp>
      <p:sp>
        <p:nvSpPr>
          <p:cNvPr id="7" name="Text 5"/>
          <p:cNvSpPr/>
          <p:nvPr/>
        </p:nvSpPr>
        <p:spPr>
          <a:xfrm>
            <a:off x="1261872" y="2304288"/>
            <a:ext cx="4142232" cy="1413843"/>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Noto Sans CJK SC" pitchFamily="34" charset="0"/>
                <a:ea typeface="Noto Sans CJK SC" pitchFamily="34" charset="-122"/>
                <a:cs typeface="Noto Sans CJK SC" pitchFamily="34" charset="-120"/>
              </a:rPr>
              <a:t>高维 IRL 可实时检测疲劳导致的奖励函数退化，用于在线手术技能监控。</a:t>
            </a:r>
            <a:endParaRPr lang="en-US" sz="2000" dirty="0"/>
          </a:p>
        </p:txBody>
      </p:sp>
      <p:sp>
        <p:nvSpPr>
          <p:cNvPr id="8" name="Shape 6"/>
          <p:cNvSpPr/>
          <p:nvPr/>
        </p:nvSpPr>
        <p:spPr>
          <a:xfrm>
            <a:off x="6583680" y="1737360"/>
            <a:ext cx="4526280" cy="1791512"/>
          </a:xfrm>
          <a:prstGeom prst="roundRect">
            <a:avLst>
              <a:gd name="adj" fmla="val 1351"/>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583680" y="1737360"/>
            <a:ext cx="64008" cy="1791512"/>
          </a:xfrm>
          <a:prstGeom prst="rect">
            <a:avLst/>
          </a:prstGeom>
          <a:solidFill>
            <a:srgbClr val="2F8E72"/>
          </a:solidFill>
          <a:ln w="12700">
            <a:solidFill>
              <a:srgbClr val="2F8E72"/>
            </a:solidFill>
            <a:prstDash val="solid"/>
          </a:ln>
        </p:spPr>
      </p:sp>
      <p:sp>
        <p:nvSpPr>
          <p:cNvPr id="10" name="Text 8"/>
          <p:cNvSpPr/>
          <p:nvPr/>
        </p:nvSpPr>
        <p:spPr>
          <a:xfrm>
            <a:off x="6775704" y="1667501"/>
            <a:ext cx="4142232" cy="606522"/>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Noto Sans CJK SC" pitchFamily="34" charset="0"/>
                <a:ea typeface="Noto Sans CJK SC" pitchFamily="34" charset="-122"/>
                <a:cs typeface="Noto Sans CJK SC" pitchFamily="34" charset="-120"/>
              </a:rPr>
              <a:t>脊髓损伤评估</a:t>
            </a:r>
            <a:endParaRPr lang="en-US" sz="2000" dirty="0"/>
          </a:p>
        </p:txBody>
      </p:sp>
      <p:sp>
        <p:nvSpPr>
          <p:cNvPr id="11" name="Text 9"/>
          <p:cNvSpPr/>
          <p:nvPr/>
        </p:nvSpPr>
        <p:spPr>
          <a:xfrm>
            <a:off x="6793992" y="2304288"/>
            <a:ext cx="4142232" cy="1413842"/>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Noto Sans CJK SC" pitchFamily="34" charset="0"/>
                <a:ea typeface="Noto Sans CJK SC" pitchFamily="34" charset="-122"/>
                <a:cs typeface="Noto Sans CJK SC" pitchFamily="34" charset="-120"/>
              </a:rPr>
              <a:t>针对脊髓损伤患者的评估实验中，刺激后平衡奖励提升约 20%–30%。</a:t>
            </a:r>
            <a:endParaRPr lang="en-US" sz="2000" dirty="0"/>
          </a:p>
        </p:txBody>
      </p:sp>
      <p:sp>
        <p:nvSpPr>
          <p:cNvPr id="12" name="Text 10"/>
          <p:cNvSpPr/>
          <p:nvPr/>
        </p:nvSpPr>
        <p:spPr>
          <a:xfrm>
            <a:off x="617220" y="4222753"/>
            <a:ext cx="10698480" cy="329184"/>
          </a:xfrm>
          <a:prstGeom prst="rect">
            <a:avLst/>
          </a:prstGeom>
          <a:noFill/>
          <a:ln/>
        </p:spPr>
        <p:txBody>
          <a:bodyPr wrap="square" lIns="0" tIns="0" rIns="0" bIns="0" rtlCol="0" anchor="ctr">
            <a:normAutofit lnSpcReduction="10000"/>
          </a:bodyPr>
          <a:lstStyle/>
          <a:p>
            <a:pPr marL="0" indent="0" algn="ctr">
              <a:buNone/>
            </a:pPr>
            <a:r>
              <a:rPr lang="en-US" sz="2400" b="1" dirty="0">
                <a:solidFill>
                  <a:srgbClr val="24477D"/>
                </a:solidFill>
                <a:latin typeface="微软雅黑" panose="020B0503020204020204" pitchFamily="34" charset="-122"/>
                <a:ea typeface="微软雅黑" panose="020B0503020204020204" pitchFamily="34" charset="-122"/>
              </a:rPr>
              <a:t>IRL </a:t>
            </a:r>
            <a:r>
              <a:rPr lang="en-US" sz="2400" b="1" dirty="0" err="1">
                <a:solidFill>
                  <a:srgbClr val="24477D"/>
                </a:solidFill>
                <a:latin typeface="微软雅黑" panose="020B0503020204020204" pitchFamily="34" charset="-122"/>
                <a:ea typeface="微软雅黑" panose="020B0503020204020204" pitchFamily="34" charset="-122"/>
              </a:rPr>
              <a:t>在高维临床数据中的鲁棒性与应用潜力</a:t>
            </a:r>
            <a:endParaRPr lang="en-US" sz="2400" b="1" dirty="0">
              <a:solidFill>
                <a:srgbClr val="24477D"/>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4" name="Text 2"/>
          <p:cNvSpPr/>
          <p:nvPr/>
        </p:nvSpPr>
        <p:spPr>
          <a:xfrm>
            <a:off x="1417320" y="1554480"/>
            <a:ext cx="1600200" cy="1143000"/>
          </a:xfrm>
          <a:prstGeom prst="rect">
            <a:avLst/>
          </a:prstGeom>
          <a:noFill/>
          <a:ln/>
        </p:spPr>
        <p:txBody>
          <a:bodyPr wrap="square" lIns="0" tIns="0" rIns="0" bIns="0" rtlCol="0" anchor="ctr"/>
          <a:lstStyle/>
          <a:p>
            <a:pPr marL="0" indent="0" algn="r">
              <a:buNone/>
            </a:pPr>
            <a:r>
              <a:rPr lang="en-US" sz="7600" b="1" dirty="0">
                <a:solidFill>
                  <a:srgbClr val="24477D"/>
                </a:solidFill>
                <a:latin typeface="Noto Sans CJK SC" pitchFamily="34" charset="0"/>
                <a:ea typeface="Noto Sans CJK SC" pitchFamily="34" charset="-122"/>
                <a:cs typeface="Noto Sans CJK SC" pitchFamily="34" charset="-120"/>
              </a:rPr>
              <a:t>4</a:t>
            </a:r>
            <a:endParaRPr lang="en-US" sz="7600" dirty="0">
              <a:solidFill>
                <a:srgbClr val="24477D"/>
              </a:solidFill>
            </a:endParaRPr>
          </a:p>
        </p:txBody>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Noto Sans CJK SC" pitchFamily="34" charset="0"/>
                <a:ea typeface="Noto Sans CJK SC" pitchFamily="34" charset="-122"/>
                <a:cs typeface="Noto Sans CJK SC" pitchFamily="34" charset="-120"/>
              </a:rPr>
              <a:t>模仿学习及高级方法</a:t>
            </a:r>
            <a:endParaRPr lang="en-US" sz="3900" dirty="0"/>
          </a:p>
        </p:txBody>
      </p:sp>
      <p:sp>
        <p:nvSpPr>
          <p:cNvPr id="17" name="Text 15"/>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Noto Sans CJK SC" pitchFamily="34" charset="0"/>
                <a:ea typeface="Noto Sans CJK SC" pitchFamily="34" charset="-122"/>
                <a:cs typeface="Noto Sans CJK SC" pitchFamily="34" charset="-120"/>
              </a:rPr>
              <a:t>具身智能导论 · 第4章</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4.4 模仿学习：比随机探索更直接的技能学习路径</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64208"/>
            <a:ext cx="10058400" cy="4069080"/>
          </a:xfrm>
          <a:prstGeom prst="rect">
            <a:avLst/>
          </a:prstGeom>
          <a:noFill/>
          <a:ln/>
        </p:spPr>
        <p:txBody>
          <a:bodyPr wrap="square" lIns="635" tIns="635" rIns="635" bIns="635" rtlCol="0" anchor="t">
            <a:normAutofit/>
          </a:bodyPr>
          <a:lstStyle/>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模仿学习泛指通过观察和复制专家行为快速学习策略，而不是从随机探索开始</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可以直接学习状态→动作映射（如行为克隆），也可以推断隐含奖励（如 IRL）</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在机器人导航、操纵、无人驾驶以及 Sim-to-Real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迁移中广泛使用</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71</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模仿学习在具身智能中的典型应用</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3246120" cy="3520440"/>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49808" y="1664208"/>
            <a:ext cx="64008" cy="3520440"/>
          </a:xfrm>
          <a:prstGeom prst="rect">
            <a:avLst/>
          </a:prstGeom>
          <a:solidFill>
            <a:srgbClr val="31599B"/>
          </a:solidFill>
          <a:ln w="12700">
            <a:solidFill>
              <a:srgbClr val="31599B"/>
            </a:solidFill>
            <a:prstDash val="solid"/>
          </a:ln>
        </p:spPr>
      </p:sp>
      <p:sp>
        <p:nvSpPr>
          <p:cNvPr id="6" name="Text 4"/>
          <p:cNvSpPr/>
          <p:nvPr/>
        </p:nvSpPr>
        <p:spPr>
          <a:xfrm>
            <a:off x="960120"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Noto Sans CJK SC" pitchFamily="34" charset="0"/>
                <a:ea typeface="Noto Sans CJK SC" pitchFamily="34" charset="-122"/>
                <a:cs typeface="Noto Sans CJK SC" pitchFamily="34" charset="-120"/>
              </a:rPr>
              <a:t>人形机器人全身运动</a:t>
            </a:r>
            <a:endParaRPr lang="en-US" sz="2400" dirty="0"/>
          </a:p>
        </p:txBody>
      </p:sp>
      <p:sp>
        <p:nvSpPr>
          <p:cNvPr id="7" name="Text 5"/>
          <p:cNvSpPr/>
          <p:nvPr/>
        </p:nvSpPr>
        <p:spPr>
          <a:xfrm>
            <a:off x="960120" y="2608439"/>
            <a:ext cx="2862072" cy="2807208"/>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Noto Sans CJK SC" pitchFamily="34" charset="0"/>
                <a:ea typeface="Noto Sans CJK SC" pitchFamily="34" charset="-122"/>
                <a:cs typeface="Noto Sans CJK SC" pitchFamily="34" charset="-120"/>
              </a:rPr>
              <a:t>通过动作捕捉数据快速复现舞蹈、跳跃等全身动作</a:t>
            </a:r>
            <a:endParaRPr lang="en-US" sz="2400" dirty="0"/>
          </a:p>
        </p:txBody>
      </p:sp>
      <p:sp>
        <p:nvSpPr>
          <p:cNvPr id="8" name="Shape 6"/>
          <p:cNvSpPr/>
          <p:nvPr/>
        </p:nvSpPr>
        <p:spPr>
          <a:xfrm>
            <a:off x="4434840" y="1664208"/>
            <a:ext cx="3246120" cy="3520440"/>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34840" y="1664208"/>
            <a:ext cx="64008" cy="3520440"/>
          </a:xfrm>
          <a:prstGeom prst="rect">
            <a:avLst/>
          </a:prstGeom>
          <a:solidFill>
            <a:srgbClr val="2F8E72"/>
          </a:solidFill>
          <a:ln w="12700">
            <a:solidFill>
              <a:srgbClr val="2F8E72"/>
            </a:solidFill>
            <a:prstDash val="solid"/>
          </a:ln>
        </p:spPr>
      </p:sp>
      <p:sp>
        <p:nvSpPr>
          <p:cNvPr id="10" name="Text 8"/>
          <p:cNvSpPr/>
          <p:nvPr/>
        </p:nvSpPr>
        <p:spPr>
          <a:xfrm>
            <a:off x="4645152"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Noto Sans CJK SC" pitchFamily="34" charset="0"/>
                <a:ea typeface="Noto Sans CJK SC" pitchFamily="34" charset="-122"/>
                <a:cs typeface="Noto Sans CJK SC" pitchFamily="34" charset="-120"/>
              </a:rPr>
              <a:t>灵巧手抓取</a:t>
            </a:r>
            <a:endParaRPr lang="en-US" sz="2400" dirty="0"/>
          </a:p>
        </p:txBody>
      </p:sp>
      <p:sp>
        <p:nvSpPr>
          <p:cNvPr id="11" name="Text 9"/>
          <p:cNvSpPr/>
          <p:nvPr/>
        </p:nvSpPr>
        <p:spPr>
          <a:xfrm>
            <a:off x="4645152" y="2608439"/>
            <a:ext cx="2862072" cy="2807208"/>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Noto Sans CJK SC" pitchFamily="34" charset="0"/>
                <a:ea typeface="Noto Sans CJK SC" pitchFamily="34" charset="-122"/>
                <a:cs typeface="Noto Sans CJK SC" pitchFamily="34" charset="-120"/>
              </a:rPr>
              <a:t>从人类演示中学习多指协调和接触序列</a:t>
            </a:r>
            <a:endParaRPr lang="en-US" sz="2400" dirty="0"/>
          </a:p>
        </p:txBody>
      </p:sp>
      <p:sp>
        <p:nvSpPr>
          <p:cNvPr id="12" name="Shape 10"/>
          <p:cNvSpPr/>
          <p:nvPr/>
        </p:nvSpPr>
        <p:spPr>
          <a:xfrm>
            <a:off x="8119872" y="1664208"/>
            <a:ext cx="3246120" cy="3520440"/>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119872" y="1664208"/>
            <a:ext cx="64008" cy="3520440"/>
          </a:xfrm>
          <a:prstGeom prst="rect">
            <a:avLst/>
          </a:prstGeom>
          <a:solidFill>
            <a:srgbClr val="C58A24"/>
          </a:solidFill>
          <a:ln w="12700">
            <a:solidFill>
              <a:srgbClr val="C58A24"/>
            </a:solidFill>
            <a:prstDash val="solid"/>
          </a:ln>
        </p:spPr>
      </p:sp>
      <p:sp>
        <p:nvSpPr>
          <p:cNvPr id="14" name="Text 12"/>
          <p:cNvSpPr/>
          <p:nvPr/>
        </p:nvSpPr>
        <p:spPr>
          <a:xfrm>
            <a:off x="8330184" y="1810512"/>
            <a:ext cx="28620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58A24"/>
                </a:solidFill>
                <a:latin typeface="Noto Sans CJK SC" pitchFamily="34" charset="0"/>
                <a:ea typeface="Noto Sans CJK SC" pitchFamily="34" charset="-122"/>
                <a:cs typeface="Noto Sans CJK SC" pitchFamily="34" charset="-120"/>
              </a:rPr>
              <a:t>导航与移动操作</a:t>
            </a:r>
            <a:endParaRPr lang="en-US" sz="2400" dirty="0"/>
          </a:p>
        </p:txBody>
      </p:sp>
      <p:sp>
        <p:nvSpPr>
          <p:cNvPr id="15" name="Text 13"/>
          <p:cNvSpPr/>
          <p:nvPr/>
        </p:nvSpPr>
        <p:spPr>
          <a:xfrm>
            <a:off x="8330184" y="2608439"/>
            <a:ext cx="2862072" cy="2807208"/>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Noto Sans CJK SC" pitchFamily="34" charset="0"/>
                <a:ea typeface="Noto Sans CJK SC" pitchFamily="34" charset="-122"/>
                <a:cs typeface="Noto Sans CJK SC" pitchFamily="34" charset="-120"/>
              </a:rPr>
              <a:t>利用专家轨迹降低随机探索成本，并提升真实任务训练效率</a:t>
            </a:r>
            <a:endParaRPr lang="en-US" sz="24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复杂环境中的两类突出难题</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C63F45"/>
          </a:solidFill>
          <a:ln w="12700">
            <a:solidFill>
              <a:srgbClr val="C63F45"/>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分布漂移</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546295"/>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学习策略在执行中一旦偏离专家轨迹，就可能进入训练数据未覆盖的状态，导致错误继续放大。</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C58A24"/>
          </a:solidFill>
          <a:ln w="12700">
            <a:solidFill>
              <a:srgbClr val="C58A24"/>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长时序决策</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546295"/>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复杂任务包含多个阶段和子目标，单层策略需要在长时间范围内保持一致性，学习困难。</a:t>
            </a:r>
            <a:endParaRPr lang="en-US" sz="2400" dirty="0">
              <a:latin typeface="微软雅黑" panose="020B0503020204020204" pitchFamily="34" charset="-122"/>
              <a:ea typeface="微软雅黑" panose="020B0503020204020204" pitchFamily="34" charset="-122"/>
            </a:endParaRPr>
          </a:p>
        </p:txBody>
      </p:sp>
      <p:sp>
        <p:nvSpPr>
          <p:cNvPr id="12" name="Text 10"/>
          <p:cNvSpPr/>
          <p:nvPr/>
        </p:nvSpPr>
        <p:spPr>
          <a:xfrm>
            <a:off x="758952" y="5430918"/>
            <a:ext cx="10698480" cy="329184"/>
          </a:xfrm>
          <a:prstGeom prst="rect">
            <a:avLst/>
          </a:prstGeom>
          <a:noFill/>
          <a:ln/>
        </p:spPr>
        <p:txBody>
          <a:bodyPr wrap="square" lIns="0" tIns="0" rIns="0" bIns="0" rtlCol="0" anchor="ctr">
            <a:normAutofit lnSpcReduction="10000"/>
          </a:bodyPr>
          <a:lstStyle/>
          <a:p>
            <a:pPr marL="0" indent="0" algn="ctr">
              <a:buNone/>
            </a:pPr>
            <a:r>
              <a:rPr lang="en-US" sz="2400" b="1" dirty="0" err="1">
                <a:solidFill>
                  <a:srgbClr val="24477D"/>
                </a:solidFill>
                <a:latin typeface="微软雅黑" panose="020B0503020204020204" pitchFamily="34" charset="-122"/>
                <a:ea typeface="微软雅黑" panose="020B0503020204020204" pitchFamily="34" charset="-122"/>
              </a:rPr>
              <a:t>因此</a:t>
            </a:r>
            <a:r>
              <a:rPr lang="zh-CN" altLang="en-US" sz="2400" b="1" dirty="0">
                <a:solidFill>
                  <a:srgbClr val="24477D"/>
                </a:solidFill>
                <a:latin typeface="微软雅黑" panose="020B0503020204020204" pitchFamily="34" charset="-122"/>
                <a:ea typeface="微软雅黑" panose="020B0503020204020204" pitchFamily="34" charset="-122"/>
              </a:rPr>
              <a:t>，引出</a:t>
            </a:r>
            <a:r>
              <a:rPr lang="en-US" sz="2400" b="1" dirty="0" err="1">
                <a:solidFill>
                  <a:srgbClr val="24477D"/>
                </a:solidFill>
                <a:latin typeface="微软雅黑" panose="020B0503020204020204" pitchFamily="34" charset="-122"/>
                <a:ea typeface="微软雅黑" panose="020B0503020204020204" pitchFamily="34" charset="-122"/>
              </a:rPr>
              <a:t>生成对抗模仿学习和分层模仿学习等高级方法</a:t>
            </a:r>
            <a:endParaRPr lang="en-US" sz="2400" b="1" dirty="0">
              <a:solidFill>
                <a:srgbClr val="24477D"/>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73</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4.4.1 GAIL：把模仿学习转化为分布匹配</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64208"/>
            <a:ext cx="10149840" cy="4069080"/>
          </a:xfrm>
          <a:prstGeom prst="rect">
            <a:avLst/>
          </a:prstGeom>
          <a:noFill/>
          <a:ln/>
        </p:spPr>
        <p:txBody>
          <a:bodyPr wrap="square" lIns="635" tIns="635" rIns="635" bIns="635" rtlCol="0" anchor="t">
            <a:normAutofit/>
          </a:bodyPr>
          <a:lstStyle/>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生成对抗模仿学习（GAIL）借鉴 GAN </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的思想</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不显式设计奖励函数，而是通过对抗训练让机器人状态—</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动作分布逐渐接近专家分布</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在机器人抓取中，可以模仿多模态动作分布，而不局限于单一确定路径</a:t>
            </a:r>
            <a:endParaRPr lang="en-US" sz="2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74</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GAIL 的两个核心组件</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C63F45"/>
          </a:solidFill>
          <a:ln w="12700">
            <a:solidFill>
              <a:srgbClr val="C63F45"/>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rmAutofit/>
          </a:bodyPr>
          <a:lstStyle/>
          <a:p>
            <a:pPr marL="0" indent="0">
              <a:buNone/>
            </a:pPr>
            <a:r>
              <a:rPr lang="en-US" sz="1750" b="1" dirty="0">
                <a:solidFill>
                  <a:srgbClr val="C63F45"/>
                </a:solidFill>
                <a:latin typeface="微软雅黑" panose="020B0503020204020204" pitchFamily="34" charset="-122"/>
                <a:ea typeface="微软雅黑" panose="020B0503020204020204" pitchFamily="34" charset="-122"/>
                <a:cs typeface="Noto Sans CJK SC" pitchFamily="34" charset="-120"/>
              </a:rPr>
              <a:t>判别器 D</a:t>
            </a:r>
            <a:endParaRPr lang="en-US" sz="1750" dirty="0">
              <a:latin typeface="微软雅黑" panose="020B0503020204020204" pitchFamily="34" charset="-122"/>
              <a:ea typeface="微软雅黑" panose="020B0503020204020204" pitchFamily="34" charset="-122"/>
            </a:endParaRPr>
          </a:p>
        </p:txBody>
      </p:sp>
      <p:sp>
        <p:nvSpPr>
          <p:cNvPr id="7" name="Text 5"/>
          <p:cNvSpPr/>
          <p:nvPr/>
        </p:nvSpPr>
        <p:spPr>
          <a:xfrm>
            <a:off x="987552" y="2439766"/>
            <a:ext cx="4690872" cy="280720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区分“专家轨迹”与“学习策略产生的轨迹”。</a:t>
            </a:r>
            <a:r>
              <a:rPr lang="en-US" sz="2000">
                <a:solidFill>
                  <a:srgbClr val="222833"/>
                </a:solidFill>
                <a:latin typeface="微软雅黑" panose="020B0503020204020204" pitchFamily="34" charset="-122"/>
                <a:ea typeface="微软雅黑" panose="020B0503020204020204" pitchFamily="34" charset="-122"/>
                <a:cs typeface="Noto Sans CJK SC" pitchFamily="34" charset="-120"/>
              </a:rPr>
              <a:t>判别结果形成训练信号</a:t>
            </a:r>
            <a:endParaRPr lang="en-US" sz="20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rmAutofit/>
          </a:bodyPr>
          <a:lstStyle/>
          <a:p>
            <a:pPr marL="0" indent="0">
              <a:buNone/>
            </a:pPr>
            <a:r>
              <a:rPr lang="en-US" sz="1750" b="1" dirty="0">
                <a:solidFill>
                  <a:srgbClr val="2F8E72"/>
                </a:solidFill>
                <a:latin typeface="微软雅黑" panose="020B0503020204020204" pitchFamily="34" charset="-122"/>
                <a:ea typeface="微软雅黑" panose="020B0503020204020204" pitchFamily="34" charset="-122"/>
                <a:cs typeface="Noto Sans CJK SC" pitchFamily="34" charset="-120"/>
              </a:rPr>
              <a:t>策略网络 π</a:t>
            </a:r>
            <a:endParaRPr lang="en-US" sz="1750" dirty="0">
              <a:latin typeface="微软雅黑" panose="020B0503020204020204" pitchFamily="34" charset="-122"/>
              <a:ea typeface="微软雅黑" panose="020B0503020204020204" pitchFamily="34" charset="-122"/>
            </a:endParaRPr>
          </a:p>
        </p:txBody>
      </p:sp>
      <p:sp>
        <p:nvSpPr>
          <p:cNvPr id="11" name="Text 9"/>
          <p:cNvSpPr/>
          <p:nvPr/>
        </p:nvSpPr>
        <p:spPr>
          <a:xfrm>
            <a:off x="6382512" y="2439766"/>
            <a:ext cx="4690872" cy="280720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生成机器人行为并尝试“欺骗”判别器，使自己的状态—动作分布更像专家。</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75</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GAIL 的极小极大目标</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631868" y="1515110"/>
            <a:ext cx="5303520" cy="493775"/>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4.4.1 GAIL</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53181" y="2185414"/>
            <a:ext cx="10607040" cy="798545"/>
          </a:xfrm>
          <a:prstGeom prst="rect">
            <a:avLst/>
          </a:prstGeom>
          <a:noFill/>
          <a:ln/>
        </p:spPr>
        <p:txBody>
          <a:bodyPr wrap="square" lIns="0" tIns="0" rIns="0" bIns="0" rtlCol="0" anchor="ctr">
            <a:normAutofit/>
          </a:bodyPr>
          <a:lstStyle/>
          <a:p>
            <a:pPr marL="457200" indent="-457200">
              <a:buFont typeface="Arial" panose="020B0604020202020204" pitchFamily="34" charset="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判别器希望区分专家与学习策略；策略则希望让自身分布难以被判别器识别</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2084833" y="3262634"/>
            <a:ext cx="7635240" cy="798546"/>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15.png"/>
          <p:cNvPicPr>
            <a:picLocks noChangeAspect="1"/>
          </p:cNvPicPr>
          <p:nvPr/>
        </p:nvPicPr>
        <p:blipFill>
          <a:blip r:embed="rId3"/>
          <a:srcRect l="22551" t="20296" r="23743" b="34297"/>
          <a:stretch>
            <a:fillRect/>
          </a:stretch>
        </p:blipFill>
        <p:spPr>
          <a:xfrm>
            <a:off x="2512380" y="3337561"/>
            <a:ext cx="6698301" cy="557784"/>
          </a:xfrm>
          <a:prstGeom prst="rect">
            <a:avLst/>
          </a:prstGeom>
        </p:spPr>
      </p:pic>
      <p:sp>
        <p:nvSpPr>
          <p:cNvPr id="13" name="Shape 10"/>
          <p:cNvSpPr/>
          <p:nvPr/>
        </p:nvSpPr>
        <p:spPr>
          <a:xfrm>
            <a:off x="793131" y="5538468"/>
            <a:ext cx="10716768" cy="737113"/>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32688" y="5589780"/>
            <a:ext cx="10241280" cy="539497"/>
          </a:xfrm>
          <a:prstGeom prst="rect">
            <a:avLst/>
          </a:prstGeom>
          <a:noFill/>
          <a:ln/>
        </p:spPr>
        <p:txBody>
          <a:bodyPr wrap="square" lIns="254" tIns="254" rIns="254" bIns="254" rtlCol="0" anchor="ctr">
            <a:normAutofit fontScale="92500"/>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GAIL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直接对齐状态</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动作分布，因此可作为缓解行为克隆分布漂移的一种思路</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76</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4ECC22A0-ACE6-7F61-384C-AB16760BC5F1}"/>
              </a:ext>
            </a:extLst>
          </p:cNvPr>
          <p:cNvSpPr/>
          <p:nvPr/>
        </p:nvSpPr>
        <p:spPr>
          <a:xfrm>
            <a:off x="922953" y="4608576"/>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184D06EF-C115-2229-308F-3D78167545C7}"/>
              </a:ext>
            </a:extLst>
          </p:cNvPr>
          <p:cNvSpPr/>
          <p:nvPr/>
        </p:nvSpPr>
        <p:spPr>
          <a:xfrm>
            <a:off x="2374369" y="4371470"/>
            <a:ext cx="7284766" cy="766822"/>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ρ</a:t>
            </a:r>
            <a:r>
              <a:rPr lang="en-US" altLang="zh-CN" sz="2400" baseline="-25000" dirty="0">
                <a:solidFill>
                  <a:srgbClr val="222833"/>
                </a:solidFill>
                <a:latin typeface="微软雅黑" panose="020B0503020204020204" pitchFamily="34" charset="-122"/>
                <a:ea typeface="微软雅黑" panose="020B0503020204020204" pitchFamily="34" charset="-122"/>
                <a:cs typeface="Noto Sans CJK SC" pitchFamily="34" charset="-120"/>
              </a:rPr>
              <a:t>π</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E</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：专家占用测度</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ρ</a:t>
            </a:r>
            <a:r>
              <a:rPr lang="en-US" altLang="zh-CN" sz="2400" baseline="-25000" dirty="0">
                <a:solidFill>
                  <a:srgbClr val="222833"/>
                </a:solidFill>
                <a:latin typeface="微软雅黑" panose="020B0503020204020204" pitchFamily="34" charset="-122"/>
                <a:ea typeface="微软雅黑" panose="020B0503020204020204" pitchFamily="34" charset="-122"/>
                <a:cs typeface="Noto Sans CJK SC" pitchFamily="34" charset="-120"/>
              </a:rPr>
              <a:t>π</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学习策略占用测度</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altLang="zh-CN" sz="2400" dirty="0">
              <a:latin typeface="微软雅黑" panose="020B0503020204020204" pitchFamily="34" charset="-122"/>
              <a:ea typeface="微软雅黑" panose="020B0503020204020204" pitchFamily="34" charset="-122"/>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D：判别器</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H(π)：</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熵正则</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λ：权重</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GAIL 的交替训练过程</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20240"/>
            <a:ext cx="2560320" cy="1417320"/>
          </a:xfrm>
          <a:prstGeom prst="roundRect">
            <a:avLst>
              <a:gd name="adj" fmla="val 2581"/>
            </a:avLst>
          </a:prstGeom>
          <a:solidFill>
            <a:srgbClr val="EDF2FA"/>
          </a:solidFill>
          <a:ln w="12700">
            <a:solidFill>
              <a:srgbClr val="DDE3EC"/>
            </a:solidFill>
            <a:prstDash val="solid"/>
          </a:ln>
        </p:spPr>
      </p:sp>
      <p:sp>
        <p:nvSpPr>
          <p:cNvPr id="5" name="Text 3"/>
          <p:cNvSpPr/>
          <p:nvPr/>
        </p:nvSpPr>
        <p:spPr>
          <a:xfrm>
            <a:off x="822960" y="2066544"/>
            <a:ext cx="384048" cy="384048"/>
          </a:xfrm>
          <a:prstGeom prst="rect">
            <a:avLst/>
          </a:prstGeom>
          <a:noFill/>
          <a:ln/>
        </p:spPr>
        <p:txBody>
          <a:bodyPr wrap="square" lIns="0" tIns="0" rIns="0" bIns="0" rtlCol="0" anchor="ctr"/>
          <a:lstStyle/>
          <a:p>
            <a:pPr marL="0" indent="0" algn="ctr">
              <a:buNone/>
            </a:pPr>
            <a:r>
              <a:rPr lang="en-US" sz="2000" b="1" dirty="0">
                <a:solidFill>
                  <a:srgbClr val="31599B"/>
                </a:solidFill>
                <a:latin typeface="Noto Sans CJK SC" pitchFamily="34" charset="0"/>
                <a:ea typeface="Noto Sans CJK SC" pitchFamily="34" charset="-122"/>
                <a:cs typeface="Noto Sans CJK SC" pitchFamily="34" charset="-120"/>
              </a:rPr>
              <a:t>1</a:t>
            </a:r>
            <a:endParaRPr lang="en-US" sz="2000" dirty="0"/>
          </a:p>
        </p:txBody>
      </p:sp>
      <p:sp>
        <p:nvSpPr>
          <p:cNvPr id="6" name="Text 4"/>
          <p:cNvSpPr/>
          <p:nvPr/>
        </p:nvSpPr>
        <p:spPr>
          <a:xfrm>
            <a:off x="130759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31599B"/>
                </a:solidFill>
                <a:latin typeface="Noto Sans CJK SC" pitchFamily="34" charset="0"/>
                <a:ea typeface="Noto Sans CJK SC" pitchFamily="34" charset="-122"/>
                <a:cs typeface="Noto Sans CJK SC" pitchFamily="34" charset="-120"/>
              </a:rPr>
              <a:t>采样专家轨迹</a:t>
            </a:r>
            <a:endParaRPr lang="en-US" sz="1600" dirty="0"/>
          </a:p>
        </p:txBody>
      </p:sp>
      <p:sp>
        <p:nvSpPr>
          <p:cNvPr id="7" name="Text 5"/>
          <p:cNvSpPr/>
          <p:nvPr/>
        </p:nvSpPr>
        <p:spPr>
          <a:xfrm>
            <a:off x="877824" y="2542032"/>
            <a:ext cx="2231136" cy="566928"/>
          </a:xfrm>
          <a:prstGeom prst="rect">
            <a:avLst/>
          </a:prstGeom>
          <a:noFill/>
          <a:ln/>
        </p:spPr>
        <p:txBody>
          <a:bodyPr wrap="square" lIns="0" tIns="0" rIns="0" bIns="0" rtlCol="0" anchor="ctr">
            <a:noAutofit/>
          </a:bodyPr>
          <a:lstStyle/>
          <a:p>
            <a:pPr marL="0" indent="0" algn="ctr">
              <a:buNone/>
            </a:pPr>
            <a:r>
              <a:rPr lang="en-US" sz="2000" dirty="0" err="1">
                <a:solidFill>
                  <a:srgbClr val="222833"/>
                </a:solidFill>
                <a:latin typeface="Noto Sans CJK SC" pitchFamily="34" charset="0"/>
                <a:ea typeface="Noto Sans CJK SC" pitchFamily="34" charset="-122"/>
                <a:cs typeface="Noto Sans CJK SC" pitchFamily="34" charset="-120"/>
              </a:rPr>
              <a:t>来自专家演示数据</a:t>
            </a:r>
            <a:endParaRPr lang="en-US" sz="2000" dirty="0"/>
          </a:p>
        </p:txBody>
      </p:sp>
      <p:sp>
        <p:nvSpPr>
          <p:cNvPr id="8" name="Shape 6"/>
          <p:cNvSpPr/>
          <p:nvPr/>
        </p:nvSpPr>
        <p:spPr>
          <a:xfrm>
            <a:off x="3328416" y="2414016"/>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20240"/>
            <a:ext cx="2560320" cy="1417320"/>
          </a:xfrm>
          <a:prstGeom prst="roundRect">
            <a:avLst>
              <a:gd name="adj" fmla="val 2581"/>
            </a:avLst>
          </a:prstGeom>
          <a:solidFill>
            <a:srgbClr val="EAF5F1"/>
          </a:solidFill>
          <a:ln w="12700">
            <a:solidFill>
              <a:srgbClr val="DDE3EC"/>
            </a:solidFill>
            <a:prstDash val="solid"/>
          </a:ln>
        </p:spPr>
      </p:sp>
      <p:sp>
        <p:nvSpPr>
          <p:cNvPr id="10" name="Text 8"/>
          <p:cNvSpPr/>
          <p:nvPr/>
        </p:nvSpPr>
        <p:spPr>
          <a:xfrm>
            <a:off x="3509010" y="2066544"/>
            <a:ext cx="384048" cy="384048"/>
          </a:xfrm>
          <a:prstGeom prst="rect">
            <a:avLst/>
          </a:prstGeom>
          <a:noFill/>
          <a:ln/>
        </p:spPr>
        <p:txBody>
          <a:bodyPr wrap="square" lIns="0" tIns="0" rIns="0" bIns="0" rtlCol="0" anchor="ctr"/>
          <a:lstStyle/>
          <a:p>
            <a:pPr marL="0" indent="0" algn="ctr">
              <a:buNone/>
            </a:pPr>
            <a:r>
              <a:rPr lang="en-US" sz="2000" b="1" dirty="0">
                <a:solidFill>
                  <a:srgbClr val="2F8E72"/>
                </a:solidFill>
                <a:latin typeface="Noto Sans CJK SC" pitchFamily="34" charset="0"/>
                <a:ea typeface="Noto Sans CJK SC" pitchFamily="34" charset="-122"/>
                <a:cs typeface="Noto Sans CJK SC" pitchFamily="34" charset="-120"/>
              </a:rPr>
              <a:t>2</a:t>
            </a:r>
            <a:endParaRPr lang="en-US" sz="2000" dirty="0"/>
          </a:p>
        </p:txBody>
      </p:sp>
      <p:sp>
        <p:nvSpPr>
          <p:cNvPr id="11" name="Text 9"/>
          <p:cNvSpPr/>
          <p:nvPr/>
        </p:nvSpPr>
        <p:spPr>
          <a:xfrm>
            <a:off x="399364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2F8E72"/>
                </a:solidFill>
                <a:latin typeface="Noto Sans CJK SC" pitchFamily="34" charset="0"/>
                <a:ea typeface="Noto Sans CJK SC" pitchFamily="34" charset="-122"/>
                <a:cs typeface="Noto Sans CJK SC" pitchFamily="34" charset="-120"/>
              </a:rPr>
              <a:t>采样策略轨迹</a:t>
            </a:r>
            <a:endParaRPr lang="en-US" sz="1600" dirty="0"/>
          </a:p>
        </p:txBody>
      </p:sp>
      <p:sp>
        <p:nvSpPr>
          <p:cNvPr id="12" name="Text 10"/>
          <p:cNvSpPr/>
          <p:nvPr/>
        </p:nvSpPr>
        <p:spPr>
          <a:xfrm>
            <a:off x="3563874" y="2542032"/>
            <a:ext cx="2231136" cy="566928"/>
          </a:xfrm>
          <a:prstGeom prst="rect">
            <a:avLst/>
          </a:prstGeom>
          <a:noFill/>
          <a:ln/>
        </p:spPr>
        <p:txBody>
          <a:bodyPr wrap="square" lIns="0" tIns="0" rIns="0" bIns="0" rtlCol="0" anchor="ctr">
            <a:noAutofit/>
          </a:bodyPr>
          <a:lstStyle/>
          <a:p>
            <a:pPr marL="0" indent="0" algn="ctr">
              <a:buNone/>
            </a:pPr>
            <a:r>
              <a:rPr lang="en-US" sz="2000" dirty="0" err="1">
                <a:solidFill>
                  <a:srgbClr val="222833"/>
                </a:solidFill>
                <a:latin typeface="Noto Sans CJK SC" pitchFamily="34" charset="0"/>
                <a:ea typeface="Noto Sans CJK SC" pitchFamily="34" charset="-122"/>
                <a:cs typeface="Noto Sans CJK SC" pitchFamily="34" charset="-120"/>
              </a:rPr>
              <a:t>当前机器人策略与环境交互</a:t>
            </a:r>
            <a:endParaRPr lang="en-US" sz="2000" dirty="0"/>
          </a:p>
        </p:txBody>
      </p:sp>
      <p:sp>
        <p:nvSpPr>
          <p:cNvPr id="13" name="Shape 11"/>
          <p:cNvSpPr/>
          <p:nvPr/>
        </p:nvSpPr>
        <p:spPr>
          <a:xfrm>
            <a:off x="6014466" y="2414016"/>
            <a:ext cx="347472" cy="438912"/>
          </a:xfrm>
          <a:prstGeom prst="chevron">
            <a:avLst/>
          </a:prstGeom>
          <a:solidFill>
            <a:srgbClr val="D8E2F1"/>
          </a:solidFill>
          <a:ln w="12700">
            <a:solidFill>
              <a:srgbClr val="D8E2F1"/>
            </a:solidFill>
            <a:prstDash val="solid"/>
          </a:ln>
        </p:spPr>
      </p:sp>
      <p:sp>
        <p:nvSpPr>
          <p:cNvPr id="14" name="Shape 12"/>
          <p:cNvSpPr/>
          <p:nvPr/>
        </p:nvSpPr>
        <p:spPr>
          <a:xfrm>
            <a:off x="6085332" y="1920240"/>
            <a:ext cx="2560320" cy="1417320"/>
          </a:xfrm>
          <a:prstGeom prst="roundRect">
            <a:avLst>
              <a:gd name="adj" fmla="val 2581"/>
            </a:avLst>
          </a:prstGeom>
          <a:solidFill>
            <a:srgbClr val="FFF4DE"/>
          </a:solidFill>
          <a:ln w="12700">
            <a:solidFill>
              <a:srgbClr val="DDE3EC"/>
            </a:solidFill>
            <a:prstDash val="solid"/>
          </a:ln>
        </p:spPr>
      </p:sp>
      <p:sp>
        <p:nvSpPr>
          <p:cNvPr id="15" name="Text 13"/>
          <p:cNvSpPr/>
          <p:nvPr/>
        </p:nvSpPr>
        <p:spPr>
          <a:xfrm>
            <a:off x="6195060" y="2066544"/>
            <a:ext cx="384048" cy="384048"/>
          </a:xfrm>
          <a:prstGeom prst="rect">
            <a:avLst/>
          </a:prstGeom>
          <a:noFill/>
          <a:ln/>
        </p:spPr>
        <p:txBody>
          <a:bodyPr wrap="square" lIns="0" tIns="0" rIns="0" bIns="0" rtlCol="0" anchor="ctr"/>
          <a:lstStyle/>
          <a:p>
            <a:pPr marL="0" indent="0" algn="ctr">
              <a:buNone/>
            </a:pPr>
            <a:r>
              <a:rPr lang="en-US" sz="2000" b="1" dirty="0">
                <a:solidFill>
                  <a:srgbClr val="C58A24"/>
                </a:solidFill>
                <a:latin typeface="Noto Sans CJK SC" pitchFamily="34" charset="0"/>
                <a:ea typeface="Noto Sans CJK SC" pitchFamily="34" charset="-122"/>
                <a:cs typeface="Noto Sans CJK SC" pitchFamily="34" charset="-120"/>
              </a:rPr>
              <a:t>3</a:t>
            </a:r>
            <a:endParaRPr lang="en-US" sz="2000" dirty="0"/>
          </a:p>
        </p:txBody>
      </p:sp>
      <p:sp>
        <p:nvSpPr>
          <p:cNvPr id="16" name="Text 14"/>
          <p:cNvSpPr/>
          <p:nvPr/>
        </p:nvSpPr>
        <p:spPr>
          <a:xfrm>
            <a:off x="667969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C58A24"/>
                </a:solidFill>
                <a:latin typeface="Noto Sans CJK SC" pitchFamily="34" charset="0"/>
                <a:ea typeface="Noto Sans CJK SC" pitchFamily="34" charset="-122"/>
                <a:cs typeface="Noto Sans CJK SC" pitchFamily="34" charset="-120"/>
              </a:rPr>
              <a:t>更新判别器</a:t>
            </a:r>
            <a:endParaRPr lang="en-US" sz="1600" dirty="0"/>
          </a:p>
        </p:txBody>
      </p:sp>
      <p:sp>
        <p:nvSpPr>
          <p:cNvPr id="17" name="Text 15"/>
          <p:cNvSpPr/>
          <p:nvPr/>
        </p:nvSpPr>
        <p:spPr>
          <a:xfrm>
            <a:off x="6249924" y="2542032"/>
            <a:ext cx="2231136" cy="566928"/>
          </a:xfrm>
          <a:prstGeom prst="rect">
            <a:avLst/>
          </a:prstGeom>
          <a:noFill/>
          <a:ln/>
        </p:spPr>
        <p:txBody>
          <a:bodyPr wrap="square" lIns="0" tIns="0" rIns="0" bIns="0" rtlCol="0" anchor="ctr">
            <a:noAutofit/>
          </a:bodyPr>
          <a:lstStyle/>
          <a:p>
            <a:pPr marL="0" indent="0" algn="ctr">
              <a:buNone/>
            </a:pPr>
            <a:r>
              <a:rPr lang="en-US" sz="2000" dirty="0" err="1">
                <a:solidFill>
                  <a:srgbClr val="222833"/>
                </a:solidFill>
                <a:latin typeface="Noto Sans CJK SC" pitchFamily="34" charset="0"/>
                <a:ea typeface="Noto Sans CJK SC" pitchFamily="34" charset="-122"/>
                <a:cs typeface="Noto Sans CJK SC" pitchFamily="34" charset="-120"/>
              </a:rPr>
              <a:t>做二分类，使专家与策略更可区分</a:t>
            </a:r>
            <a:endParaRPr lang="en-US" sz="2000" dirty="0"/>
          </a:p>
        </p:txBody>
      </p:sp>
      <p:sp>
        <p:nvSpPr>
          <p:cNvPr id="18" name="Shape 16"/>
          <p:cNvSpPr/>
          <p:nvPr/>
        </p:nvSpPr>
        <p:spPr>
          <a:xfrm>
            <a:off x="8700516" y="2414016"/>
            <a:ext cx="347472" cy="438912"/>
          </a:xfrm>
          <a:prstGeom prst="chevron">
            <a:avLst/>
          </a:prstGeom>
          <a:solidFill>
            <a:srgbClr val="D8E2F1"/>
          </a:solidFill>
          <a:ln w="12700">
            <a:solidFill>
              <a:srgbClr val="D8E2F1"/>
            </a:solidFill>
            <a:prstDash val="solid"/>
          </a:ln>
        </p:spPr>
      </p:sp>
      <p:sp>
        <p:nvSpPr>
          <p:cNvPr id="19" name="Shape 17"/>
          <p:cNvSpPr/>
          <p:nvPr/>
        </p:nvSpPr>
        <p:spPr>
          <a:xfrm>
            <a:off x="8771382" y="1920240"/>
            <a:ext cx="2560320" cy="1417320"/>
          </a:xfrm>
          <a:prstGeom prst="roundRect">
            <a:avLst>
              <a:gd name="adj" fmla="val 2581"/>
            </a:avLst>
          </a:prstGeom>
          <a:solidFill>
            <a:srgbClr val="FDECEE"/>
          </a:solidFill>
          <a:ln w="12700">
            <a:solidFill>
              <a:srgbClr val="DDE3EC"/>
            </a:solidFill>
            <a:prstDash val="solid"/>
          </a:ln>
        </p:spPr>
      </p:sp>
      <p:sp>
        <p:nvSpPr>
          <p:cNvPr id="20" name="Text 18"/>
          <p:cNvSpPr/>
          <p:nvPr/>
        </p:nvSpPr>
        <p:spPr>
          <a:xfrm>
            <a:off x="8881110" y="2066544"/>
            <a:ext cx="384048" cy="384048"/>
          </a:xfrm>
          <a:prstGeom prst="rect">
            <a:avLst/>
          </a:prstGeom>
          <a:noFill/>
          <a:ln/>
        </p:spPr>
        <p:txBody>
          <a:bodyPr wrap="square" lIns="0" tIns="0" rIns="0" bIns="0" rtlCol="0" anchor="ctr"/>
          <a:lstStyle/>
          <a:p>
            <a:pPr marL="0" indent="0" algn="ctr">
              <a:buNone/>
            </a:pPr>
            <a:r>
              <a:rPr lang="en-US" sz="2000" b="1" dirty="0">
                <a:solidFill>
                  <a:srgbClr val="C63F45"/>
                </a:solidFill>
                <a:latin typeface="Noto Sans CJK SC" pitchFamily="34" charset="0"/>
                <a:ea typeface="Noto Sans CJK SC" pitchFamily="34" charset="-122"/>
                <a:cs typeface="Noto Sans CJK SC" pitchFamily="34" charset="-120"/>
              </a:rPr>
              <a:t>4</a:t>
            </a:r>
            <a:endParaRPr lang="en-US" sz="2000" dirty="0"/>
          </a:p>
        </p:txBody>
      </p:sp>
      <p:sp>
        <p:nvSpPr>
          <p:cNvPr id="21" name="Text 19"/>
          <p:cNvSpPr/>
          <p:nvPr/>
        </p:nvSpPr>
        <p:spPr>
          <a:xfrm>
            <a:off x="936574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C63F45"/>
                </a:solidFill>
                <a:latin typeface="Noto Sans CJK SC" pitchFamily="34" charset="0"/>
                <a:ea typeface="Noto Sans CJK SC" pitchFamily="34" charset="-122"/>
                <a:cs typeface="Noto Sans CJK SC" pitchFamily="34" charset="-120"/>
              </a:rPr>
              <a:t>更新策略</a:t>
            </a:r>
            <a:endParaRPr lang="en-US" sz="1600" dirty="0"/>
          </a:p>
        </p:txBody>
      </p:sp>
      <p:sp>
        <p:nvSpPr>
          <p:cNvPr id="22" name="Text 20"/>
          <p:cNvSpPr/>
          <p:nvPr/>
        </p:nvSpPr>
        <p:spPr>
          <a:xfrm>
            <a:off x="8935974" y="2542032"/>
            <a:ext cx="2231136" cy="731520"/>
          </a:xfrm>
          <a:prstGeom prst="rect">
            <a:avLst/>
          </a:prstGeom>
          <a:noFill/>
          <a:ln/>
        </p:spPr>
        <p:txBody>
          <a:bodyPr wrap="square" lIns="0" tIns="0" rIns="0" bIns="0" rtlCol="0" anchor="ctr">
            <a:normAutofit/>
          </a:bodyPr>
          <a:lstStyle/>
          <a:p>
            <a:pPr marL="0" indent="0" algn="ctr">
              <a:buNone/>
            </a:pPr>
            <a:r>
              <a:rPr lang="en-US" dirty="0">
                <a:solidFill>
                  <a:srgbClr val="222833"/>
                </a:solidFill>
                <a:latin typeface="Noto Sans CJK SC" pitchFamily="34" charset="0"/>
                <a:ea typeface="Noto Sans CJK SC" pitchFamily="34" charset="-122"/>
                <a:cs typeface="Noto Sans CJK SC" pitchFamily="34" charset="-120"/>
              </a:rPr>
              <a:t>用判别器信号作为奖励，常结合 PPO/TRPO</a:t>
            </a:r>
            <a:endParaRPr lang="en-US" dirty="0"/>
          </a:p>
        </p:txBody>
      </p:sp>
      <p:sp>
        <p:nvSpPr>
          <p:cNvPr id="23" name="Text 21"/>
          <p:cNvSpPr/>
          <p:nvPr/>
        </p:nvSpPr>
        <p:spPr>
          <a:xfrm>
            <a:off x="1874520" y="4160520"/>
            <a:ext cx="8321040" cy="512064"/>
          </a:xfrm>
          <a:prstGeom prst="rect">
            <a:avLst/>
          </a:prstGeom>
          <a:noFill/>
          <a:ln/>
        </p:spPr>
        <p:txBody>
          <a:bodyPr wrap="square" lIns="0" tIns="0" rIns="0" bIns="0" rtlCol="0" anchor="ctr"/>
          <a:lstStyle/>
          <a:p>
            <a:pPr marL="0" indent="0" algn="ctr">
              <a:buNone/>
            </a:pPr>
            <a:r>
              <a:rPr lang="en-US" sz="1900" b="1" dirty="0">
                <a:solidFill>
                  <a:srgbClr val="24477D"/>
                </a:solidFill>
                <a:latin typeface="Noto Sans CJK SC" pitchFamily="34" charset="0"/>
                <a:ea typeface="Noto Sans CJK SC" pitchFamily="34" charset="-122"/>
                <a:cs typeface="Noto Sans CJK SC" pitchFamily="34" charset="-120"/>
              </a:rPr>
              <a:t>判别器相当于提供一个随训练变化的“自适应奖励”。</a:t>
            </a:r>
            <a:endParaRPr lang="en-US" sz="19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GAIL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的框架</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15.png"/>
          <p:cNvPicPr>
            <a:picLocks noChangeAspect="1"/>
          </p:cNvPicPr>
          <p:nvPr/>
        </p:nvPicPr>
        <p:blipFill>
          <a:blip r:embed="rId3"/>
          <a:stretch>
            <a:fillRect/>
          </a:stretch>
        </p:blipFill>
        <p:spPr>
          <a:xfrm>
            <a:off x="777240" y="1722092"/>
            <a:ext cx="7360920" cy="4191055"/>
          </a:xfrm>
          <a:prstGeom prst="rect">
            <a:avLst/>
          </a:prstGeom>
        </p:spPr>
      </p:pic>
      <p:sp>
        <p:nvSpPr>
          <p:cNvPr id="5" name="Text 2"/>
          <p:cNvSpPr/>
          <p:nvPr/>
        </p:nvSpPr>
        <p:spPr>
          <a:xfrm>
            <a:off x="777240" y="6126480"/>
            <a:ext cx="7360920" cy="256032"/>
          </a:xfrm>
          <a:prstGeom prst="rect">
            <a:avLst/>
          </a:prstGeom>
          <a:noFill/>
          <a:ln/>
        </p:spPr>
        <p:txBody>
          <a:bodyPr wrap="square" lIns="0" tIns="0" rIns="0" bIns="0" rtlCol="0" anchor="ctr">
            <a:normAutofit/>
          </a:bodyPr>
          <a:lstStyle/>
          <a:p>
            <a:pPr marL="0" indent="0" algn="ctr">
              <a:buNone/>
            </a:pPr>
            <a:r>
              <a:rPr lang="en-US" sz="1600" b="1" dirty="0">
                <a:solidFill>
                  <a:schemeClr val="accent1">
                    <a:lumMod val="50000"/>
                  </a:schemeClr>
                </a:solidFill>
                <a:latin typeface="微软雅黑" panose="020B0503020204020204" pitchFamily="34" charset="-122"/>
                <a:ea typeface="微软雅黑" panose="020B0503020204020204" pitchFamily="34" charset="-122"/>
              </a:rPr>
              <a:t>GAIL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的框架</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Text 3"/>
          <p:cNvSpPr/>
          <p:nvPr/>
        </p:nvSpPr>
        <p:spPr>
          <a:xfrm>
            <a:off x="8394192" y="1755648"/>
            <a:ext cx="2788920" cy="3840480"/>
          </a:xfrm>
          <a:prstGeom prst="rect">
            <a:avLst/>
          </a:prstGeom>
          <a:noFill/>
          <a:ln/>
        </p:spPr>
        <p:txBody>
          <a:bodyPr wrap="square" lIns="635" tIns="635" rIns="635" bIns="635" rtlCol="0" anchor="t">
            <a:normAutofit/>
          </a:bodyPr>
          <a:lstStyle/>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专家示范与当前策略轨迹同时进入判别器。</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判别器输出“像专家”的程度。</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策略根据判别器反馈更新，从而逐步逼近专家分布。</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78</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GAIL 的优势、局限与应用</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45920"/>
            <a:ext cx="3246120" cy="3611880"/>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49808" y="1645920"/>
            <a:ext cx="64008" cy="3611880"/>
          </a:xfrm>
          <a:prstGeom prst="rect">
            <a:avLst/>
          </a:prstGeom>
          <a:solidFill>
            <a:srgbClr val="2F8E72"/>
          </a:solidFill>
          <a:ln w="12700">
            <a:solidFill>
              <a:srgbClr val="2F8E72"/>
            </a:solidFill>
            <a:prstDash val="solid"/>
          </a:ln>
        </p:spPr>
      </p:sp>
      <p:sp>
        <p:nvSpPr>
          <p:cNvPr id="6" name="Text 4"/>
          <p:cNvSpPr/>
          <p:nvPr/>
        </p:nvSpPr>
        <p:spPr>
          <a:xfrm>
            <a:off x="960120" y="1792224"/>
            <a:ext cx="28620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优势</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60120" y="2385965"/>
            <a:ext cx="2862072" cy="289864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不需要显式奖励函数；可直接处理高维状态—动作分布。</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434840" y="1645920"/>
            <a:ext cx="3246120" cy="3611880"/>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34840" y="1645920"/>
            <a:ext cx="64008" cy="3611880"/>
          </a:xfrm>
          <a:prstGeom prst="rect">
            <a:avLst/>
          </a:prstGeom>
          <a:solidFill>
            <a:srgbClr val="C63F45"/>
          </a:solidFill>
          <a:ln w="12700">
            <a:solidFill>
              <a:srgbClr val="C63F45"/>
            </a:solidFill>
            <a:prstDash val="solid"/>
          </a:ln>
        </p:spPr>
      </p:sp>
      <p:sp>
        <p:nvSpPr>
          <p:cNvPr id="10" name="Text 8"/>
          <p:cNvSpPr/>
          <p:nvPr/>
        </p:nvSpPr>
        <p:spPr>
          <a:xfrm>
            <a:off x="4645152" y="1792224"/>
            <a:ext cx="2862072"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局限</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645152" y="2385965"/>
            <a:ext cx="2862072" cy="289864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对抗训练可能不稳定，对超参数较敏感。</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8119872" y="1645920"/>
            <a:ext cx="3246120" cy="3611880"/>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119872" y="1645920"/>
            <a:ext cx="64008" cy="3611880"/>
          </a:xfrm>
          <a:prstGeom prst="rect">
            <a:avLst/>
          </a:prstGeom>
          <a:solidFill>
            <a:srgbClr val="C58A24"/>
          </a:solidFill>
          <a:ln w="12700">
            <a:solidFill>
              <a:srgbClr val="C58A24"/>
            </a:solidFill>
            <a:prstDash val="solid"/>
          </a:ln>
        </p:spPr>
      </p:sp>
      <p:sp>
        <p:nvSpPr>
          <p:cNvPr id="14" name="Text 12"/>
          <p:cNvSpPr/>
          <p:nvPr/>
        </p:nvSpPr>
        <p:spPr>
          <a:xfrm>
            <a:off x="8330184" y="1792224"/>
            <a:ext cx="286207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应用</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330184" y="2385965"/>
            <a:ext cx="2862072" cy="289864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自动驾驶可从人类数据学习鲁棒策略；人形机器人可模仿复杂动作序列。</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79</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4.4.2 分层模仿学习：把长任务拆成不同时间尺度</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64208"/>
            <a:ext cx="10149840" cy="4069080"/>
          </a:xfrm>
          <a:prstGeom prst="rect">
            <a:avLst/>
          </a:prstGeom>
          <a:noFill/>
          <a:ln/>
        </p:spPr>
        <p:txBody>
          <a:bodyPr wrap="square" lIns="635" tIns="635" rIns="635" bIns="635" rtlCol="0" anchor="t">
            <a:normAutofit/>
          </a:bodyPr>
          <a:lstStyle/>
          <a:p>
            <a:pPr marL="228600" indent="-228600">
              <a:lnSpc>
                <a:spcPct val="150000"/>
              </a:lnSpc>
              <a:buSzPct val="100000"/>
              <a:buChar char="•"/>
            </a:pPr>
            <a:r>
              <a:rPr lang="en-US" sz="2800" dirty="0" err="1">
                <a:solidFill>
                  <a:srgbClr val="222833"/>
                </a:solidFill>
                <a:latin typeface="Noto Sans CJK SC" pitchFamily="34" charset="0"/>
                <a:ea typeface="Noto Sans CJK SC" pitchFamily="34" charset="-122"/>
                <a:cs typeface="Noto Sans CJK SC" pitchFamily="34" charset="-120"/>
              </a:rPr>
              <a:t>单层模仿学习在长时序跨度和稀疏奖励任务中学习困难</a:t>
            </a:r>
            <a:endParaRPr lang="en-US" sz="2800" dirty="0"/>
          </a:p>
          <a:p>
            <a:pPr marL="228600" indent="-228600">
              <a:lnSpc>
                <a:spcPct val="150000"/>
              </a:lnSpc>
              <a:buSzPct val="100000"/>
              <a:buChar char="•"/>
            </a:pPr>
            <a:r>
              <a:rPr lang="en-US" sz="2800" dirty="0" err="1">
                <a:solidFill>
                  <a:srgbClr val="222833"/>
                </a:solidFill>
                <a:latin typeface="Noto Sans CJK SC" pitchFamily="34" charset="0"/>
                <a:ea typeface="Noto Sans CJK SC" pitchFamily="34" charset="-122"/>
                <a:cs typeface="Noto Sans CJK SC" pitchFamily="34" charset="-120"/>
              </a:rPr>
              <a:t>分层模仿学习（HIL）通过高层策略选择子目标，由低层策略完成具体动作</a:t>
            </a:r>
            <a:endParaRPr lang="en-US" sz="2800" dirty="0"/>
          </a:p>
          <a:p>
            <a:pPr marL="228600" indent="-228600">
              <a:lnSpc>
                <a:spcPct val="150000"/>
              </a:lnSpc>
              <a:buSzPct val="100000"/>
              <a:buChar char="•"/>
            </a:pPr>
            <a:r>
              <a:rPr lang="en-US" sz="2800" dirty="0" err="1">
                <a:solidFill>
                  <a:srgbClr val="222833"/>
                </a:solidFill>
                <a:latin typeface="Noto Sans CJK SC" pitchFamily="34" charset="0"/>
                <a:ea typeface="Noto Sans CJK SC" pitchFamily="34" charset="-122"/>
                <a:cs typeface="Noto Sans CJK SC" pitchFamily="34" charset="-120"/>
              </a:rPr>
              <a:t>时间抽象让策略不必在每一个原子时间步都重新解决完整任务</a:t>
            </a:r>
            <a:endParaRPr lang="en-US" sz="28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fontScale="92500"/>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两层分层策略：高层选“做什么”，低层决定“怎么做”</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91640"/>
            <a:ext cx="5074920" cy="3493008"/>
          </a:xfrm>
          <a:prstGeom prst="roundRect">
            <a:avLst>
              <a:gd name="adj" fmla="val 130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91640"/>
            <a:ext cx="64008" cy="3493008"/>
          </a:xfrm>
          <a:prstGeom prst="rect">
            <a:avLst/>
          </a:prstGeom>
          <a:solidFill>
            <a:srgbClr val="31599B"/>
          </a:solidFill>
          <a:ln w="12700">
            <a:solidFill>
              <a:srgbClr val="31599B"/>
            </a:solidFill>
            <a:prstDash val="solid"/>
          </a:ln>
        </p:spPr>
      </p:sp>
      <p:sp>
        <p:nvSpPr>
          <p:cNvPr id="6" name="Text 4"/>
          <p:cNvSpPr/>
          <p:nvPr/>
        </p:nvSpPr>
        <p:spPr>
          <a:xfrm>
            <a:off x="987552" y="1837944"/>
            <a:ext cx="4690872" cy="329184"/>
          </a:xfrm>
          <a:prstGeom prst="rect">
            <a:avLst/>
          </a:prstGeom>
          <a:noFill/>
          <a:ln/>
        </p:spPr>
        <p:txBody>
          <a:bodyPr wrap="square" lIns="0" tIns="0" rIns="0" bIns="0" rtlCol="0" anchor="ctr">
            <a:noAutofit/>
          </a:bodyP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高层策略</a:t>
            </a: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 π</a:t>
            </a:r>
            <a:r>
              <a:rPr lang="en-US" sz="2400" b="1" baseline="-25000" dirty="0">
                <a:solidFill>
                  <a:srgbClr val="31599B"/>
                </a:solidFill>
                <a:latin typeface="微软雅黑" panose="020B0503020204020204" pitchFamily="34" charset="-122"/>
                <a:ea typeface="微软雅黑" panose="020B0503020204020204" pitchFamily="34" charset="-122"/>
                <a:cs typeface="Noto Sans CJK SC" pitchFamily="34" charset="-120"/>
              </a:rPr>
              <a:t>hi</a:t>
            </a: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(g|s)</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673858"/>
            <a:ext cx="46908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在当前状态 s 下选择子目标 g，例如“接近物体”“抓取”“</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移动到目标区域</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等</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91640"/>
            <a:ext cx="5074920" cy="3493008"/>
          </a:xfrm>
          <a:prstGeom prst="roundRect">
            <a:avLst>
              <a:gd name="adj" fmla="val 130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91640"/>
            <a:ext cx="64008" cy="3493008"/>
          </a:xfrm>
          <a:prstGeom prst="rect">
            <a:avLst/>
          </a:prstGeom>
          <a:solidFill>
            <a:srgbClr val="2F8E72"/>
          </a:solidFill>
          <a:ln w="12700">
            <a:solidFill>
              <a:srgbClr val="2F8E72"/>
            </a:solidFill>
            <a:prstDash val="solid"/>
          </a:ln>
        </p:spPr>
      </p:sp>
      <p:sp>
        <p:nvSpPr>
          <p:cNvPr id="10" name="Text 8"/>
          <p:cNvSpPr/>
          <p:nvPr/>
        </p:nvSpPr>
        <p:spPr>
          <a:xfrm>
            <a:off x="6382512" y="1837944"/>
            <a:ext cx="4690872" cy="329184"/>
          </a:xfrm>
          <a:prstGeom prst="rect">
            <a:avLst/>
          </a:prstGeom>
          <a:noFill/>
          <a:ln/>
        </p:spPr>
        <p:txBody>
          <a:bodyPr wrap="square" lIns="0" tIns="0" rIns="0" bIns="0" rtlCol="0" anchor="ctr">
            <a:normAutofit lnSpcReduction="10000"/>
          </a:bodyPr>
          <a:lstStyle/>
          <a:p>
            <a:pPr marL="0" indent="0">
              <a:buNone/>
            </a:pPr>
            <a:r>
              <a:rPr lang="en-US" sz="2400" b="1" dirty="0" err="1">
                <a:solidFill>
                  <a:srgbClr val="2F8E72"/>
                </a:solidFill>
                <a:latin typeface="微软雅黑" panose="020B0503020204020204" pitchFamily="34" charset="-122"/>
                <a:ea typeface="微软雅黑" panose="020B0503020204020204" pitchFamily="34" charset="-122"/>
                <a:cs typeface="Noto Sans CJK SC" pitchFamily="34" charset="-120"/>
              </a:rPr>
              <a:t>低层策略</a:t>
            </a: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 π</a:t>
            </a:r>
            <a:r>
              <a:rPr lang="en-US" sz="2400" b="1" baseline="-25000" dirty="0">
                <a:solidFill>
                  <a:srgbClr val="2F8E72"/>
                </a:solidFill>
                <a:latin typeface="微软雅黑" panose="020B0503020204020204" pitchFamily="34" charset="-122"/>
                <a:ea typeface="微软雅黑" panose="020B0503020204020204" pitchFamily="34" charset="-122"/>
                <a:cs typeface="Noto Sans CJK SC" pitchFamily="34" charset="-120"/>
              </a:rPr>
              <a:t>lo</a:t>
            </a: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(a|s,g)</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673858"/>
            <a:ext cx="4690872" cy="2779776"/>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给定当前状态和子目标，输出具体原子动作</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a</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81</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分层轨迹：状态、子目标与局部轨迹交替出现</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614680" y="1508759"/>
            <a:ext cx="5303520" cy="582165"/>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4.4.2 分层模仿学习</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2361562"/>
            <a:ext cx="10607040" cy="493776"/>
          </a:xfrm>
          <a:prstGeom prst="rect">
            <a:avLst/>
          </a:prstGeom>
          <a:noFill/>
          <a:ln/>
        </p:spPr>
        <p:txBody>
          <a:bodyPr wrap="square" lIns="0" tIns="0" rIns="0" bIns="0"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每隔 c 个时间步由高层选择一次子目标，并由低层执行对应局部轨迹。</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713232" y="3230880"/>
            <a:ext cx="7635240" cy="792480"/>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16.png"/>
          <p:cNvPicPr>
            <a:picLocks noChangeAspect="1"/>
          </p:cNvPicPr>
          <p:nvPr/>
        </p:nvPicPr>
        <p:blipFill>
          <a:blip r:embed="rId3"/>
          <a:srcRect l="22714" t="31120" r="23699" b="29963"/>
          <a:stretch>
            <a:fillRect/>
          </a:stretch>
        </p:blipFill>
        <p:spPr>
          <a:xfrm>
            <a:off x="1078410" y="3267460"/>
            <a:ext cx="6904884" cy="670553"/>
          </a:xfrm>
          <a:prstGeom prst="rect">
            <a:avLst/>
          </a:prstGeom>
        </p:spPr>
      </p:pic>
      <p:sp>
        <p:nvSpPr>
          <p:cNvPr id="13" name="Shape 10"/>
          <p:cNvSpPr/>
          <p:nvPr/>
        </p:nvSpPr>
        <p:spPr>
          <a:xfrm>
            <a:off x="713232" y="5362448"/>
            <a:ext cx="10716768" cy="650240"/>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32688" y="5362448"/>
            <a:ext cx="10241280" cy="603504"/>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分层轨迹把长时序任务组织为一段段“子目标 +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局部执行</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82</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562C1906-A23A-4C00-B7E9-3C41C086F447}"/>
              </a:ext>
            </a:extLst>
          </p:cNvPr>
          <p:cNvSpPr/>
          <p:nvPr/>
        </p:nvSpPr>
        <p:spPr>
          <a:xfrm>
            <a:off x="922953" y="4608576"/>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B3E36C41-27A0-B86C-4FF6-82F7A03CCEA7}"/>
              </a:ext>
            </a:extLst>
          </p:cNvPr>
          <p:cNvSpPr/>
          <p:nvPr/>
        </p:nvSpPr>
        <p:spPr>
          <a:xfrm>
            <a:off x="2374369" y="4371470"/>
            <a:ext cx="7284766" cy="766822"/>
          </a:xfrm>
          <a:prstGeom prst="rect">
            <a:avLst/>
          </a:prstGeom>
          <a:noFill/>
          <a:ln/>
        </p:spPr>
        <p:txBody>
          <a:bodyPr wrap="square" lIns="127" tIns="127" rIns="127" bIns="127" rtlCol="0" anchor="t">
            <a:noAutofit/>
          </a:bodyPr>
          <a:lstStyle/>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s</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kc</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：高层决策时刻状态</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g</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k</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：子目标</a:t>
            </a:r>
            <a:endParaRPr lang="en-US" altLang="zh-CN" sz="2400" dirty="0">
              <a:latin typeface="微软雅黑" panose="020B0503020204020204" pitchFamily="34" charset="-122"/>
              <a:ea typeface="微软雅黑" panose="020B0503020204020204" pitchFamily="34" charset="-122"/>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τ</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k</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：子目标对应局部轨迹</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c：子目标持续步数</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联合策略：高层与低层共同定义完整行为</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599440" y="1594611"/>
            <a:ext cx="5303520" cy="256032"/>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4.4.2 分层模仿学习</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2177290"/>
            <a:ext cx="10607040" cy="493776"/>
          </a:xfrm>
          <a:prstGeom prst="rect">
            <a:avLst/>
          </a:prstGeom>
          <a:noFill/>
          <a:ln/>
        </p:spPr>
        <p:txBody>
          <a:bodyPr wrap="square" lIns="0" tIns="0" rIns="0" bIns="0" rtlCol="0" anchor="ctr">
            <a:normAutofit/>
          </a:bodyPr>
          <a:lstStyle/>
          <a:p>
            <a:pPr marL="342900" indent="-342900">
              <a:buFont typeface="Arial" panose="020B0604020202020204" pitchFamily="34" charset="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联合策略由高层子目标策略和低层动作策略组合</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2394712" y="3263899"/>
            <a:ext cx="7635240" cy="741680"/>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17.png"/>
          <p:cNvPicPr>
            <a:picLocks noChangeAspect="1"/>
          </p:cNvPicPr>
          <p:nvPr/>
        </p:nvPicPr>
        <p:blipFill>
          <a:blip r:embed="rId3"/>
          <a:srcRect l="38476" t="38489" r="39205" b="35289"/>
          <a:stretch>
            <a:fillRect/>
          </a:stretch>
        </p:blipFill>
        <p:spPr>
          <a:xfrm>
            <a:off x="4460239" y="3401058"/>
            <a:ext cx="2513527" cy="484634"/>
          </a:xfrm>
          <a:prstGeom prst="rect">
            <a:avLst/>
          </a:prstGeom>
        </p:spPr>
      </p:pic>
      <p:sp>
        <p:nvSpPr>
          <p:cNvPr id="13" name="Shape 10"/>
          <p:cNvSpPr/>
          <p:nvPr/>
        </p:nvSpPr>
        <p:spPr>
          <a:xfrm>
            <a:off x="713232" y="4454144"/>
            <a:ext cx="10716768" cy="986536"/>
          </a:xfrm>
          <a:prstGeom prst="roundRect">
            <a:avLst>
              <a:gd name="adj" fmla="val 2817"/>
            </a:avLst>
          </a:prstGeom>
          <a:solidFill>
            <a:srgbClr val="FFF4DE"/>
          </a:solidFill>
          <a:ln w="12700">
            <a:solidFill>
              <a:srgbClr val="F0D89A"/>
            </a:solidFill>
            <a:prstDash val="solid"/>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14" name="Text 11"/>
          <p:cNvSpPr/>
          <p:nvPr/>
        </p:nvSpPr>
        <p:spPr>
          <a:xfrm>
            <a:off x="785368" y="4590288"/>
            <a:ext cx="10470896"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高层负责时间抽象，低层负责精细执行，二者共同在专家数据条件下最大化累积回报。</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83</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分层模仿学习为什么适合复杂长任务？</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3246120" cy="349300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49808" y="1664208"/>
            <a:ext cx="64008" cy="3493008"/>
          </a:xfrm>
          <a:prstGeom prst="rect">
            <a:avLst/>
          </a:prstGeom>
          <a:solidFill>
            <a:srgbClr val="31599B"/>
          </a:solidFill>
          <a:ln w="12700">
            <a:solidFill>
              <a:srgbClr val="31599B"/>
            </a:solidFill>
            <a:prstDash val="solid"/>
          </a:ln>
        </p:spPr>
      </p:sp>
      <p:sp>
        <p:nvSpPr>
          <p:cNvPr id="6" name="Text 4"/>
          <p:cNvSpPr/>
          <p:nvPr/>
        </p:nvSpPr>
        <p:spPr>
          <a:xfrm>
            <a:off x="960120" y="1810512"/>
            <a:ext cx="28620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时间抽象</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60120" y="2601976"/>
            <a:ext cx="28620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高层不必每一步都做完整决策，而是在较长时间尺度上选择子目标。</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434840" y="1664208"/>
            <a:ext cx="3246120" cy="349300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34840" y="1664208"/>
            <a:ext cx="64008" cy="3493008"/>
          </a:xfrm>
          <a:prstGeom prst="rect">
            <a:avLst/>
          </a:prstGeom>
          <a:solidFill>
            <a:srgbClr val="2F8E72"/>
          </a:solidFill>
          <a:ln w="12700">
            <a:solidFill>
              <a:srgbClr val="2F8E72"/>
            </a:solidFill>
            <a:prstDash val="solid"/>
          </a:ln>
        </p:spPr>
      </p:sp>
      <p:sp>
        <p:nvSpPr>
          <p:cNvPr id="10" name="Text 8"/>
          <p:cNvSpPr/>
          <p:nvPr/>
        </p:nvSpPr>
        <p:spPr>
          <a:xfrm>
            <a:off x="4645152" y="1810512"/>
            <a:ext cx="28620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任务分解</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645152" y="2601976"/>
            <a:ext cx="28620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将复杂任务拆成更容易学习的局部技能和阶段。</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8119872" y="1664208"/>
            <a:ext cx="3246120" cy="349300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119872" y="1664208"/>
            <a:ext cx="64008" cy="3493008"/>
          </a:xfrm>
          <a:prstGeom prst="rect">
            <a:avLst/>
          </a:prstGeom>
          <a:solidFill>
            <a:srgbClr val="C58A24"/>
          </a:solidFill>
          <a:ln w="12700">
            <a:solidFill>
              <a:srgbClr val="C58A24"/>
            </a:solidFill>
            <a:prstDash val="solid"/>
          </a:ln>
        </p:spPr>
      </p:sp>
      <p:sp>
        <p:nvSpPr>
          <p:cNvPr id="14" name="Text 12"/>
          <p:cNvSpPr/>
          <p:nvPr/>
        </p:nvSpPr>
        <p:spPr>
          <a:xfrm>
            <a:off x="8330184" y="1810512"/>
            <a:ext cx="28620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泛化能力</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330184" y="2601976"/>
            <a:ext cx="2862072" cy="277977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可复用低层技能，并通过不同高层组合适应不同长时序任务。</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84</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案例：“龙驭”人形机器人全身动作模仿学习小脑模型</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16.png"/>
          <p:cNvPicPr>
            <a:picLocks noChangeAspect="1"/>
          </p:cNvPicPr>
          <p:nvPr/>
        </p:nvPicPr>
        <p:blipFill>
          <a:blip r:embed="rId3"/>
          <a:stretch>
            <a:fillRect/>
          </a:stretch>
        </p:blipFill>
        <p:spPr>
          <a:xfrm>
            <a:off x="4500880" y="1517990"/>
            <a:ext cx="7452360" cy="4442795"/>
          </a:xfrm>
          <a:prstGeom prst="rect">
            <a:avLst/>
          </a:prstGeom>
        </p:spPr>
      </p:pic>
      <p:sp>
        <p:nvSpPr>
          <p:cNvPr id="5" name="Text 2"/>
          <p:cNvSpPr/>
          <p:nvPr/>
        </p:nvSpPr>
        <p:spPr>
          <a:xfrm>
            <a:off x="6903720" y="6235192"/>
            <a:ext cx="3931920" cy="294639"/>
          </a:xfrm>
          <a:prstGeom prst="rect">
            <a:avLst/>
          </a:prstGeom>
          <a:noFill/>
          <a:ln/>
        </p:spPr>
        <p:txBody>
          <a:bodyPr wrap="square" lIns="0" tIns="0" rIns="0" bIns="0" rtlCol="0" anchor="ctr">
            <a:normAutofit/>
          </a:bodyPr>
          <a:lstStyle/>
          <a:p>
            <a:pPr marL="0" indent="0" algn="ctr">
              <a:buNone/>
            </a:pPr>
            <a:r>
              <a:rPr lang="en-US" sz="1600" b="1" dirty="0">
                <a:solidFill>
                  <a:schemeClr val="accent1">
                    <a:lumMod val="50000"/>
                  </a:schemeClr>
                </a:solidFill>
                <a:latin typeface="微软雅黑" panose="020B0503020204020204" pitchFamily="34" charset="-122"/>
                <a:ea typeface="微软雅黑" panose="020B0503020204020204" pitchFamily="34" charset="-122"/>
              </a:rPr>
              <a:t>“</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龙驭”小脑模型全身控制流程</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Text 3"/>
          <p:cNvSpPr/>
          <p:nvPr/>
        </p:nvSpPr>
        <p:spPr>
          <a:xfrm>
            <a:off x="642112" y="1618488"/>
            <a:ext cx="3366008" cy="3886200"/>
          </a:xfrm>
          <a:prstGeom prst="rect">
            <a:avLst/>
          </a:prstGeom>
          <a:noFill/>
          <a:ln/>
        </p:spPr>
        <p:txBody>
          <a:bodyPr wrap="square" lIns="635" tIns="635" rIns="635" bIns="635" rtlCol="0" anchor="t">
            <a:normAutofit/>
          </a:bodyPr>
          <a:lstStyle/>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采用“小规模高质量数据 + 动态条件命令聚合”架构。</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训练仅需 3.5 小时严格筛选的精炼动作捕捉数据。</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通过因果历史编码器提取本体特征，再用交叉注意力选择可靠参考命令片段。</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85</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fontScale="92500"/>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“龙驭”的关键机制：根据机器人自身状态筛选参考命令</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20240"/>
            <a:ext cx="2560320" cy="1417320"/>
          </a:xfrm>
          <a:prstGeom prst="roundRect">
            <a:avLst>
              <a:gd name="adj" fmla="val 2581"/>
            </a:avLst>
          </a:prstGeom>
          <a:solidFill>
            <a:srgbClr val="EDF2FA"/>
          </a:solidFill>
          <a:ln w="12700">
            <a:solidFill>
              <a:srgbClr val="DDE3EC"/>
            </a:solidFill>
            <a:prstDash val="solid"/>
          </a:ln>
        </p:spPr>
      </p:sp>
      <p:sp>
        <p:nvSpPr>
          <p:cNvPr id="5" name="Text 3"/>
          <p:cNvSpPr/>
          <p:nvPr/>
        </p:nvSpPr>
        <p:spPr>
          <a:xfrm>
            <a:off x="822960" y="2066544"/>
            <a:ext cx="384048" cy="384048"/>
          </a:xfrm>
          <a:prstGeom prst="rect">
            <a:avLst/>
          </a:prstGeom>
          <a:noFill/>
          <a:ln/>
        </p:spPr>
        <p:txBody>
          <a:bodyPr wrap="square" lIns="0" tIns="0" rIns="0" bIns="0" rtlCol="0" anchor="ctr"/>
          <a:lstStyle/>
          <a:p>
            <a:pPr marL="0" indent="0" algn="ctr">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1</a:t>
            </a:r>
            <a:endParaRPr lang="en-US" sz="2800" dirty="0">
              <a:latin typeface="微软雅黑" panose="020B0503020204020204" pitchFamily="34" charset="-122"/>
              <a:ea typeface="微软雅黑" panose="020B0503020204020204" pitchFamily="34" charset="-122"/>
            </a:endParaRPr>
          </a:p>
        </p:txBody>
      </p:sp>
      <p:sp>
        <p:nvSpPr>
          <p:cNvPr id="6" name="Text 4"/>
          <p:cNvSpPr/>
          <p:nvPr/>
        </p:nvSpPr>
        <p:spPr>
          <a:xfrm>
            <a:off x="1307592" y="2066544"/>
            <a:ext cx="1810512" cy="310896"/>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观测历史</a:t>
            </a:r>
            <a:endParaRPr lang="en-US" sz="2000" dirty="0">
              <a:latin typeface="微软雅黑" panose="020B0503020204020204" pitchFamily="34" charset="-122"/>
              <a:ea typeface="微软雅黑" panose="020B0503020204020204" pitchFamily="34" charset="-122"/>
            </a:endParaRPr>
          </a:p>
        </p:txBody>
      </p:sp>
      <p:sp>
        <p:nvSpPr>
          <p:cNvPr id="7" name="Text 5"/>
          <p:cNvSpPr/>
          <p:nvPr/>
        </p:nvSpPr>
        <p:spPr>
          <a:xfrm>
            <a:off x="877824" y="2542032"/>
            <a:ext cx="2231136" cy="566928"/>
          </a:xfrm>
          <a:prstGeom prst="rect">
            <a:avLst/>
          </a:prstGeom>
          <a:noFill/>
          <a:ln/>
        </p:spPr>
        <p:txBody>
          <a:bodyPr wrap="square" lIns="0" tIns="0" rIns="0" bIns="0" rtlCol="0" anchor="ctr">
            <a:norm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获取本体状态与历史运动信息。</a:t>
            </a:r>
            <a:endParaRPr lang="en-US" dirty="0">
              <a:latin typeface="微软雅黑" panose="020B0503020204020204" pitchFamily="34" charset="-122"/>
              <a:ea typeface="微软雅黑" panose="020B0503020204020204" pitchFamily="34" charset="-122"/>
            </a:endParaRPr>
          </a:p>
        </p:txBody>
      </p:sp>
      <p:sp>
        <p:nvSpPr>
          <p:cNvPr id="8" name="Shape 6"/>
          <p:cNvSpPr/>
          <p:nvPr/>
        </p:nvSpPr>
        <p:spPr>
          <a:xfrm>
            <a:off x="3328416" y="2414016"/>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20240"/>
            <a:ext cx="2560320" cy="1417320"/>
          </a:xfrm>
          <a:prstGeom prst="roundRect">
            <a:avLst>
              <a:gd name="adj" fmla="val 2581"/>
            </a:avLst>
          </a:prstGeom>
          <a:solidFill>
            <a:srgbClr val="EAF5F1"/>
          </a:solidFill>
          <a:ln w="12700">
            <a:solidFill>
              <a:srgbClr val="DDE3EC"/>
            </a:solidFill>
            <a:prstDash val="solid"/>
          </a:ln>
        </p:spPr>
      </p:sp>
      <p:sp>
        <p:nvSpPr>
          <p:cNvPr id="10" name="Text 8"/>
          <p:cNvSpPr/>
          <p:nvPr/>
        </p:nvSpPr>
        <p:spPr>
          <a:xfrm>
            <a:off x="3509010" y="2066544"/>
            <a:ext cx="384048" cy="384048"/>
          </a:xfrm>
          <a:prstGeom prst="rect">
            <a:avLst/>
          </a:prstGeom>
          <a:noFill/>
          <a:ln/>
        </p:spPr>
        <p:txBody>
          <a:bodyPr wrap="square" lIns="0" tIns="0" rIns="0" bIns="0" rtlCol="0" anchor="ctr"/>
          <a:lstStyle/>
          <a:p>
            <a:pPr marL="0" indent="0" algn="ctr">
              <a:buNone/>
            </a:pPr>
            <a:r>
              <a:rPr lang="en-US" sz="2800" b="1" dirty="0">
                <a:solidFill>
                  <a:srgbClr val="2F8E72"/>
                </a:solidFill>
                <a:latin typeface="微软雅黑" panose="020B0503020204020204" pitchFamily="34" charset="-122"/>
                <a:ea typeface="微软雅黑" panose="020B0503020204020204" pitchFamily="34" charset="-122"/>
                <a:cs typeface="Noto Sans CJK SC" pitchFamily="34" charset="-120"/>
              </a:rPr>
              <a:t>2</a:t>
            </a:r>
            <a:endParaRPr lang="en-US" sz="2800" dirty="0">
              <a:latin typeface="微软雅黑" panose="020B0503020204020204" pitchFamily="34" charset="-122"/>
              <a:ea typeface="微软雅黑" panose="020B0503020204020204" pitchFamily="34" charset="-122"/>
            </a:endParaRPr>
          </a:p>
        </p:txBody>
      </p:sp>
      <p:sp>
        <p:nvSpPr>
          <p:cNvPr id="11" name="Text 9"/>
          <p:cNvSpPr/>
          <p:nvPr/>
        </p:nvSpPr>
        <p:spPr>
          <a:xfrm>
            <a:off x="3993642" y="2066544"/>
            <a:ext cx="1810512" cy="310896"/>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因果历史编码</a:t>
            </a:r>
            <a:endParaRPr lang="en-US" sz="2000" dirty="0">
              <a:latin typeface="微软雅黑" panose="020B0503020204020204" pitchFamily="34" charset="-122"/>
              <a:ea typeface="微软雅黑" panose="020B0503020204020204" pitchFamily="34" charset="-122"/>
            </a:endParaRPr>
          </a:p>
        </p:txBody>
      </p:sp>
      <p:sp>
        <p:nvSpPr>
          <p:cNvPr id="12" name="Text 10"/>
          <p:cNvSpPr/>
          <p:nvPr/>
        </p:nvSpPr>
        <p:spPr>
          <a:xfrm>
            <a:off x="3563874" y="2542032"/>
            <a:ext cx="2231136" cy="566928"/>
          </a:xfrm>
          <a:prstGeom prst="rect">
            <a:avLst/>
          </a:prstGeom>
          <a:noFill/>
          <a:ln/>
        </p:spPr>
        <p:txBody>
          <a:bodyPr wrap="square" lIns="0" tIns="0" rIns="0" bIns="0" rtlCol="0" anchor="ctr">
            <a:normAutofit/>
          </a:bodyPr>
          <a:lstStyle/>
          <a:p>
            <a:pPr marL="0" indent="0" algn="ctr">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提取实时本体特征</a:t>
            </a:r>
            <a:endParaRPr lang="en-US" dirty="0">
              <a:latin typeface="微软雅黑" panose="020B0503020204020204" pitchFamily="34" charset="-122"/>
              <a:ea typeface="微软雅黑" panose="020B0503020204020204" pitchFamily="34" charset="-122"/>
            </a:endParaRPr>
          </a:p>
        </p:txBody>
      </p:sp>
      <p:sp>
        <p:nvSpPr>
          <p:cNvPr id="13" name="Shape 11"/>
          <p:cNvSpPr/>
          <p:nvPr/>
        </p:nvSpPr>
        <p:spPr>
          <a:xfrm>
            <a:off x="6014466" y="2414016"/>
            <a:ext cx="347472" cy="438912"/>
          </a:xfrm>
          <a:prstGeom prst="chevron">
            <a:avLst/>
          </a:prstGeom>
          <a:solidFill>
            <a:srgbClr val="D8E2F1"/>
          </a:solidFill>
          <a:ln w="12700">
            <a:solidFill>
              <a:srgbClr val="D8E2F1"/>
            </a:solidFill>
            <a:prstDash val="solid"/>
          </a:ln>
        </p:spPr>
      </p:sp>
      <p:sp>
        <p:nvSpPr>
          <p:cNvPr id="14" name="Shape 12"/>
          <p:cNvSpPr/>
          <p:nvPr/>
        </p:nvSpPr>
        <p:spPr>
          <a:xfrm>
            <a:off x="6085332" y="1920240"/>
            <a:ext cx="2560320" cy="1417320"/>
          </a:xfrm>
          <a:prstGeom prst="roundRect">
            <a:avLst>
              <a:gd name="adj" fmla="val 2581"/>
            </a:avLst>
          </a:prstGeom>
          <a:solidFill>
            <a:srgbClr val="FFF4DE"/>
          </a:solidFill>
          <a:ln w="12700">
            <a:solidFill>
              <a:srgbClr val="DDE3EC"/>
            </a:solidFill>
            <a:prstDash val="solid"/>
          </a:ln>
        </p:spPr>
      </p:sp>
      <p:sp>
        <p:nvSpPr>
          <p:cNvPr id="15" name="Text 13"/>
          <p:cNvSpPr/>
          <p:nvPr/>
        </p:nvSpPr>
        <p:spPr>
          <a:xfrm>
            <a:off x="6195060" y="2066544"/>
            <a:ext cx="384048" cy="384048"/>
          </a:xfrm>
          <a:prstGeom prst="rect">
            <a:avLst/>
          </a:prstGeom>
          <a:noFill/>
          <a:ln/>
        </p:spPr>
        <p:txBody>
          <a:bodyPr wrap="square" lIns="0" tIns="0" rIns="0" bIns="0" rtlCol="0" anchor="ctr"/>
          <a:lstStyle/>
          <a:p>
            <a:pPr marL="0" indent="0" algn="ctr">
              <a:buNone/>
            </a:pPr>
            <a:r>
              <a:rPr lang="en-US" sz="2800" b="1" dirty="0">
                <a:solidFill>
                  <a:srgbClr val="C58A24"/>
                </a:solidFill>
                <a:latin typeface="微软雅黑" panose="020B0503020204020204" pitchFamily="34" charset="-122"/>
                <a:ea typeface="微软雅黑" panose="020B0503020204020204" pitchFamily="34" charset="-122"/>
                <a:cs typeface="Noto Sans CJK SC" pitchFamily="34" charset="-120"/>
              </a:rPr>
              <a:t>3</a:t>
            </a:r>
            <a:endParaRPr lang="en-US" sz="2800" dirty="0">
              <a:latin typeface="微软雅黑" panose="020B0503020204020204" pitchFamily="34" charset="-122"/>
              <a:ea typeface="微软雅黑" panose="020B0503020204020204" pitchFamily="34" charset="-122"/>
            </a:endParaRPr>
          </a:p>
        </p:txBody>
      </p:sp>
      <p:sp>
        <p:nvSpPr>
          <p:cNvPr id="16" name="Text 14"/>
          <p:cNvSpPr/>
          <p:nvPr/>
        </p:nvSpPr>
        <p:spPr>
          <a:xfrm>
            <a:off x="6679692" y="2066544"/>
            <a:ext cx="1810512" cy="310896"/>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交叉注意力</a:t>
            </a:r>
            <a:endParaRPr lang="en-US" sz="2000" dirty="0">
              <a:latin typeface="微软雅黑" panose="020B0503020204020204" pitchFamily="34" charset="-122"/>
              <a:ea typeface="微软雅黑" panose="020B0503020204020204" pitchFamily="34" charset="-122"/>
            </a:endParaRPr>
          </a:p>
        </p:txBody>
      </p:sp>
      <p:sp>
        <p:nvSpPr>
          <p:cNvPr id="17" name="Text 15"/>
          <p:cNvSpPr/>
          <p:nvPr/>
        </p:nvSpPr>
        <p:spPr>
          <a:xfrm>
            <a:off x="6249924" y="2542032"/>
            <a:ext cx="2231136" cy="566928"/>
          </a:xfrm>
          <a:prstGeom prst="rect">
            <a:avLst/>
          </a:prstGeom>
          <a:noFill/>
          <a:ln/>
        </p:spPr>
        <p:txBody>
          <a:bodyPr wrap="square" lIns="0" tIns="0" rIns="0" bIns="0" rtlCol="0" anchor="ctr">
            <a:norm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对参考命令片段赋予不同权重。</a:t>
            </a:r>
            <a:endParaRPr lang="en-US" dirty="0">
              <a:latin typeface="微软雅黑" panose="020B0503020204020204" pitchFamily="34" charset="-122"/>
              <a:ea typeface="微软雅黑" panose="020B0503020204020204" pitchFamily="34" charset="-122"/>
            </a:endParaRPr>
          </a:p>
        </p:txBody>
      </p:sp>
      <p:sp>
        <p:nvSpPr>
          <p:cNvPr id="18" name="Shape 16"/>
          <p:cNvSpPr/>
          <p:nvPr/>
        </p:nvSpPr>
        <p:spPr>
          <a:xfrm>
            <a:off x="8700516" y="2414016"/>
            <a:ext cx="347472" cy="438912"/>
          </a:xfrm>
          <a:prstGeom prst="chevron">
            <a:avLst/>
          </a:prstGeom>
          <a:solidFill>
            <a:srgbClr val="D8E2F1"/>
          </a:solidFill>
          <a:ln w="12700">
            <a:solidFill>
              <a:srgbClr val="D8E2F1"/>
            </a:solidFill>
            <a:prstDash val="solid"/>
          </a:ln>
        </p:spPr>
      </p:sp>
      <p:sp>
        <p:nvSpPr>
          <p:cNvPr id="19" name="Shape 17"/>
          <p:cNvSpPr/>
          <p:nvPr/>
        </p:nvSpPr>
        <p:spPr>
          <a:xfrm>
            <a:off x="8771382" y="1920240"/>
            <a:ext cx="2560320" cy="1417320"/>
          </a:xfrm>
          <a:prstGeom prst="roundRect">
            <a:avLst>
              <a:gd name="adj" fmla="val 2581"/>
            </a:avLst>
          </a:prstGeom>
          <a:solidFill>
            <a:srgbClr val="FDECEE"/>
          </a:solidFill>
          <a:ln w="12700">
            <a:solidFill>
              <a:srgbClr val="DDE3EC"/>
            </a:solidFill>
            <a:prstDash val="solid"/>
          </a:ln>
        </p:spPr>
      </p:sp>
      <p:sp>
        <p:nvSpPr>
          <p:cNvPr id="20" name="Text 18"/>
          <p:cNvSpPr/>
          <p:nvPr/>
        </p:nvSpPr>
        <p:spPr>
          <a:xfrm>
            <a:off x="8881110" y="2066544"/>
            <a:ext cx="384048" cy="384048"/>
          </a:xfrm>
          <a:prstGeom prst="rect">
            <a:avLst/>
          </a:prstGeom>
          <a:noFill/>
          <a:ln/>
        </p:spPr>
        <p:txBody>
          <a:bodyPr wrap="square" lIns="0" tIns="0" rIns="0" bIns="0" rtlCol="0" anchor="ctr"/>
          <a:lstStyle/>
          <a:p>
            <a:pPr marL="0" indent="0" algn="ctr">
              <a:buNone/>
            </a:pPr>
            <a:r>
              <a:rPr lang="en-US" sz="2800" b="1" dirty="0">
                <a:solidFill>
                  <a:srgbClr val="C63F45"/>
                </a:solidFill>
                <a:latin typeface="微软雅黑" panose="020B0503020204020204" pitchFamily="34" charset="-122"/>
                <a:ea typeface="微软雅黑" panose="020B0503020204020204" pitchFamily="34" charset="-122"/>
                <a:cs typeface="Noto Sans CJK SC" pitchFamily="34" charset="-120"/>
              </a:rPr>
              <a:t>4</a:t>
            </a:r>
            <a:endParaRPr lang="en-US" sz="2800" dirty="0">
              <a:latin typeface="微软雅黑" panose="020B0503020204020204" pitchFamily="34" charset="-122"/>
              <a:ea typeface="微软雅黑" panose="020B0503020204020204" pitchFamily="34" charset="-122"/>
            </a:endParaRPr>
          </a:p>
        </p:txBody>
      </p:sp>
      <p:sp>
        <p:nvSpPr>
          <p:cNvPr id="21" name="Text 19"/>
          <p:cNvSpPr/>
          <p:nvPr/>
        </p:nvSpPr>
        <p:spPr>
          <a:xfrm>
            <a:off x="9365742" y="2066544"/>
            <a:ext cx="1810512" cy="310896"/>
          </a:xfrm>
          <a:prstGeom prst="rect">
            <a:avLst/>
          </a:prstGeom>
          <a:noFill/>
          <a:ln/>
        </p:spPr>
        <p:txBody>
          <a:bodyPr wrap="square" lIns="0" tIns="0" rIns="0" bIns="0" rtlCol="0" anchor="ctr">
            <a:normAutofit/>
          </a:bodyPr>
          <a:lstStyle/>
          <a:p>
            <a:pPr marL="0" indent="0">
              <a:buNone/>
            </a:pPr>
            <a:r>
              <a:rPr lang="en-US" sz="2000" b="1" dirty="0">
                <a:solidFill>
                  <a:srgbClr val="C63F45"/>
                </a:solidFill>
                <a:latin typeface="微软雅黑" panose="020B0503020204020204" pitchFamily="34" charset="-122"/>
                <a:ea typeface="微软雅黑" panose="020B0503020204020204" pitchFamily="34" charset="-122"/>
                <a:cs typeface="Noto Sans CJK SC" pitchFamily="34" charset="-120"/>
              </a:rPr>
              <a:t>稳定动作</a:t>
            </a:r>
            <a:endParaRPr lang="en-US" sz="2000" dirty="0">
              <a:latin typeface="微软雅黑" panose="020B0503020204020204" pitchFamily="34" charset="-122"/>
              <a:ea typeface="微软雅黑" panose="020B0503020204020204" pitchFamily="34" charset="-122"/>
            </a:endParaRPr>
          </a:p>
        </p:txBody>
      </p:sp>
      <p:sp>
        <p:nvSpPr>
          <p:cNvPr id="22" name="Text 20"/>
          <p:cNvSpPr/>
          <p:nvPr/>
        </p:nvSpPr>
        <p:spPr>
          <a:xfrm>
            <a:off x="8935974" y="2542032"/>
            <a:ext cx="2231136" cy="566928"/>
          </a:xfrm>
          <a:prstGeom prst="rect">
            <a:avLst/>
          </a:prstGeom>
          <a:noFill/>
          <a:ln/>
        </p:spPr>
        <p:txBody>
          <a:bodyPr wrap="square" lIns="0" tIns="0" rIns="0" bIns="0" rtlCol="0" anchor="ctr">
            <a:norm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抑制噪声与异常，输出全身控制。</a:t>
            </a:r>
            <a:endParaRPr lang="en-US" dirty="0">
              <a:latin typeface="微软雅黑" panose="020B0503020204020204" pitchFamily="34" charset="-122"/>
              <a:ea typeface="微软雅黑" panose="020B0503020204020204" pitchFamily="34" charset="-122"/>
            </a:endParaRPr>
          </a:p>
        </p:txBody>
      </p:sp>
      <p:sp>
        <p:nvSpPr>
          <p:cNvPr id="23" name="Text 21"/>
          <p:cNvSpPr/>
          <p:nvPr/>
        </p:nvSpPr>
        <p:spPr>
          <a:xfrm>
            <a:off x="914400" y="4178808"/>
            <a:ext cx="10332720" cy="566928"/>
          </a:xfrm>
          <a:prstGeom prst="rect">
            <a:avLst/>
          </a:prstGeom>
          <a:noFill/>
          <a:ln/>
        </p:spPr>
        <p:txBody>
          <a:bodyPr wrap="square" lIns="0" tIns="0" rIns="0" bIns="0" rtlCol="0" anchor="ctr">
            <a:normAutofit fontScale="92500" lnSpcReduction="20000"/>
          </a:bodyPr>
          <a:lstStyle/>
          <a:p>
            <a:pPr marL="0" indent="0" algn="ctr">
              <a:buNone/>
            </a:pPr>
            <a:r>
              <a:rPr lang="en-US" sz="2400" b="1" dirty="0">
                <a:solidFill>
                  <a:srgbClr val="24477D"/>
                </a:solidFill>
                <a:latin typeface="微软雅黑" panose="020B0503020204020204" pitchFamily="34" charset="-122"/>
                <a:ea typeface="微软雅黑" panose="020B0503020204020204" pitchFamily="34" charset="-122"/>
                <a:cs typeface="Noto Sans CJK SC" pitchFamily="34" charset="-120"/>
              </a:rPr>
              <a:t>不是“完全照搬参考动作”，而是结合机器人当前物理状态选择最可靠的命令信息。</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86</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龙驭”的主要特点</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3246120" cy="358444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49808" y="1664208"/>
            <a:ext cx="64008" cy="3584448"/>
          </a:xfrm>
          <a:prstGeom prst="rect">
            <a:avLst/>
          </a:prstGeom>
          <a:solidFill>
            <a:srgbClr val="31599B"/>
          </a:solidFill>
          <a:ln w="12700">
            <a:solidFill>
              <a:srgbClr val="31599B"/>
            </a:solidFill>
            <a:prstDash val="solid"/>
          </a:ln>
        </p:spPr>
      </p:sp>
      <p:sp>
        <p:nvSpPr>
          <p:cNvPr id="6" name="Text 4"/>
          <p:cNvSpPr/>
          <p:nvPr/>
        </p:nvSpPr>
        <p:spPr>
          <a:xfrm>
            <a:off x="960120"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零样本泛化</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60120" y="2784856"/>
            <a:ext cx="2862072" cy="287121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对训练中未见过的视频舞蹈、武术招式可直接复现，无需微调。</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434840" y="1664208"/>
            <a:ext cx="3246120" cy="358444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34840" y="1664208"/>
            <a:ext cx="64008" cy="3584448"/>
          </a:xfrm>
          <a:prstGeom prst="rect">
            <a:avLst/>
          </a:prstGeom>
          <a:solidFill>
            <a:srgbClr val="2F8E72"/>
          </a:solidFill>
          <a:ln w="12700">
            <a:solidFill>
              <a:srgbClr val="2F8E72"/>
            </a:solidFill>
            <a:prstDash val="solid"/>
          </a:ln>
        </p:spPr>
      </p:sp>
      <p:sp>
        <p:nvSpPr>
          <p:cNvPr id="10" name="Text 8"/>
          <p:cNvSpPr/>
          <p:nvPr/>
        </p:nvSpPr>
        <p:spPr>
          <a:xfrm>
            <a:off x="4645152"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强鲁棒与自恢复</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645152" y="2784856"/>
            <a:ext cx="2862072" cy="287121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单一策略集成自主倒地起身能力，并具备较强抗扰动性。</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8119872" y="1664208"/>
            <a:ext cx="3246120" cy="358444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119872" y="1664208"/>
            <a:ext cx="64008" cy="3584448"/>
          </a:xfrm>
          <a:prstGeom prst="rect">
            <a:avLst/>
          </a:prstGeom>
          <a:solidFill>
            <a:srgbClr val="C58A24"/>
          </a:solidFill>
          <a:ln w="12700">
            <a:solidFill>
              <a:srgbClr val="C58A24"/>
            </a:solidFill>
            <a:prstDash val="solid"/>
          </a:ln>
        </p:spPr>
      </p:sp>
      <p:sp>
        <p:nvSpPr>
          <p:cNvPr id="14" name="Text 12"/>
          <p:cNvSpPr/>
          <p:nvPr/>
        </p:nvSpPr>
        <p:spPr>
          <a:xfrm>
            <a:off x="8330184" y="1810512"/>
            <a:ext cx="2862072" cy="329184"/>
          </a:xfrm>
          <a:prstGeom prst="rect">
            <a:avLst/>
          </a:prstGeom>
          <a:noFill/>
          <a:ln/>
        </p:spPr>
        <p:txBody>
          <a:bodyPr wrap="square" lIns="0" tIns="0" rIns="0" bIns="0" rtlCol="0" anchor="ctr">
            <a:normAutofit lnSpcReduction="10000"/>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多源输入兼容</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330184" y="2784856"/>
            <a:ext cx="2862072" cy="2871216"/>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统一支持动捕数据、VR 头显、单目视频等异构指令源。</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87</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“龙驭”实体机器人验证与系统集成</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31599B"/>
          </a:solidFill>
          <a:ln w="12700">
            <a:solidFill>
              <a:srgbClr val="31599B"/>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实体动作跟踪</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414016"/>
            <a:ext cx="4690872" cy="2807208"/>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成功实现奔跑、跳跃、霹雳舞等复杂动作的实时高精度跟踪，任务成功率与关节位置误差优于教材所列对比框架</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与 VLA 形成上下层闭环</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41401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作为“小脑”与上层 VLA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模型集成，在物流搬运等任务中实现从语言指令到全身稳定运动的完整闭环</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88</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4" name="Text 2"/>
          <p:cNvSpPr/>
          <p:nvPr/>
        </p:nvSpPr>
        <p:spPr>
          <a:xfrm>
            <a:off x="1417320" y="1554480"/>
            <a:ext cx="1600200" cy="1143000"/>
          </a:xfrm>
          <a:prstGeom prst="rect">
            <a:avLst/>
          </a:prstGeom>
          <a:noFill/>
          <a:ln/>
        </p:spPr>
        <p:txBody>
          <a:bodyPr wrap="square" lIns="0" tIns="0" rIns="0" bIns="0" rtlCol="0" anchor="ctr"/>
          <a:lstStyle/>
          <a:p>
            <a:pPr marL="0" indent="0" algn="r">
              <a:buNone/>
            </a:pPr>
            <a:r>
              <a:rPr lang="en-US" sz="7600" b="1" dirty="0">
                <a:solidFill>
                  <a:srgbClr val="24477D"/>
                </a:solidFill>
                <a:latin typeface="Noto Sans CJK SC" pitchFamily="34" charset="0"/>
                <a:ea typeface="Noto Sans CJK SC" pitchFamily="34" charset="-122"/>
                <a:cs typeface="Noto Sans CJK SC" pitchFamily="34" charset="-120"/>
              </a:rPr>
              <a:t>5</a:t>
            </a:r>
            <a:endParaRPr lang="en-US" sz="7600" dirty="0">
              <a:solidFill>
                <a:srgbClr val="24477D"/>
              </a:solidFill>
            </a:endParaRPr>
          </a:p>
        </p:txBody>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Noto Sans CJK SC" pitchFamily="34" charset="0"/>
                <a:ea typeface="Noto Sans CJK SC" pitchFamily="34" charset="-122"/>
                <a:cs typeface="Noto Sans CJK SC" pitchFamily="34" charset="-120"/>
              </a:rPr>
              <a:t>分布漂移及其缓解方法</a:t>
            </a:r>
            <a:endParaRPr lang="en-US" sz="3900" dirty="0"/>
          </a:p>
        </p:txBody>
      </p:sp>
      <p:sp>
        <p:nvSpPr>
          <p:cNvPr id="17" name="Text 15"/>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Noto Sans CJK SC" pitchFamily="34" charset="0"/>
                <a:ea typeface="Noto Sans CJK SC" pitchFamily="34" charset="-122"/>
                <a:cs typeface="Noto Sans CJK SC" pitchFamily="34" charset="-120"/>
              </a:rPr>
              <a:t>具身智能导论 · 第4章</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4.5 分布漂移：训练分布与执行分布不一致</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64208"/>
            <a:ext cx="10149840" cy="4069080"/>
          </a:xfrm>
          <a:prstGeom prst="rect">
            <a:avLst/>
          </a:prstGeom>
          <a:noFill/>
          <a:ln/>
        </p:spPr>
        <p:txBody>
          <a:bodyPr wrap="square" lIns="635" tIns="635" rIns="635" bIns="635" rtlCol="0" anchor="t">
            <a:normAutofit/>
          </a:bodyPr>
          <a:lstStyle/>
          <a:p>
            <a:pPr marL="228600" indent="-228600">
              <a:lnSpc>
                <a:spcPct val="150000"/>
              </a:lnSpc>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专家数据通常覆盖“较好 / </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较优”的轨迹分布</a:t>
            </a:r>
            <a:endParaRPr lang="en-US" sz="2800" dirty="0">
              <a:latin typeface="微软雅黑" panose="020B0503020204020204" pitchFamily="34" charset="-122"/>
              <a:ea typeface="微软雅黑" panose="020B0503020204020204" pitchFamily="34" charset="-122"/>
            </a:endParaRPr>
          </a:p>
          <a:p>
            <a:pPr marL="228600" indent="-228600">
              <a:lnSpc>
                <a:spcPct val="150000"/>
              </a:lnSpc>
              <a:buSzPct val="100000"/>
              <a:buChar char="•"/>
            </a:pP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机器人执行策略时，一旦出现小误差，就可能进入训练数据没有覆盖的新状态</a:t>
            </a:r>
            <a:endParaRPr lang="en-US" sz="2800" dirty="0">
              <a:latin typeface="微软雅黑" panose="020B0503020204020204" pitchFamily="34" charset="-122"/>
              <a:ea typeface="微软雅黑" panose="020B0503020204020204" pitchFamily="34" charset="-122"/>
            </a:endParaRPr>
          </a:p>
          <a:p>
            <a:pPr marL="228600" indent="-228600">
              <a:lnSpc>
                <a:spcPct val="150000"/>
              </a:lnSpc>
              <a:buSzPct val="100000"/>
              <a:buChar char="•"/>
            </a:pP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新状态下缺少正确监督，策略误差继续放大，最终可能导致大失败</a:t>
            </a:r>
            <a:endParaRPr lang="en-US" sz="2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90</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专家轨迹与学习策略轨迹为何会逐渐分离？</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20239"/>
            <a:ext cx="2560320" cy="1813559"/>
          </a:xfrm>
          <a:prstGeom prst="roundRect">
            <a:avLst>
              <a:gd name="adj" fmla="val 2581"/>
            </a:avLst>
          </a:prstGeom>
          <a:solidFill>
            <a:srgbClr val="EDF2FA"/>
          </a:solidFill>
          <a:ln w="12700">
            <a:solidFill>
              <a:srgbClr val="DDE3EC"/>
            </a:solidFill>
            <a:prstDash val="solid"/>
          </a:ln>
        </p:spPr>
      </p:sp>
      <p:sp>
        <p:nvSpPr>
          <p:cNvPr id="5" name="Text 3"/>
          <p:cNvSpPr/>
          <p:nvPr/>
        </p:nvSpPr>
        <p:spPr>
          <a:xfrm>
            <a:off x="822960" y="2066544"/>
            <a:ext cx="384048" cy="384048"/>
          </a:xfrm>
          <a:prstGeom prst="rect">
            <a:avLst/>
          </a:prstGeom>
          <a:noFill/>
          <a:ln/>
        </p:spPr>
        <p:txBody>
          <a:bodyPr wrap="square" lIns="0" tIns="0" rIns="0" bIns="0" rtlCol="0" anchor="ctr"/>
          <a:lstStyle/>
          <a:p>
            <a:pPr marL="0" indent="0" algn="ctr">
              <a:buNone/>
            </a:pPr>
            <a:r>
              <a:rPr lang="en-US" sz="2000" b="1" dirty="0">
                <a:solidFill>
                  <a:srgbClr val="31599B"/>
                </a:solidFill>
                <a:latin typeface="Noto Sans CJK SC" pitchFamily="34" charset="0"/>
                <a:ea typeface="Noto Sans CJK SC" pitchFamily="34" charset="-122"/>
                <a:cs typeface="Noto Sans CJK SC" pitchFamily="34" charset="-120"/>
              </a:rPr>
              <a:t>起</a:t>
            </a:r>
            <a:endParaRPr lang="en-US" sz="2000" dirty="0"/>
          </a:p>
        </p:txBody>
      </p:sp>
      <p:sp>
        <p:nvSpPr>
          <p:cNvPr id="6" name="Text 4"/>
          <p:cNvSpPr/>
          <p:nvPr/>
        </p:nvSpPr>
        <p:spPr>
          <a:xfrm>
            <a:off x="130759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31599B"/>
                </a:solidFill>
                <a:latin typeface="Noto Sans CJK SC" pitchFamily="34" charset="0"/>
                <a:ea typeface="Noto Sans CJK SC" pitchFamily="34" charset="-122"/>
                <a:cs typeface="Noto Sans CJK SC" pitchFamily="34" charset="-120"/>
              </a:rPr>
              <a:t>相同初始状态</a:t>
            </a:r>
            <a:endParaRPr lang="en-US" sz="1600" dirty="0"/>
          </a:p>
        </p:txBody>
      </p:sp>
      <p:sp>
        <p:nvSpPr>
          <p:cNvPr id="7" name="Text 5"/>
          <p:cNvSpPr/>
          <p:nvPr/>
        </p:nvSpPr>
        <p:spPr>
          <a:xfrm>
            <a:off x="658368" y="2587752"/>
            <a:ext cx="2450592" cy="566928"/>
          </a:xfrm>
          <a:prstGeom prst="rect">
            <a:avLst/>
          </a:prstGeom>
          <a:noFill/>
          <a:ln/>
        </p:spPr>
        <p:txBody>
          <a:bodyPr wrap="square" lIns="0" tIns="0" rIns="0" bIns="0" rtlCol="0" anchor="ctr">
            <a:noAutofit/>
          </a:bodyPr>
          <a:lstStyle/>
          <a:p>
            <a:pPr marL="0" indent="0" algn="ctr">
              <a:buNone/>
            </a:pPr>
            <a:r>
              <a:rPr lang="en-US" sz="2000" dirty="0" err="1">
                <a:solidFill>
                  <a:srgbClr val="222833"/>
                </a:solidFill>
                <a:latin typeface="Noto Sans CJK SC" pitchFamily="34" charset="0"/>
                <a:ea typeface="Noto Sans CJK SC" pitchFamily="34" charset="-122"/>
                <a:cs typeface="Noto Sans CJK SC" pitchFamily="34" charset="-120"/>
              </a:rPr>
              <a:t>开始时学习策略与专家都处在熟悉区域</a:t>
            </a:r>
            <a:endParaRPr lang="en-US" sz="2000" dirty="0"/>
          </a:p>
        </p:txBody>
      </p:sp>
      <p:sp>
        <p:nvSpPr>
          <p:cNvPr id="8" name="Shape 6"/>
          <p:cNvSpPr/>
          <p:nvPr/>
        </p:nvSpPr>
        <p:spPr>
          <a:xfrm>
            <a:off x="3328416" y="2414016"/>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20240"/>
            <a:ext cx="2560320" cy="1813558"/>
          </a:xfrm>
          <a:prstGeom prst="roundRect">
            <a:avLst>
              <a:gd name="adj" fmla="val 2581"/>
            </a:avLst>
          </a:prstGeom>
          <a:solidFill>
            <a:srgbClr val="FFF4DE"/>
          </a:solidFill>
          <a:ln w="12700">
            <a:solidFill>
              <a:srgbClr val="DDE3EC"/>
            </a:solidFill>
            <a:prstDash val="solid"/>
          </a:ln>
        </p:spPr>
      </p:sp>
      <p:sp>
        <p:nvSpPr>
          <p:cNvPr id="10" name="Text 8"/>
          <p:cNvSpPr/>
          <p:nvPr/>
        </p:nvSpPr>
        <p:spPr>
          <a:xfrm>
            <a:off x="3509010" y="2066544"/>
            <a:ext cx="384048" cy="384048"/>
          </a:xfrm>
          <a:prstGeom prst="rect">
            <a:avLst/>
          </a:prstGeom>
          <a:noFill/>
          <a:ln/>
        </p:spPr>
        <p:txBody>
          <a:bodyPr wrap="square" lIns="0" tIns="0" rIns="0" bIns="0" rtlCol="0" anchor="ctr"/>
          <a:lstStyle/>
          <a:p>
            <a:pPr marL="0" indent="0" algn="ctr">
              <a:buNone/>
            </a:pPr>
            <a:r>
              <a:rPr lang="en-US" sz="2000" b="1" dirty="0">
                <a:solidFill>
                  <a:srgbClr val="C58A24"/>
                </a:solidFill>
                <a:latin typeface="Noto Sans CJK SC" pitchFamily="34" charset="0"/>
                <a:ea typeface="Noto Sans CJK SC" pitchFamily="34" charset="-122"/>
                <a:cs typeface="Noto Sans CJK SC" pitchFamily="34" charset="-120"/>
              </a:rPr>
              <a:t>小</a:t>
            </a:r>
            <a:endParaRPr lang="en-US" sz="2000" dirty="0"/>
          </a:p>
        </p:txBody>
      </p:sp>
      <p:sp>
        <p:nvSpPr>
          <p:cNvPr id="11" name="Text 9"/>
          <p:cNvSpPr/>
          <p:nvPr/>
        </p:nvSpPr>
        <p:spPr>
          <a:xfrm>
            <a:off x="399364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C58A24"/>
                </a:solidFill>
                <a:latin typeface="Noto Sans CJK SC" pitchFamily="34" charset="0"/>
                <a:ea typeface="Noto Sans CJK SC" pitchFamily="34" charset="-122"/>
                <a:cs typeface="Noto Sans CJK SC" pitchFamily="34" charset="-120"/>
              </a:rPr>
              <a:t>出现单步误差</a:t>
            </a:r>
            <a:endParaRPr lang="en-US" sz="1600" dirty="0"/>
          </a:p>
        </p:txBody>
      </p:sp>
      <p:sp>
        <p:nvSpPr>
          <p:cNvPr id="12" name="Text 10"/>
          <p:cNvSpPr/>
          <p:nvPr/>
        </p:nvSpPr>
        <p:spPr>
          <a:xfrm>
            <a:off x="3563874" y="2587752"/>
            <a:ext cx="2231136" cy="566928"/>
          </a:xfrm>
          <a:prstGeom prst="rect">
            <a:avLst/>
          </a:prstGeom>
          <a:noFill/>
          <a:ln/>
        </p:spPr>
        <p:txBody>
          <a:bodyPr wrap="square" lIns="0" tIns="0" rIns="0" bIns="0" rtlCol="0" anchor="ctr">
            <a:noAutofit/>
          </a:bodyPr>
          <a:lstStyle/>
          <a:p>
            <a:pPr marL="0" indent="0" algn="ctr">
              <a:buNone/>
            </a:pPr>
            <a:r>
              <a:rPr lang="en-US" sz="2000" dirty="0" err="1">
                <a:solidFill>
                  <a:srgbClr val="222833"/>
                </a:solidFill>
                <a:latin typeface="Noto Sans CJK SC" pitchFamily="34" charset="0"/>
                <a:ea typeface="Noto Sans CJK SC" pitchFamily="34" charset="-122"/>
                <a:cs typeface="Noto Sans CJK SC" pitchFamily="34" charset="-120"/>
              </a:rPr>
              <a:t>预测动作与专家动作产生轻微偏差</a:t>
            </a:r>
            <a:endParaRPr lang="en-US" sz="2000" dirty="0"/>
          </a:p>
        </p:txBody>
      </p:sp>
      <p:sp>
        <p:nvSpPr>
          <p:cNvPr id="13" name="Shape 11"/>
          <p:cNvSpPr/>
          <p:nvPr/>
        </p:nvSpPr>
        <p:spPr>
          <a:xfrm>
            <a:off x="6014466" y="2414016"/>
            <a:ext cx="347472" cy="438912"/>
          </a:xfrm>
          <a:prstGeom prst="chevron">
            <a:avLst/>
          </a:prstGeom>
          <a:solidFill>
            <a:srgbClr val="D8E2F1"/>
          </a:solidFill>
          <a:ln w="12700">
            <a:solidFill>
              <a:srgbClr val="D8E2F1"/>
            </a:solidFill>
            <a:prstDash val="solid"/>
          </a:ln>
        </p:spPr>
      </p:sp>
      <p:sp>
        <p:nvSpPr>
          <p:cNvPr id="14" name="Shape 12"/>
          <p:cNvSpPr/>
          <p:nvPr/>
        </p:nvSpPr>
        <p:spPr>
          <a:xfrm>
            <a:off x="6085332" y="1920239"/>
            <a:ext cx="2560320" cy="1849119"/>
          </a:xfrm>
          <a:prstGeom prst="roundRect">
            <a:avLst>
              <a:gd name="adj" fmla="val 2581"/>
            </a:avLst>
          </a:prstGeom>
          <a:solidFill>
            <a:srgbClr val="FDECEE"/>
          </a:solidFill>
          <a:ln w="12700">
            <a:solidFill>
              <a:srgbClr val="DDE3EC"/>
            </a:solidFill>
            <a:prstDash val="solid"/>
          </a:ln>
        </p:spPr>
      </p:sp>
      <p:sp>
        <p:nvSpPr>
          <p:cNvPr id="15" name="Text 13"/>
          <p:cNvSpPr/>
          <p:nvPr/>
        </p:nvSpPr>
        <p:spPr>
          <a:xfrm>
            <a:off x="6195060" y="2066544"/>
            <a:ext cx="384048" cy="384048"/>
          </a:xfrm>
          <a:prstGeom prst="rect">
            <a:avLst/>
          </a:prstGeom>
          <a:noFill/>
          <a:ln/>
        </p:spPr>
        <p:txBody>
          <a:bodyPr wrap="square" lIns="0" tIns="0" rIns="0" bIns="0" rtlCol="0" anchor="ctr"/>
          <a:lstStyle/>
          <a:p>
            <a:pPr marL="0" indent="0" algn="ctr">
              <a:buNone/>
            </a:pPr>
            <a:r>
              <a:rPr lang="en-US" sz="2000" b="1" dirty="0">
                <a:solidFill>
                  <a:srgbClr val="C63F45"/>
                </a:solidFill>
                <a:latin typeface="Noto Sans CJK SC" pitchFamily="34" charset="0"/>
                <a:ea typeface="Noto Sans CJK SC" pitchFamily="34" charset="-122"/>
                <a:cs typeface="Noto Sans CJK SC" pitchFamily="34" charset="-120"/>
              </a:rPr>
              <a:t>新</a:t>
            </a:r>
            <a:endParaRPr lang="en-US" sz="2000" dirty="0"/>
          </a:p>
        </p:txBody>
      </p:sp>
      <p:sp>
        <p:nvSpPr>
          <p:cNvPr id="16" name="Text 14"/>
          <p:cNvSpPr/>
          <p:nvPr/>
        </p:nvSpPr>
        <p:spPr>
          <a:xfrm>
            <a:off x="667969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C63F45"/>
                </a:solidFill>
                <a:latin typeface="Noto Sans CJK SC" pitchFamily="34" charset="0"/>
                <a:ea typeface="Noto Sans CJK SC" pitchFamily="34" charset="-122"/>
                <a:cs typeface="Noto Sans CJK SC" pitchFamily="34" charset="-120"/>
              </a:rPr>
              <a:t>进入新状态</a:t>
            </a:r>
            <a:endParaRPr lang="en-US" sz="1600" dirty="0"/>
          </a:p>
        </p:txBody>
      </p:sp>
      <p:sp>
        <p:nvSpPr>
          <p:cNvPr id="17" name="Text 15"/>
          <p:cNvSpPr/>
          <p:nvPr/>
        </p:nvSpPr>
        <p:spPr>
          <a:xfrm>
            <a:off x="6249924" y="2587752"/>
            <a:ext cx="2231136" cy="566928"/>
          </a:xfrm>
          <a:prstGeom prst="rect">
            <a:avLst/>
          </a:prstGeom>
          <a:noFill/>
          <a:ln/>
        </p:spPr>
        <p:txBody>
          <a:bodyPr wrap="square" lIns="0" tIns="0" rIns="0" bIns="0" rtlCol="0" anchor="ctr">
            <a:noAutofit/>
          </a:bodyPr>
          <a:lstStyle/>
          <a:p>
            <a:pPr marL="0" indent="0" algn="ctr">
              <a:buNone/>
            </a:pPr>
            <a:r>
              <a:rPr lang="en-US" sz="2000" dirty="0" err="1">
                <a:solidFill>
                  <a:srgbClr val="222833"/>
                </a:solidFill>
                <a:latin typeface="Noto Sans CJK SC" pitchFamily="34" charset="0"/>
                <a:ea typeface="Noto Sans CJK SC" pitchFamily="34" charset="-122"/>
                <a:cs typeface="Noto Sans CJK SC" pitchFamily="34" charset="-120"/>
              </a:rPr>
              <a:t>新状态不在专家数据分布中</a:t>
            </a:r>
            <a:endParaRPr lang="en-US" sz="2000" dirty="0"/>
          </a:p>
        </p:txBody>
      </p:sp>
      <p:sp>
        <p:nvSpPr>
          <p:cNvPr id="18" name="Shape 16"/>
          <p:cNvSpPr/>
          <p:nvPr/>
        </p:nvSpPr>
        <p:spPr>
          <a:xfrm>
            <a:off x="8700516" y="2414016"/>
            <a:ext cx="347472" cy="438912"/>
          </a:xfrm>
          <a:prstGeom prst="chevron">
            <a:avLst/>
          </a:prstGeom>
          <a:solidFill>
            <a:srgbClr val="D8E2F1"/>
          </a:solidFill>
          <a:ln w="12700">
            <a:solidFill>
              <a:srgbClr val="D8E2F1"/>
            </a:solidFill>
            <a:prstDash val="solid"/>
          </a:ln>
        </p:spPr>
      </p:sp>
      <p:sp>
        <p:nvSpPr>
          <p:cNvPr id="19" name="Shape 17"/>
          <p:cNvSpPr/>
          <p:nvPr/>
        </p:nvSpPr>
        <p:spPr>
          <a:xfrm>
            <a:off x="8771382" y="1920240"/>
            <a:ext cx="2560320" cy="1849118"/>
          </a:xfrm>
          <a:prstGeom prst="roundRect">
            <a:avLst>
              <a:gd name="adj" fmla="val 2581"/>
            </a:avLst>
          </a:prstGeom>
          <a:solidFill>
            <a:srgbClr val="F1ECFA"/>
          </a:solidFill>
          <a:ln w="12700">
            <a:solidFill>
              <a:srgbClr val="DDE3EC"/>
            </a:solidFill>
            <a:prstDash val="solid"/>
          </a:ln>
        </p:spPr>
      </p:sp>
      <p:sp>
        <p:nvSpPr>
          <p:cNvPr id="20" name="Text 18"/>
          <p:cNvSpPr/>
          <p:nvPr/>
        </p:nvSpPr>
        <p:spPr>
          <a:xfrm>
            <a:off x="8881110" y="2066544"/>
            <a:ext cx="384048" cy="384048"/>
          </a:xfrm>
          <a:prstGeom prst="rect">
            <a:avLst/>
          </a:prstGeom>
          <a:noFill/>
          <a:ln/>
        </p:spPr>
        <p:txBody>
          <a:bodyPr wrap="square" lIns="0" tIns="0" rIns="0" bIns="0" rtlCol="0" anchor="ctr"/>
          <a:lstStyle/>
          <a:p>
            <a:pPr marL="0" indent="0" algn="ctr">
              <a:buNone/>
            </a:pPr>
            <a:r>
              <a:rPr lang="en-US" sz="2000" b="1" dirty="0">
                <a:solidFill>
                  <a:srgbClr val="7558A8"/>
                </a:solidFill>
                <a:latin typeface="Noto Sans CJK SC" pitchFamily="34" charset="0"/>
                <a:ea typeface="Noto Sans CJK SC" pitchFamily="34" charset="-122"/>
                <a:cs typeface="Noto Sans CJK SC" pitchFamily="34" charset="-120"/>
              </a:rPr>
              <a:t>大</a:t>
            </a:r>
            <a:endParaRPr lang="en-US" sz="2000" dirty="0"/>
          </a:p>
        </p:txBody>
      </p:sp>
      <p:sp>
        <p:nvSpPr>
          <p:cNvPr id="21" name="Text 19"/>
          <p:cNvSpPr/>
          <p:nvPr/>
        </p:nvSpPr>
        <p:spPr>
          <a:xfrm>
            <a:off x="936574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7558A8"/>
                </a:solidFill>
                <a:latin typeface="Noto Sans CJK SC" pitchFamily="34" charset="0"/>
                <a:ea typeface="Noto Sans CJK SC" pitchFamily="34" charset="-122"/>
                <a:cs typeface="Noto Sans CJK SC" pitchFamily="34" charset="-120"/>
              </a:rPr>
              <a:t>误差继续累积</a:t>
            </a:r>
            <a:endParaRPr lang="en-US" sz="1600" dirty="0"/>
          </a:p>
        </p:txBody>
      </p:sp>
      <p:sp>
        <p:nvSpPr>
          <p:cNvPr id="22" name="Text 20"/>
          <p:cNvSpPr/>
          <p:nvPr/>
        </p:nvSpPr>
        <p:spPr>
          <a:xfrm>
            <a:off x="8935974" y="2587751"/>
            <a:ext cx="2240280" cy="832103"/>
          </a:xfrm>
          <a:prstGeom prst="rect">
            <a:avLst/>
          </a:prstGeom>
          <a:noFill/>
          <a:ln/>
        </p:spPr>
        <p:txBody>
          <a:bodyPr wrap="square" lIns="0" tIns="0" rIns="0" bIns="0" rtlCol="0" anchor="ctr">
            <a:normAutofit lnSpcReduction="10000"/>
          </a:bodyPr>
          <a:lstStyle/>
          <a:p>
            <a:pPr marL="0" indent="0" algn="ctr">
              <a:buNone/>
            </a:pPr>
            <a:r>
              <a:rPr lang="en-US" sz="2000" dirty="0" err="1">
                <a:solidFill>
                  <a:srgbClr val="222833"/>
                </a:solidFill>
                <a:latin typeface="Noto Sans CJK SC" pitchFamily="34" charset="0"/>
                <a:ea typeface="Noto Sans CJK SC" pitchFamily="34" charset="-122"/>
                <a:cs typeface="Noto Sans CJK SC" pitchFamily="34" charset="-120"/>
              </a:rPr>
              <a:t>策略越来越缺少可靠监督，轨迹逐步偏离</a:t>
            </a:r>
            <a:endParaRPr lang="en-US" sz="20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行为克隆的误差累积：长时序会放大小偏差</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3967480" y="3274564"/>
            <a:ext cx="3947160" cy="1048512"/>
          </a:xfrm>
          <a:prstGeom prst="roundRect">
            <a:avLst/>
          </a:prstGeom>
          <a:solidFill>
            <a:srgbClr val="FFFFFF"/>
          </a:solidFill>
          <a:ln w="12700">
            <a:solidFill>
              <a:srgbClr val="D7DEE8"/>
            </a:solidFill>
            <a:prstDash val="solid"/>
          </a:ln>
          <a:effectLst>
            <a:outerShdw blurRad="12700" dist="3810" dir="2700000" algn="bl" rotWithShape="0">
              <a:srgbClr val="000000">
                <a:alpha val="6000"/>
              </a:srgbClr>
            </a:outerShdw>
          </a:effectLst>
        </p:spPr>
      </p:sp>
      <p:pic>
        <p:nvPicPr>
          <p:cNvPr id="5" name="Image 0" descr="/mnt/data/ch4_formula_rendered/eq-shift-quadratic.png"/>
          <p:cNvPicPr>
            <a:picLocks noChangeAspect="1"/>
          </p:cNvPicPr>
          <p:nvPr/>
        </p:nvPicPr>
        <p:blipFill>
          <a:blip r:embed="rId3"/>
          <a:srcRect l="35522" t="21728" r="37374" b="27759"/>
          <a:stretch>
            <a:fillRect/>
          </a:stretch>
        </p:blipFill>
        <p:spPr>
          <a:xfrm>
            <a:off x="4754880" y="3378197"/>
            <a:ext cx="2075222" cy="863599"/>
          </a:xfrm>
          <a:prstGeom prst="rect">
            <a:avLst/>
          </a:prstGeom>
        </p:spPr>
      </p:pic>
      <p:sp>
        <p:nvSpPr>
          <p:cNvPr id="10" name="Text 7"/>
          <p:cNvSpPr/>
          <p:nvPr/>
        </p:nvSpPr>
        <p:spPr>
          <a:xfrm>
            <a:off x="717571" y="1281689"/>
            <a:ext cx="10149840" cy="1700266"/>
          </a:xfrm>
          <a:prstGeom prst="rect">
            <a:avLst/>
          </a:prstGeom>
          <a:noFill/>
          <a:ln/>
        </p:spPr>
        <p:txBody>
          <a:bodyPr wrap="square" lIns="0" tIns="0" rIns="0" bIns="0" rtlCol="0" anchor="ctr">
            <a:normAutofit lnSpcReduction="10000"/>
          </a:bodyPr>
          <a:lstStyle/>
          <a:p>
            <a:pPr marL="457200" indent="-457200">
              <a:lnSpc>
                <a:spcPct val="120000"/>
              </a:lnSpc>
              <a:buFont typeface="Arial" panose="020B0604020202020204" pitchFamily="34" charset="0"/>
              <a:buChar char="•"/>
            </a:pPr>
            <a:r>
              <a:rPr lang="en-US" altLang="zh-CN" sz="2400" dirty="0" err="1">
                <a:solidFill>
                  <a:srgbClr val="222833"/>
                </a:solidFill>
                <a:latin typeface="微软雅黑" panose="020B0503020204020204" pitchFamily="34" charset="-122"/>
                <a:ea typeface="微软雅黑" panose="020B0503020204020204" pitchFamily="34" charset="-122"/>
              </a:rPr>
              <a:t>若单步误差为</a:t>
            </a:r>
            <a:r>
              <a:rPr lang="en-US" altLang="zh-CN" sz="2400" dirty="0">
                <a:solidFill>
                  <a:srgbClr val="222833"/>
                </a:solidFill>
                <a:latin typeface="微软雅黑" panose="020B0503020204020204" pitchFamily="34" charset="-122"/>
                <a:ea typeface="微软雅黑" panose="020B0503020204020204" pitchFamily="34" charset="-122"/>
              </a:rPr>
              <a:t> </a:t>
            </a:r>
            <a:r>
              <a:rPr lang="en-US" altLang="zh-CN" sz="2400" dirty="0" err="1">
                <a:solidFill>
                  <a:srgbClr val="222833"/>
                </a:solidFill>
                <a:latin typeface="微软雅黑" panose="020B0503020204020204" pitchFamily="34" charset="-122"/>
                <a:ea typeface="微软雅黑" panose="020B0503020204020204" pitchFamily="34" charset="-122"/>
              </a:rPr>
              <a:t>ε、任务时长为</a:t>
            </a:r>
            <a:r>
              <a:rPr lang="en-US" altLang="zh-CN" sz="2400" dirty="0">
                <a:solidFill>
                  <a:srgbClr val="222833"/>
                </a:solidFill>
                <a:latin typeface="微软雅黑" panose="020B0503020204020204" pitchFamily="34" charset="-122"/>
                <a:ea typeface="微软雅黑" panose="020B0503020204020204" pitchFamily="34" charset="-122"/>
              </a:rPr>
              <a:t> </a:t>
            </a:r>
            <a:r>
              <a:rPr lang="en-US" altLang="zh-CN" sz="2400" dirty="0" err="1">
                <a:solidFill>
                  <a:srgbClr val="222833"/>
                </a:solidFill>
                <a:latin typeface="微软雅黑" panose="020B0503020204020204" pitchFamily="34" charset="-122"/>
                <a:ea typeface="微软雅黑" panose="020B0503020204020204" pitchFamily="34" charset="-122"/>
              </a:rPr>
              <a:t>T，行为克隆的总误差可达</a:t>
            </a:r>
            <a:r>
              <a:rPr lang="en-US" altLang="zh-CN" sz="2400" dirty="0">
                <a:solidFill>
                  <a:srgbClr val="222833"/>
                </a:solidFill>
                <a:latin typeface="微软雅黑" panose="020B0503020204020204" pitchFamily="34" charset="-122"/>
                <a:ea typeface="微软雅黑" panose="020B0503020204020204" pitchFamily="34" charset="-122"/>
              </a:rPr>
              <a:t> O(T²ε)，</a:t>
            </a:r>
            <a:r>
              <a:rPr lang="en-US" altLang="zh-CN" sz="2400" dirty="0" err="1">
                <a:solidFill>
                  <a:srgbClr val="222833"/>
                </a:solidFill>
                <a:latin typeface="微软雅黑" panose="020B0503020204020204" pitchFamily="34" charset="-122"/>
                <a:ea typeface="微软雅黑" panose="020B0503020204020204" pitchFamily="34" charset="-122"/>
              </a:rPr>
              <a:t>呈二次增长</a:t>
            </a:r>
            <a:endParaRPr lang="en-US" sz="2400" dirty="0">
              <a:solidFill>
                <a:srgbClr val="222833"/>
              </a:solidFill>
              <a:latin typeface="微软雅黑" panose="020B0503020204020204" pitchFamily="34" charset="-122"/>
              <a:ea typeface="微软雅黑" panose="020B0503020204020204" pitchFamily="34" charset="-122"/>
            </a:endParaRPr>
          </a:p>
          <a:p>
            <a:pPr marL="457200" indent="-457200">
              <a:lnSpc>
                <a:spcPct val="120000"/>
              </a:lnSpc>
              <a:buFont typeface="Arial" panose="020B0604020202020204" pitchFamily="34" charset="0"/>
              <a:buChar char="•"/>
            </a:pPr>
            <a:r>
              <a:rPr lang="en-US" sz="2400" dirty="0" err="1">
                <a:solidFill>
                  <a:srgbClr val="222833"/>
                </a:solidFill>
                <a:latin typeface="微软雅黑" panose="020B0503020204020204" pitchFamily="34" charset="-122"/>
                <a:ea typeface="微软雅黑" panose="020B0503020204020204" pitchFamily="34" charset="-122"/>
              </a:rPr>
              <a:t>任务越长，早期的小误差越有可能改变后续状态分布，形成“越偏越错”的反馈</a:t>
            </a:r>
            <a:endParaRPr lang="en-US" sz="2400" dirty="0">
              <a:solidFill>
                <a:srgbClr val="222833"/>
              </a:solidFill>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92</a:t>
            </a:fld>
            <a:endParaRPr lang="en-US">
              <a:latin typeface="微软雅黑" panose="020B0503020204020204" pitchFamily="34" charset="-122"/>
              <a:ea typeface="微软雅黑" panose="020B0503020204020204" pitchFamily="34" charset="-122"/>
            </a:endParaRPr>
          </a:p>
        </p:txBody>
      </p:sp>
      <p:sp>
        <p:nvSpPr>
          <p:cNvPr id="12" name="Text 7">
            <a:extLst>
              <a:ext uri="{FF2B5EF4-FFF2-40B4-BE49-F238E27FC236}">
                <a16:creationId xmlns:a16="http://schemas.microsoft.com/office/drawing/2014/main" id="{7944A0C6-7E95-7925-5A07-C72E5CB81214}"/>
              </a:ext>
            </a:extLst>
          </p:cNvPr>
          <p:cNvSpPr/>
          <p:nvPr/>
        </p:nvSpPr>
        <p:spPr>
          <a:xfrm>
            <a:off x="778531" y="4426709"/>
            <a:ext cx="10149840" cy="1957323"/>
          </a:xfrm>
          <a:prstGeom prst="rect">
            <a:avLst/>
          </a:prstGeom>
          <a:noFill/>
          <a:ln/>
        </p:spPr>
        <p:txBody>
          <a:bodyPr wrap="square" lIns="0" tIns="0" rIns="0" bIns="0" rtlCol="0" anchor="ctr">
            <a:normAutofit fontScale="77500" lnSpcReduction="20000"/>
          </a:bodyPr>
          <a:lstStyle/>
          <a:p>
            <a:pPr marL="457200" indent="-457200">
              <a:lnSpc>
                <a:spcPct val="110000"/>
              </a:lnSpc>
              <a:buFont typeface="Arial" panose="020B0604020202020204" pitchFamily="34" charset="0"/>
              <a:buChar char="•"/>
            </a:pPr>
            <a:r>
              <a:rPr lang="zh-CN" altLang="en-US" sz="2800" dirty="0">
                <a:solidFill>
                  <a:srgbClr val="222833"/>
                </a:solidFill>
                <a:latin typeface="微软雅黑" panose="020B0503020204020204" pitchFamily="34" charset="-122"/>
                <a:ea typeface="微软雅黑" panose="020B0503020204020204" pitchFamily="34" charset="-122"/>
              </a:rPr>
              <a:t>分布漂移示例：</a:t>
            </a:r>
            <a:endParaRPr lang="en-US" altLang="zh-CN" sz="2800" dirty="0">
              <a:solidFill>
                <a:srgbClr val="222833"/>
              </a:solidFill>
              <a:latin typeface="微软雅黑" panose="020B0503020204020204" pitchFamily="34" charset="-122"/>
              <a:ea typeface="微软雅黑" panose="020B0503020204020204" pitchFamily="34" charset="-122"/>
            </a:endParaRPr>
          </a:p>
          <a:p>
            <a:pPr marL="914400" lvl="1" indent="-457200">
              <a:lnSpc>
                <a:spcPct val="110000"/>
              </a:lnSpc>
              <a:buFont typeface="Arial" panose="020B0604020202020204" pitchFamily="34" charset="0"/>
              <a:buChar char="•"/>
            </a:pPr>
            <a:r>
              <a:rPr lang="en-US" altLang="zh-CN" sz="2800" dirty="0" err="1">
                <a:solidFill>
                  <a:srgbClr val="222833"/>
                </a:solidFill>
                <a:latin typeface="Noto Sans CJK SC" pitchFamily="34" charset="0"/>
                <a:ea typeface="Noto Sans CJK SC" pitchFamily="34" charset="-122"/>
                <a:cs typeface="Noto Sans CJK SC" pitchFamily="34" charset="-120"/>
              </a:rPr>
              <a:t>专家数据主要来自晴天、固定相机位姿或有限场景，策略学到这些条件下的行为模式</a:t>
            </a:r>
            <a:r>
              <a:rPr lang="zh-CN" altLang="en-US" sz="2800" dirty="0">
                <a:solidFill>
                  <a:srgbClr val="222833"/>
                </a:solidFill>
                <a:latin typeface="Noto Sans CJK SC" pitchFamily="34" charset="0"/>
                <a:ea typeface="Noto Sans CJK SC" pitchFamily="34" charset="-122"/>
                <a:cs typeface="Noto Sans CJK SC" pitchFamily="34" charset="-120"/>
              </a:rPr>
              <a:t>；</a:t>
            </a:r>
            <a:endParaRPr lang="en-US" altLang="zh-CN" sz="2800" dirty="0">
              <a:solidFill>
                <a:srgbClr val="222833"/>
              </a:solidFill>
              <a:latin typeface="Noto Sans CJK SC" pitchFamily="34" charset="0"/>
              <a:ea typeface="Noto Sans CJK SC" pitchFamily="34" charset="-122"/>
              <a:cs typeface="Noto Sans CJK SC" pitchFamily="34" charset="-120"/>
            </a:endParaRPr>
          </a:p>
          <a:p>
            <a:pPr marL="914400" lvl="1" indent="-457200">
              <a:lnSpc>
                <a:spcPct val="110000"/>
              </a:lnSpc>
              <a:buFont typeface="Arial" panose="020B0604020202020204" pitchFamily="34" charset="0"/>
              <a:buChar char="•"/>
            </a:pPr>
            <a:r>
              <a:rPr lang="en-US" altLang="zh-CN" sz="2800" dirty="0" err="1">
                <a:solidFill>
                  <a:srgbClr val="222833"/>
                </a:solidFill>
                <a:latin typeface="Noto Sans CJK SC" pitchFamily="34" charset="0"/>
                <a:ea typeface="Noto Sans CJK SC" pitchFamily="34" charset="-122"/>
                <a:cs typeface="Noto Sans CJK SC" pitchFamily="34" charset="-120"/>
              </a:rPr>
              <a:t>雨天、视角变化或扰动使观测分布变化，行为克隆可能偏离车道或进入新状态</a:t>
            </a:r>
            <a:r>
              <a:rPr lang="en-US" altLang="zh-CN" sz="2800" dirty="0">
                <a:solidFill>
                  <a:srgbClr val="222833"/>
                </a:solidFill>
                <a:latin typeface="Noto Sans CJK SC" pitchFamily="34" charset="0"/>
                <a:ea typeface="Noto Sans CJK SC" pitchFamily="34" charset="-122"/>
                <a:cs typeface="Noto Sans CJK SC" pitchFamily="34" charset="-120"/>
              </a:rPr>
              <a:t>。</a:t>
            </a:r>
          </a:p>
          <a:p>
            <a:pPr marL="457200" indent="-457200">
              <a:lnSpc>
                <a:spcPct val="110000"/>
              </a:lnSpc>
              <a:buFont typeface="Arial" panose="020B0604020202020204" pitchFamily="34" charset="0"/>
              <a:buChar char="•"/>
            </a:pPr>
            <a:r>
              <a:rPr lang="zh-CN" altLang="en-US" sz="2800" dirty="0">
                <a:solidFill>
                  <a:srgbClr val="222833"/>
                </a:solidFill>
                <a:latin typeface="微软雅黑" panose="020B0503020204020204" pitchFamily="34" charset="-122"/>
                <a:ea typeface="微软雅黑" panose="020B0503020204020204" pitchFamily="34" charset="-122"/>
              </a:rPr>
              <a:t>常见缓解方式包括数据增强和主动纠错算法</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分布漂移的累积过程</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18.png"/>
          <p:cNvPicPr>
            <a:picLocks noChangeAspect="1"/>
          </p:cNvPicPr>
          <p:nvPr/>
        </p:nvPicPr>
        <p:blipFill>
          <a:blip r:embed="rId3"/>
          <a:stretch>
            <a:fillRect/>
          </a:stretch>
        </p:blipFill>
        <p:spPr>
          <a:xfrm>
            <a:off x="5966460" y="1477772"/>
            <a:ext cx="5335947" cy="4191508"/>
          </a:xfrm>
          <a:prstGeom prst="rect">
            <a:avLst/>
          </a:prstGeom>
        </p:spPr>
      </p:pic>
      <p:sp>
        <p:nvSpPr>
          <p:cNvPr id="5" name="Text 2"/>
          <p:cNvSpPr/>
          <p:nvPr/>
        </p:nvSpPr>
        <p:spPr>
          <a:xfrm>
            <a:off x="5598862" y="5848604"/>
            <a:ext cx="6720840" cy="256032"/>
          </a:xfrm>
          <a:prstGeom prst="rect">
            <a:avLst/>
          </a:prstGeom>
          <a:noFill/>
          <a:ln/>
        </p:spPr>
        <p:txBody>
          <a:bodyPr wrap="square" lIns="0" tIns="0" rIns="0" bIns="0" rtlCol="0" anchor="ctr">
            <a:normAutofit/>
          </a:bodyPr>
          <a:lstStyle/>
          <a:p>
            <a:pPr marL="0" indent="0" algn="ctr">
              <a:buNone/>
            </a:pPr>
            <a:r>
              <a:rPr lang="en-US" sz="1600" b="1" dirty="0" err="1">
                <a:solidFill>
                  <a:schemeClr val="accent1">
                    <a:lumMod val="50000"/>
                  </a:schemeClr>
                </a:solidFill>
                <a:latin typeface="微软雅黑" panose="020B0503020204020204" pitchFamily="34" charset="-122"/>
                <a:ea typeface="微软雅黑" panose="020B0503020204020204" pitchFamily="34" charset="-122"/>
              </a:rPr>
              <a:t>分布漂移的累积过程</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Text 3"/>
          <p:cNvSpPr/>
          <p:nvPr/>
        </p:nvSpPr>
        <p:spPr>
          <a:xfrm>
            <a:off x="817880" y="1696720"/>
            <a:ext cx="4439920" cy="2733038"/>
          </a:xfrm>
          <a:prstGeom prst="rect">
            <a:avLst/>
          </a:prstGeom>
          <a:noFill/>
          <a:ln/>
        </p:spPr>
        <p:txBody>
          <a:bodyPr wrap="square" lIns="635" tIns="635" rIns="635" bIns="635" rtlCol="0" anchor="t">
            <a:normAutofit/>
          </a:bodyPr>
          <a:lstStyle/>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训练数据主要来自专家访问过的状态</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学习策略执行后逐步偏离专家轨迹</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一旦进入未知区域，后续预测误差更容易被放大</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93</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4.5.2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DAgger</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64208"/>
            <a:ext cx="10149840" cy="4069080"/>
          </a:xfrm>
          <a:prstGeom prst="rect">
            <a:avLst/>
          </a:prstGeom>
          <a:noFill/>
          <a:ln/>
        </p:spPr>
        <p:txBody>
          <a:bodyPr wrap="square" lIns="635" tIns="635" rIns="635" bIns="635" rtlCol="0" anchor="t">
            <a:normAutofit/>
          </a:bodyPr>
          <a:lstStyle/>
          <a:p>
            <a:pPr marL="228600" indent="-228600">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DAgger（Dataset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Aggregation）让学习者自己生成轨迹</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专家对学习者访问到的状态给出正确动作，从而动态扩展数据集</a:t>
            </a:r>
            <a:endParaRPr lang="en-US" sz="2400" dirty="0">
              <a:latin typeface="微软雅黑" panose="020B0503020204020204" pitchFamily="34" charset="-122"/>
              <a:ea typeface="微软雅黑" panose="020B0503020204020204" pitchFamily="34" charset="-122"/>
            </a:endParaRPr>
          </a:p>
          <a:p>
            <a:pPr marL="228600" indent="-228600">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随着迭代进行，训练数据分布逐步贴近当前学习策略的实际状态分布</a:t>
            </a:r>
            <a:endParaRPr lang="en-US" sz="192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94</a:t>
            </a:fld>
            <a:endParaRPr lang="en-US">
              <a:latin typeface="微软雅黑" panose="020B0503020204020204" pitchFamily="34" charset="-122"/>
              <a:ea typeface="微软雅黑" panose="020B0503020204020204" pitchFamily="34" charset="-122"/>
            </a:endParaRPr>
          </a:p>
        </p:txBody>
      </p:sp>
      <p:sp>
        <p:nvSpPr>
          <p:cNvPr id="6" name="Shape 2">
            <a:extLst>
              <a:ext uri="{FF2B5EF4-FFF2-40B4-BE49-F238E27FC236}">
                <a16:creationId xmlns:a16="http://schemas.microsoft.com/office/drawing/2014/main" id="{63BFC2A4-9C1F-5A1F-C213-91918296604E}"/>
              </a:ext>
            </a:extLst>
          </p:cNvPr>
          <p:cNvSpPr/>
          <p:nvPr/>
        </p:nvSpPr>
        <p:spPr>
          <a:xfrm>
            <a:off x="811530" y="3223768"/>
            <a:ext cx="2560320" cy="1417320"/>
          </a:xfrm>
          <a:prstGeom prst="roundRect">
            <a:avLst>
              <a:gd name="adj" fmla="val 2581"/>
            </a:avLst>
          </a:prstGeom>
          <a:solidFill>
            <a:srgbClr val="EDF2FA"/>
          </a:solidFill>
          <a:ln w="12700">
            <a:solidFill>
              <a:srgbClr val="DDE3EC"/>
            </a:solidFill>
            <a:prstDash val="solid"/>
          </a:ln>
        </p:spPr>
      </p:sp>
      <p:sp>
        <p:nvSpPr>
          <p:cNvPr id="8" name="Text 3">
            <a:extLst>
              <a:ext uri="{FF2B5EF4-FFF2-40B4-BE49-F238E27FC236}">
                <a16:creationId xmlns:a16="http://schemas.microsoft.com/office/drawing/2014/main" id="{BC902A85-CDF5-191C-B4B4-10817C2BA79B}"/>
              </a:ext>
            </a:extLst>
          </p:cNvPr>
          <p:cNvSpPr/>
          <p:nvPr/>
        </p:nvSpPr>
        <p:spPr>
          <a:xfrm>
            <a:off x="921258" y="3370072"/>
            <a:ext cx="384048" cy="384048"/>
          </a:xfrm>
          <a:prstGeom prst="rect">
            <a:avLst/>
          </a:prstGeom>
          <a:noFill/>
          <a:ln/>
        </p:spPr>
        <p:txBody>
          <a:bodyPr wrap="square" lIns="0" tIns="0" rIns="0" bIns="0" rtlCol="0" anchor="ctr"/>
          <a:lstStyle/>
          <a:p>
            <a:pPr marL="0" indent="0" algn="ctr">
              <a:buNone/>
            </a:pPr>
            <a:r>
              <a:rPr lang="en-US" b="1" dirty="0">
                <a:solidFill>
                  <a:srgbClr val="31599B"/>
                </a:solidFill>
                <a:latin typeface="微软雅黑" panose="020B0503020204020204" pitchFamily="34" charset="-122"/>
                <a:ea typeface="微软雅黑" panose="020B0503020204020204" pitchFamily="34" charset="-122"/>
                <a:cs typeface="Noto Sans CJK SC" pitchFamily="34" charset="-120"/>
              </a:rPr>
              <a:t>1</a:t>
            </a:r>
            <a:endParaRPr lang="en-US" dirty="0">
              <a:latin typeface="微软雅黑" panose="020B0503020204020204" pitchFamily="34" charset="-122"/>
              <a:ea typeface="微软雅黑" panose="020B0503020204020204" pitchFamily="34" charset="-122"/>
            </a:endParaRPr>
          </a:p>
        </p:txBody>
      </p:sp>
      <p:sp>
        <p:nvSpPr>
          <p:cNvPr id="10" name="Text 4">
            <a:extLst>
              <a:ext uri="{FF2B5EF4-FFF2-40B4-BE49-F238E27FC236}">
                <a16:creationId xmlns:a16="http://schemas.microsoft.com/office/drawing/2014/main" id="{9DF278D9-2BD2-D25F-F73F-68AA9625C4CA}"/>
              </a:ext>
            </a:extLst>
          </p:cNvPr>
          <p:cNvSpPr/>
          <p:nvPr/>
        </p:nvSpPr>
        <p:spPr>
          <a:xfrm>
            <a:off x="1405890" y="3370072"/>
            <a:ext cx="1810512" cy="310896"/>
          </a:xfrm>
          <a:prstGeom prst="rect">
            <a:avLst/>
          </a:prstGeom>
          <a:noFill/>
          <a:ln/>
        </p:spPr>
        <p:txBody>
          <a:bodyPr wrap="square" lIns="0" tIns="0" rIns="0" bIns="0" rtlCol="0" anchor="ctr">
            <a:normAutofit/>
          </a:bodyPr>
          <a:lstStyle/>
          <a:p>
            <a:pPr marL="0" indent="0">
              <a:buNone/>
            </a:pPr>
            <a:r>
              <a:rPr lang="en-US" b="1" dirty="0">
                <a:solidFill>
                  <a:srgbClr val="31599B"/>
                </a:solidFill>
                <a:latin typeface="微软雅黑" panose="020B0503020204020204" pitchFamily="34" charset="-122"/>
                <a:ea typeface="微软雅黑" panose="020B0503020204020204" pitchFamily="34" charset="-122"/>
                <a:cs typeface="Noto Sans CJK SC" pitchFamily="34" charset="-120"/>
              </a:rPr>
              <a:t>执行当前策略</a:t>
            </a:r>
            <a:endParaRPr lang="en-US" dirty="0">
              <a:latin typeface="微软雅黑" panose="020B0503020204020204" pitchFamily="34" charset="-122"/>
              <a:ea typeface="微软雅黑" panose="020B0503020204020204" pitchFamily="34" charset="-122"/>
            </a:endParaRPr>
          </a:p>
        </p:txBody>
      </p:sp>
      <p:sp>
        <p:nvSpPr>
          <p:cNvPr id="12" name="Text 5">
            <a:extLst>
              <a:ext uri="{FF2B5EF4-FFF2-40B4-BE49-F238E27FC236}">
                <a16:creationId xmlns:a16="http://schemas.microsoft.com/office/drawing/2014/main" id="{45A59A5B-A9CB-AD83-961F-D45EEC9FE4C6}"/>
              </a:ext>
            </a:extLst>
          </p:cNvPr>
          <p:cNvSpPr/>
          <p:nvPr/>
        </p:nvSpPr>
        <p:spPr>
          <a:xfrm>
            <a:off x="976122" y="3845560"/>
            <a:ext cx="2231136" cy="566928"/>
          </a:xfrm>
          <a:prstGeom prst="rect">
            <a:avLst/>
          </a:prstGeom>
          <a:noFill/>
          <a:ln/>
        </p:spPr>
        <p:txBody>
          <a:bodyPr wrap="square" lIns="0" tIns="0" rIns="0" bIns="0" rtlCol="0" anchor="ctr">
            <a:normAutofit/>
          </a:bodyPr>
          <a:lstStyle/>
          <a:p>
            <a:pPr marL="0" indent="0" algn="ctr">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让学习者与环境交互并访问真实状态</a:t>
            </a:r>
            <a:endParaRPr lang="en-US" dirty="0">
              <a:latin typeface="微软雅黑" panose="020B0503020204020204" pitchFamily="34" charset="-122"/>
              <a:ea typeface="微软雅黑" panose="020B0503020204020204" pitchFamily="34" charset="-122"/>
            </a:endParaRPr>
          </a:p>
        </p:txBody>
      </p:sp>
      <p:sp>
        <p:nvSpPr>
          <p:cNvPr id="14" name="Shape 6">
            <a:extLst>
              <a:ext uri="{FF2B5EF4-FFF2-40B4-BE49-F238E27FC236}">
                <a16:creationId xmlns:a16="http://schemas.microsoft.com/office/drawing/2014/main" id="{2BA04FB3-C7A3-15C5-8B2C-7DBB9A7E33DC}"/>
              </a:ext>
            </a:extLst>
          </p:cNvPr>
          <p:cNvSpPr/>
          <p:nvPr/>
        </p:nvSpPr>
        <p:spPr>
          <a:xfrm>
            <a:off x="3426714" y="3717544"/>
            <a:ext cx="347472" cy="438912"/>
          </a:xfrm>
          <a:prstGeom prst="chevron">
            <a:avLst/>
          </a:prstGeom>
          <a:solidFill>
            <a:srgbClr val="D8E2F1"/>
          </a:solidFill>
          <a:ln w="12700">
            <a:solidFill>
              <a:srgbClr val="D8E2F1"/>
            </a:solidFill>
            <a:prstDash val="solid"/>
          </a:ln>
        </p:spPr>
      </p:sp>
      <p:sp>
        <p:nvSpPr>
          <p:cNvPr id="16" name="Shape 7">
            <a:extLst>
              <a:ext uri="{FF2B5EF4-FFF2-40B4-BE49-F238E27FC236}">
                <a16:creationId xmlns:a16="http://schemas.microsoft.com/office/drawing/2014/main" id="{985CC52C-97EE-C6B6-023A-A1A38E638C08}"/>
              </a:ext>
            </a:extLst>
          </p:cNvPr>
          <p:cNvSpPr/>
          <p:nvPr/>
        </p:nvSpPr>
        <p:spPr>
          <a:xfrm>
            <a:off x="3497580" y="3223768"/>
            <a:ext cx="2560320" cy="1417320"/>
          </a:xfrm>
          <a:prstGeom prst="roundRect">
            <a:avLst>
              <a:gd name="adj" fmla="val 2581"/>
            </a:avLst>
          </a:prstGeom>
          <a:solidFill>
            <a:srgbClr val="EAF5F1"/>
          </a:solidFill>
          <a:ln w="12700">
            <a:solidFill>
              <a:srgbClr val="DDE3EC"/>
            </a:solidFill>
            <a:prstDash val="solid"/>
          </a:ln>
        </p:spPr>
      </p:sp>
      <p:sp>
        <p:nvSpPr>
          <p:cNvPr id="18" name="Text 8">
            <a:extLst>
              <a:ext uri="{FF2B5EF4-FFF2-40B4-BE49-F238E27FC236}">
                <a16:creationId xmlns:a16="http://schemas.microsoft.com/office/drawing/2014/main" id="{1F17ADCE-1263-C75A-F29F-13803138BD7A}"/>
              </a:ext>
            </a:extLst>
          </p:cNvPr>
          <p:cNvSpPr/>
          <p:nvPr/>
        </p:nvSpPr>
        <p:spPr>
          <a:xfrm>
            <a:off x="3607308" y="3370072"/>
            <a:ext cx="384048" cy="384048"/>
          </a:xfrm>
          <a:prstGeom prst="rect">
            <a:avLst/>
          </a:prstGeom>
          <a:noFill/>
          <a:ln/>
        </p:spPr>
        <p:txBody>
          <a:bodyPr wrap="square" lIns="0" tIns="0" rIns="0" bIns="0" rtlCol="0" anchor="ctr"/>
          <a:lstStyle/>
          <a:p>
            <a:pPr marL="0" indent="0" algn="ctr">
              <a:buNone/>
            </a:pPr>
            <a:r>
              <a:rPr lang="en-US" b="1" dirty="0">
                <a:solidFill>
                  <a:srgbClr val="2F8E72"/>
                </a:solidFill>
                <a:latin typeface="微软雅黑" panose="020B0503020204020204" pitchFamily="34" charset="-122"/>
                <a:ea typeface="微软雅黑" panose="020B0503020204020204" pitchFamily="34" charset="-122"/>
                <a:cs typeface="Noto Sans CJK SC" pitchFamily="34" charset="-120"/>
              </a:rPr>
              <a:t>2</a:t>
            </a:r>
            <a:endParaRPr lang="en-US" dirty="0">
              <a:latin typeface="微软雅黑" panose="020B0503020204020204" pitchFamily="34" charset="-122"/>
              <a:ea typeface="微软雅黑" panose="020B0503020204020204" pitchFamily="34" charset="-122"/>
            </a:endParaRPr>
          </a:p>
        </p:txBody>
      </p:sp>
      <p:sp>
        <p:nvSpPr>
          <p:cNvPr id="20" name="Text 9">
            <a:extLst>
              <a:ext uri="{FF2B5EF4-FFF2-40B4-BE49-F238E27FC236}">
                <a16:creationId xmlns:a16="http://schemas.microsoft.com/office/drawing/2014/main" id="{3E11383F-12AE-7C0F-D441-987E33D8A49B}"/>
              </a:ext>
            </a:extLst>
          </p:cNvPr>
          <p:cNvSpPr/>
          <p:nvPr/>
        </p:nvSpPr>
        <p:spPr>
          <a:xfrm>
            <a:off x="4091940" y="3370072"/>
            <a:ext cx="1810512" cy="310896"/>
          </a:xfrm>
          <a:prstGeom prst="rect">
            <a:avLst/>
          </a:prstGeom>
          <a:noFill/>
          <a:ln/>
        </p:spPr>
        <p:txBody>
          <a:bodyPr wrap="square" lIns="0" tIns="0" rIns="0" bIns="0" rtlCol="0" anchor="ctr">
            <a:normAutofit/>
          </a:bodyPr>
          <a:lstStyle/>
          <a:p>
            <a:pPr marL="0" indent="0">
              <a:buNone/>
            </a:pPr>
            <a:r>
              <a:rPr lang="en-US" b="1" dirty="0">
                <a:solidFill>
                  <a:srgbClr val="2F8E72"/>
                </a:solidFill>
                <a:latin typeface="微软雅黑" panose="020B0503020204020204" pitchFamily="34" charset="-122"/>
                <a:ea typeface="微软雅黑" panose="020B0503020204020204" pitchFamily="34" charset="-122"/>
                <a:cs typeface="Noto Sans CJK SC" pitchFamily="34" charset="-120"/>
              </a:rPr>
              <a:t>专家标注</a:t>
            </a:r>
            <a:endParaRPr lang="en-US" dirty="0">
              <a:latin typeface="微软雅黑" panose="020B0503020204020204" pitchFamily="34" charset="-122"/>
              <a:ea typeface="微软雅黑" panose="020B0503020204020204" pitchFamily="34" charset="-122"/>
            </a:endParaRPr>
          </a:p>
        </p:txBody>
      </p:sp>
      <p:sp>
        <p:nvSpPr>
          <p:cNvPr id="22" name="Text 10">
            <a:extLst>
              <a:ext uri="{FF2B5EF4-FFF2-40B4-BE49-F238E27FC236}">
                <a16:creationId xmlns:a16="http://schemas.microsoft.com/office/drawing/2014/main" id="{3F46938E-9083-9664-1ED8-65D04CA77F08}"/>
              </a:ext>
            </a:extLst>
          </p:cNvPr>
          <p:cNvSpPr/>
          <p:nvPr/>
        </p:nvSpPr>
        <p:spPr>
          <a:xfrm>
            <a:off x="3662172" y="3845560"/>
            <a:ext cx="2231136" cy="566928"/>
          </a:xfrm>
          <a:prstGeom prst="rect">
            <a:avLst/>
          </a:prstGeom>
          <a:noFill/>
          <a:ln/>
        </p:spPr>
        <p:txBody>
          <a:bodyPr wrap="square" lIns="0" tIns="0" rIns="0" bIns="0" rtlCol="0" anchor="ctr">
            <a:normAutofit/>
          </a:bodyPr>
          <a:lstStyle/>
          <a:p>
            <a:pPr marL="0" indent="0" algn="ctr">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专家为这些访问状态给出最优动作</a:t>
            </a:r>
            <a:endParaRPr lang="en-US" dirty="0">
              <a:latin typeface="微软雅黑" panose="020B0503020204020204" pitchFamily="34" charset="-122"/>
              <a:ea typeface="微软雅黑" panose="020B0503020204020204" pitchFamily="34" charset="-122"/>
            </a:endParaRPr>
          </a:p>
        </p:txBody>
      </p:sp>
      <p:sp>
        <p:nvSpPr>
          <p:cNvPr id="24" name="Shape 11">
            <a:extLst>
              <a:ext uri="{FF2B5EF4-FFF2-40B4-BE49-F238E27FC236}">
                <a16:creationId xmlns:a16="http://schemas.microsoft.com/office/drawing/2014/main" id="{8CBA0F2C-1B4C-E5B7-3817-18E201339949}"/>
              </a:ext>
            </a:extLst>
          </p:cNvPr>
          <p:cNvSpPr/>
          <p:nvPr/>
        </p:nvSpPr>
        <p:spPr>
          <a:xfrm>
            <a:off x="6112764" y="3717544"/>
            <a:ext cx="347472" cy="438912"/>
          </a:xfrm>
          <a:prstGeom prst="chevron">
            <a:avLst/>
          </a:prstGeom>
          <a:solidFill>
            <a:srgbClr val="D8E2F1"/>
          </a:solidFill>
          <a:ln w="12700">
            <a:solidFill>
              <a:srgbClr val="D8E2F1"/>
            </a:solidFill>
            <a:prstDash val="solid"/>
          </a:ln>
        </p:spPr>
      </p:sp>
      <p:sp>
        <p:nvSpPr>
          <p:cNvPr id="27" name="Shape 12">
            <a:extLst>
              <a:ext uri="{FF2B5EF4-FFF2-40B4-BE49-F238E27FC236}">
                <a16:creationId xmlns:a16="http://schemas.microsoft.com/office/drawing/2014/main" id="{BA7436FD-88C8-BC7C-FA1E-3B200D4CC804}"/>
              </a:ext>
            </a:extLst>
          </p:cNvPr>
          <p:cNvSpPr/>
          <p:nvPr/>
        </p:nvSpPr>
        <p:spPr>
          <a:xfrm>
            <a:off x="6183630" y="3223768"/>
            <a:ext cx="2560320" cy="1417320"/>
          </a:xfrm>
          <a:prstGeom prst="roundRect">
            <a:avLst>
              <a:gd name="adj" fmla="val 2581"/>
            </a:avLst>
          </a:prstGeom>
          <a:solidFill>
            <a:srgbClr val="FFF4DE"/>
          </a:solidFill>
          <a:ln w="12700">
            <a:solidFill>
              <a:srgbClr val="DDE3EC"/>
            </a:solidFill>
            <a:prstDash val="solid"/>
          </a:ln>
        </p:spPr>
      </p:sp>
      <p:sp>
        <p:nvSpPr>
          <p:cNvPr id="29" name="Text 13">
            <a:extLst>
              <a:ext uri="{FF2B5EF4-FFF2-40B4-BE49-F238E27FC236}">
                <a16:creationId xmlns:a16="http://schemas.microsoft.com/office/drawing/2014/main" id="{A291C984-AA83-3A5F-8248-61283ED7510E}"/>
              </a:ext>
            </a:extLst>
          </p:cNvPr>
          <p:cNvSpPr/>
          <p:nvPr/>
        </p:nvSpPr>
        <p:spPr>
          <a:xfrm>
            <a:off x="6293358" y="3370072"/>
            <a:ext cx="384048" cy="384048"/>
          </a:xfrm>
          <a:prstGeom prst="rect">
            <a:avLst/>
          </a:prstGeom>
          <a:noFill/>
          <a:ln/>
        </p:spPr>
        <p:txBody>
          <a:bodyPr wrap="square" lIns="0" tIns="0" rIns="0" bIns="0" rtlCol="0" anchor="ctr"/>
          <a:lstStyle/>
          <a:p>
            <a:pPr marL="0" indent="0" algn="ctr">
              <a:buNone/>
            </a:pPr>
            <a:r>
              <a:rPr lang="en-US" b="1" dirty="0">
                <a:solidFill>
                  <a:srgbClr val="C58A24"/>
                </a:solidFill>
                <a:latin typeface="微软雅黑" panose="020B0503020204020204" pitchFamily="34" charset="-122"/>
                <a:ea typeface="微软雅黑" panose="020B0503020204020204" pitchFamily="34" charset="-122"/>
                <a:cs typeface="Noto Sans CJK SC" pitchFamily="34" charset="-120"/>
              </a:rPr>
              <a:t>3</a:t>
            </a:r>
            <a:endParaRPr lang="en-US" dirty="0">
              <a:latin typeface="微软雅黑" panose="020B0503020204020204" pitchFamily="34" charset="-122"/>
              <a:ea typeface="微软雅黑" panose="020B0503020204020204" pitchFamily="34" charset="-122"/>
            </a:endParaRPr>
          </a:p>
        </p:txBody>
      </p:sp>
      <p:sp>
        <p:nvSpPr>
          <p:cNvPr id="31" name="Text 14">
            <a:extLst>
              <a:ext uri="{FF2B5EF4-FFF2-40B4-BE49-F238E27FC236}">
                <a16:creationId xmlns:a16="http://schemas.microsoft.com/office/drawing/2014/main" id="{3AC3FA9F-CF97-C8FC-0510-C34BB371810A}"/>
              </a:ext>
            </a:extLst>
          </p:cNvPr>
          <p:cNvSpPr/>
          <p:nvPr/>
        </p:nvSpPr>
        <p:spPr>
          <a:xfrm>
            <a:off x="6777990" y="3370072"/>
            <a:ext cx="1810512" cy="310896"/>
          </a:xfrm>
          <a:prstGeom prst="rect">
            <a:avLst/>
          </a:prstGeom>
          <a:noFill/>
          <a:ln/>
        </p:spPr>
        <p:txBody>
          <a:bodyPr wrap="square" lIns="0" tIns="0" rIns="0" bIns="0" rtlCol="0" anchor="ctr">
            <a:normAutofit/>
          </a:bodyPr>
          <a:lstStyle/>
          <a:p>
            <a:pPr marL="0" indent="0">
              <a:buNone/>
            </a:pPr>
            <a:r>
              <a:rPr lang="en-US" b="1" dirty="0">
                <a:solidFill>
                  <a:srgbClr val="C58A24"/>
                </a:solidFill>
                <a:latin typeface="微软雅黑" panose="020B0503020204020204" pitchFamily="34" charset="-122"/>
                <a:ea typeface="微软雅黑" panose="020B0503020204020204" pitchFamily="34" charset="-122"/>
                <a:cs typeface="Noto Sans CJK SC" pitchFamily="34" charset="-120"/>
              </a:rPr>
              <a:t>聚合数据集</a:t>
            </a:r>
            <a:endParaRPr lang="en-US" dirty="0">
              <a:latin typeface="微软雅黑" panose="020B0503020204020204" pitchFamily="34" charset="-122"/>
              <a:ea typeface="微软雅黑" panose="020B0503020204020204" pitchFamily="34" charset="-122"/>
            </a:endParaRPr>
          </a:p>
        </p:txBody>
      </p:sp>
      <p:sp>
        <p:nvSpPr>
          <p:cNvPr id="33" name="Text 15">
            <a:extLst>
              <a:ext uri="{FF2B5EF4-FFF2-40B4-BE49-F238E27FC236}">
                <a16:creationId xmlns:a16="http://schemas.microsoft.com/office/drawing/2014/main" id="{F2A90942-7441-2642-3159-D05CD31B2328}"/>
              </a:ext>
            </a:extLst>
          </p:cNvPr>
          <p:cNvSpPr/>
          <p:nvPr/>
        </p:nvSpPr>
        <p:spPr>
          <a:xfrm>
            <a:off x="6348222" y="3845560"/>
            <a:ext cx="2231136" cy="566928"/>
          </a:xfrm>
          <a:prstGeom prst="rect">
            <a:avLst/>
          </a:prstGeom>
          <a:noFill/>
          <a:ln/>
        </p:spPr>
        <p:txBody>
          <a:bodyPr wrap="square" lIns="0" tIns="0" rIns="0" bIns="0" rtlCol="0" anchor="ctr">
            <a:norm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把新状态—</a:t>
            </a: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专家动作加入原训练集</a:t>
            </a:r>
            <a:endParaRPr lang="en-US" dirty="0">
              <a:latin typeface="微软雅黑" panose="020B0503020204020204" pitchFamily="34" charset="-122"/>
              <a:ea typeface="微软雅黑" panose="020B0503020204020204" pitchFamily="34" charset="-122"/>
            </a:endParaRPr>
          </a:p>
        </p:txBody>
      </p:sp>
      <p:sp>
        <p:nvSpPr>
          <p:cNvPr id="35" name="Shape 16">
            <a:extLst>
              <a:ext uri="{FF2B5EF4-FFF2-40B4-BE49-F238E27FC236}">
                <a16:creationId xmlns:a16="http://schemas.microsoft.com/office/drawing/2014/main" id="{54D924CE-FEC2-57A0-190D-FEE6B60055D7}"/>
              </a:ext>
            </a:extLst>
          </p:cNvPr>
          <p:cNvSpPr/>
          <p:nvPr/>
        </p:nvSpPr>
        <p:spPr>
          <a:xfrm>
            <a:off x="8798814" y="3717544"/>
            <a:ext cx="347472" cy="438912"/>
          </a:xfrm>
          <a:prstGeom prst="chevron">
            <a:avLst/>
          </a:prstGeom>
          <a:solidFill>
            <a:srgbClr val="D8E2F1"/>
          </a:solidFill>
          <a:ln w="12700">
            <a:solidFill>
              <a:srgbClr val="D8E2F1"/>
            </a:solidFill>
            <a:prstDash val="solid"/>
          </a:ln>
        </p:spPr>
      </p:sp>
      <p:sp>
        <p:nvSpPr>
          <p:cNvPr id="37" name="Shape 17">
            <a:extLst>
              <a:ext uri="{FF2B5EF4-FFF2-40B4-BE49-F238E27FC236}">
                <a16:creationId xmlns:a16="http://schemas.microsoft.com/office/drawing/2014/main" id="{FC4C71F3-12DD-1728-CC06-2B87AC479E5E}"/>
              </a:ext>
            </a:extLst>
          </p:cNvPr>
          <p:cNvSpPr/>
          <p:nvPr/>
        </p:nvSpPr>
        <p:spPr>
          <a:xfrm>
            <a:off x="8869680" y="3223768"/>
            <a:ext cx="2560320" cy="1417320"/>
          </a:xfrm>
          <a:prstGeom prst="roundRect">
            <a:avLst>
              <a:gd name="adj" fmla="val 2581"/>
            </a:avLst>
          </a:prstGeom>
          <a:solidFill>
            <a:srgbClr val="FDECEE"/>
          </a:solidFill>
          <a:ln w="12700">
            <a:solidFill>
              <a:srgbClr val="DDE3EC"/>
            </a:solidFill>
            <a:prstDash val="solid"/>
          </a:ln>
        </p:spPr>
      </p:sp>
      <p:sp>
        <p:nvSpPr>
          <p:cNvPr id="39" name="Text 18">
            <a:extLst>
              <a:ext uri="{FF2B5EF4-FFF2-40B4-BE49-F238E27FC236}">
                <a16:creationId xmlns:a16="http://schemas.microsoft.com/office/drawing/2014/main" id="{139E3EDB-8D38-8816-1F3A-40E250BB1339}"/>
              </a:ext>
            </a:extLst>
          </p:cNvPr>
          <p:cNvSpPr/>
          <p:nvPr/>
        </p:nvSpPr>
        <p:spPr>
          <a:xfrm>
            <a:off x="8979408" y="3370072"/>
            <a:ext cx="384048" cy="384048"/>
          </a:xfrm>
          <a:prstGeom prst="rect">
            <a:avLst/>
          </a:prstGeom>
          <a:noFill/>
          <a:ln/>
        </p:spPr>
        <p:txBody>
          <a:bodyPr wrap="square" lIns="0" tIns="0" rIns="0" bIns="0" rtlCol="0" anchor="ctr"/>
          <a:lstStyle/>
          <a:p>
            <a:pPr marL="0" indent="0" algn="ctr">
              <a:buNone/>
            </a:pPr>
            <a:r>
              <a:rPr lang="en-US" b="1" dirty="0">
                <a:solidFill>
                  <a:srgbClr val="C63F45"/>
                </a:solidFill>
                <a:latin typeface="微软雅黑" panose="020B0503020204020204" pitchFamily="34" charset="-122"/>
                <a:ea typeface="微软雅黑" panose="020B0503020204020204" pitchFamily="34" charset="-122"/>
                <a:cs typeface="Noto Sans CJK SC" pitchFamily="34" charset="-120"/>
              </a:rPr>
              <a:t>4</a:t>
            </a:r>
            <a:endParaRPr lang="en-US" dirty="0">
              <a:latin typeface="微软雅黑" panose="020B0503020204020204" pitchFamily="34" charset="-122"/>
              <a:ea typeface="微软雅黑" panose="020B0503020204020204" pitchFamily="34" charset="-122"/>
            </a:endParaRPr>
          </a:p>
        </p:txBody>
      </p:sp>
      <p:sp>
        <p:nvSpPr>
          <p:cNvPr id="41" name="Text 19">
            <a:extLst>
              <a:ext uri="{FF2B5EF4-FFF2-40B4-BE49-F238E27FC236}">
                <a16:creationId xmlns:a16="http://schemas.microsoft.com/office/drawing/2014/main" id="{217C8104-975F-2C46-7D6D-67DA72D0D2A4}"/>
              </a:ext>
            </a:extLst>
          </p:cNvPr>
          <p:cNvSpPr/>
          <p:nvPr/>
        </p:nvSpPr>
        <p:spPr>
          <a:xfrm>
            <a:off x="9464040" y="3370072"/>
            <a:ext cx="1810512" cy="310896"/>
          </a:xfrm>
          <a:prstGeom prst="rect">
            <a:avLst/>
          </a:prstGeom>
          <a:noFill/>
          <a:ln/>
        </p:spPr>
        <p:txBody>
          <a:bodyPr wrap="square" lIns="0" tIns="0" rIns="0" bIns="0" rtlCol="0" anchor="ctr">
            <a:normAutofit/>
          </a:bodyPr>
          <a:lstStyle/>
          <a:p>
            <a:pPr marL="0" indent="0">
              <a:buNone/>
            </a:pPr>
            <a:r>
              <a:rPr lang="en-US" b="1" dirty="0">
                <a:solidFill>
                  <a:srgbClr val="C63F45"/>
                </a:solidFill>
                <a:latin typeface="微软雅黑" panose="020B0503020204020204" pitchFamily="34" charset="-122"/>
                <a:ea typeface="微软雅黑" panose="020B0503020204020204" pitchFamily="34" charset="-122"/>
                <a:cs typeface="Noto Sans CJK SC" pitchFamily="34" charset="-120"/>
              </a:rPr>
              <a:t>重新训练</a:t>
            </a:r>
            <a:endParaRPr lang="en-US" dirty="0">
              <a:latin typeface="微软雅黑" panose="020B0503020204020204" pitchFamily="34" charset="-122"/>
              <a:ea typeface="微软雅黑" panose="020B0503020204020204" pitchFamily="34" charset="-122"/>
            </a:endParaRPr>
          </a:p>
        </p:txBody>
      </p:sp>
      <p:sp>
        <p:nvSpPr>
          <p:cNvPr id="43" name="Text 20">
            <a:extLst>
              <a:ext uri="{FF2B5EF4-FFF2-40B4-BE49-F238E27FC236}">
                <a16:creationId xmlns:a16="http://schemas.microsoft.com/office/drawing/2014/main" id="{C4497D6E-E19E-93AA-49E5-3AE69F41DF79}"/>
              </a:ext>
            </a:extLst>
          </p:cNvPr>
          <p:cNvSpPr/>
          <p:nvPr/>
        </p:nvSpPr>
        <p:spPr>
          <a:xfrm>
            <a:off x="9034272" y="3845560"/>
            <a:ext cx="2231136" cy="566928"/>
          </a:xfrm>
          <a:prstGeom prst="rect">
            <a:avLst/>
          </a:prstGeom>
          <a:noFill/>
          <a:ln/>
        </p:spPr>
        <p:txBody>
          <a:bodyPr wrap="square" lIns="0" tIns="0" rIns="0" bIns="0" rtlCol="0" anchor="ctr">
            <a:noAutofit/>
          </a:bodyPr>
          <a:lstStyle/>
          <a:p>
            <a:pPr marL="0" indent="0" algn="ctr">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策略在更接近自身执行分布的数据上学习</a:t>
            </a:r>
            <a:endParaRPr lang="en-US" dirty="0">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A3E2075F-56A9-AF5C-8531-5C28641F0939}"/>
              </a:ext>
            </a:extLst>
          </p:cNvPr>
          <p:cNvSpPr txBox="1"/>
          <p:nvPr/>
        </p:nvSpPr>
        <p:spPr>
          <a:xfrm>
            <a:off x="4388358" y="4934809"/>
            <a:ext cx="6098540" cy="400110"/>
          </a:xfrm>
          <a:prstGeom prst="rect">
            <a:avLst/>
          </a:prstGeom>
          <a:noFill/>
        </p:spPr>
        <p:txBody>
          <a:bodyPr wrap="square">
            <a:spAutoFit/>
          </a:bodyPr>
          <a:lstStyle/>
          <a:p>
            <a:pPr marL="0" indent="0">
              <a:buNone/>
            </a:pPr>
            <a:r>
              <a:rPr lang="en-US" altLang="zh-CN" sz="2000" b="1" dirty="0" err="1">
                <a:solidFill>
                  <a:srgbClr val="24477D"/>
                </a:solidFill>
                <a:latin typeface="微软雅黑" panose="020B0503020204020204" pitchFamily="34" charset="-122"/>
                <a:ea typeface="微软雅黑" panose="020B0503020204020204" pitchFamily="34" charset="-122"/>
                <a:cs typeface="Noto Sans CJK SC" pitchFamily="34" charset="-120"/>
              </a:rPr>
              <a:t>DAgger</a:t>
            </a:r>
            <a:r>
              <a:rPr lang="en-US" altLang="zh-CN" sz="2000" b="1" dirty="0">
                <a:solidFill>
                  <a:srgbClr val="24477D"/>
                </a:solidFill>
                <a:latin typeface="微软雅黑" panose="020B0503020204020204" pitchFamily="34" charset="-122"/>
                <a:ea typeface="微软雅黑" panose="020B0503020204020204" pitchFamily="34" charset="-122"/>
                <a:cs typeface="Noto Sans CJK SC" pitchFamily="34" charset="-120"/>
              </a:rPr>
              <a:t> </a:t>
            </a:r>
            <a:r>
              <a:rPr lang="en-US" altLang="zh-CN" sz="2000" b="1" dirty="0" err="1">
                <a:solidFill>
                  <a:srgbClr val="24477D"/>
                </a:solidFill>
                <a:latin typeface="微软雅黑" panose="020B0503020204020204" pitchFamily="34" charset="-122"/>
                <a:ea typeface="微软雅黑" panose="020B0503020204020204" pitchFamily="34" charset="-122"/>
                <a:cs typeface="Noto Sans CJK SC" pitchFamily="34" charset="-120"/>
              </a:rPr>
              <a:t>的核心循环</a:t>
            </a:r>
            <a:endParaRPr lang="en-US" altLang="zh-CN" sz="20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DAgger 的优化目标</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635883" y="1461482"/>
            <a:ext cx="5303520" cy="511310"/>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4.5.2 DAgger</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850392" y="2228188"/>
            <a:ext cx="10607040" cy="493776"/>
          </a:xfrm>
          <a:prstGeom prst="rect">
            <a:avLst/>
          </a:prstGeom>
          <a:noFill/>
          <a:ln/>
        </p:spPr>
        <p:txBody>
          <a:bodyPr wrap="square" lIns="0" tIns="0" rIns="0" bIns="0"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训练状态来自当前学习策略诱导的状态分布，而监督动作仍由专家提供。</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1847551" y="3181628"/>
            <a:ext cx="7635240" cy="883920"/>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18.png"/>
          <p:cNvPicPr>
            <a:picLocks noChangeAspect="1"/>
          </p:cNvPicPr>
          <p:nvPr/>
        </p:nvPicPr>
        <p:blipFill>
          <a:blip r:embed="rId3"/>
          <a:srcRect l="34387" t="23467" r="34741" b="23592"/>
          <a:stretch>
            <a:fillRect/>
          </a:stretch>
        </p:blipFill>
        <p:spPr>
          <a:xfrm>
            <a:off x="3760679" y="3297489"/>
            <a:ext cx="3677920" cy="707099"/>
          </a:xfrm>
          <a:prstGeom prst="rect">
            <a:avLst/>
          </a:prstGeom>
        </p:spPr>
      </p:pic>
      <p:sp>
        <p:nvSpPr>
          <p:cNvPr id="13" name="Shape 10"/>
          <p:cNvSpPr/>
          <p:nvPr/>
        </p:nvSpPr>
        <p:spPr>
          <a:xfrm>
            <a:off x="740664" y="5504688"/>
            <a:ext cx="10716768" cy="996696"/>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75360" y="5601846"/>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与纯 BC 不同，DAgger 主动采样“学习者自己会访问”的状态，从数据层面修正分布不匹配。</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95</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8F193D2D-07E5-8610-88A4-178E69E2978A}"/>
              </a:ext>
            </a:extLst>
          </p:cNvPr>
          <p:cNvSpPr/>
          <p:nvPr/>
        </p:nvSpPr>
        <p:spPr>
          <a:xfrm>
            <a:off x="975360" y="4793193"/>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符号意义</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3931DF12-A2DE-E26F-D236-ADBC21B69AB0}"/>
              </a:ext>
            </a:extLst>
          </p:cNvPr>
          <p:cNvSpPr/>
          <p:nvPr/>
        </p:nvSpPr>
        <p:spPr>
          <a:xfrm>
            <a:off x="2426776" y="4556087"/>
            <a:ext cx="7284766" cy="766822"/>
          </a:xfrm>
          <a:prstGeom prst="rect">
            <a:avLst/>
          </a:prstGeom>
          <a:noFill/>
          <a:ln/>
        </p:spPr>
        <p:txBody>
          <a:bodyPr wrap="square" lIns="127" tIns="127" rIns="127" bIns="127" rtlCol="0" anchor="t">
            <a:noAutofit/>
          </a:bodyPr>
          <a:lstStyle/>
          <a:p>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d</a:t>
            </a:r>
            <a:r>
              <a:rPr lang="en-US" altLang="zh-CN" sz="2400" baseline="-25000" dirty="0">
                <a:solidFill>
                  <a:srgbClr val="222833"/>
                </a:solidFill>
                <a:latin typeface="微软雅黑" panose="020B0503020204020204" pitchFamily="34" charset="-122"/>
                <a:ea typeface="微软雅黑" panose="020B0503020204020204" pitchFamily="34" charset="-122"/>
                <a:cs typeface="Noto Sans CJK SC" pitchFamily="34" charset="-120"/>
              </a:rPr>
              <a:t>π</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学习策略状态分布</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a</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E</a:t>
            </a:r>
            <a:r>
              <a:rPr lang="en-US" altLang="zh-CN" sz="2400" baseline="-25000" dirty="0">
                <a:solidFill>
                  <a:srgbClr val="222833"/>
                </a:solidFill>
                <a:latin typeface="微软雅黑" panose="020B0503020204020204" pitchFamily="34" charset="-122"/>
                <a:ea typeface="微软雅黑" panose="020B0503020204020204" pitchFamily="34" charset="-122"/>
                <a:cs typeface="Noto Sans CJK SC" pitchFamily="34" charset="-120"/>
              </a:rPr>
              <a:t>(s)</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专家在状态</a:t>
            </a:r>
            <a:r>
              <a:rPr lang="en-US" altLang="zh-CN" sz="2400" dirty="0">
                <a:solidFill>
                  <a:srgbClr val="222833"/>
                </a:solidFill>
                <a:latin typeface="微软雅黑" panose="020B0503020204020204" pitchFamily="34" charset="-122"/>
                <a:ea typeface="微软雅黑" panose="020B0503020204020204" pitchFamily="34" charset="-122"/>
                <a:cs typeface="Noto Sans CJK SC" pitchFamily="34" charset="-120"/>
              </a:rPr>
              <a:t> s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的动作</a:t>
            </a:r>
            <a:endParaRPr lang="en-US" altLang="zh-CN" sz="2400" dirty="0">
              <a:latin typeface="微软雅黑" panose="020B0503020204020204" pitchFamily="34" charset="-122"/>
              <a:ea typeface="微软雅黑" panose="020B0503020204020204" pitchFamily="34" charset="-122"/>
            </a:endParaRPr>
          </a:p>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L：监督损失</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BC 与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DAgger</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的关键差异</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graphicFrame>
        <p:nvGraphicFramePr>
          <p:cNvPr id="99" name="Table 0"/>
          <p:cNvGraphicFramePr>
            <a:graphicFrameLocks noGrp="1"/>
          </p:cNvGraphicFramePr>
          <p:nvPr>
            <p:extLst>
              <p:ext uri="{D42A27DB-BD31-4B8C-83A1-F6EECF244321}">
                <p14:modId xmlns:p14="http://schemas.microsoft.com/office/powerpoint/2010/main" val="356589344"/>
              </p:ext>
            </p:extLst>
          </p:nvPr>
        </p:nvGraphicFramePr>
        <p:xfrm>
          <a:off x="685800" y="1664208"/>
          <a:ext cx="10835640" cy="4206240"/>
        </p:xfrm>
        <a:graphic>
          <a:graphicData uri="http://schemas.openxmlformats.org/drawingml/2006/table">
            <a:tbl>
              <a:tblPr/>
              <a:tblGrid>
                <a:gridCol w="237744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tblGrid>
              <a:tr h="841248">
                <a:tc>
                  <a:txBody>
                    <a:bodyPr/>
                    <a:lstStyle/>
                    <a:p>
                      <a:pPr marL="0" indent="0" algn="ctr">
                        <a:buNone/>
                      </a:pPr>
                      <a:r>
                        <a:rPr lang="en-US" sz="1450" dirty="0">
                          <a:solidFill>
                            <a:srgbClr val="222833"/>
                          </a:solidFill>
                          <a:latin typeface="Noto Sans CJK SC" pitchFamily="34" charset="0"/>
                          <a:ea typeface="Noto Sans CJK SC" pitchFamily="34" charset="-122"/>
                          <a:cs typeface="Noto Sans CJK SC" pitchFamily="34" charset="-120"/>
                        </a:rPr>
                        <a:t>比较维度</a:t>
                      </a:r>
                      <a:endParaRPr lang="en-US" sz="145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450" dirty="0">
                          <a:solidFill>
                            <a:srgbClr val="222833"/>
                          </a:solidFill>
                          <a:latin typeface="Noto Sans CJK SC" pitchFamily="34" charset="0"/>
                          <a:ea typeface="Noto Sans CJK SC" pitchFamily="34" charset="-122"/>
                          <a:cs typeface="Noto Sans CJK SC" pitchFamily="34" charset="-120"/>
                        </a:rPr>
                        <a:t>行为克隆 BC</a:t>
                      </a:r>
                      <a:endParaRPr lang="en-US" sz="145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450" dirty="0">
                          <a:solidFill>
                            <a:srgbClr val="222833"/>
                          </a:solidFill>
                          <a:latin typeface="Noto Sans CJK SC" pitchFamily="34" charset="0"/>
                          <a:ea typeface="Noto Sans CJK SC" pitchFamily="34" charset="-122"/>
                          <a:cs typeface="Noto Sans CJK SC" pitchFamily="34" charset="-120"/>
                        </a:rPr>
                        <a:t>DAgger</a:t>
                      </a:r>
                      <a:endParaRPr lang="en-US" sz="145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41248">
                <a:tc>
                  <a:txBody>
                    <a:bodyP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状态分布</a:t>
                      </a:r>
                      <a:endParaRPr lang="en-US" sz="24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专家策略访问的状态</a:t>
                      </a:r>
                      <a:endParaRPr lang="en-US" sz="24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当前学习策略实际访问的状态</a:t>
                      </a:r>
                      <a:endParaRPr lang="en-US" sz="24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1248">
                <a:tc>
                  <a:txBody>
                    <a:bodyP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专家参与</a:t>
                      </a:r>
                      <a:endParaRPr lang="en-US" sz="24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仅初始演示</a:t>
                      </a:r>
                      <a:endParaRPr lang="en-US" sz="24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迭代过程中持续为新状态标注</a:t>
                      </a:r>
                      <a:endParaRPr lang="en-US" sz="24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41248">
                <a:tc>
                  <a:txBody>
                    <a:bodyP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分布漂移</a:t>
                      </a:r>
                      <a:endParaRPr lang="en-US" sz="24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容易积累</a:t>
                      </a:r>
                      <a:endParaRPr lang="en-US" sz="24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通过数据聚合逐步缓解</a:t>
                      </a:r>
                      <a:endParaRPr lang="en-US" sz="24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41248">
                <a:tc>
                  <a:txBody>
                    <a:bodyP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额外成本</a:t>
                      </a:r>
                      <a:endParaRPr lang="en-US" sz="24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较低</a:t>
                      </a:r>
                      <a:endParaRPr lang="en-US" sz="24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需要专家在线或反复标注</a:t>
                      </a:r>
                      <a:endParaRPr lang="en-US" sz="24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685800" y="1664208"/>
            <a:ext cx="10835640" cy="502920"/>
          </a:xfrm>
          <a:prstGeom prst="rect">
            <a:avLst/>
          </a:prstGeom>
          <a:solidFill>
            <a:srgbClr val="31599B"/>
          </a:solidFill>
          <a:ln w="12700">
            <a:solidFill>
              <a:srgbClr val="31599B"/>
            </a:solidFill>
            <a:prstDash val="solid"/>
          </a:ln>
        </p:spPr>
      </p:sp>
      <p:sp>
        <p:nvSpPr>
          <p:cNvPr id="6" name="Text 3"/>
          <p:cNvSpPr/>
          <p:nvPr/>
        </p:nvSpPr>
        <p:spPr>
          <a:xfrm>
            <a:off x="704088" y="1773936"/>
            <a:ext cx="2340864" cy="256032"/>
          </a:xfrm>
          <a:prstGeom prst="rect">
            <a:avLst/>
          </a:prstGeom>
          <a:noFill/>
          <a:ln/>
        </p:spPr>
        <p:txBody>
          <a:bodyPr wrap="square" lIns="0" tIns="0" rIns="0" bIns="0" rtlCol="0" anchor="ctr">
            <a:noAutofit/>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比较维度</a:t>
            </a:r>
            <a:endParaRPr lang="en-US" sz="2000" dirty="0">
              <a:latin typeface="微软雅黑" panose="020B0503020204020204" pitchFamily="34" charset="-122"/>
              <a:ea typeface="微软雅黑" panose="020B0503020204020204" pitchFamily="34" charset="-122"/>
            </a:endParaRPr>
          </a:p>
        </p:txBody>
      </p:sp>
      <p:sp>
        <p:nvSpPr>
          <p:cNvPr id="7" name="Text 4"/>
          <p:cNvSpPr/>
          <p:nvPr/>
        </p:nvSpPr>
        <p:spPr>
          <a:xfrm>
            <a:off x="3081528" y="1773936"/>
            <a:ext cx="4123944" cy="256032"/>
          </a:xfrm>
          <a:prstGeom prst="rect">
            <a:avLst/>
          </a:prstGeom>
          <a:noFill/>
          <a:ln/>
        </p:spPr>
        <p:txBody>
          <a:bodyPr wrap="square" lIns="0" tIns="0" rIns="0" bIns="0" rtlCol="0" anchor="ctr">
            <a:noAutofit/>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行为克隆 BC</a:t>
            </a:r>
            <a:endParaRPr lang="en-US" sz="2000" dirty="0">
              <a:latin typeface="微软雅黑" panose="020B0503020204020204" pitchFamily="34" charset="-122"/>
              <a:ea typeface="微软雅黑" panose="020B0503020204020204" pitchFamily="34" charset="-122"/>
            </a:endParaRPr>
          </a:p>
        </p:txBody>
      </p:sp>
      <p:sp>
        <p:nvSpPr>
          <p:cNvPr id="8" name="Text 5"/>
          <p:cNvSpPr/>
          <p:nvPr/>
        </p:nvSpPr>
        <p:spPr>
          <a:xfrm>
            <a:off x="7242048" y="1773936"/>
            <a:ext cx="4261104" cy="256032"/>
          </a:xfrm>
          <a:prstGeom prst="rect">
            <a:avLst/>
          </a:prstGeom>
          <a:noFill/>
          <a:ln/>
        </p:spPr>
        <p:txBody>
          <a:bodyPr wrap="square" lIns="0" tIns="0" rIns="0" bIns="0" rtlCol="0" anchor="ctr">
            <a:normAutofit fontScale="92500" lnSpcReduction="20000"/>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DAgger</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96</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DAgger</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 </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：降低</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误差累积</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95528" y="1664208"/>
            <a:ext cx="5074920" cy="2774627"/>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2774627"/>
          </a:xfrm>
          <a:prstGeom prst="rect">
            <a:avLst/>
          </a:prstGeom>
          <a:solidFill>
            <a:srgbClr val="C63F45"/>
          </a:solidFill>
          <a:ln w="12700">
            <a:solidFill>
              <a:srgbClr val="C63F45"/>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行为克隆</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231136"/>
            <a:ext cx="4690872" cy="2807208"/>
          </a:xfrm>
          <a:prstGeom prst="rect">
            <a:avLst/>
          </a:prstGeom>
          <a:noFill/>
          <a:ln/>
        </p:spPr>
        <p:txBody>
          <a:bodyPr wrap="square" lIns="254" tIns="254" rIns="254" bIns="254" rtlCol="0" anchor="t">
            <a:normAutofit/>
          </a:bodyPr>
          <a:lstStyle/>
          <a:p>
            <a:pPr marL="0" indent="0">
              <a:buNone/>
            </a:pPr>
            <a:endParaRPr lang="en-US" sz="2400" dirty="0">
              <a:latin typeface="微软雅黑" panose="020B0503020204020204" pitchFamily="34" charset="-122"/>
              <a:ea typeface="微软雅黑" panose="020B0503020204020204" pitchFamily="34" charset="-122"/>
            </a:endParaRPr>
          </a:p>
        </p:txBody>
      </p:sp>
      <p:pic>
        <p:nvPicPr>
          <p:cNvPr id="8" name="Image 0" descr="/mnt/data/ch4_formula_rendered/eq-shift-quadratic.png"/>
          <p:cNvPicPr>
            <a:picLocks noChangeAspect="1"/>
          </p:cNvPicPr>
          <p:nvPr/>
        </p:nvPicPr>
        <p:blipFill>
          <a:blip r:embed="rId3"/>
          <a:srcRect l="41308" t="30208" r="40685" b="31468"/>
          <a:stretch>
            <a:fillRect/>
          </a:stretch>
        </p:blipFill>
        <p:spPr>
          <a:xfrm>
            <a:off x="2668274" y="2504929"/>
            <a:ext cx="1162243" cy="552354"/>
          </a:xfrm>
          <a:prstGeom prst="rect">
            <a:avLst/>
          </a:prstGeom>
        </p:spPr>
      </p:pic>
      <p:sp>
        <p:nvSpPr>
          <p:cNvPr id="9" name="Text 6"/>
          <p:cNvSpPr/>
          <p:nvPr/>
        </p:nvSpPr>
        <p:spPr>
          <a:xfrm>
            <a:off x="1417320" y="3310924"/>
            <a:ext cx="3749040" cy="347472"/>
          </a:xfrm>
          <a:prstGeom prst="rect">
            <a:avLst/>
          </a:prstGeom>
          <a:noFill/>
          <a:ln/>
        </p:spPr>
        <p:txBody>
          <a:bodyPr wrap="square" lIns="0" tIns="0" rIns="0" bIns="0" rtlCol="0" anchor="ctr"/>
          <a:lstStyle/>
          <a:p>
            <a:pPr marL="0" indent="0" algn="ctr">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总误差可能呈二次增长</a:t>
            </a:r>
            <a:endParaRPr lang="en-US" sz="2400" dirty="0">
              <a:latin typeface="微软雅黑" panose="020B0503020204020204" pitchFamily="34" charset="-122"/>
              <a:ea typeface="微软雅黑" panose="020B0503020204020204" pitchFamily="34" charset="-122"/>
            </a:endParaRPr>
          </a:p>
        </p:txBody>
      </p:sp>
      <p:sp>
        <p:nvSpPr>
          <p:cNvPr id="10" name="Shape 7"/>
          <p:cNvSpPr/>
          <p:nvPr/>
        </p:nvSpPr>
        <p:spPr>
          <a:xfrm>
            <a:off x="6172200" y="1664208"/>
            <a:ext cx="5074920" cy="2739959"/>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1" name="Shape 8"/>
          <p:cNvSpPr/>
          <p:nvPr/>
        </p:nvSpPr>
        <p:spPr>
          <a:xfrm>
            <a:off x="6172200" y="1664208"/>
            <a:ext cx="64008" cy="2739959"/>
          </a:xfrm>
          <a:prstGeom prst="rect">
            <a:avLst/>
          </a:prstGeom>
          <a:solidFill>
            <a:srgbClr val="2F8E72"/>
          </a:solidFill>
          <a:ln w="12700">
            <a:solidFill>
              <a:srgbClr val="2F8E72"/>
            </a:solidFill>
            <a:prstDash val="solid"/>
          </a:ln>
        </p:spPr>
      </p:sp>
      <p:sp>
        <p:nvSpPr>
          <p:cNvPr id="12" name="Text 9"/>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DAgger</a:t>
            </a:r>
            <a:endParaRPr lang="en-US" sz="2400" dirty="0">
              <a:latin typeface="微软雅黑" panose="020B0503020204020204" pitchFamily="34" charset="-122"/>
              <a:ea typeface="微软雅黑" panose="020B0503020204020204" pitchFamily="34" charset="-122"/>
            </a:endParaRPr>
          </a:p>
        </p:txBody>
      </p:sp>
      <p:sp>
        <p:nvSpPr>
          <p:cNvPr id="13" name="Text 10"/>
          <p:cNvSpPr/>
          <p:nvPr/>
        </p:nvSpPr>
        <p:spPr>
          <a:xfrm>
            <a:off x="6382512" y="2231136"/>
            <a:ext cx="4690872" cy="1197864"/>
          </a:xfrm>
          <a:prstGeom prst="rect">
            <a:avLst/>
          </a:prstGeom>
          <a:noFill/>
          <a:ln/>
        </p:spPr>
        <p:txBody>
          <a:bodyPr wrap="square" lIns="254" tIns="254" rIns="254" bIns="254" rtlCol="0" anchor="t">
            <a:normAutofit/>
          </a:bodyPr>
          <a:lstStyle/>
          <a:p>
            <a:pPr marL="0" indent="0">
              <a:buNone/>
            </a:pPr>
            <a:endParaRPr lang="en-US" sz="2400" dirty="0">
              <a:latin typeface="微软雅黑" panose="020B0503020204020204" pitchFamily="34" charset="-122"/>
              <a:ea typeface="微软雅黑" panose="020B0503020204020204" pitchFamily="34" charset="-122"/>
            </a:endParaRPr>
          </a:p>
        </p:txBody>
      </p:sp>
      <p:pic>
        <p:nvPicPr>
          <p:cNvPr id="14" name="Image 1" descr="/mnt/data/ch4_formula_rendered/eq-dagger-linear.png"/>
          <p:cNvPicPr>
            <a:picLocks noChangeAspect="1"/>
          </p:cNvPicPr>
          <p:nvPr/>
        </p:nvPicPr>
        <p:blipFill>
          <a:blip r:embed="rId4"/>
          <a:srcRect l="39537" t="31340" r="41342" b="37345"/>
          <a:stretch>
            <a:fillRect/>
          </a:stretch>
        </p:blipFill>
        <p:spPr>
          <a:xfrm>
            <a:off x="7864998" y="2440826"/>
            <a:ext cx="1658728" cy="622414"/>
          </a:xfrm>
          <a:prstGeom prst="rect">
            <a:avLst/>
          </a:prstGeom>
        </p:spPr>
      </p:pic>
      <p:sp>
        <p:nvSpPr>
          <p:cNvPr id="15" name="Text 11"/>
          <p:cNvSpPr/>
          <p:nvPr/>
        </p:nvSpPr>
        <p:spPr>
          <a:xfrm>
            <a:off x="6812280" y="3383860"/>
            <a:ext cx="3749040" cy="347472"/>
          </a:xfrm>
          <a:prstGeom prst="rect">
            <a:avLst/>
          </a:prstGeom>
          <a:noFill/>
          <a:ln/>
        </p:spPr>
        <p:txBody>
          <a:bodyPr wrap="square" lIns="0" tIns="0" rIns="0" bIns="0" rtlCol="0" anchor="ctr"/>
          <a:lstStyle/>
          <a:p>
            <a:pPr marL="0" indent="0" algn="ctr">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理论上可降至线性增长</a:t>
            </a:r>
            <a:endParaRPr lang="en-US" sz="2400" dirty="0">
              <a:latin typeface="微软雅黑" panose="020B0503020204020204" pitchFamily="34" charset="-122"/>
              <a:ea typeface="微软雅黑" panose="020B0503020204020204" pitchFamily="34" charset="-122"/>
            </a:endParaRPr>
          </a:p>
        </p:txBody>
      </p:sp>
      <p:sp>
        <p:nvSpPr>
          <p:cNvPr id="16" name="Text 12"/>
          <p:cNvSpPr/>
          <p:nvPr/>
        </p:nvSpPr>
        <p:spPr>
          <a:xfrm>
            <a:off x="617220" y="5045577"/>
            <a:ext cx="10698480" cy="329184"/>
          </a:xfrm>
          <a:prstGeom prst="rect">
            <a:avLst/>
          </a:prstGeom>
          <a:noFill/>
          <a:ln/>
        </p:spPr>
        <p:txBody>
          <a:bodyPr wrap="square" lIns="0" tIns="0" rIns="0" bIns="0" rtlCol="0" anchor="ctr">
            <a:normAutofit lnSpcReduction="10000"/>
          </a:bodyPr>
          <a:lstStyle/>
          <a:p>
            <a:pPr marL="0" indent="0" algn="ctr">
              <a:buNone/>
            </a:pPr>
            <a:r>
              <a:rPr lang="en-US" sz="2200" b="1" dirty="0" err="1">
                <a:solidFill>
                  <a:srgbClr val="24477D"/>
                </a:solidFill>
                <a:latin typeface="微软雅黑" panose="020B0503020204020204" pitchFamily="34" charset="-122"/>
                <a:ea typeface="微软雅黑" panose="020B0503020204020204" pitchFamily="34" charset="-122"/>
              </a:rPr>
              <a:t>实践中还需要考虑专家标注成本与</a:t>
            </a:r>
            <a:r>
              <a:rPr lang="en-US" sz="2200" b="1" dirty="0">
                <a:solidFill>
                  <a:srgbClr val="24477D"/>
                </a:solidFill>
                <a:latin typeface="微软雅黑" panose="020B0503020204020204" pitchFamily="34" charset="-122"/>
                <a:ea typeface="微软雅黑" panose="020B0503020204020204" pitchFamily="34" charset="-122"/>
              </a:rPr>
              <a:t> Sim2Real </a:t>
            </a:r>
            <a:r>
              <a:rPr lang="en-US" sz="2200" b="1" dirty="0" err="1">
                <a:solidFill>
                  <a:srgbClr val="24477D"/>
                </a:solidFill>
                <a:latin typeface="微软雅黑" panose="020B0503020204020204" pitchFamily="34" charset="-122"/>
                <a:ea typeface="微软雅黑" panose="020B0503020204020204" pitchFamily="34" charset="-122"/>
              </a:rPr>
              <a:t>差距</a:t>
            </a:r>
            <a:r>
              <a:rPr lang="en-US" sz="2200" b="1" dirty="0">
                <a:solidFill>
                  <a:srgbClr val="24477D"/>
                </a:solidFill>
                <a:latin typeface="微软雅黑" panose="020B0503020204020204" pitchFamily="34" charset="-122"/>
                <a:ea typeface="微软雅黑" panose="020B0503020204020204" pitchFamily="34" charset="-122"/>
              </a:rPr>
              <a:t>。</a:t>
            </a: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97</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DAgger 的仿真实践优势与现实限制</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2F8E72"/>
          </a:solidFill>
          <a:ln w="12700">
            <a:solidFill>
              <a:srgbClr val="2F8E72"/>
            </a:solidFill>
            <a:prstDash val="solid"/>
          </a:ln>
        </p:spPr>
      </p:sp>
      <p:sp>
        <p:nvSpPr>
          <p:cNvPr id="6" name="Text 4"/>
          <p:cNvSpPr/>
          <p:nvPr/>
        </p:nvSpPr>
        <p:spPr>
          <a:xfrm>
            <a:off x="987552" y="1810511"/>
            <a:ext cx="4690872" cy="446551"/>
          </a:xfrm>
          <a:prstGeom prst="rect">
            <a:avLst/>
          </a:prstGeom>
          <a:noFill/>
          <a:ln/>
        </p:spPr>
        <p:txBody>
          <a:bodyPr wrap="square" lIns="0" tIns="0" rIns="0" bIns="0" rtlCol="0" anchor="ctr">
            <a:normAutofit/>
          </a:bodyPr>
          <a:lstStyle/>
          <a:p>
            <a:pPr marL="0" indent="0">
              <a:buNone/>
            </a:pPr>
            <a:r>
              <a:rPr lang="en-US" sz="2800" b="1" dirty="0">
                <a:solidFill>
                  <a:srgbClr val="2F8E72"/>
                </a:solidFill>
                <a:latin typeface="微软雅黑" panose="020B0503020204020204" pitchFamily="34" charset="-122"/>
                <a:ea typeface="微软雅黑" panose="020B0503020204020204" pitchFamily="34" charset="-122"/>
                <a:cs typeface="Noto Sans CJK SC" pitchFamily="34" charset="-120"/>
              </a:rPr>
              <a:t>仿真中的优势</a:t>
            </a:r>
            <a:endParaRPr lang="en-US" sz="2800" dirty="0">
              <a:latin typeface="微软雅黑" panose="020B0503020204020204" pitchFamily="34" charset="-122"/>
              <a:ea typeface="微软雅黑" panose="020B0503020204020204" pitchFamily="34" charset="-122"/>
            </a:endParaRPr>
          </a:p>
        </p:txBody>
      </p:sp>
      <p:sp>
        <p:nvSpPr>
          <p:cNvPr id="7" name="Text 5"/>
          <p:cNvSpPr/>
          <p:nvPr/>
        </p:nvSpPr>
        <p:spPr>
          <a:xfrm>
            <a:off x="987552" y="2642036"/>
            <a:ext cx="4690872" cy="1015564"/>
          </a:xfrm>
          <a:prstGeom prst="rect">
            <a:avLst/>
          </a:prstGeom>
          <a:noFill/>
          <a:ln/>
        </p:spPr>
        <p:txBody>
          <a:bodyPr wrap="square" lIns="254" tIns="254" rIns="254" bIns="254" rtlCol="0" anchor="t">
            <a:noAutofit/>
          </a:bodyPr>
          <a:lstStyle/>
          <a:p>
            <a:pPr marL="0" indent="0">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可在 MuJoCo 等环境中让学习策略低成本交互，再由专家或专家策略标注学习者访问的状态。</a:t>
            </a:r>
            <a:endParaRPr lang="en-US" sz="28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C63F45"/>
          </a:solidFill>
          <a:ln w="12700">
            <a:solidFill>
              <a:srgbClr val="C63F45"/>
            </a:solidFill>
            <a:prstDash val="solid"/>
          </a:ln>
        </p:spPr>
      </p:sp>
      <p:sp>
        <p:nvSpPr>
          <p:cNvPr id="10" name="Text 8"/>
          <p:cNvSpPr/>
          <p:nvPr/>
        </p:nvSpPr>
        <p:spPr>
          <a:xfrm>
            <a:off x="6382512" y="1810511"/>
            <a:ext cx="4690872" cy="446551"/>
          </a:xfrm>
          <a:prstGeom prst="rect">
            <a:avLst/>
          </a:prstGeom>
          <a:noFill/>
          <a:ln/>
        </p:spPr>
        <p:txBody>
          <a:bodyPr wrap="square" lIns="0" tIns="0" rIns="0" bIns="0" rtlCol="0" anchor="ctr">
            <a:normAutofit/>
          </a:bodyPr>
          <a:lstStyle/>
          <a:p>
            <a:pPr marL="0" indent="0">
              <a:buNone/>
            </a:pPr>
            <a:r>
              <a:rPr lang="en-US" sz="2800" b="1" dirty="0">
                <a:solidFill>
                  <a:srgbClr val="C63F45"/>
                </a:solidFill>
                <a:latin typeface="微软雅黑" panose="020B0503020204020204" pitchFamily="34" charset="-122"/>
                <a:ea typeface="微软雅黑" panose="020B0503020204020204" pitchFamily="34" charset="-122"/>
                <a:cs typeface="Noto Sans CJK SC" pitchFamily="34" charset="-120"/>
              </a:rPr>
              <a:t>现实中的限制</a:t>
            </a:r>
            <a:endParaRPr lang="en-US" sz="28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642035"/>
            <a:ext cx="4690872" cy="1623235"/>
          </a:xfrm>
          <a:prstGeom prst="rect">
            <a:avLst/>
          </a:prstGeom>
          <a:noFill/>
          <a:ln/>
        </p:spPr>
        <p:txBody>
          <a:bodyPr wrap="square" lIns="254" tIns="254" rIns="254" bIns="254" rtlCol="0" anchor="t">
            <a:normAutofit lnSpcReduction="10000"/>
          </a:bodyPr>
          <a:lstStyle/>
          <a:p>
            <a:pPr marL="0" indent="0">
              <a:buNone/>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需要额外专家标注；仿真中采样的数据与真实机器人状态分布之间仍可能存在 Sim2Real </a:t>
            </a:r>
            <a:r>
              <a:rPr lang="en-US" sz="2800" dirty="0" err="1">
                <a:solidFill>
                  <a:srgbClr val="222833"/>
                </a:solidFill>
                <a:latin typeface="微软雅黑" panose="020B0503020204020204" pitchFamily="34" charset="-122"/>
                <a:ea typeface="微软雅黑" panose="020B0503020204020204" pitchFamily="34" charset="-122"/>
                <a:cs typeface="Noto Sans CJK SC" pitchFamily="34" charset="-120"/>
              </a:rPr>
              <a:t>差距</a:t>
            </a:r>
            <a:endParaRPr lang="en-US" sz="2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98</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多轮</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 DAgger 后，赛车跌落赛道次数显著下降</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19.png"/>
          <p:cNvPicPr>
            <a:picLocks noChangeAspect="1"/>
          </p:cNvPicPr>
          <p:nvPr/>
        </p:nvPicPr>
        <p:blipFill>
          <a:blip r:embed="rId3"/>
          <a:stretch>
            <a:fillRect/>
          </a:stretch>
        </p:blipFill>
        <p:spPr>
          <a:xfrm>
            <a:off x="1564592" y="1554480"/>
            <a:ext cx="4734656" cy="4480560"/>
          </a:xfrm>
          <a:prstGeom prst="rect">
            <a:avLst/>
          </a:prstGeom>
        </p:spPr>
      </p:pic>
      <p:sp>
        <p:nvSpPr>
          <p:cNvPr id="5" name="Text 2"/>
          <p:cNvSpPr/>
          <p:nvPr/>
        </p:nvSpPr>
        <p:spPr>
          <a:xfrm>
            <a:off x="822960" y="6080760"/>
            <a:ext cx="6217920" cy="256032"/>
          </a:xfrm>
          <a:prstGeom prst="rect">
            <a:avLst/>
          </a:prstGeom>
          <a:noFill/>
          <a:ln/>
        </p:spPr>
        <p:txBody>
          <a:bodyPr wrap="square" lIns="0" tIns="0" rIns="0" bIns="0" rtlCol="0" anchor="ctr">
            <a:normAutofit/>
          </a:bodyPr>
          <a:lstStyle/>
          <a:p>
            <a:pPr algn="ctr"/>
            <a:r>
              <a:rPr lang="en-US" sz="1600" b="1" dirty="0" err="1">
                <a:solidFill>
                  <a:schemeClr val="accent1">
                    <a:lumMod val="50000"/>
                  </a:schemeClr>
                </a:solidFill>
                <a:latin typeface="微软雅黑" panose="020B0503020204020204" pitchFamily="34" charset="-122"/>
                <a:ea typeface="微软雅黑" panose="020B0503020204020204" pitchFamily="34" charset="-122"/>
              </a:rPr>
              <a:t>赛车平均每圈跌落赛道次数随训练数据量变化</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7360920" y="1691640"/>
            <a:ext cx="3749040" cy="1325880"/>
          </a:xfrm>
          <a:prstGeom prst="roundRect">
            <a:avLst>
              <a:gd name="adj" fmla="val 344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7" name="Shape 4"/>
          <p:cNvSpPr/>
          <p:nvPr/>
        </p:nvSpPr>
        <p:spPr>
          <a:xfrm>
            <a:off x="7360920" y="1691640"/>
            <a:ext cx="64008" cy="1325880"/>
          </a:xfrm>
          <a:prstGeom prst="rect">
            <a:avLst/>
          </a:prstGeom>
          <a:solidFill>
            <a:srgbClr val="2F8E72"/>
          </a:solidFill>
          <a:ln w="12700">
            <a:solidFill>
              <a:srgbClr val="2F8E72"/>
            </a:solidFill>
            <a:prstDash val="solid"/>
          </a:ln>
        </p:spPr>
      </p:sp>
      <p:sp>
        <p:nvSpPr>
          <p:cNvPr id="8" name="Text 5"/>
          <p:cNvSpPr/>
          <p:nvPr/>
        </p:nvSpPr>
        <p:spPr>
          <a:xfrm>
            <a:off x="7571232" y="1837944"/>
            <a:ext cx="3364992" cy="329184"/>
          </a:xfrm>
          <a:prstGeom prst="rect">
            <a:avLst/>
          </a:prstGeom>
          <a:noFill/>
          <a:ln/>
        </p:spPr>
        <p:txBody>
          <a:bodyPr wrap="square" lIns="0" tIns="0" rIns="0" bIns="0" rtlCol="0" anchor="ctr">
            <a:normAutofit/>
          </a:bodyPr>
          <a:lstStyle/>
          <a:p>
            <a:pPr marL="0" indent="0">
              <a:buNone/>
            </a:pPr>
            <a:r>
              <a:rPr lang="en-US" b="1" dirty="0">
                <a:solidFill>
                  <a:srgbClr val="2F8E72"/>
                </a:solidFill>
                <a:latin typeface="微软雅黑" panose="020B0503020204020204" pitchFamily="34" charset="-122"/>
                <a:ea typeface="微软雅黑" panose="020B0503020204020204" pitchFamily="34" charset="-122"/>
                <a:cs typeface="Noto Sans CJK SC" pitchFamily="34" charset="-120"/>
              </a:rPr>
              <a:t>DAgger</a:t>
            </a:r>
            <a:endParaRPr lang="en-US" dirty="0">
              <a:latin typeface="微软雅黑" panose="020B0503020204020204" pitchFamily="34" charset="-122"/>
              <a:ea typeface="微软雅黑" panose="020B0503020204020204" pitchFamily="34" charset="-122"/>
            </a:endParaRPr>
          </a:p>
        </p:txBody>
      </p:sp>
      <p:sp>
        <p:nvSpPr>
          <p:cNvPr id="9" name="Text 6"/>
          <p:cNvSpPr/>
          <p:nvPr/>
        </p:nvSpPr>
        <p:spPr>
          <a:xfrm>
            <a:off x="7571232" y="2258568"/>
            <a:ext cx="3364992" cy="612648"/>
          </a:xfrm>
          <a:prstGeom prst="rect">
            <a:avLst/>
          </a:prstGeom>
          <a:noFill/>
          <a:ln/>
        </p:spPr>
        <p:txBody>
          <a:bodyPr wrap="square" lIns="254" tIns="254" rIns="254" bIns="254" rtlCol="0" anchor="t">
            <a:normAutofit/>
          </a:bodyPr>
          <a:lstStyle/>
          <a:p>
            <a:pPr marL="0" indent="0">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随着数据聚合与策略迭代，跌落次数快速下降并接近零。</a:t>
            </a:r>
            <a:endParaRPr lang="en-US" sz="1600" dirty="0">
              <a:latin typeface="微软雅黑" panose="020B0503020204020204" pitchFamily="34" charset="-122"/>
              <a:ea typeface="微软雅黑" panose="020B0503020204020204" pitchFamily="34" charset="-122"/>
            </a:endParaRPr>
          </a:p>
        </p:txBody>
      </p:sp>
      <p:sp>
        <p:nvSpPr>
          <p:cNvPr id="10" name="Shape 7"/>
          <p:cNvSpPr/>
          <p:nvPr/>
        </p:nvSpPr>
        <p:spPr>
          <a:xfrm>
            <a:off x="7360920" y="3246120"/>
            <a:ext cx="3749040" cy="1325880"/>
          </a:xfrm>
          <a:prstGeom prst="roundRect">
            <a:avLst>
              <a:gd name="adj" fmla="val 344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1" name="Shape 8"/>
          <p:cNvSpPr/>
          <p:nvPr/>
        </p:nvSpPr>
        <p:spPr>
          <a:xfrm>
            <a:off x="7360920" y="3246120"/>
            <a:ext cx="64008" cy="1325880"/>
          </a:xfrm>
          <a:prstGeom prst="rect">
            <a:avLst/>
          </a:prstGeom>
          <a:solidFill>
            <a:srgbClr val="31599B"/>
          </a:solidFill>
          <a:ln w="12700">
            <a:solidFill>
              <a:srgbClr val="31599B"/>
            </a:solidFill>
            <a:prstDash val="solid"/>
          </a:ln>
        </p:spPr>
      </p:sp>
      <p:sp>
        <p:nvSpPr>
          <p:cNvPr id="12" name="Text 9"/>
          <p:cNvSpPr/>
          <p:nvPr/>
        </p:nvSpPr>
        <p:spPr>
          <a:xfrm>
            <a:off x="7571232" y="3392424"/>
            <a:ext cx="3364992" cy="329184"/>
          </a:xfrm>
          <a:prstGeom prst="rect">
            <a:avLst/>
          </a:prstGeom>
          <a:noFill/>
          <a:ln/>
        </p:spPr>
        <p:txBody>
          <a:bodyPr wrap="square" lIns="0" tIns="0" rIns="0" bIns="0" rtlCol="0" anchor="ctr">
            <a:normAutofit/>
          </a:bodyPr>
          <a:lstStyle/>
          <a:p>
            <a:pPr marL="0" indent="0">
              <a:buNone/>
            </a:pPr>
            <a:r>
              <a:rPr lang="en-US" b="1" dirty="0">
                <a:solidFill>
                  <a:srgbClr val="31599B"/>
                </a:solidFill>
                <a:latin typeface="微软雅黑" panose="020B0503020204020204" pitchFamily="34" charset="-122"/>
                <a:ea typeface="微软雅黑" panose="020B0503020204020204" pitchFamily="34" charset="-122"/>
                <a:cs typeface="Noto Sans CJK SC" pitchFamily="34" charset="-120"/>
              </a:rPr>
              <a:t>对比方法</a:t>
            </a:r>
            <a:endParaRPr lang="en-US" dirty="0">
              <a:latin typeface="微软雅黑" panose="020B0503020204020204" pitchFamily="34" charset="-122"/>
              <a:ea typeface="微软雅黑" panose="020B0503020204020204" pitchFamily="34" charset="-122"/>
            </a:endParaRPr>
          </a:p>
        </p:txBody>
      </p:sp>
      <p:sp>
        <p:nvSpPr>
          <p:cNvPr id="13" name="Text 10"/>
          <p:cNvSpPr/>
          <p:nvPr/>
        </p:nvSpPr>
        <p:spPr>
          <a:xfrm>
            <a:off x="7571232" y="3813048"/>
            <a:ext cx="3364992" cy="612648"/>
          </a:xfrm>
          <a:prstGeom prst="rect">
            <a:avLst/>
          </a:prstGeom>
          <a:noFill/>
          <a:ln/>
        </p:spPr>
        <p:txBody>
          <a:bodyPr wrap="square" lIns="254" tIns="254" rIns="254" bIns="254" rtlCol="0" anchor="t">
            <a:normAutofit/>
          </a:bodyPr>
          <a:lstStyle/>
          <a:p>
            <a:pPr marL="0" indent="0">
              <a:buNone/>
            </a:pPr>
            <a:r>
              <a:rPr lang="en-US" sz="1600" dirty="0" err="1">
                <a:solidFill>
                  <a:srgbClr val="222833"/>
                </a:solidFill>
                <a:latin typeface="微软雅黑" panose="020B0503020204020204" pitchFamily="34" charset="-122"/>
                <a:ea typeface="微软雅黑" panose="020B0503020204020204" pitchFamily="34" charset="-122"/>
                <a:cs typeface="Noto Sans CJK SC" pitchFamily="34" charset="-120"/>
              </a:rPr>
              <a:t>DAgger</a:t>
            </a: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 的最终表现明显优于传统 Supervised 与 </a:t>
            </a:r>
            <a:r>
              <a:rPr lang="en-US" sz="1600" dirty="0" err="1">
                <a:solidFill>
                  <a:srgbClr val="222833"/>
                </a:solidFill>
                <a:latin typeface="微软雅黑" panose="020B0503020204020204" pitchFamily="34" charset="-122"/>
                <a:ea typeface="微软雅黑" panose="020B0503020204020204" pitchFamily="34" charset="-122"/>
                <a:cs typeface="Noto Sans CJK SC" pitchFamily="34" charset="-120"/>
              </a:rPr>
              <a:t>SMILe</a:t>
            </a:r>
            <a:endParaRPr lang="en-US" sz="1600" dirty="0">
              <a:latin typeface="微软雅黑" panose="020B0503020204020204" pitchFamily="34" charset="-122"/>
              <a:ea typeface="微软雅黑" panose="020B0503020204020204" pitchFamily="34" charset="-122"/>
            </a:endParaRPr>
          </a:p>
        </p:txBody>
      </p:sp>
      <p:sp>
        <p:nvSpPr>
          <p:cNvPr id="14" name="Shape 11"/>
          <p:cNvSpPr/>
          <p:nvPr/>
        </p:nvSpPr>
        <p:spPr>
          <a:xfrm>
            <a:off x="7360920" y="4800600"/>
            <a:ext cx="3749040" cy="1234440"/>
          </a:xfrm>
          <a:prstGeom prst="roundRect">
            <a:avLst>
              <a:gd name="adj" fmla="val 4762"/>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5" name="Shape 12"/>
          <p:cNvSpPr/>
          <p:nvPr/>
        </p:nvSpPr>
        <p:spPr>
          <a:xfrm>
            <a:off x="7360920" y="4800600"/>
            <a:ext cx="64008" cy="1234440"/>
          </a:xfrm>
          <a:prstGeom prst="rect">
            <a:avLst/>
          </a:prstGeom>
          <a:solidFill>
            <a:srgbClr val="C58A24"/>
          </a:solidFill>
          <a:ln w="12700">
            <a:solidFill>
              <a:srgbClr val="C58A24"/>
            </a:solidFill>
            <a:prstDash val="solid"/>
          </a:ln>
        </p:spPr>
      </p:sp>
      <p:sp>
        <p:nvSpPr>
          <p:cNvPr id="16" name="Text 13"/>
          <p:cNvSpPr/>
          <p:nvPr/>
        </p:nvSpPr>
        <p:spPr>
          <a:xfrm>
            <a:off x="7571232" y="4946904"/>
            <a:ext cx="3364992" cy="329184"/>
          </a:xfrm>
          <a:prstGeom prst="rect">
            <a:avLst/>
          </a:prstGeom>
          <a:noFill/>
          <a:ln/>
        </p:spPr>
        <p:txBody>
          <a:bodyPr wrap="square" lIns="0" tIns="0" rIns="0" bIns="0" rtlCol="0" anchor="ctr">
            <a:normAutofit/>
          </a:bodyPr>
          <a:lstStyle/>
          <a:p>
            <a:pPr marL="0" indent="0">
              <a:buNone/>
            </a:pPr>
            <a:r>
              <a:rPr lang="en-US" b="1" dirty="0">
                <a:solidFill>
                  <a:srgbClr val="C58A24"/>
                </a:solidFill>
                <a:latin typeface="微软雅黑" panose="020B0503020204020204" pitchFamily="34" charset="-122"/>
                <a:ea typeface="微软雅黑" panose="020B0503020204020204" pitchFamily="34" charset="-122"/>
                <a:cs typeface="Noto Sans CJK SC" pitchFamily="34" charset="-120"/>
              </a:rPr>
              <a:t>核心原因</a:t>
            </a:r>
            <a:endParaRPr lang="en-US" dirty="0">
              <a:latin typeface="微软雅黑" panose="020B0503020204020204" pitchFamily="34" charset="-122"/>
              <a:ea typeface="微软雅黑" panose="020B0503020204020204" pitchFamily="34" charset="-122"/>
            </a:endParaRPr>
          </a:p>
        </p:txBody>
      </p:sp>
      <p:sp>
        <p:nvSpPr>
          <p:cNvPr id="17" name="Text 14"/>
          <p:cNvSpPr/>
          <p:nvPr/>
        </p:nvSpPr>
        <p:spPr>
          <a:xfrm>
            <a:off x="7571232" y="5367528"/>
            <a:ext cx="3364992" cy="539496"/>
          </a:xfrm>
          <a:prstGeom prst="rect">
            <a:avLst/>
          </a:prstGeom>
          <a:noFill/>
          <a:ln/>
        </p:spPr>
        <p:txBody>
          <a:bodyPr wrap="square" lIns="254" tIns="254" rIns="254" bIns="254" rtlCol="0" anchor="t">
            <a:normAutofit/>
          </a:bodyPr>
          <a:lstStyle/>
          <a:p>
            <a:pPr marL="0" indent="0">
              <a:buNone/>
            </a:pPr>
            <a:r>
              <a:rPr lang="en-US" sz="1400" dirty="0">
                <a:solidFill>
                  <a:srgbClr val="222833"/>
                </a:solidFill>
                <a:latin typeface="微软雅黑" panose="020B0503020204020204" pitchFamily="34" charset="-122"/>
                <a:ea typeface="微软雅黑" panose="020B0503020204020204" pitchFamily="34" charset="-122"/>
                <a:cs typeface="Noto Sans CJK SC" pitchFamily="34" charset="-120"/>
              </a:rPr>
              <a:t>训练分布逐步覆盖学习策略自己会访问的状态。</a:t>
            </a:r>
            <a:endParaRPr lang="en-US" sz="1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99</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fontScale="92500"/>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4.5.3 ACT：一次预测一段动作，而不是每步只预测一个动作</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64208"/>
            <a:ext cx="10707624" cy="4069080"/>
          </a:xfrm>
          <a:prstGeom prst="rect">
            <a:avLst/>
          </a:prstGeom>
          <a:noFill/>
          <a:ln/>
        </p:spPr>
        <p:txBody>
          <a:bodyPr wrap="square" lIns="635" tIns="635" rIns="635" bIns="635" rtlCol="0" anchor="t">
            <a:normAutofit/>
          </a:bodyPr>
          <a:lstStyle/>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Action Chunking with Transformer（ACT）是行为克隆在长时序、高精度具身任务中的策略级改进。</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核心思想：Transformer 一次预测未来固定长度的动作块（Action Chunk）。</a:t>
            </a:r>
            <a:endParaRPr lang="en-US" sz="2800" dirty="0">
              <a:latin typeface="微软雅黑" panose="020B0503020204020204" pitchFamily="34" charset="-122"/>
              <a:ea typeface="微软雅黑" panose="020B0503020204020204" pitchFamily="34" charset="-122"/>
            </a:endParaRPr>
          </a:p>
          <a:p>
            <a:pPr marL="228600" indent="-228600">
              <a:buSzPct val="100000"/>
              <a:buChar char="•"/>
            </a:pPr>
            <a:r>
              <a:rPr lang="en-US" sz="2800" dirty="0">
                <a:solidFill>
                  <a:srgbClr val="222833"/>
                </a:solidFill>
                <a:latin typeface="微软雅黑" panose="020B0503020204020204" pitchFamily="34" charset="-122"/>
                <a:ea typeface="微软雅黑" panose="020B0503020204020204" pitchFamily="34" charset="-122"/>
                <a:cs typeface="Noto Sans CJK SC" pitchFamily="34" charset="-120"/>
              </a:rPr>
              <a:t>通过减少高层决策次数，降低任务的有效决策时域，从而缓解分布漂移造成的误差累积。</a:t>
            </a:r>
            <a:endParaRPr lang="en-US" sz="2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100</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动作分块为什么能缩短“有效决策时域”？</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77240" y="1664208"/>
            <a:ext cx="1828800" cy="347472"/>
          </a:xfrm>
          <a:prstGeom prst="rect">
            <a:avLst/>
          </a:prstGeom>
          <a:noFill/>
          <a:ln/>
        </p:spPr>
        <p:txBody>
          <a:bodyPr wrap="square" lIns="0" tIns="0" rIns="0" bIns="0" rtlCol="0" anchor="ctr"/>
          <a:lstStyle/>
          <a:p>
            <a:pPr marL="0" indent="0">
              <a:buNone/>
            </a:pPr>
            <a:r>
              <a:rPr lang="en-US" sz="2800" b="1" dirty="0">
                <a:solidFill>
                  <a:srgbClr val="C63F45"/>
                </a:solidFill>
                <a:latin typeface="微软雅黑" panose="020B0503020204020204" pitchFamily="34" charset="-122"/>
                <a:ea typeface="微软雅黑" panose="020B0503020204020204" pitchFamily="34" charset="-122"/>
                <a:cs typeface="Noto Sans CJK SC" pitchFamily="34" charset="-120"/>
              </a:rPr>
              <a:t>传统 BC</a:t>
            </a:r>
            <a:endParaRPr lang="en-US" sz="2800" dirty="0">
              <a:latin typeface="微软雅黑" panose="020B0503020204020204" pitchFamily="34" charset="-122"/>
              <a:ea typeface="微软雅黑" panose="020B0503020204020204" pitchFamily="34" charset="-122"/>
            </a:endParaRPr>
          </a:p>
        </p:txBody>
      </p:sp>
      <p:sp>
        <p:nvSpPr>
          <p:cNvPr id="5" name="Shape 3"/>
          <p:cNvSpPr/>
          <p:nvPr/>
        </p:nvSpPr>
        <p:spPr>
          <a:xfrm>
            <a:off x="822960" y="2194560"/>
            <a:ext cx="868680" cy="658368"/>
          </a:xfrm>
          <a:prstGeom prst="roundRect">
            <a:avLst/>
          </a:prstGeom>
          <a:solidFill>
            <a:srgbClr val="FDECEE"/>
          </a:solidFill>
          <a:ln w="12700">
            <a:solidFill>
              <a:srgbClr val="E9C6C8"/>
            </a:solidFill>
            <a:prstDash val="solid"/>
          </a:ln>
        </p:spPr>
      </p:sp>
      <p:sp>
        <p:nvSpPr>
          <p:cNvPr id="6" name="Text 4"/>
          <p:cNvSpPr/>
          <p:nvPr/>
        </p:nvSpPr>
        <p:spPr>
          <a:xfrm>
            <a:off x="978408" y="2395728"/>
            <a:ext cx="548640" cy="219456"/>
          </a:xfrm>
          <a:prstGeom prst="rect">
            <a:avLst/>
          </a:prstGeom>
          <a:noFill/>
          <a:ln/>
        </p:spPr>
        <p:txBody>
          <a:bodyPr wrap="square" lIns="0" tIns="0" rIns="0" bIns="0" rtlCol="0" anchor="ctr"/>
          <a:lstStyle/>
          <a:p>
            <a:pPr marL="0" indent="0" algn="ctr">
              <a:buNone/>
            </a:pPr>
            <a:r>
              <a:rPr lang="en-US" sz="1500" b="1" dirty="0">
                <a:solidFill>
                  <a:srgbClr val="C63F45"/>
                </a:solidFill>
                <a:latin typeface="微软雅黑" panose="020B0503020204020204" pitchFamily="34" charset="-122"/>
                <a:ea typeface="微软雅黑" panose="020B0503020204020204" pitchFamily="34" charset="-122"/>
                <a:cs typeface="Noto Sans CJK SC" pitchFamily="34" charset="-120"/>
              </a:rPr>
              <a:t>a1</a:t>
            </a:r>
            <a:endParaRPr lang="en-US" sz="1500" dirty="0">
              <a:latin typeface="微软雅黑" panose="020B0503020204020204" pitchFamily="34" charset="-122"/>
              <a:ea typeface="微软雅黑" panose="020B0503020204020204" pitchFamily="34" charset="-122"/>
            </a:endParaRPr>
          </a:p>
        </p:txBody>
      </p:sp>
      <p:sp>
        <p:nvSpPr>
          <p:cNvPr id="7" name="Shape 5"/>
          <p:cNvSpPr/>
          <p:nvPr/>
        </p:nvSpPr>
        <p:spPr>
          <a:xfrm>
            <a:off x="1965960" y="2194560"/>
            <a:ext cx="868680" cy="658368"/>
          </a:xfrm>
          <a:prstGeom prst="roundRect">
            <a:avLst/>
          </a:prstGeom>
          <a:solidFill>
            <a:srgbClr val="FDECEE"/>
          </a:solidFill>
          <a:ln w="12700">
            <a:solidFill>
              <a:srgbClr val="E9C6C8"/>
            </a:solidFill>
            <a:prstDash val="solid"/>
          </a:ln>
        </p:spPr>
      </p:sp>
      <p:sp>
        <p:nvSpPr>
          <p:cNvPr id="8" name="Text 6"/>
          <p:cNvSpPr/>
          <p:nvPr/>
        </p:nvSpPr>
        <p:spPr>
          <a:xfrm>
            <a:off x="2121408" y="2395728"/>
            <a:ext cx="548640" cy="219456"/>
          </a:xfrm>
          <a:prstGeom prst="rect">
            <a:avLst/>
          </a:prstGeom>
          <a:noFill/>
          <a:ln/>
        </p:spPr>
        <p:txBody>
          <a:bodyPr wrap="square" lIns="0" tIns="0" rIns="0" bIns="0" rtlCol="0" anchor="ctr"/>
          <a:lstStyle/>
          <a:p>
            <a:pPr marL="0" indent="0" algn="ctr">
              <a:buNone/>
            </a:pPr>
            <a:r>
              <a:rPr lang="en-US" sz="1500" b="1" dirty="0">
                <a:solidFill>
                  <a:srgbClr val="C63F45"/>
                </a:solidFill>
                <a:latin typeface="微软雅黑" panose="020B0503020204020204" pitchFamily="34" charset="-122"/>
                <a:ea typeface="微软雅黑" panose="020B0503020204020204" pitchFamily="34" charset="-122"/>
                <a:cs typeface="Noto Sans CJK SC" pitchFamily="34" charset="-120"/>
              </a:rPr>
              <a:t>a2</a:t>
            </a:r>
            <a:endParaRPr lang="en-US" sz="1500" dirty="0">
              <a:latin typeface="微软雅黑" panose="020B0503020204020204" pitchFamily="34" charset="-122"/>
              <a:ea typeface="微软雅黑" panose="020B0503020204020204" pitchFamily="34" charset="-122"/>
            </a:endParaRPr>
          </a:p>
        </p:txBody>
      </p:sp>
      <p:sp>
        <p:nvSpPr>
          <p:cNvPr id="9" name="Shape 7"/>
          <p:cNvSpPr/>
          <p:nvPr/>
        </p:nvSpPr>
        <p:spPr>
          <a:xfrm>
            <a:off x="3108960" y="2194560"/>
            <a:ext cx="868680" cy="658368"/>
          </a:xfrm>
          <a:prstGeom prst="roundRect">
            <a:avLst/>
          </a:prstGeom>
          <a:solidFill>
            <a:srgbClr val="FDECEE"/>
          </a:solidFill>
          <a:ln w="12700">
            <a:solidFill>
              <a:srgbClr val="E9C6C8"/>
            </a:solidFill>
            <a:prstDash val="solid"/>
          </a:ln>
        </p:spPr>
      </p:sp>
      <p:sp>
        <p:nvSpPr>
          <p:cNvPr id="10" name="Text 8"/>
          <p:cNvSpPr/>
          <p:nvPr/>
        </p:nvSpPr>
        <p:spPr>
          <a:xfrm>
            <a:off x="3264408" y="2395728"/>
            <a:ext cx="548640" cy="219456"/>
          </a:xfrm>
          <a:prstGeom prst="rect">
            <a:avLst/>
          </a:prstGeom>
          <a:noFill/>
          <a:ln/>
        </p:spPr>
        <p:txBody>
          <a:bodyPr wrap="square" lIns="0" tIns="0" rIns="0" bIns="0" rtlCol="0" anchor="ctr"/>
          <a:lstStyle/>
          <a:p>
            <a:pPr marL="0" indent="0" algn="ctr">
              <a:buNone/>
            </a:pPr>
            <a:r>
              <a:rPr lang="en-US" sz="1500" b="1" dirty="0">
                <a:solidFill>
                  <a:srgbClr val="C63F45"/>
                </a:solidFill>
                <a:latin typeface="微软雅黑" panose="020B0503020204020204" pitchFamily="34" charset="-122"/>
                <a:ea typeface="微软雅黑" panose="020B0503020204020204" pitchFamily="34" charset="-122"/>
                <a:cs typeface="Noto Sans CJK SC" pitchFamily="34" charset="-120"/>
              </a:rPr>
              <a:t>a3</a:t>
            </a:r>
            <a:endParaRPr lang="en-US" sz="1500" dirty="0">
              <a:latin typeface="微软雅黑" panose="020B0503020204020204" pitchFamily="34" charset="-122"/>
              <a:ea typeface="微软雅黑" panose="020B0503020204020204" pitchFamily="34" charset="-122"/>
            </a:endParaRPr>
          </a:p>
        </p:txBody>
      </p:sp>
      <p:sp>
        <p:nvSpPr>
          <p:cNvPr id="11" name="Shape 9"/>
          <p:cNvSpPr/>
          <p:nvPr/>
        </p:nvSpPr>
        <p:spPr>
          <a:xfrm>
            <a:off x="4251960" y="2194560"/>
            <a:ext cx="868680" cy="658368"/>
          </a:xfrm>
          <a:prstGeom prst="roundRect">
            <a:avLst/>
          </a:prstGeom>
          <a:solidFill>
            <a:srgbClr val="FDECEE"/>
          </a:solidFill>
          <a:ln w="12700">
            <a:solidFill>
              <a:srgbClr val="E9C6C8"/>
            </a:solidFill>
            <a:prstDash val="solid"/>
          </a:ln>
        </p:spPr>
      </p:sp>
      <p:sp>
        <p:nvSpPr>
          <p:cNvPr id="12" name="Text 10"/>
          <p:cNvSpPr/>
          <p:nvPr/>
        </p:nvSpPr>
        <p:spPr>
          <a:xfrm>
            <a:off x="4407408" y="2395728"/>
            <a:ext cx="548640" cy="219456"/>
          </a:xfrm>
          <a:prstGeom prst="rect">
            <a:avLst/>
          </a:prstGeom>
          <a:noFill/>
          <a:ln/>
        </p:spPr>
        <p:txBody>
          <a:bodyPr wrap="square" lIns="0" tIns="0" rIns="0" bIns="0" rtlCol="0" anchor="ctr"/>
          <a:lstStyle/>
          <a:p>
            <a:pPr marL="0" indent="0" algn="ctr">
              <a:buNone/>
            </a:pPr>
            <a:r>
              <a:rPr lang="en-US" sz="1500" b="1" dirty="0">
                <a:solidFill>
                  <a:srgbClr val="C63F45"/>
                </a:solidFill>
                <a:latin typeface="微软雅黑" panose="020B0503020204020204" pitchFamily="34" charset="-122"/>
                <a:ea typeface="微软雅黑" panose="020B0503020204020204" pitchFamily="34" charset="-122"/>
                <a:cs typeface="Noto Sans CJK SC" pitchFamily="34" charset="-120"/>
              </a:rPr>
              <a:t>a4</a:t>
            </a:r>
            <a:endParaRPr lang="en-US" sz="1500" dirty="0">
              <a:latin typeface="微软雅黑" panose="020B0503020204020204" pitchFamily="34" charset="-122"/>
              <a:ea typeface="微软雅黑" panose="020B0503020204020204" pitchFamily="34" charset="-122"/>
            </a:endParaRPr>
          </a:p>
        </p:txBody>
      </p:sp>
      <p:sp>
        <p:nvSpPr>
          <p:cNvPr id="13" name="Shape 11"/>
          <p:cNvSpPr/>
          <p:nvPr/>
        </p:nvSpPr>
        <p:spPr>
          <a:xfrm>
            <a:off x="5394960" y="2194560"/>
            <a:ext cx="868680" cy="658368"/>
          </a:xfrm>
          <a:prstGeom prst="roundRect">
            <a:avLst/>
          </a:prstGeom>
          <a:solidFill>
            <a:srgbClr val="FDECEE"/>
          </a:solidFill>
          <a:ln w="12700">
            <a:solidFill>
              <a:srgbClr val="E9C6C8"/>
            </a:solidFill>
            <a:prstDash val="solid"/>
          </a:ln>
        </p:spPr>
      </p:sp>
      <p:sp>
        <p:nvSpPr>
          <p:cNvPr id="14" name="Text 12"/>
          <p:cNvSpPr/>
          <p:nvPr/>
        </p:nvSpPr>
        <p:spPr>
          <a:xfrm>
            <a:off x="5550408" y="2395728"/>
            <a:ext cx="548640" cy="219456"/>
          </a:xfrm>
          <a:prstGeom prst="rect">
            <a:avLst/>
          </a:prstGeom>
          <a:noFill/>
          <a:ln/>
        </p:spPr>
        <p:txBody>
          <a:bodyPr wrap="square" lIns="0" tIns="0" rIns="0" bIns="0" rtlCol="0" anchor="ctr"/>
          <a:lstStyle/>
          <a:p>
            <a:pPr marL="0" indent="0" algn="ctr">
              <a:buNone/>
            </a:pPr>
            <a:r>
              <a:rPr lang="en-US" sz="1500" b="1" dirty="0">
                <a:solidFill>
                  <a:srgbClr val="C63F45"/>
                </a:solidFill>
                <a:latin typeface="微软雅黑" panose="020B0503020204020204" pitchFamily="34" charset="-122"/>
                <a:ea typeface="微软雅黑" panose="020B0503020204020204" pitchFamily="34" charset="-122"/>
                <a:cs typeface="Noto Sans CJK SC" pitchFamily="34" charset="-120"/>
              </a:rPr>
              <a:t>a5</a:t>
            </a:r>
            <a:endParaRPr lang="en-US" sz="1500" dirty="0">
              <a:latin typeface="微软雅黑" panose="020B0503020204020204" pitchFamily="34" charset="-122"/>
              <a:ea typeface="微软雅黑" panose="020B0503020204020204" pitchFamily="34" charset="-122"/>
            </a:endParaRPr>
          </a:p>
        </p:txBody>
      </p:sp>
      <p:sp>
        <p:nvSpPr>
          <p:cNvPr id="15" name="Shape 13"/>
          <p:cNvSpPr/>
          <p:nvPr/>
        </p:nvSpPr>
        <p:spPr>
          <a:xfrm>
            <a:off x="6537960" y="2194560"/>
            <a:ext cx="868680" cy="658368"/>
          </a:xfrm>
          <a:prstGeom prst="roundRect">
            <a:avLst/>
          </a:prstGeom>
          <a:solidFill>
            <a:srgbClr val="FDECEE"/>
          </a:solidFill>
          <a:ln w="12700">
            <a:solidFill>
              <a:srgbClr val="E9C6C8"/>
            </a:solidFill>
            <a:prstDash val="solid"/>
          </a:ln>
        </p:spPr>
      </p:sp>
      <p:sp>
        <p:nvSpPr>
          <p:cNvPr id="16" name="Text 14"/>
          <p:cNvSpPr/>
          <p:nvPr/>
        </p:nvSpPr>
        <p:spPr>
          <a:xfrm>
            <a:off x="6693408" y="2395728"/>
            <a:ext cx="548640" cy="219456"/>
          </a:xfrm>
          <a:prstGeom prst="rect">
            <a:avLst/>
          </a:prstGeom>
          <a:noFill/>
          <a:ln/>
        </p:spPr>
        <p:txBody>
          <a:bodyPr wrap="square" lIns="0" tIns="0" rIns="0" bIns="0" rtlCol="0" anchor="ctr"/>
          <a:lstStyle/>
          <a:p>
            <a:pPr marL="0" indent="0" algn="ctr">
              <a:buNone/>
            </a:pPr>
            <a:r>
              <a:rPr lang="en-US" sz="1500" b="1" dirty="0">
                <a:solidFill>
                  <a:srgbClr val="C63F45"/>
                </a:solidFill>
                <a:latin typeface="微软雅黑" panose="020B0503020204020204" pitchFamily="34" charset="-122"/>
                <a:ea typeface="微软雅黑" panose="020B0503020204020204" pitchFamily="34" charset="-122"/>
                <a:cs typeface="Noto Sans CJK SC" pitchFamily="34" charset="-120"/>
              </a:rPr>
              <a:t>a6</a:t>
            </a:r>
            <a:endParaRPr lang="en-US" sz="1500" dirty="0">
              <a:latin typeface="微软雅黑" panose="020B0503020204020204" pitchFamily="34" charset="-122"/>
              <a:ea typeface="微软雅黑" panose="020B0503020204020204" pitchFamily="34" charset="-122"/>
            </a:endParaRPr>
          </a:p>
        </p:txBody>
      </p:sp>
      <p:sp>
        <p:nvSpPr>
          <p:cNvPr id="17" name="Shape 15"/>
          <p:cNvSpPr/>
          <p:nvPr/>
        </p:nvSpPr>
        <p:spPr>
          <a:xfrm>
            <a:off x="7680960" y="2194560"/>
            <a:ext cx="868680" cy="658368"/>
          </a:xfrm>
          <a:prstGeom prst="roundRect">
            <a:avLst/>
          </a:prstGeom>
          <a:solidFill>
            <a:srgbClr val="FDECEE"/>
          </a:solidFill>
          <a:ln w="12700">
            <a:solidFill>
              <a:srgbClr val="E9C6C8"/>
            </a:solidFill>
            <a:prstDash val="solid"/>
          </a:ln>
        </p:spPr>
      </p:sp>
      <p:sp>
        <p:nvSpPr>
          <p:cNvPr id="18" name="Text 16"/>
          <p:cNvSpPr/>
          <p:nvPr/>
        </p:nvSpPr>
        <p:spPr>
          <a:xfrm>
            <a:off x="7836408" y="2395728"/>
            <a:ext cx="548640" cy="219456"/>
          </a:xfrm>
          <a:prstGeom prst="rect">
            <a:avLst/>
          </a:prstGeom>
          <a:noFill/>
          <a:ln/>
        </p:spPr>
        <p:txBody>
          <a:bodyPr wrap="square" lIns="0" tIns="0" rIns="0" bIns="0" rtlCol="0" anchor="ctr"/>
          <a:lstStyle/>
          <a:p>
            <a:pPr marL="0" indent="0" algn="ctr">
              <a:buNone/>
            </a:pPr>
            <a:r>
              <a:rPr lang="en-US" sz="1500" b="1" dirty="0">
                <a:solidFill>
                  <a:srgbClr val="C63F45"/>
                </a:solidFill>
                <a:latin typeface="微软雅黑" panose="020B0503020204020204" pitchFamily="34" charset="-122"/>
                <a:ea typeface="微软雅黑" panose="020B0503020204020204" pitchFamily="34" charset="-122"/>
                <a:cs typeface="Noto Sans CJK SC" pitchFamily="34" charset="-120"/>
              </a:rPr>
              <a:t>a7</a:t>
            </a:r>
            <a:endParaRPr lang="en-US" sz="1500" dirty="0">
              <a:latin typeface="微软雅黑" panose="020B0503020204020204" pitchFamily="34" charset="-122"/>
              <a:ea typeface="微软雅黑" panose="020B0503020204020204" pitchFamily="34" charset="-122"/>
            </a:endParaRPr>
          </a:p>
        </p:txBody>
      </p:sp>
      <p:sp>
        <p:nvSpPr>
          <p:cNvPr id="19" name="Text 17"/>
          <p:cNvSpPr/>
          <p:nvPr/>
        </p:nvSpPr>
        <p:spPr>
          <a:xfrm>
            <a:off x="868680" y="3063240"/>
            <a:ext cx="8138160" cy="530352"/>
          </a:xfrm>
          <a:prstGeom prst="rect">
            <a:avLst/>
          </a:prstGeom>
          <a:noFill/>
          <a:ln/>
        </p:spPr>
        <p:txBody>
          <a:bodyPr wrap="square" lIns="0" tIns="0" rIns="0" bIns="0" rtlCol="0" anchor="ct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每个时间步都重新预测动作，长任务中决策次数多，误差容易不断反馈</a:t>
            </a:r>
            <a:endParaRPr lang="en-US" sz="2400" dirty="0">
              <a:latin typeface="微软雅黑" panose="020B0503020204020204" pitchFamily="34" charset="-122"/>
              <a:ea typeface="微软雅黑" panose="020B0503020204020204" pitchFamily="34" charset="-122"/>
            </a:endParaRPr>
          </a:p>
        </p:txBody>
      </p:sp>
      <p:sp>
        <p:nvSpPr>
          <p:cNvPr id="20" name="Text 18"/>
          <p:cNvSpPr/>
          <p:nvPr/>
        </p:nvSpPr>
        <p:spPr>
          <a:xfrm>
            <a:off x="777240" y="3886200"/>
            <a:ext cx="1828800" cy="347472"/>
          </a:xfrm>
          <a:prstGeom prst="rect">
            <a:avLst/>
          </a:prstGeom>
          <a:noFill/>
          <a:ln/>
        </p:spPr>
        <p:txBody>
          <a:bodyPr wrap="square" lIns="0" tIns="0" rIns="0" bIns="0" rtlCol="0" anchor="ct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ACT</a:t>
            </a:r>
            <a:endParaRPr lang="en-US" sz="2400" dirty="0">
              <a:latin typeface="微软雅黑" panose="020B0503020204020204" pitchFamily="34" charset="-122"/>
              <a:ea typeface="微软雅黑" panose="020B0503020204020204" pitchFamily="34" charset="-122"/>
            </a:endParaRPr>
          </a:p>
        </p:txBody>
      </p:sp>
      <p:sp>
        <p:nvSpPr>
          <p:cNvPr id="21" name="Shape 19"/>
          <p:cNvSpPr/>
          <p:nvPr/>
        </p:nvSpPr>
        <p:spPr>
          <a:xfrm>
            <a:off x="822960" y="4407408"/>
            <a:ext cx="2331720" cy="658368"/>
          </a:xfrm>
          <a:prstGeom prst="roundRect">
            <a:avLst/>
          </a:prstGeom>
          <a:solidFill>
            <a:srgbClr val="EAF5F1"/>
          </a:solidFill>
          <a:ln w="12700">
            <a:solidFill>
              <a:srgbClr val="C7E2D9"/>
            </a:solidFill>
            <a:prstDash val="solid"/>
          </a:ln>
        </p:spPr>
      </p:sp>
      <p:sp>
        <p:nvSpPr>
          <p:cNvPr id="22" name="Text 20"/>
          <p:cNvSpPr/>
          <p:nvPr/>
        </p:nvSpPr>
        <p:spPr>
          <a:xfrm>
            <a:off x="1234440" y="4608576"/>
            <a:ext cx="1508760" cy="219456"/>
          </a:xfrm>
          <a:prstGeom prst="rect">
            <a:avLst/>
          </a:prstGeom>
          <a:noFill/>
          <a:ln/>
        </p:spPr>
        <p:txBody>
          <a:bodyPr wrap="square" lIns="0" tIns="0" rIns="0" bIns="0" rtlCol="0" anchor="ctr"/>
          <a:lstStyle/>
          <a:p>
            <a:pPr marL="0" indent="0" algn="ctr">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动作块 1</a:t>
            </a:r>
            <a:endParaRPr lang="en-US" sz="2400" dirty="0">
              <a:latin typeface="微软雅黑" panose="020B0503020204020204" pitchFamily="34" charset="-122"/>
              <a:ea typeface="微软雅黑" panose="020B0503020204020204" pitchFamily="34" charset="-122"/>
            </a:endParaRPr>
          </a:p>
        </p:txBody>
      </p:sp>
      <p:sp>
        <p:nvSpPr>
          <p:cNvPr id="23" name="Shape 21"/>
          <p:cNvSpPr/>
          <p:nvPr/>
        </p:nvSpPr>
        <p:spPr>
          <a:xfrm>
            <a:off x="3566160" y="4407408"/>
            <a:ext cx="2331720" cy="658368"/>
          </a:xfrm>
          <a:prstGeom prst="roundRect">
            <a:avLst/>
          </a:prstGeom>
          <a:solidFill>
            <a:srgbClr val="EAF5F1"/>
          </a:solidFill>
          <a:ln w="12700">
            <a:solidFill>
              <a:srgbClr val="C7E2D9"/>
            </a:solidFill>
            <a:prstDash val="solid"/>
          </a:ln>
        </p:spPr>
      </p:sp>
      <p:sp>
        <p:nvSpPr>
          <p:cNvPr id="24" name="Text 22"/>
          <p:cNvSpPr/>
          <p:nvPr/>
        </p:nvSpPr>
        <p:spPr>
          <a:xfrm>
            <a:off x="3977640" y="4608576"/>
            <a:ext cx="1508760" cy="219456"/>
          </a:xfrm>
          <a:prstGeom prst="rect">
            <a:avLst/>
          </a:prstGeom>
          <a:noFill/>
          <a:ln/>
        </p:spPr>
        <p:txBody>
          <a:bodyPr wrap="square" lIns="0" tIns="0" rIns="0" bIns="0" rtlCol="0" anchor="ctr"/>
          <a:lstStyle/>
          <a:p>
            <a:pPr marL="0" indent="0" algn="ctr">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动作块 2</a:t>
            </a:r>
            <a:endParaRPr lang="en-US" sz="2400" dirty="0">
              <a:latin typeface="微软雅黑" panose="020B0503020204020204" pitchFamily="34" charset="-122"/>
              <a:ea typeface="微软雅黑" panose="020B0503020204020204" pitchFamily="34" charset="-122"/>
            </a:endParaRPr>
          </a:p>
        </p:txBody>
      </p:sp>
      <p:sp>
        <p:nvSpPr>
          <p:cNvPr id="25" name="Shape 23"/>
          <p:cNvSpPr/>
          <p:nvPr/>
        </p:nvSpPr>
        <p:spPr>
          <a:xfrm>
            <a:off x="6309360" y="4407408"/>
            <a:ext cx="2331720" cy="658368"/>
          </a:xfrm>
          <a:prstGeom prst="roundRect">
            <a:avLst/>
          </a:prstGeom>
          <a:solidFill>
            <a:srgbClr val="EAF5F1"/>
          </a:solidFill>
          <a:ln w="12700">
            <a:solidFill>
              <a:srgbClr val="C7E2D9"/>
            </a:solidFill>
            <a:prstDash val="solid"/>
          </a:ln>
        </p:spPr>
      </p:sp>
      <p:sp>
        <p:nvSpPr>
          <p:cNvPr id="26" name="Text 24"/>
          <p:cNvSpPr/>
          <p:nvPr/>
        </p:nvSpPr>
        <p:spPr>
          <a:xfrm>
            <a:off x="6720840" y="4608576"/>
            <a:ext cx="1508760" cy="219456"/>
          </a:xfrm>
          <a:prstGeom prst="rect">
            <a:avLst/>
          </a:prstGeom>
          <a:noFill/>
          <a:ln/>
        </p:spPr>
        <p:txBody>
          <a:bodyPr wrap="square" lIns="0" tIns="0" rIns="0" bIns="0" rtlCol="0" anchor="ctr"/>
          <a:lstStyle/>
          <a:p>
            <a:pPr marL="0" indent="0" algn="ctr">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动作块 3</a:t>
            </a:r>
            <a:endParaRPr lang="en-US" sz="2400" dirty="0">
              <a:latin typeface="微软雅黑" panose="020B0503020204020204" pitchFamily="34" charset="-122"/>
              <a:ea typeface="微软雅黑" panose="020B0503020204020204" pitchFamily="34" charset="-122"/>
            </a:endParaRPr>
          </a:p>
        </p:txBody>
      </p:sp>
      <p:sp>
        <p:nvSpPr>
          <p:cNvPr id="27" name="Shape 25"/>
          <p:cNvSpPr/>
          <p:nvPr/>
        </p:nvSpPr>
        <p:spPr>
          <a:xfrm>
            <a:off x="9052560" y="2102542"/>
            <a:ext cx="2377440" cy="2834640"/>
          </a:xfrm>
          <a:prstGeom prst="roundRect">
            <a:avLst>
              <a:gd name="adj" fmla="val 1923"/>
            </a:avLst>
          </a:prstGeom>
          <a:solidFill>
            <a:srgbClr val="EDF2FA"/>
          </a:solidFill>
          <a:ln w="12700">
            <a:solidFill>
              <a:srgbClr val="E0E5ED"/>
            </a:solidFill>
            <a:prstDash val="solid"/>
          </a:ln>
          <a:effectLst>
            <a:outerShdw blurRad="12700" dist="4064" dir="2700000" algn="bl" rotWithShape="0">
              <a:srgbClr val="000000">
                <a:alpha val="7000"/>
              </a:srgbClr>
            </a:outerShdw>
          </a:effectLst>
        </p:spPr>
      </p:sp>
      <p:sp>
        <p:nvSpPr>
          <p:cNvPr id="28" name="Shape 26"/>
          <p:cNvSpPr/>
          <p:nvPr/>
        </p:nvSpPr>
        <p:spPr>
          <a:xfrm>
            <a:off x="9052560" y="2102542"/>
            <a:ext cx="64008" cy="2834640"/>
          </a:xfrm>
          <a:prstGeom prst="rect">
            <a:avLst/>
          </a:prstGeom>
          <a:solidFill>
            <a:srgbClr val="31599B"/>
          </a:solidFill>
          <a:ln w="12700">
            <a:solidFill>
              <a:srgbClr val="31599B"/>
            </a:solidFill>
            <a:prstDash val="solid"/>
          </a:ln>
        </p:spPr>
      </p:sp>
      <p:sp>
        <p:nvSpPr>
          <p:cNvPr id="29" name="Text 27"/>
          <p:cNvSpPr/>
          <p:nvPr/>
        </p:nvSpPr>
        <p:spPr>
          <a:xfrm>
            <a:off x="9262872" y="2248846"/>
            <a:ext cx="199339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效果</a:t>
            </a:r>
            <a:endParaRPr lang="en-US" sz="2400" dirty="0">
              <a:latin typeface="微软雅黑" panose="020B0503020204020204" pitchFamily="34" charset="-122"/>
              <a:ea typeface="微软雅黑" panose="020B0503020204020204" pitchFamily="34" charset="-122"/>
            </a:endParaRPr>
          </a:p>
        </p:txBody>
      </p:sp>
      <p:sp>
        <p:nvSpPr>
          <p:cNvPr id="30" name="Text 28"/>
          <p:cNvSpPr/>
          <p:nvPr/>
        </p:nvSpPr>
        <p:spPr>
          <a:xfrm>
            <a:off x="9262872" y="2669469"/>
            <a:ext cx="1993392" cy="2414017"/>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一个预测覆盖多个未来步，减少决策频率，并提升长时序操作的稳定性</a:t>
            </a:r>
            <a:endParaRPr lang="en-US" sz="2400" dirty="0">
              <a:latin typeface="微软雅黑" panose="020B0503020204020204" pitchFamily="34" charset="-122"/>
              <a:ea typeface="微软雅黑" panose="020B0503020204020204" pitchFamily="34" charset="-122"/>
            </a:endParaRPr>
          </a:p>
        </p:txBody>
      </p:sp>
      <p:sp>
        <p:nvSpPr>
          <p:cNvPr id="31"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101</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ACT 的模型结构</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pic>
        <p:nvPicPr>
          <p:cNvPr id="4" name="Image 0" descr="/mnt/data/ch4_pdfimages/img-020.png"/>
          <p:cNvPicPr>
            <a:picLocks noChangeAspect="1"/>
          </p:cNvPicPr>
          <p:nvPr/>
        </p:nvPicPr>
        <p:blipFill>
          <a:blip r:embed="rId3"/>
          <a:stretch>
            <a:fillRect/>
          </a:stretch>
        </p:blipFill>
        <p:spPr>
          <a:xfrm>
            <a:off x="749808" y="2200172"/>
            <a:ext cx="7406640" cy="2905712"/>
          </a:xfrm>
          <a:prstGeom prst="rect">
            <a:avLst/>
          </a:prstGeom>
        </p:spPr>
      </p:pic>
      <p:sp>
        <p:nvSpPr>
          <p:cNvPr id="5" name="Text 2"/>
          <p:cNvSpPr/>
          <p:nvPr/>
        </p:nvSpPr>
        <p:spPr>
          <a:xfrm>
            <a:off x="832104" y="5431536"/>
            <a:ext cx="7406640" cy="256032"/>
          </a:xfrm>
          <a:prstGeom prst="rect">
            <a:avLst/>
          </a:prstGeom>
          <a:noFill/>
          <a:ln/>
        </p:spPr>
        <p:txBody>
          <a:bodyPr wrap="square" lIns="0" tIns="0" rIns="0" bIns="0" rtlCol="0" anchor="ctr">
            <a:normAutofit/>
          </a:bodyPr>
          <a:lstStyle/>
          <a:p>
            <a:pPr marL="0" indent="0" algn="ctr">
              <a:buNone/>
            </a:pPr>
            <a:r>
              <a:rPr lang="en-US" sz="1600" b="1" dirty="0">
                <a:solidFill>
                  <a:schemeClr val="accent1">
                    <a:lumMod val="50000"/>
                  </a:schemeClr>
                </a:solidFill>
                <a:latin typeface="微软雅黑" panose="020B0503020204020204" pitchFamily="34" charset="-122"/>
                <a:ea typeface="微软雅黑" panose="020B0503020204020204" pitchFamily="34" charset="-122"/>
              </a:rPr>
              <a:t>ACT </a:t>
            </a:r>
            <a:r>
              <a:rPr lang="en-US" sz="1600" b="1" dirty="0" err="1">
                <a:solidFill>
                  <a:schemeClr val="accent1">
                    <a:lumMod val="50000"/>
                  </a:schemeClr>
                </a:solidFill>
                <a:latin typeface="微软雅黑" panose="020B0503020204020204" pitchFamily="34" charset="-122"/>
                <a:ea typeface="微软雅黑" panose="020B0503020204020204" pitchFamily="34" charset="-122"/>
              </a:rPr>
              <a:t>方法架构</a:t>
            </a:r>
            <a:endParaRPr lang="en-US" sz="1600" b="1" dirty="0">
              <a:solidFill>
                <a:schemeClr val="accent1">
                  <a:lumMod val="50000"/>
                </a:schemeClr>
              </a:solidFill>
              <a:latin typeface="微软雅黑" panose="020B0503020204020204" pitchFamily="34" charset="-122"/>
              <a:ea typeface="微软雅黑" panose="020B0503020204020204" pitchFamily="34" charset="-122"/>
            </a:endParaRPr>
          </a:p>
        </p:txBody>
      </p:sp>
      <p:sp>
        <p:nvSpPr>
          <p:cNvPr id="6" name="Shape 3"/>
          <p:cNvSpPr/>
          <p:nvPr/>
        </p:nvSpPr>
        <p:spPr>
          <a:xfrm>
            <a:off x="8412480" y="1737360"/>
            <a:ext cx="2816352"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7" name="Shape 4"/>
          <p:cNvSpPr/>
          <p:nvPr/>
        </p:nvSpPr>
        <p:spPr>
          <a:xfrm>
            <a:off x="8412480" y="1737360"/>
            <a:ext cx="64008" cy="1234440"/>
          </a:xfrm>
          <a:prstGeom prst="rect">
            <a:avLst/>
          </a:prstGeom>
          <a:solidFill>
            <a:srgbClr val="31599B"/>
          </a:solidFill>
          <a:ln w="12700">
            <a:solidFill>
              <a:srgbClr val="31599B"/>
            </a:solidFill>
            <a:prstDash val="solid"/>
          </a:ln>
        </p:spPr>
      </p:sp>
      <p:sp>
        <p:nvSpPr>
          <p:cNvPr id="8" name="Text 5"/>
          <p:cNvSpPr/>
          <p:nvPr/>
        </p:nvSpPr>
        <p:spPr>
          <a:xfrm>
            <a:off x="8622792" y="1883664"/>
            <a:ext cx="2432304"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Noto Sans CJK SC" pitchFamily="34" charset="0"/>
                <a:ea typeface="Noto Sans CJK SC" pitchFamily="34" charset="-122"/>
                <a:cs typeface="Noto Sans CJK SC" pitchFamily="34" charset="-120"/>
              </a:rPr>
              <a:t>CVAE</a:t>
            </a:r>
            <a:endParaRPr lang="en-US" sz="2000" dirty="0"/>
          </a:p>
        </p:txBody>
      </p:sp>
      <p:sp>
        <p:nvSpPr>
          <p:cNvPr id="9" name="Text 6"/>
          <p:cNvSpPr/>
          <p:nvPr/>
        </p:nvSpPr>
        <p:spPr>
          <a:xfrm>
            <a:off x="8622792" y="2304288"/>
            <a:ext cx="2432304" cy="521208"/>
          </a:xfrm>
          <a:prstGeom prst="rect">
            <a:avLst/>
          </a:prstGeom>
          <a:noFill/>
          <a:ln/>
        </p:spPr>
        <p:txBody>
          <a:bodyPr wrap="square" lIns="254" tIns="254" rIns="254" bIns="254" rtlCol="0" anchor="t">
            <a:noAutofit/>
          </a:bodyPr>
          <a:lstStyle/>
          <a:p>
            <a:pPr marL="0" indent="0">
              <a:buNone/>
            </a:pPr>
            <a:r>
              <a:rPr lang="en-US" dirty="0">
                <a:solidFill>
                  <a:srgbClr val="222833"/>
                </a:solidFill>
                <a:latin typeface="Noto Sans CJK SC" pitchFamily="34" charset="0"/>
                <a:ea typeface="Noto Sans CJK SC" pitchFamily="34" charset="-122"/>
                <a:cs typeface="Noto Sans CJK SC" pitchFamily="34" charset="-120"/>
              </a:rPr>
              <a:t>训练时把动作序列压缩为潜变量 z。</a:t>
            </a:r>
            <a:endParaRPr lang="en-US" dirty="0"/>
          </a:p>
        </p:txBody>
      </p:sp>
      <p:sp>
        <p:nvSpPr>
          <p:cNvPr id="10" name="Shape 7"/>
          <p:cNvSpPr/>
          <p:nvPr/>
        </p:nvSpPr>
        <p:spPr>
          <a:xfrm>
            <a:off x="8412480" y="3154680"/>
            <a:ext cx="2816352"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1" name="Shape 8"/>
          <p:cNvSpPr/>
          <p:nvPr/>
        </p:nvSpPr>
        <p:spPr>
          <a:xfrm>
            <a:off x="8412480" y="3154680"/>
            <a:ext cx="64008" cy="1234440"/>
          </a:xfrm>
          <a:prstGeom prst="rect">
            <a:avLst/>
          </a:prstGeom>
          <a:solidFill>
            <a:srgbClr val="2F8E72"/>
          </a:solidFill>
          <a:ln w="12700">
            <a:solidFill>
              <a:srgbClr val="2F8E72"/>
            </a:solidFill>
            <a:prstDash val="solid"/>
          </a:ln>
        </p:spPr>
      </p:sp>
      <p:sp>
        <p:nvSpPr>
          <p:cNvPr id="12" name="Text 9"/>
          <p:cNvSpPr/>
          <p:nvPr/>
        </p:nvSpPr>
        <p:spPr>
          <a:xfrm>
            <a:off x="8622792" y="3300984"/>
            <a:ext cx="2432304"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Noto Sans CJK SC" pitchFamily="34" charset="0"/>
                <a:ea typeface="Noto Sans CJK SC" pitchFamily="34" charset="-122"/>
                <a:cs typeface="Noto Sans CJK SC" pitchFamily="34" charset="-120"/>
              </a:rPr>
              <a:t>Transformer</a:t>
            </a:r>
            <a:endParaRPr lang="en-US" sz="2000" dirty="0"/>
          </a:p>
        </p:txBody>
      </p:sp>
      <p:sp>
        <p:nvSpPr>
          <p:cNvPr id="13" name="Text 10"/>
          <p:cNvSpPr/>
          <p:nvPr/>
        </p:nvSpPr>
        <p:spPr>
          <a:xfrm>
            <a:off x="8622792" y="3721608"/>
            <a:ext cx="2432304" cy="521208"/>
          </a:xfrm>
          <a:prstGeom prst="rect">
            <a:avLst/>
          </a:prstGeom>
          <a:noFill/>
          <a:ln/>
        </p:spPr>
        <p:txBody>
          <a:bodyPr wrap="square" lIns="254" tIns="254" rIns="254" bIns="254" rtlCol="0" anchor="t">
            <a:noAutofit/>
          </a:bodyPr>
          <a:lstStyle/>
          <a:p>
            <a:pPr marL="0" indent="0">
              <a:buNone/>
            </a:pPr>
            <a:r>
              <a:rPr lang="en-US" dirty="0">
                <a:solidFill>
                  <a:srgbClr val="222833"/>
                </a:solidFill>
                <a:latin typeface="Noto Sans CJK SC" pitchFamily="34" charset="0"/>
                <a:ea typeface="Noto Sans CJK SC" pitchFamily="34" charset="-122"/>
                <a:cs typeface="Noto Sans CJK SC" pitchFamily="34" charset="-120"/>
              </a:rPr>
              <a:t>编码观测与状态，并解码动作块。</a:t>
            </a:r>
            <a:endParaRPr lang="en-US" dirty="0"/>
          </a:p>
        </p:txBody>
      </p:sp>
      <p:sp>
        <p:nvSpPr>
          <p:cNvPr id="14" name="Shape 11"/>
          <p:cNvSpPr/>
          <p:nvPr/>
        </p:nvSpPr>
        <p:spPr>
          <a:xfrm>
            <a:off x="8412480" y="4572000"/>
            <a:ext cx="2816352" cy="1371600"/>
          </a:xfrm>
          <a:prstGeom prst="roundRect">
            <a:avLst>
              <a:gd name="adj" fmla="val 434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5" name="Shape 12"/>
          <p:cNvSpPr/>
          <p:nvPr/>
        </p:nvSpPr>
        <p:spPr>
          <a:xfrm>
            <a:off x="8412480" y="4572000"/>
            <a:ext cx="64008" cy="1371600"/>
          </a:xfrm>
          <a:prstGeom prst="rect">
            <a:avLst/>
          </a:prstGeom>
          <a:solidFill>
            <a:srgbClr val="C58A24"/>
          </a:solidFill>
          <a:ln w="12700">
            <a:solidFill>
              <a:srgbClr val="C58A24"/>
            </a:solidFill>
            <a:prstDash val="solid"/>
          </a:ln>
        </p:spPr>
      </p:sp>
      <p:sp>
        <p:nvSpPr>
          <p:cNvPr id="16" name="Text 13"/>
          <p:cNvSpPr/>
          <p:nvPr/>
        </p:nvSpPr>
        <p:spPr>
          <a:xfrm>
            <a:off x="8622792" y="4718304"/>
            <a:ext cx="2432304" cy="329184"/>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Noto Sans CJK SC" pitchFamily="34" charset="0"/>
                <a:ea typeface="Noto Sans CJK SC" pitchFamily="34" charset="-122"/>
                <a:cs typeface="Noto Sans CJK SC" pitchFamily="34" charset="-120"/>
              </a:rPr>
              <a:t>输出</a:t>
            </a:r>
            <a:endParaRPr lang="en-US" sz="2000" dirty="0"/>
          </a:p>
        </p:txBody>
      </p:sp>
      <p:sp>
        <p:nvSpPr>
          <p:cNvPr id="17" name="Text 14"/>
          <p:cNvSpPr/>
          <p:nvPr/>
        </p:nvSpPr>
        <p:spPr>
          <a:xfrm>
            <a:off x="8622792" y="5138928"/>
            <a:ext cx="2432304" cy="1099312"/>
          </a:xfrm>
          <a:prstGeom prst="rect">
            <a:avLst/>
          </a:prstGeom>
          <a:noFill/>
          <a:ln/>
        </p:spPr>
        <p:txBody>
          <a:bodyPr wrap="square" lIns="254" tIns="254" rIns="254" bIns="254" rtlCol="0" anchor="t">
            <a:normAutofit/>
          </a:bodyPr>
          <a:lstStyle/>
          <a:p>
            <a:pPr marL="0" indent="0">
              <a:buNone/>
            </a:pPr>
            <a:r>
              <a:rPr lang="en-US" dirty="0">
                <a:solidFill>
                  <a:srgbClr val="222833"/>
                </a:solidFill>
                <a:latin typeface="Noto Sans CJK SC" pitchFamily="34" charset="0"/>
                <a:ea typeface="Noto Sans CJK SC" pitchFamily="34" charset="-122"/>
                <a:cs typeface="Noto Sans CJK SC" pitchFamily="34" charset="-120"/>
              </a:rPr>
              <a:t>一次生成长度为 k 的未来动作序列。</a:t>
            </a:r>
            <a:endParaRPr lang="en-US"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ACT 训练阶段：条件 VAE + Transformer</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20239"/>
            <a:ext cx="2560320" cy="1824989"/>
          </a:xfrm>
          <a:prstGeom prst="roundRect">
            <a:avLst>
              <a:gd name="adj" fmla="val 2581"/>
            </a:avLst>
          </a:prstGeom>
          <a:solidFill>
            <a:srgbClr val="EDF2FA"/>
          </a:solidFill>
          <a:ln w="12700">
            <a:solidFill>
              <a:srgbClr val="DDE3EC"/>
            </a:solidFill>
            <a:prstDash val="solid"/>
          </a:ln>
        </p:spPr>
      </p:sp>
      <p:sp>
        <p:nvSpPr>
          <p:cNvPr id="5" name="Text 3"/>
          <p:cNvSpPr/>
          <p:nvPr/>
        </p:nvSpPr>
        <p:spPr>
          <a:xfrm>
            <a:off x="822960" y="2066544"/>
            <a:ext cx="384048" cy="384048"/>
          </a:xfrm>
          <a:prstGeom prst="rect">
            <a:avLst/>
          </a:prstGeom>
          <a:noFill/>
          <a:ln/>
        </p:spPr>
        <p:txBody>
          <a:bodyPr wrap="square" lIns="0" tIns="0" rIns="0" bIns="0" rtlCol="0" anchor="ctr"/>
          <a:lstStyle/>
          <a:p>
            <a:pPr marL="0" indent="0" algn="ctr">
              <a:buNone/>
            </a:pPr>
            <a:r>
              <a:rPr lang="en-US" sz="3200" b="1" dirty="0">
                <a:solidFill>
                  <a:srgbClr val="31599B"/>
                </a:solidFill>
                <a:latin typeface="Noto Sans CJK SC" pitchFamily="34" charset="0"/>
                <a:ea typeface="Noto Sans CJK SC" pitchFamily="34" charset="-122"/>
                <a:cs typeface="Noto Sans CJK SC" pitchFamily="34" charset="-120"/>
              </a:rPr>
              <a:t>1</a:t>
            </a:r>
            <a:endParaRPr lang="en-US" sz="3200" dirty="0"/>
          </a:p>
        </p:txBody>
      </p:sp>
      <p:sp>
        <p:nvSpPr>
          <p:cNvPr id="6" name="Text 4"/>
          <p:cNvSpPr/>
          <p:nvPr/>
        </p:nvSpPr>
        <p:spPr>
          <a:xfrm>
            <a:off x="1307592" y="2066544"/>
            <a:ext cx="1810512" cy="310896"/>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Noto Sans CJK SC" pitchFamily="34" charset="0"/>
                <a:ea typeface="Noto Sans CJK SC" pitchFamily="34" charset="-122"/>
                <a:cs typeface="Noto Sans CJK SC" pitchFamily="34" charset="-120"/>
              </a:rPr>
              <a:t>输入</a:t>
            </a:r>
            <a:endParaRPr lang="en-US" sz="2400" dirty="0"/>
          </a:p>
        </p:txBody>
      </p:sp>
      <p:sp>
        <p:nvSpPr>
          <p:cNvPr id="7" name="Text 5"/>
          <p:cNvSpPr/>
          <p:nvPr/>
        </p:nvSpPr>
        <p:spPr>
          <a:xfrm>
            <a:off x="877824" y="2785109"/>
            <a:ext cx="2231136" cy="566928"/>
          </a:xfrm>
          <a:prstGeom prst="rect">
            <a:avLst/>
          </a:prstGeom>
          <a:noFill/>
          <a:ln/>
        </p:spPr>
        <p:txBody>
          <a:bodyPr wrap="square" lIns="0" tIns="0" rIns="0" bIns="0" rtlCol="0" anchor="ctr">
            <a:noAutofit/>
          </a:bodyPr>
          <a:lstStyle/>
          <a:p>
            <a:pPr marL="0" indent="0" algn="ctr">
              <a:buNone/>
            </a:pPr>
            <a:r>
              <a:rPr lang="en-US" dirty="0" err="1">
                <a:solidFill>
                  <a:srgbClr val="222833"/>
                </a:solidFill>
                <a:latin typeface="Noto Sans CJK SC" pitchFamily="34" charset="0"/>
                <a:ea typeface="Noto Sans CJK SC" pitchFamily="34" charset="-122"/>
                <a:cs typeface="Noto Sans CJK SC" pitchFamily="34" charset="-120"/>
              </a:rPr>
              <a:t>多视角图像、当前关节状态和目标动作序列</a:t>
            </a:r>
            <a:endParaRPr lang="en-US" dirty="0"/>
          </a:p>
        </p:txBody>
      </p:sp>
      <p:sp>
        <p:nvSpPr>
          <p:cNvPr id="8" name="Shape 6"/>
          <p:cNvSpPr/>
          <p:nvPr/>
        </p:nvSpPr>
        <p:spPr>
          <a:xfrm>
            <a:off x="3328416" y="2547366"/>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20240"/>
            <a:ext cx="2560320" cy="1783080"/>
          </a:xfrm>
          <a:prstGeom prst="roundRect">
            <a:avLst>
              <a:gd name="adj" fmla="val 2581"/>
            </a:avLst>
          </a:prstGeom>
          <a:solidFill>
            <a:srgbClr val="EAF5F1"/>
          </a:solidFill>
          <a:ln w="12700">
            <a:solidFill>
              <a:srgbClr val="DDE3EC"/>
            </a:solidFill>
            <a:prstDash val="solid"/>
          </a:ln>
        </p:spPr>
      </p:sp>
      <p:sp>
        <p:nvSpPr>
          <p:cNvPr id="10" name="Text 8"/>
          <p:cNvSpPr/>
          <p:nvPr/>
        </p:nvSpPr>
        <p:spPr>
          <a:xfrm>
            <a:off x="3509010" y="2066544"/>
            <a:ext cx="384048" cy="384048"/>
          </a:xfrm>
          <a:prstGeom prst="rect">
            <a:avLst/>
          </a:prstGeom>
          <a:noFill/>
          <a:ln/>
        </p:spPr>
        <p:txBody>
          <a:bodyPr wrap="square" lIns="0" tIns="0" rIns="0" bIns="0" rtlCol="0" anchor="ctr"/>
          <a:lstStyle/>
          <a:p>
            <a:pPr marL="0" indent="0" algn="ctr">
              <a:buNone/>
            </a:pPr>
            <a:r>
              <a:rPr lang="en-US" sz="3200" b="1" dirty="0">
                <a:solidFill>
                  <a:srgbClr val="2F8E72"/>
                </a:solidFill>
                <a:latin typeface="Noto Sans CJK SC" pitchFamily="34" charset="0"/>
                <a:ea typeface="Noto Sans CJK SC" pitchFamily="34" charset="-122"/>
                <a:cs typeface="Noto Sans CJK SC" pitchFamily="34" charset="-120"/>
              </a:rPr>
              <a:t>2</a:t>
            </a:r>
            <a:endParaRPr lang="en-US" sz="3200" dirty="0"/>
          </a:p>
        </p:txBody>
      </p:sp>
      <p:sp>
        <p:nvSpPr>
          <p:cNvPr id="11" name="Text 9"/>
          <p:cNvSpPr/>
          <p:nvPr/>
        </p:nvSpPr>
        <p:spPr>
          <a:xfrm>
            <a:off x="3993642" y="2066544"/>
            <a:ext cx="1810512" cy="310896"/>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Noto Sans CJK SC" pitchFamily="34" charset="0"/>
                <a:ea typeface="Noto Sans CJK SC" pitchFamily="34" charset="-122"/>
                <a:cs typeface="Noto Sans CJK SC" pitchFamily="34" charset="-120"/>
              </a:rPr>
              <a:t>编码器</a:t>
            </a:r>
            <a:endParaRPr lang="en-US" sz="2400" dirty="0"/>
          </a:p>
        </p:txBody>
      </p:sp>
      <p:sp>
        <p:nvSpPr>
          <p:cNvPr id="12" name="Text 10"/>
          <p:cNvSpPr/>
          <p:nvPr/>
        </p:nvSpPr>
        <p:spPr>
          <a:xfrm>
            <a:off x="3563874" y="2675382"/>
            <a:ext cx="2231136" cy="566928"/>
          </a:xfrm>
          <a:prstGeom prst="rect">
            <a:avLst/>
          </a:prstGeom>
          <a:noFill/>
          <a:ln/>
        </p:spPr>
        <p:txBody>
          <a:bodyPr wrap="square" lIns="0" tIns="0" rIns="0" bIns="0" rtlCol="0" anchor="ctr">
            <a:normAutofit/>
          </a:bodyPr>
          <a:lstStyle/>
          <a:p>
            <a:pPr marL="0" indent="0" algn="ctr">
              <a:buNone/>
            </a:pPr>
            <a:r>
              <a:rPr lang="en-US" dirty="0" err="1">
                <a:solidFill>
                  <a:srgbClr val="222833"/>
                </a:solidFill>
                <a:latin typeface="Noto Sans CJK SC" pitchFamily="34" charset="0"/>
                <a:ea typeface="Noto Sans CJK SC" pitchFamily="34" charset="-122"/>
                <a:cs typeface="Noto Sans CJK SC" pitchFamily="34" charset="-120"/>
              </a:rPr>
              <a:t>把当前观测与目标动作压缩为潜变量</a:t>
            </a:r>
            <a:r>
              <a:rPr lang="en-US" dirty="0">
                <a:solidFill>
                  <a:srgbClr val="222833"/>
                </a:solidFill>
                <a:latin typeface="Noto Sans CJK SC" pitchFamily="34" charset="0"/>
                <a:ea typeface="Noto Sans CJK SC" pitchFamily="34" charset="-122"/>
                <a:cs typeface="Noto Sans CJK SC" pitchFamily="34" charset="-120"/>
              </a:rPr>
              <a:t> z</a:t>
            </a:r>
            <a:endParaRPr lang="en-US" dirty="0"/>
          </a:p>
        </p:txBody>
      </p:sp>
      <p:sp>
        <p:nvSpPr>
          <p:cNvPr id="13" name="Shape 11"/>
          <p:cNvSpPr/>
          <p:nvPr/>
        </p:nvSpPr>
        <p:spPr>
          <a:xfrm>
            <a:off x="6014466" y="2547366"/>
            <a:ext cx="347472" cy="438912"/>
          </a:xfrm>
          <a:prstGeom prst="chevron">
            <a:avLst/>
          </a:prstGeom>
          <a:solidFill>
            <a:srgbClr val="D8E2F1"/>
          </a:solidFill>
          <a:ln w="12700">
            <a:solidFill>
              <a:srgbClr val="D8E2F1"/>
            </a:solidFill>
            <a:prstDash val="solid"/>
          </a:ln>
        </p:spPr>
      </p:sp>
      <p:sp>
        <p:nvSpPr>
          <p:cNvPr id="14" name="Shape 12"/>
          <p:cNvSpPr/>
          <p:nvPr/>
        </p:nvSpPr>
        <p:spPr>
          <a:xfrm>
            <a:off x="6085332" y="1920240"/>
            <a:ext cx="2560320" cy="1783080"/>
          </a:xfrm>
          <a:prstGeom prst="roundRect">
            <a:avLst>
              <a:gd name="adj" fmla="val 2581"/>
            </a:avLst>
          </a:prstGeom>
          <a:solidFill>
            <a:srgbClr val="FFF4DE"/>
          </a:solidFill>
          <a:ln w="12700">
            <a:solidFill>
              <a:srgbClr val="DDE3EC"/>
            </a:solidFill>
            <a:prstDash val="solid"/>
          </a:ln>
        </p:spPr>
      </p:sp>
      <p:sp>
        <p:nvSpPr>
          <p:cNvPr id="15" name="Text 13"/>
          <p:cNvSpPr/>
          <p:nvPr/>
        </p:nvSpPr>
        <p:spPr>
          <a:xfrm>
            <a:off x="6195060" y="2066544"/>
            <a:ext cx="384048" cy="384048"/>
          </a:xfrm>
          <a:prstGeom prst="rect">
            <a:avLst/>
          </a:prstGeom>
          <a:noFill/>
          <a:ln/>
        </p:spPr>
        <p:txBody>
          <a:bodyPr wrap="square" lIns="0" tIns="0" rIns="0" bIns="0" rtlCol="0" anchor="ctr"/>
          <a:lstStyle/>
          <a:p>
            <a:pPr marL="0" indent="0" algn="ctr">
              <a:buNone/>
            </a:pPr>
            <a:r>
              <a:rPr lang="en-US" sz="3200" b="1" dirty="0">
                <a:solidFill>
                  <a:srgbClr val="C58A24"/>
                </a:solidFill>
                <a:latin typeface="Noto Sans CJK SC" pitchFamily="34" charset="0"/>
                <a:ea typeface="Noto Sans CJK SC" pitchFamily="34" charset="-122"/>
                <a:cs typeface="Noto Sans CJK SC" pitchFamily="34" charset="-120"/>
              </a:rPr>
              <a:t>3</a:t>
            </a:r>
            <a:endParaRPr lang="en-US" sz="3200" dirty="0"/>
          </a:p>
        </p:txBody>
      </p:sp>
      <p:sp>
        <p:nvSpPr>
          <p:cNvPr id="16" name="Text 14"/>
          <p:cNvSpPr/>
          <p:nvPr/>
        </p:nvSpPr>
        <p:spPr>
          <a:xfrm>
            <a:off x="6679692" y="2066544"/>
            <a:ext cx="1810512" cy="310896"/>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Noto Sans CJK SC" pitchFamily="34" charset="0"/>
                <a:ea typeface="Noto Sans CJK SC" pitchFamily="34" charset="-122"/>
                <a:cs typeface="Noto Sans CJK SC" pitchFamily="34" charset="-120"/>
              </a:rPr>
              <a:t>解码器</a:t>
            </a:r>
            <a:endParaRPr lang="en-US" sz="2400" dirty="0"/>
          </a:p>
        </p:txBody>
      </p:sp>
      <p:sp>
        <p:nvSpPr>
          <p:cNvPr id="17" name="Text 15"/>
          <p:cNvSpPr/>
          <p:nvPr/>
        </p:nvSpPr>
        <p:spPr>
          <a:xfrm>
            <a:off x="6243066" y="2702814"/>
            <a:ext cx="2356866" cy="566928"/>
          </a:xfrm>
          <a:prstGeom prst="rect">
            <a:avLst/>
          </a:prstGeom>
          <a:noFill/>
          <a:ln/>
        </p:spPr>
        <p:txBody>
          <a:bodyPr wrap="square" lIns="0" tIns="0" rIns="0" bIns="0" rtlCol="0" anchor="ctr">
            <a:noAutofit/>
          </a:bodyPr>
          <a:lstStyle/>
          <a:p>
            <a:pPr marL="0" indent="0" algn="ctr">
              <a:buNone/>
            </a:pPr>
            <a:r>
              <a:rPr lang="en-US" dirty="0">
                <a:solidFill>
                  <a:srgbClr val="222833"/>
                </a:solidFill>
                <a:latin typeface="Noto Sans CJK SC" pitchFamily="34" charset="0"/>
                <a:ea typeface="Noto Sans CJK SC" pitchFamily="34" charset="-122"/>
                <a:cs typeface="Noto Sans CJK SC" pitchFamily="34" charset="-120"/>
              </a:rPr>
              <a:t>以当前观测和 z 为条件生成长度 k </a:t>
            </a:r>
            <a:r>
              <a:rPr lang="en-US" dirty="0" err="1">
                <a:solidFill>
                  <a:srgbClr val="222833"/>
                </a:solidFill>
                <a:latin typeface="Noto Sans CJK SC" pitchFamily="34" charset="0"/>
                <a:ea typeface="Noto Sans CJK SC" pitchFamily="34" charset="-122"/>
                <a:cs typeface="Noto Sans CJK SC" pitchFamily="34" charset="-120"/>
              </a:rPr>
              <a:t>的动作块</a:t>
            </a:r>
            <a:endParaRPr lang="en-US" dirty="0"/>
          </a:p>
        </p:txBody>
      </p:sp>
      <p:sp>
        <p:nvSpPr>
          <p:cNvPr id="18" name="Shape 16"/>
          <p:cNvSpPr/>
          <p:nvPr/>
        </p:nvSpPr>
        <p:spPr>
          <a:xfrm>
            <a:off x="8700516" y="2547366"/>
            <a:ext cx="347472" cy="438912"/>
          </a:xfrm>
          <a:prstGeom prst="chevron">
            <a:avLst/>
          </a:prstGeom>
          <a:solidFill>
            <a:srgbClr val="D8E2F1"/>
          </a:solidFill>
          <a:ln w="12700">
            <a:solidFill>
              <a:srgbClr val="D8E2F1"/>
            </a:solidFill>
            <a:prstDash val="solid"/>
          </a:ln>
        </p:spPr>
      </p:sp>
      <p:sp>
        <p:nvSpPr>
          <p:cNvPr id="19" name="Shape 17"/>
          <p:cNvSpPr/>
          <p:nvPr/>
        </p:nvSpPr>
        <p:spPr>
          <a:xfrm>
            <a:off x="8771382" y="1920240"/>
            <a:ext cx="2560320" cy="1783080"/>
          </a:xfrm>
          <a:prstGeom prst="roundRect">
            <a:avLst>
              <a:gd name="adj" fmla="val 2581"/>
            </a:avLst>
          </a:prstGeom>
          <a:solidFill>
            <a:srgbClr val="FDECEE"/>
          </a:solidFill>
          <a:ln w="12700">
            <a:solidFill>
              <a:srgbClr val="DDE3EC"/>
            </a:solidFill>
            <a:prstDash val="solid"/>
          </a:ln>
        </p:spPr>
      </p:sp>
      <p:sp>
        <p:nvSpPr>
          <p:cNvPr id="20" name="Text 18"/>
          <p:cNvSpPr/>
          <p:nvPr/>
        </p:nvSpPr>
        <p:spPr>
          <a:xfrm>
            <a:off x="8881110" y="2066544"/>
            <a:ext cx="384048" cy="384048"/>
          </a:xfrm>
          <a:prstGeom prst="rect">
            <a:avLst/>
          </a:prstGeom>
          <a:noFill/>
          <a:ln/>
        </p:spPr>
        <p:txBody>
          <a:bodyPr wrap="square" lIns="0" tIns="0" rIns="0" bIns="0" rtlCol="0" anchor="ctr"/>
          <a:lstStyle/>
          <a:p>
            <a:pPr marL="0" indent="0" algn="ctr">
              <a:buNone/>
            </a:pPr>
            <a:r>
              <a:rPr lang="en-US" sz="3200" b="1" dirty="0">
                <a:solidFill>
                  <a:srgbClr val="C63F45"/>
                </a:solidFill>
                <a:latin typeface="Noto Sans CJK SC" pitchFamily="34" charset="0"/>
                <a:ea typeface="Noto Sans CJK SC" pitchFamily="34" charset="-122"/>
                <a:cs typeface="Noto Sans CJK SC" pitchFamily="34" charset="-120"/>
              </a:rPr>
              <a:t>4</a:t>
            </a:r>
            <a:endParaRPr lang="en-US" sz="3200" dirty="0"/>
          </a:p>
        </p:txBody>
      </p:sp>
      <p:sp>
        <p:nvSpPr>
          <p:cNvPr id="21" name="Text 19"/>
          <p:cNvSpPr/>
          <p:nvPr/>
        </p:nvSpPr>
        <p:spPr>
          <a:xfrm>
            <a:off x="9365742" y="2066544"/>
            <a:ext cx="1810512" cy="310896"/>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Noto Sans CJK SC" pitchFamily="34" charset="0"/>
                <a:ea typeface="Noto Sans CJK SC" pitchFamily="34" charset="-122"/>
                <a:cs typeface="Noto Sans CJK SC" pitchFamily="34" charset="-120"/>
              </a:rPr>
              <a:t>优化</a:t>
            </a:r>
            <a:endParaRPr lang="en-US" sz="2400" dirty="0"/>
          </a:p>
        </p:txBody>
      </p:sp>
      <p:sp>
        <p:nvSpPr>
          <p:cNvPr id="22" name="Text 20"/>
          <p:cNvSpPr/>
          <p:nvPr/>
        </p:nvSpPr>
        <p:spPr>
          <a:xfrm>
            <a:off x="8935974" y="2675382"/>
            <a:ext cx="2231136" cy="566928"/>
          </a:xfrm>
          <a:prstGeom prst="rect">
            <a:avLst/>
          </a:prstGeom>
          <a:noFill/>
          <a:ln/>
        </p:spPr>
        <p:txBody>
          <a:bodyPr wrap="square" lIns="0" tIns="0" rIns="0" bIns="0" rtlCol="0" anchor="ctr">
            <a:normAutofit/>
          </a:bodyPr>
          <a:lstStyle/>
          <a:p>
            <a:pPr marL="0" indent="0" algn="ctr">
              <a:buNone/>
            </a:pPr>
            <a:r>
              <a:rPr lang="en-US" dirty="0">
                <a:solidFill>
                  <a:srgbClr val="222833"/>
                </a:solidFill>
                <a:latin typeface="Noto Sans CJK SC" pitchFamily="34" charset="0"/>
                <a:ea typeface="Noto Sans CJK SC" pitchFamily="34" charset="-122"/>
                <a:cs typeface="Noto Sans CJK SC" pitchFamily="34" charset="-120"/>
              </a:rPr>
              <a:t>同时最小化重构损失与 KL </a:t>
            </a:r>
            <a:r>
              <a:rPr lang="en-US" dirty="0" err="1">
                <a:solidFill>
                  <a:srgbClr val="222833"/>
                </a:solidFill>
                <a:latin typeface="Noto Sans CJK SC" pitchFamily="34" charset="0"/>
                <a:ea typeface="Noto Sans CJK SC" pitchFamily="34" charset="-122"/>
                <a:cs typeface="Noto Sans CJK SC" pitchFamily="34" charset="-120"/>
              </a:rPr>
              <a:t>散度正则</a:t>
            </a:r>
            <a:endParaRPr lang="en-US"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ACT 的动作块预测</a:t>
            </a:r>
            <a:endParaRPr lang="en-US" sz="3500" dirty="0">
              <a:latin typeface="微软雅黑" panose="020B0503020204020204" pitchFamily="34" charset="-122"/>
              <a:ea typeface="微软雅黑" panose="020B0503020204020204" pitchFamily="34" charset="-122"/>
            </a:endParaRPr>
          </a:p>
        </p:txBody>
      </p:sp>
      <p:sp>
        <p:nvSpPr>
          <p:cNvPr id="3" name="Text 1"/>
          <p:cNvSpPr/>
          <p:nvPr/>
        </p:nvSpPr>
        <p:spPr>
          <a:xfrm>
            <a:off x="713232" y="1447293"/>
            <a:ext cx="5303520" cy="851687"/>
          </a:xfrm>
          <a:prstGeom prst="rect">
            <a:avLst/>
          </a:prstGeom>
          <a:noFill/>
          <a:ln/>
        </p:spPr>
        <p:txBody>
          <a:bodyPr wrap="square" lIns="0" tIns="0" rIns="0" bIns="0" rtlCol="0" anchor="ctr"/>
          <a:lstStyle/>
          <a:p>
            <a:pPr marL="0" indent="0">
              <a:buNone/>
            </a:pPr>
            <a:r>
              <a:rPr lang="en-US" sz="2800" dirty="0">
                <a:solidFill>
                  <a:srgbClr val="4F73B5"/>
                </a:solidFill>
                <a:latin typeface="微软雅黑" panose="020B0503020204020204" pitchFamily="34" charset="-122"/>
                <a:ea typeface="微软雅黑" panose="020B0503020204020204" pitchFamily="34" charset="-122"/>
                <a:cs typeface="Noto Sans CJK SC" pitchFamily="34" charset="-120"/>
              </a:rPr>
              <a:t>4.5.3 ACT</a:t>
            </a:r>
            <a:endParaRPr lang="en-US" sz="2800" dirty="0">
              <a:latin typeface="微软雅黑" panose="020B0503020204020204" pitchFamily="34" charset="-122"/>
              <a:ea typeface="微软雅黑" panose="020B0503020204020204" pitchFamily="34" charset="-122"/>
            </a:endParaRPr>
          </a:p>
        </p:txBody>
      </p:sp>
      <p:sp>
        <p:nvSpPr>
          <p:cNvPr id="4" name="Shape 2"/>
          <p:cNvSpPr/>
          <p:nvPr/>
        </p:nvSpPr>
        <p:spPr>
          <a:xfrm>
            <a:off x="502920" y="1353312"/>
            <a:ext cx="11109960" cy="0"/>
          </a:xfrm>
          <a:prstGeom prst="line">
            <a:avLst/>
          </a:prstGeom>
          <a:noFill/>
          <a:ln w="12700">
            <a:solidFill>
              <a:srgbClr val="D8DEE8"/>
            </a:solidFill>
            <a:prstDash val="solid"/>
          </a:ln>
        </p:spPr>
      </p:sp>
      <p:sp>
        <p:nvSpPr>
          <p:cNvPr id="5" name="Text 3"/>
          <p:cNvSpPr/>
          <p:nvPr/>
        </p:nvSpPr>
        <p:spPr>
          <a:xfrm>
            <a:off x="713232" y="2332589"/>
            <a:ext cx="10607040" cy="493776"/>
          </a:xfrm>
          <a:prstGeom prst="rect">
            <a:avLst/>
          </a:prstGeom>
          <a:noFill/>
          <a:ln/>
        </p:spPr>
        <p:txBody>
          <a:bodyPr wrap="square" lIns="0" tIns="0" rIns="0" bIns="0" rtlCol="0" anchor="ctr">
            <a:normAutofit/>
          </a:bodyPr>
          <a:lstStyle/>
          <a:p>
            <a:pPr marL="342900" indent="-342900">
              <a:buFont typeface="Arial" panose="020B0604020202020204" pitchFamily="34" charset="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Decoder 根据当前观测、关节状态与潜变量一次预测未来 k 步动作。</a:t>
            </a:r>
            <a:endParaRPr lang="en-US" sz="2400" dirty="0">
              <a:latin typeface="微软雅黑" panose="020B0503020204020204" pitchFamily="34" charset="-122"/>
              <a:ea typeface="微软雅黑" panose="020B0503020204020204" pitchFamily="34" charset="-122"/>
            </a:endParaRPr>
          </a:p>
        </p:txBody>
      </p:sp>
      <p:sp>
        <p:nvSpPr>
          <p:cNvPr id="6" name="Shape 4"/>
          <p:cNvSpPr/>
          <p:nvPr/>
        </p:nvSpPr>
        <p:spPr>
          <a:xfrm>
            <a:off x="2148840" y="3512917"/>
            <a:ext cx="7635240" cy="787400"/>
          </a:xfrm>
          <a:prstGeom prst="roundRect">
            <a:avLst>
              <a:gd name="adj" fmla="val 2439"/>
            </a:avLst>
          </a:prstGeom>
          <a:solidFill>
            <a:srgbClr val="FFFFFF"/>
          </a:solidFill>
          <a:ln w="13970">
            <a:solidFill>
              <a:srgbClr val="D6DCE6"/>
            </a:solidFill>
            <a:prstDash val="solid"/>
          </a:ln>
          <a:effectLst>
            <a:outerShdw blurRad="12700" dist="3810" dir="2700000" algn="bl" rotWithShape="0">
              <a:srgbClr val="000000">
                <a:alpha val="7000"/>
              </a:srgbClr>
            </a:outerShdw>
          </a:effectLst>
        </p:spPr>
      </p:sp>
      <p:pic>
        <p:nvPicPr>
          <p:cNvPr id="7" name="Image 0" descr="/mnt/data/ch4_formula_rendered/eq-4-19.png"/>
          <p:cNvPicPr>
            <a:picLocks noChangeAspect="1"/>
          </p:cNvPicPr>
          <p:nvPr/>
        </p:nvPicPr>
        <p:blipFill>
          <a:blip r:embed="rId3"/>
          <a:srcRect l="23418" t="32994" r="24543" b="30682"/>
          <a:stretch>
            <a:fillRect/>
          </a:stretch>
        </p:blipFill>
        <p:spPr>
          <a:xfrm>
            <a:off x="3224415" y="3606897"/>
            <a:ext cx="6322291" cy="563880"/>
          </a:xfrm>
          <a:prstGeom prst="rect">
            <a:avLst/>
          </a:prstGeom>
        </p:spPr>
      </p:pic>
      <p:sp>
        <p:nvSpPr>
          <p:cNvPr id="8" name="Text 5"/>
          <p:cNvSpPr/>
          <p:nvPr/>
        </p:nvSpPr>
        <p:spPr>
          <a:xfrm>
            <a:off x="8641080" y="3971133"/>
            <a:ext cx="868680" cy="228600"/>
          </a:xfrm>
          <a:prstGeom prst="rect">
            <a:avLst/>
          </a:prstGeom>
          <a:noFill/>
          <a:ln/>
        </p:spPr>
        <p:txBody>
          <a:bodyPr wrap="square" lIns="0" tIns="0" rIns="0" bIns="0" rtlCol="0" anchor="ctr"/>
          <a:lstStyle/>
          <a:p>
            <a:pPr marL="0" indent="0" algn="r">
              <a:buNone/>
            </a:pPr>
            <a:endParaRPr lang="en-US" sz="2400" dirty="0">
              <a:latin typeface="微软雅黑" panose="020B0503020204020204" pitchFamily="34" charset="-122"/>
              <a:ea typeface="微软雅黑" panose="020B0503020204020204" pitchFamily="34" charset="-122"/>
            </a:endParaRPr>
          </a:p>
        </p:txBody>
      </p:sp>
      <p:sp>
        <p:nvSpPr>
          <p:cNvPr id="13" name="Shape 10"/>
          <p:cNvSpPr/>
          <p:nvPr/>
        </p:nvSpPr>
        <p:spPr>
          <a:xfrm>
            <a:off x="694944" y="5336032"/>
            <a:ext cx="10716768" cy="902208"/>
          </a:xfrm>
          <a:prstGeom prst="roundRect">
            <a:avLst>
              <a:gd name="adj" fmla="val 2817"/>
            </a:avLst>
          </a:prstGeom>
          <a:solidFill>
            <a:srgbClr val="FFF4DE"/>
          </a:solidFill>
          <a:ln w="12700">
            <a:solidFill>
              <a:srgbClr val="F0D89A"/>
            </a:solidFill>
            <a:prstDash val="solid"/>
          </a:ln>
        </p:spPr>
      </p:sp>
      <p:sp>
        <p:nvSpPr>
          <p:cNvPr id="14" name="Text 11"/>
          <p:cNvSpPr/>
          <p:nvPr/>
        </p:nvSpPr>
        <p:spPr>
          <a:xfrm>
            <a:off x="932688" y="5336032"/>
            <a:ext cx="10241280" cy="804672"/>
          </a:xfrm>
          <a:prstGeom prst="rect">
            <a:avLst/>
          </a:prstGeom>
          <a:noFill/>
          <a:ln/>
        </p:spPr>
        <p:txBody>
          <a:bodyPr wrap="square" lIns="254" tIns="254" rIns="254" bIns="254" rtlCol="0" anchor="ctr">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从逐步动作预测改为动作块预测，是 ACT 缩短有效决策时域的关键。</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104</a:t>
            </a:fld>
            <a:endParaRPr lang="en-US">
              <a:latin typeface="微软雅黑" panose="020B0503020204020204" pitchFamily="34" charset="-122"/>
              <a:ea typeface="微软雅黑" panose="020B0503020204020204" pitchFamily="34" charset="-122"/>
            </a:endParaRPr>
          </a:p>
        </p:txBody>
      </p:sp>
      <p:sp>
        <p:nvSpPr>
          <p:cNvPr id="16" name="Text 6">
            <a:extLst>
              <a:ext uri="{FF2B5EF4-FFF2-40B4-BE49-F238E27FC236}">
                <a16:creationId xmlns:a16="http://schemas.microsoft.com/office/drawing/2014/main" id="{FCBD4CDC-2C54-0527-AD84-7C61C79F3A9D}"/>
              </a:ext>
            </a:extLst>
          </p:cNvPr>
          <p:cNvSpPr/>
          <p:nvPr/>
        </p:nvSpPr>
        <p:spPr>
          <a:xfrm>
            <a:off x="975360" y="4793193"/>
            <a:ext cx="2011680" cy="274320"/>
          </a:xfrm>
          <a:prstGeom prst="rect">
            <a:avLst/>
          </a:prstGeom>
          <a:noFill/>
          <a:ln/>
        </p:spPr>
        <p:txBody>
          <a:bodyPr wrap="square" lIns="0" tIns="0" rIns="0" bIns="0" rtlCol="0" anchor="ctr"/>
          <a:lstStyle/>
          <a:p>
            <a:pPr marL="0" indent="0">
              <a:buNone/>
            </a:pPr>
            <a:r>
              <a:rPr lang="en-US" sz="2400" b="1" dirty="0" err="1">
                <a:solidFill>
                  <a:srgbClr val="31599B"/>
                </a:solidFill>
                <a:latin typeface="微软雅黑" panose="020B0503020204020204" pitchFamily="34" charset="-122"/>
                <a:ea typeface="微软雅黑" panose="020B0503020204020204" pitchFamily="34" charset="-122"/>
                <a:cs typeface="Noto Sans CJK SC" pitchFamily="34" charset="-120"/>
              </a:rPr>
              <a:t>符号</a:t>
            </a:r>
            <a:r>
              <a:rPr lang="zh-CN" alt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含义：</a:t>
            </a:r>
            <a:endParaRPr lang="en-US" sz="2400" dirty="0">
              <a:latin typeface="微软雅黑" panose="020B0503020204020204" pitchFamily="34" charset="-122"/>
              <a:ea typeface="微软雅黑" panose="020B0503020204020204" pitchFamily="34" charset="-122"/>
            </a:endParaRPr>
          </a:p>
        </p:txBody>
      </p:sp>
      <p:sp>
        <p:nvSpPr>
          <p:cNvPr id="18" name="Text 7">
            <a:extLst>
              <a:ext uri="{FF2B5EF4-FFF2-40B4-BE49-F238E27FC236}">
                <a16:creationId xmlns:a16="http://schemas.microsoft.com/office/drawing/2014/main" id="{9AA4CD22-60F6-7FA8-99C4-96E543181D10}"/>
              </a:ext>
            </a:extLst>
          </p:cNvPr>
          <p:cNvSpPr/>
          <p:nvPr/>
        </p:nvSpPr>
        <p:spPr>
          <a:xfrm>
            <a:off x="2426776" y="4738803"/>
            <a:ext cx="9003224" cy="487336"/>
          </a:xfrm>
          <a:prstGeom prst="rect">
            <a:avLst/>
          </a:prstGeom>
          <a:noFill/>
          <a:ln/>
        </p:spPr>
        <p:txBody>
          <a:bodyPr wrap="square" lIns="127" tIns="127" rIns="127" bIns="127" rtlCol="0" anchor="t">
            <a:noAutofit/>
          </a:bodyPr>
          <a:lstStyle/>
          <a:p>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o</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：多模态观测</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q</a:t>
            </a:r>
            <a:r>
              <a:rPr lang="en-US" altLang="zh-CN" sz="2400" baseline="-25000" dirty="0" err="1">
                <a:solidFill>
                  <a:srgbClr val="222833"/>
                </a:solidFill>
                <a:latin typeface="微软雅黑" panose="020B0503020204020204" pitchFamily="34" charset="-122"/>
                <a:ea typeface="微软雅黑" panose="020B0503020204020204" pitchFamily="34" charset="-122"/>
                <a:cs typeface="Noto Sans CJK SC" pitchFamily="34" charset="-120"/>
              </a:rPr>
              <a:t>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：当前关节状态</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z：潜变量</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k：动作块长度</a:t>
            </a:r>
            <a:endParaRPr lang="en-US" altLang="zh-CN" sz="2400" dirty="0">
              <a:latin typeface="微软雅黑" panose="020B0503020204020204" pitchFamily="34" charset="-122"/>
              <a:ea typeface="微软雅黑" panose="020B0503020204020204" pitchFamily="34" charset="-122"/>
            </a:endParaRPr>
          </a:p>
          <a:p>
            <a:endParaRPr lang="en-US" altLang="zh-CN" sz="240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ACT 推理阶段：固定潜变量并进行时序集成</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2389631"/>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2389631"/>
          </a:xfrm>
          <a:prstGeom prst="rect">
            <a:avLst/>
          </a:prstGeom>
          <a:solidFill>
            <a:srgbClr val="31599B"/>
          </a:solidFill>
          <a:ln w="12700">
            <a:solidFill>
              <a:srgbClr val="31599B"/>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Noto Sans CJK SC" pitchFamily="34" charset="0"/>
                <a:ea typeface="Noto Sans CJK SC" pitchFamily="34" charset="-122"/>
                <a:cs typeface="Noto Sans CJK SC" pitchFamily="34" charset="-120"/>
              </a:rPr>
              <a:t>潜变量 z</a:t>
            </a:r>
            <a:endParaRPr lang="en-US" sz="2400" dirty="0"/>
          </a:p>
        </p:txBody>
      </p:sp>
      <p:sp>
        <p:nvSpPr>
          <p:cNvPr id="7" name="Text 5"/>
          <p:cNvSpPr/>
          <p:nvPr/>
        </p:nvSpPr>
        <p:spPr>
          <a:xfrm>
            <a:off x="987552" y="2535936"/>
            <a:ext cx="4690872" cy="190549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推理时将 z 固定为先验均值，即零向量，不再依赖未来真实动作。</a:t>
            </a:r>
            <a:endParaRPr lang="en-US" sz="2400" dirty="0"/>
          </a:p>
        </p:txBody>
      </p:sp>
      <p:sp>
        <p:nvSpPr>
          <p:cNvPr id="8" name="Shape 6"/>
          <p:cNvSpPr/>
          <p:nvPr/>
        </p:nvSpPr>
        <p:spPr>
          <a:xfrm>
            <a:off x="6172200" y="1664208"/>
            <a:ext cx="5074920" cy="238963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2389630"/>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Noto Sans CJK SC" pitchFamily="34" charset="0"/>
                <a:ea typeface="Noto Sans CJK SC" pitchFamily="34" charset="-122"/>
                <a:cs typeface="Noto Sans CJK SC" pitchFamily="34" charset="-120"/>
              </a:rPr>
              <a:t>时序集成</a:t>
            </a:r>
            <a:endParaRPr lang="en-US" sz="2400" dirty="0"/>
          </a:p>
        </p:txBody>
      </p:sp>
      <p:sp>
        <p:nvSpPr>
          <p:cNvPr id="11" name="Text 9"/>
          <p:cNvSpPr/>
          <p:nvPr/>
        </p:nvSpPr>
        <p:spPr>
          <a:xfrm>
            <a:off x="6382512" y="255625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连续时间步会产生相互重叠的动作块，对这些预测做加权平均以提升动作平滑性。</a:t>
            </a:r>
            <a:endParaRPr lang="en-US" sz="24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ACT 在 ALOHA</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中的应用效果</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49808" y="1664208"/>
            <a:ext cx="3246120" cy="349300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49808" y="1664208"/>
            <a:ext cx="64008" cy="3493008"/>
          </a:xfrm>
          <a:prstGeom prst="rect">
            <a:avLst/>
          </a:prstGeom>
          <a:solidFill>
            <a:srgbClr val="31599B"/>
          </a:solidFill>
          <a:ln w="12700">
            <a:solidFill>
              <a:srgbClr val="31599B"/>
            </a:solidFill>
            <a:prstDash val="solid"/>
          </a:ln>
        </p:spPr>
      </p:sp>
      <p:sp>
        <p:nvSpPr>
          <p:cNvPr id="6" name="Text 4"/>
          <p:cNvSpPr/>
          <p:nvPr/>
        </p:nvSpPr>
        <p:spPr>
          <a:xfrm>
            <a:off x="960120"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少量演示</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60120" y="2784856"/>
            <a:ext cx="2862072" cy="2779776"/>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仅需数十条专家演示即可训练双臂精细操作策略</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4434840" y="1664208"/>
            <a:ext cx="3246120" cy="349300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434840" y="1664208"/>
            <a:ext cx="64008" cy="3493008"/>
          </a:xfrm>
          <a:prstGeom prst="rect">
            <a:avLst/>
          </a:prstGeom>
          <a:solidFill>
            <a:srgbClr val="2F8E72"/>
          </a:solidFill>
          <a:ln w="12700">
            <a:solidFill>
              <a:srgbClr val="2F8E72"/>
            </a:solidFill>
            <a:prstDash val="solid"/>
          </a:ln>
        </p:spPr>
      </p:sp>
      <p:sp>
        <p:nvSpPr>
          <p:cNvPr id="10" name="Text 8"/>
          <p:cNvSpPr/>
          <p:nvPr/>
        </p:nvSpPr>
        <p:spPr>
          <a:xfrm>
            <a:off x="4645152"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较高成功率</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4645152" y="2784856"/>
            <a:ext cx="2862072" cy="2779776"/>
          </a:xfrm>
          <a:prstGeom prst="rect">
            <a:avLst/>
          </a:prstGeom>
          <a:noFill/>
          <a:ln/>
        </p:spPr>
        <p:txBody>
          <a:bodyPr wrap="square" lIns="254" tIns="254" rIns="254" bIns="254" rtlCol="0" anchor="t">
            <a:normAutofit/>
          </a:bodyPr>
          <a:lstStyle/>
          <a:p>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在</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ALOHA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等任务中</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a:t>
            </a:r>
            <a:r>
              <a:rPr lang="en-US" altLang="zh-CN" sz="2400" dirty="0" err="1">
                <a:solidFill>
                  <a:srgbClr val="222833"/>
                </a:solidFill>
                <a:latin typeface="微软雅黑" panose="020B0503020204020204" pitchFamily="34" charset="-122"/>
                <a:ea typeface="微软雅黑" panose="020B0503020204020204" pitchFamily="34" charset="-122"/>
                <a:cs typeface="Noto Sans CJK SC" pitchFamily="34" charset="-120"/>
              </a:rPr>
              <a:t>的成功率</a:t>
            </a:r>
            <a:r>
              <a:rPr lang="zh-CN" alt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可达</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80%–95%</a:t>
            </a:r>
            <a:endParaRPr lang="en-US" sz="2400" dirty="0">
              <a:latin typeface="微软雅黑" panose="020B0503020204020204" pitchFamily="34" charset="-122"/>
              <a:ea typeface="微软雅黑" panose="020B0503020204020204" pitchFamily="34" charset="-122"/>
            </a:endParaRPr>
          </a:p>
        </p:txBody>
      </p:sp>
      <p:sp>
        <p:nvSpPr>
          <p:cNvPr id="12" name="Shape 10"/>
          <p:cNvSpPr/>
          <p:nvPr/>
        </p:nvSpPr>
        <p:spPr>
          <a:xfrm>
            <a:off x="8119872" y="1664208"/>
            <a:ext cx="3246120" cy="3493008"/>
          </a:xfrm>
          <a:prstGeom prst="roundRect">
            <a:avLst>
              <a:gd name="adj" fmla="val 140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3" name="Shape 11"/>
          <p:cNvSpPr/>
          <p:nvPr/>
        </p:nvSpPr>
        <p:spPr>
          <a:xfrm>
            <a:off x="8119872" y="1664208"/>
            <a:ext cx="64008" cy="3493008"/>
          </a:xfrm>
          <a:prstGeom prst="rect">
            <a:avLst/>
          </a:prstGeom>
          <a:solidFill>
            <a:srgbClr val="C58A24"/>
          </a:solidFill>
          <a:ln w="12700">
            <a:solidFill>
              <a:srgbClr val="C58A24"/>
            </a:solidFill>
            <a:prstDash val="solid"/>
          </a:ln>
        </p:spPr>
      </p:sp>
      <p:sp>
        <p:nvSpPr>
          <p:cNvPr id="14" name="Text 12"/>
          <p:cNvSpPr/>
          <p:nvPr/>
        </p:nvSpPr>
        <p:spPr>
          <a:xfrm>
            <a:off x="8330184" y="1810512"/>
            <a:ext cx="2862072" cy="329184"/>
          </a:xfrm>
          <a:prstGeom prst="rect">
            <a:avLst/>
          </a:prstGeom>
          <a:noFill/>
          <a:ln/>
        </p:spPr>
        <p:txBody>
          <a:bodyPr wrap="square" lIns="0" tIns="0" rIns="0" bIns="0" rtlCol="0" anchor="ctr">
            <a:noAutofit/>
          </a:bodyPr>
          <a:lstStyle/>
          <a:p>
            <a:pPr marL="0" indent="0">
              <a:buNone/>
            </a:pPr>
            <a:r>
              <a:rPr lang="en-US" sz="2400" b="1" dirty="0">
                <a:solidFill>
                  <a:srgbClr val="C58A24"/>
                </a:solidFill>
                <a:latin typeface="微软雅黑" panose="020B0503020204020204" pitchFamily="34" charset="-122"/>
                <a:ea typeface="微软雅黑" panose="020B0503020204020204" pitchFamily="34" charset="-122"/>
                <a:cs typeface="Noto Sans CJK SC" pitchFamily="34" charset="-120"/>
              </a:rPr>
              <a:t>工程采用</a:t>
            </a:r>
            <a:endParaRPr lang="en-US" sz="2400" dirty="0">
              <a:latin typeface="微软雅黑" panose="020B0503020204020204" pitchFamily="34" charset="-122"/>
              <a:ea typeface="微软雅黑" panose="020B0503020204020204" pitchFamily="34" charset="-122"/>
            </a:endParaRPr>
          </a:p>
        </p:txBody>
      </p:sp>
      <p:sp>
        <p:nvSpPr>
          <p:cNvPr id="15" name="Text 13"/>
          <p:cNvSpPr/>
          <p:nvPr/>
        </p:nvSpPr>
        <p:spPr>
          <a:xfrm>
            <a:off x="8330184" y="2784856"/>
            <a:ext cx="2862072" cy="1350264"/>
          </a:xfrm>
          <a:prstGeom prst="rect">
            <a:avLst/>
          </a:prstGeom>
          <a:noFill/>
          <a:ln/>
        </p:spPr>
        <p:txBody>
          <a:bodyPr wrap="square" lIns="254" tIns="254" rIns="254" bIns="254" rtlCol="0" anchor="t">
            <a:normAutofit/>
          </a:bodyPr>
          <a:lstStyle/>
          <a:p>
            <a:pPr marL="0" indent="0">
              <a:buNone/>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LeRobot已将</a:t>
            </a: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 ACT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作为默认策略之一，并用于后续实践案例</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106</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4" name="Text 2"/>
          <p:cNvSpPr/>
          <p:nvPr/>
        </p:nvSpPr>
        <p:spPr>
          <a:xfrm>
            <a:off x="1417320" y="1554480"/>
            <a:ext cx="1600200" cy="1143000"/>
          </a:xfrm>
          <a:prstGeom prst="rect">
            <a:avLst/>
          </a:prstGeom>
          <a:noFill/>
          <a:ln/>
        </p:spPr>
        <p:txBody>
          <a:bodyPr wrap="square" lIns="0" tIns="0" rIns="0" bIns="0" rtlCol="0" anchor="ctr"/>
          <a:lstStyle/>
          <a:p>
            <a:pPr marL="0" indent="0" algn="r">
              <a:buNone/>
            </a:pPr>
            <a:r>
              <a:rPr lang="en-US" sz="7600" b="1" dirty="0">
                <a:solidFill>
                  <a:srgbClr val="24477D"/>
                </a:solidFill>
                <a:latin typeface="Noto Sans CJK SC" pitchFamily="34" charset="0"/>
                <a:ea typeface="Noto Sans CJK SC" pitchFamily="34" charset="-122"/>
                <a:cs typeface="Noto Sans CJK SC" pitchFamily="34" charset="-120"/>
              </a:rPr>
              <a:t>6</a:t>
            </a:r>
            <a:endParaRPr lang="en-US" sz="7600" dirty="0">
              <a:solidFill>
                <a:srgbClr val="24477D"/>
              </a:solidFill>
            </a:endParaRPr>
          </a:p>
        </p:txBody>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Noto Sans CJK SC" pitchFamily="34" charset="0"/>
                <a:ea typeface="Noto Sans CJK SC" pitchFamily="34" charset="-122"/>
                <a:cs typeface="Noto Sans CJK SC" pitchFamily="34" charset="-120"/>
              </a:rPr>
              <a:t>实践案例</a:t>
            </a:r>
            <a:endParaRPr lang="en-US" sz="3900" dirty="0"/>
          </a:p>
        </p:txBody>
      </p:sp>
      <p:sp>
        <p:nvSpPr>
          <p:cNvPr id="17" name="Text 15"/>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Noto Sans CJK SC" pitchFamily="34" charset="0"/>
                <a:ea typeface="Noto Sans CJK SC" pitchFamily="34" charset="-122"/>
                <a:cs typeface="Noto Sans CJK SC" pitchFamily="34" charset="-120"/>
              </a:rPr>
              <a:t>具身智能导论 · 第4章</a:t>
            </a:r>
            <a:endParaRPr lang="en-US" sz="10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4.6 </a:t>
            </a: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实践</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活动</a:t>
            </a: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：从遥操作演示到行为克隆策略</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20240"/>
            <a:ext cx="2560320" cy="1417320"/>
          </a:xfrm>
          <a:prstGeom prst="roundRect">
            <a:avLst>
              <a:gd name="adj" fmla="val 2581"/>
            </a:avLst>
          </a:prstGeom>
          <a:solidFill>
            <a:srgbClr val="EDF2FA"/>
          </a:solidFill>
          <a:ln w="12700">
            <a:solidFill>
              <a:srgbClr val="DDE3EC"/>
            </a:solidFill>
            <a:prstDash val="solid"/>
          </a:ln>
        </p:spPr>
      </p:sp>
      <p:sp>
        <p:nvSpPr>
          <p:cNvPr id="5" name="Text 3"/>
          <p:cNvSpPr/>
          <p:nvPr/>
        </p:nvSpPr>
        <p:spPr>
          <a:xfrm>
            <a:off x="822960" y="2066544"/>
            <a:ext cx="384048" cy="384048"/>
          </a:xfrm>
          <a:prstGeom prst="rect">
            <a:avLst/>
          </a:prstGeom>
          <a:noFill/>
          <a:ln/>
        </p:spPr>
        <p:txBody>
          <a:bodyPr wrap="square" lIns="0" tIns="0" rIns="0" bIns="0" rtlCol="0" anchor="ctr"/>
          <a:lstStyle/>
          <a:p>
            <a:pPr marL="0" indent="0" algn="ctr">
              <a:buNone/>
            </a:pPr>
            <a:r>
              <a:rPr lang="en-US" sz="2800" b="1" dirty="0">
                <a:solidFill>
                  <a:srgbClr val="31599B"/>
                </a:solidFill>
                <a:latin typeface="微软雅黑" panose="020B0503020204020204" pitchFamily="34" charset="-122"/>
                <a:ea typeface="微软雅黑" panose="020B0503020204020204" pitchFamily="34" charset="-122"/>
                <a:cs typeface="Noto Sans CJK SC" pitchFamily="34" charset="-120"/>
              </a:rPr>
              <a:t>1</a:t>
            </a:r>
            <a:endParaRPr lang="en-US" sz="2800" dirty="0">
              <a:latin typeface="微软雅黑" panose="020B0503020204020204" pitchFamily="34" charset="-122"/>
              <a:ea typeface="微软雅黑" panose="020B0503020204020204" pitchFamily="34" charset="-122"/>
            </a:endParaRPr>
          </a:p>
        </p:txBody>
      </p:sp>
      <p:sp>
        <p:nvSpPr>
          <p:cNvPr id="6" name="Text 4"/>
          <p:cNvSpPr/>
          <p:nvPr/>
        </p:nvSpPr>
        <p:spPr>
          <a:xfrm>
            <a:off x="1307592" y="2066544"/>
            <a:ext cx="1810512" cy="310896"/>
          </a:xfrm>
          <a:prstGeom prst="rect">
            <a:avLst/>
          </a:prstGeom>
          <a:noFill/>
          <a:ln/>
        </p:spPr>
        <p:txBody>
          <a:bodyPr wrap="square" lIns="0" tIns="0" rIns="0" bIns="0" rtlCol="0" anchor="ctr">
            <a:no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加载演示</a:t>
            </a:r>
            <a:endParaRPr lang="en-US" sz="2000" dirty="0">
              <a:latin typeface="微软雅黑" panose="020B0503020204020204" pitchFamily="34" charset="-122"/>
              <a:ea typeface="微软雅黑" panose="020B0503020204020204" pitchFamily="34" charset="-122"/>
            </a:endParaRPr>
          </a:p>
        </p:txBody>
      </p:sp>
      <p:sp>
        <p:nvSpPr>
          <p:cNvPr id="7" name="Text 5"/>
          <p:cNvSpPr/>
          <p:nvPr/>
        </p:nvSpPr>
        <p:spPr>
          <a:xfrm>
            <a:off x="877824" y="2542032"/>
            <a:ext cx="2231136" cy="566928"/>
          </a:xfrm>
          <a:prstGeom prst="rect">
            <a:avLst/>
          </a:prstGeom>
          <a:noFill/>
          <a:ln/>
        </p:spPr>
        <p:txBody>
          <a:bodyPr wrap="square" lIns="0" tIns="0" rIns="0" bIns="0" rtlCol="0" anchor="ctr">
            <a:normAutofit/>
          </a:bodyPr>
          <a:lstStyle/>
          <a:p>
            <a:pPr marL="0" indent="0" algn="ctr">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使用主从遥操作采集的 ALOHA </a:t>
            </a:r>
            <a:r>
              <a:rPr lang="en-US" sz="1600" dirty="0" err="1">
                <a:solidFill>
                  <a:srgbClr val="222833"/>
                </a:solidFill>
                <a:latin typeface="微软雅黑" panose="020B0503020204020204" pitchFamily="34" charset="-122"/>
                <a:ea typeface="微软雅黑" panose="020B0503020204020204" pitchFamily="34" charset="-122"/>
                <a:cs typeface="Noto Sans CJK SC" pitchFamily="34" charset="-120"/>
              </a:rPr>
              <a:t>专家轨迹</a:t>
            </a:r>
            <a:endParaRPr lang="en-US" sz="1600" dirty="0">
              <a:latin typeface="微软雅黑" panose="020B0503020204020204" pitchFamily="34" charset="-122"/>
              <a:ea typeface="微软雅黑" panose="020B0503020204020204" pitchFamily="34" charset="-122"/>
            </a:endParaRPr>
          </a:p>
        </p:txBody>
      </p:sp>
      <p:sp>
        <p:nvSpPr>
          <p:cNvPr id="8" name="Shape 6"/>
          <p:cNvSpPr/>
          <p:nvPr/>
        </p:nvSpPr>
        <p:spPr>
          <a:xfrm>
            <a:off x="3328416" y="2414016"/>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20240"/>
            <a:ext cx="2560320" cy="1417320"/>
          </a:xfrm>
          <a:prstGeom prst="roundRect">
            <a:avLst>
              <a:gd name="adj" fmla="val 2581"/>
            </a:avLst>
          </a:prstGeom>
          <a:solidFill>
            <a:srgbClr val="EAF5F1"/>
          </a:solidFill>
          <a:ln w="12700">
            <a:solidFill>
              <a:srgbClr val="DDE3EC"/>
            </a:solidFill>
            <a:prstDash val="solid"/>
          </a:ln>
        </p:spPr>
      </p:sp>
      <p:sp>
        <p:nvSpPr>
          <p:cNvPr id="10" name="Text 8"/>
          <p:cNvSpPr/>
          <p:nvPr/>
        </p:nvSpPr>
        <p:spPr>
          <a:xfrm>
            <a:off x="3509010" y="2066544"/>
            <a:ext cx="384048" cy="384048"/>
          </a:xfrm>
          <a:prstGeom prst="rect">
            <a:avLst/>
          </a:prstGeom>
          <a:noFill/>
          <a:ln/>
        </p:spPr>
        <p:txBody>
          <a:bodyPr wrap="square" lIns="0" tIns="0" rIns="0" bIns="0" rtlCol="0" anchor="ctr"/>
          <a:lstStyle/>
          <a:p>
            <a:pPr marL="0" indent="0" algn="ctr">
              <a:buNone/>
            </a:pPr>
            <a:r>
              <a:rPr lang="en-US" sz="2800" b="1" dirty="0">
                <a:solidFill>
                  <a:srgbClr val="2F8E72"/>
                </a:solidFill>
                <a:latin typeface="微软雅黑" panose="020B0503020204020204" pitchFamily="34" charset="-122"/>
                <a:ea typeface="微软雅黑" panose="020B0503020204020204" pitchFamily="34" charset="-122"/>
                <a:cs typeface="Noto Sans CJK SC" pitchFamily="34" charset="-120"/>
              </a:rPr>
              <a:t>2</a:t>
            </a:r>
            <a:endParaRPr lang="en-US" sz="2800" dirty="0">
              <a:latin typeface="微软雅黑" panose="020B0503020204020204" pitchFamily="34" charset="-122"/>
              <a:ea typeface="微软雅黑" panose="020B0503020204020204" pitchFamily="34" charset="-122"/>
            </a:endParaRPr>
          </a:p>
        </p:txBody>
      </p:sp>
      <p:sp>
        <p:nvSpPr>
          <p:cNvPr id="11" name="Text 9"/>
          <p:cNvSpPr/>
          <p:nvPr/>
        </p:nvSpPr>
        <p:spPr>
          <a:xfrm>
            <a:off x="3993642" y="2066544"/>
            <a:ext cx="1810512" cy="310896"/>
          </a:xfrm>
          <a:prstGeom prst="rect">
            <a:avLst/>
          </a:prstGeom>
          <a:noFill/>
          <a:ln/>
        </p:spPr>
        <p:txBody>
          <a:bodyPr wrap="square" lIns="0" tIns="0" rIns="0" bIns="0" rtlCol="0" anchor="ctr">
            <a:no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查看数据</a:t>
            </a:r>
            <a:endParaRPr lang="en-US" sz="2000" dirty="0">
              <a:latin typeface="微软雅黑" panose="020B0503020204020204" pitchFamily="34" charset="-122"/>
              <a:ea typeface="微软雅黑" panose="020B0503020204020204" pitchFamily="34" charset="-122"/>
            </a:endParaRPr>
          </a:p>
        </p:txBody>
      </p:sp>
      <p:sp>
        <p:nvSpPr>
          <p:cNvPr id="12" name="Text 10"/>
          <p:cNvSpPr/>
          <p:nvPr/>
        </p:nvSpPr>
        <p:spPr>
          <a:xfrm>
            <a:off x="3563874" y="2542032"/>
            <a:ext cx="2231136" cy="566928"/>
          </a:xfrm>
          <a:prstGeom prst="rect">
            <a:avLst/>
          </a:prstGeom>
          <a:noFill/>
          <a:ln/>
        </p:spPr>
        <p:txBody>
          <a:bodyPr wrap="square" lIns="0" tIns="0" rIns="0" bIns="0" rtlCol="0" anchor="ctr">
            <a:normAutofit/>
          </a:bodyPr>
          <a:lstStyle/>
          <a:p>
            <a:pPr marL="0" indent="0" algn="ctr">
              <a:buNone/>
            </a:pPr>
            <a:r>
              <a:rPr lang="en-US" sz="1600" dirty="0" err="1">
                <a:solidFill>
                  <a:srgbClr val="222833"/>
                </a:solidFill>
                <a:latin typeface="微软雅黑" panose="020B0503020204020204" pitchFamily="34" charset="-122"/>
                <a:ea typeface="微软雅黑" panose="020B0503020204020204" pitchFamily="34" charset="-122"/>
                <a:cs typeface="Noto Sans CJK SC" pitchFamily="34" charset="-120"/>
              </a:rPr>
              <a:t>检查双臂图像、本体状态和动作</a:t>
            </a:r>
            <a:endParaRPr lang="en-US" sz="1600" dirty="0">
              <a:latin typeface="微软雅黑" panose="020B0503020204020204" pitchFamily="34" charset="-122"/>
              <a:ea typeface="微软雅黑" panose="020B0503020204020204" pitchFamily="34" charset="-122"/>
            </a:endParaRPr>
          </a:p>
        </p:txBody>
      </p:sp>
      <p:sp>
        <p:nvSpPr>
          <p:cNvPr id="13" name="Shape 11"/>
          <p:cNvSpPr/>
          <p:nvPr/>
        </p:nvSpPr>
        <p:spPr>
          <a:xfrm>
            <a:off x="6014466" y="2414016"/>
            <a:ext cx="347472" cy="438912"/>
          </a:xfrm>
          <a:prstGeom prst="chevron">
            <a:avLst/>
          </a:prstGeom>
          <a:solidFill>
            <a:srgbClr val="D8E2F1"/>
          </a:solidFill>
          <a:ln w="12700">
            <a:solidFill>
              <a:srgbClr val="D8E2F1"/>
            </a:solidFill>
            <a:prstDash val="solid"/>
          </a:ln>
        </p:spPr>
      </p:sp>
      <p:sp>
        <p:nvSpPr>
          <p:cNvPr id="14" name="Shape 12"/>
          <p:cNvSpPr/>
          <p:nvPr/>
        </p:nvSpPr>
        <p:spPr>
          <a:xfrm>
            <a:off x="6085332" y="1920240"/>
            <a:ext cx="2560320" cy="1417320"/>
          </a:xfrm>
          <a:prstGeom prst="roundRect">
            <a:avLst>
              <a:gd name="adj" fmla="val 2581"/>
            </a:avLst>
          </a:prstGeom>
          <a:solidFill>
            <a:srgbClr val="FFF4DE"/>
          </a:solidFill>
          <a:ln w="12700">
            <a:solidFill>
              <a:srgbClr val="DDE3EC"/>
            </a:solidFill>
            <a:prstDash val="solid"/>
          </a:ln>
        </p:spPr>
      </p:sp>
      <p:sp>
        <p:nvSpPr>
          <p:cNvPr id="15" name="Text 13"/>
          <p:cNvSpPr/>
          <p:nvPr/>
        </p:nvSpPr>
        <p:spPr>
          <a:xfrm>
            <a:off x="6195060" y="2066544"/>
            <a:ext cx="384048" cy="384048"/>
          </a:xfrm>
          <a:prstGeom prst="rect">
            <a:avLst/>
          </a:prstGeom>
          <a:noFill/>
          <a:ln/>
        </p:spPr>
        <p:txBody>
          <a:bodyPr wrap="square" lIns="0" tIns="0" rIns="0" bIns="0" rtlCol="0" anchor="ctr"/>
          <a:lstStyle/>
          <a:p>
            <a:pPr marL="0" indent="0" algn="ctr">
              <a:buNone/>
            </a:pPr>
            <a:r>
              <a:rPr lang="en-US" sz="2800" b="1" dirty="0">
                <a:solidFill>
                  <a:srgbClr val="C58A24"/>
                </a:solidFill>
                <a:latin typeface="微软雅黑" panose="020B0503020204020204" pitchFamily="34" charset="-122"/>
                <a:ea typeface="微软雅黑" panose="020B0503020204020204" pitchFamily="34" charset="-122"/>
                <a:cs typeface="Noto Sans CJK SC" pitchFamily="34" charset="-120"/>
              </a:rPr>
              <a:t>3</a:t>
            </a:r>
            <a:endParaRPr lang="en-US" sz="2800" dirty="0">
              <a:latin typeface="微软雅黑" panose="020B0503020204020204" pitchFamily="34" charset="-122"/>
              <a:ea typeface="微软雅黑" panose="020B0503020204020204" pitchFamily="34" charset="-122"/>
            </a:endParaRPr>
          </a:p>
        </p:txBody>
      </p:sp>
      <p:sp>
        <p:nvSpPr>
          <p:cNvPr id="16" name="Text 14"/>
          <p:cNvSpPr/>
          <p:nvPr/>
        </p:nvSpPr>
        <p:spPr>
          <a:xfrm>
            <a:off x="6679692" y="2066544"/>
            <a:ext cx="1810512" cy="310896"/>
          </a:xfrm>
          <a:prstGeom prst="rect">
            <a:avLst/>
          </a:prstGeom>
          <a:noFill/>
          <a:ln/>
        </p:spPr>
        <p:txBody>
          <a:bodyPr wrap="square" lIns="0" tIns="0" rIns="0" bIns="0" rtlCol="0" anchor="ctr">
            <a:no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训练 ACT</a:t>
            </a:r>
            <a:endParaRPr lang="en-US" sz="2000" dirty="0">
              <a:latin typeface="微软雅黑" panose="020B0503020204020204" pitchFamily="34" charset="-122"/>
              <a:ea typeface="微软雅黑" panose="020B0503020204020204" pitchFamily="34" charset="-122"/>
            </a:endParaRPr>
          </a:p>
        </p:txBody>
      </p:sp>
      <p:sp>
        <p:nvSpPr>
          <p:cNvPr id="17" name="Text 15"/>
          <p:cNvSpPr/>
          <p:nvPr/>
        </p:nvSpPr>
        <p:spPr>
          <a:xfrm>
            <a:off x="6249924" y="2542032"/>
            <a:ext cx="2231136" cy="566928"/>
          </a:xfrm>
          <a:prstGeom prst="rect">
            <a:avLst/>
          </a:prstGeom>
          <a:noFill/>
          <a:ln/>
        </p:spPr>
        <p:txBody>
          <a:bodyPr wrap="square" lIns="0" tIns="0" rIns="0" bIns="0" rtlCol="0" anchor="ctr">
            <a:normAutofit/>
          </a:bodyPr>
          <a:lstStyle/>
          <a:p>
            <a:pPr marL="0" indent="0" algn="ctr">
              <a:buNone/>
            </a:pPr>
            <a:r>
              <a:rPr lang="en-US" sz="1600" dirty="0" err="1">
                <a:solidFill>
                  <a:srgbClr val="222833"/>
                </a:solidFill>
                <a:latin typeface="微软雅黑" panose="020B0503020204020204" pitchFamily="34" charset="-122"/>
                <a:ea typeface="微软雅黑" panose="020B0503020204020204" pitchFamily="34" charset="-122"/>
                <a:cs typeface="Noto Sans CJK SC" pitchFamily="34" charset="-120"/>
              </a:rPr>
              <a:t>把模仿学习转化为监督学习</a:t>
            </a:r>
            <a:endParaRPr lang="en-US" sz="1600" dirty="0">
              <a:latin typeface="微软雅黑" panose="020B0503020204020204" pitchFamily="34" charset="-122"/>
              <a:ea typeface="微软雅黑" panose="020B0503020204020204" pitchFamily="34" charset="-122"/>
            </a:endParaRPr>
          </a:p>
        </p:txBody>
      </p:sp>
      <p:sp>
        <p:nvSpPr>
          <p:cNvPr id="18" name="Shape 16"/>
          <p:cNvSpPr/>
          <p:nvPr/>
        </p:nvSpPr>
        <p:spPr>
          <a:xfrm>
            <a:off x="8700516" y="2414016"/>
            <a:ext cx="347472" cy="438912"/>
          </a:xfrm>
          <a:prstGeom prst="chevron">
            <a:avLst/>
          </a:prstGeom>
          <a:solidFill>
            <a:srgbClr val="D8E2F1"/>
          </a:solidFill>
          <a:ln w="12700">
            <a:solidFill>
              <a:srgbClr val="D8E2F1"/>
            </a:solidFill>
            <a:prstDash val="solid"/>
          </a:ln>
        </p:spPr>
      </p:sp>
      <p:sp>
        <p:nvSpPr>
          <p:cNvPr id="19" name="Shape 17"/>
          <p:cNvSpPr/>
          <p:nvPr/>
        </p:nvSpPr>
        <p:spPr>
          <a:xfrm>
            <a:off x="8771382" y="1920240"/>
            <a:ext cx="2560320" cy="1417320"/>
          </a:xfrm>
          <a:prstGeom prst="roundRect">
            <a:avLst>
              <a:gd name="adj" fmla="val 2581"/>
            </a:avLst>
          </a:prstGeom>
          <a:solidFill>
            <a:srgbClr val="FDECEE"/>
          </a:solidFill>
          <a:ln w="12700">
            <a:solidFill>
              <a:srgbClr val="DDE3EC"/>
            </a:solidFill>
            <a:prstDash val="solid"/>
          </a:ln>
        </p:spPr>
      </p:sp>
      <p:sp>
        <p:nvSpPr>
          <p:cNvPr id="20" name="Text 18"/>
          <p:cNvSpPr/>
          <p:nvPr/>
        </p:nvSpPr>
        <p:spPr>
          <a:xfrm>
            <a:off x="8881110" y="2066544"/>
            <a:ext cx="384048" cy="384048"/>
          </a:xfrm>
          <a:prstGeom prst="rect">
            <a:avLst/>
          </a:prstGeom>
          <a:noFill/>
          <a:ln/>
        </p:spPr>
        <p:txBody>
          <a:bodyPr wrap="square" lIns="0" tIns="0" rIns="0" bIns="0" rtlCol="0" anchor="ctr"/>
          <a:lstStyle/>
          <a:p>
            <a:pPr marL="0" indent="0" algn="ctr">
              <a:buNone/>
            </a:pPr>
            <a:r>
              <a:rPr lang="en-US" sz="2800" b="1" dirty="0">
                <a:solidFill>
                  <a:srgbClr val="C63F45"/>
                </a:solidFill>
                <a:latin typeface="微软雅黑" panose="020B0503020204020204" pitchFamily="34" charset="-122"/>
                <a:ea typeface="微软雅黑" panose="020B0503020204020204" pitchFamily="34" charset="-122"/>
                <a:cs typeface="Noto Sans CJK SC" pitchFamily="34" charset="-120"/>
              </a:rPr>
              <a:t>4</a:t>
            </a:r>
            <a:endParaRPr lang="en-US" sz="2800" dirty="0">
              <a:latin typeface="微软雅黑" panose="020B0503020204020204" pitchFamily="34" charset="-122"/>
              <a:ea typeface="微软雅黑" panose="020B0503020204020204" pitchFamily="34" charset="-122"/>
            </a:endParaRPr>
          </a:p>
        </p:txBody>
      </p:sp>
      <p:sp>
        <p:nvSpPr>
          <p:cNvPr id="21" name="Text 19"/>
          <p:cNvSpPr/>
          <p:nvPr/>
        </p:nvSpPr>
        <p:spPr>
          <a:xfrm>
            <a:off x="9365742" y="2066544"/>
            <a:ext cx="1810512" cy="310896"/>
          </a:xfrm>
          <a:prstGeom prst="rect">
            <a:avLst/>
          </a:prstGeom>
          <a:noFill/>
          <a:ln/>
        </p:spPr>
        <p:txBody>
          <a:bodyPr wrap="square" lIns="0" tIns="0" rIns="0" bIns="0" rtlCol="0" anchor="ctr">
            <a:noAutofit/>
          </a:bodyPr>
          <a:lstStyle/>
          <a:p>
            <a:pPr marL="0" indent="0">
              <a:buNone/>
            </a:pPr>
            <a:r>
              <a:rPr lang="en-US" sz="2000" b="1" dirty="0">
                <a:solidFill>
                  <a:srgbClr val="C63F45"/>
                </a:solidFill>
                <a:latin typeface="微软雅黑" panose="020B0503020204020204" pitchFamily="34" charset="-122"/>
                <a:ea typeface="微软雅黑" panose="020B0503020204020204" pitchFamily="34" charset="-122"/>
                <a:cs typeface="Noto Sans CJK SC" pitchFamily="34" charset="-120"/>
              </a:rPr>
              <a:t>闭环评估</a:t>
            </a:r>
            <a:endParaRPr lang="en-US" sz="2000" dirty="0">
              <a:latin typeface="微软雅黑" panose="020B0503020204020204" pitchFamily="34" charset="-122"/>
              <a:ea typeface="微软雅黑" panose="020B0503020204020204" pitchFamily="34" charset="-122"/>
            </a:endParaRPr>
          </a:p>
        </p:txBody>
      </p:sp>
      <p:sp>
        <p:nvSpPr>
          <p:cNvPr id="22" name="Text 20"/>
          <p:cNvSpPr/>
          <p:nvPr/>
        </p:nvSpPr>
        <p:spPr>
          <a:xfrm>
            <a:off x="8935974" y="2542032"/>
            <a:ext cx="2231136" cy="566928"/>
          </a:xfrm>
          <a:prstGeom prst="rect">
            <a:avLst/>
          </a:prstGeom>
          <a:noFill/>
          <a:ln/>
        </p:spPr>
        <p:txBody>
          <a:bodyPr wrap="square" lIns="0" tIns="0" rIns="0" bIns="0" rtlCol="0" anchor="ctr">
            <a:normAutofit/>
          </a:bodyPr>
          <a:lstStyle/>
          <a:p>
            <a:pPr marL="0" indent="0" algn="ctr">
              <a:buNone/>
            </a:pPr>
            <a:r>
              <a:rPr lang="en-US" sz="1600" dirty="0" err="1">
                <a:solidFill>
                  <a:srgbClr val="222833"/>
                </a:solidFill>
                <a:latin typeface="微软雅黑" panose="020B0503020204020204" pitchFamily="34" charset="-122"/>
                <a:ea typeface="微软雅黑" panose="020B0503020204020204" pitchFamily="34" charset="-122"/>
                <a:cs typeface="Noto Sans CJK SC" pitchFamily="34" charset="-120"/>
              </a:rPr>
              <a:t>在仿真环境中运行策略并统计成功率</a:t>
            </a:r>
            <a:endParaRPr lang="en-US" sz="1600" dirty="0">
              <a:latin typeface="微软雅黑" panose="020B0503020204020204" pitchFamily="34" charset="-122"/>
              <a:ea typeface="微软雅黑" panose="020B0503020204020204" pitchFamily="34" charset="-122"/>
            </a:endParaRPr>
          </a:p>
        </p:txBody>
      </p:sp>
      <p:sp>
        <p:nvSpPr>
          <p:cNvPr id="23" name="Text 21"/>
          <p:cNvSpPr/>
          <p:nvPr/>
        </p:nvSpPr>
        <p:spPr>
          <a:xfrm>
            <a:off x="1026414" y="3913631"/>
            <a:ext cx="10149840" cy="475488"/>
          </a:xfrm>
          <a:prstGeom prst="rect">
            <a:avLst/>
          </a:prstGeom>
          <a:noFill/>
          <a:ln/>
        </p:spPr>
        <p:txBody>
          <a:bodyPr wrap="square" lIns="0" tIns="0" rIns="0" bIns="0" rtlCol="0" anchor="ctr">
            <a:normAutofit/>
          </a:bodyPr>
          <a:lstStyle/>
          <a:p>
            <a:pPr marL="0" indent="0" algn="ctr">
              <a:buNone/>
            </a:pPr>
            <a:r>
              <a:rPr lang="en-US" sz="2000" dirty="0">
                <a:solidFill>
                  <a:srgbClr val="24477D"/>
                </a:solidFill>
                <a:latin typeface="微软雅黑" panose="020B0503020204020204" pitchFamily="34" charset="-122"/>
                <a:ea typeface="微软雅黑" panose="020B0503020204020204" pitchFamily="34" charset="-122"/>
                <a:cs typeface="Noto Sans Mono CJK SC" pitchFamily="34" charset="-120"/>
              </a:rPr>
              <a:t>任务示例：aloha_sim_transfer_cube_human 或 aloha_sim_insertion_human</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108</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环境与工具准备</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3749040" cy="3474720"/>
          </a:xfrm>
          <a:prstGeom prst="roundRect">
            <a:avLst>
              <a:gd name="adj" fmla="val 1316"/>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474720"/>
          </a:xfrm>
          <a:prstGeom prst="rect">
            <a:avLst/>
          </a:prstGeom>
          <a:solidFill>
            <a:srgbClr val="31599B"/>
          </a:solidFill>
          <a:ln w="12700">
            <a:solidFill>
              <a:srgbClr val="31599B"/>
            </a:solidFill>
            <a:prstDash val="solid"/>
          </a:ln>
        </p:spPr>
      </p:sp>
      <p:sp>
        <p:nvSpPr>
          <p:cNvPr id="6" name="Text 4"/>
          <p:cNvSpPr/>
          <p:nvPr/>
        </p:nvSpPr>
        <p:spPr>
          <a:xfrm>
            <a:off x="987552" y="1810512"/>
            <a:ext cx="3364992"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Noto Sans CJK SC" pitchFamily="34" charset="0"/>
                <a:ea typeface="Noto Sans CJK SC" pitchFamily="34" charset="-122"/>
                <a:cs typeface="Noto Sans CJK SC" pitchFamily="34" charset="-120"/>
              </a:rPr>
              <a:t>运行环境</a:t>
            </a:r>
            <a:endParaRPr lang="en-US" sz="2000" dirty="0"/>
          </a:p>
        </p:txBody>
      </p:sp>
      <p:sp>
        <p:nvSpPr>
          <p:cNvPr id="7" name="Text 5"/>
          <p:cNvSpPr/>
          <p:nvPr/>
        </p:nvSpPr>
        <p:spPr>
          <a:xfrm>
            <a:off x="987552" y="2231136"/>
            <a:ext cx="3364992" cy="276148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Noto Sans CJK SC" pitchFamily="34" charset="0"/>
                <a:ea typeface="Noto Sans CJK SC" pitchFamily="34" charset="-122"/>
                <a:cs typeface="Noto Sans CJK SC" pitchFamily="34" charset="-120"/>
              </a:rPr>
              <a:t>打开 Google Colab，新建笔记本。</a:t>
            </a:r>
            <a:endParaRPr lang="en-US" sz="2400" dirty="0"/>
          </a:p>
        </p:txBody>
      </p:sp>
      <p:sp>
        <p:nvSpPr>
          <p:cNvPr id="8" name="Shape 6"/>
          <p:cNvSpPr/>
          <p:nvPr/>
        </p:nvSpPr>
        <p:spPr>
          <a:xfrm>
            <a:off x="4800600" y="1664208"/>
            <a:ext cx="6400800" cy="3474720"/>
          </a:xfrm>
          <a:prstGeom prst="roundRect">
            <a:avLst>
              <a:gd name="adj" fmla="val 1316"/>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4800600" y="1664208"/>
            <a:ext cx="64008" cy="3474720"/>
          </a:xfrm>
          <a:prstGeom prst="rect">
            <a:avLst/>
          </a:prstGeom>
          <a:solidFill>
            <a:srgbClr val="2F8E72"/>
          </a:solidFill>
          <a:ln w="12700">
            <a:solidFill>
              <a:srgbClr val="2F8E72"/>
            </a:solidFill>
            <a:prstDash val="solid"/>
          </a:ln>
        </p:spPr>
      </p:sp>
      <p:sp>
        <p:nvSpPr>
          <p:cNvPr id="10" name="Text 8"/>
          <p:cNvSpPr/>
          <p:nvPr/>
        </p:nvSpPr>
        <p:spPr>
          <a:xfrm>
            <a:off x="5010912" y="1725375"/>
            <a:ext cx="6016752" cy="499458"/>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Noto Sans CJK SC" pitchFamily="34" charset="0"/>
                <a:ea typeface="Noto Sans CJK SC" pitchFamily="34" charset="-122"/>
                <a:cs typeface="Noto Sans CJK SC" pitchFamily="34" charset="-120"/>
              </a:rPr>
              <a:t>安装 LeRobot ALOHA 支持</a:t>
            </a:r>
            <a:endParaRPr lang="en-US" sz="2000" dirty="0"/>
          </a:p>
        </p:txBody>
      </p:sp>
      <p:sp>
        <p:nvSpPr>
          <p:cNvPr id="11" name="Text 9"/>
          <p:cNvSpPr/>
          <p:nvPr/>
        </p:nvSpPr>
        <p:spPr>
          <a:xfrm>
            <a:off x="5010912" y="2343705"/>
            <a:ext cx="6016752" cy="777240"/>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Noto Sans CJK SC" pitchFamily="34" charset="0"/>
                <a:ea typeface="Noto Sans CJK SC" pitchFamily="34" charset="-122"/>
                <a:cs typeface="Noto Sans CJK SC" pitchFamily="34" charset="-120"/>
              </a:rPr>
              <a:t>运行教材给出的安装命令，安装仿真、可视化与 ALOHA 相关依赖。</a:t>
            </a:r>
            <a:endParaRPr lang="en-US" sz="2000" dirty="0"/>
          </a:p>
        </p:txBody>
      </p:sp>
      <p:sp>
        <p:nvSpPr>
          <p:cNvPr id="12" name="Shape 10"/>
          <p:cNvSpPr/>
          <p:nvPr/>
        </p:nvSpPr>
        <p:spPr>
          <a:xfrm>
            <a:off x="5074920" y="3154680"/>
            <a:ext cx="5806440" cy="1280160"/>
          </a:xfrm>
          <a:prstGeom prst="roundRect">
            <a:avLst>
              <a:gd name="adj" fmla="val 2857"/>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13" name="Text 11"/>
          <p:cNvSpPr/>
          <p:nvPr/>
        </p:nvSpPr>
        <p:spPr>
          <a:xfrm>
            <a:off x="5330952" y="3355848"/>
            <a:ext cx="5294376" cy="310896"/>
          </a:xfrm>
          <a:prstGeom prst="rect">
            <a:avLst/>
          </a:prstGeom>
          <a:noFill/>
          <a:ln/>
        </p:spPr>
        <p:txBody>
          <a:bodyPr wrap="square" lIns="0" tIns="0" rIns="0" bIns="0" rtlCol="0" anchor="ctr"/>
          <a:lstStyle/>
          <a:p>
            <a:pPr marL="0" indent="0">
              <a:buNone/>
            </a:pPr>
            <a:r>
              <a:rPr lang="en-US" sz="2000" b="1" dirty="0">
                <a:solidFill>
                  <a:srgbClr val="DCE6F7"/>
                </a:solidFill>
                <a:latin typeface="Noto Sans CJK SC" pitchFamily="34" charset="0"/>
                <a:ea typeface="Noto Sans CJK SC" pitchFamily="34" charset="-122"/>
                <a:cs typeface="Noto Sans CJK SC" pitchFamily="34" charset="-120"/>
              </a:rPr>
              <a:t>安装命令</a:t>
            </a:r>
            <a:endParaRPr lang="en-US" sz="2000" dirty="0"/>
          </a:p>
        </p:txBody>
      </p:sp>
      <p:sp>
        <p:nvSpPr>
          <p:cNvPr id="14" name="Text 12"/>
          <p:cNvSpPr/>
          <p:nvPr/>
        </p:nvSpPr>
        <p:spPr>
          <a:xfrm>
            <a:off x="5330952" y="3813048"/>
            <a:ext cx="5294376" cy="411480"/>
          </a:xfrm>
          <a:prstGeom prst="rect">
            <a:avLst/>
          </a:prstGeom>
          <a:noFill/>
          <a:ln/>
        </p:spPr>
        <p:txBody>
          <a:bodyPr wrap="square" lIns="254" tIns="254" rIns="254" bIns="254" rtlCol="0" anchor="t">
            <a:normAutofit/>
          </a:bodyPr>
          <a:lstStyle/>
          <a:p>
            <a:pPr marL="0" indent="0">
              <a:buNone/>
            </a:pPr>
            <a:r>
              <a:rPr lang="en-US" sz="1700" dirty="0">
                <a:solidFill>
                  <a:srgbClr val="F2F5F8"/>
                </a:solidFill>
                <a:latin typeface="Noto Sans Mono CJK SC" pitchFamily="34" charset="0"/>
                <a:ea typeface="Noto Sans Mono CJK SC" pitchFamily="34" charset="-122"/>
                <a:cs typeface="Noto Sans Mono CJK SC" pitchFamily="34" charset="-120"/>
              </a:rPr>
              <a:t>!pip install "lerobot[gym-aloha]"</a:t>
            </a:r>
            <a:endParaRPr lang="en-US" sz="17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专家数据从哪里来？Leader—Follower 主从遥操作</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7"/>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31599B"/>
          </a:solidFill>
          <a:ln w="12700">
            <a:solidFill>
              <a:srgbClr val="31599B"/>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31599B"/>
                </a:solidFill>
                <a:latin typeface="微软雅黑" panose="020B0503020204020204" pitchFamily="34" charset="-122"/>
                <a:ea typeface="微软雅黑" panose="020B0503020204020204" pitchFamily="34" charset="-122"/>
                <a:cs typeface="Noto Sans CJK SC" pitchFamily="34" charset="-120"/>
              </a:rPr>
              <a:t>真实硬件采集</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534574"/>
            <a:ext cx="4690872" cy="2503769"/>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人类操作 Leader 臂；Follower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臂同步跟随并记录图像、本体状态与动作</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2F8E72"/>
          </a:solidFill>
          <a:ln w="12700">
            <a:solidFill>
              <a:srgbClr val="2F8E72"/>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重定向优势</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450591"/>
            <a:ext cx="4690872" cy="1501924"/>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Leader—Follower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臂型高度一致，简化重定向，但仍需要处理微小标定误差与末端执行器映射</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110</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步骤1：加载遥操作专家数据集</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627632"/>
            <a:ext cx="10652760" cy="4526280"/>
          </a:xfrm>
          <a:prstGeom prst="roundRect">
            <a:avLst>
              <a:gd name="adj" fmla="val 808"/>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969264" y="1828800"/>
            <a:ext cx="10140696" cy="310896"/>
          </a:xfrm>
          <a:prstGeom prst="rect">
            <a:avLst/>
          </a:prstGeom>
          <a:noFill/>
          <a:ln/>
        </p:spPr>
        <p:txBody>
          <a:bodyPr wrap="square" lIns="0" tIns="0" rIns="0" bIns="0" rtlCol="0" anchor="ctr"/>
          <a:lstStyle/>
          <a:p>
            <a:pPr marL="0" indent="0">
              <a:buNone/>
            </a:pPr>
            <a:r>
              <a:rPr lang="en-US" sz="1600" b="1" dirty="0">
                <a:solidFill>
                  <a:srgbClr val="DCE6F7"/>
                </a:solidFill>
                <a:latin typeface="微软雅黑" panose="020B0503020204020204" pitchFamily="34" charset="-122"/>
                <a:ea typeface="微软雅黑" panose="020B0503020204020204" pitchFamily="34" charset="-122"/>
                <a:cs typeface="Noto Sans CJK SC" pitchFamily="34" charset="-120"/>
              </a:rPr>
              <a:t>数据集加载</a:t>
            </a:r>
            <a:endParaRPr lang="en-US" sz="1600" dirty="0">
              <a:latin typeface="微软雅黑" panose="020B0503020204020204" pitchFamily="34" charset="-122"/>
              <a:ea typeface="微软雅黑" panose="020B0503020204020204" pitchFamily="34" charset="-122"/>
            </a:endParaRPr>
          </a:p>
        </p:txBody>
      </p:sp>
      <p:sp>
        <p:nvSpPr>
          <p:cNvPr id="6" name="Text 4"/>
          <p:cNvSpPr/>
          <p:nvPr/>
        </p:nvSpPr>
        <p:spPr>
          <a:xfrm>
            <a:off x="969264" y="2286000"/>
            <a:ext cx="10140696" cy="3657600"/>
          </a:xfrm>
          <a:prstGeom prst="rect">
            <a:avLst/>
          </a:prstGeom>
          <a:noFill/>
          <a:ln/>
        </p:spPr>
        <p:txBody>
          <a:bodyPr wrap="square" lIns="254" tIns="254" rIns="254" bIns="254" rtlCol="0" anchor="t">
            <a:normAutofit/>
          </a:bodyPr>
          <a:lstStyle/>
          <a:p>
            <a:pPr marL="0" indent="0">
              <a:buNone/>
            </a:pPr>
            <a:r>
              <a:rPr lang="en-US" sz="1600" dirty="0">
                <a:solidFill>
                  <a:srgbClr val="F2F5F8"/>
                </a:solidFill>
                <a:latin typeface="微软雅黑" panose="020B0503020204020204" pitchFamily="34" charset="-122"/>
                <a:ea typeface="微软雅黑" panose="020B0503020204020204" pitchFamily="34" charset="-122"/>
                <a:cs typeface="Noto Sans Mono CJK SC" pitchFamily="34" charset="-120"/>
              </a:rPr>
              <a:t>from lerobot.datasets.lerobot_dataset import LeRobotDataset</a:t>
            </a:r>
            <a:endParaRPr lang="en-US" sz="1600" dirty="0">
              <a:latin typeface="微软雅黑" panose="020B0503020204020204" pitchFamily="34" charset="-122"/>
              <a:ea typeface="微软雅黑" panose="020B0503020204020204" pitchFamily="34" charset="-122"/>
            </a:endParaRPr>
          </a:p>
          <a:p>
            <a:pPr marL="0" indent="0">
              <a:buNone/>
            </a:pPr>
            <a:r>
              <a:rPr lang="en-US" sz="1600" dirty="0">
                <a:solidFill>
                  <a:srgbClr val="F2F5F8"/>
                </a:solidFill>
                <a:latin typeface="微软雅黑" panose="020B0503020204020204" pitchFamily="34" charset="-122"/>
                <a:ea typeface="微软雅黑" panose="020B0503020204020204" pitchFamily="34" charset="-122"/>
                <a:cs typeface="Noto Sans Mono CJK SC" pitchFamily="34" charset="-120"/>
              </a:rPr>
              <a:t>from lerobot.scripts.visualize_dataset import visualize_dataset</a:t>
            </a:r>
            <a:endParaRPr lang="en-US" sz="1600" dirty="0">
              <a:latin typeface="微软雅黑" panose="020B0503020204020204" pitchFamily="34" charset="-122"/>
              <a:ea typeface="微软雅黑" panose="020B0503020204020204" pitchFamily="34" charset="-122"/>
            </a:endParaRPr>
          </a:p>
          <a:p>
            <a:pPr marL="0" indent="0">
              <a:buNone/>
            </a:pPr>
            <a:endParaRPr lang="en-US" sz="1600" dirty="0">
              <a:latin typeface="微软雅黑" panose="020B0503020204020204" pitchFamily="34" charset="-122"/>
              <a:ea typeface="微软雅黑" panose="020B0503020204020204" pitchFamily="34" charset="-122"/>
            </a:endParaRPr>
          </a:p>
          <a:p>
            <a:pPr marL="0" indent="0">
              <a:buNone/>
            </a:pPr>
            <a:r>
              <a:rPr lang="en-US" sz="1600" dirty="0">
                <a:solidFill>
                  <a:srgbClr val="F2F5F8"/>
                </a:solidFill>
                <a:latin typeface="微软雅黑" panose="020B0503020204020204" pitchFamily="34" charset="-122"/>
                <a:ea typeface="微软雅黑" panose="020B0503020204020204" pitchFamily="34" charset="-122"/>
                <a:cs typeface="Noto Sans Mono CJK SC" pitchFamily="34" charset="-120"/>
              </a:rPr>
              <a:t>dataset = LeRobotDataset(</a:t>
            </a:r>
            <a:endParaRPr lang="en-US" sz="1600" dirty="0">
              <a:latin typeface="微软雅黑" panose="020B0503020204020204" pitchFamily="34" charset="-122"/>
              <a:ea typeface="微软雅黑" panose="020B0503020204020204" pitchFamily="34" charset="-122"/>
            </a:endParaRPr>
          </a:p>
          <a:p>
            <a:pPr marL="0" indent="0">
              <a:buNone/>
            </a:pPr>
            <a:r>
              <a:rPr lang="en-US" sz="1600" dirty="0">
                <a:solidFill>
                  <a:srgbClr val="F2F5F8"/>
                </a:solidFill>
                <a:latin typeface="微软雅黑" panose="020B0503020204020204" pitchFamily="34" charset="-122"/>
                <a:ea typeface="微软雅黑" panose="020B0503020204020204" pitchFamily="34" charset="-122"/>
                <a:cs typeface="Noto Sans Mono CJK SC" pitchFamily="34" charset="-120"/>
              </a:rPr>
              <a:t>    repo_id="lerobot/aloha_sim_transfer_cube_human"</a:t>
            </a:r>
            <a:endParaRPr lang="en-US" sz="1600" dirty="0">
              <a:latin typeface="微软雅黑" panose="020B0503020204020204" pitchFamily="34" charset="-122"/>
              <a:ea typeface="微软雅黑" panose="020B0503020204020204" pitchFamily="34" charset="-122"/>
            </a:endParaRPr>
          </a:p>
          <a:p>
            <a:pPr marL="0" indent="0">
              <a:buNone/>
            </a:pPr>
            <a:r>
              <a:rPr lang="en-US" sz="1600" dirty="0">
                <a:solidFill>
                  <a:srgbClr val="F2F5F8"/>
                </a:solidFill>
                <a:latin typeface="微软雅黑" panose="020B0503020204020204" pitchFamily="34" charset="-122"/>
                <a:ea typeface="微软雅黑" panose="020B0503020204020204" pitchFamily="34" charset="-122"/>
                <a:cs typeface="Noto Sans Mono CJK SC" pitchFamily="34" charset="-120"/>
              </a:rPr>
              <a:t>)</a:t>
            </a:r>
            <a:endParaRPr lang="en-US" sz="1600" dirty="0">
              <a:latin typeface="微软雅黑" panose="020B0503020204020204" pitchFamily="34" charset="-122"/>
              <a:ea typeface="微软雅黑" panose="020B0503020204020204" pitchFamily="34" charset="-122"/>
            </a:endParaRPr>
          </a:p>
          <a:p>
            <a:pPr marL="0" indent="0">
              <a:buNone/>
            </a:pPr>
            <a:r>
              <a:rPr lang="en-US" sz="1600" dirty="0">
                <a:solidFill>
                  <a:srgbClr val="F2F5F8"/>
                </a:solidFill>
                <a:latin typeface="微软雅黑" panose="020B0503020204020204" pitchFamily="34" charset="-122"/>
                <a:ea typeface="微软雅黑" panose="020B0503020204020204" pitchFamily="34" charset="-122"/>
                <a:cs typeface="Noto Sans Mono CJK SC" pitchFamily="34" charset="-120"/>
              </a:rPr>
              <a:t>print(f"数据集大小：{len(dataset)} 条轨迹")</a:t>
            </a:r>
            <a:endParaRPr lang="en-US" sz="16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111</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步骤1：可视化一条专家演示</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645920"/>
            <a:ext cx="6720840" cy="4160520"/>
          </a:xfrm>
          <a:prstGeom prst="roundRect">
            <a:avLst>
              <a:gd name="adj" fmla="val 879"/>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969264" y="1847088"/>
            <a:ext cx="6208776" cy="310896"/>
          </a:xfrm>
          <a:prstGeom prst="rect">
            <a:avLst/>
          </a:prstGeom>
          <a:noFill/>
          <a:ln/>
        </p:spPr>
        <p:txBody>
          <a:bodyPr wrap="square" lIns="0" tIns="0" rIns="0" bIns="0" rtlCol="0" anchor="ctr"/>
          <a:lstStyle/>
          <a:p>
            <a:pPr marL="0" indent="0">
              <a:buNone/>
            </a:pPr>
            <a:r>
              <a:rPr lang="en-US" sz="2000" b="1" dirty="0">
                <a:solidFill>
                  <a:srgbClr val="DCE6F7"/>
                </a:solidFill>
                <a:latin typeface="微软雅黑" panose="020B0503020204020204" pitchFamily="34" charset="-122"/>
                <a:ea typeface="微软雅黑" panose="020B0503020204020204" pitchFamily="34" charset="-122"/>
                <a:cs typeface="Noto Sans CJK SC" pitchFamily="34" charset="-120"/>
              </a:rPr>
              <a:t>查看第 0 条演示</a:t>
            </a:r>
            <a:endParaRPr lang="en-US" sz="2000" dirty="0">
              <a:latin typeface="微软雅黑" panose="020B0503020204020204" pitchFamily="34" charset="-122"/>
              <a:ea typeface="微软雅黑" panose="020B0503020204020204" pitchFamily="34" charset="-122"/>
            </a:endParaRPr>
          </a:p>
        </p:txBody>
      </p:sp>
      <p:sp>
        <p:nvSpPr>
          <p:cNvPr id="6" name="Text 4"/>
          <p:cNvSpPr/>
          <p:nvPr/>
        </p:nvSpPr>
        <p:spPr>
          <a:xfrm>
            <a:off x="969264" y="2304288"/>
            <a:ext cx="6208776" cy="3291840"/>
          </a:xfrm>
          <a:prstGeom prst="rect">
            <a:avLst/>
          </a:prstGeom>
          <a:noFill/>
          <a:ln/>
        </p:spPr>
        <p:txBody>
          <a:bodyPr wrap="square" lIns="254" tIns="254" rIns="254" bIns="254" rtlCol="0" anchor="t">
            <a:normAutofit/>
          </a:bodyPr>
          <a:lstStyle/>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visualize_dataset(</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dataset,</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episode_index=0,</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save=True,</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output_dir="./viz_output"</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a:t>
            </a:r>
            <a:endParaRPr lang="en-US" dirty="0">
              <a:latin typeface="微软雅黑" panose="020B0503020204020204" pitchFamily="34" charset="-122"/>
              <a:ea typeface="微软雅黑" panose="020B0503020204020204" pitchFamily="34" charset="-122"/>
            </a:endParaRPr>
          </a:p>
        </p:txBody>
      </p:sp>
      <p:sp>
        <p:nvSpPr>
          <p:cNvPr id="7" name="Shape 5"/>
          <p:cNvSpPr/>
          <p:nvPr/>
        </p:nvSpPr>
        <p:spPr>
          <a:xfrm>
            <a:off x="7726680" y="1691640"/>
            <a:ext cx="3383280"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8" name="Shape 6"/>
          <p:cNvSpPr/>
          <p:nvPr/>
        </p:nvSpPr>
        <p:spPr>
          <a:xfrm>
            <a:off x="7726680" y="1691640"/>
            <a:ext cx="64008" cy="1234440"/>
          </a:xfrm>
          <a:prstGeom prst="rect">
            <a:avLst/>
          </a:prstGeom>
          <a:solidFill>
            <a:srgbClr val="31599B"/>
          </a:solidFill>
          <a:ln w="12700">
            <a:solidFill>
              <a:srgbClr val="31599B"/>
            </a:solidFill>
            <a:prstDash val="solid"/>
          </a:ln>
        </p:spPr>
      </p:sp>
      <p:sp>
        <p:nvSpPr>
          <p:cNvPr id="9" name="Text 7"/>
          <p:cNvSpPr/>
          <p:nvPr/>
        </p:nvSpPr>
        <p:spPr>
          <a:xfrm>
            <a:off x="7936992" y="1837944"/>
            <a:ext cx="2999232" cy="329184"/>
          </a:xfrm>
          <a:prstGeom prst="rect">
            <a:avLst/>
          </a:prstGeom>
          <a:noFill/>
          <a:ln/>
        </p:spPr>
        <p:txBody>
          <a:bodyPr wrap="square" lIns="0" tIns="0" rIns="0" bIns="0" rtlCol="0" anchor="ctr">
            <a:normAutofit/>
          </a:bodyPr>
          <a:lstStyle/>
          <a:p>
            <a:pPr marL="0" indent="0">
              <a:buNone/>
            </a:pPr>
            <a:r>
              <a:rPr lang="en-US" sz="2000" b="1" dirty="0">
                <a:solidFill>
                  <a:srgbClr val="31599B"/>
                </a:solidFill>
                <a:latin typeface="微软雅黑" panose="020B0503020204020204" pitchFamily="34" charset="-122"/>
                <a:ea typeface="微软雅黑" panose="020B0503020204020204" pitchFamily="34" charset="-122"/>
                <a:cs typeface="Noto Sans CJK SC" pitchFamily="34" charset="-120"/>
              </a:rPr>
              <a:t>观察内容</a:t>
            </a:r>
            <a:endParaRPr lang="en-US" sz="2000" dirty="0">
              <a:latin typeface="微软雅黑" panose="020B0503020204020204" pitchFamily="34" charset="-122"/>
              <a:ea typeface="微软雅黑" panose="020B0503020204020204" pitchFamily="34" charset="-122"/>
            </a:endParaRPr>
          </a:p>
        </p:txBody>
      </p:sp>
      <p:sp>
        <p:nvSpPr>
          <p:cNvPr id="10" name="Text 8"/>
          <p:cNvSpPr/>
          <p:nvPr/>
        </p:nvSpPr>
        <p:spPr>
          <a:xfrm>
            <a:off x="7936992" y="2258568"/>
            <a:ext cx="2999232" cy="521208"/>
          </a:xfrm>
          <a:prstGeom prst="rect">
            <a:avLst/>
          </a:prstGeom>
          <a:noFill/>
          <a:ln/>
        </p:spPr>
        <p:txBody>
          <a:bodyPr wrap="square" lIns="254" tIns="254" rIns="254" bIns="254" rtlCol="0" anchor="t">
            <a:normAutofit lnSpcReduction="10000"/>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双臂图像、主从动作以及状态随时间的变化。</a:t>
            </a:r>
            <a:endParaRPr lang="en-US" dirty="0">
              <a:latin typeface="微软雅黑" panose="020B0503020204020204" pitchFamily="34" charset="-122"/>
              <a:ea typeface="微软雅黑" panose="020B0503020204020204" pitchFamily="34" charset="-122"/>
            </a:endParaRPr>
          </a:p>
        </p:txBody>
      </p:sp>
      <p:sp>
        <p:nvSpPr>
          <p:cNvPr id="11" name="Shape 9"/>
          <p:cNvSpPr/>
          <p:nvPr/>
        </p:nvSpPr>
        <p:spPr>
          <a:xfrm>
            <a:off x="7726680" y="3154680"/>
            <a:ext cx="3383280" cy="1234440"/>
          </a:xfrm>
          <a:prstGeom prst="roundRect">
            <a:avLst>
              <a:gd name="adj" fmla="val 3704"/>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2" name="Shape 10"/>
          <p:cNvSpPr/>
          <p:nvPr/>
        </p:nvSpPr>
        <p:spPr>
          <a:xfrm>
            <a:off x="7726680" y="3154680"/>
            <a:ext cx="64008" cy="1234440"/>
          </a:xfrm>
          <a:prstGeom prst="rect">
            <a:avLst/>
          </a:prstGeom>
          <a:solidFill>
            <a:srgbClr val="2F8E72"/>
          </a:solidFill>
          <a:ln w="12700">
            <a:solidFill>
              <a:srgbClr val="2F8E72"/>
            </a:solidFill>
            <a:prstDash val="solid"/>
          </a:ln>
        </p:spPr>
      </p:sp>
      <p:sp>
        <p:nvSpPr>
          <p:cNvPr id="13" name="Text 11"/>
          <p:cNvSpPr/>
          <p:nvPr/>
        </p:nvSpPr>
        <p:spPr>
          <a:xfrm>
            <a:off x="7936992" y="3300984"/>
            <a:ext cx="2999232" cy="329184"/>
          </a:xfrm>
          <a:prstGeom prst="rect">
            <a:avLst/>
          </a:prstGeom>
          <a:noFill/>
          <a:ln/>
        </p:spPr>
        <p:txBody>
          <a:bodyPr wrap="square" lIns="0" tIns="0" rIns="0" bIns="0" rtlCol="0" anchor="ctr">
            <a:normAutofit/>
          </a:bodyPr>
          <a:lstStyle/>
          <a:p>
            <a:pPr marL="0" indent="0">
              <a:buNone/>
            </a:pPr>
            <a:r>
              <a:rPr lang="en-US" sz="2000" b="1" dirty="0">
                <a:solidFill>
                  <a:srgbClr val="2F8E72"/>
                </a:solidFill>
                <a:latin typeface="微软雅黑" panose="020B0503020204020204" pitchFamily="34" charset="-122"/>
                <a:ea typeface="微软雅黑" panose="020B0503020204020204" pitchFamily="34" charset="-122"/>
                <a:cs typeface="Noto Sans CJK SC" pitchFamily="34" charset="-120"/>
              </a:rPr>
              <a:t>检查重点</a:t>
            </a:r>
            <a:endParaRPr lang="en-US" sz="2000" dirty="0">
              <a:latin typeface="微软雅黑" panose="020B0503020204020204" pitchFamily="34" charset="-122"/>
              <a:ea typeface="微软雅黑" panose="020B0503020204020204" pitchFamily="34" charset="-122"/>
            </a:endParaRPr>
          </a:p>
        </p:txBody>
      </p:sp>
      <p:sp>
        <p:nvSpPr>
          <p:cNvPr id="14" name="Text 12"/>
          <p:cNvSpPr/>
          <p:nvPr/>
        </p:nvSpPr>
        <p:spPr>
          <a:xfrm>
            <a:off x="7936992" y="3721608"/>
            <a:ext cx="2999232" cy="521208"/>
          </a:xfrm>
          <a:prstGeom prst="rect">
            <a:avLst/>
          </a:prstGeom>
          <a:noFill/>
          <a:ln/>
        </p:spPr>
        <p:txBody>
          <a:bodyPr wrap="square" lIns="254" tIns="254" rIns="254" bIns="254" rtlCol="0" anchor="t">
            <a:noAutofit/>
          </a:bodyPr>
          <a:lstStyle/>
          <a:p>
            <a:pPr marL="0" indent="0">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确认数据来源、时间同步与动作轨迹是否合理。</a:t>
            </a:r>
            <a:endParaRPr lang="en-US" dirty="0">
              <a:latin typeface="微软雅黑" panose="020B0503020204020204" pitchFamily="34" charset="-122"/>
              <a:ea typeface="微软雅黑" panose="020B0503020204020204" pitchFamily="34" charset="-122"/>
            </a:endParaRPr>
          </a:p>
        </p:txBody>
      </p:sp>
      <p:sp>
        <p:nvSpPr>
          <p:cNvPr id="15" name="Shape 13"/>
          <p:cNvSpPr/>
          <p:nvPr/>
        </p:nvSpPr>
        <p:spPr>
          <a:xfrm>
            <a:off x="7726680" y="4617720"/>
            <a:ext cx="3383280" cy="960120"/>
          </a:xfrm>
          <a:prstGeom prst="roundRect">
            <a:avLst>
              <a:gd name="adj" fmla="val 4762"/>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6" name="Shape 14"/>
          <p:cNvSpPr/>
          <p:nvPr/>
        </p:nvSpPr>
        <p:spPr>
          <a:xfrm>
            <a:off x="7726680" y="4617720"/>
            <a:ext cx="64008" cy="960120"/>
          </a:xfrm>
          <a:prstGeom prst="rect">
            <a:avLst/>
          </a:prstGeom>
          <a:solidFill>
            <a:srgbClr val="C58A24"/>
          </a:solidFill>
          <a:ln w="12700">
            <a:solidFill>
              <a:srgbClr val="C58A24"/>
            </a:solidFill>
            <a:prstDash val="solid"/>
          </a:ln>
        </p:spPr>
      </p:sp>
      <p:sp>
        <p:nvSpPr>
          <p:cNvPr id="17" name="Text 15"/>
          <p:cNvSpPr/>
          <p:nvPr/>
        </p:nvSpPr>
        <p:spPr>
          <a:xfrm>
            <a:off x="7936992" y="4764024"/>
            <a:ext cx="2999232" cy="329184"/>
          </a:xfrm>
          <a:prstGeom prst="rect">
            <a:avLst/>
          </a:prstGeom>
          <a:noFill/>
          <a:ln/>
        </p:spPr>
        <p:txBody>
          <a:bodyPr wrap="square" lIns="0" tIns="0" rIns="0" bIns="0" rtlCol="0" anchor="ctr">
            <a:normAutofit/>
          </a:bodyPr>
          <a:lstStyle/>
          <a:p>
            <a:pPr marL="0" indent="0">
              <a:buNone/>
            </a:pPr>
            <a:r>
              <a:rPr lang="en-US" sz="2000" b="1" dirty="0">
                <a:solidFill>
                  <a:srgbClr val="C58A24"/>
                </a:solidFill>
                <a:latin typeface="微软雅黑" panose="020B0503020204020204" pitchFamily="34" charset="-122"/>
                <a:ea typeface="微软雅黑" panose="020B0503020204020204" pitchFamily="34" charset="-122"/>
                <a:cs typeface="Noto Sans CJK SC" pitchFamily="34" charset="-120"/>
              </a:rPr>
              <a:t>作用</a:t>
            </a:r>
            <a:endParaRPr lang="en-US" sz="2000" dirty="0">
              <a:latin typeface="微软雅黑" panose="020B0503020204020204" pitchFamily="34" charset="-122"/>
              <a:ea typeface="微软雅黑" panose="020B0503020204020204" pitchFamily="34" charset="-122"/>
            </a:endParaRPr>
          </a:p>
        </p:txBody>
      </p:sp>
      <p:sp>
        <p:nvSpPr>
          <p:cNvPr id="18" name="Text 16"/>
          <p:cNvSpPr/>
          <p:nvPr/>
        </p:nvSpPr>
        <p:spPr>
          <a:xfrm>
            <a:off x="7936992" y="5184648"/>
            <a:ext cx="2999232" cy="246888"/>
          </a:xfrm>
          <a:prstGeom prst="rect">
            <a:avLst/>
          </a:prstGeom>
          <a:noFill/>
          <a:ln/>
        </p:spPr>
        <p:txBody>
          <a:bodyPr wrap="square" lIns="254" tIns="254" rIns="254" bIns="254" rtlCol="0" anchor="t">
            <a:normAutofit fontScale="92500"/>
          </a:bodyPr>
          <a:lstStyle/>
          <a:p>
            <a:pPr marL="0" indent="0">
              <a:buNone/>
            </a:pPr>
            <a:r>
              <a:rPr lang="en-US" sz="1400" dirty="0">
                <a:solidFill>
                  <a:srgbClr val="222833"/>
                </a:solidFill>
                <a:latin typeface="微软雅黑" panose="020B0503020204020204" pitchFamily="34" charset="-122"/>
                <a:ea typeface="微软雅黑" panose="020B0503020204020204" pitchFamily="34" charset="-122"/>
                <a:cs typeface="Noto Sans CJK SC" pitchFamily="34" charset="-120"/>
              </a:rPr>
              <a:t>为后续 BC 训练提供可解释的数据检查。</a:t>
            </a:r>
            <a:endParaRPr lang="en-US" sz="1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112</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步骤2：使用 ACT 进行行为克隆训练</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Text 2"/>
          <p:cNvSpPr/>
          <p:nvPr/>
        </p:nvSpPr>
        <p:spPr>
          <a:xfrm>
            <a:off x="749808" y="1664208"/>
            <a:ext cx="10058400" cy="3977640"/>
          </a:xfrm>
          <a:prstGeom prst="rect">
            <a:avLst/>
          </a:prstGeom>
          <a:noFill/>
          <a:ln/>
        </p:spPr>
        <p:txBody>
          <a:bodyPr wrap="square" lIns="635" tIns="635" rIns="635" bIns="635" rtlCol="0" anchor="t">
            <a:normAutofit/>
          </a:bodyPr>
          <a:lstStyle/>
          <a:p>
            <a:pPr marL="228600" indent="-228600">
              <a:lnSpc>
                <a:spcPct val="150000"/>
              </a:lnSpc>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将模仿学习直接转化为监督学习</a:t>
            </a:r>
            <a:endParaRPr lang="en-US" sz="2400" dirty="0">
              <a:latin typeface="微软雅黑" panose="020B0503020204020204" pitchFamily="34" charset="-122"/>
              <a:ea typeface="微软雅黑" panose="020B0503020204020204" pitchFamily="34" charset="-122"/>
            </a:endParaRPr>
          </a:p>
          <a:p>
            <a:pPr marL="228600" indent="-228600">
              <a:lnSpc>
                <a:spcPct val="150000"/>
              </a:lnSpc>
              <a:buSzPct val="100000"/>
              <a:buChar char="•"/>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策略类型选择 </a:t>
            </a: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ACT，适合双臂长时序、高精度任务</a:t>
            </a:r>
            <a:endParaRPr lang="en-US" sz="2400" dirty="0">
              <a:latin typeface="微软雅黑" panose="020B0503020204020204" pitchFamily="34" charset="-122"/>
              <a:ea typeface="微软雅黑" panose="020B0503020204020204" pitchFamily="34" charset="-122"/>
            </a:endParaRPr>
          </a:p>
          <a:p>
            <a:pPr marL="228600" indent="-228600">
              <a:lnSpc>
                <a:spcPct val="150000"/>
              </a:lnSpc>
              <a:buSzPct val="100000"/>
              <a:buChar char="•"/>
            </a:pPr>
            <a:r>
              <a:rPr lang="en-US" sz="2400" dirty="0" err="1">
                <a:solidFill>
                  <a:srgbClr val="222833"/>
                </a:solidFill>
                <a:latin typeface="微软雅黑" panose="020B0503020204020204" pitchFamily="34" charset="-122"/>
                <a:ea typeface="微软雅黑" panose="020B0503020204020204" pitchFamily="34" charset="-122"/>
                <a:cs typeface="Noto Sans CJK SC" pitchFamily="34" charset="-120"/>
              </a:rPr>
              <a:t>训练中使用专家演示动作作为监督信号，并用均方误差等损失拟合动作序列</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113</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步骤2：启动训练任务</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627632"/>
            <a:ext cx="10652760" cy="4526280"/>
          </a:xfrm>
          <a:prstGeom prst="roundRect">
            <a:avLst>
              <a:gd name="adj" fmla="val 808"/>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969264" y="1828800"/>
            <a:ext cx="10140696" cy="310896"/>
          </a:xfrm>
          <a:prstGeom prst="rect">
            <a:avLst/>
          </a:prstGeom>
          <a:noFill/>
          <a:ln/>
        </p:spPr>
        <p:txBody>
          <a:bodyPr wrap="square" lIns="0" tIns="0" rIns="0" bIns="0" rtlCol="0" anchor="ctr"/>
          <a:lstStyle/>
          <a:p>
            <a:pPr marL="0" indent="0">
              <a:buNone/>
            </a:pPr>
            <a:r>
              <a:rPr lang="en-US" sz="2000" b="1" dirty="0">
                <a:solidFill>
                  <a:srgbClr val="DCE6F7"/>
                </a:solidFill>
                <a:latin typeface="微软雅黑" panose="020B0503020204020204" pitchFamily="34" charset="-122"/>
                <a:ea typeface="微软雅黑" panose="020B0503020204020204" pitchFamily="34" charset="-122"/>
                <a:cs typeface="Noto Sans CJK SC" pitchFamily="34" charset="-120"/>
              </a:rPr>
              <a:t>LeRobot CLI</a:t>
            </a:r>
            <a:endParaRPr lang="en-US" sz="2000" dirty="0">
              <a:latin typeface="微软雅黑" panose="020B0503020204020204" pitchFamily="34" charset="-122"/>
              <a:ea typeface="微软雅黑" panose="020B0503020204020204" pitchFamily="34" charset="-122"/>
            </a:endParaRPr>
          </a:p>
        </p:txBody>
      </p:sp>
      <p:sp>
        <p:nvSpPr>
          <p:cNvPr id="6" name="Text 4"/>
          <p:cNvSpPr/>
          <p:nvPr/>
        </p:nvSpPr>
        <p:spPr>
          <a:xfrm>
            <a:off x="969264" y="2286000"/>
            <a:ext cx="10140696" cy="3657600"/>
          </a:xfrm>
          <a:prstGeom prst="rect">
            <a:avLst/>
          </a:prstGeom>
          <a:noFill/>
          <a:ln/>
        </p:spPr>
        <p:txBody>
          <a:bodyPr wrap="square" lIns="254" tIns="254" rIns="254" bIns="254" rtlCol="0" anchor="t">
            <a:normAutofit/>
          </a:bodyPr>
          <a:lstStyle/>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!lerobot-train \</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--policy.type=act \</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--dataset.repo_id=lerobot/aloha_sim_transfer_cube_human \</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--steps=1000 \</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--eval_freq=200 \</a:t>
            </a:r>
            <a:endParaRPr lang="en-US" dirty="0">
              <a:latin typeface="微软雅黑" panose="020B0503020204020204" pitchFamily="34" charset="-122"/>
              <a:ea typeface="微软雅黑" panose="020B0503020204020204" pitchFamily="34" charset="-122"/>
            </a:endParaRPr>
          </a:p>
          <a:p>
            <a:pPr marL="0" indent="0">
              <a:buNone/>
            </a:pPr>
            <a:r>
              <a:rPr lang="en-US" dirty="0">
                <a:solidFill>
                  <a:srgbClr val="F2F5F8"/>
                </a:solidFill>
                <a:latin typeface="微软雅黑" panose="020B0503020204020204" pitchFamily="34" charset="-122"/>
                <a:ea typeface="微软雅黑" panose="020B0503020204020204" pitchFamily="34" charset="-122"/>
                <a:cs typeface="Noto Sans Mono CJK SC" pitchFamily="34" charset="-120"/>
              </a:rPr>
              <a:t>  --output_dir=bc_aloha_model</a:t>
            </a:r>
            <a:endParaRPr lang="en-US"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114</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训练命令中的关键参数</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graphicFrame>
        <p:nvGraphicFramePr>
          <p:cNvPr id="118" name="Table 0"/>
          <p:cNvGraphicFramePr>
            <a:graphicFrameLocks noGrp="1"/>
          </p:cNvGraphicFramePr>
          <p:nvPr>
            <p:extLst>
              <p:ext uri="{D42A27DB-BD31-4B8C-83A1-F6EECF244321}">
                <p14:modId xmlns:p14="http://schemas.microsoft.com/office/powerpoint/2010/main" val="2152693407"/>
              </p:ext>
            </p:extLst>
          </p:nvPr>
        </p:nvGraphicFramePr>
        <p:xfrm>
          <a:off x="749808" y="1664208"/>
          <a:ext cx="10698480" cy="4303776"/>
        </p:xfrm>
        <a:graphic>
          <a:graphicData uri="http://schemas.openxmlformats.org/drawingml/2006/table">
            <a:tbl>
              <a:tblPr/>
              <a:tblGrid>
                <a:gridCol w="214884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716280">
                <a:tc>
                  <a:txBody>
                    <a:bodyPr/>
                    <a:lstStyle/>
                    <a:p>
                      <a:pPr marL="0" indent="0" algn="ctr">
                        <a:buNone/>
                      </a:pPr>
                      <a:r>
                        <a:rPr lang="en-US" sz="1360" dirty="0">
                          <a:solidFill>
                            <a:srgbClr val="222833"/>
                          </a:solidFill>
                          <a:latin typeface="Noto Sans CJK SC" pitchFamily="34" charset="0"/>
                          <a:ea typeface="Noto Sans CJK SC" pitchFamily="34" charset="-122"/>
                          <a:cs typeface="Noto Sans CJK SC" pitchFamily="34" charset="-120"/>
                        </a:rPr>
                        <a:t>参数</a:t>
                      </a:r>
                      <a:endParaRPr lang="en-US" sz="136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360" dirty="0">
                          <a:solidFill>
                            <a:srgbClr val="222833"/>
                          </a:solidFill>
                          <a:latin typeface="Noto Sans CJK SC" pitchFamily="34" charset="0"/>
                          <a:ea typeface="Noto Sans CJK SC" pitchFamily="34" charset="-122"/>
                          <a:cs typeface="Noto Sans CJK SC" pitchFamily="34" charset="-120"/>
                        </a:rPr>
                        <a:t>教材配置</a:t>
                      </a:r>
                      <a:endParaRPr lang="en-US" sz="136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360" dirty="0">
                          <a:solidFill>
                            <a:srgbClr val="222833"/>
                          </a:solidFill>
                          <a:latin typeface="Noto Sans CJK SC" pitchFamily="34" charset="0"/>
                          <a:ea typeface="Noto Sans CJK SC" pitchFamily="34" charset="-122"/>
                          <a:cs typeface="Noto Sans CJK SC" pitchFamily="34" charset="-120"/>
                        </a:rPr>
                        <a:t>作用</a:t>
                      </a:r>
                      <a:endParaRPr lang="en-US" sz="136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628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policy.type</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act</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选择 ACT 行为克隆策略</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628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dataset.repo_id</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aloha_sim_transfer_cube_human</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指定专家演示数据集</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628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steps</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1000（快速演示可 500–1000）</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设置训练步数</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628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eval_freq</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200</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定期执行评估</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6280">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output_dir</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bc_aloha_model</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22833"/>
                          </a:solidFill>
                          <a:latin typeface="微软雅黑" panose="020B0503020204020204" pitchFamily="34" charset="-122"/>
                          <a:ea typeface="微软雅黑" panose="020B0503020204020204" pitchFamily="34" charset="-122"/>
                          <a:cs typeface="Noto Sans CJK SC" pitchFamily="34" charset="-120"/>
                        </a:rPr>
                        <a:t>保存训练结果</a:t>
                      </a:r>
                      <a:endParaRPr lang="en-US" sz="20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749808" y="1664208"/>
            <a:ext cx="10698480" cy="502920"/>
          </a:xfrm>
          <a:prstGeom prst="rect">
            <a:avLst/>
          </a:prstGeom>
          <a:solidFill>
            <a:srgbClr val="31599B"/>
          </a:solidFill>
          <a:ln w="12700">
            <a:solidFill>
              <a:srgbClr val="31599B"/>
            </a:solidFill>
            <a:prstDash val="solid"/>
          </a:ln>
        </p:spPr>
      </p:sp>
      <p:sp>
        <p:nvSpPr>
          <p:cNvPr id="6" name="Text 3"/>
          <p:cNvSpPr/>
          <p:nvPr/>
        </p:nvSpPr>
        <p:spPr>
          <a:xfrm>
            <a:off x="768096" y="1773936"/>
            <a:ext cx="2112264" cy="256032"/>
          </a:xfrm>
          <a:prstGeom prst="rect">
            <a:avLst/>
          </a:prstGeom>
          <a:noFill/>
          <a:ln/>
        </p:spPr>
        <p:txBody>
          <a:bodyPr wrap="square" lIns="0" tIns="0" rIns="0" bIns="0" rtlCol="0" anchor="ctr">
            <a:normAutofit fontScale="92500" lnSpcReduction="20000"/>
          </a:bodyPr>
          <a:lstStyle/>
          <a:p>
            <a:pPr marL="0" indent="0" algn="ctr">
              <a:buNone/>
            </a:pPr>
            <a:r>
              <a:rPr lang="en-US" sz="2000" b="1" dirty="0">
                <a:solidFill>
                  <a:srgbClr val="FFFFFF"/>
                </a:solidFill>
                <a:latin typeface="Noto Sans CJK SC" pitchFamily="34" charset="0"/>
                <a:ea typeface="Noto Sans CJK SC" pitchFamily="34" charset="-122"/>
                <a:cs typeface="Noto Sans CJK SC" pitchFamily="34" charset="-120"/>
              </a:rPr>
              <a:t>参数</a:t>
            </a:r>
            <a:endParaRPr lang="en-US" sz="2000" dirty="0"/>
          </a:p>
        </p:txBody>
      </p:sp>
      <p:sp>
        <p:nvSpPr>
          <p:cNvPr id="7" name="Text 4"/>
          <p:cNvSpPr/>
          <p:nvPr/>
        </p:nvSpPr>
        <p:spPr>
          <a:xfrm>
            <a:off x="2916936" y="1773936"/>
            <a:ext cx="3666744" cy="256032"/>
          </a:xfrm>
          <a:prstGeom prst="rect">
            <a:avLst/>
          </a:prstGeom>
          <a:noFill/>
          <a:ln/>
        </p:spPr>
        <p:txBody>
          <a:bodyPr wrap="square" lIns="0" tIns="0" rIns="0" bIns="0" rtlCol="0" anchor="ctr">
            <a:normAutofit fontScale="92500" lnSpcReduction="20000"/>
          </a:bodyPr>
          <a:lstStyle/>
          <a:p>
            <a:pPr marL="0" indent="0" algn="ctr">
              <a:buNone/>
            </a:pPr>
            <a:r>
              <a:rPr lang="en-US" sz="2000" b="1" dirty="0" err="1">
                <a:solidFill>
                  <a:srgbClr val="FFFFFF"/>
                </a:solidFill>
                <a:latin typeface="Noto Sans CJK SC" pitchFamily="34" charset="0"/>
                <a:ea typeface="Noto Sans CJK SC" pitchFamily="34" charset="-122"/>
                <a:cs typeface="Noto Sans CJK SC" pitchFamily="34" charset="-120"/>
              </a:rPr>
              <a:t>配置</a:t>
            </a:r>
            <a:endParaRPr lang="en-US" sz="2000" dirty="0"/>
          </a:p>
        </p:txBody>
      </p:sp>
      <p:sp>
        <p:nvSpPr>
          <p:cNvPr id="8" name="Text 5"/>
          <p:cNvSpPr/>
          <p:nvPr/>
        </p:nvSpPr>
        <p:spPr>
          <a:xfrm>
            <a:off x="6620256" y="1773936"/>
            <a:ext cx="4809744" cy="256032"/>
          </a:xfrm>
          <a:prstGeom prst="rect">
            <a:avLst/>
          </a:prstGeom>
          <a:noFill/>
          <a:ln/>
        </p:spPr>
        <p:txBody>
          <a:bodyPr wrap="square" lIns="0" tIns="0" rIns="0" bIns="0" rtlCol="0" anchor="ctr">
            <a:normAutofit fontScale="92500" lnSpcReduction="20000"/>
          </a:bodyPr>
          <a:lstStyle/>
          <a:p>
            <a:pPr marL="0" indent="0" algn="ctr">
              <a:buNone/>
            </a:pPr>
            <a:r>
              <a:rPr lang="en-US" sz="2000" b="1" dirty="0">
                <a:solidFill>
                  <a:srgbClr val="FFFFFF"/>
                </a:solidFill>
                <a:latin typeface="Noto Sans CJK SC" pitchFamily="34" charset="0"/>
                <a:ea typeface="Noto Sans CJK SC" pitchFamily="34" charset="-122"/>
                <a:cs typeface="Noto Sans CJK SC" pitchFamily="34" charset="-120"/>
              </a:rPr>
              <a:t>作用</a:t>
            </a:r>
            <a:endParaRPr lang="en-US" sz="20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步骤3：加载策略并进行闭环评估</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645920"/>
            <a:ext cx="10652760" cy="4251960"/>
          </a:xfrm>
          <a:prstGeom prst="roundRect">
            <a:avLst>
              <a:gd name="adj" fmla="val 860"/>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969264" y="1847088"/>
            <a:ext cx="10140696" cy="310896"/>
          </a:xfrm>
          <a:prstGeom prst="rect">
            <a:avLst/>
          </a:prstGeom>
          <a:noFill/>
          <a:ln/>
        </p:spPr>
        <p:txBody>
          <a:bodyPr wrap="square" lIns="0" tIns="0" rIns="0" bIns="0" rtlCol="0" anchor="ctr"/>
          <a:lstStyle/>
          <a:p>
            <a:pPr marL="0" indent="0">
              <a:buNone/>
            </a:pPr>
            <a:r>
              <a:rPr lang="en-US" sz="1600" b="1" dirty="0">
                <a:solidFill>
                  <a:srgbClr val="DCE6F7"/>
                </a:solidFill>
                <a:latin typeface="微软雅黑" panose="020B0503020204020204" pitchFamily="34" charset="-122"/>
                <a:ea typeface="微软雅黑" panose="020B0503020204020204" pitchFamily="34" charset="-122"/>
                <a:cs typeface="Noto Sans CJK SC" pitchFamily="34" charset="-120"/>
              </a:rPr>
              <a:t>模型与环境</a:t>
            </a:r>
            <a:endParaRPr lang="en-US" sz="1600" dirty="0">
              <a:latin typeface="微软雅黑" panose="020B0503020204020204" pitchFamily="34" charset="-122"/>
              <a:ea typeface="微软雅黑" panose="020B0503020204020204" pitchFamily="34" charset="-122"/>
            </a:endParaRPr>
          </a:p>
        </p:txBody>
      </p:sp>
      <p:sp>
        <p:nvSpPr>
          <p:cNvPr id="6" name="Text 4"/>
          <p:cNvSpPr/>
          <p:nvPr/>
        </p:nvSpPr>
        <p:spPr>
          <a:xfrm>
            <a:off x="969264" y="2304288"/>
            <a:ext cx="10140696" cy="3383280"/>
          </a:xfrm>
          <a:prstGeom prst="rect">
            <a:avLst/>
          </a:prstGeom>
          <a:noFill/>
          <a:ln/>
        </p:spPr>
        <p:txBody>
          <a:bodyPr wrap="square" lIns="254" tIns="254" rIns="254" bIns="254" rtlCol="0" anchor="t">
            <a:normAutofit/>
          </a:bodyPr>
          <a:lstStyle/>
          <a:p>
            <a:pPr marL="0" indent="0">
              <a:buNone/>
            </a:pPr>
            <a:r>
              <a:rPr lang="en-US" sz="1450" dirty="0">
                <a:solidFill>
                  <a:srgbClr val="F2F5F8"/>
                </a:solidFill>
                <a:latin typeface="微软雅黑" panose="020B0503020204020204" pitchFamily="34" charset="-122"/>
                <a:ea typeface="微软雅黑" panose="020B0503020204020204" pitchFamily="34" charset="-122"/>
                <a:cs typeface="Noto Sans Mono CJK SC" pitchFamily="34" charset="-120"/>
              </a:rPr>
              <a:t>from lerobot.common.policies.act.modeling_act import ACTPolicy</a:t>
            </a:r>
            <a:endParaRPr lang="en-US" sz="1450" dirty="0">
              <a:latin typeface="微软雅黑" panose="020B0503020204020204" pitchFamily="34" charset="-122"/>
              <a:ea typeface="微软雅黑" panose="020B0503020204020204" pitchFamily="34" charset="-122"/>
            </a:endParaRPr>
          </a:p>
          <a:p>
            <a:pPr marL="0" indent="0">
              <a:buNone/>
            </a:pPr>
            <a:r>
              <a:rPr lang="en-US" sz="1450" dirty="0">
                <a:solidFill>
                  <a:srgbClr val="F2F5F8"/>
                </a:solidFill>
                <a:latin typeface="微软雅黑" panose="020B0503020204020204" pitchFamily="34" charset="-122"/>
                <a:ea typeface="微软雅黑" panose="020B0503020204020204" pitchFamily="34" charset="-122"/>
                <a:cs typeface="Noto Sans Mono CJK SC" pitchFamily="34" charset="-120"/>
              </a:rPr>
              <a:t>from lerobot.common.envs.aloha_env import AlohaEnv</a:t>
            </a:r>
            <a:endParaRPr lang="en-US" sz="1450" dirty="0">
              <a:latin typeface="微软雅黑" panose="020B0503020204020204" pitchFamily="34" charset="-122"/>
              <a:ea typeface="微软雅黑" panose="020B0503020204020204" pitchFamily="34" charset="-122"/>
            </a:endParaRPr>
          </a:p>
          <a:p>
            <a:pPr marL="0" indent="0">
              <a:buNone/>
            </a:pPr>
            <a:endParaRPr lang="en-US" sz="1450" dirty="0">
              <a:latin typeface="微软雅黑" panose="020B0503020204020204" pitchFamily="34" charset="-122"/>
              <a:ea typeface="微软雅黑" panose="020B0503020204020204" pitchFamily="34" charset="-122"/>
            </a:endParaRPr>
          </a:p>
          <a:p>
            <a:pPr marL="0" indent="0">
              <a:buNone/>
            </a:pPr>
            <a:r>
              <a:rPr lang="en-US" sz="1450" dirty="0">
                <a:solidFill>
                  <a:srgbClr val="F2F5F8"/>
                </a:solidFill>
                <a:latin typeface="微软雅黑" panose="020B0503020204020204" pitchFamily="34" charset="-122"/>
                <a:ea typeface="微软雅黑" panose="020B0503020204020204" pitchFamily="34" charset="-122"/>
                <a:cs typeface="Noto Sans Mono CJK SC" pitchFamily="34" charset="-120"/>
              </a:rPr>
              <a:t>policy = ACTPolicy.from_pretrained("bc_aloha_model")</a:t>
            </a:r>
            <a:endParaRPr lang="en-US" sz="1450" dirty="0">
              <a:latin typeface="微软雅黑" panose="020B0503020204020204" pitchFamily="34" charset="-122"/>
              <a:ea typeface="微软雅黑" panose="020B0503020204020204" pitchFamily="34" charset="-122"/>
            </a:endParaRPr>
          </a:p>
          <a:p>
            <a:pPr marL="0" indent="0">
              <a:buNone/>
            </a:pPr>
            <a:r>
              <a:rPr lang="en-US" sz="1450" dirty="0">
                <a:solidFill>
                  <a:srgbClr val="F2F5F8"/>
                </a:solidFill>
                <a:latin typeface="微软雅黑" panose="020B0503020204020204" pitchFamily="34" charset="-122"/>
                <a:ea typeface="微软雅黑" panose="020B0503020204020204" pitchFamily="34" charset="-122"/>
                <a:cs typeface="Noto Sans Mono CJK SC" pitchFamily="34" charset="-120"/>
              </a:rPr>
              <a:t>env = AlohaEnv()</a:t>
            </a:r>
            <a:endParaRPr lang="en-US" sz="145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116</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步骤3：运行 10 个 episode 并统计成功率</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627632"/>
            <a:ext cx="10652760" cy="4526280"/>
          </a:xfrm>
          <a:prstGeom prst="roundRect">
            <a:avLst>
              <a:gd name="adj" fmla="val 808"/>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969264" y="1828800"/>
            <a:ext cx="10140696" cy="310896"/>
          </a:xfrm>
          <a:prstGeom prst="rect">
            <a:avLst/>
          </a:prstGeom>
          <a:noFill/>
          <a:ln/>
        </p:spPr>
        <p:txBody>
          <a:bodyPr wrap="square" lIns="0" tIns="0" rIns="0" bIns="0" rtlCol="0" anchor="ctr"/>
          <a:lstStyle/>
          <a:p>
            <a:pPr marL="0" indent="0">
              <a:buNone/>
            </a:pPr>
            <a:r>
              <a:rPr lang="en-US" sz="1600" b="1" dirty="0">
                <a:solidFill>
                  <a:srgbClr val="DCE6F7"/>
                </a:solidFill>
                <a:latin typeface="微软雅黑" panose="020B0503020204020204" pitchFamily="34" charset="-122"/>
                <a:ea typeface="微软雅黑" panose="020B0503020204020204" pitchFamily="34" charset="-122"/>
                <a:cs typeface="Noto Sans CJK SC" pitchFamily="34" charset="-120"/>
              </a:rPr>
              <a:t>闭环执行</a:t>
            </a:r>
            <a:endParaRPr lang="en-US" sz="1600" dirty="0">
              <a:latin typeface="微软雅黑" panose="020B0503020204020204" pitchFamily="34" charset="-122"/>
              <a:ea typeface="微软雅黑" panose="020B0503020204020204" pitchFamily="34" charset="-122"/>
            </a:endParaRPr>
          </a:p>
        </p:txBody>
      </p:sp>
      <p:sp>
        <p:nvSpPr>
          <p:cNvPr id="6" name="Text 4"/>
          <p:cNvSpPr/>
          <p:nvPr/>
        </p:nvSpPr>
        <p:spPr>
          <a:xfrm>
            <a:off x="969264" y="2286000"/>
            <a:ext cx="10140696" cy="3657600"/>
          </a:xfrm>
          <a:prstGeom prst="rect">
            <a:avLst/>
          </a:prstGeom>
          <a:noFill/>
          <a:ln/>
        </p:spPr>
        <p:txBody>
          <a:bodyPr wrap="square" lIns="254" tIns="254" rIns="254" bIns="254" rtlCol="0" anchor="t">
            <a:normAutofit/>
          </a:bodyPr>
          <a:lstStyle/>
          <a:p>
            <a:pPr marL="0" indent="0">
              <a:buNone/>
            </a:pPr>
            <a:r>
              <a:rPr lang="en-US" sz="1350" dirty="0">
                <a:solidFill>
                  <a:srgbClr val="F2F5F8"/>
                </a:solidFill>
                <a:latin typeface="微软雅黑" panose="020B0503020204020204" pitchFamily="34" charset="-122"/>
                <a:ea typeface="微软雅黑" panose="020B0503020204020204" pitchFamily="34" charset="-122"/>
                <a:cs typeface="Noto Sans Mono CJK SC" pitchFamily="34" charset="-120"/>
              </a:rPr>
              <a:t>success_rate = 0</a:t>
            </a:r>
            <a:endParaRPr lang="en-US" sz="1350" dirty="0">
              <a:latin typeface="微软雅黑" panose="020B0503020204020204" pitchFamily="34" charset="-122"/>
              <a:ea typeface="微软雅黑" panose="020B0503020204020204" pitchFamily="34" charset="-122"/>
            </a:endParaRPr>
          </a:p>
          <a:p>
            <a:pPr marL="0" indent="0">
              <a:buNone/>
            </a:pPr>
            <a:r>
              <a:rPr lang="en-US" sz="1350" dirty="0">
                <a:solidFill>
                  <a:srgbClr val="F2F5F8"/>
                </a:solidFill>
                <a:latin typeface="微软雅黑" panose="020B0503020204020204" pitchFamily="34" charset="-122"/>
                <a:ea typeface="微软雅黑" panose="020B0503020204020204" pitchFamily="34" charset="-122"/>
                <a:cs typeface="Noto Sans Mono CJK SC" pitchFamily="34" charset="-120"/>
              </a:rPr>
              <a:t>for episode in range(10):</a:t>
            </a:r>
            <a:endParaRPr lang="en-US" sz="1350" dirty="0">
              <a:latin typeface="微软雅黑" panose="020B0503020204020204" pitchFamily="34" charset="-122"/>
              <a:ea typeface="微软雅黑" panose="020B0503020204020204" pitchFamily="34" charset="-122"/>
            </a:endParaRPr>
          </a:p>
          <a:p>
            <a:pPr marL="0" indent="0">
              <a:buNone/>
            </a:pPr>
            <a:r>
              <a:rPr lang="en-US" sz="1350" dirty="0">
                <a:solidFill>
                  <a:srgbClr val="F2F5F8"/>
                </a:solidFill>
                <a:latin typeface="微软雅黑" panose="020B0503020204020204" pitchFamily="34" charset="-122"/>
                <a:ea typeface="微软雅黑" panose="020B0503020204020204" pitchFamily="34" charset="-122"/>
                <a:cs typeface="Noto Sans Mono CJK SC" pitchFamily="34" charset="-120"/>
              </a:rPr>
              <a:t>    obs, done = env.reset(), False</a:t>
            </a:r>
            <a:endParaRPr lang="en-US" sz="1350" dirty="0">
              <a:latin typeface="微软雅黑" panose="020B0503020204020204" pitchFamily="34" charset="-122"/>
              <a:ea typeface="微软雅黑" panose="020B0503020204020204" pitchFamily="34" charset="-122"/>
            </a:endParaRPr>
          </a:p>
          <a:p>
            <a:pPr marL="0" indent="0">
              <a:buNone/>
            </a:pPr>
            <a:r>
              <a:rPr lang="en-US" sz="1350" dirty="0">
                <a:solidFill>
                  <a:srgbClr val="F2F5F8"/>
                </a:solidFill>
                <a:latin typeface="微软雅黑" panose="020B0503020204020204" pitchFamily="34" charset="-122"/>
                <a:ea typeface="微软雅黑" panose="020B0503020204020204" pitchFamily="34" charset="-122"/>
                <a:cs typeface="Noto Sans Mono CJK SC" pitchFamily="34" charset="-120"/>
              </a:rPr>
              <a:t>    while not done:</a:t>
            </a:r>
            <a:endParaRPr lang="en-US" sz="1350" dirty="0">
              <a:latin typeface="微软雅黑" panose="020B0503020204020204" pitchFamily="34" charset="-122"/>
              <a:ea typeface="微软雅黑" panose="020B0503020204020204" pitchFamily="34" charset="-122"/>
            </a:endParaRPr>
          </a:p>
          <a:p>
            <a:pPr marL="0" indent="0">
              <a:buNone/>
            </a:pPr>
            <a:r>
              <a:rPr lang="en-US" sz="1350" dirty="0">
                <a:solidFill>
                  <a:srgbClr val="F2F5F8"/>
                </a:solidFill>
                <a:latin typeface="微软雅黑" panose="020B0503020204020204" pitchFamily="34" charset="-122"/>
                <a:ea typeface="微软雅黑" panose="020B0503020204020204" pitchFamily="34" charset="-122"/>
                <a:cs typeface="Noto Sans Mono CJK SC" pitchFamily="34" charset="-120"/>
              </a:rPr>
              <a:t>        action = policy.predict(obs)</a:t>
            </a:r>
            <a:endParaRPr lang="en-US" sz="1350" dirty="0">
              <a:latin typeface="微软雅黑" panose="020B0503020204020204" pitchFamily="34" charset="-122"/>
              <a:ea typeface="微软雅黑" panose="020B0503020204020204" pitchFamily="34" charset="-122"/>
            </a:endParaRPr>
          </a:p>
          <a:p>
            <a:pPr marL="0" indent="0">
              <a:buNone/>
            </a:pPr>
            <a:r>
              <a:rPr lang="en-US" sz="1350" dirty="0">
                <a:solidFill>
                  <a:srgbClr val="F2F5F8"/>
                </a:solidFill>
                <a:latin typeface="微软雅黑" panose="020B0503020204020204" pitchFamily="34" charset="-122"/>
                <a:ea typeface="微软雅黑" panose="020B0503020204020204" pitchFamily="34" charset="-122"/>
                <a:cs typeface="Noto Sans Mono CJK SC" pitchFamily="34" charset="-120"/>
              </a:rPr>
              <a:t>        obs, reward, done, info = env.step(action)</a:t>
            </a:r>
            <a:endParaRPr lang="en-US" sz="1350" dirty="0">
              <a:latin typeface="微软雅黑" panose="020B0503020204020204" pitchFamily="34" charset="-122"/>
              <a:ea typeface="微软雅黑" panose="020B0503020204020204" pitchFamily="34" charset="-122"/>
            </a:endParaRPr>
          </a:p>
          <a:p>
            <a:pPr marL="0" indent="0">
              <a:buNone/>
            </a:pPr>
            <a:r>
              <a:rPr lang="en-US" sz="1350" dirty="0">
                <a:solidFill>
                  <a:srgbClr val="F2F5F8"/>
                </a:solidFill>
                <a:latin typeface="微软雅黑" panose="020B0503020204020204" pitchFamily="34" charset="-122"/>
                <a:ea typeface="微软雅黑" panose="020B0503020204020204" pitchFamily="34" charset="-122"/>
                <a:cs typeface="Noto Sans Mono CJK SC" pitchFamily="34" charset="-120"/>
              </a:rPr>
              <a:t>    success_rate += info["success"]</a:t>
            </a:r>
            <a:endParaRPr lang="en-US" sz="1350" dirty="0">
              <a:latin typeface="微软雅黑" panose="020B0503020204020204" pitchFamily="34" charset="-122"/>
              <a:ea typeface="微软雅黑" panose="020B0503020204020204" pitchFamily="34" charset="-122"/>
            </a:endParaRPr>
          </a:p>
          <a:p>
            <a:pPr marL="0" indent="0">
              <a:buNone/>
            </a:pPr>
            <a:r>
              <a:rPr lang="en-US" sz="1350" dirty="0">
                <a:solidFill>
                  <a:srgbClr val="F2F5F8"/>
                </a:solidFill>
                <a:latin typeface="微软雅黑" panose="020B0503020204020204" pitchFamily="34" charset="-122"/>
                <a:ea typeface="微软雅黑" panose="020B0503020204020204" pitchFamily="34" charset="-122"/>
                <a:cs typeface="Noto Sans Mono CJK SC" pitchFamily="34" charset="-120"/>
              </a:rPr>
              <a:t>print(f"平均成功率：{success_rate / 10:.1%}")</a:t>
            </a:r>
            <a:endParaRPr lang="en-US" sz="135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117</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Noto Sans CJK SC" pitchFamily="34" charset="0"/>
                <a:ea typeface="Noto Sans CJK SC" pitchFamily="34" charset="-122"/>
                <a:cs typeface="Noto Sans CJK SC" pitchFamily="34" charset="-120"/>
              </a:rPr>
              <a:t>可视化单次执行：观察主从模仿效果</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1097280" y="1874520"/>
            <a:ext cx="6217920" cy="1417320"/>
          </a:xfrm>
          <a:prstGeom prst="roundRect">
            <a:avLst>
              <a:gd name="adj" fmla="val 2581"/>
            </a:avLst>
          </a:prstGeom>
          <a:solidFill>
            <a:srgbClr val="202631"/>
          </a:solidFill>
          <a:ln w="12700">
            <a:solidFill>
              <a:srgbClr val="202631"/>
            </a:solidFill>
            <a:prstDash val="solid"/>
          </a:ln>
          <a:effectLst>
            <a:outerShdw blurRad="15240" dist="5080" dir="2700000" algn="bl" rotWithShape="0">
              <a:srgbClr val="000000">
                <a:alpha val="10000"/>
              </a:srgbClr>
            </a:outerShdw>
          </a:effectLst>
        </p:spPr>
      </p:sp>
      <p:sp>
        <p:nvSpPr>
          <p:cNvPr id="5" name="Text 3"/>
          <p:cNvSpPr/>
          <p:nvPr/>
        </p:nvSpPr>
        <p:spPr>
          <a:xfrm>
            <a:off x="1353312" y="2075688"/>
            <a:ext cx="5705856" cy="310896"/>
          </a:xfrm>
          <a:prstGeom prst="rect">
            <a:avLst/>
          </a:prstGeom>
          <a:noFill/>
          <a:ln/>
        </p:spPr>
        <p:txBody>
          <a:bodyPr wrap="square" lIns="0" tIns="0" rIns="0" bIns="0" rtlCol="0" anchor="ctr"/>
          <a:lstStyle/>
          <a:p>
            <a:pPr marL="0" indent="0">
              <a:buNone/>
            </a:pPr>
            <a:r>
              <a:rPr lang="en-US" sz="1600" b="1" dirty="0">
                <a:solidFill>
                  <a:srgbClr val="DCE6F7"/>
                </a:solidFill>
                <a:latin typeface="Noto Sans CJK SC" pitchFamily="34" charset="0"/>
                <a:ea typeface="Noto Sans CJK SC" pitchFamily="34" charset="-122"/>
                <a:cs typeface="Noto Sans CJK SC" pitchFamily="34" charset="-120"/>
              </a:rPr>
              <a:t>生成执行视频</a:t>
            </a:r>
            <a:endParaRPr lang="en-US" sz="1600" dirty="0"/>
          </a:p>
        </p:txBody>
      </p:sp>
      <p:sp>
        <p:nvSpPr>
          <p:cNvPr id="6" name="Text 4"/>
          <p:cNvSpPr/>
          <p:nvPr/>
        </p:nvSpPr>
        <p:spPr>
          <a:xfrm>
            <a:off x="1353312" y="2532888"/>
            <a:ext cx="5705856" cy="548640"/>
          </a:xfrm>
          <a:prstGeom prst="rect">
            <a:avLst/>
          </a:prstGeom>
          <a:noFill/>
          <a:ln/>
        </p:spPr>
        <p:txBody>
          <a:bodyPr wrap="square" lIns="254" tIns="254" rIns="254" bIns="254" rtlCol="0" anchor="t">
            <a:normAutofit/>
          </a:bodyPr>
          <a:lstStyle/>
          <a:p>
            <a:pPr marL="0" indent="0">
              <a:buNone/>
            </a:pPr>
            <a:r>
              <a:rPr lang="en-US" sz="1800" dirty="0">
                <a:solidFill>
                  <a:srgbClr val="F2F5F8"/>
                </a:solidFill>
                <a:latin typeface="Noto Sans Mono CJK SC" pitchFamily="34" charset="0"/>
                <a:ea typeface="Noto Sans Mono CJK SC" pitchFamily="34" charset="-122"/>
                <a:cs typeface="Noto Sans Mono CJK SC" pitchFamily="34" charset="-120"/>
              </a:rPr>
              <a:t>env.render_video(policy)</a:t>
            </a:r>
            <a:endParaRPr lang="en-US" sz="1800" dirty="0"/>
          </a:p>
        </p:txBody>
      </p:sp>
      <p:sp>
        <p:nvSpPr>
          <p:cNvPr id="7" name="Shape 5"/>
          <p:cNvSpPr/>
          <p:nvPr/>
        </p:nvSpPr>
        <p:spPr>
          <a:xfrm>
            <a:off x="7726680" y="1783080"/>
            <a:ext cx="3429000" cy="1325880"/>
          </a:xfrm>
          <a:prstGeom prst="roundRect">
            <a:avLst>
              <a:gd name="adj" fmla="val 344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8" name="Shape 6"/>
          <p:cNvSpPr/>
          <p:nvPr/>
        </p:nvSpPr>
        <p:spPr>
          <a:xfrm>
            <a:off x="7726680" y="1783080"/>
            <a:ext cx="64008" cy="1325880"/>
          </a:xfrm>
          <a:prstGeom prst="rect">
            <a:avLst/>
          </a:prstGeom>
          <a:solidFill>
            <a:srgbClr val="31599B"/>
          </a:solidFill>
          <a:ln w="12700">
            <a:solidFill>
              <a:srgbClr val="31599B"/>
            </a:solidFill>
            <a:prstDash val="solid"/>
          </a:ln>
        </p:spPr>
      </p:sp>
      <p:sp>
        <p:nvSpPr>
          <p:cNvPr id="9" name="Text 7"/>
          <p:cNvSpPr/>
          <p:nvPr/>
        </p:nvSpPr>
        <p:spPr>
          <a:xfrm>
            <a:off x="7936992" y="1929384"/>
            <a:ext cx="3044952" cy="329184"/>
          </a:xfrm>
          <a:prstGeom prst="rect">
            <a:avLst/>
          </a:prstGeom>
          <a:noFill/>
          <a:ln/>
        </p:spPr>
        <p:txBody>
          <a:bodyPr wrap="square" lIns="0" tIns="0" rIns="0" bIns="0" rtlCol="0" anchor="ctr">
            <a:normAutofit/>
          </a:bodyPr>
          <a:lstStyle/>
          <a:p>
            <a:pPr marL="0" indent="0">
              <a:buNone/>
            </a:pPr>
            <a:r>
              <a:rPr lang="en-US" b="1" dirty="0">
                <a:solidFill>
                  <a:srgbClr val="31599B"/>
                </a:solidFill>
                <a:latin typeface="Noto Sans CJK SC" pitchFamily="34" charset="0"/>
                <a:ea typeface="Noto Sans CJK SC" pitchFamily="34" charset="-122"/>
                <a:cs typeface="Noto Sans CJK SC" pitchFamily="34" charset="-120"/>
              </a:rPr>
              <a:t>观察1</a:t>
            </a:r>
            <a:endParaRPr lang="en-US" dirty="0"/>
          </a:p>
        </p:txBody>
      </p:sp>
      <p:sp>
        <p:nvSpPr>
          <p:cNvPr id="10" name="Text 8"/>
          <p:cNvSpPr/>
          <p:nvPr/>
        </p:nvSpPr>
        <p:spPr>
          <a:xfrm>
            <a:off x="7936992" y="2350008"/>
            <a:ext cx="3044952" cy="612648"/>
          </a:xfrm>
          <a:prstGeom prst="rect">
            <a:avLst/>
          </a:prstGeom>
          <a:noFill/>
          <a:ln/>
        </p:spPr>
        <p:txBody>
          <a:bodyPr wrap="square" lIns="254" tIns="254" rIns="254" bIns="254" rtlCol="0" anchor="t">
            <a:normAutofit/>
          </a:bodyPr>
          <a:lstStyle/>
          <a:p>
            <a:pPr marL="0" indent="0">
              <a:buNone/>
            </a:pPr>
            <a:r>
              <a:rPr lang="en-US" dirty="0">
                <a:solidFill>
                  <a:srgbClr val="222833"/>
                </a:solidFill>
                <a:latin typeface="Noto Sans CJK SC" pitchFamily="34" charset="0"/>
                <a:ea typeface="Noto Sans CJK SC" pitchFamily="34" charset="-122"/>
                <a:cs typeface="Noto Sans CJK SC" pitchFamily="34" charset="-120"/>
              </a:rPr>
              <a:t>双臂动作是否流畅、是否接近专家轨迹。</a:t>
            </a:r>
            <a:endParaRPr lang="en-US" dirty="0"/>
          </a:p>
        </p:txBody>
      </p:sp>
      <p:sp>
        <p:nvSpPr>
          <p:cNvPr id="11" name="Shape 9"/>
          <p:cNvSpPr/>
          <p:nvPr/>
        </p:nvSpPr>
        <p:spPr>
          <a:xfrm>
            <a:off x="7726680" y="3337560"/>
            <a:ext cx="3429000" cy="1325880"/>
          </a:xfrm>
          <a:prstGeom prst="roundRect">
            <a:avLst>
              <a:gd name="adj" fmla="val 3448"/>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2" name="Shape 10"/>
          <p:cNvSpPr/>
          <p:nvPr/>
        </p:nvSpPr>
        <p:spPr>
          <a:xfrm>
            <a:off x="7726680" y="3337560"/>
            <a:ext cx="64008" cy="1325880"/>
          </a:xfrm>
          <a:prstGeom prst="rect">
            <a:avLst/>
          </a:prstGeom>
          <a:solidFill>
            <a:srgbClr val="2F8E72"/>
          </a:solidFill>
          <a:ln w="12700">
            <a:solidFill>
              <a:srgbClr val="2F8E72"/>
            </a:solidFill>
            <a:prstDash val="solid"/>
          </a:ln>
        </p:spPr>
      </p:sp>
      <p:sp>
        <p:nvSpPr>
          <p:cNvPr id="13" name="Text 11"/>
          <p:cNvSpPr/>
          <p:nvPr/>
        </p:nvSpPr>
        <p:spPr>
          <a:xfrm>
            <a:off x="7936992" y="3483864"/>
            <a:ext cx="3044952" cy="329184"/>
          </a:xfrm>
          <a:prstGeom prst="rect">
            <a:avLst/>
          </a:prstGeom>
          <a:noFill/>
          <a:ln/>
        </p:spPr>
        <p:txBody>
          <a:bodyPr wrap="square" lIns="0" tIns="0" rIns="0" bIns="0" rtlCol="0" anchor="ctr">
            <a:normAutofit/>
          </a:bodyPr>
          <a:lstStyle/>
          <a:p>
            <a:pPr marL="0" indent="0">
              <a:buNone/>
            </a:pPr>
            <a:r>
              <a:rPr lang="en-US" b="1" dirty="0">
                <a:solidFill>
                  <a:srgbClr val="2F8E72"/>
                </a:solidFill>
                <a:latin typeface="Noto Sans CJK SC" pitchFamily="34" charset="0"/>
                <a:ea typeface="Noto Sans CJK SC" pitchFamily="34" charset="-122"/>
                <a:cs typeface="Noto Sans CJK SC" pitchFamily="34" charset="-120"/>
              </a:rPr>
              <a:t>观察2</a:t>
            </a:r>
            <a:endParaRPr lang="en-US" dirty="0"/>
          </a:p>
        </p:txBody>
      </p:sp>
      <p:sp>
        <p:nvSpPr>
          <p:cNvPr id="14" name="Text 12"/>
          <p:cNvSpPr/>
          <p:nvPr/>
        </p:nvSpPr>
        <p:spPr>
          <a:xfrm>
            <a:off x="7936992" y="3904488"/>
            <a:ext cx="3044952" cy="612648"/>
          </a:xfrm>
          <a:prstGeom prst="rect">
            <a:avLst/>
          </a:prstGeom>
          <a:noFill/>
          <a:ln/>
        </p:spPr>
        <p:txBody>
          <a:bodyPr wrap="square" lIns="254" tIns="254" rIns="254" bIns="254" rtlCol="0" anchor="t">
            <a:normAutofit/>
          </a:bodyPr>
          <a:lstStyle/>
          <a:p>
            <a:pPr marL="0" indent="0">
              <a:buNone/>
            </a:pPr>
            <a:r>
              <a:rPr lang="en-US" dirty="0">
                <a:solidFill>
                  <a:srgbClr val="222833"/>
                </a:solidFill>
                <a:latin typeface="Noto Sans CJK SC" pitchFamily="34" charset="0"/>
                <a:ea typeface="Noto Sans CJK SC" pitchFamily="34" charset="-122"/>
                <a:cs typeface="Noto Sans CJK SC" pitchFamily="34" charset="-120"/>
              </a:rPr>
              <a:t>转移或插入任务是否在扰动下保持稳定。</a:t>
            </a:r>
            <a:endParaRPr lang="en-US" dirty="0"/>
          </a:p>
        </p:txBody>
      </p:sp>
      <p:sp>
        <p:nvSpPr>
          <p:cNvPr id="15" name="Shape 13"/>
          <p:cNvSpPr/>
          <p:nvPr/>
        </p:nvSpPr>
        <p:spPr>
          <a:xfrm>
            <a:off x="7726680" y="4892040"/>
            <a:ext cx="3429000" cy="1292352"/>
          </a:xfrm>
          <a:prstGeom prst="roundRect">
            <a:avLst>
              <a:gd name="adj" fmla="val 4762"/>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16" name="Shape 14"/>
          <p:cNvSpPr/>
          <p:nvPr/>
        </p:nvSpPr>
        <p:spPr>
          <a:xfrm>
            <a:off x="7726680" y="4892040"/>
            <a:ext cx="64008" cy="1292352"/>
          </a:xfrm>
          <a:prstGeom prst="rect">
            <a:avLst/>
          </a:prstGeom>
          <a:solidFill>
            <a:srgbClr val="C58A24"/>
          </a:solidFill>
          <a:ln w="12700">
            <a:solidFill>
              <a:srgbClr val="C58A24"/>
            </a:solidFill>
            <a:prstDash val="solid"/>
          </a:ln>
        </p:spPr>
      </p:sp>
      <p:sp>
        <p:nvSpPr>
          <p:cNvPr id="17" name="Text 15"/>
          <p:cNvSpPr/>
          <p:nvPr/>
        </p:nvSpPr>
        <p:spPr>
          <a:xfrm>
            <a:off x="7936992" y="5038344"/>
            <a:ext cx="3044952" cy="329184"/>
          </a:xfrm>
          <a:prstGeom prst="rect">
            <a:avLst/>
          </a:prstGeom>
          <a:noFill/>
          <a:ln/>
        </p:spPr>
        <p:txBody>
          <a:bodyPr wrap="square" lIns="0" tIns="0" rIns="0" bIns="0" rtlCol="0" anchor="ctr">
            <a:normAutofit/>
          </a:bodyPr>
          <a:lstStyle/>
          <a:p>
            <a:pPr marL="0" indent="0">
              <a:buNone/>
            </a:pPr>
            <a:r>
              <a:rPr lang="en-US" b="1" dirty="0">
                <a:solidFill>
                  <a:srgbClr val="C58A24"/>
                </a:solidFill>
                <a:latin typeface="Noto Sans CJK SC" pitchFamily="34" charset="0"/>
                <a:ea typeface="Noto Sans CJK SC" pitchFamily="34" charset="-122"/>
                <a:cs typeface="Noto Sans CJK SC" pitchFamily="34" charset="-120"/>
              </a:rPr>
              <a:t>指标</a:t>
            </a:r>
            <a:endParaRPr lang="en-US" dirty="0"/>
          </a:p>
        </p:txBody>
      </p:sp>
      <p:sp>
        <p:nvSpPr>
          <p:cNvPr id="18" name="Text 16"/>
          <p:cNvSpPr/>
          <p:nvPr/>
        </p:nvSpPr>
        <p:spPr>
          <a:xfrm>
            <a:off x="7936992" y="5458968"/>
            <a:ext cx="3044952" cy="246888"/>
          </a:xfrm>
          <a:prstGeom prst="rect">
            <a:avLst/>
          </a:prstGeom>
          <a:noFill/>
          <a:ln/>
        </p:spPr>
        <p:txBody>
          <a:bodyPr wrap="square" lIns="254" tIns="254" rIns="254" bIns="254" rtlCol="0" anchor="t">
            <a:noAutofit/>
          </a:bodyPr>
          <a:lstStyle/>
          <a:p>
            <a:pPr marL="0" indent="0">
              <a:buNone/>
            </a:pPr>
            <a:r>
              <a:rPr lang="en-US" dirty="0">
                <a:solidFill>
                  <a:srgbClr val="222833"/>
                </a:solidFill>
                <a:latin typeface="Noto Sans CJK SC" pitchFamily="34" charset="0"/>
                <a:ea typeface="Noto Sans CJK SC" pitchFamily="34" charset="-122"/>
                <a:cs typeface="Noto Sans CJK SC" pitchFamily="34" charset="-120"/>
              </a:rPr>
              <a:t>成功率 + 轨迹可视化共同评价策略。</a:t>
            </a:r>
            <a:endParaRPr lang="en-US"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Noto Sans CJK SC" pitchFamily="34" charset="0"/>
                <a:ea typeface="Noto Sans CJK SC" pitchFamily="34" charset="-122"/>
                <a:cs typeface="Noto Sans CJK SC" pitchFamily="34" charset="-120"/>
              </a:rPr>
              <a:t>实验结果</a:t>
            </a:r>
            <a:endParaRPr lang="en-US" sz="3500" dirty="0"/>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2F8E72"/>
          </a:solidFill>
          <a:ln w="12700">
            <a:solidFill>
              <a:srgbClr val="2F8E72"/>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000" b="1" dirty="0" err="1">
                <a:solidFill>
                  <a:srgbClr val="2F8E72"/>
                </a:solidFill>
                <a:latin typeface="Noto Sans CJK SC" pitchFamily="34" charset="0"/>
                <a:ea typeface="Noto Sans CJK SC" pitchFamily="34" charset="-122"/>
                <a:cs typeface="Noto Sans CJK SC" pitchFamily="34" charset="-120"/>
              </a:rPr>
              <a:t>典型结果</a:t>
            </a:r>
            <a:endParaRPr lang="en-US" sz="2000" dirty="0"/>
          </a:p>
        </p:txBody>
      </p:sp>
      <p:sp>
        <p:nvSpPr>
          <p:cNvPr id="7" name="Text 5"/>
          <p:cNvSpPr/>
          <p:nvPr/>
        </p:nvSpPr>
        <p:spPr>
          <a:xfrm>
            <a:off x="987552" y="2231136"/>
            <a:ext cx="4690872" cy="280720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Noto Sans CJK SC" pitchFamily="34" charset="0"/>
                <a:ea typeface="Noto Sans CJK SC" pitchFamily="34" charset="-122"/>
                <a:cs typeface="Noto Sans CJK SC" pitchFamily="34" charset="-120"/>
              </a:rPr>
              <a:t>训练后策略成功率通常达到 80%–95%，双臂动作流畅且高度贴近主从遥操作专家演示。</a:t>
            </a:r>
            <a:endParaRPr lang="en-US" sz="2000" dirty="0"/>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31599B"/>
          </a:solidFill>
          <a:ln w="12700">
            <a:solidFill>
              <a:srgbClr val="31599B"/>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000" b="1" dirty="0">
                <a:solidFill>
                  <a:srgbClr val="31599B"/>
                </a:solidFill>
                <a:latin typeface="Noto Sans CJK SC" pitchFamily="34" charset="0"/>
                <a:ea typeface="Noto Sans CJK SC" pitchFamily="34" charset="-122"/>
                <a:cs typeface="Noto Sans CJK SC" pitchFamily="34" charset="-120"/>
              </a:rPr>
              <a:t>说明</a:t>
            </a:r>
            <a:endParaRPr lang="en-US" sz="2000" dirty="0"/>
          </a:p>
        </p:txBody>
      </p:sp>
      <p:sp>
        <p:nvSpPr>
          <p:cNvPr id="11" name="Text 9"/>
          <p:cNvSpPr/>
          <p:nvPr/>
        </p:nvSpPr>
        <p:spPr>
          <a:xfrm>
            <a:off x="6382512" y="2231136"/>
            <a:ext cx="4690872" cy="2807208"/>
          </a:xfrm>
          <a:prstGeom prst="rect">
            <a:avLst/>
          </a:prstGeom>
          <a:noFill/>
          <a:ln/>
        </p:spPr>
        <p:txBody>
          <a:bodyPr wrap="square" lIns="254" tIns="254" rIns="254" bIns="254" rtlCol="0" anchor="t">
            <a:normAutofit/>
          </a:bodyPr>
          <a:lstStyle/>
          <a:p>
            <a:pPr marL="0" indent="0">
              <a:buNone/>
            </a:pPr>
            <a:r>
              <a:rPr lang="en-US" sz="2000" dirty="0">
                <a:solidFill>
                  <a:srgbClr val="222833"/>
                </a:solidFill>
                <a:latin typeface="Noto Sans CJK SC" pitchFamily="34" charset="0"/>
                <a:ea typeface="Noto Sans CJK SC" pitchFamily="34" charset="-122"/>
                <a:cs typeface="Noto Sans CJK SC" pitchFamily="34" charset="-120"/>
              </a:rPr>
              <a:t>高质量遥操作数据 + ACT 行为克隆能够以较低数据成本学习双臂精细操作策略。</a:t>
            </a:r>
            <a:endParaRPr lang="en-US" sz="2000" dirty="0"/>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err="1">
                <a:solidFill>
                  <a:srgbClr val="24477D"/>
                </a:solidFill>
                <a:latin typeface="微软雅黑" panose="020B0503020204020204" pitchFamily="34" charset="-122"/>
                <a:ea typeface="微软雅黑" panose="020B0503020204020204" pitchFamily="34" charset="-122"/>
                <a:cs typeface="Noto Sans CJK SC" pitchFamily="34" charset="-120"/>
              </a:rPr>
              <a:t>实践</a:t>
            </a:r>
            <a:r>
              <a:rPr lang="zh-CN" alt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分析</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7724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5" name="Shape 3"/>
          <p:cNvSpPr/>
          <p:nvPr/>
        </p:nvSpPr>
        <p:spPr>
          <a:xfrm>
            <a:off x="777240" y="1664208"/>
            <a:ext cx="64008" cy="3520440"/>
          </a:xfrm>
          <a:prstGeom prst="rect">
            <a:avLst/>
          </a:prstGeom>
          <a:solidFill>
            <a:srgbClr val="2F8E72"/>
          </a:solidFill>
          <a:ln w="12700">
            <a:solidFill>
              <a:srgbClr val="2F8E72"/>
            </a:solidFill>
            <a:prstDash val="solid"/>
          </a:ln>
        </p:spPr>
      </p:sp>
      <p:sp>
        <p:nvSpPr>
          <p:cNvPr id="6" name="Text 4"/>
          <p:cNvSpPr/>
          <p:nvPr/>
        </p:nvSpPr>
        <p:spPr>
          <a:xfrm>
            <a:off x="98755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2F8E72"/>
                </a:solidFill>
                <a:latin typeface="微软雅黑" panose="020B0503020204020204" pitchFamily="34" charset="-122"/>
                <a:ea typeface="微软雅黑" panose="020B0503020204020204" pitchFamily="34" charset="-122"/>
                <a:cs typeface="Noto Sans CJK SC" pitchFamily="34" charset="-120"/>
              </a:rPr>
              <a:t>优势</a:t>
            </a:r>
            <a:endParaRPr lang="en-US" sz="2400" dirty="0">
              <a:latin typeface="微软雅黑" panose="020B0503020204020204" pitchFamily="34" charset="-122"/>
              <a:ea typeface="微软雅黑" panose="020B0503020204020204" pitchFamily="34" charset="-122"/>
            </a:endParaRPr>
          </a:p>
        </p:txBody>
      </p:sp>
      <p:sp>
        <p:nvSpPr>
          <p:cNvPr id="7" name="Text 5"/>
          <p:cNvSpPr/>
          <p:nvPr/>
        </p:nvSpPr>
        <p:spPr>
          <a:xfrm>
            <a:off x="987552" y="262737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训练流程简单、高效，不需要显式奖励函数，适合直接利用高质量专家演示。</a:t>
            </a:r>
            <a:endParaRPr lang="en-US" sz="2400" dirty="0">
              <a:latin typeface="微软雅黑" panose="020B0503020204020204" pitchFamily="34" charset="-122"/>
              <a:ea typeface="微软雅黑" panose="020B0503020204020204" pitchFamily="34" charset="-122"/>
            </a:endParaRPr>
          </a:p>
        </p:txBody>
      </p:sp>
      <p:sp>
        <p:nvSpPr>
          <p:cNvPr id="8" name="Shape 6"/>
          <p:cNvSpPr/>
          <p:nvPr/>
        </p:nvSpPr>
        <p:spPr>
          <a:xfrm>
            <a:off x="6172200" y="1664208"/>
            <a:ext cx="5074920" cy="3520440"/>
          </a:xfrm>
          <a:prstGeom prst="roundRect">
            <a:avLst>
              <a:gd name="adj" fmla="val 1299"/>
            </a:avLst>
          </a:prstGeom>
          <a:solidFill>
            <a:srgbClr val="FFFFFF"/>
          </a:solidFill>
          <a:ln w="12700">
            <a:solidFill>
              <a:srgbClr val="E0E5ED"/>
            </a:solidFill>
            <a:prstDash val="solid"/>
          </a:ln>
          <a:effectLst>
            <a:outerShdw blurRad="12700" dist="4064" dir="2700000" algn="bl" rotWithShape="0">
              <a:srgbClr val="000000">
                <a:alpha val="7000"/>
              </a:srgbClr>
            </a:outerShdw>
          </a:effectLst>
        </p:spPr>
      </p:sp>
      <p:sp>
        <p:nvSpPr>
          <p:cNvPr id="9" name="Shape 7"/>
          <p:cNvSpPr/>
          <p:nvPr/>
        </p:nvSpPr>
        <p:spPr>
          <a:xfrm>
            <a:off x="6172200" y="1664208"/>
            <a:ext cx="64008" cy="3520440"/>
          </a:xfrm>
          <a:prstGeom prst="rect">
            <a:avLst/>
          </a:prstGeom>
          <a:solidFill>
            <a:srgbClr val="C63F45"/>
          </a:solidFill>
          <a:ln w="12700">
            <a:solidFill>
              <a:srgbClr val="C63F45"/>
            </a:solidFill>
            <a:prstDash val="solid"/>
          </a:ln>
        </p:spPr>
      </p:sp>
      <p:sp>
        <p:nvSpPr>
          <p:cNvPr id="10" name="Text 8"/>
          <p:cNvSpPr/>
          <p:nvPr/>
        </p:nvSpPr>
        <p:spPr>
          <a:xfrm>
            <a:off x="6382512" y="1810512"/>
            <a:ext cx="4690872" cy="329184"/>
          </a:xfrm>
          <a:prstGeom prst="rect">
            <a:avLst/>
          </a:prstGeom>
          <a:noFill/>
          <a:ln/>
        </p:spPr>
        <p:txBody>
          <a:bodyPr wrap="square" lIns="0" tIns="0" rIns="0" bIns="0" rtlCol="0" anchor="ctr">
            <a:noAutofit/>
          </a:bodyPr>
          <a:lstStyle/>
          <a:p>
            <a:pPr marL="0" indent="0">
              <a:buNone/>
            </a:pPr>
            <a:r>
              <a:rPr lang="en-US" sz="2400" b="1" dirty="0">
                <a:solidFill>
                  <a:srgbClr val="C63F45"/>
                </a:solidFill>
                <a:latin typeface="微软雅黑" panose="020B0503020204020204" pitchFamily="34" charset="-122"/>
                <a:ea typeface="微软雅黑" panose="020B0503020204020204" pitchFamily="34" charset="-122"/>
                <a:cs typeface="Noto Sans CJK SC" pitchFamily="34" charset="-120"/>
              </a:rPr>
              <a:t>局限</a:t>
            </a:r>
            <a:endParaRPr lang="en-US" sz="2400" dirty="0">
              <a:latin typeface="微软雅黑" panose="020B0503020204020204" pitchFamily="34" charset="-122"/>
              <a:ea typeface="微软雅黑" panose="020B0503020204020204" pitchFamily="34" charset="-122"/>
            </a:endParaRPr>
          </a:p>
        </p:txBody>
      </p:sp>
      <p:sp>
        <p:nvSpPr>
          <p:cNvPr id="11" name="Text 9"/>
          <p:cNvSpPr/>
          <p:nvPr/>
        </p:nvSpPr>
        <p:spPr>
          <a:xfrm>
            <a:off x="6382512" y="2627376"/>
            <a:ext cx="4690872" cy="2807208"/>
          </a:xfrm>
          <a:prstGeom prst="rect">
            <a:avLst/>
          </a:prstGeom>
          <a:noFill/>
          <a:ln/>
        </p:spPr>
        <p:txBody>
          <a:bodyPr wrap="square" lIns="254" tIns="254" rIns="254" bIns="254" rtlCol="0" anchor="t">
            <a:normAutofit/>
          </a:bodyPr>
          <a:lstStyle/>
          <a:p>
            <a:pPr marL="0" indent="0">
              <a:buNone/>
            </a:pPr>
            <a:r>
              <a:rPr lang="en-US" sz="2400" dirty="0">
                <a:solidFill>
                  <a:srgbClr val="222833"/>
                </a:solidFill>
                <a:latin typeface="微软雅黑" panose="020B0503020204020204" pitchFamily="34" charset="-122"/>
                <a:ea typeface="微软雅黑" panose="020B0503020204020204" pitchFamily="34" charset="-122"/>
                <a:cs typeface="Noto Sans CJK SC" pitchFamily="34" charset="-120"/>
              </a:rPr>
              <a:t>若加入扰动或进入新场景，策略可能发生分布漂移，需要结合 DAgger 等方法进一步改进。</a:t>
            </a:r>
            <a:endParaRPr lang="en-US" sz="24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120</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从仿真到真实 ALOHA / Mobile ALOHA</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20240"/>
            <a:ext cx="2560320" cy="1417320"/>
          </a:xfrm>
          <a:prstGeom prst="roundRect">
            <a:avLst>
              <a:gd name="adj" fmla="val 2581"/>
            </a:avLst>
          </a:prstGeom>
          <a:solidFill>
            <a:srgbClr val="EDF2FA"/>
          </a:solidFill>
          <a:ln w="12700">
            <a:solidFill>
              <a:srgbClr val="DDE3EC"/>
            </a:solidFill>
            <a:prstDash val="solid"/>
          </a:ln>
        </p:spPr>
      </p:sp>
      <p:sp>
        <p:nvSpPr>
          <p:cNvPr id="6" name="Text 4"/>
          <p:cNvSpPr/>
          <p:nvPr/>
        </p:nvSpPr>
        <p:spPr>
          <a:xfrm>
            <a:off x="850392" y="2060448"/>
            <a:ext cx="1810512" cy="310896"/>
          </a:xfrm>
          <a:prstGeom prst="rect">
            <a:avLst/>
          </a:prstGeom>
          <a:noFill/>
          <a:ln/>
        </p:spPr>
        <p:txBody>
          <a:bodyPr wrap="square" lIns="0" tIns="0" rIns="0" bIns="0" rtlCol="0" anchor="ctr">
            <a:normAutofit/>
          </a:bodyPr>
          <a:lstStyle/>
          <a:p>
            <a:pPr marL="0" indent="0">
              <a:buNone/>
            </a:pPr>
            <a:r>
              <a:rPr lang="en-US" sz="1600" b="1" dirty="0">
                <a:solidFill>
                  <a:srgbClr val="31599B"/>
                </a:solidFill>
                <a:latin typeface="微软雅黑" panose="020B0503020204020204" pitchFamily="34" charset="-122"/>
                <a:ea typeface="微软雅黑" panose="020B0503020204020204" pitchFamily="34" charset="-122"/>
                <a:cs typeface="Noto Sans CJK SC" pitchFamily="34" charset="-120"/>
              </a:rPr>
              <a:t>真实演示</a:t>
            </a:r>
            <a:endParaRPr lang="en-US" sz="1600" dirty="0">
              <a:latin typeface="微软雅黑" panose="020B0503020204020204" pitchFamily="34" charset="-122"/>
              <a:ea typeface="微软雅黑" panose="020B0503020204020204" pitchFamily="34" charset="-122"/>
            </a:endParaRPr>
          </a:p>
        </p:txBody>
      </p:sp>
      <p:sp>
        <p:nvSpPr>
          <p:cNvPr id="7" name="Text 5"/>
          <p:cNvSpPr/>
          <p:nvPr/>
        </p:nvSpPr>
        <p:spPr>
          <a:xfrm>
            <a:off x="877824" y="2542032"/>
            <a:ext cx="2231136" cy="566928"/>
          </a:xfrm>
          <a:prstGeom prst="rect">
            <a:avLst/>
          </a:prstGeom>
          <a:noFill/>
          <a:ln/>
        </p:spPr>
        <p:txBody>
          <a:bodyPr wrap="square" lIns="0" tIns="0" rIns="0" bIns="0" rtlCol="0" anchor="ctr">
            <a:norm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Leader—Follower </a:t>
            </a: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主从控制采集专家轨迹</a:t>
            </a:r>
            <a:endParaRPr lang="en-US" dirty="0">
              <a:latin typeface="微软雅黑" panose="020B0503020204020204" pitchFamily="34" charset="-122"/>
              <a:ea typeface="微软雅黑" panose="020B0503020204020204" pitchFamily="34" charset="-122"/>
            </a:endParaRPr>
          </a:p>
        </p:txBody>
      </p:sp>
      <p:sp>
        <p:nvSpPr>
          <p:cNvPr id="8" name="Shape 6"/>
          <p:cNvSpPr/>
          <p:nvPr/>
        </p:nvSpPr>
        <p:spPr>
          <a:xfrm>
            <a:off x="3328416" y="2414016"/>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20240"/>
            <a:ext cx="2560320" cy="1417320"/>
          </a:xfrm>
          <a:prstGeom prst="roundRect">
            <a:avLst>
              <a:gd name="adj" fmla="val 2581"/>
            </a:avLst>
          </a:prstGeom>
          <a:solidFill>
            <a:srgbClr val="EAF5F1"/>
          </a:solidFill>
          <a:ln w="12700">
            <a:solidFill>
              <a:srgbClr val="DDE3EC"/>
            </a:solidFill>
            <a:prstDash val="solid"/>
          </a:ln>
        </p:spPr>
      </p:sp>
      <p:sp>
        <p:nvSpPr>
          <p:cNvPr id="11" name="Text 9"/>
          <p:cNvSpPr/>
          <p:nvPr/>
        </p:nvSpPr>
        <p:spPr>
          <a:xfrm>
            <a:off x="3550158" y="2084832"/>
            <a:ext cx="1810512" cy="310896"/>
          </a:xfrm>
          <a:prstGeom prst="rect">
            <a:avLst/>
          </a:prstGeom>
          <a:noFill/>
          <a:ln/>
        </p:spPr>
        <p:txBody>
          <a:bodyPr wrap="square" lIns="0" tIns="0" rIns="0" bIns="0" rtlCol="0" anchor="ctr">
            <a:normAutofit/>
          </a:bodyPr>
          <a:lstStyle/>
          <a:p>
            <a:pPr marL="0" indent="0">
              <a:buNone/>
            </a:pPr>
            <a:r>
              <a:rPr lang="en-US" sz="1600" b="1" dirty="0">
                <a:solidFill>
                  <a:srgbClr val="2F8E72"/>
                </a:solidFill>
                <a:latin typeface="微软雅黑" panose="020B0503020204020204" pitchFamily="34" charset="-122"/>
                <a:ea typeface="微软雅黑" panose="020B0503020204020204" pitchFamily="34" charset="-122"/>
                <a:cs typeface="Noto Sans CJK SC" pitchFamily="34" charset="-120"/>
              </a:rPr>
              <a:t>策略训练</a:t>
            </a:r>
            <a:endParaRPr lang="en-US" sz="1600" dirty="0">
              <a:latin typeface="微软雅黑" panose="020B0503020204020204" pitchFamily="34" charset="-122"/>
              <a:ea typeface="微软雅黑" panose="020B0503020204020204" pitchFamily="34" charset="-122"/>
            </a:endParaRPr>
          </a:p>
        </p:txBody>
      </p:sp>
      <p:sp>
        <p:nvSpPr>
          <p:cNvPr id="12" name="Text 10"/>
          <p:cNvSpPr/>
          <p:nvPr/>
        </p:nvSpPr>
        <p:spPr>
          <a:xfrm>
            <a:off x="3563874" y="2542032"/>
            <a:ext cx="2231136" cy="566928"/>
          </a:xfrm>
          <a:prstGeom prst="rect">
            <a:avLst/>
          </a:prstGeom>
          <a:noFill/>
          <a:ln/>
        </p:spPr>
        <p:txBody>
          <a:bodyPr wrap="square" lIns="0" tIns="0" rIns="0" bIns="0" rtlCol="0" anchor="ctr">
            <a:norm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ACT </a:t>
            </a: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行为克隆学习双臂长时序操作</a:t>
            </a:r>
            <a:endParaRPr lang="en-US" dirty="0">
              <a:latin typeface="微软雅黑" panose="020B0503020204020204" pitchFamily="34" charset="-122"/>
              <a:ea typeface="微软雅黑" panose="020B0503020204020204" pitchFamily="34" charset="-122"/>
            </a:endParaRPr>
          </a:p>
        </p:txBody>
      </p:sp>
      <p:sp>
        <p:nvSpPr>
          <p:cNvPr id="13" name="Shape 11"/>
          <p:cNvSpPr/>
          <p:nvPr/>
        </p:nvSpPr>
        <p:spPr>
          <a:xfrm>
            <a:off x="6014466" y="2414016"/>
            <a:ext cx="347472" cy="438912"/>
          </a:xfrm>
          <a:prstGeom prst="chevron">
            <a:avLst/>
          </a:prstGeom>
          <a:solidFill>
            <a:srgbClr val="D8E2F1"/>
          </a:solidFill>
          <a:ln w="12700">
            <a:solidFill>
              <a:srgbClr val="D8E2F1"/>
            </a:solidFill>
            <a:prstDash val="solid"/>
          </a:ln>
        </p:spPr>
      </p:sp>
      <p:sp>
        <p:nvSpPr>
          <p:cNvPr id="14" name="Shape 12"/>
          <p:cNvSpPr/>
          <p:nvPr/>
        </p:nvSpPr>
        <p:spPr>
          <a:xfrm>
            <a:off x="6085332" y="1920240"/>
            <a:ext cx="2560320" cy="1417320"/>
          </a:xfrm>
          <a:prstGeom prst="roundRect">
            <a:avLst>
              <a:gd name="adj" fmla="val 2581"/>
            </a:avLst>
          </a:prstGeom>
          <a:solidFill>
            <a:srgbClr val="FFF4DE"/>
          </a:solidFill>
          <a:ln w="12700">
            <a:solidFill>
              <a:srgbClr val="DDE3EC"/>
            </a:solidFill>
            <a:prstDash val="solid"/>
          </a:ln>
        </p:spPr>
      </p:sp>
      <p:sp>
        <p:nvSpPr>
          <p:cNvPr id="16" name="Text 14"/>
          <p:cNvSpPr/>
          <p:nvPr/>
        </p:nvSpPr>
        <p:spPr>
          <a:xfrm>
            <a:off x="6361938" y="2065528"/>
            <a:ext cx="1810512" cy="310896"/>
          </a:xfrm>
          <a:prstGeom prst="rect">
            <a:avLst/>
          </a:prstGeom>
          <a:noFill/>
          <a:ln/>
        </p:spPr>
        <p:txBody>
          <a:bodyPr wrap="square" lIns="0" tIns="0" rIns="0" bIns="0" rtlCol="0" anchor="ctr">
            <a:normAutofit/>
          </a:bodyPr>
          <a:lstStyle/>
          <a:p>
            <a:pPr marL="0" indent="0">
              <a:buNone/>
            </a:pPr>
            <a:r>
              <a:rPr lang="en-US" sz="1600" b="1" dirty="0">
                <a:solidFill>
                  <a:srgbClr val="C58A24"/>
                </a:solidFill>
                <a:latin typeface="微软雅黑" panose="020B0503020204020204" pitchFamily="34" charset="-122"/>
                <a:ea typeface="微软雅黑" panose="020B0503020204020204" pitchFamily="34" charset="-122"/>
                <a:cs typeface="Noto Sans CJK SC" pitchFamily="34" charset="-120"/>
              </a:rPr>
              <a:t>仿真评估</a:t>
            </a:r>
            <a:endParaRPr lang="en-US" sz="1600" dirty="0">
              <a:latin typeface="微软雅黑" panose="020B0503020204020204" pitchFamily="34" charset="-122"/>
              <a:ea typeface="微软雅黑" panose="020B0503020204020204" pitchFamily="34" charset="-122"/>
            </a:endParaRPr>
          </a:p>
        </p:txBody>
      </p:sp>
      <p:sp>
        <p:nvSpPr>
          <p:cNvPr id="17" name="Text 15"/>
          <p:cNvSpPr/>
          <p:nvPr/>
        </p:nvSpPr>
        <p:spPr>
          <a:xfrm>
            <a:off x="6249924" y="2542032"/>
            <a:ext cx="2231136" cy="566928"/>
          </a:xfrm>
          <a:prstGeom prst="rect">
            <a:avLst/>
          </a:prstGeom>
          <a:noFill/>
          <a:ln/>
        </p:spPr>
        <p:txBody>
          <a:bodyPr wrap="square" lIns="0" tIns="0" rIns="0" bIns="0" rtlCol="0" anchor="ctr">
            <a:normAutofit/>
          </a:bodyPr>
          <a:lstStyle/>
          <a:p>
            <a:pPr marL="0" indent="0" algn="ctr">
              <a:buNone/>
            </a:pPr>
            <a:r>
              <a:rPr lang="en-US" dirty="0" err="1">
                <a:solidFill>
                  <a:srgbClr val="222833"/>
                </a:solidFill>
                <a:latin typeface="微软雅黑" panose="020B0503020204020204" pitchFamily="34" charset="-122"/>
                <a:ea typeface="微软雅黑" panose="020B0503020204020204" pitchFamily="34" charset="-122"/>
                <a:cs typeface="Noto Sans CJK SC" pitchFamily="34" charset="-120"/>
              </a:rPr>
              <a:t>闭环执行并统计成功率</a:t>
            </a:r>
            <a:endParaRPr lang="en-US" dirty="0">
              <a:latin typeface="微软雅黑" panose="020B0503020204020204" pitchFamily="34" charset="-122"/>
              <a:ea typeface="微软雅黑" panose="020B0503020204020204" pitchFamily="34" charset="-122"/>
            </a:endParaRPr>
          </a:p>
        </p:txBody>
      </p:sp>
      <p:sp>
        <p:nvSpPr>
          <p:cNvPr id="18" name="Shape 16"/>
          <p:cNvSpPr/>
          <p:nvPr/>
        </p:nvSpPr>
        <p:spPr>
          <a:xfrm>
            <a:off x="8700516" y="2414016"/>
            <a:ext cx="347472" cy="438912"/>
          </a:xfrm>
          <a:prstGeom prst="chevron">
            <a:avLst/>
          </a:prstGeom>
          <a:solidFill>
            <a:srgbClr val="D8E2F1"/>
          </a:solidFill>
          <a:ln w="12700">
            <a:solidFill>
              <a:srgbClr val="D8E2F1"/>
            </a:solidFill>
            <a:prstDash val="solid"/>
          </a:ln>
        </p:spPr>
      </p:sp>
      <p:sp>
        <p:nvSpPr>
          <p:cNvPr id="19" name="Shape 17"/>
          <p:cNvSpPr/>
          <p:nvPr/>
        </p:nvSpPr>
        <p:spPr>
          <a:xfrm>
            <a:off x="8771382" y="1920240"/>
            <a:ext cx="2560320" cy="1417320"/>
          </a:xfrm>
          <a:prstGeom prst="roundRect">
            <a:avLst>
              <a:gd name="adj" fmla="val 2581"/>
            </a:avLst>
          </a:prstGeom>
          <a:solidFill>
            <a:srgbClr val="FDECEE"/>
          </a:solidFill>
          <a:ln w="12700">
            <a:solidFill>
              <a:srgbClr val="DDE3EC"/>
            </a:solidFill>
            <a:prstDash val="solid"/>
          </a:ln>
        </p:spPr>
      </p:sp>
      <p:sp>
        <p:nvSpPr>
          <p:cNvPr id="21" name="Text 19"/>
          <p:cNvSpPr/>
          <p:nvPr/>
        </p:nvSpPr>
        <p:spPr>
          <a:xfrm>
            <a:off x="8935974" y="2084832"/>
            <a:ext cx="1810512" cy="310896"/>
          </a:xfrm>
          <a:prstGeom prst="rect">
            <a:avLst/>
          </a:prstGeom>
          <a:noFill/>
          <a:ln/>
        </p:spPr>
        <p:txBody>
          <a:bodyPr wrap="square" lIns="0" tIns="0" rIns="0" bIns="0" rtlCol="0" anchor="ctr">
            <a:normAutofit/>
          </a:bodyPr>
          <a:lstStyle/>
          <a:p>
            <a:pPr marL="0" indent="0">
              <a:buNone/>
            </a:pPr>
            <a:r>
              <a:rPr lang="en-US" sz="1600" b="1" dirty="0">
                <a:solidFill>
                  <a:srgbClr val="C63F45"/>
                </a:solidFill>
                <a:latin typeface="微软雅黑" panose="020B0503020204020204" pitchFamily="34" charset="-122"/>
                <a:ea typeface="微软雅黑" panose="020B0503020204020204" pitchFamily="34" charset="-122"/>
                <a:cs typeface="Noto Sans CJK SC" pitchFamily="34" charset="-120"/>
              </a:rPr>
              <a:t>真实迁移</a:t>
            </a:r>
            <a:endParaRPr lang="en-US" sz="1600" dirty="0">
              <a:latin typeface="微软雅黑" panose="020B0503020204020204" pitchFamily="34" charset="-122"/>
              <a:ea typeface="微软雅黑" panose="020B0503020204020204" pitchFamily="34" charset="-122"/>
            </a:endParaRPr>
          </a:p>
        </p:txBody>
      </p:sp>
      <p:sp>
        <p:nvSpPr>
          <p:cNvPr id="22" name="Text 20"/>
          <p:cNvSpPr/>
          <p:nvPr/>
        </p:nvSpPr>
        <p:spPr>
          <a:xfrm>
            <a:off x="8935974" y="2542032"/>
            <a:ext cx="2231136" cy="566928"/>
          </a:xfrm>
          <a:prstGeom prst="rect">
            <a:avLst/>
          </a:prstGeom>
          <a:noFill/>
          <a:ln/>
        </p:spPr>
        <p:txBody>
          <a:bodyPr wrap="square" lIns="0" tIns="0" rIns="0" bIns="0" rtlCol="0" anchor="ctr">
            <a:normAutofit fontScale="92500" lnSpcReduction="20000"/>
          </a:bodyPr>
          <a:lstStyle/>
          <a:p>
            <a:pPr marL="0" indent="0" algn="ctr">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训练模型可进一步迁移到 Mobile ALOHA </a:t>
            </a:r>
            <a:r>
              <a:rPr lang="en-US" sz="1600" dirty="0" err="1">
                <a:solidFill>
                  <a:srgbClr val="222833"/>
                </a:solidFill>
                <a:latin typeface="微软雅黑" panose="020B0503020204020204" pitchFamily="34" charset="-122"/>
                <a:ea typeface="微软雅黑" panose="020B0503020204020204" pitchFamily="34" charset="-122"/>
                <a:cs typeface="Noto Sans CJK SC" pitchFamily="34" charset="-120"/>
              </a:rPr>
              <a:t>等真实平台</a:t>
            </a:r>
            <a:endParaRPr lang="en-US" sz="1600" dirty="0">
              <a:latin typeface="微软雅黑" panose="020B0503020204020204" pitchFamily="34" charset="-122"/>
              <a:ea typeface="微软雅黑" panose="020B0503020204020204" pitchFamily="34" charset="-122"/>
            </a:endParaRPr>
          </a:p>
        </p:txBody>
      </p:sp>
      <p:sp>
        <p:nvSpPr>
          <p:cNvPr id="23" name="Text 21"/>
          <p:cNvSpPr/>
          <p:nvPr/>
        </p:nvSpPr>
        <p:spPr>
          <a:xfrm>
            <a:off x="1097280" y="4187952"/>
            <a:ext cx="9966960" cy="530352"/>
          </a:xfrm>
          <a:prstGeom prst="rect">
            <a:avLst/>
          </a:prstGeom>
          <a:noFill/>
          <a:ln/>
        </p:spPr>
        <p:txBody>
          <a:bodyPr wrap="square" lIns="0" tIns="0" rIns="0" bIns="0" rtlCol="0" anchor="ctr"/>
          <a:lstStyle/>
          <a:p>
            <a:pPr marL="0" indent="0" algn="ctr">
              <a:buNone/>
            </a:pPr>
            <a:r>
              <a:rPr lang="en-US" sz="1800" b="1" dirty="0">
                <a:solidFill>
                  <a:srgbClr val="24477D"/>
                </a:solidFill>
                <a:latin typeface="微软雅黑" panose="020B0503020204020204" pitchFamily="34" charset="-122"/>
                <a:ea typeface="微软雅黑" panose="020B0503020204020204" pitchFamily="34" charset="-122"/>
                <a:cs typeface="Noto Sans CJK SC" pitchFamily="34" charset="-120"/>
              </a:rPr>
              <a:t>真实部署仍需关注标定误差、扰动、新场景以及 Sim-to-Real 差距。</a:t>
            </a:r>
            <a:endParaRPr lang="en-US" sz="18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121</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170432" cy="6858000"/>
          </a:xfrm>
          <a:prstGeom prst="parallelogram">
            <a:avLst/>
          </a:prstGeom>
          <a:solidFill>
            <a:srgbClr val="31599B"/>
          </a:solidFill>
          <a:ln w="12700">
            <a:solidFill>
              <a:srgbClr val="31599B"/>
            </a:solidFill>
            <a:prstDash val="solid"/>
          </a:ln>
        </p:spPr>
      </p:sp>
      <p:sp>
        <p:nvSpPr>
          <p:cNvPr id="3" name="Shape 1"/>
          <p:cNvSpPr/>
          <p:nvPr/>
        </p:nvSpPr>
        <p:spPr>
          <a:xfrm>
            <a:off x="859536" y="0"/>
            <a:ext cx="219456" cy="6858000"/>
          </a:xfrm>
          <a:prstGeom prst="parallelogram">
            <a:avLst/>
          </a:prstGeom>
          <a:solidFill>
            <a:srgbClr val="B7C5E0"/>
          </a:solidFill>
          <a:ln w="12700">
            <a:solidFill>
              <a:srgbClr val="B7C5E0"/>
            </a:solidFill>
            <a:prstDash val="solid"/>
          </a:ln>
        </p:spPr>
      </p:sp>
      <p:sp>
        <p:nvSpPr>
          <p:cNvPr id="4" name="Text 2"/>
          <p:cNvSpPr/>
          <p:nvPr/>
        </p:nvSpPr>
        <p:spPr>
          <a:xfrm>
            <a:off x="1417320" y="1554480"/>
            <a:ext cx="1600200" cy="1143000"/>
          </a:xfrm>
          <a:prstGeom prst="rect">
            <a:avLst/>
          </a:prstGeom>
          <a:noFill/>
          <a:ln/>
        </p:spPr>
        <p:txBody>
          <a:bodyPr wrap="square" lIns="0" tIns="0" rIns="0" bIns="0" rtlCol="0" anchor="ctr"/>
          <a:lstStyle/>
          <a:p>
            <a:pPr marL="0" indent="0" algn="r">
              <a:buNone/>
            </a:pPr>
            <a:r>
              <a:rPr lang="en-US" sz="7600" b="1" dirty="0">
                <a:solidFill>
                  <a:srgbClr val="24477D"/>
                </a:solidFill>
                <a:latin typeface="Noto Sans CJK SC" pitchFamily="34" charset="0"/>
                <a:ea typeface="Noto Sans CJK SC" pitchFamily="34" charset="-122"/>
                <a:cs typeface="Noto Sans CJK SC" pitchFamily="34" charset="-120"/>
              </a:rPr>
              <a:t>7</a:t>
            </a:r>
            <a:endParaRPr lang="en-US" sz="7600" dirty="0">
              <a:solidFill>
                <a:srgbClr val="24477D"/>
              </a:solidFill>
            </a:endParaRPr>
          </a:p>
        </p:txBody>
      </p:sp>
      <p:sp>
        <p:nvSpPr>
          <p:cNvPr id="5" name="Text 3"/>
          <p:cNvSpPr/>
          <p:nvPr/>
        </p:nvSpPr>
        <p:spPr>
          <a:xfrm>
            <a:off x="3246120" y="1691640"/>
            <a:ext cx="7635240" cy="749808"/>
          </a:xfrm>
          <a:prstGeom prst="rect">
            <a:avLst/>
          </a:prstGeom>
          <a:noFill/>
          <a:ln/>
        </p:spPr>
        <p:txBody>
          <a:bodyPr wrap="square" lIns="0" tIns="0" rIns="0" bIns="0" rtlCol="0" anchor="ctr">
            <a:normAutofit/>
          </a:bodyPr>
          <a:lstStyle/>
          <a:p>
            <a:pPr marL="0" indent="0">
              <a:buNone/>
            </a:pPr>
            <a:r>
              <a:rPr lang="en-US" sz="3900" b="1" dirty="0">
                <a:solidFill>
                  <a:srgbClr val="24477D"/>
                </a:solidFill>
                <a:latin typeface="Noto Sans CJK SC" pitchFamily="34" charset="0"/>
                <a:ea typeface="Noto Sans CJK SC" pitchFamily="34" charset="-122"/>
                <a:cs typeface="Noto Sans CJK SC" pitchFamily="34" charset="-120"/>
              </a:rPr>
              <a:t>小结</a:t>
            </a:r>
            <a:endParaRPr lang="en-US" sz="3900" dirty="0"/>
          </a:p>
        </p:txBody>
      </p:sp>
      <p:sp>
        <p:nvSpPr>
          <p:cNvPr id="15" name="Text 13"/>
          <p:cNvSpPr/>
          <p:nvPr/>
        </p:nvSpPr>
        <p:spPr>
          <a:xfrm>
            <a:off x="8595360" y="320040"/>
            <a:ext cx="2743200" cy="274320"/>
          </a:xfrm>
          <a:prstGeom prst="rect">
            <a:avLst/>
          </a:prstGeom>
          <a:noFill/>
          <a:ln/>
        </p:spPr>
        <p:txBody>
          <a:bodyPr wrap="square" lIns="0" tIns="0" rIns="0" bIns="0" rtlCol="0" anchor="ctr"/>
          <a:lstStyle/>
          <a:p>
            <a:pPr marL="0" indent="0" algn="r">
              <a:buNone/>
            </a:pPr>
            <a:r>
              <a:rPr lang="en-US" sz="1000" dirty="0">
                <a:solidFill>
                  <a:srgbClr val="8C98AA"/>
                </a:solidFill>
                <a:latin typeface="Noto Sans CJK SC" pitchFamily="34" charset="0"/>
                <a:ea typeface="Noto Sans CJK SC" pitchFamily="34" charset="-122"/>
                <a:cs typeface="Noto Sans CJK SC" pitchFamily="34" charset="-120"/>
              </a:rPr>
              <a:t>具身智能导论 · 第4章</a:t>
            </a:r>
            <a:endParaRPr lang="en-US" sz="10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本章知识主线</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sp>
        <p:nvSpPr>
          <p:cNvPr id="4" name="Shape 2"/>
          <p:cNvSpPr/>
          <p:nvPr/>
        </p:nvSpPr>
        <p:spPr>
          <a:xfrm>
            <a:off x="713232" y="1920240"/>
            <a:ext cx="2052162" cy="1417320"/>
          </a:xfrm>
          <a:prstGeom prst="roundRect">
            <a:avLst>
              <a:gd name="adj" fmla="val 2581"/>
            </a:avLst>
          </a:prstGeom>
          <a:solidFill>
            <a:srgbClr val="EDF2FA"/>
          </a:solidFill>
          <a:ln w="12700">
            <a:solidFill>
              <a:srgbClr val="DDE3EC"/>
            </a:solidFill>
            <a:prstDash val="solid"/>
          </a:ln>
        </p:spPr>
      </p:sp>
      <p:sp>
        <p:nvSpPr>
          <p:cNvPr id="6" name="Text 4"/>
          <p:cNvSpPr/>
          <p:nvPr/>
        </p:nvSpPr>
        <p:spPr>
          <a:xfrm>
            <a:off x="1015746" y="2020825"/>
            <a:ext cx="1810512" cy="310896"/>
          </a:xfrm>
          <a:prstGeom prst="rect">
            <a:avLst/>
          </a:prstGeom>
          <a:noFill/>
          <a:ln/>
        </p:spPr>
        <p:txBody>
          <a:bodyPr wrap="square" lIns="0" tIns="0" rIns="0" bIns="0" rtlCol="0" anchor="ctr">
            <a:normAutofit/>
          </a:bodyPr>
          <a:lstStyle/>
          <a:p>
            <a:pPr marL="0" indent="0">
              <a:buNone/>
            </a:pPr>
            <a:r>
              <a:rPr lang="en-US" sz="1600" b="1" dirty="0">
                <a:solidFill>
                  <a:srgbClr val="31599B"/>
                </a:solidFill>
                <a:latin typeface="微软雅黑" panose="020B0503020204020204" pitchFamily="34" charset="-122"/>
                <a:ea typeface="微软雅黑" panose="020B0503020204020204" pitchFamily="34" charset="-122"/>
                <a:cs typeface="Noto Sans CJK SC" pitchFamily="34" charset="-120"/>
              </a:rPr>
              <a:t>采集</a:t>
            </a:r>
            <a:endParaRPr lang="en-US" sz="1600" dirty="0">
              <a:latin typeface="微软雅黑" panose="020B0503020204020204" pitchFamily="34" charset="-122"/>
              <a:ea typeface="微软雅黑" panose="020B0503020204020204" pitchFamily="34" charset="-122"/>
            </a:endParaRPr>
          </a:p>
        </p:txBody>
      </p:sp>
      <p:sp>
        <p:nvSpPr>
          <p:cNvPr id="7" name="Text 5"/>
          <p:cNvSpPr/>
          <p:nvPr/>
        </p:nvSpPr>
        <p:spPr>
          <a:xfrm>
            <a:off x="877824" y="2542032"/>
            <a:ext cx="1310522" cy="566928"/>
          </a:xfrm>
          <a:prstGeom prst="rect">
            <a:avLst/>
          </a:prstGeom>
          <a:noFill/>
          <a:ln/>
        </p:spPr>
        <p:txBody>
          <a:bodyPr wrap="square" lIns="0" tIns="0" rIns="0" bIns="0" rtlCol="0" anchor="ctr">
            <a:no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遥操作生成高质量专家演示。</a:t>
            </a:r>
            <a:endParaRPr lang="en-US" dirty="0">
              <a:latin typeface="微软雅黑" panose="020B0503020204020204" pitchFamily="34" charset="-122"/>
              <a:ea typeface="微软雅黑" panose="020B0503020204020204" pitchFamily="34" charset="-122"/>
            </a:endParaRPr>
          </a:p>
        </p:txBody>
      </p:sp>
      <p:sp>
        <p:nvSpPr>
          <p:cNvPr id="8" name="Shape 6"/>
          <p:cNvSpPr/>
          <p:nvPr/>
        </p:nvSpPr>
        <p:spPr>
          <a:xfrm>
            <a:off x="2880091" y="2409577"/>
            <a:ext cx="347472" cy="438912"/>
          </a:xfrm>
          <a:prstGeom prst="chevron">
            <a:avLst/>
          </a:prstGeom>
          <a:solidFill>
            <a:srgbClr val="D8E2F1"/>
          </a:solidFill>
          <a:ln w="12700">
            <a:solidFill>
              <a:srgbClr val="D8E2F1"/>
            </a:solidFill>
            <a:prstDash val="solid"/>
          </a:ln>
        </p:spPr>
      </p:sp>
      <p:sp>
        <p:nvSpPr>
          <p:cNvPr id="9" name="Shape 7"/>
          <p:cNvSpPr/>
          <p:nvPr/>
        </p:nvSpPr>
        <p:spPr>
          <a:xfrm>
            <a:off x="3399282" y="1920240"/>
            <a:ext cx="2048138" cy="1417320"/>
          </a:xfrm>
          <a:prstGeom prst="roundRect">
            <a:avLst>
              <a:gd name="adj" fmla="val 2581"/>
            </a:avLst>
          </a:prstGeom>
          <a:solidFill>
            <a:srgbClr val="EAF5F1"/>
          </a:solidFill>
          <a:ln w="12700">
            <a:solidFill>
              <a:srgbClr val="DDE3EC"/>
            </a:solidFill>
            <a:prstDash val="solid"/>
          </a:ln>
        </p:spPr>
      </p:sp>
      <p:sp>
        <p:nvSpPr>
          <p:cNvPr id="11" name="Text 9"/>
          <p:cNvSpPr/>
          <p:nvPr/>
        </p:nvSpPr>
        <p:spPr>
          <a:xfrm>
            <a:off x="399364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2F8E72"/>
                </a:solidFill>
                <a:latin typeface="微软雅黑" panose="020B0503020204020204" pitchFamily="34" charset="-122"/>
                <a:ea typeface="微软雅黑" panose="020B0503020204020204" pitchFamily="34" charset="-122"/>
                <a:cs typeface="Noto Sans CJK SC" pitchFamily="34" charset="-120"/>
              </a:rPr>
              <a:t>重定向</a:t>
            </a:r>
            <a:endParaRPr lang="en-US" sz="1600" dirty="0">
              <a:latin typeface="微软雅黑" panose="020B0503020204020204" pitchFamily="34" charset="-122"/>
              <a:ea typeface="微软雅黑" panose="020B0503020204020204" pitchFamily="34" charset="-122"/>
            </a:endParaRPr>
          </a:p>
        </p:txBody>
      </p:sp>
      <p:sp>
        <p:nvSpPr>
          <p:cNvPr id="12" name="Text 10"/>
          <p:cNvSpPr/>
          <p:nvPr/>
        </p:nvSpPr>
        <p:spPr>
          <a:xfrm>
            <a:off x="3563874" y="2542032"/>
            <a:ext cx="1810512" cy="566928"/>
          </a:xfrm>
          <a:prstGeom prst="rect">
            <a:avLst/>
          </a:prstGeom>
          <a:noFill/>
          <a:ln/>
        </p:spPr>
        <p:txBody>
          <a:bodyPr wrap="square" lIns="0" tIns="0" rIns="0" bIns="0" rtlCol="0" anchor="ctr">
            <a:no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把人的动作映射为机器人可执行动作。</a:t>
            </a:r>
            <a:endParaRPr lang="en-US" dirty="0">
              <a:latin typeface="微软雅黑" panose="020B0503020204020204" pitchFamily="34" charset="-122"/>
              <a:ea typeface="微软雅黑" panose="020B0503020204020204" pitchFamily="34" charset="-122"/>
            </a:endParaRPr>
          </a:p>
        </p:txBody>
      </p:sp>
      <p:sp>
        <p:nvSpPr>
          <p:cNvPr id="13" name="Shape 11"/>
          <p:cNvSpPr/>
          <p:nvPr/>
        </p:nvSpPr>
        <p:spPr>
          <a:xfrm>
            <a:off x="5769206" y="2386584"/>
            <a:ext cx="347472" cy="438912"/>
          </a:xfrm>
          <a:prstGeom prst="chevron">
            <a:avLst/>
          </a:prstGeom>
          <a:solidFill>
            <a:srgbClr val="D8E2F1"/>
          </a:solidFill>
          <a:ln w="12700">
            <a:solidFill>
              <a:srgbClr val="D8E2F1"/>
            </a:solidFill>
            <a:prstDash val="solid"/>
          </a:ln>
        </p:spPr>
      </p:sp>
      <p:sp>
        <p:nvSpPr>
          <p:cNvPr id="14" name="Shape 12"/>
          <p:cNvSpPr/>
          <p:nvPr/>
        </p:nvSpPr>
        <p:spPr>
          <a:xfrm>
            <a:off x="6249265" y="1920240"/>
            <a:ext cx="2160929" cy="1417320"/>
          </a:xfrm>
          <a:prstGeom prst="roundRect">
            <a:avLst>
              <a:gd name="adj" fmla="val 2581"/>
            </a:avLst>
          </a:prstGeom>
          <a:solidFill>
            <a:srgbClr val="FFF4DE"/>
          </a:solidFill>
          <a:ln w="12700">
            <a:solidFill>
              <a:srgbClr val="DDE3EC"/>
            </a:solidFill>
            <a:prstDash val="solid"/>
          </a:ln>
        </p:spPr>
      </p:sp>
      <p:sp>
        <p:nvSpPr>
          <p:cNvPr id="16" name="Text 14"/>
          <p:cNvSpPr/>
          <p:nvPr/>
        </p:nvSpPr>
        <p:spPr>
          <a:xfrm>
            <a:off x="6377282" y="2075688"/>
            <a:ext cx="1810512" cy="310896"/>
          </a:xfrm>
          <a:prstGeom prst="rect">
            <a:avLst/>
          </a:prstGeom>
          <a:noFill/>
          <a:ln/>
        </p:spPr>
        <p:txBody>
          <a:bodyPr wrap="square" lIns="0" tIns="0" rIns="0" bIns="0" rtlCol="0" anchor="ctr">
            <a:normAutofit/>
          </a:bodyPr>
          <a:lstStyle/>
          <a:p>
            <a:pPr marL="0" indent="0">
              <a:buNone/>
            </a:pPr>
            <a:r>
              <a:rPr lang="en-US" sz="1600" b="1" dirty="0">
                <a:solidFill>
                  <a:srgbClr val="C58A24"/>
                </a:solidFill>
                <a:latin typeface="微软雅黑" panose="020B0503020204020204" pitchFamily="34" charset="-122"/>
                <a:ea typeface="微软雅黑" panose="020B0503020204020204" pitchFamily="34" charset="-122"/>
                <a:cs typeface="Noto Sans CJK SC" pitchFamily="34" charset="-120"/>
              </a:rPr>
              <a:t>模仿学习</a:t>
            </a:r>
            <a:endParaRPr lang="en-US" sz="1600" dirty="0">
              <a:latin typeface="微软雅黑" panose="020B0503020204020204" pitchFamily="34" charset="-122"/>
              <a:ea typeface="微软雅黑" panose="020B0503020204020204" pitchFamily="34" charset="-122"/>
            </a:endParaRPr>
          </a:p>
        </p:txBody>
      </p:sp>
      <p:sp>
        <p:nvSpPr>
          <p:cNvPr id="17" name="Text 15"/>
          <p:cNvSpPr/>
          <p:nvPr/>
        </p:nvSpPr>
        <p:spPr>
          <a:xfrm>
            <a:off x="6448148" y="2542032"/>
            <a:ext cx="1810512" cy="566928"/>
          </a:xfrm>
          <a:prstGeom prst="rect">
            <a:avLst/>
          </a:prstGeom>
          <a:noFill/>
          <a:ln/>
        </p:spPr>
        <p:txBody>
          <a:bodyPr wrap="square" lIns="0" tIns="0" rIns="0" bIns="0" rtlCol="0" anchor="ctr">
            <a:noAutofit/>
          </a:bodyPr>
          <a:lstStyle/>
          <a:p>
            <a:pPr marL="0" indent="0" algn="ctr">
              <a:buNone/>
            </a:pPr>
            <a:r>
              <a:rPr lang="en-US" dirty="0">
                <a:solidFill>
                  <a:srgbClr val="222833"/>
                </a:solidFill>
                <a:latin typeface="微软雅黑" panose="020B0503020204020204" pitchFamily="34" charset="-122"/>
                <a:ea typeface="微软雅黑" panose="020B0503020204020204" pitchFamily="34" charset="-122"/>
                <a:cs typeface="Noto Sans CJK SC" pitchFamily="34" charset="-120"/>
              </a:rPr>
              <a:t>BC、IRL、GAIL、HIL 学习策略或任务目标。</a:t>
            </a:r>
            <a:endParaRPr lang="en-US" dirty="0">
              <a:latin typeface="微软雅黑" panose="020B0503020204020204" pitchFamily="34" charset="-122"/>
              <a:ea typeface="微软雅黑" panose="020B0503020204020204" pitchFamily="34" charset="-122"/>
            </a:endParaRPr>
          </a:p>
        </p:txBody>
      </p:sp>
      <p:sp>
        <p:nvSpPr>
          <p:cNvPr id="18" name="Shape 16"/>
          <p:cNvSpPr/>
          <p:nvPr/>
        </p:nvSpPr>
        <p:spPr>
          <a:xfrm>
            <a:off x="8700516" y="2414016"/>
            <a:ext cx="347472" cy="438912"/>
          </a:xfrm>
          <a:prstGeom prst="chevron">
            <a:avLst/>
          </a:prstGeom>
          <a:solidFill>
            <a:srgbClr val="D8E2F1"/>
          </a:solidFill>
          <a:ln w="12700">
            <a:solidFill>
              <a:srgbClr val="D8E2F1"/>
            </a:solidFill>
            <a:prstDash val="solid"/>
          </a:ln>
        </p:spPr>
      </p:sp>
      <p:sp>
        <p:nvSpPr>
          <p:cNvPr id="19" name="Shape 17"/>
          <p:cNvSpPr/>
          <p:nvPr/>
        </p:nvSpPr>
        <p:spPr>
          <a:xfrm>
            <a:off x="9143999" y="1922992"/>
            <a:ext cx="2243709" cy="1417320"/>
          </a:xfrm>
          <a:prstGeom prst="roundRect">
            <a:avLst>
              <a:gd name="adj" fmla="val 2581"/>
            </a:avLst>
          </a:prstGeom>
          <a:solidFill>
            <a:srgbClr val="FDECEE"/>
          </a:solidFill>
          <a:ln w="12700">
            <a:solidFill>
              <a:srgbClr val="DDE3EC"/>
            </a:solidFill>
            <a:prstDash val="solid"/>
          </a:ln>
        </p:spPr>
      </p:sp>
      <p:sp>
        <p:nvSpPr>
          <p:cNvPr id="21" name="Text 19"/>
          <p:cNvSpPr/>
          <p:nvPr/>
        </p:nvSpPr>
        <p:spPr>
          <a:xfrm>
            <a:off x="9365742" y="2066544"/>
            <a:ext cx="1810512" cy="310896"/>
          </a:xfrm>
          <a:prstGeom prst="rect">
            <a:avLst/>
          </a:prstGeom>
          <a:noFill/>
          <a:ln/>
        </p:spPr>
        <p:txBody>
          <a:bodyPr wrap="square" lIns="0" tIns="0" rIns="0" bIns="0" rtlCol="0" anchor="ctr">
            <a:normAutofit/>
          </a:bodyPr>
          <a:lstStyle/>
          <a:p>
            <a:pPr marL="0" indent="0">
              <a:buNone/>
            </a:pPr>
            <a:r>
              <a:rPr lang="en-US" sz="1600" b="1" dirty="0">
                <a:solidFill>
                  <a:srgbClr val="C63F45"/>
                </a:solidFill>
                <a:latin typeface="微软雅黑" panose="020B0503020204020204" pitchFamily="34" charset="-122"/>
                <a:ea typeface="微软雅黑" panose="020B0503020204020204" pitchFamily="34" charset="-122"/>
                <a:cs typeface="Noto Sans CJK SC" pitchFamily="34" charset="-120"/>
              </a:rPr>
              <a:t>缓解漂移</a:t>
            </a:r>
            <a:endParaRPr lang="en-US" sz="1600" dirty="0">
              <a:latin typeface="微软雅黑" panose="020B0503020204020204" pitchFamily="34" charset="-122"/>
              <a:ea typeface="微软雅黑" panose="020B0503020204020204" pitchFamily="34" charset="-122"/>
            </a:endParaRPr>
          </a:p>
        </p:txBody>
      </p:sp>
      <p:sp>
        <p:nvSpPr>
          <p:cNvPr id="22" name="Text 20"/>
          <p:cNvSpPr/>
          <p:nvPr/>
        </p:nvSpPr>
        <p:spPr>
          <a:xfrm>
            <a:off x="9365742" y="2542031"/>
            <a:ext cx="1801368" cy="831483"/>
          </a:xfrm>
          <a:prstGeom prst="rect">
            <a:avLst/>
          </a:prstGeom>
          <a:noFill/>
          <a:ln/>
        </p:spPr>
        <p:txBody>
          <a:bodyPr wrap="square" lIns="0" tIns="0" rIns="0" bIns="0" rtlCol="0" anchor="ctr">
            <a:normAutofit/>
          </a:bodyPr>
          <a:lstStyle/>
          <a:p>
            <a:pPr marL="0" indent="0" algn="ctr">
              <a:buNone/>
            </a:pPr>
            <a:r>
              <a:rPr lang="en-US" sz="1600" dirty="0">
                <a:solidFill>
                  <a:srgbClr val="222833"/>
                </a:solidFill>
                <a:latin typeface="微软雅黑" panose="020B0503020204020204" pitchFamily="34" charset="-122"/>
                <a:ea typeface="微软雅黑" panose="020B0503020204020204" pitchFamily="34" charset="-122"/>
                <a:cs typeface="Noto Sans CJK SC" pitchFamily="34" charset="-120"/>
              </a:rPr>
              <a:t>DAgger 与 ACT 提升长时序执行稳定性。</a:t>
            </a:r>
            <a:endParaRPr lang="en-US" sz="1600" dirty="0">
              <a:latin typeface="微软雅黑" panose="020B0503020204020204" pitchFamily="34" charset="-122"/>
              <a:ea typeface="微软雅黑" panose="020B0503020204020204" pitchFamily="34" charset="-122"/>
            </a:endParaRPr>
          </a:p>
        </p:txBody>
      </p:sp>
      <p:sp>
        <p:nvSpPr>
          <p:cNvPr id="23" name="Text 21"/>
          <p:cNvSpPr/>
          <p:nvPr/>
        </p:nvSpPr>
        <p:spPr>
          <a:xfrm>
            <a:off x="914400" y="4160520"/>
            <a:ext cx="10332720" cy="585216"/>
          </a:xfrm>
          <a:prstGeom prst="rect">
            <a:avLst/>
          </a:prstGeom>
          <a:noFill/>
          <a:ln/>
        </p:spPr>
        <p:txBody>
          <a:bodyPr wrap="square" lIns="0" tIns="0" rIns="0" bIns="0" rtlCol="0" anchor="ctr">
            <a:normAutofit/>
          </a:bodyPr>
          <a:lstStyle/>
          <a:p>
            <a:pPr marL="0" indent="0" algn="ctr">
              <a:buNone/>
            </a:pPr>
            <a:r>
              <a:rPr lang="en-US" sz="1760" b="1" dirty="0">
                <a:solidFill>
                  <a:srgbClr val="24477D"/>
                </a:solidFill>
                <a:latin typeface="微软雅黑" panose="020B0503020204020204" pitchFamily="34" charset="-122"/>
                <a:ea typeface="微软雅黑" panose="020B0503020204020204" pitchFamily="34" charset="-122"/>
                <a:cs typeface="Noto Sans CJK SC" pitchFamily="34" charset="-120"/>
              </a:rPr>
              <a:t>最后通过 LeRobot + ALOHA 实践把“遥操作数据 → ACT 行为克隆 → 闭环评估”串成完整流程。</a:t>
            </a:r>
            <a:endParaRPr lang="en-US" sz="176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123</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02920" y="475488"/>
            <a:ext cx="10927080" cy="585216"/>
          </a:xfrm>
          <a:prstGeom prst="rect">
            <a:avLst/>
          </a:prstGeom>
          <a:noFill/>
          <a:ln/>
        </p:spPr>
        <p:txBody>
          <a:bodyPr wrap="square" lIns="0" tIns="0" rIns="0" bIns="0" rtlCol="0" anchor="ctr">
            <a:normAutofit/>
          </a:bodyPr>
          <a:lstStyle/>
          <a:p>
            <a:pPr marL="0" indent="0">
              <a:buNone/>
            </a:pPr>
            <a:r>
              <a:rPr lang="en-US" sz="3500" b="1" dirty="0">
                <a:solidFill>
                  <a:srgbClr val="24477D"/>
                </a:solidFill>
                <a:latin typeface="微软雅黑" panose="020B0503020204020204" pitchFamily="34" charset="-122"/>
                <a:ea typeface="微软雅黑" panose="020B0503020204020204" pitchFamily="34" charset="-122"/>
                <a:cs typeface="Noto Sans CJK SC" pitchFamily="34" charset="-120"/>
              </a:rPr>
              <a:t>四类模仿学习方法对比</a:t>
            </a:r>
            <a:endParaRPr lang="en-US" sz="3500" dirty="0">
              <a:latin typeface="微软雅黑" panose="020B0503020204020204" pitchFamily="34" charset="-122"/>
              <a:ea typeface="微软雅黑" panose="020B0503020204020204" pitchFamily="34" charset="-122"/>
            </a:endParaRPr>
          </a:p>
        </p:txBody>
      </p:sp>
      <p:sp>
        <p:nvSpPr>
          <p:cNvPr id="3" name="Shape 1"/>
          <p:cNvSpPr/>
          <p:nvPr/>
        </p:nvSpPr>
        <p:spPr>
          <a:xfrm>
            <a:off x="502920" y="1353312"/>
            <a:ext cx="11109960" cy="0"/>
          </a:xfrm>
          <a:prstGeom prst="line">
            <a:avLst/>
          </a:prstGeom>
          <a:noFill/>
          <a:ln w="12700">
            <a:solidFill>
              <a:srgbClr val="D8DEE8"/>
            </a:solidFill>
            <a:prstDash val="solid"/>
          </a:ln>
        </p:spPr>
      </p:sp>
      <p:graphicFrame>
        <p:nvGraphicFramePr>
          <p:cNvPr id="127" name="Table 0"/>
          <p:cNvGraphicFramePr>
            <a:graphicFrameLocks noGrp="1"/>
          </p:cNvGraphicFramePr>
          <p:nvPr>
            <p:extLst>
              <p:ext uri="{D42A27DB-BD31-4B8C-83A1-F6EECF244321}">
                <p14:modId xmlns:p14="http://schemas.microsoft.com/office/powerpoint/2010/main" val="3450023160"/>
              </p:ext>
            </p:extLst>
          </p:nvPr>
        </p:nvGraphicFramePr>
        <p:xfrm>
          <a:off x="640080" y="1627632"/>
          <a:ext cx="10972800" cy="4315970"/>
        </p:xfrm>
        <a:graphic>
          <a:graphicData uri="http://schemas.openxmlformats.org/drawingml/2006/table">
            <a:tbl>
              <a:tblPr/>
              <a:tblGrid>
                <a:gridCol w="155448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3337560">
                  <a:extLst>
                    <a:ext uri="{9D8B030D-6E8A-4147-A177-3AD203B41FA5}">
                      <a16:colId xmlns:a16="http://schemas.microsoft.com/office/drawing/2014/main" val="20003"/>
                    </a:ext>
                  </a:extLst>
                </a:gridCol>
              </a:tblGrid>
              <a:tr h="863194">
                <a:tc>
                  <a:txBody>
                    <a:bodyPr/>
                    <a:lstStyle/>
                    <a:p>
                      <a:pPr marL="0" indent="0" algn="ctr">
                        <a:buNone/>
                      </a:pPr>
                      <a:r>
                        <a:rPr lang="en-US" sz="1350" dirty="0">
                          <a:solidFill>
                            <a:srgbClr val="222833"/>
                          </a:solidFill>
                          <a:latin typeface="Noto Sans CJK SC" pitchFamily="34" charset="0"/>
                          <a:ea typeface="Noto Sans CJK SC" pitchFamily="34" charset="-122"/>
                          <a:cs typeface="Noto Sans CJK SC" pitchFamily="34" charset="-120"/>
                        </a:rPr>
                        <a:t>方法</a:t>
                      </a:r>
                      <a:endParaRPr lang="en-US" sz="135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222833"/>
                          </a:solidFill>
                          <a:latin typeface="Noto Sans CJK SC" pitchFamily="34" charset="0"/>
                          <a:ea typeface="Noto Sans CJK SC" pitchFamily="34" charset="-122"/>
                          <a:cs typeface="Noto Sans CJK SC" pitchFamily="34" charset="-120"/>
                        </a:rPr>
                        <a:t>直接学习对象</a:t>
                      </a:r>
                      <a:endParaRPr lang="en-US" sz="135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222833"/>
                          </a:solidFill>
                          <a:latin typeface="Noto Sans CJK SC" pitchFamily="34" charset="0"/>
                          <a:ea typeface="Noto Sans CJK SC" pitchFamily="34" charset="-122"/>
                          <a:cs typeface="Noto Sans CJK SC" pitchFamily="34" charset="-120"/>
                        </a:rPr>
                        <a:t>主要优点</a:t>
                      </a:r>
                      <a:endParaRPr lang="en-US" sz="135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222833"/>
                          </a:solidFill>
                          <a:latin typeface="Noto Sans CJK SC" pitchFamily="34" charset="0"/>
                          <a:ea typeface="Noto Sans CJK SC" pitchFamily="34" charset="-122"/>
                          <a:cs typeface="Noto Sans CJK SC" pitchFamily="34" charset="-120"/>
                        </a:rPr>
                        <a:t>主要局限</a:t>
                      </a:r>
                      <a:endParaRPr lang="en-US" sz="1350" dirty="0">
                        <a:latin typeface="Noto Sans CJK SC" charset="0"/>
                        <a:ea typeface="Noto Sans CJK SC" charset="0"/>
                        <a:cs typeface="Noto Sans CJK SC" charset="0"/>
                      </a:endParaRPr>
                    </a:p>
                  </a:txBody>
                  <a:tcPr marL="54864" marR="54864" marT="54864" marB="54864">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63194">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BC</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状态→动作</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简单、高效、无需奖励函数</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分布漂移</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3194">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IRL</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奖励函数 / 任务目标</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泛化与迁移能力强</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计算复杂、奖励不唯一</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3194">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GAIL</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专家与策略状态—动作分布</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无需显式奖励、可处理高维分布</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对抗训练不稳定</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3194">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HIL</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高层子目标 + 低层动作</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适合长时序、可进行时间抽象</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22833"/>
                          </a:solidFill>
                          <a:latin typeface="微软雅黑" panose="020B0503020204020204" pitchFamily="34" charset="-122"/>
                          <a:ea typeface="微软雅黑" panose="020B0503020204020204" pitchFamily="34" charset="-122"/>
                          <a:cs typeface="Noto Sans CJK SC" pitchFamily="34" charset="-120"/>
                        </a:rPr>
                        <a:t>结构设计与训练更复杂</a:t>
                      </a:r>
                      <a:endParaRPr lang="en-US" sz="1800" dirty="0">
                        <a:latin typeface="微软雅黑" panose="020B0503020204020204" pitchFamily="34" charset="-122"/>
                        <a:ea typeface="微软雅黑" panose="020B0503020204020204" pitchFamily="34" charset="-122"/>
                        <a:cs typeface="Noto Sans CJK SC" charset="0"/>
                      </a:endParaRPr>
                    </a:p>
                  </a:txBody>
                  <a:tcPr marL="54864" marR="54864" marT="54864" marB="54864" anchor="ctr">
                    <a:lnL w="8255" cap="flat" cmpd="sng" algn="ctr">
                      <a:solidFill>
                        <a:srgbClr val="CBD3DF"/>
                      </a:solidFill>
                      <a:prstDash val="solid"/>
                      <a:round/>
                      <a:headEnd type="none" w="med" len="med"/>
                      <a:tailEnd type="none" w="med" len="med"/>
                    </a:lnL>
                    <a:lnR w="8255" cap="flat" cmpd="sng" algn="ctr">
                      <a:solidFill>
                        <a:srgbClr val="CBD3DF"/>
                      </a:solidFill>
                      <a:prstDash val="solid"/>
                      <a:round/>
                      <a:headEnd type="none" w="med" len="med"/>
                      <a:tailEnd type="none" w="med" len="med"/>
                    </a:lnR>
                    <a:lnT w="8255" cap="flat" cmpd="sng" algn="ctr">
                      <a:solidFill>
                        <a:srgbClr val="CBD3DF"/>
                      </a:solidFill>
                      <a:prstDash val="solid"/>
                      <a:round/>
                      <a:headEnd type="none" w="med" len="med"/>
                      <a:tailEnd type="none" w="med" len="med"/>
                    </a:lnT>
                    <a:lnB w="8255" cap="flat" cmpd="sng" algn="ctr">
                      <a:solidFill>
                        <a:srgbClr val="CBD3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640080" y="1627632"/>
            <a:ext cx="10972800" cy="502920"/>
          </a:xfrm>
          <a:prstGeom prst="rect">
            <a:avLst/>
          </a:prstGeom>
          <a:solidFill>
            <a:srgbClr val="31599B"/>
          </a:solidFill>
          <a:ln w="12700">
            <a:solidFill>
              <a:srgbClr val="31599B"/>
            </a:solidFill>
            <a:prstDash val="solid"/>
          </a:ln>
        </p:spPr>
      </p:sp>
      <p:sp>
        <p:nvSpPr>
          <p:cNvPr id="6" name="Text 3"/>
          <p:cNvSpPr/>
          <p:nvPr/>
        </p:nvSpPr>
        <p:spPr>
          <a:xfrm>
            <a:off x="658368" y="1737360"/>
            <a:ext cx="1517904" cy="256032"/>
          </a:xfrm>
          <a:prstGeom prst="rect">
            <a:avLst/>
          </a:prstGeom>
          <a:noFill/>
          <a:ln/>
        </p:spPr>
        <p:txBody>
          <a:bodyPr wrap="square" lIns="0" tIns="0" rIns="0" bIns="0" rtlCol="0" anchor="ctr">
            <a:noAutofit/>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方法</a:t>
            </a:r>
            <a:endParaRPr lang="en-US" sz="2000" dirty="0">
              <a:latin typeface="微软雅黑" panose="020B0503020204020204" pitchFamily="34" charset="-122"/>
              <a:ea typeface="微软雅黑" panose="020B0503020204020204" pitchFamily="34" charset="-122"/>
            </a:endParaRPr>
          </a:p>
        </p:txBody>
      </p:sp>
      <p:sp>
        <p:nvSpPr>
          <p:cNvPr id="7" name="Text 4"/>
          <p:cNvSpPr/>
          <p:nvPr/>
        </p:nvSpPr>
        <p:spPr>
          <a:xfrm>
            <a:off x="2212848" y="1737360"/>
            <a:ext cx="2660904" cy="256032"/>
          </a:xfrm>
          <a:prstGeom prst="rect">
            <a:avLst/>
          </a:prstGeom>
          <a:noFill/>
          <a:ln/>
        </p:spPr>
        <p:txBody>
          <a:bodyPr wrap="square" lIns="0" tIns="0" rIns="0" bIns="0" rtlCol="0" anchor="ctr">
            <a:noAutofit/>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直接学习对象</a:t>
            </a:r>
            <a:endParaRPr lang="en-US" sz="2000" dirty="0">
              <a:latin typeface="微软雅黑" panose="020B0503020204020204" pitchFamily="34" charset="-122"/>
              <a:ea typeface="微软雅黑" panose="020B0503020204020204" pitchFamily="34" charset="-122"/>
            </a:endParaRPr>
          </a:p>
        </p:txBody>
      </p:sp>
      <p:sp>
        <p:nvSpPr>
          <p:cNvPr id="8" name="Text 5"/>
          <p:cNvSpPr/>
          <p:nvPr/>
        </p:nvSpPr>
        <p:spPr>
          <a:xfrm>
            <a:off x="4910328" y="1737360"/>
            <a:ext cx="3346704" cy="256032"/>
          </a:xfrm>
          <a:prstGeom prst="rect">
            <a:avLst/>
          </a:prstGeom>
          <a:noFill/>
          <a:ln/>
        </p:spPr>
        <p:txBody>
          <a:bodyPr wrap="square" lIns="0" tIns="0" rIns="0" bIns="0" rtlCol="0" anchor="ctr">
            <a:normAutofit fontScale="92500" lnSpcReduction="20000"/>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主要优点</a:t>
            </a:r>
            <a:endParaRPr lang="en-US" sz="2000" dirty="0">
              <a:latin typeface="微软雅黑" panose="020B0503020204020204" pitchFamily="34" charset="-122"/>
              <a:ea typeface="微软雅黑" panose="020B0503020204020204" pitchFamily="34" charset="-122"/>
            </a:endParaRPr>
          </a:p>
        </p:txBody>
      </p:sp>
      <p:sp>
        <p:nvSpPr>
          <p:cNvPr id="9" name="Text 6"/>
          <p:cNvSpPr/>
          <p:nvPr/>
        </p:nvSpPr>
        <p:spPr>
          <a:xfrm>
            <a:off x="8293608" y="1737360"/>
            <a:ext cx="3300984" cy="256032"/>
          </a:xfrm>
          <a:prstGeom prst="rect">
            <a:avLst/>
          </a:prstGeom>
          <a:noFill/>
          <a:ln/>
        </p:spPr>
        <p:txBody>
          <a:bodyPr wrap="square" lIns="0" tIns="0" rIns="0" bIns="0" rtlCol="0" anchor="ctr">
            <a:normAutofit fontScale="92500" lnSpcReduction="20000"/>
          </a:bodyPr>
          <a:lstStyle/>
          <a:p>
            <a:pPr marL="0" indent="0" algn="ctr">
              <a:buNone/>
            </a:pPr>
            <a:r>
              <a:rPr lang="en-US" sz="2000" b="1" dirty="0">
                <a:solidFill>
                  <a:srgbClr val="FFFFFF"/>
                </a:solidFill>
                <a:latin typeface="微软雅黑" panose="020B0503020204020204" pitchFamily="34" charset="-122"/>
                <a:ea typeface="微软雅黑" panose="020B0503020204020204" pitchFamily="34" charset="-122"/>
                <a:cs typeface="Noto Sans CJK SC" pitchFamily="34" charset="-120"/>
              </a:rPr>
              <a:t>主要局限</a:t>
            </a:r>
            <a:endParaRPr lang="en-US" sz="2000" dirty="0">
              <a:latin typeface="微软雅黑" panose="020B0503020204020204" pitchFamily="34" charset="-122"/>
              <a:ea typeface="微软雅黑" panose="020B0503020204020204" pitchFamily="34" charset="-122"/>
            </a:endParaRPr>
          </a:p>
        </p:txBody>
      </p:sp>
      <p:sp>
        <p:nvSpPr>
          <p:cNvPr id="25" name="Slide Number Placeholder 0"/>
          <p:cNvSpPr>
            <a:spLocks noGrp="1"/>
          </p:cNvSpPr>
          <p:nvPr>
            <p:ph type="sldNum" sz="quarter" idx="4294967295"/>
          </p:nvPr>
        </p:nvSpPr>
        <p:spPr>
          <a:xfrm>
            <a:off x="11457432" y="6501384"/>
            <a:ext cx="347472"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900">
                <a:solidFill>
                  <a:srgbClr val="8994A5"/>
                </a:solidFill>
                <a:latin typeface="Noto Sans CJK SC"/>
                <a:ea typeface="Noto Sans CJK SC"/>
                <a:cs typeface="Noto Sans CJK SC"/>
              </a:defRPr>
            </a:lvl1pPr>
          </a:lstStyle>
          <a:p>
            <a:pPr algn="r"/>
            <a:fld id="{F7021451-1387-4CA6-816F-3879F97B5CBC}" type="slidenum">
              <a:rPr lang="en-US" b="0">
                <a:latin typeface="微软雅黑" panose="020B0503020204020204" pitchFamily="34" charset="-122"/>
                <a:ea typeface="微软雅黑" panose="020B0503020204020204" pitchFamily="34" charset="-122"/>
              </a:rPr>
              <a:t>124</a:t>
            </a:fld>
            <a:endParaRPr lang="en-US">
              <a:latin typeface="微软雅黑" panose="020B0503020204020204" pitchFamily="34" charset="-122"/>
              <a:ea typeface="微软雅黑" panose="020B0503020204020204" pitchFamily="34" charset="-122"/>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24477D"/>
        </a:solidFill>
        <a:effectLst/>
      </p:bgPr>
    </p:bg>
    <p:spTree>
      <p:nvGrpSpPr>
        <p:cNvPr id="1" name=""/>
        <p:cNvGrpSpPr/>
        <p:nvPr/>
      </p:nvGrpSpPr>
      <p:grpSpPr>
        <a:xfrm>
          <a:off x="0" y="0"/>
          <a:ext cx="0" cy="0"/>
          <a:chOff x="0" y="0"/>
          <a:chExt cx="0" cy="0"/>
        </a:xfrm>
      </p:grpSpPr>
      <p:sp>
        <p:nvSpPr>
          <p:cNvPr id="3" name="Text 1"/>
          <p:cNvSpPr/>
          <p:nvPr/>
        </p:nvSpPr>
        <p:spPr>
          <a:xfrm>
            <a:off x="762000" y="2961640"/>
            <a:ext cx="1024128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6600" b="1" i="0" u="none" strike="noStrike" kern="1200" cap="none" spc="0" normalizeH="0" baseline="0" noProof="0" dirty="0">
                <a:ln>
                  <a:noFill/>
                </a:ln>
                <a:solidFill>
                  <a:srgbClr val="FFFFFF"/>
                </a:solidFill>
                <a:effectLst/>
                <a:uLnTx/>
                <a:uFillTx/>
                <a:latin typeface="Noto Sans CJK SC" pitchFamily="34" charset="0"/>
                <a:ea typeface="Noto Sans CJK SC" pitchFamily="34" charset="-122"/>
                <a:cs typeface="Noto Sans CJK SC" pitchFamily="34" charset="-120"/>
              </a:rPr>
              <a:t>谢   谢</a:t>
            </a:r>
            <a:endParaRPr kumimoji="0" lang="en-US" sz="6600" b="0" i="0" u="none" strike="noStrike" kern="1200" cap="none" spc="0" normalizeH="0" baseline="0" noProof="0" dirty="0">
              <a:ln>
                <a:noFill/>
              </a:ln>
              <a:solidFill>
                <a:prstClr val="black"/>
              </a:solidFill>
              <a:effectLst/>
              <a:uLnTx/>
              <a:uFillTx/>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TotalTime>
  <Words>3665</Words>
  <Application>Microsoft Office PowerPoint</Application>
  <PresentationFormat>宽屏</PresentationFormat>
  <Paragraphs>1209</Paragraphs>
  <Slides>125</Slides>
  <Notes>125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125</vt:i4>
      </vt:variant>
    </vt:vector>
  </HeadingPairs>
  <TitlesOfParts>
    <vt:vector size="132" baseType="lpstr">
      <vt:lpstr>Noto Sans CJK SC</vt:lpstr>
      <vt:lpstr>Noto Sans Mono CJK SC</vt:lpstr>
      <vt:lpstr>Noto Serif CJK SC</vt:lpstr>
      <vt:lpstr>等线</vt:lpstr>
      <vt:lpstr>微软雅黑</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精品课程课件</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具身智能导论 第4章 遥操作交互与模仿学习</dc:title>
  <dc:subject>具身智能导论 第4章 遥操作交互与模仿学习</dc:subject>
  <dc:creator>秦建军等</dc:creator>
  <cp:lastModifiedBy>Qin JJ</cp:lastModifiedBy>
  <cp:revision>40</cp:revision>
  <dcterms:created xsi:type="dcterms:W3CDTF">2026-08-28T03:29:45Z</dcterms:created>
  <dcterms:modified xsi:type="dcterms:W3CDTF">2026-09-14T14:23:38Z</dcterms:modified>
</cp:coreProperties>
</file>