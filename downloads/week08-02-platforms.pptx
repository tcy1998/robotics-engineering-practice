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92" r:id="rId46"/>
    <p:sldId id="304" r:id="rId47"/>
    <p:sldId id="306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5" r:id="rId64"/>
    <p:sldId id="327" r:id="rId65"/>
    <p:sldId id="328" r:id="rId66"/>
    <p:sldId id="329" r:id="rId67"/>
    <p:sldId id="330" r:id="rId68"/>
    <p:sldId id="331" r:id="rId69"/>
    <p:sldId id="333" r:id="rId70"/>
    <p:sldId id="334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1" r:id="rId105"/>
    <p:sldId id="372" r:id="rId106"/>
    <p:sldId id="373" r:id="rId107"/>
    <p:sldId id="374" r:id="rId108"/>
    <p:sldId id="375" r:id="rId109"/>
    <p:sldId id="376" r:id="rId110"/>
    <p:sldId id="377" r:id="rId111"/>
    <p:sldId id="378" r:id="rId112"/>
    <p:sldId id="379" r:id="rId113"/>
    <p:sldId id="380" r:id="rId114"/>
    <p:sldId id="382" r:id="rId115"/>
    <p:sldId id="384" r:id="rId116"/>
    <p:sldId id="385" r:id="rId117"/>
    <p:sldId id="391" r:id="rId1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63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84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1" Type="http://schemas.openxmlformats.org/officeDocument/2006/relationships/tableStyles" Target="tableStyles.xml"/><Relationship Id="rId120" Type="http://schemas.openxmlformats.org/officeDocument/2006/relationships/viewProps" Target="viewProps.xml"/><Relationship Id="rId12" Type="http://schemas.openxmlformats.org/officeDocument/2006/relationships/slide" Target="slides/slide9.xml"/><Relationship Id="rId119" Type="http://schemas.openxmlformats.org/officeDocument/2006/relationships/presProps" Target="presProps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AFC0DF"/>
          </a:solidFill>
          <a:ln w="12700">
            <a:solidFill>
              <a:srgbClr val="AFC0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164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73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49640" y="16459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具身智能的硬软件平台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GIF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GIF"/><Relationship Id="rId1" Type="http://schemas.openxmlformats.org/officeDocument/2006/relationships/image" Target="../media/image30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GI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webp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5156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04672" y="0"/>
            <a:ext cx="219456" cy="6858000"/>
          </a:xfrm>
          <a:prstGeom prst="parallelogram">
            <a:avLst/>
          </a:prstGeom>
          <a:solidFill>
            <a:srgbClr val="B6C5E0"/>
          </a:solidFill>
          <a:ln w="12700">
            <a:solidFill>
              <a:srgbClr val="B6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325880" y="749808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普通高等教育新工科具身智能系列教材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74440" y="1867152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34360" y="2940304"/>
            <a:ext cx="6990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章  具身智能的硬软件平台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739896" y="4183888"/>
            <a:ext cx="5779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秦建军  </a:t>
            </a:r>
            <a:r>
              <a:rPr lang="en-US" altLang="zh-CN" dirty="0" err="1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江磊</a:t>
            </a:r>
            <a:r>
              <a:rPr lang="en-US" altLang="zh-CN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刘宇飞</a:t>
            </a:r>
            <a:r>
              <a:rPr lang="en-US" altLang="zh-CN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邢伯阳</a:t>
            </a:r>
            <a:r>
              <a:rPr lang="en-US" altLang="zh-CN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王陆旸</a:t>
            </a:r>
            <a:r>
              <a:rPr lang="en-US" altLang="zh-CN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李国通</a:t>
            </a:r>
            <a:endParaRPr lang="en-US" altLang="zh-CN" dirty="0"/>
          </a:p>
        </p:txBody>
      </p:sp>
      <p:sp>
        <p:nvSpPr>
          <p:cNvPr id="8" name="Text 6"/>
          <p:cNvSpPr/>
          <p:nvPr/>
        </p:nvSpPr>
        <p:spPr>
          <a:xfrm>
            <a:off x="8814994" y="824736"/>
            <a:ext cx="30358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200" dirty="0">
                <a:solidFill>
                  <a:srgbClr val="5B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国家地方共建人形机器人创新中心组织编写</a:t>
            </a:r>
            <a:endParaRPr lang="en-US" altLang="zh-CN" sz="1200" dirty="0"/>
          </a:p>
        </p:txBody>
      </p:sp>
      <p:sp>
        <p:nvSpPr>
          <p:cNvPr id="12" name="Text 6"/>
          <p:cNvSpPr/>
          <p:nvPr/>
        </p:nvSpPr>
        <p:spPr>
          <a:xfrm>
            <a:off x="4379976" y="4805680"/>
            <a:ext cx="43677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B87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机械工业出版社 · 《具身智能导论》配套课件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43000" y="173736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477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“君子生非异也，善假于物也。”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0" y="260604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—— 荀子《劝学》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3246120"/>
            <a:ext cx="97840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73152" cy="192024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08176" y="3840480"/>
            <a:ext cx="9400032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具身智能的能力上限受到物理实体、传感器、控制与计算架构的严格约束。算法只有落在具体硬件与软件平台上，才能转化为稳定、可靠、可部署的实际系统能力。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学习目标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930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3152" cy="1664208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9536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具身本体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194560"/>
            <a:ext cx="310896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了解机械臂、移动操作机器人、人形机器人、四足机器人的结构特点与应用场景；能比较自由度、负载、重复定位精度与工作半径。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07408" y="1600200"/>
            <a:ext cx="34930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73152" cy="1664208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26864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外部感知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26864" y="2194560"/>
            <a:ext cx="310896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 IMU、LiDAR、深度相机的测量原理，以及多传感器融合在定位、建图与避障中的作用。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74736" y="1600200"/>
            <a:ext cx="34930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74736" y="1600200"/>
            <a:ext cx="73152" cy="1664208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394192" y="17647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控制方法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4192" y="2194560"/>
            <a:ext cx="310896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了解基于模型的控制，以及学习和数据驱动控制的基本思想。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34930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73152" cy="1664208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9536" y="375818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软件仿真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187952"/>
            <a:ext cx="310896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 Gazebo、MuJoCo、NVIDIA Isaac 等仿真器的定位和差异，能够按任务选择。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07408" y="3593592"/>
            <a:ext cx="34930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07408" y="3593592"/>
            <a:ext cx="73152" cy="1664208"/>
          </a:xfrm>
          <a:prstGeom prst="rect">
            <a:avLst/>
          </a:prstGeom>
          <a:solidFill>
            <a:srgbClr val="4F73B5"/>
          </a:solidFill>
          <a:ln w="12700">
            <a:solidFill>
              <a:srgbClr val="4F7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26864" y="375818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F7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平台搭建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4187952"/>
            <a:ext cx="310896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基于开源硬件与软件工具，搭建可运行的具身智能实验平台。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</a:rPr>
              <a:t>本章目录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08760" y="1536192"/>
            <a:ext cx="34760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典型的具身本体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7240" y="1893824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230428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30428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外部感知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07238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07238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控制方法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77240" y="3511296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08760" y="384048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软件仿真器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77240" y="4279392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46085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08759" y="4608576"/>
            <a:ext cx="318308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开源机械臂案例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77240" y="5047488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77240" y="53766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508760" y="53766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777240" y="5815584"/>
            <a:ext cx="102870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典型的具身本体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3401568" y="303580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典型的具身本体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6436360" cy="3891279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2103119"/>
            <a:ext cx="80856" cy="3891279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9056" y="2677191"/>
            <a:ext cx="6050704" cy="100326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承载传感器、执行动作、与环境接触，是感知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—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决策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—行动闭环中的物理载体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5" name="Text 4"/>
          <p:cNvSpPr/>
          <p:nvPr/>
        </p:nvSpPr>
        <p:spPr>
          <a:xfrm>
            <a:off x="879162" y="4010338"/>
            <a:ext cx="4965192" cy="714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典型的具身智能本体有哪些</a:t>
            </a: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2400" dirty="0"/>
          </a:p>
        </p:txBody>
      </p:sp>
      <p:sp>
        <p:nvSpPr>
          <p:cNvPr id="16" name="Text 5"/>
          <p:cNvSpPr/>
          <p:nvPr/>
        </p:nvSpPr>
        <p:spPr>
          <a:xfrm>
            <a:off x="936328" y="4688517"/>
            <a:ext cx="6050704" cy="98284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机械臂、 移动操作机器人、人形机器人、四足机器人、末端执行器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…</a:t>
            </a:r>
            <a:endParaRPr lang="en-US" sz="2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666" y="1327023"/>
            <a:ext cx="2895124" cy="5154929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905256" y="1992797"/>
            <a:ext cx="4965192" cy="8521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本体的作用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2.1.1 机械臂：最基础、最广泛的具身本体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85800" y="1559560"/>
            <a:ext cx="10302240" cy="42062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模拟人类手臂的结构与功能，可在三维空间执行抓取、搬运、组装等任务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在具身智能开发中常用于强化学习、模仿学习和任务规划研究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机械臂的核心要求：在灵活性的前提下兼顾工作精度与安全性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-321598" y="569214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全球工业机器人的保有量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7317" t="31059" r="5795" b="8344"/>
          <a:stretch>
            <a:fillRect/>
          </a:stretch>
        </p:blipFill>
        <p:spPr>
          <a:xfrm>
            <a:off x="3312159" y="3616792"/>
            <a:ext cx="7924801" cy="308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30937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机械臂结构形式：按连接方式与自由度划分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50492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 6 自由度 = 3 个位置维度 + 3 个姿态维度（横滚 / 俯仰 / 偏航）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4800600" cy="1645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73152" cy="16459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5"/>
          <p:cNvSpPr/>
          <p:nvPr/>
        </p:nvSpPr>
        <p:spPr>
          <a:xfrm>
            <a:off x="1133856" y="2587752"/>
            <a:ext cx="44165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串联机械臂 Serial Manipulator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33856" y="3017520"/>
            <a:ext cx="4416552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关节依次串联形成链式结构。工作空间大、灵活性高，但刚性相对较低，易受累积误差影响。</a:t>
            </a:r>
            <a:endParaRPr lang="en-US" b="1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4800600" cy="1645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Shape 8"/>
          <p:cNvSpPr/>
          <p:nvPr/>
        </p:nvSpPr>
        <p:spPr>
          <a:xfrm>
            <a:off x="6400800" y="2423160"/>
            <a:ext cx="76202" cy="164592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9"/>
          <p:cNvSpPr/>
          <p:nvPr/>
        </p:nvSpPr>
        <p:spPr>
          <a:xfrm>
            <a:off x="6620256" y="2587752"/>
            <a:ext cx="44165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并联机械臂 Parallel Manipulator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0256" y="3017520"/>
            <a:ext cx="4416552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多个支链并联连接到末端平台。刚性与精度高，但工作空间相对较小。</a:t>
            </a:r>
            <a:endParaRPr lang="en-US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7956" y="4298188"/>
            <a:ext cx="3121152" cy="234086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35" y="4187952"/>
            <a:ext cx="2529204" cy="2529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串联机械臂①：笛卡儿机械臂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73152" cy="425196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05256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5256" y="2221992"/>
            <a:ext cx="4965192" cy="376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由三个相互垂直的平移关节组成，机构直观、路径易描述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</a:t>
            </a:r>
            <a:r>
              <a:rPr lang="zh-CN" alt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和应用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3904489"/>
            <a:ext cx="4965192" cy="709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结构简单、适合直线运动；典型应用包括 3D 打印机中的定位系统，易于控制。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Image 0" descr="/mnt/data/ch2_images/img-001.png"/>
          <p:cNvPicPr>
            <a:picLocks noChangeAspect="1"/>
          </p:cNvPicPr>
          <p:nvPr/>
        </p:nvPicPr>
        <p:blipFill>
          <a:blip r:embed="rId1"/>
          <a:srcRect r="41028" b="48602"/>
          <a:stretch>
            <a:fillRect/>
          </a:stretch>
        </p:blipFill>
        <p:spPr>
          <a:xfrm>
            <a:off x="6916193" y="2215897"/>
            <a:ext cx="3840151" cy="33070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串联机械臂②：关节型机械臂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08660" y="1465072"/>
            <a:ext cx="5349240" cy="3447289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08660" y="1465072"/>
            <a:ext cx="73152" cy="3447289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28116" y="162966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</a:rPr>
              <a:t>结构</a:t>
            </a:r>
            <a:endParaRPr lang="en-US" sz="2800" b="1" dirty="0">
              <a:solidFill>
                <a:srgbClr val="31599B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8116" y="2059432"/>
            <a:ext cx="4965192" cy="9885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由多个旋转关节组成，通常为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 3～7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自由度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6404" y="3716528"/>
            <a:ext cx="4965192" cy="1195833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喷涂、焊接、装配、打磨等工业场景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7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自由度冗余机械臂更适合避障和灵活操作，因此广泛用于具身智能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2" name="Text 4"/>
          <p:cNvSpPr/>
          <p:nvPr/>
        </p:nvSpPr>
        <p:spPr>
          <a:xfrm>
            <a:off x="946404" y="3329433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</a:rPr>
              <a:t>应用</a:t>
            </a:r>
            <a:endParaRPr lang="en-US" sz="2800" b="1" dirty="0">
              <a:solidFill>
                <a:srgbClr val="2F8E72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pic>
        <p:nvPicPr>
          <p:cNvPr id="14" name="Image 0" descr="/mnt/data/ch2_images/img-001.png"/>
          <p:cNvPicPr>
            <a:picLocks noChangeAspect="1"/>
          </p:cNvPicPr>
          <p:nvPr/>
        </p:nvPicPr>
        <p:blipFill>
          <a:blip r:embed="rId1"/>
          <a:srcRect l="57849" r="2505" b="48602"/>
          <a:stretch>
            <a:fillRect/>
          </a:stretch>
        </p:blipFill>
        <p:spPr>
          <a:xfrm>
            <a:off x="7419848" y="768096"/>
            <a:ext cx="3332480" cy="4268878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37032" y="5167021"/>
            <a:ext cx="10549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为什么串联机械臂广泛用于具身智能开发？</a:t>
            </a:r>
            <a:endParaRPr lang="en-US" altLang="zh-CN" sz="2400" b="1" dirty="0">
              <a:solidFill>
                <a:srgbClr val="C00000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  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开发灵活、工作空间大，便于集成传感器与部署学习算法；人形机器人的上肢也普遍采用串联结构</a:t>
            </a:r>
            <a:r>
              <a:rPr lang="en-US" altLang="zh-CN" sz="2400" b="1" dirty="0">
                <a:solidFill>
                  <a:srgbClr val="C00000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altLang="zh-CN" sz="2400" b="1" dirty="0">
              <a:solidFill>
                <a:srgbClr val="C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串联机械臂③：SCARA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374640" cy="39319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SCARA(Selective Compliance Assembly Robot Arm)</a:t>
            </a: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：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选择顺应性装配机械臂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zh-CN" altLang="en-US" sz="2400" dirty="0">
                <a:latin typeface="Microsoft YaHei" pitchFamily="34" charset="-122"/>
                <a:ea typeface="Microsoft YaHei" pitchFamily="34" charset="-122"/>
              </a:rPr>
              <a:t>是关节型机械臂的一种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具有三个旋转关节和一个平移关节，专为平面装配设计。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XY 方向具备柔顺特性，Z 方向具备高刚性。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常用于电子零部件装配、物料搬运以及汽车、食品等领域。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9" name="Image 0" descr="/mnt/data/ch2_images/img-001.png"/>
          <p:cNvPicPr>
            <a:picLocks noChangeAspect="1"/>
          </p:cNvPicPr>
          <p:nvPr/>
        </p:nvPicPr>
        <p:blipFill>
          <a:blip r:embed="rId1"/>
          <a:srcRect t="51821" r="45564" b="1"/>
          <a:stretch>
            <a:fillRect/>
          </a:stretch>
        </p:blipFill>
        <p:spPr>
          <a:xfrm>
            <a:off x="7984343" y="4124961"/>
            <a:ext cx="2493620" cy="21806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15" y="1714105"/>
            <a:ext cx="3622876" cy="20378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并联机械臂：高刚性、高精度、较小工作空间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486400" cy="38862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多个支链并联连接到末端平台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优势：高刚性、高精度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局限：工作空间较小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典型 Delta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并联机械臂适用于高速拾取和放置，并已用于食品包装等领域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5" name="Image 0" descr="/mnt/data/ch2_images/img-001.png"/>
          <p:cNvPicPr>
            <a:picLocks noChangeAspect="1"/>
          </p:cNvPicPr>
          <p:nvPr/>
        </p:nvPicPr>
        <p:blipFill>
          <a:blip r:embed="rId1"/>
          <a:srcRect l="56071" t="50457"/>
          <a:stretch>
            <a:fillRect/>
          </a:stretch>
        </p:blipFill>
        <p:spPr>
          <a:xfrm>
            <a:off x="7223760" y="1531114"/>
            <a:ext cx="3434080" cy="38267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557784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Delta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并联机械臂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选型的重点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95097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自由度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224028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决定运动灵活性；具身智能研究以 6/7 自由度为主。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3152" cy="164592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/>
          <p:cNvSpPr/>
          <p:nvPr/>
        </p:nvSpPr>
        <p:spPr>
          <a:xfrm>
            <a:off x="465429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负载能力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54296" y="224028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末端可承受的最大负载，含末端执行器和物体质量。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73152" cy="164592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835761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重复定位精度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7616" y="224028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多次到达同一位置的一致程度。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73152" cy="164592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6"/>
          <p:cNvSpPr/>
          <p:nvPr/>
        </p:nvSpPr>
        <p:spPr>
          <a:xfrm>
            <a:off x="950976" y="395935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工作半径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976" y="438912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末端可达空间范围的半径。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4434840" y="379476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9"/>
          <p:cNvSpPr/>
          <p:nvPr/>
        </p:nvSpPr>
        <p:spPr>
          <a:xfrm>
            <a:off x="4434840" y="3794760"/>
            <a:ext cx="73152" cy="1645920"/>
          </a:xfrm>
          <a:prstGeom prst="rect">
            <a:avLst/>
          </a:prstGeom>
          <a:solidFill>
            <a:srgbClr val="4F73B5"/>
          </a:solidFill>
          <a:ln w="12700">
            <a:solidFill>
              <a:srgbClr val="4F73B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/>
          <p:cNvSpPr/>
          <p:nvPr/>
        </p:nvSpPr>
        <p:spPr>
          <a:xfrm>
            <a:off x="4654296" y="395935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F7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最大速度 / 加速度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54296" y="438912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描述机器人运动快慢与动态响应上限。</a:t>
            </a:r>
            <a:endParaRPr lang="en-US" b="1" dirty="0"/>
          </a:p>
        </p:txBody>
      </p:sp>
      <p:sp>
        <p:nvSpPr>
          <p:cNvPr id="24" name="Shape 22"/>
          <p:cNvSpPr/>
          <p:nvPr/>
        </p:nvSpPr>
        <p:spPr>
          <a:xfrm>
            <a:off x="8138160" y="3794760"/>
            <a:ext cx="340156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Shape 23"/>
          <p:cNvSpPr/>
          <p:nvPr/>
        </p:nvSpPr>
        <p:spPr>
          <a:xfrm>
            <a:off x="8138160" y="3794760"/>
            <a:ext cx="73152" cy="1645920"/>
          </a:xfrm>
          <a:prstGeom prst="rect">
            <a:avLst/>
          </a:prstGeom>
          <a:solidFill>
            <a:srgbClr val="24477D"/>
          </a:solidFill>
          <a:ln w="12700">
            <a:solidFill>
              <a:srgbClr val="24477D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 24"/>
          <p:cNvSpPr/>
          <p:nvPr/>
        </p:nvSpPr>
        <p:spPr>
          <a:xfrm>
            <a:off x="8357616" y="395935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关节类型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57616" y="4389120"/>
            <a:ext cx="301752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主要包括旋转关节 R 和移动关节 P。</a:t>
            </a:r>
            <a:endParaRPr lang="en-US" b="1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参数1：自由度(DOF)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4709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73152" cy="18745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定义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325112" cy="1097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确定机构运动构型所需的独立运动参数数目，决定机械臂的运动灵活性。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18200" y="23134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空间 6 自由度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18200" y="2834640"/>
            <a:ext cx="1508760" cy="6858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C6D5E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63920" y="292608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x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63920" y="321868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位置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01280" y="2834640"/>
            <a:ext cx="1508760" cy="6858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C6D5E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0" y="292608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7000" y="321868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位置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84360" y="2834640"/>
            <a:ext cx="1508760" cy="6858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C6D5E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30080" y="292608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z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30080" y="321868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位置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18200" y="3840480"/>
            <a:ext cx="1508760" cy="6858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C8E4D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63920" y="39319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E72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横滚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63920" y="422452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姿态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01280" y="3840480"/>
            <a:ext cx="1508760" cy="6858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C8E4D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7000" y="39319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E72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俯仰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47000" y="422452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姿态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84360" y="3840480"/>
            <a:ext cx="1508760" cy="6858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C8E4D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30080" y="39319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E72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偏航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30080" y="422452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姿态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5800" y="3931920"/>
            <a:ext cx="47365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3931920"/>
            <a:ext cx="73152" cy="1572768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5256" y="4096512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C58A24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为什么需要</a:t>
            </a:r>
            <a:r>
              <a:rPr lang="en-US" sz="2000" b="1" dirty="0">
                <a:solidFill>
                  <a:srgbClr val="C58A24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7 自由度冗余机械臂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5256" y="4526280"/>
            <a:ext cx="4352544" cy="7955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7 自由度冗余机械臂更适合避障和灵活操作，因此在具身智能领域应用广泛。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参数2：负载能力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4" name="Shape 2"/>
          <p:cNvSpPr/>
          <p:nvPr/>
        </p:nvSpPr>
        <p:spPr>
          <a:xfrm>
            <a:off x="694944" y="1577340"/>
            <a:ext cx="5343558" cy="1310102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713232" y="1577339"/>
            <a:ext cx="73152" cy="1310101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928616" cy="1097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机械臂末端能够承受的最大负载，包括末端执行器及所操作物体的质量。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694944" y="4814115"/>
            <a:ext cx="5440680" cy="136858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C8E4D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950976" y="5015283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末端负载的组成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5582211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末端执行器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78024" y="5573067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35224" y="5582211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操作物体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52544" y="5573067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64024" y="5582211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额定负载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14438" y="4571595"/>
            <a:ext cx="4572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Shape 14"/>
          <p:cNvSpPr/>
          <p:nvPr/>
        </p:nvSpPr>
        <p:spPr>
          <a:xfrm>
            <a:off x="6714438" y="4571595"/>
            <a:ext cx="73152" cy="155448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5"/>
          <p:cNvSpPr/>
          <p:nvPr/>
        </p:nvSpPr>
        <p:spPr>
          <a:xfrm>
            <a:off x="6933894" y="4736187"/>
            <a:ext cx="36615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典型具身智能机械臂的负载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33893" y="5165955"/>
            <a:ext cx="4229677" cy="777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Franka Emika Panda：负载能力 3 kg，适用于轻型协作任务。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" y="3086943"/>
            <a:ext cx="532527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Shape 18"/>
          <p:cNvSpPr/>
          <p:nvPr/>
        </p:nvSpPr>
        <p:spPr>
          <a:xfrm>
            <a:off x="713232" y="3086943"/>
            <a:ext cx="73152" cy="155448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Text 19"/>
          <p:cNvSpPr/>
          <p:nvPr/>
        </p:nvSpPr>
        <p:spPr>
          <a:xfrm>
            <a:off x="932688" y="3251535"/>
            <a:ext cx="286864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</a:rPr>
              <a:t>部分机械臂的负载能力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681303"/>
            <a:ext cx="4999282" cy="777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UR3e：3 kg</a:t>
            </a:r>
            <a:r>
              <a:rPr lang="zh-CN" alt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Research 3：3 kg</a:t>
            </a:r>
            <a:r>
              <a:rPr lang="zh-CN" alt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IRB 360：3 kg</a:t>
            </a:r>
            <a:endParaRPr lang="en-US" altLang="zh-CN" b="1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LBR iiwa 14：14 kg</a:t>
            </a:r>
            <a:r>
              <a:rPr lang="zh-CN" alt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GEN 3：4 kg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190892"/>
            <a:ext cx="7199391" cy="405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参数3：重复定位精度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4572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73152" cy="192024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187952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在相同条件下，机械臂从同一方向多次重复到达同一目标位置时，各次实际到达位置之间的一致程度。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6176772" y="1549908"/>
            <a:ext cx="2148840" cy="214884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9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725412" y="2098548"/>
            <a:ext cx="1051560" cy="1051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4E0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0" name="Shape 8"/>
          <p:cNvSpPr/>
          <p:nvPr/>
        </p:nvSpPr>
        <p:spPr>
          <a:xfrm>
            <a:off x="7246620" y="1549908"/>
            <a:ext cx="0" cy="2148840"/>
          </a:xfrm>
          <a:prstGeom prst="line">
            <a:avLst/>
          </a:prstGeom>
          <a:noFill/>
          <a:ln w="12700">
            <a:solidFill>
              <a:srgbClr val="CBD4E0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1" name="Shape 9"/>
          <p:cNvSpPr/>
          <p:nvPr/>
        </p:nvSpPr>
        <p:spPr>
          <a:xfrm>
            <a:off x="6176772" y="2619756"/>
            <a:ext cx="2148840" cy="0"/>
          </a:xfrm>
          <a:prstGeom prst="line">
            <a:avLst/>
          </a:prstGeom>
          <a:noFill/>
          <a:ln w="12700">
            <a:solidFill>
              <a:srgbClr val="CBD4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200900" y="2519172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3" name="Shape 11"/>
          <p:cNvSpPr/>
          <p:nvPr/>
        </p:nvSpPr>
        <p:spPr>
          <a:xfrm>
            <a:off x="7310628" y="2619756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4" name="Shape 12"/>
          <p:cNvSpPr/>
          <p:nvPr/>
        </p:nvSpPr>
        <p:spPr>
          <a:xfrm>
            <a:off x="7182612" y="2683764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5" name="Shape 13"/>
          <p:cNvSpPr/>
          <p:nvPr/>
        </p:nvSpPr>
        <p:spPr>
          <a:xfrm>
            <a:off x="7365492" y="2482596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6" name="Shape 14"/>
          <p:cNvSpPr/>
          <p:nvPr/>
        </p:nvSpPr>
        <p:spPr>
          <a:xfrm>
            <a:off x="7264908" y="2747772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7" name="Shape 15"/>
          <p:cNvSpPr/>
          <p:nvPr/>
        </p:nvSpPr>
        <p:spPr>
          <a:xfrm>
            <a:off x="7136892" y="2592324"/>
            <a:ext cx="82296" cy="82296"/>
          </a:xfrm>
          <a:prstGeom prst="ellipse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8" name="Text 16"/>
          <p:cNvSpPr/>
          <p:nvPr/>
        </p:nvSpPr>
        <p:spPr>
          <a:xfrm>
            <a:off x="8572500" y="1943100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多次到达位置越集中，一致程度越高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56233" y="2898648"/>
            <a:ext cx="3795203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C63F45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工业机械臂</a:t>
            </a:r>
            <a:r>
              <a:rPr lang="zh-CN" altLang="en-US" sz="1600" b="1" dirty="0">
                <a:solidFill>
                  <a:srgbClr val="C63F45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精度</a:t>
            </a:r>
            <a:r>
              <a:rPr lang="en-US" sz="1600" b="1" dirty="0" err="1">
                <a:solidFill>
                  <a:srgbClr val="C63F45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通常为</a:t>
            </a:r>
            <a:r>
              <a:rPr lang="en-US" sz="1600" b="1" dirty="0">
                <a:solidFill>
                  <a:srgbClr val="C63F45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0.01～0.1 mm</a:t>
            </a:r>
            <a:endParaRPr lang="en-US" sz="16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04709" y="4082796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26" name="Text 24"/>
          <p:cNvSpPr/>
          <p:nvPr/>
        </p:nvSpPr>
        <p:spPr>
          <a:xfrm>
            <a:off x="924165" y="4247388"/>
            <a:ext cx="6473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</a:t>
            </a:r>
            <a:r>
              <a:rPr lang="zh-CN" alt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机械臂的精度</a:t>
            </a:r>
            <a:r>
              <a:rPr lang="en-US" sz="20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924165" y="4677156"/>
            <a:ext cx="6473952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altLang="zh-CN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ABB IRB 120 </a:t>
            </a:r>
            <a:r>
              <a:rPr lang="zh-CN" alt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0.01mm </a:t>
            </a: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UR3e：0.03 mm　Research 3：0.1 mm</a:t>
            </a:r>
            <a:endParaRPr lang="en-US" b="1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IRB 360：0.1 mm　LBR iiwa：0.15 mm　GEN 3：0.15 / 0.1 mm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668133" y="4082796"/>
            <a:ext cx="73152" cy="14173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参数4：工作半径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49808" y="1915358"/>
            <a:ext cx="4617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749808" y="1915358"/>
            <a:ext cx="73152" cy="187452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969264" y="2079950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2509718"/>
            <a:ext cx="4233672" cy="1097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机械臂末端在给定构型下能够达到的空间范围的半径，通常由臂长与关节运动范围共同决定。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6787510" y="4201667"/>
            <a:ext cx="424929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abb </a:t>
            </a:r>
            <a:r>
              <a:rPr lang="en-US" sz="1700" b="1" dirty="0" err="1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irb</a:t>
            </a:r>
            <a:r>
              <a:rPr lang="en-US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120 </a:t>
            </a:r>
            <a:r>
              <a:rPr lang="zh-CN" altLang="en-US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机械臂的</a:t>
            </a:r>
            <a:r>
              <a:rPr lang="en-US" sz="1700" b="1" dirty="0" err="1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工作半径</a:t>
            </a:r>
            <a:r>
              <a:rPr lang="zh-CN" altLang="en-US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</a:t>
            </a:r>
            <a:r>
              <a:rPr lang="en-US" altLang="zh-CN" sz="17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580mm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686300"/>
            <a:ext cx="10287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Shape 12"/>
          <p:cNvSpPr/>
          <p:nvPr/>
        </p:nvSpPr>
        <p:spPr>
          <a:xfrm>
            <a:off x="749808" y="4686300"/>
            <a:ext cx="73152" cy="14173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Text 13"/>
          <p:cNvSpPr/>
          <p:nvPr/>
        </p:nvSpPr>
        <p:spPr>
          <a:xfrm>
            <a:off x="969264" y="4850892"/>
            <a:ext cx="9902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典型机械臂的</a:t>
            </a:r>
            <a:r>
              <a:rPr lang="en-US" sz="20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工作半径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9264" y="5280660"/>
            <a:ext cx="9902952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UR3e：500 mm　Research 3：855 mm　IRB 360：1130 mm　</a:t>
            </a:r>
            <a:endParaRPr lang="en-US" b="1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LBR iiwa 14：820 mm　GEN 3：891 / 902 mm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050" y="1095813"/>
            <a:ext cx="3536799" cy="29229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参数5：最大速度与最大加速度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4800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73152" cy="1874520"/>
          </a:xfrm>
          <a:prstGeom prst="rect">
            <a:avLst/>
          </a:prstGeom>
          <a:solidFill>
            <a:srgbClr val="4F73B5"/>
          </a:solidFill>
          <a:ln w="12700">
            <a:solidFill>
              <a:srgbClr val="4F7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4165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4F7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最大速度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16552" cy="1097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额定负载下，机械臂末端或各关节所能达到的线速度或角速度的最大值。</a:t>
            </a:r>
            <a:endParaRPr lang="en-US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4088" y="3686452"/>
            <a:ext cx="480974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04088" y="3686452"/>
            <a:ext cx="73152" cy="187452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23544" y="3851044"/>
            <a:ext cx="48737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最大加速度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544" y="4280812"/>
            <a:ext cx="4336475" cy="1097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额定负载下，机械臂末端或各关节在单位时间内速度变化量的最大值。</a:t>
            </a:r>
            <a:endParaRPr lang="en-US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47856" y="5508239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KUKA iiwa 机械臂最大速度为 2 m/s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254" y="2075688"/>
            <a:ext cx="3343922" cy="32603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参数6：关节类型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" name="Shape 2"/>
          <p:cNvSpPr/>
          <p:nvPr/>
        </p:nvSpPr>
        <p:spPr>
          <a:xfrm>
            <a:off x="961136" y="1969006"/>
            <a:ext cx="3341624" cy="2316479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61136" y="1969006"/>
            <a:ext cx="93316" cy="2316479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80592" y="2133598"/>
            <a:ext cx="27103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关节｜旋转关节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0592" y="2563366"/>
            <a:ext cx="1737516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绕轴线转动。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64380" y="3035805"/>
            <a:ext cx="1126588" cy="1103975"/>
          </a:xfrm>
          <a:prstGeom prst="ellipse">
            <a:avLst/>
          </a:prstGeom>
          <a:solidFill>
            <a:srgbClr val="EDF2FA"/>
          </a:solidFill>
          <a:ln w="254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99788" y="2871213"/>
            <a:ext cx="1417320" cy="1388872"/>
          </a:xfrm>
          <a:prstGeom prst="arc">
            <a:avLst/>
          </a:prstGeom>
          <a:noFill/>
          <a:ln w="38100">
            <a:solidFill>
              <a:srgbClr val="31599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61136" y="4385563"/>
            <a:ext cx="3388360" cy="2316479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61136" y="4385563"/>
            <a:ext cx="54864" cy="2316479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80592" y="4550155"/>
            <a:ext cx="27035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关节｜移动关节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0592" y="4979923"/>
            <a:ext cx="2061464" cy="338327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沿轴线平动。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79296" y="6063486"/>
            <a:ext cx="2514600" cy="0"/>
          </a:xfrm>
          <a:prstGeom prst="line">
            <a:avLst/>
          </a:prstGeom>
          <a:noFill/>
          <a:ln w="50800">
            <a:solidFill>
              <a:srgbClr val="2F8E7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347976" y="5606286"/>
            <a:ext cx="777240" cy="868680"/>
          </a:xfrm>
          <a:prstGeom prst="rect">
            <a:avLst/>
          </a:prstGeom>
          <a:solidFill>
            <a:srgbClr val="EAF5F1"/>
          </a:solidFill>
          <a:ln w="254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0960" y="1299971"/>
            <a:ext cx="9692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机械臂的主要关节类型包括旋转关节（R</a:t>
            </a:r>
            <a:r>
              <a:rPr lang="en-US" sz="2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r>
              <a:rPr lang="zh-CN" altLang="en-US" sz="2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sz="2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移动关节（P</a:t>
            </a:r>
            <a:r>
              <a:rPr lang="en-US" sz="2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r>
              <a:rPr lang="zh-CN" altLang="en-US" sz="2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15261"/>
          <a:stretch>
            <a:fillRect/>
          </a:stretch>
        </p:blipFill>
        <p:spPr>
          <a:xfrm>
            <a:off x="4661252" y="3138961"/>
            <a:ext cx="3089910" cy="26183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242" y="3116665"/>
            <a:ext cx="3256315" cy="21792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3760" y="1127760"/>
            <a:ext cx="31597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部分机械臂的主要参数及应用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-1056640" y="50342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参数须根据任务匹配，例如</a:t>
            </a:r>
            <a:r>
              <a:rPr lang="en-US" sz="16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VLA 开发实验优先选择高精度、中低负载的协作臂。</a:t>
            </a: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905" y="2000428"/>
            <a:ext cx="11476190" cy="28571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运动学分析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1913126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73152" cy="1913126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05256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正运动学 Forward Kinematics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905256" y="2221992"/>
            <a:ext cx="4965192" cy="5415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给定关节变量，计算末端执行器的位置与姿态</a:t>
            </a:r>
            <a:r>
              <a:rPr lang="zh-CN" altLang="en-US" sz="20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，如可</a:t>
            </a:r>
            <a:r>
              <a:rPr lang="en-US" sz="2000" b="1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采用改进</a:t>
            </a:r>
            <a:r>
              <a:rPr lang="en-US" sz="2000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D-H 参数法描述连杆坐标系关系。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349240" cy="1913126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199632" y="1627632"/>
            <a:ext cx="73152" cy="1913126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19088" y="1792224"/>
            <a:ext cx="4965192" cy="139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逆运动学 Inverse Kinematics</a:t>
            </a:r>
            <a:endParaRPr 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6419088" y="2221992"/>
            <a:ext cx="4965192" cy="754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给定末端位置，求解关节变量。通常是非线性的，可能存在多个解，可采用几何法或雅可比矩阵</a:t>
            </a:r>
            <a:r>
              <a:rPr lang="zh-CN" alt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等方法</a:t>
            </a:r>
            <a:r>
              <a:rPr lang="en-US" b="1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Text 3"/>
          <p:cNvSpPr/>
          <p:nvPr/>
        </p:nvSpPr>
        <p:spPr>
          <a:xfrm>
            <a:off x="1203960" y="3691755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正运动学：关节</a:t>
            </a:r>
            <a:r>
              <a:rPr lang="zh-CN" alt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r>
              <a:rPr 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→ </a:t>
            </a:r>
            <a:r>
              <a:rPr lang="en-US" sz="19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</a:t>
            </a:r>
            <a:r>
              <a:rPr lang="zh-CN" alt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r>
              <a:rPr 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|     </a:t>
            </a:r>
            <a:r>
              <a:rPr lang="en-US" sz="19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逆运动学：末端</a:t>
            </a:r>
            <a:r>
              <a:rPr lang="zh-CN" alt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r>
              <a:rPr 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→ </a:t>
            </a:r>
            <a:r>
              <a:rPr lang="en-US" sz="19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关节</a:t>
            </a:r>
            <a:r>
              <a:rPr lang="zh-CN" altLang="en-US" sz="19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endParaRPr lang="en-US" sz="1900" dirty="0"/>
          </a:p>
        </p:txBody>
      </p:sp>
      <p:sp>
        <p:nvSpPr>
          <p:cNvPr id="94" name="Text 2"/>
          <p:cNvSpPr/>
          <p:nvPr/>
        </p:nvSpPr>
        <p:spPr>
          <a:xfrm>
            <a:off x="443484" y="4123600"/>
            <a:ext cx="11045952" cy="1969412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zh-CN" altLang="en-US" sz="2400" b="1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具身智能中的意义：</a:t>
            </a:r>
            <a:endParaRPr lang="en-US" altLang="zh-CN" sz="2400" b="1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路径规划：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机械臂与人形机器人可通过运动学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分析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生成可执行的空间路径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学习轨迹生成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可通过逆运动学生成用于学习的关节轨迹，作为训练或示教数据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在科研和工程中，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可借助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MATLAB、ROS、Python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库（如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ikpy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等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完成相关计算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正运动学：改进 D-H </a:t>
            </a:r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参数法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669280" cy="2387599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1955 年，Khalil 和 Kleinfinger 提出改进的 D-H 参数法。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连杆坐标系 {i} 建立在第 i 关节的轴线上。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通过 4 个 D-H 参数描述相邻连杆的几何关系：aᵢ₋₁、αᵢ₋₁、dᵢ、θᵢ。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mnt/data/ch2_images/img-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5440" y="1763789"/>
            <a:ext cx="4389120" cy="30357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73520" y="499872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连杆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i−1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的结构参数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D-H 参数①②：连杆长度 aᵢ₋₁ 与扭角 αᵢ₋₁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data/ch2_images/img-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0175"/>
            <a:ext cx="4846320" cy="33520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73736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806440" y="1737360"/>
            <a:ext cx="73152" cy="160020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25896" y="1901952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aᵢ₋₁：连杆长度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25896" y="2331720"/>
            <a:ext cx="491947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关节 i−1 的轴线与关节 i 的轴线之间的公垂线长度。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806440" y="365760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06440" y="3657600"/>
            <a:ext cx="73152" cy="160020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25896" y="3822192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αᵢ₋₁：连杆扭角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25896" y="4251960"/>
            <a:ext cx="491947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关节 i−1 轴线与关节 i 轴线之间的夹角，方向遵循右手定则。若两轴线平行，则 αᵢ₋₁ = 0。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D-H 参数③④：偏距 dᵢ 与关节角 θᵢ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590"/>
            <a:ext cx="4846320" cy="33371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9788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相邻连杆之间的关系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806440" y="173736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7" name="Shape 4"/>
          <p:cNvSpPr/>
          <p:nvPr/>
        </p:nvSpPr>
        <p:spPr>
          <a:xfrm>
            <a:off x="5806440" y="1737360"/>
            <a:ext cx="73152" cy="160020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" name="Text 5"/>
          <p:cNvSpPr/>
          <p:nvPr/>
        </p:nvSpPr>
        <p:spPr>
          <a:xfrm>
            <a:off x="6025896" y="1901952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dᵢ：连杆偏距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025896" y="2331720"/>
            <a:ext cx="491947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公垂线 aᵢ₋₁ 与关节 i 轴线的交点到公垂线 aᵢ 与关节 i 轴线交点之间的距离。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06440" y="365760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1" name="Shape 8"/>
          <p:cNvSpPr/>
          <p:nvPr/>
        </p:nvSpPr>
        <p:spPr>
          <a:xfrm>
            <a:off x="5806440" y="3657600"/>
            <a:ext cx="73152" cy="160020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2" name="Text 9"/>
          <p:cNvSpPr/>
          <p:nvPr/>
        </p:nvSpPr>
        <p:spPr>
          <a:xfrm>
            <a:off x="6025896" y="3822192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θᵢ：关节角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25896" y="4251960"/>
            <a:ext cx="491947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连杆 i 相对连杆 i−1 绕轴线 i 的旋转角度。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779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4 个 D-H 参数放在同一几何关系中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data/ch2_images/img-0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2743" y="1463040"/>
            <a:ext cx="6573153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035040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相邻连杆之间的关系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齐次变换矩阵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4380" y="1468190"/>
            <a:ext cx="10607040" cy="189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ct val="170000"/>
              </a:lnSpc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统一描述物体在三维空间中的旋转和平移操作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Arial" panose="020B0704020202020204" pitchFamily="34" charset="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坐标系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{i} 相对于坐标系 {i−1}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的变换矩阵可写成旋转与平移的连续组合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Arial" panose="020B0704020202020204" pitchFamily="34" charset="0"/>
              <a:buChar char="•"/>
            </a:pP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D-H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矩阵把相邻连杆坐标系之间的旋转和平移统一为一个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4×4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齐次变换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Arial" panose="020B07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0456" y="3399613"/>
            <a:ext cx="79095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formula_png2/eq-2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9912" y="3632512"/>
            <a:ext cx="7424928" cy="18659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70848" y="292634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21147" y="5898324"/>
            <a:ext cx="6844683" cy="34907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 fontScale="92500"/>
          </a:bodyPr>
          <a:lstStyle/>
          <a:p>
            <a:r>
              <a:rPr lang="zh-CN" altLang="en-US" sz="20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式中：</a:t>
            </a:r>
            <a:r>
              <a:rPr 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aᵢ₋₁：</a:t>
            </a:r>
            <a:r>
              <a:rPr lang="en-US" sz="22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连杆长度</a:t>
            </a:r>
            <a:r>
              <a:rPr lang="zh-CN" alt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αᵢ₋₁：</a:t>
            </a:r>
            <a:r>
              <a:rPr lang="en-US" sz="22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扭角</a:t>
            </a:r>
            <a:r>
              <a:rPr lang="zh-CN" alt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dᵢ：</a:t>
            </a:r>
            <a:r>
              <a:rPr lang="en-US" sz="22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偏距</a:t>
            </a:r>
            <a:r>
              <a:rPr lang="zh-CN" alt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sz="22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θᵢ：关节角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多自由度机械臂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对于 n 自由度机械臂，末端位置 / 位姿由所有相邻坐标系变换矩阵的乘积得到。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61972" y="2597486"/>
            <a:ext cx="7909560" cy="124654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formula_png2/eq-2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27" y="2803168"/>
            <a:ext cx="5494745" cy="7746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969974" y="4467434"/>
            <a:ext cx="9123937" cy="881362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式中：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：齐次变换矩阵、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：末端关节编号</a:t>
            </a:r>
            <a:endParaRPr lang="zh-CN" alt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逆运动学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36777"/>
            <a:ext cx="10149840" cy="15494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 fontScale="92500" lnSpcReduction="20000"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给定末端位置，求解关节变量。</a:t>
            </a:r>
            <a:endParaRPr lang="en-US" sz="2800" dirty="0">
              <a:latin typeface="Microsoft YaHei" pitchFamily="34" charset="-122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问题通常具有非线性，且可能存在多个解</a:t>
            </a:r>
            <a:endParaRPr lang="en-US" sz="2800" dirty="0">
              <a:latin typeface="Microsoft YaHei" pitchFamily="34" charset="-122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对于 6 自由度机械臂，可采用几何法或雅可比矩阵求解。</a:t>
            </a:r>
            <a:endParaRPr lang="en-US" sz="2800" dirty="0">
              <a:latin typeface="Microsoft YaHei" pitchFamily="34" charset="-122"/>
              <a:ea typeface="Microsoft YaHei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Times New Roman" panose="02020603050405020304" pitchFamily="18" charset="0"/>
              </a:rPr>
              <a:t>雅可比矩阵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49421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对六自由度机械臂，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雅可比矩阵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 J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描述末端执行器速度与关节速度之间的关系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0" descr="/mnt/data/formula_png2/eq-2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070" y="2305232"/>
            <a:ext cx="2460027" cy="645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4645152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32688" y="4828032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Times New Roman" panose="02020603050405020304" pitchFamily="18" charset="0"/>
              </a:rPr>
              <a:t>若 J </a:t>
            </a: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Times New Roman" panose="02020603050405020304" pitchFamily="18" charset="0"/>
              </a:rPr>
              <a:t>可逆，则逆解可写为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06" y="4830446"/>
            <a:ext cx="1892691" cy="78477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10176" y="3556612"/>
            <a:ext cx="9123937" cy="360598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r>
              <a:rPr lang="zh-CN" altLang="en-US" sz="20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式中：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77" y="3317622"/>
            <a:ext cx="5974623" cy="6708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2.1.2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移动操作机器人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20548" y="1419539"/>
            <a:ext cx="10778379" cy="42976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将轮式移动平台与机械臂（单臂或双臂）集成。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是固定基座机械臂与人形机器人之间较为经济的中间形态。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可完成环境感知、自主导航与任务执行的闭环操作，如搬运、抓取和分拣。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室内平坦环境中兼具移动性、稳定性和安全性。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移动操作机器人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的基本组成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7" name="Shape 2"/>
          <p:cNvSpPr/>
          <p:nvPr/>
        </p:nvSpPr>
        <p:spPr>
          <a:xfrm>
            <a:off x="1209217" y="1601329"/>
            <a:ext cx="3337560" cy="1565977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Shape 3"/>
          <p:cNvSpPr/>
          <p:nvPr/>
        </p:nvSpPr>
        <p:spPr>
          <a:xfrm>
            <a:off x="1209217" y="1566605"/>
            <a:ext cx="109728" cy="1565977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1" name="Text 4"/>
          <p:cNvSpPr/>
          <p:nvPr/>
        </p:nvSpPr>
        <p:spPr>
          <a:xfrm>
            <a:off x="1428673" y="1731197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轮式底盘</a:t>
            </a:r>
            <a:endParaRPr lang="en-US" sz="2400" dirty="0"/>
          </a:p>
        </p:txBody>
      </p:sp>
      <p:sp>
        <p:nvSpPr>
          <p:cNvPr id="23" name="Text 5"/>
          <p:cNvSpPr/>
          <p:nvPr/>
        </p:nvSpPr>
        <p:spPr>
          <a:xfrm>
            <a:off x="1428673" y="2160965"/>
            <a:ext cx="2953512" cy="5415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承担平移与转向，通常为 2/3 自由度；常见差动驱动与全向轮底盘。</a:t>
            </a:r>
            <a:endParaRPr lang="en-US" sz="2000" dirty="0"/>
          </a:p>
        </p:txBody>
      </p:sp>
      <p:sp>
        <p:nvSpPr>
          <p:cNvPr id="26" name="Shape 6"/>
          <p:cNvSpPr/>
          <p:nvPr/>
        </p:nvSpPr>
        <p:spPr>
          <a:xfrm>
            <a:off x="1209217" y="3307159"/>
            <a:ext cx="3337560" cy="1565977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Shape 7"/>
          <p:cNvSpPr/>
          <p:nvPr/>
        </p:nvSpPr>
        <p:spPr>
          <a:xfrm>
            <a:off x="1209217" y="3307159"/>
            <a:ext cx="73152" cy="1565977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0" name="Text 8"/>
          <p:cNvSpPr/>
          <p:nvPr/>
        </p:nvSpPr>
        <p:spPr>
          <a:xfrm>
            <a:off x="1428673" y="3471751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</a:t>
            </a:r>
            <a:endParaRPr lang="en-US" sz="2400" dirty="0"/>
          </a:p>
        </p:txBody>
      </p:sp>
      <p:sp>
        <p:nvSpPr>
          <p:cNvPr id="32" name="Text 9"/>
          <p:cNvSpPr/>
          <p:nvPr/>
        </p:nvSpPr>
        <p:spPr>
          <a:xfrm>
            <a:off x="1445140" y="3970012"/>
            <a:ext cx="2953512" cy="71575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单臂通常 6/7 自由度，可采用单臂或双臂构型。</a:t>
            </a:r>
            <a:endParaRPr lang="en-US" sz="2000" dirty="0"/>
          </a:p>
        </p:txBody>
      </p:sp>
      <p:sp>
        <p:nvSpPr>
          <p:cNvPr id="34" name="Shape 10"/>
          <p:cNvSpPr/>
          <p:nvPr/>
        </p:nvSpPr>
        <p:spPr>
          <a:xfrm>
            <a:off x="1246060" y="5027944"/>
            <a:ext cx="3337560" cy="1565977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Shape 11"/>
          <p:cNvSpPr/>
          <p:nvPr/>
        </p:nvSpPr>
        <p:spPr>
          <a:xfrm>
            <a:off x="1246060" y="5027944"/>
            <a:ext cx="54864" cy="1565977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8" name="Text 12"/>
          <p:cNvSpPr/>
          <p:nvPr/>
        </p:nvSpPr>
        <p:spPr>
          <a:xfrm>
            <a:off x="1465516" y="5192536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末端与传感</a:t>
            </a:r>
            <a:endParaRPr lang="en-US" sz="2400" dirty="0"/>
          </a:p>
        </p:txBody>
      </p:sp>
      <p:sp>
        <p:nvSpPr>
          <p:cNvPr id="40" name="Text 13"/>
          <p:cNvSpPr/>
          <p:nvPr/>
        </p:nvSpPr>
        <p:spPr>
          <a:xfrm>
            <a:off x="1465516" y="5622304"/>
            <a:ext cx="3008376" cy="7324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配置夹爪 / 灵巧手，并集成传感器以完成“手、眼、脚”协同。</a:t>
            </a:r>
            <a:endParaRPr lang="en-US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987" y="1335024"/>
            <a:ext cx="4684990" cy="515348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底盘形式：差动驱动 vs 全向轮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15480"/>
            <a:ext cx="5074920" cy="2089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1" y="4824177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松灵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TRACER 2.0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差动驱动底盘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1" descr="/mnt/data/ch2_images/img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33732"/>
            <a:ext cx="4663440" cy="27734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8296" y="4892039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瑞士轮全向轮底盘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97280" y="5486400"/>
            <a:ext cx="9784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底盘形式影响移动自由度、转向方式、控制复杂度与场地适应性。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单臂与双臂移动操作机器人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251" y="1691640"/>
            <a:ext cx="2481418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3035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AUBO-AMR300</a:t>
            </a: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单臂移动操作机器人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1" descr="/mnt/data/ch2_images/img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442" y="1691640"/>
            <a:ext cx="2071797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5303520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睿尔曼具身双臂升降移动平台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21360" y="6074664"/>
            <a:ext cx="1036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单臂更偏任务导向型实验；双臂人形构型更强调双臂协同与人类行为模仿。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双臂移动操作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44805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双臂轮式移动操作机器人可采用仿人构型：躯干和上身仿人、集成双臂与头部，底盘多采用三轮或四轮结构。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青龙 Wheel：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全身 22 自由度、质量 240 kg、作业负载 100 N，可用于物流搬运与户外环卫等场景。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LIMS2-AMBIDEX：</a:t>
            </a: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每只手臂 7 自由度，驱动器集中布置在肩部并采用线性驱动，单臂最大速度可达 5 m/s。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0408" y="5050825"/>
            <a:ext cx="3703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LIMS2-AMBIDEX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874" y="1514567"/>
            <a:ext cx="3472926" cy="343736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移动操作机器人</a:t>
            </a:r>
            <a:r>
              <a:rPr lang="zh-CN" alt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的</a:t>
            </a:r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选型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571500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松灵</a:t>
            </a: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Cobot</a:t>
            </a: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Magic</a:t>
            </a:r>
            <a:r>
              <a:rPr lang="en-US" sz="1050" dirty="0">
                <a:solidFill>
                  <a:srgbClr val="667085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协作机器人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12080" y="1744305"/>
            <a:ext cx="5765350" cy="38404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综合考虑：自由度、负载能力、重复定位精度、工作半径、最大速度与最大加速度</a:t>
            </a:r>
            <a:r>
              <a:rPr lang="en-US" sz="28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同时考虑：底盘类型、传感器配置等</a:t>
            </a:r>
            <a:r>
              <a:rPr lang="en-US" sz="28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这些指标共同决定移动操作机器人在具身智能任务中的适用性。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463" y="1399830"/>
            <a:ext cx="3336113" cy="42503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案例：Pepper 仿人形移动操作机器人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508" y="1600200"/>
            <a:ext cx="1860504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94360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Pepper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43738" y="1763982"/>
            <a:ext cx="7313694" cy="3330035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2014 年公开亮相，2015 年开始限量发售。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头部集成摄像头、麦克风阵列与 3D 传感器，尝试识别人类面部表情和声调。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身高约 120 cm、重 28 kg，三轮移动底座，胸部 10.1 in 触控屏，20 自由度。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曾在全球超过 2000 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家企业提供零售导购、客户接待等服务</a:t>
            </a:r>
            <a:endParaRPr lang="en-US" sz="28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2019 年停止生产。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移动操作机器人的运动学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整体运动学需要同时考虑轮式底盘与机械臂的运动，将两部分姿态变换矩阵级联</a:t>
            </a:r>
            <a:r>
              <a:rPr lang="en-US" sz="1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7909560" cy="1315227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6230" y="2678549"/>
            <a:ext cx="4479850" cy="539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810176" y="4060462"/>
            <a:ext cx="9123937" cy="360598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r>
              <a:rPr lang="zh-CN" altLang="en-US" sz="20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式中：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base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：底盘姿态变换矩阵</a:t>
            </a:r>
            <a:r>
              <a:rPr lang="zh-CN" altLang="en-US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arm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：机械臂变换矩阵</a:t>
            </a:r>
            <a:r>
              <a:rPr lang="zh-CN" altLang="en-US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end</a:t>
            </a:r>
            <a:r>
              <a:rPr lang="en-US" altLang="zh-CN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：末端变换矩阵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MoveIt：移动操作机器人的运动学可视化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80" y="1964822"/>
            <a:ext cx="9423400" cy="40456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040" y="611733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移动操作机器人虚拟样机</a:t>
            </a:r>
            <a:endParaRPr lang="en-US" sz="1400" b="1" dirty="0"/>
          </a:p>
        </p:txBody>
      </p:sp>
      <p:sp>
        <p:nvSpPr>
          <p:cNvPr id="6" name="Text 3"/>
          <p:cNvSpPr/>
          <p:nvPr/>
        </p:nvSpPr>
        <p:spPr>
          <a:xfrm>
            <a:off x="746760" y="1494475"/>
            <a:ext cx="869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algn="ctr">
              <a:buFont typeface="Arial" panose="020B0704020202020204" pitchFamily="34" charset="0"/>
              <a:buChar char="•"/>
            </a:pPr>
            <a:r>
              <a:rPr lang="zh-CN" alt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</a:t>
            </a:r>
            <a:r>
              <a:rPr 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</a:t>
            </a:r>
            <a:r>
              <a:rPr lang="en-US" altLang="zh-CN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ROS</a:t>
            </a:r>
            <a:r>
              <a:rPr lang="zh-CN" alt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中的</a:t>
            </a:r>
            <a:r>
              <a:rPr lang="en-US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MoveIt</a:t>
            </a:r>
            <a:r>
              <a:rPr 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zh-CN" alt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r>
              <a:rPr lang="en-US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中搭建移动操作机器人虚拟样机</a:t>
            </a:r>
            <a:r>
              <a:rPr 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zh-CN" alt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进行移动和</a:t>
            </a:r>
            <a:r>
              <a:rPr lang="en-US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抓取仿真</a:t>
            </a:r>
            <a:r>
              <a:rPr lang="en-US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2.1.3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人形机器人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058400" cy="37947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在结构外形、身高、四肢、自由度等方面尽量接近人类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模仿人类身体结构和运动方式，可在复杂环境中行走、抓取并进行自然交互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是验证高阶具身智能的重要形态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人形机器人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14706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686" y="6242687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ASIMO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6368939" y="620877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Atlas</a:t>
            </a: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液压驱动人形机器人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7080" y="978041"/>
            <a:ext cx="10993120" cy="169307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ASIMO </a:t>
            </a: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的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动态行走</a:t>
            </a: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能力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Atlas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通过高压液压系统与先进控制算法</a:t>
            </a: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，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展示了非结构化环境中的动态平衡和全身运动能力</a:t>
            </a:r>
            <a:endParaRPr 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542" y="3024148"/>
            <a:ext cx="4591050" cy="3124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789" y="3330260"/>
            <a:ext cx="4815889" cy="27089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9225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年后的新转折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78180" y="1402080"/>
            <a:ext cx="10835640" cy="276606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latin typeface="Microsoft YaHei" pitchFamily="34" charset="-122"/>
                <a:ea typeface="Microsoft YaHei" pitchFamily="34" charset="-122"/>
              </a:rPr>
              <a:t>特斯拉推出</a:t>
            </a:r>
            <a:r>
              <a:rPr lang="en-US" sz="2400" dirty="0"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sz="2400" dirty="0" err="1">
                <a:latin typeface="Microsoft YaHei" pitchFamily="34" charset="-122"/>
                <a:ea typeface="Microsoft YaHei" pitchFamily="34" charset="-122"/>
              </a:rPr>
              <a:t>Optimus人形机器人原型机，提出低成本、高性能电机驱动方案</a:t>
            </a:r>
            <a:r>
              <a:rPr lang="zh-CN" altLang="en-US" sz="2400" dirty="0">
                <a:latin typeface="Microsoft YaHei" pitchFamily="34" charset="-122"/>
                <a:ea typeface="Microsoft YaHei" pitchFamily="34" charset="-122"/>
              </a:rPr>
              <a:t>，</a:t>
            </a:r>
            <a:r>
              <a:rPr lang="en-US" sz="2400" dirty="0" err="1">
                <a:latin typeface="Microsoft YaHei" pitchFamily="34" charset="-122"/>
                <a:ea typeface="Microsoft YaHei" pitchFamily="34" charset="-122"/>
              </a:rPr>
              <a:t>此举推动全球新一轮人形机器人研发与投资热潮</a:t>
            </a:r>
            <a:r>
              <a:rPr lang="en-US" sz="2400" dirty="0"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latin typeface="Microsoft YaHei" pitchFamily="34" charset="-122"/>
                <a:ea typeface="Microsoft YaHei" pitchFamily="34" charset="-122"/>
              </a:rPr>
              <a:t>我国凭借精密制造、电机驱动产业链以及长期机器人研究积累，迅速形成完整产业生态</a:t>
            </a:r>
            <a:r>
              <a:rPr lang="en-US" sz="2400" dirty="0"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8273" y="3650658"/>
            <a:ext cx="5621894" cy="29098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5236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我国人形机器人产业进入批量生产与落地阶段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7" name="Text 2"/>
          <p:cNvSpPr/>
          <p:nvPr/>
        </p:nvSpPr>
        <p:spPr>
          <a:xfrm>
            <a:off x="777240" y="1645919"/>
            <a:ext cx="10835640" cy="3877055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zh-CN" alt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</a:rPr>
              <a:t>截至</a:t>
            </a:r>
            <a:r>
              <a:rPr lang="en-US" altLang="zh-CN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</a:rPr>
              <a:t>2025</a:t>
            </a:r>
            <a:r>
              <a:rPr lang="zh-CN" alt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</a:rPr>
              <a:t>年：</a:t>
            </a:r>
            <a:endParaRPr lang="en-US" altLang="zh-CN" sz="2800" b="1" dirty="0">
              <a:solidFill>
                <a:srgbClr val="31599B"/>
              </a:solidFill>
              <a:latin typeface="Noto Sans CJK SC" pitchFamily="34" charset="0"/>
              <a:ea typeface="Noto Sans CJK SC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我国已拥有超过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150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家人形机器人相关企业</a:t>
            </a:r>
            <a:endParaRPr lang="en-US" altLang="zh-CN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sz="2900" dirty="0">
                <a:latin typeface="Microsoft YaHei" pitchFamily="34" charset="-122"/>
                <a:ea typeface="Microsoft YaHei" pitchFamily="34" charset="-122"/>
              </a:rPr>
              <a:t>宇树科技纯人形机器人交付量超过</a:t>
            </a:r>
            <a:r>
              <a:rPr lang="en-US" altLang="zh-CN" sz="2900" dirty="0">
                <a:latin typeface="Microsoft YaHei" pitchFamily="34" charset="-122"/>
                <a:ea typeface="Microsoft YaHei" pitchFamily="34" charset="-122"/>
              </a:rPr>
              <a:t>5500</a:t>
            </a:r>
            <a:r>
              <a:rPr lang="zh-CN" altLang="en-US" sz="2900" dirty="0">
                <a:latin typeface="Microsoft YaHei" pitchFamily="34" charset="-122"/>
                <a:ea typeface="Microsoft YaHei" pitchFamily="34" charset="-122"/>
              </a:rPr>
              <a:t>台</a:t>
            </a:r>
            <a:endParaRPr lang="en-US" altLang="zh-CN" sz="29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优必选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Walker S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已在工厂部署超过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500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台，用于组装任务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altLang="zh-CN" sz="29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智元机器人于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2025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年实现第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5000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台机器人下线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sz="2900" b="1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5236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我国人形机器人产业进入批量生产与落地阶段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841" y="1590294"/>
            <a:ext cx="6548120" cy="491109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部分代表性人形机器人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及主要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2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14" y="1942014"/>
            <a:ext cx="11428571" cy="395238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9593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人形机器人的典型结构组成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7890"/>
            <a:ext cx="5166360" cy="36565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0240" y="5797296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algn="ctr">
              <a:buNone/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宇树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Unitree G1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结构组成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51880" y="1342770"/>
            <a:ext cx="5461000" cy="212979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Autofit/>
          </a:bodyPr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头部：深度相机、3D 激光雷达、麦克风阵列、IMU 等感知模块。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躯干：计算硬件、能源模块、冷却与热管理系统、扬声器等。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上肢：同构双臂，单臂通常 6/7 自由度，末端配置夹爪或多指灵巧手。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下肢：每条下肢通常 6 自由度。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框架与保护外壳：钢、铝镁合金、碳纤维复合材料以及改性 PC / ABS 等。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2.1.4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64208"/>
            <a:ext cx="10058400" cy="41605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zh-CN" alt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在复杂地形中兼顾通过性与工程可落地性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比轮式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 / </a:t>
            </a: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履带式平台更擅长台阶、砂石等非结构化地形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比人形机器人重心更低、步态控制更易工程化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可完成巡检、搬运、跟随和自主导航等任务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常用于验证环境感知、运动规划、学习控制的鲁棒性，并广泛用于虚实迁移研究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的典型结构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17381"/>
            <a:ext cx="4663440" cy="3526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6168" y="5568696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Panda-5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电动四足机器人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5895217" y="2569198"/>
            <a:ext cx="5356860" cy="26198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228600" indent="-228600">
              <a:buSzPct val="100000"/>
              <a:buChar char="•"/>
            </a:pP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工程上常见每条腿 3 </a:t>
            </a: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个主动自由度</a:t>
            </a:r>
            <a:r>
              <a:rPr lang="zh-CN" alt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（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髋外展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/</a:t>
            </a:r>
            <a:r>
              <a:rPr lang="en-US" altLang="zh-CN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内收、髋俯仰、膝俯仰</a:t>
            </a:r>
            <a:r>
              <a:rPr lang="en-US" altLang="zh-CN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zh-CN" alt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），</a:t>
            </a: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四条腿合计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 12 </a:t>
            </a: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个自由度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躯干集成电池、计算单元与外部传感器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足端通过与地面的接触力实现支撑、推进与转向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的足端接触分析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3152" cy="32461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950976" y="1901952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足端轨迹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999232" cy="1315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需要生成足端轨迹与落足点，决定下一步“脚落在哪里”。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07408" y="17373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Shape 7"/>
          <p:cNvSpPr/>
          <p:nvPr/>
        </p:nvSpPr>
        <p:spPr>
          <a:xfrm>
            <a:off x="4407408" y="1737360"/>
            <a:ext cx="73152" cy="324612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" name="Text 8"/>
          <p:cNvSpPr/>
          <p:nvPr/>
        </p:nvSpPr>
        <p:spPr>
          <a:xfrm>
            <a:off x="4626864" y="1901952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接触约束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36008" y="2580640"/>
            <a:ext cx="2999232" cy="1249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需要在地面接触与摩擦条件下维持整体稳定。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Shape 11"/>
          <p:cNvSpPr/>
          <p:nvPr/>
        </p:nvSpPr>
        <p:spPr>
          <a:xfrm>
            <a:off x="8083296" y="1737360"/>
            <a:ext cx="73152" cy="324612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4" name="Text 12"/>
          <p:cNvSpPr/>
          <p:nvPr/>
        </p:nvSpPr>
        <p:spPr>
          <a:xfrm>
            <a:off x="8302752" y="1901952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状态反馈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02752" y="2489200"/>
            <a:ext cx="2999232" cy="172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通常配置足端触地检测、机身 IMU 和关节编码器，构成高频状态估计与闭环控制。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四足机器人运动学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73152" cy="425196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905256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单腿运动学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5256" y="2689352"/>
            <a:ext cx="4965192" cy="7955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分析每条腿的关节角与足端位置关系，是基础运动学形式。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3492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Shape 7"/>
          <p:cNvSpPr/>
          <p:nvPr/>
        </p:nvSpPr>
        <p:spPr>
          <a:xfrm>
            <a:off x="6199632" y="1627632"/>
            <a:ext cx="73152" cy="425196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" name="Text 8"/>
          <p:cNvSpPr/>
          <p:nvPr/>
        </p:nvSpPr>
        <p:spPr>
          <a:xfrm>
            <a:off x="6419088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机体运动学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19088" y="2653792"/>
            <a:ext cx="4965192" cy="13594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研究躯干位姿变化与各足端空间位置之间的关系，是建立整机运动模型的基础。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简化单腿模型：矢状面二连杆机构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78" y="1417320"/>
            <a:ext cx="3648364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60350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教材图2-16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单腿着地示意图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35040" y="1645920"/>
            <a:ext cx="4800600" cy="2128519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忽略髋关节外展 / 内收自由度。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只考虑髋关节转角 θ₁ 和膝关节转角 θ₂。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已知足端位置 (x_end, y_end)，求解腿部髋、膝关节转角。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四足单腿逆运动学①：几何约束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899648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L_t² = x_end² + y_end²，结合余弦定理建立足端位置与两段腿长、膝关节角之间的关系。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03120" y="2318518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815836"/>
            <a:ext cx="7424928" cy="6055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419" y="41320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符号意义</a:t>
            </a:r>
            <a:r>
              <a:rPr lang="zh-CN" alt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563024" y="4058413"/>
            <a:ext cx="8822991" cy="487678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x</a:t>
            </a:r>
            <a:r>
              <a:rPr lang="en-US" sz="2400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end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y</a:t>
            </a:r>
            <a:r>
              <a:rPr lang="en-US" sz="2400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end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：足端位置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L₁, L₂：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两段连杆长度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θ₂：膝关节转角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四足单腿逆运动学②：求膝关节角 θ₂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进一步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得到膝关节转角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θ₂ 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03552" y="2392680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368" y="2529840"/>
            <a:ext cx="7290208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4233672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2" name="Text 9"/>
          <p:cNvSpPr/>
          <p:nvPr/>
        </p:nvSpPr>
        <p:spPr>
          <a:xfrm>
            <a:off x="932688" y="4416552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实际应用中，不同构型可能对应不同支链，需要结合关节运动范围与装配方式选择。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400" b="1" dirty="0" err="1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四足单腿逆运动学</a:t>
            </a: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</a:t>
            </a: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求</a:t>
            </a: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φ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45235" y="1325881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进一步由几何关系求得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φ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en-US" altLang="zh-CN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用于求髋关节角的几何中间量</a:t>
            </a:r>
            <a:r>
              <a:rPr lang="en-US" altLang="zh-CN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endParaRPr lang="en-US" sz="2400" dirty="0"/>
          </a:p>
        </p:txBody>
      </p:sp>
      <p:pic>
        <p:nvPicPr>
          <p:cNvPr id="6" name="Image 0" descr="/mnt/data/formula_png2/eq-2-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088" y="2427211"/>
            <a:ext cx="6382594" cy="17859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四足单腿逆运动学④：</a:t>
            </a: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求髋关节角 θ</a:t>
            </a: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2"/>
          <p:cNvSpPr/>
          <p:nvPr/>
        </p:nvSpPr>
        <p:spPr>
          <a:xfrm>
            <a:off x="893334" y="142688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Times New Roman" panose="02020603050405020304" pitchFamily="18" charset="0"/>
              </a:rPr>
              <a:t>最终得到髋关节转角与足端位置之间的关系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Image 0" descr="/mnt/data/formula_png2/eq-2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159" y="2643407"/>
            <a:ext cx="5471160" cy="511691"/>
          </a:xfrm>
          <a:prstGeom prst="rect">
            <a:avLst/>
          </a:prstGeom>
        </p:spPr>
      </p:pic>
      <p:sp>
        <p:nvSpPr>
          <p:cNvPr id="24" name="Shape 8"/>
          <p:cNvSpPr/>
          <p:nvPr/>
        </p:nvSpPr>
        <p:spPr>
          <a:xfrm>
            <a:off x="591891" y="5001513"/>
            <a:ext cx="10625328" cy="71323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 b="1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7" name="Text 9"/>
          <p:cNvSpPr/>
          <p:nvPr/>
        </p:nvSpPr>
        <p:spPr>
          <a:xfrm>
            <a:off x="829635" y="4891784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实际中需要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结合关节运动范围、机构装配方式和期望步态进行构型选择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29" name="Text 6"/>
          <p:cNvSpPr/>
          <p:nvPr/>
        </p:nvSpPr>
        <p:spPr>
          <a:xfrm>
            <a:off x="1066419" y="391215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047331" y="3867679"/>
            <a:ext cx="6043373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θ₁：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髋关节转角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atan2：二维方位角函数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17805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从单腿到整机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058400" cy="4389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机体平移和姿态变化，会同时影响四个足端在空间中的相对位置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因此机体运动学需要进一步考虑躯干与各足端之间的坐标变换关系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在此基础上可建立站立、行走和越障等任务的整体运动模型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9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整体运动学为后续步态规划与控制提供依据</a:t>
            </a:r>
            <a:r>
              <a:rPr lang="en-US" sz="29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lang="en-US" sz="29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9219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步态与控制：支撑相、摆动相与支撑多边形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905256" y="190195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支撑相 Stance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5256" y="2331720"/>
            <a:ext cx="3044952" cy="2606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足端与地面保持接触并承担支撑作用。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73152" cy="338328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/>
          <p:cNvSpPr/>
          <p:nvPr/>
        </p:nvSpPr>
        <p:spPr>
          <a:xfrm>
            <a:off x="4608576" y="190195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摆动相 Swing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08576" y="2331720"/>
            <a:ext cx="3044952" cy="2606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足端离开地面并向下一落足点移动。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11"/>
          <p:cNvSpPr/>
          <p:nvPr/>
        </p:nvSpPr>
        <p:spPr>
          <a:xfrm>
            <a:off x="8092440" y="1737360"/>
            <a:ext cx="73152" cy="338328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8311896" y="190195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支撑多边形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11896" y="2331720"/>
            <a:ext cx="3044952" cy="2606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把所有支撑足端接触点作凸包得到支撑区域。低速 / 准静态运动时，质心投影通常应位于其中。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四足机器人常见的 4 种步态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7492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3152" cy="1719072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6" name="Text 4"/>
          <p:cNvSpPr/>
          <p:nvPr/>
        </p:nvSpPr>
        <p:spPr>
          <a:xfrm>
            <a:off x="950976" y="181051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Walk </a:t>
            </a:r>
            <a:r>
              <a:rPr lang="en-US" sz="24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0976" y="2240280"/>
            <a:ext cx="4690872" cy="9418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四条腿依次摆动，通常三足支撑；静态稳定性好。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07492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73152" cy="1719072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6437376" y="181051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Pace 同侧步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37376" y="2240280"/>
            <a:ext cx="4690872" cy="9418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同侧前后腿近似同步；效率较高，但机体横摆明显。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07492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73152" cy="1719072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Text 12"/>
          <p:cNvSpPr/>
          <p:nvPr/>
        </p:nvSpPr>
        <p:spPr>
          <a:xfrm>
            <a:off x="950976" y="395935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Trot 对角小跑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0976" y="4389120"/>
            <a:ext cx="4690872" cy="9418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对角腿成对交替；兼顾速度与稳定，是最常用动态步态之一。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07492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73152" cy="1719072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Text 16"/>
          <p:cNvSpPr/>
          <p:nvPr/>
        </p:nvSpPr>
        <p:spPr>
          <a:xfrm>
            <a:off x="6437376" y="395935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Gallop 疾驰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37376" y="4389120"/>
            <a:ext cx="4690872" cy="9418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高速非对称步态，周期中可能出现短暂腾空。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Walk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469" y="4555217"/>
            <a:ext cx="6492240" cy="15269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56147" y="6353452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老虎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Walk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步态落脚点序列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35692" y="1473167"/>
            <a:ext cx="9506288" cy="1999237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四条腿依次摆动。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任一时刻通常有三条腿处于支撑相。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静态稳定性较好，适用于低速行走与复杂地形。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落脚点序列：BL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→ FL → BR → FR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Pace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同侧步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200" y="4166410"/>
            <a:ext cx="7748093" cy="17989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9054" y="6235745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骆驼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Pace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步态落脚点序列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4967" y="1529594"/>
            <a:ext cx="10698480" cy="2128006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同侧前后腿近似同步运动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。</a:t>
            </a:r>
            <a:endParaRPr lang="en-US" sz="28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前进效率较高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。</a:t>
            </a:r>
            <a:endParaRPr lang="en-US" sz="28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机体横摆较明显，对姿态调节提出更高要求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。</a:t>
            </a:r>
            <a:endParaRPr lang="en-US" sz="28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</a:rPr>
              <a:t>教材落脚点序列：BL 和 FL → BR 和 FR。</a:t>
            </a:r>
            <a:endParaRPr lang="en-US" sz="28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Trot 对角小跑：四足机器人最常用的动态步态之一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939" y="3977642"/>
            <a:ext cx="8354439" cy="20299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20340" y="6205818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马的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Trot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步态落脚点序列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2609" y="1508760"/>
            <a:ext cx="8643395" cy="1795812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对角腿成对交替运动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兼顾速度与稳定性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占空比通常接近0.5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脚点序列：BR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和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FL→ 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BL和FR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四足机器人控制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470" y="3167708"/>
            <a:ext cx="8971529" cy="31324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80425" y="640080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BigDog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液压四足机器人经典控制框图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69566" y="1429045"/>
            <a:ext cx="10090805" cy="1644643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四足机器人控制通常需要综合完成状态估计、 机身姿态调节、 足端轨迹规划、 接触力分配， 以及关节伺服控制等</a:t>
            </a:r>
            <a:endParaRPr lang="zh-CN" altLang="en-US" sz="24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常用方法：基于模型的步态规划、MPC、全身协调控制；近年来强化学习也被广泛应用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2.1.5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末端执行器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058400" cy="43434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同一台机械臂更换不同末端执行器后，能力边界会显著变化。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两指夹爪：稳定搬运与装配。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吸盘：快速抓取平面物体。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软体夹爪：对形状不确定物体更具适应性。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多指灵巧手：支持旋拧、拨动、翻转和手内操作等精细任务。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典型末端执行器①：两指平行夹爪与吸盘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536" y="3078564"/>
            <a:ext cx="1835542" cy="2579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1" y="5693447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两指平行夹爪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1" descr="/mnt/data/ch2_images/img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49" y="2938094"/>
            <a:ext cx="1595437" cy="2601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1" y="5635574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吸盘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95349" y="1390931"/>
            <a:ext cx="1024128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两指夹爪：结构简单、控制方便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</a:t>
            </a:r>
            <a:endParaRPr lang="en-US" sz="24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吸盘：适合平整表面与高节拍，但对多孔、粗糙或边缘泄漏物体稳定性较差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典型末端执行器②：软体夹爪的“天然顺应性”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8404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软体夹爪与柔性指尖材料通过材料形变提供接触初期的“天然顺应性”。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可显著降低对精准位姿估计的要求。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在水果、日用品等不规则物体抓取中表现突出。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554" y="2753994"/>
            <a:ext cx="3814445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典型末端执行器③：多指灵巧手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72440" y="127413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270" y="2938341"/>
            <a:ext cx="1625219" cy="3051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240" y="6108333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三指灵巧手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1" descr="/mnt/data/ch2_images/img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40" y="3221368"/>
            <a:ext cx="4572000" cy="25754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7760" y="5982349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五指灵巧手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5480" y="1078992"/>
            <a:ext cx="10840720" cy="166420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旨在逼近人手的操作能力， 在抓取的同时改变物体姿态或指间接触状态， </a:t>
            </a:r>
            <a:endParaRPr lang="zh-CN" alt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通常自由度高、 动作灵活，但硬件与控制也更为复杂</a:t>
            </a:r>
            <a:endParaRPr lang="zh-CN" altLang="en-US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在旋拧、插拔、整理等精细任务中具有不可替代的潜力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末端执行器选型：4 类指标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" name="Shape 2"/>
          <p:cNvSpPr/>
          <p:nvPr/>
        </p:nvSpPr>
        <p:spPr>
          <a:xfrm>
            <a:off x="731520" y="1664208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73152" cy="169164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6" name="Text 4"/>
          <p:cNvSpPr/>
          <p:nvPr/>
        </p:nvSpPr>
        <p:spPr>
          <a:xfrm>
            <a:off x="950976" y="182880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几何特性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0976" y="2258568"/>
            <a:ext cx="469087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开口范围与行程、指尖形状、可达姿态、不同尺寸物体兼容性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664208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Shape 7"/>
          <p:cNvSpPr/>
          <p:nvPr/>
        </p:nvSpPr>
        <p:spPr>
          <a:xfrm>
            <a:off x="6217920" y="1664208"/>
            <a:ext cx="73152" cy="169164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6437376" y="182880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力学能力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37376" y="2258568"/>
            <a:ext cx="469087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最大夹持力、抗滑移能力、额定负载、抓取稳定性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813048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Shape 11"/>
          <p:cNvSpPr/>
          <p:nvPr/>
        </p:nvSpPr>
        <p:spPr>
          <a:xfrm>
            <a:off x="731520" y="3813048"/>
            <a:ext cx="73152" cy="169164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Text 12"/>
          <p:cNvSpPr/>
          <p:nvPr/>
        </p:nvSpPr>
        <p:spPr>
          <a:xfrm>
            <a:off x="950976" y="397764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感知能力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0976" y="4407408"/>
            <a:ext cx="469087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指尖触觉、夹持力估计、滑移检测、腕部六维力/力矩传感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13048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Shape 15"/>
          <p:cNvSpPr/>
          <p:nvPr/>
        </p:nvSpPr>
        <p:spPr>
          <a:xfrm>
            <a:off x="6217920" y="3813048"/>
            <a:ext cx="73152" cy="169164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Text 16"/>
          <p:cNvSpPr/>
          <p:nvPr/>
        </p:nvSpPr>
        <p:spPr>
          <a:xfrm>
            <a:off x="6437376" y="397764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接口生态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37376" y="4407408"/>
            <a:ext cx="469087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开发软件支持、位置/速度/力控模式、可编程性、仿真接触模型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外部感知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外部感知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5796280" cy="42062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为“感知</a:t>
            </a:r>
            <a:r>
              <a:rPr lang="en-US" altLang="zh-CN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—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决策</a:t>
            </a:r>
            <a:r>
              <a:rPr lang="en-US" altLang="zh-CN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—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行动”闭环提供环境信息</a:t>
            </a:r>
            <a:endParaRPr lang="en-US" sz="28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通过多种传感器获取外部世界的多模态信息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强调实时性、鲁棒性和多传感器融合。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广泛用于导航、物体识别与姿态估计。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包括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IMU、LiDAR、深度相机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等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5" name="Image 0" descr="/mnt/data/ch2_images/img-0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61571"/>
            <a:ext cx="4480560" cy="3334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4360" y="5230366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移动机器人外部传感器布置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2.2.1 IMU</a:t>
            </a:r>
            <a:r>
              <a:rPr lang="zh-CN" alt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（惯性测量单元）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5740400" cy="42976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集成陀螺仪、加速度计和磁力计等。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实时获得角速度、线加速度和磁场数据。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陀螺仪利用科里奥利效应测量角速度；加速度计测线性加速度；磁力计用于方向校正。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常与视觉传感器融合，用于姿态估计和稳定控制。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5" name="图片 4" descr="wKgZPGj4gPaAcAqaAAGsjvvtq9c48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365" y="1335024"/>
            <a:ext cx="417195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7352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IMU 姿态四元数更新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姿态估计常用互补滤波或卡尔曼滤波融合数据；四元数 q 的更新可由角速度 ω 表示。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331683" y="2407162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292" y="2545338"/>
            <a:ext cx="3282622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0560" y="5254668"/>
            <a:ext cx="10625328" cy="620776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9"/>
          <p:cNvSpPr/>
          <p:nvPr/>
        </p:nvSpPr>
        <p:spPr>
          <a:xfrm>
            <a:off x="890016" y="5090076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实际应用中需要校正漂移，例如在足部接地时采用零速度更新进行重置。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13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74343"/>
            <a:ext cx="1028690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q：姿态四元数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ω：角速度向量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altLang="zh-CN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⊗：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四元数乘法</a:t>
            </a:r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2.2.2 LiDAR：3D 环境扫描、建模与导航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2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649" y="3060780"/>
            <a:ext cx="2571992" cy="2301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0600" y="57761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激光雷达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6" name="Image 1" descr="/mnt/data/ch2_images/img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40" y="2871511"/>
            <a:ext cx="5943600" cy="2759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6840" y="584216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激光雷达扫描点云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0400" y="1543625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激光雷达：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通过发射激光脉冲测量距离，生成高精度点云，可用于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SLAM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与避障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3749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飞行时间测距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ToF(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Time-of-Flight )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原理：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激光雷达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发射激光脉冲，测量反射回波时间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t。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formula_png2/eq-2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055" y="2377440"/>
            <a:ext cx="1710193" cy="1325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13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74343"/>
            <a:ext cx="536438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d：目标距离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c：光速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t：往返时间</a:t>
            </a:r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2.2.3 深度相机：同时获取 RGB 图像与深度信息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01568" cy="347472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95097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0976" y="2674329"/>
            <a:ext cx="3017520" cy="2697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通过分析投影图案的变形计算深度。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401568" cy="347472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73152" cy="347472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" name="Text 8"/>
          <p:cNvSpPr/>
          <p:nvPr/>
        </p:nvSpPr>
        <p:spPr>
          <a:xfrm>
            <a:off x="460857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飞行时间 ToF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08576" y="2674329"/>
            <a:ext cx="3017520" cy="2697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测量光脉冲往返时间获得深度。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01568" cy="347472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73152" cy="347472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4" name="Text 12"/>
          <p:cNvSpPr/>
          <p:nvPr/>
        </p:nvSpPr>
        <p:spPr>
          <a:xfrm>
            <a:off x="8266176" y="18105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立体视觉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66176" y="2674329"/>
            <a:ext cx="3017520" cy="1188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利用双目图像的视差计算深度。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18745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立体视觉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深度计算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双目立体视觉根据焦距、基线距离与像素视差计算目标深度。</a:t>
            </a:r>
            <a:endParaRPr lang="en-US" sz="2400" dirty="0"/>
          </a:p>
        </p:txBody>
      </p:sp>
      <p:pic>
        <p:nvPicPr>
          <p:cNvPr id="6" name="Image 0" descr="/mnt/data/formula_png2/eq-2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5544" y="2660396"/>
            <a:ext cx="1806696" cy="110666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4233672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9"/>
          <p:cNvSpPr/>
          <p:nvPr/>
        </p:nvSpPr>
        <p:spPr>
          <a:xfrm>
            <a:off x="932688" y="4416552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式中 f 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为焦距，B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为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双目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基线距离，d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为像素差。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ToF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深度相机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625" y="2608769"/>
            <a:ext cx="5723176" cy="3534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6216904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ToF</a:t>
            </a: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深度相机原理示意图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803910" y="1335024"/>
            <a:ext cx="9950450" cy="120032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indent="0">
              <a:buNone/>
              <a:defRPr sz="240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defRPr>
            </a:lvl1pPr>
          </a:lstStyle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dirty="0"/>
              <a:t>深度相机是常用于获取 </a:t>
            </a:r>
            <a:r>
              <a:rPr lang="en-US" altLang="zh-CN" dirty="0"/>
              <a:t>3D</a:t>
            </a:r>
            <a:r>
              <a:rPr lang="zh-CN" altLang="en-US" dirty="0"/>
              <a:t>视觉信息的传感器， 可同时提供 </a:t>
            </a:r>
            <a:r>
              <a:rPr lang="en-US" altLang="zh-CN" dirty="0"/>
              <a:t>RGB</a:t>
            </a:r>
            <a:r>
              <a:rPr lang="zh-CN" altLang="en-US" dirty="0"/>
              <a:t>图像和深度图， 支持物体识别与抓取</a:t>
            </a:r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控制方法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控制方法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058400" cy="39776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具身智能需要机器人与环境实时动态交互，因此控制模型必须具备适应性和鲁棒性。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工程上常将经典的基于模型控制与学习、数据驱动控制结合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2.3.1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基于模型的控制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058400" cy="38404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依赖机器人动力学模型和运动学模型，显式描述系统状态与输入之间的关系。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用于实时优化、约束处理和底层执行。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主要方法有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PID、LQR、MPC、WBC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等</a:t>
            </a:r>
            <a:endParaRPr lang="en-US" altLang="zh-CN" sz="28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zh-CN" altLang="en-US" sz="2800" dirty="0">
                <a:latin typeface="Microsoft YaHei" pitchFamily="34" charset="-122"/>
                <a:ea typeface="Microsoft YaHei" pitchFamily="34" charset="-122"/>
              </a:rPr>
              <a:t>例如， 波士顿动力公司</a:t>
            </a:r>
            <a:r>
              <a:rPr lang="en-US" altLang="zh-CN" sz="2800" dirty="0">
                <a:latin typeface="Microsoft YaHei" pitchFamily="34" charset="-122"/>
                <a:ea typeface="Microsoft YaHei" pitchFamily="34" charset="-122"/>
              </a:rPr>
              <a:t>Atlas</a:t>
            </a:r>
            <a:r>
              <a:rPr lang="zh-CN" altLang="en-US" sz="2800" dirty="0">
                <a:latin typeface="Microsoft YaHei" pitchFamily="34" charset="-122"/>
                <a:ea typeface="Microsoft YaHei" pitchFamily="34" charset="-122"/>
              </a:rPr>
              <a:t>形机器人采用模型预测控制处理多变量约束， 从而实现复杂翻滚、 跳跃等动态动作；</a:t>
            </a:r>
            <a:r>
              <a:rPr lang="en-US" altLang="zh-CN" sz="2800" dirty="0" err="1">
                <a:latin typeface="Microsoft YaHei" pitchFamily="34" charset="-122"/>
                <a:ea typeface="Microsoft YaHei" pitchFamily="34" charset="-122"/>
              </a:rPr>
              <a:t>ANYmal</a:t>
            </a:r>
            <a:r>
              <a:rPr lang="zh-CN" altLang="en-US" sz="2800" dirty="0">
                <a:latin typeface="Microsoft YaHei" pitchFamily="34" charset="-122"/>
                <a:ea typeface="Microsoft YaHei" pitchFamily="34" charset="-122"/>
              </a:rPr>
              <a:t>四足机器人则采用线性二次调节器（</a:t>
            </a:r>
            <a:r>
              <a:rPr lang="en-US" altLang="zh-CN" sz="2800" dirty="0">
                <a:latin typeface="Microsoft YaHei" pitchFamily="34" charset="-122"/>
                <a:ea typeface="Microsoft YaHei" pitchFamily="34" charset="-122"/>
              </a:rPr>
              <a:t>LQR</a:t>
            </a:r>
            <a:r>
              <a:rPr lang="zh-CN" altLang="en-US" sz="2800" dirty="0">
                <a:latin typeface="Microsoft YaHei" pitchFamily="34" charset="-122"/>
                <a:ea typeface="Microsoft YaHei" pitchFamily="34" charset="-122"/>
              </a:rPr>
              <a:t>）确保姿态稳定与鲁棒性。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状态空间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线性时不变系统， 机器人状态演化通常用以下状态空间方程描述：</a:t>
            </a:r>
            <a:endParaRPr lang="en-US" sz="2400" dirty="0"/>
          </a:p>
        </p:txBody>
      </p:sp>
      <p:pic>
        <p:nvPicPr>
          <p:cNvPr id="6" name="Image 0" descr="/mnt/data/formula_png2/eq-2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36" y="2446548"/>
            <a:ext cx="3748024" cy="49478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36555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3588543"/>
            <a:ext cx="536438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x：状态向量（位置、速度等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）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u：控制输入（如关节力矩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）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A：系统矩阵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B：输入矩阵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 通过实时计算系统输出与期望值之间的误差 e(t) 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来调节控制输入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97152" y="2262311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608" y="2492632"/>
            <a:ext cx="7424928" cy="113955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" y="5257800"/>
            <a:ext cx="10625328" cy="109728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24128" y="5257800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结构简单、实现方便、无需精确模型，适合关节位置 / 速度伺服；但对强非线性、强耦合系统通常需与更高级方法结合。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13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74343"/>
            <a:ext cx="804662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Kₚ：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比例增益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Kᵢ：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积分增益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：微分增益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LQR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04088" y="1463041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LQR 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（线性二次型调节器‌）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适用于线性系统或平衡点附近线性化后的非线性系统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64079" y="2318004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508" y="2455164"/>
            <a:ext cx="7098983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04088" y="4977384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23544" y="5160264"/>
            <a:ext cx="1054608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求解代数 Riccati 方程得到最优反馈律 u = −Kx。LQR 计算高效、闭环稳定性好。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13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74343"/>
            <a:ext cx="804662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Q：状态偏差权重矩阵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R：控制能量权重矩阵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MPC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100255"/>
            <a:ext cx="10899648" cy="141641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Model Predictive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Contro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，模型预测控制）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每个采样时刻，在有限预测时域内求解最优控制序列，并满足动力学、状态与输入约束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62632" y="2344399"/>
            <a:ext cx="79095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3397" y="2481559"/>
            <a:ext cx="588231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4873752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32688" y="5056632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求解后只施加第一个控制量 u₀*，下一时刻重新优化。MPC 适合显式处理约束和高动态运动。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13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74343"/>
            <a:ext cx="804662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N：预测时域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xₖ：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预测状态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uₖ：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控制量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1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7"/>
            <a:ext cx="10607040" cy="81991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en-US" altLang="zh-CN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Whole-Body Control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，全身控制）以任务误差与控制输入为优化目标，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是面向冗余自由度复杂机器人系统的多任务协调控制方法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14752" y="2564746"/>
            <a:ext cx="6002528" cy="136804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4208" y="2854181"/>
            <a:ext cx="5691632" cy="78291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3628" y="4968704"/>
            <a:ext cx="10625328" cy="998728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21080" y="4956004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 在满足动力学一致性和接触约束的前提下，统一处理多任务。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066419" y="434857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66051" y="4281595"/>
            <a:ext cx="8046629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e：任务误差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τ：关节力矩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（续）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04088" y="146085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 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的优化需要满足机器人动力学约束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912112" y="2117043"/>
            <a:ext cx="7909560" cy="108731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CE6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formula_png2/eq-2-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568" y="2417037"/>
            <a:ext cx="7424928" cy="60391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5110480"/>
            <a:ext cx="10625328" cy="128016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05256" y="5293360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求解得到满足动力学约束的最优关节力矩；可统一处理质心平衡、末端轨迹、接触力与关节约束。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756539" y="358776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777239" y="3542047"/>
            <a:ext cx="6411722" cy="511691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及其一、二阶导数：机器人状态相关变量</a:t>
            </a:r>
            <a:endParaRPr lang="en-US" altLang="zh-CN" sz="24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τ：关节力矩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</a:t>
            </a:r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λ：接触力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其余项：全身动力学模型项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经典模型控制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的特点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560320" cy="33375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3152" cy="333756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950976" y="1856232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0976" y="2529840"/>
            <a:ext cx="2176272" cy="2560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结构简单，适合基础位置 / 速度伺服。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560320" cy="33375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73152" cy="333756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" name="Text 8"/>
          <p:cNvSpPr/>
          <p:nvPr/>
        </p:nvSpPr>
        <p:spPr>
          <a:xfrm>
            <a:off x="3675888" y="1856232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LQR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75888" y="2529840"/>
            <a:ext cx="2176272" cy="2560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适合线性化系统，闭环稳定性好。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560320" cy="33375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Shape 11"/>
          <p:cNvSpPr/>
          <p:nvPr/>
        </p:nvSpPr>
        <p:spPr>
          <a:xfrm>
            <a:off x="6181344" y="1691640"/>
            <a:ext cx="73152" cy="333756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4" name="Text 12"/>
          <p:cNvSpPr/>
          <p:nvPr/>
        </p:nvSpPr>
        <p:spPr>
          <a:xfrm>
            <a:off x="6400800" y="1856232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2529840"/>
            <a:ext cx="2176272" cy="11785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可显式处理约束，适合复杂动态运动。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06256" y="1691640"/>
            <a:ext cx="2560320" cy="33375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7" name="Shape 15"/>
          <p:cNvSpPr/>
          <p:nvPr/>
        </p:nvSpPr>
        <p:spPr>
          <a:xfrm>
            <a:off x="8906256" y="1691640"/>
            <a:ext cx="73152" cy="333756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8" name="Text 16"/>
          <p:cNvSpPr/>
          <p:nvPr/>
        </p:nvSpPr>
        <p:spPr>
          <a:xfrm>
            <a:off x="9125712" y="1856232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25712" y="2529840"/>
            <a:ext cx="2176272" cy="1407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适合冗余多自由度机器人的多任务协调。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在具身智能中，经典控制仍是底层抓取、轨迹跟踪、姿态稳定和安全约束执行的基础。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9944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2.3.2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学习和数据驱动控制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058400" cy="44348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当动力学模型不完备、环境复杂多变、接触力与摩擦难以精确建模时，传统模型控制泛化受限。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学习控制可从交互数据中自动学习状态到动作”的映射，或学习动力学、接触、落足等关键模块</a:t>
            </a: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可把视觉、触觉、力觉等高维感知信息直接融入决策。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挑战：安全保障、可解释性不足、现实部署稳定性。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1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分层控制</a:t>
            </a: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：“学习在上、经典在下”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828800" y="1691640"/>
            <a:ext cx="8503920" cy="141732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B9DE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057400" y="19659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上层：学习和数据驱动方法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57400" y="244144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实现高层策略优化与任务适应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1097280" cy="731520"/>
          </a:xfrm>
          <a:prstGeom prst="downArrow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828800" y="4160520"/>
            <a:ext cx="8503920" cy="141732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C9D6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057400" y="44348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底层：PID / LQR / MPC </a:t>
            </a:r>
            <a:r>
              <a:rPr lang="en-US" sz="2300" b="1" dirty="0" err="1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等控制器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057400" y="49103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保证基本动力学安全、姿态稳定与实时执行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学习控制的参数化策略函数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学习控制最常见的数学表述：由参数化策略根据观测直接生成控制输出。</a:t>
            </a:r>
            <a:endParaRPr lang="en-US" sz="2400" dirty="0"/>
          </a:p>
        </p:txBody>
      </p:sp>
      <p:pic>
        <p:nvPicPr>
          <p:cNvPr id="6" name="Image 0" descr="/mnt/data/formula_png2/eq-2-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788" y="2522775"/>
            <a:ext cx="4561332" cy="74006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9920" y="4807324"/>
            <a:ext cx="10625328" cy="1165350"/>
          </a:xfrm>
          <a:prstGeom prst="roundRect">
            <a:avLst>
              <a:gd name="adj" fmla="val 2857"/>
            </a:avLst>
          </a:prstGeom>
          <a:solidFill>
            <a:srgbClr val="FFF4DE"/>
          </a:solidFill>
          <a:ln w="12700">
            <a:solidFill>
              <a:srgbClr val="F0D8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49376" y="4923655"/>
            <a:ext cx="10149840" cy="93268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观测可包含原始图像、点云或多模态特征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；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Noto Sans CJK SC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策略可由机器学习、深度网络、Transformer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或扩散模型实现。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1157859" y="42258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2089150" y="4122775"/>
            <a:ext cx="8909050" cy="6596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o[k]：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时刻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k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的观测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u[k]：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控制输出</a:t>
            </a:r>
            <a:r>
              <a:rPr lang="zh-CN" alt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：参数为</a:t>
            </a:r>
            <a:r>
              <a:rPr lang="en-US" altLang="zh-CN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 θ </a:t>
            </a:r>
            <a:r>
              <a:rPr lang="en-US" altLang="zh-CN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的策略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2.3.3 控制系统硬件：低延迟、高可靠、模块化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474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73152" cy="1664208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6" name="Text 4"/>
          <p:cNvSpPr/>
          <p:nvPr/>
        </p:nvSpPr>
        <p:spPr>
          <a:xfrm>
            <a:off x="905256" y="1737360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计算单元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5256" y="2167128"/>
            <a:ext cx="309067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/ GPU / NPU / SoC，运行姿态估计、视觉处理、路径规划与 AI 推理。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1572768"/>
            <a:ext cx="3474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Shape 7"/>
          <p:cNvSpPr/>
          <p:nvPr/>
        </p:nvSpPr>
        <p:spPr>
          <a:xfrm>
            <a:off x="4434840" y="1572768"/>
            <a:ext cx="73152" cy="1664208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4654296" y="1737360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接口模块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54296" y="2167128"/>
            <a:ext cx="309067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相机接口、EtherCAT / CAN、USB 3.0 / RS-485、无线通信等。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83880" y="1572768"/>
            <a:ext cx="3474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Shape 11"/>
          <p:cNvSpPr/>
          <p:nvPr/>
        </p:nvSpPr>
        <p:spPr>
          <a:xfrm>
            <a:off x="8183880" y="1572768"/>
            <a:ext cx="73152" cy="1664208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Text 12"/>
          <p:cNvSpPr/>
          <p:nvPr/>
        </p:nvSpPr>
        <p:spPr>
          <a:xfrm>
            <a:off x="8403336" y="1737360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电源与外壳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03336" y="2167128"/>
            <a:ext cx="309067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锂电池 + BMS；工业级材料、散热与电磁屏蔽。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3602736"/>
            <a:ext cx="3474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Shape 15"/>
          <p:cNvSpPr/>
          <p:nvPr/>
        </p:nvSpPr>
        <p:spPr>
          <a:xfrm>
            <a:off x="685800" y="3602736"/>
            <a:ext cx="73152" cy="1664208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Text 16"/>
          <p:cNvSpPr/>
          <p:nvPr/>
        </p:nvSpPr>
        <p:spPr>
          <a:xfrm>
            <a:off x="905256" y="3767328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安全组件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5256" y="4197096"/>
            <a:ext cx="309067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急停、状态监控、故障诊断、冗余设计。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34840" y="3602736"/>
            <a:ext cx="3474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21" name="Shape 19"/>
          <p:cNvSpPr/>
          <p:nvPr/>
        </p:nvSpPr>
        <p:spPr>
          <a:xfrm>
            <a:off x="4434840" y="3602736"/>
            <a:ext cx="73152" cy="1664208"/>
          </a:xfrm>
          <a:prstGeom prst="rect">
            <a:avLst/>
          </a:prstGeom>
          <a:solidFill>
            <a:srgbClr val="4F73B5"/>
          </a:solidFill>
          <a:ln w="12700">
            <a:solidFill>
              <a:srgbClr val="4F73B5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Text 20"/>
          <p:cNvSpPr/>
          <p:nvPr/>
        </p:nvSpPr>
        <p:spPr>
          <a:xfrm>
            <a:off x="4654296" y="3767328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F7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辅助组件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54296" y="4197096"/>
            <a:ext cx="309067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编码器接口、驱动板、热沉、柔性电缆、抗振固定结构。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案例：Unitree Go2 四足机器人的硬件控制系统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492240" cy="45720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整机重量约 15 kg，硬件控制系统采用高度模块化设计。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主控制板：高性能 ARM SoC，集成 CPU、GPU、NPU，并融合 IMU 数据进行实时姿态估计。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接口：EtherCAT / CAN 连接关节驱动；USB-C、以太网、SBUS、Wi-Fi / Bluetooth、LTE 等。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电源：8000 mA·h 锂电池组，4P8S 配置，配 BMS。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安全：关节扭矩传感器与磁编码器、冗余连接、紧急停止。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5" name="Image 0" descr="/mnt/data/ch2_images/img-03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39" y="2008255"/>
            <a:ext cx="4187931" cy="3044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94320" y="517272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Unitree</a:t>
            </a: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Go2</a:t>
            </a: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主控制板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软件仿真器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软件仿真器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722208" cy="42976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模拟机器人行为与物理交互，提供高效、安全、低成本的测试平台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可验证感知算法、优化控制策略、模拟复杂场景。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 SLAM、路径规划、安全性评估等算法开发与验证。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可生成合成数据用于学习训练，并通过并行计算提高训练速度。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2.4.1 Gazebo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grpSp>
        <p:nvGrpSpPr>
          <p:cNvPr id="13" name="组合 12"/>
          <p:cNvGrpSpPr/>
          <p:nvPr/>
        </p:nvGrpSpPr>
        <p:grpSpPr>
          <a:xfrm>
            <a:off x="685800" y="1627632"/>
            <a:ext cx="5349240" cy="2226738"/>
            <a:chOff x="685800" y="1627632"/>
            <a:chExt cx="5349240" cy="4251960"/>
          </a:xfrm>
        </p:grpSpPr>
        <p:sp>
          <p:nvSpPr>
            <p:cNvPr id="4" name="Shape 2"/>
            <p:cNvSpPr/>
            <p:nvPr/>
          </p:nvSpPr>
          <p:spPr>
            <a:xfrm>
              <a:off x="685800" y="1627632"/>
              <a:ext cx="5349240" cy="4251960"/>
            </a:xfrm>
            <a:prstGeom prst="roundRect">
              <a:avLst>
                <a:gd name="adj" fmla="val 1290"/>
              </a:avLst>
            </a:prstGeom>
            <a:solidFill>
              <a:srgbClr val="FFFFFF"/>
            </a:solidFill>
            <a:ln w="12700">
              <a:solidFill>
                <a:srgbClr val="E0E5ED"/>
              </a:solidFill>
              <a:prstDash val="solid"/>
            </a:ln>
            <a:effectLst>
              <a:outerShdw blurRad="1524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" name="Shape 3"/>
            <p:cNvSpPr/>
            <p:nvPr/>
          </p:nvSpPr>
          <p:spPr>
            <a:xfrm>
              <a:off x="685800" y="1627632"/>
              <a:ext cx="73152" cy="4251960"/>
            </a:xfrm>
            <a:prstGeom prst="rect">
              <a:avLst/>
            </a:prstGeom>
            <a:solidFill>
              <a:srgbClr val="31599B"/>
            </a:solidFill>
            <a:ln w="12700">
              <a:solidFill>
                <a:srgbClr val="31599B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</p:grpSp>
      <p:sp>
        <p:nvSpPr>
          <p:cNvPr id="6" name="Text 4"/>
          <p:cNvSpPr/>
          <p:nvPr/>
        </p:nvSpPr>
        <p:spPr>
          <a:xfrm>
            <a:off x="905256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核心特点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5256" y="2221992"/>
            <a:ext cx="4965192" cy="1777061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开源；与 ROS 高度集成；支持 ODE、Bullet、PhysX 等物理引擎；支持 LiDAR、摄像头、IMU；可做环境建模与插件扩展。</a:t>
            </a:r>
            <a:endParaRPr lang="en-US" sz="24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685800" y="3934698"/>
            <a:ext cx="5349240" cy="2591340"/>
            <a:chOff x="6199632" y="1627632"/>
            <a:chExt cx="5349240" cy="4251960"/>
          </a:xfrm>
        </p:grpSpPr>
        <p:sp>
          <p:nvSpPr>
            <p:cNvPr id="8" name="Shape 6"/>
            <p:cNvSpPr/>
            <p:nvPr/>
          </p:nvSpPr>
          <p:spPr>
            <a:xfrm>
              <a:off x="6199632" y="1627632"/>
              <a:ext cx="5349240" cy="4251960"/>
            </a:xfrm>
            <a:prstGeom prst="roundRect">
              <a:avLst>
                <a:gd name="adj" fmla="val 1290"/>
              </a:avLst>
            </a:prstGeom>
            <a:solidFill>
              <a:srgbClr val="FFFFFF"/>
            </a:solidFill>
            <a:ln w="12700">
              <a:solidFill>
                <a:srgbClr val="E0E5ED"/>
              </a:solidFill>
              <a:prstDash val="solid"/>
            </a:ln>
            <a:effectLst>
              <a:outerShdw blurRad="1524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9" name="Shape 7"/>
            <p:cNvSpPr/>
            <p:nvPr/>
          </p:nvSpPr>
          <p:spPr>
            <a:xfrm>
              <a:off x="6199632" y="1627632"/>
              <a:ext cx="73152" cy="4251960"/>
            </a:xfrm>
            <a:prstGeom prst="rect">
              <a:avLst/>
            </a:prstGeom>
            <a:solidFill>
              <a:srgbClr val="2F8E72"/>
            </a:solidFill>
            <a:ln w="12700">
              <a:solidFill>
                <a:srgbClr val="2F8E72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</p:grpSp>
      <p:sp>
        <p:nvSpPr>
          <p:cNvPr id="10" name="Text 8"/>
          <p:cNvSpPr/>
          <p:nvPr/>
        </p:nvSpPr>
        <p:spPr>
          <a:xfrm>
            <a:off x="905256" y="4099290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5256" y="4529058"/>
            <a:ext cx="4965192" cy="1927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ROS 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开发者、移动机器人、多机器人系统测试，以及需要从仿真快速迁移到实物的项目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400" dirty="0">
              <a:solidFill>
                <a:srgbClr val="22283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</a:t>
            </a:r>
            <a:r>
              <a:rPr lang="zh-CN" alt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</a:t>
            </a:r>
            <a:r>
              <a:rPr lang="en-US" sz="2400" dirty="0" err="1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渲染中等、复杂场景</a:t>
            </a: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CPU 占用高、学习曲线较陡。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6" name="图片 15" descr="../_images/sim_ifaces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271" y="2034130"/>
            <a:ext cx="4572000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2.4.2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MuJoCo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2226737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73152" cy="2226737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5256" y="1792224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核心特点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256" y="2221992"/>
            <a:ext cx="4965192" cy="1568717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高精度动力学；约束优化与软接触模型；支持 RL；提供 RGB-D、力传感器；内置 OpenGL；使用 MJCF XML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建模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08660" y="4018961"/>
            <a:ext cx="5349240" cy="2226736"/>
            <a:chOff x="6199632" y="1627632"/>
            <a:chExt cx="5349240" cy="2226736"/>
          </a:xfrm>
        </p:grpSpPr>
        <p:sp>
          <p:nvSpPr>
            <p:cNvPr id="8" name="Shape 6"/>
            <p:cNvSpPr/>
            <p:nvPr/>
          </p:nvSpPr>
          <p:spPr>
            <a:xfrm>
              <a:off x="6199632" y="1627632"/>
              <a:ext cx="5349240" cy="2226736"/>
            </a:xfrm>
            <a:prstGeom prst="roundRect">
              <a:avLst>
                <a:gd name="adj" fmla="val 1290"/>
              </a:avLst>
            </a:prstGeom>
            <a:solidFill>
              <a:srgbClr val="FFFFFF"/>
            </a:solidFill>
            <a:ln w="12700">
              <a:solidFill>
                <a:srgbClr val="E0E5ED"/>
              </a:solidFill>
              <a:prstDash val="solid"/>
            </a:ln>
            <a:effectLst>
              <a:outerShdw blurRad="1524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6199632" y="1627632"/>
              <a:ext cx="73152" cy="2226736"/>
            </a:xfrm>
            <a:prstGeom prst="rect">
              <a:avLst/>
            </a:prstGeom>
            <a:solidFill>
              <a:srgbClr val="2F8E72"/>
            </a:solidFill>
            <a:ln w="12700">
              <a:solidFill>
                <a:srgbClr val="2F8E72"/>
              </a:solidFill>
              <a:prstDash val="solid"/>
            </a:ln>
          </p:spPr>
          <p:txBody>
            <a:bodyPr/>
            <a:lstStyle/>
            <a:p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419088" y="1792224"/>
              <a:ext cx="4965192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2F8E72"/>
                  </a:solidFill>
                  <a:latin typeface="Times New Roman" panose="02020603050405020304" pitchFamily="18" charset="0"/>
                  <a:ea typeface="Noto Sans CJK SC" pitchFamily="34" charset="-122"/>
                  <a:cs typeface="Times New Roman" panose="02020603050405020304" pitchFamily="18" charset="0"/>
                </a:rPr>
                <a:t>适用场景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419088" y="2221992"/>
              <a:ext cx="4965192" cy="1499269"/>
            </a:xfrm>
            <a:prstGeom prst="rect">
              <a:avLst/>
            </a:prstGeom>
            <a:noFill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222833"/>
                  </a:solidFill>
                  <a:latin typeface="Times New Roman" panose="02020603050405020304" pitchFamily="18" charset="0"/>
                  <a:ea typeface="Noto Sans CJK SC" pitchFamily="34" charset="-122"/>
                  <a:cs typeface="Times New Roman" panose="02020603050405020304" pitchFamily="18" charset="0"/>
                </a:rPr>
                <a:t>机器人强化学习的标准工具之一，适合从简单运动到复杂操作任务；实时交互能力也可用于 VR、教育培训与工业设计。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2342978"/>
            <a:ext cx="5278165" cy="266307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2.4.3 NVIDIA Isaac：GPU 加速的机器人开发生态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73152" cy="329184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996696" y="190195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Gym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6696" y="2331720"/>
            <a:ext cx="2953512" cy="2514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专注高效并行环境模拟与快速强化学习训练。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73152" cy="329184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" name="Text 8"/>
          <p:cNvSpPr/>
          <p:nvPr/>
        </p:nvSpPr>
        <p:spPr>
          <a:xfrm>
            <a:off x="4654296" y="190195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Sim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54296" y="2331720"/>
            <a:ext cx="2953512" cy="2514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高保真物理与传感器仿真，基于 Omniverse。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Shape 11"/>
          <p:cNvSpPr/>
          <p:nvPr/>
        </p:nvSpPr>
        <p:spPr>
          <a:xfrm>
            <a:off x="8092440" y="1737360"/>
            <a:ext cx="73152" cy="329184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4" name="Text 12"/>
          <p:cNvSpPr/>
          <p:nvPr/>
        </p:nvSpPr>
        <p:spPr>
          <a:xfrm>
            <a:off x="8311896" y="190195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Lab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11896" y="2331720"/>
            <a:ext cx="2953512" cy="2514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Isaac Sim 的开源 GPU 加速框架，统一 RL、模仿学习、运动规划工作流。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Gym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489661"/>
            <a:ext cx="5467302" cy="4234017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基于 PhysX 物理引擎。</a:t>
            </a:r>
            <a:endParaRPr lang="en-US" sz="2400" dirty="0">
              <a:latin typeface="Times New Roman" panose="02020603050405020304" pitchFamily="18" charset="0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利用 GPU 在单个图形处理器上运行数千个独立环境，可同时模拟约 1000 个机器人智能体。</a:t>
            </a:r>
            <a:endParaRPr lang="en-US" sz="2400" dirty="0">
              <a:latin typeface="Times New Roman" panose="02020603050405020304" pitchFamily="18" charset="0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提供数据导向 API，可直接访问物理状态与传感器读数。</a:t>
            </a:r>
            <a:endParaRPr lang="en-US" sz="2400" dirty="0">
              <a:latin typeface="Times New Roman" panose="02020603050405020304" pitchFamily="18" charset="0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特别适合强化学习</a:t>
            </a: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；</a:t>
            </a:r>
            <a:endParaRPr lang="en-US" sz="2400" dirty="0">
              <a:solidFill>
                <a:srgbClr val="222833"/>
              </a:solidFill>
              <a:latin typeface="Times New Roman" panose="02020603050405020304" pitchFamily="18" charset="0"/>
              <a:ea typeface="Microsoft YaHei" pitchFamily="34" charset="-122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2024 年以后功能逐步迁移至更先进框架。</a:t>
            </a:r>
            <a:endParaRPr lang="en-US" sz="2400" dirty="0">
              <a:latin typeface="Times New Roman" panose="02020603050405020304" pitchFamily="18" charset="0"/>
              <a:ea typeface="Microsoft YaHei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77" y="1636777"/>
            <a:ext cx="4973708" cy="277875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Sim：高保真物理 + 传感器 + 合成数据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4761246" cy="4389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NVIDIA Omniverse，集成 PhysX。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支持视觉传感器、LiDAR、IMU 等传感器模型。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内置 Isaac SDK，支持深度学习模型训练与部署。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Isaac Replicator 生成大规模合成数据集。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 ROS 2 Humble 集成。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16" y="1445796"/>
            <a:ext cx="5672858" cy="343921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Isaac Lab：面向具身智能训练的统一工作流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360" y="1681482"/>
            <a:ext cx="6536520" cy="26852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4104" y="456692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Isaac</a:t>
            </a:r>
            <a:r>
              <a:rPr lang="en-US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Lab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1636777"/>
            <a:ext cx="3987800" cy="3178047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 fontScale="92500"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基于 Isaac Sim 构建，GPU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加速、开源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统一强化学习、模仿学习、运动规划等流程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包含丰富机器人库与 30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余种可直接训练环境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兼容 RSL-RL、SKRL、RL-Games、Stable-Baselines </a:t>
            </a:r>
            <a:r>
              <a:rPr lang="en-US" sz="2400" dirty="0" err="1">
                <a:solidFill>
                  <a:srgbClr val="222833"/>
                </a:solidFill>
                <a:latin typeface="Times New Roman" panose="02020603050405020304" pitchFamily="18" charset="0"/>
                <a:ea typeface="Noto Sans CJK SC" pitchFamily="34" charset="-122"/>
                <a:cs typeface="Times New Roman" panose="02020603050405020304" pitchFamily="18" charset="0"/>
              </a:rPr>
              <a:t>等框架，并支持多智能体强化学习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2.4.4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Webots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601968" y="3603752"/>
            <a:ext cx="4965192" cy="3474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5" name="Text 3"/>
          <p:cNvSpPr/>
          <p:nvPr/>
        </p:nvSpPr>
        <p:spPr>
          <a:xfrm>
            <a:off x="762000" y="1525017"/>
            <a:ext cx="4699000" cy="3178047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开源；采用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ODE；图形化建模；支持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LiDAR、摄像头、IMU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等传感器；跨平台兼容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altLang="zh-CN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适合</a:t>
            </a: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教育、初学者培训、中小型研究项目；优点是易用、模型丰富，局限是物理精度稍逊、社区规模较小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24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980" y="1516888"/>
            <a:ext cx="556416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2.4.5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CoppeliaSim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Text 3"/>
          <p:cNvSpPr/>
          <p:nvPr/>
        </p:nvSpPr>
        <p:spPr>
          <a:xfrm>
            <a:off x="762000" y="1525017"/>
            <a:ext cx="5280660" cy="3178047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原名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V-REP</a:t>
            </a:r>
            <a:endParaRPr lang="en-US" altLang="zh-CN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灵活的多物理引擎机器人仿真平台</a:t>
            </a:r>
            <a:endParaRPr lang="en-US" altLang="zh-CN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支持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</a:t>
            </a: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Bullet、ODE、Vortex；兼容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ROS / ROS2；分布式控制架构，脚本与插件高度可定制。</a:t>
            </a:r>
            <a:endParaRPr lang="en-US" altLang="zh-CN" sz="2400" dirty="0">
              <a:solidFill>
                <a:srgbClr val="222833"/>
              </a:solidFill>
              <a:latin typeface="Microsoft YaHei" pitchFamily="34" charset="-122"/>
              <a:ea typeface="Microsoft YaHei" pitchFamily="34" charset="-122"/>
              <a:cs typeface="Noto Sans CJK SC" pitchFamily="34" charset="-12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机器人系统开发与验证，可从虚拟测试快速过渡到硬件部署；高负载复杂场景计算需求较高</a:t>
            </a:r>
            <a:r>
              <a:rPr lang="en-US" altLang="zh-CN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2400" dirty="0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9342" y="1581622"/>
            <a:ext cx="5151120" cy="3311434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典型仿真器功能对比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297" y="1480507"/>
            <a:ext cx="7379743" cy="5121461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05105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仿真器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选择建议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Shape 2"/>
          <p:cNvSpPr/>
          <p:nvPr/>
        </p:nvSpPr>
        <p:spPr>
          <a:xfrm>
            <a:off x="713232" y="1645920"/>
            <a:ext cx="2697480" cy="36118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713232" y="1645920"/>
            <a:ext cx="73152" cy="361188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932688" y="18105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ROS / 多机器人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41600"/>
            <a:ext cx="231343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优先考虑 Gazebo。</a:t>
            </a:r>
            <a:endParaRPr lang="en-US" sz="20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697480" cy="36118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Shape 7"/>
          <p:cNvSpPr/>
          <p:nvPr/>
        </p:nvSpPr>
        <p:spPr>
          <a:xfrm>
            <a:off x="3520440" y="1645920"/>
            <a:ext cx="73152" cy="3611880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/>
          <p:cNvSpPr/>
          <p:nvPr/>
        </p:nvSpPr>
        <p:spPr>
          <a:xfrm>
            <a:off x="3739896" y="18105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高精度接触 / RL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39896" y="2641600"/>
            <a:ext cx="2313432" cy="929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MuJoCo 具有高效接触动力学与成熟 RL 生态。</a:t>
            </a:r>
            <a:endParaRPr lang="en-US" sz="20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27648" y="1645920"/>
            <a:ext cx="2697480" cy="36118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11"/>
          <p:cNvSpPr/>
          <p:nvPr/>
        </p:nvSpPr>
        <p:spPr>
          <a:xfrm>
            <a:off x="6327648" y="1645920"/>
            <a:ext cx="73152" cy="3611880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6547104" y="18105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并行 / 高保真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47104" y="2641600"/>
            <a:ext cx="2313432" cy="848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Isaac Gym / Sim / Lab 面向 GPU 加速与 AI </a:t>
            </a:r>
            <a:r>
              <a:rPr lang="en-US" sz="20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集成</a:t>
            </a:r>
            <a:endParaRPr lang="en-US" sz="20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34856" y="1645920"/>
            <a:ext cx="2697480" cy="36118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Shape 15"/>
          <p:cNvSpPr/>
          <p:nvPr/>
        </p:nvSpPr>
        <p:spPr>
          <a:xfrm>
            <a:off x="9134856" y="1645920"/>
            <a:ext cx="73152" cy="3611880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6"/>
          <p:cNvSpPr/>
          <p:nvPr/>
        </p:nvSpPr>
        <p:spPr>
          <a:xfrm>
            <a:off x="9354312" y="18105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教育 / 灵活原型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54312" y="2641600"/>
            <a:ext cx="2313432" cy="929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Webots 易用；CoppeliaSim 灵活、支持多物理引擎。</a:t>
            </a:r>
            <a:endParaRPr lang="en-US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开源机械臂案例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 LeRobot SO-ARM101：</a:t>
            </a:r>
            <a:r>
              <a:rPr lang="zh-CN" alt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具身智能开源机械臂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5740400" cy="4389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Hugging Face LeRobot 配套的开源机器人学习平台，由 The Robot Studio 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开发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包括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SO-ARM100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和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 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升级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后的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SO-ARM101。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低成本、模块化、可扩展，适合</a:t>
            </a:r>
            <a:r>
              <a:rPr lang="zh-CN" alt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初学者上手</a:t>
            </a:r>
            <a:r>
              <a:rPr lang="en-US" sz="28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进行抓取、操作与交互实验</a:t>
            </a: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LeRobot 集成硬件、软件与数据集，形成从感知到控制的完整闭环。</a:t>
            </a:r>
            <a:endParaRPr lang="en-US" sz="28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5" name="图片 4" descr="SO-101 leader a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480" y="2098675"/>
            <a:ext cx="4340859" cy="3255644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开源机械臂：成本与可自由装配度的定位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/mnt/data/ch2_images/img-04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4240" y="1417320"/>
            <a:ext cx="6141599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21792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三种典型机械臂的成本和可自由装配度对比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步骤1：硬件准备与组装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412240"/>
            <a:ext cx="9865360" cy="24130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领航臂采用混合齿轮比的 STS3215 伺服舵机：基座 / 肩部抬升关节减速比 1:191，腕部关节 1:147 等，以实现轻便力反馈。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跟随臂统一采用 1:345 高减速比，确保执行刚度。</a:t>
            </a:r>
            <a:endParaRPr lang="en-US" sz="2800" dirty="0"/>
          </a:p>
          <a:p>
            <a:pPr marL="228600" indent="-228600">
              <a:buSzPct val="100000"/>
              <a:buChar char="•"/>
            </a:pPr>
            <a:r>
              <a:rPr lang="en-US" sz="2800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可按官方物料清单采购零件，或自行 3D 打印臂体。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步骤2：软件环境搭建 — 安装 conda 与 git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469880" cy="434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9829800" cy="3383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wget https://repo.anaconda.com/miniconda/Miniconda3-py311_25.7.0-2-Linux-x86_64.sh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sh Miniconda3-py311_25.7.0-2-Linux-x86_64.sh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sudo apt update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sudo apt install -y git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步骤2：软件环境搭建 — Ubuntu 22.04 环境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469880" cy="434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9829800" cy="3383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conda create -n lerobot python=3.10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conda activate lerobot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git clone https://github.com/huggingface/lerobot.git &amp;&amp; cd lerobot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pip install -e ".[feetech]"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步骤2：识别 USB 端口并写入电机 ID / 波特率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10789920" cy="4572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24128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lerobot-find-port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lerobot-setup-motors --robot.type=so101_follower --robot.port=/dev/ttyACM0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lerobot-setup-motors --teleop.type=so101_leader --teleop.port=/dev/ttyACM1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9D6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注意：/dev/ttyACM0 与 /dev/ttyACM1 </a:t>
            </a:r>
            <a:r>
              <a:rPr lang="en-US" sz="1350" dirty="0" err="1">
                <a:solidFill>
                  <a:srgbClr val="F9D6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仅为示例端口，实际应先用</a:t>
            </a:r>
            <a:r>
              <a:rPr lang="en-US" sz="1350" dirty="0">
                <a:solidFill>
                  <a:srgbClr val="F9D6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lerobot-find-port 确认。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步骤2：校准领航臂与跟随臂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1078992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10241280" cy="3154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lerobot-calibrate --robot.type=so101_follower --robot.port=/dev/ttyACM0 --robot.id=my_follower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lerobot-calibrate --teleop.type=so101_leader --teleop.port=/dev/ttyACM1 --teleop.id=my_leader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-1036320" y="584301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将各关节置于中位后进行全范围手动运动，系统自动记录零位偏移。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步骤3：运动学建模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01040" y="1463040"/>
            <a:ext cx="10058400" cy="42976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SO-ARM101 运动学以 URDF 文件 so101_new_calib.urdf 为标准。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也可采用经典 D-H 参数进行解析计算。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教材给出包含伺服零位偏移的标准 D-H 参数表。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可通过正运动学获得末端位姿，也可借助 MATLAB Robotics Toolbox、PyKDL 等求解。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741680" y="3799840"/>
          <a:ext cx="10972800" cy="2633472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19456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关节</a:t>
                      </a:r>
                      <a:endParaRPr lang="en-US" sz="13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θₙ/(°)</a:t>
                      </a:r>
                      <a:endParaRPr lang="en-US" sz="13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dₙ/mm</a:t>
                      </a:r>
                      <a:endParaRPr lang="en-US" sz="13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aₙ/mm</a:t>
                      </a:r>
                      <a:endParaRPr lang="en-US" sz="13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αₙ/(°)</a:t>
                      </a:r>
                      <a:endParaRPr lang="en-US" sz="13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θ₁ − 90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115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−33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θ₂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−155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θ₃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−135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θ₄ + 90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−90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θ₅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130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8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8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"/>
          <p:cNvSpPr/>
          <p:nvPr/>
        </p:nvSpPr>
        <p:spPr>
          <a:xfrm>
            <a:off x="741680" y="3799840"/>
            <a:ext cx="10972800" cy="50292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9" name="Text 3"/>
          <p:cNvSpPr/>
          <p:nvPr/>
        </p:nvSpPr>
        <p:spPr>
          <a:xfrm>
            <a:off x="759968" y="3882136"/>
            <a:ext cx="17922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关节</a:t>
            </a:r>
            <a:endParaRPr lang="en-US" sz="1600" dirty="0"/>
          </a:p>
        </p:txBody>
      </p:sp>
      <p:sp>
        <p:nvSpPr>
          <p:cNvPr id="31" name="Text 4"/>
          <p:cNvSpPr/>
          <p:nvPr/>
        </p:nvSpPr>
        <p:spPr>
          <a:xfrm>
            <a:off x="2588768" y="388213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θₙ/(°)</a:t>
            </a:r>
            <a:endParaRPr lang="en-US" sz="1600" dirty="0"/>
          </a:p>
        </p:txBody>
      </p:sp>
      <p:sp>
        <p:nvSpPr>
          <p:cNvPr id="33" name="Text 5"/>
          <p:cNvSpPr/>
          <p:nvPr/>
        </p:nvSpPr>
        <p:spPr>
          <a:xfrm>
            <a:off x="5149088" y="3882136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dₙ/mm</a:t>
            </a:r>
            <a:endParaRPr lang="en-US" sz="1600" dirty="0"/>
          </a:p>
        </p:txBody>
      </p:sp>
      <p:sp>
        <p:nvSpPr>
          <p:cNvPr id="35" name="Text 6"/>
          <p:cNvSpPr/>
          <p:nvPr/>
        </p:nvSpPr>
        <p:spPr>
          <a:xfrm>
            <a:off x="7343648" y="3882136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aₙ/mm</a:t>
            </a:r>
            <a:endParaRPr lang="en-US" sz="1600" dirty="0"/>
          </a:p>
        </p:txBody>
      </p:sp>
      <p:sp>
        <p:nvSpPr>
          <p:cNvPr id="37" name="Text 7"/>
          <p:cNvSpPr/>
          <p:nvPr/>
        </p:nvSpPr>
        <p:spPr>
          <a:xfrm>
            <a:off x="9538208" y="3882136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αₙ/(°)</a:t>
            </a:r>
            <a:endParaRPr lang="en-US" sz="1600" dirty="0"/>
          </a:p>
        </p:txBody>
      </p:sp>
      <p:sp>
        <p:nvSpPr>
          <p:cNvPr id="41" name="文本框 40"/>
          <p:cNvSpPr txBox="1"/>
          <p:nvPr/>
        </p:nvSpPr>
        <p:spPr>
          <a:xfrm>
            <a:off x="4202430" y="3353030"/>
            <a:ext cx="6098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itchFamily="34" charset="-122"/>
                <a:ea typeface="Microsoft YaHei" pitchFamily="34" charset="-122"/>
              </a:rPr>
              <a:t>SO-ARM101 </a:t>
            </a:r>
            <a:r>
              <a:rPr lang="zh-CN" altLang="en-US" b="1" dirty="0">
                <a:latin typeface="Microsoft YaHei" pitchFamily="34" charset="-122"/>
                <a:ea typeface="Microsoft YaHei" pitchFamily="34" charset="-122"/>
              </a:rPr>
              <a:t>机械臂 </a:t>
            </a:r>
            <a:r>
              <a:rPr lang="en-US" altLang="zh-CN" b="1" dirty="0">
                <a:latin typeface="Microsoft YaHei" pitchFamily="34" charset="-122"/>
                <a:ea typeface="Microsoft YaHei" pitchFamily="34" charset="-122"/>
              </a:rPr>
              <a:t>D-H </a:t>
            </a:r>
            <a:r>
              <a:rPr lang="zh-CN" altLang="en-US" b="1" dirty="0">
                <a:latin typeface="Microsoft YaHei" pitchFamily="34" charset="-122"/>
                <a:ea typeface="Microsoft YaHei" pitchFamily="34" charset="-122"/>
              </a:rPr>
              <a:t>参数</a:t>
            </a:r>
            <a:endParaRPr lang="zh-CN" altLang="en-US" b="1" dirty="0"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步骤4：配置后的效果 — 从遥操作到数据采集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1437131"/>
            <a:ext cx="11027664" cy="4389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校准后，领航臂与跟随臂在相同姿态下的位置值一致，无明显抖动。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运行 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lerobot-teleoperate，操作者轻柔移动领航臂，跟随臂可实时、平滑复现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按空格键可进入记录模式，单次演示 30～60s即可采集高质量关节/</a:t>
            </a:r>
            <a:r>
              <a:rPr lang="en-US" sz="2400" dirty="0" err="1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图像数据集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22833"/>
                </a:solidFill>
                <a:latin typeface="Microsoft YaHei" pitchFamily="34" charset="-122"/>
                <a:ea typeface="Microsoft YaHei" pitchFamily="34" charset="-122"/>
                <a:cs typeface="Noto Sans CJK SC" pitchFamily="34" charset="-120"/>
              </a:rPr>
              <a:t>后续加载 ACT 或 Diffusion 策略，可在真实臂部署并完成夹取、放置等任务。</a:t>
            </a:r>
            <a:endParaRPr lang="en-US" sz="2400" dirty="0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6" name="Image 0" descr="/mnt/data/ch2_images/img-0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3207992"/>
            <a:ext cx="7660640" cy="31470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" y="0"/>
            <a:ext cx="219456" cy="6858000"/>
          </a:xfrm>
          <a:prstGeom prst="parallelogram">
            <a:avLst/>
          </a:prstGeom>
          <a:solidFill>
            <a:srgbClr val="B7C5E0"/>
          </a:solidFill>
          <a:ln w="12700">
            <a:solidFill>
              <a:srgbClr val="B7C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508760" y="19659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383280" y="2167128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595360" y="320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第2章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270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2.6 </a:t>
            </a:r>
            <a:r>
              <a:rPr lang="en-US" sz="3400" b="1" dirty="0" err="1">
                <a:solidFill>
                  <a:srgbClr val="2447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35024"/>
            <a:ext cx="11109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50215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73152" cy="1664208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877824" y="1737360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9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2167128"/>
            <a:ext cx="3118104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机械臂、移动操作、人形、四足、末端执行器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53128" y="1572768"/>
            <a:ext cx="350215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Shape 7"/>
          <p:cNvSpPr/>
          <p:nvPr/>
        </p:nvSpPr>
        <p:spPr>
          <a:xfrm>
            <a:off x="4453128" y="1572768"/>
            <a:ext cx="73152" cy="1664208"/>
          </a:xfrm>
          <a:prstGeom prst="rect">
            <a:avLst/>
          </a:prstGeom>
          <a:solidFill>
            <a:srgbClr val="2F8E72"/>
          </a:solidFill>
          <a:ln w="12700">
            <a:solidFill>
              <a:srgbClr val="2F8E72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/>
          <p:cNvSpPr/>
          <p:nvPr/>
        </p:nvSpPr>
        <p:spPr>
          <a:xfrm>
            <a:off x="4672584" y="1737360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E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72584" y="2167128"/>
            <a:ext cx="3118104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IMU、LiDAR、深度相机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47888" y="1572768"/>
            <a:ext cx="350215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11"/>
          <p:cNvSpPr/>
          <p:nvPr/>
        </p:nvSpPr>
        <p:spPr>
          <a:xfrm>
            <a:off x="8247888" y="1572768"/>
            <a:ext cx="73152" cy="1664208"/>
          </a:xfrm>
          <a:prstGeom prst="rect">
            <a:avLst/>
          </a:prstGeom>
          <a:solidFill>
            <a:srgbClr val="C58A24"/>
          </a:solidFill>
          <a:ln w="12700">
            <a:solidFill>
              <a:srgbClr val="C58A24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8467344" y="1737360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58A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67344" y="2167128"/>
            <a:ext cx="3118104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模型控制、学习控制、控制硬件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58368" y="3630168"/>
            <a:ext cx="350215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Shape 15"/>
          <p:cNvSpPr/>
          <p:nvPr/>
        </p:nvSpPr>
        <p:spPr>
          <a:xfrm>
            <a:off x="658368" y="3630168"/>
            <a:ext cx="73152" cy="1664208"/>
          </a:xfrm>
          <a:prstGeom prst="rect">
            <a:avLst/>
          </a:prstGeom>
          <a:solidFill>
            <a:srgbClr val="C63F45"/>
          </a:solidFill>
          <a:ln w="12700">
            <a:solidFill>
              <a:srgbClr val="C63F4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6"/>
          <p:cNvSpPr/>
          <p:nvPr/>
        </p:nvSpPr>
        <p:spPr>
          <a:xfrm>
            <a:off x="877824" y="3794760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63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仿真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7824" y="4224528"/>
            <a:ext cx="3118104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Gazebo、MuJoCo、NVIDIA Isaac、Webots、CoppeliaSim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53128" y="3630168"/>
            <a:ext cx="350215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9"/>
          <p:cNvSpPr/>
          <p:nvPr/>
        </p:nvSpPr>
        <p:spPr>
          <a:xfrm>
            <a:off x="4453128" y="3630168"/>
            <a:ext cx="73152" cy="1664208"/>
          </a:xfrm>
          <a:prstGeom prst="rect">
            <a:avLst/>
          </a:prstGeom>
          <a:solidFill>
            <a:srgbClr val="4F73B5"/>
          </a:solidFill>
          <a:ln w="12700">
            <a:solidFill>
              <a:srgbClr val="4F73B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/>
          <p:cNvSpPr/>
          <p:nvPr/>
        </p:nvSpPr>
        <p:spPr>
          <a:xfrm>
            <a:off x="4672584" y="3794760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F7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72584" y="4224528"/>
            <a:ext cx="3118104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8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LeRobot SO-ARM101 开源机械臂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7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296164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   谢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13270</Words>
  <Application>WPS Docs</Application>
  <PresentationFormat>宽屏</PresentationFormat>
  <Paragraphs>1436</Paragraphs>
  <Slides>115</Slides>
  <Notes>115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48" baseType="lpstr">
      <vt:lpstr>Arial</vt:lpstr>
      <vt:lpstr>SimSun</vt:lpstr>
      <vt:lpstr>Wingdings</vt:lpstr>
      <vt:lpstr>Noto Sans CJK SC</vt:lpstr>
      <vt:lpstr>Thonburi</vt:lpstr>
      <vt:lpstr>Noto Sans CJK SC</vt:lpstr>
      <vt:lpstr>苹方-简</vt:lpstr>
      <vt:lpstr>Noto Sans CJK SC</vt:lpstr>
      <vt:lpstr>Noto Sans CJK SC</vt:lpstr>
      <vt:lpstr>Microsoft YaHei</vt:lpstr>
      <vt:lpstr>Microsoft YaHei</vt:lpstr>
      <vt:lpstr>Microsoft YaHei</vt:lpstr>
      <vt:lpstr>Noto Serif CJK SC</vt:lpstr>
      <vt:lpstr>Noto Serif CJK SC</vt:lpstr>
      <vt:lpstr>Noto Serif CJK SC</vt:lpstr>
      <vt:lpstr>SimSun</vt:lpstr>
      <vt:lpstr>汉仪书宋二KW</vt:lpstr>
      <vt:lpstr>方正雅意黑 GB18030L2</vt:lpstr>
      <vt:lpstr>Arial Unicode MS</vt:lpstr>
      <vt:lpstr>等线</vt:lpstr>
      <vt:lpstr>汉仪中等线KW</vt:lpstr>
      <vt:lpstr>Times New Roman</vt:lpstr>
      <vt:lpstr>Noto Sans Mono CJK SC</vt:lpstr>
      <vt:lpstr>Noto Sans Mono CJK SC</vt:lpstr>
      <vt:lpstr>Noto Sans Mono CJK SC</vt:lpstr>
      <vt:lpstr>Calibri</vt:lpstr>
      <vt:lpstr>Helvetica Neue</vt:lpstr>
      <vt:lpstr>宋体-简</vt:lpstr>
      <vt:lpstr>Times New Roman Regular</vt:lpstr>
      <vt:lpstr>Arial Regular</vt:lpstr>
      <vt:lpstr>MS PGothic</vt:lpstr>
      <vt:lpstr>Thonburi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精品课程课件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具身智能导论 第2章 具身智能的硬软件平台</dc:title>
  <dc:creator>秦建军等</dc:creator>
  <dc:subject>具身智能导论 第2章 具身智能的硬软件平台</dc:subject>
  <cp:lastModifiedBy>陶楚沅</cp:lastModifiedBy>
  <cp:revision>21</cp:revision>
  <dcterms:created xsi:type="dcterms:W3CDTF">2026-10-18T06:36:30Z</dcterms:created>
  <dcterms:modified xsi:type="dcterms:W3CDTF">2026-10-18T06:36:30Z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542C95EC9A9E0B73EE68D46AFC106E36_42</vt:lpwstr>
  </property>
  <property fmtid="{D5CDD505-2E9C-101B-9397-08002B2CF9AE}" pid="3" name="KSOProductBuildVer">
    <vt:lpwstr>1033-12.1.28496.28496</vt:lpwstr>
  </property>
</Properties>
</file>