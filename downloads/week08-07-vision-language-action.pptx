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92" r:id="rId1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5" autoAdjust="0"/>
    <p:restoredTop sz="94610"/>
  </p:normalViewPr>
  <p:slideViewPr>
    <p:cSldViewPr snapToGrid="0" snapToObjects="1">
      <p:cViewPr varScale="1">
        <p:scale>
          <a:sx n="86" d="100"/>
          <a:sy n="86" d="100"/>
        </p:scale>
        <p:origin x="564" y="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0051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31599B"/>
          </a:solidFill>
          <a:ln w="12700">
            <a:solidFill>
              <a:srgbClr val="31599B"/>
            </a:solidFill>
            <a:prstDash val="solid"/>
          </a:ln>
        </p:spPr>
      </p:sp>
      <p:sp>
        <p:nvSpPr>
          <p:cNvPr id="3" name="Shape 1"/>
          <p:cNvSpPr/>
          <p:nvPr/>
        </p:nvSpPr>
        <p:spPr>
          <a:xfrm>
            <a:off x="118872" y="0"/>
            <a:ext cx="41148" cy="6858000"/>
          </a:xfrm>
          <a:prstGeom prst="rect">
            <a:avLst/>
          </a:prstGeom>
          <a:solidFill>
            <a:srgbClr val="AFC0DF"/>
          </a:solidFill>
          <a:ln w="12700">
            <a:solidFill>
              <a:srgbClr val="AFC0DF"/>
            </a:solidFill>
            <a:prstDash val="solid"/>
          </a:ln>
        </p:spPr>
      </p:sp>
      <p:sp>
        <p:nvSpPr>
          <p:cNvPr id="4" name="Text 2"/>
          <p:cNvSpPr/>
          <p:nvPr/>
        </p:nvSpPr>
        <p:spPr>
          <a:xfrm>
            <a:off x="438912" y="164592"/>
            <a:ext cx="3017520" cy="219456"/>
          </a:xfrm>
          <a:prstGeom prst="rect">
            <a:avLst/>
          </a:prstGeom>
          <a:noFill/>
          <a:ln/>
        </p:spPr>
        <p:txBody>
          <a:bodyPr wrap="square" lIns="0" tIns="0" rIns="0" bIns="0" rtlCol="0" anchor="ctr"/>
          <a:lstStyle/>
          <a:p>
            <a:pPr marL="0" indent="0">
              <a:buNone/>
            </a:pPr>
            <a:r>
              <a:rPr lang="en-US" sz="900" dirty="0">
                <a:solidFill>
                  <a:srgbClr val="65738A"/>
                </a:solidFill>
                <a:latin typeface="微软雅黑" panose="020B0503020204020204" pitchFamily="34" charset="-122"/>
                <a:ea typeface="微软雅黑" panose="020B0503020204020204" pitchFamily="34" charset="-122"/>
                <a:cs typeface="Noto Sans CJK SC" pitchFamily="34" charset="-120"/>
              </a:rPr>
              <a:t>具身智能导论 · 第3章</a:t>
            </a:r>
            <a:endParaRPr lang="en-US" sz="900" dirty="0">
              <a:latin typeface="微软雅黑" panose="020B0503020204020204" pitchFamily="34" charset="-122"/>
            </a:endParaRPr>
          </a:p>
        </p:txBody>
      </p:sp>
      <p:sp>
        <p:nvSpPr>
          <p:cNvPr id="5" name="Text 3"/>
          <p:cNvSpPr/>
          <p:nvPr/>
        </p:nvSpPr>
        <p:spPr>
          <a:xfrm>
            <a:off x="9144000" y="164592"/>
            <a:ext cx="2423160" cy="219456"/>
          </a:xfrm>
          <a:prstGeom prst="rect">
            <a:avLst/>
          </a:prstGeom>
          <a:noFill/>
          <a:ln/>
        </p:spPr>
        <p:txBody>
          <a:bodyPr wrap="square" lIns="0" tIns="0" rIns="0" bIns="0" rtlCol="0" anchor="ctr"/>
          <a:lstStyle/>
          <a:p>
            <a:pPr marL="0" indent="0" algn="r">
              <a:buNone/>
            </a:pPr>
            <a:r>
              <a:rPr lang="en-US" sz="900" dirty="0">
                <a:solidFill>
                  <a:srgbClr val="8C98AA"/>
                </a:solidFill>
                <a:latin typeface="微软雅黑" panose="020B0503020204020204" pitchFamily="34" charset="-122"/>
                <a:ea typeface="微软雅黑" panose="020B0503020204020204" pitchFamily="34" charset="-122"/>
                <a:cs typeface="Noto Sans CJK SC" pitchFamily="34" charset="-120"/>
              </a:rPr>
              <a:t>强化学习</a:t>
            </a:r>
            <a:endParaRPr lang="en-US" sz="9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r"/>
            <a:fld id="{F7021451-1387-4CA6-816F-3879F97B5CBC}" type="slidenum">
              <a:rPr lang="en-US" smtClean="0"/>
              <a:pPr algn="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r"/>
            <a:fld id="{F7021451-1387-4CA6-816F-3879F97B5CBC}" type="slidenum">
              <a:rPr lang="en-US" smtClean="0"/>
              <a:pPr algn="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4.bin"/><Relationship Id="rId1" Type="http://schemas.openxmlformats.org/officeDocument/2006/relationships/slideLayout" Target="../slideLayouts/slideLayout1.xml"/><Relationship Id="rId5" Type="http://schemas.openxmlformats.org/officeDocument/2006/relationships/image" Target="../media/image10.wmf"/><Relationship Id="rId4" Type="http://schemas.openxmlformats.org/officeDocument/2006/relationships/oleObject" Target="../embeddings/oleObject5.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51560"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04672"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1325880" y="749808"/>
            <a:ext cx="5303520" cy="264496"/>
          </a:xfrm>
          <a:prstGeom prst="rect">
            <a:avLst/>
          </a:prstGeom>
          <a:noFill/>
        </p:spPr>
        <p:txBody>
          <a:bodyPr wrap="square" lIns="18288" tIns="18288" rIns="18288" bIns="18288" anchor="t">
            <a:spAutoFit/>
          </a:bodyPr>
          <a:lstStyle/>
          <a:p>
            <a:pPr algn="l">
              <a:lnSpc>
                <a:spcPct val="105000"/>
              </a:lnSpc>
            </a:pPr>
            <a:r>
              <a:rPr sz="1500" b="1" i="0" dirty="0" err="1">
                <a:solidFill>
                  <a:srgbClr val="31599B"/>
                </a:solidFill>
                <a:latin typeface="微软雅黑" panose="020B0503020204020204" pitchFamily="34" charset="-122"/>
              </a:rPr>
              <a:t>普通高等教育新工科具身智能系列教材</a:t>
            </a:r>
            <a:endParaRPr sz="1500" b="1" i="0" dirty="0">
              <a:solidFill>
                <a:srgbClr val="31599B"/>
              </a:solidFill>
              <a:latin typeface="微软雅黑" panose="020B0503020204020204" pitchFamily="34" charset="-122"/>
            </a:endParaRPr>
          </a:p>
        </p:txBody>
      </p:sp>
      <p:sp>
        <p:nvSpPr>
          <p:cNvPr id="5" name="TextBox 4"/>
          <p:cNvSpPr txBox="1"/>
          <p:nvPr/>
        </p:nvSpPr>
        <p:spPr>
          <a:xfrm>
            <a:off x="3776472" y="1865376"/>
            <a:ext cx="5303520" cy="461729"/>
          </a:xfrm>
          <a:prstGeom prst="rect">
            <a:avLst/>
          </a:prstGeom>
          <a:noFill/>
        </p:spPr>
        <p:txBody>
          <a:bodyPr wrap="square" lIns="18288" tIns="18288" rIns="18288" bIns="18288" anchor="t">
            <a:spAutoFit/>
          </a:bodyPr>
          <a:lstStyle/>
          <a:p>
            <a:pPr algn="ctr">
              <a:lnSpc>
                <a:spcPct val="105000"/>
              </a:lnSpc>
            </a:pPr>
            <a:r>
              <a:rPr sz="2800" b="1" i="0" dirty="0" err="1">
                <a:solidFill>
                  <a:srgbClr val="222833"/>
                </a:solidFill>
                <a:latin typeface="微软雅黑" panose="020B0503020204020204" pitchFamily="34" charset="-122"/>
              </a:rPr>
              <a:t>具身智能导论</a:t>
            </a:r>
            <a:endParaRPr sz="2800" b="1" i="0" dirty="0">
              <a:solidFill>
                <a:srgbClr val="222833"/>
              </a:solidFill>
              <a:latin typeface="微软雅黑" panose="020B0503020204020204" pitchFamily="34" charset="-122"/>
            </a:endParaRPr>
          </a:p>
        </p:txBody>
      </p:sp>
      <p:sp>
        <p:nvSpPr>
          <p:cNvPr id="6" name="TextBox 5"/>
          <p:cNvSpPr txBox="1"/>
          <p:nvPr/>
        </p:nvSpPr>
        <p:spPr>
          <a:xfrm>
            <a:off x="2926080" y="2882006"/>
            <a:ext cx="7498079" cy="583045"/>
          </a:xfrm>
          <a:prstGeom prst="rect">
            <a:avLst/>
          </a:prstGeom>
          <a:noFill/>
        </p:spPr>
        <p:txBody>
          <a:bodyPr wrap="square" lIns="18288" tIns="18288" rIns="18288" bIns="18288" anchor="t">
            <a:spAutoFit/>
          </a:bodyPr>
          <a:lstStyle/>
          <a:p>
            <a:pPr algn="ctr">
              <a:lnSpc>
                <a:spcPct val="105000"/>
              </a:lnSpc>
            </a:pPr>
            <a:r>
              <a:rPr sz="3600" b="1" i="0" dirty="0">
                <a:solidFill>
                  <a:srgbClr val="24477D"/>
                </a:solidFill>
                <a:latin typeface="微软雅黑" panose="020B0503020204020204" pitchFamily="34" charset="-122"/>
              </a:rPr>
              <a:t>第 7 章  </a:t>
            </a:r>
            <a:r>
              <a:rPr sz="3600" b="1" i="0" dirty="0" err="1">
                <a:solidFill>
                  <a:srgbClr val="24477D"/>
                </a:solidFill>
                <a:latin typeface="微软雅黑" panose="020B0503020204020204" pitchFamily="34" charset="-122"/>
              </a:rPr>
              <a:t>视觉－语言－动作模型</a:t>
            </a:r>
            <a:endParaRPr sz="3600" b="1" i="0" dirty="0">
              <a:solidFill>
                <a:srgbClr val="24477D"/>
              </a:solidFill>
              <a:latin typeface="微软雅黑" panose="020B0503020204020204" pitchFamily="34" charset="-122"/>
            </a:endParaRPr>
          </a:p>
        </p:txBody>
      </p:sp>
      <p:sp>
        <p:nvSpPr>
          <p:cNvPr id="7" name="TextBox 6"/>
          <p:cNvSpPr txBox="1"/>
          <p:nvPr/>
        </p:nvSpPr>
        <p:spPr>
          <a:xfrm>
            <a:off x="3739896" y="4187952"/>
            <a:ext cx="5779008" cy="218971"/>
          </a:xfrm>
          <a:prstGeom prst="rect">
            <a:avLst/>
          </a:prstGeom>
          <a:noFill/>
        </p:spPr>
        <p:txBody>
          <a:bodyPr wrap="square" lIns="18288" tIns="18288" rIns="18288" bIns="18288" anchor="t">
            <a:spAutoFit/>
          </a:bodyPr>
          <a:lstStyle/>
          <a:p>
            <a:pPr algn="ctr">
              <a:lnSpc>
                <a:spcPct val="105000"/>
              </a:lnSpc>
            </a:pPr>
            <a:r>
              <a:rPr sz="1200" b="0" i="0" dirty="0">
                <a:solidFill>
                  <a:srgbClr val="667085"/>
                </a:solidFill>
                <a:latin typeface="微软雅黑" panose="020B0503020204020204" pitchFamily="34" charset="-122"/>
              </a:rPr>
              <a:t>秦建军  </a:t>
            </a:r>
            <a:r>
              <a:rPr sz="1200" b="0" i="0" dirty="0" err="1">
                <a:solidFill>
                  <a:srgbClr val="667085"/>
                </a:solidFill>
                <a:latin typeface="微软雅黑" panose="020B0503020204020204" pitchFamily="34" charset="-122"/>
              </a:rPr>
              <a:t>江磊</a:t>
            </a:r>
            <a:r>
              <a:rPr sz="1200" b="0" i="0" dirty="0">
                <a:solidFill>
                  <a:srgbClr val="667085"/>
                </a:solidFill>
                <a:latin typeface="微软雅黑" panose="020B0503020204020204" pitchFamily="34" charset="-122"/>
              </a:rPr>
              <a:t>  </a:t>
            </a:r>
            <a:r>
              <a:rPr sz="1200" b="0" i="0" dirty="0" err="1">
                <a:solidFill>
                  <a:srgbClr val="667085"/>
                </a:solidFill>
                <a:latin typeface="微软雅黑" panose="020B0503020204020204" pitchFamily="34" charset="-122"/>
              </a:rPr>
              <a:t>刘宇飞</a:t>
            </a:r>
            <a:r>
              <a:rPr sz="1200" b="0" i="0" dirty="0">
                <a:solidFill>
                  <a:srgbClr val="667085"/>
                </a:solidFill>
                <a:latin typeface="微软雅黑" panose="020B0503020204020204" pitchFamily="34" charset="-122"/>
              </a:rPr>
              <a:t>  </a:t>
            </a:r>
            <a:r>
              <a:rPr sz="1200" b="0" i="0" dirty="0" err="1">
                <a:solidFill>
                  <a:srgbClr val="667085"/>
                </a:solidFill>
                <a:latin typeface="微软雅黑" panose="020B0503020204020204" pitchFamily="34" charset="-122"/>
              </a:rPr>
              <a:t>邢伯阳</a:t>
            </a:r>
            <a:r>
              <a:rPr sz="1200" b="0" i="0" dirty="0">
                <a:solidFill>
                  <a:srgbClr val="667085"/>
                </a:solidFill>
                <a:latin typeface="微软雅黑" panose="020B0503020204020204" pitchFamily="34" charset="-122"/>
              </a:rPr>
              <a:t>  </a:t>
            </a:r>
            <a:r>
              <a:rPr sz="1200" b="0" i="0" dirty="0" err="1">
                <a:solidFill>
                  <a:srgbClr val="667085"/>
                </a:solidFill>
                <a:latin typeface="微软雅黑" panose="020B0503020204020204" pitchFamily="34" charset="-122"/>
              </a:rPr>
              <a:t>王陆旸</a:t>
            </a:r>
            <a:r>
              <a:rPr sz="1200" b="0" i="0" dirty="0">
                <a:solidFill>
                  <a:srgbClr val="667085"/>
                </a:solidFill>
                <a:latin typeface="微软雅黑" panose="020B0503020204020204" pitchFamily="34" charset="-122"/>
              </a:rPr>
              <a:t>  </a:t>
            </a:r>
            <a:r>
              <a:rPr sz="1200" b="0" i="0" dirty="0" err="1">
                <a:solidFill>
                  <a:srgbClr val="667085"/>
                </a:solidFill>
                <a:latin typeface="微软雅黑" panose="020B0503020204020204" pitchFamily="34" charset="-122"/>
              </a:rPr>
              <a:t>李国通</a:t>
            </a:r>
            <a:endParaRPr sz="1200" b="0" i="0" dirty="0">
              <a:solidFill>
                <a:srgbClr val="667085"/>
              </a:solidFill>
              <a:latin typeface="微软雅黑" panose="020B0503020204020204" pitchFamily="34" charset="-122"/>
            </a:endParaRPr>
          </a:p>
        </p:txBody>
      </p:sp>
      <p:sp>
        <p:nvSpPr>
          <p:cNvPr id="8" name="TextBox 7"/>
          <p:cNvSpPr txBox="1"/>
          <p:nvPr/>
        </p:nvSpPr>
        <p:spPr>
          <a:xfrm>
            <a:off x="8814816" y="822960"/>
            <a:ext cx="3035808" cy="222497"/>
          </a:xfrm>
          <a:prstGeom prst="rect">
            <a:avLst/>
          </a:prstGeom>
          <a:noFill/>
        </p:spPr>
        <p:txBody>
          <a:bodyPr wrap="square" lIns="18288" tIns="18288" rIns="18288" bIns="18288" anchor="t">
            <a:spAutoFit/>
          </a:bodyPr>
          <a:lstStyle/>
          <a:p>
            <a:pPr algn="r">
              <a:lnSpc>
                <a:spcPct val="105000"/>
              </a:lnSpc>
            </a:pPr>
            <a:r>
              <a:rPr sz="1200" b="0" i="0" dirty="0" err="1">
                <a:solidFill>
                  <a:srgbClr val="667085"/>
                </a:solidFill>
                <a:latin typeface="微软雅黑" panose="020B0503020204020204" pitchFamily="34" charset="-122"/>
                <a:ea typeface="微软雅黑" panose="020B0503020204020204" pitchFamily="34" charset="-122"/>
              </a:rPr>
              <a:t>国家地方</a:t>
            </a:r>
            <a:r>
              <a:rPr lang="zh-CN" altLang="en-US" sz="1200" b="0" i="0" dirty="0">
                <a:solidFill>
                  <a:srgbClr val="667085"/>
                </a:solidFill>
                <a:latin typeface="微软雅黑" panose="020B0503020204020204" pitchFamily="34" charset="-122"/>
                <a:ea typeface="微软雅黑" panose="020B0503020204020204" pitchFamily="34" charset="-122"/>
              </a:rPr>
              <a:t>共建</a:t>
            </a:r>
            <a:r>
              <a:rPr sz="1200" b="0" i="0" dirty="0" err="1">
                <a:solidFill>
                  <a:srgbClr val="667085"/>
                </a:solidFill>
                <a:latin typeface="微软雅黑" panose="020B0503020204020204" pitchFamily="34" charset="-122"/>
                <a:ea typeface="微软雅黑" panose="020B0503020204020204" pitchFamily="34" charset="-122"/>
              </a:rPr>
              <a:t>人形机器人创新中心组织编写</a:t>
            </a:r>
            <a:endParaRPr sz="1200" b="0" i="0" dirty="0">
              <a:solidFill>
                <a:srgbClr val="667085"/>
              </a:solidFill>
              <a:latin typeface="微软雅黑" panose="020B0503020204020204" pitchFamily="34" charset="-122"/>
              <a:ea typeface="微软雅黑" panose="020B0503020204020204" pitchFamily="34" charset="-122"/>
            </a:endParaRPr>
          </a:p>
        </p:txBody>
      </p:sp>
      <p:sp>
        <p:nvSpPr>
          <p:cNvPr id="9" name="TextBox 8"/>
          <p:cNvSpPr txBox="1"/>
          <p:nvPr/>
        </p:nvSpPr>
        <p:spPr>
          <a:xfrm>
            <a:off x="4379976" y="4809744"/>
            <a:ext cx="4370832" cy="226600"/>
          </a:xfrm>
          <a:prstGeom prst="rect">
            <a:avLst/>
          </a:prstGeom>
          <a:noFill/>
        </p:spPr>
        <p:txBody>
          <a:bodyPr wrap="square" lIns="18288" tIns="18288" rIns="18288" bIns="18288" anchor="t">
            <a:spAutoFit/>
          </a:bodyPr>
          <a:lstStyle/>
          <a:p>
            <a:pPr algn="ctr">
              <a:lnSpc>
                <a:spcPct val="105000"/>
              </a:lnSpc>
            </a:pPr>
            <a:r>
              <a:rPr sz="1250" b="1" i="0" dirty="0" err="1">
                <a:solidFill>
                  <a:srgbClr val="7B8798"/>
                </a:solidFill>
                <a:latin typeface="微软雅黑" panose="020B0503020204020204" pitchFamily="34" charset="-122"/>
              </a:rPr>
              <a:t>机械工业出版社</a:t>
            </a:r>
            <a:r>
              <a:rPr sz="1250" b="1" i="0" dirty="0">
                <a:solidFill>
                  <a:srgbClr val="7B8798"/>
                </a:solidFill>
                <a:latin typeface="微软雅黑" panose="020B0503020204020204" pitchFamily="34" charset="-122"/>
              </a:rPr>
              <a:t> · 《</a:t>
            </a:r>
            <a:r>
              <a:rPr sz="1250" b="1" i="0" dirty="0" err="1">
                <a:solidFill>
                  <a:srgbClr val="7B8798"/>
                </a:solidFill>
                <a:latin typeface="微软雅黑" panose="020B0503020204020204" pitchFamily="34" charset="-122"/>
              </a:rPr>
              <a:t>具身智能导论》配套课件</a:t>
            </a:r>
            <a:endParaRPr sz="1250" b="1" i="0" dirty="0">
              <a:solidFill>
                <a:srgbClr val="7B8798"/>
              </a:solidFill>
              <a:latin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2</a:t>
            </a:r>
          </a:p>
        </p:txBody>
      </p:sp>
      <p:sp>
        <p:nvSpPr>
          <p:cNvPr id="7" name="Rectangle 6"/>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914400" y="1664208"/>
            <a:ext cx="10241280" cy="841248"/>
          </a:xfrm>
          <a:prstGeom prst="rect">
            <a:avLst/>
          </a:prstGeom>
          <a:noFill/>
        </p:spPr>
        <p:txBody>
          <a:bodyPr wrap="square" lIns="18288" tIns="18288" rIns="18288" bIns="18288" anchor="ctr">
            <a:spAutoFit/>
          </a:bodyPr>
          <a:lstStyle/>
          <a:p>
            <a:pPr algn="ctr">
              <a:lnSpc>
                <a:spcPct val="105000"/>
              </a:lnSpc>
            </a:pPr>
            <a:r>
              <a:rPr sz="3000" b="1" i="0">
                <a:solidFill>
                  <a:srgbClr val="24477D"/>
                </a:solidFill>
                <a:latin typeface="Noto Serif CJK SC"/>
              </a:rPr>
              <a:t>“真知即所以为行，不行不足谓之知。”</a:t>
            </a:r>
          </a:p>
        </p:txBody>
      </p:sp>
      <p:sp>
        <p:nvSpPr>
          <p:cNvPr id="9" name="TextBox 8"/>
          <p:cNvSpPr txBox="1"/>
          <p:nvPr/>
        </p:nvSpPr>
        <p:spPr>
          <a:xfrm>
            <a:off x="7406640" y="2606040"/>
            <a:ext cx="3063240" cy="310896"/>
          </a:xfrm>
          <a:prstGeom prst="rect">
            <a:avLst/>
          </a:prstGeom>
          <a:noFill/>
        </p:spPr>
        <p:txBody>
          <a:bodyPr wrap="square" lIns="18288" tIns="18288" rIns="18288" bIns="18288" anchor="t">
            <a:spAutoFit/>
          </a:bodyPr>
          <a:lstStyle/>
          <a:p>
            <a:pPr algn="r">
              <a:lnSpc>
                <a:spcPct val="105000"/>
              </a:lnSpc>
            </a:pPr>
            <a:r>
              <a:rPr sz="1400" b="0" i="0">
                <a:solidFill>
                  <a:srgbClr val="667085"/>
                </a:solidFill>
                <a:latin typeface="Noto Serif CJK SC"/>
              </a:rPr>
              <a:t>—— 王阳明《传习录·卷中·答顾东桥书》</a:t>
            </a:r>
          </a:p>
        </p:txBody>
      </p:sp>
      <p:sp>
        <p:nvSpPr>
          <p:cNvPr id="10" name="Rounded Rectangle 9"/>
          <p:cNvSpPr/>
          <p:nvPr/>
        </p:nvSpPr>
        <p:spPr>
          <a:xfrm>
            <a:off x="1051560" y="3246120"/>
            <a:ext cx="10058400" cy="1993392"/>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Rectangle 10"/>
          <p:cNvSpPr/>
          <p:nvPr/>
        </p:nvSpPr>
        <p:spPr>
          <a:xfrm>
            <a:off x="1051560" y="3246120"/>
            <a:ext cx="64008" cy="1993392"/>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1261872" y="3392424"/>
            <a:ext cx="9674352" cy="302455"/>
          </a:xfrm>
          <a:prstGeom prst="rect">
            <a:avLst/>
          </a:prstGeom>
          <a:noFill/>
        </p:spPr>
        <p:txBody>
          <a:bodyPr wrap="square" lIns="18288" tIns="18288" rIns="18288" bIns="18288" anchor="t">
            <a:spAutoFit/>
          </a:bodyPr>
          <a:lstStyle/>
          <a:p>
            <a:pPr algn="l">
              <a:lnSpc>
                <a:spcPct val="105000"/>
              </a:lnSpc>
            </a:pPr>
            <a:r>
              <a:rPr sz="1750" b="1" i="0" dirty="0" err="1">
                <a:solidFill>
                  <a:srgbClr val="C63F45"/>
                </a:solidFill>
                <a:latin typeface="微软雅黑" panose="020B0503020204020204" pitchFamily="34" charset="-122"/>
              </a:rPr>
              <a:t>视觉－语言－动作模型的基本思想</a:t>
            </a:r>
            <a:endParaRPr sz="1750" b="1" i="0" dirty="0">
              <a:solidFill>
                <a:srgbClr val="C63F45"/>
              </a:solidFill>
              <a:latin typeface="微软雅黑" panose="020B0503020204020204" pitchFamily="34" charset="-122"/>
            </a:endParaRPr>
          </a:p>
        </p:txBody>
      </p:sp>
      <p:sp>
        <p:nvSpPr>
          <p:cNvPr id="13" name="TextBox 12"/>
          <p:cNvSpPr txBox="1"/>
          <p:nvPr/>
        </p:nvSpPr>
        <p:spPr>
          <a:xfrm>
            <a:off x="1261872" y="3904487"/>
            <a:ext cx="9674352" cy="663515"/>
          </a:xfrm>
          <a:prstGeom prst="rect">
            <a:avLst/>
          </a:prstGeom>
          <a:noFill/>
        </p:spPr>
        <p:txBody>
          <a:bodyPr wrap="square" lIns="18288" tIns="18288" rIns="18288" bIns="18288" anchor="t">
            <a:spAutoFit/>
          </a:bodyPr>
          <a:lstStyle/>
          <a:p>
            <a:pPr algn="l">
              <a:lnSpc>
                <a:spcPct val="105000"/>
              </a:lnSpc>
            </a:pPr>
            <a:r>
              <a:rPr sz="2000" b="0" i="0" dirty="0">
                <a:solidFill>
                  <a:srgbClr val="222833"/>
                </a:solidFill>
                <a:latin typeface="微软雅黑" panose="020B0503020204020204" pitchFamily="34" charset="-122"/>
              </a:rPr>
              <a:t>把视觉感知、自然语言理解与物理动作执行统一到一个端到端系统中，让机器人能够“</a:t>
            </a:r>
            <a:r>
              <a:rPr sz="2000" b="0" i="0" dirty="0" err="1">
                <a:solidFill>
                  <a:srgbClr val="222833"/>
                </a:solidFill>
                <a:latin typeface="微软雅黑" panose="020B0503020204020204" pitchFamily="34" charset="-122"/>
              </a:rPr>
              <a:t>看、听、做</a:t>
            </a:r>
            <a:r>
              <a:rPr sz="2000" b="0" i="0" dirty="0">
                <a:solidFill>
                  <a:srgbClr val="222833"/>
                </a:solidFill>
                <a:latin typeface="微软雅黑" panose="020B0503020204020204" pitchFamily="34" charset="-122"/>
              </a:rPr>
              <a:t>”，</a:t>
            </a:r>
            <a:r>
              <a:rPr sz="2000" b="0" i="0" dirty="0" err="1">
                <a:solidFill>
                  <a:srgbClr val="222833"/>
                </a:solidFill>
                <a:latin typeface="微软雅黑" panose="020B0503020204020204" pitchFamily="34" charset="-122"/>
              </a:rPr>
              <a:t>并通过真实环境反馈持续闭环调整</a:t>
            </a:r>
            <a:r>
              <a:rPr sz="2000" b="0" i="0" dirty="0">
                <a:solidFill>
                  <a:srgbClr val="222833"/>
                </a:solidFill>
                <a:latin typeface="微软雅黑" panose="020B0503020204020204" pitchFamily="34" charset="-122"/>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VLA </a:t>
            </a:r>
            <a:r>
              <a:rPr sz="3500" b="1" i="0" dirty="0" err="1">
                <a:solidFill>
                  <a:srgbClr val="24477D"/>
                </a:solidFill>
                <a:latin typeface="微软雅黑" panose="020B0503020204020204" pitchFamily="34" charset="-122"/>
              </a:rPr>
              <a:t>模型的三个直观特征</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627632"/>
            <a:ext cx="3246120" cy="278892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27632"/>
            <a:ext cx="64008" cy="27889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多模态输入</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同时理解图像、语言，并可进一步融合深度、触觉和机器人状态。</a:t>
            </a:r>
          </a:p>
        </p:txBody>
      </p:sp>
      <p:sp>
        <p:nvSpPr>
          <p:cNvPr id="13" name="Rounded Rectangle 12"/>
          <p:cNvSpPr/>
          <p:nvPr/>
        </p:nvSpPr>
        <p:spPr>
          <a:xfrm>
            <a:off x="4160520" y="1627632"/>
            <a:ext cx="3246120" cy="278892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27632"/>
            <a:ext cx="64008" cy="27889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端到端动作输出</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从原始观测直接生成关节角度、末端速度或离散动作序列。</a:t>
            </a:r>
          </a:p>
        </p:txBody>
      </p:sp>
      <p:sp>
        <p:nvSpPr>
          <p:cNvPr id="17" name="Rounded Rectangle 16"/>
          <p:cNvSpPr/>
          <p:nvPr/>
        </p:nvSpPr>
        <p:spPr>
          <a:xfrm>
            <a:off x="7607808" y="1627632"/>
            <a:ext cx="3246120" cy="278892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27632"/>
            <a:ext cx="64008" cy="27889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闭环执行</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感知环境变化，重新判断与规划，在执行中持续修正动作。</a:t>
            </a:r>
          </a:p>
        </p:txBody>
      </p:sp>
      <p:sp>
        <p:nvSpPr>
          <p:cNvPr id="21" name="TextBox 20"/>
          <p:cNvSpPr txBox="1"/>
          <p:nvPr/>
        </p:nvSpPr>
        <p:spPr>
          <a:xfrm>
            <a:off x="685800" y="4892040"/>
            <a:ext cx="10789920" cy="355482"/>
          </a:xfrm>
          <a:prstGeom prst="rect">
            <a:avLst/>
          </a:prstGeom>
          <a:noFill/>
        </p:spPr>
        <p:txBody>
          <a:bodyPr wrap="square" lIns="18288" tIns="18288" rIns="18288" bIns="18288" anchor="t">
            <a:spAutoFit/>
          </a:bodyPr>
          <a:lstStyle/>
          <a:p>
            <a:pPr algn="ctr">
              <a:lnSpc>
                <a:spcPct val="105000"/>
              </a:lnSpc>
            </a:pPr>
            <a:r>
              <a:rPr sz="2100" b="1" i="0" dirty="0" err="1">
                <a:solidFill>
                  <a:srgbClr val="24477D"/>
                </a:solidFill>
                <a:latin typeface="微软雅黑" panose="020B0503020204020204" pitchFamily="34" charset="-122"/>
              </a:rPr>
              <a:t>目标：把“理解世界”进一步推进到“在世界中行动</a:t>
            </a:r>
            <a:r>
              <a:rPr sz="2100" b="1" i="0" dirty="0">
                <a:solidFill>
                  <a:srgbClr val="24477D"/>
                </a:solidFill>
                <a:latin typeface="微软雅黑" panose="020B0503020204020204" pitchFamily="34" charset="-122"/>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学习目标</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621792" y="1554480"/>
            <a:ext cx="3547872" cy="1700784"/>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621792" y="1554480"/>
            <a:ext cx="64008" cy="1700784"/>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32104" y="1700784"/>
            <a:ext cx="3163824" cy="310021"/>
          </a:xfrm>
          <a:prstGeom prst="rect">
            <a:avLst/>
          </a:prstGeom>
          <a:noFill/>
        </p:spPr>
        <p:txBody>
          <a:bodyPr wrap="square" lIns="18288" tIns="18288" rIns="18288" bIns="18288" anchor="t">
            <a:spAutoFit/>
          </a:bodyPr>
          <a:lstStyle/>
          <a:p>
            <a:pPr algn="l">
              <a:lnSpc>
                <a:spcPct val="105000"/>
              </a:lnSpc>
            </a:pPr>
            <a:r>
              <a:rPr sz="1800" b="1" i="0" dirty="0">
                <a:solidFill>
                  <a:srgbClr val="31599B"/>
                </a:solidFill>
                <a:latin typeface="微软雅黑" panose="020B0503020204020204" pitchFamily="34" charset="-122"/>
              </a:rPr>
              <a:t>01  </a:t>
            </a:r>
            <a:r>
              <a:rPr sz="1800" b="1" i="0" dirty="0" err="1">
                <a:solidFill>
                  <a:srgbClr val="31599B"/>
                </a:solidFill>
                <a:latin typeface="微软雅黑" panose="020B0503020204020204" pitchFamily="34" charset="-122"/>
              </a:rPr>
              <a:t>基本概念</a:t>
            </a:r>
            <a:endParaRPr sz="1800" b="1" i="0" dirty="0">
              <a:solidFill>
                <a:srgbClr val="31599B"/>
              </a:solidFill>
              <a:latin typeface="微软雅黑" panose="020B0503020204020204" pitchFamily="34" charset="-122"/>
            </a:endParaRPr>
          </a:p>
        </p:txBody>
      </p:sp>
      <p:sp>
        <p:nvSpPr>
          <p:cNvPr id="12" name="TextBox 11"/>
          <p:cNvSpPr txBox="1"/>
          <p:nvPr/>
        </p:nvSpPr>
        <p:spPr>
          <a:xfrm>
            <a:off x="832104" y="2212848"/>
            <a:ext cx="3163824" cy="896112"/>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理解多模态融合、端到端学习以及“感知－认知－决策－行动”闭环。</a:t>
            </a:r>
          </a:p>
        </p:txBody>
      </p:sp>
      <p:sp>
        <p:nvSpPr>
          <p:cNvPr id="13" name="Rounded Rectangle 12"/>
          <p:cNvSpPr/>
          <p:nvPr/>
        </p:nvSpPr>
        <p:spPr>
          <a:xfrm>
            <a:off x="4443984" y="1554480"/>
            <a:ext cx="3547872" cy="1700784"/>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443984" y="1554480"/>
            <a:ext cx="64008" cy="1700784"/>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654296" y="1700784"/>
            <a:ext cx="3163824" cy="310021"/>
          </a:xfrm>
          <a:prstGeom prst="rect">
            <a:avLst/>
          </a:prstGeom>
          <a:noFill/>
        </p:spPr>
        <p:txBody>
          <a:bodyPr wrap="square" lIns="18288" tIns="18288" rIns="18288" bIns="18288" anchor="t">
            <a:spAutoFit/>
          </a:bodyPr>
          <a:lstStyle/>
          <a:p>
            <a:pPr algn="l">
              <a:lnSpc>
                <a:spcPct val="105000"/>
              </a:lnSpc>
            </a:pPr>
            <a:r>
              <a:rPr sz="1800" b="1" i="0" dirty="0">
                <a:solidFill>
                  <a:srgbClr val="2F8E72"/>
                </a:solidFill>
                <a:latin typeface="微软雅黑" panose="020B0503020204020204" pitchFamily="34" charset="-122"/>
              </a:rPr>
              <a:t>02  </a:t>
            </a:r>
            <a:r>
              <a:rPr sz="1800" b="1" i="0" dirty="0" err="1">
                <a:solidFill>
                  <a:srgbClr val="2F8E72"/>
                </a:solidFill>
                <a:latin typeface="微软雅黑" panose="020B0503020204020204" pitchFamily="34" charset="-122"/>
              </a:rPr>
              <a:t>视觉抓取</a:t>
            </a:r>
            <a:endParaRPr sz="1800" b="1" i="0" dirty="0">
              <a:solidFill>
                <a:srgbClr val="2F8E72"/>
              </a:solidFill>
              <a:latin typeface="微软雅黑" panose="020B0503020204020204" pitchFamily="34" charset="-122"/>
            </a:endParaRPr>
          </a:p>
        </p:txBody>
      </p:sp>
      <p:sp>
        <p:nvSpPr>
          <p:cNvPr id="16" name="TextBox 15"/>
          <p:cNvSpPr txBox="1"/>
          <p:nvPr/>
        </p:nvSpPr>
        <p:spPr>
          <a:xfrm>
            <a:off x="4654296" y="2212848"/>
            <a:ext cx="3163824" cy="896112"/>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掌握视觉抓取原理、YOLO 检测、6D 姿态、抓取点预测与动作执行。</a:t>
            </a:r>
          </a:p>
        </p:txBody>
      </p:sp>
      <p:sp>
        <p:nvSpPr>
          <p:cNvPr id="17" name="Rounded Rectangle 16"/>
          <p:cNvSpPr/>
          <p:nvPr/>
        </p:nvSpPr>
        <p:spPr>
          <a:xfrm>
            <a:off x="8266175" y="1554480"/>
            <a:ext cx="3547872" cy="1700784"/>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8266175" y="1554480"/>
            <a:ext cx="64008" cy="1700784"/>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8476488" y="1700784"/>
            <a:ext cx="3163824" cy="310021"/>
          </a:xfrm>
          <a:prstGeom prst="rect">
            <a:avLst/>
          </a:prstGeom>
          <a:noFill/>
        </p:spPr>
        <p:txBody>
          <a:bodyPr wrap="square" lIns="18288" tIns="18288" rIns="18288" bIns="18288" anchor="t">
            <a:spAutoFit/>
          </a:bodyPr>
          <a:lstStyle/>
          <a:p>
            <a:pPr algn="l">
              <a:lnSpc>
                <a:spcPct val="105000"/>
              </a:lnSpc>
            </a:pPr>
            <a:r>
              <a:rPr sz="1800" b="1" i="0" dirty="0">
                <a:solidFill>
                  <a:srgbClr val="C58A24"/>
                </a:solidFill>
                <a:latin typeface="微软雅黑" panose="020B0503020204020204" pitchFamily="34" charset="-122"/>
              </a:rPr>
              <a:t>03  </a:t>
            </a:r>
            <a:r>
              <a:rPr sz="1800" b="1" i="0" dirty="0" err="1">
                <a:solidFill>
                  <a:srgbClr val="C58A24"/>
                </a:solidFill>
                <a:latin typeface="微软雅黑" panose="020B0503020204020204" pitchFamily="34" charset="-122"/>
              </a:rPr>
              <a:t>动作生成</a:t>
            </a:r>
            <a:endParaRPr sz="1800" b="1" i="0" dirty="0">
              <a:solidFill>
                <a:srgbClr val="C58A24"/>
              </a:solidFill>
              <a:latin typeface="微软雅黑" panose="020B0503020204020204" pitchFamily="34" charset="-122"/>
            </a:endParaRPr>
          </a:p>
        </p:txBody>
      </p:sp>
      <p:sp>
        <p:nvSpPr>
          <p:cNvPr id="20" name="TextBox 19"/>
          <p:cNvSpPr txBox="1"/>
          <p:nvPr/>
        </p:nvSpPr>
        <p:spPr>
          <a:xfrm>
            <a:off x="8476488" y="2212848"/>
            <a:ext cx="3163824" cy="896112"/>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理解动作序列规划、生成式动作序列与扩散策略的基本机制。</a:t>
            </a:r>
          </a:p>
        </p:txBody>
      </p:sp>
      <p:sp>
        <p:nvSpPr>
          <p:cNvPr id="21" name="Rounded Rectangle 20"/>
          <p:cNvSpPr/>
          <p:nvPr/>
        </p:nvSpPr>
        <p:spPr>
          <a:xfrm>
            <a:off x="621792" y="3584448"/>
            <a:ext cx="3547872" cy="1700784"/>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621792" y="3584448"/>
            <a:ext cx="64008" cy="1700784"/>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832104" y="3730752"/>
            <a:ext cx="3163824" cy="310021"/>
          </a:xfrm>
          <a:prstGeom prst="rect">
            <a:avLst/>
          </a:prstGeom>
          <a:noFill/>
        </p:spPr>
        <p:txBody>
          <a:bodyPr wrap="square" lIns="18288" tIns="18288" rIns="18288" bIns="18288" anchor="t">
            <a:spAutoFit/>
          </a:bodyPr>
          <a:lstStyle/>
          <a:p>
            <a:pPr algn="l">
              <a:lnSpc>
                <a:spcPct val="105000"/>
              </a:lnSpc>
            </a:pPr>
            <a:r>
              <a:rPr sz="1800" b="1" i="0" dirty="0">
                <a:solidFill>
                  <a:srgbClr val="C63F45"/>
                </a:solidFill>
                <a:latin typeface="微软雅黑" panose="020B0503020204020204" pitchFamily="34" charset="-122"/>
              </a:rPr>
              <a:t>04  VLA </a:t>
            </a:r>
            <a:r>
              <a:rPr sz="1800" b="1" i="0" dirty="0" err="1">
                <a:solidFill>
                  <a:srgbClr val="C63F45"/>
                </a:solidFill>
                <a:latin typeface="微软雅黑" panose="020B0503020204020204" pitchFamily="34" charset="-122"/>
              </a:rPr>
              <a:t>训练</a:t>
            </a:r>
            <a:endParaRPr sz="1800" b="1" i="0" dirty="0">
              <a:solidFill>
                <a:srgbClr val="C63F45"/>
              </a:solidFill>
              <a:latin typeface="微软雅黑" panose="020B0503020204020204" pitchFamily="34" charset="-122"/>
            </a:endParaRPr>
          </a:p>
        </p:txBody>
      </p:sp>
      <p:sp>
        <p:nvSpPr>
          <p:cNvPr id="24" name="TextBox 23"/>
          <p:cNvSpPr txBox="1"/>
          <p:nvPr/>
        </p:nvSpPr>
        <p:spPr>
          <a:xfrm>
            <a:off x="832104" y="4242816"/>
            <a:ext cx="3163824" cy="896112"/>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区分模仿学习与强化学习在 VLA 训练中的互补作用，并评价优势与局限。</a:t>
            </a:r>
          </a:p>
        </p:txBody>
      </p:sp>
      <p:sp>
        <p:nvSpPr>
          <p:cNvPr id="25" name="Rounded Rectangle 24"/>
          <p:cNvSpPr/>
          <p:nvPr/>
        </p:nvSpPr>
        <p:spPr>
          <a:xfrm>
            <a:off x="4443984" y="3584448"/>
            <a:ext cx="3547872" cy="1700784"/>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6" name="Rectangle 25"/>
          <p:cNvSpPr/>
          <p:nvPr/>
        </p:nvSpPr>
        <p:spPr>
          <a:xfrm>
            <a:off x="4443984" y="3584448"/>
            <a:ext cx="64008" cy="1700784"/>
          </a:xfrm>
          <a:prstGeom prst="rect">
            <a:avLst/>
          </a:prstGeom>
          <a:solidFill>
            <a:srgbClr val="76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7" name="TextBox 26"/>
          <p:cNvSpPr txBox="1"/>
          <p:nvPr/>
        </p:nvSpPr>
        <p:spPr>
          <a:xfrm>
            <a:off x="4654296" y="3730752"/>
            <a:ext cx="3163824" cy="310021"/>
          </a:xfrm>
          <a:prstGeom prst="rect">
            <a:avLst/>
          </a:prstGeom>
          <a:noFill/>
        </p:spPr>
        <p:txBody>
          <a:bodyPr wrap="square" lIns="18288" tIns="18288" rIns="18288" bIns="18288" anchor="t">
            <a:spAutoFit/>
          </a:bodyPr>
          <a:lstStyle/>
          <a:p>
            <a:pPr algn="l">
              <a:lnSpc>
                <a:spcPct val="105000"/>
              </a:lnSpc>
            </a:pPr>
            <a:r>
              <a:rPr sz="1800" b="1" i="0" dirty="0">
                <a:solidFill>
                  <a:srgbClr val="7653A6"/>
                </a:solidFill>
                <a:latin typeface="微软雅黑" panose="020B0503020204020204" pitchFamily="34" charset="-122"/>
              </a:rPr>
              <a:t>05  </a:t>
            </a:r>
            <a:r>
              <a:rPr sz="1800" b="1" i="0" dirty="0" err="1">
                <a:solidFill>
                  <a:srgbClr val="7653A6"/>
                </a:solidFill>
                <a:latin typeface="微软雅黑" panose="020B0503020204020204" pitchFamily="34" charset="-122"/>
              </a:rPr>
              <a:t>实践部署</a:t>
            </a:r>
            <a:endParaRPr sz="1800" b="1" i="0" dirty="0">
              <a:solidFill>
                <a:srgbClr val="7653A6"/>
              </a:solidFill>
              <a:latin typeface="微软雅黑" panose="020B0503020204020204" pitchFamily="34" charset="-122"/>
            </a:endParaRPr>
          </a:p>
        </p:txBody>
      </p:sp>
      <p:sp>
        <p:nvSpPr>
          <p:cNvPr id="28" name="TextBox 27"/>
          <p:cNvSpPr txBox="1"/>
          <p:nvPr/>
        </p:nvSpPr>
        <p:spPr>
          <a:xfrm>
            <a:off x="4654296" y="4242816"/>
            <a:ext cx="3163824" cy="896112"/>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基于开源框架完成轻量级 VLA 实验，关注泛化、虚实迁移与部署挑战。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5</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本章目录</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777240" y="1600200"/>
            <a:ext cx="658368" cy="461729"/>
          </a:xfrm>
          <a:prstGeom prst="rect">
            <a:avLst/>
          </a:prstGeom>
          <a:noFill/>
        </p:spPr>
        <p:txBody>
          <a:bodyPr wrap="square" lIns="18288" tIns="18288" rIns="18288" bIns="18288" anchor="t">
            <a:spAutoFit/>
          </a:bodyPr>
          <a:lstStyle/>
          <a:p>
            <a:pPr algn="l">
              <a:lnSpc>
                <a:spcPct val="105000"/>
              </a:lnSpc>
            </a:pPr>
            <a:r>
              <a:rPr sz="2800" b="1" i="0" dirty="0">
                <a:solidFill>
                  <a:srgbClr val="31599B"/>
                </a:solidFill>
                <a:latin typeface="微软雅黑" panose="020B0503020204020204" pitchFamily="34" charset="-122"/>
              </a:rPr>
              <a:t>7.1</a:t>
            </a:r>
          </a:p>
        </p:txBody>
      </p:sp>
      <p:sp>
        <p:nvSpPr>
          <p:cNvPr id="10" name="TextBox 9"/>
          <p:cNvSpPr txBox="1"/>
          <p:nvPr/>
        </p:nvSpPr>
        <p:spPr>
          <a:xfrm>
            <a:off x="1554480" y="1600200"/>
            <a:ext cx="4434840" cy="461729"/>
          </a:xfrm>
          <a:prstGeom prst="rect">
            <a:avLst/>
          </a:prstGeom>
          <a:noFill/>
        </p:spPr>
        <p:txBody>
          <a:bodyPr wrap="square" lIns="18288" tIns="18288" rIns="18288" bIns="18288" anchor="t">
            <a:spAutoFit/>
          </a:bodyPr>
          <a:lstStyle/>
          <a:p>
            <a:pPr algn="l">
              <a:lnSpc>
                <a:spcPct val="105000"/>
              </a:lnSpc>
            </a:pPr>
            <a:r>
              <a:rPr sz="2800" b="1" i="0" dirty="0" err="1">
                <a:solidFill>
                  <a:srgbClr val="222833"/>
                </a:solidFill>
                <a:latin typeface="微软雅黑" panose="020B0503020204020204" pitchFamily="34" charset="-122"/>
              </a:rPr>
              <a:t>概述</a:t>
            </a:r>
            <a:endParaRPr sz="2800" b="1" i="0" dirty="0">
              <a:solidFill>
                <a:srgbClr val="222833"/>
              </a:solidFill>
              <a:latin typeface="微软雅黑" panose="020B0503020204020204" pitchFamily="34" charset="-122"/>
            </a:endParaRPr>
          </a:p>
        </p:txBody>
      </p:sp>
      <p:sp>
        <p:nvSpPr>
          <p:cNvPr id="11" name="Rectangle 10"/>
          <p:cNvSpPr/>
          <p:nvPr/>
        </p:nvSpPr>
        <p:spPr>
          <a:xfrm>
            <a:off x="777240" y="2075688"/>
            <a:ext cx="4983480" cy="4571"/>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12" name="TextBox 11"/>
          <p:cNvSpPr txBox="1"/>
          <p:nvPr/>
        </p:nvSpPr>
        <p:spPr>
          <a:xfrm>
            <a:off x="777240" y="2459736"/>
            <a:ext cx="658368" cy="461729"/>
          </a:xfrm>
          <a:prstGeom prst="rect">
            <a:avLst/>
          </a:prstGeom>
          <a:noFill/>
        </p:spPr>
        <p:txBody>
          <a:bodyPr wrap="square" lIns="18288" tIns="18288" rIns="18288" bIns="18288" anchor="t">
            <a:spAutoFit/>
          </a:bodyPr>
          <a:lstStyle/>
          <a:p>
            <a:pPr algn="l">
              <a:lnSpc>
                <a:spcPct val="105000"/>
              </a:lnSpc>
            </a:pPr>
            <a:r>
              <a:rPr sz="2800" b="1" i="0" dirty="0">
                <a:solidFill>
                  <a:srgbClr val="31599B"/>
                </a:solidFill>
                <a:latin typeface="微软雅黑" panose="020B0503020204020204" pitchFamily="34" charset="-122"/>
              </a:rPr>
              <a:t>7.2</a:t>
            </a:r>
          </a:p>
        </p:txBody>
      </p:sp>
      <p:sp>
        <p:nvSpPr>
          <p:cNvPr id="13" name="TextBox 12"/>
          <p:cNvSpPr txBox="1"/>
          <p:nvPr/>
        </p:nvSpPr>
        <p:spPr>
          <a:xfrm>
            <a:off x="1554480" y="2459736"/>
            <a:ext cx="4434840" cy="461729"/>
          </a:xfrm>
          <a:prstGeom prst="rect">
            <a:avLst/>
          </a:prstGeom>
          <a:noFill/>
        </p:spPr>
        <p:txBody>
          <a:bodyPr wrap="square" lIns="18288" tIns="18288" rIns="18288" bIns="18288" anchor="t">
            <a:spAutoFit/>
          </a:bodyPr>
          <a:lstStyle/>
          <a:p>
            <a:pPr algn="l">
              <a:lnSpc>
                <a:spcPct val="105000"/>
              </a:lnSpc>
            </a:pPr>
            <a:r>
              <a:rPr sz="2800" b="1" i="0" dirty="0" err="1">
                <a:solidFill>
                  <a:srgbClr val="222833"/>
                </a:solidFill>
                <a:latin typeface="微软雅黑" panose="020B0503020204020204" pitchFamily="34" charset="-122"/>
              </a:rPr>
              <a:t>视觉抓取</a:t>
            </a:r>
            <a:endParaRPr sz="2800" b="1" i="0" dirty="0">
              <a:solidFill>
                <a:srgbClr val="222833"/>
              </a:solidFill>
              <a:latin typeface="微软雅黑" panose="020B0503020204020204" pitchFamily="34" charset="-122"/>
            </a:endParaRPr>
          </a:p>
        </p:txBody>
      </p:sp>
      <p:sp>
        <p:nvSpPr>
          <p:cNvPr id="14" name="Rectangle 13"/>
          <p:cNvSpPr/>
          <p:nvPr/>
        </p:nvSpPr>
        <p:spPr>
          <a:xfrm>
            <a:off x="777240" y="2935224"/>
            <a:ext cx="4983480" cy="4571"/>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15" name="TextBox 14"/>
          <p:cNvSpPr txBox="1"/>
          <p:nvPr/>
        </p:nvSpPr>
        <p:spPr>
          <a:xfrm>
            <a:off x="777240" y="3319272"/>
            <a:ext cx="658368" cy="461729"/>
          </a:xfrm>
          <a:prstGeom prst="rect">
            <a:avLst/>
          </a:prstGeom>
          <a:noFill/>
        </p:spPr>
        <p:txBody>
          <a:bodyPr wrap="square" lIns="18288" tIns="18288" rIns="18288" bIns="18288" anchor="t">
            <a:spAutoFit/>
          </a:bodyPr>
          <a:lstStyle/>
          <a:p>
            <a:pPr algn="l">
              <a:lnSpc>
                <a:spcPct val="105000"/>
              </a:lnSpc>
            </a:pPr>
            <a:r>
              <a:rPr sz="2800" b="1" i="0" dirty="0">
                <a:solidFill>
                  <a:srgbClr val="31599B"/>
                </a:solidFill>
                <a:latin typeface="微软雅黑" panose="020B0503020204020204" pitchFamily="34" charset="-122"/>
              </a:rPr>
              <a:t>7.3</a:t>
            </a:r>
          </a:p>
        </p:txBody>
      </p:sp>
      <p:sp>
        <p:nvSpPr>
          <p:cNvPr id="16" name="TextBox 15"/>
          <p:cNvSpPr txBox="1"/>
          <p:nvPr/>
        </p:nvSpPr>
        <p:spPr>
          <a:xfrm>
            <a:off x="1554480" y="3319272"/>
            <a:ext cx="4434840" cy="461729"/>
          </a:xfrm>
          <a:prstGeom prst="rect">
            <a:avLst/>
          </a:prstGeom>
          <a:noFill/>
        </p:spPr>
        <p:txBody>
          <a:bodyPr wrap="square" lIns="18288" tIns="18288" rIns="18288" bIns="18288" anchor="t">
            <a:spAutoFit/>
          </a:bodyPr>
          <a:lstStyle/>
          <a:p>
            <a:pPr algn="l">
              <a:lnSpc>
                <a:spcPct val="105000"/>
              </a:lnSpc>
            </a:pPr>
            <a:r>
              <a:rPr sz="2800" b="1" i="0" dirty="0" err="1">
                <a:solidFill>
                  <a:srgbClr val="222833"/>
                </a:solidFill>
                <a:latin typeface="微软雅黑" panose="020B0503020204020204" pitchFamily="34" charset="-122"/>
              </a:rPr>
              <a:t>动作序列规划与生成</a:t>
            </a:r>
            <a:endParaRPr sz="2800" b="1" i="0" dirty="0">
              <a:solidFill>
                <a:srgbClr val="222833"/>
              </a:solidFill>
              <a:latin typeface="微软雅黑" panose="020B0503020204020204" pitchFamily="34" charset="-122"/>
            </a:endParaRPr>
          </a:p>
        </p:txBody>
      </p:sp>
      <p:sp>
        <p:nvSpPr>
          <p:cNvPr id="17" name="Rectangle 16"/>
          <p:cNvSpPr/>
          <p:nvPr/>
        </p:nvSpPr>
        <p:spPr>
          <a:xfrm>
            <a:off x="777240" y="3794760"/>
            <a:ext cx="4983480" cy="4571"/>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18" name="TextBox 17"/>
          <p:cNvSpPr txBox="1"/>
          <p:nvPr/>
        </p:nvSpPr>
        <p:spPr>
          <a:xfrm>
            <a:off x="777240" y="4178808"/>
            <a:ext cx="658368" cy="461729"/>
          </a:xfrm>
          <a:prstGeom prst="rect">
            <a:avLst/>
          </a:prstGeom>
          <a:noFill/>
        </p:spPr>
        <p:txBody>
          <a:bodyPr wrap="square" lIns="18288" tIns="18288" rIns="18288" bIns="18288" anchor="t">
            <a:spAutoFit/>
          </a:bodyPr>
          <a:lstStyle/>
          <a:p>
            <a:pPr algn="l">
              <a:lnSpc>
                <a:spcPct val="105000"/>
              </a:lnSpc>
            </a:pPr>
            <a:r>
              <a:rPr sz="2800" b="1" i="0" dirty="0">
                <a:solidFill>
                  <a:srgbClr val="31599B"/>
                </a:solidFill>
                <a:latin typeface="微软雅黑" panose="020B0503020204020204" pitchFamily="34" charset="-122"/>
              </a:rPr>
              <a:t>7.4</a:t>
            </a:r>
          </a:p>
        </p:txBody>
      </p:sp>
      <p:sp>
        <p:nvSpPr>
          <p:cNvPr id="19" name="TextBox 18"/>
          <p:cNvSpPr txBox="1"/>
          <p:nvPr/>
        </p:nvSpPr>
        <p:spPr>
          <a:xfrm>
            <a:off x="1554480" y="4178808"/>
            <a:ext cx="4434840" cy="461729"/>
          </a:xfrm>
          <a:prstGeom prst="rect">
            <a:avLst/>
          </a:prstGeom>
          <a:noFill/>
        </p:spPr>
        <p:txBody>
          <a:bodyPr wrap="square" lIns="18288" tIns="18288" rIns="18288" bIns="18288" anchor="t">
            <a:spAutoFit/>
          </a:bodyPr>
          <a:lstStyle/>
          <a:p>
            <a:pPr algn="l">
              <a:lnSpc>
                <a:spcPct val="105000"/>
              </a:lnSpc>
            </a:pPr>
            <a:r>
              <a:rPr sz="2800" b="1" i="0" dirty="0" err="1">
                <a:solidFill>
                  <a:srgbClr val="222833"/>
                </a:solidFill>
                <a:latin typeface="微软雅黑" panose="020B0503020204020204" pitchFamily="34" charset="-122"/>
              </a:rPr>
              <a:t>语言－动作生成</a:t>
            </a:r>
            <a:endParaRPr sz="2800" b="1" i="0" dirty="0">
              <a:solidFill>
                <a:srgbClr val="222833"/>
              </a:solidFill>
              <a:latin typeface="微软雅黑" panose="020B0503020204020204" pitchFamily="34" charset="-122"/>
            </a:endParaRPr>
          </a:p>
        </p:txBody>
      </p:sp>
      <p:sp>
        <p:nvSpPr>
          <p:cNvPr id="20" name="Rectangle 19"/>
          <p:cNvSpPr/>
          <p:nvPr/>
        </p:nvSpPr>
        <p:spPr>
          <a:xfrm>
            <a:off x="777240" y="4654296"/>
            <a:ext cx="4983480"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21" name="TextBox 20"/>
          <p:cNvSpPr txBox="1"/>
          <p:nvPr/>
        </p:nvSpPr>
        <p:spPr>
          <a:xfrm>
            <a:off x="777240" y="5038344"/>
            <a:ext cx="658368" cy="461729"/>
          </a:xfrm>
          <a:prstGeom prst="rect">
            <a:avLst/>
          </a:prstGeom>
          <a:noFill/>
        </p:spPr>
        <p:txBody>
          <a:bodyPr wrap="square" lIns="18288" tIns="18288" rIns="18288" bIns="18288" anchor="t">
            <a:spAutoFit/>
          </a:bodyPr>
          <a:lstStyle/>
          <a:p>
            <a:pPr algn="l">
              <a:lnSpc>
                <a:spcPct val="105000"/>
              </a:lnSpc>
            </a:pPr>
            <a:r>
              <a:rPr sz="2800" b="1" i="0" dirty="0">
                <a:solidFill>
                  <a:srgbClr val="31599B"/>
                </a:solidFill>
                <a:latin typeface="微软雅黑" panose="020B0503020204020204" pitchFamily="34" charset="-122"/>
              </a:rPr>
              <a:t>7.5</a:t>
            </a:r>
          </a:p>
        </p:txBody>
      </p:sp>
      <p:sp>
        <p:nvSpPr>
          <p:cNvPr id="22" name="TextBox 21"/>
          <p:cNvSpPr txBox="1"/>
          <p:nvPr/>
        </p:nvSpPr>
        <p:spPr>
          <a:xfrm>
            <a:off x="1554480" y="5038344"/>
            <a:ext cx="4434840" cy="461729"/>
          </a:xfrm>
          <a:prstGeom prst="rect">
            <a:avLst/>
          </a:prstGeom>
          <a:noFill/>
        </p:spPr>
        <p:txBody>
          <a:bodyPr wrap="square" lIns="18288" tIns="18288" rIns="18288" bIns="18288" anchor="t">
            <a:spAutoFit/>
          </a:bodyPr>
          <a:lstStyle/>
          <a:p>
            <a:pPr algn="l">
              <a:lnSpc>
                <a:spcPct val="105000"/>
              </a:lnSpc>
            </a:pPr>
            <a:r>
              <a:rPr sz="2800" b="1" i="0" dirty="0" err="1">
                <a:solidFill>
                  <a:srgbClr val="222833"/>
                </a:solidFill>
                <a:latin typeface="微软雅黑" panose="020B0503020204020204" pitchFamily="34" charset="-122"/>
              </a:rPr>
              <a:t>视觉－语言－动作模型</a:t>
            </a:r>
            <a:endParaRPr sz="2800" b="1" i="0" dirty="0">
              <a:solidFill>
                <a:srgbClr val="222833"/>
              </a:solidFill>
              <a:latin typeface="微软雅黑" panose="020B0503020204020204" pitchFamily="34" charset="-122"/>
            </a:endParaRPr>
          </a:p>
        </p:txBody>
      </p:sp>
      <p:sp>
        <p:nvSpPr>
          <p:cNvPr id="23" name="Rectangle 22"/>
          <p:cNvSpPr/>
          <p:nvPr/>
        </p:nvSpPr>
        <p:spPr>
          <a:xfrm>
            <a:off x="777240" y="5513831"/>
            <a:ext cx="4983480"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24" name="TextBox 23"/>
          <p:cNvSpPr txBox="1"/>
          <p:nvPr/>
        </p:nvSpPr>
        <p:spPr>
          <a:xfrm>
            <a:off x="6080760" y="1600200"/>
            <a:ext cx="658368" cy="461729"/>
          </a:xfrm>
          <a:prstGeom prst="rect">
            <a:avLst/>
          </a:prstGeom>
          <a:noFill/>
        </p:spPr>
        <p:txBody>
          <a:bodyPr wrap="square" lIns="18288" tIns="18288" rIns="18288" bIns="18288" anchor="t">
            <a:spAutoFit/>
          </a:bodyPr>
          <a:lstStyle/>
          <a:p>
            <a:pPr algn="l">
              <a:lnSpc>
                <a:spcPct val="105000"/>
              </a:lnSpc>
            </a:pPr>
            <a:r>
              <a:rPr sz="2800" b="1" i="0" dirty="0">
                <a:solidFill>
                  <a:srgbClr val="31599B"/>
                </a:solidFill>
                <a:latin typeface="微软雅黑" panose="020B0503020204020204" pitchFamily="34" charset="-122"/>
              </a:rPr>
              <a:t>7.6</a:t>
            </a:r>
          </a:p>
        </p:txBody>
      </p:sp>
      <p:sp>
        <p:nvSpPr>
          <p:cNvPr id="25" name="TextBox 24"/>
          <p:cNvSpPr txBox="1"/>
          <p:nvPr/>
        </p:nvSpPr>
        <p:spPr>
          <a:xfrm>
            <a:off x="6858000" y="1600200"/>
            <a:ext cx="4434840" cy="461729"/>
          </a:xfrm>
          <a:prstGeom prst="rect">
            <a:avLst/>
          </a:prstGeom>
          <a:noFill/>
        </p:spPr>
        <p:txBody>
          <a:bodyPr wrap="square" lIns="18288" tIns="18288" rIns="18288" bIns="18288" anchor="t">
            <a:spAutoFit/>
          </a:bodyPr>
          <a:lstStyle/>
          <a:p>
            <a:pPr algn="l">
              <a:lnSpc>
                <a:spcPct val="105000"/>
              </a:lnSpc>
            </a:pPr>
            <a:r>
              <a:rPr sz="2800" b="1" i="0" dirty="0">
                <a:solidFill>
                  <a:srgbClr val="222833"/>
                </a:solidFill>
                <a:latin typeface="微软雅黑" panose="020B0503020204020204" pitchFamily="34" charset="-122"/>
              </a:rPr>
              <a:t>VLA </a:t>
            </a:r>
            <a:r>
              <a:rPr sz="2800" b="1" i="0" dirty="0" err="1">
                <a:solidFill>
                  <a:srgbClr val="222833"/>
                </a:solidFill>
                <a:latin typeface="微软雅黑" panose="020B0503020204020204" pitchFamily="34" charset="-122"/>
              </a:rPr>
              <a:t>模型的训练与部署</a:t>
            </a:r>
            <a:endParaRPr sz="2800" b="1" i="0" dirty="0">
              <a:solidFill>
                <a:srgbClr val="222833"/>
              </a:solidFill>
              <a:latin typeface="微软雅黑" panose="020B0503020204020204" pitchFamily="34" charset="-122"/>
            </a:endParaRPr>
          </a:p>
        </p:txBody>
      </p:sp>
      <p:sp>
        <p:nvSpPr>
          <p:cNvPr id="26" name="Rectangle 25"/>
          <p:cNvSpPr/>
          <p:nvPr/>
        </p:nvSpPr>
        <p:spPr>
          <a:xfrm>
            <a:off x="6080760" y="2075688"/>
            <a:ext cx="4983480" cy="4571"/>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27" name="TextBox 26"/>
          <p:cNvSpPr txBox="1"/>
          <p:nvPr/>
        </p:nvSpPr>
        <p:spPr>
          <a:xfrm>
            <a:off x="6080760" y="2459736"/>
            <a:ext cx="658368" cy="461729"/>
          </a:xfrm>
          <a:prstGeom prst="rect">
            <a:avLst/>
          </a:prstGeom>
          <a:noFill/>
        </p:spPr>
        <p:txBody>
          <a:bodyPr wrap="square" lIns="18288" tIns="18288" rIns="18288" bIns="18288" anchor="t">
            <a:spAutoFit/>
          </a:bodyPr>
          <a:lstStyle/>
          <a:p>
            <a:pPr algn="l">
              <a:lnSpc>
                <a:spcPct val="105000"/>
              </a:lnSpc>
            </a:pPr>
            <a:r>
              <a:rPr sz="2800" b="1" i="0" dirty="0">
                <a:solidFill>
                  <a:srgbClr val="31599B"/>
                </a:solidFill>
                <a:latin typeface="微软雅黑" panose="020B0503020204020204" pitchFamily="34" charset="-122"/>
              </a:rPr>
              <a:t>7.7</a:t>
            </a:r>
          </a:p>
        </p:txBody>
      </p:sp>
      <p:sp>
        <p:nvSpPr>
          <p:cNvPr id="28" name="TextBox 27"/>
          <p:cNvSpPr txBox="1"/>
          <p:nvPr/>
        </p:nvSpPr>
        <p:spPr>
          <a:xfrm>
            <a:off x="6858000" y="2459736"/>
            <a:ext cx="4434840" cy="461729"/>
          </a:xfrm>
          <a:prstGeom prst="rect">
            <a:avLst/>
          </a:prstGeom>
          <a:noFill/>
        </p:spPr>
        <p:txBody>
          <a:bodyPr wrap="square" lIns="18288" tIns="18288" rIns="18288" bIns="18288" anchor="t">
            <a:spAutoFit/>
          </a:bodyPr>
          <a:lstStyle/>
          <a:p>
            <a:pPr algn="l">
              <a:lnSpc>
                <a:spcPct val="105000"/>
              </a:lnSpc>
            </a:pPr>
            <a:r>
              <a:rPr sz="2800" b="1" i="0" dirty="0" err="1">
                <a:solidFill>
                  <a:srgbClr val="222833"/>
                </a:solidFill>
                <a:latin typeface="微软雅黑" panose="020B0503020204020204" pitchFamily="34" charset="-122"/>
              </a:rPr>
              <a:t>案例：SmolVLA</a:t>
            </a:r>
            <a:endParaRPr sz="2800" b="1" i="0" dirty="0">
              <a:solidFill>
                <a:srgbClr val="222833"/>
              </a:solidFill>
              <a:latin typeface="微软雅黑" panose="020B0503020204020204" pitchFamily="34" charset="-122"/>
            </a:endParaRPr>
          </a:p>
        </p:txBody>
      </p:sp>
      <p:sp>
        <p:nvSpPr>
          <p:cNvPr id="29" name="Rectangle 28"/>
          <p:cNvSpPr/>
          <p:nvPr/>
        </p:nvSpPr>
        <p:spPr>
          <a:xfrm>
            <a:off x="6080760" y="2935224"/>
            <a:ext cx="4983480" cy="4571"/>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30" name="TextBox 29"/>
          <p:cNvSpPr txBox="1"/>
          <p:nvPr/>
        </p:nvSpPr>
        <p:spPr>
          <a:xfrm>
            <a:off x="6080760" y="3319272"/>
            <a:ext cx="658368" cy="461729"/>
          </a:xfrm>
          <a:prstGeom prst="rect">
            <a:avLst/>
          </a:prstGeom>
          <a:noFill/>
        </p:spPr>
        <p:txBody>
          <a:bodyPr wrap="square" lIns="18288" tIns="18288" rIns="18288" bIns="18288" anchor="t">
            <a:spAutoFit/>
          </a:bodyPr>
          <a:lstStyle/>
          <a:p>
            <a:pPr algn="l">
              <a:lnSpc>
                <a:spcPct val="105000"/>
              </a:lnSpc>
            </a:pPr>
            <a:r>
              <a:rPr sz="2800" b="1" i="0" dirty="0">
                <a:solidFill>
                  <a:srgbClr val="31599B"/>
                </a:solidFill>
                <a:latin typeface="微软雅黑" panose="020B0503020204020204" pitchFamily="34" charset="-122"/>
              </a:rPr>
              <a:t>7.8</a:t>
            </a:r>
          </a:p>
        </p:txBody>
      </p:sp>
      <p:sp>
        <p:nvSpPr>
          <p:cNvPr id="31" name="TextBox 30"/>
          <p:cNvSpPr txBox="1"/>
          <p:nvPr/>
        </p:nvSpPr>
        <p:spPr>
          <a:xfrm>
            <a:off x="6858000" y="3319272"/>
            <a:ext cx="4434840" cy="461729"/>
          </a:xfrm>
          <a:prstGeom prst="rect">
            <a:avLst/>
          </a:prstGeom>
          <a:noFill/>
        </p:spPr>
        <p:txBody>
          <a:bodyPr wrap="square" lIns="18288" tIns="18288" rIns="18288" bIns="18288" anchor="t">
            <a:spAutoFit/>
          </a:bodyPr>
          <a:lstStyle/>
          <a:p>
            <a:pPr algn="l">
              <a:lnSpc>
                <a:spcPct val="105000"/>
              </a:lnSpc>
            </a:pPr>
            <a:r>
              <a:rPr sz="2800" b="1" i="0" dirty="0" err="1">
                <a:solidFill>
                  <a:srgbClr val="222833"/>
                </a:solidFill>
                <a:latin typeface="微软雅黑" panose="020B0503020204020204" pitchFamily="34" charset="-122"/>
              </a:rPr>
              <a:t>小结</a:t>
            </a:r>
            <a:endParaRPr sz="2800" b="1" i="0" dirty="0">
              <a:solidFill>
                <a:srgbClr val="222833"/>
              </a:solidFill>
              <a:latin typeface="微软雅黑" panose="020B0503020204020204" pitchFamily="34" charset="-122"/>
            </a:endParaRPr>
          </a:p>
        </p:txBody>
      </p:sp>
      <p:sp>
        <p:nvSpPr>
          <p:cNvPr id="32" name="Rectangle 31"/>
          <p:cNvSpPr/>
          <p:nvPr/>
        </p:nvSpPr>
        <p:spPr>
          <a:xfrm>
            <a:off x="6080760" y="3794760"/>
            <a:ext cx="4983480" cy="4571"/>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8595360" y="320040"/>
            <a:ext cx="2743200" cy="188641"/>
          </a:xfrm>
          <a:prstGeom prst="rect">
            <a:avLst/>
          </a:prstGeom>
          <a:noFill/>
        </p:spPr>
        <p:txBody>
          <a:bodyPr wrap="square" lIns="18288" tIns="18288" rIns="18288" bIns="18288" anchor="t">
            <a:spAutoFit/>
          </a:bodyPr>
          <a:lstStyle/>
          <a:p>
            <a:pPr algn="r">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1307592" y="1474502"/>
            <a:ext cx="1691640" cy="1129220"/>
          </a:xfrm>
          <a:prstGeom prst="rect">
            <a:avLst/>
          </a:prstGeom>
          <a:noFill/>
        </p:spPr>
        <p:txBody>
          <a:bodyPr wrap="square" lIns="18288" tIns="18288" rIns="18288" bIns="18288" anchor="ctr">
            <a:spAutoFit/>
          </a:bodyPr>
          <a:lstStyle/>
          <a:p>
            <a:pPr algn="l">
              <a:lnSpc>
                <a:spcPct val="105000"/>
              </a:lnSpc>
            </a:pPr>
            <a:r>
              <a:rPr sz="7200" b="1" i="0" dirty="0">
                <a:solidFill>
                  <a:srgbClr val="31599B"/>
                </a:solidFill>
                <a:latin typeface="微软雅黑" panose="020B0503020204020204" pitchFamily="34" charset="-122"/>
              </a:rPr>
              <a:t>01</a:t>
            </a:r>
          </a:p>
        </p:txBody>
      </p:sp>
      <p:sp>
        <p:nvSpPr>
          <p:cNvPr id="6" name="TextBox 5"/>
          <p:cNvSpPr txBox="1"/>
          <p:nvPr/>
        </p:nvSpPr>
        <p:spPr>
          <a:xfrm>
            <a:off x="3246120" y="1752259"/>
            <a:ext cx="7818120" cy="628570"/>
          </a:xfrm>
          <a:prstGeom prst="rect">
            <a:avLst/>
          </a:prstGeom>
          <a:noFill/>
        </p:spPr>
        <p:txBody>
          <a:bodyPr wrap="square" lIns="18288" tIns="18288" rIns="18288" bIns="18288" anchor="ctr">
            <a:spAutoFit/>
          </a:bodyPr>
          <a:lstStyle/>
          <a:p>
            <a:pPr algn="l">
              <a:lnSpc>
                <a:spcPct val="105000"/>
              </a:lnSpc>
            </a:pPr>
            <a:r>
              <a:rPr sz="3900" b="1" i="0" dirty="0" err="1">
                <a:solidFill>
                  <a:srgbClr val="24477D"/>
                </a:solidFill>
                <a:latin typeface="微软雅黑" panose="020B0503020204020204" pitchFamily="34" charset="-122"/>
              </a:rPr>
              <a:t>概述</a:t>
            </a:r>
            <a:endParaRPr sz="3900" b="1" i="0" dirty="0">
              <a:solidFill>
                <a:srgbClr val="24477D"/>
              </a:solidFill>
              <a:latin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7</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7.1 </a:t>
            </a:r>
            <a:r>
              <a:rPr sz="3500" b="1" i="0" dirty="0" err="1">
                <a:solidFill>
                  <a:srgbClr val="24477D"/>
                </a:solidFill>
                <a:latin typeface="微软雅黑" panose="020B0503020204020204" pitchFamily="34" charset="-122"/>
              </a:rPr>
              <a:t>视觉－语言－动作模型：从理解到执行</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731520" y="1691640"/>
            <a:ext cx="10607040" cy="3133102"/>
          </a:xfrm>
          <a:prstGeom prst="rect">
            <a:avLst/>
          </a:prstGeom>
          <a:noFill/>
        </p:spPr>
        <p:txBody>
          <a:bodyPr wrap="square" lIns="18288" tIns="18288" rIns="18288" bIns="18288">
            <a:spAutoFit/>
          </a:bodyPr>
          <a:lstStyle/>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VLA（Vision-Language-Action）把视觉感知、语言理解和动作生成组织为统一的条件策略</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输入可以是图像、文本以及机器人状态；输出是可直接执行的动作或动作序列</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它区别于“视觉模块→规划模块→控制模块”的传统级联系统，减少中间接口与误差累积</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核心目标是在真实物理世界中实现更自然、更强泛化的交互能力</a:t>
            </a:r>
            <a:endParaRPr sz="2400" dirty="0">
              <a:solidFill>
                <a:srgbClr val="222833"/>
              </a:solidFill>
              <a:latin typeface="微软雅黑"/>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8</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VLA </a:t>
            </a:r>
            <a:r>
              <a:rPr sz="3500" b="1" i="0" dirty="0" err="1">
                <a:solidFill>
                  <a:srgbClr val="24477D"/>
                </a:solidFill>
                <a:latin typeface="微软雅黑" panose="020B0503020204020204" pitchFamily="34" charset="-122"/>
              </a:rPr>
              <a:t>的“看－听－做</a:t>
            </a:r>
            <a:r>
              <a:rPr sz="3500" b="1" i="0" dirty="0">
                <a:solidFill>
                  <a:srgbClr val="24477D"/>
                </a:solidFill>
                <a:latin typeface="微软雅黑" panose="020B0503020204020204" pitchFamily="34" charset="-122"/>
              </a:rPr>
              <a:t>”</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874519"/>
            <a:ext cx="3416808" cy="2331720"/>
          </a:xfrm>
          <a:prstGeom prst="roundRect">
            <a:avLst>
              <a:gd name="adj" fmla="val 2125"/>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874519"/>
            <a:ext cx="64008" cy="2331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2020824"/>
            <a:ext cx="3032760"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看｜视觉感知</a:t>
            </a:r>
            <a:endParaRPr sz="1800" b="1" i="0" dirty="0">
              <a:solidFill>
                <a:srgbClr val="31599B"/>
              </a:solidFill>
              <a:latin typeface="微软雅黑" panose="020B0503020204020204" pitchFamily="34" charset="-122"/>
            </a:endParaRPr>
          </a:p>
        </p:txBody>
      </p:sp>
      <p:sp>
        <p:nvSpPr>
          <p:cNvPr id="12" name="TextBox 11"/>
          <p:cNvSpPr txBox="1"/>
          <p:nvPr/>
        </p:nvSpPr>
        <p:spPr>
          <a:xfrm>
            <a:off x="923544" y="2532887"/>
            <a:ext cx="3032760" cy="679673"/>
          </a:xfrm>
          <a:prstGeom prst="rect">
            <a:avLst/>
          </a:prstGeom>
          <a:noFill/>
        </p:spPr>
        <p:txBody>
          <a:bodyPr wrap="square" lIns="18288" tIns="18288" rIns="18288" bIns="18288" anchor="t">
            <a:spAutoFit/>
          </a:bodyPr>
          <a:lstStyle/>
          <a:p>
            <a:pPr algn="l">
              <a:lnSpc>
                <a:spcPct val="108000"/>
              </a:lnSpc>
            </a:pPr>
            <a:r>
              <a:rPr sz="2000" b="0" i="0" dirty="0" err="1">
                <a:solidFill>
                  <a:srgbClr val="222833"/>
                </a:solidFill>
                <a:latin typeface="微软雅黑"/>
              </a:rPr>
              <a:t>从摄像头图像中识别物体、场景与空间关系</a:t>
            </a:r>
            <a:endParaRPr sz="2000" b="0" i="0" dirty="0">
              <a:solidFill>
                <a:srgbClr val="222833"/>
              </a:solidFill>
              <a:latin typeface="微软雅黑"/>
            </a:endParaRPr>
          </a:p>
        </p:txBody>
      </p:sp>
      <p:sp>
        <p:nvSpPr>
          <p:cNvPr id="13" name="TextBox 12"/>
          <p:cNvSpPr txBox="1"/>
          <p:nvPr/>
        </p:nvSpPr>
        <p:spPr>
          <a:xfrm>
            <a:off x="4235957" y="2658640"/>
            <a:ext cx="146304" cy="461729"/>
          </a:xfrm>
          <a:prstGeom prst="rect">
            <a:avLst/>
          </a:prstGeom>
          <a:noFill/>
        </p:spPr>
        <p:txBody>
          <a:bodyPr wrap="square" lIns="18288" tIns="18288" rIns="18288" bIns="18288" anchor="ctr">
            <a:spAutoFit/>
          </a:bodyPr>
          <a:lstStyle/>
          <a:p>
            <a:pPr algn="ctr">
              <a:lnSpc>
                <a:spcPct val="105000"/>
              </a:lnSpc>
            </a:pPr>
            <a:r>
              <a:rPr sz="2800" b="1" i="0" dirty="0">
                <a:solidFill>
                  <a:srgbClr val="24477D"/>
                </a:solidFill>
                <a:latin typeface="微软雅黑" panose="020B0503020204020204" pitchFamily="34" charset="-122"/>
              </a:rPr>
              <a:t>→</a:t>
            </a:r>
          </a:p>
        </p:txBody>
      </p:sp>
      <p:sp>
        <p:nvSpPr>
          <p:cNvPr id="14" name="Rounded Rectangle 13"/>
          <p:cNvSpPr/>
          <p:nvPr/>
        </p:nvSpPr>
        <p:spPr>
          <a:xfrm>
            <a:off x="4440936" y="1874519"/>
            <a:ext cx="3416808" cy="2331720"/>
          </a:xfrm>
          <a:prstGeom prst="roundRect">
            <a:avLst>
              <a:gd name="adj" fmla="val 2615"/>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4440936" y="1874519"/>
            <a:ext cx="64008" cy="2331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4651248" y="2020824"/>
            <a:ext cx="3032760"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听｜语言理解</a:t>
            </a:r>
            <a:endParaRPr sz="1800" b="1" i="0" dirty="0">
              <a:solidFill>
                <a:srgbClr val="2F8E72"/>
              </a:solidFill>
              <a:latin typeface="微软雅黑" panose="020B0503020204020204" pitchFamily="34" charset="-122"/>
            </a:endParaRPr>
          </a:p>
        </p:txBody>
      </p:sp>
      <p:sp>
        <p:nvSpPr>
          <p:cNvPr id="17" name="TextBox 16"/>
          <p:cNvSpPr txBox="1"/>
          <p:nvPr/>
        </p:nvSpPr>
        <p:spPr>
          <a:xfrm>
            <a:off x="4651248" y="2532887"/>
            <a:ext cx="3032760" cy="679673"/>
          </a:xfrm>
          <a:prstGeom prst="rect">
            <a:avLst/>
          </a:prstGeom>
          <a:noFill/>
        </p:spPr>
        <p:txBody>
          <a:bodyPr wrap="square" lIns="18288" tIns="18288" rIns="18288" bIns="18288" anchor="t">
            <a:spAutoFit/>
          </a:bodyPr>
          <a:lstStyle/>
          <a:p>
            <a:pPr algn="l">
              <a:lnSpc>
                <a:spcPct val="108000"/>
              </a:lnSpc>
            </a:pPr>
            <a:r>
              <a:rPr sz="2000" b="0" i="0" dirty="0" err="1">
                <a:solidFill>
                  <a:srgbClr val="222833"/>
                </a:solidFill>
                <a:latin typeface="微软雅黑"/>
              </a:rPr>
              <a:t>从自然语言中解析任务目标、对象与约束</a:t>
            </a:r>
            <a:endParaRPr sz="2000" b="0" i="0" dirty="0">
              <a:solidFill>
                <a:srgbClr val="222833"/>
              </a:solidFill>
              <a:latin typeface="微软雅黑"/>
            </a:endParaRPr>
          </a:p>
        </p:txBody>
      </p:sp>
      <p:sp>
        <p:nvSpPr>
          <p:cNvPr id="18" name="TextBox 17"/>
          <p:cNvSpPr txBox="1"/>
          <p:nvPr/>
        </p:nvSpPr>
        <p:spPr>
          <a:xfrm>
            <a:off x="7866888" y="2658640"/>
            <a:ext cx="146304" cy="461729"/>
          </a:xfrm>
          <a:prstGeom prst="rect">
            <a:avLst/>
          </a:prstGeom>
          <a:noFill/>
        </p:spPr>
        <p:txBody>
          <a:bodyPr wrap="square" lIns="18288" tIns="18288" rIns="18288" bIns="18288" anchor="ctr">
            <a:spAutoFit/>
          </a:bodyPr>
          <a:lstStyle/>
          <a:p>
            <a:pPr algn="ctr">
              <a:lnSpc>
                <a:spcPct val="105000"/>
              </a:lnSpc>
            </a:pPr>
            <a:r>
              <a:rPr sz="2800" b="1" i="0" dirty="0">
                <a:solidFill>
                  <a:srgbClr val="24477D"/>
                </a:solidFill>
                <a:latin typeface="微软雅黑" panose="020B0503020204020204" pitchFamily="34" charset="-122"/>
              </a:rPr>
              <a:t>→</a:t>
            </a:r>
          </a:p>
        </p:txBody>
      </p:sp>
      <p:sp>
        <p:nvSpPr>
          <p:cNvPr id="19" name="Rounded Rectangle 18"/>
          <p:cNvSpPr/>
          <p:nvPr/>
        </p:nvSpPr>
        <p:spPr>
          <a:xfrm>
            <a:off x="8086344" y="1874519"/>
            <a:ext cx="3416808" cy="2331720"/>
          </a:xfrm>
          <a:prstGeom prst="roundRect">
            <a:avLst>
              <a:gd name="adj" fmla="val 85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Rectangle 19"/>
          <p:cNvSpPr/>
          <p:nvPr/>
        </p:nvSpPr>
        <p:spPr>
          <a:xfrm>
            <a:off x="8086344" y="1874519"/>
            <a:ext cx="64008" cy="2331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TextBox 20"/>
          <p:cNvSpPr txBox="1"/>
          <p:nvPr/>
        </p:nvSpPr>
        <p:spPr>
          <a:xfrm>
            <a:off x="8296656" y="2020824"/>
            <a:ext cx="3032760"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做｜动作执行</a:t>
            </a:r>
            <a:endParaRPr sz="1800" b="1" i="0" dirty="0">
              <a:solidFill>
                <a:srgbClr val="C58A24"/>
              </a:solidFill>
              <a:latin typeface="微软雅黑" panose="020B0503020204020204" pitchFamily="34" charset="-122"/>
            </a:endParaRPr>
          </a:p>
        </p:txBody>
      </p:sp>
      <p:sp>
        <p:nvSpPr>
          <p:cNvPr id="22" name="TextBox 21"/>
          <p:cNvSpPr txBox="1"/>
          <p:nvPr/>
        </p:nvSpPr>
        <p:spPr>
          <a:xfrm>
            <a:off x="8296656" y="2532887"/>
            <a:ext cx="3032760" cy="679673"/>
          </a:xfrm>
          <a:prstGeom prst="rect">
            <a:avLst/>
          </a:prstGeom>
          <a:noFill/>
        </p:spPr>
        <p:txBody>
          <a:bodyPr wrap="square" lIns="18288" tIns="18288" rIns="18288" bIns="18288" anchor="t">
            <a:spAutoFit/>
          </a:bodyPr>
          <a:lstStyle/>
          <a:p>
            <a:pPr algn="l">
              <a:lnSpc>
                <a:spcPct val="108000"/>
              </a:lnSpc>
            </a:pPr>
            <a:r>
              <a:rPr sz="2000" b="0" i="0" dirty="0" err="1">
                <a:solidFill>
                  <a:srgbClr val="222833"/>
                </a:solidFill>
                <a:latin typeface="微软雅黑"/>
              </a:rPr>
              <a:t>将联合表征直接转化为连续控制量或离散动作</a:t>
            </a:r>
            <a:endParaRPr sz="2000" b="0" i="0" dirty="0">
              <a:solidFill>
                <a:srgbClr val="222833"/>
              </a:solidFill>
              <a:latin typeface="微软雅黑"/>
            </a:endParaRPr>
          </a:p>
        </p:txBody>
      </p:sp>
      <p:sp>
        <p:nvSpPr>
          <p:cNvPr id="23" name="TextBox 22"/>
          <p:cNvSpPr txBox="1"/>
          <p:nvPr/>
        </p:nvSpPr>
        <p:spPr>
          <a:xfrm>
            <a:off x="822960" y="4927605"/>
            <a:ext cx="10515600" cy="340350"/>
          </a:xfrm>
          <a:prstGeom prst="rect">
            <a:avLst/>
          </a:prstGeom>
          <a:noFill/>
        </p:spPr>
        <p:txBody>
          <a:bodyPr wrap="square" lIns="18288" tIns="18288" rIns="18288" bIns="18288" anchor="ctr">
            <a:spAutoFit/>
          </a:bodyPr>
          <a:lstStyle/>
          <a:p>
            <a:pPr algn="ctr">
              <a:lnSpc>
                <a:spcPct val="105000"/>
              </a:lnSpc>
            </a:pPr>
            <a:r>
              <a:rPr sz="2000" b="1" i="0" dirty="0" err="1">
                <a:solidFill>
                  <a:srgbClr val="24477D"/>
                </a:solidFill>
                <a:latin typeface="微软雅黑" panose="020B0503020204020204" pitchFamily="34" charset="-122"/>
              </a:rPr>
              <a:t>三种能力通过反馈闭环连接，而不是彼此独立</a:t>
            </a:r>
            <a:endParaRPr sz="2000" b="1" i="0" dirty="0">
              <a:solidFill>
                <a:srgbClr val="24477D"/>
              </a:solidFill>
              <a:latin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9</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7.1 </a:t>
            </a:r>
            <a:r>
              <a:rPr sz="3500" b="1" i="0" dirty="0" err="1">
                <a:solidFill>
                  <a:srgbClr val="24477D"/>
                </a:solidFill>
                <a:latin typeface="微软雅黑" panose="020B0503020204020204" pitchFamily="34" charset="-122"/>
              </a:rPr>
              <a:t>核心概念</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627632"/>
            <a:ext cx="3246120" cy="2788920"/>
          </a:xfrm>
          <a:prstGeom prst="roundRect">
            <a:avLst>
              <a:gd name="adj" fmla="val 1093"/>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27632"/>
            <a:ext cx="64008" cy="27889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多模态融合</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联合处理图像、文本，甚至触觉等不同模态信息。</a:t>
            </a:r>
          </a:p>
        </p:txBody>
      </p:sp>
      <p:sp>
        <p:nvSpPr>
          <p:cNvPr id="13" name="Rounded Rectangle 12"/>
          <p:cNvSpPr/>
          <p:nvPr/>
        </p:nvSpPr>
        <p:spPr>
          <a:xfrm>
            <a:off x="4160520" y="1627632"/>
            <a:ext cx="3246120" cy="2788920"/>
          </a:xfrm>
          <a:prstGeom prst="roundRect">
            <a:avLst>
              <a:gd name="adj" fmla="val 2459"/>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27632"/>
            <a:ext cx="64008" cy="27889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端到端学习</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直接从原始输入学习动作输出，不依赖人工设计的中间规则。</a:t>
            </a:r>
          </a:p>
        </p:txBody>
      </p:sp>
      <p:sp>
        <p:nvSpPr>
          <p:cNvPr id="17" name="Rounded Rectangle 16"/>
          <p:cNvSpPr/>
          <p:nvPr/>
        </p:nvSpPr>
        <p:spPr>
          <a:xfrm>
            <a:off x="7607808" y="1627632"/>
            <a:ext cx="3246120" cy="2788920"/>
          </a:xfrm>
          <a:prstGeom prst="roundRect">
            <a:avLst>
              <a:gd name="adj" fmla="val 1913"/>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27632"/>
            <a:ext cx="64008" cy="27889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闭环迭代</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感知、认知、决策和行动实时循环，执行后根据反馈继续修正。</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ea typeface="微软雅黑" panose="020B0503020204020204" pitchFamily="34" charset="-122"/>
              </a:rPr>
              <a:t>具身智能导论</a:t>
            </a:r>
            <a:r>
              <a:rPr sz="1000" b="0" i="0" dirty="0">
                <a:solidFill>
                  <a:srgbClr val="8C98AA"/>
                </a:solidFill>
                <a:latin typeface="微软雅黑" panose="020B0503020204020204" pitchFamily="34" charset="-122"/>
                <a:ea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ea typeface="微软雅黑" panose="020B0503020204020204" pitchFamily="34" charset="-122"/>
              </a:rPr>
              <a:t>视觉－语言－动作模型</a:t>
            </a:r>
            <a:endParaRPr sz="1000" b="0" i="0" dirty="0">
              <a:solidFill>
                <a:srgbClr val="8C98AA"/>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ea typeface="微软雅黑" panose="020B0503020204020204" pitchFamily="34" charset="-122"/>
              </a:rPr>
              <a:t>10</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ea typeface="微软雅黑" panose="020B0503020204020204" pitchFamily="34" charset="-122"/>
              </a:rPr>
              <a:t>传统模块化系统与</a:t>
            </a:r>
            <a:r>
              <a:rPr sz="3500" b="1" i="0" dirty="0">
                <a:solidFill>
                  <a:srgbClr val="24477D"/>
                </a:solidFill>
                <a:latin typeface="微软雅黑" panose="020B0503020204020204" pitchFamily="34" charset="-122"/>
                <a:ea typeface="微软雅黑" panose="020B0503020204020204" pitchFamily="34" charset="-122"/>
              </a:rPr>
              <a:t> VLA </a:t>
            </a:r>
            <a:r>
              <a:rPr sz="3500" b="1" i="0" dirty="0" err="1">
                <a:solidFill>
                  <a:srgbClr val="24477D"/>
                </a:solidFill>
                <a:latin typeface="微软雅黑" panose="020B0503020204020204" pitchFamily="34" charset="-122"/>
                <a:ea typeface="微软雅黑" panose="020B0503020204020204" pitchFamily="34" charset="-122"/>
              </a:rPr>
              <a:t>的本质区别</a:t>
            </a:r>
            <a:endParaRPr sz="3500" b="1" i="0" dirty="0">
              <a:solidFill>
                <a:srgbClr val="24477D"/>
              </a:solidFill>
              <a:latin typeface="微软雅黑" panose="020B0503020204020204" pitchFamily="34" charset="-122"/>
              <a:ea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9" name="Rounded Rectangle 8"/>
          <p:cNvSpPr/>
          <p:nvPr/>
        </p:nvSpPr>
        <p:spPr>
          <a:xfrm>
            <a:off x="749808" y="1664208"/>
            <a:ext cx="5166360" cy="4160520"/>
          </a:xfrm>
          <a:prstGeom prst="roundRect">
            <a:avLst>
              <a:gd name="adj" fmla="val 122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0" name="Rectangle 9"/>
          <p:cNvSpPr/>
          <p:nvPr/>
        </p:nvSpPr>
        <p:spPr>
          <a:xfrm>
            <a:off x="749808" y="1664208"/>
            <a:ext cx="64008" cy="41605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1" name="TextBox 10"/>
          <p:cNvSpPr txBox="1"/>
          <p:nvPr/>
        </p:nvSpPr>
        <p:spPr>
          <a:xfrm>
            <a:off x="960120" y="1810512"/>
            <a:ext cx="4782312" cy="346249"/>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ea typeface="微软雅黑" panose="020B0503020204020204" pitchFamily="34" charset="-122"/>
              </a:rPr>
              <a:t>传统模块化</a:t>
            </a:r>
            <a:r>
              <a:rPr lang="zh-CN" altLang="en-US" sz="2000" b="1" i="0" dirty="0">
                <a:solidFill>
                  <a:srgbClr val="31599B"/>
                </a:solidFill>
                <a:latin typeface="微软雅黑" panose="020B0503020204020204" pitchFamily="34" charset="-122"/>
                <a:ea typeface="微软雅黑" panose="020B0503020204020204" pitchFamily="34" charset="-122"/>
              </a:rPr>
              <a:t>系统</a:t>
            </a:r>
            <a:endParaRPr sz="2000" b="1" i="0" dirty="0">
              <a:solidFill>
                <a:srgbClr val="31599B"/>
              </a:solidFill>
              <a:latin typeface="微软雅黑" panose="020B0503020204020204" pitchFamily="34" charset="-122"/>
              <a:ea typeface="微软雅黑" panose="020B0503020204020204" pitchFamily="34" charset="-122"/>
            </a:endParaRPr>
          </a:p>
        </p:txBody>
      </p:sp>
      <p:sp>
        <p:nvSpPr>
          <p:cNvPr id="12" name="TextBox 11"/>
          <p:cNvSpPr txBox="1"/>
          <p:nvPr/>
        </p:nvSpPr>
        <p:spPr>
          <a:xfrm>
            <a:off x="960120" y="2322576"/>
            <a:ext cx="4782312" cy="200926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panose="020B0503020204020204" pitchFamily="34" charset="-122"/>
                <a:ea typeface="微软雅黑" panose="020B0503020204020204" pitchFamily="34" charset="-122"/>
              </a:rPr>
              <a:t>视觉、规划、控制相对独立</a:t>
            </a:r>
          </a:p>
          <a:p>
            <a:pPr algn="l">
              <a:lnSpc>
                <a:spcPct val="108000"/>
              </a:lnSpc>
            </a:pPr>
            <a:endParaRPr sz="2000" b="0" i="0">
              <a:solidFill>
                <a:srgbClr val="222833"/>
              </a:solidFill>
              <a:latin typeface="微软雅黑" panose="020B0503020204020204" pitchFamily="34" charset="-122"/>
              <a:ea typeface="微软雅黑" panose="020B0503020204020204" pitchFamily="34" charset="-122"/>
            </a:endParaRPr>
          </a:p>
          <a:p>
            <a:pPr algn="l">
              <a:lnSpc>
                <a:spcPct val="108000"/>
              </a:lnSpc>
            </a:pPr>
            <a:r>
              <a:rPr sz="2000" b="0" i="0">
                <a:solidFill>
                  <a:srgbClr val="222833"/>
                </a:solidFill>
                <a:latin typeface="微软雅黑" panose="020B0503020204020204" pitchFamily="34" charset="-122"/>
                <a:ea typeface="微软雅黑" panose="020B0503020204020204" pitchFamily="34" charset="-122"/>
              </a:rPr>
              <a:t>优势：模块可解释、便于替换</a:t>
            </a:r>
          </a:p>
          <a:p>
            <a:pPr algn="l">
              <a:lnSpc>
                <a:spcPct val="108000"/>
              </a:lnSpc>
            </a:pPr>
            <a:endParaRPr sz="2000" b="0" i="0">
              <a:solidFill>
                <a:srgbClr val="222833"/>
              </a:solidFill>
              <a:latin typeface="微软雅黑" panose="020B0503020204020204" pitchFamily="34" charset="-122"/>
              <a:ea typeface="微软雅黑" panose="020B0503020204020204" pitchFamily="34" charset="-122"/>
            </a:endParaRPr>
          </a:p>
          <a:p>
            <a:pPr algn="l">
              <a:lnSpc>
                <a:spcPct val="108000"/>
              </a:lnSpc>
            </a:pPr>
            <a:r>
              <a:rPr sz="2000" b="0" i="0">
                <a:solidFill>
                  <a:srgbClr val="222833"/>
                </a:solidFill>
                <a:latin typeface="微软雅黑" panose="020B0503020204020204" pitchFamily="34" charset="-122"/>
                <a:ea typeface="微软雅黑" panose="020B0503020204020204" pitchFamily="34" charset="-122"/>
              </a:rPr>
              <a:t>问题：接口复杂；误差可能逐级累积；遇到新任务通常需要重新编程</a:t>
            </a:r>
          </a:p>
        </p:txBody>
      </p:sp>
      <p:sp>
        <p:nvSpPr>
          <p:cNvPr id="13" name="Rounded Rectangle 12"/>
          <p:cNvSpPr/>
          <p:nvPr/>
        </p:nvSpPr>
        <p:spPr>
          <a:xfrm>
            <a:off x="6263640" y="1664208"/>
            <a:ext cx="5166360" cy="4160520"/>
          </a:xfrm>
          <a:prstGeom prst="roundRect">
            <a:avLst>
              <a:gd name="adj" fmla="val 192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4" name="Rectangle 13"/>
          <p:cNvSpPr/>
          <p:nvPr/>
        </p:nvSpPr>
        <p:spPr>
          <a:xfrm>
            <a:off x="6263640" y="1664208"/>
            <a:ext cx="64008" cy="41605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5" name="TextBox 14"/>
          <p:cNvSpPr txBox="1"/>
          <p:nvPr/>
        </p:nvSpPr>
        <p:spPr>
          <a:xfrm>
            <a:off x="6473952" y="1810512"/>
            <a:ext cx="4782312" cy="340350"/>
          </a:xfrm>
          <a:prstGeom prst="rect">
            <a:avLst/>
          </a:prstGeom>
          <a:noFill/>
        </p:spPr>
        <p:txBody>
          <a:bodyPr wrap="square" lIns="18288" tIns="18288" rIns="18288" bIns="18288" anchor="t">
            <a:spAutoFit/>
          </a:bodyPr>
          <a:lstStyle/>
          <a:p>
            <a:pPr algn="l">
              <a:lnSpc>
                <a:spcPct val="105000"/>
              </a:lnSpc>
            </a:pPr>
            <a:r>
              <a:rPr sz="2000" b="1" i="0" dirty="0">
                <a:solidFill>
                  <a:srgbClr val="2F8E72"/>
                </a:solidFill>
                <a:latin typeface="微软雅黑" panose="020B0503020204020204" pitchFamily="34" charset="-122"/>
                <a:ea typeface="微软雅黑" panose="020B0503020204020204" pitchFamily="34" charset="-122"/>
              </a:rPr>
              <a:t>VLA </a:t>
            </a:r>
            <a:r>
              <a:rPr sz="2000" b="1" i="0" dirty="0" err="1">
                <a:solidFill>
                  <a:srgbClr val="2F8E72"/>
                </a:solidFill>
                <a:latin typeface="微软雅黑" panose="020B0503020204020204" pitchFamily="34" charset="-122"/>
                <a:ea typeface="微软雅黑" panose="020B0503020204020204" pitchFamily="34" charset="-122"/>
              </a:rPr>
              <a:t>一体化策略</a:t>
            </a:r>
            <a:endParaRPr sz="2000" b="1" i="0" dirty="0">
              <a:solidFill>
                <a:srgbClr val="2F8E72"/>
              </a:solidFill>
              <a:latin typeface="微软雅黑" panose="020B0503020204020204" pitchFamily="34" charset="-122"/>
              <a:ea typeface="微软雅黑" panose="020B0503020204020204" pitchFamily="34" charset="-122"/>
            </a:endParaRPr>
          </a:p>
        </p:txBody>
      </p:sp>
      <p:sp>
        <p:nvSpPr>
          <p:cNvPr id="16" name="TextBox 15"/>
          <p:cNvSpPr txBox="1"/>
          <p:nvPr/>
        </p:nvSpPr>
        <p:spPr>
          <a:xfrm>
            <a:off x="6473952" y="2322576"/>
            <a:ext cx="4782312" cy="200926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panose="020B0503020204020204" pitchFamily="34" charset="-122"/>
                <a:ea typeface="微软雅黑" panose="020B0503020204020204" pitchFamily="34" charset="-122"/>
              </a:rPr>
              <a:t>视觉、语言、动作统一建模</a:t>
            </a:r>
          </a:p>
          <a:p>
            <a:pPr algn="l">
              <a:lnSpc>
                <a:spcPct val="108000"/>
              </a:lnSpc>
            </a:pPr>
            <a:endParaRPr sz="2000" b="0" i="0">
              <a:solidFill>
                <a:srgbClr val="222833"/>
              </a:solidFill>
              <a:latin typeface="微软雅黑" panose="020B0503020204020204" pitchFamily="34" charset="-122"/>
              <a:ea typeface="微软雅黑" panose="020B0503020204020204" pitchFamily="34" charset="-122"/>
            </a:endParaRPr>
          </a:p>
          <a:p>
            <a:pPr algn="l">
              <a:lnSpc>
                <a:spcPct val="108000"/>
              </a:lnSpc>
            </a:pPr>
            <a:r>
              <a:rPr sz="2000" b="0" i="0">
                <a:solidFill>
                  <a:srgbClr val="222833"/>
                </a:solidFill>
                <a:latin typeface="微软雅黑" panose="020B0503020204020204" pitchFamily="34" charset="-122"/>
                <a:ea typeface="微软雅黑" panose="020B0503020204020204" pitchFamily="34" charset="-122"/>
              </a:rPr>
              <a:t>优势：端到端优化；闭环更紧密；可借助预训练知识提升泛化</a:t>
            </a:r>
          </a:p>
          <a:p>
            <a:pPr algn="l">
              <a:lnSpc>
                <a:spcPct val="108000"/>
              </a:lnSpc>
            </a:pPr>
            <a:endParaRPr sz="2000" b="0" i="0">
              <a:solidFill>
                <a:srgbClr val="222833"/>
              </a:solidFill>
              <a:latin typeface="微软雅黑" panose="020B0503020204020204" pitchFamily="34" charset="-122"/>
              <a:ea typeface="微软雅黑" panose="020B0503020204020204" pitchFamily="34" charset="-122"/>
            </a:endParaRPr>
          </a:p>
          <a:p>
            <a:pPr algn="l">
              <a:lnSpc>
                <a:spcPct val="108000"/>
              </a:lnSpc>
            </a:pPr>
            <a:r>
              <a:rPr sz="2000" b="0" i="0">
                <a:solidFill>
                  <a:srgbClr val="222833"/>
                </a:solidFill>
                <a:latin typeface="微软雅黑" panose="020B0503020204020204" pitchFamily="34" charset="-122"/>
                <a:ea typeface="微软雅黑" panose="020B0503020204020204" pitchFamily="34" charset="-122"/>
              </a:rPr>
              <a:t>挑战：数据、算力与安全性要求更高</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11</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a:t>
            </a:r>
            <a:r>
              <a:rPr sz="3500" b="1" i="0" dirty="0" err="1">
                <a:solidFill>
                  <a:srgbClr val="24477D"/>
                </a:solidFill>
                <a:latin typeface="微软雅黑" panose="020B0503020204020204" pitchFamily="34" charset="-122"/>
              </a:rPr>
              <a:t>感知－认知－决策－行动”闭环</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微软雅黑" panose="020B0503020204020204" pitchFamily="34" charset="-122"/>
            </a:endParaRPr>
          </a:p>
        </p:txBody>
      </p:sp>
      <p:sp>
        <p:nvSpPr>
          <p:cNvPr id="9" name="Rounded Rectangle 8"/>
          <p:cNvSpPr/>
          <p:nvPr/>
        </p:nvSpPr>
        <p:spPr>
          <a:xfrm>
            <a:off x="713232" y="1938528"/>
            <a:ext cx="2521458" cy="2331720"/>
          </a:xfrm>
          <a:prstGeom prst="roundRect">
            <a:avLst>
              <a:gd name="adj" fmla="val 3759"/>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微软雅黑" panose="020B0503020204020204" pitchFamily="34" charset="-122"/>
            </a:endParaRPr>
          </a:p>
        </p:txBody>
      </p:sp>
      <p:sp>
        <p:nvSpPr>
          <p:cNvPr id="10" name="Rectangle 9"/>
          <p:cNvSpPr/>
          <p:nvPr/>
        </p:nvSpPr>
        <p:spPr>
          <a:xfrm>
            <a:off x="713232" y="1938528"/>
            <a:ext cx="64008" cy="2331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微软雅黑" panose="020B0503020204020204" pitchFamily="34" charset="-122"/>
            </a:endParaRPr>
          </a:p>
        </p:txBody>
      </p:sp>
      <p:sp>
        <p:nvSpPr>
          <p:cNvPr id="11" name="TextBox 10"/>
          <p:cNvSpPr txBox="1"/>
          <p:nvPr/>
        </p:nvSpPr>
        <p:spPr>
          <a:xfrm>
            <a:off x="923544" y="2084832"/>
            <a:ext cx="2137410"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感知</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596896"/>
            <a:ext cx="2137410" cy="679673"/>
          </a:xfrm>
          <a:prstGeom prst="rect">
            <a:avLst/>
          </a:prstGeom>
          <a:noFill/>
        </p:spPr>
        <p:txBody>
          <a:bodyPr wrap="square" lIns="18288" tIns="18288" rIns="18288" bIns="18288" anchor="t">
            <a:spAutoFit/>
          </a:bodyPr>
          <a:lstStyle/>
          <a:p>
            <a:pPr algn="l">
              <a:lnSpc>
                <a:spcPct val="108000"/>
              </a:lnSpc>
            </a:pPr>
            <a:r>
              <a:rPr sz="2000" b="0" i="0" dirty="0" err="1">
                <a:solidFill>
                  <a:srgbClr val="222833"/>
                </a:solidFill>
                <a:latin typeface="微软雅黑"/>
              </a:rPr>
              <a:t>获得图像、深度、触觉与本体状态</a:t>
            </a:r>
            <a:r>
              <a:rPr sz="2000" b="0" i="0" dirty="0">
                <a:solidFill>
                  <a:srgbClr val="222833"/>
                </a:solidFill>
                <a:latin typeface="微软雅黑"/>
              </a:rPr>
              <a:t>。</a:t>
            </a:r>
          </a:p>
        </p:txBody>
      </p:sp>
      <p:sp>
        <p:nvSpPr>
          <p:cNvPr id="13" name="TextBox 12"/>
          <p:cNvSpPr txBox="1"/>
          <p:nvPr/>
        </p:nvSpPr>
        <p:spPr>
          <a:xfrm>
            <a:off x="3252978" y="2783337"/>
            <a:ext cx="73152" cy="340350"/>
          </a:xfrm>
          <a:prstGeom prst="rect">
            <a:avLst/>
          </a:prstGeom>
          <a:noFill/>
        </p:spPr>
        <p:txBody>
          <a:bodyPr wrap="square" lIns="18288" tIns="18288" rIns="18288" bIns="18288" anchor="ctr">
            <a:spAutoFit/>
          </a:bodyPr>
          <a:lstStyle/>
          <a:p>
            <a:pPr algn="ctr">
              <a:lnSpc>
                <a:spcPct val="105000"/>
              </a:lnSpc>
            </a:pPr>
            <a:r>
              <a:rPr sz="2000" b="1" i="0" dirty="0">
                <a:solidFill>
                  <a:srgbClr val="24477D"/>
                </a:solidFill>
                <a:latin typeface="微软雅黑" panose="020B0503020204020204" pitchFamily="34" charset="-122"/>
              </a:rPr>
              <a:t>→</a:t>
            </a:r>
          </a:p>
        </p:txBody>
      </p:sp>
      <p:sp>
        <p:nvSpPr>
          <p:cNvPr id="14" name="Rounded Rectangle 13"/>
          <p:cNvSpPr/>
          <p:nvPr/>
        </p:nvSpPr>
        <p:spPr>
          <a:xfrm>
            <a:off x="3399282" y="1938528"/>
            <a:ext cx="2521458" cy="2331720"/>
          </a:xfrm>
          <a:prstGeom prst="roundRect">
            <a:avLst>
              <a:gd name="adj" fmla="val 277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微软雅黑" panose="020B0503020204020204" pitchFamily="34" charset="-122"/>
            </a:endParaRPr>
          </a:p>
        </p:txBody>
      </p:sp>
      <p:sp>
        <p:nvSpPr>
          <p:cNvPr id="15" name="Rectangle 14"/>
          <p:cNvSpPr/>
          <p:nvPr/>
        </p:nvSpPr>
        <p:spPr>
          <a:xfrm>
            <a:off x="3399282" y="1938528"/>
            <a:ext cx="64008" cy="2331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微软雅黑" panose="020B0503020204020204" pitchFamily="34" charset="-122"/>
            </a:endParaRPr>
          </a:p>
        </p:txBody>
      </p:sp>
      <p:sp>
        <p:nvSpPr>
          <p:cNvPr id="16" name="TextBox 15"/>
          <p:cNvSpPr txBox="1"/>
          <p:nvPr/>
        </p:nvSpPr>
        <p:spPr>
          <a:xfrm>
            <a:off x="3609594" y="2084832"/>
            <a:ext cx="2137410"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认知</a:t>
            </a:r>
            <a:endParaRPr sz="2000" b="1" i="0" dirty="0">
              <a:solidFill>
                <a:srgbClr val="2F8E72"/>
              </a:solidFill>
              <a:latin typeface="微软雅黑" panose="020B0503020204020204" pitchFamily="34" charset="-122"/>
            </a:endParaRPr>
          </a:p>
        </p:txBody>
      </p:sp>
      <p:sp>
        <p:nvSpPr>
          <p:cNvPr id="17" name="TextBox 16"/>
          <p:cNvSpPr txBox="1"/>
          <p:nvPr/>
        </p:nvSpPr>
        <p:spPr>
          <a:xfrm>
            <a:off x="3609594" y="2596896"/>
            <a:ext cx="2137410" cy="679673"/>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理解对象、语义和当前任务意图。</a:t>
            </a:r>
          </a:p>
        </p:txBody>
      </p:sp>
      <p:sp>
        <p:nvSpPr>
          <p:cNvPr id="18" name="TextBox 17"/>
          <p:cNvSpPr txBox="1"/>
          <p:nvPr/>
        </p:nvSpPr>
        <p:spPr>
          <a:xfrm>
            <a:off x="5910834" y="2783337"/>
            <a:ext cx="146304" cy="340350"/>
          </a:xfrm>
          <a:prstGeom prst="rect">
            <a:avLst/>
          </a:prstGeom>
          <a:noFill/>
        </p:spPr>
        <p:txBody>
          <a:bodyPr wrap="square" lIns="18288" tIns="18288" rIns="18288" bIns="18288" anchor="ctr">
            <a:spAutoFit/>
          </a:bodyPr>
          <a:lstStyle/>
          <a:p>
            <a:pPr algn="ctr">
              <a:lnSpc>
                <a:spcPct val="105000"/>
              </a:lnSpc>
            </a:pPr>
            <a:r>
              <a:rPr sz="2000" b="1" i="0" dirty="0">
                <a:solidFill>
                  <a:srgbClr val="24477D"/>
                </a:solidFill>
                <a:latin typeface="微软雅黑" panose="020B0503020204020204" pitchFamily="34" charset="-122"/>
              </a:rPr>
              <a:t>→</a:t>
            </a:r>
          </a:p>
        </p:txBody>
      </p:sp>
      <p:sp>
        <p:nvSpPr>
          <p:cNvPr id="19" name="Rounded Rectangle 18"/>
          <p:cNvSpPr/>
          <p:nvPr/>
        </p:nvSpPr>
        <p:spPr>
          <a:xfrm>
            <a:off x="6085332" y="1938528"/>
            <a:ext cx="2521458" cy="2331720"/>
          </a:xfrm>
          <a:prstGeom prst="roundRect">
            <a:avLst>
              <a:gd name="adj" fmla="val 5066"/>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微软雅黑" panose="020B0503020204020204" pitchFamily="34" charset="-122"/>
            </a:endParaRPr>
          </a:p>
        </p:txBody>
      </p:sp>
      <p:sp>
        <p:nvSpPr>
          <p:cNvPr id="20" name="Rectangle 19"/>
          <p:cNvSpPr/>
          <p:nvPr/>
        </p:nvSpPr>
        <p:spPr>
          <a:xfrm>
            <a:off x="6085332" y="1938528"/>
            <a:ext cx="64008" cy="2331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微软雅黑" panose="020B0503020204020204" pitchFamily="34" charset="-122"/>
            </a:endParaRPr>
          </a:p>
        </p:txBody>
      </p:sp>
      <p:sp>
        <p:nvSpPr>
          <p:cNvPr id="21" name="TextBox 20"/>
          <p:cNvSpPr txBox="1"/>
          <p:nvPr/>
        </p:nvSpPr>
        <p:spPr>
          <a:xfrm>
            <a:off x="6295644" y="2084832"/>
            <a:ext cx="2137410"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决策</a:t>
            </a:r>
            <a:endParaRPr sz="2000" b="1" i="0" dirty="0">
              <a:solidFill>
                <a:srgbClr val="C58A24"/>
              </a:solidFill>
              <a:latin typeface="微软雅黑" panose="020B0503020204020204" pitchFamily="34" charset="-122"/>
            </a:endParaRPr>
          </a:p>
        </p:txBody>
      </p:sp>
      <p:sp>
        <p:nvSpPr>
          <p:cNvPr id="22" name="TextBox 21"/>
          <p:cNvSpPr txBox="1"/>
          <p:nvPr/>
        </p:nvSpPr>
        <p:spPr>
          <a:xfrm>
            <a:off x="6295644" y="2596896"/>
            <a:ext cx="2137410" cy="679673"/>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预测下一步或未来多步动作。</a:t>
            </a:r>
          </a:p>
        </p:txBody>
      </p:sp>
      <p:sp>
        <p:nvSpPr>
          <p:cNvPr id="23" name="TextBox 22"/>
          <p:cNvSpPr txBox="1"/>
          <p:nvPr/>
        </p:nvSpPr>
        <p:spPr>
          <a:xfrm>
            <a:off x="8577834" y="2783337"/>
            <a:ext cx="146304" cy="340350"/>
          </a:xfrm>
          <a:prstGeom prst="rect">
            <a:avLst/>
          </a:prstGeom>
          <a:noFill/>
        </p:spPr>
        <p:txBody>
          <a:bodyPr wrap="square" lIns="18288" tIns="18288" rIns="18288" bIns="18288" anchor="ctr">
            <a:spAutoFit/>
          </a:bodyPr>
          <a:lstStyle/>
          <a:p>
            <a:pPr algn="ctr">
              <a:lnSpc>
                <a:spcPct val="105000"/>
              </a:lnSpc>
            </a:pPr>
            <a:r>
              <a:rPr sz="2000" b="1" i="0" dirty="0">
                <a:solidFill>
                  <a:srgbClr val="24477D"/>
                </a:solidFill>
                <a:latin typeface="微软雅黑" panose="020B0503020204020204" pitchFamily="34" charset="-122"/>
              </a:rPr>
              <a:t>→</a:t>
            </a:r>
          </a:p>
        </p:txBody>
      </p:sp>
      <p:sp>
        <p:nvSpPr>
          <p:cNvPr id="24" name="Rounded Rectangle 23"/>
          <p:cNvSpPr/>
          <p:nvPr/>
        </p:nvSpPr>
        <p:spPr>
          <a:xfrm>
            <a:off x="8771382" y="1938528"/>
            <a:ext cx="2521458" cy="2331720"/>
          </a:xfrm>
          <a:prstGeom prst="roundRect">
            <a:avLst>
              <a:gd name="adj" fmla="val 441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微软雅黑" panose="020B0503020204020204" pitchFamily="34" charset="-122"/>
            </a:endParaRPr>
          </a:p>
        </p:txBody>
      </p:sp>
      <p:sp>
        <p:nvSpPr>
          <p:cNvPr id="25" name="Rectangle 24"/>
          <p:cNvSpPr/>
          <p:nvPr/>
        </p:nvSpPr>
        <p:spPr>
          <a:xfrm>
            <a:off x="8771382" y="1938528"/>
            <a:ext cx="64008" cy="23317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latin typeface="微软雅黑" panose="020B0503020204020204" pitchFamily="34" charset="-122"/>
            </a:endParaRPr>
          </a:p>
        </p:txBody>
      </p:sp>
      <p:sp>
        <p:nvSpPr>
          <p:cNvPr id="26" name="TextBox 25"/>
          <p:cNvSpPr txBox="1"/>
          <p:nvPr/>
        </p:nvSpPr>
        <p:spPr>
          <a:xfrm>
            <a:off x="8981694" y="2084832"/>
            <a:ext cx="2137410" cy="340350"/>
          </a:xfrm>
          <a:prstGeom prst="rect">
            <a:avLst/>
          </a:prstGeom>
          <a:noFill/>
        </p:spPr>
        <p:txBody>
          <a:bodyPr wrap="square" lIns="18288" tIns="18288" rIns="18288" bIns="18288" anchor="t">
            <a:spAutoFit/>
          </a:bodyPr>
          <a:lstStyle/>
          <a:p>
            <a:pPr algn="l">
              <a:lnSpc>
                <a:spcPct val="105000"/>
              </a:lnSpc>
            </a:pPr>
            <a:r>
              <a:rPr sz="2000" b="1" i="0" dirty="0" err="1">
                <a:solidFill>
                  <a:srgbClr val="C63F45"/>
                </a:solidFill>
                <a:latin typeface="微软雅黑" panose="020B0503020204020204" pitchFamily="34" charset="-122"/>
              </a:rPr>
              <a:t>行动</a:t>
            </a:r>
            <a:endParaRPr sz="2000" b="1" i="0" dirty="0">
              <a:solidFill>
                <a:srgbClr val="C63F45"/>
              </a:solidFill>
              <a:latin typeface="微软雅黑" panose="020B0503020204020204" pitchFamily="34" charset="-122"/>
            </a:endParaRPr>
          </a:p>
        </p:txBody>
      </p:sp>
      <p:sp>
        <p:nvSpPr>
          <p:cNvPr id="27" name="TextBox 26"/>
          <p:cNvSpPr txBox="1"/>
          <p:nvPr/>
        </p:nvSpPr>
        <p:spPr>
          <a:xfrm>
            <a:off x="8981694" y="2596896"/>
            <a:ext cx="2137410" cy="1012072"/>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执行动作并把新环境状态反馈给模型。</a:t>
            </a:r>
          </a:p>
        </p:txBody>
      </p:sp>
      <p:sp>
        <p:nvSpPr>
          <p:cNvPr id="28" name="TextBox 27"/>
          <p:cNvSpPr txBox="1"/>
          <p:nvPr/>
        </p:nvSpPr>
        <p:spPr>
          <a:xfrm>
            <a:off x="822960" y="4927605"/>
            <a:ext cx="10515600" cy="340350"/>
          </a:xfrm>
          <a:prstGeom prst="rect">
            <a:avLst/>
          </a:prstGeom>
          <a:noFill/>
        </p:spPr>
        <p:txBody>
          <a:bodyPr wrap="square" lIns="18288" tIns="18288" rIns="18288" bIns="18288" anchor="ctr">
            <a:spAutoFit/>
          </a:bodyPr>
          <a:lstStyle/>
          <a:p>
            <a:pPr algn="ctr">
              <a:lnSpc>
                <a:spcPct val="105000"/>
              </a:lnSpc>
            </a:pPr>
            <a:r>
              <a:rPr sz="2000" b="1" i="0" dirty="0" err="1">
                <a:solidFill>
                  <a:srgbClr val="24477D"/>
                </a:solidFill>
                <a:latin typeface="微软雅黑" panose="020B0503020204020204" pitchFamily="34" charset="-122"/>
              </a:rPr>
              <a:t>闭环使策略能够在动态环境中持续修正，而不是一次性执行固定路径</a:t>
            </a:r>
            <a:r>
              <a:rPr sz="2000" b="1" i="0" dirty="0">
                <a:solidFill>
                  <a:srgbClr val="24477D"/>
                </a:solidFill>
                <a:latin typeface="微软雅黑" panose="020B0503020204020204" pitchFamily="34" charset="-122"/>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12</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VLA </a:t>
            </a:r>
            <a:r>
              <a:rPr sz="3500" b="1" i="0" dirty="0" err="1">
                <a:solidFill>
                  <a:srgbClr val="24477D"/>
                </a:solidFill>
                <a:latin typeface="微软雅黑" panose="020B0503020204020204" pitchFamily="34" charset="-122"/>
              </a:rPr>
              <a:t>快速发展的技术基础</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691640"/>
            <a:ext cx="3246120" cy="3291840"/>
          </a:xfrm>
          <a:prstGeom prst="roundRect">
            <a:avLst>
              <a:gd name="adj" fmla="val 117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49808" y="1691640"/>
            <a:ext cx="64008" cy="32918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60120" y="1837944"/>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深度学习</a:t>
            </a:r>
            <a:endParaRPr sz="2000" b="1" i="0" dirty="0">
              <a:solidFill>
                <a:srgbClr val="31599B"/>
              </a:solidFill>
              <a:latin typeface="微软雅黑" panose="020B0503020204020204" pitchFamily="34" charset="-122"/>
            </a:endParaRPr>
          </a:p>
        </p:txBody>
      </p:sp>
      <p:sp>
        <p:nvSpPr>
          <p:cNvPr id="12" name="TextBox 11"/>
          <p:cNvSpPr txBox="1"/>
          <p:nvPr/>
        </p:nvSpPr>
        <p:spPr>
          <a:xfrm>
            <a:off x="960120" y="2350008"/>
            <a:ext cx="2862072" cy="248716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提供视觉表征、序列建模与端到端优化能力。</a:t>
            </a:r>
          </a:p>
        </p:txBody>
      </p:sp>
      <p:sp>
        <p:nvSpPr>
          <p:cNvPr id="13" name="Rounded Rectangle 12"/>
          <p:cNvSpPr/>
          <p:nvPr/>
        </p:nvSpPr>
        <p:spPr>
          <a:xfrm>
            <a:off x="4224528" y="1691640"/>
            <a:ext cx="3246120" cy="3291840"/>
          </a:xfrm>
          <a:prstGeom prst="roundRect">
            <a:avLst>
              <a:gd name="adj" fmla="val 705"/>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224528" y="1691640"/>
            <a:ext cx="64008" cy="32918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434840" y="1837944"/>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强化学习</a:t>
            </a:r>
            <a:endParaRPr sz="2000" b="1" i="0" dirty="0">
              <a:solidFill>
                <a:srgbClr val="2F8E72"/>
              </a:solidFill>
              <a:latin typeface="微软雅黑" panose="020B0503020204020204" pitchFamily="34" charset="-122"/>
            </a:endParaRPr>
          </a:p>
        </p:txBody>
      </p:sp>
      <p:sp>
        <p:nvSpPr>
          <p:cNvPr id="16" name="TextBox 15"/>
          <p:cNvSpPr txBox="1"/>
          <p:nvPr/>
        </p:nvSpPr>
        <p:spPr>
          <a:xfrm>
            <a:off x="4434840" y="2350008"/>
            <a:ext cx="2862072" cy="248716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继承“交互—反馈—优化”的思想，让策略通过真实或仿真环境继续改进。</a:t>
            </a:r>
          </a:p>
        </p:txBody>
      </p:sp>
      <p:sp>
        <p:nvSpPr>
          <p:cNvPr id="17" name="Rounded Rectangle 16"/>
          <p:cNvSpPr/>
          <p:nvPr/>
        </p:nvSpPr>
        <p:spPr>
          <a:xfrm>
            <a:off x="7699248" y="1691640"/>
            <a:ext cx="3246120" cy="3291840"/>
          </a:xfrm>
          <a:prstGeom prst="roundRect">
            <a:avLst>
              <a:gd name="adj" fmla="val 227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99248" y="1691640"/>
            <a:ext cx="64008" cy="32918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909560" y="1837944"/>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大语言模型</a:t>
            </a:r>
            <a:r>
              <a:rPr sz="2000" b="1" i="0" dirty="0">
                <a:solidFill>
                  <a:srgbClr val="C58A24"/>
                </a:solidFill>
                <a:latin typeface="微软雅黑" panose="020B0503020204020204" pitchFamily="34" charset="-122"/>
              </a:rPr>
              <a:t> / VLM</a:t>
            </a:r>
          </a:p>
        </p:txBody>
      </p:sp>
      <p:sp>
        <p:nvSpPr>
          <p:cNvPr id="20" name="TextBox 19"/>
          <p:cNvSpPr txBox="1"/>
          <p:nvPr/>
        </p:nvSpPr>
        <p:spPr>
          <a:xfrm>
            <a:off x="7909560" y="2350008"/>
            <a:ext cx="2862072" cy="248716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利用大规模视觉－语言预训练知识，提高样本效率与零样本、少样本泛化。</a:t>
            </a:r>
          </a:p>
        </p:txBody>
      </p:sp>
      <p:sp>
        <p:nvSpPr>
          <p:cNvPr id="21" name="TextBox 20"/>
          <p:cNvSpPr txBox="1"/>
          <p:nvPr/>
        </p:nvSpPr>
        <p:spPr>
          <a:xfrm>
            <a:off x="914400" y="5257800"/>
            <a:ext cx="10241280" cy="340350"/>
          </a:xfrm>
          <a:prstGeom prst="rect">
            <a:avLst/>
          </a:prstGeom>
          <a:noFill/>
        </p:spPr>
        <p:txBody>
          <a:bodyPr wrap="square" lIns="18288" tIns="18288" rIns="18288" bIns="18288" anchor="t">
            <a:spAutoFit/>
          </a:bodyPr>
          <a:lstStyle/>
          <a:p>
            <a:pPr algn="ctr">
              <a:lnSpc>
                <a:spcPct val="105000"/>
              </a:lnSpc>
            </a:pPr>
            <a:r>
              <a:rPr sz="2000" b="1" i="0" dirty="0" err="1">
                <a:solidFill>
                  <a:srgbClr val="24477D"/>
                </a:solidFill>
                <a:latin typeface="微软雅黑" panose="020B0503020204020204" pitchFamily="34" charset="-122"/>
              </a:rPr>
              <a:t>三条技术路线在</a:t>
            </a:r>
            <a:r>
              <a:rPr sz="2000" b="1" i="0" dirty="0">
                <a:solidFill>
                  <a:srgbClr val="24477D"/>
                </a:solidFill>
                <a:latin typeface="微软雅黑" panose="020B0503020204020204" pitchFamily="34" charset="-122"/>
              </a:rPr>
              <a:t> VLA </a:t>
            </a:r>
            <a:r>
              <a:rPr sz="2000" b="1" i="0" dirty="0" err="1">
                <a:solidFill>
                  <a:srgbClr val="24477D"/>
                </a:solidFill>
                <a:latin typeface="微软雅黑" panose="020B0503020204020204" pitchFamily="34" charset="-122"/>
              </a:rPr>
              <a:t>中交叉融合：语义先验</a:t>
            </a:r>
            <a:r>
              <a:rPr sz="2000" b="1" i="0" dirty="0">
                <a:solidFill>
                  <a:srgbClr val="24477D"/>
                </a:solidFill>
                <a:latin typeface="微软雅黑" panose="020B0503020204020204" pitchFamily="34" charset="-122"/>
              </a:rPr>
              <a:t> + </a:t>
            </a:r>
            <a:r>
              <a:rPr sz="2000" b="1" i="0" dirty="0" err="1">
                <a:solidFill>
                  <a:srgbClr val="24477D"/>
                </a:solidFill>
                <a:latin typeface="微软雅黑" panose="020B0503020204020204" pitchFamily="34" charset="-122"/>
              </a:rPr>
              <a:t>机器人数据</a:t>
            </a:r>
            <a:r>
              <a:rPr sz="2000" b="1" i="0" dirty="0">
                <a:solidFill>
                  <a:srgbClr val="24477D"/>
                </a:solidFill>
                <a:latin typeface="微软雅黑" panose="020B0503020204020204" pitchFamily="34" charset="-122"/>
              </a:rPr>
              <a:t> + </a:t>
            </a:r>
            <a:r>
              <a:rPr sz="2000" b="1" i="0" dirty="0" err="1">
                <a:solidFill>
                  <a:srgbClr val="24477D"/>
                </a:solidFill>
                <a:latin typeface="微软雅黑" panose="020B0503020204020204" pitchFamily="34" charset="-122"/>
              </a:rPr>
              <a:t>闭环交互</a:t>
            </a:r>
            <a:r>
              <a:rPr sz="2000" b="1" i="0" dirty="0">
                <a:solidFill>
                  <a:srgbClr val="24477D"/>
                </a:solidFill>
                <a:latin typeface="微软雅黑" panose="020B0503020204020204" pitchFamily="34" charset="-122"/>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VLA </a:t>
            </a:r>
            <a:r>
              <a:rPr sz="3500" b="1" i="0" dirty="0" err="1">
                <a:solidFill>
                  <a:srgbClr val="24477D"/>
                </a:solidFill>
                <a:latin typeface="微软雅黑" panose="020B0503020204020204" pitchFamily="34" charset="-122"/>
              </a:rPr>
              <a:t>的典型应用场景</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627632"/>
            <a:ext cx="3246120" cy="2788920"/>
          </a:xfrm>
          <a:prstGeom prst="roundRect">
            <a:avLst>
              <a:gd name="adj" fmla="val 264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27632"/>
            <a:ext cx="64008" cy="27889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家居服务</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自然语言驱动的整理、抓取、放置、清洁等操作。</a:t>
            </a:r>
          </a:p>
        </p:txBody>
      </p:sp>
      <p:sp>
        <p:nvSpPr>
          <p:cNvPr id="13" name="Rounded Rectangle 12"/>
          <p:cNvSpPr/>
          <p:nvPr/>
        </p:nvSpPr>
        <p:spPr>
          <a:xfrm>
            <a:off x="4160520" y="1627632"/>
            <a:ext cx="3246120" cy="2788920"/>
          </a:xfrm>
          <a:prstGeom prst="roundRect">
            <a:avLst>
              <a:gd name="adj" fmla="val 118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27632"/>
            <a:ext cx="64008" cy="27889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工业协作</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面向多品类工件的柔性搬运、装配与人机协作。</a:t>
            </a:r>
          </a:p>
        </p:txBody>
      </p:sp>
      <p:sp>
        <p:nvSpPr>
          <p:cNvPr id="17" name="Rounded Rectangle 16"/>
          <p:cNvSpPr/>
          <p:nvPr/>
        </p:nvSpPr>
        <p:spPr>
          <a:xfrm>
            <a:off x="7607808" y="1627632"/>
            <a:ext cx="3246120" cy="2788920"/>
          </a:xfrm>
          <a:prstGeom prst="roundRect">
            <a:avLst>
              <a:gd name="adj" fmla="val 1366"/>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27632"/>
            <a:ext cx="64008" cy="27889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医疗辅助</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在高安全约束下理解指令并辅助执行操作或递送任务。</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RT-2：视觉与语言直接生成动作词元</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672592" y="5698532"/>
            <a:ext cx="6720840" cy="234103"/>
          </a:xfrm>
          <a:prstGeom prst="rect">
            <a:avLst/>
          </a:prstGeom>
          <a:noFill/>
        </p:spPr>
        <p:txBody>
          <a:bodyPr wrap="square" lIns="18288" tIns="18288" rIns="18288" bIns="18288" anchor="t">
            <a:spAutoFit/>
          </a:bodyPr>
          <a:lstStyle/>
          <a:p>
            <a:pPr algn="ctr">
              <a:lnSpc>
                <a:spcPct val="105000"/>
              </a:lnSpc>
            </a:pPr>
            <a:r>
              <a:rPr sz="1300" b="1" i="0" dirty="0">
                <a:solidFill>
                  <a:srgbClr val="667085"/>
                </a:solidFill>
                <a:latin typeface="微软雅黑" panose="020B0503020204020204" pitchFamily="34" charset="-122"/>
              </a:rPr>
              <a:t>RT-2 </a:t>
            </a:r>
            <a:r>
              <a:rPr sz="1300" b="1" i="0" dirty="0" err="1">
                <a:solidFill>
                  <a:srgbClr val="667085"/>
                </a:solidFill>
                <a:latin typeface="微软雅黑" panose="020B0503020204020204" pitchFamily="34" charset="-122"/>
              </a:rPr>
              <a:t>模型框架</a:t>
            </a:r>
            <a:endParaRPr sz="1300" b="1" i="0" dirty="0">
              <a:solidFill>
                <a:srgbClr val="667085"/>
              </a:solidFill>
              <a:latin typeface="微软雅黑" panose="020B0503020204020204" pitchFamily="34" charset="-122"/>
            </a:endParaRPr>
          </a:p>
        </p:txBody>
      </p:sp>
      <p:sp>
        <p:nvSpPr>
          <p:cNvPr id="11" name="Rounded Rectangle 10"/>
          <p:cNvSpPr/>
          <p:nvPr/>
        </p:nvSpPr>
        <p:spPr>
          <a:xfrm>
            <a:off x="7699248" y="1691640"/>
            <a:ext cx="3657600" cy="4023360"/>
          </a:xfrm>
          <a:prstGeom prst="roundRect">
            <a:avLst>
              <a:gd name="adj" fmla="val 3473"/>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ectangle 11"/>
          <p:cNvSpPr/>
          <p:nvPr/>
        </p:nvSpPr>
        <p:spPr>
          <a:xfrm>
            <a:off x="7699248" y="1691640"/>
            <a:ext cx="64008" cy="40233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7909560" y="2350008"/>
            <a:ext cx="3273552" cy="1213858"/>
          </a:xfrm>
          <a:prstGeom prst="rect">
            <a:avLst/>
          </a:prstGeom>
          <a:noFill/>
        </p:spPr>
        <p:txBody>
          <a:bodyPr wrap="square" lIns="18288" tIns="18288" rIns="18288" bIns="18288" anchor="t">
            <a:spAutoFit/>
          </a:bodyPr>
          <a:lstStyle/>
          <a:p>
            <a:pPr algn="l">
              <a:lnSpc>
                <a:spcPct val="108000"/>
              </a:lnSpc>
            </a:pPr>
            <a:r>
              <a:rPr sz="1800" b="0" i="0" dirty="0" err="1">
                <a:solidFill>
                  <a:srgbClr val="222833"/>
                </a:solidFill>
                <a:latin typeface="微软雅黑"/>
              </a:rPr>
              <a:t>自然语言指令和视觉图像进入模型后，直接预测离散动作词元；再经</a:t>
            </a:r>
            <a:r>
              <a:rPr sz="1800" b="0" i="0" dirty="0">
                <a:solidFill>
                  <a:srgbClr val="222833"/>
                </a:solidFill>
                <a:latin typeface="微软雅黑"/>
              </a:rPr>
              <a:t> De-tokenize </a:t>
            </a:r>
            <a:r>
              <a:rPr sz="1800" b="0" i="0" dirty="0" err="1">
                <a:solidFill>
                  <a:srgbClr val="222833"/>
                </a:solidFill>
                <a:latin typeface="微软雅黑"/>
              </a:rPr>
              <a:t>转换为机器人末端执行器的位姿变化</a:t>
            </a:r>
            <a:endParaRPr sz="1800" b="0" i="0" dirty="0">
              <a:solidFill>
                <a:srgbClr val="222833"/>
              </a:solidFill>
              <a:latin typeface="微软雅黑"/>
            </a:endParaRPr>
          </a:p>
        </p:txBody>
      </p:sp>
      <p:pic>
        <p:nvPicPr>
          <p:cNvPr id="15" name="图片 14">
            <a:extLst>
              <a:ext uri="{FF2B5EF4-FFF2-40B4-BE49-F238E27FC236}">
                <a16:creationId xmlns:a16="http://schemas.microsoft.com/office/drawing/2014/main" id="{8518D6CD-D0FA-0E2A-CF0A-5B88F8E8468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5280" y="1876981"/>
            <a:ext cx="5274945" cy="341950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15</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RT-2 </a:t>
            </a:r>
            <a:r>
              <a:rPr sz="3500" b="1" i="0" dirty="0" err="1">
                <a:solidFill>
                  <a:srgbClr val="24477D"/>
                </a:solidFill>
                <a:latin typeface="微软雅黑" panose="020B0503020204020204" pitchFamily="34" charset="-122"/>
              </a:rPr>
              <a:t>的动作词元化思路</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920240"/>
            <a:ext cx="2521458" cy="2331720"/>
          </a:xfrm>
          <a:prstGeom prst="roundRect">
            <a:avLst>
              <a:gd name="adj" fmla="val 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920240"/>
            <a:ext cx="64008" cy="2331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2066544"/>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图像</a:t>
            </a:r>
            <a:r>
              <a:rPr sz="1800" b="1" i="0" dirty="0">
                <a:solidFill>
                  <a:srgbClr val="31599B"/>
                </a:solidFill>
                <a:latin typeface="微软雅黑" panose="020B0503020204020204" pitchFamily="34" charset="-122"/>
              </a:rPr>
              <a:t> / </a:t>
            </a:r>
            <a:r>
              <a:rPr sz="1800" b="1" i="0" dirty="0" err="1">
                <a:solidFill>
                  <a:srgbClr val="31599B"/>
                </a:solidFill>
                <a:latin typeface="微软雅黑" panose="020B0503020204020204" pitchFamily="34" charset="-122"/>
              </a:rPr>
              <a:t>指令</a:t>
            </a:r>
            <a:endParaRPr sz="1800" b="1" i="0" dirty="0">
              <a:solidFill>
                <a:srgbClr val="31599B"/>
              </a:solidFill>
              <a:latin typeface="微软雅黑" panose="020B0503020204020204" pitchFamily="34" charset="-122"/>
            </a:endParaRPr>
          </a:p>
        </p:txBody>
      </p:sp>
      <p:sp>
        <p:nvSpPr>
          <p:cNvPr id="12" name="TextBox 11"/>
          <p:cNvSpPr txBox="1"/>
          <p:nvPr/>
        </p:nvSpPr>
        <p:spPr>
          <a:xfrm>
            <a:off x="923544" y="2578608"/>
            <a:ext cx="213741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视觉图像与语言指令形成联合输入。</a:t>
            </a:r>
          </a:p>
        </p:txBody>
      </p:sp>
      <p:sp>
        <p:nvSpPr>
          <p:cNvPr id="13" name="TextBox 12"/>
          <p:cNvSpPr txBox="1"/>
          <p:nvPr/>
        </p:nvSpPr>
        <p:spPr>
          <a:xfrm>
            <a:off x="3221639" y="274988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4" name="Rounded Rectangle 13"/>
          <p:cNvSpPr/>
          <p:nvPr/>
        </p:nvSpPr>
        <p:spPr>
          <a:xfrm>
            <a:off x="3399282" y="1920240"/>
            <a:ext cx="2521458" cy="2331720"/>
          </a:xfrm>
          <a:prstGeom prst="roundRect">
            <a:avLst>
              <a:gd name="adj" fmla="val 353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3399282" y="1920240"/>
            <a:ext cx="64008" cy="2331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3609594" y="2066544"/>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多模态模型</a:t>
            </a:r>
            <a:endParaRPr sz="1800" b="1" i="0" dirty="0">
              <a:solidFill>
                <a:srgbClr val="2F8E72"/>
              </a:solidFill>
              <a:latin typeface="微软雅黑" panose="020B0503020204020204" pitchFamily="34" charset="-122"/>
            </a:endParaRPr>
          </a:p>
        </p:txBody>
      </p:sp>
      <p:sp>
        <p:nvSpPr>
          <p:cNvPr id="17" name="TextBox 16"/>
          <p:cNvSpPr txBox="1"/>
          <p:nvPr/>
        </p:nvSpPr>
        <p:spPr>
          <a:xfrm>
            <a:off x="3609594" y="2578608"/>
            <a:ext cx="213741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VLM 主干在统一词元空间中进行条件推理。</a:t>
            </a:r>
          </a:p>
        </p:txBody>
      </p:sp>
      <p:sp>
        <p:nvSpPr>
          <p:cNvPr id="18" name="TextBox 17"/>
          <p:cNvSpPr txBox="1"/>
          <p:nvPr/>
        </p:nvSpPr>
        <p:spPr>
          <a:xfrm>
            <a:off x="5881055" y="274988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9" name="Rounded Rectangle 18"/>
          <p:cNvSpPr/>
          <p:nvPr/>
        </p:nvSpPr>
        <p:spPr>
          <a:xfrm>
            <a:off x="6085332" y="1920240"/>
            <a:ext cx="2521458" cy="2331720"/>
          </a:xfrm>
          <a:prstGeom prst="roundRect">
            <a:avLst>
              <a:gd name="adj" fmla="val 2199"/>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Rectangle 19"/>
          <p:cNvSpPr/>
          <p:nvPr/>
        </p:nvSpPr>
        <p:spPr>
          <a:xfrm>
            <a:off x="6085332" y="1920240"/>
            <a:ext cx="64008" cy="2331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TextBox 20"/>
          <p:cNvSpPr txBox="1"/>
          <p:nvPr/>
        </p:nvSpPr>
        <p:spPr>
          <a:xfrm>
            <a:off x="6295644" y="2066544"/>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动作词元</a:t>
            </a:r>
            <a:endParaRPr sz="1800" b="1" i="0" dirty="0">
              <a:solidFill>
                <a:srgbClr val="C58A24"/>
              </a:solidFill>
              <a:latin typeface="微软雅黑" panose="020B0503020204020204" pitchFamily="34" charset="-122"/>
            </a:endParaRPr>
          </a:p>
        </p:txBody>
      </p:sp>
      <p:sp>
        <p:nvSpPr>
          <p:cNvPr id="22" name="TextBox 21"/>
          <p:cNvSpPr txBox="1"/>
          <p:nvPr/>
        </p:nvSpPr>
        <p:spPr>
          <a:xfrm>
            <a:off x="6295644" y="2578608"/>
            <a:ext cx="213741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动作被表示为模型可预测的离散词元。</a:t>
            </a:r>
          </a:p>
        </p:txBody>
      </p:sp>
      <p:sp>
        <p:nvSpPr>
          <p:cNvPr id="23" name="TextBox 22"/>
          <p:cNvSpPr txBox="1"/>
          <p:nvPr/>
        </p:nvSpPr>
        <p:spPr>
          <a:xfrm>
            <a:off x="8593739" y="274988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24" name="Rounded Rectangle 23"/>
          <p:cNvSpPr/>
          <p:nvPr/>
        </p:nvSpPr>
        <p:spPr>
          <a:xfrm>
            <a:off x="8771382" y="1920240"/>
            <a:ext cx="2521458" cy="2331720"/>
          </a:xfrm>
          <a:prstGeom prst="roundRect">
            <a:avLst>
              <a:gd name="adj" fmla="val 353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5" name="Rectangle 24"/>
          <p:cNvSpPr/>
          <p:nvPr/>
        </p:nvSpPr>
        <p:spPr>
          <a:xfrm>
            <a:off x="8771382" y="1920240"/>
            <a:ext cx="64008" cy="23317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6" name="TextBox 25"/>
          <p:cNvSpPr txBox="1"/>
          <p:nvPr/>
        </p:nvSpPr>
        <p:spPr>
          <a:xfrm>
            <a:off x="8981694" y="2066544"/>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反词元化</a:t>
            </a:r>
            <a:endParaRPr sz="1800" b="1" i="0" dirty="0">
              <a:solidFill>
                <a:srgbClr val="C63F45"/>
              </a:solidFill>
              <a:latin typeface="微软雅黑" panose="020B0503020204020204" pitchFamily="34" charset="-122"/>
            </a:endParaRPr>
          </a:p>
        </p:txBody>
      </p:sp>
      <p:sp>
        <p:nvSpPr>
          <p:cNvPr id="27" name="TextBox 26"/>
          <p:cNvSpPr txBox="1"/>
          <p:nvPr/>
        </p:nvSpPr>
        <p:spPr>
          <a:xfrm>
            <a:off x="8981694" y="2578608"/>
            <a:ext cx="213741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把词元恢复为可执行的末端位姿变化。</a:t>
            </a:r>
          </a:p>
        </p:txBody>
      </p:sp>
      <p:sp>
        <p:nvSpPr>
          <p:cNvPr id="28" name="TextBox 27"/>
          <p:cNvSpPr txBox="1"/>
          <p:nvPr/>
        </p:nvSpPr>
        <p:spPr>
          <a:xfrm>
            <a:off x="822960" y="4927605"/>
            <a:ext cx="10515600" cy="340350"/>
          </a:xfrm>
          <a:prstGeom prst="rect">
            <a:avLst/>
          </a:prstGeom>
          <a:noFill/>
        </p:spPr>
        <p:txBody>
          <a:bodyPr wrap="square" lIns="18288" tIns="18288" rIns="18288" bIns="18288" anchor="ctr">
            <a:spAutoFit/>
          </a:bodyPr>
          <a:lstStyle/>
          <a:p>
            <a:pPr algn="ctr">
              <a:lnSpc>
                <a:spcPct val="105000"/>
              </a:lnSpc>
            </a:pPr>
            <a:r>
              <a:rPr sz="2000" b="1" i="0" dirty="0">
                <a:solidFill>
                  <a:srgbClr val="24477D"/>
                </a:solidFill>
                <a:latin typeface="微软雅黑" panose="020B0503020204020204" pitchFamily="34" charset="-122"/>
              </a:rPr>
              <a:t>关键变化：模型不只“</a:t>
            </a:r>
            <a:r>
              <a:rPr sz="2000" b="1" i="0" dirty="0" err="1">
                <a:solidFill>
                  <a:srgbClr val="24477D"/>
                </a:solidFill>
                <a:latin typeface="微软雅黑" panose="020B0503020204020204" pitchFamily="34" charset="-122"/>
              </a:rPr>
              <a:t>回答文本</a:t>
            </a:r>
            <a:r>
              <a:rPr sz="2000" b="1" i="0" dirty="0">
                <a:solidFill>
                  <a:srgbClr val="24477D"/>
                </a:solidFill>
                <a:latin typeface="微软雅黑" panose="020B0503020204020204" pitchFamily="34" charset="-122"/>
              </a:rPr>
              <a:t>”，</a:t>
            </a:r>
            <a:r>
              <a:rPr sz="2000" b="1" i="0" dirty="0" err="1">
                <a:solidFill>
                  <a:srgbClr val="24477D"/>
                </a:solidFill>
                <a:latin typeface="微软雅黑" panose="020B0503020204020204" pitchFamily="34" charset="-122"/>
              </a:rPr>
              <a:t>而是把动作也当作一种可生成的序列</a:t>
            </a:r>
            <a:r>
              <a:rPr sz="2000" b="1" i="0" dirty="0">
                <a:solidFill>
                  <a:srgbClr val="24477D"/>
                </a:solidFill>
                <a:latin typeface="微软雅黑" panose="020B0503020204020204" pitchFamily="34" charset="-122"/>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16</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7.1 </a:t>
            </a:r>
            <a:r>
              <a:rPr sz="3500" b="1" i="0" dirty="0" err="1">
                <a:solidFill>
                  <a:srgbClr val="24477D"/>
                </a:solidFill>
                <a:latin typeface="微软雅黑" panose="020B0503020204020204" pitchFamily="34" charset="-122"/>
              </a:rPr>
              <a:t>小结</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804672" y="169164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04672" y="1691640"/>
            <a:ext cx="64008" cy="8686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33271" y="180136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输入</a:t>
            </a:r>
            <a:endParaRPr sz="1800" b="1" i="0" dirty="0">
              <a:solidFill>
                <a:srgbClr val="31599B"/>
              </a:solidFill>
              <a:latin typeface="微软雅黑" panose="020B0503020204020204" pitchFamily="34" charset="-122"/>
            </a:endParaRPr>
          </a:p>
        </p:txBody>
      </p:sp>
      <p:sp>
        <p:nvSpPr>
          <p:cNvPr id="12" name="TextBox 11"/>
          <p:cNvSpPr txBox="1"/>
          <p:nvPr/>
        </p:nvSpPr>
        <p:spPr>
          <a:xfrm>
            <a:off x="2880360" y="1783080"/>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视觉、语言与机器人状态共同定义当前任务条件。</a:t>
            </a:r>
          </a:p>
        </p:txBody>
      </p:sp>
      <p:sp>
        <p:nvSpPr>
          <p:cNvPr id="13" name="Rounded Rectangle 12"/>
          <p:cNvSpPr/>
          <p:nvPr/>
        </p:nvSpPr>
        <p:spPr>
          <a:xfrm>
            <a:off x="804672" y="278892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804672" y="2788920"/>
            <a:ext cx="64008" cy="8686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1033271" y="289864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模型</a:t>
            </a:r>
            <a:endParaRPr sz="1800" b="1" i="0" dirty="0">
              <a:solidFill>
                <a:srgbClr val="2F8E72"/>
              </a:solidFill>
              <a:latin typeface="微软雅黑" panose="020B0503020204020204" pitchFamily="34" charset="-122"/>
            </a:endParaRPr>
          </a:p>
        </p:txBody>
      </p:sp>
      <p:sp>
        <p:nvSpPr>
          <p:cNvPr id="16" name="TextBox 15"/>
          <p:cNvSpPr txBox="1"/>
          <p:nvPr/>
        </p:nvSpPr>
        <p:spPr>
          <a:xfrm>
            <a:off x="2880360" y="2880360"/>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通过多模态融合和端到端学习形成统一策略。</a:t>
            </a:r>
          </a:p>
        </p:txBody>
      </p:sp>
      <p:sp>
        <p:nvSpPr>
          <p:cNvPr id="17" name="Rounded Rectangle 16"/>
          <p:cNvSpPr/>
          <p:nvPr/>
        </p:nvSpPr>
        <p:spPr>
          <a:xfrm>
            <a:off x="804672" y="388620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804672" y="3886200"/>
            <a:ext cx="64008" cy="8686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1033271" y="399592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输出</a:t>
            </a:r>
            <a:endParaRPr sz="1800" b="1" i="0" dirty="0">
              <a:solidFill>
                <a:srgbClr val="C58A24"/>
              </a:solidFill>
              <a:latin typeface="微软雅黑" panose="020B0503020204020204" pitchFamily="34" charset="-122"/>
            </a:endParaRPr>
          </a:p>
        </p:txBody>
      </p:sp>
      <p:sp>
        <p:nvSpPr>
          <p:cNvPr id="20" name="TextBox 19"/>
          <p:cNvSpPr txBox="1"/>
          <p:nvPr/>
        </p:nvSpPr>
        <p:spPr>
          <a:xfrm>
            <a:off x="2880360" y="3977639"/>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预测离散动作、连续控制量或未来多步动作序列。</a:t>
            </a:r>
          </a:p>
        </p:txBody>
      </p:sp>
      <p:sp>
        <p:nvSpPr>
          <p:cNvPr id="21" name="Rounded Rectangle 20"/>
          <p:cNvSpPr/>
          <p:nvPr/>
        </p:nvSpPr>
        <p:spPr>
          <a:xfrm>
            <a:off x="804672" y="498348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804672" y="4983480"/>
            <a:ext cx="64008" cy="86868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1033271" y="509320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闭环</a:t>
            </a:r>
            <a:endParaRPr sz="1800" b="1" i="0" dirty="0">
              <a:solidFill>
                <a:srgbClr val="C63F45"/>
              </a:solidFill>
              <a:latin typeface="微软雅黑" panose="020B0503020204020204" pitchFamily="34" charset="-122"/>
            </a:endParaRPr>
          </a:p>
        </p:txBody>
      </p:sp>
      <p:sp>
        <p:nvSpPr>
          <p:cNvPr id="24" name="TextBox 23"/>
          <p:cNvSpPr txBox="1"/>
          <p:nvPr/>
        </p:nvSpPr>
        <p:spPr>
          <a:xfrm>
            <a:off x="2880360" y="5074920"/>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执行后重新感知环境，使策略在真实世界中持续修正。</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8595360" y="320040"/>
            <a:ext cx="2743200" cy="188641"/>
          </a:xfrm>
          <a:prstGeom prst="rect">
            <a:avLst/>
          </a:prstGeom>
          <a:noFill/>
        </p:spPr>
        <p:txBody>
          <a:bodyPr wrap="square" lIns="18288" tIns="18288" rIns="18288" bIns="18288" anchor="t">
            <a:spAutoFit/>
          </a:bodyPr>
          <a:lstStyle/>
          <a:p>
            <a:pPr algn="r">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1307592" y="1474502"/>
            <a:ext cx="1691640" cy="1129220"/>
          </a:xfrm>
          <a:prstGeom prst="rect">
            <a:avLst/>
          </a:prstGeom>
          <a:noFill/>
        </p:spPr>
        <p:txBody>
          <a:bodyPr wrap="square" lIns="18288" tIns="18288" rIns="18288" bIns="18288" anchor="ctr">
            <a:spAutoFit/>
          </a:bodyPr>
          <a:lstStyle/>
          <a:p>
            <a:pPr algn="l">
              <a:lnSpc>
                <a:spcPct val="105000"/>
              </a:lnSpc>
            </a:pPr>
            <a:r>
              <a:rPr sz="7200" b="1" i="0" dirty="0">
                <a:solidFill>
                  <a:srgbClr val="31599B"/>
                </a:solidFill>
                <a:latin typeface="微软雅黑" panose="020B0503020204020204" pitchFamily="34" charset="-122"/>
              </a:rPr>
              <a:t>02</a:t>
            </a:r>
          </a:p>
        </p:txBody>
      </p:sp>
      <p:sp>
        <p:nvSpPr>
          <p:cNvPr id="6" name="TextBox 5"/>
          <p:cNvSpPr txBox="1"/>
          <p:nvPr/>
        </p:nvSpPr>
        <p:spPr>
          <a:xfrm>
            <a:off x="3246120" y="1752259"/>
            <a:ext cx="7818120" cy="628570"/>
          </a:xfrm>
          <a:prstGeom prst="rect">
            <a:avLst/>
          </a:prstGeom>
          <a:noFill/>
        </p:spPr>
        <p:txBody>
          <a:bodyPr wrap="square" lIns="18288" tIns="18288" rIns="18288" bIns="18288" anchor="ctr">
            <a:spAutoFit/>
          </a:bodyPr>
          <a:lstStyle/>
          <a:p>
            <a:pPr algn="l">
              <a:lnSpc>
                <a:spcPct val="105000"/>
              </a:lnSpc>
            </a:pPr>
            <a:r>
              <a:rPr sz="3900" b="1" i="0" dirty="0" err="1">
                <a:solidFill>
                  <a:srgbClr val="24477D"/>
                </a:solidFill>
                <a:latin typeface="微软雅黑" panose="020B0503020204020204" pitchFamily="34" charset="-122"/>
              </a:rPr>
              <a:t>视觉抓取</a:t>
            </a:r>
            <a:endParaRPr sz="3900" b="1" i="0" dirty="0">
              <a:solidFill>
                <a:srgbClr val="24477D"/>
              </a:solidFill>
              <a:latin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18</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7.2 </a:t>
            </a:r>
            <a:r>
              <a:rPr sz="3500" b="1" i="0" dirty="0" err="1">
                <a:solidFill>
                  <a:srgbClr val="24477D"/>
                </a:solidFill>
                <a:latin typeface="微软雅黑" panose="020B0503020204020204" pitchFamily="34" charset="-122"/>
              </a:rPr>
              <a:t>视觉抓取：VLA</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的动作基础</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828800"/>
            <a:ext cx="10424160" cy="2228880"/>
          </a:xfrm>
          <a:prstGeom prst="rect">
            <a:avLst/>
          </a:prstGeom>
          <a:noFill/>
        </p:spPr>
        <p:txBody>
          <a:bodyPr wrap="square" lIns="18288" tIns="18288" rIns="18288" bIns="18288">
            <a:spAutoFit/>
          </a:bodyPr>
          <a:lstStyle/>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视觉抓取（Visual</a:t>
            </a:r>
            <a:r>
              <a:rPr sz="2400" dirty="0">
                <a:solidFill>
                  <a:srgbClr val="222833"/>
                </a:solidFill>
                <a:latin typeface="微软雅黑"/>
              </a:rPr>
              <a:t> </a:t>
            </a:r>
            <a:r>
              <a:rPr sz="2400" dirty="0" err="1">
                <a:solidFill>
                  <a:srgbClr val="222833"/>
                </a:solidFill>
                <a:latin typeface="微软雅黑"/>
              </a:rPr>
              <a:t>Grasping）指机器人通过相机采集图像、识别物体并执行抓取动作</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它把静态视觉观测转化为动态动作序列，是从“看见”走向“作用于环境”的关键一步</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在 VLA </a:t>
            </a:r>
            <a:r>
              <a:rPr sz="2400" dirty="0" err="1">
                <a:solidFill>
                  <a:srgbClr val="222833"/>
                </a:solidFill>
                <a:latin typeface="微软雅黑"/>
              </a:rPr>
              <a:t>中，视觉抓取提供最典型的“感知→决策→行动”具身任务链</a:t>
            </a:r>
            <a:endParaRPr sz="2400" dirty="0">
              <a:solidFill>
                <a:srgbClr val="222833"/>
              </a:solidFill>
              <a:latin typeface="微软雅黑"/>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19</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7.2.1 </a:t>
            </a:r>
            <a:r>
              <a:rPr sz="3500" b="1" i="0" dirty="0" err="1">
                <a:solidFill>
                  <a:srgbClr val="24477D"/>
                </a:solidFill>
                <a:latin typeface="微软雅黑" panose="020B0503020204020204" pitchFamily="34" charset="-122"/>
              </a:rPr>
              <a:t>基本原理</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664208"/>
            <a:ext cx="5166360" cy="4160520"/>
          </a:xfrm>
          <a:prstGeom prst="roundRect">
            <a:avLst>
              <a:gd name="adj" fmla="val 183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49808" y="1664208"/>
            <a:ext cx="64008" cy="41605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60120" y="1810512"/>
            <a:ext cx="478231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传统抓取</a:t>
            </a:r>
            <a:endParaRPr sz="2000" b="1" i="0" dirty="0">
              <a:solidFill>
                <a:srgbClr val="31599B"/>
              </a:solidFill>
              <a:latin typeface="微软雅黑" panose="020B0503020204020204" pitchFamily="34" charset="-122"/>
            </a:endParaRPr>
          </a:p>
        </p:txBody>
      </p:sp>
      <p:sp>
        <p:nvSpPr>
          <p:cNvPr id="12" name="TextBox 11"/>
          <p:cNvSpPr txBox="1"/>
          <p:nvPr/>
        </p:nvSpPr>
        <p:spPr>
          <a:xfrm>
            <a:off x="960120" y="2322576"/>
            <a:ext cx="4782312" cy="335584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依赖人工编程的固定路径。</a:t>
            </a:r>
          </a:p>
          <a:p>
            <a:pPr algn="l">
              <a:lnSpc>
                <a:spcPct val="108000"/>
              </a:lnSpc>
            </a:pPr>
            <a:endParaRPr sz="2000" b="0" i="0">
              <a:solidFill>
                <a:srgbClr val="222833"/>
              </a:solidFill>
              <a:latin typeface="微软雅黑"/>
            </a:endParaRPr>
          </a:p>
          <a:p>
            <a:pPr algn="l">
              <a:lnSpc>
                <a:spcPct val="108000"/>
              </a:lnSpc>
            </a:pPr>
            <a:r>
              <a:rPr sz="2000" b="0" i="0">
                <a:solidFill>
                  <a:srgbClr val="222833"/>
                </a:solidFill>
                <a:latin typeface="微软雅黑"/>
              </a:rPr>
              <a:t>当物体位置变化、出现新物体或环境发生扰动时，预设路径容易失效。</a:t>
            </a:r>
          </a:p>
        </p:txBody>
      </p:sp>
      <p:sp>
        <p:nvSpPr>
          <p:cNvPr id="13" name="Rounded Rectangle 12"/>
          <p:cNvSpPr/>
          <p:nvPr/>
        </p:nvSpPr>
        <p:spPr>
          <a:xfrm>
            <a:off x="6263640" y="1664208"/>
            <a:ext cx="5166360" cy="4160520"/>
          </a:xfrm>
          <a:prstGeom prst="roundRect">
            <a:avLst>
              <a:gd name="adj" fmla="val 247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263640" y="1664208"/>
            <a:ext cx="64008" cy="41605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473952" y="1810512"/>
            <a:ext cx="478231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视觉抓取</a:t>
            </a:r>
            <a:endParaRPr sz="2000" b="1" i="0" dirty="0">
              <a:solidFill>
                <a:srgbClr val="2F8E72"/>
              </a:solidFill>
              <a:latin typeface="微软雅黑" panose="020B0503020204020204" pitchFamily="34" charset="-122"/>
            </a:endParaRPr>
          </a:p>
        </p:txBody>
      </p:sp>
      <p:sp>
        <p:nvSpPr>
          <p:cNvPr id="16" name="TextBox 15"/>
          <p:cNvSpPr txBox="1"/>
          <p:nvPr/>
        </p:nvSpPr>
        <p:spPr>
          <a:xfrm>
            <a:off x="6473952" y="2322576"/>
            <a:ext cx="4782312" cy="335584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模拟人类“手眼协调”。</a:t>
            </a:r>
          </a:p>
          <a:p>
            <a:pPr algn="l">
              <a:lnSpc>
                <a:spcPct val="108000"/>
              </a:lnSpc>
            </a:pPr>
            <a:endParaRPr sz="2000" b="0" i="0">
              <a:solidFill>
                <a:srgbClr val="222833"/>
              </a:solidFill>
              <a:latin typeface="微软雅黑"/>
            </a:endParaRPr>
          </a:p>
          <a:p>
            <a:pPr algn="l">
              <a:lnSpc>
                <a:spcPct val="108000"/>
              </a:lnSpc>
            </a:pPr>
            <a:r>
              <a:rPr sz="2000" b="0" i="0">
                <a:solidFill>
                  <a:srgbClr val="222833"/>
                </a:solidFill>
                <a:latin typeface="微软雅黑"/>
              </a:rPr>
              <a:t>机器人持续观察环境、判断如何抓取、执行动作，并依据新的观测调整。</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20</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视觉抓取的三个主要阶段</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874519"/>
            <a:ext cx="3416808" cy="2331720"/>
          </a:xfrm>
          <a:prstGeom prst="roundRect">
            <a:avLst>
              <a:gd name="adj" fmla="val 258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874519"/>
            <a:ext cx="64008" cy="2331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2020824"/>
            <a:ext cx="3032760" cy="310021"/>
          </a:xfrm>
          <a:prstGeom prst="rect">
            <a:avLst/>
          </a:prstGeom>
          <a:noFill/>
        </p:spPr>
        <p:txBody>
          <a:bodyPr wrap="square" lIns="18288" tIns="18288" rIns="18288" bIns="18288" anchor="t">
            <a:spAutoFit/>
          </a:bodyPr>
          <a:lstStyle/>
          <a:p>
            <a:pPr algn="l">
              <a:lnSpc>
                <a:spcPct val="105000"/>
              </a:lnSpc>
            </a:pPr>
            <a:r>
              <a:rPr sz="1800" b="1" i="0" dirty="0">
                <a:solidFill>
                  <a:srgbClr val="31599B"/>
                </a:solidFill>
                <a:latin typeface="微软雅黑" panose="020B0503020204020204" pitchFamily="34" charset="-122"/>
              </a:rPr>
              <a:t>1 </a:t>
            </a:r>
            <a:r>
              <a:rPr sz="1800" b="1" i="0" dirty="0" err="1">
                <a:solidFill>
                  <a:srgbClr val="31599B"/>
                </a:solidFill>
                <a:latin typeface="微软雅黑" panose="020B0503020204020204" pitchFamily="34" charset="-122"/>
              </a:rPr>
              <a:t>感知阶段</a:t>
            </a:r>
            <a:endParaRPr sz="1800" b="1" i="0" dirty="0">
              <a:solidFill>
                <a:srgbClr val="31599B"/>
              </a:solidFill>
              <a:latin typeface="微软雅黑" panose="020B0503020204020204" pitchFamily="34" charset="-122"/>
            </a:endParaRPr>
          </a:p>
        </p:txBody>
      </p:sp>
      <p:sp>
        <p:nvSpPr>
          <p:cNvPr id="12" name="TextBox 11"/>
          <p:cNvSpPr txBox="1"/>
          <p:nvPr/>
        </p:nvSpPr>
        <p:spPr>
          <a:xfrm>
            <a:off x="923544" y="2532887"/>
            <a:ext cx="303276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RGB-D 相机获得彩色图像与深度信息，形成图像观测 I。</a:t>
            </a:r>
          </a:p>
        </p:txBody>
      </p:sp>
      <p:sp>
        <p:nvSpPr>
          <p:cNvPr id="13" name="TextBox 12"/>
          <p:cNvSpPr txBox="1"/>
          <p:nvPr/>
        </p:nvSpPr>
        <p:spPr>
          <a:xfrm>
            <a:off x="4121427" y="270416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4" name="Rounded Rectangle 13"/>
          <p:cNvSpPr/>
          <p:nvPr/>
        </p:nvSpPr>
        <p:spPr>
          <a:xfrm>
            <a:off x="4294632" y="1874519"/>
            <a:ext cx="3416808" cy="2331720"/>
          </a:xfrm>
          <a:prstGeom prst="roundRect">
            <a:avLst>
              <a:gd name="adj" fmla="val 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4294632" y="1874519"/>
            <a:ext cx="64008" cy="2331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4504944" y="2020824"/>
            <a:ext cx="3032760" cy="310021"/>
          </a:xfrm>
          <a:prstGeom prst="rect">
            <a:avLst/>
          </a:prstGeom>
          <a:noFill/>
        </p:spPr>
        <p:txBody>
          <a:bodyPr wrap="square" lIns="18288" tIns="18288" rIns="18288" bIns="18288" anchor="t">
            <a:spAutoFit/>
          </a:bodyPr>
          <a:lstStyle/>
          <a:p>
            <a:pPr algn="l">
              <a:lnSpc>
                <a:spcPct val="105000"/>
              </a:lnSpc>
            </a:pPr>
            <a:r>
              <a:rPr sz="1800" b="1" i="0" dirty="0">
                <a:solidFill>
                  <a:srgbClr val="2F8E72"/>
                </a:solidFill>
                <a:latin typeface="微软雅黑" panose="020B0503020204020204" pitchFamily="34" charset="-122"/>
              </a:rPr>
              <a:t>2 </a:t>
            </a:r>
            <a:r>
              <a:rPr sz="1800" b="1" i="0" dirty="0" err="1">
                <a:solidFill>
                  <a:srgbClr val="2F8E72"/>
                </a:solidFill>
                <a:latin typeface="微软雅黑" panose="020B0503020204020204" pitchFamily="34" charset="-122"/>
              </a:rPr>
              <a:t>决策阶段</a:t>
            </a:r>
            <a:endParaRPr sz="1800" b="1" i="0" dirty="0">
              <a:solidFill>
                <a:srgbClr val="2F8E72"/>
              </a:solidFill>
              <a:latin typeface="微软雅黑" panose="020B0503020204020204" pitchFamily="34" charset="-122"/>
            </a:endParaRPr>
          </a:p>
        </p:txBody>
      </p:sp>
      <p:sp>
        <p:nvSpPr>
          <p:cNvPr id="17" name="TextBox 16"/>
          <p:cNvSpPr txBox="1"/>
          <p:nvPr/>
        </p:nvSpPr>
        <p:spPr>
          <a:xfrm>
            <a:off x="4504944" y="2532887"/>
            <a:ext cx="303276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判断“是什么、在哪里、怎么抓”，确定位置、方向与抓取姿态。</a:t>
            </a:r>
          </a:p>
        </p:txBody>
      </p:sp>
      <p:sp>
        <p:nvSpPr>
          <p:cNvPr id="18" name="TextBox 17"/>
          <p:cNvSpPr txBox="1"/>
          <p:nvPr/>
        </p:nvSpPr>
        <p:spPr>
          <a:xfrm>
            <a:off x="7698389" y="270416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9" name="Rounded Rectangle 18"/>
          <p:cNvSpPr/>
          <p:nvPr/>
        </p:nvSpPr>
        <p:spPr>
          <a:xfrm>
            <a:off x="7876032" y="1874519"/>
            <a:ext cx="3416808" cy="2331720"/>
          </a:xfrm>
          <a:prstGeom prst="roundRect">
            <a:avLst>
              <a:gd name="adj" fmla="val 86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Rectangle 19"/>
          <p:cNvSpPr/>
          <p:nvPr/>
        </p:nvSpPr>
        <p:spPr>
          <a:xfrm>
            <a:off x="7876032" y="1874519"/>
            <a:ext cx="64008" cy="2331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TextBox 20"/>
          <p:cNvSpPr txBox="1"/>
          <p:nvPr/>
        </p:nvSpPr>
        <p:spPr>
          <a:xfrm>
            <a:off x="8086344" y="2020824"/>
            <a:ext cx="3032760" cy="310021"/>
          </a:xfrm>
          <a:prstGeom prst="rect">
            <a:avLst/>
          </a:prstGeom>
          <a:noFill/>
        </p:spPr>
        <p:txBody>
          <a:bodyPr wrap="square" lIns="18288" tIns="18288" rIns="18288" bIns="18288" anchor="t">
            <a:spAutoFit/>
          </a:bodyPr>
          <a:lstStyle/>
          <a:p>
            <a:pPr algn="l">
              <a:lnSpc>
                <a:spcPct val="105000"/>
              </a:lnSpc>
            </a:pPr>
            <a:r>
              <a:rPr sz="1800" b="1" i="0" dirty="0">
                <a:solidFill>
                  <a:srgbClr val="C58A24"/>
                </a:solidFill>
                <a:latin typeface="微软雅黑" panose="020B0503020204020204" pitchFamily="34" charset="-122"/>
              </a:rPr>
              <a:t>3 </a:t>
            </a:r>
            <a:r>
              <a:rPr sz="1800" b="1" i="0" dirty="0" err="1">
                <a:solidFill>
                  <a:srgbClr val="C58A24"/>
                </a:solidFill>
                <a:latin typeface="微软雅黑" panose="020B0503020204020204" pitchFamily="34" charset="-122"/>
              </a:rPr>
              <a:t>行动阶段</a:t>
            </a:r>
            <a:endParaRPr sz="1800" b="1" i="0" dirty="0">
              <a:solidFill>
                <a:srgbClr val="C58A24"/>
              </a:solidFill>
              <a:latin typeface="微软雅黑" panose="020B0503020204020204" pitchFamily="34" charset="-122"/>
            </a:endParaRPr>
          </a:p>
        </p:txBody>
      </p:sp>
      <p:sp>
        <p:nvSpPr>
          <p:cNvPr id="22" name="TextBox 21"/>
          <p:cNvSpPr txBox="1"/>
          <p:nvPr/>
        </p:nvSpPr>
        <p:spPr>
          <a:xfrm>
            <a:off x="8086344" y="2532887"/>
            <a:ext cx="303276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把抓取决策转换为关节角度或速度指令并执行。</a:t>
            </a:r>
          </a:p>
        </p:txBody>
      </p:sp>
      <p:sp>
        <p:nvSpPr>
          <p:cNvPr id="23" name="TextBox 22"/>
          <p:cNvSpPr txBox="1"/>
          <p:nvPr/>
        </p:nvSpPr>
        <p:spPr>
          <a:xfrm>
            <a:off x="822960" y="4927605"/>
            <a:ext cx="10515600" cy="340350"/>
          </a:xfrm>
          <a:prstGeom prst="rect">
            <a:avLst/>
          </a:prstGeom>
          <a:noFill/>
        </p:spPr>
        <p:txBody>
          <a:bodyPr wrap="square" lIns="18288" tIns="18288" rIns="18288" bIns="18288" anchor="ctr">
            <a:spAutoFit/>
          </a:bodyPr>
          <a:lstStyle/>
          <a:p>
            <a:pPr algn="ctr">
              <a:lnSpc>
                <a:spcPct val="105000"/>
              </a:lnSpc>
            </a:pPr>
            <a:r>
              <a:rPr sz="2000" b="1" i="0" dirty="0" err="1">
                <a:solidFill>
                  <a:srgbClr val="24477D"/>
                </a:solidFill>
                <a:latin typeface="微软雅黑" panose="020B0503020204020204" pitchFamily="34" charset="-122"/>
              </a:rPr>
              <a:t>视觉抓取把“看”转化为可以驱动机械臂的具体控制命令</a:t>
            </a:r>
            <a:r>
              <a:rPr sz="2000" b="1" i="0" dirty="0">
                <a:solidFill>
                  <a:srgbClr val="24477D"/>
                </a:solidFill>
                <a:latin typeface="微软雅黑" panose="020B0503020204020204" pitchFamily="34" charset="-122"/>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21</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感知阶段：RGB-D</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让机器人同时看到外观与距离</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822960" y="1737360"/>
            <a:ext cx="4983480" cy="3611880"/>
          </a:xfrm>
          <a:prstGeom prst="roundRect">
            <a:avLst>
              <a:gd name="adj" fmla="val 192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22960" y="1737360"/>
            <a:ext cx="64008" cy="36118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33272" y="1883664"/>
            <a:ext cx="4599432" cy="340350"/>
          </a:xfrm>
          <a:prstGeom prst="rect">
            <a:avLst/>
          </a:prstGeom>
          <a:noFill/>
        </p:spPr>
        <p:txBody>
          <a:bodyPr wrap="square" lIns="18288" tIns="18288" rIns="18288" bIns="18288" anchor="t">
            <a:spAutoFit/>
          </a:bodyPr>
          <a:lstStyle/>
          <a:p>
            <a:pPr algn="l">
              <a:lnSpc>
                <a:spcPct val="105000"/>
              </a:lnSpc>
            </a:pPr>
            <a:r>
              <a:rPr sz="2000" b="1" i="0" dirty="0">
                <a:solidFill>
                  <a:srgbClr val="31599B"/>
                </a:solidFill>
                <a:latin typeface="微软雅黑" panose="020B0503020204020204" pitchFamily="34" charset="-122"/>
              </a:rPr>
              <a:t>RGB </a:t>
            </a:r>
            <a:r>
              <a:rPr sz="2000" b="1" i="0" dirty="0" err="1">
                <a:solidFill>
                  <a:srgbClr val="31599B"/>
                </a:solidFill>
                <a:latin typeface="微软雅黑" panose="020B0503020204020204" pitchFamily="34" charset="-122"/>
              </a:rPr>
              <a:t>图像</a:t>
            </a:r>
            <a:endParaRPr sz="2000" b="1" i="0" dirty="0">
              <a:solidFill>
                <a:srgbClr val="31599B"/>
              </a:solidFill>
              <a:latin typeface="微软雅黑" panose="020B0503020204020204" pitchFamily="34" charset="-122"/>
            </a:endParaRPr>
          </a:p>
        </p:txBody>
      </p:sp>
      <p:sp>
        <p:nvSpPr>
          <p:cNvPr id="12" name="TextBox 11"/>
          <p:cNvSpPr txBox="1"/>
          <p:nvPr/>
        </p:nvSpPr>
        <p:spPr>
          <a:xfrm>
            <a:off x="1033272" y="2395728"/>
            <a:ext cx="4599432" cy="280720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提供颜色、纹理和语义信息，适合物体检测与类别识别。</a:t>
            </a:r>
          </a:p>
        </p:txBody>
      </p:sp>
      <p:sp>
        <p:nvSpPr>
          <p:cNvPr id="13" name="Rounded Rectangle 12"/>
          <p:cNvSpPr/>
          <p:nvPr/>
        </p:nvSpPr>
        <p:spPr>
          <a:xfrm>
            <a:off x="6172200" y="1737360"/>
            <a:ext cx="4983480" cy="3611880"/>
          </a:xfrm>
          <a:prstGeom prst="roundRect">
            <a:avLst>
              <a:gd name="adj" fmla="val 192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172200" y="1737360"/>
            <a:ext cx="64008" cy="36118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382512" y="1883664"/>
            <a:ext cx="4599432" cy="340350"/>
          </a:xfrm>
          <a:prstGeom prst="rect">
            <a:avLst/>
          </a:prstGeom>
          <a:noFill/>
        </p:spPr>
        <p:txBody>
          <a:bodyPr wrap="square" lIns="18288" tIns="18288" rIns="18288" bIns="18288" anchor="t">
            <a:spAutoFit/>
          </a:bodyPr>
          <a:lstStyle/>
          <a:p>
            <a:pPr algn="l">
              <a:lnSpc>
                <a:spcPct val="105000"/>
              </a:lnSpc>
            </a:pPr>
            <a:r>
              <a:rPr sz="2000" b="1" i="0" dirty="0">
                <a:solidFill>
                  <a:srgbClr val="2F8E72"/>
                </a:solidFill>
                <a:latin typeface="微软雅黑" panose="020B0503020204020204" pitchFamily="34" charset="-122"/>
              </a:rPr>
              <a:t>Depth </a:t>
            </a:r>
            <a:r>
              <a:rPr sz="2000" b="1" i="0" dirty="0" err="1">
                <a:solidFill>
                  <a:srgbClr val="2F8E72"/>
                </a:solidFill>
                <a:latin typeface="微软雅黑" panose="020B0503020204020204" pitchFamily="34" charset="-122"/>
              </a:rPr>
              <a:t>深度</a:t>
            </a:r>
            <a:endParaRPr sz="2000" b="1" i="0" dirty="0">
              <a:solidFill>
                <a:srgbClr val="2F8E72"/>
              </a:solidFill>
              <a:latin typeface="微软雅黑" panose="020B0503020204020204" pitchFamily="34" charset="-122"/>
            </a:endParaRPr>
          </a:p>
        </p:txBody>
      </p:sp>
      <p:sp>
        <p:nvSpPr>
          <p:cNvPr id="16" name="TextBox 15"/>
          <p:cNvSpPr txBox="1"/>
          <p:nvPr/>
        </p:nvSpPr>
        <p:spPr>
          <a:xfrm>
            <a:off x="6382512" y="2395728"/>
            <a:ext cx="4599432" cy="280720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提供像素到相机的距离信息，便于三维定位、姿态估计和抓取点计算。</a:t>
            </a:r>
          </a:p>
        </p:txBody>
      </p:sp>
      <p:sp>
        <p:nvSpPr>
          <p:cNvPr id="17" name="TextBox 16"/>
          <p:cNvSpPr txBox="1"/>
          <p:nvPr/>
        </p:nvSpPr>
        <p:spPr>
          <a:xfrm>
            <a:off x="914400" y="5541264"/>
            <a:ext cx="1014984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联合</a:t>
            </a:r>
            <a:r>
              <a:rPr sz="1900" b="1" i="0" dirty="0">
                <a:solidFill>
                  <a:srgbClr val="24477D"/>
                </a:solidFill>
                <a:latin typeface="微软雅黑" panose="020B0503020204020204" pitchFamily="34" charset="-122"/>
              </a:rPr>
              <a:t> RGB + </a:t>
            </a:r>
            <a:r>
              <a:rPr sz="1900" b="1" i="0" dirty="0" err="1">
                <a:solidFill>
                  <a:srgbClr val="24477D"/>
                </a:solidFill>
                <a:latin typeface="微软雅黑" panose="020B0503020204020204" pitchFamily="34" charset="-122"/>
              </a:rPr>
              <a:t>深度，可把“图像中的物体”进一步变成“空间中的可抓取对象</a:t>
            </a:r>
            <a:r>
              <a:rPr sz="1900" b="1" i="0" dirty="0">
                <a:solidFill>
                  <a:srgbClr val="24477D"/>
                </a:solidFill>
                <a:latin typeface="微软雅黑" panose="020B0503020204020204" pitchFamily="34" charset="-122"/>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22</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决策阶段：从“物体在哪”到“机械爪怎么放</a:t>
            </a:r>
            <a:r>
              <a:rPr sz="3500" b="1" i="0" dirty="0">
                <a:solidFill>
                  <a:srgbClr val="24477D"/>
                </a:solidFill>
                <a:latin typeface="微软雅黑" panose="020B0503020204020204" pitchFamily="34" charset="-122"/>
              </a:rPr>
              <a:t>”</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749808" y="1691640"/>
            <a:ext cx="6492240" cy="3931920"/>
          </a:xfrm>
          <a:prstGeom prst="rect">
            <a:avLst/>
          </a:prstGeom>
          <a:noFill/>
        </p:spPr>
        <p:txBody>
          <a:bodyPr wrap="square" lIns="18288" tIns="18288" rIns="18288" bIns="18288">
            <a:spAutoFit/>
          </a:bodyPr>
          <a:lstStyle/>
          <a:p>
            <a:pPr algn="l">
              <a:lnSpc>
                <a:spcPct val="112000"/>
              </a:lnSpc>
              <a:spcAft>
                <a:spcPts val="576"/>
              </a:spcAft>
            </a:pPr>
            <a:r>
              <a:rPr sz="2200">
                <a:solidFill>
                  <a:srgbClr val="222833"/>
                </a:solidFill>
                <a:latin typeface="微软雅黑"/>
              </a:rPr>
              <a:t>• 先识别物体类别与位置，再估计物体在三维空间中的方向与姿态。</a:t>
            </a:r>
          </a:p>
          <a:p>
            <a:pPr algn="l">
              <a:lnSpc>
                <a:spcPct val="112000"/>
              </a:lnSpc>
              <a:spcAft>
                <a:spcPts val="576"/>
              </a:spcAft>
            </a:pPr>
            <a:r>
              <a:rPr sz="2200">
                <a:solidFill>
                  <a:srgbClr val="222833"/>
                </a:solidFill>
                <a:latin typeface="微软雅黑"/>
              </a:rPr>
              <a:t>• 根据物体几何、可达性与稳定性，生成若干候选抓取姿态。</a:t>
            </a:r>
          </a:p>
          <a:p>
            <a:pPr algn="l">
              <a:lnSpc>
                <a:spcPct val="112000"/>
              </a:lnSpc>
              <a:spcAft>
                <a:spcPts val="576"/>
              </a:spcAft>
            </a:pPr>
            <a:r>
              <a:rPr sz="2200">
                <a:solidFill>
                  <a:srgbClr val="222833"/>
                </a:solidFill>
                <a:latin typeface="微软雅黑"/>
              </a:rPr>
              <a:t>• 用学习得到的评分函数评价候选方案，选择最稳定、最安全的抓取。</a:t>
            </a:r>
          </a:p>
        </p:txBody>
      </p:sp>
      <p:sp>
        <p:nvSpPr>
          <p:cNvPr id="10" name="Rounded Rectangle 9"/>
          <p:cNvSpPr/>
          <p:nvPr/>
        </p:nvSpPr>
        <p:spPr>
          <a:xfrm>
            <a:off x="7498079" y="1783080"/>
            <a:ext cx="3657600" cy="3429000"/>
          </a:xfrm>
          <a:prstGeom prst="roundRect">
            <a:avLst>
              <a:gd name="adj" fmla="val 2816"/>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Rectangle 10"/>
          <p:cNvSpPr/>
          <p:nvPr/>
        </p:nvSpPr>
        <p:spPr>
          <a:xfrm>
            <a:off x="7498079" y="1783080"/>
            <a:ext cx="64008" cy="34290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7708392" y="1929384"/>
            <a:ext cx="3273552"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抓取配置</a:t>
            </a:r>
            <a:r>
              <a:rPr sz="2000" b="1" i="0" dirty="0">
                <a:solidFill>
                  <a:srgbClr val="C58A24"/>
                </a:solidFill>
                <a:latin typeface="微软雅黑" panose="020B0503020204020204" pitchFamily="34" charset="-122"/>
              </a:rPr>
              <a:t> g</a:t>
            </a:r>
          </a:p>
        </p:txBody>
      </p:sp>
      <p:sp>
        <p:nvSpPr>
          <p:cNvPr id="13" name="TextBox 12"/>
          <p:cNvSpPr txBox="1"/>
          <p:nvPr/>
        </p:nvSpPr>
        <p:spPr>
          <a:xfrm>
            <a:off x="7708392" y="2441448"/>
            <a:ext cx="3273552" cy="262432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一个抓取配置通常包含末端位置、方向、夹爪开合等信息。</a:t>
            </a:r>
          </a:p>
          <a:p>
            <a:pPr algn="l">
              <a:lnSpc>
                <a:spcPct val="108000"/>
              </a:lnSpc>
            </a:pPr>
            <a:endParaRPr sz="1800" b="0" i="0">
              <a:solidFill>
                <a:srgbClr val="222833"/>
              </a:solidFill>
              <a:latin typeface="微软雅黑"/>
            </a:endParaRPr>
          </a:p>
          <a:p>
            <a:pPr algn="l">
              <a:lnSpc>
                <a:spcPct val="108000"/>
              </a:lnSpc>
            </a:pPr>
            <a:r>
              <a:rPr sz="1800" b="0" i="0">
                <a:solidFill>
                  <a:srgbClr val="222833"/>
                </a:solidFill>
                <a:latin typeface="微软雅黑"/>
              </a:rPr>
              <a:t>目标：在所有可行配置中找到成功概率最高的方案。</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23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最优抓取配置：以成功概率为目标</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960120" y="1691640"/>
            <a:ext cx="10287000" cy="1417320"/>
          </a:xfrm>
          <a:prstGeom prst="roundRect">
            <a:avLst/>
          </a:prstGeom>
          <a:solidFill>
            <a:srgbClr val="EDF2FA"/>
          </a:solidFill>
          <a:ln>
            <a:solidFill>
              <a:srgbClr val="CB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ounded Rectangle 11"/>
          <p:cNvSpPr/>
          <p:nvPr/>
        </p:nvSpPr>
        <p:spPr>
          <a:xfrm>
            <a:off x="960120" y="3429000"/>
            <a:ext cx="10287000" cy="196596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1234440" y="3703320"/>
            <a:ext cx="9738360" cy="1417320"/>
          </a:xfrm>
          <a:prstGeom prst="rect">
            <a:avLst/>
          </a:prstGeom>
          <a:noFill/>
        </p:spPr>
        <p:txBody>
          <a:bodyPr wrap="square" lIns="18288" tIns="18288" rIns="18288" bIns="18288" anchor="t">
            <a:spAutoFit/>
          </a:bodyPr>
          <a:lstStyle/>
          <a:p>
            <a:pPr algn="l">
              <a:lnSpc>
                <a:spcPct val="112000"/>
              </a:lnSpc>
            </a:pPr>
            <a:r>
              <a:rPr lang="en-US" sz="2000" b="0" i="0" dirty="0" err="1">
                <a:solidFill>
                  <a:srgbClr val="222833"/>
                </a:solidFill>
                <a:latin typeface="微软雅黑"/>
              </a:rPr>
              <a:t>G</a:t>
            </a:r>
            <a:r>
              <a:rPr sz="2000" b="0" i="0" dirty="0" err="1">
                <a:solidFill>
                  <a:srgbClr val="222833"/>
                </a:solidFill>
                <a:latin typeface="微软雅黑"/>
              </a:rPr>
              <a:t>：所有可能的抓取姿态集合</a:t>
            </a:r>
            <a:r>
              <a:rPr sz="2000" b="0" i="0" dirty="0">
                <a:solidFill>
                  <a:srgbClr val="222833"/>
                </a:solidFill>
                <a:latin typeface="微软雅黑"/>
              </a:rPr>
              <a:t>。</a:t>
            </a:r>
          </a:p>
          <a:p>
            <a:pPr algn="l">
              <a:lnSpc>
                <a:spcPct val="112000"/>
              </a:lnSpc>
            </a:pPr>
            <a:r>
              <a:rPr sz="2000" b="0" i="0" dirty="0">
                <a:solidFill>
                  <a:srgbClr val="222833"/>
                </a:solidFill>
                <a:latin typeface="微软雅黑"/>
              </a:rPr>
              <a:t>Q(I, g)：</a:t>
            </a:r>
            <a:r>
              <a:rPr sz="2000" b="0" i="0" dirty="0" err="1">
                <a:solidFill>
                  <a:srgbClr val="222833"/>
                </a:solidFill>
                <a:latin typeface="微软雅黑"/>
              </a:rPr>
              <a:t>给定图像观测</a:t>
            </a:r>
            <a:r>
              <a:rPr sz="2000" b="0" i="0" dirty="0">
                <a:solidFill>
                  <a:srgbClr val="222833"/>
                </a:solidFill>
                <a:latin typeface="微软雅黑"/>
              </a:rPr>
              <a:t> I </a:t>
            </a:r>
            <a:r>
              <a:rPr sz="2000" b="0" i="0" dirty="0" err="1">
                <a:solidFill>
                  <a:srgbClr val="222833"/>
                </a:solidFill>
                <a:latin typeface="微软雅黑"/>
              </a:rPr>
              <a:t>时，抓取姿态</a:t>
            </a:r>
            <a:r>
              <a:rPr sz="2000" b="0" i="0" dirty="0">
                <a:solidFill>
                  <a:srgbClr val="222833"/>
                </a:solidFill>
                <a:latin typeface="微软雅黑"/>
              </a:rPr>
              <a:t> g </a:t>
            </a:r>
            <a:r>
              <a:rPr sz="2000" b="0" i="0" dirty="0" err="1">
                <a:solidFill>
                  <a:srgbClr val="222833"/>
                </a:solidFill>
                <a:latin typeface="微软雅黑"/>
              </a:rPr>
              <a:t>的成功概率评分函数，通常由神经网络从数据中学习得到</a:t>
            </a:r>
            <a:r>
              <a:rPr sz="2000" b="0" i="0" dirty="0">
                <a:solidFill>
                  <a:srgbClr val="222833"/>
                </a:solidFill>
                <a:latin typeface="微软雅黑"/>
              </a:rPr>
              <a:t>。</a:t>
            </a:r>
          </a:p>
        </p:txBody>
      </p:sp>
      <p:graphicFrame>
        <p:nvGraphicFramePr>
          <p:cNvPr id="15" name="对象 14">
            <a:extLst>
              <a:ext uri="{FF2B5EF4-FFF2-40B4-BE49-F238E27FC236}">
                <a16:creationId xmlns:a16="http://schemas.microsoft.com/office/drawing/2014/main" id="{5EB203DE-92BF-2FBA-287C-3D62625D8B30}"/>
              </a:ext>
            </a:extLst>
          </p:cNvPr>
          <p:cNvGraphicFramePr>
            <a:graphicFrameLocks noChangeAspect="1"/>
          </p:cNvGraphicFramePr>
          <p:nvPr>
            <p:extLst>
              <p:ext uri="{D42A27DB-BD31-4B8C-83A1-F6EECF244321}">
                <p14:modId xmlns:p14="http://schemas.microsoft.com/office/powerpoint/2010/main" val="338888734"/>
              </p:ext>
            </p:extLst>
          </p:nvPr>
        </p:nvGraphicFramePr>
        <p:xfrm>
          <a:off x="3799598" y="1948305"/>
          <a:ext cx="4018256" cy="945472"/>
        </p:xfrm>
        <a:graphic>
          <a:graphicData uri="http://schemas.openxmlformats.org/presentationml/2006/ole">
            <mc:AlternateContent xmlns:mc="http://schemas.openxmlformats.org/markup-compatibility/2006">
              <mc:Choice xmlns:v="urn:schemas-microsoft-com:vml" Requires="v">
                <p:oleObj name="Equation" r:id="rId2" imgW="1294838" imgH="304668" progId="Equation.DSMT4">
                  <p:embed/>
                </p:oleObj>
              </mc:Choice>
              <mc:Fallback>
                <p:oleObj name="Equation" r:id="rId2" imgW="1294838" imgH="304668"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9598" y="1948305"/>
                        <a:ext cx="4018256" cy="945472"/>
                      </a:xfrm>
                      <a:prstGeom prst="rect">
                        <a:avLst/>
                      </a:prstGeom>
                      <a:noFill/>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24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基于视觉的机器人实时抓取系统</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790484" y="5568696"/>
            <a:ext cx="672084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667085"/>
                </a:solidFill>
                <a:latin typeface="微软雅黑" panose="020B0503020204020204" pitchFamily="34" charset="-122"/>
              </a:rPr>
              <a:t>基于视觉的机器人实时抓取系统</a:t>
            </a:r>
            <a:endParaRPr sz="1300" b="1" i="0" dirty="0">
              <a:solidFill>
                <a:srgbClr val="667085"/>
              </a:solidFill>
              <a:latin typeface="微软雅黑" panose="020B0503020204020204" pitchFamily="34" charset="-122"/>
            </a:endParaRPr>
          </a:p>
        </p:txBody>
      </p:sp>
      <p:sp>
        <p:nvSpPr>
          <p:cNvPr id="11" name="Rounded Rectangle 10"/>
          <p:cNvSpPr/>
          <p:nvPr/>
        </p:nvSpPr>
        <p:spPr>
          <a:xfrm>
            <a:off x="7699248" y="1691640"/>
            <a:ext cx="3657600" cy="4023360"/>
          </a:xfrm>
          <a:prstGeom prst="roundRect">
            <a:avLst>
              <a:gd name="adj" fmla="val 2225"/>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ectangle 11"/>
          <p:cNvSpPr/>
          <p:nvPr/>
        </p:nvSpPr>
        <p:spPr>
          <a:xfrm>
            <a:off x="7699248" y="1691640"/>
            <a:ext cx="64008" cy="40233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7909560" y="2350008"/>
            <a:ext cx="3273552" cy="321868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示意图包含手眼系统与评估系统两类配置：相机获得物体信息，机械臂根据视觉结果完成抓取并验证效果。</a:t>
            </a:r>
          </a:p>
        </p:txBody>
      </p:sp>
      <p:pic>
        <p:nvPicPr>
          <p:cNvPr id="15" name="图片 14">
            <a:extLst>
              <a:ext uri="{FF2B5EF4-FFF2-40B4-BE49-F238E27FC236}">
                <a16:creationId xmlns:a16="http://schemas.microsoft.com/office/drawing/2014/main" id="{7B1B978F-A6E2-A4CC-BD0D-9010FB35656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6042"/>
          <a:stretch>
            <a:fillRect/>
          </a:stretch>
        </p:blipFill>
        <p:spPr bwMode="auto">
          <a:xfrm>
            <a:off x="1608713" y="2441904"/>
            <a:ext cx="5460071" cy="2966316"/>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25</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7.2.2 </a:t>
            </a:r>
            <a:r>
              <a:rPr sz="3500" b="1" i="0" dirty="0" err="1">
                <a:solidFill>
                  <a:srgbClr val="24477D"/>
                </a:solidFill>
                <a:latin typeface="微软雅黑" panose="020B0503020204020204" pitchFamily="34" charset="-122"/>
              </a:rPr>
              <a:t>典型技术路线：检测</a:t>
            </a:r>
            <a:r>
              <a:rPr sz="3500" b="1" i="0" dirty="0">
                <a:solidFill>
                  <a:srgbClr val="24477D"/>
                </a:solidFill>
                <a:latin typeface="微软雅黑" panose="020B0503020204020204" pitchFamily="34" charset="-122"/>
              </a:rPr>
              <a:t>—</a:t>
            </a:r>
            <a:r>
              <a:rPr sz="3500" b="1" i="0" dirty="0" err="1">
                <a:solidFill>
                  <a:srgbClr val="24477D"/>
                </a:solidFill>
                <a:latin typeface="微软雅黑" panose="020B0503020204020204" pitchFamily="34" charset="-122"/>
              </a:rPr>
              <a:t>姿态</a:t>
            </a:r>
            <a:r>
              <a:rPr sz="3500" b="1" i="0" dirty="0">
                <a:solidFill>
                  <a:srgbClr val="24477D"/>
                </a:solidFill>
                <a:latin typeface="微软雅黑" panose="020B0503020204020204" pitchFamily="34" charset="-122"/>
              </a:rPr>
              <a:t>—</a:t>
            </a:r>
            <a:r>
              <a:rPr sz="3500" b="1" i="0" dirty="0" err="1">
                <a:solidFill>
                  <a:srgbClr val="24477D"/>
                </a:solidFill>
                <a:latin typeface="微软雅黑" panose="020B0503020204020204" pitchFamily="34" charset="-122"/>
              </a:rPr>
              <a:t>抓取</a:t>
            </a:r>
            <a:r>
              <a:rPr sz="3500" b="1" i="0" dirty="0">
                <a:solidFill>
                  <a:srgbClr val="24477D"/>
                </a:solidFill>
                <a:latin typeface="微软雅黑" panose="020B0503020204020204" pitchFamily="34" charset="-122"/>
              </a:rPr>
              <a:t>—</a:t>
            </a:r>
            <a:r>
              <a:rPr sz="3500" b="1" i="0" dirty="0" err="1">
                <a:solidFill>
                  <a:srgbClr val="24477D"/>
                </a:solidFill>
                <a:latin typeface="微软雅黑" panose="020B0503020204020204" pitchFamily="34" charset="-122"/>
              </a:rPr>
              <a:t>控制</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685800" y="1847088"/>
            <a:ext cx="2553462" cy="3017520"/>
          </a:xfrm>
          <a:prstGeom prst="roundRect">
            <a:avLst>
              <a:gd name="adj" fmla="val 2239"/>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685800" y="1847088"/>
            <a:ext cx="64008" cy="30175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96112" y="1993392"/>
            <a:ext cx="2169414"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目标检测</a:t>
            </a:r>
            <a:endParaRPr sz="1800" b="1" i="0" dirty="0">
              <a:solidFill>
                <a:srgbClr val="31599B"/>
              </a:solidFill>
              <a:latin typeface="微软雅黑" panose="020B0503020204020204" pitchFamily="34" charset="-122"/>
            </a:endParaRPr>
          </a:p>
        </p:txBody>
      </p:sp>
      <p:sp>
        <p:nvSpPr>
          <p:cNvPr id="12" name="TextBox 11"/>
          <p:cNvSpPr txBox="1"/>
          <p:nvPr/>
        </p:nvSpPr>
        <p:spPr>
          <a:xfrm>
            <a:off x="896112" y="2505456"/>
            <a:ext cx="2169414" cy="551177"/>
          </a:xfrm>
          <a:prstGeom prst="rect">
            <a:avLst/>
          </a:prstGeom>
          <a:noFill/>
        </p:spPr>
        <p:txBody>
          <a:bodyPr wrap="square" lIns="18288" tIns="18288" rIns="18288" bIns="18288" anchor="t">
            <a:spAutoFit/>
          </a:bodyPr>
          <a:lstStyle/>
          <a:p>
            <a:pPr algn="l">
              <a:lnSpc>
                <a:spcPct val="108000"/>
              </a:lnSpc>
            </a:pPr>
            <a:r>
              <a:rPr sz="1600" b="0" i="0" dirty="0">
                <a:solidFill>
                  <a:srgbClr val="222833"/>
                </a:solidFill>
                <a:latin typeface="微软雅黑"/>
              </a:rPr>
              <a:t>YOLO </a:t>
            </a:r>
            <a:r>
              <a:rPr sz="1600" b="0" i="0" dirty="0" err="1">
                <a:solidFill>
                  <a:srgbClr val="222833"/>
                </a:solidFill>
                <a:latin typeface="微软雅黑"/>
              </a:rPr>
              <a:t>实时框出物体边界，完成定位与分类</a:t>
            </a:r>
            <a:endParaRPr sz="1600" b="0" i="0" dirty="0">
              <a:solidFill>
                <a:srgbClr val="222833"/>
              </a:solidFill>
              <a:latin typeface="微软雅黑"/>
            </a:endParaRPr>
          </a:p>
        </p:txBody>
      </p:sp>
      <p:sp>
        <p:nvSpPr>
          <p:cNvPr id="13" name="Rounded Rectangle 12"/>
          <p:cNvSpPr/>
          <p:nvPr/>
        </p:nvSpPr>
        <p:spPr>
          <a:xfrm>
            <a:off x="3385566" y="1847088"/>
            <a:ext cx="2553462" cy="3017520"/>
          </a:xfrm>
          <a:prstGeom prst="roundRect">
            <a:avLst>
              <a:gd name="adj" fmla="val 1543"/>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3385566" y="1847088"/>
            <a:ext cx="64008" cy="30175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3595878" y="1993392"/>
            <a:ext cx="2169414"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姿态估计</a:t>
            </a:r>
            <a:endParaRPr sz="1800" b="1" i="0" dirty="0">
              <a:solidFill>
                <a:srgbClr val="2F8E72"/>
              </a:solidFill>
              <a:latin typeface="微软雅黑" panose="020B0503020204020204" pitchFamily="34" charset="-122"/>
            </a:endParaRPr>
          </a:p>
        </p:txBody>
      </p:sp>
      <p:sp>
        <p:nvSpPr>
          <p:cNvPr id="16" name="TextBox 15"/>
          <p:cNvSpPr txBox="1"/>
          <p:nvPr/>
        </p:nvSpPr>
        <p:spPr>
          <a:xfrm>
            <a:off x="3595878" y="2505456"/>
            <a:ext cx="2169414" cy="551177"/>
          </a:xfrm>
          <a:prstGeom prst="rect">
            <a:avLst/>
          </a:prstGeom>
          <a:noFill/>
        </p:spPr>
        <p:txBody>
          <a:bodyPr wrap="square" lIns="18288" tIns="18288" rIns="18288" bIns="18288" anchor="t">
            <a:spAutoFit/>
          </a:bodyPr>
          <a:lstStyle/>
          <a:p>
            <a:pPr algn="l">
              <a:lnSpc>
                <a:spcPct val="108000"/>
              </a:lnSpc>
            </a:pPr>
            <a:r>
              <a:rPr sz="1600" b="0" i="0" dirty="0">
                <a:solidFill>
                  <a:srgbClr val="222833"/>
                </a:solidFill>
                <a:latin typeface="微软雅黑"/>
              </a:rPr>
              <a:t>6D </a:t>
            </a:r>
            <a:r>
              <a:rPr sz="1600" b="0" i="0" dirty="0" err="1">
                <a:solidFill>
                  <a:srgbClr val="222833"/>
                </a:solidFill>
                <a:latin typeface="微软雅黑"/>
              </a:rPr>
              <a:t>姿态或</a:t>
            </a:r>
            <a:r>
              <a:rPr sz="1600" b="0" i="0" dirty="0">
                <a:solidFill>
                  <a:srgbClr val="222833"/>
                </a:solidFill>
                <a:latin typeface="微软雅黑"/>
              </a:rPr>
              <a:t> RGB-D / </a:t>
            </a:r>
            <a:r>
              <a:rPr sz="1600" b="0" i="0" dirty="0" err="1">
                <a:solidFill>
                  <a:srgbClr val="222833"/>
                </a:solidFill>
                <a:latin typeface="微软雅黑"/>
              </a:rPr>
              <a:t>点云预测物体位置与方向</a:t>
            </a:r>
            <a:endParaRPr sz="1600" b="0" i="0" dirty="0">
              <a:solidFill>
                <a:srgbClr val="222833"/>
              </a:solidFill>
              <a:latin typeface="微软雅黑"/>
            </a:endParaRPr>
          </a:p>
        </p:txBody>
      </p:sp>
      <p:sp>
        <p:nvSpPr>
          <p:cNvPr id="17" name="Rounded Rectangle 16"/>
          <p:cNvSpPr/>
          <p:nvPr/>
        </p:nvSpPr>
        <p:spPr>
          <a:xfrm>
            <a:off x="6085332" y="1847088"/>
            <a:ext cx="2553462" cy="3017520"/>
          </a:xfrm>
          <a:prstGeom prst="roundRect">
            <a:avLst>
              <a:gd name="adj" fmla="val 189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6085332" y="1847088"/>
            <a:ext cx="64008" cy="30175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6295644" y="1993392"/>
            <a:ext cx="2169414"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抓取规划</a:t>
            </a:r>
            <a:endParaRPr sz="1800" b="1" i="0" dirty="0">
              <a:solidFill>
                <a:srgbClr val="C58A24"/>
              </a:solidFill>
              <a:latin typeface="微软雅黑" panose="020B0503020204020204" pitchFamily="34" charset="-122"/>
            </a:endParaRPr>
          </a:p>
        </p:txBody>
      </p:sp>
      <p:sp>
        <p:nvSpPr>
          <p:cNvPr id="20" name="TextBox 19"/>
          <p:cNvSpPr txBox="1"/>
          <p:nvPr/>
        </p:nvSpPr>
        <p:spPr>
          <a:xfrm>
            <a:off x="6295644" y="2505456"/>
            <a:ext cx="2169414" cy="551177"/>
          </a:xfrm>
          <a:prstGeom prst="rect">
            <a:avLst/>
          </a:prstGeom>
          <a:noFill/>
        </p:spPr>
        <p:txBody>
          <a:bodyPr wrap="square" lIns="18288" tIns="18288" rIns="18288" bIns="18288" anchor="t">
            <a:spAutoFit/>
          </a:bodyPr>
          <a:lstStyle/>
          <a:p>
            <a:pPr algn="l">
              <a:lnSpc>
                <a:spcPct val="108000"/>
              </a:lnSpc>
            </a:pPr>
            <a:r>
              <a:rPr sz="1600" b="0" i="0" dirty="0" err="1">
                <a:solidFill>
                  <a:srgbClr val="222833"/>
                </a:solidFill>
                <a:latin typeface="微软雅黑"/>
              </a:rPr>
              <a:t>采样候选抓取点并进行质量评分</a:t>
            </a:r>
            <a:endParaRPr sz="1600" b="0" i="0" dirty="0">
              <a:solidFill>
                <a:srgbClr val="222833"/>
              </a:solidFill>
              <a:latin typeface="微软雅黑"/>
            </a:endParaRPr>
          </a:p>
        </p:txBody>
      </p:sp>
      <p:sp>
        <p:nvSpPr>
          <p:cNvPr id="21" name="Rounded Rectangle 20"/>
          <p:cNvSpPr/>
          <p:nvPr/>
        </p:nvSpPr>
        <p:spPr>
          <a:xfrm>
            <a:off x="8785098" y="1847088"/>
            <a:ext cx="2553462" cy="3017520"/>
          </a:xfrm>
          <a:prstGeom prst="roundRect">
            <a:avLst>
              <a:gd name="adj" fmla="val 519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8785098" y="1847088"/>
            <a:ext cx="64008" cy="30175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8995410" y="1993392"/>
            <a:ext cx="2169414"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运动执行</a:t>
            </a:r>
            <a:endParaRPr sz="1800" b="1" i="0" dirty="0">
              <a:solidFill>
                <a:srgbClr val="C63F45"/>
              </a:solidFill>
              <a:latin typeface="微软雅黑" panose="020B0503020204020204" pitchFamily="34" charset="-122"/>
            </a:endParaRPr>
          </a:p>
        </p:txBody>
      </p:sp>
      <p:sp>
        <p:nvSpPr>
          <p:cNvPr id="24" name="TextBox 23"/>
          <p:cNvSpPr txBox="1"/>
          <p:nvPr/>
        </p:nvSpPr>
        <p:spPr>
          <a:xfrm>
            <a:off x="8995410" y="2505456"/>
            <a:ext cx="2169414" cy="551177"/>
          </a:xfrm>
          <a:prstGeom prst="rect">
            <a:avLst/>
          </a:prstGeom>
          <a:noFill/>
        </p:spPr>
        <p:txBody>
          <a:bodyPr wrap="square" lIns="18288" tIns="18288" rIns="18288" bIns="18288" anchor="t">
            <a:spAutoFit/>
          </a:bodyPr>
          <a:lstStyle/>
          <a:p>
            <a:pPr algn="l">
              <a:lnSpc>
                <a:spcPct val="108000"/>
              </a:lnSpc>
            </a:pPr>
            <a:r>
              <a:rPr sz="1600" b="0" i="0" dirty="0" err="1">
                <a:solidFill>
                  <a:srgbClr val="222833"/>
                </a:solidFill>
                <a:latin typeface="微软雅黑"/>
              </a:rPr>
              <a:t>用逆运动学把末端目标位姿转换为关节指令</a:t>
            </a:r>
            <a:endParaRPr sz="1600" b="0" i="0" dirty="0">
              <a:solidFill>
                <a:srgbClr val="222833"/>
              </a:solidFill>
              <a:latin typeface="微软雅黑"/>
            </a:endParaRPr>
          </a:p>
        </p:txBody>
      </p:sp>
      <p:sp>
        <p:nvSpPr>
          <p:cNvPr id="25" name="TextBox 24"/>
          <p:cNvSpPr txBox="1"/>
          <p:nvPr/>
        </p:nvSpPr>
        <p:spPr>
          <a:xfrm>
            <a:off x="868680" y="5257800"/>
            <a:ext cx="1024128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这条路线把计算机视觉输出逐步转化为物理执行器能够直接接受的控制量</a:t>
            </a:r>
            <a:endParaRPr sz="1900" b="1" i="0" dirty="0">
              <a:solidFill>
                <a:srgbClr val="24477D"/>
              </a:solidFill>
              <a:latin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26</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YOLO：适合实时抓取场景的单阶段检测</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737360"/>
            <a:ext cx="10332720" cy="2143920"/>
          </a:xfrm>
          <a:prstGeom prst="rect">
            <a:avLst/>
          </a:prstGeom>
          <a:noFill/>
        </p:spPr>
        <p:txBody>
          <a:bodyPr wrap="square" lIns="18288" tIns="18288" rIns="18288" bIns="18288">
            <a:spAutoFit/>
          </a:bodyPr>
          <a:lstStyle/>
          <a:p>
            <a:pPr algn="l">
              <a:lnSpc>
                <a:spcPct val="112000"/>
              </a:lnSpc>
              <a:spcAft>
                <a:spcPts val="576"/>
              </a:spcAft>
            </a:pPr>
            <a:r>
              <a:rPr sz="2300" dirty="0">
                <a:solidFill>
                  <a:srgbClr val="222833"/>
                </a:solidFill>
                <a:latin typeface="微软雅黑"/>
              </a:rPr>
              <a:t>• YOLO </a:t>
            </a:r>
            <a:r>
              <a:rPr sz="2300" dirty="0" err="1">
                <a:solidFill>
                  <a:srgbClr val="222833"/>
                </a:solidFill>
                <a:latin typeface="微软雅黑"/>
              </a:rPr>
              <a:t>的核心思想是</a:t>
            </a:r>
            <a:r>
              <a:rPr sz="2300" dirty="0">
                <a:solidFill>
                  <a:srgbClr val="222833"/>
                </a:solidFill>
                <a:latin typeface="微软雅黑"/>
              </a:rPr>
              <a:t> </a:t>
            </a:r>
            <a:r>
              <a:rPr sz="2300" dirty="0" err="1">
                <a:solidFill>
                  <a:srgbClr val="222833"/>
                </a:solidFill>
                <a:latin typeface="微软雅黑"/>
              </a:rPr>
              <a:t>One-stage：一次前向传播同时完成物体定位与类别预测</a:t>
            </a:r>
            <a:endParaRPr sz="2300" dirty="0">
              <a:solidFill>
                <a:srgbClr val="222833"/>
              </a:solidFill>
              <a:latin typeface="微软雅黑"/>
            </a:endParaRPr>
          </a:p>
          <a:p>
            <a:pPr algn="l">
              <a:lnSpc>
                <a:spcPct val="112000"/>
              </a:lnSpc>
              <a:spcAft>
                <a:spcPts val="576"/>
              </a:spcAft>
            </a:pPr>
            <a:r>
              <a:rPr sz="2300" dirty="0">
                <a:solidFill>
                  <a:srgbClr val="222833"/>
                </a:solidFill>
                <a:latin typeface="微软雅黑"/>
              </a:rPr>
              <a:t>• </a:t>
            </a:r>
            <a:r>
              <a:rPr sz="2300" dirty="0" err="1">
                <a:solidFill>
                  <a:srgbClr val="222833"/>
                </a:solidFill>
                <a:latin typeface="微软雅黑"/>
              </a:rPr>
              <a:t>与多阶段检测相比，YOLO</a:t>
            </a:r>
            <a:r>
              <a:rPr sz="2300" dirty="0">
                <a:solidFill>
                  <a:srgbClr val="222833"/>
                </a:solidFill>
                <a:latin typeface="微软雅黑"/>
              </a:rPr>
              <a:t> </a:t>
            </a:r>
            <a:r>
              <a:rPr sz="2300" dirty="0" err="1">
                <a:solidFill>
                  <a:srgbClr val="222833"/>
                </a:solidFill>
                <a:latin typeface="微软雅黑"/>
              </a:rPr>
              <a:t>强调推理速度，适合需要快速闭环响应的机器人场景</a:t>
            </a:r>
            <a:endParaRPr sz="2300" dirty="0">
              <a:solidFill>
                <a:srgbClr val="222833"/>
              </a:solidFill>
              <a:latin typeface="微软雅黑"/>
            </a:endParaRPr>
          </a:p>
          <a:p>
            <a:pPr algn="l">
              <a:lnSpc>
                <a:spcPct val="112000"/>
              </a:lnSpc>
              <a:spcAft>
                <a:spcPts val="576"/>
              </a:spcAft>
            </a:pPr>
            <a:r>
              <a:rPr sz="2300" dirty="0">
                <a:solidFill>
                  <a:srgbClr val="222833"/>
                </a:solidFill>
                <a:latin typeface="微软雅黑"/>
              </a:rPr>
              <a:t>• 检测结果不仅给出“</a:t>
            </a:r>
            <a:r>
              <a:rPr sz="2300" dirty="0" err="1">
                <a:solidFill>
                  <a:srgbClr val="222833"/>
                </a:solidFill>
                <a:latin typeface="微软雅黑"/>
              </a:rPr>
              <a:t>是什么</a:t>
            </a:r>
            <a:r>
              <a:rPr sz="2300" dirty="0">
                <a:solidFill>
                  <a:srgbClr val="222833"/>
                </a:solidFill>
                <a:latin typeface="微软雅黑"/>
              </a:rPr>
              <a:t>”，</a:t>
            </a:r>
            <a:r>
              <a:rPr sz="2300" dirty="0" err="1">
                <a:solidFill>
                  <a:srgbClr val="222833"/>
                </a:solidFill>
                <a:latin typeface="微软雅黑"/>
              </a:rPr>
              <a:t>还提供边界框位置，为后续姿态估计和抓取规划提供入口</a:t>
            </a:r>
            <a:endParaRPr sz="2300" dirty="0">
              <a:solidFill>
                <a:srgbClr val="222833"/>
              </a:solidFill>
              <a:latin typeface="微软雅黑"/>
            </a:endParaRPr>
          </a:p>
        </p:txBody>
      </p:sp>
      <p:sp>
        <p:nvSpPr>
          <p:cNvPr id="10" name="TextBox 9"/>
          <p:cNvSpPr txBox="1"/>
          <p:nvPr/>
        </p:nvSpPr>
        <p:spPr>
          <a:xfrm>
            <a:off x="914400" y="5212080"/>
            <a:ext cx="10149840" cy="340350"/>
          </a:xfrm>
          <a:prstGeom prst="rect">
            <a:avLst/>
          </a:prstGeom>
          <a:noFill/>
        </p:spPr>
        <p:txBody>
          <a:bodyPr wrap="square" lIns="18288" tIns="18288" rIns="18288" bIns="18288" anchor="t">
            <a:spAutoFit/>
          </a:bodyPr>
          <a:lstStyle/>
          <a:p>
            <a:pPr algn="ctr">
              <a:lnSpc>
                <a:spcPct val="105000"/>
              </a:lnSpc>
            </a:pPr>
            <a:r>
              <a:rPr sz="2000" b="1" i="0" dirty="0" err="1">
                <a:solidFill>
                  <a:srgbClr val="C63F45"/>
                </a:solidFill>
                <a:latin typeface="微软雅黑" panose="020B0503020204020204" pitchFamily="34" charset="-122"/>
              </a:rPr>
              <a:t>机器人抓取中的关键要求：检测速度必须跟得上环境变化</a:t>
            </a:r>
            <a:endParaRPr sz="2000" b="1" i="0" dirty="0">
              <a:solidFill>
                <a:srgbClr val="C63F45"/>
              </a:solidFill>
              <a:latin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27</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YOLO </a:t>
            </a:r>
            <a:r>
              <a:rPr sz="3500" b="1" i="0" dirty="0" err="1">
                <a:solidFill>
                  <a:srgbClr val="24477D"/>
                </a:solidFill>
                <a:latin typeface="微软雅黑" panose="020B0503020204020204" pitchFamily="34" charset="-122"/>
              </a:rPr>
              <a:t>的基本工作步骤</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874519"/>
            <a:ext cx="3416808" cy="2331720"/>
          </a:xfrm>
          <a:prstGeom prst="roundRect">
            <a:avLst>
              <a:gd name="adj" fmla="val 124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874519"/>
            <a:ext cx="64008" cy="2331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2020824"/>
            <a:ext cx="3032760" cy="310021"/>
          </a:xfrm>
          <a:prstGeom prst="rect">
            <a:avLst/>
          </a:prstGeom>
          <a:noFill/>
        </p:spPr>
        <p:txBody>
          <a:bodyPr wrap="square" lIns="18288" tIns="18288" rIns="18288" bIns="18288" anchor="t">
            <a:spAutoFit/>
          </a:bodyPr>
          <a:lstStyle/>
          <a:p>
            <a:pPr algn="l">
              <a:lnSpc>
                <a:spcPct val="105000"/>
              </a:lnSpc>
            </a:pPr>
            <a:r>
              <a:rPr sz="1800" b="1" i="0" dirty="0">
                <a:solidFill>
                  <a:srgbClr val="31599B"/>
                </a:solidFill>
                <a:latin typeface="微软雅黑" panose="020B0503020204020204" pitchFamily="34" charset="-122"/>
              </a:rPr>
              <a:t>1 </a:t>
            </a:r>
            <a:r>
              <a:rPr sz="1800" b="1" i="0" dirty="0" err="1">
                <a:solidFill>
                  <a:srgbClr val="31599B"/>
                </a:solidFill>
                <a:latin typeface="微软雅黑" panose="020B0503020204020204" pitchFamily="34" charset="-122"/>
              </a:rPr>
              <a:t>划分网格</a:t>
            </a:r>
            <a:endParaRPr sz="1800" b="1" i="0" dirty="0">
              <a:solidFill>
                <a:srgbClr val="31599B"/>
              </a:solidFill>
              <a:latin typeface="微软雅黑" panose="020B0503020204020204" pitchFamily="34" charset="-122"/>
            </a:endParaRPr>
          </a:p>
        </p:txBody>
      </p:sp>
      <p:sp>
        <p:nvSpPr>
          <p:cNvPr id="12" name="TextBox 11"/>
          <p:cNvSpPr txBox="1"/>
          <p:nvPr/>
        </p:nvSpPr>
        <p:spPr>
          <a:xfrm>
            <a:off x="923544" y="2532887"/>
            <a:ext cx="303276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把输入图像均匀划分为 S×S 个网格。</a:t>
            </a:r>
          </a:p>
        </p:txBody>
      </p:sp>
      <p:sp>
        <p:nvSpPr>
          <p:cNvPr id="13" name="TextBox 12"/>
          <p:cNvSpPr txBox="1"/>
          <p:nvPr/>
        </p:nvSpPr>
        <p:spPr>
          <a:xfrm>
            <a:off x="4090354" y="270416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4" name="Rounded Rectangle 13"/>
          <p:cNvSpPr/>
          <p:nvPr/>
        </p:nvSpPr>
        <p:spPr>
          <a:xfrm>
            <a:off x="4294632" y="1874519"/>
            <a:ext cx="3416808" cy="2331720"/>
          </a:xfrm>
          <a:prstGeom prst="roundRect">
            <a:avLst>
              <a:gd name="adj" fmla="val 315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4294632" y="1874519"/>
            <a:ext cx="64008" cy="2331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4504944" y="2020824"/>
            <a:ext cx="3032760" cy="310021"/>
          </a:xfrm>
          <a:prstGeom prst="rect">
            <a:avLst/>
          </a:prstGeom>
          <a:noFill/>
        </p:spPr>
        <p:txBody>
          <a:bodyPr wrap="square" lIns="18288" tIns="18288" rIns="18288" bIns="18288" anchor="t">
            <a:spAutoFit/>
          </a:bodyPr>
          <a:lstStyle/>
          <a:p>
            <a:pPr algn="l">
              <a:lnSpc>
                <a:spcPct val="105000"/>
              </a:lnSpc>
            </a:pPr>
            <a:r>
              <a:rPr sz="1800" b="1" i="0" dirty="0">
                <a:solidFill>
                  <a:srgbClr val="2F8E72"/>
                </a:solidFill>
                <a:latin typeface="微软雅黑" panose="020B0503020204020204" pitchFamily="34" charset="-122"/>
              </a:rPr>
              <a:t>2 </a:t>
            </a:r>
            <a:r>
              <a:rPr sz="1800" b="1" i="0" dirty="0" err="1">
                <a:solidFill>
                  <a:srgbClr val="2F8E72"/>
                </a:solidFill>
                <a:latin typeface="微软雅黑" panose="020B0503020204020204" pitchFamily="34" charset="-122"/>
              </a:rPr>
              <a:t>预测目标</a:t>
            </a:r>
            <a:endParaRPr sz="1800" b="1" i="0" dirty="0">
              <a:solidFill>
                <a:srgbClr val="2F8E72"/>
              </a:solidFill>
              <a:latin typeface="微软雅黑" panose="020B0503020204020204" pitchFamily="34" charset="-122"/>
            </a:endParaRPr>
          </a:p>
        </p:txBody>
      </p:sp>
      <p:sp>
        <p:nvSpPr>
          <p:cNvPr id="17" name="TextBox 16"/>
          <p:cNvSpPr txBox="1"/>
          <p:nvPr/>
        </p:nvSpPr>
        <p:spPr>
          <a:xfrm>
            <a:off x="4504944" y="2532887"/>
            <a:ext cx="303276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网格负责预测目标中心、边界框宽高、置信度和类别概率。</a:t>
            </a:r>
          </a:p>
        </p:txBody>
      </p:sp>
      <p:sp>
        <p:nvSpPr>
          <p:cNvPr id="18" name="TextBox 17"/>
          <p:cNvSpPr txBox="1"/>
          <p:nvPr/>
        </p:nvSpPr>
        <p:spPr>
          <a:xfrm>
            <a:off x="7671755" y="270416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9" name="Rounded Rectangle 18"/>
          <p:cNvSpPr/>
          <p:nvPr/>
        </p:nvSpPr>
        <p:spPr>
          <a:xfrm>
            <a:off x="7876032" y="1874519"/>
            <a:ext cx="3416808" cy="2331720"/>
          </a:xfrm>
          <a:prstGeom prst="roundRect">
            <a:avLst>
              <a:gd name="adj" fmla="val 4483"/>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Rectangle 19"/>
          <p:cNvSpPr/>
          <p:nvPr/>
        </p:nvSpPr>
        <p:spPr>
          <a:xfrm>
            <a:off x="7876032" y="1874519"/>
            <a:ext cx="64008" cy="2331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TextBox 20"/>
          <p:cNvSpPr txBox="1"/>
          <p:nvPr/>
        </p:nvSpPr>
        <p:spPr>
          <a:xfrm>
            <a:off x="8086344" y="2020824"/>
            <a:ext cx="3032760" cy="310021"/>
          </a:xfrm>
          <a:prstGeom prst="rect">
            <a:avLst/>
          </a:prstGeom>
          <a:noFill/>
        </p:spPr>
        <p:txBody>
          <a:bodyPr wrap="square" lIns="18288" tIns="18288" rIns="18288" bIns="18288" anchor="t">
            <a:spAutoFit/>
          </a:bodyPr>
          <a:lstStyle/>
          <a:p>
            <a:pPr algn="l">
              <a:lnSpc>
                <a:spcPct val="105000"/>
              </a:lnSpc>
            </a:pPr>
            <a:r>
              <a:rPr sz="1800" b="1" i="0" dirty="0">
                <a:solidFill>
                  <a:srgbClr val="C58A24"/>
                </a:solidFill>
                <a:latin typeface="微软雅黑" panose="020B0503020204020204" pitchFamily="34" charset="-122"/>
              </a:rPr>
              <a:t>3 NMS </a:t>
            </a:r>
            <a:r>
              <a:rPr sz="1800" b="1" i="0" dirty="0" err="1">
                <a:solidFill>
                  <a:srgbClr val="C58A24"/>
                </a:solidFill>
                <a:latin typeface="微软雅黑" panose="020B0503020204020204" pitchFamily="34" charset="-122"/>
              </a:rPr>
              <a:t>筛选</a:t>
            </a:r>
            <a:endParaRPr sz="1800" b="1" i="0" dirty="0">
              <a:solidFill>
                <a:srgbClr val="C58A24"/>
              </a:solidFill>
              <a:latin typeface="微软雅黑" panose="020B0503020204020204" pitchFamily="34" charset="-122"/>
            </a:endParaRPr>
          </a:p>
        </p:txBody>
      </p:sp>
      <p:sp>
        <p:nvSpPr>
          <p:cNvPr id="22" name="TextBox 21"/>
          <p:cNvSpPr txBox="1"/>
          <p:nvPr/>
        </p:nvSpPr>
        <p:spPr>
          <a:xfrm>
            <a:off x="8086344" y="2532887"/>
            <a:ext cx="303276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利用非极大值抑制去除重叠框，得到最终检测结果。</a:t>
            </a:r>
          </a:p>
        </p:txBody>
      </p:sp>
      <p:sp>
        <p:nvSpPr>
          <p:cNvPr id="23" name="TextBox 22"/>
          <p:cNvSpPr txBox="1"/>
          <p:nvPr/>
        </p:nvSpPr>
        <p:spPr>
          <a:xfrm>
            <a:off x="822960" y="4927605"/>
            <a:ext cx="10515600" cy="340350"/>
          </a:xfrm>
          <a:prstGeom prst="rect">
            <a:avLst/>
          </a:prstGeom>
          <a:noFill/>
        </p:spPr>
        <p:txBody>
          <a:bodyPr wrap="square" lIns="18288" tIns="18288" rIns="18288" bIns="18288" anchor="ctr">
            <a:spAutoFit/>
          </a:bodyPr>
          <a:lstStyle/>
          <a:p>
            <a:pPr algn="ctr">
              <a:lnSpc>
                <a:spcPct val="105000"/>
              </a:lnSpc>
            </a:pPr>
            <a:r>
              <a:rPr sz="2000" b="1" i="0" dirty="0" err="1">
                <a:solidFill>
                  <a:srgbClr val="24477D"/>
                </a:solidFill>
                <a:latin typeface="微软雅黑" panose="020B0503020204020204" pitchFamily="34" charset="-122"/>
              </a:rPr>
              <a:t>一次前向传播完成定位与分类，是</a:t>
            </a:r>
            <a:r>
              <a:rPr sz="2000" b="1" i="0" dirty="0">
                <a:solidFill>
                  <a:srgbClr val="24477D"/>
                </a:solidFill>
                <a:latin typeface="微软雅黑" panose="020B0503020204020204" pitchFamily="34" charset="-122"/>
              </a:rPr>
              <a:t> YOLO </a:t>
            </a:r>
            <a:r>
              <a:rPr sz="2000" b="1" i="0" dirty="0" err="1">
                <a:solidFill>
                  <a:srgbClr val="24477D"/>
                </a:solidFill>
                <a:latin typeface="微软雅黑" panose="020B0503020204020204" pitchFamily="34" charset="-122"/>
              </a:rPr>
              <a:t>的实时性来源</a:t>
            </a:r>
            <a:endParaRPr sz="2000" b="1" i="0" dirty="0">
              <a:solidFill>
                <a:srgbClr val="24477D"/>
              </a:solidFill>
              <a:latin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28</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YOLOv12 </a:t>
            </a:r>
            <a:r>
              <a:rPr sz="3500" b="1" i="0" dirty="0" err="1">
                <a:solidFill>
                  <a:srgbClr val="24477D"/>
                </a:solidFill>
                <a:latin typeface="微软雅黑" panose="020B0503020204020204" pitchFamily="34" charset="-122"/>
              </a:rPr>
              <a:t>简化结构示意图</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pic>
        <p:nvPicPr>
          <p:cNvPr id="9" name="Picture 8" descr="fig7_3.png"/>
          <p:cNvPicPr>
            <a:picLocks noChangeAspect="1"/>
          </p:cNvPicPr>
          <p:nvPr/>
        </p:nvPicPr>
        <p:blipFill>
          <a:blip r:embed="rId2"/>
          <a:stretch>
            <a:fillRect/>
          </a:stretch>
        </p:blipFill>
        <p:spPr>
          <a:xfrm>
            <a:off x="713232" y="1840303"/>
            <a:ext cx="6720840" cy="3918057"/>
          </a:xfrm>
          <a:prstGeom prst="rect">
            <a:avLst/>
          </a:prstGeom>
        </p:spPr>
      </p:pic>
      <p:sp>
        <p:nvSpPr>
          <p:cNvPr id="10" name="TextBox 9"/>
          <p:cNvSpPr txBox="1"/>
          <p:nvPr/>
        </p:nvSpPr>
        <p:spPr>
          <a:xfrm>
            <a:off x="713232" y="5815584"/>
            <a:ext cx="672084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667085"/>
                </a:solidFill>
                <a:latin typeface="微软雅黑" panose="020B0503020204020204" pitchFamily="34" charset="-122"/>
              </a:rPr>
              <a:t>教材图</a:t>
            </a:r>
            <a:r>
              <a:rPr sz="1300" b="1" i="0" dirty="0">
                <a:solidFill>
                  <a:srgbClr val="667085"/>
                </a:solidFill>
                <a:latin typeface="微软雅黑" panose="020B0503020204020204" pitchFamily="34" charset="-122"/>
              </a:rPr>
              <a:t> 7-3  YOLOv12 </a:t>
            </a:r>
            <a:r>
              <a:rPr sz="1300" b="1" i="0" dirty="0" err="1">
                <a:solidFill>
                  <a:srgbClr val="667085"/>
                </a:solidFill>
                <a:latin typeface="微软雅黑" panose="020B0503020204020204" pitchFamily="34" charset="-122"/>
              </a:rPr>
              <a:t>简化结构示意图</a:t>
            </a:r>
            <a:endParaRPr sz="1300" b="1" i="0" dirty="0">
              <a:solidFill>
                <a:srgbClr val="667085"/>
              </a:solidFill>
              <a:latin typeface="微软雅黑" panose="020B0503020204020204" pitchFamily="34" charset="-122"/>
            </a:endParaRPr>
          </a:p>
        </p:txBody>
      </p:sp>
      <p:sp>
        <p:nvSpPr>
          <p:cNvPr id="11" name="Rounded Rectangle 10"/>
          <p:cNvSpPr/>
          <p:nvPr/>
        </p:nvSpPr>
        <p:spPr>
          <a:xfrm>
            <a:off x="7699248" y="1691640"/>
            <a:ext cx="3657600" cy="402336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ectangle 11"/>
          <p:cNvSpPr/>
          <p:nvPr/>
        </p:nvSpPr>
        <p:spPr>
          <a:xfrm>
            <a:off x="7699248" y="1691640"/>
            <a:ext cx="64008" cy="40233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7909560" y="1837944"/>
            <a:ext cx="327355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读图提示</a:t>
            </a:r>
            <a:endParaRPr sz="2000" b="1" i="0" dirty="0">
              <a:solidFill>
                <a:srgbClr val="2F8E72"/>
              </a:solidFill>
              <a:latin typeface="微软雅黑" panose="020B0503020204020204" pitchFamily="34" charset="-122"/>
            </a:endParaRPr>
          </a:p>
        </p:txBody>
      </p:sp>
      <p:sp>
        <p:nvSpPr>
          <p:cNvPr id="14" name="TextBox 13"/>
          <p:cNvSpPr txBox="1"/>
          <p:nvPr/>
        </p:nvSpPr>
        <p:spPr>
          <a:xfrm>
            <a:off x="7909560" y="2350008"/>
            <a:ext cx="3273552" cy="321868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主干网络逐步提取多尺度特征，颈部进行特征融合，检测头在多个尺度上输出分类与边界框结果。</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29</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机器人抓取中的</a:t>
            </a:r>
            <a:r>
              <a:rPr sz="3500" b="1" i="0" dirty="0">
                <a:solidFill>
                  <a:srgbClr val="24477D"/>
                </a:solidFill>
                <a:latin typeface="微软雅黑" panose="020B0503020204020204" pitchFamily="34" charset="-122"/>
              </a:rPr>
              <a:t> YOLO </a:t>
            </a:r>
            <a:r>
              <a:rPr sz="3500" b="1" i="0" dirty="0" err="1">
                <a:solidFill>
                  <a:srgbClr val="24477D"/>
                </a:solidFill>
                <a:latin typeface="微软雅黑" panose="020B0503020204020204" pitchFamily="34" charset="-122"/>
              </a:rPr>
              <a:t>输出格式</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960120" y="1691640"/>
            <a:ext cx="10287000" cy="1417320"/>
          </a:xfrm>
          <a:prstGeom prst="roundRect">
            <a:avLst/>
          </a:prstGeom>
          <a:solidFill>
            <a:srgbClr val="EDF2FA"/>
          </a:solidFill>
          <a:ln>
            <a:solidFill>
              <a:srgbClr val="CB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143000" y="1993392"/>
            <a:ext cx="9921240" cy="658368"/>
          </a:xfrm>
          <a:prstGeom prst="rect">
            <a:avLst/>
          </a:prstGeom>
          <a:noFill/>
        </p:spPr>
        <p:txBody>
          <a:bodyPr wrap="square" lIns="18288" tIns="18288" rIns="18288" bIns="18288" anchor="ctr">
            <a:spAutoFit/>
          </a:bodyPr>
          <a:lstStyle/>
          <a:p>
            <a:pPr algn="ctr">
              <a:lnSpc>
                <a:spcPct val="105000"/>
              </a:lnSpc>
            </a:pPr>
            <a:r>
              <a:rPr sz="2700" b="1" i="0">
                <a:solidFill>
                  <a:srgbClr val="24477D"/>
                </a:solidFill>
                <a:latin typeface="Times New Roman"/>
              </a:rPr>
              <a:t>B = [x, y, w, h, c, p₁, p₂, …, pₙ]</a:t>
            </a:r>
          </a:p>
        </p:txBody>
      </p:sp>
      <p:sp>
        <p:nvSpPr>
          <p:cNvPr id="12" name="Rounded Rectangle 11"/>
          <p:cNvSpPr/>
          <p:nvPr/>
        </p:nvSpPr>
        <p:spPr>
          <a:xfrm>
            <a:off x="960120" y="3429000"/>
            <a:ext cx="10287000" cy="1236216"/>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1234440" y="3703320"/>
            <a:ext cx="9738360" cy="1417320"/>
          </a:xfrm>
          <a:prstGeom prst="rect">
            <a:avLst/>
          </a:prstGeom>
          <a:noFill/>
        </p:spPr>
        <p:txBody>
          <a:bodyPr wrap="square" lIns="18288" tIns="18288" rIns="18288" bIns="18288" anchor="t">
            <a:spAutoFit/>
          </a:bodyPr>
          <a:lstStyle/>
          <a:p>
            <a:pPr algn="l">
              <a:lnSpc>
                <a:spcPct val="112000"/>
              </a:lnSpc>
            </a:pPr>
            <a:r>
              <a:rPr sz="2000" b="0" i="0" dirty="0">
                <a:solidFill>
                  <a:srgbClr val="222833"/>
                </a:solidFill>
                <a:latin typeface="微软雅黑"/>
              </a:rPr>
              <a:t>(x, y)：</a:t>
            </a:r>
            <a:r>
              <a:rPr sz="2000" b="0" i="0" dirty="0" err="1">
                <a:solidFill>
                  <a:srgbClr val="222833"/>
                </a:solidFill>
                <a:latin typeface="微软雅黑"/>
              </a:rPr>
              <a:t>边界框中心坐标；w、h：边界框宽、高；c：检测置信度；p</a:t>
            </a:r>
            <a:r>
              <a:rPr sz="2000" b="0" i="0" dirty="0">
                <a:solidFill>
                  <a:srgbClr val="222833"/>
                </a:solidFill>
                <a:latin typeface="微软雅黑"/>
              </a:rPr>
              <a:t>ᵢ：</a:t>
            </a:r>
            <a:r>
              <a:rPr sz="2000" b="0" i="0" dirty="0" err="1">
                <a:solidFill>
                  <a:srgbClr val="222833"/>
                </a:solidFill>
                <a:latin typeface="微软雅黑"/>
              </a:rPr>
              <a:t>属于第</a:t>
            </a:r>
            <a:r>
              <a:rPr sz="2000" b="0" i="0" dirty="0">
                <a:solidFill>
                  <a:srgbClr val="222833"/>
                </a:solidFill>
                <a:latin typeface="微软雅黑"/>
              </a:rPr>
              <a:t> </a:t>
            </a:r>
            <a:r>
              <a:rPr sz="2000" b="0" i="0" dirty="0" err="1">
                <a:solidFill>
                  <a:srgbClr val="222833"/>
                </a:solidFill>
                <a:latin typeface="微软雅黑"/>
              </a:rPr>
              <a:t>i</a:t>
            </a:r>
            <a:r>
              <a:rPr sz="2000" b="0" i="0" dirty="0">
                <a:solidFill>
                  <a:srgbClr val="222833"/>
                </a:solidFill>
                <a:latin typeface="微软雅黑"/>
              </a:rPr>
              <a:t> </a:t>
            </a:r>
            <a:r>
              <a:rPr sz="2000" b="0" i="0" dirty="0" err="1">
                <a:solidFill>
                  <a:srgbClr val="222833"/>
                </a:solidFill>
                <a:latin typeface="微软雅黑"/>
              </a:rPr>
              <a:t>个类别（如苹果、杯子）的概率</a:t>
            </a:r>
            <a:r>
              <a:rPr sz="2000" b="0" i="0" dirty="0">
                <a:solidFill>
                  <a:srgbClr val="222833"/>
                </a:solidFill>
                <a:latin typeface="微软雅黑"/>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30</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为什么还需要</a:t>
            </a:r>
            <a:r>
              <a:rPr sz="3500" b="1" i="0" dirty="0">
                <a:solidFill>
                  <a:srgbClr val="24477D"/>
                </a:solidFill>
                <a:latin typeface="微软雅黑" panose="020B0503020204020204" pitchFamily="34" charset="-122"/>
              </a:rPr>
              <a:t> 6D </a:t>
            </a:r>
            <a:r>
              <a:rPr sz="3500" b="1" i="0" dirty="0" err="1">
                <a:solidFill>
                  <a:srgbClr val="24477D"/>
                </a:solidFill>
                <a:latin typeface="微软雅黑" panose="020B0503020204020204" pitchFamily="34" charset="-122"/>
              </a:rPr>
              <a:t>姿态</a:t>
            </a:r>
            <a:r>
              <a:rPr sz="3500" b="1" i="0" dirty="0">
                <a:solidFill>
                  <a:srgbClr val="24477D"/>
                </a:solidFill>
                <a:latin typeface="微软雅黑" panose="020B0503020204020204" pitchFamily="34" charset="-122"/>
              </a:rPr>
              <a:t>？</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77240" y="1691640"/>
            <a:ext cx="5074920" cy="3931920"/>
          </a:xfrm>
          <a:prstGeom prst="roundRect">
            <a:avLst>
              <a:gd name="adj" fmla="val 278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77240" y="1691640"/>
            <a:ext cx="64008" cy="39319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87552" y="1837944"/>
            <a:ext cx="4690872" cy="346249"/>
          </a:xfrm>
          <a:prstGeom prst="rect">
            <a:avLst/>
          </a:prstGeom>
          <a:noFill/>
        </p:spPr>
        <p:txBody>
          <a:bodyPr wrap="square" lIns="18288" tIns="18288" rIns="18288" bIns="18288" anchor="t">
            <a:spAutoFit/>
          </a:bodyPr>
          <a:lstStyle/>
          <a:p>
            <a:pPr algn="l">
              <a:lnSpc>
                <a:spcPct val="105000"/>
              </a:lnSpc>
            </a:pPr>
            <a:r>
              <a:rPr sz="2000" b="1" i="0" dirty="0">
                <a:solidFill>
                  <a:srgbClr val="31599B"/>
                </a:solidFill>
                <a:latin typeface="微软雅黑" panose="020B0503020204020204" pitchFamily="34" charset="-122"/>
              </a:rPr>
              <a:t>2D检测框</a:t>
            </a:r>
          </a:p>
        </p:txBody>
      </p:sp>
      <p:sp>
        <p:nvSpPr>
          <p:cNvPr id="12" name="TextBox 11"/>
          <p:cNvSpPr txBox="1"/>
          <p:nvPr/>
        </p:nvSpPr>
        <p:spPr>
          <a:xfrm>
            <a:off x="987552" y="2350008"/>
            <a:ext cx="4690872" cy="3127248"/>
          </a:xfrm>
          <a:prstGeom prst="rect">
            <a:avLst/>
          </a:prstGeom>
          <a:noFill/>
        </p:spPr>
        <p:txBody>
          <a:bodyPr wrap="square" lIns="18288" tIns="18288" rIns="18288" bIns="18288" anchor="t">
            <a:spAutoFit/>
          </a:bodyPr>
          <a:lstStyle/>
          <a:p>
            <a:pPr algn="l">
              <a:lnSpc>
                <a:spcPct val="108000"/>
              </a:lnSpc>
            </a:pPr>
            <a:r>
              <a:rPr sz="2000" b="0" i="0" dirty="0" err="1">
                <a:solidFill>
                  <a:srgbClr val="222833"/>
                </a:solidFill>
                <a:latin typeface="微软雅黑"/>
              </a:rPr>
              <a:t>物体在图像中的大致区域，以及类别与置信度</a:t>
            </a:r>
            <a:r>
              <a:rPr sz="2000" b="0" i="0" dirty="0">
                <a:solidFill>
                  <a:srgbClr val="222833"/>
                </a:solidFill>
                <a:latin typeface="微软雅黑"/>
              </a:rPr>
              <a:t>。</a:t>
            </a:r>
          </a:p>
          <a:p>
            <a:pPr algn="l">
              <a:lnSpc>
                <a:spcPct val="108000"/>
              </a:lnSpc>
            </a:pPr>
            <a:endParaRPr sz="2000" b="0" i="0" dirty="0">
              <a:solidFill>
                <a:srgbClr val="222833"/>
              </a:solidFill>
              <a:latin typeface="微软雅黑"/>
            </a:endParaRPr>
          </a:p>
          <a:p>
            <a:pPr algn="l">
              <a:lnSpc>
                <a:spcPct val="108000"/>
              </a:lnSpc>
            </a:pPr>
            <a:r>
              <a:rPr sz="2000" b="0" i="0" dirty="0" err="1">
                <a:solidFill>
                  <a:srgbClr val="222833"/>
                </a:solidFill>
                <a:latin typeface="微软雅黑"/>
              </a:rPr>
              <a:t>但它不能直接确定物体在三维空间中的完整朝向</a:t>
            </a:r>
            <a:r>
              <a:rPr sz="2000" b="0" i="0" dirty="0">
                <a:solidFill>
                  <a:srgbClr val="222833"/>
                </a:solidFill>
                <a:latin typeface="微软雅黑"/>
              </a:rPr>
              <a:t>。</a:t>
            </a:r>
          </a:p>
        </p:txBody>
      </p:sp>
      <p:sp>
        <p:nvSpPr>
          <p:cNvPr id="13" name="Rounded Rectangle 12"/>
          <p:cNvSpPr/>
          <p:nvPr/>
        </p:nvSpPr>
        <p:spPr>
          <a:xfrm>
            <a:off x="6172200" y="1691640"/>
            <a:ext cx="5074920" cy="3931920"/>
          </a:xfrm>
          <a:prstGeom prst="roundRect">
            <a:avLst>
              <a:gd name="adj" fmla="val 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172200" y="1691640"/>
            <a:ext cx="64008" cy="39319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382512" y="1837944"/>
            <a:ext cx="4690872" cy="340350"/>
          </a:xfrm>
          <a:prstGeom prst="rect">
            <a:avLst/>
          </a:prstGeom>
          <a:noFill/>
        </p:spPr>
        <p:txBody>
          <a:bodyPr wrap="square" lIns="18288" tIns="18288" rIns="18288" bIns="18288" anchor="t">
            <a:spAutoFit/>
          </a:bodyPr>
          <a:lstStyle/>
          <a:p>
            <a:pPr algn="l">
              <a:lnSpc>
                <a:spcPct val="105000"/>
              </a:lnSpc>
            </a:pPr>
            <a:r>
              <a:rPr sz="2000" b="1" i="0" dirty="0">
                <a:solidFill>
                  <a:srgbClr val="2F8E72"/>
                </a:solidFill>
                <a:latin typeface="微软雅黑" panose="020B0503020204020204" pitchFamily="34" charset="-122"/>
              </a:rPr>
              <a:t>6D姿态</a:t>
            </a:r>
          </a:p>
        </p:txBody>
      </p:sp>
      <p:sp>
        <p:nvSpPr>
          <p:cNvPr id="16" name="TextBox 15"/>
          <p:cNvSpPr txBox="1"/>
          <p:nvPr/>
        </p:nvSpPr>
        <p:spPr>
          <a:xfrm>
            <a:off x="6382512" y="2350008"/>
            <a:ext cx="4690872" cy="312724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3 个位置维度 + 3 个姿态维度。</a:t>
            </a:r>
          </a:p>
          <a:p>
            <a:pPr algn="l">
              <a:lnSpc>
                <a:spcPct val="108000"/>
              </a:lnSpc>
            </a:pPr>
            <a:endParaRPr sz="2000" b="0" i="0">
              <a:solidFill>
                <a:srgbClr val="222833"/>
              </a:solidFill>
              <a:latin typeface="微软雅黑"/>
            </a:endParaRPr>
          </a:p>
          <a:p>
            <a:pPr algn="l">
              <a:lnSpc>
                <a:spcPct val="108000"/>
              </a:lnSpc>
            </a:pPr>
            <a:r>
              <a:rPr sz="2000" b="0" i="0">
                <a:solidFill>
                  <a:srgbClr val="222833"/>
                </a:solidFill>
                <a:latin typeface="微软雅黑"/>
              </a:rPr>
              <a:t>机械爪只有知道“在哪里 + 朝哪个方向”，才能形成可执行的抓取位姿。</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31</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决策阶段：候选抓取点与质量评分</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758952" y="1664208"/>
            <a:ext cx="10424160" cy="4069080"/>
          </a:xfrm>
          <a:prstGeom prst="rect">
            <a:avLst/>
          </a:prstGeom>
          <a:noFill/>
        </p:spPr>
        <p:txBody>
          <a:bodyPr wrap="square" lIns="18288" tIns="18288" rIns="18288" bIns="18288">
            <a:spAutoFit/>
          </a:bodyPr>
          <a:lstStyle/>
          <a:p>
            <a:pPr algn="l">
              <a:lnSpc>
                <a:spcPct val="112000"/>
              </a:lnSpc>
              <a:spcAft>
                <a:spcPts val="576"/>
              </a:spcAft>
            </a:pPr>
            <a:r>
              <a:rPr sz="2100" dirty="0">
                <a:solidFill>
                  <a:srgbClr val="222833"/>
                </a:solidFill>
                <a:latin typeface="微软雅黑"/>
              </a:rPr>
              <a:t>• </a:t>
            </a:r>
            <a:r>
              <a:rPr sz="2100" dirty="0" err="1">
                <a:solidFill>
                  <a:srgbClr val="222833"/>
                </a:solidFill>
                <a:latin typeface="微软雅黑"/>
              </a:rPr>
              <a:t>系统可先估计物体</a:t>
            </a:r>
            <a:r>
              <a:rPr sz="2100" dirty="0">
                <a:solidFill>
                  <a:srgbClr val="222833"/>
                </a:solidFill>
                <a:latin typeface="微软雅黑"/>
              </a:rPr>
              <a:t> 6D </a:t>
            </a:r>
            <a:r>
              <a:rPr sz="2100" dirty="0" err="1">
                <a:solidFill>
                  <a:srgbClr val="222833"/>
                </a:solidFill>
                <a:latin typeface="微软雅黑"/>
              </a:rPr>
              <a:t>姿态，也可以直接从</a:t>
            </a:r>
            <a:r>
              <a:rPr sz="2100" dirty="0">
                <a:solidFill>
                  <a:srgbClr val="222833"/>
                </a:solidFill>
                <a:latin typeface="微软雅黑"/>
              </a:rPr>
              <a:t> RGB-D </a:t>
            </a:r>
            <a:r>
              <a:rPr sz="2100" dirty="0" err="1">
                <a:solidFill>
                  <a:srgbClr val="222833"/>
                </a:solidFill>
                <a:latin typeface="微软雅黑"/>
              </a:rPr>
              <a:t>图像或点云中预测抓取姿态</a:t>
            </a:r>
            <a:r>
              <a:rPr sz="2100" dirty="0">
                <a:solidFill>
                  <a:srgbClr val="222833"/>
                </a:solidFill>
                <a:latin typeface="微软雅黑"/>
              </a:rPr>
              <a:t>。</a:t>
            </a:r>
          </a:p>
          <a:p>
            <a:pPr algn="l">
              <a:lnSpc>
                <a:spcPct val="112000"/>
              </a:lnSpc>
              <a:spcAft>
                <a:spcPts val="576"/>
              </a:spcAft>
            </a:pPr>
            <a:r>
              <a:rPr sz="2100" dirty="0">
                <a:solidFill>
                  <a:srgbClr val="222833"/>
                </a:solidFill>
                <a:latin typeface="微软雅黑"/>
              </a:rPr>
              <a:t>• </a:t>
            </a:r>
            <a:r>
              <a:rPr sz="2100" dirty="0" err="1">
                <a:solidFill>
                  <a:srgbClr val="222833"/>
                </a:solidFill>
                <a:latin typeface="微软雅黑"/>
              </a:rPr>
              <a:t>在物体表面采样大量</a:t>
            </a:r>
            <a:r>
              <a:rPr sz="2100" dirty="0">
                <a:solidFill>
                  <a:srgbClr val="222833"/>
                </a:solidFill>
                <a:latin typeface="微软雅黑"/>
              </a:rPr>
              <a:t> Grasp </a:t>
            </a:r>
            <a:r>
              <a:rPr sz="2100" dirty="0" err="1">
                <a:solidFill>
                  <a:srgbClr val="222833"/>
                </a:solidFill>
                <a:latin typeface="微软雅黑"/>
              </a:rPr>
              <a:t>Candidate，形成候选点集</a:t>
            </a:r>
            <a:r>
              <a:rPr sz="2100" dirty="0">
                <a:solidFill>
                  <a:srgbClr val="222833"/>
                </a:solidFill>
                <a:latin typeface="微软雅黑"/>
              </a:rPr>
              <a:t> Cg。</a:t>
            </a:r>
          </a:p>
          <a:p>
            <a:pPr algn="l">
              <a:lnSpc>
                <a:spcPct val="112000"/>
              </a:lnSpc>
              <a:spcAft>
                <a:spcPts val="576"/>
              </a:spcAft>
            </a:pPr>
            <a:r>
              <a:rPr sz="2100" dirty="0">
                <a:solidFill>
                  <a:srgbClr val="222833"/>
                </a:solidFill>
                <a:latin typeface="微软雅黑"/>
              </a:rPr>
              <a:t>• </a:t>
            </a:r>
            <a:r>
              <a:rPr sz="2100" dirty="0" err="1">
                <a:solidFill>
                  <a:srgbClr val="222833"/>
                </a:solidFill>
                <a:latin typeface="微软雅黑"/>
              </a:rPr>
              <a:t>利用基于</a:t>
            </a:r>
            <a:r>
              <a:rPr sz="2100" dirty="0">
                <a:solidFill>
                  <a:srgbClr val="222833"/>
                </a:solidFill>
                <a:latin typeface="微软雅黑"/>
              </a:rPr>
              <a:t> GraspNet-1B </a:t>
            </a:r>
            <a:r>
              <a:rPr sz="2100" dirty="0" err="1">
                <a:solidFill>
                  <a:srgbClr val="222833"/>
                </a:solidFill>
                <a:latin typeface="微软雅黑"/>
              </a:rPr>
              <a:t>等数据训练的抓取姿态检测网络进行预测和评分</a:t>
            </a:r>
            <a:r>
              <a:rPr sz="2100" dirty="0">
                <a:solidFill>
                  <a:srgbClr val="222833"/>
                </a:solidFill>
                <a:latin typeface="微软雅黑"/>
              </a:rPr>
              <a:t>。</a:t>
            </a:r>
          </a:p>
          <a:p>
            <a:pPr algn="l">
              <a:lnSpc>
                <a:spcPct val="112000"/>
              </a:lnSpc>
              <a:spcAft>
                <a:spcPts val="576"/>
              </a:spcAft>
            </a:pPr>
            <a:r>
              <a:rPr sz="2100" dirty="0">
                <a:solidFill>
                  <a:srgbClr val="222833"/>
                </a:solidFill>
                <a:latin typeface="微软雅黑"/>
              </a:rPr>
              <a:t>• </a:t>
            </a:r>
            <a:r>
              <a:rPr sz="2100" dirty="0" err="1">
                <a:solidFill>
                  <a:srgbClr val="222833"/>
                </a:solidFill>
                <a:latin typeface="微软雅黑"/>
              </a:rPr>
              <a:t>最终选择稳定性、安全性等综合评分最高的抓取姿态</a:t>
            </a:r>
            <a:r>
              <a:rPr sz="2100" dirty="0">
                <a:solidFill>
                  <a:srgbClr val="222833"/>
                </a:solidFill>
                <a:latin typeface="微软雅黑"/>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32</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最佳抓取点：从候选集合中选择最高分</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960120" y="1691640"/>
            <a:ext cx="10287000" cy="1417320"/>
          </a:xfrm>
          <a:prstGeom prst="roundRect">
            <a:avLst/>
          </a:prstGeom>
          <a:solidFill>
            <a:srgbClr val="EDF2FA"/>
          </a:solidFill>
          <a:ln>
            <a:solidFill>
              <a:srgbClr val="CB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ounded Rectangle 11"/>
          <p:cNvSpPr/>
          <p:nvPr/>
        </p:nvSpPr>
        <p:spPr>
          <a:xfrm>
            <a:off x="960120" y="3429000"/>
            <a:ext cx="10287000" cy="196596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1234440" y="3703320"/>
            <a:ext cx="9738360" cy="701218"/>
          </a:xfrm>
          <a:prstGeom prst="rect">
            <a:avLst/>
          </a:prstGeom>
          <a:noFill/>
        </p:spPr>
        <p:txBody>
          <a:bodyPr wrap="square" lIns="18288" tIns="18288" rIns="18288" bIns="18288" anchor="t">
            <a:spAutoFit/>
          </a:bodyPr>
          <a:lstStyle/>
          <a:p>
            <a:pPr algn="l">
              <a:lnSpc>
                <a:spcPct val="112000"/>
              </a:lnSpc>
            </a:pPr>
            <a:r>
              <a:rPr sz="2000" b="0" i="0" dirty="0" err="1">
                <a:solidFill>
                  <a:srgbClr val="222833"/>
                </a:solidFill>
                <a:latin typeface="微软雅黑"/>
              </a:rPr>
              <a:t>g</a:t>
            </a:r>
            <a:r>
              <a:rPr sz="2000" b="0" i="0" baseline="-25000" dirty="0" err="1">
                <a:solidFill>
                  <a:srgbClr val="222833"/>
                </a:solidFill>
                <a:latin typeface="微软雅黑"/>
              </a:rPr>
              <a:t>best</a:t>
            </a:r>
            <a:r>
              <a:rPr sz="2000" b="0" i="0" dirty="0" err="1">
                <a:solidFill>
                  <a:srgbClr val="222833"/>
                </a:solidFill>
                <a:latin typeface="微软雅黑"/>
              </a:rPr>
              <a:t>：最佳抓取点；C</a:t>
            </a:r>
            <a:r>
              <a:rPr sz="2000" b="0" i="0" baseline="-25000" dirty="0" err="1">
                <a:solidFill>
                  <a:srgbClr val="222833"/>
                </a:solidFill>
                <a:latin typeface="微软雅黑"/>
              </a:rPr>
              <a:t>g</a:t>
            </a:r>
            <a:r>
              <a:rPr sz="2000" b="0" i="0" dirty="0" err="1">
                <a:solidFill>
                  <a:srgbClr val="222833"/>
                </a:solidFill>
                <a:latin typeface="微软雅黑"/>
              </a:rPr>
              <a:t>：候选抓取点集合；S</a:t>
            </a:r>
            <a:r>
              <a:rPr sz="2000" b="0" i="0" dirty="0">
                <a:solidFill>
                  <a:srgbClr val="222833"/>
                </a:solidFill>
                <a:latin typeface="微软雅黑"/>
              </a:rPr>
              <a:t>(gᵢ, I)：</a:t>
            </a:r>
            <a:r>
              <a:rPr sz="2000" b="0" i="0" dirty="0" err="1">
                <a:solidFill>
                  <a:srgbClr val="222833"/>
                </a:solidFill>
                <a:latin typeface="微软雅黑"/>
              </a:rPr>
              <a:t>基于输入图像</a:t>
            </a:r>
            <a:r>
              <a:rPr sz="2000" b="0" i="0" dirty="0">
                <a:solidFill>
                  <a:srgbClr val="222833"/>
                </a:solidFill>
                <a:latin typeface="微软雅黑"/>
              </a:rPr>
              <a:t> I </a:t>
            </a:r>
            <a:r>
              <a:rPr sz="2000" b="0" i="0" dirty="0" err="1">
                <a:solidFill>
                  <a:srgbClr val="222833"/>
                </a:solidFill>
                <a:latin typeface="微软雅黑"/>
              </a:rPr>
              <a:t>的抓取质量评分函数，通常综合稳定性等因素，可由深度网络自动学习</a:t>
            </a:r>
            <a:r>
              <a:rPr sz="2000" b="0" i="0" dirty="0">
                <a:solidFill>
                  <a:srgbClr val="222833"/>
                </a:solidFill>
                <a:latin typeface="微软雅黑"/>
              </a:rPr>
              <a:t>。</a:t>
            </a:r>
          </a:p>
        </p:txBody>
      </p:sp>
      <p:sp>
        <p:nvSpPr>
          <p:cNvPr id="14" name="Rectangle 2">
            <a:extLst>
              <a:ext uri="{FF2B5EF4-FFF2-40B4-BE49-F238E27FC236}">
                <a16:creationId xmlns:a16="http://schemas.microsoft.com/office/drawing/2014/main" id="{75F33430-3276-8C82-FDDD-BD6051422F1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a:extLst>
              <a:ext uri="{FF2B5EF4-FFF2-40B4-BE49-F238E27FC236}">
                <a16:creationId xmlns:a16="http://schemas.microsoft.com/office/drawing/2014/main" id="{5E5F33AA-91C1-25CE-BCC3-F309B5B2B6A1}"/>
              </a:ext>
            </a:extLst>
          </p:cNvPr>
          <p:cNvGraphicFramePr>
            <a:graphicFrameLocks noChangeAspect="1"/>
          </p:cNvGraphicFramePr>
          <p:nvPr>
            <p:extLst>
              <p:ext uri="{D42A27DB-BD31-4B8C-83A1-F6EECF244321}">
                <p14:modId xmlns:p14="http://schemas.microsoft.com/office/powerpoint/2010/main" val="3089030521"/>
              </p:ext>
            </p:extLst>
          </p:nvPr>
        </p:nvGraphicFramePr>
        <p:xfrm>
          <a:off x="3741937" y="2051970"/>
          <a:ext cx="5212750" cy="779938"/>
        </p:xfrm>
        <a:graphic>
          <a:graphicData uri="http://schemas.openxmlformats.org/presentationml/2006/ole">
            <mc:AlternateContent xmlns:mc="http://schemas.openxmlformats.org/markup-compatibility/2006">
              <mc:Choice xmlns:v="urn:schemas-microsoft-com:vml" Requires="v">
                <p:oleObj name="Equation" r:id="rId2" imgW="1675673" imgH="253890" progId="Equation.DSMT4">
                  <p:embed/>
                </p:oleObj>
              </mc:Choice>
              <mc:Fallback>
                <p:oleObj name="Equation" r:id="rId2" imgW="1675673" imgH="25389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1937" y="2051970"/>
                        <a:ext cx="5212750" cy="779938"/>
                      </a:xfrm>
                      <a:prstGeom prst="rect">
                        <a:avLst/>
                      </a:prstGeom>
                      <a:noFill/>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33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机械臂末端执行器的抓取姿态变化</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889025" y="5123126"/>
            <a:ext cx="672084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667085"/>
                </a:solidFill>
                <a:latin typeface="微软雅黑" panose="020B0503020204020204" pitchFamily="34" charset="-122"/>
              </a:rPr>
              <a:t>不同阶段机械臂末端执行器的抓取姿态</a:t>
            </a:r>
            <a:endParaRPr sz="1300" b="1" i="0" dirty="0">
              <a:solidFill>
                <a:srgbClr val="667085"/>
              </a:solidFill>
              <a:latin typeface="微软雅黑" panose="020B0503020204020204" pitchFamily="34" charset="-122"/>
            </a:endParaRPr>
          </a:p>
        </p:txBody>
      </p:sp>
      <p:sp>
        <p:nvSpPr>
          <p:cNvPr id="11" name="Rounded Rectangle 10"/>
          <p:cNvSpPr/>
          <p:nvPr/>
        </p:nvSpPr>
        <p:spPr>
          <a:xfrm>
            <a:off x="7699248" y="1691640"/>
            <a:ext cx="3657600" cy="4023360"/>
          </a:xfrm>
          <a:prstGeom prst="roundRect">
            <a:avLst>
              <a:gd name="adj" fmla="val 1983"/>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ectangle 11"/>
          <p:cNvSpPr/>
          <p:nvPr/>
        </p:nvSpPr>
        <p:spPr>
          <a:xfrm>
            <a:off x="7699248" y="1691640"/>
            <a:ext cx="64008" cy="40233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7909560" y="1837944"/>
            <a:ext cx="327355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动作过程</a:t>
            </a:r>
            <a:endParaRPr sz="2000" b="1" i="0" dirty="0">
              <a:solidFill>
                <a:srgbClr val="2F8E72"/>
              </a:solidFill>
              <a:latin typeface="微软雅黑" panose="020B0503020204020204" pitchFamily="34" charset="-122"/>
            </a:endParaRPr>
          </a:p>
        </p:txBody>
      </p:sp>
      <p:sp>
        <p:nvSpPr>
          <p:cNvPr id="14" name="TextBox 13"/>
          <p:cNvSpPr txBox="1"/>
          <p:nvPr/>
        </p:nvSpPr>
        <p:spPr>
          <a:xfrm>
            <a:off x="7909560" y="2350008"/>
            <a:ext cx="3273552" cy="321868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预抓取 → 接近 → 夹爪交互 → 提升 → 放下 / 松开。抓取不是单一瞬时动作，而是一段连续时序。</a:t>
            </a:r>
          </a:p>
        </p:txBody>
      </p:sp>
      <p:pic>
        <p:nvPicPr>
          <p:cNvPr id="15" name="图片 14">
            <a:extLst>
              <a:ext uri="{FF2B5EF4-FFF2-40B4-BE49-F238E27FC236}">
                <a16:creationId xmlns:a16="http://schemas.microsoft.com/office/drawing/2014/main" id="{B5964240-C96A-B0A2-C904-102A1DFBED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2290" y="3221060"/>
            <a:ext cx="5274310" cy="160528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34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行动阶段：逆运动学把末端目标位姿变成关节角</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658368" y="1874519"/>
            <a:ext cx="2560320" cy="2788920"/>
          </a:xfrm>
          <a:prstGeom prst="roundRect">
            <a:avLst>
              <a:gd name="adj" fmla="val 245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658368" y="1874519"/>
            <a:ext cx="64008" cy="27889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68680" y="2020824"/>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目标位姿</a:t>
            </a:r>
            <a:endParaRPr sz="1800" b="1" i="0" dirty="0">
              <a:solidFill>
                <a:srgbClr val="31599B"/>
              </a:solidFill>
              <a:latin typeface="微软雅黑" panose="020B0503020204020204" pitchFamily="34" charset="-122"/>
            </a:endParaRPr>
          </a:p>
        </p:txBody>
      </p:sp>
      <p:sp>
        <p:nvSpPr>
          <p:cNvPr id="12" name="TextBox 11"/>
          <p:cNvSpPr txBox="1"/>
          <p:nvPr/>
        </p:nvSpPr>
        <p:spPr>
          <a:xfrm>
            <a:off x="868680" y="2532887"/>
            <a:ext cx="2176272" cy="19842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已知机械爪希望到达的位置与方向。</a:t>
            </a:r>
          </a:p>
        </p:txBody>
      </p:sp>
      <p:sp>
        <p:nvSpPr>
          <p:cNvPr id="13" name="Rounded Rectangle 12"/>
          <p:cNvSpPr/>
          <p:nvPr/>
        </p:nvSpPr>
        <p:spPr>
          <a:xfrm>
            <a:off x="3429000" y="1874519"/>
            <a:ext cx="2560320" cy="2788920"/>
          </a:xfrm>
          <a:prstGeom prst="roundRect">
            <a:avLst>
              <a:gd name="adj" fmla="val 487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3429000" y="1874519"/>
            <a:ext cx="64008" cy="27889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3639312" y="2020824"/>
            <a:ext cx="2176272" cy="310021"/>
          </a:xfrm>
          <a:prstGeom prst="rect">
            <a:avLst/>
          </a:prstGeom>
          <a:noFill/>
        </p:spPr>
        <p:txBody>
          <a:bodyPr wrap="square" lIns="18288" tIns="18288" rIns="18288" bIns="18288" anchor="t">
            <a:spAutoFit/>
          </a:bodyPr>
          <a:lstStyle/>
          <a:p>
            <a:pPr algn="l">
              <a:lnSpc>
                <a:spcPct val="105000"/>
              </a:lnSpc>
            </a:pPr>
            <a:r>
              <a:rPr sz="1800" b="1" i="0" dirty="0">
                <a:solidFill>
                  <a:srgbClr val="2F8E72"/>
                </a:solidFill>
                <a:latin typeface="微软雅黑" panose="020B0503020204020204" pitchFamily="34" charset="-122"/>
              </a:rPr>
              <a:t>IK </a:t>
            </a:r>
            <a:r>
              <a:rPr sz="1800" b="1" i="0" dirty="0" err="1">
                <a:solidFill>
                  <a:srgbClr val="2F8E72"/>
                </a:solidFill>
                <a:latin typeface="微软雅黑" panose="020B0503020204020204" pitchFamily="34" charset="-122"/>
              </a:rPr>
              <a:t>求解</a:t>
            </a:r>
            <a:endParaRPr sz="1800" b="1" i="0" dirty="0">
              <a:solidFill>
                <a:srgbClr val="2F8E72"/>
              </a:solidFill>
              <a:latin typeface="微软雅黑" panose="020B0503020204020204" pitchFamily="34" charset="-122"/>
            </a:endParaRPr>
          </a:p>
        </p:txBody>
      </p:sp>
      <p:sp>
        <p:nvSpPr>
          <p:cNvPr id="16" name="TextBox 15"/>
          <p:cNvSpPr txBox="1"/>
          <p:nvPr/>
        </p:nvSpPr>
        <p:spPr>
          <a:xfrm>
            <a:off x="3639312" y="2532887"/>
            <a:ext cx="2176272" cy="19842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逆运动学计算机械臂各关节需要转动的角度。</a:t>
            </a:r>
          </a:p>
        </p:txBody>
      </p:sp>
      <p:sp>
        <p:nvSpPr>
          <p:cNvPr id="17" name="Rounded Rectangle 16"/>
          <p:cNvSpPr/>
          <p:nvPr/>
        </p:nvSpPr>
        <p:spPr>
          <a:xfrm>
            <a:off x="6199631" y="1874519"/>
            <a:ext cx="2560320" cy="2788920"/>
          </a:xfrm>
          <a:prstGeom prst="roundRect">
            <a:avLst>
              <a:gd name="adj" fmla="val 331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6199631" y="1874519"/>
            <a:ext cx="64008" cy="27889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6409944" y="2020824"/>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伺服执行</a:t>
            </a:r>
            <a:endParaRPr sz="1800" b="1" i="0" dirty="0">
              <a:solidFill>
                <a:srgbClr val="C58A24"/>
              </a:solidFill>
              <a:latin typeface="微软雅黑" panose="020B0503020204020204" pitchFamily="34" charset="-122"/>
            </a:endParaRPr>
          </a:p>
        </p:txBody>
      </p:sp>
      <p:sp>
        <p:nvSpPr>
          <p:cNvPr id="20" name="TextBox 19"/>
          <p:cNvSpPr txBox="1"/>
          <p:nvPr/>
        </p:nvSpPr>
        <p:spPr>
          <a:xfrm>
            <a:off x="6409944" y="2532887"/>
            <a:ext cx="2176272" cy="19842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把关节角度或速度指令发送给伺服电动机。</a:t>
            </a:r>
          </a:p>
        </p:txBody>
      </p:sp>
      <p:sp>
        <p:nvSpPr>
          <p:cNvPr id="21" name="Rounded Rectangle 20"/>
          <p:cNvSpPr/>
          <p:nvPr/>
        </p:nvSpPr>
        <p:spPr>
          <a:xfrm>
            <a:off x="8970264" y="1874519"/>
            <a:ext cx="2560320" cy="2788920"/>
          </a:xfrm>
          <a:prstGeom prst="roundRect">
            <a:avLst>
              <a:gd name="adj" fmla="val 401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8970264" y="1874519"/>
            <a:ext cx="64008" cy="27889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9180576" y="2020824"/>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完成任务</a:t>
            </a:r>
            <a:endParaRPr sz="1800" b="1" i="0" dirty="0">
              <a:solidFill>
                <a:srgbClr val="C63F45"/>
              </a:solidFill>
              <a:latin typeface="微软雅黑" panose="020B0503020204020204" pitchFamily="34" charset="-122"/>
            </a:endParaRPr>
          </a:p>
        </p:txBody>
      </p:sp>
      <p:sp>
        <p:nvSpPr>
          <p:cNvPr id="24" name="TextBox 23"/>
          <p:cNvSpPr txBox="1"/>
          <p:nvPr/>
        </p:nvSpPr>
        <p:spPr>
          <a:xfrm>
            <a:off x="9180576" y="2532887"/>
            <a:ext cx="2176272" cy="19842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执行抓取、抬起、搬运和放置。</a:t>
            </a:r>
          </a:p>
        </p:txBody>
      </p:sp>
      <p:sp>
        <p:nvSpPr>
          <p:cNvPr id="25" name="TextBox 24"/>
          <p:cNvSpPr txBox="1"/>
          <p:nvPr/>
        </p:nvSpPr>
        <p:spPr>
          <a:xfrm>
            <a:off x="868680" y="5212080"/>
            <a:ext cx="1033272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检测、决策与控制必须在足够短的时间尺度内协同，才能保持实时闭环</a:t>
            </a:r>
            <a:r>
              <a:rPr sz="1900" b="1" i="0" dirty="0">
                <a:solidFill>
                  <a:srgbClr val="24477D"/>
                </a:solidFill>
                <a:latin typeface="微软雅黑" panose="020B0503020204020204" pitchFamily="34" charset="-122"/>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35</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视觉抓取：从视觉到执行器的完整链条</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804672" y="169164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04672" y="1691640"/>
            <a:ext cx="64008" cy="8686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33271" y="180136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感知</a:t>
            </a:r>
            <a:endParaRPr sz="1800" b="1" i="0" dirty="0">
              <a:solidFill>
                <a:srgbClr val="31599B"/>
              </a:solidFill>
              <a:latin typeface="微软雅黑" panose="020B0503020204020204" pitchFamily="34" charset="-122"/>
            </a:endParaRPr>
          </a:p>
        </p:txBody>
      </p:sp>
      <p:sp>
        <p:nvSpPr>
          <p:cNvPr id="12" name="TextBox 11"/>
          <p:cNvSpPr txBox="1"/>
          <p:nvPr/>
        </p:nvSpPr>
        <p:spPr>
          <a:xfrm>
            <a:off x="2880360" y="1783080"/>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RGB-D / 相机获得图像与深度，YOLO 等算法识别目标。</a:t>
            </a:r>
          </a:p>
        </p:txBody>
      </p:sp>
      <p:sp>
        <p:nvSpPr>
          <p:cNvPr id="13" name="Rounded Rectangle 12"/>
          <p:cNvSpPr/>
          <p:nvPr/>
        </p:nvSpPr>
        <p:spPr>
          <a:xfrm>
            <a:off x="804672" y="278892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804672" y="2788920"/>
            <a:ext cx="64008" cy="8686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1033271" y="289864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几何</a:t>
            </a:r>
            <a:endParaRPr sz="1800" b="1" i="0" dirty="0">
              <a:solidFill>
                <a:srgbClr val="2F8E72"/>
              </a:solidFill>
              <a:latin typeface="微软雅黑" panose="020B0503020204020204" pitchFamily="34" charset="-122"/>
            </a:endParaRPr>
          </a:p>
        </p:txBody>
      </p:sp>
      <p:sp>
        <p:nvSpPr>
          <p:cNvPr id="16" name="TextBox 15"/>
          <p:cNvSpPr txBox="1"/>
          <p:nvPr/>
        </p:nvSpPr>
        <p:spPr>
          <a:xfrm>
            <a:off x="2880360" y="2880360"/>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通过 6D 姿态、点云和候选抓取点建立三维可抓取表示。</a:t>
            </a:r>
          </a:p>
        </p:txBody>
      </p:sp>
      <p:sp>
        <p:nvSpPr>
          <p:cNvPr id="17" name="Rounded Rectangle 16"/>
          <p:cNvSpPr/>
          <p:nvPr/>
        </p:nvSpPr>
        <p:spPr>
          <a:xfrm>
            <a:off x="804672" y="388620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804672" y="3886200"/>
            <a:ext cx="64008" cy="8686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1033271" y="399592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决策</a:t>
            </a:r>
            <a:endParaRPr sz="1800" b="1" i="0" dirty="0">
              <a:solidFill>
                <a:srgbClr val="C58A24"/>
              </a:solidFill>
              <a:latin typeface="微软雅黑" panose="020B0503020204020204" pitchFamily="34" charset="-122"/>
            </a:endParaRPr>
          </a:p>
        </p:txBody>
      </p:sp>
      <p:sp>
        <p:nvSpPr>
          <p:cNvPr id="20" name="TextBox 19"/>
          <p:cNvSpPr txBox="1"/>
          <p:nvPr/>
        </p:nvSpPr>
        <p:spPr>
          <a:xfrm>
            <a:off x="2880360" y="3977639"/>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用抓取质量评分函数选择最稳定、安全的姿态。</a:t>
            </a:r>
          </a:p>
        </p:txBody>
      </p:sp>
      <p:sp>
        <p:nvSpPr>
          <p:cNvPr id="21" name="Rounded Rectangle 20"/>
          <p:cNvSpPr/>
          <p:nvPr/>
        </p:nvSpPr>
        <p:spPr>
          <a:xfrm>
            <a:off x="804672" y="498348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804672" y="4983480"/>
            <a:ext cx="64008" cy="86868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1033271" y="509320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控制</a:t>
            </a:r>
            <a:endParaRPr sz="1800" b="1" i="0" dirty="0">
              <a:solidFill>
                <a:srgbClr val="C63F45"/>
              </a:solidFill>
              <a:latin typeface="微软雅黑" panose="020B0503020204020204" pitchFamily="34" charset="-122"/>
            </a:endParaRPr>
          </a:p>
        </p:txBody>
      </p:sp>
      <p:sp>
        <p:nvSpPr>
          <p:cNvPr id="24" name="TextBox 23"/>
          <p:cNvSpPr txBox="1"/>
          <p:nvPr/>
        </p:nvSpPr>
        <p:spPr>
          <a:xfrm>
            <a:off x="2880360" y="5074920"/>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用 IK 把末端位姿转为关节指令，并由伺服系统执行。</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36</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7.2.3 </a:t>
            </a:r>
            <a:r>
              <a:rPr sz="3500" b="1" i="0" dirty="0" err="1">
                <a:solidFill>
                  <a:srgbClr val="24477D"/>
                </a:solidFill>
                <a:latin typeface="微软雅黑" panose="020B0503020204020204" pitchFamily="34" charset="-122"/>
              </a:rPr>
              <a:t>视觉抓取面临的三类主要挑战</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627632"/>
            <a:ext cx="3246120" cy="2788920"/>
          </a:xfrm>
          <a:prstGeom prst="roundRect">
            <a:avLst>
              <a:gd name="adj" fmla="val 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27632"/>
            <a:ext cx="64008" cy="27889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环境不确定性</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光照变化、遮挡、相机抖动等会使检测和姿态估计失效。</a:t>
            </a:r>
          </a:p>
        </p:txBody>
      </p:sp>
      <p:sp>
        <p:nvSpPr>
          <p:cNvPr id="13" name="Rounded Rectangle 12"/>
          <p:cNvSpPr/>
          <p:nvPr/>
        </p:nvSpPr>
        <p:spPr>
          <a:xfrm>
            <a:off x="4160520" y="1627632"/>
            <a:ext cx="3246120" cy="2788920"/>
          </a:xfrm>
          <a:prstGeom prst="roundRect">
            <a:avLst>
              <a:gd name="adj" fmla="val 1706"/>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27632"/>
            <a:ext cx="64008" cy="27889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实时性与精度矛盾</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机器人需要快速响应，但高精度姿态估计计算量往往更大。</a:t>
            </a:r>
          </a:p>
        </p:txBody>
      </p:sp>
      <p:sp>
        <p:nvSpPr>
          <p:cNvPr id="17" name="Rounded Rectangle 16"/>
          <p:cNvSpPr/>
          <p:nvPr/>
        </p:nvSpPr>
        <p:spPr>
          <a:xfrm>
            <a:off x="7607808" y="1627632"/>
            <a:ext cx="3246120" cy="2788920"/>
          </a:xfrm>
          <a:prstGeom prst="roundRect">
            <a:avLst>
              <a:gd name="adj" fmla="val 11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27632"/>
            <a:ext cx="64008" cy="27889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773936"/>
            <a:ext cx="2862072" cy="340350"/>
          </a:xfrm>
          <a:prstGeom prst="rect">
            <a:avLst/>
          </a:prstGeom>
          <a:noFill/>
        </p:spPr>
        <p:txBody>
          <a:bodyPr wrap="square" lIns="18288" tIns="18288" rIns="18288" bIns="18288" anchor="t">
            <a:spAutoFit/>
          </a:bodyPr>
          <a:lstStyle/>
          <a:p>
            <a:pPr algn="l">
              <a:lnSpc>
                <a:spcPct val="105000"/>
              </a:lnSpc>
            </a:pPr>
            <a:r>
              <a:rPr sz="2000" b="1" i="0" dirty="0">
                <a:solidFill>
                  <a:srgbClr val="C58A24"/>
                </a:solidFill>
                <a:latin typeface="微软雅黑" panose="020B0503020204020204" pitchFamily="34" charset="-122"/>
              </a:rPr>
              <a:t>Sim-to-Real </a:t>
            </a:r>
            <a:r>
              <a:rPr sz="2000" b="1" i="0" dirty="0" err="1">
                <a:solidFill>
                  <a:srgbClr val="C58A24"/>
                </a:solidFill>
                <a:latin typeface="微软雅黑" panose="020B0503020204020204" pitchFamily="34" charset="-122"/>
              </a:rPr>
              <a:t>差距</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摩擦、材质、传感器噪声和通信延迟让仿真策略在真实硬件上性能下降。</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37</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挑战</a:t>
            </a:r>
            <a:r>
              <a:rPr sz="3500" b="1" i="0" dirty="0">
                <a:solidFill>
                  <a:srgbClr val="24477D"/>
                </a:solidFill>
                <a:latin typeface="微软雅黑" panose="020B0503020204020204" pitchFamily="34" charset="-122"/>
              </a:rPr>
              <a:t> 1：环境不确定性</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777240" y="1737360"/>
            <a:ext cx="5577840" cy="2059218"/>
          </a:xfrm>
          <a:prstGeom prst="rect">
            <a:avLst/>
          </a:prstGeom>
          <a:noFill/>
        </p:spPr>
        <p:txBody>
          <a:bodyPr wrap="square" lIns="18288" tIns="18288" rIns="18288" bIns="18288">
            <a:spAutoFit/>
          </a:bodyPr>
          <a:lstStyle/>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光照变化会改变颜色与纹理分布，影响目标检测</a:t>
            </a:r>
            <a:endParaRPr sz="2200" dirty="0">
              <a:solidFill>
                <a:srgbClr val="222833"/>
              </a:solidFill>
              <a:latin typeface="微软雅黑"/>
            </a:endParaRPr>
          </a:p>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遮挡让关键几何信息缺失，可能导致错误边界框或抓取姿态</a:t>
            </a:r>
            <a:endParaRPr sz="2200" dirty="0">
              <a:solidFill>
                <a:srgbClr val="222833"/>
              </a:solidFill>
              <a:latin typeface="微软雅黑"/>
            </a:endParaRPr>
          </a:p>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相机抖动与噪声会使深度和位置估计不稳定</a:t>
            </a:r>
            <a:endParaRPr sz="2200" dirty="0">
              <a:solidFill>
                <a:srgbClr val="222833"/>
              </a:solidFill>
              <a:latin typeface="微软雅黑"/>
            </a:endParaRPr>
          </a:p>
        </p:txBody>
      </p:sp>
      <p:sp>
        <p:nvSpPr>
          <p:cNvPr id="10" name="Rounded Rectangle 9"/>
          <p:cNvSpPr/>
          <p:nvPr/>
        </p:nvSpPr>
        <p:spPr>
          <a:xfrm>
            <a:off x="6720840" y="1737360"/>
            <a:ext cx="4343400" cy="3383280"/>
          </a:xfrm>
          <a:prstGeom prst="roundRect">
            <a:avLst>
              <a:gd name="adj" fmla="val 184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Rectangle 10"/>
          <p:cNvSpPr/>
          <p:nvPr/>
        </p:nvSpPr>
        <p:spPr>
          <a:xfrm>
            <a:off x="6720840" y="1737360"/>
            <a:ext cx="64008" cy="33832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6931152" y="1883664"/>
            <a:ext cx="395935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对应思路</a:t>
            </a:r>
            <a:endParaRPr sz="2000" b="1" i="0" dirty="0">
              <a:solidFill>
                <a:srgbClr val="2F8E72"/>
              </a:solidFill>
              <a:latin typeface="微软雅黑" panose="020B0503020204020204" pitchFamily="34" charset="-122"/>
            </a:endParaRPr>
          </a:p>
        </p:txBody>
      </p:sp>
      <p:sp>
        <p:nvSpPr>
          <p:cNvPr id="13" name="TextBox 12"/>
          <p:cNvSpPr txBox="1"/>
          <p:nvPr/>
        </p:nvSpPr>
        <p:spPr>
          <a:xfrm>
            <a:off x="6931152" y="2395728"/>
            <a:ext cx="3959352" cy="257860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训练时主动加入光照扰动、随机遮挡和噪声，让模型在更多“非理想观测”下学会稳定预测。</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38</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挑战</a:t>
            </a:r>
            <a:r>
              <a:rPr sz="3500" b="1" i="0" dirty="0">
                <a:solidFill>
                  <a:srgbClr val="24477D"/>
                </a:solidFill>
                <a:latin typeface="微软雅黑" panose="020B0503020204020204" pitchFamily="34" charset="-122"/>
              </a:rPr>
              <a:t> 2：实时性与精度的权衡</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77240" y="1691640"/>
            <a:ext cx="5074920" cy="3794760"/>
          </a:xfrm>
          <a:prstGeom prst="roundRect">
            <a:avLst>
              <a:gd name="adj" fmla="val 876"/>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77240" y="1691640"/>
            <a:ext cx="64008" cy="37947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87552" y="1837944"/>
            <a:ext cx="46908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追求更高精度</a:t>
            </a:r>
            <a:endParaRPr sz="2000" b="1" i="0" dirty="0">
              <a:solidFill>
                <a:srgbClr val="31599B"/>
              </a:solidFill>
              <a:latin typeface="微软雅黑" panose="020B0503020204020204" pitchFamily="34" charset="-122"/>
            </a:endParaRPr>
          </a:p>
        </p:txBody>
      </p:sp>
      <p:sp>
        <p:nvSpPr>
          <p:cNvPr id="12" name="TextBox 11"/>
          <p:cNvSpPr txBox="1"/>
          <p:nvPr/>
        </p:nvSpPr>
        <p:spPr>
          <a:xfrm>
            <a:off x="987552" y="2350008"/>
            <a:ext cx="4690872" cy="299008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更复杂的特征提取、更密集的点云处理和更细粒度的姿态估计通常需要更多计算。</a:t>
            </a:r>
          </a:p>
        </p:txBody>
      </p:sp>
      <p:sp>
        <p:nvSpPr>
          <p:cNvPr id="13" name="Rounded Rectangle 12"/>
          <p:cNvSpPr/>
          <p:nvPr/>
        </p:nvSpPr>
        <p:spPr>
          <a:xfrm>
            <a:off x="6172200" y="1691640"/>
            <a:ext cx="5074920" cy="3794760"/>
          </a:xfrm>
          <a:prstGeom prst="roundRect">
            <a:avLst>
              <a:gd name="adj" fmla="val 64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172200" y="1691640"/>
            <a:ext cx="64008" cy="379476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382512" y="1837944"/>
            <a:ext cx="4690872"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追求更低时延</a:t>
            </a:r>
            <a:endParaRPr sz="2000" b="1" i="0" dirty="0">
              <a:solidFill>
                <a:srgbClr val="C58A24"/>
              </a:solidFill>
              <a:latin typeface="微软雅黑" panose="020B0503020204020204" pitchFamily="34" charset="-122"/>
            </a:endParaRPr>
          </a:p>
        </p:txBody>
      </p:sp>
      <p:sp>
        <p:nvSpPr>
          <p:cNvPr id="16" name="TextBox 15"/>
          <p:cNvSpPr txBox="1"/>
          <p:nvPr/>
        </p:nvSpPr>
        <p:spPr>
          <a:xfrm>
            <a:off x="6382512" y="2350008"/>
            <a:ext cx="4690872" cy="299008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抓取系统需要毫秒级或高频响应；推理过慢会让动作基于“过时观测”。</a:t>
            </a:r>
          </a:p>
        </p:txBody>
      </p:sp>
      <p:sp>
        <p:nvSpPr>
          <p:cNvPr id="17" name="TextBox 16"/>
          <p:cNvSpPr txBox="1"/>
          <p:nvPr/>
        </p:nvSpPr>
        <p:spPr>
          <a:xfrm>
            <a:off x="1005840" y="5687568"/>
            <a:ext cx="10149840" cy="320040"/>
          </a:xfrm>
          <a:prstGeom prst="rect">
            <a:avLst/>
          </a:prstGeom>
          <a:noFill/>
        </p:spPr>
        <p:txBody>
          <a:bodyPr wrap="square" lIns="18288" tIns="18288" rIns="18288" bIns="18288" anchor="t">
            <a:spAutoFit/>
          </a:bodyPr>
          <a:lstStyle/>
          <a:p>
            <a:pPr algn="ctr">
              <a:lnSpc>
                <a:spcPct val="105000"/>
              </a:lnSpc>
            </a:pPr>
            <a:r>
              <a:rPr sz="1800" b="1" i="0" dirty="0" err="1">
                <a:solidFill>
                  <a:srgbClr val="C63F45"/>
                </a:solidFill>
                <a:latin typeface="微软雅黑" panose="020B0503020204020204" pitchFamily="34" charset="-122"/>
              </a:rPr>
              <a:t>工程目标不是单独最大化精度，而是在控制周期内获得“足够准确”的稳定决策</a:t>
            </a:r>
            <a:r>
              <a:rPr sz="1800" b="1" i="0" dirty="0">
                <a:solidFill>
                  <a:srgbClr val="C63F45"/>
                </a:solidFill>
                <a:latin typeface="微软雅黑" panose="020B0503020204020204" pitchFamily="34" charset="-122"/>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39</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挑战</a:t>
            </a:r>
            <a:r>
              <a:rPr sz="3500" b="1" i="0" dirty="0">
                <a:solidFill>
                  <a:srgbClr val="24477D"/>
                </a:solidFill>
                <a:latin typeface="微软雅黑" panose="020B0503020204020204" pitchFamily="34" charset="-122"/>
              </a:rPr>
              <a:t> 3：从仿真到现实的迁移差距</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737360"/>
            <a:ext cx="10424160" cy="1351139"/>
          </a:xfrm>
          <a:prstGeom prst="rect">
            <a:avLst/>
          </a:prstGeom>
          <a:noFill/>
        </p:spPr>
        <p:txBody>
          <a:bodyPr wrap="square" lIns="18288" tIns="18288" rIns="18288" bIns="18288">
            <a:spAutoFit/>
          </a:bodyPr>
          <a:lstStyle/>
          <a:p>
            <a:pPr algn="l">
              <a:lnSpc>
                <a:spcPct val="112000"/>
              </a:lnSpc>
              <a:spcAft>
                <a:spcPts val="576"/>
              </a:spcAft>
            </a:pPr>
            <a:r>
              <a:rPr sz="2300" dirty="0">
                <a:solidFill>
                  <a:srgbClr val="222833"/>
                </a:solidFill>
                <a:latin typeface="微软雅黑"/>
              </a:rPr>
              <a:t>• </a:t>
            </a:r>
            <a:r>
              <a:rPr sz="2300" dirty="0" err="1">
                <a:solidFill>
                  <a:srgbClr val="222833"/>
                </a:solidFill>
                <a:latin typeface="微软雅黑"/>
              </a:rPr>
              <a:t>仿真环境中的摩擦系数、材质反射、接触模型与真实世界存在差异</a:t>
            </a:r>
            <a:endParaRPr sz="2300" dirty="0">
              <a:solidFill>
                <a:srgbClr val="222833"/>
              </a:solidFill>
              <a:latin typeface="微软雅黑"/>
            </a:endParaRPr>
          </a:p>
          <a:p>
            <a:pPr algn="l">
              <a:lnSpc>
                <a:spcPct val="112000"/>
              </a:lnSpc>
              <a:spcAft>
                <a:spcPts val="576"/>
              </a:spcAft>
            </a:pPr>
            <a:r>
              <a:rPr sz="2300" dirty="0">
                <a:solidFill>
                  <a:srgbClr val="222833"/>
                </a:solidFill>
                <a:latin typeface="微软雅黑"/>
              </a:rPr>
              <a:t>• </a:t>
            </a:r>
            <a:r>
              <a:rPr sz="2300" dirty="0" err="1">
                <a:solidFill>
                  <a:srgbClr val="222833"/>
                </a:solidFill>
                <a:latin typeface="微软雅黑"/>
              </a:rPr>
              <a:t>真实系统还会引入通信延迟、机械间隙、传感器噪声等因素</a:t>
            </a:r>
            <a:endParaRPr sz="2300" dirty="0">
              <a:solidFill>
                <a:srgbClr val="222833"/>
              </a:solidFill>
              <a:latin typeface="微软雅黑"/>
            </a:endParaRPr>
          </a:p>
          <a:p>
            <a:pPr algn="l">
              <a:lnSpc>
                <a:spcPct val="112000"/>
              </a:lnSpc>
              <a:spcAft>
                <a:spcPts val="576"/>
              </a:spcAft>
            </a:pPr>
            <a:r>
              <a:rPr sz="2300" dirty="0">
                <a:solidFill>
                  <a:srgbClr val="222833"/>
                </a:solidFill>
                <a:latin typeface="微软雅黑"/>
              </a:rPr>
              <a:t>• </a:t>
            </a:r>
            <a:r>
              <a:rPr sz="2300" dirty="0" err="1">
                <a:solidFill>
                  <a:srgbClr val="222833"/>
                </a:solidFill>
                <a:latin typeface="微软雅黑"/>
              </a:rPr>
              <a:t>因此“仿真中完美”的策略并不等于“真实机器人上稳定</a:t>
            </a:r>
            <a:r>
              <a:rPr sz="2300" dirty="0">
                <a:solidFill>
                  <a:srgbClr val="222833"/>
                </a:solidFill>
                <a:latin typeface="微软雅黑"/>
              </a:rPr>
              <a:t>”</a:t>
            </a:r>
          </a:p>
        </p:txBody>
      </p:sp>
      <p:sp>
        <p:nvSpPr>
          <p:cNvPr id="10" name="TextBox 9"/>
          <p:cNvSpPr txBox="1"/>
          <p:nvPr/>
        </p:nvSpPr>
        <p:spPr>
          <a:xfrm>
            <a:off x="914400" y="5212080"/>
            <a:ext cx="10241280" cy="340350"/>
          </a:xfrm>
          <a:prstGeom prst="rect">
            <a:avLst/>
          </a:prstGeom>
          <a:noFill/>
        </p:spPr>
        <p:txBody>
          <a:bodyPr wrap="square" lIns="18288" tIns="18288" rIns="18288" bIns="18288" anchor="t">
            <a:spAutoFit/>
          </a:bodyPr>
          <a:lstStyle/>
          <a:p>
            <a:pPr algn="ctr">
              <a:lnSpc>
                <a:spcPct val="105000"/>
              </a:lnSpc>
            </a:pPr>
            <a:r>
              <a:rPr sz="2000" b="1" i="0" dirty="0">
                <a:solidFill>
                  <a:srgbClr val="24477D"/>
                </a:solidFill>
                <a:latin typeface="微软雅黑" panose="020B0503020204020204" pitchFamily="34" charset="-122"/>
              </a:rPr>
              <a:t>Sim-to-Real </a:t>
            </a:r>
            <a:r>
              <a:rPr sz="2000" b="1" i="0" dirty="0" err="1">
                <a:solidFill>
                  <a:srgbClr val="24477D"/>
                </a:solidFill>
                <a:latin typeface="微软雅黑" panose="020B0503020204020204" pitchFamily="34" charset="-122"/>
              </a:rPr>
              <a:t>的核心：让模型在训练时经历更丰富的分布，并在真实交互中继续适配</a:t>
            </a:r>
            <a:r>
              <a:rPr sz="2000" b="1" i="0" dirty="0">
                <a:solidFill>
                  <a:srgbClr val="24477D"/>
                </a:solidFill>
                <a:latin typeface="微软雅黑" panose="020B0503020204020204" pitchFamily="34" charset="-122"/>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40</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改进方法</a:t>
            </a:r>
            <a:r>
              <a:rPr sz="3500" b="1" i="0" dirty="0">
                <a:solidFill>
                  <a:srgbClr val="24477D"/>
                </a:solidFill>
                <a:latin typeface="微软雅黑" panose="020B0503020204020204" pitchFamily="34" charset="-122"/>
              </a:rPr>
              <a:t> 1：数据增强提高视觉鲁棒性</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822960" y="1828800"/>
            <a:ext cx="3246120" cy="3291840"/>
          </a:xfrm>
          <a:prstGeom prst="roundRect">
            <a:avLst>
              <a:gd name="adj" fmla="val 1489"/>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22960" y="1828800"/>
            <a:ext cx="64008" cy="32918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33272" y="1975104"/>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光照扰动</a:t>
            </a:r>
            <a:endParaRPr sz="2000" b="1" i="0" dirty="0">
              <a:solidFill>
                <a:srgbClr val="31599B"/>
              </a:solidFill>
              <a:latin typeface="微软雅黑" panose="020B0503020204020204" pitchFamily="34" charset="-122"/>
            </a:endParaRPr>
          </a:p>
        </p:txBody>
      </p:sp>
      <p:sp>
        <p:nvSpPr>
          <p:cNvPr id="12" name="TextBox 11"/>
          <p:cNvSpPr txBox="1"/>
          <p:nvPr/>
        </p:nvSpPr>
        <p:spPr>
          <a:xfrm>
            <a:off x="1033272" y="2487168"/>
            <a:ext cx="2862072" cy="248716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随机亮度、对比度与色彩变化。</a:t>
            </a:r>
          </a:p>
        </p:txBody>
      </p:sp>
      <p:sp>
        <p:nvSpPr>
          <p:cNvPr id="13" name="Rounded Rectangle 12"/>
          <p:cNvSpPr/>
          <p:nvPr/>
        </p:nvSpPr>
        <p:spPr>
          <a:xfrm>
            <a:off x="4434840" y="1828800"/>
            <a:ext cx="3246120" cy="3291840"/>
          </a:xfrm>
          <a:prstGeom prst="roundRect">
            <a:avLst>
              <a:gd name="adj" fmla="val 135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434840" y="1828800"/>
            <a:ext cx="64008" cy="32918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645152" y="1975104"/>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遮挡增强</a:t>
            </a:r>
            <a:endParaRPr sz="2000" b="1" i="0" dirty="0">
              <a:solidFill>
                <a:srgbClr val="2F8E72"/>
              </a:solidFill>
              <a:latin typeface="微软雅黑" panose="020B0503020204020204" pitchFamily="34" charset="-122"/>
            </a:endParaRPr>
          </a:p>
        </p:txBody>
      </p:sp>
      <p:sp>
        <p:nvSpPr>
          <p:cNvPr id="16" name="TextBox 15"/>
          <p:cNvSpPr txBox="1"/>
          <p:nvPr/>
        </p:nvSpPr>
        <p:spPr>
          <a:xfrm>
            <a:off x="4645152" y="2487168"/>
            <a:ext cx="2862072" cy="248716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人为遮挡部分物体，模拟拥挤场景。</a:t>
            </a:r>
          </a:p>
        </p:txBody>
      </p:sp>
      <p:sp>
        <p:nvSpPr>
          <p:cNvPr id="17" name="Rounded Rectangle 16"/>
          <p:cNvSpPr/>
          <p:nvPr/>
        </p:nvSpPr>
        <p:spPr>
          <a:xfrm>
            <a:off x="8046720" y="1828800"/>
            <a:ext cx="3246120" cy="3291840"/>
          </a:xfrm>
          <a:prstGeom prst="roundRect">
            <a:avLst>
              <a:gd name="adj" fmla="val 176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8046720" y="1828800"/>
            <a:ext cx="64008" cy="32918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8257032" y="1975104"/>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噪声注入</a:t>
            </a:r>
            <a:endParaRPr sz="2000" b="1" i="0" dirty="0">
              <a:solidFill>
                <a:srgbClr val="C58A24"/>
              </a:solidFill>
              <a:latin typeface="微软雅黑" panose="020B0503020204020204" pitchFamily="34" charset="-122"/>
            </a:endParaRPr>
          </a:p>
        </p:txBody>
      </p:sp>
      <p:sp>
        <p:nvSpPr>
          <p:cNvPr id="20" name="TextBox 19"/>
          <p:cNvSpPr txBox="1"/>
          <p:nvPr/>
        </p:nvSpPr>
        <p:spPr>
          <a:xfrm>
            <a:off x="8257032" y="2487168"/>
            <a:ext cx="2862072" cy="248716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加入传感器噪声、模糊或相机扰动。</a:t>
            </a:r>
          </a:p>
        </p:txBody>
      </p:sp>
      <p:sp>
        <p:nvSpPr>
          <p:cNvPr id="21" name="TextBox 20"/>
          <p:cNvSpPr txBox="1"/>
          <p:nvPr/>
        </p:nvSpPr>
        <p:spPr>
          <a:xfrm>
            <a:off x="1005840" y="5394960"/>
            <a:ext cx="1005840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目标：把“训练数据的变化”转化为“部署环境下的鲁棒性</a:t>
            </a:r>
            <a:r>
              <a:rPr sz="1900" b="1" i="0" dirty="0">
                <a:solidFill>
                  <a:srgbClr val="24477D"/>
                </a:solidFill>
                <a:latin typeface="微软雅黑" panose="020B0503020204020204" pitchFamily="34" charset="-122"/>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41</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改进方法</a:t>
            </a:r>
            <a:r>
              <a:rPr sz="3500" b="1" i="0" dirty="0">
                <a:solidFill>
                  <a:srgbClr val="24477D"/>
                </a:solidFill>
                <a:latin typeface="微软雅黑" panose="020B0503020204020204" pitchFamily="34" charset="-122"/>
              </a:rPr>
              <a:t> 2：多模态信息融合</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685800" y="1783080"/>
            <a:ext cx="3246120" cy="3474720"/>
          </a:xfrm>
          <a:prstGeom prst="roundRect">
            <a:avLst>
              <a:gd name="adj" fmla="val 3129"/>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685800" y="1783080"/>
            <a:ext cx="64008" cy="3474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96112" y="1929384"/>
            <a:ext cx="2862072" cy="340350"/>
          </a:xfrm>
          <a:prstGeom prst="rect">
            <a:avLst/>
          </a:prstGeom>
          <a:noFill/>
        </p:spPr>
        <p:txBody>
          <a:bodyPr wrap="square" lIns="18288" tIns="18288" rIns="18288" bIns="18288" anchor="t">
            <a:spAutoFit/>
          </a:bodyPr>
          <a:lstStyle/>
          <a:p>
            <a:pPr algn="l">
              <a:lnSpc>
                <a:spcPct val="105000"/>
              </a:lnSpc>
            </a:pPr>
            <a:r>
              <a:rPr sz="2000" b="1" i="0" dirty="0">
                <a:solidFill>
                  <a:srgbClr val="31599B"/>
                </a:solidFill>
                <a:latin typeface="微软雅黑" panose="020B0503020204020204" pitchFamily="34" charset="-122"/>
              </a:rPr>
              <a:t>RGB</a:t>
            </a:r>
          </a:p>
        </p:txBody>
      </p:sp>
      <p:sp>
        <p:nvSpPr>
          <p:cNvPr id="12" name="TextBox 11"/>
          <p:cNvSpPr txBox="1"/>
          <p:nvPr/>
        </p:nvSpPr>
        <p:spPr>
          <a:xfrm>
            <a:off x="896112" y="2441448"/>
            <a:ext cx="2862072" cy="331822"/>
          </a:xfrm>
          <a:prstGeom prst="rect">
            <a:avLst/>
          </a:prstGeom>
          <a:noFill/>
        </p:spPr>
        <p:txBody>
          <a:bodyPr wrap="square" lIns="18288" tIns="18288" rIns="18288" bIns="18288" anchor="t">
            <a:spAutoFit/>
          </a:bodyPr>
          <a:lstStyle/>
          <a:p>
            <a:pPr algn="l">
              <a:lnSpc>
                <a:spcPct val="108000"/>
              </a:lnSpc>
            </a:pPr>
            <a:r>
              <a:rPr sz="1900" b="0" i="0" dirty="0" err="1">
                <a:solidFill>
                  <a:srgbClr val="222833"/>
                </a:solidFill>
                <a:latin typeface="微软雅黑"/>
              </a:rPr>
              <a:t>语义、颜色和纹理信息</a:t>
            </a:r>
            <a:endParaRPr sz="1900" b="0" i="0" dirty="0">
              <a:solidFill>
                <a:srgbClr val="222833"/>
              </a:solidFill>
              <a:latin typeface="微软雅黑"/>
            </a:endParaRPr>
          </a:p>
        </p:txBody>
      </p:sp>
      <p:sp>
        <p:nvSpPr>
          <p:cNvPr id="13" name="Rounded Rectangle 12"/>
          <p:cNvSpPr/>
          <p:nvPr/>
        </p:nvSpPr>
        <p:spPr>
          <a:xfrm>
            <a:off x="4160520" y="1783080"/>
            <a:ext cx="3246120" cy="3474720"/>
          </a:xfrm>
          <a:prstGeom prst="roundRect">
            <a:avLst>
              <a:gd name="adj" fmla="val 1899"/>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783080"/>
            <a:ext cx="64008" cy="3474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929384"/>
            <a:ext cx="2862072" cy="340350"/>
          </a:xfrm>
          <a:prstGeom prst="rect">
            <a:avLst/>
          </a:prstGeom>
          <a:noFill/>
        </p:spPr>
        <p:txBody>
          <a:bodyPr wrap="square" lIns="18288" tIns="18288" rIns="18288" bIns="18288" anchor="t">
            <a:spAutoFit/>
          </a:bodyPr>
          <a:lstStyle/>
          <a:p>
            <a:pPr algn="l">
              <a:lnSpc>
                <a:spcPct val="105000"/>
              </a:lnSpc>
            </a:pPr>
            <a:r>
              <a:rPr sz="2000" b="1" i="0" dirty="0">
                <a:solidFill>
                  <a:srgbClr val="2F8E72"/>
                </a:solidFill>
                <a:latin typeface="微软雅黑" panose="020B0503020204020204" pitchFamily="34" charset="-122"/>
              </a:rPr>
              <a:t>Depth</a:t>
            </a:r>
          </a:p>
        </p:txBody>
      </p:sp>
      <p:sp>
        <p:nvSpPr>
          <p:cNvPr id="16" name="TextBox 15"/>
          <p:cNvSpPr txBox="1"/>
          <p:nvPr/>
        </p:nvSpPr>
        <p:spPr>
          <a:xfrm>
            <a:off x="4370832" y="2441448"/>
            <a:ext cx="2862072" cy="331822"/>
          </a:xfrm>
          <a:prstGeom prst="rect">
            <a:avLst/>
          </a:prstGeom>
          <a:noFill/>
        </p:spPr>
        <p:txBody>
          <a:bodyPr wrap="square" lIns="18288" tIns="18288" rIns="18288" bIns="18288" anchor="t">
            <a:spAutoFit/>
          </a:bodyPr>
          <a:lstStyle/>
          <a:p>
            <a:pPr algn="l">
              <a:lnSpc>
                <a:spcPct val="108000"/>
              </a:lnSpc>
            </a:pPr>
            <a:r>
              <a:rPr sz="1900" b="0" i="0" dirty="0" err="1">
                <a:solidFill>
                  <a:srgbClr val="222833"/>
                </a:solidFill>
                <a:latin typeface="微软雅黑"/>
              </a:rPr>
              <a:t>距离和三维几何信息</a:t>
            </a:r>
            <a:endParaRPr sz="1900" b="0" i="0" dirty="0">
              <a:solidFill>
                <a:srgbClr val="222833"/>
              </a:solidFill>
              <a:latin typeface="微软雅黑"/>
            </a:endParaRPr>
          </a:p>
        </p:txBody>
      </p:sp>
      <p:sp>
        <p:nvSpPr>
          <p:cNvPr id="17" name="Rounded Rectangle 16"/>
          <p:cNvSpPr/>
          <p:nvPr/>
        </p:nvSpPr>
        <p:spPr>
          <a:xfrm>
            <a:off x="7635240" y="1783080"/>
            <a:ext cx="3246120" cy="3474720"/>
          </a:xfrm>
          <a:prstGeom prst="roundRect">
            <a:avLst>
              <a:gd name="adj" fmla="val 258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35240" y="1783080"/>
            <a:ext cx="64008" cy="3474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45552" y="1929384"/>
            <a:ext cx="2862072" cy="340350"/>
          </a:xfrm>
          <a:prstGeom prst="rect">
            <a:avLst/>
          </a:prstGeom>
          <a:noFill/>
        </p:spPr>
        <p:txBody>
          <a:bodyPr wrap="square" lIns="18288" tIns="18288" rIns="18288" bIns="18288" anchor="t">
            <a:spAutoFit/>
          </a:bodyPr>
          <a:lstStyle/>
          <a:p>
            <a:pPr algn="l">
              <a:lnSpc>
                <a:spcPct val="105000"/>
              </a:lnSpc>
            </a:pPr>
            <a:r>
              <a:rPr sz="2000" b="1" i="0" dirty="0">
                <a:solidFill>
                  <a:srgbClr val="C58A24"/>
                </a:solidFill>
                <a:latin typeface="微软雅黑" panose="020B0503020204020204" pitchFamily="34" charset="-122"/>
              </a:rPr>
              <a:t>Touch</a:t>
            </a:r>
          </a:p>
        </p:txBody>
      </p:sp>
      <p:sp>
        <p:nvSpPr>
          <p:cNvPr id="20" name="TextBox 19"/>
          <p:cNvSpPr txBox="1"/>
          <p:nvPr/>
        </p:nvSpPr>
        <p:spPr>
          <a:xfrm>
            <a:off x="7845552" y="2441448"/>
            <a:ext cx="2862072" cy="331822"/>
          </a:xfrm>
          <a:prstGeom prst="rect">
            <a:avLst/>
          </a:prstGeom>
          <a:noFill/>
        </p:spPr>
        <p:txBody>
          <a:bodyPr wrap="square" lIns="18288" tIns="18288" rIns="18288" bIns="18288" anchor="t">
            <a:spAutoFit/>
          </a:bodyPr>
          <a:lstStyle/>
          <a:p>
            <a:pPr algn="l">
              <a:lnSpc>
                <a:spcPct val="108000"/>
              </a:lnSpc>
            </a:pPr>
            <a:r>
              <a:rPr sz="1900" b="0" i="0" dirty="0" err="1">
                <a:solidFill>
                  <a:srgbClr val="222833"/>
                </a:solidFill>
                <a:latin typeface="微软雅黑"/>
              </a:rPr>
              <a:t>接触、夹持力与滑移信息</a:t>
            </a:r>
            <a:endParaRPr sz="1900" b="0" i="0" dirty="0">
              <a:solidFill>
                <a:srgbClr val="222833"/>
              </a:solidFill>
              <a:latin typeface="微软雅黑"/>
            </a:endParaRPr>
          </a:p>
        </p:txBody>
      </p:sp>
      <p:sp>
        <p:nvSpPr>
          <p:cNvPr id="21" name="TextBox 20"/>
          <p:cNvSpPr txBox="1"/>
          <p:nvPr/>
        </p:nvSpPr>
        <p:spPr>
          <a:xfrm>
            <a:off x="822960" y="5486400"/>
            <a:ext cx="1024128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多个模态相互补偿，可以减少单一视觉失效时的系统脆弱性</a:t>
            </a:r>
            <a:r>
              <a:rPr sz="1900" b="1" i="0" dirty="0">
                <a:solidFill>
                  <a:srgbClr val="24477D"/>
                </a:solidFill>
                <a:latin typeface="微软雅黑" panose="020B0503020204020204" pitchFamily="34" charset="-122"/>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42</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改进方法</a:t>
            </a:r>
            <a:r>
              <a:rPr sz="3500" b="1" i="0" dirty="0">
                <a:solidFill>
                  <a:srgbClr val="24477D"/>
                </a:solidFill>
                <a:latin typeface="微软雅黑" panose="020B0503020204020204" pitchFamily="34" charset="-122"/>
              </a:rPr>
              <a:t> 3：强化学习微调</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737360"/>
            <a:ext cx="10424160" cy="3474720"/>
          </a:xfrm>
          <a:prstGeom prst="rect">
            <a:avLst/>
          </a:prstGeom>
          <a:noFill/>
        </p:spPr>
        <p:txBody>
          <a:bodyPr wrap="square" lIns="18288" tIns="18288" rIns="18288" bIns="18288">
            <a:spAutoFit/>
          </a:bodyPr>
          <a:lstStyle/>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先用演示数据学习一个可用的抓取策略，再在真实或高保真环境中交互</a:t>
            </a:r>
            <a:r>
              <a:rPr sz="2200" dirty="0">
                <a:solidFill>
                  <a:srgbClr val="222833"/>
                </a:solidFill>
                <a:latin typeface="微软雅黑"/>
              </a:rPr>
              <a:t>。</a:t>
            </a:r>
          </a:p>
          <a:p>
            <a:pPr algn="l">
              <a:lnSpc>
                <a:spcPct val="112000"/>
              </a:lnSpc>
              <a:spcAft>
                <a:spcPts val="576"/>
              </a:spcAft>
            </a:pPr>
            <a:r>
              <a:rPr sz="2200" dirty="0">
                <a:solidFill>
                  <a:srgbClr val="222833"/>
                </a:solidFill>
                <a:latin typeface="微软雅黑"/>
              </a:rPr>
              <a:t>• PPO、SAC </a:t>
            </a:r>
            <a:r>
              <a:rPr sz="2200" dirty="0" err="1">
                <a:solidFill>
                  <a:srgbClr val="222833"/>
                </a:solidFill>
                <a:latin typeface="微软雅黑"/>
              </a:rPr>
              <a:t>等强化学习算法可根据任务成功、碰撞、稳定性等奖励持续优化策略</a:t>
            </a:r>
            <a:r>
              <a:rPr sz="2200" dirty="0">
                <a:solidFill>
                  <a:srgbClr val="222833"/>
                </a:solidFill>
                <a:latin typeface="微软雅黑"/>
              </a:rPr>
              <a:t>。</a:t>
            </a:r>
          </a:p>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这种方式把“离线模仿”与“在线纠错”结合起来，提升策略对真实不确定性的适应能力</a:t>
            </a:r>
            <a:r>
              <a:rPr sz="2200" dirty="0">
                <a:solidFill>
                  <a:srgbClr val="222833"/>
                </a:solidFill>
                <a:latin typeface="微软雅黑"/>
              </a:rPr>
              <a:t>。</a:t>
            </a:r>
          </a:p>
        </p:txBody>
      </p:sp>
      <p:sp>
        <p:nvSpPr>
          <p:cNvPr id="10" name="TextBox 9"/>
          <p:cNvSpPr txBox="1"/>
          <p:nvPr/>
        </p:nvSpPr>
        <p:spPr>
          <a:xfrm>
            <a:off x="1028699" y="4451264"/>
            <a:ext cx="10058400" cy="340350"/>
          </a:xfrm>
          <a:prstGeom prst="rect">
            <a:avLst/>
          </a:prstGeom>
          <a:noFill/>
        </p:spPr>
        <p:txBody>
          <a:bodyPr wrap="square" lIns="18288" tIns="18288" rIns="18288" bIns="18288" anchor="t">
            <a:spAutoFit/>
          </a:bodyPr>
          <a:lstStyle/>
          <a:p>
            <a:pPr algn="ctr">
              <a:lnSpc>
                <a:spcPct val="105000"/>
              </a:lnSpc>
            </a:pPr>
            <a:r>
              <a:rPr sz="2000" b="1" i="0" dirty="0" err="1">
                <a:solidFill>
                  <a:srgbClr val="2F8E72"/>
                </a:solidFill>
                <a:latin typeface="微软雅黑" panose="020B0503020204020204" pitchFamily="34" charset="-122"/>
              </a:rPr>
              <a:t>视觉抓取闭环与“状态</a:t>
            </a:r>
            <a:r>
              <a:rPr sz="2000" b="1" i="0" dirty="0">
                <a:solidFill>
                  <a:srgbClr val="2F8E72"/>
                </a:solidFill>
                <a:latin typeface="微软雅黑" panose="020B0503020204020204" pitchFamily="34" charset="-122"/>
              </a:rPr>
              <a:t>—</a:t>
            </a:r>
            <a:r>
              <a:rPr sz="2000" b="1" i="0" dirty="0" err="1">
                <a:solidFill>
                  <a:srgbClr val="2F8E72"/>
                </a:solidFill>
                <a:latin typeface="微软雅黑" panose="020B0503020204020204" pitchFamily="34" charset="-122"/>
              </a:rPr>
              <a:t>动作</a:t>
            </a:r>
            <a:r>
              <a:rPr sz="2000" b="1" i="0" dirty="0">
                <a:solidFill>
                  <a:srgbClr val="2F8E72"/>
                </a:solidFill>
                <a:latin typeface="微软雅黑" panose="020B0503020204020204" pitchFamily="34" charset="-122"/>
              </a:rPr>
              <a:t>—</a:t>
            </a:r>
            <a:r>
              <a:rPr sz="2000" b="1" i="0" dirty="0" err="1">
                <a:solidFill>
                  <a:srgbClr val="2F8E72"/>
                </a:solidFill>
                <a:latin typeface="微软雅黑" panose="020B0503020204020204" pitchFamily="34" charset="-122"/>
              </a:rPr>
              <a:t>奖励”交互循环高度一致</a:t>
            </a:r>
            <a:r>
              <a:rPr sz="2000" b="1" i="0" dirty="0">
                <a:solidFill>
                  <a:srgbClr val="2F8E72"/>
                </a:solidFill>
                <a:latin typeface="微软雅黑" panose="020B0503020204020204" pitchFamily="34" charset="-122"/>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ea typeface="微软雅黑" panose="020B0503020204020204" pitchFamily="34" charset="-122"/>
              </a:rPr>
              <a:t>具身智能导论</a:t>
            </a:r>
            <a:r>
              <a:rPr sz="1000" b="0" i="0" dirty="0">
                <a:solidFill>
                  <a:srgbClr val="8C98AA"/>
                </a:solidFill>
                <a:latin typeface="微软雅黑" panose="020B0503020204020204" pitchFamily="34" charset="-122"/>
                <a:ea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ea typeface="微软雅黑" panose="020B0503020204020204" pitchFamily="34" charset="-122"/>
              </a:rPr>
              <a:t>视觉－语言－动作模型</a:t>
            </a:r>
            <a:endParaRPr sz="1000" b="0" i="0" dirty="0">
              <a:solidFill>
                <a:srgbClr val="8C98AA"/>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ea typeface="微软雅黑" panose="020B0503020204020204" pitchFamily="34" charset="-122"/>
              </a:rPr>
              <a:t>43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ea typeface="微软雅黑" panose="020B0503020204020204" pitchFamily="34" charset="-122"/>
              </a:rPr>
              <a:t>改进方法</a:t>
            </a:r>
            <a:r>
              <a:rPr sz="3500" b="1" i="0" dirty="0">
                <a:solidFill>
                  <a:srgbClr val="24477D"/>
                </a:solidFill>
                <a:latin typeface="微软雅黑" panose="020B0503020204020204" pitchFamily="34" charset="-122"/>
                <a:ea typeface="微软雅黑" panose="020B0503020204020204" pitchFamily="34" charset="-122"/>
              </a:rPr>
              <a:t> 4：引入语言条件，升级为 VLA </a:t>
            </a:r>
            <a:r>
              <a:rPr sz="3500" b="1" i="0" dirty="0" err="1">
                <a:solidFill>
                  <a:srgbClr val="24477D"/>
                </a:solidFill>
                <a:latin typeface="微软雅黑" panose="020B0503020204020204" pitchFamily="34" charset="-122"/>
                <a:ea typeface="微软雅黑" panose="020B0503020204020204" pitchFamily="34" charset="-122"/>
              </a:rPr>
              <a:t>决策</a:t>
            </a:r>
            <a:endParaRPr sz="3500" b="1" i="0" dirty="0">
              <a:solidFill>
                <a:srgbClr val="24477D"/>
              </a:solidFill>
              <a:latin typeface="微软雅黑" panose="020B0503020204020204" pitchFamily="34" charset="-122"/>
              <a:ea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9" name="TextBox 8"/>
          <p:cNvSpPr txBox="1"/>
          <p:nvPr/>
        </p:nvSpPr>
        <p:spPr>
          <a:xfrm>
            <a:off x="822960" y="1737360"/>
            <a:ext cx="10424160" cy="1300805"/>
          </a:xfrm>
          <a:prstGeom prst="rect">
            <a:avLst/>
          </a:prstGeom>
          <a:noFill/>
        </p:spPr>
        <p:txBody>
          <a:bodyPr wrap="square" lIns="18288" tIns="18288" rIns="18288" bIns="18288">
            <a:spAutoFit/>
          </a:bodyPr>
          <a:lstStyle/>
          <a:p>
            <a:pPr algn="l">
              <a:lnSpc>
                <a:spcPct val="112000"/>
              </a:lnSpc>
              <a:spcAft>
                <a:spcPts val="576"/>
              </a:spcAft>
            </a:pPr>
            <a:r>
              <a:rPr sz="2200" dirty="0">
                <a:solidFill>
                  <a:srgbClr val="222833"/>
                </a:solidFill>
                <a:latin typeface="微软雅黑" panose="020B0503020204020204" pitchFamily="34" charset="-122"/>
                <a:ea typeface="微软雅黑" panose="020B0503020204020204" pitchFamily="34" charset="-122"/>
              </a:rPr>
              <a:t>• </a:t>
            </a:r>
            <a:r>
              <a:rPr sz="2200" dirty="0" err="1">
                <a:solidFill>
                  <a:srgbClr val="222833"/>
                </a:solidFill>
                <a:latin typeface="微软雅黑" panose="020B0503020204020204" pitchFamily="34" charset="-122"/>
                <a:ea typeface="微软雅黑" panose="020B0503020204020204" pitchFamily="34" charset="-122"/>
              </a:rPr>
              <a:t>语言指令提供“要抓什么、做什么”的任务条件，视觉负责当前环境中的具体落点</a:t>
            </a:r>
            <a:endParaRPr sz="2200" dirty="0">
              <a:solidFill>
                <a:srgbClr val="222833"/>
              </a:solidFill>
              <a:latin typeface="微软雅黑" panose="020B0503020204020204" pitchFamily="34" charset="-122"/>
              <a:ea typeface="微软雅黑" panose="020B0503020204020204" pitchFamily="34" charset="-122"/>
            </a:endParaRPr>
          </a:p>
          <a:p>
            <a:pPr algn="l">
              <a:lnSpc>
                <a:spcPct val="112000"/>
              </a:lnSpc>
              <a:spcAft>
                <a:spcPts val="576"/>
              </a:spcAft>
            </a:pPr>
            <a:r>
              <a:rPr sz="2200" dirty="0">
                <a:solidFill>
                  <a:srgbClr val="222833"/>
                </a:solidFill>
                <a:latin typeface="微软雅黑" panose="020B0503020204020204" pitchFamily="34" charset="-122"/>
                <a:ea typeface="微软雅黑" panose="020B0503020204020204" pitchFamily="34" charset="-122"/>
              </a:rPr>
              <a:t>• </a:t>
            </a:r>
            <a:r>
              <a:rPr sz="2200" dirty="0" err="1">
                <a:solidFill>
                  <a:srgbClr val="222833"/>
                </a:solidFill>
                <a:latin typeface="微软雅黑" panose="020B0503020204020204" pitchFamily="34" charset="-122"/>
                <a:ea typeface="微软雅黑" panose="020B0503020204020204" pitchFamily="34" charset="-122"/>
              </a:rPr>
              <a:t>模型可以根据自然语言描述进行条件化决策，而不必为每个任务单独编写固定规则</a:t>
            </a:r>
            <a:endParaRPr sz="2200" dirty="0">
              <a:solidFill>
                <a:srgbClr val="222833"/>
              </a:solidFill>
              <a:latin typeface="微软雅黑" panose="020B0503020204020204" pitchFamily="34" charset="-122"/>
              <a:ea typeface="微软雅黑" panose="020B0503020204020204" pitchFamily="34" charset="-122"/>
            </a:endParaRPr>
          </a:p>
          <a:p>
            <a:pPr algn="l">
              <a:lnSpc>
                <a:spcPct val="112000"/>
              </a:lnSpc>
              <a:spcAft>
                <a:spcPts val="576"/>
              </a:spcAft>
            </a:pPr>
            <a:r>
              <a:rPr sz="2200" dirty="0">
                <a:solidFill>
                  <a:srgbClr val="222833"/>
                </a:solidFill>
                <a:latin typeface="微软雅黑" panose="020B0503020204020204" pitchFamily="34" charset="-122"/>
                <a:ea typeface="微软雅黑" panose="020B0503020204020204" pitchFamily="34" charset="-122"/>
              </a:rPr>
              <a:t>• 以 RT-1 </a:t>
            </a:r>
            <a:r>
              <a:rPr lang="zh-CN" altLang="en-US" sz="2200" dirty="0">
                <a:solidFill>
                  <a:srgbClr val="222833"/>
                </a:solidFill>
                <a:latin typeface="微软雅黑" panose="020B0503020204020204" pitchFamily="34" charset="-122"/>
                <a:ea typeface="微软雅黑" panose="020B0503020204020204" pitchFamily="34" charset="-122"/>
              </a:rPr>
              <a:t>为代表的</a:t>
            </a:r>
            <a:r>
              <a:rPr sz="2200" dirty="0" err="1">
                <a:solidFill>
                  <a:srgbClr val="222833"/>
                </a:solidFill>
                <a:latin typeface="微软雅黑" panose="020B0503020204020204" pitchFamily="34" charset="-122"/>
                <a:ea typeface="微软雅黑" panose="020B0503020204020204" pitchFamily="34" charset="-122"/>
              </a:rPr>
              <a:t>多模态大模型路线能够显著提升复杂日常物体任务的成功表现</a:t>
            </a:r>
            <a:endParaRPr sz="2200" dirty="0">
              <a:solidFill>
                <a:srgbClr val="222833"/>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914400" y="5257800"/>
            <a:ext cx="1024128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ea typeface="微软雅黑" panose="020B0503020204020204" pitchFamily="34" charset="-122"/>
              </a:rPr>
              <a:t>从视觉抓取走向</a:t>
            </a:r>
            <a:r>
              <a:rPr sz="1900" b="1" i="0" dirty="0">
                <a:solidFill>
                  <a:srgbClr val="24477D"/>
                </a:solidFill>
                <a:latin typeface="微软雅黑" panose="020B0503020204020204" pitchFamily="34" charset="-122"/>
                <a:ea typeface="微软雅黑" panose="020B0503020204020204" pitchFamily="34" charset="-122"/>
              </a:rPr>
              <a:t> VLA：不只是“</a:t>
            </a:r>
            <a:r>
              <a:rPr sz="1900" b="1" i="0" dirty="0" err="1">
                <a:solidFill>
                  <a:srgbClr val="24477D"/>
                </a:solidFill>
                <a:latin typeface="微软雅黑" panose="020B0503020204020204" pitchFamily="34" charset="-122"/>
                <a:ea typeface="微软雅黑" panose="020B0503020204020204" pitchFamily="34" charset="-122"/>
              </a:rPr>
              <a:t>哪里能抓</a:t>
            </a:r>
            <a:r>
              <a:rPr sz="1900" b="1" i="0" dirty="0">
                <a:solidFill>
                  <a:srgbClr val="24477D"/>
                </a:solidFill>
                <a:latin typeface="微软雅黑" panose="020B0503020204020204" pitchFamily="34" charset="-122"/>
                <a:ea typeface="微软雅黑" panose="020B0503020204020204" pitchFamily="34" charset="-122"/>
              </a:rPr>
              <a:t>”，</a:t>
            </a:r>
            <a:r>
              <a:rPr sz="1900" b="1" i="0" dirty="0" err="1">
                <a:solidFill>
                  <a:srgbClr val="24477D"/>
                </a:solidFill>
                <a:latin typeface="微软雅黑" panose="020B0503020204020204" pitchFamily="34" charset="-122"/>
                <a:ea typeface="微软雅黑" panose="020B0503020204020204" pitchFamily="34" charset="-122"/>
              </a:rPr>
              <a:t>还要理解“用户希望抓什么、为什么抓</a:t>
            </a:r>
            <a:r>
              <a:rPr sz="1900" b="1" i="0" dirty="0">
                <a:solidFill>
                  <a:srgbClr val="24477D"/>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44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多模态视觉抓取过程</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713232" y="5815584"/>
            <a:ext cx="672084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667085"/>
                </a:solidFill>
                <a:latin typeface="微软雅黑" panose="020B0503020204020204" pitchFamily="34" charset="-122"/>
              </a:rPr>
              <a:t>多模态视觉抓取过程示意图</a:t>
            </a:r>
            <a:endParaRPr sz="1300" b="1" i="0" dirty="0">
              <a:solidFill>
                <a:srgbClr val="667085"/>
              </a:solidFill>
              <a:latin typeface="微软雅黑" panose="020B0503020204020204" pitchFamily="34" charset="-122"/>
            </a:endParaRPr>
          </a:p>
        </p:txBody>
      </p:sp>
      <p:sp>
        <p:nvSpPr>
          <p:cNvPr id="11" name="Rounded Rectangle 10"/>
          <p:cNvSpPr/>
          <p:nvPr/>
        </p:nvSpPr>
        <p:spPr>
          <a:xfrm>
            <a:off x="7699248" y="1691640"/>
            <a:ext cx="3657600" cy="4023360"/>
          </a:xfrm>
          <a:prstGeom prst="roundRect">
            <a:avLst>
              <a:gd name="adj" fmla="val 1376"/>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ectangle 11"/>
          <p:cNvSpPr/>
          <p:nvPr/>
        </p:nvSpPr>
        <p:spPr>
          <a:xfrm>
            <a:off x="7699248" y="1691640"/>
            <a:ext cx="64008" cy="40233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7909560" y="2350008"/>
            <a:ext cx="3273552" cy="1513043"/>
          </a:xfrm>
          <a:prstGeom prst="rect">
            <a:avLst/>
          </a:prstGeom>
          <a:noFill/>
        </p:spPr>
        <p:txBody>
          <a:bodyPr wrap="square" lIns="18288" tIns="18288" rIns="18288" bIns="18288" anchor="t">
            <a:spAutoFit/>
          </a:bodyPr>
          <a:lstStyle/>
          <a:p>
            <a:pPr algn="l">
              <a:lnSpc>
                <a:spcPct val="108000"/>
              </a:lnSpc>
            </a:pPr>
            <a:r>
              <a:rPr sz="1800" b="0" i="0" dirty="0">
                <a:solidFill>
                  <a:srgbClr val="222833"/>
                </a:solidFill>
                <a:latin typeface="微软雅黑"/>
              </a:rPr>
              <a:t>RGB </a:t>
            </a:r>
            <a:r>
              <a:rPr sz="1800" b="0" i="0" dirty="0" err="1">
                <a:solidFill>
                  <a:srgbClr val="222833"/>
                </a:solidFill>
                <a:latin typeface="微软雅黑"/>
              </a:rPr>
              <a:t>图像、力反馈和机器人状态共同作为输入，经编码与融合后预测动作执行状态，并持续判断“下一步是否继续</a:t>
            </a:r>
            <a:r>
              <a:rPr sz="1800" b="0" i="0" dirty="0">
                <a:solidFill>
                  <a:srgbClr val="222833"/>
                </a:solidFill>
                <a:latin typeface="微软雅黑"/>
              </a:rPr>
              <a:t> / </a:t>
            </a:r>
            <a:r>
              <a:rPr sz="1800" b="0" i="0" dirty="0" err="1">
                <a:solidFill>
                  <a:srgbClr val="222833"/>
                </a:solidFill>
                <a:latin typeface="微软雅黑"/>
              </a:rPr>
              <a:t>是否完成</a:t>
            </a:r>
            <a:r>
              <a:rPr sz="1800" b="0" i="0" dirty="0">
                <a:solidFill>
                  <a:srgbClr val="222833"/>
                </a:solidFill>
                <a:latin typeface="微软雅黑"/>
              </a:rPr>
              <a:t>”</a:t>
            </a:r>
          </a:p>
        </p:txBody>
      </p:sp>
      <p:pic>
        <p:nvPicPr>
          <p:cNvPr id="15" name="图片 14">
            <a:extLst>
              <a:ext uri="{FF2B5EF4-FFF2-40B4-BE49-F238E27FC236}">
                <a16:creationId xmlns:a16="http://schemas.microsoft.com/office/drawing/2014/main" id="{AF428997-1370-6DA5-681F-9387488CDE0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7783" y="2227232"/>
            <a:ext cx="6255161" cy="339565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45</a:t>
            </a:r>
          </a:p>
        </p:txBody>
      </p:sp>
      <p:sp>
        <p:nvSpPr>
          <p:cNvPr id="7" name="TextBox 6"/>
          <p:cNvSpPr txBox="1"/>
          <p:nvPr/>
        </p:nvSpPr>
        <p:spPr>
          <a:xfrm>
            <a:off x="502920" y="551044"/>
            <a:ext cx="10927080" cy="507255"/>
          </a:xfrm>
          <a:prstGeom prst="rect">
            <a:avLst/>
          </a:prstGeom>
          <a:noFill/>
        </p:spPr>
        <p:txBody>
          <a:bodyPr wrap="square" lIns="18288" tIns="18288" rIns="18288" bIns="18288" anchor="ctr">
            <a:spAutoFit/>
          </a:bodyPr>
          <a:lstStyle/>
          <a:p>
            <a:pPr algn="l">
              <a:lnSpc>
                <a:spcPct val="105000"/>
              </a:lnSpc>
            </a:pPr>
            <a:r>
              <a:rPr sz="3100" b="1" i="0" dirty="0">
                <a:solidFill>
                  <a:srgbClr val="24477D"/>
                </a:solidFill>
                <a:latin typeface="微软雅黑" panose="020B0503020204020204" pitchFamily="34" charset="-122"/>
              </a:rPr>
              <a:t>7.2 </a:t>
            </a:r>
            <a:r>
              <a:rPr sz="3100" b="1" i="0" dirty="0" err="1">
                <a:solidFill>
                  <a:srgbClr val="24477D"/>
                </a:solidFill>
                <a:latin typeface="微软雅黑" panose="020B0503020204020204" pitchFamily="34" charset="-122"/>
              </a:rPr>
              <a:t>小结</a:t>
            </a:r>
            <a:endParaRPr sz="31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804672" y="169164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04672" y="1691640"/>
            <a:ext cx="64008" cy="8686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33271" y="180136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检测</a:t>
            </a:r>
            <a:endParaRPr sz="1800" b="1" i="0" dirty="0">
              <a:solidFill>
                <a:srgbClr val="31599B"/>
              </a:solidFill>
              <a:latin typeface="微软雅黑" panose="020B0503020204020204" pitchFamily="34" charset="-122"/>
            </a:endParaRPr>
          </a:p>
        </p:txBody>
      </p:sp>
      <p:sp>
        <p:nvSpPr>
          <p:cNvPr id="12" name="TextBox 11"/>
          <p:cNvSpPr txBox="1"/>
          <p:nvPr/>
        </p:nvSpPr>
        <p:spPr>
          <a:xfrm>
            <a:off x="2880360" y="1783080"/>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YOLO 解决“物体是什么、在哪个图像区域”。</a:t>
            </a:r>
          </a:p>
        </p:txBody>
      </p:sp>
      <p:sp>
        <p:nvSpPr>
          <p:cNvPr id="13" name="Rounded Rectangle 12"/>
          <p:cNvSpPr/>
          <p:nvPr/>
        </p:nvSpPr>
        <p:spPr>
          <a:xfrm>
            <a:off x="804672" y="278892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804672" y="2788920"/>
            <a:ext cx="64008" cy="8686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1033271" y="289864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三维</a:t>
            </a:r>
            <a:endParaRPr sz="1800" b="1" i="0" dirty="0">
              <a:solidFill>
                <a:srgbClr val="2F8E72"/>
              </a:solidFill>
              <a:latin typeface="微软雅黑" panose="020B0503020204020204" pitchFamily="34" charset="-122"/>
            </a:endParaRPr>
          </a:p>
        </p:txBody>
      </p:sp>
      <p:sp>
        <p:nvSpPr>
          <p:cNvPr id="16" name="TextBox 15"/>
          <p:cNvSpPr txBox="1"/>
          <p:nvPr/>
        </p:nvSpPr>
        <p:spPr>
          <a:xfrm>
            <a:off x="2880360" y="2880360"/>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6D 姿态 / 深度 / 点云解决“物体在空间中如何放置”。</a:t>
            </a:r>
          </a:p>
        </p:txBody>
      </p:sp>
      <p:sp>
        <p:nvSpPr>
          <p:cNvPr id="17" name="Rounded Rectangle 16"/>
          <p:cNvSpPr/>
          <p:nvPr/>
        </p:nvSpPr>
        <p:spPr>
          <a:xfrm>
            <a:off x="804672" y="388620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804672" y="3886200"/>
            <a:ext cx="64008" cy="8686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1033271" y="399592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抓取</a:t>
            </a:r>
            <a:endParaRPr sz="1800" b="1" i="0" dirty="0">
              <a:solidFill>
                <a:srgbClr val="C58A24"/>
              </a:solidFill>
              <a:latin typeface="微软雅黑" panose="020B0503020204020204" pitchFamily="34" charset="-122"/>
            </a:endParaRPr>
          </a:p>
        </p:txBody>
      </p:sp>
      <p:sp>
        <p:nvSpPr>
          <p:cNvPr id="20" name="TextBox 19"/>
          <p:cNvSpPr txBox="1"/>
          <p:nvPr/>
        </p:nvSpPr>
        <p:spPr>
          <a:xfrm>
            <a:off x="2880360" y="3977639"/>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候选点 + 质量评分解决“机械爪如何接近和夹持”。</a:t>
            </a:r>
          </a:p>
        </p:txBody>
      </p:sp>
      <p:sp>
        <p:nvSpPr>
          <p:cNvPr id="21" name="Rounded Rectangle 20"/>
          <p:cNvSpPr/>
          <p:nvPr/>
        </p:nvSpPr>
        <p:spPr>
          <a:xfrm>
            <a:off x="804672" y="498348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804672" y="4983480"/>
            <a:ext cx="64008" cy="86868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1033271" y="509320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执行</a:t>
            </a:r>
            <a:endParaRPr sz="1800" b="1" i="0" dirty="0">
              <a:solidFill>
                <a:srgbClr val="C63F45"/>
              </a:solidFill>
              <a:latin typeface="微软雅黑" panose="020B0503020204020204" pitchFamily="34" charset="-122"/>
            </a:endParaRPr>
          </a:p>
        </p:txBody>
      </p:sp>
      <p:sp>
        <p:nvSpPr>
          <p:cNvPr id="24" name="TextBox 23"/>
          <p:cNvSpPr txBox="1"/>
          <p:nvPr/>
        </p:nvSpPr>
        <p:spPr>
          <a:xfrm>
            <a:off x="2880360" y="5074920"/>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IK + 伺服控制把高层抓取决策转化为真实机械运动。</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8595360" y="320040"/>
            <a:ext cx="2743200" cy="188641"/>
          </a:xfrm>
          <a:prstGeom prst="rect">
            <a:avLst/>
          </a:prstGeom>
          <a:noFill/>
        </p:spPr>
        <p:txBody>
          <a:bodyPr wrap="square" lIns="18288" tIns="18288" rIns="18288" bIns="18288" anchor="t">
            <a:spAutoFit/>
          </a:bodyPr>
          <a:lstStyle/>
          <a:p>
            <a:pPr algn="r">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1307592" y="1474502"/>
            <a:ext cx="1691640" cy="1129220"/>
          </a:xfrm>
          <a:prstGeom prst="rect">
            <a:avLst/>
          </a:prstGeom>
          <a:noFill/>
        </p:spPr>
        <p:txBody>
          <a:bodyPr wrap="square" lIns="18288" tIns="18288" rIns="18288" bIns="18288" anchor="ctr">
            <a:spAutoFit/>
          </a:bodyPr>
          <a:lstStyle/>
          <a:p>
            <a:pPr algn="l">
              <a:lnSpc>
                <a:spcPct val="105000"/>
              </a:lnSpc>
            </a:pPr>
            <a:r>
              <a:rPr sz="7200" b="1" i="0" dirty="0">
                <a:solidFill>
                  <a:srgbClr val="31599B"/>
                </a:solidFill>
                <a:latin typeface="微软雅黑" panose="020B0503020204020204" pitchFamily="34" charset="-122"/>
              </a:rPr>
              <a:t>03</a:t>
            </a:r>
          </a:p>
        </p:txBody>
      </p:sp>
      <p:sp>
        <p:nvSpPr>
          <p:cNvPr id="6" name="TextBox 5"/>
          <p:cNvSpPr txBox="1"/>
          <p:nvPr/>
        </p:nvSpPr>
        <p:spPr>
          <a:xfrm>
            <a:off x="3246120" y="1752259"/>
            <a:ext cx="7818120" cy="628570"/>
          </a:xfrm>
          <a:prstGeom prst="rect">
            <a:avLst/>
          </a:prstGeom>
          <a:noFill/>
        </p:spPr>
        <p:txBody>
          <a:bodyPr wrap="square" lIns="18288" tIns="18288" rIns="18288" bIns="18288" anchor="ctr">
            <a:spAutoFit/>
          </a:bodyPr>
          <a:lstStyle/>
          <a:p>
            <a:pPr algn="l">
              <a:lnSpc>
                <a:spcPct val="105000"/>
              </a:lnSpc>
            </a:pPr>
            <a:r>
              <a:rPr sz="3900" b="1" i="0" dirty="0" err="1">
                <a:solidFill>
                  <a:srgbClr val="24477D"/>
                </a:solidFill>
                <a:latin typeface="微软雅黑" panose="020B0503020204020204" pitchFamily="34" charset="-122"/>
              </a:rPr>
              <a:t>动作序列规划与生成</a:t>
            </a:r>
            <a:endParaRPr sz="3900" b="1" i="0" dirty="0">
              <a:solidFill>
                <a:srgbClr val="24477D"/>
              </a:solidFill>
              <a:latin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47</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7.3 </a:t>
            </a:r>
            <a:r>
              <a:rPr sz="3500" b="1" i="0" dirty="0" err="1">
                <a:solidFill>
                  <a:srgbClr val="24477D"/>
                </a:solidFill>
                <a:latin typeface="微软雅黑" panose="020B0503020204020204" pitchFamily="34" charset="-122"/>
              </a:rPr>
              <a:t>长时序任务：一个指令对应一串动作</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502920" y="1874519"/>
            <a:ext cx="1664208" cy="2005023"/>
          </a:xfrm>
          <a:prstGeom prst="roundRect">
            <a:avLst>
              <a:gd name="adj" fmla="val 599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502920" y="1874519"/>
            <a:ext cx="64008" cy="2005023"/>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713232" y="2020824"/>
            <a:ext cx="1280160" cy="294824"/>
          </a:xfrm>
          <a:prstGeom prst="rect">
            <a:avLst/>
          </a:prstGeom>
          <a:noFill/>
        </p:spPr>
        <p:txBody>
          <a:bodyPr wrap="square" lIns="18288" tIns="18288" rIns="18288" bIns="18288" anchor="t">
            <a:spAutoFit/>
          </a:bodyPr>
          <a:lstStyle/>
          <a:p>
            <a:pPr algn="l">
              <a:lnSpc>
                <a:spcPct val="105000"/>
              </a:lnSpc>
            </a:pPr>
            <a:r>
              <a:rPr sz="1700" b="1" i="0" dirty="0" err="1">
                <a:solidFill>
                  <a:srgbClr val="31599B"/>
                </a:solidFill>
                <a:latin typeface="微软雅黑" panose="020B0503020204020204" pitchFamily="34" charset="-122"/>
              </a:rPr>
              <a:t>靠近</a:t>
            </a:r>
            <a:endParaRPr sz="1700" b="1" i="0" dirty="0">
              <a:solidFill>
                <a:srgbClr val="31599B"/>
              </a:solidFill>
              <a:latin typeface="微软雅黑" panose="020B0503020204020204" pitchFamily="34" charset="-122"/>
            </a:endParaRPr>
          </a:p>
        </p:txBody>
      </p:sp>
      <p:sp>
        <p:nvSpPr>
          <p:cNvPr id="12" name="TextBox 11"/>
          <p:cNvSpPr txBox="1"/>
          <p:nvPr/>
        </p:nvSpPr>
        <p:spPr>
          <a:xfrm>
            <a:off x="713232" y="2532887"/>
            <a:ext cx="1280160" cy="2441448"/>
          </a:xfrm>
          <a:prstGeom prst="rect">
            <a:avLst/>
          </a:prstGeom>
          <a:noFill/>
        </p:spPr>
        <p:txBody>
          <a:bodyPr wrap="square" lIns="18288" tIns="18288" rIns="18288" bIns="18288" anchor="t">
            <a:spAutoFit/>
          </a:bodyPr>
          <a:lstStyle/>
          <a:p>
            <a:pPr algn="l">
              <a:lnSpc>
                <a:spcPct val="108000"/>
              </a:lnSpc>
            </a:pPr>
            <a:r>
              <a:rPr sz="1400" b="0" i="0" dirty="0" err="1">
                <a:solidFill>
                  <a:srgbClr val="222833"/>
                </a:solidFill>
                <a:latin typeface="微软雅黑"/>
              </a:rPr>
              <a:t>移动到目标附近</a:t>
            </a:r>
            <a:endParaRPr sz="1400" b="0" i="0" dirty="0">
              <a:solidFill>
                <a:srgbClr val="222833"/>
              </a:solidFill>
              <a:latin typeface="微软雅黑"/>
            </a:endParaRPr>
          </a:p>
        </p:txBody>
      </p:sp>
      <p:sp>
        <p:nvSpPr>
          <p:cNvPr id="13" name="TextBox 12"/>
          <p:cNvSpPr txBox="1"/>
          <p:nvPr/>
        </p:nvSpPr>
        <p:spPr>
          <a:xfrm>
            <a:off x="2176272" y="2622994"/>
            <a:ext cx="210312" cy="320040"/>
          </a:xfrm>
          <a:prstGeom prst="rect">
            <a:avLst/>
          </a:prstGeom>
          <a:noFill/>
        </p:spPr>
        <p:txBody>
          <a:bodyPr wrap="square" lIns="18288" tIns="18288" rIns="18288" bIns="18288" anchor="t">
            <a:spAutoFit/>
          </a:bodyPr>
          <a:lstStyle/>
          <a:p>
            <a:pPr algn="ctr">
              <a:lnSpc>
                <a:spcPct val="105000"/>
              </a:lnSpc>
            </a:pPr>
            <a:r>
              <a:rPr sz="1800" b="1" i="0" dirty="0">
                <a:solidFill>
                  <a:srgbClr val="667085"/>
                </a:solidFill>
                <a:latin typeface="微软雅黑" panose="020B0503020204020204" pitchFamily="34" charset="-122"/>
              </a:rPr>
              <a:t>→</a:t>
            </a:r>
          </a:p>
        </p:txBody>
      </p:sp>
      <p:sp>
        <p:nvSpPr>
          <p:cNvPr id="14" name="Rounded Rectangle 13"/>
          <p:cNvSpPr/>
          <p:nvPr/>
        </p:nvSpPr>
        <p:spPr>
          <a:xfrm>
            <a:off x="2377439" y="1874519"/>
            <a:ext cx="1664208" cy="2005023"/>
          </a:xfrm>
          <a:prstGeom prst="roundRect">
            <a:avLst>
              <a:gd name="adj" fmla="val 5465"/>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2377439" y="1874519"/>
            <a:ext cx="64008" cy="2005023"/>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2587751" y="2020824"/>
            <a:ext cx="1280160" cy="294824"/>
          </a:xfrm>
          <a:prstGeom prst="rect">
            <a:avLst/>
          </a:prstGeom>
          <a:noFill/>
        </p:spPr>
        <p:txBody>
          <a:bodyPr wrap="square" lIns="18288" tIns="18288" rIns="18288" bIns="18288" anchor="t">
            <a:spAutoFit/>
          </a:bodyPr>
          <a:lstStyle/>
          <a:p>
            <a:pPr algn="l">
              <a:lnSpc>
                <a:spcPct val="105000"/>
              </a:lnSpc>
            </a:pPr>
            <a:r>
              <a:rPr sz="1700" b="1" i="0" dirty="0" err="1">
                <a:solidFill>
                  <a:srgbClr val="2F8E72"/>
                </a:solidFill>
                <a:latin typeface="微软雅黑" panose="020B0503020204020204" pitchFamily="34" charset="-122"/>
              </a:rPr>
              <a:t>伸臂</a:t>
            </a:r>
            <a:endParaRPr sz="1700" b="1" i="0" dirty="0">
              <a:solidFill>
                <a:srgbClr val="2F8E72"/>
              </a:solidFill>
              <a:latin typeface="微软雅黑" panose="020B0503020204020204" pitchFamily="34" charset="-122"/>
            </a:endParaRPr>
          </a:p>
        </p:txBody>
      </p:sp>
      <p:sp>
        <p:nvSpPr>
          <p:cNvPr id="17" name="TextBox 16"/>
          <p:cNvSpPr txBox="1"/>
          <p:nvPr/>
        </p:nvSpPr>
        <p:spPr>
          <a:xfrm>
            <a:off x="2587751" y="2532887"/>
            <a:ext cx="1280160" cy="2441448"/>
          </a:xfrm>
          <a:prstGeom prst="rect">
            <a:avLst/>
          </a:prstGeom>
          <a:noFill/>
        </p:spPr>
        <p:txBody>
          <a:bodyPr wrap="square" lIns="18288" tIns="18288" rIns="18288" bIns="18288" anchor="t">
            <a:spAutoFit/>
          </a:bodyPr>
          <a:lstStyle/>
          <a:p>
            <a:pPr algn="l">
              <a:lnSpc>
                <a:spcPct val="108000"/>
              </a:lnSpc>
            </a:pPr>
            <a:r>
              <a:rPr sz="1400" b="0" i="0">
                <a:solidFill>
                  <a:srgbClr val="222833"/>
                </a:solidFill>
                <a:latin typeface="微软雅黑"/>
              </a:rPr>
              <a:t>调整机械臂工作空间</a:t>
            </a:r>
          </a:p>
        </p:txBody>
      </p:sp>
      <p:sp>
        <p:nvSpPr>
          <p:cNvPr id="18" name="TextBox 17"/>
          <p:cNvSpPr txBox="1"/>
          <p:nvPr/>
        </p:nvSpPr>
        <p:spPr>
          <a:xfrm>
            <a:off x="4050791" y="2622994"/>
            <a:ext cx="210312" cy="320040"/>
          </a:xfrm>
          <a:prstGeom prst="rect">
            <a:avLst/>
          </a:prstGeom>
          <a:noFill/>
        </p:spPr>
        <p:txBody>
          <a:bodyPr wrap="square" lIns="18288" tIns="18288" rIns="18288" bIns="18288" anchor="t">
            <a:spAutoFit/>
          </a:bodyPr>
          <a:lstStyle/>
          <a:p>
            <a:pPr algn="ctr">
              <a:lnSpc>
                <a:spcPct val="105000"/>
              </a:lnSpc>
            </a:pPr>
            <a:r>
              <a:rPr sz="1800" b="1" i="0" dirty="0">
                <a:solidFill>
                  <a:srgbClr val="667085"/>
                </a:solidFill>
                <a:latin typeface="微软雅黑" panose="020B0503020204020204" pitchFamily="34" charset="-122"/>
              </a:rPr>
              <a:t>→</a:t>
            </a:r>
          </a:p>
        </p:txBody>
      </p:sp>
      <p:sp>
        <p:nvSpPr>
          <p:cNvPr id="19" name="Rounded Rectangle 18"/>
          <p:cNvSpPr/>
          <p:nvPr/>
        </p:nvSpPr>
        <p:spPr>
          <a:xfrm>
            <a:off x="4251959" y="1874519"/>
            <a:ext cx="1664208" cy="2005023"/>
          </a:xfrm>
          <a:prstGeom prst="roundRect">
            <a:avLst>
              <a:gd name="adj" fmla="val 306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Rectangle 19"/>
          <p:cNvSpPr/>
          <p:nvPr/>
        </p:nvSpPr>
        <p:spPr>
          <a:xfrm>
            <a:off x="4251959" y="1874519"/>
            <a:ext cx="64008" cy="2005023"/>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TextBox 20"/>
          <p:cNvSpPr txBox="1"/>
          <p:nvPr/>
        </p:nvSpPr>
        <p:spPr>
          <a:xfrm>
            <a:off x="4462272" y="2020824"/>
            <a:ext cx="1280160" cy="294824"/>
          </a:xfrm>
          <a:prstGeom prst="rect">
            <a:avLst/>
          </a:prstGeom>
          <a:noFill/>
        </p:spPr>
        <p:txBody>
          <a:bodyPr wrap="square" lIns="18288" tIns="18288" rIns="18288" bIns="18288" anchor="t">
            <a:spAutoFit/>
          </a:bodyPr>
          <a:lstStyle/>
          <a:p>
            <a:pPr algn="l">
              <a:lnSpc>
                <a:spcPct val="105000"/>
              </a:lnSpc>
            </a:pPr>
            <a:r>
              <a:rPr sz="1700" b="1" i="0" dirty="0" err="1">
                <a:solidFill>
                  <a:srgbClr val="C58A24"/>
                </a:solidFill>
                <a:latin typeface="微软雅黑" panose="020B0503020204020204" pitchFamily="34" charset="-122"/>
              </a:rPr>
              <a:t>抓取</a:t>
            </a:r>
            <a:endParaRPr sz="1700" b="1" i="0" dirty="0">
              <a:solidFill>
                <a:srgbClr val="C58A24"/>
              </a:solidFill>
              <a:latin typeface="微软雅黑" panose="020B0503020204020204" pitchFamily="34" charset="-122"/>
            </a:endParaRPr>
          </a:p>
        </p:txBody>
      </p:sp>
      <p:sp>
        <p:nvSpPr>
          <p:cNvPr id="22" name="TextBox 21"/>
          <p:cNvSpPr txBox="1"/>
          <p:nvPr/>
        </p:nvSpPr>
        <p:spPr>
          <a:xfrm>
            <a:off x="4462272" y="2532887"/>
            <a:ext cx="1280160" cy="2441448"/>
          </a:xfrm>
          <a:prstGeom prst="rect">
            <a:avLst/>
          </a:prstGeom>
          <a:noFill/>
        </p:spPr>
        <p:txBody>
          <a:bodyPr wrap="square" lIns="18288" tIns="18288" rIns="18288" bIns="18288" anchor="t">
            <a:spAutoFit/>
          </a:bodyPr>
          <a:lstStyle/>
          <a:p>
            <a:pPr algn="l">
              <a:lnSpc>
                <a:spcPct val="108000"/>
              </a:lnSpc>
            </a:pPr>
            <a:r>
              <a:rPr sz="1400" b="0" i="0">
                <a:solidFill>
                  <a:srgbClr val="222833"/>
                </a:solidFill>
                <a:latin typeface="微软雅黑"/>
              </a:rPr>
              <a:t>闭合夹爪</a:t>
            </a:r>
          </a:p>
        </p:txBody>
      </p:sp>
      <p:sp>
        <p:nvSpPr>
          <p:cNvPr id="23" name="TextBox 22"/>
          <p:cNvSpPr txBox="1"/>
          <p:nvPr/>
        </p:nvSpPr>
        <p:spPr>
          <a:xfrm>
            <a:off x="5925312" y="2622994"/>
            <a:ext cx="210312" cy="320040"/>
          </a:xfrm>
          <a:prstGeom prst="rect">
            <a:avLst/>
          </a:prstGeom>
          <a:noFill/>
        </p:spPr>
        <p:txBody>
          <a:bodyPr wrap="square" lIns="18288" tIns="18288" rIns="18288" bIns="18288" anchor="t">
            <a:spAutoFit/>
          </a:bodyPr>
          <a:lstStyle/>
          <a:p>
            <a:pPr algn="ctr">
              <a:lnSpc>
                <a:spcPct val="105000"/>
              </a:lnSpc>
            </a:pPr>
            <a:r>
              <a:rPr sz="1800" b="1" i="0" dirty="0">
                <a:solidFill>
                  <a:srgbClr val="667085"/>
                </a:solidFill>
                <a:latin typeface="微软雅黑" panose="020B0503020204020204" pitchFamily="34" charset="-122"/>
              </a:rPr>
              <a:t>→</a:t>
            </a:r>
          </a:p>
        </p:txBody>
      </p:sp>
      <p:sp>
        <p:nvSpPr>
          <p:cNvPr id="24" name="Rounded Rectangle 23"/>
          <p:cNvSpPr/>
          <p:nvPr/>
        </p:nvSpPr>
        <p:spPr>
          <a:xfrm>
            <a:off x="6126479" y="1874519"/>
            <a:ext cx="1664208" cy="2005023"/>
          </a:xfrm>
          <a:prstGeom prst="roundRect">
            <a:avLst>
              <a:gd name="adj" fmla="val 493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5" name="Rectangle 24"/>
          <p:cNvSpPr/>
          <p:nvPr/>
        </p:nvSpPr>
        <p:spPr>
          <a:xfrm>
            <a:off x="6126479" y="1874519"/>
            <a:ext cx="64008" cy="2005023"/>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6" name="TextBox 25"/>
          <p:cNvSpPr txBox="1"/>
          <p:nvPr/>
        </p:nvSpPr>
        <p:spPr>
          <a:xfrm>
            <a:off x="6336792" y="2020824"/>
            <a:ext cx="1280160" cy="294824"/>
          </a:xfrm>
          <a:prstGeom prst="rect">
            <a:avLst/>
          </a:prstGeom>
          <a:noFill/>
        </p:spPr>
        <p:txBody>
          <a:bodyPr wrap="square" lIns="18288" tIns="18288" rIns="18288" bIns="18288" anchor="t">
            <a:spAutoFit/>
          </a:bodyPr>
          <a:lstStyle/>
          <a:p>
            <a:pPr algn="l">
              <a:lnSpc>
                <a:spcPct val="105000"/>
              </a:lnSpc>
            </a:pPr>
            <a:r>
              <a:rPr sz="1700" b="1" i="0" dirty="0" err="1">
                <a:solidFill>
                  <a:srgbClr val="C63F45"/>
                </a:solidFill>
                <a:latin typeface="微软雅黑" panose="020B0503020204020204" pitchFamily="34" charset="-122"/>
              </a:rPr>
              <a:t>抬起</a:t>
            </a:r>
            <a:endParaRPr sz="1700" b="1" i="0" dirty="0">
              <a:solidFill>
                <a:srgbClr val="C63F45"/>
              </a:solidFill>
              <a:latin typeface="微软雅黑" panose="020B0503020204020204" pitchFamily="34" charset="-122"/>
            </a:endParaRPr>
          </a:p>
        </p:txBody>
      </p:sp>
      <p:sp>
        <p:nvSpPr>
          <p:cNvPr id="27" name="TextBox 26"/>
          <p:cNvSpPr txBox="1"/>
          <p:nvPr/>
        </p:nvSpPr>
        <p:spPr>
          <a:xfrm>
            <a:off x="6336792" y="2532887"/>
            <a:ext cx="1280160" cy="2441448"/>
          </a:xfrm>
          <a:prstGeom prst="rect">
            <a:avLst/>
          </a:prstGeom>
          <a:noFill/>
        </p:spPr>
        <p:txBody>
          <a:bodyPr wrap="square" lIns="18288" tIns="18288" rIns="18288" bIns="18288" anchor="t">
            <a:spAutoFit/>
          </a:bodyPr>
          <a:lstStyle/>
          <a:p>
            <a:pPr algn="l">
              <a:lnSpc>
                <a:spcPct val="108000"/>
              </a:lnSpc>
            </a:pPr>
            <a:r>
              <a:rPr sz="1400" b="0" i="0">
                <a:solidFill>
                  <a:srgbClr val="222833"/>
                </a:solidFill>
                <a:latin typeface="微软雅黑"/>
              </a:rPr>
              <a:t>离开支撑面</a:t>
            </a:r>
          </a:p>
        </p:txBody>
      </p:sp>
      <p:sp>
        <p:nvSpPr>
          <p:cNvPr id="28" name="TextBox 27"/>
          <p:cNvSpPr txBox="1"/>
          <p:nvPr/>
        </p:nvSpPr>
        <p:spPr>
          <a:xfrm>
            <a:off x="7799831" y="2622994"/>
            <a:ext cx="210312" cy="320040"/>
          </a:xfrm>
          <a:prstGeom prst="rect">
            <a:avLst/>
          </a:prstGeom>
          <a:noFill/>
        </p:spPr>
        <p:txBody>
          <a:bodyPr wrap="square" lIns="18288" tIns="18288" rIns="18288" bIns="18288" anchor="t">
            <a:spAutoFit/>
          </a:bodyPr>
          <a:lstStyle/>
          <a:p>
            <a:pPr algn="ctr">
              <a:lnSpc>
                <a:spcPct val="105000"/>
              </a:lnSpc>
            </a:pPr>
            <a:r>
              <a:rPr sz="1800" b="1" i="0" dirty="0">
                <a:solidFill>
                  <a:srgbClr val="667085"/>
                </a:solidFill>
                <a:latin typeface="微软雅黑" panose="020B0503020204020204" pitchFamily="34" charset="-122"/>
              </a:rPr>
              <a:t>→</a:t>
            </a:r>
          </a:p>
        </p:txBody>
      </p:sp>
      <p:sp>
        <p:nvSpPr>
          <p:cNvPr id="29" name="Rounded Rectangle 28"/>
          <p:cNvSpPr/>
          <p:nvPr/>
        </p:nvSpPr>
        <p:spPr>
          <a:xfrm>
            <a:off x="8001000" y="1874519"/>
            <a:ext cx="1664208" cy="2005023"/>
          </a:xfrm>
          <a:prstGeom prst="roundRect">
            <a:avLst>
              <a:gd name="adj" fmla="val 7065"/>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0" name="Rectangle 29"/>
          <p:cNvSpPr/>
          <p:nvPr/>
        </p:nvSpPr>
        <p:spPr>
          <a:xfrm>
            <a:off x="8001000" y="1874519"/>
            <a:ext cx="64008" cy="2005023"/>
          </a:xfrm>
          <a:prstGeom prst="rect">
            <a:avLst/>
          </a:prstGeom>
          <a:solidFill>
            <a:srgbClr val="765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1" name="TextBox 30"/>
          <p:cNvSpPr txBox="1"/>
          <p:nvPr/>
        </p:nvSpPr>
        <p:spPr>
          <a:xfrm>
            <a:off x="8211312" y="2020824"/>
            <a:ext cx="1280160" cy="294824"/>
          </a:xfrm>
          <a:prstGeom prst="rect">
            <a:avLst/>
          </a:prstGeom>
          <a:noFill/>
        </p:spPr>
        <p:txBody>
          <a:bodyPr wrap="square" lIns="18288" tIns="18288" rIns="18288" bIns="18288" anchor="t">
            <a:spAutoFit/>
          </a:bodyPr>
          <a:lstStyle/>
          <a:p>
            <a:pPr algn="l">
              <a:lnSpc>
                <a:spcPct val="105000"/>
              </a:lnSpc>
            </a:pPr>
            <a:r>
              <a:rPr sz="1700" b="1" i="0" dirty="0" err="1">
                <a:solidFill>
                  <a:srgbClr val="7653A6"/>
                </a:solidFill>
                <a:latin typeface="微软雅黑" panose="020B0503020204020204" pitchFamily="34" charset="-122"/>
              </a:rPr>
              <a:t>移动</a:t>
            </a:r>
            <a:endParaRPr sz="1700" b="1" i="0" dirty="0">
              <a:solidFill>
                <a:srgbClr val="7653A6"/>
              </a:solidFill>
              <a:latin typeface="微软雅黑" panose="020B0503020204020204" pitchFamily="34" charset="-122"/>
            </a:endParaRPr>
          </a:p>
        </p:txBody>
      </p:sp>
      <p:sp>
        <p:nvSpPr>
          <p:cNvPr id="32" name="TextBox 31"/>
          <p:cNvSpPr txBox="1"/>
          <p:nvPr/>
        </p:nvSpPr>
        <p:spPr>
          <a:xfrm>
            <a:off x="8211312" y="2532887"/>
            <a:ext cx="1280160" cy="2441448"/>
          </a:xfrm>
          <a:prstGeom prst="rect">
            <a:avLst/>
          </a:prstGeom>
          <a:noFill/>
        </p:spPr>
        <p:txBody>
          <a:bodyPr wrap="square" lIns="18288" tIns="18288" rIns="18288" bIns="18288" anchor="t">
            <a:spAutoFit/>
          </a:bodyPr>
          <a:lstStyle/>
          <a:p>
            <a:pPr algn="l">
              <a:lnSpc>
                <a:spcPct val="108000"/>
              </a:lnSpc>
            </a:pPr>
            <a:r>
              <a:rPr sz="1400" b="0" i="0">
                <a:solidFill>
                  <a:srgbClr val="222833"/>
                </a:solidFill>
                <a:latin typeface="微软雅黑"/>
              </a:rPr>
              <a:t>运送到目标位置</a:t>
            </a:r>
          </a:p>
        </p:txBody>
      </p:sp>
      <p:sp>
        <p:nvSpPr>
          <p:cNvPr id="33" name="TextBox 32"/>
          <p:cNvSpPr txBox="1"/>
          <p:nvPr/>
        </p:nvSpPr>
        <p:spPr>
          <a:xfrm>
            <a:off x="9674352" y="2622994"/>
            <a:ext cx="210312" cy="320040"/>
          </a:xfrm>
          <a:prstGeom prst="rect">
            <a:avLst/>
          </a:prstGeom>
          <a:noFill/>
        </p:spPr>
        <p:txBody>
          <a:bodyPr wrap="square" lIns="18288" tIns="18288" rIns="18288" bIns="18288" anchor="t">
            <a:spAutoFit/>
          </a:bodyPr>
          <a:lstStyle/>
          <a:p>
            <a:pPr algn="ctr">
              <a:lnSpc>
                <a:spcPct val="105000"/>
              </a:lnSpc>
            </a:pPr>
            <a:r>
              <a:rPr sz="1800" b="1" i="0" dirty="0">
                <a:solidFill>
                  <a:srgbClr val="667085"/>
                </a:solidFill>
                <a:latin typeface="微软雅黑" panose="020B0503020204020204" pitchFamily="34" charset="-122"/>
              </a:rPr>
              <a:t>→</a:t>
            </a:r>
          </a:p>
        </p:txBody>
      </p:sp>
      <p:sp>
        <p:nvSpPr>
          <p:cNvPr id="34" name="Rounded Rectangle 33"/>
          <p:cNvSpPr/>
          <p:nvPr/>
        </p:nvSpPr>
        <p:spPr>
          <a:xfrm>
            <a:off x="9875520" y="1874519"/>
            <a:ext cx="1664208" cy="2005023"/>
          </a:xfrm>
          <a:prstGeom prst="roundRect">
            <a:avLst>
              <a:gd name="adj" fmla="val 66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5" name="Rectangle 34"/>
          <p:cNvSpPr/>
          <p:nvPr/>
        </p:nvSpPr>
        <p:spPr>
          <a:xfrm>
            <a:off x="9875520" y="1874519"/>
            <a:ext cx="64008" cy="2005023"/>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6" name="TextBox 35"/>
          <p:cNvSpPr txBox="1"/>
          <p:nvPr/>
        </p:nvSpPr>
        <p:spPr>
          <a:xfrm>
            <a:off x="10085832" y="2020824"/>
            <a:ext cx="1280160" cy="294824"/>
          </a:xfrm>
          <a:prstGeom prst="rect">
            <a:avLst/>
          </a:prstGeom>
          <a:noFill/>
        </p:spPr>
        <p:txBody>
          <a:bodyPr wrap="square" lIns="18288" tIns="18288" rIns="18288" bIns="18288" anchor="t">
            <a:spAutoFit/>
          </a:bodyPr>
          <a:lstStyle/>
          <a:p>
            <a:pPr algn="l">
              <a:lnSpc>
                <a:spcPct val="105000"/>
              </a:lnSpc>
            </a:pPr>
            <a:r>
              <a:rPr sz="1700" b="1" i="0" dirty="0" err="1">
                <a:solidFill>
                  <a:srgbClr val="31599B"/>
                </a:solidFill>
                <a:latin typeface="微软雅黑" panose="020B0503020204020204" pitchFamily="34" charset="-122"/>
              </a:rPr>
              <a:t>放置</a:t>
            </a:r>
            <a:endParaRPr sz="1700" b="1" i="0" dirty="0">
              <a:solidFill>
                <a:srgbClr val="31599B"/>
              </a:solidFill>
              <a:latin typeface="微软雅黑" panose="020B0503020204020204" pitchFamily="34" charset="-122"/>
            </a:endParaRPr>
          </a:p>
        </p:txBody>
      </p:sp>
      <p:sp>
        <p:nvSpPr>
          <p:cNvPr id="37" name="TextBox 36"/>
          <p:cNvSpPr txBox="1"/>
          <p:nvPr/>
        </p:nvSpPr>
        <p:spPr>
          <a:xfrm>
            <a:off x="10085832" y="2532887"/>
            <a:ext cx="1280160" cy="2441448"/>
          </a:xfrm>
          <a:prstGeom prst="rect">
            <a:avLst/>
          </a:prstGeom>
          <a:noFill/>
        </p:spPr>
        <p:txBody>
          <a:bodyPr wrap="square" lIns="18288" tIns="18288" rIns="18288" bIns="18288" anchor="t">
            <a:spAutoFit/>
          </a:bodyPr>
          <a:lstStyle/>
          <a:p>
            <a:pPr algn="l">
              <a:lnSpc>
                <a:spcPct val="108000"/>
              </a:lnSpc>
            </a:pPr>
            <a:r>
              <a:rPr sz="1400" b="0" i="0" dirty="0" err="1">
                <a:solidFill>
                  <a:srgbClr val="222833"/>
                </a:solidFill>
                <a:latin typeface="微软雅黑"/>
              </a:rPr>
              <a:t>松开并完成任务</a:t>
            </a:r>
            <a:endParaRPr sz="1400" b="0" i="0" dirty="0">
              <a:solidFill>
                <a:srgbClr val="222833"/>
              </a:solidFill>
              <a:latin typeface="微软雅黑"/>
            </a:endParaRPr>
          </a:p>
        </p:txBody>
      </p:sp>
      <p:sp>
        <p:nvSpPr>
          <p:cNvPr id="38" name="TextBox 37"/>
          <p:cNvSpPr txBox="1"/>
          <p:nvPr/>
        </p:nvSpPr>
        <p:spPr>
          <a:xfrm>
            <a:off x="891539" y="4396177"/>
            <a:ext cx="1033272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示例</a:t>
            </a:r>
            <a:r>
              <a:rPr sz="1900" b="1" i="0" dirty="0">
                <a:solidFill>
                  <a:srgbClr val="24477D"/>
                </a:solidFill>
                <a:latin typeface="微软雅黑" panose="020B0503020204020204" pitchFamily="34" charset="-122"/>
              </a:rPr>
              <a:t>：“</a:t>
            </a:r>
            <a:r>
              <a:rPr sz="1900" b="1" i="0" dirty="0" err="1">
                <a:solidFill>
                  <a:srgbClr val="24477D"/>
                </a:solidFill>
                <a:latin typeface="微软雅黑" panose="020B0503020204020204" pitchFamily="34" charset="-122"/>
              </a:rPr>
              <a:t>把苹果放到篮子里”必须由多个有序动作共同完成</a:t>
            </a:r>
            <a:r>
              <a:rPr sz="1900" b="1" i="0" dirty="0">
                <a:solidFill>
                  <a:srgbClr val="24477D"/>
                </a:solidFill>
                <a:latin typeface="微软雅黑" panose="020B0503020204020204" pitchFamily="34" charset="-122"/>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48</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7.3.1 </a:t>
            </a:r>
            <a:r>
              <a:rPr sz="3500" b="1" i="0" dirty="0" err="1">
                <a:solidFill>
                  <a:srgbClr val="24477D"/>
                </a:solidFill>
                <a:latin typeface="微软雅黑" panose="020B0503020204020204" pitchFamily="34" charset="-122"/>
              </a:rPr>
              <a:t>动作序列的数学表示</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960120" y="1691640"/>
            <a:ext cx="10287000" cy="1131459"/>
          </a:xfrm>
          <a:prstGeom prst="roundRect">
            <a:avLst/>
          </a:prstGeom>
          <a:solidFill>
            <a:srgbClr val="EDF2FA"/>
          </a:solidFill>
          <a:ln>
            <a:solidFill>
              <a:srgbClr val="CB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ounded Rectangle 11"/>
          <p:cNvSpPr/>
          <p:nvPr/>
        </p:nvSpPr>
        <p:spPr>
          <a:xfrm>
            <a:off x="960120" y="3429000"/>
            <a:ext cx="10287000" cy="196596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1234440" y="3703320"/>
            <a:ext cx="9738360" cy="1417320"/>
          </a:xfrm>
          <a:prstGeom prst="rect">
            <a:avLst/>
          </a:prstGeom>
          <a:noFill/>
        </p:spPr>
        <p:txBody>
          <a:bodyPr wrap="square" lIns="18288" tIns="18288" rIns="18288" bIns="18288" anchor="t">
            <a:spAutoFit/>
          </a:bodyPr>
          <a:lstStyle/>
          <a:p>
            <a:pPr algn="l">
              <a:lnSpc>
                <a:spcPct val="112000"/>
              </a:lnSpc>
            </a:pPr>
            <a:r>
              <a:rPr sz="2000" b="0" i="0">
                <a:solidFill>
                  <a:srgbClr val="222833"/>
                </a:solidFill>
                <a:latin typeface="微软雅黑"/>
              </a:rPr>
              <a:t>aₜ 表示第 t 时刻的动作，可以是离散指令（如“抓取”），也可以是连续向量（如关节速度）；T 表示序列长度。</a:t>
            </a:r>
          </a:p>
        </p:txBody>
      </p:sp>
      <p:sp>
        <p:nvSpPr>
          <p:cNvPr id="14" name="Rectangle 2">
            <a:extLst>
              <a:ext uri="{FF2B5EF4-FFF2-40B4-BE49-F238E27FC236}">
                <a16:creationId xmlns:a16="http://schemas.microsoft.com/office/drawing/2014/main" id="{9A448C87-B967-CD43-B7E6-B3218CF6179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a:extLst>
              <a:ext uri="{FF2B5EF4-FFF2-40B4-BE49-F238E27FC236}">
                <a16:creationId xmlns:a16="http://schemas.microsoft.com/office/drawing/2014/main" id="{D3E5244B-BFB1-E9A8-C21F-BBB0AEE0A381}"/>
              </a:ext>
            </a:extLst>
          </p:cNvPr>
          <p:cNvGraphicFramePr>
            <a:graphicFrameLocks noChangeAspect="1"/>
          </p:cNvGraphicFramePr>
          <p:nvPr>
            <p:extLst>
              <p:ext uri="{D42A27DB-BD31-4B8C-83A1-F6EECF244321}">
                <p14:modId xmlns:p14="http://schemas.microsoft.com/office/powerpoint/2010/main" val="1820857188"/>
              </p:ext>
            </p:extLst>
          </p:nvPr>
        </p:nvGraphicFramePr>
        <p:xfrm>
          <a:off x="4169604" y="1910238"/>
          <a:ext cx="3852791" cy="713113"/>
        </p:xfrm>
        <a:graphic>
          <a:graphicData uri="http://schemas.openxmlformats.org/presentationml/2006/ole">
            <mc:AlternateContent xmlns:mc="http://schemas.openxmlformats.org/markup-compatibility/2006">
              <mc:Choice xmlns:v="urn:schemas-microsoft-com:vml" Requires="v">
                <p:oleObj name="Equation" r:id="rId2" imgW="1231366" imgH="228501" progId="Equation.DSMT4">
                  <p:embed/>
                </p:oleObj>
              </mc:Choice>
              <mc:Fallback>
                <p:oleObj name="Equation" r:id="rId2" imgW="1231366" imgH="228501"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9604" y="1910238"/>
                        <a:ext cx="3852791" cy="713113"/>
                      </a:xfrm>
                      <a:prstGeom prst="rect">
                        <a:avLst/>
                      </a:prstGeom>
                      <a:noFill/>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49</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动作序列的类型</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664208"/>
            <a:ext cx="5166360" cy="4160520"/>
          </a:xfrm>
          <a:prstGeom prst="roundRect">
            <a:avLst>
              <a:gd name="adj" fmla="val 269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49808" y="1664208"/>
            <a:ext cx="64008" cy="41605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60120" y="1810512"/>
            <a:ext cx="478231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离散动作序列</a:t>
            </a:r>
            <a:endParaRPr sz="2000" b="1" i="0" dirty="0">
              <a:solidFill>
                <a:srgbClr val="31599B"/>
              </a:solidFill>
              <a:latin typeface="微软雅黑" panose="020B0503020204020204" pitchFamily="34" charset="-122"/>
            </a:endParaRPr>
          </a:p>
        </p:txBody>
      </p:sp>
      <p:sp>
        <p:nvSpPr>
          <p:cNvPr id="12" name="TextBox 11"/>
          <p:cNvSpPr txBox="1"/>
          <p:nvPr/>
        </p:nvSpPr>
        <p:spPr>
          <a:xfrm>
            <a:off x="960120" y="2322576"/>
            <a:ext cx="4782312" cy="335584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适合粗粒度、高层规划。</a:t>
            </a:r>
          </a:p>
          <a:p>
            <a:pPr algn="l">
              <a:lnSpc>
                <a:spcPct val="108000"/>
              </a:lnSpc>
            </a:pPr>
            <a:endParaRPr sz="1900" b="0" i="0">
              <a:solidFill>
                <a:srgbClr val="222833"/>
              </a:solidFill>
              <a:latin typeface="微软雅黑"/>
            </a:endParaRPr>
          </a:p>
          <a:p>
            <a:pPr algn="l">
              <a:lnSpc>
                <a:spcPct val="108000"/>
              </a:lnSpc>
            </a:pPr>
            <a:r>
              <a:rPr sz="1900" b="0" i="0">
                <a:solidFill>
                  <a:srgbClr val="222833"/>
                </a:solidFill>
                <a:latin typeface="微软雅黑"/>
              </a:rPr>
              <a:t>示例：“前进”“抓取”“放置”。</a:t>
            </a:r>
          </a:p>
          <a:p>
            <a:pPr algn="l">
              <a:lnSpc>
                <a:spcPct val="108000"/>
              </a:lnSpc>
            </a:pPr>
            <a:endParaRPr sz="1900" b="0" i="0">
              <a:solidFill>
                <a:srgbClr val="222833"/>
              </a:solidFill>
              <a:latin typeface="微软雅黑"/>
            </a:endParaRPr>
          </a:p>
          <a:p>
            <a:pPr algn="l">
              <a:lnSpc>
                <a:spcPct val="108000"/>
              </a:lnSpc>
            </a:pPr>
            <a:r>
              <a:rPr sz="1900" b="0" i="0">
                <a:solidFill>
                  <a:srgbClr val="222833"/>
                </a:solidFill>
                <a:latin typeface="微软雅黑"/>
              </a:rPr>
              <a:t>特点：语义清晰、容易被人理解。</a:t>
            </a:r>
          </a:p>
        </p:txBody>
      </p:sp>
      <p:sp>
        <p:nvSpPr>
          <p:cNvPr id="13" name="Rounded Rectangle 12"/>
          <p:cNvSpPr/>
          <p:nvPr/>
        </p:nvSpPr>
        <p:spPr>
          <a:xfrm>
            <a:off x="6263640" y="1664208"/>
            <a:ext cx="5166360" cy="4160520"/>
          </a:xfrm>
          <a:prstGeom prst="roundRect">
            <a:avLst>
              <a:gd name="adj" fmla="val 151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263640" y="1664208"/>
            <a:ext cx="64008" cy="41605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473952" y="1810512"/>
            <a:ext cx="478231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连续动作序列</a:t>
            </a:r>
            <a:endParaRPr sz="2000" b="1" i="0" dirty="0">
              <a:solidFill>
                <a:srgbClr val="2F8E72"/>
              </a:solidFill>
              <a:latin typeface="微软雅黑" panose="020B0503020204020204" pitchFamily="34" charset="-122"/>
            </a:endParaRPr>
          </a:p>
        </p:txBody>
      </p:sp>
      <p:sp>
        <p:nvSpPr>
          <p:cNvPr id="16" name="TextBox 15"/>
          <p:cNvSpPr txBox="1"/>
          <p:nvPr/>
        </p:nvSpPr>
        <p:spPr>
          <a:xfrm>
            <a:off x="6473952" y="2322576"/>
            <a:ext cx="4782312" cy="335584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适合精细颗粒度的底层控制。</a:t>
            </a:r>
          </a:p>
          <a:p>
            <a:pPr algn="l">
              <a:lnSpc>
                <a:spcPct val="108000"/>
              </a:lnSpc>
            </a:pPr>
            <a:endParaRPr sz="1900" b="0" i="0">
              <a:solidFill>
                <a:srgbClr val="222833"/>
              </a:solidFill>
              <a:latin typeface="微软雅黑"/>
            </a:endParaRPr>
          </a:p>
          <a:p>
            <a:pPr algn="l">
              <a:lnSpc>
                <a:spcPct val="108000"/>
              </a:lnSpc>
            </a:pPr>
            <a:r>
              <a:rPr sz="1900" b="0" i="0">
                <a:solidFill>
                  <a:srgbClr val="222833"/>
                </a:solidFill>
                <a:latin typeface="微软雅黑"/>
              </a:rPr>
              <a:t>示例：关节角度、关节速度、末端速度。</a:t>
            </a:r>
          </a:p>
          <a:p>
            <a:pPr algn="l">
              <a:lnSpc>
                <a:spcPct val="108000"/>
              </a:lnSpc>
            </a:pPr>
            <a:endParaRPr sz="1900" b="0" i="0">
              <a:solidFill>
                <a:srgbClr val="222833"/>
              </a:solidFill>
              <a:latin typeface="微软雅黑"/>
            </a:endParaRPr>
          </a:p>
          <a:p>
            <a:pPr algn="l">
              <a:lnSpc>
                <a:spcPct val="108000"/>
              </a:lnSpc>
            </a:pPr>
            <a:r>
              <a:rPr sz="1900" b="0" i="0">
                <a:solidFill>
                  <a:srgbClr val="222833"/>
                </a:solidFill>
                <a:latin typeface="微软雅黑"/>
              </a:rPr>
              <a:t>特点：可以直接精确驱动执行器。</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50</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动作序列与</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MDP：在闭环中不断生成和修正</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783080"/>
            <a:ext cx="10241280" cy="3383280"/>
          </a:xfrm>
          <a:prstGeom prst="rect">
            <a:avLst/>
          </a:prstGeom>
          <a:noFill/>
        </p:spPr>
        <p:txBody>
          <a:bodyPr wrap="square" lIns="18288" tIns="18288" rIns="18288" bIns="18288">
            <a:spAutoFit/>
          </a:bodyPr>
          <a:lstStyle/>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当前动作</a:t>
            </a:r>
            <a:r>
              <a:rPr sz="2200" dirty="0">
                <a:solidFill>
                  <a:srgbClr val="222833"/>
                </a:solidFill>
                <a:latin typeface="微软雅黑"/>
              </a:rPr>
              <a:t> aₜ </a:t>
            </a:r>
            <a:r>
              <a:rPr sz="2200" dirty="0" err="1">
                <a:solidFill>
                  <a:srgbClr val="222833"/>
                </a:solidFill>
                <a:latin typeface="微软雅黑"/>
              </a:rPr>
              <a:t>主要依据当前状态</a:t>
            </a:r>
            <a:r>
              <a:rPr sz="2200" dirty="0">
                <a:solidFill>
                  <a:srgbClr val="222833"/>
                </a:solidFill>
                <a:latin typeface="微软雅黑"/>
              </a:rPr>
              <a:t> sₜ，</a:t>
            </a:r>
            <a:r>
              <a:rPr sz="2200" dirty="0" err="1">
                <a:solidFill>
                  <a:srgbClr val="222833"/>
                </a:solidFill>
                <a:latin typeface="微软雅黑"/>
              </a:rPr>
              <a:t>而不是简单记住全部历史轨迹</a:t>
            </a:r>
            <a:r>
              <a:rPr sz="2200" dirty="0">
                <a:solidFill>
                  <a:srgbClr val="222833"/>
                </a:solidFill>
                <a:latin typeface="微软雅黑"/>
              </a:rPr>
              <a:t>。</a:t>
            </a:r>
          </a:p>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状态可包含视觉图像、语言指令、当前关节角度等信息</a:t>
            </a:r>
            <a:r>
              <a:rPr sz="2200" dirty="0">
                <a:solidFill>
                  <a:srgbClr val="222833"/>
                </a:solidFill>
                <a:latin typeface="微软雅黑"/>
              </a:rPr>
              <a:t>。</a:t>
            </a:r>
          </a:p>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机器人执行动作后获得新观测，再在下一时刻重新决策，因此序列并非“一次生成后永不改变</a:t>
            </a:r>
            <a:r>
              <a:rPr sz="2200" dirty="0">
                <a:solidFill>
                  <a:srgbClr val="222833"/>
                </a:solidFill>
                <a:latin typeface="微软雅黑"/>
              </a:rPr>
              <a:t>”。</a:t>
            </a:r>
          </a:p>
        </p:txBody>
      </p:sp>
      <p:sp>
        <p:nvSpPr>
          <p:cNvPr id="10" name="TextBox 9"/>
          <p:cNvSpPr txBox="1"/>
          <p:nvPr/>
        </p:nvSpPr>
        <p:spPr>
          <a:xfrm>
            <a:off x="937260" y="4313127"/>
            <a:ext cx="10058400" cy="340350"/>
          </a:xfrm>
          <a:prstGeom prst="rect">
            <a:avLst/>
          </a:prstGeom>
          <a:noFill/>
        </p:spPr>
        <p:txBody>
          <a:bodyPr wrap="square" lIns="18288" tIns="18288" rIns="18288" bIns="18288" anchor="t">
            <a:spAutoFit/>
          </a:bodyPr>
          <a:lstStyle/>
          <a:p>
            <a:pPr algn="ctr">
              <a:lnSpc>
                <a:spcPct val="105000"/>
              </a:lnSpc>
            </a:pPr>
            <a:r>
              <a:rPr sz="2000" b="1" i="0" dirty="0" err="1">
                <a:solidFill>
                  <a:srgbClr val="24477D"/>
                </a:solidFill>
                <a:latin typeface="微软雅黑" panose="020B0503020204020204" pitchFamily="34" charset="-122"/>
              </a:rPr>
              <a:t>核心：动作序列是随环境反馈滚动更新的时间过程</a:t>
            </a:r>
            <a:r>
              <a:rPr sz="2000" b="1" i="0" dirty="0">
                <a:solidFill>
                  <a:srgbClr val="24477D"/>
                </a:solidFill>
                <a:latin typeface="微软雅黑" panose="020B0503020204020204" pitchFamily="34" charset="-122"/>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51</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7.3.2 </a:t>
            </a:r>
            <a:r>
              <a:rPr sz="3500" b="1" i="0" dirty="0" err="1">
                <a:solidFill>
                  <a:srgbClr val="24477D"/>
                </a:solidFill>
                <a:latin typeface="微软雅黑" panose="020B0503020204020204" pitchFamily="34" charset="-122"/>
              </a:rPr>
              <a:t>基于模型的规划：先预测未来，再选动作</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828800"/>
            <a:ext cx="10149840" cy="1351139"/>
          </a:xfrm>
          <a:prstGeom prst="rect">
            <a:avLst/>
          </a:prstGeom>
          <a:noFill/>
        </p:spPr>
        <p:txBody>
          <a:bodyPr wrap="square" lIns="18288" tIns="18288" rIns="18288" bIns="18288">
            <a:spAutoFit/>
          </a:bodyPr>
          <a:lstStyle/>
          <a:p>
            <a:pPr algn="l">
              <a:lnSpc>
                <a:spcPct val="112000"/>
              </a:lnSpc>
              <a:spcAft>
                <a:spcPts val="576"/>
              </a:spcAft>
            </a:pPr>
            <a:r>
              <a:rPr sz="2300" dirty="0">
                <a:solidFill>
                  <a:srgbClr val="222833"/>
                </a:solidFill>
                <a:latin typeface="微软雅黑"/>
              </a:rPr>
              <a:t>• Model-Based Planning </a:t>
            </a:r>
            <a:r>
              <a:rPr sz="2300" dirty="0" err="1">
                <a:solidFill>
                  <a:srgbClr val="222833"/>
                </a:solidFill>
                <a:latin typeface="微软雅黑"/>
              </a:rPr>
              <a:t>利用已知或学习到的环境动力学模型预测未来状态</a:t>
            </a:r>
            <a:endParaRPr sz="2300" dirty="0">
              <a:solidFill>
                <a:srgbClr val="222833"/>
              </a:solidFill>
              <a:latin typeface="微软雅黑"/>
            </a:endParaRPr>
          </a:p>
          <a:p>
            <a:pPr algn="l">
              <a:lnSpc>
                <a:spcPct val="112000"/>
              </a:lnSpc>
              <a:spcAft>
                <a:spcPts val="576"/>
              </a:spcAft>
            </a:pPr>
            <a:r>
              <a:rPr sz="2300" dirty="0">
                <a:solidFill>
                  <a:srgbClr val="222833"/>
                </a:solidFill>
                <a:latin typeface="微软雅黑"/>
              </a:rPr>
              <a:t>• </a:t>
            </a:r>
            <a:r>
              <a:rPr sz="2300" dirty="0" err="1">
                <a:solidFill>
                  <a:srgbClr val="222833"/>
                </a:solidFill>
                <a:latin typeface="微软雅黑"/>
              </a:rPr>
              <a:t>从当前状态出发，模拟多个候选动作序列的后果</a:t>
            </a:r>
            <a:endParaRPr sz="2300" dirty="0">
              <a:solidFill>
                <a:srgbClr val="222833"/>
              </a:solidFill>
              <a:latin typeface="微软雅黑"/>
            </a:endParaRPr>
          </a:p>
          <a:p>
            <a:pPr algn="l">
              <a:lnSpc>
                <a:spcPct val="112000"/>
              </a:lnSpc>
              <a:spcAft>
                <a:spcPts val="576"/>
              </a:spcAft>
            </a:pPr>
            <a:r>
              <a:rPr sz="2300" dirty="0">
                <a:solidFill>
                  <a:srgbClr val="222833"/>
                </a:solidFill>
                <a:latin typeface="微软雅黑"/>
              </a:rPr>
              <a:t>• </a:t>
            </a:r>
            <a:r>
              <a:rPr sz="2300" dirty="0" err="1">
                <a:solidFill>
                  <a:srgbClr val="222833"/>
                </a:solidFill>
                <a:latin typeface="微软雅黑"/>
              </a:rPr>
              <a:t>最终搜索代价最低或任务成功率最高的序列</a:t>
            </a:r>
            <a:endParaRPr sz="2300" dirty="0">
              <a:solidFill>
                <a:srgbClr val="222833"/>
              </a:solidFill>
              <a:latin typeface="微软雅黑"/>
            </a:endParaRPr>
          </a:p>
        </p:txBody>
      </p:sp>
      <p:sp>
        <p:nvSpPr>
          <p:cNvPr id="10" name="TextBox 9"/>
          <p:cNvSpPr txBox="1"/>
          <p:nvPr/>
        </p:nvSpPr>
        <p:spPr>
          <a:xfrm>
            <a:off x="914400" y="5166360"/>
            <a:ext cx="10058400" cy="340350"/>
          </a:xfrm>
          <a:prstGeom prst="rect">
            <a:avLst/>
          </a:prstGeom>
          <a:noFill/>
        </p:spPr>
        <p:txBody>
          <a:bodyPr wrap="square" lIns="18288" tIns="18288" rIns="18288" bIns="18288" anchor="t">
            <a:spAutoFit/>
          </a:bodyPr>
          <a:lstStyle/>
          <a:p>
            <a:pPr algn="ctr">
              <a:lnSpc>
                <a:spcPct val="105000"/>
              </a:lnSpc>
            </a:pPr>
            <a:r>
              <a:rPr sz="2000" b="1" i="0" dirty="0">
                <a:solidFill>
                  <a:srgbClr val="2F8E72"/>
                </a:solidFill>
                <a:latin typeface="微软雅黑" panose="020B0503020204020204" pitchFamily="34" charset="-122"/>
              </a:rPr>
              <a:t>思想：先“</a:t>
            </a:r>
            <a:r>
              <a:rPr sz="2000" b="1" i="0" dirty="0" err="1">
                <a:solidFill>
                  <a:srgbClr val="2F8E72"/>
                </a:solidFill>
                <a:latin typeface="微软雅黑" panose="020B0503020204020204" pitchFamily="34" charset="-122"/>
              </a:rPr>
              <a:t>在模型里试一遍</a:t>
            </a:r>
            <a:r>
              <a:rPr sz="2000" b="1" i="0" dirty="0">
                <a:solidFill>
                  <a:srgbClr val="2F8E72"/>
                </a:solidFill>
                <a:latin typeface="微软雅黑" panose="020B0503020204020204" pitchFamily="34" charset="-122"/>
              </a:rPr>
              <a:t>”，</a:t>
            </a:r>
            <a:r>
              <a:rPr sz="2000" b="1" i="0" dirty="0" err="1">
                <a:solidFill>
                  <a:srgbClr val="2F8E72"/>
                </a:solidFill>
                <a:latin typeface="微软雅黑" panose="020B0503020204020204" pitchFamily="34" charset="-122"/>
              </a:rPr>
              <a:t>再把最优方案交给真实机器人执行</a:t>
            </a:r>
            <a:r>
              <a:rPr sz="2000" b="1" i="0" dirty="0">
                <a:solidFill>
                  <a:srgbClr val="2F8E72"/>
                </a:solidFill>
                <a:latin typeface="微软雅黑" panose="020B0503020204020204" pitchFamily="34" charset="-122"/>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52</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基于模型规划的三个步骤</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874519"/>
            <a:ext cx="3416808" cy="2331720"/>
          </a:xfrm>
          <a:prstGeom prst="roundRect">
            <a:avLst>
              <a:gd name="adj" fmla="val 4103"/>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874519"/>
            <a:ext cx="64008" cy="2331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2020824"/>
            <a:ext cx="3032760" cy="310021"/>
          </a:xfrm>
          <a:prstGeom prst="rect">
            <a:avLst/>
          </a:prstGeom>
          <a:noFill/>
        </p:spPr>
        <p:txBody>
          <a:bodyPr wrap="square" lIns="18288" tIns="18288" rIns="18288" bIns="18288" anchor="t">
            <a:spAutoFit/>
          </a:bodyPr>
          <a:lstStyle/>
          <a:p>
            <a:pPr algn="l">
              <a:lnSpc>
                <a:spcPct val="105000"/>
              </a:lnSpc>
            </a:pPr>
            <a:r>
              <a:rPr sz="1800" b="1" i="0" dirty="0">
                <a:solidFill>
                  <a:srgbClr val="31599B"/>
                </a:solidFill>
                <a:latin typeface="微软雅黑" panose="020B0503020204020204" pitchFamily="34" charset="-122"/>
              </a:rPr>
              <a:t>1 </a:t>
            </a:r>
            <a:r>
              <a:rPr sz="1800" b="1" i="0" dirty="0" err="1">
                <a:solidFill>
                  <a:srgbClr val="31599B"/>
                </a:solidFill>
                <a:latin typeface="微软雅黑" panose="020B0503020204020204" pitchFamily="34" charset="-122"/>
              </a:rPr>
              <a:t>构建模型</a:t>
            </a:r>
            <a:endParaRPr sz="1800" b="1" i="0" dirty="0">
              <a:solidFill>
                <a:srgbClr val="31599B"/>
              </a:solidFill>
              <a:latin typeface="微软雅黑" panose="020B0503020204020204" pitchFamily="34" charset="-122"/>
            </a:endParaRPr>
          </a:p>
        </p:txBody>
      </p:sp>
      <p:sp>
        <p:nvSpPr>
          <p:cNvPr id="12" name="TextBox 11"/>
          <p:cNvSpPr txBox="1"/>
          <p:nvPr/>
        </p:nvSpPr>
        <p:spPr>
          <a:xfrm>
            <a:off x="923544" y="2532887"/>
            <a:ext cx="303276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学习状态转移 P(sₜ₊₁ | sₜ, aₜ) 与奖励 / 代价函数。</a:t>
            </a:r>
          </a:p>
        </p:txBody>
      </p:sp>
      <p:sp>
        <p:nvSpPr>
          <p:cNvPr id="13" name="TextBox 12"/>
          <p:cNvSpPr txBox="1"/>
          <p:nvPr/>
        </p:nvSpPr>
        <p:spPr>
          <a:xfrm>
            <a:off x="4090354" y="270416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4" name="Rounded Rectangle 13"/>
          <p:cNvSpPr/>
          <p:nvPr/>
        </p:nvSpPr>
        <p:spPr>
          <a:xfrm>
            <a:off x="4294632" y="1874519"/>
            <a:ext cx="3416808" cy="2331720"/>
          </a:xfrm>
          <a:prstGeom prst="roundRect">
            <a:avLst>
              <a:gd name="adj" fmla="val 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4294632" y="1874519"/>
            <a:ext cx="64008" cy="2331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4504944" y="2020824"/>
            <a:ext cx="3032760" cy="310021"/>
          </a:xfrm>
          <a:prstGeom prst="rect">
            <a:avLst/>
          </a:prstGeom>
          <a:noFill/>
        </p:spPr>
        <p:txBody>
          <a:bodyPr wrap="square" lIns="18288" tIns="18288" rIns="18288" bIns="18288" anchor="t">
            <a:spAutoFit/>
          </a:bodyPr>
          <a:lstStyle/>
          <a:p>
            <a:pPr algn="l">
              <a:lnSpc>
                <a:spcPct val="105000"/>
              </a:lnSpc>
            </a:pPr>
            <a:r>
              <a:rPr sz="1800" b="1" i="0" dirty="0">
                <a:solidFill>
                  <a:srgbClr val="2F8E72"/>
                </a:solidFill>
                <a:latin typeface="微软雅黑" panose="020B0503020204020204" pitchFamily="34" charset="-122"/>
              </a:rPr>
              <a:t>2 </a:t>
            </a:r>
            <a:r>
              <a:rPr sz="1800" b="1" i="0" dirty="0" err="1">
                <a:solidFill>
                  <a:srgbClr val="2F8E72"/>
                </a:solidFill>
                <a:latin typeface="微软雅黑" panose="020B0503020204020204" pitchFamily="34" charset="-122"/>
              </a:rPr>
              <a:t>前向预测</a:t>
            </a:r>
            <a:endParaRPr sz="1800" b="1" i="0" dirty="0">
              <a:solidFill>
                <a:srgbClr val="2F8E72"/>
              </a:solidFill>
              <a:latin typeface="微软雅黑" panose="020B0503020204020204" pitchFamily="34" charset="-122"/>
            </a:endParaRPr>
          </a:p>
        </p:txBody>
      </p:sp>
      <p:sp>
        <p:nvSpPr>
          <p:cNvPr id="17" name="TextBox 16"/>
          <p:cNvSpPr txBox="1"/>
          <p:nvPr/>
        </p:nvSpPr>
        <p:spPr>
          <a:xfrm>
            <a:off x="4504944" y="2532887"/>
            <a:ext cx="303276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从当前状态模拟不同动作序列，得到未来轨迹。</a:t>
            </a:r>
          </a:p>
        </p:txBody>
      </p:sp>
      <p:sp>
        <p:nvSpPr>
          <p:cNvPr id="18" name="TextBox 17"/>
          <p:cNvSpPr txBox="1"/>
          <p:nvPr/>
        </p:nvSpPr>
        <p:spPr>
          <a:xfrm>
            <a:off x="7671755" y="270416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9" name="Rounded Rectangle 18"/>
          <p:cNvSpPr/>
          <p:nvPr/>
        </p:nvSpPr>
        <p:spPr>
          <a:xfrm>
            <a:off x="7876032" y="1874519"/>
            <a:ext cx="3416808" cy="2331720"/>
          </a:xfrm>
          <a:prstGeom prst="roundRect">
            <a:avLst>
              <a:gd name="adj" fmla="val 277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Rectangle 19"/>
          <p:cNvSpPr/>
          <p:nvPr/>
        </p:nvSpPr>
        <p:spPr>
          <a:xfrm>
            <a:off x="7876032" y="1874519"/>
            <a:ext cx="64008" cy="2331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TextBox 20"/>
          <p:cNvSpPr txBox="1"/>
          <p:nvPr/>
        </p:nvSpPr>
        <p:spPr>
          <a:xfrm>
            <a:off x="8086344" y="2020824"/>
            <a:ext cx="3032760" cy="310021"/>
          </a:xfrm>
          <a:prstGeom prst="rect">
            <a:avLst/>
          </a:prstGeom>
          <a:noFill/>
        </p:spPr>
        <p:txBody>
          <a:bodyPr wrap="square" lIns="18288" tIns="18288" rIns="18288" bIns="18288" anchor="t">
            <a:spAutoFit/>
          </a:bodyPr>
          <a:lstStyle/>
          <a:p>
            <a:pPr algn="l">
              <a:lnSpc>
                <a:spcPct val="105000"/>
              </a:lnSpc>
            </a:pPr>
            <a:r>
              <a:rPr sz="1800" b="1" i="0" dirty="0">
                <a:solidFill>
                  <a:srgbClr val="C58A24"/>
                </a:solidFill>
                <a:latin typeface="微软雅黑" panose="020B0503020204020204" pitchFamily="34" charset="-122"/>
              </a:rPr>
              <a:t>3 </a:t>
            </a:r>
            <a:r>
              <a:rPr sz="1800" b="1" i="0" dirty="0" err="1">
                <a:solidFill>
                  <a:srgbClr val="C58A24"/>
                </a:solidFill>
                <a:latin typeface="微软雅黑" panose="020B0503020204020204" pitchFamily="34" charset="-122"/>
              </a:rPr>
              <a:t>优化搜索</a:t>
            </a:r>
            <a:endParaRPr sz="1800" b="1" i="0" dirty="0">
              <a:solidFill>
                <a:srgbClr val="C58A24"/>
              </a:solidFill>
              <a:latin typeface="微软雅黑" panose="020B0503020204020204" pitchFamily="34" charset="-122"/>
            </a:endParaRPr>
          </a:p>
        </p:txBody>
      </p:sp>
      <p:sp>
        <p:nvSpPr>
          <p:cNvPr id="22" name="TextBox 21"/>
          <p:cNvSpPr txBox="1"/>
          <p:nvPr/>
        </p:nvSpPr>
        <p:spPr>
          <a:xfrm>
            <a:off x="8086344" y="2532887"/>
            <a:ext cx="303276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比较候选轨迹，找到代价最低或成功率最高的动作序列。</a:t>
            </a:r>
          </a:p>
        </p:txBody>
      </p:sp>
      <p:sp>
        <p:nvSpPr>
          <p:cNvPr id="23" name="TextBox 22"/>
          <p:cNvSpPr txBox="1"/>
          <p:nvPr/>
        </p:nvSpPr>
        <p:spPr>
          <a:xfrm>
            <a:off x="822960" y="4927605"/>
            <a:ext cx="10515600" cy="340350"/>
          </a:xfrm>
          <a:prstGeom prst="rect">
            <a:avLst/>
          </a:prstGeom>
          <a:noFill/>
        </p:spPr>
        <p:txBody>
          <a:bodyPr wrap="square" lIns="18288" tIns="18288" rIns="18288" bIns="18288" anchor="ctr">
            <a:spAutoFit/>
          </a:bodyPr>
          <a:lstStyle/>
          <a:p>
            <a:pPr algn="ctr">
              <a:lnSpc>
                <a:spcPct val="105000"/>
              </a:lnSpc>
            </a:pPr>
            <a:r>
              <a:rPr sz="2000" b="1" i="0" dirty="0" err="1">
                <a:solidFill>
                  <a:srgbClr val="24477D"/>
                </a:solidFill>
                <a:latin typeface="微软雅黑" panose="020B0503020204020204" pitchFamily="34" charset="-122"/>
              </a:rPr>
              <a:t>规划质量取决于动力学模型是否足够准确</a:t>
            </a:r>
            <a:r>
              <a:rPr sz="2000" b="1" i="0" dirty="0">
                <a:solidFill>
                  <a:srgbClr val="24477D"/>
                </a:solidFill>
                <a:latin typeface="微软雅黑" panose="020B0503020204020204" pitchFamily="34" charset="-122"/>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53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基于模型规划的优势与不足</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664208"/>
            <a:ext cx="5166360" cy="4160520"/>
          </a:xfrm>
          <a:prstGeom prst="roundRect">
            <a:avLst>
              <a:gd name="adj" fmla="val 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49808" y="1664208"/>
            <a:ext cx="64008" cy="41605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60120" y="1810512"/>
            <a:ext cx="478231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优势</a:t>
            </a:r>
            <a:endParaRPr sz="2000" b="1" i="0" dirty="0">
              <a:solidFill>
                <a:srgbClr val="31599B"/>
              </a:solidFill>
              <a:latin typeface="微软雅黑" panose="020B0503020204020204" pitchFamily="34" charset="-122"/>
            </a:endParaRPr>
          </a:p>
        </p:txBody>
      </p:sp>
      <p:sp>
        <p:nvSpPr>
          <p:cNvPr id="12" name="TextBox 11"/>
          <p:cNvSpPr txBox="1"/>
          <p:nvPr/>
        </p:nvSpPr>
        <p:spPr>
          <a:xfrm>
            <a:off x="960120" y="2322576"/>
            <a:ext cx="4782312" cy="335584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可解释性强：可以检查预测轨迹。</a:t>
            </a:r>
          </a:p>
          <a:p>
            <a:pPr algn="l">
              <a:lnSpc>
                <a:spcPct val="108000"/>
              </a:lnSpc>
            </a:pPr>
            <a:endParaRPr sz="2000" b="0" i="0">
              <a:solidFill>
                <a:srgbClr val="222833"/>
              </a:solidFill>
              <a:latin typeface="微软雅黑"/>
            </a:endParaRPr>
          </a:p>
          <a:p>
            <a:pPr algn="l">
              <a:lnSpc>
                <a:spcPct val="108000"/>
              </a:lnSpc>
            </a:pPr>
            <a:r>
              <a:rPr sz="2000" b="0" i="0">
                <a:solidFill>
                  <a:srgbClr val="222833"/>
                </a:solidFill>
                <a:latin typeface="微软雅黑"/>
              </a:rPr>
              <a:t>安全约束清晰：能显式加入碰撞、关节限位等条件。</a:t>
            </a:r>
          </a:p>
        </p:txBody>
      </p:sp>
      <p:sp>
        <p:nvSpPr>
          <p:cNvPr id="13" name="Rounded Rectangle 12"/>
          <p:cNvSpPr/>
          <p:nvPr/>
        </p:nvSpPr>
        <p:spPr>
          <a:xfrm>
            <a:off x="6263640" y="1664208"/>
            <a:ext cx="5166360" cy="4160520"/>
          </a:xfrm>
          <a:prstGeom prst="roundRect">
            <a:avLst>
              <a:gd name="adj" fmla="val 162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263640" y="1664208"/>
            <a:ext cx="64008" cy="41605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473952" y="1810512"/>
            <a:ext cx="478231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不足</a:t>
            </a:r>
            <a:endParaRPr sz="2000" b="1" i="0" dirty="0">
              <a:solidFill>
                <a:srgbClr val="2F8E72"/>
              </a:solidFill>
              <a:latin typeface="微软雅黑" panose="020B0503020204020204" pitchFamily="34" charset="-122"/>
            </a:endParaRPr>
          </a:p>
        </p:txBody>
      </p:sp>
      <p:sp>
        <p:nvSpPr>
          <p:cNvPr id="16" name="TextBox 15"/>
          <p:cNvSpPr txBox="1"/>
          <p:nvPr/>
        </p:nvSpPr>
        <p:spPr>
          <a:xfrm>
            <a:off x="6473952" y="2322576"/>
            <a:ext cx="4782312" cy="335584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动作序列越长，候选组合快速增长。</a:t>
            </a:r>
          </a:p>
          <a:p>
            <a:pPr algn="l">
              <a:lnSpc>
                <a:spcPct val="108000"/>
              </a:lnSpc>
            </a:pPr>
            <a:endParaRPr sz="2000" b="0" i="0">
              <a:solidFill>
                <a:srgbClr val="222833"/>
              </a:solidFill>
              <a:latin typeface="微软雅黑"/>
            </a:endParaRPr>
          </a:p>
          <a:p>
            <a:pPr algn="l">
              <a:lnSpc>
                <a:spcPct val="108000"/>
              </a:lnSpc>
            </a:pPr>
            <a:r>
              <a:rPr sz="2000" b="0" i="0">
                <a:solidFill>
                  <a:srgbClr val="222833"/>
                </a:solidFill>
                <a:latin typeface="微软雅黑"/>
              </a:rPr>
              <a:t>如果动力学模型不准确，预测误差会随时间积累。</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54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7.3.3 </a:t>
            </a:r>
            <a:r>
              <a:rPr sz="3500" b="1" i="0" dirty="0" err="1">
                <a:solidFill>
                  <a:srgbClr val="24477D"/>
                </a:solidFill>
                <a:latin typeface="微软雅黑" panose="020B0503020204020204" pitchFamily="34" charset="-122"/>
              </a:rPr>
              <a:t>生成式动作序列：直接学习“动作分布</a:t>
            </a:r>
            <a:r>
              <a:rPr sz="3500" b="1" i="0" dirty="0">
                <a:solidFill>
                  <a:srgbClr val="24477D"/>
                </a:solidFill>
                <a:latin typeface="微软雅黑" panose="020B0503020204020204" pitchFamily="34" charset="-122"/>
              </a:rPr>
              <a:t>”</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737360"/>
            <a:ext cx="10241280" cy="3566160"/>
          </a:xfrm>
          <a:prstGeom prst="rect">
            <a:avLst/>
          </a:prstGeom>
          <a:noFill/>
        </p:spPr>
        <p:txBody>
          <a:bodyPr wrap="square" lIns="18288" tIns="18288" rIns="18288" bIns="18288">
            <a:spAutoFit/>
          </a:bodyPr>
          <a:lstStyle/>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数据驱动方法不再强依赖显式环境模型，而是从大量机器人演示中学习合理动作序列的分布</a:t>
            </a:r>
            <a:r>
              <a:rPr sz="2200" dirty="0">
                <a:solidFill>
                  <a:srgbClr val="222833"/>
                </a:solidFill>
                <a:latin typeface="微软雅黑"/>
              </a:rPr>
              <a:t>。</a:t>
            </a:r>
          </a:p>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同一条指令往往存在多种可行方案，因此模型需要能够表达“多模态”的动作分布</a:t>
            </a:r>
            <a:r>
              <a:rPr sz="2200" dirty="0">
                <a:solidFill>
                  <a:srgbClr val="222833"/>
                </a:solidFill>
                <a:latin typeface="微软雅黑"/>
              </a:rPr>
              <a:t>。</a:t>
            </a:r>
          </a:p>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可以把动作序列生成理解为：给定当前观测和语言条件，生成一段合理的未来行为</a:t>
            </a:r>
            <a:r>
              <a:rPr sz="2200" dirty="0">
                <a:solidFill>
                  <a:srgbClr val="222833"/>
                </a:solidFill>
                <a:latin typeface="微软雅黑"/>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55</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条件生成：视觉与语言共同决定未来动作</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952500" y="2846383"/>
            <a:ext cx="10287000" cy="958034"/>
          </a:xfrm>
          <a:prstGeom prst="roundRect">
            <a:avLst/>
          </a:prstGeom>
          <a:solidFill>
            <a:srgbClr val="EDF2FA"/>
          </a:solidFill>
          <a:ln>
            <a:solidFill>
              <a:srgbClr val="CBD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ounded Rectangle 11"/>
          <p:cNvSpPr/>
          <p:nvPr/>
        </p:nvSpPr>
        <p:spPr>
          <a:xfrm>
            <a:off x="960120" y="4185820"/>
            <a:ext cx="10287000" cy="1209139"/>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1325880" y="4457700"/>
            <a:ext cx="9738360" cy="1417320"/>
          </a:xfrm>
          <a:prstGeom prst="rect">
            <a:avLst/>
          </a:prstGeom>
          <a:noFill/>
        </p:spPr>
        <p:txBody>
          <a:bodyPr wrap="square" lIns="18288" tIns="18288" rIns="18288" bIns="18288" anchor="t">
            <a:spAutoFit/>
          </a:bodyPr>
          <a:lstStyle/>
          <a:p>
            <a:pPr algn="l">
              <a:lnSpc>
                <a:spcPct val="112000"/>
              </a:lnSpc>
            </a:pPr>
            <a:r>
              <a:rPr sz="2000" b="0" i="0" dirty="0">
                <a:solidFill>
                  <a:srgbClr val="222833"/>
                </a:solidFill>
                <a:latin typeface="微软雅黑"/>
              </a:rPr>
              <a:t>Iₜ：</a:t>
            </a:r>
            <a:r>
              <a:rPr sz="2000" b="0" i="0" dirty="0" err="1">
                <a:solidFill>
                  <a:srgbClr val="222833"/>
                </a:solidFill>
                <a:latin typeface="微软雅黑"/>
              </a:rPr>
              <a:t>当前视觉观测；L：自然语言指令。模型学习在这些条件下，哪些动作序列更可能是合理、成功的执行方案</a:t>
            </a:r>
            <a:r>
              <a:rPr sz="2000" b="0" i="0" dirty="0">
                <a:solidFill>
                  <a:srgbClr val="222833"/>
                </a:solidFill>
                <a:latin typeface="微软雅黑"/>
              </a:rPr>
              <a:t>。</a:t>
            </a:r>
          </a:p>
        </p:txBody>
      </p:sp>
      <p:sp>
        <p:nvSpPr>
          <p:cNvPr id="18" name="TextBox 8">
            <a:extLst>
              <a:ext uri="{FF2B5EF4-FFF2-40B4-BE49-F238E27FC236}">
                <a16:creationId xmlns:a16="http://schemas.microsoft.com/office/drawing/2014/main" id="{F229890C-37DF-1F7D-6835-4B7479113A2B}"/>
              </a:ext>
            </a:extLst>
          </p:cNvPr>
          <p:cNvSpPr txBox="1"/>
          <p:nvPr/>
        </p:nvSpPr>
        <p:spPr>
          <a:xfrm>
            <a:off x="845820" y="1529769"/>
            <a:ext cx="10241280" cy="834074"/>
          </a:xfrm>
          <a:prstGeom prst="rect">
            <a:avLst/>
          </a:prstGeom>
          <a:noFill/>
        </p:spPr>
        <p:txBody>
          <a:bodyPr wrap="square" lIns="18288" tIns="18288" rIns="18288" bIns="18288">
            <a:spAutoFit/>
          </a:bodyPr>
          <a:lstStyle/>
          <a:p>
            <a:pPr>
              <a:lnSpc>
                <a:spcPct val="112000"/>
              </a:lnSpc>
              <a:spcAft>
                <a:spcPts val="576"/>
              </a:spcAft>
            </a:pPr>
            <a:r>
              <a:rPr sz="2200" dirty="0">
                <a:solidFill>
                  <a:srgbClr val="222833"/>
                </a:solidFill>
                <a:latin typeface="微软雅黑" panose="020B0503020204020204" pitchFamily="34" charset="-122"/>
                <a:ea typeface="微软雅黑" panose="020B0503020204020204" pitchFamily="34" charset="-122"/>
              </a:rPr>
              <a:t>•</a:t>
            </a:r>
            <a:r>
              <a:rPr lang="en-US" sz="2200" dirty="0">
                <a:solidFill>
                  <a:srgbClr val="222833"/>
                </a:solidFill>
                <a:latin typeface="微软雅黑" panose="020B0503020204020204" pitchFamily="34" charset="-122"/>
                <a:ea typeface="微软雅黑" panose="020B0503020204020204" pitchFamily="34" charset="-122"/>
              </a:rPr>
              <a:t> </a:t>
            </a:r>
            <a:r>
              <a:rPr lang="zh-CN" altLang="en-US" sz="2200" dirty="0">
                <a:solidFill>
                  <a:srgbClr val="222833"/>
                </a:solidFill>
                <a:latin typeface="微软雅黑" panose="020B0503020204020204" pitchFamily="34" charset="-122"/>
                <a:ea typeface="微软雅黑" panose="020B0503020204020204" pitchFamily="34" charset="-122"/>
              </a:rPr>
              <a:t>生成式方法的核心是条件生成：给定视觉观测</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和语言指令（如“把苹果放进篮子”），模型输出动作序列概率</a:t>
            </a:r>
            <a:r>
              <a:rPr lang="zh-CN" altLang="en-US" sz="800" dirty="0">
                <a:latin typeface="微软雅黑" panose="020B0503020204020204" pitchFamily="34" charset="-122"/>
                <a:ea typeface="微软雅黑" panose="020B0503020204020204" pitchFamily="34" charset="-122"/>
              </a:rPr>
              <a:t> </a:t>
            </a:r>
            <a:endParaRPr lang="zh-CN" altLang="en-US" sz="4800" dirty="0">
              <a:latin typeface="微软雅黑" panose="020B0503020204020204" pitchFamily="34" charset="-122"/>
              <a:ea typeface="微软雅黑" panose="020B0503020204020204" pitchFamily="34" charset="-122"/>
            </a:endParaRPr>
          </a:p>
        </p:txBody>
      </p:sp>
      <p:graphicFrame>
        <p:nvGraphicFramePr>
          <p:cNvPr id="20" name="对象 19">
            <a:extLst>
              <a:ext uri="{FF2B5EF4-FFF2-40B4-BE49-F238E27FC236}">
                <a16:creationId xmlns:a16="http://schemas.microsoft.com/office/drawing/2014/main" id="{9FFCFFCD-AA1C-6BEA-9BCA-4DCD4EB5D37A}"/>
              </a:ext>
            </a:extLst>
          </p:cNvPr>
          <p:cNvGraphicFramePr>
            <a:graphicFrameLocks noChangeAspect="1"/>
          </p:cNvGraphicFramePr>
          <p:nvPr/>
        </p:nvGraphicFramePr>
        <p:xfrm>
          <a:off x="0" y="0"/>
          <a:ext cx="141288" cy="228600"/>
        </p:xfrm>
        <a:graphic>
          <a:graphicData uri="http://schemas.openxmlformats.org/presentationml/2006/ole">
            <mc:AlternateContent xmlns:mc="http://schemas.openxmlformats.org/markup-compatibility/2006">
              <mc:Choice xmlns:v="urn:schemas-microsoft-com:vml" Requires="v">
                <p:oleObj name="Equation" r:id="rId2" imgW="139700" imgH="228600" progId="Equation.DSMT4">
                  <p:embed/>
                </p:oleObj>
              </mc:Choice>
              <mc:Fallback>
                <p:oleObj name="Equation" r:id="rId2" imgW="139700" imgH="2286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41288"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8">
            <a:extLst>
              <a:ext uri="{FF2B5EF4-FFF2-40B4-BE49-F238E27FC236}">
                <a16:creationId xmlns:a16="http://schemas.microsoft.com/office/drawing/2014/main" id="{B1E22A0F-284C-2C11-3CE3-7C189BEA060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3" name="对象 22">
            <a:extLst>
              <a:ext uri="{FF2B5EF4-FFF2-40B4-BE49-F238E27FC236}">
                <a16:creationId xmlns:a16="http://schemas.microsoft.com/office/drawing/2014/main" id="{B179FDD9-B73E-E0A8-DCE7-1C85CE24DA5A}"/>
              </a:ext>
            </a:extLst>
          </p:cNvPr>
          <p:cNvGraphicFramePr>
            <a:graphicFrameLocks noChangeAspect="1"/>
          </p:cNvGraphicFramePr>
          <p:nvPr>
            <p:extLst>
              <p:ext uri="{D42A27DB-BD31-4B8C-83A1-F6EECF244321}">
                <p14:modId xmlns:p14="http://schemas.microsoft.com/office/powerpoint/2010/main" val="894200069"/>
              </p:ext>
            </p:extLst>
          </p:nvPr>
        </p:nvGraphicFramePr>
        <p:xfrm>
          <a:off x="4437364" y="2954261"/>
          <a:ext cx="2529777" cy="748024"/>
        </p:xfrm>
        <a:graphic>
          <a:graphicData uri="http://schemas.openxmlformats.org/presentationml/2006/ole">
            <mc:AlternateContent xmlns:mc="http://schemas.openxmlformats.org/markup-compatibility/2006">
              <mc:Choice xmlns:v="urn:schemas-microsoft-com:vml" Requires="v">
                <p:oleObj name="Equation" r:id="rId4" imgW="774364" imgH="228501" progId="Equation.DSMT4">
                  <p:embed/>
                </p:oleObj>
              </mc:Choice>
              <mc:Fallback>
                <p:oleObj name="Equation" r:id="rId4" imgW="774364" imgH="228501"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37364" y="2954261"/>
                        <a:ext cx="2529777" cy="748024"/>
                      </a:xfrm>
                      <a:prstGeom prst="rect">
                        <a:avLst/>
                      </a:prstGeom>
                      <a:noFill/>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56</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生成式动作序列的两类常见架构</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664208"/>
            <a:ext cx="5166360" cy="4160520"/>
          </a:xfrm>
          <a:prstGeom prst="roundRect">
            <a:avLst>
              <a:gd name="adj" fmla="val 269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49808" y="1664208"/>
            <a:ext cx="64008" cy="41605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60120" y="1810512"/>
            <a:ext cx="4782312" cy="340350"/>
          </a:xfrm>
          <a:prstGeom prst="rect">
            <a:avLst/>
          </a:prstGeom>
          <a:noFill/>
        </p:spPr>
        <p:txBody>
          <a:bodyPr wrap="square" lIns="18288" tIns="18288" rIns="18288" bIns="18288" anchor="t">
            <a:spAutoFit/>
          </a:bodyPr>
          <a:lstStyle/>
          <a:p>
            <a:pPr algn="l">
              <a:lnSpc>
                <a:spcPct val="105000"/>
              </a:lnSpc>
            </a:pPr>
            <a:r>
              <a:rPr sz="2000" b="1" i="0" dirty="0">
                <a:solidFill>
                  <a:srgbClr val="31599B"/>
                </a:solidFill>
                <a:latin typeface="微软雅黑" panose="020B0503020204020204" pitchFamily="34" charset="-122"/>
              </a:rPr>
              <a:t>Transformer </a:t>
            </a:r>
            <a:r>
              <a:rPr sz="2000" b="1" i="0" dirty="0" err="1">
                <a:solidFill>
                  <a:srgbClr val="31599B"/>
                </a:solidFill>
                <a:latin typeface="微软雅黑" panose="020B0503020204020204" pitchFamily="34" charset="-122"/>
              </a:rPr>
              <a:t>解码器</a:t>
            </a:r>
            <a:endParaRPr sz="2000" b="1" i="0" dirty="0">
              <a:solidFill>
                <a:srgbClr val="31599B"/>
              </a:solidFill>
              <a:latin typeface="微软雅黑" panose="020B0503020204020204" pitchFamily="34" charset="-122"/>
            </a:endParaRPr>
          </a:p>
        </p:txBody>
      </p:sp>
      <p:sp>
        <p:nvSpPr>
          <p:cNvPr id="12" name="TextBox 11"/>
          <p:cNvSpPr txBox="1"/>
          <p:nvPr/>
        </p:nvSpPr>
        <p:spPr>
          <a:xfrm>
            <a:off x="960120" y="2322576"/>
            <a:ext cx="4782312" cy="335584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按序列方式建模动作词元或连续动作。</a:t>
            </a:r>
          </a:p>
          <a:p>
            <a:pPr algn="l">
              <a:lnSpc>
                <a:spcPct val="108000"/>
              </a:lnSpc>
            </a:pPr>
            <a:endParaRPr sz="1900" b="0" i="0">
              <a:solidFill>
                <a:srgbClr val="222833"/>
              </a:solidFill>
              <a:latin typeface="微软雅黑"/>
            </a:endParaRPr>
          </a:p>
          <a:p>
            <a:pPr algn="l">
              <a:lnSpc>
                <a:spcPct val="108000"/>
              </a:lnSpc>
            </a:pPr>
            <a:r>
              <a:rPr sz="1900" b="0" i="0">
                <a:solidFill>
                  <a:srgbClr val="222833"/>
                </a:solidFill>
                <a:latin typeface="微软雅黑"/>
              </a:rPr>
              <a:t>适合利用注意力机制捕获长程依赖，并可采用自回归生成。</a:t>
            </a:r>
          </a:p>
        </p:txBody>
      </p:sp>
      <p:sp>
        <p:nvSpPr>
          <p:cNvPr id="13" name="Rounded Rectangle 12"/>
          <p:cNvSpPr/>
          <p:nvPr/>
        </p:nvSpPr>
        <p:spPr>
          <a:xfrm>
            <a:off x="6263640" y="1664208"/>
            <a:ext cx="5166360" cy="4160520"/>
          </a:xfrm>
          <a:prstGeom prst="roundRect">
            <a:avLst>
              <a:gd name="adj" fmla="val 194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263640" y="1664208"/>
            <a:ext cx="64008" cy="41605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473952" y="1810512"/>
            <a:ext cx="478231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扩散模型</a:t>
            </a:r>
            <a:endParaRPr sz="2000" b="1" i="0" dirty="0">
              <a:solidFill>
                <a:srgbClr val="2F8E72"/>
              </a:solidFill>
              <a:latin typeface="微软雅黑" panose="020B0503020204020204" pitchFamily="34" charset="-122"/>
            </a:endParaRPr>
          </a:p>
        </p:txBody>
      </p:sp>
      <p:sp>
        <p:nvSpPr>
          <p:cNvPr id="16" name="TextBox 15"/>
          <p:cNvSpPr txBox="1"/>
          <p:nvPr/>
        </p:nvSpPr>
        <p:spPr>
          <a:xfrm>
            <a:off x="6473952" y="2322576"/>
            <a:ext cx="4782312" cy="335584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从噪声轨迹逐步恢复为清晰动作序列。</a:t>
            </a:r>
          </a:p>
          <a:p>
            <a:pPr algn="l">
              <a:lnSpc>
                <a:spcPct val="108000"/>
              </a:lnSpc>
            </a:pPr>
            <a:endParaRPr sz="1900" b="0" i="0">
              <a:solidFill>
                <a:srgbClr val="222833"/>
              </a:solidFill>
              <a:latin typeface="微软雅黑"/>
            </a:endParaRPr>
          </a:p>
          <a:p>
            <a:pPr algn="l">
              <a:lnSpc>
                <a:spcPct val="108000"/>
              </a:lnSpc>
            </a:pPr>
            <a:r>
              <a:rPr sz="1900" b="0" i="0">
                <a:solidFill>
                  <a:srgbClr val="222833"/>
                </a:solidFill>
                <a:latin typeface="微软雅黑"/>
              </a:rPr>
              <a:t>尤其适合连续、高维和多模态的动作分布。</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57</a:t>
            </a:r>
          </a:p>
        </p:txBody>
      </p:sp>
      <p:sp>
        <p:nvSpPr>
          <p:cNvPr id="7" name="TextBox 6"/>
          <p:cNvSpPr txBox="1"/>
          <p:nvPr/>
        </p:nvSpPr>
        <p:spPr>
          <a:xfrm>
            <a:off x="502920" y="551044"/>
            <a:ext cx="10927080" cy="507255"/>
          </a:xfrm>
          <a:prstGeom prst="rect">
            <a:avLst/>
          </a:prstGeom>
          <a:noFill/>
        </p:spPr>
        <p:txBody>
          <a:bodyPr wrap="square" lIns="18288" tIns="18288" rIns="18288" bIns="18288" anchor="ctr">
            <a:spAutoFit/>
          </a:bodyPr>
          <a:lstStyle/>
          <a:p>
            <a:pPr algn="l">
              <a:lnSpc>
                <a:spcPct val="105000"/>
              </a:lnSpc>
            </a:pPr>
            <a:r>
              <a:rPr sz="3100" b="1" i="0" dirty="0">
                <a:solidFill>
                  <a:srgbClr val="24477D"/>
                </a:solidFill>
                <a:latin typeface="微软雅黑" panose="020B0503020204020204" pitchFamily="34" charset="-122"/>
              </a:rPr>
              <a:t>7.3.4 </a:t>
            </a:r>
            <a:r>
              <a:rPr sz="3100" b="1" i="0" dirty="0" err="1">
                <a:solidFill>
                  <a:srgbClr val="24477D"/>
                </a:solidFill>
                <a:latin typeface="微软雅黑" panose="020B0503020204020204" pitchFamily="34" charset="-122"/>
              </a:rPr>
              <a:t>动作扩散：把“生成动作”看成“逐步去噪</a:t>
            </a:r>
            <a:r>
              <a:rPr sz="3100" b="1" i="0" dirty="0">
                <a:solidFill>
                  <a:srgbClr val="24477D"/>
                </a:solidFill>
                <a:latin typeface="微软雅黑" panose="020B0503020204020204" pitchFamily="34" charset="-122"/>
              </a:rPr>
              <a:t>”</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777240" y="1737360"/>
            <a:ext cx="10332720" cy="1680012"/>
          </a:xfrm>
          <a:prstGeom prst="rect">
            <a:avLst/>
          </a:prstGeom>
          <a:noFill/>
        </p:spPr>
        <p:txBody>
          <a:bodyPr wrap="square" lIns="18288" tIns="18288" rIns="18288" bIns="18288">
            <a:spAutoFit/>
          </a:bodyPr>
          <a:lstStyle/>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图像扩散从噪声中逐步恢复清晰图像；动作扩散把同样思想用于机器人轨迹</a:t>
            </a:r>
            <a:endParaRPr sz="2200" dirty="0">
              <a:solidFill>
                <a:srgbClr val="222833"/>
              </a:solidFill>
              <a:latin typeface="微软雅黑"/>
            </a:endParaRPr>
          </a:p>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训练阶段：向真实动作序列逐步加入高斯噪声</a:t>
            </a:r>
            <a:endParaRPr sz="2200" dirty="0">
              <a:solidFill>
                <a:srgbClr val="222833"/>
              </a:solidFill>
              <a:latin typeface="微软雅黑"/>
            </a:endParaRPr>
          </a:p>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推理阶段：从随机噪声开始，由神经网络反复预测并移除噪声，得到平滑可执行的动作序列</a:t>
            </a:r>
            <a:endParaRPr sz="2200" dirty="0">
              <a:solidFill>
                <a:srgbClr val="222833"/>
              </a:solidFill>
              <a:latin typeface="微软雅黑"/>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58</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图像扩散与动作扩散的对比</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710184" y="5811012"/>
            <a:ext cx="672084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667085"/>
                </a:solidFill>
                <a:latin typeface="微软雅黑" panose="020B0503020204020204" pitchFamily="34" charset="-122"/>
              </a:rPr>
              <a:t>图像扩散和动作扩散的对比</a:t>
            </a:r>
            <a:endParaRPr sz="1300" b="1" i="0" dirty="0">
              <a:solidFill>
                <a:srgbClr val="667085"/>
              </a:solidFill>
              <a:latin typeface="微软雅黑" panose="020B0503020204020204" pitchFamily="34" charset="-122"/>
            </a:endParaRPr>
          </a:p>
        </p:txBody>
      </p:sp>
      <p:sp>
        <p:nvSpPr>
          <p:cNvPr id="11" name="Rounded Rectangle 10"/>
          <p:cNvSpPr/>
          <p:nvPr/>
        </p:nvSpPr>
        <p:spPr>
          <a:xfrm>
            <a:off x="7699248" y="1691640"/>
            <a:ext cx="3657600" cy="4023360"/>
          </a:xfrm>
          <a:prstGeom prst="roundRect">
            <a:avLst>
              <a:gd name="adj" fmla="val 111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ectangle 11"/>
          <p:cNvSpPr/>
          <p:nvPr/>
        </p:nvSpPr>
        <p:spPr>
          <a:xfrm>
            <a:off x="7699248" y="1691640"/>
            <a:ext cx="64008" cy="40233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7909560" y="2350008"/>
            <a:ext cx="3273552" cy="321868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图像：噪声 → 去噪 → 清晰样本；</a:t>
            </a:r>
          </a:p>
          <a:p>
            <a:pPr algn="l">
              <a:lnSpc>
                <a:spcPct val="108000"/>
              </a:lnSpc>
            </a:pPr>
            <a:r>
              <a:rPr sz="1800" b="0" i="0">
                <a:solidFill>
                  <a:srgbClr val="222833"/>
                </a:solidFill>
                <a:latin typeface="微软雅黑"/>
              </a:rPr>
              <a:t>动作：噪声轨迹 → 逐步去噪 → 平滑抓取 / 放置轨迹。</a:t>
            </a:r>
          </a:p>
        </p:txBody>
      </p:sp>
      <p:pic>
        <p:nvPicPr>
          <p:cNvPr id="15" name="图片 14">
            <a:extLst>
              <a:ext uri="{FF2B5EF4-FFF2-40B4-BE49-F238E27FC236}">
                <a16:creationId xmlns:a16="http://schemas.microsoft.com/office/drawing/2014/main" id="{D505AD77-50F1-558A-B847-76F067C5C7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6552" y="1991118"/>
            <a:ext cx="6766164" cy="3819894"/>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59</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前向扩散过程：逐步把真实动作“加噪</a:t>
            </a:r>
            <a:r>
              <a:rPr sz="3500" b="1" i="0" dirty="0">
                <a:solidFill>
                  <a:srgbClr val="24477D"/>
                </a:solidFill>
                <a:latin typeface="微软雅黑" panose="020B0503020204020204" pitchFamily="34" charset="-122"/>
              </a:rPr>
              <a:t>”</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938528"/>
            <a:ext cx="2521458" cy="2331720"/>
          </a:xfrm>
          <a:prstGeom prst="roundRect">
            <a:avLst>
              <a:gd name="adj" fmla="val 179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938528"/>
            <a:ext cx="64008" cy="2331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2084832"/>
            <a:ext cx="2137410" cy="309572"/>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真实轨迹</a:t>
            </a:r>
            <a:r>
              <a:rPr sz="1800" b="1" i="0" dirty="0">
                <a:solidFill>
                  <a:srgbClr val="31599B"/>
                </a:solidFill>
                <a:latin typeface="微软雅黑" panose="020B0503020204020204" pitchFamily="34" charset="-122"/>
              </a:rPr>
              <a:t> a⁰</a:t>
            </a:r>
          </a:p>
        </p:txBody>
      </p:sp>
      <p:sp>
        <p:nvSpPr>
          <p:cNvPr id="12" name="TextBox 11"/>
          <p:cNvSpPr txBox="1"/>
          <p:nvPr/>
        </p:nvSpPr>
        <p:spPr>
          <a:xfrm>
            <a:off x="923544" y="2596896"/>
            <a:ext cx="2137410" cy="1527048"/>
          </a:xfrm>
          <a:prstGeom prst="rect">
            <a:avLst/>
          </a:prstGeom>
          <a:noFill/>
        </p:spPr>
        <p:txBody>
          <a:bodyPr wrap="square" lIns="18288" tIns="18288" rIns="18288" bIns="18288" anchor="t">
            <a:spAutoFit/>
          </a:bodyPr>
          <a:lstStyle/>
          <a:p>
            <a:pPr algn="l">
              <a:lnSpc>
                <a:spcPct val="108000"/>
              </a:lnSpc>
            </a:pPr>
            <a:r>
              <a:rPr sz="1600" b="0" i="0" dirty="0" err="1">
                <a:solidFill>
                  <a:srgbClr val="222833"/>
                </a:solidFill>
                <a:latin typeface="微软雅黑"/>
              </a:rPr>
              <a:t>从演示数据得到高质量动作序列</a:t>
            </a:r>
            <a:r>
              <a:rPr sz="1600" b="0" i="0" dirty="0">
                <a:solidFill>
                  <a:srgbClr val="222833"/>
                </a:solidFill>
                <a:latin typeface="微软雅黑"/>
              </a:rPr>
              <a:t>。</a:t>
            </a:r>
          </a:p>
        </p:txBody>
      </p:sp>
      <p:sp>
        <p:nvSpPr>
          <p:cNvPr id="13" name="TextBox 12"/>
          <p:cNvSpPr txBox="1"/>
          <p:nvPr/>
        </p:nvSpPr>
        <p:spPr>
          <a:xfrm>
            <a:off x="3223514" y="2768173"/>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4" name="Rounded Rectangle 13"/>
          <p:cNvSpPr/>
          <p:nvPr/>
        </p:nvSpPr>
        <p:spPr>
          <a:xfrm>
            <a:off x="3399282" y="1938528"/>
            <a:ext cx="2521458" cy="2331720"/>
          </a:xfrm>
          <a:prstGeom prst="roundRect">
            <a:avLst>
              <a:gd name="adj" fmla="val 147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3399282" y="1938528"/>
            <a:ext cx="64008" cy="2331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3609594" y="2084832"/>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加入少量噪声</a:t>
            </a:r>
            <a:endParaRPr sz="1800" b="1" i="0" dirty="0">
              <a:solidFill>
                <a:srgbClr val="2F8E72"/>
              </a:solidFill>
              <a:latin typeface="微软雅黑" panose="020B0503020204020204" pitchFamily="34" charset="-122"/>
            </a:endParaRPr>
          </a:p>
        </p:txBody>
      </p:sp>
      <p:sp>
        <p:nvSpPr>
          <p:cNvPr id="17" name="TextBox 16"/>
          <p:cNvSpPr txBox="1"/>
          <p:nvPr/>
        </p:nvSpPr>
        <p:spPr>
          <a:xfrm>
            <a:off x="3609594" y="2596896"/>
            <a:ext cx="213741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对动作序列施加高斯扰动。</a:t>
            </a:r>
          </a:p>
        </p:txBody>
      </p:sp>
      <p:sp>
        <p:nvSpPr>
          <p:cNvPr id="18" name="TextBox 17"/>
          <p:cNvSpPr txBox="1"/>
          <p:nvPr/>
        </p:nvSpPr>
        <p:spPr>
          <a:xfrm>
            <a:off x="5909564" y="2768173"/>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9" name="Rounded Rectangle 18"/>
          <p:cNvSpPr/>
          <p:nvPr/>
        </p:nvSpPr>
        <p:spPr>
          <a:xfrm>
            <a:off x="6085332" y="1938528"/>
            <a:ext cx="2521458" cy="2331720"/>
          </a:xfrm>
          <a:prstGeom prst="roundRect">
            <a:avLst>
              <a:gd name="adj" fmla="val 5066"/>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Rectangle 19"/>
          <p:cNvSpPr/>
          <p:nvPr/>
        </p:nvSpPr>
        <p:spPr>
          <a:xfrm>
            <a:off x="6085332" y="1938528"/>
            <a:ext cx="64008" cy="2331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TextBox 20"/>
          <p:cNvSpPr txBox="1"/>
          <p:nvPr/>
        </p:nvSpPr>
        <p:spPr>
          <a:xfrm>
            <a:off x="6295644" y="2084832"/>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逐步增加噪声</a:t>
            </a:r>
            <a:endParaRPr sz="1800" b="1" i="0" dirty="0">
              <a:solidFill>
                <a:srgbClr val="C58A24"/>
              </a:solidFill>
              <a:latin typeface="微软雅黑" panose="020B0503020204020204" pitchFamily="34" charset="-122"/>
            </a:endParaRPr>
          </a:p>
        </p:txBody>
      </p:sp>
      <p:sp>
        <p:nvSpPr>
          <p:cNvPr id="22" name="TextBox 21"/>
          <p:cNvSpPr txBox="1"/>
          <p:nvPr/>
        </p:nvSpPr>
        <p:spPr>
          <a:xfrm>
            <a:off x="6295644" y="2596896"/>
            <a:ext cx="2137410" cy="1527048"/>
          </a:xfrm>
          <a:prstGeom prst="rect">
            <a:avLst/>
          </a:prstGeom>
          <a:noFill/>
        </p:spPr>
        <p:txBody>
          <a:bodyPr wrap="square" lIns="18288" tIns="18288" rIns="18288" bIns="18288" anchor="t">
            <a:spAutoFit/>
          </a:bodyPr>
          <a:lstStyle/>
          <a:p>
            <a:pPr algn="l">
              <a:lnSpc>
                <a:spcPct val="108000"/>
              </a:lnSpc>
            </a:pPr>
            <a:r>
              <a:rPr sz="1600" b="0" i="0" dirty="0" err="1">
                <a:solidFill>
                  <a:srgbClr val="222833"/>
                </a:solidFill>
                <a:latin typeface="微软雅黑"/>
              </a:rPr>
              <a:t>随着扩散步</a:t>
            </a:r>
            <a:r>
              <a:rPr sz="1600" b="0" i="0" dirty="0">
                <a:solidFill>
                  <a:srgbClr val="222833"/>
                </a:solidFill>
                <a:latin typeface="微软雅黑"/>
              </a:rPr>
              <a:t> k </a:t>
            </a:r>
            <a:r>
              <a:rPr sz="1600" b="0" i="0" dirty="0" err="1">
                <a:solidFill>
                  <a:srgbClr val="222833"/>
                </a:solidFill>
                <a:latin typeface="微软雅黑"/>
              </a:rPr>
              <a:t>增大，结构信息逐渐丢失</a:t>
            </a:r>
            <a:r>
              <a:rPr sz="1600" b="0" i="0" dirty="0">
                <a:solidFill>
                  <a:srgbClr val="222833"/>
                </a:solidFill>
                <a:latin typeface="微软雅黑"/>
              </a:rPr>
              <a:t>。</a:t>
            </a:r>
          </a:p>
        </p:txBody>
      </p:sp>
      <p:sp>
        <p:nvSpPr>
          <p:cNvPr id="23" name="TextBox 22"/>
          <p:cNvSpPr txBox="1"/>
          <p:nvPr/>
        </p:nvSpPr>
        <p:spPr>
          <a:xfrm>
            <a:off x="8595614" y="2768173"/>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24" name="Rounded Rectangle 23"/>
          <p:cNvSpPr/>
          <p:nvPr/>
        </p:nvSpPr>
        <p:spPr>
          <a:xfrm>
            <a:off x="8771382" y="1938528"/>
            <a:ext cx="2521458" cy="2331720"/>
          </a:xfrm>
          <a:prstGeom prst="roundRect">
            <a:avLst>
              <a:gd name="adj" fmla="val 294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5" name="Rectangle 24"/>
          <p:cNvSpPr/>
          <p:nvPr/>
        </p:nvSpPr>
        <p:spPr>
          <a:xfrm>
            <a:off x="8771382" y="1938528"/>
            <a:ext cx="64008" cy="23317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6" name="TextBox 25"/>
          <p:cNvSpPr txBox="1"/>
          <p:nvPr/>
        </p:nvSpPr>
        <p:spPr>
          <a:xfrm>
            <a:off x="8981694" y="2084832"/>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近似高斯噪声</a:t>
            </a:r>
            <a:endParaRPr sz="1800" b="1" i="0" dirty="0">
              <a:solidFill>
                <a:srgbClr val="C63F45"/>
              </a:solidFill>
              <a:latin typeface="微软雅黑" panose="020B0503020204020204" pitchFamily="34" charset="-122"/>
            </a:endParaRPr>
          </a:p>
        </p:txBody>
      </p:sp>
      <p:sp>
        <p:nvSpPr>
          <p:cNvPr id="27" name="TextBox 26"/>
          <p:cNvSpPr txBox="1"/>
          <p:nvPr/>
        </p:nvSpPr>
        <p:spPr>
          <a:xfrm>
            <a:off x="8981694" y="2596896"/>
            <a:ext cx="213741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最终得到接近随机噪声的动作表示。</a:t>
            </a:r>
          </a:p>
        </p:txBody>
      </p:sp>
      <p:sp>
        <p:nvSpPr>
          <p:cNvPr id="28" name="TextBox 27"/>
          <p:cNvSpPr txBox="1"/>
          <p:nvPr/>
        </p:nvSpPr>
        <p:spPr>
          <a:xfrm>
            <a:off x="822960" y="4927605"/>
            <a:ext cx="10515600" cy="340350"/>
          </a:xfrm>
          <a:prstGeom prst="rect">
            <a:avLst/>
          </a:prstGeom>
          <a:noFill/>
        </p:spPr>
        <p:txBody>
          <a:bodyPr wrap="square" lIns="18288" tIns="18288" rIns="18288" bIns="18288" anchor="ctr">
            <a:spAutoFit/>
          </a:bodyPr>
          <a:lstStyle/>
          <a:p>
            <a:pPr algn="ctr">
              <a:lnSpc>
                <a:spcPct val="105000"/>
              </a:lnSpc>
            </a:pPr>
            <a:r>
              <a:rPr sz="2000" b="1" i="0" dirty="0" err="1">
                <a:solidFill>
                  <a:srgbClr val="24477D"/>
                </a:solidFill>
                <a:latin typeface="微软雅黑" panose="020B0503020204020204" pitchFamily="34" charset="-122"/>
              </a:rPr>
              <a:t>训练目标是学会“已知第</a:t>
            </a:r>
            <a:r>
              <a:rPr sz="2000" b="1" i="0" dirty="0">
                <a:solidFill>
                  <a:srgbClr val="24477D"/>
                </a:solidFill>
                <a:latin typeface="微软雅黑" panose="020B0503020204020204" pitchFamily="34" charset="-122"/>
              </a:rPr>
              <a:t> k </a:t>
            </a:r>
            <a:r>
              <a:rPr sz="2000" b="1" i="0" dirty="0" err="1">
                <a:solidFill>
                  <a:srgbClr val="24477D"/>
                </a:solidFill>
                <a:latin typeface="微软雅黑" panose="020B0503020204020204" pitchFamily="34" charset="-122"/>
              </a:rPr>
              <a:t>步含噪动作时，如何预测并去掉噪声</a:t>
            </a:r>
            <a:r>
              <a:rPr sz="2000" b="1" i="0" dirty="0">
                <a:solidFill>
                  <a:srgbClr val="24477D"/>
                </a:solidFill>
                <a:latin typeface="微软雅黑" panose="020B0503020204020204" pitchFamily="34" charset="-122"/>
              </a:rPr>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60</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逆向去噪过程：从随机动作恢复可执行轨迹</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938528"/>
            <a:ext cx="2521458" cy="2331720"/>
          </a:xfrm>
          <a:prstGeom prst="roundRect">
            <a:avLst>
              <a:gd name="adj" fmla="val 16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938528"/>
            <a:ext cx="64008" cy="2331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2084832"/>
            <a:ext cx="2137410" cy="309572"/>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纯噪声</a:t>
            </a:r>
            <a:r>
              <a:rPr sz="1800" b="1" i="0" dirty="0">
                <a:solidFill>
                  <a:srgbClr val="31599B"/>
                </a:solidFill>
                <a:latin typeface="微软雅黑" panose="020B0503020204020204" pitchFamily="34" charset="-122"/>
              </a:rPr>
              <a:t> aᴷ</a:t>
            </a:r>
          </a:p>
        </p:txBody>
      </p:sp>
      <p:sp>
        <p:nvSpPr>
          <p:cNvPr id="12" name="TextBox 11"/>
          <p:cNvSpPr txBox="1"/>
          <p:nvPr/>
        </p:nvSpPr>
        <p:spPr>
          <a:xfrm>
            <a:off x="923544" y="2596896"/>
            <a:ext cx="213741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推理从随机动作序列开始。</a:t>
            </a:r>
          </a:p>
        </p:txBody>
      </p:sp>
      <p:sp>
        <p:nvSpPr>
          <p:cNvPr id="13" name="TextBox 12"/>
          <p:cNvSpPr txBox="1"/>
          <p:nvPr/>
        </p:nvSpPr>
        <p:spPr>
          <a:xfrm>
            <a:off x="3228594" y="2768173"/>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4" name="Rounded Rectangle 13"/>
          <p:cNvSpPr/>
          <p:nvPr/>
        </p:nvSpPr>
        <p:spPr>
          <a:xfrm>
            <a:off x="3399282" y="1938528"/>
            <a:ext cx="2521458" cy="2331720"/>
          </a:xfrm>
          <a:prstGeom prst="roundRect">
            <a:avLst>
              <a:gd name="adj" fmla="val 16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3399282" y="1938528"/>
            <a:ext cx="64008" cy="2331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3609594" y="2084832"/>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神经网络预测</a:t>
            </a:r>
            <a:endParaRPr sz="1800" b="1" i="0" dirty="0">
              <a:solidFill>
                <a:srgbClr val="2F8E72"/>
              </a:solidFill>
              <a:latin typeface="微软雅黑" panose="020B0503020204020204" pitchFamily="34" charset="-122"/>
            </a:endParaRPr>
          </a:p>
        </p:txBody>
      </p:sp>
      <p:sp>
        <p:nvSpPr>
          <p:cNvPr id="17" name="TextBox 16"/>
          <p:cNvSpPr txBox="1"/>
          <p:nvPr/>
        </p:nvSpPr>
        <p:spPr>
          <a:xfrm>
            <a:off x="3609594" y="2596896"/>
            <a:ext cx="2137410" cy="551177"/>
          </a:xfrm>
          <a:prstGeom prst="rect">
            <a:avLst/>
          </a:prstGeom>
          <a:noFill/>
        </p:spPr>
        <p:txBody>
          <a:bodyPr wrap="square" lIns="18288" tIns="18288" rIns="18288" bIns="18288" anchor="t">
            <a:spAutoFit/>
          </a:bodyPr>
          <a:lstStyle/>
          <a:p>
            <a:pPr algn="l">
              <a:lnSpc>
                <a:spcPct val="108000"/>
              </a:lnSpc>
            </a:pPr>
            <a:r>
              <a:rPr sz="1600" b="0" i="0" dirty="0">
                <a:solidFill>
                  <a:srgbClr val="222833"/>
                </a:solidFill>
                <a:latin typeface="微软雅黑"/>
              </a:rPr>
              <a:t>Transformer 或 U-Net </a:t>
            </a:r>
            <a:r>
              <a:rPr sz="1600" b="0" i="0" dirty="0" err="1">
                <a:solidFill>
                  <a:srgbClr val="222833"/>
                </a:solidFill>
                <a:latin typeface="微软雅黑"/>
              </a:rPr>
              <a:t>根据条件预测去噪方向</a:t>
            </a:r>
            <a:endParaRPr sz="1600" b="0" i="0" dirty="0">
              <a:solidFill>
                <a:srgbClr val="222833"/>
              </a:solidFill>
              <a:latin typeface="微软雅黑"/>
            </a:endParaRPr>
          </a:p>
        </p:txBody>
      </p:sp>
      <p:sp>
        <p:nvSpPr>
          <p:cNvPr id="18" name="TextBox 17"/>
          <p:cNvSpPr txBox="1"/>
          <p:nvPr/>
        </p:nvSpPr>
        <p:spPr>
          <a:xfrm>
            <a:off x="5914644" y="2768173"/>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9" name="Rounded Rectangle 18"/>
          <p:cNvSpPr/>
          <p:nvPr/>
        </p:nvSpPr>
        <p:spPr>
          <a:xfrm>
            <a:off x="6085332" y="1938528"/>
            <a:ext cx="2521458" cy="2331720"/>
          </a:xfrm>
          <a:prstGeom prst="roundRect">
            <a:avLst>
              <a:gd name="adj" fmla="val 228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Rectangle 19"/>
          <p:cNvSpPr/>
          <p:nvPr/>
        </p:nvSpPr>
        <p:spPr>
          <a:xfrm>
            <a:off x="6085332" y="1938528"/>
            <a:ext cx="64008" cy="2331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TextBox 20"/>
          <p:cNvSpPr txBox="1"/>
          <p:nvPr/>
        </p:nvSpPr>
        <p:spPr>
          <a:xfrm>
            <a:off x="6295644" y="2084832"/>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反复去噪</a:t>
            </a:r>
            <a:endParaRPr sz="1800" b="1" i="0" dirty="0">
              <a:solidFill>
                <a:srgbClr val="C58A24"/>
              </a:solidFill>
              <a:latin typeface="微软雅黑" panose="020B0503020204020204" pitchFamily="34" charset="-122"/>
            </a:endParaRPr>
          </a:p>
        </p:txBody>
      </p:sp>
      <p:sp>
        <p:nvSpPr>
          <p:cNvPr id="22" name="TextBox 21"/>
          <p:cNvSpPr txBox="1"/>
          <p:nvPr/>
        </p:nvSpPr>
        <p:spPr>
          <a:xfrm>
            <a:off x="6295644" y="2596896"/>
            <a:ext cx="2137410" cy="551177"/>
          </a:xfrm>
          <a:prstGeom prst="rect">
            <a:avLst/>
          </a:prstGeom>
          <a:noFill/>
        </p:spPr>
        <p:txBody>
          <a:bodyPr wrap="square" lIns="18288" tIns="18288" rIns="18288" bIns="18288" anchor="t">
            <a:spAutoFit/>
          </a:bodyPr>
          <a:lstStyle/>
          <a:p>
            <a:pPr algn="l">
              <a:lnSpc>
                <a:spcPct val="108000"/>
              </a:lnSpc>
            </a:pPr>
            <a:r>
              <a:rPr sz="1600" b="0" i="0" dirty="0">
                <a:solidFill>
                  <a:srgbClr val="222833"/>
                </a:solidFill>
                <a:latin typeface="微软雅黑"/>
              </a:rPr>
              <a:t>从 k 到 k−1 </a:t>
            </a:r>
            <a:r>
              <a:rPr sz="1600" b="0" i="0" dirty="0" err="1">
                <a:solidFill>
                  <a:srgbClr val="222833"/>
                </a:solidFill>
                <a:latin typeface="微软雅黑"/>
              </a:rPr>
              <a:t>逐步恢复结构</a:t>
            </a:r>
            <a:endParaRPr sz="1600" b="0" i="0" dirty="0">
              <a:solidFill>
                <a:srgbClr val="222833"/>
              </a:solidFill>
              <a:latin typeface="微软雅黑"/>
            </a:endParaRPr>
          </a:p>
        </p:txBody>
      </p:sp>
      <p:sp>
        <p:nvSpPr>
          <p:cNvPr id="23" name="TextBox 22"/>
          <p:cNvSpPr txBox="1"/>
          <p:nvPr/>
        </p:nvSpPr>
        <p:spPr>
          <a:xfrm>
            <a:off x="8600694" y="2768173"/>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24" name="Rounded Rectangle 23"/>
          <p:cNvSpPr/>
          <p:nvPr/>
        </p:nvSpPr>
        <p:spPr>
          <a:xfrm>
            <a:off x="8771382" y="1938528"/>
            <a:ext cx="2521458" cy="2331720"/>
          </a:xfrm>
          <a:prstGeom prst="roundRect">
            <a:avLst>
              <a:gd name="adj" fmla="val 277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5" name="Rectangle 24"/>
          <p:cNvSpPr/>
          <p:nvPr/>
        </p:nvSpPr>
        <p:spPr>
          <a:xfrm>
            <a:off x="8771382" y="1938528"/>
            <a:ext cx="64008" cy="23317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6" name="TextBox 25"/>
          <p:cNvSpPr txBox="1"/>
          <p:nvPr/>
        </p:nvSpPr>
        <p:spPr>
          <a:xfrm>
            <a:off x="8981694" y="2084832"/>
            <a:ext cx="2137410" cy="309572"/>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动作序列</a:t>
            </a:r>
            <a:r>
              <a:rPr sz="1800" b="1" i="0" dirty="0">
                <a:solidFill>
                  <a:srgbClr val="C63F45"/>
                </a:solidFill>
                <a:latin typeface="微软雅黑" panose="020B0503020204020204" pitchFamily="34" charset="-122"/>
              </a:rPr>
              <a:t> a⁰</a:t>
            </a:r>
          </a:p>
        </p:txBody>
      </p:sp>
      <p:sp>
        <p:nvSpPr>
          <p:cNvPr id="27" name="TextBox 26"/>
          <p:cNvSpPr txBox="1"/>
          <p:nvPr/>
        </p:nvSpPr>
        <p:spPr>
          <a:xfrm>
            <a:off x="8981694" y="2596896"/>
            <a:ext cx="2137410" cy="551177"/>
          </a:xfrm>
          <a:prstGeom prst="rect">
            <a:avLst/>
          </a:prstGeom>
          <a:noFill/>
        </p:spPr>
        <p:txBody>
          <a:bodyPr wrap="square" lIns="18288" tIns="18288" rIns="18288" bIns="18288" anchor="t">
            <a:spAutoFit/>
          </a:bodyPr>
          <a:lstStyle/>
          <a:p>
            <a:pPr algn="l">
              <a:lnSpc>
                <a:spcPct val="108000"/>
              </a:lnSpc>
            </a:pPr>
            <a:r>
              <a:rPr sz="1600" b="0" i="0" dirty="0" err="1">
                <a:solidFill>
                  <a:srgbClr val="222833"/>
                </a:solidFill>
                <a:latin typeface="微软雅黑"/>
              </a:rPr>
              <a:t>最终得到平滑、合理的控制轨迹</a:t>
            </a:r>
            <a:endParaRPr sz="1600" b="0" i="0" dirty="0">
              <a:solidFill>
                <a:srgbClr val="222833"/>
              </a:solidFill>
              <a:latin typeface="微软雅黑"/>
            </a:endParaRPr>
          </a:p>
        </p:txBody>
      </p:sp>
      <p:sp>
        <p:nvSpPr>
          <p:cNvPr id="28" name="TextBox 27"/>
          <p:cNvSpPr txBox="1"/>
          <p:nvPr/>
        </p:nvSpPr>
        <p:spPr>
          <a:xfrm>
            <a:off x="822960" y="4927605"/>
            <a:ext cx="10515600" cy="340350"/>
          </a:xfrm>
          <a:prstGeom prst="rect">
            <a:avLst/>
          </a:prstGeom>
          <a:noFill/>
        </p:spPr>
        <p:txBody>
          <a:bodyPr wrap="square" lIns="18288" tIns="18288" rIns="18288" bIns="18288" anchor="ctr">
            <a:spAutoFit/>
          </a:bodyPr>
          <a:lstStyle/>
          <a:p>
            <a:pPr algn="ctr">
              <a:lnSpc>
                <a:spcPct val="105000"/>
              </a:lnSpc>
            </a:pPr>
            <a:r>
              <a:rPr sz="2000" b="1" i="0" dirty="0" err="1">
                <a:solidFill>
                  <a:srgbClr val="24477D"/>
                </a:solidFill>
                <a:latin typeface="微软雅黑" panose="020B0503020204020204" pitchFamily="34" charset="-122"/>
              </a:rPr>
              <a:t>条件</a:t>
            </a:r>
            <a:r>
              <a:rPr sz="2000" b="1" i="0" dirty="0">
                <a:solidFill>
                  <a:srgbClr val="24477D"/>
                </a:solidFill>
                <a:latin typeface="微软雅黑" panose="020B0503020204020204" pitchFamily="34" charset="-122"/>
              </a:rPr>
              <a:t> c </a:t>
            </a:r>
            <a:r>
              <a:rPr sz="2000" b="1" i="0" dirty="0" err="1">
                <a:solidFill>
                  <a:srgbClr val="24477D"/>
                </a:solidFill>
                <a:latin typeface="微软雅黑" panose="020B0503020204020204" pitchFamily="34" charset="-122"/>
              </a:rPr>
              <a:t>可包含视觉观测、语言指令和机器人状态</a:t>
            </a:r>
            <a:r>
              <a:rPr sz="2000" b="1" i="0" dirty="0">
                <a:solidFill>
                  <a:srgbClr val="24477D"/>
                </a:solidFill>
                <a:latin typeface="微软雅黑" panose="020B0503020204020204" pitchFamily="34" charset="-122"/>
              </a:rPr>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61</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扩散策略的逆向条件分布</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ounded Rectangle 11"/>
          <p:cNvSpPr/>
          <p:nvPr/>
        </p:nvSpPr>
        <p:spPr>
          <a:xfrm>
            <a:off x="960120" y="3429000"/>
            <a:ext cx="10287000" cy="196596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1234440" y="3703320"/>
            <a:ext cx="9738360" cy="1417320"/>
          </a:xfrm>
          <a:prstGeom prst="rect">
            <a:avLst/>
          </a:prstGeom>
          <a:noFill/>
        </p:spPr>
        <p:txBody>
          <a:bodyPr wrap="square" lIns="18288" tIns="18288" rIns="18288" bIns="18288" anchor="t">
            <a:spAutoFit/>
          </a:bodyPr>
          <a:lstStyle/>
          <a:p>
            <a:pPr algn="l">
              <a:lnSpc>
                <a:spcPct val="112000"/>
              </a:lnSpc>
            </a:pPr>
            <a:r>
              <a:rPr sz="2000" b="0" i="0">
                <a:solidFill>
                  <a:srgbClr val="222833"/>
                </a:solidFill>
                <a:latin typeface="微软雅黑"/>
              </a:rPr>
              <a:t>aᵏ：第 k 步含噪动作序列；c：视觉、语言和机器人状态等条件；μθ：神经网络预测的去噪均值；σₖ²I：协方差。</a:t>
            </a:r>
          </a:p>
        </p:txBody>
      </p:sp>
      <p:pic>
        <p:nvPicPr>
          <p:cNvPr id="15" name="图片 14">
            <a:extLst>
              <a:ext uri="{FF2B5EF4-FFF2-40B4-BE49-F238E27FC236}">
                <a16:creationId xmlns:a16="http://schemas.microsoft.com/office/drawing/2014/main" id="{B6CE22F8-3DED-32EF-B3B3-59B804210400}"/>
              </a:ext>
            </a:extLst>
          </p:cNvPr>
          <p:cNvPicPr>
            <a:picLocks noChangeAspect="1"/>
          </p:cNvPicPr>
          <p:nvPr/>
        </p:nvPicPr>
        <p:blipFill>
          <a:blip r:embed="rId2"/>
          <a:stretch>
            <a:fillRect/>
          </a:stretch>
        </p:blipFill>
        <p:spPr>
          <a:xfrm>
            <a:off x="2363630" y="2335818"/>
            <a:ext cx="7647619" cy="600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62</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动作扩散的优势</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627632"/>
            <a:ext cx="3246120" cy="2788920"/>
          </a:xfrm>
          <a:prstGeom prst="roundRect">
            <a:avLst>
              <a:gd name="adj" fmla="val 118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27632"/>
            <a:ext cx="64008" cy="27889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处理多模态</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同一指令可对应左手 / 右手等多种合理动作，扩散模型能自然产生多样候选。</a:t>
            </a:r>
          </a:p>
        </p:txBody>
      </p:sp>
      <p:sp>
        <p:nvSpPr>
          <p:cNvPr id="13" name="Rounded Rectangle 12"/>
          <p:cNvSpPr/>
          <p:nvPr/>
        </p:nvSpPr>
        <p:spPr>
          <a:xfrm>
            <a:off x="4160520" y="1627632"/>
            <a:ext cx="3246120" cy="2788920"/>
          </a:xfrm>
          <a:prstGeom prst="roundRect">
            <a:avLst>
              <a:gd name="adj" fmla="val 227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27632"/>
            <a:ext cx="64008" cy="27889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一次生成多步</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直接预测未来若干步动作，避免每个控制时刻都只看一步。</a:t>
            </a:r>
          </a:p>
        </p:txBody>
      </p:sp>
      <p:sp>
        <p:nvSpPr>
          <p:cNvPr id="17" name="Rounded Rectangle 16"/>
          <p:cNvSpPr/>
          <p:nvPr/>
        </p:nvSpPr>
        <p:spPr>
          <a:xfrm>
            <a:off x="7607808" y="1627632"/>
            <a:ext cx="3246120" cy="2788920"/>
          </a:xfrm>
          <a:prstGeom prst="roundRect">
            <a:avLst>
              <a:gd name="adj" fmla="val 610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27632"/>
            <a:ext cx="64008" cy="27889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容易视觉条件化</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视觉特征可以直接作为扩散条件，实现“看一眼就规划一段动作”。</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63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动作分块</a:t>
            </a:r>
            <a:r>
              <a:rPr sz="3500" b="1" i="0" dirty="0">
                <a:solidFill>
                  <a:srgbClr val="24477D"/>
                </a:solidFill>
                <a:latin typeface="微软雅黑" panose="020B0503020204020204" pitchFamily="34" charset="-122"/>
              </a:rPr>
              <a:t> + </a:t>
            </a:r>
            <a:r>
              <a:rPr sz="3500" b="1" i="0" dirty="0" err="1">
                <a:solidFill>
                  <a:srgbClr val="24477D"/>
                </a:solidFill>
                <a:latin typeface="微软雅黑" panose="020B0503020204020204" pitchFamily="34" charset="-122"/>
              </a:rPr>
              <a:t>滚动执行：兼顾长时序与闭环反馈</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658368" y="1874519"/>
            <a:ext cx="2560320" cy="2743200"/>
          </a:xfrm>
          <a:prstGeom prst="roundRect">
            <a:avLst>
              <a:gd name="adj" fmla="val 357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658368" y="1874519"/>
            <a:ext cx="64008" cy="27432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68680" y="2020824"/>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生成动作块</a:t>
            </a:r>
            <a:endParaRPr sz="1800" b="1" i="0" dirty="0">
              <a:solidFill>
                <a:srgbClr val="31599B"/>
              </a:solidFill>
              <a:latin typeface="微软雅黑" panose="020B0503020204020204" pitchFamily="34" charset="-122"/>
            </a:endParaRPr>
          </a:p>
        </p:txBody>
      </p:sp>
      <p:sp>
        <p:nvSpPr>
          <p:cNvPr id="12" name="TextBox 11"/>
          <p:cNvSpPr txBox="1"/>
          <p:nvPr/>
        </p:nvSpPr>
        <p:spPr>
          <a:xfrm>
            <a:off x="868680" y="2532887"/>
            <a:ext cx="2176272" cy="193852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一次生成未来 H 步动作。</a:t>
            </a:r>
          </a:p>
        </p:txBody>
      </p:sp>
      <p:sp>
        <p:nvSpPr>
          <p:cNvPr id="13" name="Rounded Rectangle 12"/>
          <p:cNvSpPr/>
          <p:nvPr/>
        </p:nvSpPr>
        <p:spPr>
          <a:xfrm>
            <a:off x="3429000" y="1874519"/>
            <a:ext cx="2560320" cy="2743200"/>
          </a:xfrm>
          <a:prstGeom prst="roundRect">
            <a:avLst>
              <a:gd name="adj" fmla="val 2183"/>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3429000" y="1874519"/>
            <a:ext cx="64008" cy="27432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3639312" y="2020824"/>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只执行前几步</a:t>
            </a:r>
            <a:endParaRPr sz="1800" b="1" i="0" dirty="0">
              <a:solidFill>
                <a:srgbClr val="2F8E72"/>
              </a:solidFill>
              <a:latin typeface="微软雅黑" panose="020B0503020204020204" pitchFamily="34" charset="-122"/>
            </a:endParaRPr>
          </a:p>
        </p:txBody>
      </p:sp>
      <p:sp>
        <p:nvSpPr>
          <p:cNvPr id="16" name="TextBox 15"/>
          <p:cNvSpPr txBox="1"/>
          <p:nvPr/>
        </p:nvSpPr>
        <p:spPr>
          <a:xfrm>
            <a:off x="3639312" y="2532887"/>
            <a:ext cx="2176272" cy="193852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不把整段轨迹全部盲目执行。</a:t>
            </a:r>
          </a:p>
        </p:txBody>
      </p:sp>
      <p:sp>
        <p:nvSpPr>
          <p:cNvPr id="17" name="Rounded Rectangle 16"/>
          <p:cNvSpPr/>
          <p:nvPr/>
        </p:nvSpPr>
        <p:spPr>
          <a:xfrm>
            <a:off x="6199631" y="1874519"/>
            <a:ext cx="2560320" cy="2743200"/>
          </a:xfrm>
          <a:prstGeom prst="roundRect">
            <a:avLst>
              <a:gd name="adj" fmla="val 119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6199631" y="1874519"/>
            <a:ext cx="64008" cy="27432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6409944" y="2020824"/>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获得新观测</a:t>
            </a:r>
            <a:endParaRPr sz="1800" b="1" i="0" dirty="0">
              <a:solidFill>
                <a:srgbClr val="C58A24"/>
              </a:solidFill>
              <a:latin typeface="微软雅黑" panose="020B0503020204020204" pitchFamily="34" charset="-122"/>
            </a:endParaRPr>
          </a:p>
        </p:txBody>
      </p:sp>
      <p:sp>
        <p:nvSpPr>
          <p:cNvPr id="20" name="TextBox 19"/>
          <p:cNvSpPr txBox="1"/>
          <p:nvPr/>
        </p:nvSpPr>
        <p:spPr>
          <a:xfrm>
            <a:off x="6409944" y="2532887"/>
            <a:ext cx="2176272" cy="193852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环境变化后重新感知。</a:t>
            </a:r>
          </a:p>
        </p:txBody>
      </p:sp>
      <p:sp>
        <p:nvSpPr>
          <p:cNvPr id="21" name="Rounded Rectangle 20"/>
          <p:cNvSpPr/>
          <p:nvPr/>
        </p:nvSpPr>
        <p:spPr>
          <a:xfrm>
            <a:off x="8970264" y="1874519"/>
            <a:ext cx="2560320" cy="2743200"/>
          </a:xfrm>
          <a:prstGeom prst="roundRect">
            <a:avLst>
              <a:gd name="adj" fmla="val 238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8970264" y="1874519"/>
            <a:ext cx="64008" cy="27432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9180576" y="2020824"/>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再次生成</a:t>
            </a:r>
            <a:endParaRPr sz="1800" b="1" i="0" dirty="0">
              <a:solidFill>
                <a:srgbClr val="C63F45"/>
              </a:solidFill>
              <a:latin typeface="微软雅黑" panose="020B0503020204020204" pitchFamily="34" charset="-122"/>
            </a:endParaRPr>
          </a:p>
        </p:txBody>
      </p:sp>
      <p:sp>
        <p:nvSpPr>
          <p:cNvPr id="24" name="TextBox 23"/>
          <p:cNvSpPr txBox="1"/>
          <p:nvPr/>
        </p:nvSpPr>
        <p:spPr>
          <a:xfrm>
            <a:off x="9180576" y="2532887"/>
            <a:ext cx="2176272" cy="193852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基于新状态生成下一动作块。</a:t>
            </a:r>
          </a:p>
        </p:txBody>
      </p:sp>
      <p:sp>
        <p:nvSpPr>
          <p:cNvPr id="25" name="TextBox 24"/>
          <p:cNvSpPr txBox="1"/>
          <p:nvPr/>
        </p:nvSpPr>
        <p:spPr>
          <a:xfrm>
            <a:off x="868680" y="5230368"/>
            <a:ext cx="1024128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滚动视界让生成式策略既有“看未来”的能力，又保留实时反馈纠错</a:t>
            </a:r>
            <a:r>
              <a:rPr sz="1900" b="1" i="0" dirty="0">
                <a:solidFill>
                  <a:srgbClr val="24477D"/>
                </a:solidFill>
                <a:latin typeface="微软雅黑" panose="020B0503020204020204" pitchFamily="34" charset="-122"/>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64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视觉条件化：让扩散轨迹与当前场景对齐</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04672" y="1719072"/>
            <a:ext cx="10287000" cy="3886200"/>
          </a:xfrm>
          <a:prstGeom prst="rect">
            <a:avLst/>
          </a:prstGeom>
          <a:noFill/>
        </p:spPr>
        <p:txBody>
          <a:bodyPr wrap="square" lIns="18288" tIns="18288" rIns="18288" bIns="18288">
            <a:spAutoFit/>
          </a:bodyPr>
          <a:lstStyle/>
          <a:p>
            <a:pPr algn="l">
              <a:lnSpc>
                <a:spcPct val="112000"/>
              </a:lnSpc>
              <a:spcAft>
                <a:spcPts val="576"/>
              </a:spcAft>
            </a:pPr>
            <a:r>
              <a:rPr sz="2100">
                <a:solidFill>
                  <a:srgbClr val="222833"/>
                </a:solidFill>
                <a:latin typeface="微软雅黑"/>
              </a:rPr>
              <a:t>• 视觉编码器提取目标位置、几何与场景上下文。</a:t>
            </a:r>
          </a:p>
          <a:p>
            <a:pPr algn="l">
              <a:lnSpc>
                <a:spcPct val="112000"/>
              </a:lnSpc>
              <a:spcAft>
                <a:spcPts val="576"/>
              </a:spcAft>
            </a:pPr>
            <a:r>
              <a:rPr sz="2100">
                <a:solidFill>
                  <a:srgbClr val="222833"/>
                </a:solidFill>
                <a:latin typeface="微软雅黑"/>
              </a:rPr>
              <a:t>• 语言指令提供任务目标和对象语义。</a:t>
            </a:r>
          </a:p>
          <a:p>
            <a:pPr algn="l">
              <a:lnSpc>
                <a:spcPct val="112000"/>
              </a:lnSpc>
              <a:spcAft>
                <a:spcPts val="576"/>
              </a:spcAft>
            </a:pPr>
            <a:r>
              <a:rPr sz="2100">
                <a:solidFill>
                  <a:srgbClr val="222833"/>
                </a:solidFill>
                <a:latin typeface="微软雅黑"/>
              </a:rPr>
              <a:t>• 当前机器人状态描述关节位置、末端状态等执行条件。</a:t>
            </a:r>
          </a:p>
          <a:p>
            <a:pPr algn="l">
              <a:lnSpc>
                <a:spcPct val="112000"/>
              </a:lnSpc>
              <a:spcAft>
                <a:spcPts val="576"/>
              </a:spcAft>
            </a:pPr>
            <a:r>
              <a:rPr sz="2100">
                <a:solidFill>
                  <a:srgbClr val="222833"/>
                </a:solidFill>
                <a:latin typeface="微软雅黑"/>
              </a:rPr>
              <a:t>• 这些条件共同输入去噪网络，使生成轨迹与“当前这个场景”相匹配。</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65</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自回归动作生成：按时间一步步预测</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ounded Rectangle 11"/>
          <p:cNvSpPr/>
          <p:nvPr/>
        </p:nvSpPr>
        <p:spPr>
          <a:xfrm>
            <a:off x="960120" y="3429000"/>
            <a:ext cx="10287000" cy="1286256"/>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1234440" y="3703320"/>
            <a:ext cx="9738360" cy="701218"/>
          </a:xfrm>
          <a:prstGeom prst="rect">
            <a:avLst/>
          </a:prstGeom>
          <a:noFill/>
        </p:spPr>
        <p:txBody>
          <a:bodyPr wrap="square" lIns="18288" tIns="18288" rIns="18288" bIns="18288" anchor="t">
            <a:spAutoFit/>
          </a:bodyPr>
          <a:lstStyle/>
          <a:p>
            <a:pPr algn="l">
              <a:lnSpc>
                <a:spcPct val="112000"/>
              </a:lnSpc>
            </a:pPr>
            <a:r>
              <a:rPr sz="2000" b="0" i="0" dirty="0">
                <a:solidFill>
                  <a:srgbClr val="222833"/>
                </a:solidFill>
                <a:latin typeface="微软雅黑"/>
              </a:rPr>
              <a:t>S=(a₁,…,aₜ) </a:t>
            </a:r>
            <a:r>
              <a:rPr sz="2000" b="0" i="0" dirty="0" err="1">
                <a:solidFill>
                  <a:srgbClr val="222833"/>
                </a:solidFill>
                <a:latin typeface="微软雅黑"/>
              </a:rPr>
              <a:t>为动作序列；c</a:t>
            </a:r>
            <a:r>
              <a:rPr sz="2000" b="0" i="0" dirty="0">
                <a:solidFill>
                  <a:srgbClr val="222833"/>
                </a:solidFill>
                <a:latin typeface="微软雅黑"/>
              </a:rPr>
              <a:t> </a:t>
            </a:r>
            <a:r>
              <a:rPr sz="2000" b="0" i="0" dirty="0" err="1">
                <a:solidFill>
                  <a:srgbClr val="222833"/>
                </a:solidFill>
                <a:latin typeface="微软雅黑"/>
              </a:rPr>
              <a:t>为条件信息。每个新动作都基于此前已经生成的动作与当前条件进行预测</a:t>
            </a:r>
            <a:endParaRPr sz="2000" b="0" i="0" dirty="0">
              <a:solidFill>
                <a:srgbClr val="222833"/>
              </a:solidFill>
              <a:latin typeface="微软雅黑"/>
            </a:endParaRPr>
          </a:p>
        </p:txBody>
      </p:sp>
      <p:pic>
        <p:nvPicPr>
          <p:cNvPr id="15" name="图片 14">
            <a:extLst>
              <a:ext uri="{FF2B5EF4-FFF2-40B4-BE49-F238E27FC236}">
                <a16:creationId xmlns:a16="http://schemas.microsoft.com/office/drawing/2014/main" id="{4BE9842C-4CA1-3EF0-D014-F01400D5A6E2}"/>
              </a:ext>
            </a:extLst>
          </p:cNvPr>
          <p:cNvPicPr>
            <a:picLocks noChangeAspect="1"/>
          </p:cNvPicPr>
          <p:nvPr/>
        </p:nvPicPr>
        <p:blipFill>
          <a:blip r:embed="rId2"/>
          <a:stretch>
            <a:fillRect/>
          </a:stretch>
        </p:blipFill>
        <p:spPr>
          <a:xfrm>
            <a:off x="3065853" y="2073300"/>
            <a:ext cx="5666667" cy="1047619"/>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66</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生成式动作序列的通用流程</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713232" y="5815584"/>
            <a:ext cx="672084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667085"/>
                </a:solidFill>
                <a:latin typeface="微软雅黑" panose="020B0503020204020204" pitchFamily="34" charset="-122"/>
              </a:rPr>
              <a:t>动作序列生成流程图</a:t>
            </a:r>
            <a:endParaRPr sz="1300" b="1" i="0" dirty="0">
              <a:solidFill>
                <a:srgbClr val="667085"/>
              </a:solidFill>
              <a:latin typeface="微软雅黑" panose="020B0503020204020204" pitchFamily="34" charset="-122"/>
            </a:endParaRPr>
          </a:p>
        </p:txBody>
      </p:sp>
      <p:sp>
        <p:nvSpPr>
          <p:cNvPr id="11" name="Rounded Rectangle 10"/>
          <p:cNvSpPr/>
          <p:nvPr/>
        </p:nvSpPr>
        <p:spPr>
          <a:xfrm>
            <a:off x="7699248" y="1691640"/>
            <a:ext cx="3657600" cy="4023360"/>
          </a:xfrm>
          <a:prstGeom prst="roundRect">
            <a:avLst>
              <a:gd name="adj" fmla="val 973"/>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ectangle 11"/>
          <p:cNvSpPr/>
          <p:nvPr/>
        </p:nvSpPr>
        <p:spPr>
          <a:xfrm>
            <a:off x="7699248" y="1691640"/>
            <a:ext cx="64008" cy="40233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7909560" y="2350008"/>
            <a:ext cx="3273552" cy="3218688"/>
          </a:xfrm>
          <a:prstGeom prst="rect">
            <a:avLst/>
          </a:prstGeom>
          <a:noFill/>
        </p:spPr>
        <p:txBody>
          <a:bodyPr wrap="square" lIns="18288" tIns="18288" rIns="18288" bIns="18288" anchor="t">
            <a:spAutoFit/>
          </a:bodyPr>
          <a:lstStyle/>
          <a:p>
            <a:pPr algn="l">
              <a:lnSpc>
                <a:spcPct val="108000"/>
              </a:lnSpc>
            </a:pPr>
            <a:r>
              <a:rPr sz="1800" b="0" i="0" dirty="0" err="1">
                <a:solidFill>
                  <a:srgbClr val="222833"/>
                </a:solidFill>
                <a:latin typeface="微软雅黑"/>
              </a:rPr>
              <a:t>感知与条件进入世界模型</a:t>
            </a:r>
            <a:r>
              <a:rPr sz="1800" b="0" i="0" dirty="0">
                <a:solidFill>
                  <a:srgbClr val="222833"/>
                </a:solidFill>
                <a:latin typeface="微软雅黑"/>
              </a:rPr>
              <a:t> / </a:t>
            </a:r>
            <a:r>
              <a:rPr sz="1800" b="0" i="0" dirty="0" err="1">
                <a:solidFill>
                  <a:srgbClr val="222833"/>
                </a:solidFill>
                <a:latin typeface="微软雅黑"/>
              </a:rPr>
              <a:t>动作模型；模型生成动作序列，经过评估后执行前若干步，并继续闭环生成</a:t>
            </a:r>
            <a:r>
              <a:rPr sz="1800" b="0" i="0" dirty="0">
                <a:solidFill>
                  <a:srgbClr val="222833"/>
                </a:solidFill>
                <a:latin typeface="微软雅黑"/>
              </a:rPr>
              <a:t>。</a:t>
            </a:r>
          </a:p>
        </p:txBody>
      </p:sp>
      <p:pic>
        <p:nvPicPr>
          <p:cNvPr id="15" name="图片 14">
            <a:extLst>
              <a:ext uri="{FF2B5EF4-FFF2-40B4-BE49-F238E27FC236}">
                <a16:creationId xmlns:a16="http://schemas.microsoft.com/office/drawing/2014/main" id="{E641D3E4-2BB2-1E54-20E6-C892C687CAA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570" r="10494" b="13405"/>
          <a:stretch>
            <a:fillRect/>
          </a:stretch>
        </p:blipFill>
        <p:spPr bwMode="auto">
          <a:xfrm>
            <a:off x="2466974" y="1853198"/>
            <a:ext cx="3476625" cy="3651490"/>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67</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动作扩散策略的整体网络与执行方式</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2606040" y="5794671"/>
            <a:ext cx="672084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667085"/>
                </a:solidFill>
                <a:latin typeface="微软雅黑" panose="020B0503020204020204" pitchFamily="34" charset="-122"/>
              </a:rPr>
              <a:t>动作扩散策略框架</a:t>
            </a:r>
            <a:endParaRPr sz="1300" b="1" i="0" dirty="0">
              <a:solidFill>
                <a:srgbClr val="667085"/>
              </a:solidFill>
              <a:latin typeface="微软雅黑" panose="020B0503020204020204" pitchFamily="34" charset="-122"/>
            </a:endParaRPr>
          </a:p>
        </p:txBody>
      </p:sp>
      <p:sp>
        <p:nvSpPr>
          <p:cNvPr id="14" name="TextBox 13"/>
          <p:cNvSpPr txBox="1"/>
          <p:nvPr/>
        </p:nvSpPr>
        <p:spPr>
          <a:xfrm>
            <a:off x="592836" y="1607659"/>
            <a:ext cx="10786364" cy="808235"/>
          </a:xfrm>
          <a:prstGeom prst="rect">
            <a:avLst/>
          </a:prstGeom>
          <a:noFill/>
        </p:spPr>
        <p:txBody>
          <a:bodyPr wrap="square" lIns="18288" tIns="18288" rIns="18288" bIns="18288" anchor="t">
            <a:spAutoFit/>
          </a:bodyPr>
          <a:lstStyle/>
          <a:p>
            <a:pPr marL="342900" indent="-342900" algn="l">
              <a:lnSpc>
                <a:spcPct val="108000"/>
              </a:lnSpc>
              <a:buFont typeface="Arial" panose="020B0604020202020204" pitchFamily="34" charset="0"/>
              <a:buChar char="•"/>
            </a:pPr>
            <a:r>
              <a:rPr sz="2400" b="0" i="0" dirty="0" err="1">
                <a:solidFill>
                  <a:srgbClr val="222833"/>
                </a:solidFill>
                <a:latin typeface="微软雅黑"/>
              </a:rPr>
              <a:t>视觉观测与本体状态经过编码后条件化动作去噪网络；策略预测动作块，并在环境中以滚动方式执行</a:t>
            </a:r>
            <a:r>
              <a:rPr sz="2400" b="0" i="0" dirty="0">
                <a:solidFill>
                  <a:srgbClr val="222833"/>
                </a:solidFill>
                <a:latin typeface="微软雅黑"/>
              </a:rPr>
              <a:t>。</a:t>
            </a:r>
          </a:p>
        </p:txBody>
      </p:sp>
      <p:pic>
        <p:nvPicPr>
          <p:cNvPr id="15" name="图片 14">
            <a:extLst>
              <a:ext uri="{FF2B5EF4-FFF2-40B4-BE49-F238E27FC236}">
                <a16:creationId xmlns:a16="http://schemas.microsoft.com/office/drawing/2014/main" id="{58781DB4-3E95-C036-4550-5B4BF1D5CC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2926" y="2583429"/>
            <a:ext cx="10871599" cy="3106171"/>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68</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7.3 </a:t>
            </a:r>
            <a:r>
              <a:rPr sz="3500" b="1" i="0" dirty="0" err="1">
                <a:solidFill>
                  <a:srgbClr val="24477D"/>
                </a:solidFill>
                <a:latin typeface="微软雅黑" panose="020B0503020204020204" pitchFamily="34" charset="-122"/>
              </a:rPr>
              <a:t>小结</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804672" y="169164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04672" y="1691640"/>
            <a:ext cx="64008" cy="8686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33271" y="180136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动作序列</a:t>
            </a:r>
            <a:endParaRPr sz="1800" b="1" i="0" dirty="0">
              <a:solidFill>
                <a:srgbClr val="31599B"/>
              </a:solidFill>
              <a:latin typeface="微软雅黑" panose="020B0503020204020204" pitchFamily="34" charset="-122"/>
            </a:endParaRPr>
          </a:p>
        </p:txBody>
      </p:sp>
      <p:sp>
        <p:nvSpPr>
          <p:cNvPr id="12" name="TextBox 11"/>
          <p:cNvSpPr txBox="1"/>
          <p:nvPr/>
        </p:nvSpPr>
        <p:spPr>
          <a:xfrm>
            <a:off x="2880360" y="1783080"/>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把复杂任务表达为随时间排列的离散或连续动作。</a:t>
            </a:r>
          </a:p>
        </p:txBody>
      </p:sp>
      <p:sp>
        <p:nvSpPr>
          <p:cNvPr id="13" name="Rounded Rectangle 12"/>
          <p:cNvSpPr/>
          <p:nvPr/>
        </p:nvSpPr>
        <p:spPr>
          <a:xfrm>
            <a:off x="804672" y="278892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804672" y="2788920"/>
            <a:ext cx="64008" cy="8686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1033271" y="289864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模型规划</a:t>
            </a:r>
            <a:endParaRPr sz="1800" b="1" i="0" dirty="0">
              <a:solidFill>
                <a:srgbClr val="2F8E72"/>
              </a:solidFill>
              <a:latin typeface="微软雅黑" panose="020B0503020204020204" pitchFamily="34" charset="-122"/>
            </a:endParaRPr>
          </a:p>
        </p:txBody>
      </p:sp>
      <p:sp>
        <p:nvSpPr>
          <p:cNvPr id="16" name="TextBox 15"/>
          <p:cNvSpPr txBox="1"/>
          <p:nvPr/>
        </p:nvSpPr>
        <p:spPr>
          <a:xfrm>
            <a:off x="2880360" y="2880360"/>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利用动力学预测未来，再搜索最优轨迹。</a:t>
            </a:r>
          </a:p>
        </p:txBody>
      </p:sp>
      <p:sp>
        <p:nvSpPr>
          <p:cNvPr id="17" name="Rounded Rectangle 16"/>
          <p:cNvSpPr/>
          <p:nvPr/>
        </p:nvSpPr>
        <p:spPr>
          <a:xfrm>
            <a:off x="804672" y="388620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804672" y="3886200"/>
            <a:ext cx="64008" cy="8686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1033271" y="399592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生成式策略</a:t>
            </a:r>
            <a:endParaRPr sz="1800" b="1" i="0" dirty="0">
              <a:solidFill>
                <a:srgbClr val="C58A24"/>
              </a:solidFill>
              <a:latin typeface="微软雅黑" panose="020B0503020204020204" pitchFamily="34" charset="-122"/>
            </a:endParaRPr>
          </a:p>
        </p:txBody>
      </p:sp>
      <p:sp>
        <p:nvSpPr>
          <p:cNvPr id="20" name="TextBox 19"/>
          <p:cNvSpPr txBox="1"/>
          <p:nvPr/>
        </p:nvSpPr>
        <p:spPr>
          <a:xfrm>
            <a:off x="2880360" y="3977639"/>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从演示数据直接学习动作序列分布。</a:t>
            </a:r>
          </a:p>
        </p:txBody>
      </p:sp>
      <p:sp>
        <p:nvSpPr>
          <p:cNvPr id="21" name="Rounded Rectangle 20"/>
          <p:cNvSpPr/>
          <p:nvPr/>
        </p:nvSpPr>
        <p:spPr>
          <a:xfrm>
            <a:off x="804672" y="498348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804672" y="4983480"/>
            <a:ext cx="64008" cy="86868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1033271" y="5093208"/>
            <a:ext cx="2011680"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扩散策略</a:t>
            </a:r>
            <a:endParaRPr sz="1800" b="1" i="0" dirty="0">
              <a:solidFill>
                <a:srgbClr val="C63F45"/>
              </a:solidFill>
              <a:latin typeface="微软雅黑" panose="020B0503020204020204" pitchFamily="34" charset="-122"/>
            </a:endParaRPr>
          </a:p>
        </p:txBody>
      </p:sp>
      <p:sp>
        <p:nvSpPr>
          <p:cNvPr id="24" name="TextBox 23"/>
          <p:cNvSpPr txBox="1"/>
          <p:nvPr/>
        </p:nvSpPr>
        <p:spPr>
          <a:xfrm>
            <a:off x="2880360" y="5074920"/>
            <a:ext cx="8092440" cy="475488"/>
          </a:xfrm>
          <a:prstGeom prst="rect">
            <a:avLst/>
          </a:prstGeom>
          <a:noFill/>
        </p:spPr>
        <p:txBody>
          <a:bodyPr wrap="square" lIns="18288" tIns="18288" rIns="18288" bIns="18288" anchor="ctr">
            <a:spAutoFit/>
          </a:bodyPr>
          <a:lstStyle/>
          <a:p>
            <a:pPr algn="l">
              <a:lnSpc>
                <a:spcPct val="105000"/>
              </a:lnSpc>
            </a:pPr>
            <a:r>
              <a:rPr sz="1700" b="0" i="0">
                <a:solidFill>
                  <a:srgbClr val="222833"/>
                </a:solidFill>
                <a:latin typeface="微软雅黑"/>
              </a:rPr>
              <a:t>从噪声中恢复连续动作块，并结合滚动执行实现闭环。</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8595360" y="320040"/>
            <a:ext cx="2743200" cy="188641"/>
          </a:xfrm>
          <a:prstGeom prst="rect">
            <a:avLst/>
          </a:prstGeom>
          <a:noFill/>
        </p:spPr>
        <p:txBody>
          <a:bodyPr wrap="square" lIns="18288" tIns="18288" rIns="18288" bIns="18288" anchor="t">
            <a:spAutoFit/>
          </a:bodyPr>
          <a:lstStyle/>
          <a:p>
            <a:pPr algn="r">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1307592" y="1474502"/>
            <a:ext cx="1691640" cy="1129220"/>
          </a:xfrm>
          <a:prstGeom prst="rect">
            <a:avLst/>
          </a:prstGeom>
          <a:noFill/>
        </p:spPr>
        <p:txBody>
          <a:bodyPr wrap="square" lIns="18288" tIns="18288" rIns="18288" bIns="18288" anchor="ctr">
            <a:spAutoFit/>
          </a:bodyPr>
          <a:lstStyle/>
          <a:p>
            <a:pPr algn="l">
              <a:lnSpc>
                <a:spcPct val="105000"/>
              </a:lnSpc>
            </a:pPr>
            <a:r>
              <a:rPr sz="7200" b="1" i="0" dirty="0">
                <a:solidFill>
                  <a:srgbClr val="31599B"/>
                </a:solidFill>
                <a:latin typeface="微软雅黑" panose="020B0503020204020204" pitchFamily="34" charset="-122"/>
              </a:rPr>
              <a:t>04</a:t>
            </a:r>
          </a:p>
        </p:txBody>
      </p:sp>
      <p:sp>
        <p:nvSpPr>
          <p:cNvPr id="6" name="TextBox 5"/>
          <p:cNvSpPr txBox="1"/>
          <p:nvPr/>
        </p:nvSpPr>
        <p:spPr>
          <a:xfrm>
            <a:off x="3246120" y="1752259"/>
            <a:ext cx="7818120" cy="628570"/>
          </a:xfrm>
          <a:prstGeom prst="rect">
            <a:avLst/>
          </a:prstGeom>
          <a:noFill/>
        </p:spPr>
        <p:txBody>
          <a:bodyPr wrap="square" lIns="18288" tIns="18288" rIns="18288" bIns="18288" anchor="ctr">
            <a:spAutoFit/>
          </a:bodyPr>
          <a:lstStyle/>
          <a:p>
            <a:pPr algn="l">
              <a:lnSpc>
                <a:spcPct val="105000"/>
              </a:lnSpc>
            </a:pPr>
            <a:r>
              <a:rPr sz="3900" b="1" i="0" dirty="0" err="1">
                <a:solidFill>
                  <a:srgbClr val="24477D"/>
                </a:solidFill>
                <a:latin typeface="微软雅黑" panose="020B0503020204020204" pitchFamily="34" charset="-122"/>
              </a:rPr>
              <a:t>语言－动作生成</a:t>
            </a:r>
            <a:endParaRPr sz="3900" b="1" i="0" dirty="0">
              <a:solidFill>
                <a:srgbClr val="24477D"/>
              </a:solidFill>
              <a:latin typeface="微软雅黑" panose="020B0503020204020204" pitchFamily="34"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70</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7.4 </a:t>
            </a:r>
            <a:r>
              <a:rPr sz="3500" b="1" i="0" dirty="0" err="1">
                <a:solidFill>
                  <a:srgbClr val="24477D"/>
                </a:solidFill>
                <a:latin typeface="微软雅黑" panose="020B0503020204020204" pitchFamily="34" charset="-122"/>
              </a:rPr>
              <a:t>语言－动作生成：从“听懂”到“执行</a:t>
            </a:r>
            <a:r>
              <a:rPr sz="3500" b="1" i="0" dirty="0">
                <a:solidFill>
                  <a:srgbClr val="24477D"/>
                </a:solidFill>
                <a:latin typeface="微软雅黑" panose="020B0503020204020204" pitchFamily="34" charset="-122"/>
              </a:rPr>
              <a:t>”</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04672" y="1783080"/>
            <a:ext cx="10287000" cy="3291840"/>
          </a:xfrm>
          <a:prstGeom prst="rect">
            <a:avLst/>
          </a:prstGeom>
          <a:noFill/>
        </p:spPr>
        <p:txBody>
          <a:bodyPr wrap="square" lIns="18288" tIns="18288" rIns="18288" bIns="18288">
            <a:spAutoFit/>
          </a:bodyPr>
          <a:lstStyle/>
          <a:p>
            <a:pPr algn="l">
              <a:lnSpc>
                <a:spcPct val="112000"/>
              </a:lnSpc>
              <a:spcAft>
                <a:spcPts val="576"/>
              </a:spcAft>
            </a:pPr>
            <a:r>
              <a:rPr sz="2300">
                <a:solidFill>
                  <a:srgbClr val="222833"/>
                </a:solidFill>
                <a:latin typeface="微软雅黑"/>
              </a:rPr>
              <a:t>• 语言－动作生成把自然语言指令直接映射为动作序列或可执行策略。</a:t>
            </a:r>
          </a:p>
          <a:p>
            <a:pPr algn="l">
              <a:lnSpc>
                <a:spcPct val="112000"/>
              </a:lnSpc>
              <a:spcAft>
                <a:spcPts val="576"/>
              </a:spcAft>
            </a:pPr>
            <a:r>
              <a:rPr sz="2300">
                <a:solidFill>
                  <a:srgbClr val="222833"/>
                </a:solidFill>
                <a:latin typeface="微软雅黑"/>
              </a:rPr>
              <a:t>• 这一阶段强调语言与动作之间的映射，本身不一定要求直接处理视觉输入。</a:t>
            </a:r>
          </a:p>
          <a:p>
            <a:pPr algn="l">
              <a:lnSpc>
                <a:spcPct val="112000"/>
              </a:lnSpc>
              <a:spcAft>
                <a:spcPts val="576"/>
              </a:spcAft>
            </a:pPr>
            <a:r>
              <a:rPr sz="2300">
                <a:solidFill>
                  <a:srgbClr val="222833"/>
                </a:solidFill>
                <a:latin typeface="微软雅黑"/>
              </a:rPr>
              <a:t>• 它使机器人能够用人类自然表达的任务目标来驱动行为，为自然人机交互奠定基础。</a:t>
            </a:r>
          </a:p>
        </p:txBody>
      </p:sp>
      <p:sp>
        <p:nvSpPr>
          <p:cNvPr id="10" name="TextBox 9"/>
          <p:cNvSpPr txBox="1"/>
          <p:nvPr/>
        </p:nvSpPr>
        <p:spPr>
          <a:xfrm>
            <a:off x="914400" y="5257800"/>
            <a:ext cx="10058400" cy="340350"/>
          </a:xfrm>
          <a:prstGeom prst="rect">
            <a:avLst/>
          </a:prstGeom>
          <a:noFill/>
        </p:spPr>
        <p:txBody>
          <a:bodyPr wrap="square" lIns="18288" tIns="18288" rIns="18288" bIns="18288" anchor="t">
            <a:spAutoFit/>
          </a:bodyPr>
          <a:lstStyle/>
          <a:p>
            <a:pPr algn="ctr">
              <a:lnSpc>
                <a:spcPct val="105000"/>
              </a:lnSpc>
            </a:pPr>
            <a:r>
              <a:rPr sz="2000" b="1" i="0" dirty="0" err="1">
                <a:solidFill>
                  <a:srgbClr val="24477D"/>
                </a:solidFill>
                <a:latin typeface="微软雅黑" panose="020B0503020204020204" pitchFamily="34" charset="-122"/>
              </a:rPr>
              <a:t>关键跨度：语言是抽象符号，动作是物理控制信号。模型必须把二者对齐</a:t>
            </a:r>
            <a:r>
              <a:rPr sz="2000" b="1" i="0" dirty="0">
                <a:solidFill>
                  <a:srgbClr val="24477D"/>
                </a:solidFill>
                <a:latin typeface="微软雅黑" panose="020B0503020204020204" pitchFamily="34" charset="-122"/>
              </a:rPr>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71</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大语言模型与语言－动作生成：区别（1/2）</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graphicFrame>
        <p:nvGraphicFramePr>
          <p:cNvPr id="9" name="Table 8"/>
          <p:cNvGraphicFramePr>
            <a:graphicFrameLocks noGrp="1"/>
          </p:cNvGraphicFramePr>
          <p:nvPr>
            <p:extLst>
              <p:ext uri="{D42A27DB-BD31-4B8C-83A1-F6EECF244321}">
                <p14:modId xmlns:p14="http://schemas.microsoft.com/office/powerpoint/2010/main" val="409099711"/>
              </p:ext>
            </p:extLst>
          </p:nvPr>
        </p:nvGraphicFramePr>
        <p:xfrm>
          <a:off x="658368" y="1581912"/>
          <a:ext cx="10835640" cy="4480560"/>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4892040">
                  <a:extLst>
                    <a:ext uri="{9D8B030D-6E8A-4147-A177-3AD203B41FA5}">
                      <a16:colId xmlns:a16="http://schemas.microsoft.com/office/drawing/2014/main" val="20002"/>
                    </a:ext>
                  </a:extLst>
                </a:gridCol>
              </a:tblGrid>
              <a:tr h="896112">
                <a:tc>
                  <a:txBody>
                    <a:bodyPr/>
                    <a:lstStyle/>
                    <a:p>
                      <a:pPr algn="ctr"/>
                      <a:r>
                        <a:rPr sz="2000" b="1" dirty="0" err="1">
                          <a:solidFill>
                            <a:srgbClr val="FFFFFF"/>
                          </a:solidFill>
                          <a:latin typeface="微软雅黑" panose="020B0503020204020204" pitchFamily="34" charset="-122"/>
                        </a:rPr>
                        <a:t>维度</a:t>
                      </a:r>
                      <a:endParaRPr sz="2000" b="1" dirty="0">
                        <a:solidFill>
                          <a:srgbClr val="FFFFFF"/>
                        </a:solidFill>
                        <a:latin typeface="微软雅黑" panose="020B0503020204020204" pitchFamily="34" charset="-122"/>
                      </a:endParaRPr>
                    </a:p>
                  </a:txBody>
                  <a:tcPr marL="64008" marR="64008" marT="36576" marB="36576" anchor="ctr">
                    <a:solidFill>
                      <a:srgbClr val="24477D"/>
                    </a:solidFill>
                  </a:tcPr>
                </a:tc>
                <a:tc>
                  <a:txBody>
                    <a:bodyPr/>
                    <a:lstStyle/>
                    <a:p>
                      <a:pPr algn="ctr"/>
                      <a:r>
                        <a:rPr sz="2000" b="1" dirty="0" err="1">
                          <a:solidFill>
                            <a:srgbClr val="FFFFFF"/>
                          </a:solidFill>
                          <a:latin typeface="微软雅黑" panose="020B0503020204020204" pitchFamily="34" charset="-122"/>
                        </a:rPr>
                        <a:t>大语言模型（LLM</a:t>
                      </a:r>
                      <a:r>
                        <a:rPr sz="2000" b="1" dirty="0">
                          <a:solidFill>
                            <a:srgbClr val="FFFFFF"/>
                          </a:solidFill>
                          <a:latin typeface="微软雅黑" panose="020B0503020204020204" pitchFamily="34" charset="-122"/>
                        </a:rPr>
                        <a:t>）</a:t>
                      </a:r>
                    </a:p>
                  </a:txBody>
                  <a:tcPr marL="64008" marR="64008" marT="36576" marB="36576" anchor="ctr">
                    <a:solidFill>
                      <a:srgbClr val="24477D"/>
                    </a:solidFill>
                  </a:tcPr>
                </a:tc>
                <a:tc>
                  <a:txBody>
                    <a:bodyPr/>
                    <a:lstStyle/>
                    <a:p>
                      <a:pPr algn="ctr"/>
                      <a:r>
                        <a:rPr sz="2000" b="1" dirty="0" err="1">
                          <a:solidFill>
                            <a:srgbClr val="FFFFFF"/>
                          </a:solidFill>
                          <a:latin typeface="微软雅黑" panose="020B0503020204020204" pitchFamily="34" charset="-122"/>
                        </a:rPr>
                        <a:t>语言－动作生成</a:t>
                      </a:r>
                      <a:endParaRPr sz="2000" b="1" dirty="0">
                        <a:solidFill>
                          <a:srgbClr val="FFFFFF"/>
                        </a:solidFill>
                        <a:latin typeface="微软雅黑" panose="020B0503020204020204" pitchFamily="34" charset="-122"/>
                      </a:endParaRPr>
                    </a:p>
                  </a:txBody>
                  <a:tcPr marL="64008" marR="64008" marT="36576" marB="36576" anchor="ctr">
                    <a:solidFill>
                      <a:srgbClr val="24477D"/>
                    </a:solidFill>
                  </a:tcPr>
                </a:tc>
                <a:extLst>
                  <a:ext uri="{0D108BD9-81ED-4DB2-BD59-A6C34878D82A}">
                    <a16:rowId xmlns:a16="http://schemas.microsoft.com/office/drawing/2014/main" val="10000"/>
                  </a:ext>
                </a:extLst>
              </a:tr>
              <a:tr h="896112">
                <a:tc>
                  <a:txBody>
                    <a:bodyPr/>
                    <a:lstStyle/>
                    <a:p>
                      <a:pPr algn="ctr"/>
                      <a:r>
                        <a:rPr sz="2000">
                          <a:solidFill>
                            <a:srgbClr val="222833"/>
                          </a:solidFill>
                          <a:latin typeface="微软雅黑"/>
                        </a:rPr>
                        <a:t>主要输入</a:t>
                      </a:r>
                    </a:p>
                  </a:txBody>
                  <a:tcPr marL="64008" marR="64008" marT="36576" marB="36576" anchor="ctr">
                    <a:solidFill>
                      <a:srgbClr val="FFFFFF"/>
                    </a:solidFill>
                  </a:tcPr>
                </a:tc>
                <a:tc>
                  <a:txBody>
                    <a:bodyPr/>
                    <a:lstStyle/>
                    <a:p>
                      <a:pPr algn="l"/>
                      <a:r>
                        <a:rPr sz="2000">
                          <a:solidFill>
                            <a:srgbClr val="222833"/>
                          </a:solidFill>
                          <a:latin typeface="微软雅黑"/>
                        </a:rPr>
                        <a:t>以文本为主，部分模型支持图像等多模态信息</a:t>
                      </a:r>
                    </a:p>
                  </a:txBody>
                  <a:tcPr marL="64008" marR="64008" marT="36576" marB="36576" anchor="ctr">
                    <a:solidFill>
                      <a:srgbClr val="FFFFFF"/>
                    </a:solidFill>
                  </a:tcPr>
                </a:tc>
                <a:tc>
                  <a:txBody>
                    <a:bodyPr/>
                    <a:lstStyle/>
                    <a:p>
                      <a:pPr algn="l"/>
                      <a:r>
                        <a:rPr sz="2000">
                          <a:solidFill>
                            <a:srgbClr val="222833"/>
                          </a:solidFill>
                          <a:latin typeface="微软雅黑"/>
                        </a:rPr>
                        <a:t>语言指令、视觉观测和机器人状态</a:t>
                      </a:r>
                    </a:p>
                  </a:txBody>
                  <a:tcPr marL="64008" marR="64008" marT="36576" marB="36576" anchor="ctr">
                    <a:solidFill>
                      <a:srgbClr val="FFFFFF"/>
                    </a:solidFill>
                  </a:tcPr>
                </a:tc>
                <a:extLst>
                  <a:ext uri="{0D108BD9-81ED-4DB2-BD59-A6C34878D82A}">
                    <a16:rowId xmlns:a16="http://schemas.microsoft.com/office/drawing/2014/main" val="10001"/>
                  </a:ext>
                </a:extLst>
              </a:tr>
              <a:tr h="896112">
                <a:tc>
                  <a:txBody>
                    <a:bodyPr/>
                    <a:lstStyle/>
                    <a:p>
                      <a:pPr algn="ctr"/>
                      <a:r>
                        <a:rPr sz="2000">
                          <a:solidFill>
                            <a:srgbClr val="222833"/>
                          </a:solidFill>
                          <a:latin typeface="微软雅黑"/>
                        </a:rPr>
                        <a:t>主要功能</a:t>
                      </a:r>
                    </a:p>
                  </a:txBody>
                  <a:tcPr marL="64008" marR="64008" marT="36576" marB="36576" anchor="ctr">
                    <a:solidFill>
                      <a:srgbClr val="F3F6FA"/>
                    </a:solidFill>
                  </a:tcPr>
                </a:tc>
                <a:tc>
                  <a:txBody>
                    <a:bodyPr/>
                    <a:lstStyle/>
                    <a:p>
                      <a:pPr algn="l"/>
                      <a:r>
                        <a:rPr sz="2000">
                          <a:solidFill>
                            <a:srgbClr val="222833"/>
                          </a:solidFill>
                          <a:latin typeface="微软雅黑"/>
                        </a:rPr>
                        <a:t>生成、理解语言并进行推理</a:t>
                      </a:r>
                    </a:p>
                  </a:txBody>
                  <a:tcPr marL="64008" marR="64008" marT="36576" marB="36576" anchor="ctr">
                    <a:solidFill>
                      <a:srgbClr val="F3F6FA"/>
                    </a:solidFill>
                  </a:tcPr>
                </a:tc>
                <a:tc>
                  <a:txBody>
                    <a:bodyPr/>
                    <a:lstStyle/>
                    <a:p>
                      <a:pPr algn="l"/>
                      <a:r>
                        <a:rPr sz="2000">
                          <a:solidFill>
                            <a:srgbClr val="222833"/>
                          </a:solidFill>
                          <a:latin typeface="微软雅黑"/>
                        </a:rPr>
                        <a:t>根据指令和环境状态生成机器人动作</a:t>
                      </a:r>
                    </a:p>
                  </a:txBody>
                  <a:tcPr marL="64008" marR="64008" marT="36576" marB="36576" anchor="ctr">
                    <a:solidFill>
                      <a:srgbClr val="F3F6FA"/>
                    </a:solidFill>
                  </a:tcPr>
                </a:tc>
                <a:extLst>
                  <a:ext uri="{0D108BD9-81ED-4DB2-BD59-A6C34878D82A}">
                    <a16:rowId xmlns:a16="http://schemas.microsoft.com/office/drawing/2014/main" val="10002"/>
                  </a:ext>
                </a:extLst>
              </a:tr>
              <a:tr h="896112">
                <a:tc>
                  <a:txBody>
                    <a:bodyPr/>
                    <a:lstStyle/>
                    <a:p>
                      <a:pPr algn="ctr"/>
                      <a:r>
                        <a:rPr sz="2000">
                          <a:solidFill>
                            <a:srgbClr val="222833"/>
                          </a:solidFill>
                          <a:latin typeface="微软雅黑"/>
                        </a:rPr>
                        <a:t>输出形式</a:t>
                      </a:r>
                    </a:p>
                  </a:txBody>
                  <a:tcPr marL="64008" marR="64008" marT="36576" marB="36576" anchor="ctr">
                    <a:solidFill>
                      <a:srgbClr val="FFFFFF"/>
                    </a:solidFill>
                  </a:tcPr>
                </a:tc>
                <a:tc>
                  <a:txBody>
                    <a:bodyPr/>
                    <a:lstStyle/>
                    <a:p>
                      <a:pPr algn="l"/>
                      <a:r>
                        <a:rPr sz="2000">
                          <a:solidFill>
                            <a:srgbClr val="222833"/>
                          </a:solidFill>
                          <a:latin typeface="微软雅黑"/>
                        </a:rPr>
                        <a:t>文本、代码、高层计划或工具调用指令</a:t>
                      </a:r>
                    </a:p>
                  </a:txBody>
                  <a:tcPr marL="64008" marR="64008" marT="36576" marB="36576" anchor="ctr">
                    <a:solidFill>
                      <a:srgbClr val="FFFFFF"/>
                    </a:solidFill>
                  </a:tcPr>
                </a:tc>
                <a:tc>
                  <a:txBody>
                    <a:bodyPr/>
                    <a:lstStyle/>
                    <a:p>
                      <a:pPr algn="l"/>
                      <a:r>
                        <a:rPr sz="2000">
                          <a:solidFill>
                            <a:srgbClr val="222833"/>
                          </a:solidFill>
                          <a:latin typeface="微软雅黑"/>
                        </a:rPr>
                        <a:t>离散动作、连续控制量、航点或运动轨迹</a:t>
                      </a:r>
                    </a:p>
                  </a:txBody>
                  <a:tcPr marL="64008" marR="64008" marT="36576" marB="36576" anchor="ctr">
                    <a:solidFill>
                      <a:srgbClr val="FFFFFF"/>
                    </a:solidFill>
                  </a:tcPr>
                </a:tc>
                <a:extLst>
                  <a:ext uri="{0D108BD9-81ED-4DB2-BD59-A6C34878D82A}">
                    <a16:rowId xmlns:a16="http://schemas.microsoft.com/office/drawing/2014/main" val="10003"/>
                  </a:ext>
                </a:extLst>
              </a:tr>
              <a:tr h="896112">
                <a:tc>
                  <a:txBody>
                    <a:bodyPr/>
                    <a:lstStyle/>
                    <a:p>
                      <a:pPr algn="ctr"/>
                      <a:r>
                        <a:rPr sz="2000">
                          <a:solidFill>
                            <a:srgbClr val="222833"/>
                          </a:solidFill>
                          <a:latin typeface="微软雅黑"/>
                        </a:rPr>
                        <a:t>环境交互</a:t>
                      </a:r>
                    </a:p>
                  </a:txBody>
                  <a:tcPr marL="64008" marR="64008" marT="36576" marB="36576" anchor="ctr">
                    <a:solidFill>
                      <a:srgbClr val="F3F6FA"/>
                    </a:solidFill>
                  </a:tcPr>
                </a:tc>
                <a:tc>
                  <a:txBody>
                    <a:bodyPr/>
                    <a:lstStyle/>
                    <a:p>
                      <a:pPr algn="l"/>
                      <a:r>
                        <a:rPr sz="2000">
                          <a:solidFill>
                            <a:srgbClr val="222833"/>
                          </a:solidFill>
                          <a:latin typeface="微软雅黑"/>
                        </a:rPr>
                        <a:t>通常不直接与物理环境交互</a:t>
                      </a:r>
                    </a:p>
                  </a:txBody>
                  <a:tcPr marL="64008" marR="64008" marT="36576" marB="36576" anchor="ctr">
                    <a:solidFill>
                      <a:srgbClr val="F3F6FA"/>
                    </a:solidFill>
                  </a:tcPr>
                </a:tc>
                <a:tc>
                  <a:txBody>
                    <a:bodyPr/>
                    <a:lstStyle/>
                    <a:p>
                      <a:pPr algn="l"/>
                      <a:r>
                        <a:rPr sz="2000" dirty="0" err="1">
                          <a:solidFill>
                            <a:srgbClr val="222833"/>
                          </a:solidFill>
                          <a:latin typeface="微软雅黑"/>
                        </a:rPr>
                        <a:t>通过传感器、控制器和执行器形成闭环交互</a:t>
                      </a:r>
                      <a:endParaRPr sz="2000" dirty="0">
                        <a:solidFill>
                          <a:srgbClr val="222833"/>
                        </a:solidFill>
                        <a:latin typeface="微软雅黑"/>
                      </a:endParaRPr>
                    </a:p>
                  </a:txBody>
                  <a:tcPr marL="64008" marR="64008" marT="36576" marB="36576" anchor="ctr">
                    <a:solidFill>
                      <a:srgbClr val="F3F6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72</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大语言模型与语言－动作生成：区别（2/2）</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graphicFrame>
        <p:nvGraphicFramePr>
          <p:cNvPr id="9" name="Table 8"/>
          <p:cNvGraphicFramePr>
            <a:graphicFrameLocks noGrp="1"/>
          </p:cNvGraphicFramePr>
          <p:nvPr>
            <p:extLst>
              <p:ext uri="{D42A27DB-BD31-4B8C-83A1-F6EECF244321}">
                <p14:modId xmlns:p14="http://schemas.microsoft.com/office/powerpoint/2010/main" val="2133815465"/>
              </p:ext>
            </p:extLst>
          </p:nvPr>
        </p:nvGraphicFramePr>
        <p:xfrm>
          <a:off x="658368" y="1581912"/>
          <a:ext cx="10835640" cy="4480560"/>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4892040">
                  <a:extLst>
                    <a:ext uri="{9D8B030D-6E8A-4147-A177-3AD203B41FA5}">
                      <a16:colId xmlns:a16="http://schemas.microsoft.com/office/drawing/2014/main" val="20002"/>
                    </a:ext>
                  </a:extLst>
                </a:gridCol>
              </a:tblGrid>
              <a:tr h="1120140">
                <a:tc>
                  <a:txBody>
                    <a:bodyPr/>
                    <a:lstStyle/>
                    <a:p>
                      <a:pPr algn="ctr"/>
                      <a:r>
                        <a:rPr sz="2000" b="1" dirty="0" err="1">
                          <a:solidFill>
                            <a:srgbClr val="FFFFFF"/>
                          </a:solidFill>
                          <a:latin typeface="微软雅黑" panose="020B0503020204020204" pitchFamily="34" charset="-122"/>
                        </a:rPr>
                        <a:t>维度</a:t>
                      </a:r>
                      <a:endParaRPr sz="2000" b="1" dirty="0">
                        <a:solidFill>
                          <a:srgbClr val="FFFFFF"/>
                        </a:solidFill>
                        <a:latin typeface="微软雅黑" panose="020B0503020204020204" pitchFamily="34" charset="-122"/>
                      </a:endParaRPr>
                    </a:p>
                  </a:txBody>
                  <a:tcPr marL="64008" marR="64008" marT="36576" marB="36576" anchor="ctr">
                    <a:solidFill>
                      <a:srgbClr val="24477D"/>
                    </a:solidFill>
                  </a:tcPr>
                </a:tc>
                <a:tc>
                  <a:txBody>
                    <a:bodyPr/>
                    <a:lstStyle/>
                    <a:p>
                      <a:pPr algn="ctr"/>
                      <a:r>
                        <a:rPr sz="2000" b="1" dirty="0" err="1">
                          <a:solidFill>
                            <a:srgbClr val="FFFFFF"/>
                          </a:solidFill>
                          <a:latin typeface="微软雅黑" panose="020B0503020204020204" pitchFamily="34" charset="-122"/>
                        </a:rPr>
                        <a:t>大语言模型（LLM</a:t>
                      </a:r>
                      <a:r>
                        <a:rPr sz="2000" b="1" dirty="0">
                          <a:solidFill>
                            <a:srgbClr val="FFFFFF"/>
                          </a:solidFill>
                          <a:latin typeface="微软雅黑" panose="020B0503020204020204" pitchFamily="34" charset="-122"/>
                        </a:rPr>
                        <a:t>）</a:t>
                      </a:r>
                    </a:p>
                  </a:txBody>
                  <a:tcPr marL="64008" marR="64008" marT="36576" marB="36576" anchor="ctr">
                    <a:solidFill>
                      <a:srgbClr val="24477D"/>
                    </a:solidFill>
                  </a:tcPr>
                </a:tc>
                <a:tc>
                  <a:txBody>
                    <a:bodyPr/>
                    <a:lstStyle/>
                    <a:p>
                      <a:pPr algn="ctr"/>
                      <a:r>
                        <a:rPr sz="2000" b="1" dirty="0" err="1">
                          <a:solidFill>
                            <a:srgbClr val="FFFFFF"/>
                          </a:solidFill>
                          <a:latin typeface="微软雅黑" panose="020B0503020204020204" pitchFamily="34" charset="-122"/>
                        </a:rPr>
                        <a:t>语言－动作生成</a:t>
                      </a:r>
                      <a:endParaRPr sz="2000" b="1" dirty="0">
                        <a:solidFill>
                          <a:srgbClr val="FFFFFF"/>
                        </a:solidFill>
                        <a:latin typeface="微软雅黑" panose="020B0503020204020204" pitchFamily="34" charset="-122"/>
                      </a:endParaRPr>
                    </a:p>
                  </a:txBody>
                  <a:tcPr marL="64008" marR="64008" marT="36576" marB="36576" anchor="ctr">
                    <a:solidFill>
                      <a:srgbClr val="24477D"/>
                    </a:solidFill>
                  </a:tcPr>
                </a:tc>
                <a:extLst>
                  <a:ext uri="{0D108BD9-81ED-4DB2-BD59-A6C34878D82A}">
                    <a16:rowId xmlns:a16="http://schemas.microsoft.com/office/drawing/2014/main" val="10000"/>
                  </a:ext>
                </a:extLst>
              </a:tr>
              <a:tr h="1120140">
                <a:tc>
                  <a:txBody>
                    <a:bodyPr/>
                    <a:lstStyle/>
                    <a:p>
                      <a:pPr algn="ctr"/>
                      <a:r>
                        <a:rPr sz="2000">
                          <a:solidFill>
                            <a:srgbClr val="222833"/>
                          </a:solidFill>
                          <a:latin typeface="微软雅黑"/>
                        </a:rPr>
                        <a:t>适应方式</a:t>
                      </a:r>
                    </a:p>
                  </a:txBody>
                  <a:tcPr marL="64008" marR="64008" marT="36576" marB="36576" anchor="ctr">
                    <a:solidFill>
                      <a:srgbClr val="FFFFFF"/>
                    </a:solidFill>
                  </a:tcPr>
                </a:tc>
                <a:tc>
                  <a:txBody>
                    <a:bodyPr/>
                    <a:lstStyle/>
                    <a:p>
                      <a:pPr algn="ctr"/>
                      <a:r>
                        <a:rPr sz="2000" dirty="0" err="1">
                          <a:solidFill>
                            <a:srgbClr val="222833"/>
                          </a:solidFill>
                          <a:latin typeface="微软雅黑"/>
                        </a:rPr>
                        <a:t>根据输入上下文生成响应</a:t>
                      </a:r>
                      <a:endParaRPr sz="2000" dirty="0">
                        <a:solidFill>
                          <a:srgbClr val="222833"/>
                        </a:solidFill>
                        <a:latin typeface="微软雅黑"/>
                      </a:endParaRPr>
                    </a:p>
                  </a:txBody>
                  <a:tcPr marL="64008" marR="64008" marT="36576" marB="36576" anchor="ctr">
                    <a:solidFill>
                      <a:srgbClr val="FFFFFF"/>
                    </a:solidFill>
                  </a:tcPr>
                </a:tc>
                <a:tc>
                  <a:txBody>
                    <a:bodyPr/>
                    <a:lstStyle/>
                    <a:p>
                      <a:pPr algn="ctr"/>
                      <a:r>
                        <a:rPr sz="2000">
                          <a:solidFill>
                            <a:srgbClr val="222833"/>
                          </a:solidFill>
                          <a:latin typeface="微软雅黑"/>
                        </a:rPr>
                        <a:t>根据新的环境观测持续调整动作</a:t>
                      </a:r>
                    </a:p>
                  </a:txBody>
                  <a:tcPr marL="64008" marR="64008" marT="36576" marB="36576" anchor="ctr">
                    <a:solidFill>
                      <a:srgbClr val="FFFFFF"/>
                    </a:solidFill>
                  </a:tcPr>
                </a:tc>
                <a:extLst>
                  <a:ext uri="{0D108BD9-81ED-4DB2-BD59-A6C34878D82A}">
                    <a16:rowId xmlns:a16="http://schemas.microsoft.com/office/drawing/2014/main" val="10001"/>
                  </a:ext>
                </a:extLst>
              </a:tr>
              <a:tr h="1120140">
                <a:tc>
                  <a:txBody>
                    <a:bodyPr/>
                    <a:lstStyle/>
                    <a:p>
                      <a:pPr algn="ctr"/>
                      <a:r>
                        <a:rPr sz="2000">
                          <a:solidFill>
                            <a:srgbClr val="222833"/>
                          </a:solidFill>
                          <a:latin typeface="微软雅黑"/>
                        </a:rPr>
                        <a:t>主要风险</a:t>
                      </a:r>
                    </a:p>
                  </a:txBody>
                  <a:tcPr marL="64008" marR="64008" marT="36576" marB="36576" anchor="ctr">
                    <a:solidFill>
                      <a:srgbClr val="F3F6FA"/>
                    </a:solidFill>
                  </a:tcPr>
                </a:tc>
                <a:tc>
                  <a:txBody>
                    <a:bodyPr/>
                    <a:lstStyle/>
                    <a:p>
                      <a:pPr algn="ctr"/>
                      <a:r>
                        <a:rPr sz="2000" dirty="0" err="1">
                          <a:solidFill>
                            <a:srgbClr val="222833"/>
                          </a:solidFill>
                          <a:latin typeface="微软雅黑"/>
                        </a:rPr>
                        <a:t>语言幻觉、事实错误或推理错误</a:t>
                      </a:r>
                      <a:endParaRPr sz="2000" dirty="0">
                        <a:solidFill>
                          <a:srgbClr val="222833"/>
                        </a:solidFill>
                        <a:latin typeface="微软雅黑"/>
                      </a:endParaRPr>
                    </a:p>
                  </a:txBody>
                  <a:tcPr marL="64008" marR="64008" marT="36576" marB="36576" anchor="ctr">
                    <a:solidFill>
                      <a:srgbClr val="F3F6FA"/>
                    </a:solidFill>
                  </a:tcPr>
                </a:tc>
                <a:tc>
                  <a:txBody>
                    <a:bodyPr/>
                    <a:lstStyle/>
                    <a:p>
                      <a:pPr algn="ctr"/>
                      <a:r>
                        <a:rPr sz="2000">
                          <a:solidFill>
                            <a:srgbClr val="222833"/>
                          </a:solidFill>
                          <a:latin typeface="微软雅黑"/>
                        </a:rPr>
                        <a:t>动作失败、碰撞或其他物理安全问题</a:t>
                      </a:r>
                    </a:p>
                  </a:txBody>
                  <a:tcPr marL="64008" marR="64008" marT="36576" marB="36576" anchor="ctr">
                    <a:solidFill>
                      <a:srgbClr val="F3F6FA"/>
                    </a:solidFill>
                  </a:tcPr>
                </a:tc>
                <a:extLst>
                  <a:ext uri="{0D108BD9-81ED-4DB2-BD59-A6C34878D82A}">
                    <a16:rowId xmlns:a16="http://schemas.microsoft.com/office/drawing/2014/main" val="10002"/>
                  </a:ext>
                </a:extLst>
              </a:tr>
              <a:tr h="1120140">
                <a:tc>
                  <a:txBody>
                    <a:bodyPr/>
                    <a:lstStyle/>
                    <a:p>
                      <a:pPr algn="ctr"/>
                      <a:r>
                        <a:rPr sz="2000">
                          <a:solidFill>
                            <a:srgbClr val="222833"/>
                          </a:solidFill>
                          <a:latin typeface="微软雅黑"/>
                        </a:rPr>
                        <a:t>计算与部署</a:t>
                      </a:r>
                    </a:p>
                  </a:txBody>
                  <a:tcPr marL="64008" marR="64008" marT="36576" marB="36576" anchor="ctr">
                    <a:solidFill>
                      <a:srgbClr val="FFFFFF"/>
                    </a:solidFill>
                  </a:tcPr>
                </a:tc>
                <a:tc>
                  <a:txBody>
                    <a:bodyPr/>
                    <a:lstStyle/>
                    <a:p>
                      <a:pPr algn="ctr"/>
                      <a:r>
                        <a:rPr sz="2000">
                          <a:solidFill>
                            <a:srgbClr val="222833"/>
                          </a:solidFill>
                          <a:latin typeface="微软雅黑"/>
                        </a:rPr>
                        <a:t>主要取决于模型规模和推理平台</a:t>
                      </a:r>
                    </a:p>
                  </a:txBody>
                  <a:tcPr marL="64008" marR="64008" marT="36576" marB="36576" anchor="ctr">
                    <a:solidFill>
                      <a:srgbClr val="FFFFFF"/>
                    </a:solidFill>
                  </a:tcPr>
                </a:tc>
                <a:tc>
                  <a:txBody>
                    <a:bodyPr/>
                    <a:lstStyle/>
                    <a:p>
                      <a:pPr algn="ctr"/>
                      <a:r>
                        <a:rPr sz="2000" dirty="0" err="1">
                          <a:solidFill>
                            <a:srgbClr val="222833"/>
                          </a:solidFill>
                          <a:latin typeface="微软雅黑"/>
                        </a:rPr>
                        <a:t>还需要感知、控制、反馈和安全机制</a:t>
                      </a:r>
                      <a:endParaRPr sz="2000" dirty="0">
                        <a:solidFill>
                          <a:srgbClr val="222833"/>
                        </a:solidFill>
                        <a:latin typeface="微软雅黑"/>
                      </a:endParaRPr>
                    </a:p>
                  </a:txBody>
                  <a:tcPr marL="64008" marR="64008"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73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7.4.1 </a:t>
            </a:r>
            <a:r>
              <a:rPr sz="3500" b="1" i="0" dirty="0" err="1">
                <a:solidFill>
                  <a:srgbClr val="24477D"/>
                </a:solidFill>
                <a:latin typeface="微软雅黑" panose="020B0503020204020204" pitchFamily="34" charset="-122"/>
              </a:rPr>
              <a:t>语言与动作整合：核心是跨模态映射</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04672" y="1700784"/>
            <a:ext cx="10378440" cy="3128036"/>
          </a:xfrm>
          <a:prstGeom prst="rect">
            <a:avLst/>
          </a:prstGeom>
          <a:noFill/>
        </p:spPr>
        <p:txBody>
          <a:bodyPr wrap="square" lIns="18288" tIns="18288" rIns="18288" bIns="18288">
            <a:spAutoFit/>
          </a:bodyPr>
          <a:lstStyle/>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语言：符号化、抽象的任务描述</a:t>
            </a:r>
            <a:endParaRPr sz="2800" dirty="0">
              <a:solidFill>
                <a:srgbClr val="222833"/>
              </a:solidFill>
              <a:latin typeface="微软雅黑"/>
            </a:endParaRPr>
          </a:p>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动作：连续或离散的物理控制信号</a:t>
            </a:r>
            <a:endParaRPr sz="2800" dirty="0">
              <a:solidFill>
                <a:srgbClr val="222833"/>
              </a:solidFill>
              <a:latin typeface="微软雅黑"/>
            </a:endParaRPr>
          </a:p>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语言－动作模型需要融合语言指令、视觉观测和机器人状态，再生成可执行动作</a:t>
            </a:r>
            <a:endParaRPr sz="2800" dirty="0">
              <a:solidFill>
                <a:srgbClr val="222833"/>
              </a:solidFill>
              <a:latin typeface="微软雅黑"/>
            </a:endParaRPr>
          </a:p>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为了提高对齐程度，还可采用对比学习，使“语言描述”与“相应行为”的表示更加接近</a:t>
            </a:r>
            <a:endParaRPr sz="2800" dirty="0">
              <a:solidFill>
                <a:srgbClr val="222833"/>
              </a:solidFill>
              <a:latin typeface="微软雅黑"/>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74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步骤</a:t>
            </a:r>
            <a:r>
              <a:rPr sz="3500" b="1" i="0" dirty="0">
                <a:solidFill>
                  <a:srgbClr val="24477D"/>
                </a:solidFill>
                <a:latin typeface="微软雅黑" panose="020B0503020204020204" pitchFamily="34" charset="-122"/>
              </a:rPr>
              <a:t> 1：语言编码</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783080"/>
            <a:ext cx="10332720" cy="2568524"/>
          </a:xfrm>
          <a:prstGeom prst="rect">
            <a:avLst/>
          </a:prstGeom>
          <a:noFill/>
        </p:spPr>
        <p:txBody>
          <a:bodyPr wrap="square" lIns="18288" tIns="18288" rIns="18288" bIns="18288">
            <a:spAutoFit/>
          </a:bodyPr>
          <a:lstStyle/>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使用词嵌入模型、BERT</a:t>
            </a:r>
            <a:r>
              <a:rPr sz="2800" dirty="0">
                <a:solidFill>
                  <a:srgbClr val="222833"/>
                </a:solidFill>
                <a:latin typeface="微软雅黑"/>
              </a:rPr>
              <a:t> 或 LLM 的 Tokenizer </a:t>
            </a:r>
            <a:r>
              <a:rPr sz="2800" dirty="0" err="1">
                <a:solidFill>
                  <a:srgbClr val="222833"/>
                </a:solidFill>
                <a:latin typeface="微软雅黑"/>
              </a:rPr>
              <a:t>把指令</a:t>
            </a:r>
            <a:r>
              <a:rPr sz="2800" dirty="0">
                <a:solidFill>
                  <a:srgbClr val="222833"/>
                </a:solidFill>
                <a:latin typeface="微软雅黑"/>
              </a:rPr>
              <a:t> L </a:t>
            </a:r>
            <a:r>
              <a:rPr sz="2800" dirty="0" err="1">
                <a:solidFill>
                  <a:srgbClr val="222833"/>
                </a:solidFill>
                <a:latin typeface="微软雅黑"/>
              </a:rPr>
              <a:t>转成高维向量序列</a:t>
            </a:r>
            <a:endParaRPr sz="2800" dirty="0">
              <a:solidFill>
                <a:srgbClr val="222833"/>
              </a:solidFill>
              <a:latin typeface="微软雅黑"/>
            </a:endParaRPr>
          </a:p>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语言特征记为</a:t>
            </a:r>
            <a:r>
              <a:rPr sz="2800" dirty="0">
                <a:solidFill>
                  <a:srgbClr val="222833"/>
                </a:solidFill>
                <a:latin typeface="微软雅黑"/>
              </a:rPr>
              <a:t> Fₗ ∈ </a:t>
            </a:r>
            <a:r>
              <a:rPr sz="2800" dirty="0" err="1">
                <a:solidFill>
                  <a:srgbClr val="222833"/>
                </a:solidFill>
                <a:latin typeface="微软雅黑"/>
              </a:rPr>
              <a:t>Rᴺˣ</a:t>
            </a:r>
            <a:r>
              <a:rPr sz="2800" dirty="0">
                <a:solidFill>
                  <a:srgbClr val="222833"/>
                </a:solidFill>
                <a:latin typeface="微软雅黑"/>
              </a:rPr>
              <a:t>ᵈ，</a:t>
            </a:r>
            <a:r>
              <a:rPr sz="2800" dirty="0" err="1">
                <a:solidFill>
                  <a:srgbClr val="222833"/>
                </a:solidFill>
                <a:latin typeface="微软雅黑"/>
              </a:rPr>
              <a:t>其中</a:t>
            </a:r>
            <a:r>
              <a:rPr sz="2800" dirty="0">
                <a:solidFill>
                  <a:srgbClr val="222833"/>
                </a:solidFill>
                <a:latin typeface="微软雅黑"/>
              </a:rPr>
              <a:t> N </a:t>
            </a:r>
            <a:r>
              <a:rPr sz="2800" dirty="0" err="1">
                <a:solidFill>
                  <a:srgbClr val="222833"/>
                </a:solidFill>
                <a:latin typeface="微软雅黑"/>
              </a:rPr>
              <a:t>为句子长度，d</a:t>
            </a:r>
            <a:r>
              <a:rPr sz="2800" dirty="0">
                <a:solidFill>
                  <a:srgbClr val="222833"/>
                </a:solidFill>
                <a:latin typeface="微软雅黑"/>
              </a:rPr>
              <a:t> </a:t>
            </a:r>
            <a:r>
              <a:rPr sz="2800" dirty="0" err="1">
                <a:solidFill>
                  <a:srgbClr val="222833"/>
                </a:solidFill>
                <a:latin typeface="微软雅黑"/>
              </a:rPr>
              <a:t>为嵌入维度</a:t>
            </a:r>
            <a:endParaRPr sz="2800" dirty="0">
              <a:solidFill>
                <a:srgbClr val="222833"/>
              </a:solidFill>
              <a:latin typeface="微软雅黑"/>
            </a:endParaRPr>
          </a:p>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编码后的语言特征需要保留任务对象、动作动词、属性与空间关系等语义信息</a:t>
            </a:r>
            <a:endParaRPr sz="2800" dirty="0">
              <a:solidFill>
                <a:srgbClr val="222833"/>
              </a:solidFill>
              <a:latin typeface="微软雅黑"/>
            </a:endParaRPr>
          </a:p>
        </p:txBody>
      </p:sp>
      <p:sp>
        <p:nvSpPr>
          <p:cNvPr id="10" name="TextBox 9"/>
          <p:cNvSpPr txBox="1"/>
          <p:nvPr/>
        </p:nvSpPr>
        <p:spPr>
          <a:xfrm>
            <a:off x="914400" y="5285232"/>
            <a:ext cx="1014984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F8E72"/>
                </a:solidFill>
                <a:latin typeface="微软雅黑" panose="020B0503020204020204" pitchFamily="34" charset="-122"/>
              </a:rPr>
              <a:t>示例</a:t>
            </a:r>
            <a:r>
              <a:rPr sz="1900" b="1" i="0" dirty="0">
                <a:solidFill>
                  <a:srgbClr val="2F8E72"/>
                </a:solidFill>
                <a:latin typeface="微软雅黑" panose="020B0503020204020204" pitchFamily="34" charset="-122"/>
              </a:rPr>
              <a:t>：“</a:t>
            </a:r>
            <a:r>
              <a:rPr sz="1900" b="1" i="0" dirty="0" err="1">
                <a:solidFill>
                  <a:srgbClr val="2F8E72"/>
                </a:solidFill>
                <a:latin typeface="微软雅黑" panose="020B0503020204020204" pitchFamily="34" charset="-122"/>
              </a:rPr>
              <a:t>把红苹果放进篮子</a:t>
            </a:r>
            <a:r>
              <a:rPr sz="1900" b="1" i="0" dirty="0">
                <a:solidFill>
                  <a:srgbClr val="2F8E72"/>
                </a:solidFill>
                <a:latin typeface="微软雅黑" panose="020B0503020204020204" pitchFamily="34" charset="-122"/>
              </a:rPr>
              <a:t>” → </a:t>
            </a:r>
            <a:r>
              <a:rPr sz="1900" b="1" i="0" dirty="0" err="1">
                <a:solidFill>
                  <a:srgbClr val="2F8E72"/>
                </a:solidFill>
                <a:latin typeface="微软雅黑" panose="020B0503020204020204" pitchFamily="34" charset="-122"/>
              </a:rPr>
              <a:t>对象</a:t>
            </a:r>
            <a:r>
              <a:rPr sz="1900" b="1" i="0" dirty="0">
                <a:solidFill>
                  <a:srgbClr val="2F8E72"/>
                </a:solidFill>
                <a:latin typeface="微软雅黑" panose="020B0503020204020204" pitchFamily="34" charset="-122"/>
              </a:rPr>
              <a:t>=</a:t>
            </a:r>
            <a:r>
              <a:rPr sz="1900" b="1" i="0" dirty="0" err="1">
                <a:solidFill>
                  <a:srgbClr val="2F8E72"/>
                </a:solidFill>
                <a:latin typeface="微软雅黑" panose="020B0503020204020204" pitchFamily="34" charset="-122"/>
              </a:rPr>
              <a:t>红苹果，目标</a:t>
            </a:r>
            <a:r>
              <a:rPr sz="1900" b="1" i="0" dirty="0">
                <a:solidFill>
                  <a:srgbClr val="2F8E72"/>
                </a:solidFill>
                <a:latin typeface="微软雅黑" panose="020B0503020204020204" pitchFamily="34" charset="-122"/>
              </a:rPr>
              <a:t>=</a:t>
            </a:r>
            <a:r>
              <a:rPr sz="1900" b="1" i="0" dirty="0" err="1">
                <a:solidFill>
                  <a:srgbClr val="2F8E72"/>
                </a:solidFill>
                <a:latin typeface="微软雅黑" panose="020B0503020204020204" pitchFamily="34" charset="-122"/>
              </a:rPr>
              <a:t>篮子，操作</a:t>
            </a:r>
            <a:r>
              <a:rPr sz="1900" b="1" i="0" dirty="0">
                <a:solidFill>
                  <a:srgbClr val="2F8E72"/>
                </a:solidFill>
                <a:latin typeface="微软雅黑" panose="020B0503020204020204" pitchFamily="34" charset="-122"/>
              </a:rPr>
              <a:t>=</a:t>
            </a:r>
            <a:r>
              <a:rPr sz="1900" b="1" i="0" dirty="0" err="1">
                <a:solidFill>
                  <a:srgbClr val="2F8E72"/>
                </a:solidFill>
                <a:latin typeface="微软雅黑" panose="020B0503020204020204" pitchFamily="34" charset="-122"/>
              </a:rPr>
              <a:t>抓取并放置</a:t>
            </a:r>
            <a:r>
              <a:rPr sz="1900" b="1" i="0" dirty="0">
                <a:solidFill>
                  <a:srgbClr val="2F8E72"/>
                </a:solidFill>
                <a:latin typeface="微软雅黑" panose="020B0503020204020204" pitchFamily="34" charset="-122"/>
              </a:rPr>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75</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步骤</a:t>
            </a:r>
            <a:r>
              <a:rPr sz="3500" b="1" i="0" dirty="0">
                <a:solidFill>
                  <a:srgbClr val="24477D"/>
                </a:solidFill>
                <a:latin typeface="微软雅黑" panose="020B0503020204020204" pitchFamily="34" charset="-122"/>
              </a:rPr>
              <a:t> 2：动作表示</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664208"/>
            <a:ext cx="5166360" cy="4160520"/>
          </a:xfrm>
          <a:prstGeom prst="roundRect">
            <a:avLst>
              <a:gd name="adj" fmla="val 55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49808" y="1664208"/>
            <a:ext cx="64008" cy="41605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60120" y="1810512"/>
            <a:ext cx="478231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离散动作词元</a:t>
            </a:r>
            <a:endParaRPr sz="2000" b="1" i="0" dirty="0">
              <a:solidFill>
                <a:srgbClr val="31599B"/>
              </a:solidFill>
              <a:latin typeface="微软雅黑" panose="020B0503020204020204" pitchFamily="34" charset="-122"/>
            </a:endParaRPr>
          </a:p>
        </p:txBody>
      </p:sp>
      <p:sp>
        <p:nvSpPr>
          <p:cNvPr id="12" name="TextBox 11"/>
          <p:cNvSpPr txBox="1"/>
          <p:nvPr/>
        </p:nvSpPr>
        <p:spPr>
          <a:xfrm>
            <a:off x="960120" y="2322576"/>
            <a:ext cx="4782312" cy="335584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把“抓取”“抬起”“放置”等动作表示为离散 token。</a:t>
            </a:r>
          </a:p>
          <a:p>
            <a:pPr algn="l">
              <a:lnSpc>
                <a:spcPct val="108000"/>
              </a:lnSpc>
            </a:pPr>
            <a:endParaRPr sz="2000" b="0" i="0">
              <a:solidFill>
                <a:srgbClr val="222833"/>
              </a:solidFill>
              <a:latin typeface="微软雅黑"/>
            </a:endParaRPr>
          </a:p>
          <a:p>
            <a:pPr algn="l">
              <a:lnSpc>
                <a:spcPct val="108000"/>
              </a:lnSpc>
            </a:pPr>
            <a:r>
              <a:rPr sz="2000" b="0" i="0">
                <a:solidFill>
                  <a:srgbClr val="222833"/>
                </a:solidFill>
                <a:latin typeface="微软雅黑"/>
              </a:rPr>
              <a:t>便于与语言模型的序列生成机制统一。</a:t>
            </a:r>
          </a:p>
        </p:txBody>
      </p:sp>
      <p:sp>
        <p:nvSpPr>
          <p:cNvPr id="13" name="Rounded Rectangle 12"/>
          <p:cNvSpPr/>
          <p:nvPr/>
        </p:nvSpPr>
        <p:spPr>
          <a:xfrm>
            <a:off x="6263640" y="1664208"/>
            <a:ext cx="5166360" cy="4160520"/>
          </a:xfrm>
          <a:prstGeom prst="roundRect">
            <a:avLst>
              <a:gd name="adj" fmla="val 2259"/>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263640" y="1664208"/>
            <a:ext cx="64008" cy="41605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473952" y="1810512"/>
            <a:ext cx="478231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连续动作向量</a:t>
            </a:r>
            <a:endParaRPr sz="2000" b="1" i="0" dirty="0">
              <a:solidFill>
                <a:srgbClr val="2F8E72"/>
              </a:solidFill>
              <a:latin typeface="微软雅黑" panose="020B0503020204020204" pitchFamily="34" charset="-122"/>
            </a:endParaRPr>
          </a:p>
        </p:txBody>
      </p:sp>
      <p:sp>
        <p:nvSpPr>
          <p:cNvPr id="16" name="TextBox 15"/>
          <p:cNvSpPr txBox="1"/>
          <p:nvPr/>
        </p:nvSpPr>
        <p:spPr>
          <a:xfrm>
            <a:off x="6473952" y="2322576"/>
            <a:ext cx="4782312" cy="335584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直接输出关节位置、关节速度、末端位姿等连续控制量。</a:t>
            </a:r>
          </a:p>
          <a:p>
            <a:pPr algn="l">
              <a:lnSpc>
                <a:spcPct val="108000"/>
              </a:lnSpc>
            </a:pPr>
            <a:endParaRPr sz="2000" b="0" i="0">
              <a:solidFill>
                <a:srgbClr val="222833"/>
              </a:solidFill>
              <a:latin typeface="微软雅黑"/>
            </a:endParaRPr>
          </a:p>
          <a:p>
            <a:pPr algn="l">
              <a:lnSpc>
                <a:spcPct val="108000"/>
              </a:lnSpc>
            </a:pPr>
            <a:r>
              <a:rPr sz="2000" b="0" i="0">
                <a:solidFill>
                  <a:srgbClr val="222833"/>
                </a:solidFill>
                <a:latin typeface="微软雅黑"/>
              </a:rPr>
              <a:t>更接近真实机器人底层控制。</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76</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步骤</a:t>
            </a:r>
            <a:r>
              <a:rPr sz="3500" b="1" i="0" dirty="0">
                <a:solidFill>
                  <a:srgbClr val="24477D"/>
                </a:solidFill>
                <a:latin typeface="微软雅黑" panose="020B0503020204020204" pitchFamily="34" charset="-122"/>
              </a:rPr>
              <a:t> 3：条件融合</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658368" y="1783080"/>
            <a:ext cx="3246120" cy="3429000"/>
          </a:xfrm>
          <a:prstGeom prst="roundRect">
            <a:avLst>
              <a:gd name="adj" fmla="val 430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658368" y="1783080"/>
            <a:ext cx="64008" cy="3429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68680" y="1929384"/>
            <a:ext cx="2862072" cy="339837"/>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语言特征</a:t>
            </a:r>
            <a:r>
              <a:rPr sz="2000" b="1" i="0" dirty="0">
                <a:solidFill>
                  <a:srgbClr val="31599B"/>
                </a:solidFill>
                <a:latin typeface="微软雅黑" panose="020B0503020204020204" pitchFamily="34" charset="-122"/>
              </a:rPr>
              <a:t> Fₗ</a:t>
            </a:r>
          </a:p>
        </p:txBody>
      </p:sp>
      <p:sp>
        <p:nvSpPr>
          <p:cNvPr id="12" name="TextBox 11"/>
          <p:cNvSpPr txBox="1"/>
          <p:nvPr/>
        </p:nvSpPr>
        <p:spPr>
          <a:xfrm>
            <a:off x="868680" y="2441448"/>
            <a:ext cx="2862072" cy="262432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说明“要做什么”。</a:t>
            </a:r>
          </a:p>
        </p:txBody>
      </p:sp>
      <p:sp>
        <p:nvSpPr>
          <p:cNvPr id="13" name="Rounded Rectangle 12"/>
          <p:cNvSpPr/>
          <p:nvPr/>
        </p:nvSpPr>
        <p:spPr>
          <a:xfrm>
            <a:off x="4160520" y="1783080"/>
            <a:ext cx="3246120" cy="3429000"/>
          </a:xfrm>
          <a:prstGeom prst="roundRect">
            <a:avLst>
              <a:gd name="adj" fmla="val 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783080"/>
            <a:ext cx="64008" cy="34290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929384"/>
            <a:ext cx="2862072" cy="339837"/>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视觉特征</a:t>
            </a:r>
            <a:r>
              <a:rPr sz="2000" b="1" i="0" dirty="0">
                <a:solidFill>
                  <a:srgbClr val="2F8E72"/>
                </a:solidFill>
                <a:latin typeface="微软雅黑" panose="020B0503020204020204" pitchFamily="34" charset="-122"/>
              </a:rPr>
              <a:t> Fᵥ</a:t>
            </a:r>
          </a:p>
        </p:txBody>
      </p:sp>
      <p:sp>
        <p:nvSpPr>
          <p:cNvPr id="16" name="TextBox 15"/>
          <p:cNvSpPr txBox="1"/>
          <p:nvPr/>
        </p:nvSpPr>
        <p:spPr>
          <a:xfrm>
            <a:off x="4370832" y="2441448"/>
            <a:ext cx="2862072" cy="262432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说明“当前场景是什么样”。</a:t>
            </a:r>
          </a:p>
        </p:txBody>
      </p:sp>
      <p:sp>
        <p:nvSpPr>
          <p:cNvPr id="17" name="Rounded Rectangle 16"/>
          <p:cNvSpPr/>
          <p:nvPr/>
        </p:nvSpPr>
        <p:spPr>
          <a:xfrm>
            <a:off x="7662672" y="1783080"/>
            <a:ext cx="3246120" cy="3429000"/>
          </a:xfrm>
          <a:prstGeom prst="roundRect">
            <a:avLst>
              <a:gd name="adj" fmla="val 195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62672" y="1783080"/>
            <a:ext cx="64008" cy="34290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72984" y="1929384"/>
            <a:ext cx="2862072" cy="339837"/>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机器人状态</a:t>
            </a:r>
            <a:r>
              <a:rPr sz="2000" b="1" i="0" dirty="0">
                <a:solidFill>
                  <a:srgbClr val="C58A24"/>
                </a:solidFill>
                <a:latin typeface="微软雅黑" panose="020B0503020204020204" pitchFamily="34" charset="-122"/>
              </a:rPr>
              <a:t> sₜ</a:t>
            </a:r>
          </a:p>
        </p:txBody>
      </p:sp>
      <p:sp>
        <p:nvSpPr>
          <p:cNvPr id="20" name="TextBox 19"/>
          <p:cNvSpPr txBox="1"/>
          <p:nvPr/>
        </p:nvSpPr>
        <p:spPr>
          <a:xfrm>
            <a:off x="7872984" y="2441448"/>
            <a:ext cx="2862072" cy="262432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说明“当前本体处于什么状态”。</a:t>
            </a:r>
          </a:p>
        </p:txBody>
      </p:sp>
      <p:sp>
        <p:nvSpPr>
          <p:cNvPr id="21" name="TextBox 20"/>
          <p:cNvSpPr txBox="1"/>
          <p:nvPr/>
        </p:nvSpPr>
        <p:spPr>
          <a:xfrm>
            <a:off x="822960" y="5440680"/>
            <a:ext cx="1024128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特征拼接、交叉注意力与对比学习共同完成跨模态对齐</a:t>
            </a:r>
            <a:r>
              <a:rPr sz="1900" b="1" i="0" dirty="0">
                <a:solidFill>
                  <a:srgbClr val="24477D"/>
                </a:solidFill>
                <a:latin typeface="微软雅黑" panose="020B0503020204020204" pitchFamily="34" charset="-122"/>
              </a:rPr>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ea typeface="微软雅黑" panose="020B0503020204020204" pitchFamily="34" charset="-122"/>
              </a:rPr>
              <a:t>具身智能导论</a:t>
            </a:r>
            <a:r>
              <a:rPr sz="1000" b="0" i="0" dirty="0">
                <a:solidFill>
                  <a:srgbClr val="8C98AA"/>
                </a:solidFill>
                <a:latin typeface="微软雅黑" panose="020B0503020204020204" pitchFamily="34" charset="-122"/>
                <a:ea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ea typeface="微软雅黑" panose="020B0503020204020204" pitchFamily="34" charset="-122"/>
              </a:rPr>
              <a:t>视觉－语言－动作模型</a:t>
            </a:r>
            <a:endParaRPr sz="1000" b="0" i="0" dirty="0">
              <a:solidFill>
                <a:srgbClr val="8C98AA"/>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ea typeface="微软雅黑" panose="020B0503020204020204" pitchFamily="34" charset="-122"/>
              </a:rPr>
              <a:t>77</a:t>
            </a:r>
          </a:p>
        </p:txBody>
      </p:sp>
      <p:sp>
        <p:nvSpPr>
          <p:cNvPr id="7" name="TextBox 6"/>
          <p:cNvSpPr txBox="1"/>
          <p:nvPr/>
        </p:nvSpPr>
        <p:spPr>
          <a:xfrm>
            <a:off x="502920" y="515586"/>
            <a:ext cx="10927080" cy="57817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ea typeface="微软雅黑" panose="020B0503020204020204" pitchFamily="34" charset="-122"/>
              </a:rPr>
              <a:t>语言条件下的动作</a:t>
            </a:r>
            <a:r>
              <a:rPr lang="zh-CN" altLang="en-US" sz="3500" b="1" i="0" dirty="0">
                <a:solidFill>
                  <a:srgbClr val="24477D"/>
                </a:solidFill>
                <a:latin typeface="微软雅黑" panose="020B0503020204020204" pitchFamily="34" charset="-122"/>
                <a:ea typeface="微软雅黑" panose="020B0503020204020204" pitchFamily="34" charset="-122"/>
              </a:rPr>
              <a:t>生成策略</a:t>
            </a:r>
            <a:endParaRPr sz="3500" b="1" i="0" dirty="0">
              <a:solidFill>
                <a:srgbClr val="24477D"/>
              </a:solidFill>
              <a:latin typeface="微软雅黑" panose="020B0503020204020204" pitchFamily="34" charset="-122"/>
              <a:ea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2" name="Rounded Rectangle 11"/>
          <p:cNvSpPr/>
          <p:nvPr/>
        </p:nvSpPr>
        <p:spPr>
          <a:xfrm>
            <a:off x="960120" y="3429000"/>
            <a:ext cx="10287000" cy="1377188"/>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3" name="TextBox 12"/>
          <p:cNvSpPr txBox="1"/>
          <p:nvPr/>
        </p:nvSpPr>
        <p:spPr>
          <a:xfrm>
            <a:off x="1234440" y="3703320"/>
            <a:ext cx="9738360" cy="833433"/>
          </a:xfrm>
          <a:prstGeom prst="rect">
            <a:avLst/>
          </a:prstGeom>
          <a:noFill/>
        </p:spPr>
        <p:txBody>
          <a:bodyPr wrap="square" lIns="18288" tIns="18288" rIns="18288" bIns="18288" anchor="t">
            <a:spAutoFit/>
          </a:bodyPr>
          <a:lstStyle/>
          <a:p>
            <a:pPr algn="l">
              <a:lnSpc>
                <a:spcPct val="112000"/>
              </a:lnSpc>
            </a:pPr>
            <a:r>
              <a:rPr sz="2400" b="0" i="0" dirty="0" err="1">
                <a:solidFill>
                  <a:srgbClr val="222833"/>
                </a:solidFill>
                <a:latin typeface="微软雅黑" panose="020B0503020204020204" pitchFamily="34" charset="-122"/>
                <a:ea typeface="微软雅黑" panose="020B0503020204020204" pitchFamily="34" charset="-122"/>
              </a:rPr>
              <a:t>给定语言指令</a:t>
            </a:r>
            <a:r>
              <a:rPr sz="2400" b="0" i="0" dirty="0">
                <a:solidFill>
                  <a:srgbClr val="222833"/>
                </a:solidFill>
                <a:latin typeface="微软雅黑" panose="020B0503020204020204" pitchFamily="34" charset="-122"/>
                <a:ea typeface="微软雅黑" panose="020B0503020204020204" pitchFamily="34" charset="-122"/>
              </a:rPr>
              <a:t> </a:t>
            </a:r>
            <a:r>
              <a:rPr sz="2400" b="0" i="0" dirty="0" err="1">
                <a:solidFill>
                  <a:srgbClr val="222833"/>
                </a:solidFill>
                <a:latin typeface="微软雅黑" panose="020B0503020204020204" pitchFamily="34" charset="-122"/>
                <a:ea typeface="微软雅黑" panose="020B0503020204020204" pitchFamily="34" charset="-122"/>
              </a:rPr>
              <a:t>L、截至当前的观测</a:t>
            </a:r>
            <a:r>
              <a:rPr sz="2400" b="0" i="0" dirty="0">
                <a:solidFill>
                  <a:srgbClr val="222833"/>
                </a:solidFill>
                <a:latin typeface="微软雅黑" panose="020B0503020204020204" pitchFamily="34" charset="-122"/>
                <a:ea typeface="微软雅黑" panose="020B0503020204020204" pitchFamily="34" charset="-122"/>
              </a:rPr>
              <a:t> o≤ₜ </a:t>
            </a:r>
            <a:r>
              <a:rPr sz="2400" b="0" i="0" dirty="0" err="1">
                <a:solidFill>
                  <a:srgbClr val="222833"/>
                </a:solidFill>
                <a:latin typeface="微软雅黑" panose="020B0503020204020204" pitchFamily="34" charset="-122"/>
                <a:ea typeface="微软雅黑" panose="020B0503020204020204" pitchFamily="34" charset="-122"/>
              </a:rPr>
              <a:t>和机器人状态</a:t>
            </a:r>
            <a:r>
              <a:rPr sz="2400" b="0" i="0" dirty="0">
                <a:solidFill>
                  <a:srgbClr val="222833"/>
                </a:solidFill>
                <a:latin typeface="微软雅黑" panose="020B0503020204020204" pitchFamily="34" charset="-122"/>
                <a:ea typeface="微软雅黑" panose="020B0503020204020204" pitchFamily="34" charset="-122"/>
              </a:rPr>
              <a:t> sₜ，</a:t>
            </a:r>
            <a:r>
              <a:rPr sz="2400" b="0" i="0" dirty="0" err="1">
                <a:solidFill>
                  <a:srgbClr val="222833"/>
                </a:solidFill>
                <a:latin typeface="微软雅黑" panose="020B0503020204020204" pitchFamily="34" charset="-122"/>
                <a:ea typeface="微软雅黑" panose="020B0503020204020204" pitchFamily="34" charset="-122"/>
              </a:rPr>
              <a:t>策略</a:t>
            </a:r>
            <a:r>
              <a:rPr sz="2400" b="0" i="0" dirty="0">
                <a:solidFill>
                  <a:srgbClr val="222833"/>
                </a:solidFill>
                <a:latin typeface="微软雅黑" panose="020B0503020204020204" pitchFamily="34" charset="-122"/>
                <a:ea typeface="微软雅黑" panose="020B0503020204020204" pitchFamily="34" charset="-122"/>
              </a:rPr>
              <a:t> πθ </a:t>
            </a:r>
            <a:r>
              <a:rPr sz="2400" b="0" i="0" dirty="0" err="1">
                <a:solidFill>
                  <a:srgbClr val="222833"/>
                </a:solidFill>
                <a:latin typeface="微软雅黑" panose="020B0503020204020204" pitchFamily="34" charset="-122"/>
                <a:ea typeface="微软雅黑" panose="020B0503020204020204" pitchFamily="34" charset="-122"/>
              </a:rPr>
              <a:t>预测当前动作</a:t>
            </a:r>
            <a:r>
              <a:rPr sz="2400" b="0" i="0" dirty="0">
                <a:solidFill>
                  <a:srgbClr val="222833"/>
                </a:solidFill>
                <a:latin typeface="微软雅黑" panose="020B0503020204020204" pitchFamily="34" charset="-122"/>
                <a:ea typeface="微软雅黑" panose="020B0503020204020204" pitchFamily="34" charset="-122"/>
              </a:rPr>
              <a:t> aₜ。</a:t>
            </a:r>
            <a:r>
              <a:rPr sz="2400" b="0" i="0" dirty="0" err="1">
                <a:solidFill>
                  <a:srgbClr val="222833"/>
                </a:solidFill>
                <a:latin typeface="微软雅黑" panose="020B0503020204020204" pitchFamily="34" charset="-122"/>
                <a:ea typeface="微软雅黑" panose="020B0503020204020204" pitchFamily="34" charset="-122"/>
              </a:rPr>
              <a:t>目标是提高正确动作序列在给定指令下的似然</a:t>
            </a:r>
            <a:r>
              <a:rPr sz="2400" b="0" i="0" dirty="0">
                <a:solidFill>
                  <a:srgbClr val="222833"/>
                </a:solidFill>
                <a:latin typeface="微软雅黑" panose="020B0503020204020204" pitchFamily="34" charset="-122"/>
                <a:ea typeface="微软雅黑" panose="020B0503020204020204" pitchFamily="34" charset="-122"/>
              </a:rPr>
              <a:t>。</a:t>
            </a:r>
          </a:p>
        </p:txBody>
      </p:sp>
      <p:pic>
        <p:nvPicPr>
          <p:cNvPr id="15" name="图片 14">
            <a:extLst>
              <a:ext uri="{FF2B5EF4-FFF2-40B4-BE49-F238E27FC236}">
                <a16:creationId xmlns:a16="http://schemas.microsoft.com/office/drawing/2014/main" id="{ED5B2FCB-FAF0-5A1D-5358-25E50EB74A37}"/>
              </a:ext>
            </a:extLst>
          </p:cNvPr>
          <p:cNvPicPr>
            <a:picLocks noChangeAspect="1"/>
          </p:cNvPicPr>
          <p:nvPr/>
        </p:nvPicPr>
        <p:blipFill>
          <a:blip r:embed="rId2"/>
          <a:stretch>
            <a:fillRect/>
          </a:stretch>
        </p:blipFill>
        <p:spPr>
          <a:xfrm>
            <a:off x="3591228" y="1926775"/>
            <a:ext cx="4857143" cy="933333"/>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78</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7.4.2 </a:t>
            </a:r>
            <a:r>
              <a:rPr sz="3500" b="1" i="0" dirty="0" err="1">
                <a:solidFill>
                  <a:srgbClr val="24477D"/>
                </a:solidFill>
                <a:latin typeface="微软雅黑" panose="020B0503020204020204" pitchFamily="34" charset="-122"/>
              </a:rPr>
              <a:t>典型架构：编码器－解码器</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804672" y="1828800"/>
            <a:ext cx="3246120" cy="3337560"/>
          </a:xfrm>
          <a:prstGeom prst="roundRect">
            <a:avLst>
              <a:gd name="adj" fmla="val 705"/>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04672" y="1828800"/>
            <a:ext cx="64008" cy="33375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14984" y="1975104"/>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语言输入</a:t>
            </a:r>
            <a:endParaRPr sz="2000" b="1" i="0" dirty="0">
              <a:solidFill>
                <a:srgbClr val="31599B"/>
              </a:solidFill>
              <a:latin typeface="微软雅黑" panose="020B0503020204020204" pitchFamily="34" charset="-122"/>
            </a:endParaRPr>
          </a:p>
        </p:txBody>
      </p:sp>
      <p:sp>
        <p:nvSpPr>
          <p:cNvPr id="12" name="TextBox 11"/>
          <p:cNvSpPr txBox="1"/>
          <p:nvPr/>
        </p:nvSpPr>
        <p:spPr>
          <a:xfrm>
            <a:off x="1014984" y="2487168"/>
            <a:ext cx="2862072" cy="1012072"/>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自然语言指令进入 Transformer / LLM 编码器。</a:t>
            </a:r>
          </a:p>
        </p:txBody>
      </p:sp>
      <p:sp>
        <p:nvSpPr>
          <p:cNvPr id="13" name="Rounded Rectangle 12"/>
          <p:cNvSpPr/>
          <p:nvPr/>
        </p:nvSpPr>
        <p:spPr>
          <a:xfrm>
            <a:off x="4416552" y="1828800"/>
            <a:ext cx="3246120" cy="3337560"/>
          </a:xfrm>
          <a:prstGeom prst="roundRect">
            <a:avLst>
              <a:gd name="adj" fmla="val 320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416552" y="1828800"/>
            <a:ext cx="64008" cy="33375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626864" y="1975104"/>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上下文表示</a:t>
            </a:r>
            <a:endParaRPr sz="2000" b="1" i="0" dirty="0">
              <a:solidFill>
                <a:srgbClr val="2F8E72"/>
              </a:solidFill>
              <a:latin typeface="微软雅黑" panose="020B0503020204020204" pitchFamily="34" charset="-122"/>
            </a:endParaRPr>
          </a:p>
        </p:txBody>
      </p:sp>
      <p:sp>
        <p:nvSpPr>
          <p:cNvPr id="16" name="TextBox 15"/>
          <p:cNvSpPr txBox="1"/>
          <p:nvPr/>
        </p:nvSpPr>
        <p:spPr>
          <a:xfrm>
            <a:off x="4626864" y="2487168"/>
            <a:ext cx="2862072" cy="1012072"/>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融合语言、观测和机器人状态，形成联合特征 hₜ。</a:t>
            </a:r>
          </a:p>
        </p:txBody>
      </p:sp>
      <p:sp>
        <p:nvSpPr>
          <p:cNvPr id="17" name="Rounded Rectangle 16"/>
          <p:cNvSpPr/>
          <p:nvPr/>
        </p:nvSpPr>
        <p:spPr>
          <a:xfrm>
            <a:off x="8028432" y="1828800"/>
            <a:ext cx="3246120" cy="3337560"/>
          </a:xfrm>
          <a:prstGeom prst="roundRect">
            <a:avLst>
              <a:gd name="adj" fmla="val 180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8028432" y="1828800"/>
            <a:ext cx="64008" cy="333756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8238744" y="1975104"/>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动作解码器</a:t>
            </a:r>
            <a:endParaRPr sz="2000" b="1" i="0" dirty="0">
              <a:solidFill>
                <a:srgbClr val="C58A24"/>
              </a:solidFill>
              <a:latin typeface="微软雅黑" panose="020B0503020204020204" pitchFamily="34" charset="-122"/>
            </a:endParaRPr>
          </a:p>
        </p:txBody>
      </p:sp>
      <p:sp>
        <p:nvSpPr>
          <p:cNvPr id="20" name="TextBox 19"/>
          <p:cNvSpPr txBox="1"/>
          <p:nvPr/>
        </p:nvSpPr>
        <p:spPr>
          <a:xfrm>
            <a:off x="8238744" y="2487168"/>
            <a:ext cx="2862072" cy="679673"/>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RNN 或 Transformer 解码器按序生成动作。</a:t>
            </a:r>
          </a:p>
        </p:txBody>
      </p:sp>
      <p:sp>
        <p:nvSpPr>
          <p:cNvPr id="21" name="TextBox 20"/>
          <p:cNvSpPr txBox="1"/>
          <p:nvPr/>
        </p:nvSpPr>
        <p:spPr>
          <a:xfrm>
            <a:off x="914400" y="5440680"/>
            <a:ext cx="1005840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结构类似机器翻译：把“语言序列”翻译为“动作序列</a:t>
            </a:r>
            <a:r>
              <a:rPr sz="1900" b="1" i="0" dirty="0">
                <a:solidFill>
                  <a:srgbClr val="24477D"/>
                </a:solidFill>
                <a:latin typeface="微软雅黑" panose="020B0503020204020204" pitchFamily="34" charset="-122"/>
              </a:rPr>
              <a: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79</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语言－动作生成典型架构</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648540" y="5609723"/>
            <a:ext cx="672084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667085"/>
                </a:solidFill>
                <a:latin typeface="微软雅黑" panose="020B0503020204020204" pitchFamily="34" charset="-122"/>
              </a:rPr>
              <a:t>语言－动作生成典型架构</a:t>
            </a:r>
            <a:endParaRPr sz="1300" b="1" i="0" dirty="0">
              <a:solidFill>
                <a:srgbClr val="667085"/>
              </a:solidFill>
              <a:latin typeface="微软雅黑" panose="020B0503020204020204" pitchFamily="34" charset="-122"/>
            </a:endParaRPr>
          </a:p>
        </p:txBody>
      </p:sp>
      <p:sp>
        <p:nvSpPr>
          <p:cNvPr id="11" name="Rounded Rectangle 10"/>
          <p:cNvSpPr/>
          <p:nvPr/>
        </p:nvSpPr>
        <p:spPr>
          <a:xfrm>
            <a:off x="7699248" y="1691640"/>
            <a:ext cx="3657600" cy="4023360"/>
          </a:xfrm>
          <a:prstGeom prst="roundRect">
            <a:avLst>
              <a:gd name="adj" fmla="val 83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ectangle 11"/>
          <p:cNvSpPr/>
          <p:nvPr/>
        </p:nvSpPr>
        <p:spPr>
          <a:xfrm>
            <a:off x="7699248" y="1691640"/>
            <a:ext cx="64008" cy="40233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7909560" y="2350008"/>
            <a:ext cx="3273552" cy="1606017"/>
          </a:xfrm>
          <a:prstGeom prst="rect">
            <a:avLst/>
          </a:prstGeom>
          <a:noFill/>
        </p:spPr>
        <p:txBody>
          <a:bodyPr wrap="square" lIns="18288" tIns="18288" rIns="18288" bIns="18288" anchor="t">
            <a:spAutoFit/>
          </a:bodyPr>
          <a:lstStyle/>
          <a:p>
            <a:pPr algn="l">
              <a:lnSpc>
                <a:spcPct val="108000"/>
              </a:lnSpc>
            </a:pPr>
            <a:r>
              <a:rPr sz="2400" b="0" i="0" dirty="0" err="1">
                <a:solidFill>
                  <a:srgbClr val="222833"/>
                </a:solidFill>
                <a:latin typeface="微软雅黑"/>
              </a:rPr>
              <a:t>编码器把输入层与上下文序列处理为高层表示；解码器结合环境反馈，持续生成执行层动作</a:t>
            </a:r>
            <a:endParaRPr sz="2400" b="0" i="0" dirty="0">
              <a:solidFill>
                <a:srgbClr val="222833"/>
              </a:solidFill>
              <a:latin typeface="微软雅黑"/>
            </a:endParaRPr>
          </a:p>
        </p:txBody>
      </p:sp>
      <p:pic>
        <p:nvPicPr>
          <p:cNvPr id="15" name="图片 14">
            <a:extLst>
              <a:ext uri="{FF2B5EF4-FFF2-40B4-BE49-F238E27FC236}">
                <a16:creationId xmlns:a16="http://schemas.microsoft.com/office/drawing/2014/main" id="{1888B15F-5209-65FA-9D4A-E191E59B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9803" y="2128408"/>
            <a:ext cx="6459577" cy="337628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80</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Seq2Seq：联合特征与动作解码</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ounded Rectangle 11"/>
          <p:cNvSpPr/>
          <p:nvPr/>
        </p:nvSpPr>
        <p:spPr>
          <a:xfrm>
            <a:off x="952500" y="3481086"/>
            <a:ext cx="10287000" cy="1211522"/>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1234440" y="3703320"/>
            <a:ext cx="9738360" cy="834074"/>
          </a:xfrm>
          <a:prstGeom prst="rect">
            <a:avLst/>
          </a:prstGeom>
          <a:noFill/>
        </p:spPr>
        <p:txBody>
          <a:bodyPr wrap="square" lIns="18288" tIns="18288" rIns="18288" bIns="18288" anchor="t">
            <a:spAutoFit/>
          </a:bodyPr>
          <a:lstStyle/>
          <a:p>
            <a:pPr algn="l">
              <a:lnSpc>
                <a:spcPct val="112000"/>
              </a:lnSpc>
            </a:pPr>
            <a:r>
              <a:rPr sz="2400" b="0" i="0" dirty="0">
                <a:solidFill>
                  <a:srgbClr val="222833"/>
                </a:solidFill>
                <a:latin typeface="微软雅黑"/>
              </a:rPr>
              <a:t>hₜ </a:t>
            </a:r>
            <a:r>
              <a:rPr sz="2400" b="0" i="0" dirty="0" err="1">
                <a:solidFill>
                  <a:srgbClr val="222833"/>
                </a:solidFill>
                <a:latin typeface="微软雅黑"/>
              </a:rPr>
              <a:t>融合语言、视觉观测与机器人状态；a</a:t>
            </a:r>
            <a:r>
              <a:rPr sz="2400" b="0" i="0" dirty="0">
                <a:solidFill>
                  <a:srgbClr val="222833"/>
                </a:solidFill>
                <a:latin typeface="微软雅黑"/>
              </a:rPr>
              <a:t>&lt;ₜ </a:t>
            </a:r>
            <a:r>
              <a:rPr sz="2400" b="0" i="0" dirty="0" err="1">
                <a:solidFill>
                  <a:srgbClr val="222833"/>
                </a:solidFill>
                <a:latin typeface="微软雅黑"/>
              </a:rPr>
              <a:t>表示此前已经生成或执行的动作。解码器据此生成下一动作</a:t>
            </a:r>
            <a:endParaRPr sz="2400" b="0" i="0" dirty="0">
              <a:solidFill>
                <a:srgbClr val="222833"/>
              </a:solidFill>
              <a:latin typeface="微软雅黑"/>
            </a:endParaRPr>
          </a:p>
        </p:txBody>
      </p:sp>
      <p:pic>
        <p:nvPicPr>
          <p:cNvPr id="15" name="图片 14">
            <a:extLst>
              <a:ext uri="{FF2B5EF4-FFF2-40B4-BE49-F238E27FC236}">
                <a16:creationId xmlns:a16="http://schemas.microsoft.com/office/drawing/2014/main" id="{13F2EFAA-03FC-D6B2-79A0-D90F594932B6}"/>
              </a:ext>
            </a:extLst>
          </p:cNvPr>
          <p:cNvPicPr>
            <a:picLocks noChangeAspect="1"/>
          </p:cNvPicPr>
          <p:nvPr/>
        </p:nvPicPr>
        <p:blipFill>
          <a:blip r:embed="rId2"/>
          <a:stretch>
            <a:fillRect/>
          </a:stretch>
        </p:blipFill>
        <p:spPr>
          <a:xfrm>
            <a:off x="1818714" y="2571856"/>
            <a:ext cx="8380952" cy="571429"/>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81</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语言－动作模型：以预训练</a:t>
            </a:r>
            <a:r>
              <a:rPr sz="3500" b="1" i="0" dirty="0">
                <a:solidFill>
                  <a:srgbClr val="24477D"/>
                </a:solidFill>
                <a:latin typeface="微软雅黑" panose="020B0503020204020204" pitchFamily="34" charset="-122"/>
              </a:rPr>
              <a:t> LLM </a:t>
            </a:r>
            <a:r>
              <a:rPr sz="3500" b="1" i="0" dirty="0" err="1">
                <a:solidFill>
                  <a:srgbClr val="24477D"/>
                </a:solidFill>
                <a:latin typeface="微软雅黑" panose="020B0503020204020204" pitchFamily="34" charset="-122"/>
              </a:rPr>
              <a:t>为骨干</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783080"/>
            <a:ext cx="10332720" cy="3051092"/>
          </a:xfrm>
          <a:prstGeom prst="rect">
            <a:avLst/>
          </a:prstGeom>
          <a:noFill/>
        </p:spPr>
        <p:txBody>
          <a:bodyPr wrap="square" lIns="18288" tIns="18288" rIns="18288" bIns="18288">
            <a:spAutoFit/>
          </a:bodyPr>
          <a:lstStyle/>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预训练</a:t>
            </a:r>
            <a:r>
              <a:rPr sz="2800" dirty="0">
                <a:solidFill>
                  <a:srgbClr val="222833"/>
                </a:solidFill>
                <a:latin typeface="微软雅黑"/>
              </a:rPr>
              <a:t> LLM </a:t>
            </a:r>
            <a:r>
              <a:rPr sz="2800" dirty="0" err="1">
                <a:solidFill>
                  <a:srgbClr val="222833"/>
                </a:solidFill>
                <a:latin typeface="微软雅黑"/>
              </a:rPr>
              <a:t>已具备丰富语言语义与常识表示，可作为高层语言编码骨干</a:t>
            </a:r>
            <a:endParaRPr sz="2800" dirty="0">
              <a:solidFill>
                <a:srgbClr val="222833"/>
              </a:solidFill>
              <a:latin typeface="微软雅黑"/>
            </a:endParaRPr>
          </a:p>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只需要较少机器人演示数据进行任务适配，就能显著提升新指令的泛化能力</a:t>
            </a:r>
            <a:endParaRPr sz="2800" dirty="0">
              <a:solidFill>
                <a:srgbClr val="222833"/>
              </a:solidFill>
              <a:latin typeface="微软雅黑"/>
            </a:endParaRPr>
          </a:p>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这种路线把互联网规模的语义知识与机器人真实动作数据连接起来</a:t>
            </a:r>
            <a:endParaRPr sz="2800" dirty="0">
              <a:solidFill>
                <a:srgbClr val="222833"/>
              </a:solidFill>
              <a:latin typeface="微软雅黑"/>
            </a:endParaRPr>
          </a:p>
        </p:txBody>
      </p:sp>
      <p:sp>
        <p:nvSpPr>
          <p:cNvPr id="10" name="TextBox 9"/>
          <p:cNvSpPr txBox="1"/>
          <p:nvPr/>
        </p:nvSpPr>
        <p:spPr>
          <a:xfrm>
            <a:off x="914400" y="5285232"/>
            <a:ext cx="10058400" cy="340350"/>
          </a:xfrm>
          <a:prstGeom prst="rect">
            <a:avLst/>
          </a:prstGeom>
          <a:noFill/>
        </p:spPr>
        <p:txBody>
          <a:bodyPr wrap="square" lIns="18288" tIns="18288" rIns="18288" bIns="18288" anchor="t">
            <a:spAutoFit/>
          </a:bodyPr>
          <a:lstStyle/>
          <a:p>
            <a:pPr algn="ctr">
              <a:lnSpc>
                <a:spcPct val="105000"/>
              </a:lnSpc>
            </a:pPr>
            <a:r>
              <a:rPr sz="2000" b="1" i="0" dirty="0" err="1">
                <a:solidFill>
                  <a:srgbClr val="2F8E72"/>
                </a:solidFill>
                <a:latin typeface="微软雅黑" panose="020B0503020204020204" pitchFamily="34" charset="-122"/>
              </a:rPr>
              <a:t>核心收益：降低为每条新指令重新采集大量机器人数据的门槛</a:t>
            </a:r>
            <a:r>
              <a:rPr sz="2000" b="1" i="0" dirty="0">
                <a:solidFill>
                  <a:srgbClr val="2F8E72"/>
                </a:solidFill>
                <a:latin typeface="微软雅黑" panose="020B0503020204020204" pitchFamily="34" charset="-122"/>
              </a:rPr>
              <a: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82</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7.4.3 </a:t>
            </a:r>
            <a:r>
              <a:rPr sz="3500" b="1" i="0" dirty="0" err="1">
                <a:solidFill>
                  <a:srgbClr val="24477D"/>
                </a:solidFill>
                <a:latin typeface="微软雅黑" panose="020B0503020204020204" pitchFamily="34" charset="-122"/>
              </a:rPr>
              <a:t>应用示例</a:t>
            </a:r>
            <a:r>
              <a:rPr sz="3500" b="1" i="0" dirty="0">
                <a:solidFill>
                  <a:srgbClr val="24477D"/>
                </a:solidFill>
                <a:latin typeface="微软雅黑" panose="020B0503020204020204" pitchFamily="34" charset="-122"/>
              </a:rPr>
              <a:t>：“</a:t>
            </a:r>
            <a:r>
              <a:rPr sz="3500" b="1" i="0" dirty="0" err="1">
                <a:solidFill>
                  <a:srgbClr val="24477D"/>
                </a:solidFill>
                <a:latin typeface="微软雅黑" panose="020B0503020204020204" pitchFamily="34" charset="-122"/>
              </a:rPr>
              <a:t>将积木堆叠到空碗里</a:t>
            </a:r>
            <a:r>
              <a:rPr sz="3500" b="1" i="0" dirty="0">
                <a:solidFill>
                  <a:srgbClr val="24477D"/>
                </a:solidFill>
                <a:latin typeface="微软雅黑" panose="020B0503020204020204" pitchFamily="34" charset="-122"/>
              </a:rPr>
              <a:t>”</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04672" y="1737360"/>
            <a:ext cx="10332720" cy="3474720"/>
          </a:xfrm>
          <a:prstGeom prst="rect">
            <a:avLst/>
          </a:prstGeom>
          <a:noFill/>
        </p:spPr>
        <p:txBody>
          <a:bodyPr wrap="square" lIns="18288" tIns="18288" rIns="18288" bIns="18288">
            <a:spAutoFit/>
          </a:bodyPr>
          <a:lstStyle/>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用户输入自然语言任务：Stack</a:t>
            </a:r>
            <a:r>
              <a:rPr sz="2200" dirty="0">
                <a:solidFill>
                  <a:srgbClr val="222833"/>
                </a:solidFill>
                <a:latin typeface="微软雅黑"/>
              </a:rPr>
              <a:t> the blocks on the empty bowls。</a:t>
            </a:r>
          </a:p>
          <a:p>
            <a:pPr algn="l">
              <a:lnSpc>
                <a:spcPct val="112000"/>
              </a:lnSpc>
              <a:spcAft>
                <a:spcPts val="576"/>
              </a:spcAft>
            </a:pPr>
            <a:r>
              <a:rPr sz="2200" dirty="0">
                <a:solidFill>
                  <a:srgbClr val="222833"/>
                </a:solidFill>
                <a:latin typeface="微软雅黑"/>
              </a:rPr>
              <a:t>• 模型不仅要理解“</a:t>
            </a:r>
            <a:r>
              <a:rPr sz="2200" dirty="0" err="1">
                <a:solidFill>
                  <a:srgbClr val="222833"/>
                </a:solidFill>
                <a:latin typeface="微软雅黑"/>
              </a:rPr>
              <a:t>积木</a:t>
            </a:r>
            <a:r>
              <a:rPr sz="2200" dirty="0">
                <a:solidFill>
                  <a:srgbClr val="222833"/>
                </a:solidFill>
                <a:latin typeface="微软雅黑"/>
              </a:rPr>
              <a:t>”“碗”“</a:t>
            </a:r>
            <a:r>
              <a:rPr sz="2200" dirty="0" err="1">
                <a:solidFill>
                  <a:srgbClr val="222833"/>
                </a:solidFill>
                <a:latin typeface="微软雅黑"/>
              </a:rPr>
              <a:t>空”这些语义，还要把它们转化为可执行的操作逻辑</a:t>
            </a:r>
            <a:r>
              <a:rPr sz="2200" dirty="0">
                <a:solidFill>
                  <a:srgbClr val="222833"/>
                </a:solidFill>
                <a:latin typeface="微软雅黑"/>
              </a:rPr>
              <a:t>。</a:t>
            </a:r>
          </a:p>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教材示例选择生成高层策略代码，由底层感知</a:t>
            </a:r>
            <a:r>
              <a:rPr sz="2200" dirty="0">
                <a:solidFill>
                  <a:srgbClr val="222833"/>
                </a:solidFill>
                <a:latin typeface="微软雅黑"/>
              </a:rPr>
              <a:t> API </a:t>
            </a:r>
            <a:r>
              <a:rPr sz="2200" dirty="0" err="1">
                <a:solidFill>
                  <a:srgbClr val="222833"/>
                </a:solidFill>
                <a:latin typeface="微软雅黑"/>
              </a:rPr>
              <a:t>与控制</a:t>
            </a:r>
            <a:r>
              <a:rPr sz="2200" dirty="0">
                <a:solidFill>
                  <a:srgbClr val="222833"/>
                </a:solidFill>
                <a:latin typeface="微软雅黑"/>
              </a:rPr>
              <a:t> API </a:t>
            </a:r>
            <a:r>
              <a:rPr sz="2200" dirty="0" err="1">
                <a:solidFill>
                  <a:srgbClr val="222833"/>
                </a:solidFill>
                <a:latin typeface="微软雅黑"/>
              </a:rPr>
              <a:t>完成具体执行</a:t>
            </a:r>
            <a:r>
              <a:rPr sz="2200" dirty="0">
                <a:solidFill>
                  <a:srgbClr val="222833"/>
                </a:solidFill>
                <a:latin typeface="微软雅黑"/>
              </a:rPr>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83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工作流程</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874519"/>
            <a:ext cx="3416808" cy="2331720"/>
          </a:xfrm>
          <a:prstGeom prst="roundRect">
            <a:avLst>
              <a:gd name="adj" fmla="val 3759"/>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874519"/>
            <a:ext cx="64008" cy="2331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2020824"/>
            <a:ext cx="3032760" cy="310021"/>
          </a:xfrm>
          <a:prstGeom prst="rect">
            <a:avLst/>
          </a:prstGeom>
          <a:noFill/>
        </p:spPr>
        <p:txBody>
          <a:bodyPr wrap="square" lIns="18288" tIns="18288" rIns="18288" bIns="18288" anchor="t">
            <a:spAutoFit/>
          </a:bodyPr>
          <a:lstStyle/>
          <a:p>
            <a:pPr algn="l">
              <a:lnSpc>
                <a:spcPct val="105000"/>
              </a:lnSpc>
            </a:pPr>
            <a:r>
              <a:rPr sz="1800" b="1" i="0" dirty="0">
                <a:solidFill>
                  <a:srgbClr val="31599B"/>
                </a:solidFill>
                <a:latin typeface="微软雅黑" panose="020B0503020204020204" pitchFamily="34" charset="-122"/>
              </a:rPr>
              <a:t>1 </a:t>
            </a:r>
            <a:r>
              <a:rPr sz="1800" b="1" i="0" dirty="0" err="1">
                <a:solidFill>
                  <a:srgbClr val="31599B"/>
                </a:solidFill>
                <a:latin typeface="微软雅黑" panose="020B0503020204020204" pitchFamily="34" charset="-122"/>
              </a:rPr>
              <a:t>语言输入编码</a:t>
            </a:r>
            <a:endParaRPr sz="1800" b="1" i="0" dirty="0">
              <a:solidFill>
                <a:srgbClr val="31599B"/>
              </a:solidFill>
              <a:latin typeface="微软雅黑" panose="020B0503020204020204" pitchFamily="34" charset="-122"/>
            </a:endParaRPr>
          </a:p>
        </p:txBody>
      </p:sp>
      <p:sp>
        <p:nvSpPr>
          <p:cNvPr id="12" name="TextBox 11"/>
          <p:cNvSpPr txBox="1"/>
          <p:nvPr/>
        </p:nvSpPr>
        <p:spPr>
          <a:xfrm>
            <a:off x="923544" y="2532887"/>
            <a:ext cx="303276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LLM 编码器把指令转换为特征向量。</a:t>
            </a:r>
          </a:p>
        </p:txBody>
      </p:sp>
      <p:sp>
        <p:nvSpPr>
          <p:cNvPr id="13" name="TextBox 12"/>
          <p:cNvSpPr txBox="1"/>
          <p:nvPr/>
        </p:nvSpPr>
        <p:spPr>
          <a:xfrm>
            <a:off x="4120895" y="270416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4" name="Rounded Rectangle 13"/>
          <p:cNvSpPr/>
          <p:nvPr/>
        </p:nvSpPr>
        <p:spPr>
          <a:xfrm>
            <a:off x="4294632" y="1874519"/>
            <a:ext cx="3416808" cy="2331720"/>
          </a:xfrm>
          <a:prstGeom prst="roundRect">
            <a:avLst>
              <a:gd name="adj" fmla="val 1765"/>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4294632" y="1874519"/>
            <a:ext cx="64008" cy="2331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4504944" y="2020824"/>
            <a:ext cx="3032760" cy="310021"/>
          </a:xfrm>
          <a:prstGeom prst="rect">
            <a:avLst/>
          </a:prstGeom>
          <a:noFill/>
        </p:spPr>
        <p:txBody>
          <a:bodyPr wrap="square" lIns="18288" tIns="18288" rIns="18288" bIns="18288" anchor="t">
            <a:spAutoFit/>
          </a:bodyPr>
          <a:lstStyle/>
          <a:p>
            <a:pPr algn="l">
              <a:lnSpc>
                <a:spcPct val="105000"/>
              </a:lnSpc>
            </a:pPr>
            <a:r>
              <a:rPr sz="1800" b="1" i="0" dirty="0">
                <a:solidFill>
                  <a:srgbClr val="2F8E72"/>
                </a:solidFill>
                <a:latin typeface="微软雅黑" panose="020B0503020204020204" pitchFamily="34" charset="-122"/>
              </a:rPr>
              <a:t>2 </a:t>
            </a:r>
            <a:r>
              <a:rPr sz="1800" b="1" i="0" dirty="0" err="1">
                <a:solidFill>
                  <a:srgbClr val="2F8E72"/>
                </a:solidFill>
                <a:latin typeface="微软雅黑" panose="020B0503020204020204" pitchFamily="34" charset="-122"/>
              </a:rPr>
              <a:t>策略代码生成</a:t>
            </a:r>
            <a:endParaRPr sz="1800" b="1" i="0" dirty="0">
              <a:solidFill>
                <a:srgbClr val="2F8E72"/>
              </a:solidFill>
              <a:latin typeface="微软雅黑" panose="020B0503020204020204" pitchFamily="34" charset="-122"/>
            </a:endParaRPr>
          </a:p>
        </p:txBody>
      </p:sp>
      <p:sp>
        <p:nvSpPr>
          <p:cNvPr id="17" name="TextBox 16"/>
          <p:cNvSpPr txBox="1"/>
          <p:nvPr/>
        </p:nvSpPr>
        <p:spPr>
          <a:xfrm>
            <a:off x="4504944" y="2532887"/>
            <a:ext cx="303276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模型输出高层可执行策略代码，包括检测、找空碗和堆叠逻辑。</a:t>
            </a:r>
          </a:p>
        </p:txBody>
      </p:sp>
      <p:sp>
        <p:nvSpPr>
          <p:cNvPr id="18" name="TextBox 17"/>
          <p:cNvSpPr txBox="1"/>
          <p:nvPr/>
        </p:nvSpPr>
        <p:spPr>
          <a:xfrm>
            <a:off x="7702296" y="270416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9" name="Rounded Rectangle 18"/>
          <p:cNvSpPr/>
          <p:nvPr/>
        </p:nvSpPr>
        <p:spPr>
          <a:xfrm>
            <a:off x="7876032" y="1874519"/>
            <a:ext cx="3416808" cy="2331720"/>
          </a:xfrm>
          <a:prstGeom prst="roundRect">
            <a:avLst>
              <a:gd name="adj" fmla="val 228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Rectangle 19"/>
          <p:cNvSpPr/>
          <p:nvPr/>
        </p:nvSpPr>
        <p:spPr>
          <a:xfrm>
            <a:off x="7876032" y="1874519"/>
            <a:ext cx="64008" cy="2331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TextBox 20"/>
          <p:cNvSpPr txBox="1"/>
          <p:nvPr/>
        </p:nvSpPr>
        <p:spPr>
          <a:xfrm>
            <a:off x="8086344" y="2020824"/>
            <a:ext cx="3032760" cy="310021"/>
          </a:xfrm>
          <a:prstGeom prst="rect">
            <a:avLst/>
          </a:prstGeom>
          <a:noFill/>
        </p:spPr>
        <p:txBody>
          <a:bodyPr wrap="square" lIns="18288" tIns="18288" rIns="18288" bIns="18288" anchor="t">
            <a:spAutoFit/>
          </a:bodyPr>
          <a:lstStyle/>
          <a:p>
            <a:pPr algn="l">
              <a:lnSpc>
                <a:spcPct val="105000"/>
              </a:lnSpc>
            </a:pPr>
            <a:r>
              <a:rPr sz="1800" b="1" i="0" dirty="0">
                <a:solidFill>
                  <a:srgbClr val="C58A24"/>
                </a:solidFill>
                <a:latin typeface="微软雅黑" panose="020B0503020204020204" pitchFamily="34" charset="-122"/>
              </a:rPr>
              <a:t>3 </a:t>
            </a:r>
            <a:r>
              <a:rPr sz="1800" b="1" i="0" dirty="0" err="1">
                <a:solidFill>
                  <a:srgbClr val="C58A24"/>
                </a:solidFill>
                <a:latin typeface="微软雅黑" panose="020B0503020204020204" pitchFamily="34" charset="-122"/>
              </a:rPr>
              <a:t>执行与反馈</a:t>
            </a:r>
            <a:endParaRPr sz="1800" b="1" i="0" dirty="0">
              <a:solidFill>
                <a:srgbClr val="C58A24"/>
              </a:solidFill>
              <a:latin typeface="微软雅黑" panose="020B0503020204020204" pitchFamily="34" charset="-122"/>
            </a:endParaRPr>
          </a:p>
        </p:txBody>
      </p:sp>
      <p:sp>
        <p:nvSpPr>
          <p:cNvPr id="22" name="TextBox 21"/>
          <p:cNvSpPr txBox="1"/>
          <p:nvPr/>
        </p:nvSpPr>
        <p:spPr>
          <a:xfrm>
            <a:off x="8086344" y="2532887"/>
            <a:ext cx="303276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底层模块调用感知 API 和控制 API，完成抓取－放置并反馈状态。</a:t>
            </a:r>
          </a:p>
        </p:txBody>
      </p:sp>
      <p:sp>
        <p:nvSpPr>
          <p:cNvPr id="23" name="TextBox 22"/>
          <p:cNvSpPr txBox="1"/>
          <p:nvPr/>
        </p:nvSpPr>
        <p:spPr>
          <a:xfrm>
            <a:off x="822960" y="4927605"/>
            <a:ext cx="10515600" cy="340350"/>
          </a:xfrm>
          <a:prstGeom prst="rect">
            <a:avLst/>
          </a:prstGeom>
          <a:noFill/>
        </p:spPr>
        <p:txBody>
          <a:bodyPr wrap="square" lIns="18288" tIns="18288" rIns="18288" bIns="18288" anchor="ctr">
            <a:spAutoFit/>
          </a:bodyPr>
          <a:lstStyle/>
          <a:p>
            <a:pPr algn="ctr">
              <a:lnSpc>
                <a:spcPct val="105000"/>
              </a:lnSpc>
            </a:pPr>
            <a:r>
              <a:rPr sz="2000" b="1" i="0" dirty="0">
                <a:solidFill>
                  <a:srgbClr val="24477D"/>
                </a:solidFill>
                <a:latin typeface="微软雅黑" panose="020B0503020204020204" pitchFamily="34" charset="-122"/>
              </a:rPr>
              <a:t>高层语言模型负责“</a:t>
            </a:r>
            <a:r>
              <a:rPr sz="2000" b="1" i="0" dirty="0" err="1">
                <a:solidFill>
                  <a:srgbClr val="24477D"/>
                </a:solidFill>
                <a:latin typeface="微软雅黑" panose="020B0503020204020204" pitchFamily="34" charset="-122"/>
              </a:rPr>
              <a:t>任务逻辑</a:t>
            </a:r>
            <a:r>
              <a:rPr sz="2000" b="1" i="0" dirty="0">
                <a:solidFill>
                  <a:srgbClr val="24477D"/>
                </a:solidFill>
                <a:latin typeface="微软雅黑" panose="020B0503020204020204" pitchFamily="34" charset="-122"/>
              </a:rPr>
              <a:t>”，</a:t>
            </a:r>
            <a:r>
              <a:rPr sz="2000" b="1" i="0" dirty="0" err="1">
                <a:solidFill>
                  <a:srgbClr val="24477D"/>
                </a:solidFill>
                <a:latin typeface="微软雅黑" panose="020B0503020204020204" pitchFamily="34" charset="-122"/>
              </a:rPr>
              <a:t>底层控制器负责“精确执行</a:t>
            </a:r>
            <a:r>
              <a:rPr sz="2000" b="1" i="0" dirty="0">
                <a:solidFill>
                  <a:srgbClr val="24477D"/>
                </a:solidFill>
                <a:latin typeface="微软雅黑" panose="020B0503020204020204" pitchFamily="34" charset="-122"/>
              </a:rPr>
              <a: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84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语言－动作模型应用示例</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713232" y="5815584"/>
            <a:ext cx="672084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667085"/>
                </a:solidFill>
                <a:latin typeface="微软雅黑" panose="020B0503020204020204" pitchFamily="34" charset="-122"/>
              </a:rPr>
              <a:t>语言－动作模型应用示例</a:t>
            </a:r>
            <a:endParaRPr sz="1300" b="1" i="0" dirty="0">
              <a:solidFill>
                <a:srgbClr val="667085"/>
              </a:solidFill>
              <a:latin typeface="微软雅黑" panose="020B0503020204020204" pitchFamily="34" charset="-122"/>
            </a:endParaRPr>
          </a:p>
        </p:txBody>
      </p:sp>
      <p:sp>
        <p:nvSpPr>
          <p:cNvPr id="11" name="Rounded Rectangle 10"/>
          <p:cNvSpPr/>
          <p:nvPr/>
        </p:nvSpPr>
        <p:spPr>
          <a:xfrm>
            <a:off x="7699248" y="1691640"/>
            <a:ext cx="3657600" cy="4023360"/>
          </a:xfrm>
          <a:prstGeom prst="roundRect">
            <a:avLst>
              <a:gd name="adj" fmla="val 125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ectangle 11"/>
          <p:cNvSpPr/>
          <p:nvPr/>
        </p:nvSpPr>
        <p:spPr>
          <a:xfrm>
            <a:off x="7699248" y="1691640"/>
            <a:ext cx="64008" cy="40233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7909560" y="2350008"/>
            <a:ext cx="3273552" cy="321868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模型根据语言输入生成策略代码；代码通过检测 API 与控制 API 操作真实 / 仿真场景中的积木和碗。</a:t>
            </a:r>
          </a:p>
        </p:txBody>
      </p:sp>
      <p:pic>
        <p:nvPicPr>
          <p:cNvPr id="15" name="图片 14">
            <a:extLst>
              <a:ext uri="{FF2B5EF4-FFF2-40B4-BE49-F238E27FC236}">
                <a16:creationId xmlns:a16="http://schemas.microsoft.com/office/drawing/2014/main" id="{B9CC3DB1-03BF-6A3F-2CA5-07ADDF1559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0558" y="1962540"/>
            <a:ext cx="5246111" cy="3386531"/>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2296"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85</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模型生成的简化策略代码（1/2）</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572768"/>
            <a:ext cx="10652760" cy="4617720"/>
          </a:xfrm>
          <a:prstGeom prst="roundRect">
            <a:avLst>
              <a:gd name="adj" fmla="val 3498"/>
            </a:avLst>
          </a:prstGeom>
          <a:solidFill>
            <a:srgbClr val="202834"/>
          </a:solidFill>
          <a:ln>
            <a:solidFill>
              <a:srgbClr val="202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005840" y="1773936"/>
            <a:ext cx="10140696" cy="279692"/>
          </a:xfrm>
          <a:prstGeom prst="rect">
            <a:avLst/>
          </a:prstGeom>
          <a:noFill/>
        </p:spPr>
        <p:txBody>
          <a:bodyPr wrap="square" lIns="18288" tIns="18288" rIns="18288" bIns="18288" anchor="t">
            <a:spAutoFit/>
          </a:bodyPr>
          <a:lstStyle/>
          <a:p>
            <a:pPr algn="l">
              <a:lnSpc>
                <a:spcPct val="105000"/>
              </a:lnSpc>
            </a:pPr>
            <a:r>
              <a:rPr sz="1600" b="1" i="0" dirty="0" err="1">
                <a:solidFill>
                  <a:srgbClr val="DCE6F7"/>
                </a:solidFill>
                <a:latin typeface="微软雅黑" panose="020B0503020204020204" pitchFamily="34" charset="-122"/>
              </a:rPr>
              <a:t>高层策略代码</a:t>
            </a:r>
            <a:endParaRPr sz="1600" b="1" i="0" dirty="0">
              <a:solidFill>
                <a:srgbClr val="DCE6F7"/>
              </a:solidFill>
              <a:latin typeface="微软雅黑" panose="020B0503020204020204" pitchFamily="34" charset="-122"/>
            </a:endParaRPr>
          </a:p>
        </p:txBody>
      </p:sp>
      <p:sp>
        <p:nvSpPr>
          <p:cNvPr id="11" name="TextBox 10"/>
          <p:cNvSpPr txBox="1"/>
          <p:nvPr/>
        </p:nvSpPr>
        <p:spPr>
          <a:xfrm>
            <a:off x="1005840" y="2231136"/>
            <a:ext cx="10140696" cy="1760482"/>
          </a:xfrm>
          <a:prstGeom prst="rect">
            <a:avLst/>
          </a:prstGeom>
          <a:noFill/>
        </p:spPr>
        <p:txBody>
          <a:bodyPr wrap="square" lIns="18288" tIns="18288" rIns="18288" bIns="18288" anchor="t">
            <a:spAutoFit/>
          </a:bodyPr>
          <a:lstStyle/>
          <a:p>
            <a:pPr algn="l">
              <a:lnSpc>
                <a:spcPct val="100000"/>
              </a:lnSpc>
            </a:pPr>
            <a:r>
              <a:rPr sz="1600" b="0" i="0" dirty="0" err="1">
                <a:solidFill>
                  <a:srgbClr val="F2F5F8"/>
                </a:solidFill>
                <a:latin typeface="Consolas"/>
              </a:rPr>
              <a:t>block_names</a:t>
            </a:r>
            <a:r>
              <a:rPr sz="1600" b="0" i="0" dirty="0">
                <a:solidFill>
                  <a:srgbClr val="F2F5F8"/>
                </a:solidFill>
                <a:latin typeface="Consolas"/>
              </a:rPr>
              <a:t> = </a:t>
            </a:r>
            <a:r>
              <a:rPr sz="1600" b="0" i="0" dirty="0" err="1">
                <a:solidFill>
                  <a:srgbClr val="F2F5F8"/>
                </a:solidFill>
                <a:latin typeface="Consolas"/>
              </a:rPr>
              <a:t>detect_objects</a:t>
            </a:r>
            <a:r>
              <a:rPr sz="1600" b="0" i="0" dirty="0">
                <a:solidFill>
                  <a:srgbClr val="F2F5F8"/>
                </a:solidFill>
                <a:latin typeface="Consolas"/>
              </a:rPr>
              <a:t>("blocks")   # </a:t>
            </a:r>
            <a:r>
              <a:rPr sz="1600" b="0" i="0" dirty="0" err="1">
                <a:solidFill>
                  <a:srgbClr val="F2F5F8"/>
                </a:solidFill>
                <a:latin typeface="Consolas"/>
              </a:rPr>
              <a:t>检测所有积木</a:t>
            </a:r>
            <a:endParaRPr sz="1600" b="0" i="0" dirty="0">
              <a:solidFill>
                <a:srgbClr val="F2F5F8"/>
              </a:solidFill>
              <a:latin typeface="Consolas"/>
            </a:endParaRPr>
          </a:p>
          <a:p>
            <a:pPr algn="l">
              <a:lnSpc>
                <a:spcPct val="100000"/>
              </a:lnSpc>
            </a:pPr>
            <a:r>
              <a:rPr sz="1600" b="0" i="0" dirty="0" err="1">
                <a:solidFill>
                  <a:srgbClr val="F2F5F8"/>
                </a:solidFill>
                <a:latin typeface="Consolas"/>
              </a:rPr>
              <a:t>bowl_names</a:t>
            </a:r>
            <a:r>
              <a:rPr sz="1600" b="0" i="0" dirty="0">
                <a:solidFill>
                  <a:srgbClr val="F2F5F8"/>
                </a:solidFill>
                <a:latin typeface="Consolas"/>
              </a:rPr>
              <a:t>  = </a:t>
            </a:r>
            <a:r>
              <a:rPr sz="1600" b="0" i="0" dirty="0" err="1">
                <a:solidFill>
                  <a:srgbClr val="F2F5F8"/>
                </a:solidFill>
                <a:latin typeface="Consolas"/>
              </a:rPr>
              <a:t>detect_objects</a:t>
            </a:r>
            <a:r>
              <a:rPr sz="1600" b="0" i="0" dirty="0">
                <a:solidFill>
                  <a:srgbClr val="F2F5F8"/>
                </a:solidFill>
                <a:latin typeface="Consolas"/>
              </a:rPr>
              <a:t>("bowls")    # </a:t>
            </a:r>
            <a:r>
              <a:rPr sz="1600" b="0" i="0" dirty="0" err="1">
                <a:solidFill>
                  <a:srgbClr val="F2F5F8"/>
                </a:solidFill>
                <a:latin typeface="Consolas"/>
              </a:rPr>
              <a:t>检测所有碗</a:t>
            </a:r>
            <a:endParaRPr sz="1600" b="0" i="0" dirty="0">
              <a:solidFill>
                <a:srgbClr val="F2F5F8"/>
              </a:solidFill>
              <a:latin typeface="Consolas"/>
            </a:endParaRPr>
          </a:p>
          <a:p>
            <a:pPr algn="l">
              <a:lnSpc>
                <a:spcPct val="100000"/>
              </a:lnSpc>
            </a:pPr>
            <a:endParaRPr sz="1600" b="0" i="0" dirty="0">
              <a:solidFill>
                <a:srgbClr val="F2F5F8"/>
              </a:solidFill>
              <a:latin typeface="Consolas"/>
            </a:endParaRPr>
          </a:p>
          <a:p>
            <a:pPr algn="l">
              <a:lnSpc>
                <a:spcPct val="100000"/>
              </a:lnSpc>
            </a:pPr>
            <a:r>
              <a:rPr sz="1600" b="0" i="0" dirty="0">
                <a:solidFill>
                  <a:srgbClr val="F2F5F8"/>
                </a:solidFill>
                <a:latin typeface="Consolas"/>
              </a:rPr>
              <a:t>for </a:t>
            </a:r>
            <a:r>
              <a:rPr sz="1600" b="0" i="0" dirty="0" err="1">
                <a:solidFill>
                  <a:srgbClr val="F2F5F8"/>
                </a:solidFill>
                <a:latin typeface="Consolas"/>
              </a:rPr>
              <a:t>bowl_name</a:t>
            </a:r>
            <a:r>
              <a:rPr sz="1600" b="0" i="0" dirty="0">
                <a:solidFill>
                  <a:srgbClr val="F2F5F8"/>
                </a:solidFill>
                <a:latin typeface="Consolas"/>
              </a:rPr>
              <a:t> in </a:t>
            </a:r>
            <a:r>
              <a:rPr sz="1600" b="0" i="0" dirty="0" err="1">
                <a:solidFill>
                  <a:srgbClr val="F2F5F8"/>
                </a:solidFill>
                <a:latin typeface="Consolas"/>
              </a:rPr>
              <a:t>bowl_names</a:t>
            </a:r>
            <a:r>
              <a:rPr sz="1600" b="0" i="0" dirty="0">
                <a:solidFill>
                  <a:srgbClr val="F2F5F8"/>
                </a:solidFill>
                <a:latin typeface="Consolas"/>
              </a:rPr>
              <a:t>:</a:t>
            </a:r>
          </a:p>
          <a:p>
            <a:pPr algn="l">
              <a:lnSpc>
                <a:spcPct val="100000"/>
              </a:lnSpc>
            </a:pPr>
            <a:r>
              <a:rPr sz="1600" b="0" i="0" dirty="0">
                <a:solidFill>
                  <a:srgbClr val="F2F5F8"/>
                </a:solidFill>
                <a:latin typeface="Consolas"/>
              </a:rPr>
              <a:t>    if </a:t>
            </a:r>
            <a:r>
              <a:rPr sz="1600" b="0" i="0" dirty="0" err="1">
                <a:solidFill>
                  <a:srgbClr val="F2F5F8"/>
                </a:solidFill>
                <a:latin typeface="Consolas"/>
              </a:rPr>
              <a:t>is_empty</a:t>
            </a:r>
            <a:r>
              <a:rPr sz="1600" b="0" i="0" dirty="0">
                <a:solidFill>
                  <a:srgbClr val="F2F5F8"/>
                </a:solidFill>
                <a:latin typeface="Consolas"/>
              </a:rPr>
              <a:t>(</a:t>
            </a:r>
            <a:r>
              <a:rPr sz="1600" b="0" i="0" dirty="0" err="1">
                <a:solidFill>
                  <a:srgbClr val="F2F5F8"/>
                </a:solidFill>
                <a:latin typeface="Consolas"/>
              </a:rPr>
              <a:t>bowl_name</a:t>
            </a:r>
            <a:r>
              <a:rPr sz="1600" b="0" i="0" dirty="0">
                <a:solidFill>
                  <a:srgbClr val="F2F5F8"/>
                </a:solidFill>
                <a:latin typeface="Consolas"/>
              </a:rPr>
              <a:t>):               # </a:t>
            </a:r>
            <a:r>
              <a:rPr sz="1600" b="0" i="0" dirty="0" err="1">
                <a:solidFill>
                  <a:srgbClr val="F2F5F8"/>
                </a:solidFill>
                <a:latin typeface="Consolas"/>
              </a:rPr>
              <a:t>找到空碗</a:t>
            </a:r>
            <a:endParaRPr sz="1600" b="0" i="0" dirty="0">
              <a:solidFill>
                <a:srgbClr val="F2F5F8"/>
              </a:solidFill>
              <a:latin typeface="Consolas"/>
            </a:endParaRPr>
          </a:p>
          <a:p>
            <a:pPr algn="l">
              <a:lnSpc>
                <a:spcPct val="100000"/>
              </a:lnSpc>
            </a:pPr>
            <a:r>
              <a:rPr sz="1600" b="0" i="0" dirty="0">
                <a:solidFill>
                  <a:srgbClr val="F2F5F8"/>
                </a:solidFill>
                <a:latin typeface="Consolas"/>
              </a:rPr>
              <a:t>        </a:t>
            </a:r>
            <a:r>
              <a:rPr sz="1600" b="0" i="0" dirty="0" err="1">
                <a:solidFill>
                  <a:srgbClr val="F2F5F8"/>
                </a:solidFill>
                <a:latin typeface="Consolas"/>
              </a:rPr>
              <a:t>empty_bowl</a:t>
            </a:r>
            <a:r>
              <a:rPr sz="1600" b="0" i="0" dirty="0">
                <a:solidFill>
                  <a:srgbClr val="F2F5F8"/>
                </a:solidFill>
                <a:latin typeface="Consolas"/>
              </a:rPr>
              <a:t> = </a:t>
            </a:r>
            <a:r>
              <a:rPr sz="1600" b="0" i="0" dirty="0" err="1">
                <a:solidFill>
                  <a:srgbClr val="F2F5F8"/>
                </a:solidFill>
                <a:latin typeface="Consolas"/>
              </a:rPr>
              <a:t>bowl_name</a:t>
            </a:r>
            <a:endParaRPr sz="1600" b="0" i="0" dirty="0">
              <a:solidFill>
                <a:srgbClr val="F2F5F8"/>
              </a:solidFill>
              <a:latin typeface="Consolas"/>
            </a:endParaRPr>
          </a:p>
          <a:p>
            <a:pPr algn="l">
              <a:lnSpc>
                <a:spcPct val="100000"/>
              </a:lnSpc>
            </a:pPr>
            <a:r>
              <a:rPr sz="1600" b="0" i="0" dirty="0">
                <a:solidFill>
                  <a:srgbClr val="F2F5F8"/>
                </a:solidFill>
                <a:latin typeface="Consolas"/>
              </a:rPr>
              <a:t>        break</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86</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模型生成的简化策略代码（2/2）</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dirty="0">
              <a:latin typeface="微软雅黑" panose="020B0503020204020204" pitchFamily="34" charset="-122"/>
            </a:endParaRPr>
          </a:p>
        </p:txBody>
      </p:sp>
      <p:sp>
        <p:nvSpPr>
          <p:cNvPr id="9" name="Rounded Rectangle 8"/>
          <p:cNvSpPr/>
          <p:nvPr/>
        </p:nvSpPr>
        <p:spPr>
          <a:xfrm>
            <a:off x="749808" y="1572768"/>
            <a:ext cx="10652760" cy="4617720"/>
          </a:xfrm>
          <a:prstGeom prst="roundRect">
            <a:avLst>
              <a:gd name="adj" fmla="val 3356"/>
            </a:avLst>
          </a:prstGeom>
          <a:solidFill>
            <a:srgbClr val="202834"/>
          </a:solidFill>
          <a:ln>
            <a:solidFill>
              <a:srgbClr val="202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005840" y="1773936"/>
            <a:ext cx="10140696" cy="279692"/>
          </a:xfrm>
          <a:prstGeom prst="rect">
            <a:avLst/>
          </a:prstGeom>
          <a:noFill/>
        </p:spPr>
        <p:txBody>
          <a:bodyPr wrap="square" lIns="18288" tIns="18288" rIns="18288" bIns="18288" anchor="t">
            <a:spAutoFit/>
          </a:bodyPr>
          <a:lstStyle/>
          <a:p>
            <a:pPr algn="l">
              <a:lnSpc>
                <a:spcPct val="105000"/>
              </a:lnSpc>
            </a:pPr>
            <a:r>
              <a:rPr sz="1600" b="1" i="0" dirty="0" err="1">
                <a:solidFill>
                  <a:srgbClr val="DCE6F7"/>
                </a:solidFill>
                <a:latin typeface="微软雅黑" panose="020B0503020204020204" pitchFamily="34" charset="-122"/>
              </a:rPr>
              <a:t>高层策略代码</a:t>
            </a:r>
            <a:endParaRPr sz="1600" b="1" i="0" dirty="0">
              <a:solidFill>
                <a:srgbClr val="DCE6F7"/>
              </a:solidFill>
              <a:latin typeface="微软雅黑" panose="020B0503020204020204" pitchFamily="34" charset="-122"/>
            </a:endParaRPr>
          </a:p>
        </p:txBody>
      </p:sp>
      <p:sp>
        <p:nvSpPr>
          <p:cNvPr id="11" name="TextBox 10"/>
          <p:cNvSpPr txBox="1"/>
          <p:nvPr/>
        </p:nvSpPr>
        <p:spPr>
          <a:xfrm>
            <a:off x="1005840" y="2231136"/>
            <a:ext cx="10140696" cy="3611880"/>
          </a:xfrm>
          <a:prstGeom prst="rect">
            <a:avLst/>
          </a:prstGeom>
          <a:noFill/>
        </p:spPr>
        <p:txBody>
          <a:bodyPr wrap="square" lIns="18288" tIns="18288" rIns="18288" bIns="18288" anchor="t">
            <a:spAutoFit/>
          </a:bodyPr>
          <a:lstStyle/>
          <a:p>
            <a:pPr algn="l">
              <a:lnSpc>
                <a:spcPct val="100000"/>
              </a:lnSpc>
            </a:pPr>
            <a:r>
              <a:rPr sz="1800" b="0" i="0" dirty="0" err="1">
                <a:solidFill>
                  <a:srgbClr val="F2F5F8"/>
                </a:solidFill>
                <a:latin typeface="Consolas"/>
              </a:rPr>
              <a:t>objs_to_stack</a:t>
            </a:r>
            <a:r>
              <a:rPr sz="1800" b="0" i="0" dirty="0">
                <a:solidFill>
                  <a:srgbClr val="F2F5F8"/>
                </a:solidFill>
                <a:latin typeface="Consolas"/>
              </a:rPr>
              <a:t> = [</a:t>
            </a:r>
            <a:r>
              <a:rPr sz="1800" b="0" i="0" dirty="0" err="1">
                <a:solidFill>
                  <a:srgbClr val="F2F5F8"/>
                </a:solidFill>
                <a:latin typeface="Consolas"/>
              </a:rPr>
              <a:t>empty_bowl</a:t>
            </a:r>
            <a:r>
              <a:rPr sz="1800" b="0" i="0" dirty="0">
                <a:solidFill>
                  <a:srgbClr val="F2F5F8"/>
                </a:solidFill>
                <a:latin typeface="Consolas"/>
              </a:rPr>
              <a:t>] + </a:t>
            </a:r>
            <a:r>
              <a:rPr sz="1800" b="0" i="0" dirty="0" err="1">
                <a:solidFill>
                  <a:srgbClr val="F2F5F8"/>
                </a:solidFill>
                <a:latin typeface="Consolas"/>
              </a:rPr>
              <a:t>block_names</a:t>
            </a:r>
            <a:endParaRPr sz="1800" b="0" i="0" dirty="0">
              <a:solidFill>
                <a:srgbClr val="F2F5F8"/>
              </a:solidFill>
              <a:latin typeface="Consolas"/>
            </a:endParaRPr>
          </a:p>
          <a:p>
            <a:pPr algn="l">
              <a:lnSpc>
                <a:spcPct val="100000"/>
              </a:lnSpc>
            </a:pPr>
            <a:r>
              <a:rPr sz="1800" b="0" i="0" dirty="0" err="1">
                <a:solidFill>
                  <a:srgbClr val="F2F5F8"/>
                </a:solidFill>
                <a:latin typeface="Consolas"/>
              </a:rPr>
              <a:t>stack_objects</a:t>
            </a:r>
            <a:r>
              <a:rPr sz="1800" b="0" i="0" dirty="0">
                <a:solidFill>
                  <a:srgbClr val="F2F5F8"/>
                </a:solidFill>
                <a:latin typeface="Consolas"/>
              </a:rPr>
              <a:t>(</a:t>
            </a:r>
            <a:r>
              <a:rPr sz="1800" b="0" i="0" dirty="0" err="1">
                <a:solidFill>
                  <a:srgbClr val="F2F5F8"/>
                </a:solidFill>
                <a:latin typeface="Consolas"/>
              </a:rPr>
              <a:t>objs_to_stack</a:t>
            </a:r>
            <a:r>
              <a:rPr sz="1800" b="0" i="0" dirty="0">
                <a:solidFill>
                  <a:srgbClr val="F2F5F8"/>
                </a:solidFill>
                <a:latin typeface="Consolas"/>
              </a:rPr>
              <a:t>)              # </a:t>
            </a:r>
            <a:r>
              <a:rPr sz="1800" b="0" i="0" dirty="0" err="1">
                <a:solidFill>
                  <a:srgbClr val="F2F5F8"/>
                </a:solidFill>
                <a:latin typeface="Consolas"/>
              </a:rPr>
              <a:t>执行堆叠</a:t>
            </a:r>
            <a:endParaRPr sz="1800" b="0" i="0" dirty="0">
              <a:solidFill>
                <a:srgbClr val="F2F5F8"/>
              </a:solidFill>
              <a:latin typeface="Consolas"/>
            </a:endParaRPr>
          </a:p>
          <a:p>
            <a:pPr algn="l">
              <a:lnSpc>
                <a:spcPct val="100000"/>
              </a:lnSpc>
            </a:pPr>
            <a:endParaRPr sz="1800" b="0" i="0" dirty="0">
              <a:solidFill>
                <a:srgbClr val="F2F5F8"/>
              </a:solidFill>
              <a:latin typeface="Consolas"/>
            </a:endParaRPr>
          </a:p>
          <a:p>
            <a:pPr algn="l">
              <a:lnSpc>
                <a:spcPct val="100000"/>
              </a:lnSpc>
            </a:pPr>
            <a:r>
              <a:rPr sz="1800" b="0" i="0" dirty="0">
                <a:solidFill>
                  <a:srgbClr val="F2F5F8"/>
                </a:solidFill>
                <a:latin typeface="Consolas"/>
              </a:rPr>
              <a:t># </a:t>
            </a:r>
            <a:r>
              <a:rPr sz="1800" b="0" i="0" dirty="0" err="1">
                <a:solidFill>
                  <a:srgbClr val="F2F5F8"/>
                </a:solidFill>
                <a:latin typeface="Consolas"/>
              </a:rPr>
              <a:t>高层代码负责表达任务逻辑</a:t>
            </a:r>
            <a:endParaRPr sz="1800" b="0" i="0" dirty="0">
              <a:solidFill>
                <a:srgbClr val="F2F5F8"/>
              </a:solidFill>
              <a:latin typeface="Consolas"/>
            </a:endParaRPr>
          </a:p>
          <a:p>
            <a:pPr algn="l">
              <a:lnSpc>
                <a:spcPct val="100000"/>
              </a:lnSpc>
            </a:pPr>
            <a:r>
              <a:rPr sz="1800" b="0" i="0" dirty="0">
                <a:solidFill>
                  <a:srgbClr val="F2F5F8"/>
                </a:solidFill>
                <a:latin typeface="Consolas"/>
              </a:rPr>
              <a:t># </a:t>
            </a:r>
            <a:r>
              <a:rPr sz="1800" b="0" i="0" dirty="0" err="1">
                <a:solidFill>
                  <a:srgbClr val="F2F5F8"/>
                </a:solidFill>
                <a:latin typeface="Consolas"/>
              </a:rPr>
              <a:t>物体检测、抓取与放置由底层</a:t>
            </a:r>
            <a:r>
              <a:rPr sz="1800" b="0" i="0" dirty="0">
                <a:solidFill>
                  <a:srgbClr val="F2F5F8"/>
                </a:solidFill>
                <a:latin typeface="Consolas"/>
              </a:rPr>
              <a:t> API / </a:t>
            </a:r>
            <a:r>
              <a:rPr sz="1800" b="0" i="0" dirty="0" err="1">
                <a:solidFill>
                  <a:srgbClr val="F2F5F8"/>
                </a:solidFill>
                <a:latin typeface="Consolas"/>
              </a:rPr>
              <a:t>控制器实现</a:t>
            </a:r>
            <a:endParaRPr sz="1800" b="0" i="0" dirty="0">
              <a:solidFill>
                <a:srgbClr val="F2F5F8"/>
              </a:solidFill>
              <a:latin typeface="Consola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87</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语言－动作生成的直接价值</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664208"/>
            <a:ext cx="5166360" cy="4160520"/>
          </a:xfrm>
          <a:prstGeom prst="roundRect">
            <a:avLst>
              <a:gd name="adj" fmla="val 916"/>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49808" y="1664208"/>
            <a:ext cx="64008" cy="41605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60120" y="1810512"/>
            <a:ext cx="478231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自然交互</a:t>
            </a:r>
            <a:endParaRPr sz="2000" b="1" i="0" dirty="0">
              <a:solidFill>
                <a:srgbClr val="31599B"/>
              </a:solidFill>
              <a:latin typeface="微软雅黑" panose="020B0503020204020204" pitchFamily="34" charset="-122"/>
            </a:endParaRPr>
          </a:p>
        </p:txBody>
      </p:sp>
      <p:sp>
        <p:nvSpPr>
          <p:cNvPr id="12" name="TextBox 11"/>
          <p:cNvSpPr txBox="1"/>
          <p:nvPr/>
        </p:nvSpPr>
        <p:spPr>
          <a:xfrm>
            <a:off x="960120" y="2322576"/>
            <a:ext cx="4782312" cy="335584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用户可以用自然语言描述任务，而无需手工编写复杂控制流程。</a:t>
            </a:r>
          </a:p>
          <a:p>
            <a:pPr algn="l">
              <a:lnSpc>
                <a:spcPct val="108000"/>
              </a:lnSpc>
            </a:pPr>
            <a:endParaRPr sz="1900" b="0" i="0">
              <a:solidFill>
                <a:srgbClr val="222833"/>
              </a:solidFill>
              <a:latin typeface="微软雅黑"/>
            </a:endParaRPr>
          </a:p>
          <a:p>
            <a:pPr algn="l">
              <a:lnSpc>
                <a:spcPct val="108000"/>
              </a:lnSpc>
            </a:pPr>
            <a:r>
              <a:rPr sz="1900" b="0" i="0">
                <a:solidFill>
                  <a:srgbClr val="222833"/>
                </a:solidFill>
                <a:latin typeface="微软雅黑"/>
              </a:rPr>
              <a:t>机器人由“理解指令”进一步走到“执行指令”。</a:t>
            </a:r>
          </a:p>
        </p:txBody>
      </p:sp>
      <p:sp>
        <p:nvSpPr>
          <p:cNvPr id="13" name="Rounded Rectangle 12"/>
          <p:cNvSpPr/>
          <p:nvPr/>
        </p:nvSpPr>
        <p:spPr>
          <a:xfrm>
            <a:off x="6263640" y="1664208"/>
            <a:ext cx="5166360" cy="4160520"/>
          </a:xfrm>
          <a:prstGeom prst="roundRect">
            <a:avLst>
              <a:gd name="adj" fmla="val 128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263640" y="1664208"/>
            <a:ext cx="64008" cy="41605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473952" y="1810512"/>
            <a:ext cx="478231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少样本适配</a:t>
            </a:r>
            <a:endParaRPr sz="2000" b="1" i="0" dirty="0">
              <a:solidFill>
                <a:srgbClr val="2F8E72"/>
              </a:solidFill>
              <a:latin typeface="微软雅黑" panose="020B0503020204020204" pitchFamily="34" charset="-122"/>
            </a:endParaRPr>
          </a:p>
        </p:txBody>
      </p:sp>
      <p:sp>
        <p:nvSpPr>
          <p:cNvPr id="16" name="TextBox 15"/>
          <p:cNvSpPr txBox="1"/>
          <p:nvPr/>
        </p:nvSpPr>
        <p:spPr>
          <a:xfrm>
            <a:off x="6473952" y="2322576"/>
            <a:ext cx="4782312" cy="335584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只需少量语言－动作演示，就能对新指令快速适配。</a:t>
            </a:r>
          </a:p>
          <a:p>
            <a:pPr algn="l">
              <a:lnSpc>
                <a:spcPct val="108000"/>
              </a:lnSpc>
            </a:pPr>
            <a:endParaRPr sz="1900" b="0" i="0">
              <a:solidFill>
                <a:srgbClr val="222833"/>
              </a:solidFill>
              <a:latin typeface="微软雅黑"/>
            </a:endParaRPr>
          </a:p>
          <a:p>
            <a:pPr algn="l">
              <a:lnSpc>
                <a:spcPct val="108000"/>
              </a:lnSpc>
            </a:pPr>
            <a:r>
              <a:rPr sz="1900" b="0" i="0">
                <a:solidFill>
                  <a:srgbClr val="222833"/>
                </a:solidFill>
                <a:latin typeface="微软雅黑"/>
              </a:rPr>
              <a:t>高层语义知识可以复用，降低新任务编程成本。</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8595360" y="320040"/>
            <a:ext cx="2743200" cy="188641"/>
          </a:xfrm>
          <a:prstGeom prst="rect">
            <a:avLst/>
          </a:prstGeom>
          <a:noFill/>
        </p:spPr>
        <p:txBody>
          <a:bodyPr wrap="square" lIns="18288" tIns="18288" rIns="18288" bIns="18288" anchor="t">
            <a:spAutoFit/>
          </a:bodyPr>
          <a:lstStyle/>
          <a:p>
            <a:pPr algn="r">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1307592" y="1474502"/>
            <a:ext cx="1691640" cy="1129220"/>
          </a:xfrm>
          <a:prstGeom prst="rect">
            <a:avLst/>
          </a:prstGeom>
          <a:noFill/>
        </p:spPr>
        <p:txBody>
          <a:bodyPr wrap="square" lIns="18288" tIns="18288" rIns="18288" bIns="18288" anchor="ctr">
            <a:spAutoFit/>
          </a:bodyPr>
          <a:lstStyle/>
          <a:p>
            <a:pPr algn="l">
              <a:lnSpc>
                <a:spcPct val="105000"/>
              </a:lnSpc>
            </a:pPr>
            <a:r>
              <a:rPr sz="7200" b="1" i="0" dirty="0">
                <a:solidFill>
                  <a:srgbClr val="31599B"/>
                </a:solidFill>
                <a:latin typeface="微软雅黑" panose="020B0503020204020204" pitchFamily="34" charset="-122"/>
              </a:rPr>
              <a:t>05</a:t>
            </a:r>
          </a:p>
        </p:txBody>
      </p:sp>
      <p:sp>
        <p:nvSpPr>
          <p:cNvPr id="6" name="TextBox 5"/>
          <p:cNvSpPr txBox="1"/>
          <p:nvPr/>
        </p:nvSpPr>
        <p:spPr>
          <a:xfrm>
            <a:off x="3246120" y="1752259"/>
            <a:ext cx="7818120" cy="628570"/>
          </a:xfrm>
          <a:prstGeom prst="rect">
            <a:avLst/>
          </a:prstGeom>
          <a:noFill/>
        </p:spPr>
        <p:txBody>
          <a:bodyPr wrap="square" lIns="18288" tIns="18288" rIns="18288" bIns="18288" anchor="ctr">
            <a:spAutoFit/>
          </a:bodyPr>
          <a:lstStyle/>
          <a:p>
            <a:pPr algn="l">
              <a:lnSpc>
                <a:spcPct val="105000"/>
              </a:lnSpc>
            </a:pPr>
            <a:r>
              <a:rPr sz="3900" b="1" i="0" dirty="0" err="1">
                <a:solidFill>
                  <a:srgbClr val="24477D"/>
                </a:solidFill>
                <a:latin typeface="微软雅黑" panose="020B0503020204020204" pitchFamily="34" charset="-122"/>
              </a:rPr>
              <a:t>视觉－语言－动作模型详解</a:t>
            </a:r>
            <a:endParaRPr sz="3900" b="1" i="0" dirty="0">
              <a:solidFill>
                <a:srgbClr val="24477D"/>
              </a:solidFill>
              <a:latin typeface="微软雅黑" panose="020B0503020204020204" pitchFamily="34"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89</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7.5 </a:t>
            </a:r>
            <a:r>
              <a:rPr sz="3500" b="1" i="0" dirty="0" err="1">
                <a:solidFill>
                  <a:srgbClr val="24477D"/>
                </a:solidFill>
                <a:latin typeface="微软雅黑" panose="020B0503020204020204" pitchFamily="34" charset="-122"/>
              </a:rPr>
              <a:t>VLA：把视觉、语言和动作真正统一起来</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737360"/>
            <a:ext cx="10241280" cy="3474720"/>
          </a:xfrm>
          <a:prstGeom prst="rect">
            <a:avLst/>
          </a:prstGeom>
          <a:noFill/>
        </p:spPr>
        <p:txBody>
          <a:bodyPr wrap="square" lIns="18288" tIns="18288" rIns="18288" bIns="18288">
            <a:spAutoFit/>
          </a:bodyPr>
          <a:lstStyle/>
          <a:p>
            <a:pPr algn="l">
              <a:lnSpc>
                <a:spcPct val="112000"/>
              </a:lnSpc>
              <a:spcAft>
                <a:spcPts val="576"/>
              </a:spcAft>
            </a:pPr>
            <a:r>
              <a:rPr sz="2200">
                <a:solidFill>
                  <a:srgbClr val="222833"/>
                </a:solidFill>
                <a:latin typeface="微软雅黑"/>
              </a:rPr>
              <a:t>• VLA 模型直接从图像和语言指令推断未来动作序列，中间无需人工干预。</a:t>
            </a:r>
          </a:p>
          <a:p>
            <a:pPr algn="l">
              <a:lnSpc>
                <a:spcPct val="112000"/>
              </a:lnSpc>
              <a:spcAft>
                <a:spcPts val="576"/>
              </a:spcAft>
            </a:pPr>
            <a:r>
              <a:rPr sz="2200">
                <a:solidFill>
                  <a:srgbClr val="222833"/>
                </a:solidFill>
                <a:latin typeface="微软雅黑"/>
              </a:rPr>
              <a:t>• 主要知识点包括：端到端多模态学习、注意力融合与动作预测。</a:t>
            </a:r>
          </a:p>
          <a:p>
            <a:pPr algn="l">
              <a:lnSpc>
                <a:spcPct val="112000"/>
              </a:lnSpc>
              <a:spcAft>
                <a:spcPts val="576"/>
              </a:spcAft>
            </a:pPr>
            <a:r>
              <a:rPr sz="2200">
                <a:solidFill>
                  <a:srgbClr val="222833"/>
                </a:solidFill>
                <a:latin typeface="微软雅黑"/>
              </a:rPr>
              <a:t>• 从系统角度看，它模拟人类“看－听－做”的认知过程，面向导航、操作和交互助手等复杂任务。</a:t>
            </a:r>
          </a:p>
        </p:txBody>
      </p:sp>
      <p:sp>
        <p:nvSpPr>
          <p:cNvPr id="10" name="TextBox 9"/>
          <p:cNvSpPr txBox="1"/>
          <p:nvPr/>
        </p:nvSpPr>
        <p:spPr>
          <a:xfrm>
            <a:off x="1005840" y="4272280"/>
            <a:ext cx="1005840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统一序列建模：视觉、语言和动作都可以进入</a:t>
            </a:r>
            <a:r>
              <a:rPr sz="1900" b="1" i="0" dirty="0">
                <a:solidFill>
                  <a:srgbClr val="24477D"/>
                </a:solidFill>
                <a:latin typeface="微软雅黑" panose="020B0503020204020204" pitchFamily="34" charset="-122"/>
              </a:rPr>
              <a:t> Transformer / VLM </a:t>
            </a:r>
            <a:r>
              <a:rPr sz="1900" b="1" i="0" dirty="0" err="1">
                <a:solidFill>
                  <a:srgbClr val="24477D"/>
                </a:solidFill>
                <a:latin typeface="微软雅黑" panose="020B0503020204020204" pitchFamily="34" charset="-122"/>
              </a:rPr>
              <a:t>的共同表示空间</a:t>
            </a:r>
            <a:r>
              <a:rPr sz="1900" b="1" i="0" dirty="0">
                <a:solidFill>
                  <a:srgbClr val="24477D"/>
                </a:solidFill>
                <a:latin typeface="微软雅黑" panose="020B0503020204020204" pitchFamily="34" charset="-122"/>
              </a:rPr>
              <a: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90</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VLA </a:t>
            </a:r>
            <a:r>
              <a:rPr sz="3500" b="1" i="0" dirty="0" err="1">
                <a:solidFill>
                  <a:srgbClr val="24477D"/>
                </a:solidFill>
                <a:latin typeface="微软雅黑" panose="020B0503020204020204" pitchFamily="34" charset="-122"/>
              </a:rPr>
              <a:t>模型的训练闭环</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713232" y="5815584"/>
            <a:ext cx="6720840" cy="234103"/>
          </a:xfrm>
          <a:prstGeom prst="rect">
            <a:avLst/>
          </a:prstGeom>
          <a:noFill/>
        </p:spPr>
        <p:txBody>
          <a:bodyPr wrap="square" lIns="18288" tIns="18288" rIns="18288" bIns="18288" anchor="t">
            <a:spAutoFit/>
          </a:bodyPr>
          <a:lstStyle/>
          <a:p>
            <a:pPr algn="ctr">
              <a:lnSpc>
                <a:spcPct val="105000"/>
              </a:lnSpc>
            </a:pPr>
            <a:r>
              <a:rPr sz="1300" b="1" i="0" dirty="0">
                <a:solidFill>
                  <a:srgbClr val="667085"/>
                </a:solidFill>
                <a:latin typeface="微软雅黑" panose="020B0503020204020204" pitchFamily="34" charset="-122"/>
              </a:rPr>
              <a:t>VLA </a:t>
            </a:r>
            <a:r>
              <a:rPr sz="1300" b="1" i="0" dirty="0" err="1">
                <a:solidFill>
                  <a:srgbClr val="667085"/>
                </a:solidFill>
                <a:latin typeface="微软雅黑" panose="020B0503020204020204" pitchFamily="34" charset="-122"/>
              </a:rPr>
              <a:t>模型的训练流程图</a:t>
            </a:r>
            <a:endParaRPr sz="1300" b="1" i="0" dirty="0">
              <a:solidFill>
                <a:srgbClr val="667085"/>
              </a:solidFill>
              <a:latin typeface="微软雅黑" panose="020B0503020204020204" pitchFamily="34" charset="-122"/>
            </a:endParaRPr>
          </a:p>
        </p:txBody>
      </p:sp>
      <p:sp>
        <p:nvSpPr>
          <p:cNvPr id="11" name="Rounded Rectangle 10"/>
          <p:cNvSpPr/>
          <p:nvPr/>
        </p:nvSpPr>
        <p:spPr>
          <a:xfrm>
            <a:off x="7699248" y="1691640"/>
            <a:ext cx="3657600" cy="4023360"/>
          </a:xfrm>
          <a:prstGeom prst="roundRect">
            <a:avLst>
              <a:gd name="adj" fmla="val 166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ectangle 11"/>
          <p:cNvSpPr/>
          <p:nvPr/>
        </p:nvSpPr>
        <p:spPr>
          <a:xfrm>
            <a:off x="7699248" y="1691640"/>
            <a:ext cx="64008" cy="40233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7909560" y="2350008"/>
            <a:ext cx="3273552" cy="321868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视觉模型、语言模型与动作模型共同输出动作；环境反馈产生新的视觉 / 状态信息，并继续用于策略训练与更新。</a:t>
            </a:r>
          </a:p>
        </p:txBody>
      </p:sp>
      <p:pic>
        <p:nvPicPr>
          <p:cNvPr id="15" name="图片 14">
            <a:extLst>
              <a:ext uri="{FF2B5EF4-FFF2-40B4-BE49-F238E27FC236}">
                <a16:creationId xmlns:a16="http://schemas.microsoft.com/office/drawing/2014/main" id="{3D3170C1-3859-742B-F551-8C9AFE0FD4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40267" y="1756537"/>
            <a:ext cx="4458653" cy="399285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91</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7.5.1 VLA </a:t>
            </a:r>
            <a:r>
              <a:rPr sz="3500" b="1" i="0" dirty="0" err="1">
                <a:solidFill>
                  <a:srgbClr val="24477D"/>
                </a:solidFill>
                <a:latin typeface="微软雅黑" panose="020B0503020204020204" pitchFamily="34" charset="-122"/>
              </a:rPr>
              <a:t>的本质：条件生成式策略网络</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04672" y="1691640"/>
            <a:ext cx="10332720" cy="4023360"/>
          </a:xfrm>
          <a:prstGeom prst="rect">
            <a:avLst/>
          </a:prstGeom>
          <a:noFill/>
        </p:spPr>
        <p:txBody>
          <a:bodyPr wrap="square" lIns="18288" tIns="18288" rIns="18288" bIns="18288">
            <a:spAutoFit/>
          </a:bodyPr>
          <a:lstStyle/>
          <a:p>
            <a:pPr algn="l">
              <a:lnSpc>
                <a:spcPct val="112000"/>
              </a:lnSpc>
              <a:spcAft>
                <a:spcPts val="576"/>
              </a:spcAft>
            </a:pPr>
            <a:r>
              <a:rPr sz="2100" dirty="0">
                <a:solidFill>
                  <a:srgbClr val="222833"/>
                </a:solidFill>
                <a:latin typeface="微软雅黑"/>
              </a:rPr>
              <a:t>• </a:t>
            </a:r>
            <a:r>
              <a:rPr sz="2100" dirty="0" err="1">
                <a:solidFill>
                  <a:srgbClr val="222833"/>
                </a:solidFill>
                <a:latin typeface="微软雅黑"/>
              </a:rPr>
              <a:t>输入：当前视觉观测</a:t>
            </a:r>
            <a:r>
              <a:rPr sz="2100" dirty="0">
                <a:solidFill>
                  <a:srgbClr val="222833"/>
                </a:solidFill>
                <a:latin typeface="微软雅黑"/>
              </a:rPr>
              <a:t> Iₜ（RGB </a:t>
            </a:r>
            <a:r>
              <a:rPr sz="2100" dirty="0" err="1">
                <a:solidFill>
                  <a:srgbClr val="222833"/>
                </a:solidFill>
                <a:latin typeface="微软雅黑"/>
              </a:rPr>
              <a:t>图像或视频）与自然语言指令</a:t>
            </a:r>
            <a:r>
              <a:rPr sz="2100" dirty="0">
                <a:solidFill>
                  <a:srgbClr val="222833"/>
                </a:solidFill>
                <a:latin typeface="微软雅黑"/>
              </a:rPr>
              <a:t> L。</a:t>
            </a:r>
          </a:p>
          <a:p>
            <a:pPr algn="l">
              <a:lnSpc>
                <a:spcPct val="112000"/>
              </a:lnSpc>
              <a:spcAft>
                <a:spcPts val="576"/>
              </a:spcAft>
            </a:pPr>
            <a:r>
              <a:rPr sz="2100" dirty="0">
                <a:solidFill>
                  <a:srgbClr val="222833"/>
                </a:solidFill>
                <a:latin typeface="微软雅黑"/>
              </a:rPr>
              <a:t>• </a:t>
            </a:r>
            <a:r>
              <a:rPr sz="2100" dirty="0" err="1">
                <a:solidFill>
                  <a:srgbClr val="222833"/>
                </a:solidFill>
                <a:latin typeface="微软雅黑"/>
              </a:rPr>
              <a:t>还可以加入机器人当前状态</a:t>
            </a:r>
            <a:r>
              <a:rPr sz="2100" dirty="0">
                <a:solidFill>
                  <a:srgbClr val="222833"/>
                </a:solidFill>
                <a:latin typeface="微软雅黑"/>
              </a:rPr>
              <a:t> sₜ，</a:t>
            </a:r>
            <a:r>
              <a:rPr sz="2100" dirty="0" err="1">
                <a:solidFill>
                  <a:srgbClr val="222833"/>
                </a:solidFill>
                <a:latin typeface="微软雅黑"/>
              </a:rPr>
              <a:t>形成更完整的本体条件</a:t>
            </a:r>
            <a:r>
              <a:rPr sz="2100" dirty="0">
                <a:solidFill>
                  <a:srgbClr val="222833"/>
                </a:solidFill>
                <a:latin typeface="微软雅黑"/>
              </a:rPr>
              <a:t>。</a:t>
            </a:r>
          </a:p>
          <a:p>
            <a:pPr algn="l">
              <a:lnSpc>
                <a:spcPct val="112000"/>
              </a:lnSpc>
              <a:spcAft>
                <a:spcPts val="576"/>
              </a:spcAft>
            </a:pPr>
            <a:r>
              <a:rPr sz="2100" dirty="0">
                <a:solidFill>
                  <a:srgbClr val="222833"/>
                </a:solidFill>
                <a:latin typeface="微软雅黑"/>
              </a:rPr>
              <a:t>• </a:t>
            </a:r>
            <a:r>
              <a:rPr sz="2100" dirty="0" err="1">
                <a:solidFill>
                  <a:srgbClr val="222833"/>
                </a:solidFill>
                <a:latin typeface="微软雅黑"/>
              </a:rPr>
              <a:t>输出：当前到未来多步动作序列</a:t>
            </a:r>
            <a:r>
              <a:rPr sz="2100" dirty="0">
                <a:solidFill>
                  <a:srgbClr val="222833"/>
                </a:solidFill>
                <a:latin typeface="微软雅黑"/>
              </a:rPr>
              <a:t> aₜ:ₜ₊ₜ。</a:t>
            </a:r>
          </a:p>
          <a:p>
            <a:pPr algn="l">
              <a:lnSpc>
                <a:spcPct val="112000"/>
              </a:lnSpc>
              <a:spcAft>
                <a:spcPts val="576"/>
              </a:spcAft>
            </a:pPr>
            <a:r>
              <a:rPr sz="2100" dirty="0">
                <a:solidFill>
                  <a:srgbClr val="222833"/>
                </a:solidFill>
                <a:latin typeface="微软雅黑"/>
              </a:rPr>
              <a:t>• </a:t>
            </a:r>
            <a:r>
              <a:rPr sz="2100" dirty="0" err="1">
                <a:solidFill>
                  <a:srgbClr val="222833"/>
                </a:solidFill>
                <a:latin typeface="微软雅黑"/>
              </a:rPr>
              <a:t>主流架构以</a:t>
            </a:r>
            <a:r>
              <a:rPr sz="2100" dirty="0">
                <a:solidFill>
                  <a:srgbClr val="222833"/>
                </a:solidFill>
                <a:latin typeface="微软雅黑"/>
              </a:rPr>
              <a:t> Transformer / VLM </a:t>
            </a:r>
            <a:r>
              <a:rPr sz="2100" dirty="0" err="1">
                <a:solidFill>
                  <a:srgbClr val="222833"/>
                </a:solidFill>
                <a:latin typeface="微软雅黑"/>
              </a:rPr>
              <a:t>为骨干，并结合连续动作回归、扩散模型或流匹配</a:t>
            </a:r>
            <a:r>
              <a:rPr sz="2100" dirty="0">
                <a:solidFill>
                  <a:srgbClr val="222833"/>
                </a:solidFill>
                <a:latin typeface="微软雅黑"/>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92</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VLA </a:t>
            </a:r>
            <a:r>
              <a:rPr sz="3500" b="1" i="0" dirty="0" err="1">
                <a:solidFill>
                  <a:srgbClr val="24477D"/>
                </a:solidFill>
                <a:latin typeface="微软雅黑" panose="020B0503020204020204" pitchFamily="34" charset="-122"/>
              </a:rPr>
              <a:t>的三个模块</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874519"/>
            <a:ext cx="3416808" cy="2331720"/>
          </a:xfrm>
          <a:prstGeom prst="roundRect">
            <a:avLst>
              <a:gd name="adj" fmla="val 403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874519"/>
            <a:ext cx="64008" cy="2331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2020824"/>
            <a:ext cx="3032760" cy="401007"/>
          </a:xfrm>
          <a:prstGeom prst="rect">
            <a:avLst/>
          </a:prstGeom>
          <a:noFill/>
        </p:spPr>
        <p:txBody>
          <a:bodyPr wrap="square" lIns="18288" tIns="18288" rIns="18288" bIns="18288" anchor="t">
            <a:spAutoFit/>
          </a:bodyPr>
          <a:lstStyle/>
          <a:p>
            <a:pPr algn="l">
              <a:lnSpc>
                <a:spcPct val="105000"/>
              </a:lnSpc>
            </a:pPr>
            <a:r>
              <a:rPr sz="2400" b="1" i="0" dirty="0">
                <a:solidFill>
                  <a:srgbClr val="31599B"/>
                </a:solidFill>
                <a:latin typeface="微软雅黑" panose="020B0503020204020204" pitchFamily="34" charset="-122"/>
              </a:rPr>
              <a:t>1 </a:t>
            </a:r>
            <a:r>
              <a:rPr sz="2400" b="1" i="0" dirty="0" err="1">
                <a:solidFill>
                  <a:srgbClr val="31599B"/>
                </a:solidFill>
                <a:latin typeface="微软雅黑" panose="020B0503020204020204" pitchFamily="34" charset="-122"/>
              </a:rPr>
              <a:t>视觉编码器</a:t>
            </a:r>
            <a:endParaRPr sz="2400" b="1" i="0" dirty="0">
              <a:solidFill>
                <a:srgbClr val="31599B"/>
              </a:solidFill>
              <a:latin typeface="微软雅黑" panose="020B0503020204020204" pitchFamily="34" charset="-122"/>
            </a:endParaRPr>
          </a:p>
        </p:txBody>
      </p:sp>
      <p:sp>
        <p:nvSpPr>
          <p:cNvPr id="12" name="TextBox 11"/>
          <p:cNvSpPr txBox="1"/>
          <p:nvPr/>
        </p:nvSpPr>
        <p:spPr>
          <a:xfrm>
            <a:off x="923544" y="2532887"/>
            <a:ext cx="3032760" cy="679160"/>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ViT / ResNet 把原始图像编码为视觉特征序列 Fᵥ。</a:t>
            </a:r>
          </a:p>
        </p:txBody>
      </p:sp>
      <p:sp>
        <p:nvSpPr>
          <p:cNvPr id="13" name="TextBox 12"/>
          <p:cNvSpPr txBox="1"/>
          <p:nvPr/>
        </p:nvSpPr>
        <p:spPr>
          <a:xfrm>
            <a:off x="4113783" y="2658640"/>
            <a:ext cx="146304" cy="461729"/>
          </a:xfrm>
          <a:prstGeom prst="rect">
            <a:avLst/>
          </a:prstGeom>
          <a:noFill/>
        </p:spPr>
        <p:txBody>
          <a:bodyPr wrap="square" lIns="18288" tIns="18288" rIns="18288" bIns="18288" anchor="ctr">
            <a:spAutoFit/>
          </a:bodyPr>
          <a:lstStyle/>
          <a:p>
            <a:pPr algn="ctr">
              <a:lnSpc>
                <a:spcPct val="105000"/>
              </a:lnSpc>
            </a:pPr>
            <a:r>
              <a:rPr sz="2800" b="1" i="0" dirty="0">
                <a:solidFill>
                  <a:srgbClr val="24477D"/>
                </a:solidFill>
                <a:latin typeface="微软雅黑" panose="020B0503020204020204" pitchFamily="34" charset="-122"/>
              </a:rPr>
              <a:t>→</a:t>
            </a:r>
          </a:p>
        </p:txBody>
      </p:sp>
      <p:sp>
        <p:nvSpPr>
          <p:cNvPr id="14" name="Rounded Rectangle 13"/>
          <p:cNvSpPr/>
          <p:nvPr/>
        </p:nvSpPr>
        <p:spPr>
          <a:xfrm>
            <a:off x="4294632" y="1874519"/>
            <a:ext cx="3416808" cy="2331720"/>
          </a:xfrm>
          <a:prstGeom prst="roundRect">
            <a:avLst>
              <a:gd name="adj" fmla="val 403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4294632" y="1874519"/>
            <a:ext cx="64008" cy="2331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4504944" y="2020824"/>
            <a:ext cx="3032760" cy="401007"/>
          </a:xfrm>
          <a:prstGeom prst="rect">
            <a:avLst/>
          </a:prstGeom>
          <a:noFill/>
        </p:spPr>
        <p:txBody>
          <a:bodyPr wrap="square" lIns="18288" tIns="18288" rIns="18288" bIns="18288" anchor="t">
            <a:spAutoFit/>
          </a:bodyPr>
          <a:lstStyle/>
          <a:p>
            <a:pPr algn="l">
              <a:lnSpc>
                <a:spcPct val="105000"/>
              </a:lnSpc>
            </a:pPr>
            <a:r>
              <a:rPr sz="2400" b="1" i="0" dirty="0">
                <a:solidFill>
                  <a:srgbClr val="2F8E72"/>
                </a:solidFill>
                <a:latin typeface="微软雅黑" panose="020B0503020204020204" pitchFamily="34" charset="-122"/>
              </a:rPr>
              <a:t>2 </a:t>
            </a:r>
            <a:r>
              <a:rPr sz="2400" b="1" i="0" dirty="0" err="1">
                <a:solidFill>
                  <a:srgbClr val="2F8E72"/>
                </a:solidFill>
                <a:latin typeface="微软雅黑" panose="020B0503020204020204" pitchFamily="34" charset="-122"/>
              </a:rPr>
              <a:t>语言编码器</a:t>
            </a:r>
            <a:endParaRPr sz="2400" b="1" i="0" dirty="0">
              <a:solidFill>
                <a:srgbClr val="2F8E72"/>
              </a:solidFill>
              <a:latin typeface="微软雅黑" panose="020B0503020204020204" pitchFamily="34" charset="-122"/>
            </a:endParaRPr>
          </a:p>
        </p:txBody>
      </p:sp>
      <p:sp>
        <p:nvSpPr>
          <p:cNvPr id="17" name="TextBox 16"/>
          <p:cNvSpPr txBox="1"/>
          <p:nvPr/>
        </p:nvSpPr>
        <p:spPr>
          <a:xfrm>
            <a:off x="4504944" y="2532887"/>
            <a:ext cx="3032760" cy="1011559"/>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BERT / PaLM 变体把自然语言指令编码为语言特征 Fₗ。</a:t>
            </a:r>
          </a:p>
        </p:txBody>
      </p:sp>
      <p:sp>
        <p:nvSpPr>
          <p:cNvPr id="18" name="TextBox 17"/>
          <p:cNvSpPr txBox="1"/>
          <p:nvPr/>
        </p:nvSpPr>
        <p:spPr>
          <a:xfrm>
            <a:off x="7695184" y="2658640"/>
            <a:ext cx="146304" cy="461729"/>
          </a:xfrm>
          <a:prstGeom prst="rect">
            <a:avLst/>
          </a:prstGeom>
          <a:noFill/>
        </p:spPr>
        <p:txBody>
          <a:bodyPr wrap="square" lIns="18288" tIns="18288" rIns="18288" bIns="18288" anchor="ctr">
            <a:spAutoFit/>
          </a:bodyPr>
          <a:lstStyle/>
          <a:p>
            <a:pPr algn="ctr">
              <a:lnSpc>
                <a:spcPct val="105000"/>
              </a:lnSpc>
            </a:pPr>
            <a:r>
              <a:rPr sz="2800" b="1" i="0" dirty="0">
                <a:solidFill>
                  <a:srgbClr val="24477D"/>
                </a:solidFill>
                <a:latin typeface="微软雅黑" panose="020B0503020204020204" pitchFamily="34" charset="-122"/>
              </a:rPr>
              <a:t>→</a:t>
            </a:r>
          </a:p>
        </p:txBody>
      </p:sp>
      <p:sp>
        <p:nvSpPr>
          <p:cNvPr id="19" name="Rounded Rectangle 18"/>
          <p:cNvSpPr/>
          <p:nvPr/>
        </p:nvSpPr>
        <p:spPr>
          <a:xfrm>
            <a:off x="7876032" y="1874519"/>
            <a:ext cx="3416808" cy="2331720"/>
          </a:xfrm>
          <a:prstGeom prst="roundRect">
            <a:avLst>
              <a:gd name="adj" fmla="val 337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Rectangle 19"/>
          <p:cNvSpPr/>
          <p:nvPr/>
        </p:nvSpPr>
        <p:spPr>
          <a:xfrm>
            <a:off x="7876032" y="1874519"/>
            <a:ext cx="64008" cy="2331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TextBox 20"/>
          <p:cNvSpPr txBox="1"/>
          <p:nvPr/>
        </p:nvSpPr>
        <p:spPr>
          <a:xfrm>
            <a:off x="8086344" y="2020824"/>
            <a:ext cx="3032760" cy="401007"/>
          </a:xfrm>
          <a:prstGeom prst="rect">
            <a:avLst/>
          </a:prstGeom>
          <a:noFill/>
        </p:spPr>
        <p:txBody>
          <a:bodyPr wrap="square" lIns="18288" tIns="18288" rIns="18288" bIns="18288" anchor="t">
            <a:spAutoFit/>
          </a:bodyPr>
          <a:lstStyle/>
          <a:p>
            <a:pPr algn="l">
              <a:lnSpc>
                <a:spcPct val="105000"/>
              </a:lnSpc>
            </a:pPr>
            <a:r>
              <a:rPr sz="2400" b="1" i="0" dirty="0">
                <a:solidFill>
                  <a:srgbClr val="C58A24"/>
                </a:solidFill>
                <a:latin typeface="微软雅黑" panose="020B0503020204020204" pitchFamily="34" charset="-122"/>
              </a:rPr>
              <a:t>3 </a:t>
            </a:r>
            <a:r>
              <a:rPr sz="2400" b="1" i="0" dirty="0" err="1">
                <a:solidFill>
                  <a:srgbClr val="C58A24"/>
                </a:solidFill>
                <a:latin typeface="微软雅黑" panose="020B0503020204020204" pitchFamily="34" charset="-122"/>
              </a:rPr>
              <a:t>融合</a:t>
            </a:r>
            <a:r>
              <a:rPr sz="2400" b="1" i="0" dirty="0">
                <a:solidFill>
                  <a:srgbClr val="C58A24"/>
                </a:solidFill>
                <a:latin typeface="微软雅黑" panose="020B0503020204020204" pitchFamily="34" charset="-122"/>
              </a:rPr>
              <a:t> + </a:t>
            </a:r>
            <a:r>
              <a:rPr sz="2400" b="1" i="0" dirty="0" err="1">
                <a:solidFill>
                  <a:srgbClr val="C58A24"/>
                </a:solidFill>
                <a:latin typeface="微软雅黑" panose="020B0503020204020204" pitchFamily="34" charset="-122"/>
              </a:rPr>
              <a:t>动作解码</a:t>
            </a:r>
            <a:endParaRPr sz="2400" b="1" i="0" dirty="0">
              <a:solidFill>
                <a:srgbClr val="C58A24"/>
              </a:solidFill>
              <a:latin typeface="微软雅黑" panose="020B0503020204020204" pitchFamily="34" charset="-122"/>
            </a:endParaRPr>
          </a:p>
        </p:txBody>
      </p:sp>
      <p:sp>
        <p:nvSpPr>
          <p:cNvPr id="22" name="TextBox 21"/>
          <p:cNvSpPr txBox="1"/>
          <p:nvPr/>
        </p:nvSpPr>
        <p:spPr>
          <a:xfrm>
            <a:off x="8086344" y="2532887"/>
            <a:ext cx="3032760" cy="1012072"/>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自注意力 / 交叉注意力融合多模态特征，再生成机器人动作。</a:t>
            </a:r>
          </a:p>
        </p:txBody>
      </p:sp>
      <p:sp>
        <p:nvSpPr>
          <p:cNvPr id="23" name="TextBox 22"/>
          <p:cNvSpPr txBox="1"/>
          <p:nvPr/>
        </p:nvSpPr>
        <p:spPr>
          <a:xfrm>
            <a:off x="822960" y="4927605"/>
            <a:ext cx="10515600" cy="340350"/>
          </a:xfrm>
          <a:prstGeom prst="rect">
            <a:avLst/>
          </a:prstGeom>
          <a:noFill/>
        </p:spPr>
        <p:txBody>
          <a:bodyPr wrap="square" lIns="18288" tIns="18288" rIns="18288" bIns="18288" anchor="ctr">
            <a:spAutoFit/>
          </a:bodyPr>
          <a:lstStyle/>
          <a:p>
            <a:pPr algn="ctr">
              <a:lnSpc>
                <a:spcPct val="105000"/>
              </a:lnSpc>
            </a:pPr>
            <a:r>
              <a:rPr sz="2000" b="1" i="0" dirty="0" err="1">
                <a:solidFill>
                  <a:srgbClr val="24477D"/>
                </a:solidFill>
                <a:latin typeface="微软雅黑" panose="020B0503020204020204" pitchFamily="34" charset="-122"/>
              </a:rPr>
              <a:t>三个模块共同构成可以端到端训练的统一系统</a:t>
            </a:r>
            <a:r>
              <a:rPr sz="2000" b="1" i="0" dirty="0">
                <a:solidFill>
                  <a:srgbClr val="24477D"/>
                </a:solidFill>
                <a:latin typeface="微软雅黑" panose="020B0503020204020204" pitchFamily="34" charset="-122"/>
              </a:rPr>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93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模块</a:t>
            </a:r>
            <a:r>
              <a:rPr sz="3500" b="1" i="0" dirty="0">
                <a:solidFill>
                  <a:srgbClr val="24477D"/>
                </a:solidFill>
                <a:latin typeface="微软雅黑" panose="020B0503020204020204" pitchFamily="34" charset="-122"/>
              </a:rPr>
              <a:t> 1：视觉编码器</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828800"/>
            <a:ext cx="10241280" cy="2085956"/>
          </a:xfrm>
          <a:prstGeom prst="rect">
            <a:avLst/>
          </a:prstGeom>
          <a:noFill/>
        </p:spPr>
        <p:txBody>
          <a:bodyPr wrap="square" lIns="18288" tIns="18288" rIns="18288" bIns="18288">
            <a:spAutoFit/>
          </a:bodyPr>
          <a:lstStyle/>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输入原始图像</a:t>
            </a:r>
            <a:r>
              <a:rPr sz="2800" dirty="0">
                <a:solidFill>
                  <a:srgbClr val="222833"/>
                </a:solidFill>
                <a:latin typeface="微软雅黑"/>
              </a:rPr>
              <a:t> Iₜ ∈ </a:t>
            </a:r>
            <a:r>
              <a:rPr sz="2800" dirty="0" err="1">
                <a:solidFill>
                  <a:srgbClr val="222833"/>
                </a:solidFill>
                <a:latin typeface="微软雅黑"/>
              </a:rPr>
              <a:t>Rᴴˣᵂˣ</a:t>
            </a:r>
            <a:r>
              <a:rPr sz="2800" dirty="0">
                <a:solidFill>
                  <a:srgbClr val="222833"/>
                </a:solidFill>
                <a:latin typeface="微软雅黑"/>
              </a:rPr>
              <a:t>ᶜ。</a:t>
            </a:r>
          </a:p>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常用</a:t>
            </a:r>
            <a:r>
              <a:rPr sz="2800" dirty="0">
                <a:solidFill>
                  <a:srgbClr val="222833"/>
                </a:solidFill>
                <a:latin typeface="微软雅黑"/>
              </a:rPr>
              <a:t> Vision </a:t>
            </a:r>
            <a:r>
              <a:rPr sz="2800" dirty="0" err="1">
                <a:solidFill>
                  <a:srgbClr val="222833"/>
                </a:solidFill>
                <a:latin typeface="微软雅黑"/>
              </a:rPr>
              <a:t>Transformer（ViT）或</a:t>
            </a:r>
            <a:r>
              <a:rPr sz="2800" dirty="0">
                <a:solidFill>
                  <a:srgbClr val="222833"/>
                </a:solidFill>
                <a:latin typeface="微软雅黑"/>
              </a:rPr>
              <a:t> </a:t>
            </a:r>
            <a:r>
              <a:rPr sz="2800" dirty="0" err="1">
                <a:solidFill>
                  <a:srgbClr val="222833"/>
                </a:solidFill>
                <a:latin typeface="微软雅黑"/>
              </a:rPr>
              <a:t>ResNet</a:t>
            </a:r>
            <a:r>
              <a:rPr sz="2800" dirty="0">
                <a:solidFill>
                  <a:srgbClr val="222833"/>
                </a:solidFill>
                <a:latin typeface="微软雅黑"/>
              </a:rPr>
              <a:t> </a:t>
            </a:r>
            <a:r>
              <a:rPr sz="2800" dirty="0" err="1">
                <a:solidFill>
                  <a:srgbClr val="222833"/>
                </a:solidFill>
                <a:latin typeface="微软雅黑"/>
              </a:rPr>
              <a:t>提取视觉特征</a:t>
            </a:r>
            <a:r>
              <a:rPr sz="2800" dirty="0">
                <a:solidFill>
                  <a:srgbClr val="222833"/>
                </a:solidFill>
                <a:latin typeface="微软雅黑"/>
              </a:rPr>
              <a:t>。</a:t>
            </a:r>
          </a:p>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输出特征序列</a:t>
            </a:r>
            <a:r>
              <a:rPr sz="2800" dirty="0">
                <a:solidFill>
                  <a:srgbClr val="222833"/>
                </a:solidFill>
                <a:latin typeface="微软雅黑"/>
              </a:rPr>
              <a:t> Fᵥ，</a:t>
            </a:r>
            <a:r>
              <a:rPr sz="2800" dirty="0" err="1">
                <a:solidFill>
                  <a:srgbClr val="222833"/>
                </a:solidFill>
                <a:latin typeface="微软雅黑"/>
              </a:rPr>
              <a:t>保留物体、位置、纹理与场景关系，为语言对齐与动作预测提供视觉依据</a:t>
            </a:r>
            <a:r>
              <a:rPr sz="2800" dirty="0">
                <a:solidFill>
                  <a:srgbClr val="222833"/>
                </a:solidFill>
                <a:latin typeface="微软雅黑"/>
              </a:rPr>
              <a: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94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模块</a:t>
            </a:r>
            <a:r>
              <a:rPr sz="3500" b="1" i="0" dirty="0">
                <a:solidFill>
                  <a:srgbClr val="24477D"/>
                </a:solidFill>
                <a:latin typeface="微软雅黑" panose="020B0503020204020204" pitchFamily="34" charset="-122"/>
              </a:rPr>
              <a:t> 2：语言编码器</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828800"/>
            <a:ext cx="10241280" cy="2085956"/>
          </a:xfrm>
          <a:prstGeom prst="rect">
            <a:avLst/>
          </a:prstGeom>
          <a:noFill/>
        </p:spPr>
        <p:txBody>
          <a:bodyPr wrap="square" lIns="18288" tIns="18288" rIns="18288" bIns="18288">
            <a:spAutoFit/>
          </a:bodyPr>
          <a:lstStyle/>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基于预训练大语言模型，把任务指令</a:t>
            </a:r>
            <a:r>
              <a:rPr sz="2800" dirty="0">
                <a:solidFill>
                  <a:srgbClr val="222833"/>
                </a:solidFill>
                <a:latin typeface="微软雅黑"/>
              </a:rPr>
              <a:t> L </a:t>
            </a:r>
            <a:r>
              <a:rPr sz="2800" dirty="0" err="1">
                <a:solidFill>
                  <a:srgbClr val="222833"/>
                </a:solidFill>
                <a:latin typeface="微软雅黑"/>
              </a:rPr>
              <a:t>编码成语言特征序列</a:t>
            </a:r>
            <a:r>
              <a:rPr sz="2800" dirty="0">
                <a:solidFill>
                  <a:srgbClr val="222833"/>
                </a:solidFill>
                <a:latin typeface="微软雅黑"/>
              </a:rPr>
              <a:t> Fₗ</a:t>
            </a:r>
          </a:p>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语言特征需要捕获动作意图、对象、属性、空间关系和约束</a:t>
            </a:r>
            <a:endParaRPr sz="2800" dirty="0">
              <a:solidFill>
                <a:srgbClr val="222833"/>
              </a:solidFill>
              <a:latin typeface="微软雅黑"/>
            </a:endParaRPr>
          </a:p>
          <a:p>
            <a:pPr algn="l">
              <a:lnSpc>
                <a:spcPct val="112000"/>
              </a:lnSpc>
              <a:spcAft>
                <a:spcPts val="576"/>
              </a:spcAft>
            </a:pPr>
            <a:r>
              <a:rPr sz="2800" dirty="0">
                <a:solidFill>
                  <a:srgbClr val="222833"/>
                </a:solidFill>
                <a:latin typeface="微软雅黑"/>
              </a:rPr>
              <a:t>• </a:t>
            </a:r>
            <a:r>
              <a:rPr sz="2800" dirty="0" err="1">
                <a:solidFill>
                  <a:srgbClr val="222833"/>
                </a:solidFill>
                <a:latin typeface="微软雅黑"/>
              </a:rPr>
              <a:t>预训练模型提供广泛语义先验，使机器人更容易理解未见过的新表达</a:t>
            </a:r>
            <a:endParaRPr sz="2800" dirty="0">
              <a:solidFill>
                <a:srgbClr val="222833"/>
              </a:solidFill>
              <a:latin typeface="微软雅黑"/>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95</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模块</a:t>
            </a:r>
            <a:r>
              <a:rPr sz="3500" b="1" i="0" dirty="0">
                <a:solidFill>
                  <a:srgbClr val="24477D"/>
                </a:solidFill>
                <a:latin typeface="微软雅黑" panose="020B0503020204020204" pitchFamily="34" charset="-122"/>
              </a:rPr>
              <a:t> 3：多模态融合与动作解码器</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783080"/>
            <a:ext cx="10332720" cy="1815241"/>
          </a:xfrm>
          <a:prstGeom prst="rect">
            <a:avLst/>
          </a:prstGeom>
          <a:noFill/>
        </p:spPr>
        <p:txBody>
          <a:bodyPr wrap="square" lIns="18288" tIns="18288" rIns="18288" bIns="18288">
            <a:spAutoFit/>
          </a:bodyPr>
          <a:lstStyle/>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融合方式：词元拼接后的自注意力、Cross-Attention、FiLM</a:t>
            </a:r>
            <a:r>
              <a:rPr sz="2400" dirty="0">
                <a:solidFill>
                  <a:srgbClr val="222833"/>
                </a:solidFill>
                <a:latin typeface="微软雅黑"/>
              </a:rPr>
              <a:t> 等</a:t>
            </a: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动作头可以是自回归</a:t>
            </a:r>
            <a:r>
              <a:rPr sz="2400" dirty="0">
                <a:solidFill>
                  <a:srgbClr val="222833"/>
                </a:solidFill>
                <a:latin typeface="微软雅黑"/>
              </a:rPr>
              <a:t> </a:t>
            </a:r>
            <a:r>
              <a:rPr sz="2400" dirty="0" err="1">
                <a:solidFill>
                  <a:srgbClr val="222833"/>
                </a:solidFill>
                <a:latin typeface="微软雅黑"/>
              </a:rPr>
              <a:t>Transformer、连续动作预测头、扩散模型或流匹配模型</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最终输出离散动作词元、连续控制量或未来动作块</a:t>
            </a:r>
            <a:endParaRPr sz="2400" dirty="0">
              <a:solidFill>
                <a:srgbClr val="222833"/>
              </a:solidFill>
              <a:latin typeface="微软雅黑"/>
            </a:endParaRPr>
          </a:p>
        </p:txBody>
      </p:sp>
      <p:sp>
        <p:nvSpPr>
          <p:cNvPr id="10" name="TextBox 9"/>
          <p:cNvSpPr txBox="1"/>
          <p:nvPr/>
        </p:nvSpPr>
        <p:spPr>
          <a:xfrm>
            <a:off x="822960" y="4064000"/>
            <a:ext cx="10149840" cy="340350"/>
          </a:xfrm>
          <a:prstGeom prst="rect">
            <a:avLst/>
          </a:prstGeom>
          <a:noFill/>
        </p:spPr>
        <p:txBody>
          <a:bodyPr wrap="square" lIns="18288" tIns="18288" rIns="18288" bIns="18288" anchor="t">
            <a:spAutoFit/>
          </a:bodyPr>
          <a:lstStyle/>
          <a:p>
            <a:pPr algn="ctr">
              <a:lnSpc>
                <a:spcPct val="105000"/>
              </a:lnSpc>
            </a:pPr>
            <a:r>
              <a:rPr sz="2000" b="1" i="0" dirty="0">
                <a:solidFill>
                  <a:srgbClr val="24477D"/>
                </a:solidFill>
                <a:latin typeface="微软雅黑" panose="020B0503020204020204" pitchFamily="34" charset="-122"/>
              </a:rPr>
              <a:t>“</a:t>
            </a:r>
            <a:r>
              <a:rPr sz="2000" b="1" i="0" dirty="0" err="1">
                <a:solidFill>
                  <a:srgbClr val="24477D"/>
                </a:solidFill>
                <a:latin typeface="微软雅黑" panose="020B0503020204020204" pitchFamily="34" charset="-122"/>
              </a:rPr>
              <a:t>统一表示</a:t>
            </a:r>
            <a:r>
              <a:rPr sz="2000" b="1" i="0" dirty="0">
                <a:solidFill>
                  <a:srgbClr val="24477D"/>
                </a:solidFill>
                <a:latin typeface="微软雅黑" panose="020B0503020204020204" pitchFamily="34" charset="-122"/>
              </a:rPr>
              <a:t> + </a:t>
            </a:r>
            <a:r>
              <a:rPr sz="2000" b="1" i="0" dirty="0" err="1">
                <a:solidFill>
                  <a:srgbClr val="24477D"/>
                </a:solidFill>
                <a:latin typeface="微软雅黑" panose="020B0503020204020204" pitchFamily="34" charset="-122"/>
              </a:rPr>
              <a:t>专门动作头”是许多现代</a:t>
            </a:r>
            <a:r>
              <a:rPr sz="2000" b="1" i="0" dirty="0">
                <a:solidFill>
                  <a:srgbClr val="24477D"/>
                </a:solidFill>
                <a:latin typeface="微软雅黑" panose="020B0503020204020204" pitchFamily="34" charset="-122"/>
              </a:rPr>
              <a:t> VLA </a:t>
            </a:r>
            <a:r>
              <a:rPr sz="2000" b="1" i="0" dirty="0" err="1">
                <a:solidFill>
                  <a:srgbClr val="24477D"/>
                </a:solidFill>
                <a:latin typeface="微软雅黑" panose="020B0503020204020204" pitchFamily="34" charset="-122"/>
              </a:rPr>
              <a:t>的典型设计</a:t>
            </a:r>
            <a:endParaRPr sz="2000" b="1" i="0" dirty="0">
              <a:solidFill>
                <a:srgbClr val="24477D"/>
              </a:solidFill>
              <a:latin typeface="微软雅黑" panose="020B0503020204020204" pitchFamily="34"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96</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RT-2：把预训练 VLM </a:t>
            </a:r>
            <a:r>
              <a:rPr sz="3500" b="1" i="0" dirty="0" err="1">
                <a:solidFill>
                  <a:srgbClr val="24477D"/>
                </a:solidFill>
                <a:latin typeface="微软雅黑" panose="020B0503020204020204" pitchFamily="34" charset="-122"/>
              </a:rPr>
              <a:t>扩展为动作生成器</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737360"/>
            <a:ext cx="10241280" cy="1680012"/>
          </a:xfrm>
          <a:prstGeom prst="rect">
            <a:avLst/>
          </a:prstGeom>
          <a:noFill/>
        </p:spPr>
        <p:txBody>
          <a:bodyPr wrap="square" lIns="18288" tIns="18288" rIns="18288" bIns="18288">
            <a:spAutoFit/>
          </a:bodyPr>
          <a:lstStyle/>
          <a:p>
            <a:pPr algn="l">
              <a:lnSpc>
                <a:spcPct val="112000"/>
              </a:lnSpc>
              <a:spcAft>
                <a:spcPts val="576"/>
              </a:spcAft>
            </a:pPr>
            <a:r>
              <a:rPr sz="2200" dirty="0">
                <a:solidFill>
                  <a:srgbClr val="222833"/>
                </a:solidFill>
                <a:latin typeface="微软雅黑"/>
              </a:rPr>
              <a:t>• RT-2 </a:t>
            </a:r>
            <a:r>
              <a:rPr sz="2200" dirty="0" err="1">
                <a:solidFill>
                  <a:srgbClr val="222833"/>
                </a:solidFill>
                <a:latin typeface="微软雅黑"/>
              </a:rPr>
              <a:t>将视觉－语言模型直接扩展为机器人动作生成器</a:t>
            </a:r>
            <a:endParaRPr sz="2200" dirty="0">
              <a:solidFill>
                <a:srgbClr val="222833"/>
              </a:solidFill>
              <a:latin typeface="微软雅黑"/>
            </a:endParaRPr>
          </a:p>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动作词元化（Action</a:t>
            </a:r>
            <a:r>
              <a:rPr sz="2200" dirty="0">
                <a:solidFill>
                  <a:srgbClr val="222833"/>
                </a:solidFill>
                <a:latin typeface="微软雅黑"/>
              </a:rPr>
              <a:t> </a:t>
            </a:r>
            <a:r>
              <a:rPr sz="2200" dirty="0" err="1">
                <a:solidFill>
                  <a:srgbClr val="222833"/>
                </a:solidFill>
                <a:latin typeface="微软雅黑"/>
              </a:rPr>
              <a:t>Tokenization）把机器人动作表示成与文本相似的可预测</a:t>
            </a:r>
            <a:r>
              <a:rPr sz="2200" dirty="0">
                <a:solidFill>
                  <a:srgbClr val="222833"/>
                </a:solidFill>
                <a:latin typeface="微软雅黑"/>
              </a:rPr>
              <a:t> token</a:t>
            </a:r>
          </a:p>
          <a:p>
            <a:pPr algn="l">
              <a:lnSpc>
                <a:spcPct val="112000"/>
              </a:lnSpc>
              <a:spcAft>
                <a:spcPts val="576"/>
              </a:spcAft>
            </a:pPr>
            <a:r>
              <a:rPr sz="2200" dirty="0">
                <a:solidFill>
                  <a:srgbClr val="222833"/>
                </a:solidFill>
                <a:latin typeface="微软雅黑"/>
              </a:rPr>
              <a:t>• </a:t>
            </a:r>
            <a:r>
              <a:rPr sz="2200" dirty="0" err="1">
                <a:solidFill>
                  <a:srgbClr val="222833"/>
                </a:solidFill>
                <a:latin typeface="微软雅黑"/>
              </a:rPr>
              <a:t>因此模型能够把视觉－语言预训练得到的语义知识迁移到机器人控制任务中</a:t>
            </a:r>
            <a:endParaRPr sz="2200" dirty="0">
              <a:solidFill>
                <a:srgbClr val="222833"/>
              </a:solidFill>
              <a:latin typeface="微软雅黑"/>
            </a:endParaRPr>
          </a:p>
        </p:txBody>
      </p:sp>
      <p:sp>
        <p:nvSpPr>
          <p:cNvPr id="10" name="TextBox 9"/>
          <p:cNvSpPr txBox="1"/>
          <p:nvPr/>
        </p:nvSpPr>
        <p:spPr>
          <a:xfrm>
            <a:off x="914400" y="4130553"/>
            <a:ext cx="10149840" cy="340350"/>
          </a:xfrm>
          <a:prstGeom prst="rect">
            <a:avLst/>
          </a:prstGeom>
          <a:noFill/>
        </p:spPr>
        <p:txBody>
          <a:bodyPr wrap="square" lIns="18288" tIns="18288" rIns="18288" bIns="18288" anchor="t">
            <a:spAutoFit/>
          </a:bodyPr>
          <a:lstStyle/>
          <a:p>
            <a:pPr algn="ctr">
              <a:lnSpc>
                <a:spcPct val="105000"/>
              </a:lnSpc>
            </a:pPr>
            <a:r>
              <a:rPr sz="2000" b="1" i="0" dirty="0">
                <a:solidFill>
                  <a:srgbClr val="2F8E72"/>
                </a:solidFill>
                <a:latin typeface="微软雅黑" panose="020B0503020204020204" pitchFamily="34" charset="-122"/>
              </a:rPr>
              <a:t>关键创新不是只“</a:t>
            </a:r>
            <a:r>
              <a:rPr sz="2000" b="1" i="0" dirty="0" err="1">
                <a:solidFill>
                  <a:srgbClr val="2F8E72"/>
                </a:solidFill>
                <a:latin typeface="微软雅黑" panose="020B0503020204020204" pitchFamily="34" charset="-122"/>
              </a:rPr>
              <a:t>看懂网页知识</a:t>
            </a:r>
            <a:r>
              <a:rPr sz="2000" b="1" i="0" dirty="0">
                <a:solidFill>
                  <a:srgbClr val="2F8E72"/>
                </a:solidFill>
                <a:latin typeface="微软雅黑" panose="020B0503020204020204" pitchFamily="34" charset="-122"/>
              </a:rPr>
              <a:t>”，</a:t>
            </a:r>
            <a:r>
              <a:rPr sz="2000" b="1" i="0" dirty="0" err="1">
                <a:solidFill>
                  <a:srgbClr val="2F8E72"/>
                </a:solidFill>
                <a:latin typeface="微软雅黑" panose="020B0503020204020204" pitchFamily="34" charset="-122"/>
              </a:rPr>
              <a:t>而是让这些知识影响实际物理动作</a:t>
            </a:r>
            <a:r>
              <a:rPr sz="2000" b="1" i="0" dirty="0">
                <a:solidFill>
                  <a:srgbClr val="2F8E72"/>
                </a:solidFill>
                <a:latin typeface="微软雅黑" panose="020B0503020204020204" pitchFamily="34" charset="-122"/>
              </a:rPr>
              <a: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ea typeface="微软雅黑" panose="020B0503020204020204" pitchFamily="34" charset="-122"/>
              </a:rPr>
              <a:t>具身智能导论</a:t>
            </a:r>
            <a:r>
              <a:rPr sz="1000" b="0" i="0" dirty="0">
                <a:solidFill>
                  <a:srgbClr val="8C98AA"/>
                </a:solidFill>
                <a:latin typeface="微软雅黑" panose="020B0503020204020204" pitchFamily="34" charset="-122"/>
                <a:ea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ea typeface="微软雅黑" panose="020B0503020204020204" pitchFamily="34" charset="-122"/>
              </a:rPr>
              <a:t>视觉－语言－动作模型</a:t>
            </a:r>
            <a:endParaRPr sz="1000" b="0" i="0" dirty="0">
              <a:solidFill>
                <a:srgbClr val="8C98AA"/>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ea typeface="微软雅黑" panose="020B0503020204020204" pitchFamily="34" charset="-122"/>
              </a:rPr>
              <a:t>97</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ea typeface="微软雅黑" panose="020B0503020204020204" pitchFamily="34" charset="-122"/>
              </a:rPr>
              <a:t>VLA </a:t>
            </a:r>
            <a:r>
              <a:rPr sz="3500" b="1" i="0" dirty="0" err="1">
                <a:solidFill>
                  <a:srgbClr val="24477D"/>
                </a:solidFill>
                <a:latin typeface="微软雅黑" panose="020B0503020204020204" pitchFamily="34" charset="-122"/>
                <a:ea typeface="微软雅黑" panose="020B0503020204020204" pitchFamily="34" charset="-122"/>
              </a:rPr>
              <a:t>的条件策略表示</a:t>
            </a:r>
            <a:endParaRPr sz="3500" b="1" i="0" dirty="0">
              <a:solidFill>
                <a:srgbClr val="24477D"/>
              </a:solidFill>
              <a:latin typeface="微软雅黑" panose="020B0503020204020204" pitchFamily="34" charset="-122"/>
              <a:ea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2" name="Rounded Rectangle 11"/>
          <p:cNvSpPr/>
          <p:nvPr/>
        </p:nvSpPr>
        <p:spPr>
          <a:xfrm>
            <a:off x="952500" y="3429000"/>
            <a:ext cx="10287000" cy="1534668"/>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3" name="TextBox 12"/>
          <p:cNvSpPr txBox="1"/>
          <p:nvPr/>
        </p:nvSpPr>
        <p:spPr>
          <a:xfrm>
            <a:off x="1234440" y="3703320"/>
            <a:ext cx="9738360" cy="1247714"/>
          </a:xfrm>
          <a:prstGeom prst="rect">
            <a:avLst/>
          </a:prstGeom>
          <a:noFill/>
        </p:spPr>
        <p:txBody>
          <a:bodyPr wrap="square" lIns="18288" tIns="18288" rIns="18288" bIns="18288" anchor="t">
            <a:spAutoFit/>
          </a:bodyPr>
          <a:lstStyle/>
          <a:p>
            <a:pPr algn="l">
              <a:lnSpc>
                <a:spcPct val="112000"/>
              </a:lnSpc>
            </a:pPr>
            <a:r>
              <a:rPr sz="2400" b="0" i="0" dirty="0">
                <a:solidFill>
                  <a:srgbClr val="222833"/>
                </a:solidFill>
                <a:latin typeface="微软雅黑" panose="020B0503020204020204" pitchFamily="34" charset="-122"/>
                <a:ea typeface="微软雅黑" panose="020B0503020204020204" pitchFamily="34" charset="-122"/>
              </a:rPr>
              <a:t>O</a:t>
            </a:r>
            <a:r>
              <a:rPr sz="2400" b="0" i="0" baseline="-25000" dirty="0">
                <a:solidFill>
                  <a:srgbClr val="222833"/>
                </a:solidFill>
                <a:latin typeface="微软雅黑" panose="020B0503020204020204" pitchFamily="34" charset="-122"/>
                <a:ea typeface="微软雅黑" panose="020B0503020204020204" pitchFamily="34" charset="-122"/>
              </a:rPr>
              <a:t>≤</a:t>
            </a:r>
            <a:r>
              <a:rPr sz="2400" b="0" i="0" dirty="0">
                <a:solidFill>
                  <a:srgbClr val="222833"/>
                </a:solidFill>
                <a:latin typeface="微软雅黑" panose="020B0503020204020204" pitchFamily="34" charset="-122"/>
                <a:ea typeface="微软雅黑" panose="020B0503020204020204" pitchFamily="34" charset="-122"/>
              </a:rPr>
              <a:t>ₜ：</a:t>
            </a:r>
            <a:r>
              <a:rPr sz="2400" b="0" i="0" dirty="0" err="1">
                <a:solidFill>
                  <a:srgbClr val="222833"/>
                </a:solidFill>
                <a:latin typeface="微软雅黑" panose="020B0503020204020204" pitchFamily="34" charset="-122"/>
                <a:ea typeface="微软雅黑" panose="020B0503020204020204" pitchFamily="34" charset="-122"/>
              </a:rPr>
              <a:t>截至</a:t>
            </a:r>
            <a:r>
              <a:rPr sz="2400" b="0" i="0" dirty="0">
                <a:solidFill>
                  <a:srgbClr val="222833"/>
                </a:solidFill>
                <a:latin typeface="微软雅黑" panose="020B0503020204020204" pitchFamily="34" charset="-122"/>
                <a:ea typeface="微软雅黑" panose="020B0503020204020204" pitchFamily="34" charset="-122"/>
              </a:rPr>
              <a:t> t </a:t>
            </a:r>
            <a:r>
              <a:rPr sz="2400" b="0" i="0" dirty="0" err="1">
                <a:solidFill>
                  <a:srgbClr val="222833"/>
                </a:solidFill>
                <a:latin typeface="微软雅黑" panose="020B0503020204020204" pitchFamily="34" charset="-122"/>
                <a:ea typeface="微软雅黑" panose="020B0503020204020204" pitchFamily="34" charset="-122"/>
              </a:rPr>
              <a:t>时刻的视觉观测；L：语言指令；s</a:t>
            </a:r>
            <a:r>
              <a:rPr sz="2400" b="0" i="0" dirty="0">
                <a:solidFill>
                  <a:srgbClr val="222833"/>
                </a:solidFill>
                <a:latin typeface="微软雅黑" panose="020B0503020204020204" pitchFamily="34" charset="-122"/>
                <a:ea typeface="微软雅黑" panose="020B0503020204020204" pitchFamily="34" charset="-122"/>
              </a:rPr>
              <a:t>ₜ：</a:t>
            </a:r>
            <a:r>
              <a:rPr sz="2400" b="0" i="0" dirty="0" err="1">
                <a:solidFill>
                  <a:srgbClr val="222833"/>
                </a:solidFill>
                <a:latin typeface="微软雅黑" panose="020B0503020204020204" pitchFamily="34" charset="-122"/>
                <a:ea typeface="微软雅黑" panose="020B0503020204020204" pitchFamily="34" charset="-122"/>
              </a:rPr>
              <a:t>机器人状态；a</a:t>
            </a:r>
            <a:r>
              <a:rPr sz="2400" b="0" i="0" dirty="0">
                <a:solidFill>
                  <a:srgbClr val="222833"/>
                </a:solidFill>
                <a:latin typeface="微软雅黑" panose="020B0503020204020204" pitchFamily="34" charset="-122"/>
                <a:ea typeface="微软雅黑" panose="020B0503020204020204" pitchFamily="34" charset="-122"/>
              </a:rPr>
              <a:t>ₜ:ₜ₊</a:t>
            </a:r>
            <a:r>
              <a:rPr lang="en-US" sz="2400" b="0" i="0" baseline="-25000" dirty="0" err="1">
                <a:solidFill>
                  <a:srgbClr val="222833"/>
                </a:solidFill>
                <a:latin typeface="微软雅黑" panose="020B0503020204020204" pitchFamily="34" charset="-122"/>
                <a:ea typeface="微软雅黑" panose="020B0503020204020204" pitchFamily="34" charset="-122"/>
              </a:rPr>
              <a:t>H</a:t>
            </a:r>
            <a:r>
              <a:rPr sz="2400" b="0" i="0" dirty="0" err="1">
                <a:solidFill>
                  <a:srgbClr val="222833"/>
                </a:solidFill>
                <a:latin typeface="微软雅黑" panose="020B0503020204020204" pitchFamily="34" charset="-122"/>
                <a:ea typeface="微软雅黑" panose="020B0503020204020204" pitchFamily="34" charset="-122"/>
              </a:rPr>
              <a:t>：当前及未来</a:t>
            </a:r>
            <a:r>
              <a:rPr sz="2400" b="0" i="0" dirty="0">
                <a:solidFill>
                  <a:srgbClr val="222833"/>
                </a:solidFill>
                <a:latin typeface="微软雅黑" panose="020B0503020204020204" pitchFamily="34" charset="-122"/>
                <a:ea typeface="微软雅黑" panose="020B0503020204020204" pitchFamily="34" charset="-122"/>
              </a:rPr>
              <a:t> H </a:t>
            </a:r>
            <a:r>
              <a:rPr sz="2400" b="0" i="0" dirty="0" err="1">
                <a:solidFill>
                  <a:srgbClr val="222833"/>
                </a:solidFill>
                <a:latin typeface="微软雅黑" panose="020B0503020204020204" pitchFamily="34" charset="-122"/>
                <a:ea typeface="微软雅黑" panose="020B0503020204020204" pitchFamily="34" charset="-122"/>
              </a:rPr>
              <a:t>步动作</a:t>
            </a:r>
            <a:r>
              <a:rPr sz="2400" b="0" i="0" dirty="0">
                <a:solidFill>
                  <a:srgbClr val="222833"/>
                </a:solidFill>
                <a:latin typeface="微软雅黑" panose="020B0503020204020204" pitchFamily="34" charset="-122"/>
                <a:ea typeface="微软雅黑" panose="020B0503020204020204" pitchFamily="34" charset="-122"/>
              </a:rPr>
              <a:t>。</a:t>
            </a:r>
            <a:endParaRPr lang="en-US" sz="2400" b="0" i="0" dirty="0">
              <a:solidFill>
                <a:srgbClr val="222833"/>
              </a:solidFill>
              <a:latin typeface="微软雅黑" panose="020B0503020204020204" pitchFamily="34" charset="-122"/>
              <a:ea typeface="微软雅黑" panose="020B0503020204020204" pitchFamily="34" charset="-122"/>
            </a:endParaRPr>
          </a:p>
          <a:p>
            <a:pPr>
              <a:lnSpc>
                <a:spcPct val="112000"/>
              </a:lnSpc>
            </a:pPr>
            <a:r>
              <a:rPr lang="zh-CN" altLang="en-US" sz="2400" dirty="0">
                <a:solidFill>
                  <a:srgbClr val="222833"/>
                </a:solidFill>
                <a:latin typeface="微软雅黑" panose="020B0503020204020204" pitchFamily="34" charset="-122"/>
                <a:ea typeface="微软雅黑" panose="020B0503020204020204" pitchFamily="34" charset="-122"/>
              </a:rPr>
              <a:t>该模型直接最大化演示数据的似然概率</a:t>
            </a:r>
            <a:endParaRPr sz="2400" b="0" i="0" dirty="0">
              <a:solidFill>
                <a:srgbClr val="222833"/>
              </a:solidFill>
              <a:latin typeface="微软雅黑" panose="020B0503020204020204" pitchFamily="34" charset="-122"/>
              <a:ea typeface="微软雅黑" panose="020B0503020204020204" pitchFamily="34" charset="-122"/>
            </a:endParaRPr>
          </a:p>
        </p:txBody>
      </p:sp>
      <p:pic>
        <p:nvPicPr>
          <p:cNvPr id="15" name="图片 14">
            <a:extLst>
              <a:ext uri="{FF2B5EF4-FFF2-40B4-BE49-F238E27FC236}">
                <a16:creationId xmlns:a16="http://schemas.microsoft.com/office/drawing/2014/main" id="{7ADED719-1304-04C6-6C89-9B86E58DAD8C}"/>
              </a:ext>
            </a:extLst>
          </p:cNvPr>
          <p:cNvPicPr>
            <a:picLocks noChangeAspect="1"/>
          </p:cNvPicPr>
          <p:nvPr/>
        </p:nvPicPr>
        <p:blipFill>
          <a:blip r:embed="rId2"/>
          <a:stretch>
            <a:fillRect/>
          </a:stretch>
        </p:blipFill>
        <p:spPr>
          <a:xfrm>
            <a:off x="3093495" y="1951461"/>
            <a:ext cx="5745929" cy="1315734"/>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98298"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98</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7.5.2 </a:t>
            </a:r>
            <a:r>
              <a:rPr sz="3500" b="1" i="0" dirty="0" err="1">
                <a:solidFill>
                  <a:srgbClr val="24477D"/>
                </a:solidFill>
                <a:latin typeface="微软雅黑" panose="020B0503020204020204" pitchFamily="34" charset="-122"/>
              </a:rPr>
              <a:t>多模态融合：VLA</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成功的关键</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22960" y="1783080"/>
            <a:ext cx="10287000" cy="3474720"/>
          </a:xfrm>
          <a:prstGeom prst="rect">
            <a:avLst/>
          </a:prstGeom>
          <a:noFill/>
        </p:spPr>
        <p:txBody>
          <a:bodyPr wrap="square" lIns="18288" tIns="18288" rIns="18288" bIns="18288">
            <a:spAutoFit/>
          </a:bodyPr>
          <a:lstStyle/>
          <a:p>
            <a:pPr algn="l">
              <a:lnSpc>
                <a:spcPct val="112000"/>
              </a:lnSpc>
              <a:spcAft>
                <a:spcPts val="576"/>
              </a:spcAft>
            </a:pPr>
            <a:r>
              <a:rPr sz="2200">
                <a:solidFill>
                  <a:srgbClr val="222833"/>
                </a:solidFill>
                <a:latin typeface="微软雅黑"/>
              </a:rPr>
              <a:t>• 目标是让视觉、语言和动作在同一表示空间中深度交互。</a:t>
            </a:r>
          </a:p>
          <a:p>
            <a:pPr algn="l">
              <a:lnSpc>
                <a:spcPct val="112000"/>
              </a:lnSpc>
              <a:spcAft>
                <a:spcPts val="576"/>
              </a:spcAft>
            </a:pPr>
            <a:r>
              <a:rPr sz="2200">
                <a:solidFill>
                  <a:srgbClr val="222833"/>
                </a:solidFill>
                <a:latin typeface="微软雅黑"/>
              </a:rPr>
              <a:t>• 主流机制之一是多头交叉注意力（Cross-Attention）。</a:t>
            </a:r>
          </a:p>
          <a:p>
            <a:pPr algn="l">
              <a:lnSpc>
                <a:spcPct val="112000"/>
              </a:lnSpc>
              <a:spcAft>
                <a:spcPts val="576"/>
              </a:spcAft>
            </a:pPr>
            <a:r>
              <a:rPr sz="2200">
                <a:solidFill>
                  <a:srgbClr val="222833"/>
                </a:solidFill>
                <a:latin typeface="微软雅黑"/>
              </a:rPr>
              <a:t>• 模型可以动态把语言中的实体 / 属性与图像中的具体区域对应起来，并让这种对齐直接影响动作。</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99</a:t>
            </a:r>
          </a:p>
        </p:txBody>
      </p:sp>
      <p:sp>
        <p:nvSpPr>
          <p:cNvPr id="7" name="TextBox 6"/>
          <p:cNvSpPr txBox="1"/>
          <p:nvPr/>
        </p:nvSpPr>
        <p:spPr>
          <a:xfrm>
            <a:off x="502920" y="551044"/>
            <a:ext cx="10927080" cy="507255"/>
          </a:xfrm>
          <a:prstGeom prst="rect">
            <a:avLst/>
          </a:prstGeom>
          <a:noFill/>
        </p:spPr>
        <p:txBody>
          <a:bodyPr wrap="square" lIns="18288" tIns="18288" rIns="18288" bIns="18288" anchor="ctr">
            <a:spAutoFit/>
          </a:bodyPr>
          <a:lstStyle/>
          <a:p>
            <a:pPr algn="l">
              <a:lnSpc>
                <a:spcPct val="105000"/>
              </a:lnSpc>
            </a:pPr>
            <a:r>
              <a:rPr sz="3100" b="1" i="0" dirty="0" err="1">
                <a:solidFill>
                  <a:srgbClr val="24477D"/>
                </a:solidFill>
                <a:latin typeface="微软雅黑" panose="020B0503020204020204" pitchFamily="34" charset="-122"/>
              </a:rPr>
              <a:t>Cross-Attention：把“红色苹果”对齐到图像中的目标</a:t>
            </a:r>
            <a:endParaRPr sz="31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920240"/>
            <a:ext cx="2521458" cy="2331720"/>
          </a:xfrm>
          <a:prstGeom prst="roundRect">
            <a:avLst>
              <a:gd name="adj" fmla="val 392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920240"/>
            <a:ext cx="64008" cy="23317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2066544"/>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语言查询</a:t>
            </a:r>
            <a:endParaRPr sz="1800" b="1" i="0" dirty="0">
              <a:solidFill>
                <a:srgbClr val="31599B"/>
              </a:solidFill>
              <a:latin typeface="微软雅黑" panose="020B0503020204020204" pitchFamily="34" charset="-122"/>
            </a:endParaRPr>
          </a:p>
        </p:txBody>
      </p:sp>
      <p:sp>
        <p:nvSpPr>
          <p:cNvPr id="12" name="TextBox 11"/>
          <p:cNvSpPr txBox="1"/>
          <p:nvPr/>
        </p:nvSpPr>
        <p:spPr>
          <a:xfrm>
            <a:off x="923544" y="2578608"/>
            <a:ext cx="213741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指令中包含“红色苹果”等语义 token。</a:t>
            </a:r>
          </a:p>
        </p:txBody>
      </p:sp>
      <p:sp>
        <p:nvSpPr>
          <p:cNvPr id="13" name="TextBox 12"/>
          <p:cNvSpPr txBox="1"/>
          <p:nvPr/>
        </p:nvSpPr>
        <p:spPr>
          <a:xfrm>
            <a:off x="3243834" y="274988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4" name="Rounded Rectangle 13"/>
          <p:cNvSpPr/>
          <p:nvPr/>
        </p:nvSpPr>
        <p:spPr>
          <a:xfrm>
            <a:off x="3399282" y="1920240"/>
            <a:ext cx="2521458" cy="2331720"/>
          </a:xfrm>
          <a:prstGeom prst="roundRect">
            <a:avLst>
              <a:gd name="adj" fmla="val 49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3399282" y="1920240"/>
            <a:ext cx="64008" cy="23317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3609594" y="2066544"/>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视觉键值</a:t>
            </a:r>
            <a:endParaRPr sz="1800" b="1" i="0" dirty="0">
              <a:solidFill>
                <a:srgbClr val="2F8E72"/>
              </a:solidFill>
              <a:latin typeface="微软雅黑" panose="020B0503020204020204" pitchFamily="34" charset="-122"/>
            </a:endParaRPr>
          </a:p>
        </p:txBody>
      </p:sp>
      <p:sp>
        <p:nvSpPr>
          <p:cNvPr id="17" name="TextBox 16"/>
          <p:cNvSpPr txBox="1"/>
          <p:nvPr/>
        </p:nvSpPr>
        <p:spPr>
          <a:xfrm>
            <a:off x="3609594" y="2578608"/>
            <a:ext cx="213741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图像特征包含多个物体与空间位置。</a:t>
            </a:r>
          </a:p>
        </p:txBody>
      </p:sp>
      <p:sp>
        <p:nvSpPr>
          <p:cNvPr id="18" name="TextBox 17"/>
          <p:cNvSpPr txBox="1"/>
          <p:nvPr/>
        </p:nvSpPr>
        <p:spPr>
          <a:xfrm>
            <a:off x="5929884" y="274988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19" name="Rounded Rectangle 18"/>
          <p:cNvSpPr/>
          <p:nvPr/>
        </p:nvSpPr>
        <p:spPr>
          <a:xfrm>
            <a:off x="6085332" y="1920240"/>
            <a:ext cx="2521458" cy="2331720"/>
          </a:xfrm>
          <a:prstGeom prst="roundRect">
            <a:avLst>
              <a:gd name="adj" fmla="val 196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Rectangle 19"/>
          <p:cNvSpPr/>
          <p:nvPr/>
        </p:nvSpPr>
        <p:spPr>
          <a:xfrm>
            <a:off x="6085332" y="1920240"/>
            <a:ext cx="64008" cy="23317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TextBox 20"/>
          <p:cNvSpPr txBox="1"/>
          <p:nvPr/>
        </p:nvSpPr>
        <p:spPr>
          <a:xfrm>
            <a:off x="6295644" y="2066544"/>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注意力对齐</a:t>
            </a:r>
            <a:endParaRPr sz="1800" b="1" i="0" dirty="0">
              <a:solidFill>
                <a:srgbClr val="C58A24"/>
              </a:solidFill>
              <a:latin typeface="微软雅黑" panose="020B0503020204020204" pitchFamily="34" charset="-122"/>
            </a:endParaRPr>
          </a:p>
        </p:txBody>
      </p:sp>
      <p:sp>
        <p:nvSpPr>
          <p:cNvPr id="22" name="TextBox 21"/>
          <p:cNvSpPr txBox="1"/>
          <p:nvPr/>
        </p:nvSpPr>
        <p:spPr>
          <a:xfrm>
            <a:off x="6295644" y="2578608"/>
            <a:ext cx="213741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模型把相关语言 token 与视觉区域建立高权重连接。</a:t>
            </a:r>
          </a:p>
        </p:txBody>
      </p:sp>
      <p:sp>
        <p:nvSpPr>
          <p:cNvPr id="23" name="TextBox 22"/>
          <p:cNvSpPr txBox="1"/>
          <p:nvPr/>
        </p:nvSpPr>
        <p:spPr>
          <a:xfrm>
            <a:off x="8615934" y="2749885"/>
            <a:ext cx="146304" cy="370679"/>
          </a:xfrm>
          <a:prstGeom prst="rect">
            <a:avLst/>
          </a:prstGeom>
          <a:noFill/>
        </p:spPr>
        <p:txBody>
          <a:bodyPr wrap="square" lIns="18288" tIns="18288" rIns="18288" bIns="18288" anchor="ctr">
            <a:spAutoFit/>
          </a:bodyPr>
          <a:lstStyle/>
          <a:p>
            <a:pPr algn="ctr">
              <a:lnSpc>
                <a:spcPct val="105000"/>
              </a:lnSpc>
            </a:pPr>
            <a:r>
              <a:rPr sz="2200" b="1" i="0" dirty="0">
                <a:solidFill>
                  <a:srgbClr val="24477D"/>
                </a:solidFill>
                <a:latin typeface="微软雅黑" panose="020B0503020204020204" pitchFamily="34" charset="-122"/>
              </a:rPr>
              <a:t>→</a:t>
            </a:r>
          </a:p>
        </p:txBody>
      </p:sp>
      <p:sp>
        <p:nvSpPr>
          <p:cNvPr id="24" name="Rounded Rectangle 23"/>
          <p:cNvSpPr/>
          <p:nvPr/>
        </p:nvSpPr>
        <p:spPr>
          <a:xfrm>
            <a:off x="8771382" y="1920240"/>
            <a:ext cx="2521458" cy="2331720"/>
          </a:xfrm>
          <a:prstGeom prst="roundRect">
            <a:avLst>
              <a:gd name="adj" fmla="val 130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5" name="Rectangle 24"/>
          <p:cNvSpPr/>
          <p:nvPr/>
        </p:nvSpPr>
        <p:spPr>
          <a:xfrm>
            <a:off x="8771382" y="1920240"/>
            <a:ext cx="64008" cy="23317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6" name="TextBox 25"/>
          <p:cNvSpPr txBox="1"/>
          <p:nvPr/>
        </p:nvSpPr>
        <p:spPr>
          <a:xfrm>
            <a:off x="8981694" y="2066544"/>
            <a:ext cx="2137410"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动作生成</a:t>
            </a:r>
            <a:endParaRPr sz="1800" b="1" i="0" dirty="0">
              <a:solidFill>
                <a:srgbClr val="C63F45"/>
              </a:solidFill>
              <a:latin typeface="微软雅黑" panose="020B0503020204020204" pitchFamily="34" charset="-122"/>
            </a:endParaRPr>
          </a:p>
        </p:txBody>
      </p:sp>
      <p:sp>
        <p:nvSpPr>
          <p:cNvPr id="27" name="TextBox 26"/>
          <p:cNvSpPr txBox="1"/>
          <p:nvPr/>
        </p:nvSpPr>
        <p:spPr>
          <a:xfrm>
            <a:off x="8981694" y="2578608"/>
            <a:ext cx="2137410" cy="152704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对齐后的联合特征决定抓取位置、方向与后续轨迹。</a:t>
            </a:r>
          </a:p>
        </p:txBody>
      </p:sp>
      <p:sp>
        <p:nvSpPr>
          <p:cNvPr id="28" name="TextBox 27"/>
          <p:cNvSpPr txBox="1"/>
          <p:nvPr/>
        </p:nvSpPr>
        <p:spPr>
          <a:xfrm>
            <a:off x="822960" y="4927605"/>
            <a:ext cx="10515600" cy="340350"/>
          </a:xfrm>
          <a:prstGeom prst="rect">
            <a:avLst/>
          </a:prstGeom>
          <a:noFill/>
        </p:spPr>
        <p:txBody>
          <a:bodyPr wrap="square" lIns="18288" tIns="18288" rIns="18288" bIns="18288" anchor="ctr">
            <a:spAutoFit/>
          </a:bodyPr>
          <a:lstStyle/>
          <a:p>
            <a:pPr algn="ctr">
              <a:lnSpc>
                <a:spcPct val="105000"/>
              </a:lnSpc>
            </a:pPr>
            <a:r>
              <a:rPr sz="2000" b="1" i="0" dirty="0">
                <a:solidFill>
                  <a:srgbClr val="24477D"/>
                </a:solidFill>
                <a:latin typeface="微软雅黑" panose="020B0503020204020204" pitchFamily="34" charset="-122"/>
              </a:rPr>
              <a:t>语言负责“</a:t>
            </a:r>
            <a:r>
              <a:rPr sz="2000" b="1" i="0" dirty="0" err="1">
                <a:solidFill>
                  <a:srgbClr val="24477D"/>
                </a:solidFill>
                <a:latin typeface="微软雅黑" panose="020B0503020204020204" pitchFamily="34" charset="-122"/>
              </a:rPr>
              <a:t>选目标</a:t>
            </a:r>
            <a:r>
              <a:rPr sz="2000" b="1" i="0" dirty="0">
                <a:solidFill>
                  <a:srgbClr val="24477D"/>
                </a:solidFill>
                <a:latin typeface="微软雅黑" panose="020B0503020204020204" pitchFamily="34" charset="-122"/>
              </a:rPr>
              <a:t>”，视觉负责“</a:t>
            </a:r>
            <a:r>
              <a:rPr sz="2000" b="1" i="0" dirty="0" err="1">
                <a:solidFill>
                  <a:srgbClr val="24477D"/>
                </a:solidFill>
                <a:latin typeface="微软雅黑" panose="020B0503020204020204" pitchFamily="34" charset="-122"/>
              </a:rPr>
              <a:t>给坐标</a:t>
            </a:r>
            <a:r>
              <a:rPr sz="2000" b="1" i="0" dirty="0">
                <a:solidFill>
                  <a:srgbClr val="24477D"/>
                </a:solidFill>
                <a:latin typeface="微软雅黑" panose="020B0503020204020204" pitchFamily="34" charset="-122"/>
              </a:rPr>
              <a:t>”，</a:t>
            </a:r>
            <a:r>
              <a:rPr sz="2000" b="1" i="0" dirty="0" err="1">
                <a:solidFill>
                  <a:srgbClr val="24477D"/>
                </a:solidFill>
                <a:latin typeface="微软雅黑" panose="020B0503020204020204" pitchFamily="34" charset="-122"/>
              </a:rPr>
              <a:t>动作头负责“怎样到达</a:t>
            </a:r>
            <a:r>
              <a:rPr sz="2000" b="1" i="0" dirty="0">
                <a:solidFill>
                  <a:srgbClr val="24477D"/>
                </a:solidFill>
                <a:latin typeface="微软雅黑" panose="020B0503020204020204" pitchFamily="34" charset="-122"/>
              </a:rPr>
              <a: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ea typeface="微软雅黑" panose="020B0503020204020204" pitchFamily="34" charset="-122"/>
              </a:rPr>
              <a:t>具身智能导论</a:t>
            </a:r>
            <a:r>
              <a:rPr sz="1000" b="0" i="0" dirty="0">
                <a:solidFill>
                  <a:srgbClr val="8C98AA"/>
                </a:solidFill>
                <a:latin typeface="微软雅黑" panose="020B0503020204020204" pitchFamily="34" charset="-122"/>
                <a:ea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ea typeface="微软雅黑" panose="020B0503020204020204" pitchFamily="34" charset="-122"/>
              </a:rPr>
              <a:t>视觉－语言－动作模型</a:t>
            </a:r>
            <a:endParaRPr sz="1000" b="0" i="0" dirty="0">
              <a:solidFill>
                <a:srgbClr val="8C98AA"/>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ea typeface="微软雅黑" panose="020B0503020204020204" pitchFamily="34" charset="-122"/>
              </a:rPr>
              <a:t>100</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ea typeface="微软雅黑" panose="020B0503020204020204" pitchFamily="34" charset="-122"/>
              </a:rPr>
              <a:t>扩散策略增强的</a:t>
            </a:r>
            <a:r>
              <a:rPr sz="3500" b="1" i="0" dirty="0">
                <a:solidFill>
                  <a:srgbClr val="24477D"/>
                </a:solidFill>
                <a:latin typeface="微软雅黑" panose="020B0503020204020204" pitchFamily="34" charset="-122"/>
                <a:ea typeface="微软雅黑" panose="020B0503020204020204" pitchFamily="34" charset="-122"/>
              </a:rPr>
              <a:t> </a:t>
            </a:r>
            <a:r>
              <a:rPr sz="3500" b="1" i="0" dirty="0" err="1">
                <a:solidFill>
                  <a:srgbClr val="24477D"/>
                </a:solidFill>
                <a:latin typeface="微软雅黑" panose="020B0503020204020204" pitchFamily="34" charset="-122"/>
                <a:ea typeface="微软雅黑" panose="020B0503020204020204" pitchFamily="34" charset="-122"/>
              </a:rPr>
              <a:t>VLA：条件信息如何进入去噪网络</a:t>
            </a:r>
            <a:endParaRPr sz="3500" b="1" i="0" dirty="0">
              <a:solidFill>
                <a:srgbClr val="24477D"/>
              </a:solidFill>
              <a:latin typeface="微软雅黑" panose="020B0503020204020204" pitchFamily="34" charset="-122"/>
              <a:ea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9" name="TextBox 8"/>
          <p:cNvSpPr txBox="1"/>
          <p:nvPr/>
        </p:nvSpPr>
        <p:spPr>
          <a:xfrm>
            <a:off x="804672" y="1691640"/>
            <a:ext cx="10332720" cy="2305824"/>
          </a:xfrm>
          <a:prstGeom prst="rect">
            <a:avLst/>
          </a:prstGeom>
          <a:noFill/>
        </p:spPr>
        <p:txBody>
          <a:bodyPr wrap="square" lIns="18288" tIns="18288" rIns="18288" bIns="18288">
            <a:spAutoFit/>
          </a:bodyPr>
          <a:lstStyle/>
          <a:p>
            <a:pPr algn="l">
              <a:lnSpc>
                <a:spcPct val="112000"/>
              </a:lnSpc>
              <a:spcAft>
                <a:spcPts val="576"/>
              </a:spcAft>
            </a:pPr>
            <a:r>
              <a:rPr sz="2400" dirty="0">
                <a:solidFill>
                  <a:srgbClr val="222833"/>
                </a:solidFill>
                <a:latin typeface="微软雅黑" panose="020B0503020204020204" pitchFamily="34" charset="-122"/>
                <a:ea typeface="微软雅黑" panose="020B0503020204020204" pitchFamily="34" charset="-122"/>
              </a:rPr>
              <a:t>• </a:t>
            </a:r>
            <a:r>
              <a:rPr sz="2400" dirty="0" err="1">
                <a:solidFill>
                  <a:srgbClr val="222833"/>
                </a:solidFill>
                <a:latin typeface="微软雅黑" panose="020B0503020204020204" pitchFamily="34" charset="-122"/>
                <a:ea typeface="微软雅黑" panose="020B0503020204020204" pitchFamily="34" charset="-122"/>
              </a:rPr>
              <a:t>视觉特征可通过</a:t>
            </a:r>
            <a:r>
              <a:rPr sz="2400" dirty="0">
                <a:solidFill>
                  <a:srgbClr val="222833"/>
                </a:solidFill>
                <a:latin typeface="微软雅黑" panose="020B0503020204020204" pitchFamily="34" charset="-122"/>
                <a:ea typeface="微软雅黑" panose="020B0503020204020204" pitchFamily="34" charset="-122"/>
              </a:rPr>
              <a:t> </a:t>
            </a:r>
            <a:r>
              <a:rPr sz="2400" dirty="0" err="1">
                <a:solidFill>
                  <a:srgbClr val="222833"/>
                </a:solidFill>
                <a:latin typeface="微软雅黑" panose="020B0503020204020204" pitchFamily="34" charset="-122"/>
                <a:ea typeface="微软雅黑" panose="020B0503020204020204" pitchFamily="34" charset="-122"/>
              </a:rPr>
              <a:t>FiLM</a:t>
            </a:r>
            <a:r>
              <a:rPr sz="2400" dirty="0">
                <a:solidFill>
                  <a:srgbClr val="222833"/>
                </a:solidFill>
                <a:latin typeface="微软雅黑" panose="020B0503020204020204" pitchFamily="34" charset="-122"/>
                <a:ea typeface="微软雅黑" panose="020B0503020204020204" pitchFamily="34" charset="-122"/>
              </a:rPr>
              <a:t> 或 Cross-Attention </a:t>
            </a:r>
            <a:r>
              <a:rPr sz="2400" dirty="0" err="1">
                <a:solidFill>
                  <a:srgbClr val="222833"/>
                </a:solidFill>
                <a:latin typeface="微软雅黑" panose="020B0503020204020204" pitchFamily="34" charset="-122"/>
                <a:ea typeface="微软雅黑" panose="020B0503020204020204" pitchFamily="34" charset="-122"/>
              </a:rPr>
              <a:t>作为条件注入</a:t>
            </a:r>
            <a:r>
              <a:rPr sz="2400" dirty="0">
                <a:solidFill>
                  <a:srgbClr val="222833"/>
                </a:solidFill>
                <a:latin typeface="微软雅黑" panose="020B0503020204020204" pitchFamily="34" charset="-122"/>
                <a:ea typeface="微软雅黑" panose="020B0503020204020204" pitchFamily="34" charset="-122"/>
              </a:rPr>
              <a:t>。</a:t>
            </a:r>
          </a:p>
          <a:p>
            <a:pPr algn="l">
              <a:lnSpc>
                <a:spcPct val="112000"/>
              </a:lnSpc>
              <a:spcAft>
                <a:spcPts val="576"/>
              </a:spcAft>
            </a:pPr>
            <a:r>
              <a:rPr sz="2400" dirty="0">
                <a:solidFill>
                  <a:srgbClr val="222833"/>
                </a:solidFill>
                <a:latin typeface="微软雅黑" panose="020B0503020204020204" pitchFamily="34" charset="-122"/>
                <a:ea typeface="微软雅黑" panose="020B0503020204020204" pitchFamily="34" charset="-122"/>
              </a:rPr>
              <a:t>• </a:t>
            </a:r>
            <a:r>
              <a:rPr sz="2400" dirty="0" err="1">
                <a:solidFill>
                  <a:srgbClr val="222833"/>
                </a:solidFill>
                <a:latin typeface="微软雅黑" panose="020B0503020204020204" pitchFamily="34" charset="-122"/>
                <a:ea typeface="微软雅黑" panose="020B0503020204020204" pitchFamily="34" charset="-122"/>
              </a:rPr>
              <a:t>语言特征描述任务目标和语义约束</a:t>
            </a:r>
            <a:r>
              <a:rPr sz="2400" dirty="0">
                <a:solidFill>
                  <a:srgbClr val="222833"/>
                </a:solidFill>
                <a:latin typeface="微软雅黑" panose="020B0503020204020204" pitchFamily="34" charset="-122"/>
                <a:ea typeface="微软雅黑" panose="020B0503020204020204" pitchFamily="34" charset="-122"/>
              </a:rPr>
              <a:t>。</a:t>
            </a:r>
          </a:p>
          <a:p>
            <a:pPr algn="l">
              <a:lnSpc>
                <a:spcPct val="112000"/>
              </a:lnSpc>
              <a:spcAft>
                <a:spcPts val="576"/>
              </a:spcAft>
            </a:pPr>
            <a:r>
              <a:rPr sz="2400" dirty="0">
                <a:solidFill>
                  <a:srgbClr val="222833"/>
                </a:solidFill>
                <a:latin typeface="微软雅黑" panose="020B0503020204020204" pitchFamily="34" charset="-122"/>
                <a:ea typeface="微软雅黑" panose="020B0503020204020204" pitchFamily="34" charset="-122"/>
              </a:rPr>
              <a:t>• </a:t>
            </a:r>
            <a:r>
              <a:rPr sz="2400" dirty="0" err="1">
                <a:solidFill>
                  <a:srgbClr val="222833"/>
                </a:solidFill>
                <a:latin typeface="微软雅黑" panose="020B0503020204020204" pitchFamily="34" charset="-122"/>
                <a:ea typeface="微软雅黑" panose="020B0503020204020204" pitchFamily="34" charset="-122"/>
              </a:rPr>
              <a:t>当前含噪动作</a:t>
            </a:r>
            <a:r>
              <a:rPr sz="2400" dirty="0">
                <a:solidFill>
                  <a:srgbClr val="222833"/>
                </a:solidFill>
                <a:latin typeface="微软雅黑" panose="020B0503020204020204" pitchFamily="34" charset="-122"/>
                <a:ea typeface="微软雅黑" panose="020B0503020204020204" pitchFamily="34" charset="-122"/>
              </a:rPr>
              <a:t> aᵏ </a:t>
            </a:r>
            <a:r>
              <a:rPr sz="2400" dirty="0" err="1">
                <a:solidFill>
                  <a:srgbClr val="222833"/>
                </a:solidFill>
                <a:latin typeface="微软雅黑" panose="020B0503020204020204" pitchFamily="34" charset="-122"/>
                <a:ea typeface="微软雅黑" panose="020B0503020204020204" pitchFamily="34" charset="-122"/>
              </a:rPr>
              <a:t>提供扩散过程所在的去噪状态</a:t>
            </a:r>
            <a:r>
              <a:rPr sz="2400" dirty="0">
                <a:solidFill>
                  <a:srgbClr val="222833"/>
                </a:solidFill>
                <a:latin typeface="微软雅黑" panose="020B0503020204020204" pitchFamily="34" charset="-122"/>
                <a:ea typeface="微软雅黑" panose="020B0503020204020204" pitchFamily="34" charset="-122"/>
              </a:rPr>
              <a:t>。</a:t>
            </a:r>
          </a:p>
          <a:p>
            <a:pPr algn="l">
              <a:lnSpc>
                <a:spcPct val="112000"/>
              </a:lnSpc>
              <a:spcAft>
                <a:spcPts val="576"/>
              </a:spcAft>
            </a:pPr>
            <a:r>
              <a:rPr sz="2400" dirty="0">
                <a:solidFill>
                  <a:srgbClr val="222833"/>
                </a:solidFill>
                <a:latin typeface="微软雅黑" panose="020B0503020204020204" pitchFamily="34" charset="-122"/>
                <a:ea typeface="微软雅黑" panose="020B0503020204020204" pitchFamily="34" charset="-122"/>
              </a:rPr>
              <a:t>• </a:t>
            </a:r>
            <a:r>
              <a:rPr sz="2400" dirty="0" err="1">
                <a:solidFill>
                  <a:srgbClr val="222833"/>
                </a:solidFill>
                <a:latin typeface="微软雅黑" panose="020B0503020204020204" pitchFamily="34" charset="-122"/>
                <a:ea typeface="微软雅黑" panose="020B0503020204020204" pitchFamily="34" charset="-122"/>
              </a:rPr>
              <a:t>噪声预测网络</a:t>
            </a:r>
            <a:r>
              <a:rPr sz="2400" dirty="0">
                <a:solidFill>
                  <a:srgbClr val="222833"/>
                </a:solidFill>
                <a:latin typeface="微软雅黑" panose="020B0503020204020204" pitchFamily="34" charset="-122"/>
                <a:ea typeface="微软雅黑" panose="020B0503020204020204" pitchFamily="34" charset="-122"/>
              </a:rPr>
              <a:t> </a:t>
            </a:r>
            <a:r>
              <a:rPr sz="2400" dirty="0" err="1">
                <a:solidFill>
                  <a:srgbClr val="222833"/>
                </a:solidFill>
                <a:latin typeface="微软雅黑" panose="020B0503020204020204" pitchFamily="34" charset="-122"/>
                <a:ea typeface="微软雅黑" panose="020B0503020204020204" pitchFamily="34" charset="-122"/>
              </a:rPr>
              <a:t>ε</a:t>
            </a:r>
            <a:r>
              <a:rPr sz="2400" baseline="-25000" dirty="0" err="1">
                <a:solidFill>
                  <a:srgbClr val="222833"/>
                </a:solidFill>
                <a:latin typeface="微软雅黑" panose="020B0503020204020204" pitchFamily="34" charset="-122"/>
                <a:ea typeface="微软雅黑" panose="020B0503020204020204" pitchFamily="34" charset="-122"/>
              </a:rPr>
              <a:t>θ</a:t>
            </a:r>
            <a:r>
              <a:rPr sz="2400" dirty="0">
                <a:solidFill>
                  <a:srgbClr val="222833"/>
                </a:solidFill>
                <a:latin typeface="微软雅黑" panose="020B0503020204020204" pitchFamily="34" charset="-122"/>
                <a:ea typeface="微软雅黑" panose="020B0503020204020204" pitchFamily="34" charset="-122"/>
              </a:rPr>
              <a:t> </a:t>
            </a:r>
            <a:r>
              <a:rPr lang="zh-CN" altLang="en-US" sz="2400" dirty="0">
                <a:solidFill>
                  <a:srgbClr val="222833"/>
                </a:solidFill>
                <a:latin typeface="微软雅黑" panose="020B0503020204020204" pitchFamily="34" charset="-122"/>
                <a:ea typeface="微软雅黑" panose="020B0503020204020204" pitchFamily="34" charset="-122"/>
              </a:rPr>
              <a:t>同时接收</a:t>
            </a:r>
            <a:r>
              <a:rPr sz="2400" dirty="0" err="1">
                <a:solidFill>
                  <a:srgbClr val="222833"/>
                </a:solidFill>
                <a:latin typeface="微软雅黑" panose="020B0503020204020204" pitchFamily="34" charset="-122"/>
                <a:ea typeface="微软雅黑" panose="020B0503020204020204" pitchFamily="34" charset="-122"/>
              </a:rPr>
              <a:t>视觉、语言和</a:t>
            </a:r>
            <a:r>
              <a:rPr lang="zh-CN" altLang="en-US" sz="2400" dirty="0">
                <a:solidFill>
                  <a:srgbClr val="222833"/>
                </a:solidFill>
                <a:latin typeface="微软雅黑" panose="020B0503020204020204" pitchFamily="34" charset="-122"/>
                <a:ea typeface="微软雅黑" panose="020B0503020204020204" pitchFamily="34" charset="-122"/>
              </a:rPr>
              <a:t>当前噪声</a:t>
            </a:r>
            <a:r>
              <a:rPr sz="2400" dirty="0" err="1">
                <a:solidFill>
                  <a:srgbClr val="222833"/>
                </a:solidFill>
                <a:latin typeface="微软雅黑" panose="020B0503020204020204" pitchFamily="34" charset="-122"/>
                <a:ea typeface="微软雅黑" panose="020B0503020204020204" pitchFamily="34" charset="-122"/>
              </a:rPr>
              <a:t>动作</a:t>
            </a:r>
            <a:r>
              <a:rPr lang="zh-CN" altLang="en-US" sz="2400" dirty="0">
                <a:solidFill>
                  <a:srgbClr val="222833"/>
                </a:solidFill>
                <a:latin typeface="微软雅黑" panose="020B0503020204020204" pitchFamily="34" charset="-122"/>
                <a:ea typeface="微软雅黑" panose="020B0503020204020204" pitchFamily="34" charset="-122"/>
              </a:rPr>
              <a:t>作为输入</a:t>
            </a:r>
            <a:r>
              <a:rPr sz="2400" dirty="0">
                <a:solidFill>
                  <a:srgbClr val="222833"/>
                </a:solidFill>
                <a:latin typeface="微软雅黑" panose="020B0503020204020204" pitchFamily="34" charset="-122"/>
                <a:ea typeface="微软雅黑" panose="020B0503020204020204" pitchFamily="34" charset="-122"/>
              </a:rPr>
              <a:t>，</a:t>
            </a:r>
            <a:r>
              <a:rPr sz="2400" dirty="0" err="1">
                <a:solidFill>
                  <a:srgbClr val="222833"/>
                </a:solidFill>
                <a:latin typeface="微软雅黑" panose="020B0503020204020204" pitchFamily="34" charset="-122"/>
                <a:ea typeface="微软雅黑" panose="020B0503020204020204" pitchFamily="34" charset="-122"/>
              </a:rPr>
              <a:t>逐步生成与场景匹配的动作序列</a:t>
            </a:r>
            <a:r>
              <a:rPr sz="2400" dirty="0">
                <a:solidFill>
                  <a:srgbClr val="222833"/>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101</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7.5.3 VLA </a:t>
            </a:r>
            <a:r>
              <a:rPr sz="3500" b="1" i="0" dirty="0" err="1">
                <a:solidFill>
                  <a:srgbClr val="24477D"/>
                </a:solidFill>
                <a:latin typeface="微软雅黑" panose="020B0503020204020204" pitchFamily="34" charset="-122"/>
              </a:rPr>
              <a:t>的主要优势</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627632"/>
            <a:ext cx="3246120" cy="2788920"/>
          </a:xfrm>
          <a:prstGeom prst="roundRect">
            <a:avLst>
              <a:gd name="adj" fmla="val 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27632"/>
            <a:ext cx="64008" cy="27889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强泛化能力</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借助大规模视觉－语言预训练，实现零样本 / 少样本迁移并适配新物体。</a:t>
            </a:r>
          </a:p>
        </p:txBody>
      </p:sp>
      <p:sp>
        <p:nvSpPr>
          <p:cNvPr id="13" name="Rounded Rectangle 12"/>
          <p:cNvSpPr/>
          <p:nvPr/>
        </p:nvSpPr>
        <p:spPr>
          <a:xfrm>
            <a:off x="4160520" y="1627632"/>
            <a:ext cx="3246120" cy="2788920"/>
          </a:xfrm>
          <a:prstGeom prst="roundRect">
            <a:avLst>
              <a:gd name="adj" fmla="val 318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27632"/>
            <a:ext cx="64008" cy="27889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端到端实时决策</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减少多个模块之间的误差累积，并在闭环中更快响应环境变化。</a:t>
            </a:r>
          </a:p>
        </p:txBody>
      </p:sp>
      <p:sp>
        <p:nvSpPr>
          <p:cNvPr id="17" name="Rounded Rectangle 16"/>
          <p:cNvSpPr/>
          <p:nvPr/>
        </p:nvSpPr>
        <p:spPr>
          <a:xfrm>
            <a:off x="7607808" y="1627632"/>
            <a:ext cx="3246120" cy="2788920"/>
          </a:xfrm>
          <a:prstGeom prst="roundRect">
            <a:avLst>
              <a:gd name="adj" fmla="val 1913"/>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27632"/>
            <a:ext cx="64008" cy="27889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自然人机交互</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用户直接使用自然语言表达任务，模型理解并执行完整操作流程。</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102</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VLA </a:t>
            </a:r>
            <a:r>
              <a:rPr sz="3500" b="1" i="0" dirty="0" err="1">
                <a:solidFill>
                  <a:srgbClr val="24477D"/>
                </a:solidFill>
                <a:latin typeface="微软雅黑" panose="020B0503020204020204" pitchFamily="34" charset="-122"/>
              </a:rPr>
              <a:t>的主要局限</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13232" y="1627632"/>
            <a:ext cx="3246120" cy="2788920"/>
          </a:xfrm>
          <a:prstGeom prst="roundRect">
            <a:avLst>
              <a:gd name="adj" fmla="val 27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27632"/>
            <a:ext cx="64008" cy="27889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数据瓶颈</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需要大量高质量视觉－语言－动作三元组演示数据。</a:t>
            </a:r>
          </a:p>
        </p:txBody>
      </p:sp>
      <p:sp>
        <p:nvSpPr>
          <p:cNvPr id="13" name="Rounded Rectangle 12"/>
          <p:cNvSpPr/>
          <p:nvPr/>
        </p:nvSpPr>
        <p:spPr>
          <a:xfrm>
            <a:off x="4160520" y="1627632"/>
            <a:ext cx="3246120" cy="2788920"/>
          </a:xfrm>
          <a:prstGeom prst="roundRect">
            <a:avLst>
              <a:gd name="adj" fmla="val 592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27632"/>
            <a:ext cx="64008" cy="27889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773936"/>
            <a:ext cx="2862072" cy="340350"/>
          </a:xfrm>
          <a:prstGeom prst="rect">
            <a:avLst/>
          </a:prstGeom>
          <a:noFill/>
        </p:spPr>
        <p:txBody>
          <a:bodyPr wrap="square" lIns="18288" tIns="18288" rIns="18288" bIns="18288" anchor="t">
            <a:spAutoFit/>
          </a:bodyPr>
          <a:lstStyle/>
          <a:p>
            <a:pPr algn="l">
              <a:lnSpc>
                <a:spcPct val="105000"/>
              </a:lnSpc>
            </a:pPr>
            <a:r>
              <a:rPr sz="2000" b="1" i="0" dirty="0">
                <a:solidFill>
                  <a:srgbClr val="2F8E72"/>
                </a:solidFill>
                <a:latin typeface="微软雅黑" panose="020B0503020204020204" pitchFamily="34" charset="-122"/>
              </a:rPr>
              <a:t>Sim-to-Real </a:t>
            </a:r>
            <a:r>
              <a:rPr lang="en-US" altLang="zh-CN" sz="2000" b="1" i="0" dirty="0">
                <a:solidFill>
                  <a:srgbClr val="2F8E72"/>
                </a:solidFill>
                <a:latin typeface="微软雅黑" panose="020B0503020204020204" pitchFamily="34" charset="-122"/>
              </a:rPr>
              <a:t>Gap</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真实光照、摩擦、噪声与延迟会导致仿真策略性能下降。</a:t>
            </a:r>
          </a:p>
        </p:txBody>
      </p:sp>
      <p:sp>
        <p:nvSpPr>
          <p:cNvPr id="17" name="Rounded Rectangle 16"/>
          <p:cNvSpPr/>
          <p:nvPr/>
        </p:nvSpPr>
        <p:spPr>
          <a:xfrm>
            <a:off x="7607808" y="1627632"/>
            <a:ext cx="3246120" cy="2788920"/>
          </a:xfrm>
          <a:prstGeom prst="roundRect">
            <a:avLst>
              <a:gd name="adj" fmla="val 1549"/>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27632"/>
            <a:ext cx="64008" cy="27889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rPr>
              <a:t>计算与安全性</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286000"/>
            <a:ext cx="2862072" cy="198424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大模型推理成本高；端到端黑箱策略可能产生危险动作，需要额外安全机制。</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103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开源</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VLA：从研究原型走向可复现实验</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822960" y="1737360"/>
            <a:ext cx="4983480" cy="3657600"/>
          </a:xfrm>
          <a:prstGeom prst="roundRect">
            <a:avLst>
              <a:gd name="adj" fmla="val 250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22960" y="1737360"/>
            <a:ext cx="64008" cy="36576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33272" y="1883664"/>
            <a:ext cx="459943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OpenVLA</a:t>
            </a:r>
            <a:endParaRPr sz="2000" b="1" i="0" dirty="0">
              <a:solidFill>
                <a:srgbClr val="31599B"/>
              </a:solidFill>
              <a:latin typeface="微软雅黑" panose="020B0503020204020204" pitchFamily="34" charset="-122"/>
            </a:endParaRPr>
          </a:p>
        </p:txBody>
      </p:sp>
      <p:sp>
        <p:nvSpPr>
          <p:cNvPr id="12" name="TextBox 11"/>
          <p:cNvSpPr txBox="1"/>
          <p:nvPr/>
        </p:nvSpPr>
        <p:spPr>
          <a:xfrm>
            <a:off x="1033272" y="2395728"/>
            <a:ext cx="4599432" cy="285292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代表性开源视觉－语言－动作模型之一，推动研究者复现多模态机器人策略。</a:t>
            </a:r>
          </a:p>
        </p:txBody>
      </p:sp>
      <p:sp>
        <p:nvSpPr>
          <p:cNvPr id="13" name="Rounded Rectangle 12"/>
          <p:cNvSpPr/>
          <p:nvPr/>
        </p:nvSpPr>
        <p:spPr>
          <a:xfrm>
            <a:off x="6172200" y="1737360"/>
            <a:ext cx="4983480" cy="3657600"/>
          </a:xfrm>
          <a:prstGeom prst="roundRect">
            <a:avLst>
              <a:gd name="adj" fmla="val 0"/>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172200" y="1737360"/>
            <a:ext cx="64008" cy="36576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382512" y="1883664"/>
            <a:ext cx="4599432" cy="340350"/>
          </a:xfrm>
          <a:prstGeom prst="rect">
            <a:avLst/>
          </a:prstGeom>
          <a:noFill/>
        </p:spPr>
        <p:txBody>
          <a:bodyPr wrap="square" lIns="18288" tIns="18288" rIns="18288" bIns="18288" anchor="t">
            <a:spAutoFit/>
          </a:bodyPr>
          <a:lstStyle/>
          <a:p>
            <a:pPr algn="l">
              <a:lnSpc>
                <a:spcPct val="105000"/>
              </a:lnSpc>
            </a:pPr>
            <a:r>
              <a:rPr sz="2000" b="1" i="0" dirty="0">
                <a:solidFill>
                  <a:srgbClr val="2F8E72"/>
                </a:solidFill>
                <a:latin typeface="微软雅黑" panose="020B0503020204020204" pitchFamily="34" charset="-122"/>
              </a:rPr>
              <a:t>π0</a:t>
            </a:r>
          </a:p>
        </p:txBody>
      </p:sp>
      <p:sp>
        <p:nvSpPr>
          <p:cNvPr id="16" name="TextBox 15"/>
          <p:cNvSpPr txBox="1"/>
          <p:nvPr/>
        </p:nvSpPr>
        <p:spPr>
          <a:xfrm>
            <a:off x="6382512" y="2395728"/>
            <a:ext cx="4599432" cy="285292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采用预训练 VLM + 条件流匹配动作专家，强调跨具身、高频连续动作与灵巧操作。</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104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π0 ：</a:t>
            </a:r>
            <a:r>
              <a:rPr sz="3500" b="1" i="0" dirty="0" err="1">
                <a:solidFill>
                  <a:srgbClr val="24477D"/>
                </a:solidFill>
                <a:latin typeface="微软雅黑" panose="020B0503020204020204" pitchFamily="34" charset="-122"/>
              </a:rPr>
              <a:t>设计思路</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777240" y="1664208"/>
            <a:ext cx="10378440" cy="2305824"/>
          </a:xfrm>
          <a:prstGeom prst="rect">
            <a:avLst/>
          </a:prstGeom>
          <a:noFill/>
        </p:spPr>
        <p:txBody>
          <a:bodyPr wrap="square" lIns="18288" tIns="18288" rIns="18288" bIns="18288">
            <a:spAutoFit/>
          </a:bodyPr>
          <a:lstStyle/>
          <a:p>
            <a:pPr algn="l">
              <a:lnSpc>
                <a:spcPct val="112000"/>
              </a:lnSpc>
              <a:spcAft>
                <a:spcPts val="576"/>
              </a:spcAft>
            </a:pPr>
            <a:r>
              <a:rPr sz="2400" dirty="0">
                <a:solidFill>
                  <a:srgbClr val="222833"/>
                </a:solidFill>
                <a:latin typeface="微软雅黑"/>
              </a:rPr>
              <a:t>• 由 Physical </a:t>
            </a:r>
            <a:r>
              <a:rPr sz="2400" dirty="0" err="1">
                <a:solidFill>
                  <a:srgbClr val="222833"/>
                </a:solidFill>
                <a:latin typeface="微软雅黑"/>
              </a:rPr>
              <a:t>Intelligence（PI）团队研发</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利用预训练视觉－语言模型</a:t>
            </a:r>
            <a:r>
              <a:rPr sz="2400" dirty="0">
                <a:solidFill>
                  <a:srgbClr val="222833"/>
                </a:solidFill>
                <a:latin typeface="微软雅黑"/>
              </a:rPr>
              <a:t> </a:t>
            </a:r>
            <a:r>
              <a:rPr sz="2400" dirty="0" err="1">
                <a:solidFill>
                  <a:srgbClr val="222833"/>
                </a:solidFill>
                <a:latin typeface="微软雅黑"/>
              </a:rPr>
              <a:t>PaliGemma</a:t>
            </a:r>
            <a:r>
              <a:rPr sz="2400" dirty="0">
                <a:solidFill>
                  <a:srgbClr val="222833"/>
                </a:solidFill>
                <a:latin typeface="微软雅黑"/>
              </a:rPr>
              <a:t> </a:t>
            </a:r>
            <a:r>
              <a:rPr sz="2400" dirty="0" err="1">
                <a:solidFill>
                  <a:srgbClr val="222833"/>
                </a:solidFill>
                <a:latin typeface="微软雅黑"/>
              </a:rPr>
              <a:t>的互联网规模语义知识</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结合高质量跨具身机器人数据，不单纯依赖“越多数据越好”的堆叠</a:t>
            </a:r>
            <a:r>
              <a:rPr sz="2400" dirty="0">
                <a:solidFill>
                  <a:srgbClr val="222833"/>
                </a:solidFill>
                <a:latin typeface="微软雅黑"/>
              </a:rPr>
              <a:t>。</a:t>
            </a:r>
          </a:p>
          <a:p>
            <a:pPr algn="l">
              <a:lnSpc>
                <a:spcPct val="112000"/>
              </a:lnSpc>
              <a:spcAft>
                <a:spcPts val="576"/>
              </a:spcAft>
            </a:pPr>
            <a:r>
              <a:rPr sz="2400" dirty="0">
                <a:solidFill>
                  <a:srgbClr val="222833"/>
                </a:solidFill>
                <a:latin typeface="微软雅黑"/>
              </a:rPr>
              <a:t>• VLM </a:t>
            </a:r>
            <a:r>
              <a:rPr sz="2400" dirty="0" err="1">
                <a:solidFill>
                  <a:srgbClr val="222833"/>
                </a:solidFill>
                <a:latin typeface="微软雅黑"/>
              </a:rPr>
              <a:t>主干提取视觉－语言－本体特征，独立动作专家用条件流匹配生成连续动作块</a:t>
            </a:r>
            <a:r>
              <a:rPr sz="2400" dirty="0">
                <a:solidFill>
                  <a:srgbClr val="222833"/>
                </a:solidFill>
                <a:latin typeface="微软雅黑"/>
              </a:rPr>
              <a:t>。</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ea typeface="微软雅黑" panose="020B0503020204020204" pitchFamily="34" charset="-122"/>
              </a:rPr>
              <a:t>具身智能导论</a:t>
            </a:r>
            <a:r>
              <a:rPr sz="1000" b="0" i="0" dirty="0">
                <a:solidFill>
                  <a:srgbClr val="8C98AA"/>
                </a:solidFill>
                <a:latin typeface="微软雅黑" panose="020B0503020204020204" pitchFamily="34" charset="-122"/>
                <a:ea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ea typeface="微软雅黑" panose="020B0503020204020204" pitchFamily="34" charset="-122"/>
              </a:rPr>
              <a:t>视觉－语言－动作模型</a:t>
            </a:r>
            <a:endParaRPr sz="1000" b="0" i="0" dirty="0">
              <a:solidFill>
                <a:srgbClr val="8C98AA"/>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ea typeface="微软雅黑" panose="020B0503020204020204" pitchFamily="34" charset="-122"/>
              </a:rPr>
              <a:t>105</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ea typeface="微软雅黑" panose="020B0503020204020204" pitchFamily="34" charset="-122"/>
              </a:rPr>
              <a:t>π0 </a:t>
            </a:r>
            <a:r>
              <a:rPr sz="3500" b="1" i="0" dirty="0" err="1">
                <a:solidFill>
                  <a:srgbClr val="24477D"/>
                </a:solidFill>
                <a:latin typeface="微软雅黑" panose="020B0503020204020204" pitchFamily="34" charset="-122"/>
                <a:ea typeface="微软雅黑" panose="020B0503020204020204" pitchFamily="34" charset="-122"/>
              </a:rPr>
              <a:t>的主要特点</a:t>
            </a:r>
            <a:endParaRPr sz="3500" b="1" i="0" dirty="0">
              <a:solidFill>
                <a:srgbClr val="24477D"/>
              </a:solidFill>
              <a:latin typeface="微软雅黑" panose="020B0503020204020204" pitchFamily="34" charset="-122"/>
              <a:ea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9" name="Rounded Rectangle 8"/>
          <p:cNvSpPr/>
          <p:nvPr/>
        </p:nvSpPr>
        <p:spPr>
          <a:xfrm>
            <a:off x="713232" y="1627632"/>
            <a:ext cx="3246120" cy="2788920"/>
          </a:xfrm>
          <a:prstGeom prst="roundRect">
            <a:avLst>
              <a:gd name="adj" fmla="val 100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0" name="Rectangle 9"/>
          <p:cNvSpPr/>
          <p:nvPr/>
        </p:nvSpPr>
        <p:spPr>
          <a:xfrm>
            <a:off x="713232" y="1627632"/>
            <a:ext cx="64008" cy="27889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1" name="TextBox 10"/>
          <p:cNvSpPr txBox="1"/>
          <p:nvPr/>
        </p:nvSpPr>
        <p:spPr>
          <a:xfrm>
            <a:off x="923544" y="1773936"/>
            <a:ext cx="2862072" cy="346249"/>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ea typeface="微软雅黑" panose="020B0503020204020204" pitchFamily="34" charset="-122"/>
              </a:rPr>
              <a:t>迁移与</a:t>
            </a:r>
            <a:r>
              <a:rPr lang="zh-CN" altLang="en-US" sz="2000" b="1" dirty="0">
                <a:solidFill>
                  <a:srgbClr val="31599B"/>
                </a:solidFill>
                <a:latin typeface="微软雅黑" panose="020B0503020204020204" pitchFamily="34" charset="-122"/>
                <a:ea typeface="微软雅黑" panose="020B0503020204020204" pitchFamily="34" charset="-122"/>
              </a:rPr>
              <a:t>泛化能力</a:t>
            </a:r>
            <a:endParaRPr sz="2000" b="1" i="0" dirty="0">
              <a:solidFill>
                <a:srgbClr val="31599B"/>
              </a:solidFill>
              <a:latin typeface="微软雅黑" panose="020B0503020204020204" pitchFamily="34" charset="-122"/>
              <a:ea typeface="微软雅黑" panose="020B0503020204020204" pitchFamily="34" charset="-122"/>
            </a:endParaRPr>
          </a:p>
        </p:txBody>
      </p:sp>
      <p:sp>
        <p:nvSpPr>
          <p:cNvPr id="12" name="TextBox 11"/>
          <p:cNvSpPr txBox="1"/>
          <p:nvPr/>
        </p:nvSpPr>
        <p:spPr>
          <a:xfrm>
            <a:off x="923544" y="2286000"/>
            <a:ext cx="2862072" cy="914674"/>
          </a:xfrm>
          <a:prstGeom prst="rect">
            <a:avLst/>
          </a:prstGeom>
          <a:noFill/>
        </p:spPr>
        <p:txBody>
          <a:bodyPr wrap="square" lIns="18288" tIns="18288" rIns="18288" bIns="18288" anchor="t">
            <a:spAutoFit/>
          </a:bodyPr>
          <a:lstStyle/>
          <a:p>
            <a:pPr algn="l">
              <a:lnSpc>
                <a:spcPct val="108000"/>
              </a:lnSpc>
            </a:pPr>
            <a:r>
              <a:rPr sz="1800" b="0" i="0" dirty="0" err="1">
                <a:solidFill>
                  <a:srgbClr val="222833"/>
                </a:solidFill>
                <a:latin typeface="微软雅黑" panose="020B0503020204020204" pitchFamily="34" charset="-122"/>
                <a:ea typeface="微软雅黑" panose="020B0503020204020204" pitchFamily="34" charset="-122"/>
              </a:rPr>
              <a:t>在部分已覆盖任务上可直接执行，并对新物体、新场景表现出一定泛化</a:t>
            </a:r>
            <a:r>
              <a:rPr sz="1800" b="0" i="0" dirty="0">
                <a:solidFill>
                  <a:srgbClr val="222833"/>
                </a:solidFill>
                <a:latin typeface="微软雅黑" panose="020B0503020204020204" pitchFamily="34" charset="-122"/>
                <a:ea typeface="微软雅黑" panose="020B0503020204020204" pitchFamily="34" charset="-122"/>
              </a:rPr>
              <a:t>。</a:t>
            </a:r>
          </a:p>
        </p:txBody>
      </p:sp>
      <p:sp>
        <p:nvSpPr>
          <p:cNvPr id="13" name="Rounded Rectangle 12"/>
          <p:cNvSpPr/>
          <p:nvPr/>
        </p:nvSpPr>
        <p:spPr>
          <a:xfrm>
            <a:off x="4160520" y="1627632"/>
            <a:ext cx="3246120" cy="2788920"/>
          </a:xfrm>
          <a:prstGeom prst="roundRect">
            <a:avLst>
              <a:gd name="adj" fmla="val 1776"/>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4" name="Rectangle 13"/>
          <p:cNvSpPr/>
          <p:nvPr/>
        </p:nvSpPr>
        <p:spPr>
          <a:xfrm>
            <a:off x="4160520" y="1627632"/>
            <a:ext cx="64008" cy="278892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5" name="TextBox 14"/>
          <p:cNvSpPr txBox="1"/>
          <p:nvPr/>
        </p:nvSpPr>
        <p:spPr>
          <a:xfrm>
            <a:off x="4370832"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ea typeface="微软雅黑" panose="020B0503020204020204" pitchFamily="34" charset="-122"/>
              </a:rPr>
              <a:t>高灵巧实时控制</a:t>
            </a:r>
            <a:endParaRPr sz="2000" b="1" i="0" dirty="0">
              <a:solidFill>
                <a:srgbClr val="2F8E72"/>
              </a:solidFill>
              <a:latin typeface="微软雅黑" panose="020B0503020204020204" pitchFamily="34" charset="-122"/>
              <a:ea typeface="微软雅黑" panose="020B0503020204020204" pitchFamily="34" charset="-122"/>
            </a:endParaRPr>
          </a:p>
        </p:txBody>
      </p:sp>
      <p:sp>
        <p:nvSpPr>
          <p:cNvPr id="16" name="TextBox 15"/>
          <p:cNvSpPr txBox="1"/>
          <p:nvPr/>
        </p:nvSpPr>
        <p:spPr>
          <a:xfrm>
            <a:off x="4370832" y="2286000"/>
            <a:ext cx="2862072" cy="914674"/>
          </a:xfrm>
          <a:prstGeom prst="rect">
            <a:avLst/>
          </a:prstGeom>
          <a:noFill/>
        </p:spPr>
        <p:txBody>
          <a:bodyPr wrap="square" lIns="18288" tIns="18288" rIns="18288" bIns="18288" anchor="t">
            <a:spAutoFit/>
          </a:bodyPr>
          <a:lstStyle/>
          <a:p>
            <a:pPr algn="l">
              <a:lnSpc>
                <a:spcPct val="108000"/>
              </a:lnSpc>
            </a:pPr>
            <a:r>
              <a:rPr sz="1800" b="0" i="0" dirty="0" err="1">
                <a:solidFill>
                  <a:srgbClr val="222833"/>
                </a:solidFill>
                <a:latin typeface="微软雅黑" panose="020B0503020204020204" pitchFamily="34" charset="-122"/>
                <a:ea typeface="微软雅黑" panose="020B0503020204020204" pitchFamily="34" charset="-122"/>
              </a:rPr>
              <a:t>支持</a:t>
            </a:r>
            <a:r>
              <a:rPr sz="1800" b="0" i="0" dirty="0">
                <a:solidFill>
                  <a:srgbClr val="222833"/>
                </a:solidFill>
                <a:latin typeface="微软雅黑" panose="020B0503020204020204" pitchFamily="34" charset="-122"/>
                <a:ea typeface="微软雅黑" panose="020B0503020204020204" pitchFamily="34" charset="-122"/>
              </a:rPr>
              <a:t> 50 Hz </a:t>
            </a:r>
            <a:r>
              <a:rPr sz="1800" b="0" i="0" dirty="0" err="1">
                <a:solidFill>
                  <a:srgbClr val="222833"/>
                </a:solidFill>
                <a:latin typeface="微软雅黑" panose="020B0503020204020204" pitchFamily="34" charset="-122"/>
                <a:ea typeface="微软雅黑" panose="020B0503020204020204" pitchFamily="34" charset="-122"/>
              </a:rPr>
              <a:t>动作块预测，面向折衣、桌面清理、杂货打包等长时序操作</a:t>
            </a:r>
            <a:r>
              <a:rPr sz="1800" b="0" i="0" dirty="0">
                <a:solidFill>
                  <a:srgbClr val="222833"/>
                </a:solidFill>
                <a:latin typeface="微软雅黑" panose="020B0503020204020204" pitchFamily="34" charset="-122"/>
                <a:ea typeface="微软雅黑" panose="020B0503020204020204" pitchFamily="34" charset="-122"/>
              </a:rPr>
              <a:t>。</a:t>
            </a:r>
          </a:p>
        </p:txBody>
      </p:sp>
      <p:sp>
        <p:nvSpPr>
          <p:cNvPr id="17" name="Rounded Rectangle 16"/>
          <p:cNvSpPr/>
          <p:nvPr/>
        </p:nvSpPr>
        <p:spPr>
          <a:xfrm>
            <a:off x="7607808" y="1627632"/>
            <a:ext cx="3246120" cy="2788920"/>
          </a:xfrm>
          <a:prstGeom prst="roundRect">
            <a:avLst>
              <a:gd name="adj" fmla="val 396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8" name="Rectangle 17"/>
          <p:cNvSpPr/>
          <p:nvPr/>
        </p:nvSpPr>
        <p:spPr>
          <a:xfrm>
            <a:off x="7607808" y="1627632"/>
            <a:ext cx="64008" cy="278892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9" name="TextBox 18"/>
          <p:cNvSpPr txBox="1"/>
          <p:nvPr/>
        </p:nvSpPr>
        <p:spPr>
          <a:xfrm>
            <a:off x="7818120" y="1773936"/>
            <a:ext cx="2862072" cy="340350"/>
          </a:xfrm>
          <a:prstGeom prst="rect">
            <a:avLst/>
          </a:prstGeom>
          <a:noFill/>
        </p:spPr>
        <p:txBody>
          <a:bodyPr wrap="square" lIns="18288" tIns="18288" rIns="18288" bIns="18288" anchor="t">
            <a:spAutoFit/>
          </a:bodyPr>
          <a:lstStyle/>
          <a:p>
            <a:pPr algn="l">
              <a:lnSpc>
                <a:spcPct val="105000"/>
              </a:lnSpc>
            </a:pPr>
            <a:r>
              <a:rPr sz="2000" b="1" i="0" dirty="0" err="1">
                <a:solidFill>
                  <a:srgbClr val="C58A24"/>
                </a:solidFill>
                <a:latin typeface="微软雅黑" panose="020B0503020204020204" pitchFamily="34" charset="-122"/>
                <a:ea typeface="微软雅黑" panose="020B0503020204020204" pitchFamily="34" charset="-122"/>
              </a:rPr>
              <a:t>跨具身兼容</a:t>
            </a:r>
            <a:endParaRPr sz="2000" b="1" i="0" dirty="0">
              <a:solidFill>
                <a:srgbClr val="C58A24"/>
              </a:solidFill>
              <a:latin typeface="微软雅黑" panose="020B0503020204020204" pitchFamily="34" charset="-122"/>
              <a:ea typeface="微软雅黑" panose="020B0503020204020204" pitchFamily="34" charset="-122"/>
            </a:endParaRPr>
          </a:p>
        </p:txBody>
      </p:sp>
      <p:sp>
        <p:nvSpPr>
          <p:cNvPr id="20" name="TextBox 19"/>
          <p:cNvSpPr txBox="1"/>
          <p:nvPr/>
        </p:nvSpPr>
        <p:spPr>
          <a:xfrm>
            <a:off x="7818120" y="2286000"/>
            <a:ext cx="2862072" cy="914674"/>
          </a:xfrm>
          <a:prstGeom prst="rect">
            <a:avLst/>
          </a:prstGeom>
          <a:noFill/>
        </p:spPr>
        <p:txBody>
          <a:bodyPr wrap="square" lIns="18288" tIns="18288" rIns="18288" bIns="18288" anchor="t">
            <a:spAutoFit/>
          </a:bodyPr>
          <a:lstStyle/>
          <a:p>
            <a:pPr algn="l">
              <a:lnSpc>
                <a:spcPct val="108000"/>
              </a:lnSpc>
            </a:pPr>
            <a:r>
              <a:rPr sz="1800" b="0" i="0" dirty="0" err="1">
                <a:solidFill>
                  <a:srgbClr val="222833"/>
                </a:solidFill>
                <a:latin typeface="微软雅黑" panose="020B0503020204020204" pitchFamily="34" charset="-122"/>
                <a:ea typeface="微软雅黑" panose="020B0503020204020204" pitchFamily="34" charset="-122"/>
              </a:rPr>
              <a:t>统一支持单臂、双臂、移动机械臂等平台，实现数据与策略跨本体迁移</a:t>
            </a:r>
            <a:r>
              <a:rPr sz="1800" b="0" i="0" dirty="0">
                <a:solidFill>
                  <a:srgbClr val="222833"/>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106</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π0：移动双臂机器人叠衣物</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873030" y="5387636"/>
            <a:ext cx="672084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667085"/>
                </a:solidFill>
                <a:latin typeface="微软雅黑" panose="020B0503020204020204" pitchFamily="34" charset="-122"/>
              </a:rPr>
              <a:t>搭载</a:t>
            </a:r>
            <a:r>
              <a:rPr sz="1300" b="1" i="0" dirty="0">
                <a:solidFill>
                  <a:srgbClr val="667085"/>
                </a:solidFill>
                <a:latin typeface="微软雅黑" panose="020B0503020204020204" pitchFamily="34" charset="-122"/>
              </a:rPr>
              <a:t> π0 </a:t>
            </a:r>
            <a:r>
              <a:rPr sz="1300" b="1" i="0" dirty="0" err="1">
                <a:solidFill>
                  <a:srgbClr val="667085"/>
                </a:solidFill>
                <a:latin typeface="微软雅黑" panose="020B0503020204020204" pitchFamily="34" charset="-122"/>
              </a:rPr>
              <a:t>模型的移动双臂机器人叠衣物</a:t>
            </a:r>
            <a:endParaRPr sz="1300" b="1" i="0" dirty="0">
              <a:solidFill>
                <a:srgbClr val="667085"/>
              </a:solidFill>
              <a:latin typeface="微软雅黑" panose="020B0503020204020204" pitchFamily="34" charset="-122"/>
            </a:endParaRPr>
          </a:p>
        </p:txBody>
      </p:sp>
      <p:sp>
        <p:nvSpPr>
          <p:cNvPr id="11" name="Rounded Rectangle 10"/>
          <p:cNvSpPr/>
          <p:nvPr/>
        </p:nvSpPr>
        <p:spPr>
          <a:xfrm>
            <a:off x="7699248" y="1691640"/>
            <a:ext cx="3657600" cy="4023360"/>
          </a:xfrm>
          <a:prstGeom prst="roundRect">
            <a:avLst>
              <a:gd name="adj" fmla="val 125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ectangle 11"/>
          <p:cNvSpPr/>
          <p:nvPr/>
        </p:nvSpPr>
        <p:spPr>
          <a:xfrm>
            <a:off x="7699248" y="1691640"/>
            <a:ext cx="64008" cy="40233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7909560" y="2350008"/>
            <a:ext cx="3273552" cy="3218688"/>
          </a:xfrm>
          <a:prstGeom prst="rect">
            <a:avLst/>
          </a:prstGeom>
          <a:noFill/>
        </p:spPr>
        <p:txBody>
          <a:bodyPr wrap="square" lIns="18288" tIns="18288" rIns="18288" bIns="18288" anchor="t">
            <a:spAutoFit/>
          </a:bodyPr>
          <a:lstStyle/>
          <a:p>
            <a:pPr algn="l">
              <a:lnSpc>
                <a:spcPct val="108000"/>
              </a:lnSpc>
            </a:pPr>
            <a:r>
              <a:rPr sz="1800" b="0" i="0">
                <a:solidFill>
                  <a:srgbClr val="222833"/>
                </a:solidFill>
                <a:latin typeface="微软雅黑"/>
              </a:rPr>
              <a:t>π0 展示 VLM 预训练与流匹配动作建模可以结合，在多阶段、灵巧操作任务中形成自然语言到连续动作的完整闭环。</a:t>
            </a:r>
          </a:p>
        </p:txBody>
      </p:sp>
      <p:pic>
        <p:nvPicPr>
          <p:cNvPr id="15" name="图片 14">
            <a:extLst>
              <a:ext uri="{FF2B5EF4-FFF2-40B4-BE49-F238E27FC236}">
                <a16:creationId xmlns:a16="http://schemas.microsoft.com/office/drawing/2014/main" id="{665741B7-5BB8-162E-B202-07CAF253ECA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2479" y="1824275"/>
            <a:ext cx="5274310" cy="2986405"/>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8595360" y="320040"/>
            <a:ext cx="2743200" cy="188641"/>
          </a:xfrm>
          <a:prstGeom prst="rect">
            <a:avLst/>
          </a:prstGeom>
          <a:noFill/>
        </p:spPr>
        <p:txBody>
          <a:bodyPr wrap="square" lIns="18288" tIns="18288" rIns="18288" bIns="18288" anchor="t">
            <a:spAutoFit/>
          </a:bodyPr>
          <a:lstStyle/>
          <a:p>
            <a:pPr algn="r">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1307592" y="1474502"/>
            <a:ext cx="1691640" cy="1129220"/>
          </a:xfrm>
          <a:prstGeom prst="rect">
            <a:avLst/>
          </a:prstGeom>
          <a:noFill/>
        </p:spPr>
        <p:txBody>
          <a:bodyPr wrap="square" lIns="18288" tIns="18288" rIns="18288" bIns="18288" anchor="ctr">
            <a:spAutoFit/>
          </a:bodyPr>
          <a:lstStyle/>
          <a:p>
            <a:pPr algn="l">
              <a:lnSpc>
                <a:spcPct val="105000"/>
              </a:lnSpc>
            </a:pPr>
            <a:r>
              <a:rPr sz="7200" b="1" i="0" dirty="0">
                <a:solidFill>
                  <a:srgbClr val="31599B"/>
                </a:solidFill>
                <a:latin typeface="微软雅黑" panose="020B0503020204020204" pitchFamily="34" charset="-122"/>
              </a:rPr>
              <a:t>06</a:t>
            </a:r>
          </a:p>
        </p:txBody>
      </p:sp>
      <p:sp>
        <p:nvSpPr>
          <p:cNvPr id="6" name="TextBox 5"/>
          <p:cNvSpPr txBox="1"/>
          <p:nvPr/>
        </p:nvSpPr>
        <p:spPr>
          <a:xfrm>
            <a:off x="3246120" y="1752259"/>
            <a:ext cx="7818120" cy="628570"/>
          </a:xfrm>
          <a:prstGeom prst="rect">
            <a:avLst/>
          </a:prstGeom>
          <a:noFill/>
        </p:spPr>
        <p:txBody>
          <a:bodyPr wrap="square" lIns="18288" tIns="18288" rIns="18288" bIns="18288" anchor="ctr">
            <a:spAutoFit/>
          </a:bodyPr>
          <a:lstStyle/>
          <a:p>
            <a:pPr algn="l">
              <a:lnSpc>
                <a:spcPct val="105000"/>
              </a:lnSpc>
            </a:pPr>
            <a:r>
              <a:rPr sz="3900" b="1" i="0" dirty="0">
                <a:solidFill>
                  <a:srgbClr val="24477D"/>
                </a:solidFill>
                <a:latin typeface="微软雅黑" panose="020B0503020204020204" pitchFamily="34" charset="-122"/>
              </a:rPr>
              <a:t>VLA </a:t>
            </a:r>
            <a:r>
              <a:rPr sz="3900" b="1" i="0" dirty="0" err="1">
                <a:solidFill>
                  <a:srgbClr val="24477D"/>
                </a:solidFill>
                <a:latin typeface="微软雅黑" panose="020B0503020204020204" pitchFamily="34" charset="-122"/>
              </a:rPr>
              <a:t>模型的训练与部署</a:t>
            </a:r>
            <a:endParaRPr sz="3900" b="1" i="0" dirty="0">
              <a:solidFill>
                <a:srgbClr val="24477D"/>
              </a:solidFill>
              <a:latin typeface="微软雅黑" panose="020B0503020204020204" pitchFamily="34"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108</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7.6 </a:t>
            </a:r>
            <a:r>
              <a:rPr sz="3500" b="1" i="0" dirty="0" err="1">
                <a:solidFill>
                  <a:srgbClr val="24477D"/>
                </a:solidFill>
                <a:latin typeface="微软雅黑" panose="020B0503020204020204" pitchFamily="34" charset="-122"/>
              </a:rPr>
              <a:t>模型训练：模仿学习</a:t>
            </a:r>
            <a:r>
              <a:rPr sz="3500" b="1" i="0" dirty="0">
                <a:solidFill>
                  <a:srgbClr val="24477D"/>
                </a:solidFill>
                <a:latin typeface="微软雅黑" panose="020B0503020204020204" pitchFamily="34" charset="-122"/>
              </a:rPr>
              <a:t> + </a:t>
            </a:r>
            <a:r>
              <a:rPr sz="3500" b="1" i="0" dirty="0" err="1">
                <a:solidFill>
                  <a:srgbClr val="24477D"/>
                </a:solidFill>
                <a:latin typeface="微软雅黑" panose="020B0503020204020204" pitchFamily="34" charset="-122"/>
              </a:rPr>
              <a:t>强化学习</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77240" y="1737360"/>
            <a:ext cx="5074920" cy="3749039"/>
          </a:xfrm>
          <a:prstGeom prst="roundRect">
            <a:avLst>
              <a:gd name="adj" fmla="val 186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77240" y="1737360"/>
            <a:ext cx="64008" cy="3749039"/>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87552" y="1883664"/>
            <a:ext cx="46908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模仿学习阶段</a:t>
            </a:r>
            <a:endParaRPr sz="2000" b="1" i="0" dirty="0">
              <a:solidFill>
                <a:srgbClr val="31599B"/>
              </a:solidFill>
              <a:latin typeface="微软雅黑" panose="020B0503020204020204" pitchFamily="34" charset="-122"/>
            </a:endParaRPr>
          </a:p>
        </p:txBody>
      </p:sp>
      <p:sp>
        <p:nvSpPr>
          <p:cNvPr id="12" name="TextBox 11"/>
          <p:cNvSpPr txBox="1"/>
          <p:nvPr/>
        </p:nvSpPr>
        <p:spPr>
          <a:xfrm>
            <a:off x="987552" y="2395728"/>
            <a:ext cx="4690872" cy="294436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利用视觉－语言－动作演示数据，快速学习一个可用的条件策略。</a:t>
            </a:r>
          </a:p>
          <a:p>
            <a:pPr algn="l">
              <a:lnSpc>
                <a:spcPct val="108000"/>
              </a:lnSpc>
            </a:pPr>
            <a:endParaRPr sz="2000" b="0" i="0">
              <a:solidFill>
                <a:srgbClr val="222833"/>
              </a:solidFill>
              <a:latin typeface="微软雅黑"/>
            </a:endParaRPr>
          </a:p>
          <a:p>
            <a:pPr algn="l">
              <a:lnSpc>
                <a:spcPct val="108000"/>
              </a:lnSpc>
            </a:pPr>
            <a:r>
              <a:rPr sz="2000" b="0" i="0">
                <a:solidFill>
                  <a:srgbClr val="222833"/>
                </a:solidFill>
                <a:latin typeface="微软雅黑"/>
              </a:rPr>
              <a:t>优势：充分利用人类示范，样本效率高。</a:t>
            </a:r>
          </a:p>
        </p:txBody>
      </p:sp>
      <p:sp>
        <p:nvSpPr>
          <p:cNvPr id="13" name="Rounded Rectangle 12"/>
          <p:cNvSpPr/>
          <p:nvPr/>
        </p:nvSpPr>
        <p:spPr>
          <a:xfrm>
            <a:off x="6172200" y="1737360"/>
            <a:ext cx="5074920" cy="3749039"/>
          </a:xfrm>
          <a:prstGeom prst="roundRect">
            <a:avLst>
              <a:gd name="adj" fmla="val 139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172200" y="1737360"/>
            <a:ext cx="64008" cy="3749039"/>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382512" y="1883664"/>
            <a:ext cx="46908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强化学习微调</a:t>
            </a:r>
            <a:endParaRPr sz="2000" b="1" i="0" dirty="0">
              <a:solidFill>
                <a:srgbClr val="2F8E72"/>
              </a:solidFill>
              <a:latin typeface="微软雅黑" panose="020B0503020204020204" pitchFamily="34" charset="-122"/>
            </a:endParaRPr>
          </a:p>
        </p:txBody>
      </p:sp>
      <p:sp>
        <p:nvSpPr>
          <p:cNvPr id="16" name="TextBox 15"/>
          <p:cNvSpPr txBox="1"/>
          <p:nvPr/>
        </p:nvSpPr>
        <p:spPr>
          <a:xfrm>
            <a:off x="6382512" y="2395728"/>
            <a:ext cx="4690872" cy="294436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让策略与环境交互，根据成功、稳定性等反馈继续优化。</a:t>
            </a:r>
          </a:p>
          <a:p>
            <a:pPr algn="l">
              <a:lnSpc>
                <a:spcPct val="108000"/>
              </a:lnSpc>
            </a:pPr>
            <a:endParaRPr sz="2000" b="0" i="0">
              <a:solidFill>
                <a:srgbClr val="222833"/>
              </a:solidFill>
              <a:latin typeface="微软雅黑"/>
            </a:endParaRPr>
          </a:p>
          <a:p>
            <a:pPr algn="l">
              <a:lnSpc>
                <a:spcPct val="108000"/>
              </a:lnSpc>
            </a:pPr>
            <a:r>
              <a:rPr sz="2000" b="0" i="0">
                <a:solidFill>
                  <a:srgbClr val="222833"/>
                </a:solidFill>
                <a:latin typeface="微软雅黑"/>
              </a:rPr>
              <a:t>优势：适应真实环境中的不确定性。</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109</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策略学习：扩散策略的训练目标</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ounded Rectangle 11"/>
          <p:cNvSpPr/>
          <p:nvPr/>
        </p:nvSpPr>
        <p:spPr>
          <a:xfrm>
            <a:off x="960120" y="3429000"/>
            <a:ext cx="10287000" cy="196596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1234440" y="3703320"/>
            <a:ext cx="9738360" cy="1045927"/>
          </a:xfrm>
          <a:prstGeom prst="rect">
            <a:avLst/>
          </a:prstGeom>
          <a:noFill/>
        </p:spPr>
        <p:txBody>
          <a:bodyPr wrap="square" lIns="18288" tIns="18288" rIns="18288" bIns="18288" anchor="t">
            <a:spAutoFit/>
          </a:bodyPr>
          <a:lstStyle/>
          <a:p>
            <a:pPr algn="l">
              <a:lnSpc>
                <a:spcPct val="112000"/>
              </a:lnSpc>
            </a:pPr>
            <a:r>
              <a:rPr sz="2000" b="0" i="0" dirty="0" err="1">
                <a:solidFill>
                  <a:srgbClr val="222833"/>
                </a:solidFill>
                <a:latin typeface="微软雅黑"/>
              </a:rPr>
              <a:t>D：机器人演示数据集；A</a:t>
            </a:r>
            <a:r>
              <a:rPr sz="2000" b="0" i="0" dirty="0">
                <a:solidFill>
                  <a:srgbClr val="222833"/>
                </a:solidFill>
                <a:latin typeface="微软雅黑"/>
              </a:rPr>
              <a:t>ₜ：</a:t>
            </a:r>
            <a:r>
              <a:rPr sz="2000" b="0" i="0" dirty="0" err="1">
                <a:solidFill>
                  <a:srgbClr val="222833"/>
                </a:solidFill>
                <a:latin typeface="微软雅黑"/>
              </a:rPr>
              <a:t>真实动作序列；c</a:t>
            </a:r>
            <a:r>
              <a:rPr sz="2000" b="0" i="0" dirty="0">
                <a:solidFill>
                  <a:srgbClr val="222833"/>
                </a:solidFill>
                <a:latin typeface="微软雅黑"/>
              </a:rPr>
              <a:t>ₜ：</a:t>
            </a:r>
            <a:r>
              <a:rPr sz="2000" b="0" i="0" dirty="0" err="1">
                <a:solidFill>
                  <a:srgbClr val="222833"/>
                </a:solidFill>
                <a:latin typeface="微软雅黑"/>
              </a:rPr>
              <a:t>视觉、语言和机器人状态等条件；k：随机加噪步；ε：高斯噪声；ε</a:t>
            </a:r>
            <a:r>
              <a:rPr sz="2000" b="0" i="0" baseline="-25000" dirty="0" err="1">
                <a:solidFill>
                  <a:srgbClr val="222833"/>
                </a:solidFill>
                <a:latin typeface="微软雅黑"/>
              </a:rPr>
              <a:t>θ</a:t>
            </a:r>
            <a:r>
              <a:rPr sz="2000" b="0" i="0" dirty="0" err="1">
                <a:solidFill>
                  <a:srgbClr val="222833"/>
                </a:solidFill>
                <a:latin typeface="微软雅黑"/>
              </a:rPr>
              <a:t>：条件噪声预测网络。训练目标是最小化噪声预测误差</a:t>
            </a:r>
            <a:r>
              <a:rPr sz="2000" b="0" i="0" dirty="0">
                <a:solidFill>
                  <a:srgbClr val="222833"/>
                </a:solidFill>
                <a:latin typeface="微软雅黑"/>
              </a:rPr>
              <a:t>。</a:t>
            </a:r>
          </a:p>
        </p:txBody>
      </p:sp>
      <p:pic>
        <p:nvPicPr>
          <p:cNvPr id="15" name="图片 14">
            <a:extLst>
              <a:ext uri="{FF2B5EF4-FFF2-40B4-BE49-F238E27FC236}">
                <a16:creationId xmlns:a16="http://schemas.microsoft.com/office/drawing/2014/main" id="{3082CAE4-B21A-B043-506F-9AC703220CEA}"/>
              </a:ext>
            </a:extLst>
          </p:cNvPr>
          <p:cNvPicPr>
            <a:picLocks noChangeAspect="1"/>
          </p:cNvPicPr>
          <p:nvPr/>
        </p:nvPicPr>
        <p:blipFill>
          <a:blip r:embed="rId2"/>
          <a:stretch>
            <a:fillRect/>
          </a:stretch>
        </p:blipFill>
        <p:spPr>
          <a:xfrm>
            <a:off x="1960763" y="1798204"/>
            <a:ext cx="8285714" cy="1190476"/>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110</a:t>
            </a:r>
          </a:p>
        </p:txBody>
      </p:sp>
      <p:sp>
        <p:nvSpPr>
          <p:cNvPr id="7" name="TextBox 6"/>
          <p:cNvSpPr txBox="1"/>
          <p:nvPr/>
        </p:nvSpPr>
        <p:spPr>
          <a:xfrm>
            <a:off x="502920" y="551044"/>
            <a:ext cx="10927080" cy="507255"/>
          </a:xfrm>
          <a:prstGeom prst="rect">
            <a:avLst/>
          </a:prstGeom>
          <a:noFill/>
        </p:spPr>
        <p:txBody>
          <a:bodyPr wrap="square" lIns="18288" tIns="18288" rIns="18288" bIns="18288" anchor="ctr">
            <a:spAutoFit/>
          </a:bodyPr>
          <a:lstStyle/>
          <a:p>
            <a:pPr algn="l">
              <a:lnSpc>
                <a:spcPct val="105000"/>
              </a:lnSpc>
            </a:pPr>
            <a:r>
              <a:rPr sz="3100" b="1" i="0" dirty="0" err="1">
                <a:solidFill>
                  <a:srgbClr val="24477D"/>
                </a:solidFill>
                <a:latin typeface="微软雅黑" panose="020B0503020204020204" pitchFamily="34" charset="-122"/>
              </a:rPr>
              <a:t>强化学习微调：用</a:t>
            </a:r>
            <a:r>
              <a:rPr sz="3100" b="1" i="0" dirty="0">
                <a:solidFill>
                  <a:srgbClr val="24477D"/>
                </a:solidFill>
                <a:latin typeface="微软雅黑" panose="020B0503020204020204" pitchFamily="34" charset="-122"/>
              </a:rPr>
              <a:t> Actor-Critic </a:t>
            </a:r>
            <a:r>
              <a:rPr sz="3100" b="1" i="0" dirty="0" err="1">
                <a:solidFill>
                  <a:srgbClr val="24477D"/>
                </a:solidFill>
                <a:latin typeface="微软雅黑" panose="020B0503020204020204" pitchFamily="34" charset="-122"/>
              </a:rPr>
              <a:t>持续优化策略</a:t>
            </a:r>
            <a:endParaRPr sz="31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658368" y="1856231"/>
            <a:ext cx="2560320" cy="2834640"/>
          </a:xfrm>
          <a:prstGeom prst="roundRect">
            <a:avLst>
              <a:gd name="adj" fmla="val 23"/>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658368" y="1856231"/>
            <a:ext cx="64008" cy="28346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68680" y="2002536"/>
            <a:ext cx="2176272" cy="310021"/>
          </a:xfrm>
          <a:prstGeom prst="rect">
            <a:avLst/>
          </a:prstGeom>
          <a:noFill/>
        </p:spPr>
        <p:txBody>
          <a:bodyPr wrap="square" lIns="18288" tIns="18288" rIns="18288" bIns="18288" anchor="t">
            <a:spAutoFit/>
          </a:bodyPr>
          <a:lstStyle/>
          <a:p>
            <a:pPr algn="l">
              <a:lnSpc>
                <a:spcPct val="105000"/>
              </a:lnSpc>
            </a:pPr>
            <a:r>
              <a:rPr sz="1800" b="1" i="0" dirty="0">
                <a:solidFill>
                  <a:srgbClr val="31599B"/>
                </a:solidFill>
                <a:latin typeface="微软雅黑" panose="020B0503020204020204" pitchFamily="34" charset="-122"/>
              </a:rPr>
              <a:t>Actor</a:t>
            </a:r>
          </a:p>
        </p:txBody>
      </p:sp>
      <p:sp>
        <p:nvSpPr>
          <p:cNvPr id="12" name="TextBox 11"/>
          <p:cNvSpPr txBox="1"/>
          <p:nvPr/>
        </p:nvSpPr>
        <p:spPr>
          <a:xfrm>
            <a:off x="868680" y="2514600"/>
            <a:ext cx="2176272" cy="202996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生成候选动作序列。</a:t>
            </a:r>
          </a:p>
        </p:txBody>
      </p:sp>
      <p:sp>
        <p:nvSpPr>
          <p:cNvPr id="13" name="Rounded Rectangle 12"/>
          <p:cNvSpPr/>
          <p:nvPr/>
        </p:nvSpPr>
        <p:spPr>
          <a:xfrm>
            <a:off x="3429000" y="1856231"/>
            <a:ext cx="2560320" cy="2834640"/>
          </a:xfrm>
          <a:prstGeom prst="roundRect">
            <a:avLst>
              <a:gd name="adj" fmla="val 435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3429000" y="1856231"/>
            <a:ext cx="64008" cy="28346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3639312" y="2002536"/>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环境</a:t>
            </a:r>
            <a:endParaRPr sz="1800" b="1" i="0" dirty="0">
              <a:solidFill>
                <a:srgbClr val="2F8E72"/>
              </a:solidFill>
              <a:latin typeface="微软雅黑" panose="020B0503020204020204" pitchFamily="34" charset="-122"/>
            </a:endParaRPr>
          </a:p>
        </p:txBody>
      </p:sp>
      <p:sp>
        <p:nvSpPr>
          <p:cNvPr id="16" name="TextBox 15"/>
          <p:cNvSpPr txBox="1"/>
          <p:nvPr/>
        </p:nvSpPr>
        <p:spPr>
          <a:xfrm>
            <a:off x="3639312" y="2514600"/>
            <a:ext cx="2176272" cy="202996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真实 / 仿真环境执行动作并返回结果。</a:t>
            </a:r>
          </a:p>
        </p:txBody>
      </p:sp>
      <p:sp>
        <p:nvSpPr>
          <p:cNvPr id="17" name="Rounded Rectangle 16"/>
          <p:cNvSpPr/>
          <p:nvPr/>
        </p:nvSpPr>
        <p:spPr>
          <a:xfrm>
            <a:off x="6199631" y="1856231"/>
            <a:ext cx="2560320" cy="2834640"/>
          </a:xfrm>
          <a:prstGeom prst="roundRect">
            <a:avLst>
              <a:gd name="adj" fmla="val 487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6199631" y="1856231"/>
            <a:ext cx="64008" cy="28346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6409944" y="2002536"/>
            <a:ext cx="2176272" cy="310021"/>
          </a:xfrm>
          <a:prstGeom prst="rect">
            <a:avLst/>
          </a:prstGeom>
          <a:noFill/>
        </p:spPr>
        <p:txBody>
          <a:bodyPr wrap="square" lIns="18288" tIns="18288" rIns="18288" bIns="18288" anchor="t">
            <a:spAutoFit/>
          </a:bodyPr>
          <a:lstStyle/>
          <a:p>
            <a:pPr algn="l">
              <a:lnSpc>
                <a:spcPct val="105000"/>
              </a:lnSpc>
            </a:pPr>
            <a:r>
              <a:rPr sz="1800" b="1" i="0" dirty="0">
                <a:solidFill>
                  <a:srgbClr val="C58A24"/>
                </a:solidFill>
                <a:latin typeface="微软雅黑" panose="020B0503020204020204" pitchFamily="34" charset="-122"/>
              </a:rPr>
              <a:t>Critic</a:t>
            </a:r>
          </a:p>
        </p:txBody>
      </p:sp>
      <p:sp>
        <p:nvSpPr>
          <p:cNvPr id="20" name="TextBox 19"/>
          <p:cNvSpPr txBox="1"/>
          <p:nvPr/>
        </p:nvSpPr>
        <p:spPr>
          <a:xfrm>
            <a:off x="6409944" y="2514600"/>
            <a:ext cx="2176272" cy="2029968"/>
          </a:xfrm>
          <a:prstGeom prst="rect">
            <a:avLst/>
          </a:prstGeom>
          <a:noFill/>
        </p:spPr>
        <p:txBody>
          <a:bodyPr wrap="square" lIns="18288" tIns="18288" rIns="18288" bIns="18288" anchor="t">
            <a:spAutoFit/>
          </a:bodyPr>
          <a:lstStyle/>
          <a:p>
            <a:pPr algn="l">
              <a:lnSpc>
                <a:spcPct val="108000"/>
              </a:lnSpc>
            </a:pPr>
            <a:r>
              <a:rPr sz="1600" b="0" i="0" dirty="0" err="1">
                <a:solidFill>
                  <a:srgbClr val="222833"/>
                </a:solidFill>
                <a:latin typeface="微软雅黑"/>
              </a:rPr>
              <a:t>评估长期回报，判断动作好坏</a:t>
            </a:r>
            <a:r>
              <a:rPr sz="1600" b="0" i="0" dirty="0">
                <a:solidFill>
                  <a:srgbClr val="222833"/>
                </a:solidFill>
                <a:latin typeface="微软雅黑"/>
              </a:rPr>
              <a:t>。</a:t>
            </a:r>
          </a:p>
        </p:txBody>
      </p:sp>
      <p:sp>
        <p:nvSpPr>
          <p:cNvPr id="21" name="Rounded Rectangle 20"/>
          <p:cNvSpPr/>
          <p:nvPr/>
        </p:nvSpPr>
        <p:spPr>
          <a:xfrm>
            <a:off x="8970264" y="1856231"/>
            <a:ext cx="2560320" cy="2834640"/>
          </a:xfrm>
          <a:prstGeom prst="roundRect">
            <a:avLst>
              <a:gd name="adj" fmla="val 331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8970264" y="1856231"/>
            <a:ext cx="64008" cy="283464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9180576" y="2002536"/>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策略更新</a:t>
            </a:r>
            <a:endParaRPr sz="1800" b="1" i="0" dirty="0">
              <a:solidFill>
                <a:srgbClr val="C63F45"/>
              </a:solidFill>
              <a:latin typeface="微软雅黑" panose="020B0503020204020204" pitchFamily="34" charset="-122"/>
            </a:endParaRPr>
          </a:p>
        </p:txBody>
      </p:sp>
      <p:sp>
        <p:nvSpPr>
          <p:cNvPr id="24" name="TextBox 23"/>
          <p:cNvSpPr txBox="1"/>
          <p:nvPr/>
        </p:nvSpPr>
        <p:spPr>
          <a:xfrm>
            <a:off x="9180576" y="2514600"/>
            <a:ext cx="2176272" cy="202996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利用优势函数降低梯度方差，持续提高策略鲁棒性。</a:t>
            </a:r>
          </a:p>
        </p:txBody>
      </p:sp>
      <p:sp>
        <p:nvSpPr>
          <p:cNvPr id="25" name="TextBox 24"/>
          <p:cNvSpPr txBox="1"/>
          <p:nvPr/>
        </p:nvSpPr>
        <p:spPr>
          <a:xfrm>
            <a:off x="868680" y="5230368"/>
            <a:ext cx="1014984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混合训练的目标：既利用演示快速起步，又让策略在真实交互中继续适应</a:t>
            </a:r>
            <a:r>
              <a:rPr sz="1900" b="1" i="0" dirty="0">
                <a:solidFill>
                  <a:srgbClr val="24477D"/>
                </a:solidFill>
                <a:latin typeface="微软雅黑" panose="020B0503020204020204" pitchFamily="34" charset="-122"/>
              </a:rPr>
              <a: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111</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泛化能力评估：VLA</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是否真的“会举一反三</a:t>
            </a:r>
            <a:r>
              <a:rPr sz="3500" b="1" i="0" dirty="0">
                <a:solidFill>
                  <a:srgbClr val="24477D"/>
                </a:solidFill>
                <a:latin typeface="微软雅黑" panose="020B0503020204020204" pitchFamily="34" charset="-122"/>
              </a:rPr>
              <a:t>”</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804672" y="1627632"/>
            <a:ext cx="10469880" cy="91440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04672" y="1627632"/>
            <a:ext cx="64008" cy="9144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42415" y="1764792"/>
            <a:ext cx="2057400"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任务成功率</a:t>
            </a:r>
            <a:endParaRPr sz="1800" b="1" i="0" dirty="0">
              <a:solidFill>
                <a:srgbClr val="31599B"/>
              </a:solidFill>
              <a:latin typeface="微软雅黑" panose="020B0503020204020204" pitchFamily="34" charset="-122"/>
            </a:endParaRPr>
          </a:p>
        </p:txBody>
      </p:sp>
      <p:sp>
        <p:nvSpPr>
          <p:cNvPr id="12" name="TextBox 11"/>
          <p:cNvSpPr txBox="1"/>
          <p:nvPr/>
        </p:nvSpPr>
        <p:spPr>
          <a:xfrm>
            <a:off x="3063240" y="1746504"/>
            <a:ext cx="7818120" cy="438912"/>
          </a:xfrm>
          <a:prstGeom prst="rect">
            <a:avLst/>
          </a:prstGeom>
          <a:noFill/>
        </p:spPr>
        <p:txBody>
          <a:bodyPr wrap="square" lIns="18288" tIns="18288" rIns="18288" bIns="18288" anchor="ctr">
            <a:spAutoFit/>
          </a:bodyPr>
          <a:lstStyle/>
          <a:p>
            <a:pPr algn="l">
              <a:lnSpc>
                <a:spcPct val="105000"/>
              </a:lnSpc>
            </a:pPr>
            <a:r>
              <a:rPr sz="1800" b="0" i="0">
                <a:solidFill>
                  <a:srgbClr val="222833"/>
                </a:solidFill>
                <a:latin typeface="微软雅黑"/>
              </a:rPr>
              <a:t>完成指定任务的比例。</a:t>
            </a:r>
          </a:p>
        </p:txBody>
      </p:sp>
      <p:sp>
        <p:nvSpPr>
          <p:cNvPr id="13" name="Rounded Rectangle 12"/>
          <p:cNvSpPr/>
          <p:nvPr/>
        </p:nvSpPr>
        <p:spPr>
          <a:xfrm>
            <a:off x="804672" y="2706624"/>
            <a:ext cx="10469880" cy="91440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804672" y="2706624"/>
            <a:ext cx="64008" cy="91440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1042415" y="2843784"/>
            <a:ext cx="2057400"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执行效率</a:t>
            </a:r>
            <a:endParaRPr sz="1800" b="1" i="0" dirty="0">
              <a:solidFill>
                <a:srgbClr val="2F8E72"/>
              </a:solidFill>
              <a:latin typeface="微软雅黑" panose="020B0503020204020204" pitchFamily="34" charset="-122"/>
            </a:endParaRPr>
          </a:p>
        </p:txBody>
      </p:sp>
      <p:sp>
        <p:nvSpPr>
          <p:cNvPr id="16" name="TextBox 15"/>
          <p:cNvSpPr txBox="1"/>
          <p:nvPr/>
        </p:nvSpPr>
        <p:spPr>
          <a:xfrm>
            <a:off x="3063240" y="2825496"/>
            <a:ext cx="7818120" cy="438912"/>
          </a:xfrm>
          <a:prstGeom prst="rect">
            <a:avLst/>
          </a:prstGeom>
          <a:noFill/>
        </p:spPr>
        <p:txBody>
          <a:bodyPr wrap="square" lIns="18288" tIns="18288" rIns="18288" bIns="18288" anchor="ctr">
            <a:spAutoFit/>
          </a:bodyPr>
          <a:lstStyle/>
          <a:p>
            <a:pPr algn="l">
              <a:lnSpc>
                <a:spcPct val="105000"/>
              </a:lnSpc>
            </a:pPr>
            <a:r>
              <a:rPr sz="1800" b="0" i="0">
                <a:solidFill>
                  <a:srgbClr val="222833"/>
                </a:solidFill>
                <a:latin typeface="微软雅黑"/>
              </a:rPr>
              <a:t>任务完成时间、动作步数、轨迹长度。</a:t>
            </a:r>
          </a:p>
        </p:txBody>
      </p:sp>
      <p:sp>
        <p:nvSpPr>
          <p:cNvPr id="17" name="Rounded Rectangle 16"/>
          <p:cNvSpPr/>
          <p:nvPr/>
        </p:nvSpPr>
        <p:spPr>
          <a:xfrm>
            <a:off x="804672" y="3785615"/>
            <a:ext cx="10469880" cy="91440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804672" y="3785615"/>
            <a:ext cx="64008" cy="91440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1042415" y="3922776"/>
            <a:ext cx="2057400" cy="310021"/>
          </a:xfrm>
          <a:prstGeom prst="rect">
            <a:avLst/>
          </a:prstGeom>
          <a:noFill/>
        </p:spPr>
        <p:txBody>
          <a:bodyPr wrap="square" lIns="18288" tIns="18288" rIns="18288" bIns="18288" anchor="t">
            <a:spAutoFit/>
          </a:bodyPr>
          <a:lstStyle/>
          <a:p>
            <a:pPr algn="l">
              <a:lnSpc>
                <a:spcPct val="105000"/>
              </a:lnSpc>
            </a:pPr>
            <a:r>
              <a:rPr sz="1800" b="1" i="0" dirty="0">
                <a:solidFill>
                  <a:srgbClr val="C58A24"/>
                </a:solidFill>
                <a:latin typeface="微软雅黑" panose="020B0503020204020204" pitchFamily="34" charset="-122"/>
              </a:rPr>
              <a:t>零/</a:t>
            </a:r>
            <a:r>
              <a:rPr sz="1800" b="1" i="0" dirty="0" err="1">
                <a:solidFill>
                  <a:srgbClr val="C58A24"/>
                </a:solidFill>
                <a:latin typeface="微软雅黑" panose="020B0503020204020204" pitchFamily="34" charset="-122"/>
              </a:rPr>
              <a:t>少样本泛化</a:t>
            </a:r>
            <a:endParaRPr sz="1800" b="1" i="0" dirty="0">
              <a:solidFill>
                <a:srgbClr val="C58A24"/>
              </a:solidFill>
              <a:latin typeface="微软雅黑" panose="020B0503020204020204" pitchFamily="34" charset="-122"/>
            </a:endParaRPr>
          </a:p>
        </p:txBody>
      </p:sp>
      <p:sp>
        <p:nvSpPr>
          <p:cNvPr id="20" name="TextBox 19"/>
          <p:cNvSpPr txBox="1"/>
          <p:nvPr/>
        </p:nvSpPr>
        <p:spPr>
          <a:xfrm>
            <a:off x="3063240" y="3904487"/>
            <a:ext cx="7818120" cy="438912"/>
          </a:xfrm>
          <a:prstGeom prst="rect">
            <a:avLst/>
          </a:prstGeom>
          <a:noFill/>
        </p:spPr>
        <p:txBody>
          <a:bodyPr wrap="square" lIns="18288" tIns="18288" rIns="18288" bIns="18288" anchor="ctr">
            <a:spAutoFit/>
          </a:bodyPr>
          <a:lstStyle/>
          <a:p>
            <a:pPr algn="l">
              <a:lnSpc>
                <a:spcPct val="105000"/>
              </a:lnSpc>
            </a:pPr>
            <a:r>
              <a:rPr sz="1800" b="0" i="0">
                <a:solidFill>
                  <a:srgbClr val="222833"/>
                </a:solidFill>
                <a:latin typeface="微软雅黑"/>
              </a:rPr>
              <a:t>面对未见指令、物体或场景时的成功率。</a:t>
            </a:r>
          </a:p>
        </p:txBody>
      </p:sp>
      <p:sp>
        <p:nvSpPr>
          <p:cNvPr id="21" name="Rounded Rectangle 20"/>
          <p:cNvSpPr/>
          <p:nvPr/>
        </p:nvSpPr>
        <p:spPr>
          <a:xfrm>
            <a:off x="804672" y="4864608"/>
            <a:ext cx="10469880" cy="91440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804672" y="4864608"/>
            <a:ext cx="64008" cy="91440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1042415" y="5001768"/>
            <a:ext cx="2057400"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安全与质量</a:t>
            </a:r>
            <a:endParaRPr sz="1800" b="1" i="0" dirty="0">
              <a:solidFill>
                <a:srgbClr val="C63F45"/>
              </a:solidFill>
              <a:latin typeface="微软雅黑" panose="020B0503020204020204" pitchFamily="34" charset="-122"/>
            </a:endParaRPr>
          </a:p>
        </p:txBody>
      </p:sp>
      <p:sp>
        <p:nvSpPr>
          <p:cNvPr id="24" name="TextBox 23"/>
          <p:cNvSpPr txBox="1"/>
          <p:nvPr/>
        </p:nvSpPr>
        <p:spPr>
          <a:xfrm>
            <a:off x="3063240" y="4983480"/>
            <a:ext cx="7818120" cy="438912"/>
          </a:xfrm>
          <a:prstGeom prst="rect">
            <a:avLst/>
          </a:prstGeom>
          <a:noFill/>
        </p:spPr>
        <p:txBody>
          <a:bodyPr wrap="square" lIns="18288" tIns="18288" rIns="18288" bIns="18288" anchor="ctr">
            <a:spAutoFit/>
          </a:bodyPr>
          <a:lstStyle/>
          <a:p>
            <a:pPr algn="l">
              <a:lnSpc>
                <a:spcPct val="105000"/>
              </a:lnSpc>
            </a:pPr>
            <a:r>
              <a:rPr sz="1800" b="0" i="0">
                <a:solidFill>
                  <a:srgbClr val="222833"/>
                </a:solidFill>
                <a:latin typeface="微软雅黑"/>
              </a:rPr>
              <a:t>碰撞率、失败恢复率、动作平滑性。</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112</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提高</a:t>
            </a:r>
            <a:r>
              <a:rPr sz="3500" b="1" i="0" dirty="0">
                <a:solidFill>
                  <a:srgbClr val="24477D"/>
                </a:solidFill>
                <a:latin typeface="微软雅黑" panose="020B0503020204020204" pitchFamily="34" charset="-122"/>
              </a:rPr>
              <a:t> Sim-to-Real </a:t>
            </a:r>
            <a:r>
              <a:rPr sz="3500" b="1" i="0" dirty="0" err="1">
                <a:solidFill>
                  <a:srgbClr val="24477D"/>
                </a:solidFill>
                <a:latin typeface="微软雅黑" panose="020B0503020204020204" pitchFamily="34" charset="-122"/>
              </a:rPr>
              <a:t>泛化的常见手段</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77240" y="1737360"/>
            <a:ext cx="5074920" cy="3749039"/>
          </a:xfrm>
          <a:prstGeom prst="roundRect">
            <a:avLst>
              <a:gd name="adj" fmla="val 3525"/>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77240" y="1737360"/>
            <a:ext cx="64008" cy="3749039"/>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87552" y="1883664"/>
            <a:ext cx="46908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域随机化</a:t>
            </a:r>
            <a:endParaRPr sz="2000" b="1" i="0" dirty="0">
              <a:solidFill>
                <a:srgbClr val="31599B"/>
              </a:solidFill>
              <a:latin typeface="微软雅黑" panose="020B0503020204020204" pitchFamily="34" charset="-122"/>
            </a:endParaRPr>
          </a:p>
        </p:txBody>
      </p:sp>
      <p:sp>
        <p:nvSpPr>
          <p:cNvPr id="12" name="TextBox 11"/>
          <p:cNvSpPr txBox="1"/>
          <p:nvPr/>
        </p:nvSpPr>
        <p:spPr>
          <a:xfrm>
            <a:off x="987552" y="2395728"/>
            <a:ext cx="4690872" cy="294436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在仿真训练中随机化光照、纹理、材质、摩擦、相机参数等，使模型见到更宽的环境分布。</a:t>
            </a:r>
          </a:p>
        </p:txBody>
      </p:sp>
      <p:sp>
        <p:nvSpPr>
          <p:cNvPr id="13" name="Rounded Rectangle 12"/>
          <p:cNvSpPr/>
          <p:nvPr/>
        </p:nvSpPr>
        <p:spPr>
          <a:xfrm>
            <a:off x="6172200" y="1737360"/>
            <a:ext cx="5074920" cy="3749039"/>
          </a:xfrm>
          <a:prstGeom prst="roundRect">
            <a:avLst>
              <a:gd name="adj" fmla="val 1275"/>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172200" y="1737360"/>
            <a:ext cx="64008" cy="3749039"/>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382512" y="1883664"/>
            <a:ext cx="46908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迁移学习</a:t>
            </a:r>
            <a:r>
              <a:rPr sz="2000" b="1" i="0" dirty="0">
                <a:solidFill>
                  <a:srgbClr val="2F8E72"/>
                </a:solidFill>
                <a:latin typeface="微软雅黑" panose="020B0503020204020204" pitchFamily="34" charset="-122"/>
              </a:rPr>
              <a:t> / </a:t>
            </a:r>
            <a:r>
              <a:rPr sz="2000" b="1" i="0" dirty="0" err="1">
                <a:solidFill>
                  <a:srgbClr val="2F8E72"/>
                </a:solidFill>
                <a:latin typeface="微软雅黑" panose="020B0503020204020204" pitchFamily="34" charset="-122"/>
              </a:rPr>
              <a:t>微调</a:t>
            </a:r>
            <a:endParaRPr sz="2000" b="1" i="0" dirty="0">
              <a:solidFill>
                <a:srgbClr val="2F8E72"/>
              </a:solidFill>
              <a:latin typeface="微软雅黑" panose="020B0503020204020204" pitchFamily="34" charset="-122"/>
            </a:endParaRPr>
          </a:p>
        </p:txBody>
      </p:sp>
      <p:sp>
        <p:nvSpPr>
          <p:cNvPr id="16" name="TextBox 15"/>
          <p:cNvSpPr txBox="1"/>
          <p:nvPr/>
        </p:nvSpPr>
        <p:spPr>
          <a:xfrm>
            <a:off x="6382512" y="2395728"/>
            <a:ext cx="4690872" cy="294436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利用少量真实机器人数据继续训练，让表示与策略适配真实传感器和硬件动力学。</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113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实际部署</a:t>
            </a:r>
            <a:r>
              <a:rPr sz="3500" b="1" i="0" dirty="0">
                <a:solidFill>
                  <a:srgbClr val="24477D"/>
                </a:solidFill>
                <a:latin typeface="微软雅黑" panose="020B0503020204020204" pitchFamily="34" charset="-122"/>
              </a:rPr>
              <a:t> 1：模型优化与推理加速</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777240" y="1700784"/>
            <a:ext cx="10424160" cy="2305824"/>
          </a:xfrm>
          <a:prstGeom prst="rect">
            <a:avLst/>
          </a:prstGeom>
          <a:noFill/>
        </p:spPr>
        <p:txBody>
          <a:bodyPr wrap="square" lIns="18288" tIns="18288" rIns="18288" bIns="18288">
            <a:spAutoFit/>
          </a:bodyPr>
          <a:lstStyle/>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量化（Quantization</a:t>
            </a:r>
            <a:r>
              <a:rPr sz="2400" dirty="0">
                <a:solidFill>
                  <a:srgbClr val="222833"/>
                </a:solidFill>
                <a:latin typeface="微软雅黑"/>
              </a:rPr>
              <a:t>）：</a:t>
            </a:r>
            <a:r>
              <a:rPr sz="2400" dirty="0" err="1">
                <a:solidFill>
                  <a:srgbClr val="222833"/>
                </a:solidFill>
                <a:latin typeface="微软雅黑"/>
              </a:rPr>
              <a:t>降低参数数值精度，减少显存与计算量</a:t>
            </a:r>
            <a:r>
              <a:rPr sz="2400" dirty="0">
                <a:solidFill>
                  <a:srgbClr val="222833"/>
                </a:solidFill>
                <a:latin typeface="微软雅黑"/>
              </a:rPr>
              <a:t>。</a:t>
            </a: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剪枝：去除冗余连接或参数，压缩模型</a:t>
            </a:r>
            <a:r>
              <a:rPr sz="2400" dirty="0">
                <a:solidFill>
                  <a:srgbClr val="222833"/>
                </a:solidFill>
                <a:latin typeface="微软雅黑"/>
              </a:rPr>
              <a:t>。</a:t>
            </a: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知识蒸馏：用大模型指导更小的学生模型</a:t>
            </a:r>
            <a:r>
              <a:rPr sz="2400" dirty="0">
                <a:solidFill>
                  <a:srgbClr val="222833"/>
                </a:solidFill>
                <a:latin typeface="微软雅黑"/>
              </a:rPr>
              <a:t>。</a:t>
            </a: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结合</a:t>
            </a:r>
            <a:r>
              <a:rPr sz="2400" dirty="0">
                <a:solidFill>
                  <a:srgbClr val="222833"/>
                </a:solidFill>
                <a:latin typeface="微软雅黑"/>
              </a:rPr>
              <a:t> </a:t>
            </a:r>
            <a:r>
              <a:rPr sz="2400" dirty="0" err="1">
                <a:solidFill>
                  <a:srgbClr val="222833"/>
                </a:solidFill>
                <a:latin typeface="微软雅黑"/>
              </a:rPr>
              <a:t>TensorRT</a:t>
            </a:r>
            <a:r>
              <a:rPr sz="2400" dirty="0">
                <a:solidFill>
                  <a:srgbClr val="222833"/>
                </a:solidFill>
                <a:latin typeface="微软雅黑"/>
              </a:rPr>
              <a:t> / ONNX Runtime </a:t>
            </a:r>
            <a:r>
              <a:rPr sz="2400" dirty="0" err="1">
                <a:solidFill>
                  <a:srgbClr val="222833"/>
                </a:solidFill>
                <a:latin typeface="微软雅黑"/>
              </a:rPr>
              <a:t>等推理引擎降低延迟，满足实时控制需求</a:t>
            </a:r>
            <a:r>
              <a:rPr sz="2400" dirty="0">
                <a:solidFill>
                  <a:srgbClr val="222833"/>
                </a:solidFill>
                <a:latin typeface="微软雅黑"/>
              </a:rPr>
              <a:t>。</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114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实际部署</a:t>
            </a:r>
            <a:r>
              <a:rPr sz="3500" b="1" i="0" dirty="0">
                <a:solidFill>
                  <a:srgbClr val="24477D"/>
                </a:solidFill>
                <a:latin typeface="微软雅黑" panose="020B0503020204020204" pitchFamily="34" charset="-122"/>
              </a:rPr>
              <a:t> 2：闭环控制与安全保障</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58952" y="1691640"/>
            <a:ext cx="5138928" cy="3931920"/>
          </a:xfrm>
          <a:prstGeom prst="roundRect">
            <a:avLst>
              <a:gd name="adj" fmla="val 29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58952" y="1691640"/>
            <a:ext cx="64008" cy="393192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69264" y="1837944"/>
            <a:ext cx="4754880"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闭环与递减视界</a:t>
            </a:r>
            <a:endParaRPr sz="2000" b="1" i="0" dirty="0">
              <a:solidFill>
                <a:srgbClr val="31599B"/>
              </a:solidFill>
              <a:latin typeface="微软雅黑" panose="020B0503020204020204" pitchFamily="34" charset="-122"/>
            </a:endParaRPr>
          </a:p>
        </p:txBody>
      </p:sp>
      <p:sp>
        <p:nvSpPr>
          <p:cNvPr id="12" name="TextBox 11"/>
          <p:cNvSpPr txBox="1"/>
          <p:nvPr/>
        </p:nvSpPr>
        <p:spPr>
          <a:xfrm>
            <a:off x="969264" y="2350008"/>
            <a:ext cx="4754880" cy="3127248"/>
          </a:xfrm>
          <a:prstGeom prst="rect">
            <a:avLst/>
          </a:prstGeom>
          <a:noFill/>
        </p:spPr>
        <p:txBody>
          <a:bodyPr wrap="square" lIns="18288" tIns="18288" rIns="18288" bIns="18288" anchor="t">
            <a:spAutoFit/>
          </a:bodyPr>
          <a:lstStyle/>
          <a:p>
            <a:pPr algn="l">
              <a:lnSpc>
                <a:spcPct val="108000"/>
              </a:lnSpc>
            </a:pPr>
            <a:r>
              <a:rPr sz="1900" b="0" i="0">
                <a:solidFill>
                  <a:srgbClr val="222833"/>
                </a:solidFill>
                <a:latin typeface="微软雅黑"/>
              </a:rPr>
              <a:t>VLA 通常固定频率输出动作块；只执行其中一部分，再根据新观测重新规划。</a:t>
            </a:r>
          </a:p>
          <a:p>
            <a:pPr algn="l">
              <a:lnSpc>
                <a:spcPct val="108000"/>
              </a:lnSpc>
            </a:pPr>
            <a:endParaRPr sz="1900" b="0" i="0">
              <a:solidFill>
                <a:srgbClr val="222833"/>
              </a:solidFill>
              <a:latin typeface="微软雅黑"/>
            </a:endParaRPr>
          </a:p>
          <a:p>
            <a:pPr algn="l">
              <a:lnSpc>
                <a:spcPct val="108000"/>
              </a:lnSpc>
            </a:pPr>
            <a:r>
              <a:rPr sz="1900" b="0" i="0">
                <a:solidFill>
                  <a:srgbClr val="222833"/>
                </a:solidFill>
                <a:latin typeface="微软雅黑"/>
              </a:rPr>
              <a:t>优势：对动态环境变化保持快速响应。</a:t>
            </a:r>
          </a:p>
        </p:txBody>
      </p:sp>
      <p:sp>
        <p:nvSpPr>
          <p:cNvPr id="13" name="Rounded Rectangle 12"/>
          <p:cNvSpPr/>
          <p:nvPr/>
        </p:nvSpPr>
        <p:spPr>
          <a:xfrm>
            <a:off x="6172200" y="1691640"/>
            <a:ext cx="5138928" cy="3931920"/>
          </a:xfrm>
          <a:prstGeom prst="roundRect">
            <a:avLst>
              <a:gd name="adj" fmla="val 636"/>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172200" y="1691640"/>
            <a:ext cx="64008" cy="393192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382512" y="1837944"/>
            <a:ext cx="4754880" cy="340350"/>
          </a:xfrm>
          <a:prstGeom prst="rect">
            <a:avLst/>
          </a:prstGeom>
          <a:noFill/>
        </p:spPr>
        <p:txBody>
          <a:bodyPr wrap="square" lIns="18288" tIns="18288" rIns="18288" bIns="18288" anchor="t">
            <a:spAutoFit/>
          </a:bodyPr>
          <a:lstStyle/>
          <a:p>
            <a:pPr algn="l">
              <a:lnSpc>
                <a:spcPct val="105000"/>
              </a:lnSpc>
            </a:pPr>
            <a:r>
              <a:rPr sz="2000" b="1" i="0" dirty="0" err="1">
                <a:solidFill>
                  <a:srgbClr val="C63F45"/>
                </a:solidFill>
                <a:latin typeface="微软雅黑" panose="020B0503020204020204" pitchFamily="34" charset="-122"/>
              </a:rPr>
              <a:t>安全过滤与人类在环</a:t>
            </a:r>
            <a:endParaRPr sz="2000" b="1" i="0" dirty="0">
              <a:solidFill>
                <a:srgbClr val="C63F45"/>
              </a:solidFill>
              <a:latin typeface="微软雅黑" panose="020B0503020204020204" pitchFamily="34" charset="-122"/>
            </a:endParaRPr>
          </a:p>
        </p:txBody>
      </p:sp>
      <p:sp>
        <p:nvSpPr>
          <p:cNvPr id="16" name="TextBox 15"/>
          <p:cNvSpPr txBox="1"/>
          <p:nvPr/>
        </p:nvSpPr>
        <p:spPr>
          <a:xfrm>
            <a:off x="6382512" y="2350008"/>
            <a:ext cx="4754880" cy="3127248"/>
          </a:xfrm>
          <a:prstGeom prst="rect">
            <a:avLst/>
          </a:prstGeom>
          <a:noFill/>
        </p:spPr>
        <p:txBody>
          <a:bodyPr wrap="square" lIns="18288" tIns="18288" rIns="18288" bIns="18288" anchor="t">
            <a:spAutoFit/>
          </a:bodyPr>
          <a:lstStyle/>
          <a:p>
            <a:pPr algn="l">
              <a:lnSpc>
                <a:spcPct val="108000"/>
              </a:lnSpc>
            </a:pPr>
            <a:r>
              <a:rPr sz="1900" b="0" i="0" dirty="0" err="1">
                <a:solidFill>
                  <a:srgbClr val="222833"/>
                </a:solidFill>
                <a:latin typeface="微软雅黑"/>
              </a:rPr>
              <a:t>对端到端模型生成的动作进行实时校验，加入碰撞、速度、工作空间等约束；必要时由人类监督或接管</a:t>
            </a:r>
            <a:r>
              <a:rPr sz="1900" b="0" i="0" dirty="0">
                <a:solidFill>
                  <a:srgbClr val="222833"/>
                </a:solidFill>
                <a:latin typeface="微软雅黑"/>
              </a:rPr>
              <a:t>。</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115</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实际部署</a:t>
            </a:r>
            <a:r>
              <a:rPr sz="3500" b="1" i="0" dirty="0">
                <a:solidFill>
                  <a:srgbClr val="24477D"/>
                </a:solidFill>
                <a:latin typeface="微软雅黑" panose="020B0503020204020204" pitchFamily="34" charset="-122"/>
              </a:rPr>
              <a:t> 3：与机器人软件栈集成</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804672" y="1682496"/>
            <a:ext cx="10332720" cy="4114800"/>
          </a:xfrm>
          <a:prstGeom prst="rect">
            <a:avLst/>
          </a:prstGeom>
          <a:noFill/>
        </p:spPr>
        <p:txBody>
          <a:bodyPr wrap="square" lIns="18288" tIns="18288" rIns="18288" bIns="18288">
            <a:spAutoFit/>
          </a:bodyPr>
          <a:lstStyle/>
          <a:p>
            <a:pPr algn="l">
              <a:lnSpc>
                <a:spcPct val="112000"/>
              </a:lnSpc>
              <a:spcAft>
                <a:spcPts val="576"/>
              </a:spcAft>
            </a:pPr>
            <a:r>
              <a:rPr sz="2050">
                <a:solidFill>
                  <a:srgbClr val="222833"/>
                </a:solidFill>
                <a:latin typeface="微软雅黑"/>
              </a:rPr>
              <a:t>• VLA 模型常与 ROS、NVIDIA Isaac Lab 等机器人框架集成。</a:t>
            </a:r>
          </a:p>
          <a:p>
            <a:pPr algn="l">
              <a:lnSpc>
                <a:spcPct val="112000"/>
              </a:lnSpc>
              <a:spcAft>
                <a:spcPts val="576"/>
              </a:spcAft>
            </a:pPr>
            <a:r>
              <a:rPr sz="2050">
                <a:solidFill>
                  <a:srgbClr val="222833"/>
                </a:solidFill>
                <a:latin typeface="微软雅黑"/>
              </a:rPr>
              <a:t>• 上层 VLA 负责多模态理解和动作意图，下层控制器负责稳定跟踪与硬件接口。</a:t>
            </a:r>
          </a:p>
          <a:p>
            <a:pPr algn="l">
              <a:lnSpc>
                <a:spcPct val="112000"/>
              </a:lnSpc>
              <a:spcAft>
                <a:spcPts val="576"/>
              </a:spcAft>
            </a:pPr>
            <a:r>
              <a:rPr sz="2050">
                <a:solidFill>
                  <a:srgbClr val="222833"/>
                </a:solidFill>
                <a:latin typeface="微软雅黑"/>
              </a:rPr>
              <a:t>• 教材以 SO-ARM101 为例：可加载训练好的 VLA，完成自然语言驱动的抓取任务。</a:t>
            </a:r>
          </a:p>
          <a:p>
            <a:pPr algn="l">
              <a:lnSpc>
                <a:spcPct val="112000"/>
              </a:lnSpc>
              <a:spcAft>
                <a:spcPts val="576"/>
              </a:spcAft>
            </a:pPr>
            <a:r>
              <a:rPr sz="2050">
                <a:solidFill>
                  <a:srgbClr val="222833"/>
                </a:solidFill>
                <a:latin typeface="微软雅黑"/>
              </a:rPr>
              <a:t>• 完整链路需要同时考虑模型推理、传感器时间戳、控制频率与安全限制。</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8595360" y="320040"/>
            <a:ext cx="2743200" cy="188641"/>
          </a:xfrm>
          <a:prstGeom prst="rect">
            <a:avLst/>
          </a:prstGeom>
          <a:noFill/>
        </p:spPr>
        <p:txBody>
          <a:bodyPr wrap="square" lIns="18288" tIns="18288" rIns="18288" bIns="18288" anchor="t">
            <a:spAutoFit/>
          </a:bodyPr>
          <a:lstStyle/>
          <a:p>
            <a:pPr algn="r">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1853569" y="1501944"/>
            <a:ext cx="1691640" cy="1129220"/>
          </a:xfrm>
          <a:prstGeom prst="rect">
            <a:avLst/>
          </a:prstGeom>
          <a:noFill/>
        </p:spPr>
        <p:txBody>
          <a:bodyPr wrap="square" lIns="18288" tIns="18288" rIns="18288" bIns="18288" anchor="ctr">
            <a:spAutoFit/>
          </a:bodyPr>
          <a:lstStyle/>
          <a:p>
            <a:pPr algn="l">
              <a:lnSpc>
                <a:spcPct val="105000"/>
              </a:lnSpc>
            </a:pPr>
            <a:r>
              <a:rPr sz="7200" b="1" i="0" dirty="0">
                <a:solidFill>
                  <a:srgbClr val="31599B"/>
                </a:solidFill>
                <a:latin typeface="微软雅黑" panose="020B0503020204020204" pitchFamily="34" charset="-122"/>
              </a:rPr>
              <a:t>07</a:t>
            </a:r>
          </a:p>
        </p:txBody>
      </p:sp>
      <p:sp>
        <p:nvSpPr>
          <p:cNvPr id="6" name="TextBox 5"/>
          <p:cNvSpPr txBox="1"/>
          <p:nvPr/>
        </p:nvSpPr>
        <p:spPr>
          <a:xfrm>
            <a:off x="3246120" y="1752259"/>
            <a:ext cx="7818120" cy="628570"/>
          </a:xfrm>
          <a:prstGeom prst="rect">
            <a:avLst/>
          </a:prstGeom>
          <a:noFill/>
        </p:spPr>
        <p:txBody>
          <a:bodyPr wrap="square" lIns="18288" tIns="18288" rIns="18288" bIns="18288" anchor="ctr">
            <a:spAutoFit/>
          </a:bodyPr>
          <a:lstStyle/>
          <a:p>
            <a:pPr algn="l">
              <a:lnSpc>
                <a:spcPct val="105000"/>
              </a:lnSpc>
            </a:pPr>
            <a:r>
              <a:rPr sz="3900" b="1" i="0" dirty="0" err="1">
                <a:solidFill>
                  <a:srgbClr val="24477D"/>
                </a:solidFill>
                <a:latin typeface="微软雅黑" panose="020B0503020204020204" pitchFamily="34" charset="-122"/>
              </a:rPr>
              <a:t>案例：SmolVLA</a:t>
            </a:r>
            <a:endParaRPr sz="3900" b="1" i="0" dirty="0">
              <a:solidFill>
                <a:srgbClr val="24477D"/>
              </a:solidFill>
              <a:latin typeface="微软雅黑" panose="020B0503020204020204" pitchFamily="34"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117</a:t>
            </a:r>
          </a:p>
        </p:txBody>
      </p:sp>
      <p:sp>
        <p:nvSpPr>
          <p:cNvPr id="7" name="TextBox 6"/>
          <p:cNvSpPr txBox="1"/>
          <p:nvPr/>
        </p:nvSpPr>
        <p:spPr>
          <a:xfrm>
            <a:off x="502920" y="551044"/>
            <a:ext cx="10927080" cy="507255"/>
          </a:xfrm>
          <a:prstGeom prst="rect">
            <a:avLst/>
          </a:prstGeom>
          <a:noFill/>
        </p:spPr>
        <p:txBody>
          <a:bodyPr wrap="square" lIns="18288" tIns="18288" rIns="18288" bIns="18288" anchor="ctr">
            <a:spAutoFit/>
          </a:bodyPr>
          <a:lstStyle/>
          <a:p>
            <a:pPr algn="l">
              <a:lnSpc>
                <a:spcPct val="105000"/>
              </a:lnSpc>
            </a:pPr>
            <a:r>
              <a:rPr sz="3100" b="1" i="0" dirty="0">
                <a:solidFill>
                  <a:srgbClr val="24477D"/>
                </a:solidFill>
                <a:latin typeface="微软雅黑" panose="020B0503020204020204" pitchFamily="34" charset="-122"/>
              </a:rPr>
              <a:t>7.7 </a:t>
            </a:r>
            <a:r>
              <a:rPr sz="3100" b="1" i="0" dirty="0" err="1">
                <a:solidFill>
                  <a:srgbClr val="24477D"/>
                </a:solidFill>
                <a:latin typeface="微软雅黑" panose="020B0503020204020204" pitchFamily="34" charset="-122"/>
              </a:rPr>
              <a:t>SmolVLA：面向教学与消费级硬件的轻量</a:t>
            </a:r>
            <a:r>
              <a:rPr sz="3100" b="1" i="0" dirty="0">
                <a:solidFill>
                  <a:srgbClr val="24477D"/>
                </a:solidFill>
                <a:latin typeface="微软雅黑" panose="020B0503020204020204" pitchFamily="34" charset="-122"/>
              </a:rPr>
              <a:t> VLA</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786384" y="1664208"/>
            <a:ext cx="10378440" cy="1655261"/>
          </a:xfrm>
          <a:prstGeom prst="rect">
            <a:avLst/>
          </a:prstGeom>
          <a:noFill/>
        </p:spPr>
        <p:txBody>
          <a:bodyPr wrap="square" lIns="18288" tIns="18288" rIns="18288" bIns="18288">
            <a:spAutoFit/>
          </a:bodyPr>
          <a:lstStyle/>
          <a:p>
            <a:pPr algn="l">
              <a:lnSpc>
                <a:spcPct val="112000"/>
              </a:lnSpc>
              <a:spcAft>
                <a:spcPts val="576"/>
              </a:spcAft>
            </a:pPr>
            <a:r>
              <a:rPr sz="2050" dirty="0">
                <a:solidFill>
                  <a:srgbClr val="222833"/>
                </a:solidFill>
                <a:latin typeface="微软雅黑"/>
              </a:rPr>
              <a:t>• </a:t>
            </a:r>
            <a:r>
              <a:rPr sz="2050" dirty="0" err="1">
                <a:solidFill>
                  <a:srgbClr val="222833"/>
                </a:solidFill>
                <a:latin typeface="微软雅黑"/>
              </a:rPr>
              <a:t>SmolVLA</a:t>
            </a:r>
            <a:r>
              <a:rPr sz="2050" dirty="0">
                <a:solidFill>
                  <a:srgbClr val="222833"/>
                </a:solidFill>
                <a:latin typeface="微软雅黑"/>
              </a:rPr>
              <a:t> 是 Hugging Face </a:t>
            </a:r>
            <a:r>
              <a:rPr sz="2050" dirty="0" err="1">
                <a:solidFill>
                  <a:srgbClr val="222833"/>
                </a:solidFill>
                <a:latin typeface="微软雅黑"/>
              </a:rPr>
              <a:t>LeRobot</a:t>
            </a:r>
            <a:r>
              <a:rPr sz="2050" dirty="0">
                <a:solidFill>
                  <a:srgbClr val="222833"/>
                </a:solidFill>
                <a:latin typeface="微软雅黑"/>
              </a:rPr>
              <a:t> </a:t>
            </a:r>
            <a:r>
              <a:rPr sz="2050" dirty="0" err="1">
                <a:solidFill>
                  <a:srgbClr val="222833"/>
                </a:solidFill>
                <a:latin typeface="微软雅黑"/>
              </a:rPr>
              <a:t>团队推出的轻量级开源</a:t>
            </a:r>
            <a:r>
              <a:rPr sz="2050" dirty="0">
                <a:solidFill>
                  <a:srgbClr val="222833"/>
                </a:solidFill>
                <a:latin typeface="微软雅黑"/>
              </a:rPr>
              <a:t> </a:t>
            </a:r>
            <a:r>
              <a:rPr sz="2050" dirty="0" err="1">
                <a:solidFill>
                  <a:srgbClr val="222833"/>
                </a:solidFill>
                <a:latin typeface="微软雅黑"/>
              </a:rPr>
              <a:t>VLA，约</a:t>
            </a:r>
            <a:r>
              <a:rPr sz="2050" dirty="0">
                <a:solidFill>
                  <a:srgbClr val="222833"/>
                </a:solidFill>
                <a:latin typeface="微软雅黑"/>
              </a:rPr>
              <a:t> 450M </a:t>
            </a:r>
            <a:r>
              <a:rPr sz="2050" dirty="0" err="1">
                <a:solidFill>
                  <a:srgbClr val="222833"/>
                </a:solidFill>
                <a:latin typeface="微软雅黑"/>
              </a:rPr>
              <a:t>参数</a:t>
            </a:r>
            <a:endParaRPr sz="2050" dirty="0">
              <a:solidFill>
                <a:srgbClr val="222833"/>
              </a:solidFill>
              <a:latin typeface="微软雅黑"/>
            </a:endParaRPr>
          </a:p>
          <a:p>
            <a:pPr algn="l">
              <a:lnSpc>
                <a:spcPct val="112000"/>
              </a:lnSpc>
              <a:spcAft>
                <a:spcPts val="576"/>
              </a:spcAft>
            </a:pPr>
            <a:r>
              <a:rPr sz="2050" dirty="0">
                <a:solidFill>
                  <a:srgbClr val="222833"/>
                </a:solidFill>
                <a:latin typeface="微软雅黑"/>
              </a:rPr>
              <a:t>• </a:t>
            </a:r>
            <a:r>
              <a:rPr sz="2050" dirty="0" err="1">
                <a:solidFill>
                  <a:srgbClr val="222833"/>
                </a:solidFill>
                <a:latin typeface="微软雅黑"/>
              </a:rPr>
              <a:t>专为消费级硬件和</a:t>
            </a:r>
            <a:r>
              <a:rPr sz="2050" dirty="0">
                <a:solidFill>
                  <a:srgbClr val="222833"/>
                </a:solidFill>
                <a:latin typeface="微软雅黑"/>
              </a:rPr>
              <a:t> SO-100 / SO-101 </a:t>
            </a:r>
            <a:r>
              <a:rPr sz="2050" dirty="0" err="1">
                <a:solidFill>
                  <a:srgbClr val="222833"/>
                </a:solidFill>
                <a:latin typeface="微软雅黑"/>
              </a:rPr>
              <a:t>系列机械臂设计</a:t>
            </a:r>
            <a:endParaRPr sz="2050" dirty="0">
              <a:solidFill>
                <a:srgbClr val="222833"/>
              </a:solidFill>
              <a:latin typeface="微软雅黑"/>
            </a:endParaRPr>
          </a:p>
          <a:p>
            <a:pPr algn="l">
              <a:lnSpc>
                <a:spcPct val="112000"/>
              </a:lnSpc>
              <a:spcAft>
                <a:spcPts val="576"/>
              </a:spcAft>
            </a:pPr>
            <a:r>
              <a:rPr sz="2050" dirty="0">
                <a:solidFill>
                  <a:srgbClr val="222833"/>
                </a:solidFill>
                <a:latin typeface="微软雅黑"/>
              </a:rPr>
              <a:t>• </a:t>
            </a:r>
            <a:r>
              <a:rPr sz="2050" dirty="0" err="1">
                <a:solidFill>
                  <a:srgbClr val="222833"/>
                </a:solidFill>
                <a:latin typeface="微软雅黑"/>
              </a:rPr>
              <a:t>支持</a:t>
            </a:r>
            <a:r>
              <a:rPr sz="2050" dirty="0">
                <a:solidFill>
                  <a:srgbClr val="222833"/>
                </a:solidFill>
                <a:latin typeface="微软雅黑"/>
              </a:rPr>
              <a:t> </a:t>
            </a:r>
            <a:r>
              <a:rPr sz="2050" dirty="0" err="1">
                <a:solidFill>
                  <a:srgbClr val="222833"/>
                </a:solidFill>
                <a:latin typeface="微软雅黑"/>
              </a:rPr>
              <a:t>LoRA</a:t>
            </a:r>
            <a:r>
              <a:rPr sz="2050" dirty="0">
                <a:solidFill>
                  <a:srgbClr val="222833"/>
                </a:solidFill>
                <a:latin typeface="微软雅黑"/>
              </a:rPr>
              <a:t> </a:t>
            </a:r>
            <a:r>
              <a:rPr sz="2050" dirty="0" err="1">
                <a:solidFill>
                  <a:srgbClr val="222833"/>
                </a:solidFill>
                <a:latin typeface="微软雅黑"/>
              </a:rPr>
              <a:t>高效微调，推理快、显存占用较低</a:t>
            </a:r>
            <a:endParaRPr lang="en-US" sz="2050" dirty="0">
              <a:solidFill>
                <a:srgbClr val="222833"/>
              </a:solidFill>
              <a:latin typeface="微软雅黑"/>
            </a:endParaRPr>
          </a:p>
          <a:p>
            <a:pPr algn="l">
              <a:lnSpc>
                <a:spcPct val="112000"/>
              </a:lnSpc>
              <a:spcAft>
                <a:spcPts val="576"/>
              </a:spcAft>
            </a:pPr>
            <a:r>
              <a:rPr sz="2050" dirty="0">
                <a:solidFill>
                  <a:srgbClr val="222833"/>
                </a:solidFill>
                <a:latin typeface="微软雅黑"/>
              </a:rPr>
              <a:t>• </a:t>
            </a:r>
            <a:r>
              <a:rPr sz="2050" dirty="0" err="1">
                <a:solidFill>
                  <a:srgbClr val="222833"/>
                </a:solidFill>
                <a:latin typeface="微软雅黑"/>
              </a:rPr>
              <a:t>本案例在</a:t>
            </a:r>
            <a:r>
              <a:rPr sz="2050" dirty="0">
                <a:solidFill>
                  <a:srgbClr val="222833"/>
                </a:solidFill>
                <a:latin typeface="微软雅黑"/>
              </a:rPr>
              <a:t> NVIDIA Isaac Lab </a:t>
            </a:r>
            <a:r>
              <a:rPr sz="2050" dirty="0" err="1">
                <a:solidFill>
                  <a:srgbClr val="222833"/>
                </a:solidFill>
                <a:latin typeface="微软雅黑"/>
              </a:rPr>
              <a:t>中实现“把红苹果放到篮子里”的自然语言抓取－放置任务</a:t>
            </a:r>
            <a:endParaRPr sz="2050" dirty="0">
              <a:solidFill>
                <a:srgbClr val="222833"/>
              </a:solidFill>
              <a:latin typeface="微软雅黑"/>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118</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SmolVLA</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框架</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713232" y="5815584"/>
            <a:ext cx="6720840" cy="234103"/>
          </a:xfrm>
          <a:prstGeom prst="rect">
            <a:avLst/>
          </a:prstGeom>
          <a:noFill/>
        </p:spPr>
        <p:txBody>
          <a:bodyPr wrap="square" lIns="18288" tIns="18288" rIns="18288" bIns="18288" anchor="t">
            <a:spAutoFit/>
          </a:bodyPr>
          <a:lstStyle/>
          <a:p>
            <a:pPr algn="ctr">
              <a:lnSpc>
                <a:spcPct val="105000"/>
              </a:lnSpc>
            </a:pPr>
            <a:r>
              <a:rPr sz="1300" b="1" i="0" dirty="0" err="1">
                <a:solidFill>
                  <a:srgbClr val="667085"/>
                </a:solidFill>
                <a:latin typeface="微软雅黑" panose="020B0503020204020204" pitchFamily="34" charset="-122"/>
              </a:rPr>
              <a:t>SmolVLA</a:t>
            </a:r>
            <a:r>
              <a:rPr sz="1300" b="1" i="0" dirty="0">
                <a:solidFill>
                  <a:srgbClr val="667085"/>
                </a:solidFill>
                <a:latin typeface="微软雅黑" panose="020B0503020204020204" pitchFamily="34" charset="-122"/>
              </a:rPr>
              <a:t> </a:t>
            </a:r>
            <a:r>
              <a:rPr sz="1300" b="1" i="0" dirty="0" err="1">
                <a:solidFill>
                  <a:srgbClr val="667085"/>
                </a:solidFill>
                <a:latin typeface="微软雅黑" panose="020B0503020204020204" pitchFamily="34" charset="-122"/>
              </a:rPr>
              <a:t>框架图</a:t>
            </a:r>
            <a:endParaRPr sz="1300" b="1" i="0" dirty="0">
              <a:solidFill>
                <a:srgbClr val="667085"/>
              </a:solidFill>
              <a:latin typeface="微软雅黑" panose="020B0503020204020204" pitchFamily="34" charset="-122"/>
            </a:endParaRPr>
          </a:p>
        </p:txBody>
      </p:sp>
      <p:sp>
        <p:nvSpPr>
          <p:cNvPr id="11" name="Rounded Rectangle 10"/>
          <p:cNvSpPr/>
          <p:nvPr/>
        </p:nvSpPr>
        <p:spPr>
          <a:xfrm>
            <a:off x="7699248" y="1691640"/>
            <a:ext cx="3657600" cy="2902288"/>
          </a:xfrm>
          <a:prstGeom prst="roundRect">
            <a:avLst>
              <a:gd name="adj" fmla="val 2104"/>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Rectangle 11"/>
          <p:cNvSpPr/>
          <p:nvPr/>
        </p:nvSpPr>
        <p:spPr>
          <a:xfrm>
            <a:off x="7699248" y="1691640"/>
            <a:ext cx="64008" cy="2902288"/>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7909560" y="2350008"/>
            <a:ext cx="3447288" cy="1513043"/>
          </a:xfrm>
          <a:prstGeom prst="rect">
            <a:avLst/>
          </a:prstGeom>
          <a:noFill/>
        </p:spPr>
        <p:txBody>
          <a:bodyPr wrap="square" lIns="18288" tIns="18288" rIns="18288" bIns="18288" anchor="t">
            <a:spAutoFit/>
          </a:bodyPr>
          <a:lstStyle/>
          <a:p>
            <a:pPr algn="l">
              <a:lnSpc>
                <a:spcPct val="108000"/>
              </a:lnSpc>
            </a:pPr>
            <a:r>
              <a:rPr sz="1800" b="0" i="0" dirty="0" err="1">
                <a:solidFill>
                  <a:srgbClr val="222833"/>
                </a:solidFill>
                <a:latin typeface="微软雅黑"/>
              </a:rPr>
              <a:t>模型把视觉、语言与机器人状态送入轻量</a:t>
            </a:r>
            <a:r>
              <a:rPr sz="1800" b="0" i="0" dirty="0">
                <a:solidFill>
                  <a:srgbClr val="222833"/>
                </a:solidFill>
                <a:latin typeface="微软雅黑"/>
              </a:rPr>
              <a:t> VLM / </a:t>
            </a:r>
            <a:r>
              <a:rPr sz="1800" b="0" i="0" dirty="0" err="1">
                <a:solidFill>
                  <a:srgbClr val="222833"/>
                </a:solidFill>
                <a:latin typeface="微软雅黑"/>
              </a:rPr>
              <a:t>动作模块，并输出可执行动作；配合</a:t>
            </a:r>
            <a:r>
              <a:rPr sz="1800" b="0" i="0" dirty="0">
                <a:solidFill>
                  <a:srgbClr val="222833"/>
                </a:solidFill>
                <a:latin typeface="微软雅黑"/>
              </a:rPr>
              <a:t> </a:t>
            </a:r>
            <a:r>
              <a:rPr sz="1800" b="0" i="0" dirty="0" err="1">
                <a:solidFill>
                  <a:srgbClr val="222833"/>
                </a:solidFill>
                <a:latin typeface="微软雅黑"/>
              </a:rPr>
              <a:t>LeRobot</a:t>
            </a:r>
            <a:r>
              <a:rPr sz="1800" b="0" i="0" dirty="0">
                <a:solidFill>
                  <a:srgbClr val="222833"/>
                </a:solidFill>
                <a:latin typeface="微软雅黑"/>
              </a:rPr>
              <a:t> </a:t>
            </a:r>
            <a:r>
              <a:rPr sz="1800" b="0" i="0" dirty="0" err="1">
                <a:solidFill>
                  <a:srgbClr val="222833"/>
                </a:solidFill>
                <a:latin typeface="微软雅黑"/>
              </a:rPr>
              <a:t>数据与机器人平台形成训练和部署闭环</a:t>
            </a:r>
            <a:r>
              <a:rPr sz="1800" b="0" i="0" dirty="0">
                <a:solidFill>
                  <a:srgbClr val="222833"/>
                </a:solidFill>
                <a:latin typeface="微软雅黑"/>
              </a:rPr>
              <a:t>。</a:t>
            </a:r>
          </a:p>
        </p:txBody>
      </p:sp>
      <p:pic>
        <p:nvPicPr>
          <p:cNvPr id="15" name="图片 14">
            <a:extLst>
              <a:ext uri="{FF2B5EF4-FFF2-40B4-BE49-F238E27FC236}">
                <a16:creationId xmlns:a16="http://schemas.microsoft.com/office/drawing/2014/main" id="{BDF4CDFD-1076-DD1B-F10B-6CE3F8E338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9329" y="1837944"/>
            <a:ext cx="6697989" cy="3703812"/>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119</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环境准备：硬件与软件基础</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77240" y="1755648"/>
            <a:ext cx="5074920" cy="3566160"/>
          </a:xfrm>
          <a:prstGeom prst="roundRect">
            <a:avLst>
              <a:gd name="adj" fmla="val 1482"/>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77240" y="1755648"/>
            <a:ext cx="64008" cy="356616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87552" y="1901952"/>
            <a:ext cx="4690872" cy="340350"/>
          </a:xfrm>
          <a:prstGeom prst="rect">
            <a:avLst/>
          </a:prstGeom>
          <a:noFill/>
        </p:spPr>
        <p:txBody>
          <a:bodyPr wrap="square" lIns="18288" tIns="18288" rIns="18288" bIns="18288" anchor="t">
            <a:spAutoFit/>
          </a:bodyPr>
          <a:lstStyle/>
          <a:p>
            <a:pPr algn="l">
              <a:lnSpc>
                <a:spcPct val="105000"/>
              </a:lnSpc>
            </a:pPr>
            <a:r>
              <a:rPr sz="2000" b="1" i="0" dirty="0" err="1">
                <a:solidFill>
                  <a:srgbClr val="31599B"/>
                </a:solidFill>
                <a:latin typeface="微软雅黑" panose="020B0503020204020204" pitchFamily="34" charset="-122"/>
              </a:rPr>
              <a:t>推荐硬件</a:t>
            </a:r>
            <a:endParaRPr sz="2000" b="1" i="0" dirty="0">
              <a:solidFill>
                <a:srgbClr val="31599B"/>
              </a:solidFill>
              <a:latin typeface="微软雅黑" panose="020B0503020204020204" pitchFamily="34" charset="-122"/>
            </a:endParaRPr>
          </a:p>
        </p:txBody>
      </p:sp>
      <p:sp>
        <p:nvSpPr>
          <p:cNvPr id="12" name="TextBox 11"/>
          <p:cNvSpPr txBox="1"/>
          <p:nvPr/>
        </p:nvSpPr>
        <p:spPr>
          <a:xfrm>
            <a:off x="987552" y="2414015"/>
            <a:ext cx="4690872" cy="276148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Ubuntu 系统</a:t>
            </a:r>
          </a:p>
          <a:p>
            <a:pPr algn="l">
              <a:lnSpc>
                <a:spcPct val="108000"/>
              </a:lnSpc>
            </a:pPr>
            <a:r>
              <a:rPr sz="2000" b="0" i="0">
                <a:solidFill>
                  <a:srgbClr val="222833"/>
                </a:solidFill>
                <a:latin typeface="微软雅黑"/>
              </a:rPr>
              <a:t>NVIDIA GPU</a:t>
            </a:r>
          </a:p>
          <a:p>
            <a:pPr algn="l">
              <a:lnSpc>
                <a:spcPct val="108000"/>
              </a:lnSpc>
            </a:pPr>
            <a:r>
              <a:rPr sz="2000" b="0" i="0">
                <a:solidFill>
                  <a:srgbClr val="222833"/>
                </a:solidFill>
                <a:latin typeface="微软雅黑"/>
              </a:rPr>
              <a:t>CUDA 12.1+</a:t>
            </a:r>
          </a:p>
          <a:p>
            <a:pPr algn="l">
              <a:lnSpc>
                <a:spcPct val="108000"/>
              </a:lnSpc>
            </a:pPr>
            <a:endParaRPr sz="2000" b="0" i="0">
              <a:solidFill>
                <a:srgbClr val="222833"/>
              </a:solidFill>
              <a:latin typeface="微软雅黑"/>
            </a:endParaRPr>
          </a:p>
          <a:p>
            <a:pPr algn="l">
              <a:lnSpc>
                <a:spcPct val="108000"/>
              </a:lnSpc>
            </a:pPr>
            <a:r>
              <a:rPr sz="2000" b="0" i="0">
                <a:solidFill>
                  <a:srgbClr val="222833"/>
                </a:solidFill>
                <a:latin typeface="微软雅黑"/>
              </a:rPr>
              <a:t>教材示例采用 Python 3.10 环境。</a:t>
            </a:r>
          </a:p>
        </p:txBody>
      </p:sp>
      <p:sp>
        <p:nvSpPr>
          <p:cNvPr id="13" name="Rounded Rectangle 12"/>
          <p:cNvSpPr/>
          <p:nvPr/>
        </p:nvSpPr>
        <p:spPr>
          <a:xfrm>
            <a:off x="6172200" y="1755648"/>
            <a:ext cx="5074920" cy="3566160"/>
          </a:xfrm>
          <a:prstGeom prst="roundRect">
            <a:avLst>
              <a:gd name="adj" fmla="val 36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172200" y="1755648"/>
            <a:ext cx="64008" cy="356616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382512" y="1901952"/>
            <a:ext cx="4690872" cy="340350"/>
          </a:xfrm>
          <a:prstGeom prst="rect">
            <a:avLst/>
          </a:prstGeom>
          <a:noFill/>
        </p:spPr>
        <p:txBody>
          <a:bodyPr wrap="square" lIns="18288" tIns="18288" rIns="18288" bIns="18288" anchor="t">
            <a:spAutoFit/>
          </a:bodyPr>
          <a:lstStyle/>
          <a:p>
            <a:pPr algn="l">
              <a:lnSpc>
                <a:spcPct val="105000"/>
              </a:lnSpc>
            </a:pPr>
            <a:r>
              <a:rPr sz="2000" b="1" i="0" dirty="0" err="1">
                <a:solidFill>
                  <a:srgbClr val="2F8E72"/>
                </a:solidFill>
                <a:latin typeface="微软雅黑" panose="020B0503020204020204" pitchFamily="34" charset="-122"/>
              </a:rPr>
              <a:t>核心软件</a:t>
            </a:r>
            <a:endParaRPr sz="2000" b="1" i="0" dirty="0">
              <a:solidFill>
                <a:srgbClr val="2F8E72"/>
              </a:solidFill>
              <a:latin typeface="微软雅黑" panose="020B0503020204020204" pitchFamily="34" charset="-122"/>
            </a:endParaRPr>
          </a:p>
        </p:txBody>
      </p:sp>
      <p:sp>
        <p:nvSpPr>
          <p:cNvPr id="16" name="TextBox 15"/>
          <p:cNvSpPr txBox="1"/>
          <p:nvPr/>
        </p:nvSpPr>
        <p:spPr>
          <a:xfrm>
            <a:off x="6382512" y="2414015"/>
            <a:ext cx="4690872" cy="2761488"/>
          </a:xfrm>
          <a:prstGeom prst="rect">
            <a:avLst/>
          </a:prstGeom>
          <a:noFill/>
        </p:spPr>
        <p:txBody>
          <a:bodyPr wrap="square" lIns="18288" tIns="18288" rIns="18288" bIns="18288" anchor="t">
            <a:spAutoFit/>
          </a:bodyPr>
          <a:lstStyle/>
          <a:p>
            <a:pPr algn="l">
              <a:lnSpc>
                <a:spcPct val="108000"/>
              </a:lnSpc>
            </a:pPr>
            <a:r>
              <a:rPr sz="2000" b="0" i="0">
                <a:solidFill>
                  <a:srgbClr val="222833"/>
                </a:solidFill>
                <a:latin typeface="微软雅黑"/>
              </a:rPr>
              <a:t>PyTorch GPU 版</a:t>
            </a:r>
          </a:p>
          <a:p>
            <a:pPr algn="l">
              <a:lnSpc>
                <a:spcPct val="108000"/>
              </a:lnSpc>
            </a:pPr>
            <a:r>
              <a:rPr sz="2000" b="0" i="0">
                <a:solidFill>
                  <a:srgbClr val="222833"/>
                </a:solidFill>
                <a:latin typeface="微软雅黑"/>
              </a:rPr>
              <a:t>NVIDIA Isaac Lab / Isaac Sim</a:t>
            </a:r>
          </a:p>
          <a:p>
            <a:pPr algn="l">
              <a:lnSpc>
                <a:spcPct val="108000"/>
              </a:lnSpc>
            </a:pPr>
            <a:r>
              <a:rPr sz="2000" b="0" i="0">
                <a:solidFill>
                  <a:srgbClr val="222833"/>
                </a:solidFill>
                <a:latin typeface="微软雅黑"/>
              </a:rPr>
              <a:t>Hugging Face LeRobot</a:t>
            </a:r>
          </a:p>
          <a:p>
            <a:pPr algn="l">
              <a:lnSpc>
                <a:spcPct val="108000"/>
              </a:lnSpc>
            </a:pPr>
            <a:r>
              <a:rPr sz="2000" b="0" i="0">
                <a:solidFill>
                  <a:srgbClr val="222833"/>
                </a:solidFill>
                <a:latin typeface="微软雅黑"/>
              </a:rPr>
              <a:t>SO-ARM101 仿真扩展</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120</a:t>
            </a:r>
          </a:p>
        </p:txBody>
      </p:sp>
      <p:sp>
        <p:nvSpPr>
          <p:cNvPr id="7" name="TextBox 6"/>
          <p:cNvSpPr txBox="1"/>
          <p:nvPr/>
        </p:nvSpPr>
        <p:spPr>
          <a:xfrm>
            <a:off x="502920" y="551044"/>
            <a:ext cx="10927080" cy="507255"/>
          </a:xfrm>
          <a:prstGeom prst="rect">
            <a:avLst/>
          </a:prstGeom>
          <a:noFill/>
        </p:spPr>
        <p:txBody>
          <a:bodyPr wrap="square" lIns="18288" tIns="18288" rIns="18288" bIns="18288" anchor="ctr">
            <a:spAutoFit/>
          </a:bodyPr>
          <a:lstStyle/>
          <a:p>
            <a:pPr algn="l">
              <a:lnSpc>
                <a:spcPct val="105000"/>
              </a:lnSpc>
            </a:pPr>
            <a:r>
              <a:rPr sz="3100" b="1" i="0" dirty="0" err="1">
                <a:solidFill>
                  <a:srgbClr val="24477D"/>
                </a:solidFill>
                <a:latin typeface="微软雅黑" panose="020B0503020204020204" pitchFamily="34" charset="-122"/>
              </a:rPr>
              <a:t>步骤</a:t>
            </a:r>
            <a:r>
              <a:rPr sz="3100" b="1" i="0" dirty="0">
                <a:solidFill>
                  <a:srgbClr val="24477D"/>
                </a:solidFill>
                <a:latin typeface="微软雅黑" panose="020B0503020204020204" pitchFamily="34" charset="-122"/>
              </a:rPr>
              <a:t> 1：创建 Python </a:t>
            </a:r>
            <a:r>
              <a:rPr sz="3100" b="1" i="0" dirty="0" err="1">
                <a:solidFill>
                  <a:srgbClr val="24477D"/>
                </a:solidFill>
                <a:latin typeface="微软雅黑" panose="020B0503020204020204" pitchFamily="34" charset="-122"/>
              </a:rPr>
              <a:t>环境并安装</a:t>
            </a:r>
            <a:r>
              <a:rPr sz="3100" b="1" i="0" dirty="0">
                <a:solidFill>
                  <a:srgbClr val="24477D"/>
                </a:solidFill>
                <a:latin typeface="微软雅黑" panose="020B0503020204020204" pitchFamily="34" charset="-122"/>
              </a:rPr>
              <a:t> </a:t>
            </a:r>
            <a:r>
              <a:rPr sz="3100" b="1" i="0" dirty="0" err="1">
                <a:solidFill>
                  <a:srgbClr val="24477D"/>
                </a:solidFill>
                <a:latin typeface="微软雅黑" panose="020B0503020204020204" pitchFamily="34" charset="-122"/>
              </a:rPr>
              <a:t>PyTorch</a:t>
            </a:r>
            <a:endParaRPr sz="31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572768"/>
            <a:ext cx="10652760" cy="4617720"/>
          </a:xfrm>
          <a:prstGeom prst="roundRect">
            <a:avLst>
              <a:gd name="adj" fmla="val 0"/>
            </a:avLst>
          </a:prstGeom>
          <a:solidFill>
            <a:srgbClr val="202834"/>
          </a:solidFill>
          <a:ln>
            <a:solidFill>
              <a:srgbClr val="202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005840" y="1773936"/>
            <a:ext cx="10140696" cy="249299"/>
          </a:xfrm>
          <a:prstGeom prst="rect">
            <a:avLst/>
          </a:prstGeom>
          <a:noFill/>
        </p:spPr>
        <p:txBody>
          <a:bodyPr wrap="square" lIns="18288" tIns="18288" rIns="18288" bIns="18288" anchor="t">
            <a:spAutoFit/>
          </a:bodyPr>
          <a:lstStyle/>
          <a:p>
            <a:pPr algn="l">
              <a:lnSpc>
                <a:spcPct val="105000"/>
              </a:lnSpc>
            </a:pPr>
            <a:r>
              <a:rPr sz="1400" b="1" i="0" dirty="0" err="1">
                <a:solidFill>
                  <a:srgbClr val="DCE6F7"/>
                </a:solidFill>
                <a:latin typeface="微软雅黑" panose="020B0503020204020204" pitchFamily="34" charset="-122"/>
              </a:rPr>
              <a:t>终端命令</a:t>
            </a:r>
            <a:endParaRPr sz="1400" b="1" i="0" dirty="0">
              <a:solidFill>
                <a:srgbClr val="DCE6F7"/>
              </a:solidFill>
              <a:latin typeface="微软雅黑" panose="020B0503020204020204" pitchFamily="34" charset="-122"/>
            </a:endParaRPr>
          </a:p>
        </p:txBody>
      </p:sp>
      <p:sp>
        <p:nvSpPr>
          <p:cNvPr id="11" name="TextBox 10"/>
          <p:cNvSpPr txBox="1"/>
          <p:nvPr/>
        </p:nvSpPr>
        <p:spPr>
          <a:xfrm>
            <a:off x="1005840" y="2231136"/>
            <a:ext cx="10140696" cy="3611880"/>
          </a:xfrm>
          <a:prstGeom prst="rect">
            <a:avLst/>
          </a:prstGeom>
          <a:noFill/>
        </p:spPr>
        <p:txBody>
          <a:bodyPr wrap="square" lIns="18288" tIns="18288" rIns="18288" bIns="18288" anchor="t">
            <a:spAutoFit/>
          </a:bodyPr>
          <a:lstStyle/>
          <a:p>
            <a:pPr algn="l">
              <a:lnSpc>
                <a:spcPct val="100000"/>
              </a:lnSpc>
            </a:pPr>
            <a:r>
              <a:rPr sz="1700" b="0" i="0">
                <a:solidFill>
                  <a:srgbClr val="F2F5F8"/>
                </a:solidFill>
                <a:latin typeface="Consolas"/>
              </a:rPr>
              <a:t>conda create -n lerobot python=3.10</a:t>
            </a:r>
          </a:p>
          <a:p>
            <a:pPr algn="l">
              <a:lnSpc>
                <a:spcPct val="100000"/>
              </a:lnSpc>
            </a:pPr>
            <a:r>
              <a:rPr sz="1700" b="0" i="0">
                <a:solidFill>
                  <a:srgbClr val="F2F5F8"/>
                </a:solidFill>
                <a:latin typeface="Consolas"/>
              </a:rPr>
              <a:t>conda activate lerobot</a:t>
            </a:r>
          </a:p>
          <a:p>
            <a:pPr algn="l">
              <a:lnSpc>
                <a:spcPct val="100000"/>
              </a:lnSpc>
            </a:pPr>
            <a:endParaRPr sz="1700" b="0" i="0">
              <a:solidFill>
                <a:srgbClr val="F2F5F8"/>
              </a:solidFill>
              <a:latin typeface="Consolas"/>
            </a:endParaRPr>
          </a:p>
          <a:p>
            <a:pPr algn="l">
              <a:lnSpc>
                <a:spcPct val="100000"/>
              </a:lnSpc>
            </a:pPr>
            <a:r>
              <a:rPr sz="1700" b="0" i="0">
                <a:solidFill>
                  <a:srgbClr val="F2F5F8"/>
                </a:solidFill>
                <a:latin typeface="Consolas"/>
              </a:rPr>
              <a:t># 安装 PyTorch（GPU 版）</a:t>
            </a:r>
          </a:p>
          <a:p>
            <a:pPr algn="l">
              <a:lnSpc>
                <a:spcPct val="100000"/>
              </a:lnSpc>
            </a:pPr>
            <a:r>
              <a:rPr sz="1700" b="0" i="0">
                <a:solidFill>
                  <a:srgbClr val="F2F5F8"/>
                </a:solidFill>
                <a:latin typeface="Consolas"/>
              </a:rPr>
              <a:t>pip install torch torchvision torchaudio \</a:t>
            </a:r>
          </a:p>
          <a:p>
            <a:pPr algn="l">
              <a:lnSpc>
                <a:spcPct val="100000"/>
              </a:lnSpc>
            </a:pPr>
            <a:r>
              <a:rPr sz="1700" b="0" i="0">
                <a:solidFill>
                  <a:srgbClr val="F2F5F8"/>
                </a:solidFill>
                <a:latin typeface="Consolas"/>
              </a:rPr>
              <a:t>  --index-url https://download.pytorch.org/whl/cu121</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121</a:t>
            </a:r>
          </a:p>
        </p:txBody>
      </p:sp>
      <p:sp>
        <p:nvSpPr>
          <p:cNvPr id="7" name="TextBox 6"/>
          <p:cNvSpPr txBox="1"/>
          <p:nvPr/>
        </p:nvSpPr>
        <p:spPr>
          <a:xfrm>
            <a:off x="502920" y="551044"/>
            <a:ext cx="10927080" cy="507255"/>
          </a:xfrm>
          <a:prstGeom prst="rect">
            <a:avLst/>
          </a:prstGeom>
          <a:noFill/>
        </p:spPr>
        <p:txBody>
          <a:bodyPr wrap="square" lIns="18288" tIns="18288" rIns="18288" bIns="18288" anchor="ctr">
            <a:spAutoFit/>
          </a:bodyPr>
          <a:lstStyle/>
          <a:p>
            <a:pPr algn="l">
              <a:lnSpc>
                <a:spcPct val="105000"/>
              </a:lnSpc>
            </a:pPr>
            <a:r>
              <a:rPr sz="3100" b="1" i="0" dirty="0" err="1">
                <a:solidFill>
                  <a:srgbClr val="24477D"/>
                </a:solidFill>
                <a:latin typeface="微软雅黑" panose="020B0503020204020204" pitchFamily="34" charset="-122"/>
              </a:rPr>
              <a:t>步骤</a:t>
            </a:r>
            <a:r>
              <a:rPr sz="3100" b="1" i="0" dirty="0">
                <a:solidFill>
                  <a:srgbClr val="24477D"/>
                </a:solidFill>
                <a:latin typeface="微软雅黑" panose="020B0503020204020204" pitchFamily="34" charset="-122"/>
              </a:rPr>
              <a:t> 1：安装 Isaac </a:t>
            </a:r>
            <a:r>
              <a:rPr sz="3100" b="1" i="0" dirty="0" err="1">
                <a:solidFill>
                  <a:srgbClr val="24477D"/>
                </a:solidFill>
                <a:latin typeface="微软雅黑" panose="020B0503020204020204" pitchFamily="34" charset="-122"/>
              </a:rPr>
              <a:t>Lab、LeRobot</a:t>
            </a:r>
            <a:r>
              <a:rPr sz="3100" b="1" i="0" dirty="0">
                <a:solidFill>
                  <a:srgbClr val="24477D"/>
                </a:solidFill>
                <a:latin typeface="微软雅黑" panose="020B0503020204020204" pitchFamily="34" charset="-122"/>
              </a:rPr>
              <a:t> 与 Isaac Sim</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572768"/>
            <a:ext cx="10652760" cy="4617720"/>
          </a:xfrm>
          <a:prstGeom prst="roundRect">
            <a:avLst>
              <a:gd name="adj" fmla="val 2056"/>
            </a:avLst>
          </a:prstGeom>
          <a:solidFill>
            <a:srgbClr val="202834"/>
          </a:solidFill>
          <a:ln>
            <a:solidFill>
              <a:srgbClr val="202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005840" y="1773936"/>
            <a:ext cx="10140696" cy="249299"/>
          </a:xfrm>
          <a:prstGeom prst="rect">
            <a:avLst/>
          </a:prstGeom>
          <a:noFill/>
        </p:spPr>
        <p:txBody>
          <a:bodyPr wrap="square" lIns="18288" tIns="18288" rIns="18288" bIns="18288" anchor="t">
            <a:spAutoFit/>
          </a:bodyPr>
          <a:lstStyle/>
          <a:p>
            <a:pPr algn="l">
              <a:lnSpc>
                <a:spcPct val="105000"/>
              </a:lnSpc>
            </a:pPr>
            <a:r>
              <a:rPr sz="1400" b="1" i="0" dirty="0" err="1">
                <a:solidFill>
                  <a:srgbClr val="DCE6F7"/>
                </a:solidFill>
                <a:latin typeface="微软雅黑" panose="020B0503020204020204" pitchFamily="34" charset="-122"/>
              </a:rPr>
              <a:t>终端命令</a:t>
            </a:r>
            <a:endParaRPr sz="1400" b="1" i="0" dirty="0">
              <a:solidFill>
                <a:srgbClr val="DCE6F7"/>
              </a:solidFill>
              <a:latin typeface="微软雅黑" panose="020B0503020204020204" pitchFamily="34" charset="-122"/>
            </a:endParaRPr>
          </a:p>
        </p:txBody>
      </p:sp>
      <p:sp>
        <p:nvSpPr>
          <p:cNvPr id="11" name="TextBox 10"/>
          <p:cNvSpPr txBox="1"/>
          <p:nvPr/>
        </p:nvSpPr>
        <p:spPr>
          <a:xfrm>
            <a:off x="1005840" y="2231136"/>
            <a:ext cx="10140696" cy="3611880"/>
          </a:xfrm>
          <a:prstGeom prst="rect">
            <a:avLst/>
          </a:prstGeom>
          <a:noFill/>
        </p:spPr>
        <p:txBody>
          <a:bodyPr wrap="square" lIns="18288" tIns="18288" rIns="18288" bIns="18288" anchor="t">
            <a:spAutoFit/>
          </a:bodyPr>
          <a:lstStyle/>
          <a:p>
            <a:pPr algn="l">
              <a:lnSpc>
                <a:spcPct val="100000"/>
              </a:lnSpc>
            </a:pPr>
            <a:r>
              <a:rPr sz="1500" b="0" i="0">
                <a:solidFill>
                  <a:srgbClr val="F2F5F8"/>
                </a:solidFill>
                <a:latin typeface="Consolas"/>
              </a:rPr>
              <a:t>cd ~/Documents</a:t>
            </a:r>
          </a:p>
          <a:p>
            <a:pPr algn="l">
              <a:lnSpc>
                <a:spcPct val="100000"/>
              </a:lnSpc>
            </a:pPr>
            <a:r>
              <a:rPr sz="1500" b="0" i="0">
                <a:solidFill>
                  <a:srgbClr val="F2F5F8"/>
                </a:solidFill>
                <a:latin typeface="Consolas"/>
              </a:rPr>
              <a:t>git clone https://github.com/isaac-sim/IsaacLab.git</a:t>
            </a:r>
          </a:p>
          <a:p>
            <a:pPr algn="l">
              <a:lnSpc>
                <a:spcPct val="100000"/>
              </a:lnSpc>
            </a:pPr>
            <a:r>
              <a:rPr sz="1500" b="0" i="0">
                <a:solidFill>
                  <a:srgbClr val="F2F5F8"/>
                </a:solidFill>
                <a:latin typeface="Consolas"/>
              </a:rPr>
              <a:t>cd IsaacLab</a:t>
            </a:r>
          </a:p>
          <a:p>
            <a:pPr algn="l">
              <a:lnSpc>
                <a:spcPct val="100000"/>
              </a:lnSpc>
            </a:pPr>
            <a:r>
              <a:rPr sz="1500" b="0" i="0">
                <a:solidFill>
                  <a:srgbClr val="F2F5F8"/>
                </a:solidFill>
                <a:latin typeface="Consolas"/>
              </a:rPr>
              <a:t>./isaaclab.sh --install</a:t>
            </a:r>
          </a:p>
          <a:p>
            <a:pPr algn="l">
              <a:lnSpc>
                <a:spcPct val="100000"/>
              </a:lnSpc>
            </a:pPr>
            <a:endParaRPr sz="1500" b="0" i="0">
              <a:solidFill>
                <a:srgbClr val="F2F5F8"/>
              </a:solidFill>
              <a:latin typeface="Consolas"/>
            </a:endParaRPr>
          </a:p>
          <a:p>
            <a:pPr algn="l">
              <a:lnSpc>
                <a:spcPct val="100000"/>
              </a:lnSpc>
            </a:pPr>
            <a:r>
              <a:rPr sz="1500" b="0" i="0">
                <a:solidFill>
                  <a:srgbClr val="F2F5F8"/>
                </a:solidFill>
                <a:latin typeface="Consolas"/>
              </a:rPr>
              <a:t># 安装 LeRobot 及 SmolVLA</a:t>
            </a:r>
          </a:p>
          <a:p>
            <a:pPr algn="l">
              <a:lnSpc>
                <a:spcPct val="100000"/>
              </a:lnSpc>
            </a:pPr>
            <a:r>
              <a:rPr sz="1500" b="0" i="0">
                <a:solidFill>
                  <a:srgbClr val="F2F5F8"/>
                </a:solidFill>
                <a:latin typeface="Consolas"/>
              </a:rPr>
              <a:t>pip install lerobot[torch]</a:t>
            </a:r>
          </a:p>
          <a:p>
            <a:pPr algn="l">
              <a:lnSpc>
                <a:spcPct val="100000"/>
              </a:lnSpc>
            </a:pPr>
            <a:endParaRPr sz="1500" b="0" i="0">
              <a:solidFill>
                <a:srgbClr val="F2F5F8"/>
              </a:solidFill>
              <a:latin typeface="Consolas"/>
            </a:endParaRPr>
          </a:p>
          <a:p>
            <a:pPr algn="l">
              <a:lnSpc>
                <a:spcPct val="100000"/>
              </a:lnSpc>
            </a:pPr>
            <a:r>
              <a:rPr sz="1500" b="0" i="0">
                <a:solidFill>
                  <a:srgbClr val="F2F5F8"/>
                </a:solidFill>
                <a:latin typeface="Consolas"/>
              </a:rPr>
              <a:t># 安装 Isaac Sim</a:t>
            </a:r>
          </a:p>
          <a:p>
            <a:pPr algn="l">
              <a:lnSpc>
                <a:spcPct val="100000"/>
              </a:lnSpc>
            </a:pPr>
            <a:r>
              <a:rPr sz="1500" b="0" i="0">
                <a:solidFill>
                  <a:srgbClr val="F2F5F8"/>
                </a:solidFill>
                <a:latin typeface="Consolas"/>
              </a:rPr>
              <a:t>pip install "isaacsim[all]" \</a:t>
            </a:r>
          </a:p>
          <a:p>
            <a:pPr algn="l">
              <a:lnSpc>
                <a:spcPct val="100000"/>
              </a:lnSpc>
            </a:pPr>
            <a:r>
              <a:rPr sz="1500" b="0" i="0">
                <a:solidFill>
                  <a:srgbClr val="F2F5F8"/>
                </a:solidFill>
                <a:latin typeface="Consolas"/>
              </a:rPr>
              <a:t>  --extra-index-url https://pypi.nvidia.com</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122</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步骤</a:t>
            </a:r>
            <a:r>
              <a:rPr sz="3500" b="1" i="0" dirty="0">
                <a:solidFill>
                  <a:srgbClr val="24477D"/>
                </a:solidFill>
                <a:latin typeface="微软雅黑" panose="020B0503020204020204" pitchFamily="34" charset="-122"/>
              </a:rPr>
              <a:t> 1：验证安装</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572768"/>
            <a:ext cx="10652760" cy="4617720"/>
          </a:xfrm>
          <a:prstGeom prst="roundRect">
            <a:avLst>
              <a:gd name="adj" fmla="val 2248"/>
            </a:avLst>
          </a:prstGeom>
          <a:solidFill>
            <a:srgbClr val="202834"/>
          </a:solidFill>
          <a:ln>
            <a:solidFill>
              <a:srgbClr val="202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005840" y="1773936"/>
            <a:ext cx="10140696" cy="249299"/>
          </a:xfrm>
          <a:prstGeom prst="rect">
            <a:avLst/>
          </a:prstGeom>
          <a:noFill/>
        </p:spPr>
        <p:txBody>
          <a:bodyPr wrap="square" lIns="18288" tIns="18288" rIns="18288" bIns="18288" anchor="t">
            <a:spAutoFit/>
          </a:bodyPr>
          <a:lstStyle/>
          <a:p>
            <a:pPr algn="l">
              <a:lnSpc>
                <a:spcPct val="105000"/>
              </a:lnSpc>
            </a:pPr>
            <a:r>
              <a:rPr sz="1400" b="1" i="0" dirty="0" err="1">
                <a:solidFill>
                  <a:srgbClr val="DCE6F7"/>
                </a:solidFill>
                <a:latin typeface="微软雅黑" panose="020B0503020204020204" pitchFamily="34" charset="-122"/>
              </a:rPr>
              <a:t>终端命令</a:t>
            </a:r>
            <a:endParaRPr sz="1400" b="1" i="0" dirty="0">
              <a:solidFill>
                <a:srgbClr val="DCE6F7"/>
              </a:solidFill>
              <a:latin typeface="微软雅黑" panose="020B0503020204020204" pitchFamily="34" charset="-122"/>
            </a:endParaRPr>
          </a:p>
        </p:txBody>
      </p:sp>
      <p:sp>
        <p:nvSpPr>
          <p:cNvPr id="11" name="TextBox 10"/>
          <p:cNvSpPr txBox="1"/>
          <p:nvPr/>
        </p:nvSpPr>
        <p:spPr>
          <a:xfrm>
            <a:off x="1005840" y="2231136"/>
            <a:ext cx="10140696" cy="3611880"/>
          </a:xfrm>
          <a:prstGeom prst="rect">
            <a:avLst/>
          </a:prstGeom>
          <a:noFill/>
        </p:spPr>
        <p:txBody>
          <a:bodyPr wrap="square" lIns="18288" tIns="18288" rIns="18288" bIns="18288" anchor="t">
            <a:spAutoFit/>
          </a:bodyPr>
          <a:lstStyle/>
          <a:p>
            <a:pPr algn="l">
              <a:lnSpc>
                <a:spcPct val="100000"/>
              </a:lnSpc>
            </a:pPr>
            <a:r>
              <a:rPr sz="1700" b="0" i="0">
                <a:solidFill>
                  <a:srgbClr val="F2F5F8"/>
                </a:solidFill>
                <a:latin typeface="Consolas"/>
              </a:rPr>
              <a:t>python -c "import lerobot; print('LeRobot 安装成功')"</a:t>
            </a:r>
          </a:p>
          <a:p>
            <a:pPr algn="l">
              <a:lnSpc>
                <a:spcPct val="100000"/>
              </a:lnSpc>
            </a:pPr>
            <a:endParaRPr sz="1700" b="0" i="0">
              <a:solidFill>
                <a:srgbClr val="F2F5F8"/>
              </a:solidFill>
              <a:latin typeface="Consolas"/>
            </a:endParaRPr>
          </a:p>
          <a:p>
            <a:pPr algn="l">
              <a:lnSpc>
                <a:spcPct val="100000"/>
              </a:lnSpc>
            </a:pPr>
            <a:r>
              <a:rPr sz="1700" b="0" i="0">
                <a:solidFill>
                  <a:srgbClr val="F2F5F8"/>
                </a:solidFill>
                <a:latin typeface="Consolas"/>
              </a:rPr>
              <a:t>./isaaclab.sh -p scripts/tutorials/00_sim/create_empty.py</a:t>
            </a:r>
          </a:p>
          <a:p>
            <a:pPr algn="l">
              <a:lnSpc>
                <a:spcPct val="100000"/>
              </a:lnSpc>
            </a:pPr>
            <a:endParaRPr sz="1700" b="0" i="0">
              <a:solidFill>
                <a:srgbClr val="F2F5F8"/>
              </a:solidFill>
              <a:latin typeface="Consolas"/>
            </a:endParaRPr>
          </a:p>
          <a:p>
            <a:pPr algn="l">
              <a:lnSpc>
                <a:spcPct val="100000"/>
              </a:lnSpc>
            </a:pPr>
            <a:r>
              <a:rPr sz="1700" b="0" i="0">
                <a:solidFill>
                  <a:srgbClr val="F2F5F8"/>
                </a:solidFill>
                <a:latin typeface="Consolas"/>
              </a:rPr>
              <a:t># 若弹出空场景窗口，且 LeRobot 可正常导入，</a:t>
            </a:r>
          </a:p>
          <a:p>
            <a:pPr algn="l">
              <a:lnSpc>
                <a:spcPct val="100000"/>
              </a:lnSpc>
            </a:pPr>
            <a:r>
              <a:rPr sz="1700" b="0" i="0">
                <a:solidFill>
                  <a:srgbClr val="F2F5F8"/>
                </a:solidFill>
                <a:latin typeface="Consolas"/>
              </a:rPr>
              <a:t># 即说明基础环境安装成功。</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123</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步骤</a:t>
            </a:r>
            <a:r>
              <a:rPr sz="3500" b="1" i="0" dirty="0">
                <a:solidFill>
                  <a:srgbClr val="24477D"/>
                </a:solidFill>
                <a:latin typeface="微软雅黑" panose="020B0503020204020204" pitchFamily="34" charset="-122"/>
              </a:rPr>
              <a:t> 2：安装 SO-ARM101 </a:t>
            </a:r>
            <a:r>
              <a:rPr sz="3500" b="1" i="0" dirty="0" err="1">
                <a:solidFill>
                  <a:srgbClr val="24477D"/>
                </a:solidFill>
                <a:latin typeface="微软雅黑" panose="020B0503020204020204" pitchFamily="34" charset="-122"/>
              </a:rPr>
              <a:t>仿真扩展</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572768"/>
            <a:ext cx="10652760" cy="4617720"/>
          </a:xfrm>
          <a:prstGeom prst="roundRect">
            <a:avLst>
              <a:gd name="adj" fmla="val 3690"/>
            </a:avLst>
          </a:prstGeom>
          <a:solidFill>
            <a:srgbClr val="202834"/>
          </a:solidFill>
          <a:ln>
            <a:solidFill>
              <a:srgbClr val="202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005840" y="1773936"/>
            <a:ext cx="10140696" cy="249299"/>
          </a:xfrm>
          <a:prstGeom prst="rect">
            <a:avLst/>
          </a:prstGeom>
          <a:noFill/>
        </p:spPr>
        <p:txBody>
          <a:bodyPr wrap="square" lIns="18288" tIns="18288" rIns="18288" bIns="18288" anchor="t">
            <a:spAutoFit/>
          </a:bodyPr>
          <a:lstStyle/>
          <a:p>
            <a:pPr algn="l">
              <a:lnSpc>
                <a:spcPct val="105000"/>
              </a:lnSpc>
            </a:pPr>
            <a:r>
              <a:rPr sz="1400" b="1" i="0" dirty="0" err="1">
                <a:solidFill>
                  <a:srgbClr val="DCE6F7"/>
                </a:solidFill>
                <a:latin typeface="微软雅黑" panose="020B0503020204020204" pitchFamily="34" charset="-122"/>
              </a:rPr>
              <a:t>终端命令</a:t>
            </a:r>
            <a:endParaRPr sz="1400" b="1" i="0" dirty="0">
              <a:solidFill>
                <a:srgbClr val="DCE6F7"/>
              </a:solidFill>
              <a:latin typeface="微软雅黑" panose="020B0503020204020204" pitchFamily="34" charset="-122"/>
            </a:endParaRPr>
          </a:p>
        </p:txBody>
      </p:sp>
      <p:sp>
        <p:nvSpPr>
          <p:cNvPr id="11" name="TextBox 10"/>
          <p:cNvSpPr txBox="1"/>
          <p:nvPr/>
        </p:nvSpPr>
        <p:spPr>
          <a:xfrm>
            <a:off x="1005840" y="2231136"/>
            <a:ext cx="10140696" cy="3611880"/>
          </a:xfrm>
          <a:prstGeom prst="rect">
            <a:avLst/>
          </a:prstGeom>
          <a:noFill/>
        </p:spPr>
        <p:txBody>
          <a:bodyPr wrap="square" lIns="18288" tIns="18288" rIns="18288" bIns="18288" anchor="t">
            <a:spAutoFit/>
          </a:bodyPr>
          <a:lstStyle/>
          <a:p>
            <a:pPr algn="l">
              <a:lnSpc>
                <a:spcPct val="100000"/>
              </a:lnSpc>
            </a:pPr>
            <a:r>
              <a:rPr sz="1600" b="0" i="0">
                <a:solidFill>
                  <a:srgbClr val="F2F5F8"/>
                </a:solidFill>
                <a:latin typeface="Consolas"/>
              </a:rPr>
              <a:t>cd ~/Documents</a:t>
            </a:r>
          </a:p>
          <a:p>
            <a:pPr algn="l">
              <a:lnSpc>
                <a:spcPct val="100000"/>
              </a:lnSpc>
            </a:pPr>
            <a:r>
              <a:rPr sz="1600" b="0" i="0">
                <a:solidFill>
                  <a:srgbClr val="F2F5F8"/>
                </a:solidFill>
                <a:latin typeface="Consolas"/>
              </a:rPr>
              <a:t>git clone https://github.com/TheRobotStudio/SO-ARM101.git</a:t>
            </a:r>
          </a:p>
          <a:p>
            <a:pPr algn="l">
              <a:lnSpc>
                <a:spcPct val="100000"/>
              </a:lnSpc>
            </a:pPr>
            <a:r>
              <a:rPr sz="1600" b="0" i="0">
                <a:solidFill>
                  <a:srgbClr val="F2F5F8"/>
                </a:solidFill>
                <a:latin typeface="Consolas"/>
              </a:rPr>
              <a:t>cd SO-ARM101</a:t>
            </a:r>
          </a:p>
          <a:p>
            <a:pPr algn="l">
              <a:lnSpc>
                <a:spcPct val="100000"/>
              </a:lnSpc>
            </a:pPr>
            <a:r>
              <a:rPr sz="1600" b="0" i="0">
                <a:solidFill>
                  <a:srgbClr val="F2F5F8"/>
                </a:solidFill>
                <a:latin typeface="Consolas"/>
              </a:rPr>
              <a:t>pip install -e .</a:t>
            </a:r>
          </a:p>
          <a:p>
            <a:pPr algn="l">
              <a:lnSpc>
                <a:spcPct val="100000"/>
              </a:lnSpc>
            </a:pPr>
            <a:endParaRPr sz="1600" b="0" i="0">
              <a:solidFill>
                <a:srgbClr val="F2F5F8"/>
              </a:solidFill>
              <a:latin typeface="Consolas"/>
            </a:endParaRPr>
          </a:p>
          <a:p>
            <a:pPr algn="l">
              <a:lnSpc>
                <a:spcPct val="100000"/>
              </a:lnSpc>
            </a:pPr>
            <a:r>
              <a:rPr sz="1600" b="0" i="0">
                <a:solidFill>
                  <a:srgbClr val="F2F5F8"/>
                </a:solidFill>
                <a:latin typeface="Consolas"/>
              </a:rPr>
              <a:t>python scripts/list_envs.py</a:t>
            </a:r>
          </a:p>
          <a:p>
            <a:pPr algn="l">
              <a:lnSpc>
                <a:spcPct val="100000"/>
              </a:lnSpc>
            </a:pPr>
            <a:endParaRPr sz="1600" b="0" i="0">
              <a:solidFill>
                <a:srgbClr val="F2F5F8"/>
              </a:solidFill>
              <a:latin typeface="Consolas"/>
            </a:endParaRPr>
          </a:p>
          <a:p>
            <a:pPr algn="l">
              <a:lnSpc>
                <a:spcPct val="100000"/>
              </a:lnSpc>
            </a:pPr>
            <a:r>
              <a:rPr sz="1600" b="0" i="0">
                <a:solidFill>
                  <a:srgbClr val="F2F5F8"/>
                </a:solidFill>
                <a:latin typeface="Consolas"/>
              </a:rPr>
              <a:t># 确保终端可列出：</a:t>
            </a:r>
          </a:p>
          <a:p>
            <a:pPr algn="l">
              <a:lnSpc>
                <a:spcPct val="100000"/>
              </a:lnSpc>
            </a:pPr>
            <a:r>
              <a:rPr sz="1600" b="0" i="0">
                <a:solidFill>
                  <a:srgbClr val="F2F5F8"/>
                </a:solidFill>
                <a:latin typeface="Consolas"/>
              </a:rPr>
              <a:t># SO-ARM101-PickAndPlace-v0 等任务</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124</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步骤</a:t>
            </a:r>
            <a:r>
              <a:rPr sz="3500" b="1" i="0" dirty="0">
                <a:solidFill>
                  <a:srgbClr val="24477D"/>
                </a:solidFill>
                <a:latin typeface="微软雅黑" panose="020B0503020204020204" pitchFamily="34" charset="-122"/>
              </a:rPr>
              <a:t> 3：VLA </a:t>
            </a:r>
            <a:r>
              <a:rPr sz="3500" b="1" i="0" dirty="0" err="1">
                <a:solidFill>
                  <a:srgbClr val="24477D"/>
                </a:solidFill>
                <a:latin typeface="微软雅黑" panose="020B0503020204020204" pitchFamily="34" charset="-122"/>
              </a:rPr>
              <a:t>模型训练与</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LoRA</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微调流程</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658368" y="1856231"/>
            <a:ext cx="2560320" cy="2834640"/>
          </a:xfrm>
          <a:prstGeom prst="roundRect">
            <a:avLst>
              <a:gd name="adj" fmla="val 401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658368" y="1856231"/>
            <a:ext cx="64008" cy="28346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68680" y="2002536"/>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预训练权重</a:t>
            </a:r>
            <a:endParaRPr sz="1800" b="1" i="0" dirty="0">
              <a:solidFill>
                <a:srgbClr val="31599B"/>
              </a:solidFill>
              <a:latin typeface="微软雅黑" panose="020B0503020204020204" pitchFamily="34" charset="-122"/>
            </a:endParaRPr>
          </a:p>
        </p:txBody>
      </p:sp>
      <p:sp>
        <p:nvSpPr>
          <p:cNvPr id="12" name="TextBox 11"/>
          <p:cNvSpPr txBox="1"/>
          <p:nvPr/>
        </p:nvSpPr>
        <p:spPr>
          <a:xfrm>
            <a:off x="868680" y="2514600"/>
            <a:ext cx="2176272" cy="202996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从 SmolVLA 已有视觉－语言能力出发。</a:t>
            </a:r>
          </a:p>
        </p:txBody>
      </p:sp>
      <p:sp>
        <p:nvSpPr>
          <p:cNvPr id="13" name="Rounded Rectangle 12"/>
          <p:cNvSpPr/>
          <p:nvPr/>
        </p:nvSpPr>
        <p:spPr>
          <a:xfrm>
            <a:off x="3429000" y="1856231"/>
            <a:ext cx="2560320" cy="2834640"/>
          </a:xfrm>
          <a:prstGeom prst="roundRect">
            <a:avLst>
              <a:gd name="adj" fmla="val 4878"/>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3429000" y="1856231"/>
            <a:ext cx="64008" cy="28346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3639312" y="2002536"/>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2F8E72"/>
                </a:solidFill>
                <a:latin typeface="微软雅黑" panose="020B0503020204020204" pitchFamily="34" charset="-122"/>
              </a:rPr>
              <a:t>任务数据</a:t>
            </a:r>
            <a:endParaRPr sz="1800" b="1" i="0" dirty="0">
              <a:solidFill>
                <a:srgbClr val="2F8E72"/>
              </a:solidFill>
              <a:latin typeface="微软雅黑" panose="020B0503020204020204" pitchFamily="34" charset="-122"/>
            </a:endParaRPr>
          </a:p>
        </p:txBody>
      </p:sp>
      <p:sp>
        <p:nvSpPr>
          <p:cNvPr id="16" name="TextBox 15"/>
          <p:cNvSpPr txBox="1"/>
          <p:nvPr/>
        </p:nvSpPr>
        <p:spPr>
          <a:xfrm>
            <a:off x="3639312" y="2514600"/>
            <a:ext cx="2176272" cy="202996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加载 SO-ARM101 抓取－放置数据。</a:t>
            </a:r>
          </a:p>
        </p:txBody>
      </p:sp>
      <p:sp>
        <p:nvSpPr>
          <p:cNvPr id="17" name="Rounded Rectangle 16"/>
          <p:cNvSpPr/>
          <p:nvPr/>
        </p:nvSpPr>
        <p:spPr>
          <a:xfrm>
            <a:off x="6199631" y="1856231"/>
            <a:ext cx="2560320" cy="2834640"/>
          </a:xfrm>
          <a:prstGeom prst="roundRect">
            <a:avLst>
              <a:gd name="adj" fmla="val 3491"/>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6199631" y="1856231"/>
            <a:ext cx="64008" cy="28346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6409944" y="2002536"/>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LoRA</a:t>
            </a:r>
            <a:r>
              <a:rPr sz="1800" b="1" i="0" dirty="0">
                <a:solidFill>
                  <a:srgbClr val="C58A24"/>
                </a:solidFill>
                <a:latin typeface="微软雅黑" panose="020B0503020204020204" pitchFamily="34" charset="-122"/>
              </a:rPr>
              <a:t> </a:t>
            </a:r>
            <a:r>
              <a:rPr sz="1800" b="1" i="0" dirty="0" err="1">
                <a:solidFill>
                  <a:srgbClr val="C58A24"/>
                </a:solidFill>
                <a:latin typeface="微软雅黑" panose="020B0503020204020204" pitchFamily="34" charset="-122"/>
              </a:rPr>
              <a:t>微调</a:t>
            </a:r>
            <a:endParaRPr sz="1800" b="1" i="0" dirty="0">
              <a:solidFill>
                <a:srgbClr val="C58A24"/>
              </a:solidFill>
              <a:latin typeface="微软雅黑" panose="020B0503020204020204" pitchFamily="34" charset="-122"/>
            </a:endParaRPr>
          </a:p>
        </p:txBody>
      </p:sp>
      <p:sp>
        <p:nvSpPr>
          <p:cNvPr id="20" name="TextBox 19"/>
          <p:cNvSpPr txBox="1"/>
          <p:nvPr/>
        </p:nvSpPr>
        <p:spPr>
          <a:xfrm>
            <a:off x="6409944" y="2514600"/>
            <a:ext cx="2176272" cy="202996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只更新少量低秩参数，降低显存和训练成本。</a:t>
            </a:r>
          </a:p>
        </p:txBody>
      </p:sp>
      <p:sp>
        <p:nvSpPr>
          <p:cNvPr id="21" name="Rounded Rectangle 20"/>
          <p:cNvSpPr/>
          <p:nvPr/>
        </p:nvSpPr>
        <p:spPr>
          <a:xfrm>
            <a:off x="8970264" y="1856231"/>
            <a:ext cx="2560320" cy="2834640"/>
          </a:xfrm>
          <a:prstGeom prst="roundRect">
            <a:avLst>
              <a:gd name="adj" fmla="val 71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8970264" y="1856231"/>
            <a:ext cx="64008" cy="283464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9180576" y="2002536"/>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监控指标</a:t>
            </a:r>
            <a:endParaRPr sz="1800" b="1" i="0" dirty="0">
              <a:solidFill>
                <a:srgbClr val="C63F45"/>
              </a:solidFill>
              <a:latin typeface="微软雅黑" panose="020B0503020204020204" pitchFamily="34" charset="-122"/>
            </a:endParaRPr>
          </a:p>
        </p:txBody>
      </p:sp>
      <p:sp>
        <p:nvSpPr>
          <p:cNvPr id="24" name="TextBox 23"/>
          <p:cNvSpPr txBox="1"/>
          <p:nvPr/>
        </p:nvSpPr>
        <p:spPr>
          <a:xfrm>
            <a:off x="9180576" y="2514600"/>
            <a:ext cx="2176272" cy="2029968"/>
          </a:xfrm>
          <a:prstGeom prst="rect">
            <a:avLst/>
          </a:prstGeom>
          <a:noFill/>
        </p:spPr>
        <p:txBody>
          <a:bodyPr wrap="square" lIns="18288" tIns="18288" rIns="18288" bIns="18288" anchor="t">
            <a:spAutoFit/>
          </a:bodyPr>
          <a:lstStyle/>
          <a:p>
            <a:pPr algn="l">
              <a:lnSpc>
                <a:spcPct val="108000"/>
              </a:lnSpc>
            </a:pPr>
            <a:r>
              <a:rPr sz="1600" b="0" i="0">
                <a:solidFill>
                  <a:srgbClr val="222833"/>
                </a:solidFill>
                <a:latin typeface="微软雅黑"/>
              </a:rPr>
              <a:t>记录训练损失、任务成功率和并行仿真结果。</a:t>
            </a:r>
          </a:p>
        </p:txBody>
      </p:sp>
      <p:sp>
        <p:nvSpPr>
          <p:cNvPr id="25" name="TextBox 24"/>
          <p:cNvSpPr txBox="1"/>
          <p:nvPr/>
        </p:nvSpPr>
        <p:spPr>
          <a:xfrm>
            <a:off x="868680" y="5230368"/>
            <a:ext cx="1014984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教材强调：案例重点不是从零训练大模型，而是高效适配特定机器人任务</a:t>
            </a:r>
            <a:r>
              <a:rPr sz="1900" b="1" i="0" dirty="0">
                <a:solidFill>
                  <a:srgbClr val="24477D"/>
                </a:solidFill>
                <a:latin typeface="微软雅黑" panose="020B0503020204020204" pitchFamily="34" charset="-122"/>
              </a:rPr>
              <a:t>。</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125</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步骤</a:t>
            </a:r>
            <a:r>
              <a:rPr sz="3500" b="1" i="0" dirty="0">
                <a:solidFill>
                  <a:srgbClr val="24477D"/>
                </a:solidFill>
                <a:latin typeface="微软雅黑" panose="020B0503020204020204" pitchFamily="34" charset="-122"/>
              </a:rPr>
              <a:t> 3：启动 </a:t>
            </a:r>
            <a:r>
              <a:rPr sz="3500" b="1" i="0" dirty="0" err="1">
                <a:solidFill>
                  <a:srgbClr val="24477D"/>
                </a:solidFill>
                <a:latin typeface="微软雅黑" panose="020B0503020204020204" pitchFamily="34" charset="-122"/>
              </a:rPr>
              <a:t>SmolVLA</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LoRA</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微调</a:t>
            </a:r>
            <a:endParaRPr sz="3500" b="1" i="0" dirty="0">
              <a:solidFill>
                <a:srgbClr val="24477D"/>
              </a:solidFill>
              <a:latin typeface="微软雅黑" panose="020B0503020204020204" pitchFamily="34" charset="-122"/>
            </a:endParaRPr>
          </a:p>
        </p:txBody>
      </p:sp>
      <p:sp>
        <p:nvSpPr>
          <p:cNvPr id="8" name="Rectangle 7"/>
          <p:cNvSpPr/>
          <p:nvPr/>
        </p:nvSpPr>
        <p:spPr>
          <a:xfrm>
            <a:off x="521208"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572768"/>
            <a:ext cx="10652760" cy="4617720"/>
          </a:xfrm>
          <a:prstGeom prst="roundRect">
            <a:avLst>
              <a:gd name="adj" fmla="val 2921"/>
            </a:avLst>
          </a:prstGeom>
          <a:solidFill>
            <a:srgbClr val="202834"/>
          </a:solidFill>
          <a:ln>
            <a:solidFill>
              <a:srgbClr val="202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005840" y="1773936"/>
            <a:ext cx="10140696" cy="249299"/>
          </a:xfrm>
          <a:prstGeom prst="rect">
            <a:avLst/>
          </a:prstGeom>
          <a:noFill/>
        </p:spPr>
        <p:txBody>
          <a:bodyPr wrap="square" lIns="18288" tIns="18288" rIns="18288" bIns="18288" anchor="t">
            <a:spAutoFit/>
          </a:bodyPr>
          <a:lstStyle/>
          <a:p>
            <a:pPr algn="l">
              <a:lnSpc>
                <a:spcPct val="105000"/>
              </a:lnSpc>
            </a:pPr>
            <a:r>
              <a:rPr sz="1400" b="1" i="0" dirty="0" err="1">
                <a:solidFill>
                  <a:srgbClr val="DCE6F7"/>
                </a:solidFill>
                <a:latin typeface="微软雅黑" panose="020B0503020204020204" pitchFamily="34" charset="-122"/>
              </a:rPr>
              <a:t>终端命令</a:t>
            </a:r>
            <a:endParaRPr sz="1400" b="1" i="0" dirty="0">
              <a:solidFill>
                <a:srgbClr val="DCE6F7"/>
              </a:solidFill>
              <a:latin typeface="微软雅黑" panose="020B0503020204020204" pitchFamily="34" charset="-122"/>
            </a:endParaRPr>
          </a:p>
        </p:txBody>
      </p:sp>
      <p:sp>
        <p:nvSpPr>
          <p:cNvPr id="11" name="TextBox 10"/>
          <p:cNvSpPr txBox="1"/>
          <p:nvPr/>
        </p:nvSpPr>
        <p:spPr>
          <a:xfrm>
            <a:off x="1005840" y="2231136"/>
            <a:ext cx="10140696" cy="3611880"/>
          </a:xfrm>
          <a:prstGeom prst="rect">
            <a:avLst/>
          </a:prstGeom>
          <a:noFill/>
        </p:spPr>
        <p:txBody>
          <a:bodyPr wrap="square" lIns="18288" tIns="18288" rIns="18288" bIns="18288" anchor="t">
            <a:spAutoFit/>
          </a:bodyPr>
          <a:lstStyle/>
          <a:p>
            <a:pPr algn="l">
              <a:lnSpc>
                <a:spcPct val="100000"/>
              </a:lnSpc>
            </a:pPr>
            <a:r>
              <a:rPr sz="1600" b="0" i="0">
                <a:solidFill>
                  <a:srgbClr val="F2F5F8"/>
                </a:solidFill>
                <a:latin typeface="Consolas"/>
              </a:rPr>
              <a:t>python -m lerobot.train \</a:t>
            </a:r>
          </a:p>
          <a:p>
            <a:pPr algn="l">
              <a:lnSpc>
                <a:spcPct val="100000"/>
              </a:lnSpc>
            </a:pPr>
            <a:r>
              <a:rPr sz="1600" b="0" i="0">
                <a:solidFill>
                  <a:srgbClr val="F2F5F8"/>
                </a:solidFill>
                <a:latin typeface="Consolas"/>
              </a:rPr>
              <a:t>  --policy smolvla \</a:t>
            </a:r>
          </a:p>
          <a:p>
            <a:pPr algn="l">
              <a:lnSpc>
                <a:spcPct val="100000"/>
              </a:lnSpc>
            </a:pPr>
            <a:r>
              <a:rPr sz="1600" b="0" i="0">
                <a:solidFill>
                  <a:srgbClr val="F2F5F8"/>
                </a:solidFill>
                <a:latin typeface="Consolas"/>
              </a:rPr>
              <a:t>  --dataset so_arm101_pick_and_place \</a:t>
            </a:r>
          </a:p>
          <a:p>
            <a:pPr algn="l">
              <a:lnSpc>
                <a:spcPct val="100000"/>
              </a:lnSpc>
            </a:pPr>
            <a:r>
              <a:rPr sz="1600" b="0" i="0">
                <a:solidFill>
                  <a:srgbClr val="F2F5F8"/>
                </a:solidFill>
                <a:latin typeface="Consolas"/>
              </a:rPr>
              <a:t>  --lora_rank 16 \</a:t>
            </a:r>
          </a:p>
          <a:p>
            <a:pPr algn="l">
              <a:lnSpc>
                <a:spcPct val="100000"/>
              </a:lnSpc>
            </a:pPr>
            <a:r>
              <a:rPr sz="1600" b="0" i="0">
                <a:solidFill>
                  <a:srgbClr val="F2F5F8"/>
                </a:solidFill>
                <a:latin typeface="Consolas"/>
              </a:rPr>
              <a:t>  --batch_size 32 \</a:t>
            </a:r>
          </a:p>
          <a:p>
            <a:pPr algn="l">
              <a:lnSpc>
                <a:spcPct val="100000"/>
              </a:lnSpc>
            </a:pPr>
            <a:r>
              <a:rPr sz="1600" b="0" i="0">
                <a:solidFill>
                  <a:srgbClr val="F2F5F8"/>
                </a:solidFill>
                <a:latin typeface="Consolas"/>
              </a:rPr>
              <a:t>  --learning_rate 2e-4 \</a:t>
            </a:r>
          </a:p>
          <a:p>
            <a:pPr algn="l">
              <a:lnSpc>
                <a:spcPct val="100000"/>
              </a:lnSpc>
            </a:pPr>
            <a:r>
              <a:rPr sz="1600" b="0" i="0">
                <a:solidFill>
                  <a:srgbClr val="F2F5F8"/>
                </a:solidFill>
                <a:latin typeface="Consolas"/>
              </a:rPr>
              <a:t>  --num_epochs 3 \</a:t>
            </a:r>
          </a:p>
          <a:p>
            <a:pPr algn="l">
              <a:lnSpc>
                <a:spcPct val="100000"/>
              </a:lnSpc>
            </a:pPr>
            <a:r>
              <a:rPr sz="1600" b="0" i="0">
                <a:solidFill>
                  <a:srgbClr val="F2F5F8"/>
                </a:solidFill>
                <a:latin typeface="Consolas"/>
              </a:rPr>
              <a:t>  --output_dir logs/smolvla_so_arm101</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126</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训练过程：关注收敛速度与任务成功率</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786384" y="1691640"/>
            <a:ext cx="10378440" cy="4069080"/>
          </a:xfrm>
          <a:prstGeom prst="rect">
            <a:avLst/>
          </a:prstGeom>
          <a:noFill/>
        </p:spPr>
        <p:txBody>
          <a:bodyPr wrap="square" lIns="18288" tIns="18288" rIns="18288" bIns="18288">
            <a:spAutoFit/>
          </a:bodyPr>
          <a:lstStyle/>
          <a:p>
            <a:pPr algn="l">
              <a:lnSpc>
                <a:spcPct val="112000"/>
              </a:lnSpc>
              <a:spcAft>
                <a:spcPts val="576"/>
              </a:spcAft>
            </a:pPr>
            <a:r>
              <a:rPr sz="2050">
                <a:solidFill>
                  <a:srgbClr val="222833"/>
                </a:solidFill>
                <a:latin typeface="微软雅黑"/>
              </a:rPr>
              <a:t>• Isaac Sim 窗口可实时显示多个机械臂并行学习。</a:t>
            </a:r>
          </a:p>
          <a:p>
            <a:pPr algn="l">
              <a:lnSpc>
                <a:spcPct val="112000"/>
              </a:lnSpc>
              <a:spcAft>
                <a:spcPts val="576"/>
              </a:spcAft>
            </a:pPr>
            <a:r>
              <a:rPr sz="2050">
                <a:solidFill>
                  <a:srgbClr val="222833"/>
                </a:solidFill>
                <a:latin typeface="微软雅黑"/>
              </a:rPr>
              <a:t>• 训练脚本自动记录损失曲线与任务成功率。</a:t>
            </a:r>
          </a:p>
          <a:p>
            <a:pPr algn="l">
              <a:lnSpc>
                <a:spcPct val="112000"/>
              </a:lnSpc>
              <a:spcAft>
                <a:spcPts val="576"/>
              </a:spcAft>
            </a:pPr>
            <a:r>
              <a:rPr sz="2050">
                <a:solidFill>
                  <a:srgbClr val="222833"/>
                </a:solidFill>
                <a:latin typeface="微软雅黑"/>
              </a:rPr>
              <a:t>• 教材示例指出，在消费级 GPU（如 RTX 4070）上微调通常可在 30～60 min 范围内收敛。</a:t>
            </a:r>
          </a:p>
          <a:p>
            <a:pPr algn="l">
              <a:lnSpc>
                <a:spcPct val="112000"/>
              </a:lnSpc>
              <a:spcAft>
                <a:spcPts val="576"/>
              </a:spcAft>
            </a:pPr>
            <a:r>
              <a:rPr sz="2050">
                <a:solidFill>
                  <a:srgbClr val="222833"/>
                </a:solidFill>
                <a:latin typeface="微软雅黑"/>
              </a:rPr>
              <a:t>• 实际训练时间仍取决于硬件、数据规模、并行环境数与实现版本。</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127</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步骤</a:t>
            </a:r>
            <a:r>
              <a:rPr sz="3500" b="1" i="0" dirty="0">
                <a:solidFill>
                  <a:srgbClr val="24477D"/>
                </a:solidFill>
                <a:latin typeface="微软雅黑" panose="020B0503020204020204" pitchFamily="34" charset="-122"/>
              </a:rPr>
              <a:t> 4：策略测试</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749808" y="1572768"/>
            <a:ext cx="10652760" cy="4617720"/>
          </a:xfrm>
          <a:prstGeom prst="roundRect">
            <a:avLst>
              <a:gd name="adj" fmla="val 2440"/>
            </a:avLst>
          </a:prstGeom>
          <a:solidFill>
            <a:srgbClr val="202834"/>
          </a:solidFill>
          <a:ln>
            <a:solidFill>
              <a:srgbClr val="202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005840" y="1773936"/>
            <a:ext cx="10140696" cy="249299"/>
          </a:xfrm>
          <a:prstGeom prst="rect">
            <a:avLst/>
          </a:prstGeom>
          <a:noFill/>
        </p:spPr>
        <p:txBody>
          <a:bodyPr wrap="square" lIns="18288" tIns="18288" rIns="18288" bIns="18288" anchor="t">
            <a:spAutoFit/>
          </a:bodyPr>
          <a:lstStyle/>
          <a:p>
            <a:pPr algn="l">
              <a:lnSpc>
                <a:spcPct val="105000"/>
              </a:lnSpc>
            </a:pPr>
            <a:r>
              <a:rPr sz="1400" b="1" i="0" dirty="0" err="1">
                <a:solidFill>
                  <a:srgbClr val="DCE6F7"/>
                </a:solidFill>
                <a:latin typeface="微软雅黑" panose="020B0503020204020204" pitchFamily="34" charset="-122"/>
              </a:rPr>
              <a:t>终端命令</a:t>
            </a:r>
            <a:endParaRPr sz="1400" b="1" i="0" dirty="0">
              <a:solidFill>
                <a:srgbClr val="DCE6F7"/>
              </a:solidFill>
              <a:latin typeface="微软雅黑" panose="020B0503020204020204" pitchFamily="34" charset="-122"/>
            </a:endParaRPr>
          </a:p>
        </p:txBody>
      </p:sp>
      <p:sp>
        <p:nvSpPr>
          <p:cNvPr id="11" name="TextBox 10"/>
          <p:cNvSpPr txBox="1"/>
          <p:nvPr/>
        </p:nvSpPr>
        <p:spPr>
          <a:xfrm>
            <a:off x="1005840" y="2231136"/>
            <a:ext cx="10140696" cy="3611880"/>
          </a:xfrm>
          <a:prstGeom prst="rect">
            <a:avLst/>
          </a:prstGeom>
          <a:noFill/>
        </p:spPr>
        <p:txBody>
          <a:bodyPr wrap="square" lIns="18288" tIns="18288" rIns="18288" bIns="18288" anchor="t">
            <a:spAutoFit/>
          </a:bodyPr>
          <a:lstStyle/>
          <a:p>
            <a:pPr algn="l">
              <a:lnSpc>
                <a:spcPct val="100000"/>
              </a:lnSpc>
            </a:pPr>
            <a:r>
              <a:rPr sz="1600" b="0" i="0">
                <a:solidFill>
                  <a:srgbClr val="F2F5F8"/>
                </a:solidFill>
                <a:latin typeface="Consolas"/>
              </a:rPr>
              <a:t>python -m lerobot.play \</a:t>
            </a:r>
          </a:p>
          <a:p>
            <a:pPr algn="l">
              <a:lnSpc>
                <a:spcPct val="100000"/>
              </a:lnSpc>
            </a:pPr>
            <a:r>
              <a:rPr sz="1600" b="0" i="0">
                <a:solidFill>
                  <a:srgbClr val="F2F5F8"/>
                </a:solidFill>
                <a:latin typeface="Consolas"/>
              </a:rPr>
              <a:t>  --task SO-ARM101-PickAndPlace-Play-v0 \</a:t>
            </a:r>
          </a:p>
          <a:p>
            <a:pPr algn="l">
              <a:lnSpc>
                <a:spcPct val="100000"/>
              </a:lnSpc>
            </a:pPr>
            <a:r>
              <a:rPr sz="1600" b="0" i="0">
                <a:solidFill>
                  <a:srgbClr val="F2F5F8"/>
                </a:solidFill>
                <a:latin typeface="Consolas"/>
              </a:rPr>
              <a:t>  --policy_path logs/smolvla_so_arm101/checkpoint-latest \</a:t>
            </a:r>
          </a:p>
          <a:p>
            <a:pPr algn="l">
              <a:lnSpc>
                <a:spcPct val="100000"/>
              </a:lnSpc>
            </a:pPr>
            <a:r>
              <a:rPr sz="1600" b="0" i="0">
                <a:solidFill>
                  <a:srgbClr val="F2F5F8"/>
                </a:solidFill>
                <a:latin typeface="Consolas"/>
              </a:rPr>
              <a:t>  --instruction "把红苹果放到篮子里"</a:t>
            </a:r>
          </a:p>
          <a:p>
            <a:pPr algn="l">
              <a:lnSpc>
                <a:spcPct val="100000"/>
              </a:lnSpc>
            </a:pPr>
            <a:endParaRPr sz="1600" b="0" i="0">
              <a:solidFill>
                <a:srgbClr val="F2F5F8"/>
              </a:solidFill>
              <a:latin typeface="Consolas"/>
            </a:endParaRPr>
          </a:p>
          <a:p>
            <a:pPr algn="l">
              <a:lnSpc>
                <a:spcPct val="100000"/>
              </a:lnSpc>
            </a:pPr>
            <a:r>
              <a:rPr sz="1600" b="0" i="0">
                <a:solidFill>
                  <a:srgbClr val="F2F5F8"/>
                </a:solidFill>
                <a:latin typeface="Consolas"/>
              </a:rPr>
              <a:t># 测试时：视觉输入 + 自然语言指令 → 动作序列</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128</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err="1">
                <a:solidFill>
                  <a:srgbClr val="24477D"/>
                </a:solidFill>
                <a:latin typeface="微软雅黑" panose="020B0503020204020204" pitchFamily="34" charset="-122"/>
              </a:rPr>
              <a:t>真实硬件部署：从仿真切换到</a:t>
            </a:r>
            <a:r>
              <a:rPr sz="3500" b="1" i="0" dirty="0">
                <a:solidFill>
                  <a:srgbClr val="24477D"/>
                </a:solidFill>
                <a:latin typeface="微软雅黑" panose="020B0503020204020204" pitchFamily="34" charset="-122"/>
              </a:rPr>
              <a:t> SO-ARM101</a:t>
            </a: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Rounded Rectangle 8"/>
          <p:cNvSpPr/>
          <p:nvPr/>
        </p:nvSpPr>
        <p:spPr>
          <a:xfrm>
            <a:off x="658368" y="1856231"/>
            <a:ext cx="2560320" cy="2834640"/>
          </a:xfrm>
          <a:prstGeom prst="roundRect">
            <a:avLst>
              <a:gd name="adj" fmla="val 2977"/>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658368" y="1856231"/>
            <a:ext cx="64008" cy="283464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68680" y="2002536"/>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31599B"/>
                </a:solidFill>
                <a:latin typeface="微软雅黑" panose="020B0503020204020204" pitchFamily="34" charset="-122"/>
              </a:rPr>
              <a:t>导出模型</a:t>
            </a:r>
            <a:endParaRPr sz="1800" b="1" i="0" dirty="0">
              <a:solidFill>
                <a:srgbClr val="31599B"/>
              </a:solidFill>
              <a:latin typeface="微软雅黑" panose="020B0503020204020204" pitchFamily="34" charset="-122"/>
            </a:endParaRPr>
          </a:p>
        </p:txBody>
      </p:sp>
      <p:sp>
        <p:nvSpPr>
          <p:cNvPr id="12" name="TextBox 11"/>
          <p:cNvSpPr txBox="1"/>
          <p:nvPr/>
        </p:nvSpPr>
        <p:spPr>
          <a:xfrm>
            <a:off x="868680" y="2514600"/>
            <a:ext cx="2176272" cy="551177"/>
          </a:xfrm>
          <a:prstGeom prst="rect">
            <a:avLst/>
          </a:prstGeom>
          <a:noFill/>
        </p:spPr>
        <p:txBody>
          <a:bodyPr wrap="square" lIns="18288" tIns="18288" rIns="18288" bIns="18288" anchor="t">
            <a:spAutoFit/>
          </a:bodyPr>
          <a:lstStyle/>
          <a:p>
            <a:pPr algn="l">
              <a:lnSpc>
                <a:spcPct val="108000"/>
              </a:lnSpc>
            </a:pPr>
            <a:r>
              <a:rPr sz="1600" b="0" i="0" dirty="0" err="1">
                <a:solidFill>
                  <a:srgbClr val="222833"/>
                </a:solidFill>
                <a:latin typeface="微软雅黑"/>
              </a:rPr>
              <a:t>把微调后策略导出为</a:t>
            </a:r>
            <a:r>
              <a:rPr sz="1600" b="0" i="0" dirty="0">
                <a:solidFill>
                  <a:srgbClr val="222833"/>
                </a:solidFill>
                <a:latin typeface="微软雅黑"/>
              </a:rPr>
              <a:t> ONNX </a:t>
            </a:r>
            <a:r>
              <a:rPr sz="1600" b="0" i="0" dirty="0" err="1">
                <a:solidFill>
                  <a:srgbClr val="222833"/>
                </a:solidFill>
                <a:latin typeface="微软雅黑"/>
              </a:rPr>
              <a:t>格式</a:t>
            </a:r>
            <a:endParaRPr sz="1600" b="0" i="0" dirty="0">
              <a:solidFill>
                <a:srgbClr val="222833"/>
              </a:solidFill>
              <a:latin typeface="微软雅黑"/>
            </a:endParaRPr>
          </a:p>
        </p:txBody>
      </p:sp>
      <p:sp>
        <p:nvSpPr>
          <p:cNvPr id="13" name="Rounded Rectangle 12"/>
          <p:cNvSpPr/>
          <p:nvPr/>
        </p:nvSpPr>
        <p:spPr>
          <a:xfrm>
            <a:off x="3429000" y="1856231"/>
            <a:ext cx="2560320" cy="2834640"/>
          </a:xfrm>
          <a:prstGeom prst="roundRect">
            <a:avLst>
              <a:gd name="adj" fmla="val 2976"/>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3429000" y="1856231"/>
            <a:ext cx="64008" cy="283464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3639312" y="2002536"/>
            <a:ext cx="2176272" cy="310021"/>
          </a:xfrm>
          <a:prstGeom prst="rect">
            <a:avLst/>
          </a:prstGeom>
          <a:noFill/>
        </p:spPr>
        <p:txBody>
          <a:bodyPr wrap="square" lIns="18288" tIns="18288" rIns="18288" bIns="18288" anchor="t">
            <a:spAutoFit/>
          </a:bodyPr>
          <a:lstStyle/>
          <a:p>
            <a:pPr algn="l">
              <a:lnSpc>
                <a:spcPct val="105000"/>
              </a:lnSpc>
            </a:pPr>
            <a:r>
              <a:rPr sz="1800" b="1" i="0" dirty="0">
                <a:solidFill>
                  <a:srgbClr val="2F8E72"/>
                </a:solidFill>
                <a:latin typeface="微软雅黑" panose="020B0503020204020204" pitchFamily="34" charset="-122"/>
              </a:rPr>
              <a:t>10 Hz </a:t>
            </a:r>
            <a:r>
              <a:rPr sz="1800" b="1" i="0" dirty="0" err="1">
                <a:solidFill>
                  <a:srgbClr val="2F8E72"/>
                </a:solidFill>
                <a:latin typeface="微软雅黑" panose="020B0503020204020204" pitchFamily="34" charset="-122"/>
              </a:rPr>
              <a:t>推理</a:t>
            </a:r>
            <a:endParaRPr sz="1800" b="1" i="0" dirty="0">
              <a:solidFill>
                <a:srgbClr val="2F8E72"/>
              </a:solidFill>
              <a:latin typeface="微软雅黑" panose="020B0503020204020204" pitchFamily="34" charset="-122"/>
            </a:endParaRPr>
          </a:p>
        </p:txBody>
      </p:sp>
      <p:sp>
        <p:nvSpPr>
          <p:cNvPr id="16" name="TextBox 15"/>
          <p:cNvSpPr txBox="1"/>
          <p:nvPr/>
        </p:nvSpPr>
        <p:spPr>
          <a:xfrm>
            <a:off x="3639312" y="2514600"/>
            <a:ext cx="2176272" cy="817083"/>
          </a:xfrm>
          <a:prstGeom prst="rect">
            <a:avLst/>
          </a:prstGeom>
          <a:noFill/>
        </p:spPr>
        <p:txBody>
          <a:bodyPr wrap="square" lIns="18288" tIns="18288" rIns="18288" bIns="18288" anchor="t">
            <a:spAutoFit/>
          </a:bodyPr>
          <a:lstStyle/>
          <a:p>
            <a:pPr algn="l">
              <a:lnSpc>
                <a:spcPct val="108000"/>
              </a:lnSpc>
            </a:pPr>
            <a:r>
              <a:rPr sz="1600" b="0" i="0" dirty="0" err="1">
                <a:solidFill>
                  <a:srgbClr val="222833"/>
                </a:solidFill>
                <a:latin typeface="微软雅黑"/>
              </a:rPr>
              <a:t>在真实</a:t>
            </a:r>
            <a:r>
              <a:rPr sz="1600" b="0" i="0" dirty="0">
                <a:solidFill>
                  <a:srgbClr val="222833"/>
                </a:solidFill>
                <a:latin typeface="微软雅黑"/>
              </a:rPr>
              <a:t> SO-ARM101 </a:t>
            </a:r>
            <a:r>
              <a:rPr sz="1600" b="0" i="0" dirty="0" err="1">
                <a:solidFill>
                  <a:srgbClr val="222833"/>
                </a:solidFill>
                <a:latin typeface="微软雅黑"/>
              </a:rPr>
              <a:t>上以约</a:t>
            </a:r>
            <a:r>
              <a:rPr sz="1600" b="0" i="0" dirty="0">
                <a:solidFill>
                  <a:srgbClr val="222833"/>
                </a:solidFill>
                <a:latin typeface="微软雅黑"/>
              </a:rPr>
              <a:t> 10 Hz </a:t>
            </a:r>
            <a:r>
              <a:rPr sz="1600" b="0" i="0" dirty="0" err="1">
                <a:solidFill>
                  <a:srgbClr val="222833"/>
                </a:solidFill>
                <a:latin typeface="微软雅黑"/>
              </a:rPr>
              <a:t>运行推理脚本</a:t>
            </a:r>
            <a:endParaRPr sz="1600" b="0" i="0" dirty="0">
              <a:solidFill>
                <a:srgbClr val="222833"/>
              </a:solidFill>
              <a:latin typeface="微软雅黑"/>
            </a:endParaRPr>
          </a:p>
        </p:txBody>
      </p:sp>
      <p:sp>
        <p:nvSpPr>
          <p:cNvPr id="17" name="Rounded Rectangle 16"/>
          <p:cNvSpPr/>
          <p:nvPr/>
        </p:nvSpPr>
        <p:spPr>
          <a:xfrm>
            <a:off x="6199631" y="1856231"/>
            <a:ext cx="2560320" cy="2834640"/>
          </a:xfrm>
          <a:prstGeom prst="roundRect">
            <a:avLst>
              <a:gd name="adj" fmla="val 1786"/>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6199631" y="1856231"/>
            <a:ext cx="64008" cy="283464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6409944" y="2002536"/>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C58A24"/>
                </a:solidFill>
                <a:latin typeface="微软雅黑" panose="020B0503020204020204" pitchFamily="34" charset="-122"/>
              </a:rPr>
              <a:t>低级控制器</a:t>
            </a:r>
            <a:endParaRPr sz="1800" b="1" i="0" dirty="0">
              <a:solidFill>
                <a:srgbClr val="C58A24"/>
              </a:solidFill>
              <a:latin typeface="微软雅黑" panose="020B0503020204020204" pitchFamily="34" charset="-122"/>
            </a:endParaRPr>
          </a:p>
        </p:txBody>
      </p:sp>
      <p:sp>
        <p:nvSpPr>
          <p:cNvPr id="20" name="TextBox 19"/>
          <p:cNvSpPr txBox="1"/>
          <p:nvPr/>
        </p:nvSpPr>
        <p:spPr>
          <a:xfrm>
            <a:off x="6409944" y="2514600"/>
            <a:ext cx="2176272" cy="551177"/>
          </a:xfrm>
          <a:prstGeom prst="rect">
            <a:avLst/>
          </a:prstGeom>
          <a:noFill/>
        </p:spPr>
        <p:txBody>
          <a:bodyPr wrap="square" lIns="18288" tIns="18288" rIns="18288" bIns="18288" anchor="t">
            <a:spAutoFit/>
          </a:bodyPr>
          <a:lstStyle/>
          <a:p>
            <a:pPr algn="l">
              <a:lnSpc>
                <a:spcPct val="108000"/>
              </a:lnSpc>
            </a:pPr>
            <a:r>
              <a:rPr sz="1600" b="0" i="0" dirty="0" err="1">
                <a:solidFill>
                  <a:srgbClr val="222833"/>
                </a:solidFill>
                <a:latin typeface="微软雅黑"/>
              </a:rPr>
              <a:t>将模型输出转换为稳定的关节</a:t>
            </a:r>
            <a:r>
              <a:rPr sz="1600" b="0" i="0" dirty="0">
                <a:solidFill>
                  <a:srgbClr val="222833"/>
                </a:solidFill>
                <a:latin typeface="微软雅黑"/>
              </a:rPr>
              <a:t> / </a:t>
            </a:r>
            <a:r>
              <a:rPr sz="1600" b="0" i="0" dirty="0" err="1">
                <a:solidFill>
                  <a:srgbClr val="222833"/>
                </a:solidFill>
                <a:latin typeface="微软雅黑"/>
              </a:rPr>
              <a:t>末端控制</a:t>
            </a:r>
            <a:endParaRPr sz="1600" b="0" i="0" dirty="0">
              <a:solidFill>
                <a:srgbClr val="222833"/>
              </a:solidFill>
              <a:latin typeface="微软雅黑"/>
            </a:endParaRPr>
          </a:p>
        </p:txBody>
      </p:sp>
      <p:sp>
        <p:nvSpPr>
          <p:cNvPr id="21" name="Rounded Rectangle 20"/>
          <p:cNvSpPr/>
          <p:nvPr/>
        </p:nvSpPr>
        <p:spPr>
          <a:xfrm>
            <a:off x="8970264" y="1856231"/>
            <a:ext cx="2560320" cy="2834640"/>
          </a:xfrm>
          <a:prstGeom prst="roundRect">
            <a:avLst>
              <a:gd name="adj" fmla="val 3125"/>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8970264" y="1856231"/>
            <a:ext cx="64008" cy="283464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9180576" y="2002536"/>
            <a:ext cx="2176272" cy="310021"/>
          </a:xfrm>
          <a:prstGeom prst="rect">
            <a:avLst/>
          </a:prstGeom>
          <a:noFill/>
        </p:spPr>
        <p:txBody>
          <a:bodyPr wrap="square" lIns="18288" tIns="18288" rIns="18288" bIns="18288" anchor="t">
            <a:spAutoFit/>
          </a:bodyPr>
          <a:lstStyle/>
          <a:p>
            <a:pPr algn="l">
              <a:lnSpc>
                <a:spcPct val="105000"/>
              </a:lnSpc>
            </a:pPr>
            <a:r>
              <a:rPr sz="1800" b="1" i="0" dirty="0" err="1">
                <a:solidFill>
                  <a:srgbClr val="C63F45"/>
                </a:solidFill>
                <a:latin typeface="微软雅黑" panose="020B0503020204020204" pitchFamily="34" charset="-122"/>
              </a:rPr>
              <a:t>安全验证</a:t>
            </a:r>
            <a:endParaRPr sz="1800" b="1" i="0" dirty="0">
              <a:solidFill>
                <a:srgbClr val="C63F45"/>
              </a:solidFill>
              <a:latin typeface="微软雅黑" panose="020B0503020204020204" pitchFamily="34" charset="-122"/>
            </a:endParaRPr>
          </a:p>
        </p:txBody>
      </p:sp>
      <p:sp>
        <p:nvSpPr>
          <p:cNvPr id="24" name="TextBox 23"/>
          <p:cNvSpPr txBox="1"/>
          <p:nvPr/>
        </p:nvSpPr>
        <p:spPr>
          <a:xfrm>
            <a:off x="9180576" y="2514600"/>
            <a:ext cx="2176272" cy="551177"/>
          </a:xfrm>
          <a:prstGeom prst="rect">
            <a:avLst/>
          </a:prstGeom>
          <a:noFill/>
        </p:spPr>
        <p:txBody>
          <a:bodyPr wrap="square" lIns="18288" tIns="18288" rIns="18288" bIns="18288" anchor="t">
            <a:spAutoFit/>
          </a:bodyPr>
          <a:lstStyle/>
          <a:p>
            <a:pPr algn="l">
              <a:lnSpc>
                <a:spcPct val="108000"/>
              </a:lnSpc>
            </a:pPr>
            <a:r>
              <a:rPr sz="1600" b="0" i="0" dirty="0" err="1">
                <a:solidFill>
                  <a:srgbClr val="222833"/>
                </a:solidFill>
                <a:latin typeface="微软雅黑"/>
              </a:rPr>
              <a:t>建议先在仿真中验证，再切换到真实硬件</a:t>
            </a:r>
            <a:endParaRPr sz="1600" b="0" i="0" dirty="0">
              <a:solidFill>
                <a:srgbClr val="222833"/>
              </a:solidFill>
              <a:latin typeface="微软雅黑"/>
            </a:endParaRPr>
          </a:p>
        </p:txBody>
      </p:sp>
      <p:sp>
        <p:nvSpPr>
          <p:cNvPr id="25" name="TextBox 24"/>
          <p:cNvSpPr txBox="1"/>
          <p:nvPr/>
        </p:nvSpPr>
        <p:spPr>
          <a:xfrm>
            <a:off x="868680" y="5230368"/>
            <a:ext cx="10149840" cy="325217"/>
          </a:xfrm>
          <a:prstGeom prst="rect">
            <a:avLst/>
          </a:prstGeom>
          <a:noFill/>
        </p:spPr>
        <p:txBody>
          <a:bodyPr wrap="square" lIns="18288" tIns="18288" rIns="18288" bIns="18288" anchor="t">
            <a:spAutoFit/>
          </a:bodyPr>
          <a:lstStyle/>
          <a:p>
            <a:pPr algn="ctr">
              <a:lnSpc>
                <a:spcPct val="105000"/>
              </a:lnSpc>
            </a:pPr>
            <a:r>
              <a:rPr sz="1900" b="1" i="0" dirty="0" err="1">
                <a:solidFill>
                  <a:srgbClr val="24477D"/>
                </a:solidFill>
                <a:latin typeface="微软雅黑" panose="020B0503020204020204" pitchFamily="34" charset="-122"/>
              </a:rPr>
              <a:t>案例最终目标：体验从多模态感知与决策到真实动作执行的端到端链路</a:t>
            </a:r>
            <a:r>
              <a:rPr sz="1900" b="1" i="0" dirty="0">
                <a:solidFill>
                  <a:srgbClr val="24477D"/>
                </a:solidFill>
                <a:latin typeface="微软雅黑" panose="020B0503020204020204" pitchFamily="34" charset="-122"/>
              </a:rPr>
              <a:t>。</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ea typeface="微软雅黑" panose="020B0503020204020204" pitchFamily="34" charset="-122"/>
              </a:rPr>
              <a:t>具身智能导论</a:t>
            </a:r>
            <a:r>
              <a:rPr sz="1000" b="0" i="0" dirty="0">
                <a:solidFill>
                  <a:srgbClr val="8C98AA"/>
                </a:solidFill>
                <a:latin typeface="微软雅黑" panose="020B0503020204020204" pitchFamily="34" charset="-122"/>
                <a:ea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ea typeface="微软雅黑" panose="020B0503020204020204" pitchFamily="34" charset="-122"/>
              </a:rPr>
              <a:t>视觉－语言－动作模型</a:t>
            </a:r>
            <a:endParaRPr sz="1000" b="0" i="0" dirty="0">
              <a:solidFill>
                <a:srgbClr val="8C98AA"/>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ea typeface="微软雅黑" panose="020B0503020204020204" pitchFamily="34" charset="-122"/>
              </a:rPr>
              <a:t>129</a:t>
            </a:r>
          </a:p>
        </p:txBody>
      </p:sp>
      <p:sp>
        <p:nvSpPr>
          <p:cNvPr id="7" name="TextBox 6"/>
          <p:cNvSpPr txBox="1"/>
          <p:nvPr/>
        </p:nvSpPr>
        <p:spPr>
          <a:xfrm>
            <a:off x="502920" y="515586"/>
            <a:ext cx="10927080" cy="57817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ea typeface="微软雅黑" panose="020B0503020204020204" pitchFamily="34" charset="-122"/>
              </a:rPr>
              <a:t>7.7 </a:t>
            </a:r>
            <a:r>
              <a:rPr sz="3500" b="1" i="0" dirty="0" err="1">
                <a:solidFill>
                  <a:srgbClr val="24477D"/>
                </a:solidFill>
                <a:latin typeface="微软雅黑" panose="020B0503020204020204" pitchFamily="34" charset="-122"/>
                <a:ea typeface="微软雅黑" panose="020B0503020204020204" pitchFamily="34" charset="-122"/>
              </a:rPr>
              <a:t>案例</a:t>
            </a:r>
            <a:r>
              <a:rPr lang="zh-CN" altLang="en-US" sz="3500" b="1" i="0" dirty="0">
                <a:solidFill>
                  <a:srgbClr val="24477D"/>
                </a:solidFill>
                <a:latin typeface="微软雅黑" panose="020B0503020204020204" pitchFamily="34" charset="-122"/>
                <a:ea typeface="微软雅黑" panose="020B0503020204020204" pitchFamily="34" charset="-122"/>
              </a:rPr>
              <a:t>要点</a:t>
            </a:r>
            <a:endParaRPr sz="3500" b="1" i="0" dirty="0">
              <a:solidFill>
                <a:srgbClr val="24477D"/>
              </a:solidFill>
              <a:latin typeface="微软雅黑" panose="020B0503020204020204" pitchFamily="34" charset="-122"/>
              <a:ea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9" name="Rounded Rectangle 8"/>
          <p:cNvSpPr/>
          <p:nvPr/>
        </p:nvSpPr>
        <p:spPr>
          <a:xfrm>
            <a:off x="804672" y="169164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0" name="Rectangle 9"/>
          <p:cNvSpPr/>
          <p:nvPr/>
        </p:nvSpPr>
        <p:spPr>
          <a:xfrm>
            <a:off x="804672" y="1691640"/>
            <a:ext cx="64008" cy="86868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a typeface="微软雅黑" panose="020B0503020204020204" pitchFamily="34" charset="-122"/>
            </a:endParaRPr>
          </a:p>
        </p:txBody>
      </p:sp>
      <p:sp>
        <p:nvSpPr>
          <p:cNvPr id="11" name="TextBox 10"/>
          <p:cNvSpPr txBox="1"/>
          <p:nvPr/>
        </p:nvSpPr>
        <p:spPr>
          <a:xfrm>
            <a:off x="1033271" y="1801368"/>
            <a:ext cx="2011680" cy="401007"/>
          </a:xfrm>
          <a:prstGeom prst="rect">
            <a:avLst/>
          </a:prstGeom>
          <a:noFill/>
        </p:spPr>
        <p:txBody>
          <a:bodyPr wrap="square" lIns="18288" tIns="18288" rIns="18288" bIns="18288" anchor="t">
            <a:spAutoFit/>
          </a:bodyPr>
          <a:lstStyle/>
          <a:p>
            <a:pPr algn="l">
              <a:lnSpc>
                <a:spcPct val="105000"/>
              </a:lnSpc>
            </a:pPr>
            <a:r>
              <a:rPr sz="2400" b="1" i="0" dirty="0" err="1">
                <a:solidFill>
                  <a:srgbClr val="31599B"/>
                </a:solidFill>
                <a:latin typeface="微软雅黑" panose="020B0503020204020204" pitchFamily="34" charset="-122"/>
                <a:ea typeface="微软雅黑" panose="020B0503020204020204" pitchFamily="34" charset="-122"/>
              </a:rPr>
              <a:t>框架</a:t>
            </a:r>
            <a:endParaRPr sz="2400" b="1" i="0" dirty="0">
              <a:solidFill>
                <a:srgbClr val="31599B"/>
              </a:solidFill>
              <a:latin typeface="微软雅黑" panose="020B0503020204020204" pitchFamily="34" charset="-122"/>
              <a:ea typeface="微软雅黑" panose="020B0503020204020204" pitchFamily="34" charset="-122"/>
            </a:endParaRPr>
          </a:p>
        </p:txBody>
      </p:sp>
      <p:sp>
        <p:nvSpPr>
          <p:cNvPr id="12" name="TextBox 11"/>
          <p:cNvSpPr txBox="1"/>
          <p:nvPr/>
        </p:nvSpPr>
        <p:spPr>
          <a:xfrm>
            <a:off x="2727960" y="1708190"/>
            <a:ext cx="8092440" cy="788806"/>
          </a:xfrm>
          <a:prstGeom prst="rect">
            <a:avLst/>
          </a:prstGeom>
          <a:noFill/>
        </p:spPr>
        <p:txBody>
          <a:bodyPr wrap="square" lIns="18288" tIns="18288" rIns="18288" bIns="18288" anchor="ctr">
            <a:spAutoFit/>
          </a:bodyPr>
          <a:lstStyle/>
          <a:p>
            <a:pPr algn="l">
              <a:lnSpc>
                <a:spcPct val="105000"/>
              </a:lnSpc>
            </a:pPr>
            <a:r>
              <a:rPr sz="2400" b="0" i="0" dirty="0" err="1">
                <a:solidFill>
                  <a:srgbClr val="222833"/>
                </a:solidFill>
                <a:latin typeface="微软雅黑" panose="020B0503020204020204" pitchFamily="34" charset="-122"/>
                <a:ea typeface="微软雅黑" panose="020B0503020204020204" pitchFamily="34" charset="-122"/>
              </a:rPr>
              <a:t>LeRobot</a:t>
            </a:r>
            <a:r>
              <a:rPr sz="2400" b="0" i="0" dirty="0">
                <a:solidFill>
                  <a:srgbClr val="222833"/>
                </a:solidFill>
                <a:latin typeface="微软雅黑" panose="020B0503020204020204" pitchFamily="34" charset="-122"/>
                <a:ea typeface="微软雅黑" panose="020B0503020204020204" pitchFamily="34" charset="-122"/>
              </a:rPr>
              <a:t> </a:t>
            </a:r>
            <a:r>
              <a:rPr sz="2400" b="0" i="0" dirty="0" err="1">
                <a:solidFill>
                  <a:srgbClr val="222833"/>
                </a:solidFill>
                <a:latin typeface="微软雅黑" panose="020B0503020204020204" pitchFamily="34" charset="-122"/>
                <a:ea typeface="微软雅黑" panose="020B0503020204020204" pitchFamily="34" charset="-122"/>
              </a:rPr>
              <a:t>提供</a:t>
            </a:r>
            <a:r>
              <a:rPr sz="2400" b="0" i="0" dirty="0">
                <a:solidFill>
                  <a:srgbClr val="222833"/>
                </a:solidFill>
                <a:latin typeface="微软雅黑" panose="020B0503020204020204" pitchFamily="34" charset="-122"/>
                <a:ea typeface="微软雅黑" panose="020B0503020204020204" pitchFamily="34" charset="-122"/>
              </a:rPr>
              <a:t> VLA </a:t>
            </a:r>
            <a:r>
              <a:rPr sz="2400" b="0" i="0" dirty="0" err="1">
                <a:solidFill>
                  <a:srgbClr val="222833"/>
                </a:solidFill>
                <a:latin typeface="微软雅黑" panose="020B0503020204020204" pitchFamily="34" charset="-122"/>
                <a:ea typeface="微软雅黑" panose="020B0503020204020204" pitchFamily="34" charset="-122"/>
              </a:rPr>
              <a:t>训练与机器人数据接口，Isaac</a:t>
            </a:r>
            <a:r>
              <a:rPr sz="2400" b="0" i="0" dirty="0">
                <a:solidFill>
                  <a:srgbClr val="222833"/>
                </a:solidFill>
                <a:latin typeface="微软雅黑" panose="020B0503020204020204" pitchFamily="34" charset="-122"/>
                <a:ea typeface="微软雅黑" panose="020B0503020204020204" pitchFamily="34" charset="-122"/>
              </a:rPr>
              <a:t> Lab </a:t>
            </a:r>
            <a:r>
              <a:rPr sz="2400" b="0" i="0" dirty="0" err="1">
                <a:solidFill>
                  <a:srgbClr val="222833"/>
                </a:solidFill>
                <a:latin typeface="微软雅黑" panose="020B0503020204020204" pitchFamily="34" charset="-122"/>
                <a:ea typeface="微软雅黑" panose="020B0503020204020204" pitchFamily="34" charset="-122"/>
              </a:rPr>
              <a:t>提供仿真环境</a:t>
            </a:r>
            <a:endParaRPr sz="2400" b="0" i="0" dirty="0">
              <a:solidFill>
                <a:srgbClr val="222833"/>
              </a:solidFill>
              <a:latin typeface="微软雅黑" panose="020B0503020204020204" pitchFamily="34" charset="-122"/>
              <a:ea typeface="微软雅黑" panose="020B0503020204020204" pitchFamily="34" charset="-122"/>
            </a:endParaRPr>
          </a:p>
        </p:txBody>
      </p:sp>
      <p:sp>
        <p:nvSpPr>
          <p:cNvPr id="13" name="Rounded Rectangle 12"/>
          <p:cNvSpPr/>
          <p:nvPr/>
        </p:nvSpPr>
        <p:spPr>
          <a:xfrm>
            <a:off x="804672" y="278892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4" name="Rectangle 13"/>
          <p:cNvSpPr/>
          <p:nvPr/>
        </p:nvSpPr>
        <p:spPr>
          <a:xfrm>
            <a:off x="804672" y="2788920"/>
            <a:ext cx="64008" cy="868680"/>
          </a:xfrm>
          <a:prstGeom prst="rect">
            <a:avLst/>
          </a:prstGeom>
          <a:solidFill>
            <a:srgbClr val="2F8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a typeface="微软雅黑" panose="020B0503020204020204" pitchFamily="34" charset="-122"/>
            </a:endParaRPr>
          </a:p>
        </p:txBody>
      </p:sp>
      <p:sp>
        <p:nvSpPr>
          <p:cNvPr id="15" name="TextBox 14"/>
          <p:cNvSpPr txBox="1"/>
          <p:nvPr/>
        </p:nvSpPr>
        <p:spPr>
          <a:xfrm>
            <a:off x="1033271" y="2898648"/>
            <a:ext cx="2011680" cy="401007"/>
          </a:xfrm>
          <a:prstGeom prst="rect">
            <a:avLst/>
          </a:prstGeom>
          <a:noFill/>
        </p:spPr>
        <p:txBody>
          <a:bodyPr wrap="square" lIns="18288" tIns="18288" rIns="18288" bIns="18288" anchor="t">
            <a:spAutoFit/>
          </a:bodyPr>
          <a:lstStyle/>
          <a:p>
            <a:pPr algn="l">
              <a:lnSpc>
                <a:spcPct val="105000"/>
              </a:lnSpc>
            </a:pPr>
            <a:r>
              <a:rPr sz="2400" b="1" i="0" dirty="0" err="1">
                <a:solidFill>
                  <a:srgbClr val="2F8E72"/>
                </a:solidFill>
                <a:latin typeface="微软雅黑" panose="020B0503020204020204" pitchFamily="34" charset="-122"/>
                <a:ea typeface="微软雅黑" panose="020B0503020204020204" pitchFamily="34" charset="-122"/>
              </a:rPr>
              <a:t>模型</a:t>
            </a:r>
            <a:endParaRPr sz="2400" b="1" i="0" dirty="0">
              <a:solidFill>
                <a:srgbClr val="2F8E72"/>
              </a:solidFill>
              <a:latin typeface="微软雅黑" panose="020B0503020204020204" pitchFamily="34" charset="-122"/>
              <a:ea typeface="微软雅黑" panose="020B0503020204020204" pitchFamily="34" charset="-122"/>
            </a:endParaRPr>
          </a:p>
        </p:txBody>
      </p:sp>
      <p:sp>
        <p:nvSpPr>
          <p:cNvPr id="16" name="TextBox 15"/>
          <p:cNvSpPr txBox="1"/>
          <p:nvPr/>
        </p:nvSpPr>
        <p:spPr>
          <a:xfrm>
            <a:off x="2880360" y="2917602"/>
            <a:ext cx="8092440" cy="401007"/>
          </a:xfrm>
          <a:prstGeom prst="rect">
            <a:avLst/>
          </a:prstGeom>
          <a:noFill/>
        </p:spPr>
        <p:txBody>
          <a:bodyPr wrap="square" lIns="18288" tIns="18288" rIns="18288" bIns="18288" anchor="ctr">
            <a:spAutoFit/>
          </a:bodyPr>
          <a:lstStyle/>
          <a:p>
            <a:pPr algn="l">
              <a:lnSpc>
                <a:spcPct val="105000"/>
              </a:lnSpc>
            </a:pPr>
            <a:r>
              <a:rPr sz="2400" b="0" i="0" dirty="0" err="1">
                <a:solidFill>
                  <a:srgbClr val="222833"/>
                </a:solidFill>
                <a:latin typeface="微软雅黑" panose="020B0503020204020204" pitchFamily="34" charset="-122"/>
                <a:ea typeface="微软雅黑" panose="020B0503020204020204" pitchFamily="34" charset="-122"/>
              </a:rPr>
              <a:t>SmolVLA</a:t>
            </a:r>
            <a:r>
              <a:rPr sz="2400" b="0" i="0" dirty="0">
                <a:solidFill>
                  <a:srgbClr val="222833"/>
                </a:solidFill>
                <a:latin typeface="微软雅黑" panose="020B0503020204020204" pitchFamily="34" charset="-122"/>
                <a:ea typeface="微软雅黑" panose="020B0503020204020204" pitchFamily="34" charset="-122"/>
              </a:rPr>
              <a:t> 以 450M </a:t>
            </a:r>
            <a:r>
              <a:rPr sz="2400" b="0" i="0" dirty="0" err="1">
                <a:solidFill>
                  <a:srgbClr val="222833"/>
                </a:solidFill>
                <a:latin typeface="微软雅黑" panose="020B0503020204020204" pitchFamily="34" charset="-122"/>
                <a:ea typeface="微软雅黑" panose="020B0503020204020204" pitchFamily="34" charset="-122"/>
              </a:rPr>
              <a:t>轻量规模和</a:t>
            </a:r>
            <a:r>
              <a:rPr sz="2400" b="0" i="0" dirty="0">
                <a:solidFill>
                  <a:srgbClr val="222833"/>
                </a:solidFill>
                <a:latin typeface="微软雅黑" panose="020B0503020204020204" pitchFamily="34" charset="-122"/>
                <a:ea typeface="微软雅黑" panose="020B0503020204020204" pitchFamily="34" charset="-122"/>
              </a:rPr>
              <a:t> </a:t>
            </a:r>
            <a:r>
              <a:rPr sz="2400" b="0" i="0" dirty="0" err="1">
                <a:solidFill>
                  <a:srgbClr val="222833"/>
                </a:solidFill>
                <a:latin typeface="微软雅黑" panose="020B0503020204020204" pitchFamily="34" charset="-122"/>
                <a:ea typeface="微软雅黑" panose="020B0503020204020204" pitchFamily="34" charset="-122"/>
              </a:rPr>
              <a:t>LoRA</a:t>
            </a:r>
            <a:r>
              <a:rPr sz="2400" b="0" i="0" dirty="0">
                <a:solidFill>
                  <a:srgbClr val="222833"/>
                </a:solidFill>
                <a:latin typeface="微软雅黑" panose="020B0503020204020204" pitchFamily="34" charset="-122"/>
                <a:ea typeface="微软雅黑" panose="020B0503020204020204" pitchFamily="34" charset="-122"/>
              </a:rPr>
              <a:t> </a:t>
            </a:r>
            <a:r>
              <a:rPr sz="2400" b="0" i="0" dirty="0" err="1">
                <a:solidFill>
                  <a:srgbClr val="222833"/>
                </a:solidFill>
                <a:latin typeface="微软雅黑" panose="020B0503020204020204" pitchFamily="34" charset="-122"/>
                <a:ea typeface="微软雅黑" panose="020B0503020204020204" pitchFamily="34" charset="-122"/>
              </a:rPr>
              <a:t>微调降低实验门槛</a:t>
            </a:r>
            <a:endParaRPr sz="2400" b="0" i="0" dirty="0">
              <a:solidFill>
                <a:srgbClr val="222833"/>
              </a:solidFill>
              <a:latin typeface="微软雅黑" panose="020B0503020204020204" pitchFamily="34" charset="-122"/>
              <a:ea typeface="微软雅黑" panose="020B0503020204020204" pitchFamily="34" charset="-122"/>
            </a:endParaRPr>
          </a:p>
        </p:txBody>
      </p:sp>
      <p:sp>
        <p:nvSpPr>
          <p:cNvPr id="17" name="Rounded Rectangle 16"/>
          <p:cNvSpPr/>
          <p:nvPr/>
        </p:nvSpPr>
        <p:spPr>
          <a:xfrm>
            <a:off x="804672" y="388620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8" name="Rectangle 17"/>
          <p:cNvSpPr/>
          <p:nvPr/>
        </p:nvSpPr>
        <p:spPr>
          <a:xfrm>
            <a:off x="804672" y="3886200"/>
            <a:ext cx="64008" cy="868680"/>
          </a:xfrm>
          <a:prstGeom prst="rect">
            <a:avLst/>
          </a:prstGeom>
          <a:solidFill>
            <a:srgbClr val="C58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a typeface="微软雅黑" panose="020B0503020204020204" pitchFamily="34" charset="-122"/>
            </a:endParaRPr>
          </a:p>
        </p:txBody>
      </p:sp>
      <p:sp>
        <p:nvSpPr>
          <p:cNvPr id="19" name="TextBox 18"/>
          <p:cNvSpPr txBox="1"/>
          <p:nvPr/>
        </p:nvSpPr>
        <p:spPr>
          <a:xfrm>
            <a:off x="1033271" y="3995928"/>
            <a:ext cx="2011680" cy="401007"/>
          </a:xfrm>
          <a:prstGeom prst="rect">
            <a:avLst/>
          </a:prstGeom>
          <a:noFill/>
        </p:spPr>
        <p:txBody>
          <a:bodyPr wrap="square" lIns="18288" tIns="18288" rIns="18288" bIns="18288" anchor="t">
            <a:spAutoFit/>
          </a:bodyPr>
          <a:lstStyle/>
          <a:p>
            <a:pPr algn="l">
              <a:lnSpc>
                <a:spcPct val="105000"/>
              </a:lnSpc>
            </a:pPr>
            <a:r>
              <a:rPr sz="2400" b="1" i="0" dirty="0" err="1">
                <a:solidFill>
                  <a:srgbClr val="C58A24"/>
                </a:solidFill>
                <a:latin typeface="微软雅黑" panose="020B0503020204020204" pitchFamily="34" charset="-122"/>
                <a:ea typeface="微软雅黑" panose="020B0503020204020204" pitchFamily="34" charset="-122"/>
              </a:rPr>
              <a:t>迁移</a:t>
            </a:r>
            <a:endParaRPr sz="2400" b="1" i="0" dirty="0">
              <a:solidFill>
                <a:srgbClr val="C58A24"/>
              </a:solidFill>
              <a:latin typeface="微软雅黑" panose="020B0503020204020204" pitchFamily="34" charset="-122"/>
              <a:ea typeface="微软雅黑" panose="020B0503020204020204" pitchFamily="34" charset="-122"/>
            </a:endParaRPr>
          </a:p>
        </p:txBody>
      </p:sp>
      <p:sp>
        <p:nvSpPr>
          <p:cNvPr id="20" name="TextBox 19"/>
          <p:cNvSpPr txBox="1"/>
          <p:nvPr/>
        </p:nvSpPr>
        <p:spPr>
          <a:xfrm>
            <a:off x="2727960" y="4014880"/>
            <a:ext cx="8244840" cy="401007"/>
          </a:xfrm>
          <a:prstGeom prst="rect">
            <a:avLst/>
          </a:prstGeom>
          <a:noFill/>
        </p:spPr>
        <p:txBody>
          <a:bodyPr wrap="square" lIns="18288" tIns="18288" rIns="18288" bIns="18288" anchor="ctr">
            <a:spAutoFit/>
          </a:bodyPr>
          <a:lstStyle/>
          <a:p>
            <a:pPr algn="l">
              <a:lnSpc>
                <a:spcPct val="105000"/>
              </a:lnSpc>
            </a:pPr>
            <a:r>
              <a:rPr sz="2400" b="0" i="0" dirty="0">
                <a:solidFill>
                  <a:srgbClr val="222833"/>
                </a:solidFill>
                <a:latin typeface="微软雅黑" panose="020B0503020204020204" pitchFamily="34" charset="-122"/>
                <a:ea typeface="微软雅黑" panose="020B0503020204020204" pitchFamily="34" charset="-122"/>
              </a:rPr>
              <a:t>SO-ARM101 </a:t>
            </a:r>
            <a:r>
              <a:rPr sz="2400" b="0" i="0" dirty="0" err="1">
                <a:solidFill>
                  <a:srgbClr val="222833"/>
                </a:solidFill>
                <a:latin typeface="微软雅黑" panose="020B0503020204020204" pitchFamily="34" charset="-122"/>
                <a:ea typeface="微软雅黑" panose="020B0503020204020204" pitchFamily="34" charset="-122"/>
              </a:rPr>
              <a:t>扩展连接仿真模型、数据采集和</a:t>
            </a:r>
            <a:r>
              <a:rPr sz="2400" b="0" i="0" dirty="0">
                <a:solidFill>
                  <a:srgbClr val="222833"/>
                </a:solidFill>
                <a:latin typeface="微软雅黑" panose="020B0503020204020204" pitchFamily="34" charset="-122"/>
                <a:ea typeface="微软雅黑" panose="020B0503020204020204" pitchFamily="34" charset="-122"/>
              </a:rPr>
              <a:t> VLA </a:t>
            </a:r>
            <a:r>
              <a:rPr sz="2400" b="0" i="0" dirty="0" err="1">
                <a:solidFill>
                  <a:srgbClr val="222833"/>
                </a:solidFill>
                <a:latin typeface="微软雅黑" panose="020B0503020204020204" pitchFamily="34" charset="-122"/>
                <a:ea typeface="微软雅黑" panose="020B0503020204020204" pitchFamily="34" charset="-122"/>
              </a:rPr>
              <a:t>适配接口</a:t>
            </a:r>
            <a:endParaRPr sz="2400" b="0" i="0" dirty="0">
              <a:solidFill>
                <a:srgbClr val="222833"/>
              </a:solidFill>
              <a:latin typeface="微软雅黑" panose="020B0503020204020204" pitchFamily="34" charset="-122"/>
              <a:ea typeface="微软雅黑" panose="020B0503020204020204" pitchFamily="34" charset="-122"/>
            </a:endParaRPr>
          </a:p>
        </p:txBody>
      </p:sp>
      <p:sp>
        <p:nvSpPr>
          <p:cNvPr id="21" name="Rounded Rectangle 20"/>
          <p:cNvSpPr/>
          <p:nvPr/>
        </p:nvSpPr>
        <p:spPr>
          <a:xfrm>
            <a:off x="804672" y="4983480"/>
            <a:ext cx="10561320" cy="868680"/>
          </a:xfrm>
          <a:prstGeom prst="roundRect">
            <a:avLst/>
          </a:prstGeom>
          <a:solidFill>
            <a:srgbClr val="FFFFFF"/>
          </a:solidFill>
          <a:ln>
            <a:solidFill>
              <a:srgbClr val="D7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22" name="Rectangle 21"/>
          <p:cNvSpPr/>
          <p:nvPr/>
        </p:nvSpPr>
        <p:spPr>
          <a:xfrm>
            <a:off x="804672" y="4983480"/>
            <a:ext cx="64008" cy="868680"/>
          </a:xfrm>
          <a:prstGeom prst="rect">
            <a:avLst/>
          </a:prstGeom>
          <a:solidFill>
            <a:srgbClr val="C63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a typeface="微软雅黑" panose="020B0503020204020204" pitchFamily="34" charset="-122"/>
            </a:endParaRPr>
          </a:p>
        </p:txBody>
      </p:sp>
      <p:sp>
        <p:nvSpPr>
          <p:cNvPr id="23" name="TextBox 22"/>
          <p:cNvSpPr txBox="1"/>
          <p:nvPr/>
        </p:nvSpPr>
        <p:spPr>
          <a:xfrm>
            <a:off x="1033271" y="5093208"/>
            <a:ext cx="2011680" cy="401007"/>
          </a:xfrm>
          <a:prstGeom prst="rect">
            <a:avLst/>
          </a:prstGeom>
          <a:noFill/>
        </p:spPr>
        <p:txBody>
          <a:bodyPr wrap="square" lIns="18288" tIns="18288" rIns="18288" bIns="18288" anchor="t">
            <a:spAutoFit/>
          </a:bodyPr>
          <a:lstStyle/>
          <a:p>
            <a:pPr algn="l">
              <a:lnSpc>
                <a:spcPct val="105000"/>
              </a:lnSpc>
            </a:pPr>
            <a:r>
              <a:rPr sz="2400" b="1" i="0" dirty="0" err="1">
                <a:solidFill>
                  <a:srgbClr val="C63F45"/>
                </a:solidFill>
                <a:latin typeface="微软雅黑" panose="020B0503020204020204" pitchFamily="34" charset="-122"/>
                <a:ea typeface="微软雅黑" panose="020B0503020204020204" pitchFamily="34" charset="-122"/>
              </a:rPr>
              <a:t>部署</a:t>
            </a:r>
            <a:endParaRPr sz="2400" b="1" i="0" dirty="0">
              <a:solidFill>
                <a:srgbClr val="C63F45"/>
              </a:solidFill>
              <a:latin typeface="微软雅黑" panose="020B0503020204020204" pitchFamily="34" charset="-122"/>
              <a:ea typeface="微软雅黑" panose="020B0503020204020204" pitchFamily="34" charset="-122"/>
            </a:endParaRPr>
          </a:p>
        </p:txBody>
      </p:sp>
      <p:sp>
        <p:nvSpPr>
          <p:cNvPr id="24" name="TextBox 23"/>
          <p:cNvSpPr txBox="1"/>
          <p:nvPr/>
        </p:nvSpPr>
        <p:spPr>
          <a:xfrm>
            <a:off x="2880360" y="5112162"/>
            <a:ext cx="8092440" cy="401007"/>
          </a:xfrm>
          <a:prstGeom prst="rect">
            <a:avLst/>
          </a:prstGeom>
          <a:noFill/>
        </p:spPr>
        <p:txBody>
          <a:bodyPr wrap="square" lIns="18288" tIns="18288" rIns="18288" bIns="18288" anchor="ctr">
            <a:spAutoFit/>
          </a:bodyPr>
          <a:lstStyle/>
          <a:p>
            <a:pPr algn="l">
              <a:lnSpc>
                <a:spcPct val="105000"/>
              </a:lnSpc>
            </a:pPr>
            <a:r>
              <a:rPr sz="2400" b="0" i="0" dirty="0" err="1">
                <a:solidFill>
                  <a:srgbClr val="222833"/>
                </a:solidFill>
                <a:latin typeface="微软雅黑" panose="020B0503020204020204" pitchFamily="34" charset="-122"/>
                <a:ea typeface="微软雅黑" panose="020B0503020204020204" pitchFamily="34" charset="-122"/>
              </a:rPr>
              <a:t>测试后可导出</a:t>
            </a:r>
            <a:r>
              <a:rPr sz="2400" b="0" i="0" dirty="0">
                <a:solidFill>
                  <a:srgbClr val="222833"/>
                </a:solidFill>
                <a:latin typeface="微软雅黑" panose="020B0503020204020204" pitchFamily="34" charset="-122"/>
                <a:ea typeface="微软雅黑" panose="020B0503020204020204" pitchFamily="34" charset="-122"/>
              </a:rPr>
              <a:t> </a:t>
            </a:r>
            <a:r>
              <a:rPr sz="2400" b="0" i="0" dirty="0" err="1">
                <a:solidFill>
                  <a:srgbClr val="222833"/>
                </a:solidFill>
                <a:latin typeface="微软雅黑" panose="020B0503020204020204" pitchFamily="34" charset="-122"/>
                <a:ea typeface="微软雅黑" panose="020B0503020204020204" pitchFamily="34" charset="-122"/>
              </a:rPr>
              <a:t>ONNX，并在真实机械臂上以闭环方式运行</a:t>
            </a:r>
            <a:endParaRPr sz="2400" b="0" i="0" dirty="0">
              <a:solidFill>
                <a:srgbClr val="2228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AFC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79999"/>
            <a:ext cx="3474720" cy="188641"/>
          </a:xfrm>
          <a:prstGeom prst="rect">
            <a:avLst/>
          </a:prstGeom>
          <a:noFill/>
        </p:spPr>
        <p:txBody>
          <a:bodyPr wrap="square" lIns="18288" tIns="18288" rIns="18288" bIns="18288" anchor="ctr">
            <a:spAutoFit/>
          </a:bodyPr>
          <a:lstStyle/>
          <a:p>
            <a:pPr algn="l">
              <a:lnSpc>
                <a:spcPct val="105000"/>
              </a:lnSpc>
            </a:pPr>
            <a:r>
              <a:rPr sz="1000" b="0" i="0" dirty="0" err="1">
                <a:solidFill>
                  <a:srgbClr val="8C98AA"/>
                </a:solidFill>
                <a:latin typeface="微软雅黑" panose="020B0503020204020204" pitchFamily="34" charset="-122"/>
              </a:rPr>
              <a:t>具身智能导论</a:t>
            </a:r>
            <a:r>
              <a:rPr sz="1000" b="0" i="0" dirty="0">
                <a:solidFill>
                  <a:srgbClr val="8C98AA"/>
                </a:solidFill>
                <a:latin typeface="微软雅黑" panose="020B0503020204020204" pitchFamily="34" charset="-122"/>
              </a:rPr>
              <a:t> · 第7章</a:t>
            </a:r>
          </a:p>
        </p:txBody>
      </p:sp>
      <p:sp>
        <p:nvSpPr>
          <p:cNvPr id="5" name="TextBox 4"/>
          <p:cNvSpPr txBox="1"/>
          <p:nvPr/>
        </p:nvSpPr>
        <p:spPr>
          <a:xfrm>
            <a:off x="8732520" y="179999"/>
            <a:ext cx="2834640" cy="188641"/>
          </a:xfrm>
          <a:prstGeom prst="rect">
            <a:avLst/>
          </a:prstGeom>
          <a:noFill/>
        </p:spPr>
        <p:txBody>
          <a:bodyPr wrap="square" lIns="18288" tIns="18288" rIns="18288" bIns="18288" anchor="ctr">
            <a:spAutoFit/>
          </a:bodyPr>
          <a:lstStyle/>
          <a:p>
            <a:pPr algn="r">
              <a:lnSpc>
                <a:spcPct val="105000"/>
              </a:lnSpc>
            </a:pPr>
            <a:r>
              <a:rPr sz="1000" b="0" i="0" dirty="0" err="1">
                <a:solidFill>
                  <a:srgbClr val="8C98AA"/>
                </a:solidFill>
                <a:latin typeface="微软雅黑" panose="020B0503020204020204" pitchFamily="34" charset="-122"/>
              </a:rPr>
              <a:t>视觉－语言－动作模型</a:t>
            </a:r>
            <a:endParaRPr sz="1000" b="0" i="0" dirty="0">
              <a:solidFill>
                <a:srgbClr val="8C98AA"/>
              </a:solidFill>
              <a:latin typeface="微软雅黑" panose="020B0503020204020204" pitchFamily="34" charset="-122"/>
            </a:endParaRPr>
          </a:p>
        </p:txBody>
      </p:sp>
      <p:sp>
        <p:nvSpPr>
          <p:cNvPr id="6" name="TextBox 5"/>
          <p:cNvSpPr txBox="1"/>
          <p:nvPr/>
        </p:nvSpPr>
        <p:spPr>
          <a:xfrm>
            <a:off x="11457432" y="6492240"/>
            <a:ext cx="347472" cy="173445"/>
          </a:xfrm>
          <a:prstGeom prst="rect">
            <a:avLst/>
          </a:prstGeom>
          <a:noFill/>
        </p:spPr>
        <p:txBody>
          <a:bodyPr wrap="square" lIns="18288" tIns="18288" rIns="18288" bIns="18288" anchor="t">
            <a:spAutoFit/>
          </a:bodyPr>
          <a:lstStyle/>
          <a:p>
            <a:pPr algn="r">
              <a:lnSpc>
                <a:spcPct val="105000"/>
              </a:lnSpc>
            </a:pPr>
            <a:r>
              <a:rPr sz="900" b="0" i="0" dirty="0">
                <a:solidFill>
                  <a:srgbClr val="8C98AA"/>
                </a:solidFill>
                <a:latin typeface="微软雅黑" panose="020B0503020204020204" pitchFamily="34" charset="-122"/>
              </a:rPr>
              <a:t>130</a:t>
            </a:r>
          </a:p>
        </p:txBody>
      </p:sp>
      <p:sp>
        <p:nvSpPr>
          <p:cNvPr id="7" name="TextBox 6"/>
          <p:cNvSpPr txBox="1"/>
          <p:nvPr/>
        </p:nvSpPr>
        <p:spPr>
          <a:xfrm>
            <a:off x="502920" y="520716"/>
            <a:ext cx="10927080" cy="567912"/>
          </a:xfrm>
          <a:prstGeom prst="rect">
            <a:avLst/>
          </a:prstGeom>
          <a:noFill/>
        </p:spPr>
        <p:txBody>
          <a:bodyPr wrap="square" lIns="18288" tIns="18288" rIns="18288" bIns="18288" anchor="ctr">
            <a:spAutoFit/>
          </a:bodyPr>
          <a:lstStyle/>
          <a:p>
            <a:pPr algn="l">
              <a:lnSpc>
                <a:spcPct val="105000"/>
              </a:lnSpc>
            </a:pPr>
            <a:r>
              <a:rPr sz="3500" b="1" i="0" dirty="0">
                <a:solidFill>
                  <a:srgbClr val="24477D"/>
                </a:solidFill>
                <a:latin typeface="微软雅黑" panose="020B0503020204020204" pitchFamily="34" charset="-122"/>
              </a:rPr>
              <a:t>7.8 </a:t>
            </a:r>
            <a:r>
              <a:rPr sz="3500" b="1" i="0" dirty="0" err="1">
                <a:solidFill>
                  <a:srgbClr val="24477D"/>
                </a:solidFill>
                <a:latin typeface="微软雅黑" panose="020B0503020204020204" pitchFamily="34" charset="-122"/>
              </a:rPr>
              <a:t>本章小结</a:t>
            </a:r>
            <a:endParaRPr sz="3500" b="1" i="0" dirty="0">
              <a:solidFill>
                <a:srgbClr val="24477D"/>
              </a:solidFill>
              <a:latin typeface="微软雅黑" panose="020B0503020204020204" pitchFamily="34" charset="-122"/>
            </a:endParaRPr>
          </a:p>
        </p:txBody>
      </p:sp>
      <p:sp>
        <p:nvSpPr>
          <p:cNvPr id="8" name="Rectangle 7"/>
          <p:cNvSpPr/>
          <p:nvPr/>
        </p:nvSpPr>
        <p:spPr>
          <a:xfrm>
            <a:off x="502920" y="1353312"/>
            <a:ext cx="11109959" cy="4572"/>
          </a:xfrm>
          <a:prstGeom prst="rect">
            <a:avLst/>
          </a:prstGeom>
          <a:solidFill>
            <a:srgbClr val="D7D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9" name="TextBox 8"/>
          <p:cNvSpPr txBox="1"/>
          <p:nvPr/>
        </p:nvSpPr>
        <p:spPr>
          <a:xfrm>
            <a:off x="749807" y="1572768"/>
            <a:ext cx="10631365" cy="4941546"/>
          </a:xfrm>
          <a:prstGeom prst="rect">
            <a:avLst/>
          </a:prstGeom>
          <a:noFill/>
        </p:spPr>
        <p:txBody>
          <a:bodyPr wrap="square" lIns="18288" tIns="18288" rIns="18288" bIns="18288">
            <a:spAutoFit/>
          </a:bodyPr>
          <a:lstStyle/>
          <a:p>
            <a:pPr algn="l">
              <a:lnSpc>
                <a:spcPct val="112000"/>
              </a:lnSpc>
              <a:spcAft>
                <a:spcPts val="576"/>
              </a:spcAft>
            </a:pPr>
            <a:r>
              <a:rPr sz="2400" dirty="0">
                <a:solidFill>
                  <a:srgbClr val="222833"/>
                </a:solidFill>
                <a:latin typeface="微软雅黑"/>
              </a:rPr>
              <a:t>• 从 VLA </a:t>
            </a:r>
            <a:r>
              <a:rPr sz="2400" dirty="0" err="1">
                <a:solidFill>
                  <a:srgbClr val="222833"/>
                </a:solidFill>
                <a:latin typeface="微软雅黑"/>
              </a:rPr>
              <a:t>基本概念出发，建立了多模态融合、端到端学习与闭环迭代的整体认识</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视觉抓取说明了“从看见到抓取”的基本技术链：检测、姿态、抓取评分与逆运动学</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动作序列部分比较了基于模型的规划与生成式策略，并重点介绍动作扩散与滚动执行</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语言－动作生成实现从自然语言指令到动作</a:t>
            </a:r>
            <a:r>
              <a:rPr sz="2400" dirty="0">
                <a:solidFill>
                  <a:srgbClr val="222833"/>
                </a:solidFill>
                <a:latin typeface="微软雅黑"/>
              </a:rPr>
              <a:t> / </a:t>
            </a:r>
            <a:r>
              <a:rPr sz="2400" dirty="0" err="1">
                <a:solidFill>
                  <a:srgbClr val="222833"/>
                </a:solidFill>
                <a:latin typeface="微软雅黑"/>
              </a:rPr>
              <a:t>策略代码的跨模态映射</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VLA </a:t>
            </a:r>
            <a:r>
              <a:rPr sz="2400" dirty="0" err="1">
                <a:solidFill>
                  <a:srgbClr val="222833"/>
                </a:solidFill>
                <a:latin typeface="微软雅黑"/>
              </a:rPr>
              <a:t>详解进一步介绍视觉</a:t>
            </a:r>
            <a:r>
              <a:rPr sz="2400" dirty="0">
                <a:solidFill>
                  <a:srgbClr val="222833"/>
                </a:solidFill>
                <a:latin typeface="微软雅黑"/>
              </a:rPr>
              <a:t> / </a:t>
            </a:r>
            <a:r>
              <a:rPr sz="2400" dirty="0" err="1">
                <a:solidFill>
                  <a:srgbClr val="222833"/>
                </a:solidFill>
                <a:latin typeface="微软雅黑"/>
              </a:rPr>
              <a:t>语言编码、多模态融合、动作解码、训练、泛化与真实部署</a:t>
            </a:r>
            <a:endParaRPr sz="2400" dirty="0">
              <a:solidFill>
                <a:srgbClr val="222833"/>
              </a:solidFill>
              <a:latin typeface="微软雅黑"/>
            </a:endParaRPr>
          </a:p>
          <a:p>
            <a:pPr algn="l">
              <a:lnSpc>
                <a:spcPct val="112000"/>
              </a:lnSpc>
              <a:spcAft>
                <a:spcPts val="576"/>
              </a:spcAft>
            </a:pPr>
            <a:r>
              <a:rPr sz="2400" dirty="0">
                <a:solidFill>
                  <a:srgbClr val="222833"/>
                </a:solidFill>
                <a:latin typeface="微软雅黑"/>
              </a:rPr>
              <a:t>• </a:t>
            </a:r>
            <a:r>
              <a:rPr sz="2400" dirty="0" err="1">
                <a:solidFill>
                  <a:srgbClr val="222833"/>
                </a:solidFill>
                <a:latin typeface="微软雅黑"/>
              </a:rPr>
              <a:t>SmolVLA</a:t>
            </a:r>
            <a:r>
              <a:rPr sz="2400" dirty="0">
                <a:solidFill>
                  <a:srgbClr val="222833"/>
                </a:solidFill>
                <a:latin typeface="微软雅黑"/>
              </a:rPr>
              <a:t> + SO-ARM101 </a:t>
            </a:r>
            <a:r>
              <a:rPr sz="2400" dirty="0" err="1">
                <a:solidFill>
                  <a:srgbClr val="222833"/>
                </a:solidFill>
                <a:latin typeface="微软雅黑"/>
              </a:rPr>
              <a:t>案例展示了从仿真微调到真实硬件部署的完整实践链路</a:t>
            </a:r>
            <a:endParaRPr sz="2400" dirty="0">
              <a:solidFill>
                <a:srgbClr val="222833"/>
              </a:solidFill>
              <a:latin typeface="微软雅黑"/>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24477D"/>
        </a:solidFill>
        <a:effectLst/>
      </p:bgPr>
    </p:bg>
    <p:spTree>
      <p:nvGrpSpPr>
        <p:cNvPr id="1" name=""/>
        <p:cNvGrpSpPr/>
        <p:nvPr/>
      </p:nvGrpSpPr>
      <p:grpSpPr>
        <a:xfrm>
          <a:off x="0" y="0"/>
          <a:ext cx="0" cy="0"/>
          <a:chOff x="0" y="0"/>
          <a:chExt cx="0" cy="0"/>
        </a:xfrm>
      </p:grpSpPr>
      <p:sp>
        <p:nvSpPr>
          <p:cNvPr id="2" name="TextBox 1"/>
          <p:cNvSpPr txBox="1"/>
          <p:nvPr/>
        </p:nvSpPr>
        <p:spPr>
          <a:xfrm>
            <a:off x="758952" y="2809332"/>
            <a:ext cx="10241280" cy="1038169"/>
          </a:xfrm>
          <a:prstGeom prst="rect">
            <a:avLst/>
          </a:prstGeom>
          <a:noFill/>
        </p:spPr>
        <p:txBody>
          <a:bodyPr wrap="square" lIns="18288" tIns="18288" rIns="18288" bIns="18288" anchor="ctr">
            <a:spAutoFit/>
          </a:bodyPr>
          <a:lstStyle/>
          <a:p>
            <a:pPr algn="ctr">
              <a:lnSpc>
                <a:spcPct val="105000"/>
              </a:lnSpc>
            </a:pPr>
            <a:r>
              <a:rPr sz="6600" b="1" i="0" dirty="0">
                <a:solidFill>
                  <a:srgbClr val="FFFFFF"/>
                </a:solidFill>
                <a:latin typeface="微软雅黑" panose="020B0503020204020204" pitchFamily="34" charset="-122"/>
              </a:rPr>
              <a:t>谢   </a:t>
            </a:r>
            <a:r>
              <a:rPr sz="6600" b="1" i="0" dirty="0" err="1">
                <a:solidFill>
                  <a:srgbClr val="FFFFFF"/>
                </a:solidFill>
                <a:latin typeface="微软雅黑" panose="020B0503020204020204" pitchFamily="34" charset="-122"/>
              </a:rPr>
              <a:t>谢</a:t>
            </a:r>
            <a:endParaRPr sz="6600" b="1" i="0" dirty="0">
              <a:solidFill>
                <a:srgbClr val="FFFFFF"/>
              </a:solidFill>
              <a:latin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707</TotalTime>
  <Words>5226</Words>
  <Application>Microsoft Office PowerPoint</Application>
  <PresentationFormat>宽屏</PresentationFormat>
  <Paragraphs>1246</Paragraphs>
  <Slides>131</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131</vt:i4>
      </vt:variant>
    </vt:vector>
  </HeadingPairs>
  <TitlesOfParts>
    <vt:vector size="138" baseType="lpstr">
      <vt:lpstr>Noto Serif CJK SC</vt:lpstr>
      <vt:lpstr>微软雅黑</vt:lpstr>
      <vt:lpstr>Arial</vt:lpstr>
      <vt:lpstr>Consolas</vt:lpstr>
      <vt:lpstr>Times New Roman</vt:lpstr>
      <vt:lpstr>Office Theme</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精品课程课件</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具身智能导论 第7章 视觉－语言－动作模型</dc:title>
  <dc:subject>《具身智能导论》配套课件</dc:subject>
  <dc:creator>秦建军等</dc:creator>
  <cp:lastModifiedBy>Qin JJ</cp:lastModifiedBy>
  <cp:revision>52</cp:revision>
  <dcterms:created xsi:type="dcterms:W3CDTF">2026-08-28T03:08:42Z</dcterms:created>
  <dcterms:modified xsi:type="dcterms:W3CDTF">2026-09-14T13:11:53Z</dcterms:modified>
</cp:coreProperties>
</file>