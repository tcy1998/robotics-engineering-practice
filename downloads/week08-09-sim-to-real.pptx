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 id="334" r:id="rId80"/>
    <p:sldId id="335" r:id="rId81"/>
    <p:sldId id="336" r:id="rId82"/>
    <p:sldId id="337" r:id="rId83"/>
    <p:sldId id="338" r:id="rId84"/>
    <p:sldId id="339" r:id="rId85"/>
    <p:sldId id="340" r:id="rId86"/>
    <p:sldId id="341" r:id="rId87"/>
    <p:sldId id="342" r:id="rId88"/>
    <p:sldId id="343" r:id="rId89"/>
    <p:sldId id="344" r:id="rId90"/>
    <p:sldId id="345" r:id="rId91"/>
    <p:sldId id="346" r:id="rId92"/>
    <p:sldId id="347" r:id="rId93"/>
    <p:sldId id="348" r:id="rId94"/>
    <p:sldId id="349" r:id="rId95"/>
    <p:sldId id="350" r:id="rId96"/>
    <p:sldId id="351" r:id="rId97"/>
    <p:sldId id="352" r:id="rId98"/>
    <p:sldId id="353" r:id="rId99"/>
    <p:sldId id="354" r:id="rId100"/>
    <p:sldId id="355" r:id="rId101"/>
    <p:sldId id="356" r:id="rId102"/>
    <p:sldId id="357" r:id="rId103"/>
    <p:sldId id="358" r:id="rId104"/>
    <p:sldId id="359" r:id="rId105"/>
    <p:sldId id="360" r:id="rId106"/>
    <p:sldId id="361" r:id="rId107"/>
    <p:sldId id="362" r:id="rId108"/>
    <p:sldId id="363" r:id="rId109"/>
    <p:sldId id="364" r:id="rId110"/>
    <p:sldId id="365" r:id="rId111"/>
    <p:sldId id="366" r:id="rId112"/>
    <p:sldId id="367" r:id="rId113"/>
    <p:sldId id="377" r:id="rId11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82" d="100"/>
          <a:sy n="82" d="100"/>
        </p:scale>
        <p:origin x="696" y="34"/>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117" Type="http://schemas.openxmlformats.org/officeDocument/2006/relationships/theme" Target="theme/theme1.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slide" Target="slides/slide111.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slide" Target="slides/slide73.xml"/><Relationship Id="rId79" Type="http://schemas.openxmlformats.org/officeDocument/2006/relationships/slide" Target="slides/slide78.xml"/><Relationship Id="rId87" Type="http://schemas.openxmlformats.org/officeDocument/2006/relationships/slide" Target="slides/slide86.xml"/><Relationship Id="rId102" Type="http://schemas.openxmlformats.org/officeDocument/2006/relationships/slide" Target="slides/slide101.xml"/><Relationship Id="rId110" Type="http://schemas.openxmlformats.org/officeDocument/2006/relationships/slide" Target="slides/slide109.xml"/><Relationship Id="rId115" Type="http://schemas.openxmlformats.org/officeDocument/2006/relationships/presProps" Target="presProps.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slide" Target="slides/slide81.xml"/><Relationship Id="rId90" Type="http://schemas.openxmlformats.org/officeDocument/2006/relationships/slide" Target="slides/slide89.xml"/><Relationship Id="rId95" Type="http://schemas.openxmlformats.org/officeDocument/2006/relationships/slide" Target="slides/slide94.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13" Type="http://schemas.openxmlformats.org/officeDocument/2006/relationships/slide" Target="slides/slide112.xml"/><Relationship Id="rId118"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93" Type="http://schemas.openxmlformats.org/officeDocument/2006/relationships/slide" Target="slides/slide92.xml"/><Relationship Id="rId98" Type="http://schemas.openxmlformats.org/officeDocument/2006/relationships/slide" Target="slides/slide9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103" Type="http://schemas.openxmlformats.org/officeDocument/2006/relationships/slide" Target="slides/slide102.xml"/><Relationship Id="rId108" Type="http://schemas.openxmlformats.org/officeDocument/2006/relationships/slide" Target="slides/slide107.xml"/><Relationship Id="rId116"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slide" Target="slides/slide95.xml"/><Relationship Id="rId111" Type="http://schemas.openxmlformats.org/officeDocument/2006/relationships/slide" Target="slides/slide110.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6" Type="http://schemas.openxmlformats.org/officeDocument/2006/relationships/slide" Target="slides/slide105.xml"/><Relationship Id="rId114" Type="http://schemas.openxmlformats.org/officeDocument/2006/relationships/slide" Target="slides/slide113.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9/14/2026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9/14/2026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9/14/2026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9/14/2026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9/14/2026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9/14/2026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9/14/2026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9/14/2026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9/14/2026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2" Type="http://schemas.openxmlformats.org/officeDocument/2006/relationships/image" Target="../media/image22.jpeg"/><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7.xml"/></Relationships>
</file>

<file path=ppt/slides/_rels/slide89.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7.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3.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7.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051560" cy="6858000"/>
          </a:xfrm>
          <a:prstGeom prst="rect">
            <a:avLst/>
          </a:prstGeom>
          <a:solidFill>
            <a:srgbClr val="3159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804672" y="0"/>
            <a:ext cx="219456" cy="6858000"/>
          </a:xfrm>
          <a:prstGeom prst="rect">
            <a:avLst/>
          </a:prstGeom>
          <a:solidFill>
            <a:srgbClr val="B6C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325880" y="749808"/>
            <a:ext cx="5303520" cy="329184"/>
          </a:xfrm>
          <a:prstGeom prst="rect">
            <a:avLst/>
          </a:prstGeom>
          <a:noFill/>
        </p:spPr>
        <p:txBody>
          <a:bodyPr wrap="square" lIns="0" tIns="0" rIns="0" bIns="0" anchor="t">
            <a:spAutoFit/>
          </a:bodyPr>
          <a:lstStyle/>
          <a:p>
            <a:pPr algn="l">
              <a:lnSpc>
                <a:spcPct val="112000"/>
              </a:lnSpc>
              <a:spcAft>
                <a:spcPts val="0"/>
              </a:spcAft>
            </a:pPr>
            <a:r>
              <a:rPr sz="1500" b="1" i="0">
                <a:solidFill>
                  <a:srgbClr val="31599B"/>
                </a:solidFill>
                <a:latin typeface="微软雅黑"/>
              </a:rPr>
              <a:t>普通高等教育新工科具身智能系列教材</a:t>
            </a:r>
          </a:p>
        </p:txBody>
      </p:sp>
      <p:sp>
        <p:nvSpPr>
          <p:cNvPr id="5" name="TextBox 4"/>
          <p:cNvSpPr txBox="1"/>
          <p:nvPr/>
        </p:nvSpPr>
        <p:spPr>
          <a:xfrm>
            <a:off x="3776472" y="1865376"/>
            <a:ext cx="5303520" cy="594360"/>
          </a:xfrm>
          <a:prstGeom prst="rect">
            <a:avLst/>
          </a:prstGeom>
          <a:noFill/>
        </p:spPr>
        <p:txBody>
          <a:bodyPr wrap="square" lIns="0" tIns="0" rIns="0" bIns="0" anchor="t">
            <a:spAutoFit/>
          </a:bodyPr>
          <a:lstStyle/>
          <a:p>
            <a:pPr algn="ctr">
              <a:lnSpc>
                <a:spcPct val="112000"/>
              </a:lnSpc>
              <a:spcAft>
                <a:spcPts val="0"/>
              </a:spcAft>
            </a:pPr>
            <a:r>
              <a:rPr sz="2800" b="1" i="0">
                <a:solidFill>
                  <a:srgbClr val="222833"/>
                </a:solidFill>
                <a:latin typeface="微软雅黑"/>
              </a:rPr>
              <a:t>具身智能导论</a:t>
            </a:r>
          </a:p>
        </p:txBody>
      </p:sp>
      <p:sp>
        <p:nvSpPr>
          <p:cNvPr id="6" name="TextBox 5"/>
          <p:cNvSpPr txBox="1"/>
          <p:nvPr/>
        </p:nvSpPr>
        <p:spPr>
          <a:xfrm>
            <a:off x="2880360" y="2944368"/>
            <a:ext cx="7498079" cy="658368"/>
          </a:xfrm>
          <a:prstGeom prst="rect">
            <a:avLst/>
          </a:prstGeom>
          <a:noFill/>
        </p:spPr>
        <p:txBody>
          <a:bodyPr wrap="square" lIns="0" tIns="0" rIns="0" bIns="0" anchor="t">
            <a:spAutoFit/>
          </a:bodyPr>
          <a:lstStyle/>
          <a:p>
            <a:pPr algn="ctr">
              <a:lnSpc>
                <a:spcPct val="112000"/>
              </a:lnSpc>
              <a:spcAft>
                <a:spcPts val="0"/>
              </a:spcAft>
            </a:pPr>
            <a:r>
              <a:rPr sz="3600" b="1" i="0">
                <a:solidFill>
                  <a:srgbClr val="24477D"/>
                </a:solidFill>
                <a:latin typeface="微软雅黑"/>
              </a:rPr>
              <a:t>第 9 章  虚实迁移技术</a:t>
            </a:r>
          </a:p>
        </p:txBody>
      </p:sp>
      <p:sp>
        <p:nvSpPr>
          <p:cNvPr id="7" name="TextBox 6"/>
          <p:cNvSpPr txBox="1"/>
          <p:nvPr/>
        </p:nvSpPr>
        <p:spPr>
          <a:xfrm>
            <a:off x="3739896" y="4187952"/>
            <a:ext cx="5779008" cy="347472"/>
          </a:xfrm>
          <a:prstGeom prst="rect">
            <a:avLst/>
          </a:prstGeom>
          <a:noFill/>
        </p:spPr>
        <p:txBody>
          <a:bodyPr wrap="square" lIns="0" tIns="0" rIns="0" bIns="0" anchor="t">
            <a:spAutoFit/>
          </a:bodyPr>
          <a:lstStyle/>
          <a:p>
            <a:pPr algn="ctr">
              <a:lnSpc>
                <a:spcPct val="112000"/>
              </a:lnSpc>
              <a:spcAft>
                <a:spcPts val="0"/>
              </a:spcAft>
            </a:pPr>
            <a:r>
              <a:rPr sz="1450" b="0" i="0">
                <a:solidFill>
                  <a:srgbClr val="5B5B5B"/>
                </a:solidFill>
                <a:latin typeface="微软雅黑"/>
              </a:rPr>
              <a:t>秦建军  江磊  刘宇飞  邢伯阳  王陆旸  李国通</a:t>
            </a:r>
          </a:p>
        </p:txBody>
      </p:sp>
      <p:sp>
        <p:nvSpPr>
          <p:cNvPr id="8" name="TextBox 7"/>
          <p:cNvSpPr txBox="1"/>
          <p:nvPr/>
        </p:nvSpPr>
        <p:spPr>
          <a:xfrm>
            <a:off x="8814816" y="822960"/>
            <a:ext cx="3035808" cy="310896"/>
          </a:xfrm>
          <a:prstGeom prst="rect">
            <a:avLst/>
          </a:prstGeom>
          <a:noFill/>
        </p:spPr>
        <p:txBody>
          <a:bodyPr wrap="square" lIns="0" tIns="0" rIns="0" bIns="0" anchor="t">
            <a:spAutoFit/>
          </a:bodyPr>
          <a:lstStyle/>
          <a:p>
            <a:pPr algn="r">
              <a:lnSpc>
                <a:spcPct val="112000"/>
              </a:lnSpc>
              <a:spcAft>
                <a:spcPts val="0"/>
              </a:spcAft>
            </a:pPr>
            <a:r>
              <a:rPr sz="1200" b="0" i="0">
                <a:solidFill>
                  <a:srgbClr val="5B5B5B"/>
                </a:solidFill>
                <a:latin typeface="微软雅黑"/>
              </a:rPr>
              <a:t>国家地方共建人形机器人创新中心组织编写</a:t>
            </a:r>
          </a:p>
        </p:txBody>
      </p:sp>
      <p:sp>
        <p:nvSpPr>
          <p:cNvPr id="9" name="TextBox 8"/>
          <p:cNvSpPr txBox="1"/>
          <p:nvPr/>
        </p:nvSpPr>
        <p:spPr>
          <a:xfrm>
            <a:off x="4379976" y="4809744"/>
            <a:ext cx="4370832" cy="310896"/>
          </a:xfrm>
          <a:prstGeom prst="rect">
            <a:avLst/>
          </a:prstGeom>
          <a:noFill/>
        </p:spPr>
        <p:txBody>
          <a:bodyPr wrap="square" lIns="0" tIns="0" rIns="0" bIns="0" anchor="t">
            <a:spAutoFit/>
          </a:bodyPr>
          <a:lstStyle/>
          <a:p>
            <a:pPr algn="ctr">
              <a:lnSpc>
                <a:spcPct val="112000"/>
              </a:lnSpc>
              <a:spcAft>
                <a:spcPts val="0"/>
              </a:spcAft>
            </a:pPr>
            <a:r>
              <a:rPr sz="1250" b="0" i="0">
                <a:solidFill>
                  <a:srgbClr val="7B8798"/>
                </a:solidFill>
                <a:latin typeface="微软雅黑"/>
              </a:rPr>
              <a:t>机械工业出版社 · 《具身智能导论》配套课件</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18872" cy="6858000"/>
          </a:xfrm>
          <a:prstGeom prst="rect">
            <a:avLst/>
          </a:prstGeom>
          <a:solidFill>
            <a:srgbClr val="3159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118872" y="0"/>
            <a:ext cx="41148" cy="6858000"/>
          </a:xfrm>
          <a:prstGeom prst="rect">
            <a:avLst/>
          </a:prstGeom>
          <a:solidFill>
            <a:srgbClr val="B7C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38912" y="137160"/>
            <a:ext cx="3474720" cy="164592"/>
          </a:xfrm>
          <a:prstGeom prst="rect">
            <a:avLst/>
          </a:prstGeom>
          <a:noFill/>
        </p:spPr>
        <p:txBody>
          <a:bodyPr wrap="square" lIns="0" tIns="0" rIns="0" bIns="0" anchor="t">
            <a:spAutoFit/>
          </a:bodyPr>
          <a:lstStyle/>
          <a:p>
            <a:pPr algn="l">
              <a:lnSpc>
                <a:spcPct val="112000"/>
              </a:lnSpc>
              <a:spcAft>
                <a:spcPts val="0"/>
              </a:spcAft>
            </a:pPr>
            <a:r>
              <a:rPr sz="1050" b="0" i="0">
                <a:solidFill>
                  <a:srgbClr val="8C98AA"/>
                </a:solidFill>
                <a:latin typeface="微软雅黑"/>
              </a:rPr>
              <a:t>具身智能导论 · 第 9 章</a:t>
            </a:r>
          </a:p>
        </p:txBody>
      </p:sp>
      <p:sp>
        <p:nvSpPr>
          <p:cNvPr id="5" name="TextBox 4"/>
          <p:cNvSpPr txBox="1"/>
          <p:nvPr/>
        </p:nvSpPr>
        <p:spPr>
          <a:xfrm>
            <a:off x="9144000" y="137160"/>
            <a:ext cx="2423160" cy="164592"/>
          </a:xfrm>
          <a:prstGeom prst="rect">
            <a:avLst/>
          </a:prstGeom>
          <a:noFill/>
        </p:spPr>
        <p:txBody>
          <a:bodyPr wrap="square" lIns="0" tIns="0" rIns="0" bIns="0" anchor="t">
            <a:spAutoFit/>
          </a:bodyPr>
          <a:lstStyle/>
          <a:p>
            <a:pPr algn="r">
              <a:lnSpc>
                <a:spcPct val="112000"/>
              </a:lnSpc>
              <a:spcAft>
                <a:spcPts val="0"/>
              </a:spcAft>
            </a:pPr>
            <a:r>
              <a:rPr sz="1050" b="0" i="0">
                <a:solidFill>
                  <a:srgbClr val="8C98AA"/>
                </a:solidFill>
                <a:latin typeface="微软雅黑"/>
              </a:rPr>
              <a:t>虚实迁移技术</a:t>
            </a:r>
          </a:p>
        </p:txBody>
      </p:sp>
      <p:sp>
        <p:nvSpPr>
          <p:cNvPr id="6" name="TextBox 5"/>
          <p:cNvSpPr txBox="1"/>
          <p:nvPr/>
        </p:nvSpPr>
        <p:spPr>
          <a:xfrm>
            <a:off x="11457432" y="6473952"/>
            <a:ext cx="347472" cy="164592"/>
          </a:xfrm>
          <a:prstGeom prst="rect">
            <a:avLst/>
          </a:prstGeom>
          <a:noFill/>
        </p:spPr>
        <p:txBody>
          <a:bodyPr wrap="square" lIns="0" tIns="0" rIns="0" bIns="0" anchor="t">
            <a:spAutoFit/>
          </a:bodyPr>
          <a:lstStyle/>
          <a:p>
            <a:pPr algn="r">
              <a:lnSpc>
                <a:spcPct val="112000"/>
              </a:lnSpc>
              <a:spcAft>
                <a:spcPts val="0"/>
              </a:spcAft>
            </a:pPr>
            <a:r>
              <a:rPr sz="1050" b="0" i="0">
                <a:solidFill>
                  <a:srgbClr val="8C98AA"/>
                </a:solidFill>
                <a:latin typeface="微软雅黑"/>
              </a:rPr>
              <a:t>2</a:t>
            </a:r>
          </a:p>
        </p:txBody>
      </p:sp>
      <p:sp>
        <p:nvSpPr>
          <p:cNvPr id="7" name="Rectangle 6"/>
          <p:cNvSpPr/>
          <p:nvPr/>
        </p:nvSpPr>
        <p:spPr>
          <a:xfrm>
            <a:off x="502920" y="1353312"/>
            <a:ext cx="11109960" cy="9144"/>
          </a:xfrm>
          <a:prstGeom prst="rect">
            <a:avLst/>
          </a:prstGeom>
          <a:solidFill>
            <a:srgbClr val="D8DE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914400" y="1664208"/>
            <a:ext cx="10241280" cy="841248"/>
          </a:xfrm>
          <a:prstGeom prst="rect">
            <a:avLst/>
          </a:prstGeom>
          <a:noFill/>
        </p:spPr>
        <p:txBody>
          <a:bodyPr wrap="square" lIns="0" tIns="0" rIns="0" bIns="0" anchor="t">
            <a:spAutoFit/>
          </a:bodyPr>
          <a:lstStyle/>
          <a:p>
            <a:pPr algn="ctr">
              <a:lnSpc>
                <a:spcPct val="112000"/>
              </a:lnSpc>
              <a:spcAft>
                <a:spcPts val="0"/>
              </a:spcAft>
            </a:pPr>
            <a:r>
              <a:rPr sz="3000" b="1" i="0">
                <a:solidFill>
                  <a:srgbClr val="24477D"/>
                </a:solidFill>
                <a:latin typeface="Noto Serif CJK SC"/>
              </a:rPr>
              <a:t>“故其战胜不复，而应形于无穷。”</a:t>
            </a:r>
          </a:p>
        </p:txBody>
      </p:sp>
      <p:sp>
        <p:nvSpPr>
          <p:cNvPr id="9" name="TextBox 8"/>
          <p:cNvSpPr txBox="1"/>
          <p:nvPr/>
        </p:nvSpPr>
        <p:spPr>
          <a:xfrm>
            <a:off x="7452360" y="2596896"/>
            <a:ext cx="2926080" cy="310896"/>
          </a:xfrm>
          <a:prstGeom prst="rect">
            <a:avLst/>
          </a:prstGeom>
          <a:noFill/>
        </p:spPr>
        <p:txBody>
          <a:bodyPr wrap="square" lIns="0" tIns="0" rIns="0" bIns="0" anchor="t">
            <a:spAutoFit/>
          </a:bodyPr>
          <a:lstStyle/>
          <a:p>
            <a:pPr algn="ctr">
              <a:lnSpc>
                <a:spcPct val="112000"/>
              </a:lnSpc>
              <a:spcAft>
                <a:spcPts val="0"/>
              </a:spcAft>
            </a:pPr>
            <a:r>
              <a:rPr sz="1400" b="0" i="0">
                <a:solidFill>
                  <a:srgbClr val="667085"/>
                </a:solidFill>
                <a:latin typeface="Noto Serif CJK SC"/>
              </a:rPr>
              <a:t>——孙武《孙子兵法·虚实篇》</a:t>
            </a:r>
          </a:p>
        </p:txBody>
      </p:sp>
      <p:sp>
        <p:nvSpPr>
          <p:cNvPr id="10" name="Rounded Rectangle 9"/>
          <p:cNvSpPr/>
          <p:nvPr/>
        </p:nvSpPr>
        <p:spPr>
          <a:xfrm>
            <a:off x="1051560" y="3246120"/>
            <a:ext cx="10058400" cy="1993392"/>
          </a:xfrm>
          <a:prstGeom prst="roundRect">
            <a:avLst>
              <a:gd name="adj" fmla="val 4944"/>
            </a:avLst>
          </a:prstGeom>
          <a:solidFill>
            <a:srgbClr val="FFFFFF"/>
          </a:solidFill>
          <a:ln w="10160">
            <a:solidFill>
              <a:srgbClr val="E0E5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1051560" y="3246120"/>
            <a:ext cx="64008" cy="1993392"/>
          </a:xfrm>
          <a:prstGeom prst="rect">
            <a:avLst/>
          </a:prstGeom>
          <a:solidFill>
            <a:srgbClr val="C63F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1261872" y="3392424"/>
            <a:ext cx="9674352" cy="283464"/>
          </a:xfrm>
          <a:prstGeom prst="rect">
            <a:avLst/>
          </a:prstGeom>
          <a:noFill/>
        </p:spPr>
        <p:txBody>
          <a:bodyPr wrap="square" lIns="0" tIns="0" rIns="0" bIns="0" anchor="t">
            <a:spAutoFit/>
          </a:bodyPr>
          <a:lstStyle/>
          <a:p>
            <a:pPr algn="l">
              <a:lnSpc>
                <a:spcPct val="112000"/>
              </a:lnSpc>
              <a:spcAft>
                <a:spcPts val="0"/>
              </a:spcAft>
            </a:pPr>
            <a:r>
              <a:rPr sz="1750" b="1" i="0">
                <a:solidFill>
                  <a:srgbClr val="C63F45"/>
                </a:solidFill>
                <a:latin typeface="微软雅黑"/>
              </a:rPr>
              <a:t>虚实迁移技术的基本思想</a:t>
            </a:r>
          </a:p>
        </p:txBody>
      </p:sp>
      <p:sp>
        <p:nvSpPr>
          <p:cNvPr id="13" name="TextBox 12"/>
          <p:cNvSpPr txBox="1"/>
          <p:nvPr/>
        </p:nvSpPr>
        <p:spPr>
          <a:xfrm>
            <a:off x="1261872" y="3886200"/>
            <a:ext cx="9674352" cy="1078992"/>
          </a:xfrm>
          <a:prstGeom prst="rect">
            <a:avLst/>
          </a:prstGeom>
          <a:noFill/>
        </p:spPr>
        <p:txBody>
          <a:bodyPr wrap="square" lIns="0" tIns="0" rIns="0" bIns="0" anchor="t">
            <a:spAutoFit/>
          </a:bodyPr>
          <a:lstStyle/>
          <a:p>
            <a:pPr algn="l">
              <a:lnSpc>
                <a:spcPct val="112000"/>
              </a:lnSpc>
              <a:spcAft>
                <a:spcPts val="0"/>
              </a:spcAft>
            </a:pPr>
            <a:r>
              <a:rPr sz="1950" b="0" i="0">
                <a:solidFill>
                  <a:srgbClr val="222833"/>
                </a:solidFill>
                <a:latin typeface="微软雅黑"/>
              </a:rPr>
              <a:t>虚实迁移是连接虚拟仿真与物理现实的核心桥梁：机器人先在仿真环境中进行高效、安全、大规模的试错学习，再将初步技能平稳迁移到真实系统执行，从而降低真实训练成本、硬件损耗与安全风险。</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18872" cy="6858000"/>
          </a:xfrm>
          <a:prstGeom prst="rect">
            <a:avLst/>
          </a:prstGeom>
          <a:solidFill>
            <a:srgbClr val="3159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118872" y="0"/>
            <a:ext cx="41148" cy="6858000"/>
          </a:xfrm>
          <a:prstGeom prst="rect">
            <a:avLst/>
          </a:prstGeom>
          <a:solidFill>
            <a:srgbClr val="B7C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38912" y="137160"/>
            <a:ext cx="3474720" cy="164592"/>
          </a:xfrm>
          <a:prstGeom prst="rect">
            <a:avLst/>
          </a:prstGeom>
          <a:noFill/>
        </p:spPr>
        <p:txBody>
          <a:bodyPr wrap="square" lIns="0" tIns="0" rIns="0" bIns="0" anchor="t">
            <a:spAutoFit/>
          </a:bodyPr>
          <a:lstStyle/>
          <a:p>
            <a:pPr algn="l">
              <a:lnSpc>
                <a:spcPct val="112000"/>
              </a:lnSpc>
              <a:spcAft>
                <a:spcPts val="0"/>
              </a:spcAft>
            </a:pPr>
            <a:r>
              <a:rPr sz="1050" b="0" i="0">
                <a:solidFill>
                  <a:srgbClr val="8C98AA"/>
                </a:solidFill>
                <a:latin typeface="微软雅黑"/>
              </a:rPr>
              <a:t>具身智能导论 · 第 9 章</a:t>
            </a:r>
          </a:p>
        </p:txBody>
      </p:sp>
      <p:sp>
        <p:nvSpPr>
          <p:cNvPr id="5" name="TextBox 4"/>
          <p:cNvSpPr txBox="1"/>
          <p:nvPr/>
        </p:nvSpPr>
        <p:spPr>
          <a:xfrm>
            <a:off x="9144000" y="137160"/>
            <a:ext cx="2423160" cy="164592"/>
          </a:xfrm>
          <a:prstGeom prst="rect">
            <a:avLst/>
          </a:prstGeom>
          <a:noFill/>
        </p:spPr>
        <p:txBody>
          <a:bodyPr wrap="square" lIns="0" tIns="0" rIns="0" bIns="0" anchor="t">
            <a:spAutoFit/>
          </a:bodyPr>
          <a:lstStyle/>
          <a:p>
            <a:pPr algn="r">
              <a:lnSpc>
                <a:spcPct val="112000"/>
              </a:lnSpc>
              <a:spcAft>
                <a:spcPts val="0"/>
              </a:spcAft>
            </a:pPr>
            <a:r>
              <a:rPr sz="1050" b="0" i="0">
                <a:solidFill>
                  <a:srgbClr val="8C98AA"/>
                </a:solidFill>
                <a:latin typeface="微软雅黑"/>
              </a:rPr>
              <a:t>虚实迁移技术</a:t>
            </a:r>
          </a:p>
        </p:txBody>
      </p:sp>
      <p:sp>
        <p:nvSpPr>
          <p:cNvPr id="6" name="TextBox 5"/>
          <p:cNvSpPr txBox="1"/>
          <p:nvPr/>
        </p:nvSpPr>
        <p:spPr>
          <a:xfrm>
            <a:off x="502920" y="457200"/>
            <a:ext cx="10927080" cy="749808"/>
          </a:xfrm>
          <a:prstGeom prst="rect">
            <a:avLst/>
          </a:prstGeom>
          <a:noFill/>
        </p:spPr>
        <p:txBody>
          <a:bodyPr wrap="square" lIns="0" tIns="0" rIns="0" bIns="0" anchor="t">
            <a:spAutoFit/>
          </a:bodyPr>
          <a:lstStyle/>
          <a:p>
            <a:pPr algn="l">
              <a:lnSpc>
                <a:spcPct val="112000"/>
              </a:lnSpc>
              <a:spcAft>
                <a:spcPts val="0"/>
              </a:spcAft>
            </a:pPr>
            <a:r>
              <a:rPr sz="3500" b="1" i="0">
                <a:solidFill>
                  <a:srgbClr val="24477D"/>
                </a:solidFill>
                <a:latin typeface="微软雅黑"/>
              </a:rPr>
              <a:t>虚实迁移：连接虚拟仿真与物理现实的核心桥梁</a:t>
            </a:r>
          </a:p>
        </p:txBody>
      </p:sp>
      <p:sp>
        <p:nvSpPr>
          <p:cNvPr id="7" name="Rectangle 6"/>
          <p:cNvSpPr/>
          <p:nvPr/>
        </p:nvSpPr>
        <p:spPr>
          <a:xfrm>
            <a:off x="502920" y="1353312"/>
            <a:ext cx="11109960" cy="9144"/>
          </a:xfrm>
          <a:prstGeom prst="rect">
            <a:avLst/>
          </a:prstGeom>
          <a:solidFill>
            <a:srgbClr val="D8DE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1457432" y="6473952"/>
            <a:ext cx="347472" cy="164592"/>
          </a:xfrm>
          <a:prstGeom prst="rect">
            <a:avLst/>
          </a:prstGeom>
          <a:noFill/>
        </p:spPr>
        <p:txBody>
          <a:bodyPr wrap="square" lIns="0" tIns="0" rIns="0" bIns="0" anchor="t">
            <a:spAutoFit/>
          </a:bodyPr>
          <a:lstStyle/>
          <a:p>
            <a:pPr algn="r">
              <a:lnSpc>
                <a:spcPct val="112000"/>
              </a:lnSpc>
              <a:spcAft>
                <a:spcPts val="0"/>
              </a:spcAft>
            </a:pPr>
            <a:r>
              <a:rPr sz="1050" b="0" i="0">
                <a:solidFill>
                  <a:srgbClr val="8C98AA"/>
                </a:solidFill>
                <a:latin typeface="微软雅黑"/>
              </a:rPr>
              <a:t>3</a:t>
            </a:r>
          </a:p>
        </p:txBody>
      </p:sp>
      <p:sp>
        <p:nvSpPr>
          <p:cNvPr id="9" name="Rounded Rectangle 8"/>
          <p:cNvSpPr/>
          <p:nvPr/>
        </p:nvSpPr>
        <p:spPr>
          <a:xfrm>
            <a:off x="713232" y="1664208"/>
            <a:ext cx="3246120" cy="3063240"/>
          </a:xfrm>
          <a:prstGeom prst="roundRect">
            <a:avLst>
              <a:gd name="adj" fmla="val 3566"/>
            </a:avLst>
          </a:prstGeom>
          <a:solidFill>
            <a:srgbClr val="FFFFFF"/>
          </a:solidFill>
          <a:ln w="10160">
            <a:solidFill>
              <a:srgbClr val="E0E5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713232" y="1664208"/>
            <a:ext cx="64008" cy="3063240"/>
          </a:xfrm>
          <a:prstGeom prst="rect">
            <a:avLst/>
          </a:prstGeom>
          <a:solidFill>
            <a:srgbClr val="3159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923544" y="1810512"/>
            <a:ext cx="2862072" cy="347472"/>
          </a:xfrm>
          <a:prstGeom prst="rect">
            <a:avLst/>
          </a:prstGeom>
          <a:noFill/>
        </p:spPr>
        <p:txBody>
          <a:bodyPr wrap="square" lIns="0" tIns="0" rIns="0" bIns="0" anchor="t">
            <a:spAutoFit/>
          </a:bodyPr>
          <a:lstStyle/>
          <a:p>
            <a:pPr algn="l">
              <a:lnSpc>
                <a:spcPct val="112000"/>
              </a:lnSpc>
              <a:spcAft>
                <a:spcPts val="0"/>
              </a:spcAft>
            </a:pPr>
            <a:r>
              <a:rPr sz="2000" b="1" i="0">
                <a:solidFill>
                  <a:srgbClr val="31599B"/>
                </a:solidFill>
                <a:latin typeface="微软雅黑"/>
              </a:rPr>
              <a:t>仿真中学习</a:t>
            </a:r>
          </a:p>
        </p:txBody>
      </p:sp>
      <p:sp>
        <p:nvSpPr>
          <p:cNvPr id="12" name="TextBox 11"/>
          <p:cNvSpPr txBox="1"/>
          <p:nvPr/>
        </p:nvSpPr>
        <p:spPr>
          <a:xfrm>
            <a:off x="923544" y="2350008"/>
            <a:ext cx="2862072" cy="2221992"/>
          </a:xfrm>
          <a:prstGeom prst="rect">
            <a:avLst/>
          </a:prstGeom>
          <a:noFill/>
        </p:spPr>
        <p:txBody>
          <a:bodyPr wrap="square" lIns="0" tIns="0" rIns="0" bIns="0" anchor="t">
            <a:spAutoFit/>
          </a:bodyPr>
          <a:lstStyle/>
          <a:p>
            <a:pPr algn="l">
              <a:lnSpc>
                <a:spcPct val="112000"/>
              </a:lnSpc>
              <a:spcAft>
                <a:spcPts val="0"/>
              </a:spcAft>
            </a:pPr>
            <a:r>
              <a:rPr sz="1850" b="0" i="0">
                <a:solidFill>
                  <a:srgbClr val="222833"/>
                </a:solidFill>
                <a:latin typeface="微软雅黑"/>
              </a:rPr>
              <a:t>利用强化学习或模仿学习快速积累经验、优化策略，并能并行产生大量数据。</a:t>
            </a:r>
          </a:p>
        </p:txBody>
      </p:sp>
      <p:sp>
        <p:nvSpPr>
          <p:cNvPr id="13" name="Rounded Rectangle 12"/>
          <p:cNvSpPr/>
          <p:nvPr/>
        </p:nvSpPr>
        <p:spPr>
          <a:xfrm>
            <a:off x="4160520" y="1664208"/>
            <a:ext cx="3246120" cy="3063240"/>
          </a:xfrm>
          <a:prstGeom prst="roundRect">
            <a:avLst>
              <a:gd name="adj" fmla="val 3068"/>
            </a:avLst>
          </a:prstGeom>
          <a:solidFill>
            <a:srgbClr val="FFFFFF"/>
          </a:solidFill>
          <a:ln w="10160">
            <a:solidFill>
              <a:srgbClr val="E0E5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4160520" y="1664208"/>
            <a:ext cx="64008" cy="3063240"/>
          </a:xfrm>
          <a:prstGeom prst="rect">
            <a:avLst/>
          </a:prstGeom>
          <a:solidFill>
            <a:srgbClr val="2F8E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4370832" y="1810512"/>
            <a:ext cx="2862072" cy="347472"/>
          </a:xfrm>
          <a:prstGeom prst="rect">
            <a:avLst/>
          </a:prstGeom>
          <a:noFill/>
        </p:spPr>
        <p:txBody>
          <a:bodyPr wrap="square" lIns="0" tIns="0" rIns="0" bIns="0" anchor="t">
            <a:spAutoFit/>
          </a:bodyPr>
          <a:lstStyle/>
          <a:p>
            <a:pPr algn="l">
              <a:lnSpc>
                <a:spcPct val="112000"/>
              </a:lnSpc>
              <a:spcAft>
                <a:spcPts val="0"/>
              </a:spcAft>
            </a:pPr>
            <a:r>
              <a:rPr sz="2000" b="1" i="0">
                <a:solidFill>
                  <a:srgbClr val="2F8E72"/>
                </a:solidFill>
                <a:latin typeface="微软雅黑"/>
              </a:rPr>
              <a:t>跨域迁移</a:t>
            </a:r>
          </a:p>
        </p:txBody>
      </p:sp>
      <p:sp>
        <p:nvSpPr>
          <p:cNvPr id="16" name="TextBox 15"/>
          <p:cNvSpPr txBox="1"/>
          <p:nvPr/>
        </p:nvSpPr>
        <p:spPr>
          <a:xfrm>
            <a:off x="4370832" y="2350008"/>
            <a:ext cx="2862072" cy="2221992"/>
          </a:xfrm>
          <a:prstGeom prst="rect">
            <a:avLst/>
          </a:prstGeom>
          <a:noFill/>
        </p:spPr>
        <p:txBody>
          <a:bodyPr wrap="square" lIns="0" tIns="0" rIns="0" bIns="0" anchor="t">
            <a:spAutoFit/>
          </a:bodyPr>
          <a:lstStyle/>
          <a:p>
            <a:pPr algn="l">
              <a:lnSpc>
                <a:spcPct val="112000"/>
              </a:lnSpc>
              <a:spcAft>
                <a:spcPts val="0"/>
              </a:spcAft>
            </a:pPr>
            <a:r>
              <a:rPr sz="1850" b="0" i="0">
                <a:solidFill>
                  <a:srgbClr val="222833"/>
                </a:solidFill>
                <a:latin typeface="微软雅黑"/>
              </a:rPr>
              <a:t>通过随机化、校准、适配与快速微调，缩小仿真源域与现实目标域之间的域差距。</a:t>
            </a:r>
          </a:p>
        </p:txBody>
      </p:sp>
      <p:sp>
        <p:nvSpPr>
          <p:cNvPr id="17" name="Rounded Rectangle 16"/>
          <p:cNvSpPr/>
          <p:nvPr/>
        </p:nvSpPr>
        <p:spPr>
          <a:xfrm>
            <a:off x="7607808" y="1664208"/>
            <a:ext cx="3246120" cy="3063240"/>
          </a:xfrm>
          <a:prstGeom prst="roundRect">
            <a:avLst>
              <a:gd name="adj" fmla="val 4063"/>
            </a:avLst>
          </a:prstGeom>
          <a:solidFill>
            <a:srgbClr val="FFFFFF"/>
          </a:solidFill>
          <a:ln w="10160">
            <a:solidFill>
              <a:srgbClr val="E0E5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7607808" y="1664208"/>
            <a:ext cx="64008" cy="3063240"/>
          </a:xfrm>
          <a:prstGeom prst="rect">
            <a:avLst/>
          </a:prstGeom>
          <a:solidFill>
            <a:srgbClr val="C58A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7818120" y="1810512"/>
            <a:ext cx="2862072" cy="347472"/>
          </a:xfrm>
          <a:prstGeom prst="rect">
            <a:avLst/>
          </a:prstGeom>
          <a:noFill/>
        </p:spPr>
        <p:txBody>
          <a:bodyPr wrap="square" lIns="0" tIns="0" rIns="0" bIns="0" anchor="t">
            <a:spAutoFit/>
          </a:bodyPr>
          <a:lstStyle/>
          <a:p>
            <a:pPr algn="l">
              <a:lnSpc>
                <a:spcPct val="112000"/>
              </a:lnSpc>
              <a:spcAft>
                <a:spcPts val="0"/>
              </a:spcAft>
            </a:pPr>
            <a:r>
              <a:rPr sz="2000" b="1" i="0">
                <a:solidFill>
                  <a:srgbClr val="C58A24"/>
                </a:solidFill>
                <a:latin typeface="微软雅黑"/>
              </a:rPr>
              <a:t>真实部署</a:t>
            </a:r>
          </a:p>
        </p:txBody>
      </p:sp>
      <p:sp>
        <p:nvSpPr>
          <p:cNvPr id="20" name="TextBox 19"/>
          <p:cNvSpPr txBox="1"/>
          <p:nvPr/>
        </p:nvSpPr>
        <p:spPr>
          <a:xfrm>
            <a:off x="7818120" y="2350008"/>
            <a:ext cx="2862072" cy="2221992"/>
          </a:xfrm>
          <a:prstGeom prst="rect">
            <a:avLst/>
          </a:prstGeom>
          <a:noFill/>
        </p:spPr>
        <p:txBody>
          <a:bodyPr wrap="square" lIns="0" tIns="0" rIns="0" bIns="0" anchor="t">
            <a:spAutoFit/>
          </a:bodyPr>
          <a:lstStyle/>
          <a:p>
            <a:pPr algn="l">
              <a:lnSpc>
                <a:spcPct val="112000"/>
              </a:lnSpc>
              <a:spcAft>
                <a:spcPts val="0"/>
              </a:spcAft>
            </a:pPr>
            <a:r>
              <a:rPr sz="1850" b="0" i="0">
                <a:solidFill>
                  <a:srgbClr val="222833"/>
                </a:solidFill>
                <a:latin typeface="微软雅黑"/>
              </a:rPr>
              <a:t>在物理机器人上稳定执行任务，用少量真实反馈进一步验证和迭代。</a:t>
            </a:r>
          </a:p>
        </p:txBody>
      </p:sp>
      <p:sp>
        <p:nvSpPr>
          <p:cNvPr id="21" name="TextBox 20"/>
          <p:cNvSpPr txBox="1"/>
          <p:nvPr/>
        </p:nvSpPr>
        <p:spPr>
          <a:xfrm>
            <a:off x="640080" y="5321808"/>
            <a:ext cx="10972800" cy="502920"/>
          </a:xfrm>
          <a:prstGeom prst="rect">
            <a:avLst/>
          </a:prstGeom>
          <a:noFill/>
        </p:spPr>
        <p:txBody>
          <a:bodyPr wrap="square" lIns="0" tIns="0" rIns="0" bIns="0" anchor="ctr">
            <a:spAutoFit/>
          </a:bodyPr>
          <a:lstStyle/>
          <a:p>
            <a:pPr algn="ctr">
              <a:lnSpc>
                <a:spcPct val="112000"/>
              </a:lnSpc>
              <a:spcAft>
                <a:spcPts val="0"/>
              </a:spcAft>
            </a:pPr>
            <a:r>
              <a:rPr sz="2050" b="1" i="0">
                <a:solidFill>
                  <a:srgbClr val="24477D"/>
                </a:solidFill>
                <a:latin typeface="微软雅黑"/>
              </a:rPr>
              <a:t>目标：低成本高效率训练 + 高鲁棒部署验证。</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18872" cy="6858000"/>
          </a:xfrm>
          <a:prstGeom prst="rect">
            <a:avLst/>
          </a:prstGeom>
          <a:solidFill>
            <a:srgbClr val="3159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118872" y="0"/>
            <a:ext cx="41148" cy="6858000"/>
          </a:xfrm>
          <a:prstGeom prst="rect">
            <a:avLst/>
          </a:prstGeom>
          <a:solidFill>
            <a:srgbClr val="B7C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38912" y="137160"/>
            <a:ext cx="3474720" cy="164592"/>
          </a:xfrm>
          <a:prstGeom prst="rect">
            <a:avLst/>
          </a:prstGeom>
          <a:noFill/>
        </p:spPr>
        <p:txBody>
          <a:bodyPr wrap="square" lIns="0" tIns="0" rIns="0" bIns="0" anchor="t">
            <a:spAutoFit/>
          </a:bodyPr>
          <a:lstStyle/>
          <a:p>
            <a:pPr algn="l">
              <a:lnSpc>
                <a:spcPct val="112000"/>
              </a:lnSpc>
              <a:spcAft>
                <a:spcPts val="0"/>
              </a:spcAft>
            </a:pPr>
            <a:r>
              <a:rPr sz="1050" b="0" i="0">
                <a:solidFill>
                  <a:srgbClr val="8C98AA"/>
                </a:solidFill>
                <a:latin typeface="微软雅黑"/>
              </a:rPr>
              <a:t>具身智能导论 · 第 9 章</a:t>
            </a:r>
          </a:p>
        </p:txBody>
      </p:sp>
      <p:sp>
        <p:nvSpPr>
          <p:cNvPr id="5" name="TextBox 4"/>
          <p:cNvSpPr txBox="1"/>
          <p:nvPr/>
        </p:nvSpPr>
        <p:spPr>
          <a:xfrm>
            <a:off x="9144000" y="137160"/>
            <a:ext cx="2423160" cy="164592"/>
          </a:xfrm>
          <a:prstGeom prst="rect">
            <a:avLst/>
          </a:prstGeom>
          <a:noFill/>
        </p:spPr>
        <p:txBody>
          <a:bodyPr wrap="square" lIns="0" tIns="0" rIns="0" bIns="0" anchor="t">
            <a:spAutoFit/>
          </a:bodyPr>
          <a:lstStyle/>
          <a:p>
            <a:pPr algn="r">
              <a:lnSpc>
                <a:spcPct val="112000"/>
              </a:lnSpc>
              <a:spcAft>
                <a:spcPts val="0"/>
              </a:spcAft>
            </a:pPr>
            <a:r>
              <a:rPr sz="1050" b="0" i="0">
                <a:solidFill>
                  <a:srgbClr val="8C98AA"/>
                </a:solidFill>
                <a:latin typeface="微软雅黑"/>
              </a:rPr>
              <a:t>虚实迁移技术</a:t>
            </a:r>
          </a:p>
        </p:txBody>
      </p:sp>
      <p:sp>
        <p:nvSpPr>
          <p:cNvPr id="6" name="TextBox 5"/>
          <p:cNvSpPr txBox="1"/>
          <p:nvPr/>
        </p:nvSpPr>
        <p:spPr>
          <a:xfrm>
            <a:off x="502920" y="457200"/>
            <a:ext cx="10927080" cy="749808"/>
          </a:xfrm>
          <a:prstGeom prst="rect">
            <a:avLst/>
          </a:prstGeom>
          <a:noFill/>
        </p:spPr>
        <p:txBody>
          <a:bodyPr wrap="square" lIns="0" tIns="0" rIns="0" bIns="0" anchor="t">
            <a:spAutoFit/>
          </a:bodyPr>
          <a:lstStyle/>
          <a:p>
            <a:pPr algn="l">
              <a:lnSpc>
                <a:spcPct val="112000"/>
              </a:lnSpc>
              <a:spcAft>
                <a:spcPts val="0"/>
              </a:spcAft>
            </a:pPr>
            <a:r>
              <a:rPr sz="3500" b="1" i="0">
                <a:solidFill>
                  <a:srgbClr val="24477D"/>
                </a:solidFill>
                <a:latin typeface="微软雅黑"/>
              </a:rPr>
              <a:t>学习目标</a:t>
            </a:r>
          </a:p>
        </p:txBody>
      </p:sp>
      <p:sp>
        <p:nvSpPr>
          <p:cNvPr id="7" name="Rectangle 6"/>
          <p:cNvSpPr/>
          <p:nvPr/>
        </p:nvSpPr>
        <p:spPr>
          <a:xfrm>
            <a:off x="502920" y="1353312"/>
            <a:ext cx="11109960" cy="9144"/>
          </a:xfrm>
          <a:prstGeom prst="rect">
            <a:avLst/>
          </a:prstGeom>
          <a:solidFill>
            <a:srgbClr val="D8DE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1457432" y="6473952"/>
            <a:ext cx="347472" cy="164592"/>
          </a:xfrm>
          <a:prstGeom prst="rect">
            <a:avLst/>
          </a:prstGeom>
          <a:noFill/>
        </p:spPr>
        <p:txBody>
          <a:bodyPr wrap="square" lIns="0" tIns="0" rIns="0" bIns="0" anchor="t">
            <a:spAutoFit/>
          </a:bodyPr>
          <a:lstStyle/>
          <a:p>
            <a:pPr algn="r">
              <a:lnSpc>
                <a:spcPct val="112000"/>
              </a:lnSpc>
              <a:spcAft>
                <a:spcPts val="0"/>
              </a:spcAft>
            </a:pPr>
            <a:r>
              <a:rPr sz="1050" b="0" i="0">
                <a:solidFill>
                  <a:srgbClr val="8C98AA"/>
                </a:solidFill>
                <a:latin typeface="微软雅黑"/>
              </a:rPr>
              <a:t>4</a:t>
            </a:r>
          </a:p>
        </p:txBody>
      </p:sp>
      <p:sp>
        <p:nvSpPr>
          <p:cNvPr id="9" name="Rounded Rectangle 8"/>
          <p:cNvSpPr/>
          <p:nvPr/>
        </p:nvSpPr>
        <p:spPr>
          <a:xfrm>
            <a:off x="621792" y="1572768"/>
            <a:ext cx="3346704" cy="1664208"/>
          </a:xfrm>
          <a:prstGeom prst="roundRect">
            <a:avLst/>
          </a:prstGeom>
          <a:solidFill>
            <a:srgbClr val="FFFFFF"/>
          </a:solidFill>
          <a:ln w="10160">
            <a:solidFill>
              <a:srgbClr val="E0E5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621792" y="1572768"/>
            <a:ext cx="64008" cy="1664208"/>
          </a:xfrm>
          <a:prstGeom prst="rect">
            <a:avLst/>
          </a:prstGeom>
          <a:solidFill>
            <a:srgbClr val="3159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32104" y="1719072"/>
            <a:ext cx="2962656" cy="347472"/>
          </a:xfrm>
          <a:prstGeom prst="rect">
            <a:avLst/>
          </a:prstGeom>
          <a:noFill/>
        </p:spPr>
        <p:txBody>
          <a:bodyPr wrap="square" lIns="0" tIns="0" rIns="0" bIns="0" anchor="t">
            <a:spAutoFit/>
          </a:bodyPr>
          <a:lstStyle/>
          <a:p>
            <a:pPr algn="l">
              <a:lnSpc>
                <a:spcPct val="112000"/>
              </a:lnSpc>
              <a:spcAft>
                <a:spcPts val="0"/>
              </a:spcAft>
            </a:pPr>
            <a:r>
              <a:rPr sz="1800" b="1" i="0">
                <a:solidFill>
                  <a:srgbClr val="31599B"/>
                </a:solidFill>
                <a:latin typeface="微软雅黑"/>
              </a:rPr>
              <a:t>01  基础概念</a:t>
            </a:r>
          </a:p>
        </p:txBody>
      </p:sp>
      <p:sp>
        <p:nvSpPr>
          <p:cNvPr id="12" name="TextBox 11"/>
          <p:cNvSpPr txBox="1"/>
          <p:nvPr/>
        </p:nvSpPr>
        <p:spPr>
          <a:xfrm>
            <a:off x="832104" y="2258568"/>
            <a:ext cx="2962656" cy="822960"/>
          </a:xfrm>
          <a:prstGeom prst="rect">
            <a:avLst/>
          </a:prstGeom>
          <a:noFill/>
        </p:spPr>
        <p:txBody>
          <a:bodyPr wrap="square" lIns="0" tIns="0" rIns="0" bIns="0" anchor="t">
            <a:spAutoFit/>
          </a:bodyPr>
          <a:lstStyle/>
          <a:p>
            <a:pPr algn="l">
              <a:lnSpc>
                <a:spcPct val="112000"/>
              </a:lnSpc>
              <a:spcAft>
                <a:spcPts val="0"/>
              </a:spcAft>
            </a:pPr>
            <a:r>
              <a:rPr sz="1650" b="0" i="0">
                <a:solidFill>
                  <a:srgbClr val="222833"/>
                </a:solidFill>
                <a:latin typeface="微软雅黑"/>
              </a:rPr>
              <a:t>理解虚实迁移的地位、仿真与现实的互补性，以及域差距的主要表现形式。</a:t>
            </a:r>
          </a:p>
        </p:txBody>
      </p:sp>
      <p:sp>
        <p:nvSpPr>
          <p:cNvPr id="13" name="Rounded Rectangle 12"/>
          <p:cNvSpPr/>
          <p:nvPr/>
        </p:nvSpPr>
        <p:spPr>
          <a:xfrm>
            <a:off x="4169663" y="1572768"/>
            <a:ext cx="3346704" cy="1664208"/>
          </a:xfrm>
          <a:prstGeom prst="roundRect">
            <a:avLst/>
          </a:prstGeom>
          <a:solidFill>
            <a:srgbClr val="FFFFFF"/>
          </a:solidFill>
          <a:ln w="10160">
            <a:solidFill>
              <a:srgbClr val="E0E5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4169663" y="1572768"/>
            <a:ext cx="64008" cy="1664208"/>
          </a:xfrm>
          <a:prstGeom prst="rect">
            <a:avLst/>
          </a:prstGeom>
          <a:solidFill>
            <a:srgbClr val="2F8E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4379976" y="1719072"/>
            <a:ext cx="2962656" cy="347472"/>
          </a:xfrm>
          <a:prstGeom prst="rect">
            <a:avLst/>
          </a:prstGeom>
          <a:noFill/>
        </p:spPr>
        <p:txBody>
          <a:bodyPr wrap="square" lIns="0" tIns="0" rIns="0" bIns="0" anchor="t">
            <a:spAutoFit/>
          </a:bodyPr>
          <a:lstStyle/>
          <a:p>
            <a:pPr algn="l">
              <a:lnSpc>
                <a:spcPct val="112000"/>
              </a:lnSpc>
              <a:spcAft>
                <a:spcPts val="0"/>
              </a:spcAft>
            </a:pPr>
            <a:r>
              <a:rPr sz="1800" b="1" i="0">
                <a:solidFill>
                  <a:srgbClr val="2F8E72"/>
                </a:solidFill>
                <a:latin typeface="微软雅黑"/>
              </a:rPr>
              <a:t>02  关键技术</a:t>
            </a:r>
          </a:p>
        </p:txBody>
      </p:sp>
      <p:sp>
        <p:nvSpPr>
          <p:cNvPr id="16" name="TextBox 15"/>
          <p:cNvSpPr txBox="1"/>
          <p:nvPr/>
        </p:nvSpPr>
        <p:spPr>
          <a:xfrm>
            <a:off x="4379976" y="2258568"/>
            <a:ext cx="2962656" cy="822960"/>
          </a:xfrm>
          <a:prstGeom prst="rect">
            <a:avLst/>
          </a:prstGeom>
          <a:noFill/>
        </p:spPr>
        <p:txBody>
          <a:bodyPr wrap="square" lIns="0" tIns="0" rIns="0" bIns="0" anchor="t">
            <a:spAutoFit/>
          </a:bodyPr>
          <a:lstStyle/>
          <a:p>
            <a:pPr algn="l">
              <a:lnSpc>
                <a:spcPct val="112000"/>
              </a:lnSpc>
              <a:spcAft>
                <a:spcPts val="0"/>
              </a:spcAft>
            </a:pPr>
            <a:r>
              <a:rPr sz="1650" b="0" i="0">
                <a:solidFill>
                  <a:srgbClr val="222833"/>
                </a:solidFill>
                <a:latin typeface="微软雅黑"/>
              </a:rPr>
              <a:t>熟悉域随机化、域自适应、系统辨识模型校准、元迁移学习等技术框架及数学原理。</a:t>
            </a:r>
          </a:p>
        </p:txBody>
      </p:sp>
      <p:sp>
        <p:nvSpPr>
          <p:cNvPr id="17" name="Rounded Rectangle 16"/>
          <p:cNvSpPr/>
          <p:nvPr/>
        </p:nvSpPr>
        <p:spPr>
          <a:xfrm>
            <a:off x="7717536" y="1572768"/>
            <a:ext cx="3346704" cy="1664208"/>
          </a:xfrm>
          <a:prstGeom prst="roundRect">
            <a:avLst/>
          </a:prstGeom>
          <a:solidFill>
            <a:srgbClr val="FFFFFF"/>
          </a:solidFill>
          <a:ln w="10160">
            <a:solidFill>
              <a:srgbClr val="E0E5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7717536" y="1572768"/>
            <a:ext cx="64008" cy="1664208"/>
          </a:xfrm>
          <a:prstGeom prst="rect">
            <a:avLst/>
          </a:prstGeom>
          <a:solidFill>
            <a:srgbClr val="C58A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7927848" y="1719072"/>
            <a:ext cx="2962656" cy="347472"/>
          </a:xfrm>
          <a:prstGeom prst="rect">
            <a:avLst/>
          </a:prstGeom>
          <a:noFill/>
        </p:spPr>
        <p:txBody>
          <a:bodyPr wrap="square" lIns="0" tIns="0" rIns="0" bIns="0" anchor="t">
            <a:spAutoFit/>
          </a:bodyPr>
          <a:lstStyle/>
          <a:p>
            <a:pPr algn="l">
              <a:lnSpc>
                <a:spcPct val="112000"/>
              </a:lnSpc>
              <a:spcAft>
                <a:spcPts val="0"/>
              </a:spcAft>
            </a:pPr>
            <a:r>
              <a:rPr sz="1800" b="1" i="0">
                <a:solidFill>
                  <a:srgbClr val="C58A24"/>
                </a:solidFill>
                <a:latin typeface="微软雅黑"/>
              </a:rPr>
              <a:t>03  典型范式</a:t>
            </a:r>
          </a:p>
        </p:txBody>
      </p:sp>
      <p:sp>
        <p:nvSpPr>
          <p:cNvPr id="20" name="TextBox 19"/>
          <p:cNvSpPr txBox="1"/>
          <p:nvPr/>
        </p:nvSpPr>
        <p:spPr>
          <a:xfrm>
            <a:off x="7927848" y="2258568"/>
            <a:ext cx="2962656" cy="822960"/>
          </a:xfrm>
          <a:prstGeom prst="rect">
            <a:avLst/>
          </a:prstGeom>
          <a:noFill/>
        </p:spPr>
        <p:txBody>
          <a:bodyPr wrap="square" lIns="0" tIns="0" rIns="0" bIns="0" anchor="t">
            <a:spAutoFit/>
          </a:bodyPr>
          <a:lstStyle/>
          <a:p>
            <a:pPr algn="l">
              <a:lnSpc>
                <a:spcPct val="112000"/>
              </a:lnSpc>
              <a:spcAft>
                <a:spcPts val="0"/>
              </a:spcAft>
            </a:pPr>
            <a:r>
              <a:rPr sz="1650" b="0" i="0">
                <a:solidFill>
                  <a:srgbClr val="222833"/>
                </a:solidFill>
                <a:latin typeface="微软雅黑"/>
              </a:rPr>
              <a:t>区分 Sim2Real 闭环、零/少样本迁移、基于大模型与端到端迁移等典型范式。</a:t>
            </a:r>
          </a:p>
        </p:txBody>
      </p:sp>
      <p:sp>
        <p:nvSpPr>
          <p:cNvPr id="21" name="Rounded Rectangle 20"/>
          <p:cNvSpPr/>
          <p:nvPr/>
        </p:nvSpPr>
        <p:spPr>
          <a:xfrm>
            <a:off x="2395728" y="3584448"/>
            <a:ext cx="3346704" cy="1664208"/>
          </a:xfrm>
          <a:prstGeom prst="roundRect">
            <a:avLst/>
          </a:prstGeom>
          <a:solidFill>
            <a:srgbClr val="FFFFFF"/>
          </a:solidFill>
          <a:ln w="10160">
            <a:solidFill>
              <a:srgbClr val="E0E5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2395728" y="3584448"/>
            <a:ext cx="64008" cy="1664208"/>
          </a:xfrm>
          <a:prstGeom prst="rect">
            <a:avLst/>
          </a:prstGeom>
          <a:solidFill>
            <a:srgbClr val="C63F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2606040" y="3730752"/>
            <a:ext cx="2962656" cy="347472"/>
          </a:xfrm>
          <a:prstGeom prst="rect">
            <a:avLst/>
          </a:prstGeom>
          <a:noFill/>
        </p:spPr>
        <p:txBody>
          <a:bodyPr wrap="square" lIns="0" tIns="0" rIns="0" bIns="0" anchor="t">
            <a:spAutoFit/>
          </a:bodyPr>
          <a:lstStyle/>
          <a:p>
            <a:pPr algn="l">
              <a:lnSpc>
                <a:spcPct val="112000"/>
              </a:lnSpc>
              <a:spcAft>
                <a:spcPts val="0"/>
              </a:spcAft>
            </a:pPr>
            <a:r>
              <a:rPr sz="1800" b="1" i="0">
                <a:solidFill>
                  <a:srgbClr val="C63F45"/>
                </a:solidFill>
                <a:latin typeface="微软雅黑"/>
              </a:rPr>
              <a:t>04  性能评估</a:t>
            </a:r>
          </a:p>
        </p:txBody>
      </p:sp>
      <p:sp>
        <p:nvSpPr>
          <p:cNvPr id="24" name="TextBox 23"/>
          <p:cNvSpPr txBox="1"/>
          <p:nvPr/>
        </p:nvSpPr>
        <p:spPr>
          <a:xfrm>
            <a:off x="2606040" y="4270248"/>
            <a:ext cx="2962656" cy="822960"/>
          </a:xfrm>
          <a:prstGeom prst="rect">
            <a:avLst/>
          </a:prstGeom>
          <a:noFill/>
        </p:spPr>
        <p:txBody>
          <a:bodyPr wrap="square" lIns="0" tIns="0" rIns="0" bIns="0" anchor="t">
            <a:spAutoFit/>
          </a:bodyPr>
          <a:lstStyle/>
          <a:p>
            <a:pPr algn="l">
              <a:lnSpc>
                <a:spcPct val="112000"/>
              </a:lnSpc>
              <a:spcAft>
                <a:spcPts val="0"/>
              </a:spcAft>
            </a:pPr>
            <a:r>
              <a:rPr sz="1650" b="0" i="0">
                <a:solidFill>
                  <a:srgbClr val="222833"/>
                </a:solidFill>
                <a:latin typeface="微软雅黑"/>
              </a:rPr>
              <a:t>掌握任务性能、效率、鲁棒性、泛化误差和域差距量化指标，并能设计评估流程。</a:t>
            </a:r>
          </a:p>
        </p:txBody>
      </p:sp>
      <p:sp>
        <p:nvSpPr>
          <p:cNvPr id="25" name="Rounded Rectangle 24"/>
          <p:cNvSpPr/>
          <p:nvPr/>
        </p:nvSpPr>
        <p:spPr>
          <a:xfrm>
            <a:off x="5943600" y="3584448"/>
            <a:ext cx="3346704" cy="1664208"/>
          </a:xfrm>
          <a:prstGeom prst="roundRect">
            <a:avLst/>
          </a:prstGeom>
          <a:solidFill>
            <a:srgbClr val="FFFFFF"/>
          </a:solidFill>
          <a:ln w="10160">
            <a:solidFill>
              <a:srgbClr val="E0E5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ectangle 25"/>
          <p:cNvSpPr/>
          <p:nvPr/>
        </p:nvSpPr>
        <p:spPr>
          <a:xfrm>
            <a:off x="5943600" y="3584448"/>
            <a:ext cx="64008" cy="1664208"/>
          </a:xfrm>
          <a:prstGeom prst="rect">
            <a:avLst/>
          </a:prstGeom>
          <a:solidFill>
            <a:srgbClr val="7558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6153912" y="3730752"/>
            <a:ext cx="2962656" cy="347472"/>
          </a:xfrm>
          <a:prstGeom prst="rect">
            <a:avLst/>
          </a:prstGeom>
          <a:noFill/>
        </p:spPr>
        <p:txBody>
          <a:bodyPr wrap="square" lIns="0" tIns="0" rIns="0" bIns="0" anchor="t">
            <a:spAutoFit/>
          </a:bodyPr>
          <a:lstStyle/>
          <a:p>
            <a:pPr algn="l">
              <a:lnSpc>
                <a:spcPct val="112000"/>
              </a:lnSpc>
              <a:spcAft>
                <a:spcPts val="0"/>
              </a:spcAft>
            </a:pPr>
            <a:r>
              <a:rPr sz="1800" b="1" i="0">
                <a:solidFill>
                  <a:srgbClr val="7558A8"/>
                </a:solidFill>
                <a:latin typeface="微软雅黑"/>
              </a:rPr>
              <a:t>05  实践复现</a:t>
            </a:r>
          </a:p>
        </p:txBody>
      </p:sp>
      <p:sp>
        <p:nvSpPr>
          <p:cNvPr id="28" name="TextBox 27"/>
          <p:cNvSpPr txBox="1"/>
          <p:nvPr/>
        </p:nvSpPr>
        <p:spPr>
          <a:xfrm>
            <a:off x="6153912" y="4270248"/>
            <a:ext cx="2962656" cy="822960"/>
          </a:xfrm>
          <a:prstGeom prst="rect">
            <a:avLst/>
          </a:prstGeom>
          <a:noFill/>
        </p:spPr>
        <p:txBody>
          <a:bodyPr wrap="square" lIns="0" tIns="0" rIns="0" bIns="0" anchor="t">
            <a:spAutoFit/>
          </a:bodyPr>
          <a:lstStyle/>
          <a:p>
            <a:pPr algn="l">
              <a:lnSpc>
                <a:spcPct val="112000"/>
              </a:lnSpc>
              <a:spcAft>
                <a:spcPts val="0"/>
              </a:spcAft>
            </a:pPr>
            <a:r>
              <a:rPr sz="1650" b="0" i="0">
                <a:solidFill>
                  <a:srgbClr val="222833"/>
                </a:solidFill>
                <a:latin typeface="微软雅黑"/>
              </a:rPr>
              <a:t>基于 SO-ARM100/101 开源平台完成从仿真训练到真实部署的完整虚实迁移实验。</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18872" cy="6858000"/>
          </a:xfrm>
          <a:prstGeom prst="rect">
            <a:avLst/>
          </a:prstGeom>
          <a:solidFill>
            <a:srgbClr val="3159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118872" y="0"/>
            <a:ext cx="41148" cy="6858000"/>
          </a:xfrm>
          <a:prstGeom prst="rect">
            <a:avLst/>
          </a:prstGeom>
          <a:solidFill>
            <a:srgbClr val="B7C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38912" y="137160"/>
            <a:ext cx="3474720" cy="164592"/>
          </a:xfrm>
          <a:prstGeom prst="rect">
            <a:avLst/>
          </a:prstGeom>
          <a:noFill/>
        </p:spPr>
        <p:txBody>
          <a:bodyPr wrap="square" lIns="0" tIns="0" rIns="0" bIns="0" anchor="t">
            <a:spAutoFit/>
          </a:bodyPr>
          <a:lstStyle/>
          <a:p>
            <a:pPr algn="l">
              <a:lnSpc>
                <a:spcPct val="112000"/>
              </a:lnSpc>
              <a:spcAft>
                <a:spcPts val="0"/>
              </a:spcAft>
            </a:pPr>
            <a:r>
              <a:rPr sz="1050" b="0" i="0">
                <a:solidFill>
                  <a:srgbClr val="8C98AA"/>
                </a:solidFill>
                <a:latin typeface="微软雅黑"/>
              </a:rPr>
              <a:t>具身智能导论 · 第 9 章</a:t>
            </a:r>
          </a:p>
        </p:txBody>
      </p:sp>
      <p:sp>
        <p:nvSpPr>
          <p:cNvPr id="5" name="TextBox 4"/>
          <p:cNvSpPr txBox="1"/>
          <p:nvPr/>
        </p:nvSpPr>
        <p:spPr>
          <a:xfrm>
            <a:off x="9144000" y="137160"/>
            <a:ext cx="2423160" cy="164592"/>
          </a:xfrm>
          <a:prstGeom prst="rect">
            <a:avLst/>
          </a:prstGeom>
          <a:noFill/>
        </p:spPr>
        <p:txBody>
          <a:bodyPr wrap="square" lIns="0" tIns="0" rIns="0" bIns="0" anchor="t">
            <a:spAutoFit/>
          </a:bodyPr>
          <a:lstStyle/>
          <a:p>
            <a:pPr algn="r">
              <a:lnSpc>
                <a:spcPct val="112000"/>
              </a:lnSpc>
              <a:spcAft>
                <a:spcPts val="0"/>
              </a:spcAft>
            </a:pPr>
            <a:r>
              <a:rPr sz="1050" b="0" i="0">
                <a:solidFill>
                  <a:srgbClr val="8C98AA"/>
                </a:solidFill>
                <a:latin typeface="微软雅黑"/>
              </a:rPr>
              <a:t>虚实迁移技术</a:t>
            </a:r>
          </a:p>
        </p:txBody>
      </p:sp>
      <p:sp>
        <p:nvSpPr>
          <p:cNvPr id="6" name="TextBox 5"/>
          <p:cNvSpPr txBox="1"/>
          <p:nvPr/>
        </p:nvSpPr>
        <p:spPr>
          <a:xfrm>
            <a:off x="502920" y="457200"/>
            <a:ext cx="10927080" cy="749808"/>
          </a:xfrm>
          <a:prstGeom prst="rect">
            <a:avLst/>
          </a:prstGeom>
          <a:noFill/>
        </p:spPr>
        <p:txBody>
          <a:bodyPr wrap="square" lIns="0" tIns="0" rIns="0" bIns="0" anchor="t">
            <a:spAutoFit/>
          </a:bodyPr>
          <a:lstStyle/>
          <a:p>
            <a:pPr algn="l">
              <a:lnSpc>
                <a:spcPct val="112000"/>
              </a:lnSpc>
              <a:spcAft>
                <a:spcPts val="0"/>
              </a:spcAft>
            </a:pPr>
            <a:r>
              <a:rPr sz="3500" b="1" i="0">
                <a:solidFill>
                  <a:srgbClr val="24477D"/>
                </a:solidFill>
                <a:latin typeface="微软雅黑"/>
              </a:rPr>
              <a:t>本章目录</a:t>
            </a:r>
          </a:p>
        </p:txBody>
      </p:sp>
      <p:sp>
        <p:nvSpPr>
          <p:cNvPr id="7" name="Rectangle 6"/>
          <p:cNvSpPr/>
          <p:nvPr/>
        </p:nvSpPr>
        <p:spPr>
          <a:xfrm>
            <a:off x="502920" y="1353312"/>
            <a:ext cx="11109960" cy="9144"/>
          </a:xfrm>
          <a:prstGeom prst="rect">
            <a:avLst/>
          </a:prstGeom>
          <a:solidFill>
            <a:srgbClr val="D8DE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1457432" y="6473952"/>
            <a:ext cx="347472" cy="164592"/>
          </a:xfrm>
          <a:prstGeom prst="rect">
            <a:avLst/>
          </a:prstGeom>
          <a:noFill/>
        </p:spPr>
        <p:txBody>
          <a:bodyPr wrap="square" lIns="0" tIns="0" rIns="0" bIns="0" anchor="t">
            <a:spAutoFit/>
          </a:bodyPr>
          <a:lstStyle/>
          <a:p>
            <a:pPr algn="r">
              <a:lnSpc>
                <a:spcPct val="112000"/>
              </a:lnSpc>
              <a:spcAft>
                <a:spcPts val="0"/>
              </a:spcAft>
            </a:pPr>
            <a:r>
              <a:rPr sz="1050" b="0" i="0">
                <a:solidFill>
                  <a:srgbClr val="8C98AA"/>
                </a:solidFill>
                <a:latin typeface="微软雅黑"/>
              </a:rPr>
              <a:t>5</a:t>
            </a:r>
          </a:p>
        </p:txBody>
      </p:sp>
      <p:sp>
        <p:nvSpPr>
          <p:cNvPr id="9" name="TextBox 8"/>
          <p:cNvSpPr txBox="1"/>
          <p:nvPr/>
        </p:nvSpPr>
        <p:spPr>
          <a:xfrm>
            <a:off x="731520" y="1444752"/>
            <a:ext cx="777240" cy="402336"/>
          </a:xfrm>
          <a:prstGeom prst="rect">
            <a:avLst/>
          </a:prstGeom>
          <a:noFill/>
        </p:spPr>
        <p:txBody>
          <a:bodyPr wrap="square" lIns="0" tIns="0" rIns="0" bIns="0" anchor="t">
            <a:spAutoFit/>
          </a:bodyPr>
          <a:lstStyle/>
          <a:p>
            <a:pPr algn="l">
              <a:lnSpc>
                <a:spcPct val="112000"/>
              </a:lnSpc>
              <a:spcAft>
                <a:spcPts val="0"/>
              </a:spcAft>
            </a:pPr>
            <a:r>
              <a:rPr sz="2300" b="1" i="0">
                <a:solidFill>
                  <a:srgbClr val="31599B"/>
                </a:solidFill>
                <a:latin typeface="微软雅黑"/>
              </a:rPr>
              <a:t>9.1</a:t>
            </a:r>
          </a:p>
        </p:txBody>
      </p:sp>
      <p:sp>
        <p:nvSpPr>
          <p:cNvPr id="10" name="TextBox 9"/>
          <p:cNvSpPr txBox="1"/>
          <p:nvPr/>
        </p:nvSpPr>
        <p:spPr>
          <a:xfrm>
            <a:off x="1600200" y="1444752"/>
            <a:ext cx="8869680" cy="402336"/>
          </a:xfrm>
          <a:prstGeom prst="rect">
            <a:avLst/>
          </a:prstGeom>
          <a:noFill/>
        </p:spPr>
        <p:txBody>
          <a:bodyPr wrap="square" lIns="0" tIns="0" rIns="0" bIns="0" anchor="t">
            <a:spAutoFit/>
          </a:bodyPr>
          <a:lstStyle/>
          <a:p>
            <a:pPr algn="l">
              <a:lnSpc>
                <a:spcPct val="112000"/>
              </a:lnSpc>
              <a:spcAft>
                <a:spcPts val="0"/>
              </a:spcAft>
            </a:pPr>
            <a:r>
              <a:rPr sz="2300" b="1" i="0">
                <a:solidFill>
                  <a:srgbClr val="222833"/>
                </a:solidFill>
                <a:latin typeface="微软雅黑"/>
              </a:rPr>
              <a:t>虚实迁移概述</a:t>
            </a:r>
          </a:p>
        </p:txBody>
      </p:sp>
      <p:sp>
        <p:nvSpPr>
          <p:cNvPr id="11" name="Rectangle 10"/>
          <p:cNvSpPr/>
          <p:nvPr/>
        </p:nvSpPr>
        <p:spPr>
          <a:xfrm>
            <a:off x="731520" y="1856232"/>
            <a:ext cx="10241280" cy="9144"/>
          </a:xfrm>
          <a:prstGeom prst="rect">
            <a:avLst/>
          </a:prstGeom>
          <a:solidFill>
            <a:srgbClr val="E3E7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731520" y="2066544"/>
            <a:ext cx="777240" cy="402336"/>
          </a:xfrm>
          <a:prstGeom prst="rect">
            <a:avLst/>
          </a:prstGeom>
          <a:noFill/>
        </p:spPr>
        <p:txBody>
          <a:bodyPr wrap="square" lIns="0" tIns="0" rIns="0" bIns="0" anchor="t">
            <a:spAutoFit/>
          </a:bodyPr>
          <a:lstStyle/>
          <a:p>
            <a:pPr algn="l">
              <a:lnSpc>
                <a:spcPct val="112000"/>
              </a:lnSpc>
              <a:spcAft>
                <a:spcPts val="0"/>
              </a:spcAft>
            </a:pPr>
            <a:r>
              <a:rPr sz="2300" b="1" i="0">
                <a:solidFill>
                  <a:srgbClr val="31599B"/>
                </a:solidFill>
                <a:latin typeface="微软雅黑"/>
              </a:rPr>
              <a:t>9.2</a:t>
            </a:r>
          </a:p>
        </p:txBody>
      </p:sp>
      <p:sp>
        <p:nvSpPr>
          <p:cNvPr id="13" name="TextBox 12"/>
          <p:cNvSpPr txBox="1"/>
          <p:nvPr/>
        </p:nvSpPr>
        <p:spPr>
          <a:xfrm>
            <a:off x="1600200" y="2066544"/>
            <a:ext cx="8869680" cy="402336"/>
          </a:xfrm>
          <a:prstGeom prst="rect">
            <a:avLst/>
          </a:prstGeom>
          <a:noFill/>
        </p:spPr>
        <p:txBody>
          <a:bodyPr wrap="square" lIns="0" tIns="0" rIns="0" bIns="0" anchor="t">
            <a:spAutoFit/>
          </a:bodyPr>
          <a:lstStyle/>
          <a:p>
            <a:pPr algn="l">
              <a:lnSpc>
                <a:spcPct val="112000"/>
              </a:lnSpc>
              <a:spcAft>
                <a:spcPts val="0"/>
              </a:spcAft>
            </a:pPr>
            <a:r>
              <a:rPr sz="2300" b="1" i="0">
                <a:solidFill>
                  <a:srgbClr val="222833"/>
                </a:solidFill>
                <a:latin typeface="微软雅黑"/>
              </a:rPr>
              <a:t>典型的虚实迁移技术</a:t>
            </a:r>
          </a:p>
        </p:txBody>
      </p:sp>
      <p:sp>
        <p:nvSpPr>
          <p:cNvPr id="14" name="Rectangle 13"/>
          <p:cNvSpPr/>
          <p:nvPr/>
        </p:nvSpPr>
        <p:spPr>
          <a:xfrm>
            <a:off x="731520" y="2478024"/>
            <a:ext cx="10241280" cy="9144"/>
          </a:xfrm>
          <a:prstGeom prst="rect">
            <a:avLst/>
          </a:prstGeom>
          <a:solidFill>
            <a:srgbClr val="E3E7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731520" y="2688336"/>
            <a:ext cx="777240" cy="402336"/>
          </a:xfrm>
          <a:prstGeom prst="rect">
            <a:avLst/>
          </a:prstGeom>
          <a:noFill/>
        </p:spPr>
        <p:txBody>
          <a:bodyPr wrap="square" lIns="0" tIns="0" rIns="0" bIns="0" anchor="t">
            <a:spAutoFit/>
          </a:bodyPr>
          <a:lstStyle/>
          <a:p>
            <a:pPr algn="l">
              <a:lnSpc>
                <a:spcPct val="112000"/>
              </a:lnSpc>
              <a:spcAft>
                <a:spcPts val="0"/>
              </a:spcAft>
            </a:pPr>
            <a:r>
              <a:rPr sz="2300" b="1" i="0">
                <a:solidFill>
                  <a:srgbClr val="31599B"/>
                </a:solidFill>
                <a:latin typeface="微软雅黑"/>
              </a:rPr>
              <a:t>9.3</a:t>
            </a:r>
          </a:p>
        </p:txBody>
      </p:sp>
      <p:sp>
        <p:nvSpPr>
          <p:cNvPr id="16" name="TextBox 15"/>
          <p:cNvSpPr txBox="1"/>
          <p:nvPr/>
        </p:nvSpPr>
        <p:spPr>
          <a:xfrm>
            <a:off x="1600200" y="2688336"/>
            <a:ext cx="8869680" cy="402336"/>
          </a:xfrm>
          <a:prstGeom prst="rect">
            <a:avLst/>
          </a:prstGeom>
          <a:noFill/>
        </p:spPr>
        <p:txBody>
          <a:bodyPr wrap="square" lIns="0" tIns="0" rIns="0" bIns="0" anchor="t">
            <a:spAutoFit/>
          </a:bodyPr>
          <a:lstStyle/>
          <a:p>
            <a:pPr algn="l">
              <a:lnSpc>
                <a:spcPct val="112000"/>
              </a:lnSpc>
              <a:spcAft>
                <a:spcPts val="0"/>
              </a:spcAft>
            </a:pPr>
            <a:r>
              <a:rPr sz="2300" b="1" i="0">
                <a:solidFill>
                  <a:srgbClr val="222833"/>
                </a:solidFill>
                <a:latin typeface="微软雅黑"/>
              </a:rPr>
              <a:t>典型范式</a:t>
            </a:r>
          </a:p>
        </p:txBody>
      </p:sp>
      <p:sp>
        <p:nvSpPr>
          <p:cNvPr id="17" name="Rectangle 16"/>
          <p:cNvSpPr/>
          <p:nvPr/>
        </p:nvSpPr>
        <p:spPr>
          <a:xfrm>
            <a:off x="731520" y="3099816"/>
            <a:ext cx="10241280" cy="9144"/>
          </a:xfrm>
          <a:prstGeom prst="rect">
            <a:avLst/>
          </a:prstGeom>
          <a:solidFill>
            <a:srgbClr val="E3E7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731520" y="3310128"/>
            <a:ext cx="777240" cy="402336"/>
          </a:xfrm>
          <a:prstGeom prst="rect">
            <a:avLst/>
          </a:prstGeom>
          <a:noFill/>
        </p:spPr>
        <p:txBody>
          <a:bodyPr wrap="square" lIns="0" tIns="0" rIns="0" bIns="0" anchor="t">
            <a:spAutoFit/>
          </a:bodyPr>
          <a:lstStyle/>
          <a:p>
            <a:pPr algn="l">
              <a:lnSpc>
                <a:spcPct val="112000"/>
              </a:lnSpc>
              <a:spcAft>
                <a:spcPts val="0"/>
              </a:spcAft>
            </a:pPr>
            <a:r>
              <a:rPr sz="2300" b="1" i="0">
                <a:solidFill>
                  <a:srgbClr val="31599B"/>
                </a:solidFill>
                <a:latin typeface="微软雅黑"/>
              </a:rPr>
              <a:t>9.4</a:t>
            </a:r>
          </a:p>
        </p:txBody>
      </p:sp>
      <p:sp>
        <p:nvSpPr>
          <p:cNvPr id="19" name="TextBox 18"/>
          <p:cNvSpPr txBox="1"/>
          <p:nvPr/>
        </p:nvSpPr>
        <p:spPr>
          <a:xfrm>
            <a:off x="1600200" y="3310128"/>
            <a:ext cx="8869680" cy="402336"/>
          </a:xfrm>
          <a:prstGeom prst="rect">
            <a:avLst/>
          </a:prstGeom>
          <a:noFill/>
        </p:spPr>
        <p:txBody>
          <a:bodyPr wrap="square" lIns="0" tIns="0" rIns="0" bIns="0" anchor="t">
            <a:spAutoFit/>
          </a:bodyPr>
          <a:lstStyle/>
          <a:p>
            <a:pPr algn="l">
              <a:lnSpc>
                <a:spcPct val="112000"/>
              </a:lnSpc>
              <a:spcAft>
                <a:spcPts val="0"/>
              </a:spcAft>
            </a:pPr>
            <a:r>
              <a:rPr sz="2300" b="1" i="0">
                <a:solidFill>
                  <a:srgbClr val="222833"/>
                </a:solidFill>
                <a:latin typeface="微软雅黑"/>
              </a:rPr>
              <a:t>迁移性能指标与评估实施流程</a:t>
            </a:r>
          </a:p>
        </p:txBody>
      </p:sp>
      <p:sp>
        <p:nvSpPr>
          <p:cNvPr id="20" name="Rectangle 19"/>
          <p:cNvSpPr/>
          <p:nvPr/>
        </p:nvSpPr>
        <p:spPr>
          <a:xfrm>
            <a:off x="731520" y="3721608"/>
            <a:ext cx="10241280" cy="9144"/>
          </a:xfrm>
          <a:prstGeom prst="rect">
            <a:avLst/>
          </a:prstGeom>
          <a:solidFill>
            <a:srgbClr val="E3E7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731520" y="3931920"/>
            <a:ext cx="777240" cy="402336"/>
          </a:xfrm>
          <a:prstGeom prst="rect">
            <a:avLst/>
          </a:prstGeom>
          <a:noFill/>
        </p:spPr>
        <p:txBody>
          <a:bodyPr wrap="square" lIns="0" tIns="0" rIns="0" bIns="0" anchor="t">
            <a:spAutoFit/>
          </a:bodyPr>
          <a:lstStyle/>
          <a:p>
            <a:pPr algn="l">
              <a:lnSpc>
                <a:spcPct val="112000"/>
              </a:lnSpc>
              <a:spcAft>
                <a:spcPts val="0"/>
              </a:spcAft>
            </a:pPr>
            <a:r>
              <a:rPr sz="2300" b="1" i="0">
                <a:solidFill>
                  <a:srgbClr val="31599B"/>
                </a:solidFill>
                <a:latin typeface="微软雅黑"/>
              </a:rPr>
              <a:t>9.5</a:t>
            </a:r>
          </a:p>
        </p:txBody>
      </p:sp>
      <p:sp>
        <p:nvSpPr>
          <p:cNvPr id="22" name="TextBox 21"/>
          <p:cNvSpPr txBox="1"/>
          <p:nvPr/>
        </p:nvSpPr>
        <p:spPr>
          <a:xfrm>
            <a:off x="1600200" y="3931920"/>
            <a:ext cx="8869680" cy="402336"/>
          </a:xfrm>
          <a:prstGeom prst="rect">
            <a:avLst/>
          </a:prstGeom>
          <a:noFill/>
        </p:spPr>
        <p:txBody>
          <a:bodyPr wrap="square" lIns="0" tIns="0" rIns="0" bIns="0" anchor="t">
            <a:spAutoFit/>
          </a:bodyPr>
          <a:lstStyle/>
          <a:p>
            <a:pPr algn="l">
              <a:lnSpc>
                <a:spcPct val="112000"/>
              </a:lnSpc>
              <a:spcAft>
                <a:spcPts val="0"/>
              </a:spcAft>
            </a:pPr>
            <a:r>
              <a:rPr sz="2300" b="1" i="0">
                <a:solidFill>
                  <a:srgbClr val="222833"/>
                </a:solidFill>
                <a:latin typeface="微软雅黑"/>
              </a:rPr>
              <a:t>实践案例</a:t>
            </a:r>
          </a:p>
        </p:txBody>
      </p:sp>
      <p:sp>
        <p:nvSpPr>
          <p:cNvPr id="23" name="Rectangle 22"/>
          <p:cNvSpPr/>
          <p:nvPr/>
        </p:nvSpPr>
        <p:spPr>
          <a:xfrm>
            <a:off x="731520" y="4343400"/>
            <a:ext cx="10241280" cy="9144"/>
          </a:xfrm>
          <a:prstGeom prst="rect">
            <a:avLst/>
          </a:prstGeom>
          <a:solidFill>
            <a:srgbClr val="E3E7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731520" y="4553712"/>
            <a:ext cx="777240" cy="402336"/>
          </a:xfrm>
          <a:prstGeom prst="rect">
            <a:avLst/>
          </a:prstGeom>
          <a:noFill/>
        </p:spPr>
        <p:txBody>
          <a:bodyPr wrap="square" lIns="0" tIns="0" rIns="0" bIns="0" anchor="t">
            <a:spAutoFit/>
          </a:bodyPr>
          <a:lstStyle/>
          <a:p>
            <a:pPr algn="l">
              <a:lnSpc>
                <a:spcPct val="112000"/>
              </a:lnSpc>
              <a:spcAft>
                <a:spcPts val="0"/>
              </a:spcAft>
            </a:pPr>
            <a:r>
              <a:rPr sz="2300" b="1" i="0">
                <a:solidFill>
                  <a:srgbClr val="31599B"/>
                </a:solidFill>
                <a:latin typeface="微软雅黑"/>
              </a:rPr>
              <a:t>9.6</a:t>
            </a:r>
          </a:p>
        </p:txBody>
      </p:sp>
      <p:sp>
        <p:nvSpPr>
          <p:cNvPr id="25" name="TextBox 24"/>
          <p:cNvSpPr txBox="1"/>
          <p:nvPr/>
        </p:nvSpPr>
        <p:spPr>
          <a:xfrm>
            <a:off x="1600200" y="4553712"/>
            <a:ext cx="8869680" cy="402336"/>
          </a:xfrm>
          <a:prstGeom prst="rect">
            <a:avLst/>
          </a:prstGeom>
          <a:noFill/>
        </p:spPr>
        <p:txBody>
          <a:bodyPr wrap="square" lIns="0" tIns="0" rIns="0" bIns="0" anchor="t">
            <a:spAutoFit/>
          </a:bodyPr>
          <a:lstStyle/>
          <a:p>
            <a:pPr algn="l">
              <a:lnSpc>
                <a:spcPct val="112000"/>
              </a:lnSpc>
              <a:spcAft>
                <a:spcPts val="0"/>
              </a:spcAft>
            </a:pPr>
            <a:r>
              <a:rPr sz="2300" b="1" i="0">
                <a:solidFill>
                  <a:srgbClr val="222833"/>
                </a:solidFill>
                <a:latin typeface="微软雅黑"/>
              </a:rPr>
              <a:t>小结</a:t>
            </a:r>
          </a:p>
        </p:txBody>
      </p:sp>
      <p:sp>
        <p:nvSpPr>
          <p:cNvPr id="26" name="Rectangle 25"/>
          <p:cNvSpPr/>
          <p:nvPr/>
        </p:nvSpPr>
        <p:spPr>
          <a:xfrm>
            <a:off x="731520" y="4965192"/>
            <a:ext cx="10241280" cy="9144"/>
          </a:xfrm>
          <a:prstGeom prst="rect">
            <a:avLst/>
          </a:prstGeom>
          <a:solidFill>
            <a:srgbClr val="E3E7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170432" cy="6858000"/>
          </a:xfrm>
          <a:prstGeom prst="rect">
            <a:avLst/>
          </a:prstGeom>
          <a:solidFill>
            <a:srgbClr val="3159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859536" y="0"/>
            <a:ext cx="219456" cy="6858000"/>
          </a:xfrm>
          <a:prstGeom prst="rect">
            <a:avLst/>
          </a:prstGeom>
          <a:solidFill>
            <a:srgbClr val="B7C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2029968" y="1426464"/>
            <a:ext cx="1737360" cy="987552"/>
          </a:xfrm>
          <a:prstGeom prst="rect">
            <a:avLst/>
          </a:prstGeom>
          <a:noFill/>
        </p:spPr>
        <p:txBody>
          <a:bodyPr wrap="square" lIns="0" tIns="0" rIns="0" bIns="0" anchor="ctr">
            <a:spAutoFit/>
          </a:bodyPr>
          <a:lstStyle/>
          <a:p>
            <a:pPr algn="l">
              <a:lnSpc>
                <a:spcPct val="112000"/>
              </a:lnSpc>
              <a:spcAft>
                <a:spcPts val="0"/>
              </a:spcAft>
            </a:pPr>
            <a:r>
              <a:rPr sz="6200" b="1" i="0">
                <a:solidFill>
                  <a:srgbClr val="31599B"/>
                </a:solidFill>
                <a:latin typeface="微软雅黑"/>
              </a:rPr>
              <a:t>01</a:t>
            </a:r>
          </a:p>
        </p:txBody>
      </p:sp>
      <p:sp>
        <p:nvSpPr>
          <p:cNvPr id="5" name="TextBox 4"/>
          <p:cNvSpPr txBox="1"/>
          <p:nvPr/>
        </p:nvSpPr>
        <p:spPr>
          <a:xfrm>
            <a:off x="3246120" y="1645920"/>
            <a:ext cx="7635240" cy="621792"/>
          </a:xfrm>
          <a:prstGeom prst="rect">
            <a:avLst/>
          </a:prstGeom>
          <a:noFill/>
        </p:spPr>
        <p:txBody>
          <a:bodyPr wrap="square" lIns="0" tIns="0" rIns="0" bIns="0" anchor="ctr">
            <a:spAutoFit/>
          </a:bodyPr>
          <a:lstStyle/>
          <a:p>
            <a:pPr algn="l">
              <a:lnSpc>
                <a:spcPct val="112000"/>
              </a:lnSpc>
              <a:spcAft>
                <a:spcPts val="0"/>
              </a:spcAft>
            </a:pPr>
            <a:r>
              <a:rPr sz="3900" b="1" i="0">
                <a:solidFill>
                  <a:srgbClr val="24477D"/>
                </a:solidFill>
                <a:latin typeface="微软雅黑"/>
              </a:rPr>
              <a:t>虚实迁移概述</a:t>
            </a:r>
          </a:p>
        </p:txBody>
      </p:sp>
      <p:sp>
        <p:nvSpPr>
          <p:cNvPr id="6" name="TextBox 5"/>
          <p:cNvSpPr txBox="1"/>
          <p:nvPr/>
        </p:nvSpPr>
        <p:spPr>
          <a:xfrm>
            <a:off x="8595360" y="292608"/>
            <a:ext cx="2743200" cy="164592"/>
          </a:xfrm>
          <a:prstGeom prst="rect">
            <a:avLst/>
          </a:prstGeom>
          <a:noFill/>
        </p:spPr>
        <p:txBody>
          <a:bodyPr wrap="square" lIns="0" tIns="0" rIns="0" bIns="0" anchor="t">
            <a:spAutoFit/>
          </a:bodyPr>
          <a:lstStyle/>
          <a:p>
            <a:pPr algn="r">
              <a:lnSpc>
                <a:spcPct val="112000"/>
              </a:lnSpc>
              <a:spcAft>
                <a:spcPts val="0"/>
              </a:spcAft>
            </a:pPr>
            <a:r>
              <a:rPr sz="1050" b="0" i="0">
                <a:solidFill>
                  <a:srgbClr val="8C98AA"/>
                </a:solidFill>
                <a:latin typeface="微软雅黑"/>
              </a:rPr>
              <a:t>具身智能导论 · 第9章</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18872" cy="6858000"/>
          </a:xfrm>
          <a:prstGeom prst="rect">
            <a:avLst/>
          </a:prstGeom>
          <a:solidFill>
            <a:srgbClr val="3159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118872" y="0"/>
            <a:ext cx="41148" cy="6858000"/>
          </a:xfrm>
          <a:prstGeom prst="rect">
            <a:avLst/>
          </a:prstGeom>
          <a:solidFill>
            <a:srgbClr val="B7C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38912" y="137160"/>
            <a:ext cx="3474720" cy="164592"/>
          </a:xfrm>
          <a:prstGeom prst="rect">
            <a:avLst/>
          </a:prstGeom>
          <a:noFill/>
        </p:spPr>
        <p:txBody>
          <a:bodyPr wrap="square" lIns="0" tIns="0" rIns="0" bIns="0" anchor="t">
            <a:spAutoFit/>
          </a:bodyPr>
          <a:lstStyle/>
          <a:p>
            <a:pPr algn="l">
              <a:lnSpc>
                <a:spcPct val="112000"/>
              </a:lnSpc>
              <a:spcAft>
                <a:spcPts val="0"/>
              </a:spcAft>
            </a:pPr>
            <a:r>
              <a:rPr sz="1050" b="0" i="0">
                <a:solidFill>
                  <a:srgbClr val="8C98AA"/>
                </a:solidFill>
                <a:latin typeface="微软雅黑"/>
              </a:rPr>
              <a:t>具身智能导论 · 第 9 章</a:t>
            </a:r>
          </a:p>
        </p:txBody>
      </p:sp>
      <p:sp>
        <p:nvSpPr>
          <p:cNvPr id="5" name="TextBox 4"/>
          <p:cNvSpPr txBox="1"/>
          <p:nvPr/>
        </p:nvSpPr>
        <p:spPr>
          <a:xfrm>
            <a:off x="9144000" y="137160"/>
            <a:ext cx="2423160" cy="164592"/>
          </a:xfrm>
          <a:prstGeom prst="rect">
            <a:avLst/>
          </a:prstGeom>
          <a:noFill/>
        </p:spPr>
        <p:txBody>
          <a:bodyPr wrap="square" lIns="0" tIns="0" rIns="0" bIns="0" anchor="t">
            <a:spAutoFit/>
          </a:bodyPr>
          <a:lstStyle/>
          <a:p>
            <a:pPr algn="r">
              <a:lnSpc>
                <a:spcPct val="112000"/>
              </a:lnSpc>
              <a:spcAft>
                <a:spcPts val="0"/>
              </a:spcAft>
            </a:pPr>
            <a:r>
              <a:rPr sz="1050" b="0" i="0">
                <a:solidFill>
                  <a:srgbClr val="8C98AA"/>
                </a:solidFill>
                <a:latin typeface="微软雅黑"/>
              </a:rPr>
              <a:t>虚实迁移技术</a:t>
            </a:r>
          </a:p>
        </p:txBody>
      </p:sp>
      <p:sp>
        <p:nvSpPr>
          <p:cNvPr id="6" name="TextBox 5"/>
          <p:cNvSpPr txBox="1"/>
          <p:nvPr/>
        </p:nvSpPr>
        <p:spPr>
          <a:xfrm>
            <a:off x="502920" y="457200"/>
            <a:ext cx="10927080" cy="749808"/>
          </a:xfrm>
          <a:prstGeom prst="rect">
            <a:avLst/>
          </a:prstGeom>
          <a:noFill/>
        </p:spPr>
        <p:txBody>
          <a:bodyPr wrap="square" lIns="0" tIns="0" rIns="0" bIns="0" anchor="t">
            <a:spAutoFit/>
          </a:bodyPr>
          <a:lstStyle/>
          <a:p>
            <a:pPr algn="l">
              <a:lnSpc>
                <a:spcPct val="112000"/>
              </a:lnSpc>
              <a:spcAft>
                <a:spcPts val="0"/>
              </a:spcAft>
            </a:pPr>
            <a:r>
              <a:rPr sz="3500" b="1" i="0">
                <a:solidFill>
                  <a:srgbClr val="24477D"/>
                </a:solidFill>
                <a:latin typeface="微软雅黑"/>
              </a:rPr>
              <a:t>9.1 虚实迁移概述</a:t>
            </a:r>
          </a:p>
        </p:txBody>
      </p:sp>
      <p:sp>
        <p:nvSpPr>
          <p:cNvPr id="7" name="Rectangle 6"/>
          <p:cNvSpPr/>
          <p:nvPr/>
        </p:nvSpPr>
        <p:spPr>
          <a:xfrm>
            <a:off x="502920" y="1353312"/>
            <a:ext cx="11109960" cy="9144"/>
          </a:xfrm>
          <a:prstGeom prst="rect">
            <a:avLst/>
          </a:prstGeom>
          <a:solidFill>
            <a:srgbClr val="D8DE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1457432" y="6473952"/>
            <a:ext cx="347472" cy="164592"/>
          </a:xfrm>
          <a:prstGeom prst="rect">
            <a:avLst/>
          </a:prstGeom>
          <a:noFill/>
        </p:spPr>
        <p:txBody>
          <a:bodyPr wrap="square" lIns="0" tIns="0" rIns="0" bIns="0" anchor="t">
            <a:spAutoFit/>
          </a:bodyPr>
          <a:lstStyle/>
          <a:p>
            <a:pPr algn="r">
              <a:lnSpc>
                <a:spcPct val="112000"/>
              </a:lnSpc>
              <a:spcAft>
                <a:spcPts val="0"/>
              </a:spcAft>
            </a:pPr>
            <a:r>
              <a:rPr sz="1050" b="0" i="0">
                <a:solidFill>
                  <a:srgbClr val="8C98AA"/>
                </a:solidFill>
                <a:latin typeface="微软雅黑"/>
              </a:rPr>
              <a:t>7</a:t>
            </a:r>
          </a:p>
        </p:txBody>
      </p:sp>
      <p:sp>
        <p:nvSpPr>
          <p:cNvPr id="9" name="TextBox 8"/>
          <p:cNvSpPr txBox="1"/>
          <p:nvPr/>
        </p:nvSpPr>
        <p:spPr>
          <a:xfrm>
            <a:off x="713232" y="1664208"/>
            <a:ext cx="10241280" cy="2514600"/>
          </a:xfrm>
          <a:prstGeom prst="rect">
            <a:avLst/>
          </a:prstGeom>
          <a:noFill/>
        </p:spPr>
        <p:txBody>
          <a:bodyPr wrap="square" lIns="0" tIns="0" rIns="0" bIns="0">
            <a:spAutoFit/>
          </a:bodyPr>
          <a:lstStyle/>
          <a:p>
            <a:pPr>
              <a:lnSpc>
                <a:spcPct val="112000"/>
              </a:lnSpc>
              <a:spcAft>
                <a:spcPts val="700"/>
              </a:spcAft>
            </a:pPr>
            <a:r>
              <a:rPr sz="2200" b="0">
                <a:solidFill>
                  <a:srgbClr val="222833"/>
                </a:solidFill>
                <a:latin typeface="微软雅黑"/>
              </a:rPr>
              <a:t>• </a:t>
            </a:r>
            <a:r>
              <a:rPr sz="2200">
                <a:solidFill>
                  <a:srgbClr val="222833"/>
                </a:solidFill>
                <a:latin typeface="微软雅黑"/>
              </a:rPr>
              <a:t>让智能体先在虚拟仿真环境中快速积累经验、优化策略，再将策略迁移至真实物理机器人。</a:t>
            </a:r>
          </a:p>
          <a:p>
            <a:pPr>
              <a:lnSpc>
                <a:spcPct val="112000"/>
              </a:lnSpc>
              <a:spcAft>
                <a:spcPts val="700"/>
              </a:spcAft>
            </a:pPr>
            <a:r>
              <a:rPr sz="2200" b="0">
                <a:solidFill>
                  <a:srgbClr val="222833"/>
                </a:solidFill>
                <a:latin typeface="微软雅黑"/>
              </a:rPr>
              <a:t>• </a:t>
            </a:r>
            <a:r>
              <a:rPr sz="2200">
                <a:solidFill>
                  <a:srgbClr val="222833"/>
                </a:solidFill>
                <a:latin typeface="微软雅黑"/>
              </a:rPr>
              <a:t>与纯仿真或纯真实训练相比，可显著降低试错成本与安全隐患。</a:t>
            </a:r>
          </a:p>
          <a:p>
            <a:pPr>
              <a:lnSpc>
                <a:spcPct val="112000"/>
              </a:lnSpc>
              <a:spcAft>
                <a:spcPts val="700"/>
              </a:spcAft>
            </a:pPr>
            <a:r>
              <a:rPr sz="2200" b="0">
                <a:solidFill>
                  <a:srgbClr val="222833"/>
                </a:solidFill>
                <a:latin typeface="微软雅黑"/>
              </a:rPr>
              <a:t>• </a:t>
            </a:r>
            <a:r>
              <a:rPr sz="2200">
                <a:solidFill>
                  <a:srgbClr val="222833"/>
                </a:solidFill>
                <a:latin typeface="微软雅黑"/>
              </a:rPr>
              <a:t>已广泛用于自动驾驶、人形机器人、四足机器人、机械臂操作等具身智能任务。</a:t>
            </a:r>
          </a:p>
        </p:txBody>
      </p:sp>
      <p:sp>
        <p:nvSpPr>
          <p:cNvPr id="10" name="TextBox 9"/>
          <p:cNvSpPr txBox="1"/>
          <p:nvPr/>
        </p:nvSpPr>
        <p:spPr>
          <a:xfrm>
            <a:off x="640080" y="5074920"/>
            <a:ext cx="10972800" cy="502920"/>
          </a:xfrm>
          <a:prstGeom prst="rect">
            <a:avLst/>
          </a:prstGeom>
          <a:noFill/>
        </p:spPr>
        <p:txBody>
          <a:bodyPr wrap="square" lIns="0" tIns="0" rIns="0" bIns="0" anchor="ctr">
            <a:spAutoFit/>
          </a:bodyPr>
          <a:lstStyle/>
          <a:p>
            <a:pPr algn="ctr">
              <a:lnSpc>
                <a:spcPct val="112000"/>
              </a:lnSpc>
              <a:spcAft>
                <a:spcPts val="0"/>
              </a:spcAft>
            </a:pPr>
            <a:r>
              <a:rPr sz="1950" b="1" i="0">
                <a:solidFill>
                  <a:srgbClr val="24477D"/>
                </a:solidFill>
                <a:latin typeface="微软雅黑"/>
              </a:rPr>
              <a:t>核心价值：把“昂贵、危险、低并行度”的真实试错，前移到“低成本、可控、可并行”的仿真阶段。</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18872" cy="6858000"/>
          </a:xfrm>
          <a:prstGeom prst="rect">
            <a:avLst/>
          </a:prstGeom>
          <a:solidFill>
            <a:srgbClr val="3159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118872" y="0"/>
            <a:ext cx="41148" cy="6858000"/>
          </a:xfrm>
          <a:prstGeom prst="rect">
            <a:avLst/>
          </a:prstGeom>
          <a:solidFill>
            <a:srgbClr val="B7C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38912" y="137160"/>
            <a:ext cx="3474720" cy="164592"/>
          </a:xfrm>
          <a:prstGeom prst="rect">
            <a:avLst/>
          </a:prstGeom>
          <a:noFill/>
        </p:spPr>
        <p:txBody>
          <a:bodyPr wrap="square" lIns="0" tIns="0" rIns="0" bIns="0" anchor="t">
            <a:spAutoFit/>
          </a:bodyPr>
          <a:lstStyle/>
          <a:p>
            <a:pPr algn="l">
              <a:lnSpc>
                <a:spcPct val="112000"/>
              </a:lnSpc>
              <a:spcAft>
                <a:spcPts val="0"/>
              </a:spcAft>
            </a:pPr>
            <a:r>
              <a:rPr sz="1050" b="0" i="0">
                <a:solidFill>
                  <a:srgbClr val="8C98AA"/>
                </a:solidFill>
                <a:latin typeface="微软雅黑"/>
              </a:rPr>
              <a:t>具身智能导论 · 第 9 章</a:t>
            </a:r>
          </a:p>
        </p:txBody>
      </p:sp>
      <p:sp>
        <p:nvSpPr>
          <p:cNvPr id="5" name="TextBox 4"/>
          <p:cNvSpPr txBox="1"/>
          <p:nvPr/>
        </p:nvSpPr>
        <p:spPr>
          <a:xfrm>
            <a:off x="9144000" y="137160"/>
            <a:ext cx="2423160" cy="164592"/>
          </a:xfrm>
          <a:prstGeom prst="rect">
            <a:avLst/>
          </a:prstGeom>
          <a:noFill/>
        </p:spPr>
        <p:txBody>
          <a:bodyPr wrap="square" lIns="0" tIns="0" rIns="0" bIns="0" anchor="t">
            <a:spAutoFit/>
          </a:bodyPr>
          <a:lstStyle/>
          <a:p>
            <a:pPr algn="r">
              <a:lnSpc>
                <a:spcPct val="112000"/>
              </a:lnSpc>
              <a:spcAft>
                <a:spcPts val="0"/>
              </a:spcAft>
            </a:pPr>
            <a:r>
              <a:rPr sz="1050" b="0" i="0">
                <a:solidFill>
                  <a:srgbClr val="8C98AA"/>
                </a:solidFill>
                <a:latin typeface="微软雅黑"/>
              </a:rPr>
              <a:t>虚实迁移技术</a:t>
            </a:r>
          </a:p>
        </p:txBody>
      </p:sp>
      <p:sp>
        <p:nvSpPr>
          <p:cNvPr id="6" name="TextBox 5"/>
          <p:cNvSpPr txBox="1"/>
          <p:nvPr/>
        </p:nvSpPr>
        <p:spPr>
          <a:xfrm>
            <a:off x="502920" y="457200"/>
            <a:ext cx="10927080" cy="749808"/>
          </a:xfrm>
          <a:prstGeom prst="rect">
            <a:avLst/>
          </a:prstGeom>
          <a:noFill/>
        </p:spPr>
        <p:txBody>
          <a:bodyPr wrap="square" lIns="0" tIns="0" rIns="0" bIns="0" anchor="t">
            <a:spAutoFit/>
          </a:bodyPr>
          <a:lstStyle/>
          <a:p>
            <a:pPr algn="l">
              <a:lnSpc>
                <a:spcPct val="112000"/>
              </a:lnSpc>
              <a:spcAft>
                <a:spcPts val="0"/>
              </a:spcAft>
            </a:pPr>
            <a:r>
              <a:rPr sz="3500" b="1" i="0">
                <a:solidFill>
                  <a:srgbClr val="24477D"/>
                </a:solidFill>
                <a:latin typeface="微软雅黑"/>
              </a:rPr>
              <a:t>虚实迁移的基本工作流程</a:t>
            </a:r>
          </a:p>
        </p:txBody>
      </p:sp>
      <p:sp>
        <p:nvSpPr>
          <p:cNvPr id="7" name="Rectangle 6"/>
          <p:cNvSpPr/>
          <p:nvPr/>
        </p:nvSpPr>
        <p:spPr>
          <a:xfrm>
            <a:off x="502920" y="1353312"/>
            <a:ext cx="11109960" cy="9144"/>
          </a:xfrm>
          <a:prstGeom prst="rect">
            <a:avLst/>
          </a:prstGeom>
          <a:solidFill>
            <a:srgbClr val="D8DE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1457432" y="6473952"/>
            <a:ext cx="347472" cy="164592"/>
          </a:xfrm>
          <a:prstGeom prst="rect">
            <a:avLst/>
          </a:prstGeom>
          <a:noFill/>
        </p:spPr>
        <p:txBody>
          <a:bodyPr wrap="square" lIns="0" tIns="0" rIns="0" bIns="0" anchor="t">
            <a:spAutoFit/>
          </a:bodyPr>
          <a:lstStyle/>
          <a:p>
            <a:pPr algn="r">
              <a:lnSpc>
                <a:spcPct val="112000"/>
              </a:lnSpc>
              <a:spcAft>
                <a:spcPts val="0"/>
              </a:spcAft>
            </a:pPr>
            <a:r>
              <a:rPr sz="1050" b="0" i="0">
                <a:solidFill>
                  <a:srgbClr val="8C98AA"/>
                </a:solidFill>
                <a:latin typeface="微软雅黑"/>
              </a:rPr>
              <a:t>8</a:t>
            </a:r>
          </a:p>
        </p:txBody>
      </p:sp>
      <p:sp>
        <p:nvSpPr>
          <p:cNvPr id="9" name="Rounded Rectangle 8"/>
          <p:cNvSpPr/>
          <p:nvPr/>
        </p:nvSpPr>
        <p:spPr>
          <a:xfrm>
            <a:off x="841248" y="2057400"/>
            <a:ext cx="2402586" cy="960120"/>
          </a:xfrm>
          <a:prstGeom prst="roundRect">
            <a:avLst/>
          </a:prstGeom>
          <a:solidFill>
            <a:srgbClr val="FFFFFF"/>
          </a:solidFill>
          <a:ln w="10160">
            <a:solidFill>
              <a:srgbClr val="E0E5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841248" y="2057400"/>
            <a:ext cx="64008" cy="960120"/>
          </a:xfrm>
          <a:prstGeom prst="rect">
            <a:avLst/>
          </a:prstGeom>
          <a:solidFill>
            <a:srgbClr val="3159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1005840" y="2286000"/>
            <a:ext cx="2073402" cy="457200"/>
          </a:xfrm>
          <a:prstGeom prst="rect">
            <a:avLst/>
          </a:prstGeom>
          <a:noFill/>
        </p:spPr>
        <p:txBody>
          <a:bodyPr wrap="square" lIns="0" tIns="0" rIns="0" bIns="0" anchor="ctr">
            <a:spAutoFit/>
          </a:bodyPr>
          <a:lstStyle/>
          <a:p>
            <a:pPr algn="ctr">
              <a:lnSpc>
                <a:spcPct val="112000"/>
              </a:lnSpc>
              <a:spcAft>
                <a:spcPts val="0"/>
              </a:spcAft>
            </a:pPr>
            <a:r>
              <a:rPr sz="1900" b="1" i="0">
                <a:solidFill>
                  <a:srgbClr val="31599B"/>
                </a:solidFill>
                <a:latin typeface="微软雅黑"/>
              </a:rPr>
              <a:t>构建仿真环境</a:t>
            </a:r>
          </a:p>
        </p:txBody>
      </p:sp>
      <p:sp>
        <p:nvSpPr>
          <p:cNvPr id="12" name="TextBox 11"/>
          <p:cNvSpPr txBox="1"/>
          <p:nvPr/>
        </p:nvSpPr>
        <p:spPr>
          <a:xfrm>
            <a:off x="3271265" y="2331720"/>
            <a:ext cx="256032" cy="320040"/>
          </a:xfrm>
          <a:prstGeom prst="rect">
            <a:avLst/>
          </a:prstGeom>
          <a:noFill/>
        </p:spPr>
        <p:txBody>
          <a:bodyPr wrap="square" lIns="0" tIns="0" rIns="0" bIns="0" anchor="t">
            <a:spAutoFit/>
          </a:bodyPr>
          <a:lstStyle/>
          <a:p>
            <a:pPr algn="ctr">
              <a:lnSpc>
                <a:spcPct val="112000"/>
              </a:lnSpc>
              <a:spcAft>
                <a:spcPts val="0"/>
              </a:spcAft>
            </a:pPr>
            <a:r>
              <a:rPr sz="2400" b="1" i="0">
                <a:solidFill>
                  <a:srgbClr val="8C98AA"/>
                </a:solidFill>
                <a:latin typeface="微软雅黑"/>
              </a:rPr>
              <a:t>→</a:t>
            </a:r>
          </a:p>
        </p:txBody>
      </p:sp>
      <p:sp>
        <p:nvSpPr>
          <p:cNvPr id="13" name="Rounded Rectangle 12"/>
          <p:cNvSpPr/>
          <p:nvPr/>
        </p:nvSpPr>
        <p:spPr>
          <a:xfrm>
            <a:off x="3545586" y="2057400"/>
            <a:ext cx="2402586" cy="960120"/>
          </a:xfrm>
          <a:prstGeom prst="roundRect">
            <a:avLst/>
          </a:prstGeom>
          <a:solidFill>
            <a:srgbClr val="FFFFFF"/>
          </a:solidFill>
          <a:ln w="10160">
            <a:solidFill>
              <a:srgbClr val="E0E5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3545586" y="2057400"/>
            <a:ext cx="64008" cy="960120"/>
          </a:xfrm>
          <a:prstGeom prst="rect">
            <a:avLst/>
          </a:prstGeom>
          <a:solidFill>
            <a:srgbClr val="2F8E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3710178" y="2286000"/>
            <a:ext cx="2073402" cy="457200"/>
          </a:xfrm>
          <a:prstGeom prst="rect">
            <a:avLst/>
          </a:prstGeom>
          <a:noFill/>
        </p:spPr>
        <p:txBody>
          <a:bodyPr wrap="square" lIns="0" tIns="0" rIns="0" bIns="0" anchor="ctr">
            <a:spAutoFit/>
          </a:bodyPr>
          <a:lstStyle/>
          <a:p>
            <a:pPr algn="ctr">
              <a:lnSpc>
                <a:spcPct val="112000"/>
              </a:lnSpc>
              <a:spcAft>
                <a:spcPts val="0"/>
              </a:spcAft>
            </a:pPr>
            <a:r>
              <a:rPr sz="1900" b="1" i="0">
                <a:solidFill>
                  <a:srgbClr val="2F8E72"/>
                </a:solidFill>
                <a:latin typeface="微软雅黑"/>
              </a:rPr>
              <a:t>仿真训练</a:t>
            </a:r>
          </a:p>
        </p:txBody>
      </p:sp>
      <p:sp>
        <p:nvSpPr>
          <p:cNvPr id="16" name="TextBox 15"/>
          <p:cNvSpPr txBox="1"/>
          <p:nvPr/>
        </p:nvSpPr>
        <p:spPr>
          <a:xfrm>
            <a:off x="5975604" y="2331720"/>
            <a:ext cx="256032" cy="320040"/>
          </a:xfrm>
          <a:prstGeom prst="rect">
            <a:avLst/>
          </a:prstGeom>
          <a:noFill/>
        </p:spPr>
        <p:txBody>
          <a:bodyPr wrap="square" lIns="0" tIns="0" rIns="0" bIns="0" anchor="t">
            <a:spAutoFit/>
          </a:bodyPr>
          <a:lstStyle/>
          <a:p>
            <a:pPr algn="ctr">
              <a:lnSpc>
                <a:spcPct val="112000"/>
              </a:lnSpc>
              <a:spcAft>
                <a:spcPts val="0"/>
              </a:spcAft>
            </a:pPr>
            <a:r>
              <a:rPr sz="2400" b="1" i="0">
                <a:solidFill>
                  <a:srgbClr val="8C98AA"/>
                </a:solidFill>
                <a:latin typeface="微软雅黑"/>
              </a:rPr>
              <a:t>→</a:t>
            </a:r>
          </a:p>
        </p:txBody>
      </p:sp>
      <p:sp>
        <p:nvSpPr>
          <p:cNvPr id="17" name="Rounded Rectangle 16"/>
          <p:cNvSpPr/>
          <p:nvPr/>
        </p:nvSpPr>
        <p:spPr>
          <a:xfrm>
            <a:off x="6249924" y="2057400"/>
            <a:ext cx="2402586" cy="960120"/>
          </a:xfrm>
          <a:prstGeom prst="roundRect">
            <a:avLst/>
          </a:prstGeom>
          <a:solidFill>
            <a:srgbClr val="FFFFFF"/>
          </a:solidFill>
          <a:ln w="10160">
            <a:solidFill>
              <a:srgbClr val="E0E5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6249924" y="2057400"/>
            <a:ext cx="64008" cy="960120"/>
          </a:xfrm>
          <a:prstGeom prst="rect">
            <a:avLst/>
          </a:prstGeom>
          <a:solidFill>
            <a:srgbClr val="C58A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6414516" y="2286000"/>
            <a:ext cx="2073402" cy="457200"/>
          </a:xfrm>
          <a:prstGeom prst="rect">
            <a:avLst/>
          </a:prstGeom>
          <a:noFill/>
        </p:spPr>
        <p:txBody>
          <a:bodyPr wrap="square" lIns="0" tIns="0" rIns="0" bIns="0" anchor="ctr">
            <a:spAutoFit/>
          </a:bodyPr>
          <a:lstStyle/>
          <a:p>
            <a:pPr algn="ctr">
              <a:lnSpc>
                <a:spcPct val="112000"/>
              </a:lnSpc>
              <a:spcAft>
                <a:spcPts val="0"/>
              </a:spcAft>
            </a:pPr>
            <a:r>
              <a:rPr sz="1900" b="1" i="0">
                <a:solidFill>
                  <a:srgbClr val="C58A24"/>
                </a:solidFill>
                <a:latin typeface="微软雅黑"/>
              </a:rPr>
              <a:t>迁移策略</a:t>
            </a:r>
          </a:p>
        </p:txBody>
      </p:sp>
      <p:sp>
        <p:nvSpPr>
          <p:cNvPr id="20" name="TextBox 19"/>
          <p:cNvSpPr txBox="1"/>
          <p:nvPr/>
        </p:nvSpPr>
        <p:spPr>
          <a:xfrm>
            <a:off x="8679942" y="2331720"/>
            <a:ext cx="256032" cy="320040"/>
          </a:xfrm>
          <a:prstGeom prst="rect">
            <a:avLst/>
          </a:prstGeom>
          <a:noFill/>
        </p:spPr>
        <p:txBody>
          <a:bodyPr wrap="square" lIns="0" tIns="0" rIns="0" bIns="0" anchor="t">
            <a:spAutoFit/>
          </a:bodyPr>
          <a:lstStyle/>
          <a:p>
            <a:pPr algn="ctr">
              <a:lnSpc>
                <a:spcPct val="112000"/>
              </a:lnSpc>
              <a:spcAft>
                <a:spcPts val="0"/>
              </a:spcAft>
            </a:pPr>
            <a:r>
              <a:rPr sz="2400" b="1" i="0">
                <a:solidFill>
                  <a:srgbClr val="8C98AA"/>
                </a:solidFill>
                <a:latin typeface="微软雅黑"/>
              </a:rPr>
              <a:t>→</a:t>
            </a:r>
          </a:p>
        </p:txBody>
      </p:sp>
      <p:sp>
        <p:nvSpPr>
          <p:cNvPr id="21" name="Rounded Rectangle 20"/>
          <p:cNvSpPr/>
          <p:nvPr/>
        </p:nvSpPr>
        <p:spPr>
          <a:xfrm>
            <a:off x="8954262" y="2057400"/>
            <a:ext cx="2402586" cy="960120"/>
          </a:xfrm>
          <a:prstGeom prst="roundRect">
            <a:avLst/>
          </a:prstGeom>
          <a:solidFill>
            <a:srgbClr val="FFFFFF"/>
          </a:solidFill>
          <a:ln w="10160">
            <a:solidFill>
              <a:srgbClr val="E0E5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8954262" y="2057400"/>
            <a:ext cx="64008" cy="960120"/>
          </a:xfrm>
          <a:prstGeom prst="rect">
            <a:avLst/>
          </a:prstGeom>
          <a:solidFill>
            <a:srgbClr val="C63F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9118854" y="2286000"/>
            <a:ext cx="2073402" cy="457200"/>
          </a:xfrm>
          <a:prstGeom prst="rect">
            <a:avLst/>
          </a:prstGeom>
          <a:noFill/>
        </p:spPr>
        <p:txBody>
          <a:bodyPr wrap="square" lIns="0" tIns="0" rIns="0" bIns="0" anchor="ctr">
            <a:spAutoFit/>
          </a:bodyPr>
          <a:lstStyle/>
          <a:p>
            <a:pPr algn="ctr">
              <a:lnSpc>
                <a:spcPct val="112000"/>
              </a:lnSpc>
              <a:spcAft>
                <a:spcPts val="0"/>
              </a:spcAft>
            </a:pPr>
            <a:r>
              <a:rPr sz="1900" b="1" i="0">
                <a:solidFill>
                  <a:srgbClr val="C63F45"/>
                </a:solidFill>
                <a:latin typeface="微软雅黑"/>
              </a:rPr>
              <a:t>真实部署</a:t>
            </a:r>
          </a:p>
        </p:txBody>
      </p:sp>
      <p:sp>
        <p:nvSpPr>
          <p:cNvPr id="24" name="TextBox 23"/>
          <p:cNvSpPr txBox="1"/>
          <p:nvPr/>
        </p:nvSpPr>
        <p:spPr>
          <a:xfrm>
            <a:off x="685800" y="3886200"/>
            <a:ext cx="10881360" cy="1143000"/>
          </a:xfrm>
          <a:prstGeom prst="rect">
            <a:avLst/>
          </a:prstGeom>
          <a:noFill/>
        </p:spPr>
        <p:txBody>
          <a:bodyPr wrap="square" lIns="0" tIns="0" rIns="0" bIns="0" anchor="t">
            <a:spAutoFit/>
          </a:bodyPr>
          <a:lstStyle/>
          <a:p>
            <a:pPr algn="ctr">
              <a:lnSpc>
                <a:spcPct val="112000"/>
              </a:lnSpc>
              <a:spcAft>
                <a:spcPts val="0"/>
              </a:spcAft>
            </a:pPr>
            <a:r>
              <a:rPr sz="2000" b="0" i="0">
                <a:solidFill>
                  <a:srgbClr val="222833"/>
                </a:solidFill>
                <a:latin typeface="微软雅黑"/>
              </a:rPr>
              <a:t>仿真环境提供可控的大规模交互；真实环境提供最终物理反馈。二者通过迁移技术形成闭环。</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18872" cy="6858000"/>
          </a:xfrm>
          <a:prstGeom prst="rect">
            <a:avLst/>
          </a:prstGeom>
          <a:solidFill>
            <a:srgbClr val="3159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118872" y="0"/>
            <a:ext cx="41148" cy="6858000"/>
          </a:xfrm>
          <a:prstGeom prst="rect">
            <a:avLst/>
          </a:prstGeom>
          <a:solidFill>
            <a:srgbClr val="B7C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38912" y="137160"/>
            <a:ext cx="3474720" cy="164592"/>
          </a:xfrm>
          <a:prstGeom prst="rect">
            <a:avLst/>
          </a:prstGeom>
          <a:noFill/>
        </p:spPr>
        <p:txBody>
          <a:bodyPr wrap="square" lIns="0" tIns="0" rIns="0" bIns="0" anchor="t">
            <a:spAutoFit/>
          </a:bodyPr>
          <a:lstStyle/>
          <a:p>
            <a:pPr algn="l">
              <a:lnSpc>
                <a:spcPct val="112000"/>
              </a:lnSpc>
              <a:spcAft>
                <a:spcPts val="0"/>
              </a:spcAft>
            </a:pPr>
            <a:r>
              <a:rPr sz="1050" b="0" i="0">
                <a:solidFill>
                  <a:srgbClr val="8C98AA"/>
                </a:solidFill>
                <a:latin typeface="微软雅黑"/>
              </a:rPr>
              <a:t>具身智能导论 · 第 9 章</a:t>
            </a:r>
          </a:p>
        </p:txBody>
      </p:sp>
      <p:sp>
        <p:nvSpPr>
          <p:cNvPr id="5" name="TextBox 4"/>
          <p:cNvSpPr txBox="1"/>
          <p:nvPr/>
        </p:nvSpPr>
        <p:spPr>
          <a:xfrm>
            <a:off x="9144000" y="137160"/>
            <a:ext cx="2423160" cy="164592"/>
          </a:xfrm>
          <a:prstGeom prst="rect">
            <a:avLst/>
          </a:prstGeom>
          <a:noFill/>
        </p:spPr>
        <p:txBody>
          <a:bodyPr wrap="square" lIns="0" tIns="0" rIns="0" bIns="0" anchor="t">
            <a:spAutoFit/>
          </a:bodyPr>
          <a:lstStyle/>
          <a:p>
            <a:pPr algn="r">
              <a:lnSpc>
                <a:spcPct val="112000"/>
              </a:lnSpc>
              <a:spcAft>
                <a:spcPts val="0"/>
              </a:spcAft>
            </a:pPr>
            <a:r>
              <a:rPr sz="1050" b="0" i="0">
                <a:solidFill>
                  <a:srgbClr val="8C98AA"/>
                </a:solidFill>
                <a:latin typeface="微软雅黑"/>
              </a:rPr>
              <a:t>虚实迁移技术</a:t>
            </a:r>
          </a:p>
        </p:txBody>
      </p:sp>
      <p:sp>
        <p:nvSpPr>
          <p:cNvPr id="6" name="TextBox 5"/>
          <p:cNvSpPr txBox="1"/>
          <p:nvPr/>
        </p:nvSpPr>
        <p:spPr>
          <a:xfrm>
            <a:off x="502920" y="457200"/>
            <a:ext cx="10927080" cy="749808"/>
          </a:xfrm>
          <a:prstGeom prst="rect">
            <a:avLst/>
          </a:prstGeom>
          <a:noFill/>
        </p:spPr>
        <p:txBody>
          <a:bodyPr wrap="square" lIns="0" tIns="0" rIns="0" bIns="0" anchor="t">
            <a:spAutoFit/>
          </a:bodyPr>
          <a:lstStyle/>
          <a:p>
            <a:pPr algn="l">
              <a:lnSpc>
                <a:spcPct val="112000"/>
              </a:lnSpc>
              <a:spcAft>
                <a:spcPts val="0"/>
              </a:spcAft>
            </a:pPr>
            <a:r>
              <a:rPr sz="3500" b="1" i="0">
                <a:solidFill>
                  <a:srgbClr val="24477D"/>
                </a:solidFill>
                <a:latin typeface="微软雅黑"/>
              </a:rPr>
              <a:t>虚实迁移的典型应用场景</a:t>
            </a:r>
          </a:p>
        </p:txBody>
      </p:sp>
      <p:sp>
        <p:nvSpPr>
          <p:cNvPr id="7" name="Rectangle 6"/>
          <p:cNvSpPr/>
          <p:nvPr/>
        </p:nvSpPr>
        <p:spPr>
          <a:xfrm>
            <a:off x="502920" y="1353312"/>
            <a:ext cx="11109960" cy="9144"/>
          </a:xfrm>
          <a:prstGeom prst="rect">
            <a:avLst/>
          </a:prstGeom>
          <a:solidFill>
            <a:srgbClr val="D8DE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1457432" y="6473952"/>
            <a:ext cx="347472" cy="164592"/>
          </a:xfrm>
          <a:prstGeom prst="rect">
            <a:avLst/>
          </a:prstGeom>
          <a:noFill/>
        </p:spPr>
        <p:txBody>
          <a:bodyPr wrap="square" lIns="0" tIns="0" rIns="0" bIns="0" anchor="t">
            <a:spAutoFit/>
          </a:bodyPr>
          <a:lstStyle/>
          <a:p>
            <a:pPr algn="r">
              <a:lnSpc>
                <a:spcPct val="112000"/>
              </a:lnSpc>
              <a:spcAft>
                <a:spcPts val="0"/>
              </a:spcAft>
            </a:pPr>
            <a:r>
              <a:rPr sz="1050" b="0" i="0">
                <a:solidFill>
                  <a:srgbClr val="8C98AA"/>
                </a:solidFill>
                <a:latin typeface="微软雅黑"/>
              </a:rPr>
              <a:t>9</a:t>
            </a:r>
          </a:p>
        </p:txBody>
      </p:sp>
      <p:sp>
        <p:nvSpPr>
          <p:cNvPr id="9" name="Rounded Rectangle 8"/>
          <p:cNvSpPr/>
          <p:nvPr/>
        </p:nvSpPr>
        <p:spPr>
          <a:xfrm>
            <a:off x="713232" y="1664208"/>
            <a:ext cx="3246120" cy="3154680"/>
          </a:xfrm>
          <a:prstGeom prst="roundRect">
            <a:avLst/>
          </a:prstGeom>
          <a:solidFill>
            <a:srgbClr val="FFFFFF"/>
          </a:solidFill>
          <a:ln w="10160">
            <a:solidFill>
              <a:srgbClr val="E0E5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713232" y="1664208"/>
            <a:ext cx="64008" cy="3154680"/>
          </a:xfrm>
          <a:prstGeom prst="rect">
            <a:avLst/>
          </a:prstGeom>
          <a:solidFill>
            <a:srgbClr val="3159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923544" y="1810512"/>
            <a:ext cx="2862072" cy="347472"/>
          </a:xfrm>
          <a:prstGeom prst="rect">
            <a:avLst/>
          </a:prstGeom>
          <a:noFill/>
        </p:spPr>
        <p:txBody>
          <a:bodyPr wrap="square" lIns="0" tIns="0" rIns="0" bIns="0" anchor="t">
            <a:spAutoFit/>
          </a:bodyPr>
          <a:lstStyle/>
          <a:p>
            <a:pPr algn="l">
              <a:lnSpc>
                <a:spcPct val="112000"/>
              </a:lnSpc>
              <a:spcAft>
                <a:spcPts val="0"/>
              </a:spcAft>
            </a:pPr>
            <a:r>
              <a:rPr sz="2000" b="1" i="0">
                <a:solidFill>
                  <a:srgbClr val="31599B"/>
                </a:solidFill>
                <a:latin typeface="微软雅黑"/>
              </a:rPr>
              <a:t>自动驾驶</a:t>
            </a:r>
          </a:p>
        </p:txBody>
      </p:sp>
      <p:sp>
        <p:nvSpPr>
          <p:cNvPr id="12" name="TextBox 11"/>
          <p:cNvSpPr txBox="1"/>
          <p:nvPr/>
        </p:nvSpPr>
        <p:spPr>
          <a:xfrm>
            <a:off x="923544" y="2350008"/>
            <a:ext cx="2862072" cy="2313432"/>
          </a:xfrm>
          <a:prstGeom prst="rect">
            <a:avLst/>
          </a:prstGeom>
          <a:noFill/>
        </p:spPr>
        <p:txBody>
          <a:bodyPr wrap="square" lIns="0" tIns="0" rIns="0" bIns="0" anchor="t">
            <a:spAutoFit/>
          </a:bodyPr>
          <a:lstStyle/>
          <a:p>
            <a:pPr algn="l">
              <a:lnSpc>
                <a:spcPct val="112000"/>
              </a:lnSpc>
              <a:spcAft>
                <a:spcPts val="0"/>
              </a:spcAft>
            </a:pPr>
            <a:r>
              <a:rPr sz="1800" b="0" i="0">
                <a:solidFill>
                  <a:srgbClr val="222833"/>
                </a:solidFill>
                <a:latin typeface="微软雅黑"/>
              </a:rPr>
              <a:t>在仿真中覆盖复杂道路、极端天气与动态交通，再在实车上验证感知与控制。</a:t>
            </a:r>
          </a:p>
        </p:txBody>
      </p:sp>
      <p:sp>
        <p:nvSpPr>
          <p:cNvPr id="13" name="Rounded Rectangle 12"/>
          <p:cNvSpPr/>
          <p:nvPr/>
        </p:nvSpPr>
        <p:spPr>
          <a:xfrm>
            <a:off x="4160520" y="1664208"/>
            <a:ext cx="3246120" cy="3154680"/>
          </a:xfrm>
          <a:prstGeom prst="roundRect">
            <a:avLst/>
          </a:prstGeom>
          <a:solidFill>
            <a:srgbClr val="FFFFFF"/>
          </a:solidFill>
          <a:ln w="10160">
            <a:solidFill>
              <a:srgbClr val="E0E5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4160520" y="1664208"/>
            <a:ext cx="64008" cy="3154680"/>
          </a:xfrm>
          <a:prstGeom prst="rect">
            <a:avLst/>
          </a:prstGeom>
          <a:solidFill>
            <a:srgbClr val="2F8E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4370832" y="1810512"/>
            <a:ext cx="2862072" cy="347472"/>
          </a:xfrm>
          <a:prstGeom prst="rect">
            <a:avLst/>
          </a:prstGeom>
          <a:noFill/>
        </p:spPr>
        <p:txBody>
          <a:bodyPr wrap="square" lIns="0" tIns="0" rIns="0" bIns="0" anchor="t">
            <a:spAutoFit/>
          </a:bodyPr>
          <a:lstStyle/>
          <a:p>
            <a:pPr algn="l">
              <a:lnSpc>
                <a:spcPct val="112000"/>
              </a:lnSpc>
              <a:spcAft>
                <a:spcPts val="0"/>
              </a:spcAft>
            </a:pPr>
            <a:r>
              <a:rPr sz="2000" b="1" i="0">
                <a:solidFill>
                  <a:srgbClr val="2F8E72"/>
                </a:solidFill>
                <a:latin typeface="微软雅黑"/>
              </a:rPr>
              <a:t>足式 / 人形机器人</a:t>
            </a:r>
          </a:p>
        </p:txBody>
      </p:sp>
      <p:sp>
        <p:nvSpPr>
          <p:cNvPr id="16" name="TextBox 15"/>
          <p:cNvSpPr txBox="1"/>
          <p:nvPr/>
        </p:nvSpPr>
        <p:spPr>
          <a:xfrm>
            <a:off x="4370832" y="2350008"/>
            <a:ext cx="2862072" cy="2313432"/>
          </a:xfrm>
          <a:prstGeom prst="rect">
            <a:avLst/>
          </a:prstGeom>
          <a:noFill/>
        </p:spPr>
        <p:txBody>
          <a:bodyPr wrap="square" lIns="0" tIns="0" rIns="0" bIns="0" anchor="t">
            <a:spAutoFit/>
          </a:bodyPr>
          <a:lstStyle/>
          <a:p>
            <a:pPr algn="l">
              <a:lnSpc>
                <a:spcPct val="112000"/>
              </a:lnSpc>
              <a:spcAft>
                <a:spcPts val="0"/>
              </a:spcAft>
            </a:pPr>
            <a:r>
              <a:rPr sz="1800" b="0" i="0">
                <a:solidFill>
                  <a:srgbClr val="222833"/>
                </a:solidFill>
                <a:latin typeface="微软雅黑"/>
              </a:rPr>
              <a:t>在仿真中学习平衡、步态和高动态动作，减少早期跌倒对硬件的损伤。</a:t>
            </a:r>
          </a:p>
        </p:txBody>
      </p:sp>
      <p:sp>
        <p:nvSpPr>
          <p:cNvPr id="17" name="Rounded Rectangle 16"/>
          <p:cNvSpPr/>
          <p:nvPr/>
        </p:nvSpPr>
        <p:spPr>
          <a:xfrm>
            <a:off x="7607808" y="1664208"/>
            <a:ext cx="3246120" cy="3154680"/>
          </a:xfrm>
          <a:prstGeom prst="roundRect">
            <a:avLst/>
          </a:prstGeom>
          <a:solidFill>
            <a:srgbClr val="FFFFFF"/>
          </a:solidFill>
          <a:ln w="10160">
            <a:solidFill>
              <a:srgbClr val="E0E5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7607808" y="1664208"/>
            <a:ext cx="64008" cy="3154680"/>
          </a:xfrm>
          <a:prstGeom prst="rect">
            <a:avLst/>
          </a:prstGeom>
          <a:solidFill>
            <a:srgbClr val="C58A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7818120" y="1810512"/>
            <a:ext cx="2862072" cy="347472"/>
          </a:xfrm>
          <a:prstGeom prst="rect">
            <a:avLst/>
          </a:prstGeom>
          <a:noFill/>
        </p:spPr>
        <p:txBody>
          <a:bodyPr wrap="square" lIns="0" tIns="0" rIns="0" bIns="0" anchor="t">
            <a:spAutoFit/>
          </a:bodyPr>
          <a:lstStyle/>
          <a:p>
            <a:pPr algn="l">
              <a:lnSpc>
                <a:spcPct val="112000"/>
              </a:lnSpc>
              <a:spcAft>
                <a:spcPts val="0"/>
              </a:spcAft>
            </a:pPr>
            <a:r>
              <a:rPr sz="2000" b="1" i="0">
                <a:solidFill>
                  <a:srgbClr val="C58A24"/>
                </a:solidFill>
                <a:latin typeface="微软雅黑"/>
              </a:rPr>
              <a:t>机械臂操作</a:t>
            </a:r>
          </a:p>
        </p:txBody>
      </p:sp>
      <p:sp>
        <p:nvSpPr>
          <p:cNvPr id="20" name="TextBox 19"/>
          <p:cNvSpPr txBox="1"/>
          <p:nvPr/>
        </p:nvSpPr>
        <p:spPr>
          <a:xfrm>
            <a:off x="7818120" y="2350008"/>
            <a:ext cx="2862072" cy="2313432"/>
          </a:xfrm>
          <a:prstGeom prst="rect">
            <a:avLst/>
          </a:prstGeom>
          <a:noFill/>
        </p:spPr>
        <p:txBody>
          <a:bodyPr wrap="square" lIns="0" tIns="0" rIns="0" bIns="0" anchor="t">
            <a:spAutoFit/>
          </a:bodyPr>
          <a:lstStyle/>
          <a:p>
            <a:pPr algn="l">
              <a:lnSpc>
                <a:spcPct val="112000"/>
              </a:lnSpc>
              <a:spcAft>
                <a:spcPts val="0"/>
              </a:spcAft>
            </a:pPr>
            <a:r>
              <a:rPr sz="1800" b="0" i="0">
                <a:solidFill>
                  <a:srgbClr val="222833"/>
                </a:solidFill>
                <a:latin typeface="微软雅黑"/>
              </a:rPr>
              <a:t>通过海量抓取、放置、装配试错学习操作策略，再部署到真实机械臂。</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18872" cy="6858000"/>
          </a:xfrm>
          <a:prstGeom prst="rect">
            <a:avLst/>
          </a:prstGeom>
          <a:solidFill>
            <a:srgbClr val="3159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118872" y="0"/>
            <a:ext cx="41148" cy="6858000"/>
          </a:xfrm>
          <a:prstGeom prst="rect">
            <a:avLst/>
          </a:prstGeom>
          <a:solidFill>
            <a:srgbClr val="B7C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38912" y="137160"/>
            <a:ext cx="3474720" cy="164592"/>
          </a:xfrm>
          <a:prstGeom prst="rect">
            <a:avLst/>
          </a:prstGeom>
          <a:noFill/>
        </p:spPr>
        <p:txBody>
          <a:bodyPr wrap="square" lIns="0" tIns="0" rIns="0" bIns="0" anchor="t">
            <a:spAutoFit/>
          </a:bodyPr>
          <a:lstStyle/>
          <a:p>
            <a:pPr algn="l">
              <a:lnSpc>
                <a:spcPct val="112000"/>
              </a:lnSpc>
              <a:spcAft>
                <a:spcPts val="0"/>
              </a:spcAft>
            </a:pPr>
            <a:r>
              <a:rPr sz="1050" b="0" i="0">
                <a:solidFill>
                  <a:srgbClr val="8C98AA"/>
                </a:solidFill>
                <a:latin typeface="微软雅黑"/>
              </a:rPr>
              <a:t>具身智能导论 · 第 9 章</a:t>
            </a:r>
          </a:p>
        </p:txBody>
      </p:sp>
      <p:sp>
        <p:nvSpPr>
          <p:cNvPr id="5" name="TextBox 4"/>
          <p:cNvSpPr txBox="1"/>
          <p:nvPr/>
        </p:nvSpPr>
        <p:spPr>
          <a:xfrm>
            <a:off x="9144000" y="137160"/>
            <a:ext cx="2423160" cy="164592"/>
          </a:xfrm>
          <a:prstGeom prst="rect">
            <a:avLst/>
          </a:prstGeom>
          <a:noFill/>
        </p:spPr>
        <p:txBody>
          <a:bodyPr wrap="square" lIns="0" tIns="0" rIns="0" bIns="0" anchor="t">
            <a:spAutoFit/>
          </a:bodyPr>
          <a:lstStyle/>
          <a:p>
            <a:pPr algn="r">
              <a:lnSpc>
                <a:spcPct val="112000"/>
              </a:lnSpc>
              <a:spcAft>
                <a:spcPts val="0"/>
              </a:spcAft>
            </a:pPr>
            <a:r>
              <a:rPr sz="1050" b="0" i="0">
                <a:solidFill>
                  <a:srgbClr val="8C98AA"/>
                </a:solidFill>
                <a:latin typeface="微软雅黑"/>
              </a:rPr>
              <a:t>虚实迁移技术</a:t>
            </a:r>
          </a:p>
        </p:txBody>
      </p:sp>
      <p:sp>
        <p:nvSpPr>
          <p:cNvPr id="6" name="TextBox 5"/>
          <p:cNvSpPr txBox="1"/>
          <p:nvPr/>
        </p:nvSpPr>
        <p:spPr>
          <a:xfrm>
            <a:off x="502920" y="457200"/>
            <a:ext cx="10927080" cy="749808"/>
          </a:xfrm>
          <a:prstGeom prst="rect">
            <a:avLst/>
          </a:prstGeom>
          <a:noFill/>
        </p:spPr>
        <p:txBody>
          <a:bodyPr wrap="square" lIns="0" tIns="0" rIns="0" bIns="0" anchor="t">
            <a:spAutoFit/>
          </a:bodyPr>
          <a:lstStyle/>
          <a:p>
            <a:pPr algn="l">
              <a:lnSpc>
                <a:spcPct val="112000"/>
              </a:lnSpc>
              <a:spcAft>
                <a:spcPts val="0"/>
              </a:spcAft>
            </a:pPr>
            <a:r>
              <a:rPr sz="3500" b="1" i="0">
                <a:solidFill>
                  <a:srgbClr val="24477D"/>
                </a:solidFill>
                <a:latin typeface="微软雅黑"/>
              </a:rPr>
              <a:t>自主导航中的虚实迁移</a:t>
            </a:r>
          </a:p>
        </p:txBody>
      </p:sp>
      <p:sp>
        <p:nvSpPr>
          <p:cNvPr id="7" name="Rectangle 6"/>
          <p:cNvSpPr/>
          <p:nvPr/>
        </p:nvSpPr>
        <p:spPr>
          <a:xfrm>
            <a:off x="502920" y="1353312"/>
            <a:ext cx="11109960" cy="9144"/>
          </a:xfrm>
          <a:prstGeom prst="rect">
            <a:avLst/>
          </a:prstGeom>
          <a:solidFill>
            <a:srgbClr val="D8DE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1457432" y="6473952"/>
            <a:ext cx="347472" cy="164592"/>
          </a:xfrm>
          <a:prstGeom prst="rect">
            <a:avLst/>
          </a:prstGeom>
          <a:noFill/>
        </p:spPr>
        <p:txBody>
          <a:bodyPr wrap="square" lIns="0" tIns="0" rIns="0" bIns="0" anchor="t">
            <a:spAutoFit/>
          </a:bodyPr>
          <a:lstStyle/>
          <a:p>
            <a:pPr algn="r">
              <a:lnSpc>
                <a:spcPct val="112000"/>
              </a:lnSpc>
              <a:spcAft>
                <a:spcPts val="0"/>
              </a:spcAft>
            </a:pPr>
            <a:r>
              <a:rPr sz="1050" b="0" i="0">
                <a:solidFill>
                  <a:srgbClr val="8C98AA"/>
                </a:solidFill>
                <a:latin typeface="微软雅黑"/>
              </a:rPr>
              <a:t>10</a:t>
            </a:r>
          </a:p>
        </p:txBody>
      </p:sp>
      <p:sp>
        <p:nvSpPr>
          <p:cNvPr id="10" name="TextBox 9"/>
          <p:cNvSpPr txBox="1"/>
          <p:nvPr/>
        </p:nvSpPr>
        <p:spPr>
          <a:xfrm>
            <a:off x="914400" y="5943600"/>
            <a:ext cx="10332720" cy="256032"/>
          </a:xfrm>
          <a:prstGeom prst="rect">
            <a:avLst/>
          </a:prstGeom>
          <a:noFill/>
        </p:spPr>
        <p:txBody>
          <a:bodyPr wrap="square" lIns="0" tIns="0" rIns="0" bIns="0" anchor="t">
            <a:spAutoFit/>
          </a:bodyPr>
          <a:lstStyle/>
          <a:p>
            <a:pPr algn="ctr">
              <a:lnSpc>
                <a:spcPct val="112000"/>
              </a:lnSpc>
              <a:spcAft>
                <a:spcPts val="0"/>
              </a:spcAft>
            </a:pPr>
            <a:r>
              <a:rPr sz="1600" b="1" i="0" dirty="0" err="1">
                <a:solidFill>
                  <a:srgbClr val="222833"/>
                </a:solidFill>
                <a:latin typeface="微软雅黑"/>
              </a:rPr>
              <a:t>自主导航中的虚实迁移</a:t>
            </a:r>
            <a:endParaRPr sz="1600" b="1" i="0" dirty="0">
              <a:solidFill>
                <a:srgbClr val="222833"/>
              </a:solidFill>
              <a:latin typeface="微软雅黑"/>
            </a:endParaRPr>
          </a:p>
        </p:txBody>
      </p:sp>
      <p:pic>
        <p:nvPicPr>
          <p:cNvPr id="11" name="图片 10">
            <a:extLst>
              <a:ext uri="{FF2B5EF4-FFF2-40B4-BE49-F238E27FC236}">
                <a16:creationId xmlns:a16="http://schemas.microsoft.com/office/drawing/2014/main" id="{A6677548-3813-B97C-7273-65F897C09A00}"/>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142433" y="2163430"/>
            <a:ext cx="5437064" cy="3509547"/>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18872" cy="6858000"/>
          </a:xfrm>
          <a:prstGeom prst="rect">
            <a:avLst/>
          </a:prstGeom>
          <a:solidFill>
            <a:srgbClr val="3159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118872" y="0"/>
            <a:ext cx="41148" cy="6858000"/>
          </a:xfrm>
          <a:prstGeom prst="rect">
            <a:avLst/>
          </a:prstGeom>
          <a:solidFill>
            <a:srgbClr val="B7C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38912" y="137160"/>
            <a:ext cx="3474720" cy="164592"/>
          </a:xfrm>
          <a:prstGeom prst="rect">
            <a:avLst/>
          </a:prstGeom>
          <a:noFill/>
        </p:spPr>
        <p:txBody>
          <a:bodyPr wrap="square" lIns="0" tIns="0" rIns="0" bIns="0" anchor="t">
            <a:spAutoFit/>
          </a:bodyPr>
          <a:lstStyle/>
          <a:p>
            <a:pPr algn="l">
              <a:lnSpc>
                <a:spcPct val="112000"/>
              </a:lnSpc>
              <a:spcAft>
                <a:spcPts val="0"/>
              </a:spcAft>
            </a:pPr>
            <a:r>
              <a:rPr sz="1050" b="0" i="0">
                <a:solidFill>
                  <a:srgbClr val="8C98AA"/>
                </a:solidFill>
                <a:latin typeface="微软雅黑"/>
              </a:rPr>
              <a:t>具身智能导论 · 第 9 章</a:t>
            </a:r>
          </a:p>
        </p:txBody>
      </p:sp>
      <p:sp>
        <p:nvSpPr>
          <p:cNvPr id="5" name="TextBox 4"/>
          <p:cNvSpPr txBox="1"/>
          <p:nvPr/>
        </p:nvSpPr>
        <p:spPr>
          <a:xfrm>
            <a:off x="9144000" y="137160"/>
            <a:ext cx="2423160" cy="164592"/>
          </a:xfrm>
          <a:prstGeom prst="rect">
            <a:avLst/>
          </a:prstGeom>
          <a:noFill/>
        </p:spPr>
        <p:txBody>
          <a:bodyPr wrap="square" lIns="0" tIns="0" rIns="0" bIns="0" anchor="t">
            <a:spAutoFit/>
          </a:bodyPr>
          <a:lstStyle/>
          <a:p>
            <a:pPr algn="r">
              <a:lnSpc>
                <a:spcPct val="112000"/>
              </a:lnSpc>
              <a:spcAft>
                <a:spcPts val="0"/>
              </a:spcAft>
            </a:pPr>
            <a:r>
              <a:rPr sz="1050" b="0" i="0">
                <a:solidFill>
                  <a:srgbClr val="8C98AA"/>
                </a:solidFill>
                <a:latin typeface="微软雅黑"/>
              </a:rPr>
              <a:t>虚实迁移技术</a:t>
            </a:r>
          </a:p>
        </p:txBody>
      </p:sp>
      <p:sp>
        <p:nvSpPr>
          <p:cNvPr id="6" name="TextBox 5"/>
          <p:cNvSpPr txBox="1"/>
          <p:nvPr/>
        </p:nvSpPr>
        <p:spPr>
          <a:xfrm>
            <a:off x="502920" y="457200"/>
            <a:ext cx="10927080" cy="749808"/>
          </a:xfrm>
          <a:prstGeom prst="rect">
            <a:avLst/>
          </a:prstGeom>
          <a:noFill/>
        </p:spPr>
        <p:txBody>
          <a:bodyPr wrap="square" lIns="0" tIns="0" rIns="0" bIns="0" anchor="t">
            <a:spAutoFit/>
          </a:bodyPr>
          <a:lstStyle/>
          <a:p>
            <a:pPr algn="l">
              <a:lnSpc>
                <a:spcPct val="112000"/>
              </a:lnSpc>
              <a:spcAft>
                <a:spcPts val="0"/>
              </a:spcAft>
            </a:pPr>
            <a:r>
              <a:rPr sz="3500" b="1" i="0">
                <a:solidFill>
                  <a:srgbClr val="24477D"/>
                </a:solidFill>
                <a:latin typeface="微软雅黑"/>
              </a:rPr>
              <a:t>四足机器人：从仿真训练到现实验证</a:t>
            </a:r>
          </a:p>
        </p:txBody>
      </p:sp>
      <p:sp>
        <p:nvSpPr>
          <p:cNvPr id="7" name="Rectangle 6"/>
          <p:cNvSpPr/>
          <p:nvPr/>
        </p:nvSpPr>
        <p:spPr>
          <a:xfrm>
            <a:off x="502920" y="1353312"/>
            <a:ext cx="11109960" cy="9144"/>
          </a:xfrm>
          <a:prstGeom prst="rect">
            <a:avLst/>
          </a:prstGeom>
          <a:solidFill>
            <a:srgbClr val="D8DE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1457432" y="6473952"/>
            <a:ext cx="347472" cy="164592"/>
          </a:xfrm>
          <a:prstGeom prst="rect">
            <a:avLst/>
          </a:prstGeom>
          <a:noFill/>
        </p:spPr>
        <p:txBody>
          <a:bodyPr wrap="square" lIns="0" tIns="0" rIns="0" bIns="0" anchor="t">
            <a:spAutoFit/>
          </a:bodyPr>
          <a:lstStyle/>
          <a:p>
            <a:pPr algn="r">
              <a:lnSpc>
                <a:spcPct val="112000"/>
              </a:lnSpc>
              <a:spcAft>
                <a:spcPts val="0"/>
              </a:spcAft>
            </a:pPr>
            <a:r>
              <a:rPr sz="1050" b="0" i="0">
                <a:solidFill>
                  <a:srgbClr val="8C98AA"/>
                </a:solidFill>
                <a:latin typeface="微软雅黑"/>
              </a:rPr>
              <a:t>11</a:t>
            </a:r>
          </a:p>
        </p:txBody>
      </p:sp>
      <p:sp>
        <p:nvSpPr>
          <p:cNvPr id="10" name="TextBox 9"/>
          <p:cNvSpPr txBox="1"/>
          <p:nvPr/>
        </p:nvSpPr>
        <p:spPr>
          <a:xfrm>
            <a:off x="914400" y="5943600"/>
            <a:ext cx="10332720" cy="256032"/>
          </a:xfrm>
          <a:prstGeom prst="rect">
            <a:avLst/>
          </a:prstGeom>
          <a:noFill/>
        </p:spPr>
        <p:txBody>
          <a:bodyPr wrap="square" lIns="0" tIns="0" rIns="0" bIns="0" anchor="t">
            <a:spAutoFit/>
          </a:bodyPr>
          <a:lstStyle/>
          <a:p>
            <a:pPr algn="ctr">
              <a:lnSpc>
                <a:spcPct val="112000"/>
              </a:lnSpc>
              <a:spcAft>
                <a:spcPts val="0"/>
              </a:spcAft>
            </a:pPr>
            <a:r>
              <a:rPr sz="1600" b="1" i="0" dirty="0" err="1">
                <a:solidFill>
                  <a:srgbClr val="222833"/>
                </a:solidFill>
                <a:latin typeface="微软雅黑"/>
              </a:rPr>
              <a:t>四足机器人在仿真（上）和现实环境（下）中奔跑</a:t>
            </a:r>
            <a:endParaRPr sz="1600" b="1" i="0" dirty="0">
              <a:solidFill>
                <a:srgbClr val="222833"/>
              </a:solidFill>
              <a:latin typeface="微软雅黑"/>
            </a:endParaRPr>
          </a:p>
        </p:txBody>
      </p:sp>
      <p:pic>
        <p:nvPicPr>
          <p:cNvPr id="11" name="图片 10">
            <a:extLst>
              <a:ext uri="{FF2B5EF4-FFF2-40B4-BE49-F238E27FC236}">
                <a16:creationId xmlns:a16="http://schemas.microsoft.com/office/drawing/2014/main" id="{B4CF3478-DFCF-6FAA-265F-3762C485DEAA}"/>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a:xfrm>
            <a:off x="2918551" y="1959383"/>
            <a:ext cx="6324418" cy="3731357"/>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18872" cy="6858000"/>
          </a:xfrm>
          <a:prstGeom prst="rect">
            <a:avLst/>
          </a:prstGeom>
          <a:solidFill>
            <a:srgbClr val="3159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118872" y="0"/>
            <a:ext cx="41148" cy="6858000"/>
          </a:xfrm>
          <a:prstGeom prst="rect">
            <a:avLst/>
          </a:prstGeom>
          <a:solidFill>
            <a:srgbClr val="B7C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38912" y="137160"/>
            <a:ext cx="3474720" cy="164592"/>
          </a:xfrm>
          <a:prstGeom prst="rect">
            <a:avLst/>
          </a:prstGeom>
          <a:noFill/>
        </p:spPr>
        <p:txBody>
          <a:bodyPr wrap="square" lIns="0" tIns="0" rIns="0" bIns="0" anchor="t">
            <a:spAutoFit/>
          </a:bodyPr>
          <a:lstStyle/>
          <a:p>
            <a:pPr algn="l">
              <a:lnSpc>
                <a:spcPct val="112000"/>
              </a:lnSpc>
              <a:spcAft>
                <a:spcPts val="0"/>
              </a:spcAft>
            </a:pPr>
            <a:r>
              <a:rPr sz="1050" b="0" i="0">
                <a:solidFill>
                  <a:srgbClr val="8C98AA"/>
                </a:solidFill>
                <a:latin typeface="微软雅黑"/>
              </a:rPr>
              <a:t>具身智能导论 · 第 9 章</a:t>
            </a:r>
          </a:p>
        </p:txBody>
      </p:sp>
      <p:sp>
        <p:nvSpPr>
          <p:cNvPr id="5" name="TextBox 4"/>
          <p:cNvSpPr txBox="1"/>
          <p:nvPr/>
        </p:nvSpPr>
        <p:spPr>
          <a:xfrm>
            <a:off x="9144000" y="137160"/>
            <a:ext cx="2423160" cy="164592"/>
          </a:xfrm>
          <a:prstGeom prst="rect">
            <a:avLst/>
          </a:prstGeom>
          <a:noFill/>
        </p:spPr>
        <p:txBody>
          <a:bodyPr wrap="square" lIns="0" tIns="0" rIns="0" bIns="0" anchor="t">
            <a:spAutoFit/>
          </a:bodyPr>
          <a:lstStyle/>
          <a:p>
            <a:pPr algn="r">
              <a:lnSpc>
                <a:spcPct val="112000"/>
              </a:lnSpc>
              <a:spcAft>
                <a:spcPts val="0"/>
              </a:spcAft>
            </a:pPr>
            <a:r>
              <a:rPr sz="1050" b="0" i="0">
                <a:solidFill>
                  <a:srgbClr val="8C98AA"/>
                </a:solidFill>
                <a:latin typeface="微软雅黑"/>
              </a:rPr>
              <a:t>虚实迁移技术</a:t>
            </a:r>
          </a:p>
        </p:txBody>
      </p:sp>
      <p:sp>
        <p:nvSpPr>
          <p:cNvPr id="6" name="TextBox 5"/>
          <p:cNvSpPr txBox="1"/>
          <p:nvPr/>
        </p:nvSpPr>
        <p:spPr>
          <a:xfrm>
            <a:off x="502920" y="457200"/>
            <a:ext cx="10927080" cy="749808"/>
          </a:xfrm>
          <a:prstGeom prst="rect">
            <a:avLst/>
          </a:prstGeom>
          <a:noFill/>
        </p:spPr>
        <p:txBody>
          <a:bodyPr wrap="square" lIns="0" tIns="0" rIns="0" bIns="0" anchor="t">
            <a:spAutoFit/>
          </a:bodyPr>
          <a:lstStyle/>
          <a:p>
            <a:pPr algn="l">
              <a:lnSpc>
                <a:spcPct val="112000"/>
              </a:lnSpc>
              <a:spcAft>
                <a:spcPts val="0"/>
              </a:spcAft>
            </a:pPr>
            <a:r>
              <a:rPr sz="3100" b="1" i="0">
                <a:solidFill>
                  <a:srgbClr val="24477D"/>
                </a:solidFill>
                <a:latin typeface="微软雅黑"/>
              </a:rPr>
              <a:t>9.1.1 虚实互补：为什么必须把仿真与现实结合起来？</a:t>
            </a:r>
          </a:p>
        </p:txBody>
      </p:sp>
      <p:sp>
        <p:nvSpPr>
          <p:cNvPr id="7" name="Rectangle 6"/>
          <p:cNvSpPr/>
          <p:nvPr/>
        </p:nvSpPr>
        <p:spPr>
          <a:xfrm>
            <a:off x="502920" y="1353312"/>
            <a:ext cx="11109960" cy="9144"/>
          </a:xfrm>
          <a:prstGeom prst="rect">
            <a:avLst/>
          </a:prstGeom>
          <a:solidFill>
            <a:srgbClr val="D8DE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1457432" y="6473952"/>
            <a:ext cx="347472" cy="164592"/>
          </a:xfrm>
          <a:prstGeom prst="rect">
            <a:avLst/>
          </a:prstGeom>
          <a:noFill/>
        </p:spPr>
        <p:txBody>
          <a:bodyPr wrap="square" lIns="0" tIns="0" rIns="0" bIns="0" anchor="t">
            <a:spAutoFit/>
          </a:bodyPr>
          <a:lstStyle/>
          <a:p>
            <a:pPr algn="r">
              <a:lnSpc>
                <a:spcPct val="112000"/>
              </a:lnSpc>
              <a:spcAft>
                <a:spcPts val="0"/>
              </a:spcAft>
            </a:pPr>
            <a:r>
              <a:rPr sz="1050" b="0" i="0">
                <a:solidFill>
                  <a:srgbClr val="8C98AA"/>
                </a:solidFill>
                <a:latin typeface="微软雅黑"/>
              </a:rPr>
              <a:t>12</a:t>
            </a:r>
          </a:p>
        </p:txBody>
      </p:sp>
      <p:sp>
        <p:nvSpPr>
          <p:cNvPr id="9" name="Rounded Rectangle 8"/>
          <p:cNvSpPr/>
          <p:nvPr/>
        </p:nvSpPr>
        <p:spPr>
          <a:xfrm>
            <a:off x="822960" y="1737360"/>
            <a:ext cx="5074920" cy="3337560"/>
          </a:xfrm>
          <a:prstGeom prst="roundRect">
            <a:avLst/>
          </a:prstGeom>
          <a:solidFill>
            <a:srgbClr val="FFFFFF"/>
          </a:solidFill>
          <a:ln w="10160">
            <a:solidFill>
              <a:srgbClr val="E0E5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822960" y="1737360"/>
            <a:ext cx="64008" cy="3337560"/>
          </a:xfrm>
          <a:prstGeom prst="rect">
            <a:avLst/>
          </a:prstGeom>
          <a:solidFill>
            <a:srgbClr val="3159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1033272" y="1883664"/>
            <a:ext cx="4690872" cy="347472"/>
          </a:xfrm>
          <a:prstGeom prst="rect">
            <a:avLst/>
          </a:prstGeom>
          <a:noFill/>
        </p:spPr>
        <p:txBody>
          <a:bodyPr wrap="square" lIns="0" tIns="0" rIns="0" bIns="0" anchor="t">
            <a:spAutoFit/>
          </a:bodyPr>
          <a:lstStyle/>
          <a:p>
            <a:pPr algn="l">
              <a:lnSpc>
                <a:spcPct val="112000"/>
              </a:lnSpc>
              <a:spcAft>
                <a:spcPts val="0"/>
              </a:spcAft>
            </a:pPr>
            <a:r>
              <a:rPr sz="2000" b="1" i="0">
                <a:solidFill>
                  <a:srgbClr val="31599B"/>
                </a:solidFill>
                <a:latin typeface="微软雅黑"/>
              </a:rPr>
              <a:t>仿真环境</a:t>
            </a:r>
          </a:p>
        </p:txBody>
      </p:sp>
      <p:sp>
        <p:nvSpPr>
          <p:cNvPr id="12" name="TextBox 11"/>
          <p:cNvSpPr txBox="1"/>
          <p:nvPr/>
        </p:nvSpPr>
        <p:spPr>
          <a:xfrm>
            <a:off x="1033272" y="2423160"/>
            <a:ext cx="4690872" cy="2496312"/>
          </a:xfrm>
          <a:prstGeom prst="rect">
            <a:avLst/>
          </a:prstGeom>
          <a:noFill/>
        </p:spPr>
        <p:txBody>
          <a:bodyPr wrap="square" lIns="0" tIns="0" rIns="0" bIns="0" anchor="t">
            <a:spAutoFit/>
          </a:bodyPr>
          <a:lstStyle/>
          <a:p>
            <a:pPr algn="l">
              <a:lnSpc>
                <a:spcPct val="112000"/>
              </a:lnSpc>
              <a:spcAft>
                <a:spcPts val="0"/>
              </a:spcAft>
            </a:pPr>
            <a:r>
              <a:rPr sz="1850" b="0" i="0">
                <a:solidFill>
                  <a:srgbClr val="222833"/>
                </a:solidFill>
                <a:latin typeface="微软雅黑"/>
              </a:rPr>
              <a:t>可基于 MuJoCo、Isaac Lab、PyBullet、Gazebo 等高保真物理引擎，模拟动力学、传感器输入与环境交互。</a:t>
            </a:r>
          </a:p>
        </p:txBody>
      </p:sp>
      <p:sp>
        <p:nvSpPr>
          <p:cNvPr id="13" name="Rounded Rectangle 12"/>
          <p:cNvSpPr/>
          <p:nvPr/>
        </p:nvSpPr>
        <p:spPr>
          <a:xfrm>
            <a:off x="6291072" y="1737360"/>
            <a:ext cx="5074920" cy="3337560"/>
          </a:xfrm>
          <a:prstGeom prst="roundRect">
            <a:avLst/>
          </a:prstGeom>
          <a:solidFill>
            <a:srgbClr val="FFFFFF"/>
          </a:solidFill>
          <a:ln w="10160">
            <a:solidFill>
              <a:srgbClr val="E0E5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6291072" y="1737360"/>
            <a:ext cx="64008" cy="3337560"/>
          </a:xfrm>
          <a:prstGeom prst="rect">
            <a:avLst/>
          </a:prstGeom>
          <a:solidFill>
            <a:srgbClr val="2F8E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6501384" y="1883664"/>
            <a:ext cx="4690872" cy="347472"/>
          </a:xfrm>
          <a:prstGeom prst="rect">
            <a:avLst/>
          </a:prstGeom>
          <a:noFill/>
        </p:spPr>
        <p:txBody>
          <a:bodyPr wrap="square" lIns="0" tIns="0" rIns="0" bIns="0" anchor="t">
            <a:spAutoFit/>
          </a:bodyPr>
          <a:lstStyle/>
          <a:p>
            <a:pPr algn="l">
              <a:lnSpc>
                <a:spcPct val="112000"/>
              </a:lnSpc>
              <a:spcAft>
                <a:spcPts val="0"/>
              </a:spcAft>
            </a:pPr>
            <a:r>
              <a:rPr sz="2000" b="1" i="0">
                <a:solidFill>
                  <a:srgbClr val="2F8E72"/>
                </a:solidFill>
                <a:latin typeface="微软雅黑"/>
              </a:rPr>
              <a:t>现实环境</a:t>
            </a:r>
          </a:p>
        </p:txBody>
      </p:sp>
      <p:sp>
        <p:nvSpPr>
          <p:cNvPr id="16" name="TextBox 15"/>
          <p:cNvSpPr txBox="1"/>
          <p:nvPr/>
        </p:nvSpPr>
        <p:spPr>
          <a:xfrm>
            <a:off x="6501384" y="2423160"/>
            <a:ext cx="4690872" cy="2496312"/>
          </a:xfrm>
          <a:prstGeom prst="rect">
            <a:avLst/>
          </a:prstGeom>
          <a:noFill/>
        </p:spPr>
        <p:txBody>
          <a:bodyPr wrap="square" lIns="0" tIns="0" rIns="0" bIns="0" anchor="t">
            <a:spAutoFit/>
          </a:bodyPr>
          <a:lstStyle/>
          <a:p>
            <a:pPr algn="l">
              <a:lnSpc>
                <a:spcPct val="112000"/>
              </a:lnSpc>
              <a:spcAft>
                <a:spcPts val="0"/>
              </a:spcAft>
            </a:pPr>
            <a:r>
              <a:rPr sz="1850" b="0" i="0">
                <a:solidFill>
                  <a:srgbClr val="222833"/>
                </a:solidFill>
                <a:latin typeface="微软雅黑"/>
              </a:rPr>
              <a:t>提供真实的物理反馈与传感器数据，是最终部署验证不可替代的目标域，但训练成本高、风险大。</a:t>
            </a:r>
          </a:p>
        </p:txBody>
      </p:sp>
      <p:sp>
        <p:nvSpPr>
          <p:cNvPr id="17" name="TextBox 16"/>
          <p:cNvSpPr txBox="1"/>
          <p:nvPr/>
        </p:nvSpPr>
        <p:spPr>
          <a:xfrm>
            <a:off x="640080" y="5349240"/>
            <a:ext cx="10972800" cy="502920"/>
          </a:xfrm>
          <a:prstGeom prst="rect">
            <a:avLst/>
          </a:prstGeom>
          <a:noFill/>
        </p:spPr>
        <p:txBody>
          <a:bodyPr wrap="square" lIns="0" tIns="0" rIns="0" bIns="0" anchor="ctr">
            <a:spAutoFit/>
          </a:bodyPr>
          <a:lstStyle/>
          <a:p>
            <a:pPr algn="ctr">
              <a:lnSpc>
                <a:spcPct val="112000"/>
              </a:lnSpc>
              <a:spcAft>
                <a:spcPts val="0"/>
              </a:spcAft>
            </a:pPr>
            <a:r>
              <a:rPr sz="2000" b="1" i="0">
                <a:solidFill>
                  <a:srgbClr val="24477D"/>
                </a:solidFill>
                <a:latin typeface="微软雅黑"/>
              </a:rPr>
              <a:t>虚实迁移的根本动力来自“仿真高效可控”与“现实真实可信”的互补。</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18872" cy="6858000"/>
          </a:xfrm>
          <a:prstGeom prst="rect">
            <a:avLst/>
          </a:prstGeom>
          <a:solidFill>
            <a:srgbClr val="3159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118872" y="0"/>
            <a:ext cx="41148" cy="6858000"/>
          </a:xfrm>
          <a:prstGeom prst="rect">
            <a:avLst/>
          </a:prstGeom>
          <a:solidFill>
            <a:srgbClr val="B7C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38912" y="137160"/>
            <a:ext cx="3474720" cy="164592"/>
          </a:xfrm>
          <a:prstGeom prst="rect">
            <a:avLst/>
          </a:prstGeom>
          <a:noFill/>
        </p:spPr>
        <p:txBody>
          <a:bodyPr wrap="square" lIns="0" tIns="0" rIns="0" bIns="0" anchor="t">
            <a:spAutoFit/>
          </a:bodyPr>
          <a:lstStyle/>
          <a:p>
            <a:pPr algn="l">
              <a:lnSpc>
                <a:spcPct val="112000"/>
              </a:lnSpc>
              <a:spcAft>
                <a:spcPts val="0"/>
              </a:spcAft>
            </a:pPr>
            <a:r>
              <a:rPr sz="1050" b="0" i="0">
                <a:solidFill>
                  <a:srgbClr val="8C98AA"/>
                </a:solidFill>
                <a:latin typeface="微软雅黑"/>
              </a:rPr>
              <a:t>具身智能导论 · 第 9 章</a:t>
            </a:r>
          </a:p>
        </p:txBody>
      </p:sp>
      <p:sp>
        <p:nvSpPr>
          <p:cNvPr id="5" name="TextBox 4"/>
          <p:cNvSpPr txBox="1"/>
          <p:nvPr/>
        </p:nvSpPr>
        <p:spPr>
          <a:xfrm>
            <a:off x="9144000" y="137160"/>
            <a:ext cx="2423160" cy="164592"/>
          </a:xfrm>
          <a:prstGeom prst="rect">
            <a:avLst/>
          </a:prstGeom>
          <a:noFill/>
        </p:spPr>
        <p:txBody>
          <a:bodyPr wrap="square" lIns="0" tIns="0" rIns="0" bIns="0" anchor="t">
            <a:spAutoFit/>
          </a:bodyPr>
          <a:lstStyle/>
          <a:p>
            <a:pPr algn="r">
              <a:lnSpc>
                <a:spcPct val="112000"/>
              </a:lnSpc>
              <a:spcAft>
                <a:spcPts val="0"/>
              </a:spcAft>
            </a:pPr>
            <a:r>
              <a:rPr sz="1050" b="0" i="0">
                <a:solidFill>
                  <a:srgbClr val="8C98AA"/>
                </a:solidFill>
                <a:latin typeface="微软雅黑"/>
              </a:rPr>
              <a:t>虚实迁移技术</a:t>
            </a:r>
          </a:p>
        </p:txBody>
      </p:sp>
      <p:sp>
        <p:nvSpPr>
          <p:cNvPr id="6" name="TextBox 5"/>
          <p:cNvSpPr txBox="1"/>
          <p:nvPr/>
        </p:nvSpPr>
        <p:spPr>
          <a:xfrm>
            <a:off x="502920" y="457200"/>
            <a:ext cx="10927080" cy="749808"/>
          </a:xfrm>
          <a:prstGeom prst="rect">
            <a:avLst/>
          </a:prstGeom>
          <a:noFill/>
        </p:spPr>
        <p:txBody>
          <a:bodyPr wrap="square" lIns="0" tIns="0" rIns="0" bIns="0" anchor="t">
            <a:spAutoFit/>
          </a:bodyPr>
          <a:lstStyle/>
          <a:p>
            <a:pPr algn="l">
              <a:lnSpc>
                <a:spcPct val="112000"/>
              </a:lnSpc>
              <a:spcAft>
                <a:spcPts val="0"/>
              </a:spcAft>
            </a:pPr>
            <a:r>
              <a:rPr sz="3500" b="1" i="0">
                <a:solidFill>
                  <a:srgbClr val="24477D"/>
                </a:solidFill>
                <a:latin typeface="微软雅黑"/>
              </a:rPr>
              <a:t>仿真环境的三项主要优势</a:t>
            </a:r>
          </a:p>
        </p:txBody>
      </p:sp>
      <p:sp>
        <p:nvSpPr>
          <p:cNvPr id="7" name="Rectangle 6"/>
          <p:cNvSpPr/>
          <p:nvPr/>
        </p:nvSpPr>
        <p:spPr>
          <a:xfrm>
            <a:off x="502920" y="1353312"/>
            <a:ext cx="11109960" cy="9144"/>
          </a:xfrm>
          <a:prstGeom prst="rect">
            <a:avLst/>
          </a:prstGeom>
          <a:solidFill>
            <a:srgbClr val="D8DE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1457432" y="6473952"/>
            <a:ext cx="347472" cy="164592"/>
          </a:xfrm>
          <a:prstGeom prst="rect">
            <a:avLst/>
          </a:prstGeom>
          <a:noFill/>
        </p:spPr>
        <p:txBody>
          <a:bodyPr wrap="square" lIns="0" tIns="0" rIns="0" bIns="0" anchor="t">
            <a:spAutoFit/>
          </a:bodyPr>
          <a:lstStyle/>
          <a:p>
            <a:pPr algn="r">
              <a:lnSpc>
                <a:spcPct val="112000"/>
              </a:lnSpc>
              <a:spcAft>
                <a:spcPts val="0"/>
              </a:spcAft>
            </a:pPr>
            <a:r>
              <a:rPr sz="1050" b="0" i="0">
                <a:solidFill>
                  <a:srgbClr val="8C98AA"/>
                </a:solidFill>
                <a:latin typeface="微软雅黑"/>
              </a:rPr>
              <a:t>13</a:t>
            </a:r>
          </a:p>
        </p:txBody>
      </p:sp>
      <p:sp>
        <p:nvSpPr>
          <p:cNvPr id="9" name="Rounded Rectangle 8"/>
          <p:cNvSpPr/>
          <p:nvPr/>
        </p:nvSpPr>
        <p:spPr>
          <a:xfrm>
            <a:off x="713232" y="1664208"/>
            <a:ext cx="3246120" cy="3246120"/>
          </a:xfrm>
          <a:prstGeom prst="roundRect">
            <a:avLst/>
          </a:prstGeom>
          <a:solidFill>
            <a:srgbClr val="FFFFFF"/>
          </a:solidFill>
          <a:ln w="10160">
            <a:solidFill>
              <a:srgbClr val="E0E5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713232" y="1664208"/>
            <a:ext cx="64008" cy="3246120"/>
          </a:xfrm>
          <a:prstGeom prst="rect">
            <a:avLst/>
          </a:prstGeom>
          <a:solidFill>
            <a:srgbClr val="3159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923544" y="1810512"/>
            <a:ext cx="2862072" cy="347472"/>
          </a:xfrm>
          <a:prstGeom prst="rect">
            <a:avLst/>
          </a:prstGeom>
          <a:noFill/>
        </p:spPr>
        <p:txBody>
          <a:bodyPr wrap="square" lIns="0" tIns="0" rIns="0" bIns="0" anchor="t">
            <a:spAutoFit/>
          </a:bodyPr>
          <a:lstStyle/>
          <a:p>
            <a:pPr algn="l">
              <a:lnSpc>
                <a:spcPct val="112000"/>
              </a:lnSpc>
              <a:spcAft>
                <a:spcPts val="0"/>
              </a:spcAft>
            </a:pPr>
            <a:r>
              <a:rPr sz="2000" b="1" i="0">
                <a:solidFill>
                  <a:srgbClr val="31599B"/>
                </a:solidFill>
                <a:latin typeface="微软雅黑"/>
              </a:rPr>
              <a:t>1  成本低且高效</a:t>
            </a:r>
          </a:p>
        </p:txBody>
      </p:sp>
      <p:sp>
        <p:nvSpPr>
          <p:cNvPr id="12" name="TextBox 11"/>
          <p:cNvSpPr txBox="1"/>
          <p:nvPr/>
        </p:nvSpPr>
        <p:spPr>
          <a:xfrm>
            <a:off x="923544" y="2350008"/>
            <a:ext cx="2862072" cy="2404872"/>
          </a:xfrm>
          <a:prstGeom prst="rect">
            <a:avLst/>
          </a:prstGeom>
          <a:noFill/>
        </p:spPr>
        <p:txBody>
          <a:bodyPr wrap="square" lIns="0" tIns="0" rIns="0" bIns="0" anchor="t">
            <a:spAutoFit/>
          </a:bodyPr>
          <a:lstStyle/>
          <a:p>
            <a:pPr algn="l">
              <a:lnSpc>
                <a:spcPct val="112000"/>
              </a:lnSpc>
              <a:spcAft>
                <a:spcPts val="0"/>
              </a:spcAft>
            </a:pPr>
            <a:r>
              <a:rPr sz="1800" b="0" i="0">
                <a:solidFill>
                  <a:srgbClr val="222833"/>
                </a:solidFill>
                <a:latin typeface="微软雅黑"/>
              </a:rPr>
              <a:t>无需昂贵硬件，训练可在计算机上并行运行，快速生成海量强化学习或模仿学习数据。</a:t>
            </a:r>
          </a:p>
        </p:txBody>
      </p:sp>
      <p:sp>
        <p:nvSpPr>
          <p:cNvPr id="13" name="Rounded Rectangle 12"/>
          <p:cNvSpPr/>
          <p:nvPr/>
        </p:nvSpPr>
        <p:spPr>
          <a:xfrm>
            <a:off x="4160520" y="1664208"/>
            <a:ext cx="3246120" cy="3246120"/>
          </a:xfrm>
          <a:prstGeom prst="roundRect">
            <a:avLst/>
          </a:prstGeom>
          <a:solidFill>
            <a:srgbClr val="FFFFFF"/>
          </a:solidFill>
          <a:ln w="10160">
            <a:solidFill>
              <a:srgbClr val="E0E5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4160520" y="1664208"/>
            <a:ext cx="64008" cy="3246120"/>
          </a:xfrm>
          <a:prstGeom prst="rect">
            <a:avLst/>
          </a:prstGeom>
          <a:solidFill>
            <a:srgbClr val="2F8E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4370832" y="1810512"/>
            <a:ext cx="2862072" cy="347472"/>
          </a:xfrm>
          <a:prstGeom prst="rect">
            <a:avLst/>
          </a:prstGeom>
          <a:noFill/>
        </p:spPr>
        <p:txBody>
          <a:bodyPr wrap="square" lIns="0" tIns="0" rIns="0" bIns="0" anchor="t">
            <a:spAutoFit/>
          </a:bodyPr>
          <a:lstStyle/>
          <a:p>
            <a:pPr algn="l">
              <a:lnSpc>
                <a:spcPct val="112000"/>
              </a:lnSpc>
              <a:spcAft>
                <a:spcPts val="0"/>
              </a:spcAft>
            </a:pPr>
            <a:r>
              <a:rPr sz="2000" b="1" i="0">
                <a:solidFill>
                  <a:srgbClr val="2F8E72"/>
                </a:solidFill>
                <a:latin typeface="微软雅黑"/>
              </a:rPr>
              <a:t>2  可控且安全</a:t>
            </a:r>
          </a:p>
        </p:txBody>
      </p:sp>
      <p:sp>
        <p:nvSpPr>
          <p:cNvPr id="16" name="TextBox 15"/>
          <p:cNvSpPr txBox="1"/>
          <p:nvPr/>
        </p:nvSpPr>
        <p:spPr>
          <a:xfrm>
            <a:off x="4370832" y="2350008"/>
            <a:ext cx="2862072" cy="2404872"/>
          </a:xfrm>
          <a:prstGeom prst="rect">
            <a:avLst/>
          </a:prstGeom>
          <a:noFill/>
        </p:spPr>
        <p:txBody>
          <a:bodyPr wrap="square" lIns="0" tIns="0" rIns="0" bIns="0" anchor="t">
            <a:spAutoFit/>
          </a:bodyPr>
          <a:lstStyle/>
          <a:p>
            <a:pPr algn="l">
              <a:lnSpc>
                <a:spcPct val="112000"/>
              </a:lnSpc>
              <a:spcAft>
                <a:spcPts val="0"/>
              </a:spcAft>
            </a:pPr>
            <a:r>
              <a:rPr sz="1800" b="0" i="0">
                <a:solidFill>
                  <a:srgbClr val="222833"/>
                </a:solidFill>
                <a:latin typeface="微软雅黑"/>
              </a:rPr>
              <a:t>可自由调整重力、摩擦、光照等参数，避免现实碰撞与故障风险，并支持快速试错。</a:t>
            </a:r>
          </a:p>
        </p:txBody>
      </p:sp>
      <p:sp>
        <p:nvSpPr>
          <p:cNvPr id="17" name="Rounded Rectangle 16"/>
          <p:cNvSpPr/>
          <p:nvPr/>
        </p:nvSpPr>
        <p:spPr>
          <a:xfrm>
            <a:off x="7607808" y="1664208"/>
            <a:ext cx="3246120" cy="3246120"/>
          </a:xfrm>
          <a:prstGeom prst="roundRect">
            <a:avLst/>
          </a:prstGeom>
          <a:solidFill>
            <a:srgbClr val="FFFFFF"/>
          </a:solidFill>
          <a:ln w="10160">
            <a:solidFill>
              <a:srgbClr val="E0E5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7607808" y="1664208"/>
            <a:ext cx="64008" cy="3246120"/>
          </a:xfrm>
          <a:prstGeom prst="rect">
            <a:avLst/>
          </a:prstGeom>
          <a:solidFill>
            <a:srgbClr val="C58A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7818120" y="1810512"/>
            <a:ext cx="2862072" cy="347472"/>
          </a:xfrm>
          <a:prstGeom prst="rect">
            <a:avLst/>
          </a:prstGeom>
          <a:noFill/>
        </p:spPr>
        <p:txBody>
          <a:bodyPr wrap="square" lIns="0" tIns="0" rIns="0" bIns="0" anchor="t">
            <a:spAutoFit/>
          </a:bodyPr>
          <a:lstStyle/>
          <a:p>
            <a:pPr algn="l">
              <a:lnSpc>
                <a:spcPct val="112000"/>
              </a:lnSpc>
              <a:spcAft>
                <a:spcPts val="0"/>
              </a:spcAft>
            </a:pPr>
            <a:r>
              <a:rPr sz="2000" b="1" i="0">
                <a:solidFill>
                  <a:srgbClr val="C58A24"/>
                </a:solidFill>
                <a:latin typeface="微软雅黑"/>
              </a:rPr>
              <a:t>3  场景多样</a:t>
            </a:r>
          </a:p>
        </p:txBody>
      </p:sp>
      <p:sp>
        <p:nvSpPr>
          <p:cNvPr id="20" name="TextBox 19"/>
          <p:cNvSpPr txBox="1"/>
          <p:nvPr/>
        </p:nvSpPr>
        <p:spPr>
          <a:xfrm>
            <a:off x="7818120" y="2350008"/>
            <a:ext cx="2862072" cy="2404872"/>
          </a:xfrm>
          <a:prstGeom prst="rect">
            <a:avLst/>
          </a:prstGeom>
          <a:noFill/>
        </p:spPr>
        <p:txBody>
          <a:bodyPr wrap="square" lIns="0" tIns="0" rIns="0" bIns="0" anchor="t">
            <a:spAutoFit/>
          </a:bodyPr>
          <a:lstStyle/>
          <a:p>
            <a:pPr algn="l">
              <a:lnSpc>
                <a:spcPct val="112000"/>
              </a:lnSpc>
              <a:spcAft>
                <a:spcPts val="0"/>
              </a:spcAft>
            </a:pPr>
            <a:r>
              <a:rPr sz="1800" b="0" i="0">
                <a:solidFill>
                  <a:srgbClr val="222833"/>
                </a:solidFill>
                <a:latin typeface="微软雅黑"/>
              </a:rPr>
              <a:t>可构造极端或稀有场景，如恶劣天气导航和多物体交互，用于训练更鲁棒的策略。</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18872" cy="6858000"/>
          </a:xfrm>
          <a:prstGeom prst="rect">
            <a:avLst/>
          </a:prstGeom>
          <a:solidFill>
            <a:srgbClr val="3159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118872" y="0"/>
            <a:ext cx="41148" cy="6858000"/>
          </a:xfrm>
          <a:prstGeom prst="rect">
            <a:avLst/>
          </a:prstGeom>
          <a:solidFill>
            <a:srgbClr val="B7C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38912" y="137160"/>
            <a:ext cx="3474720" cy="164592"/>
          </a:xfrm>
          <a:prstGeom prst="rect">
            <a:avLst/>
          </a:prstGeom>
          <a:noFill/>
        </p:spPr>
        <p:txBody>
          <a:bodyPr wrap="square" lIns="0" tIns="0" rIns="0" bIns="0" anchor="t">
            <a:spAutoFit/>
          </a:bodyPr>
          <a:lstStyle/>
          <a:p>
            <a:pPr algn="l">
              <a:lnSpc>
                <a:spcPct val="112000"/>
              </a:lnSpc>
              <a:spcAft>
                <a:spcPts val="0"/>
              </a:spcAft>
            </a:pPr>
            <a:r>
              <a:rPr sz="1050" b="0" i="0">
                <a:solidFill>
                  <a:srgbClr val="8C98AA"/>
                </a:solidFill>
                <a:latin typeface="微软雅黑"/>
              </a:rPr>
              <a:t>具身智能导论 · 第 9 章</a:t>
            </a:r>
          </a:p>
        </p:txBody>
      </p:sp>
      <p:sp>
        <p:nvSpPr>
          <p:cNvPr id="5" name="TextBox 4"/>
          <p:cNvSpPr txBox="1"/>
          <p:nvPr/>
        </p:nvSpPr>
        <p:spPr>
          <a:xfrm>
            <a:off x="9144000" y="137160"/>
            <a:ext cx="2423160" cy="164592"/>
          </a:xfrm>
          <a:prstGeom prst="rect">
            <a:avLst/>
          </a:prstGeom>
          <a:noFill/>
        </p:spPr>
        <p:txBody>
          <a:bodyPr wrap="square" lIns="0" tIns="0" rIns="0" bIns="0" anchor="t">
            <a:spAutoFit/>
          </a:bodyPr>
          <a:lstStyle/>
          <a:p>
            <a:pPr algn="r">
              <a:lnSpc>
                <a:spcPct val="112000"/>
              </a:lnSpc>
              <a:spcAft>
                <a:spcPts val="0"/>
              </a:spcAft>
            </a:pPr>
            <a:r>
              <a:rPr sz="1050" b="0" i="0">
                <a:solidFill>
                  <a:srgbClr val="8C98AA"/>
                </a:solidFill>
                <a:latin typeface="微软雅黑"/>
              </a:rPr>
              <a:t>虚实迁移技术</a:t>
            </a:r>
          </a:p>
        </p:txBody>
      </p:sp>
      <p:sp>
        <p:nvSpPr>
          <p:cNvPr id="6" name="TextBox 5"/>
          <p:cNvSpPr txBox="1"/>
          <p:nvPr/>
        </p:nvSpPr>
        <p:spPr>
          <a:xfrm>
            <a:off x="502920" y="457200"/>
            <a:ext cx="10927080" cy="749808"/>
          </a:xfrm>
          <a:prstGeom prst="rect">
            <a:avLst/>
          </a:prstGeom>
          <a:noFill/>
        </p:spPr>
        <p:txBody>
          <a:bodyPr wrap="square" lIns="0" tIns="0" rIns="0" bIns="0" anchor="t">
            <a:spAutoFit/>
          </a:bodyPr>
          <a:lstStyle/>
          <a:p>
            <a:pPr algn="l">
              <a:lnSpc>
                <a:spcPct val="112000"/>
              </a:lnSpc>
              <a:spcAft>
                <a:spcPts val="0"/>
              </a:spcAft>
            </a:pPr>
            <a:r>
              <a:rPr sz="3500" b="1" i="0">
                <a:solidFill>
                  <a:srgbClr val="24477D"/>
                </a:solidFill>
                <a:latin typeface="微软雅黑"/>
              </a:rPr>
              <a:t>现实环境：真实反馈背后的高交互成本</a:t>
            </a:r>
          </a:p>
        </p:txBody>
      </p:sp>
      <p:sp>
        <p:nvSpPr>
          <p:cNvPr id="7" name="Rectangle 6"/>
          <p:cNvSpPr/>
          <p:nvPr/>
        </p:nvSpPr>
        <p:spPr>
          <a:xfrm>
            <a:off x="502920" y="1353312"/>
            <a:ext cx="11109960" cy="9144"/>
          </a:xfrm>
          <a:prstGeom prst="rect">
            <a:avLst/>
          </a:prstGeom>
          <a:solidFill>
            <a:srgbClr val="D8DE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1457432" y="6473952"/>
            <a:ext cx="347472" cy="164592"/>
          </a:xfrm>
          <a:prstGeom prst="rect">
            <a:avLst/>
          </a:prstGeom>
          <a:noFill/>
        </p:spPr>
        <p:txBody>
          <a:bodyPr wrap="square" lIns="0" tIns="0" rIns="0" bIns="0" anchor="t">
            <a:spAutoFit/>
          </a:bodyPr>
          <a:lstStyle/>
          <a:p>
            <a:pPr algn="r">
              <a:lnSpc>
                <a:spcPct val="112000"/>
              </a:lnSpc>
              <a:spcAft>
                <a:spcPts val="0"/>
              </a:spcAft>
            </a:pPr>
            <a:r>
              <a:rPr sz="1050" b="0" i="0">
                <a:solidFill>
                  <a:srgbClr val="8C98AA"/>
                </a:solidFill>
                <a:latin typeface="微软雅黑"/>
              </a:rPr>
              <a:t>14</a:t>
            </a:r>
          </a:p>
        </p:txBody>
      </p:sp>
      <p:sp>
        <p:nvSpPr>
          <p:cNvPr id="9" name="TextBox 8"/>
          <p:cNvSpPr txBox="1"/>
          <p:nvPr/>
        </p:nvSpPr>
        <p:spPr>
          <a:xfrm>
            <a:off x="822960" y="1783080"/>
            <a:ext cx="6583680" cy="2834640"/>
          </a:xfrm>
          <a:prstGeom prst="rect">
            <a:avLst/>
          </a:prstGeom>
          <a:noFill/>
        </p:spPr>
        <p:txBody>
          <a:bodyPr wrap="square" lIns="0" tIns="0" rIns="0" bIns="0">
            <a:spAutoFit/>
          </a:bodyPr>
          <a:lstStyle/>
          <a:p>
            <a:pPr>
              <a:lnSpc>
                <a:spcPct val="112000"/>
              </a:lnSpc>
              <a:spcAft>
                <a:spcPts val="700"/>
              </a:spcAft>
            </a:pPr>
            <a:r>
              <a:rPr sz="2100" b="0">
                <a:solidFill>
                  <a:srgbClr val="222833"/>
                </a:solidFill>
                <a:latin typeface="微软雅黑"/>
              </a:rPr>
              <a:t>• </a:t>
            </a:r>
            <a:r>
              <a:rPr sz="2100">
                <a:solidFill>
                  <a:srgbClr val="222833"/>
                </a:solidFill>
                <a:latin typeface="微软雅黑"/>
              </a:rPr>
              <a:t>硬件维护、数据采集与安全保障成本高。</a:t>
            </a:r>
          </a:p>
          <a:p>
            <a:pPr>
              <a:lnSpc>
                <a:spcPct val="112000"/>
              </a:lnSpc>
              <a:spcAft>
                <a:spcPts val="700"/>
              </a:spcAft>
            </a:pPr>
            <a:r>
              <a:rPr sz="2100" b="0">
                <a:solidFill>
                  <a:srgbClr val="222833"/>
                </a:solidFill>
                <a:latin typeface="微软雅黑"/>
              </a:rPr>
              <a:t>• </a:t>
            </a:r>
            <a:r>
              <a:rPr sz="2100">
                <a:solidFill>
                  <a:srgbClr val="222833"/>
                </a:solidFill>
                <a:latin typeface="微软雅黑"/>
              </a:rPr>
              <a:t>人形 / 四足机器人早期策略不稳定，反复跌倒可能损坏关节或传感器。</a:t>
            </a:r>
          </a:p>
          <a:p>
            <a:pPr>
              <a:lnSpc>
                <a:spcPct val="112000"/>
              </a:lnSpc>
              <a:spcAft>
                <a:spcPts val="700"/>
              </a:spcAft>
            </a:pPr>
            <a:r>
              <a:rPr sz="2100" b="0">
                <a:solidFill>
                  <a:srgbClr val="222833"/>
                </a:solidFill>
                <a:latin typeface="微软雅黑"/>
              </a:rPr>
              <a:t>• </a:t>
            </a:r>
            <a:r>
              <a:rPr sz="2100">
                <a:solidFill>
                  <a:srgbClr val="222833"/>
                </a:solidFill>
                <a:latin typeface="微软雅黑"/>
              </a:rPr>
              <a:t>机械臂抓取需要大量重复试错，容易造成末端执行器磨损或物体损坏。</a:t>
            </a:r>
          </a:p>
        </p:txBody>
      </p:sp>
      <p:sp>
        <p:nvSpPr>
          <p:cNvPr id="10" name="Rounded Rectangle 9"/>
          <p:cNvSpPr/>
          <p:nvPr/>
        </p:nvSpPr>
        <p:spPr>
          <a:xfrm>
            <a:off x="7726679" y="1783080"/>
            <a:ext cx="3154680" cy="3063240"/>
          </a:xfrm>
          <a:prstGeom prst="roundRect">
            <a:avLst/>
          </a:prstGeom>
          <a:solidFill>
            <a:srgbClr val="FFFFFF"/>
          </a:solidFill>
          <a:ln w="10160">
            <a:solidFill>
              <a:srgbClr val="E0E5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7726679" y="1783080"/>
            <a:ext cx="64008" cy="3063240"/>
          </a:xfrm>
          <a:prstGeom prst="rect">
            <a:avLst/>
          </a:prstGeom>
          <a:solidFill>
            <a:srgbClr val="C63F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7936992" y="1929384"/>
            <a:ext cx="2770632" cy="347472"/>
          </a:xfrm>
          <a:prstGeom prst="rect">
            <a:avLst/>
          </a:prstGeom>
          <a:noFill/>
        </p:spPr>
        <p:txBody>
          <a:bodyPr wrap="square" lIns="0" tIns="0" rIns="0" bIns="0" anchor="t">
            <a:spAutoFit/>
          </a:bodyPr>
          <a:lstStyle/>
          <a:p>
            <a:pPr algn="l">
              <a:lnSpc>
                <a:spcPct val="112000"/>
              </a:lnSpc>
              <a:spcAft>
                <a:spcPts val="0"/>
              </a:spcAft>
            </a:pPr>
            <a:r>
              <a:rPr sz="1900" b="1" i="0">
                <a:solidFill>
                  <a:srgbClr val="C63F45"/>
                </a:solidFill>
                <a:latin typeface="微软雅黑"/>
              </a:rPr>
              <a:t>现实的不可替代性</a:t>
            </a:r>
          </a:p>
        </p:txBody>
      </p:sp>
      <p:sp>
        <p:nvSpPr>
          <p:cNvPr id="13" name="TextBox 12"/>
          <p:cNvSpPr txBox="1"/>
          <p:nvPr/>
        </p:nvSpPr>
        <p:spPr>
          <a:xfrm>
            <a:off x="7936992" y="2468880"/>
            <a:ext cx="2770632" cy="2221992"/>
          </a:xfrm>
          <a:prstGeom prst="rect">
            <a:avLst/>
          </a:prstGeom>
          <a:noFill/>
        </p:spPr>
        <p:txBody>
          <a:bodyPr wrap="square" lIns="0" tIns="0" rIns="0" bIns="0" anchor="t">
            <a:spAutoFit/>
          </a:bodyPr>
          <a:lstStyle/>
          <a:p>
            <a:pPr algn="l">
              <a:lnSpc>
                <a:spcPct val="112000"/>
              </a:lnSpc>
              <a:spcAft>
                <a:spcPts val="0"/>
              </a:spcAft>
            </a:pPr>
            <a:r>
              <a:rPr sz="1750" b="0" i="0">
                <a:solidFill>
                  <a:srgbClr val="222833"/>
                </a:solidFill>
                <a:latin typeface="微软雅黑"/>
              </a:rPr>
              <a:t>只有真实环境能够暴露实际摩擦、执行器饱和、通信延迟、传感器噪声与复杂接触等问题。</a:t>
            </a:r>
          </a:p>
        </p:txBody>
      </p:sp>
      <p:sp>
        <p:nvSpPr>
          <p:cNvPr id="14" name="TextBox 13"/>
          <p:cNvSpPr txBox="1"/>
          <p:nvPr/>
        </p:nvSpPr>
        <p:spPr>
          <a:xfrm>
            <a:off x="640080" y="5230368"/>
            <a:ext cx="10972800" cy="502920"/>
          </a:xfrm>
          <a:prstGeom prst="rect">
            <a:avLst/>
          </a:prstGeom>
          <a:noFill/>
        </p:spPr>
        <p:txBody>
          <a:bodyPr wrap="square" lIns="0" tIns="0" rIns="0" bIns="0" anchor="ctr">
            <a:spAutoFit/>
          </a:bodyPr>
          <a:lstStyle/>
          <a:p>
            <a:pPr algn="ctr">
              <a:lnSpc>
                <a:spcPct val="112000"/>
              </a:lnSpc>
              <a:spcAft>
                <a:spcPts val="0"/>
              </a:spcAft>
            </a:pPr>
            <a:r>
              <a:rPr sz="1950" b="1" i="0">
                <a:solidFill>
                  <a:srgbClr val="24477D"/>
                </a:solidFill>
                <a:latin typeface="微软雅黑"/>
              </a:rPr>
              <a:t>现实数据“少而贵”，仿真数据“多而便宜”——迁移技术负责把二者连接起来。</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18872" cy="6858000"/>
          </a:xfrm>
          <a:prstGeom prst="rect">
            <a:avLst/>
          </a:prstGeom>
          <a:solidFill>
            <a:srgbClr val="3159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118872" y="0"/>
            <a:ext cx="41148" cy="6858000"/>
          </a:xfrm>
          <a:prstGeom prst="rect">
            <a:avLst/>
          </a:prstGeom>
          <a:solidFill>
            <a:srgbClr val="B7C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38912" y="137160"/>
            <a:ext cx="3474720" cy="164592"/>
          </a:xfrm>
          <a:prstGeom prst="rect">
            <a:avLst/>
          </a:prstGeom>
          <a:noFill/>
        </p:spPr>
        <p:txBody>
          <a:bodyPr wrap="square" lIns="0" tIns="0" rIns="0" bIns="0" anchor="t">
            <a:spAutoFit/>
          </a:bodyPr>
          <a:lstStyle/>
          <a:p>
            <a:pPr algn="l">
              <a:lnSpc>
                <a:spcPct val="112000"/>
              </a:lnSpc>
              <a:spcAft>
                <a:spcPts val="0"/>
              </a:spcAft>
            </a:pPr>
            <a:r>
              <a:rPr sz="1050" b="0" i="0">
                <a:solidFill>
                  <a:srgbClr val="8C98AA"/>
                </a:solidFill>
                <a:latin typeface="微软雅黑"/>
              </a:rPr>
              <a:t>具身智能导论 · 第 9 章</a:t>
            </a:r>
          </a:p>
        </p:txBody>
      </p:sp>
      <p:sp>
        <p:nvSpPr>
          <p:cNvPr id="5" name="TextBox 4"/>
          <p:cNvSpPr txBox="1"/>
          <p:nvPr/>
        </p:nvSpPr>
        <p:spPr>
          <a:xfrm>
            <a:off x="9144000" y="137160"/>
            <a:ext cx="2423160" cy="164592"/>
          </a:xfrm>
          <a:prstGeom prst="rect">
            <a:avLst/>
          </a:prstGeom>
          <a:noFill/>
        </p:spPr>
        <p:txBody>
          <a:bodyPr wrap="square" lIns="0" tIns="0" rIns="0" bIns="0" anchor="t">
            <a:spAutoFit/>
          </a:bodyPr>
          <a:lstStyle/>
          <a:p>
            <a:pPr algn="r">
              <a:lnSpc>
                <a:spcPct val="112000"/>
              </a:lnSpc>
              <a:spcAft>
                <a:spcPts val="0"/>
              </a:spcAft>
            </a:pPr>
            <a:r>
              <a:rPr sz="1050" b="0" i="0">
                <a:solidFill>
                  <a:srgbClr val="8C98AA"/>
                </a:solidFill>
                <a:latin typeface="微软雅黑"/>
              </a:rPr>
              <a:t>虚实迁移技术</a:t>
            </a:r>
          </a:p>
        </p:txBody>
      </p:sp>
      <p:sp>
        <p:nvSpPr>
          <p:cNvPr id="6" name="TextBox 5"/>
          <p:cNvSpPr txBox="1"/>
          <p:nvPr/>
        </p:nvSpPr>
        <p:spPr>
          <a:xfrm>
            <a:off x="502920" y="457200"/>
            <a:ext cx="10927080" cy="749808"/>
          </a:xfrm>
          <a:prstGeom prst="rect">
            <a:avLst/>
          </a:prstGeom>
          <a:noFill/>
        </p:spPr>
        <p:txBody>
          <a:bodyPr wrap="square" lIns="0" tIns="0" rIns="0" bIns="0" anchor="t">
            <a:spAutoFit/>
          </a:bodyPr>
          <a:lstStyle/>
          <a:p>
            <a:pPr algn="l">
              <a:lnSpc>
                <a:spcPct val="112000"/>
              </a:lnSpc>
              <a:spcAft>
                <a:spcPts val="0"/>
              </a:spcAft>
            </a:pPr>
            <a:r>
              <a:rPr sz="3500" b="1" i="0">
                <a:solidFill>
                  <a:srgbClr val="24477D"/>
                </a:solidFill>
                <a:latin typeface="微软雅黑"/>
              </a:rPr>
              <a:t>虚实互补：预训练 + 少量真实微调 / 校准</a:t>
            </a:r>
          </a:p>
        </p:txBody>
      </p:sp>
      <p:sp>
        <p:nvSpPr>
          <p:cNvPr id="7" name="Rectangle 6"/>
          <p:cNvSpPr/>
          <p:nvPr/>
        </p:nvSpPr>
        <p:spPr>
          <a:xfrm>
            <a:off x="502920" y="1353312"/>
            <a:ext cx="11109960" cy="9144"/>
          </a:xfrm>
          <a:prstGeom prst="rect">
            <a:avLst/>
          </a:prstGeom>
          <a:solidFill>
            <a:srgbClr val="D8DE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1457432" y="6473952"/>
            <a:ext cx="347472" cy="164592"/>
          </a:xfrm>
          <a:prstGeom prst="rect">
            <a:avLst/>
          </a:prstGeom>
          <a:noFill/>
        </p:spPr>
        <p:txBody>
          <a:bodyPr wrap="square" lIns="0" tIns="0" rIns="0" bIns="0" anchor="t">
            <a:spAutoFit/>
          </a:bodyPr>
          <a:lstStyle/>
          <a:p>
            <a:pPr algn="r">
              <a:lnSpc>
                <a:spcPct val="112000"/>
              </a:lnSpc>
              <a:spcAft>
                <a:spcPts val="0"/>
              </a:spcAft>
            </a:pPr>
            <a:r>
              <a:rPr sz="1050" b="0" i="0">
                <a:solidFill>
                  <a:srgbClr val="8C98AA"/>
                </a:solidFill>
                <a:latin typeface="微软雅黑"/>
              </a:rPr>
              <a:t>15</a:t>
            </a:r>
          </a:p>
        </p:txBody>
      </p:sp>
      <p:sp>
        <p:nvSpPr>
          <p:cNvPr id="9" name="Rounded Rectangle 8"/>
          <p:cNvSpPr/>
          <p:nvPr/>
        </p:nvSpPr>
        <p:spPr>
          <a:xfrm>
            <a:off x="868680" y="1920240"/>
            <a:ext cx="2411729" cy="960120"/>
          </a:xfrm>
          <a:prstGeom prst="roundRect">
            <a:avLst/>
          </a:prstGeom>
          <a:solidFill>
            <a:srgbClr val="FFFFFF"/>
          </a:solidFill>
          <a:ln w="10160">
            <a:solidFill>
              <a:srgbClr val="E0E5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868680" y="1920240"/>
            <a:ext cx="64008" cy="960120"/>
          </a:xfrm>
          <a:prstGeom prst="rect">
            <a:avLst/>
          </a:prstGeom>
          <a:solidFill>
            <a:srgbClr val="3159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1033271" y="2148840"/>
            <a:ext cx="2082545" cy="457200"/>
          </a:xfrm>
          <a:prstGeom prst="rect">
            <a:avLst/>
          </a:prstGeom>
          <a:noFill/>
        </p:spPr>
        <p:txBody>
          <a:bodyPr wrap="square" lIns="0" tIns="0" rIns="0" bIns="0" anchor="ctr">
            <a:spAutoFit/>
          </a:bodyPr>
          <a:lstStyle/>
          <a:p>
            <a:pPr algn="ctr">
              <a:lnSpc>
                <a:spcPct val="112000"/>
              </a:lnSpc>
              <a:spcAft>
                <a:spcPts val="0"/>
              </a:spcAft>
            </a:pPr>
            <a:r>
              <a:rPr sz="1900" b="1" i="0">
                <a:solidFill>
                  <a:srgbClr val="31599B"/>
                </a:solidFill>
                <a:latin typeface="微软雅黑"/>
              </a:rPr>
              <a:t>仿真预训练</a:t>
            </a:r>
          </a:p>
        </p:txBody>
      </p:sp>
      <p:sp>
        <p:nvSpPr>
          <p:cNvPr id="12" name="TextBox 11"/>
          <p:cNvSpPr txBox="1"/>
          <p:nvPr/>
        </p:nvSpPr>
        <p:spPr>
          <a:xfrm>
            <a:off x="3307841" y="2194560"/>
            <a:ext cx="228600" cy="320040"/>
          </a:xfrm>
          <a:prstGeom prst="rect">
            <a:avLst/>
          </a:prstGeom>
          <a:noFill/>
        </p:spPr>
        <p:txBody>
          <a:bodyPr wrap="square" lIns="0" tIns="0" rIns="0" bIns="0" anchor="t">
            <a:spAutoFit/>
          </a:bodyPr>
          <a:lstStyle/>
          <a:p>
            <a:pPr algn="ctr">
              <a:lnSpc>
                <a:spcPct val="112000"/>
              </a:lnSpc>
              <a:spcAft>
                <a:spcPts val="0"/>
              </a:spcAft>
            </a:pPr>
            <a:r>
              <a:rPr sz="2400" b="1" i="0">
                <a:solidFill>
                  <a:srgbClr val="8C98AA"/>
                </a:solidFill>
                <a:latin typeface="微软雅黑"/>
              </a:rPr>
              <a:t>→</a:t>
            </a:r>
          </a:p>
        </p:txBody>
      </p:sp>
      <p:sp>
        <p:nvSpPr>
          <p:cNvPr id="13" name="Rounded Rectangle 12"/>
          <p:cNvSpPr/>
          <p:nvPr/>
        </p:nvSpPr>
        <p:spPr>
          <a:xfrm>
            <a:off x="3554729" y="1920240"/>
            <a:ext cx="2411729" cy="960120"/>
          </a:xfrm>
          <a:prstGeom prst="roundRect">
            <a:avLst/>
          </a:prstGeom>
          <a:solidFill>
            <a:srgbClr val="FFFFFF"/>
          </a:solidFill>
          <a:ln w="10160">
            <a:solidFill>
              <a:srgbClr val="E0E5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3554729" y="1920240"/>
            <a:ext cx="64008" cy="960120"/>
          </a:xfrm>
          <a:prstGeom prst="rect">
            <a:avLst/>
          </a:prstGeom>
          <a:solidFill>
            <a:srgbClr val="2F8E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3719321" y="2148840"/>
            <a:ext cx="2082545" cy="457200"/>
          </a:xfrm>
          <a:prstGeom prst="rect">
            <a:avLst/>
          </a:prstGeom>
          <a:noFill/>
        </p:spPr>
        <p:txBody>
          <a:bodyPr wrap="square" lIns="0" tIns="0" rIns="0" bIns="0" anchor="ctr">
            <a:spAutoFit/>
          </a:bodyPr>
          <a:lstStyle/>
          <a:p>
            <a:pPr algn="ctr">
              <a:lnSpc>
                <a:spcPct val="112000"/>
              </a:lnSpc>
              <a:spcAft>
                <a:spcPts val="0"/>
              </a:spcAft>
            </a:pPr>
            <a:r>
              <a:rPr sz="1900" b="1" i="0">
                <a:solidFill>
                  <a:srgbClr val="2F8E72"/>
                </a:solidFill>
                <a:latin typeface="微软雅黑"/>
              </a:rPr>
              <a:t>少量真实交互</a:t>
            </a:r>
          </a:p>
        </p:txBody>
      </p:sp>
      <p:sp>
        <p:nvSpPr>
          <p:cNvPr id="16" name="TextBox 15"/>
          <p:cNvSpPr txBox="1"/>
          <p:nvPr/>
        </p:nvSpPr>
        <p:spPr>
          <a:xfrm>
            <a:off x="5993891" y="2194560"/>
            <a:ext cx="228600" cy="320040"/>
          </a:xfrm>
          <a:prstGeom prst="rect">
            <a:avLst/>
          </a:prstGeom>
          <a:noFill/>
        </p:spPr>
        <p:txBody>
          <a:bodyPr wrap="square" lIns="0" tIns="0" rIns="0" bIns="0" anchor="t">
            <a:spAutoFit/>
          </a:bodyPr>
          <a:lstStyle/>
          <a:p>
            <a:pPr algn="ctr">
              <a:lnSpc>
                <a:spcPct val="112000"/>
              </a:lnSpc>
              <a:spcAft>
                <a:spcPts val="0"/>
              </a:spcAft>
            </a:pPr>
            <a:r>
              <a:rPr sz="2400" b="1" i="0">
                <a:solidFill>
                  <a:srgbClr val="8C98AA"/>
                </a:solidFill>
                <a:latin typeface="微软雅黑"/>
              </a:rPr>
              <a:t>→</a:t>
            </a:r>
          </a:p>
        </p:txBody>
      </p:sp>
      <p:sp>
        <p:nvSpPr>
          <p:cNvPr id="17" name="Rounded Rectangle 16"/>
          <p:cNvSpPr/>
          <p:nvPr/>
        </p:nvSpPr>
        <p:spPr>
          <a:xfrm>
            <a:off x="6240779" y="1920240"/>
            <a:ext cx="2411729" cy="960120"/>
          </a:xfrm>
          <a:prstGeom prst="roundRect">
            <a:avLst/>
          </a:prstGeom>
          <a:solidFill>
            <a:srgbClr val="FFFFFF"/>
          </a:solidFill>
          <a:ln w="10160">
            <a:solidFill>
              <a:srgbClr val="E0E5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6240779" y="1920240"/>
            <a:ext cx="64008" cy="960120"/>
          </a:xfrm>
          <a:prstGeom prst="rect">
            <a:avLst/>
          </a:prstGeom>
          <a:solidFill>
            <a:srgbClr val="C58A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6405371" y="2148840"/>
            <a:ext cx="2082545" cy="457200"/>
          </a:xfrm>
          <a:prstGeom prst="rect">
            <a:avLst/>
          </a:prstGeom>
          <a:noFill/>
        </p:spPr>
        <p:txBody>
          <a:bodyPr wrap="square" lIns="0" tIns="0" rIns="0" bIns="0" anchor="ctr">
            <a:spAutoFit/>
          </a:bodyPr>
          <a:lstStyle/>
          <a:p>
            <a:pPr algn="ctr">
              <a:lnSpc>
                <a:spcPct val="112000"/>
              </a:lnSpc>
              <a:spcAft>
                <a:spcPts val="0"/>
              </a:spcAft>
            </a:pPr>
            <a:r>
              <a:rPr sz="1900" b="1" i="0">
                <a:solidFill>
                  <a:srgbClr val="C58A24"/>
                </a:solidFill>
                <a:latin typeface="微软雅黑"/>
              </a:rPr>
              <a:t>微调 / 校准</a:t>
            </a:r>
          </a:p>
        </p:txBody>
      </p:sp>
      <p:sp>
        <p:nvSpPr>
          <p:cNvPr id="20" name="TextBox 19"/>
          <p:cNvSpPr txBox="1"/>
          <p:nvPr/>
        </p:nvSpPr>
        <p:spPr>
          <a:xfrm>
            <a:off x="8679941" y="2194560"/>
            <a:ext cx="228600" cy="320040"/>
          </a:xfrm>
          <a:prstGeom prst="rect">
            <a:avLst/>
          </a:prstGeom>
          <a:noFill/>
        </p:spPr>
        <p:txBody>
          <a:bodyPr wrap="square" lIns="0" tIns="0" rIns="0" bIns="0" anchor="t">
            <a:spAutoFit/>
          </a:bodyPr>
          <a:lstStyle/>
          <a:p>
            <a:pPr algn="ctr">
              <a:lnSpc>
                <a:spcPct val="112000"/>
              </a:lnSpc>
              <a:spcAft>
                <a:spcPts val="0"/>
              </a:spcAft>
            </a:pPr>
            <a:r>
              <a:rPr sz="2400" b="1" i="0">
                <a:solidFill>
                  <a:srgbClr val="8C98AA"/>
                </a:solidFill>
                <a:latin typeface="微软雅黑"/>
              </a:rPr>
              <a:t>→</a:t>
            </a:r>
          </a:p>
        </p:txBody>
      </p:sp>
      <p:sp>
        <p:nvSpPr>
          <p:cNvPr id="21" name="Rounded Rectangle 20"/>
          <p:cNvSpPr/>
          <p:nvPr/>
        </p:nvSpPr>
        <p:spPr>
          <a:xfrm>
            <a:off x="8926829" y="1920240"/>
            <a:ext cx="2411729" cy="960120"/>
          </a:xfrm>
          <a:prstGeom prst="roundRect">
            <a:avLst/>
          </a:prstGeom>
          <a:solidFill>
            <a:srgbClr val="FFFFFF"/>
          </a:solidFill>
          <a:ln w="10160">
            <a:solidFill>
              <a:srgbClr val="E0E5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8926829" y="1920240"/>
            <a:ext cx="64008" cy="960120"/>
          </a:xfrm>
          <a:prstGeom prst="rect">
            <a:avLst/>
          </a:prstGeom>
          <a:solidFill>
            <a:srgbClr val="C63F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9091421" y="2148840"/>
            <a:ext cx="2082545" cy="457200"/>
          </a:xfrm>
          <a:prstGeom prst="rect">
            <a:avLst/>
          </a:prstGeom>
          <a:noFill/>
        </p:spPr>
        <p:txBody>
          <a:bodyPr wrap="square" lIns="0" tIns="0" rIns="0" bIns="0" anchor="ctr">
            <a:spAutoFit/>
          </a:bodyPr>
          <a:lstStyle/>
          <a:p>
            <a:pPr algn="ctr">
              <a:lnSpc>
                <a:spcPct val="112000"/>
              </a:lnSpc>
              <a:spcAft>
                <a:spcPts val="0"/>
              </a:spcAft>
            </a:pPr>
            <a:r>
              <a:rPr sz="1900" b="1" i="0">
                <a:solidFill>
                  <a:srgbClr val="C63F45"/>
                </a:solidFill>
                <a:latin typeface="微软雅黑"/>
              </a:rPr>
              <a:t>稳定部署</a:t>
            </a:r>
          </a:p>
        </p:txBody>
      </p:sp>
      <p:sp>
        <p:nvSpPr>
          <p:cNvPr id="24" name="TextBox 23"/>
          <p:cNvSpPr txBox="1"/>
          <p:nvPr/>
        </p:nvSpPr>
        <p:spPr>
          <a:xfrm>
            <a:off x="960120" y="3886200"/>
            <a:ext cx="10058400" cy="1005840"/>
          </a:xfrm>
          <a:prstGeom prst="rect">
            <a:avLst/>
          </a:prstGeom>
          <a:noFill/>
        </p:spPr>
        <p:txBody>
          <a:bodyPr wrap="square" lIns="0" tIns="0" rIns="0" bIns="0" anchor="t">
            <a:spAutoFit/>
          </a:bodyPr>
          <a:lstStyle/>
          <a:p>
            <a:pPr algn="ctr">
              <a:lnSpc>
                <a:spcPct val="112000"/>
              </a:lnSpc>
              <a:spcAft>
                <a:spcPts val="0"/>
              </a:spcAft>
            </a:pPr>
            <a:r>
              <a:rPr sz="2100" b="0" i="0">
                <a:solidFill>
                  <a:srgbClr val="222833"/>
                </a:solidFill>
                <a:latin typeface="微软雅黑"/>
              </a:rPr>
              <a:t>虚实迁移利用仿真的高效性完成“预训练”，再借助少量真实交互进行“微调”或“校准”，把策略从实验室原型推向实际部署。</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18872" cy="6858000"/>
          </a:xfrm>
          <a:prstGeom prst="rect">
            <a:avLst/>
          </a:prstGeom>
          <a:solidFill>
            <a:srgbClr val="3159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118872" y="0"/>
            <a:ext cx="41148" cy="6858000"/>
          </a:xfrm>
          <a:prstGeom prst="rect">
            <a:avLst/>
          </a:prstGeom>
          <a:solidFill>
            <a:srgbClr val="B7C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38912" y="137160"/>
            <a:ext cx="3474720" cy="164592"/>
          </a:xfrm>
          <a:prstGeom prst="rect">
            <a:avLst/>
          </a:prstGeom>
          <a:noFill/>
        </p:spPr>
        <p:txBody>
          <a:bodyPr wrap="square" lIns="0" tIns="0" rIns="0" bIns="0" anchor="t">
            <a:spAutoFit/>
          </a:bodyPr>
          <a:lstStyle/>
          <a:p>
            <a:pPr algn="l">
              <a:lnSpc>
                <a:spcPct val="112000"/>
              </a:lnSpc>
              <a:spcAft>
                <a:spcPts val="0"/>
              </a:spcAft>
            </a:pPr>
            <a:r>
              <a:rPr sz="1050" b="0" i="0">
                <a:solidFill>
                  <a:srgbClr val="8C98AA"/>
                </a:solidFill>
                <a:latin typeface="微软雅黑"/>
              </a:rPr>
              <a:t>具身智能导论 · 第 9 章</a:t>
            </a:r>
          </a:p>
        </p:txBody>
      </p:sp>
      <p:sp>
        <p:nvSpPr>
          <p:cNvPr id="5" name="TextBox 4"/>
          <p:cNvSpPr txBox="1"/>
          <p:nvPr/>
        </p:nvSpPr>
        <p:spPr>
          <a:xfrm>
            <a:off x="9144000" y="137160"/>
            <a:ext cx="2423160" cy="164592"/>
          </a:xfrm>
          <a:prstGeom prst="rect">
            <a:avLst/>
          </a:prstGeom>
          <a:noFill/>
        </p:spPr>
        <p:txBody>
          <a:bodyPr wrap="square" lIns="0" tIns="0" rIns="0" bIns="0" anchor="t">
            <a:spAutoFit/>
          </a:bodyPr>
          <a:lstStyle/>
          <a:p>
            <a:pPr algn="r">
              <a:lnSpc>
                <a:spcPct val="112000"/>
              </a:lnSpc>
              <a:spcAft>
                <a:spcPts val="0"/>
              </a:spcAft>
            </a:pPr>
            <a:r>
              <a:rPr sz="1050" b="0" i="0">
                <a:solidFill>
                  <a:srgbClr val="8C98AA"/>
                </a:solidFill>
                <a:latin typeface="微软雅黑"/>
              </a:rPr>
              <a:t>虚实迁移技术</a:t>
            </a:r>
          </a:p>
        </p:txBody>
      </p:sp>
      <p:sp>
        <p:nvSpPr>
          <p:cNvPr id="6" name="TextBox 5"/>
          <p:cNvSpPr txBox="1"/>
          <p:nvPr/>
        </p:nvSpPr>
        <p:spPr>
          <a:xfrm>
            <a:off x="502920" y="457200"/>
            <a:ext cx="10927080" cy="749808"/>
          </a:xfrm>
          <a:prstGeom prst="rect">
            <a:avLst/>
          </a:prstGeom>
          <a:noFill/>
        </p:spPr>
        <p:txBody>
          <a:bodyPr wrap="square" lIns="0" tIns="0" rIns="0" bIns="0" anchor="t">
            <a:spAutoFit/>
          </a:bodyPr>
          <a:lstStyle/>
          <a:p>
            <a:pPr algn="l">
              <a:lnSpc>
                <a:spcPct val="112000"/>
              </a:lnSpc>
              <a:spcAft>
                <a:spcPts val="0"/>
              </a:spcAft>
            </a:pPr>
            <a:r>
              <a:rPr sz="3500" b="1" i="0">
                <a:solidFill>
                  <a:srgbClr val="24477D"/>
                </a:solidFill>
                <a:latin typeface="微软雅黑"/>
              </a:rPr>
              <a:t>虚实互补示例：PPO 平衡策略的快速落地</a:t>
            </a:r>
          </a:p>
        </p:txBody>
      </p:sp>
      <p:sp>
        <p:nvSpPr>
          <p:cNvPr id="7" name="Rectangle 6"/>
          <p:cNvSpPr/>
          <p:nvPr/>
        </p:nvSpPr>
        <p:spPr>
          <a:xfrm>
            <a:off x="502920" y="1353312"/>
            <a:ext cx="11109960" cy="9144"/>
          </a:xfrm>
          <a:prstGeom prst="rect">
            <a:avLst/>
          </a:prstGeom>
          <a:solidFill>
            <a:srgbClr val="D8DE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1457432" y="6473952"/>
            <a:ext cx="347472" cy="164592"/>
          </a:xfrm>
          <a:prstGeom prst="rect">
            <a:avLst/>
          </a:prstGeom>
          <a:noFill/>
        </p:spPr>
        <p:txBody>
          <a:bodyPr wrap="square" lIns="0" tIns="0" rIns="0" bIns="0" anchor="t">
            <a:spAutoFit/>
          </a:bodyPr>
          <a:lstStyle/>
          <a:p>
            <a:pPr algn="r">
              <a:lnSpc>
                <a:spcPct val="112000"/>
              </a:lnSpc>
              <a:spcAft>
                <a:spcPts val="0"/>
              </a:spcAft>
            </a:pPr>
            <a:r>
              <a:rPr sz="1050" b="0" i="0">
                <a:solidFill>
                  <a:srgbClr val="8C98AA"/>
                </a:solidFill>
                <a:latin typeface="微软雅黑"/>
              </a:rPr>
              <a:t>16</a:t>
            </a:r>
          </a:p>
        </p:txBody>
      </p:sp>
      <p:sp>
        <p:nvSpPr>
          <p:cNvPr id="9" name="Rounded Rectangle 8"/>
          <p:cNvSpPr/>
          <p:nvPr/>
        </p:nvSpPr>
        <p:spPr>
          <a:xfrm>
            <a:off x="822960" y="1783080"/>
            <a:ext cx="3108960" cy="2971800"/>
          </a:xfrm>
          <a:prstGeom prst="roundRect">
            <a:avLst>
              <a:gd name="adj" fmla="val 5043"/>
            </a:avLst>
          </a:prstGeom>
          <a:solidFill>
            <a:srgbClr val="FFFFFF"/>
          </a:solidFill>
          <a:ln w="10160">
            <a:solidFill>
              <a:srgbClr val="E0E5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822960" y="1783080"/>
            <a:ext cx="64008" cy="2971800"/>
          </a:xfrm>
          <a:prstGeom prst="rect">
            <a:avLst/>
          </a:prstGeom>
          <a:solidFill>
            <a:srgbClr val="3159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1033272" y="1929384"/>
            <a:ext cx="2724912" cy="347472"/>
          </a:xfrm>
          <a:prstGeom prst="rect">
            <a:avLst/>
          </a:prstGeom>
          <a:noFill/>
        </p:spPr>
        <p:txBody>
          <a:bodyPr wrap="square" lIns="0" tIns="0" rIns="0" bIns="0" anchor="t">
            <a:spAutoFit/>
          </a:bodyPr>
          <a:lstStyle/>
          <a:p>
            <a:pPr algn="l">
              <a:lnSpc>
                <a:spcPct val="112000"/>
              </a:lnSpc>
              <a:spcAft>
                <a:spcPts val="0"/>
              </a:spcAft>
            </a:pPr>
            <a:r>
              <a:rPr sz="2000" b="1" i="0">
                <a:solidFill>
                  <a:srgbClr val="31599B"/>
                </a:solidFill>
                <a:latin typeface="微软雅黑"/>
              </a:rPr>
              <a:t>仿真阶段</a:t>
            </a:r>
          </a:p>
        </p:txBody>
      </p:sp>
      <p:sp>
        <p:nvSpPr>
          <p:cNvPr id="12" name="TextBox 11"/>
          <p:cNvSpPr txBox="1"/>
          <p:nvPr/>
        </p:nvSpPr>
        <p:spPr>
          <a:xfrm>
            <a:off x="1033272" y="2468880"/>
            <a:ext cx="2724912" cy="2130552"/>
          </a:xfrm>
          <a:prstGeom prst="rect">
            <a:avLst/>
          </a:prstGeom>
          <a:noFill/>
        </p:spPr>
        <p:txBody>
          <a:bodyPr wrap="square" lIns="0" tIns="0" rIns="0" bIns="0" anchor="t">
            <a:spAutoFit/>
          </a:bodyPr>
          <a:lstStyle/>
          <a:p>
            <a:pPr algn="l">
              <a:lnSpc>
                <a:spcPct val="112000"/>
              </a:lnSpc>
              <a:spcAft>
                <a:spcPts val="0"/>
              </a:spcAft>
            </a:pPr>
            <a:r>
              <a:rPr sz="1850" b="0" i="0">
                <a:solidFill>
                  <a:srgbClr val="222833"/>
                </a:solidFill>
                <a:latin typeface="微软雅黑"/>
              </a:rPr>
              <a:t>机器人通过 PPO 在大量模拟步态中学习平衡策略。</a:t>
            </a:r>
          </a:p>
        </p:txBody>
      </p:sp>
      <p:sp>
        <p:nvSpPr>
          <p:cNvPr id="13" name="Rounded Rectangle 12"/>
          <p:cNvSpPr/>
          <p:nvPr/>
        </p:nvSpPr>
        <p:spPr>
          <a:xfrm>
            <a:off x="4315968" y="1783080"/>
            <a:ext cx="3108960" cy="2971800"/>
          </a:xfrm>
          <a:prstGeom prst="roundRect">
            <a:avLst>
              <a:gd name="adj" fmla="val 2992"/>
            </a:avLst>
          </a:prstGeom>
          <a:solidFill>
            <a:srgbClr val="FFFFFF"/>
          </a:solidFill>
          <a:ln w="10160">
            <a:solidFill>
              <a:srgbClr val="E0E5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4315968" y="1783080"/>
            <a:ext cx="64008" cy="2971800"/>
          </a:xfrm>
          <a:prstGeom prst="rect">
            <a:avLst/>
          </a:prstGeom>
          <a:solidFill>
            <a:srgbClr val="2F8E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4526280" y="1929384"/>
            <a:ext cx="2724912" cy="347472"/>
          </a:xfrm>
          <a:prstGeom prst="rect">
            <a:avLst/>
          </a:prstGeom>
          <a:noFill/>
        </p:spPr>
        <p:txBody>
          <a:bodyPr wrap="square" lIns="0" tIns="0" rIns="0" bIns="0" anchor="t">
            <a:spAutoFit/>
          </a:bodyPr>
          <a:lstStyle/>
          <a:p>
            <a:pPr algn="l">
              <a:lnSpc>
                <a:spcPct val="112000"/>
              </a:lnSpc>
              <a:spcAft>
                <a:spcPts val="0"/>
              </a:spcAft>
            </a:pPr>
            <a:r>
              <a:rPr sz="2000" b="1" i="0">
                <a:solidFill>
                  <a:srgbClr val="2F8E72"/>
                </a:solidFill>
                <a:latin typeface="微软雅黑"/>
              </a:rPr>
              <a:t>迁移阶段</a:t>
            </a:r>
          </a:p>
        </p:txBody>
      </p:sp>
      <p:sp>
        <p:nvSpPr>
          <p:cNvPr id="16" name="TextBox 15"/>
          <p:cNvSpPr txBox="1"/>
          <p:nvPr/>
        </p:nvSpPr>
        <p:spPr>
          <a:xfrm>
            <a:off x="4526280" y="2468880"/>
            <a:ext cx="2724912" cy="2130552"/>
          </a:xfrm>
          <a:prstGeom prst="rect">
            <a:avLst/>
          </a:prstGeom>
          <a:noFill/>
        </p:spPr>
        <p:txBody>
          <a:bodyPr wrap="square" lIns="0" tIns="0" rIns="0" bIns="0" anchor="t">
            <a:spAutoFit/>
          </a:bodyPr>
          <a:lstStyle/>
          <a:p>
            <a:pPr algn="l">
              <a:lnSpc>
                <a:spcPct val="112000"/>
              </a:lnSpc>
              <a:spcAft>
                <a:spcPts val="0"/>
              </a:spcAft>
            </a:pPr>
            <a:r>
              <a:rPr sz="1850" b="0" i="0">
                <a:solidFill>
                  <a:srgbClr val="222833"/>
                </a:solidFill>
                <a:latin typeface="微软雅黑"/>
              </a:rPr>
              <a:t>仅需少量真实步态数据进行参数校准与策略微调。</a:t>
            </a:r>
          </a:p>
        </p:txBody>
      </p:sp>
      <p:sp>
        <p:nvSpPr>
          <p:cNvPr id="17" name="Rounded Rectangle 16"/>
          <p:cNvSpPr/>
          <p:nvPr/>
        </p:nvSpPr>
        <p:spPr>
          <a:xfrm>
            <a:off x="7808975" y="1783080"/>
            <a:ext cx="3108960" cy="2971800"/>
          </a:xfrm>
          <a:prstGeom prst="roundRect">
            <a:avLst>
              <a:gd name="adj" fmla="val 3676"/>
            </a:avLst>
          </a:prstGeom>
          <a:solidFill>
            <a:srgbClr val="FFFFFF"/>
          </a:solidFill>
          <a:ln w="10160">
            <a:solidFill>
              <a:srgbClr val="E0E5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7808975" y="1783080"/>
            <a:ext cx="64008" cy="2971800"/>
          </a:xfrm>
          <a:prstGeom prst="rect">
            <a:avLst/>
          </a:prstGeom>
          <a:solidFill>
            <a:srgbClr val="C58A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8019288" y="1929384"/>
            <a:ext cx="2724912" cy="347472"/>
          </a:xfrm>
          <a:prstGeom prst="rect">
            <a:avLst/>
          </a:prstGeom>
          <a:noFill/>
        </p:spPr>
        <p:txBody>
          <a:bodyPr wrap="square" lIns="0" tIns="0" rIns="0" bIns="0" anchor="t">
            <a:spAutoFit/>
          </a:bodyPr>
          <a:lstStyle/>
          <a:p>
            <a:pPr algn="l">
              <a:lnSpc>
                <a:spcPct val="112000"/>
              </a:lnSpc>
              <a:spcAft>
                <a:spcPts val="0"/>
              </a:spcAft>
            </a:pPr>
            <a:r>
              <a:rPr sz="2000" b="1" i="0">
                <a:solidFill>
                  <a:srgbClr val="C58A24"/>
                </a:solidFill>
                <a:latin typeface="微软雅黑"/>
              </a:rPr>
              <a:t>现实阶段</a:t>
            </a:r>
          </a:p>
        </p:txBody>
      </p:sp>
      <p:sp>
        <p:nvSpPr>
          <p:cNvPr id="20" name="TextBox 19"/>
          <p:cNvSpPr txBox="1"/>
          <p:nvPr/>
        </p:nvSpPr>
        <p:spPr>
          <a:xfrm>
            <a:off x="8019288" y="2468880"/>
            <a:ext cx="2724912" cy="2130552"/>
          </a:xfrm>
          <a:prstGeom prst="rect">
            <a:avLst/>
          </a:prstGeom>
          <a:noFill/>
        </p:spPr>
        <p:txBody>
          <a:bodyPr wrap="square" lIns="0" tIns="0" rIns="0" bIns="0" anchor="t">
            <a:spAutoFit/>
          </a:bodyPr>
          <a:lstStyle/>
          <a:p>
            <a:pPr algn="l">
              <a:lnSpc>
                <a:spcPct val="112000"/>
              </a:lnSpc>
              <a:spcAft>
                <a:spcPts val="0"/>
              </a:spcAft>
            </a:pPr>
            <a:r>
              <a:rPr sz="1850" b="0" i="0">
                <a:solidFill>
                  <a:srgbClr val="222833"/>
                </a:solidFill>
                <a:latin typeface="微软雅黑"/>
              </a:rPr>
              <a:t>实现稳定行走，显著加速从实验室原型到实际部署的过程。</a:t>
            </a:r>
          </a:p>
        </p:txBody>
      </p:sp>
      <p:sp>
        <p:nvSpPr>
          <p:cNvPr id="21" name="TextBox 20"/>
          <p:cNvSpPr txBox="1"/>
          <p:nvPr/>
        </p:nvSpPr>
        <p:spPr>
          <a:xfrm>
            <a:off x="640080" y="5166360"/>
            <a:ext cx="10972800" cy="502920"/>
          </a:xfrm>
          <a:prstGeom prst="rect">
            <a:avLst/>
          </a:prstGeom>
          <a:noFill/>
        </p:spPr>
        <p:txBody>
          <a:bodyPr wrap="square" lIns="0" tIns="0" rIns="0" bIns="0" anchor="ctr">
            <a:spAutoFit/>
          </a:bodyPr>
          <a:lstStyle/>
          <a:p>
            <a:pPr algn="ctr">
              <a:lnSpc>
                <a:spcPct val="112000"/>
              </a:lnSpc>
              <a:spcAft>
                <a:spcPts val="0"/>
              </a:spcAft>
            </a:pPr>
            <a:r>
              <a:rPr sz="2100" b="1" i="0">
                <a:solidFill>
                  <a:srgbClr val="24477D"/>
                </a:solidFill>
                <a:latin typeface="微软雅黑"/>
              </a:rPr>
              <a:t>典型路线：大规模仿真学习 + 小规模真实修正。</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18872" cy="6858000"/>
          </a:xfrm>
          <a:prstGeom prst="rect">
            <a:avLst/>
          </a:prstGeom>
          <a:solidFill>
            <a:srgbClr val="3159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118872" y="0"/>
            <a:ext cx="41148" cy="6858000"/>
          </a:xfrm>
          <a:prstGeom prst="rect">
            <a:avLst/>
          </a:prstGeom>
          <a:solidFill>
            <a:srgbClr val="B7C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38912" y="137160"/>
            <a:ext cx="3474720" cy="164592"/>
          </a:xfrm>
          <a:prstGeom prst="rect">
            <a:avLst/>
          </a:prstGeom>
          <a:noFill/>
        </p:spPr>
        <p:txBody>
          <a:bodyPr wrap="square" lIns="0" tIns="0" rIns="0" bIns="0" anchor="t">
            <a:spAutoFit/>
          </a:bodyPr>
          <a:lstStyle/>
          <a:p>
            <a:pPr algn="l">
              <a:lnSpc>
                <a:spcPct val="112000"/>
              </a:lnSpc>
              <a:spcAft>
                <a:spcPts val="0"/>
              </a:spcAft>
            </a:pPr>
            <a:r>
              <a:rPr sz="1050" b="0" i="0">
                <a:solidFill>
                  <a:srgbClr val="8C98AA"/>
                </a:solidFill>
                <a:latin typeface="微软雅黑"/>
              </a:rPr>
              <a:t>具身智能导论 · 第 9 章</a:t>
            </a:r>
          </a:p>
        </p:txBody>
      </p:sp>
      <p:sp>
        <p:nvSpPr>
          <p:cNvPr id="5" name="TextBox 4"/>
          <p:cNvSpPr txBox="1"/>
          <p:nvPr/>
        </p:nvSpPr>
        <p:spPr>
          <a:xfrm>
            <a:off x="9144000" y="137160"/>
            <a:ext cx="2423160" cy="164592"/>
          </a:xfrm>
          <a:prstGeom prst="rect">
            <a:avLst/>
          </a:prstGeom>
          <a:noFill/>
        </p:spPr>
        <p:txBody>
          <a:bodyPr wrap="square" lIns="0" tIns="0" rIns="0" bIns="0" anchor="t">
            <a:spAutoFit/>
          </a:bodyPr>
          <a:lstStyle/>
          <a:p>
            <a:pPr algn="r">
              <a:lnSpc>
                <a:spcPct val="112000"/>
              </a:lnSpc>
              <a:spcAft>
                <a:spcPts val="0"/>
              </a:spcAft>
            </a:pPr>
            <a:r>
              <a:rPr sz="1050" b="0" i="0">
                <a:solidFill>
                  <a:srgbClr val="8C98AA"/>
                </a:solidFill>
                <a:latin typeface="微软雅黑"/>
              </a:rPr>
              <a:t>虚实迁移技术</a:t>
            </a:r>
          </a:p>
        </p:txBody>
      </p:sp>
      <p:sp>
        <p:nvSpPr>
          <p:cNvPr id="6" name="TextBox 5"/>
          <p:cNvSpPr txBox="1"/>
          <p:nvPr/>
        </p:nvSpPr>
        <p:spPr>
          <a:xfrm>
            <a:off x="502920" y="457200"/>
            <a:ext cx="10927080" cy="749808"/>
          </a:xfrm>
          <a:prstGeom prst="rect">
            <a:avLst/>
          </a:prstGeom>
          <a:noFill/>
        </p:spPr>
        <p:txBody>
          <a:bodyPr wrap="square" lIns="0" tIns="0" rIns="0" bIns="0" anchor="t">
            <a:spAutoFit/>
          </a:bodyPr>
          <a:lstStyle/>
          <a:p>
            <a:pPr algn="l">
              <a:lnSpc>
                <a:spcPct val="112000"/>
              </a:lnSpc>
              <a:spcAft>
                <a:spcPts val="0"/>
              </a:spcAft>
            </a:pPr>
            <a:r>
              <a:rPr sz="3500" b="1" i="0">
                <a:solidFill>
                  <a:srgbClr val="24477D"/>
                </a:solidFill>
                <a:latin typeface="微软雅黑"/>
              </a:rPr>
              <a:t>案例：“武 BOT”背后的虚实迁移技术</a:t>
            </a:r>
          </a:p>
        </p:txBody>
      </p:sp>
      <p:sp>
        <p:nvSpPr>
          <p:cNvPr id="7" name="Rectangle 6"/>
          <p:cNvSpPr/>
          <p:nvPr/>
        </p:nvSpPr>
        <p:spPr>
          <a:xfrm>
            <a:off x="502920" y="1353312"/>
            <a:ext cx="11109960" cy="9144"/>
          </a:xfrm>
          <a:prstGeom prst="rect">
            <a:avLst/>
          </a:prstGeom>
          <a:solidFill>
            <a:srgbClr val="D8DE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1457432" y="6473952"/>
            <a:ext cx="347472" cy="164592"/>
          </a:xfrm>
          <a:prstGeom prst="rect">
            <a:avLst/>
          </a:prstGeom>
          <a:noFill/>
        </p:spPr>
        <p:txBody>
          <a:bodyPr wrap="square" lIns="0" tIns="0" rIns="0" bIns="0" anchor="t">
            <a:spAutoFit/>
          </a:bodyPr>
          <a:lstStyle/>
          <a:p>
            <a:pPr algn="r">
              <a:lnSpc>
                <a:spcPct val="112000"/>
              </a:lnSpc>
              <a:spcAft>
                <a:spcPts val="0"/>
              </a:spcAft>
            </a:pPr>
            <a:r>
              <a:rPr sz="1050" b="0" i="0">
                <a:solidFill>
                  <a:srgbClr val="8C98AA"/>
                </a:solidFill>
                <a:latin typeface="微软雅黑"/>
              </a:rPr>
              <a:t>17</a:t>
            </a:r>
          </a:p>
        </p:txBody>
      </p:sp>
      <p:sp>
        <p:nvSpPr>
          <p:cNvPr id="9" name="TextBox 8"/>
          <p:cNvSpPr txBox="1"/>
          <p:nvPr/>
        </p:nvSpPr>
        <p:spPr>
          <a:xfrm>
            <a:off x="749808" y="1691640"/>
            <a:ext cx="4820568" cy="2686826"/>
          </a:xfrm>
          <a:prstGeom prst="rect">
            <a:avLst/>
          </a:prstGeom>
          <a:noFill/>
        </p:spPr>
        <p:txBody>
          <a:bodyPr wrap="square" lIns="0" tIns="0" rIns="0" bIns="0">
            <a:spAutoFit/>
          </a:bodyPr>
          <a:lstStyle/>
          <a:p>
            <a:pPr>
              <a:lnSpc>
                <a:spcPct val="112000"/>
              </a:lnSpc>
              <a:spcAft>
                <a:spcPts val="700"/>
              </a:spcAft>
            </a:pPr>
            <a:r>
              <a:rPr sz="2100" b="0" dirty="0">
                <a:solidFill>
                  <a:srgbClr val="222833"/>
                </a:solidFill>
                <a:latin typeface="微软雅黑"/>
              </a:rPr>
              <a:t>• </a:t>
            </a:r>
            <a:r>
              <a:rPr sz="2100" dirty="0">
                <a:solidFill>
                  <a:srgbClr val="222833"/>
                </a:solidFill>
                <a:latin typeface="微软雅黑"/>
              </a:rPr>
              <a:t>2026 </a:t>
            </a:r>
            <a:r>
              <a:rPr sz="2100" dirty="0" err="1">
                <a:solidFill>
                  <a:srgbClr val="222833"/>
                </a:solidFill>
                <a:latin typeface="微软雅黑"/>
              </a:rPr>
              <a:t>年央视马年春晚“武</a:t>
            </a:r>
            <a:r>
              <a:rPr sz="2100" dirty="0">
                <a:solidFill>
                  <a:srgbClr val="222833"/>
                </a:solidFill>
                <a:latin typeface="微软雅黑"/>
              </a:rPr>
              <a:t> </a:t>
            </a:r>
            <a:r>
              <a:rPr sz="2100" dirty="0" err="1">
                <a:solidFill>
                  <a:srgbClr val="222833"/>
                </a:solidFill>
                <a:latin typeface="微软雅黑"/>
              </a:rPr>
              <a:t>BOT”展示高动态翻腾、霹雳舞、武术等极端动作</a:t>
            </a:r>
            <a:r>
              <a:rPr sz="2100" dirty="0">
                <a:solidFill>
                  <a:srgbClr val="222833"/>
                </a:solidFill>
                <a:latin typeface="微软雅黑"/>
              </a:rPr>
              <a:t>。</a:t>
            </a:r>
          </a:p>
          <a:p>
            <a:pPr>
              <a:lnSpc>
                <a:spcPct val="112000"/>
              </a:lnSpc>
              <a:spcAft>
                <a:spcPts val="700"/>
              </a:spcAft>
            </a:pPr>
            <a:r>
              <a:rPr sz="2100" b="0" dirty="0">
                <a:solidFill>
                  <a:srgbClr val="222833"/>
                </a:solidFill>
                <a:latin typeface="微软雅黑"/>
              </a:rPr>
              <a:t>• </a:t>
            </a:r>
            <a:r>
              <a:rPr sz="2100" dirty="0" err="1">
                <a:solidFill>
                  <a:srgbClr val="222833"/>
                </a:solidFill>
                <a:latin typeface="微软雅黑"/>
              </a:rPr>
              <a:t>其背后的</a:t>
            </a:r>
            <a:r>
              <a:rPr sz="2100" dirty="0">
                <a:solidFill>
                  <a:srgbClr val="222833"/>
                </a:solidFill>
                <a:latin typeface="微软雅黑"/>
              </a:rPr>
              <a:t> </a:t>
            </a:r>
            <a:r>
              <a:rPr sz="2100" dirty="0" err="1">
                <a:solidFill>
                  <a:srgbClr val="222833"/>
                </a:solidFill>
                <a:latin typeface="微软雅黑"/>
              </a:rPr>
              <a:t>OmniXtreme</a:t>
            </a:r>
            <a:r>
              <a:rPr sz="2100" dirty="0">
                <a:solidFill>
                  <a:srgbClr val="222833"/>
                </a:solidFill>
                <a:latin typeface="微软雅黑"/>
              </a:rPr>
              <a:t> </a:t>
            </a:r>
            <a:r>
              <a:rPr sz="2100" dirty="0" err="1">
                <a:solidFill>
                  <a:srgbClr val="222833"/>
                </a:solidFill>
                <a:latin typeface="微软雅黑"/>
              </a:rPr>
              <a:t>框架面向高动态人形机器人的“保真度</a:t>
            </a:r>
            <a:r>
              <a:rPr sz="2100" dirty="0">
                <a:solidFill>
                  <a:srgbClr val="222833"/>
                </a:solidFill>
                <a:latin typeface="微软雅黑"/>
              </a:rPr>
              <a:t>—</a:t>
            </a:r>
            <a:r>
              <a:rPr sz="2100" dirty="0" err="1">
                <a:solidFill>
                  <a:srgbClr val="222833"/>
                </a:solidFill>
                <a:latin typeface="微软雅黑"/>
              </a:rPr>
              <a:t>可扩展性”权衡，采用两阶段训练</a:t>
            </a:r>
            <a:r>
              <a:rPr sz="2100" dirty="0">
                <a:solidFill>
                  <a:srgbClr val="222833"/>
                </a:solidFill>
                <a:latin typeface="微软雅黑"/>
              </a:rPr>
              <a:t>。</a:t>
            </a:r>
          </a:p>
          <a:p>
            <a:pPr>
              <a:lnSpc>
                <a:spcPct val="112000"/>
              </a:lnSpc>
              <a:spcAft>
                <a:spcPts val="700"/>
              </a:spcAft>
            </a:pPr>
            <a:r>
              <a:rPr sz="2100" b="0" dirty="0">
                <a:solidFill>
                  <a:srgbClr val="222833"/>
                </a:solidFill>
                <a:latin typeface="微软雅黑"/>
              </a:rPr>
              <a:t>• </a:t>
            </a:r>
            <a:r>
              <a:rPr sz="2100" dirty="0" err="1">
                <a:solidFill>
                  <a:srgbClr val="222833"/>
                </a:solidFill>
                <a:latin typeface="微软雅黑"/>
              </a:rPr>
              <a:t>目标是把大规模动作库中的策略从仿真稳定迁移到</a:t>
            </a:r>
            <a:r>
              <a:rPr sz="2100" dirty="0">
                <a:solidFill>
                  <a:srgbClr val="222833"/>
                </a:solidFill>
                <a:latin typeface="微软雅黑"/>
              </a:rPr>
              <a:t> Unitree G1 </a:t>
            </a:r>
            <a:r>
              <a:rPr sz="2100" dirty="0" err="1">
                <a:solidFill>
                  <a:srgbClr val="222833"/>
                </a:solidFill>
                <a:latin typeface="微软雅黑"/>
              </a:rPr>
              <a:t>真机</a:t>
            </a:r>
            <a:r>
              <a:rPr sz="2100" dirty="0">
                <a:solidFill>
                  <a:srgbClr val="222833"/>
                </a:solidFill>
                <a:latin typeface="微软雅黑"/>
              </a:rPr>
              <a:t>。</a:t>
            </a:r>
          </a:p>
        </p:txBody>
      </p:sp>
      <p:sp>
        <p:nvSpPr>
          <p:cNvPr id="10" name="TextBox 9"/>
          <p:cNvSpPr txBox="1"/>
          <p:nvPr/>
        </p:nvSpPr>
        <p:spPr>
          <a:xfrm>
            <a:off x="611155" y="4985341"/>
            <a:ext cx="4870580" cy="647741"/>
          </a:xfrm>
          <a:prstGeom prst="rect">
            <a:avLst/>
          </a:prstGeom>
          <a:noFill/>
        </p:spPr>
        <p:txBody>
          <a:bodyPr wrap="square" lIns="0" tIns="0" rIns="0" bIns="0" anchor="ctr">
            <a:spAutoFit/>
          </a:bodyPr>
          <a:lstStyle/>
          <a:p>
            <a:pPr algn="ctr">
              <a:lnSpc>
                <a:spcPct val="112000"/>
              </a:lnSpc>
              <a:spcAft>
                <a:spcPts val="0"/>
              </a:spcAft>
            </a:pPr>
            <a:r>
              <a:rPr sz="1950" b="1" i="0" dirty="0">
                <a:solidFill>
                  <a:srgbClr val="24477D"/>
                </a:solidFill>
                <a:latin typeface="微软雅黑"/>
              </a:rPr>
              <a:t>关键：生成式预训练负责“</a:t>
            </a:r>
            <a:r>
              <a:rPr sz="1950" b="1" i="0" dirty="0" err="1">
                <a:solidFill>
                  <a:srgbClr val="24477D"/>
                </a:solidFill>
                <a:latin typeface="微软雅黑"/>
              </a:rPr>
              <a:t>覆盖动作</a:t>
            </a:r>
            <a:r>
              <a:rPr sz="1950" b="1" i="0" dirty="0">
                <a:solidFill>
                  <a:srgbClr val="24477D"/>
                </a:solidFill>
                <a:latin typeface="微软雅黑"/>
              </a:rPr>
              <a:t>”，</a:t>
            </a:r>
            <a:r>
              <a:rPr sz="1950" b="1" i="0" dirty="0" err="1">
                <a:solidFill>
                  <a:srgbClr val="24477D"/>
                </a:solidFill>
                <a:latin typeface="微软雅黑"/>
              </a:rPr>
              <a:t>执行器感知后训练负责“贴近真实</a:t>
            </a:r>
            <a:r>
              <a:rPr sz="1950" b="1" i="0" dirty="0">
                <a:solidFill>
                  <a:srgbClr val="24477D"/>
                </a:solidFill>
                <a:latin typeface="微软雅黑"/>
              </a:rPr>
              <a:t>”</a:t>
            </a:r>
          </a:p>
        </p:txBody>
      </p:sp>
      <p:pic>
        <p:nvPicPr>
          <p:cNvPr id="11" name="图片 10">
            <a:extLst>
              <a:ext uri="{FF2B5EF4-FFF2-40B4-BE49-F238E27FC236}">
                <a16:creationId xmlns:a16="http://schemas.microsoft.com/office/drawing/2014/main" id="{6568EEC0-E3B4-8F6C-1C3D-7814E950221E}"/>
              </a:ext>
            </a:extLst>
          </p:cNvPr>
          <p:cNvPicPr>
            <a:picLocks noChangeAspect="1"/>
          </p:cNvPicPr>
          <p:nvPr/>
        </p:nvPicPr>
        <p:blipFill>
          <a:blip r:embed="rId2"/>
          <a:srcRect b="28262"/>
          <a:stretch>
            <a:fillRect/>
          </a:stretch>
        </p:blipFill>
        <p:spPr>
          <a:xfrm>
            <a:off x="6160164" y="1481053"/>
            <a:ext cx="5299895" cy="5075195"/>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18872" cy="6858000"/>
          </a:xfrm>
          <a:prstGeom prst="rect">
            <a:avLst/>
          </a:prstGeom>
          <a:solidFill>
            <a:srgbClr val="3159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118872" y="0"/>
            <a:ext cx="41148" cy="6858000"/>
          </a:xfrm>
          <a:prstGeom prst="rect">
            <a:avLst/>
          </a:prstGeom>
          <a:solidFill>
            <a:srgbClr val="B7C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38912" y="137160"/>
            <a:ext cx="3474720" cy="164592"/>
          </a:xfrm>
          <a:prstGeom prst="rect">
            <a:avLst/>
          </a:prstGeom>
          <a:noFill/>
        </p:spPr>
        <p:txBody>
          <a:bodyPr wrap="square" lIns="0" tIns="0" rIns="0" bIns="0" anchor="t">
            <a:spAutoFit/>
          </a:bodyPr>
          <a:lstStyle/>
          <a:p>
            <a:pPr algn="l">
              <a:lnSpc>
                <a:spcPct val="112000"/>
              </a:lnSpc>
              <a:spcAft>
                <a:spcPts val="0"/>
              </a:spcAft>
            </a:pPr>
            <a:r>
              <a:rPr sz="1050" b="0" i="0">
                <a:solidFill>
                  <a:srgbClr val="8C98AA"/>
                </a:solidFill>
                <a:latin typeface="微软雅黑"/>
              </a:rPr>
              <a:t>具身智能导论 · 第 9 章</a:t>
            </a:r>
          </a:p>
        </p:txBody>
      </p:sp>
      <p:sp>
        <p:nvSpPr>
          <p:cNvPr id="5" name="TextBox 4"/>
          <p:cNvSpPr txBox="1"/>
          <p:nvPr/>
        </p:nvSpPr>
        <p:spPr>
          <a:xfrm>
            <a:off x="9144000" y="137160"/>
            <a:ext cx="2423160" cy="164592"/>
          </a:xfrm>
          <a:prstGeom prst="rect">
            <a:avLst/>
          </a:prstGeom>
          <a:noFill/>
        </p:spPr>
        <p:txBody>
          <a:bodyPr wrap="square" lIns="0" tIns="0" rIns="0" bIns="0" anchor="t">
            <a:spAutoFit/>
          </a:bodyPr>
          <a:lstStyle/>
          <a:p>
            <a:pPr algn="r">
              <a:lnSpc>
                <a:spcPct val="112000"/>
              </a:lnSpc>
              <a:spcAft>
                <a:spcPts val="0"/>
              </a:spcAft>
            </a:pPr>
            <a:r>
              <a:rPr sz="1050" b="0" i="0">
                <a:solidFill>
                  <a:srgbClr val="8C98AA"/>
                </a:solidFill>
                <a:latin typeface="微软雅黑"/>
              </a:rPr>
              <a:t>虚实迁移技术</a:t>
            </a:r>
          </a:p>
        </p:txBody>
      </p:sp>
      <p:sp>
        <p:nvSpPr>
          <p:cNvPr id="6" name="TextBox 5"/>
          <p:cNvSpPr txBox="1"/>
          <p:nvPr/>
        </p:nvSpPr>
        <p:spPr>
          <a:xfrm>
            <a:off x="502920" y="457200"/>
            <a:ext cx="10927080" cy="749808"/>
          </a:xfrm>
          <a:prstGeom prst="rect">
            <a:avLst/>
          </a:prstGeom>
          <a:noFill/>
        </p:spPr>
        <p:txBody>
          <a:bodyPr wrap="square" lIns="0" tIns="0" rIns="0" bIns="0" anchor="t">
            <a:spAutoFit/>
          </a:bodyPr>
          <a:lstStyle/>
          <a:p>
            <a:pPr algn="l">
              <a:lnSpc>
                <a:spcPct val="112000"/>
              </a:lnSpc>
              <a:spcAft>
                <a:spcPts val="0"/>
              </a:spcAft>
            </a:pPr>
            <a:r>
              <a:rPr sz="3500" b="1" i="0">
                <a:solidFill>
                  <a:srgbClr val="24477D"/>
                </a:solidFill>
                <a:latin typeface="微软雅黑"/>
              </a:rPr>
              <a:t>OmniXtreme 阶段一：生成式策略预训练</a:t>
            </a:r>
          </a:p>
        </p:txBody>
      </p:sp>
      <p:sp>
        <p:nvSpPr>
          <p:cNvPr id="7" name="Rectangle 6"/>
          <p:cNvSpPr/>
          <p:nvPr/>
        </p:nvSpPr>
        <p:spPr>
          <a:xfrm>
            <a:off x="502920" y="1353312"/>
            <a:ext cx="11109960" cy="9144"/>
          </a:xfrm>
          <a:prstGeom prst="rect">
            <a:avLst/>
          </a:prstGeom>
          <a:solidFill>
            <a:srgbClr val="D8DE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1457432" y="6473952"/>
            <a:ext cx="347472" cy="164592"/>
          </a:xfrm>
          <a:prstGeom prst="rect">
            <a:avLst/>
          </a:prstGeom>
          <a:noFill/>
        </p:spPr>
        <p:txBody>
          <a:bodyPr wrap="square" lIns="0" tIns="0" rIns="0" bIns="0" anchor="t">
            <a:spAutoFit/>
          </a:bodyPr>
          <a:lstStyle/>
          <a:p>
            <a:pPr algn="r">
              <a:lnSpc>
                <a:spcPct val="112000"/>
              </a:lnSpc>
              <a:spcAft>
                <a:spcPts val="0"/>
              </a:spcAft>
            </a:pPr>
            <a:r>
              <a:rPr sz="1050" b="0" i="0">
                <a:solidFill>
                  <a:srgbClr val="8C98AA"/>
                </a:solidFill>
                <a:latin typeface="微软雅黑"/>
              </a:rPr>
              <a:t>18</a:t>
            </a:r>
          </a:p>
        </p:txBody>
      </p:sp>
      <p:sp>
        <p:nvSpPr>
          <p:cNvPr id="9" name="Rounded Rectangle 8"/>
          <p:cNvSpPr/>
          <p:nvPr/>
        </p:nvSpPr>
        <p:spPr>
          <a:xfrm>
            <a:off x="822960" y="1755648"/>
            <a:ext cx="3154680" cy="3154680"/>
          </a:xfrm>
          <a:prstGeom prst="roundRect">
            <a:avLst/>
          </a:prstGeom>
          <a:solidFill>
            <a:srgbClr val="FFFFFF"/>
          </a:solidFill>
          <a:ln w="10160">
            <a:solidFill>
              <a:srgbClr val="E0E5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822960" y="1755648"/>
            <a:ext cx="64008" cy="3154680"/>
          </a:xfrm>
          <a:prstGeom prst="rect">
            <a:avLst/>
          </a:prstGeom>
          <a:solidFill>
            <a:srgbClr val="3159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1033272" y="1901952"/>
            <a:ext cx="2770632" cy="347472"/>
          </a:xfrm>
          <a:prstGeom prst="rect">
            <a:avLst/>
          </a:prstGeom>
          <a:noFill/>
        </p:spPr>
        <p:txBody>
          <a:bodyPr wrap="square" lIns="0" tIns="0" rIns="0" bIns="0" anchor="t">
            <a:spAutoFit/>
          </a:bodyPr>
          <a:lstStyle/>
          <a:p>
            <a:pPr algn="l">
              <a:lnSpc>
                <a:spcPct val="112000"/>
              </a:lnSpc>
              <a:spcAft>
                <a:spcPts val="0"/>
              </a:spcAft>
            </a:pPr>
            <a:r>
              <a:rPr sz="2000" b="1" i="0">
                <a:solidFill>
                  <a:srgbClr val="31599B"/>
                </a:solidFill>
                <a:latin typeface="微软雅黑"/>
              </a:rPr>
              <a:t>Flow Matching</a:t>
            </a:r>
          </a:p>
        </p:txBody>
      </p:sp>
      <p:sp>
        <p:nvSpPr>
          <p:cNvPr id="12" name="TextBox 11"/>
          <p:cNvSpPr txBox="1"/>
          <p:nvPr/>
        </p:nvSpPr>
        <p:spPr>
          <a:xfrm>
            <a:off x="1033272" y="2441448"/>
            <a:ext cx="2770632" cy="2313432"/>
          </a:xfrm>
          <a:prstGeom prst="rect">
            <a:avLst/>
          </a:prstGeom>
          <a:noFill/>
        </p:spPr>
        <p:txBody>
          <a:bodyPr wrap="square" lIns="0" tIns="0" rIns="0" bIns="0" anchor="t">
            <a:spAutoFit/>
          </a:bodyPr>
          <a:lstStyle/>
          <a:p>
            <a:pPr algn="l">
              <a:lnSpc>
                <a:spcPct val="112000"/>
              </a:lnSpc>
              <a:spcAft>
                <a:spcPts val="0"/>
              </a:spcAft>
            </a:pPr>
            <a:r>
              <a:rPr sz="1800" b="0" i="0">
                <a:solidFill>
                  <a:srgbClr val="222833"/>
                </a:solidFill>
                <a:latin typeface="微软雅黑"/>
              </a:rPr>
              <a:t>采用基于流匹配的生成式策略，对复杂高动态动作分布进行统一建模。</a:t>
            </a:r>
          </a:p>
        </p:txBody>
      </p:sp>
      <p:sp>
        <p:nvSpPr>
          <p:cNvPr id="13" name="Rounded Rectangle 12"/>
          <p:cNvSpPr/>
          <p:nvPr/>
        </p:nvSpPr>
        <p:spPr>
          <a:xfrm>
            <a:off x="4251960" y="1755648"/>
            <a:ext cx="3154680" cy="3154680"/>
          </a:xfrm>
          <a:prstGeom prst="roundRect">
            <a:avLst/>
          </a:prstGeom>
          <a:solidFill>
            <a:srgbClr val="FFFFFF"/>
          </a:solidFill>
          <a:ln w="10160">
            <a:solidFill>
              <a:srgbClr val="E0E5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4251960" y="1755648"/>
            <a:ext cx="64008" cy="3154680"/>
          </a:xfrm>
          <a:prstGeom prst="rect">
            <a:avLst/>
          </a:prstGeom>
          <a:solidFill>
            <a:srgbClr val="2F8E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4462272" y="1901952"/>
            <a:ext cx="2770632" cy="347472"/>
          </a:xfrm>
          <a:prstGeom prst="rect">
            <a:avLst/>
          </a:prstGeom>
          <a:noFill/>
        </p:spPr>
        <p:txBody>
          <a:bodyPr wrap="square" lIns="0" tIns="0" rIns="0" bIns="0" anchor="t">
            <a:spAutoFit/>
          </a:bodyPr>
          <a:lstStyle/>
          <a:p>
            <a:pPr algn="l">
              <a:lnSpc>
                <a:spcPct val="112000"/>
              </a:lnSpc>
              <a:spcAft>
                <a:spcPts val="0"/>
              </a:spcAft>
            </a:pPr>
            <a:r>
              <a:rPr sz="2000" b="1" i="0">
                <a:solidFill>
                  <a:srgbClr val="2F8E72"/>
                </a:solidFill>
                <a:latin typeface="微软雅黑"/>
              </a:rPr>
              <a:t>DAgger 蒸馏</a:t>
            </a:r>
          </a:p>
        </p:txBody>
      </p:sp>
      <p:sp>
        <p:nvSpPr>
          <p:cNvPr id="16" name="TextBox 15"/>
          <p:cNvSpPr txBox="1"/>
          <p:nvPr/>
        </p:nvSpPr>
        <p:spPr>
          <a:xfrm>
            <a:off x="4462272" y="2441448"/>
            <a:ext cx="2770632" cy="2313432"/>
          </a:xfrm>
          <a:prstGeom prst="rect">
            <a:avLst/>
          </a:prstGeom>
          <a:noFill/>
        </p:spPr>
        <p:txBody>
          <a:bodyPr wrap="square" lIns="0" tIns="0" rIns="0" bIns="0" anchor="t">
            <a:spAutoFit/>
          </a:bodyPr>
          <a:lstStyle/>
          <a:p>
            <a:pPr algn="l">
              <a:lnSpc>
                <a:spcPct val="112000"/>
              </a:lnSpc>
              <a:spcAft>
                <a:spcPts val="0"/>
              </a:spcAft>
            </a:pPr>
            <a:r>
              <a:rPr sz="1800" b="0" i="0">
                <a:solidFill>
                  <a:srgbClr val="222833"/>
                </a:solidFill>
                <a:latin typeface="微软雅黑"/>
              </a:rPr>
              <a:t>从多个动作专家策略中蒸馏知识，形成统一基策略。</a:t>
            </a:r>
          </a:p>
        </p:txBody>
      </p:sp>
      <p:sp>
        <p:nvSpPr>
          <p:cNvPr id="17" name="Rounded Rectangle 16"/>
          <p:cNvSpPr/>
          <p:nvPr/>
        </p:nvSpPr>
        <p:spPr>
          <a:xfrm>
            <a:off x="7680960" y="1755648"/>
            <a:ext cx="3154680" cy="3154680"/>
          </a:xfrm>
          <a:prstGeom prst="roundRect">
            <a:avLst/>
          </a:prstGeom>
          <a:solidFill>
            <a:srgbClr val="FFFFFF"/>
          </a:solidFill>
          <a:ln w="10160">
            <a:solidFill>
              <a:srgbClr val="E0E5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7680960" y="1755648"/>
            <a:ext cx="64008" cy="3154680"/>
          </a:xfrm>
          <a:prstGeom prst="rect">
            <a:avLst/>
          </a:prstGeom>
          <a:solidFill>
            <a:srgbClr val="C58A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7891272" y="1901952"/>
            <a:ext cx="2770632" cy="347472"/>
          </a:xfrm>
          <a:prstGeom prst="rect">
            <a:avLst/>
          </a:prstGeom>
          <a:noFill/>
        </p:spPr>
        <p:txBody>
          <a:bodyPr wrap="square" lIns="0" tIns="0" rIns="0" bIns="0" anchor="t">
            <a:spAutoFit/>
          </a:bodyPr>
          <a:lstStyle/>
          <a:p>
            <a:pPr algn="l">
              <a:lnSpc>
                <a:spcPct val="112000"/>
              </a:lnSpc>
              <a:spcAft>
                <a:spcPts val="0"/>
              </a:spcAft>
            </a:pPr>
            <a:r>
              <a:rPr sz="2000" b="1" i="0">
                <a:solidFill>
                  <a:srgbClr val="C58A24"/>
                </a:solidFill>
                <a:latin typeface="微软雅黑"/>
              </a:rPr>
              <a:t>动作库表征</a:t>
            </a:r>
          </a:p>
        </p:txBody>
      </p:sp>
      <p:sp>
        <p:nvSpPr>
          <p:cNvPr id="20" name="TextBox 19"/>
          <p:cNvSpPr txBox="1"/>
          <p:nvPr/>
        </p:nvSpPr>
        <p:spPr>
          <a:xfrm>
            <a:off x="7891272" y="2441448"/>
            <a:ext cx="2770632" cy="2313432"/>
          </a:xfrm>
          <a:prstGeom prst="rect">
            <a:avLst/>
          </a:prstGeom>
          <a:noFill/>
        </p:spPr>
        <p:txBody>
          <a:bodyPr wrap="square" lIns="0" tIns="0" rIns="0" bIns="0" anchor="t">
            <a:spAutoFit/>
          </a:bodyPr>
          <a:lstStyle/>
          <a:p>
            <a:pPr algn="l">
              <a:lnSpc>
                <a:spcPct val="112000"/>
              </a:lnSpc>
              <a:spcAft>
                <a:spcPts val="0"/>
              </a:spcAft>
            </a:pPr>
            <a:r>
              <a:rPr sz="1800" b="0" i="0">
                <a:solidFill>
                  <a:srgbClr val="222833"/>
                </a:solidFill>
                <a:latin typeface="微软雅黑"/>
              </a:rPr>
              <a:t>减少传统多动作强化学习中的梯度干扰，覆盖翻腾、接触切换、高速运动等异质动作。</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18872" cy="6858000"/>
          </a:xfrm>
          <a:prstGeom prst="rect">
            <a:avLst/>
          </a:prstGeom>
          <a:solidFill>
            <a:srgbClr val="3159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118872" y="0"/>
            <a:ext cx="41148" cy="6858000"/>
          </a:xfrm>
          <a:prstGeom prst="rect">
            <a:avLst/>
          </a:prstGeom>
          <a:solidFill>
            <a:srgbClr val="B7C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38912" y="137160"/>
            <a:ext cx="3474720" cy="164592"/>
          </a:xfrm>
          <a:prstGeom prst="rect">
            <a:avLst/>
          </a:prstGeom>
          <a:noFill/>
        </p:spPr>
        <p:txBody>
          <a:bodyPr wrap="square" lIns="0" tIns="0" rIns="0" bIns="0" anchor="t">
            <a:spAutoFit/>
          </a:bodyPr>
          <a:lstStyle/>
          <a:p>
            <a:pPr algn="l">
              <a:lnSpc>
                <a:spcPct val="112000"/>
              </a:lnSpc>
              <a:spcAft>
                <a:spcPts val="0"/>
              </a:spcAft>
            </a:pPr>
            <a:r>
              <a:rPr sz="1050" b="0" i="0">
                <a:solidFill>
                  <a:srgbClr val="8C98AA"/>
                </a:solidFill>
                <a:latin typeface="微软雅黑"/>
              </a:rPr>
              <a:t>具身智能导论 · 第 9 章</a:t>
            </a:r>
          </a:p>
        </p:txBody>
      </p:sp>
      <p:sp>
        <p:nvSpPr>
          <p:cNvPr id="5" name="TextBox 4"/>
          <p:cNvSpPr txBox="1"/>
          <p:nvPr/>
        </p:nvSpPr>
        <p:spPr>
          <a:xfrm>
            <a:off x="9144000" y="137160"/>
            <a:ext cx="2423160" cy="164592"/>
          </a:xfrm>
          <a:prstGeom prst="rect">
            <a:avLst/>
          </a:prstGeom>
          <a:noFill/>
        </p:spPr>
        <p:txBody>
          <a:bodyPr wrap="square" lIns="0" tIns="0" rIns="0" bIns="0" anchor="t">
            <a:spAutoFit/>
          </a:bodyPr>
          <a:lstStyle/>
          <a:p>
            <a:pPr algn="r">
              <a:lnSpc>
                <a:spcPct val="112000"/>
              </a:lnSpc>
              <a:spcAft>
                <a:spcPts val="0"/>
              </a:spcAft>
            </a:pPr>
            <a:r>
              <a:rPr sz="1050" b="0" i="0">
                <a:solidFill>
                  <a:srgbClr val="8C98AA"/>
                </a:solidFill>
                <a:latin typeface="微软雅黑"/>
              </a:rPr>
              <a:t>虚实迁移技术</a:t>
            </a:r>
          </a:p>
        </p:txBody>
      </p:sp>
      <p:sp>
        <p:nvSpPr>
          <p:cNvPr id="6" name="TextBox 5"/>
          <p:cNvSpPr txBox="1"/>
          <p:nvPr/>
        </p:nvSpPr>
        <p:spPr>
          <a:xfrm>
            <a:off x="502920" y="457200"/>
            <a:ext cx="10927080" cy="749808"/>
          </a:xfrm>
          <a:prstGeom prst="rect">
            <a:avLst/>
          </a:prstGeom>
          <a:noFill/>
        </p:spPr>
        <p:txBody>
          <a:bodyPr wrap="square" lIns="0" tIns="0" rIns="0" bIns="0" anchor="t">
            <a:spAutoFit/>
          </a:bodyPr>
          <a:lstStyle/>
          <a:p>
            <a:pPr algn="l">
              <a:lnSpc>
                <a:spcPct val="112000"/>
              </a:lnSpc>
              <a:spcAft>
                <a:spcPts val="0"/>
              </a:spcAft>
            </a:pPr>
            <a:r>
              <a:rPr sz="3100" b="1" i="0">
                <a:solidFill>
                  <a:srgbClr val="24477D"/>
                </a:solidFill>
                <a:latin typeface="微软雅黑"/>
              </a:rPr>
              <a:t>OmniXtreme 阶段二：执行器感知的残差强化学习</a:t>
            </a:r>
          </a:p>
        </p:txBody>
      </p:sp>
      <p:sp>
        <p:nvSpPr>
          <p:cNvPr id="7" name="Rectangle 6"/>
          <p:cNvSpPr/>
          <p:nvPr/>
        </p:nvSpPr>
        <p:spPr>
          <a:xfrm>
            <a:off x="502920" y="1353312"/>
            <a:ext cx="11109960" cy="9144"/>
          </a:xfrm>
          <a:prstGeom prst="rect">
            <a:avLst/>
          </a:prstGeom>
          <a:solidFill>
            <a:srgbClr val="D8DE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1457432" y="6473952"/>
            <a:ext cx="347472" cy="164592"/>
          </a:xfrm>
          <a:prstGeom prst="rect">
            <a:avLst/>
          </a:prstGeom>
          <a:noFill/>
        </p:spPr>
        <p:txBody>
          <a:bodyPr wrap="square" lIns="0" tIns="0" rIns="0" bIns="0" anchor="t">
            <a:spAutoFit/>
          </a:bodyPr>
          <a:lstStyle/>
          <a:p>
            <a:pPr algn="r">
              <a:lnSpc>
                <a:spcPct val="112000"/>
              </a:lnSpc>
              <a:spcAft>
                <a:spcPts val="0"/>
              </a:spcAft>
            </a:pPr>
            <a:r>
              <a:rPr sz="1050" b="0" i="0">
                <a:solidFill>
                  <a:srgbClr val="8C98AA"/>
                </a:solidFill>
                <a:latin typeface="微软雅黑"/>
              </a:rPr>
              <a:t>19</a:t>
            </a:r>
          </a:p>
        </p:txBody>
      </p:sp>
      <p:sp>
        <p:nvSpPr>
          <p:cNvPr id="9" name="TextBox 8"/>
          <p:cNvSpPr txBox="1"/>
          <p:nvPr/>
        </p:nvSpPr>
        <p:spPr>
          <a:xfrm>
            <a:off x="749808" y="1664208"/>
            <a:ext cx="10424160" cy="3520440"/>
          </a:xfrm>
          <a:prstGeom prst="rect">
            <a:avLst/>
          </a:prstGeom>
          <a:noFill/>
        </p:spPr>
        <p:txBody>
          <a:bodyPr wrap="square" lIns="0" tIns="0" rIns="0" bIns="0">
            <a:spAutoFit/>
          </a:bodyPr>
          <a:lstStyle/>
          <a:p>
            <a:pPr>
              <a:lnSpc>
                <a:spcPct val="112000"/>
              </a:lnSpc>
              <a:spcAft>
                <a:spcPts val="700"/>
              </a:spcAft>
            </a:pPr>
            <a:r>
              <a:rPr sz="2050" b="0">
                <a:solidFill>
                  <a:srgbClr val="222833"/>
                </a:solidFill>
                <a:latin typeface="微软雅黑"/>
              </a:rPr>
              <a:t>• </a:t>
            </a:r>
            <a:r>
              <a:rPr sz="2050">
                <a:solidFill>
                  <a:srgbClr val="222833"/>
                </a:solidFill>
                <a:latin typeface="微软雅黑"/>
              </a:rPr>
              <a:t>冻结基策略，只训练轻量级残差策略，针对现实执行误差进行补偿。</a:t>
            </a:r>
          </a:p>
          <a:p>
            <a:pPr>
              <a:lnSpc>
                <a:spcPct val="112000"/>
              </a:lnSpc>
              <a:spcAft>
                <a:spcPts val="700"/>
              </a:spcAft>
            </a:pPr>
            <a:r>
              <a:rPr sz="2050" b="0">
                <a:solidFill>
                  <a:srgbClr val="222833"/>
                </a:solidFill>
                <a:latin typeface="微软雅黑"/>
              </a:rPr>
              <a:t>• </a:t>
            </a:r>
            <a:r>
              <a:rPr sz="2050">
                <a:solidFill>
                  <a:srgbClr val="222833"/>
                </a:solidFill>
                <a:latin typeface="微软雅黑"/>
              </a:rPr>
              <a:t>叠加激进域随机化，覆盖仿真与现实之间的物理参数差异。</a:t>
            </a:r>
          </a:p>
          <a:p>
            <a:pPr>
              <a:lnSpc>
                <a:spcPct val="112000"/>
              </a:lnSpc>
              <a:spcAft>
                <a:spcPts val="700"/>
              </a:spcAft>
            </a:pPr>
            <a:r>
              <a:rPr sz="2050" b="0">
                <a:solidFill>
                  <a:srgbClr val="222833"/>
                </a:solidFill>
                <a:latin typeface="微软雅黑"/>
              </a:rPr>
              <a:t>• </a:t>
            </a:r>
            <a:r>
              <a:rPr sz="2050">
                <a:solidFill>
                  <a:srgbClr val="222833"/>
                </a:solidFill>
                <a:latin typeface="微软雅黑"/>
              </a:rPr>
              <a:t>加入真实扭矩—速度特性建模，使控制输出满足真实执行器能力边界。</a:t>
            </a:r>
          </a:p>
          <a:p>
            <a:pPr>
              <a:lnSpc>
                <a:spcPct val="112000"/>
              </a:lnSpc>
              <a:spcAft>
                <a:spcPts val="700"/>
              </a:spcAft>
            </a:pPr>
            <a:r>
              <a:rPr sz="2050" b="0">
                <a:solidFill>
                  <a:srgbClr val="222833"/>
                </a:solidFill>
                <a:latin typeface="微软雅黑"/>
              </a:rPr>
              <a:t>• </a:t>
            </a:r>
            <a:r>
              <a:rPr sz="2050">
                <a:solidFill>
                  <a:srgbClr val="222833"/>
                </a:solidFill>
                <a:latin typeface="微软雅黑"/>
              </a:rPr>
              <a:t>采用功率安全正则化，惩罚过度负功率，避免过流与再生制动风险。</a:t>
            </a:r>
          </a:p>
        </p:txBody>
      </p:sp>
      <p:sp>
        <p:nvSpPr>
          <p:cNvPr id="10" name="TextBox 9"/>
          <p:cNvSpPr txBox="1"/>
          <p:nvPr/>
        </p:nvSpPr>
        <p:spPr>
          <a:xfrm>
            <a:off x="640080" y="5321808"/>
            <a:ext cx="10972800" cy="502920"/>
          </a:xfrm>
          <a:prstGeom prst="rect">
            <a:avLst/>
          </a:prstGeom>
          <a:noFill/>
        </p:spPr>
        <p:txBody>
          <a:bodyPr wrap="square" lIns="0" tIns="0" rIns="0" bIns="0" anchor="ctr">
            <a:spAutoFit/>
          </a:bodyPr>
          <a:lstStyle/>
          <a:p>
            <a:pPr algn="ctr">
              <a:lnSpc>
                <a:spcPct val="112000"/>
              </a:lnSpc>
              <a:spcAft>
                <a:spcPts val="0"/>
              </a:spcAft>
            </a:pPr>
            <a:r>
              <a:rPr sz="2000" b="1" i="0">
                <a:solidFill>
                  <a:srgbClr val="24477D"/>
                </a:solidFill>
                <a:latin typeface="微软雅黑"/>
              </a:rPr>
              <a:t>目标：把“仿真中可学”进一步精炼成“现实中可执行”。</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18872" cy="6858000"/>
          </a:xfrm>
          <a:prstGeom prst="rect">
            <a:avLst/>
          </a:prstGeom>
          <a:solidFill>
            <a:srgbClr val="3159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微软雅黑" panose="020B0503020204020204" pitchFamily="34" charset="-122"/>
              <a:ea typeface="微软雅黑" panose="020B0503020204020204" pitchFamily="34" charset="-122"/>
            </a:endParaRPr>
          </a:p>
        </p:txBody>
      </p:sp>
      <p:sp>
        <p:nvSpPr>
          <p:cNvPr id="3" name="Rectangle 2"/>
          <p:cNvSpPr/>
          <p:nvPr/>
        </p:nvSpPr>
        <p:spPr>
          <a:xfrm>
            <a:off x="98298" y="0"/>
            <a:ext cx="41148" cy="6858000"/>
          </a:xfrm>
          <a:prstGeom prst="rect">
            <a:avLst/>
          </a:prstGeom>
          <a:solidFill>
            <a:srgbClr val="B7C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微软雅黑" panose="020B0503020204020204" pitchFamily="34" charset="-122"/>
              <a:ea typeface="微软雅黑" panose="020B0503020204020204" pitchFamily="34" charset="-122"/>
            </a:endParaRPr>
          </a:p>
        </p:txBody>
      </p:sp>
      <p:sp>
        <p:nvSpPr>
          <p:cNvPr id="4" name="TextBox 3"/>
          <p:cNvSpPr txBox="1"/>
          <p:nvPr/>
        </p:nvSpPr>
        <p:spPr>
          <a:xfrm>
            <a:off x="438912" y="137160"/>
            <a:ext cx="3474720" cy="167803"/>
          </a:xfrm>
          <a:prstGeom prst="rect">
            <a:avLst/>
          </a:prstGeom>
          <a:noFill/>
        </p:spPr>
        <p:txBody>
          <a:bodyPr wrap="square" lIns="0" tIns="0" rIns="0" bIns="0" anchor="t">
            <a:spAutoFit/>
          </a:bodyPr>
          <a:lstStyle/>
          <a:p>
            <a:pPr algn="l">
              <a:lnSpc>
                <a:spcPct val="112000"/>
              </a:lnSpc>
              <a:spcAft>
                <a:spcPts val="0"/>
              </a:spcAft>
            </a:pPr>
            <a:r>
              <a:rPr sz="1050" b="0" i="0">
                <a:solidFill>
                  <a:srgbClr val="8C98AA"/>
                </a:solidFill>
                <a:latin typeface="微软雅黑" panose="020B0503020204020204" pitchFamily="34" charset="-122"/>
                <a:ea typeface="微软雅黑" panose="020B0503020204020204" pitchFamily="34" charset="-122"/>
              </a:rPr>
              <a:t>具身智能导论 · 第 9 章</a:t>
            </a:r>
          </a:p>
        </p:txBody>
      </p:sp>
      <p:sp>
        <p:nvSpPr>
          <p:cNvPr id="5" name="TextBox 4"/>
          <p:cNvSpPr txBox="1"/>
          <p:nvPr/>
        </p:nvSpPr>
        <p:spPr>
          <a:xfrm>
            <a:off x="9144000" y="137160"/>
            <a:ext cx="2423160" cy="167803"/>
          </a:xfrm>
          <a:prstGeom prst="rect">
            <a:avLst/>
          </a:prstGeom>
          <a:noFill/>
        </p:spPr>
        <p:txBody>
          <a:bodyPr wrap="square" lIns="0" tIns="0" rIns="0" bIns="0" anchor="t">
            <a:spAutoFit/>
          </a:bodyPr>
          <a:lstStyle/>
          <a:p>
            <a:pPr algn="r">
              <a:lnSpc>
                <a:spcPct val="112000"/>
              </a:lnSpc>
              <a:spcAft>
                <a:spcPts val="0"/>
              </a:spcAft>
            </a:pPr>
            <a:r>
              <a:rPr sz="1050" b="0" i="0">
                <a:solidFill>
                  <a:srgbClr val="8C98AA"/>
                </a:solidFill>
                <a:latin typeface="微软雅黑" panose="020B0503020204020204" pitchFamily="34" charset="-122"/>
                <a:ea typeface="微软雅黑" panose="020B0503020204020204" pitchFamily="34" charset="-122"/>
              </a:rPr>
              <a:t>虚实迁移技术</a:t>
            </a:r>
          </a:p>
        </p:txBody>
      </p:sp>
      <p:sp>
        <p:nvSpPr>
          <p:cNvPr id="6" name="TextBox 5"/>
          <p:cNvSpPr txBox="1"/>
          <p:nvPr/>
        </p:nvSpPr>
        <p:spPr>
          <a:xfrm>
            <a:off x="502920" y="457200"/>
            <a:ext cx="10927080" cy="495392"/>
          </a:xfrm>
          <a:prstGeom prst="rect">
            <a:avLst/>
          </a:prstGeom>
          <a:noFill/>
        </p:spPr>
        <p:txBody>
          <a:bodyPr wrap="square" lIns="0" tIns="0" rIns="0" bIns="0" anchor="t">
            <a:spAutoFit/>
          </a:bodyPr>
          <a:lstStyle/>
          <a:p>
            <a:pPr algn="l">
              <a:lnSpc>
                <a:spcPct val="112000"/>
              </a:lnSpc>
              <a:spcAft>
                <a:spcPts val="0"/>
              </a:spcAft>
            </a:pPr>
            <a:r>
              <a:rPr sz="3100" b="1" i="0" dirty="0" err="1">
                <a:solidFill>
                  <a:srgbClr val="24477D"/>
                </a:solidFill>
                <a:latin typeface="微软雅黑" panose="020B0503020204020204" pitchFamily="34" charset="-122"/>
                <a:ea typeface="微软雅黑" panose="020B0503020204020204" pitchFamily="34" charset="-122"/>
              </a:rPr>
              <a:t>OmniXtreme：高动态</a:t>
            </a:r>
            <a:r>
              <a:rPr sz="3100" b="1" i="0" dirty="0">
                <a:solidFill>
                  <a:srgbClr val="24477D"/>
                </a:solidFill>
                <a:latin typeface="微软雅黑" panose="020B0503020204020204" pitchFamily="34" charset="-122"/>
                <a:ea typeface="微软雅黑" panose="020B0503020204020204" pitchFamily="34" charset="-122"/>
              </a:rPr>
              <a:t> Sim-to-Real</a:t>
            </a:r>
            <a:r>
              <a:rPr lang="zh-CN" altLang="en-US" sz="3100" b="1" dirty="0">
                <a:solidFill>
                  <a:srgbClr val="24477D"/>
                </a:solidFill>
                <a:latin typeface="微软雅黑" panose="020B0503020204020204" pitchFamily="34" charset="-122"/>
                <a:ea typeface="微软雅黑" panose="020B0503020204020204" pitchFamily="34" charset="-122"/>
              </a:rPr>
              <a:t>的效果</a:t>
            </a:r>
            <a:endParaRPr sz="3100" b="1" i="0" dirty="0">
              <a:solidFill>
                <a:srgbClr val="24477D"/>
              </a:solidFill>
              <a:latin typeface="微软雅黑" panose="020B0503020204020204" pitchFamily="34" charset="-122"/>
              <a:ea typeface="微软雅黑" panose="020B0503020204020204" pitchFamily="34" charset="-122"/>
            </a:endParaRPr>
          </a:p>
        </p:txBody>
      </p:sp>
      <p:sp>
        <p:nvSpPr>
          <p:cNvPr id="7" name="Rectangle 6"/>
          <p:cNvSpPr/>
          <p:nvPr/>
        </p:nvSpPr>
        <p:spPr>
          <a:xfrm>
            <a:off x="502920" y="1353312"/>
            <a:ext cx="11109960" cy="9144"/>
          </a:xfrm>
          <a:prstGeom prst="rect">
            <a:avLst/>
          </a:prstGeom>
          <a:solidFill>
            <a:srgbClr val="D8DE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微软雅黑" panose="020B0503020204020204" pitchFamily="34" charset="-122"/>
              <a:ea typeface="微软雅黑" panose="020B0503020204020204" pitchFamily="34" charset="-122"/>
            </a:endParaRPr>
          </a:p>
        </p:txBody>
      </p:sp>
      <p:sp>
        <p:nvSpPr>
          <p:cNvPr id="8" name="TextBox 7"/>
          <p:cNvSpPr txBox="1"/>
          <p:nvPr/>
        </p:nvSpPr>
        <p:spPr>
          <a:xfrm>
            <a:off x="11457432" y="6473952"/>
            <a:ext cx="347472" cy="167803"/>
          </a:xfrm>
          <a:prstGeom prst="rect">
            <a:avLst/>
          </a:prstGeom>
          <a:noFill/>
        </p:spPr>
        <p:txBody>
          <a:bodyPr wrap="square" lIns="0" tIns="0" rIns="0" bIns="0" anchor="t">
            <a:spAutoFit/>
          </a:bodyPr>
          <a:lstStyle/>
          <a:p>
            <a:pPr algn="r">
              <a:lnSpc>
                <a:spcPct val="112000"/>
              </a:lnSpc>
              <a:spcAft>
                <a:spcPts val="0"/>
              </a:spcAft>
            </a:pPr>
            <a:r>
              <a:rPr sz="1050" b="0" i="0">
                <a:solidFill>
                  <a:srgbClr val="8C98AA"/>
                </a:solidFill>
                <a:latin typeface="微软雅黑" panose="020B0503020204020204" pitchFamily="34" charset="-122"/>
                <a:ea typeface="微软雅黑" panose="020B0503020204020204" pitchFamily="34" charset="-122"/>
              </a:rPr>
              <a:t>20</a:t>
            </a:r>
          </a:p>
        </p:txBody>
      </p:sp>
      <p:sp>
        <p:nvSpPr>
          <p:cNvPr id="9" name="Rounded Rectangle 8"/>
          <p:cNvSpPr/>
          <p:nvPr/>
        </p:nvSpPr>
        <p:spPr>
          <a:xfrm>
            <a:off x="868680" y="1783080"/>
            <a:ext cx="3063240" cy="2926080"/>
          </a:xfrm>
          <a:prstGeom prst="roundRect">
            <a:avLst>
              <a:gd name="adj" fmla="val 5187"/>
            </a:avLst>
          </a:prstGeom>
          <a:solidFill>
            <a:srgbClr val="FFFFFF"/>
          </a:solidFill>
          <a:ln w="10160">
            <a:solidFill>
              <a:srgbClr val="E0E5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微软雅黑" panose="020B0503020204020204" pitchFamily="34" charset="-122"/>
              <a:ea typeface="微软雅黑" panose="020B0503020204020204" pitchFamily="34" charset="-122"/>
            </a:endParaRPr>
          </a:p>
        </p:txBody>
      </p:sp>
      <p:sp>
        <p:nvSpPr>
          <p:cNvPr id="10" name="Rectangle 9"/>
          <p:cNvSpPr/>
          <p:nvPr/>
        </p:nvSpPr>
        <p:spPr>
          <a:xfrm>
            <a:off x="868680" y="1783080"/>
            <a:ext cx="64008" cy="2926080"/>
          </a:xfrm>
          <a:prstGeom prst="rect">
            <a:avLst/>
          </a:prstGeom>
          <a:solidFill>
            <a:srgbClr val="3159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微软雅黑" panose="020B0503020204020204" pitchFamily="34" charset="-122"/>
              <a:ea typeface="微软雅黑" panose="020B0503020204020204" pitchFamily="34" charset="-122"/>
            </a:endParaRPr>
          </a:p>
        </p:txBody>
      </p:sp>
      <p:sp>
        <p:nvSpPr>
          <p:cNvPr id="11" name="TextBox 10"/>
          <p:cNvSpPr txBox="1"/>
          <p:nvPr/>
        </p:nvSpPr>
        <p:spPr>
          <a:xfrm>
            <a:off x="1078992" y="1929384"/>
            <a:ext cx="2679192" cy="351571"/>
          </a:xfrm>
          <a:prstGeom prst="rect">
            <a:avLst/>
          </a:prstGeom>
          <a:noFill/>
        </p:spPr>
        <p:txBody>
          <a:bodyPr wrap="square" lIns="0" tIns="0" rIns="0" bIns="0" anchor="t">
            <a:spAutoFit/>
          </a:bodyPr>
          <a:lstStyle/>
          <a:p>
            <a:pPr algn="l">
              <a:lnSpc>
                <a:spcPct val="112000"/>
              </a:lnSpc>
              <a:spcAft>
                <a:spcPts val="0"/>
              </a:spcAft>
            </a:pPr>
            <a:r>
              <a:rPr sz="2200" b="1" i="0">
                <a:solidFill>
                  <a:srgbClr val="31599B"/>
                </a:solidFill>
                <a:latin typeface="微软雅黑" panose="020B0503020204020204" pitchFamily="34" charset="-122"/>
                <a:ea typeface="微软雅黑" panose="020B0503020204020204" pitchFamily="34" charset="-122"/>
              </a:rPr>
              <a:t>整体成功率</a:t>
            </a:r>
          </a:p>
        </p:txBody>
      </p:sp>
      <p:sp>
        <p:nvSpPr>
          <p:cNvPr id="12" name="TextBox 11"/>
          <p:cNvSpPr txBox="1"/>
          <p:nvPr/>
        </p:nvSpPr>
        <p:spPr>
          <a:xfrm>
            <a:off x="1078992" y="2468880"/>
            <a:ext cx="2679192" cy="958596"/>
          </a:xfrm>
          <a:prstGeom prst="rect">
            <a:avLst/>
          </a:prstGeom>
          <a:noFill/>
        </p:spPr>
        <p:txBody>
          <a:bodyPr wrap="square" lIns="0" tIns="0" rIns="0" bIns="0" anchor="t">
            <a:spAutoFit/>
          </a:bodyPr>
          <a:lstStyle/>
          <a:p>
            <a:pPr algn="l">
              <a:lnSpc>
                <a:spcPct val="112000"/>
              </a:lnSpc>
              <a:spcAft>
                <a:spcPts val="0"/>
              </a:spcAft>
            </a:pPr>
            <a:r>
              <a:rPr sz="1900" b="0" i="0">
                <a:solidFill>
                  <a:srgbClr val="222833"/>
                </a:solidFill>
                <a:latin typeface="微软雅黑" panose="020B0503020204020204" pitchFamily="34" charset="-122"/>
                <a:ea typeface="微软雅黑" panose="020B0503020204020204" pitchFamily="34" charset="-122"/>
              </a:rPr>
              <a:t>91%</a:t>
            </a:r>
          </a:p>
          <a:p>
            <a:pPr algn="l">
              <a:lnSpc>
                <a:spcPct val="112000"/>
              </a:lnSpc>
              <a:spcAft>
                <a:spcPts val="0"/>
              </a:spcAft>
            </a:pPr>
            <a:r>
              <a:rPr sz="1900" b="0" i="0">
                <a:solidFill>
                  <a:srgbClr val="222833"/>
                </a:solidFill>
                <a:latin typeface="微软雅黑" panose="020B0503020204020204" pitchFamily="34" charset="-122"/>
                <a:ea typeface="微软雅黑" panose="020B0503020204020204" pitchFamily="34" charset="-122"/>
              </a:rPr>
              <a:t>覆盖 24 种极端动作、157 次试验。</a:t>
            </a:r>
          </a:p>
        </p:txBody>
      </p:sp>
      <p:sp>
        <p:nvSpPr>
          <p:cNvPr id="13" name="Rounded Rectangle 12"/>
          <p:cNvSpPr/>
          <p:nvPr/>
        </p:nvSpPr>
        <p:spPr>
          <a:xfrm>
            <a:off x="4462272" y="1783080"/>
            <a:ext cx="3063240" cy="2926080"/>
          </a:xfrm>
          <a:prstGeom prst="roundRect">
            <a:avLst>
              <a:gd name="adj" fmla="val 564"/>
            </a:avLst>
          </a:prstGeom>
          <a:solidFill>
            <a:srgbClr val="FFFFFF"/>
          </a:solidFill>
          <a:ln w="10160">
            <a:solidFill>
              <a:srgbClr val="E0E5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微软雅黑" panose="020B0503020204020204" pitchFamily="34" charset="-122"/>
              <a:ea typeface="微软雅黑" panose="020B0503020204020204" pitchFamily="34" charset="-122"/>
            </a:endParaRPr>
          </a:p>
        </p:txBody>
      </p:sp>
      <p:sp>
        <p:nvSpPr>
          <p:cNvPr id="14" name="Rectangle 13"/>
          <p:cNvSpPr/>
          <p:nvPr/>
        </p:nvSpPr>
        <p:spPr>
          <a:xfrm>
            <a:off x="4462272" y="1783080"/>
            <a:ext cx="64008" cy="2926080"/>
          </a:xfrm>
          <a:prstGeom prst="rect">
            <a:avLst/>
          </a:prstGeom>
          <a:solidFill>
            <a:srgbClr val="2F8E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微软雅黑" panose="020B0503020204020204" pitchFamily="34" charset="-122"/>
              <a:ea typeface="微软雅黑" panose="020B0503020204020204" pitchFamily="34" charset="-122"/>
            </a:endParaRPr>
          </a:p>
        </p:txBody>
      </p:sp>
      <p:sp>
        <p:nvSpPr>
          <p:cNvPr id="15" name="TextBox 14"/>
          <p:cNvSpPr txBox="1"/>
          <p:nvPr/>
        </p:nvSpPr>
        <p:spPr>
          <a:xfrm>
            <a:off x="4672584" y="1929384"/>
            <a:ext cx="2679192" cy="351571"/>
          </a:xfrm>
          <a:prstGeom prst="rect">
            <a:avLst/>
          </a:prstGeom>
          <a:noFill/>
        </p:spPr>
        <p:txBody>
          <a:bodyPr wrap="square" lIns="0" tIns="0" rIns="0" bIns="0" anchor="t">
            <a:spAutoFit/>
          </a:bodyPr>
          <a:lstStyle/>
          <a:p>
            <a:pPr algn="l">
              <a:lnSpc>
                <a:spcPct val="112000"/>
              </a:lnSpc>
              <a:spcAft>
                <a:spcPts val="0"/>
              </a:spcAft>
            </a:pPr>
            <a:r>
              <a:rPr sz="2200" b="1" i="0">
                <a:solidFill>
                  <a:srgbClr val="2F8E72"/>
                </a:solidFill>
                <a:latin typeface="微软雅黑" panose="020B0503020204020204" pitchFamily="34" charset="-122"/>
                <a:ea typeface="微软雅黑" panose="020B0503020204020204" pitchFamily="34" charset="-122"/>
              </a:rPr>
              <a:t>翻腾成功率</a:t>
            </a:r>
          </a:p>
        </p:txBody>
      </p:sp>
      <p:sp>
        <p:nvSpPr>
          <p:cNvPr id="16" name="TextBox 15"/>
          <p:cNvSpPr txBox="1"/>
          <p:nvPr/>
        </p:nvSpPr>
        <p:spPr>
          <a:xfrm>
            <a:off x="4672584" y="2468880"/>
            <a:ext cx="2679192" cy="631135"/>
          </a:xfrm>
          <a:prstGeom prst="rect">
            <a:avLst/>
          </a:prstGeom>
          <a:noFill/>
        </p:spPr>
        <p:txBody>
          <a:bodyPr wrap="square" lIns="0" tIns="0" rIns="0" bIns="0" anchor="t">
            <a:spAutoFit/>
          </a:bodyPr>
          <a:lstStyle/>
          <a:p>
            <a:pPr algn="l">
              <a:lnSpc>
                <a:spcPct val="112000"/>
              </a:lnSpc>
              <a:spcAft>
                <a:spcPts val="0"/>
              </a:spcAft>
            </a:pPr>
            <a:r>
              <a:rPr sz="1900" b="0" i="0" dirty="0">
                <a:solidFill>
                  <a:srgbClr val="222833"/>
                </a:solidFill>
                <a:latin typeface="微软雅黑" panose="020B0503020204020204" pitchFamily="34" charset="-122"/>
                <a:ea typeface="微软雅黑" panose="020B0503020204020204" pitchFamily="34" charset="-122"/>
              </a:rPr>
              <a:t>96.36%</a:t>
            </a:r>
          </a:p>
          <a:p>
            <a:pPr algn="l">
              <a:lnSpc>
                <a:spcPct val="112000"/>
              </a:lnSpc>
              <a:spcAft>
                <a:spcPts val="0"/>
              </a:spcAft>
            </a:pPr>
            <a:r>
              <a:rPr lang="zh-CN" altLang="en-US" sz="1900" dirty="0">
                <a:solidFill>
                  <a:srgbClr val="222833"/>
                </a:solidFill>
                <a:latin typeface="微软雅黑" panose="020B0503020204020204" pitchFamily="34" charset="-122"/>
                <a:ea typeface="微软雅黑" panose="020B0503020204020204" pitchFamily="34" charset="-122"/>
              </a:rPr>
              <a:t>如</a:t>
            </a:r>
            <a:r>
              <a:rPr sz="1900" b="0" i="0" dirty="0" err="1">
                <a:solidFill>
                  <a:srgbClr val="222833"/>
                </a:solidFill>
                <a:latin typeface="微软雅黑" panose="020B0503020204020204" pitchFamily="34" charset="-122"/>
                <a:ea typeface="微软雅黑" panose="020B0503020204020204" pitchFamily="34" charset="-122"/>
              </a:rPr>
              <a:t>翻腾类动作成功率</a:t>
            </a:r>
            <a:r>
              <a:rPr sz="1900" b="0" i="0" dirty="0">
                <a:solidFill>
                  <a:srgbClr val="222833"/>
                </a:solidFill>
                <a:latin typeface="微软雅黑" panose="020B0503020204020204" pitchFamily="34" charset="-122"/>
                <a:ea typeface="微软雅黑" panose="020B0503020204020204" pitchFamily="34" charset="-122"/>
              </a:rPr>
              <a:t>。</a:t>
            </a:r>
          </a:p>
        </p:txBody>
      </p:sp>
      <p:sp>
        <p:nvSpPr>
          <p:cNvPr id="17" name="Rounded Rectangle 16"/>
          <p:cNvSpPr/>
          <p:nvPr/>
        </p:nvSpPr>
        <p:spPr>
          <a:xfrm>
            <a:off x="8055864" y="1783080"/>
            <a:ext cx="3063240" cy="2926080"/>
          </a:xfrm>
          <a:prstGeom prst="roundRect">
            <a:avLst>
              <a:gd name="adj" fmla="val 2477"/>
            </a:avLst>
          </a:prstGeom>
          <a:solidFill>
            <a:srgbClr val="FFFFFF"/>
          </a:solidFill>
          <a:ln w="10160">
            <a:solidFill>
              <a:srgbClr val="E0E5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微软雅黑" panose="020B0503020204020204" pitchFamily="34" charset="-122"/>
              <a:ea typeface="微软雅黑" panose="020B0503020204020204" pitchFamily="34" charset="-122"/>
            </a:endParaRPr>
          </a:p>
        </p:txBody>
      </p:sp>
      <p:sp>
        <p:nvSpPr>
          <p:cNvPr id="18" name="Rectangle 17"/>
          <p:cNvSpPr/>
          <p:nvPr/>
        </p:nvSpPr>
        <p:spPr>
          <a:xfrm>
            <a:off x="8055864" y="1783080"/>
            <a:ext cx="64008" cy="2926080"/>
          </a:xfrm>
          <a:prstGeom prst="rect">
            <a:avLst/>
          </a:prstGeom>
          <a:solidFill>
            <a:srgbClr val="C58A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微软雅黑" panose="020B0503020204020204" pitchFamily="34" charset="-122"/>
              <a:ea typeface="微软雅黑" panose="020B0503020204020204" pitchFamily="34" charset="-122"/>
            </a:endParaRPr>
          </a:p>
        </p:txBody>
      </p:sp>
      <p:sp>
        <p:nvSpPr>
          <p:cNvPr id="19" name="TextBox 18"/>
          <p:cNvSpPr txBox="1"/>
          <p:nvPr/>
        </p:nvSpPr>
        <p:spPr>
          <a:xfrm>
            <a:off x="8266176" y="1929384"/>
            <a:ext cx="2679192" cy="319575"/>
          </a:xfrm>
          <a:prstGeom prst="rect">
            <a:avLst/>
          </a:prstGeom>
          <a:noFill/>
        </p:spPr>
        <p:txBody>
          <a:bodyPr wrap="square" lIns="0" tIns="0" rIns="0" bIns="0" anchor="t">
            <a:spAutoFit/>
          </a:bodyPr>
          <a:lstStyle/>
          <a:p>
            <a:pPr algn="l">
              <a:lnSpc>
                <a:spcPct val="112000"/>
              </a:lnSpc>
              <a:spcAft>
                <a:spcPts val="0"/>
              </a:spcAft>
            </a:pPr>
            <a:r>
              <a:rPr sz="2000" b="1" i="0">
                <a:solidFill>
                  <a:srgbClr val="C58A24"/>
                </a:solidFill>
                <a:latin typeface="微软雅黑" panose="020B0503020204020204" pitchFamily="34" charset="-122"/>
                <a:ea typeface="微软雅黑" panose="020B0503020204020204" pitchFamily="34" charset="-122"/>
              </a:rPr>
              <a:t>技术启示</a:t>
            </a:r>
          </a:p>
        </p:txBody>
      </p:sp>
      <p:sp>
        <p:nvSpPr>
          <p:cNvPr id="20" name="TextBox 19"/>
          <p:cNvSpPr txBox="1"/>
          <p:nvPr/>
        </p:nvSpPr>
        <p:spPr>
          <a:xfrm>
            <a:off x="8266176" y="2468880"/>
            <a:ext cx="2679192" cy="882870"/>
          </a:xfrm>
          <a:prstGeom prst="rect">
            <a:avLst/>
          </a:prstGeom>
          <a:noFill/>
        </p:spPr>
        <p:txBody>
          <a:bodyPr wrap="square" lIns="0" tIns="0" rIns="0" bIns="0" anchor="t">
            <a:spAutoFit/>
          </a:bodyPr>
          <a:lstStyle/>
          <a:p>
            <a:pPr algn="l">
              <a:lnSpc>
                <a:spcPct val="112000"/>
              </a:lnSpc>
              <a:spcAft>
                <a:spcPts val="0"/>
              </a:spcAft>
            </a:pPr>
            <a:r>
              <a:rPr sz="1750" b="0" i="0">
                <a:solidFill>
                  <a:srgbClr val="222833"/>
                </a:solidFill>
                <a:latin typeface="微软雅黑" panose="020B0503020204020204" pitchFamily="34" charset="-122"/>
                <a:ea typeface="微软雅黑" panose="020B0503020204020204" pitchFamily="34" charset="-122"/>
              </a:rPr>
              <a:t>域随机化 + 残差学习 + 执行器感知建模，有效缩小高动态迁移中的域差距。</a:t>
            </a:r>
          </a:p>
        </p:txBody>
      </p:sp>
      <p:sp>
        <p:nvSpPr>
          <p:cNvPr id="21" name="TextBox 20"/>
          <p:cNvSpPr txBox="1"/>
          <p:nvPr/>
        </p:nvSpPr>
        <p:spPr>
          <a:xfrm>
            <a:off x="640080" y="5295769"/>
            <a:ext cx="10972800" cy="335541"/>
          </a:xfrm>
          <a:prstGeom prst="rect">
            <a:avLst/>
          </a:prstGeom>
          <a:noFill/>
        </p:spPr>
        <p:txBody>
          <a:bodyPr wrap="square" lIns="0" tIns="0" rIns="0" bIns="0" anchor="ctr">
            <a:spAutoFit/>
          </a:bodyPr>
          <a:lstStyle/>
          <a:p>
            <a:pPr algn="ctr">
              <a:lnSpc>
                <a:spcPct val="112000"/>
              </a:lnSpc>
              <a:spcAft>
                <a:spcPts val="0"/>
              </a:spcAft>
            </a:pPr>
            <a:r>
              <a:rPr sz="2100" b="1" i="0">
                <a:solidFill>
                  <a:srgbClr val="24477D"/>
                </a:solidFill>
                <a:latin typeface="微软雅黑" panose="020B0503020204020204" pitchFamily="34" charset="-122"/>
                <a:ea typeface="微软雅黑" panose="020B0503020204020204" pitchFamily="34" charset="-122"/>
              </a:rPr>
              <a:t>两阶段路径：生成式预训练 + 执行器感知精炼。</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18872" cy="6858000"/>
          </a:xfrm>
          <a:prstGeom prst="rect">
            <a:avLst/>
          </a:prstGeom>
          <a:solidFill>
            <a:srgbClr val="3159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118872" y="0"/>
            <a:ext cx="41148" cy="6858000"/>
          </a:xfrm>
          <a:prstGeom prst="rect">
            <a:avLst/>
          </a:prstGeom>
          <a:solidFill>
            <a:srgbClr val="B7C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38912" y="137160"/>
            <a:ext cx="3474720" cy="164592"/>
          </a:xfrm>
          <a:prstGeom prst="rect">
            <a:avLst/>
          </a:prstGeom>
          <a:noFill/>
        </p:spPr>
        <p:txBody>
          <a:bodyPr wrap="square" lIns="0" tIns="0" rIns="0" bIns="0" anchor="t">
            <a:spAutoFit/>
          </a:bodyPr>
          <a:lstStyle/>
          <a:p>
            <a:pPr algn="l">
              <a:lnSpc>
                <a:spcPct val="112000"/>
              </a:lnSpc>
              <a:spcAft>
                <a:spcPts val="0"/>
              </a:spcAft>
            </a:pPr>
            <a:r>
              <a:rPr sz="1050" b="0" i="0">
                <a:solidFill>
                  <a:srgbClr val="8C98AA"/>
                </a:solidFill>
                <a:latin typeface="微软雅黑"/>
              </a:rPr>
              <a:t>具身智能导论 · 第 9 章</a:t>
            </a:r>
          </a:p>
        </p:txBody>
      </p:sp>
      <p:sp>
        <p:nvSpPr>
          <p:cNvPr id="5" name="TextBox 4"/>
          <p:cNvSpPr txBox="1"/>
          <p:nvPr/>
        </p:nvSpPr>
        <p:spPr>
          <a:xfrm>
            <a:off x="9144000" y="137160"/>
            <a:ext cx="2423160" cy="164592"/>
          </a:xfrm>
          <a:prstGeom prst="rect">
            <a:avLst/>
          </a:prstGeom>
          <a:noFill/>
        </p:spPr>
        <p:txBody>
          <a:bodyPr wrap="square" lIns="0" tIns="0" rIns="0" bIns="0" anchor="t">
            <a:spAutoFit/>
          </a:bodyPr>
          <a:lstStyle/>
          <a:p>
            <a:pPr algn="r">
              <a:lnSpc>
                <a:spcPct val="112000"/>
              </a:lnSpc>
              <a:spcAft>
                <a:spcPts val="0"/>
              </a:spcAft>
            </a:pPr>
            <a:r>
              <a:rPr sz="1050" b="0" i="0">
                <a:solidFill>
                  <a:srgbClr val="8C98AA"/>
                </a:solidFill>
                <a:latin typeface="微软雅黑"/>
              </a:rPr>
              <a:t>虚实迁移技术</a:t>
            </a:r>
          </a:p>
        </p:txBody>
      </p:sp>
      <p:sp>
        <p:nvSpPr>
          <p:cNvPr id="6" name="TextBox 5"/>
          <p:cNvSpPr txBox="1"/>
          <p:nvPr/>
        </p:nvSpPr>
        <p:spPr>
          <a:xfrm>
            <a:off x="502920" y="457200"/>
            <a:ext cx="10927080" cy="749808"/>
          </a:xfrm>
          <a:prstGeom prst="rect">
            <a:avLst/>
          </a:prstGeom>
          <a:noFill/>
        </p:spPr>
        <p:txBody>
          <a:bodyPr wrap="square" lIns="0" tIns="0" rIns="0" bIns="0" anchor="t">
            <a:spAutoFit/>
          </a:bodyPr>
          <a:lstStyle/>
          <a:p>
            <a:pPr algn="l">
              <a:lnSpc>
                <a:spcPct val="112000"/>
              </a:lnSpc>
              <a:spcAft>
                <a:spcPts val="0"/>
              </a:spcAft>
            </a:pPr>
            <a:r>
              <a:rPr sz="3500" b="1" i="0">
                <a:solidFill>
                  <a:srgbClr val="24477D"/>
                </a:solidFill>
                <a:latin typeface="微软雅黑"/>
              </a:rPr>
              <a:t>9.1.2 域差距：仿真策略为何会在现实中失效？</a:t>
            </a:r>
          </a:p>
        </p:txBody>
      </p:sp>
      <p:sp>
        <p:nvSpPr>
          <p:cNvPr id="7" name="Rectangle 6"/>
          <p:cNvSpPr/>
          <p:nvPr/>
        </p:nvSpPr>
        <p:spPr>
          <a:xfrm>
            <a:off x="502920" y="1353312"/>
            <a:ext cx="11109960" cy="9144"/>
          </a:xfrm>
          <a:prstGeom prst="rect">
            <a:avLst/>
          </a:prstGeom>
          <a:solidFill>
            <a:srgbClr val="D8DE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1457432" y="6473952"/>
            <a:ext cx="347472" cy="164592"/>
          </a:xfrm>
          <a:prstGeom prst="rect">
            <a:avLst/>
          </a:prstGeom>
          <a:noFill/>
        </p:spPr>
        <p:txBody>
          <a:bodyPr wrap="square" lIns="0" tIns="0" rIns="0" bIns="0" anchor="t">
            <a:spAutoFit/>
          </a:bodyPr>
          <a:lstStyle/>
          <a:p>
            <a:pPr algn="r">
              <a:lnSpc>
                <a:spcPct val="112000"/>
              </a:lnSpc>
              <a:spcAft>
                <a:spcPts val="0"/>
              </a:spcAft>
            </a:pPr>
            <a:r>
              <a:rPr sz="1050" b="0" i="0">
                <a:solidFill>
                  <a:srgbClr val="8C98AA"/>
                </a:solidFill>
                <a:latin typeface="微软雅黑"/>
              </a:rPr>
              <a:t>21</a:t>
            </a:r>
          </a:p>
        </p:txBody>
      </p:sp>
      <p:sp>
        <p:nvSpPr>
          <p:cNvPr id="9" name="TextBox 8"/>
          <p:cNvSpPr txBox="1"/>
          <p:nvPr/>
        </p:nvSpPr>
        <p:spPr>
          <a:xfrm>
            <a:off x="713232" y="1664208"/>
            <a:ext cx="10378440" cy="2971800"/>
          </a:xfrm>
          <a:prstGeom prst="rect">
            <a:avLst/>
          </a:prstGeom>
          <a:noFill/>
        </p:spPr>
        <p:txBody>
          <a:bodyPr wrap="square" lIns="0" tIns="0" rIns="0" bIns="0">
            <a:spAutoFit/>
          </a:bodyPr>
          <a:lstStyle/>
          <a:p>
            <a:pPr>
              <a:lnSpc>
                <a:spcPct val="112000"/>
              </a:lnSpc>
              <a:spcAft>
                <a:spcPts val="700"/>
              </a:spcAft>
            </a:pPr>
            <a:r>
              <a:rPr sz="2100" b="0">
                <a:solidFill>
                  <a:srgbClr val="222833"/>
                </a:solidFill>
                <a:latin typeface="微软雅黑"/>
              </a:rPr>
              <a:t>• </a:t>
            </a:r>
            <a:r>
              <a:rPr sz="2100">
                <a:solidFill>
                  <a:srgbClr val="222833"/>
                </a:solidFill>
                <a:latin typeface="微软雅黑"/>
              </a:rPr>
              <a:t>域差距是仿真源域与现实目标域在马尔可夫决策过程（MDP）各要素上的不匹配。</a:t>
            </a:r>
          </a:p>
          <a:p>
            <a:pPr>
              <a:lnSpc>
                <a:spcPct val="112000"/>
              </a:lnSpc>
              <a:spcAft>
                <a:spcPts val="700"/>
              </a:spcAft>
            </a:pPr>
            <a:r>
              <a:rPr sz="2100" b="0">
                <a:solidFill>
                  <a:srgbClr val="222833"/>
                </a:solidFill>
                <a:latin typeface="微软雅黑"/>
              </a:rPr>
              <a:t>• </a:t>
            </a:r>
            <a:r>
              <a:rPr sz="2100">
                <a:solidFill>
                  <a:srgbClr val="222833"/>
                </a:solidFill>
                <a:latin typeface="微软雅黑"/>
              </a:rPr>
              <a:t>可将仿真 MDP 与现实 MDP 的差异理解为转移概率 P、奖励函数 R、观测函数 O 与初始状态分布 ρ₀ 等要素的偏移。</a:t>
            </a:r>
          </a:p>
          <a:p>
            <a:pPr>
              <a:lnSpc>
                <a:spcPct val="112000"/>
              </a:lnSpc>
              <a:spcAft>
                <a:spcPts val="700"/>
              </a:spcAft>
            </a:pPr>
            <a:r>
              <a:rPr sz="2100" b="0">
                <a:solidFill>
                  <a:srgbClr val="222833"/>
                </a:solidFill>
                <a:latin typeface="微软雅黑"/>
              </a:rPr>
              <a:t>• </a:t>
            </a:r>
            <a:r>
              <a:rPr sz="2100">
                <a:solidFill>
                  <a:srgbClr val="222833"/>
                </a:solidFill>
                <a:latin typeface="微软雅黑"/>
              </a:rPr>
              <a:t>当策略过拟合“理想仿真”时，哪怕微小偏差也可能在现实部署中累积成性能骤降。</a:t>
            </a:r>
          </a:p>
        </p:txBody>
      </p:sp>
      <p:sp>
        <p:nvSpPr>
          <p:cNvPr id="10" name="TextBox 9"/>
          <p:cNvSpPr txBox="1"/>
          <p:nvPr/>
        </p:nvSpPr>
        <p:spPr>
          <a:xfrm>
            <a:off x="640080" y="5193792"/>
            <a:ext cx="10972800" cy="502920"/>
          </a:xfrm>
          <a:prstGeom prst="rect">
            <a:avLst/>
          </a:prstGeom>
          <a:noFill/>
        </p:spPr>
        <p:txBody>
          <a:bodyPr wrap="square" lIns="0" tIns="0" rIns="0" bIns="0" anchor="ctr">
            <a:spAutoFit/>
          </a:bodyPr>
          <a:lstStyle/>
          <a:p>
            <a:pPr algn="ctr">
              <a:lnSpc>
                <a:spcPct val="112000"/>
              </a:lnSpc>
              <a:spcAft>
                <a:spcPts val="0"/>
              </a:spcAft>
            </a:pPr>
            <a:r>
              <a:rPr sz="1950" b="1" i="0">
                <a:solidFill>
                  <a:srgbClr val="24477D"/>
                </a:solidFill>
                <a:latin typeface="微软雅黑"/>
              </a:rPr>
              <a:t>域差距的本质：同一个动作，在仿真与现实中“看到的不一样、发生的也不一样”。</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18872" cy="6858000"/>
          </a:xfrm>
          <a:prstGeom prst="rect">
            <a:avLst/>
          </a:prstGeom>
          <a:solidFill>
            <a:srgbClr val="3159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118872" y="0"/>
            <a:ext cx="41148" cy="6858000"/>
          </a:xfrm>
          <a:prstGeom prst="rect">
            <a:avLst/>
          </a:prstGeom>
          <a:solidFill>
            <a:srgbClr val="B7C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38912" y="137160"/>
            <a:ext cx="3474720" cy="164592"/>
          </a:xfrm>
          <a:prstGeom prst="rect">
            <a:avLst/>
          </a:prstGeom>
          <a:noFill/>
        </p:spPr>
        <p:txBody>
          <a:bodyPr wrap="square" lIns="0" tIns="0" rIns="0" bIns="0" anchor="t">
            <a:spAutoFit/>
          </a:bodyPr>
          <a:lstStyle/>
          <a:p>
            <a:pPr algn="l">
              <a:lnSpc>
                <a:spcPct val="112000"/>
              </a:lnSpc>
              <a:spcAft>
                <a:spcPts val="0"/>
              </a:spcAft>
            </a:pPr>
            <a:r>
              <a:rPr sz="1050" b="0" i="0">
                <a:solidFill>
                  <a:srgbClr val="8C98AA"/>
                </a:solidFill>
                <a:latin typeface="微软雅黑"/>
              </a:rPr>
              <a:t>具身智能导论 · 第 9 章</a:t>
            </a:r>
          </a:p>
        </p:txBody>
      </p:sp>
      <p:sp>
        <p:nvSpPr>
          <p:cNvPr id="5" name="TextBox 4"/>
          <p:cNvSpPr txBox="1"/>
          <p:nvPr/>
        </p:nvSpPr>
        <p:spPr>
          <a:xfrm>
            <a:off x="9144000" y="137160"/>
            <a:ext cx="2423160" cy="164592"/>
          </a:xfrm>
          <a:prstGeom prst="rect">
            <a:avLst/>
          </a:prstGeom>
          <a:noFill/>
        </p:spPr>
        <p:txBody>
          <a:bodyPr wrap="square" lIns="0" tIns="0" rIns="0" bIns="0" anchor="t">
            <a:spAutoFit/>
          </a:bodyPr>
          <a:lstStyle/>
          <a:p>
            <a:pPr algn="r">
              <a:lnSpc>
                <a:spcPct val="112000"/>
              </a:lnSpc>
              <a:spcAft>
                <a:spcPts val="0"/>
              </a:spcAft>
            </a:pPr>
            <a:r>
              <a:rPr sz="1050" b="0" i="0">
                <a:solidFill>
                  <a:srgbClr val="8C98AA"/>
                </a:solidFill>
                <a:latin typeface="微软雅黑"/>
              </a:rPr>
              <a:t>虚实迁移技术</a:t>
            </a:r>
          </a:p>
        </p:txBody>
      </p:sp>
      <p:sp>
        <p:nvSpPr>
          <p:cNvPr id="6" name="TextBox 5"/>
          <p:cNvSpPr txBox="1"/>
          <p:nvPr/>
        </p:nvSpPr>
        <p:spPr>
          <a:xfrm>
            <a:off x="502920" y="457200"/>
            <a:ext cx="10927080" cy="559256"/>
          </a:xfrm>
          <a:prstGeom prst="rect">
            <a:avLst/>
          </a:prstGeom>
          <a:noFill/>
        </p:spPr>
        <p:txBody>
          <a:bodyPr wrap="square" lIns="0" tIns="0" rIns="0" bIns="0" anchor="t">
            <a:spAutoFit/>
          </a:bodyPr>
          <a:lstStyle/>
          <a:p>
            <a:pPr algn="l">
              <a:lnSpc>
                <a:spcPct val="112000"/>
              </a:lnSpc>
              <a:spcAft>
                <a:spcPts val="0"/>
              </a:spcAft>
            </a:pPr>
            <a:r>
              <a:rPr sz="3500" b="1" i="0" dirty="0" err="1">
                <a:solidFill>
                  <a:srgbClr val="24477D"/>
                </a:solidFill>
                <a:latin typeface="微软雅黑"/>
              </a:rPr>
              <a:t>域差距的主要来源</a:t>
            </a:r>
            <a:endParaRPr sz="3500" b="1" i="0" dirty="0">
              <a:solidFill>
                <a:srgbClr val="24477D"/>
              </a:solidFill>
              <a:latin typeface="微软雅黑"/>
            </a:endParaRPr>
          </a:p>
        </p:txBody>
      </p:sp>
      <p:sp>
        <p:nvSpPr>
          <p:cNvPr id="7" name="Rectangle 6"/>
          <p:cNvSpPr/>
          <p:nvPr/>
        </p:nvSpPr>
        <p:spPr>
          <a:xfrm>
            <a:off x="502920" y="1353312"/>
            <a:ext cx="11109960" cy="9144"/>
          </a:xfrm>
          <a:prstGeom prst="rect">
            <a:avLst/>
          </a:prstGeom>
          <a:solidFill>
            <a:srgbClr val="D8DE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1457432" y="6473952"/>
            <a:ext cx="347472" cy="164592"/>
          </a:xfrm>
          <a:prstGeom prst="rect">
            <a:avLst/>
          </a:prstGeom>
          <a:noFill/>
        </p:spPr>
        <p:txBody>
          <a:bodyPr wrap="square" lIns="0" tIns="0" rIns="0" bIns="0" anchor="t">
            <a:spAutoFit/>
          </a:bodyPr>
          <a:lstStyle/>
          <a:p>
            <a:pPr algn="r">
              <a:lnSpc>
                <a:spcPct val="112000"/>
              </a:lnSpc>
              <a:spcAft>
                <a:spcPts val="0"/>
              </a:spcAft>
            </a:pPr>
            <a:r>
              <a:rPr sz="1050" b="0" i="0">
                <a:solidFill>
                  <a:srgbClr val="8C98AA"/>
                </a:solidFill>
                <a:latin typeface="微软雅黑"/>
              </a:rPr>
              <a:t>22</a:t>
            </a:r>
          </a:p>
        </p:txBody>
      </p:sp>
      <p:sp>
        <p:nvSpPr>
          <p:cNvPr id="9" name="Rounded Rectangle 8"/>
          <p:cNvSpPr/>
          <p:nvPr/>
        </p:nvSpPr>
        <p:spPr>
          <a:xfrm>
            <a:off x="594360" y="1645920"/>
            <a:ext cx="2148840" cy="3611880"/>
          </a:xfrm>
          <a:prstGeom prst="roundRect">
            <a:avLst>
              <a:gd name="adj" fmla="val 4610"/>
            </a:avLst>
          </a:prstGeom>
          <a:solidFill>
            <a:srgbClr val="FFFFFF"/>
          </a:solidFill>
          <a:ln w="10160">
            <a:solidFill>
              <a:srgbClr val="E0E5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594360" y="1645920"/>
            <a:ext cx="64008" cy="3611880"/>
          </a:xfrm>
          <a:prstGeom prst="rect">
            <a:avLst/>
          </a:prstGeom>
          <a:solidFill>
            <a:srgbClr val="3159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04672" y="1792224"/>
            <a:ext cx="1764792" cy="347472"/>
          </a:xfrm>
          <a:prstGeom prst="rect">
            <a:avLst/>
          </a:prstGeom>
          <a:noFill/>
        </p:spPr>
        <p:txBody>
          <a:bodyPr wrap="square" lIns="0" tIns="0" rIns="0" bIns="0" anchor="t">
            <a:spAutoFit/>
          </a:bodyPr>
          <a:lstStyle/>
          <a:p>
            <a:pPr algn="l">
              <a:lnSpc>
                <a:spcPct val="112000"/>
              </a:lnSpc>
              <a:spcAft>
                <a:spcPts val="0"/>
              </a:spcAft>
            </a:pPr>
            <a:r>
              <a:rPr sz="1900" b="1" i="0">
                <a:solidFill>
                  <a:srgbClr val="31599B"/>
                </a:solidFill>
                <a:latin typeface="微软雅黑"/>
              </a:rPr>
              <a:t>物理参数差异</a:t>
            </a:r>
          </a:p>
        </p:txBody>
      </p:sp>
      <p:sp>
        <p:nvSpPr>
          <p:cNvPr id="12" name="TextBox 11"/>
          <p:cNvSpPr txBox="1"/>
          <p:nvPr/>
        </p:nvSpPr>
        <p:spPr>
          <a:xfrm>
            <a:off x="804672" y="2331720"/>
            <a:ext cx="1764792" cy="2770632"/>
          </a:xfrm>
          <a:prstGeom prst="rect">
            <a:avLst/>
          </a:prstGeom>
          <a:noFill/>
        </p:spPr>
        <p:txBody>
          <a:bodyPr wrap="square" lIns="0" tIns="0" rIns="0" bIns="0" anchor="t">
            <a:spAutoFit/>
          </a:bodyPr>
          <a:lstStyle/>
          <a:p>
            <a:pPr algn="l">
              <a:lnSpc>
                <a:spcPct val="112000"/>
              </a:lnSpc>
              <a:spcAft>
                <a:spcPts val="0"/>
              </a:spcAft>
            </a:pPr>
            <a:r>
              <a:rPr sz="1680" b="0" i="0">
                <a:solidFill>
                  <a:srgbClr val="222833"/>
                </a:solidFill>
                <a:latin typeface="微软雅黑"/>
              </a:rPr>
              <a:t>质量、摩擦、惯性、制造公差、磨损、温湿度等。</a:t>
            </a:r>
          </a:p>
        </p:txBody>
      </p:sp>
      <p:sp>
        <p:nvSpPr>
          <p:cNvPr id="13" name="Rounded Rectangle 12"/>
          <p:cNvSpPr/>
          <p:nvPr/>
        </p:nvSpPr>
        <p:spPr>
          <a:xfrm>
            <a:off x="2852928" y="1645920"/>
            <a:ext cx="2148840" cy="3611880"/>
          </a:xfrm>
          <a:prstGeom prst="roundRect">
            <a:avLst>
              <a:gd name="adj" fmla="val 7684"/>
            </a:avLst>
          </a:prstGeom>
          <a:solidFill>
            <a:srgbClr val="FFFFFF"/>
          </a:solidFill>
          <a:ln w="10160">
            <a:solidFill>
              <a:srgbClr val="E0E5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2852928" y="1645920"/>
            <a:ext cx="64008" cy="3611880"/>
          </a:xfrm>
          <a:prstGeom prst="rect">
            <a:avLst/>
          </a:prstGeom>
          <a:solidFill>
            <a:srgbClr val="2F8E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3063240" y="1792224"/>
            <a:ext cx="1764792" cy="347472"/>
          </a:xfrm>
          <a:prstGeom prst="rect">
            <a:avLst/>
          </a:prstGeom>
          <a:noFill/>
        </p:spPr>
        <p:txBody>
          <a:bodyPr wrap="square" lIns="0" tIns="0" rIns="0" bIns="0" anchor="t">
            <a:spAutoFit/>
          </a:bodyPr>
          <a:lstStyle/>
          <a:p>
            <a:pPr algn="l">
              <a:lnSpc>
                <a:spcPct val="112000"/>
              </a:lnSpc>
              <a:spcAft>
                <a:spcPts val="0"/>
              </a:spcAft>
            </a:pPr>
            <a:r>
              <a:rPr sz="1900" b="1" i="0">
                <a:solidFill>
                  <a:srgbClr val="2F8E72"/>
                </a:solidFill>
                <a:latin typeface="微软雅黑"/>
              </a:rPr>
              <a:t>传感器与感知差异</a:t>
            </a:r>
          </a:p>
        </p:txBody>
      </p:sp>
      <p:sp>
        <p:nvSpPr>
          <p:cNvPr id="16" name="TextBox 15"/>
          <p:cNvSpPr txBox="1"/>
          <p:nvPr/>
        </p:nvSpPr>
        <p:spPr>
          <a:xfrm>
            <a:off x="3063240" y="2331720"/>
            <a:ext cx="1764792" cy="2770632"/>
          </a:xfrm>
          <a:prstGeom prst="rect">
            <a:avLst/>
          </a:prstGeom>
          <a:noFill/>
        </p:spPr>
        <p:txBody>
          <a:bodyPr wrap="square" lIns="0" tIns="0" rIns="0" bIns="0" anchor="t">
            <a:spAutoFit/>
          </a:bodyPr>
          <a:lstStyle/>
          <a:p>
            <a:pPr algn="l">
              <a:lnSpc>
                <a:spcPct val="112000"/>
              </a:lnSpc>
              <a:spcAft>
                <a:spcPts val="0"/>
              </a:spcAft>
            </a:pPr>
            <a:r>
              <a:rPr sz="1680" b="0" i="0">
                <a:solidFill>
                  <a:srgbClr val="222833"/>
                </a:solidFill>
                <a:latin typeface="微软雅黑"/>
              </a:rPr>
              <a:t>相机畸变、光照变化、LiDAR 噪声、触觉延迟等。</a:t>
            </a:r>
          </a:p>
        </p:txBody>
      </p:sp>
      <p:sp>
        <p:nvSpPr>
          <p:cNvPr id="17" name="Rounded Rectangle 16"/>
          <p:cNvSpPr/>
          <p:nvPr/>
        </p:nvSpPr>
        <p:spPr>
          <a:xfrm>
            <a:off x="5111496" y="1645920"/>
            <a:ext cx="2148840" cy="3611880"/>
          </a:xfrm>
          <a:prstGeom prst="roundRect">
            <a:avLst>
              <a:gd name="adj" fmla="val 2483"/>
            </a:avLst>
          </a:prstGeom>
          <a:solidFill>
            <a:srgbClr val="FFFFFF"/>
          </a:solidFill>
          <a:ln w="10160">
            <a:solidFill>
              <a:srgbClr val="E0E5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5111496" y="1645920"/>
            <a:ext cx="64008" cy="3611880"/>
          </a:xfrm>
          <a:prstGeom prst="rect">
            <a:avLst/>
          </a:prstGeom>
          <a:solidFill>
            <a:srgbClr val="C58A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5321808" y="1792224"/>
            <a:ext cx="1764792" cy="347472"/>
          </a:xfrm>
          <a:prstGeom prst="rect">
            <a:avLst/>
          </a:prstGeom>
          <a:noFill/>
        </p:spPr>
        <p:txBody>
          <a:bodyPr wrap="square" lIns="0" tIns="0" rIns="0" bIns="0" anchor="t">
            <a:spAutoFit/>
          </a:bodyPr>
          <a:lstStyle/>
          <a:p>
            <a:pPr algn="l">
              <a:lnSpc>
                <a:spcPct val="112000"/>
              </a:lnSpc>
              <a:spcAft>
                <a:spcPts val="0"/>
              </a:spcAft>
            </a:pPr>
            <a:r>
              <a:rPr sz="1900" b="1" i="0">
                <a:solidFill>
                  <a:srgbClr val="C58A24"/>
                </a:solidFill>
                <a:latin typeface="微软雅黑"/>
              </a:rPr>
              <a:t>建模误差</a:t>
            </a:r>
          </a:p>
        </p:txBody>
      </p:sp>
      <p:sp>
        <p:nvSpPr>
          <p:cNvPr id="20" name="TextBox 19"/>
          <p:cNvSpPr txBox="1"/>
          <p:nvPr/>
        </p:nvSpPr>
        <p:spPr>
          <a:xfrm>
            <a:off x="5321808" y="2331720"/>
            <a:ext cx="1764792" cy="2770632"/>
          </a:xfrm>
          <a:prstGeom prst="rect">
            <a:avLst/>
          </a:prstGeom>
          <a:noFill/>
        </p:spPr>
        <p:txBody>
          <a:bodyPr wrap="square" lIns="0" tIns="0" rIns="0" bIns="0" anchor="t">
            <a:spAutoFit/>
          </a:bodyPr>
          <a:lstStyle/>
          <a:p>
            <a:pPr algn="l">
              <a:lnSpc>
                <a:spcPct val="112000"/>
              </a:lnSpc>
              <a:spcAft>
                <a:spcPts val="0"/>
              </a:spcAft>
            </a:pPr>
            <a:r>
              <a:rPr sz="1680" b="0" i="0">
                <a:solidFill>
                  <a:srgbClr val="222833"/>
                </a:solidFill>
                <a:latin typeface="微软雅黑"/>
              </a:rPr>
              <a:t>柔性形变、空气阻力、地面形变、接触与摩擦模型简化。</a:t>
            </a:r>
          </a:p>
        </p:txBody>
      </p:sp>
      <p:sp>
        <p:nvSpPr>
          <p:cNvPr id="21" name="Rounded Rectangle 20"/>
          <p:cNvSpPr/>
          <p:nvPr/>
        </p:nvSpPr>
        <p:spPr>
          <a:xfrm>
            <a:off x="7370064" y="1645920"/>
            <a:ext cx="2148840" cy="3611880"/>
          </a:xfrm>
          <a:prstGeom prst="roundRect">
            <a:avLst>
              <a:gd name="adj" fmla="val 2719"/>
            </a:avLst>
          </a:prstGeom>
          <a:solidFill>
            <a:srgbClr val="FFFFFF"/>
          </a:solidFill>
          <a:ln w="10160">
            <a:solidFill>
              <a:srgbClr val="E0E5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7370064" y="1645920"/>
            <a:ext cx="64008" cy="3611880"/>
          </a:xfrm>
          <a:prstGeom prst="rect">
            <a:avLst/>
          </a:prstGeom>
          <a:solidFill>
            <a:srgbClr val="C63F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7580376" y="1792224"/>
            <a:ext cx="1764792" cy="347472"/>
          </a:xfrm>
          <a:prstGeom prst="rect">
            <a:avLst/>
          </a:prstGeom>
          <a:noFill/>
        </p:spPr>
        <p:txBody>
          <a:bodyPr wrap="square" lIns="0" tIns="0" rIns="0" bIns="0" anchor="t">
            <a:spAutoFit/>
          </a:bodyPr>
          <a:lstStyle/>
          <a:p>
            <a:pPr algn="l">
              <a:lnSpc>
                <a:spcPct val="112000"/>
              </a:lnSpc>
              <a:spcAft>
                <a:spcPts val="0"/>
              </a:spcAft>
            </a:pPr>
            <a:r>
              <a:rPr sz="1900" b="1" i="0">
                <a:solidFill>
                  <a:srgbClr val="C63F45"/>
                </a:solidFill>
                <a:latin typeface="微软雅黑"/>
              </a:rPr>
              <a:t>执行器与延迟</a:t>
            </a:r>
          </a:p>
        </p:txBody>
      </p:sp>
      <p:sp>
        <p:nvSpPr>
          <p:cNvPr id="24" name="TextBox 23"/>
          <p:cNvSpPr txBox="1"/>
          <p:nvPr/>
        </p:nvSpPr>
        <p:spPr>
          <a:xfrm>
            <a:off x="7580376" y="2331720"/>
            <a:ext cx="1764792" cy="2770632"/>
          </a:xfrm>
          <a:prstGeom prst="rect">
            <a:avLst/>
          </a:prstGeom>
          <a:noFill/>
        </p:spPr>
        <p:txBody>
          <a:bodyPr wrap="square" lIns="0" tIns="0" rIns="0" bIns="0" anchor="t">
            <a:spAutoFit/>
          </a:bodyPr>
          <a:lstStyle/>
          <a:p>
            <a:pPr algn="l">
              <a:lnSpc>
                <a:spcPct val="112000"/>
              </a:lnSpc>
              <a:spcAft>
                <a:spcPts val="0"/>
              </a:spcAft>
            </a:pPr>
            <a:r>
              <a:rPr sz="1680" b="0" i="0">
                <a:solidFill>
                  <a:srgbClr val="222833"/>
                </a:solidFill>
                <a:latin typeface="微软雅黑"/>
              </a:rPr>
              <a:t>通信延迟、执行器饱和、控制回路延迟。</a:t>
            </a:r>
          </a:p>
        </p:txBody>
      </p:sp>
      <p:sp>
        <p:nvSpPr>
          <p:cNvPr id="25" name="Rounded Rectangle 24"/>
          <p:cNvSpPr/>
          <p:nvPr/>
        </p:nvSpPr>
        <p:spPr>
          <a:xfrm>
            <a:off x="9628632" y="1645920"/>
            <a:ext cx="1965960" cy="3611880"/>
          </a:xfrm>
          <a:prstGeom prst="roundRect">
            <a:avLst>
              <a:gd name="adj" fmla="val 2714"/>
            </a:avLst>
          </a:prstGeom>
          <a:solidFill>
            <a:srgbClr val="FFFFFF"/>
          </a:solidFill>
          <a:ln w="10160">
            <a:solidFill>
              <a:srgbClr val="E0E5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ectangle 25"/>
          <p:cNvSpPr/>
          <p:nvPr/>
        </p:nvSpPr>
        <p:spPr>
          <a:xfrm>
            <a:off x="9628632" y="1645920"/>
            <a:ext cx="64008" cy="3611880"/>
          </a:xfrm>
          <a:prstGeom prst="rect">
            <a:avLst/>
          </a:prstGeom>
          <a:solidFill>
            <a:srgbClr val="7558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9838944" y="1792224"/>
            <a:ext cx="1581912" cy="347472"/>
          </a:xfrm>
          <a:prstGeom prst="rect">
            <a:avLst/>
          </a:prstGeom>
          <a:noFill/>
        </p:spPr>
        <p:txBody>
          <a:bodyPr wrap="square" lIns="0" tIns="0" rIns="0" bIns="0" anchor="t">
            <a:spAutoFit/>
          </a:bodyPr>
          <a:lstStyle/>
          <a:p>
            <a:pPr algn="l">
              <a:lnSpc>
                <a:spcPct val="112000"/>
              </a:lnSpc>
              <a:spcAft>
                <a:spcPts val="0"/>
              </a:spcAft>
            </a:pPr>
            <a:r>
              <a:rPr sz="1900" b="1" i="0">
                <a:solidFill>
                  <a:srgbClr val="7558A8"/>
                </a:solidFill>
                <a:latin typeface="微软雅黑"/>
              </a:rPr>
              <a:t>触觉与多模态</a:t>
            </a:r>
          </a:p>
        </p:txBody>
      </p:sp>
      <p:sp>
        <p:nvSpPr>
          <p:cNvPr id="28" name="TextBox 27"/>
          <p:cNvSpPr txBox="1"/>
          <p:nvPr/>
        </p:nvSpPr>
        <p:spPr>
          <a:xfrm>
            <a:off x="9838944" y="2331720"/>
            <a:ext cx="1581912" cy="2770632"/>
          </a:xfrm>
          <a:prstGeom prst="rect">
            <a:avLst/>
          </a:prstGeom>
          <a:noFill/>
        </p:spPr>
        <p:txBody>
          <a:bodyPr wrap="square" lIns="0" tIns="0" rIns="0" bIns="0" anchor="t">
            <a:spAutoFit/>
          </a:bodyPr>
          <a:lstStyle/>
          <a:p>
            <a:pPr algn="l">
              <a:lnSpc>
                <a:spcPct val="112000"/>
              </a:lnSpc>
              <a:spcAft>
                <a:spcPts val="0"/>
              </a:spcAft>
            </a:pPr>
            <a:r>
              <a:rPr sz="1680" b="0" i="0">
                <a:solidFill>
                  <a:srgbClr val="222833"/>
                </a:solidFill>
                <a:latin typeface="微软雅黑"/>
              </a:rPr>
              <a:t>软体形变和接触反馈难以在仿真中精确复现。</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18872" cy="6858000"/>
          </a:xfrm>
          <a:prstGeom prst="rect">
            <a:avLst/>
          </a:prstGeom>
          <a:solidFill>
            <a:srgbClr val="3159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118872" y="0"/>
            <a:ext cx="41148" cy="6858000"/>
          </a:xfrm>
          <a:prstGeom prst="rect">
            <a:avLst/>
          </a:prstGeom>
          <a:solidFill>
            <a:srgbClr val="B7C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38912" y="137160"/>
            <a:ext cx="3474720" cy="164592"/>
          </a:xfrm>
          <a:prstGeom prst="rect">
            <a:avLst/>
          </a:prstGeom>
          <a:noFill/>
        </p:spPr>
        <p:txBody>
          <a:bodyPr wrap="square" lIns="0" tIns="0" rIns="0" bIns="0" anchor="t">
            <a:spAutoFit/>
          </a:bodyPr>
          <a:lstStyle/>
          <a:p>
            <a:pPr algn="l">
              <a:lnSpc>
                <a:spcPct val="112000"/>
              </a:lnSpc>
              <a:spcAft>
                <a:spcPts val="0"/>
              </a:spcAft>
            </a:pPr>
            <a:r>
              <a:rPr sz="1050" b="0" i="0">
                <a:solidFill>
                  <a:srgbClr val="8C98AA"/>
                </a:solidFill>
                <a:latin typeface="微软雅黑"/>
              </a:rPr>
              <a:t>具身智能导论 · 第 9 章</a:t>
            </a:r>
          </a:p>
        </p:txBody>
      </p:sp>
      <p:sp>
        <p:nvSpPr>
          <p:cNvPr id="5" name="TextBox 4"/>
          <p:cNvSpPr txBox="1"/>
          <p:nvPr/>
        </p:nvSpPr>
        <p:spPr>
          <a:xfrm>
            <a:off x="9144000" y="137160"/>
            <a:ext cx="2423160" cy="164592"/>
          </a:xfrm>
          <a:prstGeom prst="rect">
            <a:avLst/>
          </a:prstGeom>
          <a:noFill/>
        </p:spPr>
        <p:txBody>
          <a:bodyPr wrap="square" lIns="0" tIns="0" rIns="0" bIns="0" anchor="t">
            <a:spAutoFit/>
          </a:bodyPr>
          <a:lstStyle/>
          <a:p>
            <a:pPr algn="r">
              <a:lnSpc>
                <a:spcPct val="112000"/>
              </a:lnSpc>
              <a:spcAft>
                <a:spcPts val="0"/>
              </a:spcAft>
            </a:pPr>
            <a:r>
              <a:rPr sz="1050" b="0" i="0">
                <a:solidFill>
                  <a:srgbClr val="8C98AA"/>
                </a:solidFill>
                <a:latin typeface="微软雅黑"/>
              </a:rPr>
              <a:t>虚实迁移技术</a:t>
            </a:r>
          </a:p>
        </p:txBody>
      </p:sp>
      <p:sp>
        <p:nvSpPr>
          <p:cNvPr id="6" name="TextBox 5"/>
          <p:cNvSpPr txBox="1"/>
          <p:nvPr/>
        </p:nvSpPr>
        <p:spPr>
          <a:xfrm>
            <a:off x="502920" y="457200"/>
            <a:ext cx="10927080" cy="749808"/>
          </a:xfrm>
          <a:prstGeom prst="rect">
            <a:avLst/>
          </a:prstGeom>
          <a:noFill/>
        </p:spPr>
        <p:txBody>
          <a:bodyPr wrap="square" lIns="0" tIns="0" rIns="0" bIns="0" anchor="t">
            <a:spAutoFit/>
          </a:bodyPr>
          <a:lstStyle/>
          <a:p>
            <a:pPr algn="l">
              <a:lnSpc>
                <a:spcPct val="112000"/>
              </a:lnSpc>
              <a:spcAft>
                <a:spcPts val="0"/>
              </a:spcAft>
            </a:pPr>
            <a:r>
              <a:rPr sz="3500" b="1" i="0">
                <a:solidFill>
                  <a:srgbClr val="24477D"/>
                </a:solidFill>
                <a:latin typeface="微软雅黑"/>
              </a:rPr>
              <a:t>域差距①：物理参数差异</a:t>
            </a:r>
          </a:p>
        </p:txBody>
      </p:sp>
      <p:sp>
        <p:nvSpPr>
          <p:cNvPr id="7" name="Rectangle 6"/>
          <p:cNvSpPr/>
          <p:nvPr/>
        </p:nvSpPr>
        <p:spPr>
          <a:xfrm>
            <a:off x="502920" y="1353312"/>
            <a:ext cx="11109960" cy="9144"/>
          </a:xfrm>
          <a:prstGeom prst="rect">
            <a:avLst/>
          </a:prstGeom>
          <a:solidFill>
            <a:srgbClr val="D8DE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1457432" y="6473952"/>
            <a:ext cx="347472" cy="164592"/>
          </a:xfrm>
          <a:prstGeom prst="rect">
            <a:avLst/>
          </a:prstGeom>
          <a:noFill/>
        </p:spPr>
        <p:txBody>
          <a:bodyPr wrap="square" lIns="0" tIns="0" rIns="0" bIns="0" anchor="t">
            <a:spAutoFit/>
          </a:bodyPr>
          <a:lstStyle/>
          <a:p>
            <a:pPr algn="r">
              <a:lnSpc>
                <a:spcPct val="112000"/>
              </a:lnSpc>
              <a:spcAft>
                <a:spcPts val="0"/>
              </a:spcAft>
            </a:pPr>
            <a:r>
              <a:rPr sz="1050" b="0" i="0">
                <a:solidFill>
                  <a:srgbClr val="8C98AA"/>
                </a:solidFill>
                <a:latin typeface="微软雅黑"/>
              </a:rPr>
              <a:t>23</a:t>
            </a:r>
          </a:p>
        </p:txBody>
      </p:sp>
      <p:sp>
        <p:nvSpPr>
          <p:cNvPr id="9" name="TextBox 8"/>
          <p:cNvSpPr txBox="1"/>
          <p:nvPr/>
        </p:nvSpPr>
        <p:spPr>
          <a:xfrm>
            <a:off x="749808" y="1691640"/>
            <a:ext cx="10378440" cy="2926080"/>
          </a:xfrm>
          <a:prstGeom prst="rect">
            <a:avLst/>
          </a:prstGeom>
          <a:noFill/>
        </p:spPr>
        <p:txBody>
          <a:bodyPr wrap="square" lIns="0" tIns="0" rIns="0" bIns="0">
            <a:spAutoFit/>
          </a:bodyPr>
          <a:lstStyle/>
          <a:p>
            <a:pPr>
              <a:lnSpc>
                <a:spcPct val="112000"/>
              </a:lnSpc>
              <a:spcAft>
                <a:spcPts val="700"/>
              </a:spcAft>
            </a:pPr>
            <a:r>
              <a:rPr sz="2150" b="0">
                <a:solidFill>
                  <a:srgbClr val="222833"/>
                </a:solidFill>
                <a:latin typeface="微软雅黑"/>
              </a:rPr>
              <a:t>• </a:t>
            </a:r>
            <a:r>
              <a:rPr sz="2150">
                <a:solidFill>
                  <a:srgbClr val="222833"/>
                </a:solidFill>
                <a:latin typeface="微软雅黑"/>
              </a:rPr>
              <a:t>仿真通常采用理想化动力学模型，现实系统则受到制造公差、磨损、温度和湿度等影响。</a:t>
            </a:r>
          </a:p>
          <a:p>
            <a:pPr>
              <a:lnSpc>
                <a:spcPct val="112000"/>
              </a:lnSpc>
              <a:spcAft>
                <a:spcPts val="700"/>
              </a:spcAft>
            </a:pPr>
            <a:r>
              <a:rPr sz="2150" b="0">
                <a:solidFill>
                  <a:srgbClr val="222833"/>
                </a:solidFill>
                <a:latin typeface="微软雅黑"/>
              </a:rPr>
              <a:t>• </a:t>
            </a:r>
            <a:r>
              <a:rPr sz="2150">
                <a:solidFill>
                  <a:srgbClr val="222833"/>
                </a:solidFill>
                <a:latin typeface="微软雅黑"/>
              </a:rPr>
              <a:t>仿真中的关节摩擦系数可能固定为常数，现实中却随时间与负载动态变化。</a:t>
            </a:r>
          </a:p>
          <a:p>
            <a:pPr>
              <a:lnSpc>
                <a:spcPct val="112000"/>
              </a:lnSpc>
              <a:spcAft>
                <a:spcPts val="700"/>
              </a:spcAft>
            </a:pPr>
            <a:r>
              <a:rPr sz="2150" b="0">
                <a:solidFill>
                  <a:srgbClr val="222833"/>
                </a:solidFill>
                <a:latin typeface="微软雅黑"/>
              </a:rPr>
              <a:t>• </a:t>
            </a:r>
            <a:r>
              <a:rPr sz="2150">
                <a:solidFill>
                  <a:srgbClr val="222833"/>
                </a:solidFill>
                <a:latin typeface="微软雅黑"/>
              </a:rPr>
              <a:t>机械臂实际惯性矩阵与仿真模型存在偏差，会直接改变状态转移概率。</a:t>
            </a:r>
          </a:p>
        </p:txBody>
      </p:sp>
      <p:sp>
        <p:nvSpPr>
          <p:cNvPr id="10" name="TextBox 9"/>
          <p:cNvSpPr txBox="1"/>
          <p:nvPr/>
        </p:nvSpPr>
        <p:spPr>
          <a:xfrm>
            <a:off x="640080" y="5120640"/>
            <a:ext cx="10972800" cy="502920"/>
          </a:xfrm>
          <a:prstGeom prst="rect">
            <a:avLst/>
          </a:prstGeom>
          <a:noFill/>
        </p:spPr>
        <p:txBody>
          <a:bodyPr wrap="square" lIns="0" tIns="0" rIns="0" bIns="0" anchor="ctr">
            <a:spAutoFit/>
          </a:bodyPr>
          <a:lstStyle/>
          <a:p>
            <a:pPr algn="ctr">
              <a:lnSpc>
                <a:spcPct val="112000"/>
              </a:lnSpc>
              <a:spcAft>
                <a:spcPts val="0"/>
              </a:spcAft>
            </a:pPr>
            <a:r>
              <a:rPr sz="2000" b="1" i="0">
                <a:solidFill>
                  <a:srgbClr val="24477D"/>
                </a:solidFill>
                <a:latin typeface="微软雅黑"/>
              </a:rPr>
              <a:t>动力学参数的微小偏差，会在长时间控制中形成累积误差。</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18872" cy="6858000"/>
          </a:xfrm>
          <a:prstGeom prst="rect">
            <a:avLst/>
          </a:prstGeom>
          <a:solidFill>
            <a:srgbClr val="3159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118872" y="0"/>
            <a:ext cx="41148" cy="6858000"/>
          </a:xfrm>
          <a:prstGeom prst="rect">
            <a:avLst/>
          </a:prstGeom>
          <a:solidFill>
            <a:srgbClr val="B7C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38912" y="137160"/>
            <a:ext cx="3474720" cy="164592"/>
          </a:xfrm>
          <a:prstGeom prst="rect">
            <a:avLst/>
          </a:prstGeom>
          <a:noFill/>
        </p:spPr>
        <p:txBody>
          <a:bodyPr wrap="square" lIns="0" tIns="0" rIns="0" bIns="0" anchor="t">
            <a:spAutoFit/>
          </a:bodyPr>
          <a:lstStyle/>
          <a:p>
            <a:pPr algn="l">
              <a:lnSpc>
                <a:spcPct val="112000"/>
              </a:lnSpc>
              <a:spcAft>
                <a:spcPts val="0"/>
              </a:spcAft>
            </a:pPr>
            <a:r>
              <a:rPr sz="1050" b="0" i="0">
                <a:solidFill>
                  <a:srgbClr val="8C98AA"/>
                </a:solidFill>
                <a:latin typeface="微软雅黑"/>
              </a:rPr>
              <a:t>具身智能导论 · 第 9 章</a:t>
            </a:r>
          </a:p>
        </p:txBody>
      </p:sp>
      <p:sp>
        <p:nvSpPr>
          <p:cNvPr id="5" name="TextBox 4"/>
          <p:cNvSpPr txBox="1"/>
          <p:nvPr/>
        </p:nvSpPr>
        <p:spPr>
          <a:xfrm>
            <a:off x="9144000" y="137160"/>
            <a:ext cx="2423160" cy="164592"/>
          </a:xfrm>
          <a:prstGeom prst="rect">
            <a:avLst/>
          </a:prstGeom>
          <a:noFill/>
        </p:spPr>
        <p:txBody>
          <a:bodyPr wrap="square" lIns="0" tIns="0" rIns="0" bIns="0" anchor="t">
            <a:spAutoFit/>
          </a:bodyPr>
          <a:lstStyle/>
          <a:p>
            <a:pPr algn="r">
              <a:lnSpc>
                <a:spcPct val="112000"/>
              </a:lnSpc>
              <a:spcAft>
                <a:spcPts val="0"/>
              </a:spcAft>
            </a:pPr>
            <a:r>
              <a:rPr sz="1050" b="0" i="0">
                <a:solidFill>
                  <a:srgbClr val="8C98AA"/>
                </a:solidFill>
                <a:latin typeface="微软雅黑"/>
              </a:rPr>
              <a:t>虚实迁移技术</a:t>
            </a:r>
          </a:p>
        </p:txBody>
      </p:sp>
      <p:sp>
        <p:nvSpPr>
          <p:cNvPr id="6" name="TextBox 5"/>
          <p:cNvSpPr txBox="1"/>
          <p:nvPr/>
        </p:nvSpPr>
        <p:spPr>
          <a:xfrm>
            <a:off x="502920" y="457200"/>
            <a:ext cx="10927080" cy="749808"/>
          </a:xfrm>
          <a:prstGeom prst="rect">
            <a:avLst/>
          </a:prstGeom>
          <a:noFill/>
        </p:spPr>
        <p:txBody>
          <a:bodyPr wrap="square" lIns="0" tIns="0" rIns="0" bIns="0" anchor="t">
            <a:spAutoFit/>
          </a:bodyPr>
          <a:lstStyle/>
          <a:p>
            <a:pPr algn="l">
              <a:lnSpc>
                <a:spcPct val="112000"/>
              </a:lnSpc>
              <a:spcAft>
                <a:spcPts val="0"/>
              </a:spcAft>
            </a:pPr>
            <a:r>
              <a:rPr sz="3500" b="1" i="0">
                <a:solidFill>
                  <a:srgbClr val="24477D"/>
                </a:solidFill>
                <a:latin typeface="微软雅黑"/>
              </a:rPr>
              <a:t>域差距②：传感器噪声与感知不一致</a:t>
            </a:r>
          </a:p>
        </p:txBody>
      </p:sp>
      <p:sp>
        <p:nvSpPr>
          <p:cNvPr id="7" name="Rectangle 6"/>
          <p:cNvSpPr/>
          <p:nvPr/>
        </p:nvSpPr>
        <p:spPr>
          <a:xfrm>
            <a:off x="502920" y="1353312"/>
            <a:ext cx="11109960" cy="9144"/>
          </a:xfrm>
          <a:prstGeom prst="rect">
            <a:avLst/>
          </a:prstGeom>
          <a:solidFill>
            <a:srgbClr val="D8DE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1457432" y="6473952"/>
            <a:ext cx="347472" cy="164592"/>
          </a:xfrm>
          <a:prstGeom prst="rect">
            <a:avLst/>
          </a:prstGeom>
          <a:noFill/>
        </p:spPr>
        <p:txBody>
          <a:bodyPr wrap="square" lIns="0" tIns="0" rIns="0" bIns="0" anchor="t">
            <a:spAutoFit/>
          </a:bodyPr>
          <a:lstStyle/>
          <a:p>
            <a:pPr algn="r">
              <a:lnSpc>
                <a:spcPct val="112000"/>
              </a:lnSpc>
              <a:spcAft>
                <a:spcPts val="0"/>
              </a:spcAft>
            </a:pPr>
            <a:r>
              <a:rPr sz="1050" b="0" i="0">
                <a:solidFill>
                  <a:srgbClr val="8C98AA"/>
                </a:solidFill>
                <a:latin typeface="微软雅黑"/>
              </a:rPr>
              <a:t>24</a:t>
            </a:r>
          </a:p>
        </p:txBody>
      </p:sp>
      <p:sp>
        <p:nvSpPr>
          <p:cNvPr id="9" name="TextBox 8"/>
          <p:cNvSpPr txBox="1"/>
          <p:nvPr/>
        </p:nvSpPr>
        <p:spPr>
          <a:xfrm>
            <a:off x="749808" y="1691640"/>
            <a:ext cx="10378440" cy="2926080"/>
          </a:xfrm>
          <a:prstGeom prst="rect">
            <a:avLst/>
          </a:prstGeom>
          <a:noFill/>
        </p:spPr>
        <p:txBody>
          <a:bodyPr wrap="square" lIns="0" tIns="0" rIns="0" bIns="0">
            <a:spAutoFit/>
          </a:bodyPr>
          <a:lstStyle/>
          <a:p>
            <a:pPr>
              <a:lnSpc>
                <a:spcPct val="112000"/>
              </a:lnSpc>
              <a:spcAft>
                <a:spcPts val="700"/>
              </a:spcAft>
            </a:pPr>
            <a:r>
              <a:rPr sz="2150" b="0">
                <a:solidFill>
                  <a:srgbClr val="222833"/>
                </a:solidFill>
                <a:latin typeface="微软雅黑"/>
              </a:rPr>
              <a:t>• </a:t>
            </a:r>
            <a:r>
              <a:rPr sz="2150">
                <a:solidFill>
                  <a:srgbClr val="222833"/>
                </a:solidFill>
                <a:latin typeface="微软雅黑"/>
              </a:rPr>
              <a:t>仿真传感器常输出理想、无噪数据，而现实中存在相机畸变、光照变化、激光雷达噪声、触觉延迟等。</a:t>
            </a:r>
          </a:p>
          <a:p>
            <a:pPr>
              <a:lnSpc>
                <a:spcPct val="112000"/>
              </a:lnSpc>
              <a:spcAft>
                <a:spcPts val="700"/>
              </a:spcAft>
            </a:pPr>
            <a:r>
              <a:rPr sz="2150" b="0">
                <a:solidFill>
                  <a:srgbClr val="222833"/>
                </a:solidFill>
                <a:latin typeface="微软雅黑"/>
              </a:rPr>
              <a:t>• </a:t>
            </a:r>
            <a:r>
              <a:rPr sz="2150">
                <a:solidFill>
                  <a:srgbClr val="222833"/>
                </a:solidFill>
                <a:latin typeface="微软雅黑"/>
              </a:rPr>
              <a:t>这些差异会造成观测空间分布显著偏移。</a:t>
            </a:r>
          </a:p>
          <a:p>
            <a:pPr>
              <a:lnSpc>
                <a:spcPct val="112000"/>
              </a:lnSpc>
              <a:spcAft>
                <a:spcPts val="700"/>
              </a:spcAft>
            </a:pPr>
            <a:r>
              <a:rPr sz="2150" b="0">
                <a:solidFill>
                  <a:srgbClr val="222833"/>
                </a:solidFill>
                <a:latin typeface="微软雅黑"/>
              </a:rPr>
              <a:t>• </a:t>
            </a:r>
            <a:r>
              <a:rPr sz="2150">
                <a:solidFill>
                  <a:srgbClr val="222833"/>
                </a:solidFill>
                <a:latin typeface="微软雅黑"/>
              </a:rPr>
              <a:t>在视觉主导任务中，观测函数 O 的差距往往是策略失效的首要原因。</a:t>
            </a:r>
          </a:p>
        </p:txBody>
      </p:sp>
      <p:sp>
        <p:nvSpPr>
          <p:cNvPr id="10" name="TextBox 9"/>
          <p:cNvSpPr txBox="1"/>
          <p:nvPr/>
        </p:nvSpPr>
        <p:spPr>
          <a:xfrm>
            <a:off x="640080" y="5102352"/>
            <a:ext cx="10972800" cy="502920"/>
          </a:xfrm>
          <a:prstGeom prst="rect">
            <a:avLst/>
          </a:prstGeom>
          <a:noFill/>
        </p:spPr>
        <p:txBody>
          <a:bodyPr wrap="square" lIns="0" tIns="0" rIns="0" bIns="0" anchor="ctr">
            <a:spAutoFit/>
          </a:bodyPr>
          <a:lstStyle/>
          <a:p>
            <a:pPr algn="ctr">
              <a:lnSpc>
                <a:spcPct val="112000"/>
              </a:lnSpc>
              <a:spcAft>
                <a:spcPts val="0"/>
              </a:spcAft>
            </a:pPr>
            <a:r>
              <a:rPr sz="1920" b="1" i="0">
                <a:solidFill>
                  <a:srgbClr val="24477D"/>
                </a:solidFill>
                <a:latin typeface="微软雅黑"/>
              </a:rPr>
              <a:t>看起来只是“画面变化”，对端到端策略而言却可能等价于“换了一个任务分布”。</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18872" cy="6858000"/>
          </a:xfrm>
          <a:prstGeom prst="rect">
            <a:avLst/>
          </a:prstGeom>
          <a:solidFill>
            <a:srgbClr val="3159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118872" y="0"/>
            <a:ext cx="41148" cy="6858000"/>
          </a:xfrm>
          <a:prstGeom prst="rect">
            <a:avLst/>
          </a:prstGeom>
          <a:solidFill>
            <a:srgbClr val="B7C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38912" y="137160"/>
            <a:ext cx="3474720" cy="164592"/>
          </a:xfrm>
          <a:prstGeom prst="rect">
            <a:avLst/>
          </a:prstGeom>
          <a:noFill/>
        </p:spPr>
        <p:txBody>
          <a:bodyPr wrap="square" lIns="0" tIns="0" rIns="0" bIns="0" anchor="t">
            <a:spAutoFit/>
          </a:bodyPr>
          <a:lstStyle/>
          <a:p>
            <a:pPr algn="l">
              <a:lnSpc>
                <a:spcPct val="112000"/>
              </a:lnSpc>
              <a:spcAft>
                <a:spcPts val="0"/>
              </a:spcAft>
            </a:pPr>
            <a:r>
              <a:rPr sz="1050" b="0" i="0">
                <a:solidFill>
                  <a:srgbClr val="8C98AA"/>
                </a:solidFill>
                <a:latin typeface="微软雅黑"/>
              </a:rPr>
              <a:t>具身智能导论 · 第 9 章</a:t>
            </a:r>
          </a:p>
        </p:txBody>
      </p:sp>
      <p:sp>
        <p:nvSpPr>
          <p:cNvPr id="5" name="TextBox 4"/>
          <p:cNvSpPr txBox="1"/>
          <p:nvPr/>
        </p:nvSpPr>
        <p:spPr>
          <a:xfrm>
            <a:off x="9144000" y="137160"/>
            <a:ext cx="2423160" cy="164592"/>
          </a:xfrm>
          <a:prstGeom prst="rect">
            <a:avLst/>
          </a:prstGeom>
          <a:noFill/>
        </p:spPr>
        <p:txBody>
          <a:bodyPr wrap="square" lIns="0" tIns="0" rIns="0" bIns="0" anchor="t">
            <a:spAutoFit/>
          </a:bodyPr>
          <a:lstStyle/>
          <a:p>
            <a:pPr algn="r">
              <a:lnSpc>
                <a:spcPct val="112000"/>
              </a:lnSpc>
              <a:spcAft>
                <a:spcPts val="0"/>
              </a:spcAft>
            </a:pPr>
            <a:r>
              <a:rPr sz="1050" b="0" i="0">
                <a:solidFill>
                  <a:srgbClr val="8C98AA"/>
                </a:solidFill>
                <a:latin typeface="微软雅黑"/>
              </a:rPr>
              <a:t>虚实迁移技术</a:t>
            </a:r>
          </a:p>
        </p:txBody>
      </p:sp>
      <p:sp>
        <p:nvSpPr>
          <p:cNvPr id="6" name="TextBox 5"/>
          <p:cNvSpPr txBox="1"/>
          <p:nvPr/>
        </p:nvSpPr>
        <p:spPr>
          <a:xfrm>
            <a:off x="502920" y="457200"/>
            <a:ext cx="10927080" cy="749808"/>
          </a:xfrm>
          <a:prstGeom prst="rect">
            <a:avLst/>
          </a:prstGeom>
          <a:noFill/>
        </p:spPr>
        <p:txBody>
          <a:bodyPr wrap="square" lIns="0" tIns="0" rIns="0" bIns="0" anchor="t">
            <a:spAutoFit/>
          </a:bodyPr>
          <a:lstStyle/>
          <a:p>
            <a:pPr algn="l">
              <a:lnSpc>
                <a:spcPct val="112000"/>
              </a:lnSpc>
              <a:spcAft>
                <a:spcPts val="0"/>
              </a:spcAft>
            </a:pPr>
            <a:r>
              <a:rPr sz="3500" b="1" i="0">
                <a:solidFill>
                  <a:srgbClr val="24477D"/>
                </a:solidFill>
                <a:latin typeface="微软雅黑"/>
              </a:rPr>
              <a:t>域差距③：建模误差与非线性动力学局限</a:t>
            </a:r>
          </a:p>
        </p:txBody>
      </p:sp>
      <p:sp>
        <p:nvSpPr>
          <p:cNvPr id="7" name="Rectangle 6"/>
          <p:cNvSpPr/>
          <p:nvPr/>
        </p:nvSpPr>
        <p:spPr>
          <a:xfrm>
            <a:off x="502920" y="1353312"/>
            <a:ext cx="11109960" cy="9144"/>
          </a:xfrm>
          <a:prstGeom prst="rect">
            <a:avLst/>
          </a:prstGeom>
          <a:solidFill>
            <a:srgbClr val="D8DE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1457432" y="6473952"/>
            <a:ext cx="347472" cy="164592"/>
          </a:xfrm>
          <a:prstGeom prst="rect">
            <a:avLst/>
          </a:prstGeom>
          <a:noFill/>
        </p:spPr>
        <p:txBody>
          <a:bodyPr wrap="square" lIns="0" tIns="0" rIns="0" bIns="0" anchor="t">
            <a:spAutoFit/>
          </a:bodyPr>
          <a:lstStyle/>
          <a:p>
            <a:pPr algn="r">
              <a:lnSpc>
                <a:spcPct val="112000"/>
              </a:lnSpc>
              <a:spcAft>
                <a:spcPts val="0"/>
              </a:spcAft>
            </a:pPr>
            <a:r>
              <a:rPr sz="1050" b="0" i="0">
                <a:solidFill>
                  <a:srgbClr val="8C98AA"/>
                </a:solidFill>
                <a:latin typeface="微软雅黑"/>
              </a:rPr>
              <a:t>25</a:t>
            </a:r>
          </a:p>
        </p:txBody>
      </p:sp>
      <p:sp>
        <p:nvSpPr>
          <p:cNvPr id="9" name="TextBox 8"/>
          <p:cNvSpPr txBox="1"/>
          <p:nvPr/>
        </p:nvSpPr>
        <p:spPr>
          <a:xfrm>
            <a:off x="749808" y="1664208"/>
            <a:ext cx="10332720" cy="3291840"/>
          </a:xfrm>
          <a:prstGeom prst="rect">
            <a:avLst/>
          </a:prstGeom>
          <a:noFill/>
        </p:spPr>
        <p:txBody>
          <a:bodyPr wrap="square" lIns="0" tIns="0" rIns="0" bIns="0">
            <a:spAutoFit/>
          </a:bodyPr>
          <a:lstStyle/>
          <a:p>
            <a:pPr>
              <a:lnSpc>
                <a:spcPct val="112000"/>
              </a:lnSpc>
              <a:spcAft>
                <a:spcPts val="700"/>
              </a:spcAft>
            </a:pPr>
            <a:r>
              <a:rPr sz="2050" b="0">
                <a:solidFill>
                  <a:srgbClr val="222833"/>
                </a:solidFill>
                <a:latin typeface="微软雅黑"/>
              </a:rPr>
              <a:t>• </a:t>
            </a:r>
            <a:r>
              <a:rPr sz="2050">
                <a:solidFill>
                  <a:srgbClr val="222833"/>
                </a:solidFill>
                <a:latin typeface="微软雅黑"/>
              </a:rPr>
              <a:t>仿真难以完美捕捉柔性形变、空气阻力、地面形变等复杂现象，误差会随轨迹累积。</a:t>
            </a:r>
          </a:p>
          <a:p>
            <a:pPr>
              <a:lnSpc>
                <a:spcPct val="112000"/>
              </a:lnSpc>
              <a:spcAft>
                <a:spcPts val="700"/>
              </a:spcAft>
            </a:pPr>
            <a:r>
              <a:rPr sz="2050" b="0">
                <a:solidFill>
                  <a:srgbClr val="222833"/>
                </a:solidFill>
                <a:latin typeface="微软雅黑"/>
              </a:rPr>
              <a:t>• </a:t>
            </a:r>
            <a:r>
              <a:rPr sz="2050">
                <a:solidFill>
                  <a:srgbClr val="222833"/>
                </a:solidFill>
                <a:latin typeface="微软雅黑"/>
              </a:rPr>
              <a:t>MuJoCo、Isaac Lab 等仿真器在接触动力学离散化与摩擦模型简化方面存在固有限制。</a:t>
            </a:r>
          </a:p>
          <a:p>
            <a:pPr>
              <a:lnSpc>
                <a:spcPct val="112000"/>
              </a:lnSpc>
              <a:spcAft>
                <a:spcPts val="700"/>
              </a:spcAft>
            </a:pPr>
            <a:r>
              <a:rPr sz="2050" b="0">
                <a:solidFill>
                  <a:srgbClr val="222833"/>
                </a:solidFill>
                <a:latin typeface="微软雅黑"/>
              </a:rPr>
              <a:t>• </a:t>
            </a:r>
            <a:r>
              <a:rPr sz="2050">
                <a:solidFill>
                  <a:srgbClr val="222833"/>
                </a:solidFill>
                <a:latin typeface="微软雅黑"/>
              </a:rPr>
              <a:t>理想 Coulomb 摩擦与现实 Stribeck 效应之间的差异、高频振动模态缺失等都会放大域差距。</a:t>
            </a:r>
          </a:p>
        </p:txBody>
      </p:sp>
      <p:sp>
        <p:nvSpPr>
          <p:cNvPr id="10" name="TextBox 9"/>
          <p:cNvSpPr txBox="1"/>
          <p:nvPr/>
        </p:nvSpPr>
        <p:spPr>
          <a:xfrm>
            <a:off x="640080" y="5193792"/>
            <a:ext cx="10972800" cy="502920"/>
          </a:xfrm>
          <a:prstGeom prst="rect">
            <a:avLst/>
          </a:prstGeom>
          <a:noFill/>
        </p:spPr>
        <p:txBody>
          <a:bodyPr wrap="square" lIns="0" tIns="0" rIns="0" bIns="0" anchor="ctr">
            <a:spAutoFit/>
          </a:bodyPr>
          <a:lstStyle/>
          <a:p>
            <a:pPr algn="ctr">
              <a:lnSpc>
                <a:spcPct val="112000"/>
              </a:lnSpc>
              <a:spcAft>
                <a:spcPts val="0"/>
              </a:spcAft>
            </a:pPr>
            <a:r>
              <a:rPr sz="2000" b="1" i="0">
                <a:solidFill>
                  <a:srgbClr val="24477D"/>
                </a:solidFill>
                <a:latin typeface="微软雅黑"/>
              </a:rPr>
              <a:t>接触密集任务越复杂，模型近似带来的误差通常越显著。</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18872" cy="6858000"/>
          </a:xfrm>
          <a:prstGeom prst="rect">
            <a:avLst/>
          </a:prstGeom>
          <a:solidFill>
            <a:srgbClr val="3159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118872" y="0"/>
            <a:ext cx="41148" cy="6858000"/>
          </a:xfrm>
          <a:prstGeom prst="rect">
            <a:avLst/>
          </a:prstGeom>
          <a:solidFill>
            <a:srgbClr val="B7C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38912" y="137160"/>
            <a:ext cx="3474720" cy="164592"/>
          </a:xfrm>
          <a:prstGeom prst="rect">
            <a:avLst/>
          </a:prstGeom>
          <a:noFill/>
        </p:spPr>
        <p:txBody>
          <a:bodyPr wrap="square" lIns="0" tIns="0" rIns="0" bIns="0" anchor="t">
            <a:spAutoFit/>
          </a:bodyPr>
          <a:lstStyle/>
          <a:p>
            <a:pPr algn="l">
              <a:lnSpc>
                <a:spcPct val="112000"/>
              </a:lnSpc>
              <a:spcAft>
                <a:spcPts val="0"/>
              </a:spcAft>
            </a:pPr>
            <a:r>
              <a:rPr sz="1050" b="0" i="0">
                <a:solidFill>
                  <a:srgbClr val="8C98AA"/>
                </a:solidFill>
                <a:latin typeface="微软雅黑"/>
              </a:rPr>
              <a:t>具身智能导论 · 第 9 章</a:t>
            </a:r>
          </a:p>
        </p:txBody>
      </p:sp>
      <p:sp>
        <p:nvSpPr>
          <p:cNvPr id="5" name="TextBox 4"/>
          <p:cNvSpPr txBox="1"/>
          <p:nvPr/>
        </p:nvSpPr>
        <p:spPr>
          <a:xfrm>
            <a:off x="9144000" y="137160"/>
            <a:ext cx="2423160" cy="164592"/>
          </a:xfrm>
          <a:prstGeom prst="rect">
            <a:avLst/>
          </a:prstGeom>
          <a:noFill/>
        </p:spPr>
        <p:txBody>
          <a:bodyPr wrap="square" lIns="0" tIns="0" rIns="0" bIns="0" anchor="t">
            <a:spAutoFit/>
          </a:bodyPr>
          <a:lstStyle/>
          <a:p>
            <a:pPr algn="r">
              <a:lnSpc>
                <a:spcPct val="112000"/>
              </a:lnSpc>
              <a:spcAft>
                <a:spcPts val="0"/>
              </a:spcAft>
            </a:pPr>
            <a:r>
              <a:rPr sz="1050" b="0" i="0">
                <a:solidFill>
                  <a:srgbClr val="8C98AA"/>
                </a:solidFill>
                <a:latin typeface="微软雅黑"/>
              </a:rPr>
              <a:t>虚实迁移技术</a:t>
            </a:r>
          </a:p>
        </p:txBody>
      </p:sp>
      <p:sp>
        <p:nvSpPr>
          <p:cNvPr id="6" name="TextBox 5"/>
          <p:cNvSpPr txBox="1"/>
          <p:nvPr/>
        </p:nvSpPr>
        <p:spPr>
          <a:xfrm>
            <a:off x="502920" y="457200"/>
            <a:ext cx="10927080" cy="749808"/>
          </a:xfrm>
          <a:prstGeom prst="rect">
            <a:avLst/>
          </a:prstGeom>
          <a:noFill/>
        </p:spPr>
        <p:txBody>
          <a:bodyPr wrap="square" lIns="0" tIns="0" rIns="0" bIns="0" anchor="t">
            <a:spAutoFit/>
          </a:bodyPr>
          <a:lstStyle/>
          <a:p>
            <a:pPr algn="l">
              <a:lnSpc>
                <a:spcPct val="112000"/>
              </a:lnSpc>
              <a:spcAft>
                <a:spcPts val="0"/>
              </a:spcAft>
            </a:pPr>
            <a:r>
              <a:rPr sz="3500" b="1" i="0">
                <a:solidFill>
                  <a:srgbClr val="24477D"/>
                </a:solidFill>
                <a:latin typeface="微软雅黑"/>
              </a:rPr>
              <a:t>域差距④⑤：执行器、延迟与多模态反馈</a:t>
            </a:r>
          </a:p>
        </p:txBody>
      </p:sp>
      <p:sp>
        <p:nvSpPr>
          <p:cNvPr id="7" name="Rectangle 6"/>
          <p:cNvSpPr/>
          <p:nvPr/>
        </p:nvSpPr>
        <p:spPr>
          <a:xfrm>
            <a:off x="502920" y="1353312"/>
            <a:ext cx="11109960" cy="9144"/>
          </a:xfrm>
          <a:prstGeom prst="rect">
            <a:avLst/>
          </a:prstGeom>
          <a:solidFill>
            <a:srgbClr val="D8DE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1457432" y="6473952"/>
            <a:ext cx="347472" cy="164592"/>
          </a:xfrm>
          <a:prstGeom prst="rect">
            <a:avLst/>
          </a:prstGeom>
          <a:noFill/>
        </p:spPr>
        <p:txBody>
          <a:bodyPr wrap="square" lIns="0" tIns="0" rIns="0" bIns="0" anchor="t">
            <a:spAutoFit/>
          </a:bodyPr>
          <a:lstStyle/>
          <a:p>
            <a:pPr algn="r">
              <a:lnSpc>
                <a:spcPct val="112000"/>
              </a:lnSpc>
              <a:spcAft>
                <a:spcPts val="0"/>
              </a:spcAft>
            </a:pPr>
            <a:r>
              <a:rPr sz="1050" b="0" i="0">
                <a:solidFill>
                  <a:srgbClr val="8C98AA"/>
                </a:solidFill>
                <a:latin typeface="微软雅黑"/>
              </a:rPr>
              <a:t>26</a:t>
            </a:r>
          </a:p>
        </p:txBody>
      </p:sp>
      <p:sp>
        <p:nvSpPr>
          <p:cNvPr id="9" name="Rounded Rectangle 8"/>
          <p:cNvSpPr/>
          <p:nvPr/>
        </p:nvSpPr>
        <p:spPr>
          <a:xfrm>
            <a:off x="822960" y="1783080"/>
            <a:ext cx="5074920" cy="3337560"/>
          </a:xfrm>
          <a:prstGeom prst="roundRect">
            <a:avLst/>
          </a:prstGeom>
          <a:solidFill>
            <a:srgbClr val="FFFFFF"/>
          </a:solidFill>
          <a:ln w="10160">
            <a:solidFill>
              <a:srgbClr val="E0E5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822960" y="1783080"/>
            <a:ext cx="64008" cy="3337560"/>
          </a:xfrm>
          <a:prstGeom prst="rect">
            <a:avLst/>
          </a:prstGeom>
          <a:solidFill>
            <a:srgbClr val="3159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1033272" y="1929384"/>
            <a:ext cx="4690872" cy="347472"/>
          </a:xfrm>
          <a:prstGeom prst="rect">
            <a:avLst/>
          </a:prstGeom>
          <a:noFill/>
        </p:spPr>
        <p:txBody>
          <a:bodyPr wrap="square" lIns="0" tIns="0" rIns="0" bIns="0" anchor="t">
            <a:spAutoFit/>
          </a:bodyPr>
          <a:lstStyle/>
          <a:p>
            <a:pPr algn="l">
              <a:lnSpc>
                <a:spcPct val="112000"/>
              </a:lnSpc>
              <a:spcAft>
                <a:spcPts val="0"/>
              </a:spcAft>
            </a:pPr>
            <a:r>
              <a:rPr sz="2000" b="1" i="0">
                <a:solidFill>
                  <a:srgbClr val="31599B"/>
                </a:solidFill>
                <a:latin typeface="微软雅黑"/>
              </a:rPr>
              <a:t>执行器与延迟差异</a:t>
            </a:r>
          </a:p>
        </p:txBody>
      </p:sp>
      <p:sp>
        <p:nvSpPr>
          <p:cNvPr id="12" name="TextBox 11"/>
          <p:cNvSpPr txBox="1"/>
          <p:nvPr/>
        </p:nvSpPr>
        <p:spPr>
          <a:xfrm>
            <a:off x="1033272" y="2468880"/>
            <a:ext cx="4690872" cy="2496312"/>
          </a:xfrm>
          <a:prstGeom prst="rect">
            <a:avLst/>
          </a:prstGeom>
          <a:noFill/>
        </p:spPr>
        <p:txBody>
          <a:bodyPr wrap="square" lIns="0" tIns="0" rIns="0" bIns="0" anchor="t">
            <a:spAutoFit/>
          </a:bodyPr>
          <a:lstStyle/>
          <a:p>
            <a:pPr algn="l">
              <a:lnSpc>
                <a:spcPct val="112000"/>
              </a:lnSpc>
              <a:spcAft>
                <a:spcPts val="0"/>
              </a:spcAft>
            </a:pPr>
            <a:r>
              <a:rPr sz="1850" b="0" i="0">
                <a:solidFill>
                  <a:srgbClr val="222833"/>
                </a:solidFill>
                <a:latin typeface="微软雅黑"/>
              </a:rPr>
              <a:t>仿真动作执行往往“瞬时且精确”，现实中存在通信延迟、执行器饱和与控制回路延迟，使状态转移发生偏差。</a:t>
            </a:r>
          </a:p>
        </p:txBody>
      </p:sp>
      <p:sp>
        <p:nvSpPr>
          <p:cNvPr id="13" name="Rounded Rectangle 12"/>
          <p:cNvSpPr/>
          <p:nvPr/>
        </p:nvSpPr>
        <p:spPr>
          <a:xfrm>
            <a:off x="6291072" y="1783080"/>
            <a:ext cx="5074920" cy="3337560"/>
          </a:xfrm>
          <a:prstGeom prst="roundRect">
            <a:avLst/>
          </a:prstGeom>
          <a:solidFill>
            <a:srgbClr val="FFFFFF"/>
          </a:solidFill>
          <a:ln w="10160">
            <a:solidFill>
              <a:srgbClr val="E0E5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6291072" y="1783080"/>
            <a:ext cx="64008" cy="3337560"/>
          </a:xfrm>
          <a:prstGeom prst="rect">
            <a:avLst/>
          </a:prstGeom>
          <a:solidFill>
            <a:srgbClr val="2F8E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6501384" y="1929384"/>
            <a:ext cx="4690872" cy="347472"/>
          </a:xfrm>
          <a:prstGeom prst="rect">
            <a:avLst/>
          </a:prstGeom>
          <a:noFill/>
        </p:spPr>
        <p:txBody>
          <a:bodyPr wrap="square" lIns="0" tIns="0" rIns="0" bIns="0" anchor="t">
            <a:spAutoFit/>
          </a:bodyPr>
          <a:lstStyle/>
          <a:p>
            <a:pPr algn="l">
              <a:lnSpc>
                <a:spcPct val="112000"/>
              </a:lnSpc>
              <a:spcAft>
                <a:spcPts val="0"/>
              </a:spcAft>
            </a:pPr>
            <a:r>
              <a:rPr sz="2000" b="1" i="0">
                <a:solidFill>
                  <a:srgbClr val="2F8E72"/>
                </a:solidFill>
                <a:latin typeface="微软雅黑"/>
              </a:rPr>
              <a:t>触觉与多模态反馈差距</a:t>
            </a:r>
          </a:p>
        </p:txBody>
      </p:sp>
      <p:sp>
        <p:nvSpPr>
          <p:cNvPr id="16" name="TextBox 15"/>
          <p:cNvSpPr txBox="1"/>
          <p:nvPr/>
        </p:nvSpPr>
        <p:spPr>
          <a:xfrm>
            <a:off x="6501384" y="2468880"/>
            <a:ext cx="4690872" cy="2496312"/>
          </a:xfrm>
          <a:prstGeom prst="rect">
            <a:avLst/>
          </a:prstGeom>
          <a:noFill/>
        </p:spPr>
        <p:txBody>
          <a:bodyPr wrap="square" lIns="0" tIns="0" rIns="0" bIns="0" anchor="t">
            <a:spAutoFit/>
          </a:bodyPr>
          <a:lstStyle/>
          <a:p>
            <a:pPr algn="l">
              <a:lnSpc>
                <a:spcPct val="112000"/>
              </a:lnSpc>
              <a:spcAft>
                <a:spcPts val="0"/>
              </a:spcAft>
            </a:pPr>
            <a:r>
              <a:rPr sz="1850" b="0" i="0">
                <a:solidFill>
                  <a:srgbClr val="222833"/>
                </a:solidFill>
                <a:latin typeface="微软雅黑"/>
              </a:rPr>
              <a:t>抓取、装配等接触密集任务中，GelSight 等触觉传感器的软体形变与现实反馈难以准确建模，是当前迁移的重要挑战。</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18872" cy="6858000"/>
          </a:xfrm>
          <a:prstGeom prst="rect">
            <a:avLst/>
          </a:prstGeom>
          <a:solidFill>
            <a:srgbClr val="3159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118872" y="0"/>
            <a:ext cx="41148" cy="6858000"/>
          </a:xfrm>
          <a:prstGeom prst="rect">
            <a:avLst/>
          </a:prstGeom>
          <a:solidFill>
            <a:srgbClr val="B7C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38912" y="137160"/>
            <a:ext cx="3474720" cy="164592"/>
          </a:xfrm>
          <a:prstGeom prst="rect">
            <a:avLst/>
          </a:prstGeom>
          <a:noFill/>
        </p:spPr>
        <p:txBody>
          <a:bodyPr wrap="square" lIns="0" tIns="0" rIns="0" bIns="0" anchor="t">
            <a:spAutoFit/>
          </a:bodyPr>
          <a:lstStyle/>
          <a:p>
            <a:pPr algn="l">
              <a:lnSpc>
                <a:spcPct val="112000"/>
              </a:lnSpc>
              <a:spcAft>
                <a:spcPts val="0"/>
              </a:spcAft>
            </a:pPr>
            <a:r>
              <a:rPr sz="1050" b="0" i="0">
                <a:solidFill>
                  <a:srgbClr val="8C98AA"/>
                </a:solidFill>
                <a:latin typeface="微软雅黑"/>
              </a:rPr>
              <a:t>具身智能导论 · 第 9 章</a:t>
            </a:r>
          </a:p>
        </p:txBody>
      </p:sp>
      <p:sp>
        <p:nvSpPr>
          <p:cNvPr id="5" name="TextBox 4"/>
          <p:cNvSpPr txBox="1"/>
          <p:nvPr/>
        </p:nvSpPr>
        <p:spPr>
          <a:xfrm>
            <a:off x="9144000" y="137160"/>
            <a:ext cx="2423160" cy="164592"/>
          </a:xfrm>
          <a:prstGeom prst="rect">
            <a:avLst/>
          </a:prstGeom>
          <a:noFill/>
        </p:spPr>
        <p:txBody>
          <a:bodyPr wrap="square" lIns="0" tIns="0" rIns="0" bIns="0" anchor="t">
            <a:spAutoFit/>
          </a:bodyPr>
          <a:lstStyle/>
          <a:p>
            <a:pPr algn="r">
              <a:lnSpc>
                <a:spcPct val="112000"/>
              </a:lnSpc>
              <a:spcAft>
                <a:spcPts val="0"/>
              </a:spcAft>
            </a:pPr>
            <a:r>
              <a:rPr sz="1050" b="0" i="0">
                <a:solidFill>
                  <a:srgbClr val="8C98AA"/>
                </a:solidFill>
                <a:latin typeface="微软雅黑"/>
              </a:rPr>
              <a:t>虚实迁移技术</a:t>
            </a:r>
          </a:p>
        </p:txBody>
      </p:sp>
      <p:sp>
        <p:nvSpPr>
          <p:cNvPr id="6" name="TextBox 5"/>
          <p:cNvSpPr txBox="1"/>
          <p:nvPr/>
        </p:nvSpPr>
        <p:spPr>
          <a:xfrm>
            <a:off x="502920" y="457200"/>
            <a:ext cx="10927080" cy="749808"/>
          </a:xfrm>
          <a:prstGeom prst="rect">
            <a:avLst/>
          </a:prstGeom>
          <a:noFill/>
        </p:spPr>
        <p:txBody>
          <a:bodyPr wrap="square" lIns="0" tIns="0" rIns="0" bIns="0" anchor="t">
            <a:spAutoFit/>
          </a:bodyPr>
          <a:lstStyle/>
          <a:p>
            <a:pPr algn="l">
              <a:lnSpc>
                <a:spcPct val="112000"/>
              </a:lnSpc>
              <a:spcAft>
                <a:spcPts val="0"/>
              </a:spcAft>
            </a:pPr>
            <a:r>
              <a:rPr sz="3500" b="1" i="0">
                <a:solidFill>
                  <a:srgbClr val="24477D"/>
                </a:solidFill>
                <a:latin typeface="微软雅黑"/>
              </a:rPr>
              <a:t>用分布距离辅助分析域差距：MMD</a:t>
            </a:r>
          </a:p>
        </p:txBody>
      </p:sp>
      <p:sp>
        <p:nvSpPr>
          <p:cNvPr id="7" name="Rectangle 6"/>
          <p:cNvSpPr/>
          <p:nvPr/>
        </p:nvSpPr>
        <p:spPr>
          <a:xfrm>
            <a:off x="502920" y="1353312"/>
            <a:ext cx="11109960" cy="9144"/>
          </a:xfrm>
          <a:prstGeom prst="rect">
            <a:avLst/>
          </a:prstGeom>
          <a:solidFill>
            <a:srgbClr val="D8DE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1457432" y="6473952"/>
            <a:ext cx="347472" cy="164592"/>
          </a:xfrm>
          <a:prstGeom prst="rect">
            <a:avLst/>
          </a:prstGeom>
          <a:noFill/>
        </p:spPr>
        <p:txBody>
          <a:bodyPr wrap="square" lIns="0" tIns="0" rIns="0" bIns="0" anchor="t">
            <a:spAutoFit/>
          </a:bodyPr>
          <a:lstStyle/>
          <a:p>
            <a:pPr algn="r">
              <a:lnSpc>
                <a:spcPct val="112000"/>
              </a:lnSpc>
              <a:spcAft>
                <a:spcPts val="0"/>
              </a:spcAft>
            </a:pPr>
            <a:r>
              <a:rPr sz="1050" b="0" i="0">
                <a:solidFill>
                  <a:srgbClr val="8C98AA"/>
                </a:solidFill>
                <a:latin typeface="微软雅黑"/>
              </a:rPr>
              <a:t>27</a:t>
            </a:r>
          </a:p>
        </p:txBody>
      </p:sp>
      <p:sp>
        <p:nvSpPr>
          <p:cNvPr id="9" name="Rounded Rectangle 8"/>
          <p:cNvSpPr/>
          <p:nvPr/>
        </p:nvSpPr>
        <p:spPr>
          <a:xfrm>
            <a:off x="822960" y="1783080"/>
            <a:ext cx="3200400" cy="3063240"/>
          </a:xfrm>
          <a:prstGeom prst="roundRect">
            <a:avLst/>
          </a:prstGeom>
          <a:solidFill>
            <a:srgbClr val="FFFFFF"/>
          </a:solidFill>
          <a:ln w="10160">
            <a:solidFill>
              <a:srgbClr val="E0E5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822960" y="1783080"/>
            <a:ext cx="64008" cy="3063240"/>
          </a:xfrm>
          <a:prstGeom prst="rect">
            <a:avLst/>
          </a:prstGeom>
          <a:solidFill>
            <a:srgbClr val="3159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1033272" y="1929384"/>
            <a:ext cx="2816352" cy="347472"/>
          </a:xfrm>
          <a:prstGeom prst="rect">
            <a:avLst/>
          </a:prstGeom>
          <a:noFill/>
        </p:spPr>
        <p:txBody>
          <a:bodyPr wrap="square" lIns="0" tIns="0" rIns="0" bIns="0" anchor="t">
            <a:spAutoFit/>
          </a:bodyPr>
          <a:lstStyle/>
          <a:p>
            <a:pPr algn="l">
              <a:lnSpc>
                <a:spcPct val="112000"/>
              </a:lnSpc>
              <a:spcAft>
                <a:spcPts val="0"/>
              </a:spcAft>
            </a:pPr>
            <a:r>
              <a:rPr sz="2000" b="1" i="0">
                <a:solidFill>
                  <a:srgbClr val="31599B"/>
                </a:solidFill>
                <a:latin typeface="微软雅黑"/>
              </a:rPr>
              <a:t>核心思想</a:t>
            </a:r>
          </a:p>
        </p:txBody>
      </p:sp>
      <p:sp>
        <p:nvSpPr>
          <p:cNvPr id="12" name="TextBox 11"/>
          <p:cNvSpPr txBox="1"/>
          <p:nvPr/>
        </p:nvSpPr>
        <p:spPr>
          <a:xfrm>
            <a:off x="1033272" y="2468880"/>
            <a:ext cx="2816352" cy="2221992"/>
          </a:xfrm>
          <a:prstGeom prst="rect">
            <a:avLst/>
          </a:prstGeom>
          <a:noFill/>
        </p:spPr>
        <p:txBody>
          <a:bodyPr wrap="square" lIns="0" tIns="0" rIns="0" bIns="0" anchor="t">
            <a:spAutoFit/>
          </a:bodyPr>
          <a:lstStyle/>
          <a:p>
            <a:pPr algn="l">
              <a:lnSpc>
                <a:spcPct val="112000"/>
              </a:lnSpc>
              <a:spcAft>
                <a:spcPts val="0"/>
              </a:spcAft>
            </a:pPr>
            <a:r>
              <a:rPr sz="1800" b="0" i="0">
                <a:solidFill>
                  <a:srgbClr val="222833"/>
                </a:solidFill>
                <a:latin typeface="微软雅黑"/>
              </a:rPr>
              <a:t>最大均值差异（MMD）在再生核希尔伯特空间（RKHS）中比较两个分布的均值嵌入。</a:t>
            </a:r>
          </a:p>
        </p:txBody>
      </p:sp>
      <p:sp>
        <p:nvSpPr>
          <p:cNvPr id="13" name="Rounded Rectangle 12"/>
          <p:cNvSpPr/>
          <p:nvPr/>
        </p:nvSpPr>
        <p:spPr>
          <a:xfrm>
            <a:off x="4370832" y="1783080"/>
            <a:ext cx="3200400" cy="3063240"/>
          </a:xfrm>
          <a:prstGeom prst="roundRect">
            <a:avLst/>
          </a:prstGeom>
          <a:solidFill>
            <a:srgbClr val="FFFFFF"/>
          </a:solidFill>
          <a:ln w="10160">
            <a:solidFill>
              <a:srgbClr val="E0E5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4370832" y="1783080"/>
            <a:ext cx="64008" cy="3063240"/>
          </a:xfrm>
          <a:prstGeom prst="rect">
            <a:avLst/>
          </a:prstGeom>
          <a:solidFill>
            <a:srgbClr val="2F8E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4581144" y="1929384"/>
            <a:ext cx="2816352" cy="347472"/>
          </a:xfrm>
          <a:prstGeom prst="rect">
            <a:avLst/>
          </a:prstGeom>
          <a:noFill/>
        </p:spPr>
        <p:txBody>
          <a:bodyPr wrap="square" lIns="0" tIns="0" rIns="0" bIns="0" anchor="t">
            <a:spAutoFit/>
          </a:bodyPr>
          <a:lstStyle/>
          <a:p>
            <a:pPr algn="l">
              <a:lnSpc>
                <a:spcPct val="112000"/>
              </a:lnSpc>
              <a:spcAft>
                <a:spcPts val="0"/>
              </a:spcAft>
            </a:pPr>
            <a:r>
              <a:rPr sz="2000" b="1" i="0">
                <a:solidFill>
                  <a:srgbClr val="2F8E72"/>
                </a:solidFill>
                <a:latin typeface="微软雅黑"/>
              </a:rPr>
              <a:t>直观含义</a:t>
            </a:r>
          </a:p>
        </p:txBody>
      </p:sp>
      <p:sp>
        <p:nvSpPr>
          <p:cNvPr id="16" name="TextBox 15"/>
          <p:cNvSpPr txBox="1"/>
          <p:nvPr/>
        </p:nvSpPr>
        <p:spPr>
          <a:xfrm>
            <a:off x="4581144" y="2468880"/>
            <a:ext cx="2816352" cy="2221992"/>
          </a:xfrm>
          <a:prstGeom prst="rect">
            <a:avLst/>
          </a:prstGeom>
          <a:noFill/>
        </p:spPr>
        <p:txBody>
          <a:bodyPr wrap="square" lIns="0" tIns="0" rIns="0" bIns="0" anchor="t">
            <a:spAutoFit/>
          </a:bodyPr>
          <a:lstStyle/>
          <a:p>
            <a:pPr algn="l">
              <a:lnSpc>
                <a:spcPct val="112000"/>
              </a:lnSpc>
              <a:spcAft>
                <a:spcPts val="0"/>
              </a:spcAft>
            </a:pPr>
            <a:r>
              <a:rPr sz="1800" b="0" i="0">
                <a:solidFill>
                  <a:srgbClr val="222833"/>
                </a:solidFill>
                <a:latin typeface="微软雅黑"/>
              </a:rPr>
              <a:t>在 RKHS 单位球内寻找最能区分两个分布的函数；差异越大，MMD 越大。</a:t>
            </a:r>
          </a:p>
        </p:txBody>
      </p:sp>
      <p:sp>
        <p:nvSpPr>
          <p:cNvPr id="17" name="Rounded Rectangle 16"/>
          <p:cNvSpPr/>
          <p:nvPr/>
        </p:nvSpPr>
        <p:spPr>
          <a:xfrm>
            <a:off x="7918704" y="1783080"/>
            <a:ext cx="3200400" cy="3063240"/>
          </a:xfrm>
          <a:prstGeom prst="roundRect">
            <a:avLst/>
          </a:prstGeom>
          <a:solidFill>
            <a:srgbClr val="FFFFFF"/>
          </a:solidFill>
          <a:ln w="10160">
            <a:solidFill>
              <a:srgbClr val="E0E5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7918704" y="1783080"/>
            <a:ext cx="64008" cy="3063240"/>
          </a:xfrm>
          <a:prstGeom prst="rect">
            <a:avLst/>
          </a:prstGeom>
          <a:solidFill>
            <a:srgbClr val="C58A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8129016" y="1929384"/>
            <a:ext cx="2816352" cy="347472"/>
          </a:xfrm>
          <a:prstGeom prst="rect">
            <a:avLst/>
          </a:prstGeom>
          <a:noFill/>
        </p:spPr>
        <p:txBody>
          <a:bodyPr wrap="square" lIns="0" tIns="0" rIns="0" bIns="0" anchor="t">
            <a:spAutoFit/>
          </a:bodyPr>
          <a:lstStyle/>
          <a:p>
            <a:pPr algn="l">
              <a:lnSpc>
                <a:spcPct val="112000"/>
              </a:lnSpc>
              <a:spcAft>
                <a:spcPts val="0"/>
              </a:spcAft>
            </a:pPr>
            <a:r>
              <a:rPr sz="2000" b="1" i="0">
                <a:solidFill>
                  <a:srgbClr val="C58A24"/>
                </a:solidFill>
                <a:latin typeface="微软雅黑"/>
              </a:rPr>
              <a:t>迁移意义</a:t>
            </a:r>
          </a:p>
        </p:txBody>
      </p:sp>
      <p:sp>
        <p:nvSpPr>
          <p:cNvPr id="20" name="TextBox 19"/>
          <p:cNvSpPr txBox="1"/>
          <p:nvPr/>
        </p:nvSpPr>
        <p:spPr>
          <a:xfrm>
            <a:off x="8129016" y="2468880"/>
            <a:ext cx="2816352" cy="2221992"/>
          </a:xfrm>
          <a:prstGeom prst="rect">
            <a:avLst/>
          </a:prstGeom>
          <a:noFill/>
        </p:spPr>
        <p:txBody>
          <a:bodyPr wrap="square" lIns="0" tIns="0" rIns="0" bIns="0" anchor="t">
            <a:spAutoFit/>
          </a:bodyPr>
          <a:lstStyle/>
          <a:p>
            <a:pPr algn="l">
              <a:lnSpc>
                <a:spcPct val="112000"/>
              </a:lnSpc>
              <a:spcAft>
                <a:spcPts val="0"/>
              </a:spcAft>
            </a:pPr>
            <a:r>
              <a:rPr sz="1800" b="0" i="0">
                <a:solidFill>
                  <a:srgbClr val="222833"/>
                </a:solidFill>
                <a:latin typeface="微软雅黑"/>
              </a:rPr>
              <a:t>MMD 值越大通常表示域差距更显著、知识迁移更困难。</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18872" cy="6858000"/>
          </a:xfrm>
          <a:prstGeom prst="rect">
            <a:avLst/>
          </a:prstGeom>
          <a:solidFill>
            <a:srgbClr val="3159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118872" y="0"/>
            <a:ext cx="41148" cy="6858000"/>
          </a:xfrm>
          <a:prstGeom prst="rect">
            <a:avLst/>
          </a:prstGeom>
          <a:solidFill>
            <a:srgbClr val="B7C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38912" y="137160"/>
            <a:ext cx="3474720" cy="164592"/>
          </a:xfrm>
          <a:prstGeom prst="rect">
            <a:avLst/>
          </a:prstGeom>
          <a:noFill/>
        </p:spPr>
        <p:txBody>
          <a:bodyPr wrap="square" lIns="0" tIns="0" rIns="0" bIns="0" anchor="t">
            <a:spAutoFit/>
          </a:bodyPr>
          <a:lstStyle/>
          <a:p>
            <a:pPr algn="l">
              <a:lnSpc>
                <a:spcPct val="112000"/>
              </a:lnSpc>
              <a:spcAft>
                <a:spcPts val="0"/>
              </a:spcAft>
            </a:pPr>
            <a:r>
              <a:rPr sz="1050" b="0" i="0">
                <a:solidFill>
                  <a:srgbClr val="8C98AA"/>
                </a:solidFill>
                <a:latin typeface="微软雅黑"/>
              </a:rPr>
              <a:t>具身智能导论 · 第 9 章</a:t>
            </a:r>
          </a:p>
        </p:txBody>
      </p:sp>
      <p:sp>
        <p:nvSpPr>
          <p:cNvPr id="5" name="TextBox 4"/>
          <p:cNvSpPr txBox="1"/>
          <p:nvPr/>
        </p:nvSpPr>
        <p:spPr>
          <a:xfrm>
            <a:off x="9144000" y="137160"/>
            <a:ext cx="2423160" cy="164592"/>
          </a:xfrm>
          <a:prstGeom prst="rect">
            <a:avLst/>
          </a:prstGeom>
          <a:noFill/>
        </p:spPr>
        <p:txBody>
          <a:bodyPr wrap="square" lIns="0" tIns="0" rIns="0" bIns="0" anchor="t">
            <a:spAutoFit/>
          </a:bodyPr>
          <a:lstStyle/>
          <a:p>
            <a:pPr algn="r">
              <a:lnSpc>
                <a:spcPct val="112000"/>
              </a:lnSpc>
              <a:spcAft>
                <a:spcPts val="0"/>
              </a:spcAft>
            </a:pPr>
            <a:r>
              <a:rPr sz="1050" b="0" i="0">
                <a:solidFill>
                  <a:srgbClr val="8C98AA"/>
                </a:solidFill>
                <a:latin typeface="微软雅黑"/>
              </a:rPr>
              <a:t>虚实迁移技术</a:t>
            </a:r>
          </a:p>
        </p:txBody>
      </p:sp>
      <p:sp>
        <p:nvSpPr>
          <p:cNvPr id="6" name="TextBox 5"/>
          <p:cNvSpPr txBox="1"/>
          <p:nvPr/>
        </p:nvSpPr>
        <p:spPr>
          <a:xfrm>
            <a:off x="502920" y="457200"/>
            <a:ext cx="10927080" cy="749808"/>
          </a:xfrm>
          <a:prstGeom prst="rect">
            <a:avLst/>
          </a:prstGeom>
          <a:noFill/>
        </p:spPr>
        <p:txBody>
          <a:bodyPr wrap="square" lIns="0" tIns="0" rIns="0" bIns="0" anchor="t">
            <a:spAutoFit/>
          </a:bodyPr>
          <a:lstStyle/>
          <a:p>
            <a:pPr algn="l">
              <a:lnSpc>
                <a:spcPct val="112000"/>
              </a:lnSpc>
              <a:spcAft>
                <a:spcPts val="0"/>
              </a:spcAft>
            </a:pPr>
            <a:r>
              <a:rPr sz="3500" b="1" i="0" dirty="0">
                <a:solidFill>
                  <a:srgbClr val="24477D"/>
                </a:solidFill>
                <a:latin typeface="微软雅黑"/>
              </a:rPr>
              <a:t>MMD </a:t>
            </a:r>
            <a:r>
              <a:rPr sz="3500" b="1" i="0" dirty="0" err="1">
                <a:solidFill>
                  <a:srgbClr val="24477D"/>
                </a:solidFill>
                <a:latin typeface="微软雅黑"/>
              </a:rPr>
              <a:t>定义：在函数空间中寻找最大期望差异</a:t>
            </a:r>
            <a:endParaRPr sz="3500" b="1" i="0" dirty="0">
              <a:solidFill>
                <a:srgbClr val="24477D"/>
              </a:solidFill>
              <a:latin typeface="微软雅黑"/>
            </a:endParaRPr>
          </a:p>
        </p:txBody>
      </p:sp>
      <p:sp>
        <p:nvSpPr>
          <p:cNvPr id="7" name="Rectangle 6"/>
          <p:cNvSpPr/>
          <p:nvPr/>
        </p:nvSpPr>
        <p:spPr>
          <a:xfrm>
            <a:off x="502920" y="1353312"/>
            <a:ext cx="11109960" cy="9144"/>
          </a:xfrm>
          <a:prstGeom prst="rect">
            <a:avLst/>
          </a:prstGeom>
          <a:solidFill>
            <a:srgbClr val="D8DE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1457432" y="6473952"/>
            <a:ext cx="347472" cy="164592"/>
          </a:xfrm>
          <a:prstGeom prst="rect">
            <a:avLst/>
          </a:prstGeom>
          <a:noFill/>
        </p:spPr>
        <p:txBody>
          <a:bodyPr wrap="square" lIns="0" tIns="0" rIns="0" bIns="0" anchor="t">
            <a:spAutoFit/>
          </a:bodyPr>
          <a:lstStyle/>
          <a:p>
            <a:pPr algn="r">
              <a:lnSpc>
                <a:spcPct val="112000"/>
              </a:lnSpc>
              <a:spcAft>
                <a:spcPts val="0"/>
              </a:spcAft>
            </a:pPr>
            <a:r>
              <a:rPr sz="1050" b="0" i="0">
                <a:solidFill>
                  <a:srgbClr val="8C98AA"/>
                </a:solidFill>
                <a:latin typeface="微软雅黑"/>
              </a:rPr>
              <a:t>28</a:t>
            </a:r>
          </a:p>
        </p:txBody>
      </p:sp>
      <p:sp>
        <p:nvSpPr>
          <p:cNvPr id="9" name="Rounded Rectangle 8"/>
          <p:cNvSpPr/>
          <p:nvPr/>
        </p:nvSpPr>
        <p:spPr>
          <a:xfrm>
            <a:off x="777240" y="1644427"/>
            <a:ext cx="10561320" cy="3959352"/>
          </a:xfrm>
          <a:prstGeom prst="roundRect">
            <a:avLst/>
          </a:prstGeom>
          <a:solidFill>
            <a:srgbClr val="FFFFFF"/>
          </a:solidFill>
          <a:ln w="10160">
            <a:solidFill>
              <a:srgbClr val="E0E5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0" name="Picture 9" descr="eq9_1.png"/>
          <p:cNvPicPr>
            <a:picLocks noChangeAspect="1"/>
          </p:cNvPicPr>
          <p:nvPr/>
        </p:nvPicPr>
        <p:blipFill>
          <a:blip r:embed="rId2"/>
          <a:srcRect l="21087" t="-8999" r="20760"/>
          <a:stretch>
            <a:fillRect/>
          </a:stretch>
        </p:blipFill>
        <p:spPr>
          <a:xfrm>
            <a:off x="2071396" y="2414016"/>
            <a:ext cx="8593494" cy="1136469"/>
          </a:xfrm>
          <a:prstGeom prst="rect">
            <a:avLst/>
          </a:prstGeom>
        </p:spPr>
      </p:pic>
      <p:sp>
        <p:nvSpPr>
          <p:cNvPr id="12" name="TextBox 11"/>
          <p:cNvSpPr txBox="1"/>
          <p:nvPr/>
        </p:nvSpPr>
        <p:spPr>
          <a:xfrm>
            <a:off x="853440" y="4195975"/>
            <a:ext cx="9875520" cy="447430"/>
          </a:xfrm>
          <a:prstGeom prst="rect">
            <a:avLst/>
          </a:prstGeom>
          <a:noFill/>
        </p:spPr>
        <p:txBody>
          <a:bodyPr wrap="square" lIns="0" tIns="0" rIns="0" bIns="0" anchor="t">
            <a:spAutoFit/>
          </a:bodyPr>
          <a:lstStyle/>
          <a:p>
            <a:pPr algn="ctr">
              <a:lnSpc>
                <a:spcPct val="112000"/>
              </a:lnSpc>
              <a:spcAft>
                <a:spcPts val="0"/>
              </a:spcAft>
            </a:pPr>
            <a:r>
              <a:rPr sz="2800" b="0" i="0" dirty="0">
                <a:solidFill>
                  <a:srgbClr val="222833"/>
                </a:solidFill>
                <a:latin typeface="微软雅黑" panose="020B0503020204020204" pitchFamily="34" charset="-122"/>
                <a:ea typeface="微软雅黑" panose="020B0503020204020204" pitchFamily="34" charset="-122"/>
              </a:rPr>
              <a:t>f </a:t>
            </a:r>
            <a:r>
              <a:rPr sz="2800" b="0" i="0" dirty="0" err="1">
                <a:solidFill>
                  <a:srgbClr val="222833"/>
                </a:solidFill>
                <a:latin typeface="微软雅黑" panose="020B0503020204020204" pitchFamily="34" charset="-122"/>
                <a:ea typeface="微软雅黑" panose="020B0503020204020204" pitchFamily="34" charset="-122"/>
              </a:rPr>
              <a:t>属于</a:t>
            </a:r>
            <a:r>
              <a:rPr sz="2800" b="0" i="0" dirty="0">
                <a:solidFill>
                  <a:srgbClr val="222833"/>
                </a:solidFill>
                <a:latin typeface="微软雅黑" panose="020B0503020204020204" pitchFamily="34" charset="-122"/>
                <a:ea typeface="微软雅黑" panose="020B0503020204020204" pitchFamily="34" charset="-122"/>
              </a:rPr>
              <a:t> RKHS </a:t>
            </a:r>
            <a:r>
              <a:rPr sz="2800" b="0" i="0" dirty="0" err="1">
                <a:solidFill>
                  <a:srgbClr val="222833"/>
                </a:solidFill>
                <a:latin typeface="微软雅黑" panose="020B0503020204020204" pitchFamily="34" charset="-122"/>
                <a:ea typeface="微软雅黑" panose="020B0503020204020204" pitchFamily="34" charset="-122"/>
              </a:rPr>
              <a:t>空间</a:t>
            </a:r>
            <a:r>
              <a:rPr sz="2800" b="0" i="0" dirty="0">
                <a:solidFill>
                  <a:srgbClr val="222833"/>
                </a:solidFill>
                <a:latin typeface="微软雅黑" panose="020B0503020204020204" pitchFamily="34" charset="-122"/>
                <a:ea typeface="微软雅黑" panose="020B0503020204020204" pitchFamily="34" charset="-122"/>
              </a:rPr>
              <a:t> H</a:t>
            </a:r>
            <a:r>
              <a:rPr lang="zh-CN" altLang="en-US" sz="2800" b="0" i="0" dirty="0">
                <a:solidFill>
                  <a:srgbClr val="222833"/>
                </a:solidFill>
                <a:latin typeface="微软雅黑" panose="020B0503020204020204" pitchFamily="34" charset="-122"/>
                <a:ea typeface="微软雅黑" panose="020B0503020204020204" pitchFamily="34" charset="-122"/>
              </a:rPr>
              <a:t>的函数</a:t>
            </a:r>
            <a:r>
              <a:rPr sz="2800" b="0" i="0" dirty="0">
                <a:solidFill>
                  <a:srgbClr val="222833"/>
                </a:solidFill>
                <a:latin typeface="微软雅黑" panose="020B0503020204020204" pitchFamily="34" charset="-122"/>
                <a:ea typeface="微软雅黑" panose="020B0503020204020204" pitchFamily="34" charset="-122"/>
              </a:rPr>
              <a:t>，</a:t>
            </a:r>
            <a:r>
              <a:rPr sz="2800" b="0" i="0" dirty="0" err="1">
                <a:solidFill>
                  <a:srgbClr val="222833"/>
                </a:solidFill>
                <a:latin typeface="微软雅黑" panose="020B0503020204020204" pitchFamily="34" charset="-122"/>
                <a:ea typeface="微软雅黑" panose="020B0503020204020204" pitchFamily="34" charset="-122"/>
              </a:rPr>
              <a:t>且其</a:t>
            </a:r>
            <a:r>
              <a:rPr sz="2800" b="0" i="0" dirty="0">
                <a:solidFill>
                  <a:srgbClr val="222833"/>
                </a:solidFill>
                <a:latin typeface="微软雅黑" panose="020B0503020204020204" pitchFamily="34" charset="-122"/>
                <a:ea typeface="微软雅黑" panose="020B0503020204020204" pitchFamily="34" charset="-122"/>
              </a:rPr>
              <a:t> RKHS </a:t>
            </a:r>
            <a:r>
              <a:rPr sz="2800" b="0" i="0" dirty="0" err="1">
                <a:solidFill>
                  <a:srgbClr val="222833"/>
                </a:solidFill>
                <a:latin typeface="微软雅黑" panose="020B0503020204020204" pitchFamily="34" charset="-122"/>
                <a:ea typeface="微软雅黑" panose="020B0503020204020204" pitchFamily="34" charset="-122"/>
              </a:rPr>
              <a:t>范数被约束在</a:t>
            </a:r>
            <a:r>
              <a:rPr sz="2800" b="0" i="0" dirty="0">
                <a:solidFill>
                  <a:srgbClr val="222833"/>
                </a:solidFill>
                <a:latin typeface="微软雅黑" panose="020B0503020204020204" pitchFamily="34" charset="-122"/>
                <a:ea typeface="微软雅黑" panose="020B0503020204020204" pitchFamily="34" charset="-122"/>
              </a:rPr>
              <a:t> 1 </a:t>
            </a:r>
            <a:r>
              <a:rPr sz="2800" b="0" i="0" dirty="0" err="1">
                <a:solidFill>
                  <a:srgbClr val="222833"/>
                </a:solidFill>
                <a:latin typeface="微软雅黑" panose="020B0503020204020204" pitchFamily="34" charset="-122"/>
                <a:ea typeface="微软雅黑" panose="020B0503020204020204" pitchFamily="34" charset="-122"/>
              </a:rPr>
              <a:t>以内</a:t>
            </a:r>
            <a:endParaRPr sz="2800" b="0" i="0" dirty="0">
              <a:solidFill>
                <a:srgbClr val="222833"/>
              </a:solidFill>
              <a:latin typeface="微软雅黑" panose="020B0503020204020204" pitchFamily="34" charset="-122"/>
              <a:ea typeface="微软雅黑" panose="020B0503020204020204" pitchFamily="34" charset="-122"/>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18872" cy="6858000"/>
          </a:xfrm>
          <a:prstGeom prst="rect">
            <a:avLst/>
          </a:prstGeom>
          <a:solidFill>
            <a:srgbClr val="3159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118872" y="0"/>
            <a:ext cx="41148" cy="6858000"/>
          </a:xfrm>
          <a:prstGeom prst="rect">
            <a:avLst/>
          </a:prstGeom>
          <a:solidFill>
            <a:srgbClr val="B7C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38912" y="137160"/>
            <a:ext cx="3474720" cy="164592"/>
          </a:xfrm>
          <a:prstGeom prst="rect">
            <a:avLst/>
          </a:prstGeom>
          <a:noFill/>
        </p:spPr>
        <p:txBody>
          <a:bodyPr wrap="square" lIns="0" tIns="0" rIns="0" bIns="0" anchor="t">
            <a:spAutoFit/>
          </a:bodyPr>
          <a:lstStyle/>
          <a:p>
            <a:pPr algn="l">
              <a:lnSpc>
                <a:spcPct val="112000"/>
              </a:lnSpc>
              <a:spcAft>
                <a:spcPts val="0"/>
              </a:spcAft>
            </a:pPr>
            <a:r>
              <a:rPr sz="1050" b="0" i="0">
                <a:solidFill>
                  <a:srgbClr val="8C98AA"/>
                </a:solidFill>
                <a:latin typeface="微软雅黑"/>
              </a:rPr>
              <a:t>具身智能导论 · 第 9 章</a:t>
            </a:r>
          </a:p>
        </p:txBody>
      </p:sp>
      <p:sp>
        <p:nvSpPr>
          <p:cNvPr id="5" name="TextBox 4"/>
          <p:cNvSpPr txBox="1"/>
          <p:nvPr/>
        </p:nvSpPr>
        <p:spPr>
          <a:xfrm>
            <a:off x="9144000" y="137160"/>
            <a:ext cx="2423160" cy="164592"/>
          </a:xfrm>
          <a:prstGeom prst="rect">
            <a:avLst/>
          </a:prstGeom>
          <a:noFill/>
        </p:spPr>
        <p:txBody>
          <a:bodyPr wrap="square" lIns="0" tIns="0" rIns="0" bIns="0" anchor="t">
            <a:spAutoFit/>
          </a:bodyPr>
          <a:lstStyle/>
          <a:p>
            <a:pPr algn="r">
              <a:lnSpc>
                <a:spcPct val="112000"/>
              </a:lnSpc>
              <a:spcAft>
                <a:spcPts val="0"/>
              </a:spcAft>
            </a:pPr>
            <a:r>
              <a:rPr sz="1050" b="0" i="0">
                <a:solidFill>
                  <a:srgbClr val="8C98AA"/>
                </a:solidFill>
                <a:latin typeface="微软雅黑"/>
              </a:rPr>
              <a:t>虚实迁移技术</a:t>
            </a:r>
          </a:p>
        </p:txBody>
      </p:sp>
      <p:sp>
        <p:nvSpPr>
          <p:cNvPr id="6" name="TextBox 5"/>
          <p:cNvSpPr txBox="1"/>
          <p:nvPr/>
        </p:nvSpPr>
        <p:spPr>
          <a:xfrm>
            <a:off x="502920" y="457200"/>
            <a:ext cx="10927080" cy="749808"/>
          </a:xfrm>
          <a:prstGeom prst="rect">
            <a:avLst/>
          </a:prstGeom>
          <a:noFill/>
        </p:spPr>
        <p:txBody>
          <a:bodyPr wrap="square" lIns="0" tIns="0" rIns="0" bIns="0" anchor="t">
            <a:spAutoFit/>
          </a:bodyPr>
          <a:lstStyle/>
          <a:p>
            <a:pPr algn="l">
              <a:lnSpc>
                <a:spcPct val="112000"/>
              </a:lnSpc>
              <a:spcAft>
                <a:spcPts val="0"/>
              </a:spcAft>
            </a:pPr>
            <a:r>
              <a:rPr sz="3500" b="1" i="0">
                <a:solidFill>
                  <a:srgbClr val="24477D"/>
                </a:solidFill>
                <a:latin typeface="微软雅黑"/>
              </a:rPr>
              <a:t>MMD 的均值嵌入与核函数形式</a:t>
            </a:r>
          </a:p>
        </p:txBody>
      </p:sp>
      <p:sp>
        <p:nvSpPr>
          <p:cNvPr id="7" name="Rectangle 6"/>
          <p:cNvSpPr/>
          <p:nvPr/>
        </p:nvSpPr>
        <p:spPr>
          <a:xfrm>
            <a:off x="502920" y="1353312"/>
            <a:ext cx="11109960" cy="9144"/>
          </a:xfrm>
          <a:prstGeom prst="rect">
            <a:avLst/>
          </a:prstGeom>
          <a:solidFill>
            <a:srgbClr val="D8DE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1457432" y="6473952"/>
            <a:ext cx="347472" cy="164592"/>
          </a:xfrm>
          <a:prstGeom prst="rect">
            <a:avLst/>
          </a:prstGeom>
          <a:noFill/>
        </p:spPr>
        <p:txBody>
          <a:bodyPr wrap="square" lIns="0" tIns="0" rIns="0" bIns="0" anchor="t">
            <a:spAutoFit/>
          </a:bodyPr>
          <a:lstStyle/>
          <a:p>
            <a:pPr algn="r">
              <a:lnSpc>
                <a:spcPct val="112000"/>
              </a:lnSpc>
              <a:spcAft>
                <a:spcPts val="0"/>
              </a:spcAft>
            </a:pPr>
            <a:r>
              <a:rPr sz="1050" b="0" i="0">
                <a:solidFill>
                  <a:srgbClr val="8C98AA"/>
                </a:solidFill>
                <a:latin typeface="微软雅黑"/>
              </a:rPr>
              <a:t>29</a:t>
            </a:r>
          </a:p>
        </p:txBody>
      </p:sp>
      <p:sp>
        <p:nvSpPr>
          <p:cNvPr id="9" name="Rounded Rectangle 8"/>
          <p:cNvSpPr/>
          <p:nvPr/>
        </p:nvSpPr>
        <p:spPr>
          <a:xfrm>
            <a:off x="777240" y="1917208"/>
            <a:ext cx="10561320" cy="1589515"/>
          </a:xfrm>
          <a:prstGeom prst="roundRect">
            <a:avLst/>
          </a:prstGeom>
          <a:solidFill>
            <a:srgbClr val="FFFFFF"/>
          </a:solidFill>
          <a:ln w="10160">
            <a:solidFill>
              <a:srgbClr val="E0E5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0" name="Picture 9" descr="eq9_2.png"/>
          <p:cNvPicPr>
            <a:picLocks noChangeAspect="1"/>
          </p:cNvPicPr>
          <p:nvPr/>
        </p:nvPicPr>
        <p:blipFill>
          <a:blip r:embed="rId2"/>
          <a:stretch>
            <a:fillRect/>
          </a:stretch>
        </p:blipFill>
        <p:spPr>
          <a:xfrm>
            <a:off x="-191542" y="1917208"/>
            <a:ext cx="12498884" cy="876283"/>
          </a:xfrm>
          <a:prstGeom prst="rect">
            <a:avLst/>
          </a:prstGeom>
        </p:spPr>
      </p:pic>
      <p:sp>
        <p:nvSpPr>
          <p:cNvPr id="12" name="TextBox 11"/>
          <p:cNvSpPr txBox="1"/>
          <p:nvPr/>
        </p:nvSpPr>
        <p:spPr>
          <a:xfrm>
            <a:off x="-93980" y="2937764"/>
            <a:ext cx="9875520" cy="319575"/>
          </a:xfrm>
          <a:prstGeom prst="rect">
            <a:avLst/>
          </a:prstGeom>
          <a:noFill/>
        </p:spPr>
        <p:txBody>
          <a:bodyPr wrap="square" lIns="0" tIns="0" rIns="0" bIns="0" anchor="t">
            <a:spAutoFit/>
          </a:bodyPr>
          <a:lstStyle/>
          <a:p>
            <a:pPr algn="ctr">
              <a:lnSpc>
                <a:spcPct val="112000"/>
              </a:lnSpc>
              <a:spcAft>
                <a:spcPts val="0"/>
              </a:spcAft>
            </a:pPr>
            <a:r>
              <a:rPr lang="el-GR" sz="2000" dirty="0">
                <a:solidFill>
                  <a:srgbClr val="222833"/>
                </a:solidFill>
                <a:latin typeface="微软雅黑" panose="020B0503020204020204" pitchFamily="34" charset="-122"/>
                <a:ea typeface="微软雅黑" panose="020B0503020204020204" pitchFamily="34" charset="-122"/>
              </a:rPr>
              <a:t>Φ</a:t>
            </a:r>
            <a:r>
              <a:rPr lang="zh-CN" altLang="en-US" sz="2000" dirty="0">
                <a:solidFill>
                  <a:srgbClr val="222833"/>
                </a:solidFill>
                <a:latin typeface="微软雅黑" panose="020B0503020204020204" pitchFamily="34" charset="-122"/>
                <a:ea typeface="微软雅黑" panose="020B0503020204020204" pitchFamily="34" charset="-122"/>
              </a:rPr>
              <a:t>为对应核函数的特征映射，</a:t>
            </a:r>
            <a:r>
              <a:rPr sz="2000" b="0" i="0" dirty="0" err="1">
                <a:solidFill>
                  <a:srgbClr val="222833"/>
                </a:solidFill>
                <a:latin typeface="微软雅黑" panose="020B0503020204020204" pitchFamily="34" charset="-122"/>
                <a:ea typeface="微软雅黑" panose="020B0503020204020204" pitchFamily="34" charset="-122"/>
              </a:rPr>
              <a:t>两个分布在</a:t>
            </a:r>
            <a:r>
              <a:rPr sz="2000" b="0" i="0" dirty="0">
                <a:solidFill>
                  <a:srgbClr val="222833"/>
                </a:solidFill>
                <a:latin typeface="微软雅黑" panose="020B0503020204020204" pitchFamily="34" charset="-122"/>
                <a:ea typeface="微软雅黑" panose="020B0503020204020204" pitchFamily="34" charset="-122"/>
              </a:rPr>
              <a:t> RKHS </a:t>
            </a:r>
            <a:r>
              <a:rPr sz="2000" b="0" i="0" dirty="0" err="1">
                <a:solidFill>
                  <a:srgbClr val="222833"/>
                </a:solidFill>
                <a:latin typeface="微软雅黑" panose="020B0503020204020204" pitchFamily="34" charset="-122"/>
                <a:ea typeface="微软雅黑" panose="020B0503020204020204" pitchFamily="34" charset="-122"/>
              </a:rPr>
              <a:t>中的均值嵌入之差</a:t>
            </a:r>
            <a:r>
              <a:rPr sz="2000" b="0" i="0" dirty="0">
                <a:solidFill>
                  <a:srgbClr val="222833"/>
                </a:solidFill>
                <a:latin typeface="微软雅黑" panose="020B0503020204020204" pitchFamily="34" charset="-122"/>
                <a:ea typeface="微软雅黑" panose="020B0503020204020204" pitchFamily="34" charset="-122"/>
              </a:rPr>
              <a:t>。</a:t>
            </a:r>
          </a:p>
        </p:txBody>
      </p:sp>
      <p:sp>
        <p:nvSpPr>
          <p:cNvPr id="13" name="Rounded Rectangle 12"/>
          <p:cNvSpPr/>
          <p:nvPr/>
        </p:nvSpPr>
        <p:spPr>
          <a:xfrm>
            <a:off x="818388" y="4629928"/>
            <a:ext cx="10561320" cy="1787651"/>
          </a:xfrm>
          <a:prstGeom prst="roundRect">
            <a:avLst/>
          </a:prstGeom>
          <a:solidFill>
            <a:srgbClr val="FFFFFF"/>
          </a:solidFill>
          <a:ln w="10160">
            <a:solidFill>
              <a:srgbClr val="E0E5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4" name="Picture 13" descr="eq9_3.png"/>
          <p:cNvPicPr>
            <a:picLocks noChangeAspect="1"/>
          </p:cNvPicPr>
          <p:nvPr/>
        </p:nvPicPr>
        <p:blipFill>
          <a:blip r:embed="rId3"/>
          <a:srcRect l="13525" t="17841" r="13107"/>
          <a:stretch>
            <a:fillRect/>
          </a:stretch>
        </p:blipFill>
        <p:spPr>
          <a:xfrm>
            <a:off x="1285748" y="4986544"/>
            <a:ext cx="10051289" cy="720835"/>
          </a:xfrm>
          <a:prstGeom prst="rect">
            <a:avLst/>
          </a:prstGeom>
        </p:spPr>
      </p:pic>
      <p:sp>
        <p:nvSpPr>
          <p:cNvPr id="18" name="文本框 17">
            <a:extLst>
              <a:ext uri="{FF2B5EF4-FFF2-40B4-BE49-F238E27FC236}">
                <a16:creationId xmlns:a16="http://schemas.microsoft.com/office/drawing/2014/main" id="{25AB4B77-BA50-1556-D8B1-3C3790F74023}"/>
              </a:ext>
            </a:extLst>
          </p:cNvPr>
          <p:cNvSpPr txBox="1"/>
          <p:nvPr/>
        </p:nvSpPr>
        <p:spPr>
          <a:xfrm>
            <a:off x="628015" y="3837760"/>
            <a:ext cx="10859770" cy="447430"/>
          </a:xfrm>
          <a:prstGeom prst="rect">
            <a:avLst/>
          </a:prstGeom>
          <a:noFill/>
        </p:spPr>
        <p:txBody>
          <a:bodyPr wrap="square" lIns="0" tIns="0" rIns="0" bIns="0" anchor="t">
            <a:spAutoFit/>
          </a:bodyPr>
          <a:lstStyle>
            <a:defPPr>
              <a:defRPr lang="en-US"/>
            </a:defPPr>
            <a:lvl1pPr algn="ctr">
              <a:lnSpc>
                <a:spcPct val="112000"/>
              </a:lnSpc>
              <a:spcAft>
                <a:spcPts val="0"/>
              </a:spcAft>
              <a:defRPr sz="2800" b="0" i="0">
                <a:solidFill>
                  <a:srgbClr val="222833"/>
                </a:solidFill>
                <a:latin typeface="微软雅黑" panose="020B0503020204020204" pitchFamily="34" charset="-122"/>
                <a:ea typeface="微软雅黑" panose="020B0503020204020204" pitchFamily="34" charset="-122"/>
              </a:defRPr>
            </a:lvl1pPr>
          </a:lstStyle>
          <a:p>
            <a:pPr marL="457200" indent="-457200" algn="l">
              <a:buFont typeface="Arial" panose="020B0604020202020204" pitchFamily="34" charset="0"/>
              <a:buChar char="•"/>
            </a:pPr>
            <a:r>
              <a:rPr lang="zh-CN" altLang="en-US" dirty="0"/>
              <a:t>实际计算中可仅通过核函数 </a:t>
            </a:r>
            <a:r>
              <a:rPr lang="en-US" altLang="zh-CN" dirty="0"/>
              <a:t>k(·,·) </a:t>
            </a:r>
            <a:r>
              <a:rPr lang="zh-CN" altLang="en-US" dirty="0"/>
              <a:t>求取</a:t>
            </a:r>
          </a:p>
        </p:txBody>
      </p:sp>
      <p:sp>
        <p:nvSpPr>
          <p:cNvPr id="19" name="文本框 18">
            <a:extLst>
              <a:ext uri="{FF2B5EF4-FFF2-40B4-BE49-F238E27FC236}">
                <a16:creationId xmlns:a16="http://schemas.microsoft.com/office/drawing/2014/main" id="{F3904036-4DCE-387D-3CA4-AC52D84633AF}"/>
              </a:ext>
            </a:extLst>
          </p:cNvPr>
          <p:cNvSpPr txBox="1"/>
          <p:nvPr/>
        </p:nvSpPr>
        <p:spPr>
          <a:xfrm>
            <a:off x="628015" y="1416117"/>
            <a:ext cx="10859770" cy="447430"/>
          </a:xfrm>
          <a:prstGeom prst="rect">
            <a:avLst/>
          </a:prstGeom>
          <a:noFill/>
        </p:spPr>
        <p:txBody>
          <a:bodyPr wrap="square" lIns="0" tIns="0" rIns="0" bIns="0" anchor="t">
            <a:spAutoFit/>
          </a:bodyPr>
          <a:lstStyle>
            <a:defPPr>
              <a:defRPr lang="en-US"/>
            </a:defPPr>
            <a:lvl1pPr algn="ctr">
              <a:lnSpc>
                <a:spcPct val="112000"/>
              </a:lnSpc>
              <a:spcAft>
                <a:spcPts val="0"/>
              </a:spcAft>
              <a:defRPr sz="2800" b="0" i="0">
                <a:solidFill>
                  <a:srgbClr val="222833"/>
                </a:solidFill>
                <a:latin typeface="微软雅黑" panose="020B0503020204020204" pitchFamily="34" charset="-122"/>
                <a:ea typeface="微软雅黑" panose="020B0503020204020204" pitchFamily="34" charset="-122"/>
              </a:defRPr>
            </a:lvl1pPr>
          </a:lstStyle>
          <a:p>
            <a:pPr marL="457200" indent="-457200">
              <a:buFont typeface="Arial" panose="020B0604020202020204" pitchFamily="34" charset="0"/>
              <a:buChar char="•"/>
            </a:pPr>
            <a:r>
              <a:rPr lang="zh-CN" altLang="en-US" dirty="0"/>
              <a:t>可等价为两个分布在 </a:t>
            </a:r>
            <a:r>
              <a:rPr lang="en-US" altLang="zh-CN" dirty="0"/>
              <a:t>PKHS</a:t>
            </a:r>
            <a:r>
              <a:rPr lang="zh-CN" altLang="en-US" dirty="0"/>
              <a:t>中的均值嵌入 之差的平方范数形式：</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18872" cy="6858000"/>
          </a:xfrm>
          <a:prstGeom prst="rect">
            <a:avLst/>
          </a:prstGeom>
          <a:solidFill>
            <a:srgbClr val="3159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118872" y="0"/>
            <a:ext cx="41148" cy="6858000"/>
          </a:xfrm>
          <a:prstGeom prst="rect">
            <a:avLst/>
          </a:prstGeom>
          <a:solidFill>
            <a:srgbClr val="B7C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38912" y="137160"/>
            <a:ext cx="3474720" cy="164592"/>
          </a:xfrm>
          <a:prstGeom prst="rect">
            <a:avLst/>
          </a:prstGeom>
          <a:noFill/>
        </p:spPr>
        <p:txBody>
          <a:bodyPr wrap="square" lIns="0" tIns="0" rIns="0" bIns="0" anchor="t">
            <a:spAutoFit/>
          </a:bodyPr>
          <a:lstStyle/>
          <a:p>
            <a:pPr algn="l">
              <a:lnSpc>
                <a:spcPct val="112000"/>
              </a:lnSpc>
              <a:spcAft>
                <a:spcPts val="0"/>
              </a:spcAft>
            </a:pPr>
            <a:r>
              <a:rPr sz="1050" b="0" i="0">
                <a:solidFill>
                  <a:srgbClr val="8C98AA"/>
                </a:solidFill>
                <a:latin typeface="微软雅黑"/>
              </a:rPr>
              <a:t>具身智能导论 · 第 9 章</a:t>
            </a:r>
          </a:p>
        </p:txBody>
      </p:sp>
      <p:sp>
        <p:nvSpPr>
          <p:cNvPr id="5" name="TextBox 4"/>
          <p:cNvSpPr txBox="1"/>
          <p:nvPr/>
        </p:nvSpPr>
        <p:spPr>
          <a:xfrm>
            <a:off x="9144000" y="137160"/>
            <a:ext cx="2423160" cy="164592"/>
          </a:xfrm>
          <a:prstGeom prst="rect">
            <a:avLst/>
          </a:prstGeom>
          <a:noFill/>
        </p:spPr>
        <p:txBody>
          <a:bodyPr wrap="square" lIns="0" tIns="0" rIns="0" bIns="0" anchor="t">
            <a:spAutoFit/>
          </a:bodyPr>
          <a:lstStyle/>
          <a:p>
            <a:pPr algn="r">
              <a:lnSpc>
                <a:spcPct val="112000"/>
              </a:lnSpc>
              <a:spcAft>
                <a:spcPts val="0"/>
              </a:spcAft>
            </a:pPr>
            <a:r>
              <a:rPr sz="1050" b="0" i="0">
                <a:solidFill>
                  <a:srgbClr val="8C98AA"/>
                </a:solidFill>
                <a:latin typeface="微软雅黑"/>
              </a:rPr>
              <a:t>虚实迁移技术</a:t>
            </a:r>
          </a:p>
        </p:txBody>
      </p:sp>
      <p:sp>
        <p:nvSpPr>
          <p:cNvPr id="6" name="TextBox 5"/>
          <p:cNvSpPr txBox="1"/>
          <p:nvPr/>
        </p:nvSpPr>
        <p:spPr>
          <a:xfrm>
            <a:off x="502920" y="457200"/>
            <a:ext cx="10927080" cy="749808"/>
          </a:xfrm>
          <a:prstGeom prst="rect">
            <a:avLst/>
          </a:prstGeom>
          <a:noFill/>
        </p:spPr>
        <p:txBody>
          <a:bodyPr wrap="square" lIns="0" tIns="0" rIns="0" bIns="0" anchor="t">
            <a:spAutoFit/>
          </a:bodyPr>
          <a:lstStyle/>
          <a:p>
            <a:pPr algn="l">
              <a:lnSpc>
                <a:spcPct val="112000"/>
              </a:lnSpc>
              <a:spcAft>
                <a:spcPts val="0"/>
              </a:spcAft>
            </a:pPr>
            <a:r>
              <a:rPr sz="3500" b="1" i="0">
                <a:solidFill>
                  <a:srgbClr val="24477D"/>
                </a:solidFill>
                <a:latin typeface="微软雅黑"/>
              </a:rPr>
              <a:t>MMD 在虚实迁移中的使用边界</a:t>
            </a:r>
          </a:p>
        </p:txBody>
      </p:sp>
      <p:sp>
        <p:nvSpPr>
          <p:cNvPr id="7" name="Rectangle 6"/>
          <p:cNvSpPr/>
          <p:nvPr/>
        </p:nvSpPr>
        <p:spPr>
          <a:xfrm>
            <a:off x="502920" y="1353312"/>
            <a:ext cx="11109960" cy="9144"/>
          </a:xfrm>
          <a:prstGeom prst="rect">
            <a:avLst/>
          </a:prstGeom>
          <a:solidFill>
            <a:srgbClr val="D8DE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1457432" y="6473952"/>
            <a:ext cx="347472" cy="164592"/>
          </a:xfrm>
          <a:prstGeom prst="rect">
            <a:avLst/>
          </a:prstGeom>
          <a:noFill/>
        </p:spPr>
        <p:txBody>
          <a:bodyPr wrap="square" lIns="0" tIns="0" rIns="0" bIns="0" anchor="t">
            <a:spAutoFit/>
          </a:bodyPr>
          <a:lstStyle/>
          <a:p>
            <a:pPr algn="r">
              <a:lnSpc>
                <a:spcPct val="112000"/>
              </a:lnSpc>
              <a:spcAft>
                <a:spcPts val="0"/>
              </a:spcAft>
            </a:pPr>
            <a:r>
              <a:rPr sz="1050" b="0" i="0">
                <a:solidFill>
                  <a:srgbClr val="8C98AA"/>
                </a:solidFill>
                <a:latin typeface="微软雅黑"/>
              </a:rPr>
              <a:t>30</a:t>
            </a:r>
          </a:p>
        </p:txBody>
      </p:sp>
      <p:sp>
        <p:nvSpPr>
          <p:cNvPr id="9" name="TextBox 8"/>
          <p:cNvSpPr txBox="1"/>
          <p:nvPr/>
        </p:nvSpPr>
        <p:spPr>
          <a:xfrm>
            <a:off x="749808" y="1691640"/>
            <a:ext cx="10378440" cy="3039807"/>
          </a:xfrm>
          <a:prstGeom prst="rect">
            <a:avLst/>
          </a:prstGeom>
          <a:noFill/>
        </p:spPr>
        <p:txBody>
          <a:bodyPr wrap="square" lIns="0" tIns="0" rIns="0" bIns="0">
            <a:spAutoFit/>
          </a:bodyPr>
          <a:lstStyle/>
          <a:p>
            <a:pPr>
              <a:lnSpc>
                <a:spcPct val="112000"/>
              </a:lnSpc>
              <a:spcAft>
                <a:spcPts val="700"/>
              </a:spcAft>
            </a:pPr>
            <a:r>
              <a:rPr sz="2800" b="0" dirty="0">
                <a:solidFill>
                  <a:srgbClr val="222833"/>
                </a:solidFill>
                <a:latin typeface="微软雅黑"/>
              </a:rPr>
              <a:t>• </a:t>
            </a:r>
            <a:r>
              <a:rPr sz="2800" dirty="0" err="1">
                <a:solidFill>
                  <a:srgbClr val="222833"/>
                </a:solidFill>
                <a:latin typeface="微软雅黑"/>
              </a:rPr>
              <a:t>可作为域自适应训练中的分布对齐损失，也可度量简单状态分布之间的差异</a:t>
            </a:r>
            <a:r>
              <a:rPr sz="2800" dirty="0">
                <a:solidFill>
                  <a:srgbClr val="222833"/>
                </a:solidFill>
                <a:latin typeface="微软雅黑"/>
              </a:rPr>
              <a:t>。</a:t>
            </a:r>
          </a:p>
          <a:p>
            <a:pPr>
              <a:lnSpc>
                <a:spcPct val="112000"/>
              </a:lnSpc>
              <a:spcAft>
                <a:spcPts val="700"/>
              </a:spcAft>
            </a:pPr>
            <a:r>
              <a:rPr sz="2800" b="0" dirty="0">
                <a:solidFill>
                  <a:srgbClr val="222833"/>
                </a:solidFill>
                <a:latin typeface="微软雅黑"/>
              </a:rPr>
              <a:t>• </a:t>
            </a:r>
            <a:r>
              <a:rPr sz="2800" dirty="0" err="1">
                <a:solidFill>
                  <a:srgbClr val="222833"/>
                </a:solidFill>
                <a:latin typeface="微软雅黑"/>
              </a:rPr>
              <a:t>在端到端策略的</a:t>
            </a:r>
            <a:r>
              <a:rPr sz="2800" dirty="0">
                <a:solidFill>
                  <a:srgbClr val="222833"/>
                </a:solidFill>
                <a:latin typeface="微软雅黑"/>
              </a:rPr>
              <a:t> rollout </a:t>
            </a:r>
            <a:r>
              <a:rPr sz="2800" dirty="0" err="1">
                <a:solidFill>
                  <a:srgbClr val="222833"/>
                </a:solidFill>
                <a:latin typeface="微软雅黑"/>
              </a:rPr>
              <a:t>轨迹分布上直接量化域差距，仍然是开放性研究问题</a:t>
            </a:r>
            <a:r>
              <a:rPr sz="2800" dirty="0">
                <a:solidFill>
                  <a:srgbClr val="222833"/>
                </a:solidFill>
                <a:latin typeface="微软雅黑"/>
              </a:rPr>
              <a:t>。</a:t>
            </a:r>
          </a:p>
          <a:p>
            <a:pPr>
              <a:lnSpc>
                <a:spcPct val="112000"/>
              </a:lnSpc>
              <a:spcAft>
                <a:spcPts val="700"/>
              </a:spcAft>
            </a:pPr>
            <a:r>
              <a:rPr sz="2800" b="0" dirty="0">
                <a:solidFill>
                  <a:srgbClr val="222833"/>
                </a:solidFill>
                <a:latin typeface="微软雅黑"/>
              </a:rPr>
              <a:t>• </a:t>
            </a:r>
            <a:r>
              <a:rPr sz="2800" dirty="0">
                <a:solidFill>
                  <a:srgbClr val="222833"/>
                </a:solidFill>
                <a:latin typeface="微软雅黑"/>
              </a:rPr>
              <a:t>MMD </a:t>
            </a:r>
            <a:r>
              <a:rPr sz="2800" dirty="0" err="1">
                <a:solidFill>
                  <a:srgbClr val="222833"/>
                </a:solidFill>
                <a:latin typeface="微软雅黑"/>
              </a:rPr>
              <a:t>适合做“分布是否接近”的辅助诊断，但不能替代真实部署评估</a:t>
            </a:r>
            <a:r>
              <a:rPr sz="2800" dirty="0">
                <a:solidFill>
                  <a:srgbClr val="222833"/>
                </a:solidFill>
                <a:latin typeface="微软雅黑"/>
              </a:rPr>
              <a:t>。</a:t>
            </a:r>
          </a:p>
        </p:txBody>
      </p:sp>
      <p:sp>
        <p:nvSpPr>
          <p:cNvPr id="10" name="TextBox 9"/>
          <p:cNvSpPr txBox="1"/>
          <p:nvPr/>
        </p:nvSpPr>
        <p:spPr>
          <a:xfrm>
            <a:off x="640080" y="5230368"/>
            <a:ext cx="10972800" cy="502920"/>
          </a:xfrm>
          <a:prstGeom prst="rect">
            <a:avLst/>
          </a:prstGeom>
          <a:noFill/>
        </p:spPr>
        <p:txBody>
          <a:bodyPr wrap="square" lIns="0" tIns="0" rIns="0" bIns="0" anchor="ctr">
            <a:spAutoFit/>
          </a:bodyPr>
          <a:lstStyle/>
          <a:p>
            <a:pPr algn="ctr">
              <a:lnSpc>
                <a:spcPct val="112000"/>
              </a:lnSpc>
              <a:spcAft>
                <a:spcPts val="0"/>
              </a:spcAft>
            </a:pPr>
            <a:r>
              <a:rPr sz="2000" b="1" i="0">
                <a:solidFill>
                  <a:srgbClr val="24477D"/>
                </a:solidFill>
                <a:latin typeface="微软雅黑"/>
              </a:rPr>
              <a:t>指标越“贴近最终任务行为”，越能真实反映迁移质量。</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18872" cy="6858000"/>
          </a:xfrm>
          <a:prstGeom prst="rect">
            <a:avLst/>
          </a:prstGeom>
          <a:solidFill>
            <a:srgbClr val="3159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118872" y="0"/>
            <a:ext cx="41148" cy="6858000"/>
          </a:xfrm>
          <a:prstGeom prst="rect">
            <a:avLst/>
          </a:prstGeom>
          <a:solidFill>
            <a:srgbClr val="B7C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38912" y="137160"/>
            <a:ext cx="3474720" cy="164592"/>
          </a:xfrm>
          <a:prstGeom prst="rect">
            <a:avLst/>
          </a:prstGeom>
          <a:noFill/>
        </p:spPr>
        <p:txBody>
          <a:bodyPr wrap="square" lIns="0" tIns="0" rIns="0" bIns="0" anchor="t">
            <a:spAutoFit/>
          </a:bodyPr>
          <a:lstStyle/>
          <a:p>
            <a:pPr algn="l">
              <a:lnSpc>
                <a:spcPct val="112000"/>
              </a:lnSpc>
              <a:spcAft>
                <a:spcPts val="0"/>
              </a:spcAft>
            </a:pPr>
            <a:r>
              <a:rPr sz="1050" b="0" i="0">
                <a:solidFill>
                  <a:srgbClr val="8C98AA"/>
                </a:solidFill>
                <a:latin typeface="微软雅黑"/>
              </a:rPr>
              <a:t>具身智能导论 · 第 9 章</a:t>
            </a:r>
          </a:p>
        </p:txBody>
      </p:sp>
      <p:sp>
        <p:nvSpPr>
          <p:cNvPr id="5" name="TextBox 4"/>
          <p:cNvSpPr txBox="1"/>
          <p:nvPr/>
        </p:nvSpPr>
        <p:spPr>
          <a:xfrm>
            <a:off x="9144000" y="137160"/>
            <a:ext cx="2423160" cy="164592"/>
          </a:xfrm>
          <a:prstGeom prst="rect">
            <a:avLst/>
          </a:prstGeom>
          <a:noFill/>
        </p:spPr>
        <p:txBody>
          <a:bodyPr wrap="square" lIns="0" tIns="0" rIns="0" bIns="0" anchor="t">
            <a:spAutoFit/>
          </a:bodyPr>
          <a:lstStyle/>
          <a:p>
            <a:pPr algn="r">
              <a:lnSpc>
                <a:spcPct val="112000"/>
              </a:lnSpc>
              <a:spcAft>
                <a:spcPts val="0"/>
              </a:spcAft>
            </a:pPr>
            <a:r>
              <a:rPr sz="1050" b="0" i="0">
                <a:solidFill>
                  <a:srgbClr val="8C98AA"/>
                </a:solidFill>
                <a:latin typeface="微软雅黑"/>
              </a:rPr>
              <a:t>虚实迁移技术</a:t>
            </a:r>
          </a:p>
        </p:txBody>
      </p:sp>
      <p:sp>
        <p:nvSpPr>
          <p:cNvPr id="6" name="TextBox 5"/>
          <p:cNvSpPr txBox="1"/>
          <p:nvPr/>
        </p:nvSpPr>
        <p:spPr>
          <a:xfrm>
            <a:off x="502920" y="457200"/>
            <a:ext cx="10927080" cy="749808"/>
          </a:xfrm>
          <a:prstGeom prst="rect">
            <a:avLst/>
          </a:prstGeom>
          <a:noFill/>
        </p:spPr>
        <p:txBody>
          <a:bodyPr wrap="square" lIns="0" tIns="0" rIns="0" bIns="0" anchor="t">
            <a:spAutoFit/>
          </a:bodyPr>
          <a:lstStyle/>
          <a:p>
            <a:pPr algn="l">
              <a:lnSpc>
                <a:spcPct val="112000"/>
              </a:lnSpc>
              <a:spcAft>
                <a:spcPts val="0"/>
              </a:spcAft>
            </a:pPr>
            <a:r>
              <a:rPr sz="3100" b="1" i="0">
                <a:solidFill>
                  <a:srgbClr val="24477D"/>
                </a:solidFill>
                <a:latin typeface="微软雅黑"/>
              </a:rPr>
              <a:t>9.1.3 Real-to-Sim-to-Real 循环</a:t>
            </a:r>
          </a:p>
        </p:txBody>
      </p:sp>
      <p:sp>
        <p:nvSpPr>
          <p:cNvPr id="7" name="Rectangle 6"/>
          <p:cNvSpPr/>
          <p:nvPr/>
        </p:nvSpPr>
        <p:spPr>
          <a:xfrm>
            <a:off x="502920" y="1353312"/>
            <a:ext cx="11109960" cy="9144"/>
          </a:xfrm>
          <a:prstGeom prst="rect">
            <a:avLst/>
          </a:prstGeom>
          <a:solidFill>
            <a:srgbClr val="D8DE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1457432" y="6473952"/>
            <a:ext cx="347472" cy="164592"/>
          </a:xfrm>
          <a:prstGeom prst="rect">
            <a:avLst/>
          </a:prstGeom>
          <a:noFill/>
        </p:spPr>
        <p:txBody>
          <a:bodyPr wrap="square" lIns="0" tIns="0" rIns="0" bIns="0" anchor="t">
            <a:spAutoFit/>
          </a:bodyPr>
          <a:lstStyle/>
          <a:p>
            <a:pPr algn="r">
              <a:lnSpc>
                <a:spcPct val="112000"/>
              </a:lnSpc>
              <a:spcAft>
                <a:spcPts val="0"/>
              </a:spcAft>
            </a:pPr>
            <a:r>
              <a:rPr sz="1050" b="0" i="0">
                <a:solidFill>
                  <a:srgbClr val="8C98AA"/>
                </a:solidFill>
                <a:latin typeface="微软雅黑"/>
              </a:rPr>
              <a:t>31</a:t>
            </a:r>
          </a:p>
        </p:txBody>
      </p:sp>
      <p:sp>
        <p:nvSpPr>
          <p:cNvPr id="9" name="Rounded Rectangle 8"/>
          <p:cNvSpPr/>
          <p:nvPr/>
        </p:nvSpPr>
        <p:spPr>
          <a:xfrm>
            <a:off x="868680" y="2011680"/>
            <a:ext cx="2411729" cy="960120"/>
          </a:xfrm>
          <a:prstGeom prst="roundRect">
            <a:avLst/>
          </a:prstGeom>
          <a:solidFill>
            <a:srgbClr val="FFFFFF"/>
          </a:solidFill>
          <a:ln w="10160">
            <a:solidFill>
              <a:srgbClr val="E0E5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868680" y="2011680"/>
            <a:ext cx="64008" cy="960120"/>
          </a:xfrm>
          <a:prstGeom prst="rect">
            <a:avLst/>
          </a:prstGeom>
          <a:solidFill>
            <a:srgbClr val="C63F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1033271" y="2240280"/>
            <a:ext cx="2082545" cy="457200"/>
          </a:xfrm>
          <a:prstGeom prst="rect">
            <a:avLst/>
          </a:prstGeom>
          <a:noFill/>
        </p:spPr>
        <p:txBody>
          <a:bodyPr wrap="square" lIns="0" tIns="0" rIns="0" bIns="0" anchor="ctr">
            <a:spAutoFit/>
          </a:bodyPr>
          <a:lstStyle/>
          <a:p>
            <a:pPr algn="ctr">
              <a:lnSpc>
                <a:spcPct val="112000"/>
              </a:lnSpc>
              <a:spcAft>
                <a:spcPts val="0"/>
              </a:spcAft>
            </a:pPr>
            <a:r>
              <a:rPr sz="1900" b="1" i="0">
                <a:solidFill>
                  <a:srgbClr val="C63F45"/>
                </a:solidFill>
                <a:latin typeface="微软雅黑"/>
              </a:rPr>
              <a:t>现实数据</a:t>
            </a:r>
          </a:p>
        </p:txBody>
      </p:sp>
      <p:sp>
        <p:nvSpPr>
          <p:cNvPr id="12" name="TextBox 11"/>
          <p:cNvSpPr txBox="1"/>
          <p:nvPr/>
        </p:nvSpPr>
        <p:spPr>
          <a:xfrm>
            <a:off x="3307841" y="2286000"/>
            <a:ext cx="228600" cy="320040"/>
          </a:xfrm>
          <a:prstGeom prst="rect">
            <a:avLst/>
          </a:prstGeom>
          <a:noFill/>
        </p:spPr>
        <p:txBody>
          <a:bodyPr wrap="square" lIns="0" tIns="0" rIns="0" bIns="0" anchor="t">
            <a:spAutoFit/>
          </a:bodyPr>
          <a:lstStyle/>
          <a:p>
            <a:pPr algn="ctr">
              <a:lnSpc>
                <a:spcPct val="112000"/>
              </a:lnSpc>
              <a:spcAft>
                <a:spcPts val="0"/>
              </a:spcAft>
            </a:pPr>
            <a:r>
              <a:rPr sz="2400" b="1" i="0">
                <a:solidFill>
                  <a:srgbClr val="8C98AA"/>
                </a:solidFill>
                <a:latin typeface="微软雅黑"/>
              </a:rPr>
              <a:t>→</a:t>
            </a:r>
          </a:p>
        </p:txBody>
      </p:sp>
      <p:sp>
        <p:nvSpPr>
          <p:cNvPr id="13" name="Rounded Rectangle 12"/>
          <p:cNvSpPr/>
          <p:nvPr/>
        </p:nvSpPr>
        <p:spPr>
          <a:xfrm>
            <a:off x="3554729" y="2011680"/>
            <a:ext cx="2411729" cy="960120"/>
          </a:xfrm>
          <a:prstGeom prst="roundRect">
            <a:avLst/>
          </a:prstGeom>
          <a:solidFill>
            <a:srgbClr val="FFFFFF"/>
          </a:solidFill>
          <a:ln w="10160">
            <a:solidFill>
              <a:srgbClr val="E0E5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3554729" y="2011680"/>
            <a:ext cx="64008" cy="960120"/>
          </a:xfrm>
          <a:prstGeom prst="rect">
            <a:avLst/>
          </a:prstGeom>
          <a:solidFill>
            <a:srgbClr val="3159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3719321" y="2240280"/>
            <a:ext cx="2082545" cy="457200"/>
          </a:xfrm>
          <a:prstGeom prst="rect">
            <a:avLst/>
          </a:prstGeom>
          <a:noFill/>
        </p:spPr>
        <p:txBody>
          <a:bodyPr wrap="square" lIns="0" tIns="0" rIns="0" bIns="0" anchor="ctr">
            <a:spAutoFit/>
          </a:bodyPr>
          <a:lstStyle/>
          <a:p>
            <a:pPr algn="ctr">
              <a:lnSpc>
                <a:spcPct val="112000"/>
              </a:lnSpc>
              <a:spcAft>
                <a:spcPts val="0"/>
              </a:spcAft>
            </a:pPr>
            <a:r>
              <a:rPr sz="1900" b="1" i="0">
                <a:solidFill>
                  <a:srgbClr val="31599B"/>
                </a:solidFill>
                <a:latin typeface="微软雅黑"/>
              </a:rPr>
              <a:t>修正仿真</a:t>
            </a:r>
          </a:p>
        </p:txBody>
      </p:sp>
      <p:sp>
        <p:nvSpPr>
          <p:cNvPr id="16" name="TextBox 15"/>
          <p:cNvSpPr txBox="1"/>
          <p:nvPr/>
        </p:nvSpPr>
        <p:spPr>
          <a:xfrm>
            <a:off x="5993891" y="2286000"/>
            <a:ext cx="228600" cy="320040"/>
          </a:xfrm>
          <a:prstGeom prst="rect">
            <a:avLst/>
          </a:prstGeom>
          <a:noFill/>
        </p:spPr>
        <p:txBody>
          <a:bodyPr wrap="square" lIns="0" tIns="0" rIns="0" bIns="0" anchor="t">
            <a:spAutoFit/>
          </a:bodyPr>
          <a:lstStyle/>
          <a:p>
            <a:pPr algn="ctr">
              <a:lnSpc>
                <a:spcPct val="112000"/>
              </a:lnSpc>
              <a:spcAft>
                <a:spcPts val="0"/>
              </a:spcAft>
            </a:pPr>
            <a:r>
              <a:rPr sz="2400" b="1" i="0">
                <a:solidFill>
                  <a:srgbClr val="8C98AA"/>
                </a:solidFill>
                <a:latin typeface="微软雅黑"/>
              </a:rPr>
              <a:t>→</a:t>
            </a:r>
          </a:p>
        </p:txBody>
      </p:sp>
      <p:sp>
        <p:nvSpPr>
          <p:cNvPr id="17" name="Rounded Rectangle 16"/>
          <p:cNvSpPr/>
          <p:nvPr/>
        </p:nvSpPr>
        <p:spPr>
          <a:xfrm>
            <a:off x="6240779" y="2011680"/>
            <a:ext cx="2411729" cy="960120"/>
          </a:xfrm>
          <a:prstGeom prst="roundRect">
            <a:avLst/>
          </a:prstGeom>
          <a:solidFill>
            <a:srgbClr val="FFFFFF"/>
          </a:solidFill>
          <a:ln w="10160">
            <a:solidFill>
              <a:srgbClr val="E0E5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6240779" y="2011680"/>
            <a:ext cx="64008" cy="960120"/>
          </a:xfrm>
          <a:prstGeom prst="rect">
            <a:avLst/>
          </a:prstGeom>
          <a:solidFill>
            <a:srgbClr val="2F8E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6405371" y="2240280"/>
            <a:ext cx="2082545" cy="457200"/>
          </a:xfrm>
          <a:prstGeom prst="rect">
            <a:avLst/>
          </a:prstGeom>
          <a:noFill/>
        </p:spPr>
        <p:txBody>
          <a:bodyPr wrap="square" lIns="0" tIns="0" rIns="0" bIns="0" anchor="ctr">
            <a:spAutoFit/>
          </a:bodyPr>
          <a:lstStyle/>
          <a:p>
            <a:pPr algn="ctr">
              <a:lnSpc>
                <a:spcPct val="112000"/>
              </a:lnSpc>
              <a:spcAft>
                <a:spcPts val="0"/>
              </a:spcAft>
            </a:pPr>
            <a:r>
              <a:rPr sz="1900" b="1" i="0">
                <a:solidFill>
                  <a:srgbClr val="2F8E72"/>
                </a:solidFill>
                <a:latin typeface="微软雅黑"/>
              </a:rPr>
              <a:t>大规模训练</a:t>
            </a:r>
          </a:p>
        </p:txBody>
      </p:sp>
      <p:sp>
        <p:nvSpPr>
          <p:cNvPr id="20" name="TextBox 19"/>
          <p:cNvSpPr txBox="1"/>
          <p:nvPr/>
        </p:nvSpPr>
        <p:spPr>
          <a:xfrm>
            <a:off x="8679941" y="2286000"/>
            <a:ext cx="228600" cy="320040"/>
          </a:xfrm>
          <a:prstGeom prst="rect">
            <a:avLst/>
          </a:prstGeom>
          <a:noFill/>
        </p:spPr>
        <p:txBody>
          <a:bodyPr wrap="square" lIns="0" tIns="0" rIns="0" bIns="0" anchor="t">
            <a:spAutoFit/>
          </a:bodyPr>
          <a:lstStyle/>
          <a:p>
            <a:pPr algn="ctr">
              <a:lnSpc>
                <a:spcPct val="112000"/>
              </a:lnSpc>
              <a:spcAft>
                <a:spcPts val="0"/>
              </a:spcAft>
            </a:pPr>
            <a:r>
              <a:rPr sz="2400" b="1" i="0">
                <a:solidFill>
                  <a:srgbClr val="8C98AA"/>
                </a:solidFill>
                <a:latin typeface="微软雅黑"/>
              </a:rPr>
              <a:t>→</a:t>
            </a:r>
          </a:p>
        </p:txBody>
      </p:sp>
      <p:sp>
        <p:nvSpPr>
          <p:cNvPr id="21" name="Rounded Rectangle 20"/>
          <p:cNvSpPr/>
          <p:nvPr/>
        </p:nvSpPr>
        <p:spPr>
          <a:xfrm>
            <a:off x="8926829" y="2011680"/>
            <a:ext cx="2411729" cy="960120"/>
          </a:xfrm>
          <a:prstGeom prst="roundRect">
            <a:avLst/>
          </a:prstGeom>
          <a:solidFill>
            <a:srgbClr val="FFFFFF"/>
          </a:solidFill>
          <a:ln w="10160">
            <a:solidFill>
              <a:srgbClr val="E0E5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8926829" y="2011680"/>
            <a:ext cx="64008" cy="960120"/>
          </a:xfrm>
          <a:prstGeom prst="rect">
            <a:avLst/>
          </a:prstGeom>
          <a:solidFill>
            <a:srgbClr val="C58A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9091421" y="2240280"/>
            <a:ext cx="2082545" cy="457200"/>
          </a:xfrm>
          <a:prstGeom prst="rect">
            <a:avLst/>
          </a:prstGeom>
          <a:noFill/>
        </p:spPr>
        <p:txBody>
          <a:bodyPr wrap="square" lIns="0" tIns="0" rIns="0" bIns="0" anchor="ctr">
            <a:spAutoFit/>
          </a:bodyPr>
          <a:lstStyle/>
          <a:p>
            <a:pPr algn="ctr">
              <a:lnSpc>
                <a:spcPct val="112000"/>
              </a:lnSpc>
              <a:spcAft>
                <a:spcPts val="0"/>
              </a:spcAft>
            </a:pPr>
            <a:r>
              <a:rPr sz="1900" b="1" i="0">
                <a:solidFill>
                  <a:srgbClr val="C58A24"/>
                </a:solidFill>
                <a:latin typeface="微软雅黑"/>
              </a:rPr>
              <a:t>回到现实</a:t>
            </a:r>
          </a:p>
        </p:txBody>
      </p:sp>
      <p:sp>
        <p:nvSpPr>
          <p:cNvPr id="24" name="TextBox 23"/>
          <p:cNvSpPr txBox="1"/>
          <p:nvPr/>
        </p:nvSpPr>
        <p:spPr>
          <a:xfrm>
            <a:off x="868680" y="3886200"/>
            <a:ext cx="10469880" cy="1005840"/>
          </a:xfrm>
          <a:prstGeom prst="rect">
            <a:avLst/>
          </a:prstGeom>
          <a:noFill/>
        </p:spPr>
        <p:txBody>
          <a:bodyPr wrap="square" lIns="0" tIns="0" rIns="0" bIns="0" anchor="t">
            <a:spAutoFit/>
          </a:bodyPr>
          <a:lstStyle/>
          <a:p>
            <a:pPr algn="ctr">
              <a:lnSpc>
                <a:spcPct val="112000"/>
              </a:lnSpc>
              <a:spcAft>
                <a:spcPts val="0"/>
              </a:spcAft>
            </a:pPr>
            <a:r>
              <a:rPr sz="2100" b="0" i="0">
                <a:solidFill>
                  <a:srgbClr val="222833"/>
                </a:solidFill>
                <a:latin typeface="微软雅黑"/>
              </a:rPr>
              <a:t>Real-to-Sim-to-Real（Real2Sim2Real）通过少量现实数据修正仿真模型，再在仿真中大规模优化策略，最后部署回现实，并继续利用反馈迭代。</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18872" cy="6858000"/>
          </a:xfrm>
          <a:prstGeom prst="rect">
            <a:avLst/>
          </a:prstGeom>
          <a:solidFill>
            <a:srgbClr val="3159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118872" y="0"/>
            <a:ext cx="41148" cy="6858000"/>
          </a:xfrm>
          <a:prstGeom prst="rect">
            <a:avLst/>
          </a:prstGeom>
          <a:solidFill>
            <a:srgbClr val="B7C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38912" y="137160"/>
            <a:ext cx="3474720" cy="164592"/>
          </a:xfrm>
          <a:prstGeom prst="rect">
            <a:avLst/>
          </a:prstGeom>
          <a:noFill/>
        </p:spPr>
        <p:txBody>
          <a:bodyPr wrap="square" lIns="0" tIns="0" rIns="0" bIns="0" anchor="t">
            <a:spAutoFit/>
          </a:bodyPr>
          <a:lstStyle/>
          <a:p>
            <a:pPr algn="l">
              <a:lnSpc>
                <a:spcPct val="112000"/>
              </a:lnSpc>
              <a:spcAft>
                <a:spcPts val="0"/>
              </a:spcAft>
            </a:pPr>
            <a:r>
              <a:rPr sz="1050" b="0" i="0">
                <a:solidFill>
                  <a:srgbClr val="8C98AA"/>
                </a:solidFill>
                <a:latin typeface="微软雅黑"/>
              </a:rPr>
              <a:t>具身智能导论 · 第 9 章</a:t>
            </a:r>
          </a:p>
        </p:txBody>
      </p:sp>
      <p:sp>
        <p:nvSpPr>
          <p:cNvPr id="5" name="TextBox 4"/>
          <p:cNvSpPr txBox="1"/>
          <p:nvPr/>
        </p:nvSpPr>
        <p:spPr>
          <a:xfrm>
            <a:off x="9144000" y="137160"/>
            <a:ext cx="2423160" cy="164592"/>
          </a:xfrm>
          <a:prstGeom prst="rect">
            <a:avLst/>
          </a:prstGeom>
          <a:noFill/>
        </p:spPr>
        <p:txBody>
          <a:bodyPr wrap="square" lIns="0" tIns="0" rIns="0" bIns="0" anchor="t">
            <a:spAutoFit/>
          </a:bodyPr>
          <a:lstStyle/>
          <a:p>
            <a:pPr algn="r">
              <a:lnSpc>
                <a:spcPct val="112000"/>
              </a:lnSpc>
              <a:spcAft>
                <a:spcPts val="0"/>
              </a:spcAft>
            </a:pPr>
            <a:r>
              <a:rPr sz="1050" b="0" i="0">
                <a:solidFill>
                  <a:srgbClr val="8C98AA"/>
                </a:solidFill>
                <a:latin typeface="微软雅黑"/>
              </a:rPr>
              <a:t>虚实迁移技术</a:t>
            </a:r>
          </a:p>
        </p:txBody>
      </p:sp>
      <p:sp>
        <p:nvSpPr>
          <p:cNvPr id="6" name="TextBox 5"/>
          <p:cNvSpPr txBox="1"/>
          <p:nvPr/>
        </p:nvSpPr>
        <p:spPr>
          <a:xfrm>
            <a:off x="502920" y="457200"/>
            <a:ext cx="10927080" cy="749808"/>
          </a:xfrm>
          <a:prstGeom prst="rect">
            <a:avLst/>
          </a:prstGeom>
          <a:noFill/>
        </p:spPr>
        <p:txBody>
          <a:bodyPr wrap="square" lIns="0" tIns="0" rIns="0" bIns="0" anchor="t">
            <a:spAutoFit/>
          </a:bodyPr>
          <a:lstStyle/>
          <a:p>
            <a:pPr algn="l">
              <a:lnSpc>
                <a:spcPct val="112000"/>
              </a:lnSpc>
              <a:spcAft>
                <a:spcPts val="0"/>
              </a:spcAft>
            </a:pPr>
            <a:r>
              <a:rPr sz="3100" b="1" i="0">
                <a:solidFill>
                  <a:srgbClr val="24477D"/>
                </a:solidFill>
                <a:latin typeface="微软雅黑"/>
              </a:rPr>
              <a:t>RialTo：Real-to-Sim-to-Real 的典型闭环</a:t>
            </a:r>
          </a:p>
        </p:txBody>
      </p:sp>
      <p:sp>
        <p:nvSpPr>
          <p:cNvPr id="7" name="Rectangle 6"/>
          <p:cNvSpPr/>
          <p:nvPr/>
        </p:nvSpPr>
        <p:spPr>
          <a:xfrm>
            <a:off x="502920" y="1353312"/>
            <a:ext cx="11109960" cy="9144"/>
          </a:xfrm>
          <a:prstGeom prst="rect">
            <a:avLst/>
          </a:prstGeom>
          <a:solidFill>
            <a:srgbClr val="D8DE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1457432" y="6473952"/>
            <a:ext cx="347472" cy="164592"/>
          </a:xfrm>
          <a:prstGeom prst="rect">
            <a:avLst/>
          </a:prstGeom>
          <a:noFill/>
        </p:spPr>
        <p:txBody>
          <a:bodyPr wrap="square" lIns="0" tIns="0" rIns="0" bIns="0" anchor="t">
            <a:spAutoFit/>
          </a:bodyPr>
          <a:lstStyle/>
          <a:p>
            <a:pPr algn="r">
              <a:lnSpc>
                <a:spcPct val="112000"/>
              </a:lnSpc>
              <a:spcAft>
                <a:spcPts val="0"/>
              </a:spcAft>
            </a:pPr>
            <a:r>
              <a:rPr sz="1050" b="0" i="0">
                <a:solidFill>
                  <a:srgbClr val="8C98AA"/>
                </a:solidFill>
                <a:latin typeface="微软雅黑"/>
              </a:rPr>
              <a:t>32</a:t>
            </a:r>
          </a:p>
        </p:txBody>
      </p:sp>
      <p:sp>
        <p:nvSpPr>
          <p:cNvPr id="9" name="TextBox 8"/>
          <p:cNvSpPr txBox="1"/>
          <p:nvPr/>
        </p:nvSpPr>
        <p:spPr>
          <a:xfrm>
            <a:off x="749808" y="1627632"/>
            <a:ext cx="10469880" cy="3134641"/>
          </a:xfrm>
          <a:prstGeom prst="rect">
            <a:avLst/>
          </a:prstGeom>
          <a:noFill/>
        </p:spPr>
        <p:txBody>
          <a:bodyPr wrap="square" lIns="0" tIns="0" rIns="0" bIns="0">
            <a:spAutoFit/>
          </a:bodyPr>
          <a:lstStyle/>
          <a:p>
            <a:pPr>
              <a:lnSpc>
                <a:spcPct val="112000"/>
              </a:lnSpc>
              <a:spcAft>
                <a:spcPts val="700"/>
              </a:spcAft>
            </a:pPr>
            <a:r>
              <a:rPr sz="2400" b="1" dirty="0">
                <a:solidFill>
                  <a:srgbClr val="31599B"/>
                </a:solidFill>
                <a:latin typeface="微软雅黑"/>
              </a:rPr>
              <a:t>1  </a:t>
            </a:r>
            <a:r>
              <a:rPr sz="2400" dirty="0" err="1">
                <a:solidFill>
                  <a:srgbClr val="222833"/>
                </a:solidFill>
                <a:latin typeface="微软雅黑"/>
              </a:rPr>
              <a:t>手机扫描或</a:t>
            </a:r>
            <a:r>
              <a:rPr sz="2400" dirty="0">
                <a:solidFill>
                  <a:srgbClr val="222833"/>
                </a:solidFill>
                <a:latin typeface="微软雅黑"/>
              </a:rPr>
              <a:t> 3D </a:t>
            </a:r>
            <a:r>
              <a:rPr sz="2400" dirty="0" err="1">
                <a:solidFill>
                  <a:srgbClr val="222833"/>
                </a:solidFill>
                <a:latin typeface="微软雅黑"/>
              </a:rPr>
              <a:t>重建真实场景，获取几何与纹理</a:t>
            </a:r>
            <a:endParaRPr sz="2400" dirty="0">
              <a:solidFill>
                <a:srgbClr val="222833"/>
              </a:solidFill>
              <a:latin typeface="微软雅黑"/>
            </a:endParaRPr>
          </a:p>
          <a:p>
            <a:pPr>
              <a:lnSpc>
                <a:spcPct val="112000"/>
              </a:lnSpc>
              <a:spcAft>
                <a:spcPts val="700"/>
              </a:spcAft>
            </a:pPr>
            <a:r>
              <a:rPr sz="2400" b="1" dirty="0">
                <a:solidFill>
                  <a:srgbClr val="31599B"/>
                </a:solidFill>
                <a:latin typeface="微软雅黑"/>
              </a:rPr>
              <a:t>2  </a:t>
            </a:r>
            <a:r>
              <a:rPr sz="2400" dirty="0" err="1">
                <a:solidFill>
                  <a:srgbClr val="222833"/>
                </a:solidFill>
                <a:latin typeface="微软雅黑"/>
              </a:rPr>
              <a:t>通过</a:t>
            </a:r>
            <a:r>
              <a:rPr sz="2400" dirty="0">
                <a:solidFill>
                  <a:srgbClr val="222833"/>
                </a:solidFill>
                <a:latin typeface="微软雅黑"/>
              </a:rPr>
              <a:t> GUI </a:t>
            </a:r>
            <a:r>
              <a:rPr sz="2400" dirty="0" err="1">
                <a:solidFill>
                  <a:srgbClr val="222833"/>
                </a:solidFill>
                <a:latin typeface="微软雅黑"/>
              </a:rPr>
              <a:t>分离物体、添加关节运动学与物理参数，生成</a:t>
            </a:r>
            <a:r>
              <a:rPr sz="2400" dirty="0">
                <a:solidFill>
                  <a:srgbClr val="222833"/>
                </a:solidFill>
                <a:latin typeface="微软雅黑"/>
              </a:rPr>
              <a:t> USD / URDF </a:t>
            </a:r>
            <a:r>
              <a:rPr sz="2400" dirty="0" err="1">
                <a:solidFill>
                  <a:srgbClr val="222833"/>
                </a:solidFill>
                <a:latin typeface="微软雅黑"/>
              </a:rPr>
              <a:t>仿真场景</a:t>
            </a:r>
            <a:endParaRPr sz="2400" dirty="0">
              <a:solidFill>
                <a:srgbClr val="222833"/>
              </a:solidFill>
              <a:latin typeface="微软雅黑"/>
            </a:endParaRPr>
          </a:p>
          <a:p>
            <a:pPr>
              <a:lnSpc>
                <a:spcPct val="112000"/>
              </a:lnSpc>
              <a:spcAft>
                <a:spcPts val="700"/>
              </a:spcAft>
            </a:pPr>
            <a:r>
              <a:rPr sz="2400" b="1" dirty="0">
                <a:solidFill>
                  <a:srgbClr val="31599B"/>
                </a:solidFill>
                <a:latin typeface="微软雅黑"/>
              </a:rPr>
              <a:t>3  </a:t>
            </a:r>
            <a:r>
              <a:rPr sz="2400" dirty="0">
                <a:solidFill>
                  <a:srgbClr val="222833"/>
                </a:solidFill>
                <a:latin typeface="微软雅黑"/>
              </a:rPr>
              <a:t>执行“</a:t>
            </a:r>
            <a:r>
              <a:rPr sz="2400" dirty="0" err="1">
                <a:solidFill>
                  <a:srgbClr val="222833"/>
                </a:solidFill>
                <a:latin typeface="微软雅黑"/>
              </a:rPr>
              <a:t>逆蒸馏</a:t>
            </a:r>
            <a:r>
              <a:rPr sz="2400" dirty="0">
                <a:solidFill>
                  <a:srgbClr val="222833"/>
                </a:solidFill>
                <a:latin typeface="微软雅黑"/>
              </a:rPr>
              <a:t>”：</a:t>
            </a:r>
            <a:r>
              <a:rPr sz="2400" dirty="0" err="1">
                <a:solidFill>
                  <a:srgbClr val="222833"/>
                </a:solidFill>
                <a:latin typeface="微软雅黑"/>
              </a:rPr>
              <a:t>把现实演示数据转入仿真，利用</a:t>
            </a:r>
            <a:r>
              <a:rPr sz="2400" dirty="0">
                <a:solidFill>
                  <a:srgbClr val="222833"/>
                </a:solidFill>
                <a:latin typeface="微软雅黑"/>
              </a:rPr>
              <a:t> PPO + </a:t>
            </a:r>
            <a:r>
              <a:rPr sz="2400" dirty="0" err="1">
                <a:solidFill>
                  <a:srgbClr val="222833"/>
                </a:solidFill>
                <a:latin typeface="微软雅黑"/>
              </a:rPr>
              <a:t>行为克隆损失</a:t>
            </a:r>
            <a:r>
              <a:rPr sz="2400" dirty="0">
                <a:solidFill>
                  <a:srgbClr val="222833"/>
                </a:solidFill>
                <a:latin typeface="微软雅黑"/>
              </a:rPr>
              <a:t> + </a:t>
            </a:r>
            <a:r>
              <a:rPr sz="2400" dirty="0" err="1">
                <a:solidFill>
                  <a:srgbClr val="222833"/>
                </a:solidFill>
                <a:latin typeface="微软雅黑"/>
              </a:rPr>
              <a:t>稀疏奖励进行微调</a:t>
            </a:r>
            <a:endParaRPr sz="2400" dirty="0">
              <a:solidFill>
                <a:srgbClr val="222833"/>
              </a:solidFill>
              <a:latin typeface="微软雅黑"/>
            </a:endParaRPr>
          </a:p>
          <a:p>
            <a:pPr>
              <a:lnSpc>
                <a:spcPct val="112000"/>
              </a:lnSpc>
              <a:spcAft>
                <a:spcPts val="700"/>
              </a:spcAft>
            </a:pPr>
            <a:r>
              <a:rPr sz="2400" b="1" dirty="0">
                <a:solidFill>
                  <a:srgbClr val="31599B"/>
                </a:solidFill>
                <a:latin typeface="微软雅黑"/>
              </a:rPr>
              <a:t>4  </a:t>
            </a:r>
            <a:r>
              <a:rPr sz="2400" dirty="0" err="1">
                <a:solidFill>
                  <a:srgbClr val="222833"/>
                </a:solidFill>
                <a:latin typeface="微软雅黑"/>
              </a:rPr>
              <a:t>通过教师</a:t>
            </a:r>
            <a:r>
              <a:rPr sz="2400" dirty="0">
                <a:solidFill>
                  <a:srgbClr val="222833"/>
                </a:solidFill>
                <a:latin typeface="微软雅黑"/>
              </a:rPr>
              <a:t>—</a:t>
            </a:r>
            <a:r>
              <a:rPr sz="2400" dirty="0" err="1">
                <a:solidFill>
                  <a:srgbClr val="222833"/>
                </a:solidFill>
                <a:latin typeface="微软雅黑"/>
              </a:rPr>
              <a:t>学生蒸馏，把状态基策略转移为仅依赖视觉观测的策略，再部署回现实</a:t>
            </a:r>
            <a:endParaRPr sz="2400" dirty="0">
              <a:solidFill>
                <a:srgbClr val="222833"/>
              </a:solidFill>
              <a:latin typeface="微软雅黑"/>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18872" cy="6858000"/>
          </a:xfrm>
          <a:prstGeom prst="rect">
            <a:avLst/>
          </a:prstGeom>
          <a:solidFill>
            <a:srgbClr val="3159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118872" y="0"/>
            <a:ext cx="41148" cy="6858000"/>
          </a:xfrm>
          <a:prstGeom prst="rect">
            <a:avLst/>
          </a:prstGeom>
          <a:solidFill>
            <a:srgbClr val="B7C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38912" y="137160"/>
            <a:ext cx="3474720" cy="164592"/>
          </a:xfrm>
          <a:prstGeom prst="rect">
            <a:avLst/>
          </a:prstGeom>
          <a:noFill/>
        </p:spPr>
        <p:txBody>
          <a:bodyPr wrap="square" lIns="0" tIns="0" rIns="0" bIns="0" anchor="t">
            <a:spAutoFit/>
          </a:bodyPr>
          <a:lstStyle/>
          <a:p>
            <a:pPr algn="l">
              <a:lnSpc>
                <a:spcPct val="112000"/>
              </a:lnSpc>
              <a:spcAft>
                <a:spcPts val="0"/>
              </a:spcAft>
            </a:pPr>
            <a:r>
              <a:rPr sz="1050" b="0" i="0">
                <a:solidFill>
                  <a:srgbClr val="8C98AA"/>
                </a:solidFill>
                <a:latin typeface="微软雅黑"/>
              </a:rPr>
              <a:t>具身智能导论 · 第 9 章</a:t>
            </a:r>
          </a:p>
        </p:txBody>
      </p:sp>
      <p:sp>
        <p:nvSpPr>
          <p:cNvPr id="5" name="TextBox 4"/>
          <p:cNvSpPr txBox="1"/>
          <p:nvPr/>
        </p:nvSpPr>
        <p:spPr>
          <a:xfrm>
            <a:off x="9144000" y="137160"/>
            <a:ext cx="2423160" cy="164592"/>
          </a:xfrm>
          <a:prstGeom prst="rect">
            <a:avLst/>
          </a:prstGeom>
          <a:noFill/>
        </p:spPr>
        <p:txBody>
          <a:bodyPr wrap="square" lIns="0" tIns="0" rIns="0" bIns="0" anchor="t">
            <a:spAutoFit/>
          </a:bodyPr>
          <a:lstStyle/>
          <a:p>
            <a:pPr algn="r">
              <a:lnSpc>
                <a:spcPct val="112000"/>
              </a:lnSpc>
              <a:spcAft>
                <a:spcPts val="0"/>
              </a:spcAft>
            </a:pPr>
            <a:r>
              <a:rPr sz="1050" b="0" i="0">
                <a:solidFill>
                  <a:srgbClr val="8C98AA"/>
                </a:solidFill>
                <a:latin typeface="微软雅黑"/>
              </a:rPr>
              <a:t>虚实迁移技术</a:t>
            </a:r>
          </a:p>
        </p:txBody>
      </p:sp>
      <p:sp>
        <p:nvSpPr>
          <p:cNvPr id="6" name="TextBox 5"/>
          <p:cNvSpPr txBox="1"/>
          <p:nvPr/>
        </p:nvSpPr>
        <p:spPr>
          <a:xfrm>
            <a:off x="502920" y="457200"/>
            <a:ext cx="10927080" cy="749808"/>
          </a:xfrm>
          <a:prstGeom prst="rect">
            <a:avLst/>
          </a:prstGeom>
          <a:noFill/>
        </p:spPr>
        <p:txBody>
          <a:bodyPr wrap="square" lIns="0" tIns="0" rIns="0" bIns="0" anchor="t">
            <a:spAutoFit/>
          </a:bodyPr>
          <a:lstStyle/>
          <a:p>
            <a:pPr algn="l">
              <a:lnSpc>
                <a:spcPct val="112000"/>
              </a:lnSpc>
              <a:spcAft>
                <a:spcPts val="0"/>
              </a:spcAft>
            </a:pPr>
            <a:r>
              <a:rPr sz="3500" b="1" i="0">
                <a:solidFill>
                  <a:srgbClr val="24477D"/>
                </a:solidFill>
                <a:latin typeface="微软雅黑"/>
              </a:rPr>
              <a:t>RialTo 框架：从真实场景重建到鲁棒策略</a:t>
            </a:r>
          </a:p>
        </p:txBody>
      </p:sp>
      <p:sp>
        <p:nvSpPr>
          <p:cNvPr id="7" name="Rectangle 6"/>
          <p:cNvSpPr/>
          <p:nvPr/>
        </p:nvSpPr>
        <p:spPr>
          <a:xfrm>
            <a:off x="502920" y="1353312"/>
            <a:ext cx="11109960" cy="9144"/>
          </a:xfrm>
          <a:prstGeom prst="rect">
            <a:avLst/>
          </a:prstGeom>
          <a:solidFill>
            <a:srgbClr val="D8DE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1457432" y="6473952"/>
            <a:ext cx="347472" cy="164592"/>
          </a:xfrm>
          <a:prstGeom prst="rect">
            <a:avLst/>
          </a:prstGeom>
          <a:noFill/>
        </p:spPr>
        <p:txBody>
          <a:bodyPr wrap="square" lIns="0" tIns="0" rIns="0" bIns="0" anchor="t">
            <a:spAutoFit/>
          </a:bodyPr>
          <a:lstStyle/>
          <a:p>
            <a:pPr algn="r">
              <a:lnSpc>
                <a:spcPct val="112000"/>
              </a:lnSpc>
              <a:spcAft>
                <a:spcPts val="0"/>
              </a:spcAft>
            </a:pPr>
            <a:r>
              <a:rPr sz="1050" b="0" i="0">
                <a:solidFill>
                  <a:srgbClr val="8C98AA"/>
                </a:solidFill>
                <a:latin typeface="微软雅黑"/>
              </a:rPr>
              <a:t>33</a:t>
            </a:r>
          </a:p>
        </p:txBody>
      </p:sp>
      <p:sp>
        <p:nvSpPr>
          <p:cNvPr id="10" name="TextBox 9"/>
          <p:cNvSpPr txBox="1"/>
          <p:nvPr/>
        </p:nvSpPr>
        <p:spPr>
          <a:xfrm>
            <a:off x="873252" y="6217920"/>
            <a:ext cx="10332720" cy="256032"/>
          </a:xfrm>
          <a:prstGeom prst="rect">
            <a:avLst/>
          </a:prstGeom>
          <a:noFill/>
        </p:spPr>
        <p:txBody>
          <a:bodyPr wrap="square" lIns="0" tIns="0" rIns="0" bIns="0" anchor="t">
            <a:spAutoFit/>
          </a:bodyPr>
          <a:lstStyle/>
          <a:p>
            <a:pPr algn="ctr">
              <a:lnSpc>
                <a:spcPct val="112000"/>
              </a:lnSpc>
              <a:spcAft>
                <a:spcPts val="0"/>
              </a:spcAft>
            </a:pPr>
            <a:r>
              <a:rPr sz="1600" b="1" i="0" dirty="0" err="1">
                <a:solidFill>
                  <a:srgbClr val="222833"/>
                </a:solidFill>
                <a:latin typeface="微软雅黑"/>
              </a:rPr>
              <a:t>RialTo</a:t>
            </a:r>
            <a:r>
              <a:rPr sz="1600" b="1" i="0" dirty="0">
                <a:solidFill>
                  <a:srgbClr val="222833"/>
                </a:solidFill>
                <a:latin typeface="微软雅黑"/>
              </a:rPr>
              <a:t> </a:t>
            </a:r>
            <a:r>
              <a:rPr sz="1600" b="1" i="0" dirty="0" err="1">
                <a:solidFill>
                  <a:srgbClr val="222833"/>
                </a:solidFill>
                <a:latin typeface="微软雅黑"/>
              </a:rPr>
              <a:t>框架</a:t>
            </a:r>
            <a:endParaRPr sz="1600" b="1" i="0" dirty="0">
              <a:solidFill>
                <a:srgbClr val="222833"/>
              </a:solidFill>
              <a:latin typeface="微软雅黑"/>
            </a:endParaRPr>
          </a:p>
        </p:txBody>
      </p:sp>
      <p:pic>
        <p:nvPicPr>
          <p:cNvPr id="11" name="图片 10">
            <a:extLst>
              <a:ext uri="{FF2B5EF4-FFF2-40B4-BE49-F238E27FC236}">
                <a16:creationId xmlns:a16="http://schemas.microsoft.com/office/drawing/2014/main" id="{B46611D3-AB8E-4D87-B0BA-6C325C33AB3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827940" y="1689602"/>
            <a:ext cx="6108791" cy="4457204"/>
          </a:xfrm>
          <a:prstGeom prst="rect">
            <a:avLst/>
          </a:prstGeom>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18872" cy="6858000"/>
          </a:xfrm>
          <a:prstGeom prst="rect">
            <a:avLst/>
          </a:prstGeom>
          <a:solidFill>
            <a:srgbClr val="3159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118872" y="0"/>
            <a:ext cx="41148" cy="6858000"/>
          </a:xfrm>
          <a:prstGeom prst="rect">
            <a:avLst/>
          </a:prstGeom>
          <a:solidFill>
            <a:srgbClr val="B7C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38912" y="137160"/>
            <a:ext cx="3474720" cy="164592"/>
          </a:xfrm>
          <a:prstGeom prst="rect">
            <a:avLst/>
          </a:prstGeom>
          <a:noFill/>
        </p:spPr>
        <p:txBody>
          <a:bodyPr wrap="square" lIns="0" tIns="0" rIns="0" bIns="0" anchor="t">
            <a:spAutoFit/>
          </a:bodyPr>
          <a:lstStyle/>
          <a:p>
            <a:pPr algn="l">
              <a:lnSpc>
                <a:spcPct val="112000"/>
              </a:lnSpc>
              <a:spcAft>
                <a:spcPts val="0"/>
              </a:spcAft>
            </a:pPr>
            <a:r>
              <a:rPr sz="1050" b="0" i="0">
                <a:solidFill>
                  <a:srgbClr val="8C98AA"/>
                </a:solidFill>
                <a:latin typeface="微软雅黑"/>
              </a:rPr>
              <a:t>具身智能导论 · 第 9 章</a:t>
            </a:r>
          </a:p>
        </p:txBody>
      </p:sp>
      <p:sp>
        <p:nvSpPr>
          <p:cNvPr id="5" name="TextBox 4"/>
          <p:cNvSpPr txBox="1"/>
          <p:nvPr/>
        </p:nvSpPr>
        <p:spPr>
          <a:xfrm>
            <a:off x="9144000" y="137160"/>
            <a:ext cx="2423160" cy="164592"/>
          </a:xfrm>
          <a:prstGeom prst="rect">
            <a:avLst/>
          </a:prstGeom>
          <a:noFill/>
        </p:spPr>
        <p:txBody>
          <a:bodyPr wrap="square" lIns="0" tIns="0" rIns="0" bIns="0" anchor="t">
            <a:spAutoFit/>
          </a:bodyPr>
          <a:lstStyle/>
          <a:p>
            <a:pPr algn="r">
              <a:lnSpc>
                <a:spcPct val="112000"/>
              </a:lnSpc>
              <a:spcAft>
                <a:spcPts val="0"/>
              </a:spcAft>
            </a:pPr>
            <a:r>
              <a:rPr sz="1050" b="0" i="0">
                <a:solidFill>
                  <a:srgbClr val="8C98AA"/>
                </a:solidFill>
                <a:latin typeface="微软雅黑"/>
              </a:rPr>
              <a:t>虚实迁移技术</a:t>
            </a:r>
          </a:p>
        </p:txBody>
      </p:sp>
      <p:sp>
        <p:nvSpPr>
          <p:cNvPr id="6" name="TextBox 5"/>
          <p:cNvSpPr txBox="1"/>
          <p:nvPr/>
        </p:nvSpPr>
        <p:spPr>
          <a:xfrm>
            <a:off x="502920" y="457200"/>
            <a:ext cx="10927080" cy="749808"/>
          </a:xfrm>
          <a:prstGeom prst="rect">
            <a:avLst/>
          </a:prstGeom>
          <a:noFill/>
        </p:spPr>
        <p:txBody>
          <a:bodyPr wrap="square" lIns="0" tIns="0" rIns="0" bIns="0" anchor="t">
            <a:spAutoFit/>
          </a:bodyPr>
          <a:lstStyle/>
          <a:p>
            <a:pPr algn="l">
              <a:lnSpc>
                <a:spcPct val="112000"/>
              </a:lnSpc>
              <a:spcAft>
                <a:spcPts val="0"/>
              </a:spcAft>
            </a:pPr>
            <a:r>
              <a:rPr sz="3500" b="1" i="0">
                <a:solidFill>
                  <a:srgbClr val="24477D"/>
                </a:solidFill>
                <a:latin typeface="微软雅黑"/>
              </a:rPr>
              <a:t>SimOpt：用少量真实部署反向调整仿真参数分布</a:t>
            </a:r>
          </a:p>
        </p:txBody>
      </p:sp>
      <p:sp>
        <p:nvSpPr>
          <p:cNvPr id="7" name="Rectangle 6"/>
          <p:cNvSpPr/>
          <p:nvPr/>
        </p:nvSpPr>
        <p:spPr>
          <a:xfrm>
            <a:off x="502920" y="1353312"/>
            <a:ext cx="11109960" cy="9144"/>
          </a:xfrm>
          <a:prstGeom prst="rect">
            <a:avLst/>
          </a:prstGeom>
          <a:solidFill>
            <a:srgbClr val="D8DE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1457432" y="6473952"/>
            <a:ext cx="347472" cy="164592"/>
          </a:xfrm>
          <a:prstGeom prst="rect">
            <a:avLst/>
          </a:prstGeom>
          <a:noFill/>
        </p:spPr>
        <p:txBody>
          <a:bodyPr wrap="square" lIns="0" tIns="0" rIns="0" bIns="0" anchor="t">
            <a:spAutoFit/>
          </a:bodyPr>
          <a:lstStyle/>
          <a:p>
            <a:pPr algn="r">
              <a:lnSpc>
                <a:spcPct val="112000"/>
              </a:lnSpc>
              <a:spcAft>
                <a:spcPts val="0"/>
              </a:spcAft>
            </a:pPr>
            <a:r>
              <a:rPr sz="1050" b="0" i="0">
                <a:solidFill>
                  <a:srgbClr val="8C98AA"/>
                </a:solidFill>
                <a:latin typeface="微软雅黑"/>
              </a:rPr>
              <a:t>34</a:t>
            </a:r>
          </a:p>
        </p:txBody>
      </p:sp>
      <p:sp>
        <p:nvSpPr>
          <p:cNvPr id="9" name="TextBox 8"/>
          <p:cNvSpPr txBox="1"/>
          <p:nvPr/>
        </p:nvSpPr>
        <p:spPr>
          <a:xfrm>
            <a:off x="749808" y="1664208"/>
            <a:ext cx="10972800" cy="2164439"/>
          </a:xfrm>
          <a:prstGeom prst="rect">
            <a:avLst/>
          </a:prstGeom>
          <a:noFill/>
        </p:spPr>
        <p:txBody>
          <a:bodyPr wrap="square" lIns="0" tIns="0" rIns="0" bIns="0">
            <a:spAutoFit/>
          </a:bodyPr>
          <a:lstStyle/>
          <a:p>
            <a:pPr>
              <a:lnSpc>
                <a:spcPct val="112000"/>
              </a:lnSpc>
              <a:spcAft>
                <a:spcPts val="700"/>
              </a:spcAft>
            </a:pPr>
            <a:r>
              <a:rPr sz="2800" b="0" dirty="0">
                <a:solidFill>
                  <a:srgbClr val="222833"/>
                </a:solidFill>
                <a:latin typeface="微软雅黑"/>
              </a:rPr>
              <a:t>• </a:t>
            </a:r>
            <a:r>
              <a:rPr sz="2800" dirty="0" err="1">
                <a:solidFill>
                  <a:srgbClr val="222833"/>
                </a:solidFill>
                <a:latin typeface="微软雅黑"/>
              </a:rPr>
              <a:t>策略训练与少量真实世界部署交错进行</a:t>
            </a:r>
            <a:r>
              <a:rPr sz="2800" dirty="0">
                <a:solidFill>
                  <a:srgbClr val="222833"/>
                </a:solidFill>
                <a:latin typeface="微软雅黑"/>
              </a:rPr>
              <a:t>。</a:t>
            </a:r>
          </a:p>
          <a:p>
            <a:pPr>
              <a:lnSpc>
                <a:spcPct val="112000"/>
              </a:lnSpc>
              <a:spcAft>
                <a:spcPts val="700"/>
              </a:spcAft>
            </a:pPr>
            <a:r>
              <a:rPr sz="2800" b="0" dirty="0">
                <a:solidFill>
                  <a:srgbClr val="222833"/>
                </a:solidFill>
                <a:latin typeface="微软雅黑"/>
              </a:rPr>
              <a:t>• </a:t>
            </a:r>
            <a:r>
              <a:rPr sz="2800" dirty="0" err="1">
                <a:solidFill>
                  <a:srgbClr val="222833"/>
                </a:solidFill>
                <a:latin typeface="微软雅黑"/>
              </a:rPr>
              <a:t>通过匹配仿真与现实中的策略行为，持续调整仿真参数分布</a:t>
            </a:r>
            <a:r>
              <a:rPr sz="2800" dirty="0">
                <a:solidFill>
                  <a:srgbClr val="222833"/>
                </a:solidFill>
                <a:latin typeface="微软雅黑"/>
              </a:rPr>
              <a:t>。</a:t>
            </a:r>
          </a:p>
          <a:p>
            <a:pPr>
              <a:lnSpc>
                <a:spcPct val="112000"/>
              </a:lnSpc>
              <a:spcAft>
                <a:spcPts val="700"/>
              </a:spcAft>
            </a:pPr>
            <a:r>
              <a:rPr sz="2800" b="0" dirty="0">
                <a:solidFill>
                  <a:srgbClr val="222833"/>
                </a:solidFill>
                <a:latin typeface="微软雅黑"/>
              </a:rPr>
              <a:t>• </a:t>
            </a:r>
            <a:r>
              <a:rPr sz="2800" dirty="0" err="1">
                <a:solidFill>
                  <a:srgbClr val="222833"/>
                </a:solidFill>
                <a:latin typeface="微软雅黑"/>
              </a:rPr>
              <a:t>目标是使“仿真中学到的行为”更接近“现实中真正发生的行为</a:t>
            </a:r>
            <a:r>
              <a:rPr sz="2800" dirty="0">
                <a:solidFill>
                  <a:srgbClr val="222833"/>
                </a:solidFill>
                <a:latin typeface="微软雅黑"/>
              </a:rPr>
              <a:t>”</a:t>
            </a:r>
          </a:p>
          <a:p>
            <a:pPr>
              <a:lnSpc>
                <a:spcPct val="112000"/>
              </a:lnSpc>
              <a:spcAft>
                <a:spcPts val="700"/>
              </a:spcAft>
            </a:pPr>
            <a:r>
              <a:rPr sz="2800" b="0" dirty="0">
                <a:solidFill>
                  <a:srgbClr val="222833"/>
                </a:solidFill>
                <a:latin typeface="微软雅黑"/>
              </a:rPr>
              <a:t>• </a:t>
            </a:r>
            <a:r>
              <a:rPr sz="2800" dirty="0" err="1">
                <a:solidFill>
                  <a:srgbClr val="222833"/>
                </a:solidFill>
                <a:latin typeface="微软雅黑"/>
              </a:rPr>
              <a:t>该方法可用于物品配准、打开抽屉等任务，并支持跨机器人迁移</a:t>
            </a:r>
            <a:endParaRPr sz="2800" dirty="0">
              <a:solidFill>
                <a:srgbClr val="222833"/>
              </a:solidFill>
              <a:latin typeface="微软雅黑"/>
            </a:endParaRPr>
          </a:p>
        </p:txBody>
      </p:sp>
      <p:sp>
        <p:nvSpPr>
          <p:cNvPr id="10" name="TextBox 9"/>
          <p:cNvSpPr txBox="1"/>
          <p:nvPr/>
        </p:nvSpPr>
        <p:spPr>
          <a:xfrm>
            <a:off x="640080" y="5230368"/>
            <a:ext cx="10972800" cy="502920"/>
          </a:xfrm>
          <a:prstGeom prst="rect">
            <a:avLst/>
          </a:prstGeom>
          <a:noFill/>
        </p:spPr>
        <p:txBody>
          <a:bodyPr wrap="square" lIns="0" tIns="0" rIns="0" bIns="0" anchor="ctr">
            <a:spAutoFit/>
          </a:bodyPr>
          <a:lstStyle/>
          <a:p>
            <a:pPr algn="ctr">
              <a:lnSpc>
                <a:spcPct val="112000"/>
              </a:lnSpc>
              <a:spcAft>
                <a:spcPts val="0"/>
              </a:spcAft>
            </a:pPr>
            <a:r>
              <a:rPr sz="1950" b="1" i="0">
                <a:solidFill>
                  <a:srgbClr val="24477D"/>
                </a:solidFill>
                <a:latin typeface="微软雅黑"/>
              </a:rPr>
              <a:t>SimOpt 把“仿真参数应该怎么设”本身变成一个可迭代优化的问题。</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18872" cy="6858000"/>
          </a:xfrm>
          <a:prstGeom prst="rect">
            <a:avLst/>
          </a:prstGeom>
          <a:solidFill>
            <a:srgbClr val="3159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118872" y="0"/>
            <a:ext cx="41148" cy="6858000"/>
          </a:xfrm>
          <a:prstGeom prst="rect">
            <a:avLst/>
          </a:prstGeom>
          <a:solidFill>
            <a:srgbClr val="B7C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38912" y="137160"/>
            <a:ext cx="3474720" cy="164592"/>
          </a:xfrm>
          <a:prstGeom prst="rect">
            <a:avLst/>
          </a:prstGeom>
          <a:noFill/>
        </p:spPr>
        <p:txBody>
          <a:bodyPr wrap="square" lIns="0" tIns="0" rIns="0" bIns="0" anchor="t">
            <a:spAutoFit/>
          </a:bodyPr>
          <a:lstStyle/>
          <a:p>
            <a:pPr algn="l">
              <a:lnSpc>
                <a:spcPct val="112000"/>
              </a:lnSpc>
              <a:spcAft>
                <a:spcPts val="0"/>
              </a:spcAft>
            </a:pPr>
            <a:r>
              <a:rPr sz="1050" b="0" i="0">
                <a:solidFill>
                  <a:srgbClr val="8C98AA"/>
                </a:solidFill>
                <a:latin typeface="微软雅黑"/>
              </a:rPr>
              <a:t>具身智能导论 · 第 9 章</a:t>
            </a:r>
          </a:p>
        </p:txBody>
      </p:sp>
      <p:sp>
        <p:nvSpPr>
          <p:cNvPr id="5" name="TextBox 4"/>
          <p:cNvSpPr txBox="1"/>
          <p:nvPr/>
        </p:nvSpPr>
        <p:spPr>
          <a:xfrm>
            <a:off x="9144000" y="137160"/>
            <a:ext cx="2423160" cy="164592"/>
          </a:xfrm>
          <a:prstGeom prst="rect">
            <a:avLst/>
          </a:prstGeom>
          <a:noFill/>
        </p:spPr>
        <p:txBody>
          <a:bodyPr wrap="square" lIns="0" tIns="0" rIns="0" bIns="0" anchor="t">
            <a:spAutoFit/>
          </a:bodyPr>
          <a:lstStyle/>
          <a:p>
            <a:pPr algn="r">
              <a:lnSpc>
                <a:spcPct val="112000"/>
              </a:lnSpc>
              <a:spcAft>
                <a:spcPts val="0"/>
              </a:spcAft>
            </a:pPr>
            <a:r>
              <a:rPr sz="1050" b="0" i="0">
                <a:solidFill>
                  <a:srgbClr val="8C98AA"/>
                </a:solidFill>
                <a:latin typeface="微软雅黑"/>
              </a:rPr>
              <a:t>虚实迁移技术</a:t>
            </a:r>
          </a:p>
        </p:txBody>
      </p:sp>
      <p:sp>
        <p:nvSpPr>
          <p:cNvPr id="6" name="TextBox 5"/>
          <p:cNvSpPr txBox="1"/>
          <p:nvPr/>
        </p:nvSpPr>
        <p:spPr>
          <a:xfrm>
            <a:off x="502920" y="457200"/>
            <a:ext cx="10927080" cy="749808"/>
          </a:xfrm>
          <a:prstGeom prst="rect">
            <a:avLst/>
          </a:prstGeom>
          <a:noFill/>
        </p:spPr>
        <p:txBody>
          <a:bodyPr wrap="square" lIns="0" tIns="0" rIns="0" bIns="0" anchor="t">
            <a:spAutoFit/>
          </a:bodyPr>
          <a:lstStyle/>
          <a:p>
            <a:pPr algn="l">
              <a:lnSpc>
                <a:spcPct val="112000"/>
              </a:lnSpc>
              <a:spcAft>
                <a:spcPts val="0"/>
              </a:spcAft>
            </a:pPr>
            <a:r>
              <a:rPr sz="3500" b="1" i="0">
                <a:solidFill>
                  <a:srgbClr val="24477D"/>
                </a:solidFill>
                <a:latin typeface="微软雅黑"/>
              </a:rPr>
              <a:t>SimOpt 框架：策略行为匹配驱动仿真参数更新</a:t>
            </a:r>
          </a:p>
        </p:txBody>
      </p:sp>
      <p:sp>
        <p:nvSpPr>
          <p:cNvPr id="7" name="Rectangle 6"/>
          <p:cNvSpPr/>
          <p:nvPr/>
        </p:nvSpPr>
        <p:spPr>
          <a:xfrm>
            <a:off x="502920" y="1353312"/>
            <a:ext cx="11109960" cy="9144"/>
          </a:xfrm>
          <a:prstGeom prst="rect">
            <a:avLst/>
          </a:prstGeom>
          <a:solidFill>
            <a:srgbClr val="D8DE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1457432" y="6473952"/>
            <a:ext cx="347472" cy="164592"/>
          </a:xfrm>
          <a:prstGeom prst="rect">
            <a:avLst/>
          </a:prstGeom>
          <a:noFill/>
        </p:spPr>
        <p:txBody>
          <a:bodyPr wrap="square" lIns="0" tIns="0" rIns="0" bIns="0" anchor="t">
            <a:spAutoFit/>
          </a:bodyPr>
          <a:lstStyle/>
          <a:p>
            <a:pPr algn="r">
              <a:lnSpc>
                <a:spcPct val="112000"/>
              </a:lnSpc>
              <a:spcAft>
                <a:spcPts val="0"/>
              </a:spcAft>
            </a:pPr>
            <a:r>
              <a:rPr sz="1050" b="0" i="0">
                <a:solidFill>
                  <a:srgbClr val="8C98AA"/>
                </a:solidFill>
                <a:latin typeface="微软雅黑"/>
              </a:rPr>
              <a:t>35</a:t>
            </a:r>
          </a:p>
        </p:txBody>
      </p:sp>
      <p:sp>
        <p:nvSpPr>
          <p:cNvPr id="10" name="TextBox 9"/>
          <p:cNvSpPr txBox="1"/>
          <p:nvPr/>
        </p:nvSpPr>
        <p:spPr>
          <a:xfrm>
            <a:off x="914400" y="5943600"/>
            <a:ext cx="10332720" cy="256032"/>
          </a:xfrm>
          <a:prstGeom prst="rect">
            <a:avLst/>
          </a:prstGeom>
          <a:noFill/>
        </p:spPr>
        <p:txBody>
          <a:bodyPr wrap="square" lIns="0" tIns="0" rIns="0" bIns="0" anchor="t">
            <a:spAutoFit/>
          </a:bodyPr>
          <a:lstStyle/>
          <a:p>
            <a:pPr algn="ctr">
              <a:lnSpc>
                <a:spcPct val="112000"/>
              </a:lnSpc>
              <a:spcAft>
                <a:spcPts val="0"/>
              </a:spcAft>
            </a:pPr>
            <a:r>
              <a:rPr sz="1600" b="1" i="0" dirty="0" err="1">
                <a:solidFill>
                  <a:srgbClr val="222833"/>
                </a:solidFill>
                <a:latin typeface="微软雅黑"/>
              </a:rPr>
              <a:t>SimOpt</a:t>
            </a:r>
            <a:r>
              <a:rPr sz="1600" b="1" i="0" dirty="0">
                <a:solidFill>
                  <a:srgbClr val="222833"/>
                </a:solidFill>
                <a:latin typeface="微软雅黑"/>
              </a:rPr>
              <a:t> </a:t>
            </a:r>
            <a:r>
              <a:rPr sz="1600" b="1" i="0" dirty="0" err="1">
                <a:solidFill>
                  <a:srgbClr val="222833"/>
                </a:solidFill>
                <a:latin typeface="微软雅黑"/>
              </a:rPr>
              <a:t>框架</a:t>
            </a:r>
            <a:endParaRPr sz="1600" b="1" i="0" dirty="0">
              <a:solidFill>
                <a:srgbClr val="222833"/>
              </a:solidFill>
              <a:latin typeface="微软雅黑"/>
            </a:endParaRPr>
          </a:p>
        </p:txBody>
      </p:sp>
      <p:pic>
        <p:nvPicPr>
          <p:cNvPr id="11" name="图片 10">
            <a:extLst>
              <a:ext uri="{FF2B5EF4-FFF2-40B4-BE49-F238E27FC236}">
                <a16:creationId xmlns:a16="http://schemas.microsoft.com/office/drawing/2014/main" id="{3E68950D-43FF-2A37-E2B3-DE2ED01D0464}"/>
              </a:ext>
            </a:extLst>
          </p:cNvPr>
          <p:cNvPicPr>
            <a:picLocks noChangeAspect="1"/>
          </p:cNvPicPr>
          <p:nvPr/>
        </p:nvPicPr>
        <p:blipFill>
          <a:blip r:embed="rId2"/>
          <a:srcRect/>
          <a:stretch>
            <a:fillRect/>
          </a:stretch>
        </p:blipFill>
        <p:spPr>
          <a:xfrm>
            <a:off x="3610837" y="1726975"/>
            <a:ext cx="4894126" cy="3852105"/>
          </a:xfrm>
          <a:prstGeom prst="rect">
            <a:avLst/>
          </a:prstGeom>
          <a:noFill/>
          <a:ln>
            <a:noFill/>
          </a:ln>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170432" cy="6858000"/>
          </a:xfrm>
          <a:prstGeom prst="rect">
            <a:avLst/>
          </a:prstGeom>
          <a:solidFill>
            <a:srgbClr val="3159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859536" y="0"/>
            <a:ext cx="219456" cy="6858000"/>
          </a:xfrm>
          <a:prstGeom prst="rect">
            <a:avLst/>
          </a:prstGeom>
          <a:solidFill>
            <a:srgbClr val="B7C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2029968" y="1426464"/>
            <a:ext cx="1737360" cy="987552"/>
          </a:xfrm>
          <a:prstGeom prst="rect">
            <a:avLst/>
          </a:prstGeom>
          <a:noFill/>
        </p:spPr>
        <p:txBody>
          <a:bodyPr wrap="square" lIns="0" tIns="0" rIns="0" bIns="0" anchor="ctr">
            <a:spAutoFit/>
          </a:bodyPr>
          <a:lstStyle/>
          <a:p>
            <a:pPr algn="l">
              <a:lnSpc>
                <a:spcPct val="112000"/>
              </a:lnSpc>
              <a:spcAft>
                <a:spcPts val="0"/>
              </a:spcAft>
            </a:pPr>
            <a:r>
              <a:rPr sz="6200" b="1" i="0">
                <a:solidFill>
                  <a:srgbClr val="31599B"/>
                </a:solidFill>
                <a:latin typeface="微软雅黑"/>
              </a:rPr>
              <a:t>02</a:t>
            </a:r>
          </a:p>
        </p:txBody>
      </p:sp>
      <p:sp>
        <p:nvSpPr>
          <p:cNvPr id="5" name="TextBox 4"/>
          <p:cNvSpPr txBox="1"/>
          <p:nvPr/>
        </p:nvSpPr>
        <p:spPr>
          <a:xfrm>
            <a:off x="3246120" y="1645920"/>
            <a:ext cx="7635240" cy="621792"/>
          </a:xfrm>
          <a:prstGeom prst="rect">
            <a:avLst/>
          </a:prstGeom>
          <a:noFill/>
        </p:spPr>
        <p:txBody>
          <a:bodyPr wrap="square" lIns="0" tIns="0" rIns="0" bIns="0" anchor="ctr">
            <a:spAutoFit/>
          </a:bodyPr>
          <a:lstStyle/>
          <a:p>
            <a:pPr algn="l">
              <a:lnSpc>
                <a:spcPct val="112000"/>
              </a:lnSpc>
              <a:spcAft>
                <a:spcPts val="0"/>
              </a:spcAft>
            </a:pPr>
            <a:r>
              <a:rPr sz="3900" b="1" i="0">
                <a:solidFill>
                  <a:srgbClr val="24477D"/>
                </a:solidFill>
                <a:latin typeface="微软雅黑"/>
              </a:rPr>
              <a:t>典型的虚实迁移技术</a:t>
            </a:r>
          </a:p>
        </p:txBody>
      </p:sp>
      <p:sp>
        <p:nvSpPr>
          <p:cNvPr id="6" name="TextBox 5"/>
          <p:cNvSpPr txBox="1"/>
          <p:nvPr/>
        </p:nvSpPr>
        <p:spPr>
          <a:xfrm>
            <a:off x="8595360" y="292608"/>
            <a:ext cx="2743200" cy="164592"/>
          </a:xfrm>
          <a:prstGeom prst="rect">
            <a:avLst/>
          </a:prstGeom>
          <a:noFill/>
        </p:spPr>
        <p:txBody>
          <a:bodyPr wrap="square" lIns="0" tIns="0" rIns="0" bIns="0" anchor="t">
            <a:spAutoFit/>
          </a:bodyPr>
          <a:lstStyle/>
          <a:p>
            <a:pPr algn="r">
              <a:lnSpc>
                <a:spcPct val="112000"/>
              </a:lnSpc>
              <a:spcAft>
                <a:spcPts val="0"/>
              </a:spcAft>
            </a:pPr>
            <a:r>
              <a:rPr sz="1050" b="0" i="0">
                <a:solidFill>
                  <a:srgbClr val="8C98AA"/>
                </a:solidFill>
                <a:latin typeface="微软雅黑"/>
              </a:rPr>
              <a:t>具身智能导论 · 第9章</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18872" cy="6858000"/>
          </a:xfrm>
          <a:prstGeom prst="rect">
            <a:avLst/>
          </a:prstGeom>
          <a:solidFill>
            <a:srgbClr val="3159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118872" y="0"/>
            <a:ext cx="41148" cy="6858000"/>
          </a:xfrm>
          <a:prstGeom prst="rect">
            <a:avLst/>
          </a:prstGeom>
          <a:solidFill>
            <a:srgbClr val="B7C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38912" y="137160"/>
            <a:ext cx="3474720" cy="164592"/>
          </a:xfrm>
          <a:prstGeom prst="rect">
            <a:avLst/>
          </a:prstGeom>
          <a:noFill/>
        </p:spPr>
        <p:txBody>
          <a:bodyPr wrap="square" lIns="0" tIns="0" rIns="0" bIns="0" anchor="t">
            <a:spAutoFit/>
          </a:bodyPr>
          <a:lstStyle/>
          <a:p>
            <a:pPr algn="l">
              <a:lnSpc>
                <a:spcPct val="112000"/>
              </a:lnSpc>
              <a:spcAft>
                <a:spcPts val="0"/>
              </a:spcAft>
            </a:pPr>
            <a:r>
              <a:rPr sz="1050" b="0" i="0">
                <a:solidFill>
                  <a:srgbClr val="8C98AA"/>
                </a:solidFill>
                <a:latin typeface="微软雅黑"/>
              </a:rPr>
              <a:t>具身智能导论 · 第 9 章</a:t>
            </a:r>
          </a:p>
        </p:txBody>
      </p:sp>
      <p:sp>
        <p:nvSpPr>
          <p:cNvPr id="5" name="TextBox 4"/>
          <p:cNvSpPr txBox="1"/>
          <p:nvPr/>
        </p:nvSpPr>
        <p:spPr>
          <a:xfrm>
            <a:off x="9144000" y="137160"/>
            <a:ext cx="2423160" cy="164592"/>
          </a:xfrm>
          <a:prstGeom prst="rect">
            <a:avLst/>
          </a:prstGeom>
          <a:noFill/>
        </p:spPr>
        <p:txBody>
          <a:bodyPr wrap="square" lIns="0" tIns="0" rIns="0" bIns="0" anchor="t">
            <a:spAutoFit/>
          </a:bodyPr>
          <a:lstStyle/>
          <a:p>
            <a:pPr algn="r">
              <a:lnSpc>
                <a:spcPct val="112000"/>
              </a:lnSpc>
              <a:spcAft>
                <a:spcPts val="0"/>
              </a:spcAft>
            </a:pPr>
            <a:r>
              <a:rPr sz="1050" b="0" i="0">
                <a:solidFill>
                  <a:srgbClr val="8C98AA"/>
                </a:solidFill>
                <a:latin typeface="微软雅黑"/>
              </a:rPr>
              <a:t>虚实迁移技术</a:t>
            </a:r>
          </a:p>
        </p:txBody>
      </p:sp>
      <p:sp>
        <p:nvSpPr>
          <p:cNvPr id="6" name="TextBox 5"/>
          <p:cNvSpPr txBox="1"/>
          <p:nvPr/>
        </p:nvSpPr>
        <p:spPr>
          <a:xfrm>
            <a:off x="502920" y="457200"/>
            <a:ext cx="10927080" cy="749808"/>
          </a:xfrm>
          <a:prstGeom prst="rect">
            <a:avLst/>
          </a:prstGeom>
          <a:noFill/>
        </p:spPr>
        <p:txBody>
          <a:bodyPr wrap="square" lIns="0" tIns="0" rIns="0" bIns="0" anchor="t">
            <a:spAutoFit/>
          </a:bodyPr>
          <a:lstStyle/>
          <a:p>
            <a:pPr algn="l">
              <a:lnSpc>
                <a:spcPct val="112000"/>
              </a:lnSpc>
              <a:spcAft>
                <a:spcPts val="0"/>
              </a:spcAft>
            </a:pPr>
            <a:r>
              <a:rPr sz="3500" b="1" i="0">
                <a:solidFill>
                  <a:srgbClr val="24477D"/>
                </a:solidFill>
                <a:latin typeface="微软雅黑"/>
              </a:rPr>
              <a:t>9.2 典型的虚实迁移技术：从不同层次缩小域差距</a:t>
            </a:r>
          </a:p>
        </p:txBody>
      </p:sp>
      <p:sp>
        <p:nvSpPr>
          <p:cNvPr id="7" name="Rectangle 6"/>
          <p:cNvSpPr/>
          <p:nvPr/>
        </p:nvSpPr>
        <p:spPr>
          <a:xfrm>
            <a:off x="502920" y="1353312"/>
            <a:ext cx="11109960" cy="9144"/>
          </a:xfrm>
          <a:prstGeom prst="rect">
            <a:avLst/>
          </a:prstGeom>
          <a:solidFill>
            <a:srgbClr val="D8DE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1457432" y="6473952"/>
            <a:ext cx="347472" cy="164592"/>
          </a:xfrm>
          <a:prstGeom prst="rect">
            <a:avLst/>
          </a:prstGeom>
          <a:noFill/>
        </p:spPr>
        <p:txBody>
          <a:bodyPr wrap="square" lIns="0" tIns="0" rIns="0" bIns="0" anchor="t">
            <a:spAutoFit/>
          </a:bodyPr>
          <a:lstStyle/>
          <a:p>
            <a:pPr algn="r">
              <a:lnSpc>
                <a:spcPct val="112000"/>
              </a:lnSpc>
              <a:spcAft>
                <a:spcPts val="0"/>
              </a:spcAft>
            </a:pPr>
            <a:r>
              <a:rPr sz="1050" b="0" i="0">
                <a:solidFill>
                  <a:srgbClr val="8C98AA"/>
                </a:solidFill>
                <a:latin typeface="微软雅黑"/>
              </a:rPr>
              <a:t>37</a:t>
            </a:r>
          </a:p>
        </p:txBody>
      </p:sp>
      <p:sp>
        <p:nvSpPr>
          <p:cNvPr id="9" name="Rounded Rectangle 8"/>
          <p:cNvSpPr/>
          <p:nvPr/>
        </p:nvSpPr>
        <p:spPr>
          <a:xfrm>
            <a:off x="713232" y="1664208"/>
            <a:ext cx="3246120" cy="3246120"/>
          </a:xfrm>
          <a:prstGeom prst="roundRect">
            <a:avLst/>
          </a:prstGeom>
          <a:solidFill>
            <a:srgbClr val="FFFFFF"/>
          </a:solidFill>
          <a:ln w="10160">
            <a:solidFill>
              <a:srgbClr val="E0E5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713232" y="1664208"/>
            <a:ext cx="64008" cy="3246120"/>
          </a:xfrm>
          <a:prstGeom prst="rect">
            <a:avLst/>
          </a:prstGeom>
          <a:solidFill>
            <a:srgbClr val="3159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923544" y="1810512"/>
            <a:ext cx="2862072" cy="347472"/>
          </a:xfrm>
          <a:prstGeom prst="rect">
            <a:avLst/>
          </a:prstGeom>
          <a:noFill/>
        </p:spPr>
        <p:txBody>
          <a:bodyPr wrap="square" lIns="0" tIns="0" rIns="0" bIns="0" anchor="t">
            <a:spAutoFit/>
          </a:bodyPr>
          <a:lstStyle/>
          <a:p>
            <a:pPr algn="l">
              <a:lnSpc>
                <a:spcPct val="112000"/>
              </a:lnSpc>
              <a:spcAft>
                <a:spcPts val="0"/>
              </a:spcAft>
            </a:pPr>
            <a:r>
              <a:rPr sz="2000" b="1" i="0">
                <a:solidFill>
                  <a:srgbClr val="31599B"/>
                </a:solidFill>
                <a:latin typeface="微软雅黑"/>
              </a:rPr>
              <a:t>物理参数层</a:t>
            </a:r>
          </a:p>
        </p:txBody>
      </p:sp>
      <p:sp>
        <p:nvSpPr>
          <p:cNvPr id="12" name="TextBox 11"/>
          <p:cNvSpPr txBox="1"/>
          <p:nvPr/>
        </p:nvSpPr>
        <p:spPr>
          <a:xfrm>
            <a:off x="923544" y="2350008"/>
            <a:ext cx="2862072" cy="2404872"/>
          </a:xfrm>
          <a:prstGeom prst="rect">
            <a:avLst/>
          </a:prstGeom>
          <a:noFill/>
        </p:spPr>
        <p:txBody>
          <a:bodyPr wrap="square" lIns="0" tIns="0" rIns="0" bIns="0" anchor="t">
            <a:spAutoFit/>
          </a:bodyPr>
          <a:lstStyle/>
          <a:p>
            <a:pPr algn="l">
              <a:lnSpc>
                <a:spcPct val="112000"/>
              </a:lnSpc>
              <a:spcAft>
                <a:spcPts val="0"/>
              </a:spcAft>
            </a:pPr>
            <a:r>
              <a:rPr sz="1850" b="0" i="0">
                <a:solidFill>
                  <a:srgbClr val="222833"/>
                </a:solidFill>
                <a:latin typeface="微软雅黑"/>
              </a:rPr>
              <a:t>扩大仿真的“包容度”，典型方法是域随机化。</a:t>
            </a:r>
          </a:p>
        </p:txBody>
      </p:sp>
      <p:sp>
        <p:nvSpPr>
          <p:cNvPr id="13" name="Rounded Rectangle 12"/>
          <p:cNvSpPr/>
          <p:nvPr/>
        </p:nvSpPr>
        <p:spPr>
          <a:xfrm>
            <a:off x="4160520" y="1664208"/>
            <a:ext cx="3246120" cy="3246120"/>
          </a:xfrm>
          <a:prstGeom prst="roundRect">
            <a:avLst/>
          </a:prstGeom>
          <a:solidFill>
            <a:srgbClr val="FFFFFF"/>
          </a:solidFill>
          <a:ln w="10160">
            <a:solidFill>
              <a:srgbClr val="E0E5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4160520" y="1664208"/>
            <a:ext cx="64008" cy="3246120"/>
          </a:xfrm>
          <a:prstGeom prst="rect">
            <a:avLst/>
          </a:prstGeom>
          <a:solidFill>
            <a:srgbClr val="2F8E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4370832" y="1810512"/>
            <a:ext cx="2862072" cy="347472"/>
          </a:xfrm>
          <a:prstGeom prst="rect">
            <a:avLst/>
          </a:prstGeom>
          <a:noFill/>
        </p:spPr>
        <p:txBody>
          <a:bodyPr wrap="square" lIns="0" tIns="0" rIns="0" bIns="0" anchor="t">
            <a:spAutoFit/>
          </a:bodyPr>
          <a:lstStyle/>
          <a:p>
            <a:pPr algn="l">
              <a:lnSpc>
                <a:spcPct val="112000"/>
              </a:lnSpc>
              <a:spcAft>
                <a:spcPts val="0"/>
              </a:spcAft>
            </a:pPr>
            <a:r>
              <a:rPr sz="2000" b="1" i="0">
                <a:solidFill>
                  <a:srgbClr val="2F8E72"/>
                </a:solidFill>
                <a:latin typeface="微软雅黑"/>
              </a:rPr>
              <a:t>感知层</a:t>
            </a:r>
          </a:p>
        </p:txBody>
      </p:sp>
      <p:sp>
        <p:nvSpPr>
          <p:cNvPr id="16" name="TextBox 15"/>
          <p:cNvSpPr txBox="1"/>
          <p:nvPr/>
        </p:nvSpPr>
        <p:spPr>
          <a:xfrm>
            <a:off x="4370832" y="2350008"/>
            <a:ext cx="2862072" cy="2404872"/>
          </a:xfrm>
          <a:prstGeom prst="rect">
            <a:avLst/>
          </a:prstGeom>
          <a:noFill/>
        </p:spPr>
        <p:txBody>
          <a:bodyPr wrap="square" lIns="0" tIns="0" rIns="0" bIns="0" anchor="t">
            <a:spAutoFit/>
          </a:bodyPr>
          <a:lstStyle/>
          <a:p>
            <a:pPr algn="l">
              <a:lnSpc>
                <a:spcPct val="112000"/>
              </a:lnSpc>
              <a:spcAft>
                <a:spcPts val="0"/>
              </a:spcAft>
            </a:pPr>
            <a:r>
              <a:rPr sz="1850" b="0" i="0">
                <a:solidFill>
                  <a:srgbClr val="222833"/>
                </a:solidFill>
                <a:latin typeface="微软雅黑"/>
              </a:rPr>
              <a:t>对齐图像 / 特征分布，典型方法是域自适应与 Sim-to-Sim 适配。</a:t>
            </a:r>
          </a:p>
        </p:txBody>
      </p:sp>
      <p:sp>
        <p:nvSpPr>
          <p:cNvPr id="17" name="Rounded Rectangle 16"/>
          <p:cNvSpPr/>
          <p:nvPr/>
        </p:nvSpPr>
        <p:spPr>
          <a:xfrm>
            <a:off x="7607808" y="1664208"/>
            <a:ext cx="3246120" cy="3246120"/>
          </a:xfrm>
          <a:prstGeom prst="roundRect">
            <a:avLst/>
          </a:prstGeom>
          <a:solidFill>
            <a:srgbClr val="FFFFFF"/>
          </a:solidFill>
          <a:ln w="10160">
            <a:solidFill>
              <a:srgbClr val="E0E5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7607808" y="1664208"/>
            <a:ext cx="64008" cy="3246120"/>
          </a:xfrm>
          <a:prstGeom prst="rect">
            <a:avLst/>
          </a:prstGeom>
          <a:solidFill>
            <a:srgbClr val="C58A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7818120" y="1810512"/>
            <a:ext cx="2862072" cy="347472"/>
          </a:xfrm>
          <a:prstGeom prst="rect">
            <a:avLst/>
          </a:prstGeom>
          <a:noFill/>
        </p:spPr>
        <p:txBody>
          <a:bodyPr wrap="square" lIns="0" tIns="0" rIns="0" bIns="0" anchor="t">
            <a:spAutoFit/>
          </a:bodyPr>
          <a:lstStyle/>
          <a:p>
            <a:pPr algn="l">
              <a:lnSpc>
                <a:spcPct val="112000"/>
              </a:lnSpc>
              <a:spcAft>
                <a:spcPts val="0"/>
              </a:spcAft>
            </a:pPr>
            <a:r>
              <a:rPr sz="2000" b="1" i="0">
                <a:solidFill>
                  <a:srgbClr val="C58A24"/>
                </a:solidFill>
                <a:latin typeface="微软雅黑"/>
              </a:rPr>
              <a:t>策略 / 模型层</a:t>
            </a:r>
          </a:p>
        </p:txBody>
      </p:sp>
      <p:sp>
        <p:nvSpPr>
          <p:cNvPr id="20" name="TextBox 19"/>
          <p:cNvSpPr txBox="1"/>
          <p:nvPr/>
        </p:nvSpPr>
        <p:spPr>
          <a:xfrm>
            <a:off x="7818120" y="2350008"/>
            <a:ext cx="2862072" cy="2404872"/>
          </a:xfrm>
          <a:prstGeom prst="rect">
            <a:avLst/>
          </a:prstGeom>
          <a:noFill/>
        </p:spPr>
        <p:txBody>
          <a:bodyPr wrap="square" lIns="0" tIns="0" rIns="0" bIns="0" anchor="t">
            <a:spAutoFit/>
          </a:bodyPr>
          <a:lstStyle/>
          <a:p>
            <a:pPr algn="l">
              <a:lnSpc>
                <a:spcPct val="112000"/>
              </a:lnSpc>
              <a:spcAft>
                <a:spcPts val="0"/>
              </a:spcAft>
            </a:pPr>
            <a:r>
              <a:rPr sz="1800" b="0" i="0">
                <a:solidFill>
                  <a:srgbClr val="222833"/>
                </a:solidFill>
                <a:latin typeface="微软雅黑"/>
              </a:rPr>
              <a:t>通过系统辨识、元迁移学习和残差策略进行参数校准、快速适应与误差补偿。</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18872" cy="6858000"/>
          </a:xfrm>
          <a:prstGeom prst="rect">
            <a:avLst/>
          </a:prstGeom>
          <a:solidFill>
            <a:srgbClr val="3159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118872" y="0"/>
            <a:ext cx="41148" cy="6858000"/>
          </a:xfrm>
          <a:prstGeom prst="rect">
            <a:avLst/>
          </a:prstGeom>
          <a:solidFill>
            <a:srgbClr val="B7C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38912" y="137160"/>
            <a:ext cx="3474720" cy="164592"/>
          </a:xfrm>
          <a:prstGeom prst="rect">
            <a:avLst/>
          </a:prstGeom>
          <a:noFill/>
        </p:spPr>
        <p:txBody>
          <a:bodyPr wrap="square" lIns="0" tIns="0" rIns="0" bIns="0" anchor="t">
            <a:spAutoFit/>
          </a:bodyPr>
          <a:lstStyle/>
          <a:p>
            <a:pPr algn="l">
              <a:lnSpc>
                <a:spcPct val="112000"/>
              </a:lnSpc>
              <a:spcAft>
                <a:spcPts val="0"/>
              </a:spcAft>
            </a:pPr>
            <a:r>
              <a:rPr sz="1050" b="0" i="0">
                <a:solidFill>
                  <a:srgbClr val="8C98AA"/>
                </a:solidFill>
                <a:latin typeface="微软雅黑"/>
              </a:rPr>
              <a:t>具身智能导论 · 第 9 章</a:t>
            </a:r>
          </a:p>
        </p:txBody>
      </p:sp>
      <p:sp>
        <p:nvSpPr>
          <p:cNvPr id="5" name="TextBox 4"/>
          <p:cNvSpPr txBox="1"/>
          <p:nvPr/>
        </p:nvSpPr>
        <p:spPr>
          <a:xfrm>
            <a:off x="9144000" y="137160"/>
            <a:ext cx="2423160" cy="164592"/>
          </a:xfrm>
          <a:prstGeom prst="rect">
            <a:avLst/>
          </a:prstGeom>
          <a:noFill/>
        </p:spPr>
        <p:txBody>
          <a:bodyPr wrap="square" lIns="0" tIns="0" rIns="0" bIns="0" anchor="t">
            <a:spAutoFit/>
          </a:bodyPr>
          <a:lstStyle/>
          <a:p>
            <a:pPr algn="r">
              <a:lnSpc>
                <a:spcPct val="112000"/>
              </a:lnSpc>
              <a:spcAft>
                <a:spcPts val="0"/>
              </a:spcAft>
            </a:pPr>
            <a:r>
              <a:rPr sz="1050" b="0" i="0">
                <a:solidFill>
                  <a:srgbClr val="8C98AA"/>
                </a:solidFill>
                <a:latin typeface="微软雅黑"/>
              </a:rPr>
              <a:t>虚实迁移技术</a:t>
            </a:r>
          </a:p>
        </p:txBody>
      </p:sp>
      <p:sp>
        <p:nvSpPr>
          <p:cNvPr id="6" name="TextBox 5"/>
          <p:cNvSpPr txBox="1"/>
          <p:nvPr/>
        </p:nvSpPr>
        <p:spPr>
          <a:xfrm>
            <a:off x="502920" y="457200"/>
            <a:ext cx="10927080" cy="749808"/>
          </a:xfrm>
          <a:prstGeom prst="rect">
            <a:avLst/>
          </a:prstGeom>
          <a:noFill/>
        </p:spPr>
        <p:txBody>
          <a:bodyPr wrap="square" lIns="0" tIns="0" rIns="0" bIns="0" anchor="t">
            <a:spAutoFit/>
          </a:bodyPr>
          <a:lstStyle/>
          <a:p>
            <a:pPr algn="l">
              <a:lnSpc>
                <a:spcPct val="112000"/>
              </a:lnSpc>
              <a:spcAft>
                <a:spcPts val="0"/>
              </a:spcAft>
            </a:pPr>
            <a:r>
              <a:rPr sz="3500" b="1" i="0">
                <a:solidFill>
                  <a:srgbClr val="24477D"/>
                </a:solidFill>
                <a:latin typeface="微软雅黑"/>
              </a:rPr>
              <a:t>系统辨识、域自适应与域随机化的关系</a:t>
            </a:r>
          </a:p>
        </p:txBody>
      </p:sp>
      <p:sp>
        <p:nvSpPr>
          <p:cNvPr id="7" name="Rectangle 6"/>
          <p:cNvSpPr/>
          <p:nvPr/>
        </p:nvSpPr>
        <p:spPr>
          <a:xfrm>
            <a:off x="502920" y="1353312"/>
            <a:ext cx="11109960" cy="9144"/>
          </a:xfrm>
          <a:prstGeom prst="rect">
            <a:avLst/>
          </a:prstGeom>
          <a:solidFill>
            <a:srgbClr val="D8DE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1457432" y="6473952"/>
            <a:ext cx="347472" cy="164592"/>
          </a:xfrm>
          <a:prstGeom prst="rect">
            <a:avLst/>
          </a:prstGeom>
          <a:noFill/>
        </p:spPr>
        <p:txBody>
          <a:bodyPr wrap="square" lIns="0" tIns="0" rIns="0" bIns="0" anchor="t">
            <a:spAutoFit/>
          </a:bodyPr>
          <a:lstStyle/>
          <a:p>
            <a:pPr algn="r">
              <a:lnSpc>
                <a:spcPct val="112000"/>
              </a:lnSpc>
              <a:spcAft>
                <a:spcPts val="0"/>
              </a:spcAft>
            </a:pPr>
            <a:r>
              <a:rPr sz="1050" b="0" i="0">
                <a:solidFill>
                  <a:srgbClr val="8C98AA"/>
                </a:solidFill>
                <a:latin typeface="微软雅黑"/>
              </a:rPr>
              <a:t>38</a:t>
            </a:r>
          </a:p>
        </p:txBody>
      </p:sp>
      <p:pic>
        <p:nvPicPr>
          <p:cNvPr id="9" name="Picture 8" descr="img-006.png"/>
          <p:cNvPicPr>
            <a:picLocks noChangeAspect="1"/>
          </p:cNvPicPr>
          <p:nvPr/>
        </p:nvPicPr>
        <p:blipFill>
          <a:blip r:embed="rId2"/>
          <a:stretch>
            <a:fillRect/>
          </a:stretch>
        </p:blipFill>
        <p:spPr>
          <a:xfrm>
            <a:off x="1033272" y="1946675"/>
            <a:ext cx="10094976" cy="3687024"/>
          </a:xfrm>
          <a:prstGeom prst="rect">
            <a:avLst/>
          </a:prstGeom>
        </p:spPr>
      </p:pic>
      <p:sp>
        <p:nvSpPr>
          <p:cNvPr id="10" name="TextBox 9"/>
          <p:cNvSpPr txBox="1"/>
          <p:nvPr/>
        </p:nvSpPr>
        <p:spPr>
          <a:xfrm>
            <a:off x="914400" y="5943600"/>
            <a:ext cx="10332720" cy="256032"/>
          </a:xfrm>
          <a:prstGeom prst="rect">
            <a:avLst/>
          </a:prstGeom>
          <a:noFill/>
        </p:spPr>
        <p:txBody>
          <a:bodyPr wrap="square" lIns="0" tIns="0" rIns="0" bIns="0" anchor="t">
            <a:spAutoFit/>
          </a:bodyPr>
          <a:lstStyle/>
          <a:p>
            <a:pPr algn="ctr">
              <a:lnSpc>
                <a:spcPct val="112000"/>
              </a:lnSpc>
              <a:spcAft>
                <a:spcPts val="0"/>
              </a:spcAft>
            </a:pPr>
            <a:r>
              <a:rPr sz="1600" b="1" i="0" dirty="0" err="1">
                <a:solidFill>
                  <a:srgbClr val="222833"/>
                </a:solidFill>
                <a:latin typeface="微软雅黑"/>
              </a:rPr>
              <a:t>三种虚实迁移技术之间的关系</a:t>
            </a:r>
            <a:endParaRPr sz="1600" b="1" i="0" dirty="0">
              <a:solidFill>
                <a:srgbClr val="222833"/>
              </a:solidFill>
              <a:latin typeface="微软雅黑"/>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18872" cy="6858000"/>
          </a:xfrm>
          <a:prstGeom prst="rect">
            <a:avLst/>
          </a:prstGeom>
          <a:solidFill>
            <a:srgbClr val="3159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118872" y="0"/>
            <a:ext cx="41148" cy="6858000"/>
          </a:xfrm>
          <a:prstGeom prst="rect">
            <a:avLst/>
          </a:prstGeom>
          <a:solidFill>
            <a:srgbClr val="B7C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38912" y="137160"/>
            <a:ext cx="3474720" cy="164592"/>
          </a:xfrm>
          <a:prstGeom prst="rect">
            <a:avLst/>
          </a:prstGeom>
          <a:noFill/>
        </p:spPr>
        <p:txBody>
          <a:bodyPr wrap="square" lIns="0" tIns="0" rIns="0" bIns="0" anchor="t">
            <a:spAutoFit/>
          </a:bodyPr>
          <a:lstStyle/>
          <a:p>
            <a:pPr algn="l">
              <a:lnSpc>
                <a:spcPct val="112000"/>
              </a:lnSpc>
              <a:spcAft>
                <a:spcPts val="0"/>
              </a:spcAft>
            </a:pPr>
            <a:r>
              <a:rPr sz="1050" b="0" i="0">
                <a:solidFill>
                  <a:srgbClr val="8C98AA"/>
                </a:solidFill>
                <a:latin typeface="微软雅黑"/>
              </a:rPr>
              <a:t>具身智能导论 · 第 9 章</a:t>
            </a:r>
          </a:p>
        </p:txBody>
      </p:sp>
      <p:sp>
        <p:nvSpPr>
          <p:cNvPr id="5" name="TextBox 4"/>
          <p:cNvSpPr txBox="1"/>
          <p:nvPr/>
        </p:nvSpPr>
        <p:spPr>
          <a:xfrm>
            <a:off x="9144000" y="137160"/>
            <a:ext cx="2423160" cy="164592"/>
          </a:xfrm>
          <a:prstGeom prst="rect">
            <a:avLst/>
          </a:prstGeom>
          <a:noFill/>
        </p:spPr>
        <p:txBody>
          <a:bodyPr wrap="square" lIns="0" tIns="0" rIns="0" bIns="0" anchor="t">
            <a:spAutoFit/>
          </a:bodyPr>
          <a:lstStyle/>
          <a:p>
            <a:pPr algn="r">
              <a:lnSpc>
                <a:spcPct val="112000"/>
              </a:lnSpc>
              <a:spcAft>
                <a:spcPts val="0"/>
              </a:spcAft>
            </a:pPr>
            <a:r>
              <a:rPr sz="1050" b="0" i="0">
                <a:solidFill>
                  <a:srgbClr val="8C98AA"/>
                </a:solidFill>
                <a:latin typeface="微软雅黑"/>
              </a:rPr>
              <a:t>虚实迁移技术</a:t>
            </a:r>
          </a:p>
        </p:txBody>
      </p:sp>
      <p:sp>
        <p:nvSpPr>
          <p:cNvPr id="6" name="TextBox 5"/>
          <p:cNvSpPr txBox="1"/>
          <p:nvPr/>
        </p:nvSpPr>
        <p:spPr>
          <a:xfrm>
            <a:off x="502920" y="457200"/>
            <a:ext cx="10927080" cy="868680"/>
          </a:xfrm>
          <a:prstGeom prst="rect">
            <a:avLst/>
          </a:prstGeom>
          <a:noFill/>
        </p:spPr>
        <p:txBody>
          <a:bodyPr wrap="square" lIns="0" tIns="0" rIns="0" bIns="0" anchor="t">
            <a:spAutoFit/>
          </a:bodyPr>
          <a:lstStyle/>
          <a:p>
            <a:pPr algn="l">
              <a:lnSpc>
                <a:spcPct val="112000"/>
              </a:lnSpc>
              <a:spcAft>
                <a:spcPts val="0"/>
              </a:spcAft>
            </a:pPr>
            <a:r>
              <a:rPr sz="2800" b="1" i="0">
                <a:solidFill>
                  <a:srgbClr val="24477D"/>
                </a:solidFill>
                <a:latin typeface="微软雅黑"/>
              </a:rPr>
              <a:t>9.2.1 域随机化（Domain Randomization, DR）</a:t>
            </a:r>
          </a:p>
        </p:txBody>
      </p:sp>
      <p:sp>
        <p:nvSpPr>
          <p:cNvPr id="7" name="Rectangle 6"/>
          <p:cNvSpPr/>
          <p:nvPr/>
        </p:nvSpPr>
        <p:spPr>
          <a:xfrm>
            <a:off x="502920" y="1353312"/>
            <a:ext cx="11109960" cy="9144"/>
          </a:xfrm>
          <a:prstGeom prst="rect">
            <a:avLst/>
          </a:prstGeom>
          <a:solidFill>
            <a:srgbClr val="D8DE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1457432" y="6473952"/>
            <a:ext cx="347472" cy="164592"/>
          </a:xfrm>
          <a:prstGeom prst="rect">
            <a:avLst/>
          </a:prstGeom>
          <a:noFill/>
        </p:spPr>
        <p:txBody>
          <a:bodyPr wrap="square" lIns="0" tIns="0" rIns="0" bIns="0" anchor="t">
            <a:spAutoFit/>
          </a:bodyPr>
          <a:lstStyle/>
          <a:p>
            <a:pPr algn="r">
              <a:lnSpc>
                <a:spcPct val="112000"/>
              </a:lnSpc>
              <a:spcAft>
                <a:spcPts val="0"/>
              </a:spcAft>
            </a:pPr>
            <a:r>
              <a:rPr sz="1050" b="0" i="0">
                <a:solidFill>
                  <a:srgbClr val="8C98AA"/>
                </a:solidFill>
                <a:latin typeface="微软雅黑"/>
              </a:rPr>
              <a:t>39</a:t>
            </a:r>
          </a:p>
        </p:txBody>
      </p:sp>
      <p:sp>
        <p:nvSpPr>
          <p:cNvPr id="9" name="TextBox 8"/>
          <p:cNvSpPr txBox="1"/>
          <p:nvPr/>
        </p:nvSpPr>
        <p:spPr>
          <a:xfrm>
            <a:off x="749808" y="1691640"/>
            <a:ext cx="10378440" cy="1390317"/>
          </a:xfrm>
          <a:prstGeom prst="rect">
            <a:avLst/>
          </a:prstGeom>
          <a:noFill/>
        </p:spPr>
        <p:txBody>
          <a:bodyPr wrap="square" lIns="0" tIns="0" rIns="0" bIns="0">
            <a:spAutoFit/>
          </a:bodyPr>
          <a:lstStyle/>
          <a:p>
            <a:pPr>
              <a:lnSpc>
                <a:spcPct val="112000"/>
              </a:lnSpc>
              <a:spcAft>
                <a:spcPts val="700"/>
              </a:spcAft>
            </a:pPr>
            <a:r>
              <a:rPr sz="2400" b="0" dirty="0">
                <a:solidFill>
                  <a:srgbClr val="222833"/>
                </a:solidFill>
                <a:latin typeface="微软雅黑"/>
              </a:rPr>
              <a:t>• </a:t>
            </a:r>
            <a:r>
              <a:rPr sz="2400" dirty="0" err="1">
                <a:solidFill>
                  <a:srgbClr val="222833"/>
                </a:solidFill>
                <a:latin typeface="微软雅黑"/>
              </a:rPr>
              <a:t>在仿真训练阶段主动引入环境参数的随机扰动</a:t>
            </a:r>
            <a:endParaRPr sz="2400" dirty="0">
              <a:solidFill>
                <a:srgbClr val="222833"/>
              </a:solidFill>
              <a:latin typeface="微软雅黑"/>
            </a:endParaRPr>
          </a:p>
          <a:p>
            <a:pPr>
              <a:lnSpc>
                <a:spcPct val="112000"/>
              </a:lnSpc>
              <a:spcAft>
                <a:spcPts val="700"/>
              </a:spcAft>
            </a:pPr>
            <a:r>
              <a:rPr sz="2400" b="0" dirty="0">
                <a:solidFill>
                  <a:srgbClr val="222833"/>
                </a:solidFill>
                <a:latin typeface="微软雅黑"/>
              </a:rPr>
              <a:t>• </a:t>
            </a:r>
            <a:r>
              <a:rPr sz="2400" dirty="0">
                <a:solidFill>
                  <a:srgbClr val="222833"/>
                </a:solidFill>
                <a:latin typeface="微软雅黑"/>
              </a:rPr>
              <a:t>让策略不再过拟合某一个“</a:t>
            </a:r>
            <a:r>
              <a:rPr sz="2400" dirty="0" err="1">
                <a:solidFill>
                  <a:srgbClr val="222833"/>
                </a:solidFill>
                <a:latin typeface="微软雅黑"/>
              </a:rPr>
              <a:t>完美仿真配置</a:t>
            </a:r>
            <a:r>
              <a:rPr sz="2400" dirty="0">
                <a:solidFill>
                  <a:srgbClr val="222833"/>
                </a:solidFill>
                <a:latin typeface="微软雅黑"/>
              </a:rPr>
              <a:t>”，</a:t>
            </a:r>
            <a:r>
              <a:rPr sz="2400" dirty="0" err="1">
                <a:solidFill>
                  <a:srgbClr val="222833"/>
                </a:solidFill>
                <a:latin typeface="微软雅黑"/>
              </a:rPr>
              <a:t>而是对一组参数分布保持鲁棒</a:t>
            </a:r>
            <a:endParaRPr sz="2400" dirty="0">
              <a:solidFill>
                <a:srgbClr val="222833"/>
              </a:solidFill>
              <a:latin typeface="微软雅黑"/>
            </a:endParaRPr>
          </a:p>
          <a:p>
            <a:pPr>
              <a:lnSpc>
                <a:spcPct val="112000"/>
              </a:lnSpc>
              <a:spcAft>
                <a:spcPts val="700"/>
              </a:spcAft>
            </a:pPr>
            <a:r>
              <a:rPr sz="2400" b="0" dirty="0">
                <a:solidFill>
                  <a:srgbClr val="222833"/>
                </a:solidFill>
                <a:latin typeface="微软雅黑"/>
              </a:rPr>
              <a:t>• </a:t>
            </a:r>
            <a:r>
              <a:rPr sz="2400" dirty="0" err="1">
                <a:solidFill>
                  <a:srgbClr val="222833"/>
                </a:solidFill>
                <a:latin typeface="微软雅黑"/>
              </a:rPr>
              <a:t>理想情况下，真实环境只是训练随机化分布中的一个“未见具体样本</a:t>
            </a:r>
            <a:r>
              <a:rPr sz="2400" dirty="0">
                <a:solidFill>
                  <a:srgbClr val="222833"/>
                </a:solidFill>
                <a:latin typeface="微软雅黑"/>
              </a:rPr>
              <a:t>”</a:t>
            </a:r>
          </a:p>
        </p:txBody>
      </p:sp>
      <p:sp>
        <p:nvSpPr>
          <p:cNvPr id="10" name="TextBox 9"/>
          <p:cNvSpPr txBox="1"/>
          <p:nvPr/>
        </p:nvSpPr>
        <p:spPr>
          <a:xfrm>
            <a:off x="640080" y="5166360"/>
            <a:ext cx="10972800" cy="502920"/>
          </a:xfrm>
          <a:prstGeom prst="rect">
            <a:avLst/>
          </a:prstGeom>
          <a:noFill/>
        </p:spPr>
        <p:txBody>
          <a:bodyPr wrap="square" lIns="0" tIns="0" rIns="0" bIns="0" anchor="ctr">
            <a:spAutoFit/>
          </a:bodyPr>
          <a:lstStyle/>
          <a:p>
            <a:pPr algn="ctr">
              <a:lnSpc>
                <a:spcPct val="112000"/>
              </a:lnSpc>
              <a:spcAft>
                <a:spcPts val="0"/>
              </a:spcAft>
            </a:pPr>
            <a:r>
              <a:rPr sz="1950" b="1" i="0">
                <a:solidFill>
                  <a:srgbClr val="24477D"/>
                </a:solidFill>
                <a:latin typeface="微软雅黑"/>
              </a:rPr>
              <a:t>核心思想：不要把仿真做成一个点，而要把它扩展成覆盖现实的不确定性分布。</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18872" cy="6858000"/>
          </a:xfrm>
          <a:prstGeom prst="rect">
            <a:avLst/>
          </a:prstGeom>
          <a:solidFill>
            <a:srgbClr val="3159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118872" y="0"/>
            <a:ext cx="41148" cy="6858000"/>
          </a:xfrm>
          <a:prstGeom prst="rect">
            <a:avLst/>
          </a:prstGeom>
          <a:solidFill>
            <a:srgbClr val="B7C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38912" y="137160"/>
            <a:ext cx="3474720" cy="164592"/>
          </a:xfrm>
          <a:prstGeom prst="rect">
            <a:avLst/>
          </a:prstGeom>
          <a:noFill/>
        </p:spPr>
        <p:txBody>
          <a:bodyPr wrap="square" lIns="0" tIns="0" rIns="0" bIns="0" anchor="t">
            <a:spAutoFit/>
          </a:bodyPr>
          <a:lstStyle/>
          <a:p>
            <a:pPr algn="l">
              <a:lnSpc>
                <a:spcPct val="112000"/>
              </a:lnSpc>
              <a:spcAft>
                <a:spcPts val="0"/>
              </a:spcAft>
            </a:pPr>
            <a:r>
              <a:rPr sz="1050" b="0" i="0">
                <a:solidFill>
                  <a:srgbClr val="8C98AA"/>
                </a:solidFill>
                <a:latin typeface="微软雅黑"/>
              </a:rPr>
              <a:t>具身智能导论 · 第 9 章</a:t>
            </a:r>
          </a:p>
        </p:txBody>
      </p:sp>
      <p:sp>
        <p:nvSpPr>
          <p:cNvPr id="5" name="TextBox 4"/>
          <p:cNvSpPr txBox="1"/>
          <p:nvPr/>
        </p:nvSpPr>
        <p:spPr>
          <a:xfrm>
            <a:off x="9144000" y="137160"/>
            <a:ext cx="2423160" cy="164592"/>
          </a:xfrm>
          <a:prstGeom prst="rect">
            <a:avLst/>
          </a:prstGeom>
          <a:noFill/>
        </p:spPr>
        <p:txBody>
          <a:bodyPr wrap="square" lIns="0" tIns="0" rIns="0" bIns="0" anchor="t">
            <a:spAutoFit/>
          </a:bodyPr>
          <a:lstStyle/>
          <a:p>
            <a:pPr algn="r">
              <a:lnSpc>
                <a:spcPct val="112000"/>
              </a:lnSpc>
              <a:spcAft>
                <a:spcPts val="0"/>
              </a:spcAft>
            </a:pPr>
            <a:r>
              <a:rPr sz="1050" b="0" i="0">
                <a:solidFill>
                  <a:srgbClr val="8C98AA"/>
                </a:solidFill>
                <a:latin typeface="微软雅黑"/>
              </a:rPr>
              <a:t>虚实迁移技术</a:t>
            </a:r>
          </a:p>
        </p:txBody>
      </p:sp>
      <p:sp>
        <p:nvSpPr>
          <p:cNvPr id="6" name="TextBox 5"/>
          <p:cNvSpPr txBox="1"/>
          <p:nvPr/>
        </p:nvSpPr>
        <p:spPr>
          <a:xfrm>
            <a:off x="502920" y="457200"/>
            <a:ext cx="10927080" cy="749808"/>
          </a:xfrm>
          <a:prstGeom prst="rect">
            <a:avLst/>
          </a:prstGeom>
          <a:noFill/>
        </p:spPr>
        <p:txBody>
          <a:bodyPr wrap="square" lIns="0" tIns="0" rIns="0" bIns="0" anchor="t">
            <a:spAutoFit/>
          </a:bodyPr>
          <a:lstStyle/>
          <a:p>
            <a:pPr algn="l">
              <a:lnSpc>
                <a:spcPct val="112000"/>
              </a:lnSpc>
              <a:spcAft>
                <a:spcPts val="0"/>
              </a:spcAft>
            </a:pPr>
            <a:r>
              <a:rPr sz="3500" b="1" i="0">
                <a:solidFill>
                  <a:srgbClr val="24477D"/>
                </a:solidFill>
                <a:latin typeface="微软雅黑"/>
              </a:rPr>
              <a:t>域随机化：常见的随机化维度</a:t>
            </a:r>
          </a:p>
        </p:txBody>
      </p:sp>
      <p:sp>
        <p:nvSpPr>
          <p:cNvPr id="7" name="Rectangle 6"/>
          <p:cNvSpPr/>
          <p:nvPr/>
        </p:nvSpPr>
        <p:spPr>
          <a:xfrm>
            <a:off x="502920" y="1353312"/>
            <a:ext cx="11109960" cy="9144"/>
          </a:xfrm>
          <a:prstGeom prst="rect">
            <a:avLst/>
          </a:prstGeom>
          <a:solidFill>
            <a:srgbClr val="D8DE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1457432" y="6473952"/>
            <a:ext cx="347472" cy="164592"/>
          </a:xfrm>
          <a:prstGeom prst="rect">
            <a:avLst/>
          </a:prstGeom>
          <a:noFill/>
        </p:spPr>
        <p:txBody>
          <a:bodyPr wrap="square" lIns="0" tIns="0" rIns="0" bIns="0" anchor="t">
            <a:spAutoFit/>
          </a:bodyPr>
          <a:lstStyle/>
          <a:p>
            <a:pPr algn="r">
              <a:lnSpc>
                <a:spcPct val="112000"/>
              </a:lnSpc>
              <a:spcAft>
                <a:spcPts val="0"/>
              </a:spcAft>
            </a:pPr>
            <a:r>
              <a:rPr sz="1050" b="0" i="0">
                <a:solidFill>
                  <a:srgbClr val="8C98AA"/>
                </a:solidFill>
                <a:latin typeface="微软雅黑"/>
              </a:rPr>
              <a:t>40</a:t>
            </a:r>
          </a:p>
        </p:txBody>
      </p:sp>
      <p:sp>
        <p:nvSpPr>
          <p:cNvPr id="9" name="Rounded Rectangle 8"/>
          <p:cNvSpPr/>
          <p:nvPr/>
        </p:nvSpPr>
        <p:spPr>
          <a:xfrm>
            <a:off x="685800" y="1737360"/>
            <a:ext cx="2514600" cy="3246120"/>
          </a:xfrm>
          <a:prstGeom prst="roundRect">
            <a:avLst/>
          </a:prstGeom>
          <a:solidFill>
            <a:srgbClr val="FFFFFF"/>
          </a:solidFill>
          <a:ln w="10160">
            <a:solidFill>
              <a:srgbClr val="E0E5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685800" y="1737360"/>
            <a:ext cx="64008" cy="3246120"/>
          </a:xfrm>
          <a:prstGeom prst="rect">
            <a:avLst/>
          </a:prstGeom>
          <a:solidFill>
            <a:srgbClr val="3159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96112" y="1883664"/>
            <a:ext cx="2130552" cy="347472"/>
          </a:xfrm>
          <a:prstGeom prst="rect">
            <a:avLst/>
          </a:prstGeom>
          <a:noFill/>
        </p:spPr>
        <p:txBody>
          <a:bodyPr wrap="square" lIns="0" tIns="0" rIns="0" bIns="0" anchor="t">
            <a:spAutoFit/>
          </a:bodyPr>
          <a:lstStyle/>
          <a:p>
            <a:pPr algn="l">
              <a:lnSpc>
                <a:spcPct val="112000"/>
              </a:lnSpc>
              <a:spcAft>
                <a:spcPts val="0"/>
              </a:spcAft>
            </a:pPr>
            <a:r>
              <a:rPr sz="1900" b="1" i="0">
                <a:solidFill>
                  <a:srgbClr val="31599B"/>
                </a:solidFill>
                <a:latin typeface="微软雅黑"/>
              </a:rPr>
              <a:t>动力学参数</a:t>
            </a:r>
          </a:p>
        </p:txBody>
      </p:sp>
      <p:sp>
        <p:nvSpPr>
          <p:cNvPr id="12" name="TextBox 11"/>
          <p:cNvSpPr txBox="1"/>
          <p:nvPr/>
        </p:nvSpPr>
        <p:spPr>
          <a:xfrm>
            <a:off x="896112" y="2423160"/>
            <a:ext cx="2130552" cy="2404872"/>
          </a:xfrm>
          <a:prstGeom prst="rect">
            <a:avLst/>
          </a:prstGeom>
          <a:noFill/>
        </p:spPr>
        <p:txBody>
          <a:bodyPr wrap="square" lIns="0" tIns="0" rIns="0" bIns="0" anchor="t">
            <a:spAutoFit/>
          </a:bodyPr>
          <a:lstStyle/>
          <a:p>
            <a:pPr algn="l">
              <a:lnSpc>
                <a:spcPct val="112000"/>
              </a:lnSpc>
              <a:spcAft>
                <a:spcPts val="0"/>
              </a:spcAft>
            </a:pPr>
            <a:r>
              <a:rPr sz="1750" b="0" i="0">
                <a:solidFill>
                  <a:srgbClr val="222833"/>
                </a:solidFill>
                <a:latin typeface="微软雅黑"/>
              </a:rPr>
              <a:t>质量、摩擦系数、关节阻尼、惯性等。</a:t>
            </a:r>
          </a:p>
        </p:txBody>
      </p:sp>
      <p:sp>
        <p:nvSpPr>
          <p:cNvPr id="13" name="Rounded Rectangle 12"/>
          <p:cNvSpPr/>
          <p:nvPr/>
        </p:nvSpPr>
        <p:spPr>
          <a:xfrm>
            <a:off x="3364992" y="1737360"/>
            <a:ext cx="2514600" cy="3246120"/>
          </a:xfrm>
          <a:prstGeom prst="roundRect">
            <a:avLst/>
          </a:prstGeom>
          <a:solidFill>
            <a:srgbClr val="FFFFFF"/>
          </a:solidFill>
          <a:ln w="10160">
            <a:solidFill>
              <a:srgbClr val="E0E5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3364992" y="1737360"/>
            <a:ext cx="64008" cy="3246120"/>
          </a:xfrm>
          <a:prstGeom prst="rect">
            <a:avLst/>
          </a:prstGeom>
          <a:solidFill>
            <a:srgbClr val="2F8E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3575304" y="1883664"/>
            <a:ext cx="2130552" cy="347472"/>
          </a:xfrm>
          <a:prstGeom prst="rect">
            <a:avLst/>
          </a:prstGeom>
          <a:noFill/>
        </p:spPr>
        <p:txBody>
          <a:bodyPr wrap="square" lIns="0" tIns="0" rIns="0" bIns="0" anchor="t">
            <a:spAutoFit/>
          </a:bodyPr>
          <a:lstStyle/>
          <a:p>
            <a:pPr algn="l">
              <a:lnSpc>
                <a:spcPct val="112000"/>
              </a:lnSpc>
              <a:spcAft>
                <a:spcPts val="0"/>
              </a:spcAft>
            </a:pPr>
            <a:r>
              <a:rPr sz="1900" b="1" i="0">
                <a:solidFill>
                  <a:srgbClr val="2F8E72"/>
                </a:solidFill>
                <a:latin typeface="微软雅黑"/>
              </a:rPr>
              <a:t>传感器参数</a:t>
            </a:r>
          </a:p>
        </p:txBody>
      </p:sp>
      <p:sp>
        <p:nvSpPr>
          <p:cNvPr id="16" name="TextBox 15"/>
          <p:cNvSpPr txBox="1"/>
          <p:nvPr/>
        </p:nvSpPr>
        <p:spPr>
          <a:xfrm>
            <a:off x="3575304" y="2423160"/>
            <a:ext cx="2130552" cy="2404872"/>
          </a:xfrm>
          <a:prstGeom prst="rect">
            <a:avLst/>
          </a:prstGeom>
          <a:noFill/>
        </p:spPr>
        <p:txBody>
          <a:bodyPr wrap="square" lIns="0" tIns="0" rIns="0" bIns="0" anchor="t">
            <a:spAutoFit/>
          </a:bodyPr>
          <a:lstStyle/>
          <a:p>
            <a:pPr algn="l">
              <a:lnSpc>
                <a:spcPct val="112000"/>
              </a:lnSpc>
              <a:spcAft>
                <a:spcPts val="0"/>
              </a:spcAft>
            </a:pPr>
            <a:r>
              <a:rPr sz="1750" b="0" i="0">
                <a:solidFill>
                  <a:srgbClr val="222833"/>
                </a:solidFill>
                <a:latin typeface="微软雅黑"/>
              </a:rPr>
              <a:t>噪声、延迟、偏置等。</a:t>
            </a:r>
          </a:p>
        </p:txBody>
      </p:sp>
      <p:sp>
        <p:nvSpPr>
          <p:cNvPr id="17" name="Rounded Rectangle 16"/>
          <p:cNvSpPr/>
          <p:nvPr/>
        </p:nvSpPr>
        <p:spPr>
          <a:xfrm>
            <a:off x="6044184" y="1737360"/>
            <a:ext cx="2514600" cy="3246120"/>
          </a:xfrm>
          <a:prstGeom prst="roundRect">
            <a:avLst/>
          </a:prstGeom>
          <a:solidFill>
            <a:srgbClr val="FFFFFF"/>
          </a:solidFill>
          <a:ln w="10160">
            <a:solidFill>
              <a:srgbClr val="E0E5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6044184" y="1737360"/>
            <a:ext cx="64008" cy="3246120"/>
          </a:xfrm>
          <a:prstGeom prst="rect">
            <a:avLst/>
          </a:prstGeom>
          <a:solidFill>
            <a:srgbClr val="C58A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6254496" y="1883664"/>
            <a:ext cx="2130552" cy="347472"/>
          </a:xfrm>
          <a:prstGeom prst="rect">
            <a:avLst/>
          </a:prstGeom>
          <a:noFill/>
        </p:spPr>
        <p:txBody>
          <a:bodyPr wrap="square" lIns="0" tIns="0" rIns="0" bIns="0" anchor="t">
            <a:spAutoFit/>
          </a:bodyPr>
          <a:lstStyle/>
          <a:p>
            <a:pPr algn="l">
              <a:lnSpc>
                <a:spcPct val="112000"/>
              </a:lnSpc>
              <a:spcAft>
                <a:spcPts val="0"/>
              </a:spcAft>
            </a:pPr>
            <a:r>
              <a:rPr sz="1900" b="1" i="0">
                <a:solidFill>
                  <a:srgbClr val="C58A24"/>
                </a:solidFill>
                <a:latin typeface="微软雅黑"/>
              </a:rPr>
              <a:t>视觉参数</a:t>
            </a:r>
          </a:p>
        </p:txBody>
      </p:sp>
      <p:sp>
        <p:nvSpPr>
          <p:cNvPr id="20" name="TextBox 19"/>
          <p:cNvSpPr txBox="1"/>
          <p:nvPr/>
        </p:nvSpPr>
        <p:spPr>
          <a:xfrm>
            <a:off x="6254496" y="2423160"/>
            <a:ext cx="2130552" cy="2404872"/>
          </a:xfrm>
          <a:prstGeom prst="rect">
            <a:avLst/>
          </a:prstGeom>
          <a:noFill/>
        </p:spPr>
        <p:txBody>
          <a:bodyPr wrap="square" lIns="0" tIns="0" rIns="0" bIns="0" anchor="t">
            <a:spAutoFit/>
          </a:bodyPr>
          <a:lstStyle/>
          <a:p>
            <a:pPr algn="l">
              <a:lnSpc>
                <a:spcPct val="112000"/>
              </a:lnSpc>
              <a:spcAft>
                <a:spcPts val="0"/>
              </a:spcAft>
            </a:pPr>
            <a:r>
              <a:rPr sz="1750" b="0" i="0">
                <a:solidFill>
                  <a:srgbClr val="222833"/>
                </a:solidFill>
                <a:latin typeface="微软雅黑"/>
              </a:rPr>
              <a:t>光照强度、纹理材质、颜色、背景。</a:t>
            </a:r>
          </a:p>
        </p:txBody>
      </p:sp>
      <p:sp>
        <p:nvSpPr>
          <p:cNvPr id="21" name="Rounded Rectangle 20"/>
          <p:cNvSpPr/>
          <p:nvPr/>
        </p:nvSpPr>
        <p:spPr>
          <a:xfrm>
            <a:off x="8723376" y="1737360"/>
            <a:ext cx="2514600" cy="3246120"/>
          </a:xfrm>
          <a:prstGeom prst="roundRect">
            <a:avLst/>
          </a:prstGeom>
          <a:solidFill>
            <a:srgbClr val="FFFFFF"/>
          </a:solidFill>
          <a:ln w="10160">
            <a:solidFill>
              <a:srgbClr val="E0E5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8723376" y="1737360"/>
            <a:ext cx="64008" cy="3246120"/>
          </a:xfrm>
          <a:prstGeom prst="rect">
            <a:avLst/>
          </a:prstGeom>
          <a:solidFill>
            <a:srgbClr val="C63F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8933688" y="1883664"/>
            <a:ext cx="2130552" cy="347472"/>
          </a:xfrm>
          <a:prstGeom prst="rect">
            <a:avLst/>
          </a:prstGeom>
          <a:noFill/>
        </p:spPr>
        <p:txBody>
          <a:bodyPr wrap="square" lIns="0" tIns="0" rIns="0" bIns="0" anchor="t">
            <a:spAutoFit/>
          </a:bodyPr>
          <a:lstStyle/>
          <a:p>
            <a:pPr algn="l">
              <a:lnSpc>
                <a:spcPct val="112000"/>
              </a:lnSpc>
              <a:spcAft>
                <a:spcPts val="0"/>
              </a:spcAft>
            </a:pPr>
            <a:r>
              <a:rPr sz="1900" b="1" i="0">
                <a:solidFill>
                  <a:srgbClr val="C63F45"/>
                </a:solidFill>
                <a:latin typeface="微软雅黑"/>
              </a:rPr>
              <a:t>场景与物体</a:t>
            </a:r>
          </a:p>
        </p:txBody>
      </p:sp>
      <p:sp>
        <p:nvSpPr>
          <p:cNvPr id="24" name="TextBox 23"/>
          <p:cNvSpPr txBox="1"/>
          <p:nvPr/>
        </p:nvSpPr>
        <p:spPr>
          <a:xfrm>
            <a:off x="8933688" y="2423160"/>
            <a:ext cx="2130552" cy="2404872"/>
          </a:xfrm>
          <a:prstGeom prst="rect">
            <a:avLst/>
          </a:prstGeom>
          <a:noFill/>
        </p:spPr>
        <p:txBody>
          <a:bodyPr wrap="square" lIns="0" tIns="0" rIns="0" bIns="0" anchor="t">
            <a:spAutoFit/>
          </a:bodyPr>
          <a:lstStyle/>
          <a:p>
            <a:pPr algn="l">
              <a:lnSpc>
                <a:spcPct val="112000"/>
              </a:lnSpc>
              <a:spcAft>
                <a:spcPts val="0"/>
              </a:spcAft>
            </a:pPr>
            <a:r>
              <a:rPr sz="1750" b="0" i="0">
                <a:solidFill>
                  <a:srgbClr val="222833"/>
                </a:solidFill>
                <a:latin typeface="微软雅黑"/>
              </a:rPr>
              <a:t>物体形状、位置、姿态和地形高度。</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18872" cy="6858000"/>
          </a:xfrm>
          <a:prstGeom prst="rect">
            <a:avLst/>
          </a:prstGeom>
          <a:solidFill>
            <a:srgbClr val="3159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118872" y="0"/>
            <a:ext cx="41148" cy="6858000"/>
          </a:xfrm>
          <a:prstGeom prst="rect">
            <a:avLst/>
          </a:prstGeom>
          <a:solidFill>
            <a:srgbClr val="B7C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38912" y="137160"/>
            <a:ext cx="3474720" cy="164592"/>
          </a:xfrm>
          <a:prstGeom prst="rect">
            <a:avLst/>
          </a:prstGeom>
          <a:noFill/>
        </p:spPr>
        <p:txBody>
          <a:bodyPr wrap="square" lIns="0" tIns="0" rIns="0" bIns="0" anchor="t">
            <a:spAutoFit/>
          </a:bodyPr>
          <a:lstStyle/>
          <a:p>
            <a:pPr algn="l">
              <a:lnSpc>
                <a:spcPct val="112000"/>
              </a:lnSpc>
              <a:spcAft>
                <a:spcPts val="0"/>
              </a:spcAft>
            </a:pPr>
            <a:r>
              <a:rPr sz="1050" b="0" i="0">
                <a:solidFill>
                  <a:srgbClr val="8C98AA"/>
                </a:solidFill>
                <a:latin typeface="微软雅黑"/>
              </a:rPr>
              <a:t>具身智能导论 · 第 9 章</a:t>
            </a:r>
          </a:p>
        </p:txBody>
      </p:sp>
      <p:sp>
        <p:nvSpPr>
          <p:cNvPr id="5" name="TextBox 4"/>
          <p:cNvSpPr txBox="1"/>
          <p:nvPr/>
        </p:nvSpPr>
        <p:spPr>
          <a:xfrm>
            <a:off x="9144000" y="137160"/>
            <a:ext cx="2423160" cy="164592"/>
          </a:xfrm>
          <a:prstGeom prst="rect">
            <a:avLst/>
          </a:prstGeom>
          <a:noFill/>
        </p:spPr>
        <p:txBody>
          <a:bodyPr wrap="square" lIns="0" tIns="0" rIns="0" bIns="0" anchor="t">
            <a:spAutoFit/>
          </a:bodyPr>
          <a:lstStyle/>
          <a:p>
            <a:pPr algn="r">
              <a:lnSpc>
                <a:spcPct val="112000"/>
              </a:lnSpc>
              <a:spcAft>
                <a:spcPts val="0"/>
              </a:spcAft>
            </a:pPr>
            <a:r>
              <a:rPr sz="1050" b="0" i="0">
                <a:solidFill>
                  <a:srgbClr val="8C98AA"/>
                </a:solidFill>
                <a:latin typeface="微软雅黑"/>
              </a:rPr>
              <a:t>虚实迁移技术</a:t>
            </a:r>
          </a:p>
        </p:txBody>
      </p:sp>
      <p:sp>
        <p:nvSpPr>
          <p:cNvPr id="6" name="TextBox 5"/>
          <p:cNvSpPr txBox="1"/>
          <p:nvPr/>
        </p:nvSpPr>
        <p:spPr>
          <a:xfrm>
            <a:off x="502920" y="457200"/>
            <a:ext cx="10927080" cy="559256"/>
          </a:xfrm>
          <a:prstGeom prst="rect">
            <a:avLst/>
          </a:prstGeom>
          <a:noFill/>
        </p:spPr>
        <p:txBody>
          <a:bodyPr wrap="square" lIns="0" tIns="0" rIns="0" bIns="0" anchor="t">
            <a:spAutoFit/>
          </a:bodyPr>
          <a:lstStyle/>
          <a:p>
            <a:pPr algn="l">
              <a:lnSpc>
                <a:spcPct val="112000"/>
              </a:lnSpc>
              <a:spcAft>
                <a:spcPts val="0"/>
              </a:spcAft>
            </a:pPr>
            <a:r>
              <a:rPr sz="3500" b="1" i="0" dirty="0" err="1">
                <a:solidFill>
                  <a:srgbClr val="24477D"/>
                </a:solidFill>
                <a:latin typeface="微软雅黑"/>
              </a:rPr>
              <a:t>域随机化的训练目标</a:t>
            </a:r>
            <a:r>
              <a:rPr sz="3500" b="1" i="0" dirty="0">
                <a:solidFill>
                  <a:srgbClr val="24477D"/>
                </a:solidFill>
                <a:latin typeface="微软雅黑"/>
              </a:rPr>
              <a:t>：</a:t>
            </a:r>
          </a:p>
        </p:txBody>
      </p:sp>
      <p:sp>
        <p:nvSpPr>
          <p:cNvPr id="7" name="Rectangle 6"/>
          <p:cNvSpPr/>
          <p:nvPr/>
        </p:nvSpPr>
        <p:spPr>
          <a:xfrm>
            <a:off x="502920" y="1353312"/>
            <a:ext cx="11109960" cy="9144"/>
          </a:xfrm>
          <a:prstGeom prst="rect">
            <a:avLst/>
          </a:prstGeom>
          <a:solidFill>
            <a:srgbClr val="D8DE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1457432" y="6473952"/>
            <a:ext cx="347472" cy="164592"/>
          </a:xfrm>
          <a:prstGeom prst="rect">
            <a:avLst/>
          </a:prstGeom>
          <a:noFill/>
        </p:spPr>
        <p:txBody>
          <a:bodyPr wrap="square" lIns="0" tIns="0" rIns="0" bIns="0" anchor="t">
            <a:spAutoFit/>
          </a:bodyPr>
          <a:lstStyle/>
          <a:p>
            <a:pPr algn="r">
              <a:lnSpc>
                <a:spcPct val="112000"/>
              </a:lnSpc>
              <a:spcAft>
                <a:spcPts val="0"/>
              </a:spcAft>
            </a:pPr>
            <a:r>
              <a:rPr sz="1050" b="0" i="0">
                <a:solidFill>
                  <a:srgbClr val="8C98AA"/>
                </a:solidFill>
                <a:latin typeface="微软雅黑"/>
              </a:rPr>
              <a:t>41</a:t>
            </a:r>
          </a:p>
        </p:txBody>
      </p:sp>
      <p:sp>
        <p:nvSpPr>
          <p:cNvPr id="9" name="Rounded Rectangle 8"/>
          <p:cNvSpPr/>
          <p:nvPr/>
        </p:nvSpPr>
        <p:spPr>
          <a:xfrm>
            <a:off x="777240" y="1719072"/>
            <a:ext cx="10561320" cy="3959352"/>
          </a:xfrm>
          <a:prstGeom prst="roundRect">
            <a:avLst/>
          </a:prstGeom>
          <a:solidFill>
            <a:srgbClr val="FFFFFF"/>
          </a:solidFill>
          <a:ln w="10160">
            <a:solidFill>
              <a:srgbClr val="E0E5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0" name="Picture 9" descr="eq9_4.png"/>
          <p:cNvPicPr>
            <a:picLocks noChangeAspect="1"/>
          </p:cNvPicPr>
          <p:nvPr/>
        </p:nvPicPr>
        <p:blipFill>
          <a:blip r:embed="rId2"/>
          <a:srcRect l="23625" t="12048" r="23782"/>
          <a:stretch>
            <a:fillRect/>
          </a:stretch>
        </p:blipFill>
        <p:spPr>
          <a:xfrm>
            <a:off x="2484120" y="2838872"/>
            <a:ext cx="6797040" cy="985371"/>
          </a:xfrm>
          <a:prstGeom prst="rect">
            <a:avLst/>
          </a:prstGeom>
        </p:spPr>
      </p:pic>
      <p:sp>
        <p:nvSpPr>
          <p:cNvPr id="12" name="TextBox 11"/>
          <p:cNvSpPr txBox="1"/>
          <p:nvPr/>
        </p:nvSpPr>
        <p:spPr>
          <a:xfrm>
            <a:off x="954990" y="4256192"/>
            <a:ext cx="10153104" cy="319575"/>
          </a:xfrm>
          <a:prstGeom prst="rect">
            <a:avLst/>
          </a:prstGeom>
          <a:noFill/>
        </p:spPr>
        <p:txBody>
          <a:bodyPr wrap="square" lIns="0" tIns="0" rIns="0" bIns="0" anchor="t">
            <a:spAutoFit/>
          </a:bodyPr>
          <a:lstStyle/>
          <a:p>
            <a:pPr algn="ctr">
              <a:lnSpc>
                <a:spcPct val="112000"/>
              </a:lnSpc>
              <a:spcAft>
                <a:spcPts val="0"/>
              </a:spcAft>
            </a:pPr>
            <a:r>
              <a:rPr sz="2000" b="0" i="0" dirty="0">
                <a:solidFill>
                  <a:srgbClr val="222833"/>
                </a:solidFill>
                <a:latin typeface="微软雅黑"/>
              </a:rPr>
              <a:t>μ </a:t>
            </a:r>
            <a:r>
              <a:rPr sz="2000" b="0" i="0" dirty="0" err="1">
                <a:solidFill>
                  <a:srgbClr val="222833"/>
                </a:solidFill>
                <a:latin typeface="微软雅黑"/>
              </a:rPr>
              <a:t>表示随机化环境参数，p</a:t>
            </a:r>
            <a:r>
              <a:rPr sz="2000" b="0" i="0" dirty="0">
                <a:solidFill>
                  <a:srgbClr val="222833"/>
                </a:solidFill>
                <a:latin typeface="微软雅黑"/>
              </a:rPr>
              <a:t>(μ) </a:t>
            </a:r>
            <a:r>
              <a:rPr sz="2000" b="0" i="0" dirty="0" err="1">
                <a:solidFill>
                  <a:srgbClr val="222833"/>
                </a:solidFill>
                <a:latin typeface="微软雅黑"/>
              </a:rPr>
              <a:t>为其先验分布；策略需在一组参数变化下都获得较高回报</a:t>
            </a:r>
            <a:r>
              <a:rPr sz="2000" b="0" i="0" dirty="0">
                <a:solidFill>
                  <a:srgbClr val="222833"/>
                </a:solidFill>
                <a:latin typeface="微软雅黑"/>
              </a:rPr>
              <a:t>。</a:t>
            </a:r>
          </a:p>
        </p:txBody>
      </p:sp>
      <p:sp>
        <p:nvSpPr>
          <p:cNvPr id="14" name="文本框 13">
            <a:extLst>
              <a:ext uri="{FF2B5EF4-FFF2-40B4-BE49-F238E27FC236}">
                <a16:creationId xmlns:a16="http://schemas.microsoft.com/office/drawing/2014/main" id="{98F25F9D-3A54-E797-B521-C211D0D92280}"/>
              </a:ext>
            </a:extLst>
          </p:cNvPr>
          <p:cNvSpPr txBox="1"/>
          <p:nvPr/>
        </p:nvSpPr>
        <p:spPr>
          <a:xfrm>
            <a:off x="1224280" y="1916006"/>
            <a:ext cx="6116320" cy="383503"/>
          </a:xfrm>
          <a:prstGeom prst="rect">
            <a:avLst/>
          </a:prstGeom>
          <a:noFill/>
        </p:spPr>
        <p:txBody>
          <a:bodyPr wrap="square" lIns="0" tIns="0" rIns="0" bIns="0">
            <a:spAutoFit/>
          </a:bodyPr>
          <a:lstStyle>
            <a:defPPr>
              <a:defRPr lang="en-US"/>
            </a:defPPr>
            <a:lvl1pPr>
              <a:lnSpc>
                <a:spcPct val="112000"/>
              </a:lnSpc>
              <a:spcAft>
                <a:spcPts val="700"/>
              </a:spcAft>
              <a:defRPr sz="2400" b="0">
                <a:solidFill>
                  <a:srgbClr val="222833"/>
                </a:solidFill>
                <a:latin typeface="微软雅黑"/>
              </a:defRPr>
            </a:lvl1pPr>
          </a:lstStyle>
          <a:p>
            <a:pPr marL="342900" indent="-342900">
              <a:buFont typeface="Arial" panose="020B0604020202020204" pitchFamily="34" charset="0"/>
              <a:buChar char="•"/>
            </a:pPr>
            <a:r>
              <a:rPr lang="zh-CN" altLang="en-US" dirty="0">
                <a:latin typeface="微软雅黑" panose="020B0503020204020204" pitchFamily="34" charset="-122"/>
                <a:ea typeface="微软雅黑" panose="020B0503020204020204" pitchFamily="34" charset="-122"/>
              </a:rPr>
              <a:t>最大化跨参数分布的期望回报</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18872" cy="6858000"/>
          </a:xfrm>
          <a:prstGeom prst="rect">
            <a:avLst/>
          </a:prstGeom>
          <a:solidFill>
            <a:srgbClr val="3159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118872" y="0"/>
            <a:ext cx="41148" cy="6858000"/>
          </a:xfrm>
          <a:prstGeom prst="rect">
            <a:avLst/>
          </a:prstGeom>
          <a:solidFill>
            <a:srgbClr val="B7C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38912" y="137160"/>
            <a:ext cx="3474720" cy="164592"/>
          </a:xfrm>
          <a:prstGeom prst="rect">
            <a:avLst/>
          </a:prstGeom>
          <a:noFill/>
        </p:spPr>
        <p:txBody>
          <a:bodyPr wrap="square" lIns="0" tIns="0" rIns="0" bIns="0" anchor="t">
            <a:spAutoFit/>
          </a:bodyPr>
          <a:lstStyle/>
          <a:p>
            <a:pPr algn="l">
              <a:lnSpc>
                <a:spcPct val="112000"/>
              </a:lnSpc>
              <a:spcAft>
                <a:spcPts val="0"/>
              </a:spcAft>
            </a:pPr>
            <a:r>
              <a:rPr sz="1050" b="0" i="0">
                <a:solidFill>
                  <a:srgbClr val="8C98AA"/>
                </a:solidFill>
                <a:latin typeface="微软雅黑"/>
              </a:rPr>
              <a:t>具身智能导论 · 第 9 章</a:t>
            </a:r>
          </a:p>
        </p:txBody>
      </p:sp>
      <p:sp>
        <p:nvSpPr>
          <p:cNvPr id="5" name="TextBox 4"/>
          <p:cNvSpPr txBox="1"/>
          <p:nvPr/>
        </p:nvSpPr>
        <p:spPr>
          <a:xfrm>
            <a:off x="9144000" y="137160"/>
            <a:ext cx="2423160" cy="164592"/>
          </a:xfrm>
          <a:prstGeom prst="rect">
            <a:avLst/>
          </a:prstGeom>
          <a:noFill/>
        </p:spPr>
        <p:txBody>
          <a:bodyPr wrap="square" lIns="0" tIns="0" rIns="0" bIns="0" anchor="t">
            <a:spAutoFit/>
          </a:bodyPr>
          <a:lstStyle/>
          <a:p>
            <a:pPr algn="r">
              <a:lnSpc>
                <a:spcPct val="112000"/>
              </a:lnSpc>
              <a:spcAft>
                <a:spcPts val="0"/>
              </a:spcAft>
            </a:pPr>
            <a:r>
              <a:rPr sz="1050" b="0" i="0">
                <a:solidFill>
                  <a:srgbClr val="8C98AA"/>
                </a:solidFill>
                <a:latin typeface="微软雅黑"/>
              </a:rPr>
              <a:t>虚实迁移技术</a:t>
            </a:r>
          </a:p>
        </p:txBody>
      </p:sp>
      <p:sp>
        <p:nvSpPr>
          <p:cNvPr id="6" name="TextBox 5"/>
          <p:cNvSpPr txBox="1"/>
          <p:nvPr/>
        </p:nvSpPr>
        <p:spPr>
          <a:xfrm>
            <a:off x="502920" y="457200"/>
            <a:ext cx="10927080" cy="749808"/>
          </a:xfrm>
          <a:prstGeom prst="rect">
            <a:avLst/>
          </a:prstGeom>
          <a:noFill/>
        </p:spPr>
        <p:txBody>
          <a:bodyPr wrap="square" lIns="0" tIns="0" rIns="0" bIns="0" anchor="t">
            <a:spAutoFit/>
          </a:bodyPr>
          <a:lstStyle/>
          <a:p>
            <a:pPr algn="l">
              <a:lnSpc>
                <a:spcPct val="112000"/>
              </a:lnSpc>
              <a:spcAft>
                <a:spcPts val="0"/>
              </a:spcAft>
            </a:pPr>
            <a:r>
              <a:rPr sz="3500" b="1" i="0">
                <a:solidFill>
                  <a:srgbClr val="24477D"/>
                </a:solidFill>
                <a:latin typeface="微软雅黑"/>
              </a:rPr>
              <a:t>域随机化：应用、优势与局限</a:t>
            </a:r>
          </a:p>
        </p:txBody>
      </p:sp>
      <p:sp>
        <p:nvSpPr>
          <p:cNvPr id="7" name="Rectangle 6"/>
          <p:cNvSpPr/>
          <p:nvPr/>
        </p:nvSpPr>
        <p:spPr>
          <a:xfrm>
            <a:off x="502920" y="1353312"/>
            <a:ext cx="11109960" cy="9144"/>
          </a:xfrm>
          <a:prstGeom prst="rect">
            <a:avLst/>
          </a:prstGeom>
          <a:solidFill>
            <a:srgbClr val="D8DE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1457432" y="6473952"/>
            <a:ext cx="347472" cy="164592"/>
          </a:xfrm>
          <a:prstGeom prst="rect">
            <a:avLst/>
          </a:prstGeom>
          <a:noFill/>
        </p:spPr>
        <p:txBody>
          <a:bodyPr wrap="square" lIns="0" tIns="0" rIns="0" bIns="0" anchor="t">
            <a:spAutoFit/>
          </a:bodyPr>
          <a:lstStyle/>
          <a:p>
            <a:pPr algn="r">
              <a:lnSpc>
                <a:spcPct val="112000"/>
              </a:lnSpc>
              <a:spcAft>
                <a:spcPts val="0"/>
              </a:spcAft>
            </a:pPr>
            <a:r>
              <a:rPr sz="1050" b="0" i="0">
                <a:solidFill>
                  <a:srgbClr val="8C98AA"/>
                </a:solidFill>
                <a:latin typeface="微软雅黑"/>
              </a:rPr>
              <a:t>42</a:t>
            </a:r>
          </a:p>
        </p:txBody>
      </p:sp>
      <p:sp>
        <p:nvSpPr>
          <p:cNvPr id="9" name="Rounded Rectangle 8"/>
          <p:cNvSpPr/>
          <p:nvPr/>
        </p:nvSpPr>
        <p:spPr>
          <a:xfrm>
            <a:off x="713232" y="1664208"/>
            <a:ext cx="3246120" cy="3246120"/>
          </a:xfrm>
          <a:prstGeom prst="roundRect">
            <a:avLst>
              <a:gd name="adj" fmla="val 0"/>
            </a:avLst>
          </a:prstGeom>
          <a:solidFill>
            <a:srgbClr val="FFFFFF"/>
          </a:solidFill>
          <a:ln w="10160">
            <a:solidFill>
              <a:srgbClr val="E0E5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713232" y="1664208"/>
            <a:ext cx="64008" cy="3246120"/>
          </a:xfrm>
          <a:prstGeom prst="rect">
            <a:avLst/>
          </a:prstGeom>
          <a:solidFill>
            <a:srgbClr val="3159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923544" y="1810512"/>
            <a:ext cx="2862072" cy="347472"/>
          </a:xfrm>
          <a:prstGeom prst="rect">
            <a:avLst/>
          </a:prstGeom>
          <a:noFill/>
        </p:spPr>
        <p:txBody>
          <a:bodyPr wrap="square" lIns="0" tIns="0" rIns="0" bIns="0" anchor="t">
            <a:spAutoFit/>
          </a:bodyPr>
          <a:lstStyle/>
          <a:p>
            <a:pPr algn="l">
              <a:lnSpc>
                <a:spcPct val="112000"/>
              </a:lnSpc>
              <a:spcAft>
                <a:spcPts val="0"/>
              </a:spcAft>
            </a:pPr>
            <a:r>
              <a:rPr sz="2000" b="1" i="0">
                <a:solidFill>
                  <a:srgbClr val="31599B"/>
                </a:solidFill>
                <a:latin typeface="微软雅黑"/>
              </a:rPr>
              <a:t>典型应用</a:t>
            </a:r>
          </a:p>
        </p:txBody>
      </p:sp>
      <p:sp>
        <p:nvSpPr>
          <p:cNvPr id="12" name="TextBox 11"/>
          <p:cNvSpPr txBox="1"/>
          <p:nvPr/>
        </p:nvSpPr>
        <p:spPr>
          <a:xfrm>
            <a:off x="923544" y="2350008"/>
            <a:ext cx="2862072" cy="2404872"/>
          </a:xfrm>
          <a:prstGeom prst="rect">
            <a:avLst/>
          </a:prstGeom>
          <a:noFill/>
        </p:spPr>
        <p:txBody>
          <a:bodyPr wrap="square" lIns="0" tIns="0" rIns="0" bIns="0" anchor="t">
            <a:spAutoFit/>
          </a:bodyPr>
          <a:lstStyle/>
          <a:p>
            <a:pPr algn="l">
              <a:lnSpc>
                <a:spcPct val="112000"/>
              </a:lnSpc>
              <a:spcAft>
                <a:spcPts val="0"/>
              </a:spcAft>
            </a:pPr>
            <a:r>
              <a:rPr sz="1780" b="0" i="0">
                <a:solidFill>
                  <a:srgbClr val="222833"/>
                </a:solidFill>
                <a:latin typeface="微软雅黑"/>
              </a:rPr>
              <a:t>机械臂抓取随机化物体形状、颜色和位置；四足行走随机化地面摩擦和地形高度。</a:t>
            </a:r>
          </a:p>
        </p:txBody>
      </p:sp>
      <p:sp>
        <p:nvSpPr>
          <p:cNvPr id="13" name="Rounded Rectangle 12"/>
          <p:cNvSpPr/>
          <p:nvPr/>
        </p:nvSpPr>
        <p:spPr>
          <a:xfrm>
            <a:off x="4160520" y="1664208"/>
            <a:ext cx="3246120" cy="3246120"/>
          </a:xfrm>
          <a:prstGeom prst="roundRect">
            <a:avLst>
              <a:gd name="adj" fmla="val 1487"/>
            </a:avLst>
          </a:prstGeom>
          <a:solidFill>
            <a:srgbClr val="FFFFFF"/>
          </a:solidFill>
          <a:ln w="10160">
            <a:solidFill>
              <a:srgbClr val="E0E5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4160520" y="1664208"/>
            <a:ext cx="64008" cy="3246120"/>
          </a:xfrm>
          <a:prstGeom prst="rect">
            <a:avLst/>
          </a:prstGeom>
          <a:solidFill>
            <a:srgbClr val="2F8E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4370832" y="1810512"/>
            <a:ext cx="2862072" cy="347472"/>
          </a:xfrm>
          <a:prstGeom prst="rect">
            <a:avLst/>
          </a:prstGeom>
          <a:noFill/>
        </p:spPr>
        <p:txBody>
          <a:bodyPr wrap="square" lIns="0" tIns="0" rIns="0" bIns="0" anchor="t">
            <a:spAutoFit/>
          </a:bodyPr>
          <a:lstStyle/>
          <a:p>
            <a:pPr algn="l">
              <a:lnSpc>
                <a:spcPct val="112000"/>
              </a:lnSpc>
              <a:spcAft>
                <a:spcPts val="0"/>
              </a:spcAft>
            </a:pPr>
            <a:r>
              <a:rPr sz="2000" b="1" i="0">
                <a:solidFill>
                  <a:srgbClr val="2F8E72"/>
                </a:solidFill>
                <a:latin typeface="微软雅黑"/>
              </a:rPr>
              <a:t>主要优势</a:t>
            </a:r>
          </a:p>
        </p:txBody>
      </p:sp>
      <p:sp>
        <p:nvSpPr>
          <p:cNvPr id="16" name="TextBox 15"/>
          <p:cNvSpPr txBox="1"/>
          <p:nvPr/>
        </p:nvSpPr>
        <p:spPr>
          <a:xfrm>
            <a:off x="4370832" y="2350008"/>
            <a:ext cx="2862072" cy="2404872"/>
          </a:xfrm>
          <a:prstGeom prst="rect">
            <a:avLst/>
          </a:prstGeom>
          <a:noFill/>
        </p:spPr>
        <p:txBody>
          <a:bodyPr wrap="square" lIns="0" tIns="0" rIns="0" bIns="0" anchor="t">
            <a:spAutoFit/>
          </a:bodyPr>
          <a:lstStyle/>
          <a:p>
            <a:pPr algn="l">
              <a:lnSpc>
                <a:spcPct val="112000"/>
              </a:lnSpc>
              <a:spcAft>
                <a:spcPts val="0"/>
              </a:spcAft>
            </a:pPr>
            <a:r>
              <a:rPr sz="1850" b="0" i="0">
                <a:solidFill>
                  <a:srgbClr val="222833"/>
                </a:solidFill>
                <a:latin typeface="微软雅黑"/>
              </a:rPr>
              <a:t>实现简单，可显著降低对真实世界训练数据的依赖。</a:t>
            </a:r>
          </a:p>
        </p:txBody>
      </p:sp>
      <p:sp>
        <p:nvSpPr>
          <p:cNvPr id="17" name="Rounded Rectangle 16"/>
          <p:cNvSpPr/>
          <p:nvPr/>
        </p:nvSpPr>
        <p:spPr>
          <a:xfrm>
            <a:off x="7607808" y="1664208"/>
            <a:ext cx="3246120" cy="3246120"/>
          </a:xfrm>
          <a:prstGeom prst="roundRect">
            <a:avLst>
              <a:gd name="adj" fmla="val 3208"/>
            </a:avLst>
          </a:prstGeom>
          <a:solidFill>
            <a:srgbClr val="FFFFFF"/>
          </a:solidFill>
          <a:ln w="10160">
            <a:solidFill>
              <a:srgbClr val="E0E5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7607808" y="1664208"/>
            <a:ext cx="64008" cy="3246120"/>
          </a:xfrm>
          <a:prstGeom prst="rect">
            <a:avLst/>
          </a:prstGeom>
          <a:solidFill>
            <a:srgbClr val="C58A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7818120" y="1810512"/>
            <a:ext cx="2862072" cy="347472"/>
          </a:xfrm>
          <a:prstGeom prst="rect">
            <a:avLst/>
          </a:prstGeom>
          <a:noFill/>
        </p:spPr>
        <p:txBody>
          <a:bodyPr wrap="square" lIns="0" tIns="0" rIns="0" bIns="0" anchor="t">
            <a:spAutoFit/>
          </a:bodyPr>
          <a:lstStyle/>
          <a:p>
            <a:pPr algn="l">
              <a:lnSpc>
                <a:spcPct val="112000"/>
              </a:lnSpc>
              <a:spcAft>
                <a:spcPts val="0"/>
              </a:spcAft>
            </a:pPr>
            <a:r>
              <a:rPr sz="2000" b="1" i="0">
                <a:solidFill>
                  <a:srgbClr val="C58A24"/>
                </a:solidFill>
                <a:latin typeface="微软雅黑"/>
              </a:rPr>
              <a:t>主要局限</a:t>
            </a:r>
          </a:p>
        </p:txBody>
      </p:sp>
      <p:sp>
        <p:nvSpPr>
          <p:cNvPr id="20" name="TextBox 19"/>
          <p:cNvSpPr txBox="1"/>
          <p:nvPr/>
        </p:nvSpPr>
        <p:spPr>
          <a:xfrm>
            <a:off x="7818120" y="2350008"/>
            <a:ext cx="2862072" cy="2404872"/>
          </a:xfrm>
          <a:prstGeom prst="rect">
            <a:avLst/>
          </a:prstGeom>
          <a:noFill/>
        </p:spPr>
        <p:txBody>
          <a:bodyPr wrap="square" lIns="0" tIns="0" rIns="0" bIns="0" anchor="t">
            <a:spAutoFit/>
          </a:bodyPr>
          <a:lstStyle/>
          <a:p>
            <a:pPr algn="l">
              <a:lnSpc>
                <a:spcPct val="112000"/>
              </a:lnSpc>
              <a:spcAft>
                <a:spcPts val="0"/>
              </a:spcAft>
            </a:pPr>
            <a:r>
              <a:rPr sz="1820" b="0" i="0">
                <a:solidFill>
                  <a:srgbClr val="222833"/>
                </a:solidFill>
                <a:latin typeface="微软雅黑"/>
              </a:rPr>
              <a:t>随机化范围过大时，策略可能为了“什么都能应付”而变得过度保守。</a:t>
            </a:r>
          </a:p>
        </p:txBody>
      </p:sp>
      <p:sp>
        <p:nvSpPr>
          <p:cNvPr id="21" name="TextBox 20"/>
          <p:cNvSpPr txBox="1"/>
          <p:nvPr/>
        </p:nvSpPr>
        <p:spPr>
          <a:xfrm>
            <a:off x="640080" y="5285232"/>
            <a:ext cx="10972800" cy="502920"/>
          </a:xfrm>
          <a:prstGeom prst="rect">
            <a:avLst/>
          </a:prstGeom>
          <a:noFill/>
        </p:spPr>
        <p:txBody>
          <a:bodyPr wrap="square" lIns="0" tIns="0" rIns="0" bIns="0" anchor="ctr">
            <a:spAutoFit/>
          </a:bodyPr>
          <a:lstStyle/>
          <a:p>
            <a:pPr algn="ctr">
              <a:lnSpc>
                <a:spcPct val="112000"/>
              </a:lnSpc>
              <a:spcAft>
                <a:spcPts val="0"/>
              </a:spcAft>
            </a:pPr>
            <a:r>
              <a:rPr sz="1950" b="1" i="0">
                <a:solidFill>
                  <a:srgbClr val="24477D"/>
                </a:solidFill>
                <a:latin typeface="微软雅黑"/>
              </a:rPr>
              <a:t>自适应域随机化（ADR）可根据现实反馈动态调整随机化范围。</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18872" cy="6858000"/>
          </a:xfrm>
          <a:prstGeom prst="rect">
            <a:avLst/>
          </a:prstGeom>
          <a:solidFill>
            <a:srgbClr val="3159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118872" y="0"/>
            <a:ext cx="41148" cy="6858000"/>
          </a:xfrm>
          <a:prstGeom prst="rect">
            <a:avLst/>
          </a:prstGeom>
          <a:solidFill>
            <a:srgbClr val="B7C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38912" y="137160"/>
            <a:ext cx="3474720" cy="164592"/>
          </a:xfrm>
          <a:prstGeom prst="rect">
            <a:avLst/>
          </a:prstGeom>
          <a:noFill/>
        </p:spPr>
        <p:txBody>
          <a:bodyPr wrap="square" lIns="0" tIns="0" rIns="0" bIns="0" anchor="t">
            <a:spAutoFit/>
          </a:bodyPr>
          <a:lstStyle/>
          <a:p>
            <a:pPr algn="l">
              <a:lnSpc>
                <a:spcPct val="112000"/>
              </a:lnSpc>
              <a:spcAft>
                <a:spcPts val="0"/>
              </a:spcAft>
            </a:pPr>
            <a:r>
              <a:rPr sz="1050" b="0" i="0">
                <a:solidFill>
                  <a:srgbClr val="8C98AA"/>
                </a:solidFill>
                <a:latin typeface="微软雅黑"/>
              </a:rPr>
              <a:t>具身智能导论 · 第 9 章</a:t>
            </a:r>
          </a:p>
        </p:txBody>
      </p:sp>
      <p:sp>
        <p:nvSpPr>
          <p:cNvPr id="5" name="TextBox 4"/>
          <p:cNvSpPr txBox="1"/>
          <p:nvPr/>
        </p:nvSpPr>
        <p:spPr>
          <a:xfrm>
            <a:off x="9144000" y="137160"/>
            <a:ext cx="2423160" cy="164592"/>
          </a:xfrm>
          <a:prstGeom prst="rect">
            <a:avLst/>
          </a:prstGeom>
          <a:noFill/>
        </p:spPr>
        <p:txBody>
          <a:bodyPr wrap="square" lIns="0" tIns="0" rIns="0" bIns="0" anchor="t">
            <a:spAutoFit/>
          </a:bodyPr>
          <a:lstStyle/>
          <a:p>
            <a:pPr algn="r">
              <a:lnSpc>
                <a:spcPct val="112000"/>
              </a:lnSpc>
              <a:spcAft>
                <a:spcPts val="0"/>
              </a:spcAft>
            </a:pPr>
            <a:r>
              <a:rPr sz="1050" b="0" i="0">
                <a:solidFill>
                  <a:srgbClr val="8C98AA"/>
                </a:solidFill>
                <a:latin typeface="微软雅黑"/>
              </a:rPr>
              <a:t>虚实迁移技术</a:t>
            </a:r>
          </a:p>
        </p:txBody>
      </p:sp>
      <p:sp>
        <p:nvSpPr>
          <p:cNvPr id="6" name="TextBox 5"/>
          <p:cNvSpPr txBox="1"/>
          <p:nvPr/>
        </p:nvSpPr>
        <p:spPr>
          <a:xfrm>
            <a:off x="502920" y="457200"/>
            <a:ext cx="10927080" cy="749808"/>
          </a:xfrm>
          <a:prstGeom prst="rect">
            <a:avLst/>
          </a:prstGeom>
          <a:noFill/>
        </p:spPr>
        <p:txBody>
          <a:bodyPr wrap="square" lIns="0" tIns="0" rIns="0" bIns="0" anchor="t">
            <a:spAutoFit/>
          </a:bodyPr>
          <a:lstStyle/>
          <a:p>
            <a:pPr algn="l">
              <a:lnSpc>
                <a:spcPct val="112000"/>
              </a:lnSpc>
              <a:spcAft>
                <a:spcPts val="0"/>
              </a:spcAft>
            </a:pPr>
            <a:r>
              <a:rPr sz="3500" b="1" i="0">
                <a:solidFill>
                  <a:srgbClr val="24477D"/>
                </a:solidFill>
                <a:latin typeface="微软雅黑"/>
              </a:rPr>
              <a:t>域随机化：训练场景与测试场景</a:t>
            </a:r>
          </a:p>
        </p:txBody>
      </p:sp>
      <p:sp>
        <p:nvSpPr>
          <p:cNvPr id="7" name="Rectangle 6"/>
          <p:cNvSpPr/>
          <p:nvPr/>
        </p:nvSpPr>
        <p:spPr>
          <a:xfrm>
            <a:off x="502920" y="1353312"/>
            <a:ext cx="11109960" cy="9144"/>
          </a:xfrm>
          <a:prstGeom prst="rect">
            <a:avLst/>
          </a:prstGeom>
          <a:solidFill>
            <a:srgbClr val="D8DE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1457432" y="6473952"/>
            <a:ext cx="347472" cy="164592"/>
          </a:xfrm>
          <a:prstGeom prst="rect">
            <a:avLst/>
          </a:prstGeom>
          <a:noFill/>
        </p:spPr>
        <p:txBody>
          <a:bodyPr wrap="square" lIns="0" tIns="0" rIns="0" bIns="0" anchor="t">
            <a:spAutoFit/>
          </a:bodyPr>
          <a:lstStyle/>
          <a:p>
            <a:pPr algn="r">
              <a:lnSpc>
                <a:spcPct val="112000"/>
              </a:lnSpc>
              <a:spcAft>
                <a:spcPts val="0"/>
              </a:spcAft>
            </a:pPr>
            <a:r>
              <a:rPr sz="1050" b="0" i="0">
                <a:solidFill>
                  <a:srgbClr val="8C98AA"/>
                </a:solidFill>
                <a:latin typeface="微软雅黑"/>
              </a:rPr>
              <a:t>43</a:t>
            </a:r>
          </a:p>
        </p:txBody>
      </p:sp>
      <p:sp>
        <p:nvSpPr>
          <p:cNvPr id="10" name="TextBox 9"/>
          <p:cNvSpPr txBox="1"/>
          <p:nvPr/>
        </p:nvSpPr>
        <p:spPr>
          <a:xfrm>
            <a:off x="914400" y="5943600"/>
            <a:ext cx="10332720" cy="256032"/>
          </a:xfrm>
          <a:prstGeom prst="rect">
            <a:avLst/>
          </a:prstGeom>
          <a:noFill/>
        </p:spPr>
        <p:txBody>
          <a:bodyPr wrap="square" lIns="0" tIns="0" rIns="0" bIns="0" anchor="t">
            <a:spAutoFit/>
          </a:bodyPr>
          <a:lstStyle/>
          <a:p>
            <a:pPr algn="ctr">
              <a:lnSpc>
                <a:spcPct val="112000"/>
              </a:lnSpc>
              <a:spcAft>
                <a:spcPts val="0"/>
              </a:spcAft>
            </a:pPr>
            <a:r>
              <a:rPr sz="1600" b="1" i="0" dirty="0" err="1">
                <a:solidFill>
                  <a:srgbClr val="222833"/>
                </a:solidFill>
                <a:latin typeface="微软雅黑"/>
              </a:rPr>
              <a:t>域随机化训练和测试场景对比</a:t>
            </a:r>
            <a:endParaRPr sz="1600" b="1" i="0" dirty="0">
              <a:solidFill>
                <a:srgbClr val="222833"/>
              </a:solidFill>
              <a:latin typeface="微软雅黑"/>
            </a:endParaRPr>
          </a:p>
        </p:txBody>
      </p:sp>
      <p:pic>
        <p:nvPicPr>
          <p:cNvPr id="11" name="图片 10">
            <a:extLst>
              <a:ext uri="{FF2B5EF4-FFF2-40B4-BE49-F238E27FC236}">
                <a16:creationId xmlns:a16="http://schemas.microsoft.com/office/drawing/2014/main" id="{C2614080-D238-077B-0CEB-B657E8B2EDCE}"/>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772982" y="1989391"/>
            <a:ext cx="4386956" cy="3798761"/>
          </a:xfrm>
          <a:prstGeom prst="rect">
            <a:avLst/>
          </a:prstGeom>
          <a:noFill/>
          <a:ln>
            <a:noFill/>
          </a:ln>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18872" cy="6858000"/>
          </a:xfrm>
          <a:prstGeom prst="rect">
            <a:avLst/>
          </a:prstGeom>
          <a:solidFill>
            <a:srgbClr val="3159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118872" y="0"/>
            <a:ext cx="41148" cy="6858000"/>
          </a:xfrm>
          <a:prstGeom prst="rect">
            <a:avLst/>
          </a:prstGeom>
          <a:solidFill>
            <a:srgbClr val="B7C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38912" y="137160"/>
            <a:ext cx="3474720" cy="164592"/>
          </a:xfrm>
          <a:prstGeom prst="rect">
            <a:avLst/>
          </a:prstGeom>
          <a:noFill/>
        </p:spPr>
        <p:txBody>
          <a:bodyPr wrap="square" lIns="0" tIns="0" rIns="0" bIns="0" anchor="t">
            <a:spAutoFit/>
          </a:bodyPr>
          <a:lstStyle/>
          <a:p>
            <a:pPr algn="l">
              <a:lnSpc>
                <a:spcPct val="112000"/>
              </a:lnSpc>
              <a:spcAft>
                <a:spcPts val="0"/>
              </a:spcAft>
            </a:pPr>
            <a:r>
              <a:rPr sz="1050" b="0" i="0">
                <a:solidFill>
                  <a:srgbClr val="8C98AA"/>
                </a:solidFill>
                <a:latin typeface="微软雅黑"/>
              </a:rPr>
              <a:t>具身智能导论 · 第 9 章</a:t>
            </a:r>
          </a:p>
        </p:txBody>
      </p:sp>
      <p:sp>
        <p:nvSpPr>
          <p:cNvPr id="5" name="TextBox 4"/>
          <p:cNvSpPr txBox="1"/>
          <p:nvPr/>
        </p:nvSpPr>
        <p:spPr>
          <a:xfrm>
            <a:off x="9144000" y="137160"/>
            <a:ext cx="2423160" cy="164592"/>
          </a:xfrm>
          <a:prstGeom prst="rect">
            <a:avLst/>
          </a:prstGeom>
          <a:noFill/>
        </p:spPr>
        <p:txBody>
          <a:bodyPr wrap="square" lIns="0" tIns="0" rIns="0" bIns="0" anchor="t">
            <a:spAutoFit/>
          </a:bodyPr>
          <a:lstStyle/>
          <a:p>
            <a:pPr algn="r">
              <a:lnSpc>
                <a:spcPct val="112000"/>
              </a:lnSpc>
              <a:spcAft>
                <a:spcPts val="0"/>
              </a:spcAft>
            </a:pPr>
            <a:r>
              <a:rPr sz="1050" b="0" i="0">
                <a:solidFill>
                  <a:srgbClr val="8C98AA"/>
                </a:solidFill>
                <a:latin typeface="微软雅黑"/>
              </a:rPr>
              <a:t>虚实迁移技术</a:t>
            </a:r>
          </a:p>
        </p:txBody>
      </p:sp>
      <p:sp>
        <p:nvSpPr>
          <p:cNvPr id="6" name="TextBox 5"/>
          <p:cNvSpPr txBox="1"/>
          <p:nvPr/>
        </p:nvSpPr>
        <p:spPr>
          <a:xfrm>
            <a:off x="502920" y="457200"/>
            <a:ext cx="10927080" cy="749808"/>
          </a:xfrm>
          <a:prstGeom prst="rect">
            <a:avLst/>
          </a:prstGeom>
          <a:noFill/>
        </p:spPr>
        <p:txBody>
          <a:bodyPr wrap="square" lIns="0" tIns="0" rIns="0" bIns="0" anchor="t">
            <a:spAutoFit/>
          </a:bodyPr>
          <a:lstStyle/>
          <a:p>
            <a:pPr algn="l">
              <a:lnSpc>
                <a:spcPct val="112000"/>
              </a:lnSpc>
              <a:spcAft>
                <a:spcPts val="0"/>
              </a:spcAft>
            </a:pPr>
            <a:r>
              <a:rPr sz="3100" b="1" i="0">
                <a:solidFill>
                  <a:srgbClr val="24477D"/>
                </a:solidFill>
                <a:latin typeface="微软雅黑"/>
              </a:rPr>
              <a:t>9.2.2 域自适应（Domain Adaptation）</a:t>
            </a:r>
          </a:p>
        </p:txBody>
      </p:sp>
      <p:sp>
        <p:nvSpPr>
          <p:cNvPr id="7" name="Rectangle 6"/>
          <p:cNvSpPr/>
          <p:nvPr/>
        </p:nvSpPr>
        <p:spPr>
          <a:xfrm>
            <a:off x="502920" y="1353312"/>
            <a:ext cx="11109960" cy="9144"/>
          </a:xfrm>
          <a:prstGeom prst="rect">
            <a:avLst/>
          </a:prstGeom>
          <a:solidFill>
            <a:srgbClr val="D8DE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1457432" y="6473952"/>
            <a:ext cx="347472" cy="164592"/>
          </a:xfrm>
          <a:prstGeom prst="rect">
            <a:avLst/>
          </a:prstGeom>
          <a:noFill/>
        </p:spPr>
        <p:txBody>
          <a:bodyPr wrap="square" lIns="0" tIns="0" rIns="0" bIns="0" anchor="t">
            <a:spAutoFit/>
          </a:bodyPr>
          <a:lstStyle/>
          <a:p>
            <a:pPr algn="r">
              <a:lnSpc>
                <a:spcPct val="112000"/>
              </a:lnSpc>
              <a:spcAft>
                <a:spcPts val="0"/>
              </a:spcAft>
            </a:pPr>
            <a:r>
              <a:rPr sz="1050" b="0" i="0">
                <a:solidFill>
                  <a:srgbClr val="8C98AA"/>
                </a:solidFill>
                <a:latin typeface="微软雅黑"/>
              </a:rPr>
              <a:t>44</a:t>
            </a:r>
          </a:p>
        </p:txBody>
      </p:sp>
      <p:sp>
        <p:nvSpPr>
          <p:cNvPr id="9" name="TextBox 8"/>
          <p:cNvSpPr txBox="1"/>
          <p:nvPr/>
        </p:nvSpPr>
        <p:spPr>
          <a:xfrm>
            <a:off x="749808" y="1691640"/>
            <a:ext cx="10378440" cy="2834640"/>
          </a:xfrm>
          <a:prstGeom prst="rect">
            <a:avLst/>
          </a:prstGeom>
          <a:noFill/>
        </p:spPr>
        <p:txBody>
          <a:bodyPr wrap="square" lIns="0" tIns="0" rIns="0" bIns="0">
            <a:spAutoFit/>
          </a:bodyPr>
          <a:lstStyle/>
          <a:p>
            <a:pPr>
              <a:lnSpc>
                <a:spcPct val="112000"/>
              </a:lnSpc>
              <a:spcAft>
                <a:spcPts val="700"/>
              </a:spcAft>
            </a:pPr>
            <a:r>
              <a:rPr sz="2150" b="0">
                <a:solidFill>
                  <a:srgbClr val="222833"/>
                </a:solidFill>
                <a:latin typeface="微软雅黑"/>
              </a:rPr>
              <a:t>• </a:t>
            </a:r>
            <a:r>
              <a:rPr sz="2150">
                <a:solidFill>
                  <a:srgbClr val="222833"/>
                </a:solidFill>
                <a:latin typeface="微软雅黑"/>
              </a:rPr>
              <a:t>从感知层对齐仿真源域与现实目标域的特征分布。</a:t>
            </a:r>
          </a:p>
          <a:p>
            <a:pPr>
              <a:lnSpc>
                <a:spcPct val="112000"/>
              </a:lnSpc>
              <a:spcAft>
                <a:spcPts val="700"/>
              </a:spcAft>
            </a:pPr>
            <a:r>
              <a:rPr sz="2150" b="0">
                <a:solidFill>
                  <a:srgbClr val="222833"/>
                </a:solidFill>
                <a:latin typeface="微软雅黑"/>
              </a:rPr>
              <a:t>• </a:t>
            </a:r>
            <a:r>
              <a:rPr sz="2150">
                <a:solidFill>
                  <a:srgbClr val="222833"/>
                </a:solidFill>
                <a:latin typeface="微软雅黑"/>
              </a:rPr>
              <a:t>重点缓解观测空间中的分布偏移，如光照、纹理、相机噪声等。</a:t>
            </a:r>
          </a:p>
          <a:p>
            <a:pPr>
              <a:lnSpc>
                <a:spcPct val="112000"/>
              </a:lnSpc>
              <a:spcAft>
                <a:spcPts val="700"/>
              </a:spcAft>
            </a:pPr>
            <a:r>
              <a:rPr sz="2150" b="0">
                <a:solidFill>
                  <a:srgbClr val="222833"/>
                </a:solidFill>
                <a:latin typeface="微软雅黑"/>
              </a:rPr>
              <a:t>• </a:t>
            </a:r>
            <a:r>
              <a:rPr sz="2150">
                <a:solidFill>
                  <a:srgbClr val="222833"/>
                </a:solidFill>
                <a:latin typeface="微软雅黑"/>
              </a:rPr>
              <a:t>可利用少量无标签或弱标签真实数据，增强跨域泛化。</a:t>
            </a:r>
          </a:p>
        </p:txBody>
      </p:sp>
      <p:sp>
        <p:nvSpPr>
          <p:cNvPr id="10" name="TextBox 9"/>
          <p:cNvSpPr txBox="1"/>
          <p:nvPr/>
        </p:nvSpPr>
        <p:spPr>
          <a:xfrm>
            <a:off x="640080" y="5193792"/>
            <a:ext cx="10972800" cy="502920"/>
          </a:xfrm>
          <a:prstGeom prst="rect">
            <a:avLst/>
          </a:prstGeom>
          <a:noFill/>
        </p:spPr>
        <p:txBody>
          <a:bodyPr wrap="square" lIns="0" tIns="0" rIns="0" bIns="0" anchor="ctr">
            <a:spAutoFit/>
          </a:bodyPr>
          <a:lstStyle/>
          <a:p>
            <a:pPr algn="ctr">
              <a:lnSpc>
                <a:spcPct val="112000"/>
              </a:lnSpc>
              <a:spcAft>
                <a:spcPts val="0"/>
              </a:spcAft>
            </a:pPr>
            <a:r>
              <a:rPr sz="1920" b="1" i="0">
                <a:solidFill>
                  <a:srgbClr val="24477D"/>
                </a:solidFill>
                <a:latin typeface="微软雅黑"/>
              </a:rPr>
              <a:t>域随机化强调“让源域更丰富”，域自适应强调“让源域和目标域更对齐”。</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18872" cy="6858000"/>
          </a:xfrm>
          <a:prstGeom prst="rect">
            <a:avLst/>
          </a:prstGeom>
          <a:solidFill>
            <a:srgbClr val="3159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微软雅黑" panose="020B0503020204020204" pitchFamily="34" charset="-122"/>
              <a:ea typeface="微软雅黑" panose="020B0503020204020204" pitchFamily="34" charset="-122"/>
            </a:endParaRPr>
          </a:p>
        </p:txBody>
      </p:sp>
      <p:sp>
        <p:nvSpPr>
          <p:cNvPr id="3" name="Rectangle 2"/>
          <p:cNvSpPr/>
          <p:nvPr/>
        </p:nvSpPr>
        <p:spPr>
          <a:xfrm>
            <a:off x="118872" y="0"/>
            <a:ext cx="41148" cy="6858000"/>
          </a:xfrm>
          <a:prstGeom prst="rect">
            <a:avLst/>
          </a:prstGeom>
          <a:solidFill>
            <a:srgbClr val="B7C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微软雅黑" panose="020B0503020204020204" pitchFamily="34" charset="-122"/>
              <a:ea typeface="微软雅黑" panose="020B0503020204020204" pitchFamily="34" charset="-122"/>
            </a:endParaRPr>
          </a:p>
        </p:txBody>
      </p:sp>
      <p:sp>
        <p:nvSpPr>
          <p:cNvPr id="4" name="TextBox 3"/>
          <p:cNvSpPr txBox="1"/>
          <p:nvPr/>
        </p:nvSpPr>
        <p:spPr>
          <a:xfrm>
            <a:off x="438912" y="137160"/>
            <a:ext cx="3474720" cy="167803"/>
          </a:xfrm>
          <a:prstGeom prst="rect">
            <a:avLst/>
          </a:prstGeom>
          <a:noFill/>
        </p:spPr>
        <p:txBody>
          <a:bodyPr wrap="square" lIns="0" tIns="0" rIns="0" bIns="0" anchor="t">
            <a:spAutoFit/>
          </a:bodyPr>
          <a:lstStyle/>
          <a:p>
            <a:pPr algn="l">
              <a:lnSpc>
                <a:spcPct val="112000"/>
              </a:lnSpc>
              <a:spcAft>
                <a:spcPts val="0"/>
              </a:spcAft>
            </a:pPr>
            <a:r>
              <a:rPr sz="1050" b="0" i="0">
                <a:solidFill>
                  <a:srgbClr val="8C98AA"/>
                </a:solidFill>
                <a:latin typeface="微软雅黑" panose="020B0503020204020204" pitchFamily="34" charset="-122"/>
                <a:ea typeface="微软雅黑" panose="020B0503020204020204" pitchFamily="34" charset="-122"/>
              </a:rPr>
              <a:t>具身智能导论 · 第 9 章</a:t>
            </a:r>
          </a:p>
        </p:txBody>
      </p:sp>
      <p:sp>
        <p:nvSpPr>
          <p:cNvPr id="5" name="TextBox 4"/>
          <p:cNvSpPr txBox="1"/>
          <p:nvPr/>
        </p:nvSpPr>
        <p:spPr>
          <a:xfrm>
            <a:off x="9144000" y="137160"/>
            <a:ext cx="2423160" cy="167803"/>
          </a:xfrm>
          <a:prstGeom prst="rect">
            <a:avLst/>
          </a:prstGeom>
          <a:noFill/>
        </p:spPr>
        <p:txBody>
          <a:bodyPr wrap="square" lIns="0" tIns="0" rIns="0" bIns="0" anchor="t">
            <a:spAutoFit/>
          </a:bodyPr>
          <a:lstStyle/>
          <a:p>
            <a:pPr algn="r">
              <a:lnSpc>
                <a:spcPct val="112000"/>
              </a:lnSpc>
              <a:spcAft>
                <a:spcPts val="0"/>
              </a:spcAft>
            </a:pPr>
            <a:r>
              <a:rPr sz="1050" b="0" i="0">
                <a:solidFill>
                  <a:srgbClr val="8C98AA"/>
                </a:solidFill>
                <a:latin typeface="微软雅黑" panose="020B0503020204020204" pitchFamily="34" charset="-122"/>
                <a:ea typeface="微软雅黑" panose="020B0503020204020204" pitchFamily="34" charset="-122"/>
              </a:rPr>
              <a:t>虚实迁移技术</a:t>
            </a:r>
          </a:p>
        </p:txBody>
      </p:sp>
      <p:sp>
        <p:nvSpPr>
          <p:cNvPr id="6" name="TextBox 5"/>
          <p:cNvSpPr txBox="1"/>
          <p:nvPr/>
        </p:nvSpPr>
        <p:spPr>
          <a:xfrm>
            <a:off x="502920" y="457200"/>
            <a:ext cx="10927080" cy="559256"/>
          </a:xfrm>
          <a:prstGeom prst="rect">
            <a:avLst/>
          </a:prstGeom>
          <a:noFill/>
        </p:spPr>
        <p:txBody>
          <a:bodyPr wrap="square" lIns="0" tIns="0" rIns="0" bIns="0" anchor="t">
            <a:spAutoFit/>
          </a:bodyPr>
          <a:lstStyle/>
          <a:p>
            <a:pPr>
              <a:lnSpc>
                <a:spcPct val="112000"/>
              </a:lnSpc>
            </a:pPr>
            <a:r>
              <a:rPr lang="zh-CN" altLang="en-US" sz="3500" b="1" i="0" dirty="0">
                <a:solidFill>
                  <a:srgbClr val="24477D"/>
                </a:solidFill>
                <a:latin typeface="微软雅黑" panose="020B0503020204020204" pitchFamily="34" charset="-122"/>
                <a:ea typeface="微软雅黑" panose="020B0503020204020204" pitchFamily="34" charset="-122"/>
              </a:rPr>
              <a:t>相关对齐</a:t>
            </a:r>
            <a:r>
              <a:rPr lang="en-US" altLang="zh-CN" sz="3500" b="1" i="0" dirty="0">
                <a:solidFill>
                  <a:srgbClr val="24477D"/>
                </a:solidFill>
                <a:latin typeface="微软雅黑" panose="020B0503020204020204" pitchFamily="34" charset="-122"/>
                <a:ea typeface="微软雅黑" panose="020B0503020204020204" pitchFamily="34" charset="-122"/>
              </a:rPr>
              <a:t>(</a:t>
            </a:r>
            <a:r>
              <a:rPr lang="en-US" altLang="zh-CN" sz="3500" b="1" dirty="0">
                <a:solidFill>
                  <a:srgbClr val="24477D"/>
                </a:solidFill>
                <a:latin typeface="微软雅黑" panose="020B0503020204020204" pitchFamily="34" charset="-122"/>
                <a:ea typeface="微软雅黑" panose="020B0503020204020204" pitchFamily="34" charset="-122"/>
              </a:rPr>
              <a:t>CORAL </a:t>
            </a:r>
            <a:r>
              <a:rPr lang="en-US" altLang="zh-CN" sz="3500" b="1" i="0" dirty="0">
                <a:solidFill>
                  <a:srgbClr val="24477D"/>
                </a:solidFill>
                <a:latin typeface="微软雅黑" panose="020B0503020204020204" pitchFamily="34" charset="-122"/>
                <a:ea typeface="微软雅黑" panose="020B0503020204020204" pitchFamily="34" charset="-122"/>
              </a:rPr>
              <a:t>)</a:t>
            </a:r>
            <a:endParaRPr sz="3500" b="1" i="0" dirty="0">
              <a:solidFill>
                <a:srgbClr val="24477D"/>
              </a:solidFill>
              <a:latin typeface="微软雅黑" panose="020B0503020204020204" pitchFamily="34" charset="-122"/>
              <a:ea typeface="微软雅黑" panose="020B0503020204020204" pitchFamily="34" charset="-122"/>
            </a:endParaRPr>
          </a:p>
        </p:txBody>
      </p:sp>
      <p:sp>
        <p:nvSpPr>
          <p:cNvPr id="7" name="Rectangle 6"/>
          <p:cNvSpPr/>
          <p:nvPr/>
        </p:nvSpPr>
        <p:spPr>
          <a:xfrm>
            <a:off x="502920" y="1353312"/>
            <a:ext cx="11109960" cy="9144"/>
          </a:xfrm>
          <a:prstGeom prst="rect">
            <a:avLst/>
          </a:prstGeom>
          <a:solidFill>
            <a:srgbClr val="D8DE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微软雅黑" panose="020B0503020204020204" pitchFamily="34" charset="-122"/>
              <a:ea typeface="微软雅黑" panose="020B0503020204020204" pitchFamily="34" charset="-122"/>
            </a:endParaRPr>
          </a:p>
        </p:txBody>
      </p:sp>
      <p:sp>
        <p:nvSpPr>
          <p:cNvPr id="8" name="TextBox 7"/>
          <p:cNvSpPr txBox="1"/>
          <p:nvPr/>
        </p:nvSpPr>
        <p:spPr>
          <a:xfrm>
            <a:off x="11457432" y="6473952"/>
            <a:ext cx="347472" cy="167803"/>
          </a:xfrm>
          <a:prstGeom prst="rect">
            <a:avLst/>
          </a:prstGeom>
          <a:noFill/>
        </p:spPr>
        <p:txBody>
          <a:bodyPr wrap="square" lIns="0" tIns="0" rIns="0" bIns="0" anchor="t">
            <a:spAutoFit/>
          </a:bodyPr>
          <a:lstStyle/>
          <a:p>
            <a:pPr algn="r">
              <a:lnSpc>
                <a:spcPct val="112000"/>
              </a:lnSpc>
              <a:spcAft>
                <a:spcPts val="0"/>
              </a:spcAft>
            </a:pPr>
            <a:r>
              <a:rPr sz="1050" b="0" i="0">
                <a:solidFill>
                  <a:srgbClr val="8C98AA"/>
                </a:solidFill>
                <a:latin typeface="微软雅黑" panose="020B0503020204020204" pitchFamily="34" charset="-122"/>
                <a:ea typeface="微软雅黑" panose="020B0503020204020204" pitchFamily="34" charset="-122"/>
              </a:rPr>
              <a:t>45</a:t>
            </a:r>
          </a:p>
        </p:txBody>
      </p:sp>
      <p:sp>
        <p:nvSpPr>
          <p:cNvPr id="9" name="Rounded Rectangle 8"/>
          <p:cNvSpPr/>
          <p:nvPr/>
        </p:nvSpPr>
        <p:spPr>
          <a:xfrm>
            <a:off x="777240" y="2885440"/>
            <a:ext cx="10561320" cy="2792984"/>
          </a:xfrm>
          <a:prstGeom prst="roundRect">
            <a:avLst/>
          </a:prstGeom>
          <a:solidFill>
            <a:srgbClr val="FFFFFF"/>
          </a:solidFill>
          <a:ln w="10160">
            <a:solidFill>
              <a:srgbClr val="E0E5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微软雅黑" panose="020B0503020204020204" pitchFamily="34" charset="-122"/>
              <a:ea typeface="微软雅黑" panose="020B0503020204020204" pitchFamily="34" charset="-122"/>
            </a:endParaRPr>
          </a:p>
        </p:txBody>
      </p:sp>
      <p:pic>
        <p:nvPicPr>
          <p:cNvPr id="10" name="Picture 9" descr="eq9_5.png"/>
          <p:cNvPicPr>
            <a:picLocks noChangeAspect="1"/>
          </p:cNvPicPr>
          <p:nvPr/>
        </p:nvPicPr>
        <p:blipFill>
          <a:blip r:embed="rId2"/>
          <a:stretch>
            <a:fillRect/>
          </a:stretch>
        </p:blipFill>
        <p:spPr>
          <a:xfrm>
            <a:off x="1143000" y="3147439"/>
            <a:ext cx="9052560" cy="1038608"/>
          </a:xfrm>
          <a:prstGeom prst="rect">
            <a:avLst/>
          </a:prstGeom>
        </p:spPr>
      </p:pic>
      <p:sp>
        <p:nvSpPr>
          <p:cNvPr id="12" name="TextBox 11"/>
          <p:cNvSpPr txBox="1"/>
          <p:nvPr/>
        </p:nvSpPr>
        <p:spPr>
          <a:xfrm>
            <a:off x="599440" y="4724399"/>
            <a:ext cx="9875520" cy="279628"/>
          </a:xfrm>
          <a:prstGeom prst="rect">
            <a:avLst/>
          </a:prstGeom>
          <a:noFill/>
        </p:spPr>
        <p:txBody>
          <a:bodyPr wrap="square" lIns="0" tIns="0" rIns="0" bIns="0" anchor="t">
            <a:spAutoFit/>
          </a:bodyPr>
          <a:lstStyle/>
          <a:p>
            <a:pPr algn="ctr">
              <a:lnSpc>
                <a:spcPct val="112000"/>
              </a:lnSpc>
              <a:spcAft>
                <a:spcPts val="0"/>
              </a:spcAft>
            </a:pPr>
            <a:r>
              <a:rPr sz="1750" b="0" i="0" dirty="0">
                <a:solidFill>
                  <a:srgbClr val="222833"/>
                </a:solidFill>
                <a:latin typeface="微软雅黑" panose="020B0503020204020204" pitchFamily="34" charset="-122"/>
                <a:ea typeface="微软雅黑" panose="020B0503020204020204" pitchFamily="34" charset="-122"/>
              </a:rPr>
              <a:t>C</a:t>
            </a:r>
            <a:r>
              <a:rPr sz="1750" b="0" i="0" baseline="-25000" dirty="0">
                <a:solidFill>
                  <a:srgbClr val="222833"/>
                </a:solidFill>
                <a:latin typeface="微软雅黑" panose="020B0503020204020204" pitchFamily="34" charset="-122"/>
                <a:ea typeface="微软雅黑" panose="020B0503020204020204" pitchFamily="34" charset="-122"/>
              </a:rPr>
              <a:t>S</a:t>
            </a:r>
            <a:r>
              <a:rPr sz="1750" b="0" i="0" dirty="0">
                <a:solidFill>
                  <a:srgbClr val="222833"/>
                </a:solidFill>
                <a:latin typeface="微软雅黑" panose="020B0503020204020204" pitchFamily="34" charset="-122"/>
                <a:ea typeface="微软雅黑" panose="020B0503020204020204" pitchFamily="34" charset="-122"/>
              </a:rPr>
              <a:t>、C</a:t>
            </a:r>
            <a:r>
              <a:rPr sz="1750" b="0" i="0" baseline="-25000" dirty="0">
                <a:solidFill>
                  <a:srgbClr val="222833"/>
                </a:solidFill>
                <a:latin typeface="微软雅黑" panose="020B0503020204020204" pitchFamily="34" charset="-122"/>
                <a:ea typeface="微软雅黑" panose="020B0503020204020204" pitchFamily="34" charset="-122"/>
              </a:rPr>
              <a:t>T</a:t>
            </a:r>
            <a:r>
              <a:rPr sz="1750" b="0" i="0" dirty="0">
                <a:solidFill>
                  <a:srgbClr val="222833"/>
                </a:solidFill>
                <a:latin typeface="微软雅黑" panose="020B0503020204020204" pitchFamily="34" charset="-122"/>
                <a:ea typeface="微软雅黑" panose="020B0503020204020204" pitchFamily="34" charset="-122"/>
              </a:rPr>
              <a:t> </a:t>
            </a:r>
            <a:r>
              <a:rPr sz="1750" b="0" i="0" dirty="0" err="1">
                <a:solidFill>
                  <a:srgbClr val="222833"/>
                </a:solidFill>
                <a:latin typeface="微软雅黑" panose="020B0503020204020204" pitchFamily="34" charset="-122"/>
                <a:ea typeface="微软雅黑" panose="020B0503020204020204" pitchFamily="34" charset="-122"/>
              </a:rPr>
              <a:t>分别为源域与目标域特征协方差矩阵；d</a:t>
            </a:r>
            <a:r>
              <a:rPr sz="1750" b="0" i="0" dirty="0">
                <a:solidFill>
                  <a:srgbClr val="222833"/>
                </a:solidFill>
                <a:latin typeface="微软雅黑" panose="020B0503020204020204" pitchFamily="34" charset="-122"/>
                <a:ea typeface="微软雅黑" panose="020B0503020204020204" pitchFamily="34" charset="-122"/>
              </a:rPr>
              <a:t> </a:t>
            </a:r>
            <a:r>
              <a:rPr sz="1750" b="0" i="0" dirty="0" err="1">
                <a:solidFill>
                  <a:srgbClr val="222833"/>
                </a:solidFill>
                <a:latin typeface="微软雅黑" panose="020B0503020204020204" pitchFamily="34" charset="-122"/>
                <a:ea typeface="微软雅黑" panose="020B0503020204020204" pitchFamily="34" charset="-122"/>
              </a:rPr>
              <a:t>为特征维度</a:t>
            </a:r>
            <a:r>
              <a:rPr sz="1750" b="0" i="0" dirty="0">
                <a:solidFill>
                  <a:srgbClr val="222833"/>
                </a:solidFill>
                <a:latin typeface="微软雅黑" panose="020B0503020204020204" pitchFamily="34" charset="-122"/>
                <a:ea typeface="微软雅黑" panose="020B0503020204020204" pitchFamily="34" charset="-122"/>
              </a:rPr>
              <a:t>。</a:t>
            </a:r>
          </a:p>
        </p:txBody>
      </p:sp>
      <p:sp>
        <p:nvSpPr>
          <p:cNvPr id="14" name="文本框 13">
            <a:extLst>
              <a:ext uri="{FF2B5EF4-FFF2-40B4-BE49-F238E27FC236}">
                <a16:creationId xmlns:a16="http://schemas.microsoft.com/office/drawing/2014/main" id="{6324BE7B-7434-7B6C-DDFA-6C05AF267A94}"/>
              </a:ext>
            </a:extLst>
          </p:cNvPr>
          <p:cNvSpPr txBox="1"/>
          <p:nvPr/>
        </p:nvSpPr>
        <p:spPr>
          <a:xfrm>
            <a:off x="1016000" y="1705462"/>
            <a:ext cx="10210800" cy="797141"/>
          </a:xfrm>
          <a:prstGeom prst="rect">
            <a:avLst/>
          </a:prstGeom>
          <a:noFill/>
        </p:spPr>
        <p:txBody>
          <a:bodyPr wrap="square" lIns="0" tIns="0" rIns="0" bIns="0">
            <a:spAutoFit/>
          </a:bodyPr>
          <a:lstStyle>
            <a:defPPr>
              <a:defRPr lang="en-US"/>
            </a:defPPr>
            <a:lvl1pPr marL="342900" indent="-342900">
              <a:lnSpc>
                <a:spcPct val="112000"/>
              </a:lnSpc>
              <a:spcAft>
                <a:spcPts val="700"/>
              </a:spcAft>
              <a:buFont typeface="Arial" panose="020B0604020202020204" pitchFamily="34" charset="0"/>
              <a:buChar char="•"/>
              <a:defRPr sz="2400" b="0">
                <a:solidFill>
                  <a:srgbClr val="222833"/>
                </a:solidFill>
                <a:latin typeface="微软雅黑" panose="020B0503020204020204" pitchFamily="34" charset="-122"/>
                <a:ea typeface="微软雅黑" panose="020B0503020204020204" pitchFamily="34" charset="-122"/>
              </a:defRPr>
            </a:lvl1pPr>
          </a:lstStyle>
          <a:p>
            <a:r>
              <a:rPr lang="zh-CN" altLang="en-US" dirty="0"/>
              <a:t>通过最小化源域与目标域特征协方差矩阵的 </a:t>
            </a:r>
            <a:r>
              <a:rPr lang="en-US" altLang="zh-CN" dirty="0"/>
              <a:t>Frobenius</a:t>
            </a:r>
            <a:r>
              <a:rPr lang="zh-CN" altLang="en-US" dirty="0"/>
              <a:t> 范数差异实现二阶统计量对齐</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18872" cy="6858000"/>
          </a:xfrm>
          <a:prstGeom prst="rect">
            <a:avLst/>
          </a:prstGeom>
          <a:solidFill>
            <a:srgbClr val="3159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118872" y="0"/>
            <a:ext cx="41148" cy="6858000"/>
          </a:xfrm>
          <a:prstGeom prst="rect">
            <a:avLst/>
          </a:prstGeom>
          <a:solidFill>
            <a:srgbClr val="B7C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38912" y="137160"/>
            <a:ext cx="3474720" cy="164592"/>
          </a:xfrm>
          <a:prstGeom prst="rect">
            <a:avLst/>
          </a:prstGeom>
          <a:noFill/>
        </p:spPr>
        <p:txBody>
          <a:bodyPr wrap="square" lIns="0" tIns="0" rIns="0" bIns="0" anchor="t">
            <a:spAutoFit/>
          </a:bodyPr>
          <a:lstStyle/>
          <a:p>
            <a:pPr algn="l">
              <a:lnSpc>
                <a:spcPct val="112000"/>
              </a:lnSpc>
              <a:spcAft>
                <a:spcPts val="0"/>
              </a:spcAft>
            </a:pPr>
            <a:r>
              <a:rPr sz="1050" b="0" i="0">
                <a:solidFill>
                  <a:srgbClr val="8C98AA"/>
                </a:solidFill>
                <a:latin typeface="微软雅黑"/>
              </a:rPr>
              <a:t>具身智能导论 · 第 9 章</a:t>
            </a:r>
          </a:p>
        </p:txBody>
      </p:sp>
      <p:sp>
        <p:nvSpPr>
          <p:cNvPr id="5" name="TextBox 4"/>
          <p:cNvSpPr txBox="1"/>
          <p:nvPr/>
        </p:nvSpPr>
        <p:spPr>
          <a:xfrm>
            <a:off x="9144000" y="137160"/>
            <a:ext cx="2423160" cy="164592"/>
          </a:xfrm>
          <a:prstGeom prst="rect">
            <a:avLst/>
          </a:prstGeom>
          <a:noFill/>
        </p:spPr>
        <p:txBody>
          <a:bodyPr wrap="square" lIns="0" tIns="0" rIns="0" bIns="0" anchor="t">
            <a:spAutoFit/>
          </a:bodyPr>
          <a:lstStyle/>
          <a:p>
            <a:pPr algn="r">
              <a:lnSpc>
                <a:spcPct val="112000"/>
              </a:lnSpc>
              <a:spcAft>
                <a:spcPts val="0"/>
              </a:spcAft>
            </a:pPr>
            <a:r>
              <a:rPr sz="1050" b="0" i="0">
                <a:solidFill>
                  <a:srgbClr val="8C98AA"/>
                </a:solidFill>
                <a:latin typeface="微软雅黑"/>
              </a:rPr>
              <a:t>虚实迁移技术</a:t>
            </a:r>
          </a:p>
        </p:txBody>
      </p:sp>
      <p:sp>
        <p:nvSpPr>
          <p:cNvPr id="6" name="TextBox 5"/>
          <p:cNvSpPr txBox="1"/>
          <p:nvPr/>
        </p:nvSpPr>
        <p:spPr>
          <a:xfrm>
            <a:off x="502920" y="457200"/>
            <a:ext cx="10927080" cy="749808"/>
          </a:xfrm>
          <a:prstGeom prst="rect">
            <a:avLst/>
          </a:prstGeom>
          <a:noFill/>
        </p:spPr>
        <p:txBody>
          <a:bodyPr wrap="square" lIns="0" tIns="0" rIns="0" bIns="0" anchor="t">
            <a:spAutoFit/>
          </a:bodyPr>
          <a:lstStyle/>
          <a:p>
            <a:pPr algn="l">
              <a:lnSpc>
                <a:spcPct val="112000"/>
              </a:lnSpc>
              <a:spcAft>
                <a:spcPts val="0"/>
              </a:spcAft>
            </a:pPr>
            <a:r>
              <a:rPr sz="3100" b="1" i="0">
                <a:solidFill>
                  <a:srgbClr val="24477D"/>
                </a:solidFill>
                <a:latin typeface="微软雅黑"/>
              </a:rPr>
              <a:t>Deep CORAL：在深度特征空间进行协方差对齐</a:t>
            </a:r>
          </a:p>
        </p:txBody>
      </p:sp>
      <p:sp>
        <p:nvSpPr>
          <p:cNvPr id="7" name="Rectangle 6"/>
          <p:cNvSpPr/>
          <p:nvPr/>
        </p:nvSpPr>
        <p:spPr>
          <a:xfrm>
            <a:off x="502920" y="1353312"/>
            <a:ext cx="11109960" cy="9144"/>
          </a:xfrm>
          <a:prstGeom prst="rect">
            <a:avLst/>
          </a:prstGeom>
          <a:solidFill>
            <a:srgbClr val="D8DE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1457432" y="6473952"/>
            <a:ext cx="347472" cy="164592"/>
          </a:xfrm>
          <a:prstGeom prst="rect">
            <a:avLst/>
          </a:prstGeom>
          <a:noFill/>
        </p:spPr>
        <p:txBody>
          <a:bodyPr wrap="square" lIns="0" tIns="0" rIns="0" bIns="0" anchor="t">
            <a:spAutoFit/>
          </a:bodyPr>
          <a:lstStyle/>
          <a:p>
            <a:pPr algn="r">
              <a:lnSpc>
                <a:spcPct val="112000"/>
              </a:lnSpc>
              <a:spcAft>
                <a:spcPts val="0"/>
              </a:spcAft>
            </a:pPr>
            <a:r>
              <a:rPr sz="1050" b="0" i="0">
                <a:solidFill>
                  <a:srgbClr val="8C98AA"/>
                </a:solidFill>
                <a:latin typeface="微软雅黑"/>
              </a:rPr>
              <a:t>46</a:t>
            </a:r>
          </a:p>
        </p:txBody>
      </p:sp>
      <p:sp>
        <p:nvSpPr>
          <p:cNvPr id="10" name="TextBox 9"/>
          <p:cNvSpPr txBox="1"/>
          <p:nvPr/>
        </p:nvSpPr>
        <p:spPr>
          <a:xfrm>
            <a:off x="914400" y="5943600"/>
            <a:ext cx="10332720" cy="256032"/>
          </a:xfrm>
          <a:prstGeom prst="rect">
            <a:avLst/>
          </a:prstGeom>
          <a:noFill/>
        </p:spPr>
        <p:txBody>
          <a:bodyPr wrap="square" lIns="0" tIns="0" rIns="0" bIns="0" anchor="t">
            <a:spAutoFit/>
          </a:bodyPr>
          <a:lstStyle/>
          <a:p>
            <a:pPr algn="ctr">
              <a:lnSpc>
                <a:spcPct val="112000"/>
              </a:lnSpc>
              <a:spcAft>
                <a:spcPts val="0"/>
              </a:spcAft>
            </a:pPr>
            <a:r>
              <a:rPr sz="1600" b="1" i="0" dirty="0" err="1">
                <a:solidFill>
                  <a:srgbClr val="222833"/>
                </a:solidFill>
                <a:latin typeface="微软雅黑"/>
              </a:rPr>
              <a:t>深度</a:t>
            </a:r>
            <a:r>
              <a:rPr sz="1600" b="1" i="0" dirty="0">
                <a:solidFill>
                  <a:srgbClr val="222833"/>
                </a:solidFill>
                <a:latin typeface="微软雅黑"/>
              </a:rPr>
              <a:t> CORAL </a:t>
            </a:r>
            <a:r>
              <a:rPr sz="1600" b="1" i="0" dirty="0" err="1">
                <a:solidFill>
                  <a:srgbClr val="222833"/>
                </a:solidFill>
                <a:latin typeface="微软雅黑"/>
              </a:rPr>
              <a:t>架构</a:t>
            </a:r>
            <a:endParaRPr sz="1600" b="1" i="0" dirty="0">
              <a:solidFill>
                <a:srgbClr val="222833"/>
              </a:solidFill>
              <a:latin typeface="微软雅黑"/>
            </a:endParaRPr>
          </a:p>
        </p:txBody>
      </p:sp>
      <p:pic>
        <p:nvPicPr>
          <p:cNvPr id="11" name="图片 10">
            <a:extLst>
              <a:ext uri="{FF2B5EF4-FFF2-40B4-BE49-F238E27FC236}">
                <a16:creationId xmlns:a16="http://schemas.microsoft.com/office/drawing/2014/main" id="{5536C6E5-D905-6247-61AB-4E43E24C5125}"/>
              </a:ext>
            </a:extLst>
          </p:cNvPr>
          <p:cNvPicPr>
            <a:picLocks noChangeAspect="1"/>
          </p:cNvPicPr>
          <p:nvPr/>
        </p:nvPicPr>
        <p:blipFill>
          <a:blip r:embed="rId2"/>
          <a:srcRect t="21" b="21"/>
          <a:stretch>
            <a:fillRect/>
          </a:stretch>
        </p:blipFill>
        <p:spPr>
          <a:xfrm>
            <a:off x="2915252" y="1999868"/>
            <a:ext cx="7054507" cy="3788284"/>
          </a:xfrm>
          <a:prstGeom prst="rect">
            <a:avLst/>
          </a:prstGeom>
          <a:noFill/>
          <a:ln>
            <a:noFill/>
          </a:ln>
        </p:spPr>
      </p:pic>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18872" cy="6858000"/>
          </a:xfrm>
          <a:prstGeom prst="rect">
            <a:avLst/>
          </a:prstGeom>
          <a:solidFill>
            <a:srgbClr val="3159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118872" y="0"/>
            <a:ext cx="41148" cy="6858000"/>
          </a:xfrm>
          <a:prstGeom prst="rect">
            <a:avLst/>
          </a:prstGeom>
          <a:solidFill>
            <a:srgbClr val="B7C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38912" y="137160"/>
            <a:ext cx="3474720" cy="164592"/>
          </a:xfrm>
          <a:prstGeom prst="rect">
            <a:avLst/>
          </a:prstGeom>
          <a:noFill/>
        </p:spPr>
        <p:txBody>
          <a:bodyPr wrap="square" lIns="0" tIns="0" rIns="0" bIns="0" anchor="t">
            <a:spAutoFit/>
          </a:bodyPr>
          <a:lstStyle/>
          <a:p>
            <a:pPr algn="l">
              <a:lnSpc>
                <a:spcPct val="112000"/>
              </a:lnSpc>
              <a:spcAft>
                <a:spcPts val="0"/>
              </a:spcAft>
            </a:pPr>
            <a:r>
              <a:rPr sz="1050" b="0" i="0">
                <a:solidFill>
                  <a:srgbClr val="8C98AA"/>
                </a:solidFill>
                <a:latin typeface="微软雅黑"/>
              </a:rPr>
              <a:t>具身智能导论 · 第 9 章</a:t>
            </a:r>
          </a:p>
        </p:txBody>
      </p:sp>
      <p:sp>
        <p:nvSpPr>
          <p:cNvPr id="5" name="TextBox 4"/>
          <p:cNvSpPr txBox="1"/>
          <p:nvPr/>
        </p:nvSpPr>
        <p:spPr>
          <a:xfrm>
            <a:off x="9144000" y="137160"/>
            <a:ext cx="2423160" cy="164592"/>
          </a:xfrm>
          <a:prstGeom prst="rect">
            <a:avLst/>
          </a:prstGeom>
          <a:noFill/>
        </p:spPr>
        <p:txBody>
          <a:bodyPr wrap="square" lIns="0" tIns="0" rIns="0" bIns="0" anchor="t">
            <a:spAutoFit/>
          </a:bodyPr>
          <a:lstStyle/>
          <a:p>
            <a:pPr algn="r">
              <a:lnSpc>
                <a:spcPct val="112000"/>
              </a:lnSpc>
              <a:spcAft>
                <a:spcPts val="0"/>
              </a:spcAft>
            </a:pPr>
            <a:r>
              <a:rPr sz="1050" b="0" i="0">
                <a:solidFill>
                  <a:srgbClr val="8C98AA"/>
                </a:solidFill>
                <a:latin typeface="微软雅黑"/>
              </a:rPr>
              <a:t>虚实迁移技术</a:t>
            </a:r>
          </a:p>
        </p:txBody>
      </p:sp>
      <p:sp>
        <p:nvSpPr>
          <p:cNvPr id="6" name="TextBox 5"/>
          <p:cNvSpPr txBox="1"/>
          <p:nvPr/>
        </p:nvSpPr>
        <p:spPr>
          <a:xfrm>
            <a:off x="502920" y="457200"/>
            <a:ext cx="10927080" cy="749808"/>
          </a:xfrm>
          <a:prstGeom prst="rect">
            <a:avLst/>
          </a:prstGeom>
          <a:noFill/>
        </p:spPr>
        <p:txBody>
          <a:bodyPr wrap="square" lIns="0" tIns="0" rIns="0" bIns="0" anchor="t">
            <a:spAutoFit/>
          </a:bodyPr>
          <a:lstStyle/>
          <a:p>
            <a:pPr algn="l">
              <a:lnSpc>
                <a:spcPct val="112000"/>
              </a:lnSpc>
              <a:spcAft>
                <a:spcPts val="0"/>
              </a:spcAft>
            </a:pPr>
            <a:r>
              <a:rPr sz="3500" b="1" i="0">
                <a:solidFill>
                  <a:srgbClr val="24477D"/>
                </a:solidFill>
                <a:latin typeface="微软雅黑"/>
              </a:rPr>
              <a:t>DANN：通过对抗训练学习域不变表示</a:t>
            </a:r>
          </a:p>
        </p:txBody>
      </p:sp>
      <p:sp>
        <p:nvSpPr>
          <p:cNvPr id="7" name="Rectangle 6"/>
          <p:cNvSpPr/>
          <p:nvPr/>
        </p:nvSpPr>
        <p:spPr>
          <a:xfrm>
            <a:off x="502920" y="1353312"/>
            <a:ext cx="11109960" cy="9144"/>
          </a:xfrm>
          <a:prstGeom prst="rect">
            <a:avLst/>
          </a:prstGeom>
          <a:solidFill>
            <a:srgbClr val="D8DE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1457432" y="6473952"/>
            <a:ext cx="347472" cy="164592"/>
          </a:xfrm>
          <a:prstGeom prst="rect">
            <a:avLst/>
          </a:prstGeom>
          <a:noFill/>
        </p:spPr>
        <p:txBody>
          <a:bodyPr wrap="square" lIns="0" tIns="0" rIns="0" bIns="0" anchor="t">
            <a:spAutoFit/>
          </a:bodyPr>
          <a:lstStyle/>
          <a:p>
            <a:pPr algn="r">
              <a:lnSpc>
                <a:spcPct val="112000"/>
              </a:lnSpc>
              <a:spcAft>
                <a:spcPts val="0"/>
              </a:spcAft>
            </a:pPr>
            <a:r>
              <a:rPr sz="1050" b="0" i="0">
                <a:solidFill>
                  <a:srgbClr val="8C98AA"/>
                </a:solidFill>
                <a:latin typeface="微软雅黑"/>
              </a:rPr>
              <a:t>47</a:t>
            </a:r>
          </a:p>
        </p:txBody>
      </p:sp>
      <p:sp>
        <p:nvSpPr>
          <p:cNvPr id="9" name="Rounded Rectangle 8"/>
          <p:cNvSpPr/>
          <p:nvPr/>
        </p:nvSpPr>
        <p:spPr>
          <a:xfrm>
            <a:off x="868680" y="1965960"/>
            <a:ext cx="2425446" cy="960120"/>
          </a:xfrm>
          <a:prstGeom prst="roundRect">
            <a:avLst/>
          </a:prstGeom>
          <a:solidFill>
            <a:srgbClr val="FFFFFF"/>
          </a:solidFill>
          <a:ln w="10160">
            <a:solidFill>
              <a:srgbClr val="E0E5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868680" y="1965960"/>
            <a:ext cx="64008" cy="960120"/>
          </a:xfrm>
          <a:prstGeom prst="rect">
            <a:avLst/>
          </a:prstGeom>
          <a:solidFill>
            <a:srgbClr val="3159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1033271" y="2194560"/>
            <a:ext cx="2096262" cy="457200"/>
          </a:xfrm>
          <a:prstGeom prst="rect">
            <a:avLst/>
          </a:prstGeom>
          <a:noFill/>
        </p:spPr>
        <p:txBody>
          <a:bodyPr wrap="square" lIns="0" tIns="0" rIns="0" bIns="0" anchor="ctr">
            <a:spAutoFit/>
          </a:bodyPr>
          <a:lstStyle/>
          <a:p>
            <a:pPr algn="ctr">
              <a:lnSpc>
                <a:spcPct val="112000"/>
              </a:lnSpc>
              <a:spcAft>
                <a:spcPts val="0"/>
              </a:spcAft>
            </a:pPr>
            <a:r>
              <a:rPr sz="1900" b="1" i="0">
                <a:solidFill>
                  <a:srgbClr val="31599B"/>
                </a:solidFill>
                <a:latin typeface="微软雅黑"/>
              </a:rPr>
              <a:t>源域 / 目标域输入</a:t>
            </a:r>
          </a:p>
        </p:txBody>
      </p:sp>
      <p:sp>
        <p:nvSpPr>
          <p:cNvPr id="12" name="TextBox 11"/>
          <p:cNvSpPr txBox="1"/>
          <p:nvPr/>
        </p:nvSpPr>
        <p:spPr>
          <a:xfrm>
            <a:off x="3321558" y="2240279"/>
            <a:ext cx="210312" cy="320040"/>
          </a:xfrm>
          <a:prstGeom prst="rect">
            <a:avLst/>
          </a:prstGeom>
          <a:noFill/>
        </p:spPr>
        <p:txBody>
          <a:bodyPr wrap="square" lIns="0" tIns="0" rIns="0" bIns="0" anchor="t">
            <a:spAutoFit/>
          </a:bodyPr>
          <a:lstStyle/>
          <a:p>
            <a:pPr algn="ctr">
              <a:lnSpc>
                <a:spcPct val="112000"/>
              </a:lnSpc>
              <a:spcAft>
                <a:spcPts val="0"/>
              </a:spcAft>
            </a:pPr>
            <a:r>
              <a:rPr sz="2400" b="1" i="0">
                <a:solidFill>
                  <a:srgbClr val="8C98AA"/>
                </a:solidFill>
                <a:latin typeface="微软雅黑"/>
              </a:rPr>
              <a:t>→</a:t>
            </a:r>
          </a:p>
        </p:txBody>
      </p:sp>
      <p:sp>
        <p:nvSpPr>
          <p:cNvPr id="13" name="Rounded Rectangle 12"/>
          <p:cNvSpPr/>
          <p:nvPr/>
        </p:nvSpPr>
        <p:spPr>
          <a:xfrm>
            <a:off x="3550158" y="1965960"/>
            <a:ext cx="2425446" cy="960120"/>
          </a:xfrm>
          <a:prstGeom prst="roundRect">
            <a:avLst/>
          </a:prstGeom>
          <a:solidFill>
            <a:srgbClr val="FFFFFF"/>
          </a:solidFill>
          <a:ln w="10160">
            <a:solidFill>
              <a:srgbClr val="E0E5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3550158" y="1965960"/>
            <a:ext cx="64008" cy="960120"/>
          </a:xfrm>
          <a:prstGeom prst="rect">
            <a:avLst/>
          </a:prstGeom>
          <a:solidFill>
            <a:srgbClr val="2F8E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3714750" y="2194560"/>
            <a:ext cx="2096262" cy="457200"/>
          </a:xfrm>
          <a:prstGeom prst="rect">
            <a:avLst/>
          </a:prstGeom>
          <a:noFill/>
        </p:spPr>
        <p:txBody>
          <a:bodyPr wrap="square" lIns="0" tIns="0" rIns="0" bIns="0" anchor="ctr">
            <a:spAutoFit/>
          </a:bodyPr>
          <a:lstStyle/>
          <a:p>
            <a:pPr algn="ctr">
              <a:lnSpc>
                <a:spcPct val="112000"/>
              </a:lnSpc>
              <a:spcAft>
                <a:spcPts val="0"/>
              </a:spcAft>
            </a:pPr>
            <a:r>
              <a:rPr sz="1900" b="1" i="0">
                <a:solidFill>
                  <a:srgbClr val="2F8E72"/>
                </a:solidFill>
                <a:latin typeface="微软雅黑"/>
              </a:rPr>
              <a:t>特征提取器</a:t>
            </a:r>
          </a:p>
        </p:txBody>
      </p:sp>
      <p:sp>
        <p:nvSpPr>
          <p:cNvPr id="16" name="TextBox 15"/>
          <p:cNvSpPr txBox="1"/>
          <p:nvPr/>
        </p:nvSpPr>
        <p:spPr>
          <a:xfrm>
            <a:off x="6003036" y="2240279"/>
            <a:ext cx="210312" cy="320040"/>
          </a:xfrm>
          <a:prstGeom prst="rect">
            <a:avLst/>
          </a:prstGeom>
          <a:noFill/>
        </p:spPr>
        <p:txBody>
          <a:bodyPr wrap="square" lIns="0" tIns="0" rIns="0" bIns="0" anchor="t">
            <a:spAutoFit/>
          </a:bodyPr>
          <a:lstStyle/>
          <a:p>
            <a:pPr algn="ctr">
              <a:lnSpc>
                <a:spcPct val="112000"/>
              </a:lnSpc>
              <a:spcAft>
                <a:spcPts val="0"/>
              </a:spcAft>
            </a:pPr>
            <a:r>
              <a:rPr sz="2400" b="1" i="0">
                <a:solidFill>
                  <a:srgbClr val="8C98AA"/>
                </a:solidFill>
                <a:latin typeface="微软雅黑"/>
              </a:rPr>
              <a:t>→</a:t>
            </a:r>
          </a:p>
        </p:txBody>
      </p:sp>
      <p:sp>
        <p:nvSpPr>
          <p:cNvPr id="17" name="Rounded Rectangle 16"/>
          <p:cNvSpPr/>
          <p:nvPr/>
        </p:nvSpPr>
        <p:spPr>
          <a:xfrm>
            <a:off x="6231636" y="1965960"/>
            <a:ext cx="2425446" cy="960120"/>
          </a:xfrm>
          <a:prstGeom prst="roundRect">
            <a:avLst/>
          </a:prstGeom>
          <a:solidFill>
            <a:srgbClr val="FFFFFF"/>
          </a:solidFill>
          <a:ln w="10160">
            <a:solidFill>
              <a:srgbClr val="E0E5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6231636" y="1965960"/>
            <a:ext cx="64008" cy="960120"/>
          </a:xfrm>
          <a:prstGeom prst="rect">
            <a:avLst/>
          </a:prstGeom>
          <a:solidFill>
            <a:srgbClr val="C58A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6396228" y="2194560"/>
            <a:ext cx="2096262" cy="457200"/>
          </a:xfrm>
          <a:prstGeom prst="rect">
            <a:avLst/>
          </a:prstGeom>
          <a:noFill/>
        </p:spPr>
        <p:txBody>
          <a:bodyPr wrap="square" lIns="0" tIns="0" rIns="0" bIns="0" anchor="ctr">
            <a:spAutoFit/>
          </a:bodyPr>
          <a:lstStyle/>
          <a:p>
            <a:pPr algn="ctr">
              <a:lnSpc>
                <a:spcPct val="112000"/>
              </a:lnSpc>
              <a:spcAft>
                <a:spcPts val="0"/>
              </a:spcAft>
            </a:pPr>
            <a:r>
              <a:rPr sz="1900" b="1" i="0">
                <a:solidFill>
                  <a:srgbClr val="C58A24"/>
                </a:solidFill>
                <a:latin typeface="微软雅黑"/>
              </a:rPr>
              <a:t>任务分类器</a:t>
            </a:r>
          </a:p>
        </p:txBody>
      </p:sp>
      <p:sp>
        <p:nvSpPr>
          <p:cNvPr id="20" name="TextBox 19"/>
          <p:cNvSpPr txBox="1"/>
          <p:nvPr/>
        </p:nvSpPr>
        <p:spPr>
          <a:xfrm>
            <a:off x="8684514" y="2240279"/>
            <a:ext cx="210312" cy="320040"/>
          </a:xfrm>
          <a:prstGeom prst="rect">
            <a:avLst/>
          </a:prstGeom>
          <a:noFill/>
        </p:spPr>
        <p:txBody>
          <a:bodyPr wrap="square" lIns="0" tIns="0" rIns="0" bIns="0" anchor="t">
            <a:spAutoFit/>
          </a:bodyPr>
          <a:lstStyle/>
          <a:p>
            <a:pPr algn="ctr">
              <a:lnSpc>
                <a:spcPct val="112000"/>
              </a:lnSpc>
              <a:spcAft>
                <a:spcPts val="0"/>
              </a:spcAft>
            </a:pPr>
            <a:r>
              <a:rPr sz="2400" b="1" i="0">
                <a:solidFill>
                  <a:srgbClr val="8C98AA"/>
                </a:solidFill>
                <a:latin typeface="微软雅黑"/>
              </a:rPr>
              <a:t>→</a:t>
            </a:r>
          </a:p>
        </p:txBody>
      </p:sp>
      <p:sp>
        <p:nvSpPr>
          <p:cNvPr id="21" name="Rounded Rectangle 20"/>
          <p:cNvSpPr/>
          <p:nvPr/>
        </p:nvSpPr>
        <p:spPr>
          <a:xfrm>
            <a:off x="8913113" y="1965960"/>
            <a:ext cx="2425446" cy="960120"/>
          </a:xfrm>
          <a:prstGeom prst="roundRect">
            <a:avLst/>
          </a:prstGeom>
          <a:solidFill>
            <a:srgbClr val="FFFFFF"/>
          </a:solidFill>
          <a:ln w="10160">
            <a:solidFill>
              <a:srgbClr val="E0E5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8913113" y="1965960"/>
            <a:ext cx="64008" cy="960120"/>
          </a:xfrm>
          <a:prstGeom prst="rect">
            <a:avLst/>
          </a:prstGeom>
          <a:solidFill>
            <a:srgbClr val="C63F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9077705" y="2194560"/>
            <a:ext cx="2096262" cy="457200"/>
          </a:xfrm>
          <a:prstGeom prst="rect">
            <a:avLst/>
          </a:prstGeom>
          <a:noFill/>
        </p:spPr>
        <p:txBody>
          <a:bodyPr wrap="square" lIns="0" tIns="0" rIns="0" bIns="0" anchor="ctr">
            <a:spAutoFit/>
          </a:bodyPr>
          <a:lstStyle/>
          <a:p>
            <a:pPr algn="ctr">
              <a:lnSpc>
                <a:spcPct val="112000"/>
              </a:lnSpc>
              <a:spcAft>
                <a:spcPts val="0"/>
              </a:spcAft>
            </a:pPr>
            <a:r>
              <a:rPr sz="1900" b="1" i="0">
                <a:solidFill>
                  <a:srgbClr val="C63F45"/>
                </a:solidFill>
                <a:latin typeface="微软雅黑"/>
              </a:rPr>
              <a:t>域判别器</a:t>
            </a:r>
          </a:p>
        </p:txBody>
      </p:sp>
      <p:sp>
        <p:nvSpPr>
          <p:cNvPr id="24" name="TextBox 23"/>
          <p:cNvSpPr txBox="1"/>
          <p:nvPr/>
        </p:nvSpPr>
        <p:spPr>
          <a:xfrm>
            <a:off x="868680" y="3977639"/>
            <a:ext cx="10469880" cy="1005840"/>
          </a:xfrm>
          <a:prstGeom prst="rect">
            <a:avLst/>
          </a:prstGeom>
          <a:noFill/>
        </p:spPr>
        <p:txBody>
          <a:bodyPr wrap="square" lIns="0" tIns="0" rIns="0" bIns="0" anchor="t">
            <a:spAutoFit/>
          </a:bodyPr>
          <a:lstStyle/>
          <a:p>
            <a:pPr algn="ctr">
              <a:lnSpc>
                <a:spcPct val="112000"/>
              </a:lnSpc>
              <a:spcAft>
                <a:spcPts val="0"/>
              </a:spcAft>
            </a:pPr>
            <a:r>
              <a:rPr sz="2050" b="0" i="0">
                <a:solidFill>
                  <a:srgbClr val="222833"/>
                </a:solidFill>
                <a:latin typeface="微软雅黑"/>
              </a:rPr>
              <a:t>域判别器试图识别样本来自哪个域；特征提取器通过对抗目标让域判别变得困难，从而学习“任务相关但域不敏感”的表示。</a:t>
            </a: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18872" cy="6858000"/>
          </a:xfrm>
          <a:prstGeom prst="rect">
            <a:avLst/>
          </a:prstGeom>
          <a:solidFill>
            <a:srgbClr val="3159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118872" y="0"/>
            <a:ext cx="41148" cy="6858000"/>
          </a:xfrm>
          <a:prstGeom prst="rect">
            <a:avLst/>
          </a:prstGeom>
          <a:solidFill>
            <a:srgbClr val="B7C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38912" y="137160"/>
            <a:ext cx="3474720" cy="164592"/>
          </a:xfrm>
          <a:prstGeom prst="rect">
            <a:avLst/>
          </a:prstGeom>
          <a:noFill/>
        </p:spPr>
        <p:txBody>
          <a:bodyPr wrap="square" lIns="0" tIns="0" rIns="0" bIns="0" anchor="t">
            <a:spAutoFit/>
          </a:bodyPr>
          <a:lstStyle/>
          <a:p>
            <a:pPr algn="l">
              <a:lnSpc>
                <a:spcPct val="112000"/>
              </a:lnSpc>
              <a:spcAft>
                <a:spcPts val="0"/>
              </a:spcAft>
            </a:pPr>
            <a:r>
              <a:rPr sz="1050" b="0" i="0">
                <a:solidFill>
                  <a:srgbClr val="8C98AA"/>
                </a:solidFill>
                <a:latin typeface="微软雅黑"/>
              </a:rPr>
              <a:t>具身智能导论 · 第 9 章</a:t>
            </a:r>
          </a:p>
        </p:txBody>
      </p:sp>
      <p:sp>
        <p:nvSpPr>
          <p:cNvPr id="5" name="TextBox 4"/>
          <p:cNvSpPr txBox="1"/>
          <p:nvPr/>
        </p:nvSpPr>
        <p:spPr>
          <a:xfrm>
            <a:off x="9144000" y="137160"/>
            <a:ext cx="2423160" cy="164592"/>
          </a:xfrm>
          <a:prstGeom prst="rect">
            <a:avLst/>
          </a:prstGeom>
          <a:noFill/>
        </p:spPr>
        <p:txBody>
          <a:bodyPr wrap="square" lIns="0" tIns="0" rIns="0" bIns="0" anchor="t">
            <a:spAutoFit/>
          </a:bodyPr>
          <a:lstStyle/>
          <a:p>
            <a:pPr algn="r">
              <a:lnSpc>
                <a:spcPct val="112000"/>
              </a:lnSpc>
              <a:spcAft>
                <a:spcPts val="0"/>
              </a:spcAft>
            </a:pPr>
            <a:r>
              <a:rPr sz="1050" b="0" i="0">
                <a:solidFill>
                  <a:srgbClr val="8C98AA"/>
                </a:solidFill>
                <a:latin typeface="微软雅黑"/>
              </a:rPr>
              <a:t>虚实迁移技术</a:t>
            </a:r>
          </a:p>
        </p:txBody>
      </p:sp>
      <p:sp>
        <p:nvSpPr>
          <p:cNvPr id="6" name="TextBox 5"/>
          <p:cNvSpPr txBox="1"/>
          <p:nvPr/>
        </p:nvSpPr>
        <p:spPr>
          <a:xfrm>
            <a:off x="502920" y="457200"/>
            <a:ext cx="10927080" cy="749808"/>
          </a:xfrm>
          <a:prstGeom prst="rect">
            <a:avLst/>
          </a:prstGeom>
          <a:noFill/>
        </p:spPr>
        <p:txBody>
          <a:bodyPr wrap="square" lIns="0" tIns="0" rIns="0" bIns="0" anchor="t">
            <a:spAutoFit/>
          </a:bodyPr>
          <a:lstStyle/>
          <a:p>
            <a:pPr algn="l">
              <a:lnSpc>
                <a:spcPct val="112000"/>
              </a:lnSpc>
              <a:spcAft>
                <a:spcPts val="0"/>
              </a:spcAft>
            </a:pPr>
            <a:r>
              <a:rPr sz="3500" b="1" i="0">
                <a:solidFill>
                  <a:srgbClr val="24477D"/>
                </a:solidFill>
                <a:latin typeface="微软雅黑"/>
              </a:rPr>
              <a:t>域自适应：适用场景、优势与风险</a:t>
            </a:r>
          </a:p>
        </p:txBody>
      </p:sp>
      <p:sp>
        <p:nvSpPr>
          <p:cNvPr id="7" name="Rectangle 6"/>
          <p:cNvSpPr/>
          <p:nvPr/>
        </p:nvSpPr>
        <p:spPr>
          <a:xfrm>
            <a:off x="502920" y="1353312"/>
            <a:ext cx="11109960" cy="9144"/>
          </a:xfrm>
          <a:prstGeom prst="rect">
            <a:avLst/>
          </a:prstGeom>
          <a:solidFill>
            <a:srgbClr val="D8DE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1457432" y="6473952"/>
            <a:ext cx="347472" cy="164592"/>
          </a:xfrm>
          <a:prstGeom prst="rect">
            <a:avLst/>
          </a:prstGeom>
          <a:noFill/>
        </p:spPr>
        <p:txBody>
          <a:bodyPr wrap="square" lIns="0" tIns="0" rIns="0" bIns="0" anchor="t">
            <a:spAutoFit/>
          </a:bodyPr>
          <a:lstStyle/>
          <a:p>
            <a:pPr algn="r">
              <a:lnSpc>
                <a:spcPct val="112000"/>
              </a:lnSpc>
              <a:spcAft>
                <a:spcPts val="0"/>
              </a:spcAft>
            </a:pPr>
            <a:r>
              <a:rPr sz="1050" b="0" i="0">
                <a:solidFill>
                  <a:srgbClr val="8C98AA"/>
                </a:solidFill>
                <a:latin typeface="微软雅黑"/>
              </a:rPr>
              <a:t>48</a:t>
            </a:r>
          </a:p>
        </p:txBody>
      </p:sp>
      <p:sp>
        <p:nvSpPr>
          <p:cNvPr id="9" name="Rounded Rectangle 8"/>
          <p:cNvSpPr/>
          <p:nvPr/>
        </p:nvSpPr>
        <p:spPr>
          <a:xfrm>
            <a:off x="713232" y="1664208"/>
            <a:ext cx="3246120" cy="3246120"/>
          </a:xfrm>
          <a:prstGeom prst="roundRect">
            <a:avLst>
              <a:gd name="adj" fmla="val 1644"/>
            </a:avLst>
          </a:prstGeom>
          <a:solidFill>
            <a:srgbClr val="FFFFFF"/>
          </a:solidFill>
          <a:ln w="10160">
            <a:solidFill>
              <a:srgbClr val="E0E5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713232" y="1664208"/>
            <a:ext cx="64008" cy="3246120"/>
          </a:xfrm>
          <a:prstGeom prst="rect">
            <a:avLst/>
          </a:prstGeom>
          <a:solidFill>
            <a:srgbClr val="3159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923544" y="1810512"/>
            <a:ext cx="2862072" cy="347472"/>
          </a:xfrm>
          <a:prstGeom prst="rect">
            <a:avLst/>
          </a:prstGeom>
          <a:noFill/>
        </p:spPr>
        <p:txBody>
          <a:bodyPr wrap="square" lIns="0" tIns="0" rIns="0" bIns="0" anchor="t">
            <a:spAutoFit/>
          </a:bodyPr>
          <a:lstStyle/>
          <a:p>
            <a:pPr algn="l">
              <a:lnSpc>
                <a:spcPct val="112000"/>
              </a:lnSpc>
              <a:spcAft>
                <a:spcPts val="0"/>
              </a:spcAft>
            </a:pPr>
            <a:r>
              <a:rPr sz="2000" b="1" i="0">
                <a:solidFill>
                  <a:srgbClr val="31599B"/>
                </a:solidFill>
                <a:latin typeface="微软雅黑"/>
              </a:rPr>
              <a:t>适用场景</a:t>
            </a:r>
          </a:p>
        </p:txBody>
      </p:sp>
      <p:sp>
        <p:nvSpPr>
          <p:cNvPr id="12" name="TextBox 11"/>
          <p:cNvSpPr txBox="1"/>
          <p:nvPr/>
        </p:nvSpPr>
        <p:spPr>
          <a:xfrm>
            <a:off x="923544" y="2350008"/>
            <a:ext cx="2862072" cy="2404872"/>
          </a:xfrm>
          <a:prstGeom prst="rect">
            <a:avLst/>
          </a:prstGeom>
          <a:noFill/>
        </p:spPr>
        <p:txBody>
          <a:bodyPr wrap="square" lIns="0" tIns="0" rIns="0" bIns="0" anchor="t">
            <a:spAutoFit/>
          </a:bodyPr>
          <a:lstStyle/>
          <a:p>
            <a:pPr algn="l">
              <a:lnSpc>
                <a:spcPct val="112000"/>
              </a:lnSpc>
              <a:spcAft>
                <a:spcPts val="0"/>
              </a:spcAft>
            </a:pPr>
            <a:r>
              <a:rPr sz="1820" b="0" i="0">
                <a:solidFill>
                  <a:srgbClr val="222833"/>
                </a:solidFill>
                <a:latin typeface="微软雅黑"/>
              </a:rPr>
              <a:t>机械臂视觉抓取、移动机器人导航等观测差异显著的任务。</a:t>
            </a:r>
          </a:p>
        </p:txBody>
      </p:sp>
      <p:sp>
        <p:nvSpPr>
          <p:cNvPr id="13" name="Rounded Rectangle 12"/>
          <p:cNvSpPr/>
          <p:nvPr/>
        </p:nvSpPr>
        <p:spPr>
          <a:xfrm>
            <a:off x="4160520" y="1664208"/>
            <a:ext cx="3246120" cy="3246120"/>
          </a:xfrm>
          <a:prstGeom prst="roundRect">
            <a:avLst>
              <a:gd name="adj" fmla="val 1487"/>
            </a:avLst>
          </a:prstGeom>
          <a:solidFill>
            <a:srgbClr val="FFFFFF"/>
          </a:solidFill>
          <a:ln w="10160">
            <a:solidFill>
              <a:srgbClr val="E0E5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4160520" y="1664208"/>
            <a:ext cx="64008" cy="3246120"/>
          </a:xfrm>
          <a:prstGeom prst="rect">
            <a:avLst/>
          </a:prstGeom>
          <a:solidFill>
            <a:srgbClr val="2F8E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4370832" y="1810512"/>
            <a:ext cx="2862072" cy="347472"/>
          </a:xfrm>
          <a:prstGeom prst="rect">
            <a:avLst/>
          </a:prstGeom>
          <a:noFill/>
        </p:spPr>
        <p:txBody>
          <a:bodyPr wrap="square" lIns="0" tIns="0" rIns="0" bIns="0" anchor="t">
            <a:spAutoFit/>
          </a:bodyPr>
          <a:lstStyle/>
          <a:p>
            <a:pPr algn="l">
              <a:lnSpc>
                <a:spcPct val="112000"/>
              </a:lnSpc>
              <a:spcAft>
                <a:spcPts val="0"/>
              </a:spcAft>
            </a:pPr>
            <a:r>
              <a:rPr sz="2000" b="1" i="0">
                <a:solidFill>
                  <a:srgbClr val="2F8E72"/>
                </a:solidFill>
                <a:latin typeface="微软雅黑"/>
              </a:rPr>
              <a:t>优势</a:t>
            </a:r>
          </a:p>
        </p:txBody>
      </p:sp>
      <p:sp>
        <p:nvSpPr>
          <p:cNvPr id="16" name="TextBox 15"/>
          <p:cNvSpPr txBox="1"/>
          <p:nvPr/>
        </p:nvSpPr>
        <p:spPr>
          <a:xfrm>
            <a:off x="4370832" y="2350008"/>
            <a:ext cx="2862072" cy="2404872"/>
          </a:xfrm>
          <a:prstGeom prst="rect">
            <a:avLst/>
          </a:prstGeom>
          <a:noFill/>
        </p:spPr>
        <p:txBody>
          <a:bodyPr wrap="square" lIns="0" tIns="0" rIns="0" bIns="0" anchor="t">
            <a:spAutoFit/>
          </a:bodyPr>
          <a:lstStyle/>
          <a:p>
            <a:pPr algn="l">
              <a:lnSpc>
                <a:spcPct val="112000"/>
              </a:lnSpc>
              <a:spcAft>
                <a:spcPts val="0"/>
              </a:spcAft>
            </a:pPr>
            <a:r>
              <a:rPr sz="1820" b="0" i="0">
                <a:solidFill>
                  <a:srgbClr val="222833"/>
                </a:solidFill>
                <a:latin typeface="微软雅黑"/>
              </a:rPr>
              <a:t>能直接处理视觉噪声、光照和外观差异，可使用少量无标签真实数据。</a:t>
            </a:r>
          </a:p>
        </p:txBody>
      </p:sp>
      <p:sp>
        <p:nvSpPr>
          <p:cNvPr id="17" name="Rounded Rectangle 16"/>
          <p:cNvSpPr/>
          <p:nvPr/>
        </p:nvSpPr>
        <p:spPr>
          <a:xfrm>
            <a:off x="7607808" y="1664208"/>
            <a:ext cx="3246120" cy="3246120"/>
          </a:xfrm>
          <a:prstGeom prst="roundRect">
            <a:avLst>
              <a:gd name="adj" fmla="val 0"/>
            </a:avLst>
          </a:prstGeom>
          <a:solidFill>
            <a:srgbClr val="FFFFFF"/>
          </a:solidFill>
          <a:ln w="10160">
            <a:solidFill>
              <a:srgbClr val="E0E5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7607808" y="1664208"/>
            <a:ext cx="64008" cy="3246120"/>
          </a:xfrm>
          <a:prstGeom prst="rect">
            <a:avLst/>
          </a:prstGeom>
          <a:solidFill>
            <a:srgbClr val="C58A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7818120" y="1810512"/>
            <a:ext cx="2862072" cy="347472"/>
          </a:xfrm>
          <a:prstGeom prst="rect">
            <a:avLst/>
          </a:prstGeom>
          <a:noFill/>
        </p:spPr>
        <p:txBody>
          <a:bodyPr wrap="square" lIns="0" tIns="0" rIns="0" bIns="0" anchor="t">
            <a:spAutoFit/>
          </a:bodyPr>
          <a:lstStyle/>
          <a:p>
            <a:pPr algn="l">
              <a:lnSpc>
                <a:spcPct val="112000"/>
              </a:lnSpc>
              <a:spcAft>
                <a:spcPts val="0"/>
              </a:spcAft>
            </a:pPr>
            <a:r>
              <a:rPr sz="2000" b="1" i="0">
                <a:solidFill>
                  <a:srgbClr val="C58A24"/>
                </a:solidFill>
                <a:latin typeface="微软雅黑"/>
              </a:rPr>
              <a:t>风险</a:t>
            </a:r>
          </a:p>
        </p:txBody>
      </p:sp>
      <p:sp>
        <p:nvSpPr>
          <p:cNvPr id="20" name="TextBox 19"/>
          <p:cNvSpPr txBox="1"/>
          <p:nvPr/>
        </p:nvSpPr>
        <p:spPr>
          <a:xfrm>
            <a:off x="7818120" y="2350008"/>
            <a:ext cx="2862072" cy="2404872"/>
          </a:xfrm>
          <a:prstGeom prst="rect">
            <a:avLst/>
          </a:prstGeom>
          <a:noFill/>
        </p:spPr>
        <p:txBody>
          <a:bodyPr wrap="square" lIns="0" tIns="0" rIns="0" bIns="0" anchor="t">
            <a:spAutoFit/>
          </a:bodyPr>
          <a:lstStyle/>
          <a:p>
            <a:pPr algn="l">
              <a:lnSpc>
                <a:spcPct val="112000"/>
              </a:lnSpc>
              <a:spcAft>
                <a:spcPts val="0"/>
              </a:spcAft>
            </a:pPr>
            <a:r>
              <a:rPr sz="1820" b="0" i="0">
                <a:solidFill>
                  <a:srgbClr val="222833"/>
                </a:solidFill>
                <a:latin typeface="微软雅黑"/>
              </a:rPr>
              <a:t>计算复杂度较高，并需要避免“负迁移”——对齐后反而损害任务性能。</a:t>
            </a: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18872" cy="6858000"/>
          </a:xfrm>
          <a:prstGeom prst="rect">
            <a:avLst/>
          </a:prstGeom>
          <a:solidFill>
            <a:srgbClr val="3159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118872" y="0"/>
            <a:ext cx="41148" cy="6858000"/>
          </a:xfrm>
          <a:prstGeom prst="rect">
            <a:avLst/>
          </a:prstGeom>
          <a:solidFill>
            <a:srgbClr val="B7C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38912" y="137160"/>
            <a:ext cx="3474720" cy="164592"/>
          </a:xfrm>
          <a:prstGeom prst="rect">
            <a:avLst/>
          </a:prstGeom>
          <a:noFill/>
        </p:spPr>
        <p:txBody>
          <a:bodyPr wrap="square" lIns="0" tIns="0" rIns="0" bIns="0" anchor="t">
            <a:spAutoFit/>
          </a:bodyPr>
          <a:lstStyle/>
          <a:p>
            <a:pPr algn="l">
              <a:lnSpc>
                <a:spcPct val="112000"/>
              </a:lnSpc>
              <a:spcAft>
                <a:spcPts val="0"/>
              </a:spcAft>
            </a:pPr>
            <a:r>
              <a:rPr sz="1050" b="0" i="0">
                <a:solidFill>
                  <a:srgbClr val="8C98AA"/>
                </a:solidFill>
                <a:latin typeface="微软雅黑"/>
              </a:rPr>
              <a:t>具身智能导论 · 第 9 章</a:t>
            </a:r>
          </a:p>
        </p:txBody>
      </p:sp>
      <p:sp>
        <p:nvSpPr>
          <p:cNvPr id="5" name="TextBox 4"/>
          <p:cNvSpPr txBox="1"/>
          <p:nvPr/>
        </p:nvSpPr>
        <p:spPr>
          <a:xfrm>
            <a:off x="9144000" y="137160"/>
            <a:ext cx="2423160" cy="164592"/>
          </a:xfrm>
          <a:prstGeom prst="rect">
            <a:avLst/>
          </a:prstGeom>
          <a:noFill/>
        </p:spPr>
        <p:txBody>
          <a:bodyPr wrap="square" lIns="0" tIns="0" rIns="0" bIns="0" anchor="t">
            <a:spAutoFit/>
          </a:bodyPr>
          <a:lstStyle/>
          <a:p>
            <a:pPr algn="r">
              <a:lnSpc>
                <a:spcPct val="112000"/>
              </a:lnSpc>
              <a:spcAft>
                <a:spcPts val="0"/>
              </a:spcAft>
            </a:pPr>
            <a:r>
              <a:rPr sz="1050" b="0" i="0">
                <a:solidFill>
                  <a:srgbClr val="8C98AA"/>
                </a:solidFill>
                <a:latin typeface="微软雅黑"/>
              </a:rPr>
              <a:t>虚实迁移技术</a:t>
            </a:r>
          </a:p>
        </p:txBody>
      </p:sp>
      <p:sp>
        <p:nvSpPr>
          <p:cNvPr id="6" name="TextBox 5"/>
          <p:cNvSpPr txBox="1"/>
          <p:nvPr/>
        </p:nvSpPr>
        <p:spPr>
          <a:xfrm>
            <a:off x="502920" y="457200"/>
            <a:ext cx="10927080" cy="749808"/>
          </a:xfrm>
          <a:prstGeom prst="rect">
            <a:avLst/>
          </a:prstGeom>
          <a:noFill/>
        </p:spPr>
        <p:txBody>
          <a:bodyPr wrap="square" lIns="0" tIns="0" rIns="0" bIns="0" anchor="t">
            <a:spAutoFit/>
          </a:bodyPr>
          <a:lstStyle/>
          <a:p>
            <a:pPr algn="l">
              <a:lnSpc>
                <a:spcPct val="112000"/>
              </a:lnSpc>
              <a:spcAft>
                <a:spcPts val="0"/>
              </a:spcAft>
            </a:pPr>
            <a:r>
              <a:rPr sz="3500" b="1" i="0">
                <a:solidFill>
                  <a:srgbClr val="24477D"/>
                </a:solidFill>
                <a:latin typeface="微软雅黑"/>
              </a:rPr>
              <a:t>9.2.3 基于系统辨识的模型校准</a:t>
            </a:r>
          </a:p>
        </p:txBody>
      </p:sp>
      <p:sp>
        <p:nvSpPr>
          <p:cNvPr id="7" name="Rectangle 6"/>
          <p:cNvSpPr/>
          <p:nvPr/>
        </p:nvSpPr>
        <p:spPr>
          <a:xfrm>
            <a:off x="502920" y="1353312"/>
            <a:ext cx="11109960" cy="9144"/>
          </a:xfrm>
          <a:prstGeom prst="rect">
            <a:avLst/>
          </a:prstGeom>
          <a:solidFill>
            <a:srgbClr val="D8DE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1457432" y="6473952"/>
            <a:ext cx="347472" cy="164592"/>
          </a:xfrm>
          <a:prstGeom prst="rect">
            <a:avLst/>
          </a:prstGeom>
          <a:noFill/>
        </p:spPr>
        <p:txBody>
          <a:bodyPr wrap="square" lIns="0" tIns="0" rIns="0" bIns="0" anchor="t">
            <a:spAutoFit/>
          </a:bodyPr>
          <a:lstStyle/>
          <a:p>
            <a:pPr algn="r">
              <a:lnSpc>
                <a:spcPct val="112000"/>
              </a:lnSpc>
              <a:spcAft>
                <a:spcPts val="0"/>
              </a:spcAft>
            </a:pPr>
            <a:r>
              <a:rPr sz="1050" b="0" i="0">
                <a:solidFill>
                  <a:srgbClr val="8C98AA"/>
                </a:solidFill>
                <a:latin typeface="微软雅黑"/>
              </a:rPr>
              <a:t>49</a:t>
            </a:r>
          </a:p>
        </p:txBody>
      </p:sp>
      <p:sp>
        <p:nvSpPr>
          <p:cNvPr id="9" name="Rounded Rectangle 8"/>
          <p:cNvSpPr/>
          <p:nvPr/>
        </p:nvSpPr>
        <p:spPr>
          <a:xfrm>
            <a:off x="822960" y="1920240"/>
            <a:ext cx="2434590" cy="960120"/>
          </a:xfrm>
          <a:prstGeom prst="roundRect">
            <a:avLst/>
          </a:prstGeom>
          <a:solidFill>
            <a:srgbClr val="FFFFFF"/>
          </a:solidFill>
          <a:ln w="10160">
            <a:solidFill>
              <a:srgbClr val="E0E5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822960" y="1920240"/>
            <a:ext cx="64008" cy="960120"/>
          </a:xfrm>
          <a:prstGeom prst="rect">
            <a:avLst/>
          </a:prstGeom>
          <a:solidFill>
            <a:srgbClr val="C63F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987552" y="2148840"/>
            <a:ext cx="2105406" cy="457200"/>
          </a:xfrm>
          <a:prstGeom prst="rect">
            <a:avLst/>
          </a:prstGeom>
          <a:noFill/>
        </p:spPr>
        <p:txBody>
          <a:bodyPr wrap="square" lIns="0" tIns="0" rIns="0" bIns="0" anchor="ctr">
            <a:spAutoFit/>
          </a:bodyPr>
          <a:lstStyle/>
          <a:p>
            <a:pPr algn="ctr">
              <a:lnSpc>
                <a:spcPct val="112000"/>
              </a:lnSpc>
              <a:spcAft>
                <a:spcPts val="0"/>
              </a:spcAft>
            </a:pPr>
            <a:r>
              <a:rPr sz="1900" b="1" i="0">
                <a:solidFill>
                  <a:srgbClr val="C63F45"/>
                </a:solidFill>
                <a:latin typeface="微软雅黑"/>
              </a:rPr>
              <a:t>采集真实 I/O</a:t>
            </a:r>
          </a:p>
        </p:txBody>
      </p:sp>
      <p:sp>
        <p:nvSpPr>
          <p:cNvPr id="12" name="TextBox 11"/>
          <p:cNvSpPr txBox="1"/>
          <p:nvPr/>
        </p:nvSpPr>
        <p:spPr>
          <a:xfrm>
            <a:off x="3284982" y="2194560"/>
            <a:ext cx="228600" cy="320040"/>
          </a:xfrm>
          <a:prstGeom prst="rect">
            <a:avLst/>
          </a:prstGeom>
          <a:noFill/>
        </p:spPr>
        <p:txBody>
          <a:bodyPr wrap="square" lIns="0" tIns="0" rIns="0" bIns="0" anchor="t">
            <a:spAutoFit/>
          </a:bodyPr>
          <a:lstStyle/>
          <a:p>
            <a:pPr algn="ctr">
              <a:lnSpc>
                <a:spcPct val="112000"/>
              </a:lnSpc>
              <a:spcAft>
                <a:spcPts val="0"/>
              </a:spcAft>
            </a:pPr>
            <a:r>
              <a:rPr sz="2400" b="1" i="0">
                <a:solidFill>
                  <a:srgbClr val="8C98AA"/>
                </a:solidFill>
                <a:latin typeface="微软雅黑"/>
              </a:rPr>
              <a:t>→</a:t>
            </a:r>
          </a:p>
        </p:txBody>
      </p:sp>
      <p:sp>
        <p:nvSpPr>
          <p:cNvPr id="13" name="Rounded Rectangle 12"/>
          <p:cNvSpPr/>
          <p:nvPr/>
        </p:nvSpPr>
        <p:spPr>
          <a:xfrm>
            <a:off x="3531870" y="1920240"/>
            <a:ext cx="2434590" cy="960120"/>
          </a:xfrm>
          <a:prstGeom prst="roundRect">
            <a:avLst/>
          </a:prstGeom>
          <a:solidFill>
            <a:srgbClr val="FFFFFF"/>
          </a:solidFill>
          <a:ln w="10160">
            <a:solidFill>
              <a:srgbClr val="E0E5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3531870" y="1920240"/>
            <a:ext cx="64008" cy="960120"/>
          </a:xfrm>
          <a:prstGeom prst="rect">
            <a:avLst/>
          </a:prstGeom>
          <a:solidFill>
            <a:srgbClr val="3159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3696461" y="2148840"/>
            <a:ext cx="2105406" cy="457200"/>
          </a:xfrm>
          <a:prstGeom prst="rect">
            <a:avLst/>
          </a:prstGeom>
          <a:noFill/>
        </p:spPr>
        <p:txBody>
          <a:bodyPr wrap="square" lIns="0" tIns="0" rIns="0" bIns="0" anchor="ctr">
            <a:spAutoFit/>
          </a:bodyPr>
          <a:lstStyle/>
          <a:p>
            <a:pPr algn="ctr">
              <a:lnSpc>
                <a:spcPct val="112000"/>
              </a:lnSpc>
              <a:spcAft>
                <a:spcPts val="0"/>
              </a:spcAft>
            </a:pPr>
            <a:r>
              <a:rPr sz="1900" b="1" i="0">
                <a:solidFill>
                  <a:srgbClr val="31599B"/>
                </a:solidFill>
                <a:latin typeface="微软雅黑"/>
              </a:rPr>
              <a:t>估计物理参数</a:t>
            </a:r>
          </a:p>
        </p:txBody>
      </p:sp>
      <p:sp>
        <p:nvSpPr>
          <p:cNvPr id="16" name="TextBox 15"/>
          <p:cNvSpPr txBox="1"/>
          <p:nvPr/>
        </p:nvSpPr>
        <p:spPr>
          <a:xfrm>
            <a:off x="5993892" y="2194560"/>
            <a:ext cx="228600" cy="320040"/>
          </a:xfrm>
          <a:prstGeom prst="rect">
            <a:avLst/>
          </a:prstGeom>
          <a:noFill/>
        </p:spPr>
        <p:txBody>
          <a:bodyPr wrap="square" lIns="0" tIns="0" rIns="0" bIns="0" anchor="t">
            <a:spAutoFit/>
          </a:bodyPr>
          <a:lstStyle/>
          <a:p>
            <a:pPr algn="ctr">
              <a:lnSpc>
                <a:spcPct val="112000"/>
              </a:lnSpc>
              <a:spcAft>
                <a:spcPts val="0"/>
              </a:spcAft>
            </a:pPr>
            <a:r>
              <a:rPr sz="2400" b="1" i="0">
                <a:solidFill>
                  <a:srgbClr val="8C98AA"/>
                </a:solidFill>
                <a:latin typeface="微软雅黑"/>
              </a:rPr>
              <a:t>→</a:t>
            </a:r>
          </a:p>
        </p:txBody>
      </p:sp>
      <p:sp>
        <p:nvSpPr>
          <p:cNvPr id="17" name="Rounded Rectangle 16"/>
          <p:cNvSpPr/>
          <p:nvPr/>
        </p:nvSpPr>
        <p:spPr>
          <a:xfrm>
            <a:off x="6240780" y="1920240"/>
            <a:ext cx="2434590" cy="960120"/>
          </a:xfrm>
          <a:prstGeom prst="roundRect">
            <a:avLst/>
          </a:prstGeom>
          <a:solidFill>
            <a:srgbClr val="FFFFFF"/>
          </a:solidFill>
          <a:ln w="10160">
            <a:solidFill>
              <a:srgbClr val="E0E5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6240780" y="1920240"/>
            <a:ext cx="64008" cy="960120"/>
          </a:xfrm>
          <a:prstGeom prst="rect">
            <a:avLst/>
          </a:prstGeom>
          <a:solidFill>
            <a:srgbClr val="2F8E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6405372" y="2148840"/>
            <a:ext cx="2105406" cy="457200"/>
          </a:xfrm>
          <a:prstGeom prst="rect">
            <a:avLst/>
          </a:prstGeom>
          <a:noFill/>
        </p:spPr>
        <p:txBody>
          <a:bodyPr wrap="square" lIns="0" tIns="0" rIns="0" bIns="0" anchor="ctr">
            <a:spAutoFit/>
          </a:bodyPr>
          <a:lstStyle/>
          <a:p>
            <a:pPr algn="ctr">
              <a:lnSpc>
                <a:spcPct val="112000"/>
              </a:lnSpc>
              <a:spcAft>
                <a:spcPts val="0"/>
              </a:spcAft>
            </a:pPr>
            <a:r>
              <a:rPr sz="1900" b="1" i="0">
                <a:solidFill>
                  <a:srgbClr val="2F8E72"/>
                </a:solidFill>
                <a:latin typeface="微软雅黑"/>
              </a:rPr>
              <a:t>更新仿真模型</a:t>
            </a:r>
          </a:p>
        </p:txBody>
      </p:sp>
      <p:sp>
        <p:nvSpPr>
          <p:cNvPr id="20" name="TextBox 19"/>
          <p:cNvSpPr txBox="1"/>
          <p:nvPr/>
        </p:nvSpPr>
        <p:spPr>
          <a:xfrm>
            <a:off x="8702802" y="2194560"/>
            <a:ext cx="228600" cy="320040"/>
          </a:xfrm>
          <a:prstGeom prst="rect">
            <a:avLst/>
          </a:prstGeom>
          <a:noFill/>
        </p:spPr>
        <p:txBody>
          <a:bodyPr wrap="square" lIns="0" tIns="0" rIns="0" bIns="0" anchor="t">
            <a:spAutoFit/>
          </a:bodyPr>
          <a:lstStyle/>
          <a:p>
            <a:pPr algn="ctr">
              <a:lnSpc>
                <a:spcPct val="112000"/>
              </a:lnSpc>
              <a:spcAft>
                <a:spcPts val="0"/>
              </a:spcAft>
            </a:pPr>
            <a:r>
              <a:rPr sz="2400" b="1" i="0">
                <a:solidFill>
                  <a:srgbClr val="8C98AA"/>
                </a:solidFill>
                <a:latin typeface="微软雅黑"/>
              </a:rPr>
              <a:t>→</a:t>
            </a:r>
          </a:p>
        </p:txBody>
      </p:sp>
      <p:sp>
        <p:nvSpPr>
          <p:cNvPr id="21" name="Rounded Rectangle 20"/>
          <p:cNvSpPr/>
          <p:nvPr/>
        </p:nvSpPr>
        <p:spPr>
          <a:xfrm>
            <a:off x="8949690" y="1920240"/>
            <a:ext cx="2434590" cy="960120"/>
          </a:xfrm>
          <a:prstGeom prst="roundRect">
            <a:avLst/>
          </a:prstGeom>
          <a:solidFill>
            <a:srgbClr val="FFFFFF"/>
          </a:solidFill>
          <a:ln w="10160">
            <a:solidFill>
              <a:srgbClr val="E0E5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8949690" y="1920240"/>
            <a:ext cx="64008" cy="960120"/>
          </a:xfrm>
          <a:prstGeom prst="rect">
            <a:avLst/>
          </a:prstGeom>
          <a:solidFill>
            <a:srgbClr val="C58A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9114282" y="2148840"/>
            <a:ext cx="2105406" cy="457200"/>
          </a:xfrm>
          <a:prstGeom prst="rect">
            <a:avLst/>
          </a:prstGeom>
          <a:noFill/>
        </p:spPr>
        <p:txBody>
          <a:bodyPr wrap="square" lIns="0" tIns="0" rIns="0" bIns="0" anchor="ctr">
            <a:spAutoFit/>
          </a:bodyPr>
          <a:lstStyle/>
          <a:p>
            <a:pPr algn="ctr">
              <a:lnSpc>
                <a:spcPct val="112000"/>
              </a:lnSpc>
              <a:spcAft>
                <a:spcPts val="0"/>
              </a:spcAft>
            </a:pPr>
            <a:r>
              <a:rPr sz="1900" b="1" i="0">
                <a:solidFill>
                  <a:srgbClr val="C58A24"/>
                </a:solidFill>
                <a:latin typeface="微软雅黑"/>
              </a:rPr>
              <a:t>重新训练 / 验证</a:t>
            </a:r>
          </a:p>
        </p:txBody>
      </p:sp>
      <p:sp>
        <p:nvSpPr>
          <p:cNvPr id="24" name="TextBox 23"/>
          <p:cNvSpPr txBox="1"/>
          <p:nvPr/>
        </p:nvSpPr>
        <p:spPr>
          <a:xfrm>
            <a:off x="868680" y="3886200"/>
            <a:ext cx="10424160" cy="1005840"/>
          </a:xfrm>
          <a:prstGeom prst="rect">
            <a:avLst/>
          </a:prstGeom>
          <a:noFill/>
        </p:spPr>
        <p:txBody>
          <a:bodyPr wrap="square" lIns="0" tIns="0" rIns="0" bIns="0" anchor="t">
            <a:spAutoFit/>
          </a:bodyPr>
          <a:lstStyle/>
          <a:p>
            <a:pPr algn="ctr">
              <a:lnSpc>
                <a:spcPct val="112000"/>
              </a:lnSpc>
              <a:spcAft>
                <a:spcPts val="0"/>
              </a:spcAft>
            </a:pPr>
            <a:r>
              <a:rPr sz="2050" b="0" i="0">
                <a:solidFill>
                  <a:srgbClr val="222833"/>
                </a:solidFill>
                <a:latin typeface="微软雅黑"/>
              </a:rPr>
              <a:t>系统辨识直接针对质量、摩擦系数、惯性矩阵等动力学参数进行估计与校准，从物理模型层面缩小仿真与真实系统的差距。</a:t>
            </a: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18872" cy="6858000"/>
          </a:xfrm>
          <a:prstGeom prst="rect">
            <a:avLst/>
          </a:prstGeom>
          <a:solidFill>
            <a:srgbClr val="3159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118872" y="0"/>
            <a:ext cx="41148" cy="6858000"/>
          </a:xfrm>
          <a:prstGeom prst="rect">
            <a:avLst/>
          </a:prstGeom>
          <a:solidFill>
            <a:srgbClr val="B7C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38912" y="137160"/>
            <a:ext cx="3474720" cy="164592"/>
          </a:xfrm>
          <a:prstGeom prst="rect">
            <a:avLst/>
          </a:prstGeom>
          <a:noFill/>
        </p:spPr>
        <p:txBody>
          <a:bodyPr wrap="square" lIns="0" tIns="0" rIns="0" bIns="0" anchor="t">
            <a:spAutoFit/>
          </a:bodyPr>
          <a:lstStyle/>
          <a:p>
            <a:pPr algn="l">
              <a:lnSpc>
                <a:spcPct val="112000"/>
              </a:lnSpc>
              <a:spcAft>
                <a:spcPts val="0"/>
              </a:spcAft>
            </a:pPr>
            <a:r>
              <a:rPr sz="1050" b="0" i="0">
                <a:solidFill>
                  <a:srgbClr val="8C98AA"/>
                </a:solidFill>
                <a:latin typeface="微软雅黑"/>
              </a:rPr>
              <a:t>具身智能导论 · 第 9 章</a:t>
            </a:r>
          </a:p>
        </p:txBody>
      </p:sp>
      <p:sp>
        <p:nvSpPr>
          <p:cNvPr id="5" name="TextBox 4"/>
          <p:cNvSpPr txBox="1"/>
          <p:nvPr/>
        </p:nvSpPr>
        <p:spPr>
          <a:xfrm>
            <a:off x="9144000" y="137160"/>
            <a:ext cx="2423160" cy="164592"/>
          </a:xfrm>
          <a:prstGeom prst="rect">
            <a:avLst/>
          </a:prstGeom>
          <a:noFill/>
        </p:spPr>
        <p:txBody>
          <a:bodyPr wrap="square" lIns="0" tIns="0" rIns="0" bIns="0" anchor="t">
            <a:spAutoFit/>
          </a:bodyPr>
          <a:lstStyle/>
          <a:p>
            <a:pPr algn="r">
              <a:lnSpc>
                <a:spcPct val="112000"/>
              </a:lnSpc>
              <a:spcAft>
                <a:spcPts val="0"/>
              </a:spcAft>
            </a:pPr>
            <a:r>
              <a:rPr sz="1050" b="0" i="0">
                <a:solidFill>
                  <a:srgbClr val="8C98AA"/>
                </a:solidFill>
                <a:latin typeface="微软雅黑"/>
              </a:rPr>
              <a:t>虚实迁移技术</a:t>
            </a:r>
          </a:p>
        </p:txBody>
      </p:sp>
      <p:sp>
        <p:nvSpPr>
          <p:cNvPr id="6" name="TextBox 5"/>
          <p:cNvSpPr txBox="1"/>
          <p:nvPr/>
        </p:nvSpPr>
        <p:spPr>
          <a:xfrm>
            <a:off x="502920" y="457200"/>
            <a:ext cx="10927080" cy="749808"/>
          </a:xfrm>
          <a:prstGeom prst="rect">
            <a:avLst/>
          </a:prstGeom>
          <a:noFill/>
        </p:spPr>
        <p:txBody>
          <a:bodyPr wrap="square" lIns="0" tIns="0" rIns="0" bIns="0" anchor="t">
            <a:spAutoFit/>
          </a:bodyPr>
          <a:lstStyle/>
          <a:p>
            <a:pPr algn="l">
              <a:lnSpc>
                <a:spcPct val="112000"/>
              </a:lnSpc>
              <a:spcAft>
                <a:spcPts val="0"/>
              </a:spcAft>
            </a:pPr>
            <a:r>
              <a:rPr sz="3500" b="1" i="0">
                <a:solidFill>
                  <a:srgbClr val="24477D"/>
                </a:solidFill>
                <a:latin typeface="微软雅黑"/>
              </a:rPr>
              <a:t>系统辨识：参数化校准、残差动力学与主动探索</a:t>
            </a:r>
          </a:p>
        </p:txBody>
      </p:sp>
      <p:sp>
        <p:nvSpPr>
          <p:cNvPr id="7" name="Rectangle 6"/>
          <p:cNvSpPr/>
          <p:nvPr/>
        </p:nvSpPr>
        <p:spPr>
          <a:xfrm>
            <a:off x="502920" y="1353312"/>
            <a:ext cx="11109960" cy="9144"/>
          </a:xfrm>
          <a:prstGeom prst="rect">
            <a:avLst/>
          </a:prstGeom>
          <a:solidFill>
            <a:srgbClr val="D8DE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1457432" y="6473952"/>
            <a:ext cx="347472" cy="164592"/>
          </a:xfrm>
          <a:prstGeom prst="rect">
            <a:avLst/>
          </a:prstGeom>
          <a:noFill/>
        </p:spPr>
        <p:txBody>
          <a:bodyPr wrap="square" lIns="0" tIns="0" rIns="0" bIns="0" anchor="t">
            <a:spAutoFit/>
          </a:bodyPr>
          <a:lstStyle/>
          <a:p>
            <a:pPr algn="r">
              <a:lnSpc>
                <a:spcPct val="112000"/>
              </a:lnSpc>
              <a:spcAft>
                <a:spcPts val="0"/>
              </a:spcAft>
            </a:pPr>
            <a:r>
              <a:rPr sz="1050" b="0" i="0">
                <a:solidFill>
                  <a:srgbClr val="8C98AA"/>
                </a:solidFill>
                <a:latin typeface="微软雅黑"/>
              </a:rPr>
              <a:t>50</a:t>
            </a:r>
          </a:p>
        </p:txBody>
      </p:sp>
      <p:sp>
        <p:nvSpPr>
          <p:cNvPr id="9" name="Rounded Rectangle 8"/>
          <p:cNvSpPr/>
          <p:nvPr/>
        </p:nvSpPr>
        <p:spPr>
          <a:xfrm>
            <a:off x="713232" y="1664208"/>
            <a:ext cx="3246120" cy="3383280"/>
          </a:xfrm>
          <a:prstGeom prst="roundRect">
            <a:avLst/>
          </a:prstGeom>
          <a:solidFill>
            <a:srgbClr val="FFFFFF"/>
          </a:solidFill>
          <a:ln w="10160">
            <a:solidFill>
              <a:srgbClr val="E0E5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713232" y="1664208"/>
            <a:ext cx="64008" cy="3383280"/>
          </a:xfrm>
          <a:prstGeom prst="rect">
            <a:avLst/>
          </a:prstGeom>
          <a:solidFill>
            <a:srgbClr val="3159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923544" y="1810512"/>
            <a:ext cx="2862072" cy="347472"/>
          </a:xfrm>
          <a:prstGeom prst="rect">
            <a:avLst/>
          </a:prstGeom>
          <a:noFill/>
        </p:spPr>
        <p:txBody>
          <a:bodyPr wrap="square" lIns="0" tIns="0" rIns="0" bIns="0" anchor="t">
            <a:spAutoFit/>
          </a:bodyPr>
          <a:lstStyle/>
          <a:p>
            <a:pPr algn="l">
              <a:lnSpc>
                <a:spcPct val="112000"/>
              </a:lnSpc>
              <a:spcAft>
                <a:spcPts val="0"/>
              </a:spcAft>
            </a:pPr>
            <a:r>
              <a:rPr sz="2000" b="1" i="0">
                <a:solidFill>
                  <a:srgbClr val="31599B"/>
                </a:solidFill>
                <a:latin typeface="微软雅黑"/>
              </a:rPr>
              <a:t>参数估计</a:t>
            </a:r>
          </a:p>
        </p:txBody>
      </p:sp>
      <p:sp>
        <p:nvSpPr>
          <p:cNvPr id="12" name="TextBox 11"/>
          <p:cNvSpPr txBox="1"/>
          <p:nvPr/>
        </p:nvSpPr>
        <p:spPr>
          <a:xfrm>
            <a:off x="923544" y="2350008"/>
            <a:ext cx="2862072" cy="2542032"/>
          </a:xfrm>
          <a:prstGeom prst="rect">
            <a:avLst/>
          </a:prstGeom>
          <a:noFill/>
        </p:spPr>
        <p:txBody>
          <a:bodyPr wrap="square" lIns="0" tIns="0" rIns="0" bIns="0" anchor="t">
            <a:spAutoFit/>
          </a:bodyPr>
          <a:lstStyle/>
          <a:p>
            <a:pPr algn="l">
              <a:lnSpc>
                <a:spcPct val="112000"/>
              </a:lnSpc>
              <a:spcAft>
                <a:spcPts val="0"/>
              </a:spcAft>
            </a:pPr>
            <a:r>
              <a:rPr sz="1750" b="0" i="0">
                <a:solidFill>
                  <a:srgbClr val="222833"/>
                </a:solidFill>
                <a:latin typeface="微软雅黑"/>
              </a:rPr>
              <a:t>利用贝叶斯优化、梯度下降等方法，根据控制指令、关节速度 / 力矩、接触力、末端轨迹更新参数。</a:t>
            </a:r>
          </a:p>
        </p:txBody>
      </p:sp>
      <p:sp>
        <p:nvSpPr>
          <p:cNvPr id="13" name="Rounded Rectangle 12"/>
          <p:cNvSpPr/>
          <p:nvPr/>
        </p:nvSpPr>
        <p:spPr>
          <a:xfrm>
            <a:off x="4160520" y="1664208"/>
            <a:ext cx="3246120" cy="3383280"/>
          </a:xfrm>
          <a:prstGeom prst="roundRect">
            <a:avLst/>
          </a:prstGeom>
          <a:solidFill>
            <a:srgbClr val="FFFFFF"/>
          </a:solidFill>
          <a:ln w="10160">
            <a:solidFill>
              <a:srgbClr val="E0E5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4160520" y="1664208"/>
            <a:ext cx="64008" cy="3383280"/>
          </a:xfrm>
          <a:prstGeom prst="rect">
            <a:avLst/>
          </a:prstGeom>
          <a:solidFill>
            <a:srgbClr val="2F8E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4370832" y="1810512"/>
            <a:ext cx="2862072" cy="347472"/>
          </a:xfrm>
          <a:prstGeom prst="rect">
            <a:avLst/>
          </a:prstGeom>
          <a:noFill/>
        </p:spPr>
        <p:txBody>
          <a:bodyPr wrap="square" lIns="0" tIns="0" rIns="0" bIns="0" anchor="t">
            <a:spAutoFit/>
          </a:bodyPr>
          <a:lstStyle/>
          <a:p>
            <a:pPr algn="l">
              <a:lnSpc>
                <a:spcPct val="112000"/>
              </a:lnSpc>
              <a:spcAft>
                <a:spcPts val="0"/>
              </a:spcAft>
            </a:pPr>
            <a:r>
              <a:rPr sz="2000" b="1" i="0">
                <a:solidFill>
                  <a:srgbClr val="2F8E72"/>
                </a:solidFill>
                <a:latin typeface="微软雅黑"/>
              </a:rPr>
              <a:t>残差动力学</a:t>
            </a:r>
          </a:p>
        </p:txBody>
      </p:sp>
      <p:sp>
        <p:nvSpPr>
          <p:cNvPr id="16" name="TextBox 15"/>
          <p:cNvSpPr txBox="1"/>
          <p:nvPr/>
        </p:nvSpPr>
        <p:spPr>
          <a:xfrm>
            <a:off x="4370832" y="2350008"/>
            <a:ext cx="2862072" cy="2542032"/>
          </a:xfrm>
          <a:prstGeom prst="rect">
            <a:avLst/>
          </a:prstGeom>
          <a:noFill/>
        </p:spPr>
        <p:txBody>
          <a:bodyPr wrap="square" lIns="0" tIns="0" rIns="0" bIns="0" anchor="t">
            <a:spAutoFit/>
          </a:bodyPr>
          <a:lstStyle/>
          <a:p>
            <a:pPr algn="l">
              <a:lnSpc>
                <a:spcPct val="112000"/>
              </a:lnSpc>
              <a:spcAft>
                <a:spcPts val="0"/>
              </a:spcAft>
            </a:pPr>
            <a:r>
              <a:rPr sz="1800" b="0" i="0">
                <a:solidFill>
                  <a:srgbClr val="222833"/>
                </a:solidFill>
                <a:latin typeface="微软雅黑"/>
              </a:rPr>
              <a:t>对于难以参数化的误差，可用高斯过程或神经网络拟合剩余动力学。</a:t>
            </a:r>
          </a:p>
        </p:txBody>
      </p:sp>
      <p:sp>
        <p:nvSpPr>
          <p:cNvPr id="17" name="Rounded Rectangle 16"/>
          <p:cNvSpPr/>
          <p:nvPr/>
        </p:nvSpPr>
        <p:spPr>
          <a:xfrm>
            <a:off x="7607808" y="1664208"/>
            <a:ext cx="3246120" cy="3383280"/>
          </a:xfrm>
          <a:prstGeom prst="roundRect">
            <a:avLst/>
          </a:prstGeom>
          <a:solidFill>
            <a:srgbClr val="FFFFFF"/>
          </a:solidFill>
          <a:ln w="10160">
            <a:solidFill>
              <a:srgbClr val="E0E5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7607808" y="1664208"/>
            <a:ext cx="64008" cy="3383280"/>
          </a:xfrm>
          <a:prstGeom prst="rect">
            <a:avLst/>
          </a:prstGeom>
          <a:solidFill>
            <a:srgbClr val="C58A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7818120" y="1810512"/>
            <a:ext cx="2862072" cy="347472"/>
          </a:xfrm>
          <a:prstGeom prst="rect">
            <a:avLst/>
          </a:prstGeom>
          <a:noFill/>
        </p:spPr>
        <p:txBody>
          <a:bodyPr wrap="square" lIns="0" tIns="0" rIns="0" bIns="0" anchor="t">
            <a:spAutoFit/>
          </a:bodyPr>
          <a:lstStyle/>
          <a:p>
            <a:pPr algn="l">
              <a:lnSpc>
                <a:spcPct val="112000"/>
              </a:lnSpc>
              <a:spcAft>
                <a:spcPts val="0"/>
              </a:spcAft>
            </a:pPr>
            <a:r>
              <a:rPr sz="2000" b="1" i="0">
                <a:solidFill>
                  <a:srgbClr val="C58A24"/>
                </a:solidFill>
                <a:latin typeface="微软雅黑"/>
              </a:rPr>
              <a:t>主动系统辨识</a:t>
            </a:r>
          </a:p>
        </p:txBody>
      </p:sp>
      <p:sp>
        <p:nvSpPr>
          <p:cNvPr id="20" name="TextBox 19"/>
          <p:cNvSpPr txBox="1"/>
          <p:nvPr/>
        </p:nvSpPr>
        <p:spPr>
          <a:xfrm>
            <a:off x="7818120" y="2350008"/>
            <a:ext cx="2862072" cy="2542032"/>
          </a:xfrm>
          <a:prstGeom prst="rect">
            <a:avLst/>
          </a:prstGeom>
          <a:noFill/>
        </p:spPr>
        <p:txBody>
          <a:bodyPr wrap="square" lIns="0" tIns="0" rIns="0" bIns="0" anchor="t">
            <a:spAutoFit/>
          </a:bodyPr>
          <a:lstStyle/>
          <a:p>
            <a:pPr algn="l">
              <a:lnSpc>
                <a:spcPct val="112000"/>
              </a:lnSpc>
              <a:spcAft>
                <a:spcPts val="0"/>
              </a:spcAft>
            </a:pPr>
            <a:r>
              <a:rPr sz="1800" b="0" i="0">
                <a:solidFill>
                  <a:srgbClr val="222833"/>
                </a:solidFill>
                <a:latin typeface="微软雅黑"/>
              </a:rPr>
              <a:t>引导机器人主动探索信息丰富的状态—动作对，提高参数估计与校准效率。</a:t>
            </a: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18872" cy="6858000"/>
          </a:xfrm>
          <a:prstGeom prst="rect">
            <a:avLst/>
          </a:prstGeom>
          <a:solidFill>
            <a:srgbClr val="3159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118872" y="0"/>
            <a:ext cx="41148" cy="6858000"/>
          </a:xfrm>
          <a:prstGeom prst="rect">
            <a:avLst/>
          </a:prstGeom>
          <a:solidFill>
            <a:srgbClr val="B7C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38912" y="137160"/>
            <a:ext cx="3474720" cy="164592"/>
          </a:xfrm>
          <a:prstGeom prst="rect">
            <a:avLst/>
          </a:prstGeom>
          <a:noFill/>
        </p:spPr>
        <p:txBody>
          <a:bodyPr wrap="square" lIns="0" tIns="0" rIns="0" bIns="0" anchor="t">
            <a:spAutoFit/>
          </a:bodyPr>
          <a:lstStyle/>
          <a:p>
            <a:pPr algn="l">
              <a:lnSpc>
                <a:spcPct val="112000"/>
              </a:lnSpc>
              <a:spcAft>
                <a:spcPts val="0"/>
              </a:spcAft>
            </a:pPr>
            <a:r>
              <a:rPr sz="1050" b="0" i="0">
                <a:solidFill>
                  <a:srgbClr val="8C98AA"/>
                </a:solidFill>
                <a:latin typeface="微软雅黑"/>
              </a:rPr>
              <a:t>具身智能导论 · 第 9 章</a:t>
            </a:r>
          </a:p>
        </p:txBody>
      </p:sp>
      <p:sp>
        <p:nvSpPr>
          <p:cNvPr id="5" name="TextBox 4"/>
          <p:cNvSpPr txBox="1"/>
          <p:nvPr/>
        </p:nvSpPr>
        <p:spPr>
          <a:xfrm>
            <a:off x="9144000" y="137160"/>
            <a:ext cx="2423160" cy="164592"/>
          </a:xfrm>
          <a:prstGeom prst="rect">
            <a:avLst/>
          </a:prstGeom>
          <a:noFill/>
        </p:spPr>
        <p:txBody>
          <a:bodyPr wrap="square" lIns="0" tIns="0" rIns="0" bIns="0" anchor="t">
            <a:spAutoFit/>
          </a:bodyPr>
          <a:lstStyle/>
          <a:p>
            <a:pPr algn="r">
              <a:lnSpc>
                <a:spcPct val="112000"/>
              </a:lnSpc>
              <a:spcAft>
                <a:spcPts val="0"/>
              </a:spcAft>
            </a:pPr>
            <a:r>
              <a:rPr sz="1050" b="0" i="0">
                <a:solidFill>
                  <a:srgbClr val="8C98AA"/>
                </a:solidFill>
                <a:latin typeface="微软雅黑"/>
              </a:rPr>
              <a:t>虚实迁移技术</a:t>
            </a:r>
          </a:p>
        </p:txBody>
      </p:sp>
      <p:sp>
        <p:nvSpPr>
          <p:cNvPr id="6" name="TextBox 5"/>
          <p:cNvSpPr txBox="1"/>
          <p:nvPr/>
        </p:nvSpPr>
        <p:spPr>
          <a:xfrm>
            <a:off x="502920" y="457200"/>
            <a:ext cx="10927080" cy="749808"/>
          </a:xfrm>
          <a:prstGeom prst="rect">
            <a:avLst/>
          </a:prstGeom>
          <a:noFill/>
        </p:spPr>
        <p:txBody>
          <a:bodyPr wrap="square" lIns="0" tIns="0" rIns="0" bIns="0" anchor="t">
            <a:spAutoFit/>
          </a:bodyPr>
          <a:lstStyle/>
          <a:p>
            <a:pPr algn="l">
              <a:lnSpc>
                <a:spcPct val="112000"/>
              </a:lnSpc>
              <a:spcAft>
                <a:spcPts val="0"/>
              </a:spcAft>
            </a:pPr>
            <a:r>
              <a:rPr sz="3500" b="1" i="0">
                <a:solidFill>
                  <a:srgbClr val="24477D"/>
                </a:solidFill>
                <a:latin typeface="微软雅黑"/>
              </a:rPr>
              <a:t>系统辨识：适用场景与工程权衡</a:t>
            </a:r>
          </a:p>
        </p:txBody>
      </p:sp>
      <p:sp>
        <p:nvSpPr>
          <p:cNvPr id="7" name="Rectangle 6"/>
          <p:cNvSpPr/>
          <p:nvPr/>
        </p:nvSpPr>
        <p:spPr>
          <a:xfrm>
            <a:off x="502920" y="1353312"/>
            <a:ext cx="11109960" cy="9144"/>
          </a:xfrm>
          <a:prstGeom prst="rect">
            <a:avLst/>
          </a:prstGeom>
          <a:solidFill>
            <a:srgbClr val="D8DE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1457432" y="6473952"/>
            <a:ext cx="347472" cy="164592"/>
          </a:xfrm>
          <a:prstGeom prst="rect">
            <a:avLst/>
          </a:prstGeom>
          <a:noFill/>
        </p:spPr>
        <p:txBody>
          <a:bodyPr wrap="square" lIns="0" tIns="0" rIns="0" bIns="0" anchor="t">
            <a:spAutoFit/>
          </a:bodyPr>
          <a:lstStyle/>
          <a:p>
            <a:pPr algn="r">
              <a:lnSpc>
                <a:spcPct val="112000"/>
              </a:lnSpc>
              <a:spcAft>
                <a:spcPts val="0"/>
              </a:spcAft>
            </a:pPr>
            <a:r>
              <a:rPr sz="1050" b="0" i="0">
                <a:solidFill>
                  <a:srgbClr val="8C98AA"/>
                </a:solidFill>
                <a:latin typeface="微软雅黑"/>
              </a:rPr>
              <a:t>51</a:t>
            </a:r>
          </a:p>
        </p:txBody>
      </p:sp>
      <p:sp>
        <p:nvSpPr>
          <p:cNvPr id="9" name="Rounded Rectangle 8"/>
          <p:cNvSpPr/>
          <p:nvPr/>
        </p:nvSpPr>
        <p:spPr>
          <a:xfrm>
            <a:off x="822960" y="1783080"/>
            <a:ext cx="5074920" cy="3337560"/>
          </a:xfrm>
          <a:prstGeom prst="roundRect">
            <a:avLst/>
          </a:prstGeom>
          <a:solidFill>
            <a:srgbClr val="FFFFFF"/>
          </a:solidFill>
          <a:ln w="10160">
            <a:solidFill>
              <a:srgbClr val="E0E5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822960" y="1783080"/>
            <a:ext cx="64008" cy="3337560"/>
          </a:xfrm>
          <a:prstGeom prst="rect">
            <a:avLst/>
          </a:prstGeom>
          <a:solidFill>
            <a:srgbClr val="3159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1033272" y="1929384"/>
            <a:ext cx="4690872" cy="347472"/>
          </a:xfrm>
          <a:prstGeom prst="rect">
            <a:avLst/>
          </a:prstGeom>
          <a:noFill/>
        </p:spPr>
        <p:txBody>
          <a:bodyPr wrap="square" lIns="0" tIns="0" rIns="0" bIns="0" anchor="t">
            <a:spAutoFit/>
          </a:bodyPr>
          <a:lstStyle/>
          <a:p>
            <a:pPr algn="l">
              <a:lnSpc>
                <a:spcPct val="112000"/>
              </a:lnSpc>
              <a:spcAft>
                <a:spcPts val="0"/>
              </a:spcAft>
            </a:pPr>
            <a:r>
              <a:rPr sz="2000" b="1" i="0">
                <a:solidFill>
                  <a:srgbClr val="31599B"/>
                </a:solidFill>
                <a:latin typeface="微软雅黑"/>
              </a:rPr>
              <a:t>优势</a:t>
            </a:r>
          </a:p>
        </p:txBody>
      </p:sp>
      <p:sp>
        <p:nvSpPr>
          <p:cNvPr id="12" name="TextBox 11"/>
          <p:cNvSpPr txBox="1"/>
          <p:nvPr/>
        </p:nvSpPr>
        <p:spPr>
          <a:xfrm>
            <a:off x="1033272" y="2468880"/>
            <a:ext cx="4690872" cy="2496312"/>
          </a:xfrm>
          <a:prstGeom prst="rect">
            <a:avLst/>
          </a:prstGeom>
          <a:noFill/>
        </p:spPr>
        <p:txBody>
          <a:bodyPr wrap="square" lIns="0" tIns="0" rIns="0" bIns="0" anchor="t">
            <a:spAutoFit/>
          </a:bodyPr>
          <a:lstStyle/>
          <a:p>
            <a:pPr algn="l">
              <a:lnSpc>
                <a:spcPct val="112000"/>
              </a:lnSpc>
              <a:spcAft>
                <a:spcPts val="0"/>
              </a:spcAft>
            </a:pPr>
            <a:r>
              <a:rPr sz="1850" b="0" i="0">
                <a:solidFill>
                  <a:srgbClr val="222833"/>
                </a:solidFill>
                <a:latin typeface="微软雅黑"/>
              </a:rPr>
              <a:t>特别适合机械臂精确操作与四足步态控制；物理意义明确、校准精度高，能有效降低累积动力学误差。</a:t>
            </a:r>
          </a:p>
        </p:txBody>
      </p:sp>
      <p:sp>
        <p:nvSpPr>
          <p:cNvPr id="13" name="Rounded Rectangle 12"/>
          <p:cNvSpPr/>
          <p:nvPr/>
        </p:nvSpPr>
        <p:spPr>
          <a:xfrm>
            <a:off x="6291072" y="1783080"/>
            <a:ext cx="5074920" cy="3337560"/>
          </a:xfrm>
          <a:prstGeom prst="roundRect">
            <a:avLst/>
          </a:prstGeom>
          <a:solidFill>
            <a:srgbClr val="FFFFFF"/>
          </a:solidFill>
          <a:ln w="10160">
            <a:solidFill>
              <a:srgbClr val="E0E5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6291072" y="1783080"/>
            <a:ext cx="64008" cy="3337560"/>
          </a:xfrm>
          <a:prstGeom prst="rect">
            <a:avLst/>
          </a:prstGeom>
          <a:solidFill>
            <a:srgbClr val="C63F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6501384" y="1929384"/>
            <a:ext cx="4690872" cy="347472"/>
          </a:xfrm>
          <a:prstGeom prst="rect">
            <a:avLst/>
          </a:prstGeom>
          <a:noFill/>
        </p:spPr>
        <p:txBody>
          <a:bodyPr wrap="square" lIns="0" tIns="0" rIns="0" bIns="0" anchor="t">
            <a:spAutoFit/>
          </a:bodyPr>
          <a:lstStyle/>
          <a:p>
            <a:pPr algn="l">
              <a:lnSpc>
                <a:spcPct val="112000"/>
              </a:lnSpc>
              <a:spcAft>
                <a:spcPts val="0"/>
              </a:spcAft>
            </a:pPr>
            <a:r>
              <a:rPr sz="2000" b="1" i="0">
                <a:solidFill>
                  <a:srgbClr val="C63F45"/>
                </a:solidFill>
                <a:latin typeface="微软雅黑"/>
              </a:rPr>
              <a:t>局限</a:t>
            </a:r>
          </a:p>
        </p:txBody>
      </p:sp>
      <p:sp>
        <p:nvSpPr>
          <p:cNvPr id="16" name="TextBox 15"/>
          <p:cNvSpPr txBox="1"/>
          <p:nvPr/>
        </p:nvSpPr>
        <p:spPr>
          <a:xfrm>
            <a:off x="6501384" y="2468880"/>
            <a:ext cx="4690872" cy="2496312"/>
          </a:xfrm>
          <a:prstGeom prst="rect">
            <a:avLst/>
          </a:prstGeom>
          <a:noFill/>
        </p:spPr>
        <p:txBody>
          <a:bodyPr wrap="square" lIns="0" tIns="0" rIns="0" bIns="0" anchor="t">
            <a:spAutoFit/>
          </a:bodyPr>
          <a:lstStyle/>
          <a:p>
            <a:pPr algn="l">
              <a:lnSpc>
                <a:spcPct val="112000"/>
              </a:lnSpc>
              <a:spcAft>
                <a:spcPts val="0"/>
              </a:spcAft>
            </a:pPr>
            <a:r>
              <a:rPr sz="1850" b="0" i="0">
                <a:solidFill>
                  <a:srgbClr val="222833"/>
                </a:solidFill>
                <a:latin typeface="微软雅黑"/>
              </a:rPr>
              <a:t>仍需一定真实交互，高维连续系统的辨识与优化计算开销较大。</a:t>
            </a: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18872" cy="6858000"/>
          </a:xfrm>
          <a:prstGeom prst="rect">
            <a:avLst/>
          </a:prstGeom>
          <a:solidFill>
            <a:srgbClr val="3159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118872" y="0"/>
            <a:ext cx="41148" cy="6858000"/>
          </a:xfrm>
          <a:prstGeom prst="rect">
            <a:avLst/>
          </a:prstGeom>
          <a:solidFill>
            <a:srgbClr val="B7C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38912" y="137160"/>
            <a:ext cx="3474720" cy="164592"/>
          </a:xfrm>
          <a:prstGeom prst="rect">
            <a:avLst/>
          </a:prstGeom>
          <a:noFill/>
        </p:spPr>
        <p:txBody>
          <a:bodyPr wrap="square" lIns="0" tIns="0" rIns="0" bIns="0" anchor="t">
            <a:spAutoFit/>
          </a:bodyPr>
          <a:lstStyle/>
          <a:p>
            <a:pPr algn="l">
              <a:lnSpc>
                <a:spcPct val="112000"/>
              </a:lnSpc>
              <a:spcAft>
                <a:spcPts val="0"/>
              </a:spcAft>
            </a:pPr>
            <a:r>
              <a:rPr sz="1050" b="0" i="0">
                <a:solidFill>
                  <a:srgbClr val="8C98AA"/>
                </a:solidFill>
                <a:latin typeface="微软雅黑"/>
              </a:rPr>
              <a:t>具身智能导论 · 第 9 章</a:t>
            </a:r>
          </a:p>
        </p:txBody>
      </p:sp>
      <p:sp>
        <p:nvSpPr>
          <p:cNvPr id="5" name="TextBox 4"/>
          <p:cNvSpPr txBox="1"/>
          <p:nvPr/>
        </p:nvSpPr>
        <p:spPr>
          <a:xfrm>
            <a:off x="9144000" y="137160"/>
            <a:ext cx="2423160" cy="164592"/>
          </a:xfrm>
          <a:prstGeom prst="rect">
            <a:avLst/>
          </a:prstGeom>
          <a:noFill/>
        </p:spPr>
        <p:txBody>
          <a:bodyPr wrap="square" lIns="0" tIns="0" rIns="0" bIns="0" anchor="t">
            <a:spAutoFit/>
          </a:bodyPr>
          <a:lstStyle/>
          <a:p>
            <a:pPr algn="r">
              <a:lnSpc>
                <a:spcPct val="112000"/>
              </a:lnSpc>
              <a:spcAft>
                <a:spcPts val="0"/>
              </a:spcAft>
            </a:pPr>
            <a:r>
              <a:rPr sz="1050" b="0" i="0">
                <a:solidFill>
                  <a:srgbClr val="8C98AA"/>
                </a:solidFill>
                <a:latin typeface="微软雅黑"/>
              </a:rPr>
              <a:t>虚实迁移技术</a:t>
            </a:r>
          </a:p>
        </p:txBody>
      </p:sp>
      <p:sp>
        <p:nvSpPr>
          <p:cNvPr id="6" name="TextBox 5"/>
          <p:cNvSpPr txBox="1"/>
          <p:nvPr/>
        </p:nvSpPr>
        <p:spPr>
          <a:xfrm>
            <a:off x="502920" y="457200"/>
            <a:ext cx="10927080" cy="749808"/>
          </a:xfrm>
          <a:prstGeom prst="rect">
            <a:avLst/>
          </a:prstGeom>
          <a:noFill/>
        </p:spPr>
        <p:txBody>
          <a:bodyPr wrap="square" lIns="0" tIns="0" rIns="0" bIns="0" anchor="t">
            <a:spAutoFit/>
          </a:bodyPr>
          <a:lstStyle/>
          <a:p>
            <a:pPr algn="l">
              <a:lnSpc>
                <a:spcPct val="112000"/>
              </a:lnSpc>
              <a:spcAft>
                <a:spcPts val="0"/>
              </a:spcAft>
            </a:pPr>
            <a:r>
              <a:rPr sz="3500" b="1" i="0">
                <a:solidFill>
                  <a:srgbClr val="24477D"/>
                </a:solidFill>
                <a:latin typeface="微软雅黑"/>
              </a:rPr>
              <a:t>9.2.4 元学习（Meta Learning）</a:t>
            </a:r>
          </a:p>
        </p:txBody>
      </p:sp>
      <p:sp>
        <p:nvSpPr>
          <p:cNvPr id="7" name="Rectangle 6"/>
          <p:cNvSpPr/>
          <p:nvPr/>
        </p:nvSpPr>
        <p:spPr>
          <a:xfrm>
            <a:off x="502920" y="1353312"/>
            <a:ext cx="11109960" cy="9144"/>
          </a:xfrm>
          <a:prstGeom prst="rect">
            <a:avLst/>
          </a:prstGeom>
          <a:solidFill>
            <a:srgbClr val="D8DE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1457432" y="6473952"/>
            <a:ext cx="347472" cy="164592"/>
          </a:xfrm>
          <a:prstGeom prst="rect">
            <a:avLst/>
          </a:prstGeom>
          <a:noFill/>
        </p:spPr>
        <p:txBody>
          <a:bodyPr wrap="square" lIns="0" tIns="0" rIns="0" bIns="0" anchor="t">
            <a:spAutoFit/>
          </a:bodyPr>
          <a:lstStyle/>
          <a:p>
            <a:pPr algn="r">
              <a:lnSpc>
                <a:spcPct val="112000"/>
              </a:lnSpc>
              <a:spcAft>
                <a:spcPts val="0"/>
              </a:spcAft>
            </a:pPr>
            <a:r>
              <a:rPr sz="1050" b="0" i="0">
                <a:solidFill>
                  <a:srgbClr val="8C98AA"/>
                </a:solidFill>
                <a:latin typeface="微软雅黑"/>
              </a:rPr>
              <a:t>52</a:t>
            </a:r>
          </a:p>
        </p:txBody>
      </p:sp>
      <p:sp>
        <p:nvSpPr>
          <p:cNvPr id="9" name="TextBox 8"/>
          <p:cNvSpPr txBox="1"/>
          <p:nvPr/>
        </p:nvSpPr>
        <p:spPr>
          <a:xfrm>
            <a:off x="749808" y="1691640"/>
            <a:ext cx="10378440" cy="2926080"/>
          </a:xfrm>
          <a:prstGeom prst="rect">
            <a:avLst/>
          </a:prstGeom>
          <a:noFill/>
        </p:spPr>
        <p:txBody>
          <a:bodyPr wrap="square" lIns="0" tIns="0" rIns="0" bIns="0">
            <a:spAutoFit/>
          </a:bodyPr>
          <a:lstStyle/>
          <a:p>
            <a:pPr>
              <a:lnSpc>
                <a:spcPct val="112000"/>
              </a:lnSpc>
              <a:spcAft>
                <a:spcPts val="700"/>
              </a:spcAft>
            </a:pPr>
            <a:r>
              <a:rPr sz="2150" b="0">
                <a:solidFill>
                  <a:srgbClr val="222833"/>
                </a:solidFill>
                <a:latin typeface="微软雅黑"/>
              </a:rPr>
              <a:t>• </a:t>
            </a:r>
            <a:r>
              <a:rPr sz="2150">
                <a:solidFill>
                  <a:srgbClr val="222833"/>
                </a:solidFill>
                <a:latin typeface="微软雅黑"/>
              </a:rPr>
              <a:t>元学习通过“学习如何学习”，使策略能在少量现实数据下快速适应新任务。</a:t>
            </a:r>
          </a:p>
          <a:p>
            <a:pPr>
              <a:lnSpc>
                <a:spcPct val="112000"/>
              </a:lnSpc>
              <a:spcAft>
                <a:spcPts val="700"/>
              </a:spcAft>
            </a:pPr>
            <a:r>
              <a:rPr sz="2150" b="0">
                <a:solidFill>
                  <a:srgbClr val="222833"/>
                </a:solidFill>
                <a:latin typeface="微软雅黑"/>
              </a:rPr>
              <a:t>• </a:t>
            </a:r>
            <a:r>
              <a:rPr sz="2150">
                <a:solidFill>
                  <a:srgbClr val="222833"/>
                </a:solidFill>
                <a:latin typeface="微软雅黑"/>
              </a:rPr>
              <a:t>典型方法 MAML 在仿真中训练出“容易被少量数据微调”的通用初始化参数。</a:t>
            </a:r>
          </a:p>
          <a:p>
            <a:pPr>
              <a:lnSpc>
                <a:spcPct val="112000"/>
              </a:lnSpc>
              <a:spcAft>
                <a:spcPts val="700"/>
              </a:spcAft>
            </a:pPr>
            <a:r>
              <a:rPr sz="2150" b="0">
                <a:solidFill>
                  <a:srgbClr val="222833"/>
                </a:solidFill>
                <a:latin typeface="微软雅黑"/>
              </a:rPr>
              <a:t>• </a:t>
            </a:r>
            <a:r>
              <a:rPr sz="2150">
                <a:solidFill>
                  <a:srgbClr val="222833"/>
                </a:solidFill>
                <a:latin typeface="微软雅黑"/>
              </a:rPr>
              <a:t>部署到现实后，只需少量样本即可进行快速适配。</a:t>
            </a:r>
          </a:p>
        </p:txBody>
      </p:sp>
      <p:sp>
        <p:nvSpPr>
          <p:cNvPr id="10" name="TextBox 9"/>
          <p:cNvSpPr txBox="1"/>
          <p:nvPr/>
        </p:nvSpPr>
        <p:spPr>
          <a:xfrm>
            <a:off x="640080" y="5138928"/>
            <a:ext cx="10972800" cy="502920"/>
          </a:xfrm>
          <a:prstGeom prst="rect">
            <a:avLst/>
          </a:prstGeom>
          <a:noFill/>
        </p:spPr>
        <p:txBody>
          <a:bodyPr wrap="square" lIns="0" tIns="0" rIns="0" bIns="0" anchor="ctr">
            <a:spAutoFit/>
          </a:bodyPr>
          <a:lstStyle/>
          <a:p>
            <a:pPr algn="ctr">
              <a:lnSpc>
                <a:spcPct val="112000"/>
              </a:lnSpc>
              <a:spcAft>
                <a:spcPts val="0"/>
              </a:spcAft>
            </a:pPr>
            <a:r>
              <a:rPr sz="2100" b="1" i="0">
                <a:solidFill>
                  <a:srgbClr val="24477D"/>
                </a:solidFill>
                <a:latin typeface="微软雅黑"/>
              </a:rPr>
              <a:t>目标不是直接学一个最终策略，而是学一个“好起点”。</a:t>
            </a: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18872" cy="6858000"/>
          </a:xfrm>
          <a:prstGeom prst="rect">
            <a:avLst/>
          </a:prstGeom>
          <a:solidFill>
            <a:srgbClr val="3159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微软雅黑" panose="020B0503020204020204" pitchFamily="34" charset="-122"/>
              <a:ea typeface="微软雅黑" panose="020B0503020204020204" pitchFamily="34" charset="-122"/>
            </a:endParaRPr>
          </a:p>
        </p:txBody>
      </p:sp>
      <p:sp>
        <p:nvSpPr>
          <p:cNvPr id="3" name="Rectangle 2"/>
          <p:cNvSpPr/>
          <p:nvPr/>
        </p:nvSpPr>
        <p:spPr>
          <a:xfrm>
            <a:off x="118872" y="0"/>
            <a:ext cx="41148" cy="6858000"/>
          </a:xfrm>
          <a:prstGeom prst="rect">
            <a:avLst/>
          </a:prstGeom>
          <a:solidFill>
            <a:srgbClr val="B7C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微软雅黑" panose="020B0503020204020204" pitchFamily="34" charset="-122"/>
              <a:ea typeface="微软雅黑" panose="020B0503020204020204" pitchFamily="34" charset="-122"/>
            </a:endParaRPr>
          </a:p>
        </p:txBody>
      </p:sp>
      <p:sp>
        <p:nvSpPr>
          <p:cNvPr id="4" name="TextBox 3"/>
          <p:cNvSpPr txBox="1"/>
          <p:nvPr/>
        </p:nvSpPr>
        <p:spPr>
          <a:xfrm>
            <a:off x="438912" y="137160"/>
            <a:ext cx="3474720" cy="167803"/>
          </a:xfrm>
          <a:prstGeom prst="rect">
            <a:avLst/>
          </a:prstGeom>
          <a:noFill/>
        </p:spPr>
        <p:txBody>
          <a:bodyPr wrap="square" lIns="0" tIns="0" rIns="0" bIns="0" anchor="t">
            <a:spAutoFit/>
          </a:bodyPr>
          <a:lstStyle/>
          <a:p>
            <a:pPr algn="l">
              <a:lnSpc>
                <a:spcPct val="112000"/>
              </a:lnSpc>
              <a:spcAft>
                <a:spcPts val="0"/>
              </a:spcAft>
            </a:pPr>
            <a:r>
              <a:rPr sz="1050" b="0" i="0">
                <a:solidFill>
                  <a:srgbClr val="8C98AA"/>
                </a:solidFill>
                <a:latin typeface="微软雅黑" panose="020B0503020204020204" pitchFamily="34" charset="-122"/>
                <a:ea typeface="微软雅黑" panose="020B0503020204020204" pitchFamily="34" charset="-122"/>
              </a:rPr>
              <a:t>具身智能导论 · 第 9 章</a:t>
            </a:r>
          </a:p>
        </p:txBody>
      </p:sp>
      <p:sp>
        <p:nvSpPr>
          <p:cNvPr id="5" name="TextBox 4"/>
          <p:cNvSpPr txBox="1"/>
          <p:nvPr/>
        </p:nvSpPr>
        <p:spPr>
          <a:xfrm>
            <a:off x="9144000" y="137160"/>
            <a:ext cx="2423160" cy="167803"/>
          </a:xfrm>
          <a:prstGeom prst="rect">
            <a:avLst/>
          </a:prstGeom>
          <a:noFill/>
        </p:spPr>
        <p:txBody>
          <a:bodyPr wrap="square" lIns="0" tIns="0" rIns="0" bIns="0" anchor="t">
            <a:spAutoFit/>
          </a:bodyPr>
          <a:lstStyle/>
          <a:p>
            <a:pPr algn="r">
              <a:lnSpc>
                <a:spcPct val="112000"/>
              </a:lnSpc>
              <a:spcAft>
                <a:spcPts val="0"/>
              </a:spcAft>
            </a:pPr>
            <a:r>
              <a:rPr sz="1050" b="0" i="0">
                <a:solidFill>
                  <a:srgbClr val="8C98AA"/>
                </a:solidFill>
                <a:latin typeface="微软雅黑" panose="020B0503020204020204" pitchFamily="34" charset="-122"/>
                <a:ea typeface="微软雅黑" panose="020B0503020204020204" pitchFamily="34" charset="-122"/>
              </a:rPr>
              <a:t>虚实迁移技术</a:t>
            </a:r>
          </a:p>
        </p:txBody>
      </p:sp>
      <p:sp>
        <p:nvSpPr>
          <p:cNvPr id="6" name="TextBox 5"/>
          <p:cNvSpPr txBox="1"/>
          <p:nvPr/>
        </p:nvSpPr>
        <p:spPr>
          <a:xfrm>
            <a:off x="502920" y="457200"/>
            <a:ext cx="5293360" cy="559256"/>
          </a:xfrm>
          <a:prstGeom prst="rect">
            <a:avLst/>
          </a:prstGeom>
          <a:noFill/>
        </p:spPr>
        <p:txBody>
          <a:bodyPr wrap="square" lIns="0" tIns="0" rIns="0" bIns="0" anchor="t">
            <a:spAutoFit/>
          </a:bodyPr>
          <a:lstStyle/>
          <a:p>
            <a:pPr>
              <a:lnSpc>
                <a:spcPct val="112000"/>
              </a:lnSpc>
            </a:pPr>
            <a:r>
              <a:rPr lang="zh-CN" altLang="en-US" sz="3500" b="1" dirty="0">
                <a:solidFill>
                  <a:srgbClr val="24477D"/>
                </a:solidFill>
                <a:latin typeface="微软雅黑" panose="020B0503020204020204" pitchFamily="34" charset="-122"/>
                <a:ea typeface="微软雅黑" panose="020B0503020204020204" pitchFamily="34" charset="-122"/>
              </a:rPr>
              <a:t>模型无关元学习</a:t>
            </a:r>
            <a:r>
              <a:rPr lang="en-US" altLang="zh-CN" sz="3500" b="1" dirty="0">
                <a:solidFill>
                  <a:srgbClr val="24477D"/>
                </a:solidFill>
                <a:latin typeface="微软雅黑" panose="020B0503020204020204" pitchFamily="34" charset="-122"/>
                <a:ea typeface="微软雅黑" panose="020B0503020204020204" pitchFamily="34" charset="-122"/>
              </a:rPr>
              <a:t>(MAML)</a:t>
            </a:r>
            <a:endParaRPr sz="3500" b="1" i="0" dirty="0">
              <a:solidFill>
                <a:srgbClr val="24477D"/>
              </a:solidFill>
              <a:latin typeface="微软雅黑" panose="020B0503020204020204" pitchFamily="34" charset="-122"/>
              <a:ea typeface="微软雅黑" panose="020B0503020204020204" pitchFamily="34" charset="-122"/>
            </a:endParaRPr>
          </a:p>
        </p:txBody>
      </p:sp>
      <p:sp>
        <p:nvSpPr>
          <p:cNvPr id="7" name="Rectangle 6"/>
          <p:cNvSpPr/>
          <p:nvPr/>
        </p:nvSpPr>
        <p:spPr>
          <a:xfrm>
            <a:off x="502920" y="1353312"/>
            <a:ext cx="11109960" cy="9144"/>
          </a:xfrm>
          <a:prstGeom prst="rect">
            <a:avLst/>
          </a:prstGeom>
          <a:solidFill>
            <a:srgbClr val="D8DE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微软雅黑" panose="020B0503020204020204" pitchFamily="34" charset="-122"/>
              <a:ea typeface="微软雅黑" panose="020B0503020204020204" pitchFamily="34" charset="-122"/>
            </a:endParaRPr>
          </a:p>
        </p:txBody>
      </p:sp>
      <p:sp>
        <p:nvSpPr>
          <p:cNvPr id="8" name="TextBox 7"/>
          <p:cNvSpPr txBox="1"/>
          <p:nvPr/>
        </p:nvSpPr>
        <p:spPr>
          <a:xfrm>
            <a:off x="11457432" y="6473952"/>
            <a:ext cx="347472" cy="167803"/>
          </a:xfrm>
          <a:prstGeom prst="rect">
            <a:avLst/>
          </a:prstGeom>
          <a:noFill/>
        </p:spPr>
        <p:txBody>
          <a:bodyPr wrap="square" lIns="0" tIns="0" rIns="0" bIns="0" anchor="t">
            <a:spAutoFit/>
          </a:bodyPr>
          <a:lstStyle/>
          <a:p>
            <a:pPr algn="r">
              <a:lnSpc>
                <a:spcPct val="112000"/>
              </a:lnSpc>
              <a:spcAft>
                <a:spcPts val="0"/>
              </a:spcAft>
            </a:pPr>
            <a:r>
              <a:rPr sz="1050" b="0" i="0">
                <a:solidFill>
                  <a:srgbClr val="8C98AA"/>
                </a:solidFill>
                <a:latin typeface="微软雅黑" panose="020B0503020204020204" pitchFamily="34" charset="-122"/>
                <a:ea typeface="微软雅黑" panose="020B0503020204020204" pitchFamily="34" charset="-122"/>
              </a:rPr>
              <a:t>53</a:t>
            </a:r>
          </a:p>
        </p:txBody>
      </p:sp>
      <p:sp>
        <p:nvSpPr>
          <p:cNvPr id="9" name="Rounded Rectangle 8"/>
          <p:cNvSpPr/>
          <p:nvPr/>
        </p:nvSpPr>
        <p:spPr>
          <a:xfrm>
            <a:off x="777240" y="1719072"/>
            <a:ext cx="10561320" cy="1787651"/>
          </a:xfrm>
          <a:prstGeom prst="roundRect">
            <a:avLst/>
          </a:prstGeom>
          <a:solidFill>
            <a:srgbClr val="FFFFFF"/>
          </a:solidFill>
          <a:ln w="10160">
            <a:solidFill>
              <a:srgbClr val="E0E5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微软雅黑" panose="020B0503020204020204" pitchFamily="34" charset="-122"/>
              <a:ea typeface="微软雅黑" panose="020B0503020204020204" pitchFamily="34" charset="-122"/>
            </a:endParaRPr>
          </a:p>
        </p:txBody>
      </p:sp>
      <p:pic>
        <p:nvPicPr>
          <p:cNvPr id="10" name="Picture 9" descr="eq9_6.png"/>
          <p:cNvPicPr>
            <a:picLocks noChangeAspect="1"/>
          </p:cNvPicPr>
          <p:nvPr/>
        </p:nvPicPr>
        <p:blipFill>
          <a:blip r:embed="rId2"/>
          <a:stretch>
            <a:fillRect/>
          </a:stretch>
        </p:blipFill>
        <p:spPr>
          <a:xfrm>
            <a:off x="1143000" y="2093645"/>
            <a:ext cx="9052560" cy="974496"/>
          </a:xfrm>
          <a:prstGeom prst="rect">
            <a:avLst/>
          </a:prstGeom>
        </p:spPr>
      </p:pic>
      <p:sp>
        <p:nvSpPr>
          <p:cNvPr id="12" name="TextBox 11"/>
          <p:cNvSpPr txBox="1"/>
          <p:nvPr/>
        </p:nvSpPr>
        <p:spPr>
          <a:xfrm>
            <a:off x="1051560" y="2994659"/>
            <a:ext cx="9875520" cy="279179"/>
          </a:xfrm>
          <a:prstGeom prst="rect">
            <a:avLst/>
          </a:prstGeom>
          <a:noFill/>
        </p:spPr>
        <p:txBody>
          <a:bodyPr wrap="square" lIns="0" tIns="0" rIns="0" bIns="0" anchor="t">
            <a:spAutoFit/>
          </a:bodyPr>
          <a:lstStyle/>
          <a:p>
            <a:pPr algn="ctr">
              <a:lnSpc>
                <a:spcPct val="112000"/>
              </a:lnSpc>
              <a:spcAft>
                <a:spcPts val="0"/>
              </a:spcAft>
            </a:pPr>
            <a:r>
              <a:rPr sz="1750" b="0" i="0" dirty="0" err="1">
                <a:solidFill>
                  <a:srgbClr val="222833"/>
                </a:solidFill>
                <a:latin typeface="微软雅黑" panose="020B0503020204020204" pitchFamily="34" charset="-122"/>
                <a:ea typeface="微软雅黑" panose="020B0503020204020204" pitchFamily="34" charset="-122"/>
              </a:rPr>
              <a:t>内层：在单个任务</a:t>
            </a:r>
            <a:r>
              <a:rPr sz="1750" b="0" i="0" dirty="0">
                <a:solidFill>
                  <a:srgbClr val="222833"/>
                </a:solidFill>
                <a:latin typeface="微软雅黑" panose="020B0503020204020204" pitchFamily="34" charset="-122"/>
                <a:ea typeface="微软雅黑" panose="020B0503020204020204" pitchFamily="34" charset="-122"/>
              </a:rPr>
              <a:t> Tᵢ </a:t>
            </a:r>
            <a:r>
              <a:rPr sz="1750" b="0" i="0" dirty="0" err="1">
                <a:solidFill>
                  <a:srgbClr val="222833"/>
                </a:solidFill>
                <a:latin typeface="微软雅黑" panose="020B0503020204020204" pitchFamily="34" charset="-122"/>
                <a:ea typeface="微软雅黑" panose="020B0503020204020204" pitchFamily="34" charset="-122"/>
              </a:rPr>
              <a:t>上做少量梯度更新</a:t>
            </a:r>
            <a:r>
              <a:rPr sz="1750" b="0" i="0" dirty="0">
                <a:solidFill>
                  <a:srgbClr val="222833"/>
                </a:solidFill>
                <a:latin typeface="微软雅黑" panose="020B0503020204020204" pitchFamily="34" charset="-122"/>
                <a:ea typeface="微软雅黑" panose="020B0503020204020204" pitchFamily="34" charset="-122"/>
              </a:rPr>
              <a:t>。</a:t>
            </a:r>
          </a:p>
        </p:txBody>
      </p:sp>
      <p:sp>
        <p:nvSpPr>
          <p:cNvPr id="13" name="Rounded Rectangle 12"/>
          <p:cNvSpPr/>
          <p:nvPr/>
        </p:nvSpPr>
        <p:spPr>
          <a:xfrm>
            <a:off x="777240" y="3707891"/>
            <a:ext cx="10561320" cy="1787651"/>
          </a:xfrm>
          <a:prstGeom prst="roundRect">
            <a:avLst/>
          </a:prstGeom>
          <a:solidFill>
            <a:srgbClr val="FFFFFF"/>
          </a:solidFill>
          <a:ln w="10160">
            <a:solidFill>
              <a:srgbClr val="E0E5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微软雅黑" panose="020B0503020204020204" pitchFamily="34" charset="-122"/>
              <a:ea typeface="微软雅黑" panose="020B0503020204020204" pitchFamily="34" charset="-122"/>
            </a:endParaRPr>
          </a:p>
        </p:txBody>
      </p:sp>
      <p:pic>
        <p:nvPicPr>
          <p:cNvPr id="14" name="Picture 13" descr="eq9_7.png"/>
          <p:cNvPicPr>
            <a:picLocks noChangeAspect="1"/>
          </p:cNvPicPr>
          <p:nvPr/>
        </p:nvPicPr>
        <p:blipFill>
          <a:blip r:embed="rId3"/>
          <a:stretch>
            <a:fillRect/>
          </a:stretch>
        </p:blipFill>
        <p:spPr>
          <a:xfrm>
            <a:off x="1143000" y="4094890"/>
            <a:ext cx="9052560" cy="949647"/>
          </a:xfrm>
          <a:prstGeom prst="rect">
            <a:avLst/>
          </a:prstGeom>
        </p:spPr>
      </p:pic>
      <p:sp>
        <p:nvSpPr>
          <p:cNvPr id="16" name="TextBox 15"/>
          <p:cNvSpPr txBox="1"/>
          <p:nvPr/>
        </p:nvSpPr>
        <p:spPr>
          <a:xfrm>
            <a:off x="1051560" y="4983479"/>
            <a:ext cx="9875520" cy="279628"/>
          </a:xfrm>
          <a:prstGeom prst="rect">
            <a:avLst/>
          </a:prstGeom>
          <a:noFill/>
        </p:spPr>
        <p:txBody>
          <a:bodyPr wrap="square" lIns="0" tIns="0" rIns="0" bIns="0" anchor="t">
            <a:spAutoFit/>
          </a:bodyPr>
          <a:lstStyle/>
          <a:p>
            <a:pPr algn="ctr">
              <a:lnSpc>
                <a:spcPct val="112000"/>
              </a:lnSpc>
              <a:spcAft>
                <a:spcPts val="0"/>
              </a:spcAft>
            </a:pPr>
            <a:r>
              <a:rPr sz="1750" b="0" i="0">
                <a:solidFill>
                  <a:srgbClr val="222833"/>
                </a:solidFill>
                <a:latin typeface="微软雅黑" panose="020B0503020204020204" pitchFamily="34" charset="-122"/>
                <a:ea typeface="微软雅黑" panose="020B0503020204020204" pitchFamily="34" charset="-122"/>
              </a:rPr>
              <a:t>外层：让更新后的参数在多个任务上总体表现更好。</a:t>
            </a:r>
          </a:p>
        </p:txBody>
      </p:sp>
      <p:sp>
        <p:nvSpPr>
          <p:cNvPr id="18" name="文本框 17">
            <a:extLst>
              <a:ext uri="{FF2B5EF4-FFF2-40B4-BE49-F238E27FC236}">
                <a16:creationId xmlns:a16="http://schemas.microsoft.com/office/drawing/2014/main" id="{EB8922C8-6DC8-BB80-3D6B-548FC6BA6190}"/>
              </a:ext>
            </a:extLst>
          </p:cNvPr>
          <p:cNvSpPr txBox="1"/>
          <p:nvPr/>
        </p:nvSpPr>
        <p:spPr>
          <a:xfrm>
            <a:off x="1143000" y="1691639"/>
            <a:ext cx="6116320" cy="630942"/>
          </a:xfrm>
          <a:prstGeom prst="rect">
            <a:avLst/>
          </a:prstGeom>
          <a:noFill/>
        </p:spPr>
        <p:txBody>
          <a:bodyPr wrap="square">
            <a:spAutoFit/>
          </a:bodyPr>
          <a:lstStyle/>
          <a:p>
            <a:r>
              <a:rPr lang="zh-CN" altLang="en-US" sz="3500" b="1" i="0" dirty="0">
                <a:solidFill>
                  <a:srgbClr val="24477D"/>
                </a:solidFill>
                <a:latin typeface="微软雅黑" panose="020B0503020204020204" pitchFamily="34" charset="-122"/>
                <a:ea typeface="微软雅黑" panose="020B0503020204020204" pitchFamily="34" charset="-122"/>
              </a:rPr>
              <a:t>内层</a:t>
            </a:r>
            <a:r>
              <a:rPr lang="zh-CN" altLang="en-US" sz="3500" b="1" dirty="0">
                <a:solidFill>
                  <a:srgbClr val="24477D"/>
                </a:solidFill>
                <a:latin typeface="微软雅黑" panose="020B0503020204020204" pitchFamily="34" charset="-122"/>
                <a:ea typeface="微软雅黑" panose="020B0503020204020204" pitchFamily="34" charset="-122"/>
              </a:rPr>
              <a:t>更新</a:t>
            </a:r>
            <a:endParaRPr lang="zh-CN" altLang="en-US" dirty="0">
              <a:latin typeface="微软雅黑" panose="020B0503020204020204" pitchFamily="34" charset="-122"/>
              <a:ea typeface="微软雅黑" panose="020B0503020204020204" pitchFamily="34" charset="-122"/>
            </a:endParaRPr>
          </a:p>
        </p:txBody>
      </p:sp>
      <p:sp>
        <p:nvSpPr>
          <p:cNvPr id="19" name="文本框 18">
            <a:extLst>
              <a:ext uri="{FF2B5EF4-FFF2-40B4-BE49-F238E27FC236}">
                <a16:creationId xmlns:a16="http://schemas.microsoft.com/office/drawing/2014/main" id="{27230083-0DE4-BC63-2814-CF75BBDD960E}"/>
              </a:ext>
            </a:extLst>
          </p:cNvPr>
          <p:cNvSpPr txBox="1"/>
          <p:nvPr/>
        </p:nvSpPr>
        <p:spPr>
          <a:xfrm>
            <a:off x="1143000" y="3755458"/>
            <a:ext cx="6116320" cy="630942"/>
          </a:xfrm>
          <a:prstGeom prst="rect">
            <a:avLst/>
          </a:prstGeom>
          <a:noFill/>
        </p:spPr>
        <p:txBody>
          <a:bodyPr wrap="square">
            <a:spAutoFit/>
          </a:bodyPr>
          <a:lstStyle/>
          <a:p>
            <a:r>
              <a:rPr lang="zh-CN" altLang="en-US" sz="3500" b="1" dirty="0">
                <a:solidFill>
                  <a:srgbClr val="24477D"/>
                </a:solidFill>
                <a:latin typeface="微软雅黑" panose="020B0503020204020204" pitchFamily="34" charset="-122"/>
                <a:ea typeface="微软雅黑" panose="020B0503020204020204" pitchFamily="34" charset="-122"/>
              </a:rPr>
              <a:t>外层优化</a:t>
            </a:r>
            <a:endParaRPr lang="zh-CN" altLang="en-US" dirty="0">
              <a:latin typeface="微软雅黑" panose="020B0503020204020204" pitchFamily="34" charset="-122"/>
              <a:ea typeface="微软雅黑" panose="020B0503020204020204" pitchFamily="34" charset="-122"/>
            </a:endParaRP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18872" cy="6858000"/>
          </a:xfrm>
          <a:prstGeom prst="rect">
            <a:avLst/>
          </a:prstGeom>
          <a:solidFill>
            <a:srgbClr val="3159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118872" y="0"/>
            <a:ext cx="41148" cy="6858000"/>
          </a:xfrm>
          <a:prstGeom prst="rect">
            <a:avLst/>
          </a:prstGeom>
          <a:solidFill>
            <a:srgbClr val="B7C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38912" y="137160"/>
            <a:ext cx="3474720" cy="164592"/>
          </a:xfrm>
          <a:prstGeom prst="rect">
            <a:avLst/>
          </a:prstGeom>
          <a:noFill/>
        </p:spPr>
        <p:txBody>
          <a:bodyPr wrap="square" lIns="0" tIns="0" rIns="0" bIns="0" anchor="t">
            <a:spAutoFit/>
          </a:bodyPr>
          <a:lstStyle/>
          <a:p>
            <a:pPr algn="l">
              <a:lnSpc>
                <a:spcPct val="112000"/>
              </a:lnSpc>
              <a:spcAft>
                <a:spcPts val="0"/>
              </a:spcAft>
            </a:pPr>
            <a:r>
              <a:rPr sz="1050" b="0" i="0">
                <a:solidFill>
                  <a:srgbClr val="8C98AA"/>
                </a:solidFill>
                <a:latin typeface="微软雅黑"/>
              </a:rPr>
              <a:t>具身智能导论 · 第 9 章</a:t>
            </a:r>
          </a:p>
        </p:txBody>
      </p:sp>
      <p:sp>
        <p:nvSpPr>
          <p:cNvPr id="5" name="TextBox 4"/>
          <p:cNvSpPr txBox="1"/>
          <p:nvPr/>
        </p:nvSpPr>
        <p:spPr>
          <a:xfrm>
            <a:off x="9144000" y="137160"/>
            <a:ext cx="2423160" cy="164592"/>
          </a:xfrm>
          <a:prstGeom prst="rect">
            <a:avLst/>
          </a:prstGeom>
          <a:noFill/>
        </p:spPr>
        <p:txBody>
          <a:bodyPr wrap="square" lIns="0" tIns="0" rIns="0" bIns="0" anchor="t">
            <a:spAutoFit/>
          </a:bodyPr>
          <a:lstStyle/>
          <a:p>
            <a:pPr algn="r">
              <a:lnSpc>
                <a:spcPct val="112000"/>
              </a:lnSpc>
              <a:spcAft>
                <a:spcPts val="0"/>
              </a:spcAft>
            </a:pPr>
            <a:r>
              <a:rPr sz="1050" b="0" i="0">
                <a:solidFill>
                  <a:srgbClr val="8C98AA"/>
                </a:solidFill>
                <a:latin typeface="微软雅黑"/>
              </a:rPr>
              <a:t>虚实迁移技术</a:t>
            </a:r>
          </a:p>
        </p:txBody>
      </p:sp>
      <p:sp>
        <p:nvSpPr>
          <p:cNvPr id="6" name="TextBox 5"/>
          <p:cNvSpPr txBox="1"/>
          <p:nvPr/>
        </p:nvSpPr>
        <p:spPr>
          <a:xfrm>
            <a:off x="502920" y="457200"/>
            <a:ext cx="10927080" cy="749808"/>
          </a:xfrm>
          <a:prstGeom prst="rect">
            <a:avLst/>
          </a:prstGeom>
          <a:noFill/>
        </p:spPr>
        <p:txBody>
          <a:bodyPr wrap="square" lIns="0" tIns="0" rIns="0" bIns="0" anchor="t">
            <a:spAutoFit/>
          </a:bodyPr>
          <a:lstStyle/>
          <a:p>
            <a:pPr algn="l">
              <a:lnSpc>
                <a:spcPct val="112000"/>
              </a:lnSpc>
              <a:spcAft>
                <a:spcPts val="0"/>
              </a:spcAft>
            </a:pPr>
            <a:r>
              <a:rPr sz="3500" b="1" i="0">
                <a:solidFill>
                  <a:srgbClr val="24477D"/>
                </a:solidFill>
                <a:latin typeface="微软雅黑"/>
              </a:rPr>
              <a:t>MAML 用于虚实迁移：先学“可快速适应性”</a:t>
            </a:r>
          </a:p>
        </p:txBody>
      </p:sp>
      <p:sp>
        <p:nvSpPr>
          <p:cNvPr id="7" name="Rectangle 6"/>
          <p:cNvSpPr/>
          <p:nvPr/>
        </p:nvSpPr>
        <p:spPr>
          <a:xfrm>
            <a:off x="502920" y="1353312"/>
            <a:ext cx="11109960" cy="9144"/>
          </a:xfrm>
          <a:prstGeom prst="rect">
            <a:avLst/>
          </a:prstGeom>
          <a:solidFill>
            <a:srgbClr val="D8DE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1457432" y="6473952"/>
            <a:ext cx="347472" cy="164592"/>
          </a:xfrm>
          <a:prstGeom prst="rect">
            <a:avLst/>
          </a:prstGeom>
          <a:noFill/>
        </p:spPr>
        <p:txBody>
          <a:bodyPr wrap="square" lIns="0" tIns="0" rIns="0" bIns="0" anchor="t">
            <a:spAutoFit/>
          </a:bodyPr>
          <a:lstStyle/>
          <a:p>
            <a:pPr algn="r">
              <a:lnSpc>
                <a:spcPct val="112000"/>
              </a:lnSpc>
              <a:spcAft>
                <a:spcPts val="0"/>
              </a:spcAft>
            </a:pPr>
            <a:r>
              <a:rPr sz="1050" b="0" i="0">
                <a:solidFill>
                  <a:srgbClr val="8C98AA"/>
                </a:solidFill>
                <a:latin typeface="微软雅黑"/>
              </a:rPr>
              <a:t>54</a:t>
            </a:r>
          </a:p>
        </p:txBody>
      </p:sp>
      <p:sp>
        <p:nvSpPr>
          <p:cNvPr id="9" name="Rounded Rectangle 8"/>
          <p:cNvSpPr/>
          <p:nvPr/>
        </p:nvSpPr>
        <p:spPr>
          <a:xfrm>
            <a:off x="868680" y="1920240"/>
            <a:ext cx="2411729" cy="960120"/>
          </a:xfrm>
          <a:prstGeom prst="roundRect">
            <a:avLst/>
          </a:prstGeom>
          <a:solidFill>
            <a:srgbClr val="FFFFFF"/>
          </a:solidFill>
          <a:ln w="10160">
            <a:solidFill>
              <a:srgbClr val="E0E5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868680" y="1920240"/>
            <a:ext cx="64008" cy="960120"/>
          </a:xfrm>
          <a:prstGeom prst="rect">
            <a:avLst/>
          </a:prstGeom>
          <a:solidFill>
            <a:srgbClr val="3159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1033271" y="2148840"/>
            <a:ext cx="2082545" cy="457200"/>
          </a:xfrm>
          <a:prstGeom prst="rect">
            <a:avLst/>
          </a:prstGeom>
          <a:noFill/>
        </p:spPr>
        <p:txBody>
          <a:bodyPr wrap="square" lIns="0" tIns="0" rIns="0" bIns="0" anchor="ctr">
            <a:spAutoFit/>
          </a:bodyPr>
          <a:lstStyle/>
          <a:p>
            <a:pPr algn="ctr">
              <a:lnSpc>
                <a:spcPct val="112000"/>
              </a:lnSpc>
              <a:spcAft>
                <a:spcPts val="0"/>
              </a:spcAft>
            </a:pPr>
            <a:r>
              <a:rPr sz="1900" b="1" i="0">
                <a:solidFill>
                  <a:srgbClr val="31599B"/>
                </a:solidFill>
                <a:latin typeface="微软雅黑"/>
              </a:rPr>
              <a:t>随机化仿真任务</a:t>
            </a:r>
          </a:p>
        </p:txBody>
      </p:sp>
      <p:sp>
        <p:nvSpPr>
          <p:cNvPr id="12" name="TextBox 11"/>
          <p:cNvSpPr txBox="1"/>
          <p:nvPr/>
        </p:nvSpPr>
        <p:spPr>
          <a:xfrm>
            <a:off x="3307841" y="2194560"/>
            <a:ext cx="228600" cy="320040"/>
          </a:xfrm>
          <a:prstGeom prst="rect">
            <a:avLst/>
          </a:prstGeom>
          <a:noFill/>
        </p:spPr>
        <p:txBody>
          <a:bodyPr wrap="square" lIns="0" tIns="0" rIns="0" bIns="0" anchor="t">
            <a:spAutoFit/>
          </a:bodyPr>
          <a:lstStyle/>
          <a:p>
            <a:pPr algn="ctr">
              <a:lnSpc>
                <a:spcPct val="112000"/>
              </a:lnSpc>
              <a:spcAft>
                <a:spcPts val="0"/>
              </a:spcAft>
            </a:pPr>
            <a:r>
              <a:rPr sz="2400" b="1" i="0">
                <a:solidFill>
                  <a:srgbClr val="8C98AA"/>
                </a:solidFill>
                <a:latin typeface="微软雅黑"/>
              </a:rPr>
              <a:t>→</a:t>
            </a:r>
          </a:p>
        </p:txBody>
      </p:sp>
      <p:sp>
        <p:nvSpPr>
          <p:cNvPr id="13" name="Rounded Rectangle 12"/>
          <p:cNvSpPr/>
          <p:nvPr/>
        </p:nvSpPr>
        <p:spPr>
          <a:xfrm>
            <a:off x="3554729" y="1920240"/>
            <a:ext cx="2411729" cy="960120"/>
          </a:xfrm>
          <a:prstGeom prst="roundRect">
            <a:avLst/>
          </a:prstGeom>
          <a:solidFill>
            <a:srgbClr val="FFFFFF"/>
          </a:solidFill>
          <a:ln w="10160">
            <a:solidFill>
              <a:srgbClr val="E0E5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3554729" y="1920240"/>
            <a:ext cx="64008" cy="960120"/>
          </a:xfrm>
          <a:prstGeom prst="rect">
            <a:avLst/>
          </a:prstGeom>
          <a:solidFill>
            <a:srgbClr val="2F8E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3719321" y="2148840"/>
            <a:ext cx="2082545" cy="457200"/>
          </a:xfrm>
          <a:prstGeom prst="rect">
            <a:avLst/>
          </a:prstGeom>
          <a:noFill/>
        </p:spPr>
        <p:txBody>
          <a:bodyPr wrap="square" lIns="0" tIns="0" rIns="0" bIns="0" anchor="ctr">
            <a:spAutoFit/>
          </a:bodyPr>
          <a:lstStyle/>
          <a:p>
            <a:pPr algn="ctr">
              <a:lnSpc>
                <a:spcPct val="112000"/>
              </a:lnSpc>
              <a:spcAft>
                <a:spcPts val="0"/>
              </a:spcAft>
            </a:pPr>
            <a:r>
              <a:rPr sz="1900" b="1" i="0">
                <a:solidFill>
                  <a:srgbClr val="2F8E72"/>
                </a:solidFill>
                <a:latin typeface="微软雅黑"/>
              </a:rPr>
              <a:t>学习通用初始化 θ</a:t>
            </a:r>
          </a:p>
        </p:txBody>
      </p:sp>
      <p:sp>
        <p:nvSpPr>
          <p:cNvPr id="16" name="TextBox 15"/>
          <p:cNvSpPr txBox="1"/>
          <p:nvPr/>
        </p:nvSpPr>
        <p:spPr>
          <a:xfrm>
            <a:off x="5993891" y="2194560"/>
            <a:ext cx="228600" cy="320040"/>
          </a:xfrm>
          <a:prstGeom prst="rect">
            <a:avLst/>
          </a:prstGeom>
          <a:noFill/>
        </p:spPr>
        <p:txBody>
          <a:bodyPr wrap="square" lIns="0" tIns="0" rIns="0" bIns="0" anchor="t">
            <a:spAutoFit/>
          </a:bodyPr>
          <a:lstStyle/>
          <a:p>
            <a:pPr algn="ctr">
              <a:lnSpc>
                <a:spcPct val="112000"/>
              </a:lnSpc>
              <a:spcAft>
                <a:spcPts val="0"/>
              </a:spcAft>
            </a:pPr>
            <a:r>
              <a:rPr sz="2400" b="1" i="0">
                <a:solidFill>
                  <a:srgbClr val="8C98AA"/>
                </a:solidFill>
                <a:latin typeface="微软雅黑"/>
              </a:rPr>
              <a:t>→</a:t>
            </a:r>
          </a:p>
        </p:txBody>
      </p:sp>
      <p:sp>
        <p:nvSpPr>
          <p:cNvPr id="17" name="Rounded Rectangle 16"/>
          <p:cNvSpPr/>
          <p:nvPr/>
        </p:nvSpPr>
        <p:spPr>
          <a:xfrm>
            <a:off x="6240779" y="1920240"/>
            <a:ext cx="2411729" cy="960120"/>
          </a:xfrm>
          <a:prstGeom prst="roundRect">
            <a:avLst/>
          </a:prstGeom>
          <a:solidFill>
            <a:srgbClr val="FFFFFF"/>
          </a:solidFill>
          <a:ln w="10160">
            <a:solidFill>
              <a:srgbClr val="E0E5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6240779" y="1920240"/>
            <a:ext cx="64008" cy="960120"/>
          </a:xfrm>
          <a:prstGeom prst="rect">
            <a:avLst/>
          </a:prstGeom>
          <a:solidFill>
            <a:srgbClr val="C58A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6405371" y="2148840"/>
            <a:ext cx="2082545" cy="457200"/>
          </a:xfrm>
          <a:prstGeom prst="rect">
            <a:avLst/>
          </a:prstGeom>
          <a:noFill/>
        </p:spPr>
        <p:txBody>
          <a:bodyPr wrap="square" lIns="0" tIns="0" rIns="0" bIns="0" anchor="ctr">
            <a:spAutoFit/>
          </a:bodyPr>
          <a:lstStyle/>
          <a:p>
            <a:pPr algn="ctr">
              <a:lnSpc>
                <a:spcPct val="112000"/>
              </a:lnSpc>
              <a:spcAft>
                <a:spcPts val="0"/>
              </a:spcAft>
            </a:pPr>
            <a:r>
              <a:rPr sz="1900" b="1" i="0">
                <a:solidFill>
                  <a:srgbClr val="C58A24"/>
                </a:solidFill>
                <a:latin typeface="微软雅黑"/>
              </a:rPr>
              <a:t>少量现实数据</a:t>
            </a:r>
          </a:p>
        </p:txBody>
      </p:sp>
      <p:sp>
        <p:nvSpPr>
          <p:cNvPr id="20" name="TextBox 19"/>
          <p:cNvSpPr txBox="1"/>
          <p:nvPr/>
        </p:nvSpPr>
        <p:spPr>
          <a:xfrm>
            <a:off x="8679941" y="2194560"/>
            <a:ext cx="228600" cy="320040"/>
          </a:xfrm>
          <a:prstGeom prst="rect">
            <a:avLst/>
          </a:prstGeom>
          <a:noFill/>
        </p:spPr>
        <p:txBody>
          <a:bodyPr wrap="square" lIns="0" tIns="0" rIns="0" bIns="0" anchor="t">
            <a:spAutoFit/>
          </a:bodyPr>
          <a:lstStyle/>
          <a:p>
            <a:pPr algn="ctr">
              <a:lnSpc>
                <a:spcPct val="112000"/>
              </a:lnSpc>
              <a:spcAft>
                <a:spcPts val="0"/>
              </a:spcAft>
            </a:pPr>
            <a:r>
              <a:rPr sz="2400" b="1" i="0">
                <a:solidFill>
                  <a:srgbClr val="8C98AA"/>
                </a:solidFill>
                <a:latin typeface="微软雅黑"/>
              </a:rPr>
              <a:t>→</a:t>
            </a:r>
          </a:p>
        </p:txBody>
      </p:sp>
      <p:sp>
        <p:nvSpPr>
          <p:cNvPr id="21" name="Rounded Rectangle 20"/>
          <p:cNvSpPr/>
          <p:nvPr/>
        </p:nvSpPr>
        <p:spPr>
          <a:xfrm>
            <a:off x="8926829" y="1920240"/>
            <a:ext cx="2411729" cy="960120"/>
          </a:xfrm>
          <a:prstGeom prst="roundRect">
            <a:avLst/>
          </a:prstGeom>
          <a:solidFill>
            <a:srgbClr val="FFFFFF"/>
          </a:solidFill>
          <a:ln w="10160">
            <a:solidFill>
              <a:srgbClr val="E0E5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8926829" y="1920240"/>
            <a:ext cx="64008" cy="960120"/>
          </a:xfrm>
          <a:prstGeom prst="rect">
            <a:avLst/>
          </a:prstGeom>
          <a:solidFill>
            <a:srgbClr val="C63F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9091421" y="2148840"/>
            <a:ext cx="2082545" cy="457200"/>
          </a:xfrm>
          <a:prstGeom prst="rect">
            <a:avLst/>
          </a:prstGeom>
          <a:noFill/>
        </p:spPr>
        <p:txBody>
          <a:bodyPr wrap="square" lIns="0" tIns="0" rIns="0" bIns="0" anchor="ctr">
            <a:spAutoFit/>
          </a:bodyPr>
          <a:lstStyle/>
          <a:p>
            <a:pPr algn="ctr">
              <a:lnSpc>
                <a:spcPct val="112000"/>
              </a:lnSpc>
              <a:spcAft>
                <a:spcPts val="0"/>
              </a:spcAft>
            </a:pPr>
            <a:r>
              <a:rPr sz="1900" b="1" i="0">
                <a:solidFill>
                  <a:srgbClr val="C63F45"/>
                </a:solidFill>
                <a:latin typeface="微软雅黑"/>
              </a:rPr>
              <a:t>快速微调 θ′</a:t>
            </a:r>
          </a:p>
        </p:txBody>
      </p:sp>
      <p:sp>
        <p:nvSpPr>
          <p:cNvPr id="24" name="TextBox 23"/>
          <p:cNvSpPr txBox="1"/>
          <p:nvPr/>
        </p:nvSpPr>
        <p:spPr>
          <a:xfrm>
            <a:off x="868680" y="3886200"/>
            <a:ext cx="10424160" cy="1051560"/>
          </a:xfrm>
          <a:prstGeom prst="rect">
            <a:avLst/>
          </a:prstGeom>
          <a:noFill/>
        </p:spPr>
        <p:txBody>
          <a:bodyPr wrap="square" lIns="0" tIns="0" rIns="0" bIns="0" anchor="t">
            <a:spAutoFit/>
          </a:bodyPr>
          <a:lstStyle/>
          <a:p>
            <a:pPr algn="ctr">
              <a:lnSpc>
                <a:spcPct val="112000"/>
              </a:lnSpc>
              <a:spcAft>
                <a:spcPts val="0"/>
              </a:spcAft>
            </a:pPr>
            <a:r>
              <a:rPr sz="2050" b="0" i="0">
                <a:solidFill>
                  <a:srgbClr val="222833"/>
                </a:solidFill>
                <a:latin typeface="微软雅黑"/>
              </a:rPr>
              <a:t>内外层学习率分别为 α、β；训练任务 Tᵢ 可包含不同随机化仿真条件。元学习尤其适合少样本抓取与动态任务。</a:t>
            </a: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18872" cy="6858000"/>
          </a:xfrm>
          <a:prstGeom prst="rect">
            <a:avLst/>
          </a:prstGeom>
          <a:solidFill>
            <a:srgbClr val="3159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微软雅黑" panose="020B0503020204020204" pitchFamily="34" charset="-122"/>
              <a:ea typeface="微软雅黑" panose="020B0503020204020204" pitchFamily="34" charset="-122"/>
            </a:endParaRPr>
          </a:p>
        </p:txBody>
      </p:sp>
      <p:sp>
        <p:nvSpPr>
          <p:cNvPr id="3" name="Rectangle 2"/>
          <p:cNvSpPr/>
          <p:nvPr/>
        </p:nvSpPr>
        <p:spPr>
          <a:xfrm>
            <a:off x="118872" y="0"/>
            <a:ext cx="41148" cy="6858000"/>
          </a:xfrm>
          <a:prstGeom prst="rect">
            <a:avLst/>
          </a:prstGeom>
          <a:solidFill>
            <a:srgbClr val="B7C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微软雅黑" panose="020B0503020204020204" pitchFamily="34" charset="-122"/>
              <a:ea typeface="微软雅黑" panose="020B0503020204020204" pitchFamily="34" charset="-122"/>
            </a:endParaRPr>
          </a:p>
        </p:txBody>
      </p:sp>
      <p:sp>
        <p:nvSpPr>
          <p:cNvPr id="4" name="TextBox 3"/>
          <p:cNvSpPr txBox="1"/>
          <p:nvPr/>
        </p:nvSpPr>
        <p:spPr>
          <a:xfrm>
            <a:off x="438912" y="137160"/>
            <a:ext cx="3474720" cy="167803"/>
          </a:xfrm>
          <a:prstGeom prst="rect">
            <a:avLst/>
          </a:prstGeom>
          <a:noFill/>
        </p:spPr>
        <p:txBody>
          <a:bodyPr wrap="square" lIns="0" tIns="0" rIns="0" bIns="0" anchor="t">
            <a:spAutoFit/>
          </a:bodyPr>
          <a:lstStyle/>
          <a:p>
            <a:pPr algn="l">
              <a:lnSpc>
                <a:spcPct val="112000"/>
              </a:lnSpc>
              <a:spcAft>
                <a:spcPts val="0"/>
              </a:spcAft>
            </a:pPr>
            <a:r>
              <a:rPr sz="1050" b="0" i="0">
                <a:solidFill>
                  <a:srgbClr val="8C98AA"/>
                </a:solidFill>
                <a:latin typeface="微软雅黑" panose="020B0503020204020204" pitchFamily="34" charset="-122"/>
                <a:ea typeface="微软雅黑" panose="020B0503020204020204" pitchFamily="34" charset="-122"/>
              </a:rPr>
              <a:t>具身智能导论 · 第 9 章</a:t>
            </a:r>
          </a:p>
        </p:txBody>
      </p:sp>
      <p:sp>
        <p:nvSpPr>
          <p:cNvPr id="5" name="TextBox 4"/>
          <p:cNvSpPr txBox="1"/>
          <p:nvPr/>
        </p:nvSpPr>
        <p:spPr>
          <a:xfrm>
            <a:off x="9144000" y="137160"/>
            <a:ext cx="2423160" cy="167803"/>
          </a:xfrm>
          <a:prstGeom prst="rect">
            <a:avLst/>
          </a:prstGeom>
          <a:noFill/>
        </p:spPr>
        <p:txBody>
          <a:bodyPr wrap="square" lIns="0" tIns="0" rIns="0" bIns="0" anchor="t">
            <a:spAutoFit/>
          </a:bodyPr>
          <a:lstStyle/>
          <a:p>
            <a:pPr algn="r">
              <a:lnSpc>
                <a:spcPct val="112000"/>
              </a:lnSpc>
              <a:spcAft>
                <a:spcPts val="0"/>
              </a:spcAft>
            </a:pPr>
            <a:r>
              <a:rPr sz="1050" b="0" i="0">
                <a:solidFill>
                  <a:srgbClr val="8C98AA"/>
                </a:solidFill>
                <a:latin typeface="微软雅黑" panose="020B0503020204020204" pitchFamily="34" charset="-122"/>
                <a:ea typeface="微软雅黑" panose="020B0503020204020204" pitchFamily="34" charset="-122"/>
              </a:rPr>
              <a:t>虚实迁移技术</a:t>
            </a:r>
          </a:p>
        </p:txBody>
      </p:sp>
      <p:sp>
        <p:nvSpPr>
          <p:cNvPr id="6" name="TextBox 5"/>
          <p:cNvSpPr txBox="1"/>
          <p:nvPr/>
        </p:nvSpPr>
        <p:spPr>
          <a:xfrm>
            <a:off x="502920" y="457200"/>
            <a:ext cx="10927080" cy="559256"/>
          </a:xfrm>
          <a:prstGeom prst="rect">
            <a:avLst/>
          </a:prstGeom>
          <a:noFill/>
        </p:spPr>
        <p:txBody>
          <a:bodyPr wrap="square" lIns="0" tIns="0" rIns="0" bIns="0" anchor="t">
            <a:spAutoFit/>
          </a:bodyPr>
          <a:lstStyle/>
          <a:p>
            <a:pPr algn="l">
              <a:lnSpc>
                <a:spcPct val="112000"/>
              </a:lnSpc>
              <a:spcAft>
                <a:spcPts val="0"/>
              </a:spcAft>
            </a:pPr>
            <a:r>
              <a:rPr sz="3500" b="1" i="0">
                <a:solidFill>
                  <a:srgbClr val="24477D"/>
                </a:solidFill>
                <a:latin typeface="微软雅黑" panose="020B0503020204020204" pitchFamily="34" charset="-122"/>
                <a:ea typeface="微软雅黑" panose="020B0503020204020204" pitchFamily="34" charset="-122"/>
              </a:rPr>
              <a:t>元学习：从仿真快速适应新物体抓取</a:t>
            </a:r>
          </a:p>
        </p:txBody>
      </p:sp>
      <p:sp>
        <p:nvSpPr>
          <p:cNvPr id="7" name="Rectangle 6"/>
          <p:cNvSpPr/>
          <p:nvPr/>
        </p:nvSpPr>
        <p:spPr>
          <a:xfrm>
            <a:off x="502920" y="1353312"/>
            <a:ext cx="11109960" cy="9144"/>
          </a:xfrm>
          <a:prstGeom prst="rect">
            <a:avLst/>
          </a:prstGeom>
          <a:solidFill>
            <a:srgbClr val="D8DE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微软雅黑" panose="020B0503020204020204" pitchFamily="34" charset="-122"/>
              <a:ea typeface="微软雅黑" panose="020B0503020204020204" pitchFamily="34" charset="-122"/>
            </a:endParaRPr>
          </a:p>
        </p:txBody>
      </p:sp>
      <p:sp>
        <p:nvSpPr>
          <p:cNvPr id="8" name="TextBox 7"/>
          <p:cNvSpPr txBox="1"/>
          <p:nvPr/>
        </p:nvSpPr>
        <p:spPr>
          <a:xfrm>
            <a:off x="11457432" y="6473952"/>
            <a:ext cx="347472" cy="167803"/>
          </a:xfrm>
          <a:prstGeom prst="rect">
            <a:avLst/>
          </a:prstGeom>
          <a:noFill/>
        </p:spPr>
        <p:txBody>
          <a:bodyPr wrap="square" lIns="0" tIns="0" rIns="0" bIns="0" anchor="t">
            <a:spAutoFit/>
          </a:bodyPr>
          <a:lstStyle/>
          <a:p>
            <a:pPr algn="r">
              <a:lnSpc>
                <a:spcPct val="112000"/>
              </a:lnSpc>
              <a:spcAft>
                <a:spcPts val="0"/>
              </a:spcAft>
            </a:pPr>
            <a:r>
              <a:rPr sz="1050" b="0" i="0">
                <a:solidFill>
                  <a:srgbClr val="8C98AA"/>
                </a:solidFill>
                <a:latin typeface="微软雅黑" panose="020B0503020204020204" pitchFamily="34" charset="-122"/>
                <a:ea typeface="微软雅黑" panose="020B0503020204020204" pitchFamily="34" charset="-122"/>
              </a:rPr>
              <a:t>55</a:t>
            </a:r>
          </a:p>
        </p:txBody>
      </p:sp>
      <p:pic>
        <p:nvPicPr>
          <p:cNvPr id="9" name="Picture 8" descr="img-011.png"/>
          <p:cNvPicPr>
            <a:picLocks noChangeAspect="1"/>
          </p:cNvPicPr>
          <p:nvPr/>
        </p:nvPicPr>
        <p:blipFill>
          <a:blip r:embed="rId2"/>
          <a:stretch>
            <a:fillRect/>
          </a:stretch>
        </p:blipFill>
        <p:spPr>
          <a:xfrm>
            <a:off x="2767171" y="1645920"/>
            <a:ext cx="6627176" cy="4288536"/>
          </a:xfrm>
          <a:prstGeom prst="rect">
            <a:avLst/>
          </a:prstGeom>
        </p:spPr>
      </p:pic>
      <p:sp>
        <p:nvSpPr>
          <p:cNvPr id="10" name="TextBox 9"/>
          <p:cNvSpPr txBox="1"/>
          <p:nvPr/>
        </p:nvSpPr>
        <p:spPr>
          <a:xfrm>
            <a:off x="914400" y="6199259"/>
            <a:ext cx="10332720" cy="256032"/>
          </a:xfrm>
          <a:prstGeom prst="rect">
            <a:avLst/>
          </a:prstGeom>
          <a:noFill/>
        </p:spPr>
        <p:txBody>
          <a:bodyPr wrap="square" lIns="0" tIns="0" rIns="0" bIns="0" anchor="t">
            <a:spAutoFit/>
          </a:bodyPr>
          <a:lstStyle/>
          <a:p>
            <a:pPr algn="ctr">
              <a:lnSpc>
                <a:spcPct val="112000"/>
              </a:lnSpc>
              <a:spcAft>
                <a:spcPts val="0"/>
              </a:spcAft>
            </a:pPr>
            <a:r>
              <a:rPr lang="zh-CN" altLang="en-US" sz="1600" b="1" i="0" dirty="0">
                <a:solidFill>
                  <a:srgbClr val="222833"/>
                </a:solidFill>
                <a:latin typeface="微软雅黑" panose="020B0503020204020204" pitchFamily="34" charset="-122"/>
                <a:ea typeface="微软雅黑" panose="020B0503020204020204" pitchFamily="34" charset="-122"/>
              </a:rPr>
              <a:t>元学习适应过程</a:t>
            </a:r>
            <a:endParaRPr sz="1600" b="1" i="0" dirty="0">
              <a:solidFill>
                <a:srgbClr val="222833"/>
              </a:solidFill>
              <a:latin typeface="微软雅黑" panose="020B0503020204020204" pitchFamily="34" charset="-122"/>
              <a:ea typeface="微软雅黑" panose="020B0503020204020204" pitchFamily="34" charset="-122"/>
            </a:endParaRP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18872" cy="6858000"/>
          </a:xfrm>
          <a:prstGeom prst="rect">
            <a:avLst/>
          </a:prstGeom>
          <a:solidFill>
            <a:srgbClr val="3159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118872" y="0"/>
            <a:ext cx="41148" cy="6858000"/>
          </a:xfrm>
          <a:prstGeom prst="rect">
            <a:avLst/>
          </a:prstGeom>
          <a:solidFill>
            <a:srgbClr val="B7C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38912" y="137160"/>
            <a:ext cx="3474720" cy="164592"/>
          </a:xfrm>
          <a:prstGeom prst="rect">
            <a:avLst/>
          </a:prstGeom>
          <a:noFill/>
        </p:spPr>
        <p:txBody>
          <a:bodyPr wrap="square" lIns="0" tIns="0" rIns="0" bIns="0" anchor="t">
            <a:spAutoFit/>
          </a:bodyPr>
          <a:lstStyle/>
          <a:p>
            <a:pPr algn="l">
              <a:lnSpc>
                <a:spcPct val="112000"/>
              </a:lnSpc>
              <a:spcAft>
                <a:spcPts val="0"/>
              </a:spcAft>
            </a:pPr>
            <a:r>
              <a:rPr sz="1050" b="0" i="0">
                <a:solidFill>
                  <a:srgbClr val="8C98AA"/>
                </a:solidFill>
                <a:latin typeface="微软雅黑"/>
              </a:rPr>
              <a:t>具身智能导论 · 第 9 章</a:t>
            </a:r>
          </a:p>
        </p:txBody>
      </p:sp>
      <p:sp>
        <p:nvSpPr>
          <p:cNvPr id="5" name="TextBox 4"/>
          <p:cNvSpPr txBox="1"/>
          <p:nvPr/>
        </p:nvSpPr>
        <p:spPr>
          <a:xfrm>
            <a:off x="9144000" y="137160"/>
            <a:ext cx="2423160" cy="164592"/>
          </a:xfrm>
          <a:prstGeom prst="rect">
            <a:avLst/>
          </a:prstGeom>
          <a:noFill/>
        </p:spPr>
        <p:txBody>
          <a:bodyPr wrap="square" lIns="0" tIns="0" rIns="0" bIns="0" anchor="t">
            <a:spAutoFit/>
          </a:bodyPr>
          <a:lstStyle/>
          <a:p>
            <a:pPr algn="r">
              <a:lnSpc>
                <a:spcPct val="112000"/>
              </a:lnSpc>
              <a:spcAft>
                <a:spcPts val="0"/>
              </a:spcAft>
            </a:pPr>
            <a:r>
              <a:rPr sz="1050" b="0" i="0">
                <a:solidFill>
                  <a:srgbClr val="8C98AA"/>
                </a:solidFill>
                <a:latin typeface="微软雅黑"/>
              </a:rPr>
              <a:t>虚实迁移技术</a:t>
            </a:r>
          </a:p>
        </p:txBody>
      </p:sp>
      <p:sp>
        <p:nvSpPr>
          <p:cNvPr id="6" name="TextBox 5"/>
          <p:cNvSpPr txBox="1"/>
          <p:nvPr/>
        </p:nvSpPr>
        <p:spPr>
          <a:xfrm>
            <a:off x="502920" y="457200"/>
            <a:ext cx="10927080" cy="749808"/>
          </a:xfrm>
          <a:prstGeom prst="rect">
            <a:avLst/>
          </a:prstGeom>
          <a:noFill/>
        </p:spPr>
        <p:txBody>
          <a:bodyPr wrap="square" lIns="0" tIns="0" rIns="0" bIns="0" anchor="t">
            <a:spAutoFit/>
          </a:bodyPr>
          <a:lstStyle/>
          <a:p>
            <a:pPr algn="l">
              <a:lnSpc>
                <a:spcPct val="112000"/>
              </a:lnSpc>
              <a:spcAft>
                <a:spcPts val="0"/>
              </a:spcAft>
            </a:pPr>
            <a:r>
              <a:rPr sz="3500" b="1" i="0">
                <a:solidFill>
                  <a:srgbClr val="24477D"/>
                </a:solidFill>
                <a:latin typeface="微软雅黑"/>
              </a:rPr>
              <a:t>9.2.5 Sim-to-Sim 适配</a:t>
            </a:r>
          </a:p>
        </p:txBody>
      </p:sp>
      <p:sp>
        <p:nvSpPr>
          <p:cNvPr id="7" name="Rectangle 6"/>
          <p:cNvSpPr/>
          <p:nvPr/>
        </p:nvSpPr>
        <p:spPr>
          <a:xfrm>
            <a:off x="502920" y="1353312"/>
            <a:ext cx="11109960" cy="9144"/>
          </a:xfrm>
          <a:prstGeom prst="rect">
            <a:avLst/>
          </a:prstGeom>
          <a:solidFill>
            <a:srgbClr val="D8DE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1457432" y="6473952"/>
            <a:ext cx="347472" cy="164592"/>
          </a:xfrm>
          <a:prstGeom prst="rect">
            <a:avLst/>
          </a:prstGeom>
          <a:noFill/>
        </p:spPr>
        <p:txBody>
          <a:bodyPr wrap="square" lIns="0" tIns="0" rIns="0" bIns="0" anchor="t">
            <a:spAutoFit/>
          </a:bodyPr>
          <a:lstStyle/>
          <a:p>
            <a:pPr algn="r">
              <a:lnSpc>
                <a:spcPct val="112000"/>
              </a:lnSpc>
              <a:spcAft>
                <a:spcPts val="0"/>
              </a:spcAft>
            </a:pPr>
            <a:r>
              <a:rPr sz="1050" b="0" i="0">
                <a:solidFill>
                  <a:srgbClr val="8C98AA"/>
                </a:solidFill>
                <a:latin typeface="微软雅黑"/>
              </a:rPr>
              <a:t>56</a:t>
            </a:r>
          </a:p>
        </p:txBody>
      </p:sp>
      <p:sp>
        <p:nvSpPr>
          <p:cNvPr id="9" name="TextBox 8"/>
          <p:cNvSpPr txBox="1"/>
          <p:nvPr/>
        </p:nvSpPr>
        <p:spPr>
          <a:xfrm>
            <a:off x="749808" y="1664208"/>
            <a:ext cx="10776204" cy="1390317"/>
          </a:xfrm>
          <a:prstGeom prst="rect">
            <a:avLst/>
          </a:prstGeom>
          <a:noFill/>
        </p:spPr>
        <p:txBody>
          <a:bodyPr wrap="square" lIns="0" tIns="0" rIns="0" bIns="0">
            <a:spAutoFit/>
          </a:bodyPr>
          <a:lstStyle/>
          <a:p>
            <a:pPr>
              <a:lnSpc>
                <a:spcPct val="112000"/>
              </a:lnSpc>
              <a:spcAft>
                <a:spcPts val="700"/>
              </a:spcAft>
            </a:pPr>
            <a:r>
              <a:rPr sz="2400" b="0" dirty="0">
                <a:solidFill>
                  <a:srgbClr val="222833"/>
                </a:solidFill>
                <a:latin typeface="微软雅黑"/>
              </a:rPr>
              <a:t>• </a:t>
            </a:r>
            <a:r>
              <a:rPr sz="2400" dirty="0" err="1">
                <a:solidFill>
                  <a:srgbClr val="222833"/>
                </a:solidFill>
                <a:latin typeface="微软雅黑"/>
              </a:rPr>
              <a:t>先在“仿真内部”做域自适应，把随机化仿真域映射到规范仿真域</a:t>
            </a:r>
            <a:r>
              <a:rPr sz="2400" dirty="0">
                <a:solidFill>
                  <a:srgbClr val="222833"/>
                </a:solidFill>
                <a:latin typeface="微软雅黑"/>
              </a:rPr>
              <a:t>。</a:t>
            </a:r>
          </a:p>
          <a:p>
            <a:pPr>
              <a:lnSpc>
                <a:spcPct val="112000"/>
              </a:lnSpc>
              <a:spcAft>
                <a:spcPts val="700"/>
              </a:spcAft>
            </a:pPr>
            <a:r>
              <a:rPr sz="2400" b="0" dirty="0">
                <a:solidFill>
                  <a:srgbClr val="222833"/>
                </a:solidFill>
                <a:latin typeface="微软雅黑"/>
              </a:rPr>
              <a:t>• </a:t>
            </a:r>
            <a:r>
              <a:rPr sz="2400" dirty="0" err="1">
                <a:solidFill>
                  <a:srgbClr val="222833"/>
                </a:solidFill>
                <a:latin typeface="微软雅黑"/>
              </a:rPr>
              <a:t>真实图像也被映射到同一规范空间，使策略只面对一种稳定的视觉表示</a:t>
            </a:r>
            <a:r>
              <a:rPr sz="2400" dirty="0">
                <a:solidFill>
                  <a:srgbClr val="222833"/>
                </a:solidFill>
                <a:latin typeface="微软雅黑"/>
              </a:rPr>
              <a:t>。</a:t>
            </a:r>
          </a:p>
          <a:p>
            <a:pPr>
              <a:lnSpc>
                <a:spcPct val="112000"/>
              </a:lnSpc>
              <a:spcAft>
                <a:spcPts val="700"/>
              </a:spcAft>
            </a:pPr>
            <a:r>
              <a:rPr sz="2400" b="0" dirty="0">
                <a:solidFill>
                  <a:srgbClr val="222833"/>
                </a:solidFill>
                <a:latin typeface="微软雅黑"/>
              </a:rPr>
              <a:t>• </a:t>
            </a:r>
            <a:r>
              <a:rPr sz="2400" dirty="0" err="1">
                <a:solidFill>
                  <a:srgbClr val="222833"/>
                </a:solidFill>
                <a:latin typeface="微软雅黑"/>
              </a:rPr>
              <a:t>这样可以先缩小仿真内部的域差距，再间接提升</a:t>
            </a:r>
            <a:r>
              <a:rPr sz="2400" dirty="0">
                <a:solidFill>
                  <a:srgbClr val="222833"/>
                </a:solidFill>
                <a:latin typeface="微软雅黑"/>
              </a:rPr>
              <a:t> Sim-to-Real </a:t>
            </a:r>
            <a:r>
              <a:rPr sz="2400" dirty="0" err="1">
                <a:solidFill>
                  <a:srgbClr val="222833"/>
                </a:solidFill>
                <a:latin typeface="微软雅黑"/>
              </a:rPr>
              <a:t>迁移性能</a:t>
            </a:r>
            <a:r>
              <a:rPr sz="2400" dirty="0">
                <a:solidFill>
                  <a:srgbClr val="222833"/>
                </a:solidFill>
                <a:latin typeface="微软雅黑"/>
              </a:rPr>
              <a:t>。</a:t>
            </a:r>
          </a:p>
        </p:txBody>
      </p:sp>
      <p:sp>
        <p:nvSpPr>
          <p:cNvPr id="10" name="TextBox 9"/>
          <p:cNvSpPr txBox="1"/>
          <p:nvPr/>
        </p:nvSpPr>
        <p:spPr>
          <a:xfrm>
            <a:off x="640080" y="5193792"/>
            <a:ext cx="10972800" cy="502920"/>
          </a:xfrm>
          <a:prstGeom prst="rect">
            <a:avLst/>
          </a:prstGeom>
          <a:noFill/>
        </p:spPr>
        <p:txBody>
          <a:bodyPr wrap="square" lIns="0" tIns="0" rIns="0" bIns="0" anchor="ctr">
            <a:spAutoFit/>
          </a:bodyPr>
          <a:lstStyle/>
          <a:p>
            <a:pPr algn="ctr">
              <a:lnSpc>
                <a:spcPct val="112000"/>
              </a:lnSpc>
              <a:spcAft>
                <a:spcPts val="0"/>
              </a:spcAft>
            </a:pPr>
            <a:r>
              <a:rPr sz="1950" b="1" i="0">
                <a:solidFill>
                  <a:srgbClr val="24477D"/>
                </a:solidFill>
                <a:latin typeface="微软雅黑"/>
              </a:rPr>
              <a:t>思路：随机仿真 → 规范仿真 ← 真实图像；策略只在“规范域”上学习。</a:t>
            </a: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18872" cy="6858000"/>
          </a:xfrm>
          <a:prstGeom prst="rect">
            <a:avLst/>
          </a:prstGeom>
          <a:solidFill>
            <a:srgbClr val="3159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118872" y="0"/>
            <a:ext cx="41148" cy="6858000"/>
          </a:xfrm>
          <a:prstGeom prst="rect">
            <a:avLst/>
          </a:prstGeom>
          <a:solidFill>
            <a:srgbClr val="B7C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38912" y="137160"/>
            <a:ext cx="3474720" cy="164592"/>
          </a:xfrm>
          <a:prstGeom prst="rect">
            <a:avLst/>
          </a:prstGeom>
          <a:noFill/>
        </p:spPr>
        <p:txBody>
          <a:bodyPr wrap="square" lIns="0" tIns="0" rIns="0" bIns="0" anchor="t">
            <a:spAutoFit/>
          </a:bodyPr>
          <a:lstStyle/>
          <a:p>
            <a:pPr algn="l">
              <a:lnSpc>
                <a:spcPct val="112000"/>
              </a:lnSpc>
              <a:spcAft>
                <a:spcPts val="0"/>
              </a:spcAft>
            </a:pPr>
            <a:r>
              <a:rPr sz="1050" b="0" i="0">
                <a:solidFill>
                  <a:srgbClr val="8C98AA"/>
                </a:solidFill>
                <a:latin typeface="微软雅黑"/>
              </a:rPr>
              <a:t>具身智能导论 · 第 9 章</a:t>
            </a:r>
          </a:p>
        </p:txBody>
      </p:sp>
      <p:sp>
        <p:nvSpPr>
          <p:cNvPr id="5" name="TextBox 4"/>
          <p:cNvSpPr txBox="1"/>
          <p:nvPr/>
        </p:nvSpPr>
        <p:spPr>
          <a:xfrm>
            <a:off x="9144000" y="137160"/>
            <a:ext cx="2423160" cy="164592"/>
          </a:xfrm>
          <a:prstGeom prst="rect">
            <a:avLst/>
          </a:prstGeom>
          <a:noFill/>
        </p:spPr>
        <p:txBody>
          <a:bodyPr wrap="square" lIns="0" tIns="0" rIns="0" bIns="0" anchor="t">
            <a:spAutoFit/>
          </a:bodyPr>
          <a:lstStyle/>
          <a:p>
            <a:pPr algn="r">
              <a:lnSpc>
                <a:spcPct val="112000"/>
              </a:lnSpc>
              <a:spcAft>
                <a:spcPts val="0"/>
              </a:spcAft>
            </a:pPr>
            <a:r>
              <a:rPr sz="1050" b="0" i="0">
                <a:solidFill>
                  <a:srgbClr val="8C98AA"/>
                </a:solidFill>
                <a:latin typeface="微软雅黑"/>
              </a:rPr>
              <a:t>虚实迁移技术</a:t>
            </a:r>
          </a:p>
        </p:txBody>
      </p:sp>
      <p:sp>
        <p:nvSpPr>
          <p:cNvPr id="6" name="TextBox 5"/>
          <p:cNvSpPr txBox="1"/>
          <p:nvPr/>
        </p:nvSpPr>
        <p:spPr>
          <a:xfrm>
            <a:off x="502920" y="457200"/>
            <a:ext cx="10927080" cy="868680"/>
          </a:xfrm>
          <a:prstGeom prst="rect">
            <a:avLst/>
          </a:prstGeom>
          <a:noFill/>
        </p:spPr>
        <p:txBody>
          <a:bodyPr wrap="square" lIns="0" tIns="0" rIns="0" bIns="0" anchor="t">
            <a:spAutoFit/>
          </a:bodyPr>
          <a:lstStyle/>
          <a:p>
            <a:pPr algn="l">
              <a:lnSpc>
                <a:spcPct val="112000"/>
              </a:lnSpc>
              <a:spcAft>
                <a:spcPts val="0"/>
              </a:spcAft>
            </a:pPr>
            <a:r>
              <a:rPr sz="2800" b="1" i="0">
                <a:solidFill>
                  <a:srgbClr val="24477D"/>
                </a:solidFill>
                <a:latin typeface="微软雅黑"/>
              </a:rPr>
              <a:t>RCAN：Randomized-to-Canonical Adaptation Network</a:t>
            </a:r>
          </a:p>
        </p:txBody>
      </p:sp>
      <p:sp>
        <p:nvSpPr>
          <p:cNvPr id="7" name="Rectangle 6"/>
          <p:cNvSpPr/>
          <p:nvPr/>
        </p:nvSpPr>
        <p:spPr>
          <a:xfrm>
            <a:off x="502920" y="1353312"/>
            <a:ext cx="11109960" cy="9144"/>
          </a:xfrm>
          <a:prstGeom prst="rect">
            <a:avLst/>
          </a:prstGeom>
          <a:solidFill>
            <a:srgbClr val="D8DE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1457432" y="6473952"/>
            <a:ext cx="347472" cy="164592"/>
          </a:xfrm>
          <a:prstGeom prst="rect">
            <a:avLst/>
          </a:prstGeom>
          <a:noFill/>
        </p:spPr>
        <p:txBody>
          <a:bodyPr wrap="square" lIns="0" tIns="0" rIns="0" bIns="0" anchor="t">
            <a:spAutoFit/>
          </a:bodyPr>
          <a:lstStyle/>
          <a:p>
            <a:pPr algn="r">
              <a:lnSpc>
                <a:spcPct val="112000"/>
              </a:lnSpc>
              <a:spcAft>
                <a:spcPts val="0"/>
              </a:spcAft>
            </a:pPr>
            <a:r>
              <a:rPr sz="1050" b="0" i="0">
                <a:solidFill>
                  <a:srgbClr val="8C98AA"/>
                </a:solidFill>
                <a:latin typeface="微软雅黑"/>
              </a:rPr>
              <a:t>57</a:t>
            </a:r>
          </a:p>
        </p:txBody>
      </p:sp>
      <p:sp>
        <p:nvSpPr>
          <p:cNvPr id="9" name="Rounded Rectangle 8"/>
          <p:cNvSpPr/>
          <p:nvPr/>
        </p:nvSpPr>
        <p:spPr>
          <a:xfrm>
            <a:off x="868680" y="1828800"/>
            <a:ext cx="2411729" cy="960120"/>
          </a:xfrm>
          <a:prstGeom prst="roundRect">
            <a:avLst/>
          </a:prstGeom>
          <a:solidFill>
            <a:srgbClr val="FFFFFF"/>
          </a:solidFill>
          <a:ln w="10160">
            <a:solidFill>
              <a:srgbClr val="E0E5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868680" y="1828800"/>
            <a:ext cx="64008" cy="960120"/>
          </a:xfrm>
          <a:prstGeom prst="rect">
            <a:avLst/>
          </a:prstGeom>
          <a:solidFill>
            <a:srgbClr val="3159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1033271" y="2057400"/>
            <a:ext cx="2082545" cy="457200"/>
          </a:xfrm>
          <a:prstGeom prst="rect">
            <a:avLst/>
          </a:prstGeom>
          <a:noFill/>
        </p:spPr>
        <p:txBody>
          <a:bodyPr wrap="square" lIns="0" tIns="0" rIns="0" bIns="0" anchor="ctr">
            <a:spAutoFit/>
          </a:bodyPr>
          <a:lstStyle/>
          <a:p>
            <a:pPr algn="ctr">
              <a:lnSpc>
                <a:spcPct val="112000"/>
              </a:lnSpc>
              <a:spcAft>
                <a:spcPts val="0"/>
              </a:spcAft>
            </a:pPr>
            <a:r>
              <a:rPr sz="1900" b="1" i="0">
                <a:solidFill>
                  <a:srgbClr val="31599B"/>
                </a:solidFill>
                <a:latin typeface="微软雅黑"/>
              </a:rPr>
              <a:t>随机化仿真图像</a:t>
            </a:r>
          </a:p>
        </p:txBody>
      </p:sp>
      <p:sp>
        <p:nvSpPr>
          <p:cNvPr id="12" name="TextBox 11"/>
          <p:cNvSpPr txBox="1"/>
          <p:nvPr/>
        </p:nvSpPr>
        <p:spPr>
          <a:xfrm>
            <a:off x="3307841" y="2103120"/>
            <a:ext cx="228600" cy="320040"/>
          </a:xfrm>
          <a:prstGeom prst="rect">
            <a:avLst/>
          </a:prstGeom>
          <a:noFill/>
        </p:spPr>
        <p:txBody>
          <a:bodyPr wrap="square" lIns="0" tIns="0" rIns="0" bIns="0" anchor="t">
            <a:spAutoFit/>
          </a:bodyPr>
          <a:lstStyle/>
          <a:p>
            <a:pPr algn="ctr">
              <a:lnSpc>
                <a:spcPct val="112000"/>
              </a:lnSpc>
              <a:spcAft>
                <a:spcPts val="0"/>
              </a:spcAft>
            </a:pPr>
            <a:r>
              <a:rPr sz="2400" b="1" i="0">
                <a:solidFill>
                  <a:srgbClr val="8C98AA"/>
                </a:solidFill>
                <a:latin typeface="微软雅黑"/>
              </a:rPr>
              <a:t>→</a:t>
            </a:r>
          </a:p>
        </p:txBody>
      </p:sp>
      <p:sp>
        <p:nvSpPr>
          <p:cNvPr id="13" name="Rounded Rectangle 12"/>
          <p:cNvSpPr/>
          <p:nvPr/>
        </p:nvSpPr>
        <p:spPr>
          <a:xfrm>
            <a:off x="3554729" y="1828800"/>
            <a:ext cx="2411729" cy="960120"/>
          </a:xfrm>
          <a:prstGeom prst="roundRect">
            <a:avLst/>
          </a:prstGeom>
          <a:solidFill>
            <a:srgbClr val="FFFFFF"/>
          </a:solidFill>
          <a:ln w="10160">
            <a:solidFill>
              <a:srgbClr val="E0E5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3554729" y="1828800"/>
            <a:ext cx="64008" cy="960120"/>
          </a:xfrm>
          <a:prstGeom prst="rect">
            <a:avLst/>
          </a:prstGeom>
          <a:solidFill>
            <a:srgbClr val="2F8E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3719321" y="2057400"/>
            <a:ext cx="2082545" cy="457200"/>
          </a:xfrm>
          <a:prstGeom prst="rect">
            <a:avLst/>
          </a:prstGeom>
          <a:noFill/>
        </p:spPr>
        <p:txBody>
          <a:bodyPr wrap="square" lIns="0" tIns="0" rIns="0" bIns="0" anchor="ctr">
            <a:spAutoFit/>
          </a:bodyPr>
          <a:lstStyle/>
          <a:p>
            <a:pPr algn="ctr">
              <a:lnSpc>
                <a:spcPct val="112000"/>
              </a:lnSpc>
              <a:spcAft>
                <a:spcPts val="0"/>
              </a:spcAft>
            </a:pPr>
            <a:r>
              <a:rPr sz="1900" b="1" i="0">
                <a:solidFill>
                  <a:srgbClr val="2F8E72"/>
                </a:solidFill>
                <a:latin typeface="微软雅黑"/>
              </a:rPr>
              <a:t>条件 GAN G</a:t>
            </a:r>
          </a:p>
        </p:txBody>
      </p:sp>
      <p:sp>
        <p:nvSpPr>
          <p:cNvPr id="16" name="TextBox 15"/>
          <p:cNvSpPr txBox="1"/>
          <p:nvPr/>
        </p:nvSpPr>
        <p:spPr>
          <a:xfrm>
            <a:off x="5993891" y="2103120"/>
            <a:ext cx="228600" cy="320040"/>
          </a:xfrm>
          <a:prstGeom prst="rect">
            <a:avLst/>
          </a:prstGeom>
          <a:noFill/>
        </p:spPr>
        <p:txBody>
          <a:bodyPr wrap="square" lIns="0" tIns="0" rIns="0" bIns="0" anchor="t">
            <a:spAutoFit/>
          </a:bodyPr>
          <a:lstStyle/>
          <a:p>
            <a:pPr algn="ctr">
              <a:lnSpc>
                <a:spcPct val="112000"/>
              </a:lnSpc>
              <a:spcAft>
                <a:spcPts val="0"/>
              </a:spcAft>
            </a:pPr>
            <a:r>
              <a:rPr sz="2400" b="1" i="0">
                <a:solidFill>
                  <a:srgbClr val="8C98AA"/>
                </a:solidFill>
                <a:latin typeface="微软雅黑"/>
              </a:rPr>
              <a:t>→</a:t>
            </a:r>
          </a:p>
        </p:txBody>
      </p:sp>
      <p:sp>
        <p:nvSpPr>
          <p:cNvPr id="17" name="Rounded Rectangle 16"/>
          <p:cNvSpPr/>
          <p:nvPr/>
        </p:nvSpPr>
        <p:spPr>
          <a:xfrm>
            <a:off x="6240779" y="1828800"/>
            <a:ext cx="2411729" cy="960120"/>
          </a:xfrm>
          <a:prstGeom prst="roundRect">
            <a:avLst/>
          </a:prstGeom>
          <a:solidFill>
            <a:srgbClr val="FFFFFF"/>
          </a:solidFill>
          <a:ln w="10160">
            <a:solidFill>
              <a:srgbClr val="E0E5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6240779" y="1828800"/>
            <a:ext cx="64008" cy="960120"/>
          </a:xfrm>
          <a:prstGeom prst="rect">
            <a:avLst/>
          </a:prstGeom>
          <a:solidFill>
            <a:srgbClr val="C58A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6405371" y="2057400"/>
            <a:ext cx="2082545" cy="457200"/>
          </a:xfrm>
          <a:prstGeom prst="rect">
            <a:avLst/>
          </a:prstGeom>
          <a:noFill/>
        </p:spPr>
        <p:txBody>
          <a:bodyPr wrap="square" lIns="0" tIns="0" rIns="0" bIns="0" anchor="ctr">
            <a:spAutoFit/>
          </a:bodyPr>
          <a:lstStyle/>
          <a:p>
            <a:pPr algn="ctr">
              <a:lnSpc>
                <a:spcPct val="112000"/>
              </a:lnSpc>
              <a:spcAft>
                <a:spcPts val="0"/>
              </a:spcAft>
            </a:pPr>
            <a:r>
              <a:rPr sz="1900" b="1" i="0">
                <a:solidFill>
                  <a:srgbClr val="C58A24"/>
                </a:solidFill>
                <a:latin typeface="微软雅黑"/>
              </a:rPr>
              <a:t>规范仿真图像</a:t>
            </a:r>
          </a:p>
        </p:txBody>
      </p:sp>
      <p:sp>
        <p:nvSpPr>
          <p:cNvPr id="20" name="TextBox 19"/>
          <p:cNvSpPr txBox="1"/>
          <p:nvPr/>
        </p:nvSpPr>
        <p:spPr>
          <a:xfrm>
            <a:off x="8679941" y="2103120"/>
            <a:ext cx="228600" cy="320040"/>
          </a:xfrm>
          <a:prstGeom prst="rect">
            <a:avLst/>
          </a:prstGeom>
          <a:noFill/>
        </p:spPr>
        <p:txBody>
          <a:bodyPr wrap="square" lIns="0" tIns="0" rIns="0" bIns="0" anchor="t">
            <a:spAutoFit/>
          </a:bodyPr>
          <a:lstStyle/>
          <a:p>
            <a:pPr algn="ctr">
              <a:lnSpc>
                <a:spcPct val="112000"/>
              </a:lnSpc>
              <a:spcAft>
                <a:spcPts val="0"/>
              </a:spcAft>
            </a:pPr>
            <a:r>
              <a:rPr sz="2400" b="1" i="0">
                <a:solidFill>
                  <a:srgbClr val="8C98AA"/>
                </a:solidFill>
                <a:latin typeface="微软雅黑"/>
              </a:rPr>
              <a:t>→</a:t>
            </a:r>
          </a:p>
        </p:txBody>
      </p:sp>
      <p:sp>
        <p:nvSpPr>
          <p:cNvPr id="21" name="Rounded Rectangle 20"/>
          <p:cNvSpPr/>
          <p:nvPr/>
        </p:nvSpPr>
        <p:spPr>
          <a:xfrm>
            <a:off x="8926829" y="1828800"/>
            <a:ext cx="2411729" cy="960120"/>
          </a:xfrm>
          <a:prstGeom prst="roundRect">
            <a:avLst/>
          </a:prstGeom>
          <a:solidFill>
            <a:srgbClr val="FFFFFF"/>
          </a:solidFill>
          <a:ln w="10160">
            <a:solidFill>
              <a:srgbClr val="E0E5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8926829" y="1828800"/>
            <a:ext cx="64008" cy="960120"/>
          </a:xfrm>
          <a:prstGeom prst="rect">
            <a:avLst/>
          </a:prstGeom>
          <a:solidFill>
            <a:srgbClr val="C63F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9091421" y="2057400"/>
            <a:ext cx="2082545" cy="457200"/>
          </a:xfrm>
          <a:prstGeom prst="rect">
            <a:avLst/>
          </a:prstGeom>
          <a:noFill/>
        </p:spPr>
        <p:txBody>
          <a:bodyPr wrap="square" lIns="0" tIns="0" rIns="0" bIns="0" anchor="ctr">
            <a:spAutoFit/>
          </a:bodyPr>
          <a:lstStyle/>
          <a:p>
            <a:pPr algn="ctr">
              <a:lnSpc>
                <a:spcPct val="112000"/>
              </a:lnSpc>
              <a:spcAft>
                <a:spcPts val="0"/>
              </a:spcAft>
            </a:pPr>
            <a:r>
              <a:rPr sz="1900" b="1" i="0">
                <a:solidFill>
                  <a:srgbClr val="C63F45"/>
                </a:solidFill>
                <a:latin typeface="微软雅黑"/>
              </a:rPr>
              <a:t>同一策略</a:t>
            </a:r>
          </a:p>
        </p:txBody>
      </p:sp>
      <p:sp>
        <p:nvSpPr>
          <p:cNvPr id="24" name="TextBox 23"/>
          <p:cNvSpPr txBox="1"/>
          <p:nvPr/>
        </p:nvSpPr>
        <p:spPr>
          <a:xfrm>
            <a:off x="868680" y="3767328"/>
            <a:ext cx="10424160" cy="929998"/>
          </a:xfrm>
          <a:prstGeom prst="rect">
            <a:avLst/>
          </a:prstGeom>
          <a:noFill/>
        </p:spPr>
        <p:txBody>
          <a:bodyPr wrap="square" lIns="0" tIns="0" rIns="0" bIns="0" anchor="t">
            <a:spAutoFit/>
          </a:bodyPr>
          <a:lstStyle/>
          <a:p>
            <a:pPr algn="ctr">
              <a:lnSpc>
                <a:spcPct val="112000"/>
              </a:lnSpc>
              <a:spcAft>
                <a:spcPts val="0"/>
              </a:spcAft>
            </a:pPr>
            <a:r>
              <a:rPr sz="2800" b="0" i="0">
                <a:solidFill>
                  <a:srgbClr val="222833"/>
                </a:solidFill>
                <a:latin typeface="微软雅黑"/>
              </a:rPr>
              <a:t>训练时将随机化仿真图像翻译为“规范”仿真图像；部署时，真实图像也通过同一类映射进入规范空间，实现视觉域的无缝衔接。</a:t>
            </a: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18872" cy="6858000"/>
          </a:xfrm>
          <a:prstGeom prst="rect">
            <a:avLst/>
          </a:prstGeom>
          <a:solidFill>
            <a:srgbClr val="3159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118872" y="0"/>
            <a:ext cx="41148" cy="6858000"/>
          </a:xfrm>
          <a:prstGeom prst="rect">
            <a:avLst/>
          </a:prstGeom>
          <a:solidFill>
            <a:srgbClr val="B7C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38912" y="137160"/>
            <a:ext cx="3474720" cy="164592"/>
          </a:xfrm>
          <a:prstGeom prst="rect">
            <a:avLst/>
          </a:prstGeom>
          <a:noFill/>
        </p:spPr>
        <p:txBody>
          <a:bodyPr wrap="square" lIns="0" tIns="0" rIns="0" bIns="0" anchor="t">
            <a:spAutoFit/>
          </a:bodyPr>
          <a:lstStyle/>
          <a:p>
            <a:pPr algn="l">
              <a:lnSpc>
                <a:spcPct val="112000"/>
              </a:lnSpc>
              <a:spcAft>
                <a:spcPts val="0"/>
              </a:spcAft>
            </a:pPr>
            <a:r>
              <a:rPr sz="1050" b="0" i="0">
                <a:solidFill>
                  <a:srgbClr val="8C98AA"/>
                </a:solidFill>
                <a:latin typeface="微软雅黑"/>
              </a:rPr>
              <a:t>具身智能导论 · 第 9 章</a:t>
            </a:r>
          </a:p>
        </p:txBody>
      </p:sp>
      <p:sp>
        <p:nvSpPr>
          <p:cNvPr id="5" name="TextBox 4"/>
          <p:cNvSpPr txBox="1"/>
          <p:nvPr/>
        </p:nvSpPr>
        <p:spPr>
          <a:xfrm>
            <a:off x="9144000" y="137160"/>
            <a:ext cx="2423160" cy="164592"/>
          </a:xfrm>
          <a:prstGeom prst="rect">
            <a:avLst/>
          </a:prstGeom>
          <a:noFill/>
        </p:spPr>
        <p:txBody>
          <a:bodyPr wrap="square" lIns="0" tIns="0" rIns="0" bIns="0" anchor="t">
            <a:spAutoFit/>
          </a:bodyPr>
          <a:lstStyle/>
          <a:p>
            <a:pPr algn="r">
              <a:lnSpc>
                <a:spcPct val="112000"/>
              </a:lnSpc>
              <a:spcAft>
                <a:spcPts val="0"/>
              </a:spcAft>
            </a:pPr>
            <a:r>
              <a:rPr sz="1050" b="0" i="0">
                <a:solidFill>
                  <a:srgbClr val="8C98AA"/>
                </a:solidFill>
                <a:latin typeface="微软雅黑"/>
              </a:rPr>
              <a:t>虚实迁移技术</a:t>
            </a:r>
          </a:p>
        </p:txBody>
      </p:sp>
      <p:sp>
        <p:nvSpPr>
          <p:cNvPr id="6" name="TextBox 5"/>
          <p:cNvSpPr txBox="1"/>
          <p:nvPr/>
        </p:nvSpPr>
        <p:spPr>
          <a:xfrm>
            <a:off x="502920" y="457200"/>
            <a:ext cx="10927080" cy="749808"/>
          </a:xfrm>
          <a:prstGeom prst="rect">
            <a:avLst/>
          </a:prstGeom>
          <a:noFill/>
        </p:spPr>
        <p:txBody>
          <a:bodyPr wrap="square" lIns="0" tIns="0" rIns="0" bIns="0" anchor="t">
            <a:spAutoFit/>
          </a:bodyPr>
          <a:lstStyle/>
          <a:p>
            <a:pPr algn="l">
              <a:lnSpc>
                <a:spcPct val="112000"/>
              </a:lnSpc>
              <a:spcAft>
                <a:spcPts val="0"/>
              </a:spcAft>
            </a:pPr>
            <a:r>
              <a:rPr sz="3500" b="1" i="0">
                <a:solidFill>
                  <a:srgbClr val="24477D"/>
                </a:solidFill>
                <a:latin typeface="微软雅黑"/>
              </a:rPr>
              <a:t>RCAN：随机仿真与现实图像统一到规范空间</a:t>
            </a:r>
          </a:p>
        </p:txBody>
      </p:sp>
      <p:sp>
        <p:nvSpPr>
          <p:cNvPr id="7" name="Rectangle 6"/>
          <p:cNvSpPr/>
          <p:nvPr/>
        </p:nvSpPr>
        <p:spPr>
          <a:xfrm>
            <a:off x="502920" y="1353312"/>
            <a:ext cx="11109960" cy="9144"/>
          </a:xfrm>
          <a:prstGeom prst="rect">
            <a:avLst/>
          </a:prstGeom>
          <a:solidFill>
            <a:srgbClr val="D8DE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1457432" y="6473952"/>
            <a:ext cx="347472" cy="164592"/>
          </a:xfrm>
          <a:prstGeom prst="rect">
            <a:avLst/>
          </a:prstGeom>
          <a:noFill/>
        </p:spPr>
        <p:txBody>
          <a:bodyPr wrap="square" lIns="0" tIns="0" rIns="0" bIns="0" anchor="t">
            <a:spAutoFit/>
          </a:bodyPr>
          <a:lstStyle/>
          <a:p>
            <a:pPr algn="r">
              <a:lnSpc>
                <a:spcPct val="112000"/>
              </a:lnSpc>
              <a:spcAft>
                <a:spcPts val="0"/>
              </a:spcAft>
            </a:pPr>
            <a:r>
              <a:rPr sz="1050" b="0" i="0">
                <a:solidFill>
                  <a:srgbClr val="8C98AA"/>
                </a:solidFill>
                <a:latin typeface="微软雅黑"/>
              </a:rPr>
              <a:t>58</a:t>
            </a:r>
          </a:p>
        </p:txBody>
      </p:sp>
      <p:sp>
        <p:nvSpPr>
          <p:cNvPr id="10" name="TextBox 9"/>
          <p:cNvSpPr txBox="1"/>
          <p:nvPr/>
        </p:nvSpPr>
        <p:spPr>
          <a:xfrm>
            <a:off x="914400" y="5943600"/>
            <a:ext cx="10332720" cy="256032"/>
          </a:xfrm>
          <a:prstGeom prst="rect">
            <a:avLst/>
          </a:prstGeom>
          <a:noFill/>
        </p:spPr>
        <p:txBody>
          <a:bodyPr wrap="square" lIns="0" tIns="0" rIns="0" bIns="0" anchor="t">
            <a:spAutoFit/>
          </a:bodyPr>
          <a:lstStyle/>
          <a:p>
            <a:pPr algn="ctr">
              <a:lnSpc>
                <a:spcPct val="112000"/>
              </a:lnSpc>
              <a:spcAft>
                <a:spcPts val="0"/>
              </a:spcAft>
            </a:pPr>
            <a:r>
              <a:rPr sz="1600" b="1" i="0" dirty="0">
                <a:solidFill>
                  <a:srgbClr val="222833"/>
                </a:solidFill>
                <a:latin typeface="微软雅黑"/>
              </a:rPr>
              <a:t>RCAN </a:t>
            </a:r>
            <a:r>
              <a:rPr sz="1600" b="1" i="0" dirty="0" err="1">
                <a:solidFill>
                  <a:srgbClr val="222833"/>
                </a:solidFill>
                <a:latin typeface="微软雅黑"/>
              </a:rPr>
              <a:t>框架</a:t>
            </a:r>
            <a:endParaRPr sz="1600" b="1" i="0" dirty="0">
              <a:solidFill>
                <a:srgbClr val="222833"/>
              </a:solidFill>
              <a:latin typeface="微软雅黑"/>
            </a:endParaRPr>
          </a:p>
        </p:txBody>
      </p:sp>
      <p:pic>
        <p:nvPicPr>
          <p:cNvPr id="11" name="图片 10">
            <a:extLst>
              <a:ext uri="{FF2B5EF4-FFF2-40B4-BE49-F238E27FC236}">
                <a16:creationId xmlns:a16="http://schemas.microsoft.com/office/drawing/2014/main" id="{A1359996-4B3C-131B-3546-3D46076C0E1A}"/>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178901" y="1685965"/>
            <a:ext cx="6273009" cy="4102187"/>
          </a:xfrm>
          <a:prstGeom prst="rect">
            <a:avLst/>
          </a:prstGeom>
        </p:spPr>
      </p:pic>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18872" cy="6858000"/>
          </a:xfrm>
          <a:prstGeom prst="rect">
            <a:avLst/>
          </a:prstGeom>
          <a:solidFill>
            <a:srgbClr val="3159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118872" y="0"/>
            <a:ext cx="41148" cy="6858000"/>
          </a:xfrm>
          <a:prstGeom prst="rect">
            <a:avLst/>
          </a:prstGeom>
          <a:solidFill>
            <a:srgbClr val="B7C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38912" y="137160"/>
            <a:ext cx="3474720" cy="164592"/>
          </a:xfrm>
          <a:prstGeom prst="rect">
            <a:avLst/>
          </a:prstGeom>
          <a:noFill/>
        </p:spPr>
        <p:txBody>
          <a:bodyPr wrap="square" lIns="0" tIns="0" rIns="0" bIns="0" anchor="t">
            <a:spAutoFit/>
          </a:bodyPr>
          <a:lstStyle/>
          <a:p>
            <a:pPr algn="l">
              <a:lnSpc>
                <a:spcPct val="112000"/>
              </a:lnSpc>
              <a:spcAft>
                <a:spcPts val="0"/>
              </a:spcAft>
            </a:pPr>
            <a:r>
              <a:rPr sz="1050" b="0" i="0">
                <a:solidFill>
                  <a:srgbClr val="8C98AA"/>
                </a:solidFill>
                <a:latin typeface="微软雅黑"/>
              </a:rPr>
              <a:t>具身智能导论 · 第 9 章</a:t>
            </a:r>
          </a:p>
        </p:txBody>
      </p:sp>
      <p:sp>
        <p:nvSpPr>
          <p:cNvPr id="5" name="TextBox 4"/>
          <p:cNvSpPr txBox="1"/>
          <p:nvPr/>
        </p:nvSpPr>
        <p:spPr>
          <a:xfrm>
            <a:off x="9144000" y="137160"/>
            <a:ext cx="2423160" cy="164592"/>
          </a:xfrm>
          <a:prstGeom prst="rect">
            <a:avLst/>
          </a:prstGeom>
          <a:noFill/>
        </p:spPr>
        <p:txBody>
          <a:bodyPr wrap="square" lIns="0" tIns="0" rIns="0" bIns="0" anchor="t">
            <a:spAutoFit/>
          </a:bodyPr>
          <a:lstStyle/>
          <a:p>
            <a:pPr algn="r">
              <a:lnSpc>
                <a:spcPct val="112000"/>
              </a:lnSpc>
              <a:spcAft>
                <a:spcPts val="0"/>
              </a:spcAft>
            </a:pPr>
            <a:r>
              <a:rPr sz="1050" b="0" i="0">
                <a:solidFill>
                  <a:srgbClr val="8C98AA"/>
                </a:solidFill>
                <a:latin typeface="微软雅黑"/>
              </a:rPr>
              <a:t>虚实迁移技术</a:t>
            </a:r>
          </a:p>
        </p:txBody>
      </p:sp>
      <p:sp>
        <p:nvSpPr>
          <p:cNvPr id="6" name="TextBox 5"/>
          <p:cNvSpPr txBox="1"/>
          <p:nvPr/>
        </p:nvSpPr>
        <p:spPr>
          <a:xfrm>
            <a:off x="502920" y="457200"/>
            <a:ext cx="10927080" cy="749808"/>
          </a:xfrm>
          <a:prstGeom prst="rect">
            <a:avLst/>
          </a:prstGeom>
          <a:noFill/>
        </p:spPr>
        <p:txBody>
          <a:bodyPr wrap="square" lIns="0" tIns="0" rIns="0" bIns="0" anchor="t">
            <a:spAutoFit/>
          </a:bodyPr>
          <a:lstStyle/>
          <a:p>
            <a:pPr algn="l">
              <a:lnSpc>
                <a:spcPct val="112000"/>
              </a:lnSpc>
              <a:spcAft>
                <a:spcPts val="0"/>
              </a:spcAft>
            </a:pPr>
            <a:r>
              <a:rPr sz="3500" b="1" i="0">
                <a:solidFill>
                  <a:srgbClr val="24477D"/>
                </a:solidFill>
                <a:latin typeface="微软雅黑"/>
              </a:rPr>
              <a:t>残差策略：在仿真策略上叠加现实补偿</a:t>
            </a:r>
          </a:p>
        </p:txBody>
      </p:sp>
      <p:sp>
        <p:nvSpPr>
          <p:cNvPr id="7" name="Rectangle 6"/>
          <p:cNvSpPr/>
          <p:nvPr/>
        </p:nvSpPr>
        <p:spPr>
          <a:xfrm>
            <a:off x="502920" y="1353312"/>
            <a:ext cx="11109960" cy="9144"/>
          </a:xfrm>
          <a:prstGeom prst="rect">
            <a:avLst/>
          </a:prstGeom>
          <a:solidFill>
            <a:srgbClr val="D8DE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1457432" y="6473952"/>
            <a:ext cx="347472" cy="164592"/>
          </a:xfrm>
          <a:prstGeom prst="rect">
            <a:avLst/>
          </a:prstGeom>
          <a:noFill/>
        </p:spPr>
        <p:txBody>
          <a:bodyPr wrap="square" lIns="0" tIns="0" rIns="0" bIns="0" anchor="t">
            <a:spAutoFit/>
          </a:bodyPr>
          <a:lstStyle/>
          <a:p>
            <a:pPr algn="r">
              <a:lnSpc>
                <a:spcPct val="112000"/>
              </a:lnSpc>
              <a:spcAft>
                <a:spcPts val="0"/>
              </a:spcAft>
            </a:pPr>
            <a:r>
              <a:rPr sz="1050" b="0" i="0">
                <a:solidFill>
                  <a:srgbClr val="8C98AA"/>
                </a:solidFill>
                <a:latin typeface="微软雅黑"/>
              </a:rPr>
              <a:t>59</a:t>
            </a:r>
          </a:p>
        </p:txBody>
      </p:sp>
      <p:sp>
        <p:nvSpPr>
          <p:cNvPr id="9" name="Rounded Rectangle 8"/>
          <p:cNvSpPr/>
          <p:nvPr/>
        </p:nvSpPr>
        <p:spPr>
          <a:xfrm>
            <a:off x="777240" y="1719072"/>
            <a:ext cx="10561320" cy="3959352"/>
          </a:xfrm>
          <a:prstGeom prst="roundRect">
            <a:avLst/>
          </a:prstGeom>
          <a:solidFill>
            <a:srgbClr val="FFFFFF"/>
          </a:solidFill>
          <a:ln w="10160">
            <a:solidFill>
              <a:srgbClr val="E0E5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0" name="Picture 9" descr="eq9_8.png"/>
          <p:cNvPicPr>
            <a:picLocks noChangeAspect="1"/>
          </p:cNvPicPr>
          <p:nvPr/>
        </p:nvPicPr>
        <p:blipFill>
          <a:blip r:embed="rId2"/>
          <a:stretch>
            <a:fillRect/>
          </a:stretch>
        </p:blipFill>
        <p:spPr>
          <a:xfrm>
            <a:off x="1440180" y="3166001"/>
            <a:ext cx="9052560" cy="910045"/>
          </a:xfrm>
          <a:prstGeom prst="rect">
            <a:avLst/>
          </a:prstGeom>
        </p:spPr>
      </p:pic>
      <p:sp>
        <p:nvSpPr>
          <p:cNvPr id="12" name="TextBox 11"/>
          <p:cNvSpPr txBox="1"/>
          <p:nvPr/>
        </p:nvSpPr>
        <p:spPr>
          <a:xfrm>
            <a:off x="1028700" y="4886730"/>
            <a:ext cx="9875520" cy="279628"/>
          </a:xfrm>
          <a:prstGeom prst="rect">
            <a:avLst/>
          </a:prstGeom>
          <a:noFill/>
        </p:spPr>
        <p:txBody>
          <a:bodyPr wrap="square" lIns="0" tIns="0" rIns="0" bIns="0" anchor="t">
            <a:spAutoFit/>
          </a:bodyPr>
          <a:lstStyle/>
          <a:p>
            <a:pPr algn="ctr">
              <a:lnSpc>
                <a:spcPct val="112000"/>
              </a:lnSpc>
              <a:spcAft>
                <a:spcPts val="0"/>
              </a:spcAft>
            </a:pPr>
            <a:r>
              <a:rPr sz="1750" b="0" i="0" dirty="0">
                <a:solidFill>
                  <a:srgbClr val="222833"/>
                </a:solidFill>
                <a:latin typeface="微软雅黑"/>
              </a:rPr>
              <a:t>π</a:t>
            </a:r>
            <a:r>
              <a:rPr sz="1750" b="0" i="0" baseline="-25000" dirty="0">
                <a:solidFill>
                  <a:srgbClr val="222833"/>
                </a:solidFill>
                <a:latin typeface="微软雅黑"/>
              </a:rPr>
              <a:t>sim</a:t>
            </a:r>
            <a:r>
              <a:rPr sz="1750" b="0" i="0" dirty="0">
                <a:solidFill>
                  <a:srgbClr val="222833"/>
                </a:solidFill>
                <a:latin typeface="微软雅黑"/>
              </a:rPr>
              <a:t> </a:t>
            </a:r>
            <a:r>
              <a:rPr sz="1750" b="0" i="0" dirty="0" err="1">
                <a:solidFill>
                  <a:srgbClr val="222833"/>
                </a:solidFill>
                <a:latin typeface="微软雅黑"/>
              </a:rPr>
              <a:t>提供主要行为</a:t>
            </a:r>
            <a:r>
              <a:rPr sz="1750" b="0" i="0" dirty="0">
                <a:solidFill>
                  <a:srgbClr val="222833"/>
                </a:solidFill>
                <a:latin typeface="微软雅黑"/>
              </a:rPr>
              <a:t>，π</a:t>
            </a:r>
            <a:r>
              <a:rPr sz="1750" b="0" i="0" baseline="-25000" dirty="0">
                <a:solidFill>
                  <a:srgbClr val="222833"/>
                </a:solidFill>
                <a:latin typeface="微软雅黑"/>
              </a:rPr>
              <a:t>res</a:t>
            </a:r>
            <a:r>
              <a:rPr sz="1750" b="0" i="0" dirty="0">
                <a:solidFill>
                  <a:srgbClr val="222833"/>
                </a:solidFill>
                <a:latin typeface="微软雅黑"/>
              </a:rPr>
              <a:t> </a:t>
            </a:r>
            <a:r>
              <a:rPr sz="1750" b="0" i="0" dirty="0" err="1">
                <a:solidFill>
                  <a:srgbClr val="222833"/>
                </a:solidFill>
                <a:latin typeface="微软雅黑"/>
              </a:rPr>
              <a:t>只学习仿真与现实之间的剩余差异</a:t>
            </a:r>
            <a:r>
              <a:rPr sz="1750" b="0" i="0" dirty="0">
                <a:solidFill>
                  <a:srgbClr val="222833"/>
                </a:solidFill>
                <a:latin typeface="微软雅黑"/>
              </a:rPr>
              <a:t>。</a:t>
            </a: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170432" cy="6858000"/>
          </a:xfrm>
          <a:prstGeom prst="rect">
            <a:avLst/>
          </a:prstGeom>
          <a:solidFill>
            <a:srgbClr val="3159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859536" y="0"/>
            <a:ext cx="219456" cy="6858000"/>
          </a:xfrm>
          <a:prstGeom prst="rect">
            <a:avLst/>
          </a:prstGeom>
          <a:solidFill>
            <a:srgbClr val="B7C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2029968" y="1426464"/>
            <a:ext cx="1737360" cy="987552"/>
          </a:xfrm>
          <a:prstGeom prst="rect">
            <a:avLst/>
          </a:prstGeom>
          <a:noFill/>
        </p:spPr>
        <p:txBody>
          <a:bodyPr wrap="square" lIns="0" tIns="0" rIns="0" bIns="0" anchor="ctr">
            <a:spAutoFit/>
          </a:bodyPr>
          <a:lstStyle/>
          <a:p>
            <a:pPr algn="l">
              <a:lnSpc>
                <a:spcPct val="112000"/>
              </a:lnSpc>
              <a:spcAft>
                <a:spcPts val="0"/>
              </a:spcAft>
            </a:pPr>
            <a:r>
              <a:rPr sz="6200" b="1" i="0">
                <a:solidFill>
                  <a:srgbClr val="31599B"/>
                </a:solidFill>
                <a:latin typeface="微软雅黑"/>
              </a:rPr>
              <a:t>03</a:t>
            </a:r>
          </a:p>
        </p:txBody>
      </p:sp>
      <p:sp>
        <p:nvSpPr>
          <p:cNvPr id="5" name="TextBox 4"/>
          <p:cNvSpPr txBox="1"/>
          <p:nvPr/>
        </p:nvSpPr>
        <p:spPr>
          <a:xfrm>
            <a:off x="3246120" y="1645920"/>
            <a:ext cx="7635240" cy="621792"/>
          </a:xfrm>
          <a:prstGeom prst="rect">
            <a:avLst/>
          </a:prstGeom>
          <a:noFill/>
        </p:spPr>
        <p:txBody>
          <a:bodyPr wrap="square" lIns="0" tIns="0" rIns="0" bIns="0" anchor="ctr">
            <a:spAutoFit/>
          </a:bodyPr>
          <a:lstStyle/>
          <a:p>
            <a:pPr algn="l">
              <a:lnSpc>
                <a:spcPct val="112000"/>
              </a:lnSpc>
              <a:spcAft>
                <a:spcPts val="0"/>
              </a:spcAft>
            </a:pPr>
            <a:r>
              <a:rPr sz="3900" b="1" i="0">
                <a:solidFill>
                  <a:srgbClr val="24477D"/>
                </a:solidFill>
                <a:latin typeface="微软雅黑"/>
              </a:rPr>
              <a:t>典型范式</a:t>
            </a:r>
          </a:p>
        </p:txBody>
      </p:sp>
      <p:sp>
        <p:nvSpPr>
          <p:cNvPr id="6" name="TextBox 5"/>
          <p:cNvSpPr txBox="1"/>
          <p:nvPr/>
        </p:nvSpPr>
        <p:spPr>
          <a:xfrm>
            <a:off x="8595360" y="292608"/>
            <a:ext cx="2743200" cy="164592"/>
          </a:xfrm>
          <a:prstGeom prst="rect">
            <a:avLst/>
          </a:prstGeom>
          <a:noFill/>
        </p:spPr>
        <p:txBody>
          <a:bodyPr wrap="square" lIns="0" tIns="0" rIns="0" bIns="0" anchor="t">
            <a:spAutoFit/>
          </a:bodyPr>
          <a:lstStyle/>
          <a:p>
            <a:pPr algn="r">
              <a:lnSpc>
                <a:spcPct val="112000"/>
              </a:lnSpc>
              <a:spcAft>
                <a:spcPts val="0"/>
              </a:spcAft>
            </a:pPr>
            <a:r>
              <a:rPr sz="1050" b="0" i="0">
                <a:solidFill>
                  <a:srgbClr val="8C98AA"/>
                </a:solidFill>
                <a:latin typeface="微软雅黑"/>
              </a:rPr>
              <a:t>具身智能导论 · 第9章</a:t>
            </a: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18872" cy="6858000"/>
          </a:xfrm>
          <a:prstGeom prst="rect">
            <a:avLst/>
          </a:prstGeom>
          <a:solidFill>
            <a:srgbClr val="3159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118872" y="0"/>
            <a:ext cx="41148" cy="6858000"/>
          </a:xfrm>
          <a:prstGeom prst="rect">
            <a:avLst/>
          </a:prstGeom>
          <a:solidFill>
            <a:srgbClr val="B7C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38912" y="137160"/>
            <a:ext cx="3474720" cy="164592"/>
          </a:xfrm>
          <a:prstGeom prst="rect">
            <a:avLst/>
          </a:prstGeom>
          <a:noFill/>
        </p:spPr>
        <p:txBody>
          <a:bodyPr wrap="square" lIns="0" tIns="0" rIns="0" bIns="0" anchor="t">
            <a:spAutoFit/>
          </a:bodyPr>
          <a:lstStyle/>
          <a:p>
            <a:pPr algn="l">
              <a:lnSpc>
                <a:spcPct val="112000"/>
              </a:lnSpc>
              <a:spcAft>
                <a:spcPts val="0"/>
              </a:spcAft>
            </a:pPr>
            <a:r>
              <a:rPr sz="1050" b="0" i="0">
                <a:solidFill>
                  <a:srgbClr val="8C98AA"/>
                </a:solidFill>
                <a:latin typeface="微软雅黑"/>
              </a:rPr>
              <a:t>具身智能导论 · 第 9 章</a:t>
            </a:r>
          </a:p>
        </p:txBody>
      </p:sp>
      <p:sp>
        <p:nvSpPr>
          <p:cNvPr id="5" name="TextBox 4"/>
          <p:cNvSpPr txBox="1"/>
          <p:nvPr/>
        </p:nvSpPr>
        <p:spPr>
          <a:xfrm>
            <a:off x="9144000" y="137160"/>
            <a:ext cx="2423160" cy="164592"/>
          </a:xfrm>
          <a:prstGeom prst="rect">
            <a:avLst/>
          </a:prstGeom>
          <a:noFill/>
        </p:spPr>
        <p:txBody>
          <a:bodyPr wrap="square" lIns="0" tIns="0" rIns="0" bIns="0" anchor="t">
            <a:spAutoFit/>
          </a:bodyPr>
          <a:lstStyle/>
          <a:p>
            <a:pPr algn="r">
              <a:lnSpc>
                <a:spcPct val="112000"/>
              </a:lnSpc>
              <a:spcAft>
                <a:spcPts val="0"/>
              </a:spcAft>
            </a:pPr>
            <a:r>
              <a:rPr sz="1050" b="0" i="0">
                <a:solidFill>
                  <a:srgbClr val="8C98AA"/>
                </a:solidFill>
                <a:latin typeface="微软雅黑"/>
              </a:rPr>
              <a:t>虚实迁移技术</a:t>
            </a:r>
          </a:p>
        </p:txBody>
      </p:sp>
      <p:sp>
        <p:nvSpPr>
          <p:cNvPr id="6" name="TextBox 5"/>
          <p:cNvSpPr txBox="1"/>
          <p:nvPr/>
        </p:nvSpPr>
        <p:spPr>
          <a:xfrm>
            <a:off x="502920" y="457200"/>
            <a:ext cx="10927080" cy="749808"/>
          </a:xfrm>
          <a:prstGeom prst="rect">
            <a:avLst/>
          </a:prstGeom>
          <a:noFill/>
        </p:spPr>
        <p:txBody>
          <a:bodyPr wrap="square" lIns="0" tIns="0" rIns="0" bIns="0" anchor="t">
            <a:spAutoFit/>
          </a:bodyPr>
          <a:lstStyle/>
          <a:p>
            <a:pPr algn="l">
              <a:lnSpc>
                <a:spcPct val="112000"/>
              </a:lnSpc>
              <a:spcAft>
                <a:spcPts val="0"/>
              </a:spcAft>
            </a:pPr>
            <a:r>
              <a:rPr sz="3500" b="1" i="0">
                <a:solidFill>
                  <a:srgbClr val="24477D"/>
                </a:solidFill>
                <a:latin typeface="微软雅黑"/>
              </a:rPr>
              <a:t>9.3 典型范式：把多种迁移技术组织成完整闭环</a:t>
            </a:r>
          </a:p>
        </p:txBody>
      </p:sp>
      <p:sp>
        <p:nvSpPr>
          <p:cNvPr id="7" name="Rectangle 6"/>
          <p:cNvSpPr/>
          <p:nvPr/>
        </p:nvSpPr>
        <p:spPr>
          <a:xfrm>
            <a:off x="502920" y="1353312"/>
            <a:ext cx="11109960" cy="9144"/>
          </a:xfrm>
          <a:prstGeom prst="rect">
            <a:avLst/>
          </a:prstGeom>
          <a:solidFill>
            <a:srgbClr val="D8DE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1457432" y="6473952"/>
            <a:ext cx="347472" cy="164592"/>
          </a:xfrm>
          <a:prstGeom prst="rect">
            <a:avLst/>
          </a:prstGeom>
          <a:noFill/>
        </p:spPr>
        <p:txBody>
          <a:bodyPr wrap="square" lIns="0" tIns="0" rIns="0" bIns="0" anchor="t">
            <a:spAutoFit/>
          </a:bodyPr>
          <a:lstStyle/>
          <a:p>
            <a:pPr algn="r">
              <a:lnSpc>
                <a:spcPct val="112000"/>
              </a:lnSpc>
              <a:spcAft>
                <a:spcPts val="0"/>
              </a:spcAft>
            </a:pPr>
            <a:r>
              <a:rPr sz="1050" b="0" i="0">
                <a:solidFill>
                  <a:srgbClr val="8C98AA"/>
                </a:solidFill>
                <a:latin typeface="微软雅黑"/>
              </a:rPr>
              <a:t>61</a:t>
            </a:r>
          </a:p>
        </p:txBody>
      </p:sp>
      <p:sp>
        <p:nvSpPr>
          <p:cNvPr id="9" name="Rounded Rectangle 8"/>
          <p:cNvSpPr/>
          <p:nvPr/>
        </p:nvSpPr>
        <p:spPr>
          <a:xfrm>
            <a:off x="658368" y="1691640"/>
            <a:ext cx="2606040" cy="3291840"/>
          </a:xfrm>
          <a:prstGeom prst="roundRect">
            <a:avLst/>
          </a:prstGeom>
          <a:solidFill>
            <a:srgbClr val="FFFFFF"/>
          </a:solidFill>
          <a:ln w="10160">
            <a:solidFill>
              <a:srgbClr val="E0E5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658368" y="1691640"/>
            <a:ext cx="64008" cy="3291840"/>
          </a:xfrm>
          <a:prstGeom prst="rect">
            <a:avLst/>
          </a:prstGeom>
          <a:solidFill>
            <a:srgbClr val="3159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68680" y="1837944"/>
            <a:ext cx="2221992" cy="347472"/>
          </a:xfrm>
          <a:prstGeom prst="rect">
            <a:avLst/>
          </a:prstGeom>
          <a:noFill/>
        </p:spPr>
        <p:txBody>
          <a:bodyPr wrap="square" lIns="0" tIns="0" rIns="0" bIns="0" anchor="t">
            <a:spAutoFit/>
          </a:bodyPr>
          <a:lstStyle/>
          <a:p>
            <a:pPr algn="l">
              <a:lnSpc>
                <a:spcPct val="112000"/>
              </a:lnSpc>
              <a:spcAft>
                <a:spcPts val="0"/>
              </a:spcAft>
            </a:pPr>
            <a:r>
              <a:rPr sz="1900" b="1" i="0">
                <a:solidFill>
                  <a:srgbClr val="31599B"/>
                </a:solidFill>
                <a:latin typeface="微软雅黑"/>
              </a:rPr>
              <a:t>Sim2Real 闭环</a:t>
            </a:r>
          </a:p>
        </p:txBody>
      </p:sp>
      <p:sp>
        <p:nvSpPr>
          <p:cNvPr id="12" name="TextBox 11"/>
          <p:cNvSpPr txBox="1"/>
          <p:nvPr/>
        </p:nvSpPr>
        <p:spPr>
          <a:xfrm>
            <a:off x="868680" y="2377440"/>
            <a:ext cx="2221992" cy="2450592"/>
          </a:xfrm>
          <a:prstGeom prst="rect">
            <a:avLst/>
          </a:prstGeom>
          <a:noFill/>
        </p:spPr>
        <p:txBody>
          <a:bodyPr wrap="square" lIns="0" tIns="0" rIns="0" bIns="0" anchor="t">
            <a:spAutoFit/>
          </a:bodyPr>
          <a:lstStyle/>
          <a:p>
            <a:pPr algn="l">
              <a:lnSpc>
                <a:spcPct val="112000"/>
              </a:lnSpc>
              <a:spcAft>
                <a:spcPts val="0"/>
              </a:spcAft>
            </a:pPr>
            <a:r>
              <a:rPr sz="1750" b="0" i="0">
                <a:solidFill>
                  <a:srgbClr val="222833"/>
                </a:solidFill>
                <a:latin typeface="微软雅黑"/>
              </a:rPr>
              <a:t>现实数据修正仿真，仿真再训练，策略回到现实持续迭代。</a:t>
            </a:r>
          </a:p>
        </p:txBody>
      </p:sp>
      <p:sp>
        <p:nvSpPr>
          <p:cNvPr id="13" name="Rounded Rectangle 12"/>
          <p:cNvSpPr/>
          <p:nvPr/>
        </p:nvSpPr>
        <p:spPr>
          <a:xfrm>
            <a:off x="3456432" y="1691640"/>
            <a:ext cx="2606040" cy="3291840"/>
          </a:xfrm>
          <a:prstGeom prst="roundRect">
            <a:avLst/>
          </a:prstGeom>
          <a:solidFill>
            <a:srgbClr val="FFFFFF"/>
          </a:solidFill>
          <a:ln w="10160">
            <a:solidFill>
              <a:srgbClr val="E0E5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3456432" y="1691640"/>
            <a:ext cx="64008" cy="3291840"/>
          </a:xfrm>
          <a:prstGeom prst="rect">
            <a:avLst/>
          </a:prstGeom>
          <a:solidFill>
            <a:srgbClr val="2F8E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3666744" y="1837944"/>
            <a:ext cx="2221992" cy="347472"/>
          </a:xfrm>
          <a:prstGeom prst="rect">
            <a:avLst/>
          </a:prstGeom>
          <a:noFill/>
        </p:spPr>
        <p:txBody>
          <a:bodyPr wrap="square" lIns="0" tIns="0" rIns="0" bIns="0" anchor="t">
            <a:spAutoFit/>
          </a:bodyPr>
          <a:lstStyle/>
          <a:p>
            <a:pPr algn="l">
              <a:lnSpc>
                <a:spcPct val="112000"/>
              </a:lnSpc>
              <a:spcAft>
                <a:spcPts val="0"/>
              </a:spcAft>
            </a:pPr>
            <a:r>
              <a:rPr sz="1900" b="1" i="0">
                <a:solidFill>
                  <a:srgbClr val="2F8E72"/>
                </a:solidFill>
                <a:latin typeface="微软雅黑"/>
              </a:rPr>
              <a:t>零 / 少样本</a:t>
            </a:r>
          </a:p>
        </p:txBody>
      </p:sp>
      <p:sp>
        <p:nvSpPr>
          <p:cNvPr id="16" name="TextBox 15"/>
          <p:cNvSpPr txBox="1"/>
          <p:nvPr/>
        </p:nvSpPr>
        <p:spPr>
          <a:xfrm>
            <a:off x="3666744" y="2377440"/>
            <a:ext cx="2221992" cy="2450592"/>
          </a:xfrm>
          <a:prstGeom prst="rect">
            <a:avLst/>
          </a:prstGeom>
          <a:noFill/>
        </p:spPr>
        <p:txBody>
          <a:bodyPr wrap="square" lIns="0" tIns="0" rIns="0" bIns="0" anchor="t">
            <a:spAutoFit/>
          </a:bodyPr>
          <a:lstStyle/>
          <a:p>
            <a:pPr algn="l">
              <a:lnSpc>
                <a:spcPct val="112000"/>
              </a:lnSpc>
              <a:spcAft>
                <a:spcPts val="0"/>
              </a:spcAft>
            </a:pPr>
            <a:r>
              <a:rPr sz="1750" b="0" i="0">
                <a:solidFill>
                  <a:srgbClr val="222833"/>
                </a:solidFill>
                <a:latin typeface="微软雅黑"/>
              </a:rPr>
              <a:t>尽量减少真实交互，依赖随机化与元学习直接部署或快速微调。</a:t>
            </a:r>
          </a:p>
        </p:txBody>
      </p:sp>
      <p:sp>
        <p:nvSpPr>
          <p:cNvPr id="17" name="Rounded Rectangle 16"/>
          <p:cNvSpPr/>
          <p:nvPr/>
        </p:nvSpPr>
        <p:spPr>
          <a:xfrm>
            <a:off x="6254496" y="1691640"/>
            <a:ext cx="2606040" cy="3291840"/>
          </a:xfrm>
          <a:prstGeom prst="roundRect">
            <a:avLst/>
          </a:prstGeom>
          <a:solidFill>
            <a:srgbClr val="FFFFFF"/>
          </a:solidFill>
          <a:ln w="10160">
            <a:solidFill>
              <a:srgbClr val="E0E5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6254496" y="1691640"/>
            <a:ext cx="64008" cy="3291840"/>
          </a:xfrm>
          <a:prstGeom prst="rect">
            <a:avLst/>
          </a:prstGeom>
          <a:solidFill>
            <a:srgbClr val="C58A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6464808" y="1837944"/>
            <a:ext cx="2221992" cy="347472"/>
          </a:xfrm>
          <a:prstGeom prst="rect">
            <a:avLst/>
          </a:prstGeom>
          <a:noFill/>
        </p:spPr>
        <p:txBody>
          <a:bodyPr wrap="square" lIns="0" tIns="0" rIns="0" bIns="0" anchor="t">
            <a:spAutoFit/>
          </a:bodyPr>
          <a:lstStyle/>
          <a:p>
            <a:pPr algn="l">
              <a:lnSpc>
                <a:spcPct val="112000"/>
              </a:lnSpc>
              <a:spcAft>
                <a:spcPts val="0"/>
              </a:spcAft>
            </a:pPr>
            <a:r>
              <a:rPr sz="1900" b="1" i="0">
                <a:solidFill>
                  <a:srgbClr val="C58A24"/>
                </a:solidFill>
                <a:latin typeface="微软雅黑"/>
              </a:rPr>
              <a:t>大模型驱动</a:t>
            </a:r>
          </a:p>
        </p:txBody>
      </p:sp>
      <p:sp>
        <p:nvSpPr>
          <p:cNvPr id="20" name="TextBox 19"/>
          <p:cNvSpPr txBox="1"/>
          <p:nvPr/>
        </p:nvSpPr>
        <p:spPr>
          <a:xfrm>
            <a:off x="6464808" y="2377440"/>
            <a:ext cx="2221992" cy="2450592"/>
          </a:xfrm>
          <a:prstGeom prst="rect">
            <a:avLst/>
          </a:prstGeom>
          <a:noFill/>
        </p:spPr>
        <p:txBody>
          <a:bodyPr wrap="square" lIns="0" tIns="0" rIns="0" bIns="0" anchor="t">
            <a:spAutoFit/>
          </a:bodyPr>
          <a:lstStyle/>
          <a:p>
            <a:pPr algn="l">
              <a:lnSpc>
                <a:spcPct val="112000"/>
              </a:lnSpc>
              <a:spcAft>
                <a:spcPts val="0"/>
              </a:spcAft>
            </a:pPr>
            <a:r>
              <a:rPr sz="1750" b="0" i="0">
                <a:solidFill>
                  <a:srgbClr val="222833"/>
                </a:solidFill>
                <a:latin typeface="微软雅黑"/>
              </a:rPr>
              <a:t>由 LLM 自动生成奖励函数、随机化参数与优化建议。</a:t>
            </a:r>
          </a:p>
        </p:txBody>
      </p:sp>
      <p:sp>
        <p:nvSpPr>
          <p:cNvPr id="21" name="Rounded Rectangle 20"/>
          <p:cNvSpPr/>
          <p:nvPr/>
        </p:nvSpPr>
        <p:spPr>
          <a:xfrm>
            <a:off x="9052560" y="1691640"/>
            <a:ext cx="2331720" cy="3291840"/>
          </a:xfrm>
          <a:prstGeom prst="roundRect">
            <a:avLst/>
          </a:prstGeom>
          <a:solidFill>
            <a:srgbClr val="FFFFFF"/>
          </a:solidFill>
          <a:ln w="10160">
            <a:solidFill>
              <a:srgbClr val="E0E5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9052560" y="1691640"/>
            <a:ext cx="64008" cy="3291840"/>
          </a:xfrm>
          <a:prstGeom prst="rect">
            <a:avLst/>
          </a:prstGeom>
          <a:solidFill>
            <a:srgbClr val="C63F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9262872" y="1837944"/>
            <a:ext cx="1947672" cy="347472"/>
          </a:xfrm>
          <a:prstGeom prst="rect">
            <a:avLst/>
          </a:prstGeom>
          <a:noFill/>
        </p:spPr>
        <p:txBody>
          <a:bodyPr wrap="square" lIns="0" tIns="0" rIns="0" bIns="0" anchor="t">
            <a:spAutoFit/>
          </a:bodyPr>
          <a:lstStyle/>
          <a:p>
            <a:pPr algn="l">
              <a:lnSpc>
                <a:spcPct val="112000"/>
              </a:lnSpc>
              <a:spcAft>
                <a:spcPts val="0"/>
              </a:spcAft>
            </a:pPr>
            <a:r>
              <a:rPr sz="1900" b="1" i="0">
                <a:solidFill>
                  <a:srgbClr val="C63F45"/>
                </a:solidFill>
                <a:latin typeface="微软雅黑"/>
              </a:rPr>
              <a:t>端到端迁移</a:t>
            </a:r>
          </a:p>
        </p:txBody>
      </p:sp>
      <p:sp>
        <p:nvSpPr>
          <p:cNvPr id="24" name="TextBox 23"/>
          <p:cNvSpPr txBox="1"/>
          <p:nvPr/>
        </p:nvSpPr>
        <p:spPr>
          <a:xfrm>
            <a:off x="9262872" y="2377440"/>
            <a:ext cx="1947672" cy="2450592"/>
          </a:xfrm>
          <a:prstGeom prst="rect">
            <a:avLst/>
          </a:prstGeom>
          <a:noFill/>
        </p:spPr>
        <p:txBody>
          <a:bodyPr wrap="square" lIns="0" tIns="0" rIns="0" bIns="0" anchor="t">
            <a:spAutoFit/>
          </a:bodyPr>
          <a:lstStyle/>
          <a:p>
            <a:pPr algn="l">
              <a:lnSpc>
                <a:spcPct val="112000"/>
              </a:lnSpc>
              <a:spcAft>
                <a:spcPts val="0"/>
              </a:spcAft>
            </a:pPr>
            <a:r>
              <a:rPr sz="1720" b="0" i="0">
                <a:solidFill>
                  <a:srgbClr val="222833"/>
                </a:solidFill>
                <a:latin typeface="微软雅黑"/>
              </a:rPr>
              <a:t>用扩散策略、世界模型等生成式模型直接处理高维多模态输入。</a:t>
            </a: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18872" cy="6858000"/>
          </a:xfrm>
          <a:prstGeom prst="rect">
            <a:avLst/>
          </a:prstGeom>
          <a:solidFill>
            <a:srgbClr val="3159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118872" y="0"/>
            <a:ext cx="41148" cy="6858000"/>
          </a:xfrm>
          <a:prstGeom prst="rect">
            <a:avLst/>
          </a:prstGeom>
          <a:solidFill>
            <a:srgbClr val="B7C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38912" y="137160"/>
            <a:ext cx="3474720" cy="164592"/>
          </a:xfrm>
          <a:prstGeom prst="rect">
            <a:avLst/>
          </a:prstGeom>
          <a:noFill/>
        </p:spPr>
        <p:txBody>
          <a:bodyPr wrap="square" lIns="0" tIns="0" rIns="0" bIns="0" anchor="t">
            <a:spAutoFit/>
          </a:bodyPr>
          <a:lstStyle/>
          <a:p>
            <a:pPr algn="l">
              <a:lnSpc>
                <a:spcPct val="112000"/>
              </a:lnSpc>
              <a:spcAft>
                <a:spcPts val="0"/>
              </a:spcAft>
            </a:pPr>
            <a:r>
              <a:rPr sz="1050" b="0" i="0">
                <a:solidFill>
                  <a:srgbClr val="8C98AA"/>
                </a:solidFill>
                <a:latin typeface="微软雅黑"/>
              </a:rPr>
              <a:t>具身智能导论 · 第 9 章</a:t>
            </a:r>
          </a:p>
        </p:txBody>
      </p:sp>
      <p:sp>
        <p:nvSpPr>
          <p:cNvPr id="5" name="TextBox 4"/>
          <p:cNvSpPr txBox="1"/>
          <p:nvPr/>
        </p:nvSpPr>
        <p:spPr>
          <a:xfrm>
            <a:off x="9144000" y="137160"/>
            <a:ext cx="2423160" cy="164592"/>
          </a:xfrm>
          <a:prstGeom prst="rect">
            <a:avLst/>
          </a:prstGeom>
          <a:noFill/>
        </p:spPr>
        <p:txBody>
          <a:bodyPr wrap="square" lIns="0" tIns="0" rIns="0" bIns="0" anchor="t">
            <a:spAutoFit/>
          </a:bodyPr>
          <a:lstStyle/>
          <a:p>
            <a:pPr algn="r">
              <a:lnSpc>
                <a:spcPct val="112000"/>
              </a:lnSpc>
              <a:spcAft>
                <a:spcPts val="0"/>
              </a:spcAft>
            </a:pPr>
            <a:r>
              <a:rPr sz="1050" b="0" i="0">
                <a:solidFill>
                  <a:srgbClr val="8C98AA"/>
                </a:solidFill>
                <a:latin typeface="微软雅黑"/>
              </a:rPr>
              <a:t>虚实迁移技术</a:t>
            </a:r>
          </a:p>
        </p:txBody>
      </p:sp>
      <p:sp>
        <p:nvSpPr>
          <p:cNvPr id="6" name="TextBox 5"/>
          <p:cNvSpPr txBox="1"/>
          <p:nvPr/>
        </p:nvSpPr>
        <p:spPr>
          <a:xfrm>
            <a:off x="502920" y="457200"/>
            <a:ext cx="10927080" cy="749808"/>
          </a:xfrm>
          <a:prstGeom prst="rect">
            <a:avLst/>
          </a:prstGeom>
          <a:noFill/>
        </p:spPr>
        <p:txBody>
          <a:bodyPr wrap="square" lIns="0" tIns="0" rIns="0" bIns="0" anchor="t">
            <a:spAutoFit/>
          </a:bodyPr>
          <a:lstStyle/>
          <a:p>
            <a:pPr algn="l">
              <a:lnSpc>
                <a:spcPct val="112000"/>
              </a:lnSpc>
              <a:spcAft>
                <a:spcPts val="0"/>
              </a:spcAft>
            </a:pPr>
            <a:r>
              <a:rPr sz="3100" b="1" i="0">
                <a:solidFill>
                  <a:srgbClr val="24477D"/>
                </a:solidFill>
                <a:latin typeface="微软雅黑"/>
              </a:rPr>
              <a:t>9.3.1 Sim2Real 闭环：三阶段迭代优化</a:t>
            </a:r>
          </a:p>
        </p:txBody>
      </p:sp>
      <p:sp>
        <p:nvSpPr>
          <p:cNvPr id="7" name="Rectangle 6"/>
          <p:cNvSpPr/>
          <p:nvPr/>
        </p:nvSpPr>
        <p:spPr>
          <a:xfrm>
            <a:off x="502920" y="1353312"/>
            <a:ext cx="11109960" cy="9144"/>
          </a:xfrm>
          <a:prstGeom prst="rect">
            <a:avLst/>
          </a:prstGeom>
          <a:solidFill>
            <a:srgbClr val="D8DE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1457432" y="6473952"/>
            <a:ext cx="347472" cy="164592"/>
          </a:xfrm>
          <a:prstGeom prst="rect">
            <a:avLst/>
          </a:prstGeom>
          <a:noFill/>
        </p:spPr>
        <p:txBody>
          <a:bodyPr wrap="square" lIns="0" tIns="0" rIns="0" bIns="0" anchor="t">
            <a:spAutoFit/>
          </a:bodyPr>
          <a:lstStyle/>
          <a:p>
            <a:pPr algn="r">
              <a:lnSpc>
                <a:spcPct val="112000"/>
              </a:lnSpc>
              <a:spcAft>
                <a:spcPts val="0"/>
              </a:spcAft>
            </a:pPr>
            <a:r>
              <a:rPr sz="1050" b="0" i="0">
                <a:solidFill>
                  <a:srgbClr val="8C98AA"/>
                </a:solidFill>
                <a:latin typeface="微软雅黑"/>
              </a:rPr>
              <a:t>62</a:t>
            </a:r>
          </a:p>
        </p:txBody>
      </p:sp>
      <p:sp>
        <p:nvSpPr>
          <p:cNvPr id="9" name="Rounded Rectangle 8"/>
          <p:cNvSpPr/>
          <p:nvPr/>
        </p:nvSpPr>
        <p:spPr>
          <a:xfrm>
            <a:off x="713232" y="1664208"/>
            <a:ext cx="3246120" cy="3246120"/>
          </a:xfrm>
          <a:prstGeom prst="roundRect">
            <a:avLst/>
          </a:prstGeom>
          <a:solidFill>
            <a:srgbClr val="FFFFFF"/>
          </a:solidFill>
          <a:ln w="10160">
            <a:solidFill>
              <a:srgbClr val="E0E5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713232" y="1664208"/>
            <a:ext cx="64008" cy="3246120"/>
          </a:xfrm>
          <a:prstGeom prst="rect">
            <a:avLst/>
          </a:prstGeom>
          <a:solidFill>
            <a:srgbClr val="3159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923544" y="1810512"/>
            <a:ext cx="2862072" cy="347472"/>
          </a:xfrm>
          <a:prstGeom prst="rect">
            <a:avLst/>
          </a:prstGeom>
          <a:noFill/>
        </p:spPr>
        <p:txBody>
          <a:bodyPr wrap="square" lIns="0" tIns="0" rIns="0" bIns="0" anchor="t">
            <a:spAutoFit/>
          </a:bodyPr>
          <a:lstStyle/>
          <a:p>
            <a:pPr algn="l">
              <a:lnSpc>
                <a:spcPct val="112000"/>
              </a:lnSpc>
              <a:spcAft>
                <a:spcPts val="0"/>
              </a:spcAft>
            </a:pPr>
            <a:r>
              <a:rPr sz="2000" b="1" i="0">
                <a:solidFill>
                  <a:srgbClr val="31599B"/>
                </a:solidFill>
                <a:latin typeface="微软雅黑"/>
              </a:rPr>
              <a:t>1  Real2Sim</a:t>
            </a:r>
          </a:p>
        </p:txBody>
      </p:sp>
      <p:sp>
        <p:nvSpPr>
          <p:cNvPr id="12" name="TextBox 11"/>
          <p:cNvSpPr txBox="1"/>
          <p:nvPr/>
        </p:nvSpPr>
        <p:spPr>
          <a:xfrm>
            <a:off x="923544" y="2350008"/>
            <a:ext cx="2862072" cy="2404872"/>
          </a:xfrm>
          <a:prstGeom prst="rect">
            <a:avLst/>
          </a:prstGeom>
          <a:noFill/>
        </p:spPr>
        <p:txBody>
          <a:bodyPr wrap="square" lIns="0" tIns="0" rIns="0" bIns="0" anchor="t">
            <a:spAutoFit/>
          </a:bodyPr>
          <a:lstStyle/>
          <a:p>
            <a:pPr algn="l">
              <a:lnSpc>
                <a:spcPct val="112000"/>
              </a:lnSpc>
              <a:spcAft>
                <a:spcPts val="0"/>
              </a:spcAft>
            </a:pPr>
            <a:r>
              <a:rPr sz="1800" b="0" i="0">
                <a:solidFill>
                  <a:srgbClr val="222833"/>
                </a:solidFill>
                <a:latin typeface="微软雅黑"/>
              </a:rPr>
              <a:t>采集少量真实演示或扫描真实场景，利用系统辨识或逆蒸馏构建高保真数字孪生。</a:t>
            </a:r>
          </a:p>
        </p:txBody>
      </p:sp>
      <p:sp>
        <p:nvSpPr>
          <p:cNvPr id="13" name="Rounded Rectangle 12"/>
          <p:cNvSpPr/>
          <p:nvPr/>
        </p:nvSpPr>
        <p:spPr>
          <a:xfrm>
            <a:off x="4160520" y="1664208"/>
            <a:ext cx="3246120" cy="3246120"/>
          </a:xfrm>
          <a:prstGeom prst="roundRect">
            <a:avLst/>
          </a:prstGeom>
          <a:solidFill>
            <a:srgbClr val="FFFFFF"/>
          </a:solidFill>
          <a:ln w="10160">
            <a:solidFill>
              <a:srgbClr val="E0E5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4160520" y="1664208"/>
            <a:ext cx="64008" cy="3246120"/>
          </a:xfrm>
          <a:prstGeom prst="rect">
            <a:avLst/>
          </a:prstGeom>
          <a:solidFill>
            <a:srgbClr val="2F8E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4370832" y="1810512"/>
            <a:ext cx="2862072" cy="347472"/>
          </a:xfrm>
          <a:prstGeom prst="rect">
            <a:avLst/>
          </a:prstGeom>
          <a:noFill/>
        </p:spPr>
        <p:txBody>
          <a:bodyPr wrap="square" lIns="0" tIns="0" rIns="0" bIns="0" anchor="t">
            <a:spAutoFit/>
          </a:bodyPr>
          <a:lstStyle/>
          <a:p>
            <a:pPr algn="l">
              <a:lnSpc>
                <a:spcPct val="112000"/>
              </a:lnSpc>
              <a:spcAft>
                <a:spcPts val="0"/>
              </a:spcAft>
            </a:pPr>
            <a:r>
              <a:rPr sz="2000" b="1" i="0">
                <a:solidFill>
                  <a:srgbClr val="2F8E72"/>
                </a:solidFill>
                <a:latin typeface="微软雅黑"/>
              </a:rPr>
              <a:t>2  Sim 中优化</a:t>
            </a:r>
          </a:p>
        </p:txBody>
      </p:sp>
      <p:sp>
        <p:nvSpPr>
          <p:cNvPr id="16" name="TextBox 15"/>
          <p:cNvSpPr txBox="1"/>
          <p:nvPr/>
        </p:nvSpPr>
        <p:spPr>
          <a:xfrm>
            <a:off x="4370832" y="2350008"/>
            <a:ext cx="2862072" cy="2404872"/>
          </a:xfrm>
          <a:prstGeom prst="rect">
            <a:avLst/>
          </a:prstGeom>
          <a:noFill/>
        </p:spPr>
        <p:txBody>
          <a:bodyPr wrap="square" lIns="0" tIns="0" rIns="0" bIns="0" anchor="t">
            <a:spAutoFit/>
          </a:bodyPr>
          <a:lstStyle/>
          <a:p>
            <a:pPr algn="l">
              <a:lnSpc>
                <a:spcPct val="112000"/>
              </a:lnSpc>
              <a:spcAft>
                <a:spcPts val="0"/>
              </a:spcAft>
            </a:pPr>
            <a:r>
              <a:rPr sz="1760" b="0" i="0">
                <a:solidFill>
                  <a:srgbClr val="222833"/>
                </a:solidFill>
                <a:latin typeface="微软雅黑"/>
              </a:rPr>
              <a:t>在校准环境中结合域随机化与 PPO / SAC 训练教师策略，并利用特权信息提高样本效率。</a:t>
            </a:r>
          </a:p>
        </p:txBody>
      </p:sp>
      <p:sp>
        <p:nvSpPr>
          <p:cNvPr id="17" name="Rounded Rectangle 16"/>
          <p:cNvSpPr/>
          <p:nvPr/>
        </p:nvSpPr>
        <p:spPr>
          <a:xfrm>
            <a:off x="7607808" y="1664208"/>
            <a:ext cx="3246120" cy="3246120"/>
          </a:xfrm>
          <a:prstGeom prst="roundRect">
            <a:avLst/>
          </a:prstGeom>
          <a:solidFill>
            <a:srgbClr val="FFFFFF"/>
          </a:solidFill>
          <a:ln w="10160">
            <a:solidFill>
              <a:srgbClr val="E0E5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7607808" y="1664208"/>
            <a:ext cx="64008" cy="3246120"/>
          </a:xfrm>
          <a:prstGeom prst="rect">
            <a:avLst/>
          </a:prstGeom>
          <a:solidFill>
            <a:srgbClr val="C58A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7818120" y="1810512"/>
            <a:ext cx="2862072" cy="347472"/>
          </a:xfrm>
          <a:prstGeom prst="rect">
            <a:avLst/>
          </a:prstGeom>
          <a:noFill/>
        </p:spPr>
        <p:txBody>
          <a:bodyPr wrap="square" lIns="0" tIns="0" rIns="0" bIns="0" anchor="t">
            <a:spAutoFit/>
          </a:bodyPr>
          <a:lstStyle/>
          <a:p>
            <a:pPr algn="l">
              <a:lnSpc>
                <a:spcPct val="112000"/>
              </a:lnSpc>
              <a:spcAft>
                <a:spcPts val="0"/>
              </a:spcAft>
            </a:pPr>
            <a:r>
              <a:rPr sz="2000" b="1" i="0">
                <a:solidFill>
                  <a:srgbClr val="C58A24"/>
                </a:solidFill>
                <a:latin typeface="微软雅黑"/>
              </a:rPr>
              <a:t>3  Sim2Real</a:t>
            </a:r>
          </a:p>
        </p:txBody>
      </p:sp>
      <p:sp>
        <p:nvSpPr>
          <p:cNvPr id="20" name="TextBox 19"/>
          <p:cNvSpPr txBox="1"/>
          <p:nvPr/>
        </p:nvSpPr>
        <p:spPr>
          <a:xfrm>
            <a:off x="7818120" y="2350008"/>
            <a:ext cx="2862072" cy="2404872"/>
          </a:xfrm>
          <a:prstGeom prst="rect">
            <a:avLst/>
          </a:prstGeom>
          <a:noFill/>
        </p:spPr>
        <p:txBody>
          <a:bodyPr wrap="square" lIns="0" tIns="0" rIns="0" bIns="0" anchor="t">
            <a:spAutoFit/>
          </a:bodyPr>
          <a:lstStyle/>
          <a:p>
            <a:pPr algn="l">
              <a:lnSpc>
                <a:spcPct val="112000"/>
              </a:lnSpc>
              <a:spcAft>
                <a:spcPts val="0"/>
              </a:spcAft>
            </a:pPr>
            <a:r>
              <a:rPr sz="1760" b="0" i="0">
                <a:solidFill>
                  <a:srgbClr val="222833"/>
                </a:solidFill>
                <a:latin typeface="微软雅黑"/>
              </a:rPr>
              <a:t>教师—学生蒸馏到仅依赖原始观测的学生策略，部署后再用残差或在线适应收集反馈。</a:t>
            </a: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18872" cy="6858000"/>
          </a:xfrm>
          <a:prstGeom prst="rect">
            <a:avLst/>
          </a:prstGeom>
          <a:solidFill>
            <a:srgbClr val="3159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118872" y="0"/>
            <a:ext cx="41148" cy="6858000"/>
          </a:xfrm>
          <a:prstGeom prst="rect">
            <a:avLst/>
          </a:prstGeom>
          <a:solidFill>
            <a:srgbClr val="B7C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38912" y="137160"/>
            <a:ext cx="3474720" cy="164592"/>
          </a:xfrm>
          <a:prstGeom prst="rect">
            <a:avLst/>
          </a:prstGeom>
          <a:noFill/>
        </p:spPr>
        <p:txBody>
          <a:bodyPr wrap="square" lIns="0" tIns="0" rIns="0" bIns="0" anchor="t">
            <a:spAutoFit/>
          </a:bodyPr>
          <a:lstStyle/>
          <a:p>
            <a:pPr algn="l">
              <a:lnSpc>
                <a:spcPct val="112000"/>
              </a:lnSpc>
              <a:spcAft>
                <a:spcPts val="0"/>
              </a:spcAft>
            </a:pPr>
            <a:r>
              <a:rPr sz="1050" b="0" i="0">
                <a:solidFill>
                  <a:srgbClr val="8C98AA"/>
                </a:solidFill>
                <a:latin typeface="微软雅黑"/>
              </a:rPr>
              <a:t>具身智能导论 · 第 9 章</a:t>
            </a:r>
          </a:p>
        </p:txBody>
      </p:sp>
      <p:sp>
        <p:nvSpPr>
          <p:cNvPr id="5" name="TextBox 4"/>
          <p:cNvSpPr txBox="1"/>
          <p:nvPr/>
        </p:nvSpPr>
        <p:spPr>
          <a:xfrm>
            <a:off x="9144000" y="137160"/>
            <a:ext cx="2423160" cy="164592"/>
          </a:xfrm>
          <a:prstGeom prst="rect">
            <a:avLst/>
          </a:prstGeom>
          <a:noFill/>
        </p:spPr>
        <p:txBody>
          <a:bodyPr wrap="square" lIns="0" tIns="0" rIns="0" bIns="0" anchor="t">
            <a:spAutoFit/>
          </a:bodyPr>
          <a:lstStyle/>
          <a:p>
            <a:pPr algn="r">
              <a:lnSpc>
                <a:spcPct val="112000"/>
              </a:lnSpc>
              <a:spcAft>
                <a:spcPts val="0"/>
              </a:spcAft>
            </a:pPr>
            <a:r>
              <a:rPr sz="1050" b="0" i="0">
                <a:solidFill>
                  <a:srgbClr val="8C98AA"/>
                </a:solidFill>
                <a:latin typeface="微软雅黑"/>
              </a:rPr>
              <a:t>虚实迁移技术</a:t>
            </a:r>
          </a:p>
        </p:txBody>
      </p:sp>
      <p:sp>
        <p:nvSpPr>
          <p:cNvPr id="6" name="TextBox 5"/>
          <p:cNvSpPr txBox="1"/>
          <p:nvPr/>
        </p:nvSpPr>
        <p:spPr>
          <a:xfrm>
            <a:off x="502920" y="457200"/>
            <a:ext cx="10927080" cy="749808"/>
          </a:xfrm>
          <a:prstGeom prst="rect">
            <a:avLst/>
          </a:prstGeom>
          <a:noFill/>
        </p:spPr>
        <p:txBody>
          <a:bodyPr wrap="square" lIns="0" tIns="0" rIns="0" bIns="0" anchor="t">
            <a:spAutoFit/>
          </a:bodyPr>
          <a:lstStyle/>
          <a:p>
            <a:pPr algn="l">
              <a:lnSpc>
                <a:spcPct val="112000"/>
              </a:lnSpc>
              <a:spcAft>
                <a:spcPts val="0"/>
              </a:spcAft>
            </a:pPr>
            <a:r>
              <a:rPr sz="3100" b="1" i="0">
                <a:solidFill>
                  <a:srgbClr val="24477D"/>
                </a:solidFill>
                <a:latin typeface="微软雅黑"/>
              </a:rPr>
              <a:t>Real2Sim：从少量真实信息构建可训练的数字孪生</a:t>
            </a:r>
          </a:p>
        </p:txBody>
      </p:sp>
      <p:sp>
        <p:nvSpPr>
          <p:cNvPr id="7" name="Rectangle 6"/>
          <p:cNvSpPr/>
          <p:nvPr/>
        </p:nvSpPr>
        <p:spPr>
          <a:xfrm>
            <a:off x="502920" y="1353312"/>
            <a:ext cx="11109960" cy="9144"/>
          </a:xfrm>
          <a:prstGeom prst="rect">
            <a:avLst/>
          </a:prstGeom>
          <a:solidFill>
            <a:srgbClr val="D8DE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1457432" y="6473952"/>
            <a:ext cx="347472" cy="164592"/>
          </a:xfrm>
          <a:prstGeom prst="rect">
            <a:avLst/>
          </a:prstGeom>
          <a:noFill/>
        </p:spPr>
        <p:txBody>
          <a:bodyPr wrap="square" lIns="0" tIns="0" rIns="0" bIns="0" anchor="t">
            <a:spAutoFit/>
          </a:bodyPr>
          <a:lstStyle/>
          <a:p>
            <a:pPr algn="r">
              <a:lnSpc>
                <a:spcPct val="112000"/>
              </a:lnSpc>
              <a:spcAft>
                <a:spcPts val="0"/>
              </a:spcAft>
            </a:pPr>
            <a:r>
              <a:rPr sz="1050" b="0" i="0">
                <a:solidFill>
                  <a:srgbClr val="8C98AA"/>
                </a:solidFill>
                <a:latin typeface="微软雅黑"/>
              </a:rPr>
              <a:t>63</a:t>
            </a:r>
          </a:p>
        </p:txBody>
      </p:sp>
      <p:sp>
        <p:nvSpPr>
          <p:cNvPr id="9" name="TextBox 8"/>
          <p:cNvSpPr txBox="1"/>
          <p:nvPr/>
        </p:nvSpPr>
        <p:spPr>
          <a:xfrm>
            <a:off x="749808" y="1691640"/>
            <a:ext cx="10378440" cy="2788920"/>
          </a:xfrm>
          <a:prstGeom prst="rect">
            <a:avLst/>
          </a:prstGeom>
          <a:noFill/>
        </p:spPr>
        <p:txBody>
          <a:bodyPr wrap="square" lIns="0" tIns="0" rIns="0" bIns="0">
            <a:spAutoFit/>
          </a:bodyPr>
          <a:lstStyle/>
          <a:p>
            <a:pPr>
              <a:lnSpc>
                <a:spcPct val="112000"/>
              </a:lnSpc>
              <a:spcAft>
                <a:spcPts val="700"/>
              </a:spcAft>
            </a:pPr>
            <a:r>
              <a:rPr sz="2150" b="0">
                <a:solidFill>
                  <a:srgbClr val="222833"/>
                </a:solidFill>
                <a:latin typeface="微软雅黑"/>
              </a:rPr>
              <a:t>• </a:t>
            </a:r>
            <a:r>
              <a:rPr sz="2150">
                <a:solidFill>
                  <a:srgbClr val="222833"/>
                </a:solidFill>
                <a:latin typeface="微软雅黑"/>
              </a:rPr>
              <a:t>真实演示轨迹可直接提供任务行为约束。</a:t>
            </a:r>
          </a:p>
          <a:p>
            <a:pPr>
              <a:lnSpc>
                <a:spcPct val="112000"/>
              </a:lnSpc>
              <a:spcAft>
                <a:spcPts val="700"/>
              </a:spcAft>
            </a:pPr>
            <a:r>
              <a:rPr sz="2150" b="0">
                <a:solidFill>
                  <a:srgbClr val="222833"/>
                </a:solidFill>
                <a:latin typeface="微软雅黑"/>
              </a:rPr>
              <a:t>• </a:t>
            </a:r>
            <a:r>
              <a:rPr sz="2150">
                <a:solidFill>
                  <a:srgbClr val="222833"/>
                </a:solidFill>
                <a:latin typeface="微软雅黑"/>
              </a:rPr>
              <a:t>手机 / 深度相机扫描可快速重建场景几何与纹理。</a:t>
            </a:r>
          </a:p>
          <a:p>
            <a:pPr>
              <a:lnSpc>
                <a:spcPct val="112000"/>
              </a:lnSpc>
              <a:spcAft>
                <a:spcPts val="700"/>
              </a:spcAft>
            </a:pPr>
            <a:r>
              <a:rPr sz="2150" b="0">
                <a:solidFill>
                  <a:srgbClr val="222833"/>
                </a:solidFill>
                <a:latin typeface="微软雅黑"/>
              </a:rPr>
              <a:t>• </a:t>
            </a:r>
            <a:r>
              <a:rPr sz="2150">
                <a:solidFill>
                  <a:srgbClr val="222833"/>
                </a:solidFill>
                <a:latin typeface="微软雅黑"/>
              </a:rPr>
              <a:t>系统辨识用于校准动力学参数；逆蒸馏把现实演示转移到仿真中。</a:t>
            </a:r>
          </a:p>
        </p:txBody>
      </p:sp>
      <p:sp>
        <p:nvSpPr>
          <p:cNvPr id="10" name="TextBox 9"/>
          <p:cNvSpPr txBox="1"/>
          <p:nvPr/>
        </p:nvSpPr>
        <p:spPr>
          <a:xfrm>
            <a:off x="640080" y="5074920"/>
            <a:ext cx="10972800" cy="502920"/>
          </a:xfrm>
          <a:prstGeom prst="rect">
            <a:avLst/>
          </a:prstGeom>
          <a:noFill/>
        </p:spPr>
        <p:txBody>
          <a:bodyPr wrap="square" lIns="0" tIns="0" rIns="0" bIns="0" anchor="ctr">
            <a:spAutoFit/>
          </a:bodyPr>
          <a:lstStyle/>
          <a:p>
            <a:pPr algn="ctr">
              <a:lnSpc>
                <a:spcPct val="112000"/>
              </a:lnSpc>
              <a:spcAft>
                <a:spcPts val="0"/>
              </a:spcAft>
            </a:pPr>
            <a:r>
              <a:rPr sz="1880" b="1" i="0">
                <a:solidFill>
                  <a:srgbClr val="24477D"/>
                </a:solidFill>
                <a:latin typeface="微软雅黑"/>
              </a:rPr>
              <a:t>Real2Sim 的目标不是“复制现实的一切”，而是重建与当前任务最相关的状态、观测和动力学。</a:t>
            </a: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18872" cy="6858000"/>
          </a:xfrm>
          <a:prstGeom prst="rect">
            <a:avLst/>
          </a:prstGeom>
          <a:solidFill>
            <a:srgbClr val="3159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118872" y="0"/>
            <a:ext cx="41148" cy="6858000"/>
          </a:xfrm>
          <a:prstGeom prst="rect">
            <a:avLst/>
          </a:prstGeom>
          <a:solidFill>
            <a:srgbClr val="B7C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38912" y="137160"/>
            <a:ext cx="3474720" cy="164592"/>
          </a:xfrm>
          <a:prstGeom prst="rect">
            <a:avLst/>
          </a:prstGeom>
          <a:noFill/>
        </p:spPr>
        <p:txBody>
          <a:bodyPr wrap="square" lIns="0" tIns="0" rIns="0" bIns="0" anchor="t">
            <a:spAutoFit/>
          </a:bodyPr>
          <a:lstStyle/>
          <a:p>
            <a:pPr algn="l">
              <a:lnSpc>
                <a:spcPct val="112000"/>
              </a:lnSpc>
              <a:spcAft>
                <a:spcPts val="0"/>
              </a:spcAft>
            </a:pPr>
            <a:r>
              <a:rPr sz="1050" b="0" i="0">
                <a:solidFill>
                  <a:srgbClr val="8C98AA"/>
                </a:solidFill>
                <a:latin typeface="微软雅黑"/>
              </a:rPr>
              <a:t>具身智能导论 · 第 9 章</a:t>
            </a:r>
          </a:p>
        </p:txBody>
      </p:sp>
      <p:sp>
        <p:nvSpPr>
          <p:cNvPr id="5" name="TextBox 4"/>
          <p:cNvSpPr txBox="1"/>
          <p:nvPr/>
        </p:nvSpPr>
        <p:spPr>
          <a:xfrm>
            <a:off x="9144000" y="137160"/>
            <a:ext cx="2423160" cy="164592"/>
          </a:xfrm>
          <a:prstGeom prst="rect">
            <a:avLst/>
          </a:prstGeom>
          <a:noFill/>
        </p:spPr>
        <p:txBody>
          <a:bodyPr wrap="square" lIns="0" tIns="0" rIns="0" bIns="0" anchor="t">
            <a:spAutoFit/>
          </a:bodyPr>
          <a:lstStyle/>
          <a:p>
            <a:pPr algn="r">
              <a:lnSpc>
                <a:spcPct val="112000"/>
              </a:lnSpc>
              <a:spcAft>
                <a:spcPts val="0"/>
              </a:spcAft>
            </a:pPr>
            <a:r>
              <a:rPr sz="1050" b="0" i="0">
                <a:solidFill>
                  <a:srgbClr val="8C98AA"/>
                </a:solidFill>
                <a:latin typeface="微软雅黑"/>
              </a:rPr>
              <a:t>虚实迁移技术</a:t>
            </a:r>
          </a:p>
        </p:txBody>
      </p:sp>
      <p:sp>
        <p:nvSpPr>
          <p:cNvPr id="6" name="TextBox 5"/>
          <p:cNvSpPr txBox="1"/>
          <p:nvPr/>
        </p:nvSpPr>
        <p:spPr>
          <a:xfrm>
            <a:off x="502920" y="457200"/>
            <a:ext cx="10927080" cy="749808"/>
          </a:xfrm>
          <a:prstGeom prst="rect">
            <a:avLst/>
          </a:prstGeom>
          <a:noFill/>
        </p:spPr>
        <p:txBody>
          <a:bodyPr wrap="square" lIns="0" tIns="0" rIns="0" bIns="0" anchor="t">
            <a:spAutoFit/>
          </a:bodyPr>
          <a:lstStyle/>
          <a:p>
            <a:pPr algn="l">
              <a:lnSpc>
                <a:spcPct val="112000"/>
              </a:lnSpc>
              <a:spcAft>
                <a:spcPts val="0"/>
              </a:spcAft>
            </a:pPr>
            <a:r>
              <a:rPr sz="3500" b="1" i="0">
                <a:solidFill>
                  <a:srgbClr val="24477D"/>
                </a:solidFill>
                <a:latin typeface="微软雅黑"/>
              </a:rPr>
              <a:t>Sim 中优化：特权信息 + 教师—学生蒸馏</a:t>
            </a:r>
          </a:p>
        </p:txBody>
      </p:sp>
      <p:sp>
        <p:nvSpPr>
          <p:cNvPr id="7" name="Rectangle 6"/>
          <p:cNvSpPr/>
          <p:nvPr/>
        </p:nvSpPr>
        <p:spPr>
          <a:xfrm>
            <a:off x="502920" y="1353312"/>
            <a:ext cx="11109960" cy="9144"/>
          </a:xfrm>
          <a:prstGeom prst="rect">
            <a:avLst/>
          </a:prstGeom>
          <a:solidFill>
            <a:srgbClr val="D8DE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1457432" y="6473952"/>
            <a:ext cx="347472" cy="164592"/>
          </a:xfrm>
          <a:prstGeom prst="rect">
            <a:avLst/>
          </a:prstGeom>
          <a:noFill/>
        </p:spPr>
        <p:txBody>
          <a:bodyPr wrap="square" lIns="0" tIns="0" rIns="0" bIns="0" anchor="t">
            <a:spAutoFit/>
          </a:bodyPr>
          <a:lstStyle/>
          <a:p>
            <a:pPr algn="r">
              <a:lnSpc>
                <a:spcPct val="112000"/>
              </a:lnSpc>
              <a:spcAft>
                <a:spcPts val="0"/>
              </a:spcAft>
            </a:pPr>
            <a:r>
              <a:rPr sz="1050" b="0" i="0">
                <a:solidFill>
                  <a:srgbClr val="8C98AA"/>
                </a:solidFill>
                <a:latin typeface="微软雅黑"/>
              </a:rPr>
              <a:t>64</a:t>
            </a:r>
          </a:p>
        </p:txBody>
      </p:sp>
      <p:sp>
        <p:nvSpPr>
          <p:cNvPr id="9" name="Rounded Rectangle 8"/>
          <p:cNvSpPr/>
          <p:nvPr/>
        </p:nvSpPr>
        <p:spPr>
          <a:xfrm>
            <a:off x="822960" y="1783080"/>
            <a:ext cx="5074920" cy="3246120"/>
          </a:xfrm>
          <a:prstGeom prst="roundRect">
            <a:avLst>
              <a:gd name="adj" fmla="val 4307"/>
            </a:avLst>
          </a:prstGeom>
          <a:solidFill>
            <a:srgbClr val="FFFFFF"/>
          </a:solidFill>
          <a:ln w="10160">
            <a:solidFill>
              <a:srgbClr val="E0E5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822960" y="1783080"/>
            <a:ext cx="64008" cy="3246120"/>
          </a:xfrm>
          <a:prstGeom prst="rect">
            <a:avLst/>
          </a:prstGeom>
          <a:solidFill>
            <a:srgbClr val="3159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1033272" y="1929384"/>
            <a:ext cx="4690872" cy="347472"/>
          </a:xfrm>
          <a:prstGeom prst="rect">
            <a:avLst/>
          </a:prstGeom>
          <a:noFill/>
        </p:spPr>
        <p:txBody>
          <a:bodyPr wrap="square" lIns="0" tIns="0" rIns="0" bIns="0" anchor="t">
            <a:spAutoFit/>
          </a:bodyPr>
          <a:lstStyle/>
          <a:p>
            <a:pPr algn="l">
              <a:lnSpc>
                <a:spcPct val="112000"/>
              </a:lnSpc>
              <a:spcAft>
                <a:spcPts val="0"/>
              </a:spcAft>
            </a:pPr>
            <a:r>
              <a:rPr sz="2000" b="1" i="0">
                <a:solidFill>
                  <a:srgbClr val="31599B"/>
                </a:solidFill>
                <a:latin typeface="微软雅黑"/>
              </a:rPr>
              <a:t>教师策略</a:t>
            </a:r>
          </a:p>
        </p:txBody>
      </p:sp>
      <p:sp>
        <p:nvSpPr>
          <p:cNvPr id="12" name="TextBox 11"/>
          <p:cNvSpPr txBox="1"/>
          <p:nvPr/>
        </p:nvSpPr>
        <p:spPr>
          <a:xfrm>
            <a:off x="1033272" y="2468880"/>
            <a:ext cx="4690872" cy="2404872"/>
          </a:xfrm>
          <a:prstGeom prst="rect">
            <a:avLst/>
          </a:prstGeom>
          <a:noFill/>
        </p:spPr>
        <p:txBody>
          <a:bodyPr wrap="square" lIns="0" tIns="0" rIns="0" bIns="0" anchor="t">
            <a:spAutoFit/>
          </a:bodyPr>
          <a:lstStyle/>
          <a:p>
            <a:pPr algn="l">
              <a:lnSpc>
                <a:spcPct val="112000"/>
              </a:lnSpc>
              <a:spcAft>
                <a:spcPts val="0"/>
              </a:spcAft>
            </a:pPr>
            <a:r>
              <a:rPr sz="1800" b="0" i="0">
                <a:solidFill>
                  <a:srgbClr val="222833"/>
                </a:solidFill>
                <a:latin typeface="微软雅黑"/>
              </a:rPr>
              <a:t>在仿真中可使用精确物体位姿、接触力等现实中难以直接观测的特权信息，结合 PPO / SAC 进行高效优化。</a:t>
            </a:r>
          </a:p>
        </p:txBody>
      </p:sp>
      <p:sp>
        <p:nvSpPr>
          <p:cNvPr id="13" name="Rounded Rectangle 12"/>
          <p:cNvSpPr/>
          <p:nvPr/>
        </p:nvSpPr>
        <p:spPr>
          <a:xfrm>
            <a:off x="6291072" y="1783080"/>
            <a:ext cx="5074920" cy="3246120"/>
          </a:xfrm>
          <a:prstGeom prst="roundRect">
            <a:avLst>
              <a:gd name="adj" fmla="val 4595"/>
            </a:avLst>
          </a:prstGeom>
          <a:solidFill>
            <a:srgbClr val="FFFFFF"/>
          </a:solidFill>
          <a:ln w="10160">
            <a:solidFill>
              <a:srgbClr val="E0E5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6291072" y="1783080"/>
            <a:ext cx="64008" cy="3246120"/>
          </a:xfrm>
          <a:prstGeom prst="rect">
            <a:avLst/>
          </a:prstGeom>
          <a:solidFill>
            <a:srgbClr val="2F8E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6501384" y="1929384"/>
            <a:ext cx="4690872" cy="347472"/>
          </a:xfrm>
          <a:prstGeom prst="rect">
            <a:avLst/>
          </a:prstGeom>
          <a:noFill/>
        </p:spPr>
        <p:txBody>
          <a:bodyPr wrap="square" lIns="0" tIns="0" rIns="0" bIns="0" anchor="t">
            <a:spAutoFit/>
          </a:bodyPr>
          <a:lstStyle/>
          <a:p>
            <a:pPr algn="l">
              <a:lnSpc>
                <a:spcPct val="112000"/>
              </a:lnSpc>
              <a:spcAft>
                <a:spcPts val="0"/>
              </a:spcAft>
            </a:pPr>
            <a:r>
              <a:rPr sz="2000" b="1" i="0">
                <a:solidFill>
                  <a:srgbClr val="2F8E72"/>
                </a:solidFill>
                <a:latin typeface="微软雅黑"/>
              </a:rPr>
              <a:t>学生策略</a:t>
            </a:r>
          </a:p>
        </p:txBody>
      </p:sp>
      <p:sp>
        <p:nvSpPr>
          <p:cNvPr id="16" name="TextBox 15"/>
          <p:cNvSpPr txBox="1"/>
          <p:nvPr/>
        </p:nvSpPr>
        <p:spPr>
          <a:xfrm>
            <a:off x="6501384" y="2468880"/>
            <a:ext cx="4690872" cy="2404872"/>
          </a:xfrm>
          <a:prstGeom prst="rect">
            <a:avLst/>
          </a:prstGeom>
          <a:noFill/>
        </p:spPr>
        <p:txBody>
          <a:bodyPr wrap="square" lIns="0" tIns="0" rIns="0" bIns="0" anchor="t">
            <a:spAutoFit/>
          </a:bodyPr>
          <a:lstStyle/>
          <a:p>
            <a:pPr algn="l">
              <a:lnSpc>
                <a:spcPct val="112000"/>
              </a:lnSpc>
              <a:spcAft>
                <a:spcPts val="0"/>
              </a:spcAft>
            </a:pPr>
            <a:r>
              <a:rPr sz="1800" b="0" i="0">
                <a:solidFill>
                  <a:srgbClr val="222833"/>
                </a:solidFill>
                <a:latin typeface="微软雅黑"/>
              </a:rPr>
              <a:t>通过蒸馏学习教师行为，但只依赖现实可获得的视觉、力觉等原始观测，从而具备部署条件。</a:t>
            </a: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18872" cy="6858000"/>
          </a:xfrm>
          <a:prstGeom prst="rect">
            <a:avLst/>
          </a:prstGeom>
          <a:solidFill>
            <a:srgbClr val="3159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118872" y="0"/>
            <a:ext cx="41148" cy="6858000"/>
          </a:xfrm>
          <a:prstGeom prst="rect">
            <a:avLst/>
          </a:prstGeom>
          <a:solidFill>
            <a:srgbClr val="B7C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38912" y="137160"/>
            <a:ext cx="3474720" cy="164592"/>
          </a:xfrm>
          <a:prstGeom prst="rect">
            <a:avLst/>
          </a:prstGeom>
          <a:noFill/>
        </p:spPr>
        <p:txBody>
          <a:bodyPr wrap="square" lIns="0" tIns="0" rIns="0" bIns="0" anchor="t">
            <a:spAutoFit/>
          </a:bodyPr>
          <a:lstStyle/>
          <a:p>
            <a:pPr algn="l">
              <a:lnSpc>
                <a:spcPct val="112000"/>
              </a:lnSpc>
              <a:spcAft>
                <a:spcPts val="0"/>
              </a:spcAft>
            </a:pPr>
            <a:r>
              <a:rPr sz="1050" b="0" i="0">
                <a:solidFill>
                  <a:srgbClr val="8C98AA"/>
                </a:solidFill>
                <a:latin typeface="微软雅黑"/>
              </a:rPr>
              <a:t>具身智能导论 · 第 9 章</a:t>
            </a:r>
          </a:p>
        </p:txBody>
      </p:sp>
      <p:sp>
        <p:nvSpPr>
          <p:cNvPr id="5" name="TextBox 4"/>
          <p:cNvSpPr txBox="1"/>
          <p:nvPr/>
        </p:nvSpPr>
        <p:spPr>
          <a:xfrm>
            <a:off x="9144000" y="137160"/>
            <a:ext cx="2423160" cy="164592"/>
          </a:xfrm>
          <a:prstGeom prst="rect">
            <a:avLst/>
          </a:prstGeom>
          <a:noFill/>
        </p:spPr>
        <p:txBody>
          <a:bodyPr wrap="square" lIns="0" tIns="0" rIns="0" bIns="0" anchor="t">
            <a:spAutoFit/>
          </a:bodyPr>
          <a:lstStyle/>
          <a:p>
            <a:pPr algn="r">
              <a:lnSpc>
                <a:spcPct val="112000"/>
              </a:lnSpc>
              <a:spcAft>
                <a:spcPts val="0"/>
              </a:spcAft>
            </a:pPr>
            <a:r>
              <a:rPr sz="1050" b="0" i="0">
                <a:solidFill>
                  <a:srgbClr val="8C98AA"/>
                </a:solidFill>
                <a:latin typeface="微软雅黑"/>
              </a:rPr>
              <a:t>虚实迁移技术</a:t>
            </a:r>
          </a:p>
        </p:txBody>
      </p:sp>
      <p:sp>
        <p:nvSpPr>
          <p:cNvPr id="6" name="TextBox 5"/>
          <p:cNvSpPr txBox="1"/>
          <p:nvPr/>
        </p:nvSpPr>
        <p:spPr>
          <a:xfrm>
            <a:off x="502920" y="457200"/>
            <a:ext cx="10927080" cy="749808"/>
          </a:xfrm>
          <a:prstGeom prst="rect">
            <a:avLst/>
          </a:prstGeom>
          <a:noFill/>
        </p:spPr>
        <p:txBody>
          <a:bodyPr wrap="square" lIns="0" tIns="0" rIns="0" bIns="0" anchor="t">
            <a:spAutoFit/>
          </a:bodyPr>
          <a:lstStyle/>
          <a:p>
            <a:pPr algn="l">
              <a:lnSpc>
                <a:spcPct val="112000"/>
              </a:lnSpc>
              <a:spcAft>
                <a:spcPts val="0"/>
              </a:spcAft>
            </a:pPr>
            <a:r>
              <a:rPr sz="3500" b="1" i="0">
                <a:solidFill>
                  <a:srgbClr val="24477D"/>
                </a:solidFill>
                <a:latin typeface="微软雅黑"/>
              </a:rPr>
              <a:t>Sim2Real：真实反馈继续驱动迁移闭环</a:t>
            </a:r>
          </a:p>
        </p:txBody>
      </p:sp>
      <p:sp>
        <p:nvSpPr>
          <p:cNvPr id="7" name="Rectangle 6"/>
          <p:cNvSpPr/>
          <p:nvPr/>
        </p:nvSpPr>
        <p:spPr>
          <a:xfrm>
            <a:off x="502920" y="1353312"/>
            <a:ext cx="11109960" cy="9144"/>
          </a:xfrm>
          <a:prstGeom prst="rect">
            <a:avLst/>
          </a:prstGeom>
          <a:solidFill>
            <a:srgbClr val="D8DE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1457432" y="6473952"/>
            <a:ext cx="347472" cy="164592"/>
          </a:xfrm>
          <a:prstGeom prst="rect">
            <a:avLst/>
          </a:prstGeom>
          <a:noFill/>
        </p:spPr>
        <p:txBody>
          <a:bodyPr wrap="square" lIns="0" tIns="0" rIns="0" bIns="0" anchor="t">
            <a:spAutoFit/>
          </a:bodyPr>
          <a:lstStyle/>
          <a:p>
            <a:pPr algn="r">
              <a:lnSpc>
                <a:spcPct val="112000"/>
              </a:lnSpc>
              <a:spcAft>
                <a:spcPts val="0"/>
              </a:spcAft>
            </a:pPr>
            <a:r>
              <a:rPr sz="1050" b="0" i="0">
                <a:solidFill>
                  <a:srgbClr val="8C98AA"/>
                </a:solidFill>
                <a:latin typeface="微软雅黑"/>
              </a:rPr>
              <a:t>65</a:t>
            </a:r>
          </a:p>
        </p:txBody>
      </p:sp>
      <p:sp>
        <p:nvSpPr>
          <p:cNvPr id="9" name="TextBox 8"/>
          <p:cNvSpPr txBox="1"/>
          <p:nvPr/>
        </p:nvSpPr>
        <p:spPr>
          <a:xfrm>
            <a:off x="749808" y="1691640"/>
            <a:ext cx="10378440" cy="2647007"/>
          </a:xfrm>
          <a:prstGeom prst="rect">
            <a:avLst/>
          </a:prstGeom>
          <a:noFill/>
        </p:spPr>
        <p:txBody>
          <a:bodyPr wrap="square" lIns="0" tIns="0" rIns="0" bIns="0">
            <a:spAutoFit/>
          </a:bodyPr>
          <a:lstStyle/>
          <a:p>
            <a:pPr>
              <a:lnSpc>
                <a:spcPct val="112000"/>
              </a:lnSpc>
              <a:spcAft>
                <a:spcPts val="700"/>
              </a:spcAft>
            </a:pPr>
            <a:r>
              <a:rPr sz="2800" b="0" dirty="0">
                <a:solidFill>
                  <a:srgbClr val="222833"/>
                </a:solidFill>
                <a:latin typeface="微软雅黑"/>
              </a:rPr>
              <a:t>• </a:t>
            </a:r>
            <a:r>
              <a:rPr sz="2800" dirty="0" err="1">
                <a:solidFill>
                  <a:srgbClr val="222833"/>
                </a:solidFill>
                <a:latin typeface="微软雅黑"/>
              </a:rPr>
              <a:t>将学生策略部署到真实机器人</a:t>
            </a:r>
            <a:r>
              <a:rPr sz="2800" dirty="0">
                <a:solidFill>
                  <a:srgbClr val="222833"/>
                </a:solidFill>
                <a:latin typeface="微软雅黑"/>
              </a:rPr>
              <a:t>。</a:t>
            </a:r>
          </a:p>
          <a:p>
            <a:pPr>
              <a:lnSpc>
                <a:spcPct val="112000"/>
              </a:lnSpc>
              <a:spcAft>
                <a:spcPts val="700"/>
              </a:spcAft>
            </a:pPr>
            <a:r>
              <a:rPr sz="2800" b="0" dirty="0">
                <a:solidFill>
                  <a:srgbClr val="222833"/>
                </a:solidFill>
                <a:latin typeface="微软雅黑"/>
              </a:rPr>
              <a:t>• </a:t>
            </a:r>
            <a:r>
              <a:rPr sz="2800" dirty="0" err="1">
                <a:solidFill>
                  <a:srgbClr val="222833"/>
                </a:solidFill>
                <a:latin typeface="微软雅黑"/>
              </a:rPr>
              <a:t>在线收集性能、失败模式与轨迹偏差等反馈</a:t>
            </a:r>
            <a:r>
              <a:rPr sz="2800" dirty="0">
                <a:solidFill>
                  <a:srgbClr val="222833"/>
                </a:solidFill>
                <a:latin typeface="微软雅黑"/>
              </a:rPr>
              <a:t>。</a:t>
            </a:r>
          </a:p>
          <a:p>
            <a:pPr>
              <a:lnSpc>
                <a:spcPct val="112000"/>
              </a:lnSpc>
              <a:spcAft>
                <a:spcPts val="700"/>
              </a:spcAft>
            </a:pPr>
            <a:r>
              <a:rPr sz="2800" b="0" dirty="0">
                <a:solidFill>
                  <a:srgbClr val="222833"/>
                </a:solidFill>
                <a:latin typeface="微软雅黑"/>
              </a:rPr>
              <a:t>• </a:t>
            </a:r>
            <a:r>
              <a:rPr sz="2800" dirty="0" err="1">
                <a:solidFill>
                  <a:srgbClr val="222833"/>
                </a:solidFill>
                <a:latin typeface="微软雅黑"/>
              </a:rPr>
              <a:t>使用残差策略、在线适应或参数更新进行补偿</a:t>
            </a:r>
            <a:r>
              <a:rPr sz="2800" dirty="0">
                <a:solidFill>
                  <a:srgbClr val="222833"/>
                </a:solidFill>
                <a:latin typeface="微软雅黑"/>
              </a:rPr>
              <a:t>。</a:t>
            </a:r>
          </a:p>
          <a:p>
            <a:pPr>
              <a:lnSpc>
                <a:spcPct val="112000"/>
              </a:lnSpc>
              <a:spcAft>
                <a:spcPts val="700"/>
              </a:spcAft>
            </a:pPr>
            <a:r>
              <a:rPr sz="2800" b="0" dirty="0">
                <a:solidFill>
                  <a:srgbClr val="222833"/>
                </a:solidFill>
                <a:latin typeface="微软雅黑"/>
              </a:rPr>
              <a:t>• </a:t>
            </a:r>
            <a:r>
              <a:rPr sz="2800" dirty="0" err="1">
                <a:solidFill>
                  <a:srgbClr val="222833"/>
                </a:solidFill>
                <a:latin typeface="微软雅黑"/>
              </a:rPr>
              <a:t>反馈再次用于更新仿真模型，形成持续进化的</a:t>
            </a:r>
            <a:r>
              <a:rPr sz="2800" dirty="0">
                <a:solidFill>
                  <a:srgbClr val="222833"/>
                </a:solidFill>
                <a:latin typeface="微软雅黑"/>
              </a:rPr>
              <a:t> Real2Sim2Real </a:t>
            </a:r>
            <a:r>
              <a:rPr sz="2800" dirty="0" err="1">
                <a:solidFill>
                  <a:srgbClr val="222833"/>
                </a:solidFill>
                <a:latin typeface="微软雅黑"/>
              </a:rPr>
              <a:t>循环</a:t>
            </a:r>
            <a:r>
              <a:rPr sz="2800" dirty="0">
                <a:solidFill>
                  <a:srgbClr val="222833"/>
                </a:solidFill>
                <a:latin typeface="微软雅黑"/>
              </a:rPr>
              <a:t>。</a:t>
            </a:r>
          </a:p>
        </p:txBody>
      </p:sp>
      <p:sp>
        <p:nvSpPr>
          <p:cNvPr id="10" name="TextBox 9"/>
          <p:cNvSpPr txBox="1"/>
          <p:nvPr/>
        </p:nvSpPr>
        <p:spPr>
          <a:xfrm>
            <a:off x="640080" y="5193792"/>
            <a:ext cx="10972800" cy="502920"/>
          </a:xfrm>
          <a:prstGeom prst="rect">
            <a:avLst/>
          </a:prstGeom>
          <a:noFill/>
        </p:spPr>
        <p:txBody>
          <a:bodyPr wrap="square" lIns="0" tIns="0" rIns="0" bIns="0" anchor="ctr">
            <a:spAutoFit/>
          </a:bodyPr>
          <a:lstStyle/>
          <a:p>
            <a:pPr algn="ctr">
              <a:lnSpc>
                <a:spcPct val="112000"/>
              </a:lnSpc>
              <a:spcAft>
                <a:spcPts val="0"/>
              </a:spcAft>
            </a:pPr>
            <a:r>
              <a:rPr sz="1920" b="1" i="0">
                <a:solidFill>
                  <a:srgbClr val="24477D"/>
                </a:solidFill>
                <a:latin typeface="微软雅黑"/>
              </a:rPr>
              <a:t>闭环迁移比一次性“仿真训练 → 真机部署”更能应对随时间变化的域差距。</a:t>
            </a: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18872" cy="6858000"/>
          </a:xfrm>
          <a:prstGeom prst="rect">
            <a:avLst/>
          </a:prstGeom>
          <a:solidFill>
            <a:srgbClr val="3159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118872" y="0"/>
            <a:ext cx="41148" cy="6858000"/>
          </a:xfrm>
          <a:prstGeom prst="rect">
            <a:avLst/>
          </a:prstGeom>
          <a:solidFill>
            <a:srgbClr val="B7C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38912" y="137160"/>
            <a:ext cx="3474720" cy="164592"/>
          </a:xfrm>
          <a:prstGeom prst="rect">
            <a:avLst/>
          </a:prstGeom>
          <a:noFill/>
        </p:spPr>
        <p:txBody>
          <a:bodyPr wrap="square" lIns="0" tIns="0" rIns="0" bIns="0" anchor="t">
            <a:spAutoFit/>
          </a:bodyPr>
          <a:lstStyle/>
          <a:p>
            <a:pPr algn="l">
              <a:lnSpc>
                <a:spcPct val="112000"/>
              </a:lnSpc>
              <a:spcAft>
                <a:spcPts val="0"/>
              </a:spcAft>
            </a:pPr>
            <a:r>
              <a:rPr sz="1050" b="0" i="0">
                <a:solidFill>
                  <a:srgbClr val="8C98AA"/>
                </a:solidFill>
                <a:latin typeface="微软雅黑"/>
              </a:rPr>
              <a:t>具身智能导论 · 第 9 章</a:t>
            </a:r>
          </a:p>
        </p:txBody>
      </p:sp>
      <p:sp>
        <p:nvSpPr>
          <p:cNvPr id="5" name="TextBox 4"/>
          <p:cNvSpPr txBox="1"/>
          <p:nvPr/>
        </p:nvSpPr>
        <p:spPr>
          <a:xfrm>
            <a:off x="9144000" y="137160"/>
            <a:ext cx="2423160" cy="164592"/>
          </a:xfrm>
          <a:prstGeom prst="rect">
            <a:avLst/>
          </a:prstGeom>
          <a:noFill/>
        </p:spPr>
        <p:txBody>
          <a:bodyPr wrap="square" lIns="0" tIns="0" rIns="0" bIns="0" anchor="t">
            <a:spAutoFit/>
          </a:bodyPr>
          <a:lstStyle/>
          <a:p>
            <a:pPr algn="r">
              <a:lnSpc>
                <a:spcPct val="112000"/>
              </a:lnSpc>
              <a:spcAft>
                <a:spcPts val="0"/>
              </a:spcAft>
            </a:pPr>
            <a:r>
              <a:rPr sz="1050" b="0" i="0">
                <a:solidFill>
                  <a:srgbClr val="8C98AA"/>
                </a:solidFill>
                <a:latin typeface="微软雅黑"/>
              </a:rPr>
              <a:t>虚实迁移技术</a:t>
            </a:r>
          </a:p>
        </p:txBody>
      </p:sp>
      <p:sp>
        <p:nvSpPr>
          <p:cNvPr id="6" name="TextBox 5"/>
          <p:cNvSpPr txBox="1"/>
          <p:nvPr/>
        </p:nvSpPr>
        <p:spPr>
          <a:xfrm>
            <a:off x="502920" y="457200"/>
            <a:ext cx="10927080" cy="749808"/>
          </a:xfrm>
          <a:prstGeom prst="rect">
            <a:avLst/>
          </a:prstGeom>
          <a:noFill/>
        </p:spPr>
        <p:txBody>
          <a:bodyPr wrap="square" lIns="0" tIns="0" rIns="0" bIns="0" anchor="t">
            <a:spAutoFit/>
          </a:bodyPr>
          <a:lstStyle/>
          <a:p>
            <a:pPr algn="l">
              <a:lnSpc>
                <a:spcPct val="112000"/>
              </a:lnSpc>
              <a:spcAft>
                <a:spcPts val="0"/>
              </a:spcAft>
            </a:pPr>
            <a:r>
              <a:rPr sz="3100" b="1" i="0">
                <a:solidFill>
                  <a:srgbClr val="24477D"/>
                </a:solidFill>
                <a:latin typeface="微软雅黑"/>
              </a:rPr>
              <a:t>RialTo 与 SimOpt：两类 Sim2Real 闭环</a:t>
            </a:r>
          </a:p>
        </p:txBody>
      </p:sp>
      <p:sp>
        <p:nvSpPr>
          <p:cNvPr id="7" name="Rectangle 6"/>
          <p:cNvSpPr/>
          <p:nvPr/>
        </p:nvSpPr>
        <p:spPr>
          <a:xfrm>
            <a:off x="502920" y="1353312"/>
            <a:ext cx="11109960" cy="9144"/>
          </a:xfrm>
          <a:prstGeom prst="rect">
            <a:avLst/>
          </a:prstGeom>
          <a:solidFill>
            <a:srgbClr val="D8DE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8" name="TextBox 7"/>
          <p:cNvSpPr txBox="1"/>
          <p:nvPr/>
        </p:nvSpPr>
        <p:spPr>
          <a:xfrm>
            <a:off x="11457432" y="6473952"/>
            <a:ext cx="347472" cy="164592"/>
          </a:xfrm>
          <a:prstGeom prst="rect">
            <a:avLst/>
          </a:prstGeom>
          <a:noFill/>
        </p:spPr>
        <p:txBody>
          <a:bodyPr wrap="square" lIns="0" tIns="0" rIns="0" bIns="0" anchor="t">
            <a:spAutoFit/>
          </a:bodyPr>
          <a:lstStyle/>
          <a:p>
            <a:pPr algn="r">
              <a:lnSpc>
                <a:spcPct val="112000"/>
              </a:lnSpc>
              <a:spcAft>
                <a:spcPts val="0"/>
              </a:spcAft>
            </a:pPr>
            <a:r>
              <a:rPr sz="1050" b="0" i="0">
                <a:solidFill>
                  <a:srgbClr val="8C98AA"/>
                </a:solidFill>
                <a:latin typeface="微软雅黑"/>
              </a:rPr>
              <a:t>66</a:t>
            </a:r>
          </a:p>
        </p:txBody>
      </p:sp>
      <p:sp>
        <p:nvSpPr>
          <p:cNvPr id="9" name="Rounded Rectangle 8"/>
          <p:cNvSpPr/>
          <p:nvPr/>
        </p:nvSpPr>
        <p:spPr>
          <a:xfrm>
            <a:off x="822960" y="1737360"/>
            <a:ext cx="5074920" cy="3429000"/>
          </a:xfrm>
          <a:prstGeom prst="roundRect">
            <a:avLst>
              <a:gd name="adj" fmla="val 3334"/>
            </a:avLst>
          </a:prstGeom>
          <a:solidFill>
            <a:srgbClr val="FFFFFF"/>
          </a:solidFill>
          <a:ln w="10160">
            <a:solidFill>
              <a:srgbClr val="E0E5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822960" y="1737360"/>
            <a:ext cx="64008" cy="3429000"/>
          </a:xfrm>
          <a:prstGeom prst="rect">
            <a:avLst/>
          </a:prstGeom>
          <a:solidFill>
            <a:srgbClr val="3159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1033272" y="1883664"/>
            <a:ext cx="4690872" cy="447430"/>
          </a:xfrm>
          <a:prstGeom prst="rect">
            <a:avLst/>
          </a:prstGeom>
          <a:noFill/>
        </p:spPr>
        <p:txBody>
          <a:bodyPr wrap="square" lIns="0" tIns="0" rIns="0" bIns="0" anchor="t">
            <a:spAutoFit/>
          </a:bodyPr>
          <a:lstStyle/>
          <a:p>
            <a:pPr algn="l">
              <a:lnSpc>
                <a:spcPct val="112000"/>
              </a:lnSpc>
              <a:spcAft>
                <a:spcPts val="0"/>
              </a:spcAft>
            </a:pPr>
            <a:r>
              <a:rPr sz="2800" b="1" i="0">
                <a:solidFill>
                  <a:srgbClr val="31599B"/>
                </a:solidFill>
                <a:latin typeface="微软雅黑"/>
              </a:rPr>
              <a:t>RialTo</a:t>
            </a:r>
          </a:p>
        </p:txBody>
      </p:sp>
      <p:sp>
        <p:nvSpPr>
          <p:cNvPr id="12" name="TextBox 11"/>
          <p:cNvSpPr txBox="1"/>
          <p:nvPr/>
        </p:nvSpPr>
        <p:spPr>
          <a:xfrm>
            <a:off x="1033272" y="2423160"/>
            <a:ext cx="4690872" cy="1624419"/>
          </a:xfrm>
          <a:prstGeom prst="rect">
            <a:avLst/>
          </a:prstGeom>
          <a:noFill/>
        </p:spPr>
        <p:txBody>
          <a:bodyPr wrap="square" lIns="0" tIns="0" rIns="0" bIns="0" anchor="t">
            <a:spAutoFit/>
          </a:bodyPr>
          <a:lstStyle/>
          <a:p>
            <a:pPr algn="l">
              <a:lnSpc>
                <a:spcPct val="112000"/>
              </a:lnSpc>
              <a:spcAft>
                <a:spcPts val="0"/>
              </a:spcAft>
            </a:pPr>
            <a:r>
              <a:rPr sz="2400" b="0" i="0">
                <a:solidFill>
                  <a:srgbClr val="222833"/>
                </a:solidFill>
                <a:latin typeface="微软雅黑"/>
              </a:rPr>
              <a:t>重点通过真实场景重建 + 逆蒸馏 + 强化学习微调，把现实演示转化为可扩展的仿真训练。教材指出其在动态干扰下平均成功率提高 67%。</a:t>
            </a:r>
          </a:p>
        </p:txBody>
      </p:sp>
      <p:sp>
        <p:nvSpPr>
          <p:cNvPr id="13" name="Rounded Rectangle 12"/>
          <p:cNvSpPr/>
          <p:nvPr/>
        </p:nvSpPr>
        <p:spPr>
          <a:xfrm>
            <a:off x="6291072" y="1737360"/>
            <a:ext cx="5074920" cy="3429000"/>
          </a:xfrm>
          <a:prstGeom prst="roundRect">
            <a:avLst>
              <a:gd name="adj" fmla="val 1408"/>
            </a:avLst>
          </a:prstGeom>
          <a:solidFill>
            <a:srgbClr val="FFFFFF"/>
          </a:solidFill>
          <a:ln w="10160">
            <a:solidFill>
              <a:srgbClr val="E0E5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6291072" y="1737360"/>
            <a:ext cx="64008" cy="3429000"/>
          </a:xfrm>
          <a:prstGeom prst="rect">
            <a:avLst/>
          </a:prstGeom>
          <a:solidFill>
            <a:srgbClr val="2F8E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6501384" y="1883664"/>
            <a:ext cx="4690872" cy="447430"/>
          </a:xfrm>
          <a:prstGeom prst="rect">
            <a:avLst/>
          </a:prstGeom>
          <a:noFill/>
        </p:spPr>
        <p:txBody>
          <a:bodyPr wrap="square" lIns="0" tIns="0" rIns="0" bIns="0" anchor="t">
            <a:spAutoFit/>
          </a:bodyPr>
          <a:lstStyle/>
          <a:p>
            <a:pPr algn="l">
              <a:lnSpc>
                <a:spcPct val="112000"/>
              </a:lnSpc>
              <a:spcAft>
                <a:spcPts val="0"/>
              </a:spcAft>
            </a:pPr>
            <a:r>
              <a:rPr sz="2800" b="1" i="0">
                <a:solidFill>
                  <a:srgbClr val="2F8E72"/>
                </a:solidFill>
                <a:latin typeface="微软雅黑"/>
              </a:rPr>
              <a:t>SimOpt</a:t>
            </a:r>
          </a:p>
        </p:txBody>
      </p:sp>
      <p:sp>
        <p:nvSpPr>
          <p:cNvPr id="16" name="TextBox 15"/>
          <p:cNvSpPr txBox="1"/>
          <p:nvPr/>
        </p:nvSpPr>
        <p:spPr>
          <a:xfrm>
            <a:off x="6501384" y="2423160"/>
            <a:ext cx="4690872" cy="1895134"/>
          </a:xfrm>
          <a:prstGeom prst="rect">
            <a:avLst/>
          </a:prstGeom>
          <a:noFill/>
        </p:spPr>
        <p:txBody>
          <a:bodyPr wrap="square" lIns="0" tIns="0" rIns="0" bIns="0" anchor="t">
            <a:spAutoFit/>
          </a:bodyPr>
          <a:lstStyle/>
          <a:p>
            <a:pPr algn="l">
              <a:lnSpc>
                <a:spcPct val="112000"/>
              </a:lnSpc>
              <a:spcAft>
                <a:spcPts val="0"/>
              </a:spcAft>
            </a:pPr>
            <a:r>
              <a:rPr sz="2800" b="0" i="0">
                <a:solidFill>
                  <a:srgbClr val="222833"/>
                </a:solidFill>
                <a:latin typeface="微软雅黑"/>
              </a:rPr>
              <a:t>重点通过真实策略行为与仿真行为的匹配，动态更新仿真参数分布，支持跨机器人平台的可靠迁移。</a:t>
            </a:r>
          </a:p>
        </p:txBody>
      </p:sp>
      <p:sp>
        <p:nvSpPr>
          <p:cNvPr id="17" name="TextBox 16"/>
          <p:cNvSpPr txBox="1"/>
          <p:nvPr/>
        </p:nvSpPr>
        <p:spPr>
          <a:xfrm>
            <a:off x="640080" y="5394960"/>
            <a:ext cx="10972800" cy="502920"/>
          </a:xfrm>
          <a:prstGeom prst="rect">
            <a:avLst/>
          </a:prstGeom>
          <a:noFill/>
        </p:spPr>
        <p:txBody>
          <a:bodyPr wrap="square" lIns="0" tIns="0" rIns="0" bIns="0" anchor="ctr">
            <a:spAutoFit/>
          </a:bodyPr>
          <a:lstStyle/>
          <a:p>
            <a:pPr algn="ctr">
              <a:lnSpc>
                <a:spcPct val="112000"/>
              </a:lnSpc>
              <a:spcAft>
                <a:spcPts val="0"/>
              </a:spcAft>
            </a:pPr>
            <a:r>
              <a:rPr sz="1950" b="1" i="0" dirty="0" err="1">
                <a:solidFill>
                  <a:srgbClr val="24477D"/>
                </a:solidFill>
                <a:latin typeface="微软雅黑"/>
              </a:rPr>
              <a:t>共同特点：少量真实数据不直接取代仿真，而是用来“纠正仿真</a:t>
            </a:r>
            <a:r>
              <a:rPr sz="1950" b="1" i="0" dirty="0">
                <a:solidFill>
                  <a:srgbClr val="24477D"/>
                </a:solidFill>
                <a:latin typeface="微软雅黑"/>
              </a:rPr>
              <a:t>”。</a:t>
            </a: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18872" cy="6858000"/>
          </a:xfrm>
          <a:prstGeom prst="rect">
            <a:avLst/>
          </a:prstGeom>
          <a:solidFill>
            <a:srgbClr val="3159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118872" y="0"/>
            <a:ext cx="41148" cy="6858000"/>
          </a:xfrm>
          <a:prstGeom prst="rect">
            <a:avLst/>
          </a:prstGeom>
          <a:solidFill>
            <a:srgbClr val="B7C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38912" y="137160"/>
            <a:ext cx="3474720" cy="164592"/>
          </a:xfrm>
          <a:prstGeom prst="rect">
            <a:avLst/>
          </a:prstGeom>
          <a:noFill/>
        </p:spPr>
        <p:txBody>
          <a:bodyPr wrap="square" lIns="0" tIns="0" rIns="0" bIns="0" anchor="t">
            <a:spAutoFit/>
          </a:bodyPr>
          <a:lstStyle/>
          <a:p>
            <a:pPr algn="l">
              <a:lnSpc>
                <a:spcPct val="112000"/>
              </a:lnSpc>
              <a:spcAft>
                <a:spcPts val="0"/>
              </a:spcAft>
            </a:pPr>
            <a:r>
              <a:rPr sz="1050" b="0" i="0">
                <a:solidFill>
                  <a:srgbClr val="8C98AA"/>
                </a:solidFill>
                <a:latin typeface="微软雅黑"/>
              </a:rPr>
              <a:t>具身智能导论 · 第 9 章</a:t>
            </a:r>
          </a:p>
        </p:txBody>
      </p:sp>
      <p:sp>
        <p:nvSpPr>
          <p:cNvPr id="5" name="TextBox 4"/>
          <p:cNvSpPr txBox="1"/>
          <p:nvPr/>
        </p:nvSpPr>
        <p:spPr>
          <a:xfrm>
            <a:off x="9144000" y="137160"/>
            <a:ext cx="2423160" cy="164592"/>
          </a:xfrm>
          <a:prstGeom prst="rect">
            <a:avLst/>
          </a:prstGeom>
          <a:noFill/>
        </p:spPr>
        <p:txBody>
          <a:bodyPr wrap="square" lIns="0" tIns="0" rIns="0" bIns="0" anchor="t">
            <a:spAutoFit/>
          </a:bodyPr>
          <a:lstStyle/>
          <a:p>
            <a:pPr algn="r">
              <a:lnSpc>
                <a:spcPct val="112000"/>
              </a:lnSpc>
              <a:spcAft>
                <a:spcPts val="0"/>
              </a:spcAft>
            </a:pPr>
            <a:r>
              <a:rPr sz="1050" b="0" i="0">
                <a:solidFill>
                  <a:srgbClr val="8C98AA"/>
                </a:solidFill>
                <a:latin typeface="微软雅黑"/>
              </a:rPr>
              <a:t>虚实迁移技术</a:t>
            </a:r>
          </a:p>
        </p:txBody>
      </p:sp>
      <p:sp>
        <p:nvSpPr>
          <p:cNvPr id="6" name="TextBox 5"/>
          <p:cNvSpPr txBox="1"/>
          <p:nvPr/>
        </p:nvSpPr>
        <p:spPr>
          <a:xfrm>
            <a:off x="502920" y="457200"/>
            <a:ext cx="10927080" cy="749808"/>
          </a:xfrm>
          <a:prstGeom prst="rect">
            <a:avLst/>
          </a:prstGeom>
          <a:noFill/>
        </p:spPr>
        <p:txBody>
          <a:bodyPr wrap="square" lIns="0" tIns="0" rIns="0" bIns="0" anchor="t">
            <a:spAutoFit/>
          </a:bodyPr>
          <a:lstStyle/>
          <a:p>
            <a:pPr algn="l">
              <a:lnSpc>
                <a:spcPct val="112000"/>
              </a:lnSpc>
              <a:spcAft>
                <a:spcPts val="0"/>
              </a:spcAft>
            </a:pPr>
            <a:r>
              <a:rPr sz="3500" b="1" i="0">
                <a:solidFill>
                  <a:srgbClr val="24477D"/>
                </a:solidFill>
                <a:latin typeface="微软雅黑"/>
              </a:rPr>
              <a:t>9.3.2 零样本与少样本迁移</a:t>
            </a:r>
          </a:p>
        </p:txBody>
      </p:sp>
      <p:sp>
        <p:nvSpPr>
          <p:cNvPr id="7" name="Rectangle 6"/>
          <p:cNvSpPr/>
          <p:nvPr/>
        </p:nvSpPr>
        <p:spPr>
          <a:xfrm>
            <a:off x="502920" y="1353312"/>
            <a:ext cx="11109960" cy="9144"/>
          </a:xfrm>
          <a:prstGeom prst="rect">
            <a:avLst/>
          </a:prstGeom>
          <a:solidFill>
            <a:srgbClr val="D8DE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1457432" y="6473952"/>
            <a:ext cx="347472" cy="164592"/>
          </a:xfrm>
          <a:prstGeom prst="rect">
            <a:avLst/>
          </a:prstGeom>
          <a:noFill/>
        </p:spPr>
        <p:txBody>
          <a:bodyPr wrap="square" lIns="0" tIns="0" rIns="0" bIns="0" anchor="t">
            <a:spAutoFit/>
          </a:bodyPr>
          <a:lstStyle/>
          <a:p>
            <a:pPr algn="r">
              <a:lnSpc>
                <a:spcPct val="112000"/>
              </a:lnSpc>
              <a:spcAft>
                <a:spcPts val="0"/>
              </a:spcAft>
            </a:pPr>
            <a:r>
              <a:rPr sz="1050" b="0" i="0">
                <a:solidFill>
                  <a:srgbClr val="8C98AA"/>
                </a:solidFill>
                <a:latin typeface="微软雅黑"/>
              </a:rPr>
              <a:t>67</a:t>
            </a:r>
          </a:p>
        </p:txBody>
      </p:sp>
      <p:sp>
        <p:nvSpPr>
          <p:cNvPr id="9" name="Rounded Rectangle 8"/>
          <p:cNvSpPr/>
          <p:nvPr/>
        </p:nvSpPr>
        <p:spPr>
          <a:xfrm>
            <a:off x="822960" y="1783080"/>
            <a:ext cx="5074920" cy="3337560"/>
          </a:xfrm>
          <a:prstGeom prst="roundRect">
            <a:avLst>
              <a:gd name="adj" fmla="val 0"/>
            </a:avLst>
          </a:prstGeom>
          <a:solidFill>
            <a:srgbClr val="FFFFFF"/>
          </a:solidFill>
          <a:ln w="10160">
            <a:solidFill>
              <a:srgbClr val="E0E5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822960" y="1783080"/>
            <a:ext cx="64008" cy="3337560"/>
          </a:xfrm>
          <a:prstGeom prst="rect">
            <a:avLst/>
          </a:prstGeom>
          <a:solidFill>
            <a:srgbClr val="3159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1033272" y="1929384"/>
            <a:ext cx="4690872" cy="347472"/>
          </a:xfrm>
          <a:prstGeom prst="rect">
            <a:avLst/>
          </a:prstGeom>
          <a:noFill/>
        </p:spPr>
        <p:txBody>
          <a:bodyPr wrap="square" lIns="0" tIns="0" rIns="0" bIns="0" anchor="t">
            <a:spAutoFit/>
          </a:bodyPr>
          <a:lstStyle/>
          <a:p>
            <a:pPr algn="l">
              <a:lnSpc>
                <a:spcPct val="112000"/>
              </a:lnSpc>
              <a:spcAft>
                <a:spcPts val="0"/>
              </a:spcAft>
            </a:pPr>
            <a:r>
              <a:rPr sz="2000" b="1" i="0">
                <a:solidFill>
                  <a:srgbClr val="31599B"/>
                </a:solidFill>
                <a:latin typeface="微软雅黑"/>
              </a:rPr>
              <a:t>零样本（Zero-Shot）</a:t>
            </a:r>
          </a:p>
        </p:txBody>
      </p:sp>
      <p:sp>
        <p:nvSpPr>
          <p:cNvPr id="12" name="TextBox 11"/>
          <p:cNvSpPr txBox="1"/>
          <p:nvPr/>
        </p:nvSpPr>
        <p:spPr>
          <a:xfrm>
            <a:off x="1033272" y="2468880"/>
            <a:ext cx="4690872" cy="2496312"/>
          </a:xfrm>
          <a:prstGeom prst="rect">
            <a:avLst/>
          </a:prstGeom>
          <a:noFill/>
        </p:spPr>
        <p:txBody>
          <a:bodyPr wrap="square" lIns="0" tIns="0" rIns="0" bIns="0" anchor="t">
            <a:spAutoFit/>
          </a:bodyPr>
          <a:lstStyle/>
          <a:p>
            <a:pPr algn="l">
              <a:lnSpc>
                <a:spcPct val="112000"/>
              </a:lnSpc>
              <a:spcAft>
                <a:spcPts val="0"/>
              </a:spcAft>
            </a:pPr>
            <a:r>
              <a:rPr sz="1800" b="0" i="0">
                <a:solidFill>
                  <a:srgbClr val="222833"/>
                </a:solidFill>
                <a:latin typeface="微软雅黑"/>
              </a:rPr>
              <a:t>完全依赖仿真中的充分随机化，使策略训练时覆盖现实可能出现的分布，不使用真实微调即可部署。</a:t>
            </a:r>
          </a:p>
        </p:txBody>
      </p:sp>
      <p:sp>
        <p:nvSpPr>
          <p:cNvPr id="13" name="Rounded Rectangle 12"/>
          <p:cNvSpPr/>
          <p:nvPr/>
        </p:nvSpPr>
        <p:spPr>
          <a:xfrm>
            <a:off x="6291072" y="1783080"/>
            <a:ext cx="5074920" cy="3337560"/>
          </a:xfrm>
          <a:prstGeom prst="roundRect">
            <a:avLst>
              <a:gd name="adj" fmla="val 2968"/>
            </a:avLst>
          </a:prstGeom>
          <a:solidFill>
            <a:srgbClr val="FFFFFF"/>
          </a:solidFill>
          <a:ln w="10160">
            <a:solidFill>
              <a:srgbClr val="E0E5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6291072" y="1783080"/>
            <a:ext cx="64008" cy="3337560"/>
          </a:xfrm>
          <a:prstGeom prst="rect">
            <a:avLst/>
          </a:prstGeom>
          <a:solidFill>
            <a:srgbClr val="2F8E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6501384" y="1929384"/>
            <a:ext cx="4690872" cy="347472"/>
          </a:xfrm>
          <a:prstGeom prst="rect">
            <a:avLst/>
          </a:prstGeom>
          <a:noFill/>
        </p:spPr>
        <p:txBody>
          <a:bodyPr wrap="square" lIns="0" tIns="0" rIns="0" bIns="0" anchor="t">
            <a:spAutoFit/>
          </a:bodyPr>
          <a:lstStyle/>
          <a:p>
            <a:pPr algn="l">
              <a:lnSpc>
                <a:spcPct val="112000"/>
              </a:lnSpc>
              <a:spcAft>
                <a:spcPts val="0"/>
              </a:spcAft>
            </a:pPr>
            <a:r>
              <a:rPr sz="2000" b="1" i="0">
                <a:solidFill>
                  <a:srgbClr val="2F8E72"/>
                </a:solidFill>
                <a:latin typeface="微软雅黑"/>
              </a:rPr>
              <a:t>少样本（Few-Shot）</a:t>
            </a:r>
          </a:p>
        </p:txBody>
      </p:sp>
      <p:sp>
        <p:nvSpPr>
          <p:cNvPr id="16" name="TextBox 15"/>
          <p:cNvSpPr txBox="1"/>
          <p:nvPr/>
        </p:nvSpPr>
        <p:spPr>
          <a:xfrm>
            <a:off x="6501384" y="2468880"/>
            <a:ext cx="4690872" cy="2496312"/>
          </a:xfrm>
          <a:prstGeom prst="rect">
            <a:avLst/>
          </a:prstGeom>
          <a:noFill/>
        </p:spPr>
        <p:txBody>
          <a:bodyPr wrap="square" lIns="0" tIns="0" rIns="0" bIns="0" anchor="t">
            <a:spAutoFit/>
          </a:bodyPr>
          <a:lstStyle/>
          <a:p>
            <a:pPr algn="l">
              <a:lnSpc>
                <a:spcPct val="112000"/>
              </a:lnSpc>
              <a:spcAft>
                <a:spcPts val="0"/>
              </a:spcAft>
            </a:pPr>
            <a:r>
              <a:rPr sz="1800" b="0" i="0">
                <a:solidFill>
                  <a:srgbClr val="222833"/>
                </a:solidFill>
                <a:latin typeface="微软雅黑"/>
              </a:rPr>
              <a:t>先在仿真中得到良好初始化，再用极少量现实交互进行快速适应，典型方法是 MAML。</a:t>
            </a: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18872" cy="6858000"/>
          </a:xfrm>
          <a:prstGeom prst="rect">
            <a:avLst/>
          </a:prstGeom>
          <a:solidFill>
            <a:srgbClr val="3159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118872" y="0"/>
            <a:ext cx="41148" cy="6858000"/>
          </a:xfrm>
          <a:prstGeom prst="rect">
            <a:avLst/>
          </a:prstGeom>
          <a:solidFill>
            <a:srgbClr val="B7C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38912" y="137160"/>
            <a:ext cx="3474720" cy="164592"/>
          </a:xfrm>
          <a:prstGeom prst="rect">
            <a:avLst/>
          </a:prstGeom>
          <a:noFill/>
        </p:spPr>
        <p:txBody>
          <a:bodyPr wrap="square" lIns="0" tIns="0" rIns="0" bIns="0" anchor="t">
            <a:spAutoFit/>
          </a:bodyPr>
          <a:lstStyle/>
          <a:p>
            <a:pPr algn="l">
              <a:lnSpc>
                <a:spcPct val="112000"/>
              </a:lnSpc>
              <a:spcAft>
                <a:spcPts val="0"/>
              </a:spcAft>
            </a:pPr>
            <a:r>
              <a:rPr sz="1050" b="0" i="0">
                <a:solidFill>
                  <a:srgbClr val="8C98AA"/>
                </a:solidFill>
                <a:latin typeface="微软雅黑"/>
              </a:rPr>
              <a:t>具身智能导论 · 第 9 章</a:t>
            </a:r>
          </a:p>
        </p:txBody>
      </p:sp>
      <p:sp>
        <p:nvSpPr>
          <p:cNvPr id="5" name="TextBox 4"/>
          <p:cNvSpPr txBox="1"/>
          <p:nvPr/>
        </p:nvSpPr>
        <p:spPr>
          <a:xfrm>
            <a:off x="9144000" y="137160"/>
            <a:ext cx="2423160" cy="164592"/>
          </a:xfrm>
          <a:prstGeom prst="rect">
            <a:avLst/>
          </a:prstGeom>
          <a:noFill/>
        </p:spPr>
        <p:txBody>
          <a:bodyPr wrap="square" lIns="0" tIns="0" rIns="0" bIns="0" anchor="t">
            <a:spAutoFit/>
          </a:bodyPr>
          <a:lstStyle/>
          <a:p>
            <a:pPr algn="r">
              <a:lnSpc>
                <a:spcPct val="112000"/>
              </a:lnSpc>
              <a:spcAft>
                <a:spcPts val="0"/>
              </a:spcAft>
            </a:pPr>
            <a:r>
              <a:rPr sz="1050" b="0" i="0">
                <a:solidFill>
                  <a:srgbClr val="8C98AA"/>
                </a:solidFill>
                <a:latin typeface="微软雅黑"/>
              </a:rPr>
              <a:t>虚实迁移技术</a:t>
            </a:r>
          </a:p>
        </p:txBody>
      </p:sp>
      <p:sp>
        <p:nvSpPr>
          <p:cNvPr id="6" name="TextBox 5"/>
          <p:cNvSpPr txBox="1"/>
          <p:nvPr/>
        </p:nvSpPr>
        <p:spPr>
          <a:xfrm>
            <a:off x="502920" y="457200"/>
            <a:ext cx="10927080" cy="749808"/>
          </a:xfrm>
          <a:prstGeom prst="rect">
            <a:avLst/>
          </a:prstGeom>
          <a:noFill/>
        </p:spPr>
        <p:txBody>
          <a:bodyPr wrap="square" lIns="0" tIns="0" rIns="0" bIns="0" anchor="t">
            <a:spAutoFit/>
          </a:bodyPr>
          <a:lstStyle/>
          <a:p>
            <a:pPr algn="l">
              <a:lnSpc>
                <a:spcPct val="112000"/>
              </a:lnSpc>
              <a:spcAft>
                <a:spcPts val="0"/>
              </a:spcAft>
            </a:pPr>
            <a:r>
              <a:rPr sz="3500" b="1" i="0">
                <a:solidFill>
                  <a:srgbClr val="24477D"/>
                </a:solidFill>
                <a:latin typeface="微软雅黑"/>
              </a:rPr>
              <a:t>零样本迁移：用“充分覆盖”换取零真实微调</a:t>
            </a:r>
          </a:p>
        </p:txBody>
      </p:sp>
      <p:sp>
        <p:nvSpPr>
          <p:cNvPr id="7" name="Rectangle 6"/>
          <p:cNvSpPr/>
          <p:nvPr/>
        </p:nvSpPr>
        <p:spPr>
          <a:xfrm>
            <a:off x="502920" y="1353312"/>
            <a:ext cx="11109960" cy="9144"/>
          </a:xfrm>
          <a:prstGeom prst="rect">
            <a:avLst/>
          </a:prstGeom>
          <a:solidFill>
            <a:srgbClr val="D8DE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1457432" y="6473952"/>
            <a:ext cx="347472" cy="164592"/>
          </a:xfrm>
          <a:prstGeom prst="rect">
            <a:avLst/>
          </a:prstGeom>
          <a:noFill/>
        </p:spPr>
        <p:txBody>
          <a:bodyPr wrap="square" lIns="0" tIns="0" rIns="0" bIns="0" anchor="t">
            <a:spAutoFit/>
          </a:bodyPr>
          <a:lstStyle/>
          <a:p>
            <a:pPr algn="r">
              <a:lnSpc>
                <a:spcPct val="112000"/>
              </a:lnSpc>
              <a:spcAft>
                <a:spcPts val="0"/>
              </a:spcAft>
            </a:pPr>
            <a:r>
              <a:rPr sz="1050" b="0" i="0">
                <a:solidFill>
                  <a:srgbClr val="8C98AA"/>
                </a:solidFill>
                <a:latin typeface="微软雅黑"/>
              </a:rPr>
              <a:t>68</a:t>
            </a:r>
          </a:p>
        </p:txBody>
      </p:sp>
      <p:sp>
        <p:nvSpPr>
          <p:cNvPr id="9" name="TextBox 8"/>
          <p:cNvSpPr txBox="1"/>
          <p:nvPr/>
        </p:nvSpPr>
        <p:spPr>
          <a:xfrm>
            <a:off x="749808" y="1691640"/>
            <a:ext cx="10378440" cy="2880360"/>
          </a:xfrm>
          <a:prstGeom prst="rect">
            <a:avLst/>
          </a:prstGeom>
          <a:noFill/>
        </p:spPr>
        <p:txBody>
          <a:bodyPr wrap="square" lIns="0" tIns="0" rIns="0" bIns="0">
            <a:spAutoFit/>
          </a:bodyPr>
          <a:lstStyle/>
          <a:p>
            <a:pPr>
              <a:lnSpc>
                <a:spcPct val="112000"/>
              </a:lnSpc>
              <a:spcAft>
                <a:spcPts val="700"/>
              </a:spcAft>
            </a:pPr>
            <a:r>
              <a:rPr sz="2150" b="0">
                <a:solidFill>
                  <a:srgbClr val="222833"/>
                </a:solidFill>
                <a:latin typeface="微软雅黑"/>
              </a:rPr>
              <a:t>• </a:t>
            </a:r>
            <a:r>
              <a:rPr sz="2150">
                <a:solidFill>
                  <a:srgbClr val="222833"/>
                </a:solidFill>
                <a:latin typeface="微软雅黑"/>
              </a:rPr>
              <a:t>训练时重度随机化质量、摩擦、光照、噪声等条件。</a:t>
            </a:r>
          </a:p>
          <a:p>
            <a:pPr>
              <a:lnSpc>
                <a:spcPct val="112000"/>
              </a:lnSpc>
              <a:spcAft>
                <a:spcPts val="700"/>
              </a:spcAft>
            </a:pPr>
            <a:r>
              <a:rPr sz="2150" b="0">
                <a:solidFill>
                  <a:srgbClr val="222833"/>
                </a:solidFill>
                <a:latin typeface="微软雅黑"/>
              </a:rPr>
              <a:t>• </a:t>
            </a:r>
            <a:r>
              <a:rPr sz="2150">
                <a:solidFill>
                  <a:srgbClr val="222833"/>
                </a:solidFill>
                <a:latin typeface="微软雅黑"/>
              </a:rPr>
              <a:t>期望真实环境落在训练分布覆盖范围内。</a:t>
            </a:r>
          </a:p>
          <a:p>
            <a:pPr>
              <a:lnSpc>
                <a:spcPct val="112000"/>
              </a:lnSpc>
              <a:spcAft>
                <a:spcPts val="700"/>
              </a:spcAft>
            </a:pPr>
            <a:r>
              <a:rPr sz="2150" b="0">
                <a:solidFill>
                  <a:srgbClr val="222833"/>
                </a:solidFill>
                <a:latin typeface="微软雅黑"/>
              </a:rPr>
              <a:t>• </a:t>
            </a:r>
            <a:r>
              <a:rPr sz="2150">
                <a:solidFill>
                  <a:srgbClr val="222833"/>
                </a:solidFill>
                <a:latin typeface="微软雅黑"/>
              </a:rPr>
              <a:t>优点是部署快速、硬件风险低；局限是高度依赖仿真保真度和随机化覆盖质量。</a:t>
            </a:r>
          </a:p>
        </p:txBody>
      </p:sp>
      <p:sp>
        <p:nvSpPr>
          <p:cNvPr id="10" name="TextBox 9"/>
          <p:cNvSpPr txBox="1"/>
          <p:nvPr/>
        </p:nvSpPr>
        <p:spPr>
          <a:xfrm>
            <a:off x="640080" y="5166360"/>
            <a:ext cx="10972800" cy="502920"/>
          </a:xfrm>
          <a:prstGeom prst="rect">
            <a:avLst/>
          </a:prstGeom>
          <a:noFill/>
        </p:spPr>
        <p:txBody>
          <a:bodyPr wrap="square" lIns="0" tIns="0" rIns="0" bIns="0" anchor="ctr">
            <a:spAutoFit/>
          </a:bodyPr>
          <a:lstStyle/>
          <a:p>
            <a:pPr algn="ctr">
              <a:lnSpc>
                <a:spcPct val="112000"/>
              </a:lnSpc>
              <a:spcAft>
                <a:spcPts val="0"/>
              </a:spcAft>
            </a:pPr>
            <a:r>
              <a:rPr sz="1900" b="1" i="0">
                <a:solidFill>
                  <a:srgbClr val="24477D"/>
                </a:solidFill>
                <a:latin typeface="微软雅黑"/>
              </a:rPr>
              <a:t>零样本并不意味着“没有域差距”，而是让策略在训练阶段提前学会容忍域差距。</a:t>
            </a: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18872" cy="6858000"/>
          </a:xfrm>
          <a:prstGeom prst="rect">
            <a:avLst/>
          </a:prstGeom>
          <a:solidFill>
            <a:srgbClr val="3159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118872" y="0"/>
            <a:ext cx="41148" cy="6858000"/>
          </a:xfrm>
          <a:prstGeom prst="rect">
            <a:avLst/>
          </a:prstGeom>
          <a:solidFill>
            <a:srgbClr val="B7C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38912" y="137160"/>
            <a:ext cx="3474720" cy="164592"/>
          </a:xfrm>
          <a:prstGeom prst="rect">
            <a:avLst/>
          </a:prstGeom>
          <a:noFill/>
        </p:spPr>
        <p:txBody>
          <a:bodyPr wrap="square" lIns="0" tIns="0" rIns="0" bIns="0" anchor="t">
            <a:spAutoFit/>
          </a:bodyPr>
          <a:lstStyle/>
          <a:p>
            <a:pPr algn="l">
              <a:lnSpc>
                <a:spcPct val="112000"/>
              </a:lnSpc>
              <a:spcAft>
                <a:spcPts val="0"/>
              </a:spcAft>
            </a:pPr>
            <a:r>
              <a:rPr sz="1050" b="0" i="0">
                <a:solidFill>
                  <a:srgbClr val="8C98AA"/>
                </a:solidFill>
                <a:latin typeface="微软雅黑"/>
              </a:rPr>
              <a:t>具身智能导论 · 第 9 章</a:t>
            </a:r>
          </a:p>
        </p:txBody>
      </p:sp>
      <p:sp>
        <p:nvSpPr>
          <p:cNvPr id="5" name="TextBox 4"/>
          <p:cNvSpPr txBox="1"/>
          <p:nvPr/>
        </p:nvSpPr>
        <p:spPr>
          <a:xfrm>
            <a:off x="9144000" y="137160"/>
            <a:ext cx="2423160" cy="164592"/>
          </a:xfrm>
          <a:prstGeom prst="rect">
            <a:avLst/>
          </a:prstGeom>
          <a:noFill/>
        </p:spPr>
        <p:txBody>
          <a:bodyPr wrap="square" lIns="0" tIns="0" rIns="0" bIns="0" anchor="t">
            <a:spAutoFit/>
          </a:bodyPr>
          <a:lstStyle/>
          <a:p>
            <a:pPr algn="r">
              <a:lnSpc>
                <a:spcPct val="112000"/>
              </a:lnSpc>
              <a:spcAft>
                <a:spcPts val="0"/>
              </a:spcAft>
            </a:pPr>
            <a:r>
              <a:rPr sz="1050" b="0" i="0">
                <a:solidFill>
                  <a:srgbClr val="8C98AA"/>
                </a:solidFill>
                <a:latin typeface="微软雅黑"/>
              </a:rPr>
              <a:t>虚实迁移技术</a:t>
            </a:r>
          </a:p>
        </p:txBody>
      </p:sp>
      <p:sp>
        <p:nvSpPr>
          <p:cNvPr id="6" name="TextBox 5"/>
          <p:cNvSpPr txBox="1"/>
          <p:nvPr/>
        </p:nvSpPr>
        <p:spPr>
          <a:xfrm>
            <a:off x="502920" y="457200"/>
            <a:ext cx="10927080" cy="749808"/>
          </a:xfrm>
          <a:prstGeom prst="rect">
            <a:avLst/>
          </a:prstGeom>
          <a:noFill/>
        </p:spPr>
        <p:txBody>
          <a:bodyPr wrap="square" lIns="0" tIns="0" rIns="0" bIns="0" anchor="t">
            <a:spAutoFit/>
          </a:bodyPr>
          <a:lstStyle/>
          <a:p>
            <a:pPr algn="l">
              <a:lnSpc>
                <a:spcPct val="112000"/>
              </a:lnSpc>
              <a:spcAft>
                <a:spcPts val="0"/>
              </a:spcAft>
            </a:pPr>
            <a:r>
              <a:rPr sz="3500" b="1" i="0" dirty="0" err="1">
                <a:solidFill>
                  <a:srgbClr val="24477D"/>
                </a:solidFill>
                <a:latin typeface="微软雅黑"/>
              </a:rPr>
              <a:t>少样本迁移：用少量现实数据做快速内层适应</a:t>
            </a:r>
            <a:endParaRPr sz="3500" b="1" i="0" dirty="0">
              <a:solidFill>
                <a:srgbClr val="24477D"/>
              </a:solidFill>
              <a:latin typeface="微软雅黑"/>
            </a:endParaRPr>
          </a:p>
        </p:txBody>
      </p:sp>
      <p:sp>
        <p:nvSpPr>
          <p:cNvPr id="7" name="Rectangle 6"/>
          <p:cNvSpPr/>
          <p:nvPr/>
        </p:nvSpPr>
        <p:spPr>
          <a:xfrm>
            <a:off x="502920" y="1353312"/>
            <a:ext cx="11109960" cy="9144"/>
          </a:xfrm>
          <a:prstGeom prst="rect">
            <a:avLst/>
          </a:prstGeom>
          <a:solidFill>
            <a:srgbClr val="D8DE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1457432" y="6473952"/>
            <a:ext cx="347472" cy="164592"/>
          </a:xfrm>
          <a:prstGeom prst="rect">
            <a:avLst/>
          </a:prstGeom>
          <a:noFill/>
        </p:spPr>
        <p:txBody>
          <a:bodyPr wrap="square" lIns="0" tIns="0" rIns="0" bIns="0" anchor="t">
            <a:spAutoFit/>
          </a:bodyPr>
          <a:lstStyle/>
          <a:p>
            <a:pPr algn="r">
              <a:lnSpc>
                <a:spcPct val="112000"/>
              </a:lnSpc>
              <a:spcAft>
                <a:spcPts val="0"/>
              </a:spcAft>
            </a:pPr>
            <a:r>
              <a:rPr sz="1050" b="0" i="0">
                <a:solidFill>
                  <a:srgbClr val="8C98AA"/>
                </a:solidFill>
                <a:latin typeface="微软雅黑"/>
              </a:rPr>
              <a:t>69</a:t>
            </a:r>
          </a:p>
        </p:txBody>
      </p:sp>
      <p:sp>
        <p:nvSpPr>
          <p:cNvPr id="9" name="Rounded Rectangle 8"/>
          <p:cNvSpPr/>
          <p:nvPr/>
        </p:nvSpPr>
        <p:spPr>
          <a:xfrm>
            <a:off x="777240" y="2828544"/>
            <a:ext cx="10561320" cy="2849880"/>
          </a:xfrm>
          <a:prstGeom prst="roundRect">
            <a:avLst/>
          </a:prstGeom>
          <a:solidFill>
            <a:srgbClr val="FFFFFF"/>
          </a:solidFill>
          <a:ln w="10160">
            <a:solidFill>
              <a:srgbClr val="E0E5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0" name="Picture 9" descr="eq9_9.png"/>
          <p:cNvPicPr>
            <a:picLocks noChangeAspect="1"/>
          </p:cNvPicPr>
          <p:nvPr/>
        </p:nvPicPr>
        <p:blipFill>
          <a:blip r:embed="rId2"/>
          <a:stretch>
            <a:fillRect/>
          </a:stretch>
        </p:blipFill>
        <p:spPr>
          <a:xfrm>
            <a:off x="1143000" y="3211721"/>
            <a:ext cx="9052560" cy="910045"/>
          </a:xfrm>
          <a:prstGeom prst="rect">
            <a:avLst/>
          </a:prstGeom>
        </p:spPr>
      </p:pic>
      <p:sp>
        <p:nvSpPr>
          <p:cNvPr id="12" name="TextBox 11"/>
          <p:cNvSpPr txBox="1"/>
          <p:nvPr/>
        </p:nvSpPr>
        <p:spPr>
          <a:xfrm>
            <a:off x="1028700" y="4714239"/>
            <a:ext cx="9875520" cy="319575"/>
          </a:xfrm>
          <a:prstGeom prst="rect">
            <a:avLst/>
          </a:prstGeom>
          <a:noFill/>
        </p:spPr>
        <p:txBody>
          <a:bodyPr wrap="square" lIns="0" tIns="0" rIns="0" bIns="0" anchor="t">
            <a:spAutoFit/>
          </a:bodyPr>
          <a:lstStyle/>
          <a:p>
            <a:pPr algn="ctr">
              <a:lnSpc>
                <a:spcPct val="112000"/>
              </a:lnSpc>
              <a:spcAft>
                <a:spcPts val="0"/>
              </a:spcAft>
            </a:pPr>
            <a:r>
              <a:rPr sz="2000" b="0" i="0" dirty="0" err="1">
                <a:solidFill>
                  <a:srgbClr val="222833"/>
                </a:solidFill>
                <a:latin typeface="微软雅黑"/>
              </a:rPr>
              <a:t>D</a:t>
            </a:r>
            <a:r>
              <a:rPr sz="2000" b="0" i="0" baseline="-25000" dirty="0" err="1">
                <a:solidFill>
                  <a:srgbClr val="222833"/>
                </a:solidFill>
                <a:latin typeface="微软雅黑"/>
              </a:rPr>
              <a:t>real</a:t>
            </a:r>
            <a:r>
              <a:rPr sz="2000" b="0" i="0" dirty="0">
                <a:solidFill>
                  <a:srgbClr val="222833"/>
                </a:solidFill>
                <a:latin typeface="微软雅黑"/>
              </a:rPr>
              <a:t> </a:t>
            </a:r>
            <a:r>
              <a:rPr sz="2000" b="0" i="0" dirty="0" err="1">
                <a:solidFill>
                  <a:srgbClr val="222833"/>
                </a:solidFill>
                <a:latin typeface="微软雅黑"/>
              </a:rPr>
              <a:t>为少量现实数据；在良好元初始化</a:t>
            </a:r>
            <a:r>
              <a:rPr sz="2000" b="0" i="0" dirty="0">
                <a:solidFill>
                  <a:srgbClr val="222833"/>
                </a:solidFill>
                <a:latin typeface="微软雅黑"/>
              </a:rPr>
              <a:t> θ </a:t>
            </a:r>
            <a:r>
              <a:rPr sz="2000" b="0" i="0" dirty="0" err="1">
                <a:solidFill>
                  <a:srgbClr val="222833"/>
                </a:solidFill>
                <a:latin typeface="微软雅黑"/>
              </a:rPr>
              <a:t>上做极少更新即可得到适配参数</a:t>
            </a:r>
            <a:r>
              <a:rPr sz="2000" b="0" i="0" dirty="0">
                <a:solidFill>
                  <a:srgbClr val="222833"/>
                </a:solidFill>
                <a:latin typeface="微软雅黑"/>
              </a:rPr>
              <a:t> θ′。</a:t>
            </a: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18872" cy="6858000"/>
          </a:xfrm>
          <a:prstGeom prst="rect">
            <a:avLst/>
          </a:prstGeom>
          <a:solidFill>
            <a:srgbClr val="3159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118872" y="0"/>
            <a:ext cx="41148" cy="6858000"/>
          </a:xfrm>
          <a:prstGeom prst="rect">
            <a:avLst/>
          </a:prstGeom>
          <a:solidFill>
            <a:srgbClr val="B7C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38912" y="137160"/>
            <a:ext cx="3474720" cy="164592"/>
          </a:xfrm>
          <a:prstGeom prst="rect">
            <a:avLst/>
          </a:prstGeom>
          <a:noFill/>
        </p:spPr>
        <p:txBody>
          <a:bodyPr wrap="square" lIns="0" tIns="0" rIns="0" bIns="0" anchor="t">
            <a:spAutoFit/>
          </a:bodyPr>
          <a:lstStyle/>
          <a:p>
            <a:pPr algn="l">
              <a:lnSpc>
                <a:spcPct val="112000"/>
              </a:lnSpc>
              <a:spcAft>
                <a:spcPts val="0"/>
              </a:spcAft>
            </a:pPr>
            <a:r>
              <a:rPr sz="1050" b="0" i="0">
                <a:solidFill>
                  <a:srgbClr val="8C98AA"/>
                </a:solidFill>
                <a:latin typeface="微软雅黑"/>
              </a:rPr>
              <a:t>具身智能导论 · 第 9 章</a:t>
            </a:r>
          </a:p>
        </p:txBody>
      </p:sp>
      <p:sp>
        <p:nvSpPr>
          <p:cNvPr id="5" name="TextBox 4"/>
          <p:cNvSpPr txBox="1"/>
          <p:nvPr/>
        </p:nvSpPr>
        <p:spPr>
          <a:xfrm>
            <a:off x="9144000" y="137160"/>
            <a:ext cx="2423160" cy="164592"/>
          </a:xfrm>
          <a:prstGeom prst="rect">
            <a:avLst/>
          </a:prstGeom>
          <a:noFill/>
        </p:spPr>
        <p:txBody>
          <a:bodyPr wrap="square" lIns="0" tIns="0" rIns="0" bIns="0" anchor="t">
            <a:spAutoFit/>
          </a:bodyPr>
          <a:lstStyle/>
          <a:p>
            <a:pPr algn="r">
              <a:lnSpc>
                <a:spcPct val="112000"/>
              </a:lnSpc>
              <a:spcAft>
                <a:spcPts val="0"/>
              </a:spcAft>
            </a:pPr>
            <a:r>
              <a:rPr sz="1050" b="0" i="0">
                <a:solidFill>
                  <a:srgbClr val="8C98AA"/>
                </a:solidFill>
                <a:latin typeface="微软雅黑"/>
              </a:rPr>
              <a:t>虚实迁移技术</a:t>
            </a:r>
          </a:p>
        </p:txBody>
      </p:sp>
      <p:sp>
        <p:nvSpPr>
          <p:cNvPr id="6" name="TextBox 5"/>
          <p:cNvSpPr txBox="1"/>
          <p:nvPr/>
        </p:nvSpPr>
        <p:spPr>
          <a:xfrm>
            <a:off x="502920" y="457200"/>
            <a:ext cx="10927080" cy="749808"/>
          </a:xfrm>
          <a:prstGeom prst="rect">
            <a:avLst/>
          </a:prstGeom>
          <a:noFill/>
        </p:spPr>
        <p:txBody>
          <a:bodyPr wrap="square" lIns="0" tIns="0" rIns="0" bIns="0" anchor="t">
            <a:spAutoFit/>
          </a:bodyPr>
          <a:lstStyle/>
          <a:p>
            <a:pPr algn="l">
              <a:lnSpc>
                <a:spcPct val="112000"/>
              </a:lnSpc>
              <a:spcAft>
                <a:spcPts val="0"/>
              </a:spcAft>
            </a:pPr>
            <a:r>
              <a:rPr sz="3500" b="1" i="0">
                <a:solidFill>
                  <a:srgbClr val="24477D"/>
                </a:solidFill>
                <a:latin typeface="微软雅黑"/>
              </a:rPr>
              <a:t>XHand：触觉与执行器随机化实现零样本虚实迁移</a:t>
            </a:r>
          </a:p>
        </p:txBody>
      </p:sp>
      <p:sp>
        <p:nvSpPr>
          <p:cNvPr id="7" name="Rectangle 6"/>
          <p:cNvSpPr/>
          <p:nvPr/>
        </p:nvSpPr>
        <p:spPr>
          <a:xfrm>
            <a:off x="502920" y="1353312"/>
            <a:ext cx="11109960" cy="9144"/>
          </a:xfrm>
          <a:prstGeom prst="rect">
            <a:avLst/>
          </a:prstGeom>
          <a:solidFill>
            <a:srgbClr val="D8DE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1457432" y="6473952"/>
            <a:ext cx="347472" cy="164592"/>
          </a:xfrm>
          <a:prstGeom prst="rect">
            <a:avLst/>
          </a:prstGeom>
          <a:noFill/>
        </p:spPr>
        <p:txBody>
          <a:bodyPr wrap="square" lIns="0" tIns="0" rIns="0" bIns="0" anchor="t">
            <a:spAutoFit/>
          </a:bodyPr>
          <a:lstStyle/>
          <a:p>
            <a:pPr algn="r">
              <a:lnSpc>
                <a:spcPct val="112000"/>
              </a:lnSpc>
              <a:spcAft>
                <a:spcPts val="0"/>
              </a:spcAft>
            </a:pPr>
            <a:r>
              <a:rPr sz="1050" b="0" i="0">
                <a:solidFill>
                  <a:srgbClr val="8C98AA"/>
                </a:solidFill>
                <a:latin typeface="微软雅黑"/>
              </a:rPr>
              <a:t>70</a:t>
            </a:r>
          </a:p>
        </p:txBody>
      </p:sp>
      <p:sp>
        <p:nvSpPr>
          <p:cNvPr id="9" name="TextBox 8"/>
          <p:cNvSpPr txBox="1"/>
          <p:nvPr/>
        </p:nvSpPr>
        <p:spPr>
          <a:xfrm>
            <a:off x="749808" y="1664208"/>
            <a:ext cx="10332720" cy="1803955"/>
          </a:xfrm>
          <a:prstGeom prst="rect">
            <a:avLst/>
          </a:prstGeom>
          <a:noFill/>
        </p:spPr>
        <p:txBody>
          <a:bodyPr wrap="square" lIns="0" tIns="0" rIns="0" bIns="0">
            <a:spAutoFit/>
          </a:bodyPr>
          <a:lstStyle/>
          <a:p>
            <a:pPr>
              <a:lnSpc>
                <a:spcPct val="112000"/>
              </a:lnSpc>
              <a:spcAft>
                <a:spcPts val="700"/>
              </a:spcAft>
            </a:pPr>
            <a:r>
              <a:rPr sz="2400" b="0" dirty="0">
                <a:solidFill>
                  <a:srgbClr val="222833"/>
                </a:solidFill>
                <a:latin typeface="微软雅黑"/>
              </a:rPr>
              <a:t>• </a:t>
            </a:r>
            <a:r>
              <a:rPr sz="2400" dirty="0" err="1">
                <a:solidFill>
                  <a:srgbClr val="222833"/>
                </a:solidFill>
                <a:latin typeface="微软雅黑"/>
              </a:rPr>
              <a:t>使用</a:t>
            </a:r>
            <a:r>
              <a:rPr sz="2400" dirty="0">
                <a:solidFill>
                  <a:srgbClr val="222833"/>
                </a:solidFill>
                <a:latin typeface="微软雅黑"/>
              </a:rPr>
              <a:t> 12-DoF </a:t>
            </a:r>
            <a:r>
              <a:rPr sz="2400" dirty="0" err="1">
                <a:solidFill>
                  <a:srgbClr val="222833"/>
                </a:solidFill>
                <a:latin typeface="微软雅黑"/>
              </a:rPr>
              <a:t>灵巧手（XHand）执行手内物体旋转和力自适应抓取</a:t>
            </a:r>
            <a:r>
              <a:rPr sz="2400" dirty="0">
                <a:solidFill>
                  <a:srgbClr val="222833"/>
                </a:solidFill>
                <a:latin typeface="微软雅黑"/>
              </a:rPr>
              <a:t>。</a:t>
            </a:r>
          </a:p>
          <a:p>
            <a:pPr>
              <a:lnSpc>
                <a:spcPct val="112000"/>
              </a:lnSpc>
              <a:spcAft>
                <a:spcPts val="700"/>
              </a:spcAft>
            </a:pPr>
            <a:r>
              <a:rPr sz="2400" b="0" dirty="0">
                <a:solidFill>
                  <a:srgbClr val="222833"/>
                </a:solidFill>
                <a:latin typeface="微软雅黑"/>
              </a:rPr>
              <a:t>• </a:t>
            </a:r>
            <a:r>
              <a:rPr sz="2400" dirty="0" err="1">
                <a:solidFill>
                  <a:srgbClr val="222833"/>
                </a:solidFill>
                <a:latin typeface="微软雅黑"/>
              </a:rPr>
              <a:t>对扭矩、摩擦、间隙等执行器动态进行重度域随机化</a:t>
            </a:r>
            <a:r>
              <a:rPr sz="2400" dirty="0">
                <a:solidFill>
                  <a:srgbClr val="222833"/>
                </a:solidFill>
                <a:latin typeface="微软雅黑"/>
              </a:rPr>
              <a:t>。</a:t>
            </a:r>
          </a:p>
          <a:p>
            <a:pPr>
              <a:lnSpc>
                <a:spcPct val="112000"/>
              </a:lnSpc>
              <a:spcAft>
                <a:spcPts val="700"/>
              </a:spcAft>
            </a:pPr>
            <a:r>
              <a:rPr sz="2400" b="0" dirty="0">
                <a:solidFill>
                  <a:srgbClr val="222833"/>
                </a:solidFill>
                <a:latin typeface="微软雅黑"/>
              </a:rPr>
              <a:t>• </a:t>
            </a:r>
            <a:r>
              <a:rPr sz="2400" dirty="0" err="1">
                <a:solidFill>
                  <a:srgbClr val="222833"/>
                </a:solidFill>
                <a:latin typeface="微软雅黑"/>
              </a:rPr>
              <a:t>结合密集触觉仿真与关节扭矩传感，实现手内物体重定向和可控抓取力的零样本迁移</a:t>
            </a:r>
            <a:r>
              <a:rPr sz="2400" dirty="0">
                <a:solidFill>
                  <a:srgbClr val="222833"/>
                </a:solidFill>
                <a:latin typeface="微软雅黑"/>
              </a:rPr>
              <a:t>。</a:t>
            </a:r>
          </a:p>
        </p:txBody>
      </p:sp>
      <p:sp>
        <p:nvSpPr>
          <p:cNvPr id="10" name="TextBox 9"/>
          <p:cNvSpPr txBox="1"/>
          <p:nvPr/>
        </p:nvSpPr>
        <p:spPr>
          <a:xfrm>
            <a:off x="640080" y="5166360"/>
            <a:ext cx="10972800" cy="502920"/>
          </a:xfrm>
          <a:prstGeom prst="rect">
            <a:avLst/>
          </a:prstGeom>
          <a:noFill/>
        </p:spPr>
        <p:txBody>
          <a:bodyPr wrap="square" lIns="0" tIns="0" rIns="0" bIns="0" anchor="ctr">
            <a:spAutoFit/>
          </a:bodyPr>
          <a:lstStyle/>
          <a:p>
            <a:pPr algn="ctr">
              <a:lnSpc>
                <a:spcPct val="112000"/>
              </a:lnSpc>
              <a:spcAft>
                <a:spcPts val="0"/>
              </a:spcAft>
            </a:pPr>
            <a:r>
              <a:rPr sz="1880" b="1" i="0">
                <a:solidFill>
                  <a:srgbClr val="24477D"/>
                </a:solidFill>
                <a:latin typeface="微软雅黑"/>
              </a:rPr>
              <a:t>接触密集任务的零样本迁移，需要同时覆盖“视觉差距、动力学差距、触觉差距”。</a:t>
            </a:r>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18872" cy="6858000"/>
          </a:xfrm>
          <a:prstGeom prst="rect">
            <a:avLst/>
          </a:prstGeom>
          <a:solidFill>
            <a:srgbClr val="3159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118872" y="0"/>
            <a:ext cx="41148" cy="6858000"/>
          </a:xfrm>
          <a:prstGeom prst="rect">
            <a:avLst/>
          </a:prstGeom>
          <a:solidFill>
            <a:srgbClr val="B7C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38912" y="137160"/>
            <a:ext cx="3474720" cy="164592"/>
          </a:xfrm>
          <a:prstGeom prst="rect">
            <a:avLst/>
          </a:prstGeom>
          <a:noFill/>
        </p:spPr>
        <p:txBody>
          <a:bodyPr wrap="square" lIns="0" tIns="0" rIns="0" bIns="0" anchor="t">
            <a:spAutoFit/>
          </a:bodyPr>
          <a:lstStyle/>
          <a:p>
            <a:pPr algn="l">
              <a:lnSpc>
                <a:spcPct val="112000"/>
              </a:lnSpc>
              <a:spcAft>
                <a:spcPts val="0"/>
              </a:spcAft>
            </a:pPr>
            <a:r>
              <a:rPr sz="1050" b="0" i="0">
                <a:solidFill>
                  <a:srgbClr val="8C98AA"/>
                </a:solidFill>
                <a:latin typeface="微软雅黑"/>
              </a:rPr>
              <a:t>具身智能导论 · 第 9 章</a:t>
            </a:r>
          </a:p>
        </p:txBody>
      </p:sp>
      <p:sp>
        <p:nvSpPr>
          <p:cNvPr id="5" name="TextBox 4"/>
          <p:cNvSpPr txBox="1"/>
          <p:nvPr/>
        </p:nvSpPr>
        <p:spPr>
          <a:xfrm>
            <a:off x="9144000" y="137160"/>
            <a:ext cx="2423160" cy="164592"/>
          </a:xfrm>
          <a:prstGeom prst="rect">
            <a:avLst/>
          </a:prstGeom>
          <a:noFill/>
        </p:spPr>
        <p:txBody>
          <a:bodyPr wrap="square" lIns="0" tIns="0" rIns="0" bIns="0" anchor="t">
            <a:spAutoFit/>
          </a:bodyPr>
          <a:lstStyle/>
          <a:p>
            <a:pPr algn="r">
              <a:lnSpc>
                <a:spcPct val="112000"/>
              </a:lnSpc>
              <a:spcAft>
                <a:spcPts val="0"/>
              </a:spcAft>
            </a:pPr>
            <a:r>
              <a:rPr sz="1050" b="0" i="0">
                <a:solidFill>
                  <a:srgbClr val="8C98AA"/>
                </a:solidFill>
                <a:latin typeface="微软雅黑"/>
              </a:rPr>
              <a:t>虚实迁移技术</a:t>
            </a:r>
          </a:p>
        </p:txBody>
      </p:sp>
      <p:sp>
        <p:nvSpPr>
          <p:cNvPr id="6" name="TextBox 5"/>
          <p:cNvSpPr txBox="1"/>
          <p:nvPr/>
        </p:nvSpPr>
        <p:spPr>
          <a:xfrm>
            <a:off x="502920" y="457200"/>
            <a:ext cx="10927080" cy="749808"/>
          </a:xfrm>
          <a:prstGeom prst="rect">
            <a:avLst/>
          </a:prstGeom>
          <a:noFill/>
        </p:spPr>
        <p:txBody>
          <a:bodyPr wrap="square" lIns="0" tIns="0" rIns="0" bIns="0" anchor="t">
            <a:spAutoFit/>
          </a:bodyPr>
          <a:lstStyle/>
          <a:p>
            <a:pPr algn="l">
              <a:lnSpc>
                <a:spcPct val="112000"/>
              </a:lnSpc>
              <a:spcAft>
                <a:spcPts val="0"/>
              </a:spcAft>
            </a:pPr>
            <a:r>
              <a:rPr sz="3500" b="1" i="0">
                <a:solidFill>
                  <a:srgbClr val="24477D"/>
                </a:solidFill>
                <a:latin typeface="微软雅黑"/>
              </a:rPr>
              <a:t>灵巧手的虚实迁移过程</a:t>
            </a:r>
          </a:p>
        </p:txBody>
      </p:sp>
      <p:sp>
        <p:nvSpPr>
          <p:cNvPr id="7" name="Rectangle 6"/>
          <p:cNvSpPr/>
          <p:nvPr/>
        </p:nvSpPr>
        <p:spPr>
          <a:xfrm>
            <a:off x="502920" y="1353312"/>
            <a:ext cx="11109960" cy="9144"/>
          </a:xfrm>
          <a:prstGeom prst="rect">
            <a:avLst/>
          </a:prstGeom>
          <a:solidFill>
            <a:srgbClr val="D8DE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1457432" y="6473952"/>
            <a:ext cx="347472" cy="164592"/>
          </a:xfrm>
          <a:prstGeom prst="rect">
            <a:avLst/>
          </a:prstGeom>
          <a:noFill/>
        </p:spPr>
        <p:txBody>
          <a:bodyPr wrap="square" lIns="0" tIns="0" rIns="0" bIns="0" anchor="t">
            <a:spAutoFit/>
          </a:bodyPr>
          <a:lstStyle/>
          <a:p>
            <a:pPr algn="r">
              <a:lnSpc>
                <a:spcPct val="112000"/>
              </a:lnSpc>
              <a:spcAft>
                <a:spcPts val="0"/>
              </a:spcAft>
            </a:pPr>
            <a:r>
              <a:rPr sz="1050" b="0" i="0">
                <a:solidFill>
                  <a:srgbClr val="8C98AA"/>
                </a:solidFill>
                <a:latin typeface="微软雅黑"/>
              </a:rPr>
              <a:t>71</a:t>
            </a:r>
          </a:p>
        </p:txBody>
      </p:sp>
      <p:sp>
        <p:nvSpPr>
          <p:cNvPr id="10" name="TextBox 9"/>
          <p:cNvSpPr txBox="1"/>
          <p:nvPr/>
        </p:nvSpPr>
        <p:spPr>
          <a:xfrm>
            <a:off x="914400" y="5943600"/>
            <a:ext cx="10332720" cy="256032"/>
          </a:xfrm>
          <a:prstGeom prst="rect">
            <a:avLst/>
          </a:prstGeom>
          <a:noFill/>
        </p:spPr>
        <p:txBody>
          <a:bodyPr wrap="square" lIns="0" tIns="0" rIns="0" bIns="0" anchor="t">
            <a:spAutoFit/>
          </a:bodyPr>
          <a:lstStyle/>
          <a:p>
            <a:pPr algn="ctr">
              <a:lnSpc>
                <a:spcPct val="112000"/>
              </a:lnSpc>
              <a:spcAft>
                <a:spcPts val="0"/>
              </a:spcAft>
            </a:pPr>
            <a:r>
              <a:rPr sz="1600" b="1" i="0" dirty="0" err="1">
                <a:solidFill>
                  <a:srgbClr val="222833"/>
                </a:solidFill>
                <a:latin typeface="微软雅黑"/>
              </a:rPr>
              <a:t>灵巧手的虚实迁移过程</a:t>
            </a:r>
            <a:endParaRPr sz="1600" b="1" i="0" dirty="0">
              <a:solidFill>
                <a:srgbClr val="222833"/>
              </a:solidFill>
              <a:latin typeface="微软雅黑"/>
            </a:endParaRPr>
          </a:p>
        </p:txBody>
      </p:sp>
      <p:pic>
        <p:nvPicPr>
          <p:cNvPr id="11" name="图片 10">
            <a:extLst>
              <a:ext uri="{FF2B5EF4-FFF2-40B4-BE49-F238E27FC236}">
                <a16:creationId xmlns:a16="http://schemas.microsoft.com/office/drawing/2014/main" id="{D48A772A-88E7-D394-C106-AA169F1CA263}"/>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696338" y="2149411"/>
            <a:ext cx="6768843" cy="3537585"/>
          </a:xfrm>
          <a:prstGeom prst="rect">
            <a:avLst/>
          </a:prstGeom>
        </p:spPr>
      </p:pic>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18872" cy="6858000"/>
          </a:xfrm>
          <a:prstGeom prst="rect">
            <a:avLst/>
          </a:prstGeom>
          <a:solidFill>
            <a:srgbClr val="3159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118872" y="0"/>
            <a:ext cx="41148" cy="6858000"/>
          </a:xfrm>
          <a:prstGeom prst="rect">
            <a:avLst/>
          </a:prstGeom>
          <a:solidFill>
            <a:srgbClr val="B7C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38912" y="137160"/>
            <a:ext cx="3474720" cy="164592"/>
          </a:xfrm>
          <a:prstGeom prst="rect">
            <a:avLst/>
          </a:prstGeom>
          <a:noFill/>
        </p:spPr>
        <p:txBody>
          <a:bodyPr wrap="square" lIns="0" tIns="0" rIns="0" bIns="0" anchor="t">
            <a:spAutoFit/>
          </a:bodyPr>
          <a:lstStyle/>
          <a:p>
            <a:pPr algn="l">
              <a:lnSpc>
                <a:spcPct val="112000"/>
              </a:lnSpc>
              <a:spcAft>
                <a:spcPts val="0"/>
              </a:spcAft>
            </a:pPr>
            <a:r>
              <a:rPr sz="1050" b="0" i="0">
                <a:solidFill>
                  <a:srgbClr val="8C98AA"/>
                </a:solidFill>
                <a:latin typeface="微软雅黑"/>
              </a:rPr>
              <a:t>具身智能导论 · 第 9 章</a:t>
            </a:r>
          </a:p>
        </p:txBody>
      </p:sp>
      <p:sp>
        <p:nvSpPr>
          <p:cNvPr id="5" name="TextBox 4"/>
          <p:cNvSpPr txBox="1"/>
          <p:nvPr/>
        </p:nvSpPr>
        <p:spPr>
          <a:xfrm>
            <a:off x="9144000" y="137160"/>
            <a:ext cx="2423160" cy="164592"/>
          </a:xfrm>
          <a:prstGeom prst="rect">
            <a:avLst/>
          </a:prstGeom>
          <a:noFill/>
        </p:spPr>
        <p:txBody>
          <a:bodyPr wrap="square" lIns="0" tIns="0" rIns="0" bIns="0" anchor="t">
            <a:spAutoFit/>
          </a:bodyPr>
          <a:lstStyle/>
          <a:p>
            <a:pPr algn="r">
              <a:lnSpc>
                <a:spcPct val="112000"/>
              </a:lnSpc>
              <a:spcAft>
                <a:spcPts val="0"/>
              </a:spcAft>
            </a:pPr>
            <a:r>
              <a:rPr sz="1050" b="0" i="0">
                <a:solidFill>
                  <a:srgbClr val="8C98AA"/>
                </a:solidFill>
                <a:latin typeface="微软雅黑"/>
              </a:rPr>
              <a:t>虚实迁移技术</a:t>
            </a:r>
          </a:p>
        </p:txBody>
      </p:sp>
      <p:sp>
        <p:nvSpPr>
          <p:cNvPr id="6" name="TextBox 5"/>
          <p:cNvSpPr txBox="1"/>
          <p:nvPr/>
        </p:nvSpPr>
        <p:spPr>
          <a:xfrm>
            <a:off x="502920" y="457200"/>
            <a:ext cx="10927080" cy="749808"/>
          </a:xfrm>
          <a:prstGeom prst="rect">
            <a:avLst/>
          </a:prstGeom>
          <a:noFill/>
        </p:spPr>
        <p:txBody>
          <a:bodyPr wrap="square" lIns="0" tIns="0" rIns="0" bIns="0" anchor="t">
            <a:spAutoFit/>
          </a:bodyPr>
          <a:lstStyle/>
          <a:p>
            <a:pPr algn="l">
              <a:lnSpc>
                <a:spcPct val="112000"/>
              </a:lnSpc>
              <a:spcAft>
                <a:spcPts val="0"/>
              </a:spcAft>
            </a:pPr>
            <a:r>
              <a:rPr sz="3500" b="1" i="0">
                <a:solidFill>
                  <a:srgbClr val="24477D"/>
                </a:solidFill>
                <a:latin typeface="微软雅黑"/>
              </a:rPr>
              <a:t>9.3.3 基于大模型的虚实迁移</a:t>
            </a:r>
          </a:p>
        </p:txBody>
      </p:sp>
      <p:sp>
        <p:nvSpPr>
          <p:cNvPr id="7" name="Rectangle 6"/>
          <p:cNvSpPr/>
          <p:nvPr/>
        </p:nvSpPr>
        <p:spPr>
          <a:xfrm>
            <a:off x="502920" y="1353312"/>
            <a:ext cx="11109960" cy="9144"/>
          </a:xfrm>
          <a:prstGeom prst="rect">
            <a:avLst/>
          </a:prstGeom>
          <a:solidFill>
            <a:srgbClr val="D8DE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1457432" y="6473952"/>
            <a:ext cx="347472" cy="164592"/>
          </a:xfrm>
          <a:prstGeom prst="rect">
            <a:avLst/>
          </a:prstGeom>
          <a:noFill/>
        </p:spPr>
        <p:txBody>
          <a:bodyPr wrap="square" lIns="0" tIns="0" rIns="0" bIns="0" anchor="t">
            <a:spAutoFit/>
          </a:bodyPr>
          <a:lstStyle/>
          <a:p>
            <a:pPr algn="r">
              <a:lnSpc>
                <a:spcPct val="112000"/>
              </a:lnSpc>
              <a:spcAft>
                <a:spcPts val="0"/>
              </a:spcAft>
            </a:pPr>
            <a:r>
              <a:rPr sz="1050" b="0" i="0">
                <a:solidFill>
                  <a:srgbClr val="8C98AA"/>
                </a:solidFill>
                <a:latin typeface="微软雅黑"/>
              </a:rPr>
              <a:t>72</a:t>
            </a:r>
          </a:p>
        </p:txBody>
      </p:sp>
      <p:sp>
        <p:nvSpPr>
          <p:cNvPr id="9" name="TextBox 8"/>
          <p:cNvSpPr txBox="1"/>
          <p:nvPr/>
        </p:nvSpPr>
        <p:spPr>
          <a:xfrm>
            <a:off x="749808" y="1664208"/>
            <a:ext cx="10378440" cy="3063240"/>
          </a:xfrm>
          <a:prstGeom prst="rect">
            <a:avLst/>
          </a:prstGeom>
          <a:noFill/>
        </p:spPr>
        <p:txBody>
          <a:bodyPr wrap="square" lIns="0" tIns="0" rIns="0" bIns="0">
            <a:spAutoFit/>
          </a:bodyPr>
          <a:lstStyle/>
          <a:p>
            <a:pPr>
              <a:lnSpc>
                <a:spcPct val="112000"/>
              </a:lnSpc>
              <a:spcAft>
                <a:spcPts val="700"/>
              </a:spcAft>
            </a:pPr>
            <a:r>
              <a:rPr sz="2100" b="0">
                <a:solidFill>
                  <a:srgbClr val="222833"/>
                </a:solidFill>
                <a:latin typeface="微软雅黑"/>
              </a:rPr>
              <a:t>• </a:t>
            </a:r>
            <a:r>
              <a:rPr sz="2100">
                <a:solidFill>
                  <a:srgbClr val="222833"/>
                </a:solidFill>
                <a:latin typeface="微软雅黑"/>
              </a:rPr>
              <a:t>利用 LLM 的代码生成与推理能力，自动完成奖励函数设计、域随机化参数选择及策略优化指导。</a:t>
            </a:r>
          </a:p>
          <a:p>
            <a:pPr>
              <a:lnSpc>
                <a:spcPct val="112000"/>
              </a:lnSpc>
              <a:spcAft>
                <a:spcPts val="700"/>
              </a:spcAft>
            </a:pPr>
            <a:r>
              <a:rPr sz="2100" b="0">
                <a:solidFill>
                  <a:srgbClr val="222833"/>
                </a:solidFill>
                <a:latin typeface="微软雅黑"/>
              </a:rPr>
              <a:t>• </a:t>
            </a:r>
            <a:r>
              <a:rPr sz="2100">
                <a:solidFill>
                  <a:srgbClr val="222833"/>
                </a:solidFill>
                <a:latin typeface="微软雅黑"/>
              </a:rPr>
              <a:t>把过去高度依赖人工经验的“奖励塑形”和“随机化范围调参”转化为语言模型驱动的自动搜索。</a:t>
            </a:r>
          </a:p>
          <a:p>
            <a:pPr>
              <a:lnSpc>
                <a:spcPct val="112000"/>
              </a:lnSpc>
              <a:spcAft>
                <a:spcPts val="700"/>
              </a:spcAft>
            </a:pPr>
            <a:r>
              <a:rPr sz="2100" b="0">
                <a:solidFill>
                  <a:srgbClr val="222833"/>
                </a:solidFill>
                <a:latin typeface="微软雅黑"/>
              </a:rPr>
              <a:t>• </a:t>
            </a:r>
            <a:r>
              <a:rPr sz="2100">
                <a:solidFill>
                  <a:srgbClr val="222833"/>
                </a:solidFill>
                <a:latin typeface="微软雅黑"/>
              </a:rPr>
              <a:t>可通过少量现实验证结果持续迭代提示，实现闭环改进。</a:t>
            </a:r>
          </a:p>
        </p:txBody>
      </p:sp>
      <p:sp>
        <p:nvSpPr>
          <p:cNvPr id="10" name="TextBox 9"/>
          <p:cNvSpPr txBox="1"/>
          <p:nvPr/>
        </p:nvSpPr>
        <p:spPr>
          <a:xfrm>
            <a:off x="640080" y="5166360"/>
            <a:ext cx="10972800" cy="502920"/>
          </a:xfrm>
          <a:prstGeom prst="rect">
            <a:avLst/>
          </a:prstGeom>
          <a:noFill/>
        </p:spPr>
        <p:txBody>
          <a:bodyPr wrap="square" lIns="0" tIns="0" rIns="0" bIns="0" anchor="ctr">
            <a:spAutoFit/>
          </a:bodyPr>
          <a:lstStyle/>
          <a:p>
            <a:pPr algn="ctr">
              <a:lnSpc>
                <a:spcPct val="112000"/>
              </a:lnSpc>
              <a:spcAft>
                <a:spcPts val="0"/>
              </a:spcAft>
            </a:pPr>
            <a:r>
              <a:rPr sz="1900" b="1" i="0">
                <a:solidFill>
                  <a:srgbClr val="24477D"/>
                </a:solidFill>
                <a:latin typeface="微软雅黑"/>
              </a:rPr>
              <a:t>大模型的作用不是替代机器人策略，而是自动化“如何设计和训练策略”的上层过程。</a:t>
            </a:r>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18872" cy="6858000"/>
          </a:xfrm>
          <a:prstGeom prst="rect">
            <a:avLst/>
          </a:prstGeom>
          <a:solidFill>
            <a:srgbClr val="3159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118872" y="0"/>
            <a:ext cx="41148" cy="6858000"/>
          </a:xfrm>
          <a:prstGeom prst="rect">
            <a:avLst/>
          </a:prstGeom>
          <a:solidFill>
            <a:srgbClr val="B7C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38912" y="137160"/>
            <a:ext cx="3474720" cy="164592"/>
          </a:xfrm>
          <a:prstGeom prst="rect">
            <a:avLst/>
          </a:prstGeom>
          <a:noFill/>
        </p:spPr>
        <p:txBody>
          <a:bodyPr wrap="square" lIns="0" tIns="0" rIns="0" bIns="0" anchor="t">
            <a:spAutoFit/>
          </a:bodyPr>
          <a:lstStyle/>
          <a:p>
            <a:pPr algn="l">
              <a:lnSpc>
                <a:spcPct val="112000"/>
              </a:lnSpc>
              <a:spcAft>
                <a:spcPts val="0"/>
              </a:spcAft>
            </a:pPr>
            <a:r>
              <a:rPr sz="1050" b="0" i="0">
                <a:solidFill>
                  <a:srgbClr val="8C98AA"/>
                </a:solidFill>
                <a:latin typeface="微软雅黑"/>
              </a:rPr>
              <a:t>具身智能导论 · 第 9 章</a:t>
            </a:r>
          </a:p>
        </p:txBody>
      </p:sp>
      <p:sp>
        <p:nvSpPr>
          <p:cNvPr id="5" name="TextBox 4"/>
          <p:cNvSpPr txBox="1"/>
          <p:nvPr/>
        </p:nvSpPr>
        <p:spPr>
          <a:xfrm>
            <a:off x="9144000" y="137160"/>
            <a:ext cx="2423160" cy="164592"/>
          </a:xfrm>
          <a:prstGeom prst="rect">
            <a:avLst/>
          </a:prstGeom>
          <a:noFill/>
        </p:spPr>
        <p:txBody>
          <a:bodyPr wrap="square" lIns="0" tIns="0" rIns="0" bIns="0" anchor="t">
            <a:spAutoFit/>
          </a:bodyPr>
          <a:lstStyle/>
          <a:p>
            <a:pPr algn="r">
              <a:lnSpc>
                <a:spcPct val="112000"/>
              </a:lnSpc>
              <a:spcAft>
                <a:spcPts val="0"/>
              </a:spcAft>
            </a:pPr>
            <a:r>
              <a:rPr sz="1050" b="0" i="0">
                <a:solidFill>
                  <a:srgbClr val="8C98AA"/>
                </a:solidFill>
                <a:latin typeface="微软雅黑"/>
              </a:rPr>
              <a:t>虚实迁移技术</a:t>
            </a:r>
          </a:p>
        </p:txBody>
      </p:sp>
      <p:sp>
        <p:nvSpPr>
          <p:cNvPr id="6" name="TextBox 5"/>
          <p:cNvSpPr txBox="1"/>
          <p:nvPr/>
        </p:nvSpPr>
        <p:spPr>
          <a:xfrm>
            <a:off x="502920" y="457200"/>
            <a:ext cx="10927080" cy="749808"/>
          </a:xfrm>
          <a:prstGeom prst="rect">
            <a:avLst/>
          </a:prstGeom>
          <a:noFill/>
        </p:spPr>
        <p:txBody>
          <a:bodyPr wrap="square" lIns="0" tIns="0" rIns="0" bIns="0" anchor="t">
            <a:spAutoFit/>
          </a:bodyPr>
          <a:lstStyle/>
          <a:p>
            <a:pPr algn="l">
              <a:lnSpc>
                <a:spcPct val="112000"/>
              </a:lnSpc>
              <a:spcAft>
                <a:spcPts val="0"/>
              </a:spcAft>
            </a:pPr>
            <a:r>
              <a:rPr sz="3500" b="1" i="0">
                <a:solidFill>
                  <a:srgbClr val="24477D"/>
                </a:solidFill>
                <a:latin typeface="微软雅黑"/>
              </a:rPr>
              <a:t>Eureka：用代码大模型自动设计奖励函数</a:t>
            </a:r>
          </a:p>
        </p:txBody>
      </p:sp>
      <p:sp>
        <p:nvSpPr>
          <p:cNvPr id="7" name="Rectangle 6"/>
          <p:cNvSpPr/>
          <p:nvPr/>
        </p:nvSpPr>
        <p:spPr>
          <a:xfrm>
            <a:off x="502920" y="1353312"/>
            <a:ext cx="11109960" cy="9144"/>
          </a:xfrm>
          <a:prstGeom prst="rect">
            <a:avLst/>
          </a:prstGeom>
          <a:solidFill>
            <a:srgbClr val="D8DE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1457432" y="6473952"/>
            <a:ext cx="347472" cy="164592"/>
          </a:xfrm>
          <a:prstGeom prst="rect">
            <a:avLst/>
          </a:prstGeom>
          <a:noFill/>
        </p:spPr>
        <p:txBody>
          <a:bodyPr wrap="square" lIns="0" tIns="0" rIns="0" bIns="0" anchor="t">
            <a:spAutoFit/>
          </a:bodyPr>
          <a:lstStyle/>
          <a:p>
            <a:pPr algn="r">
              <a:lnSpc>
                <a:spcPct val="112000"/>
              </a:lnSpc>
              <a:spcAft>
                <a:spcPts val="0"/>
              </a:spcAft>
            </a:pPr>
            <a:r>
              <a:rPr sz="1050" b="0" i="0">
                <a:solidFill>
                  <a:srgbClr val="8C98AA"/>
                </a:solidFill>
                <a:latin typeface="微软雅黑"/>
              </a:rPr>
              <a:t>73</a:t>
            </a:r>
          </a:p>
        </p:txBody>
      </p:sp>
      <p:sp>
        <p:nvSpPr>
          <p:cNvPr id="9" name="Rounded Rectangle 8"/>
          <p:cNvSpPr/>
          <p:nvPr/>
        </p:nvSpPr>
        <p:spPr>
          <a:xfrm>
            <a:off x="868680" y="1920240"/>
            <a:ext cx="2411729" cy="960120"/>
          </a:xfrm>
          <a:prstGeom prst="roundRect">
            <a:avLst/>
          </a:prstGeom>
          <a:solidFill>
            <a:srgbClr val="FFFFFF"/>
          </a:solidFill>
          <a:ln w="10160">
            <a:solidFill>
              <a:srgbClr val="E0E5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868680" y="1920240"/>
            <a:ext cx="64008" cy="960120"/>
          </a:xfrm>
          <a:prstGeom prst="rect">
            <a:avLst/>
          </a:prstGeom>
          <a:solidFill>
            <a:srgbClr val="3159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1033271" y="2148840"/>
            <a:ext cx="2082545" cy="457200"/>
          </a:xfrm>
          <a:prstGeom prst="rect">
            <a:avLst/>
          </a:prstGeom>
          <a:noFill/>
        </p:spPr>
        <p:txBody>
          <a:bodyPr wrap="square" lIns="0" tIns="0" rIns="0" bIns="0" anchor="ctr">
            <a:spAutoFit/>
          </a:bodyPr>
          <a:lstStyle/>
          <a:p>
            <a:pPr algn="ctr">
              <a:lnSpc>
                <a:spcPct val="112000"/>
              </a:lnSpc>
              <a:spcAft>
                <a:spcPts val="0"/>
              </a:spcAft>
            </a:pPr>
            <a:r>
              <a:rPr sz="1900" b="1" i="0">
                <a:solidFill>
                  <a:srgbClr val="31599B"/>
                </a:solidFill>
                <a:latin typeface="微软雅黑"/>
              </a:rPr>
              <a:t>自然语言任务</a:t>
            </a:r>
          </a:p>
        </p:txBody>
      </p:sp>
      <p:sp>
        <p:nvSpPr>
          <p:cNvPr id="12" name="TextBox 11"/>
          <p:cNvSpPr txBox="1"/>
          <p:nvPr/>
        </p:nvSpPr>
        <p:spPr>
          <a:xfrm>
            <a:off x="3307841" y="2194560"/>
            <a:ext cx="228600" cy="320040"/>
          </a:xfrm>
          <a:prstGeom prst="rect">
            <a:avLst/>
          </a:prstGeom>
          <a:noFill/>
        </p:spPr>
        <p:txBody>
          <a:bodyPr wrap="square" lIns="0" tIns="0" rIns="0" bIns="0" anchor="t">
            <a:spAutoFit/>
          </a:bodyPr>
          <a:lstStyle/>
          <a:p>
            <a:pPr algn="ctr">
              <a:lnSpc>
                <a:spcPct val="112000"/>
              </a:lnSpc>
              <a:spcAft>
                <a:spcPts val="0"/>
              </a:spcAft>
            </a:pPr>
            <a:r>
              <a:rPr sz="2400" b="1" i="0">
                <a:solidFill>
                  <a:srgbClr val="8C98AA"/>
                </a:solidFill>
                <a:latin typeface="微软雅黑"/>
              </a:rPr>
              <a:t>→</a:t>
            </a:r>
          </a:p>
        </p:txBody>
      </p:sp>
      <p:sp>
        <p:nvSpPr>
          <p:cNvPr id="13" name="Rounded Rectangle 12"/>
          <p:cNvSpPr/>
          <p:nvPr/>
        </p:nvSpPr>
        <p:spPr>
          <a:xfrm>
            <a:off x="3554729" y="1920240"/>
            <a:ext cx="2411729" cy="960120"/>
          </a:xfrm>
          <a:prstGeom prst="roundRect">
            <a:avLst/>
          </a:prstGeom>
          <a:solidFill>
            <a:srgbClr val="FFFFFF"/>
          </a:solidFill>
          <a:ln w="10160">
            <a:solidFill>
              <a:srgbClr val="E0E5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3554729" y="1920240"/>
            <a:ext cx="64008" cy="960120"/>
          </a:xfrm>
          <a:prstGeom prst="rect">
            <a:avLst/>
          </a:prstGeom>
          <a:solidFill>
            <a:srgbClr val="2F8E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3719321" y="2148840"/>
            <a:ext cx="2082545" cy="457200"/>
          </a:xfrm>
          <a:prstGeom prst="rect">
            <a:avLst/>
          </a:prstGeom>
          <a:noFill/>
        </p:spPr>
        <p:txBody>
          <a:bodyPr wrap="square" lIns="0" tIns="0" rIns="0" bIns="0" anchor="ctr">
            <a:spAutoFit/>
          </a:bodyPr>
          <a:lstStyle/>
          <a:p>
            <a:pPr algn="ctr">
              <a:lnSpc>
                <a:spcPct val="112000"/>
              </a:lnSpc>
              <a:spcAft>
                <a:spcPts val="0"/>
              </a:spcAft>
            </a:pPr>
            <a:r>
              <a:rPr sz="1900" b="1" i="0">
                <a:solidFill>
                  <a:srgbClr val="2F8E72"/>
                </a:solidFill>
                <a:latin typeface="微软雅黑"/>
              </a:rPr>
              <a:t>LLM 生成奖励代码</a:t>
            </a:r>
          </a:p>
        </p:txBody>
      </p:sp>
      <p:sp>
        <p:nvSpPr>
          <p:cNvPr id="16" name="TextBox 15"/>
          <p:cNvSpPr txBox="1"/>
          <p:nvPr/>
        </p:nvSpPr>
        <p:spPr>
          <a:xfrm>
            <a:off x="5993891" y="2194560"/>
            <a:ext cx="228600" cy="320040"/>
          </a:xfrm>
          <a:prstGeom prst="rect">
            <a:avLst/>
          </a:prstGeom>
          <a:noFill/>
        </p:spPr>
        <p:txBody>
          <a:bodyPr wrap="square" lIns="0" tIns="0" rIns="0" bIns="0" anchor="t">
            <a:spAutoFit/>
          </a:bodyPr>
          <a:lstStyle/>
          <a:p>
            <a:pPr algn="ctr">
              <a:lnSpc>
                <a:spcPct val="112000"/>
              </a:lnSpc>
              <a:spcAft>
                <a:spcPts val="0"/>
              </a:spcAft>
            </a:pPr>
            <a:r>
              <a:rPr sz="2400" b="1" i="0">
                <a:solidFill>
                  <a:srgbClr val="8C98AA"/>
                </a:solidFill>
                <a:latin typeface="微软雅黑"/>
              </a:rPr>
              <a:t>→</a:t>
            </a:r>
          </a:p>
        </p:txBody>
      </p:sp>
      <p:sp>
        <p:nvSpPr>
          <p:cNvPr id="17" name="Rounded Rectangle 16"/>
          <p:cNvSpPr/>
          <p:nvPr/>
        </p:nvSpPr>
        <p:spPr>
          <a:xfrm>
            <a:off x="6240779" y="1920240"/>
            <a:ext cx="2411729" cy="960120"/>
          </a:xfrm>
          <a:prstGeom prst="roundRect">
            <a:avLst/>
          </a:prstGeom>
          <a:solidFill>
            <a:srgbClr val="FFFFFF"/>
          </a:solidFill>
          <a:ln w="10160">
            <a:solidFill>
              <a:srgbClr val="E0E5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6240779" y="1920240"/>
            <a:ext cx="64008" cy="960120"/>
          </a:xfrm>
          <a:prstGeom prst="rect">
            <a:avLst/>
          </a:prstGeom>
          <a:solidFill>
            <a:srgbClr val="C58A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6405371" y="2148840"/>
            <a:ext cx="2082545" cy="457200"/>
          </a:xfrm>
          <a:prstGeom prst="rect">
            <a:avLst/>
          </a:prstGeom>
          <a:noFill/>
        </p:spPr>
        <p:txBody>
          <a:bodyPr wrap="square" lIns="0" tIns="0" rIns="0" bIns="0" anchor="ctr">
            <a:spAutoFit/>
          </a:bodyPr>
          <a:lstStyle/>
          <a:p>
            <a:pPr algn="ctr">
              <a:lnSpc>
                <a:spcPct val="112000"/>
              </a:lnSpc>
              <a:spcAft>
                <a:spcPts val="0"/>
              </a:spcAft>
            </a:pPr>
            <a:r>
              <a:rPr sz="1900" b="1" i="0">
                <a:solidFill>
                  <a:srgbClr val="C58A24"/>
                </a:solidFill>
                <a:latin typeface="微软雅黑"/>
              </a:rPr>
              <a:t>仿真 PPO / SAC</a:t>
            </a:r>
          </a:p>
        </p:txBody>
      </p:sp>
      <p:sp>
        <p:nvSpPr>
          <p:cNvPr id="20" name="TextBox 19"/>
          <p:cNvSpPr txBox="1"/>
          <p:nvPr/>
        </p:nvSpPr>
        <p:spPr>
          <a:xfrm>
            <a:off x="8679941" y="2194560"/>
            <a:ext cx="228600" cy="320040"/>
          </a:xfrm>
          <a:prstGeom prst="rect">
            <a:avLst/>
          </a:prstGeom>
          <a:noFill/>
        </p:spPr>
        <p:txBody>
          <a:bodyPr wrap="square" lIns="0" tIns="0" rIns="0" bIns="0" anchor="t">
            <a:spAutoFit/>
          </a:bodyPr>
          <a:lstStyle/>
          <a:p>
            <a:pPr algn="ctr">
              <a:lnSpc>
                <a:spcPct val="112000"/>
              </a:lnSpc>
              <a:spcAft>
                <a:spcPts val="0"/>
              </a:spcAft>
            </a:pPr>
            <a:r>
              <a:rPr sz="2400" b="1" i="0">
                <a:solidFill>
                  <a:srgbClr val="8C98AA"/>
                </a:solidFill>
                <a:latin typeface="微软雅黑"/>
              </a:rPr>
              <a:t>→</a:t>
            </a:r>
          </a:p>
        </p:txBody>
      </p:sp>
      <p:sp>
        <p:nvSpPr>
          <p:cNvPr id="21" name="Rounded Rectangle 20"/>
          <p:cNvSpPr/>
          <p:nvPr/>
        </p:nvSpPr>
        <p:spPr>
          <a:xfrm>
            <a:off x="8926829" y="1920240"/>
            <a:ext cx="2411729" cy="960120"/>
          </a:xfrm>
          <a:prstGeom prst="roundRect">
            <a:avLst/>
          </a:prstGeom>
          <a:solidFill>
            <a:srgbClr val="FFFFFF"/>
          </a:solidFill>
          <a:ln w="10160">
            <a:solidFill>
              <a:srgbClr val="E0E5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8926829" y="1920240"/>
            <a:ext cx="64008" cy="960120"/>
          </a:xfrm>
          <a:prstGeom prst="rect">
            <a:avLst/>
          </a:prstGeom>
          <a:solidFill>
            <a:srgbClr val="C63F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9091421" y="2148840"/>
            <a:ext cx="2082545" cy="457200"/>
          </a:xfrm>
          <a:prstGeom prst="rect">
            <a:avLst/>
          </a:prstGeom>
          <a:noFill/>
        </p:spPr>
        <p:txBody>
          <a:bodyPr wrap="square" lIns="0" tIns="0" rIns="0" bIns="0" anchor="ctr">
            <a:spAutoFit/>
          </a:bodyPr>
          <a:lstStyle/>
          <a:p>
            <a:pPr algn="ctr">
              <a:lnSpc>
                <a:spcPct val="112000"/>
              </a:lnSpc>
              <a:spcAft>
                <a:spcPts val="0"/>
              </a:spcAft>
            </a:pPr>
            <a:r>
              <a:rPr sz="1900" b="1" i="0">
                <a:solidFill>
                  <a:srgbClr val="C63F45"/>
                </a:solidFill>
                <a:latin typeface="微软雅黑"/>
              </a:rPr>
              <a:t>性能反馈</a:t>
            </a:r>
          </a:p>
        </p:txBody>
      </p:sp>
      <p:sp>
        <p:nvSpPr>
          <p:cNvPr id="24" name="TextBox 23"/>
          <p:cNvSpPr txBox="1"/>
          <p:nvPr/>
        </p:nvSpPr>
        <p:spPr>
          <a:xfrm>
            <a:off x="868680" y="3886200"/>
            <a:ext cx="10424160" cy="960120"/>
          </a:xfrm>
          <a:prstGeom prst="rect">
            <a:avLst/>
          </a:prstGeom>
          <a:noFill/>
        </p:spPr>
        <p:txBody>
          <a:bodyPr wrap="square" lIns="0" tIns="0" rIns="0" bIns="0" anchor="t">
            <a:spAutoFit/>
          </a:bodyPr>
          <a:lstStyle/>
          <a:p>
            <a:pPr algn="ctr">
              <a:lnSpc>
                <a:spcPct val="112000"/>
              </a:lnSpc>
              <a:spcAft>
                <a:spcPts val="0"/>
              </a:spcAft>
            </a:pPr>
            <a:r>
              <a:rPr sz="2050" b="0" i="0">
                <a:solidFill>
                  <a:srgbClr val="222833"/>
                </a:solidFill>
                <a:latin typeface="微软雅黑"/>
              </a:rPr>
              <a:t>例如“让四足机器人稳定行走”，Eureka 可自动生成奖励代码与随机化范围，仿真训练后再利用评估结果迭代改进。</a:t>
            </a:r>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18872" cy="6858000"/>
          </a:xfrm>
          <a:prstGeom prst="rect">
            <a:avLst/>
          </a:prstGeom>
          <a:solidFill>
            <a:srgbClr val="3159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118872" y="0"/>
            <a:ext cx="41148" cy="6858000"/>
          </a:xfrm>
          <a:prstGeom prst="rect">
            <a:avLst/>
          </a:prstGeom>
          <a:solidFill>
            <a:srgbClr val="B7C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38912" y="137160"/>
            <a:ext cx="3474720" cy="164592"/>
          </a:xfrm>
          <a:prstGeom prst="rect">
            <a:avLst/>
          </a:prstGeom>
          <a:noFill/>
        </p:spPr>
        <p:txBody>
          <a:bodyPr wrap="square" lIns="0" tIns="0" rIns="0" bIns="0" anchor="t">
            <a:spAutoFit/>
          </a:bodyPr>
          <a:lstStyle/>
          <a:p>
            <a:pPr algn="l">
              <a:lnSpc>
                <a:spcPct val="112000"/>
              </a:lnSpc>
              <a:spcAft>
                <a:spcPts val="0"/>
              </a:spcAft>
            </a:pPr>
            <a:r>
              <a:rPr sz="1050" b="0" i="0">
                <a:solidFill>
                  <a:srgbClr val="8C98AA"/>
                </a:solidFill>
                <a:latin typeface="微软雅黑"/>
              </a:rPr>
              <a:t>具身智能导论 · 第 9 章</a:t>
            </a:r>
          </a:p>
        </p:txBody>
      </p:sp>
      <p:sp>
        <p:nvSpPr>
          <p:cNvPr id="5" name="TextBox 4"/>
          <p:cNvSpPr txBox="1"/>
          <p:nvPr/>
        </p:nvSpPr>
        <p:spPr>
          <a:xfrm>
            <a:off x="9144000" y="137160"/>
            <a:ext cx="2423160" cy="164592"/>
          </a:xfrm>
          <a:prstGeom prst="rect">
            <a:avLst/>
          </a:prstGeom>
          <a:noFill/>
        </p:spPr>
        <p:txBody>
          <a:bodyPr wrap="square" lIns="0" tIns="0" rIns="0" bIns="0" anchor="t">
            <a:spAutoFit/>
          </a:bodyPr>
          <a:lstStyle/>
          <a:p>
            <a:pPr algn="r">
              <a:lnSpc>
                <a:spcPct val="112000"/>
              </a:lnSpc>
              <a:spcAft>
                <a:spcPts val="0"/>
              </a:spcAft>
            </a:pPr>
            <a:r>
              <a:rPr sz="1050" b="0" i="0">
                <a:solidFill>
                  <a:srgbClr val="8C98AA"/>
                </a:solidFill>
                <a:latin typeface="微软雅黑"/>
              </a:rPr>
              <a:t>虚实迁移技术</a:t>
            </a:r>
          </a:p>
        </p:txBody>
      </p:sp>
      <p:sp>
        <p:nvSpPr>
          <p:cNvPr id="6" name="TextBox 5"/>
          <p:cNvSpPr txBox="1"/>
          <p:nvPr/>
        </p:nvSpPr>
        <p:spPr>
          <a:xfrm>
            <a:off x="502920" y="457200"/>
            <a:ext cx="10927080" cy="749808"/>
          </a:xfrm>
          <a:prstGeom prst="rect">
            <a:avLst/>
          </a:prstGeom>
          <a:noFill/>
        </p:spPr>
        <p:txBody>
          <a:bodyPr wrap="square" lIns="0" tIns="0" rIns="0" bIns="0" anchor="t">
            <a:spAutoFit/>
          </a:bodyPr>
          <a:lstStyle/>
          <a:p>
            <a:pPr algn="l">
              <a:lnSpc>
                <a:spcPct val="112000"/>
              </a:lnSpc>
              <a:spcAft>
                <a:spcPts val="0"/>
              </a:spcAft>
            </a:pPr>
            <a:r>
              <a:rPr sz="3500" b="1" i="0">
                <a:solidFill>
                  <a:srgbClr val="24477D"/>
                </a:solidFill>
                <a:latin typeface="微软雅黑"/>
              </a:rPr>
              <a:t>DrEureka：语言模型指导的闭环虚实迁移</a:t>
            </a:r>
          </a:p>
        </p:txBody>
      </p:sp>
      <p:sp>
        <p:nvSpPr>
          <p:cNvPr id="7" name="Rectangle 6"/>
          <p:cNvSpPr/>
          <p:nvPr/>
        </p:nvSpPr>
        <p:spPr>
          <a:xfrm>
            <a:off x="502920" y="1353312"/>
            <a:ext cx="11109960" cy="9144"/>
          </a:xfrm>
          <a:prstGeom prst="rect">
            <a:avLst/>
          </a:prstGeom>
          <a:solidFill>
            <a:srgbClr val="D8DE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1457432" y="6473952"/>
            <a:ext cx="347472" cy="164592"/>
          </a:xfrm>
          <a:prstGeom prst="rect">
            <a:avLst/>
          </a:prstGeom>
          <a:noFill/>
        </p:spPr>
        <p:txBody>
          <a:bodyPr wrap="square" lIns="0" tIns="0" rIns="0" bIns="0" anchor="t">
            <a:spAutoFit/>
          </a:bodyPr>
          <a:lstStyle/>
          <a:p>
            <a:pPr algn="r">
              <a:lnSpc>
                <a:spcPct val="112000"/>
              </a:lnSpc>
              <a:spcAft>
                <a:spcPts val="0"/>
              </a:spcAft>
            </a:pPr>
            <a:r>
              <a:rPr sz="1050" b="0" i="0">
                <a:solidFill>
                  <a:srgbClr val="8C98AA"/>
                </a:solidFill>
                <a:latin typeface="微软雅黑"/>
              </a:rPr>
              <a:t>74</a:t>
            </a:r>
          </a:p>
        </p:txBody>
      </p:sp>
      <p:sp>
        <p:nvSpPr>
          <p:cNvPr id="9" name="TextBox 8"/>
          <p:cNvSpPr txBox="1"/>
          <p:nvPr/>
        </p:nvSpPr>
        <p:spPr>
          <a:xfrm>
            <a:off x="749808" y="1691640"/>
            <a:ext cx="10378440" cy="2926080"/>
          </a:xfrm>
          <a:prstGeom prst="rect">
            <a:avLst/>
          </a:prstGeom>
          <a:noFill/>
        </p:spPr>
        <p:txBody>
          <a:bodyPr wrap="square" lIns="0" tIns="0" rIns="0" bIns="0">
            <a:spAutoFit/>
          </a:bodyPr>
          <a:lstStyle/>
          <a:p>
            <a:pPr>
              <a:lnSpc>
                <a:spcPct val="112000"/>
              </a:lnSpc>
              <a:spcAft>
                <a:spcPts val="700"/>
              </a:spcAft>
            </a:pPr>
            <a:r>
              <a:rPr sz="2100" b="0">
                <a:solidFill>
                  <a:srgbClr val="222833"/>
                </a:solidFill>
                <a:latin typeface="微软雅黑"/>
              </a:rPr>
              <a:t>• </a:t>
            </a:r>
            <a:r>
              <a:rPr sz="2100">
                <a:solidFill>
                  <a:srgbClr val="222833"/>
                </a:solidFill>
                <a:latin typeface="微软雅黑"/>
              </a:rPr>
              <a:t>DrEureka 在 Eureka 基础上进一步引入在线反馈。</a:t>
            </a:r>
          </a:p>
          <a:p>
            <a:pPr>
              <a:lnSpc>
                <a:spcPct val="112000"/>
              </a:lnSpc>
              <a:spcAft>
                <a:spcPts val="700"/>
              </a:spcAft>
            </a:pPr>
            <a:r>
              <a:rPr sz="2100" b="0">
                <a:solidFill>
                  <a:srgbClr val="222833"/>
                </a:solidFill>
                <a:latin typeface="微软雅黑"/>
              </a:rPr>
              <a:t>• </a:t>
            </a:r>
            <a:r>
              <a:rPr sz="2100">
                <a:solidFill>
                  <a:srgbClr val="222833"/>
                </a:solidFill>
                <a:latin typeface="微软雅黑"/>
              </a:rPr>
              <a:t>现实或仿真评估结果作为新的上下文，继续指导奖励和随机化参数的调整。</a:t>
            </a:r>
          </a:p>
          <a:p>
            <a:pPr>
              <a:lnSpc>
                <a:spcPct val="112000"/>
              </a:lnSpc>
              <a:spcAft>
                <a:spcPts val="700"/>
              </a:spcAft>
            </a:pPr>
            <a:r>
              <a:rPr sz="2100" b="0">
                <a:solidFill>
                  <a:srgbClr val="222833"/>
                </a:solidFill>
                <a:latin typeface="微软雅黑"/>
              </a:rPr>
              <a:t>• </a:t>
            </a:r>
            <a:r>
              <a:rPr sz="2100">
                <a:solidFill>
                  <a:srgbClr val="222833"/>
                </a:solidFill>
                <a:latin typeface="微软雅黑"/>
              </a:rPr>
              <a:t>教材指出，在四足行走、机械臂操作等任务中，LLM 生成奖励函数的性能可超过人工设计。</a:t>
            </a:r>
          </a:p>
        </p:txBody>
      </p:sp>
      <p:sp>
        <p:nvSpPr>
          <p:cNvPr id="10" name="TextBox 9"/>
          <p:cNvSpPr txBox="1"/>
          <p:nvPr/>
        </p:nvSpPr>
        <p:spPr>
          <a:xfrm>
            <a:off x="640080" y="5193792"/>
            <a:ext cx="10972800" cy="502920"/>
          </a:xfrm>
          <a:prstGeom prst="rect">
            <a:avLst/>
          </a:prstGeom>
          <a:noFill/>
        </p:spPr>
        <p:txBody>
          <a:bodyPr wrap="square" lIns="0" tIns="0" rIns="0" bIns="0" anchor="ctr">
            <a:spAutoFit/>
          </a:bodyPr>
          <a:lstStyle/>
          <a:p>
            <a:pPr algn="ctr">
              <a:lnSpc>
                <a:spcPct val="112000"/>
              </a:lnSpc>
              <a:spcAft>
                <a:spcPts val="0"/>
              </a:spcAft>
            </a:pPr>
            <a:r>
              <a:rPr sz="1950" b="1" i="0">
                <a:solidFill>
                  <a:srgbClr val="24477D"/>
                </a:solidFill>
                <a:latin typeface="微软雅黑"/>
              </a:rPr>
              <a:t>关键变化：从“一次性自动生成”升级为“反馈驱动的持续自动调参”。</a:t>
            </a:r>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18872" cy="6858000"/>
          </a:xfrm>
          <a:prstGeom prst="rect">
            <a:avLst/>
          </a:prstGeom>
          <a:solidFill>
            <a:srgbClr val="3159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118872" y="0"/>
            <a:ext cx="41148" cy="6858000"/>
          </a:xfrm>
          <a:prstGeom prst="rect">
            <a:avLst/>
          </a:prstGeom>
          <a:solidFill>
            <a:srgbClr val="B7C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38912" y="137160"/>
            <a:ext cx="3474720" cy="164592"/>
          </a:xfrm>
          <a:prstGeom prst="rect">
            <a:avLst/>
          </a:prstGeom>
          <a:noFill/>
        </p:spPr>
        <p:txBody>
          <a:bodyPr wrap="square" lIns="0" tIns="0" rIns="0" bIns="0" anchor="t">
            <a:spAutoFit/>
          </a:bodyPr>
          <a:lstStyle/>
          <a:p>
            <a:pPr algn="l">
              <a:lnSpc>
                <a:spcPct val="112000"/>
              </a:lnSpc>
              <a:spcAft>
                <a:spcPts val="0"/>
              </a:spcAft>
            </a:pPr>
            <a:r>
              <a:rPr sz="1050" b="0" i="0">
                <a:solidFill>
                  <a:srgbClr val="8C98AA"/>
                </a:solidFill>
                <a:latin typeface="微软雅黑"/>
              </a:rPr>
              <a:t>具身智能导论 · 第 9 章</a:t>
            </a:r>
          </a:p>
        </p:txBody>
      </p:sp>
      <p:sp>
        <p:nvSpPr>
          <p:cNvPr id="5" name="TextBox 4"/>
          <p:cNvSpPr txBox="1"/>
          <p:nvPr/>
        </p:nvSpPr>
        <p:spPr>
          <a:xfrm>
            <a:off x="9144000" y="137160"/>
            <a:ext cx="2423160" cy="164592"/>
          </a:xfrm>
          <a:prstGeom prst="rect">
            <a:avLst/>
          </a:prstGeom>
          <a:noFill/>
        </p:spPr>
        <p:txBody>
          <a:bodyPr wrap="square" lIns="0" tIns="0" rIns="0" bIns="0" anchor="t">
            <a:spAutoFit/>
          </a:bodyPr>
          <a:lstStyle/>
          <a:p>
            <a:pPr algn="r">
              <a:lnSpc>
                <a:spcPct val="112000"/>
              </a:lnSpc>
              <a:spcAft>
                <a:spcPts val="0"/>
              </a:spcAft>
            </a:pPr>
            <a:r>
              <a:rPr sz="1050" b="0" i="0">
                <a:solidFill>
                  <a:srgbClr val="8C98AA"/>
                </a:solidFill>
                <a:latin typeface="微软雅黑"/>
              </a:rPr>
              <a:t>虚实迁移技术</a:t>
            </a:r>
          </a:p>
        </p:txBody>
      </p:sp>
      <p:sp>
        <p:nvSpPr>
          <p:cNvPr id="6" name="TextBox 5"/>
          <p:cNvSpPr txBox="1"/>
          <p:nvPr/>
        </p:nvSpPr>
        <p:spPr>
          <a:xfrm>
            <a:off x="502920" y="457200"/>
            <a:ext cx="10927080" cy="749808"/>
          </a:xfrm>
          <a:prstGeom prst="rect">
            <a:avLst/>
          </a:prstGeom>
          <a:noFill/>
        </p:spPr>
        <p:txBody>
          <a:bodyPr wrap="square" lIns="0" tIns="0" rIns="0" bIns="0" anchor="t">
            <a:spAutoFit/>
          </a:bodyPr>
          <a:lstStyle/>
          <a:p>
            <a:pPr algn="l">
              <a:lnSpc>
                <a:spcPct val="112000"/>
              </a:lnSpc>
              <a:spcAft>
                <a:spcPts val="0"/>
              </a:spcAft>
            </a:pPr>
            <a:r>
              <a:rPr sz="3100" b="1" i="0">
                <a:solidFill>
                  <a:srgbClr val="24477D"/>
                </a:solidFill>
                <a:latin typeface="微软雅黑"/>
              </a:rPr>
              <a:t>DrEureka：语言模型驱动的域随机化与策略优化</a:t>
            </a:r>
          </a:p>
        </p:txBody>
      </p:sp>
      <p:sp>
        <p:nvSpPr>
          <p:cNvPr id="7" name="Rectangle 6"/>
          <p:cNvSpPr/>
          <p:nvPr/>
        </p:nvSpPr>
        <p:spPr>
          <a:xfrm>
            <a:off x="502920" y="1353312"/>
            <a:ext cx="11109960" cy="9144"/>
          </a:xfrm>
          <a:prstGeom prst="rect">
            <a:avLst/>
          </a:prstGeom>
          <a:solidFill>
            <a:srgbClr val="D8DE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1457432" y="6473952"/>
            <a:ext cx="347472" cy="164592"/>
          </a:xfrm>
          <a:prstGeom prst="rect">
            <a:avLst/>
          </a:prstGeom>
          <a:noFill/>
        </p:spPr>
        <p:txBody>
          <a:bodyPr wrap="square" lIns="0" tIns="0" rIns="0" bIns="0" anchor="t">
            <a:spAutoFit/>
          </a:bodyPr>
          <a:lstStyle/>
          <a:p>
            <a:pPr algn="r">
              <a:lnSpc>
                <a:spcPct val="112000"/>
              </a:lnSpc>
              <a:spcAft>
                <a:spcPts val="0"/>
              </a:spcAft>
            </a:pPr>
            <a:r>
              <a:rPr sz="1050" b="0" i="0">
                <a:solidFill>
                  <a:srgbClr val="8C98AA"/>
                </a:solidFill>
                <a:latin typeface="微软雅黑"/>
              </a:rPr>
              <a:t>75</a:t>
            </a:r>
          </a:p>
        </p:txBody>
      </p:sp>
      <p:sp>
        <p:nvSpPr>
          <p:cNvPr id="10" name="TextBox 9"/>
          <p:cNvSpPr txBox="1"/>
          <p:nvPr/>
        </p:nvSpPr>
        <p:spPr>
          <a:xfrm>
            <a:off x="914400" y="5943600"/>
            <a:ext cx="10332720" cy="256032"/>
          </a:xfrm>
          <a:prstGeom prst="rect">
            <a:avLst/>
          </a:prstGeom>
          <a:noFill/>
        </p:spPr>
        <p:txBody>
          <a:bodyPr wrap="square" lIns="0" tIns="0" rIns="0" bIns="0" anchor="t">
            <a:spAutoFit/>
          </a:bodyPr>
          <a:lstStyle/>
          <a:p>
            <a:pPr algn="ctr">
              <a:lnSpc>
                <a:spcPct val="112000"/>
              </a:lnSpc>
              <a:spcAft>
                <a:spcPts val="0"/>
              </a:spcAft>
            </a:pPr>
            <a:r>
              <a:rPr sz="1600" b="1" i="0" dirty="0" err="1">
                <a:solidFill>
                  <a:srgbClr val="222833"/>
                </a:solidFill>
                <a:latin typeface="微软雅黑"/>
              </a:rPr>
              <a:t>DrEureka</a:t>
            </a:r>
            <a:r>
              <a:rPr sz="1600" b="1" i="0" dirty="0">
                <a:solidFill>
                  <a:srgbClr val="222833"/>
                </a:solidFill>
                <a:latin typeface="微软雅黑"/>
              </a:rPr>
              <a:t> </a:t>
            </a:r>
            <a:r>
              <a:rPr sz="1600" b="1" i="0" dirty="0" err="1">
                <a:solidFill>
                  <a:srgbClr val="222833"/>
                </a:solidFill>
                <a:latin typeface="微软雅黑"/>
              </a:rPr>
              <a:t>框架</a:t>
            </a:r>
            <a:endParaRPr sz="1600" b="1" i="0" dirty="0">
              <a:solidFill>
                <a:srgbClr val="222833"/>
              </a:solidFill>
              <a:latin typeface="微软雅黑"/>
            </a:endParaRPr>
          </a:p>
        </p:txBody>
      </p:sp>
      <p:pic>
        <p:nvPicPr>
          <p:cNvPr id="11" name="图片 10">
            <a:extLst>
              <a:ext uri="{FF2B5EF4-FFF2-40B4-BE49-F238E27FC236}">
                <a16:creationId xmlns:a16="http://schemas.microsoft.com/office/drawing/2014/main" id="{375B68F3-5CF1-B0F0-2F40-88A56A5CEA2E}"/>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789418" y="1876044"/>
            <a:ext cx="8613164" cy="3807460"/>
          </a:xfrm>
          <a:prstGeom prst="rect">
            <a:avLst/>
          </a:prstGeom>
        </p:spPr>
      </p:pic>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18872" cy="6858000"/>
          </a:xfrm>
          <a:prstGeom prst="rect">
            <a:avLst/>
          </a:prstGeom>
          <a:solidFill>
            <a:srgbClr val="3159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118872" y="0"/>
            <a:ext cx="41148" cy="6858000"/>
          </a:xfrm>
          <a:prstGeom prst="rect">
            <a:avLst/>
          </a:prstGeom>
          <a:solidFill>
            <a:srgbClr val="B7C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38912" y="137160"/>
            <a:ext cx="3474720" cy="164592"/>
          </a:xfrm>
          <a:prstGeom prst="rect">
            <a:avLst/>
          </a:prstGeom>
          <a:noFill/>
        </p:spPr>
        <p:txBody>
          <a:bodyPr wrap="square" lIns="0" tIns="0" rIns="0" bIns="0" anchor="t">
            <a:spAutoFit/>
          </a:bodyPr>
          <a:lstStyle/>
          <a:p>
            <a:pPr algn="l">
              <a:lnSpc>
                <a:spcPct val="112000"/>
              </a:lnSpc>
              <a:spcAft>
                <a:spcPts val="0"/>
              </a:spcAft>
            </a:pPr>
            <a:r>
              <a:rPr sz="1050" b="0" i="0">
                <a:solidFill>
                  <a:srgbClr val="8C98AA"/>
                </a:solidFill>
                <a:latin typeface="微软雅黑"/>
              </a:rPr>
              <a:t>具身智能导论 · 第 9 章</a:t>
            </a:r>
          </a:p>
        </p:txBody>
      </p:sp>
      <p:sp>
        <p:nvSpPr>
          <p:cNvPr id="5" name="TextBox 4"/>
          <p:cNvSpPr txBox="1"/>
          <p:nvPr/>
        </p:nvSpPr>
        <p:spPr>
          <a:xfrm>
            <a:off x="9144000" y="137160"/>
            <a:ext cx="2423160" cy="164592"/>
          </a:xfrm>
          <a:prstGeom prst="rect">
            <a:avLst/>
          </a:prstGeom>
          <a:noFill/>
        </p:spPr>
        <p:txBody>
          <a:bodyPr wrap="square" lIns="0" tIns="0" rIns="0" bIns="0" anchor="t">
            <a:spAutoFit/>
          </a:bodyPr>
          <a:lstStyle/>
          <a:p>
            <a:pPr algn="r">
              <a:lnSpc>
                <a:spcPct val="112000"/>
              </a:lnSpc>
              <a:spcAft>
                <a:spcPts val="0"/>
              </a:spcAft>
            </a:pPr>
            <a:r>
              <a:rPr sz="1050" b="0" i="0">
                <a:solidFill>
                  <a:srgbClr val="8C98AA"/>
                </a:solidFill>
                <a:latin typeface="微软雅黑"/>
              </a:rPr>
              <a:t>虚实迁移技术</a:t>
            </a:r>
          </a:p>
        </p:txBody>
      </p:sp>
      <p:sp>
        <p:nvSpPr>
          <p:cNvPr id="6" name="TextBox 5"/>
          <p:cNvSpPr txBox="1"/>
          <p:nvPr/>
        </p:nvSpPr>
        <p:spPr>
          <a:xfrm>
            <a:off x="502920" y="457200"/>
            <a:ext cx="10927080" cy="749808"/>
          </a:xfrm>
          <a:prstGeom prst="rect">
            <a:avLst/>
          </a:prstGeom>
          <a:noFill/>
        </p:spPr>
        <p:txBody>
          <a:bodyPr wrap="square" lIns="0" tIns="0" rIns="0" bIns="0" anchor="t">
            <a:spAutoFit/>
          </a:bodyPr>
          <a:lstStyle/>
          <a:p>
            <a:pPr algn="l">
              <a:lnSpc>
                <a:spcPct val="112000"/>
              </a:lnSpc>
              <a:spcAft>
                <a:spcPts val="0"/>
              </a:spcAft>
            </a:pPr>
            <a:r>
              <a:rPr sz="3500" b="1" i="0">
                <a:solidFill>
                  <a:srgbClr val="24477D"/>
                </a:solidFill>
                <a:latin typeface="微软雅黑"/>
              </a:rPr>
              <a:t>9.3.4 端到端迁移：生成式策略 + 世界模型</a:t>
            </a:r>
          </a:p>
        </p:txBody>
      </p:sp>
      <p:sp>
        <p:nvSpPr>
          <p:cNvPr id="7" name="Rectangle 6"/>
          <p:cNvSpPr/>
          <p:nvPr/>
        </p:nvSpPr>
        <p:spPr>
          <a:xfrm>
            <a:off x="502920" y="1353312"/>
            <a:ext cx="11109960" cy="9144"/>
          </a:xfrm>
          <a:prstGeom prst="rect">
            <a:avLst/>
          </a:prstGeom>
          <a:solidFill>
            <a:srgbClr val="D8DE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1457432" y="6473952"/>
            <a:ext cx="347472" cy="164592"/>
          </a:xfrm>
          <a:prstGeom prst="rect">
            <a:avLst/>
          </a:prstGeom>
          <a:noFill/>
        </p:spPr>
        <p:txBody>
          <a:bodyPr wrap="square" lIns="0" tIns="0" rIns="0" bIns="0" anchor="t">
            <a:spAutoFit/>
          </a:bodyPr>
          <a:lstStyle/>
          <a:p>
            <a:pPr algn="r">
              <a:lnSpc>
                <a:spcPct val="112000"/>
              </a:lnSpc>
              <a:spcAft>
                <a:spcPts val="0"/>
              </a:spcAft>
            </a:pPr>
            <a:r>
              <a:rPr sz="1050" b="0" i="0">
                <a:solidFill>
                  <a:srgbClr val="8C98AA"/>
                </a:solidFill>
                <a:latin typeface="微软雅黑"/>
              </a:rPr>
              <a:t>76</a:t>
            </a:r>
          </a:p>
        </p:txBody>
      </p:sp>
      <p:sp>
        <p:nvSpPr>
          <p:cNvPr id="9" name="TextBox 8"/>
          <p:cNvSpPr txBox="1"/>
          <p:nvPr/>
        </p:nvSpPr>
        <p:spPr>
          <a:xfrm>
            <a:off x="749808" y="1691640"/>
            <a:ext cx="10378440" cy="1264192"/>
          </a:xfrm>
          <a:prstGeom prst="rect">
            <a:avLst/>
          </a:prstGeom>
          <a:noFill/>
        </p:spPr>
        <p:txBody>
          <a:bodyPr wrap="square" lIns="0" tIns="0" rIns="0" bIns="0">
            <a:spAutoFit/>
          </a:bodyPr>
          <a:lstStyle/>
          <a:p>
            <a:pPr>
              <a:lnSpc>
                <a:spcPct val="112000"/>
              </a:lnSpc>
              <a:spcAft>
                <a:spcPts val="700"/>
              </a:spcAft>
            </a:pPr>
            <a:r>
              <a:rPr sz="2150" b="0" dirty="0">
                <a:solidFill>
                  <a:srgbClr val="222833"/>
                </a:solidFill>
                <a:latin typeface="微软雅黑"/>
              </a:rPr>
              <a:t>• </a:t>
            </a:r>
            <a:r>
              <a:rPr sz="2150" dirty="0" err="1">
                <a:solidFill>
                  <a:srgbClr val="222833"/>
                </a:solidFill>
                <a:latin typeface="微软雅黑"/>
              </a:rPr>
              <a:t>用扩散策略等生成式模型直接表示动作序列</a:t>
            </a:r>
            <a:endParaRPr sz="2150" dirty="0">
              <a:solidFill>
                <a:srgbClr val="222833"/>
              </a:solidFill>
              <a:latin typeface="微软雅黑"/>
            </a:endParaRPr>
          </a:p>
          <a:p>
            <a:pPr>
              <a:lnSpc>
                <a:spcPct val="112000"/>
              </a:lnSpc>
              <a:spcAft>
                <a:spcPts val="700"/>
              </a:spcAft>
            </a:pPr>
            <a:r>
              <a:rPr sz="2150" b="0" dirty="0">
                <a:solidFill>
                  <a:srgbClr val="222833"/>
                </a:solidFill>
                <a:latin typeface="微软雅黑"/>
              </a:rPr>
              <a:t>• </a:t>
            </a:r>
            <a:r>
              <a:rPr sz="2150" dirty="0" err="1">
                <a:solidFill>
                  <a:srgbClr val="222833"/>
                </a:solidFill>
                <a:latin typeface="微软雅黑"/>
              </a:rPr>
              <a:t>结合世界模型在隐空间中进行长程规划，进一步缩小感知与动力学差距</a:t>
            </a:r>
            <a:endParaRPr sz="2150" dirty="0">
              <a:solidFill>
                <a:srgbClr val="222833"/>
              </a:solidFill>
              <a:latin typeface="微软雅黑"/>
            </a:endParaRPr>
          </a:p>
          <a:p>
            <a:pPr>
              <a:lnSpc>
                <a:spcPct val="112000"/>
              </a:lnSpc>
              <a:spcAft>
                <a:spcPts val="700"/>
              </a:spcAft>
            </a:pPr>
            <a:r>
              <a:rPr sz="2150" b="0" dirty="0">
                <a:solidFill>
                  <a:srgbClr val="222833"/>
                </a:solidFill>
                <a:latin typeface="微软雅黑"/>
              </a:rPr>
              <a:t>• </a:t>
            </a:r>
            <a:r>
              <a:rPr sz="2150" dirty="0" err="1">
                <a:solidFill>
                  <a:srgbClr val="222833"/>
                </a:solidFill>
                <a:latin typeface="微软雅黑"/>
              </a:rPr>
              <a:t>可端到端处理高维视觉</a:t>
            </a:r>
            <a:r>
              <a:rPr sz="2150" dirty="0">
                <a:solidFill>
                  <a:srgbClr val="222833"/>
                </a:solidFill>
                <a:latin typeface="微软雅黑"/>
              </a:rPr>
              <a:t> / </a:t>
            </a:r>
            <a:r>
              <a:rPr sz="2150" dirty="0" err="1">
                <a:solidFill>
                  <a:srgbClr val="222833"/>
                </a:solidFill>
                <a:latin typeface="微软雅黑"/>
              </a:rPr>
              <a:t>触觉输入，与模仿学习结合后具有较高样本效率</a:t>
            </a:r>
            <a:endParaRPr sz="2150" dirty="0">
              <a:solidFill>
                <a:srgbClr val="222833"/>
              </a:solidFill>
              <a:latin typeface="微软雅黑"/>
            </a:endParaRPr>
          </a:p>
        </p:txBody>
      </p:sp>
      <p:sp>
        <p:nvSpPr>
          <p:cNvPr id="10" name="TextBox 9"/>
          <p:cNvSpPr txBox="1"/>
          <p:nvPr/>
        </p:nvSpPr>
        <p:spPr>
          <a:xfrm>
            <a:off x="640080" y="5166360"/>
            <a:ext cx="10972800" cy="502920"/>
          </a:xfrm>
          <a:prstGeom prst="rect">
            <a:avLst/>
          </a:prstGeom>
          <a:noFill/>
        </p:spPr>
        <p:txBody>
          <a:bodyPr wrap="square" lIns="0" tIns="0" rIns="0" bIns="0" anchor="ctr">
            <a:spAutoFit/>
          </a:bodyPr>
          <a:lstStyle/>
          <a:p>
            <a:pPr algn="ctr">
              <a:lnSpc>
                <a:spcPct val="112000"/>
              </a:lnSpc>
              <a:spcAft>
                <a:spcPts val="0"/>
              </a:spcAft>
            </a:pPr>
            <a:r>
              <a:rPr sz="1900" b="1" i="0">
                <a:solidFill>
                  <a:srgbClr val="24477D"/>
                </a:solidFill>
                <a:latin typeface="微软雅黑"/>
              </a:rPr>
              <a:t>端到端迁移把“感知对齐、策略表示、轨迹生成”更紧密地融合到一个学习系统中。</a:t>
            </a:r>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18872" cy="6858000"/>
          </a:xfrm>
          <a:prstGeom prst="rect">
            <a:avLst/>
          </a:prstGeom>
          <a:solidFill>
            <a:srgbClr val="3159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118872" y="0"/>
            <a:ext cx="41148" cy="6858000"/>
          </a:xfrm>
          <a:prstGeom prst="rect">
            <a:avLst/>
          </a:prstGeom>
          <a:solidFill>
            <a:srgbClr val="B7C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38912" y="137160"/>
            <a:ext cx="3474720" cy="164592"/>
          </a:xfrm>
          <a:prstGeom prst="rect">
            <a:avLst/>
          </a:prstGeom>
          <a:noFill/>
        </p:spPr>
        <p:txBody>
          <a:bodyPr wrap="square" lIns="0" tIns="0" rIns="0" bIns="0" anchor="t">
            <a:spAutoFit/>
          </a:bodyPr>
          <a:lstStyle/>
          <a:p>
            <a:pPr algn="l">
              <a:lnSpc>
                <a:spcPct val="112000"/>
              </a:lnSpc>
              <a:spcAft>
                <a:spcPts val="0"/>
              </a:spcAft>
            </a:pPr>
            <a:r>
              <a:rPr sz="1050" b="0" i="0">
                <a:solidFill>
                  <a:srgbClr val="8C98AA"/>
                </a:solidFill>
                <a:latin typeface="微软雅黑"/>
              </a:rPr>
              <a:t>具身智能导论 · 第 9 章</a:t>
            </a:r>
          </a:p>
        </p:txBody>
      </p:sp>
      <p:sp>
        <p:nvSpPr>
          <p:cNvPr id="5" name="TextBox 4"/>
          <p:cNvSpPr txBox="1"/>
          <p:nvPr/>
        </p:nvSpPr>
        <p:spPr>
          <a:xfrm>
            <a:off x="9144000" y="137160"/>
            <a:ext cx="2423160" cy="164592"/>
          </a:xfrm>
          <a:prstGeom prst="rect">
            <a:avLst/>
          </a:prstGeom>
          <a:noFill/>
        </p:spPr>
        <p:txBody>
          <a:bodyPr wrap="square" lIns="0" tIns="0" rIns="0" bIns="0" anchor="t">
            <a:spAutoFit/>
          </a:bodyPr>
          <a:lstStyle/>
          <a:p>
            <a:pPr algn="r">
              <a:lnSpc>
                <a:spcPct val="112000"/>
              </a:lnSpc>
              <a:spcAft>
                <a:spcPts val="0"/>
              </a:spcAft>
            </a:pPr>
            <a:r>
              <a:rPr sz="1050" b="0" i="0">
                <a:solidFill>
                  <a:srgbClr val="8C98AA"/>
                </a:solidFill>
                <a:latin typeface="微软雅黑"/>
              </a:rPr>
              <a:t>虚实迁移技术</a:t>
            </a:r>
          </a:p>
        </p:txBody>
      </p:sp>
      <p:sp>
        <p:nvSpPr>
          <p:cNvPr id="6" name="TextBox 5"/>
          <p:cNvSpPr txBox="1"/>
          <p:nvPr/>
        </p:nvSpPr>
        <p:spPr>
          <a:xfrm>
            <a:off x="502920" y="457200"/>
            <a:ext cx="10927080" cy="749808"/>
          </a:xfrm>
          <a:prstGeom prst="rect">
            <a:avLst/>
          </a:prstGeom>
          <a:noFill/>
        </p:spPr>
        <p:txBody>
          <a:bodyPr wrap="square" lIns="0" tIns="0" rIns="0" bIns="0" anchor="t">
            <a:spAutoFit/>
          </a:bodyPr>
          <a:lstStyle/>
          <a:p>
            <a:pPr algn="l">
              <a:lnSpc>
                <a:spcPct val="112000"/>
              </a:lnSpc>
              <a:spcAft>
                <a:spcPts val="0"/>
              </a:spcAft>
            </a:pPr>
            <a:r>
              <a:rPr sz="3500" b="1" i="0">
                <a:solidFill>
                  <a:srgbClr val="24477D"/>
                </a:solidFill>
                <a:latin typeface="微软雅黑"/>
              </a:rPr>
              <a:t>VT-Refine：双臂装配的端到端虚实迁移</a:t>
            </a:r>
          </a:p>
        </p:txBody>
      </p:sp>
      <p:sp>
        <p:nvSpPr>
          <p:cNvPr id="7" name="Rectangle 6"/>
          <p:cNvSpPr/>
          <p:nvPr/>
        </p:nvSpPr>
        <p:spPr>
          <a:xfrm>
            <a:off x="502920" y="1353312"/>
            <a:ext cx="11109960" cy="9144"/>
          </a:xfrm>
          <a:prstGeom prst="rect">
            <a:avLst/>
          </a:prstGeom>
          <a:solidFill>
            <a:srgbClr val="D8DE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1457432" y="6473952"/>
            <a:ext cx="347472" cy="164592"/>
          </a:xfrm>
          <a:prstGeom prst="rect">
            <a:avLst/>
          </a:prstGeom>
          <a:noFill/>
        </p:spPr>
        <p:txBody>
          <a:bodyPr wrap="square" lIns="0" tIns="0" rIns="0" bIns="0" anchor="t">
            <a:spAutoFit/>
          </a:bodyPr>
          <a:lstStyle/>
          <a:p>
            <a:pPr algn="r">
              <a:lnSpc>
                <a:spcPct val="112000"/>
              </a:lnSpc>
              <a:spcAft>
                <a:spcPts val="0"/>
              </a:spcAft>
            </a:pPr>
            <a:r>
              <a:rPr sz="1050" b="0" i="0">
                <a:solidFill>
                  <a:srgbClr val="8C98AA"/>
                </a:solidFill>
                <a:latin typeface="微软雅黑"/>
              </a:rPr>
              <a:t>77</a:t>
            </a:r>
          </a:p>
        </p:txBody>
      </p:sp>
      <p:sp>
        <p:nvSpPr>
          <p:cNvPr id="9" name="TextBox 8"/>
          <p:cNvSpPr txBox="1"/>
          <p:nvPr/>
        </p:nvSpPr>
        <p:spPr>
          <a:xfrm>
            <a:off x="749808" y="1645920"/>
            <a:ext cx="10424160" cy="2721001"/>
          </a:xfrm>
          <a:prstGeom prst="rect">
            <a:avLst/>
          </a:prstGeom>
          <a:noFill/>
        </p:spPr>
        <p:txBody>
          <a:bodyPr wrap="square" lIns="0" tIns="0" rIns="0" bIns="0">
            <a:spAutoFit/>
          </a:bodyPr>
          <a:lstStyle/>
          <a:p>
            <a:pPr>
              <a:lnSpc>
                <a:spcPct val="112000"/>
              </a:lnSpc>
              <a:spcAft>
                <a:spcPts val="700"/>
              </a:spcAft>
            </a:pPr>
            <a:r>
              <a:rPr sz="2400" b="1" dirty="0">
                <a:solidFill>
                  <a:srgbClr val="31599B"/>
                </a:solidFill>
                <a:latin typeface="微软雅黑"/>
              </a:rPr>
              <a:t>1  </a:t>
            </a:r>
            <a:r>
              <a:rPr sz="2400" dirty="0" err="1">
                <a:solidFill>
                  <a:srgbClr val="222833"/>
                </a:solidFill>
                <a:latin typeface="微软雅黑"/>
              </a:rPr>
              <a:t>在现实世界用少量双臂演示数据预训练扩散策略，并采用同步视觉</a:t>
            </a:r>
            <a:r>
              <a:rPr sz="2400" dirty="0">
                <a:solidFill>
                  <a:srgbClr val="222833"/>
                </a:solidFill>
                <a:latin typeface="微软雅黑"/>
              </a:rPr>
              <a:t>—</a:t>
            </a:r>
            <a:r>
              <a:rPr sz="2400" dirty="0" err="1">
                <a:solidFill>
                  <a:srgbClr val="222833"/>
                </a:solidFill>
                <a:latin typeface="微软雅黑"/>
              </a:rPr>
              <a:t>触觉点云表示</a:t>
            </a:r>
            <a:endParaRPr sz="2400" dirty="0">
              <a:solidFill>
                <a:srgbClr val="222833"/>
              </a:solidFill>
              <a:latin typeface="微软雅黑"/>
            </a:endParaRPr>
          </a:p>
          <a:p>
            <a:pPr>
              <a:lnSpc>
                <a:spcPct val="112000"/>
              </a:lnSpc>
              <a:spcAft>
                <a:spcPts val="700"/>
              </a:spcAft>
            </a:pPr>
            <a:r>
              <a:rPr sz="2400" b="1" dirty="0">
                <a:solidFill>
                  <a:srgbClr val="31599B"/>
                </a:solidFill>
                <a:latin typeface="微软雅黑"/>
              </a:rPr>
              <a:t>2  </a:t>
            </a:r>
            <a:r>
              <a:rPr sz="2400" dirty="0" err="1">
                <a:solidFill>
                  <a:srgbClr val="222833"/>
                </a:solidFill>
                <a:latin typeface="微软雅黑"/>
              </a:rPr>
              <a:t>迁移到具备高保真触觉仿真的数字孪生环境</a:t>
            </a:r>
            <a:endParaRPr sz="2400" dirty="0">
              <a:solidFill>
                <a:srgbClr val="222833"/>
              </a:solidFill>
              <a:latin typeface="微软雅黑"/>
            </a:endParaRPr>
          </a:p>
          <a:p>
            <a:pPr>
              <a:lnSpc>
                <a:spcPct val="112000"/>
              </a:lnSpc>
              <a:spcAft>
                <a:spcPts val="700"/>
              </a:spcAft>
            </a:pPr>
            <a:r>
              <a:rPr sz="2400" b="1" dirty="0">
                <a:solidFill>
                  <a:srgbClr val="31599B"/>
                </a:solidFill>
                <a:latin typeface="微软雅黑"/>
              </a:rPr>
              <a:t>3  </a:t>
            </a:r>
            <a:r>
              <a:rPr sz="2400" dirty="0" err="1">
                <a:solidFill>
                  <a:srgbClr val="222833"/>
                </a:solidFill>
                <a:latin typeface="微软雅黑"/>
              </a:rPr>
              <a:t>使用扩散近端策略优化（DPPO）进行大规模强化学习微调</a:t>
            </a:r>
            <a:endParaRPr sz="2400" dirty="0">
              <a:solidFill>
                <a:srgbClr val="222833"/>
              </a:solidFill>
              <a:latin typeface="微软雅黑"/>
            </a:endParaRPr>
          </a:p>
          <a:p>
            <a:pPr>
              <a:lnSpc>
                <a:spcPct val="112000"/>
              </a:lnSpc>
              <a:spcAft>
                <a:spcPts val="700"/>
              </a:spcAft>
            </a:pPr>
            <a:r>
              <a:rPr sz="2400" b="1" dirty="0">
                <a:solidFill>
                  <a:srgbClr val="31599B"/>
                </a:solidFill>
                <a:latin typeface="微软雅黑"/>
              </a:rPr>
              <a:t>4  </a:t>
            </a:r>
            <a:r>
              <a:rPr sz="2400" dirty="0" err="1">
                <a:solidFill>
                  <a:srgbClr val="222833"/>
                </a:solidFill>
                <a:latin typeface="微软雅黑"/>
              </a:rPr>
              <a:t>最终零样本或少样本部署回真实机器人，提高视觉遮挡和接触力变化下的鲁棒性</a:t>
            </a:r>
            <a:endParaRPr sz="2400" dirty="0">
              <a:solidFill>
                <a:srgbClr val="222833"/>
              </a:solidFill>
              <a:latin typeface="微软雅黑"/>
            </a:endParaRPr>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18872" cy="6858000"/>
          </a:xfrm>
          <a:prstGeom prst="rect">
            <a:avLst/>
          </a:prstGeom>
          <a:solidFill>
            <a:srgbClr val="3159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118872" y="0"/>
            <a:ext cx="41148" cy="6858000"/>
          </a:xfrm>
          <a:prstGeom prst="rect">
            <a:avLst/>
          </a:prstGeom>
          <a:solidFill>
            <a:srgbClr val="B7C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38912" y="137160"/>
            <a:ext cx="3474720" cy="164592"/>
          </a:xfrm>
          <a:prstGeom prst="rect">
            <a:avLst/>
          </a:prstGeom>
          <a:noFill/>
        </p:spPr>
        <p:txBody>
          <a:bodyPr wrap="square" lIns="0" tIns="0" rIns="0" bIns="0" anchor="t">
            <a:spAutoFit/>
          </a:bodyPr>
          <a:lstStyle/>
          <a:p>
            <a:pPr algn="l">
              <a:lnSpc>
                <a:spcPct val="112000"/>
              </a:lnSpc>
              <a:spcAft>
                <a:spcPts val="0"/>
              </a:spcAft>
            </a:pPr>
            <a:r>
              <a:rPr sz="1050" b="0" i="0">
                <a:solidFill>
                  <a:srgbClr val="8C98AA"/>
                </a:solidFill>
                <a:latin typeface="微软雅黑"/>
              </a:rPr>
              <a:t>具身智能导论 · 第 9 章</a:t>
            </a:r>
          </a:p>
        </p:txBody>
      </p:sp>
      <p:sp>
        <p:nvSpPr>
          <p:cNvPr id="5" name="TextBox 4"/>
          <p:cNvSpPr txBox="1"/>
          <p:nvPr/>
        </p:nvSpPr>
        <p:spPr>
          <a:xfrm>
            <a:off x="9144000" y="137160"/>
            <a:ext cx="2423160" cy="164592"/>
          </a:xfrm>
          <a:prstGeom prst="rect">
            <a:avLst/>
          </a:prstGeom>
          <a:noFill/>
        </p:spPr>
        <p:txBody>
          <a:bodyPr wrap="square" lIns="0" tIns="0" rIns="0" bIns="0" anchor="t">
            <a:spAutoFit/>
          </a:bodyPr>
          <a:lstStyle/>
          <a:p>
            <a:pPr algn="r">
              <a:lnSpc>
                <a:spcPct val="112000"/>
              </a:lnSpc>
              <a:spcAft>
                <a:spcPts val="0"/>
              </a:spcAft>
            </a:pPr>
            <a:r>
              <a:rPr sz="1050" b="0" i="0">
                <a:solidFill>
                  <a:srgbClr val="8C98AA"/>
                </a:solidFill>
                <a:latin typeface="微软雅黑"/>
              </a:rPr>
              <a:t>虚实迁移技术</a:t>
            </a:r>
          </a:p>
        </p:txBody>
      </p:sp>
      <p:sp>
        <p:nvSpPr>
          <p:cNvPr id="6" name="TextBox 5"/>
          <p:cNvSpPr txBox="1"/>
          <p:nvPr/>
        </p:nvSpPr>
        <p:spPr>
          <a:xfrm>
            <a:off x="502920" y="457200"/>
            <a:ext cx="10927080" cy="749808"/>
          </a:xfrm>
          <a:prstGeom prst="rect">
            <a:avLst/>
          </a:prstGeom>
          <a:noFill/>
        </p:spPr>
        <p:txBody>
          <a:bodyPr wrap="square" lIns="0" tIns="0" rIns="0" bIns="0" anchor="t">
            <a:spAutoFit/>
          </a:bodyPr>
          <a:lstStyle/>
          <a:p>
            <a:pPr algn="l">
              <a:lnSpc>
                <a:spcPct val="112000"/>
              </a:lnSpc>
              <a:spcAft>
                <a:spcPts val="0"/>
              </a:spcAft>
            </a:pPr>
            <a:r>
              <a:rPr sz="3100" b="1" i="0">
                <a:solidFill>
                  <a:srgbClr val="24477D"/>
                </a:solidFill>
                <a:latin typeface="微软雅黑"/>
              </a:rPr>
              <a:t>VT-Refine：视觉—触觉反馈驱动的双臂装配迁移</a:t>
            </a:r>
          </a:p>
        </p:txBody>
      </p:sp>
      <p:sp>
        <p:nvSpPr>
          <p:cNvPr id="7" name="Rectangle 6"/>
          <p:cNvSpPr/>
          <p:nvPr/>
        </p:nvSpPr>
        <p:spPr>
          <a:xfrm>
            <a:off x="502920" y="1353312"/>
            <a:ext cx="11109960" cy="9144"/>
          </a:xfrm>
          <a:prstGeom prst="rect">
            <a:avLst/>
          </a:prstGeom>
          <a:solidFill>
            <a:srgbClr val="D8DE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1457432" y="6473952"/>
            <a:ext cx="347472" cy="164592"/>
          </a:xfrm>
          <a:prstGeom prst="rect">
            <a:avLst/>
          </a:prstGeom>
          <a:noFill/>
        </p:spPr>
        <p:txBody>
          <a:bodyPr wrap="square" lIns="0" tIns="0" rIns="0" bIns="0" anchor="t">
            <a:spAutoFit/>
          </a:bodyPr>
          <a:lstStyle/>
          <a:p>
            <a:pPr algn="r">
              <a:lnSpc>
                <a:spcPct val="112000"/>
              </a:lnSpc>
              <a:spcAft>
                <a:spcPts val="0"/>
              </a:spcAft>
            </a:pPr>
            <a:r>
              <a:rPr sz="1050" b="0" i="0">
                <a:solidFill>
                  <a:srgbClr val="8C98AA"/>
                </a:solidFill>
                <a:latin typeface="微软雅黑"/>
              </a:rPr>
              <a:t>78</a:t>
            </a:r>
          </a:p>
        </p:txBody>
      </p:sp>
      <p:sp>
        <p:nvSpPr>
          <p:cNvPr id="10" name="TextBox 9"/>
          <p:cNvSpPr txBox="1"/>
          <p:nvPr/>
        </p:nvSpPr>
        <p:spPr>
          <a:xfrm>
            <a:off x="914400" y="5943600"/>
            <a:ext cx="10332720" cy="256032"/>
          </a:xfrm>
          <a:prstGeom prst="rect">
            <a:avLst/>
          </a:prstGeom>
          <a:noFill/>
        </p:spPr>
        <p:txBody>
          <a:bodyPr wrap="square" lIns="0" tIns="0" rIns="0" bIns="0" anchor="t">
            <a:spAutoFit/>
          </a:bodyPr>
          <a:lstStyle/>
          <a:p>
            <a:pPr algn="ctr">
              <a:lnSpc>
                <a:spcPct val="112000"/>
              </a:lnSpc>
              <a:spcAft>
                <a:spcPts val="0"/>
              </a:spcAft>
            </a:pPr>
            <a:r>
              <a:rPr sz="1600" b="1" i="0" dirty="0">
                <a:solidFill>
                  <a:srgbClr val="222833"/>
                </a:solidFill>
                <a:latin typeface="微软雅黑"/>
              </a:rPr>
              <a:t>VT-Refine </a:t>
            </a:r>
            <a:r>
              <a:rPr sz="1600" b="1" i="0" dirty="0" err="1">
                <a:solidFill>
                  <a:srgbClr val="222833"/>
                </a:solidFill>
                <a:latin typeface="微软雅黑"/>
              </a:rPr>
              <a:t>框架</a:t>
            </a:r>
            <a:endParaRPr sz="1600" b="1" i="0" dirty="0">
              <a:solidFill>
                <a:srgbClr val="222833"/>
              </a:solidFill>
              <a:latin typeface="微软雅黑"/>
            </a:endParaRPr>
          </a:p>
        </p:txBody>
      </p:sp>
      <p:pic>
        <p:nvPicPr>
          <p:cNvPr id="11" name="图片 10">
            <a:extLst>
              <a:ext uri="{FF2B5EF4-FFF2-40B4-BE49-F238E27FC236}">
                <a16:creationId xmlns:a16="http://schemas.microsoft.com/office/drawing/2014/main" id="{7C7AA99F-A5A8-50A9-4832-F558554A0824}"/>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334894" y="1425844"/>
            <a:ext cx="7794625" cy="4454367"/>
          </a:xfrm>
          <a:prstGeom prst="rect">
            <a:avLst/>
          </a:prstGeom>
        </p:spPr>
      </p:pic>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18872" cy="6858000"/>
          </a:xfrm>
          <a:prstGeom prst="rect">
            <a:avLst/>
          </a:prstGeom>
          <a:solidFill>
            <a:srgbClr val="3159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118872" y="0"/>
            <a:ext cx="41148" cy="6858000"/>
          </a:xfrm>
          <a:prstGeom prst="rect">
            <a:avLst/>
          </a:prstGeom>
          <a:solidFill>
            <a:srgbClr val="B7C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38912" y="137160"/>
            <a:ext cx="3474720" cy="164592"/>
          </a:xfrm>
          <a:prstGeom prst="rect">
            <a:avLst/>
          </a:prstGeom>
          <a:noFill/>
        </p:spPr>
        <p:txBody>
          <a:bodyPr wrap="square" lIns="0" tIns="0" rIns="0" bIns="0" anchor="t">
            <a:spAutoFit/>
          </a:bodyPr>
          <a:lstStyle/>
          <a:p>
            <a:pPr algn="l">
              <a:lnSpc>
                <a:spcPct val="112000"/>
              </a:lnSpc>
              <a:spcAft>
                <a:spcPts val="0"/>
              </a:spcAft>
            </a:pPr>
            <a:r>
              <a:rPr sz="1050" b="0" i="0">
                <a:solidFill>
                  <a:srgbClr val="8C98AA"/>
                </a:solidFill>
                <a:latin typeface="微软雅黑"/>
              </a:rPr>
              <a:t>具身智能导论 · 第 9 章</a:t>
            </a:r>
          </a:p>
        </p:txBody>
      </p:sp>
      <p:sp>
        <p:nvSpPr>
          <p:cNvPr id="5" name="TextBox 4"/>
          <p:cNvSpPr txBox="1"/>
          <p:nvPr/>
        </p:nvSpPr>
        <p:spPr>
          <a:xfrm>
            <a:off x="9144000" y="137160"/>
            <a:ext cx="2423160" cy="164592"/>
          </a:xfrm>
          <a:prstGeom prst="rect">
            <a:avLst/>
          </a:prstGeom>
          <a:noFill/>
        </p:spPr>
        <p:txBody>
          <a:bodyPr wrap="square" lIns="0" tIns="0" rIns="0" bIns="0" anchor="t">
            <a:spAutoFit/>
          </a:bodyPr>
          <a:lstStyle/>
          <a:p>
            <a:pPr algn="r">
              <a:lnSpc>
                <a:spcPct val="112000"/>
              </a:lnSpc>
              <a:spcAft>
                <a:spcPts val="0"/>
              </a:spcAft>
            </a:pPr>
            <a:r>
              <a:rPr sz="1050" b="0" i="0">
                <a:solidFill>
                  <a:srgbClr val="8C98AA"/>
                </a:solidFill>
                <a:latin typeface="微软雅黑"/>
              </a:rPr>
              <a:t>虚实迁移技术</a:t>
            </a:r>
          </a:p>
        </p:txBody>
      </p:sp>
      <p:sp>
        <p:nvSpPr>
          <p:cNvPr id="6" name="TextBox 5"/>
          <p:cNvSpPr txBox="1"/>
          <p:nvPr/>
        </p:nvSpPr>
        <p:spPr>
          <a:xfrm>
            <a:off x="502920" y="457200"/>
            <a:ext cx="10927080" cy="749808"/>
          </a:xfrm>
          <a:prstGeom prst="rect">
            <a:avLst/>
          </a:prstGeom>
          <a:noFill/>
        </p:spPr>
        <p:txBody>
          <a:bodyPr wrap="square" lIns="0" tIns="0" rIns="0" bIns="0" anchor="t">
            <a:spAutoFit/>
          </a:bodyPr>
          <a:lstStyle/>
          <a:p>
            <a:pPr algn="l">
              <a:lnSpc>
                <a:spcPct val="112000"/>
              </a:lnSpc>
              <a:spcAft>
                <a:spcPts val="0"/>
              </a:spcAft>
            </a:pPr>
            <a:r>
              <a:rPr sz="3500" b="1" i="0">
                <a:solidFill>
                  <a:srgbClr val="24477D"/>
                </a:solidFill>
                <a:latin typeface="微软雅黑"/>
              </a:rPr>
              <a:t>扩散策略：把动作序列建模为条件扩散过程</a:t>
            </a:r>
          </a:p>
        </p:txBody>
      </p:sp>
      <p:sp>
        <p:nvSpPr>
          <p:cNvPr id="7" name="Rectangle 6"/>
          <p:cNvSpPr/>
          <p:nvPr/>
        </p:nvSpPr>
        <p:spPr>
          <a:xfrm>
            <a:off x="502920" y="1353312"/>
            <a:ext cx="11109960" cy="9144"/>
          </a:xfrm>
          <a:prstGeom prst="rect">
            <a:avLst/>
          </a:prstGeom>
          <a:solidFill>
            <a:srgbClr val="D8DE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1457432" y="6473952"/>
            <a:ext cx="347472" cy="164592"/>
          </a:xfrm>
          <a:prstGeom prst="rect">
            <a:avLst/>
          </a:prstGeom>
          <a:noFill/>
        </p:spPr>
        <p:txBody>
          <a:bodyPr wrap="square" lIns="0" tIns="0" rIns="0" bIns="0" anchor="t">
            <a:spAutoFit/>
          </a:bodyPr>
          <a:lstStyle/>
          <a:p>
            <a:pPr algn="r">
              <a:lnSpc>
                <a:spcPct val="112000"/>
              </a:lnSpc>
              <a:spcAft>
                <a:spcPts val="0"/>
              </a:spcAft>
            </a:pPr>
            <a:r>
              <a:rPr sz="1050" b="0" i="0">
                <a:solidFill>
                  <a:srgbClr val="8C98AA"/>
                </a:solidFill>
                <a:latin typeface="微软雅黑"/>
              </a:rPr>
              <a:t>79</a:t>
            </a:r>
          </a:p>
        </p:txBody>
      </p:sp>
      <p:sp>
        <p:nvSpPr>
          <p:cNvPr id="9" name="Rounded Rectangle 8"/>
          <p:cNvSpPr/>
          <p:nvPr/>
        </p:nvSpPr>
        <p:spPr>
          <a:xfrm>
            <a:off x="777240" y="1719072"/>
            <a:ext cx="10561320" cy="3519424"/>
          </a:xfrm>
          <a:prstGeom prst="roundRect">
            <a:avLst/>
          </a:prstGeom>
          <a:solidFill>
            <a:srgbClr val="FFFFFF"/>
          </a:solidFill>
          <a:ln w="10160">
            <a:solidFill>
              <a:srgbClr val="E0E5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0" name="Picture 9" descr="eq9_10.png"/>
          <p:cNvPicPr>
            <a:picLocks noChangeAspect="1"/>
          </p:cNvPicPr>
          <p:nvPr/>
        </p:nvPicPr>
        <p:blipFill>
          <a:blip r:embed="rId2"/>
          <a:stretch>
            <a:fillRect/>
          </a:stretch>
        </p:blipFill>
        <p:spPr>
          <a:xfrm>
            <a:off x="-1320292" y="2177748"/>
            <a:ext cx="14059990" cy="1152239"/>
          </a:xfrm>
          <a:prstGeom prst="rect">
            <a:avLst/>
          </a:prstGeom>
        </p:spPr>
      </p:pic>
      <p:pic>
        <p:nvPicPr>
          <p:cNvPr id="14" name="图片 13">
            <a:extLst>
              <a:ext uri="{FF2B5EF4-FFF2-40B4-BE49-F238E27FC236}">
                <a16:creationId xmlns:a16="http://schemas.microsoft.com/office/drawing/2014/main" id="{BBA215E8-C918-7ED2-B158-A59977D03B0A}"/>
              </a:ext>
            </a:extLst>
          </p:cNvPr>
          <p:cNvPicPr>
            <a:picLocks noChangeAspect="1"/>
          </p:cNvPicPr>
          <p:nvPr/>
        </p:nvPicPr>
        <p:blipFill>
          <a:blip r:embed="rId3"/>
          <a:stretch>
            <a:fillRect/>
          </a:stretch>
        </p:blipFill>
        <p:spPr>
          <a:xfrm>
            <a:off x="929640" y="3704402"/>
            <a:ext cx="10253980" cy="1048627"/>
          </a:xfrm>
          <a:prstGeom prst="rect">
            <a:avLst/>
          </a:prstGeom>
        </p:spPr>
      </p:pic>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18872" cy="6858000"/>
          </a:xfrm>
          <a:prstGeom prst="rect">
            <a:avLst/>
          </a:prstGeom>
          <a:solidFill>
            <a:srgbClr val="3159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118872" y="0"/>
            <a:ext cx="41148" cy="6858000"/>
          </a:xfrm>
          <a:prstGeom prst="rect">
            <a:avLst/>
          </a:prstGeom>
          <a:solidFill>
            <a:srgbClr val="B7C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38912" y="137160"/>
            <a:ext cx="3474720" cy="164592"/>
          </a:xfrm>
          <a:prstGeom prst="rect">
            <a:avLst/>
          </a:prstGeom>
          <a:noFill/>
        </p:spPr>
        <p:txBody>
          <a:bodyPr wrap="square" lIns="0" tIns="0" rIns="0" bIns="0" anchor="t">
            <a:spAutoFit/>
          </a:bodyPr>
          <a:lstStyle/>
          <a:p>
            <a:pPr algn="l">
              <a:lnSpc>
                <a:spcPct val="112000"/>
              </a:lnSpc>
              <a:spcAft>
                <a:spcPts val="0"/>
              </a:spcAft>
            </a:pPr>
            <a:r>
              <a:rPr sz="1050" b="0" i="0">
                <a:solidFill>
                  <a:srgbClr val="8C98AA"/>
                </a:solidFill>
                <a:latin typeface="微软雅黑"/>
              </a:rPr>
              <a:t>具身智能导论 · 第 9 章</a:t>
            </a:r>
          </a:p>
        </p:txBody>
      </p:sp>
      <p:sp>
        <p:nvSpPr>
          <p:cNvPr id="5" name="TextBox 4"/>
          <p:cNvSpPr txBox="1"/>
          <p:nvPr/>
        </p:nvSpPr>
        <p:spPr>
          <a:xfrm>
            <a:off x="9144000" y="137160"/>
            <a:ext cx="2423160" cy="164592"/>
          </a:xfrm>
          <a:prstGeom prst="rect">
            <a:avLst/>
          </a:prstGeom>
          <a:noFill/>
        </p:spPr>
        <p:txBody>
          <a:bodyPr wrap="square" lIns="0" tIns="0" rIns="0" bIns="0" anchor="t">
            <a:spAutoFit/>
          </a:bodyPr>
          <a:lstStyle/>
          <a:p>
            <a:pPr algn="r">
              <a:lnSpc>
                <a:spcPct val="112000"/>
              </a:lnSpc>
              <a:spcAft>
                <a:spcPts val="0"/>
              </a:spcAft>
            </a:pPr>
            <a:r>
              <a:rPr sz="1050" b="0" i="0">
                <a:solidFill>
                  <a:srgbClr val="8C98AA"/>
                </a:solidFill>
                <a:latin typeface="微软雅黑"/>
              </a:rPr>
              <a:t>虚实迁移技术</a:t>
            </a:r>
          </a:p>
        </p:txBody>
      </p:sp>
      <p:sp>
        <p:nvSpPr>
          <p:cNvPr id="6" name="TextBox 5"/>
          <p:cNvSpPr txBox="1"/>
          <p:nvPr/>
        </p:nvSpPr>
        <p:spPr>
          <a:xfrm>
            <a:off x="502920" y="457200"/>
            <a:ext cx="10927080" cy="749808"/>
          </a:xfrm>
          <a:prstGeom prst="rect">
            <a:avLst/>
          </a:prstGeom>
          <a:noFill/>
        </p:spPr>
        <p:txBody>
          <a:bodyPr wrap="square" lIns="0" tIns="0" rIns="0" bIns="0" anchor="t">
            <a:spAutoFit/>
          </a:bodyPr>
          <a:lstStyle/>
          <a:p>
            <a:pPr algn="l">
              <a:lnSpc>
                <a:spcPct val="112000"/>
              </a:lnSpc>
              <a:spcAft>
                <a:spcPts val="0"/>
              </a:spcAft>
            </a:pPr>
            <a:r>
              <a:rPr sz="3500" b="1" i="0">
                <a:solidFill>
                  <a:srgbClr val="24477D"/>
                </a:solidFill>
                <a:latin typeface="微软雅黑"/>
              </a:rPr>
              <a:t>DDPM 执行：从随机噪声迭代去噪生成动作</a:t>
            </a:r>
          </a:p>
        </p:txBody>
      </p:sp>
      <p:sp>
        <p:nvSpPr>
          <p:cNvPr id="7" name="Rectangle 6"/>
          <p:cNvSpPr/>
          <p:nvPr/>
        </p:nvSpPr>
        <p:spPr>
          <a:xfrm>
            <a:off x="502920" y="1353312"/>
            <a:ext cx="11109960" cy="9144"/>
          </a:xfrm>
          <a:prstGeom prst="rect">
            <a:avLst/>
          </a:prstGeom>
          <a:solidFill>
            <a:srgbClr val="D8DE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1457432" y="6473952"/>
            <a:ext cx="347472" cy="164592"/>
          </a:xfrm>
          <a:prstGeom prst="rect">
            <a:avLst/>
          </a:prstGeom>
          <a:noFill/>
        </p:spPr>
        <p:txBody>
          <a:bodyPr wrap="square" lIns="0" tIns="0" rIns="0" bIns="0" anchor="t">
            <a:spAutoFit/>
          </a:bodyPr>
          <a:lstStyle/>
          <a:p>
            <a:pPr algn="r">
              <a:lnSpc>
                <a:spcPct val="112000"/>
              </a:lnSpc>
              <a:spcAft>
                <a:spcPts val="0"/>
              </a:spcAft>
            </a:pPr>
            <a:r>
              <a:rPr sz="1050" b="0" i="0">
                <a:solidFill>
                  <a:srgbClr val="8C98AA"/>
                </a:solidFill>
                <a:latin typeface="微软雅黑"/>
              </a:rPr>
              <a:t>80</a:t>
            </a:r>
          </a:p>
        </p:txBody>
      </p:sp>
      <p:sp>
        <p:nvSpPr>
          <p:cNvPr id="9" name="Rounded Rectangle 8"/>
          <p:cNvSpPr/>
          <p:nvPr/>
        </p:nvSpPr>
        <p:spPr>
          <a:xfrm>
            <a:off x="868680" y="1920240"/>
            <a:ext cx="2411729" cy="960120"/>
          </a:xfrm>
          <a:prstGeom prst="roundRect">
            <a:avLst/>
          </a:prstGeom>
          <a:solidFill>
            <a:srgbClr val="FFFFFF"/>
          </a:solidFill>
          <a:ln w="10160">
            <a:solidFill>
              <a:srgbClr val="E0E5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868680" y="1920240"/>
            <a:ext cx="64008" cy="960120"/>
          </a:xfrm>
          <a:prstGeom prst="rect">
            <a:avLst/>
          </a:prstGeom>
          <a:solidFill>
            <a:srgbClr val="3159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1033271" y="2148840"/>
            <a:ext cx="2082545" cy="457200"/>
          </a:xfrm>
          <a:prstGeom prst="rect">
            <a:avLst/>
          </a:prstGeom>
          <a:noFill/>
        </p:spPr>
        <p:txBody>
          <a:bodyPr wrap="square" lIns="0" tIns="0" rIns="0" bIns="0" anchor="ctr">
            <a:spAutoFit/>
          </a:bodyPr>
          <a:lstStyle/>
          <a:p>
            <a:pPr algn="ctr">
              <a:lnSpc>
                <a:spcPct val="112000"/>
              </a:lnSpc>
              <a:spcAft>
                <a:spcPts val="0"/>
              </a:spcAft>
            </a:pPr>
            <a:r>
              <a:rPr sz="1900" b="1" i="0">
                <a:solidFill>
                  <a:srgbClr val="31599B"/>
                </a:solidFill>
                <a:latin typeface="微软雅黑"/>
              </a:rPr>
              <a:t>高斯噪声动作块</a:t>
            </a:r>
          </a:p>
        </p:txBody>
      </p:sp>
      <p:sp>
        <p:nvSpPr>
          <p:cNvPr id="12" name="TextBox 11"/>
          <p:cNvSpPr txBox="1"/>
          <p:nvPr/>
        </p:nvSpPr>
        <p:spPr>
          <a:xfrm>
            <a:off x="3307841" y="2194560"/>
            <a:ext cx="228600" cy="320040"/>
          </a:xfrm>
          <a:prstGeom prst="rect">
            <a:avLst/>
          </a:prstGeom>
          <a:noFill/>
        </p:spPr>
        <p:txBody>
          <a:bodyPr wrap="square" lIns="0" tIns="0" rIns="0" bIns="0" anchor="t">
            <a:spAutoFit/>
          </a:bodyPr>
          <a:lstStyle/>
          <a:p>
            <a:pPr algn="ctr">
              <a:lnSpc>
                <a:spcPct val="112000"/>
              </a:lnSpc>
              <a:spcAft>
                <a:spcPts val="0"/>
              </a:spcAft>
            </a:pPr>
            <a:r>
              <a:rPr sz="2400" b="1" i="0">
                <a:solidFill>
                  <a:srgbClr val="8C98AA"/>
                </a:solidFill>
                <a:latin typeface="微软雅黑"/>
              </a:rPr>
              <a:t>→</a:t>
            </a:r>
          </a:p>
        </p:txBody>
      </p:sp>
      <p:sp>
        <p:nvSpPr>
          <p:cNvPr id="13" name="Rounded Rectangle 12"/>
          <p:cNvSpPr/>
          <p:nvPr/>
        </p:nvSpPr>
        <p:spPr>
          <a:xfrm>
            <a:off x="3554729" y="1920240"/>
            <a:ext cx="2411729" cy="960120"/>
          </a:xfrm>
          <a:prstGeom prst="roundRect">
            <a:avLst/>
          </a:prstGeom>
          <a:solidFill>
            <a:srgbClr val="FFFFFF"/>
          </a:solidFill>
          <a:ln w="10160">
            <a:solidFill>
              <a:srgbClr val="E0E5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3554729" y="1920240"/>
            <a:ext cx="64008" cy="960120"/>
          </a:xfrm>
          <a:prstGeom prst="rect">
            <a:avLst/>
          </a:prstGeom>
          <a:solidFill>
            <a:srgbClr val="2F8E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3719321" y="2148840"/>
            <a:ext cx="2082545" cy="457200"/>
          </a:xfrm>
          <a:prstGeom prst="rect">
            <a:avLst/>
          </a:prstGeom>
          <a:noFill/>
        </p:spPr>
        <p:txBody>
          <a:bodyPr wrap="square" lIns="0" tIns="0" rIns="0" bIns="0" anchor="ctr">
            <a:spAutoFit/>
          </a:bodyPr>
          <a:lstStyle/>
          <a:p>
            <a:pPr algn="ctr">
              <a:lnSpc>
                <a:spcPct val="112000"/>
              </a:lnSpc>
              <a:spcAft>
                <a:spcPts val="0"/>
              </a:spcAft>
            </a:pPr>
            <a:r>
              <a:rPr sz="1900" b="1" i="0">
                <a:solidFill>
                  <a:srgbClr val="2F8E72"/>
                </a:solidFill>
                <a:latin typeface="微软雅黑"/>
              </a:rPr>
              <a:t>条件去噪步骤 K→1</a:t>
            </a:r>
          </a:p>
        </p:txBody>
      </p:sp>
      <p:sp>
        <p:nvSpPr>
          <p:cNvPr id="16" name="TextBox 15"/>
          <p:cNvSpPr txBox="1"/>
          <p:nvPr/>
        </p:nvSpPr>
        <p:spPr>
          <a:xfrm>
            <a:off x="5993891" y="2194560"/>
            <a:ext cx="228600" cy="320040"/>
          </a:xfrm>
          <a:prstGeom prst="rect">
            <a:avLst/>
          </a:prstGeom>
          <a:noFill/>
        </p:spPr>
        <p:txBody>
          <a:bodyPr wrap="square" lIns="0" tIns="0" rIns="0" bIns="0" anchor="t">
            <a:spAutoFit/>
          </a:bodyPr>
          <a:lstStyle/>
          <a:p>
            <a:pPr algn="ctr">
              <a:lnSpc>
                <a:spcPct val="112000"/>
              </a:lnSpc>
              <a:spcAft>
                <a:spcPts val="0"/>
              </a:spcAft>
            </a:pPr>
            <a:r>
              <a:rPr sz="2400" b="1" i="0">
                <a:solidFill>
                  <a:srgbClr val="8C98AA"/>
                </a:solidFill>
                <a:latin typeface="微软雅黑"/>
              </a:rPr>
              <a:t>→</a:t>
            </a:r>
          </a:p>
        </p:txBody>
      </p:sp>
      <p:sp>
        <p:nvSpPr>
          <p:cNvPr id="17" name="Rounded Rectangle 16"/>
          <p:cNvSpPr/>
          <p:nvPr/>
        </p:nvSpPr>
        <p:spPr>
          <a:xfrm>
            <a:off x="6240779" y="1920240"/>
            <a:ext cx="2411729" cy="960120"/>
          </a:xfrm>
          <a:prstGeom prst="roundRect">
            <a:avLst/>
          </a:prstGeom>
          <a:solidFill>
            <a:srgbClr val="FFFFFF"/>
          </a:solidFill>
          <a:ln w="10160">
            <a:solidFill>
              <a:srgbClr val="E0E5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6240779" y="1920240"/>
            <a:ext cx="64008" cy="960120"/>
          </a:xfrm>
          <a:prstGeom prst="rect">
            <a:avLst/>
          </a:prstGeom>
          <a:solidFill>
            <a:srgbClr val="C58A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6405371" y="2148840"/>
            <a:ext cx="2082545" cy="457200"/>
          </a:xfrm>
          <a:prstGeom prst="rect">
            <a:avLst/>
          </a:prstGeom>
          <a:noFill/>
        </p:spPr>
        <p:txBody>
          <a:bodyPr wrap="square" lIns="0" tIns="0" rIns="0" bIns="0" anchor="ctr">
            <a:spAutoFit/>
          </a:bodyPr>
          <a:lstStyle/>
          <a:p>
            <a:pPr algn="ctr">
              <a:lnSpc>
                <a:spcPct val="112000"/>
              </a:lnSpc>
              <a:spcAft>
                <a:spcPts val="0"/>
              </a:spcAft>
            </a:pPr>
            <a:r>
              <a:rPr sz="1900" b="1" i="0">
                <a:solidFill>
                  <a:srgbClr val="C58A24"/>
                </a:solidFill>
                <a:latin typeface="微软雅黑"/>
              </a:rPr>
              <a:t>动作序列</a:t>
            </a:r>
          </a:p>
        </p:txBody>
      </p:sp>
      <p:sp>
        <p:nvSpPr>
          <p:cNvPr id="20" name="TextBox 19"/>
          <p:cNvSpPr txBox="1"/>
          <p:nvPr/>
        </p:nvSpPr>
        <p:spPr>
          <a:xfrm>
            <a:off x="8679941" y="2194560"/>
            <a:ext cx="228600" cy="320040"/>
          </a:xfrm>
          <a:prstGeom prst="rect">
            <a:avLst/>
          </a:prstGeom>
          <a:noFill/>
        </p:spPr>
        <p:txBody>
          <a:bodyPr wrap="square" lIns="0" tIns="0" rIns="0" bIns="0" anchor="t">
            <a:spAutoFit/>
          </a:bodyPr>
          <a:lstStyle/>
          <a:p>
            <a:pPr algn="ctr">
              <a:lnSpc>
                <a:spcPct val="112000"/>
              </a:lnSpc>
              <a:spcAft>
                <a:spcPts val="0"/>
              </a:spcAft>
            </a:pPr>
            <a:r>
              <a:rPr sz="2400" b="1" i="0">
                <a:solidFill>
                  <a:srgbClr val="8C98AA"/>
                </a:solidFill>
                <a:latin typeface="微软雅黑"/>
              </a:rPr>
              <a:t>→</a:t>
            </a:r>
          </a:p>
        </p:txBody>
      </p:sp>
      <p:sp>
        <p:nvSpPr>
          <p:cNvPr id="21" name="Rounded Rectangle 20"/>
          <p:cNvSpPr/>
          <p:nvPr/>
        </p:nvSpPr>
        <p:spPr>
          <a:xfrm>
            <a:off x="8926829" y="1920240"/>
            <a:ext cx="2411729" cy="960120"/>
          </a:xfrm>
          <a:prstGeom prst="roundRect">
            <a:avLst/>
          </a:prstGeom>
          <a:solidFill>
            <a:srgbClr val="FFFFFF"/>
          </a:solidFill>
          <a:ln w="10160">
            <a:solidFill>
              <a:srgbClr val="E0E5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8926829" y="1920240"/>
            <a:ext cx="64008" cy="960120"/>
          </a:xfrm>
          <a:prstGeom prst="rect">
            <a:avLst/>
          </a:prstGeom>
          <a:solidFill>
            <a:srgbClr val="C63F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9091421" y="2148840"/>
            <a:ext cx="2082545" cy="457200"/>
          </a:xfrm>
          <a:prstGeom prst="rect">
            <a:avLst/>
          </a:prstGeom>
          <a:noFill/>
        </p:spPr>
        <p:txBody>
          <a:bodyPr wrap="square" lIns="0" tIns="0" rIns="0" bIns="0" anchor="ctr">
            <a:spAutoFit/>
          </a:bodyPr>
          <a:lstStyle/>
          <a:p>
            <a:pPr algn="ctr">
              <a:lnSpc>
                <a:spcPct val="112000"/>
              </a:lnSpc>
              <a:spcAft>
                <a:spcPts val="0"/>
              </a:spcAft>
            </a:pPr>
            <a:r>
              <a:rPr sz="1900" b="1" i="0">
                <a:solidFill>
                  <a:srgbClr val="C63F45"/>
                </a:solidFill>
                <a:latin typeface="微软雅黑"/>
              </a:rPr>
              <a:t>机器人执行</a:t>
            </a:r>
          </a:p>
        </p:txBody>
      </p:sp>
      <p:sp>
        <p:nvSpPr>
          <p:cNvPr id="24" name="TextBox 23"/>
          <p:cNvSpPr txBox="1"/>
          <p:nvPr/>
        </p:nvSpPr>
        <p:spPr>
          <a:xfrm>
            <a:off x="868680" y="3886200"/>
            <a:ext cx="10424160" cy="929998"/>
          </a:xfrm>
          <a:prstGeom prst="rect">
            <a:avLst/>
          </a:prstGeom>
          <a:noFill/>
        </p:spPr>
        <p:txBody>
          <a:bodyPr wrap="square" lIns="0" tIns="0" rIns="0" bIns="0" anchor="t">
            <a:spAutoFit/>
          </a:bodyPr>
          <a:lstStyle/>
          <a:p>
            <a:pPr algn="ctr">
              <a:lnSpc>
                <a:spcPct val="112000"/>
              </a:lnSpc>
              <a:spcAft>
                <a:spcPts val="0"/>
              </a:spcAft>
            </a:pPr>
            <a:r>
              <a:rPr sz="2800" b="0" i="0" dirty="0" err="1">
                <a:solidFill>
                  <a:srgbClr val="222833"/>
                </a:solidFill>
                <a:latin typeface="微软雅黑"/>
              </a:rPr>
              <a:t>去噪扩散概率模型（DDPM）学习从噪声中恢复动作分布；执行时从随机噪声出发，结合当前观测反复去噪，输出连续动作块</a:t>
            </a:r>
            <a:r>
              <a:rPr sz="2800" b="0" i="0" dirty="0">
                <a:solidFill>
                  <a:srgbClr val="222833"/>
                </a:solidFill>
                <a:latin typeface="微软雅黑"/>
              </a:rPr>
              <a:t>。</a:t>
            </a:r>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170432" cy="6858000"/>
          </a:xfrm>
          <a:prstGeom prst="rect">
            <a:avLst/>
          </a:prstGeom>
          <a:solidFill>
            <a:srgbClr val="3159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859536" y="0"/>
            <a:ext cx="219456" cy="6858000"/>
          </a:xfrm>
          <a:prstGeom prst="rect">
            <a:avLst/>
          </a:prstGeom>
          <a:solidFill>
            <a:srgbClr val="B7C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2029968" y="1426464"/>
            <a:ext cx="1737360" cy="987552"/>
          </a:xfrm>
          <a:prstGeom prst="rect">
            <a:avLst/>
          </a:prstGeom>
          <a:noFill/>
        </p:spPr>
        <p:txBody>
          <a:bodyPr wrap="square" lIns="0" tIns="0" rIns="0" bIns="0" anchor="ctr">
            <a:spAutoFit/>
          </a:bodyPr>
          <a:lstStyle/>
          <a:p>
            <a:pPr algn="l">
              <a:lnSpc>
                <a:spcPct val="112000"/>
              </a:lnSpc>
              <a:spcAft>
                <a:spcPts val="0"/>
              </a:spcAft>
            </a:pPr>
            <a:r>
              <a:rPr sz="6200" b="1" i="0">
                <a:solidFill>
                  <a:srgbClr val="31599B"/>
                </a:solidFill>
                <a:latin typeface="微软雅黑"/>
              </a:rPr>
              <a:t>04</a:t>
            </a:r>
          </a:p>
        </p:txBody>
      </p:sp>
      <p:sp>
        <p:nvSpPr>
          <p:cNvPr id="5" name="TextBox 4"/>
          <p:cNvSpPr txBox="1"/>
          <p:nvPr/>
        </p:nvSpPr>
        <p:spPr>
          <a:xfrm>
            <a:off x="3246120" y="1645920"/>
            <a:ext cx="7635240" cy="621792"/>
          </a:xfrm>
          <a:prstGeom prst="rect">
            <a:avLst/>
          </a:prstGeom>
          <a:noFill/>
        </p:spPr>
        <p:txBody>
          <a:bodyPr wrap="square" lIns="0" tIns="0" rIns="0" bIns="0" anchor="ctr">
            <a:spAutoFit/>
          </a:bodyPr>
          <a:lstStyle/>
          <a:p>
            <a:pPr algn="l">
              <a:lnSpc>
                <a:spcPct val="112000"/>
              </a:lnSpc>
              <a:spcAft>
                <a:spcPts val="0"/>
              </a:spcAft>
            </a:pPr>
            <a:r>
              <a:rPr sz="3900" b="1" i="0">
                <a:solidFill>
                  <a:srgbClr val="24477D"/>
                </a:solidFill>
                <a:latin typeface="微软雅黑"/>
              </a:rPr>
              <a:t>迁移性能指标与评估实施流程</a:t>
            </a:r>
          </a:p>
        </p:txBody>
      </p:sp>
      <p:sp>
        <p:nvSpPr>
          <p:cNvPr id="6" name="TextBox 5"/>
          <p:cNvSpPr txBox="1"/>
          <p:nvPr/>
        </p:nvSpPr>
        <p:spPr>
          <a:xfrm>
            <a:off x="8595360" y="292608"/>
            <a:ext cx="2743200" cy="164592"/>
          </a:xfrm>
          <a:prstGeom prst="rect">
            <a:avLst/>
          </a:prstGeom>
          <a:noFill/>
        </p:spPr>
        <p:txBody>
          <a:bodyPr wrap="square" lIns="0" tIns="0" rIns="0" bIns="0" anchor="t">
            <a:spAutoFit/>
          </a:bodyPr>
          <a:lstStyle/>
          <a:p>
            <a:pPr algn="r">
              <a:lnSpc>
                <a:spcPct val="112000"/>
              </a:lnSpc>
              <a:spcAft>
                <a:spcPts val="0"/>
              </a:spcAft>
            </a:pPr>
            <a:r>
              <a:rPr sz="1050" b="0" i="0">
                <a:solidFill>
                  <a:srgbClr val="8C98AA"/>
                </a:solidFill>
                <a:latin typeface="微软雅黑"/>
              </a:rPr>
              <a:t>具身智能导论 · 第9章</a:t>
            </a:r>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18872" cy="6858000"/>
          </a:xfrm>
          <a:prstGeom prst="rect">
            <a:avLst/>
          </a:prstGeom>
          <a:solidFill>
            <a:srgbClr val="3159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118872" y="0"/>
            <a:ext cx="41148" cy="6858000"/>
          </a:xfrm>
          <a:prstGeom prst="rect">
            <a:avLst/>
          </a:prstGeom>
          <a:solidFill>
            <a:srgbClr val="B7C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38912" y="137160"/>
            <a:ext cx="3474720" cy="164592"/>
          </a:xfrm>
          <a:prstGeom prst="rect">
            <a:avLst/>
          </a:prstGeom>
          <a:noFill/>
        </p:spPr>
        <p:txBody>
          <a:bodyPr wrap="square" lIns="0" tIns="0" rIns="0" bIns="0" anchor="t">
            <a:spAutoFit/>
          </a:bodyPr>
          <a:lstStyle/>
          <a:p>
            <a:pPr algn="l">
              <a:lnSpc>
                <a:spcPct val="112000"/>
              </a:lnSpc>
              <a:spcAft>
                <a:spcPts val="0"/>
              </a:spcAft>
            </a:pPr>
            <a:r>
              <a:rPr sz="1050" b="0" i="0">
                <a:solidFill>
                  <a:srgbClr val="8C98AA"/>
                </a:solidFill>
                <a:latin typeface="微软雅黑"/>
              </a:rPr>
              <a:t>具身智能导论 · 第 9 章</a:t>
            </a:r>
          </a:p>
        </p:txBody>
      </p:sp>
      <p:sp>
        <p:nvSpPr>
          <p:cNvPr id="5" name="TextBox 4"/>
          <p:cNvSpPr txBox="1"/>
          <p:nvPr/>
        </p:nvSpPr>
        <p:spPr>
          <a:xfrm>
            <a:off x="9144000" y="137160"/>
            <a:ext cx="2423160" cy="164592"/>
          </a:xfrm>
          <a:prstGeom prst="rect">
            <a:avLst/>
          </a:prstGeom>
          <a:noFill/>
        </p:spPr>
        <p:txBody>
          <a:bodyPr wrap="square" lIns="0" tIns="0" rIns="0" bIns="0" anchor="t">
            <a:spAutoFit/>
          </a:bodyPr>
          <a:lstStyle/>
          <a:p>
            <a:pPr algn="r">
              <a:lnSpc>
                <a:spcPct val="112000"/>
              </a:lnSpc>
              <a:spcAft>
                <a:spcPts val="0"/>
              </a:spcAft>
            </a:pPr>
            <a:r>
              <a:rPr sz="1050" b="0" i="0">
                <a:solidFill>
                  <a:srgbClr val="8C98AA"/>
                </a:solidFill>
                <a:latin typeface="微软雅黑"/>
              </a:rPr>
              <a:t>虚实迁移技术</a:t>
            </a:r>
          </a:p>
        </p:txBody>
      </p:sp>
      <p:sp>
        <p:nvSpPr>
          <p:cNvPr id="6" name="TextBox 5"/>
          <p:cNvSpPr txBox="1"/>
          <p:nvPr/>
        </p:nvSpPr>
        <p:spPr>
          <a:xfrm>
            <a:off x="502920" y="457200"/>
            <a:ext cx="10927080" cy="749808"/>
          </a:xfrm>
          <a:prstGeom prst="rect">
            <a:avLst/>
          </a:prstGeom>
          <a:noFill/>
        </p:spPr>
        <p:txBody>
          <a:bodyPr wrap="square" lIns="0" tIns="0" rIns="0" bIns="0" anchor="t">
            <a:spAutoFit/>
          </a:bodyPr>
          <a:lstStyle/>
          <a:p>
            <a:pPr algn="l">
              <a:lnSpc>
                <a:spcPct val="112000"/>
              </a:lnSpc>
              <a:spcAft>
                <a:spcPts val="0"/>
              </a:spcAft>
            </a:pPr>
            <a:r>
              <a:rPr sz="3500" b="1" i="0">
                <a:solidFill>
                  <a:srgbClr val="24477D"/>
                </a:solidFill>
                <a:latin typeface="微软雅黑"/>
              </a:rPr>
              <a:t>9.4 为什么需要标准化的虚实迁移评估？</a:t>
            </a:r>
          </a:p>
        </p:txBody>
      </p:sp>
      <p:sp>
        <p:nvSpPr>
          <p:cNvPr id="7" name="Rectangle 6"/>
          <p:cNvSpPr/>
          <p:nvPr/>
        </p:nvSpPr>
        <p:spPr>
          <a:xfrm>
            <a:off x="502920" y="1353312"/>
            <a:ext cx="11109960" cy="9144"/>
          </a:xfrm>
          <a:prstGeom prst="rect">
            <a:avLst/>
          </a:prstGeom>
          <a:solidFill>
            <a:srgbClr val="D8DE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1457432" y="6473952"/>
            <a:ext cx="347472" cy="164592"/>
          </a:xfrm>
          <a:prstGeom prst="rect">
            <a:avLst/>
          </a:prstGeom>
          <a:noFill/>
        </p:spPr>
        <p:txBody>
          <a:bodyPr wrap="square" lIns="0" tIns="0" rIns="0" bIns="0" anchor="t">
            <a:spAutoFit/>
          </a:bodyPr>
          <a:lstStyle/>
          <a:p>
            <a:pPr algn="r">
              <a:lnSpc>
                <a:spcPct val="112000"/>
              </a:lnSpc>
              <a:spcAft>
                <a:spcPts val="0"/>
              </a:spcAft>
            </a:pPr>
            <a:r>
              <a:rPr sz="1050" b="0" i="0">
                <a:solidFill>
                  <a:srgbClr val="8C98AA"/>
                </a:solidFill>
                <a:latin typeface="微软雅黑"/>
              </a:rPr>
              <a:t>82</a:t>
            </a:r>
          </a:p>
        </p:txBody>
      </p:sp>
      <p:sp>
        <p:nvSpPr>
          <p:cNvPr id="9" name="TextBox 8"/>
          <p:cNvSpPr txBox="1"/>
          <p:nvPr/>
        </p:nvSpPr>
        <p:spPr>
          <a:xfrm>
            <a:off x="749808" y="1691640"/>
            <a:ext cx="10378440" cy="2926080"/>
          </a:xfrm>
          <a:prstGeom prst="rect">
            <a:avLst/>
          </a:prstGeom>
          <a:noFill/>
        </p:spPr>
        <p:txBody>
          <a:bodyPr wrap="square" lIns="0" tIns="0" rIns="0" bIns="0">
            <a:spAutoFit/>
          </a:bodyPr>
          <a:lstStyle/>
          <a:p>
            <a:pPr>
              <a:lnSpc>
                <a:spcPct val="112000"/>
              </a:lnSpc>
              <a:spcAft>
                <a:spcPts val="700"/>
              </a:spcAft>
            </a:pPr>
            <a:r>
              <a:rPr sz="2150" b="0">
                <a:solidFill>
                  <a:srgbClr val="222833"/>
                </a:solidFill>
                <a:latin typeface="微软雅黑"/>
              </a:rPr>
              <a:t>• </a:t>
            </a:r>
            <a:r>
              <a:rPr sz="2150">
                <a:solidFill>
                  <a:srgbClr val="222833"/>
                </a:solidFill>
                <a:latin typeface="微软雅黑"/>
              </a:rPr>
              <a:t>虚实迁移最终是否成功，取决于策略能否在真实环境稳定、高效、鲁棒地完成任务。</a:t>
            </a:r>
          </a:p>
          <a:p>
            <a:pPr>
              <a:lnSpc>
                <a:spcPct val="112000"/>
              </a:lnSpc>
              <a:spcAft>
                <a:spcPts val="700"/>
              </a:spcAft>
            </a:pPr>
            <a:r>
              <a:rPr sz="2150" b="0">
                <a:solidFill>
                  <a:srgbClr val="222833"/>
                </a:solidFill>
                <a:latin typeface="微软雅黑"/>
              </a:rPr>
              <a:t>• </a:t>
            </a:r>
            <a:r>
              <a:rPr sz="2150">
                <a:solidFill>
                  <a:srgbClr val="222833"/>
                </a:solidFill>
                <a:latin typeface="微软雅黑"/>
              </a:rPr>
              <a:t>评估体系需要可重复、可比较，并能诊断域差距来源。</a:t>
            </a:r>
          </a:p>
          <a:p>
            <a:pPr>
              <a:lnSpc>
                <a:spcPct val="112000"/>
              </a:lnSpc>
              <a:spcAft>
                <a:spcPts val="700"/>
              </a:spcAft>
            </a:pPr>
            <a:r>
              <a:rPr sz="2150" b="0">
                <a:solidFill>
                  <a:srgbClr val="222833"/>
                </a:solidFill>
                <a:latin typeface="微软雅黑"/>
              </a:rPr>
              <a:t>• </a:t>
            </a:r>
            <a:r>
              <a:rPr sz="2150">
                <a:solidFill>
                  <a:srgbClr val="222833"/>
                </a:solidFill>
                <a:latin typeface="微软雅黑"/>
              </a:rPr>
              <a:t>教材融合 Sim-to-Real 主流指标与 SIMPLER 基准的结构化评估框架。</a:t>
            </a:r>
          </a:p>
        </p:txBody>
      </p:sp>
      <p:sp>
        <p:nvSpPr>
          <p:cNvPr id="10" name="TextBox 9"/>
          <p:cNvSpPr txBox="1"/>
          <p:nvPr/>
        </p:nvSpPr>
        <p:spPr>
          <a:xfrm>
            <a:off x="640080" y="5166360"/>
            <a:ext cx="10972800" cy="502920"/>
          </a:xfrm>
          <a:prstGeom prst="rect">
            <a:avLst/>
          </a:prstGeom>
          <a:noFill/>
        </p:spPr>
        <p:txBody>
          <a:bodyPr wrap="square" lIns="0" tIns="0" rIns="0" bIns="0" anchor="ctr">
            <a:spAutoFit/>
          </a:bodyPr>
          <a:lstStyle/>
          <a:p>
            <a:pPr algn="ctr">
              <a:lnSpc>
                <a:spcPct val="112000"/>
              </a:lnSpc>
              <a:spcAft>
                <a:spcPts val="0"/>
              </a:spcAft>
            </a:pPr>
            <a:r>
              <a:rPr sz="1950" b="1" i="0">
                <a:solidFill>
                  <a:srgbClr val="24477D"/>
                </a:solidFill>
                <a:latin typeface="微软雅黑"/>
              </a:rPr>
              <a:t>只看“仿真训练曲线”不够；必须成对比较仿真与现实中的实际策略表现。</a:t>
            </a:r>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18872" cy="6858000"/>
          </a:xfrm>
          <a:prstGeom prst="rect">
            <a:avLst/>
          </a:prstGeom>
          <a:solidFill>
            <a:srgbClr val="3159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118872" y="0"/>
            <a:ext cx="41148" cy="6858000"/>
          </a:xfrm>
          <a:prstGeom prst="rect">
            <a:avLst/>
          </a:prstGeom>
          <a:solidFill>
            <a:srgbClr val="B7C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38912" y="137160"/>
            <a:ext cx="3474720" cy="164592"/>
          </a:xfrm>
          <a:prstGeom prst="rect">
            <a:avLst/>
          </a:prstGeom>
          <a:noFill/>
        </p:spPr>
        <p:txBody>
          <a:bodyPr wrap="square" lIns="0" tIns="0" rIns="0" bIns="0" anchor="t">
            <a:spAutoFit/>
          </a:bodyPr>
          <a:lstStyle/>
          <a:p>
            <a:pPr algn="l">
              <a:lnSpc>
                <a:spcPct val="112000"/>
              </a:lnSpc>
              <a:spcAft>
                <a:spcPts val="0"/>
              </a:spcAft>
            </a:pPr>
            <a:r>
              <a:rPr sz="1050" b="0" i="0">
                <a:solidFill>
                  <a:srgbClr val="8C98AA"/>
                </a:solidFill>
                <a:latin typeface="微软雅黑"/>
              </a:rPr>
              <a:t>具身智能导论 · 第 9 章</a:t>
            </a:r>
          </a:p>
        </p:txBody>
      </p:sp>
      <p:sp>
        <p:nvSpPr>
          <p:cNvPr id="5" name="TextBox 4"/>
          <p:cNvSpPr txBox="1"/>
          <p:nvPr/>
        </p:nvSpPr>
        <p:spPr>
          <a:xfrm>
            <a:off x="9144000" y="137160"/>
            <a:ext cx="2423160" cy="164592"/>
          </a:xfrm>
          <a:prstGeom prst="rect">
            <a:avLst/>
          </a:prstGeom>
          <a:noFill/>
        </p:spPr>
        <p:txBody>
          <a:bodyPr wrap="square" lIns="0" tIns="0" rIns="0" bIns="0" anchor="t">
            <a:spAutoFit/>
          </a:bodyPr>
          <a:lstStyle/>
          <a:p>
            <a:pPr algn="r">
              <a:lnSpc>
                <a:spcPct val="112000"/>
              </a:lnSpc>
              <a:spcAft>
                <a:spcPts val="0"/>
              </a:spcAft>
            </a:pPr>
            <a:r>
              <a:rPr sz="1050" b="0" i="0">
                <a:solidFill>
                  <a:srgbClr val="8C98AA"/>
                </a:solidFill>
                <a:latin typeface="微软雅黑"/>
              </a:rPr>
              <a:t>虚实迁移技术</a:t>
            </a:r>
          </a:p>
        </p:txBody>
      </p:sp>
      <p:sp>
        <p:nvSpPr>
          <p:cNvPr id="6" name="TextBox 5"/>
          <p:cNvSpPr txBox="1"/>
          <p:nvPr/>
        </p:nvSpPr>
        <p:spPr>
          <a:xfrm>
            <a:off x="502920" y="457200"/>
            <a:ext cx="10927080" cy="749808"/>
          </a:xfrm>
          <a:prstGeom prst="rect">
            <a:avLst/>
          </a:prstGeom>
          <a:noFill/>
        </p:spPr>
        <p:txBody>
          <a:bodyPr wrap="square" lIns="0" tIns="0" rIns="0" bIns="0" anchor="t">
            <a:spAutoFit/>
          </a:bodyPr>
          <a:lstStyle/>
          <a:p>
            <a:pPr algn="l">
              <a:lnSpc>
                <a:spcPct val="112000"/>
              </a:lnSpc>
              <a:spcAft>
                <a:spcPts val="0"/>
              </a:spcAft>
            </a:pPr>
            <a:r>
              <a:rPr sz="3500" b="1" i="0">
                <a:solidFill>
                  <a:srgbClr val="24477D"/>
                </a:solidFill>
                <a:latin typeface="微软雅黑"/>
              </a:rPr>
              <a:t>9.4.1 性能指标：四大类别</a:t>
            </a:r>
          </a:p>
        </p:txBody>
      </p:sp>
      <p:sp>
        <p:nvSpPr>
          <p:cNvPr id="7" name="Rectangle 6"/>
          <p:cNvSpPr/>
          <p:nvPr/>
        </p:nvSpPr>
        <p:spPr>
          <a:xfrm>
            <a:off x="502920" y="1353312"/>
            <a:ext cx="11109960" cy="9144"/>
          </a:xfrm>
          <a:prstGeom prst="rect">
            <a:avLst/>
          </a:prstGeom>
          <a:solidFill>
            <a:srgbClr val="D8DE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1457432" y="6473952"/>
            <a:ext cx="347472" cy="164592"/>
          </a:xfrm>
          <a:prstGeom prst="rect">
            <a:avLst/>
          </a:prstGeom>
          <a:noFill/>
        </p:spPr>
        <p:txBody>
          <a:bodyPr wrap="square" lIns="0" tIns="0" rIns="0" bIns="0" anchor="t">
            <a:spAutoFit/>
          </a:bodyPr>
          <a:lstStyle/>
          <a:p>
            <a:pPr algn="r">
              <a:lnSpc>
                <a:spcPct val="112000"/>
              </a:lnSpc>
              <a:spcAft>
                <a:spcPts val="0"/>
              </a:spcAft>
            </a:pPr>
            <a:r>
              <a:rPr sz="1050" b="0" i="0">
                <a:solidFill>
                  <a:srgbClr val="8C98AA"/>
                </a:solidFill>
                <a:latin typeface="微软雅黑"/>
              </a:rPr>
              <a:t>83</a:t>
            </a:r>
          </a:p>
        </p:txBody>
      </p:sp>
      <p:sp>
        <p:nvSpPr>
          <p:cNvPr id="9" name="Rounded Rectangle 8"/>
          <p:cNvSpPr/>
          <p:nvPr/>
        </p:nvSpPr>
        <p:spPr>
          <a:xfrm>
            <a:off x="658368" y="1691640"/>
            <a:ext cx="2606040" cy="3337560"/>
          </a:xfrm>
          <a:prstGeom prst="roundRect">
            <a:avLst/>
          </a:prstGeom>
          <a:solidFill>
            <a:srgbClr val="FFFFFF"/>
          </a:solidFill>
          <a:ln w="10160">
            <a:solidFill>
              <a:srgbClr val="E0E5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658368" y="1691640"/>
            <a:ext cx="64008" cy="3337560"/>
          </a:xfrm>
          <a:prstGeom prst="rect">
            <a:avLst/>
          </a:prstGeom>
          <a:solidFill>
            <a:srgbClr val="3159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68680" y="1837944"/>
            <a:ext cx="2221992" cy="347472"/>
          </a:xfrm>
          <a:prstGeom prst="rect">
            <a:avLst/>
          </a:prstGeom>
          <a:noFill/>
        </p:spPr>
        <p:txBody>
          <a:bodyPr wrap="square" lIns="0" tIns="0" rIns="0" bIns="0" anchor="t">
            <a:spAutoFit/>
          </a:bodyPr>
          <a:lstStyle/>
          <a:p>
            <a:pPr algn="l">
              <a:lnSpc>
                <a:spcPct val="112000"/>
              </a:lnSpc>
              <a:spcAft>
                <a:spcPts val="0"/>
              </a:spcAft>
            </a:pPr>
            <a:r>
              <a:rPr sz="1900" b="1" i="0">
                <a:solidFill>
                  <a:srgbClr val="31599B"/>
                </a:solidFill>
                <a:latin typeface="微软雅黑"/>
              </a:rPr>
              <a:t>任务性能</a:t>
            </a:r>
          </a:p>
        </p:txBody>
      </p:sp>
      <p:sp>
        <p:nvSpPr>
          <p:cNvPr id="12" name="TextBox 11"/>
          <p:cNvSpPr txBox="1"/>
          <p:nvPr/>
        </p:nvSpPr>
        <p:spPr>
          <a:xfrm>
            <a:off x="868680" y="2377440"/>
            <a:ext cx="2221992" cy="2496312"/>
          </a:xfrm>
          <a:prstGeom prst="rect">
            <a:avLst/>
          </a:prstGeom>
          <a:noFill/>
        </p:spPr>
        <p:txBody>
          <a:bodyPr wrap="square" lIns="0" tIns="0" rIns="0" bIns="0" anchor="t">
            <a:spAutoFit/>
          </a:bodyPr>
          <a:lstStyle/>
          <a:p>
            <a:pPr algn="l">
              <a:lnSpc>
                <a:spcPct val="112000"/>
              </a:lnSpc>
              <a:spcAft>
                <a:spcPts val="0"/>
              </a:spcAft>
            </a:pPr>
            <a:r>
              <a:rPr sz="1800" b="0" i="0">
                <a:solidFill>
                  <a:srgbClr val="222833"/>
                </a:solidFill>
                <a:latin typeface="微软雅黑"/>
              </a:rPr>
              <a:t>成功率、失败模式分析。</a:t>
            </a:r>
          </a:p>
        </p:txBody>
      </p:sp>
      <p:sp>
        <p:nvSpPr>
          <p:cNvPr id="13" name="Rounded Rectangle 12"/>
          <p:cNvSpPr/>
          <p:nvPr/>
        </p:nvSpPr>
        <p:spPr>
          <a:xfrm>
            <a:off x="3456432" y="1691640"/>
            <a:ext cx="2606040" cy="3337560"/>
          </a:xfrm>
          <a:prstGeom prst="roundRect">
            <a:avLst/>
          </a:prstGeom>
          <a:solidFill>
            <a:srgbClr val="FFFFFF"/>
          </a:solidFill>
          <a:ln w="10160">
            <a:solidFill>
              <a:srgbClr val="E0E5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3456432" y="1691640"/>
            <a:ext cx="64008" cy="3337560"/>
          </a:xfrm>
          <a:prstGeom prst="rect">
            <a:avLst/>
          </a:prstGeom>
          <a:solidFill>
            <a:srgbClr val="2F8E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3666744" y="1837944"/>
            <a:ext cx="2221992" cy="347472"/>
          </a:xfrm>
          <a:prstGeom prst="rect">
            <a:avLst/>
          </a:prstGeom>
          <a:noFill/>
        </p:spPr>
        <p:txBody>
          <a:bodyPr wrap="square" lIns="0" tIns="0" rIns="0" bIns="0" anchor="t">
            <a:spAutoFit/>
          </a:bodyPr>
          <a:lstStyle/>
          <a:p>
            <a:pPr algn="l">
              <a:lnSpc>
                <a:spcPct val="112000"/>
              </a:lnSpc>
              <a:spcAft>
                <a:spcPts val="0"/>
              </a:spcAft>
            </a:pPr>
            <a:r>
              <a:rPr sz="1900" b="1" i="0">
                <a:solidFill>
                  <a:srgbClr val="2F8E72"/>
                </a:solidFill>
                <a:latin typeface="微软雅黑"/>
              </a:rPr>
              <a:t>效率</a:t>
            </a:r>
          </a:p>
        </p:txBody>
      </p:sp>
      <p:sp>
        <p:nvSpPr>
          <p:cNvPr id="16" name="TextBox 15"/>
          <p:cNvSpPr txBox="1"/>
          <p:nvPr/>
        </p:nvSpPr>
        <p:spPr>
          <a:xfrm>
            <a:off x="3666744" y="2377440"/>
            <a:ext cx="2221992" cy="2496312"/>
          </a:xfrm>
          <a:prstGeom prst="rect">
            <a:avLst/>
          </a:prstGeom>
          <a:noFill/>
        </p:spPr>
        <p:txBody>
          <a:bodyPr wrap="square" lIns="0" tIns="0" rIns="0" bIns="0" anchor="t">
            <a:spAutoFit/>
          </a:bodyPr>
          <a:lstStyle/>
          <a:p>
            <a:pPr algn="l">
              <a:lnSpc>
                <a:spcPct val="112000"/>
              </a:lnSpc>
              <a:spcAft>
                <a:spcPts val="0"/>
              </a:spcAft>
            </a:pPr>
            <a:r>
              <a:rPr sz="1750" b="0" i="0">
                <a:solidFill>
                  <a:srgbClr val="222833"/>
                </a:solidFill>
                <a:latin typeface="微软雅黑"/>
              </a:rPr>
              <a:t>完成时间、轨迹长度、能耗、推理时间、训练稳定性。</a:t>
            </a:r>
          </a:p>
        </p:txBody>
      </p:sp>
      <p:sp>
        <p:nvSpPr>
          <p:cNvPr id="17" name="Rounded Rectangle 16"/>
          <p:cNvSpPr/>
          <p:nvPr/>
        </p:nvSpPr>
        <p:spPr>
          <a:xfrm>
            <a:off x="6254496" y="1691640"/>
            <a:ext cx="2606040" cy="3337560"/>
          </a:xfrm>
          <a:prstGeom prst="roundRect">
            <a:avLst/>
          </a:prstGeom>
          <a:solidFill>
            <a:srgbClr val="FFFFFF"/>
          </a:solidFill>
          <a:ln w="10160">
            <a:solidFill>
              <a:srgbClr val="E0E5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6254496" y="1691640"/>
            <a:ext cx="64008" cy="3337560"/>
          </a:xfrm>
          <a:prstGeom prst="rect">
            <a:avLst/>
          </a:prstGeom>
          <a:solidFill>
            <a:srgbClr val="C58A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6464808" y="1837944"/>
            <a:ext cx="2221992" cy="347472"/>
          </a:xfrm>
          <a:prstGeom prst="rect">
            <a:avLst/>
          </a:prstGeom>
          <a:noFill/>
        </p:spPr>
        <p:txBody>
          <a:bodyPr wrap="square" lIns="0" tIns="0" rIns="0" bIns="0" anchor="t">
            <a:spAutoFit/>
          </a:bodyPr>
          <a:lstStyle/>
          <a:p>
            <a:pPr algn="l">
              <a:lnSpc>
                <a:spcPct val="112000"/>
              </a:lnSpc>
              <a:spcAft>
                <a:spcPts val="0"/>
              </a:spcAft>
            </a:pPr>
            <a:r>
              <a:rPr sz="1900" b="1" i="0">
                <a:solidFill>
                  <a:srgbClr val="C58A24"/>
                </a:solidFill>
                <a:latin typeface="微软雅黑"/>
              </a:rPr>
              <a:t>鲁棒与泛化</a:t>
            </a:r>
          </a:p>
        </p:txBody>
      </p:sp>
      <p:sp>
        <p:nvSpPr>
          <p:cNvPr id="20" name="TextBox 19"/>
          <p:cNvSpPr txBox="1"/>
          <p:nvPr/>
        </p:nvSpPr>
        <p:spPr>
          <a:xfrm>
            <a:off x="6464808" y="2377440"/>
            <a:ext cx="2221992" cy="2496312"/>
          </a:xfrm>
          <a:prstGeom prst="rect">
            <a:avLst/>
          </a:prstGeom>
          <a:noFill/>
        </p:spPr>
        <p:txBody>
          <a:bodyPr wrap="square" lIns="0" tIns="0" rIns="0" bIns="0" anchor="t">
            <a:spAutoFit/>
          </a:bodyPr>
          <a:lstStyle/>
          <a:p>
            <a:pPr algn="l">
              <a:lnSpc>
                <a:spcPct val="112000"/>
              </a:lnSpc>
              <a:spcAft>
                <a:spcPts val="0"/>
              </a:spcAft>
            </a:pPr>
            <a:r>
              <a:rPr sz="1750" b="0" i="0">
                <a:solidFill>
                  <a:srgbClr val="222833"/>
                </a:solidFill>
                <a:latin typeface="微软雅黑"/>
              </a:rPr>
              <a:t>零样本性能、V1～V5 扰动测试、MMRV。</a:t>
            </a:r>
          </a:p>
        </p:txBody>
      </p:sp>
      <p:sp>
        <p:nvSpPr>
          <p:cNvPr id="21" name="Rounded Rectangle 20"/>
          <p:cNvSpPr/>
          <p:nvPr/>
        </p:nvSpPr>
        <p:spPr>
          <a:xfrm>
            <a:off x="9052560" y="1691640"/>
            <a:ext cx="2331720" cy="3337560"/>
          </a:xfrm>
          <a:prstGeom prst="roundRect">
            <a:avLst/>
          </a:prstGeom>
          <a:solidFill>
            <a:srgbClr val="FFFFFF"/>
          </a:solidFill>
          <a:ln w="10160">
            <a:solidFill>
              <a:srgbClr val="E0E5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9052560" y="1691640"/>
            <a:ext cx="64008" cy="3337560"/>
          </a:xfrm>
          <a:prstGeom prst="rect">
            <a:avLst/>
          </a:prstGeom>
          <a:solidFill>
            <a:srgbClr val="C63F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9262872" y="1837944"/>
            <a:ext cx="1947672" cy="347472"/>
          </a:xfrm>
          <a:prstGeom prst="rect">
            <a:avLst/>
          </a:prstGeom>
          <a:noFill/>
        </p:spPr>
        <p:txBody>
          <a:bodyPr wrap="square" lIns="0" tIns="0" rIns="0" bIns="0" anchor="t">
            <a:spAutoFit/>
          </a:bodyPr>
          <a:lstStyle/>
          <a:p>
            <a:pPr algn="l">
              <a:lnSpc>
                <a:spcPct val="112000"/>
              </a:lnSpc>
              <a:spcAft>
                <a:spcPts val="0"/>
              </a:spcAft>
            </a:pPr>
            <a:r>
              <a:rPr sz="1900" b="1" i="0">
                <a:solidFill>
                  <a:srgbClr val="C63F45"/>
                </a:solidFill>
                <a:latin typeface="微软雅黑"/>
              </a:rPr>
              <a:t>域差距量化</a:t>
            </a:r>
          </a:p>
        </p:txBody>
      </p:sp>
      <p:sp>
        <p:nvSpPr>
          <p:cNvPr id="24" name="TextBox 23"/>
          <p:cNvSpPr txBox="1"/>
          <p:nvPr/>
        </p:nvSpPr>
        <p:spPr>
          <a:xfrm>
            <a:off x="9262872" y="2377440"/>
            <a:ext cx="1947672" cy="2496312"/>
          </a:xfrm>
          <a:prstGeom prst="rect">
            <a:avLst/>
          </a:prstGeom>
          <a:noFill/>
        </p:spPr>
        <p:txBody>
          <a:bodyPr wrap="square" lIns="0" tIns="0" rIns="0" bIns="0" anchor="t">
            <a:spAutoFit/>
          </a:bodyPr>
          <a:lstStyle/>
          <a:p>
            <a:pPr algn="l">
              <a:lnSpc>
                <a:spcPct val="112000"/>
              </a:lnSpc>
              <a:spcAft>
                <a:spcPts val="0"/>
              </a:spcAft>
            </a:pPr>
            <a:r>
              <a:rPr sz="1700" b="0" i="0">
                <a:solidFill>
                  <a:srgbClr val="222833"/>
                </a:solidFill>
                <a:latin typeface="微软雅黑"/>
              </a:rPr>
              <a:t>ΔSR、Pearson r、MMD、DTW、Wasserstein。</a:t>
            </a:r>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18872" cy="6858000"/>
          </a:xfrm>
          <a:prstGeom prst="rect">
            <a:avLst/>
          </a:prstGeom>
          <a:solidFill>
            <a:srgbClr val="3159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118872" y="0"/>
            <a:ext cx="41148" cy="6858000"/>
          </a:xfrm>
          <a:prstGeom prst="rect">
            <a:avLst/>
          </a:prstGeom>
          <a:solidFill>
            <a:srgbClr val="B7C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38912" y="137160"/>
            <a:ext cx="3474720" cy="164592"/>
          </a:xfrm>
          <a:prstGeom prst="rect">
            <a:avLst/>
          </a:prstGeom>
          <a:noFill/>
        </p:spPr>
        <p:txBody>
          <a:bodyPr wrap="square" lIns="0" tIns="0" rIns="0" bIns="0" anchor="t">
            <a:spAutoFit/>
          </a:bodyPr>
          <a:lstStyle/>
          <a:p>
            <a:pPr algn="l">
              <a:lnSpc>
                <a:spcPct val="112000"/>
              </a:lnSpc>
              <a:spcAft>
                <a:spcPts val="0"/>
              </a:spcAft>
            </a:pPr>
            <a:r>
              <a:rPr sz="1050" b="0" i="0">
                <a:solidFill>
                  <a:srgbClr val="8C98AA"/>
                </a:solidFill>
                <a:latin typeface="微软雅黑"/>
              </a:rPr>
              <a:t>具身智能导论 · 第 9 章</a:t>
            </a:r>
          </a:p>
        </p:txBody>
      </p:sp>
      <p:sp>
        <p:nvSpPr>
          <p:cNvPr id="5" name="TextBox 4"/>
          <p:cNvSpPr txBox="1"/>
          <p:nvPr/>
        </p:nvSpPr>
        <p:spPr>
          <a:xfrm>
            <a:off x="9144000" y="137160"/>
            <a:ext cx="2423160" cy="164592"/>
          </a:xfrm>
          <a:prstGeom prst="rect">
            <a:avLst/>
          </a:prstGeom>
          <a:noFill/>
        </p:spPr>
        <p:txBody>
          <a:bodyPr wrap="square" lIns="0" tIns="0" rIns="0" bIns="0" anchor="t">
            <a:spAutoFit/>
          </a:bodyPr>
          <a:lstStyle/>
          <a:p>
            <a:pPr algn="r">
              <a:lnSpc>
                <a:spcPct val="112000"/>
              </a:lnSpc>
              <a:spcAft>
                <a:spcPts val="0"/>
              </a:spcAft>
            </a:pPr>
            <a:r>
              <a:rPr sz="1050" b="0" i="0">
                <a:solidFill>
                  <a:srgbClr val="8C98AA"/>
                </a:solidFill>
                <a:latin typeface="微软雅黑"/>
              </a:rPr>
              <a:t>虚实迁移技术</a:t>
            </a:r>
          </a:p>
        </p:txBody>
      </p:sp>
      <p:sp>
        <p:nvSpPr>
          <p:cNvPr id="6" name="TextBox 5"/>
          <p:cNvSpPr txBox="1"/>
          <p:nvPr/>
        </p:nvSpPr>
        <p:spPr>
          <a:xfrm>
            <a:off x="502920" y="457200"/>
            <a:ext cx="10927080" cy="749808"/>
          </a:xfrm>
          <a:prstGeom prst="rect">
            <a:avLst/>
          </a:prstGeom>
          <a:noFill/>
        </p:spPr>
        <p:txBody>
          <a:bodyPr wrap="square" lIns="0" tIns="0" rIns="0" bIns="0" anchor="t">
            <a:spAutoFit/>
          </a:bodyPr>
          <a:lstStyle/>
          <a:p>
            <a:pPr algn="l">
              <a:lnSpc>
                <a:spcPct val="112000"/>
              </a:lnSpc>
              <a:spcAft>
                <a:spcPts val="0"/>
              </a:spcAft>
            </a:pPr>
            <a:r>
              <a:rPr sz="3500" b="1" i="0">
                <a:solidFill>
                  <a:srgbClr val="24477D"/>
                </a:solidFill>
                <a:latin typeface="微软雅黑"/>
              </a:rPr>
              <a:t>任务性能：成功率与失败模式分析</a:t>
            </a:r>
          </a:p>
        </p:txBody>
      </p:sp>
      <p:sp>
        <p:nvSpPr>
          <p:cNvPr id="7" name="Rectangle 6"/>
          <p:cNvSpPr/>
          <p:nvPr/>
        </p:nvSpPr>
        <p:spPr>
          <a:xfrm>
            <a:off x="502920" y="1353312"/>
            <a:ext cx="11109960" cy="9144"/>
          </a:xfrm>
          <a:prstGeom prst="rect">
            <a:avLst/>
          </a:prstGeom>
          <a:solidFill>
            <a:srgbClr val="D8DE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1457432" y="6473952"/>
            <a:ext cx="347472" cy="164592"/>
          </a:xfrm>
          <a:prstGeom prst="rect">
            <a:avLst/>
          </a:prstGeom>
          <a:noFill/>
        </p:spPr>
        <p:txBody>
          <a:bodyPr wrap="square" lIns="0" tIns="0" rIns="0" bIns="0" anchor="t">
            <a:spAutoFit/>
          </a:bodyPr>
          <a:lstStyle/>
          <a:p>
            <a:pPr algn="r">
              <a:lnSpc>
                <a:spcPct val="112000"/>
              </a:lnSpc>
              <a:spcAft>
                <a:spcPts val="0"/>
              </a:spcAft>
            </a:pPr>
            <a:r>
              <a:rPr sz="1050" b="0" i="0">
                <a:solidFill>
                  <a:srgbClr val="8C98AA"/>
                </a:solidFill>
                <a:latin typeface="微软雅黑"/>
              </a:rPr>
              <a:t>84</a:t>
            </a:r>
          </a:p>
        </p:txBody>
      </p:sp>
      <p:pic>
        <p:nvPicPr>
          <p:cNvPr id="9" name="Picture 8" descr="eq9_11.png"/>
          <p:cNvPicPr>
            <a:picLocks noChangeAspect="1"/>
          </p:cNvPicPr>
          <p:nvPr/>
        </p:nvPicPr>
        <p:blipFill>
          <a:blip r:embed="rId2"/>
          <a:stretch>
            <a:fillRect/>
          </a:stretch>
        </p:blipFill>
        <p:spPr>
          <a:xfrm>
            <a:off x="3231501" y="1641348"/>
            <a:ext cx="5469917" cy="1051560"/>
          </a:xfrm>
          <a:prstGeom prst="rect">
            <a:avLst/>
          </a:prstGeom>
        </p:spPr>
      </p:pic>
      <p:sp>
        <p:nvSpPr>
          <p:cNvPr id="11" name="Rounded Rectangle 10"/>
          <p:cNvSpPr/>
          <p:nvPr/>
        </p:nvSpPr>
        <p:spPr>
          <a:xfrm>
            <a:off x="762000" y="2971800"/>
            <a:ext cx="5166360" cy="2057400"/>
          </a:xfrm>
          <a:prstGeom prst="roundRect">
            <a:avLst>
              <a:gd name="adj" fmla="val 1358"/>
            </a:avLst>
          </a:prstGeom>
          <a:solidFill>
            <a:srgbClr val="FFFFFF"/>
          </a:solidFill>
          <a:ln w="10160">
            <a:solidFill>
              <a:srgbClr val="E0E5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777240" y="2971800"/>
            <a:ext cx="64008" cy="2057400"/>
          </a:xfrm>
          <a:prstGeom prst="rect">
            <a:avLst/>
          </a:prstGeom>
          <a:solidFill>
            <a:srgbClr val="3159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987552" y="3118104"/>
            <a:ext cx="4782312" cy="347472"/>
          </a:xfrm>
          <a:prstGeom prst="rect">
            <a:avLst/>
          </a:prstGeom>
          <a:noFill/>
        </p:spPr>
        <p:txBody>
          <a:bodyPr wrap="square" lIns="0" tIns="0" rIns="0" bIns="0" anchor="t">
            <a:spAutoFit/>
          </a:bodyPr>
          <a:lstStyle/>
          <a:p>
            <a:pPr algn="l">
              <a:lnSpc>
                <a:spcPct val="112000"/>
              </a:lnSpc>
              <a:spcAft>
                <a:spcPts val="0"/>
              </a:spcAft>
            </a:pPr>
            <a:r>
              <a:rPr sz="1900" b="1" i="0">
                <a:solidFill>
                  <a:srgbClr val="31599B"/>
                </a:solidFill>
                <a:latin typeface="微软雅黑"/>
              </a:rPr>
              <a:t>成功率 SR</a:t>
            </a:r>
          </a:p>
        </p:txBody>
      </p:sp>
      <p:sp>
        <p:nvSpPr>
          <p:cNvPr id="14" name="TextBox 13"/>
          <p:cNvSpPr txBox="1"/>
          <p:nvPr/>
        </p:nvSpPr>
        <p:spPr>
          <a:xfrm>
            <a:off x="987552" y="3657600"/>
            <a:ext cx="4782312" cy="1216152"/>
          </a:xfrm>
          <a:prstGeom prst="rect">
            <a:avLst/>
          </a:prstGeom>
          <a:noFill/>
        </p:spPr>
        <p:txBody>
          <a:bodyPr wrap="square" lIns="0" tIns="0" rIns="0" bIns="0" anchor="t">
            <a:spAutoFit/>
          </a:bodyPr>
          <a:lstStyle/>
          <a:p>
            <a:pPr algn="l">
              <a:lnSpc>
                <a:spcPct val="112000"/>
              </a:lnSpc>
              <a:spcAft>
                <a:spcPts val="0"/>
              </a:spcAft>
            </a:pPr>
            <a:r>
              <a:rPr sz="1750" b="0" i="0">
                <a:solidFill>
                  <a:srgbClr val="222833"/>
                </a:solidFill>
                <a:latin typeface="微软雅黑"/>
              </a:rPr>
              <a:t>Sᵢ 是第 i 个 Episode 的成功指示变量；SR = 成功任务数 / 总尝试数。</a:t>
            </a:r>
          </a:p>
        </p:txBody>
      </p:sp>
      <p:sp>
        <p:nvSpPr>
          <p:cNvPr id="15" name="Rounded Rectangle 14"/>
          <p:cNvSpPr/>
          <p:nvPr/>
        </p:nvSpPr>
        <p:spPr>
          <a:xfrm>
            <a:off x="6263640" y="2971800"/>
            <a:ext cx="5166360" cy="2057400"/>
          </a:xfrm>
          <a:prstGeom prst="roundRect">
            <a:avLst>
              <a:gd name="adj" fmla="val 6050"/>
            </a:avLst>
          </a:prstGeom>
          <a:solidFill>
            <a:srgbClr val="FFFFFF"/>
          </a:solidFill>
          <a:ln w="10160">
            <a:solidFill>
              <a:srgbClr val="E0E5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6263640" y="2971800"/>
            <a:ext cx="64008" cy="2057400"/>
          </a:xfrm>
          <a:prstGeom prst="rect">
            <a:avLst/>
          </a:prstGeom>
          <a:solidFill>
            <a:srgbClr val="2F8E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473952" y="3118104"/>
            <a:ext cx="4782312" cy="347472"/>
          </a:xfrm>
          <a:prstGeom prst="rect">
            <a:avLst/>
          </a:prstGeom>
          <a:noFill/>
        </p:spPr>
        <p:txBody>
          <a:bodyPr wrap="square" lIns="0" tIns="0" rIns="0" bIns="0" anchor="t">
            <a:spAutoFit/>
          </a:bodyPr>
          <a:lstStyle/>
          <a:p>
            <a:pPr algn="l">
              <a:lnSpc>
                <a:spcPct val="112000"/>
              </a:lnSpc>
              <a:spcAft>
                <a:spcPts val="0"/>
              </a:spcAft>
            </a:pPr>
            <a:r>
              <a:rPr sz="1900" b="1" i="0">
                <a:solidFill>
                  <a:srgbClr val="2F8E72"/>
                </a:solidFill>
                <a:latin typeface="微软雅黑"/>
              </a:rPr>
              <a:t>失败模式分析</a:t>
            </a:r>
          </a:p>
        </p:txBody>
      </p:sp>
      <p:sp>
        <p:nvSpPr>
          <p:cNvPr id="18" name="TextBox 17"/>
          <p:cNvSpPr txBox="1"/>
          <p:nvPr/>
        </p:nvSpPr>
        <p:spPr>
          <a:xfrm>
            <a:off x="6473952" y="3657600"/>
            <a:ext cx="4782312" cy="1216152"/>
          </a:xfrm>
          <a:prstGeom prst="rect">
            <a:avLst/>
          </a:prstGeom>
          <a:noFill/>
        </p:spPr>
        <p:txBody>
          <a:bodyPr wrap="square" lIns="0" tIns="0" rIns="0" bIns="0" anchor="t">
            <a:spAutoFit/>
          </a:bodyPr>
          <a:lstStyle/>
          <a:p>
            <a:pPr algn="l">
              <a:lnSpc>
                <a:spcPct val="112000"/>
              </a:lnSpc>
              <a:spcAft>
                <a:spcPts val="0"/>
              </a:spcAft>
            </a:pPr>
            <a:r>
              <a:rPr sz="1750" b="0" i="0">
                <a:solidFill>
                  <a:srgbClr val="222833"/>
                </a:solidFill>
                <a:latin typeface="微软雅黑"/>
              </a:rPr>
              <a:t>进一步区分抓取失败、稳定性失败、策略生成失败、可达性失败、推理失败等类别。</a:t>
            </a:r>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18872" cy="6858000"/>
          </a:xfrm>
          <a:prstGeom prst="rect">
            <a:avLst/>
          </a:prstGeom>
          <a:solidFill>
            <a:srgbClr val="3159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118872" y="0"/>
            <a:ext cx="41148" cy="6858000"/>
          </a:xfrm>
          <a:prstGeom prst="rect">
            <a:avLst/>
          </a:prstGeom>
          <a:solidFill>
            <a:srgbClr val="B7C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38912" y="137160"/>
            <a:ext cx="3474720" cy="164592"/>
          </a:xfrm>
          <a:prstGeom prst="rect">
            <a:avLst/>
          </a:prstGeom>
          <a:noFill/>
        </p:spPr>
        <p:txBody>
          <a:bodyPr wrap="square" lIns="0" tIns="0" rIns="0" bIns="0" anchor="t">
            <a:spAutoFit/>
          </a:bodyPr>
          <a:lstStyle/>
          <a:p>
            <a:pPr algn="l">
              <a:lnSpc>
                <a:spcPct val="112000"/>
              </a:lnSpc>
              <a:spcAft>
                <a:spcPts val="0"/>
              </a:spcAft>
            </a:pPr>
            <a:r>
              <a:rPr sz="1050" b="0" i="0">
                <a:solidFill>
                  <a:srgbClr val="8C98AA"/>
                </a:solidFill>
                <a:latin typeface="微软雅黑"/>
              </a:rPr>
              <a:t>具身智能导论 · 第 9 章</a:t>
            </a:r>
          </a:p>
        </p:txBody>
      </p:sp>
      <p:sp>
        <p:nvSpPr>
          <p:cNvPr id="5" name="TextBox 4"/>
          <p:cNvSpPr txBox="1"/>
          <p:nvPr/>
        </p:nvSpPr>
        <p:spPr>
          <a:xfrm>
            <a:off x="9144000" y="137160"/>
            <a:ext cx="2423160" cy="164592"/>
          </a:xfrm>
          <a:prstGeom prst="rect">
            <a:avLst/>
          </a:prstGeom>
          <a:noFill/>
        </p:spPr>
        <p:txBody>
          <a:bodyPr wrap="square" lIns="0" tIns="0" rIns="0" bIns="0" anchor="t">
            <a:spAutoFit/>
          </a:bodyPr>
          <a:lstStyle/>
          <a:p>
            <a:pPr algn="r">
              <a:lnSpc>
                <a:spcPct val="112000"/>
              </a:lnSpc>
              <a:spcAft>
                <a:spcPts val="0"/>
              </a:spcAft>
            </a:pPr>
            <a:r>
              <a:rPr sz="1050" b="0" i="0">
                <a:solidFill>
                  <a:srgbClr val="8C98AA"/>
                </a:solidFill>
                <a:latin typeface="微软雅黑"/>
              </a:rPr>
              <a:t>虚实迁移技术</a:t>
            </a:r>
          </a:p>
        </p:txBody>
      </p:sp>
      <p:sp>
        <p:nvSpPr>
          <p:cNvPr id="6" name="TextBox 5"/>
          <p:cNvSpPr txBox="1"/>
          <p:nvPr/>
        </p:nvSpPr>
        <p:spPr>
          <a:xfrm>
            <a:off x="502920" y="457200"/>
            <a:ext cx="10927080" cy="749808"/>
          </a:xfrm>
          <a:prstGeom prst="rect">
            <a:avLst/>
          </a:prstGeom>
          <a:noFill/>
        </p:spPr>
        <p:txBody>
          <a:bodyPr wrap="square" lIns="0" tIns="0" rIns="0" bIns="0" anchor="t">
            <a:spAutoFit/>
          </a:bodyPr>
          <a:lstStyle/>
          <a:p>
            <a:pPr algn="l">
              <a:lnSpc>
                <a:spcPct val="112000"/>
              </a:lnSpc>
              <a:spcAft>
                <a:spcPts val="0"/>
              </a:spcAft>
            </a:pPr>
            <a:r>
              <a:rPr sz="3500" b="1" i="0">
                <a:solidFill>
                  <a:srgbClr val="24477D"/>
                </a:solidFill>
                <a:latin typeface="微软雅黑"/>
              </a:rPr>
              <a:t>效率指标：迁移成功还要“算得动、跑得稳”</a:t>
            </a:r>
          </a:p>
        </p:txBody>
      </p:sp>
      <p:sp>
        <p:nvSpPr>
          <p:cNvPr id="7" name="Rectangle 6"/>
          <p:cNvSpPr/>
          <p:nvPr/>
        </p:nvSpPr>
        <p:spPr>
          <a:xfrm>
            <a:off x="502920" y="1353312"/>
            <a:ext cx="11109960" cy="9144"/>
          </a:xfrm>
          <a:prstGeom prst="rect">
            <a:avLst/>
          </a:prstGeom>
          <a:solidFill>
            <a:srgbClr val="D8DE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1457432" y="6473952"/>
            <a:ext cx="347472" cy="164592"/>
          </a:xfrm>
          <a:prstGeom prst="rect">
            <a:avLst/>
          </a:prstGeom>
          <a:noFill/>
        </p:spPr>
        <p:txBody>
          <a:bodyPr wrap="square" lIns="0" tIns="0" rIns="0" bIns="0" anchor="t">
            <a:spAutoFit/>
          </a:bodyPr>
          <a:lstStyle/>
          <a:p>
            <a:pPr algn="r">
              <a:lnSpc>
                <a:spcPct val="112000"/>
              </a:lnSpc>
              <a:spcAft>
                <a:spcPts val="0"/>
              </a:spcAft>
            </a:pPr>
            <a:r>
              <a:rPr sz="1050" b="0" i="0">
                <a:solidFill>
                  <a:srgbClr val="8C98AA"/>
                </a:solidFill>
                <a:latin typeface="微软雅黑"/>
              </a:rPr>
              <a:t>85</a:t>
            </a:r>
          </a:p>
        </p:txBody>
      </p:sp>
      <p:sp>
        <p:nvSpPr>
          <p:cNvPr id="9" name="TextBox 8"/>
          <p:cNvSpPr txBox="1"/>
          <p:nvPr/>
        </p:nvSpPr>
        <p:spPr>
          <a:xfrm>
            <a:off x="749808" y="1691640"/>
            <a:ext cx="10378440" cy="1803955"/>
          </a:xfrm>
          <a:prstGeom prst="rect">
            <a:avLst/>
          </a:prstGeom>
          <a:noFill/>
        </p:spPr>
        <p:txBody>
          <a:bodyPr wrap="square" lIns="0" tIns="0" rIns="0" bIns="0">
            <a:spAutoFit/>
          </a:bodyPr>
          <a:lstStyle/>
          <a:p>
            <a:pPr>
              <a:lnSpc>
                <a:spcPct val="112000"/>
              </a:lnSpc>
              <a:spcAft>
                <a:spcPts val="700"/>
              </a:spcAft>
            </a:pPr>
            <a:r>
              <a:rPr sz="2400" b="0" dirty="0">
                <a:solidFill>
                  <a:srgbClr val="222833"/>
                </a:solidFill>
                <a:latin typeface="微软雅黑"/>
              </a:rPr>
              <a:t>• </a:t>
            </a:r>
            <a:r>
              <a:rPr sz="2400" dirty="0" err="1">
                <a:solidFill>
                  <a:srgbClr val="222833"/>
                </a:solidFill>
                <a:latin typeface="微软雅黑"/>
              </a:rPr>
              <a:t>部署效率：任务完成时间、轨迹长度、能量消耗、平均策略推理时间</a:t>
            </a:r>
            <a:r>
              <a:rPr sz="2400" dirty="0">
                <a:solidFill>
                  <a:srgbClr val="222833"/>
                </a:solidFill>
                <a:latin typeface="微软雅黑"/>
              </a:rPr>
              <a:t>。</a:t>
            </a:r>
          </a:p>
          <a:p>
            <a:pPr>
              <a:lnSpc>
                <a:spcPct val="112000"/>
              </a:lnSpc>
              <a:spcAft>
                <a:spcPts val="700"/>
              </a:spcAft>
            </a:pPr>
            <a:r>
              <a:rPr sz="2400" b="0" dirty="0">
                <a:solidFill>
                  <a:srgbClr val="222833"/>
                </a:solidFill>
                <a:latin typeface="微软雅黑"/>
              </a:rPr>
              <a:t>• </a:t>
            </a:r>
            <a:r>
              <a:rPr sz="2400" dirty="0" err="1">
                <a:solidFill>
                  <a:srgbClr val="222833"/>
                </a:solidFill>
                <a:latin typeface="微软雅黑"/>
              </a:rPr>
              <a:t>训练成本：计算资源与仿真交互规模</a:t>
            </a:r>
            <a:r>
              <a:rPr sz="2400" dirty="0">
                <a:solidFill>
                  <a:srgbClr val="222833"/>
                </a:solidFill>
                <a:latin typeface="微软雅黑"/>
              </a:rPr>
              <a:t>。</a:t>
            </a:r>
          </a:p>
          <a:p>
            <a:pPr>
              <a:lnSpc>
                <a:spcPct val="112000"/>
              </a:lnSpc>
              <a:spcAft>
                <a:spcPts val="700"/>
              </a:spcAft>
            </a:pPr>
            <a:r>
              <a:rPr sz="2400" b="0" dirty="0">
                <a:solidFill>
                  <a:srgbClr val="222833"/>
                </a:solidFill>
                <a:latin typeface="微软雅黑"/>
              </a:rPr>
              <a:t>• </a:t>
            </a:r>
            <a:r>
              <a:rPr sz="2400" dirty="0" err="1">
                <a:solidFill>
                  <a:srgbClr val="222833"/>
                </a:solidFill>
                <a:latin typeface="微软雅黑"/>
              </a:rPr>
              <a:t>训练稳定性：随机化强度过高虽然可能提升鲁棒性，但会增大方差、减慢收敛</a:t>
            </a:r>
            <a:r>
              <a:rPr sz="2400" dirty="0">
                <a:solidFill>
                  <a:srgbClr val="222833"/>
                </a:solidFill>
                <a:latin typeface="微软雅黑"/>
              </a:rPr>
              <a:t>。</a:t>
            </a:r>
          </a:p>
        </p:txBody>
      </p:sp>
      <p:sp>
        <p:nvSpPr>
          <p:cNvPr id="10" name="TextBox 9"/>
          <p:cNvSpPr txBox="1"/>
          <p:nvPr/>
        </p:nvSpPr>
        <p:spPr>
          <a:xfrm>
            <a:off x="640080" y="5193792"/>
            <a:ext cx="10972800" cy="502920"/>
          </a:xfrm>
          <a:prstGeom prst="rect">
            <a:avLst/>
          </a:prstGeom>
          <a:noFill/>
        </p:spPr>
        <p:txBody>
          <a:bodyPr wrap="square" lIns="0" tIns="0" rIns="0" bIns="0" anchor="ctr">
            <a:spAutoFit/>
          </a:bodyPr>
          <a:lstStyle/>
          <a:p>
            <a:pPr algn="ctr">
              <a:lnSpc>
                <a:spcPct val="112000"/>
              </a:lnSpc>
              <a:spcAft>
                <a:spcPts val="0"/>
              </a:spcAft>
            </a:pPr>
            <a:r>
              <a:rPr sz="2000" b="1" i="0" dirty="0" err="1">
                <a:solidFill>
                  <a:srgbClr val="24477D"/>
                </a:solidFill>
                <a:latin typeface="微软雅黑"/>
              </a:rPr>
              <a:t>需要在“环境多样性”和“优化稳定性”之间找到平衡</a:t>
            </a:r>
            <a:r>
              <a:rPr sz="2000" b="1" i="0" dirty="0">
                <a:solidFill>
                  <a:srgbClr val="24477D"/>
                </a:solidFill>
                <a:latin typeface="微软雅黑"/>
              </a:rPr>
              <a:t>。</a:t>
            </a:r>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18872" cy="6858000"/>
          </a:xfrm>
          <a:prstGeom prst="rect">
            <a:avLst/>
          </a:prstGeom>
          <a:solidFill>
            <a:srgbClr val="3159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118872" y="0"/>
            <a:ext cx="41148" cy="6858000"/>
          </a:xfrm>
          <a:prstGeom prst="rect">
            <a:avLst/>
          </a:prstGeom>
          <a:solidFill>
            <a:srgbClr val="B7C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38912" y="137160"/>
            <a:ext cx="3474720" cy="164592"/>
          </a:xfrm>
          <a:prstGeom prst="rect">
            <a:avLst/>
          </a:prstGeom>
          <a:noFill/>
        </p:spPr>
        <p:txBody>
          <a:bodyPr wrap="square" lIns="0" tIns="0" rIns="0" bIns="0" anchor="t">
            <a:spAutoFit/>
          </a:bodyPr>
          <a:lstStyle/>
          <a:p>
            <a:pPr algn="l">
              <a:lnSpc>
                <a:spcPct val="112000"/>
              </a:lnSpc>
              <a:spcAft>
                <a:spcPts val="0"/>
              </a:spcAft>
            </a:pPr>
            <a:r>
              <a:rPr sz="1050" b="0" i="0">
                <a:solidFill>
                  <a:srgbClr val="8C98AA"/>
                </a:solidFill>
                <a:latin typeface="微软雅黑"/>
              </a:rPr>
              <a:t>具身智能导论 · 第 9 章</a:t>
            </a:r>
          </a:p>
        </p:txBody>
      </p:sp>
      <p:sp>
        <p:nvSpPr>
          <p:cNvPr id="5" name="TextBox 4"/>
          <p:cNvSpPr txBox="1"/>
          <p:nvPr/>
        </p:nvSpPr>
        <p:spPr>
          <a:xfrm>
            <a:off x="9144000" y="137160"/>
            <a:ext cx="2423160" cy="164592"/>
          </a:xfrm>
          <a:prstGeom prst="rect">
            <a:avLst/>
          </a:prstGeom>
          <a:noFill/>
        </p:spPr>
        <p:txBody>
          <a:bodyPr wrap="square" lIns="0" tIns="0" rIns="0" bIns="0" anchor="t">
            <a:spAutoFit/>
          </a:bodyPr>
          <a:lstStyle/>
          <a:p>
            <a:pPr algn="r">
              <a:lnSpc>
                <a:spcPct val="112000"/>
              </a:lnSpc>
              <a:spcAft>
                <a:spcPts val="0"/>
              </a:spcAft>
            </a:pPr>
            <a:r>
              <a:rPr sz="1050" b="0" i="0">
                <a:solidFill>
                  <a:srgbClr val="8C98AA"/>
                </a:solidFill>
                <a:latin typeface="微软雅黑"/>
              </a:rPr>
              <a:t>虚实迁移技术</a:t>
            </a:r>
          </a:p>
        </p:txBody>
      </p:sp>
      <p:sp>
        <p:nvSpPr>
          <p:cNvPr id="6" name="TextBox 5"/>
          <p:cNvSpPr txBox="1"/>
          <p:nvPr/>
        </p:nvSpPr>
        <p:spPr>
          <a:xfrm>
            <a:off x="502920" y="457200"/>
            <a:ext cx="10927080" cy="749808"/>
          </a:xfrm>
          <a:prstGeom prst="rect">
            <a:avLst/>
          </a:prstGeom>
          <a:noFill/>
        </p:spPr>
        <p:txBody>
          <a:bodyPr wrap="square" lIns="0" tIns="0" rIns="0" bIns="0" anchor="t">
            <a:spAutoFit/>
          </a:bodyPr>
          <a:lstStyle/>
          <a:p>
            <a:pPr algn="l">
              <a:lnSpc>
                <a:spcPct val="112000"/>
              </a:lnSpc>
              <a:spcAft>
                <a:spcPts val="0"/>
              </a:spcAft>
            </a:pPr>
            <a:r>
              <a:rPr sz="3500" b="1" i="0" dirty="0">
                <a:solidFill>
                  <a:srgbClr val="24477D"/>
                </a:solidFill>
                <a:latin typeface="微软雅黑"/>
              </a:rPr>
              <a:t>鲁棒性与泛化：V1～V5 </a:t>
            </a:r>
            <a:r>
              <a:rPr sz="3500" b="1" i="0" dirty="0" err="1">
                <a:solidFill>
                  <a:srgbClr val="24477D"/>
                </a:solidFill>
                <a:latin typeface="微软雅黑"/>
              </a:rPr>
              <a:t>扰动测试</a:t>
            </a:r>
            <a:endParaRPr sz="3500" b="1" i="0" dirty="0">
              <a:solidFill>
                <a:srgbClr val="24477D"/>
              </a:solidFill>
              <a:latin typeface="微软雅黑"/>
            </a:endParaRPr>
          </a:p>
        </p:txBody>
      </p:sp>
      <p:sp>
        <p:nvSpPr>
          <p:cNvPr id="7" name="Rectangle 6"/>
          <p:cNvSpPr/>
          <p:nvPr/>
        </p:nvSpPr>
        <p:spPr>
          <a:xfrm>
            <a:off x="502920" y="1353312"/>
            <a:ext cx="11109960" cy="9144"/>
          </a:xfrm>
          <a:prstGeom prst="rect">
            <a:avLst/>
          </a:prstGeom>
          <a:solidFill>
            <a:srgbClr val="D8DE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1457432" y="6473952"/>
            <a:ext cx="347472" cy="164592"/>
          </a:xfrm>
          <a:prstGeom prst="rect">
            <a:avLst/>
          </a:prstGeom>
          <a:noFill/>
        </p:spPr>
        <p:txBody>
          <a:bodyPr wrap="square" lIns="0" tIns="0" rIns="0" bIns="0" anchor="t">
            <a:spAutoFit/>
          </a:bodyPr>
          <a:lstStyle/>
          <a:p>
            <a:pPr algn="r">
              <a:lnSpc>
                <a:spcPct val="112000"/>
              </a:lnSpc>
              <a:spcAft>
                <a:spcPts val="0"/>
              </a:spcAft>
            </a:pPr>
            <a:r>
              <a:rPr sz="1050" b="0" i="0">
                <a:solidFill>
                  <a:srgbClr val="8C98AA"/>
                </a:solidFill>
                <a:latin typeface="微软雅黑"/>
              </a:rPr>
              <a:t>86</a:t>
            </a:r>
          </a:p>
        </p:txBody>
      </p:sp>
      <p:sp>
        <p:nvSpPr>
          <p:cNvPr id="9" name="Rounded Rectangle 8"/>
          <p:cNvSpPr/>
          <p:nvPr/>
        </p:nvSpPr>
        <p:spPr>
          <a:xfrm>
            <a:off x="502920" y="1664208"/>
            <a:ext cx="2176272" cy="3520440"/>
          </a:xfrm>
          <a:prstGeom prst="roundRect">
            <a:avLst/>
          </a:prstGeom>
          <a:solidFill>
            <a:srgbClr val="FFFFFF"/>
          </a:solidFill>
          <a:ln w="10160">
            <a:solidFill>
              <a:srgbClr val="E0E5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502920" y="1664208"/>
            <a:ext cx="64008" cy="3520440"/>
          </a:xfrm>
          <a:prstGeom prst="rect">
            <a:avLst/>
          </a:prstGeom>
          <a:solidFill>
            <a:srgbClr val="3159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713232" y="1810512"/>
            <a:ext cx="1792224" cy="347472"/>
          </a:xfrm>
          <a:prstGeom prst="rect">
            <a:avLst/>
          </a:prstGeom>
          <a:noFill/>
        </p:spPr>
        <p:txBody>
          <a:bodyPr wrap="square" lIns="0" tIns="0" rIns="0" bIns="0" anchor="t">
            <a:spAutoFit/>
          </a:bodyPr>
          <a:lstStyle/>
          <a:p>
            <a:pPr algn="l">
              <a:lnSpc>
                <a:spcPct val="112000"/>
              </a:lnSpc>
              <a:spcAft>
                <a:spcPts val="0"/>
              </a:spcAft>
            </a:pPr>
            <a:r>
              <a:rPr sz="1750" b="1" i="0">
                <a:solidFill>
                  <a:srgbClr val="31599B"/>
                </a:solidFill>
                <a:latin typeface="微软雅黑"/>
              </a:rPr>
              <a:t>V1  物体放置扰动</a:t>
            </a:r>
          </a:p>
        </p:txBody>
      </p:sp>
      <p:sp>
        <p:nvSpPr>
          <p:cNvPr id="12" name="TextBox 11"/>
          <p:cNvSpPr txBox="1"/>
          <p:nvPr/>
        </p:nvSpPr>
        <p:spPr>
          <a:xfrm>
            <a:off x="713232" y="2350008"/>
            <a:ext cx="1792224" cy="2679192"/>
          </a:xfrm>
          <a:prstGeom prst="rect">
            <a:avLst/>
          </a:prstGeom>
          <a:noFill/>
        </p:spPr>
        <p:txBody>
          <a:bodyPr wrap="square" lIns="0" tIns="0" rIns="0" bIns="0" anchor="t">
            <a:spAutoFit/>
          </a:bodyPr>
          <a:lstStyle/>
          <a:p>
            <a:pPr algn="l">
              <a:lnSpc>
                <a:spcPct val="112000"/>
              </a:lnSpc>
              <a:spcAft>
                <a:spcPts val="0"/>
              </a:spcAft>
            </a:pPr>
            <a:r>
              <a:rPr sz="1600" b="0" i="0">
                <a:solidFill>
                  <a:srgbClr val="222833"/>
                </a:solidFill>
                <a:latin typeface="微软雅黑"/>
              </a:rPr>
              <a:t>改变物体在工作空间中的位置。</a:t>
            </a:r>
          </a:p>
        </p:txBody>
      </p:sp>
      <p:sp>
        <p:nvSpPr>
          <p:cNvPr id="13" name="Rounded Rectangle 12"/>
          <p:cNvSpPr/>
          <p:nvPr/>
        </p:nvSpPr>
        <p:spPr>
          <a:xfrm>
            <a:off x="2743200" y="1664208"/>
            <a:ext cx="2176272" cy="3520440"/>
          </a:xfrm>
          <a:prstGeom prst="roundRect">
            <a:avLst/>
          </a:prstGeom>
          <a:solidFill>
            <a:srgbClr val="FFFFFF"/>
          </a:solidFill>
          <a:ln w="10160">
            <a:solidFill>
              <a:srgbClr val="E0E5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2743200" y="1664208"/>
            <a:ext cx="64008" cy="3520440"/>
          </a:xfrm>
          <a:prstGeom prst="rect">
            <a:avLst/>
          </a:prstGeom>
          <a:solidFill>
            <a:srgbClr val="2F8E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2953512" y="1810512"/>
            <a:ext cx="1792224" cy="347472"/>
          </a:xfrm>
          <a:prstGeom prst="rect">
            <a:avLst/>
          </a:prstGeom>
          <a:noFill/>
        </p:spPr>
        <p:txBody>
          <a:bodyPr wrap="square" lIns="0" tIns="0" rIns="0" bIns="0" anchor="t">
            <a:spAutoFit/>
          </a:bodyPr>
          <a:lstStyle/>
          <a:p>
            <a:pPr algn="l">
              <a:lnSpc>
                <a:spcPct val="112000"/>
              </a:lnSpc>
              <a:spcAft>
                <a:spcPts val="0"/>
              </a:spcAft>
            </a:pPr>
            <a:r>
              <a:rPr sz="1750" b="1" i="0">
                <a:solidFill>
                  <a:srgbClr val="2F8E72"/>
                </a:solidFill>
                <a:latin typeface="微软雅黑"/>
              </a:rPr>
              <a:t>V2  数量 / 遮挡</a:t>
            </a:r>
          </a:p>
        </p:txBody>
      </p:sp>
      <p:sp>
        <p:nvSpPr>
          <p:cNvPr id="16" name="TextBox 15"/>
          <p:cNvSpPr txBox="1"/>
          <p:nvPr/>
        </p:nvSpPr>
        <p:spPr>
          <a:xfrm>
            <a:off x="2953512" y="2350008"/>
            <a:ext cx="1792224" cy="2679192"/>
          </a:xfrm>
          <a:prstGeom prst="rect">
            <a:avLst/>
          </a:prstGeom>
          <a:noFill/>
        </p:spPr>
        <p:txBody>
          <a:bodyPr wrap="square" lIns="0" tIns="0" rIns="0" bIns="0" anchor="t">
            <a:spAutoFit/>
          </a:bodyPr>
          <a:lstStyle/>
          <a:p>
            <a:pPr algn="l">
              <a:lnSpc>
                <a:spcPct val="112000"/>
              </a:lnSpc>
              <a:spcAft>
                <a:spcPts val="0"/>
              </a:spcAft>
            </a:pPr>
            <a:r>
              <a:rPr sz="1600" b="0" i="0">
                <a:solidFill>
                  <a:srgbClr val="222833"/>
                </a:solidFill>
                <a:latin typeface="微软雅黑"/>
              </a:rPr>
              <a:t>加入干扰物与视觉遮挡。</a:t>
            </a:r>
          </a:p>
        </p:txBody>
      </p:sp>
      <p:sp>
        <p:nvSpPr>
          <p:cNvPr id="17" name="Rounded Rectangle 16"/>
          <p:cNvSpPr/>
          <p:nvPr/>
        </p:nvSpPr>
        <p:spPr>
          <a:xfrm>
            <a:off x="4983480" y="1664208"/>
            <a:ext cx="2176272" cy="3520440"/>
          </a:xfrm>
          <a:prstGeom prst="roundRect">
            <a:avLst/>
          </a:prstGeom>
          <a:solidFill>
            <a:srgbClr val="FFFFFF"/>
          </a:solidFill>
          <a:ln w="10160">
            <a:solidFill>
              <a:srgbClr val="E0E5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4983480" y="1664208"/>
            <a:ext cx="64008" cy="3520440"/>
          </a:xfrm>
          <a:prstGeom prst="rect">
            <a:avLst/>
          </a:prstGeom>
          <a:solidFill>
            <a:srgbClr val="C58A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5193792" y="1810512"/>
            <a:ext cx="1792224" cy="347472"/>
          </a:xfrm>
          <a:prstGeom prst="rect">
            <a:avLst/>
          </a:prstGeom>
          <a:noFill/>
        </p:spPr>
        <p:txBody>
          <a:bodyPr wrap="square" lIns="0" tIns="0" rIns="0" bIns="0" anchor="t">
            <a:spAutoFit/>
          </a:bodyPr>
          <a:lstStyle/>
          <a:p>
            <a:pPr algn="l">
              <a:lnSpc>
                <a:spcPct val="112000"/>
              </a:lnSpc>
              <a:spcAft>
                <a:spcPts val="0"/>
              </a:spcAft>
            </a:pPr>
            <a:r>
              <a:rPr sz="1750" b="1" i="0">
                <a:solidFill>
                  <a:srgbClr val="C58A24"/>
                </a:solidFill>
                <a:latin typeface="微软雅黑"/>
              </a:rPr>
              <a:t>V3  纹理变化</a:t>
            </a:r>
          </a:p>
        </p:txBody>
      </p:sp>
      <p:sp>
        <p:nvSpPr>
          <p:cNvPr id="20" name="TextBox 19"/>
          <p:cNvSpPr txBox="1"/>
          <p:nvPr/>
        </p:nvSpPr>
        <p:spPr>
          <a:xfrm>
            <a:off x="5193792" y="2350008"/>
            <a:ext cx="1792224" cy="2679192"/>
          </a:xfrm>
          <a:prstGeom prst="rect">
            <a:avLst/>
          </a:prstGeom>
          <a:noFill/>
        </p:spPr>
        <p:txBody>
          <a:bodyPr wrap="square" lIns="0" tIns="0" rIns="0" bIns="0" anchor="t">
            <a:spAutoFit/>
          </a:bodyPr>
          <a:lstStyle/>
          <a:p>
            <a:pPr algn="l">
              <a:lnSpc>
                <a:spcPct val="112000"/>
              </a:lnSpc>
              <a:spcAft>
                <a:spcPts val="0"/>
              </a:spcAft>
            </a:pPr>
            <a:r>
              <a:rPr sz="1600" b="0" i="0">
                <a:solidFill>
                  <a:srgbClr val="222833"/>
                </a:solidFill>
                <a:latin typeface="微软雅黑"/>
              </a:rPr>
              <a:t>随机改变物体与背景纹理。</a:t>
            </a:r>
          </a:p>
        </p:txBody>
      </p:sp>
      <p:sp>
        <p:nvSpPr>
          <p:cNvPr id="21" name="Rounded Rectangle 20"/>
          <p:cNvSpPr/>
          <p:nvPr/>
        </p:nvSpPr>
        <p:spPr>
          <a:xfrm>
            <a:off x="7223760" y="1664208"/>
            <a:ext cx="2176272" cy="3520440"/>
          </a:xfrm>
          <a:prstGeom prst="roundRect">
            <a:avLst/>
          </a:prstGeom>
          <a:solidFill>
            <a:srgbClr val="FFFFFF"/>
          </a:solidFill>
          <a:ln w="10160">
            <a:solidFill>
              <a:srgbClr val="E0E5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7223760" y="1664208"/>
            <a:ext cx="64008" cy="3520440"/>
          </a:xfrm>
          <a:prstGeom prst="rect">
            <a:avLst/>
          </a:prstGeom>
          <a:solidFill>
            <a:srgbClr val="C63F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7434072" y="1810512"/>
            <a:ext cx="1792224" cy="347472"/>
          </a:xfrm>
          <a:prstGeom prst="rect">
            <a:avLst/>
          </a:prstGeom>
          <a:noFill/>
        </p:spPr>
        <p:txBody>
          <a:bodyPr wrap="square" lIns="0" tIns="0" rIns="0" bIns="0" anchor="t">
            <a:spAutoFit/>
          </a:bodyPr>
          <a:lstStyle/>
          <a:p>
            <a:pPr algn="l">
              <a:lnSpc>
                <a:spcPct val="112000"/>
              </a:lnSpc>
              <a:spcAft>
                <a:spcPts val="0"/>
              </a:spcAft>
            </a:pPr>
            <a:r>
              <a:rPr sz="1750" b="1" i="0">
                <a:solidFill>
                  <a:srgbClr val="C63F45"/>
                </a:solidFill>
                <a:latin typeface="微软雅黑"/>
              </a:rPr>
              <a:t>V4  光照变化</a:t>
            </a:r>
          </a:p>
        </p:txBody>
      </p:sp>
      <p:sp>
        <p:nvSpPr>
          <p:cNvPr id="24" name="TextBox 23"/>
          <p:cNvSpPr txBox="1"/>
          <p:nvPr/>
        </p:nvSpPr>
        <p:spPr>
          <a:xfrm>
            <a:off x="7434072" y="2350008"/>
            <a:ext cx="1792224" cy="2679192"/>
          </a:xfrm>
          <a:prstGeom prst="rect">
            <a:avLst/>
          </a:prstGeom>
          <a:noFill/>
        </p:spPr>
        <p:txBody>
          <a:bodyPr wrap="square" lIns="0" tIns="0" rIns="0" bIns="0" anchor="t">
            <a:spAutoFit/>
          </a:bodyPr>
          <a:lstStyle/>
          <a:p>
            <a:pPr algn="l">
              <a:lnSpc>
                <a:spcPct val="112000"/>
              </a:lnSpc>
              <a:spcAft>
                <a:spcPts val="0"/>
              </a:spcAft>
            </a:pPr>
            <a:r>
              <a:rPr sz="1600" b="0" i="0">
                <a:solidFill>
                  <a:srgbClr val="222833"/>
                </a:solidFill>
                <a:latin typeface="微软雅黑"/>
              </a:rPr>
              <a:t>改变强度、方向光和阴影。</a:t>
            </a:r>
          </a:p>
        </p:txBody>
      </p:sp>
      <p:sp>
        <p:nvSpPr>
          <p:cNvPr id="25" name="Rounded Rectangle 24"/>
          <p:cNvSpPr/>
          <p:nvPr/>
        </p:nvSpPr>
        <p:spPr>
          <a:xfrm>
            <a:off x="9464040" y="1664208"/>
            <a:ext cx="2176272" cy="3520440"/>
          </a:xfrm>
          <a:prstGeom prst="roundRect">
            <a:avLst/>
          </a:prstGeom>
          <a:solidFill>
            <a:srgbClr val="FFFFFF"/>
          </a:solidFill>
          <a:ln w="10160">
            <a:solidFill>
              <a:srgbClr val="E0E5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ectangle 25"/>
          <p:cNvSpPr/>
          <p:nvPr/>
        </p:nvSpPr>
        <p:spPr>
          <a:xfrm>
            <a:off x="9464040" y="1664208"/>
            <a:ext cx="64008" cy="3520440"/>
          </a:xfrm>
          <a:prstGeom prst="rect">
            <a:avLst/>
          </a:prstGeom>
          <a:solidFill>
            <a:srgbClr val="7558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9674352" y="1810512"/>
            <a:ext cx="1792224" cy="347472"/>
          </a:xfrm>
          <a:prstGeom prst="rect">
            <a:avLst/>
          </a:prstGeom>
          <a:noFill/>
        </p:spPr>
        <p:txBody>
          <a:bodyPr wrap="square" lIns="0" tIns="0" rIns="0" bIns="0" anchor="t">
            <a:spAutoFit/>
          </a:bodyPr>
          <a:lstStyle/>
          <a:p>
            <a:pPr algn="l">
              <a:lnSpc>
                <a:spcPct val="112000"/>
              </a:lnSpc>
              <a:spcAft>
                <a:spcPts val="0"/>
              </a:spcAft>
            </a:pPr>
            <a:r>
              <a:rPr sz="1750" b="1" i="0">
                <a:solidFill>
                  <a:srgbClr val="7558A8"/>
                </a:solidFill>
                <a:latin typeface="微软雅黑"/>
              </a:rPr>
              <a:t>V5  相机位姿</a:t>
            </a:r>
          </a:p>
        </p:txBody>
      </p:sp>
      <p:sp>
        <p:nvSpPr>
          <p:cNvPr id="28" name="TextBox 27"/>
          <p:cNvSpPr txBox="1"/>
          <p:nvPr/>
        </p:nvSpPr>
        <p:spPr>
          <a:xfrm>
            <a:off x="9674352" y="2350008"/>
            <a:ext cx="1792224" cy="2679192"/>
          </a:xfrm>
          <a:prstGeom prst="rect">
            <a:avLst/>
          </a:prstGeom>
          <a:noFill/>
        </p:spPr>
        <p:txBody>
          <a:bodyPr wrap="square" lIns="0" tIns="0" rIns="0" bIns="0" anchor="t">
            <a:spAutoFit/>
          </a:bodyPr>
          <a:lstStyle/>
          <a:p>
            <a:pPr algn="l">
              <a:lnSpc>
                <a:spcPct val="112000"/>
              </a:lnSpc>
              <a:spcAft>
                <a:spcPts val="0"/>
              </a:spcAft>
            </a:pPr>
            <a:r>
              <a:rPr sz="1600" b="0" i="0">
                <a:solidFill>
                  <a:srgbClr val="222833"/>
                </a:solidFill>
                <a:latin typeface="微软雅黑"/>
              </a:rPr>
              <a:t>扰动相机位置与姿态。</a:t>
            </a:r>
          </a:p>
        </p:txBody>
      </p:sp>
      <p:sp>
        <p:nvSpPr>
          <p:cNvPr id="29" name="TextBox 28"/>
          <p:cNvSpPr txBox="1"/>
          <p:nvPr/>
        </p:nvSpPr>
        <p:spPr>
          <a:xfrm>
            <a:off x="685800" y="5440680"/>
            <a:ext cx="10835640" cy="384048"/>
          </a:xfrm>
          <a:prstGeom prst="rect">
            <a:avLst/>
          </a:prstGeom>
          <a:noFill/>
        </p:spPr>
        <p:txBody>
          <a:bodyPr wrap="square" lIns="0" tIns="0" rIns="0" bIns="0" anchor="t">
            <a:spAutoFit/>
          </a:bodyPr>
          <a:lstStyle/>
          <a:p>
            <a:pPr algn="ctr">
              <a:lnSpc>
                <a:spcPct val="112000"/>
              </a:lnSpc>
              <a:spcAft>
                <a:spcPts val="0"/>
              </a:spcAft>
            </a:pPr>
            <a:r>
              <a:rPr sz="1750" b="1" i="0">
                <a:solidFill>
                  <a:srgbClr val="24477D"/>
                </a:solidFill>
                <a:latin typeface="微软雅黑"/>
              </a:rPr>
              <a:t>教材指出：相机位姿变化（V5）和光照变化（V4）通常对成功率影响更显著，V1 相对温和。</a:t>
            </a:r>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18872" cy="6858000"/>
          </a:xfrm>
          <a:prstGeom prst="rect">
            <a:avLst/>
          </a:prstGeom>
          <a:solidFill>
            <a:srgbClr val="3159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118872" y="0"/>
            <a:ext cx="41148" cy="6858000"/>
          </a:xfrm>
          <a:prstGeom prst="rect">
            <a:avLst/>
          </a:prstGeom>
          <a:solidFill>
            <a:srgbClr val="B7C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38912" y="137160"/>
            <a:ext cx="3474720" cy="164592"/>
          </a:xfrm>
          <a:prstGeom prst="rect">
            <a:avLst/>
          </a:prstGeom>
          <a:noFill/>
        </p:spPr>
        <p:txBody>
          <a:bodyPr wrap="square" lIns="0" tIns="0" rIns="0" bIns="0" anchor="t">
            <a:spAutoFit/>
          </a:bodyPr>
          <a:lstStyle/>
          <a:p>
            <a:pPr algn="l">
              <a:lnSpc>
                <a:spcPct val="112000"/>
              </a:lnSpc>
              <a:spcAft>
                <a:spcPts val="0"/>
              </a:spcAft>
            </a:pPr>
            <a:r>
              <a:rPr sz="1050" b="0" i="0">
                <a:solidFill>
                  <a:srgbClr val="8C98AA"/>
                </a:solidFill>
                <a:latin typeface="微软雅黑"/>
              </a:rPr>
              <a:t>具身智能导论 · 第 9 章</a:t>
            </a:r>
          </a:p>
        </p:txBody>
      </p:sp>
      <p:sp>
        <p:nvSpPr>
          <p:cNvPr id="5" name="TextBox 4"/>
          <p:cNvSpPr txBox="1"/>
          <p:nvPr/>
        </p:nvSpPr>
        <p:spPr>
          <a:xfrm>
            <a:off x="9144000" y="137160"/>
            <a:ext cx="2423160" cy="164592"/>
          </a:xfrm>
          <a:prstGeom prst="rect">
            <a:avLst/>
          </a:prstGeom>
          <a:noFill/>
        </p:spPr>
        <p:txBody>
          <a:bodyPr wrap="square" lIns="0" tIns="0" rIns="0" bIns="0" anchor="t">
            <a:spAutoFit/>
          </a:bodyPr>
          <a:lstStyle/>
          <a:p>
            <a:pPr algn="r">
              <a:lnSpc>
                <a:spcPct val="112000"/>
              </a:lnSpc>
              <a:spcAft>
                <a:spcPts val="0"/>
              </a:spcAft>
            </a:pPr>
            <a:r>
              <a:rPr sz="1050" b="0" i="0">
                <a:solidFill>
                  <a:srgbClr val="8C98AA"/>
                </a:solidFill>
                <a:latin typeface="微软雅黑"/>
              </a:rPr>
              <a:t>虚实迁移技术</a:t>
            </a:r>
          </a:p>
        </p:txBody>
      </p:sp>
      <p:sp>
        <p:nvSpPr>
          <p:cNvPr id="6" name="TextBox 5"/>
          <p:cNvSpPr txBox="1"/>
          <p:nvPr/>
        </p:nvSpPr>
        <p:spPr>
          <a:xfrm>
            <a:off x="502920" y="457200"/>
            <a:ext cx="10927080" cy="749808"/>
          </a:xfrm>
          <a:prstGeom prst="rect">
            <a:avLst/>
          </a:prstGeom>
          <a:noFill/>
        </p:spPr>
        <p:txBody>
          <a:bodyPr wrap="square" lIns="0" tIns="0" rIns="0" bIns="0" anchor="t">
            <a:spAutoFit/>
          </a:bodyPr>
          <a:lstStyle/>
          <a:p>
            <a:pPr algn="l">
              <a:lnSpc>
                <a:spcPct val="112000"/>
              </a:lnSpc>
              <a:spcAft>
                <a:spcPts val="0"/>
              </a:spcAft>
            </a:pPr>
            <a:r>
              <a:rPr sz="3500" b="1" i="0">
                <a:solidFill>
                  <a:srgbClr val="24477D"/>
                </a:solidFill>
                <a:latin typeface="微软雅黑"/>
              </a:rPr>
              <a:t>MMRV：仿真能否正确预测“策略相对排名”？</a:t>
            </a:r>
          </a:p>
        </p:txBody>
      </p:sp>
      <p:sp>
        <p:nvSpPr>
          <p:cNvPr id="7" name="Rectangle 6"/>
          <p:cNvSpPr/>
          <p:nvPr/>
        </p:nvSpPr>
        <p:spPr>
          <a:xfrm>
            <a:off x="502920" y="1353312"/>
            <a:ext cx="11109960" cy="9144"/>
          </a:xfrm>
          <a:prstGeom prst="rect">
            <a:avLst/>
          </a:prstGeom>
          <a:solidFill>
            <a:srgbClr val="D8DE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1457432" y="6473952"/>
            <a:ext cx="347472" cy="164592"/>
          </a:xfrm>
          <a:prstGeom prst="rect">
            <a:avLst/>
          </a:prstGeom>
          <a:noFill/>
        </p:spPr>
        <p:txBody>
          <a:bodyPr wrap="square" lIns="0" tIns="0" rIns="0" bIns="0" anchor="t">
            <a:spAutoFit/>
          </a:bodyPr>
          <a:lstStyle/>
          <a:p>
            <a:pPr algn="r">
              <a:lnSpc>
                <a:spcPct val="112000"/>
              </a:lnSpc>
              <a:spcAft>
                <a:spcPts val="0"/>
              </a:spcAft>
            </a:pPr>
            <a:r>
              <a:rPr sz="1050" b="0" i="0">
                <a:solidFill>
                  <a:srgbClr val="8C98AA"/>
                </a:solidFill>
                <a:latin typeface="微软雅黑"/>
              </a:rPr>
              <a:t>87</a:t>
            </a:r>
          </a:p>
        </p:txBody>
      </p:sp>
      <p:sp>
        <p:nvSpPr>
          <p:cNvPr id="9" name="Rounded Rectangle 8"/>
          <p:cNvSpPr/>
          <p:nvPr/>
        </p:nvSpPr>
        <p:spPr>
          <a:xfrm>
            <a:off x="822960" y="1783080"/>
            <a:ext cx="5074920" cy="3246120"/>
          </a:xfrm>
          <a:prstGeom prst="roundRect">
            <a:avLst>
              <a:gd name="adj" fmla="val 5869"/>
            </a:avLst>
          </a:prstGeom>
          <a:solidFill>
            <a:srgbClr val="FFFFFF"/>
          </a:solidFill>
          <a:ln w="10160">
            <a:solidFill>
              <a:srgbClr val="E0E5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822960" y="1783080"/>
            <a:ext cx="64008" cy="3246120"/>
          </a:xfrm>
          <a:prstGeom prst="rect">
            <a:avLst/>
          </a:prstGeom>
          <a:solidFill>
            <a:srgbClr val="3159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1033272" y="1929384"/>
            <a:ext cx="4690872" cy="347472"/>
          </a:xfrm>
          <a:prstGeom prst="rect">
            <a:avLst/>
          </a:prstGeom>
          <a:noFill/>
        </p:spPr>
        <p:txBody>
          <a:bodyPr wrap="square" lIns="0" tIns="0" rIns="0" bIns="0" anchor="t">
            <a:spAutoFit/>
          </a:bodyPr>
          <a:lstStyle/>
          <a:p>
            <a:pPr algn="l">
              <a:lnSpc>
                <a:spcPct val="112000"/>
              </a:lnSpc>
              <a:spcAft>
                <a:spcPts val="0"/>
              </a:spcAft>
            </a:pPr>
            <a:r>
              <a:rPr sz="2000" b="1" i="0">
                <a:solidFill>
                  <a:srgbClr val="31599B"/>
                </a:solidFill>
                <a:latin typeface="微软雅黑"/>
              </a:rPr>
              <a:t>评估对象</a:t>
            </a:r>
          </a:p>
        </p:txBody>
      </p:sp>
      <p:sp>
        <p:nvSpPr>
          <p:cNvPr id="12" name="TextBox 11"/>
          <p:cNvSpPr txBox="1"/>
          <p:nvPr/>
        </p:nvSpPr>
        <p:spPr>
          <a:xfrm>
            <a:off x="1033272" y="2468880"/>
            <a:ext cx="4690872" cy="2404872"/>
          </a:xfrm>
          <a:prstGeom prst="rect">
            <a:avLst/>
          </a:prstGeom>
          <a:noFill/>
        </p:spPr>
        <p:txBody>
          <a:bodyPr wrap="square" lIns="0" tIns="0" rIns="0" bIns="0" anchor="t">
            <a:spAutoFit/>
          </a:bodyPr>
          <a:lstStyle/>
          <a:p>
            <a:pPr algn="l">
              <a:lnSpc>
                <a:spcPct val="112000"/>
              </a:lnSpc>
              <a:spcAft>
                <a:spcPts val="0"/>
              </a:spcAft>
            </a:pPr>
            <a:r>
              <a:rPr sz="1850" b="0" i="0">
                <a:solidFill>
                  <a:srgbClr val="222833"/>
                </a:solidFill>
                <a:latin typeface="微软雅黑"/>
              </a:rPr>
              <a:t>不是简单比较单个策略成功率，而是考察多种策略在仿真与现实中的相对排序是否一致。</a:t>
            </a:r>
          </a:p>
        </p:txBody>
      </p:sp>
      <p:sp>
        <p:nvSpPr>
          <p:cNvPr id="13" name="Rounded Rectangle 12"/>
          <p:cNvSpPr/>
          <p:nvPr/>
        </p:nvSpPr>
        <p:spPr>
          <a:xfrm>
            <a:off x="6291072" y="1783080"/>
            <a:ext cx="5074920" cy="3246120"/>
          </a:xfrm>
          <a:prstGeom prst="roundRect">
            <a:avLst>
              <a:gd name="adj" fmla="val 79"/>
            </a:avLst>
          </a:prstGeom>
          <a:solidFill>
            <a:srgbClr val="FFFFFF"/>
          </a:solidFill>
          <a:ln w="10160">
            <a:solidFill>
              <a:srgbClr val="E0E5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6291072" y="1783080"/>
            <a:ext cx="64008" cy="3246120"/>
          </a:xfrm>
          <a:prstGeom prst="rect">
            <a:avLst/>
          </a:prstGeom>
          <a:solidFill>
            <a:srgbClr val="2F8E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6501384" y="1929384"/>
            <a:ext cx="4690872" cy="347472"/>
          </a:xfrm>
          <a:prstGeom prst="rect">
            <a:avLst/>
          </a:prstGeom>
          <a:noFill/>
        </p:spPr>
        <p:txBody>
          <a:bodyPr wrap="square" lIns="0" tIns="0" rIns="0" bIns="0" anchor="t">
            <a:spAutoFit/>
          </a:bodyPr>
          <a:lstStyle/>
          <a:p>
            <a:pPr algn="l">
              <a:lnSpc>
                <a:spcPct val="112000"/>
              </a:lnSpc>
              <a:spcAft>
                <a:spcPts val="0"/>
              </a:spcAft>
            </a:pPr>
            <a:r>
              <a:rPr sz="2000" b="1" i="0">
                <a:solidFill>
                  <a:srgbClr val="2F8E72"/>
                </a:solidFill>
                <a:latin typeface="微软雅黑"/>
              </a:rPr>
              <a:t>指标解释</a:t>
            </a:r>
          </a:p>
        </p:txBody>
      </p:sp>
      <p:sp>
        <p:nvSpPr>
          <p:cNvPr id="16" name="TextBox 15"/>
          <p:cNvSpPr txBox="1"/>
          <p:nvPr/>
        </p:nvSpPr>
        <p:spPr>
          <a:xfrm>
            <a:off x="6501384" y="2468880"/>
            <a:ext cx="4690872" cy="2404872"/>
          </a:xfrm>
          <a:prstGeom prst="rect">
            <a:avLst/>
          </a:prstGeom>
          <a:noFill/>
        </p:spPr>
        <p:txBody>
          <a:bodyPr wrap="square" lIns="0" tIns="0" rIns="0" bIns="0" anchor="t">
            <a:spAutoFit/>
          </a:bodyPr>
          <a:lstStyle/>
          <a:p>
            <a:pPr algn="l">
              <a:lnSpc>
                <a:spcPct val="112000"/>
              </a:lnSpc>
              <a:spcAft>
                <a:spcPts val="0"/>
              </a:spcAft>
            </a:pPr>
            <a:r>
              <a:rPr sz="1850" b="0" i="0">
                <a:solidFill>
                  <a:srgbClr val="222833"/>
                </a:solidFill>
                <a:latin typeface="微软雅黑"/>
              </a:rPr>
              <a:t>平均最大秩违反（MMRV）越低，说明仿真对现实性能排序的预测越可靠。</a:t>
            </a:r>
          </a:p>
        </p:txBody>
      </p:sp>
      <p:sp>
        <p:nvSpPr>
          <p:cNvPr id="17" name="TextBox 16"/>
          <p:cNvSpPr txBox="1"/>
          <p:nvPr/>
        </p:nvSpPr>
        <p:spPr>
          <a:xfrm>
            <a:off x="640080" y="5230368"/>
            <a:ext cx="10972800" cy="502920"/>
          </a:xfrm>
          <a:prstGeom prst="rect">
            <a:avLst/>
          </a:prstGeom>
          <a:noFill/>
        </p:spPr>
        <p:txBody>
          <a:bodyPr wrap="square" lIns="0" tIns="0" rIns="0" bIns="0" anchor="ctr">
            <a:spAutoFit/>
          </a:bodyPr>
          <a:lstStyle/>
          <a:p>
            <a:pPr algn="ctr">
              <a:lnSpc>
                <a:spcPct val="112000"/>
              </a:lnSpc>
              <a:spcAft>
                <a:spcPts val="0"/>
              </a:spcAft>
            </a:pPr>
            <a:r>
              <a:rPr sz="1950" b="1" i="0">
                <a:solidFill>
                  <a:srgbClr val="24477D"/>
                </a:solidFill>
                <a:latin typeface="微软雅黑"/>
              </a:rPr>
              <a:t>一个“看起来很逼真”的仿真，并不一定能正确比较哪种策略更好。</a:t>
            </a:r>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18872" cy="6858000"/>
          </a:xfrm>
          <a:prstGeom prst="rect">
            <a:avLst/>
          </a:prstGeom>
          <a:solidFill>
            <a:srgbClr val="3159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118872" y="0"/>
            <a:ext cx="41148" cy="6858000"/>
          </a:xfrm>
          <a:prstGeom prst="rect">
            <a:avLst/>
          </a:prstGeom>
          <a:solidFill>
            <a:srgbClr val="B7C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38912" y="137160"/>
            <a:ext cx="3474720" cy="164592"/>
          </a:xfrm>
          <a:prstGeom prst="rect">
            <a:avLst/>
          </a:prstGeom>
          <a:noFill/>
        </p:spPr>
        <p:txBody>
          <a:bodyPr wrap="square" lIns="0" tIns="0" rIns="0" bIns="0" anchor="t">
            <a:spAutoFit/>
          </a:bodyPr>
          <a:lstStyle/>
          <a:p>
            <a:pPr algn="l">
              <a:lnSpc>
                <a:spcPct val="112000"/>
              </a:lnSpc>
              <a:spcAft>
                <a:spcPts val="0"/>
              </a:spcAft>
            </a:pPr>
            <a:r>
              <a:rPr sz="1050" b="0" i="0">
                <a:solidFill>
                  <a:srgbClr val="8C98AA"/>
                </a:solidFill>
                <a:latin typeface="微软雅黑"/>
              </a:rPr>
              <a:t>具身智能导论 · 第 9 章</a:t>
            </a:r>
          </a:p>
        </p:txBody>
      </p:sp>
      <p:sp>
        <p:nvSpPr>
          <p:cNvPr id="5" name="TextBox 4"/>
          <p:cNvSpPr txBox="1"/>
          <p:nvPr/>
        </p:nvSpPr>
        <p:spPr>
          <a:xfrm>
            <a:off x="9144000" y="137160"/>
            <a:ext cx="2423160" cy="164592"/>
          </a:xfrm>
          <a:prstGeom prst="rect">
            <a:avLst/>
          </a:prstGeom>
          <a:noFill/>
        </p:spPr>
        <p:txBody>
          <a:bodyPr wrap="square" lIns="0" tIns="0" rIns="0" bIns="0" anchor="t">
            <a:spAutoFit/>
          </a:bodyPr>
          <a:lstStyle/>
          <a:p>
            <a:pPr algn="r">
              <a:lnSpc>
                <a:spcPct val="112000"/>
              </a:lnSpc>
              <a:spcAft>
                <a:spcPts val="0"/>
              </a:spcAft>
            </a:pPr>
            <a:r>
              <a:rPr sz="1050" b="0" i="0">
                <a:solidFill>
                  <a:srgbClr val="8C98AA"/>
                </a:solidFill>
                <a:latin typeface="微软雅黑"/>
              </a:rPr>
              <a:t>虚实迁移技术</a:t>
            </a:r>
          </a:p>
        </p:txBody>
      </p:sp>
      <p:sp>
        <p:nvSpPr>
          <p:cNvPr id="6" name="TextBox 5"/>
          <p:cNvSpPr txBox="1"/>
          <p:nvPr/>
        </p:nvSpPr>
        <p:spPr>
          <a:xfrm>
            <a:off x="502920" y="457200"/>
            <a:ext cx="10927080" cy="749808"/>
          </a:xfrm>
          <a:prstGeom prst="rect">
            <a:avLst/>
          </a:prstGeom>
          <a:noFill/>
        </p:spPr>
        <p:txBody>
          <a:bodyPr wrap="square" lIns="0" tIns="0" rIns="0" bIns="0" anchor="t">
            <a:spAutoFit/>
          </a:bodyPr>
          <a:lstStyle/>
          <a:p>
            <a:pPr algn="l">
              <a:lnSpc>
                <a:spcPct val="112000"/>
              </a:lnSpc>
              <a:spcAft>
                <a:spcPts val="0"/>
              </a:spcAft>
            </a:pPr>
            <a:r>
              <a:rPr sz="3500" b="1" i="0">
                <a:solidFill>
                  <a:srgbClr val="24477D"/>
                </a:solidFill>
                <a:latin typeface="微软雅黑"/>
              </a:rPr>
              <a:t>MMRV：对所有策略对的排序不一致进行惩罚</a:t>
            </a:r>
          </a:p>
        </p:txBody>
      </p:sp>
      <p:sp>
        <p:nvSpPr>
          <p:cNvPr id="7" name="Rectangle 6"/>
          <p:cNvSpPr/>
          <p:nvPr/>
        </p:nvSpPr>
        <p:spPr>
          <a:xfrm>
            <a:off x="502920" y="1353312"/>
            <a:ext cx="11109960" cy="9144"/>
          </a:xfrm>
          <a:prstGeom prst="rect">
            <a:avLst/>
          </a:prstGeom>
          <a:solidFill>
            <a:srgbClr val="D8DE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1457432" y="6473952"/>
            <a:ext cx="347472" cy="164592"/>
          </a:xfrm>
          <a:prstGeom prst="rect">
            <a:avLst/>
          </a:prstGeom>
          <a:noFill/>
        </p:spPr>
        <p:txBody>
          <a:bodyPr wrap="square" lIns="0" tIns="0" rIns="0" bIns="0" anchor="t">
            <a:spAutoFit/>
          </a:bodyPr>
          <a:lstStyle/>
          <a:p>
            <a:pPr algn="r">
              <a:lnSpc>
                <a:spcPct val="112000"/>
              </a:lnSpc>
              <a:spcAft>
                <a:spcPts val="0"/>
              </a:spcAft>
            </a:pPr>
            <a:r>
              <a:rPr sz="1050" b="0" i="0">
                <a:solidFill>
                  <a:srgbClr val="8C98AA"/>
                </a:solidFill>
                <a:latin typeface="微软雅黑"/>
              </a:rPr>
              <a:t>88</a:t>
            </a:r>
          </a:p>
        </p:txBody>
      </p:sp>
      <p:sp>
        <p:nvSpPr>
          <p:cNvPr id="9" name="Rounded Rectangle 8"/>
          <p:cNvSpPr/>
          <p:nvPr/>
        </p:nvSpPr>
        <p:spPr>
          <a:xfrm>
            <a:off x="777240" y="1719072"/>
            <a:ext cx="10561320" cy="3959352"/>
          </a:xfrm>
          <a:prstGeom prst="roundRect">
            <a:avLst/>
          </a:prstGeom>
          <a:solidFill>
            <a:srgbClr val="FFFFFF"/>
          </a:solidFill>
          <a:ln w="10160">
            <a:solidFill>
              <a:srgbClr val="E0E5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0" name="Picture 9" descr="eq9_12.png"/>
          <p:cNvPicPr>
            <a:picLocks noChangeAspect="1"/>
          </p:cNvPicPr>
          <p:nvPr/>
        </p:nvPicPr>
        <p:blipFill>
          <a:blip r:embed="rId2"/>
          <a:srcRect l="20672" t="829" r="19818"/>
          <a:stretch>
            <a:fillRect/>
          </a:stretch>
        </p:blipFill>
        <p:spPr>
          <a:xfrm>
            <a:off x="1574800" y="2824408"/>
            <a:ext cx="8818880" cy="1093795"/>
          </a:xfrm>
          <a:prstGeom prst="rect">
            <a:avLst/>
          </a:prstGeom>
        </p:spPr>
      </p:pic>
      <p:sp>
        <p:nvSpPr>
          <p:cNvPr id="12" name="TextBox 11"/>
          <p:cNvSpPr txBox="1"/>
          <p:nvPr/>
        </p:nvSpPr>
        <p:spPr>
          <a:xfrm>
            <a:off x="1158240" y="4481578"/>
            <a:ext cx="9875520" cy="279628"/>
          </a:xfrm>
          <a:prstGeom prst="rect">
            <a:avLst/>
          </a:prstGeom>
          <a:noFill/>
        </p:spPr>
        <p:txBody>
          <a:bodyPr wrap="square" lIns="0" tIns="0" rIns="0" bIns="0" anchor="t">
            <a:spAutoFit/>
          </a:bodyPr>
          <a:lstStyle/>
          <a:p>
            <a:pPr algn="ctr">
              <a:lnSpc>
                <a:spcPct val="112000"/>
              </a:lnSpc>
              <a:spcAft>
                <a:spcPts val="0"/>
              </a:spcAft>
            </a:pPr>
            <a:r>
              <a:rPr sz="1750" b="0" i="0" dirty="0">
                <a:solidFill>
                  <a:srgbClr val="222833"/>
                </a:solidFill>
                <a:latin typeface="微软雅黑"/>
              </a:rPr>
              <a:t>R </a:t>
            </a:r>
            <a:r>
              <a:rPr sz="1750" b="0" i="0" dirty="0" err="1">
                <a:solidFill>
                  <a:srgbClr val="222833"/>
                </a:solidFill>
                <a:latin typeface="微软雅黑"/>
              </a:rPr>
              <a:t>为现实性能，R</a:t>
            </a:r>
            <a:r>
              <a:rPr sz="1750" b="0" i="0" baseline="-25000" dirty="0" err="1">
                <a:solidFill>
                  <a:srgbClr val="222833"/>
                </a:solidFill>
                <a:latin typeface="微软雅黑"/>
              </a:rPr>
              <a:t>S</a:t>
            </a:r>
            <a:r>
              <a:rPr sz="1750" b="0" i="0" dirty="0">
                <a:solidFill>
                  <a:srgbClr val="222833"/>
                </a:solidFill>
                <a:latin typeface="微软雅黑"/>
              </a:rPr>
              <a:t> </a:t>
            </a:r>
            <a:r>
              <a:rPr sz="1750" b="0" i="0" dirty="0" err="1">
                <a:solidFill>
                  <a:srgbClr val="222833"/>
                </a:solidFill>
                <a:latin typeface="微软雅黑"/>
              </a:rPr>
              <a:t>为对应仿真性能；只要某一策略对的相对排序发生反转，就产生秩违反惩罚</a:t>
            </a:r>
            <a:r>
              <a:rPr sz="1750" b="0" i="0" dirty="0">
                <a:solidFill>
                  <a:srgbClr val="222833"/>
                </a:solidFill>
                <a:latin typeface="微软雅黑"/>
              </a:rPr>
              <a:t>。</a:t>
            </a:r>
          </a:p>
        </p:txBody>
      </p:sp>
      <p:sp>
        <p:nvSpPr>
          <p:cNvPr id="14" name="文本框 13">
            <a:extLst>
              <a:ext uri="{FF2B5EF4-FFF2-40B4-BE49-F238E27FC236}">
                <a16:creationId xmlns:a16="http://schemas.microsoft.com/office/drawing/2014/main" id="{11F1705E-A42D-072A-4569-24B86798C149}"/>
              </a:ext>
            </a:extLst>
          </p:cNvPr>
          <p:cNvSpPr txBox="1"/>
          <p:nvPr/>
        </p:nvSpPr>
        <p:spPr>
          <a:xfrm>
            <a:off x="1264158" y="1780170"/>
            <a:ext cx="9006840" cy="830997"/>
          </a:xfrm>
          <a:prstGeom prst="rect">
            <a:avLst/>
          </a:prstGeom>
          <a:noFill/>
        </p:spPr>
        <p:txBody>
          <a:bodyPr wrap="square">
            <a:spAutoFit/>
          </a:bodyPr>
          <a:lstStyle/>
          <a:p>
            <a:pPr marL="342900" indent="-342900">
              <a:buFont typeface="Arial" panose="020B0604020202020204" pitchFamily="34" charset="0"/>
              <a:buChar char="•"/>
            </a:pPr>
            <a:r>
              <a:rPr lang="zh-CN" altLang="zh-CN" sz="2400" dirty="0">
                <a:effectLst/>
                <a:latin typeface="微软雅黑" panose="020B0503020204020204" pitchFamily="34" charset="-122"/>
                <a:ea typeface="微软雅黑" panose="020B0503020204020204" pitchFamily="34" charset="-122"/>
                <a:cs typeface="Times New Roman" panose="02020603050405020304" pitchFamily="18" charset="0"/>
              </a:rPr>
              <a:t>平均最大秩违反</a:t>
            </a:r>
            <a:r>
              <a:rPr lang="en-US" altLang="zh-CN" sz="2400" dirty="0">
                <a:effectLst/>
                <a:latin typeface="微软雅黑" panose="020B0503020204020204" pitchFamily="34" charset="-122"/>
                <a:ea typeface="微软雅黑" panose="020B0503020204020204" pitchFamily="34" charset="-122"/>
              </a:rPr>
              <a:t>(Mean Maximum Rank Violation, MMRV)</a:t>
            </a:r>
            <a:r>
              <a:rPr lang="zh-CN" altLang="en-US" sz="2400" dirty="0">
                <a:effectLst/>
                <a:latin typeface="微软雅黑" panose="020B0503020204020204" pitchFamily="34" charset="-122"/>
                <a:ea typeface="微软雅黑" panose="020B0503020204020204" pitchFamily="34" charset="-122"/>
              </a:rPr>
              <a:t>：衡量策略在仿真与真实中的相对排名一致性</a:t>
            </a:r>
            <a:endParaRPr lang="zh-CN" altLang="en-US" sz="2400" dirty="0">
              <a:latin typeface="微软雅黑" panose="020B0503020204020204" pitchFamily="34" charset="-122"/>
              <a:ea typeface="微软雅黑" panose="020B0503020204020204" pitchFamily="34" charset="-122"/>
            </a:endParaRPr>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18872" cy="6858000"/>
          </a:xfrm>
          <a:prstGeom prst="rect">
            <a:avLst/>
          </a:prstGeom>
          <a:solidFill>
            <a:srgbClr val="3159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118872" y="0"/>
            <a:ext cx="41148" cy="6858000"/>
          </a:xfrm>
          <a:prstGeom prst="rect">
            <a:avLst/>
          </a:prstGeom>
          <a:solidFill>
            <a:srgbClr val="B7C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38912" y="137160"/>
            <a:ext cx="3474720" cy="164592"/>
          </a:xfrm>
          <a:prstGeom prst="rect">
            <a:avLst/>
          </a:prstGeom>
          <a:noFill/>
        </p:spPr>
        <p:txBody>
          <a:bodyPr wrap="square" lIns="0" tIns="0" rIns="0" bIns="0" anchor="t">
            <a:spAutoFit/>
          </a:bodyPr>
          <a:lstStyle/>
          <a:p>
            <a:pPr algn="l">
              <a:lnSpc>
                <a:spcPct val="112000"/>
              </a:lnSpc>
              <a:spcAft>
                <a:spcPts val="0"/>
              </a:spcAft>
            </a:pPr>
            <a:r>
              <a:rPr sz="1050" b="0" i="0">
                <a:solidFill>
                  <a:srgbClr val="8C98AA"/>
                </a:solidFill>
                <a:latin typeface="微软雅黑"/>
              </a:rPr>
              <a:t>具身智能导论 · 第 9 章</a:t>
            </a:r>
          </a:p>
        </p:txBody>
      </p:sp>
      <p:sp>
        <p:nvSpPr>
          <p:cNvPr id="5" name="TextBox 4"/>
          <p:cNvSpPr txBox="1"/>
          <p:nvPr/>
        </p:nvSpPr>
        <p:spPr>
          <a:xfrm>
            <a:off x="9144000" y="137160"/>
            <a:ext cx="2423160" cy="164592"/>
          </a:xfrm>
          <a:prstGeom prst="rect">
            <a:avLst/>
          </a:prstGeom>
          <a:noFill/>
        </p:spPr>
        <p:txBody>
          <a:bodyPr wrap="square" lIns="0" tIns="0" rIns="0" bIns="0" anchor="t">
            <a:spAutoFit/>
          </a:bodyPr>
          <a:lstStyle/>
          <a:p>
            <a:pPr algn="r">
              <a:lnSpc>
                <a:spcPct val="112000"/>
              </a:lnSpc>
              <a:spcAft>
                <a:spcPts val="0"/>
              </a:spcAft>
            </a:pPr>
            <a:r>
              <a:rPr sz="1050" b="0" i="0">
                <a:solidFill>
                  <a:srgbClr val="8C98AA"/>
                </a:solidFill>
                <a:latin typeface="微软雅黑"/>
              </a:rPr>
              <a:t>虚实迁移技术</a:t>
            </a:r>
          </a:p>
        </p:txBody>
      </p:sp>
      <p:sp>
        <p:nvSpPr>
          <p:cNvPr id="6" name="TextBox 5"/>
          <p:cNvSpPr txBox="1"/>
          <p:nvPr/>
        </p:nvSpPr>
        <p:spPr>
          <a:xfrm>
            <a:off x="502920" y="457200"/>
            <a:ext cx="10927080" cy="749808"/>
          </a:xfrm>
          <a:prstGeom prst="rect">
            <a:avLst/>
          </a:prstGeom>
          <a:noFill/>
        </p:spPr>
        <p:txBody>
          <a:bodyPr wrap="square" lIns="0" tIns="0" rIns="0" bIns="0" anchor="t">
            <a:spAutoFit/>
          </a:bodyPr>
          <a:lstStyle/>
          <a:p>
            <a:pPr algn="l">
              <a:lnSpc>
                <a:spcPct val="112000"/>
              </a:lnSpc>
              <a:spcAft>
                <a:spcPts val="0"/>
              </a:spcAft>
            </a:pPr>
            <a:r>
              <a:rPr sz="3500" b="1" i="0">
                <a:solidFill>
                  <a:srgbClr val="24477D"/>
                </a:solidFill>
                <a:latin typeface="微软雅黑"/>
              </a:rPr>
              <a:t>域差距量化：ΔSR 与 Pearson 相关系数</a:t>
            </a:r>
          </a:p>
        </p:txBody>
      </p:sp>
      <p:sp>
        <p:nvSpPr>
          <p:cNvPr id="7" name="Rectangle 6"/>
          <p:cNvSpPr/>
          <p:nvPr/>
        </p:nvSpPr>
        <p:spPr>
          <a:xfrm>
            <a:off x="502920" y="1353312"/>
            <a:ext cx="11109960" cy="9144"/>
          </a:xfrm>
          <a:prstGeom prst="rect">
            <a:avLst/>
          </a:prstGeom>
          <a:solidFill>
            <a:srgbClr val="D8DE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1457432" y="6473952"/>
            <a:ext cx="347472" cy="164592"/>
          </a:xfrm>
          <a:prstGeom prst="rect">
            <a:avLst/>
          </a:prstGeom>
          <a:noFill/>
        </p:spPr>
        <p:txBody>
          <a:bodyPr wrap="square" lIns="0" tIns="0" rIns="0" bIns="0" anchor="t">
            <a:spAutoFit/>
          </a:bodyPr>
          <a:lstStyle/>
          <a:p>
            <a:pPr algn="r">
              <a:lnSpc>
                <a:spcPct val="112000"/>
              </a:lnSpc>
              <a:spcAft>
                <a:spcPts val="0"/>
              </a:spcAft>
            </a:pPr>
            <a:r>
              <a:rPr sz="1050" b="0" i="0">
                <a:solidFill>
                  <a:srgbClr val="8C98AA"/>
                </a:solidFill>
                <a:latin typeface="微软雅黑"/>
              </a:rPr>
              <a:t>89</a:t>
            </a:r>
          </a:p>
        </p:txBody>
      </p:sp>
      <p:sp>
        <p:nvSpPr>
          <p:cNvPr id="9" name="Rounded Rectangle 8"/>
          <p:cNvSpPr/>
          <p:nvPr/>
        </p:nvSpPr>
        <p:spPr>
          <a:xfrm>
            <a:off x="777240" y="1691640"/>
            <a:ext cx="5074920" cy="3337560"/>
          </a:xfrm>
          <a:prstGeom prst="roundRect">
            <a:avLst/>
          </a:prstGeom>
          <a:solidFill>
            <a:srgbClr val="FFFFFF"/>
          </a:solidFill>
          <a:ln w="10160">
            <a:solidFill>
              <a:srgbClr val="E0E5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777240" y="1691640"/>
            <a:ext cx="64008" cy="3337560"/>
          </a:xfrm>
          <a:prstGeom prst="rect">
            <a:avLst/>
          </a:prstGeom>
          <a:solidFill>
            <a:srgbClr val="3159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987552" y="1847088"/>
            <a:ext cx="4663440" cy="347472"/>
          </a:xfrm>
          <a:prstGeom prst="rect">
            <a:avLst/>
          </a:prstGeom>
          <a:noFill/>
        </p:spPr>
        <p:txBody>
          <a:bodyPr wrap="square" lIns="0" tIns="0" rIns="0" bIns="0" anchor="t">
            <a:spAutoFit/>
          </a:bodyPr>
          <a:lstStyle/>
          <a:p>
            <a:pPr algn="l">
              <a:lnSpc>
                <a:spcPct val="112000"/>
              </a:lnSpc>
              <a:spcAft>
                <a:spcPts val="0"/>
              </a:spcAft>
            </a:pPr>
            <a:r>
              <a:rPr sz="2000" b="1" i="0">
                <a:solidFill>
                  <a:srgbClr val="31599B"/>
                </a:solidFill>
                <a:latin typeface="微软雅黑"/>
              </a:rPr>
              <a:t>成功率差异 ΔSR</a:t>
            </a:r>
          </a:p>
        </p:txBody>
      </p:sp>
      <p:pic>
        <p:nvPicPr>
          <p:cNvPr id="12" name="Picture 11" descr="eq9_13.png"/>
          <p:cNvPicPr>
            <a:picLocks noChangeAspect="1"/>
          </p:cNvPicPr>
          <p:nvPr/>
        </p:nvPicPr>
        <p:blipFill>
          <a:blip r:embed="rId2"/>
          <a:stretch>
            <a:fillRect/>
          </a:stretch>
        </p:blipFill>
        <p:spPr>
          <a:xfrm>
            <a:off x="-457201" y="2673262"/>
            <a:ext cx="7670145" cy="825680"/>
          </a:xfrm>
          <a:prstGeom prst="rect">
            <a:avLst/>
          </a:prstGeom>
        </p:spPr>
      </p:pic>
      <p:sp>
        <p:nvSpPr>
          <p:cNvPr id="13" name="TextBox 12"/>
          <p:cNvSpPr txBox="1"/>
          <p:nvPr/>
        </p:nvSpPr>
        <p:spPr>
          <a:xfrm>
            <a:off x="1005840" y="3886200"/>
            <a:ext cx="4572000" cy="502920"/>
          </a:xfrm>
          <a:prstGeom prst="rect">
            <a:avLst/>
          </a:prstGeom>
          <a:noFill/>
        </p:spPr>
        <p:txBody>
          <a:bodyPr wrap="square" lIns="0" tIns="0" rIns="0" bIns="0" anchor="t">
            <a:spAutoFit/>
          </a:bodyPr>
          <a:lstStyle/>
          <a:p>
            <a:pPr algn="ctr">
              <a:lnSpc>
                <a:spcPct val="112000"/>
              </a:lnSpc>
              <a:spcAft>
                <a:spcPts val="0"/>
              </a:spcAft>
            </a:pPr>
            <a:r>
              <a:rPr sz="1750" b="0" i="0" dirty="0" err="1">
                <a:solidFill>
                  <a:srgbClr val="222833"/>
                </a:solidFill>
                <a:latin typeface="微软雅黑"/>
              </a:rPr>
              <a:t>越接近</a:t>
            </a:r>
            <a:r>
              <a:rPr sz="1750" b="0" i="0" dirty="0">
                <a:solidFill>
                  <a:srgbClr val="222833"/>
                </a:solidFill>
                <a:latin typeface="微软雅黑"/>
              </a:rPr>
              <a:t> 0，仿真与现实的任务成功率越一致。</a:t>
            </a:r>
          </a:p>
        </p:txBody>
      </p:sp>
      <p:sp>
        <p:nvSpPr>
          <p:cNvPr id="14" name="Rounded Rectangle 13"/>
          <p:cNvSpPr/>
          <p:nvPr/>
        </p:nvSpPr>
        <p:spPr>
          <a:xfrm>
            <a:off x="6172200" y="1691640"/>
            <a:ext cx="5074920" cy="3337560"/>
          </a:xfrm>
          <a:prstGeom prst="roundRect">
            <a:avLst/>
          </a:prstGeom>
          <a:solidFill>
            <a:srgbClr val="FFFFFF"/>
          </a:solidFill>
          <a:ln w="10160">
            <a:solidFill>
              <a:srgbClr val="E0E5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6172200" y="1691640"/>
            <a:ext cx="64008" cy="3337560"/>
          </a:xfrm>
          <a:prstGeom prst="rect">
            <a:avLst/>
          </a:prstGeom>
          <a:solidFill>
            <a:srgbClr val="2F8E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382512" y="1847088"/>
            <a:ext cx="4663440" cy="347472"/>
          </a:xfrm>
          <a:prstGeom prst="rect">
            <a:avLst/>
          </a:prstGeom>
          <a:noFill/>
        </p:spPr>
        <p:txBody>
          <a:bodyPr wrap="square" lIns="0" tIns="0" rIns="0" bIns="0" anchor="t">
            <a:spAutoFit/>
          </a:bodyPr>
          <a:lstStyle/>
          <a:p>
            <a:pPr algn="l">
              <a:lnSpc>
                <a:spcPct val="112000"/>
              </a:lnSpc>
              <a:spcAft>
                <a:spcPts val="0"/>
              </a:spcAft>
            </a:pPr>
            <a:r>
              <a:rPr sz="2000" b="1" i="0">
                <a:solidFill>
                  <a:srgbClr val="2F8E72"/>
                </a:solidFill>
                <a:latin typeface="微软雅黑"/>
              </a:rPr>
              <a:t>Pearson 相关系数 r</a:t>
            </a:r>
          </a:p>
        </p:txBody>
      </p:sp>
      <p:pic>
        <p:nvPicPr>
          <p:cNvPr id="17" name="Picture 16" descr="eq9_14.png"/>
          <p:cNvPicPr>
            <a:picLocks noChangeAspect="1"/>
          </p:cNvPicPr>
          <p:nvPr/>
        </p:nvPicPr>
        <p:blipFill>
          <a:blip r:embed="rId3"/>
          <a:srcRect l="28600" t="-8486" r="26929"/>
          <a:stretch>
            <a:fillRect/>
          </a:stretch>
        </p:blipFill>
        <p:spPr>
          <a:xfrm>
            <a:off x="6583510" y="2287870"/>
            <a:ext cx="4048590" cy="1431543"/>
          </a:xfrm>
          <a:prstGeom prst="rect">
            <a:avLst/>
          </a:prstGeom>
        </p:spPr>
      </p:pic>
      <p:sp>
        <p:nvSpPr>
          <p:cNvPr id="18" name="TextBox 17"/>
          <p:cNvSpPr txBox="1"/>
          <p:nvPr/>
        </p:nvSpPr>
        <p:spPr>
          <a:xfrm>
            <a:off x="6382512" y="3886200"/>
            <a:ext cx="4572000" cy="502920"/>
          </a:xfrm>
          <a:prstGeom prst="rect">
            <a:avLst/>
          </a:prstGeom>
          <a:noFill/>
        </p:spPr>
        <p:txBody>
          <a:bodyPr wrap="square" lIns="0" tIns="0" rIns="0" bIns="0" anchor="t">
            <a:spAutoFit/>
          </a:bodyPr>
          <a:lstStyle/>
          <a:p>
            <a:pPr algn="ctr">
              <a:lnSpc>
                <a:spcPct val="112000"/>
              </a:lnSpc>
              <a:spcAft>
                <a:spcPts val="0"/>
              </a:spcAft>
            </a:pPr>
            <a:r>
              <a:rPr sz="1750" b="0" i="0">
                <a:solidFill>
                  <a:srgbClr val="222833"/>
                </a:solidFill>
                <a:latin typeface="微软雅黑"/>
              </a:rPr>
              <a:t>评估多种策略在仿真与现实性能之间的线性相关性。</a:t>
            </a:r>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18872" cy="6858000"/>
          </a:xfrm>
          <a:prstGeom prst="rect">
            <a:avLst/>
          </a:prstGeom>
          <a:solidFill>
            <a:srgbClr val="3159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118872" y="0"/>
            <a:ext cx="41148" cy="6858000"/>
          </a:xfrm>
          <a:prstGeom prst="rect">
            <a:avLst/>
          </a:prstGeom>
          <a:solidFill>
            <a:srgbClr val="B7C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38912" y="137160"/>
            <a:ext cx="3474720" cy="164592"/>
          </a:xfrm>
          <a:prstGeom prst="rect">
            <a:avLst/>
          </a:prstGeom>
          <a:noFill/>
        </p:spPr>
        <p:txBody>
          <a:bodyPr wrap="square" lIns="0" tIns="0" rIns="0" bIns="0" anchor="t">
            <a:spAutoFit/>
          </a:bodyPr>
          <a:lstStyle/>
          <a:p>
            <a:pPr algn="l">
              <a:lnSpc>
                <a:spcPct val="112000"/>
              </a:lnSpc>
              <a:spcAft>
                <a:spcPts val="0"/>
              </a:spcAft>
            </a:pPr>
            <a:r>
              <a:rPr sz="1050" b="0" i="0">
                <a:solidFill>
                  <a:srgbClr val="8C98AA"/>
                </a:solidFill>
                <a:latin typeface="微软雅黑"/>
              </a:rPr>
              <a:t>具身智能导论 · 第 9 章</a:t>
            </a:r>
          </a:p>
        </p:txBody>
      </p:sp>
      <p:sp>
        <p:nvSpPr>
          <p:cNvPr id="5" name="TextBox 4"/>
          <p:cNvSpPr txBox="1"/>
          <p:nvPr/>
        </p:nvSpPr>
        <p:spPr>
          <a:xfrm>
            <a:off x="9144000" y="137160"/>
            <a:ext cx="2423160" cy="164592"/>
          </a:xfrm>
          <a:prstGeom prst="rect">
            <a:avLst/>
          </a:prstGeom>
          <a:noFill/>
        </p:spPr>
        <p:txBody>
          <a:bodyPr wrap="square" lIns="0" tIns="0" rIns="0" bIns="0" anchor="t">
            <a:spAutoFit/>
          </a:bodyPr>
          <a:lstStyle/>
          <a:p>
            <a:pPr algn="r">
              <a:lnSpc>
                <a:spcPct val="112000"/>
              </a:lnSpc>
              <a:spcAft>
                <a:spcPts val="0"/>
              </a:spcAft>
            </a:pPr>
            <a:r>
              <a:rPr sz="1050" b="0" i="0">
                <a:solidFill>
                  <a:srgbClr val="8C98AA"/>
                </a:solidFill>
                <a:latin typeface="微软雅黑"/>
              </a:rPr>
              <a:t>虚实迁移技术</a:t>
            </a:r>
          </a:p>
        </p:txBody>
      </p:sp>
      <p:sp>
        <p:nvSpPr>
          <p:cNvPr id="6" name="TextBox 5"/>
          <p:cNvSpPr txBox="1"/>
          <p:nvPr/>
        </p:nvSpPr>
        <p:spPr>
          <a:xfrm>
            <a:off x="502920" y="457200"/>
            <a:ext cx="10927080" cy="749808"/>
          </a:xfrm>
          <a:prstGeom prst="rect">
            <a:avLst/>
          </a:prstGeom>
          <a:noFill/>
        </p:spPr>
        <p:txBody>
          <a:bodyPr wrap="square" lIns="0" tIns="0" rIns="0" bIns="0" anchor="t">
            <a:spAutoFit/>
          </a:bodyPr>
          <a:lstStyle/>
          <a:p>
            <a:pPr algn="l">
              <a:lnSpc>
                <a:spcPct val="112000"/>
              </a:lnSpc>
              <a:spcAft>
                <a:spcPts val="0"/>
              </a:spcAft>
            </a:pPr>
            <a:r>
              <a:rPr sz="3100" b="1" i="0">
                <a:solidFill>
                  <a:srgbClr val="24477D"/>
                </a:solidFill>
                <a:latin typeface="微软雅黑"/>
              </a:rPr>
              <a:t>SIMPLER 基准示例：视觉校准能显著提升仿真—现实一致性</a:t>
            </a:r>
          </a:p>
        </p:txBody>
      </p:sp>
      <p:sp>
        <p:nvSpPr>
          <p:cNvPr id="7" name="Rectangle 6"/>
          <p:cNvSpPr/>
          <p:nvPr/>
        </p:nvSpPr>
        <p:spPr>
          <a:xfrm>
            <a:off x="502920" y="1353312"/>
            <a:ext cx="11109960" cy="9144"/>
          </a:xfrm>
          <a:prstGeom prst="rect">
            <a:avLst/>
          </a:prstGeom>
          <a:solidFill>
            <a:srgbClr val="D8DE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1457432" y="6473952"/>
            <a:ext cx="347472" cy="164592"/>
          </a:xfrm>
          <a:prstGeom prst="rect">
            <a:avLst/>
          </a:prstGeom>
          <a:noFill/>
        </p:spPr>
        <p:txBody>
          <a:bodyPr wrap="square" lIns="0" tIns="0" rIns="0" bIns="0" anchor="t">
            <a:spAutoFit/>
          </a:bodyPr>
          <a:lstStyle/>
          <a:p>
            <a:pPr algn="r">
              <a:lnSpc>
                <a:spcPct val="112000"/>
              </a:lnSpc>
              <a:spcAft>
                <a:spcPts val="0"/>
              </a:spcAft>
            </a:pPr>
            <a:r>
              <a:rPr sz="1050" b="0" i="0">
                <a:solidFill>
                  <a:srgbClr val="8C98AA"/>
                </a:solidFill>
                <a:latin typeface="微软雅黑"/>
              </a:rPr>
              <a:t>90</a:t>
            </a:r>
          </a:p>
        </p:txBody>
      </p:sp>
      <p:sp>
        <p:nvSpPr>
          <p:cNvPr id="9" name="Rounded Rectangle 8"/>
          <p:cNvSpPr/>
          <p:nvPr/>
        </p:nvSpPr>
        <p:spPr>
          <a:xfrm>
            <a:off x="822960" y="1783080"/>
            <a:ext cx="5074920" cy="3337560"/>
          </a:xfrm>
          <a:prstGeom prst="roundRect">
            <a:avLst>
              <a:gd name="adj" fmla="val 2055"/>
            </a:avLst>
          </a:prstGeom>
          <a:solidFill>
            <a:srgbClr val="FFFFFF"/>
          </a:solidFill>
          <a:ln w="10160">
            <a:solidFill>
              <a:srgbClr val="E0E5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822960" y="1783080"/>
            <a:ext cx="64008" cy="3337560"/>
          </a:xfrm>
          <a:prstGeom prst="rect">
            <a:avLst/>
          </a:prstGeom>
          <a:solidFill>
            <a:srgbClr val="3159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1033272" y="1929384"/>
            <a:ext cx="4690872" cy="347472"/>
          </a:xfrm>
          <a:prstGeom prst="rect">
            <a:avLst/>
          </a:prstGeom>
          <a:noFill/>
        </p:spPr>
        <p:txBody>
          <a:bodyPr wrap="square" lIns="0" tIns="0" rIns="0" bIns="0" anchor="t">
            <a:spAutoFit/>
          </a:bodyPr>
          <a:lstStyle/>
          <a:p>
            <a:pPr algn="l">
              <a:lnSpc>
                <a:spcPct val="112000"/>
              </a:lnSpc>
              <a:spcAft>
                <a:spcPts val="0"/>
              </a:spcAft>
            </a:pPr>
            <a:r>
              <a:rPr sz="2000" b="1" i="0" dirty="0">
                <a:solidFill>
                  <a:srgbClr val="31599B"/>
                </a:solidFill>
                <a:latin typeface="微软雅黑"/>
              </a:rPr>
              <a:t>Visual Matching</a:t>
            </a:r>
          </a:p>
        </p:txBody>
      </p:sp>
      <p:sp>
        <p:nvSpPr>
          <p:cNvPr id="12" name="TextBox 11"/>
          <p:cNvSpPr txBox="1"/>
          <p:nvPr/>
        </p:nvSpPr>
        <p:spPr>
          <a:xfrm>
            <a:off x="1033272" y="2468880"/>
            <a:ext cx="4690872" cy="1210781"/>
          </a:xfrm>
          <a:prstGeom prst="rect">
            <a:avLst/>
          </a:prstGeom>
          <a:noFill/>
        </p:spPr>
        <p:txBody>
          <a:bodyPr wrap="square" lIns="0" tIns="0" rIns="0" bIns="0" anchor="t">
            <a:spAutoFit/>
          </a:bodyPr>
          <a:lstStyle/>
          <a:p>
            <a:pPr algn="l">
              <a:lnSpc>
                <a:spcPct val="112000"/>
              </a:lnSpc>
              <a:spcAft>
                <a:spcPts val="0"/>
              </a:spcAft>
            </a:pPr>
            <a:r>
              <a:rPr sz="2400" b="0" i="0" dirty="0" err="1">
                <a:solidFill>
                  <a:srgbClr val="222833"/>
                </a:solidFill>
                <a:latin typeface="微软雅黑"/>
              </a:rPr>
              <a:t>真实背景绿屏叠加</a:t>
            </a:r>
            <a:r>
              <a:rPr sz="2400" b="0" i="0" dirty="0">
                <a:solidFill>
                  <a:srgbClr val="222833"/>
                </a:solidFill>
                <a:latin typeface="微软雅黑"/>
              </a:rPr>
              <a:t> + </a:t>
            </a:r>
            <a:r>
              <a:rPr sz="2400" b="0" i="0" dirty="0" err="1">
                <a:solidFill>
                  <a:srgbClr val="222833"/>
                </a:solidFill>
                <a:latin typeface="微软雅黑"/>
              </a:rPr>
              <a:t>物体纹理烘焙</a:t>
            </a:r>
            <a:endParaRPr sz="2400" b="0" i="0" dirty="0">
              <a:solidFill>
                <a:srgbClr val="222833"/>
              </a:solidFill>
              <a:latin typeface="微软雅黑"/>
            </a:endParaRPr>
          </a:p>
          <a:p>
            <a:pPr algn="l">
              <a:lnSpc>
                <a:spcPct val="112000"/>
              </a:lnSpc>
              <a:spcAft>
                <a:spcPts val="0"/>
              </a:spcAft>
            </a:pPr>
            <a:r>
              <a:rPr sz="2400" b="0" i="0" dirty="0">
                <a:solidFill>
                  <a:srgbClr val="222833"/>
                </a:solidFill>
                <a:latin typeface="微软雅黑"/>
              </a:rPr>
              <a:t>r = 0.924</a:t>
            </a:r>
          </a:p>
          <a:p>
            <a:pPr algn="l">
              <a:lnSpc>
                <a:spcPct val="112000"/>
              </a:lnSpc>
              <a:spcAft>
                <a:spcPts val="0"/>
              </a:spcAft>
            </a:pPr>
            <a:r>
              <a:rPr sz="2400" b="0" i="0" dirty="0">
                <a:solidFill>
                  <a:srgbClr val="222833"/>
                </a:solidFill>
                <a:latin typeface="微软雅黑"/>
              </a:rPr>
              <a:t>MMRV = 0.056</a:t>
            </a:r>
          </a:p>
        </p:txBody>
      </p:sp>
      <p:sp>
        <p:nvSpPr>
          <p:cNvPr id="13" name="Rounded Rectangle 12"/>
          <p:cNvSpPr/>
          <p:nvPr/>
        </p:nvSpPr>
        <p:spPr>
          <a:xfrm>
            <a:off x="6291072" y="1760220"/>
            <a:ext cx="5074920" cy="3337560"/>
          </a:xfrm>
          <a:prstGeom prst="roundRect">
            <a:avLst>
              <a:gd name="adj" fmla="val 4034"/>
            </a:avLst>
          </a:prstGeom>
          <a:solidFill>
            <a:srgbClr val="FFFFFF"/>
          </a:solidFill>
          <a:ln w="10160">
            <a:solidFill>
              <a:srgbClr val="E0E5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6291072" y="1783080"/>
            <a:ext cx="64008" cy="3337560"/>
          </a:xfrm>
          <a:prstGeom prst="rect">
            <a:avLst/>
          </a:prstGeom>
          <a:solidFill>
            <a:srgbClr val="C63F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6501384" y="1929384"/>
            <a:ext cx="4690872" cy="347472"/>
          </a:xfrm>
          <a:prstGeom prst="rect">
            <a:avLst/>
          </a:prstGeom>
          <a:noFill/>
        </p:spPr>
        <p:txBody>
          <a:bodyPr wrap="square" lIns="0" tIns="0" rIns="0" bIns="0" anchor="t">
            <a:spAutoFit/>
          </a:bodyPr>
          <a:lstStyle/>
          <a:p>
            <a:pPr algn="l">
              <a:lnSpc>
                <a:spcPct val="112000"/>
              </a:lnSpc>
              <a:spcAft>
                <a:spcPts val="0"/>
              </a:spcAft>
            </a:pPr>
            <a:r>
              <a:rPr sz="2000" b="1" i="0">
                <a:solidFill>
                  <a:srgbClr val="C63F45"/>
                </a:solidFill>
                <a:latin typeface="微软雅黑"/>
              </a:rPr>
              <a:t>仅验证集 MSE</a:t>
            </a:r>
          </a:p>
        </p:txBody>
      </p:sp>
      <p:sp>
        <p:nvSpPr>
          <p:cNvPr id="16" name="TextBox 15"/>
          <p:cNvSpPr txBox="1"/>
          <p:nvPr/>
        </p:nvSpPr>
        <p:spPr>
          <a:xfrm>
            <a:off x="6501384" y="2468880"/>
            <a:ext cx="4690872" cy="1210781"/>
          </a:xfrm>
          <a:prstGeom prst="rect">
            <a:avLst/>
          </a:prstGeom>
          <a:noFill/>
        </p:spPr>
        <p:txBody>
          <a:bodyPr wrap="square" lIns="0" tIns="0" rIns="0" bIns="0" anchor="t">
            <a:spAutoFit/>
          </a:bodyPr>
          <a:lstStyle/>
          <a:p>
            <a:pPr algn="l">
              <a:lnSpc>
                <a:spcPct val="112000"/>
              </a:lnSpc>
              <a:spcAft>
                <a:spcPts val="0"/>
              </a:spcAft>
            </a:pPr>
            <a:r>
              <a:rPr sz="2400" b="0" i="0" dirty="0" err="1">
                <a:solidFill>
                  <a:srgbClr val="222833"/>
                </a:solidFill>
                <a:latin typeface="微软雅黑"/>
              </a:rPr>
              <a:t>只优化仿真内部验证损失</a:t>
            </a:r>
            <a:endParaRPr sz="2400" b="0" i="0" dirty="0">
              <a:solidFill>
                <a:srgbClr val="222833"/>
              </a:solidFill>
              <a:latin typeface="微软雅黑"/>
            </a:endParaRPr>
          </a:p>
          <a:p>
            <a:pPr algn="l">
              <a:lnSpc>
                <a:spcPct val="112000"/>
              </a:lnSpc>
              <a:spcAft>
                <a:spcPts val="0"/>
              </a:spcAft>
            </a:pPr>
            <a:r>
              <a:rPr sz="2400" b="0" i="0" dirty="0">
                <a:solidFill>
                  <a:srgbClr val="222833"/>
                </a:solidFill>
                <a:latin typeface="微软雅黑"/>
              </a:rPr>
              <a:t>r = 0.308</a:t>
            </a:r>
          </a:p>
          <a:p>
            <a:pPr algn="l">
              <a:lnSpc>
                <a:spcPct val="112000"/>
              </a:lnSpc>
              <a:spcAft>
                <a:spcPts val="0"/>
              </a:spcAft>
            </a:pPr>
            <a:r>
              <a:rPr sz="2400" b="0" i="0" dirty="0">
                <a:solidFill>
                  <a:srgbClr val="222833"/>
                </a:solidFill>
                <a:latin typeface="微软雅黑"/>
              </a:rPr>
              <a:t>MMRV = 0.375</a:t>
            </a:r>
          </a:p>
        </p:txBody>
      </p:sp>
      <p:sp>
        <p:nvSpPr>
          <p:cNvPr id="17" name="TextBox 16"/>
          <p:cNvSpPr txBox="1"/>
          <p:nvPr/>
        </p:nvSpPr>
        <p:spPr>
          <a:xfrm>
            <a:off x="640080" y="5480335"/>
            <a:ext cx="10972800" cy="295594"/>
          </a:xfrm>
          <a:prstGeom prst="rect">
            <a:avLst/>
          </a:prstGeom>
          <a:noFill/>
        </p:spPr>
        <p:txBody>
          <a:bodyPr wrap="square" lIns="0" tIns="0" rIns="0" bIns="0" anchor="ctr">
            <a:spAutoFit/>
          </a:bodyPr>
          <a:lstStyle/>
          <a:p>
            <a:pPr algn="ctr">
              <a:lnSpc>
                <a:spcPct val="112000"/>
              </a:lnSpc>
              <a:spcAft>
                <a:spcPts val="0"/>
              </a:spcAft>
            </a:pPr>
            <a:r>
              <a:rPr sz="1850" b="1" dirty="0" err="1">
                <a:solidFill>
                  <a:srgbClr val="24477D"/>
                </a:solidFill>
                <a:latin typeface="微软雅黑" panose="020B0503020204020204" pitchFamily="34" charset="-122"/>
                <a:ea typeface="微软雅黑" panose="020B0503020204020204" pitchFamily="34" charset="-122"/>
              </a:rPr>
              <a:t>单纯“仿真内部验证”不能可靠预测现实表现</a:t>
            </a:r>
            <a:r>
              <a:rPr sz="1850" b="1" dirty="0">
                <a:solidFill>
                  <a:srgbClr val="24477D"/>
                </a:solidFill>
                <a:latin typeface="微软雅黑" panose="020B0503020204020204" pitchFamily="34" charset="-122"/>
                <a:ea typeface="微软雅黑" panose="020B0503020204020204" pitchFamily="34" charset="-122"/>
              </a:rPr>
              <a:t>，</a:t>
            </a:r>
            <a:r>
              <a:rPr lang="zh-CN" altLang="en-US" sz="1850" b="1" dirty="0">
                <a:solidFill>
                  <a:srgbClr val="24477D"/>
                </a:solidFill>
                <a:latin typeface="微软雅黑" panose="020B0503020204020204" pitchFamily="34" charset="-122"/>
                <a:ea typeface="微软雅黑" panose="020B0503020204020204" pitchFamily="34" charset="-122"/>
              </a:rPr>
              <a:t>需</a:t>
            </a:r>
            <a:r>
              <a:rPr sz="1850" b="1" dirty="0" err="1">
                <a:solidFill>
                  <a:srgbClr val="24477D"/>
                </a:solidFill>
                <a:latin typeface="微软雅黑" panose="020B0503020204020204" pitchFamily="34" charset="-122"/>
                <a:ea typeface="微软雅黑" panose="020B0503020204020204" pitchFamily="34" charset="-122"/>
              </a:rPr>
              <a:t>进行成对部署与视觉校准</a:t>
            </a:r>
            <a:r>
              <a:rPr sz="1850" b="1" dirty="0">
                <a:solidFill>
                  <a:srgbClr val="24477D"/>
                </a:solidFill>
                <a:latin typeface="微软雅黑" panose="020B0503020204020204" pitchFamily="34" charset="-122"/>
                <a:ea typeface="微软雅黑" panose="020B0503020204020204" pitchFamily="34" charset="-122"/>
              </a:rPr>
              <a:t>。</a:t>
            </a:r>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18872" cy="6858000"/>
          </a:xfrm>
          <a:prstGeom prst="rect">
            <a:avLst/>
          </a:prstGeom>
          <a:solidFill>
            <a:srgbClr val="3159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118872" y="0"/>
            <a:ext cx="41148" cy="6858000"/>
          </a:xfrm>
          <a:prstGeom prst="rect">
            <a:avLst/>
          </a:prstGeom>
          <a:solidFill>
            <a:srgbClr val="B7C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38912" y="137160"/>
            <a:ext cx="3474720" cy="164592"/>
          </a:xfrm>
          <a:prstGeom prst="rect">
            <a:avLst/>
          </a:prstGeom>
          <a:noFill/>
        </p:spPr>
        <p:txBody>
          <a:bodyPr wrap="square" lIns="0" tIns="0" rIns="0" bIns="0" anchor="t">
            <a:spAutoFit/>
          </a:bodyPr>
          <a:lstStyle/>
          <a:p>
            <a:pPr algn="l">
              <a:lnSpc>
                <a:spcPct val="112000"/>
              </a:lnSpc>
              <a:spcAft>
                <a:spcPts val="0"/>
              </a:spcAft>
            </a:pPr>
            <a:r>
              <a:rPr sz="1050" b="0" i="0">
                <a:solidFill>
                  <a:srgbClr val="8C98AA"/>
                </a:solidFill>
                <a:latin typeface="微软雅黑"/>
              </a:rPr>
              <a:t>具身智能导论 · 第 9 章</a:t>
            </a:r>
          </a:p>
        </p:txBody>
      </p:sp>
      <p:sp>
        <p:nvSpPr>
          <p:cNvPr id="5" name="TextBox 4"/>
          <p:cNvSpPr txBox="1"/>
          <p:nvPr/>
        </p:nvSpPr>
        <p:spPr>
          <a:xfrm>
            <a:off x="9144000" y="137160"/>
            <a:ext cx="2423160" cy="164592"/>
          </a:xfrm>
          <a:prstGeom prst="rect">
            <a:avLst/>
          </a:prstGeom>
          <a:noFill/>
        </p:spPr>
        <p:txBody>
          <a:bodyPr wrap="square" lIns="0" tIns="0" rIns="0" bIns="0" anchor="t">
            <a:spAutoFit/>
          </a:bodyPr>
          <a:lstStyle/>
          <a:p>
            <a:pPr algn="r">
              <a:lnSpc>
                <a:spcPct val="112000"/>
              </a:lnSpc>
              <a:spcAft>
                <a:spcPts val="0"/>
              </a:spcAft>
            </a:pPr>
            <a:r>
              <a:rPr sz="1050" b="0" i="0">
                <a:solidFill>
                  <a:srgbClr val="8C98AA"/>
                </a:solidFill>
                <a:latin typeface="微软雅黑"/>
              </a:rPr>
              <a:t>虚实迁移技术</a:t>
            </a:r>
          </a:p>
        </p:txBody>
      </p:sp>
      <p:sp>
        <p:nvSpPr>
          <p:cNvPr id="6" name="TextBox 5"/>
          <p:cNvSpPr txBox="1"/>
          <p:nvPr/>
        </p:nvSpPr>
        <p:spPr>
          <a:xfrm>
            <a:off x="502920" y="457200"/>
            <a:ext cx="10927080" cy="749808"/>
          </a:xfrm>
          <a:prstGeom prst="rect">
            <a:avLst/>
          </a:prstGeom>
          <a:noFill/>
        </p:spPr>
        <p:txBody>
          <a:bodyPr wrap="square" lIns="0" tIns="0" rIns="0" bIns="0" anchor="t">
            <a:spAutoFit/>
          </a:bodyPr>
          <a:lstStyle/>
          <a:p>
            <a:pPr algn="l">
              <a:lnSpc>
                <a:spcPct val="112000"/>
              </a:lnSpc>
              <a:spcAft>
                <a:spcPts val="0"/>
              </a:spcAft>
            </a:pPr>
            <a:r>
              <a:rPr sz="3100" b="1" i="0">
                <a:solidFill>
                  <a:srgbClr val="24477D"/>
                </a:solidFill>
                <a:latin typeface="微软雅黑"/>
              </a:rPr>
              <a:t>进一步量化域差距：MMD、DTW 与 Wasserstein 距离</a:t>
            </a:r>
          </a:p>
        </p:txBody>
      </p:sp>
      <p:sp>
        <p:nvSpPr>
          <p:cNvPr id="7" name="Rectangle 6"/>
          <p:cNvSpPr/>
          <p:nvPr/>
        </p:nvSpPr>
        <p:spPr>
          <a:xfrm>
            <a:off x="502920" y="1353312"/>
            <a:ext cx="11109960" cy="9144"/>
          </a:xfrm>
          <a:prstGeom prst="rect">
            <a:avLst/>
          </a:prstGeom>
          <a:solidFill>
            <a:srgbClr val="D8DE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1457432" y="6473952"/>
            <a:ext cx="347472" cy="164592"/>
          </a:xfrm>
          <a:prstGeom prst="rect">
            <a:avLst/>
          </a:prstGeom>
          <a:noFill/>
        </p:spPr>
        <p:txBody>
          <a:bodyPr wrap="square" lIns="0" tIns="0" rIns="0" bIns="0" anchor="t">
            <a:spAutoFit/>
          </a:bodyPr>
          <a:lstStyle/>
          <a:p>
            <a:pPr algn="r">
              <a:lnSpc>
                <a:spcPct val="112000"/>
              </a:lnSpc>
              <a:spcAft>
                <a:spcPts val="0"/>
              </a:spcAft>
            </a:pPr>
            <a:r>
              <a:rPr sz="1050" b="0" i="0">
                <a:solidFill>
                  <a:srgbClr val="8C98AA"/>
                </a:solidFill>
                <a:latin typeface="微软雅黑"/>
              </a:rPr>
              <a:t>91</a:t>
            </a:r>
          </a:p>
        </p:txBody>
      </p:sp>
      <p:sp>
        <p:nvSpPr>
          <p:cNvPr id="9" name="Rounded Rectangle 8"/>
          <p:cNvSpPr/>
          <p:nvPr/>
        </p:nvSpPr>
        <p:spPr>
          <a:xfrm>
            <a:off x="713232" y="1664208"/>
            <a:ext cx="3246120" cy="3246120"/>
          </a:xfrm>
          <a:prstGeom prst="roundRect">
            <a:avLst>
              <a:gd name="adj" fmla="val 3834"/>
            </a:avLst>
          </a:prstGeom>
          <a:solidFill>
            <a:srgbClr val="FFFFFF"/>
          </a:solidFill>
          <a:ln w="10160">
            <a:solidFill>
              <a:srgbClr val="E0E5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713232" y="1664208"/>
            <a:ext cx="64008" cy="3246120"/>
          </a:xfrm>
          <a:prstGeom prst="rect">
            <a:avLst/>
          </a:prstGeom>
          <a:solidFill>
            <a:srgbClr val="3159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923544" y="1810512"/>
            <a:ext cx="2862072" cy="347472"/>
          </a:xfrm>
          <a:prstGeom prst="rect">
            <a:avLst/>
          </a:prstGeom>
          <a:noFill/>
        </p:spPr>
        <p:txBody>
          <a:bodyPr wrap="square" lIns="0" tIns="0" rIns="0" bIns="0" anchor="t">
            <a:spAutoFit/>
          </a:bodyPr>
          <a:lstStyle/>
          <a:p>
            <a:pPr algn="l">
              <a:lnSpc>
                <a:spcPct val="112000"/>
              </a:lnSpc>
              <a:spcAft>
                <a:spcPts val="0"/>
              </a:spcAft>
            </a:pPr>
            <a:r>
              <a:rPr sz="2000" b="1" i="0">
                <a:solidFill>
                  <a:srgbClr val="31599B"/>
                </a:solidFill>
                <a:latin typeface="微软雅黑"/>
              </a:rPr>
              <a:t>MMD</a:t>
            </a:r>
          </a:p>
        </p:txBody>
      </p:sp>
      <p:sp>
        <p:nvSpPr>
          <p:cNvPr id="12" name="TextBox 11"/>
          <p:cNvSpPr txBox="1"/>
          <p:nvPr/>
        </p:nvSpPr>
        <p:spPr>
          <a:xfrm>
            <a:off x="923544" y="2350008"/>
            <a:ext cx="2862072" cy="1624419"/>
          </a:xfrm>
          <a:prstGeom prst="rect">
            <a:avLst/>
          </a:prstGeom>
          <a:noFill/>
        </p:spPr>
        <p:txBody>
          <a:bodyPr wrap="square" lIns="0" tIns="0" rIns="0" bIns="0" anchor="t">
            <a:spAutoFit/>
          </a:bodyPr>
          <a:lstStyle/>
          <a:p>
            <a:pPr algn="l">
              <a:lnSpc>
                <a:spcPct val="112000"/>
              </a:lnSpc>
              <a:spcAft>
                <a:spcPts val="0"/>
              </a:spcAft>
            </a:pPr>
            <a:r>
              <a:rPr sz="2400" b="0" i="0">
                <a:solidFill>
                  <a:srgbClr val="222833"/>
                </a:solidFill>
                <a:latin typeface="微软雅黑"/>
              </a:rPr>
              <a:t>度量两个状态 / 特征分布在 RKHS 中的距离，可监控特征对齐方法的收敛。</a:t>
            </a:r>
          </a:p>
        </p:txBody>
      </p:sp>
      <p:sp>
        <p:nvSpPr>
          <p:cNvPr id="13" name="Rounded Rectangle 12"/>
          <p:cNvSpPr/>
          <p:nvPr/>
        </p:nvSpPr>
        <p:spPr>
          <a:xfrm>
            <a:off x="4160520" y="1664208"/>
            <a:ext cx="3246120" cy="3246120"/>
          </a:xfrm>
          <a:prstGeom prst="roundRect">
            <a:avLst>
              <a:gd name="adj" fmla="val 235"/>
            </a:avLst>
          </a:prstGeom>
          <a:solidFill>
            <a:srgbClr val="FFFFFF"/>
          </a:solidFill>
          <a:ln w="10160">
            <a:solidFill>
              <a:srgbClr val="E0E5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4160520" y="1664208"/>
            <a:ext cx="64008" cy="3246120"/>
          </a:xfrm>
          <a:prstGeom prst="rect">
            <a:avLst/>
          </a:prstGeom>
          <a:solidFill>
            <a:srgbClr val="2F8E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4370832" y="1810512"/>
            <a:ext cx="2862072" cy="347472"/>
          </a:xfrm>
          <a:prstGeom prst="rect">
            <a:avLst/>
          </a:prstGeom>
          <a:noFill/>
        </p:spPr>
        <p:txBody>
          <a:bodyPr wrap="square" lIns="0" tIns="0" rIns="0" bIns="0" anchor="t">
            <a:spAutoFit/>
          </a:bodyPr>
          <a:lstStyle/>
          <a:p>
            <a:pPr algn="l">
              <a:lnSpc>
                <a:spcPct val="112000"/>
              </a:lnSpc>
              <a:spcAft>
                <a:spcPts val="0"/>
              </a:spcAft>
            </a:pPr>
            <a:r>
              <a:rPr sz="2000" b="1" i="0">
                <a:solidFill>
                  <a:srgbClr val="2F8E72"/>
                </a:solidFill>
                <a:latin typeface="微软雅黑"/>
              </a:rPr>
              <a:t>DTW</a:t>
            </a:r>
          </a:p>
        </p:txBody>
      </p:sp>
      <p:sp>
        <p:nvSpPr>
          <p:cNvPr id="16" name="TextBox 15"/>
          <p:cNvSpPr txBox="1"/>
          <p:nvPr/>
        </p:nvSpPr>
        <p:spPr>
          <a:xfrm>
            <a:off x="4370832" y="2350008"/>
            <a:ext cx="2862072" cy="1624419"/>
          </a:xfrm>
          <a:prstGeom prst="rect">
            <a:avLst/>
          </a:prstGeom>
          <a:noFill/>
        </p:spPr>
        <p:txBody>
          <a:bodyPr wrap="square" lIns="0" tIns="0" rIns="0" bIns="0" anchor="t">
            <a:spAutoFit/>
          </a:bodyPr>
          <a:lstStyle/>
          <a:p>
            <a:pPr algn="l">
              <a:lnSpc>
                <a:spcPct val="112000"/>
              </a:lnSpc>
              <a:spcAft>
                <a:spcPts val="0"/>
              </a:spcAft>
            </a:pPr>
            <a:r>
              <a:rPr sz="2400" b="0" i="0">
                <a:solidFill>
                  <a:srgbClr val="222833"/>
                </a:solidFill>
                <a:latin typeface="微软雅黑"/>
              </a:rPr>
              <a:t>动态时间规整可比较两条长度或时间轴不完全一致的末端执行器轨迹。</a:t>
            </a:r>
          </a:p>
        </p:txBody>
      </p:sp>
      <p:sp>
        <p:nvSpPr>
          <p:cNvPr id="17" name="Rounded Rectangle 16"/>
          <p:cNvSpPr/>
          <p:nvPr/>
        </p:nvSpPr>
        <p:spPr>
          <a:xfrm>
            <a:off x="7607808" y="1664208"/>
            <a:ext cx="3246120" cy="3246120"/>
          </a:xfrm>
          <a:prstGeom prst="roundRect">
            <a:avLst>
              <a:gd name="adj" fmla="val 2582"/>
            </a:avLst>
          </a:prstGeom>
          <a:solidFill>
            <a:srgbClr val="FFFFFF"/>
          </a:solidFill>
          <a:ln w="10160">
            <a:solidFill>
              <a:srgbClr val="E0E5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7607808" y="1664208"/>
            <a:ext cx="64008" cy="3246120"/>
          </a:xfrm>
          <a:prstGeom prst="rect">
            <a:avLst/>
          </a:prstGeom>
          <a:solidFill>
            <a:srgbClr val="C58A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7818120" y="1810512"/>
            <a:ext cx="2862072" cy="347472"/>
          </a:xfrm>
          <a:prstGeom prst="rect">
            <a:avLst/>
          </a:prstGeom>
          <a:noFill/>
        </p:spPr>
        <p:txBody>
          <a:bodyPr wrap="square" lIns="0" tIns="0" rIns="0" bIns="0" anchor="t">
            <a:spAutoFit/>
          </a:bodyPr>
          <a:lstStyle/>
          <a:p>
            <a:pPr algn="l">
              <a:lnSpc>
                <a:spcPct val="112000"/>
              </a:lnSpc>
              <a:spcAft>
                <a:spcPts val="0"/>
              </a:spcAft>
            </a:pPr>
            <a:r>
              <a:rPr sz="2000" b="1" i="0" dirty="0">
                <a:solidFill>
                  <a:srgbClr val="C58A24"/>
                </a:solidFill>
                <a:latin typeface="微软雅黑"/>
              </a:rPr>
              <a:t>Wasserstein</a:t>
            </a:r>
          </a:p>
        </p:txBody>
      </p:sp>
      <p:sp>
        <p:nvSpPr>
          <p:cNvPr id="20" name="TextBox 19"/>
          <p:cNvSpPr txBox="1"/>
          <p:nvPr/>
        </p:nvSpPr>
        <p:spPr>
          <a:xfrm>
            <a:off x="7818120" y="2350008"/>
            <a:ext cx="2862072" cy="1624419"/>
          </a:xfrm>
          <a:prstGeom prst="rect">
            <a:avLst/>
          </a:prstGeom>
          <a:noFill/>
        </p:spPr>
        <p:txBody>
          <a:bodyPr wrap="square" lIns="0" tIns="0" rIns="0" bIns="0" anchor="t">
            <a:spAutoFit/>
          </a:bodyPr>
          <a:lstStyle/>
          <a:p>
            <a:pPr algn="l">
              <a:lnSpc>
                <a:spcPct val="112000"/>
              </a:lnSpc>
              <a:spcAft>
                <a:spcPts val="0"/>
              </a:spcAft>
            </a:pPr>
            <a:r>
              <a:rPr sz="2400" b="0" i="0" dirty="0" err="1">
                <a:solidFill>
                  <a:srgbClr val="222833"/>
                </a:solidFill>
                <a:latin typeface="微软雅黑"/>
              </a:rPr>
              <a:t>从“搬运分布质量”的角度比较轨迹或状态分布，可捕捉累积动力学偏差</a:t>
            </a:r>
            <a:r>
              <a:rPr sz="2400" b="0" i="0" dirty="0">
                <a:solidFill>
                  <a:srgbClr val="222833"/>
                </a:solidFill>
                <a:latin typeface="微软雅黑"/>
              </a:rPr>
              <a:t>。</a:t>
            </a:r>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18872" cy="6858000"/>
          </a:xfrm>
          <a:prstGeom prst="rect">
            <a:avLst/>
          </a:prstGeom>
          <a:solidFill>
            <a:srgbClr val="3159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118872" y="0"/>
            <a:ext cx="41148" cy="6858000"/>
          </a:xfrm>
          <a:prstGeom prst="rect">
            <a:avLst/>
          </a:prstGeom>
          <a:solidFill>
            <a:srgbClr val="B7C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38912" y="137160"/>
            <a:ext cx="3474720" cy="164592"/>
          </a:xfrm>
          <a:prstGeom prst="rect">
            <a:avLst/>
          </a:prstGeom>
          <a:noFill/>
        </p:spPr>
        <p:txBody>
          <a:bodyPr wrap="square" lIns="0" tIns="0" rIns="0" bIns="0" anchor="t">
            <a:spAutoFit/>
          </a:bodyPr>
          <a:lstStyle/>
          <a:p>
            <a:pPr algn="l">
              <a:lnSpc>
                <a:spcPct val="112000"/>
              </a:lnSpc>
              <a:spcAft>
                <a:spcPts val="0"/>
              </a:spcAft>
            </a:pPr>
            <a:r>
              <a:rPr sz="1050" b="0" i="0">
                <a:solidFill>
                  <a:srgbClr val="8C98AA"/>
                </a:solidFill>
                <a:latin typeface="微软雅黑"/>
              </a:rPr>
              <a:t>具身智能导论 · 第 9 章</a:t>
            </a:r>
          </a:p>
        </p:txBody>
      </p:sp>
      <p:sp>
        <p:nvSpPr>
          <p:cNvPr id="5" name="TextBox 4"/>
          <p:cNvSpPr txBox="1"/>
          <p:nvPr/>
        </p:nvSpPr>
        <p:spPr>
          <a:xfrm>
            <a:off x="9144000" y="137160"/>
            <a:ext cx="2423160" cy="164592"/>
          </a:xfrm>
          <a:prstGeom prst="rect">
            <a:avLst/>
          </a:prstGeom>
          <a:noFill/>
        </p:spPr>
        <p:txBody>
          <a:bodyPr wrap="square" lIns="0" tIns="0" rIns="0" bIns="0" anchor="t">
            <a:spAutoFit/>
          </a:bodyPr>
          <a:lstStyle/>
          <a:p>
            <a:pPr algn="r">
              <a:lnSpc>
                <a:spcPct val="112000"/>
              </a:lnSpc>
              <a:spcAft>
                <a:spcPts val="0"/>
              </a:spcAft>
            </a:pPr>
            <a:r>
              <a:rPr sz="1050" b="0" i="0">
                <a:solidFill>
                  <a:srgbClr val="8C98AA"/>
                </a:solidFill>
                <a:latin typeface="微软雅黑"/>
              </a:rPr>
              <a:t>虚实迁移技术</a:t>
            </a:r>
          </a:p>
        </p:txBody>
      </p:sp>
      <p:sp>
        <p:nvSpPr>
          <p:cNvPr id="6" name="TextBox 5"/>
          <p:cNvSpPr txBox="1"/>
          <p:nvPr/>
        </p:nvSpPr>
        <p:spPr>
          <a:xfrm>
            <a:off x="502920" y="457200"/>
            <a:ext cx="10927080" cy="749808"/>
          </a:xfrm>
          <a:prstGeom prst="rect">
            <a:avLst/>
          </a:prstGeom>
          <a:noFill/>
        </p:spPr>
        <p:txBody>
          <a:bodyPr wrap="square" lIns="0" tIns="0" rIns="0" bIns="0" anchor="t">
            <a:spAutoFit/>
          </a:bodyPr>
          <a:lstStyle/>
          <a:p>
            <a:pPr algn="l">
              <a:lnSpc>
                <a:spcPct val="112000"/>
              </a:lnSpc>
              <a:spcAft>
                <a:spcPts val="0"/>
              </a:spcAft>
            </a:pPr>
            <a:r>
              <a:rPr sz="3500" b="1" i="0">
                <a:solidFill>
                  <a:srgbClr val="24477D"/>
                </a:solidFill>
                <a:latin typeface="微软雅黑"/>
              </a:rPr>
              <a:t>9.4.2 四阶段评估实施流程</a:t>
            </a:r>
          </a:p>
        </p:txBody>
      </p:sp>
      <p:sp>
        <p:nvSpPr>
          <p:cNvPr id="7" name="Rectangle 6"/>
          <p:cNvSpPr/>
          <p:nvPr/>
        </p:nvSpPr>
        <p:spPr>
          <a:xfrm>
            <a:off x="502920" y="1353312"/>
            <a:ext cx="11109960" cy="9144"/>
          </a:xfrm>
          <a:prstGeom prst="rect">
            <a:avLst/>
          </a:prstGeom>
          <a:solidFill>
            <a:srgbClr val="D8DE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1457432" y="6473952"/>
            <a:ext cx="347472" cy="164592"/>
          </a:xfrm>
          <a:prstGeom prst="rect">
            <a:avLst/>
          </a:prstGeom>
          <a:noFill/>
        </p:spPr>
        <p:txBody>
          <a:bodyPr wrap="square" lIns="0" tIns="0" rIns="0" bIns="0" anchor="t">
            <a:spAutoFit/>
          </a:bodyPr>
          <a:lstStyle/>
          <a:p>
            <a:pPr algn="r">
              <a:lnSpc>
                <a:spcPct val="112000"/>
              </a:lnSpc>
              <a:spcAft>
                <a:spcPts val="0"/>
              </a:spcAft>
            </a:pPr>
            <a:r>
              <a:rPr sz="1050" b="0" i="0">
                <a:solidFill>
                  <a:srgbClr val="8C98AA"/>
                </a:solidFill>
                <a:latin typeface="微软雅黑"/>
              </a:rPr>
              <a:t>92</a:t>
            </a:r>
          </a:p>
        </p:txBody>
      </p:sp>
      <p:sp>
        <p:nvSpPr>
          <p:cNvPr id="9" name="Rounded Rectangle 8"/>
          <p:cNvSpPr/>
          <p:nvPr/>
        </p:nvSpPr>
        <p:spPr>
          <a:xfrm>
            <a:off x="868680" y="1828800"/>
            <a:ext cx="2411729" cy="960120"/>
          </a:xfrm>
          <a:prstGeom prst="roundRect">
            <a:avLst/>
          </a:prstGeom>
          <a:solidFill>
            <a:srgbClr val="FFFFFF"/>
          </a:solidFill>
          <a:ln w="10160">
            <a:solidFill>
              <a:srgbClr val="E0E5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868680" y="1828800"/>
            <a:ext cx="64008" cy="960120"/>
          </a:xfrm>
          <a:prstGeom prst="rect">
            <a:avLst/>
          </a:prstGeom>
          <a:solidFill>
            <a:srgbClr val="3159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1033271" y="2057400"/>
            <a:ext cx="2082545" cy="457200"/>
          </a:xfrm>
          <a:prstGeom prst="rect">
            <a:avLst/>
          </a:prstGeom>
          <a:noFill/>
        </p:spPr>
        <p:txBody>
          <a:bodyPr wrap="square" lIns="0" tIns="0" rIns="0" bIns="0" anchor="ctr">
            <a:spAutoFit/>
          </a:bodyPr>
          <a:lstStyle/>
          <a:p>
            <a:pPr algn="ctr">
              <a:lnSpc>
                <a:spcPct val="112000"/>
              </a:lnSpc>
              <a:spcAft>
                <a:spcPts val="0"/>
              </a:spcAft>
            </a:pPr>
            <a:r>
              <a:rPr sz="1900" b="1" i="0">
                <a:solidFill>
                  <a:srgbClr val="31599B"/>
                </a:solidFill>
                <a:latin typeface="微软雅黑"/>
              </a:rPr>
              <a:t>仿真内基准</a:t>
            </a:r>
          </a:p>
        </p:txBody>
      </p:sp>
      <p:sp>
        <p:nvSpPr>
          <p:cNvPr id="12" name="TextBox 11"/>
          <p:cNvSpPr txBox="1"/>
          <p:nvPr/>
        </p:nvSpPr>
        <p:spPr>
          <a:xfrm>
            <a:off x="3307841" y="2103120"/>
            <a:ext cx="228600" cy="320040"/>
          </a:xfrm>
          <a:prstGeom prst="rect">
            <a:avLst/>
          </a:prstGeom>
          <a:noFill/>
        </p:spPr>
        <p:txBody>
          <a:bodyPr wrap="square" lIns="0" tIns="0" rIns="0" bIns="0" anchor="t">
            <a:spAutoFit/>
          </a:bodyPr>
          <a:lstStyle/>
          <a:p>
            <a:pPr algn="ctr">
              <a:lnSpc>
                <a:spcPct val="112000"/>
              </a:lnSpc>
              <a:spcAft>
                <a:spcPts val="0"/>
              </a:spcAft>
            </a:pPr>
            <a:r>
              <a:rPr sz="2400" b="1" i="0">
                <a:solidFill>
                  <a:srgbClr val="8C98AA"/>
                </a:solidFill>
                <a:latin typeface="微软雅黑"/>
              </a:rPr>
              <a:t>→</a:t>
            </a:r>
          </a:p>
        </p:txBody>
      </p:sp>
      <p:sp>
        <p:nvSpPr>
          <p:cNvPr id="13" name="Rounded Rectangle 12"/>
          <p:cNvSpPr/>
          <p:nvPr/>
        </p:nvSpPr>
        <p:spPr>
          <a:xfrm>
            <a:off x="3554729" y="1828800"/>
            <a:ext cx="2411729" cy="960120"/>
          </a:xfrm>
          <a:prstGeom prst="roundRect">
            <a:avLst/>
          </a:prstGeom>
          <a:solidFill>
            <a:srgbClr val="FFFFFF"/>
          </a:solidFill>
          <a:ln w="10160">
            <a:solidFill>
              <a:srgbClr val="E0E5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3554729" y="1828800"/>
            <a:ext cx="64008" cy="960120"/>
          </a:xfrm>
          <a:prstGeom prst="rect">
            <a:avLst/>
          </a:prstGeom>
          <a:solidFill>
            <a:srgbClr val="2F8E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3719321" y="2057400"/>
            <a:ext cx="2082545" cy="457200"/>
          </a:xfrm>
          <a:prstGeom prst="rect">
            <a:avLst/>
          </a:prstGeom>
          <a:noFill/>
        </p:spPr>
        <p:txBody>
          <a:bodyPr wrap="square" lIns="0" tIns="0" rIns="0" bIns="0" anchor="ctr">
            <a:spAutoFit/>
          </a:bodyPr>
          <a:lstStyle/>
          <a:p>
            <a:pPr algn="ctr">
              <a:lnSpc>
                <a:spcPct val="112000"/>
              </a:lnSpc>
              <a:spcAft>
                <a:spcPts val="0"/>
              </a:spcAft>
            </a:pPr>
            <a:r>
              <a:rPr sz="1900" b="1" i="0">
                <a:solidFill>
                  <a:srgbClr val="2F8E72"/>
                </a:solidFill>
                <a:latin typeface="微软雅黑"/>
              </a:rPr>
              <a:t>成对仿真—现实</a:t>
            </a:r>
          </a:p>
        </p:txBody>
      </p:sp>
      <p:sp>
        <p:nvSpPr>
          <p:cNvPr id="16" name="TextBox 15"/>
          <p:cNvSpPr txBox="1"/>
          <p:nvPr/>
        </p:nvSpPr>
        <p:spPr>
          <a:xfrm>
            <a:off x="5993891" y="2103120"/>
            <a:ext cx="228600" cy="320040"/>
          </a:xfrm>
          <a:prstGeom prst="rect">
            <a:avLst/>
          </a:prstGeom>
          <a:noFill/>
        </p:spPr>
        <p:txBody>
          <a:bodyPr wrap="square" lIns="0" tIns="0" rIns="0" bIns="0" anchor="t">
            <a:spAutoFit/>
          </a:bodyPr>
          <a:lstStyle/>
          <a:p>
            <a:pPr algn="ctr">
              <a:lnSpc>
                <a:spcPct val="112000"/>
              </a:lnSpc>
              <a:spcAft>
                <a:spcPts val="0"/>
              </a:spcAft>
            </a:pPr>
            <a:r>
              <a:rPr sz="2400" b="1" i="0">
                <a:solidFill>
                  <a:srgbClr val="8C98AA"/>
                </a:solidFill>
                <a:latin typeface="微软雅黑"/>
              </a:rPr>
              <a:t>→</a:t>
            </a:r>
          </a:p>
        </p:txBody>
      </p:sp>
      <p:sp>
        <p:nvSpPr>
          <p:cNvPr id="17" name="Rounded Rectangle 16"/>
          <p:cNvSpPr/>
          <p:nvPr/>
        </p:nvSpPr>
        <p:spPr>
          <a:xfrm>
            <a:off x="6240779" y="1828800"/>
            <a:ext cx="2411729" cy="960120"/>
          </a:xfrm>
          <a:prstGeom prst="roundRect">
            <a:avLst/>
          </a:prstGeom>
          <a:solidFill>
            <a:srgbClr val="FFFFFF"/>
          </a:solidFill>
          <a:ln w="10160">
            <a:solidFill>
              <a:srgbClr val="E0E5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6240779" y="1828800"/>
            <a:ext cx="64008" cy="960120"/>
          </a:xfrm>
          <a:prstGeom prst="rect">
            <a:avLst/>
          </a:prstGeom>
          <a:solidFill>
            <a:srgbClr val="C58A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6405371" y="2057400"/>
            <a:ext cx="2082545" cy="457200"/>
          </a:xfrm>
          <a:prstGeom prst="rect">
            <a:avLst/>
          </a:prstGeom>
          <a:noFill/>
        </p:spPr>
        <p:txBody>
          <a:bodyPr wrap="square" lIns="0" tIns="0" rIns="0" bIns="0" anchor="ctr">
            <a:spAutoFit/>
          </a:bodyPr>
          <a:lstStyle/>
          <a:p>
            <a:pPr algn="ctr">
              <a:lnSpc>
                <a:spcPct val="112000"/>
              </a:lnSpc>
              <a:spcAft>
                <a:spcPts val="0"/>
              </a:spcAft>
            </a:pPr>
            <a:r>
              <a:rPr sz="1900" b="1" i="0">
                <a:solidFill>
                  <a:srgbClr val="C58A24"/>
                </a:solidFill>
                <a:latin typeface="微软雅黑"/>
              </a:rPr>
              <a:t>鲁棒与泛化</a:t>
            </a:r>
          </a:p>
        </p:txBody>
      </p:sp>
      <p:sp>
        <p:nvSpPr>
          <p:cNvPr id="20" name="TextBox 19"/>
          <p:cNvSpPr txBox="1"/>
          <p:nvPr/>
        </p:nvSpPr>
        <p:spPr>
          <a:xfrm>
            <a:off x="8679941" y="2103120"/>
            <a:ext cx="228600" cy="320040"/>
          </a:xfrm>
          <a:prstGeom prst="rect">
            <a:avLst/>
          </a:prstGeom>
          <a:noFill/>
        </p:spPr>
        <p:txBody>
          <a:bodyPr wrap="square" lIns="0" tIns="0" rIns="0" bIns="0" anchor="t">
            <a:spAutoFit/>
          </a:bodyPr>
          <a:lstStyle/>
          <a:p>
            <a:pPr algn="ctr">
              <a:lnSpc>
                <a:spcPct val="112000"/>
              </a:lnSpc>
              <a:spcAft>
                <a:spcPts val="0"/>
              </a:spcAft>
            </a:pPr>
            <a:r>
              <a:rPr sz="2400" b="1" i="0">
                <a:solidFill>
                  <a:srgbClr val="8C98AA"/>
                </a:solidFill>
                <a:latin typeface="微软雅黑"/>
              </a:rPr>
              <a:t>→</a:t>
            </a:r>
          </a:p>
        </p:txBody>
      </p:sp>
      <p:sp>
        <p:nvSpPr>
          <p:cNvPr id="21" name="Rounded Rectangle 20"/>
          <p:cNvSpPr/>
          <p:nvPr/>
        </p:nvSpPr>
        <p:spPr>
          <a:xfrm>
            <a:off x="8926829" y="1828800"/>
            <a:ext cx="2411729" cy="960120"/>
          </a:xfrm>
          <a:prstGeom prst="roundRect">
            <a:avLst/>
          </a:prstGeom>
          <a:solidFill>
            <a:srgbClr val="FFFFFF"/>
          </a:solidFill>
          <a:ln w="10160">
            <a:solidFill>
              <a:srgbClr val="E0E5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8926829" y="1828800"/>
            <a:ext cx="64008" cy="960120"/>
          </a:xfrm>
          <a:prstGeom prst="rect">
            <a:avLst/>
          </a:prstGeom>
          <a:solidFill>
            <a:srgbClr val="C63F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9091421" y="2057400"/>
            <a:ext cx="2082545" cy="457200"/>
          </a:xfrm>
          <a:prstGeom prst="rect">
            <a:avLst/>
          </a:prstGeom>
          <a:noFill/>
        </p:spPr>
        <p:txBody>
          <a:bodyPr wrap="square" lIns="0" tIns="0" rIns="0" bIns="0" anchor="ctr">
            <a:spAutoFit/>
          </a:bodyPr>
          <a:lstStyle/>
          <a:p>
            <a:pPr algn="ctr">
              <a:lnSpc>
                <a:spcPct val="112000"/>
              </a:lnSpc>
              <a:spcAft>
                <a:spcPts val="0"/>
              </a:spcAft>
            </a:pPr>
            <a:r>
              <a:rPr sz="1900" b="1" i="0">
                <a:solidFill>
                  <a:srgbClr val="C63F45"/>
                </a:solidFill>
                <a:latin typeface="微软雅黑"/>
              </a:rPr>
              <a:t>统计诊断</a:t>
            </a:r>
          </a:p>
        </p:txBody>
      </p:sp>
      <p:sp>
        <p:nvSpPr>
          <p:cNvPr id="24" name="TextBox 23"/>
          <p:cNvSpPr txBox="1"/>
          <p:nvPr/>
        </p:nvSpPr>
        <p:spPr>
          <a:xfrm>
            <a:off x="868680" y="3794760"/>
            <a:ext cx="10424160" cy="1097280"/>
          </a:xfrm>
          <a:prstGeom prst="rect">
            <a:avLst/>
          </a:prstGeom>
          <a:noFill/>
        </p:spPr>
        <p:txBody>
          <a:bodyPr wrap="square" lIns="0" tIns="0" rIns="0" bIns="0" anchor="t">
            <a:spAutoFit/>
          </a:bodyPr>
          <a:lstStyle/>
          <a:p>
            <a:pPr algn="ctr">
              <a:lnSpc>
                <a:spcPct val="112000"/>
              </a:lnSpc>
              <a:spcAft>
                <a:spcPts val="0"/>
              </a:spcAft>
            </a:pPr>
            <a:r>
              <a:rPr sz="2050" b="0" i="0" dirty="0">
                <a:solidFill>
                  <a:srgbClr val="222833"/>
                </a:solidFill>
                <a:latin typeface="微软雅黑"/>
              </a:rPr>
              <a:t>从“先在仿真中做消融”到“</a:t>
            </a:r>
            <a:r>
              <a:rPr sz="2050" b="0" i="0" dirty="0" err="1">
                <a:solidFill>
                  <a:srgbClr val="222833"/>
                </a:solidFill>
                <a:latin typeface="微软雅黑"/>
              </a:rPr>
              <a:t>与现实成对评估</a:t>
            </a:r>
            <a:r>
              <a:rPr sz="2050" b="0" i="0" dirty="0">
                <a:solidFill>
                  <a:srgbClr val="222833"/>
                </a:solidFill>
                <a:latin typeface="微软雅黑"/>
              </a:rPr>
              <a:t>”，再到“扰动测试”和“</a:t>
            </a:r>
            <a:r>
              <a:rPr sz="2050" b="0" i="0" dirty="0" err="1">
                <a:solidFill>
                  <a:srgbClr val="222833"/>
                </a:solidFill>
                <a:latin typeface="微软雅黑"/>
              </a:rPr>
              <a:t>统计诊断</a:t>
            </a:r>
            <a:r>
              <a:rPr sz="2050" b="0" i="0" dirty="0">
                <a:solidFill>
                  <a:srgbClr val="222833"/>
                </a:solidFill>
                <a:latin typeface="微软雅黑"/>
              </a:rPr>
              <a:t>”，</a:t>
            </a:r>
            <a:r>
              <a:rPr sz="2050" b="0" i="0" dirty="0" err="1">
                <a:solidFill>
                  <a:srgbClr val="222833"/>
                </a:solidFill>
                <a:latin typeface="微软雅黑"/>
              </a:rPr>
              <a:t>形成可重复、可比较的评估流程</a:t>
            </a:r>
            <a:r>
              <a:rPr sz="2050" b="0" i="0" dirty="0">
                <a:solidFill>
                  <a:srgbClr val="222833"/>
                </a:solidFill>
                <a:latin typeface="微软雅黑"/>
              </a:rPr>
              <a:t>。</a:t>
            </a:r>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18872" cy="6858000"/>
          </a:xfrm>
          <a:prstGeom prst="rect">
            <a:avLst/>
          </a:prstGeom>
          <a:solidFill>
            <a:srgbClr val="3159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118872" y="0"/>
            <a:ext cx="41148" cy="6858000"/>
          </a:xfrm>
          <a:prstGeom prst="rect">
            <a:avLst/>
          </a:prstGeom>
          <a:solidFill>
            <a:srgbClr val="B7C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38912" y="137160"/>
            <a:ext cx="3474720" cy="164592"/>
          </a:xfrm>
          <a:prstGeom prst="rect">
            <a:avLst/>
          </a:prstGeom>
          <a:noFill/>
        </p:spPr>
        <p:txBody>
          <a:bodyPr wrap="square" lIns="0" tIns="0" rIns="0" bIns="0" anchor="t">
            <a:spAutoFit/>
          </a:bodyPr>
          <a:lstStyle/>
          <a:p>
            <a:pPr algn="l">
              <a:lnSpc>
                <a:spcPct val="112000"/>
              </a:lnSpc>
              <a:spcAft>
                <a:spcPts val="0"/>
              </a:spcAft>
            </a:pPr>
            <a:r>
              <a:rPr sz="1050" b="0" i="0">
                <a:solidFill>
                  <a:srgbClr val="8C98AA"/>
                </a:solidFill>
                <a:latin typeface="微软雅黑"/>
              </a:rPr>
              <a:t>具身智能导论 · 第 9 章</a:t>
            </a:r>
          </a:p>
        </p:txBody>
      </p:sp>
      <p:sp>
        <p:nvSpPr>
          <p:cNvPr id="5" name="TextBox 4"/>
          <p:cNvSpPr txBox="1"/>
          <p:nvPr/>
        </p:nvSpPr>
        <p:spPr>
          <a:xfrm>
            <a:off x="9144000" y="137160"/>
            <a:ext cx="2423160" cy="164592"/>
          </a:xfrm>
          <a:prstGeom prst="rect">
            <a:avLst/>
          </a:prstGeom>
          <a:noFill/>
        </p:spPr>
        <p:txBody>
          <a:bodyPr wrap="square" lIns="0" tIns="0" rIns="0" bIns="0" anchor="t">
            <a:spAutoFit/>
          </a:bodyPr>
          <a:lstStyle/>
          <a:p>
            <a:pPr algn="r">
              <a:lnSpc>
                <a:spcPct val="112000"/>
              </a:lnSpc>
              <a:spcAft>
                <a:spcPts val="0"/>
              </a:spcAft>
            </a:pPr>
            <a:r>
              <a:rPr sz="1050" b="0" i="0">
                <a:solidFill>
                  <a:srgbClr val="8C98AA"/>
                </a:solidFill>
                <a:latin typeface="微软雅黑"/>
              </a:rPr>
              <a:t>虚实迁移技术</a:t>
            </a:r>
          </a:p>
        </p:txBody>
      </p:sp>
      <p:sp>
        <p:nvSpPr>
          <p:cNvPr id="6" name="TextBox 5"/>
          <p:cNvSpPr txBox="1"/>
          <p:nvPr/>
        </p:nvSpPr>
        <p:spPr>
          <a:xfrm>
            <a:off x="502920" y="457200"/>
            <a:ext cx="10927080" cy="749808"/>
          </a:xfrm>
          <a:prstGeom prst="rect">
            <a:avLst/>
          </a:prstGeom>
          <a:noFill/>
        </p:spPr>
        <p:txBody>
          <a:bodyPr wrap="square" lIns="0" tIns="0" rIns="0" bIns="0" anchor="t">
            <a:spAutoFit/>
          </a:bodyPr>
          <a:lstStyle/>
          <a:p>
            <a:pPr algn="l">
              <a:lnSpc>
                <a:spcPct val="112000"/>
              </a:lnSpc>
              <a:spcAft>
                <a:spcPts val="0"/>
              </a:spcAft>
            </a:pPr>
            <a:r>
              <a:rPr sz="3500" b="1" i="0">
                <a:solidFill>
                  <a:srgbClr val="24477D"/>
                </a:solidFill>
                <a:latin typeface="微软雅黑"/>
              </a:rPr>
              <a:t>阶段一：仿真内基准测试与消融实验</a:t>
            </a:r>
          </a:p>
        </p:txBody>
      </p:sp>
      <p:sp>
        <p:nvSpPr>
          <p:cNvPr id="7" name="Rectangle 6"/>
          <p:cNvSpPr/>
          <p:nvPr/>
        </p:nvSpPr>
        <p:spPr>
          <a:xfrm>
            <a:off x="502920" y="1353312"/>
            <a:ext cx="11109960" cy="9144"/>
          </a:xfrm>
          <a:prstGeom prst="rect">
            <a:avLst/>
          </a:prstGeom>
          <a:solidFill>
            <a:srgbClr val="D8DE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1457432" y="6473952"/>
            <a:ext cx="347472" cy="164592"/>
          </a:xfrm>
          <a:prstGeom prst="rect">
            <a:avLst/>
          </a:prstGeom>
          <a:noFill/>
        </p:spPr>
        <p:txBody>
          <a:bodyPr wrap="square" lIns="0" tIns="0" rIns="0" bIns="0" anchor="t">
            <a:spAutoFit/>
          </a:bodyPr>
          <a:lstStyle/>
          <a:p>
            <a:pPr algn="r">
              <a:lnSpc>
                <a:spcPct val="112000"/>
              </a:lnSpc>
              <a:spcAft>
                <a:spcPts val="0"/>
              </a:spcAft>
            </a:pPr>
            <a:r>
              <a:rPr sz="1050" b="0" i="0">
                <a:solidFill>
                  <a:srgbClr val="8C98AA"/>
                </a:solidFill>
                <a:latin typeface="微软雅黑"/>
              </a:rPr>
              <a:t>93</a:t>
            </a:r>
          </a:p>
        </p:txBody>
      </p:sp>
      <p:sp>
        <p:nvSpPr>
          <p:cNvPr id="9" name="TextBox 8"/>
          <p:cNvSpPr txBox="1"/>
          <p:nvPr/>
        </p:nvSpPr>
        <p:spPr>
          <a:xfrm>
            <a:off x="749808" y="1691640"/>
            <a:ext cx="10378440" cy="2217595"/>
          </a:xfrm>
          <a:prstGeom prst="rect">
            <a:avLst/>
          </a:prstGeom>
          <a:noFill/>
        </p:spPr>
        <p:txBody>
          <a:bodyPr wrap="square" lIns="0" tIns="0" rIns="0" bIns="0">
            <a:spAutoFit/>
          </a:bodyPr>
          <a:lstStyle/>
          <a:p>
            <a:pPr>
              <a:lnSpc>
                <a:spcPct val="112000"/>
              </a:lnSpc>
              <a:spcAft>
                <a:spcPts val="700"/>
              </a:spcAft>
            </a:pPr>
            <a:r>
              <a:rPr sz="2400" b="0" dirty="0">
                <a:solidFill>
                  <a:srgbClr val="222833"/>
                </a:solidFill>
                <a:latin typeface="微软雅黑"/>
              </a:rPr>
              <a:t>• </a:t>
            </a:r>
            <a:r>
              <a:rPr sz="2400" dirty="0">
                <a:solidFill>
                  <a:srgbClr val="222833"/>
                </a:solidFill>
                <a:latin typeface="微软雅黑"/>
              </a:rPr>
              <a:t>在 Isaac Lab </a:t>
            </a:r>
            <a:r>
              <a:rPr sz="2400" dirty="0" err="1">
                <a:solidFill>
                  <a:srgbClr val="222833"/>
                </a:solidFill>
                <a:latin typeface="微软雅黑"/>
              </a:rPr>
              <a:t>等高保真环境中固定随机种子，运行</a:t>
            </a:r>
            <a:r>
              <a:rPr sz="2400" dirty="0">
                <a:solidFill>
                  <a:srgbClr val="222833"/>
                </a:solidFill>
                <a:latin typeface="微软雅黑"/>
              </a:rPr>
              <a:t> 50～100 个 Episode </a:t>
            </a:r>
            <a:r>
              <a:rPr sz="2400" dirty="0" err="1">
                <a:solidFill>
                  <a:srgbClr val="222833"/>
                </a:solidFill>
                <a:latin typeface="微软雅黑"/>
              </a:rPr>
              <a:t>记录基线</a:t>
            </a:r>
            <a:r>
              <a:rPr sz="2400" dirty="0">
                <a:solidFill>
                  <a:srgbClr val="222833"/>
                </a:solidFill>
                <a:latin typeface="微软雅黑"/>
              </a:rPr>
              <a:t>。</a:t>
            </a:r>
          </a:p>
          <a:p>
            <a:pPr>
              <a:lnSpc>
                <a:spcPct val="112000"/>
              </a:lnSpc>
              <a:spcAft>
                <a:spcPts val="700"/>
              </a:spcAft>
            </a:pPr>
            <a:r>
              <a:rPr sz="2400" b="0" dirty="0">
                <a:solidFill>
                  <a:srgbClr val="222833"/>
                </a:solidFill>
                <a:latin typeface="微软雅黑"/>
              </a:rPr>
              <a:t>• </a:t>
            </a:r>
            <a:r>
              <a:rPr sz="2400" dirty="0" err="1">
                <a:solidFill>
                  <a:srgbClr val="222833"/>
                </a:solidFill>
                <a:latin typeface="微软雅黑"/>
              </a:rPr>
              <a:t>逐一移除</a:t>
            </a:r>
            <a:r>
              <a:rPr sz="2400" dirty="0">
                <a:solidFill>
                  <a:srgbClr val="222833"/>
                </a:solidFill>
                <a:latin typeface="微软雅黑"/>
              </a:rPr>
              <a:t> / </a:t>
            </a:r>
            <a:r>
              <a:rPr sz="2400" dirty="0" err="1">
                <a:solidFill>
                  <a:srgbClr val="222833"/>
                </a:solidFill>
                <a:latin typeface="微软雅黑"/>
              </a:rPr>
              <a:t>添加域随机化、域自适应、系统辨识校准等关键技术</a:t>
            </a:r>
            <a:r>
              <a:rPr sz="2400" dirty="0">
                <a:solidFill>
                  <a:srgbClr val="222833"/>
                </a:solidFill>
                <a:latin typeface="微软雅黑"/>
              </a:rPr>
              <a:t>。</a:t>
            </a:r>
          </a:p>
          <a:p>
            <a:pPr>
              <a:lnSpc>
                <a:spcPct val="112000"/>
              </a:lnSpc>
              <a:spcAft>
                <a:spcPts val="700"/>
              </a:spcAft>
            </a:pPr>
            <a:r>
              <a:rPr sz="2400" b="0" dirty="0">
                <a:solidFill>
                  <a:srgbClr val="222833"/>
                </a:solidFill>
                <a:latin typeface="微软雅黑"/>
              </a:rPr>
              <a:t>• </a:t>
            </a:r>
            <a:r>
              <a:rPr sz="2400" dirty="0" err="1">
                <a:solidFill>
                  <a:srgbClr val="222833"/>
                </a:solidFill>
                <a:latin typeface="微软雅黑"/>
              </a:rPr>
              <a:t>比较完整方法与变体在</a:t>
            </a:r>
            <a:r>
              <a:rPr sz="2400" dirty="0">
                <a:solidFill>
                  <a:srgbClr val="222833"/>
                </a:solidFill>
                <a:latin typeface="微软雅黑"/>
              </a:rPr>
              <a:t> </a:t>
            </a:r>
            <a:r>
              <a:rPr sz="2400" dirty="0" err="1">
                <a:solidFill>
                  <a:srgbClr val="222833"/>
                </a:solidFill>
                <a:latin typeface="微软雅黑"/>
              </a:rPr>
              <a:t>SR、MMRV、r</a:t>
            </a:r>
            <a:r>
              <a:rPr sz="2400" dirty="0">
                <a:solidFill>
                  <a:srgbClr val="222833"/>
                </a:solidFill>
                <a:latin typeface="微软雅黑"/>
              </a:rPr>
              <a:t> </a:t>
            </a:r>
            <a:r>
              <a:rPr sz="2400" dirty="0" err="1">
                <a:solidFill>
                  <a:srgbClr val="222833"/>
                </a:solidFill>
                <a:latin typeface="微软雅黑"/>
              </a:rPr>
              <a:t>等指标上的差异，并报告</a:t>
            </a:r>
            <a:r>
              <a:rPr sz="2400" dirty="0">
                <a:solidFill>
                  <a:srgbClr val="222833"/>
                </a:solidFill>
                <a:latin typeface="微软雅黑"/>
              </a:rPr>
              <a:t> 95% </a:t>
            </a:r>
            <a:r>
              <a:rPr sz="2400" dirty="0" err="1">
                <a:solidFill>
                  <a:srgbClr val="222833"/>
                </a:solidFill>
                <a:latin typeface="微软雅黑"/>
              </a:rPr>
              <a:t>置信区间</a:t>
            </a:r>
            <a:r>
              <a:rPr sz="2400" dirty="0">
                <a:solidFill>
                  <a:srgbClr val="222833"/>
                </a:solidFill>
                <a:latin typeface="微软雅黑"/>
              </a:rPr>
              <a:t>。</a:t>
            </a:r>
          </a:p>
        </p:txBody>
      </p:sp>
      <p:sp>
        <p:nvSpPr>
          <p:cNvPr id="10" name="TextBox 9"/>
          <p:cNvSpPr txBox="1"/>
          <p:nvPr/>
        </p:nvSpPr>
        <p:spPr>
          <a:xfrm>
            <a:off x="640080" y="5230368"/>
            <a:ext cx="10972800" cy="502920"/>
          </a:xfrm>
          <a:prstGeom prst="rect">
            <a:avLst/>
          </a:prstGeom>
          <a:noFill/>
        </p:spPr>
        <p:txBody>
          <a:bodyPr wrap="square" lIns="0" tIns="0" rIns="0" bIns="0" anchor="ctr">
            <a:spAutoFit/>
          </a:bodyPr>
          <a:lstStyle/>
          <a:p>
            <a:pPr algn="ctr">
              <a:lnSpc>
                <a:spcPct val="112000"/>
              </a:lnSpc>
              <a:spcAft>
                <a:spcPts val="0"/>
              </a:spcAft>
            </a:pPr>
            <a:r>
              <a:rPr sz="2000" b="1" i="0">
                <a:solidFill>
                  <a:srgbClr val="24477D"/>
                </a:solidFill>
                <a:latin typeface="微软雅黑"/>
              </a:rPr>
              <a:t>目的：快速定位真正主导性能的技术因素。</a:t>
            </a:r>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18872" cy="6858000"/>
          </a:xfrm>
          <a:prstGeom prst="rect">
            <a:avLst/>
          </a:prstGeom>
          <a:solidFill>
            <a:srgbClr val="3159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118872" y="0"/>
            <a:ext cx="41148" cy="6858000"/>
          </a:xfrm>
          <a:prstGeom prst="rect">
            <a:avLst/>
          </a:prstGeom>
          <a:solidFill>
            <a:srgbClr val="B7C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38912" y="137160"/>
            <a:ext cx="3474720" cy="164592"/>
          </a:xfrm>
          <a:prstGeom prst="rect">
            <a:avLst/>
          </a:prstGeom>
          <a:noFill/>
        </p:spPr>
        <p:txBody>
          <a:bodyPr wrap="square" lIns="0" tIns="0" rIns="0" bIns="0" anchor="t">
            <a:spAutoFit/>
          </a:bodyPr>
          <a:lstStyle/>
          <a:p>
            <a:pPr algn="l">
              <a:lnSpc>
                <a:spcPct val="112000"/>
              </a:lnSpc>
              <a:spcAft>
                <a:spcPts val="0"/>
              </a:spcAft>
            </a:pPr>
            <a:r>
              <a:rPr sz="1050" b="0" i="0">
                <a:solidFill>
                  <a:srgbClr val="8C98AA"/>
                </a:solidFill>
                <a:latin typeface="微软雅黑"/>
              </a:rPr>
              <a:t>具身智能导论 · 第 9 章</a:t>
            </a:r>
          </a:p>
        </p:txBody>
      </p:sp>
      <p:sp>
        <p:nvSpPr>
          <p:cNvPr id="5" name="TextBox 4"/>
          <p:cNvSpPr txBox="1"/>
          <p:nvPr/>
        </p:nvSpPr>
        <p:spPr>
          <a:xfrm>
            <a:off x="9144000" y="137160"/>
            <a:ext cx="2423160" cy="164592"/>
          </a:xfrm>
          <a:prstGeom prst="rect">
            <a:avLst/>
          </a:prstGeom>
          <a:noFill/>
        </p:spPr>
        <p:txBody>
          <a:bodyPr wrap="square" lIns="0" tIns="0" rIns="0" bIns="0" anchor="t">
            <a:spAutoFit/>
          </a:bodyPr>
          <a:lstStyle/>
          <a:p>
            <a:pPr algn="r">
              <a:lnSpc>
                <a:spcPct val="112000"/>
              </a:lnSpc>
              <a:spcAft>
                <a:spcPts val="0"/>
              </a:spcAft>
            </a:pPr>
            <a:r>
              <a:rPr sz="1050" b="0" i="0">
                <a:solidFill>
                  <a:srgbClr val="8C98AA"/>
                </a:solidFill>
                <a:latin typeface="微软雅黑"/>
              </a:rPr>
              <a:t>虚实迁移技术</a:t>
            </a:r>
          </a:p>
        </p:txBody>
      </p:sp>
      <p:sp>
        <p:nvSpPr>
          <p:cNvPr id="6" name="TextBox 5"/>
          <p:cNvSpPr txBox="1"/>
          <p:nvPr/>
        </p:nvSpPr>
        <p:spPr>
          <a:xfrm>
            <a:off x="502920" y="457200"/>
            <a:ext cx="10927080" cy="749808"/>
          </a:xfrm>
          <a:prstGeom prst="rect">
            <a:avLst/>
          </a:prstGeom>
          <a:noFill/>
        </p:spPr>
        <p:txBody>
          <a:bodyPr wrap="square" lIns="0" tIns="0" rIns="0" bIns="0" anchor="t">
            <a:spAutoFit/>
          </a:bodyPr>
          <a:lstStyle/>
          <a:p>
            <a:pPr algn="l">
              <a:lnSpc>
                <a:spcPct val="112000"/>
              </a:lnSpc>
              <a:spcAft>
                <a:spcPts val="0"/>
              </a:spcAft>
            </a:pPr>
            <a:r>
              <a:rPr sz="3500" b="1" i="0">
                <a:solidFill>
                  <a:srgbClr val="24477D"/>
                </a:solidFill>
                <a:latin typeface="微软雅黑"/>
              </a:rPr>
              <a:t>阶段二：成对仿真—现实部署评估</a:t>
            </a:r>
          </a:p>
        </p:txBody>
      </p:sp>
      <p:sp>
        <p:nvSpPr>
          <p:cNvPr id="7" name="Rectangle 6"/>
          <p:cNvSpPr/>
          <p:nvPr/>
        </p:nvSpPr>
        <p:spPr>
          <a:xfrm>
            <a:off x="502920" y="1353312"/>
            <a:ext cx="11109960" cy="9144"/>
          </a:xfrm>
          <a:prstGeom prst="rect">
            <a:avLst/>
          </a:prstGeom>
          <a:solidFill>
            <a:srgbClr val="D8DE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1457432" y="6473952"/>
            <a:ext cx="347472" cy="164592"/>
          </a:xfrm>
          <a:prstGeom prst="rect">
            <a:avLst/>
          </a:prstGeom>
          <a:noFill/>
        </p:spPr>
        <p:txBody>
          <a:bodyPr wrap="square" lIns="0" tIns="0" rIns="0" bIns="0" anchor="t">
            <a:spAutoFit/>
          </a:bodyPr>
          <a:lstStyle/>
          <a:p>
            <a:pPr algn="r">
              <a:lnSpc>
                <a:spcPct val="112000"/>
              </a:lnSpc>
              <a:spcAft>
                <a:spcPts val="0"/>
              </a:spcAft>
            </a:pPr>
            <a:r>
              <a:rPr sz="1050" b="0" i="0">
                <a:solidFill>
                  <a:srgbClr val="8C98AA"/>
                </a:solidFill>
                <a:latin typeface="微软雅黑"/>
              </a:rPr>
              <a:t>94</a:t>
            </a:r>
          </a:p>
        </p:txBody>
      </p:sp>
      <p:sp>
        <p:nvSpPr>
          <p:cNvPr id="9" name="TextBox 8"/>
          <p:cNvSpPr txBox="1"/>
          <p:nvPr/>
        </p:nvSpPr>
        <p:spPr>
          <a:xfrm>
            <a:off x="749808" y="1691640"/>
            <a:ext cx="10378440" cy="2217595"/>
          </a:xfrm>
          <a:prstGeom prst="rect">
            <a:avLst/>
          </a:prstGeom>
          <a:noFill/>
        </p:spPr>
        <p:txBody>
          <a:bodyPr wrap="square" lIns="0" tIns="0" rIns="0" bIns="0">
            <a:spAutoFit/>
          </a:bodyPr>
          <a:lstStyle/>
          <a:p>
            <a:pPr>
              <a:lnSpc>
                <a:spcPct val="112000"/>
              </a:lnSpc>
              <a:spcAft>
                <a:spcPts val="700"/>
              </a:spcAft>
            </a:pPr>
            <a:r>
              <a:rPr sz="2400" b="0" dirty="0">
                <a:solidFill>
                  <a:srgbClr val="222833"/>
                </a:solidFill>
                <a:latin typeface="微软雅黑"/>
              </a:rPr>
              <a:t>• </a:t>
            </a:r>
            <a:r>
              <a:rPr sz="2400" dirty="0" err="1">
                <a:solidFill>
                  <a:srgbClr val="222833"/>
                </a:solidFill>
                <a:latin typeface="微软雅黑"/>
              </a:rPr>
              <a:t>仿真与现实使用完全相同的任务指令、初始状态分布、目标分布与成功判定准则</a:t>
            </a:r>
            <a:r>
              <a:rPr sz="2400" dirty="0">
                <a:solidFill>
                  <a:srgbClr val="222833"/>
                </a:solidFill>
                <a:latin typeface="微软雅黑"/>
              </a:rPr>
              <a:t>。</a:t>
            </a:r>
          </a:p>
          <a:p>
            <a:pPr>
              <a:lnSpc>
                <a:spcPct val="112000"/>
              </a:lnSpc>
              <a:spcAft>
                <a:spcPts val="700"/>
              </a:spcAft>
            </a:pPr>
            <a:r>
              <a:rPr sz="2400" b="0" dirty="0">
                <a:solidFill>
                  <a:srgbClr val="222833"/>
                </a:solidFill>
                <a:latin typeface="微软雅黑"/>
              </a:rPr>
              <a:t>• </a:t>
            </a:r>
            <a:r>
              <a:rPr sz="2400" dirty="0" err="1">
                <a:solidFill>
                  <a:srgbClr val="222833"/>
                </a:solidFill>
                <a:latin typeface="微软雅黑"/>
              </a:rPr>
              <a:t>同一策略在两个环境中各运行至少</a:t>
            </a:r>
            <a:r>
              <a:rPr sz="2400" dirty="0">
                <a:solidFill>
                  <a:srgbClr val="222833"/>
                </a:solidFill>
                <a:latin typeface="微软雅黑"/>
              </a:rPr>
              <a:t> 30～100 </a:t>
            </a:r>
            <a:r>
              <a:rPr sz="2400" dirty="0" err="1">
                <a:solidFill>
                  <a:srgbClr val="222833"/>
                </a:solidFill>
                <a:latin typeface="微软雅黑"/>
              </a:rPr>
              <a:t>次独立轨迹</a:t>
            </a:r>
            <a:r>
              <a:rPr sz="2400" dirty="0">
                <a:solidFill>
                  <a:srgbClr val="222833"/>
                </a:solidFill>
                <a:latin typeface="微软雅黑"/>
              </a:rPr>
              <a:t>。</a:t>
            </a:r>
          </a:p>
          <a:p>
            <a:pPr>
              <a:lnSpc>
                <a:spcPct val="112000"/>
              </a:lnSpc>
              <a:spcAft>
                <a:spcPts val="700"/>
              </a:spcAft>
            </a:pPr>
            <a:r>
              <a:rPr sz="2400" b="0" dirty="0">
                <a:solidFill>
                  <a:srgbClr val="222833"/>
                </a:solidFill>
                <a:latin typeface="微软雅黑"/>
              </a:rPr>
              <a:t>• </a:t>
            </a:r>
            <a:r>
              <a:rPr sz="2400" dirty="0" err="1">
                <a:solidFill>
                  <a:srgbClr val="222833"/>
                </a:solidFill>
                <a:latin typeface="微软雅黑"/>
              </a:rPr>
              <a:t>计算</a:t>
            </a:r>
            <a:r>
              <a:rPr sz="2400" dirty="0">
                <a:solidFill>
                  <a:srgbClr val="222833"/>
                </a:solidFill>
                <a:latin typeface="微软雅黑"/>
              </a:rPr>
              <a:t> ΔSR、MMRV 与 </a:t>
            </a:r>
            <a:r>
              <a:rPr sz="2400" dirty="0" err="1">
                <a:solidFill>
                  <a:srgbClr val="222833"/>
                </a:solidFill>
                <a:latin typeface="微软雅黑"/>
              </a:rPr>
              <a:t>r：通常</a:t>
            </a:r>
            <a:r>
              <a:rPr sz="2400" dirty="0">
                <a:solidFill>
                  <a:srgbClr val="222833"/>
                </a:solidFill>
                <a:latin typeface="微软雅黑"/>
              </a:rPr>
              <a:t> r </a:t>
            </a:r>
            <a:r>
              <a:rPr sz="2400" dirty="0" err="1">
                <a:solidFill>
                  <a:srgbClr val="222833"/>
                </a:solidFill>
                <a:latin typeface="微软雅黑"/>
              </a:rPr>
              <a:t>越高、MMRV</a:t>
            </a:r>
            <a:r>
              <a:rPr sz="2400" dirty="0">
                <a:solidFill>
                  <a:srgbClr val="222833"/>
                </a:solidFill>
                <a:latin typeface="微软雅黑"/>
              </a:rPr>
              <a:t> </a:t>
            </a:r>
            <a:r>
              <a:rPr sz="2400" dirty="0" err="1">
                <a:solidFill>
                  <a:srgbClr val="222833"/>
                </a:solidFill>
                <a:latin typeface="微软雅黑"/>
              </a:rPr>
              <a:t>越低，仿真对现实的预测越可靠</a:t>
            </a:r>
            <a:r>
              <a:rPr sz="2400" dirty="0">
                <a:solidFill>
                  <a:srgbClr val="222833"/>
                </a:solidFill>
                <a:latin typeface="微软雅黑"/>
              </a:rPr>
              <a:t>。</a:t>
            </a:r>
          </a:p>
        </p:txBody>
      </p:sp>
      <p:sp>
        <p:nvSpPr>
          <p:cNvPr id="10" name="TextBox 9"/>
          <p:cNvSpPr txBox="1"/>
          <p:nvPr/>
        </p:nvSpPr>
        <p:spPr>
          <a:xfrm>
            <a:off x="640080" y="5230368"/>
            <a:ext cx="10972800" cy="502920"/>
          </a:xfrm>
          <a:prstGeom prst="rect">
            <a:avLst/>
          </a:prstGeom>
          <a:noFill/>
        </p:spPr>
        <p:txBody>
          <a:bodyPr wrap="square" lIns="0" tIns="0" rIns="0" bIns="0" anchor="ctr">
            <a:spAutoFit/>
          </a:bodyPr>
          <a:lstStyle/>
          <a:p>
            <a:pPr algn="ctr">
              <a:lnSpc>
                <a:spcPct val="112000"/>
              </a:lnSpc>
              <a:spcAft>
                <a:spcPts val="0"/>
              </a:spcAft>
            </a:pPr>
            <a:r>
              <a:rPr sz="1950" b="1" i="0">
                <a:solidFill>
                  <a:srgbClr val="24477D"/>
                </a:solidFill>
                <a:latin typeface="微软雅黑"/>
              </a:rPr>
              <a:t>这是直接暴露视觉、控制与物理三类域差距的核心阶段。</a:t>
            </a:r>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18872" cy="6858000"/>
          </a:xfrm>
          <a:prstGeom prst="rect">
            <a:avLst/>
          </a:prstGeom>
          <a:solidFill>
            <a:srgbClr val="3159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118872" y="0"/>
            <a:ext cx="41148" cy="6858000"/>
          </a:xfrm>
          <a:prstGeom prst="rect">
            <a:avLst/>
          </a:prstGeom>
          <a:solidFill>
            <a:srgbClr val="B7C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38912" y="137160"/>
            <a:ext cx="3474720" cy="164592"/>
          </a:xfrm>
          <a:prstGeom prst="rect">
            <a:avLst/>
          </a:prstGeom>
          <a:noFill/>
        </p:spPr>
        <p:txBody>
          <a:bodyPr wrap="square" lIns="0" tIns="0" rIns="0" bIns="0" anchor="t">
            <a:spAutoFit/>
          </a:bodyPr>
          <a:lstStyle/>
          <a:p>
            <a:pPr algn="l">
              <a:lnSpc>
                <a:spcPct val="112000"/>
              </a:lnSpc>
              <a:spcAft>
                <a:spcPts val="0"/>
              </a:spcAft>
            </a:pPr>
            <a:r>
              <a:rPr sz="1050" b="0" i="0">
                <a:solidFill>
                  <a:srgbClr val="8C98AA"/>
                </a:solidFill>
                <a:latin typeface="微软雅黑"/>
              </a:rPr>
              <a:t>具身智能导论 · 第 9 章</a:t>
            </a:r>
          </a:p>
        </p:txBody>
      </p:sp>
      <p:sp>
        <p:nvSpPr>
          <p:cNvPr id="5" name="TextBox 4"/>
          <p:cNvSpPr txBox="1"/>
          <p:nvPr/>
        </p:nvSpPr>
        <p:spPr>
          <a:xfrm>
            <a:off x="9144000" y="137160"/>
            <a:ext cx="2423160" cy="164592"/>
          </a:xfrm>
          <a:prstGeom prst="rect">
            <a:avLst/>
          </a:prstGeom>
          <a:noFill/>
        </p:spPr>
        <p:txBody>
          <a:bodyPr wrap="square" lIns="0" tIns="0" rIns="0" bIns="0" anchor="t">
            <a:spAutoFit/>
          </a:bodyPr>
          <a:lstStyle/>
          <a:p>
            <a:pPr algn="r">
              <a:lnSpc>
                <a:spcPct val="112000"/>
              </a:lnSpc>
              <a:spcAft>
                <a:spcPts val="0"/>
              </a:spcAft>
            </a:pPr>
            <a:r>
              <a:rPr sz="1050" b="0" i="0">
                <a:solidFill>
                  <a:srgbClr val="8C98AA"/>
                </a:solidFill>
                <a:latin typeface="微软雅黑"/>
              </a:rPr>
              <a:t>虚实迁移技术</a:t>
            </a:r>
          </a:p>
        </p:txBody>
      </p:sp>
      <p:sp>
        <p:nvSpPr>
          <p:cNvPr id="6" name="TextBox 5"/>
          <p:cNvSpPr txBox="1"/>
          <p:nvPr/>
        </p:nvSpPr>
        <p:spPr>
          <a:xfrm>
            <a:off x="502920" y="457200"/>
            <a:ext cx="10927080" cy="749808"/>
          </a:xfrm>
          <a:prstGeom prst="rect">
            <a:avLst/>
          </a:prstGeom>
          <a:noFill/>
        </p:spPr>
        <p:txBody>
          <a:bodyPr wrap="square" lIns="0" tIns="0" rIns="0" bIns="0" anchor="t">
            <a:spAutoFit/>
          </a:bodyPr>
          <a:lstStyle/>
          <a:p>
            <a:pPr algn="l">
              <a:lnSpc>
                <a:spcPct val="112000"/>
              </a:lnSpc>
              <a:spcAft>
                <a:spcPts val="0"/>
              </a:spcAft>
            </a:pPr>
            <a:r>
              <a:rPr sz="3500" b="1" i="0">
                <a:solidFill>
                  <a:srgbClr val="24477D"/>
                </a:solidFill>
                <a:latin typeface="微软雅黑"/>
              </a:rPr>
              <a:t>阶段三：鲁棒性与泛化能力测试</a:t>
            </a:r>
          </a:p>
        </p:txBody>
      </p:sp>
      <p:sp>
        <p:nvSpPr>
          <p:cNvPr id="7" name="Rectangle 6"/>
          <p:cNvSpPr/>
          <p:nvPr/>
        </p:nvSpPr>
        <p:spPr>
          <a:xfrm>
            <a:off x="502920" y="1353312"/>
            <a:ext cx="11109960" cy="9144"/>
          </a:xfrm>
          <a:prstGeom prst="rect">
            <a:avLst/>
          </a:prstGeom>
          <a:solidFill>
            <a:srgbClr val="D8DE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1457432" y="6473952"/>
            <a:ext cx="347472" cy="164592"/>
          </a:xfrm>
          <a:prstGeom prst="rect">
            <a:avLst/>
          </a:prstGeom>
          <a:noFill/>
        </p:spPr>
        <p:txBody>
          <a:bodyPr wrap="square" lIns="0" tIns="0" rIns="0" bIns="0" anchor="t">
            <a:spAutoFit/>
          </a:bodyPr>
          <a:lstStyle/>
          <a:p>
            <a:pPr algn="r">
              <a:lnSpc>
                <a:spcPct val="112000"/>
              </a:lnSpc>
              <a:spcAft>
                <a:spcPts val="0"/>
              </a:spcAft>
            </a:pPr>
            <a:r>
              <a:rPr sz="1050" b="0" i="0">
                <a:solidFill>
                  <a:srgbClr val="8C98AA"/>
                </a:solidFill>
                <a:latin typeface="微软雅黑"/>
              </a:rPr>
              <a:t>95</a:t>
            </a:r>
          </a:p>
        </p:txBody>
      </p:sp>
      <p:sp>
        <p:nvSpPr>
          <p:cNvPr id="9" name="TextBox 8"/>
          <p:cNvSpPr txBox="1"/>
          <p:nvPr/>
        </p:nvSpPr>
        <p:spPr>
          <a:xfrm>
            <a:off x="749808" y="1691640"/>
            <a:ext cx="10378440" cy="1893724"/>
          </a:xfrm>
          <a:prstGeom prst="rect">
            <a:avLst/>
          </a:prstGeom>
          <a:noFill/>
        </p:spPr>
        <p:txBody>
          <a:bodyPr wrap="square" lIns="0" tIns="0" rIns="0" bIns="0">
            <a:spAutoFit/>
          </a:bodyPr>
          <a:lstStyle/>
          <a:p>
            <a:pPr>
              <a:lnSpc>
                <a:spcPct val="112000"/>
              </a:lnSpc>
              <a:spcAft>
                <a:spcPts val="700"/>
              </a:spcAft>
            </a:pPr>
            <a:r>
              <a:rPr sz="2400" b="0" dirty="0">
                <a:solidFill>
                  <a:srgbClr val="222833"/>
                </a:solidFill>
                <a:latin typeface="微软雅黑"/>
              </a:rPr>
              <a:t>• </a:t>
            </a:r>
            <a:r>
              <a:rPr sz="2400" dirty="0" err="1">
                <a:solidFill>
                  <a:srgbClr val="222833"/>
                </a:solidFill>
                <a:latin typeface="微软雅黑"/>
              </a:rPr>
              <a:t>在仿真与现实中同步施加</a:t>
            </a:r>
            <a:r>
              <a:rPr sz="2400" dirty="0">
                <a:solidFill>
                  <a:srgbClr val="222833"/>
                </a:solidFill>
                <a:latin typeface="微软雅黑"/>
              </a:rPr>
              <a:t> V1～V5 </a:t>
            </a:r>
            <a:r>
              <a:rPr sz="2400" dirty="0" err="1">
                <a:solidFill>
                  <a:srgbClr val="222833"/>
                </a:solidFill>
                <a:latin typeface="微软雅黑"/>
              </a:rPr>
              <a:t>扰动并绘制鲁棒性曲线</a:t>
            </a:r>
            <a:endParaRPr sz="2400" dirty="0">
              <a:solidFill>
                <a:srgbClr val="222833"/>
              </a:solidFill>
              <a:latin typeface="微软雅黑"/>
            </a:endParaRPr>
          </a:p>
          <a:p>
            <a:pPr>
              <a:lnSpc>
                <a:spcPct val="112000"/>
              </a:lnSpc>
              <a:spcAft>
                <a:spcPts val="700"/>
              </a:spcAft>
            </a:pPr>
            <a:r>
              <a:rPr sz="2400" b="0" dirty="0">
                <a:solidFill>
                  <a:srgbClr val="222833"/>
                </a:solidFill>
                <a:latin typeface="微软雅黑"/>
              </a:rPr>
              <a:t>• </a:t>
            </a:r>
            <a:r>
              <a:rPr sz="2400" dirty="0" err="1">
                <a:solidFill>
                  <a:srgbClr val="222833"/>
                </a:solidFill>
                <a:latin typeface="微软雅黑"/>
              </a:rPr>
              <a:t>评估零样本</a:t>
            </a:r>
            <a:r>
              <a:rPr sz="2400" dirty="0">
                <a:solidFill>
                  <a:srgbClr val="222833"/>
                </a:solidFill>
                <a:latin typeface="微软雅黑"/>
              </a:rPr>
              <a:t> / </a:t>
            </a:r>
            <a:r>
              <a:rPr sz="2400" dirty="0" err="1">
                <a:solidFill>
                  <a:srgbClr val="222833"/>
                </a:solidFill>
                <a:latin typeface="微软雅黑"/>
              </a:rPr>
              <a:t>少样本微调带来的性能提升</a:t>
            </a:r>
            <a:endParaRPr sz="2400" dirty="0">
              <a:solidFill>
                <a:srgbClr val="222833"/>
              </a:solidFill>
              <a:latin typeface="微软雅黑"/>
            </a:endParaRPr>
          </a:p>
          <a:p>
            <a:pPr>
              <a:lnSpc>
                <a:spcPct val="112000"/>
              </a:lnSpc>
              <a:spcAft>
                <a:spcPts val="700"/>
              </a:spcAft>
            </a:pPr>
            <a:r>
              <a:rPr sz="2400" b="0" dirty="0">
                <a:solidFill>
                  <a:srgbClr val="222833"/>
                </a:solidFill>
                <a:latin typeface="微软雅黑"/>
              </a:rPr>
              <a:t>• </a:t>
            </a:r>
            <a:r>
              <a:rPr sz="2400" dirty="0" err="1">
                <a:solidFill>
                  <a:srgbClr val="222833"/>
                </a:solidFill>
                <a:latin typeface="微软雅黑"/>
              </a:rPr>
              <a:t>测试不同任务复杂度</a:t>
            </a:r>
            <a:r>
              <a:rPr sz="2400" dirty="0">
                <a:solidFill>
                  <a:srgbClr val="222833"/>
                </a:solidFill>
                <a:latin typeface="微软雅黑"/>
              </a:rPr>
              <a:t> T1～T4 </a:t>
            </a:r>
            <a:r>
              <a:rPr sz="2400" dirty="0" err="1">
                <a:solidFill>
                  <a:srgbClr val="222833"/>
                </a:solidFill>
                <a:latin typeface="微软雅黑"/>
              </a:rPr>
              <a:t>下的泛化能力</a:t>
            </a:r>
            <a:endParaRPr sz="2400" dirty="0">
              <a:solidFill>
                <a:srgbClr val="222833"/>
              </a:solidFill>
              <a:latin typeface="微软雅黑"/>
            </a:endParaRPr>
          </a:p>
          <a:p>
            <a:pPr>
              <a:lnSpc>
                <a:spcPct val="112000"/>
              </a:lnSpc>
              <a:spcAft>
                <a:spcPts val="700"/>
              </a:spcAft>
            </a:pPr>
            <a:r>
              <a:rPr sz="2400" b="0" dirty="0">
                <a:solidFill>
                  <a:srgbClr val="222833"/>
                </a:solidFill>
                <a:latin typeface="微软雅黑"/>
              </a:rPr>
              <a:t>• </a:t>
            </a:r>
            <a:r>
              <a:rPr sz="2400" dirty="0" err="1">
                <a:solidFill>
                  <a:srgbClr val="222833"/>
                </a:solidFill>
                <a:latin typeface="微软雅黑"/>
              </a:rPr>
              <a:t>可在多个视觉随机化环境中聚合平均性能，验证鲁棒性</a:t>
            </a:r>
            <a:endParaRPr sz="2400" dirty="0">
              <a:solidFill>
                <a:srgbClr val="222833"/>
              </a:solidFill>
              <a:latin typeface="微软雅黑"/>
            </a:endParaRPr>
          </a:p>
        </p:txBody>
      </p:sp>
      <p:sp>
        <p:nvSpPr>
          <p:cNvPr id="10" name="TextBox 9"/>
          <p:cNvSpPr txBox="1"/>
          <p:nvPr/>
        </p:nvSpPr>
        <p:spPr>
          <a:xfrm>
            <a:off x="640080" y="5230368"/>
            <a:ext cx="10972800" cy="502920"/>
          </a:xfrm>
          <a:prstGeom prst="rect">
            <a:avLst/>
          </a:prstGeom>
          <a:noFill/>
        </p:spPr>
        <p:txBody>
          <a:bodyPr wrap="square" lIns="0" tIns="0" rIns="0" bIns="0" anchor="ctr">
            <a:spAutoFit/>
          </a:bodyPr>
          <a:lstStyle/>
          <a:p>
            <a:pPr algn="ctr">
              <a:lnSpc>
                <a:spcPct val="112000"/>
              </a:lnSpc>
              <a:spcAft>
                <a:spcPts val="0"/>
              </a:spcAft>
            </a:pPr>
            <a:r>
              <a:rPr sz="2000" b="1" i="0">
                <a:solidFill>
                  <a:srgbClr val="24477D"/>
                </a:solidFill>
                <a:latin typeface="微软雅黑"/>
              </a:rPr>
              <a:t>评估重点从“能不能做”转向“环境变化后还能不能做”。</a:t>
            </a:r>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18872" cy="6858000"/>
          </a:xfrm>
          <a:prstGeom prst="rect">
            <a:avLst/>
          </a:prstGeom>
          <a:solidFill>
            <a:srgbClr val="3159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118872" y="0"/>
            <a:ext cx="41148" cy="6858000"/>
          </a:xfrm>
          <a:prstGeom prst="rect">
            <a:avLst/>
          </a:prstGeom>
          <a:solidFill>
            <a:srgbClr val="B7C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38912" y="137160"/>
            <a:ext cx="3474720" cy="164592"/>
          </a:xfrm>
          <a:prstGeom prst="rect">
            <a:avLst/>
          </a:prstGeom>
          <a:noFill/>
        </p:spPr>
        <p:txBody>
          <a:bodyPr wrap="square" lIns="0" tIns="0" rIns="0" bIns="0" anchor="t">
            <a:spAutoFit/>
          </a:bodyPr>
          <a:lstStyle/>
          <a:p>
            <a:pPr algn="l">
              <a:lnSpc>
                <a:spcPct val="112000"/>
              </a:lnSpc>
              <a:spcAft>
                <a:spcPts val="0"/>
              </a:spcAft>
            </a:pPr>
            <a:r>
              <a:rPr sz="1050" b="0" i="0">
                <a:solidFill>
                  <a:srgbClr val="8C98AA"/>
                </a:solidFill>
                <a:latin typeface="微软雅黑"/>
              </a:rPr>
              <a:t>具身智能导论 · 第 9 章</a:t>
            </a:r>
          </a:p>
        </p:txBody>
      </p:sp>
      <p:sp>
        <p:nvSpPr>
          <p:cNvPr id="5" name="TextBox 4"/>
          <p:cNvSpPr txBox="1"/>
          <p:nvPr/>
        </p:nvSpPr>
        <p:spPr>
          <a:xfrm>
            <a:off x="9144000" y="137160"/>
            <a:ext cx="2423160" cy="164592"/>
          </a:xfrm>
          <a:prstGeom prst="rect">
            <a:avLst/>
          </a:prstGeom>
          <a:noFill/>
        </p:spPr>
        <p:txBody>
          <a:bodyPr wrap="square" lIns="0" tIns="0" rIns="0" bIns="0" anchor="t">
            <a:spAutoFit/>
          </a:bodyPr>
          <a:lstStyle/>
          <a:p>
            <a:pPr algn="r">
              <a:lnSpc>
                <a:spcPct val="112000"/>
              </a:lnSpc>
              <a:spcAft>
                <a:spcPts val="0"/>
              </a:spcAft>
            </a:pPr>
            <a:r>
              <a:rPr sz="1050" b="0" i="0">
                <a:solidFill>
                  <a:srgbClr val="8C98AA"/>
                </a:solidFill>
                <a:latin typeface="微软雅黑"/>
              </a:rPr>
              <a:t>虚实迁移技术</a:t>
            </a:r>
          </a:p>
        </p:txBody>
      </p:sp>
      <p:sp>
        <p:nvSpPr>
          <p:cNvPr id="6" name="TextBox 5"/>
          <p:cNvSpPr txBox="1"/>
          <p:nvPr/>
        </p:nvSpPr>
        <p:spPr>
          <a:xfrm>
            <a:off x="502920" y="457200"/>
            <a:ext cx="10927080" cy="749808"/>
          </a:xfrm>
          <a:prstGeom prst="rect">
            <a:avLst/>
          </a:prstGeom>
          <a:noFill/>
        </p:spPr>
        <p:txBody>
          <a:bodyPr wrap="square" lIns="0" tIns="0" rIns="0" bIns="0" anchor="t">
            <a:spAutoFit/>
          </a:bodyPr>
          <a:lstStyle/>
          <a:p>
            <a:pPr algn="l">
              <a:lnSpc>
                <a:spcPct val="112000"/>
              </a:lnSpc>
              <a:spcAft>
                <a:spcPts val="0"/>
              </a:spcAft>
            </a:pPr>
            <a:r>
              <a:rPr sz="3500" b="1" i="0">
                <a:solidFill>
                  <a:srgbClr val="24477D"/>
                </a:solidFill>
                <a:latin typeface="微软雅黑"/>
              </a:rPr>
              <a:t>阶段四：统计报告与诊断分析</a:t>
            </a:r>
          </a:p>
        </p:txBody>
      </p:sp>
      <p:sp>
        <p:nvSpPr>
          <p:cNvPr id="7" name="Rectangle 6"/>
          <p:cNvSpPr/>
          <p:nvPr/>
        </p:nvSpPr>
        <p:spPr>
          <a:xfrm>
            <a:off x="502920" y="1353312"/>
            <a:ext cx="11109960" cy="9144"/>
          </a:xfrm>
          <a:prstGeom prst="rect">
            <a:avLst/>
          </a:prstGeom>
          <a:solidFill>
            <a:srgbClr val="D8DE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1457432" y="6473952"/>
            <a:ext cx="347472" cy="164592"/>
          </a:xfrm>
          <a:prstGeom prst="rect">
            <a:avLst/>
          </a:prstGeom>
          <a:noFill/>
        </p:spPr>
        <p:txBody>
          <a:bodyPr wrap="square" lIns="0" tIns="0" rIns="0" bIns="0" anchor="t">
            <a:spAutoFit/>
          </a:bodyPr>
          <a:lstStyle/>
          <a:p>
            <a:pPr algn="r">
              <a:lnSpc>
                <a:spcPct val="112000"/>
              </a:lnSpc>
              <a:spcAft>
                <a:spcPts val="0"/>
              </a:spcAft>
            </a:pPr>
            <a:r>
              <a:rPr sz="1050" b="0" i="0">
                <a:solidFill>
                  <a:srgbClr val="8C98AA"/>
                </a:solidFill>
                <a:latin typeface="微软雅黑"/>
              </a:rPr>
              <a:t>96</a:t>
            </a:r>
          </a:p>
        </p:txBody>
      </p:sp>
      <p:sp>
        <p:nvSpPr>
          <p:cNvPr id="9" name="TextBox 8"/>
          <p:cNvSpPr txBox="1"/>
          <p:nvPr/>
        </p:nvSpPr>
        <p:spPr>
          <a:xfrm>
            <a:off x="749808" y="1691640"/>
            <a:ext cx="10378440" cy="2647007"/>
          </a:xfrm>
          <a:prstGeom prst="rect">
            <a:avLst/>
          </a:prstGeom>
          <a:noFill/>
        </p:spPr>
        <p:txBody>
          <a:bodyPr wrap="square" lIns="0" tIns="0" rIns="0" bIns="0">
            <a:spAutoFit/>
          </a:bodyPr>
          <a:lstStyle/>
          <a:p>
            <a:pPr>
              <a:lnSpc>
                <a:spcPct val="112000"/>
              </a:lnSpc>
              <a:spcAft>
                <a:spcPts val="700"/>
              </a:spcAft>
            </a:pPr>
            <a:r>
              <a:rPr sz="2800" b="0" dirty="0">
                <a:solidFill>
                  <a:srgbClr val="222833"/>
                </a:solidFill>
                <a:latin typeface="微软雅黑"/>
              </a:rPr>
              <a:t>• </a:t>
            </a:r>
            <a:r>
              <a:rPr sz="2800" dirty="0" err="1">
                <a:solidFill>
                  <a:srgbClr val="222833"/>
                </a:solidFill>
                <a:latin typeface="微软雅黑"/>
              </a:rPr>
              <a:t>指标以均值</a:t>
            </a:r>
            <a:r>
              <a:rPr sz="2800" dirty="0">
                <a:solidFill>
                  <a:srgbClr val="222833"/>
                </a:solidFill>
                <a:latin typeface="微软雅黑"/>
              </a:rPr>
              <a:t> ± </a:t>
            </a:r>
            <a:r>
              <a:rPr sz="2800" dirty="0" err="1">
                <a:solidFill>
                  <a:srgbClr val="222833"/>
                </a:solidFill>
                <a:latin typeface="微软雅黑"/>
              </a:rPr>
              <a:t>标准差或</a:t>
            </a:r>
            <a:r>
              <a:rPr sz="2800" dirty="0">
                <a:solidFill>
                  <a:srgbClr val="222833"/>
                </a:solidFill>
                <a:latin typeface="微软雅黑"/>
              </a:rPr>
              <a:t> 95% </a:t>
            </a:r>
            <a:r>
              <a:rPr sz="2800" dirty="0" err="1">
                <a:solidFill>
                  <a:srgbClr val="222833"/>
                </a:solidFill>
                <a:latin typeface="微软雅黑"/>
              </a:rPr>
              <a:t>置信区间报告</a:t>
            </a:r>
            <a:r>
              <a:rPr sz="2800" dirty="0">
                <a:solidFill>
                  <a:srgbClr val="222833"/>
                </a:solidFill>
                <a:latin typeface="微软雅黑"/>
              </a:rPr>
              <a:t>。</a:t>
            </a:r>
          </a:p>
          <a:p>
            <a:pPr>
              <a:lnSpc>
                <a:spcPct val="112000"/>
              </a:lnSpc>
              <a:spcAft>
                <a:spcPts val="700"/>
              </a:spcAft>
            </a:pPr>
            <a:r>
              <a:rPr sz="2800" b="0" dirty="0">
                <a:solidFill>
                  <a:srgbClr val="222833"/>
                </a:solidFill>
                <a:latin typeface="微软雅黑"/>
              </a:rPr>
              <a:t>• </a:t>
            </a:r>
            <a:r>
              <a:rPr sz="2800" dirty="0" err="1">
                <a:solidFill>
                  <a:srgbClr val="222833"/>
                </a:solidFill>
                <a:latin typeface="微软雅黑"/>
              </a:rPr>
              <a:t>使用</a:t>
            </a:r>
            <a:r>
              <a:rPr sz="2800" dirty="0">
                <a:solidFill>
                  <a:srgbClr val="222833"/>
                </a:solidFill>
                <a:latin typeface="微软雅黑"/>
              </a:rPr>
              <a:t> t </a:t>
            </a:r>
            <a:r>
              <a:rPr sz="2800" dirty="0" err="1">
                <a:solidFill>
                  <a:srgbClr val="222833"/>
                </a:solidFill>
                <a:latin typeface="微软雅黑"/>
              </a:rPr>
              <a:t>检验或</a:t>
            </a:r>
            <a:r>
              <a:rPr sz="2800" dirty="0">
                <a:solidFill>
                  <a:srgbClr val="222833"/>
                </a:solidFill>
                <a:latin typeface="微软雅黑"/>
              </a:rPr>
              <a:t> Kruskal-Wallis </a:t>
            </a:r>
            <a:r>
              <a:rPr sz="2800" dirty="0" err="1">
                <a:solidFill>
                  <a:srgbClr val="222833"/>
                </a:solidFill>
                <a:latin typeface="微软雅黑"/>
              </a:rPr>
              <a:t>检验验证组间差异显著性</a:t>
            </a:r>
            <a:r>
              <a:rPr sz="2800" dirty="0">
                <a:solidFill>
                  <a:srgbClr val="222833"/>
                </a:solidFill>
                <a:latin typeface="微软雅黑"/>
              </a:rPr>
              <a:t>。</a:t>
            </a:r>
          </a:p>
          <a:p>
            <a:pPr>
              <a:lnSpc>
                <a:spcPct val="112000"/>
              </a:lnSpc>
              <a:spcAft>
                <a:spcPts val="700"/>
              </a:spcAft>
            </a:pPr>
            <a:r>
              <a:rPr sz="2800" b="0" dirty="0">
                <a:solidFill>
                  <a:srgbClr val="222833"/>
                </a:solidFill>
                <a:latin typeface="微软雅黑"/>
              </a:rPr>
              <a:t>• </a:t>
            </a:r>
            <a:r>
              <a:rPr sz="2800" dirty="0" err="1">
                <a:solidFill>
                  <a:srgbClr val="222833"/>
                </a:solidFill>
                <a:latin typeface="微软雅黑"/>
              </a:rPr>
              <a:t>采用</a:t>
            </a:r>
            <a:r>
              <a:rPr sz="2800" dirty="0">
                <a:solidFill>
                  <a:srgbClr val="222833"/>
                </a:solidFill>
                <a:latin typeface="微软雅黑"/>
              </a:rPr>
              <a:t> 3～5 </a:t>
            </a:r>
            <a:r>
              <a:rPr sz="2800" dirty="0" err="1">
                <a:solidFill>
                  <a:srgbClr val="222833"/>
                </a:solidFill>
                <a:latin typeface="微软雅黑"/>
              </a:rPr>
              <a:t>个随机种子训练，减少偶然性影响</a:t>
            </a:r>
            <a:r>
              <a:rPr sz="2800" dirty="0">
                <a:solidFill>
                  <a:srgbClr val="222833"/>
                </a:solidFill>
                <a:latin typeface="微软雅黑"/>
              </a:rPr>
              <a:t>。</a:t>
            </a:r>
          </a:p>
          <a:p>
            <a:pPr>
              <a:lnSpc>
                <a:spcPct val="112000"/>
              </a:lnSpc>
              <a:spcAft>
                <a:spcPts val="700"/>
              </a:spcAft>
            </a:pPr>
            <a:r>
              <a:rPr sz="2800" b="0" dirty="0">
                <a:solidFill>
                  <a:srgbClr val="222833"/>
                </a:solidFill>
                <a:latin typeface="微软雅黑"/>
              </a:rPr>
              <a:t>• </a:t>
            </a:r>
            <a:r>
              <a:rPr sz="2800" dirty="0" err="1">
                <a:solidFill>
                  <a:srgbClr val="222833"/>
                </a:solidFill>
                <a:latin typeface="微软雅黑"/>
              </a:rPr>
              <a:t>结合失败模式分析与系统辨识误差，定位视觉、动力学与感知差距来源</a:t>
            </a:r>
            <a:r>
              <a:rPr sz="2800" dirty="0">
                <a:solidFill>
                  <a:srgbClr val="222833"/>
                </a:solidFill>
                <a:latin typeface="微软雅黑"/>
              </a:rPr>
              <a:t>。</a:t>
            </a:r>
          </a:p>
        </p:txBody>
      </p:sp>
      <p:sp>
        <p:nvSpPr>
          <p:cNvPr id="10" name="TextBox 9"/>
          <p:cNvSpPr txBox="1"/>
          <p:nvPr/>
        </p:nvSpPr>
        <p:spPr>
          <a:xfrm>
            <a:off x="640080" y="5230368"/>
            <a:ext cx="10972800" cy="502920"/>
          </a:xfrm>
          <a:prstGeom prst="rect">
            <a:avLst/>
          </a:prstGeom>
          <a:noFill/>
        </p:spPr>
        <p:txBody>
          <a:bodyPr wrap="square" lIns="0" tIns="0" rIns="0" bIns="0" anchor="ctr">
            <a:spAutoFit/>
          </a:bodyPr>
          <a:lstStyle/>
          <a:p>
            <a:pPr algn="ctr">
              <a:lnSpc>
                <a:spcPct val="112000"/>
              </a:lnSpc>
              <a:spcAft>
                <a:spcPts val="0"/>
              </a:spcAft>
            </a:pPr>
            <a:r>
              <a:rPr sz="2000" b="1" i="0">
                <a:solidFill>
                  <a:srgbClr val="24477D"/>
                </a:solidFill>
                <a:latin typeface="微软雅黑"/>
              </a:rPr>
              <a:t>最终输出应能直接指导下一轮 Real2Sim2Real 迭代。</a:t>
            </a:r>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170432" cy="6858000"/>
          </a:xfrm>
          <a:prstGeom prst="rect">
            <a:avLst/>
          </a:prstGeom>
          <a:solidFill>
            <a:srgbClr val="3159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859536" y="0"/>
            <a:ext cx="219456" cy="6858000"/>
          </a:xfrm>
          <a:prstGeom prst="rect">
            <a:avLst/>
          </a:prstGeom>
          <a:solidFill>
            <a:srgbClr val="B7C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2029968" y="1426464"/>
            <a:ext cx="1737360" cy="987552"/>
          </a:xfrm>
          <a:prstGeom prst="rect">
            <a:avLst/>
          </a:prstGeom>
          <a:noFill/>
        </p:spPr>
        <p:txBody>
          <a:bodyPr wrap="square" lIns="0" tIns="0" rIns="0" bIns="0" anchor="ctr">
            <a:spAutoFit/>
          </a:bodyPr>
          <a:lstStyle/>
          <a:p>
            <a:pPr algn="l">
              <a:lnSpc>
                <a:spcPct val="112000"/>
              </a:lnSpc>
              <a:spcAft>
                <a:spcPts val="0"/>
              </a:spcAft>
            </a:pPr>
            <a:r>
              <a:rPr sz="6200" b="1" i="0">
                <a:solidFill>
                  <a:srgbClr val="31599B"/>
                </a:solidFill>
                <a:latin typeface="微软雅黑"/>
              </a:rPr>
              <a:t>05</a:t>
            </a:r>
          </a:p>
        </p:txBody>
      </p:sp>
      <p:sp>
        <p:nvSpPr>
          <p:cNvPr id="5" name="TextBox 4"/>
          <p:cNvSpPr txBox="1"/>
          <p:nvPr/>
        </p:nvSpPr>
        <p:spPr>
          <a:xfrm>
            <a:off x="3246120" y="1645920"/>
            <a:ext cx="7635240" cy="621792"/>
          </a:xfrm>
          <a:prstGeom prst="rect">
            <a:avLst/>
          </a:prstGeom>
          <a:noFill/>
        </p:spPr>
        <p:txBody>
          <a:bodyPr wrap="square" lIns="0" tIns="0" rIns="0" bIns="0" anchor="ctr">
            <a:spAutoFit/>
          </a:bodyPr>
          <a:lstStyle/>
          <a:p>
            <a:pPr algn="l">
              <a:lnSpc>
                <a:spcPct val="112000"/>
              </a:lnSpc>
              <a:spcAft>
                <a:spcPts val="0"/>
              </a:spcAft>
            </a:pPr>
            <a:r>
              <a:rPr sz="3900" b="1" i="0">
                <a:solidFill>
                  <a:srgbClr val="24477D"/>
                </a:solidFill>
                <a:latin typeface="微软雅黑"/>
              </a:rPr>
              <a:t>实践案例</a:t>
            </a:r>
          </a:p>
        </p:txBody>
      </p:sp>
      <p:sp>
        <p:nvSpPr>
          <p:cNvPr id="6" name="TextBox 5"/>
          <p:cNvSpPr txBox="1"/>
          <p:nvPr/>
        </p:nvSpPr>
        <p:spPr>
          <a:xfrm>
            <a:off x="8595360" y="292608"/>
            <a:ext cx="2743200" cy="164592"/>
          </a:xfrm>
          <a:prstGeom prst="rect">
            <a:avLst/>
          </a:prstGeom>
          <a:noFill/>
        </p:spPr>
        <p:txBody>
          <a:bodyPr wrap="square" lIns="0" tIns="0" rIns="0" bIns="0" anchor="t">
            <a:spAutoFit/>
          </a:bodyPr>
          <a:lstStyle/>
          <a:p>
            <a:pPr algn="r">
              <a:lnSpc>
                <a:spcPct val="112000"/>
              </a:lnSpc>
              <a:spcAft>
                <a:spcPts val="0"/>
              </a:spcAft>
            </a:pPr>
            <a:r>
              <a:rPr sz="1050" b="0" i="0">
                <a:solidFill>
                  <a:srgbClr val="8C98AA"/>
                </a:solidFill>
                <a:latin typeface="微软雅黑"/>
              </a:rPr>
              <a:t>具身智能导论 · 第9章</a:t>
            </a:r>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18872" cy="6858000"/>
          </a:xfrm>
          <a:prstGeom prst="rect">
            <a:avLst/>
          </a:prstGeom>
          <a:solidFill>
            <a:srgbClr val="3159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118872" y="0"/>
            <a:ext cx="41148" cy="6858000"/>
          </a:xfrm>
          <a:prstGeom prst="rect">
            <a:avLst/>
          </a:prstGeom>
          <a:solidFill>
            <a:srgbClr val="B7C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38912" y="137160"/>
            <a:ext cx="3474720" cy="164592"/>
          </a:xfrm>
          <a:prstGeom prst="rect">
            <a:avLst/>
          </a:prstGeom>
          <a:noFill/>
        </p:spPr>
        <p:txBody>
          <a:bodyPr wrap="square" lIns="0" tIns="0" rIns="0" bIns="0" anchor="t">
            <a:spAutoFit/>
          </a:bodyPr>
          <a:lstStyle/>
          <a:p>
            <a:pPr algn="l">
              <a:lnSpc>
                <a:spcPct val="112000"/>
              </a:lnSpc>
              <a:spcAft>
                <a:spcPts val="0"/>
              </a:spcAft>
            </a:pPr>
            <a:r>
              <a:rPr sz="1050" b="0" i="0">
                <a:solidFill>
                  <a:srgbClr val="8C98AA"/>
                </a:solidFill>
                <a:latin typeface="微软雅黑"/>
              </a:rPr>
              <a:t>具身智能导论 · 第 9 章</a:t>
            </a:r>
          </a:p>
        </p:txBody>
      </p:sp>
      <p:sp>
        <p:nvSpPr>
          <p:cNvPr id="5" name="TextBox 4"/>
          <p:cNvSpPr txBox="1"/>
          <p:nvPr/>
        </p:nvSpPr>
        <p:spPr>
          <a:xfrm>
            <a:off x="9144000" y="137160"/>
            <a:ext cx="2423160" cy="164592"/>
          </a:xfrm>
          <a:prstGeom prst="rect">
            <a:avLst/>
          </a:prstGeom>
          <a:noFill/>
        </p:spPr>
        <p:txBody>
          <a:bodyPr wrap="square" lIns="0" tIns="0" rIns="0" bIns="0" anchor="t">
            <a:spAutoFit/>
          </a:bodyPr>
          <a:lstStyle/>
          <a:p>
            <a:pPr algn="r">
              <a:lnSpc>
                <a:spcPct val="112000"/>
              </a:lnSpc>
              <a:spcAft>
                <a:spcPts val="0"/>
              </a:spcAft>
            </a:pPr>
            <a:r>
              <a:rPr sz="1050" b="0" i="0">
                <a:solidFill>
                  <a:srgbClr val="8C98AA"/>
                </a:solidFill>
                <a:latin typeface="微软雅黑"/>
              </a:rPr>
              <a:t>虚实迁移技术</a:t>
            </a:r>
          </a:p>
        </p:txBody>
      </p:sp>
      <p:sp>
        <p:nvSpPr>
          <p:cNvPr id="6" name="TextBox 5"/>
          <p:cNvSpPr txBox="1"/>
          <p:nvPr/>
        </p:nvSpPr>
        <p:spPr>
          <a:xfrm>
            <a:off x="502920" y="457200"/>
            <a:ext cx="10927080" cy="868680"/>
          </a:xfrm>
          <a:prstGeom prst="rect">
            <a:avLst/>
          </a:prstGeom>
          <a:noFill/>
        </p:spPr>
        <p:txBody>
          <a:bodyPr wrap="square" lIns="0" tIns="0" rIns="0" bIns="0" anchor="t">
            <a:spAutoFit/>
          </a:bodyPr>
          <a:lstStyle/>
          <a:p>
            <a:pPr algn="l">
              <a:lnSpc>
                <a:spcPct val="112000"/>
              </a:lnSpc>
              <a:spcAft>
                <a:spcPts val="0"/>
              </a:spcAft>
            </a:pPr>
            <a:r>
              <a:rPr sz="2800" b="1" i="0">
                <a:solidFill>
                  <a:srgbClr val="24477D"/>
                </a:solidFill>
                <a:latin typeface="微软雅黑"/>
              </a:rPr>
              <a:t>9.5 实践案例：SO-101 + LeRobot + Isaac Lab</a:t>
            </a:r>
          </a:p>
        </p:txBody>
      </p:sp>
      <p:sp>
        <p:nvSpPr>
          <p:cNvPr id="7" name="Rectangle 6"/>
          <p:cNvSpPr/>
          <p:nvPr/>
        </p:nvSpPr>
        <p:spPr>
          <a:xfrm>
            <a:off x="502920" y="1353312"/>
            <a:ext cx="11109960" cy="9144"/>
          </a:xfrm>
          <a:prstGeom prst="rect">
            <a:avLst/>
          </a:prstGeom>
          <a:solidFill>
            <a:srgbClr val="D8DE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1457432" y="6473952"/>
            <a:ext cx="347472" cy="164592"/>
          </a:xfrm>
          <a:prstGeom prst="rect">
            <a:avLst/>
          </a:prstGeom>
          <a:noFill/>
        </p:spPr>
        <p:txBody>
          <a:bodyPr wrap="square" lIns="0" tIns="0" rIns="0" bIns="0" anchor="t">
            <a:spAutoFit/>
          </a:bodyPr>
          <a:lstStyle/>
          <a:p>
            <a:pPr algn="r">
              <a:lnSpc>
                <a:spcPct val="112000"/>
              </a:lnSpc>
              <a:spcAft>
                <a:spcPts val="0"/>
              </a:spcAft>
            </a:pPr>
            <a:r>
              <a:rPr sz="1050" b="0" i="0">
                <a:solidFill>
                  <a:srgbClr val="8C98AA"/>
                </a:solidFill>
                <a:latin typeface="微软雅黑"/>
              </a:rPr>
              <a:t>98</a:t>
            </a:r>
          </a:p>
        </p:txBody>
      </p:sp>
      <p:sp>
        <p:nvSpPr>
          <p:cNvPr id="9" name="TextBox 8"/>
          <p:cNvSpPr txBox="1"/>
          <p:nvPr/>
        </p:nvSpPr>
        <p:spPr>
          <a:xfrm>
            <a:off x="749808" y="1691640"/>
            <a:ext cx="10378440" cy="1803955"/>
          </a:xfrm>
          <a:prstGeom prst="rect">
            <a:avLst/>
          </a:prstGeom>
          <a:noFill/>
        </p:spPr>
        <p:txBody>
          <a:bodyPr wrap="square" lIns="0" tIns="0" rIns="0" bIns="0">
            <a:spAutoFit/>
          </a:bodyPr>
          <a:lstStyle/>
          <a:p>
            <a:pPr>
              <a:lnSpc>
                <a:spcPct val="112000"/>
              </a:lnSpc>
              <a:spcAft>
                <a:spcPts val="700"/>
              </a:spcAft>
            </a:pPr>
            <a:r>
              <a:rPr sz="2400" b="0" dirty="0">
                <a:solidFill>
                  <a:srgbClr val="222833"/>
                </a:solidFill>
                <a:latin typeface="微软雅黑"/>
              </a:rPr>
              <a:t>• </a:t>
            </a:r>
            <a:r>
              <a:rPr sz="2400" dirty="0">
                <a:solidFill>
                  <a:srgbClr val="222833"/>
                </a:solidFill>
                <a:latin typeface="微软雅黑"/>
              </a:rPr>
              <a:t>以 SO-101 </a:t>
            </a:r>
            <a:r>
              <a:rPr sz="2400" dirty="0" err="1">
                <a:solidFill>
                  <a:srgbClr val="222833"/>
                </a:solidFill>
                <a:latin typeface="微软雅黑"/>
              </a:rPr>
              <a:t>机械臂为平台，采用</a:t>
            </a:r>
            <a:r>
              <a:rPr sz="2400" dirty="0">
                <a:solidFill>
                  <a:srgbClr val="222833"/>
                </a:solidFill>
                <a:latin typeface="微软雅黑"/>
              </a:rPr>
              <a:t> </a:t>
            </a:r>
            <a:r>
              <a:rPr sz="2400" dirty="0" err="1">
                <a:solidFill>
                  <a:srgbClr val="222833"/>
                </a:solidFill>
                <a:latin typeface="微软雅黑"/>
              </a:rPr>
              <a:t>LeRobot</a:t>
            </a:r>
            <a:r>
              <a:rPr sz="2400" dirty="0">
                <a:solidFill>
                  <a:srgbClr val="222833"/>
                </a:solidFill>
                <a:latin typeface="微软雅黑"/>
              </a:rPr>
              <a:t> </a:t>
            </a:r>
            <a:r>
              <a:rPr sz="2400" dirty="0" err="1">
                <a:solidFill>
                  <a:srgbClr val="222833"/>
                </a:solidFill>
                <a:latin typeface="微软雅黑"/>
              </a:rPr>
              <a:t>框架与</a:t>
            </a:r>
            <a:r>
              <a:rPr sz="2400" dirty="0">
                <a:solidFill>
                  <a:srgbClr val="222833"/>
                </a:solidFill>
                <a:latin typeface="微软雅黑"/>
              </a:rPr>
              <a:t> Isaac Lab </a:t>
            </a:r>
            <a:r>
              <a:rPr sz="2400" dirty="0" err="1">
                <a:solidFill>
                  <a:srgbClr val="222833"/>
                </a:solidFill>
                <a:latin typeface="微软雅黑"/>
              </a:rPr>
              <a:t>仿真环境</a:t>
            </a:r>
            <a:endParaRPr sz="2400" dirty="0">
              <a:solidFill>
                <a:srgbClr val="222833"/>
              </a:solidFill>
              <a:latin typeface="微软雅黑"/>
            </a:endParaRPr>
          </a:p>
          <a:p>
            <a:pPr>
              <a:lnSpc>
                <a:spcPct val="112000"/>
              </a:lnSpc>
              <a:spcAft>
                <a:spcPts val="700"/>
              </a:spcAft>
            </a:pPr>
            <a:r>
              <a:rPr sz="2400" b="0" dirty="0">
                <a:solidFill>
                  <a:srgbClr val="222833"/>
                </a:solidFill>
                <a:latin typeface="微软雅黑"/>
              </a:rPr>
              <a:t>• </a:t>
            </a:r>
            <a:r>
              <a:rPr sz="2400" dirty="0" err="1">
                <a:solidFill>
                  <a:srgbClr val="222833"/>
                </a:solidFill>
                <a:latin typeface="微软雅黑"/>
              </a:rPr>
              <a:t>路线：遥操作交互数据收集</a:t>
            </a:r>
            <a:r>
              <a:rPr sz="2400" dirty="0">
                <a:solidFill>
                  <a:srgbClr val="222833"/>
                </a:solidFill>
                <a:latin typeface="微软雅黑"/>
              </a:rPr>
              <a:t> → </a:t>
            </a:r>
            <a:r>
              <a:rPr sz="2400" dirty="0" err="1">
                <a:solidFill>
                  <a:srgbClr val="222833"/>
                </a:solidFill>
                <a:latin typeface="微软雅黑"/>
              </a:rPr>
              <a:t>域随机化增强</a:t>
            </a:r>
            <a:r>
              <a:rPr sz="2400" dirty="0">
                <a:solidFill>
                  <a:srgbClr val="222833"/>
                </a:solidFill>
                <a:latin typeface="微软雅黑"/>
              </a:rPr>
              <a:t> → </a:t>
            </a:r>
            <a:r>
              <a:rPr sz="2400" dirty="0" err="1">
                <a:solidFill>
                  <a:srgbClr val="222833"/>
                </a:solidFill>
                <a:latin typeface="微软雅黑"/>
              </a:rPr>
              <a:t>扩散策略</a:t>
            </a:r>
            <a:r>
              <a:rPr sz="2400" dirty="0">
                <a:solidFill>
                  <a:srgbClr val="222833"/>
                </a:solidFill>
                <a:latin typeface="微软雅黑"/>
              </a:rPr>
              <a:t> / ACT </a:t>
            </a:r>
            <a:r>
              <a:rPr sz="2400" dirty="0" err="1">
                <a:solidFill>
                  <a:srgbClr val="222833"/>
                </a:solidFill>
                <a:latin typeface="微软雅黑"/>
              </a:rPr>
              <a:t>模仿学习</a:t>
            </a:r>
            <a:r>
              <a:rPr sz="2400" dirty="0">
                <a:solidFill>
                  <a:srgbClr val="222833"/>
                </a:solidFill>
                <a:latin typeface="微软雅黑"/>
              </a:rPr>
              <a:t> → </a:t>
            </a:r>
            <a:r>
              <a:rPr sz="2400" dirty="0" err="1">
                <a:solidFill>
                  <a:srgbClr val="222833"/>
                </a:solidFill>
                <a:latin typeface="微软雅黑"/>
              </a:rPr>
              <a:t>现实零</a:t>
            </a:r>
            <a:r>
              <a:rPr sz="2400" dirty="0">
                <a:solidFill>
                  <a:srgbClr val="222833"/>
                </a:solidFill>
                <a:latin typeface="微软雅黑"/>
              </a:rPr>
              <a:t> / </a:t>
            </a:r>
            <a:r>
              <a:rPr sz="2400" dirty="0" err="1">
                <a:solidFill>
                  <a:srgbClr val="222833"/>
                </a:solidFill>
                <a:latin typeface="微软雅黑"/>
              </a:rPr>
              <a:t>少样本部署</a:t>
            </a:r>
            <a:endParaRPr sz="2400" dirty="0">
              <a:solidFill>
                <a:srgbClr val="222833"/>
              </a:solidFill>
              <a:latin typeface="微软雅黑"/>
            </a:endParaRPr>
          </a:p>
          <a:p>
            <a:pPr>
              <a:lnSpc>
                <a:spcPct val="112000"/>
              </a:lnSpc>
              <a:spcAft>
                <a:spcPts val="700"/>
              </a:spcAft>
            </a:pPr>
            <a:r>
              <a:rPr sz="2400" b="0" dirty="0">
                <a:solidFill>
                  <a:srgbClr val="222833"/>
                </a:solidFill>
                <a:latin typeface="微软雅黑"/>
              </a:rPr>
              <a:t>• </a:t>
            </a:r>
            <a:r>
              <a:rPr sz="2400" dirty="0" err="1">
                <a:solidFill>
                  <a:srgbClr val="222833"/>
                </a:solidFill>
                <a:latin typeface="微软雅黑"/>
              </a:rPr>
              <a:t>目标是复现“仿真训练</a:t>
            </a:r>
            <a:r>
              <a:rPr sz="2400" dirty="0">
                <a:solidFill>
                  <a:srgbClr val="222833"/>
                </a:solidFill>
                <a:latin typeface="微软雅黑"/>
              </a:rPr>
              <a:t> → </a:t>
            </a:r>
            <a:r>
              <a:rPr sz="2400" dirty="0" err="1">
                <a:solidFill>
                  <a:srgbClr val="222833"/>
                </a:solidFill>
                <a:latin typeface="微软雅黑"/>
              </a:rPr>
              <a:t>现实部署</a:t>
            </a:r>
            <a:r>
              <a:rPr sz="2400" dirty="0">
                <a:solidFill>
                  <a:srgbClr val="222833"/>
                </a:solidFill>
                <a:latin typeface="微软雅黑"/>
              </a:rPr>
              <a:t> → </a:t>
            </a:r>
            <a:r>
              <a:rPr sz="2400" dirty="0" err="1">
                <a:solidFill>
                  <a:srgbClr val="222833"/>
                </a:solidFill>
                <a:latin typeface="微软雅黑"/>
              </a:rPr>
              <a:t>量化评估”的完整闭环</a:t>
            </a:r>
            <a:endParaRPr sz="2400" dirty="0">
              <a:solidFill>
                <a:srgbClr val="222833"/>
              </a:solidFill>
              <a:latin typeface="微软雅黑"/>
            </a:endParaRPr>
          </a:p>
        </p:txBody>
      </p:sp>
      <p:sp>
        <p:nvSpPr>
          <p:cNvPr id="10" name="TextBox 9"/>
          <p:cNvSpPr txBox="1"/>
          <p:nvPr/>
        </p:nvSpPr>
        <p:spPr>
          <a:xfrm>
            <a:off x="640080" y="5166360"/>
            <a:ext cx="10972800" cy="502920"/>
          </a:xfrm>
          <a:prstGeom prst="rect">
            <a:avLst/>
          </a:prstGeom>
          <a:noFill/>
        </p:spPr>
        <p:txBody>
          <a:bodyPr wrap="square" lIns="0" tIns="0" rIns="0" bIns="0" anchor="ctr">
            <a:spAutoFit/>
          </a:bodyPr>
          <a:lstStyle/>
          <a:p>
            <a:pPr algn="ctr">
              <a:lnSpc>
                <a:spcPct val="112000"/>
              </a:lnSpc>
              <a:spcAft>
                <a:spcPts val="0"/>
              </a:spcAft>
            </a:pPr>
            <a:r>
              <a:rPr sz="1920" b="1" i="0">
                <a:solidFill>
                  <a:srgbClr val="24477D"/>
                </a:solidFill>
                <a:latin typeface="微软雅黑"/>
              </a:rPr>
              <a:t>本实践选择模仿学习路线，而不是直接从零开始做真实机器人强化学习。</a:t>
            </a:r>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18872" cy="6858000"/>
          </a:xfrm>
          <a:prstGeom prst="rect">
            <a:avLst/>
          </a:prstGeom>
          <a:solidFill>
            <a:srgbClr val="3159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118872" y="0"/>
            <a:ext cx="41148" cy="6858000"/>
          </a:xfrm>
          <a:prstGeom prst="rect">
            <a:avLst/>
          </a:prstGeom>
          <a:solidFill>
            <a:srgbClr val="B7C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38912" y="137160"/>
            <a:ext cx="3474720" cy="164592"/>
          </a:xfrm>
          <a:prstGeom prst="rect">
            <a:avLst/>
          </a:prstGeom>
          <a:noFill/>
        </p:spPr>
        <p:txBody>
          <a:bodyPr wrap="square" lIns="0" tIns="0" rIns="0" bIns="0" anchor="t">
            <a:spAutoFit/>
          </a:bodyPr>
          <a:lstStyle/>
          <a:p>
            <a:pPr algn="l">
              <a:lnSpc>
                <a:spcPct val="112000"/>
              </a:lnSpc>
              <a:spcAft>
                <a:spcPts val="0"/>
              </a:spcAft>
            </a:pPr>
            <a:r>
              <a:rPr sz="1050" b="0" i="0">
                <a:solidFill>
                  <a:srgbClr val="8C98AA"/>
                </a:solidFill>
                <a:latin typeface="微软雅黑"/>
              </a:rPr>
              <a:t>具身智能导论 · 第 9 章</a:t>
            </a:r>
          </a:p>
        </p:txBody>
      </p:sp>
      <p:sp>
        <p:nvSpPr>
          <p:cNvPr id="5" name="TextBox 4"/>
          <p:cNvSpPr txBox="1"/>
          <p:nvPr/>
        </p:nvSpPr>
        <p:spPr>
          <a:xfrm>
            <a:off x="9144000" y="137160"/>
            <a:ext cx="2423160" cy="164592"/>
          </a:xfrm>
          <a:prstGeom prst="rect">
            <a:avLst/>
          </a:prstGeom>
          <a:noFill/>
        </p:spPr>
        <p:txBody>
          <a:bodyPr wrap="square" lIns="0" tIns="0" rIns="0" bIns="0" anchor="t">
            <a:spAutoFit/>
          </a:bodyPr>
          <a:lstStyle/>
          <a:p>
            <a:pPr algn="r">
              <a:lnSpc>
                <a:spcPct val="112000"/>
              </a:lnSpc>
              <a:spcAft>
                <a:spcPts val="0"/>
              </a:spcAft>
            </a:pPr>
            <a:r>
              <a:rPr sz="1050" b="0" i="0">
                <a:solidFill>
                  <a:srgbClr val="8C98AA"/>
                </a:solidFill>
                <a:latin typeface="微软雅黑"/>
              </a:rPr>
              <a:t>虚实迁移技术</a:t>
            </a:r>
          </a:p>
        </p:txBody>
      </p:sp>
      <p:sp>
        <p:nvSpPr>
          <p:cNvPr id="6" name="TextBox 5"/>
          <p:cNvSpPr txBox="1"/>
          <p:nvPr/>
        </p:nvSpPr>
        <p:spPr>
          <a:xfrm>
            <a:off x="502920" y="457200"/>
            <a:ext cx="10927080" cy="749808"/>
          </a:xfrm>
          <a:prstGeom prst="rect">
            <a:avLst/>
          </a:prstGeom>
          <a:noFill/>
        </p:spPr>
        <p:txBody>
          <a:bodyPr wrap="square" lIns="0" tIns="0" rIns="0" bIns="0" anchor="t">
            <a:spAutoFit/>
          </a:bodyPr>
          <a:lstStyle/>
          <a:p>
            <a:pPr algn="l">
              <a:lnSpc>
                <a:spcPct val="112000"/>
              </a:lnSpc>
              <a:spcAft>
                <a:spcPts val="0"/>
              </a:spcAft>
            </a:pPr>
            <a:r>
              <a:rPr sz="3500" b="1" i="0">
                <a:solidFill>
                  <a:srgbClr val="24477D"/>
                </a:solidFill>
                <a:latin typeface="微软雅黑"/>
              </a:rPr>
              <a:t>环境与工具准备</a:t>
            </a:r>
          </a:p>
        </p:txBody>
      </p:sp>
      <p:sp>
        <p:nvSpPr>
          <p:cNvPr id="7" name="Rectangle 6"/>
          <p:cNvSpPr/>
          <p:nvPr/>
        </p:nvSpPr>
        <p:spPr>
          <a:xfrm>
            <a:off x="502920" y="1353312"/>
            <a:ext cx="11109960" cy="9144"/>
          </a:xfrm>
          <a:prstGeom prst="rect">
            <a:avLst/>
          </a:prstGeom>
          <a:solidFill>
            <a:srgbClr val="D8DE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1457432" y="6473952"/>
            <a:ext cx="347472" cy="164592"/>
          </a:xfrm>
          <a:prstGeom prst="rect">
            <a:avLst/>
          </a:prstGeom>
          <a:noFill/>
        </p:spPr>
        <p:txBody>
          <a:bodyPr wrap="square" lIns="0" tIns="0" rIns="0" bIns="0" anchor="t">
            <a:spAutoFit/>
          </a:bodyPr>
          <a:lstStyle/>
          <a:p>
            <a:pPr algn="r">
              <a:lnSpc>
                <a:spcPct val="112000"/>
              </a:lnSpc>
              <a:spcAft>
                <a:spcPts val="0"/>
              </a:spcAft>
            </a:pPr>
            <a:r>
              <a:rPr sz="1050" b="0" i="0">
                <a:solidFill>
                  <a:srgbClr val="8C98AA"/>
                </a:solidFill>
                <a:latin typeface="微软雅黑"/>
              </a:rPr>
              <a:t>99</a:t>
            </a:r>
          </a:p>
        </p:txBody>
      </p:sp>
      <p:sp>
        <p:nvSpPr>
          <p:cNvPr id="9" name="Rounded Rectangle 8"/>
          <p:cNvSpPr/>
          <p:nvPr/>
        </p:nvSpPr>
        <p:spPr>
          <a:xfrm>
            <a:off x="713232" y="1664208"/>
            <a:ext cx="3246120" cy="3246120"/>
          </a:xfrm>
          <a:prstGeom prst="roundRect">
            <a:avLst>
              <a:gd name="adj" fmla="val 392"/>
            </a:avLst>
          </a:prstGeom>
          <a:solidFill>
            <a:srgbClr val="FFFFFF"/>
          </a:solidFill>
          <a:ln w="10160">
            <a:solidFill>
              <a:srgbClr val="E0E5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713232" y="1664208"/>
            <a:ext cx="64008" cy="3246120"/>
          </a:xfrm>
          <a:prstGeom prst="rect">
            <a:avLst/>
          </a:prstGeom>
          <a:solidFill>
            <a:srgbClr val="3159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923544" y="1810512"/>
            <a:ext cx="2862072" cy="347472"/>
          </a:xfrm>
          <a:prstGeom prst="rect">
            <a:avLst/>
          </a:prstGeom>
          <a:noFill/>
        </p:spPr>
        <p:txBody>
          <a:bodyPr wrap="square" lIns="0" tIns="0" rIns="0" bIns="0" anchor="t">
            <a:spAutoFit/>
          </a:bodyPr>
          <a:lstStyle/>
          <a:p>
            <a:pPr algn="l">
              <a:lnSpc>
                <a:spcPct val="112000"/>
              </a:lnSpc>
              <a:spcAft>
                <a:spcPts val="0"/>
              </a:spcAft>
            </a:pPr>
            <a:r>
              <a:rPr sz="2000" b="1" i="0">
                <a:solidFill>
                  <a:srgbClr val="31599B"/>
                </a:solidFill>
                <a:latin typeface="微软雅黑"/>
              </a:rPr>
              <a:t>硬件</a:t>
            </a:r>
          </a:p>
        </p:txBody>
      </p:sp>
      <p:sp>
        <p:nvSpPr>
          <p:cNvPr id="12" name="TextBox 11"/>
          <p:cNvSpPr txBox="1"/>
          <p:nvPr/>
        </p:nvSpPr>
        <p:spPr>
          <a:xfrm>
            <a:off x="923544" y="2350008"/>
            <a:ext cx="2862072" cy="2404872"/>
          </a:xfrm>
          <a:prstGeom prst="rect">
            <a:avLst/>
          </a:prstGeom>
          <a:noFill/>
        </p:spPr>
        <p:txBody>
          <a:bodyPr wrap="square" lIns="0" tIns="0" rIns="0" bIns="0" anchor="t">
            <a:spAutoFit/>
          </a:bodyPr>
          <a:lstStyle/>
          <a:p>
            <a:pPr algn="l">
              <a:lnSpc>
                <a:spcPct val="112000"/>
              </a:lnSpc>
              <a:spcAft>
                <a:spcPts val="0"/>
              </a:spcAft>
            </a:pPr>
            <a:r>
              <a:rPr sz="1750" b="0" i="0">
                <a:solidFill>
                  <a:srgbClr val="222833"/>
                </a:solidFill>
                <a:latin typeface="微软雅黑"/>
              </a:rPr>
              <a:t>SO-101 机械臂（含夹爪相机、外部相机）+ NVIDIA GPU 工作站；教材推荐 RTX 4090 及以上。</a:t>
            </a:r>
          </a:p>
        </p:txBody>
      </p:sp>
      <p:sp>
        <p:nvSpPr>
          <p:cNvPr id="13" name="Rounded Rectangle 12"/>
          <p:cNvSpPr/>
          <p:nvPr/>
        </p:nvSpPr>
        <p:spPr>
          <a:xfrm>
            <a:off x="4160520" y="1664208"/>
            <a:ext cx="3246120" cy="3246120"/>
          </a:xfrm>
          <a:prstGeom prst="roundRect">
            <a:avLst>
              <a:gd name="adj" fmla="val 3991"/>
            </a:avLst>
          </a:prstGeom>
          <a:solidFill>
            <a:srgbClr val="FFFFFF"/>
          </a:solidFill>
          <a:ln w="10160">
            <a:solidFill>
              <a:srgbClr val="E0E5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4160520" y="1664208"/>
            <a:ext cx="64008" cy="3246120"/>
          </a:xfrm>
          <a:prstGeom prst="rect">
            <a:avLst/>
          </a:prstGeom>
          <a:solidFill>
            <a:srgbClr val="2F8E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4370832" y="1810512"/>
            <a:ext cx="2862072" cy="347472"/>
          </a:xfrm>
          <a:prstGeom prst="rect">
            <a:avLst/>
          </a:prstGeom>
          <a:noFill/>
        </p:spPr>
        <p:txBody>
          <a:bodyPr wrap="square" lIns="0" tIns="0" rIns="0" bIns="0" anchor="t">
            <a:spAutoFit/>
          </a:bodyPr>
          <a:lstStyle/>
          <a:p>
            <a:pPr algn="l">
              <a:lnSpc>
                <a:spcPct val="112000"/>
              </a:lnSpc>
              <a:spcAft>
                <a:spcPts val="0"/>
              </a:spcAft>
            </a:pPr>
            <a:r>
              <a:rPr sz="2000" b="1" i="0">
                <a:solidFill>
                  <a:srgbClr val="2F8E72"/>
                </a:solidFill>
                <a:latin typeface="微软雅黑"/>
              </a:rPr>
              <a:t>软件</a:t>
            </a:r>
          </a:p>
        </p:txBody>
      </p:sp>
      <p:sp>
        <p:nvSpPr>
          <p:cNvPr id="16" name="TextBox 15"/>
          <p:cNvSpPr txBox="1"/>
          <p:nvPr/>
        </p:nvSpPr>
        <p:spPr>
          <a:xfrm>
            <a:off x="4370832" y="2350008"/>
            <a:ext cx="2862072" cy="908069"/>
          </a:xfrm>
          <a:prstGeom prst="rect">
            <a:avLst/>
          </a:prstGeom>
          <a:noFill/>
        </p:spPr>
        <p:txBody>
          <a:bodyPr wrap="square" lIns="0" tIns="0" rIns="0" bIns="0" anchor="t">
            <a:spAutoFit/>
          </a:bodyPr>
          <a:lstStyle/>
          <a:p>
            <a:pPr algn="l">
              <a:lnSpc>
                <a:spcPct val="112000"/>
              </a:lnSpc>
              <a:spcAft>
                <a:spcPts val="0"/>
              </a:spcAft>
            </a:pPr>
            <a:r>
              <a:rPr sz="1800" b="0" i="0" dirty="0">
                <a:solidFill>
                  <a:srgbClr val="222833"/>
                </a:solidFill>
                <a:latin typeface="微软雅黑"/>
              </a:rPr>
              <a:t>NVIDIA Isaac Lab + </a:t>
            </a:r>
            <a:r>
              <a:rPr sz="1800" b="0" i="0" dirty="0" err="1">
                <a:solidFill>
                  <a:srgbClr val="222833"/>
                </a:solidFill>
                <a:latin typeface="微软雅黑"/>
              </a:rPr>
              <a:t>LeRobot；建议优先使用官方</a:t>
            </a:r>
            <a:r>
              <a:rPr sz="1800" b="0" i="0" dirty="0">
                <a:solidFill>
                  <a:srgbClr val="222833"/>
                </a:solidFill>
                <a:latin typeface="微软雅黑"/>
              </a:rPr>
              <a:t> Docker </a:t>
            </a:r>
            <a:r>
              <a:rPr sz="1800" b="0" i="0" dirty="0" err="1">
                <a:solidFill>
                  <a:srgbClr val="222833"/>
                </a:solidFill>
                <a:latin typeface="微软雅黑"/>
              </a:rPr>
              <a:t>环境</a:t>
            </a:r>
            <a:r>
              <a:rPr sz="1800" b="0" i="0" dirty="0">
                <a:solidFill>
                  <a:srgbClr val="222833"/>
                </a:solidFill>
                <a:latin typeface="微软雅黑"/>
              </a:rPr>
              <a:t>。</a:t>
            </a:r>
          </a:p>
        </p:txBody>
      </p:sp>
      <p:sp>
        <p:nvSpPr>
          <p:cNvPr id="17" name="Rounded Rectangle 16"/>
          <p:cNvSpPr/>
          <p:nvPr/>
        </p:nvSpPr>
        <p:spPr>
          <a:xfrm>
            <a:off x="7607808" y="1664208"/>
            <a:ext cx="3246120" cy="3246120"/>
          </a:xfrm>
          <a:prstGeom prst="roundRect">
            <a:avLst>
              <a:gd name="adj" fmla="val 1487"/>
            </a:avLst>
          </a:prstGeom>
          <a:solidFill>
            <a:srgbClr val="FFFFFF"/>
          </a:solidFill>
          <a:ln w="10160">
            <a:solidFill>
              <a:srgbClr val="E0E5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7607808" y="1664208"/>
            <a:ext cx="64008" cy="3246120"/>
          </a:xfrm>
          <a:prstGeom prst="rect">
            <a:avLst/>
          </a:prstGeom>
          <a:solidFill>
            <a:srgbClr val="C58A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7818120" y="1810512"/>
            <a:ext cx="2862072" cy="347472"/>
          </a:xfrm>
          <a:prstGeom prst="rect">
            <a:avLst/>
          </a:prstGeom>
          <a:noFill/>
        </p:spPr>
        <p:txBody>
          <a:bodyPr wrap="square" lIns="0" tIns="0" rIns="0" bIns="0" anchor="t">
            <a:spAutoFit/>
          </a:bodyPr>
          <a:lstStyle/>
          <a:p>
            <a:pPr algn="l">
              <a:lnSpc>
                <a:spcPct val="112000"/>
              </a:lnSpc>
              <a:spcAft>
                <a:spcPts val="0"/>
              </a:spcAft>
            </a:pPr>
            <a:r>
              <a:rPr sz="2000" b="1" i="0">
                <a:solidFill>
                  <a:srgbClr val="C58A24"/>
                </a:solidFill>
                <a:latin typeface="微软雅黑"/>
              </a:rPr>
              <a:t>数据平台</a:t>
            </a:r>
          </a:p>
        </p:txBody>
      </p:sp>
      <p:sp>
        <p:nvSpPr>
          <p:cNvPr id="20" name="TextBox 19"/>
          <p:cNvSpPr txBox="1"/>
          <p:nvPr/>
        </p:nvSpPr>
        <p:spPr>
          <a:xfrm>
            <a:off x="7818120" y="2350008"/>
            <a:ext cx="2862072" cy="2404872"/>
          </a:xfrm>
          <a:prstGeom prst="rect">
            <a:avLst/>
          </a:prstGeom>
          <a:noFill/>
        </p:spPr>
        <p:txBody>
          <a:bodyPr wrap="square" lIns="0" tIns="0" rIns="0" bIns="0" anchor="t">
            <a:spAutoFit/>
          </a:bodyPr>
          <a:lstStyle/>
          <a:p>
            <a:pPr algn="l">
              <a:lnSpc>
                <a:spcPct val="112000"/>
              </a:lnSpc>
              <a:spcAft>
                <a:spcPts val="0"/>
              </a:spcAft>
            </a:pPr>
            <a:r>
              <a:rPr sz="1800" b="0" i="0">
                <a:solidFill>
                  <a:srgbClr val="222833"/>
                </a:solidFill>
                <a:latin typeface="微软雅黑"/>
              </a:rPr>
              <a:t>配置 Hugging Face 账号，用于保存、加载与可视化遥操作数据集。</a:t>
            </a:r>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18872" cy="6858000"/>
          </a:xfrm>
          <a:prstGeom prst="rect">
            <a:avLst/>
          </a:prstGeom>
          <a:solidFill>
            <a:srgbClr val="3159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118872" y="0"/>
            <a:ext cx="41148" cy="6858000"/>
          </a:xfrm>
          <a:prstGeom prst="rect">
            <a:avLst/>
          </a:prstGeom>
          <a:solidFill>
            <a:srgbClr val="B7C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38912" y="137160"/>
            <a:ext cx="3474720" cy="164592"/>
          </a:xfrm>
          <a:prstGeom prst="rect">
            <a:avLst/>
          </a:prstGeom>
          <a:noFill/>
        </p:spPr>
        <p:txBody>
          <a:bodyPr wrap="square" lIns="0" tIns="0" rIns="0" bIns="0" anchor="t">
            <a:spAutoFit/>
          </a:bodyPr>
          <a:lstStyle/>
          <a:p>
            <a:pPr algn="l">
              <a:lnSpc>
                <a:spcPct val="112000"/>
              </a:lnSpc>
              <a:spcAft>
                <a:spcPts val="0"/>
              </a:spcAft>
            </a:pPr>
            <a:r>
              <a:rPr sz="1050" b="0" i="0">
                <a:solidFill>
                  <a:srgbClr val="8C98AA"/>
                </a:solidFill>
                <a:latin typeface="微软雅黑"/>
              </a:rPr>
              <a:t>具身智能导论 · 第 9 章</a:t>
            </a:r>
          </a:p>
        </p:txBody>
      </p:sp>
      <p:sp>
        <p:nvSpPr>
          <p:cNvPr id="5" name="TextBox 4"/>
          <p:cNvSpPr txBox="1"/>
          <p:nvPr/>
        </p:nvSpPr>
        <p:spPr>
          <a:xfrm>
            <a:off x="9144000" y="137160"/>
            <a:ext cx="2423160" cy="164592"/>
          </a:xfrm>
          <a:prstGeom prst="rect">
            <a:avLst/>
          </a:prstGeom>
          <a:noFill/>
        </p:spPr>
        <p:txBody>
          <a:bodyPr wrap="square" lIns="0" tIns="0" rIns="0" bIns="0" anchor="t">
            <a:spAutoFit/>
          </a:bodyPr>
          <a:lstStyle/>
          <a:p>
            <a:pPr algn="r">
              <a:lnSpc>
                <a:spcPct val="112000"/>
              </a:lnSpc>
              <a:spcAft>
                <a:spcPts val="0"/>
              </a:spcAft>
            </a:pPr>
            <a:r>
              <a:rPr sz="1050" b="0" i="0">
                <a:solidFill>
                  <a:srgbClr val="8C98AA"/>
                </a:solidFill>
                <a:latin typeface="微软雅黑"/>
              </a:rPr>
              <a:t>虚实迁移技术</a:t>
            </a:r>
          </a:p>
        </p:txBody>
      </p:sp>
      <p:sp>
        <p:nvSpPr>
          <p:cNvPr id="6" name="TextBox 5"/>
          <p:cNvSpPr txBox="1"/>
          <p:nvPr/>
        </p:nvSpPr>
        <p:spPr>
          <a:xfrm>
            <a:off x="502920" y="457200"/>
            <a:ext cx="10927080" cy="749808"/>
          </a:xfrm>
          <a:prstGeom prst="rect">
            <a:avLst/>
          </a:prstGeom>
          <a:noFill/>
        </p:spPr>
        <p:txBody>
          <a:bodyPr wrap="square" lIns="0" tIns="0" rIns="0" bIns="0" anchor="t">
            <a:spAutoFit/>
          </a:bodyPr>
          <a:lstStyle/>
          <a:p>
            <a:pPr algn="l">
              <a:lnSpc>
                <a:spcPct val="112000"/>
              </a:lnSpc>
              <a:spcAft>
                <a:spcPts val="0"/>
              </a:spcAft>
            </a:pPr>
            <a:r>
              <a:rPr sz="3500" b="1" i="0">
                <a:solidFill>
                  <a:srgbClr val="24477D"/>
                </a:solidFill>
                <a:latin typeface="微软雅黑"/>
              </a:rPr>
              <a:t>安装环境：Docker 与 LeRobot</a:t>
            </a:r>
          </a:p>
        </p:txBody>
      </p:sp>
      <p:sp>
        <p:nvSpPr>
          <p:cNvPr id="7" name="Rectangle 6"/>
          <p:cNvSpPr/>
          <p:nvPr/>
        </p:nvSpPr>
        <p:spPr>
          <a:xfrm>
            <a:off x="502920" y="1353312"/>
            <a:ext cx="11109960" cy="9144"/>
          </a:xfrm>
          <a:prstGeom prst="rect">
            <a:avLst/>
          </a:prstGeom>
          <a:solidFill>
            <a:srgbClr val="D8DE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1457432" y="6473952"/>
            <a:ext cx="347472" cy="164592"/>
          </a:xfrm>
          <a:prstGeom prst="rect">
            <a:avLst/>
          </a:prstGeom>
          <a:noFill/>
        </p:spPr>
        <p:txBody>
          <a:bodyPr wrap="square" lIns="0" tIns="0" rIns="0" bIns="0" anchor="t">
            <a:spAutoFit/>
          </a:bodyPr>
          <a:lstStyle/>
          <a:p>
            <a:pPr algn="r">
              <a:lnSpc>
                <a:spcPct val="112000"/>
              </a:lnSpc>
              <a:spcAft>
                <a:spcPts val="0"/>
              </a:spcAft>
            </a:pPr>
            <a:r>
              <a:rPr sz="1050" b="0" i="0">
                <a:solidFill>
                  <a:srgbClr val="8C98AA"/>
                </a:solidFill>
                <a:latin typeface="微软雅黑"/>
              </a:rPr>
              <a:t>100</a:t>
            </a:r>
          </a:p>
        </p:txBody>
      </p:sp>
      <p:sp>
        <p:nvSpPr>
          <p:cNvPr id="9" name="Rounded Rectangle 8"/>
          <p:cNvSpPr/>
          <p:nvPr/>
        </p:nvSpPr>
        <p:spPr>
          <a:xfrm>
            <a:off x="777240" y="1664208"/>
            <a:ext cx="10561320" cy="3611880"/>
          </a:xfrm>
          <a:prstGeom prst="roundRect">
            <a:avLst/>
          </a:prstGeom>
          <a:solidFill>
            <a:srgbClr val="F4F6FA"/>
          </a:solidFill>
          <a:ln w="10160">
            <a:solidFill>
              <a:srgbClr val="DDE3E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1005840" y="1865376"/>
            <a:ext cx="10104120" cy="1966372"/>
          </a:xfrm>
          <a:prstGeom prst="rect">
            <a:avLst/>
          </a:prstGeom>
          <a:noFill/>
        </p:spPr>
        <p:txBody>
          <a:bodyPr wrap="square" lIns="0" tIns="0" rIns="0" bIns="0" anchor="t">
            <a:spAutoFit/>
          </a:bodyPr>
          <a:lstStyle/>
          <a:p>
            <a:pPr algn="l">
              <a:lnSpc>
                <a:spcPct val="102000"/>
              </a:lnSpc>
              <a:spcAft>
                <a:spcPts val="0"/>
              </a:spcAft>
            </a:pPr>
            <a:r>
              <a:rPr b="0" i="0" dirty="0">
                <a:solidFill>
                  <a:srgbClr val="222833"/>
                </a:solidFill>
                <a:latin typeface="Consolas"/>
              </a:rPr>
              <a:t># </a:t>
            </a:r>
            <a:r>
              <a:rPr b="0" i="0" dirty="0" err="1">
                <a:solidFill>
                  <a:srgbClr val="222833"/>
                </a:solidFill>
                <a:latin typeface="Consolas"/>
              </a:rPr>
              <a:t>启动官方</a:t>
            </a:r>
            <a:r>
              <a:rPr b="0" i="0" dirty="0">
                <a:solidFill>
                  <a:srgbClr val="222833"/>
                </a:solidFill>
                <a:latin typeface="Consolas"/>
              </a:rPr>
              <a:t> Docker </a:t>
            </a:r>
            <a:r>
              <a:rPr b="0" i="0" dirty="0" err="1">
                <a:solidFill>
                  <a:srgbClr val="222833"/>
                </a:solidFill>
                <a:latin typeface="Consolas"/>
              </a:rPr>
              <a:t>容器（包含</a:t>
            </a:r>
            <a:r>
              <a:rPr b="0" i="0" dirty="0">
                <a:solidFill>
                  <a:srgbClr val="222833"/>
                </a:solidFill>
                <a:latin typeface="Consolas"/>
              </a:rPr>
              <a:t> Isaac Lab / Isaac Sim </a:t>
            </a:r>
            <a:r>
              <a:rPr b="0" i="0" dirty="0" err="1">
                <a:solidFill>
                  <a:srgbClr val="222833"/>
                </a:solidFill>
                <a:latin typeface="Consolas"/>
              </a:rPr>
              <a:t>环境</a:t>
            </a:r>
            <a:r>
              <a:rPr b="0" i="0" dirty="0">
                <a:solidFill>
                  <a:srgbClr val="222833"/>
                </a:solidFill>
                <a:latin typeface="Consolas"/>
              </a:rPr>
              <a:t>）</a:t>
            </a:r>
          </a:p>
          <a:p>
            <a:pPr algn="l">
              <a:lnSpc>
                <a:spcPct val="102000"/>
              </a:lnSpc>
              <a:spcAft>
                <a:spcPts val="0"/>
              </a:spcAft>
            </a:pPr>
            <a:r>
              <a:rPr b="0" i="0" dirty="0">
                <a:solidFill>
                  <a:srgbClr val="222833"/>
                </a:solidFill>
                <a:latin typeface="Consolas"/>
              </a:rPr>
              <a:t>docker run --rm -it --</a:t>
            </a:r>
            <a:r>
              <a:rPr b="0" i="0" dirty="0" err="1">
                <a:solidFill>
                  <a:srgbClr val="222833"/>
                </a:solidFill>
                <a:latin typeface="Consolas"/>
              </a:rPr>
              <a:t>gpus</a:t>
            </a:r>
            <a:r>
              <a:rPr b="0" i="0" dirty="0">
                <a:solidFill>
                  <a:srgbClr val="222833"/>
                </a:solidFill>
                <a:latin typeface="Consolas"/>
              </a:rPr>
              <a:t> all \</a:t>
            </a:r>
          </a:p>
          <a:p>
            <a:pPr algn="l">
              <a:lnSpc>
                <a:spcPct val="102000"/>
              </a:lnSpc>
              <a:spcAft>
                <a:spcPts val="0"/>
              </a:spcAft>
            </a:pPr>
            <a:r>
              <a:rPr b="0" i="0" dirty="0">
                <a:solidFill>
                  <a:srgbClr val="222833"/>
                </a:solidFill>
                <a:latin typeface="Consolas"/>
              </a:rPr>
              <a:t>  -v /path/to/your/data:/data \</a:t>
            </a:r>
          </a:p>
          <a:p>
            <a:pPr algn="l">
              <a:lnSpc>
                <a:spcPct val="102000"/>
              </a:lnSpc>
              <a:spcAft>
                <a:spcPts val="0"/>
              </a:spcAft>
            </a:pPr>
            <a:r>
              <a:rPr b="0" i="0" dirty="0">
                <a:solidFill>
                  <a:srgbClr val="222833"/>
                </a:solidFill>
                <a:latin typeface="Consolas"/>
              </a:rPr>
              <a:t>  nvcr.io/</a:t>
            </a:r>
            <a:r>
              <a:rPr b="0" i="0" dirty="0" err="1">
                <a:solidFill>
                  <a:srgbClr val="222833"/>
                </a:solidFill>
                <a:latin typeface="Consolas"/>
              </a:rPr>
              <a:t>nvidia</a:t>
            </a:r>
            <a:r>
              <a:rPr b="0" i="0" dirty="0">
                <a:solidFill>
                  <a:srgbClr val="222833"/>
                </a:solidFill>
                <a:latin typeface="Consolas"/>
              </a:rPr>
              <a:t>/isaac-sim:2023.1.1</a:t>
            </a:r>
          </a:p>
          <a:p>
            <a:pPr algn="l">
              <a:lnSpc>
                <a:spcPct val="102000"/>
              </a:lnSpc>
              <a:spcAft>
                <a:spcPts val="0"/>
              </a:spcAft>
            </a:pPr>
            <a:endParaRPr b="0" i="0" dirty="0">
              <a:solidFill>
                <a:srgbClr val="222833"/>
              </a:solidFill>
              <a:latin typeface="Consolas"/>
            </a:endParaRPr>
          </a:p>
          <a:p>
            <a:pPr algn="l">
              <a:lnSpc>
                <a:spcPct val="102000"/>
              </a:lnSpc>
              <a:spcAft>
                <a:spcPts val="0"/>
              </a:spcAft>
            </a:pPr>
            <a:r>
              <a:rPr b="0" i="0" dirty="0">
                <a:solidFill>
                  <a:srgbClr val="222833"/>
                </a:solidFill>
                <a:latin typeface="Consolas"/>
              </a:rPr>
              <a:t># </a:t>
            </a:r>
            <a:r>
              <a:rPr b="0" i="0" dirty="0" err="1">
                <a:solidFill>
                  <a:srgbClr val="222833"/>
                </a:solidFill>
                <a:latin typeface="Consolas"/>
              </a:rPr>
              <a:t>安装</a:t>
            </a:r>
            <a:r>
              <a:rPr b="0" i="0" dirty="0">
                <a:solidFill>
                  <a:srgbClr val="222833"/>
                </a:solidFill>
                <a:latin typeface="Consolas"/>
              </a:rPr>
              <a:t> </a:t>
            </a:r>
            <a:r>
              <a:rPr b="0" i="0" dirty="0" err="1">
                <a:solidFill>
                  <a:srgbClr val="222833"/>
                </a:solidFill>
                <a:latin typeface="Consolas"/>
              </a:rPr>
              <a:t>LeRobot</a:t>
            </a:r>
            <a:r>
              <a:rPr b="0" i="0" dirty="0">
                <a:solidFill>
                  <a:srgbClr val="222833"/>
                </a:solidFill>
                <a:latin typeface="Consolas"/>
              </a:rPr>
              <a:t> </a:t>
            </a:r>
            <a:r>
              <a:rPr b="0" i="0" dirty="0" err="1">
                <a:solidFill>
                  <a:srgbClr val="222833"/>
                </a:solidFill>
                <a:latin typeface="Consolas"/>
              </a:rPr>
              <a:t>仿真支持</a:t>
            </a:r>
            <a:endParaRPr b="0" i="0" dirty="0">
              <a:solidFill>
                <a:srgbClr val="222833"/>
              </a:solidFill>
              <a:latin typeface="Consolas"/>
            </a:endParaRPr>
          </a:p>
          <a:p>
            <a:pPr algn="l">
              <a:lnSpc>
                <a:spcPct val="102000"/>
              </a:lnSpc>
              <a:spcAft>
                <a:spcPts val="0"/>
              </a:spcAft>
            </a:pPr>
            <a:r>
              <a:rPr b="0" i="0" dirty="0">
                <a:solidFill>
                  <a:srgbClr val="222833"/>
                </a:solidFill>
                <a:latin typeface="Consolas"/>
              </a:rPr>
              <a:t>pip install "</a:t>
            </a:r>
            <a:r>
              <a:rPr b="0" i="0" dirty="0" err="1">
                <a:solidFill>
                  <a:srgbClr val="222833"/>
                </a:solidFill>
                <a:latin typeface="Consolas"/>
              </a:rPr>
              <a:t>lerobot</a:t>
            </a:r>
            <a:r>
              <a:rPr b="0" i="0" dirty="0">
                <a:solidFill>
                  <a:srgbClr val="222833"/>
                </a:solidFill>
                <a:latin typeface="Consolas"/>
              </a:rPr>
              <a:t>[sim]"</a:t>
            </a:r>
          </a:p>
        </p:txBody>
      </p:sp>
      <p:sp>
        <p:nvSpPr>
          <p:cNvPr id="11" name="TextBox 10"/>
          <p:cNvSpPr txBox="1"/>
          <p:nvPr/>
        </p:nvSpPr>
        <p:spPr>
          <a:xfrm>
            <a:off x="640080" y="5440680"/>
            <a:ext cx="10972800" cy="502920"/>
          </a:xfrm>
          <a:prstGeom prst="rect">
            <a:avLst/>
          </a:prstGeom>
          <a:noFill/>
        </p:spPr>
        <p:txBody>
          <a:bodyPr wrap="square" lIns="0" tIns="0" rIns="0" bIns="0" anchor="ctr">
            <a:spAutoFit/>
          </a:bodyPr>
          <a:lstStyle/>
          <a:p>
            <a:pPr algn="ctr">
              <a:lnSpc>
                <a:spcPct val="112000"/>
              </a:lnSpc>
              <a:spcAft>
                <a:spcPts val="0"/>
              </a:spcAft>
            </a:pPr>
            <a:r>
              <a:rPr sz="1830" b="1" i="0">
                <a:solidFill>
                  <a:srgbClr val="24477D"/>
                </a:solidFill>
                <a:latin typeface="微软雅黑"/>
              </a:rPr>
              <a:t>建议使用容器或独立环境，确保仿真器、CUDA 与 LeRobot 依赖版本一致。</a:t>
            </a:r>
          </a:p>
        </p:txBody>
      </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18872" cy="6858000"/>
          </a:xfrm>
          <a:prstGeom prst="rect">
            <a:avLst/>
          </a:prstGeom>
          <a:solidFill>
            <a:srgbClr val="3159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118872" y="0"/>
            <a:ext cx="41148" cy="6858000"/>
          </a:xfrm>
          <a:prstGeom prst="rect">
            <a:avLst/>
          </a:prstGeom>
          <a:solidFill>
            <a:srgbClr val="B7C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38912" y="137160"/>
            <a:ext cx="3474720" cy="164592"/>
          </a:xfrm>
          <a:prstGeom prst="rect">
            <a:avLst/>
          </a:prstGeom>
          <a:noFill/>
        </p:spPr>
        <p:txBody>
          <a:bodyPr wrap="square" lIns="0" tIns="0" rIns="0" bIns="0" anchor="t">
            <a:spAutoFit/>
          </a:bodyPr>
          <a:lstStyle/>
          <a:p>
            <a:pPr algn="l">
              <a:lnSpc>
                <a:spcPct val="112000"/>
              </a:lnSpc>
              <a:spcAft>
                <a:spcPts val="0"/>
              </a:spcAft>
            </a:pPr>
            <a:r>
              <a:rPr sz="1050" b="0" i="0">
                <a:solidFill>
                  <a:srgbClr val="8C98AA"/>
                </a:solidFill>
                <a:latin typeface="微软雅黑"/>
              </a:rPr>
              <a:t>具身智能导论 · 第 9 章</a:t>
            </a:r>
          </a:p>
        </p:txBody>
      </p:sp>
      <p:sp>
        <p:nvSpPr>
          <p:cNvPr id="5" name="TextBox 4"/>
          <p:cNvSpPr txBox="1"/>
          <p:nvPr/>
        </p:nvSpPr>
        <p:spPr>
          <a:xfrm>
            <a:off x="9144000" y="137160"/>
            <a:ext cx="2423160" cy="164592"/>
          </a:xfrm>
          <a:prstGeom prst="rect">
            <a:avLst/>
          </a:prstGeom>
          <a:noFill/>
        </p:spPr>
        <p:txBody>
          <a:bodyPr wrap="square" lIns="0" tIns="0" rIns="0" bIns="0" anchor="t">
            <a:spAutoFit/>
          </a:bodyPr>
          <a:lstStyle/>
          <a:p>
            <a:pPr algn="r">
              <a:lnSpc>
                <a:spcPct val="112000"/>
              </a:lnSpc>
              <a:spcAft>
                <a:spcPts val="0"/>
              </a:spcAft>
            </a:pPr>
            <a:r>
              <a:rPr sz="1050" b="0" i="0">
                <a:solidFill>
                  <a:srgbClr val="8C98AA"/>
                </a:solidFill>
                <a:latin typeface="微软雅黑"/>
              </a:rPr>
              <a:t>虚实迁移技术</a:t>
            </a:r>
          </a:p>
        </p:txBody>
      </p:sp>
      <p:sp>
        <p:nvSpPr>
          <p:cNvPr id="6" name="TextBox 5"/>
          <p:cNvSpPr txBox="1"/>
          <p:nvPr/>
        </p:nvSpPr>
        <p:spPr>
          <a:xfrm>
            <a:off x="502920" y="457200"/>
            <a:ext cx="10927080" cy="749808"/>
          </a:xfrm>
          <a:prstGeom prst="rect">
            <a:avLst/>
          </a:prstGeom>
          <a:noFill/>
        </p:spPr>
        <p:txBody>
          <a:bodyPr wrap="square" lIns="0" tIns="0" rIns="0" bIns="0" anchor="t">
            <a:spAutoFit/>
          </a:bodyPr>
          <a:lstStyle/>
          <a:p>
            <a:pPr algn="l">
              <a:lnSpc>
                <a:spcPct val="112000"/>
              </a:lnSpc>
              <a:spcAft>
                <a:spcPts val="0"/>
              </a:spcAft>
            </a:pPr>
            <a:r>
              <a:rPr sz="3100" b="1" i="0">
                <a:solidFill>
                  <a:srgbClr val="24477D"/>
                </a:solidFill>
                <a:latin typeface="微软雅黑"/>
              </a:rPr>
              <a:t>登录 Hugging Face 并启动域随机化遥操作任务</a:t>
            </a:r>
          </a:p>
        </p:txBody>
      </p:sp>
      <p:sp>
        <p:nvSpPr>
          <p:cNvPr id="7" name="Rectangle 6"/>
          <p:cNvSpPr/>
          <p:nvPr/>
        </p:nvSpPr>
        <p:spPr>
          <a:xfrm>
            <a:off x="502920" y="1353312"/>
            <a:ext cx="11109960" cy="9144"/>
          </a:xfrm>
          <a:prstGeom prst="rect">
            <a:avLst/>
          </a:prstGeom>
          <a:solidFill>
            <a:srgbClr val="D8DE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1457432" y="6473952"/>
            <a:ext cx="347472" cy="164592"/>
          </a:xfrm>
          <a:prstGeom prst="rect">
            <a:avLst/>
          </a:prstGeom>
          <a:noFill/>
        </p:spPr>
        <p:txBody>
          <a:bodyPr wrap="square" lIns="0" tIns="0" rIns="0" bIns="0" anchor="t">
            <a:spAutoFit/>
          </a:bodyPr>
          <a:lstStyle/>
          <a:p>
            <a:pPr algn="r">
              <a:lnSpc>
                <a:spcPct val="112000"/>
              </a:lnSpc>
              <a:spcAft>
                <a:spcPts val="0"/>
              </a:spcAft>
            </a:pPr>
            <a:r>
              <a:rPr sz="1050" b="0" i="0">
                <a:solidFill>
                  <a:srgbClr val="8C98AA"/>
                </a:solidFill>
                <a:latin typeface="微软雅黑"/>
              </a:rPr>
              <a:t>101</a:t>
            </a:r>
          </a:p>
        </p:txBody>
      </p:sp>
      <p:sp>
        <p:nvSpPr>
          <p:cNvPr id="9" name="Rounded Rectangle 8"/>
          <p:cNvSpPr/>
          <p:nvPr/>
        </p:nvSpPr>
        <p:spPr>
          <a:xfrm>
            <a:off x="777240" y="1664208"/>
            <a:ext cx="10561320" cy="822960"/>
          </a:xfrm>
          <a:prstGeom prst="roundRect">
            <a:avLst/>
          </a:prstGeom>
          <a:solidFill>
            <a:srgbClr val="F4F6FA"/>
          </a:solidFill>
          <a:ln w="10160">
            <a:solidFill>
              <a:srgbClr val="DDE3E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1005840" y="1865376"/>
            <a:ext cx="10104120" cy="457200"/>
          </a:xfrm>
          <a:prstGeom prst="rect">
            <a:avLst/>
          </a:prstGeom>
          <a:noFill/>
        </p:spPr>
        <p:txBody>
          <a:bodyPr wrap="square" lIns="0" tIns="0" rIns="0" bIns="0" anchor="t">
            <a:spAutoFit/>
          </a:bodyPr>
          <a:lstStyle/>
          <a:p>
            <a:pPr algn="l">
              <a:lnSpc>
                <a:spcPct val="102000"/>
              </a:lnSpc>
              <a:spcAft>
                <a:spcPts val="0"/>
              </a:spcAft>
            </a:pPr>
            <a:r>
              <a:rPr sz="1600" b="0" i="0">
                <a:solidFill>
                  <a:srgbClr val="222833"/>
                </a:solidFill>
                <a:latin typeface="Consolas"/>
              </a:rPr>
              <a:t>huggingface-cli login</a:t>
            </a:r>
          </a:p>
        </p:txBody>
      </p:sp>
      <p:sp>
        <p:nvSpPr>
          <p:cNvPr id="11" name="TextBox 10"/>
          <p:cNvSpPr txBox="1"/>
          <p:nvPr/>
        </p:nvSpPr>
        <p:spPr>
          <a:xfrm>
            <a:off x="777240" y="2788920"/>
            <a:ext cx="10561320" cy="384048"/>
          </a:xfrm>
          <a:prstGeom prst="rect">
            <a:avLst/>
          </a:prstGeom>
          <a:noFill/>
        </p:spPr>
        <p:txBody>
          <a:bodyPr wrap="square" lIns="0" tIns="0" rIns="0" bIns="0" anchor="t">
            <a:spAutoFit/>
          </a:bodyPr>
          <a:lstStyle/>
          <a:p>
            <a:pPr algn="ctr">
              <a:lnSpc>
                <a:spcPct val="112000"/>
              </a:lnSpc>
              <a:spcAft>
                <a:spcPts val="0"/>
              </a:spcAft>
            </a:pPr>
            <a:r>
              <a:rPr sz="2000" b="1" i="0">
                <a:solidFill>
                  <a:srgbClr val="31599B"/>
                </a:solidFill>
                <a:latin typeface="微软雅黑"/>
              </a:rPr>
              <a:t>任务：Lerobot-So101-Teleop-Vials-To-Rack-DR</a:t>
            </a:r>
          </a:p>
        </p:txBody>
      </p:sp>
      <p:sp>
        <p:nvSpPr>
          <p:cNvPr id="12" name="TextBox 11"/>
          <p:cNvSpPr txBox="1"/>
          <p:nvPr/>
        </p:nvSpPr>
        <p:spPr>
          <a:xfrm>
            <a:off x="960120" y="3383280"/>
            <a:ext cx="10149840" cy="1828800"/>
          </a:xfrm>
          <a:prstGeom prst="rect">
            <a:avLst/>
          </a:prstGeom>
          <a:noFill/>
        </p:spPr>
        <p:txBody>
          <a:bodyPr wrap="square" lIns="0" tIns="0" rIns="0" bIns="0">
            <a:spAutoFit/>
          </a:bodyPr>
          <a:lstStyle/>
          <a:p>
            <a:pPr>
              <a:lnSpc>
                <a:spcPct val="112000"/>
              </a:lnSpc>
              <a:spcAft>
                <a:spcPts val="700"/>
              </a:spcAft>
            </a:pPr>
            <a:r>
              <a:rPr sz="1950" b="0">
                <a:solidFill>
                  <a:srgbClr val="222833"/>
                </a:solidFill>
                <a:latin typeface="微软雅黑"/>
              </a:rPr>
              <a:t>• </a:t>
            </a:r>
            <a:r>
              <a:rPr sz="1950">
                <a:solidFill>
                  <a:srgbClr val="222833"/>
                </a:solidFill>
                <a:latin typeface="微软雅黑"/>
              </a:rPr>
              <a:t>在 Isaac Lab 中用 Teleop 臂练习“抓取试剂瓶 → 放入支架”。</a:t>
            </a:r>
          </a:p>
          <a:p>
            <a:pPr>
              <a:lnSpc>
                <a:spcPct val="112000"/>
              </a:lnSpc>
              <a:spcAft>
                <a:spcPts val="700"/>
              </a:spcAft>
            </a:pPr>
            <a:r>
              <a:rPr sz="1950" b="0">
                <a:solidFill>
                  <a:srgbClr val="222833"/>
                </a:solidFill>
                <a:latin typeface="微软雅黑"/>
              </a:rPr>
              <a:t>• </a:t>
            </a:r>
            <a:r>
              <a:rPr sz="1950">
                <a:solidFill>
                  <a:srgbClr val="222833"/>
                </a:solidFill>
                <a:latin typeface="微软雅黑"/>
              </a:rPr>
              <a:t>观察域随机化自动改变光照、相机位姿与物体外观。</a:t>
            </a:r>
          </a:p>
          <a:p>
            <a:pPr>
              <a:lnSpc>
                <a:spcPct val="112000"/>
              </a:lnSpc>
              <a:spcAft>
                <a:spcPts val="700"/>
              </a:spcAft>
            </a:pPr>
            <a:r>
              <a:rPr sz="1950" b="0">
                <a:solidFill>
                  <a:srgbClr val="222833"/>
                </a:solidFill>
                <a:latin typeface="微软雅黑"/>
              </a:rPr>
              <a:t>• </a:t>
            </a:r>
            <a:r>
              <a:rPr sz="1950">
                <a:solidFill>
                  <a:srgbClr val="222833"/>
                </a:solidFill>
                <a:latin typeface="微软雅黑"/>
              </a:rPr>
              <a:t>按 &lt;R&gt; 重置环境后进行数据采集。</a:t>
            </a:r>
          </a:p>
        </p:txBody>
      </p: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18872" cy="6858000"/>
          </a:xfrm>
          <a:prstGeom prst="rect">
            <a:avLst/>
          </a:prstGeom>
          <a:solidFill>
            <a:srgbClr val="3159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118872" y="0"/>
            <a:ext cx="41148" cy="6858000"/>
          </a:xfrm>
          <a:prstGeom prst="rect">
            <a:avLst/>
          </a:prstGeom>
          <a:solidFill>
            <a:srgbClr val="B7C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38912" y="137160"/>
            <a:ext cx="3474720" cy="164592"/>
          </a:xfrm>
          <a:prstGeom prst="rect">
            <a:avLst/>
          </a:prstGeom>
          <a:noFill/>
        </p:spPr>
        <p:txBody>
          <a:bodyPr wrap="square" lIns="0" tIns="0" rIns="0" bIns="0" anchor="t">
            <a:spAutoFit/>
          </a:bodyPr>
          <a:lstStyle/>
          <a:p>
            <a:pPr algn="l">
              <a:lnSpc>
                <a:spcPct val="112000"/>
              </a:lnSpc>
              <a:spcAft>
                <a:spcPts val="0"/>
              </a:spcAft>
            </a:pPr>
            <a:r>
              <a:rPr sz="1050" b="0" i="0">
                <a:solidFill>
                  <a:srgbClr val="8C98AA"/>
                </a:solidFill>
                <a:latin typeface="微软雅黑"/>
              </a:rPr>
              <a:t>具身智能导论 · 第 9 章</a:t>
            </a:r>
          </a:p>
        </p:txBody>
      </p:sp>
      <p:sp>
        <p:nvSpPr>
          <p:cNvPr id="5" name="TextBox 4"/>
          <p:cNvSpPr txBox="1"/>
          <p:nvPr/>
        </p:nvSpPr>
        <p:spPr>
          <a:xfrm>
            <a:off x="9144000" y="137160"/>
            <a:ext cx="2423160" cy="164592"/>
          </a:xfrm>
          <a:prstGeom prst="rect">
            <a:avLst/>
          </a:prstGeom>
          <a:noFill/>
        </p:spPr>
        <p:txBody>
          <a:bodyPr wrap="square" lIns="0" tIns="0" rIns="0" bIns="0" anchor="t">
            <a:spAutoFit/>
          </a:bodyPr>
          <a:lstStyle/>
          <a:p>
            <a:pPr algn="r">
              <a:lnSpc>
                <a:spcPct val="112000"/>
              </a:lnSpc>
              <a:spcAft>
                <a:spcPts val="0"/>
              </a:spcAft>
            </a:pPr>
            <a:r>
              <a:rPr sz="1050" b="0" i="0">
                <a:solidFill>
                  <a:srgbClr val="8C98AA"/>
                </a:solidFill>
                <a:latin typeface="微软雅黑"/>
              </a:rPr>
              <a:t>虚实迁移技术</a:t>
            </a:r>
          </a:p>
        </p:txBody>
      </p:sp>
      <p:sp>
        <p:nvSpPr>
          <p:cNvPr id="6" name="TextBox 5"/>
          <p:cNvSpPr txBox="1"/>
          <p:nvPr/>
        </p:nvSpPr>
        <p:spPr>
          <a:xfrm>
            <a:off x="502920" y="457200"/>
            <a:ext cx="10927080" cy="749808"/>
          </a:xfrm>
          <a:prstGeom prst="rect">
            <a:avLst/>
          </a:prstGeom>
          <a:noFill/>
        </p:spPr>
        <p:txBody>
          <a:bodyPr wrap="square" lIns="0" tIns="0" rIns="0" bIns="0" anchor="t">
            <a:spAutoFit/>
          </a:bodyPr>
          <a:lstStyle/>
          <a:p>
            <a:pPr algn="l">
              <a:lnSpc>
                <a:spcPct val="112000"/>
              </a:lnSpc>
              <a:spcAft>
                <a:spcPts val="0"/>
              </a:spcAft>
            </a:pPr>
            <a:r>
              <a:rPr sz="3500" b="1" i="0">
                <a:solidFill>
                  <a:srgbClr val="24477D"/>
                </a:solidFill>
                <a:latin typeface="微软雅黑"/>
              </a:rPr>
              <a:t>步骤1：仿真遥操作数据收集</a:t>
            </a:r>
          </a:p>
        </p:txBody>
      </p:sp>
      <p:sp>
        <p:nvSpPr>
          <p:cNvPr id="7" name="Rectangle 6"/>
          <p:cNvSpPr/>
          <p:nvPr/>
        </p:nvSpPr>
        <p:spPr>
          <a:xfrm>
            <a:off x="502920" y="1353312"/>
            <a:ext cx="11109960" cy="9144"/>
          </a:xfrm>
          <a:prstGeom prst="rect">
            <a:avLst/>
          </a:prstGeom>
          <a:solidFill>
            <a:srgbClr val="D8DE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1457432" y="6473952"/>
            <a:ext cx="347472" cy="164592"/>
          </a:xfrm>
          <a:prstGeom prst="rect">
            <a:avLst/>
          </a:prstGeom>
          <a:noFill/>
        </p:spPr>
        <p:txBody>
          <a:bodyPr wrap="square" lIns="0" tIns="0" rIns="0" bIns="0" anchor="t">
            <a:spAutoFit/>
          </a:bodyPr>
          <a:lstStyle/>
          <a:p>
            <a:pPr algn="r">
              <a:lnSpc>
                <a:spcPct val="112000"/>
              </a:lnSpc>
              <a:spcAft>
                <a:spcPts val="0"/>
              </a:spcAft>
            </a:pPr>
            <a:r>
              <a:rPr sz="1050" b="0" i="0">
                <a:solidFill>
                  <a:srgbClr val="8C98AA"/>
                </a:solidFill>
                <a:latin typeface="微软雅黑"/>
              </a:rPr>
              <a:t>102</a:t>
            </a:r>
          </a:p>
        </p:txBody>
      </p:sp>
      <p:sp>
        <p:nvSpPr>
          <p:cNvPr id="9" name="Rounded Rectangle 8"/>
          <p:cNvSpPr/>
          <p:nvPr/>
        </p:nvSpPr>
        <p:spPr>
          <a:xfrm>
            <a:off x="777240" y="1691640"/>
            <a:ext cx="10561320" cy="2286000"/>
          </a:xfrm>
          <a:prstGeom prst="roundRect">
            <a:avLst/>
          </a:prstGeom>
          <a:solidFill>
            <a:srgbClr val="F4F6FA"/>
          </a:solidFill>
          <a:ln w="10160">
            <a:solidFill>
              <a:srgbClr val="DDE3E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1005840" y="1892808"/>
            <a:ext cx="10104120" cy="1920240"/>
          </a:xfrm>
          <a:prstGeom prst="rect">
            <a:avLst/>
          </a:prstGeom>
          <a:noFill/>
        </p:spPr>
        <p:txBody>
          <a:bodyPr wrap="square" lIns="0" tIns="0" rIns="0" bIns="0" anchor="t">
            <a:spAutoFit/>
          </a:bodyPr>
          <a:lstStyle/>
          <a:p>
            <a:pPr algn="l">
              <a:lnSpc>
                <a:spcPct val="102000"/>
              </a:lnSpc>
              <a:spcAft>
                <a:spcPts val="0"/>
              </a:spcAft>
            </a:pPr>
            <a:r>
              <a:rPr sz="1500" b="0" i="0">
                <a:solidFill>
                  <a:srgbClr val="222833"/>
                </a:solidFill>
                <a:latin typeface="Consolas"/>
              </a:rPr>
              <a:t>lerobot_agent \</a:t>
            </a:r>
          </a:p>
          <a:p>
            <a:pPr algn="l">
              <a:lnSpc>
                <a:spcPct val="102000"/>
              </a:lnSpc>
              <a:spcAft>
                <a:spcPts val="0"/>
              </a:spcAft>
            </a:pPr>
            <a:r>
              <a:rPr sz="1500" b="0" i="0">
                <a:solidFill>
                  <a:srgbClr val="222833"/>
                </a:solidFill>
                <a:latin typeface="Consolas"/>
              </a:rPr>
              <a:t>  --task Lerobot-So101-Teleop-Vials-To-Rack-DR \</a:t>
            </a:r>
          </a:p>
          <a:p>
            <a:pPr algn="l">
              <a:lnSpc>
                <a:spcPct val="102000"/>
              </a:lnSpc>
              <a:spcAft>
                <a:spcPts val="0"/>
              </a:spcAft>
            </a:pPr>
            <a:r>
              <a:rPr sz="1500" b="0" i="0">
                <a:solidFill>
                  <a:srgbClr val="222833"/>
                </a:solidFill>
                <a:latin typeface="Consolas"/>
              </a:rPr>
              <a:t>  --repo_id ${HF_USER}/so101_teleop_vials_dr \</a:t>
            </a:r>
          </a:p>
          <a:p>
            <a:pPr algn="l">
              <a:lnSpc>
                <a:spcPct val="102000"/>
              </a:lnSpc>
              <a:spcAft>
                <a:spcPts val="0"/>
              </a:spcAft>
            </a:pPr>
            <a:r>
              <a:rPr sz="1500" b="0" i="0">
                <a:solidFill>
                  <a:srgbClr val="222833"/>
                </a:solidFill>
                <a:latin typeface="Consolas"/>
              </a:rPr>
              <a:t>  --task_name "Pick up the vial and place it in the rack"</a:t>
            </a:r>
          </a:p>
        </p:txBody>
      </p:sp>
      <p:sp>
        <p:nvSpPr>
          <p:cNvPr id="11" name="Rounded Rectangle 10"/>
          <p:cNvSpPr/>
          <p:nvPr/>
        </p:nvSpPr>
        <p:spPr>
          <a:xfrm>
            <a:off x="960120" y="4251960"/>
            <a:ext cx="4526280" cy="1234440"/>
          </a:xfrm>
          <a:prstGeom prst="roundRect">
            <a:avLst/>
          </a:prstGeom>
          <a:solidFill>
            <a:srgbClr val="FFFFFF"/>
          </a:solidFill>
          <a:ln w="10160">
            <a:solidFill>
              <a:srgbClr val="E0E5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960120" y="4251960"/>
            <a:ext cx="64008" cy="1234440"/>
          </a:xfrm>
          <a:prstGeom prst="rect">
            <a:avLst/>
          </a:prstGeom>
          <a:solidFill>
            <a:srgbClr val="3159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1170432" y="4398264"/>
            <a:ext cx="4142232" cy="347472"/>
          </a:xfrm>
          <a:prstGeom prst="rect">
            <a:avLst/>
          </a:prstGeom>
          <a:noFill/>
        </p:spPr>
        <p:txBody>
          <a:bodyPr wrap="square" lIns="0" tIns="0" rIns="0" bIns="0" anchor="t">
            <a:spAutoFit/>
          </a:bodyPr>
          <a:lstStyle/>
          <a:p>
            <a:pPr algn="l">
              <a:lnSpc>
                <a:spcPct val="112000"/>
              </a:lnSpc>
              <a:spcAft>
                <a:spcPts val="0"/>
              </a:spcAft>
            </a:pPr>
            <a:r>
              <a:rPr sz="1800" b="1" i="0">
                <a:solidFill>
                  <a:srgbClr val="31599B"/>
                </a:solidFill>
                <a:latin typeface="微软雅黑"/>
              </a:rPr>
              <a:t>数据内容</a:t>
            </a:r>
          </a:p>
        </p:txBody>
      </p:sp>
      <p:sp>
        <p:nvSpPr>
          <p:cNvPr id="14" name="TextBox 13"/>
          <p:cNvSpPr txBox="1"/>
          <p:nvPr/>
        </p:nvSpPr>
        <p:spPr>
          <a:xfrm>
            <a:off x="1170432" y="4937760"/>
            <a:ext cx="4142232" cy="393192"/>
          </a:xfrm>
          <a:prstGeom prst="rect">
            <a:avLst/>
          </a:prstGeom>
          <a:noFill/>
        </p:spPr>
        <p:txBody>
          <a:bodyPr wrap="square" lIns="0" tIns="0" rIns="0" bIns="0" anchor="t">
            <a:spAutoFit/>
          </a:bodyPr>
          <a:lstStyle/>
          <a:p>
            <a:pPr algn="l">
              <a:lnSpc>
                <a:spcPct val="112000"/>
              </a:lnSpc>
              <a:spcAft>
                <a:spcPts val="0"/>
              </a:spcAft>
            </a:pPr>
            <a:r>
              <a:rPr sz="1650" b="0" i="0">
                <a:solidFill>
                  <a:srgbClr val="222833"/>
                </a:solidFill>
                <a:latin typeface="微软雅黑"/>
              </a:rPr>
              <a:t>同步记录多视角图像、机器人状态与专家动作。</a:t>
            </a:r>
          </a:p>
        </p:txBody>
      </p:sp>
      <p:sp>
        <p:nvSpPr>
          <p:cNvPr id="15" name="Rounded Rectangle 14"/>
          <p:cNvSpPr/>
          <p:nvPr/>
        </p:nvSpPr>
        <p:spPr>
          <a:xfrm>
            <a:off x="5897880" y="4251960"/>
            <a:ext cx="4526280" cy="1234440"/>
          </a:xfrm>
          <a:prstGeom prst="roundRect">
            <a:avLst/>
          </a:prstGeom>
          <a:solidFill>
            <a:srgbClr val="FFFFFF"/>
          </a:solidFill>
          <a:ln w="10160">
            <a:solidFill>
              <a:srgbClr val="E0E5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5897880" y="4251960"/>
            <a:ext cx="64008" cy="1234440"/>
          </a:xfrm>
          <a:prstGeom prst="rect">
            <a:avLst/>
          </a:prstGeom>
          <a:solidFill>
            <a:srgbClr val="2F8E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108192" y="4398264"/>
            <a:ext cx="4142232" cy="347472"/>
          </a:xfrm>
          <a:prstGeom prst="rect">
            <a:avLst/>
          </a:prstGeom>
          <a:noFill/>
        </p:spPr>
        <p:txBody>
          <a:bodyPr wrap="square" lIns="0" tIns="0" rIns="0" bIns="0" anchor="t">
            <a:spAutoFit/>
          </a:bodyPr>
          <a:lstStyle/>
          <a:p>
            <a:pPr algn="l">
              <a:lnSpc>
                <a:spcPct val="112000"/>
              </a:lnSpc>
              <a:spcAft>
                <a:spcPts val="0"/>
              </a:spcAft>
            </a:pPr>
            <a:r>
              <a:rPr sz="1800" b="1" i="0">
                <a:solidFill>
                  <a:srgbClr val="2F8E72"/>
                </a:solidFill>
                <a:latin typeface="微软雅黑"/>
              </a:rPr>
              <a:t>数据用途</a:t>
            </a:r>
          </a:p>
        </p:txBody>
      </p:sp>
      <p:sp>
        <p:nvSpPr>
          <p:cNvPr id="18" name="TextBox 17"/>
          <p:cNvSpPr txBox="1"/>
          <p:nvPr/>
        </p:nvSpPr>
        <p:spPr>
          <a:xfrm>
            <a:off x="6108192" y="4937760"/>
            <a:ext cx="4142232" cy="393192"/>
          </a:xfrm>
          <a:prstGeom prst="rect">
            <a:avLst/>
          </a:prstGeom>
          <a:noFill/>
        </p:spPr>
        <p:txBody>
          <a:bodyPr wrap="square" lIns="0" tIns="0" rIns="0" bIns="0" anchor="t">
            <a:spAutoFit/>
          </a:bodyPr>
          <a:lstStyle/>
          <a:p>
            <a:pPr algn="l">
              <a:lnSpc>
                <a:spcPct val="112000"/>
              </a:lnSpc>
              <a:spcAft>
                <a:spcPts val="0"/>
              </a:spcAft>
            </a:pPr>
            <a:r>
              <a:rPr sz="1650" b="0" i="0">
                <a:solidFill>
                  <a:srgbClr val="222833"/>
                </a:solidFill>
                <a:latin typeface="微软雅黑"/>
              </a:rPr>
              <a:t>将域随机化后的遥操作数据转化为监督模仿学习样本。</a:t>
            </a:r>
          </a:p>
        </p:txBody>
      </p:sp>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18872" cy="6858000"/>
          </a:xfrm>
          <a:prstGeom prst="rect">
            <a:avLst/>
          </a:prstGeom>
          <a:solidFill>
            <a:srgbClr val="3159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118872" y="0"/>
            <a:ext cx="41148" cy="6858000"/>
          </a:xfrm>
          <a:prstGeom prst="rect">
            <a:avLst/>
          </a:prstGeom>
          <a:solidFill>
            <a:srgbClr val="B7C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38912" y="137160"/>
            <a:ext cx="3474720" cy="164592"/>
          </a:xfrm>
          <a:prstGeom prst="rect">
            <a:avLst/>
          </a:prstGeom>
          <a:noFill/>
        </p:spPr>
        <p:txBody>
          <a:bodyPr wrap="square" lIns="0" tIns="0" rIns="0" bIns="0" anchor="t">
            <a:spAutoFit/>
          </a:bodyPr>
          <a:lstStyle/>
          <a:p>
            <a:pPr algn="l">
              <a:lnSpc>
                <a:spcPct val="112000"/>
              </a:lnSpc>
              <a:spcAft>
                <a:spcPts val="0"/>
              </a:spcAft>
            </a:pPr>
            <a:r>
              <a:rPr sz="1050" b="0" i="0">
                <a:solidFill>
                  <a:srgbClr val="8C98AA"/>
                </a:solidFill>
                <a:latin typeface="微软雅黑"/>
              </a:rPr>
              <a:t>具身智能导论 · 第 9 章</a:t>
            </a:r>
          </a:p>
        </p:txBody>
      </p:sp>
      <p:sp>
        <p:nvSpPr>
          <p:cNvPr id="5" name="TextBox 4"/>
          <p:cNvSpPr txBox="1"/>
          <p:nvPr/>
        </p:nvSpPr>
        <p:spPr>
          <a:xfrm>
            <a:off x="9144000" y="137160"/>
            <a:ext cx="2423160" cy="164592"/>
          </a:xfrm>
          <a:prstGeom prst="rect">
            <a:avLst/>
          </a:prstGeom>
          <a:noFill/>
        </p:spPr>
        <p:txBody>
          <a:bodyPr wrap="square" lIns="0" tIns="0" rIns="0" bIns="0" anchor="t">
            <a:spAutoFit/>
          </a:bodyPr>
          <a:lstStyle/>
          <a:p>
            <a:pPr algn="r">
              <a:lnSpc>
                <a:spcPct val="112000"/>
              </a:lnSpc>
              <a:spcAft>
                <a:spcPts val="0"/>
              </a:spcAft>
            </a:pPr>
            <a:r>
              <a:rPr sz="1050" b="0" i="0">
                <a:solidFill>
                  <a:srgbClr val="8C98AA"/>
                </a:solidFill>
                <a:latin typeface="微软雅黑"/>
              </a:rPr>
              <a:t>虚实迁移技术</a:t>
            </a:r>
          </a:p>
        </p:txBody>
      </p:sp>
      <p:sp>
        <p:nvSpPr>
          <p:cNvPr id="6" name="TextBox 5"/>
          <p:cNvSpPr txBox="1"/>
          <p:nvPr/>
        </p:nvSpPr>
        <p:spPr>
          <a:xfrm>
            <a:off x="502920" y="457200"/>
            <a:ext cx="10927080" cy="868680"/>
          </a:xfrm>
          <a:prstGeom prst="rect">
            <a:avLst/>
          </a:prstGeom>
          <a:noFill/>
        </p:spPr>
        <p:txBody>
          <a:bodyPr wrap="square" lIns="0" tIns="0" rIns="0" bIns="0" anchor="t">
            <a:spAutoFit/>
          </a:bodyPr>
          <a:lstStyle/>
          <a:p>
            <a:pPr algn="l">
              <a:lnSpc>
                <a:spcPct val="112000"/>
              </a:lnSpc>
              <a:spcAft>
                <a:spcPts val="0"/>
              </a:spcAft>
            </a:pPr>
            <a:r>
              <a:rPr sz="2800" b="1" i="0">
                <a:solidFill>
                  <a:srgbClr val="24477D"/>
                </a:solidFill>
                <a:latin typeface="微软雅黑"/>
              </a:rPr>
              <a:t>数据收集：Hugging Face Dataset Visualizer</a:t>
            </a:r>
          </a:p>
        </p:txBody>
      </p:sp>
      <p:sp>
        <p:nvSpPr>
          <p:cNvPr id="7" name="Rectangle 6"/>
          <p:cNvSpPr/>
          <p:nvPr/>
        </p:nvSpPr>
        <p:spPr>
          <a:xfrm>
            <a:off x="502920" y="1353312"/>
            <a:ext cx="11109960" cy="9144"/>
          </a:xfrm>
          <a:prstGeom prst="rect">
            <a:avLst/>
          </a:prstGeom>
          <a:solidFill>
            <a:srgbClr val="D8DE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1457432" y="6473952"/>
            <a:ext cx="347472" cy="164592"/>
          </a:xfrm>
          <a:prstGeom prst="rect">
            <a:avLst/>
          </a:prstGeom>
          <a:noFill/>
        </p:spPr>
        <p:txBody>
          <a:bodyPr wrap="square" lIns="0" tIns="0" rIns="0" bIns="0" anchor="t">
            <a:spAutoFit/>
          </a:bodyPr>
          <a:lstStyle/>
          <a:p>
            <a:pPr algn="r">
              <a:lnSpc>
                <a:spcPct val="112000"/>
              </a:lnSpc>
              <a:spcAft>
                <a:spcPts val="0"/>
              </a:spcAft>
            </a:pPr>
            <a:r>
              <a:rPr sz="1050" b="0" i="0">
                <a:solidFill>
                  <a:srgbClr val="8C98AA"/>
                </a:solidFill>
                <a:latin typeface="微软雅黑"/>
              </a:rPr>
              <a:t>103</a:t>
            </a:r>
          </a:p>
        </p:txBody>
      </p:sp>
      <p:sp>
        <p:nvSpPr>
          <p:cNvPr id="12" name="TextBox 11"/>
          <p:cNvSpPr txBox="1"/>
          <p:nvPr/>
        </p:nvSpPr>
        <p:spPr>
          <a:xfrm>
            <a:off x="914400" y="5961888"/>
            <a:ext cx="8321040" cy="256032"/>
          </a:xfrm>
          <a:prstGeom prst="rect">
            <a:avLst/>
          </a:prstGeom>
          <a:noFill/>
        </p:spPr>
        <p:txBody>
          <a:bodyPr wrap="square" lIns="0" tIns="0" rIns="0" bIns="0" anchor="t">
            <a:spAutoFit/>
          </a:bodyPr>
          <a:lstStyle/>
          <a:p>
            <a:pPr algn="ctr">
              <a:lnSpc>
                <a:spcPct val="112000"/>
              </a:lnSpc>
              <a:spcAft>
                <a:spcPts val="0"/>
              </a:spcAft>
            </a:pPr>
            <a:r>
              <a:rPr sz="1600" b="1" i="0" dirty="0" err="1">
                <a:solidFill>
                  <a:srgbClr val="222833"/>
                </a:solidFill>
                <a:latin typeface="微软雅黑"/>
              </a:rPr>
              <a:t>数据收集</a:t>
            </a:r>
            <a:endParaRPr sz="1600" b="1" i="0" dirty="0">
              <a:solidFill>
                <a:srgbClr val="222833"/>
              </a:solidFill>
              <a:latin typeface="微软雅黑"/>
            </a:endParaRPr>
          </a:p>
        </p:txBody>
      </p:sp>
      <p:pic>
        <p:nvPicPr>
          <p:cNvPr id="13" name="图片 12">
            <a:extLst>
              <a:ext uri="{FF2B5EF4-FFF2-40B4-BE49-F238E27FC236}">
                <a16:creationId xmlns:a16="http://schemas.microsoft.com/office/drawing/2014/main" id="{FC484AE3-2806-15D6-76E9-B69A5BAC5343}"/>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811972" y="1858581"/>
            <a:ext cx="7616508" cy="3892228"/>
          </a:xfrm>
          <a:prstGeom prst="rect">
            <a:avLst/>
          </a:prstGeom>
          <a:noFill/>
          <a:ln>
            <a:noFill/>
          </a:ln>
        </p:spPr>
      </p:pic>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18872" cy="6858000"/>
          </a:xfrm>
          <a:prstGeom prst="rect">
            <a:avLst/>
          </a:prstGeom>
          <a:solidFill>
            <a:srgbClr val="3159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118872" y="0"/>
            <a:ext cx="41148" cy="6858000"/>
          </a:xfrm>
          <a:prstGeom prst="rect">
            <a:avLst/>
          </a:prstGeom>
          <a:solidFill>
            <a:srgbClr val="B7C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38912" y="137160"/>
            <a:ext cx="3474720" cy="164592"/>
          </a:xfrm>
          <a:prstGeom prst="rect">
            <a:avLst/>
          </a:prstGeom>
          <a:noFill/>
        </p:spPr>
        <p:txBody>
          <a:bodyPr wrap="square" lIns="0" tIns="0" rIns="0" bIns="0" anchor="t">
            <a:spAutoFit/>
          </a:bodyPr>
          <a:lstStyle/>
          <a:p>
            <a:pPr algn="l">
              <a:lnSpc>
                <a:spcPct val="112000"/>
              </a:lnSpc>
              <a:spcAft>
                <a:spcPts val="0"/>
              </a:spcAft>
            </a:pPr>
            <a:r>
              <a:rPr sz="1050" b="0" i="0">
                <a:solidFill>
                  <a:srgbClr val="8C98AA"/>
                </a:solidFill>
                <a:latin typeface="微软雅黑"/>
              </a:rPr>
              <a:t>具身智能导论 · 第 9 章</a:t>
            </a:r>
          </a:p>
        </p:txBody>
      </p:sp>
      <p:sp>
        <p:nvSpPr>
          <p:cNvPr id="5" name="TextBox 4"/>
          <p:cNvSpPr txBox="1"/>
          <p:nvPr/>
        </p:nvSpPr>
        <p:spPr>
          <a:xfrm>
            <a:off x="9144000" y="137160"/>
            <a:ext cx="2423160" cy="164592"/>
          </a:xfrm>
          <a:prstGeom prst="rect">
            <a:avLst/>
          </a:prstGeom>
          <a:noFill/>
        </p:spPr>
        <p:txBody>
          <a:bodyPr wrap="square" lIns="0" tIns="0" rIns="0" bIns="0" anchor="t">
            <a:spAutoFit/>
          </a:bodyPr>
          <a:lstStyle/>
          <a:p>
            <a:pPr algn="r">
              <a:lnSpc>
                <a:spcPct val="112000"/>
              </a:lnSpc>
              <a:spcAft>
                <a:spcPts val="0"/>
              </a:spcAft>
            </a:pPr>
            <a:r>
              <a:rPr sz="1050" b="0" i="0">
                <a:solidFill>
                  <a:srgbClr val="8C98AA"/>
                </a:solidFill>
                <a:latin typeface="微软雅黑"/>
              </a:rPr>
              <a:t>虚实迁移技术</a:t>
            </a:r>
          </a:p>
        </p:txBody>
      </p:sp>
      <p:sp>
        <p:nvSpPr>
          <p:cNvPr id="6" name="TextBox 5"/>
          <p:cNvSpPr txBox="1"/>
          <p:nvPr/>
        </p:nvSpPr>
        <p:spPr>
          <a:xfrm>
            <a:off x="502920" y="457200"/>
            <a:ext cx="10927080" cy="749808"/>
          </a:xfrm>
          <a:prstGeom prst="rect">
            <a:avLst/>
          </a:prstGeom>
          <a:noFill/>
        </p:spPr>
        <p:txBody>
          <a:bodyPr wrap="square" lIns="0" tIns="0" rIns="0" bIns="0" anchor="t">
            <a:spAutoFit/>
          </a:bodyPr>
          <a:lstStyle/>
          <a:p>
            <a:pPr algn="l">
              <a:lnSpc>
                <a:spcPct val="112000"/>
              </a:lnSpc>
              <a:spcAft>
                <a:spcPts val="0"/>
              </a:spcAft>
            </a:pPr>
            <a:r>
              <a:rPr sz="3500" b="1" i="0">
                <a:solidFill>
                  <a:srgbClr val="24477D"/>
                </a:solidFill>
                <a:latin typeface="微软雅黑"/>
              </a:rPr>
              <a:t>步骤2：把 DR 数据转化为模仿学习问题</a:t>
            </a:r>
          </a:p>
        </p:txBody>
      </p:sp>
      <p:sp>
        <p:nvSpPr>
          <p:cNvPr id="7" name="Rectangle 6"/>
          <p:cNvSpPr/>
          <p:nvPr/>
        </p:nvSpPr>
        <p:spPr>
          <a:xfrm>
            <a:off x="502920" y="1353312"/>
            <a:ext cx="11109960" cy="9144"/>
          </a:xfrm>
          <a:prstGeom prst="rect">
            <a:avLst/>
          </a:prstGeom>
          <a:solidFill>
            <a:srgbClr val="D8DE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1457432" y="6473952"/>
            <a:ext cx="347472" cy="164592"/>
          </a:xfrm>
          <a:prstGeom prst="rect">
            <a:avLst/>
          </a:prstGeom>
          <a:noFill/>
        </p:spPr>
        <p:txBody>
          <a:bodyPr wrap="square" lIns="0" tIns="0" rIns="0" bIns="0" anchor="t">
            <a:spAutoFit/>
          </a:bodyPr>
          <a:lstStyle/>
          <a:p>
            <a:pPr algn="r">
              <a:lnSpc>
                <a:spcPct val="112000"/>
              </a:lnSpc>
              <a:spcAft>
                <a:spcPts val="0"/>
              </a:spcAft>
            </a:pPr>
            <a:r>
              <a:rPr sz="1050" b="0" i="0">
                <a:solidFill>
                  <a:srgbClr val="8C98AA"/>
                </a:solidFill>
                <a:latin typeface="微软雅黑"/>
              </a:rPr>
              <a:t>104</a:t>
            </a:r>
          </a:p>
        </p:txBody>
      </p:sp>
      <p:sp>
        <p:nvSpPr>
          <p:cNvPr id="9" name="Rounded Rectangle 8"/>
          <p:cNvSpPr/>
          <p:nvPr/>
        </p:nvSpPr>
        <p:spPr>
          <a:xfrm>
            <a:off x="822960" y="1737360"/>
            <a:ext cx="3200400" cy="3291840"/>
          </a:xfrm>
          <a:prstGeom prst="roundRect">
            <a:avLst>
              <a:gd name="adj" fmla="val 3969"/>
            </a:avLst>
          </a:prstGeom>
          <a:solidFill>
            <a:srgbClr val="FFFFFF"/>
          </a:solidFill>
          <a:ln w="10160">
            <a:solidFill>
              <a:srgbClr val="E0E5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822960" y="1737360"/>
            <a:ext cx="64008" cy="3291840"/>
          </a:xfrm>
          <a:prstGeom prst="rect">
            <a:avLst/>
          </a:prstGeom>
          <a:solidFill>
            <a:srgbClr val="3159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1033272" y="1883664"/>
            <a:ext cx="2816352" cy="347472"/>
          </a:xfrm>
          <a:prstGeom prst="rect">
            <a:avLst/>
          </a:prstGeom>
          <a:noFill/>
        </p:spPr>
        <p:txBody>
          <a:bodyPr wrap="square" lIns="0" tIns="0" rIns="0" bIns="0" anchor="t">
            <a:spAutoFit/>
          </a:bodyPr>
          <a:lstStyle/>
          <a:p>
            <a:pPr algn="l">
              <a:lnSpc>
                <a:spcPct val="112000"/>
              </a:lnSpc>
              <a:spcAft>
                <a:spcPts val="0"/>
              </a:spcAft>
            </a:pPr>
            <a:r>
              <a:rPr sz="2000" b="1" i="0">
                <a:solidFill>
                  <a:srgbClr val="31599B"/>
                </a:solidFill>
                <a:latin typeface="微软雅黑"/>
              </a:rPr>
              <a:t>策略选择</a:t>
            </a:r>
          </a:p>
        </p:txBody>
      </p:sp>
      <p:sp>
        <p:nvSpPr>
          <p:cNvPr id="12" name="TextBox 11"/>
          <p:cNvSpPr txBox="1"/>
          <p:nvPr/>
        </p:nvSpPr>
        <p:spPr>
          <a:xfrm>
            <a:off x="1033272" y="2423160"/>
            <a:ext cx="2816352" cy="2450592"/>
          </a:xfrm>
          <a:prstGeom prst="rect">
            <a:avLst/>
          </a:prstGeom>
          <a:noFill/>
        </p:spPr>
        <p:txBody>
          <a:bodyPr wrap="square" lIns="0" tIns="0" rIns="0" bIns="0" anchor="t">
            <a:spAutoFit/>
          </a:bodyPr>
          <a:lstStyle/>
          <a:p>
            <a:pPr algn="l">
              <a:lnSpc>
                <a:spcPct val="112000"/>
              </a:lnSpc>
              <a:spcAft>
                <a:spcPts val="0"/>
              </a:spcAft>
            </a:pPr>
            <a:r>
              <a:rPr sz="1800" b="0" i="0">
                <a:solidFill>
                  <a:srgbClr val="222833"/>
                </a:solidFill>
                <a:latin typeface="微软雅黑"/>
              </a:rPr>
              <a:t>LeRobot 内置扩散策略或 ACT 策略；ACT 适合视觉长时序任务。</a:t>
            </a:r>
          </a:p>
        </p:txBody>
      </p:sp>
      <p:sp>
        <p:nvSpPr>
          <p:cNvPr id="13" name="Rounded Rectangle 12"/>
          <p:cNvSpPr/>
          <p:nvPr/>
        </p:nvSpPr>
        <p:spPr>
          <a:xfrm>
            <a:off x="4370832" y="1737360"/>
            <a:ext cx="3200400" cy="3291840"/>
          </a:xfrm>
          <a:prstGeom prst="roundRect">
            <a:avLst>
              <a:gd name="adj" fmla="val 2223"/>
            </a:avLst>
          </a:prstGeom>
          <a:solidFill>
            <a:srgbClr val="FFFFFF"/>
          </a:solidFill>
          <a:ln w="10160">
            <a:solidFill>
              <a:srgbClr val="E0E5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4370832" y="1737360"/>
            <a:ext cx="64008" cy="3291840"/>
          </a:xfrm>
          <a:prstGeom prst="rect">
            <a:avLst/>
          </a:prstGeom>
          <a:solidFill>
            <a:srgbClr val="2F8E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4581144" y="1883664"/>
            <a:ext cx="2816352" cy="347472"/>
          </a:xfrm>
          <a:prstGeom prst="rect">
            <a:avLst/>
          </a:prstGeom>
          <a:noFill/>
        </p:spPr>
        <p:txBody>
          <a:bodyPr wrap="square" lIns="0" tIns="0" rIns="0" bIns="0" anchor="t">
            <a:spAutoFit/>
          </a:bodyPr>
          <a:lstStyle/>
          <a:p>
            <a:pPr algn="l">
              <a:lnSpc>
                <a:spcPct val="112000"/>
              </a:lnSpc>
              <a:spcAft>
                <a:spcPts val="0"/>
              </a:spcAft>
            </a:pPr>
            <a:r>
              <a:rPr sz="2000" b="1" i="0">
                <a:solidFill>
                  <a:srgbClr val="2F8E72"/>
                </a:solidFill>
                <a:latin typeface="微软雅黑"/>
              </a:rPr>
              <a:t>训练目标</a:t>
            </a:r>
          </a:p>
        </p:txBody>
      </p:sp>
      <p:sp>
        <p:nvSpPr>
          <p:cNvPr id="16" name="TextBox 15"/>
          <p:cNvSpPr txBox="1"/>
          <p:nvPr/>
        </p:nvSpPr>
        <p:spPr>
          <a:xfrm>
            <a:off x="4581144" y="2423160"/>
            <a:ext cx="2816352" cy="2450592"/>
          </a:xfrm>
          <a:prstGeom prst="rect">
            <a:avLst/>
          </a:prstGeom>
          <a:noFill/>
        </p:spPr>
        <p:txBody>
          <a:bodyPr wrap="square" lIns="0" tIns="0" rIns="0" bIns="0" anchor="t">
            <a:spAutoFit/>
          </a:bodyPr>
          <a:lstStyle/>
          <a:p>
            <a:pPr algn="l">
              <a:lnSpc>
                <a:spcPct val="112000"/>
              </a:lnSpc>
              <a:spcAft>
                <a:spcPts val="0"/>
              </a:spcAft>
            </a:pPr>
            <a:r>
              <a:rPr sz="1800" b="0" i="0">
                <a:solidFill>
                  <a:srgbClr val="222833"/>
                </a:solidFill>
                <a:latin typeface="微软雅黑"/>
              </a:rPr>
              <a:t>使用均方误差（MSE）拟合专家动作，把演示数据视为监督学习样本。</a:t>
            </a:r>
          </a:p>
        </p:txBody>
      </p:sp>
      <p:sp>
        <p:nvSpPr>
          <p:cNvPr id="17" name="Rounded Rectangle 16"/>
          <p:cNvSpPr/>
          <p:nvPr/>
        </p:nvSpPr>
        <p:spPr>
          <a:xfrm>
            <a:off x="7918704" y="1737360"/>
            <a:ext cx="3200400" cy="3291840"/>
          </a:xfrm>
          <a:prstGeom prst="roundRect">
            <a:avLst>
              <a:gd name="adj" fmla="val 2064"/>
            </a:avLst>
          </a:prstGeom>
          <a:solidFill>
            <a:srgbClr val="FFFFFF"/>
          </a:solidFill>
          <a:ln w="10160">
            <a:solidFill>
              <a:srgbClr val="E0E5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7918704" y="1737360"/>
            <a:ext cx="64008" cy="3291840"/>
          </a:xfrm>
          <a:prstGeom prst="rect">
            <a:avLst/>
          </a:prstGeom>
          <a:solidFill>
            <a:srgbClr val="C58A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8129016" y="1883664"/>
            <a:ext cx="2816352" cy="347472"/>
          </a:xfrm>
          <a:prstGeom prst="rect">
            <a:avLst/>
          </a:prstGeom>
          <a:noFill/>
        </p:spPr>
        <p:txBody>
          <a:bodyPr wrap="square" lIns="0" tIns="0" rIns="0" bIns="0" anchor="t">
            <a:spAutoFit/>
          </a:bodyPr>
          <a:lstStyle/>
          <a:p>
            <a:pPr algn="l">
              <a:lnSpc>
                <a:spcPct val="112000"/>
              </a:lnSpc>
              <a:spcAft>
                <a:spcPts val="0"/>
              </a:spcAft>
            </a:pPr>
            <a:r>
              <a:rPr sz="2000" b="1" i="0">
                <a:solidFill>
                  <a:srgbClr val="C58A24"/>
                </a:solidFill>
                <a:latin typeface="微软雅黑"/>
              </a:rPr>
              <a:t>DR 价值</a:t>
            </a:r>
          </a:p>
        </p:txBody>
      </p:sp>
      <p:sp>
        <p:nvSpPr>
          <p:cNvPr id="20" name="TextBox 19"/>
          <p:cNvSpPr txBox="1"/>
          <p:nvPr/>
        </p:nvSpPr>
        <p:spPr>
          <a:xfrm>
            <a:off x="8129016" y="2423160"/>
            <a:ext cx="2816352" cy="2450592"/>
          </a:xfrm>
          <a:prstGeom prst="rect">
            <a:avLst/>
          </a:prstGeom>
          <a:noFill/>
        </p:spPr>
        <p:txBody>
          <a:bodyPr wrap="square" lIns="0" tIns="0" rIns="0" bIns="0" anchor="t">
            <a:spAutoFit/>
          </a:bodyPr>
          <a:lstStyle/>
          <a:p>
            <a:pPr algn="l">
              <a:lnSpc>
                <a:spcPct val="112000"/>
              </a:lnSpc>
              <a:spcAft>
                <a:spcPts val="0"/>
              </a:spcAft>
            </a:pPr>
            <a:r>
              <a:rPr sz="1800" b="0" i="0">
                <a:solidFill>
                  <a:srgbClr val="222833"/>
                </a:solidFill>
                <a:latin typeface="微软雅黑"/>
              </a:rPr>
              <a:t>同一技能在多光照、多相机、多外观条件下出现，增强视觉泛化。</a:t>
            </a:r>
          </a:p>
        </p:txBody>
      </p:sp>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18872" cy="6858000"/>
          </a:xfrm>
          <a:prstGeom prst="rect">
            <a:avLst/>
          </a:prstGeom>
          <a:solidFill>
            <a:srgbClr val="3159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118872" y="0"/>
            <a:ext cx="41148" cy="6858000"/>
          </a:xfrm>
          <a:prstGeom prst="rect">
            <a:avLst/>
          </a:prstGeom>
          <a:solidFill>
            <a:srgbClr val="B7C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38912" y="137160"/>
            <a:ext cx="3474720" cy="164592"/>
          </a:xfrm>
          <a:prstGeom prst="rect">
            <a:avLst/>
          </a:prstGeom>
          <a:noFill/>
        </p:spPr>
        <p:txBody>
          <a:bodyPr wrap="square" lIns="0" tIns="0" rIns="0" bIns="0" anchor="t">
            <a:spAutoFit/>
          </a:bodyPr>
          <a:lstStyle/>
          <a:p>
            <a:pPr algn="l">
              <a:lnSpc>
                <a:spcPct val="112000"/>
              </a:lnSpc>
              <a:spcAft>
                <a:spcPts val="0"/>
              </a:spcAft>
            </a:pPr>
            <a:r>
              <a:rPr sz="1050" b="0" i="0">
                <a:solidFill>
                  <a:srgbClr val="8C98AA"/>
                </a:solidFill>
                <a:latin typeface="微软雅黑"/>
              </a:rPr>
              <a:t>具身智能导论 · 第 9 章</a:t>
            </a:r>
          </a:p>
        </p:txBody>
      </p:sp>
      <p:sp>
        <p:nvSpPr>
          <p:cNvPr id="5" name="TextBox 4"/>
          <p:cNvSpPr txBox="1"/>
          <p:nvPr/>
        </p:nvSpPr>
        <p:spPr>
          <a:xfrm>
            <a:off x="9144000" y="137160"/>
            <a:ext cx="2423160" cy="164592"/>
          </a:xfrm>
          <a:prstGeom prst="rect">
            <a:avLst/>
          </a:prstGeom>
          <a:noFill/>
        </p:spPr>
        <p:txBody>
          <a:bodyPr wrap="square" lIns="0" tIns="0" rIns="0" bIns="0" anchor="t">
            <a:spAutoFit/>
          </a:bodyPr>
          <a:lstStyle/>
          <a:p>
            <a:pPr algn="r">
              <a:lnSpc>
                <a:spcPct val="112000"/>
              </a:lnSpc>
              <a:spcAft>
                <a:spcPts val="0"/>
              </a:spcAft>
            </a:pPr>
            <a:r>
              <a:rPr sz="1050" b="0" i="0">
                <a:solidFill>
                  <a:srgbClr val="8C98AA"/>
                </a:solidFill>
                <a:latin typeface="微软雅黑"/>
              </a:rPr>
              <a:t>虚实迁移技术</a:t>
            </a:r>
          </a:p>
        </p:txBody>
      </p:sp>
      <p:sp>
        <p:nvSpPr>
          <p:cNvPr id="6" name="TextBox 5"/>
          <p:cNvSpPr txBox="1"/>
          <p:nvPr/>
        </p:nvSpPr>
        <p:spPr>
          <a:xfrm>
            <a:off x="502920" y="457200"/>
            <a:ext cx="10927080" cy="749808"/>
          </a:xfrm>
          <a:prstGeom prst="rect">
            <a:avLst/>
          </a:prstGeom>
          <a:noFill/>
        </p:spPr>
        <p:txBody>
          <a:bodyPr wrap="square" lIns="0" tIns="0" rIns="0" bIns="0" anchor="t">
            <a:spAutoFit/>
          </a:bodyPr>
          <a:lstStyle/>
          <a:p>
            <a:pPr algn="l">
              <a:lnSpc>
                <a:spcPct val="112000"/>
              </a:lnSpc>
              <a:spcAft>
                <a:spcPts val="0"/>
              </a:spcAft>
            </a:pPr>
            <a:r>
              <a:rPr sz="3500" b="1" i="0">
                <a:solidFill>
                  <a:srgbClr val="24477D"/>
                </a:solidFill>
                <a:latin typeface="微软雅黑"/>
              </a:rPr>
              <a:t>训练扩散策略 / ACT 策略</a:t>
            </a:r>
          </a:p>
        </p:txBody>
      </p:sp>
      <p:sp>
        <p:nvSpPr>
          <p:cNvPr id="7" name="Rectangle 6"/>
          <p:cNvSpPr/>
          <p:nvPr/>
        </p:nvSpPr>
        <p:spPr>
          <a:xfrm>
            <a:off x="502920" y="1353312"/>
            <a:ext cx="11109960" cy="9144"/>
          </a:xfrm>
          <a:prstGeom prst="rect">
            <a:avLst/>
          </a:prstGeom>
          <a:solidFill>
            <a:srgbClr val="D8DE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1457432" y="6473952"/>
            <a:ext cx="347472" cy="164592"/>
          </a:xfrm>
          <a:prstGeom prst="rect">
            <a:avLst/>
          </a:prstGeom>
          <a:noFill/>
        </p:spPr>
        <p:txBody>
          <a:bodyPr wrap="square" lIns="0" tIns="0" rIns="0" bIns="0" anchor="t">
            <a:spAutoFit/>
          </a:bodyPr>
          <a:lstStyle/>
          <a:p>
            <a:pPr algn="r">
              <a:lnSpc>
                <a:spcPct val="112000"/>
              </a:lnSpc>
              <a:spcAft>
                <a:spcPts val="0"/>
              </a:spcAft>
            </a:pPr>
            <a:r>
              <a:rPr sz="1050" b="0" i="0">
                <a:solidFill>
                  <a:srgbClr val="8C98AA"/>
                </a:solidFill>
                <a:latin typeface="微软雅黑"/>
              </a:rPr>
              <a:t>105</a:t>
            </a:r>
          </a:p>
        </p:txBody>
      </p:sp>
      <p:sp>
        <p:nvSpPr>
          <p:cNvPr id="9" name="Rounded Rectangle 8"/>
          <p:cNvSpPr/>
          <p:nvPr/>
        </p:nvSpPr>
        <p:spPr>
          <a:xfrm>
            <a:off x="777240" y="1664208"/>
            <a:ext cx="10561320" cy="3977639"/>
          </a:xfrm>
          <a:prstGeom prst="roundRect">
            <a:avLst/>
          </a:prstGeom>
          <a:solidFill>
            <a:srgbClr val="F4F6FA"/>
          </a:solidFill>
          <a:ln w="10160">
            <a:solidFill>
              <a:srgbClr val="DDE3E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1005840" y="1865376"/>
            <a:ext cx="10104120" cy="3611879"/>
          </a:xfrm>
          <a:prstGeom prst="rect">
            <a:avLst/>
          </a:prstGeom>
          <a:noFill/>
        </p:spPr>
        <p:txBody>
          <a:bodyPr wrap="square" lIns="0" tIns="0" rIns="0" bIns="0" anchor="t">
            <a:spAutoFit/>
          </a:bodyPr>
          <a:lstStyle/>
          <a:p>
            <a:pPr algn="l">
              <a:lnSpc>
                <a:spcPct val="102000"/>
              </a:lnSpc>
              <a:spcAft>
                <a:spcPts val="0"/>
              </a:spcAft>
            </a:pPr>
            <a:r>
              <a:rPr sz="1440" b="0" i="0">
                <a:solidFill>
                  <a:srgbClr val="222833"/>
                </a:solidFill>
                <a:latin typeface="Consolas"/>
              </a:rPr>
              <a:t>lerobot train \</a:t>
            </a:r>
          </a:p>
          <a:p>
            <a:pPr algn="l">
              <a:lnSpc>
                <a:spcPct val="102000"/>
              </a:lnSpc>
              <a:spcAft>
                <a:spcPts val="0"/>
              </a:spcAft>
            </a:pPr>
            <a:r>
              <a:rPr sz="1440" b="0" i="0">
                <a:solidFill>
                  <a:srgbClr val="222833"/>
                </a:solidFill>
                <a:latin typeface="Consolas"/>
              </a:rPr>
              <a:t>  --policy=diffusion \</a:t>
            </a:r>
          </a:p>
          <a:p>
            <a:pPr algn="l">
              <a:lnSpc>
                <a:spcPct val="102000"/>
              </a:lnSpc>
              <a:spcAft>
                <a:spcPts val="0"/>
              </a:spcAft>
            </a:pPr>
            <a:r>
              <a:rPr sz="1440" b="0" i="0">
                <a:solidFill>
                  <a:srgbClr val="222833"/>
                </a:solidFill>
                <a:latin typeface="Consolas"/>
              </a:rPr>
              <a:t>  --dataset.repo_id=${HF_USER}/so101_teleop_vials_dr \</a:t>
            </a:r>
          </a:p>
          <a:p>
            <a:pPr algn="l">
              <a:lnSpc>
                <a:spcPct val="102000"/>
              </a:lnSpc>
              <a:spcAft>
                <a:spcPts val="0"/>
              </a:spcAft>
            </a:pPr>
            <a:r>
              <a:rPr sz="1440" b="0" i="0">
                <a:solidFill>
                  <a:srgbClr val="222833"/>
                </a:solidFill>
                <a:latin typeface="Consolas"/>
              </a:rPr>
              <a:t>  --train_steps=10000 \</a:t>
            </a:r>
          </a:p>
          <a:p>
            <a:pPr algn="l">
              <a:lnSpc>
                <a:spcPct val="102000"/>
              </a:lnSpc>
              <a:spcAft>
                <a:spcPts val="0"/>
              </a:spcAft>
            </a:pPr>
            <a:r>
              <a:rPr sz="1440" b="0" i="0">
                <a:solidFill>
                  <a:srgbClr val="222833"/>
                </a:solidFill>
                <a:latin typeface="Consolas"/>
              </a:rPr>
              <a:t>  --eval_freq=500 \</a:t>
            </a:r>
          </a:p>
          <a:p>
            <a:pPr algn="l">
              <a:lnSpc>
                <a:spcPct val="102000"/>
              </a:lnSpc>
              <a:spcAft>
                <a:spcPts val="0"/>
              </a:spcAft>
            </a:pPr>
            <a:r>
              <a:rPr sz="1440" b="0" i="0">
                <a:solidFill>
                  <a:srgbClr val="222833"/>
                </a:solidFill>
                <a:latin typeface="Consolas"/>
              </a:rPr>
              <a:t>  --output_dir=dr_so101_model</a:t>
            </a:r>
          </a:p>
          <a:p>
            <a:pPr algn="l">
              <a:lnSpc>
                <a:spcPct val="102000"/>
              </a:lnSpc>
              <a:spcAft>
                <a:spcPts val="0"/>
              </a:spcAft>
            </a:pPr>
            <a:endParaRPr sz="1440" b="0" i="0">
              <a:solidFill>
                <a:srgbClr val="222833"/>
              </a:solidFill>
              <a:latin typeface="Consolas"/>
            </a:endParaRPr>
          </a:p>
          <a:p>
            <a:pPr algn="l">
              <a:lnSpc>
                <a:spcPct val="102000"/>
              </a:lnSpc>
              <a:spcAft>
                <a:spcPts val="0"/>
              </a:spcAft>
            </a:pPr>
            <a:r>
              <a:rPr sz="1440" b="0" i="0">
                <a:solidFill>
                  <a:srgbClr val="222833"/>
                </a:solidFill>
                <a:latin typeface="Consolas"/>
              </a:rPr>
              <a:t># 也可将 --policy=diffusion 替换为 --policy=act</a:t>
            </a:r>
          </a:p>
        </p:txBody>
      </p:sp>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18872" cy="6858000"/>
          </a:xfrm>
          <a:prstGeom prst="rect">
            <a:avLst/>
          </a:prstGeom>
          <a:solidFill>
            <a:srgbClr val="3159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118872" y="0"/>
            <a:ext cx="41148" cy="6858000"/>
          </a:xfrm>
          <a:prstGeom prst="rect">
            <a:avLst/>
          </a:prstGeom>
          <a:solidFill>
            <a:srgbClr val="B7C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38912" y="137160"/>
            <a:ext cx="3474720" cy="164592"/>
          </a:xfrm>
          <a:prstGeom prst="rect">
            <a:avLst/>
          </a:prstGeom>
          <a:noFill/>
        </p:spPr>
        <p:txBody>
          <a:bodyPr wrap="square" lIns="0" tIns="0" rIns="0" bIns="0" anchor="t">
            <a:spAutoFit/>
          </a:bodyPr>
          <a:lstStyle/>
          <a:p>
            <a:pPr algn="l">
              <a:lnSpc>
                <a:spcPct val="112000"/>
              </a:lnSpc>
              <a:spcAft>
                <a:spcPts val="0"/>
              </a:spcAft>
            </a:pPr>
            <a:r>
              <a:rPr sz="1050" b="0" i="0">
                <a:solidFill>
                  <a:srgbClr val="8C98AA"/>
                </a:solidFill>
                <a:latin typeface="微软雅黑"/>
              </a:rPr>
              <a:t>具身智能导论 · 第 9 章</a:t>
            </a:r>
          </a:p>
        </p:txBody>
      </p:sp>
      <p:sp>
        <p:nvSpPr>
          <p:cNvPr id="5" name="TextBox 4"/>
          <p:cNvSpPr txBox="1"/>
          <p:nvPr/>
        </p:nvSpPr>
        <p:spPr>
          <a:xfrm>
            <a:off x="9144000" y="137160"/>
            <a:ext cx="2423160" cy="164592"/>
          </a:xfrm>
          <a:prstGeom prst="rect">
            <a:avLst/>
          </a:prstGeom>
          <a:noFill/>
        </p:spPr>
        <p:txBody>
          <a:bodyPr wrap="square" lIns="0" tIns="0" rIns="0" bIns="0" anchor="t">
            <a:spAutoFit/>
          </a:bodyPr>
          <a:lstStyle/>
          <a:p>
            <a:pPr algn="r">
              <a:lnSpc>
                <a:spcPct val="112000"/>
              </a:lnSpc>
              <a:spcAft>
                <a:spcPts val="0"/>
              </a:spcAft>
            </a:pPr>
            <a:r>
              <a:rPr sz="1050" b="0" i="0">
                <a:solidFill>
                  <a:srgbClr val="8C98AA"/>
                </a:solidFill>
                <a:latin typeface="微软雅黑"/>
              </a:rPr>
              <a:t>虚实迁移技术</a:t>
            </a:r>
          </a:p>
        </p:txBody>
      </p:sp>
      <p:sp>
        <p:nvSpPr>
          <p:cNvPr id="6" name="TextBox 5"/>
          <p:cNvSpPr txBox="1"/>
          <p:nvPr/>
        </p:nvSpPr>
        <p:spPr>
          <a:xfrm>
            <a:off x="502920" y="457200"/>
            <a:ext cx="10927080" cy="749808"/>
          </a:xfrm>
          <a:prstGeom prst="rect">
            <a:avLst/>
          </a:prstGeom>
          <a:noFill/>
        </p:spPr>
        <p:txBody>
          <a:bodyPr wrap="square" lIns="0" tIns="0" rIns="0" bIns="0" anchor="t">
            <a:spAutoFit/>
          </a:bodyPr>
          <a:lstStyle/>
          <a:p>
            <a:pPr algn="l">
              <a:lnSpc>
                <a:spcPct val="112000"/>
              </a:lnSpc>
              <a:spcAft>
                <a:spcPts val="0"/>
              </a:spcAft>
            </a:pPr>
            <a:r>
              <a:rPr sz="3500" b="1" i="0">
                <a:solidFill>
                  <a:srgbClr val="24477D"/>
                </a:solidFill>
                <a:latin typeface="微软雅黑"/>
              </a:rPr>
              <a:t>步骤3：现实部署与量化评估</a:t>
            </a:r>
          </a:p>
        </p:txBody>
      </p:sp>
      <p:sp>
        <p:nvSpPr>
          <p:cNvPr id="7" name="Rectangle 6"/>
          <p:cNvSpPr/>
          <p:nvPr/>
        </p:nvSpPr>
        <p:spPr>
          <a:xfrm>
            <a:off x="502920" y="1353312"/>
            <a:ext cx="11109960" cy="9144"/>
          </a:xfrm>
          <a:prstGeom prst="rect">
            <a:avLst/>
          </a:prstGeom>
          <a:solidFill>
            <a:srgbClr val="D8DE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1457432" y="6473952"/>
            <a:ext cx="347472" cy="164592"/>
          </a:xfrm>
          <a:prstGeom prst="rect">
            <a:avLst/>
          </a:prstGeom>
          <a:noFill/>
        </p:spPr>
        <p:txBody>
          <a:bodyPr wrap="square" lIns="0" tIns="0" rIns="0" bIns="0" anchor="t">
            <a:spAutoFit/>
          </a:bodyPr>
          <a:lstStyle/>
          <a:p>
            <a:pPr algn="r">
              <a:lnSpc>
                <a:spcPct val="112000"/>
              </a:lnSpc>
              <a:spcAft>
                <a:spcPts val="0"/>
              </a:spcAft>
            </a:pPr>
            <a:r>
              <a:rPr sz="1050" b="0" i="0">
                <a:solidFill>
                  <a:srgbClr val="8C98AA"/>
                </a:solidFill>
                <a:latin typeface="微软雅黑"/>
              </a:rPr>
              <a:t>106</a:t>
            </a:r>
          </a:p>
        </p:txBody>
      </p:sp>
      <p:sp>
        <p:nvSpPr>
          <p:cNvPr id="9" name="TextBox 8"/>
          <p:cNvSpPr txBox="1"/>
          <p:nvPr/>
        </p:nvSpPr>
        <p:spPr>
          <a:xfrm>
            <a:off x="749808" y="1664208"/>
            <a:ext cx="10424160" cy="2164439"/>
          </a:xfrm>
          <a:prstGeom prst="rect">
            <a:avLst/>
          </a:prstGeom>
          <a:noFill/>
        </p:spPr>
        <p:txBody>
          <a:bodyPr wrap="square" lIns="0" tIns="0" rIns="0" bIns="0">
            <a:spAutoFit/>
          </a:bodyPr>
          <a:lstStyle/>
          <a:p>
            <a:pPr>
              <a:lnSpc>
                <a:spcPct val="112000"/>
              </a:lnSpc>
              <a:spcAft>
                <a:spcPts val="700"/>
              </a:spcAft>
            </a:pPr>
            <a:r>
              <a:rPr sz="2800" b="1" dirty="0">
                <a:solidFill>
                  <a:srgbClr val="31599B"/>
                </a:solidFill>
                <a:latin typeface="微软雅黑"/>
              </a:rPr>
              <a:t>1  </a:t>
            </a:r>
            <a:r>
              <a:rPr sz="2800" dirty="0" err="1">
                <a:solidFill>
                  <a:srgbClr val="222833"/>
                </a:solidFill>
                <a:latin typeface="微软雅黑"/>
              </a:rPr>
              <a:t>加载训练好的策略权重</a:t>
            </a:r>
            <a:endParaRPr sz="2800" dirty="0">
              <a:solidFill>
                <a:srgbClr val="222833"/>
              </a:solidFill>
              <a:latin typeface="微软雅黑"/>
            </a:endParaRPr>
          </a:p>
          <a:p>
            <a:pPr>
              <a:lnSpc>
                <a:spcPct val="112000"/>
              </a:lnSpc>
              <a:spcAft>
                <a:spcPts val="700"/>
              </a:spcAft>
            </a:pPr>
            <a:r>
              <a:rPr sz="2800" b="1" dirty="0">
                <a:solidFill>
                  <a:srgbClr val="31599B"/>
                </a:solidFill>
                <a:latin typeface="微软雅黑"/>
              </a:rPr>
              <a:t>2  </a:t>
            </a:r>
            <a:r>
              <a:rPr sz="2800" dirty="0" err="1">
                <a:solidFill>
                  <a:srgbClr val="222833"/>
                </a:solidFill>
                <a:latin typeface="微软雅黑"/>
              </a:rPr>
              <a:t>保持现实相机的内外参数与仿真尽可能一致</a:t>
            </a:r>
            <a:endParaRPr sz="2800" dirty="0">
              <a:solidFill>
                <a:srgbClr val="222833"/>
              </a:solidFill>
              <a:latin typeface="微软雅黑"/>
            </a:endParaRPr>
          </a:p>
          <a:p>
            <a:pPr>
              <a:lnSpc>
                <a:spcPct val="112000"/>
              </a:lnSpc>
              <a:spcAft>
                <a:spcPts val="700"/>
              </a:spcAft>
            </a:pPr>
            <a:r>
              <a:rPr sz="2800" b="1" dirty="0">
                <a:solidFill>
                  <a:srgbClr val="31599B"/>
                </a:solidFill>
                <a:latin typeface="微软雅黑"/>
              </a:rPr>
              <a:t>3  </a:t>
            </a:r>
            <a:r>
              <a:rPr sz="2800" dirty="0">
                <a:solidFill>
                  <a:srgbClr val="222833"/>
                </a:solidFill>
                <a:latin typeface="微软雅黑"/>
              </a:rPr>
              <a:t>在 SO-101 </a:t>
            </a:r>
            <a:r>
              <a:rPr sz="2800" dirty="0" err="1">
                <a:solidFill>
                  <a:srgbClr val="222833"/>
                </a:solidFill>
                <a:latin typeface="微软雅黑"/>
              </a:rPr>
              <a:t>真机上至少进行</a:t>
            </a:r>
            <a:r>
              <a:rPr sz="2800" dirty="0">
                <a:solidFill>
                  <a:srgbClr val="222833"/>
                </a:solidFill>
                <a:latin typeface="微软雅黑"/>
              </a:rPr>
              <a:t> 30 </a:t>
            </a:r>
            <a:r>
              <a:rPr sz="2800" dirty="0" err="1">
                <a:solidFill>
                  <a:srgbClr val="222833"/>
                </a:solidFill>
                <a:latin typeface="微软雅黑"/>
              </a:rPr>
              <a:t>次独立轨迹采样</a:t>
            </a:r>
            <a:endParaRPr sz="2800" dirty="0">
              <a:solidFill>
                <a:srgbClr val="222833"/>
              </a:solidFill>
              <a:latin typeface="微软雅黑"/>
            </a:endParaRPr>
          </a:p>
          <a:p>
            <a:pPr>
              <a:lnSpc>
                <a:spcPct val="112000"/>
              </a:lnSpc>
              <a:spcAft>
                <a:spcPts val="700"/>
              </a:spcAft>
            </a:pPr>
            <a:r>
              <a:rPr sz="2800" b="1" dirty="0">
                <a:solidFill>
                  <a:srgbClr val="31599B"/>
                </a:solidFill>
                <a:latin typeface="微软雅黑"/>
              </a:rPr>
              <a:t>4  </a:t>
            </a:r>
            <a:r>
              <a:rPr sz="2800" dirty="0" err="1">
                <a:solidFill>
                  <a:srgbClr val="222833"/>
                </a:solidFill>
                <a:latin typeface="微软雅黑"/>
              </a:rPr>
              <a:t>记录</a:t>
            </a:r>
            <a:r>
              <a:rPr sz="2800" dirty="0">
                <a:solidFill>
                  <a:srgbClr val="222833"/>
                </a:solidFill>
                <a:latin typeface="微软雅黑"/>
              </a:rPr>
              <a:t> </a:t>
            </a:r>
            <a:r>
              <a:rPr sz="2800" dirty="0" err="1">
                <a:solidFill>
                  <a:srgbClr val="222833"/>
                </a:solidFill>
                <a:latin typeface="微软雅黑"/>
              </a:rPr>
              <a:t>SR、ΔSR、MMRV、r，并绘制</a:t>
            </a:r>
            <a:r>
              <a:rPr sz="2800" dirty="0">
                <a:solidFill>
                  <a:srgbClr val="222833"/>
                </a:solidFill>
                <a:latin typeface="微软雅黑"/>
              </a:rPr>
              <a:t> V1～V5 </a:t>
            </a:r>
            <a:r>
              <a:rPr sz="2800" dirty="0" err="1">
                <a:solidFill>
                  <a:srgbClr val="222833"/>
                </a:solidFill>
                <a:latin typeface="微软雅黑"/>
              </a:rPr>
              <a:t>扰动曲线</a:t>
            </a:r>
            <a:endParaRPr sz="2800" dirty="0">
              <a:solidFill>
                <a:srgbClr val="222833"/>
              </a:solidFill>
              <a:latin typeface="微软雅黑"/>
            </a:endParaRPr>
          </a:p>
        </p:txBody>
      </p:sp>
      <p:sp>
        <p:nvSpPr>
          <p:cNvPr id="10" name="TextBox 9"/>
          <p:cNvSpPr txBox="1"/>
          <p:nvPr/>
        </p:nvSpPr>
        <p:spPr>
          <a:xfrm>
            <a:off x="658368" y="4404360"/>
            <a:ext cx="10972800" cy="502920"/>
          </a:xfrm>
          <a:prstGeom prst="rect">
            <a:avLst/>
          </a:prstGeom>
          <a:noFill/>
        </p:spPr>
        <p:txBody>
          <a:bodyPr wrap="square" lIns="0" tIns="0" rIns="0" bIns="0" anchor="ctr">
            <a:spAutoFit/>
          </a:bodyPr>
          <a:lstStyle/>
          <a:p>
            <a:pPr algn="ctr">
              <a:lnSpc>
                <a:spcPct val="112000"/>
              </a:lnSpc>
              <a:spcAft>
                <a:spcPts val="0"/>
              </a:spcAft>
            </a:pPr>
            <a:r>
              <a:rPr sz="1950" b="1" i="0">
                <a:solidFill>
                  <a:srgbClr val="24477D"/>
                </a:solidFill>
                <a:latin typeface="微软雅黑"/>
              </a:rPr>
              <a:t>真实部署不是“演示一次成功”，而是需要统计意义上的重复评估。</a:t>
            </a:r>
          </a:p>
        </p:txBody>
      </p:sp>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18872" cy="6858000"/>
          </a:xfrm>
          <a:prstGeom prst="rect">
            <a:avLst/>
          </a:prstGeom>
          <a:solidFill>
            <a:srgbClr val="3159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118872" y="0"/>
            <a:ext cx="41148" cy="6858000"/>
          </a:xfrm>
          <a:prstGeom prst="rect">
            <a:avLst/>
          </a:prstGeom>
          <a:solidFill>
            <a:srgbClr val="B7C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38912" y="137160"/>
            <a:ext cx="3474720" cy="164592"/>
          </a:xfrm>
          <a:prstGeom prst="rect">
            <a:avLst/>
          </a:prstGeom>
          <a:noFill/>
        </p:spPr>
        <p:txBody>
          <a:bodyPr wrap="square" lIns="0" tIns="0" rIns="0" bIns="0" anchor="t">
            <a:spAutoFit/>
          </a:bodyPr>
          <a:lstStyle/>
          <a:p>
            <a:pPr algn="l">
              <a:lnSpc>
                <a:spcPct val="112000"/>
              </a:lnSpc>
              <a:spcAft>
                <a:spcPts val="0"/>
              </a:spcAft>
            </a:pPr>
            <a:r>
              <a:rPr sz="1050" b="0" i="0">
                <a:solidFill>
                  <a:srgbClr val="8C98AA"/>
                </a:solidFill>
                <a:latin typeface="微软雅黑"/>
              </a:rPr>
              <a:t>具身智能导论 · 第 9 章</a:t>
            </a:r>
          </a:p>
        </p:txBody>
      </p:sp>
      <p:sp>
        <p:nvSpPr>
          <p:cNvPr id="5" name="TextBox 4"/>
          <p:cNvSpPr txBox="1"/>
          <p:nvPr/>
        </p:nvSpPr>
        <p:spPr>
          <a:xfrm>
            <a:off x="9144000" y="137160"/>
            <a:ext cx="2423160" cy="164592"/>
          </a:xfrm>
          <a:prstGeom prst="rect">
            <a:avLst/>
          </a:prstGeom>
          <a:noFill/>
        </p:spPr>
        <p:txBody>
          <a:bodyPr wrap="square" lIns="0" tIns="0" rIns="0" bIns="0" anchor="t">
            <a:spAutoFit/>
          </a:bodyPr>
          <a:lstStyle/>
          <a:p>
            <a:pPr algn="r">
              <a:lnSpc>
                <a:spcPct val="112000"/>
              </a:lnSpc>
              <a:spcAft>
                <a:spcPts val="0"/>
              </a:spcAft>
            </a:pPr>
            <a:r>
              <a:rPr sz="1050" b="0" i="0">
                <a:solidFill>
                  <a:srgbClr val="8C98AA"/>
                </a:solidFill>
                <a:latin typeface="微软雅黑"/>
              </a:rPr>
              <a:t>虚实迁移技术</a:t>
            </a:r>
          </a:p>
        </p:txBody>
      </p:sp>
      <p:sp>
        <p:nvSpPr>
          <p:cNvPr id="6" name="TextBox 5"/>
          <p:cNvSpPr txBox="1"/>
          <p:nvPr/>
        </p:nvSpPr>
        <p:spPr>
          <a:xfrm>
            <a:off x="502920" y="457200"/>
            <a:ext cx="10927080" cy="749808"/>
          </a:xfrm>
          <a:prstGeom prst="rect">
            <a:avLst/>
          </a:prstGeom>
          <a:noFill/>
        </p:spPr>
        <p:txBody>
          <a:bodyPr wrap="square" lIns="0" tIns="0" rIns="0" bIns="0" anchor="t">
            <a:spAutoFit/>
          </a:bodyPr>
          <a:lstStyle/>
          <a:p>
            <a:pPr algn="l">
              <a:lnSpc>
                <a:spcPct val="112000"/>
              </a:lnSpc>
              <a:spcAft>
                <a:spcPts val="0"/>
              </a:spcAft>
            </a:pPr>
            <a:r>
              <a:rPr sz="3500" b="1" i="0">
                <a:solidFill>
                  <a:srgbClr val="24477D"/>
                </a:solidFill>
                <a:latin typeface="微软雅黑"/>
              </a:rPr>
              <a:t>现实部署代码：加载策略并执行闭环控制</a:t>
            </a:r>
          </a:p>
        </p:txBody>
      </p:sp>
      <p:sp>
        <p:nvSpPr>
          <p:cNvPr id="7" name="Rectangle 6"/>
          <p:cNvSpPr/>
          <p:nvPr/>
        </p:nvSpPr>
        <p:spPr>
          <a:xfrm>
            <a:off x="502920" y="1353312"/>
            <a:ext cx="11109960" cy="9144"/>
          </a:xfrm>
          <a:prstGeom prst="rect">
            <a:avLst/>
          </a:prstGeom>
          <a:solidFill>
            <a:srgbClr val="D8DE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1457432" y="6473952"/>
            <a:ext cx="347472" cy="164592"/>
          </a:xfrm>
          <a:prstGeom prst="rect">
            <a:avLst/>
          </a:prstGeom>
          <a:noFill/>
        </p:spPr>
        <p:txBody>
          <a:bodyPr wrap="square" lIns="0" tIns="0" rIns="0" bIns="0" anchor="t">
            <a:spAutoFit/>
          </a:bodyPr>
          <a:lstStyle/>
          <a:p>
            <a:pPr algn="r">
              <a:lnSpc>
                <a:spcPct val="112000"/>
              </a:lnSpc>
              <a:spcAft>
                <a:spcPts val="0"/>
              </a:spcAft>
            </a:pPr>
            <a:r>
              <a:rPr sz="1050" b="0" i="0">
                <a:solidFill>
                  <a:srgbClr val="8C98AA"/>
                </a:solidFill>
                <a:latin typeface="微软雅黑"/>
              </a:rPr>
              <a:t>107</a:t>
            </a:r>
          </a:p>
        </p:txBody>
      </p:sp>
      <p:sp>
        <p:nvSpPr>
          <p:cNvPr id="9" name="Rounded Rectangle 8"/>
          <p:cNvSpPr/>
          <p:nvPr/>
        </p:nvSpPr>
        <p:spPr>
          <a:xfrm>
            <a:off x="777240" y="1627632"/>
            <a:ext cx="10561320" cy="4434840"/>
          </a:xfrm>
          <a:prstGeom prst="roundRect">
            <a:avLst/>
          </a:prstGeom>
          <a:solidFill>
            <a:srgbClr val="F4F6FA"/>
          </a:solidFill>
          <a:ln w="10160">
            <a:solidFill>
              <a:srgbClr val="DDE3E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1005840" y="1828800"/>
            <a:ext cx="10104120" cy="4069079"/>
          </a:xfrm>
          <a:prstGeom prst="rect">
            <a:avLst/>
          </a:prstGeom>
          <a:noFill/>
        </p:spPr>
        <p:txBody>
          <a:bodyPr wrap="square" lIns="0" tIns="0" rIns="0" bIns="0" anchor="t">
            <a:spAutoFit/>
          </a:bodyPr>
          <a:lstStyle/>
          <a:p>
            <a:pPr algn="l">
              <a:lnSpc>
                <a:spcPct val="102000"/>
              </a:lnSpc>
              <a:spcAft>
                <a:spcPts val="0"/>
              </a:spcAft>
            </a:pPr>
            <a:r>
              <a:rPr sz="1300" b="0" i="0">
                <a:solidFill>
                  <a:srgbClr val="222833"/>
                </a:solidFill>
                <a:latin typeface="Consolas"/>
              </a:rPr>
              <a:t>from lerobot.common.policies.diffusion.modeling_diffusion import DiffusionPolicy</a:t>
            </a:r>
          </a:p>
          <a:p>
            <a:pPr algn="l">
              <a:lnSpc>
                <a:spcPct val="102000"/>
              </a:lnSpc>
              <a:spcAft>
                <a:spcPts val="0"/>
              </a:spcAft>
            </a:pPr>
            <a:r>
              <a:rPr sz="1300" b="0" i="0">
                <a:solidFill>
                  <a:srgbClr val="222833"/>
                </a:solidFill>
                <a:latin typeface="Consolas"/>
              </a:rPr>
              <a:t>from lerobot.common.envs.so101_env import SO101Env</a:t>
            </a:r>
          </a:p>
          <a:p>
            <a:pPr algn="l">
              <a:lnSpc>
                <a:spcPct val="102000"/>
              </a:lnSpc>
              <a:spcAft>
                <a:spcPts val="0"/>
              </a:spcAft>
            </a:pPr>
            <a:endParaRPr sz="1300" b="0" i="0">
              <a:solidFill>
                <a:srgbClr val="222833"/>
              </a:solidFill>
              <a:latin typeface="Consolas"/>
            </a:endParaRPr>
          </a:p>
          <a:p>
            <a:pPr algn="l">
              <a:lnSpc>
                <a:spcPct val="102000"/>
              </a:lnSpc>
              <a:spcAft>
                <a:spcPts val="0"/>
              </a:spcAft>
            </a:pPr>
            <a:r>
              <a:rPr sz="1300" b="0" i="0">
                <a:solidFill>
                  <a:srgbClr val="222833"/>
                </a:solidFill>
                <a:latin typeface="Consolas"/>
              </a:rPr>
              <a:t>policy = DiffusionPolicy.from_pretrained("dr_so101_model")</a:t>
            </a:r>
          </a:p>
          <a:p>
            <a:pPr algn="l">
              <a:lnSpc>
                <a:spcPct val="102000"/>
              </a:lnSpc>
              <a:spcAft>
                <a:spcPts val="0"/>
              </a:spcAft>
            </a:pPr>
            <a:r>
              <a:rPr sz="1300" b="0" i="0">
                <a:solidFill>
                  <a:srgbClr val="222833"/>
                </a:solidFill>
                <a:latin typeface="Consolas"/>
              </a:rPr>
              <a:t>env = SO101Env()</a:t>
            </a:r>
          </a:p>
          <a:p>
            <a:pPr algn="l">
              <a:lnSpc>
                <a:spcPct val="102000"/>
              </a:lnSpc>
              <a:spcAft>
                <a:spcPts val="0"/>
              </a:spcAft>
            </a:pPr>
            <a:r>
              <a:rPr sz="1300" b="0" i="0">
                <a:solidFill>
                  <a:srgbClr val="222833"/>
                </a:solidFill>
                <a:latin typeface="Consolas"/>
              </a:rPr>
              <a:t>success_rate = 0</a:t>
            </a:r>
          </a:p>
          <a:p>
            <a:pPr algn="l">
              <a:lnSpc>
                <a:spcPct val="102000"/>
              </a:lnSpc>
              <a:spcAft>
                <a:spcPts val="0"/>
              </a:spcAft>
            </a:pPr>
            <a:endParaRPr sz="1300" b="0" i="0">
              <a:solidFill>
                <a:srgbClr val="222833"/>
              </a:solidFill>
              <a:latin typeface="Consolas"/>
            </a:endParaRPr>
          </a:p>
          <a:p>
            <a:pPr algn="l">
              <a:lnSpc>
                <a:spcPct val="102000"/>
              </a:lnSpc>
              <a:spcAft>
                <a:spcPts val="0"/>
              </a:spcAft>
            </a:pPr>
            <a:r>
              <a:rPr sz="1300" b="0" i="0">
                <a:solidFill>
                  <a:srgbClr val="222833"/>
                </a:solidFill>
                <a:latin typeface="Consolas"/>
              </a:rPr>
              <a:t>for episode in range(30):</a:t>
            </a:r>
          </a:p>
          <a:p>
            <a:pPr algn="l">
              <a:lnSpc>
                <a:spcPct val="102000"/>
              </a:lnSpc>
              <a:spcAft>
                <a:spcPts val="0"/>
              </a:spcAft>
            </a:pPr>
            <a:r>
              <a:rPr sz="1300" b="0" i="0">
                <a:solidFill>
                  <a:srgbClr val="222833"/>
                </a:solidFill>
                <a:latin typeface="Consolas"/>
              </a:rPr>
              <a:t>    obs = env.reset()</a:t>
            </a:r>
          </a:p>
          <a:p>
            <a:pPr algn="l">
              <a:lnSpc>
                <a:spcPct val="102000"/>
              </a:lnSpc>
              <a:spcAft>
                <a:spcPts val="0"/>
              </a:spcAft>
            </a:pPr>
            <a:r>
              <a:rPr sz="1300" b="0" i="0">
                <a:solidFill>
                  <a:srgbClr val="222833"/>
                </a:solidFill>
                <a:latin typeface="Consolas"/>
              </a:rPr>
              <a:t>    done = False</a:t>
            </a:r>
          </a:p>
          <a:p>
            <a:pPr algn="l">
              <a:lnSpc>
                <a:spcPct val="102000"/>
              </a:lnSpc>
              <a:spcAft>
                <a:spcPts val="0"/>
              </a:spcAft>
            </a:pPr>
            <a:r>
              <a:rPr sz="1300" b="0" i="0">
                <a:solidFill>
                  <a:srgbClr val="222833"/>
                </a:solidFill>
                <a:latin typeface="Consolas"/>
              </a:rPr>
              <a:t>    while not done:</a:t>
            </a:r>
          </a:p>
          <a:p>
            <a:pPr algn="l">
              <a:lnSpc>
                <a:spcPct val="102000"/>
              </a:lnSpc>
              <a:spcAft>
                <a:spcPts val="0"/>
              </a:spcAft>
            </a:pPr>
            <a:r>
              <a:rPr sz="1300" b="0" i="0">
                <a:solidFill>
                  <a:srgbClr val="222833"/>
                </a:solidFill>
                <a:latin typeface="Consolas"/>
              </a:rPr>
              <a:t>        action = policy.predict(obs)</a:t>
            </a:r>
          </a:p>
          <a:p>
            <a:pPr algn="l">
              <a:lnSpc>
                <a:spcPct val="102000"/>
              </a:lnSpc>
              <a:spcAft>
                <a:spcPts val="0"/>
              </a:spcAft>
            </a:pPr>
            <a:r>
              <a:rPr sz="1300" b="0" i="0">
                <a:solidFill>
                  <a:srgbClr val="222833"/>
                </a:solidFill>
                <a:latin typeface="Consolas"/>
              </a:rPr>
              <a:t>        obs, reward, done, info = env.step(action)</a:t>
            </a:r>
          </a:p>
          <a:p>
            <a:pPr algn="l">
              <a:lnSpc>
                <a:spcPct val="102000"/>
              </a:lnSpc>
              <a:spcAft>
                <a:spcPts val="0"/>
              </a:spcAft>
            </a:pPr>
            <a:r>
              <a:rPr sz="1300" b="0" i="0">
                <a:solidFill>
                  <a:srgbClr val="222833"/>
                </a:solidFill>
                <a:latin typeface="Consolas"/>
              </a:rPr>
              <a:t>        success_rate += info["success"]</a:t>
            </a:r>
          </a:p>
        </p:txBody>
      </p:sp>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18872" cy="6858000"/>
          </a:xfrm>
          <a:prstGeom prst="rect">
            <a:avLst/>
          </a:prstGeom>
          <a:solidFill>
            <a:srgbClr val="3159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118872" y="0"/>
            <a:ext cx="41148" cy="6858000"/>
          </a:xfrm>
          <a:prstGeom prst="rect">
            <a:avLst/>
          </a:prstGeom>
          <a:solidFill>
            <a:srgbClr val="B7C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38912" y="137160"/>
            <a:ext cx="3474720" cy="164592"/>
          </a:xfrm>
          <a:prstGeom prst="rect">
            <a:avLst/>
          </a:prstGeom>
          <a:noFill/>
        </p:spPr>
        <p:txBody>
          <a:bodyPr wrap="square" lIns="0" tIns="0" rIns="0" bIns="0" anchor="t">
            <a:spAutoFit/>
          </a:bodyPr>
          <a:lstStyle/>
          <a:p>
            <a:pPr algn="l">
              <a:lnSpc>
                <a:spcPct val="112000"/>
              </a:lnSpc>
              <a:spcAft>
                <a:spcPts val="0"/>
              </a:spcAft>
            </a:pPr>
            <a:r>
              <a:rPr sz="1050" b="0" i="0">
                <a:solidFill>
                  <a:srgbClr val="8C98AA"/>
                </a:solidFill>
                <a:latin typeface="微软雅黑"/>
              </a:rPr>
              <a:t>具身智能导论 · 第 9 章</a:t>
            </a:r>
          </a:p>
        </p:txBody>
      </p:sp>
      <p:sp>
        <p:nvSpPr>
          <p:cNvPr id="5" name="TextBox 4"/>
          <p:cNvSpPr txBox="1"/>
          <p:nvPr/>
        </p:nvSpPr>
        <p:spPr>
          <a:xfrm>
            <a:off x="9144000" y="137160"/>
            <a:ext cx="2423160" cy="164592"/>
          </a:xfrm>
          <a:prstGeom prst="rect">
            <a:avLst/>
          </a:prstGeom>
          <a:noFill/>
        </p:spPr>
        <p:txBody>
          <a:bodyPr wrap="square" lIns="0" tIns="0" rIns="0" bIns="0" anchor="t">
            <a:spAutoFit/>
          </a:bodyPr>
          <a:lstStyle/>
          <a:p>
            <a:pPr algn="r">
              <a:lnSpc>
                <a:spcPct val="112000"/>
              </a:lnSpc>
              <a:spcAft>
                <a:spcPts val="0"/>
              </a:spcAft>
            </a:pPr>
            <a:r>
              <a:rPr sz="1050" b="0" i="0">
                <a:solidFill>
                  <a:srgbClr val="8C98AA"/>
                </a:solidFill>
                <a:latin typeface="微软雅黑"/>
              </a:rPr>
              <a:t>虚实迁移技术</a:t>
            </a:r>
          </a:p>
        </p:txBody>
      </p:sp>
      <p:sp>
        <p:nvSpPr>
          <p:cNvPr id="6" name="TextBox 5"/>
          <p:cNvSpPr txBox="1"/>
          <p:nvPr/>
        </p:nvSpPr>
        <p:spPr>
          <a:xfrm>
            <a:off x="502920" y="457200"/>
            <a:ext cx="10927080" cy="749808"/>
          </a:xfrm>
          <a:prstGeom prst="rect">
            <a:avLst/>
          </a:prstGeom>
          <a:noFill/>
        </p:spPr>
        <p:txBody>
          <a:bodyPr wrap="square" lIns="0" tIns="0" rIns="0" bIns="0" anchor="t">
            <a:spAutoFit/>
          </a:bodyPr>
          <a:lstStyle/>
          <a:p>
            <a:pPr algn="l">
              <a:lnSpc>
                <a:spcPct val="112000"/>
              </a:lnSpc>
              <a:spcAft>
                <a:spcPts val="0"/>
              </a:spcAft>
            </a:pPr>
            <a:r>
              <a:rPr sz="3500" b="1" i="0">
                <a:solidFill>
                  <a:srgbClr val="24477D"/>
                </a:solidFill>
                <a:latin typeface="微软雅黑"/>
              </a:rPr>
              <a:t>现实部署代码：统计成功率并输出执行视频</a:t>
            </a:r>
          </a:p>
        </p:txBody>
      </p:sp>
      <p:sp>
        <p:nvSpPr>
          <p:cNvPr id="7" name="Rectangle 6"/>
          <p:cNvSpPr/>
          <p:nvPr/>
        </p:nvSpPr>
        <p:spPr>
          <a:xfrm>
            <a:off x="502920" y="1353312"/>
            <a:ext cx="11109960" cy="9144"/>
          </a:xfrm>
          <a:prstGeom prst="rect">
            <a:avLst/>
          </a:prstGeom>
          <a:solidFill>
            <a:srgbClr val="D8DE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1457432" y="6473952"/>
            <a:ext cx="347472" cy="164592"/>
          </a:xfrm>
          <a:prstGeom prst="rect">
            <a:avLst/>
          </a:prstGeom>
          <a:noFill/>
        </p:spPr>
        <p:txBody>
          <a:bodyPr wrap="square" lIns="0" tIns="0" rIns="0" bIns="0" anchor="t">
            <a:spAutoFit/>
          </a:bodyPr>
          <a:lstStyle/>
          <a:p>
            <a:pPr algn="r">
              <a:lnSpc>
                <a:spcPct val="112000"/>
              </a:lnSpc>
              <a:spcAft>
                <a:spcPts val="0"/>
              </a:spcAft>
            </a:pPr>
            <a:r>
              <a:rPr sz="1050" b="0" i="0">
                <a:solidFill>
                  <a:srgbClr val="8C98AA"/>
                </a:solidFill>
                <a:latin typeface="微软雅黑"/>
              </a:rPr>
              <a:t>108</a:t>
            </a:r>
          </a:p>
        </p:txBody>
      </p:sp>
      <p:sp>
        <p:nvSpPr>
          <p:cNvPr id="9" name="Rounded Rectangle 8"/>
          <p:cNvSpPr/>
          <p:nvPr/>
        </p:nvSpPr>
        <p:spPr>
          <a:xfrm>
            <a:off x="777240" y="1783080"/>
            <a:ext cx="10561320" cy="1828800"/>
          </a:xfrm>
          <a:prstGeom prst="roundRect">
            <a:avLst/>
          </a:prstGeom>
          <a:solidFill>
            <a:srgbClr val="F4F6FA"/>
          </a:solidFill>
          <a:ln w="10160">
            <a:solidFill>
              <a:srgbClr val="DDE3E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1005840" y="1984248"/>
            <a:ext cx="10104120" cy="1463040"/>
          </a:xfrm>
          <a:prstGeom prst="rect">
            <a:avLst/>
          </a:prstGeom>
          <a:noFill/>
        </p:spPr>
        <p:txBody>
          <a:bodyPr wrap="square" lIns="0" tIns="0" rIns="0" bIns="0" anchor="t">
            <a:spAutoFit/>
          </a:bodyPr>
          <a:lstStyle/>
          <a:p>
            <a:pPr algn="l">
              <a:lnSpc>
                <a:spcPct val="102000"/>
              </a:lnSpc>
              <a:spcAft>
                <a:spcPts val="0"/>
              </a:spcAft>
            </a:pPr>
            <a:r>
              <a:rPr sz="1500" b="0" i="0">
                <a:solidFill>
                  <a:srgbClr val="222833"/>
                </a:solidFill>
                <a:latin typeface="Consolas"/>
              </a:rPr>
              <a:t>print(f"平均成功率: {success_rate / 30:.1%}")</a:t>
            </a:r>
          </a:p>
          <a:p>
            <a:pPr algn="l">
              <a:lnSpc>
                <a:spcPct val="102000"/>
              </a:lnSpc>
              <a:spcAft>
                <a:spcPts val="0"/>
              </a:spcAft>
            </a:pPr>
            <a:endParaRPr sz="1500" b="0" i="0">
              <a:solidFill>
                <a:srgbClr val="222833"/>
              </a:solidFill>
              <a:latin typeface="Consolas"/>
            </a:endParaRPr>
          </a:p>
          <a:p>
            <a:pPr algn="l">
              <a:lnSpc>
                <a:spcPct val="102000"/>
              </a:lnSpc>
              <a:spcAft>
                <a:spcPts val="0"/>
              </a:spcAft>
            </a:pPr>
            <a:r>
              <a:rPr sz="1500" b="0" i="0">
                <a:solidFill>
                  <a:srgbClr val="222833"/>
                </a:solidFill>
                <a:latin typeface="Consolas"/>
              </a:rPr>
              <a:t># 可视化单次现实执行视频，展示迁移效果</a:t>
            </a:r>
          </a:p>
          <a:p>
            <a:pPr algn="l">
              <a:lnSpc>
                <a:spcPct val="102000"/>
              </a:lnSpc>
              <a:spcAft>
                <a:spcPts val="0"/>
              </a:spcAft>
            </a:pPr>
            <a:r>
              <a:rPr sz="1500" b="0" i="0">
                <a:solidFill>
                  <a:srgbClr val="222833"/>
                </a:solidFill>
                <a:latin typeface="Consolas"/>
              </a:rPr>
              <a:t>env.render_video(policy)</a:t>
            </a:r>
          </a:p>
        </p:txBody>
      </p:sp>
      <p:sp>
        <p:nvSpPr>
          <p:cNvPr id="11" name="Rounded Rectangle 10"/>
          <p:cNvSpPr/>
          <p:nvPr/>
        </p:nvSpPr>
        <p:spPr>
          <a:xfrm>
            <a:off x="914400" y="3977639"/>
            <a:ext cx="4846320" cy="1508760"/>
          </a:xfrm>
          <a:prstGeom prst="roundRect">
            <a:avLst/>
          </a:prstGeom>
          <a:solidFill>
            <a:srgbClr val="FFFFFF"/>
          </a:solidFill>
          <a:ln w="10160">
            <a:solidFill>
              <a:srgbClr val="E0E5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914400" y="3977639"/>
            <a:ext cx="64008" cy="1508760"/>
          </a:xfrm>
          <a:prstGeom prst="rect">
            <a:avLst/>
          </a:prstGeom>
          <a:solidFill>
            <a:srgbClr val="3159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1124712" y="4123944"/>
            <a:ext cx="4462272" cy="347472"/>
          </a:xfrm>
          <a:prstGeom prst="rect">
            <a:avLst/>
          </a:prstGeom>
          <a:noFill/>
        </p:spPr>
        <p:txBody>
          <a:bodyPr wrap="square" lIns="0" tIns="0" rIns="0" bIns="0" anchor="t">
            <a:spAutoFit/>
          </a:bodyPr>
          <a:lstStyle/>
          <a:p>
            <a:pPr algn="l">
              <a:lnSpc>
                <a:spcPct val="112000"/>
              </a:lnSpc>
              <a:spcAft>
                <a:spcPts val="0"/>
              </a:spcAft>
            </a:pPr>
            <a:r>
              <a:rPr sz="1850" b="1" i="0">
                <a:solidFill>
                  <a:srgbClr val="31599B"/>
                </a:solidFill>
                <a:latin typeface="微软雅黑"/>
              </a:rPr>
              <a:t>评估要求</a:t>
            </a:r>
          </a:p>
        </p:txBody>
      </p:sp>
      <p:sp>
        <p:nvSpPr>
          <p:cNvPr id="14" name="TextBox 13"/>
          <p:cNvSpPr txBox="1"/>
          <p:nvPr/>
        </p:nvSpPr>
        <p:spPr>
          <a:xfrm>
            <a:off x="1124712" y="4663440"/>
            <a:ext cx="4462272" cy="667511"/>
          </a:xfrm>
          <a:prstGeom prst="rect">
            <a:avLst/>
          </a:prstGeom>
          <a:noFill/>
        </p:spPr>
        <p:txBody>
          <a:bodyPr wrap="square" lIns="0" tIns="0" rIns="0" bIns="0" anchor="t">
            <a:spAutoFit/>
          </a:bodyPr>
          <a:lstStyle/>
          <a:p>
            <a:pPr algn="l">
              <a:lnSpc>
                <a:spcPct val="112000"/>
              </a:lnSpc>
              <a:spcAft>
                <a:spcPts val="0"/>
              </a:spcAft>
            </a:pPr>
            <a:r>
              <a:rPr sz="1650" b="0" i="0">
                <a:solidFill>
                  <a:srgbClr val="222833"/>
                </a:solidFill>
                <a:latin typeface="微软雅黑"/>
              </a:rPr>
              <a:t>至少 30 次真实轨迹；同时记录失败模式和 V1～V5 扰动下的性能变化。</a:t>
            </a:r>
          </a:p>
        </p:txBody>
      </p:sp>
      <p:sp>
        <p:nvSpPr>
          <p:cNvPr id="15" name="Rounded Rectangle 14"/>
          <p:cNvSpPr/>
          <p:nvPr/>
        </p:nvSpPr>
        <p:spPr>
          <a:xfrm>
            <a:off x="6080760" y="3977639"/>
            <a:ext cx="4846320" cy="1508760"/>
          </a:xfrm>
          <a:prstGeom prst="roundRect">
            <a:avLst/>
          </a:prstGeom>
          <a:solidFill>
            <a:srgbClr val="FFFFFF"/>
          </a:solidFill>
          <a:ln w="10160">
            <a:solidFill>
              <a:srgbClr val="E0E5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6080760" y="3977639"/>
            <a:ext cx="64008" cy="1508760"/>
          </a:xfrm>
          <a:prstGeom prst="rect">
            <a:avLst/>
          </a:prstGeom>
          <a:solidFill>
            <a:srgbClr val="2F8E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291072" y="4123944"/>
            <a:ext cx="4462272" cy="347472"/>
          </a:xfrm>
          <a:prstGeom prst="rect">
            <a:avLst/>
          </a:prstGeom>
          <a:noFill/>
        </p:spPr>
        <p:txBody>
          <a:bodyPr wrap="square" lIns="0" tIns="0" rIns="0" bIns="0" anchor="t">
            <a:spAutoFit/>
          </a:bodyPr>
          <a:lstStyle/>
          <a:p>
            <a:pPr algn="l">
              <a:lnSpc>
                <a:spcPct val="112000"/>
              </a:lnSpc>
              <a:spcAft>
                <a:spcPts val="0"/>
              </a:spcAft>
            </a:pPr>
            <a:r>
              <a:rPr sz="1850" b="1" i="0">
                <a:solidFill>
                  <a:srgbClr val="2F8E72"/>
                </a:solidFill>
                <a:latin typeface="微软雅黑"/>
              </a:rPr>
              <a:t>闭环要求</a:t>
            </a:r>
          </a:p>
        </p:txBody>
      </p:sp>
      <p:sp>
        <p:nvSpPr>
          <p:cNvPr id="18" name="TextBox 17"/>
          <p:cNvSpPr txBox="1"/>
          <p:nvPr/>
        </p:nvSpPr>
        <p:spPr>
          <a:xfrm>
            <a:off x="6291072" y="4663440"/>
            <a:ext cx="4462272" cy="667511"/>
          </a:xfrm>
          <a:prstGeom prst="rect">
            <a:avLst/>
          </a:prstGeom>
          <a:noFill/>
        </p:spPr>
        <p:txBody>
          <a:bodyPr wrap="square" lIns="0" tIns="0" rIns="0" bIns="0" anchor="t">
            <a:spAutoFit/>
          </a:bodyPr>
          <a:lstStyle/>
          <a:p>
            <a:pPr algn="l">
              <a:lnSpc>
                <a:spcPct val="112000"/>
              </a:lnSpc>
              <a:spcAft>
                <a:spcPts val="0"/>
              </a:spcAft>
            </a:pPr>
            <a:r>
              <a:rPr sz="1650" b="0" i="0">
                <a:solidFill>
                  <a:srgbClr val="222833"/>
                </a:solidFill>
                <a:latin typeface="微软雅黑"/>
              </a:rPr>
              <a:t>若性能不足，用真实结果继续修正随机化范围、相机参数或仿真模型。</a:t>
            </a:r>
          </a:p>
        </p:txBody>
      </p:sp>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18872" cy="6858000"/>
          </a:xfrm>
          <a:prstGeom prst="rect">
            <a:avLst/>
          </a:prstGeom>
          <a:solidFill>
            <a:srgbClr val="3159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118872" y="0"/>
            <a:ext cx="41148" cy="6858000"/>
          </a:xfrm>
          <a:prstGeom prst="rect">
            <a:avLst/>
          </a:prstGeom>
          <a:solidFill>
            <a:srgbClr val="B7C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38912" y="137160"/>
            <a:ext cx="3474720" cy="164592"/>
          </a:xfrm>
          <a:prstGeom prst="rect">
            <a:avLst/>
          </a:prstGeom>
          <a:noFill/>
        </p:spPr>
        <p:txBody>
          <a:bodyPr wrap="square" lIns="0" tIns="0" rIns="0" bIns="0" anchor="t">
            <a:spAutoFit/>
          </a:bodyPr>
          <a:lstStyle/>
          <a:p>
            <a:pPr algn="l">
              <a:lnSpc>
                <a:spcPct val="112000"/>
              </a:lnSpc>
              <a:spcAft>
                <a:spcPts val="0"/>
              </a:spcAft>
            </a:pPr>
            <a:r>
              <a:rPr sz="1050" b="0" i="0">
                <a:solidFill>
                  <a:srgbClr val="8C98AA"/>
                </a:solidFill>
                <a:latin typeface="微软雅黑"/>
              </a:rPr>
              <a:t>具身智能导论 · 第 9 章</a:t>
            </a:r>
          </a:p>
        </p:txBody>
      </p:sp>
      <p:sp>
        <p:nvSpPr>
          <p:cNvPr id="5" name="TextBox 4"/>
          <p:cNvSpPr txBox="1"/>
          <p:nvPr/>
        </p:nvSpPr>
        <p:spPr>
          <a:xfrm>
            <a:off x="9144000" y="137160"/>
            <a:ext cx="2423160" cy="164592"/>
          </a:xfrm>
          <a:prstGeom prst="rect">
            <a:avLst/>
          </a:prstGeom>
          <a:noFill/>
        </p:spPr>
        <p:txBody>
          <a:bodyPr wrap="square" lIns="0" tIns="0" rIns="0" bIns="0" anchor="t">
            <a:spAutoFit/>
          </a:bodyPr>
          <a:lstStyle/>
          <a:p>
            <a:pPr algn="r">
              <a:lnSpc>
                <a:spcPct val="112000"/>
              </a:lnSpc>
              <a:spcAft>
                <a:spcPts val="0"/>
              </a:spcAft>
            </a:pPr>
            <a:r>
              <a:rPr sz="1050" b="0" i="0">
                <a:solidFill>
                  <a:srgbClr val="8C98AA"/>
                </a:solidFill>
                <a:latin typeface="微软雅黑"/>
              </a:rPr>
              <a:t>虚实迁移技术</a:t>
            </a:r>
          </a:p>
        </p:txBody>
      </p:sp>
      <p:sp>
        <p:nvSpPr>
          <p:cNvPr id="6" name="TextBox 5"/>
          <p:cNvSpPr txBox="1"/>
          <p:nvPr/>
        </p:nvSpPr>
        <p:spPr>
          <a:xfrm>
            <a:off x="502920" y="457200"/>
            <a:ext cx="10927080" cy="749808"/>
          </a:xfrm>
          <a:prstGeom prst="rect">
            <a:avLst/>
          </a:prstGeom>
          <a:noFill/>
        </p:spPr>
        <p:txBody>
          <a:bodyPr wrap="square" lIns="0" tIns="0" rIns="0" bIns="0" anchor="t">
            <a:spAutoFit/>
          </a:bodyPr>
          <a:lstStyle/>
          <a:p>
            <a:pPr algn="l">
              <a:lnSpc>
                <a:spcPct val="112000"/>
              </a:lnSpc>
              <a:spcAft>
                <a:spcPts val="0"/>
              </a:spcAft>
            </a:pPr>
            <a:r>
              <a:rPr sz="3100" b="1" i="0">
                <a:solidFill>
                  <a:srgbClr val="24477D"/>
                </a:solidFill>
                <a:latin typeface="微软雅黑"/>
              </a:rPr>
              <a:t>实验结果：约 70 条仿真演示即可获得较高真实成功率</a:t>
            </a:r>
          </a:p>
        </p:txBody>
      </p:sp>
      <p:sp>
        <p:nvSpPr>
          <p:cNvPr id="7" name="Rectangle 6"/>
          <p:cNvSpPr/>
          <p:nvPr/>
        </p:nvSpPr>
        <p:spPr>
          <a:xfrm>
            <a:off x="502920" y="1353312"/>
            <a:ext cx="11109960" cy="9144"/>
          </a:xfrm>
          <a:prstGeom prst="rect">
            <a:avLst/>
          </a:prstGeom>
          <a:solidFill>
            <a:srgbClr val="D8DE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1457432" y="6473952"/>
            <a:ext cx="347472" cy="164592"/>
          </a:xfrm>
          <a:prstGeom prst="rect">
            <a:avLst/>
          </a:prstGeom>
          <a:noFill/>
        </p:spPr>
        <p:txBody>
          <a:bodyPr wrap="square" lIns="0" tIns="0" rIns="0" bIns="0" anchor="t">
            <a:spAutoFit/>
          </a:bodyPr>
          <a:lstStyle/>
          <a:p>
            <a:pPr algn="r">
              <a:lnSpc>
                <a:spcPct val="112000"/>
              </a:lnSpc>
              <a:spcAft>
                <a:spcPts val="0"/>
              </a:spcAft>
            </a:pPr>
            <a:r>
              <a:rPr sz="1050" b="0" i="0">
                <a:solidFill>
                  <a:srgbClr val="8C98AA"/>
                </a:solidFill>
                <a:latin typeface="微软雅黑"/>
              </a:rPr>
              <a:t>109</a:t>
            </a:r>
          </a:p>
        </p:txBody>
      </p:sp>
      <p:sp>
        <p:nvSpPr>
          <p:cNvPr id="9" name="Rounded Rectangle 8"/>
          <p:cNvSpPr/>
          <p:nvPr/>
        </p:nvSpPr>
        <p:spPr>
          <a:xfrm>
            <a:off x="868680" y="1783080"/>
            <a:ext cx="3063240" cy="2926080"/>
          </a:xfrm>
          <a:prstGeom prst="roundRect">
            <a:avLst>
              <a:gd name="adj" fmla="val 2952"/>
            </a:avLst>
          </a:prstGeom>
          <a:solidFill>
            <a:srgbClr val="FFFFFF"/>
          </a:solidFill>
          <a:ln w="10160">
            <a:solidFill>
              <a:srgbClr val="E0E5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868680" y="1783080"/>
            <a:ext cx="64008" cy="2926080"/>
          </a:xfrm>
          <a:prstGeom prst="rect">
            <a:avLst/>
          </a:prstGeom>
          <a:solidFill>
            <a:srgbClr val="3159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1078992" y="1929384"/>
            <a:ext cx="2679192" cy="347472"/>
          </a:xfrm>
          <a:prstGeom prst="rect">
            <a:avLst/>
          </a:prstGeom>
          <a:noFill/>
        </p:spPr>
        <p:txBody>
          <a:bodyPr wrap="square" lIns="0" tIns="0" rIns="0" bIns="0" anchor="t">
            <a:spAutoFit/>
          </a:bodyPr>
          <a:lstStyle/>
          <a:p>
            <a:pPr algn="l">
              <a:lnSpc>
                <a:spcPct val="112000"/>
              </a:lnSpc>
              <a:spcAft>
                <a:spcPts val="0"/>
              </a:spcAft>
            </a:pPr>
            <a:r>
              <a:rPr sz="2200" b="1" i="0">
                <a:solidFill>
                  <a:srgbClr val="31599B"/>
                </a:solidFill>
                <a:latin typeface="微软雅黑"/>
              </a:rPr>
              <a:t>真实成功率</a:t>
            </a:r>
          </a:p>
        </p:txBody>
      </p:sp>
      <p:sp>
        <p:nvSpPr>
          <p:cNvPr id="12" name="TextBox 11"/>
          <p:cNvSpPr txBox="1"/>
          <p:nvPr/>
        </p:nvSpPr>
        <p:spPr>
          <a:xfrm>
            <a:off x="1078992" y="2468880"/>
            <a:ext cx="2679192" cy="2084832"/>
          </a:xfrm>
          <a:prstGeom prst="rect">
            <a:avLst/>
          </a:prstGeom>
          <a:noFill/>
        </p:spPr>
        <p:txBody>
          <a:bodyPr wrap="square" lIns="0" tIns="0" rIns="0" bIns="0" anchor="t">
            <a:spAutoFit/>
          </a:bodyPr>
          <a:lstStyle/>
          <a:p>
            <a:pPr algn="l">
              <a:lnSpc>
                <a:spcPct val="112000"/>
              </a:lnSpc>
              <a:spcAft>
                <a:spcPts val="0"/>
              </a:spcAft>
            </a:pPr>
            <a:r>
              <a:rPr sz="1850" b="0" i="0">
                <a:solidFill>
                  <a:srgbClr val="222833"/>
                </a:solidFill>
                <a:latin typeface="微软雅黑"/>
              </a:rPr>
              <a:t>78%～85%</a:t>
            </a:r>
          </a:p>
          <a:p>
            <a:pPr algn="l">
              <a:lnSpc>
                <a:spcPct val="112000"/>
              </a:lnSpc>
              <a:spcAft>
                <a:spcPts val="0"/>
              </a:spcAft>
            </a:pPr>
            <a:r>
              <a:rPr sz="1850" b="0" i="0">
                <a:solidFill>
                  <a:srgbClr val="222833"/>
                </a:solidFill>
                <a:latin typeface="微软雅黑"/>
              </a:rPr>
              <a:t>教材给出的现实部署成功率区间。</a:t>
            </a:r>
          </a:p>
        </p:txBody>
      </p:sp>
      <p:sp>
        <p:nvSpPr>
          <p:cNvPr id="13" name="Rounded Rectangle 12"/>
          <p:cNvSpPr/>
          <p:nvPr/>
        </p:nvSpPr>
        <p:spPr>
          <a:xfrm>
            <a:off x="4462272" y="1783080"/>
            <a:ext cx="3063240" cy="2926080"/>
          </a:xfrm>
          <a:prstGeom prst="roundRect">
            <a:avLst>
              <a:gd name="adj" fmla="val 4167"/>
            </a:avLst>
          </a:prstGeom>
          <a:solidFill>
            <a:srgbClr val="FFFFFF"/>
          </a:solidFill>
          <a:ln w="10160">
            <a:solidFill>
              <a:srgbClr val="E0E5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4462272" y="1783080"/>
            <a:ext cx="64008" cy="2926080"/>
          </a:xfrm>
          <a:prstGeom prst="rect">
            <a:avLst/>
          </a:prstGeom>
          <a:solidFill>
            <a:srgbClr val="2F8E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4672584" y="1929384"/>
            <a:ext cx="2679192" cy="347472"/>
          </a:xfrm>
          <a:prstGeom prst="rect">
            <a:avLst/>
          </a:prstGeom>
          <a:noFill/>
        </p:spPr>
        <p:txBody>
          <a:bodyPr wrap="square" lIns="0" tIns="0" rIns="0" bIns="0" anchor="t">
            <a:spAutoFit/>
          </a:bodyPr>
          <a:lstStyle/>
          <a:p>
            <a:pPr algn="l">
              <a:lnSpc>
                <a:spcPct val="112000"/>
              </a:lnSpc>
              <a:spcAft>
                <a:spcPts val="0"/>
              </a:spcAft>
            </a:pPr>
            <a:r>
              <a:rPr sz="2100" b="1" i="0">
                <a:solidFill>
                  <a:srgbClr val="2F8E72"/>
                </a:solidFill>
                <a:latin typeface="微软雅黑"/>
              </a:rPr>
              <a:t>成功率差异</a:t>
            </a:r>
          </a:p>
        </p:txBody>
      </p:sp>
      <p:sp>
        <p:nvSpPr>
          <p:cNvPr id="16" name="TextBox 15"/>
          <p:cNvSpPr txBox="1"/>
          <p:nvPr/>
        </p:nvSpPr>
        <p:spPr>
          <a:xfrm>
            <a:off x="4672584" y="2468880"/>
            <a:ext cx="2679192" cy="2084832"/>
          </a:xfrm>
          <a:prstGeom prst="rect">
            <a:avLst/>
          </a:prstGeom>
          <a:noFill/>
        </p:spPr>
        <p:txBody>
          <a:bodyPr wrap="square" lIns="0" tIns="0" rIns="0" bIns="0" anchor="t">
            <a:spAutoFit/>
          </a:bodyPr>
          <a:lstStyle/>
          <a:p>
            <a:pPr algn="l">
              <a:lnSpc>
                <a:spcPct val="112000"/>
              </a:lnSpc>
              <a:spcAft>
                <a:spcPts val="0"/>
              </a:spcAft>
            </a:pPr>
            <a:r>
              <a:rPr sz="1850" b="0" i="0">
                <a:solidFill>
                  <a:srgbClr val="222833"/>
                </a:solidFill>
                <a:latin typeface="微软雅黑"/>
              </a:rPr>
              <a:t>ΔSR ≈ 10%～14%</a:t>
            </a:r>
          </a:p>
          <a:p>
            <a:pPr algn="l">
              <a:lnSpc>
                <a:spcPct val="112000"/>
              </a:lnSpc>
              <a:spcAft>
                <a:spcPts val="0"/>
              </a:spcAft>
            </a:pPr>
            <a:r>
              <a:rPr sz="1850" b="0" i="0">
                <a:solidFill>
                  <a:srgbClr val="222833"/>
                </a:solidFill>
                <a:latin typeface="微软雅黑"/>
              </a:rPr>
              <a:t>仿真与现实仍存在可观测差距。</a:t>
            </a:r>
          </a:p>
        </p:txBody>
      </p:sp>
      <p:sp>
        <p:nvSpPr>
          <p:cNvPr id="17" name="Rounded Rectangle 16"/>
          <p:cNvSpPr/>
          <p:nvPr/>
        </p:nvSpPr>
        <p:spPr>
          <a:xfrm>
            <a:off x="8055864" y="1783080"/>
            <a:ext cx="3063240" cy="2926080"/>
          </a:xfrm>
          <a:prstGeom prst="roundRect">
            <a:avLst>
              <a:gd name="adj" fmla="val 3820"/>
            </a:avLst>
          </a:prstGeom>
          <a:solidFill>
            <a:srgbClr val="FFFFFF"/>
          </a:solidFill>
          <a:ln w="10160">
            <a:solidFill>
              <a:srgbClr val="E0E5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8055864" y="1783080"/>
            <a:ext cx="64008" cy="2926080"/>
          </a:xfrm>
          <a:prstGeom prst="rect">
            <a:avLst/>
          </a:prstGeom>
          <a:solidFill>
            <a:srgbClr val="C58A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8266176" y="1929384"/>
            <a:ext cx="2679192" cy="347472"/>
          </a:xfrm>
          <a:prstGeom prst="rect">
            <a:avLst/>
          </a:prstGeom>
          <a:noFill/>
        </p:spPr>
        <p:txBody>
          <a:bodyPr wrap="square" lIns="0" tIns="0" rIns="0" bIns="0" anchor="t">
            <a:spAutoFit/>
          </a:bodyPr>
          <a:lstStyle/>
          <a:p>
            <a:pPr algn="l">
              <a:lnSpc>
                <a:spcPct val="112000"/>
              </a:lnSpc>
              <a:spcAft>
                <a:spcPts val="0"/>
              </a:spcAft>
            </a:pPr>
            <a:r>
              <a:rPr sz="2100" b="1" i="0">
                <a:solidFill>
                  <a:srgbClr val="C58A24"/>
                </a:solidFill>
                <a:latin typeface="微软雅黑"/>
              </a:rPr>
              <a:t>一致性指标</a:t>
            </a:r>
          </a:p>
        </p:txBody>
      </p:sp>
      <p:sp>
        <p:nvSpPr>
          <p:cNvPr id="20" name="TextBox 19"/>
          <p:cNvSpPr txBox="1"/>
          <p:nvPr/>
        </p:nvSpPr>
        <p:spPr>
          <a:xfrm>
            <a:off x="8266176" y="2468880"/>
            <a:ext cx="2679192" cy="2084832"/>
          </a:xfrm>
          <a:prstGeom prst="rect">
            <a:avLst/>
          </a:prstGeom>
          <a:noFill/>
        </p:spPr>
        <p:txBody>
          <a:bodyPr wrap="square" lIns="0" tIns="0" rIns="0" bIns="0" anchor="t">
            <a:spAutoFit/>
          </a:bodyPr>
          <a:lstStyle/>
          <a:p>
            <a:pPr algn="l">
              <a:lnSpc>
                <a:spcPct val="112000"/>
              </a:lnSpc>
              <a:spcAft>
                <a:spcPts val="0"/>
              </a:spcAft>
            </a:pPr>
            <a:r>
              <a:rPr sz="1750" b="0" i="0">
                <a:solidFill>
                  <a:srgbClr val="222833"/>
                </a:solidFill>
                <a:latin typeface="微软雅黑"/>
              </a:rPr>
              <a:t>MMRV &lt; 0.06</a:t>
            </a:r>
          </a:p>
          <a:p>
            <a:pPr algn="l">
              <a:lnSpc>
                <a:spcPct val="112000"/>
              </a:lnSpc>
              <a:spcAft>
                <a:spcPts val="0"/>
              </a:spcAft>
            </a:pPr>
            <a:r>
              <a:rPr sz="1750" b="0" i="0">
                <a:solidFill>
                  <a:srgbClr val="222833"/>
                </a:solidFill>
                <a:latin typeface="微软雅黑"/>
              </a:rPr>
              <a:t>r &gt; 0.9</a:t>
            </a:r>
          </a:p>
          <a:p>
            <a:pPr algn="l">
              <a:lnSpc>
                <a:spcPct val="112000"/>
              </a:lnSpc>
              <a:spcAft>
                <a:spcPts val="0"/>
              </a:spcAft>
            </a:pPr>
            <a:r>
              <a:rPr sz="1750" b="0" i="0">
                <a:solidFill>
                  <a:srgbClr val="222833"/>
                </a:solidFill>
                <a:latin typeface="微软雅黑"/>
              </a:rPr>
              <a:t>说明仿真对策略质量的预测较可靠。</a:t>
            </a:r>
          </a:p>
        </p:txBody>
      </p:sp>
      <p:sp>
        <p:nvSpPr>
          <p:cNvPr id="21" name="TextBox 20"/>
          <p:cNvSpPr txBox="1"/>
          <p:nvPr/>
        </p:nvSpPr>
        <p:spPr>
          <a:xfrm>
            <a:off x="640080" y="5277481"/>
            <a:ext cx="10972800" cy="335541"/>
          </a:xfrm>
          <a:prstGeom prst="rect">
            <a:avLst/>
          </a:prstGeom>
          <a:noFill/>
        </p:spPr>
        <p:txBody>
          <a:bodyPr wrap="square" lIns="0" tIns="0" rIns="0" bIns="0" anchor="ctr">
            <a:spAutoFit/>
          </a:bodyPr>
          <a:lstStyle/>
          <a:p>
            <a:pPr algn="ctr">
              <a:lnSpc>
                <a:spcPct val="112000"/>
              </a:lnSpc>
              <a:spcAft>
                <a:spcPts val="0"/>
              </a:spcAft>
            </a:pPr>
            <a:r>
              <a:rPr sz="2100" b="1" i="0" dirty="0" err="1">
                <a:solidFill>
                  <a:srgbClr val="24477D"/>
                </a:solidFill>
                <a:latin typeface="微软雅黑"/>
              </a:rPr>
              <a:t>结论：域随机化显著优于无</a:t>
            </a:r>
            <a:r>
              <a:rPr sz="2100" b="1" i="0" dirty="0">
                <a:solidFill>
                  <a:srgbClr val="24477D"/>
                </a:solidFill>
                <a:latin typeface="微软雅黑"/>
              </a:rPr>
              <a:t> DR </a:t>
            </a:r>
            <a:r>
              <a:rPr sz="2100" b="1" i="0" dirty="0" err="1">
                <a:solidFill>
                  <a:srgbClr val="24477D"/>
                </a:solidFill>
                <a:latin typeface="微软雅黑"/>
              </a:rPr>
              <a:t>基线</a:t>
            </a:r>
            <a:r>
              <a:rPr sz="2100" b="1" i="0" dirty="0">
                <a:solidFill>
                  <a:srgbClr val="24477D"/>
                </a:solidFill>
                <a:latin typeface="微软雅黑"/>
              </a:rPr>
              <a:t>。</a:t>
            </a:r>
          </a:p>
        </p:txBody>
      </p:sp>
    </p:spTree>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18872" cy="6858000"/>
          </a:xfrm>
          <a:prstGeom prst="rect">
            <a:avLst/>
          </a:prstGeom>
          <a:solidFill>
            <a:srgbClr val="3159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微软雅黑" panose="020B0503020204020204" pitchFamily="34" charset="-122"/>
              <a:ea typeface="微软雅黑" panose="020B0503020204020204" pitchFamily="34" charset="-122"/>
            </a:endParaRPr>
          </a:p>
        </p:txBody>
      </p:sp>
      <p:sp>
        <p:nvSpPr>
          <p:cNvPr id="3" name="Rectangle 2"/>
          <p:cNvSpPr/>
          <p:nvPr/>
        </p:nvSpPr>
        <p:spPr>
          <a:xfrm>
            <a:off x="118872" y="0"/>
            <a:ext cx="41148" cy="6858000"/>
          </a:xfrm>
          <a:prstGeom prst="rect">
            <a:avLst/>
          </a:prstGeom>
          <a:solidFill>
            <a:srgbClr val="B7C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微软雅黑" panose="020B0503020204020204" pitchFamily="34" charset="-122"/>
              <a:ea typeface="微软雅黑" panose="020B0503020204020204" pitchFamily="34" charset="-122"/>
            </a:endParaRPr>
          </a:p>
        </p:txBody>
      </p:sp>
      <p:sp>
        <p:nvSpPr>
          <p:cNvPr id="4" name="TextBox 3"/>
          <p:cNvSpPr txBox="1"/>
          <p:nvPr/>
        </p:nvSpPr>
        <p:spPr>
          <a:xfrm>
            <a:off x="438912" y="137160"/>
            <a:ext cx="3474720" cy="167803"/>
          </a:xfrm>
          <a:prstGeom prst="rect">
            <a:avLst/>
          </a:prstGeom>
          <a:noFill/>
        </p:spPr>
        <p:txBody>
          <a:bodyPr wrap="square" lIns="0" tIns="0" rIns="0" bIns="0" anchor="t">
            <a:spAutoFit/>
          </a:bodyPr>
          <a:lstStyle/>
          <a:p>
            <a:pPr algn="l">
              <a:lnSpc>
                <a:spcPct val="112000"/>
              </a:lnSpc>
              <a:spcAft>
                <a:spcPts val="0"/>
              </a:spcAft>
            </a:pPr>
            <a:r>
              <a:rPr sz="1050" b="0" i="0">
                <a:solidFill>
                  <a:srgbClr val="8C98AA"/>
                </a:solidFill>
                <a:latin typeface="微软雅黑" panose="020B0503020204020204" pitchFamily="34" charset="-122"/>
                <a:ea typeface="微软雅黑" panose="020B0503020204020204" pitchFamily="34" charset="-122"/>
              </a:rPr>
              <a:t>具身智能导论 · 第 9 章</a:t>
            </a:r>
          </a:p>
        </p:txBody>
      </p:sp>
      <p:sp>
        <p:nvSpPr>
          <p:cNvPr id="5" name="TextBox 4"/>
          <p:cNvSpPr txBox="1"/>
          <p:nvPr/>
        </p:nvSpPr>
        <p:spPr>
          <a:xfrm>
            <a:off x="9144000" y="137160"/>
            <a:ext cx="2423160" cy="167803"/>
          </a:xfrm>
          <a:prstGeom prst="rect">
            <a:avLst/>
          </a:prstGeom>
          <a:noFill/>
        </p:spPr>
        <p:txBody>
          <a:bodyPr wrap="square" lIns="0" tIns="0" rIns="0" bIns="0" anchor="t">
            <a:spAutoFit/>
          </a:bodyPr>
          <a:lstStyle/>
          <a:p>
            <a:pPr algn="r">
              <a:lnSpc>
                <a:spcPct val="112000"/>
              </a:lnSpc>
              <a:spcAft>
                <a:spcPts val="0"/>
              </a:spcAft>
            </a:pPr>
            <a:r>
              <a:rPr sz="1050" b="0" i="0">
                <a:solidFill>
                  <a:srgbClr val="8C98AA"/>
                </a:solidFill>
                <a:latin typeface="微软雅黑" panose="020B0503020204020204" pitchFamily="34" charset="-122"/>
                <a:ea typeface="微软雅黑" panose="020B0503020204020204" pitchFamily="34" charset="-122"/>
              </a:rPr>
              <a:t>虚实迁移技术</a:t>
            </a:r>
          </a:p>
        </p:txBody>
      </p:sp>
      <p:sp>
        <p:nvSpPr>
          <p:cNvPr id="6" name="TextBox 5"/>
          <p:cNvSpPr txBox="1"/>
          <p:nvPr/>
        </p:nvSpPr>
        <p:spPr>
          <a:xfrm>
            <a:off x="502920" y="457200"/>
            <a:ext cx="10927080" cy="559256"/>
          </a:xfrm>
          <a:prstGeom prst="rect">
            <a:avLst/>
          </a:prstGeom>
          <a:noFill/>
        </p:spPr>
        <p:txBody>
          <a:bodyPr wrap="square" lIns="0" tIns="0" rIns="0" bIns="0" anchor="t">
            <a:spAutoFit/>
          </a:bodyPr>
          <a:lstStyle/>
          <a:p>
            <a:pPr algn="l">
              <a:lnSpc>
                <a:spcPct val="112000"/>
              </a:lnSpc>
              <a:spcAft>
                <a:spcPts val="0"/>
              </a:spcAft>
            </a:pPr>
            <a:r>
              <a:rPr lang="zh-CN" altLang="en-US" sz="3500" b="1" dirty="0">
                <a:solidFill>
                  <a:srgbClr val="24477D"/>
                </a:solidFill>
                <a:latin typeface="微软雅黑" panose="020B0503020204020204" pitchFamily="34" charset="-122"/>
                <a:ea typeface="微软雅黑" panose="020B0503020204020204" pitchFamily="34" charset="-122"/>
              </a:rPr>
              <a:t>示例结果</a:t>
            </a:r>
            <a:r>
              <a:rPr sz="3500" b="1" i="0" dirty="0" err="1">
                <a:solidFill>
                  <a:srgbClr val="24477D"/>
                </a:solidFill>
                <a:latin typeface="微软雅黑" panose="020B0503020204020204" pitchFamily="34" charset="-122"/>
                <a:ea typeface="微软雅黑" panose="020B0503020204020204" pitchFamily="34" charset="-122"/>
              </a:rPr>
              <a:t>分析</a:t>
            </a:r>
            <a:endParaRPr sz="3500" b="1" i="0" dirty="0">
              <a:solidFill>
                <a:srgbClr val="24477D"/>
              </a:solidFill>
              <a:latin typeface="微软雅黑" panose="020B0503020204020204" pitchFamily="34" charset="-122"/>
              <a:ea typeface="微软雅黑" panose="020B0503020204020204" pitchFamily="34" charset="-122"/>
            </a:endParaRPr>
          </a:p>
        </p:txBody>
      </p:sp>
      <p:sp>
        <p:nvSpPr>
          <p:cNvPr id="7" name="Rectangle 6"/>
          <p:cNvSpPr/>
          <p:nvPr/>
        </p:nvSpPr>
        <p:spPr>
          <a:xfrm>
            <a:off x="502920" y="1353312"/>
            <a:ext cx="11109960" cy="9144"/>
          </a:xfrm>
          <a:prstGeom prst="rect">
            <a:avLst/>
          </a:prstGeom>
          <a:solidFill>
            <a:srgbClr val="D8DE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微软雅黑" panose="020B0503020204020204" pitchFamily="34" charset="-122"/>
              <a:ea typeface="微软雅黑" panose="020B0503020204020204" pitchFamily="34" charset="-122"/>
            </a:endParaRPr>
          </a:p>
        </p:txBody>
      </p:sp>
      <p:sp>
        <p:nvSpPr>
          <p:cNvPr id="8" name="TextBox 7"/>
          <p:cNvSpPr txBox="1"/>
          <p:nvPr/>
        </p:nvSpPr>
        <p:spPr>
          <a:xfrm>
            <a:off x="11457432" y="6473952"/>
            <a:ext cx="347472" cy="167803"/>
          </a:xfrm>
          <a:prstGeom prst="rect">
            <a:avLst/>
          </a:prstGeom>
          <a:noFill/>
        </p:spPr>
        <p:txBody>
          <a:bodyPr wrap="square" lIns="0" tIns="0" rIns="0" bIns="0" anchor="t">
            <a:spAutoFit/>
          </a:bodyPr>
          <a:lstStyle/>
          <a:p>
            <a:pPr algn="r">
              <a:lnSpc>
                <a:spcPct val="112000"/>
              </a:lnSpc>
              <a:spcAft>
                <a:spcPts val="0"/>
              </a:spcAft>
            </a:pPr>
            <a:r>
              <a:rPr sz="1050" b="0" i="0">
                <a:solidFill>
                  <a:srgbClr val="8C98AA"/>
                </a:solidFill>
                <a:latin typeface="微软雅黑" panose="020B0503020204020204" pitchFamily="34" charset="-122"/>
                <a:ea typeface="微软雅黑" panose="020B0503020204020204" pitchFamily="34" charset="-122"/>
              </a:rPr>
              <a:t>110</a:t>
            </a:r>
          </a:p>
        </p:txBody>
      </p:sp>
      <p:sp>
        <p:nvSpPr>
          <p:cNvPr id="9" name="Rounded Rectangle 8"/>
          <p:cNvSpPr/>
          <p:nvPr/>
        </p:nvSpPr>
        <p:spPr>
          <a:xfrm>
            <a:off x="822960" y="1783080"/>
            <a:ext cx="5074920" cy="3337560"/>
          </a:xfrm>
          <a:prstGeom prst="roundRect">
            <a:avLst>
              <a:gd name="adj" fmla="val 1142"/>
            </a:avLst>
          </a:prstGeom>
          <a:solidFill>
            <a:srgbClr val="FFFFFF"/>
          </a:solidFill>
          <a:ln w="10160">
            <a:solidFill>
              <a:srgbClr val="E0E5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微软雅黑" panose="020B0503020204020204" pitchFamily="34" charset="-122"/>
              <a:ea typeface="微软雅黑" panose="020B0503020204020204" pitchFamily="34" charset="-122"/>
            </a:endParaRPr>
          </a:p>
        </p:txBody>
      </p:sp>
      <p:sp>
        <p:nvSpPr>
          <p:cNvPr id="10" name="Rectangle 9"/>
          <p:cNvSpPr/>
          <p:nvPr/>
        </p:nvSpPr>
        <p:spPr>
          <a:xfrm>
            <a:off x="822960" y="1783080"/>
            <a:ext cx="64008" cy="3337560"/>
          </a:xfrm>
          <a:prstGeom prst="rect">
            <a:avLst/>
          </a:prstGeom>
          <a:solidFill>
            <a:srgbClr val="3159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微软雅黑" panose="020B0503020204020204" pitchFamily="34" charset="-122"/>
              <a:ea typeface="微软雅黑" panose="020B0503020204020204" pitchFamily="34" charset="-122"/>
            </a:endParaRPr>
          </a:p>
        </p:txBody>
      </p:sp>
      <p:sp>
        <p:nvSpPr>
          <p:cNvPr id="11" name="TextBox 10"/>
          <p:cNvSpPr txBox="1"/>
          <p:nvPr/>
        </p:nvSpPr>
        <p:spPr>
          <a:xfrm>
            <a:off x="1033272" y="1929384"/>
            <a:ext cx="4690872" cy="319575"/>
          </a:xfrm>
          <a:prstGeom prst="rect">
            <a:avLst/>
          </a:prstGeom>
          <a:noFill/>
        </p:spPr>
        <p:txBody>
          <a:bodyPr wrap="square" lIns="0" tIns="0" rIns="0" bIns="0" anchor="t">
            <a:spAutoFit/>
          </a:bodyPr>
          <a:lstStyle/>
          <a:p>
            <a:pPr algn="l">
              <a:lnSpc>
                <a:spcPct val="112000"/>
              </a:lnSpc>
              <a:spcAft>
                <a:spcPts val="0"/>
              </a:spcAft>
            </a:pPr>
            <a:r>
              <a:rPr sz="2000" b="1" i="0">
                <a:solidFill>
                  <a:srgbClr val="31599B"/>
                </a:solidFill>
                <a:latin typeface="微软雅黑" panose="020B0503020204020204" pitchFamily="34" charset="-122"/>
                <a:ea typeface="微软雅黑" panose="020B0503020204020204" pitchFamily="34" charset="-122"/>
              </a:rPr>
              <a:t>验证到的有效因素</a:t>
            </a:r>
          </a:p>
        </p:txBody>
      </p:sp>
      <p:sp>
        <p:nvSpPr>
          <p:cNvPr id="12" name="TextBox 11"/>
          <p:cNvSpPr txBox="1"/>
          <p:nvPr/>
        </p:nvSpPr>
        <p:spPr>
          <a:xfrm>
            <a:off x="1033272" y="2468880"/>
            <a:ext cx="4690872" cy="614464"/>
          </a:xfrm>
          <a:prstGeom prst="rect">
            <a:avLst/>
          </a:prstGeom>
          <a:noFill/>
        </p:spPr>
        <p:txBody>
          <a:bodyPr wrap="square" lIns="0" tIns="0" rIns="0" bIns="0" anchor="t">
            <a:spAutoFit/>
          </a:bodyPr>
          <a:lstStyle/>
          <a:p>
            <a:pPr algn="l">
              <a:lnSpc>
                <a:spcPct val="112000"/>
              </a:lnSpc>
              <a:spcAft>
                <a:spcPts val="0"/>
              </a:spcAft>
            </a:pPr>
            <a:r>
              <a:rPr sz="1850" b="0" i="0">
                <a:solidFill>
                  <a:srgbClr val="222833"/>
                </a:solidFill>
                <a:latin typeface="微软雅黑" panose="020B0503020204020204" pitchFamily="34" charset="-122"/>
                <a:ea typeface="微软雅黑" panose="020B0503020204020204" pitchFamily="34" charset="-122"/>
              </a:rPr>
              <a:t>域随机化能够同时缓解视觉与物理域差距，其中光照和相机位姿随机化贡献最大。</a:t>
            </a:r>
          </a:p>
        </p:txBody>
      </p:sp>
      <p:sp>
        <p:nvSpPr>
          <p:cNvPr id="13" name="Rounded Rectangle 12"/>
          <p:cNvSpPr/>
          <p:nvPr/>
        </p:nvSpPr>
        <p:spPr>
          <a:xfrm>
            <a:off x="6291072" y="1783080"/>
            <a:ext cx="5074920" cy="3337560"/>
          </a:xfrm>
          <a:prstGeom prst="roundRect">
            <a:avLst/>
          </a:prstGeom>
          <a:solidFill>
            <a:srgbClr val="FFFFFF"/>
          </a:solidFill>
          <a:ln w="10160">
            <a:solidFill>
              <a:srgbClr val="E0E5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微软雅黑" panose="020B0503020204020204" pitchFamily="34" charset="-122"/>
              <a:ea typeface="微软雅黑" panose="020B0503020204020204" pitchFamily="34" charset="-122"/>
            </a:endParaRPr>
          </a:p>
        </p:txBody>
      </p:sp>
      <p:sp>
        <p:nvSpPr>
          <p:cNvPr id="14" name="Rectangle 13"/>
          <p:cNvSpPr/>
          <p:nvPr/>
        </p:nvSpPr>
        <p:spPr>
          <a:xfrm>
            <a:off x="6291072" y="1783080"/>
            <a:ext cx="64008" cy="3337560"/>
          </a:xfrm>
          <a:prstGeom prst="rect">
            <a:avLst/>
          </a:prstGeom>
          <a:solidFill>
            <a:srgbClr val="C63F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微软雅黑" panose="020B0503020204020204" pitchFamily="34" charset="-122"/>
              <a:ea typeface="微软雅黑" panose="020B0503020204020204" pitchFamily="34" charset="-122"/>
            </a:endParaRPr>
          </a:p>
        </p:txBody>
      </p:sp>
      <p:sp>
        <p:nvSpPr>
          <p:cNvPr id="15" name="TextBox 14"/>
          <p:cNvSpPr txBox="1"/>
          <p:nvPr/>
        </p:nvSpPr>
        <p:spPr>
          <a:xfrm>
            <a:off x="6501384" y="1929384"/>
            <a:ext cx="4690872" cy="319575"/>
          </a:xfrm>
          <a:prstGeom prst="rect">
            <a:avLst/>
          </a:prstGeom>
          <a:noFill/>
        </p:spPr>
        <p:txBody>
          <a:bodyPr wrap="square" lIns="0" tIns="0" rIns="0" bIns="0" anchor="t">
            <a:spAutoFit/>
          </a:bodyPr>
          <a:lstStyle/>
          <a:p>
            <a:pPr algn="l">
              <a:lnSpc>
                <a:spcPct val="112000"/>
              </a:lnSpc>
              <a:spcAft>
                <a:spcPts val="0"/>
              </a:spcAft>
            </a:pPr>
            <a:r>
              <a:rPr sz="2000" b="1" i="0">
                <a:solidFill>
                  <a:srgbClr val="C63F45"/>
                </a:solidFill>
                <a:latin typeface="微软雅黑" panose="020B0503020204020204" pitchFamily="34" charset="-122"/>
                <a:ea typeface="微软雅黑" panose="020B0503020204020204" pitchFamily="34" charset="-122"/>
              </a:rPr>
              <a:t>仍然存在的局限</a:t>
            </a:r>
          </a:p>
        </p:txBody>
      </p:sp>
      <p:sp>
        <p:nvSpPr>
          <p:cNvPr id="16" name="TextBox 15"/>
          <p:cNvSpPr txBox="1"/>
          <p:nvPr/>
        </p:nvSpPr>
        <p:spPr>
          <a:xfrm>
            <a:off x="6501384" y="2468880"/>
            <a:ext cx="4690872" cy="933332"/>
          </a:xfrm>
          <a:prstGeom prst="rect">
            <a:avLst/>
          </a:prstGeom>
          <a:noFill/>
        </p:spPr>
        <p:txBody>
          <a:bodyPr wrap="square" lIns="0" tIns="0" rIns="0" bIns="0" anchor="t">
            <a:spAutoFit/>
          </a:bodyPr>
          <a:lstStyle/>
          <a:p>
            <a:pPr algn="l">
              <a:lnSpc>
                <a:spcPct val="112000"/>
              </a:lnSpc>
              <a:spcAft>
                <a:spcPts val="0"/>
              </a:spcAft>
            </a:pPr>
            <a:r>
              <a:rPr sz="1850" b="0" i="0">
                <a:solidFill>
                  <a:srgbClr val="222833"/>
                </a:solidFill>
                <a:latin typeface="微软雅黑" panose="020B0503020204020204" pitchFamily="34" charset="-122"/>
                <a:ea typeface="微软雅黑" panose="020B0503020204020204" pitchFamily="34" charset="-122"/>
              </a:rPr>
              <a:t>当引入新物体或剧烈光照变化时，需要 Real2Sim2Real 闭环或少样本微调继续迭代。</a:t>
            </a:r>
          </a:p>
        </p:txBody>
      </p:sp>
      <p:sp>
        <p:nvSpPr>
          <p:cNvPr id="17" name="TextBox 16"/>
          <p:cNvSpPr txBox="1"/>
          <p:nvPr/>
        </p:nvSpPr>
        <p:spPr>
          <a:xfrm>
            <a:off x="640080" y="5468344"/>
            <a:ext cx="10972800" cy="319575"/>
          </a:xfrm>
          <a:prstGeom prst="rect">
            <a:avLst/>
          </a:prstGeom>
          <a:noFill/>
        </p:spPr>
        <p:txBody>
          <a:bodyPr wrap="square" lIns="0" tIns="0" rIns="0" bIns="0" anchor="ctr">
            <a:spAutoFit/>
          </a:bodyPr>
          <a:lstStyle/>
          <a:p>
            <a:pPr algn="ctr">
              <a:lnSpc>
                <a:spcPct val="112000"/>
              </a:lnSpc>
              <a:spcAft>
                <a:spcPts val="0"/>
              </a:spcAft>
            </a:pPr>
            <a:r>
              <a:rPr sz="2000" b="1" i="0">
                <a:solidFill>
                  <a:srgbClr val="24477D"/>
                </a:solidFill>
                <a:latin typeface="微软雅黑" panose="020B0503020204020204" pitchFamily="34" charset="-122"/>
                <a:ea typeface="微软雅黑" panose="020B0503020204020204" pitchFamily="34" charset="-122"/>
              </a:rPr>
              <a:t>可继续扩展到抽屉开关、物体堆叠、分拣等任务。</a:t>
            </a:r>
          </a:p>
        </p:txBody>
      </p:sp>
    </p:spTree>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170432" cy="6858000"/>
          </a:xfrm>
          <a:prstGeom prst="rect">
            <a:avLst/>
          </a:prstGeom>
          <a:solidFill>
            <a:srgbClr val="3159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859536" y="0"/>
            <a:ext cx="219456" cy="6858000"/>
          </a:xfrm>
          <a:prstGeom prst="rect">
            <a:avLst/>
          </a:prstGeom>
          <a:solidFill>
            <a:srgbClr val="B7C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2029968" y="1426464"/>
            <a:ext cx="1737360" cy="987552"/>
          </a:xfrm>
          <a:prstGeom prst="rect">
            <a:avLst/>
          </a:prstGeom>
          <a:noFill/>
        </p:spPr>
        <p:txBody>
          <a:bodyPr wrap="square" lIns="0" tIns="0" rIns="0" bIns="0" anchor="ctr">
            <a:spAutoFit/>
          </a:bodyPr>
          <a:lstStyle/>
          <a:p>
            <a:pPr algn="l">
              <a:lnSpc>
                <a:spcPct val="112000"/>
              </a:lnSpc>
              <a:spcAft>
                <a:spcPts val="0"/>
              </a:spcAft>
            </a:pPr>
            <a:r>
              <a:rPr sz="6200" b="1" i="0">
                <a:solidFill>
                  <a:srgbClr val="31599B"/>
                </a:solidFill>
                <a:latin typeface="微软雅黑"/>
              </a:rPr>
              <a:t>06</a:t>
            </a:r>
          </a:p>
        </p:txBody>
      </p:sp>
      <p:sp>
        <p:nvSpPr>
          <p:cNvPr id="5" name="TextBox 4"/>
          <p:cNvSpPr txBox="1"/>
          <p:nvPr/>
        </p:nvSpPr>
        <p:spPr>
          <a:xfrm>
            <a:off x="3246120" y="1645920"/>
            <a:ext cx="7635240" cy="621792"/>
          </a:xfrm>
          <a:prstGeom prst="rect">
            <a:avLst/>
          </a:prstGeom>
          <a:noFill/>
        </p:spPr>
        <p:txBody>
          <a:bodyPr wrap="square" lIns="0" tIns="0" rIns="0" bIns="0" anchor="ctr">
            <a:spAutoFit/>
          </a:bodyPr>
          <a:lstStyle/>
          <a:p>
            <a:pPr algn="l">
              <a:lnSpc>
                <a:spcPct val="112000"/>
              </a:lnSpc>
              <a:spcAft>
                <a:spcPts val="0"/>
              </a:spcAft>
            </a:pPr>
            <a:r>
              <a:rPr sz="3900" b="1" i="0">
                <a:solidFill>
                  <a:srgbClr val="24477D"/>
                </a:solidFill>
                <a:latin typeface="微软雅黑"/>
              </a:rPr>
              <a:t>小结</a:t>
            </a:r>
          </a:p>
        </p:txBody>
      </p:sp>
      <p:sp>
        <p:nvSpPr>
          <p:cNvPr id="6" name="TextBox 5"/>
          <p:cNvSpPr txBox="1"/>
          <p:nvPr/>
        </p:nvSpPr>
        <p:spPr>
          <a:xfrm>
            <a:off x="8595360" y="292608"/>
            <a:ext cx="2743200" cy="164592"/>
          </a:xfrm>
          <a:prstGeom prst="rect">
            <a:avLst/>
          </a:prstGeom>
          <a:noFill/>
        </p:spPr>
        <p:txBody>
          <a:bodyPr wrap="square" lIns="0" tIns="0" rIns="0" bIns="0" anchor="t">
            <a:spAutoFit/>
          </a:bodyPr>
          <a:lstStyle/>
          <a:p>
            <a:pPr algn="r">
              <a:lnSpc>
                <a:spcPct val="112000"/>
              </a:lnSpc>
              <a:spcAft>
                <a:spcPts val="0"/>
              </a:spcAft>
            </a:pPr>
            <a:r>
              <a:rPr sz="1050" b="0" i="0">
                <a:solidFill>
                  <a:srgbClr val="8C98AA"/>
                </a:solidFill>
                <a:latin typeface="微软雅黑"/>
              </a:rPr>
              <a:t>具身智能导论 · 第9章</a:t>
            </a:r>
          </a:p>
        </p:txBody>
      </p:sp>
    </p:spTree>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18872" cy="6858000"/>
          </a:xfrm>
          <a:prstGeom prst="rect">
            <a:avLst/>
          </a:prstGeom>
          <a:solidFill>
            <a:srgbClr val="3159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微软雅黑" panose="020B0503020204020204" pitchFamily="34" charset="-122"/>
              <a:ea typeface="微软雅黑" panose="020B0503020204020204" pitchFamily="34" charset="-122"/>
            </a:endParaRPr>
          </a:p>
        </p:txBody>
      </p:sp>
      <p:sp>
        <p:nvSpPr>
          <p:cNvPr id="3" name="Rectangle 2"/>
          <p:cNvSpPr/>
          <p:nvPr/>
        </p:nvSpPr>
        <p:spPr>
          <a:xfrm>
            <a:off x="118872" y="0"/>
            <a:ext cx="41148" cy="6858000"/>
          </a:xfrm>
          <a:prstGeom prst="rect">
            <a:avLst/>
          </a:prstGeom>
          <a:solidFill>
            <a:srgbClr val="B7C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微软雅黑" panose="020B0503020204020204" pitchFamily="34" charset="-122"/>
              <a:ea typeface="微软雅黑" panose="020B0503020204020204" pitchFamily="34" charset="-122"/>
            </a:endParaRPr>
          </a:p>
        </p:txBody>
      </p:sp>
      <p:sp>
        <p:nvSpPr>
          <p:cNvPr id="4" name="TextBox 3"/>
          <p:cNvSpPr txBox="1"/>
          <p:nvPr/>
        </p:nvSpPr>
        <p:spPr>
          <a:xfrm>
            <a:off x="438912" y="137160"/>
            <a:ext cx="3474720" cy="167803"/>
          </a:xfrm>
          <a:prstGeom prst="rect">
            <a:avLst/>
          </a:prstGeom>
          <a:noFill/>
        </p:spPr>
        <p:txBody>
          <a:bodyPr wrap="square" lIns="0" tIns="0" rIns="0" bIns="0" anchor="t">
            <a:spAutoFit/>
          </a:bodyPr>
          <a:lstStyle/>
          <a:p>
            <a:pPr algn="l">
              <a:lnSpc>
                <a:spcPct val="112000"/>
              </a:lnSpc>
              <a:spcAft>
                <a:spcPts val="0"/>
              </a:spcAft>
            </a:pPr>
            <a:r>
              <a:rPr sz="1050" b="0" i="0">
                <a:solidFill>
                  <a:srgbClr val="8C98AA"/>
                </a:solidFill>
                <a:latin typeface="微软雅黑" panose="020B0503020204020204" pitchFamily="34" charset="-122"/>
                <a:ea typeface="微软雅黑" panose="020B0503020204020204" pitchFamily="34" charset="-122"/>
              </a:rPr>
              <a:t>具身智能导论 · 第 9 章</a:t>
            </a:r>
          </a:p>
        </p:txBody>
      </p:sp>
      <p:sp>
        <p:nvSpPr>
          <p:cNvPr id="5" name="TextBox 4"/>
          <p:cNvSpPr txBox="1"/>
          <p:nvPr/>
        </p:nvSpPr>
        <p:spPr>
          <a:xfrm>
            <a:off x="9144000" y="137160"/>
            <a:ext cx="2423160" cy="167803"/>
          </a:xfrm>
          <a:prstGeom prst="rect">
            <a:avLst/>
          </a:prstGeom>
          <a:noFill/>
        </p:spPr>
        <p:txBody>
          <a:bodyPr wrap="square" lIns="0" tIns="0" rIns="0" bIns="0" anchor="t">
            <a:spAutoFit/>
          </a:bodyPr>
          <a:lstStyle/>
          <a:p>
            <a:pPr algn="r">
              <a:lnSpc>
                <a:spcPct val="112000"/>
              </a:lnSpc>
              <a:spcAft>
                <a:spcPts val="0"/>
              </a:spcAft>
            </a:pPr>
            <a:r>
              <a:rPr sz="1050" b="0" i="0">
                <a:solidFill>
                  <a:srgbClr val="8C98AA"/>
                </a:solidFill>
                <a:latin typeface="微软雅黑" panose="020B0503020204020204" pitchFamily="34" charset="-122"/>
                <a:ea typeface="微软雅黑" panose="020B0503020204020204" pitchFamily="34" charset="-122"/>
              </a:rPr>
              <a:t>虚实迁移技术</a:t>
            </a:r>
          </a:p>
        </p:txBody>
      </p:sp>
      <p:sp>
        <p:nvSpPr>
          <p:cNvPr id="6" name="TextBox 5"/>
          <p:cNvSpPr txBox="1"/>
          <p:nvPr/>
        </p:nvSpPr>
        <p:spPr>
          <a:xfrm>
            <a:off x="502920" y="457200"/>
            <a:ext cx="10927080" cy="559256"/>
          </a:xfrm>
          <a:prstGeom prst="rect">
            <a:avLst/>
          </a:prstGeom>
          <a:noFill/>
        </p:spPr>
        <p:txBody>
          <a:bodyPr wrap="square" lIns="0" tIns="0" rIns="0" bIns="0" anchor="t">
            <a:spAutoFit/>
          </a:bodyPr>
          <a:lstStyle/>
          <a:p>
            <a:pPr algn="l">
              <a:lnSpc>
                <a:spcPct val="112000"/>
              </a:lnSpc>
              <a:spcAft>
                <a:spcPts val="0"/>
              </a:spcAft>
            </a:pPr>
            <a:r>
              <a:rPr sz="3500" b="1" i="0">
                <a:solidFill>
                  <a:srgbClr val="24477D"/>
                </a:solidFill>
                <a:latin typeface="微软雅黑" panose="020B0503020204020204" pitchFamily="34" charset="-122"/>
                <a:ea typeface="微软雅黑" panose="020B0503020204020204" pitchFamily="34" charset="-122"/>
              </a:rPr>
              <a:t>本章小结</a:t>
            </a:r>
          </a:p>
        </p:txBody>
      </p:sp>
      <p:sp>
        <p:nvSpPr>
          <p:cNvPr id="7" name="Rectangle 6"/>
          <p:cNvSpPr/>
          <p:nvPr/>
        </p:nvSpPr>
        <p:spPr>
          <a:xfrm>
            <a:off x="502920" y="1353312"/>
            <a:ext cx="11109960" cy="9144"/>
          </a:xfrm>
          <a:prstGeom prst="rect">
            <a:avLst/>
          </a:prstGeom>
          <a:solidFill>
            <a:srgbClr val="D8DE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微软雅黑" panose="020B0503020204020204" pitchFamily="34" charset="-122"/>
              <a:ea typeface="微软雅黑" panose="020B0503020204020204" pitchFamily="34" charset="-122"/>
            </a:endParaRPr>
          </a:p>
        </p:txBody>
      </p:sp>
      <p:sp>
        <p:nvSpPr>
          <p:cNvPr id="8" name="TextBox 7"/>
          <p:cNvSpPr txBox="1"/>
          <p:nvPr/>
        </p:nvSpPr>
        <p:spPr>
          <a:xfrm>
            <a:off x="11457432" y="6473952"/>
            <a:ext cx="347472" cy="167803"/>
          </a:xfrm>
          <a:prstGeom prst="rect">
            <a:avLst/>
          </a:prstGeom>
          <a:noFill/>
        </p:spPr>
        <p:txBody>
          <a:bodyPr wrap="square" lIns="0" tIns="0" rIns="0" bIns="0" anchor="t">
            <a:spAutoFit/>
          </a:bodyPr>
          <a:lstStyle/>
          <a:p>
            <a:pPr algn="r">
              <a:lnSpc>
                <a:spcPct val="112000"/>
              </a:lnSpc>
              <a:spcAft>
                <a:spcPts val="0"/>
              </a:spcAft>
            </a:pPr>
            <a:r>
              <a:rPr sz="1050" b="0" i="0">
                <a:solidFill>
                  <a:srgbClr val="8C98AA"/>
                </a:solidFill>
                <a:latin typeface="微软雅黑" panose="020B0503020204020204" pitchFamily="34" charset="-122"/>
                <a:ea typeface="微软雅黑" panose="020B0503020204020204" pitchFamily="34" charset="-122"/>
              </a:rPr>
              <a:t>112</a:t>
            </a:r>
          </a:p>
        </p:txBody>
      </p:sp>
      <p:sp>
        <p:nvSpPr>
          <p:cNvPr id="9" name="Rounded Rectangle 8"/>
          <p:cNvSpPr/>
          <p:nvPr/>
        </p:nvSpPr>
        <p:spPr>
          <a:xfrm>
            <a:off x="594360" y="1645920"/>
            <a:ext cx="2148840" cy="3611880"/>
          </a:xfrm>
          <a:prstGeom prst="roundRect">
            <a:avLst>
              <a:gd name="adj" fmla="val 4847"/>
            </a:avLst>
          </a:prstGeom>
          <a:solidFill>
            <a:srgbClr val="FFFFFF"/>
          </a:solidFill>
          <a:ln w="10160">
            <a:solidFill>
              <a:srgbClr val="E0E5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微软雅黑" panose="020B0503020204020204" pitchFamily="34" charset="-122"/>
              <a:ea typeface="微软雅黑" panose="020B0503020204020204" pitchFamily="34" charset="-122"/>
            </a:endParaRPr>
          </a:p>
        </p:txBody>
      </p:sp>
      <p:sp>
        <p:nvSpPr>
          <p:cNvPr id="10" name="Rectangle 9"/>
          <p:cNvSpPr/>
          <p:nvPr/>
        </p:nvSpPr>
        <p:spPr>
          <a:xfrm>
            <a:off x="594360" y="1645920"/>
            <a:ext cx="64008" cy="3611880"/>
          </a:xfrm>
          <a:prstGeom prst="rect">
            <a:avLst/>
          </a:prstGeom>
          <a:solidFill>
            <a:srgbClr val="3159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微软雅黑" panose="020B0503020204020204" pitchFamily="34" charset="-122"/>
              <a:ea typeface="微软雅黑" panose="020B0503020204020204" pitchFamily="34" charset="-122"/>
            </a:endParaRPr>
          </a:p>
        </p:txBody>
      </p:sp>
      <p:sp>
        <p:nvSpPr>
          <p:cNvPr id="11" name="TextBox 10"/>
          <p:cNvSpPr txBox="1"/>
          <p:nvPr/>
        </p:nvSpPr>
        <p:spPr>
          <a:xfrm>
            <a:off x="804672" y="1792224"/>
            <a:ext cx="1764792" cy="295594"/>
          </a:xfrm>
          <a:prstGeom prst="rect">
            <a:avLst/>
          </a:prstGeom>
          <a:noFill/>
        </p:spPr>
        <p:txBody>
          <a:bodyPr wrap="square" lIns="0" tIns="0" rIns="0" bIns="0" anchor="t">
            <a:spAutoFit/>
          </a:bodyPr>
          <a:lstStyle/>
          <a:p>
            <a:pPr algn="l">
              <a:lnSpc>
                <a:spcPct val="112000"/>
              </a:lnSpc>
              <a:spcAft>
                <a:spcPts val="0"/>
              </a:spcAft>
            </a:pPr>
            <a:r>
              <a:rPr sz="1850" b="1" i="0">
                <a:solidFill>
                  <a:srgbClr val="31599B"/>
                </a:solidFill>
                <a:latin typeface="微软雅黑" panose="020B0503020204020204" pitchFamily="34" charset="-122"/>
                <a:ea typeface="微软雅黑" panose="020B0503020204020204" pitchFamily="34" charset="-122"/>
              </a:rPr>
              <a:t>基本概念</a:t>
            </a:r>
          </a:p>
        </p:txBody>
      </p:sp>
      <p:sp>
        <p:nvSpPr>
          <p:cNvPr id="12" name="TextBox 11"/>
          <p:cNvSpPr txBox="1"/>
          <p:nvPr/>
        </p:nvSpPr>
        <p:spPr>
          <a:xfrm>
            <a:off x="804672" y="2331720"/>
            <a:ext cx="1764792" cy="2387833"/>
          </a:xfrm>
          <a:prstGeom prst="rect">
            <a:avLst/>
          </a:prstGeom>
          <a:noFill/>
        </p:spPr>
        <p:txBody>
          <a:bodyPr wrap="square" lIns="0" tIns="0" rIns="0" bIns="0" anchor="t">
            <a:spAutoFit/>
          </a:bodyPr>
          <a:lstStyle/>
          <a:p>
            <a:pPr algn="l">
              <a:lnSpc>
                <a:spcPct val="112000"/>
              </a:lnSpc>
              <a:spcAft>
                <a:spcPts val="0"/>
              </a:spcAft>
            </a:pPr>
            <a:r>
              <a:rPr sz="2000" b="0" i="0">
                <a:solidFill>
                  <a:srgbClr val="222833"/>
                </a:solidFill>
                <a:latin typeface="微软雅黑" panose="020B0503020204020204" pitchFamily="34" charset="-122"/>
                <a:ea typeface="微软雅黑" panose="020B0503020204020204" pitchFamily="34" charset="-122"/>
              </a:rPr>
              <a:t>虚实迁移以仿真预训练 + 现实验证为核心，关键问题是理解并缩小 MDP 中的域差距。</a:t>
            </a:r>
          </a:p>
        </p:txBody>
      </p:sp>
      <p:sp>
        <p:nvSpPr>
          <p:cNvPr id="13" name="Rounded Rectangle 12"/>
          <p:cNvSpPr/>
          <p:nvPr/>
        </p:nvSpPr>
        <p:spPr>
          <a:xfrm>
            <a:off x="2852928" y="1645920"/>
            <a:ext cx="2148840" cy="3611880"/>
          </a:xfrm>
          <a:prstGeom prst="roundRect">
            <a:avLst>
              <a:gd name="adj" fmla="val 0"/>
            </a:avLst>
          </a:prstGeom>
          <a:solidFill>
            <a:srgbClr val="FFFFFF"/>
          </a:solidFill>
          <a:ln w="10160">
            <a:solidFill>
              <a:srgbClr val="E0E5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微软雅黑" panose="020B0503020204020204" pitchFamily="34" charset="-122"/>
              <a:ea typeface="微软雅黑" panose="020B0503020204020204" pitchFamily="34" charset="-122"/>
            </a:endParaRPr>
          </a:p>
        </p:txBody>
      </p:sp>
      <p:sp>
        <p:nvSpPr>
          <p:cNvPr id="14" name="Rectangle 13"/>
          <p:cNvSpPr/>
          <p:nvPr/>
        </p:nvSpPr>
        <p:spPr>
          <a:xfrm>
            <a:off x="2852928" y="1645920"/>
            <a:ext cx="64008" cy="3611880"/>
          </a:xfrm>
          <a:prstGeom prst="rect">
            <a:avLst/>
          </a:prstGeom>
          <a:solidFill>
            <a:srgbClr val="2F8E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微软雅黑" panose="020B0503020204020204" pitchFamily="34" charset="-122"/>
              <a:ea typeface="微软雅黑" panose="020B0503020204020204" pitchFamily="34" charset="-122"/>
            </a:endParaRPr>
          </a:p>
        </p:txBody>
      </p:sp>
      <p:sp>
        <p:nvSpPr>
          <p:cNvPr id="15" name="TextBox 14"/>
          <p:cNvSpPr txBox="1"/>
          <p:nvPr/>
        </p:nvSpPr>
        <p:spPr>
          <a:xfrm>
            <a:off x="3063240" y="1792224"/>
            <a:ext cx="1764792" cy="295594"/>
          </a:xfrm>
          <a:prstGeom prst="rect">
            <a:avLst/>
          </a:prstGeom>
          <a:noFill/>
        </p:spPr>
        <p:txBody>
          <a:bodyPr wrap="square" lIns="0" tIns="0" rIns="0" bIns="0" anchor="t">
            <a:spAutoFit/>
          </a:bodyPr>
          <a:lstStyle/>
          <a:p>
            <a:pPr algn="l">
              <a:lnSpc>
                <a:spcPct val="112000"/>
              </a:lnSpc>
              <a:spcAft>
                <a:spcPts val="0"/>
              </a:spcAft>
            </a:pPr>
            <a:r>
              <a:rPr sz="1850" b="1" i="0">
                <a:solidFill>
                  <a:srgbClr val="2F8E72"/>
                </a:solidFill>
                <a:latin typeface="微软雅黑" panose="020B0503020204020204" pitchFamily="34" charset="-122"/>
                <a:ea typeface="微软雅黑" panose="020B0503020204020204" pitchFamily="34" charset="-122"/>
              </a:rPr>
              <a:t>关键技术</a:t>
            </a:r>
          </a:p>
        </p:txBody>
      </p:sp>
      <p:sp>
        <p:nvSpPr>
          <p:cNvPr id="16" name="TextBox 15"/>
          <p:cNvSpPr txBox="1"/>
          <p:nvPr/>
        </p:nvSpPr>
        <p:spPr>
          <a:xfrm>
            <a:off x="3063240" y="2331720"/>
            <a:ext cx="1764792" cy="2387833"/>
          </a:xfrm>
          <a:prstGeom prst="rect">
            <a:avLst/>
          </a:prstGeom>
          <a:noFill/>
        </p:spPr>
        <p:txBody>
          <a:bodyPr wrap="square" lIns="0" tIns="0" rIns="0" bIns="0" anchor="t">
            <a:spAutoFit/>
          </a:bodyPr>
          <a:lstStyle/>
          <a:p>
            <a:pPr algn="l">
              <a:lnSpc>
                <a:spcPct val="112000"/>
              </a:lnSpc>
              <a:spcAft>
                <a:spcPts val="0"/>
              </a:spcAft>
            </a:pPr>
            <a:r>
              <a:rPr sz="2000" b="0" i="0">
                <a:solidFill>
                  <a:srgbClr val="222833"/>
                </a:solidFill>
                <a:latin typeface="微软雅黑" panose="020B0503020204020204" pitchFamily="34" charset="-122"/>
                <a:ea typeface="微软雅黑" panose="020B0503020204020204" pitchFamily="34" charset="-122"/>
              </a:rPr>
              <a:t>域随机化、域自适应、系统辨识、元学习、Sim-to-Sim 与残差策略从不同层次解决差距。</a:t>
            </a:r>
          </a:p>
        </p:txBody>
      </p:sp>
      <p:sp>
        <p:nvSpPr>
          <p:cNvPr id="17" name="Rounded Rectangle 16"/>
          <p:cNvSpPr/>
          <p:nvPr/>
        </p:nvSpPr>
        <p:spPr>
          <a:xfrm>
            <a:off x="5111496" y="1645920"/>
            <a:ext cx="2148840" cy="3611880"/>
          </a:xfrm>
          <a:prstGeom prst="roundRect">
            <a:avLst>
              <a:gd name="adj" fmla="val 591"/>
            </a:avLst>
          </a:prstGeom>
          <a:solidFill>
            <a:srgbClr val="FFFFFF"/>
          </a:solidFill>
          <a:ln w="10160">
            <a:solidFill>
              <a:srgbClr val="E0E5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微软雅黑" panose="020B0503020204020204" pitchFamily="34" charset="-122"/>
              <a:ea typeface="微软雅黑" panose="020B0503020204020204" pitchFamily="34" charset="-122"/>
            </a:endParaRPr>
          </a:p>
        </p:txBody>
      </p:sp>
      <p:sp>
        <p:nvSpPr>
          <p:cNvPr id="18" name="Rectangle 17"/>
          <p:cNvSpPr/>
          <p:nvPr/>
        </p:nvSpPr>
        <p:spPr>
          <a:xfrm>
            <a:off x="5111496" y="1645920"/>
            <a:ext cx="64008" cy="3611880"/>
          </a:xfrm>
          <a:prstGeom prst="rect">
            <a:avLst/>
          </a:prstGeom>
          <a:solidFill>
            <a:srgbClr val="C58A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微软雅黑" panose="020B0503020204020204" pitchFamily="34" charset="-122"/>
              <a:ea typeface="微软雅黑" panose="020B0503020204020204" pitchFamily="34" charset="-122"/>
            </a:endParaRPr>
          </a:p>
        </p:txBody>
      </p:sp>
      <p:sp>
        <p:nvSpPr>
          <p:cNvPr id="19" name="TextBox 18"/>
          <p:cNvSpPr txBox="1"/>
          <p:nvPr/>
        </p:nvSpPr>
        <p:spPr>
          <a:xfrm>
            <a:off x="5321808" y="1792224"/>
            <a:ext cx="1764792" cy="295594"/>
          </a:xfrm>
          <a:prstGeom prst="rect">
            <a:avLst/>
          </a:prstGeom>
          <a:noFill/>
        </p:spPr>
        <p:txBody>
          <a:bodyPr wrap="square" lIns="0" tIns="0" rIns="0" bIns="0" anchor="t">
            <a:spAutoFit/>
          </a:bodyPr>
          <a:lstStyle/>
          <a:p>
            <a:pPr algn="l">
              <a:lnSpc>
                <a:spcPct val="112000"/>
              </a:lnSpc>
              <a:spcAft>
                <a:spcPts val="0"/>
              </a:spcAft>
            </a:pPr>
            <a:r>
              <a:rPr sz="1850" b="1" i="0">
                <a:solidFill>
                  <a:srgbClr val="C58A24"/>
                </a:solidFill>
                <a:latin typeface="微软雅黑" panose="020B0503020204020204" pitchFamily="34" charset="-122"/>
                <a:ea typeface="微软雅黑" panose="020B0503020204020204" pitchFamily="34" charset="-122"/>
              </a:rPr>
              <a:t>典型范式</a:t>
            </a:r>
          </a:p>
        </p:txBody>
      </p:sp>
      <p:sp>
        <p:nvSpPr>
          <p:cNvPr id="20" name="TextBox 19"/>
          <p:cNvSpPr txBox="1"/>
          <p:nvPr/>
        </p:nvSpPr>
        <p:spPr>
          <a:xfrm>
            <a:off x="5321808" y="2331720"/>
            <a:ext cx="1764792" cy="2043123"/>
          </a:xfrm>
          <a:prstGeom prst="rect">
            <a:avLst/>
          </a:prstGeom>
          <a:noFill/>
        </p:spPr>
        <p:txBody>
          <a:bodyPr wrap="square" lIns="0" tIns="0" rIns="0" bIns="0" anchor="t">
            <a:spAutoFit/>
          </a:bodyPr>
          <a:lstStyle/>
          <a:p>
            <a:pPr algn="l">
              <a:lnSpc>
                <a:spcPct val="112000"/>
              </a:lnSpc>
              <a:spcAft>
                <a:spcPts val="0"/>
              </a:spcAft>
            </a:pPr>
            <a:r>
              <a:rPr sz="2000" b="0" i="0">
                <a:solidFill>
                  <a:srgbClr val="222833"/>
                </a:solidFill>
                <a:latin typeface="微软雅黑" panose="020B0503020204020204" pitchFamily="34" charset="-122"/>
                <a:ea typeface="微软雅黑" panose="020B0503020204020204" pitchFamily="34" charset="-122"/>
              </a:rPr>
              <a:t>Sim2Real 闭环、零 / 少样本、大模型驱动和端到端迁移组织成不同工程路径。</a:t>
            </a:r>
          </a:p>
        </p:txBody>
      </p:sp>
      <p:sp>
        <p:nvSpPr>
          <p:cNvPr id="21" name="Rounded Rectangle 20"/>
          <p:cNvSpPr/>
          <p:nvPr/>
        </p:nvSpPr>
        <p:spPr>
          <a:xfrm>
            <a:off x="7370064" y="1645920"/>
            <a:ext cx="2148840" cy="3611880"/>
          </a:xfrm>
          <a:prstGeom prst="roundRect">
            <a:avLst>
              <a:gd name="adj" fmla="val 0"/>
            </a:avLst>
          </a:prstGeom>
          <a:solidFill>
            <a:srgbClr val="FFFFFF"/>
          </a:solidFill>
          <a:ln w="10160">
            <a:solidFill>
              <a:srgbClr val="E0E5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微软雅黑" panose="020B0503020204020204" pitchFamily="34" charset="-122"/>
              <a:ea typeface="微软雅黑" panose="020B0503020204020204" pitchFamily="34" charset="-122"/>
            </a:endParaRPr>
          </a:p>
        </p:txBody>
      </p:sp>
      <p:sp>
        <p:nvSpPr>
          <p:cNvPr id="22" name="Rectangle 21"/>
          <p:cNvSpPr/>
          <p:nvPr/>
        </p:nvSpPr>
        <p:spPr>
          <a:xfrm>
            <a:off x="7370064" y="1645920"/>
            <a:ext cx="64008" cy="3611880"/>
          </a:xfrm>
          <a:prstGeom prst="rect">
            <a:avLst/>
          </a:prstGeom>
          <a:solidFill>
            <a:srgbClr val="C63F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微软雅黑" panose="020B0503020204020204" pitchFamily="34" charset="-122"/>
              <a:ea typeface="微软雅黑" panose="020B0503020204020204" pitchFamily="34" charset="-122"/>
            </a:endParaRPr>
          </a:p>
        </p:txBody>
      </p:sp>
      <p:sp>
        <p:nvSpPr>
          <p:cNvPr id="23" name="TextBox 22"/>
          <p:cNvSpPr txBox="1"/>
          <p:nvPr/>
        </p:nvSpPr>
        <p:spPr>
          <a:xfrm>
            <a:off x="7580376" y="1792224"/>
            <a:ext cx="1764792" cy="295594"/>
          </a:xfrm>
          <a:prstGeom prst="rect">
            <a:avLst/>
          </a:prstGeom>
          <a:noFill/>
        </p:spPr>
        <p:txBody>
          <a:bodyPr wrap="square" lIns="0" tIns="0" rIns="0" bIns="0" anchor="t">
            <a:spAutoFit/>
          </a:bodyPr>
          <a:lstStyle/>
          <a:p>
            <a:pPr algn="l">
              <a:lnSpc>
                <a:spcPct val="112000"/>
              </a:lnSpc>
              <a:spcAft>
                <a:spcPts val="0"/>
              </a:spcAft>
            </a:pPr>
            <a:r>
              <a:rPr sz="1850" b="1" i="0">
                <a:solidFill>
                  <a:srgbClr val="C63F45"/>
                </a:solidFill>
                <a:latin typeface="微软雅黑" panose="020B0503020204020204" pitchFamily="34" charset="-122"/>
                <a:ea typeface="微软雅黑" panose="020B0503020204020204" pitchFamily="34" charset="-122"/>
              </a:rPr>
              <a:t>性能评估</a:t>
            </a:r>
          </a:p>
        </p:txBody>
      </p:sp>
      <p:sp>
        <p:nvSpPr>
          <p:cNvPr id="24" name="TextBox 23"/>
          <p:cNvSpPr txBox="1"/>
          <p:nvPr/>
        </p:nvSpPr>
        <p:spPr>
          <a:xfrm>
            <a:off x="7580376" y="2331720"/>
            <a:ext cx="1764792" cy="2043123"/>
          </a:xfrm>
          <a:prstGeom prst="rect">
            <a:avLst/>
          </a:prstGeom>
          <a:noFill/>
        </p:spPr>
        <p:txBody>
          <a:bodyPr wrap="square" lIns="0" tIns="0" rIns="0" bIns="0" anchor="t">
            <a:spAutoFit/>
          </a:bodyPr>
          <a:lstStyle/>
          <a:p>
            <a:pPr algn="l">
              <a:lnSpc>
                <a:spcPct val="112000"/>
              </a:lnSpc>
              <a:spcAft>
                <a:spcPts val="0"/>
              </a:spcAft>
            </a:pPr>
            <a:r>
              <a:rPr sz="2000" b="0" i="0">
                <a:solidFill>
                  <a:srgbClr val="222833"/>
                </a:solidFill>
                <a:latin typeface="微软雅黑" panose="020B0503020204020204" pitchFamily="34" charset="-122"/>
                <a:ea typeface="微软雅黑" panose="020B0503020204020204" pitchFamily="34" charset="-122"/>
              </a:rPr>
              <a:t>用 SR、MMRV、ΔSR、r、V1～V5 扰动与四阶段流程进行可重复的成对评估。</a:t>
            </a:r>
          </a:p>
        </p:txBody>
      </p:sp>
      <p:sp>
        <p:nvSpPr>
          <p:cNvPr id="25" name="Rounded Rectangle 24"/>
          <p:cNvSpPr/>
          <p:nvPr/>
        </p:nvSpPr>
        <p:spPr>
          <a:xfrm>
            <a:off x="9628632" y="1645920"/>
            <a:ext cx="1965960" cy="3611880"/>
          </a:xfrm>
          <a:prstGeom prst="roundRect">
            <a:avLst>
              <a:gd name="adj" fmla="val 2714"/>
            </a:avLst>
          </a:prstGeom>
          <a:solidFill>
            <a:srgbClr val="FFFFFF"/>
          </a:solidFill>
          <a:ln w="10160">
            <a:solidFill>
              <a:srgbClr val="E0E5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微软雅黑" panose="020B0503020204020204" pitchFamily="34" charset="-122"/>
              <a:ea typeface="微软雅黑" panose="020B0503020204020204" pitchFamily="34" charset="-122"/>
            </a:endParaRPr>
          </a:p>
        </p:txBody>
      </p:sp>
      <p:sp>
        <p:nvSpPr>
          <p:cNvPr id="26" name="Rectangle 25"/>
          <p:cNvSpPr/>
          <p:nvPr/>
        </p:nvSpPr>
        <p:spPr>
          <a:xfrm>
            <a:off x="9628632" y="1645920"/>
            <a:ext cx="64008" cy="3611880"/>
          </a:xfrm>
          <a:prstGeom prst="rect">
            <a:avLst/>
          </a:prstGeom>
          <a:solidFill>
            <a:srgbClr val="7558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微软雅黑" panose="020B0503020204020204" pitchFamily="34" charset="-122"/>
              <a:ea typeface="微软雅黑" panose="020B0503020204020204" pitchFamily="34" charset="-122"/>
            </a:endParaRPr>
          </a:p>
        </p:txBody>
      </p:sp>
      <p:sp>
        <p:nvSpPr>
          <p:cNvPr id="27" name="TextBox 26"/>
          <p:cNvSpPr txBox="1"/>
          <p:nvPr/>
        </p:nvSpPr>
        <p:spPr>
          <a:xfrm>
            <a:off x="9838944" y="1792224"/>
            <a:ext cx="1581912" cy="295594"/>
          </a:xfrm>
          <a:prstGeom prst="rect">
            <a:avLst/>
          </a:prstGeom>
          <a:noFill/>
        </p:spPr>
        <p:txBody>
          <a:bodyPr wrap="square" lIns="0" tIns="0" rIns="0" bIns="0" anchor="t">
            <a:spAutoFit/>
          </a:bodyPr>
          <a:lstStyle/>
          <a:p>
            <a:pPr algn="l">
              <a:lnSpc>
                <a:spcPct val="112000"/>
              </a:lnSpc>
              <a:spcAft>
                <a:spcPts val="0"/>
              </a:spcAft>
            </a:pPr>
            <a:r>
              <a:rPr sz="1850" b="1" i="0" dirty="0" err="1">
                <a:solidFill>
                  <a:srgbClr val="7558A8"/>
                </a:solidFill>
                <a:latin typeface="微软雅黑" panose="020B0503020204020204" pitchFamily="34" charset="-122"/>
                <a:ea typeface="微软雅黑" panose="020B0503020204020204" pitchFamily="34" charset="-122"/>
              </a:rPr>
              <a:t>实践</a:t>
            </a:r>
            <a:r>
              <a:rPr lang="zh-CN" altLang="en-US" sz="1850" b="1" i="0" dirty="0">
                <a:solidFill>
                  <a:srgbClr val="7558A8"/>
                </a:solidFill>
                <a:latin typeface="微软雅黑" panose="020B0503020204020204" pitchFamily="34" charset="-122"/>
                <a:ea typeface="微软雅黑" panose="020B0503020204020204" pitchFamily="34" charset="-122"/>
              </a:rPr>
              <a:t>案例</a:t>
            </a:r>
            <a:endParaRPr sz="1850" b="1" i="0" dirty="0">
              <a:solidFill>
                <a:srgbClr val="7558A8"/>
              </a:solidFill>
              <a:latin typeface="微软雅黑" panose="020B0503020204020204" pitchFamily="34" charset="-122"/>
              <a:ea typeface="微软雅黑" panose="020B0503020204020204" pitchFamily="34" charset="-122"/>
            </a:endParaRPr>
          </a:p>
        </p:txBody>
      </p:sp>
      <p:sp>
        <p:nvSpPr>
          <p:cNvPr id="28" name="TextBox 27"/>
          <p:cNvSpPr txBox="1"/>
          <p:nvPr/>
        </p:nvSpPr>
        <p:spPr>
          <a:xfrm>
            <a:off x="9838944" y="2331720"/>
            <a:ext cx="1581912" cy="2732543"/>
          </a:xfrm>
          <a:prstGeom prst="rect">
            <a:avLst/>
          </a:prstGeom>
          <a:noFill/>
        </p:spPr>
        <p:txBody>
          <a:bodyPr wrap="square" lIns="0" tIns="0" rIns="0" bIns="0" anchor="t">
            <a:spAutoFit/>
          </a:bodyPr>
          <a:lstStyle/>
          <a:p>
            <a:pPr algn="l">
              <a:lnSpc>
                <a:spcPct val="112000"/>
              </a:lnSpc>
              <a:spcAft>
                <a:spcPts val="0"/>
              </a:spcAft>
            </a:pPr>
            <a:r>
              <a:rPr sz="2000" b="0" i="0">
                <a:solidFill>
                  <a:srgbClr val="222833"/>
                </a:solidFill>
                <a:latin typeface="微软雅黑" panose="020B0503020204020204" pitchFamily="34" charset="-122"/>
                <a:ea typeface="微软雅黑" panose="020B0503020204020204" pitchFamily="34" charset="-122"/>
              </a:rPr>
              <a:t>SO-101 + LeRobot + Isaac Lab 演示了数据收集、训练、现实部署与量化评估的完整流程。</a:t>
            </a:r>
          </a:p>
        </p:txBody>
      </p:sp>
    </p:spTree>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999" cy="6858000"/>
          </a:xfrm>
          <a:prstGeom prst="rect">
            <a:avLst/>
          </a:prstGeom>
          <a:solidFill>
            <a:srgbClr val="2447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58952" y="2816352"/>
            <a:ext cx="10241280" cy="1051560"/>
          </a:xfrm>
          <a:prstGeom prst="rect">
            <a:avLst/>
          </a:prstGeom>
          <a:noFill/>
        </p:spPr>
        <p:txBody>
          <a:bodyPr wrap="square" lIns="0" tIns="0" rIns="0" bIns="0" anchor="ctr">
            <a:spAutoFit/>
          </a:bodyPr>
          <a:lstStyle/>
          <a:p>
            <a:pPr algn="ctr">
              <a:lnSpc>
                <a:spcPct val="112000"/>
              </a:lnSpc>
              <a:spcAft>
                <a:spcPts val="0"/>
              </a:spcAft>
            </a:pPr>
            <a:r>
              <a:rPr sz="6600" b="1" i="0">
                <a:solidFill>
                  <a:srgbClr val="FFFFFF"/>
                </a:solidFill>
                <a:latin typeface="微软雅黑"/>
              </a:rPr>
              <a:t>谢   谢</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350</TotalTime>
  <Words>4005</Words>
  <Application>Microsoft Office PowerPoint</Application>
  <PresentationFormat>宽屏</PresentationFormat>
  <Paragraphs>977</Paragraphs>
  <Slides>113</Slides>
  <Notes>0</Notes>
  <HiddenSlides>0</HiddenSlides>
  <MMClips>0</MMClips>
  <ScaleCrop>false</ScaleCrop>
  <HeadingPairs>
    <vt:vector size="6" baseType="variant">
      <vt:variant>
        <vt:lpstr>已用的字体</vt:lpstr>
      </vt:variant>
      <vt:variant>
        <vt:i4>5</vt:i4>
      </vt:variant>
      <vt:variant>
        <vt:lpstr>主题</vt:lpstr>
      </vt:variant>
      <vt:variant>
        <vt:i4>1</vt:i4>
      </vt:variant>
      <vt:variant>
        <vt:lpstr>幻灯片标题</vt:lpstr>
      </vt:variant>
      <vt:variant>
        <vt:i4>113</vt:i4>
      </vt:variant>
    </vt:vector>
  </HeadingPairs>
  <TitlesOfParts>
    <vt:vector size="119" baseType="lpstr">
      <vt:lpstr>Noto Serif CJK SC</vt:lpstr>
      <vt:lpstr>微软雅黑</vt:lpstr>
      <vt:lpstr>Arial</vt:lpstr>
      <vt:lpstr>Calibri</vt:lpstr>
      <vt:lpstr>Consolas</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具身智能导论 第9章 虚实迁移技术</dc:title>
  <dc:subject>机械工业出版社《具身智能导论》配套课件</dc:subject>
  <dc:creator>国家地方共建人形机器人创新中心组织编写</dc:creator>
  <cp:keywords/>
  <dc:description>generated using python-pptx</dc:description>
  <cp:lastModifiedBy>Qin JJ</cp:lastModifiedBy>
  <cp:revision>10</cp:revision>
  <dcterms:created xsi:type="dcterms:W3CDTF">2013-01-27T09:14:16Z</dcterms:created>
  <dcterms:modified xsi:type="dcterms:W3CDTF">2026-09-14T14:22:11Z</dcterms:modified>
  <cp:category/>
</cp:coreProperties>
</file>