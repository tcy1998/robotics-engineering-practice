
<file path=[Content_Types].xml><?xml version="1.0" encoding="utf-8"?>
<Types xmlns="http://schemas.openxmlformats.org/package/2006/content-types">
  <Default Extension="com&amp;app=2002&amp;size=f9999,10000&amp;q=a80&amp;n=0&amp;g=0n&amp;fmt=auto" ContentType="image/jpeg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32"/>
  </p:notesMasterIdLst>
  <p:sldIdLst>
    <p:sldId id="40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67" r:id="rId109"/>
    <p:sldId id="368" r:id="rId110"/>
    <p:sldId id="369" r:id="rId111"/>
    <p:sldId id="370" r:id="rId112"/>
    <p:sldId id="371" r:id="rId113"/>
    <p:sldId id="372" r:id="rId114"/>
    <p:sldId id="373" r:id="rId115"/>
    <p:sldId id="374" r:id="rId116"/>
    <p:sldId id="375" r:id="rId117"/>
    <p:sldId id="376" r:id="rId118"/>
    <p:sldId id="377" r:id="rId119"/>
    <p:sldId id="378" r:id="rId120"/>
    <p:sldId id="379" r:id="rId121"/>
    <p:sldId id="380" r:id="rId122"/>
    <p:sldId id="381" r:id="rId123"/>
    <p:sldId id="382" r:id="rId124"/>
    <p:sldId id="383" r:id="rId125"/>
    <p:sldId id="384" r:id="rId126"/>
    <p:sldId id="386" r:id="rId127"/>
    <p:sldId id="387" r:id="rId128"/>
    <p:sldId id="389" r:id="rId129"/>
    <p:sldId id="390" r:id="rId130"/>
    <p:sldId id="392" r:id="rId1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7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979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presProps" Target="pres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26" Type="http://schemas.openxmlformats.org/officeDocument/2006/relationships/slide" Target="slides/slide124.xml"/><Relationship Id="rId13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3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55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AFC0DF"/>
          </a:solidFill>
          <a:ln w="12700">
            <a:solidFill>
              <a:srgbClr val="AFC0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64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73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具身智能导论 · 第4章</a:t>
            </a:r>
            <a:endParaRPr lang="en-US" sz="900" dirty="0">
              <a:latin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12480" y="16459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遥操作交互与模仿学习</a:t>
            </a:r>
            <a:endParaRPr lang="en-US" sz="900" dirty="0">
              <a:latin typeface="微软雅黑" panose="020B0503020204020204" pitchFamily="34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47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AFC0DF"/>
          </a:solidFill>
          <a:ln w="12700">
            <a:solidFill>
              <a:srgbClr val="AFC0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64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73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具身智能导论 · 第3章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8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强化学习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2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01384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994A5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5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com&amp;app=2002&amp;size=f9999,10000&amp;q=a80&amp;n=0&amp;g=0n&amp;fmt=auto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51560" cy="6858000"/>
          </a:xfrm>
          <a:prstGeom prst="parallelogram">
            <a:avLst/>
          </a:prstGeom>
          <a:solidFill>
            <a:srgbClr val="31599B"/>
          </a:solidFill>
          <a:ln w="12700">
            <a:solidFill>
              <a:srgbClr val="31599B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04672" y="0"/>
            <a:ext cx="219456" cy="6858000"/>
          </a:xfrm>
          <a:prstGeom prst="parallelogram">
            <a:avLst/>
          </a:prstGeom>
          <a:solidFill>
            <a:srgbClr val="B6C5E0"/>
          </a:solidFill>
          <a:ln w="12700">
            <a:solidFill>
              <a:srgbClr val="B6C5E0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25880" y="74980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普通高等教育新工科具身智能系列教材</a:t>
            </a:r>
            <a:endParaRPr lang="en-US" sz="1500" dirty="0">
              <a:latin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74440" y="186715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具身智能导论</a:t>
            </a:r>
            <a:endParaRPr lang="en-US" sz="2800" dirty="0">
              <a:latin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34360" y="2940304"/>
            <a:ext cx="699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第 </a:t>
            </a:r>
            <a:r>
              <a:rPr lang="en-US" altLang="zh-CN" sz="36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5 </a:t>
            </a:r>
            <a:r>
              <a:rPr lang="zh-CN" altLang="en-US" sz="36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章  具身智能大模型</a:t>
            </a:r>
          </a:p>
        </p:txBody>
      </p:sp>
      <p:sp>
        <p:nvSpPr>
          <p:cNvPr id="7" name="Text 5"/>
          <p:cNvSpPr/>
          <p:nvPr/>
        </p:nvSpPr>
        <p:spPr>
          <a:xfrm>
            <a:off x="3739896" y="4183888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秦建军  </a:t>
            </a:r>
            <a:r>
              <a:rPr lang="en-US" altLang="zh-CN" dirty="0" err="1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江磊</a:t>
            </a:r>
            <a:r>
              <a:rPr lang="en-US" altLang="zh-CN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altLang="zh-CN" dirty="0" err="1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刘宇飞</a:t>
            </a:r>
            <a:r>
              <a:rPr lang="en-US" altLang="zh-CN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altLang="zh-CN" dirty="0" err="1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邢伯阳</a:t>
            </a:r>
            <a:r>
              <a:rPr lang="en-US" altLang="zh-CN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altLang="zh-CN" dirty="0" err="1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王陆旸</a:t>
            </a:r>
            <a:r>
              <a:rPr lang="en-US" altLang="zh-CN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altLang="zh-CN" dirty="0" err="1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李国通</a:t>
            </a:r>
            <a:endParaRPr lang="en-US" altLang="zh-CN" dirty="0">
              <a:latin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14994" y="824736"/>
            <a:ext cx="30358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200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国家地方共建人形机器人创新中心组织编写</a:t>
            </a:r>
            <a:endParaRPr lang="en-US" altLang="zh-CN" sz="1200" dirty="0">
              <a:latin typeface="微软雅黑" panose="020B0503020204020204" pitchFamily="34" charset="-122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E2C3258-81C6-0D2D-C4FD-891592355382}"/>
              </a:ext>
            </a:extLst>
          </p:cNvPr>
          <p:cNvSpPr/>
          <p:nvPr/>
        </p:nvSpPr>
        <p:spPr>
          <a:xfrm>
            <a:off x="4379976" y="4805680"/>
            <a:ext cx="4367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B87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机械工业出版社 · 《具身智能导论》配套课件</a:t>
            </a:r>
            <a:endParaRPr lang="en-US" sz="1250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64208"/>
            <a:ext cx="1024128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4477D"/>
                </a:solidFill>
                <a:latin typeface="Noto Serif CJK SC"/>
              </a:rPr>
              <a:t>“道者器之道，器者不可谓之道之器也。”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606040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Noto Serif CJK SC"/>
              </a:rPr>
              <a:t>—— 王夫之《周易外传》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18688"/>
            <a:ext cx="10241280" cy="19933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0120" y="3218688"/>
            <a:ext cx="64008" cy="1993392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3401568"/>
            <a:ext cx="2377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具身智能大模型</a:t>
            </a:r>
            <a:endParaRPr sz="175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955548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把大语言模型或多模态大模型与机器人的“感知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认知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决策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—行动”回路深度融合，使机器人能够接收自然语言指令和视觉输入，并直接生成可执行动作序列。它标志着具身智能从规则驱动迈向数据与知识驱动。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学习目标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554480"/>
            <a:ext cx="3547872" cy="17007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554480"/>
            <a:ext cx="64008" cy="1700784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31821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01  </a:t>
            </a:r>
            <a:r>
              <a:rPr sz="175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大模型基础</a:t>
            </a:r>
            <a:endParaRPr sz="175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3163824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理解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LLM 与 Transformer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的核心架构，以及从语言到多模态感知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认知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决策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行动的扩展机制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3" y="1554480"/>
            <a:ext cx="3547872" cy="17007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43983" y="1554480"/>
            <a:ext cx="64008" cy="1700784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5151" y="1719072"/>
            <a:ext cx="31821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02  </a:t>
            </a:r>
            <a:r>
              <a:rPr sz="175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机器人</a:t>
            </a:r>
            <a:r>
              <a:rPr sz="175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176272"/>
            <a:ext cx="3163824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掌握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RT-1、RT-2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的基本架构与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VLA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设计，理解真实机器人任务中的泛化优势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554480"/>
            <a:ext cx="3547872" cy="17007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66175" y="1554480"/>
            <a:ext cx="64008" cy="1700784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67344" y="1719072"/>
            <a:ext cx="31821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03  </a:t>
            </a:r>
            <a:r>
              <a:rPr sz="175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快／慢系统</a:t>
            </a:r>
            <a:endParaRPr sz="175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67344" y="2176272"/>
            <a:ext cx="3163824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区分快／慢系统与“大脑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小脑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肢体”结构，理解高层规划与实时控制的协同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584448"/>
            <a:ext cx="3547872" cy="17007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" y="3584448"/>
            <a:ext cx="64008" cy="1700784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749039"/>
            <a:ext cx="31821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04  GR00T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3163824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了解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NVIDIA GR00T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的双系统结构、合成数据训练流程及跨本体泛化价值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3983" y="3584448"/>
            <a:ext cx="3547872" cy="17007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43983" y="3584448"/>
            <a:ext cx="64008" cy="1700784"/>
          </a:xfrm>
          <a:prstGeom prst="rect">
            <a:avLst/>
          </a:prstGeom>
          <a:solidFill>
            <a:srgbClr val="7558A8"/>
          </a:solidFill>
          <a:ln>
            <a:solidFill>
              <a:srgbClr val="755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45151" y="3749039"/>
            <a:ext cx="31821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>
                <a:solidFill>
                  <a:srgbClr val="7558A8"/>
                </a:solidFill>
                <a:latin typeface="微软雅黑" panose="020B0503020204020204" pitchFamily="34" charset="-122"/>
              </a:rPr>
              <a:t>05  </a:t>
            </a:r>
            <a:r>
              <a:rPr sz="1750" b="1" i="0" dirty="0" err="1">
                <a:solidFill>
                  <a:srgbClr val="7558A8"/>
                </a:solidFill>
                <a:latin typeface="微软雅黑" panose="020B0503020204020204" pitchFamily="34" charset="-122"/>
              </a:rPr>
              <a:t>模型训练</a:t>
            </a:r>
            <a:endParaRPr sz="1750" b="1" i="0" dirty="0">
              <a:solidFill>
                <a:srgbClr val="7558A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45151" y="4206240"/>
            <a:ext cx="3163824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掌握具身大模型训练过程，了解开源训练项目并评估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Sim-to-Real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迁移挑战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5" y="3584448"/>
            <a:ext cx="3547872" cy="17007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66175" y="3584448"/>
            <a:ext cx="64008" cy="1700784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67344" y="3749039"/>
            <a:ext cx="31821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06  </a:t>
            </a:r>
            <a:r>
              <a:rPr sz="175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仿真实践</a:t>
            </a:r>
            <a:endParaRPr sz="175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67344" y="4206240"/>
            <a:ext cx="3163824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基于开源仿真平台实现并调试简单实验，评估策略泛化、样本效率与部署实用性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5 章  具身智能大模型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sz="3500" b="1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536192"/>
            <a:ext cx="658368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5336" y="1536192"/>
            <a:ext cx="23317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大模型基础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066543"/>
            <a:ext cx="5029200" cy="0"/>
          </a:xfrm>
          <a:prstGeom prst="line">
            <a:avLst/>
          </a:prstGeom>
          <a:ln w="10160">
            <a:solidFill>
              <a:srgbClr val="E7EB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368296"/>
            <a:ext cx="658368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368296"/>
            <a:ext cx="368805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  <a:r>
              <a:rPr sz="2000" b="1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Transformer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2898648"/>
            <a:ext cx="5029200" cy="0"/>
          </a:xfrm>
          <a:prstGeom prst="line">
            <a:avLst/>
          </a:prstGeom>
          <a:ln w="10160">
            <a:solidFill>
              <a:srgbClr val="E7EB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200400"/>
            <a:ext cx="658368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200400"/>
            <a:ext cx="23317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快／慢系统结构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3730752"/>
            <a:ext cx="5029200" cy="0"/>
          </a:xfrm>
          <a:prstGeom prst="line">
            <a:avLst/>
          </a:prstGeom>
          <a:ln w="10160">
            <a:solidFill>
              <a:srgbClr val="E7EB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032504"/>
            <a:ext cx="658368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5" y="4032504"/>
            <a:ext cx="3479425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2000" b="1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</a:t>
            </a:r>
            <a:r>
              <a:rPr sz="2000" b="1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2000" b="1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小脑</a:t>
            </a:r>
            <a:r>
              <a:rPr sz="2000" b="1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2000" b="1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肢体</a:t>
            </a:r>
            <a:r>
              <a:rPr sz="2000" b="1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b="1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sz="2000" b="1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562856"/>
            <a:ext cx="5029200" cy="0"/>
          </a:xfrm>
          <a:prstGeom prst="line">
            <a:avLst/>
          </a:prstGeom>
          <a:ln w="10160">
            <a:solidFill>
              <a:srgbClr val="E7EB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864608"/>
            <a:ext cx="658368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755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864608"/>
            <a:ext cx="23317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NVIDIA GR00T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1536192"/>
            <a:ext cx="658368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3174" y="1536192"/>
            <a:ext cx="3041757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具身智能大模型训练</a:t>
            </a:r>
            <a:endParaRPr sz="2000" b="1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355079" y="2066543"/>
            <a:ext cx="5029201" cy="0"/>
          </a:xfrm>
          <a:prstGeom prst="line">
            <a:avLst/>
          </a:prstGeom>
          <a:ln w="10160">
            <a:solidFill>
              <a:srgbClr val="E7EB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55079" y="2368296"/>
            <a:ext cx="658368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5" y="2368296"/>
            <a:ext cx="23317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“格物”仿真平台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55079" y="2898648"/>
            <a:ext cx="5029201" cy="0"/>
          </a:xfrm>
          <a:prstGeom prst="line">
            <a:avLst/>
          </a:prstGeom>
          <a:ln w="10160">
            <a:solidFill>
              <a:srgbClr val="E7EB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55079" y="3200400"/>
            <a:ext cx="658368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5" y="3200400"/>
            <a:ext cx="23317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79" y="3730752"/>
            <a:ext cx="5029201" cy="0"/>
          </a:xfrm>
          <a:prstGeom prst="line">
            <a:avLst/>
          </a:prstGeom>
          <a:ln w="10160">
            <a:solidFill>
              <a:srgbClr val="E7EB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1170432" cy="6858000"/>
          </a:xfrm>
          <a:prstGeom prst="parallelogram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859536" y="0"/>
            <a:ext cx="219456" cy="6858000"/>
          </a:xfrm>
          <a:prstGeom prst="parallelogram">
            <a:avLst/>
          </a:prstGeom>
          <a:solidFill>
            <a:srgbClr val="B7C5E0"/>
          </a:solidFill>
          <a:ln>
            <a:solidFill>
              <a:srgbClr val="B7C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600200" cy="12249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91640"/>
            <a:ext cx="76352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大模型基础</a:t>
            </a:r>
            <a:endParaRPr sz="39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5360" y="320040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第5章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5.1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大模型基础：从语言建模到端到端行动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338490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大语言模型通过自监督预训练，从大规模语料中学习分布式语义表示与概率语言规律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在具身智能中，多模态能力进一步扩展为视觉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动作（VLA）模型：输入视觉与指令，输出物理动作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核心目标是打通“感知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认知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决策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行动”闭环，实现听懂指令、看懂场景、做出动作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相较传统强化学习，具身大模型更强调零样本或少样本泛化，从而降低大量实时交互数据的依赖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5.1.1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大语言模型概述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627632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64008" cy="16276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参数规模</a:t>
            </a:r>
            <a:endParaRPr sz="17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百亿、千亿乃至更大规模参数，形成高容量统计模型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27632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627632"/>
            <a:ext cx="64008" cy="1627632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训练方式</a:t>
            </a:r>
            <a:endParaRPr sz="17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249424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利用海量无标注文本进行自监督预训练，学习语言规律与语义表示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27632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627632"/>
            <a:ext cx="64008" cy="1627632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核心能力</a:t>
            </a:r>
            <a:endParaRPr sz="17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249424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文本生成、语义理解与推理，并逐步扩展到多模态理解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575304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" y="3575304"/>
            <a:ext cx="64008" cy="1627632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知识来源</a:t>
            </a:r>
            <a:endParaRPr sz="17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197096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互联网规模语料提供常识、概念关系与丰富上下文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6" y="3575304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79976" y="3575304"/>
            <a:ext cx="64008" cy="1627632"/>
          </a:xfrm>
          <a:prstGeom prst="rect">
            <a:avLst/>
          </a:prstGeom>
          <a:solidFill>
            <a:srgbClr val="7558A8"/>
          </a:solidFill>
          <a:ln>
            <a:solidFill>
              <a:srgbClr val="755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81144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7558A8"/>
                </a:solidFill>
                <a:latin typeface="微软雅黑" panose="020B0503020204020204" pitchFamily="34" charset="-122"/>
              </a:rPr>
              <a:t>扩展方向</a:t>
            </a:r>
            <a:endParaRPr sz="1700" b="1" i="0" dirty="0">
              <a:solidFill>
                <a:srgbClr val="7558A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81144" y="4197096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从文本模型走向视觉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语言、多模态与具身行动模型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575304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38160" y="3575304"/>
            <a:ext cx="64008" cy="16276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8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具身价值</a:t>
            </a:r>
            <a:endParaRPr sz="17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8" y="4197096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为任务理解、语义规划与少样本泛化提供基础能力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大语言模型的四个发展阶段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901952"/>
            <a:ext cx="2560320" cy="1444752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7698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6654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统计语言模型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523744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N-Gram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统计，依赖局部词频与条件概率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34086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901952"/>
            <a:ext cx="2560320" cy="144475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7698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06654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神经语言模型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523744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RNN / LSTM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引入深度网络，提升长距离依赖建模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34086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901952"/>
            <a:ext cx="2560320" cy="144475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7698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06654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预训练语言模型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523744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BERT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开启双向编码器大规模预训练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34086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901952"/>
            <a:ext cx="2560320" cy="1444752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7698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06654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多模态大模型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523744"/>
            <a:ext cx="2194560" cy="6740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GPT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系列与后续模型体现规模定律、涌现与多模态能力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大语言模型的演进线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73352"/>
            <a:ext cx="10486748" cy="15791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2017 年 Transformer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提出后，预训练模型快速演进</a:t>
            </a: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GPT-3 以 1750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亿参数成为大语言模型实用化的重要标志，并体现规模定律与涌现能力</a:t>
            </a:r>
            <a:endParaRPr lang="zh-CN" altLang="en-US" sz="20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altLang="zh-CN"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2022 </a:t>
            </a:r>
            <a:r>
              <a:rPr lang="zh-CN" altLang="en-US"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ChatGPT</a:t>
            </a:r>
            <a:r>
              <a:rPr lang="zh-CN" altLang="en-US"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GPT-3.5</a:t>
            </a:r>
            <a:r>
              <a:rPr lang="zh-CN" altLang="en-US"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）推动大模型进入广泛应用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后续主流模型进一步集成视觉等多模态能力</a:t>
            </a:r>
            <a:endParaRPr sz="20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 descr="p0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514" y="3531459"/>
            <a:ext cx="9580972" cy="21873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4700" y="6055478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大语言模型的演进时间线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大语言模型本质：自回归预测下一个词元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5212080" cy="26407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182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训练阶段：从海量文本中学习语言统计模式和上下文依赖关系</a:t>
            </a: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• Transformer </a:t>
            </a:r>
            <a:r>
              <a:rPr sz="182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的多头自注意力机制用于捕捉远距离语义关联</a:t>
            </a: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182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生成阶段：模型根据</a:t>
            </a: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 Prompt </a:t>
            </a:r>
            <a:r>
              <a:rPr sz="182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逐个预测下一个</a:t>
            </a: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 Token </a:t>
            </a:r>
            <a:r>
              <a:rPr sz="182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的概率分布</a:t>
            </a: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182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解码策略依次采样输出，最终形成连贯、流畅、符合语法的文本</a:t>
            </a:r>
            <a:r>
              <a:rPr sz="182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88920"/>
            <a:ext cx="786384" cy="54864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19088" y="2916936"/>
            <a:ext cx="749808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Deep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2889504"/>
            <a:ext cx="2286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788920"/>
            <a:ext cx="786384" cy="54864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33488" y="2916936"/>
            <a:ext cx="749808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889504"/>
            <a:ext cx="2286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88920"/>
            <a:ext cx="786384" cy="548640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47888" y="2916936"/>
            <a:ext cx="749808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889504"/>
            <a:ext cx="2286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788920"/>
            <a:ext cx="786384" cy="548640"/>
          </a:xfrm>
          <a:prstGeom prst="roundRect">
            <a:avLst/>
          </a:prstGeom>
          <a:solidFill>
            <a:srgbClr val="FDECEE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79408" y="2916936"/>
            <a:ext cx="749808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889504"/>
            <a:ext cx="2286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788920"/>
            <a:ext cx="786384" cy="548640"/>
          </a:xfrm>
          <a:prstGeom prst="roundRect">
            <a:avLst/>
          </a:prstGeom>
          <a:solidFill>
            <a:srgbClr val="F1EC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02367" y="2916936"/>
            <a:ext cx="749808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 dirty="0">
                <a:solidFill>
                  <a:srgbClr val="7558A8"/>
                </a:solidFill>
                <a:latin typeface="微软雅黑" panose="020B0503020204020204" pitchFamily="34" charset="-122"/>
              </a:rPr>
              <a:t>powerful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3032" y="2889504"/>
            <a:ext cx="2286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52760" y="2788920"/>
            <a:ext cx="868680" cy="54864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71048" y="2916936"/>
            <a:ext cx="832104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&lt;EOS&gt;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8970" y="3886200"/>
            <a:ext cx="4140989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每一步都把已经生成的上下文再次送入模型，形成“逐词元”生成过程</a:t>
            </a:r>
            <a:r>
              <a:rPr sz="16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LLM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自回归预测过程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p02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294" y="2234092"/>
            <a:ext cx="4983480" cy="1672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61345" y="4177894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667085"/>
                </a:solidFill>
                <a:latin typeface="微软雅黑" panose="020B0503020204020204" pitchFamily="34" charset="-122"/>
              </a:rPr>
              <a:t>LLM </a:t>
            </a: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自回归预测过程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1040" y="2234092"/>
            <a:ext cx="5896530" cy="2519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Time = 1, 2, 3…：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模型在每个时间步接收当前上下文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输出是下一个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Token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的概率分布，再把采样结果拼回上下文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这一生成机制也为后续“动作词元”序列建模提供了统一思路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从 LLM 到 VLA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799"/>
            <a:ext cx="2560320" cy="2148827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视觉感知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1090" y="2693566"/>
            <a:ext cx="2194560" cy="104028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相机捕获环境图像，由</a:t>
            </a:r>
            <a:r>
              <a:rPr sz="1600" b="1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ViT</a:t>
            </a:r>
            <a:r>
              <a:rPr sz="1600" b="1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sz="1600" b="1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ResNet</a:t>
            </a:r>
            <a:r>
              <a:rPr sz="1600" b="1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等视觉编码器提取高维语义特征</a:t>
            </a:r>
            <a:r>
              <a:rPr sz="1600" b="1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5962" y="2510686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60320" cy="2148826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语言理解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9426" y="2693566"/>
            <a:ext cx="21945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自然语言指令被编码为语言特征，表达任务意图</a:t>
            </a:r>
            <a:r>
              <a:rPr sz="1600" b="1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4298" y="2510686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800"/>
            <a:ext cx="2560320" cy="2110740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多模态融合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7762" y="2693566"/>
            <a:ext cx="21945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视觉与文本在统一嵌入空间融合，形成任务相关表示</a:t>
            </a:r>
            <a:r>
              <a:rPr sz="1600" b="1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2634" y="2510686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50034"/>
            <a:ext cx="2560320" cy="2059023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动作输出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96098" y="2693566"/>
            <a:ext cx="21945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模型生成离散动作词元或连续动作向量，再解码为低层控制信号</a:t>
            </a:r>
            <a:r>
              <a:rPr sz="1600" b="1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373" y="4990424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VLA 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把“语言模型的序列生成能力”延伸到机器人动作空间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具身智能大模型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707" y="2357745"/>
            <a:ext cx="5577840" cy="2519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机器人本体提供视觉、状态与实时交互输入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大模型完成感知理解、语义推理与动作规划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输出可执行动作，使本体继续与环境闭环交互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pic>
        <p:nvPicPr>
          <p:cNvPr id="8" name="Picture 7" descr="p0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13" y="2539557"/>
            <a:ext cx="4983480" cy="17788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97758" y="4621249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具身智能大模型示意图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典型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VLA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推理流程：从指令到低层控制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920240"/>
            <a:ext cx="2560320" cy="1843892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9526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8483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视觉编码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772853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视觉传感器获取图像；ViT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ResNet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提取语义特征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35915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920240"/>
            <a:ext cx="2560320" cy="184389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9526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08483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语言编码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772853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自然语言指令映射到语言嵌入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35915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920240"/>
            <a:ext cx="2560320" cy="184389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9526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08483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联合推理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772853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视觉与文本特征融合后输入大模型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35915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920240"/>
            <a:ext cx="2560320" cy="1843892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9526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08483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动作解码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772853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输出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Action Token /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连续向量，映射为关节、末端或夹爪控制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526280"/>
            <a:ext cx="103327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低层控制示例：关节角速度、末端执行器位姿、夹爪开合度、移动底盘指令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具身智能大模型的优势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60604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60604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少样本／零样本泛化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3118104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依托视觉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语言对齐表征，仅凭自然语言指令即可对未见物体与场景进行语义推理和动作规划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606040"/>
          </a:xfrm>
          <a:prstGeom prst="roundRect">
            <a:avLst>
              <a:gd name="adj" fmla="val 1755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60604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常识推理与长程规划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450592"/>
            <a:ext cx="3118104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继承互联网规模预训练获得的常识与因果关系，支持复杂任务序列分解与执行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606040"/>
          </a:xfrm>
          <a:prstGeom prst="roundRect">
            <a:avLst>
              <a:gd name="adj" fmla="val 234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60604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数据效率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450592"/>
            <a:ext cx="3118104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利用视觉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语言联合预训练迁移知识，减少新任务适配所需机器人交互或演示数据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具身大模型</a:t>
            </a:r>
            <a:r>
              <a:rPr lang="en-US" altLang="zh-CN"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经典强化学习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389337"/>
              </p:ext>
            </p:extLst>
          </p:nvPr>
        </p:nvGraphicFramePr>
        <p:xfrm>
          <a:off x="658368" y="1664208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315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具身智能大模型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315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经典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强化学习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3159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学习来源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互联网级语言／视觉预训练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机器人数据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主要依赖环境交互与奖励反馈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泛化方式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强调零样本／少样本、跨任务语义迁移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通常需针对任务反复训练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任务接口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自然语言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视觉等多模态输入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状态、动作、奖励定义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主要优势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常识推理、长程规划、数据效率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可直接优化长期回报与控制策略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关键瓶颈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幻觉、物理常识、实时性、部署安全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采样成本、奖励设计、试错风险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 LLM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的局限</a:t>
            </a: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及提升需求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627632"/>
            <a:ext cx="3502152" cy="1627632"/>
          </a:xfrm>
          <a:prstGeom prst="roundRect">
            <a:avLst>
              <a:gd name="adj" fmla="val 519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64008" cy="16276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幻觉”风险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3118104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语言模型可能生成语义上流畅但与真实环境不一致的判断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27632"/>
            <a:ext cx="3502152" cy="1627632"/>
          </a:xfrm>
          <a:prstGeom prst="roundRect">
            <a:avLst>
              <a:gd name="adj" fmla="val 426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627632"/>
            <a:ext cx="64008" cy="1627632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物理常识不足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249424"/>
            <a:ext cx="3118104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文本知识并不等价于对接触、摩擦、几何约束和动力学的可靠理解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27632"/>
            <a:ext cx="3502152" cy="1627632"/>
          </a:xfrm>
          <a:prstGeom prst="roundRect">
            <a:avLst>
              <a:gd name="adj" fmla="val 7772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627632"/>
            <a:ext cx="64008" cy="1627632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缺少可执行接口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249424"/>
            <a:ext cx="3118104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纯文本输出无法直接满足关节控制、末端位姿或夹爪动作的实时要求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4184180"/>
            <a:ext cx="3502152" cy="1627632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" y="4184180"/>
            <a:ext cx="64008" cy="1627632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6968" y="434877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多模态对齐需求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" y="4805972"/>
            <a:ext cx="3118104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机器人必须把视觉感知、语言指令和动作空间统一到同一策略中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3984" y="4184180"/>
            <a:ext cx="3502152" cy="1627632"/>
          </a:xfrm>
          <a:prstGeom prst="roundRect">
            <a:avLst>
              <a:gd name="adj" fmla="val 519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43984" y="4184180"/>
            <a:ext cx="64008" cy="1627632"/>
          </a:xfrm>
          <a:prstGeom prst="rect">
            <a:avLst/>
          </a:prstGeom>
          <a:solidFill>
            <a:srgbClr val="7558A8"/>
          </a:solidFill>
          <a:ln>
            <a:solidFill>
              <a:srgbClr val="755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45152" y="434877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755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闭环控制需求</a:t>
            </a:r>
            <a:endParaRPr sz="1800" b="1" i="0" dirty="0">
              <a:solidFill>
                <a:srgbClr val="755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45152" y="4805972"/>
            <a:ext cx="3118104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真实环境持续变化，模型必须根据新观测不断修正动作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168" y="4184180"/>
            <a:ext cx="3502152" cy="162763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02168" y="4184180"/>
            <a:ext cx="64008" cy="16276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03336" y="434877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工程协同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03336" y="4805972"/>
            <a:ext cx="3118104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需要与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CLIP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等视觉编码器及动作解码器联合训练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259D7263-F707-F210-933C-F7EBA0A9EC85}"/>
              </a:ext>
            </a:extLst>
          </p:cNvPr>
          <p:cNvSpPr/>
          <p:nvPr/>
        </p:nvSpPr>
        <p:spPr>
          <a:xfrm>
            <a:off x="3743713" y="3529583"/>
            <a:ext cx="4394447" cy="448323"/>
          </a:xfrm>
          <a:prstGeom prst="downArrow">
            <a:avLst>
              <a:gd name="adj1" fmla="val 30030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5.1.2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Transformer：LLM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的典型基础架构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35649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2017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年，Vaswani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等在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Attention Is All You Need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中提出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Transformer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与 RNN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不同，Transformer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更适合并行处理序列数据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核心是注意力机制：模型可以对输入序列的不同部分分配不同权重，而非逐一顺序处理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直观上类似人类阅读时重点关注关键词和关键上下文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注意力机制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9"/>
            <a:ext cx="2560320" cy="1821180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 </a:t>
            </a: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567336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当前正在关注什么？表示当前元素的查询需求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31343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74518"/>
            <a:ext cx="2560320" cy="1821177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 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7336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Query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做匹配，决定各输入位置的重要程度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71032" y="231343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74518"/>
            <a:ext cx="2560320" cy="1821179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 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567336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携带实际信息，被注意力权重加权汇总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59368" y="231343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74518"/>
            <a:ext cx="2560320" cy="1821181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567336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把相关性分数归一化，使权重之和为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379" y="4866739"/>
            <a:ext cx="1033272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主要思路</a:t>
            </a:r>
            <a:r>
              <a:rPr sz="24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相关性由</a:t>
            </a:r>
            <a:r>
              <a:rPr sz="24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QKᵀ </a:t>
            </a: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点积衡量，随后对</a:t>
            </a:r>
            <a:r>
              <a:rPr sz="24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 </a:t>
            </a: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做加权求和</a:t>
            </a:r>
            <a:r>
              <a:rPr sz="24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缩放点积注意力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576" y="1901952"/>
            <a:ext cx="9298086" cy="1325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3703320"/>
            <a:ext cx="2510027" cy="1572768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3232" y="3703320"/>
            <a:ext cx="64008" cy="1572768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1"/>
            <a:ext cx="2144268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Q（Query</a:t>
            </a:r>
            <a:r>
              <a:rPr sz="16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2125979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查询向量：表示当前关注的元素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42715" y="3703320"/>
            <a:ext cx="2510027" cy="1572768"/>
          </a:xfrm>
          <a:prstGeom prst="roundRect">
            <a:avLst>
              <a:gd name="adj" fmla="val 650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42715" y="3703320"/>
            <a:ext cx="64008" cy="1572768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43884" y="3867911"/>
            <a:ext cx="2144268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K（Key</a:t>
            </a:r>
            <a:r>
              <a:rPr sz="16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3884" y="4325112"/>
            <a:ext cx="2125979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键向量：用于与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Query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匹配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199" y="3703320"/>
            <a:ext cx="2510027" cy="1572768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72199" y="3703320"/>
            <a:ext cx="64008" cy="1572768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367" y="3867911"/>
            <a:ext cx="2144268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V（Value</a:t>
            </a:r>
            <a:r>
              <a:rPr sz="16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7" y="4325112"/>
            <a:ext cx="2125979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值向量：携带需要聚合的实际信息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01683" y="3703320"/>
            <a:ext cx="2510027" cy="1572768"/>
          </a:xfrm>
          <a:prstGeom prst="roundRect">
            <a:avLst>
              <a:gd name="adj" fmla="val 2555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901683" y="3703320"/>
            <a:ext cx="64008" cy="1572768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02851" y="3867911"/>
            <a:ext cx="2144268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dₖ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2851" y="4325112"/>
            <a:ext cx="2125979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键向量维度；缩放项用于稳定数值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自注意力的直观计算过程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799"/>
            <a:ext cx="2560320" cy="1961965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计算点积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71248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Query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与每个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Key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做点积，得到相关性分数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799"/>
            <a:ext cx="2560320" cy="1961965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缩放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712482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用 √dₖ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缩放，避免维度增大导致分数过大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799"/>
            <a:ext cx="2560320" cy="1961965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Softmax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712482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把分数变成概率权重，所有权重之和为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28799"/>
            <a:ext cx="2560320" cy="1961965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加权求和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712482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按权重组合各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Value，得到新的序列表示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526280"/>
            <a:ext cx="103327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每个位置都能动态聚合整个序列中与自己最相关的信息</a:t>
            </a:r>
            <a:endParaRPr sz="18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多头注意力：并行关注不同关系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620" y="1828800"/>
            <a:ext cx="8998279" cy="1234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" y="3657600"/>
            <a:ext cx="3502152" cy="1664208"/>
          </a:xfrm>
          <a:prstGeom prst="roundRect">
            <a:avLst>
              <a:gd name="adj" fmla="val 573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" y="3657600"/>
            <a:ext cx="64008" cy="1664208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822191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多个</a:t>
            </a:r>
            <a:r>
              <a:rPr sz="17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79392"/>
            <a:ext cx="311810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同一输入在多个子空间中并行计算注意力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3657600"/>
            <a:ext cx="3502152" cy="1664208"/>
          </a:xfrm>
          <a:prstGeom prst="roundRect">
            <a:avLst>
              <a:gd name="adj" fmla="val 5998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79976" y="3657600"/>
            <a:ext cx="64008" cy="1664208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3822191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不同关注点</a:t>
            </a:r>
            <a:endParaRPr sz="17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81144" y="4279392"/>
            <a:ext cx="311810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不同头可学习语法关系、实体关系、空间或动作依赖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502152" cy="1664208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38160" y="3657600"/>
            <a:ext cx="64008" cy="1664208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3822191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结果拼接</a:t>
            </a:r>
            <a:endParaRPr sz="17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39328" y="4279392"/>
            <a:ext cx="311810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各头输出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Concat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后再经线性变换，形成最终表示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Transformer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架构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664208"/>
            <a:ext cx="5120640" cy="37726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整体由多层多头注意力机制、前馈网络、残差连接和层归一化堆叠而成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编码器负责处理输入序列并生成上下文表示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解码器负责生成输出，并额外包含编码器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解码器注意力与掩码自注意力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掩码保证自回归生成时只能使用当前位置之前的信息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" name="Picture 7" descr="p0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696" y="1536192"/>
            <a:ext cx="2920766" cy="45537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6126480"/>
            <a:ext cx="5120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667085"/>
                </a:solidFill>
                <a:latin typeface="微软雅黑" panose="020B0503020204020204" pitchFamily="34" charset="-122"/>
              </a:rPr>
              <a:t>Transformer </a:t>
            </a: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架构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altLang="zh-CN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 </a:t>
            </a: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2039" y="1513376"/>
            <a:ext cx="7424395" cy="18125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Transformer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并行处理序列，本身没有</a:t>
            </a: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RNN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那样的天然时间顺序</a:t>
            </a: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因此在输入嵌入中加入位置编码，让模型知道</a:t>
            </a: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Token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的相对与绝对位置</a:t>
            </a: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教材采用正弦／余弦位置编码，不同维度使用不同频率</a:t>
            </a: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8" name="Picture 7" descr="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016" y="3427975"/>
            <a:ext cx="5937700" cy="960120"/>
          </a:xfrm>
          <a:prstGeom prst="rect">
            <a:avLst/>
          </a:prstGeom>
        </p:spPr>
      </p:pic>
      <p:pic>
        <p:nvPicPr>
          <p:cNvPr id="9" name="Picture 8" descr="p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16" y="4268739"/>
            <a:ext cx="593770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0744" y="5504688"/>
            <a:ext cx="80467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pos：位置；i：维度索引；d_model：模型嵌入维度</a:t>
            </a:r>
            <a:r>
              <a:rPr sz="2000" b="0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2" name="Picture 6" descr="p04_img1.png">
            <a:extLst>
              <a:ext uri="{FF2B5EF4-FFF2-40B4-BE49-F238E27FC236}">
                <a16:creationId xmlns:a16="http://schemas.microsoft.com/office/drawing/2014/main" id="{DB4BB758-0A65-A3A8-5139-E31774514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434" y="938688"/>
            <a:ext cx="3326818" cy="51867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5.1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小结：大模型如何成为具身智能的“认知底座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”？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9"/>
            <a:ext cx="2560320" cy="1444752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96312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自监督学习语言统计规律与语义表示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31343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74519"/>
            <a:ext cx="2560320" cy="144475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96312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通过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Q/K/V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动态聚合上下文信息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31343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74519"/>
            <a:ext cx="2560320" cy="144475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96312"/>
            <a:ext cx="2194560" cy="6740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多头注意力、前馈、残差与位置编码构成通用序列模型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31343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74519"/>
            <a:ext cx="2560320" cy="1444752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VLA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496312"/>
            <a:ext cx="2194560" cy="6740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把视觉、语言与动作放进统一建模框架，直接输出机器人动作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23360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从“预测下一个词元”到“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预测下一步动作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”，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序列建模成为语言智能通向具身行动的桥梁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1170432" cy="6858000"/>
          </a:xfrm>
          <a:prstGeom prst="parallelogram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859536" y="0"/>
            <a:ext cx="219456" cy="6858000"/>
          </a:xfrm>
          <a:prstGeom prst="parallelogram">
            <a:avLst/>
          </a:prstGeom>
          <a:solidFill>
            <a:srgbClr val="B7C5E0"/>
          </a:solidFill>
          <a:ln>
            <a:solidFill>
              <a:srgbClr val="B7C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600200" cy="12249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91640"/>
            <a:ext cx="76352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机器人</a:t>
            </a:r>
            <a:r>
              <a:rPr sz="39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3552" y="2615184"/>
            <a:ext cx="731520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把注意力机制从语言／视觉空间扩展到机器人动作空间</a:t>
            </a:r>
            <a:endParaRPr sz="1700" b="0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73552" y="3794760"/>
            <a:ext cx="2148840" cy="384048"/>
          </a:xfrm>
          <a:prstGeom prst="rect">
            <a:avLst/>
          </a:prstGeom>
          <a:solidFill>
            <a:srgbClr val="EDF2FA"/>
          </a:solidFill>
          <a:ln w="6350">
            <a:solidFill>
              <a:srgbClr val="ED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00984" y="3867912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42432" y="3794760"/>
            <a:ext cx="2148840" cy="384048"/>
          </a:xfrm>
          <a:prstGeom prst="rect">
            <a:avLst/>
          </a:prstGeom>
          <a:solidFill>
            <a:srgbClr val="EAF5F1"/>
          </a:solidFill>
          <a:ln w="6350">
            <a:solidFill>
              <a:srgbClr val="EA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9864" y="3867912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11312" y="3794760"/>
            <a:ext cx="2148840" cy="384048"/>
          </a:xfrm>
          <a:prstGeom prst="rect">
            <a:avLst/>
          </a:prstGeom>
          <a:solidFill>
            <a:srgbClr val="FFF4DE"/>
          </a:solidFill>
          <a:ln w="635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38744" y="3867912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4361688"/>
            <a:ext cx="2148840" cy="384048"/>
          </a:xfrm>
          <a:prstGeom prst="rect">
            <a:avLst/>
          </a:prstGeom>
          <a:solidFill>
            <a:srgbClr val="FDECEE"/>
          </a:solidFill>
          <a:ln w="6350">
            <a:solidFill>
              <a:srgbClr val="FD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00984" y="4434840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RT-1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4361688"/>
            <a:ext cx="2148840" cy="384048"/>
          </a:xfrm>
          <a:prstGeom prst="rect">
            <a:avLst/>
          </a:prstGeom>
          <a:solidFill>
            <a:srgbClr val="F1ECFA"/>
          </a:solidFill>
          <a:ln w="6350">
            <a:solidFill>
              <a:srgbClr val="F1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9864" y="4434840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7558A8"/>
                </a:solidFill>
                <a:latin typeface="微软雅黑" panose="020B0503020204020204" pitchFamily="34" charset="-122"/>
              </a:rPr>
              <a:t>RT-2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1312" y="4361688"/>
            <a:ext cx="2148840" cy="384048"/>
          </a:xfrm>
          <a:prstGeom prst="rect">
            <a:avLst/>
          </a:prstGeom>
          <a:solidFill>
            <a:srgbClr val="EDF2FA"/>
          </a:solidFill>
          <a:ln w="6350">
            <a:solidFill>
              <a:srgbClr val="ED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38744" y="4434840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VLA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第5章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机器人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Transformer：视觉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+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语言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→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动作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18225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19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机器人</a:t>
            </a: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9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Transformer（RT）由</a:t>
            </a: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 Google DeepMind </a:t>
            </a:r>
            <a:r>
              <a:rPr sz="19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团队提出，将</a:t>
            </a: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 Transformer </a:t>
            </a:r>
            <a:r>
              <a:rPr sz="19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扩展到具身智能</a:t>
            </a: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19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输入通常由图像序列与自然语言指令构成，输出为离散化动作词元</a:t>
            </a: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19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动作词元经解码后可映射为关节速度、末端位姿、夹爪开合或移动底盘指令</a:t>
            </a: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19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核心变化：注意力机制不再只处理语言／视觉，而是进一步覆盖物理动作空间</a:t>
            </a:r>
            <a:r>
              <a:rPr sz="19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的动作词元：把连续控制“离散化”为可预测序列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60320" cy="1444752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连续动作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21945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机器人原始控制量是关节、位姿、夹爪等连续值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26771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60320" cy="144475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离散分桶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50592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把每个动作维度划分为若干区间（bin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800"/>
            <a:ext cx="2560320" cy="144475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Action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50592"/>
            <a:ext cx="21945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用离散索引表示动作，作为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Transformer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输出词元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28800"/>
            <a:ext cx="2560320" cy="1444752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动作解码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50592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把词元还原为连续控制量并发送到机器人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77639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这种表示让“语言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Token”与“动作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Token”能够在统一序列建模框架中被处理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系列的三方面优势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5420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5420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跨任务泛化</a:t>
            </a:r>
            <a:endParaRPr sz="175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3118104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RT-2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继承预训练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VLM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的语义理解，可处理训练集未见组合、抽象指令变体与需要推理的任务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5420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542032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数据效率</a:t>
            </a:r>
            <a:endParaRPr sz="175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450592"/>
            <a:ext cx="3118104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RT-1 约 13 万条真实轨迹即获得良好多任务泛化；RT-2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进一步引入网络预训练知识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5420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542032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感知</a:t>
            </a:r>
            <a:r>
              <a:rPr sz="175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—</a:t>
            </a:r>
            <a:r>
              <a:rPr sz="175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行动闭环</a:t>
            </a:r>
            <a:endParaRPr sz="175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450592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模型从感知直接生成动作，但控制频率受模型规模与推理延迟约束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系列的实时控制频率：大模型推理仍是瓶颈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≈3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54680"/>
            <a:ext cx="2196846" cy="25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控制频率约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3 Hz。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1–3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16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大模型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454" y="3154680"/>
            <a:ext cx="2196846" cy="4616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大模型版本运行频率约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1–3 Hz。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222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≈5 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小模型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7084" y="3154680"/>
            <a:ext cx="2196846" cy="25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小模型版本约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5 Hz。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8685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高频需求</a:t>
            </a:r>
            <a:endParaRPr sz="3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2342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灵巧控制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1714" y="3154680"/>
            <a:ext cx="2196846" cy="4616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更适合移动操作，不适合高频灵巧手控制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0" cy="2985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8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模型规模越大，语义能力越强，但实时控制频率通常越低</a:t>
            </a:r>
            <a:r>
              <a:rPr sz="1580" b="0" i="0" dirty="0">
                <a:solidFill>
                  <a:srgbClr val="667085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 与 Q-learning /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PPO：学习范式不同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78930"/>
              </p:ext>
            </p:extLst>
          </p:nvPr>
        </p:nvGraphicFramePr>
        <p:xfrm>
          <a:off x="658368" y="1664208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比较项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RT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系列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Q-learning / PPO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核心建模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从视觉、语言直接到动作的端到端映射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显式建模状态、动作、奖励与策略／价值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训练方式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RT-1 以行为克隆为主；RT-2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协同微调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VLM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基于价值迭代或策略梯度优化长期回报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知识来源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机器人轨迹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互联网级视觉语言知识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环境交互经验与奖励信号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泛化特点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语义迁移与少样本／零样本更突出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通常对训练任务定义更依赖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系列真实世界验证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13 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机器人规模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7824" y="3154680"/>
            <a:ext cx="2196846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RT-1 在 Google DeepMind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办公室厨房环境采集演示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17 </a:t>
            </a:r>
            <a:r>
              <a:rPr sz="3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个月</a:t>
            </a:r>
            <a:endParaRPr sz="3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416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数据周期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2454" y="3154680"/>
            <a:ext cx="2196846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长期持续采集真实世界多任务轨迹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222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≈13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演示轨迹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87084" y="3154680"/>
            <a:ext cx="2196846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覆盖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700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余项任务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8685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VLA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342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里程碑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1714" y="3154680"/>
            <a:ext cx="2196846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网络级视觉语言预训练知识注入机器人策略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5.2.1 RT-1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222150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RT-1 于 2022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年提出，参数规模约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3500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万，专为真实机器人控制设计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核心采用“FiLM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EfficientNet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TokenLearner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Transformer”三段式架构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输入：6帧历史图像 +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文本指令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输出：离散化7维动作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</a:t>
            </a:r>
            <a:r>
              <a:rPr lang="en-US" altLang="zh-CN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维末端平移、</a:t>
            </a:r>
            <a:r>
              <a:rPr lang="en-US" altLang="zh-CN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维旋转、</a:t>
            </a:r>
            <a:r>
              <a:rPr lang="en-US" altLang="zh-CN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维夹爪开合）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RT-1 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核心架构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58054"/>
            <a:ext cx="10473430" cy="135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EfficientNet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提取视觉特征，并由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FiLM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注入语言条件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TokenLearner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将高维视觉特征压缩为少量紧凑词元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Transformer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对视觉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语言词元序列进行建模，输出动作词元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 descr="p0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24" y="3318935"/>
            <a:ext cx="7857181" cy="20477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5715622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RT-1 </a:t>
            </a: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模型核心架构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RT-1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10511"/>
            <a:ext cx="2560320" cy="2606125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视觉特征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583224"/>
            <a:ext cx="2194560" cy="128650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ImageNet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预训练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EfficientNet-B3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把图像转换为空间特征图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24942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10511"/>
            <a:ext cx="2560320" cy="2606129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语言调制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32304"/>
            <a:ext cx="2194560" cy="190205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Universal Sentence Encoder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编码指令，FiLM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在多层视觉特征中进行条件化调制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4942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10512"/>
            <a:ext cx="2560320" cy="2606128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2677444"/>
            <a:ext cx="219456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TokenLearner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把高维视觉特征压缩为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个紧凑词元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4942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10511"/>
            <a:ext cx="2560320" cy="2654957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动作预测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61120" y="2677444"/>
            <a:ext cx="2194560" cy="128650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多层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Transformer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输出离散动作词元，每个动作维度独立预测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的视觉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—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语言条件化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5146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51460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EfficientNet-B3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0443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将每帧图像转换为空间特征图，保留场景语义与局部结构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51460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51460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Sentence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570443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把自然语言指令转换为句向量，表达任务目标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5146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51460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FiLM</a:t>
            </a:r>
            <a:endParaRPr sz="17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570443"/>
            <a:ext cx="3118104" cy="128650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Feature-wise Linear Modulation 在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EfficientNet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多层特征中注入语言条件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103327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关键点：RT-1 </a:t>
            </a: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通过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FiLM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在视觉编码过程中融合语言，而不是简单把图像词元与语言词元拼接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TokenLearner：用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8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个紧凑词元降低视觉计算量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5669280" cy="338490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视觉特征图通常包含大量空间位置，直接送入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Transformer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会造成较高计算开销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RT-1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引入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TokenLearner，把高维视觉特征压缩为仅8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个紧凑词元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压缩后的词元保留任务相关视觉信息，再交由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Transformer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建模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作用：显著降低后续注意力计算量，更适合真实机器人在线控制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74519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70648" y="1874519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37575" y="1874519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04504" y="1874519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03720" y="2441448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70648" y="2441448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37575" y="2441448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04504" y="2441448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03720" y="3008376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70648" y="3008376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37575" y="3008376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04504" y="3008376"/>
            <a:ext cx="420624" cy="420624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20840" y="3749039"/>
            <a:ext cx="246888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高维视觉特征</a:t>
            </a:r>
            <a:endParaRPr sz="1500" b="0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35440" y="2578608"/>
            <a:ext cx="41148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783080"/>
            <a:ext cx="512064" cy="45720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488168" y="1783080"/>
            <a:ext cx="512064" cy="45720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829800" y="2423160"/>
            <a:ext cx="512064" cy="457200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488168" y="2423160"/>
            <a:ext cx="512064" cy="457200"/>
          </a:xfrm>
          <a:prstGeom prst="roundRect">
            <a:avLst/>
          </a:prstGeom>
          <a:solidFill>
            <a:srgbClr val="FDECEE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829800" y="3063239"/>
            <a:ext cx="512064" cy="457200"/>
          </a:xfrm>
          <a:prstGeom prst="roundRect">
            <a:avLst/>
          </a:prstGeom>
          <a:solidFill>
            <a:srgbClr val="F1EC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488168" y="3063239"/>
            <a:ext cx="512064" cy="45720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829800" y="3703320"/>
            <a:ext cx="512064" cy="45720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488168" y="3703320"/>
            <a:ext cx="512064" cy="457200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19488" y="4498848"/>
            <a:ext cx="18288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8 个 Token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 动作输出：7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个维度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× 256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个离散区间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 动作输出：7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个维度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× 256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个离散区间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3D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末端平移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7824" y="3154680"/>
            <a:ext cx="2196846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x / y / z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三个方向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3D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416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末端旋转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2454" y="3154680"/>
            <a:ext cx="2196846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滚转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俯仰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偏航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222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1D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夹爪开合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87084" y="3154680"/>
            <a:ext cx="2196846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控制抓取与释放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8685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256 bins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342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离散化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1714" y="3154680"/>
            <a:ext cx="2196846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每个动作维度独立对应一个区间索引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关键组件汇总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606040"/>
          </a:xfrm>
          <a:prstGeom prst="roundRect">
            <a:avLst>
              <a:gd name="adj" fmla="val 5048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60604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图像编码器</a:t>
            </a:r>
            <a:endParaRPr sz="17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708046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EfficientNet-B3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将图像转换为空间特征图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606040"/>
          </a:xfrm>
          <a:prstGeom prst="roundRect">
            <a:avLst>
              <a:gd name="adj" fmla="val 4872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60604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视觉</a:t>
            </a:r>
            <a:r>
              <a:rPr sz="17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—</a:t>
            </a:r>
            <a:r>
              <a:rPr sz="17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语言条件化</a:t>
            </a:r>
            <a:endParaRPr sz="17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708046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FiLM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把语言信息注入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EfficientNet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多层视觉特征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606040"/>
          </a:xfrm>
          <a:prstGeom prst="roundRect">
            <a:avLst>
              <a:gd name="adj" fmla="val 223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60604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Transformer </a:t>
            </a:r>
            <a:r>
              <a:rPr sz="17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骨干</a:t>
            </a:r>
            <a:endParaRPr sz="17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708046"/>
            <a:ext cx="213741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编码器处理视觉词元序列并建立时序依赖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60604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60604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动作输出头</a:t>
            </a:r>
            <a:endParaRPr sz="17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708046"/>
            <a:ext cx="213741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并行预测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7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个动作维度的离散值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的训练数据与任务覆盖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13 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机器人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154680"/>
            <a:ext cx="2196846" cy="25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多机器人长期采集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≈13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16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演示轨迹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454" y="3154680"/>
            <a:ext cx="2196846" cy="25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来自真实机器人操作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222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700+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任务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7084" y="3154680"/>
            <a:ext cx="2196846" cy="25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覆盖多种移动操作任务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8685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未见物体</a:t>
            </a:r>
            <a:endParaRPr sz="3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2342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泛化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1714" y="3154680"/>
            <a:ext cx="2196846" cy="4616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对新物体处理与干扰具有鲁棒性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78565"/>
            <a:ext cx="10515600" cy="2985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8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 </a:t>
            </a:r>
            <a:r>
              <a:rPr sz="158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用真实世界规模化行为克隆证明：多任务数据可以让单一策略具备显著泛化能力</a:t>
            </a:r>
            <a:r>
              <a:rPr sz="158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5.2.2 RT-2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213173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RT-2 于 2023 年 7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月发布，是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RT-1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的后续模型，并提出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VLA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模型概念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核心方法是协同微调（Co-fine-tuning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）：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把互联网规模视觉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语言预训练知识迁移到机器人控制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动作被“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文本化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”，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与自然语言共享统一输出空间，从而保留网络级语义知识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核心架构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p06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368" y="1762170"/>
            <a:ext cx="4983480" cy="34280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54368" y="5593035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667085"/>
                </a:solidFill>
                <a:latin typeface="微软雅黑" panose="020B0503020204020204" pitchFamily="34" charset="-122"/>
              </a:rPr>
              <a:t>RT-2 </a:t>
            </a: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模型核心架构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3981" y="2518275"/>
            <a:ext cx="5394960" cy="213173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视觉输入由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ViT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编码为视觉词元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大语言／视觉语言骨干联合处理图像与指令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动作被离散为整数词元序列，经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Detokenize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还原为机器人动作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主要变体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21712" y="1634901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31440" y="1890933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55B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8016" y="2549301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RT-2-PaLI-X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6304" y="2960781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基于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PaLI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-X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的大规模版本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1712" y="4131213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31440" y="4387245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12B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8016" y="5045613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RT-2-PaLM-E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304" y="5457093"/>
            <a:ext cx="2196846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基于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PaLM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-E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的版本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59927" y="1677368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9655" y="1933400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ViT-22B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6231" y="2591768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视觉编码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4519" y="3003248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PaLI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-X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版本的视觉编码器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8410" y="416052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38138" y="441655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ViT-4B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4714" y="507492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视觉编码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3002" y="548640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PaLM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-E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版本中的视觉编码器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4C949361-3D9F-A51F-E9A5-E3F74F82B403}"/>
              </a:ext>
            </a:extLst>
          </p:cNvPr>
          <p:cNvSpPr txBox="1"/>
          <p:nvPr/>
        </p:nvSpPr>
        <p:spPr>
          <a:xfrm>
            <a:off x="4409108" y="2078269"/>
            <a:ext cx="2306574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+</a:t>
            </a:r>
            <a:endParaRPr sz="72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3378F1A3-635D-64BB-9CB7-C6B765D22B54}"/>
              </a:ext>
            </a:extLst>
          </p:cNvPr>
          <p:cNvSpPr txBox="1"/>
          <p:nvPr/>
        </p:nvSpPr>
        <p:spPr>
          <a:xfrm>
            <a:off x="4534789" y="4647185"/>
            <a:ext cx="2306574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+</a:t>
            </a:r>
            <a:endParaRPr sz="72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的多模态骨干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60604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60604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PaLI</a:t>
            </a:r>
            <a:r>
              <a:rPr sz="24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-X </a:t>
            </a:r>
            <a:r>
              <a:rPr sz="24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路线</a:t>
            </a:r>
            <a:endParaRPr sz="24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846832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采用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32B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参数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UL2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编码器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解码器架构，联合处理视觉与语言嵌入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6060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60604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PaLM</a:t>
            </a:r>
            <a:r>
              <a:rPr sz="24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-E </a:t>
            </a:r>
            <a:r>
              <a:rPr sz="24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路线</a:t>
            </a:r>
            <a:endParaRPr sz="24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846832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基于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12B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参数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decoder-only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架构处理指令与视觉输入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60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60604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共同目标</a:t>
            </a:r>
            <a:endParaRPr sz="24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846832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利用预训练视觉语言模型，把语义知识迁移到机器人动作预测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动作文本化：RT-2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的关键统一接口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64208"/>
            <a:ext cx="6492240" cy="29971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连续动作的每个维度都被离散化为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256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个区间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离散动作使用整数字符串作为文本词元，例如“1 128 91 241 5 101 127”。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这样，动作与自然语言共享同一输出空间，VLM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可以直接“生成动作文本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”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动作词元再经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Detokenize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映射回具体机器人控制量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127248" cy="9601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73568" y="2148840"/>
            <a:ext cx="2816352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 dirty="0">
                <a:solidFill>
                  <a:srgbClr val="E6EDF3"/>
                </a:solidFill>
                <a:latin typeface="Noto Sans Mono CJK SC"/>
              </a:rPr>
              <a:t>1 128 91 241</a:t>
            </a:r>
            <a:br>
              <a:rPr dirty="0">
                <a:latin typeface="微软雅黑" panose="020B0503020204020204" pitchFamily="34" charset="-122"/>
              </a:rPr>
            </a:br>
            <a:r>
              <a:rPr sz="2100" b="1" i="0" dirty="0">
                <a:solidFill>
                  <a:srgbClr val="E6EDF3"/>
                </a:solidFill>
                <a:latin typeface="Noto Sans Mono CJK SC"/>
              </a:rPr>
              <a:t>5 101 127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127248"/>
            <a:ext cx="27432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Action Token </a:t>
            </a: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序列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3977639"/>
            <a:ext cx="35204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→ Detokenize → </a:t>
            </a:r>
            <a:r>
              <a:rPr sz="17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连续动作</a:t>
            </a:r>
            <a:endParaRPr sz="17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协同微调：机器人轨迹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和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互联网视觉语言任务联合训练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8"/>
            <a:ext cx="2560320" cy="1821181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机器人数据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96312"/>
            <a:ext cx="219456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真实轨迹：图像、指令、动作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01568" y="1874519"/>
            <a:ext cx="2560320" cy="1821180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68496" y="203911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视觉语言数据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96312"/>
            <a:ext cx="219456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互联网规模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VQA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等视觉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语言任务数据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89904" y="1874518"/>
            <a:ext cx="2560320" cy="1821180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2" y="203911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联合目标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96312"/>
            <a:ext cx="219456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在同一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VLM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上协同优化语义理解与动作预测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778240" y="1874518"/>
            <a:ext cx="2560320" cy="1821179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45167" y="203911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知识迁移</a:t>
            </a:r>
            <a:endParaRPr sz="2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96312"/>
            <a:ext cx="219456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保留网络级常识，同时把这些知识注入机器人策略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023360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的创新不只是“更大的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RT-1”，而是把机器人控制纳入大规模 VLM 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的统一输出空间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的涌现能力：网络知识开始影响机器人行为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>
              <a:gd name="adj" fmla="val 1175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抽象指令推理</a:t>
            </a:r>
            <a:endParaRPr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能够理解超出训练模板的抽象语义与符号关系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识别未见物体</a:t>
            </a:r>
            <a:endParaRPr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45059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可借助预训练视觉知识识别训练中没有出现的新物体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关系理解</a:t>
            </a:r>
            <a:endParaRPr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450592"/>
            <a:ext cx="213741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能够处理数量、颜色、大小等关系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>
              <a:gd name="adj" fmla="val 119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多阶段推理</a:t>
            </a:r>
            <a:endParaRPr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45059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通过引入思维链提示，可执行多阶段语义推理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在未见场景上的平均成功率显著提升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1874519"/>
            <a:ext cx="27432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RT-1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7432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RT-2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74519"/>
            <a:ext cx="3586807" cy="530352"/>
          </a:xfrm>
          <a:prstGeom prst="round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00400" y="3794760"/>
            <a:ext cx="6949440" cy="530352"/>
          </a:xfrm>
          <a:prstGeom prst="round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0359" y="1847088"/>
            <a:ext cx="9144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2992" y="3767328"/>
            <a:ext cx="9144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3327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未见场景平均成功率由约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32% </a:t>
            </a: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提升到约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62%。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 与 RT-2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对比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098663"/>
              </p:ext>
            </p:extLst>
          </p:nvPr>
        </p:nvGraphicFramePr>
        <p:xfrm>
          <a:off x="658368" y="1664208"/>
          <a:ext cx="10881360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FFFFFF"/>
                          </a:solidFill>
                        </a:rPr>
                        <a:t>对比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维度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RT-1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RT-2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发布时间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22833"/>
                          </a:solidFill>
                        </a:rPr>
                        <a:t>2022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22833"/>
                          </a:solidFill>
                        </a:rPr>
                        <a:t>2023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核心定位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大规模真实世界机器人</a:t>
                      </a:r>
                      <a:r>
                        <a:rPr sz="2000" dirty="0">
                          <a:solidFill>
                            <a:srgbClr val="222833"/>
                          </a:solidFill>
                        </a:rPr>
                        <a:t> Transformer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VLA：将网络视觉语言知识迁移到机器人控制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模型规模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22833"/>
                          </a:solidFill>
                        </a:rPr>
                        <a:t>≈3500 </a:t>
                      </a:r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万参数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22833"/>
                          </a:solidFill>
                        </a:rPr>
                        <a:t>12B / 55B 级 VLM </a:t>
                      </a:r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变体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输入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22833"/>
                          </a:solidFill>
                        </a:rPr>
                        <a:t>6 </a:t>
                      </a:r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帧图像</a:t>
                      </a:r>
                      <a:r>
                        <a:rPr sz="2000" dirty="0">
                          <a:solidFill>
                            <a:srgbClr val="222833"/>
                          </a:solidFill>
                        </a:rPr>
                        <a:t> + </a:t>
                      </a:r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文本指令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视觉词元</a:t>
                      </a:r>
                      <a:r>
                        <a:rPr sz="2000" dirty="0">
                          <a:solidFill>
                            <a:srgbClr val="222833"/>
                          </a:solidFill>
                        </a:rPr>
                        <a:t> + </a:t>
                      </a:r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文本指令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动作表示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22833"/>
                          </a:solidFill>
                        </a:rPr>
                        <a:t>7 </a:t>
                      </a:r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维动作离散到</a:t>
                      </a:r>
                      <a:r>
                        <a:rPr sz="2000" dirty="0">
                          <a:solidFill>
                            <a:srgbClr val="222833"/>
                          </a:solidFill>
                        </a:rPr>
                        <a:t> 256 bins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动作文本化，与语言共享词元空间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训练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行为克隆为主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机器人数据</a:t>
                      </a:r>
                      <a:r>
                        <a:rPr sz="2000" dirty="0">
                          <a:solidFill>
                            <a:srgbClr val="222833"/>
                          </a:solidFill>
                        </a:rPr>
                        <a:t> + </a:t>
                      </a:r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视觉语言数据协同微调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突出能力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多任务泛化、鲁棒性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22833"/>
                          </a:solidFill>
                        </a:rPr>
                        <a:t>未见物体、抽象指令、符号与多阶段推理</a:t>
                      </a:r>
                      <a:endParaRPr sz="20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小结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799"/>
            <a:ext cx="2560320" cy="1686757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43101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统一序列建模</a:t>
            </a:r>
            <a:endParaRPr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图像、语言与动作都转化为可建模的序列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267712"/>
            <a:ext cx="38404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799"/>
            <a:ext cx="2560320" cy="1686757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66744" y="1915667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RT-1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5059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用真实机器人规模数据实现多任务行为克隆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38404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799"/>
            <a:ext cx="2560320" cy="1686757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1725" y="1915667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RT-2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5059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把动作放进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VLM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文本输出空间，协同微调网络知识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38404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28799"/>
            <a:ext cx="2560320" cy="1686757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42832" y="1912572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通用方向</a:t>
            </a:r>
            <a:endParaRPr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5059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语义理解、常识推理与机器人控制逐步合流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3977639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模型越大、语义能力越强，在线控制频率与部署成本越需要新的系统架构来解决</a:t>
            </a:r>
            <a:endParaRPr sz="176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1170432" cy="6858000"/>
          </a:xfrm>
          <a:prstGeom prst="parallelogram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859536" y="0"/>
            <a:ext cx="219456" cy="6858000"/>
          </a:xfrm>
          <a:prstGeom prst="parallelogram">
            <a:avLst/>
          </a:prstGeom>
          <a:solidFill>
            <a:srgbClr val="B7C5E0"/>
          </a:solidFill>
          <a:ln>
            <a:solidFill>
              <a:srgbClr val="B7C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600200" cy="12249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91640"/>
            <a:ext cx="76352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快／慢系统结构</a:t>
            </a:r>
            <a:endParaRPr sz="39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第5章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5.3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快／慢系统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5309202" cy="338490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快／慢系统结构受人类认知心理学双系统理论启发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快系统：快速、直观、低计算成本，适合实时避障和动作调整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慢系统：较慢、逻辑性更强、计算更密集，适合路径规划和抽象指令理解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具身智能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：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通常让快系统处理底层控制，让慢系统管理高层策略与任务分解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2A23E4-1121-AEAA-EAD9-95D27CC8E1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29" r="14573"/>
          <a:stretch>
            <a:fillRect/>
          </a:stretch>
        </p:blipFill>
        <p:spPr>
          <a:xfrm>
            <a:off x="9006042" y="1622539"/>
            <a:ext cx="2591612" cy="3640036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AD8E7D6C-62B4-2299-EE9C-BA1E1A9C0174}"/>
              </a:ext>
            </a:extLst>
          </p:cNvPr>
          <p:cNvSpPr txBox="1"/>
          <p:nvPr/>
        </p:nvSpPr>
        <p:spPr>
          <a:xfrm>
            <a:off x="5029200" y="5203255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50" b="1" i="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诺贝尔经济学奖得主丹尼尔</a:t>
            </a:r>
            <a:r>
              <a:rPr lang="en-US" altLang="zh-CN" sz="1250" b="1" i="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250" b="1" i="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卡尼曼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1C63A38-1B72-33E9-4BCF-0A66A8B19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178" y="1878146"/>
            <a:ext cx="2345524" cy="312882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思考的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快／慢系统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73352"/>
            <a:ext cx="5577840" cy="16541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大量日常行为由“快系统”承担，少量复杂推理由“慢系统”完成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具身智能借鉴这种分工：把高频实时响应与低频深度推理解耦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8" name="Picture 7" descr="p0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546874"/>
            <a:ext cx="4983480" cy="29316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46240" y="4586718"/>
            <a:ext cx="49834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</a:t>
            </a:r>
            <a:r>
              <a:rPr lang="zh-CN" altLang="en-US" sz="2000" b="1" i="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思考的</a:t>
            </a:r>
            <a:r>
              <a:rPr sz="2000" b="1" i="0" dirty="0" err="1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快／慢系统结构</a:t>
            </a:r>
            <a:endParaRPr sz="2000" b="1" i="0" dirty="0">
              <a:solidFill>
                <a:srgbClr val="6670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快系统：高频、局部、即时响应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56032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适用任务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避障、抓取修正、姿态微调等对实时性敏感的动作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560320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计算特点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450592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轻量、高效、持续运行，减少复杂大模型在线推理压力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560320"/>
          </a:xfrm>
          <a:prstGeom prst="roundRect">
            <a:avLst>
              <a:gd name="adj" fmla="val 54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模型形式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450592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可采用轻量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Transformer、预训练运动策略或反射式控制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慢系统：低频、全局、逻辑推理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560320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适用任务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理解抽象指令、规划路径、分解多步骤任务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56032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计算特点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450592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模型更大、推理更慢，但语义理解与泛化能力更强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560320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模型形式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450592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通常使用大语言模型或视觉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语言模型作为高层规划器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双系统协同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8"/>
            <a:ext cx="2560320" cy="1823031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环境变化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678306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机器人持续接收视觉、本体与接触反馈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31343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74519"/>
            <a:ext cx="2560320" cy="1823030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快速执行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678306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快系统以高频率生成连续控制动作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31343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74519"/>
            <a:ext cx="2560320" cy="1823030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策略更新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678306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慢系统在需要理解、重规划时更新目标或潜向量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31343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74519"/>
            <a:ext cx="2560320" cy="1823030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闭环协同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678306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快系统根据最新环境执行，慢系统按需纠偏与重规划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94313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核心：把大模型“聪明但慢”与运动策略“快但局部”组合起来</a:t>
            </a:r>
            <a:r>
              <a:rPr lang="zh-CN" altLang="en-US"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  <a:endParaRPr sz="176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快／慢系统的典型实现方式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快／慢系统的典型实现方式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770372"/>
              </p:ext>
            </p:extLst>
          </p:nvPr>
        </p:nvGraphicFramePr>
        <p:xfrm>
          <a:off x="658368" y="1664208"/>
          <a:ext cx="10881360" cy="3620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4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116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层级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常见模型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频率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主要功能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慢系统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 / VLM /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大型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低频运行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高层语义理解、任务规划、目标分解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快系统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轻量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Transformer /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视觉运动策略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高频运行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关节／末端连续控制、快速响应环境变化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5.3.2 Helix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213173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Helix 由 Figure AI 于 2025 年 2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月发布，主要面向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Figure 02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人形机器人的上半身控制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它采用快／慢双系统架构，在高层视觉语言推理与高频视觉运动控制之间进行解耦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目标是同时获得通用语义理解、灵巧操作和较高控制速度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Helix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双系统结构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1874519"/>
            <a:ext cx="4434840" cy="274320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2084831"/>
            <a:ext cx="3977639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系统</a:t>
            </a:r>
            <a:r>
              <a:rPr sz="22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 2 · </a:t>
            </a:r>
            <a:r>
              <a:rPr sz="22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慢系统</a:t>
            </a:r>
            <a:endParaRPr sz="22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3886200" cy="11141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7B 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视觉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语言模型（开放权重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）</a:t>
            </a:r>
            <a:br>
              <a:rPr dirty="0">
                <a:latin typeface="微软雅黑" panose="020B0503020204020204" pitchFamily="34" charset="-122"/>
              </a:rPr>
            </a:b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输入：语言指令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+ 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视觉数据</a:t>
            </a:r>
            <a:br>
              <a:rPr dirty="0">
                <a:latin typeface="微软雅黑" panose="020B0503020204020204" pitchFamily="34" charset="-122"/>
              </a:rPr>
            </a:b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输出：单一连续潜向量</a:t>
            </a:r>
            <a:br>
              <a:rPr dirty="0">
                <a:latin typeface="微软雅黑" panose="020B0503020204020204" pitchFamily="34" charset="-122"/>
              </a:rPr>
            </a:b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频率：7–9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788920"/>
            <a:ext cx="530352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874519"/>
            <a:ext cx="4617720" cy="274320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2084831"/>
            <a:ext cx="416052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系统</a:t>
            </a:r>
            <a:r>
              <a:rPr sz="22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 1 · </a:t>
            </a:r>
            <a:r>
              <a:rPr sz="22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快系统</a:t>
            </a:r>
            <a:endParaRPr sz="22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27648" y="2743200"/>
            <a:ext cx="4114800" cy="13788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80M 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交叉注意力编码器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解码器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Transformer</a:t>
            </a:r>
            <a:br>
              <a:rPr dirty="0">
                <a:latin typeface="微软雅黑" panose="020B0503020204020204" pitchFamily="34" charset="-122"/>
              </a:rPr>
            </a:b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输入：视觉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+ 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慢系统潜向量</a:t>
            </a:r>
            <a:br>
              <a:rPr dirty="0">
                <a:latin typeface="微软雅黑" panose="020B0503020204020204" pitchFamily="34" charset="-122"/>
              </a:rPr>
            </a:b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输出：连续动作</a:t>
            </a:r>
            <a:br>
              <a:rPr dirty="0">
                <a:latin typeface="微软雅黑" panose="020B0503020204020204" pitchFamily="34" charset="-122"/>
              </a:rPr>
            </a:b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频率：200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120640"/>
            <a:ext cx="100126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慢系统负责“</a:t>
            </a: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决定做什么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”，</a:t>
            </a: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快系统负责“把动作实时做出来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”。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Helix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慢系统（系统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2）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模型规模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开源、开放权重视觉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语言模型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7–9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16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运行频率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454" y="3154680"/>
            <a:ext cx="2196846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低频处理高层目标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222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视觉</a:t>
            </a: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+ </a:t>
            </a:r>
            <a:r>
              <a:rPr sz="3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语言</a:t>
            </a:r>
            <a:endParaRPr sz="3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879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输入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708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自然语言指令与视觉数据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8685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潜向量</a:t>
            </a:r>
            <a:endParaRPr sz="3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2342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输出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1714" y="3154680"/>
            <a:ext cx="2196846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单一连续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Latent Vector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用于条件化快系统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636007"/>
            <a:ext cx="10515600" cy="2985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8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示例：对“将物体分类并放置”这类复杂任务进行慢思考</a:t>
            </a:r>
            <a:r>
              <a:rPr sz="1580" b="0" i="0" dirty="0">
                <a:solidFill>
                  <a:srgbClr val="667085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Helix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快系统（系统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1）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1267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80M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参数规模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239021"/>
            <a:ext cx="2196846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交叉注意力编码器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解码器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Transforme</a:t>
            </a:r>
            <a:r>
              <a:rPr lang="en-US"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200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16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运行频率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454" y="3239021"/>
            <a:ext cx="2196846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高频实时执</a:t>
            </a:r>
            <a:r>
              <a:rPr lang="zh-CN" altLang="en-US" sz="16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222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连续动作</a:t>
            </a:r>
            <a:endParaRPr sz="3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879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输出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7084" y="3239021"/>
            <a:ext cx="2196846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直接生成低级连续控制，而非离散规划序列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8685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灵巧控制</a:t>
            </a:r>
            <a:endParaRPr sz="3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23426" y="2743200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任务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1714" y="3239021"/>
            <a:ext cx="2196846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精确抓取、姿态调整等快速动作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0" cy="2985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8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快系统必须持续响应环境变化，因此运行频率远高于慢系统</a:t>
            </a:r>
            <a:r>
              <a:rPr sz="1580" b="0" i="0" dirty="0">
                <a:solidFill>
                  <a:srgbClr val="667085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Helix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的解耦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>
              <a:gd name="adj" fmla="val 364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计算解耦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大 VLM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不必以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200 Hz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持续运行，降低在线推理成本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>
              <a:gd name="adj" fmla="val 3992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控制解耦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450592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快系统持续根据环境变化修正动作，保持高频闭环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任务泛化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450592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慢系统处理新指令与新任务语义，快系统复用通用运动能力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应用场景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450592"/>
            <a:ext cx="213741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物流、协作等“手脑并用”任务，可边理解指令边快速分拣与操作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Helix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训练：真实世界数据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模仿学习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强化学习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9"/>
            <a:ext cx="2560320" cy="1444752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真实数据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96312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使用大规模真实世界人形机器人交互数据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31343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74519"/>
            <a:ext cx="2560320" cy="144475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模仿学习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96312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从高质量行为示范中学习任务与运动模式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01512" y="231343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0384" y="1874519"/>
            <a:ext cx="2560320" cy="144475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30112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7312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强化学习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84976" y="2496312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进一步优化策略表现与泛化能力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9848" y="231343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8720" y="1874519"/>
            <a:ext cx="2560320" cy="1444752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18447" y="204954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5647" y="203911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新任务泛化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73312" y="2496312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训练后的双系统可适应新的对象、场景与指令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46648" y="6426067"/>
            <a:ext cx="3909726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Helix</a:t>
            </a:r>
            <a:r>
              <a:rPr lang="zh-CN" altLang="en-US" sz="176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人形机器人</a:t>
            </a:r>
            <a:r>
              <a:rPr lang="zh-CN" altLang="en-US" sz="176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中的应用</a:t>
            </a:r>
            <a:endParaRPr sz="176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7EF80BA8-9CF9-53CB-753C-987FE7D41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992" y="3494300"/>
            <a:ext cx="7930896" cy="2859501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1170432" cy="6858000"/>
          </a:xfrm>
          <a:prstGeom prst="parallelogram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859536" y="0"/>
            <a:ext cx="219456" cy="6858000"/>
          </a:xfrm>
          <a:prstGeom prst="parallelogram">
            <a:avLst/>
          </a:prstGeom>
          <a:solidFill>
            <a:srgbClr val="B7C5E0"/>
          </a:solidFill>
          <a:ln>
            <a:solidFill>
              <a:srgbClr val="B7C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600200" cy="12249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91640"/>
            <a:ext cx="76352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“</a:t>
            </a: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大脑</a:t>
            </a:r>
            <a:r>
              <a:rPr sz="39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—</a:t>
            </a: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小脑</a:t>
            </a:r>
            <a:r>
              <a:rPr sz="39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—</a:t>
            </a: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肢体”结构</a:t>
            </a:r>
            <a:endParaRPr sz="39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5360" y="320040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第5章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5.4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结构概述：高层规划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+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运动协调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+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低级执行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29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800" dirty="0">
                <a:solidFill>
                  <a:srgbClr val="222833"/>
                </a:solidFill>
                <a:latin typeface="微软雅黑" panose="020B0503020204020204" pitchFamily="34" charset="-122"/>
              </a:rPr>
              <a:t>• “</a:t>
            </a:r>
            <a:r>
              <a:rPr sz="28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大脑</a:t>
            </a:r>
            <a:r>
              <a:rPr sz="28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8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小脑</a:t>
            </a:r>
            <a:r>
              <a:rPr sz="28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8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肢体”是具身智能中常见的分层架构，强调功能解耦与层级协同</a:t>
            </a:r>
            <a:endParaRPr sz="28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8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大脑：负责语义理解、任务分解、环境推理等高层认知</a:t>
            </a:r>
            <a:endParaRPr sz="28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8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小脑：负责轨迹生成、姿态平衡、避障与技能执行等实时运动协调</a:t>
            </a:r>
            <a:endParaRPr sz="28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8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肢体：负责关节伺服、硬件接口、传感器采集等低级执行</a:t>
            </a:r>
            <a:endParaRPr sz="28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三层运行频率：越靠近硬件，更新越快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344424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322478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1–10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315163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大脑</a:t>
            </a:r>
            <a:endParaRPr sz="24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251200"/>
            <a:ext cx="311505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高层语义理解与长期规划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6072" y="1828800"/>
            <a:ext cx="344424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5800" y="2084832"/>
            <a:ext cx="322478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50–200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2376" y="2743200"/>
            <a:ext cx="315163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小脑</a:t>
            </a:r>
            <a:endParaRPr sz="24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50664" y="3251200"/>
            <a:ext cx="311505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实时运动协调与技能执行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58912" y="1828800"/>
            <a:ext cx="344424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8640" y="2084832"/>
            <a:ext cx="322478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500 Hz–1 kHz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5216" y="2743200"/>
            <a:ext cx="315163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肢体</a:t>
            </a:r>
            <a:endParaRPr sz="24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3504" y="3251200"/>
            <a:ext cx="311505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关节伺服控制与传感器采集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4878565"/>
            <a:ext cx="105156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不同层级按任务时间尺度分工：认知慢、协调快、伺服最快</a:t>
            </a:r>
            <a:r>
              <a:rPr sz="2000" b="0" i="0" dirty="0">
                <a:solidFill>
                  <a:srgbClr val="667085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频率阶梯：把机器人控制分成三个时间尺度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1965960"/>
            <a:ext cx="114300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大脑</a:t>
            </a:r>
            <a:endParaRPr sz="22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23160" y="1965960"/>
            <a:ext cx="2713518" cy="475488"/>
          </a:xfrm>
          <a:prstGeom prst="round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46920" y="1947672"/>
            <a:ext cx="146304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1–10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14300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小脑</a:t>
            </a:r>
            <a:endParaRPr sz="22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23160" y="3246120"/>
            <a:ext cx="6001352" cy="475488"/>
          </a:xfrm>
          <a:prstGeom prst="round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46920" y="3227832"/>
            <a:ext cx="146304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50–200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114300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肢体</a:t>
            </a:r>
            <a:endParaRPr sz="22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23160" y="4526280"/>
            <a:ext cx="7818120" cy="475488"/>
          </a:xfrm>
          <a:prstGeom prst="round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46920" y="4507992"/>
            <a:ext cx="2157984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500–1000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" y="5478438"/>
            <a:ext cx="103327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高层任务的语义变化较慢；越接近执行器，控制环需要越高频地抑制扰动并保证稳定</a:t>
            </a:r>
            <a:r>
              <a:rPr sz="20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三层协同的系统收益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全局指导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大脑提供长期目标和任务结构，避免底层控制只关注局部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局部优化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小脑根据环境与本体反馈进行实时轨迹和姿态修正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精准执行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肢体层以高频伺服保证关节、传感与驱动的稳定闭环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模块可升级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高层大模型可独立更新，而底层实时控制不必完全重训练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213173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智源研究院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RoboOS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等框架，体现“大脑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小脑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肢体”式分层协同思路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银河通用等团队探索分层技能调度，把高层任务规划与低层技能执行解耦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国家地方共建人形机器人创新中心等单位推动相关架构开源研究，目标是构建标准化具身智能系统与开放社区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5.4.2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架构示例：朱雀大脑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—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玄武小脑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—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肢体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1559560"/>
            <a:ext cx="2560320" cy="2111248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2096" y="172415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朱雀大脑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364232"/>
            <a:ext cx="2404872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VLM / LLM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处理自然语言与图像、点云等多模态输入，输出任务分解和高级计划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199847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559560"/>
            <a:ext cx="2560320" cy="2111248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0432" y="172415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玄武小脑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02736" y="2364232"/>
            <a:ext cx="2404872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接收高层计划和肢体反馈，输出精细轨迹或关节力矩，保障实时性与稳定性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53328" y="199847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559560"/>
            <a:ext cx="2560320" cy="2111248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4488" y="172415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肢体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36792" y="2364232"/>
            <a:ext cx="2404872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集成硬件接口、伺服驱动、PID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与状态估计器，执行低级控制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199847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0536" y="1559560"/>
            <a:ext cx="2560320" cy="2111248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32823" y="172415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反馈闭环</a:t>
            </a:r>
            <a:endParaRPr sz="2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25128" y="2364232"/>
            <a:ext cx="2404872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触觉、关节位置等环境与本体反馈返回小脑和大脑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5F7ABB0-9E23-F58F-1E3E-FC43A37B0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558" y="3835400"/>
            <a:ext cx="8745316" cy="280005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朱雀大脑：语义理解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与长程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>
              <a:gd name="adj" fmla="val 75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自然语言指令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图像、点云等多模态传感器数据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>
              <a:gd name="adj" fmla="val 2363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核心能力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45059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语义解析、环境推理、任务分解与高级计划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>
              <a:gd name="adj" fmla="val 5788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45059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理解“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拿起杯子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生成可执行的步骤序列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部署位置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45059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通常部署于云端或高性能计算单元，侧重长期规划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玄武小脑：把高层计划变成实时运动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>
              <a:gd name="adj" fmla="val 558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输入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745232"/>
            <a:ext cx="213741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大脑计划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+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肢体状态与环境反馈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输出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745232"/>
            <a:ext cx="213741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关节力矩、轨迹调整等精细动作命令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重点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74523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多自由度运动协调、姿态平衡、避障与稳定执行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>
              <a:gd name="adj" fmla="val 296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部署位置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74523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通常运行在边缘计算单元，以满足实时控制要求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肢体：高频伺服与传感器数据采集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>
              <a:gd name="adj" fmla="val 437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硬件接口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74523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连接电机、驱动器、力觉／触觉与关节传感器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低级控制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74523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使用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PID、状态估计等方法实现稳定伺服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高频反馈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74523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以 500 Hz–1 kHz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级频率采集状态并执行控制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>
              <a:gd name="adj" fmla="val 437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向上反馈</a:t>
            </a:r>
            <a:endParaRPr sz="2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74523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把触觉、关节位置等信息回传给小脑与大脑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接口与闭环：API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/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共享嵌入连接三个层级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965960"/>
            <a:ext cx="2743200" cy="192024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237744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大脑</a:t>
            </a:r>
            <a:endParaRPr sz="24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907792"/>
            <a:ext cx="237744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任务理解</a:t>
            </a:r>
            <a:r>
              <a:rPr sz="24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sz="24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规划</a:t>
            </a:r>
            <a:endParaRPr sz="24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57016" y="2615184"/>
            <a:ext cx="530352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965960"/>
            <a:ext cx="2743200" cy="192024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43400" y="2267712"/>
            <a:ext cx="237744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小脑</a:t>
            </a:r>
            <a:endParaRPr sz="24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43400" y="2907792"/>
            <a:ext cx="237744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轨迹</a:t>
            </a:r>
            <a:r>
              <a:rPr sz="24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sz="24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协调</a:t>
            </a:r>
            <a:endParaRPr sz="24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0296" y="2615184"/>
            <a:ext cx="530352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965960"/>
            <a:ext cx="2743200" cy="1920240"/>
          </a:xfrm>
          <a:prstGeom prst="roundRect">
            <a:avLst/>
          </a:prstGeom>
          <a:solidFill>
            <a:srgbClr val="FDECEE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26679" y="2267712"/>
            <a:ext cx="237744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肢体</a:t>
            </a:r>
            <a:endParaRPr sz="24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26679" y="2907792"/>
            <a:ext cx="237744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伺服</a:t>
            </a:r>
            <a:r>
              <a:rPr sz="24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sz="24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传感</a:t>
            </a:r>
            <a:endParaRPr sz="24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08960" y="4663440"/>
            <a:ext cx="598932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反馈：触觉</a:t>
            </a:r>
            <a:r>
              <a:rPr sz="24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/ </a:t>
            </a:r>
            <a:r>
              <a:rPr sz="24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关节位置</a:t>
            </a:r>
            <a:r>
              <a:rPr sz="24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/ </a:t>
            </a:r>
            <a:r>
              <a:rPr sz="24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环境变化</a:t>
            </a:r>
            <a:endParaRPr sz="24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5303520"/>
            <a:ext cx="100584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整体可通过</a:t>
            </a:r>
            <a:r>
              <a:rPr sz="20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API </a:t>
            </a: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或共享嵌入空间连接，并支持端到端或分层训练</a:t>
            </a:r>
            <a:r>
              <a:rPr sz="20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快／慢系统与“大脑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小脑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肢体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66075"/>
              </p:ext>
            </p:extLst>
          </p:nvPr>
        </p:nvGraphicFramePr>
        <p:xfrm>
          <a:off x="658368" y="1664208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比较点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快／慢系统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大脑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小脑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肢体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层级数量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两层：慢系统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快系统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三层：大脑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小脑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肢体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高层职责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语义理解、规划、任务分解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大脑承担语义理解与高层规划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中／低层职责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快系统通常直接承担视觉运动控制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小脑负责运动协调，肢体负责伺服与传感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频率思想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慢低频、快高频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大脑低频、小脑中高频、肢体最高频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共同目标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在通用推理与实时控制之间取得平衡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通过层级分工实现高效、稳定、可扩展闭环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5.4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小结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8"/>
            <a:ext cx="2560320" cy="1904999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9480" y="2039112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长期规划</a:t>
            </a:r>
            <a:endParaRPr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96312"/>
            <a:ext cx="219456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理解语义、推理环境、分解任务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313432"/>
            <a:ext cx="384048" cy="732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74519"/>
            <a:ext cx="2560320" cy="1904998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07816" y="2039112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实时协调</a:t>
            </a:r>
            <a:endParaRPr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96312"/>
            <a:ext cx="219456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把高层计划转成稳定、连贯的技能与轨迹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71032" y="2313432"/>
            <a:ext cx="384048" cy="732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74518"/>
            <a:ext cx="2560320" cy="1865021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96152" y="2039112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精确执行</a:t>
            </a:r>
            <a:endParaRPr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96312"/>
            <a:ext cx="219456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以最高频率完成伺服和传感闭环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59368" y="2313432"/>
            <a:ext cx="384048" cy="732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74519"/>
            <a:ext cx="2560320" cy="1865020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84487" y="2039112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多层反馈</a:t>
            </a:r>
            <a:endParaRPr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96312"/>
            <a:ext cx="219456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层间接口与本体反馈形成持续闭环，可独立优化各层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3544" y="4314904"/>
            <a:ext cx="1033272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与快／慢系统相比，它进一步显式区分“运动协调层”和“硬件执行层</a:t>
            </a:r>
            <a:r>
              <a:rPr sz="24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”。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1170432" cy="6858000"/>
          </a:xfrm>
          <a:prstGeom prst="parallelogram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859536" y="0"/>
            <a:ext cx="219456" cy="6858000"/>
          </a:xfrm>
          <a:prstGeom prst="parallelogram">
            <a:avLst/>
          </a:prstGeom>
          <a:solidFill>
            <a:srgbClr val="B7C5E0"/>
          </a:solidFill>
          <a:ln>
            <a:solidFill>
              <a:srgbClr val="B7C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600200" cy="12249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91640"/>
            <a:ext cx="76352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NVIDIA GR00T </a:t>
            </a: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结构</a:t>
            </a:r>
            <a:endParaRPr sz="39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第5章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5.5 GR00T：通用人形机器人基础模型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34746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Project GR00T（Generalist Robot 00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Transformer）由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NVIDIA 于 2025 年 3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月发布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定位：开源、可完全定制的人形机器人基础模型，采用快／慢双系统设计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慢系统使用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NVIDIA-Eagle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视觉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语言模型，快系统使用多层扩散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Transformer（DiT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）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GR00T N1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融合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VLA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端到端学习与双系统解耦思想，并具备跨本体通用能力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模型以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Apache 2.0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许可开源，可基于真实或合成数据进行后训练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GR00T N1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74720" y="6382512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667085"/>
                </a:solidFill>
                <a:latin typeface="微软雅黑" panose="020B0503020204020204" pitchFamily="34" charset="-122"/>
              </a:rPr>
              <a:t>GR00T N1 </a:t>
            </a: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架构示意图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5160" y="1493406"/>
            <a:ext cx="8681720" cy="135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输入包括传感器视觉信息、机器人状态和文本词元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慢系统视觉语言模型提取语义特征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快系统扩散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Transformer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以高频率生成动作词元／连续动作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7A1B5E9-67E8-F82F-2557-E3C369567B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039" y="3208078"/>
            <a:ext cx="8362099" cy="2933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GR00T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慢系统：NVIDIA-Eagle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VLM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5152" y="2084832"/>
            <a:ext cx="229438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SmolLM-1.7B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223342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核心模型</a:t>
            </a:r>
            <a:endParaRPr sz="20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负责环境推理与指令理解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≈10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166" y="2743200"/>
            <a:ext cx="223342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运行频率</a:t>
            </a:r>
            <a:endParaRPr sz="20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45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低频输出视觉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语言语义特征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2220" y="2084832"/>
            <a:ext cx="2306574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图像</a:t>
            </a: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+ </a:t>
            </a: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状态</a:t>
            </a: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+ </a:t>
            </a: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语言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8796" y="2743200"/>
            <a:ext cx="223342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输入</a:t>
            </a:r>
            <a:endParaRPr sz="20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708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相机图像、历史状态和自然语言指令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50274" y="1988391"/>
            <a:ext cx="2306574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语义嵌入</a:t>
            </a:r>
            <a:endParaRPr sz="2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23426" y="2743200"/>
            <a:ext cx="223342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输出</a:t>
            </a:r>
            <a:endParaRPr sz="20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171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作为条件特征驱动快系统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GR00T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快系统：多层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DiT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动作头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DiT</a:t>
            </a:r>
            <a:endParaRPr sz="3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223342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模型类型</a:t>
            </a:r>
            <a:endParaRPr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多层扩散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Transformer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动作头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120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166" y="2743200"/>
            <a:ext cx="223342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运行频率</a:t>
            </a:r>
            <a:endParaRPr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45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高频生成连续低级动作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222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交叉注意力</a:t>
            </a:r>
            <a:endParaRPr sz="3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8796" y="2743200"/>
            <a:ext cx="223342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条件注入</a:t>
            </a:r>
            <a:endParaRPr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708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接收慢系统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VLM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特征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8685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连续动作</a:t>
            </a:r>
            <a:endParaRPr sz="3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23426" y="2743200"/>
            <a:ext cx="223342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输出</a:t>
            </a:r>
            <a:endParaRPr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1714" y="3154680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用于抓取、双臂协调、行走等运动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数据金字塔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38959" y="4397776"/>
            <a:ext cx="8321040" cy="749808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76119" y="4507504"/>
            <a:ext cx="8046719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互联网人类视频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21840" y="4800112"/>
            <a:ext cx="7955279" cy="264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大规模、低成本的广泛行为与视觉知识</a:t>
            </a:r>
            <a:endParaRPr sz="136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53360" y="3483376"/>
            <a:ext cx="6492240" cy="749808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0519" y="3593104"/>
            <a:ext cx="62179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Omniverse </a:t>
            </a: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合成神经轨迹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6240" y="3885712"/>
            <a:ext cx="6126479" cy="264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可控、可扩展的合成机器人数据</a:t>
            </a:r>
            <a:endParaRPr sz="136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67760" y="2568976"/>
            <a:ext cx="4663440" cy="749808"/>
          </a:xfrm>
          <a:prstGeom prst="roundRect">
            <a:avLst/>
          </a:prstGeom>
          <a:solidFill>
            <a:srgbClr val="FDECEE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04920" y="2678704"/>
            <a:ext cx="43891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真实机器人遥操作数据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50640" y="2971312"/>
            <a:ext cx="4297679" cy="264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最接近实际部署的高质量本体数据</a:t>
            </a:r>
            <a:endParaRPr sz="136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9680" y="5459007"/>
            <a:ext cx="94183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GR00T N1 </a:t>
            </a: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通过混合数据训练提升跨场景与跨本体泛化</a:t>
            </a:r>
            <a:endParaRPr sz="18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混合数据训练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1874519"/>
            <a:ext cx="27432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仅真实数据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7432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混合数据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0400" y="1874519"/>
            <a:ext cx="4963885" cy="530352"/>
          </a:xfrm>
          <a:prstGeom prst="round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00400" y="3794760"/>
            <a:ext cx="6949440" cy="530352"/>
          </a:xfrm>
          <a:prstGeom prst="round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37437" y="1847088"/>
            <a:ext cx="9144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2992" y="3767328"/>
            <a:ext cx="9144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140%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5290"/>
            <a:ext cx="10332720" cy="9171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以“仅真实数据训练”作为基准，互联网视频</a:t>
            </a:r>
            <a:r>
              <a:rPr sz="2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+ </a:t>
            </a:r>
            <a:r>
              <a:rPr sz="2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合成轨迹</a:t>
            </a:r>
            <a:r>
              <a:rPr sz="2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+ </a:t>
            </a:r>
            <a:r>
              <a:rPr sz="2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真实遥操作的混合数据训练性能约提升</a:t>
            </a:r>
            <a:r>
              <a:rPr sz="2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40%。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5.5.2 GR00T：端到端紧耦合的 VLM +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DiT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60320" cy="1686560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多模态输入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相机图像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+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历史状态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+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自然语言指令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60320" cy="1686560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VLM </a:t>
            </a: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推理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5059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NVIDIA-Eagle 约 10 Hz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输出视觉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语言特征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799"/>
            <a:ext cx="2560320" cy="1686557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DiT</a:t>
            </a:r>
            <a:r>
              <a:rPr sz="16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</a:t>
            </a: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生成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5059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多层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DiT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约 120 Hz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通过多步去噪生成连续动作块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28800"/>
            <a:ext cx="2560320" cy="1686556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闭环执行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5059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动作驱动机器人并接收新状态，形成端到端闭环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77639"/>
            <a:ext cx="1033272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两个系统通过共享嵌入与交叉注意力紧密耦合，而不是完全独立</a:t>
            </a:r>
            <a:endParaRPr sz="24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扩散动作生成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2376" y="2496312"/>
            <a:ext cx="2560320" cy="1444752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9304" y="2660905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噪声动作块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3118105"/>
            <a:ext cx="21945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从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a</a:t>
            </a:r>
            <a:r>
              <a:rPr sz="1600" b="0" i="0" baseline="-250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noise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开始，表示待生成的动作序列初始状态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1840" y="2935225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496312"/>
            <a:ext cx="2560320" cy="144475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7640" y="2660905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本体状态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75304" y="3118105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q</a:t>
            </a:r>
            <a:r>
              <a:rPr sz="1600" b="0" i="0" baseline="-25000" dirty="0">
                <a:solidFill>
                  <a:srgbClr val="222833"/>
                </a:solidFill>
                <a:latin typeface="微软雅黑" panose="020B0503020204020204" pitchFamily="34" charset="-122"/>
              </a:rPr>
              <a:t>t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提供当前关节位置等机器人状态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80176" y="2935225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2496312"/>
            <a:ext cx="2560320" cy="144475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65976" y="2660905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VLM </a:t>
            </a: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特征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3118105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h</a:t>
            </a:r>
            <a:r>
              <a:rPr sz="1600" b="0" i="0" baseline="-250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提供任务相关视觉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语言语义条件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8512" y="2935225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2496312"/>
            <a:ext cx="2560320" cy="1444752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54311" y="2660905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多步去噪</a:t>
            </a:r>
            <a:endParaRPr sz="2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51976" y="3118105"/>
            <a:ext cx="21945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DiT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通过扩散／流匹配过程生成连续动作序列</a:t>
            </a:r>
            <a:endParaRPr sz="16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3544" y="4645153"/>
            <a:ext cx="1033272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扩散模型适合表示连续、复杂甚至多模态的动作分布</a:t>
            </a:r>
            <a:endParaRPr sz="24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7" name="Connector 5">
            <a:extLst>
              <a:ext uri="{FF2B5EF4-FFF2-40B4-BE49-F238E27FC236}">
                <a16:creationId xmlns:a16="http://schemas.microsoft.com/office/drawing/2014/main" id="{42397C02-F948-C015-5D8C-73D27504A3C2}"/>
              </a:ext>
            </a:extLst>
          </p:cNvPr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GR00T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动作生成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967466"/>
            <a:ext cx="7315200" cy="12314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" y="3794760"/>
            <a:ext cx="3502152" cy="1572768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" y="3794760"/>
            <a:ext cx="64008" cy="1572768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313639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a</a:t>
            </a:r>
            <a:r>
              <a:rPr sz="2000" b="1" i="0" baseline="-2500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noise</a:t>
            </a:r>
            <a:endParaRPr sz="2000" b="1" i="0" baseline="-2500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4416552"/>
            <a:ext cx="3118104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噪声动作块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79976" y="3794760"/>
            <a:ext cx="3502152" cy="1572768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79976" y="3794760"/>
            <a:ext cx="64008" cy="1572768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3959352"/>
            <a:ext cx="313639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q</a:t>
            </a:r>
            <a:r>
              <a:rPr sz="2000" b="1" i="0" baseline="-25000" dirty="0">
                <a:solidFill>
                  <a:srgbClr val="2F8E72"/>
                </a:solidFill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416552"/>
            <a:ext cx="311810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机器人当前本体状态，如关节位置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38160" y="3794760"/>
            <a:ext cx="3502152" cy="1572768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38160" y="3794760"/>
            <a:ext cx="64008" cy="1572768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3959352"/>
            <a:ext cx="313639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h</a:t>
            </a:r>
            <a:r>
              <a:rPr lang="en-US" sz="2000" b="1" i="0" baseline="-2500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t</a:t>
            </a:r>
            <a:endParaRPr sz="2000" b="1" i="0" baseline="-2500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39328" y="4416552"/>
            <a:ext cx="311810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VLM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输出的视觉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语言特征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共享嵌入与交叉注意力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967720" cy="23671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慢系统输出的视觉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语言特征被映射为快系统交叉注意力中的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Key / Value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快系统在生成动作时持续读取这些条件特征，从而让动作与任务语义保持一致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这种“语义条件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+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高频去噪”机制把低频理解与高频控制连接为一个端到端模型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854200" y="4897119"/>
            <a:ext cx="2011680" cy="1143000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37080" y="5171440"/>
            <a:ext cx="164592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VLM </a:t>
            </a: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特征</a:t>
            </a:r>
            <a:br>
              <a:rPr dirty="0">
                <a:latin typeface="微软雅黑" panose="020B0503020204020204" pitchFamily="34" charset="-122"/>
              </a:rPr>
            </a:b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h</a:t>
            </a:r>
            <a:r>
              <a:rPr sz="2000" b="1" i="0" baseline="-2500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t</a:t>
            </a:r>
            <a:endParaRPr sz="2000" b="1" i="0" baseline="-2500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38448" y="5253736"/>
            <a:ext cx="11430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FFC000"/>
                </a:solidFill>
                <a:latin typeface="微软雅黑" panose="020B0503020204020204" pitchFamily="34" charset="-122"/>
              </a:rPr>
              <a:t>→ K /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8840" y="4897119"/>
            <a:ext cx="1600200" cy="114300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32377" y="5075695"/>
            <a:ext cx="1759712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DiT</a:t>
            </a:r>
            <a:br>
              <a:rPr dirty="0">
                <a:latin typeface="微软雅黑" panose="020B0503020204020204" pitchFamily="34" charset="-122"/>
              </a:rPr>
            </a:br>
            <a:r>
              <a:rPr sz="18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Cross-Attn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6363019" y="5137251"/>
            <a:ext cx="41148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FFC000"/>
                </a:solidFill>
                <a:latin typeface="微软雅黑" panose="020B0503020204020204" pitchFamily="34" charset="-122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6400" y="4897119"/>
            <a:ext cx="2560320" cy="1005840"/>
          </a:xfrm>
          <a:prstGeom prst="roundRect">
            <a:avLst/>
          </a:prstGeom>
          <a:solidFill>
            <a:srgbClr val="FDECEE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57568" y="5189728"/>
            <a:ext cx="214884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连续动作序列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跨本体适配：一套核心模型控制不同机器人形态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606040"/>
          </a:xfrm>
          <a:prstGeom prst="roundRect">
            <a:avLst>
              <a:gd name="adj" fmla="val 1848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60604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本体特定编码器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650344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小型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MLP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把不同机器人的传感器状态映射到统一模型表示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606040"/>
          </a:xfrm>
          <a:prstGeom prst="roundRect">
            <a:avLst>
              <a:gd name="adj" fmla="val 3722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60604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共享核心模型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650344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VLM +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DiT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学习跨任务、跨场景的通用语义与动作规律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60604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60604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本体特定解码器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650344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小型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MLP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把共享动作表示映射到具体机器人执行器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意义：核心模型可复用，只有输入／输出适配层随机器人本体变化</a:t>
            </a:r>
            <a:endParaRPr sz="24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" y="475488"/>
            <a:ext cx="11357647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GR00T应用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606040"/>
          </a:xfrm>
          <a:prstGeom prst="roundRect">
            <a:avLst>
              <a:gd name="adj" fmla="val 65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60604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工厂协作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765751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慢系统理解复杂工序与人类指令，快系统完成双臂、抓取与行走等高频动作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606040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60604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家庭整理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765751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结合场景语义推理和快速反应，完成长程多步骤整理任务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60604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60604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未知环境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765751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跨本体与混合数据训练增强在新环境、新任务中的泛化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1170432" cy="6858000"/>
          </a:xfrm>
          <a:prstGeom prst="parallelogram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859536" y="0"/>
            <a:ext cx="219456" cy="6858000"/>
          </a:xfrm>
          <a:prstGeom prst="parallelogram">
            <a:avLst/>
          </a:prstGeom>
          <a:solidFill>
            <a:srgbClr val="B7C5E0"/>
          </a:solidFill>
          <a:ln>
            <a:solidFill>
              <a:srgbClr val="B7C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600200" cy="12249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91640"/>
            <a:ext cx="76352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具身智能大模型训练</a:t>
            </a:r>
            <a:endParaRPr sz="39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第5章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95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5.6.1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训练过程：四个阶段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10511"/>
            <a:ext cx="2560320" cy="2020203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数据收集与预处理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21945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真实遥操作或仿真采集图像、语言指令与动作轨迹，并完成清洗与对齐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249424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10511"/>
            <a:ext cx="2560320" cy="2020203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预训练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32304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在海量多模态数据上学习视觉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语言对齐和基本运动模式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49424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10511"/>
            <a:ext cx="2560320" cy="2020203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微调</a:t>
            </a:r>
            <a:r>
              <a:rPr sz="16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/ </a:t>
            </a: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后训练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32304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针对特定机器人本体或任务优化，使模型适配真实控制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49424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10511"/>
            <a:ext cx="2560320" cy="2020203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评估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32304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在新环境、新任务上测试泛化能力、稳定性与部署实用性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阶段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1：数据收集与预处理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>
              <a:gd name="adj" fmla="val 364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真实遥操作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610392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记录同步的图像序列、自然语言指令、本体状态与对应动作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仿真采集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610392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在可控环境中快速生成轨迹、失败样本与多样场景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多模态对齐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610392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保证视觉、语言、状态、动作在时间轴和语义上正确对应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>
              <a:gd name="adj" fmla="val 2408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预处理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610392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完成清洗、归一化、动作离散化或切片等处理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阶段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2：预训练—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学习“通用表示”而非单一任务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149840" cy="183370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训练数据可以来自大规模语言、图像、视频以及机器人多模态轨迹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预训练目标包括视觉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语言对齐、语义理解、场景概念与基本运动模式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对于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VLA，预训练的价值在于把互联网知识迁移到机器人任务中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模型规模通常达到亿级及以上，需要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GPU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集群提供高吞吐训练能力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3：微调 / 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后训练</a:t>
            </a:r>
            <a:r>
              <a:rPr lang="en-US" altLang="zh-CN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Post-training</a:t>
            </a:r>
            <a:r>
              <a:rPr 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606040"/>
          </a:xfrm>
          <a:prstGeom prst="roundRect">
            <a:avLst>
              <a:gd name="adj" fmla="val 474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60604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本体适配</a:t>
            </a:r>
            <a:endParaRPr sz="24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796823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针对不同传感器、关节和动作空间调整输入输出接口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606040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60604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任务特定优化</a:t>
            </a:r>
            <a:endParaRPr sz="2400" b="1" i="0" dirty="0">
              <a:solidFill>
                <a:srgbClr val="2F8E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796823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在抓取、导航、双臂协作等任务数据上继续训练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606040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60604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训练范式</a:t>
            </a:r>
            <a:endParaRPr sz="2400" b="1" i="0" dirty="0">
              <a:solidFill>
                <a:srgbClr val="C58A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796823"/>
            <a:ext cx="311810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常用模仿学习（行为克隆）或强化学习，也可混合使用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阶段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4：评估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>
              <a:gd name="adj" fmla="val 364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新环境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708046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光照、背景、摆放、地形变化后是否仍能完成任务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>
              <a:gd name="adj" fmla="val 293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新物体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708046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训练时未出现的物体是否可被识别并正确操作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>
              <a:gd name="adj" fmla="val 276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新指令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708046"/>
            <a:ext cx="213741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语言表达变化或抽象指令是否可理解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>
              <a:gd name="adj" fmla="val 1175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部署实用性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708046"/>
            <a:ext cx="213741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控制频率、安全性、稳定性、计算成本是否满足真机要求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？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5.6.2 Open X-Embodiment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664208"/>
            <a:ext cx="10634472" cy="17439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Open X-Embodiment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项目于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2023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年启动，目标是构建跨本体通用机器人数据集与模型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核心模型为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RT-X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系列，包括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RT-1-X 与 RT-2-X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全球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34 家实验室、60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套异构机器人数据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集进行验证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E15E67E-026E-705B-AC6B-37F3092EF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20" y="3500535"/>
            <a:ext cx="9556812" cy="318560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X-Embodiment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56517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012549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 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670917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4082397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全球多机构共同提供机器人数据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7862" y="2756517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90" y="3012549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 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166" y="3670917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异构轨迹数据</a:t>
            </a:r>
            <a:r>
              <a:rPr lang="zh-CN" altLang="en-US" sz="155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454" y="4082397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覆盖不同机器人平台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492" y="2756517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2220" y="3012549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&gt;100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3670917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真实轨迹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7084" y="4082397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多模态机器人操作数据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7122" y="2756517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86850" y="3012549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 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3426" y="3670917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机器人形态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1714" y="4082397"/>
            <a:ext cx="2196846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体现跨本体多样性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cxnSp>
        <p:nvCxnSpPr>
          <p:cNvPr id="23" name="Connector 5">
            <a:extLst>
              <a:ext uri="{FF2B5EF4-FFF2-40B4-BE49-F238E27FC236}">
                <a16:creationId xmlns:a16="http://schemas.microsoft.com/office/drawing/2014/main" id="{46867795-44AC-ADCF-4F46-492B0F50E9E5}"/>
              </a:ext>
            </a:extLst>
          </p:cNvPr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Open X-Embodiment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的任务与平台覆盖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160000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89684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任务变体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301164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从简单到复杂的跨本体任务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6786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9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抓取</a:t>
            </a:r>
            <a:r>
              <a:rPr sz="3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 / </a:t>
            </a:r>
            <a:r>
              <a:rPr sz="3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抽屉</a:t>
            </a:r>
            <a:endParaRPr sz="3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4166" y="2889684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操作任务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2454" y="3301164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涵盖物体抓取、抽屉开关等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249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2220" y="2084832"/>
            <a:ext cx="230657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导航</a:t>
            </a:r>
            <a:r>
              <a:rPr sz="3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/ </a:t>
            </a:r>
            <a:r>
              <a:rPr sz="3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跟随</a:t>
            </a:r>
            <a:endParaRPr sz="3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8796" y="2889684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移动任务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7084" y="3301164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覆盖环境导航与指令跟随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77122" y="1828800"/>
            <a:ext cx="252603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86850" y="2084832"/>
            <a:ext cx="2306574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MuJoCo</a:t>
            </a: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 / Isaac 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3426" y="2889684"/>
            <a:ext cx="223342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仿真平台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1714" y="3301164"/>
            <a:ext cx="2196846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用于数据生成与策略验证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RT-X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模型系列训练流程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73352"/>
            <a:ext cx="10771632" cy="11662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</a:rPr>
              <a:t>• RT-1-X：在聚合机器人数据上训练 RT-1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架构</a:t>
            </a:r>
            <a:endParaRPr sz="20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</a:rPr>
              <a:t>• RT-2-X：在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PaLI</a:t>
            </a: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</a:rPr>
              <a:t>-X 等 VLM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基础上协同微调，并进一步引入互联网视觉</a:t>
            </a: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语言数据</a:t>
            </a:r>
            <a:endParaRPr sz="20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0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统一多本体数据接口，使不同机器人经验能够共同训练一个通用策略</a:t>
            </a:r>
            <a:endParaRPr sz="20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66160" y="5937563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667085"/>
                </a:solidFill>
                <a:latin typeface="微软雅黑" panose="020B0503020204020204" pitchFamily="34" charset="-122"/>
              </a:rPr>
              <a:t>RT-X </a:t>
            </a: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模型系列训练流程示意图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DFF8AB1-C850-4129-BBC8-A769476045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3271762"/>
            <a:ext cx="10434243" cy="2527534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RT-X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模型训练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799"/>
            <a:ext cx="2560320" cy="2275197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783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词元化数据</a:t>
            </a:r>
            <a:endParaRPr sz="24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681413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图像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语言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动作被编码成模型可处理的多模态序列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60320" cy="227520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68496" y="1993392"/>
            <a:ext cx="1783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端到端模仿</a:t>
            </a:r>
            <a:endParaRPr sz="24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681413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模型从输入词元直接预测动作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800"/>
            <a:ext cx="2560320" cy="2214976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2" y="1993392"/>
            <a:ext cx="1783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RT-1-X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81413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在 RT-1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架构上使用聚合多本体数据训练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28799"/>
            <a:ext cx="2560320" cy="2214977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45167" y="1993392"/>
            <a:ext cx="1783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RT-2-X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681413"/>
            <a:ext cx="21945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以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PaLI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-X 等 VLM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为基础，对机器人与视觉语言任务做协同微调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训练目标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627" y="1920240"/>
            <a:ext cx="6034265" cy="1188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" y="3703320"/>
            <a:ext cx="3502152" cy="15727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" y="3703320"/>
            <a:ext cx="64008" cy="1572768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867911"/>
            <a:ext cx="3136392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aᵢ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25112"/>
            <a:ext cx="3118104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真实动作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3703320"/>
            <a:ext cx="3502152" cy="15727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79976" y="3703320"/>
            <a:ext cx="64008" cy="1572768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3867911"/>
            <a:ext cx="3136392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âᵢ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325112"/>
            <a:ext cx="3118104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模型预测动作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703320"/>
            <a:ext cx="3502152" cy="15727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38160" y="3703320"/>
            <a:ext cx="64008" cy="1572768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3867911"/>
            <a:ext cx="3136392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325112"/>
            <a:ext cx="3118104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样本或动作元素数量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9EAB13F2-98D8-5DE9-DCF6-F499BE1427C5}"/>
              </a:ext>
            </a:extLst>
          </p:cNvPr>
          <p:cNvSpPr txBox="1"/>
          <p:nvPr/>
        </p:nvSpPr>
        <p:spPr>
          <a:xfrm>
            <a:off x="763524" y="1468022"/>
            <a:ext cx="10771632" cy="3462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动作回归常用均方误差</a:t>
            </a:r>
            <a:endParaRPr sz="20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优化与快／慢系统训练方式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AdamW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2137410" cy="104028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教材给出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RT-X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训练可采用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AdamW，学习率通常为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1e-5～1e-4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量级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联合优化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慢系统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VLM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可通过梯度回传与快系统动作头协同更新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分阶段处理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也可先预训练慢系统语言／视觉能力，再微调快系统动作序列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批量训练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训练通常使用较大批次并依赖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GPU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集群以提升吞吐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跨本体训练带来的泛化收益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344424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322478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≈+50%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315163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RT-1-X </a:t>
            </a: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新任务成功率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154680"/>
            <a:ext cx="3115056" cy="25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相较单一本体训练显著提升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072" y="1828800"/>
            <a:ext cx="344424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5800" y="2084832"/>
            <a:ext cx="322478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更强</a:t>
            </a:r>
            <a:endParaRPr sz="3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2376" y="2743200"/>
            <a:ext cx="315163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RT-2-X </a:t>
            </a: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语义泛化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50664" y="3154680"/>
            <a:ext cx="3115056" cy="25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未见物体与抽象指令表现提升更明显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912" y="1828800"/>
            <a:ext cx="3444240" cy="2331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8640" y="2084832"/>
            <a:ext cx="322478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可迁移</a:t>
            </a:r>
            <a:endParaRPr sz="3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5216" y="2743200"/>
            <a:ext cx="3151632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跨本体技能</a:t>
            </a:r>
            <a:endParaRPr sz="155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3504" y="3154680"/>
            <a:ext cx="3115056" cy="4616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一种机器人上学习的技能可迁移到形态差异显著的另一种机器人</a:t>
            </a:r>
            <a:r>
              <a:rPr sz="132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687568"/>
            <a:ext cx="10515600" cy="2985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80" b="0" i="0" dirty="0">
                <a:solidFill>
                  <a:srgbClr val="667085"/>
                </a:solidFill>
                <a:latin typeface="微软雅黑" panose="020B0503020204020204" pitchFamily="34" charset="-122"/>
              </a:rPr>
              <a:t>Open X-Embodiment </a:t>
            </a:r>
            <a:r>
              <a:rPr sz="158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的核心经验：数据“多样性”本身就是通用机器人能力的重要来源</a:t>
            </a:r>
            <a:r>
              <a:rPr sz="1580" b="0" i="0" dirty="0">
                <a:solidFill>
                  <a:srgbClr val="667085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LeRobot：面向初学者的开源机器人学习工具链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2024 </a:t>
            </a: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发布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提供预训练模型、数据集和训练工具，降低机器人学习入门门槛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PyTorch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314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项目基于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PyTorch，便于与主流深度学习生态结合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真机</a:t>
            </a:r>
            <a:r>
              <a:rPr sz="18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/ </a:t>
            </a: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仿真切换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96227" y="2450592"/>
            <a:ext cx="213741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支持真实机器人与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MuJoCo、Isaac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Gym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等仿真器之间切换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策略算法</a:t>
            </a:r>
            <a:endParaRPr sz="18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7142" y="2450592"/>
            <a:ext cx="213741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集成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6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ACT、扩散策略等多种机器人策略</a:t>
            </a:r>
            <a:r>
              <a:rPr sz="16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5.6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小结：具身大模型训练的关键矛盾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60320" cy="1444752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数据规模与多样性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不仅要“多”，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还要跨任务、跨场景、跨本体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26771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60320" cy="144475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模型规模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50592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大模型带来语义与泛化，但训练和推理成本更高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800"/>
            <a:ext cx="2560320" cy="144475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训练协同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50592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预训练、行为克隆、强化学习与后训练需要合理组合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28800"/>
            <a:ext cx="2560320" cy="1444752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2003828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9339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部署评估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50592"/>
            <a:ext cx="2194560" cy="6740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最终必须回到新任务泛化、控制频率、安全与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Sim-to-Real。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77639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开源数据集、预训练模型和仿真平台正在把“通用具身模型”的复现门槛逐步降低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1170432" cy="6858000"/>
          </a:xfrm>
          <a:prstGeom prst="parallelogram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859536" y="0"/>
            <a:ext cx="219456" cy="6858000"/>
          </a:xfrm>
          <a:prstGeom prst="parallelogram">
            <a:avLst/>
          </a:prstGeom>
          <a:solidFill>
            <a:srgbClr val="B7C5E0"/>
          </a:solidFill>
          <a:ln>
            <a:solidFill>
              <a:srgbClr val="B7C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600200" cy="12249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5.7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91640"/>
            <a:ext cx="76352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案例</a:t>
            </a:r>
            <a:r>
              <a:rPr sz="39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：“</a:t>
            </a: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格物”具身智能仿真平台</a:t>
            </a:r>
            <a:endParaRPr sz="39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73552" y="2615184"/>
            <a:ext cx="731520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从预训练示例到强化学习自主训练，再到大模型控制与</a:t>
            </a:r>
            <a:r>
              <a:rPr sz="1700" b="0" i="0" dirty="0">
                <a:solidFill>
                  <a:srgbClr val="667085"/>
                </a:solidFill>
                <a:latin typeface="微软雅黑" panose="020B0503020204020204" pitchFamily="34" charset="-122"/>
              </a:rPr>
              <a:t> Sim-to-Real </a:t>
            </a:r>
            <a:r>
              <a:rPr sz="1700" b="0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的完整实践链路</a:t>
            </a:r>
            <a:endParaRPr sz="1700" b="0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73552" y="3794760"/>
            <a:ext cx="2148840" cy="384048"/>
          </a:xfrm>
          <a:prstGeom prst="rect">
            <a:avLst/>
          </a:prstGeom>
          <a:solidFill>
            <a:srgbClr val="EDF2FA"/>
          </a:solidFill>
          <a:ln w="6350">
            <a:solidFill>
              <a:srgbClr val="ED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00984" y="3867912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742432" y="3794760"/>
            <a:ext cx="2148840" cy="384048"/>
          </a:xfrm>
          <a:prstGeom prst="rect">
            <a:avLst/>
          </a:prstGeom>
          <a:solidFill>
            <a:srgbClr val="EAF5F1"/>
          </a:solidFill>
          <a:ln w="6350">
            <a:solidFill>
              <a:srgbClr val="EA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9864" y="3867912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ML-Agents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11312" y="3794760"/>
            <a:ext cx="2148840" cy="384048"/>
          </a:xfrm>
          <a:prstGeom prst="rect">
            <a:avLst/>
          </a:prstGeom>
          <a:solidFill>
            <a:srgbClr val="FFF4DE"/>
          </a:solidFill>
          <a:ln w="635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38744" y="3867912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机器人总动员</a:t>
            </a:r>
            <a:endParaRPr sz="125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73552" y="4361688"/>
            <a:ext cx="2148840" cy="384048"/>
          </a:xfrm>
          <a:prstGeom prst="rect">
            <a:avLst/>
          </a:prstGeom>
          <a:solidFill>
            <a:srgbClr val="FDECEE"/>
          </a:solidFill>
          <a:ln w="6350">
            <a:solidFill>
              <a:srgbClr val="FD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00984" y="4434840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Go2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4361688"/>
            <a:ext cx="2148840" cy="384048"/>
          </a:xfrm>
          <a:prstGeom prst="rect">
            <a:avLst/>
          </a:prstGeom>
          <a:solidFill>
            <a:srgbClr val="F1ECFA"/>
          </a:solidFill>
          <a:ln w="6350">
            <a:solidFill>
              <a:srgbClr val="F1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9864" y="4434840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 err="1">
                <a:solidFill>
                  <a:srgbClr val="7558A8"/>
                </a:solidFill>
                <a:latin typeface="微软雅黑" panose="020B0503020204020204" pitchFamily="34" charset="-122"/>
              </a:rPr>
              <a:t>功夫足球</a:t>
            </a:r>
            <a:endParaRPr sz="1250" b="1" i="0" dirty="0">
              <a:solidFill>
                <a:srgbClr val="7558A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11312" y="4361688"/>
            <a:ext cx="2148840" cy="384048"/>
          </a:xfrm>
          <a:prstGeom prst="rect">
            <a:avLst/>
          </a:prstGeom>
          <a:solidFill>
            <a:srgbClr val="EDF2FA"/>
          </a:solidFill>
          <a:ln w="6350">
            <a:solidFill>
              <a:srgbClr val="ED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38744" y="4434840"/>
            <a:ext cx="209397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大模型控制</a:t>
            </a:r>
            <a:endParaRPr sz="125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第5章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5.7 “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格物”具身智能仿真训练平台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984248"/>
            <a:ext cx="10395712" cy="30868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由国家地方共建人形机器人创新中心、上海大学、清华大学联合推出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基于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Unity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引擎构建，集成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Unity ML-Agents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强化学习框架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支持轮式、足式、人形等多种机器人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特色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：“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一套代码适配百余款机器人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”，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新机器人通过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URDF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导入即可快速训练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覆盖从预训练示例运行、强化学习自主训练到大模型控制与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Sim-to-Real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的完整流程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教材图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5-10：“格物”主菜单界面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73352"/>
            <a:ext cx="5450840" cy="290733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2.0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版本集成主界面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UI，覆盖行走、导航、操作三类核心任务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可从主菜单快速进入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WebRL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Lab、RobotReTu、WebTinkerRL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等功能模块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后续版本将进一步完善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VR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遥操作与大模型控制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" name="Picture 7" descr="p1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0" y="1673352"/>
            <a:ext cx="4983480" cy="28072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4644136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>
                <a:solidFill>
                  <a:srgbClr val="667085"/>
                </a:solidFill>
                <a:latin typeface="微软雅黑" panose="020B0503020204020204" pitchFamily="34" charset="-122"/>
              </a:rPr>
              <a:t>“</a:t>
            </a: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格物”主菜单界面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“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格物”提供的典型示例场景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627632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64008" cy="16276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机器人总动员</a:t>
            </a:r>
            <a:endParaRPr sz="17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多机器人预训练运动，快速观察行走、转弯等策略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27632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627632"/>
            <a:ext cx="64008" cy="1627632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复杂地形行走</a:t>
            </a:r>
            <a:endParaRPr sz="17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249424"/>
            <a:ext cx="3118104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通过课程学习逐步提高楼梯难度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27632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627632"/>
            <a:ext cx="64008" cy="1627632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功夫足球</a:t>
            </a:r>
            <a:endParaRPr sz="17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249424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1v1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自主对战，训练移动、对抗与足球策略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575304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" y="3575304"/>
            <a:ext cx="64008" cy="1627632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模仿学习</a:t>
            </a:r>
            <a:endParaRPr sz="17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197096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如跳舞等动作数据集，用于技能学习与迁移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6" y="3575304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79976" y="3575304"/>
            <a:ext cx="64008" cy="1627632"/>
          </a:xfrm>
          <a:prstGeom prst="rect">
            <a:avLst/>
          </a:prstGeom>
          <a:solidFill>
            <a:srgbClr val="7558A8"/>
          </a:solidFill>
          <a:ln>
            <a:solidFill>
              <a:srgbClr val="755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81144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7558A8"/>
                </a:solidFill>
                <a:latin typeface="微软雅黑" panose="020B0503020204020204" pitchFamily="34" charset="-122"/>
              </a:rPr>
              <a:t>Sim2Real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4197096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以 Go2 </a:t>
            </a: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四足机器人等为例验证仿真到现实迁移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575304"/>
            <a:ext cx="35021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38160" y="3575304"/>
            <a:ext cx="64008" cy="16276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8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大模型控制</a:t>
            </a:r>
            <a:endParaRPr sz="17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8" y="4197096"/>
            <a:ext cx="3118104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通过语音／文本指令驱动机器人导航与操作</a:t>
            </a:r>
            <a:r>
              <a:rPr sz="15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实践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1：安装 Unity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环境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8"/>
            <a:ext cx="2560320" cy="1869441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987993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2194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安装</a:t>
            </a: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 Unity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611637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搜索并安装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Unity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Hub，注册账号并登录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31343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74518"/>
            <a:ext cx="2560320" cy="1869441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1987993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03911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激活个人版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96312"/>
            <a:ext cx="21945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在安装提示中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Skip，然后同意并获取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personal edition 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31343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48756" y="1874519"/>
            <a:ext cx="2560320" cy="1869440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1987993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03911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安装</a:t>
            </a: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4788" y="2750136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在 Installs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中选择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Install Editor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31343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74519"/>
            <a:ext cx="2560320" cy="1869440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1987993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03911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版本要求</a:t>
            </a:r>
            <a:endParaRPr sz="2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9631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建议安装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Unity Editor 2022.3，约 7 GB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实践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2：下载并打开“格物”项目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10511"/>
            <a:ext cx="2560320" cy="2080765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下载仓库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GitHub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Unity-RL-Playground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并解压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249424"/>
            <a:ext cx="384048" cy="732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10511"/>
            <a:ext cx="2560320" cy="2080759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Unity Hub </a:t>
            </a: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打开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32304"/>
            <a:ext cx="21945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Projects →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Open，选择解压后的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Unity-RL-Playground /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gewu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71032" y="2249424"/>
            <a:ext cx="384048" cy="732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10512"/>
            <a:ext cx="2560320" cy="2080758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处理首次警告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32304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首次加载较慢；若弹出警告，选择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Ignore 或 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49424"/>
            <a:ext cx="384048" cy="732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10512"/>
            <a:ext cx="2560320" cy="2080764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进入主界面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32304"/>
            <a:ext cx="21945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Assets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中双击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GewuMenu.unity，点击播放</a:t>
            </a:r>
            <a:r>
              <a:rPr lang="zh-CN" altLang="en-US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钮进入主菜单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349940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主菜单可依次探索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8 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个功能模块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实践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3：配置 Python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强化学习训练环境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21458" cy="2560320"/>
          </a:xfrm>
          <a:prstGeom prst="roundRect">
            <a:avLst>
              <a:gd name="adj" fmla="val 2967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64008" cy="256032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Anaconda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4752"/>
            <a:ext cx="2137410" cy="128650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下载并安装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Anaconda，作为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Python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环境管理工具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146" y="1828800"/>
            <a:ext cx="2521458" cy="2560320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4146" y="1828800"/>
            <a:ext cx="64008" cy="256032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5314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Python 3.10.12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5314" y="271475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创建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gewu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环境并固定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Python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版本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59" y="1828800"/>
            <a:ext cx="2521458" cy="2560320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59" y="1828800"/>
            <a:ext cx="64008" cy="256032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6227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PyTorch</a:t>
            </a:r>
            <a:r>
              <a:rPr sz="18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2.2.1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6227" y="2714752"/>
            <a:ext cx="213741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使用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CUDA 12.1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对应索引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5974" y="1828800"/>
            <a:ext cx="2521458" cy="2560320"/>
          </a:xfrm>
          <a:prstGeom prst="roundRect">
            <a:avLst>
              <a:gd name="adj" fmla="val 2363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5974" y="1828800"/>
            <a:ext cx="64008" cy="2560320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7142" y="1993392"/>
            <a:ext cx="215569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ML-Agents 1.1.0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7142" y="2714752"/>
            <a:ext cx="213741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安装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Unity ML-Agents 的 Python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训练端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Python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环境配置命令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755648"/>
            <a:ext cx="10771632" cy="352044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0314432" cy="22713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E6EDF3"/>
                </a:solidFill>
                <a:latin typeface="Noto Sans Mono CJK SC"/>
              </a:rPr>
              <a:t>conda</a:t>
            </a: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 create -n </a:t>
            </a:r>
            <a:r>
              <a:rPr sz="2000" b="0" i="0" dirty="0" err="1">
                <a:solidFill>
                  <a:srgbClr val="E6EDF3"/>
                </a:solidFill>
                <a:latin typeface="Noto Sans Mono CJK SC"/>
              </a:rPr>
              <a:t>gewu</a:t>
            </a: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 python=3.10.12 -y</a:t>
            </a:r>
            <a:br>
              <a:rPr sz="2400" dirty="0">
                <a:latin typeface="微软雅黑" panose="020B0503020204020204" pitchFamily="34" charset="-122"/>
              </a:rPr>
            </a:br>
            <a:r>
              <a:rPr sz="2000" b="0" i="0" dirty="0" err="1">
                <a:solidFill>
                  <a:srgbClr val="E6EDF3"/>
                </a:solidFill>
                <a:latin typeface="Noto Sans Mono CJK SC"/>
              </a:rPr>
              <a:t>conda</a:t>
            </a: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 activate </a:t>
            </a:r>
            <a:r>
              <a:rPr sz="2000" b="0" i="0" dirty="0" err="1">
                <a:solidFill>
                  <a:srgbClr val="E6EDF3"/>
                </a:solidFill>
                <a:latin typeface="Noto Sans Mono CJK SC"/>
              </a:rPr>
              <a:t>gewu</a:t>
            </a:r>
            <a:br>
              <a:rPr sz="2400" dirty="0">
                <a:latin typeface="微软雅黑" panose="020B0503020204020204" pitchFamily="34" charset="-122"/>
              </a:rPr>
            </a:b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pip3 install torch~=2.2.1 --index-</a:t>
            </a:r>
            <a:r>
              <a:rPr sz="2000" b="0" i="0" dirty="0" err="1">
                <a:solidFill>
                  <a:srgbClr val="E6EDF3"/>
                </a:solidFill>
                <a:latin typeface="Noto Sans Mono CJK SC"/>
              </a:rPr>
              <a:t>url</a:t>
            </a: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 https://download.pytorch.org/whl/cu121</a:t>
            </a:r>
            <a:br>
              <a:rPr sz="2400" dirty="0">
                <a:latin typeface="微软雅黑" panose="020B0503020204020204" pitchFamily="34" charset="-122"/>
              </a:rPr>
            </a:b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python -m pip install </a:t>
            </a:r>
            <a:r>
              <a:rPr sz="2000" b="0" i="0" dirty="0" err="1">
                <a:solidFill>
                  <a:srgbClr val="E6EDF3"/>
                </a:solidFill>
                <a:latin typeface="Noto Sans Mono CJK SC"/>
              </a:rPr>
              <a:t>mlagents</a:t>
            </a: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==1.1.0</a:t>
            </a:r>
            <a:br>
              <a:rPr sz="2400" dirty="0">
                <a:latin typeface="微软雅黑" panose="020B0503020204020204" pitchFamily="34" charset="-122"/>
              </a:rPr>
            </a:br>
            <a:br>
              <a:rPr sz="2400" dirty="0">
                <a:latin typeface="微软雅黑" panose="020B0503020204020204" pitchFamily="34" charset="-122"/>
              </a:rPr>
            </a:b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# </a:t>
            </a:r>
            <a:r>
              <a:rPr sz="2000" b="0" i="0" dirty="0" err="1">
                <a:solidFill>
                  <a:srgbClr val="E6EDF3"/>
                </a:solidFill>
                <a:latin typeface="Noto Sans Mono CJK SC"/>
              </a:rPr>
              <a:t>验证安装</a:t>
            </a:r>
            <a:br>
              <a:rPr sz="2400" dirty="0">
                <a:latin typeface="微软雅黑" panose="020B0503020204020204" pitchFamily="34" charset="-122"/>
              </a:rPr>
            </a:br>
            <a:r>
              <a:rPr sz="2000" b="0" i="0" dirty="0" err="1">
                <a:solidFill>
                  <a:srgbClr val="E6EDF3"/>
                </a:solidFill>
                <a:latin typeface="Noto Sans Mono CJK SC"/>
              </a:rPr>
              <a:t>mlagents</a:t>
            </a:r>
            <a:r>
              <a:rPr sz="2000" b="0" i="0" dirty="0">
                <a:solidFill>
                  <a:srgbClr val="E6EDF3"/>
                </a:solidFill>
                <a:latin typeface="Noto Sans Mono CJK SC"/>
              </a:rPr>
              <a:t>-learn --help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59552"/>
            <a:ext cx="10424160" cy="2893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2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无报错即表示环境配置就绪；Mac</a:t>
            </a:r>
            <a:r>
              <a:rPr sz="152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152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用户按仓库中的对应</a:t>
            </a:r>
            <a:r>
              <a:rPr sz="152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setup </a:t>
            </a:r>
            <a:r>
              <a:rPr sz="152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文档补充配置</a:t>
            </a:r>
            <a:r>
              <a:rPr sz="152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实践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4：快速运行预训练示例——“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机器人总动员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10512"/>
            <a:ext cx="2560320" cy="1444752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打开场景</a:t>
            </a:r>
            <a:endParaRPr sz="16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Assets / Playground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中双击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Playground.unity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24942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10512"/>
            <a:ext cx="2560320" cy="1444752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直接播放</a:t>
            </a:r>
            <a:endParaRPr sz="16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32304"/>
            <a:ext cx="2194560" cy="6740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点击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Unity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播放按钮，即可观察多个机器人执行预训练运动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4942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10512"/>
            <a:ext cx="2560320" cy="144475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切换技能</a:t>
            </a:r>
            <a:endParaRPr sz="16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32304"/>
            <a:ext cx="2194560" cy="8802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Hierarchy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选中机器人，在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Inspector 的 Target Motion </a:t>
            </a: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下拉框切换运动模式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4942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10512"/>
            <a:ext cx="2560320" cy="1444752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1985540"/>
            <a:ext cx="38404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75104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无需训练</a:t>
            </a:r>
            <a:endParaRPr sz="16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32304"/>
            <a:ext cx="2194560" cy="4678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此步骤直接验证预训练策略在仿真中的实时部署效果</a:t>
            </a:r>
            <a:r>
              <a:rPr sz="134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教材图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5-11：机器人总动员场景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p1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4033"/>
            <a:ext cx="4983480" cy="25185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5002783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dirty="0" err="1">
                <a:solidFill>
                  <a:srgbClr val="667085"/>
                </a:solidFill>
                <a:latin typeface="微软雅黑" panose="020B0503020204020204" pitchFamily="34" charset="-122"/>
              </a:rPr>
              <a:t>机器人总动员场景图</a:t>
            </a:r>
            <a:endParaRPr sz="1250" b="1" i="0" dirty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408015"/>
            <a:ext cx="5394960" cy="20419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同一平台中可加载大量不同形态机器人，展示“一套代码适配多本体”的能力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预训练策略可直接驱动不同机器人执行运动技能，用于快速验证部署流程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0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实践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5：用强化学习训练 Go2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四足机器人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10511"/>
            <a:ext cx="2560320" cy="2466847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923985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75104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打开场景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574865"/>
            <a:ext cx="219456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进入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Assets / Playground /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Playground.unity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81838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10511"/>
            <a:ext cx="2560320" cy="2426207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1923985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75104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选择</a:t>
            </a: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 Go2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32304"/>
            <a:ext cx="2194560" cy="159428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Hierarchy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选中目标机器人，在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Inspector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勾选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train，并隐藏其他机器人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71032" y="281838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10512"/>
            <a:ext cx="2560320" cy="2426206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1923985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75104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激活环境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32304"/>
            <a:ext cx="2194560" cy="128650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在 Anaconda Prompt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执行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conda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activate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gewu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59368" y="2818384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10512"/>
            <a:ext cx="2560320" cy="2426206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87967" y="1923985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1975104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切换目录</a:t>
            </a:r>
            <a:endParaRPr sz="2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432304"/>
            <a:ext cx="219456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进入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gewu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/ Assets / Playground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目录</a:t>
            </a:r>
            <a:endParaRPr sz="2000"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Go2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强化学习训练命令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755648"/>
            <a:ext cx="10771632" cy="352044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0314432" cy="84023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 err="1">
                <a:solidFill>
                  <a:srgbClr val="E6EDF3"/>
                </a:solidFill>
                <a:latin typeface="Noto Sans Mono CJK SC"/>
              </a:rPr>
              <a:t>conda</a:t>
            </a:r>
            <a:r>
              <a:rPr sz="1700" b="0" i="0" dirty="0">
                <a:solidFill>
                  <a:srgbClr val="E6EDF3"/>
                </a:solidFill>
                <a:latin typeface="Noto Sans Mono CJK SC"/>
              </a:rPr>
              <a:t> activate </a:t>
            </a:r>
            <a:r>
              <a:rPr sz="1700" b="0" i="0" dirty="0" err="1">
                <a:solidFill>
                  <a:srgbClr val="E6EDF3"/>
                </a:solidFill>
                <a:latin typeface="Noto Sans Mono CJK SC"/>
              </a:rPr>
              <a:t>gewu</a:t>
            </a:r>
            <a:br>
              <a:rPr dirty="0">
                <a:latin typeface="微软雅黑" panose="020B0503020204020204" pitchFamily="34" charset="-122"/>
              </a:rPr>
            </a:br>
            <a:r>
              <a:rPr sz="1700" b="0" i="0" dirty="0">
                <a:solidFill>
                  <a:srgbClr val="E6EDF3"/>
                </a:solidFill>
                <a:latin typeface="Noto Sans Mono CJK SC"/>
              </a:rPr>
              <a:t>cd D:\Unity-RL-Playground\gewu\Assets\Playground</a:t>
            </a:r>
            <a:br>
              <a:rPr dirty="0">
                <a:latin typeface="微软雅黑" panose="020B0503020204020204" pitchFamily="34" charset="-122"/>
              </a:rPr>
            </a:br>
            <a:r>
              <a:rPr sz="1700" b="0" i="0" dirty="0" err="1">
                <a:solidFill>
                  <a:srgbClr val="E6EDF3"/>
                </a:solidFill>
                <a:latin typeface="Noto Sans Mono CJK SC"/>
              </a:rPr>
              <a:t>mlagents</a:t>
            </a:r>
            <a:r>
              <a:rPr sz="1700" b="0" i="0" dirty="0">
                <a:solidFill>
                  <a:srgbClr val="E6EDF3"/>
                </a:solidFill>
                <a:latin typeface="Noto Sans Mono CJK SC"/>
              </a:rPr>
              <a:t>-learn </a:t>
            </a:r>
            <a:r>
              <a:rPr sz="1700" b="0" i="0" dirty="0" err="1">
                <a:solidFill>
                  <a:srgbClr val="E6EDF3"/>
                </a:solidFill>
                <a:latin typeface="Noto Sans Mono CJK SC"/>
              </a:rPr>
              <a:t>config.yaml</a:t>
            </a:r>
            <a:r>
              <a:rPr sz="1700" b="0" i="0" dirty="0">
                <a:solidFill>
                  <a:srgbClr val="E6EDF3"/>
                </a:solidFill>
                <a:latin typeface="Noto Sans Mono CJK SC"/>
              </a:rPr>
              <a:t> --run-id=go2trot --force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59552"/>
            <a:ext cx="10424160" cy="5232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2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执行训练命令后立即返回</a:t>
            </a:r>
            <a:r>
              <a:rPr sz="152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152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Unity，点击播放按钮；终端出现</a:t>
            </a:r>
            <a:r>
              <a:rPr sz="152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“[INFO] Listening on ...” </a:t>
            </a:r>
            <a:r>
              <a:rPr sz="152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表示</a:t>
            </a:r>
            <a:r>
              <a:rPr sz="152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Unity 与 ML-Agents </a:t>
            </a:r>
            <a:r>
              <a:rPr sz="152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已连接</a:t>
            </a:r>
            <a:r>
              <a:rPr sz="152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训练过程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（续）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2434335"/>
            <a:ext cx="2560320" cy="2217927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547809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98928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启动连接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056128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Unity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点击播放开始训练，确认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ML-Agents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正在监听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3239008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434336"/>
            <a:ext cx="2560320" cy="2217926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1296" y="2547809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598928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观察奖励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3056128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终端实时显示奖励变化，也可启动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TensorBoard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3239008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2434335"/>
            <a:ext cx="2560320" cy="2188667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2547809"/>
            <a:ext cx="384048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598928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查看曲线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3056128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浏览器访问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localhost:6006，持续观察训练趋势。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39008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434336"/>
            <a:ext cx="2560320" cy="2188666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45167" y="2598928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训练规模</a:t>
            </a:r>
            <a:endParaRPr sz="2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3056128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建议训练约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200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万步，直到奖励稳定提升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TensorBoard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监控命令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755648"/>
            <a:ext cx="10771632" cy="3520440"/>
          </a:xfrm>
          <a:prstGeom prst="round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0314432" cy="120956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 dirty="0" err="1">
                <a:solidFill>
                  <a:srgbClr val="E6EDF3"/>
                </a:solidFill>
                <a:latin typeface="Noto Sans Mono CJK SC"/>
              </a:rPr>
              <a:t>tensorboard</a:t>
            </a:r>
            <a:r>
              <a:rPr sz="1900" b="0" i="0" dirty="0">
                <a:solidFill>
                  <a:srgbClr val="E6EDF3"/>
                </a:solidFill>
                <a:latin typeface="Noto Sans Mono CJK SC"/>
              </a:rPr>
              <a:t> --</a:t>
            </a:r>
            <a:r>
              <a:rPr sz="1900" b="0" i="0" dirty="0" err="1">
                <a:solidFill>
                  <a:srgbClr val="E6EDF3"/>
                </a:solidFill>
                <a:latin typeface="Noto Sans Mono CJK SC"/>
              </a:rPr>
              <a:t>logdir</a:t>
            </a:r>
            <a:r>
              <a:rPr sz="1900" b="0" i="0" dirty="0">
                <a:solidFill>
                  <a:srgbClr val="E6EDF3"/>
                </a:solidFill>
                <a:latin typeface="Noto Sans Mono CJK SC"/>
              </a:rPr>
              <a:t> results --port 6006</a:t>
            </a:r>
            <a:br>
              <a:rPr dirty="0">
                <a:latin typeface="微软雅黑" panose="020B0503020204020204" pitchFamily="34" charset="-122"/>
              </a:rPr>
            </a:br>
            <a:br>
              <a:rPr dirty="0">
                <a:latin typeface="微软雅黑" panose="020B0503020204020204" pitchFamily="34" charset="-122"/>
              </a:rPr>
            </a:br>
            <a:r>
              <a:rPr sz="1900" b="0" i="0" dirty="0">
                <a:solidFill>
                  <a:srgbClr val="E6EDF3"/>
                </a:solidFill>
                <a:latin typeface="Noto Sans Mono CJK SC"/>
              </a:rPr>
              <a:t># </a:t>
            </a:r>
            <a:r>
              <a:rPr sz="1900" b="0" i="0" dirty="0" err="1">
                <a:solidFill>
                  <a:srgbClr val="E6EDF3"/>
                </a:solidFill>
                <a:latin typeface="Noto Sans Mono CJK SC"/>
              </a:rPr>
              <a:t>浏览器访问</a:t>
            </a:r>
            <a:br>
              <a:rPr dirty="0">
                <a:latin typeface="微软雅黑" panose="020B0503020204020204" pitchFamily="34" charset="-122"/>
              </a:rPr>
            </a:br>
            <a:r>
              <a:rPr sz="1900" b="0" i="0" dirty="0">
                <a:solidFill>
                  <a:srgbClr val="E6EDF3"/>
                </a:solidFill>
                <a:latin typeface="Noto Sans Mono CJK SC"/>
              </a:rPr>
              <a:t>http://localhost:6006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59552"/>
            <a:ext cx="10424160" cy="2893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2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训练过程中重点观察奖励曲线是否持续上升并逐步趋于稳定</a:t>
            </a:r>
            <a:r>
              <a:rPr sz="152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Go2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训练结束：保存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ONNX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并回到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Unity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部署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10511"/>
            <a:ext cx="2560320" cy="2334767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1975104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停止训练</a:t>
            </a:r>
            <a:endParaRPr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使用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Ctrl+C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停止，训练结果自动保存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249424"/>
            <a:ext cx="384048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10512"/>
            <a:ext cx="2560320" cy="2273808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68496" y="1975104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模型路径</a:t>
            </a:r>
            <a:endParaRPr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432304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results / go2trot /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gewu.onnx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49424"/>
            <a:ext cx="384048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10512"/>
            <a:ext cx="2560320" cy="2273808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2" y="1975104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加载策略</a:t>
            </a:r>
            <a:endParaRPr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432304"/>
            <a:ext cx="21945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把 .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onnx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拖入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Inspector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对应策略字段，如“Q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trot policy”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49424"/>
            <a:ext cx="384048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10512"/>
            <a:ext cx="2560320" cy="2273808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45167" y="1975104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取消</a:t>
            </a:r>
            <a:r>
              <a:rPr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 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432304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取消勾选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train，重新运行场景，观察训练后的稳定行走效果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课程学习示例：逐步提升楼梯高度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755648"/>
            <a:ext cx="10058400" cy="183370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打开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Terrain.unity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场景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使用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config1.yaml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自动调整楼梯高度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训练难度逐步增加，机器人由简单地形逐步学习爬楼梯技能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教材建议参考仓库中的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 terrain.gif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观察训练效果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937760"/>
            <a:ext cx="100584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课程学习（Curriculum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</a:t>
            </a:r>
            <a:r>
              <a:rPr sz="18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Learning）通过“从易到难”组织环境难度，降低一次性学习复杂技能的困难</a:t>
            </a:r>
            <a:r>
              <a:rPr sz="18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功夫足球：从训练场景到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1v1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自主踢球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2564606"/>
            <a:ext cx="2560320" cy="2062186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1288" y="2729198"/>
            <a:ext cx="1783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训练场景</a:t>
            </a:r>
            <a:endParaRPr sz="24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3186398"/>
            <a:ext cx="21945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打开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Assets / Competition / TinkerTrain1 或 TinkerTrain2。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3003518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2696" y="2564606"/>
            <a:ext cx="2560320" cy="2062186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9624" y="2729198"/>
            <a:ext cx="1783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ML-Agents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186398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执行对应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config 的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mlagents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-learn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训练命令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003518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1032" y="2564606"/>
            <a:ext cx="2560320" cy="2062186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37960" y="2729198"/>
            <a:ext cx="1783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加载策略</a:t>
            </a:r>
            <a:endParaRPr sz="24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35624" y="3186398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训练完成后把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.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onnx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应用于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TinkerPlay1 / 2。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3003518"/>
            <a:ext cx="384048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59368" y="2564606"/>
            <a:ext cx="2560320" cy="2062186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26295" y="2729198"/>
            <a:ext cx="1783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C63F45"/>
                </a:solidFill>
                <a:latin typeface="微软雅黑" panose="020B0503020204020204" pitchFamily="34" charset="-122"/>
              </a:rPr>
              <a:t>1v1 </a:t>
            </a:r>
            <a:r>
              <a:rPr sz="24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对战</a:t>
            </a:r>
            <a:endParaRPr sz="24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23960" y="3186398"/>
            <a:ext cx="2194560" cy="14403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机器人可自主踢球；键盘模式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W/A/S/D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控方向，Ctrl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复位机器人，空格复位足球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实践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6：探索具身智能大模型控制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2560320" cy="2026918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打开</a:t>
            </a:r>
            <a:r>
              <a:rPr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 Tinker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94432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进入对应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Tinker.unity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场景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267712"/>
            <a:ext cx="38404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60320" cy="2026920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75888" y="1993392"/>
            <a:ext cx="2075688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加载预训练大模型</a:t>
            </a:r>
            <a:endParaRPr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694432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下载平台提供的预训练大模型并加载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38404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800"/>
            <a:ext cx="2560320" cy="2026920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2" y="1993392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语音</a:t>
            </a:r>
            <a:r>
              <a:rPr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 / </a:t>
            </a:r>
            <a:r>
              <a:rPr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文本指令</a:t>
            </a:r>
            <a:endParaRPr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694432"/>
            <a:ext cx="219456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例如“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前进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”“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抓取”等自然语言指令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38404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28799"/>
            <a:ext cx="2560320" cy="2026919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45167" y="1993392"/>
            <a:ext cx="17830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导航与操作</a:t>
            </a:r>
            <a:endParaRPr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69443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大模型把高层指令转化为机器人导航或操作行为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993639"/>
            <a:ext cx="10332720" cy="3262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这一步把本章前面的“大模型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+ </a:t>
            </a:r>
            <a:r>
              <a:rPr sz="176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控制”结构真正落到仿真平台</a:t>
            </a:r>
            <a:r>
              <a:rPr sz="176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进阶操作：新本体、视频录制与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ROS2 /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模仿学习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828800"/>
            <a:ext cx="3502152" cy="265176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64008" cy="2651760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31599B"/>
                </a:solidFill>
                <a:latin typeface="微软雅黑" panose="020B0503020204020204" pitchFamily="34" charset="-122"/>
              </a:rPr>
              <a:t>URDF </a:t>
            </a: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导入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714752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通过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robot-universe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子模块导入新机器人，实现近似零代码适配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3502152" cy="265176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64008" cy="2651760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录制演示视频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714752"/>
            <a:ext cx="3118104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Unity：Window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→ General → Recorder → Recorder Window → Add Recorder → Movie。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02152" cy="2651760"/>
          </a:xfrm>
          <a:prstGeom prst="roundRect">
            <a:avLst>
              <a:gd name="adj" fmla="val 3449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651760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C58A24"/>
                </a:solidFill>
                <a:latin typeface="微软雅黑" panose="020B0503020204020204" pitchFamily="34" charset="-122"/>
              </a:rPr>
              <a:t>ROS2 + </a:t>
            </a: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模仿学习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714752"/>
            <a:ext cx="3118104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使用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ROS2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插件与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 dataset / </a:t>
            </a:r>
            <a:r>
              <a:rPr sz="2000"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目录下的舞蹈数据集进行技能迁移</a:t>
            </a:r>
            <a:r>
              <a:rPr sz="2000"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1170432" cy="6858000"/>
          </a:xfrm>
          <a:prstGeom prst="parallelogram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859536" y="0"/>
            <a:ext cx="219456" cy="6858000"/>
          </a:xfrm>
          <a:prstGeom prst="parallelogram">
            <a:avLst/>
          </a:prstGeom>
          <a:solidFill>
            <a:srgbClr val="B7C5E0"/>
          </a:solidFill>
          <a:ln>
            <a:solidFill>
              <a:srgbClr val="B7C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1554480"/>
            <a:ext cx="1600200" cy="12249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91640"/>
            <a:ext cx="76352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小结</a:t>
            </a:r>
            <a:endParaRPr sz="39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第5章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131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知识主线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799"/>
            <a:ext cx="2560320" cy="2494277"/>
          </a:xfrm>
          <a:prstGeom prst="roundRect">
            <a:avLst/>
          </a:prstGeom>
          <a:solidFill>
            <a:srgbClr val="EDF2FA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31599B"/>
                </a:solidFill>
                <a:latin typeface="微软雅黑" panose="020B0503020204020204" pitchFamily="34" charset="-122"/>
              </a:rPr>
              <a:t>大模型基础</a:t>
            </a:r>
            <a:endParaRPr sz="2000" b="1" i="0" dirty="0">
              <a:solidFill>
                <a:srgbClr val="3159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63347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LLM / Transformer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提供统一序列建模与多模态认知基础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2696" y="226771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60320" cy="2494278"/>
          </a:xfrm>
          <a:prstGeom prst="roundRect">
            <a:avLst/>
          </a:prstGeom>
          <a:solidFill>
            <a:srgbClr val="EAF5F1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7016" y="1993392"/>
            <a:ext cx="2194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2F8E72"/>
                </a:solidFill>
                <a:latin typeface="微软雅黑" panose="020B0503020204020204" pitchFamily="34" charset="-122"/>
              </a:rPr>
              <a:t>VLA </a:t>
            </a:r>
            <a:r>
              <a:rPr sz="2000" b="1" i="0" dirty="0" err="1">
                <a:solidFill>
                  <a:srgbClr val="2F8E72"/>
                </a:solidFill>
                <a:latin typeface="微软雅黑" panose="020B0503020204020204" pitchFamily="34" charset="-122"/>
              </a:rPr>
              <a:t>与系统架构</a:t>
            </a:r>
            <a:endParaRPr sz="2000" b="1" i="0" dirty="0">
              <a:solidFill>
                <a:srgbClr val="2F8E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633472"/>
            <a:ext cx="219456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RT、Helix、GR00T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把语言视觉知识转为机器人动作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28799"/>
            <a:ext cx="2560320" cy="2494279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2" y="199339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58A24"/>
                </a:solidFill>
                <a:latin typeface="微软雅黑" panose="020B0503020204020204" pitchFamily="34" charset="-122"/>
              </a:rPr>
              <a:t>分层协同</a:t>
            </a:r>
            <a:endParaRPr sz="2000" b="1" i="0" dirty="0">
              <a:solidFill>
                <a:srgbClr val="C58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2633472"/>
            <a:ext cx="21945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快／慢与大脑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小脑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—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肢体解决高层推理与高频控制的时间尺度冲突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59368" y="2267712"/>
            <a:ext cx="384048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 dirty="0">
                <a:solidFill>
                  <a:srgbClr val="CBD6E9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828800"/>
            <a:ext cx="2560320" cy="2428240"/>
          </a:xfrm>
          <a:prstGeom prst="roundRect">
            <a:avLst/>
          </a:prstGeom>
          <a:solidFill>
            <a:srgbClr val="FDECEE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45167" y="1993392"/>
            <a:ext cx="17830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C63F45"/>
                </a:solidFill>
                <a:latin typeface="微软雅黑" panose="020B0503020204020204" pitchFamily="34" charset="-122"/>
              </a:rPr>
              <a:t>训练与实践</a:t>
            </a:r>
            <a:endParaRPr sz="2000" b="1" i="0" dirty="0">
              <a:solidFill>
                <a:srgbClr val="C63F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2633472"/>
            <a:ext cx="2194560" cy="14403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Open X-Embodiment 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聚合跨本体数据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</a:rPr>
              <a:t>，“</a:t>
            </a: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</a:rPr>
              <a:t>格物”完成仿真训练与部署</a:t>
            </a:r>
            <a:endParaRPr b="0" i="0" dirty="0">
              <a:solidFill>
                <a:srgbClr val="2228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</a:rPr>
              <a:t>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典型具身大模型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</a:rPr>
              <a:t> /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</a:rPr>
              <a:t>架构横向对比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92390"/>
              </p:ext>
            </p:extLst>
          </p:nvPr>
        </p:nvGraphicFramePr>
        <p:xfrm>
          <a:off x="658368" y="1664208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/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架构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高层认知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低层动作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突出特点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RT-1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FiLM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条件化视觉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语言表示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离散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7D Action 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真实数据规模化行为克隆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RT-2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大规模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VLM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动作文本化后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Detokenize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网络知识迁移与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VLA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Helix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7B VLM，7–9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80M 视觉运动策略，200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快／慢解耦，人形灵巧控制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大脑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小脑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肢体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大脑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1–10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小脑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50–200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Hz；肢体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500 Hz–1 kHz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三层时间尺度与模块化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GR00T N1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Eagle VLM，≈10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DiT，120 Hz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连续动作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数据金字塔</a:t>
                      </a:r>
                      <a:r>
                        <a:rPr sz="1800" dirty="0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+ </a:t>
                      </a:r>
                      <a:r>
                        <a:rPr sz="1800" dirty="0" err="1">
                          <a:solidFill>
                            <a:srgbClr val="2228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跨本体</a:t>
                      </a:r>
                      <a:endParaRPr sz="1800" dirty="0">
                        <a:solidFill>
                          <a:srgbClr val="2228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  <a:r>
              <a:rPr sz="10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第 5 章  </a:t>
            </a: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1080" y="201168"/>
            <a:ext cx="27432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 err="1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具身智能大模型</a:t>
            </a:r>
            <a:endParaRPr sz="1000" b="0" i="0" dirty="0">
              <a:solidFill>
                <a:srgbClr val="8C9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7432" y="6492240"/>
            <a:ext cx="347472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270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真机部署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</a:t>
            </a: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09960" cy="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1627632"/>
            <a:ext cx="3502152" cy="1627632"/>
          </a:xfrm>
          <a:prstGeom prst="roundRect">
            <a:avLst>
              <a:gd name="adj" fmla="val 1940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64008" cy="16276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实时性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311810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大模型推理延迟与机器人高频控制要求之间存在明显矛盾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627632"/>
            <a:ext cx="3502152" cy="162763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9976" y="1627632"/>
            <a:ext cx="64008" cy="1627632"/>
          </a:xfrm>
          <a:prstGeom prst="rect">
            <a:avLst/>
          </a:prstGeom>
          <a:solidFill>
            <a:srgbClr val="2F8E72"/>
          </a:solidFill>
          <a:ln>
            <a:solidFill>
              <a:srgbClr val="2F8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1144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物理可靠性</a:t>
            </a:r>
            <a:endParaRPr sz="1800" b="1" i="0" dirty="0">
              <a:solidFill>
                <a:srgbClr val="2F8E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144" y="2249424"/>
            <a:ext cx="3118104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语言语义能力不等于对接触、动力学、摩擦与安全约束的可靠理解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27632"/>
            <a:ext cx="3502152" cy="162763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1627632"/>
            <a:ext cx="64008" cy="1627632"/>
          </a:xfrm>
          <a:prstGeom prst="rect">
            <a:avLst/>
          </a:prstGeom>
          <a:solidFill>
            <a:srgbClr val="C58A24"/>
          </a:solidFill>
          <a:ln>
            <a:solidFill>
              <a:srgbClr val="C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1792224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数据成本</a:t>
            </a:r>
            <a:endParaRPr sz="1800" b="1" i="0" dirty="0">
              <a:solidFill>
                <a:srgbClr val="C58A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249424"/>
            <a:ext cx="311810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高质量真机数据仍昂贵，跨本体与复杂长程任务数据稀缺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575304"/>
            <a:ext cx="3502152" cy="1627632"/>
          </a:xfrm>
          <a:prstGeom prst="roundRect">
            <a:avLst>
              <a:gd name="adj" fmla="val 657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" y="3575304"/>
            <a:ext cx="64008" cy="1627632"/>
          </a:xfrm>
          <a:prstGeom prst="rect">
            <a:avLst/>
          </a:prstGeom>
          <a:solidFill>
            <a:srgbClr val="C63F45"/>
          </a:solidFill>
          <a:ln>
            <a:solidFill>
              <a:srgbClr val="C6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Sim-to-Real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97096"/>
            <a:ext cx="3118104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仿真与现实在视觉、动力学、传感噪声和执行器特性上存在差异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6" y="3575304"/>
            <a:ext cx="3502152" cy="1627632"/>
          </a:xfrm>
          <a:prstGeom prst="roundRect">
            <a:avLst>
              <a:gd name="adj" fmla="val 6576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79976" y="3575304"/>
            <a:ext cx="64008" cy="1627632"/>
          </a:xfrm>
          <a:prstGeom prst="rect">
            <a:avLst/>
          </a:prstGeom>
          <a:solidFill>
            <a:srgbClr val="7558A8"/>
          </a:solidFill>
          <a:ln>
            <a:solidFill>
              <a:srgbClr val="755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81144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755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安全与稳定</a:t>
            </a:r>
            <a:endParaRPr sz="1800" b="1" i="0" dirty="0">
              <a:solidFill>
                <a:srgbClr val="755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81144" y="4197096"/>
            <a:ext cx="3118104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真实机器人不能像纯软件系统一样容忍高风险试错与不可预测输出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3575304"/>
            <a:ext cx="3502152" cy="1627632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 w="1143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38160" y="3575304"/>
            <a:ext cx="64008" cy="1627632"/>
          </a:xfrm>
          <a:prstGeom prst="rect">
            <a:avLst/>
          </a:prstGeom>
          <a:solidFill>
            <a:srgbClr val="31599B"/>
          </a:solidFill>
          <a:ln>
            <a:solidFill>
              <a:srgbClr val="31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8" y="3739896"/>
            <a:ext cx="313639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err="1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泛化边界</a:t>
            </a:r>
            <a:endParaRPr sz="1800" b="1" i="0" dirty="0">
              <a:solidFill>
                <a:srgbClr val="3159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8" y="4197096"/>
            <a:ext cx="311810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零样本与跨本体能力仍需在更多开放环境中验证</a:t>
            </a:r>
            <a:r>
              <a:rPr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7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2961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   谢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5305</Words>
  <Application>Microsoft Office PowerPoint</Application>
  <PresentationFormat>宽屏</PresentationFormat>
  <Paragraphs>1655</Paragraphs>
  <Slides>129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129</vt:i4>
      </vt:variant>
    </vt:vector>
  </HeadingPairs>
  <TitlesOfParts>
    <vt:vector size="137" baseType="lpstr">
      <vt:lpstr>Noto Sans CJK SC</vt:lpstr>
      <vt:lpstr>Noto Sans Mono CJK SC</vt:lpstr>
      <vt:lpstr>Noto Serif CJK SC</vt:lpstr>
      <vt:lpstr>等线</vt:lpstr>
      <vt:lpstr>微软雅黑</vt:lpstr>
      <vt:lpstr>Arial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精品课程课件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具身智能导论 第4章 遥操作交互与模仿学习</dc:title>
  <dc:subject>具身智能导论 第4章 遥操作交互与模仿学习</dc:subject>
  <dc:creator>秦建军等</dc:creator>
  <cp:lastModifiedBy>Qin JJ</cp:lastModifiedBy>
  <cp:revision>46</cp:revision>
  <dcterms:created xsi:type="dcterms:W3CDTF">2026-08-28T03:29:45Z</dcterms:created>
  <dcterms:modified xsi:type="dcterms:W3CDTF">2026-09-14T13:41:18Z</dcterms:modified>
</cp:coreProperties>
</file>