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84" r:id="rId1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5" autoAdjust="0"/>
    <p:restoredTop sz="94660"/>
  </p:normalViewPr>
  <p:slideViewPr>
    <p:cSldViewPr snapToGrid="0" snapToObjects="1">
      <p:cViewPr>
        <p:scale>
          <a:sx n="66" d="100"/>
          <a:sy n="66" d="100"/>
        </p:scale>
        <p:origin x="1332" y="37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45720" y="0"/>
            <a:ext cx="658368"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04088" y="0"/>
            <a:ext cx="73152"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53312" y="822960"/>
            <a:ext cx="4389120" cy="365760"/>
          </a:xfrm>
          <a:prstGeom prst="rect">
            <a:avLst/>
          </a:prstGeom>
          <a:noFill/>
        </p:spPr>
        <p:txBody>
          <a:bodyPr wrap="square" lIns="18288" tIns="18288" rIns="18288" bIns="18288" anchor="t">
            <a:spAutoFit/>
          </a:bodyPr>
          <a:lstStyle/>
          <a:p>
            <a:pPr algn="l">
              <a:lnSpc>
                <a:spcPct val="105000"/>
              </a:lnSpc>
            </a:pPr>
            <a:r>
              <a:rPr sz="1600" b="1" i="0">
                <a:solidFill>
                  <a:srgbClr val="31599B"/>
                </a:solidFill>
                <a:latin typeface="微软雅黑"/>
              </a:rPr>
              <a:t>普通高等教育新工科具身智能系列教材</a:t>
            </a:r>
          </a:p>
        </p:txBody>
      </p:sp>
      <p:sp>
        <p:nvSpPr>
          <p:cNvPr id="5" name="TextBox 4"/>
          <p:cNvSpPr txBox="1"/>
          <p:nvPr/>
        </p:nvSpPr>
        <p:spPr>
          <a:xfrm>
            <a:off x="8022167" y="868680"/>
            <a:ext cx="3590713" cy="249299"/>
          </a:xfrm>
          <a:prstGeom prst="rect">
            <a:avLst/>
          </a:prstGeom>
          <a:noFill/>
        </p:spPr>
        <p:txBody>
          <a:bodyPr wrap="square" lIns="18288" tIns="18288" rIns="18288" bIns="18288" anchor="t">
            <a:spAutoFit/>
          </a:bodyPr>
          <a:lstStyle/>
          <a:p>
            <a:pPr algn="r">
              <a:lnSpc>
                <a:spcPct val="105000"/>
              </a:lnSpc>
            </a:pPr>
            <a:r>
              <a:rPr sz="1400" b="0" i="0" dirty="0" err="1">
                <a:solidFill>
                  <a:srgbClr val="5B5B5B"/>
                </a:solidFill>
                <a:latin typeface="微软雅黑"/>
              </a:rPr>
              <a:t>国家地方共建人形机器人创新中心组织编写</a:t>
            </a:r>
            <a:endParaRPr sz="1400" b="0" i="0" dirty="0">
              <a:solidFill>
                <a:srgbClr val="5B5B5B"/>
              </a:solidFill>
              <a:latin typeface="微软雅黑"/>
            </a:endParaRPr>
          </a:p>
        </p:txBody>
      </p:sp>
      <p:sp>
        <p:nvSpPr>
          <p:cNvPr id="6" name="TextBox 5"/>
          <p:cNvSpPr txBox="1"/>
          <p:nvPr/>
        </p:nvSpPr>
        <p:spPr>
          <a:xfrm>
            <a:off x="4663440" y="1975104"/>
            <a:ext cx="2834640" cy="594360"/>
          </a:xfrm>
          <a:prstGeom prst="rect">
            <a:avLst/>
          </a:prstGeom>
          <a:noFill/>
        </p:spPr>
        <p:txBody>
          <a:bodyPr wrap="square" lIns="18288" tIns="18288" rIns="18288" bIns="18288" anchor="t">
            <a:spAutoFit/>
          </a:bodyPr>
          <a:lstStyle/>
          <a:p>
            <a:pPr algn="ctr">
              <a:lnSpc>
                <a:spcPct val="105000"/>
              </a:lnSpc>
            </a:pPr>
            <a:r>
              <a:rPr sz="3100" b="1" i="0">
                <a:solidFill>
                  <a:srgbClr val="222833"/>
                </a:solidFill>
                <a:latin typeface="微软雅黑"/>
              </a:rPr>
              <a:t>具身智能导论</a:t>
            </a:r>
          </a:p>
        </p:txBody>
      </p:sp>
      <p:sp>
        <p:nvSpPr>
          <p:cNvPr id="7" name="TextBox 6"/>
          <p:cNvSpPr txBox="1"/>
          <p:nvPr/>
        </p:nvSpPr>
        <p:spPr>
          <a:xfrm>
            <a:off x="2999232" y="3017520"/>
            <a:ext cx="6858000" cy="658368"/>
          </a:xfrm>
          <a:prstGeom prst="rect">
            <a:avLst/>
          </a:prstGeom>
          <a:noFill/>
        </p:spPr>
        <p:txBody>
          <a:bodyPr wrap="square" lIns="18288" tIns="18288" rIns="18288" bIns="18288" anchor="t">
            <a:spAutoFit/>
          </a:bodyPr>
          <a:lstStyle/>
          <a:p>
            <a:pPr algn="ctr">
              <a:lnSpc>
                <a:spcPct val="105000"/>
              </a:lnSpc>
            </a:pPr>
            <a:r>
              <a:rPr sz="3600" b="1" i="0">
                <a:solidFill>
                  <a:srgbClr val="24477D"/>
                </a:solidFill>
                <a:latin typeface="微软雅黑"/>
              </a:rPr>
              <a:t>第 6 章 具身导航与规划</a:t>
            </a:r>
          </a:p>
        </p:txBody>
      </p:sp>
      <p:sp>
        <p:nvSpPr>
          <p:cNvPr id="8" name="TextBox 7"/>
          <p:cNvSpPr txBox="1"/>
          <p:nvPr/>
        </p:nvSpPr>
        <p:spPr>
          <a:xfrm>
            <a:off x="3699086" y="4224528"/>
            <a:ext cx="5220547" cy="320040"/>
          </a:xfrm>
          <a:prstGeom prst="rect">
            <a:avLst/>
          </a:prstGeom>
          <a:noFill/>
        </p:spPr>
        <p:txBody>
          <a:bodyPr wrap="square" lIns="18288" tIns="18288" rIns="18288" bIns="18288" anchor="t">
            <a:spAutoFit/>
          </a:bodyPr>
          <a:lstStyle/>
          <a:p>
            <a:pPr algn="ctr">
              <a:lnSpc>
                <a:spcPct val="105000"/>
              </a:lnSpc>
            </a:pPr>
            <a:r>
              <a:rPr sz="1800" b="0" i="0" dirty="0">
                <a:solidFill>
                  <a:srgbClr val="5B5B5B"/>
                </a:solidFill>
                <a:latin typeface="微软雅黑"/>
              </a:rPr>
              <a:t>秦建军  </a:t>
            </a:r>
            <a:r>
              <a:rPr sz="1800" b="0" i="0" dirty="0" err="1">
                <a:solidFill>
                  <a:srgbClr val="5B5B5B"/>
                </a:solidFill>
                <a:latin typeface="微软雅黑"/>
              </a:rPr>
              <a:t>江磊</a:t>
            </a:r>
            <a:r>
              <a:rPr sz="1800" b="0" i="0" dirty="0">
                <a:solidFill>
                  <a:srgbClr val="5B5B5B"/>
                </a:solidFill>
                <a:latin typeface="微软雅黑"/>
              </a:rPr>
              <a:t>  </a:t>
            </a:r>
            <a:r>
              <a:rPr sz="1800" b="0" i="0" dirty="0" err="1">
                <a:solidFill>
                  <a:srgbClr val="5B5B5B"/>
                </a:solidFill>
                <a:latin typeface="微软雅黑"/>
              </a:rPr>
              <a:t>刘宇飞</a:t>
            </a:r>
            <a:r>
              <a:rPr sz="1800" b="0" i="0" dirty="0">
                <a:solidFill>
                  <a:srgbClr val="5B5B5B"/>
                </a:solidFill>
                <a:latin typeface="微软雅黑"/>
              </a:rPr>
              <a:t>  </a:t>
            </a:r>
            <a:r>
              <a:rPr sz="1800" b="0" i="0" dirty="0" err="1">
                <a:solidFill>
                  <a:srgbClr val="5B5B5B"/>
                </a:solidFill>
                <a:latin typeface="微软雅黑"/>
              </a:rPr>
              <a:t>邢伯阳</a:t>
            </a:r>
            <a:r>
              <a:rPr sz="1800" b="0" i="0" dirty="0">
                <a:solidFill>
                  <a:srgbClr val="5B5B5B"/>
                </a:solidFill>
                <a:latin typeface="微软雅黑"/>
              </a:rPr>
              <a:t>  </a:t>
            </a:r>
            <a:r>
              <a:rPr sz="1800" b="0" i="0" dirty="0" err="1">
                <a:solidFill>
                  <a:srgbClr val="5B5B5B"/>
                </a:solidFill>
                <a:latin typeface="微软雅黑"/>
              </a:rPr>
              <a:t>王陆旸</a:t>
            </a:r>
            <a:r>
              <a:rPr sz="1800" b="0" i="0" dirty="0">
                <a:solidFill>
                  <a:srgbClr val="5B5B5B"/>
                </a:solidFill>
                <a:latin typeface="微软雅黑"/>
              </a:rPr>
              <a:t>  </a:t>
            </a:r>
            <a:r>
              <a:rPr sz="1800" b="0" i="0" dirty="0" err="1">
                <a:solidFill>
                  <a:srgbClr val="5B5B5B"/>
                </a:solidFill>
                <a:latin typeface="微软雅黑"/>
              </a:rPr>
              <a:t>李国通</a:t>
            </a:r>
            <a:endParaRPr sz="1800" b="0" i="0" dirty="0">
              <a:solidFill>
                <a:srgbClr val="5B5B5B"/>
              </a:solidFill>
              <a:latin typeface="微软雅黑"/>
            </a:endParaRPr>
          </a:p>
        </p:txBody>
      </p:sp>
      <p:sp>
        <p:nvSpPr>
          <p:cNvPr id="9" name="TextBox 8"/>
          <p:cNvSpPr txBox="1"/>
          <p:nvPr/>
        </p:nvSpPr>
        <p:spPr>
          <a:xfrm>
            <a:off x="4343400" y="4864608"/>
            <a:ext cx="3931920" cy="274320"/>
          </a:xfrm>
          <a:prstGeom prst="rect">
            <a:avLst/>
          </a:prstGeom>
          <a:noFill/>
        </p:spPr>
        <p:txBody>
          <a:bodyPr wrap="square" lIns="18288" tIns="18288" rIns="18288" bIns="18288" anchor="t">
            <a:spAutoFit/>
          </a:bodyPr>
          <a:lstStyle/>
          <a:p>
            <a:pPr algn="ctr">
              <a:lnSpc>
                <a:spcPct val="105000"/>
              </a:lnSpc>
            </a:pPr>
            <a:r>
              <a:rPr sz="1400" b="0" i="0">
                <a:solidFill>
                  <a:srgbClr val="7D8899"/>
                </a:solidFill>
                <a:latin typeface="微软雅黑"/>
              </a:rPr>
              <a:t>机械工业出版社 · 《具身智能导论》配套课件</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2</a:t>
            </a:r>
          </a:p>
        </p:txBody>
      </p:sp>
      <p:sp>
        <p:nvSpPr>
          <p:cNvPr id="7" name="Rectangle 6"/>
          <p:cNvSpPr/>
          <p:nvPr/>
        </p:nvSpPr>
        <p:spPr>
          <a:xfrm>
            <a:off x="502920" y="1325880"/>
            <a:ext cx="11201400"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240280" y="1783080"/>
            <a:ext cx="8046720" cy="640080"/>
          </a:xfrm>
          <a:prstGeom prst="rect">
            <a:avLst/>
          </a:prstGeom>
          <a:noFill/>
        </p:spPr>
        <p:txBody>
          <a:bodyPr wrap="square" lIns="18288" tIns="18288" rIns="18288" bIns="18288" anchor="t">
            <a:spAutoFit/>
          </a:bodyPr>
          <a:lstStyle/>
          <a:p>
            <a:pPr algn="ctr">
              <a:lnSpc>
                <a:spcPct val="105000"/>
              </a:lnSpc>
            </a:pPr>
            <a:r>
              <a:rPr sz="3400" b="1" i="0">
                <a:solidFill>
                  <a:srgbClr val="24477D"/>
                </a:solidFill>
                <a:latin typeface="Noto Serif CJK SC"/>
              </a:rPr>
              <a:t>“纸上得来终觉浅，绝知此事要躬行。”</a:t>
            </a:r>
          </a:p>
        </p:txBody>
      </p:sp>
      <p:sp>
        <p:nvSpPr>
          <p:cNvPr id="9" name="TextBox 8"/>
          <p:cNvSpPr txBox="1"/>
          <p:nvPr/>
        </p:nvSpPr>
        <p:spPr>
          <a:xfrm>
            <a:off x="7863840" y="2514600"/>
            <a:ext cx="3364992" cy="294824"/>
          </a:xfrm>
          <a:prstGeom prst="rect">
            <a:avLst/>
          </a:prstGeom>
          <a:noFill/>
        </p:spPr>
        <p:txBody>
          <a:bodyPr wrap="square" lIns="18288" tIns="18288" rIns="18288" bIns="18288" anchor="t">
            <a:spAutoFit/>
          </a:bodyPr>
          <a:lstStyle/>
          <a:p>
            <a:pPr algn="r">
              <a:lnSpc>
                <a:spcPct val="105000"/>
              </a:lnSpc>
            </a:pPr>
            <a:r>
              <a:rPr sz="1700" b="0" i="0" dirty="0">
                <a:solidFill>
                  <a:srgbClr val="7D8899"/>
                </a:solidFill>
                <a:latin typeface="微软雅黑"/>
              </a:rPr>
              <a:t>—— </a:t>
            </a:r>
            <a:r>
              <a:rPr sz="1700" b="0" i="0" dirty="0" err="1">
                <a:solidFill>
                  <a:srgbClr val="7D8899"/>
                </a:solidFill>
                <a:latin typeface="微软雅黑"/>
              </a:rPr>
              <a:t>陆游《冬夜读书示子聿</a:t>
            </a:r>
            <a:r>
              <a:rPr sz="1700" b="0" i="0" dirty="0">
                <a:solidFill>
                  <a:srgbClr val="7D8899"/>
                </a:solidFill>
                <a:latin typeface="微软雅黑"/>
              </a:rPr>
              <a:t>》</a:t>
            </a:r>
          </a:p>
        </p:txBody>
      </p:sp>
      <p:sp>
        <p:nvSpPr>
          <p:cNvPr id="10" name="Rounded Rectangle 9"/>
          <p:cNvSpPr/>
          <p:nvPr/>
        </p:nvSpPr>
        <p:spPr>
          <a:xfrm>
            <a:off x="777240" y="3246120"/>
            <a:ext cx="10607040" cy="169164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77240" y="3246120"/>
            <a:ext cx="91440" cy="169164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3397860"/>
            <a:ext cx="4321940" cy="325217"/>
          </a:xfrm>
          <a:prstGeom prst="rect">
            <a:avLst/>
          </a:prstGeom>
          <a:noFill/>
        </p:spPr>
        <p:txBody>
          <a:bodyPr wrap="square" lIns="18288" tIns="18288" rIns="18288" bIns="18288" anchor="t">
            <a:spAutoFit/>
          </a:bodyPr>
          <a:lstStyle/>
          <a:p>
            <a:pPr algn="l">
              <a:lnSpc>
                <a:spcPct val="105000"/>
              </a:lnSpc>
            </a:pPr>
            <a:r>
              <a:rPr sz="1900" b="1" i="0" dirty="0" err="1">
                <a:solidFill>
                  <a:srgbClr val="C63F45"/>
                </a:solidFill>
                <a:latin typeface="微软雅黑"/>
              </a:rPr>
              <a:t>具身导航与规划的核心思想</a:t>
            </a:r>
            <a:endParaRPr sz="1900" b="1" i="0" dirty="0">
              <a:solidFill>
                <a:srgbClr val="C63F45"/>
              </a:solidFill>
              <a:latin typeface="微软雅黑"/>
            </a:endParaRPr>
          </a:p>
        </p:txBody>
      </p:sp>
      <p:sp>
        <p:nvSpPr>
          <p:cNvPr id="13" name="TextBox 12"/>
          <p:cNvSpPr txBox="1"/>
          <p:nvPr/>
        </p:nvSpPr>
        <p:spPr>
          <a:xfrm>
            <a:off x="1005840" y="3858768"/>
            <a:ext cx="10012680" cy="868680"/>
          </a:xfrm>
          <a:prstGeom prst="rect">
            <a:avLst/>
          </a:prstGeom>
          <a:noFill/>
        </p:spPr>
        <p:txBody>
          <a:bodyPr wrap="square" lIns="18288" tIns="18288" rIns="18288" bIns="18288" anchor="t">
            <a:spAutoFit/>
          </a:bodyPr>
          <a:lstStyle/>
          <a:p>
            <a:pPr algn="l">
              <a:lnSpc>
                <a:spcPct val="105000"/>
              </a:lnSpc>
            </a:pPr>
            <a:r>
              <a:rPr sz="1900" b="0" i="0">
                <a:solidFill>
                  <a:srgbClr val="222833"/>
                </a:solidFill>
                <a:latin typeface="微软雅黑"/>
              </a:rPr>
              <a:t>机器人通过与物理三维环境实时交互，利用身体传感器进行自我中心感知、主动探索和决策，将感知、定位、建图、路径规划与控制有机结合，从起点自主移动至目标位置或执行指定任务。</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学习目标</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3</a:t>
            </a:r>
          </a:p>
        </p:txBody>
      </p:sp>
      <p:sp>
        <p:nvSpPr>
          <p:cNvPr id="9" name="Rounded Rectangle 8"/>
          <p:cNvSpPr/>
          <p:nvPr/>
        </p:nvSpPr>
        <p:spPr>
          <a:xfrm>
            <a:off x="640080" y="1600200"/>
            <a:ext cx="3520440" cy="192024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1600200"/>
            <a:ext cx="77724" cy="192024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1783080"/>
            <a:ext cx="3108960" cy="384048"/>
          </a:xfrm>
          <a:prstGeom prst="rect">
            <a:avLst/>
          </a:prstGeom>
          <a:noFill/>
        </p:spPr>
        <p:txBody>
          <a:bodyPr wrap="square" lIns="18288" tIns="18288" rIns="18288" bIns="18288" anchor="t">
            <a:spAutoFit/>
          </a:bodyPr>
          <a:lstStyle/>
          <a:p>
            <a:pPr algn="l">
              <a:lnSpc>
                <a:spcPct val="105000"/>
              </a:lnSpc>
            </a:pPr>
            <a:r>
              <a:rPr sz="1900" b="1" i="0">
                <a:solidFill>
                  <a:srgbClr val="31599B"/>
                </a:solidFill>
                <a:latin typeface="微软雅黑"/>
              </a:rPr>
              <a:t>01 核心概念</a:t>
            </a:r>
          </a:p>
        </p:txBody>
      </p:sp>
      <p:sp>
        <p:nvSpPr>
          <p:cNvPr id="12" name="TextBox 11"/>
          <p:cNvSpPr txBox="1"/>
          <p:nvPr/>
        </p:nvSpPr>
        <p:spPr>
          <a:xfrm>
            <a:off x="859536" y="2258568"/>
            <a:ext cx="3136392" cy="1133856"/>
          </a:xfrm>
          <a:prstGeom prst="rect">
            <a:avLst/>
          </a:prstGeom>
          <a:noFill/>
        </p:spPr>
        <p:txBody>
          <a:bodyPr wrap="square" lIns="18288" tIns="18288" rIns="18288" bIns="18288" anchor="t">
            <a:spAutoFit/>
          </a:bodyPr>
          <a:lstStyle/>
          <a:p>
            <a:pPr algn="l">
              <a:lnSpc>
                <a:spcPct val="110000"/>
              </a:lnSpc>
            </a:pPr>
            <a:r>
              <a:rPr sz="1600" b="0" i="0">
                <a:solidFill>
                  <a:srgbClr val="222833"/>
                </a:solidFill>
                <a:latin typeface="微软雅黑"/>
              </a:rPr>
              <a:t>掌握具身导航的核心概念、主要特点、问题形式化方法及其在具身智能体系中的重要作用。</a:t>
            </a:r>
          </a:p>
        </p:txBody>
      </p:sp>
      <p:sp>
        <p:nvSpPr>
          <p:cNvPr id="13" name="Rounded Rectangle 12"/>
          <p:cNvSpPr/>
          <p:nvPr/>
        </p:nvSpPr>
        <p:spPr>
          <a:xfrm>
            <a:off x="4343400" y="1600200"/>
            <a:ext cx="3520440" cy="192024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43400" y="1600200"/>
            <a:ext cx="77724" cy="192024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62856" y="1783080"/>
            <a:ext cx="3108960" cy="384048"/>
          </a:xfrm>
          <a:prstGeom prst="rect">
            <a:avLst/>
          </a:prstGeom>
          <a:noFill/>
        </p:spPr>
        <p:txBody>
          <a:bodyPr wrap="square" lIns="18288" tIns="18288" rIns="18288" bIns="18288" anchor="t">
            <a:spAutoFit/>
          </a:bodyPr>
          <a:lstStyle/>
          <a:p>
            <a:pPr algn="l">
              <a:lnSpc>
                <a:spcPct val="105000"/>
              </a:lnSpc>
            </a:pPr>
            <a:r>
              <a:rPr sz="1900" b="1" i="0">
                <a:solidFill>
                  <a:srgbClr val="2F8E72"/>
                </a:solidFill>
                <a:latin typeface="微软雅黑"/>
              </a:rPr>
              <a:t>02 地图表示</a:t>
            </a:r>
          </a:p>
        </p:txBody>
      </p:sp>
      <p:sp>
        <p:nvSpPr>
          <p:cNvPr id="16" name="TextBox 15"/>
          <p:cNvSpPr txBox="1"/>
          <p:nvPr/>
        </p:nvSpPr>
        <p:spPr>
          <a:xfrm>
            <a:off x="4562856" y="2258568"/>
            <a:ext cx="3136392" cy="1133856"/>
          </a:xfrm>
          <a:prstGeom prst="rect">
            <a:avLst/>
          </a:prstGeom>
          <a:noFill/>
        </p:spPr>
        <p:txBody>
          <a:bodyPr wrap="square" lIns="18288" tIns="18288" rIns="18288" bIns="18288" anchor="t">
            <a:spAutoFit/>
          </a:bodyPr>
          <a:lstStyle/>
          <a:p>
            <a:pPr algn="l">
              <a:lnSpc>
                <a:spcPct val="110000"/>
              </a:lnSpc>
            </a:pPr>
            <a:r>
              <a:rPr sz="1600" b="0" i="0">
                <a:solidFill>
                  <a:srgbClr val="222833"/>
                </a:solidFill>
                <a:latin typeface="微软雅黑"/>
              </a:rPr>
              <a:t>理解占据栅格地图、拓扑地图、语义地图及其构建原理。</a:t>
            </a:r>
          </a:p>
        </p:txBody>
      </p:sp>
      <p:sp>
        <p:nvSpPr>
          <p:cNvPr id="17" name="Rounded Rectangle 16"/>
          <p:cNvSpPr/>
          <p:nvPr/>
        </p:nvSpPr>
        <p:spPr>
          <a:xfrm>
            <a:off x="8046720" y="1600200"/>
            <a:ext cx="3520440" cy="192024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46720" y="1600200"/>
            <a:ext cx="77724" cy="192024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66176" y="1783080"/>
            <a:ext cx="3108960" cy="384048"/>
          </a:xfrm>
          <a:prstGeom prst="rect">
            <a:avLst/>
          </a:prstGeom>
          <a:noFill/>
        </p:spPr>
        <p:txBody>
          <a:bodyPr wrap="square" lIns="18288" tIns="18288" rIns="18288" bIns="18288" anchor="t">
            <a:spAutoFit/>
          </a:bodyPr>
          <a:lstStyle/>
          <a:p>
            <a:pPr algn="l">
              <a:lnSpc>
                <a:spcPct val="105000"/>
              </a:lnSpc>
            </a:pPr>
            <a:r>
              <a:rPr sz="1900" b="1" i="0">
                <a:solidFill>
                  <a:srgbClr val="C58A24"/>
                </a:solidFill>
                <a:latin typeface="微软雅黑"/>
              </a:rPr>
              <a:t>03 SLAM</a:t>
            </a:r>
          </a:p>
        </p:txBody>
      </p:sp>
      <p:sp>
        <p:nvSpPr>
          <p:cNvPr id="20" name="TextBox 19"/>
          <p:cNvSpPr txBox="1"/>
          <p:nvPr/>
        </p:nvSpPr>
        <p:spPr>
          <a:xfrm>
            <a:off x="8266176" y="2258568"/>
            <a:ext cx="3136392" cy="1133856"/>
          </a:xfrm>
          <a:prstGeom prst="rect">
            <a:avLst/>
          </a:prstGeom>
          <a:noFill/>
        </p:spPr>
        <p:txBody>
          <a:bodyPr wrap="square" lIns="18288" tIns="18288" rIns="18288" bIns="18288" anchor="t">
            <a:spAutoFit/>
          </a:bodyPr>
          <a:lstStyle/>
          <a:p>
            <a:pPr algn="l">
              <a:lnSpc>
                <a:spcPct val="110000"/>
              </a:lnSpc>
            </a:pPr>
            <a:r>
              <a:rPr sz="1600" b="0" i="0">
                <a:solidFill>
                  <a:srgbClr val="222833"/>
                </a:solidFill>
                <a:latin typeface="微软雅黑"/>
              </a:rPr>
              <a:t>掌握 SLAM 的概率框架和经典算法，理解定位与建图的闭环过程。</a:t>
            </a:r>
          </a:p>
        </p:txBody>
      </p:sp>
      <p:sp>
        <p:nvSpPr>
          <p:cNvPr id="21" name="Rounded Rectangle 20"/>
          <p:cNvSpPr/>
          <p:nvPr/>
        </p:nvSpPr>
        <p:spPr>
          <a:xfrm>
            <a:off x="640080" y="3794760"/>
            <a:ext cx="3520440" cy="192024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40080" y="3794760"/>
            <a:ext cx="77724" cy="192024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59536" y="3977640"/>
            <a:ext cx="3108960" cy="384048"/>
          </a:xfrm>
          <a:prstGeom prst="rect">
            <a:avLst/>
          </a:prstGeom>
          <a:noFill/>
        </p:spPr>
        <p:txBody>
          <a:bodyPr wrap="square" lIns="18288" tIns="18288" rIns="18288" bIns="18288" anchor="t">
            <a:spAutoFit/>
          </a:bodyPr>
          <a:lstStyle/>
          <a:p>
            <a:pPr algn="l">
              <a:lnSpc>
                <a:spcPct val="105000"/>
              </a:lnSpc>
            </a:pPr>
            <a:r>
              <a:rPr sz="1900" b="1" i="0">
                <a:solidFill>
                  <a:srgbClr val="C63F45"/>
                </a:solidFill>
                <a:latin typeface="微软雅黑"/>
              </a:rPr>
              <a:t>04 规划方法</a:t>
            </a:r>
          </a:p>
        </p:txBody>
      </p:sp>
      <p:sp>
        <p:nvSpPr>
          <p:cNvPr id="24" name="TextBox 23"/>
          <p:cNvSpPr txBox="1"/>
          <p:nvPr/>
        </p:nvSpPr>
        <p:spPr>
          <a:xfrm>
            <a:off x="859536" y="4453128"/>
            <a:ext cx="3136392" cy="1133856"/>
          </a:xfrm>
          <a:prstGeom prst="rect">
            <a:avLst/>
          </a:prstGeom>
          <a:noFill/>
        </p:spPr>
        <p:txBody>
          <a:bodyPr wrap="square" lIns="18288" tIns="18288" rIns="18288" bIns="18288" anchor="t">
            <a:spAutoFit/>
          </a:bodyPr>
          <a:lstStyle/>
          <a:p>
            <a:pPr algn="l">
              <a:lnSpc>
                <a:spcPct val="110000"/>
              </a:lnSpc>
            </a:pPr>
            <a:r>
              <a:rPr sz="1600" b="0" i="0">
                <a:solidFill>
                  <a:srgbClr val="222833"/>
                </a:solidFill>
                <a:latin typeface="微软雅黑"/>
              </a:rPr>
              <a:t>了解经典路径规划和运动规划算法，区分静态/动态环境中的优势与局限。</a:t>
            </a:r>
          </a:p>
        </p:txBody>
      </p:sp>
      <p:sp>
        <p:nvSpPr>
          <p:cNvPr id="25" name="Rounded Rectangle 24"/>
          <p:cNvSpPr/>
          <p:nvPr/>
        </p:nvSpPr>
        <p:spPr>
          <a:xfrm>
            <a:off x="4343400" y="3794760"/>
            <a:ext cx="3520440" cy="192024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343400" y="3794760"/>
            <a:ext cx="77724" cy="1920240"/>
          </a:xfrm>
          <a:prstGeom prst="rect">
            <a:avLst/>
          </a:prstGeom>
          <a:solidFill>
            <a:srgbClr val="755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62856" y="3977640"/>
            <a:ext cx="3108960" cy="384048"/>
          </a:xfrm>
          <a:prstGeom prst="rect">
            <a:avLst/>
          </a:prstGeom>
          <a:noFill/>
        </p:spPr>
        <p:txBody>
          <a:bodyPr wrap="square" lIns="18288" tIns="18288" rIns="18288" bIns="18288" anchor="t">
            <a:spAutoFit/>
          </a:bodyPr>
          <a:lstStyle/>
          <a:p>
            <a:pPr algn="l">
              <a:lnSpc>
                <a:spcPct val="105000"/>
              </a:lnSpc>
            </a:pPr>
            <a:r>
              <a:rPr sz="1900" b="1" i="0">
                <a:solidFill>
                  <a:srgbClr val="7558A8"/>
                </a:solidFill>
                <a:latin typeface="微软雅黑"/>
              </a:rPr>
              <a:t>05 视觉语言导航</a:t>
            </a:r>
          </a:p>
        </p:txBody>
      </p:sp>
      <p:sp>
        <p:nvSpPr>
          <p:cNvPr id="28" name="TextBox 27"/>
          <p:cNvSpPr txBox="1"/>
          <p:nvPr/>
        </p:nvSpPr>
        <p:spPr>
          <a:xfrm>
            <a:off x="4562856" y="4453128"/>
            <a:ext cx="3136392" cy="1133856"/>
          </a:xfrm>
          <a:prstGeom prst="rect">
            <a:avLst/>
          </a:prstGeom>
          <a:noFill/>
        </p:spPr>
        <p:txBody>
          <a:bodyPr wrap="square" lIns="18288" tIns="18288" rIns="18288" bIns="18288" anchor="t">
            <a:spAutoFit/>
          </a:bodyPr>
          <a:lstStyle/>
          <a:p>
            <a:pPr algn="l">
              <a:lnSpc>
                <a:spcPct val="110000"/>
              </a:lnSpc>
            </a:pPr>
            <a:r>
              <a:rPr sz="1600" b="0" i="0">
                <a:solidFill>
                  <a:srgbClr val="222833"/>
                </a:solidFill>
                <a:latin typeface="微软雅黑"/>
              </a:rPr>
              <a:t>掌握 VLN 的主要特点与典型模型，了解机器人实际部署中的实践与挑战。</a:t>
            </a:r>
          </a:p>
        </p:txBody>
      </p:sp>
      <p:sp>
        <p:nvSpPr>
          <p:cNvPr id="29" name="Rounded Rectangle 28"/>
          <p:cNvSpPr/>
          <p:nvPr/>
        </p:nvSpPr>
        <p:spPr>
          <a:xfrm>
            <a:off x="8046720" y="3794760"/>
            <a:ext cx="3520440" cy="192024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8046720" y="3794760"/>
            <a:ext cx="77724" cy="1920240"/>
          </a:xfrm>
          <a:prstGeom prst="rect">
            <a:avLst/>
          </a:prstGeom>
          <a:solidFill>
            <a:srgbClr val="4F7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66176" y="3977640"/>
            <a:ext cx="3108960" cy="384048"/>
          </a:xfrm>
          <a:prstGeom prst="rect">
            <a:avLst/>
          </a:prstGeom>
          <a:noFill/>
        </p:spPr>
        <p:txBody>
          <a:bodyPr wrap="square" lIns="18288" tIns="18288" rIns="18288" bIns="18288" anchor="t">
            <a:spAutoFit/>
          </a:bodyPr>
          <a:lstStyle/>
          <a:p>
            <a:pPr algn="l">
              <a:lnSpc>
                <a:spcPct val="105000"/>
              </a:lnSpc>
            </a:pPr>
            <a:r>
              <a:rPr sz="1900" b="1" i="0">
                <a:solidFill>
                  <a:srgbClr val="4F73B5"/>
                </a:solidFill>
                <a:latin typeface="微软雅黑"/>
              </a:rPr>
              <a:t>06 系统实践</a:t>
            </a:r>
          </a:p>
        </p:txBody>
      </p:sp>
      <p:sp>
        <p:nvSpPr>
          <p:cNvPr id="32" name="TextBox 31"/>
          <p:cNvSpPr txBox="1"/>
          <p:nvPr/>
        </p:nvSpPr>
        <p:spPr>
          <a:xfrm>
            <a:off x="8266176" y="4453128"/>
            <a:ext cx="3136392" cy="1133856"/>
          </a:xfrm>
          <a:prstGeom prst="rect">
            <a:avLst/>
          </a:prstGeom>
          <a:noFill/>
        </p:spPr>
        <p:txBody>
          <a:bodyPr wrap="square" lIns="18288" tIns="18288" rIns="18288" bIns="18288" anchor="t">
            <a:spAutoFit/>
          </a:bodyPr>
          <a:lstStyle/>
          <a:p>
            <a:pPr algn="l">
              <a:lnSpc>
                <a:spcPct val="110000"/>
              </a:lnSpc>
            </a:pPr>
            <a:r>
              <a:rPr sz="1600" b="0" i="0">
                <a:solidFill>
                  <a:srgbClr val="222833"/>
                </a:solidFill>
                <a:latin typeface="微软雅黑"/>
              </a:rPr>
              <a:t>通过轮臂机器人案例理解系统集成与部署，评估从仿真到现实的迁移挑战。</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本章目录</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4</a:t>
            </a:r>
          </a:p>
        </p:txBody>
      </p:sp>
      <p:sp>
        <p:nvSpPr>
          <p:cNvPr id="9" name="TextBox 8"/>
          <p:cNvSpPr txBox="1"/>
          <p:nvPr/>
        </p:nvSpPr>
        <p:spPr>
          <a:xfrm>
            <a:off x="822960" y="1691640"/>
            <a:ext cx="4754880" cy="461729"/>
          </a:xfrm>
          <a:prstGeom prst="rect">
            <a:avLst/>
          </a:prstGeom>
          <a:noFill/>
        </p:spPr>
        <p:txBody>
          <a:bodyPr wrap="square" lIns="18288" tIns="18288" rIns="18288" bIns="18288" anchor="t">
            <a:spAutoFit/>
          </a:bodyPr>
          <a:lstStyle/>
          <a:p>
            <a:pPr algn="l">
              <a:lnSpc>
                <a:spcPct val="105000"/>
              </a:lnSpc>
            </a:pPr>
            <a:r>
              <a:rPr sz="2800" b="1" i="0" dirty="0">
                <a:solidFill>
                  <a:srgbClr val="222833"/>
                </a:solidFill>
                <a:latin typeface="微软雅黑"/>
              </a:rPr>
              <a:t>6.1 </a:t>
            </a:r>
            <a:r>
              <a:rPr sz="2800" b="1" i="0" dirty="0" err="1">
                <a:solidFill>
                  <a:srgbClr val="222833"/>
                </a:solidFill>
                <a:latin typeface="微软雅黑"/>
              </a:rPr>
              <a:t>具身导航</a:t>
            </a:r>
            <a:endParaRPr sz="2800" b="1" i="0" dirty="0">
              <a:solidFill>
                <a:srgbClr val="222833"/>
              </a:solidFill>
              <a:latin typeface="微软雅黑"/>
            </a:endParaRPr>
          </a:p>
        </p:txBody>
      </p:sp>
      <p:sp>
        <p:nvSpPr>
          <p:cNvPr id="10" name="Rectangle 9"/>
          <p:cNvSpPr/>
          <p:nvPr/>
        </p:nvSpPr>
        <p:spPr>
          <a:xfrm>
            <a:off x="658368" y="1801368"/>
            <a:ext cx="54864" cy="201168"/>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 name="TextBox 10"/>
          <p:cNvSpPr txBox="1"/>
          <p:nvPr/>
        </p:nvSpPr>
        <p:spPr>
          <a:xfrm>
            <a:off x="822960" y="2560320"/>
            <a:ext cx="4754880" cy="461729"/>
          </a:xfrm>
          <a:prstGeom prst="rect">
            <a:avLst/>
          </a:prstGeom>
          <a:noFill/>
        </p:spPr>
        <p:txBody>
          <a:bodyPr wrap="square" lIns="18288" tIns="18288" rIns="18288" bIns="18288" anchor="t">
            <a:spAutoFit/>
          </a:bodyPr>
          <a:lstStyle/>
          <a:p>
            <a:pPr algn="l">
              <a:lnSpc>
                <a:spcPct val="105000"/>
              </a:lnSpc>
            </a:pPr>
            <a:r>
              <a:rPr sz="2800" b="1" i="0">
                <a:solidFill>
                  <a:srgbClr val="222833"/>
                </a:solidFill>
                <a:latin typeface="微软雅黑"/>
              </a:rPr>
              <a:t>6.2 环境地图表示</a:t>
            </a:r>
          </a:p>
        </p:txBody>
      </p:sp>
      <p:sp>
        <p:nvSpPr>
          <p:cNvPr id="12" name="Rectangle 11"/>
          <p:cNvSpPr/>
          <p:nvPr/>
        </p:nvSpPr>
        <p:spPr>
          <a:xfrm>
            <a:off x="658368" y="2670048"/>
            <a:ext cx="54864" cy="201168"/>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3" name="TextBox 12"/>
          <p:cNvSpPr txBox="1"/>
          <p:nvPr/>
        </p:nvSpPr>
        <p:spPr>
          <a:xfrm>
            <a:off x="822960" y="3429000"/>
            <a:ext cx="4754880" cy="461729"/>
          </a:xfrm>
          <a:prstGeom prst="rect">
            <a:avLst/>
          </a:prstGeom>
          <a:noFill/>
        </p:spPr>
        <p:txBody>
          <a:bodyPr wrap="square" lIns="18288" tIns="18288" rIns="18288" bIns="18288" anchor="t">
            <a:spAutoFit/>
          </a:bodyPr>
          <a:lstStyle/>
          <a:p>
            <a:pPr algn="l">
              <a:lnSpc>
                <a:spcPct val="105000"/>
              </a:lnSpc>
            </a:pPr>
            <a:r>
              <a:rPr sz="2800" b="1" i="0">
                <a:solidFill>
                  <a:srgbClr val="222833"/>
                </a:solidFill>
                <a:latin typeface="微软雅黑"/>
              </a:rPr>
              <a:t>6.3 同步定位与地图构建</a:t>
            </a:r>
          </a:p>
        </p:txBody>
      </p:sp>
      <p:sp>
        <p:nvSpPr>
          <p:cNvPr id="14" name="Rectangle 13"/>
          <p:cNvSpPr/>
          <p:nvPr/>
        </p:nvSpPr>
        <p:spPr>
          <a:xfrm>
            <a:off x="658368" y="3538728"/>
            <a:ext cx="54864" cy="201168"/>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TextBox 14"/>
          <p:cNvSpPr txBox="1"/>
          <p:nvPr/>
        </p:nvSpPr>
        <p:spPr>
          <a:xfrm>
            <a:off x="822960" y="4297679"/>
            <a:ext cx="4754880" cy="461729"/>
          </a:xfrm>
          <a:prstGeom prst="rect">
            <a:avLst/>
          </a:prstGeom>
          <a:noFill/>
        </p:spPr>
        <p:txBody>
          <a:bodyPr wrap="square" lIns="18288" tIns="18288" rIns="18288" bIns="18288" anchor="t">
            <a:spAutoFit/>
          </a:bodyPr>
          <a:lstStyle/>
          <a:p>
            <a:pPr algn="l">
              <a:lnSpc>
                <a:spcPct val="105000"/>
              </a:lnSpc>
            </a:pPr>
            <a:r>
              <a:rPr sz="2800" b="1" i="0">
                <a:solidFill>
                  <a:srgbClr val="222833"/>
                </a:solidFill>
                <a:latin typeface="微软雅黑"/>
              </a:rPr>
              <a:t>6.4 路径规划与运动规划</a:t>
            </a:r>
          </a:p>
        </p:txBody>
      </p:sp>
      <p:sp>
        <p:nvSpPr>
          <p:cNvPr id="16" name="Rectangle 15"/>
          <p:cNvSpPr/>
          <p:nvPr/>
        </p:nvSpPr>
        <p:spPr>
          <a:xfrm>
            <a:off x="658368" y="4407407"/>
            <a:ext cx="54864" cy="201168"/>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7" name="TextBox 16"/>
          <p:cNvSpPr txBox="1"/>
          <p:nvPr/>
        </p:nvSpPr>
        <p:spPr>
          <a:xfrm>
            <a:off x="822960" y="5166360"/>
            <a:ext cx="4754880" cy="461729"/>
          </a:xfrm>
          <a:prstGeom prst="rect">
            <a:avLst/>
          </a:prstGeom>
          <a:noFill/>
        </p:spPr>
        <p:txBody>
          <a:bodyPr wrap="square" lIns="18288" tIns="18288" rIns="18288" bIns="18288" anchor="t">
            <a:spAutoFit/>
          </a:bodyPr>
          <a:lstStyle/>
          <a:p>
            <a:pPr algn="l">
              <a:lnSpc>
                <a:spcPct val="105000"/>
              </a:lnSpc>
            </a:pPr>
            <a:r>
              <a:rPr sz="2800" b="1" i="0">
                <a:solidFill>
                  <a:srgbClr val="222833"/>
                </a:solidFill>
                <a:latin typeface="微软雅黑"/>
              </a:rPr>
              <a:t>6.5 具身导航框架</a:t>
            </a:r>
          </a:p>
        </p:txBody>
      </p:sp>
      <p:sp>
        <p:nvSpPr>
          <p:cNvPr id="18" name="Rectangle 17"/>
          <p:cNvSpPr/>
          <p:nvPr/>
        </p:nvSpPr>
        <p:spPr>
          <a:xfrm>
            <a:off x="658368" y="5276088"/>
            <a:ext cx="54864" cy="201168"/>
          </a:xfrm>
          <a:prstGeom prst="rect">
            <a:avLst/>
          </a:prstGeom>
          <a:solidFill>
            <a:srgbClr val="755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9" name="TextBox 18"/>
          <p:cNvSpPr txBox="1"/>
          <p:nvPr/>
        </p:nvSpPr>
        <p:spPr>
          <a:xfrm>
            <a:off x="6309360" y="1691640"/>
            <a:ext cx="4754880" cy="461729"/>
          </a:xfrm>
          <a:prstGeom prst="rect">
            <a:avLst/>
          </a:prstGeom>
          <a:noFill/>
        </p:spPr>
        <p:txBody>
          <a:bodyPr wrap="square" lIns="18288" tIns="18288" rIns="18288" bIns="18288" anchor="t">
            <a:spAutoFit/>
          </a:bodyPr>
          <a:lstStyle/>
          <a:p>
            <a:pPr algn="l">
              <a:lnSpc>
                <a:spcPct val="105000"/>
              </a:lnSpc>
            </a:pPr>
            <a:r>
              <a:rPr sz="2800" b="1" i="0">
                <a:solidFill>
                  <a:srgbClr val="222833"/>
                </a:solidFill>
                <a:latin typeface="微软雅黑"/>
              </a:rPr>
              <a:t>6.6 视觉语言导航</a:t>
            </a:r>
          </a:p>
        </p:txBody>
      </p:sp>
      <p:sp>
        <p:nvSpPr>
          <p:cNvPr id="20" name="Rectangle 19"/>
          <p:cNvSpPr/>
          <p:nvPr/>
        </p:nvSpPr>
        <p:spPr>
          <a:xfrm>
            <a:off x="6144768" y="1801368"/>
            <a:ext cx="54864" cy="201168"/>
          </a:xfrm>
          <a:prstGeom prst="rect">
            <a:avLst/>
          </a:prstGeom>
          <a:solidFill>
            <a:srgbClr val="4F7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1" name="TextBox 20"/>
          <p:cNvSpPr txBox="1"/>
          <p:nvPr/>
        </p:nvSpPr>
        <p:spPr>
          <a:xfrm>
            <a:off x="6309360" y="2560320"/>
            <a:ext cx="5685142" cy="461729"/>
          </a:xfrm>
          <a:prstGeom prst="rect">
            <a:avLst/>
          </a:prstGeom>
          <a:noFill/>
        </p:spPr>
        <p:txBody>
          <a:bodyPr wrap="square" lIns="18288" tIns="18288" rIns="18288" bIns="18288" anchor="t">
            <a:spAutoFit/>
          </a:bodyPr>
          <a:lstStyle/>
          <a:p>
            <a:pPr algn="l">
              <a:lnSpc>
                <a:spcPct val="105000"/>
              </a:lnSpc>
            </a:pPr>
            <a:r>
              <a:rPr sz="2800" b="1" i="0" dirty="0">
                <a:solidFill>
                  <a:srgbClr val="222833"/>
                </a:solidFill>
                <a:latin typeface="微软雅黑"/>
              </a:rPr>
              <a:t>6.7 </a:t>
            </a:r>
            <a:r>
              <a:rPr sz="2800" b="1" i="0" dirty="0" err="1">
                <a:solidFill>
                  <a:srgbClr val="222833"/>
                </a:solidFill>
                <a:latin typeface="微软雅黑"/>
              </a:rPr>
              <a:t>案例：轮臂机器人具身导航仿真</a:t>
            </a:r>
            <a:endParaRPr sz="2800" b="1" i="0" dirty="0">
              <a:solidFill>
                <a:srgbClr val="222833"/>
              </a:solidFill>
              <a:latin typeface="微软雅黑"/>
            </a:endParaRPr>
          </a:p>
        </p:txBody>
      </p:sp>
      <p:sp>
        <p:nvSpPr>
          <p:cNvPr id="22" name="Rectangle 21"/>
          <p:cNvSpPr/>
          <p:nvPr/>
        </p:nvSpPr>
        <p:spPr>
          <a:xfrm>
            <a:off x="6144768" y="2670048"/>
            <a:ext cx="54864" cy="201168"/>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3" name="TextBox 22"/>
          <p:cNvSpPr txBox="1"/>
          <p:nvPr/>
        </p:nvSpPr>
        <p:spPr>
          <a:xfrm>
            <a:off x="6309360" y="3429000"/>
            <a:ext cx="4754880" cy="461729"/>
          </a:xfrm>
          <a:prstGeom prst="rect">
            <a:avLst/>
          </a:prstGeom>
          <a:noFill/>
        </p:spPr>
        <p:txBody>
          <a:bodyPr wrap="square" lIns="18288" tIns="18288" rIns="18288" bIns="18288" anchor="t">
            <a:spAutoFit/>
          </a:bodyPr>
          <a:lstStyle/>
          <a:p>
            <a:pPr algn="l">
              <a:lnSpc>
                <a:spcPct val="105000"/>
              </a:lnSpc>
            </a:pPr>
            <a:r>
              <a:rPr sz="2800" b="1" i="0">
                <a:solidFill>
                  <a:srgbClr val="222833"/>
                </a:solidFill>
                <a:latin typeface="微软雅黑"/>
              </a:rPr>
              <a:t>6.8 小结</a:t>
            </a:r>
          </a:p>
        </p:txBody>
      </p:sp>
      <p:sp>
        <p:nvSpPr>
          <p:cNvPr id="24" name="Rectangle 23"/>
          <p:cNvSpPr/>
          <p:nvPr/>
        </p:nvSpPr>
        <p:spPr>
          <a:xfrm>
            <a:off x="6144768" y="3538728"/>
            <a:ext cx="54864" cy="201168"/>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78638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86384" y="0"/>
            <a:ext cx="73152"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921240" y="347472"/>
            <a:ext cx="160020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具身智能导论 · 第 6 章</a:t>
            </a:r>
          </a:p>
        </p:txBody>
      </p:sp>
      <p:sp>
        <p:nvSpPr>
          <p:cNvPr id="5" name="TextBox 4"/>
          <p:cNvSpPr txBox="1"/>
          <p:nvPr/>
        </p:nvSpPr>
        <p:spPr>
          <a:xfrm>
            <a:off x="1938528" y="2011680"/>
            <a:ext cx="1627632" cy="914400"/>
          </a:xfrm>
          <a:prstGeom prst="rect">
            <a:avLst/>
          </a:prstGeom>
          <a:noFill/>
        </p:spPr>
        <p:txBody>
          <a:bodyPr wrap="square" lIns="18288" tIns="18288" rIns="18288" bIns="18288" anchor="ctr">
            <a:spAutoFit/>
          </a:bodyPr>
          <a:lstStyle/>
          <a:p>
            <a:pPr algn="ctr">
              <a:lnSpc>
                <a:spcPct val="105000"/>
              </a:lnSpc>
            </a:pPr>
            <a:r>
              <a:rPr sz="7200" b="1" i="0">
                <a:solidFill>
                  <a:srgbClr val="31599B"/>
                </a:solidFill>
                <a:latin typeface="微软雅黑"/>
              </a:rPr>
              <a:t>01</a:t>
            </a:r>
          </a:p>
        </p:txBody>
      </p:sp>
      <p:sp>
        <p:nvSpPr>
          <p:cNvPr id="6" name="TextBox 5"/>
          <p:cNvSpPr txBox="1"/>
          <p:nvPr/>
        </p:nvSpPr>
        <p:spPr>
          <a:xfrm>
            <a:off x="3703320" y="2249424"/>
            <a:ext cx="6812280" cy="685800"/>
          </a:xfrm>
          <a:prstGeom prst="rect">
            <a:avLst/>
          </a:prstGeom>
          <a:noFill/>
        </p:spPr>
        <p:txBody>
          <a:bodyPr wrap="square" lIns="18288" tIns="18288" rIns="18288" bIns="18288" anchor="ctr">
            <a:spAutoFit/>
          </a:bodyPr>
          <a:lstStyle/>
          <a:p>
            <a:pPr algn="l">
              <a:lnSpc>
                <a:spcPct val="105000"/>
              </a:lnSpc>
            </a:pPr>
            <a:r>
              <a:rPr sz="3900" b="1" i="0">
                <a:solidFill>
                  <a:srgbClr val="24477D"/>
                </a:solidFill>
                <a:latin typeface="微软雅黑"/>
              </a:rPr>
              <a:t>具身导航</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6.1 具身导航：通过身体与环境交互实现自主移动</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6</a:t>
            </a:r>
          </a:p>
        </p:txBody>
      </p:sp>
      <p:sp>
        <p:nvSpPr>
          <p:cNvPr id="9" name="TextBox 8"/>
          <p:cNvSpPr txBox="1"/>
          <p:nvPr/>
        </p:nvSpPr>
        <p:spPr>
          <a:xfrm>
            <a:off x="731520" y="1737360"/>
            <a:ext cx="6583680" cy="1373453"/>
          </a:xfrm>
          <a:prstGeom prst="rect">
            <a:avLst/>
          </a:prstGeom>
          <a:noFill/>
        </p:spPr>
        <p:txBody>
          <a:bodyPr wrap="square" lIns="18288" tIns="18288" rIns="18288" bIns="18288" anchor="t">
            <a:spAutoFit/>
          </a:bodyPr>
          <a:lstStyle/>
          <a:p>
            <a:pPr marL="342900" indent="-342900" algn="l">
              <a:lnSpc>
                <a:spcPct val="105000"/>
              </a:lnSpc>
              <a:buFont typeface="Arial" panose="020B0604020202020204" pitchFamily="34" charset="0"/>
              <a:buChar char="•"/>
            </a:pPr>
            <a:r>
              <a:rPr sz="2100" b="0" i="0" dirty="0" err="1">
                <a:solidFill>
                  <a:srgbClr val="222833"/>
                </a:solidFill>
                <a:latin typeface="微软雅黑"/>
              </a:rPr>
              <a:t>具身导航（Embodied</a:t>
            </a:r>
            <a:r>
              <a:rPr sz="2100" b="0" i="0" dirty="0">
                <a:solidFill>
                  <a:srgbClr val="222833"/>
                </a:solidFill>
                <a:latin typeface="微软雅黑"/>
              </a:rPr>
              <a:t> Navigation）强调智能体通过物理身体与环境直接交互来实现自主移动和任务执行，而不是完全依赖预先构建的全局地图或外部定位系统。</a:t>
            </a:r>
          </a:p>
        </p:txBody>
      </p:sp>
      <p:sp>
        <p:nvSpPr>
          <p:cNvPr id="10" name="Rounded Rectangle 9"/>
          <p:cNvSpPr/>
          <p:nvPr/>
        </p:nvSpPr>
        <p:spPr>
          <a:xfrm>
            <a:off x="7589520" y="1691640"/>
            <a:ext cx="3840480" cy="1353312"/>
          </a:xfrm>
          <a:prstGeom prst="roundRect">
            <a:avLst/>
          </a:prstGeom>
          <a:solidFill>
            <a:srgbClr val="EDF2FA"/>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589520" y="1691640"/>
            <a:ext cx="77724" cy="1353312"/>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808976" y="1874520"/>
            <a:ext cx="3429000" cy="384048"/>
          </a:xfrm>
          <a:prstGeom prst="rect">
            <a:avLst/>
          </a:prstGeom>
          <a:noFill/>
        </p:spPr>
        <p:txBody>
          <a:bodyPr wrap="square" lIns="18288" tIns="18288" rIns="18288" bIns="18288" anchor="t">
            <a:spAutoFit/>
          </a:bodyPr>
          <a:lstStyle/>
          <a:p>
            <a:pPr algn="l">
              <a:lnSpc>
                <a:spcPct val="105000"/>
              </a:lnSpc>
            </a:pPr>
            <a:r>
              <a:rPr sz="2000" b="1" i="0">
                <a:solidFill>
                  <a:srgbClr val="31599B"/>
                </a:solidFill>
                <a:latin typeface="微软雅黑"/>
              </a:rPr>
              <a:t>典型任务</a:t>
            </a:r>
          </a:p>
        </p:txBody>
      </p:sp>
      <p:sp>
        <p:nvSpPr>
          <p:cNvPr id="13" name="TextBox 12"/>
          <p:cNvSpPr txBox="1"/>
          <p:nvPr/>
        </p:nvSpPr>
        <p:spPr>
          <a:xfrm>
            <a:off x="7808975" y="2350008"/>
            <a:ext cx="3695669" cy="625108"/>
          </a:xfrm>
          <a:prstGeom prst="rect">
            <a:avLst/>
          </a:prstGeom>
          <a:noFill/>
        </p:spPr>
        <p:txBody>
          <a:bodyPr wrap="square" lIns="18288" tIns="18288" rIns="18288" bIns="18288" anchor="t">
            <a:spAutoFit/>
          </a:bodyPr>
          <a:lstStyle/>
          <a:p>
            <a:pPr algn="l">
              <a:lnSpc>
                <a:spcPct val="110000"/>
              </a:lnSpc>
            </a:pPr>
            <a:r>
              <a:rPr sz="1800" b="0" i="0" dirty="0" err="1">
                <a:solidFill>
                  <a:srgbClr val="222833"/>
                </a:solidFill>
                <a:latin typeface="微软雅黑"/>
              </a:rPr>
              <a:t>PointGoal：导航至指定点目标</a:t>
            </a:r>
            <a:r>
              <a:rPr sz="1800" b="0" i="0" dirty="0">
                <a:solidFill>
                  <a:srgbClr val="222833"/>
                </a:solidFill>
                <a:latin typeface="微软雅黑"/>
              </a:rPr>
              <a:t>
</a:t>
            </a:r>
            <a:r>
              <a:rPr sz="1800" b="0" i="0" dirty="0" err="1">
                <a:solidFill>
                  <a:srgbClr val="222833"/>
                </a:solidFill>
                <a:latin typeface="微软雅黑"/>
              </a:rPr>
              <a:t>ObjectGoal：导航至指定物体目标</a:t>
            </a:r>
            <a:endParaRPr sz="1800" b="0" i="0" dirty="0">
              <a:solidFill>
                <a:srgbClr val="222833"/>
              </a:solidFill>
              <a:latin typeface="微软雅黑"/>
            </a:endParaRPr>
          </a:p>
        </p:txBody>
      </p:sp>
      <p:sp>
        <p:nvSpPr>
          <p:cNvPr id="14" name="Rounded Rectangle 13"/>
          <p:cNvSpPr/>
          <p:nvPr/>
        </p:nvSpPr>
        <p:spPr>
          <a:xfrm>
            <a:off x="7589520" y="3246120"/>
            <a:ext cx="3840480" cy="1353312"/>
          </a:xfrm>
          <a:prstGeom prst="roundRect">
            <a:avLst/>
          </a:prstGeom>
          <a:solidFill>
            <a:srgbClr val="EAF5F1"/>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589520" y="3246120"/>
            <a:ext cx="77724" cy="1353312"/>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808976" y="3429000"/>
            <a:ext cx="3429000" cy="384048"/>
          </a:xfrm>
          <a:prstGeom prst="rect">
            <a:avLst/>
          </a:prstGeom>
          <a:noFill/>
        </p:spPr>
        <p:txBody>
          <a:bodyPr wrap="square" lIns="18288" tIns="18288" rIns="18288" bIns="18288" anchor="t">
            <a:spAutoFit/>
          </a:bodyPr>
          <a:lstStyle/>
          <a:p>
            <a:pPr algn="l">
              <a:lnSpc>
                <a:spcPct val="105000"/>
              </a:lnSpc>
            </a:pPr>
            <a:r>
              <a:rPr sz="2000" b="1" i="0">
                <a:solidFill>
                  <a:srgbClr val="2F8E72"/>
                </a:solidFill>
                <a:latin typeface="微软雅黑"/>
              </a:rPr>
              <a:t>典型观测</a:t>
            </a:r>
          </a:p>
        </p:txBody>
      </p:sp>
      <p:sp>
        <p:nvSpPr>
          <p:cNvPr id="17" name="TextBox 16"/>
          <p:cNvSpPr txBox="1"/>
          <p:nvPr/>
        </p:nvSpPr>
        <p:spPr>
          <a:xfrm>
            <a:off x="7808976" y="3904487"/>
            <a:ext cx="3456432" cy="566928"/>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仅依赖第一人称观测，如 RGB-D 图像。</a:t>
            </a:r>
          </a:p>
        </p:txBody>
      </p:sp>
      <p:sp>
        <p:nvSpPr>
          <p:cNvPr id="18" name="Rounded Rectangle 17"/>
          <p:cNvSpPr/>
          <p:nvPr/>
        </p:nvSpPr>
        <p:spPr>
          <a:xfrm>
            <a:off x="7589520" y="4800600"/>
            <a:ext cx="3840480" cy="1395984"/>
          </a:xfrm>
          <a:prstGeom prst="roundRect">
            <a:avLst/>
          </a:prstGeom>
          <a:solidFill>
            <a:srgbClr val="FFF4DE"/>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589520" y="4873205"/>
            <a:ext cx="77724" cy="1250774"/>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808976" y="4983480"/>
            <a:ext cx="3429000" cy="384048"/>
          </a:xfrm>
          <a:prstGeom prst="rect">
            <a:avLst/>
          </a:prstGeom>
          <a:noFill/>
        </p:spPr>
        <p:txBody>
          <a:bodyPr wrap="square" lIns="18288" tIns="18288" rIns="18288" bIns="18288" anchor="t">
            <a:spAutoFit/>
          </a:bodyPr>
          <a:lstStyle/>
          <a:p>
            <a:pPr algn="l">
              <a:lnSpc>
                <a:spcPct val="105000"/>
              </a:lnSpc>
            </a:pPr>
            <a:r>
              <a:rPr sz="1900" b="1" i="0">
                <a:solidFill>
                  <a:srgbClr val="C58A24"/>
                </a:solidFill>
                <a:latin typeface="微软雅黑"/>
              </a:rPr>
              <a:t>任务扩展</a:t>
            </a:r>
          </a:p>
        </p:txBody>
      </p:sp>
      <p:sp>
        <p:nvSpPr>
          <p:cNvPr id="21" name="TextBox 20"/>
          <p:cNvSpPr txBox="1"/>
          <p:nvPr/>
        </p:nvSpPr>
        <p:spPr>
          <a:xfrm>
            <a:off x="7808976" y="5458968"/>
            <a:ext cx="3502152" cy="592406"/>
          </a:xfrm>
          <a:prstGeom prst="rect">
            <a:avLst/>
          </a:prstGeom>
          <a:noFill/>
        </p:spPr>
        <p:txBody>
          <a:bodyPr wrap="square" lIns="18288" tIns="18288" rIns="18288" bIns="18288" anchor="t">
            <a:spAutoFit/>
          </a:bodyPr>
          <a:lstStyle/>
          <a:p>
            <a:pPr algn="l">
              <a:lnSpc>
                <a:spcPct val="110000"/>
              </a:lnSpc>
            </a:pPr>
            <a:r>
              <a:rPr sz="1700" b="0" i="0" dirty="0" err="1">
                <a:solidFill>
                  <a:srgbClr val="222833"/>
                </a:solidFill>
                <a:latin typeface="微软雅黑"/>
              </a:rPr>
              <a:t>视觉-语言导航（VLN）把自然语言指令融入导航</a:t>
            </a:r>
            <a:r>
              <a:rPr sz="1700" b="0" i="0" dirty="0">
                <a:solidFill>
                  <a:srgbClr val="222833"/>
                </a:solidFill>
                <a:latin typeface="微软雅黑"/>
              </a:rPr>
              <a:t>。</a:t>
            </a:r>
          </a:p>
        </p:txBody>
      </p:sp>
      <p:sp>
        <p:nvSpPr>
          <p:cNvPr id="22" name="TextBox 21"/>
          <p:cNvSpPr txBox="1"/>
          <p:nvPr/>
        </p:nvSpPr>
        <p:spPr>
          <a:xfrm>
            <a:off x="762000" y="4599432"/>
            <a:ext cx="6446520" cy="502920"/>
          </a:xfrm>
          <a:prstGeom prst="rect">
            <a:avLst/>
          </a:prstGeom>
          <a:noFill/>
        </p:spPr>
        <p:txBody>
          <a:bodyPr wrap="square" lIns="18288" tIns="18288" rIns="18288" bIns="18288" anchor="t">
            <a:spAutoFit/>
          </a:bodyPr>
          <a:lstStyle/>
          <a:p>
            <a:pPr algn="l">
              <a:lnSpc>
                <a:spcPct val="105000"/>
              </a:lnSpc>
            </a:pPr>
            <a:r>
              <a:rPr sz="2300" b="1" i="0">
                <a:solidFill>
                  <a:srgbClr val="24477D"/>
                </a:solidFill>
                <a:latin typeface="微软雅黑"/>
              </a:rPr>
              <a:t>核心：从“上帝视角的地图导航”走向“自我中心的感知-行动闭环”。</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6.1.1 主要特点：具身导航的“四个具身性”</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7</a:t>
            </a:r>
          </a:p>
        </p:txBody>
      </p:sp>
      <p:sp>
        <p:nvSpPr>
          <p:cNvPr id="9" name="Rounded Rectangle 8"/>
          <p:cNvSpPr/>
          <p:nvPr/>
        </p:nvSpPr>
        <p:spPr>
          <a:xfrm>
            <a:off x="640080" y="1600200"/>
            <a:ext cx="5349240" cy="20574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1600200"/>
            <a:ext cx="77724" cy="20574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1783080"/>
            <a:ext cx="4937759"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自我中心感知</a:t>
            </a:r>
          </a:p>
        </p:txBody>
      </p:sp>
      <p:sp>
        <p:nvSpPr>
          <p:cNvPr id="12" name="TextBox 11"/>
          <p:cNvSpPr txBox="1"/>
          <p:nvPr/>
        </p:nvSpPr>
        <p:spPr>
          <a:xfrm>
            <a:off x="859536" y="2258568"/>
            <a:ext cx="4965192" cy="127101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从自身视角获取信息，而非上帝视角的全局地图。</a:t>
            </a:r>
          </a:p>
        </p:txBody>
      </p:sp>
      <p:sp>
        <p:nvSpPr>
          <p:cNvPr id="13" name="Rounded Rectangle 12"/>
          <p:cNvSpPr/>
          <p:nvPr/>
        </p:nvSpPr>
        <p:spPr>
          <a:xfrm>
            <a:off x="6172200" y="1600200"/>
            <a:ext cx="5349240" cy="20574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72200" y="1600200"/>
            <a:ext cx="77724" cy="205740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91656" y="1783080"/>
            <a:ext cx="4937759"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主动交互与探索</a:t>
            </a:r>
          </a:p>
        </p:txBody>
      </p:sp>
      <p:sp>
        <p:nvSpPr>
          <p:cNvPr id="16" name="TextBox 15"/>
          <p:cNvSpPr txBox="1"/>
          <p:nvPr/>
        </p:nvSpPr>
        <p:spPr>
          <a:xfrm>
            <a:off x="6391656" y="2258568"/>
            <a:ext cx="4965192" cy="127101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通过前进、转弯等动作主动调整视角，收集环境数据，形成感知-行动闭环。</a:t>
            </a:r>
          </a:p>
        </p:txBody>
      </p:sp>
      <p:sp>
        <p:nvSpPr>
          <p:cNvPr id="17" name="Rounded Rectangle 16"/>
          <p:cNvSpPr/>
          <p:nvPr/>
        </p:nvSpPr>
        <p:spPr>
          <a:xfrm>
            <a:off x="640080" y="3931920"/>
            <a:ext cx="5349240" cy="20574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 y="3931920"/>
            <a:ext cx="77724" cy="205740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59536" y="4114800"/>
            <a:ext cx="4937759" cy="384048"/>
          </a:xfrm>
          <a:prstGeom prst="rect">
            <a:avLst/>
          </a:prstGeom>
          <a:noFill/>
        </p:spPr>
        <p:txBody>
          <a:bodyPr wrap="square" lIns="18288" tIns="18288" rIns="18288" bIns="18288" anchor="t">
            <a:spAutoFit/>
          </a:bodyPr>
          <a:lstStyle/>
          <a:p>
            <a:pPr algn="l">
              <a:lnSpc>
                <a:spcPct val="105000"/>
              </a:lnSpc>
            </a:pPr>
            <a:r>
              <a:rPr sz="2200" b="1" i="0">
                <a:solidFill>
                  <a:srgbClr val="C58A24"/>
                </a:solidFill>
                <a:latin typeface="微软雅黑"/>
              </a:rPr>
              <a:t>不确定性处理</a:t>
            </a:r>
          </a:p>
        </p:txBody>
      </p:sp>
      <p:sp>
        <p:nvSpPr>
          <p:cNvPr id="20" name="TextBox 19"/>
          <p:cNvSpPr txBox="1"/>
          <p:nvPr/>
        </p:nvSpPr>
        <p:spPr>
          <a:xfrm>
            <a:off x="859536" y="4590288"/>
            <a:ext cx="4965192" cy="127101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需要面对部分可观测性、传感器噪声与动态障碍。</a:t>
            </a:r>
          </a:p>
        </p:txBody>
      </p:sp>
      <p:sp>
        <p:nvSpPr>
          <p:cNvPr id="21" name="Rounded Rectangle 20"/>
          <p:cNvSpPr/>
          <p:nvPr/>
        </p:nvSpPr>
        <p:spPr>
          <a:xfrm>
            <a:off x="6172200" y="3931920"/>
            <a:ext cx="5349240" cy="20574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172200" y="3931920"/>
            <a:ext cx="77724" cy="205740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91656" y="4114800"/>
            <a:ext cx="4937759" cy="384048"/>
          </a:xfrm>
          <a:prstGeom prst="rect">
            <a:avLst/>
          </a:prstGeom>
          <a:noFill/>
        </p:spPr>
        <p:txBody>
          <a:bodyPr wrap="square" lIns="18288" tIns="18288" rIns="18288" bIns="18288" anchor="t">
            <a:spAutoFit/>
          </a:bodyPr>
          <a:lstStyle/>
          <a:p>
            <a:pPr algn="l">
              <a:lnSpc>
                <a:spcPct val="105000"/>
              </a:lnSpc>
            </a:pPr>
            <a:r>
              <a:rPr sz="2200" b="1" i="0">
                <a:solidFill>
                  <a:srgbClr val="C63F45"/>
                </a:solidFill>
                <a:latin typeface="微软雅黑"/>
              </a:rPr>
              <a:t>多模态融合</a:t>
            </a:r>
          </a:p>
        </p:txBody>
      </p:sp>
      <p:sp>
        <p:nvSpPr>
          <p:cNvPr id="24" name="TextBox 23"/>
          <p:cNvSpPr txBox="1"/>
          <p:nvPr/>
        </p:nvSpPr>
        <p:spPr>
          <a:xfrm>
            <a:off x="6391656" y="4590288"/>
            <a:ext cx="4965192" cy="127101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整合视觉、深度、语言、触觉等多源信息，支持复杂语义任务。</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具身问答：为了“回答”，智能体必须先“探索”</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8</a:t>
            </a:r>
          </a:p>
        </p:txBody>
      </p:sp>
      <p:sp>
        <p:nvSpPr>
          <p:cNvPr id="10" name="TextBox 9"/>
          <p:cNvSpPr txBox="1"/>
          <p:nvPr/>
        </p:nvSpPr>
        <p:spPr>
          <a:xfrm>
            <a:off x="5623559" y="5076600"/>
            <a:ext cx="5669280" cy="234103"/>
          </a:xfrm>
          <a:prstGeom prst="rect">
            <a:avLst/>
          </a:prstGeom>
          <a:noFill/>
        </p:spPr>
        <p:txBody>
          <a:bodyPr wrap="square" lIns="18288" tIns="18288" rIns="18288" bIns="18288" anchor="t">
            <a:spAutoFit/>
          </a:bodyPr>
          <a:lstStyle/>
          <a:p>
            <a:pPr algn="ctr">
              <a:lnSpc>
                <a:spcPct val="105000"/>
              </a:lnSpc>
            </a:pPr>
            <a:r>
              <a:rPr sz="1300" b="1" i="0" dirty="0" err="1">
                <a:solidFill>
                  <a:srgbClr val="24477D"/>
                </a:solidFill>
                <a:latin typeface="微软雅黑"/>
              </a:rPr>
              <a:t>具身问答实验任务</a:t>
            </a:r>
            <a:endParaRPr sz="1300" b="1" i="0" dirty="0">
              <a:solidFill>
                <a:srgbClr val="24477D"/>
              </a:solidFill>
              <a:latin typeface="微软雅黑"/>
            </a:endParaRPr>
          </a:p>
        </p:txBody>
      </p:sp>
      <p:sp>
        <p:nvSpPr>
          <p:cNvPr id="11" name="TextBox 10"/>
          <p:cNvSpPr txBox="1"/>
          <p:nvPr/>
        </p:nvSpPr>
        <p:spPr>
          <a:xfrm>
            <a:off x="702627" y="1729187"/>
            <a:ext cx="4682195" cy="3658309"/>
          </a:xfrm>
          <a:prstGeom prst="rect">
            <a:avLst/>
          </a:prstGeom>
          <a:noFill/>
        </p:spPr>
        <p:txBody>
          <a:bodyPr wrap="square" lIns="18288" tIns="18288" rIns="18288" bIns="18288">
            <a:spAutoFit/>
          </a:bodyPr>
          <a:lstStyle/>
          <a:p>
            <a:pPr>
              <a:lnSpc>
                <a:spcPct val="115000"/>
              </a:lnSpc>
              <a:spcAft>
                <a:spcPts val="1000"/>
              </a:spcAft>
              <a:defRPr sz="1800">
                <a:solidFill>
                  <a:srgbClr val="222833"/>
                </a:solidFill>
                <a:latin typeface="微软雅黑"/>
              </a:defRPr>
            </a:pPr>
            <a:r>
              <a:rPr sz="2400" dirty="0"/>
              <a:t>• </a:t>
            </a:r>
            <a:r>
              <a:rPr sz="2400" dirty="0" err="1"/>
              <a:t>智能体被随机生成在</a:t>
            </a:r>
            <a:r>
              <a:rPr sz="2400" dirty="0"/>
              <a:t> 3D </a:t>
            </a:r>
            <a:r>
              <a:rPr sz="2400" dirty="0" err="1"/>
              <a:t>环境中的一个位置，并接收一个问题</a:t>
            </a:r>
            <a:r>
              <a:rPr sz="2400" dirty="0"/>
              <a:t>。</a:t>
            </a:r>
          </a:p>
          <a:p>
            <a:pPr>
              <a:lnSpc>
                <a:spcPct val="115000"/>
              </a:lnSpc>
              <a:spcAft>
                <a:spcPts val="1000"/>
              </a:spcAft>
              <a:defRPr sz="1800">
                <a:solidFill>
                  <a:srgbClr val="222833"/>
                </a:solidFill>
                <a:latin typeface="微软雅黑"/>
              </a:defRPr>
            </a:pPr>
            <a:r>
              <a:rPr sz="2400" dirty="0"/>
              <a:t>• </a:t>
            </a:r>
            <a:r>
              <a:rPr sz="2400" dirty="0" err="1"/>
              <a:t>为了回答问题，智能体需要自主导航、主动探索，并通过第一人称视觉收集信息</a:t>
            </a:r>
            <a:r>
              <a:rPr sz="2400" dirty="0"/>
              <a:t>。</a:t>
            </a:r>
          </a:p>
          <a:p>
            <a:pPr>
              <a:lnSpc>
                <a:spcPct val="115000"/>
              </a:lnSpc>
              <a:spcAft>
                <a:spcPts val="1000"/>
              </a:spcAft>
              <a:defRPr sz="1800">
                <a:solidFill>
                  <a:srgbClr val="222833"/>
                </a:solidFill>
                <a:latin typeface="微软雅黑"/>
              </a:defRPr>
            </a:pPr>
            <a:r>
              <a:rPr sz="2400" dirty="0"/>
              <a:t>• 任务同时考察“</a:t>
            </a:r>
            <a:r>
              <a:rPr sz="2400" dirty="0" err="1"/>
              <a:t>去哪儿看</a:t>
            </a:r>
            <a:r>
              <a:rPr sz="2400" dirty="0"/>
              <a:t>”“</a:t>
            </a:r>
            <a:r>
              <a:rPr sz="2400" dirty="0" err="1"/>
              <a:t>看什么</a:t>
            </a:r>
            <a:r>
              <a:rPr sz="2400" dirty="0"/>
              <a:t>”“</a:t>
            </a:r>
            <a:r>
              <a:rPr sz="2400" dirty="0" err="1"/>
              <a:t>如何根据观测回答”的闭环能力</a:t>
            </a:r>
            <a:r>
              <a:rPr sz="2400" dirty="0"/>
              <a:t>。</a:t>
            </a:r>
          </a:p>
        </p:txBody>
      </p:sp>
      <p:pic>
        <p:nvPicPr>
          <p:cNvPr id="12" name="图片 11" descr="Embodied Question Answering: A goal-driven approach to autonomous agents -  Engineering at Meta">
            <a:extLst>
              <a:ext uri="{FF2B5EF4-FFF2-40B4-BE49-F238E27FC236}">
                <a16:creationId xmlns:a16="http://schemas.microsoft.com/office/drawing/2014/main" id="{088015C6-4720-6208-22FC-BE9E45F1513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36484" y="1945802"/>
            <a:ext cx="5843431" cy="296639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具身导航在具身智能体系中的作用</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9</a:t>
            </a:r>
          </a:p>
        </p:txBody>
      </p:sp>
      <p:sp>
        <p:nvSpPr>
          <p:cNvPr id="9" name="Rounded Rectangle 8"/>
          <p:cNvSpPr/>
          <p:nvPr/>
        </p:nvSpPr>
        <p:spPr>
          <a:xfrm>
            <a:off x="685800" y="1874519"/>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1874519"/>
            <a:ext cx="2569464" cy="82296"/>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5528" y="205740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31599B"/>
                </a:solidFill>
                <a:latin typeface="微软雅黑"/>
              </a:rPr>
              <a:t>1</a:t>
            </a:r>
          </a:p>
        </p:txBody>
      </p:sp>
      <p:sp>
        <p:nvSpPr>
          <p:cNvPr id="12" name="TextBox 11"/>
          <p:cNvSpPr txBox="1"/>
          <p:nvPr/>
        </p:nvSpPr>
        <p:spPr>
          <a:xfrm>
            <a:off x="1188720" y="203911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31599B"/>
                </a:solidFill>
                <a:latin typeface="微软雅黑"/>
              </a:rPr>
              <a:t>到达</a:t>
            </a:r>
          </a:p>
        </p:txBody>
      </p:sp>
      <p:sp>
        <p:nvSpPr>
          <p:cNvPr id="13" name="TextBox 12"/>
          <p:cNvSpPr txBox="1"/>
          <p:nvPr/>
        </p:nvSpPr>
        <p:spPr>
          <a:xfrm>
            <a:off x="832104" y="247802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先到达目标位置</a:t>
            </a:r>
          </a:p>
        </p:txBody>
      </p:sp>
      <p:sp>
        <p:nvSpPr>
          <p:cNvPr id="14" name="Rectangle 13"/>
          <p:cNvSpPr/>
          <p:nvPr/>
        </p:nvSpPr>
        <p:spPr>
          <a:xfrm>
            <a:off x="3291840" y="2459736"/>
            <a:ext cx="128016" cy="256032"/>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456432" y="1874519"/>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456432" y="1874519"/>
            <a:ext cx="2569464" cy="82296"/>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566160" y="205740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2F8E72"/>
                </a:solidFill>
                <a:latin typeface="微软雅黑"/>
              </a:rPr>
              <a:t>2</a:t>
            </a:r>
          </a:p>
        </p:txBody>
      </p:sp>
      <p:sp>
        <p:nvSpPr>
          <p:cNvPr id="18" name="TextBox 17"/>
          <p:cNvSpPr txBox="1"/>
          <p:nvPr/>
        </p:nvSpPr>
        <p:spPr>
          <a:xfrm>
            <a:off x="3959352" y="203911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2F8E72"/>
                </a:solidFill>
                <a:latin typeface="微软雅黑"/>
              </a:rPr>
              <a:t>感知</a:t>
            </a:r>
          </a:p>
        </p:txBody>
      </p:sp>
      <p:sp>
        <p:nvSpPr>
          <p:cNvPr id="19" name="TextBox 18"/>
          <p:cNvSpPr txBox="1"/>
          <p:nvPr/>
        </p:nvSpPr>
        <p:spPr>
          <a:xfrm>
            <a:off x="3602736" y="247802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在目标附近获取有效信息</a:t>
            </a:r>
          </a:p>
        </p:txBody>
      </p:sp>
      <p:sp>
        <p:nvSpPr>
          <p:cNvPr id="20" name="Rectangle 19"/>
          <p:cNvSpPr/>
          <p:nvPr/>
        </p:nvSpPr>
        <p:spPr>
          <a:xfrm>
            <a:off x="6062472" y="2459736"/>
            <a:ext cx="128016" cy="256032"/>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227064" y="1874519"/>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27064" y="1874519"/>
            <a:ext cx="2569464" cy="82296"/>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36792" y="205740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58A24"/>
                </a:solidFill>
                <a:latin typeface="微软雅黑"/>
              </a:rPr>
              <a:t>3</a:t>
            </a:r>
          </a:p>
        </p:txBody>
      </p:sp>
      <p:sp>
        <p:nvSpPr>
          <p:cNvPr id="24" name="TextBox 23"/>
          <p:cNvSpPr txBox="1"/>
          <p:nvPr/>
        </p:nvSpPr>
        <p:spPr>
          <a:xfrm>
            <a:off x="6729984" y="203911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C58A24"/>
                </a:solidFill>
                <a:latin typeface="微软雅黑"/>
              </a:rPr>
              <a:t>操作</a:t>
            </a:r>
          </a:p>
        </p:txBody>
      </p:sp>
      <p:sp>
        <p:nvSpPr>
          <p:cNvPr id="25" name="TextBox 24"/>
          <p:cNvSpPr txBox="1"/>
          <p:nvPr/>
        </p:nvSpPr>
        <p:spPr>
          <a:xfrm>
            <a:off x="6373368" y="247802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才能进一步抓取或交互</a:t>
            </a:r>
          </a:p>
        </p:txBody>
      </p:sp>
      <p:sp>
        <p:nvSpPr>
          <p:cNvPr id="26" name="Rectangle 25"/>
          <p:cNvSpPr/>
          <p:nvPr/>
        </p:nvSpPr>
        <p:spPr>
          <a:xfrm>
            <a:off x="8833104" y="2459736"/>
            <a:ext cx="128016" cy="256032"/>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8997696" y="1874519"/>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997696" y="1874519"/>
            <a:ext cx="2569464" cy="82296"/>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07424" y="205740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63F45"/>
                </a:solidFill>
                <a:latin typeface="微软雅黑"/>
              </a:rPr>
              <a:t>4</a:t>
            </a:r>
          </a:p>
        </p:txBody>
      </p:sp>
      <p:sp>
        <p:nvSpPr>
          <p:cNvPr id="30" name="TextBox 29"/>
          <p:cNvSpPr txBox="1"/>
          <p:nvPr/>
        </p:nvSpPr>
        <p:spPr>
          <a:xfrm>
            <a:off x="9500616" y="203911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C63F45"/>
                </a:solidFill>
                <a:latin typeface="微软雅黑"/>
              </a:rPr>
              <a:t>完成任务</a:t>
            </a:r>
          </a:p>
        </p:txBody>
      </p:sp>
      <p:sp>
        <p:nvSpPr>
          <p:cNvPr id="31" name="TextBox 30"/>
          <p:cNvSpPr txBox="1"/>
          <p:nvPr/>
        </p:nvSpPr>
        <p:spPr>
          <a:xfrm>
            <a:off x="9144000" y="247802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形成高层任务闭环</a:t>
            </a:r>
          </a:p>
        </p:txBody>
      </p:sp>
      <p:sp>
        <p:nvSpPr>
          <p:cNvPr id="32" name="TextBox 31"/>
          <p:cNvSpPr txBox="1"/>
          <p:nvPr/>
        </p:nvSpPr>
        <p:spPr>
          <a:xfrm>
            <a:off x="804672" y="3931920"/>
            <a:ext cx="10515600" cy="502920"/>
          </a:xfrm>
          <a:prstGeom prst="rect">
            <a:avLst/>
          </a:prstGeom>
          <a:noFill/>
        </p:spPr>
        <p:txBody>
          <a:bodyPr wrap="square" lIns="18288" tIns="18288" rIns="18288" bIns="18288" anchor="t">
            <a:spAutoFit/>
          </a:bodyPr>
          <a:lstStyle/>
          <a:p>
            <a:pPr algn="ctr">
              <a:lnSpc>
                <a:spcPct val="105000"/>
              </a:lnSpc>
            </a:pPr>
            <a:r>
              <a:rPr sz="2400" b="1" i="0">
                <a:solidFill>
                  <a:srgbClr val="24477D"/>
                </a:solidFill>
                <a:latin typeface="微软雅黑"/>
              </a:rPr>
              <a:t>具身导航是物体抓取、人机协作、环境探索等更高层任务的前提。</a:t>
            </a:r>
          </a:p>
        </p:txBody>
      </p:sp>
      <p:sp>
        <p:nvSpPr>
          <p:cNvPr id="33" name="Rounded Rectangle 32"/>
          <p:cNvSpPr/>
          <p:nvPr/>
        </p:nvSpPr>
        <p:spPr>
          <a:xfrm>
            <a:off x="640080" y="4617720"/>
            <a:ext cx="3182112" cy="123444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40080" y="4617720"/>
            <a:ext cx="77724" cy="123444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59536" y="480060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家用机器人</a:t>
            </a:r>
          </a:p>
        </p:txBody>
      </p:sp>
      <p:sp>
        <p:nvSpPr>
          <p:cNvPr id="36" name="TextBox 35"/>
          <p:cNvSpPr txBox="1"/>
          <p:nvPr/>
        </p:nvSpPr>
        <p:spPr>
          <a:xfrm>
            <a:off x="859536" y="5276088"/>
            <a:ext cx="2798064" cy="448056"/>
          </a:xfrm>
          <a:prstGeom prst="rect">
            <a:avLst/>
          </a:prstGeom>
          <a:noFill/>
        </p:spPr>
        <p:txBody>
          <a:bodyPr wrap="square" lIns="18288" tIns="18288" rIns="18288" bIns="18288" anchor="t">
            <a:spAutoFit/>
          </a:bodyPr>
          <a:lstStyle/>
          <a:p>
            <a:pPr algn="l">
              <a:lnSpc>
                <a:spcPct val="110000"/>
              </a:lnSpc>
            </a:pPr>
            <a:r>
              <a:rPr sz="1700" b="0" i="0">
                <a:solidFill>
                  <a:srgbClr val="222833"/>
                </a:solidFill>
                <a:latin typeface="微软雅黑"/>
              </a:rPr>
              <a:t>跨房间移动、目标搜索、语义交互。</a:t>
            </a:r>
          </a:p>
        </p:txBody>
      </p:sp>
      <p:sp>
        <p:nvSpPr>
          <p:cNvPr id="37" name="Rounded Rectangle 36"/>
          <p:cNvSpPr/>
          <p:nvPr/>
        </p:nvSpPr>
        <p:spPr>
          <a:xfrm>
            <a:off x="4096512" y="4617720"/>
            <a:ext cx="3182112" cy="123444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096512" y="4617720"/>
            <a:ext cx="77724" cy="123444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315968" y="480060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仓库物流</a:t>
            </a:r>
          </a:p>
        </p:txBody>
      </p:sp>
      <p:sp>
        <p:nvSpPr>
          <p:cNvPr id="40" name="TextBox 39"/>
          <p:cNvSpPr txBox="1"/>
          <p:nvPr/>
        </p:nvSpPr>
        <p:spPr>
          <a:xfrm>
            <a:off x="4315968" y="5276088"/>
            <a:ext cx="2798064" cy="448056"/>
          </a:xfrm>
          <a:prstGeom prst="rect">
            <a:avLst/>
          </a:prstGeom>
          <a:noFill/>
        </p:spPr>
        <p:txBody>
          <a:bodyPr wrap="square" lIns="18288" tIns="18288" rIns="18288" bIns="18288" anchor="t">
            <a:spAutoFit/>
          </a:bodyPr>
          <a:lstStyle/>
          <a:p>
            <a:pPr algn="l">
              <a:lnSpc>
                <a:spcPct val="110000"/>
              </a:lnSpc>
            </a:pPr>
            <a:r>
              <a:rPr sz="1700" b="0" i="0">
                <a:solidFill>
                  <a:srgbClr val="222833"/>
                </a:solidFill>
                <a:latin typeface="微软雅黑"/>
              </a:rPr>
              <a:t>在货架/通道环境中自主定位、规划与避障。</a:t>
            </a:r>
          </a:p>
        </p:txBody>
      </p:sp>
      <p:sp>
        <p:nvSpPr>
          <p:cNvPr id="41" name="Rounded Rectangle 40"/>
          <p:cNvSpPr/>
          <p:nvPr/>
        </p:nvSpPr>
        <p:spPr>
          <a:xfrm>
            <a:off x="7552944" y="4617720"/>
            <a:ext cx="3182112" cy="123444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7552944" y="4617720"/>
            <a:ext cx="77724" cy="123444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772400" y="480060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C58A24"/>
                </a:solidFill>
                <a:latin typeface="微软雅黑"/>
              </a:rPr>
              <a:t>灾区救援</a:t>
            </a:r>
          </a:p>
        </p:txBody>
      </p:sp>
      <p:sp>
        <p:nvSpPr>
          <p:cNvPr id="44" name="TextBox 43"/>
          <p:cNvSpPr txBox="1"/>
          <p:nvPr/>
        </p:nvSpPr>
        <p:spPr>
          <a:xfrm>
            <a:off x="7772400" y="5276088"/>
            <a:ext cx="2798064" cy="448056"/>
          </a:xfrm>
          <a:prstGeom prst="rect">
            <a:avLst/>
          </a:prstGeom>
          <a:noFill/>
        </p:spPr>
        <p:txBody>
          <a:bodyPr wrap="square" lIns="18288" tIns="18288" rIns="18288" bIns="18288" anchor="t">
            <a:spAutoFit/>
          </a:bodyPr>
          <a:lstStyle/>
          <a:p>
            <a:pPr algn="l">
              <a:lnSpc>
                <a:spcPct val="110000"/>
              </a:lnSpc>
            </a:pPr>
            <a:r>
              <a:rPr sz="1700" b="0" i="0">
                <a:solidFill>
                  <a:srgbClr val="222833"/>
                </a:solidFill>
                <a:latin typeface="微软雅黑"/>
              </a:rPr>
              <a:t>在未知、动态与不确定环境中持续探索。</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真实机器人本体目标导航任务</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10</a:t>
            </a:r>
          </a:p>
        </p:txBody>
      </p:sp>
      <p:sp>
        <p:nvSpPr>
          <p:cNvPr id="9" name="TextBox 8"/>
          <p:cNvSpPr txBox="1"/>
          <p:nvPr/>
        </p:nvSpPr>
        <p:spPr>
          <a:xfrm>
            <a:off x="685800" y="1783080"/>
            <a:ext cx="5715000" cy="2808846"/>
          </a:xfrm>
          <a:prstGeom prst="rect">
            <a:avLst/>
          </a:prstGeom>
          <a:noFill/>
        </p:spPr>
        <p:txBody>
          <a:bodyPr wrap="square" lIns="18288" tIns="18288" rIns="18288" bIns="18288">
            <a:spAutoFit/>
          </a:bodyPr>
          <a:lstStyle/>
          <a:p>
            <a:pPr>
              <a:lnSpc>
                <a:spcPct val="115000"/>
              </a:lnSpc>
              <a:spcAft>
                <a:spcPts val="1000"/>
              </a:spcAft>
              <a:defRPr sz="1800">
                <a:solidFill>
                  <a:srgbClr val="222833"/>
                </a:solidFill>
                <a:latin typeface="微软雅黑"/>
              </a:defRPr>
            </a:pPr>
            <a:r>
              <a:rPr sz="2400" dirty="0"/>
              <a:t>• Habitat、AI2-THOR </a:t>
            </a:r>
            <a:r>
              <a:rPr sz="2400" dirty="0" err="1"/>
              <a:t>等仿真平台推动了具身导航研究</a:t>
            </a:r>
            <a:endParaRPr sz="2400" dirty="0"/>
          </a:p>
          <a:p>
            <a:pPr>
              <a:lnSpc>
                <a:spcPct val="115000"/>
              </a:lnSpc>
              <a:spcAft>
                <a:spcPts val="1000"/>
              </a:spcAft>
              <a:defRPr sz="1800">
                <a:solidFill>
                  <a:srgbClr val="222833"/>
                </a:solidFill>
                <a:latin typeface="微软雅黑"/>
              </a:defRPr>
            </a:pPr>
            <a:r>
              <a:rPr sz="2400" dirty="0"/>
              <a:t>• </a:t>
            </a:r>
            <a:r>
              <a:rPr sz="2400" dirty="0" err="1"/>
              <a:t>导航性能会直接影响真实机器人在家庭、物流、救援等场景中的落地效果</a:t>
            </a:r>
            <a:endParaRPr sz="2400" dirty="0"/>
          </a:p>
          <a:p>
            <a:pPr>
              <a:lnSpc>
                <a:spcPct val="115000"/>
              </a:lnSpc>
              <a:spcAft>
                <a:spcPts val="1000"/>
              </a:spcAft>
              <a:defRPr sz="1800">
                <a:solidFill>
                  <a:srgbClr val="222833"/>
                </a:solidFill>
                <a:latin typeface="微软雅黑"/>
              </a:defRPr>
            </a:pPr>
            <a:r>
              <a:rPr sz="2400" dirty="0"/>
              <a:t>• </a:t>
            </a:r>
            <a:r>
              <a:rPr sz="2400" dirty="0" err="1"/>
              <a:t>任务形式可以是点目标、物体目标，也可以进一步扩展到自然语言目标</a:t>
            </a:r>
            <a:endParaRPr sz="2400" dirty="0"/>
          </a:p>
        </p:txBody>
      </p:sp>
      <p:sp>
        <p:nvSpPr>
          <p:cNvPr id="11" name="TextBox 10"/>
          <p:cNvSpPr txBox="1"/>
          <p:nvPr/>
        </p:nvSpPr>
        <p:spPr>
          <a:xfrm>
            <a:off x="6815928" y="4950450"/>
            <a:ext cx="4983480" cy="234103"/>
          </a:xfrm>
          <a:prstGeom prst="rect">
            <a:avLst/>
          </a:prstGeom>
          <a:noFill/>
        </p:spPr>
        <p:txBody>
          <a:bodyPr wrap="square" lIns="18288" tIns="18288" rIns="18288" bIns="18288" anchor="t">
            <a:spAutoFit/>
          </a:bodyPr>
          <a:lstStyle/>
          <a:p>
            <a:pPr algn="ctr">
              <a:lnSpc>
                <a:spcPct val="105000"/>
              </a:lnSpc>
            </a:pPr>
            <a:r>
              <a:rPr sz="1300" b="1" i="0" dirty="0" err="1">
                <a:solidFill>
                  <a:srgbClr val="24477D"/>
                </a:solidFill>
                <a:latin typeface="微软雅黑"/>
              </a:rPr>
              <a:t>真实机器人本体目标导航任务</a:t>
            </a:r>
            <a:endParaRPr sz="1300" b="1" i="0" dirty="0">
              <a:solidFill>
                <a:srgbClr val="24477D"/>
              </a:solidFill>
              <a:latin typeface="微软雅黑"/>
            </a:endParaRPr>
          </a:p>
        </p:txBody>
      </p:sp>
      <p:pic>
        <p:nvPicPr>
          <p:cNvPr id="12" name="图片 11">
            <a:extLst>
              <a:ext uri="{FF2B5EF4-FFF2-40B4-BE49-F238E27FC236}">
                <a16:creationId xmlns:a16="http://schemas.microsoft.com/office/drawing/2014/main" id="{7DD2FBF6-8E15-DF43-1E7B-8CECD31E8AB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070"/>
          <a:stretch>
            <a:fillRect/>
          </a:stretch>
        </p:blipFill>
        <p:spPr bwMode="auto">
          <a:xfrm>
            <a:off x="6814891" y="1783079"/>
            <a:ext cx="4984517" cy="2835573"/>
          </a:xfrm>
          <a:prstGeom prst="rect">
            <a:avLst/>
          </a:prstGeom>
          <a:noFill/>
          <a:ln>
            <a:noFill/>
          </a:ln>
          <a:extLst>
            <a:ext uri="{53640926-AAD7-44D8-BBD7-CCE9431645EC}">
              <a14:shadowObscured xmlns:a14="http://schemas.microsoft.com/office/drawing/2010/main"/>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6.1.2 问题的形式化：从观测到动作</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11</a:t>
            </a:r>
          </a:p>
        </p:txBody>
      </p:sp>
      <p:sp>
        <p:nvSpPr>
          <p:cNvPr id="9" name="Rounded Rectangle 8"/>
          <p:cNvSpPr/>
          <p:nvPr/>
        </p:nvSpPr>
        <p:spPr>
          <a:xfrm>
            <a:off x="685800" y="196596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1965960"/>
            <a:ext cx="2569464" cy="82296"/>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5528"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31599B"/>
                </a:solidFill>
                <a:latin typeface="微软雅黑"/>
              </a:rPr>
              <a:t>1</a:t>
            </a:r>
          </a:p>
        </p:txBody>
      </p:sp>
      <p:sp>
        <p:nvSpPr>
          <p:cNvPr id="12" name="TextBox 11"/>
          <p:cNvSpPr txBox="1"/>
          <p:nvPr/>
        </p:nvSpPr>
        <p:spPr>
          <a:xfrm>
            <a:off x="1188720" y="213055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31599B"/>
                </a:solidFill>
                <a:latin typeface="微软雅黑"/>
              </a:rPr>
              <a:t>观测 oₜ</a:t>
            </a:r>
          </a:p>
        </p:txBody>
      </p:sp>
      <p:sp>
        <p:nvSpPr>
          <p:cNvPr id="13" name="TextBox 12"/>
          <p:cNvSpPr txBox="1"/>
          <p:nvPr/>
        </p:nvSpPr>
        <p:spPr>
          <a:xfrm>
            <a:off x="832104" y="256946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图像、深度等自我中心观测</a:t>
            </a:r>
          </a:p>
        </p:txBody>
      </p:sp>
      <p:sp>
        <p:nvSpPr>
          <p:cNvPr id="14" name="Rectangle 13"/>
          <p:cNvSpPr/>
          <p:nvPr/>
        </p:nvSpPr>
        <p:spPr>
          <a:xfrm>
            <a:off x="3291840" y="2551176"/>
            <a:ext cx="128016" cy="256032"/>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456432" y="196596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456432" y="1965960"/>
            <a:ext cx="2569464" cy="82296"/>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566160"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2F8E72"/>
                </a:solidFill>
                <a:latin typeface="微软雅黑"/>
              </a:rPr>
              <a:t>2</a:t>
            </a:r>
          </a:p>
        </p:txBody>
      </p:sp>
      <p:sp>
        <p:nvSpPr>
          <p:cNvPr id="18" name="TextBox 17"/>
          <p:cNvSpPr txBox="1"/>
          <p:nvPr/>
        </p:nvSpPr>
        <p:spPr>
          <a:xfrm>
            <a:off x="3959352" y="213055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2F8E72"/>
                </a:solidFill>
                <a:latin typeface="微软雅黑"/>
              </a:rPr>
              <a:t>策略 π</a:t>
            </a:r>
          </a:p>
        </p:txBody>
      </p:sp>
      <p:sp>
        <p:nvSpPr>
          <p:cNvPr id="19" name="TextBox 18"/>
          <p:cNvSpPr txBox="1"/>
          <p:nvPr/>
        </p:nvSpPr>
        <p:spPr>
          <a:xfrm>
            <a:off x="3602736" y="256946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根据历史与当前观测选择动作</a:t>
            </a:r>
          </a:p>
        </p:txBody>
      </p:sp>
      <p:sp>
        <p:nvSpPr>
          <p:cNvPr id="20" name="Rectangle 19"/>
          <p:cNvSpPr/>
          <p:nvPr/>
        </p:nvSpPr>
        <p:spPr>
          <a:xfrm>
            <a:off x="6062472" y="2551176"/>
            <a:ext cx="128016" cy="256032"/>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227064" y="196596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27064" y="1965960"/>
            <a:ext cx="2569464" cy="82296"/>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36792"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58A24"/>
                </a:solidFill>
                <a:latin typeface="微软雅黑"/>
              </a:rPr>
              <a:t>3</a:t>
            </a:r>
          </a:p>
        </p:txBody>
      </p:sp>
      <p:sp>
        <p:nvSpPr>
          <p:cNvPr id="24" name="TextBox 23"/>
          <p:cNvSpPr txBox="1"/>
          <p:nvPr/>
        </p:nvSpPr>
        <p:spPr>
          <a:xfrm>
            <a:off x="6729984" y="213055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C58A24"/>
                </a:solidFill>
                <a:latin typeface="微软雅黑"/>
              </a:rPr>
              <a:t>动作 aₜ</a:t>
            </a:r>
          </a:p>
        </p:txBody>
      </p:sp>
      <p:sp>
        <p:nvSpPr>
          <p:cNvPr id="25" name="TextBox 24"/>
          <p:cNvSpPr txBox="1"/>
          <p:nvPr/>
        </p:nvSpPr>
        <p:spPr>
          <a:xfrm>
            <a:off x="6373368" y="256946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例如前进 0.5 m、左转 30°</a:t>
            </a:r>
          </a:p>
        </p:txBody>
      </p:sp>
      <p:sp>
        <p:nvSpPr>
          <p:cNvPr id="26" name="Rectangle 25"/>
          <p:cNvSpPr/>
          <p:nvPr/>
        </p:nvSpPr>
        <p:spPr>
          <a:xfrm>
            <a:off x="8833104" y="2551176"/>
            <a:ext cx="128016" cy="256032"/>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8997696" y="196596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997696" y="1965960"/>
            <a:ext cx="2569464" cy="82296"/>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07424"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63F45"/>
                </a:solidFill>
                <a:latin typeface="微软雅黑"/>
              </a:rPr>
              <a:t>4</a:t>
            </a:r>
          </a:p>
        </p:txBody>
      </p:sp>
      <p:sp>
        <p:nvSpPr>
          <p:cNvPr id="30" name="TextBox 29"/>
          <p:cNvSpPr txBox="1"/>
          <p:nvPr/>
        </p:nvSpPr>
        <p:spPr>
          <a:xfrm>
            <a:off x="9500616" y="213055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C63F45"/>
                </a:solidFill>
                <a:latin typeface="微软雅黑"/>
              </a:rPr>
              <a:t>环境转移</a:t>
            </a:r>
          </a:p>
        </p:txBody>
      </p:sp>
      <p:sp>
        <p:nvSpPr>
          <p:cNvPr id="31" name="TextBox 30"/>
          <p:cNvSpPr txBox="1"/>
          <p:nvPr/>
        </p:nvSpPr>
        <p:spPr>
          <a:xfrm>
            <a:off x="9144000" y="256946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获得新观测 oₜ₊₁ 与奖励</a:t>
            </a:r>
          </a:p>
        </p:txBody>
      </p:sp>
      <p:sp>
        <p:nvSpPr>
          <p:cNvPr id="32" name="TextBox 31"/>
          <p:cNvSpPr txBox="1"/>
          <p:nvPr/>
        </p:nvSpPr>
        <p:spPr>
          <a:xfrm>
            <a:off x="749808" y="4160520"/>
            <a:ext cx="10698480" cy="530352"/>
          </a:xfrm>
          <a:prstGeom prst="rect">
            <a:avLst/>
          </a:prstGeom>
          <a:noFill/>
        </p:spPr>
        <p:txBody>
          <a:bodyPr wrap="square" lIns="18288" tIns="18288" rIns="18288" bIns="18288" anchor="t">
            <a:spAutoFit/>
          </a:bodyPr>
          <a:lstStyle/>
          <a:p>
            <a:pPr algn="ctr">
              <a:lnSpc>
                <a:spcPct val="105000"/>
              </a:lnSpc>
            </a:pPr>
            <a:r>
              <a:rPr sz="2200" b="1" i="0">
                <a:solidFill>
                  <a:srgbClr val="24477D"/>
                </a:solidFill>
                <a:latin typeface="微软雅黑"/>
              </a:rPr>
              <a:t>具身导航可以视为 MDP 的扩展，实际更常建模为部分可观测 MDP（POMDP）。</a:t>
            </a:r>
          </a:p>
        </p:txBody>
      </p:sp>
      <p:sp>
        <p:nvSpPr>
          <p:cNvPr id="33" name="Rounded Rectangle 32"/>
          <p:cNvSpPr/>
          <p:nvPr/>
        </p:nvSpPr>
        <p:spPr>
          <a:xfrm>
            <a:off x="1920240" y="4892040"/>
            <a:ext cx="8366760" cy="1224176"/>
          </a:xfrm>
          <a:prstGeom prst="roundRect">
            <a:avLst/>
          </a:prstGeom>
          <a:solidFill>
            <a:srgbClr val="FCEDEE"/>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1920240" y="4892040"/>
            <a:ext cx="77724" cy="1152144"/>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139696" y="5074920"/>
            <a:ext cx="7955280" cy="384048"/>
          </a:xfrm>
          <a:prstGeom prst="rect">
            <a:avLst/>
          </a:prstGeom>
          <a:noFill/>
        </p:spPr>
        <p:txBody>
          <a:bodyPr wrap="square" lIns="18288" tIns="18288" rIns="18288" bIns="18288" anchor="t">
            <a:spAutoFit/>
          </a:bodyPr>
          <a:lstStyle/>
          <a:p>
            <a:pPr algn="l">
              <a:lnSpc>
                <a:spcPct val="105000"/>
              </a:lnSpc>
            </a:pPr>
            <a:r>
              <a:rPr sz="1900" b="1" i="0">
                <a:solidFill>
                  <a:srgbClr val="C63F45"/>
                </a:solidFill>
                <a:latin typeface="微软雅黑"/>
              </a:rPr>
              <a:t>优化目标</a:t>
            </a:r>
          </a:p>
        </p:txBody>
      </p:sp>
      <p:sp>
        <p:nvSpPr>
          <p:cNvPr id="36" name="TextBox 35"/>
          <p:cNvSpPr txBox="1"/>
          <p:nvPr/>
        </p:nvSpPr>
        <p:spPr>
          <a:xfrm>
            <a:off x="2139696" y="5550407"/>
            <a:ext cx="7982712" cy="128016"/>
          </a:xfrm>
          <a:prstGeom prst="rect">
            <a:avLst/>
          </a:prstGeom>
          <a:noFill/>
        </p:spPr>
        <p:txBody>
          <a:bodyPr wrap="square" lIns="18288" tIns="18288" rIns="18288" bIns="18288" anchor="t">
            <a:spAutoFit/>
          </a:bodyPr>
          <a:lstStyle/>
          <a:p>
            <a:pPr algn="l">
              <a:lnSpc>
                <a:spcPct val="110000"/>
              </a:lnSpc>
            </a:pPr>
            <a:r>
              <a:rPr sz="1800" b="0" i="0" dirty="0" err="1">
                <a:solidFill>
                  <a:srgbClr val="222833"/>
                </a:solidFill>
                <a:latin typeface="微软雅黑"/>
              </a:rPr>
              <a:t>最大化累积折扣回报，同时兼顾导航成功率与路径效率</a:t>
            </a:r>
            <a:r>
              <a:rPr sz="1800" b="0" i="0" dirty="0">
                <a:solidFill>
                  <a:srgbClr val="222833"/>
                </a:solidFill>
                <a:latin typeface="微软雅黑"/>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导航评价指标：Success Rate 与 SPL</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12</a:t>
            </a:r>
          </a:p>
        </p:txBody>
      </p:sp>
      <p:sp>
        <p:nvSpPr>
          <p:cNvPr id="9" name="Rounded Rectangle 8"/>
          <p:cNvSpPr/>
          <p:nvPr/>
        </p:nvSpPr>
        <p:spPr>
          <a:xfrm>
            <a:off x="685800" y="1874519"/>
            <a:ext cx="5230368" cy="246888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1874519"/>
            <a:ext cx="77724" cy="246888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5256" y="205740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成功率（Success Rate）</a:t>
            </a:r>
          </a:p>
        </p:txBody>
      </p:sp>
      <p:sp>
        <p:nvSpPr>
          <p:cNvPr id="12" name="TextBox 11"/>
          <p:cNvSpPr txBox="1"/>
          <p:nvPr/>
        </p:nvSpPr>
        <p:spPr>
          <a:xfrm>
            <a:off x="905256" y="2532887"/>
            <a:ext cx="4846320" cy="1682496"/>
          </a:xfrm>
          <a:prstGeom prst="rect">
            <a:avLst/>
          </a:prstGeom>
          <a:noFill/>
        </p:spPr>
        <p:txBody>
          <a:bodyPr wrap="square" lIns="18288" tIns="18288" rIns="18288" bIns="18288" anchor="t">
            <a:spAutoFit/>
          </a:bodyPr>
          <a:lstStyle/>
          <a:p>
            <a:pPr algn="l">
              <a:lnSpc>
                <a:spcPct val="110000"/>
              </a:lnSpc>
            </a:pPr>
            <a:r>
              <a:rPr sz="2000" b="0" i="0">
                <a:solidFill>
                  <a:srgbClr val="222833"/>
                </a:solidFill>
                <a:latin typeface="微软雅黑"/>
              </a:rPr>
              <a:t>判断任务是否成功到达目标区域，强调“能不能到”。</a:t>
            </a:r>
          </a:p>
        </p:txBody>
      </p:sp>
      <p:sp>
        <p:nvSpPr>
          <p:cNvPr id="13" name="Rounded Rectangle 12"/>
          <p:cNvSpPr/>
          <p:nvPr/>
        </p:nvSpPr>
        <p:spPr>
          <a:xfrm>
            <a:off x="6199632" y="1874519"/>
            <a:ext cx="5230368" cy="246888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99632" y="1874519"/>
            <a:ext cx="77724" cy="246888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19088" y="205740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SPL</a:t>
            </a:r>
          </a:p>
        </p:txBody>
      </p:sp>
      <p:sp>
        <p:nvSpPr>
          <p:cNvPr id="16" name="TextBox 15"/>
          <p:cNvSpPr txBox="1"/>
          <p:nvPr/>
        </p:nvSpPr>
        <p:spPr>
          <a:xfrm>
            <a:off x="6419088" y="2532887"/>
            <a:ext cx="4846320" cy="1682496"/>
          </a:xfrm>
          <a:prstGeom prst="rect">
            <a:avLst/>
          </a:prstGeom>
          <a:noFill/>
        </p:spPr>
        <p:txBody>
          <a:bodyPr wrap="square" lIns="18288" tIns="18288" rIns="18288" bIns="18288" anchor="t">
            <a:spAutoFit/>
          </a:bodyPr>
          <a:lstStyle/>
          <a:p>
            <a:pPr algn="l">
              <a:lnSpc>
                <a:spcPct val="110000"/>
              </a:lnSpc>
            </a:pPr>
            <a:r>
              <a:rPr sz="2000" b="0" i="0">
                <a:solidFill>
                  <a:srgbClr val="222833"/>
                </a:solidFill>
                <a:latin typeface="微软雅黑"/>
              </a:rPr>
              <a:t>Success weighted by Path Length。综合成功与路径效率，强调“到得是否高效”。</a:t>
            </a:r>
          </a:p>
        </p:txBody>
      </p:sp>
      <p:sp>
        <p:nvSpPr>
          <p:cNvPr id="17" name="TextBox 16"/>
          <p:cNvSpPr txBox="1"/>
          <p:nvPr/>
        </p:nvSpPr>
        <p:spPr>
          <a:xfrm>
            <a:off x="960120" y="4800600"/>
            <a:ext cx="10287000" cy="777240"/>
          </a:xfrm>
          <a:prstGeom prst="rect">
            <a:avLst/>
          </a:prstGeom>
          <a:noFill/>
        </p:spPr>
        <p:txBody>
          <a:bodyPr wrap="square" lIns="18288" tIns="18288" rIns="18288" bIns="18288" anchor="t">
            <a:spAutoFit/>
          </a:bodyPr>
          <a:lstStyle/>
          <a:p>
            <a:pPr algn="ctr">
              <a:lnSpc>
                <a:spcPct val="105000"/>
              </a:lnSpc>
            </a:pPr>
            <a:r>
              <a:rPr sz="2100" b="0" i="0">
                <a:solidFill>
                  <a:srgbClr val="222833"/>
                </a:solidFill>
                <a:latin typeface="微软雅黑"/>
              </a:rPr>
              <a:t>仅看成功率可能忽略绕路；SPL 通过最短路径长度与实际路径长度的比值惩罚低效导航。</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SPL：路径长度加权成功率</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13</a:t>
            </a:r>
          </a:p>
        </p:txBody>
      </p:sp>
      <p:sp>
        <p:nvSpPr>
          <p:cNvPr id="9" name="Rounded Rectangle 8"/>
          <p:cNvSpPr/>
          <p:nvPr/>
        </p:nvSpPr>
        <p:spPr>
          <a:xfrm>
            <a:off x="822960" y="1613917"/>
            <a:ext cx="10561320" cy="1647131"/>
          </a:xfrm>
          <a:prstGeom prst="roundRect">
            <a:avLst/>
          </a:prstGeom>
          <a:solidFill>
            <a:schemeClr val="bg1"/>
          </a:solidFill>
          <a:ln w="1016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40080" y="3703320"/>
            <a:ext cx="3182112" cy="18288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 y="3703320"/>
            <a:ext cx="77724" cy="18288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9536" y="388620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Sᵢ</a:t>
            </a:r>
          </a:p>
        </p:txBody>
      </p:sp>
      <p:sp>
        <p:nvSpPr>
          <p:cNvPr id="15" name="TextBox 14"/>
          <p:cNvSpPr txBox="1"/>
          <p:nvPr/>
        </p:nvSpPr>
        <p:spPr>
          <a:xfrm>
            <a:off x="859536" y="4361688"/>
            <a:ext cx="2798064" cy="104241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第 i 个回合的成功标志。</a:t>
            </a:r>
          </a:p>
        </p:txBody>
      </p:sp>
      <p:sp>
        <p:nvSpPr>
          <p:cNvPr id="16" name="Rounded Rectangle 15"/>
          <p:cNvSpPr/>
          <p:nvPr/>
        </p:nvSpPr>
        <p:spPr>
          <a:xfrm>
            <a:off x="4096512" y="3703320"/>
            <a:ext cx="3182112" cy="18288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096512" y="3703320"/>
            <a:ext cx="77724" cy="182880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15968" y="388620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lᵢ</a:t>
            </a:r>
          </a:p>
        </p:txBody>
      </p:sp>
      <p:sp>
        <p:nvSpPr>
          <p:cNvPr id="19" name="TextBox 18"/>
          <p:cNvSpPr txBox="1"/>
          <p:nvPr/>
        </p:nvSpPr>
        <p:spPr>
          <a:xfrm>
            <a:off x="4315968" y="4361688"/>
            <a:ext cx="2798064" cy="320409"/>
          </a:xfrm>
          <a:prstGeom prst="rect">
            <a:avLst/>
          </a:prstGeom>
          <a:noFill/>
        </p:spPr>
        <p:txBody>
          <a:bodyPr wrap="square" lIns="18288" tIns="18288" rIns="18288" bIns="18288" anchor="t">
            <a:spAutoFit/>
          </a:bodyPr>
          <a:lstStyle/>
          <a:p>
            <a:pPr algn="l">
              <a:lnSpc>
                <a:spcPct val="110000"/>
              </a:lnSpc>
            </a:pPr>
            <a:r>
              <a:rPr sz="1800" b="0" i="0" dirty="0" err="1">
                <a:solidFill>
                  <a:srgbClr val="222833"/>
                </a:solidFill>
                <a:latin typeface="微软雅黑"/>
              </a:rPr>
              <a:t>起点到目标的最短路径长度</a:t>
            </a:r>
            <a:endParaRPr sz="1800" b="0" i="0" dirty="0">
              <a:solidFill>
                <a:srgbClr val="222833"/>
              </a:solidFill>
              <a:latin typeface="微软雅黑"/>
            </a:endParaRPr>
          </a:p>
        </p:txBody>
      </p:sp>
      <p:sp>
        <p:nvSpPr>
          <p:cNvPr id="20" name="Rounded Rectangle 19"/>
          <p:cNvSpPr/>
          <p:nvPr/>
        </p:nvSpPr>
        <p:spPr>
          <a:xfrm>
            <a:off x="7552944" y="3703320"/>
            <a:ext cx="3182112" cy="18288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552944" y="3703320"/>
            <a:ext cx="77724" cy="182880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72400" y="388620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C58A24"/>
                </a:solidFill>
                <a:latin typeface="微软雅黑"/>
              </a:rPr>
              <a:t>pᵢ</a:t>
            </a:r>
          </a:p>
        </p:txBody>
      </p:sp>
      <p:sp>
        <p:nvSpPr>
          <p:cNvPr id="23" name="TextBox 22"/>
          <p:cNvSpPr txBox="1"/>
          <p:nvPr/>
        </p:nvSpPr>
        <p:spPr>
          <a:xfrm>
            <a:off x="7772400" y="4361688"/>
            <a:ext cx="2798064" cy="104241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智能体实际行走的路径长度。</a:t>
            </a:r>
          </a:p>
        </p:txBody>
      </p:sp>
      <p:pic>
        <p:nvPicPr>
          <p:cNvPr id="25" name="图片 24">
            <a:extLst>
              <a:ext uri="{FF2B5EF4-FFF2-40B4-BE49-F238E27FC236}">
                <a16:creationId xmlns:a16="http://schemas.microsoft.com/office/drawing/2014/main" id="{E854806D-9594-A89D-9E04-148456648DE6}"/>
              </a:ext>
            </a:extLst>
          </p:cNvPr>
          <p:cNvPicPr>
            <a:picLocks noChangeAspect="1"/>
          </p:cNvPicPr>
          <p:nvPr/>
        </p:nvPicPr>
        <p:blipFill>
          <a:blip r:embed="rId2"/>
          <a:stretch>
            <a:fillRect/>
          </a:stretch>
        </p:blipFill>
        <p:spPr>
          <a:xfrm>
            <a:off x="2973282" y="1741934"/>
            <a:ext cx="5428571" cy="123809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78638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86384" y="0"/>
            <a:ext cx="73152"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921240" y="347472"/>
            <a:ext cx="160020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具身智能导论 · 第 6 章</a:t>
            </a:r>
          </a:p>
        </p:txBody>
      </p:sp>
      <p:sp>
        <p:nvSpPr>
          <p:cNvPr id="5" name="TextBox 4"/>
          <p:cNvSpPr txBox="1"/>
          <p:nvPr/>
        </p:nvSpPr>
        <p:spPr>
          <a:xfrm>
            <a:off x="1938528" y="2011680"/>
            <a:ext cx="1627632" cy="914400"/>
          </a:xfrm>
          <a:prstGeom prst="rect">
            <a:avLst/>
          </a:prstGeom>
          <a:noFill/>
        </p:spPr>
        <p:txBody>
          <a:bodyPr wrap="square" lIns="18288" tIns="18288" rIns="18288" bIns="18288" anchor="ctr">
            <a:spAutoFit/>
          </a:bodyPr>
          <a:lstStyle/>
          <a:p>
            <a:pPr algn="ctr">
              <a:lnSpc>
                <a:spcPct val="105000"/>
              </a:lnSpc>
            </a:pPr>
            <a:r>
              <a:rPr sz="7200" b="1" i="0">
                <a:solidFill>
                  <a:srgbClr val="31599B"/>
                </a:solidFill>
                <a:latin typeface="微软雅黑"/>
              </a:rPr>
              <a:t>02</a:t>
            </a:r>
          </a:p>
        </p:txBody>
      </p:sp>
      <p:sp>
        <p:nvSpPr>
          <p:cNvPr id="6" name="TextBox 5"/>
          <p:cNvSpPr txBox="1"/>
          <p:nvPr/>
        </p:nvSpPr>
        <p:spPr>
          <a:xfrm>
            <a:off x="3703320" y="2249424"/>
            <a:ext cx="6812280" cy="685800"/>
          </a:xfrm>
          <a:prstGeom prst="rect">
            <a:avLst/>
          </a:prstGeom>
          <a:noFill/>
        </p:spPr>
        <p:txBody>
          <a:bodyPr wrap="square" lIns="18288" tIns="18288" rIns="18288" bIns="18288" anchor="ctr">
            <a:spAutoFit/>
          </a:bodyPr>
          <a:lstStyle/>
          <a:p>
            <a:pPr algn="l">
              <a:lnSpc>
                <a:spcPct val="105000"/>
              </a:lnSpc>
            </a:pPr>
            <a:r>
              <a:rPr sz="3900" b="1" i="0">
                <a:solidFill>
                  <a:srgbClr val="24477D"/>
                </a:solidFill>
                <a:latin typeface="微软雅黑"/>
              </a:rPr>
              <a:t>环境地图表示</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6.2 环境地图表示：把原始观测变成可决策的环境模型</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15</a:t>
            </a:r>
          </a:p>
        </p:txBody>
      </p:sp>
      <p:sp>
        <p:nvSpPr>
          <p:cNvPr id="9" name="Rounded Rectangle 8"/>
          <p:cNvSpPr/>
          <p:nvPr/>
        </p:nvSpPr>
        <p:spPr>
          <a:xfrm>
            <a:off x="685800" y="2057400"/>
            <a:ext cx="3493008"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2057400"/>
            <a:ext cx="3493008" cy="82296"/>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5528" y="224028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31599B"/>
                </a:solidFill>
                <a:latin typeface="微软雅黑"/>
              </a:rPr>
              <a:t>1</a:t>
            </a:r>
          </a:p>
        </p:txBody>
      </p:sp>
      <p:sp>
        <p:nvSpPr>
          <p:cNvPr id="12" name="TextBox 11"/>
          <p:cNvSpPr txBox="1"/>
          <p:nvPr/>
        </p:nvSpPr>
        <p:spPr>
          <a:xfrm>
            <a:off x="1188720" y="2221992"/>
            <a:ext cx="2871216" cy="329184"/>
          </a:xfrm>
          <a:prstGeom prst="rect">
            <a:avLst/>
          </a:prstGeom>
          <a:noFill/>
        </p:spPr>
        <p:txBody>
          <a:bodyPr wrap="square" lIns="18288" tIns="18288" rIns="18288" bIns="18288" anchor="t">
            <a:spAutoFit/>
          </a:bodyPr>
          <a:lstStyle/>
          <a:p>
            <a:pPr algn="l">
              <a:lnSpc>
                <a:spcPct val="105000"/>
              </a:lnSpc>
            </a:pPr>
            <a:r>
              <a:rPr sz="1900" b="1" i="0">
                <a:solidFill>
                  <a:srgbClr val="31599B"/>
                </a:solidFill>
                <a:latin typeface="微软雅黑"/>
              </a:rPr>
              <a:t>传感器观测</a:t>
            </a:r>
          </a:p>
        </p:txBody>
      </p:sp>
      <p:sp>
        <p:nvSpPr>
          <p:cNvPr id="13" name="TextBox 12"/>
          <p:cNvSpPr txBox="1"/>
          <p:nvPr/>
        </p:nvSpPr>
        <p:spPr>
          <a:xfrm>
            <a:off x="832104" y="2660904"/>
            <a:ext cx="3200400"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RGB-D、LiDAR、点云等原始数据</a:t>
            </a:r>
          </a:p>
        </p:txBody>
      </p:sp>
      <p:sp>
        <p:nvSpPr>
          <p:cNvPr id="14" name="Rectangle 13"/>
          <p:cNvSpPr/>
          <p:nvPr/>
        </p:nvSpPr>
        <p:spPr>
          <a:xfrm>
            <a:off x="4215384" y="2642616"/>
            <a:ext cx="128016" cy="256032"/>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379976" y="2057400"/>
            <a:ext cx="3493008"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379976" y="2057400"/>
            <a:ext cx="3493008" cy="82296"/>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89704" y="224028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2F8E72"/>
                </a:solidFill>
                <a:latin typeface="微软雅黑"/>
              </a:rPr>
              <a:t>2</a:t>
            </a:r>
          </a:p>
        </p:txBody>
      </p:sp>
      <p:sp>
        <p:nvSpPr>
          <p:cNvPr id="18" name="TextBox 17"/>
          <p:cNvSpPr txBox="1"/>
          <p:nvPr/>
        </p:nvSpPr>
        <p:spPr>
          <a:xfrm>
            <a:off x="4882896" y="2221992"/>
            <a:ext cx="2871216" cy="329184"/>
          </a:xfrm>
          <a:prstGeom prst="rect">
            <a:avLst/>
          </a:prstGeom>
          <a:noFill/>
        </p:spPr>
        <p:txBody>
          <a:bodyPr wrap="square" lIns="18288" tIns="18288" rIns="18288" bIns="18288" anchor="t">
            <a:spAutoFit/>
          </a:bodyPr>
          <a:lstStyle/>
          <a:p>
            <a:pPr algn="l">
              <a:lnSpc>
                <a:spcPct val="105000"/>
              </a:lnSpc>
            </a:pPr>
            <a:r>
              <a:rPr sz="1900" b="1" i="0">
                <a:solidFill>
                  <a:srgbClr val="2F8E72"/>
                </a:solidFill>
                <a:latin typeface="微软雅黑"/>
              </a:rPr>
              <a:t>结构化表示</a:t>
            </a:r>
          </a:p>
        </p:txBody>
      </p:sp>
      <p:sp>
        <p:nvSpPr>
          <p:cNvPr id="19" name="TextBox 18"/>
          <p:cNvSpPr txBox="1"/>
          <p:nvPr/>
        </p:nvSpPr>
        <p:spPr>
          <a:xfrm>
            <a:off x="4526280" y="2660904"/>
            <a:ext cx="3200400"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把观测组织为地图或图结构</a:t>
            </a:r>
          </a:p>
        </p:txBody>
      </p:sp>
      <p:sp>
        <p:nvSpPr>
          <p:cNvPr id="20" name="Rectangle 19"/>
          <p:cNvSpPr/>
          <p:nvPr/>
        </p:nvSpPr>
        <p:spPr>
          <a:xfrm>
            <a:off x="7909559" y="2642616"/>
            <a:ext cx="128016" cy="256032"/>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074152" y="2057400"/>
            <a:ext cx="3493008"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074152" y="2057400"/>
            <a:ext cx="3493008" cy="82296"/>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83879" y="224028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58A24"/>
                </a:solidFill>
                <a:latin typeface="微软雅黑"/>
              </a:rPr>
              <a:t>3</a:t>
            </a:r>
          </a:p>
        </p:txBody>
      </p:sp>
      <p:sp>
        <p:nvSpPr>
          <p:cNvPr id="24" name="TextBox 23"/>
          <p:cNvSpPr txBox="1"/>
          <p:nvPr/>
        </p:nvSpPr>
        <p:spPr>
          <a:xfrm>
            <a:off x="8577072" y="2221992"/>
            <a:ext cx="2871216" cy="329184"/>
          </a:xfrm>
          <a:prstGeom prst="rect">
            <a:avLst/>
          </a:prstGeom>
          <a:noFill/>
        </p:spPr>
        <p:txBody>
          <a:bodyPr wrap="square" lIns="18288" tIns="18288" rIns="18288" bIns="18288" anchor="t">
            <a:spAutoFit/>
          </a:bodyPr>
          <a:lstStyle/>
          <a:p>
            <a:pPr algn="l">
              <a:lnSpc>
                <a:spcPct val="105000"/>
              </a:lnSpc>
            </a:pPr>
            <a:r>
              <a:rPr sz="1900" b="1" i="0">
                <a:solidFill>
                  <a:srgbClr val="C58A24"/>
                </a:solidFill>
                <a:latin typeface="微软雅黑"/>
              </a:rPr>
              <a:t>规划与决策</a:t>
            </a:r>
          </a:p>
        </p:txBody>
      </p:sp>
      <p:sp>
        <p:nvSpPr>
          <p:cNvPr id="25" name="TextBox 24"/>
          <p:cNvSpPr txBox="1"/>
          <p:nvPr/>
        </p:nvSpPr>
        <p:spPr>
          <a:xfrm>
            <a:off x="8220456" y="2660904"/>
            <a:ext cx="3200400"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为定位、避障、路径规划提供依据</a:t>
            </a:r>
          </a:p>
        </p:txBody>
      </p:sp>
      <p:sp>
        <p:nvSpPr>
          <p:cNvPr id="26" name="TextBox 25"/>
          <p:cNvSpPr txBox="1"/>
          <p:nvPr/>
        </p:nvSpPr>
        <p:spPr>
          <a:xfrm>
            <a:off x="777240" y="4251960"/>
            <a:ext cx="10652760" cy="713232"/>
          </a:xfrm>
          <a:prstGeom prst="rect">
            <a:avLst/>
          </a:prstGeom>
          <a:noFill/>
        </p:spPr>
        <p:txBody>
          <a:bodyPr wrap="square" lIns="18288" tIns="18288" rIns="18288" bIns="18288" anchor="t">
            <a:spAutoFit/>
          </a:bodyPr>
          <a:lstStyle/>
          <a:p>
            <a:pPr algn="ctr">
              <a:lnSpc>
                <a:spcPct val="105000"/>
              </a:lnSpc>
            </a:pPr>
            <a:r>
              <a:rPr sz="2100" b="1" i="0">
                <a:solidFill>
                  <a:srgbClr val="24477D"/>
                </a:solidFill>
                <a:latin typeface="微软雅黑"/>
              </a:rPr>
              <a:t>具身智能体强调自我中心感知与主动感知：机器人通过移动主动改变视角，获取更有信息量的观测。</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环境地图表示的核心权衡</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16</a:t>
            </a:r>
          </a:p>
        </p:txBody>
      </p:sp>
      <p:sp>
        <p:nvSpPr>
          <p:cNvPr id="9" name="Rounded Rectangle 8"/>
          <p:cNvSpPr/>
          <p:nvPr/>
        </p:nvSpPr>
        <p:spPr>
          <a:xfrm>
            <a:off x="640080" y="1828800"/>
            <a:ext cx="3182112" cy="30175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1828800"/>
            <a:ext cx="77724" cy="30175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201168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存储效率</a:t>
            </a:r>
          </a:p>
        </p:txBody>
      </p:sp>
      <p:sp>
        <p:nvSpPr>
          <p:cNvPr id="12" name="TextBox 11"/>
          <p:cNvSpPr txBox="1"/>
          <p:nvPr/>
        </p:nvSpPr>
        <p:spPr>
          <a:xfrm>
            <a:off x="859536" y="2487168"/>
            <a:ext cx="2798064" cy="223113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地图越精细，存储与计算开销往往越大。</a:t>
            </a:r>
          </a:p>
        </p:txBody>
      </p:sp>
      <p:sp>
        <p:nvSpPr>
          <p:cNvPr id="13" name="Rounded Rectangle 12"/>
          <p:cNvSpPr/>
          <p:nvPr/>
        </p:nvSpPr>
        <p:spPr>
          <a:xfrm>
            <a:off x="4096512" y="1828800"/>
            <a:ext cx="3182112" cy="30175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096512" y="1828800"/>
            <a:ext cx="77724" cy="30175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15968" y="201168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更新速度</a:t>
            </a:r>
          </a:p>
        </p:txBody>
      </p:sp>
      <p:sp>
        <p:nvSpPr>
          <p:cNvPr id="16" name="TextBox 15"/>
          <p:cNvSpPr txBox="1"/>
          <p:nvPr/>
        </p:nvSpPr>
        <p:spPr>
          <a:xfrm>
            <a:off x="4315968" y="2487168"/>
            <a:ext cx="2798064" cy="223113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动态环境要求地图可以被快速、连续更新。</a:t>
            </a:r>
          </a:p>
        </p:txBody>
      </p:sp>
      <p:sp>
        <p:nvSpPr>
          <p:cNvPr id="17" name="Rounded Rectangle 16"/>
          <p:cNvSpPr/>
          <p:nvPr/>
        </p:nvSpPr>
        <p:spPr>
          <a:xfrm>
            <a:off x="7552944" y="1828800"/>
            <a:ext cx="3182112" cy="30175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52944" y="1828800"/>
            <a:ext cx="77724" cy="30175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0" y="201168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C58A24"/>
                </a:solidFill>
                <a:latin typeface="微软雅黑"/>
              </a:rPr>
              <a:t>信息丰富度</a:t>
            </a:r>
          </a:p>
        </p:txBody>
      </p:sp>
      <p:sp>
        <p:nvSpPr>
          <p:cNvPr id="20" name="TextBox 19"/>
          <p:cNvSpPr txBox="1"/>
          <p:nvPr/>
        </p:nvSpPr>
        <p:spPr>
          <a:xfrm>
            <a:off x="7772400" y="2487168"/>
            <a:ext cx="2798064" cy="223113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地图既可只保留几何信息，也可加入对象、关系和功能语义。</a:t>
            </a:r>
          </a:p>
        </p:txBody>
      </p:sp>
      <p:sp>
        <p:nvSpPr>
          <p:cNvPr id="21" name="TextBox 20"/>
          <p:cNvSpPr txBox="1"/>
          <p:nvPr/>
        </p:nvSpPr>
        <p:spPr>
          <a:xfrm>
            <a:off x="2148840" y="5257800"/>
            <a:ext cx="7909560" cy="502920"/>
          </a:xfrm>
          <a:prstGeom prst="rect">
            <a:avLst/>
          </a:prstGeom>
          <a:noFill/>
        </p:spPr>
        <p:txBody>
          <a:bodyPr wrap="square" lIns="18288" tIns="18288" rIns="18288" bIns="18288" anchor="t">
            <a:spAutoFit/>
          </a:bodyPr>
          <a:lstStyle/>
          <a:p>
            <a:pPr algn="ctr">
              <a:lnSpc>
                <a:spcPct val="105000"/>
              </a:lnSpc>
            </a:pPr>
            <a:r>
              <a:rPr sz="2600" b="1" i="0">
                <a:solidFill>
                  <a:srgbClr val="24477D"/>
                </a:solidFill>
                <a:latin typeface="微软雅黑"/>
              </a:rPr>
              <a:t>主流表示：度量地图、拓扑地图、语义地图。</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6.2.1 度量地图：用坐标与几何描述空间</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17</a:t>
            </a:r>
          </a:p>
        </p:txBody>
      </p:sp>
      <p:sp>
        <p:nvSpPr>
          <p:cNvPr id="9" name="TextBox 8"/>
          <p:cNvSpPr txBox="1"/>
          <p:nvPr/>
        </p:nvSpPr>
        <p:spPr>
          <a:xfrm>
            <a:off x="749808" y="1783080"/>
            <a:ext cx="6583680" cy="1176604"/>
          </a:xfrm>
          <a:prstGeom prst="rect">
            <a:avLst/>
          </a:prstGeom>
          <a:noFill/>
        </p:spPr>
        <p:txBody>
          <a:bodyPr wrap="square" lIns="18288" tIns="18288" rIns="18288" bIns="18288" anchor="t">
            <a:spAutoFit/>
          </a:bodyPr>
          <a:lstStyle/>
          <a:p>
            <a:pPr marL="342900" indent="-342900" algn="l">
              <a:lnSpc>
                <a:spcPct val="105000"/>
              </a:lnSpc>
              <a:buFont typeface="Arial" panose="020B0604020202020204" pitchFamily="34" charset="0"/>
              <a:buChar char="•"/>
            </a:pPr>
            <a:r>
              <a:rPr sz="2400" b="0" i="0" dirty="0" err="1">
                <a:solidFill>
                  <a:srgbClr val="222833"/>
                </a:solidFill>
                <a:latin typeface="微软雅黑"/>
              </a:rPr>
              <a:t>度量地图以精确坐标和几何信息描述环境，将物理空间量化为可计算坐标系，存储障碍物与空闲区域的位置与形状</a:t>
            </a:r>
            <a:r>
              <a:rPr sz="2400" b="0" i="0" dirty="0">
                <a:solidFill>
                  <a:srgbClr val="222833"/>
                </a:solidFill>
                <a:latin typeface="微软雅黑"/>
              </a:rPr>
              <a:t>。</a:t>
            </a:r>
          </a:p>
        </p:txBody>
      </p:sp>
      <p:sp>
        <p:nvSpPr>
          <p:cNvPr id="10" name="Rounded Rectangle 9"/>
          <p:cNvSpPr/>
          <p:nvPr/>
        </p:nvSpPr>
        <p:spPr>
          <a:xfrm>
            <a:off x="640080" y="3886200"/>
            <a:ext cx="3182112" cy="155448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3886200"/>
            <a:ext cx="77724" cy="155448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406908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直接支持</a:t>
            </a:r>
          </a:p>
        </p:txBody>
      </p:sp>
      <p:sp>
        <p:nvSpPr>
          <p:cNvPr id="13" name="TextBox 12"/>
          <p:cNvSpPr txBox="1"/>
          <p:nvPr/>
        </p:nvSpPr>
        <p:spPr>
          <a:xfrm>
            <a:off x="859536" y="4544568"/>
            <a:ext cx="2798064" cy="768096"/>
          </a:xfrm>
          <a:prstGeom prst="rect">
            <a:avLst/>
          </a:prstGeom>
          <a:noFill/>
        </p:spPr>
        <p:txBody>
          <a:bodyPr wrap="square" lIns="18288" tIns="18288" rIns="18288" bIns="18288" anchor="t">
            <a:spAutoFit/>
          </a:bodyPr>
          <a:lstStyle/>
          <a:p>
            <a:pPr algn="l">
              <a:lnSpc>
                <a:spcPct val="110000"/>
              </a:lnSpc>
            </a:pPr>
            <a:r>
              <a:rPr sz="2000" b="0" i="0">
                <a:solidFill>
                  <a:srgbClr val="222833"/>
                </a:solidFill>
                <a:latin typeface="微软雅黑"/>
              </a:rPr>
              <a:t>路径规划</a:t>
            </a:r>
          </a:p>
        </p:txBody>
      </p:sp>
      <p:sp>
        <p:nvSpPr>
          <p:cNvPr id="14" name="Rounded Rectangle 13"/>
          <p:cNvSpPr/>
          <p:nvPr/>
        </p:nvSpPr>
        <p:spPr>
          <a:xfrm>
            <a:off x="4096512" y="3886200"/>
            <a:ext cx="3182112" cy="155448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096512" y="3886200"/>
            <a:ext cx="77724" cy="155448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15968" y="406908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直接支持</a:t>
            </a:r>
          </a:p>
        </p:txBody>
      </p:sp>
      <p:sp>
        <p:nvSpPr>
          <p:cNvPr id="17" name="TextBox 16"/>
          <p:cNvSpPr txBox="1"/>
          <p:nvPr/>
        </p:nvSpPr>
        <p:spPr>
          <a:xfrm>
            <a:off x="4315968" y="4544568"/>
            <a:ext cx="2798064" cy="768096"/>
          </a:xfrm>
          <a:prstGeom prst="rect">
            <a:avLst/>
          </a:prstGeom>
          <a:noFill/>
        </p:spPr>
        <p:txBody>
          <a:bodyPr wrap="square" lIns="18288" tIns="18288" rIns="18288" bIns="18288" anchor="t">
            <a:spAutoFit/>
          </a:bodyPr>
          <a:lstStyle/>
          <a:p>
            <a:pPr algn="l">
              <a:lnSpc>
                <a:spcPct val="110000"/>
              </a:lnSpc>
            </a:pPr>
            <a:r>
              <a:rPr sz="2000" b="0" i="0">
                <a:solidFill>
                  <a:srgbClr val="222833"/>
                </a:solidFill>
                <a:latin typeface="微软雅黑"/>
              </a:rPr>
              <a:t>碰撞检测</a:t>
            </a:r>
          </a:p>
        </p:txBody>
      </p:sp>
      <p:sp>
        <p:nvSpPr>
          <p:cNvPr id="18" name="Rounded Rectangle 17"/>
          <p:cNvSpPr/>
          <p:nvPr/>
        </p:nvSpPr>
        <p:spPr>
          <a:xfrm>
            <a:off x="7552944" y="3886200"/>
            <a:ext cx="3182112" cy="155448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552944" y="3886200"/>
            <a:ext cx="77724" cy="155448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72400" y="406908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C58A24"/>
                </a:solidFill>
                <a:latin typeface="微软雅黑"/>
              </a:rPr>
              <a:t>直接支持</a:t>
            </a:r>
          </a:p>
        </p:txBody>
      </p:sp>
      <p:sp>
        <p:nvSpPr>
          <p:cNvPr id="21" name="TextBox 20"/>
          <p:cNvSpPr txBox="1"/>
          <p:nvPr/>
        </p:nvSpPr>
        <p:spPr>
          <a:xfrm>
            <a:off x="7772400" y="4544568"/>
            <a:ext cx="2798064" cy="768096"/>
          </a:xfrm>
          <a:prstGeom prst="rect">
            <a:avLst/>
          </a:prstGeom>
          <a:noFill/>
        </p:spPr>
        <p:txBody>
          <a:bodyPr wrap="square" lIns="18288" tIns="18288" rIns="18288" bIns="18288" anchor="t">
            <a:spAutoFit/>
          </a:bodyPr>
          <a:lstStyle/>
          <a:p>
            <a:pPr algn="l">
              <a:lnSpc>
                <a:spcPct val="110000"/>
              </a:lnSpc>
            </a:pPr>
            <a:r>
              <a:rPr sz="2000" b="0" i="0">
                <a:solidFill>
                  <a:srgbClr val="222833"/>
                </a:solidFill>
                <a:latin typeface="微软雅黑"/>
              </a:rPr>
              <a:t>运动控制</a:t>
            </a:r>
          </a:p>
        </p:txBody>
      </p:sp>
      <p:sp>
        <p:nvSpPr>
          <p:cNvPr id="22" name="Rounded Rectangle 21"/>
          <p:cNvSpPr/>
          <p:nvPr/>
        </p:nvSpPr>
        <p:spPr>
          <a:xfrm>
            <a:off x="7635240" y="1783080"/>
            <a:ext cx="3703320" cy="1828800"/>
          </a:xfrm>
          <a:prstGeom prst="roundRect">
            <a:avLst/>
          </a:prstGeom>
          <a:solidFill>
            <a:srgbClr val="FCEDEE"/>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635240" y="1783080"/>
            <a:ext cx="77724" cy="182880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854696" y="1965960"/>
            <a:ext cx="3291839" cy="384048"/>
          </a:xfrm>
          <a:prstGeom prst="rect">
            <a:avLst/>
          </a:prstGeom>
          <a:noFill/>
        </p:spPr>
        <p:txBody>
          <a:bodyPr wrap="square" lIns="18288" tIns="18288" rIns="18288" bIns="18288" anchor="t">
            <a:spAutoFit/>
          </a:bodyPr>
          <a:lstStyle/>
          <a:p>
            <a:pPr algn="l">
              <a:lnSpc>
                <a:spcPct val="105000"/>
              </a:lnSpc>
            </a:pPr>
            <a:r>
              <a:rPr sz="2000" b="1" i="0">
                <a:solidFill>
                  <a:srgbClr val="C63F45"/>
                </a:solidFill>
                <a:latin typeface="微软雅黑"/>
              </a:rPr>
              <a:t>典型形式</a:t>
            </a:r>
          </a:p>
        </p:txBody>
      </p:sp>
      <p:sp>
        <p:nvSpPr>
          <p:cNvPr id="25" name="TextBox 24"/>
          <p:cNvSpPr txBox="1"/>
          <p:nvPr/>
        </p:nvSpPr>
        <p:spPr>
          <a:xfrm>
            <a:off x="7854696" y="2441448"/>
            <a:ext cx="3319272" cy="1042416"/>
          </a:xfrm>
          <a:prstGeom prst="rect">
            <a:avLst/>
          </a:prstGeom>
          <a:noFill/>
        </p:spPr>
        <p:txBody>
          <a:bodyPr wrap="square" lIns="18288" tIns="18288" rIns="18288" bIns="18288" anchor="t">
            <a:spAutoFit/>
          </a:bodyPr>
          <a:lstStyle/>
          <a:p>
            <a:pPr algn="l">
              <a:lnSpc>
                <a:spcPct val="110000"/>
              </a:lnSpc>
            </a:pPr>
            <a:r>
              <a:rPr sz="2100" b="0" i="0">
                <a:solidFill>
                  <a:srgbClr val="222833"/>
                </a:solidFill>
                <a:latin typeface="微软雅黑"/>
              </a:rPr>
              <a:t>占据栅格地图（Occupancy Grid Map）</a:t>
            </a:r>
          </a:p>
        </p:txBody>
      </p:sp>
      <p:sp>
        <p:nvSpPr>
          <p:cNvPr id="26" name="TextBox 25"/>
          <p:cNvSpPr txBox="1"/>
          <p:nvPr/>
        </p:nvSpPr>
        <p:spPr>
          <a:xfrm>
            <a:off x="1790545" y="6035040"/>
            <a:ext cx="8053904" cy="340350"/>
          </a:xfrm>
          <a:prstGeom prst="rect">
            <a:avLst/>
          </a:prstGeom>
          <a:noFill/>
        </p:spPr>
        <p:txBody>
          <a:bodyPr wrap="square" lIns="18288" tIns="18288" rIns="18288" bIns="18288" anchor="t">
            <a:spAutoFit/>
          </a:bodyPr>
          <a:lstStyle/>
          <a:p>
            <a:pPr algn="ctr">
              <a:lnSpc>
                <a:spcPct val="105000"/>
              </a:lnSpc>
            </a:pPr>
            <a:r>
              <a:rPr sz="2000" b="1" i="0" dirty="0" err="1">
                <a:solidFill>
                  <a:srgbClr val="24477D"/>
                </a:solidFill>
                <a:latin typeface="微软雅黑"/>
              </a:rPr>
              <a:t>核心：每个网格单元保存“被占据”的概率</a:t>
            </a:r>
            <a:r>
              <a:rPr sz="2000" b="1" i="0" dirty="0">
                <a:solidFill>
                  <a:srgbClr val="24477D"/>
                </a:solidFill>
                <a:latin typeface="微软雅黑"/>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占据栅格地图：把连续空间离散成规则网格</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18</a:t>
            </a:r>
          </a:p>
        </p:txBody>
      </p:sp>
      <p:pic>
        <p:nvPicPr>
          <p:cNvPr id="9" name="Picture 8" descr="fig3.png"/>
          <p:cNvPicPr>
            <a:picLocks noChangeAspect="1"/>
          </p:cNvPicPr>
          <p:nvPr/>
        </p:nvPicPr>
        <p:blipFill>
          <a:blip r:embed="rId2"/>
          <a:stretch>
            <a:fillRect/>
          </a:stretch>
        </p:blipFill>
        <p:spPr>
          <a:xfrm>
            <a:off x="665356" y="1664208"/>
            <a:ext cx="4795767" cy="4434840"/>
          </a:xfrm>
          <a:prstGeom prst="rect">
            <a:avLst/>
          </a:prstGeom>
        </p:spPr>
      </p:pic>
      <p:sp>
        <p:nvSpPr>
          <p:cNvPr id="10" name="TextBox 9"/>
          <p:cNvSpPr txBox="1"/>
          <p:nvPr/>
        </p:nvSpPr>
        <p:spPr>
          <a:xfrm>
            <a:off x="640080" y="6144768"/>
            <a:ext cx="4846320" cy="234103"/>
          </a:xfrm>
          <a:prstGeom prst="rect">
            <a:avLst/>
          </a:prstGeom>
          <a:noFill/>
        </p:spPr>
        <p:txBody>
          <a:bodyPr wrap="square" lIns="18288" tIns="18288" rIns="18288" bIns="18288" anchor="t">
            <a:spAutoFit/>
          </a:bodyPr>
          <a:lstStyle/>
          <a:p>
            <a:pPr algn="ctr">
              <a:lnSpc>
                <a:spcPct val="105000"/>
              </a:lnSpc>
            </a:pPr>
            <a:r>
              <a:rPr sz="1300" b="1" i="0" dirty="0" err="1">
                <a:solidFill>
                  <a:srgbClr val="24477D"/>
                </a:solidFill>
                <a:latin typeface="微软雅黑"/>
              </a:rPr>
              <a:t>占据栅格地图</a:t>
            </a:r>
            <a:endParaRPr sz="1300" b="1" i="0" dirty="0">
              <a:solidFill>
                <a:srgbClr val="24477D"/>
              </a:solidFill>
              <a:latin typeface="微软雅黑"/>
            </a:endParaRPr>
          </a:p>
        </p:txBody>
      </p:sp>
      <p:sp>
        <p:nvSpPr>
          <p:cNvPr id="11" name="TextBox 10"/>
          <p:cNvSpPr txBox="1"/>
          <p:nvPr/>
        </p:nvSpPr>
        <p:spPr>
          <a:xfrm>
            <a:off x="5532120" y="1783080"/>
            <a:ext cx="6080760" cy="2512354"/>
          </a:xfrm>
          <a:prstGeom prst="rect">
            <a:avLst/>
          </a:prstGeom>
          <a:noFill/>
        </p:spPr>
        <p:txBody>
          <a:bodyPr wrap="square" lIns="18288" tIns="18288" rIns="18288" bIns="18288">
            <a:spAutoFit/>
          </a:bodyPr>
          <a:lstStyle/>
          <a:p>
            <a:pPr>
              <a:lnSpc>
                <a:spcPct val="115000"/>
              </a:lnSpc>
              <a:spcAft>
                <a:spcPts val="1000"/>
              </a:spcAft>
              <a:defRPr sz="1800">
                <a:solidFill>
                  <a:srgbClr val="222833"/>
                </a:solidFill>
                <a:latin typeface="微软雅黑"/>
              </a:defRPr>
            </a:pPr>
            <a:r>
              <a:rPr sz="2400" dirty="0"/>
              <a:t>• </a:t>
            </a:r>
            <a:r>
              <a:rPr sz="2400" dirty="0" err="1"/>
              <a:t>环境被离散为二维或三维规则网格</a:t>
            </a:r>
            <a:endParaRPr sz="2400" dirty="0"/>
          </a:p>
          <a:p>
            <a:pPr>
              <a:lnSpc>
                <a:spcPct val="115000"/>
              </a:lnSpc>
              <a:spcAft>
                <a:spcPts val="1000"/>
              </a:spcAft>
              <a:defRPr sz="1800">
                <a:solidFill>
                  <a:srgbClr val="222833"/>
                </a:solidFill>
                <a:latin typeface="微软雅黑"/>
              </a:defRPr>
            </a:pPr>
            <a:r>
              <a:rPr sz="2400" dirty="0"/>
              <a:t>• </a:t>
            </a:r>
            <a:r>
              <a:rPr sz="2400" dirty="0" err="1"/>
              <a:t>每个网格单元存储占据状态的后验概率</a:t>
            </a:r>
            <a:endParaRPr sz="2400" dirty="0"/>
          </a:p>
          <a:p>
            <a:pPr>
              <a:lnSpc>
                <a:spcPct val="115000"/>
              </a:lnSpc>
              <a:spcAft>
                <a:spcPts val="1000"/>
              </a:spcAft>
              <a:defRPr sz="1800">
                <a:solidFill>
                  <a:srgbClr val="222833"/>
                </a:solidFill>
                <a:latin typeface="微软雅黑"/>
              </a:defRPr>
            </a:pPr>
            <a:r>
              <a:rPr sz="2400" dirty="0"/>
              <a:t>• </a:t>
            </a:r>
            <a:r>
              <a:rPr sz="2400" dirty="0" err="1"/>
              <a:t>工程中常以</a:t>
            </a:r>
            <a:r>
              <a:rPr sz="2400" dirty="0"/>
              <a:t> log-odds </a:t>
            </a:r>
            <a:r>
              <a:rPr sz="2400" dirty="0" err="1"/>
              <a:t>形式存储，便于数值稳定和增量更新</a:t>
            </a:r>
            <a:endParaRPr sz="2400" dirty="0"/>
          </a:p>
          <a:p>
            <a:pPr>
              <a:lnSpc>
                <a:spcPct val="115000"/>
              </a:lnSpc>
              <a:spcAft>
                <a:spcPts val="1000"/>
              </a:spcAft>
              <a:defRPr sz="1800">
                <a:solidFill>
                  <a:srgbClr val="222833"/>
                </a:solidFill>
                <a:latin typeface="微软雅黑"/>
              </a:defRPr>
            </a:pPr>
            <a:r>
              <a:rPr sz="2400" dirty="0"/>
              <a:t>• </a:t>
            </a:r>
            <a:r>
              <a:rPr sz="2400" dirty="0" err="1"/>
              <a:t>占据栅格地图是安全导航和路径规划的基础</a:t>
            </a:r>
            <a:endParaRPr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占据栅格地图构建：四个步骤</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19</a:t>
            </a:r>
          </a:p>
        </p:txBody>
      </p:sp>
      <p:sp>
        <p:nvSpPr>
          <p:cNvPr id="9" name="Rounded Rectangle 8"/>
          <p:cNvSpPr/>
          <p:nvPr/>
        </p:nvSpPr>
        <p:spPr>
          <a:xfrm>
            <a:off x="685800" y="205740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2057400"/>
            <a:ext cx="2569464" cy="82296"/>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5528" y="224028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31599B"/>
                </a:solidFill>
                <a:latin typeface="微软雅黑"/>
              </a:rPr>
              <a:t>1</a:t>
            </a:r>
          </a:p>
        </p:txBody>
      </p:sp>
      <p:sp>
        <p:nvSpPr>
          <p:cNvPr id="12" name="TextBox 11"/>
          <p:cNvSpPr txBox="1"/>
          <p:nvPr/>
        </p:nvSpPr>
        <p:spPr>
          <a:xfrm>
            <a:off x="1188720" y="222199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31599B"/>
                </a:solidFill>
                <a:latin typeface="微软雅黑"/>
              </a:rPr>
              <a:t>空间离散化</a:t>
            </a:r>
          </a:p>
        </p:txBody>
      </p:sp>
      <p:sp>
        <p:nvSpPr>
          <p:cNvPr id="13" name="TextBox 12"/>
          <p:cNvSpPr txBox="1"/>
          <p:nvPr/>
        </p:nvSpPr>
        <p:spPr>
          <a:xfrm>
            <a:off x="832104" y="266090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连续物理空间 → 规则网格</a:t>
            </a:r>
          </a:p>
        </p:txBody>
      </p:sp>
      <p:sp>
        <p:nvSpPr>
          <p:cNvPr id="14" name="Rectangle 13"/>
          <p:cNvSpPr/>
          <p:nvPr/>
        </p:nvSpPr>
        <p:spPr>
          <a:xfrm>
            <a:off x="3291840" y="2642616"/>
            <a:ext cx="128016" cy="256032"/>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456432" y="205740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456432" y="2057400"/>
            <a:ext cx="2569464" cy="82296"/>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566160" y="224028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2F8E72"/>
                </a:solidFill>
                <a:latin typeface="微软雅黑"/>
              </a:rPr>
              <a:t>2</a:t>
            </a:r>
          </a:p>
        </p:txBody>
      </p:sp>
      <p:sp>
        <p:nvSpPr>
          <p:cNvPr id="18" name="TextBox 17"/>
          <p:cNvSpPr txBox="1"/>
          <p:nvPr/>
        </p:nvSpPr>
        <p:spPr>
          <a:xfrm>
            <a:off x="3959352" y="222199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2F8E72"/>
                </a:solidFill>
                <a:latin typeface="微软雅黑"/>
              </a:rPr>
              <a:t>概率表示</a:t>
            </a:r>
          </a:p>
        </p:txBody>
      </p:sp>
      <p:sp>
        <p:nvSpPr>
          <p:cNvPr id="19" name="TextBox 18"/>
          <p:cNvSpPr txBox="1"/>
          <p:nvPr/>
        </p:nvSpPr>
        <p:spPr>
          <a:xfrm>
            <a:off x="3602736" y="266090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每个单元维护占据后验概率</a:t>
            </a:r>
          </a:p>
        </p:txBody>
      </p:sp>
      <p:sp>
        <p:nvSpPr>
          <p:cNvPr id="20" name="Rectangle 19"/>
          <p:cNvSpPr/>
          <p:nvPr/>
        </p:nvSpPr>
        <p:spPr>
          <a:xfrm>
            <a:off x="6062472" y="2642616"/>
            <a:ext cx="128016" cy="256032"/>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227064" y="205740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27064" y="2057400"/>
            <a:ext cx="2569464" cy="82296"/>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36792" y="224028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58A24"/>
                </a:solidFill>
                <a:latin typeface="微软雅黑"/>
              </a:rPr>
              <a:t>3</a:t>
            </a:r>
          </a:p>
        </p:txBody>
      </p:sp>
      <p:sp>
        <p:nvSpPr>
          <p:cNvPr id="24" name="TextBox 23"/>
          <p:cNvSpPr txBox="1"/>
          <p:nvPr/>
        </p:nvSpPr>
        <p:spPr>
          <a:xfrm>
            <a:off x="6729984" y="222199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C58A24"/>
                </a:solidFill>
                <a:latin typeface="微软雅黑"/>
              </a:rPr>
              <a:t>增量更新</a:t>
            </a:r>
          </a:p>
        </p:txBody>
      </p:sp>
      <p:sp>
        <p:nvSpPr>
          <p:cNvPr id="25" name="TextBox 24"/>
          <p:cNvSpPr txBox="1"/>
          <p:nvPr/>
        </p:nvSpPr>
        <p:spPr>
          <a:xfrm>
            <a:off x="6373368" y="266090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新观测到来后执行贝叶斯更新</a:t>
            </a:r>
          </a:p>
        </p:txBody>
      </p:sp>
      <p:sp>
        <p:nvSpPr>
          <p:cNvPr id="26" name="Rectangle 25"/>
          <p:cNvSpPr/>
          <p:nvPr/>
        </p:nvSpPr>
        <p:spPr>
          <a:xfrm>
            <a:off x="8833104" y="2642616"/>
            <a:ext cx="128016" cy="256032"/>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8997696" y="205740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997696" y="2057400"/>
            <a:ext cx="2569464" cy="82296"/>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07424" y="224028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63F45"/>
                </a:solidFill>
                <a:latin typeface="微软雅黑"/>
              </a:rPr>
              <a:t>4</a:t>
            </a:r>
          </a:p>
        </p:txBody>
      </p:sp>
      <p:sp>
        <p:nvSpPr>
          <p:cNvPr id="30" name="TextBox 29"/>
          <p:cNvSpPr txBox="1"/>
          <p:nvPr/>
        </p:nvSpPr>
        <p:spPr>
          <a:xfrm>
            <a:off x="9500616" y="222199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C63F45"/>
                </a:solidFill>
                <a:latin typeface="微软雅黑"/>
              </a:rPr>
              <a:t>构建与应用</a:t>
            </a:r>
          </a:p>
        </p:txBody>
      </p:sp>
      <p:sp>
        <p:nvSpPr>
          <p:cNvPr id="31" name="TextBox 30"/>
          <p:cNvSpPr txBox="1"/>
          <p:nvPr/>
        </p:nvSpPr>
        <p:spPr>
          <a:xfrm>
            <a:off x="9144000" y="266090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由传感器扫描持续维护并用于规划</a:t>
            </a:r>
          </a:p>
        </p:txBody>
      </p:sp>
      <p:sp>
        <p:nvSpPr>
          <p:cNvPr id="32" name="TextBox 31"/>
          <p:cNvSpPr txBox="1"/>
          <p:nvPr/>
        </p:nvSpPr>
        <p:spPr>
          <a:xfrm>
            <a:off x="1280160" y="4343400"/>
            <a:ext cx="9601200" cy="566928"/>
          </a:xfrm>
          <a:prstGeom prst="rect">
            <a:avLst/>
          </a:prstGeom>
          <a:noFill/>
        </p:spPr>
        <p:txBody>
          <a:bodyPr wrap="square" lIns="18288" tIns="18288" rIns="18288" bIns="18288" anchor="t">
            <a:spAutoFit/>
          </a:bodyPr>
          <a:lstStyle/>
          <a:p>
            <a:pPr algn="ctr">
              <a:lnSpc>
                <a:spcPct val="105000"/>
              </a:lnSpc>
            </a:pPr>
            <a:r>
              <a:rPr sz="2400" b="1" i="0" dirty="0" err="1">
                <a:solidFill>
                  <a:srgbClr val="24477D"/>
                </a:solidFill>
                <a:latin typeface="微软雅黑"/>
              </a:rPr>
              <a:t>构建本质：对每一个网格单元持续进行二值贝叶斯滤波</a:t>
            </a:r>
            <a:r>
              <a:rPr sz="2400" b="1" i="0" dirty="0">
                <a:solidFill>
                  <a:srgbClr val="24477D"/>
                </a:solidFill>
                <a:latin typeface="微软雅黑"/>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步骤 1：空间离散化与坐标映射</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20</a:t>
            </a:r>
          </a:p>
        </p:txBody>
      </p:sp>
      <p:sp>
        <p:nvSpPr>
          <p:cNvPr id="9" name="TextBox 8"/>
          <p:cNvSpPr txBox="1"/>
          <p:nvPr/>
        </p:nvSpPr>
        <p:spPr>
          <a:xfrm>
            <a:off x="914400" y="1828800"/>
            <a:ext cx="10058400" cy="640080"/>
          </a:xfrm>
          <a:prstGeom prst="rect">
            <a:avLst/>
          </a:prstGeom>
          <a:noFill/>
        </p:spPr>
        <p:txBody>
          <a:bodyPr wrap="square" lIns="18288" tIns="18288" rIns="18288" bIns="18288" anchor="t">
            <a:spAutoFit/>
          </a:bodyPr>
          <a:lstStyle/>
          <a:p>
            <a:pPr algn="ctr">
              <a:lnSpc>
                <a:spcPct val="105000"/>
              </a:lnSpc>
            </a:pPr>
            <a:r>
              <a:rPr sz="2200" b="0" i="0">
                <a:solidFill>
                  <a:srgbClr val="222833"/>
                </a:solidFill>
                <a:latin typeface="微软雅黑"/>
              </a:rPr>
              <a:t>设网格分辨率为 r（米/格），连续物理坐标 (x, y) 映射到网格索引 (i, j)。</a:t>
            </a:r>
          </a:p>
        </p:txBody>
      </p:sp>
      <p:sp>
        <p:nvSpPr>
          <p:cNvPr id="13" name="Rounded Rectangle 12"/>
          <p:cNvSpPr/>
          <p:nvPr/>
        </p:nvSpPr>
        <p:spPr>
          <a:xfrm>
            <a:off x="685800" y="4160520"/>
            <a:ext cx="5230368" cy="16002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85800" y="4160520"/>
            <a:ext cx="77724" cy="16002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05256" y="434340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分辨率更高</a:t>
            </a:r>
          </a:p>
        </p:txBody>
      </p:sp>
      <p:sp>
        <p:nvSpPr>
          <p:cNvPr id="16" name="TextBox 15"/>
          <p:cNvSpPr txBox="1"/>
          <p:nvPr/>
        </p:nvSpPr>
        <p:spPr>
          <a:xfrm>
            <a:off x="905256" y="4818888"/>
            <a:ext cx="4846320" cy="81381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地图几何细节更丰富，但存储与计算量增加。</a:t>
            </a:r>
          </a:p>
        </p:txBody>
      </p:sp>
      <p:sp>
        <p:nvSpPr>
          <p:cNvPr id="17" name="Rounded Rectangle 16"/>
          <p:cNvSpPr/>
          <p:nvPr/>
        </p:nvSpPr>
        <p:spPr>
          <a:xfrm>
            <a:off x="6199632" y="4160520"/>
            <a:ext cx="5230368" cy="16002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99632" y="4160520"/>
            <a:ext cx="77724" cy="160020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19088" y="434340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C58A24"/>
                </a:solidFill>
                <a:latin typeface="微软雅黑"/>
              </a:rPr>
              <a:t>分辨率更低</a:t>
            </a:r>
          </a:p>
        </p:txBody>
      </p:sp>
      <p:sp>
        <p:nvSpPr>
          <p:cNvPr id="20" name="TextBox 19"/>
          <p:cNvSpPr txBox="1"/>
          <p:nvPr/>
        </p:nvSpPr>
        <p:spPr>
          <a:xfrm>
            <a:off x="6419088" y="4818888"/>
            <a:ext cx="4846320" cy="81381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计算更轻量，但狭窄通道与小障碍可能被“抹平”。</a:t>
            </a:r>
          </a:p>
        </p:txBody>
      </p:sp>
      <p:pic>
        <p:nvPicPr>
          <p:cNvPr id="22" name="图片 21">
            <a:extLst>
              <a:ext uri="{FF2B5EF4-FFF2-40B4-BE49-F238E27FC236}">
                <a16:creationId xmlns:a16="http://schemas.microsoft.com/office/drawing/2014/main" id="{32EEA509-FAB9-CAB2-3B2E-F3CDA447AB28}"/>
              </a:ext>
            </a:extLst>
          </p:cNvPr>
          <p:cNvPicPr>
            <a:picLocks noChangeAspect="1"/>
          </p:cNvPicPr>
          <p:nvPr/>
        </p:nvPicPr>
        <p:blipFill>
          <a:blip r:embed="rId2"/>
          <a:stretch>
            <a:fillRect/>
          </a:stretch>
        </p:blipFill>
        <p:spPr>
          <a:xfrm>
            <a:off x="3869042" y="2489705"/>
            <a:ext cx="3838095" cy="133333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步骤 2：状态定义与概率表示</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21</a:t>
            </a:r>
          </a:p>
        </p:txBody>
      </p:sp>
      <p:sp>
        <p:nvSpPr>
          <p:cNvPr id="9" name="TextBox 8"/>
          <p:cNvSpPr txBox="1"/>
          <p:nvPr/>
        </p:nvSpPr>
        <p:spPr>
          <a:xfrm>
            <a:off x="777240" y="1737360"/>
            <a:ext cx="10698480" cy="1005840"/>
          </a:xfrm>
          <a:prstGeom prst="rect">
            <a:avLst/>
          </a:prstGeom>
          <a:noFill/>
        </p:spPr>
        <p:txBody>
          <a:bodyPr wrap="square" lIns="18288" tIns="18288" rIns="18288" bIns="18288" anchor="t">
            <a:spAutoFit/>
          </a:bodyPr>
          <a:lstStyle/>
          <a:p>
            <a:pPr algn="l">
              <a:lnSpc>
                <a:spcPct val="105000"/>
              </a:lnSpc>
            </a:pPr>
            <a:r>
              <a:rPr sz="2000" b="0" i="0">
                <a:solidFill>
                  <a:srgbClr val="222833"/>
                </a:solidFill>
                <a:latin typeface="微软雅黑"/>
              </a:rPr>
              <a:t>每个单元格 cᵢ,ⱼ 的占据状态 oᵢ,ⱼ ∈ {0,1}：0 表示空闲，1 表示占据。由于传感器噪声，系统维护的是后验概率而不是绝对标签。</a:t>
            </a:r>
          </a:p>
        </p:txBody>
      </p:sp>
      <p:sp>
        <p:nvSpPr>
          <p:cNvPr id="13" name="Rounded Rectangle 12"/>
          <p:cNvSpPr/>
          <p:nvPr/>
        </p:nvSpPr>
        <p:spPr>
          <a:xfrm>
            <a:off x="2057400" y="4251960"/>
            <a:ext cx="8046720" cy="1234440"/>
          </a:xfrm>
          <a:prstGeom prst="roundRect">
            <a:avLst/>
          </a:prstGeom>
          <a:solidFill>
            <a:srgbClr val="EAF5F1"/>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057400" y="4251960"/>
            <a:ext cx="77724" cy="123444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76856" y="4434840"/>
            <a:ext cx="7635240" cy="384048"/>
          </a:xfrm>
          <a:prstGeom prst="rect">
            <a:avLst/>
          </a:prstGeom>
          <a:noFill/>
        </p:spPr>
        <p:txBody>
          <a:bodyPr wrap="square" lIns="18288" tIns="18288" rIns="18288" bIns="18288" anchor="t">
            <a:spAutoFit/>
          </a:bodyPr>
          <a:lstStyle/>
          <a:p>
            <a:pPr algn="l">
              <a:lnSpc>
                <a:spcPct val="105000"/>
              </a:lnSpc>
            </a:pPr>
            <a:r>
              <a:rPr sz="2000" b="1" i="0">
                <a:solidFill>
                  <a:srgbClr val="2F8E72"/>
                </a:solidFill>
                <a:latin typeface="微软雅黑"/>
              </a:rPr>
              <a:t>初始未知状态</a:t>
            </a:r>
          </a:p>
        </p:txBody>
      </p:sp>
      <p:sp>
        <p:nvSpPr>
          <p:cNvPr id="16" name="TextBox 15"/>
          <p:cNvSpPr txBox="1"/>
          <p:nvPr/>
        </p:nvSpPr>
        <p:spPr>
          <a:xfrm>
            <a:off x="2276856" y="4910328"/>
            <a:ext cx="7662672" cy="448056"/>
          </a:xfrm>
          <a:prstGeom prst="rect">
            <a:avLst/>
          </a:prstGeom>
          <a:noFill/>
        </p:spPr>
        <p:txBody>
          <a:bodyPr wrap="square" lIns="18288" tIns="18288" rIns="18288" bIns="18288" anchor="t">
            <a:spAutoFit/>
          </a:bodyPr>
          <a:lstStyle/>
          <a:p>
            <a:pPr algn="l">
              <a:lnSpc>
                <a:spcPct val="110000"/>
              </a:lnSpc>
            </a:pPr>
            <a:r>
              <a:rPr sz="2000" b="0" i="0">
                <a:solidFill>
                  <a:srgbClr val="222833"/>
                </a:solidFill>
                <a:latin typeface="微软雅黑"/>
              </a:rPr>
              <a:t>Lᵢ,ⱼ⁽⁰⁾ = 0，对应占据概率 0.5。</a:t>
            </a:r>
          </a:p>
        </p:txBody>
      </p:sp>
      <p:pic>
        <p:nvPicPr>
          <p:cNvPr id="18" name="图片 17">
            <a:extLst>
              <a:ext uri="{FF2B5EF4-FFF2-40B4-BE49-F238E27FC236}">
                <a16:creationId xmlns:a16="http://schemas.microsoft.com/office/drawing/2014/main" id="{BD8A40D9-3B43-9050-7EAA-47C269E6FEF7}"/>
              </a:ext>
            </a:extLst>
          </p:cNvPr>
          <p:cNvPicPr>
            <a:picLocks noChangeAspect="1"/>
          </p:cNvPicPr>
          <p:nvPr/>
        </p:nvPicPr>
        <p:blipFill>
          <a:blip r:embed="rId2"/>
          <a:stretch>
            <a:fillRect/>
          </a:stretch>
        </p:blipFill>
        <p:spPr>
          <a:xfrm>
            <a:off x="3796000" y="2819476"/>
            <a:ext cx="4600000" cy="121904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步骤 3：增量贝叶斯更新</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22</a:t>
            </a:r>
          </a:p>
        </p:txBody>
      </p:sp>
      <p:sp>
        <p:nvSpPr>
          <p:cNvPr id="9" name="TextBox 8"/>
          <p:cNvSpPr txBox="1"/>
          <p:nvPr/>
        </p:nvSpPr>
        <p:spPr>
          <a:xfrm>
            <a:off x="868680" y="1737360"/>
            <a:ext cx="10515600" cy="685800"/>
          </a:xfrm>
          <a:prstGeom prst="rect">
            <a:avLst/>
          </a:prstGeom>
          <a:noFill/>
        </p:spPr>
        <p:txBody>
          <a:bodyPr wrap="square" lIns="18288" tIns="18288" rIns="18288" bIns="18288" anchor="t">
            <a:spAutoFit/>
          </a:bodyPr>
          <a:lstStyle/>
          <a:p>
            <a:pPr algn="ctr">
              <a:lnSpc>
                <a:spcPct val="105000"/>
              </a:lnSpc>
            </a:pPr>
            <a:r>
              <a:rPr sz="2100" b="0" i="0">
                <a:solidFill>
                  <a:srgbClr val="222833"/>
                </a:solidFill>
                <a:latin typeface="微软雅黑"/>
              </a:rPr>
              <a:t>新观测 zₜ 到来后，利用逆传感器模型对每个栅格的 log-odds 进行增量更新。</a:t>
            </a:r>
          </a:p>
        </p:txBody>
      </p:sp>
      <p:sp>
        <p:nvSpPr>
          <p:cNvPr id="13" name="Rounded Rectangle 12"/>
          <p:cNvSpPr/>
          <p:nvPr/>
        </p:nvSpPr>
        <p:spPr>
          <a:xfrm>
            <a:off x="640080" y="4160520"/>
            <a:ext cx="3182112" cy="16002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 y="4160520"/>
            <a:ext cx="77724" cy="160020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9536" y="4343400"/>
            <a:ext cx="2770632" cy="384048"/>
          </a:xfrm>
          <a:prstGeom prst="rect">
            <a:avLst/>
          </a:prstGeom>
          <a:noFill/>
        </p:spPr>
        <p:txBody>
          <a:bodyPr wrap="square" lIns="18288" tIns="18288" rIns="18288" bIns="18288" anchor="t">
            <a:spAutoFit/>
          </a:bodyPr>
          <a:lstStyle/>
          <a:p>
            <a:pPr algn="l">
              <a:lnSpc>
                <a:spcPct val="105000"/>
              </a:lnSpc>
            </a:pPr>
            <a:r>
              <a:rPr sz="2200" b="1" i="0" dirty="0">
                <a:solidFill>
                  <a:srgbClr val="C63F45"/>
                </a:solidFill>
                <a:latin typeface="微软雅黑"/>
              </a:rPr>
              <a:t>L &gt; </a:t>
            </a:r>
            <a:r>
              <a:rPr sz="2200" b="1" i="0" dirty="0" err="1">
                <a:solidFill>
                  <a:srgbClr val="C63F45"/>
                </a:solidFill>
                <a:latin typeface="微软雅黑"/>
              </a:rPr>
              <a:t>τ</a:t>
            </a:r>
            <a:r>
              <a:rPr sz="2200" b="1" i="0" baseline="-25000" dirty="0" err="1">
                <a:solidFill>
                  <a:srgbClr val="C63F45"/>
                </a:solidFill>
                <a:latin typeface="微软雅黑"/>
              </a:rPr>
              <a:t>occ</a:t>
            </a:r>
            <a:endParaRPr sz="2200" b="1" i="0" baseline="-25000" dirty="0">
              <a:solidFill>
                <a:srgbClr val="C63F45"/>
              </a:solidFill>
              <a:latin typeface="微软雅黑"/>
            </a:endParaRPr>
          </a:p>
        </p:txBody>
      </p:sp>
      <p:sp>
        <p:nvSpPr>
          <p:cNvPr id="16" name="TextBox 15"/>
          <p:cNvSpPr txBox="1"/>
          <p:nvPr/>
        </p:nvSpPr>
        <p:spPr>
          <a:xfrm>
            <a:off x="859536" y="4818888"/>
            <a:ext cx="2798064" cy="813816"/>
          </a:xfrm>
          <a:prstGeom prst="rect">
            <a:avLst/>
          </a:prstGeom>
          <a:noFill/>
        </p:spPr>
        <p:txBody>
          <a:bodyPr wrap="square" lIns="18288" tIns="18288" rIns="18288" bIns="18288" anchor="t">
            <a:spAutoFit/>
          </a:bodyPr>
          <a:lstStyle/>
          <a:p>
            <a:pPr algn="l">
              <a:lnSpc>
                <a:spcPct val="110000"/>
              </a:lnSpc>
            </a:pPr>
            <a:r>
              <a:rPr sz="1900" b="0" i="0">
                <a:solidFill>
                  <a:srgbClr val="222833"/>
                </a:solidFill>
                <a:latin typeface="微软雅黑"/>
              </a:rPr>
              <a:t>判定为占据</a:t>
            </a:r>
          </a:p>
        </p:txBody>
      </p:sp>
      <p:sp>
        <p:nvSpPr>
          <p:cNvPr id="17" name="Rounded Rectangle 16"/>
          <p:cNvSpPr/>
          <p:nvPr/>
        </p:nvSpPr>
        <p:spPr>
          <a:xfrm>
            <a:off x="4096512" y="4160520"/>
            <a:ext cx="3182112" cy="16002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096512" y="4160520"/>
            <a:ext cx="77724" cy="160020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315968" y="4343400"/>
            <a:ext cx="2770632" cy="384048"/>
          </a:xfrm>
          <a:prstGeom prst="rect">
            <a:avLst/>
          </a:prstGeom>
          <a:noFill/>
        </p:spPr>
        <p:txBody>
          <a:bodyPr wrap="square" lIns="18288" tIns="18288" rIns="18288" bIns="18288" anchor="t">
            <a:spAutoFit/>
          </a:bodyPr>
          <a:lstStyle/>
          <a:p>
            <a:pPr algn="l">
              <a:lnSpc>
                <a:spcPct val="105000"/>
              </a:lnSpc>
            </a:pPr>
            <a:r>
              <a:rPr sz="2200" b="1" i="0" dirty="0">
                <a:solidFill>
                  <a:srgbClr val="2F8E72"/>
                </a:solidFill>
                <a:latin typeface="微软雅黑"/>
              </a:rPr>
              <a:t>L &lt; </a:t>
            </a:r>
            <a:r>
              <a:rPr sz="2200" b="1" i="0" dirty="0" err="1">
                <a:solidFill>
                  <a:srgbClr val="2F8E72"/>
                </a:solidFill>
                <a:latin typeface="微软雅黑"/>
              </a:rPr>
              <a:t>τ</a:t>
            </a:r>
            <a:r>
              <a:rPr sz="2200" b="1" i="0" baseline="-25000" dirty="0" err="1">
                <a:solidFill>
                  <a:srgbClr val="2F8E72"/>
                </a:solidFill>
                <a:latin typeface="微软雅黑"/>
              </a:rPr>
              <a:t>free</a:t>
            </a:r>
            <a:endParaRPr sz="2200" b="1" i="0" baseline="-25000" dirty="0">
              <a:solidFill>
                <a:srgbClr val="2F8E72"/>
              </a:solidFill>
              <a:latin typeface="微软雅黑"/>
            </a:endParaRPr>
          </a:p>
        </p:txBody>
      </p:sp>
      <p:sp>
        <p:nvSpPr>
          <p:cNvPr id="20" name="TextBox 19"/>
          <p:cNvSpPr txBox="1"/>
          <p:nvPr/>
        </p:nvSpPr>
        <p:spPr>
          <a:xfrm>
            <a:off x="4315968" y="4818888"/>
            <a:ext cx="2798064" cy="813816"/>
          </a:xfrm>
          <a:prstGeom prst="rect">
            <a:avLst/>
          </a:prstGeom>
          <a:noFill/>
        </p:spPr>
        <p:txBody>
          <a:bodyPr wrap="square" lIns="18288" tIns="18288" rIns="18288" bIns="18288" anchor="t">
            <a:spAutoFit/>
          </a:bodyPr>
          <a:lstStyle/>
          <a:p>
            <a:pPr algn="l">
              <a:lnSpc>
                <a:spcPct val="110000"/>
              </a:lnSpc>
            </a:pPr>
            <a:r>
              <a:rPr sz="1900" b="0" i="0">
                <a:solidFill>
                  <a:srgbClr val="222833"/>
                </a:solidFill>
                <a:latin typeface="微软雅黑"/>
              </a:rPr>
              <a:t>判定为空闲</a:t>
            </a:r>
          </a:p>
        </p:txBody>
      </p:sp>
      <p:sp>
        <p:nvSpPr>
          <p:cNvPr id="21" name="Rounded Rectangle 20"/>
          <p:cNvSpPr/>
          <p:nvPr/>
        </p:nvSpPr>
        <p:spPr>
          <a:xfrm>
            <a:off x="7552944" y="4160520"/>
            <a:ext cx="3182112" cy="16002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552944" y="4160520"/>
            <a:ext cx="77724" cy="160020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0" y="434340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C58A24"/>
                </a:solidFill>
                <a:latin typeface="微软雅黑"/>
              </a:rPr>
              <a:t>中间区间</a:t>
            </a:r>
          </a:p>
        </p:txBody>
      </p:sp>
      <p:sp>
        <p:nvSpPr>
          <p:cNvPr id="24" name="TextBox 23"/>
          <p:cNvSpPr txBox="1"/>
          <p:nvPr/>
        </p:nvSpPr>
        <p:spPr>
          <a:xfrm>
            <a:off x="7772400" y="4818888"/>
            <a:ext cx="2798064" cy="813816"/>
          </a:xfrm>
          <a:prstGeom prst="rect">
            <a:avLst/>
          </a:prstGeom>
          <a:noFill/>
        </p:spPr>
        <p:txBody>
          <a:bodyPr wrap="square" lIns="18288" tIns="18288" rIns="18288" bIns="18288" anchor="t">
            <a:spAutoFit/>
          </a:bodyPr>
          <a:lstStyle/>
          <a:p>
            <a:pPr algn="l">
              <a:lnSpc>
                <a:spcPct val="110000"/>
              </a:lnSpc>
            </a:pPr>
            <a:r>
              <a:rPr sz="1900" b="0" i="0">
                <a:solidFill>
                  <a:srgbClr val="222833"/>
                </a:solidFill>
                <a:latin typeface="微软雅黑"/>
              </a:rPr>
              <a:t>保持未知状态</a:t>
            </a:r>
          </a:p>
        </p:txBody>
      </p:sp>
      <p:pic>
        <p:nvPicPr>
          <p:cNvPr id="26" name="图片 25">
            <a:extLst>
              <a:ext uri="{FF2B5EF4-FFF2-40B4-BE49-F238E27FC236}">
                <a16:creationId xmlns:a16="http://schemas.microsoft.com/office/drawing/2014/main" id="{A243E99D-D90F-78E5-C0B2-338E8D898A07}"/>
              </a:ext>
            </a:extLst>
          </p:cNvPr>
          <p:cNvPicPr>
            <a:picLocks noChangeAspect="1"/>
          </p:cNvPicPr>
          <p:nvPr/>
        </p:nvPicPr>
        <p:blipFill>
          <a:blip r:embed="rId2"/>
          <a:stretch>
            <a:fillRect/>
          </a:stretch>
        </p:blipFill>
        <p:spPr>
          <a:xfrm>
            <a:off x="1208604" y="2474290"/>
            <a:ext cx="9165545" cy="143111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步骤 4：构建与应用</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23</a:t>
            </a:r>
          </a:p>
        </p:txBody>
      </p:sp>
      <p:sp>
        <p:nvSpPr>
          <p:cNvPr id="9" name="Rounded Rectangle 8"/>
          <p:cNvSpPr/>
          <p:nvPr/>
        </p:nvSpPr>
        <p:spPr>
          <a:xfrm>
            <a:off x="685800" y="196596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1965960"/>
            <a:ext cx="2569464" cy="82296"/>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5528"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31599B"/>
                </a:solidFill>
                <a:latin typeface="微软雅黑"/>
              </a:rPr>
              <a:t>1</a:t>
            </a:r>
          </a:p>
        </p:txBody>
      </p:sp>
      <p:sp>
        <p:nvSpPr>
          <p:cNvPr id="12" name="TextBox 11"/>
          <p:cNvSpPr txBox="1"/>
          <p:nvPr/>
        </p:nvSpPr>
        <p:spPr>
          <a:xfrm>
            <a:off x="1188720" y="213055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31599B"/>
                </a:solidFill>
                <a:latin typeface="微软雅黑"/>
              </a:rPr>
              <a:t>传感器扫描</a:t>
            </a:r>
          </a:p>
        </p:txBody>
      </p:sp>
      <p:sp>
        <p:nvSpPr>
          <p:cNvPr id="13" name="TextBox 12"/>
          <p:cNvSpPr txBox="1"/>
          <p:nvPr/>
        </p:nvSpPr>
        <p:spPr>
          <a:xfrm>
            <a:off x="832104" y="256946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例如 LiDAR 扫描环境</a:t>
            </a:r>
          </a:p>
        </p:txBody>
      </p:sp>
      <p:sp>
        <p:nvSpPr>
          <p:cNvPr id="14" name="Rectangle 13"/>
          <p:cNvSpPr/>
          <p:nvPr/>
        </p:nvSpPr>
        <p:spPr>
          <a:xfrm>
            <a:off x="3291840" y="2551176"/>
            <a:ext cx="128016" cy="256032"/>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456432" y="196596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456432" y="1965960"/>
            <a:ext cx="2569464" cy="82296"/>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566160"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2F8E72"/>
                </a:solidFill>
                <a:latin typeface="微软雅黑"/>
              </a:rPr>
              <a:t>2</a:t>
            </a:r>
          </a:p>
        </p:txBody>
      </p:sp>
      <p:sp>
        <p:nvSpPr>
          <p:cNvPr id="18" name="TextBox 17"/>
          <p:cNvSpPr txBox="1"/>
          <p:nvPr/>
        </p:nvSpPr>
        <p:spPr>
          <a:xfrm>
            <a:off x="3959352" y="213055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2F8E72"/>
                </a:solidFill>
                <a:latin typeface="微软雅黑"/>
              </a:rPr>
              <a:t>栅格更新</a:t>
            </a:r>
          </a:p>
        </p:txBody>
      </p:sp>
      <p:sp>
        <p:nvSpPr>
          <p:cNvPr id="19" name="TextBox 18"/>
          <p:cNvSpPr txBox="1"/>
          <p:nvPr/>
        </p:nvSpPr>
        <p:spPr>
          <a:xfrm>
            <a:off x="3602736" y="256946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依据逆传感器模型更新概率</a:t>
            </a:r>
          </a:p>
        </p:txBody>
      </p:sp>
      <p:sp>
        <p:nvSpPr>
          <p:cNvPr id="20" name="Rectangle 19"/>
          <p:cNvSpPr/>
          <p:nvPr/>
        </p:nvSpPr>
        <p:spPr>
          <a:xfrm>
            <a:off x="6062472" y="2551176"/>
            <a:ext cx="128016" cy="256032"/>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227064" y="196596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27064" y="1965960"/>
            <a:ext cx="2569464" cy="82296"/>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36792"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58A24"/>
                </a:solidFill>
                <a:latin typeface="微软雅黑"/>
              </a:rPr>
              <a:t>3</a:t>
            </a:r>
          </a:p>
        </p:txBody>
      </p:sp>
      <p:sp>
        <p:nvSpPr>
          <p:cNvPr id="24" name="TextBox 23"/>
          <p:cNvSpPr txBox="1"/>
          <p:nvPr/>
        </p:nvSpPr>
        <p:spPr>
          <a:xfrm>
            <a:off x="6729984" y="213055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C58A24"/>
                </a:solidFill>
                <a:latin typeface="微软雅黑"/>
              </a:rPr>
              <a:t>地图维护</a:t>
            </a:r>
          </a:p>
        </p:txBody>
      </p:sp>
      <p:sp>
        <p:nvSpPr>
          <p:cNvPr id="25" name="TextBox 24"/>
          <p:cNvSpPr txBox="1"/>
          <p:nvPr/>
        </p:nvSpPr>
        <p:spPr>
          <a:xfrm>
            <a:off x="6373368" y="256946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持续融合多帧观测</a:t>
            </a:r>
          </a:p>
        </p:txBody>
      </p:sp>
      <p:sp>
        <p:nvSpPr>
          <p:cNvPr id="26" name="Rectangle 25"/>
          <p:cNvSpPr/>
          <p:nvPr/>
        </p:nvSpPr>
        <p:spPr>
          <a:xfrm>
            <a:off x="8833104" y="2551176"/>
            <a:ext cx="128016" cy="256032"/>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8997696" y="196596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997696" y="1965960"/>
            <a:ext cx="2569464" cy="82296"/>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07424"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63F45"/>
                </a:solidFill>
                <a:latin typeface="微软雅黑"/>
              </a:rPr>
              <a:t>4</a:t>
            </a:r>
          </a:p>
        </p:txBody>
      </p:sp>
      <p:sp>
        <p:nvSpPr>
          <p:cNvPr id="30" name="TextBox 29"/>
          <p:cNvSpPr txBox="1"/>
          <p:nvPr/>
        </p:nvSpPr>
        <p:spPr>
          <a:xfrm>
            <a:off x="9500616" y="213055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C63F45"/>
                </a:solidFill>
                <a:latin typeface="微软雅黑"/>
              </a:rPr>
              <a:t>导航使用</a:t>
            </a:r>
          </a:p>
        </p:txBody>
      </p:sp>
      <p:sp>
        <p:nvSpPr>
          <p:cNvPr id="31" name="TextBox 30"/>
          <p:cNvSpPr txBox="1"/>
          <p:nvPr/>
        </p:nvSpPr>
        <p:spPr>
          <a:xfrm>
            <a:off x="9144000" y="256946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碰撞检测 + 路径规划</a:t>
            </a:r>
          </a:p>
        </p:txBody>
      </p:sp>
      <p:sp>
        <p:nvSpPr>
          <p:cNvPr id="32" name="TextBox 31"/>
          <p:cNvSpPr txBox="1"/>
          <p:nvPr/>
        </p:nvSpPr>
        <p:spPr>
          <a:xfrm>
            <a:off x="1143000" y="4297680"/>
            <a:ext cx="9875520" cy="548640"/>
          </a:xfrm>
          <a:prstGeom prst="rect">
            <a:avLst/>
          </a:prstGeom>
          <a:noFill/>
        </p:spPr>
        <p:txBody>
          <a:bodyPr wrap="square" lIns="18288" tIns="18288" rIns="18288" bIns="18288" anchor="t">
            <a:spAutoFit/>
          </a:bodyPr>
          <a:lstStyle/>
          <a:p>
            <a:pPr algn="ctr">
              <a:lnSpc>
                <a:spcPct val="105000"/>
              </a:lnSpc>
            </a:pPr>
            <a:r>
              <a:rPr sz="2400" b="1" i="0">
                <a:solidFill>
                  <a:srgbClr val="24477D"/>
                </a:solidFill>
                <a:latin typeface="微软雅黑"/>
              </a:rPr>
              <a:t>地图不是“一次生成”，而是在机器人运动过程中持续更新。</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6.2.2 拓扑地图：用“节点-边”抽象空间</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24</a:t>
            </a:r>
          </a:p>
        </p:txBody>
      </p:sp>
      <p:sp>
        <p:nvSpPr>
          <p:cNvPr id="9" name="TextBox 8"/>
          <p:cNvSpPr txBox="1"/>
          <p:nvPr/>
        </p:nvSpPr>
        <p:spPr>
          <a:xfrm>
            <a:off x="685800" y="1783080"/>
            <a:ext cx="5715000" cy="3361818"/>
          </a:xfrm>
          <a:prstGeom prst="rect">
            <a:avLst/>
          </a:prstGeom>
          <a:noFill/>
        </p:spPr>
        <p:txBody>
          <a:bodyPr wrap="square" lIns="18288" tIns="18288" rIns="18288" bIns="18288">
            <a:spAutoFit/>
          </a:bodyPr>
          <a:lstStyle/>
          <a:p>
            <a:pPr>
              <a:lnSpc>
                <a:spcPct val="115000"/>
              </a:lnSpc>
              <a:spcAft>
                <a:spcPts val="1000"/>
              </a:spcAft>
              <a:defRPr sz="1800">
                <a:solidFill>
                  <a:srgbClr val="222833"/>
                </a:solidFill>
                <a:latin typeface="微软雅黑"/>
              </a:defRPr>
            </a:pPr>
            <a:r>
              <a:rPr sz="2400" dirty="0"/>
              <a:t>• </a:t>
            </a:r>
            <a:r>
              <a:rPr sz="2400" dirty="0" err="1"/>
              <a:t>将环境抽象为图</a:t>
            </a:r>
            <a:r>
              <a:rPr sz="2400" dirty="0"/>
              <a:t> G=(V,E)</a:t>
            </a:r>
          </a:p>
          <a:p>
            <a:pPr>
              <a:lnSpc>
                <a:spcPct val="115000"/>
              </a:lnSpc>
              <a:spcAft>
                <a:spcPts val="1000"/>
              </a:spcAft>
              <a:defRPr sz="1800">
                <a:solidFill>
                  <a:srgbClr val="222833"/>
                </a:solidFill>
                <a:latin typeface="微软雅黑"/>
              </a:defRPr>
            </a:pPr>
            <a:r>
              <a:rPr sz="2400" dirty="0"/>
              <a:t>• </a:t>
            </a:r>
            <a:r>
              <a:rPr sz="2400" dirty="0" err="1"/>
              <a:t>节点</a:t>
            </a:r>
            <a:r>
              <a:rPr sz="2400" dirty="0"/>
              <a:t> </a:t>
            </a:r>
            <a:r>
              <a:rPr sz="2400" dirty="0" err="1"/>
              <a:t>V：关键地点或地标，例如房间、路口</a:t>
            </a:r>
            <a:endParaRPr sz="2400" dirty="0"/>
          </a:p>
          <a:p>
            <a:pPr>
              <a:lnSpc>
                <a:spcPct val="115000"/>
              </a:lnSpc>
              <a:spcAft>
                <a:spcPts val="1000"/>
              </a:spcAft>
              <a:defRPr sz="1800">
                <a:solidFill>
                  <a:srgbClr val="222833"/>
                </a:solidFill>
                <a:latin typeface="微软雅黑"/>
              </a:defRPr>
            </a:pPr>
            <a:r>
              <a:rPr sz="2400" dirty="0"/>
              <a:t>• 边 </a:t>
            </a:r>
            <a:r>
              <a:rPr sz="2400" dirty="0" err="1"/>
              <a:t>E：节点之间可通行路径，可附加距离、代价、方向约束</a:t>
            </a:r>
            <a:endParaRPr sz="2400" dirty="0"/>
          </a:p>
          <a:p>
            <a:pPr>
              <a:lnSpc>
                <a:spcPct val="115000"/>
              </a:lnSpc>
              <a:spcAft>
                <a:spcPts val="1000"/>
              </a:spcAft>
              <a:defRPr sz="1800">
                <a:solidFill>
                  <a:srgbClr val="222833"/>
                </a:solidFill>
                <a:latin typeface="微软雅黑"/>
              </a:defRPr>
            </a:pPr>
            <a:r>
              <a:rPr sz="2400" dirty="0"/>
              <a:t>• 关注“</a:t>
            </a:r>
            <a:r>
              <a:rPr sz="2400" dirty="0" err="1"/>
              <a:t>连通关系</a:t>
            </a:r>
            <a:r>
              <a:rPr sz="2400" dirty="0"/>
              <a:t>”，</a:t>
            </a:r>
            <a:r>
              <a:rPr sz="2400" dirty="0" err="1"/>
              <a:t>不强调精确度量坐标</a:t>
            </a:r>
            <a:endParaRPr sz="2400" dirty="0"/>
          </a:p>
        </p:txBody>
      </p:sp>
      <p:pic>
        <p:nvPicPr>
          <p:cNvPr id="10" name="Picture 9" descr="fig4.png"/>
          <p:cNvPicPr>
            <a:picLocks noChangeAspect="1"/>
          </p:cNvPicPr>
          <p:nvPr/>
        </p:nvPicPr>
        <p:blipFill>
          <a:blip r:embed="rId2"/>
          <a:stretch>
            <a:fillRect/>
          </a:stretch>
        </p:blipFill>
        <p:spPr>
          <a:xfrm>
            <a:off x="6629400" y="2029968"/>
            <a:ext cx="4983480" cy="2095326"/>
          </a:xfrm>
          <a:prstGeom prst="rect">
            <a:avLst/>
          </a:prstGeom>
        </p:spPr>
      </p:pic>
      <p:sp>
        <p:nvSpPr>
          <p:cNvPr id="11" name="TextBox 10"/>
          <p:cNvSpPr txBox="1"/>
          <p:nvPr/>
        </p:nvSpPr>
        <p:spPr>
          <a:xfrm>
            <a:off x="6575283" y="4381283"/>
            <a:ext cx="4983480" cy="234103"/>
          </a:xfrm>
          <a:prstGeom prst="rect">
            <a:avLst/>
          </a:prstGeom>
          <a:noFill/>
        </p:spPr>
        <p:txBody>
          <a:bodyPr wrap="square" lIns="18288" tIns="18288" rIns="18288" bIns="18288" anchor="t">
            <a:spAutoFit/>
          </a:bodyPr>
          <a:lstStyle/>
          <a:p>
            <a:pPr algn="ctr">
              <a:lnSpc>
                <a:spcPct val="105000"/>
              </a:lnSpc>
            </a:pPr>
            <a:r>
              <a:rPr sz="1300" b="1" i="0" dirty="0" err="1">
                <a:solidFill>
                  <a:srgbClr val="24477D"/>
                </a:solidFill>
                <a:latin typeface="微软雅黑"/>
              </a:rPr>
              <a:t>拓扑地图</a:t>
            </a:r>
            <a:endParaRPr sz="1300" b="1" i="0" dirty="0">
              <a:solidFill>
                <a:srgbClr val="24477D"/>
              </a:solidFill>
              <a:latin typeface="微软雅黑"/>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拓扑地图构建：三个典型步骤</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25</a:t>
            </a:r>
          </a:p>
        </p:txBody>
      </p:sp>
      <p:sp>
        <p:nvSpPr>
          <p:cNvPr id="9" name="Rounded Rectangle 8"/>
          <p:cNvSpPr/>
          <p:nvPr/>
        </p:nvSpPr>
        <p:spPr>
          <a:xfrm>
            <a:off x="685800" y="1965960"/>
            <a:ext cx="3493008"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1965960"/>
            <a:ext cx="3493008" cy="82296"/>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5528"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31599B"/>
                </a:solidFill>
                <a:latin typeface="微软雅黑"/>
              </a:rPr>
              <a:t>1</a:t>
            </a:r>
          </a:p>
        </p:txBody>
      </p:sp>
      <p:sp>
        <p:nvSpPr>
          <p:cNvPr id="12" name="TextBox 11"/>
          <p:cNvSpPr txBox="1"/>
          <p:nvPr/>
        </p:nvSpPr>
        <p:spPr>
          <a:xfrm>
            <a:off x="1188720" y="2130552"/>
            <a:ext cx="2871216" cy="329184"/>
          </a:xfrm>
          <a:prstGeom prst="rect">
            <a:avLst/>
          </a:prstGeom>
          <a:noFill/>
        </p:spPr>
        <p:txBody>
          <a:bodyPr wrap="square" lIns="18288" tIns="18288" rIns="18288" bIns="18288" anchor="t">
            <a:spAutoFit/>
          </a:bodyPr>
          <a:lstStyle/>
          <a:p>
            <a:pPr algn="l">
              <a:lnSpc>
                <a:spcPct val="105000"/>
              </a:lnSpc>
            </a:pPr>
            <a:r>
              <a:rPr sz="1900" b="1" i="0">
                <a:solidFill>
                  <a:srgbClr val="31599B"/>
                </a:solidFill>
                <a:latin typeface="微软雅黑"/>
              </a:rPr>
              <a:t>节点提取</a:t>
            </a:r>
          </a:p>
        </p:txBody>
      </p:sp>
      <p:sp>
        <p:nvSpPr>
          <p:cNvPr id="13" name="TextBox 12"/>
          <p:cNvSpPr txBox="1"/>
          <p:nvPr/>
        </p:nvSpPr>
        <p:spPr>
          <a:xfrm>
            <a:off x="832104" y="2569464"/>
            <a:ext cx="3200400"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从度量地图或传感器数据提取关键地点</a:t>
            </a:r>
          </a:p>
        </p:txBody>
      </p:sp>
      <p:sp>
        <p:nvSpPr>
          <p:cNvPr id="14" name="Rectangle 13"/>
          <p:cNvSpPr/>
          <p:nvPr/>
        </p:nvSpPr>
        <p:spPr>
          <a:xfrm>
            <a:off x="4215384" y="2551176"/>
            <a:ext cx="128016" cy="256032"/>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379976" y="1965960"/>
            <a:ext cx="3493008"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379976" y="1965960"/>
            <a:ext cx="3493008" cy="82296"/>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89704"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2F8E72"/>
                </a:solidFill>
                <a:latin typeface="微软雅黑"/>
              </a:rPr>
              <a:t>2</a:t>
            </a:r>
          </a:p>
        </p:txBody>
      </p:sp>
      <p:sp>
        <p:nvSpPr>
          <p:cNvPr id="18" name="TextBox 17"/>
          <p:cNvSpPr txBox="1"/>
          <p:nvPr/>
        </p:nvSpPr>
        <p:spPr>
          <a:xfrm>
            <a:off x="4882896" y="2130552"/>
            <a:ext cx="2871216" cy="329184"/>
          </a:xfrm>
          <a:prstGeom prst="rect">
            <a:avLst/>
          </a:prstGeom>
          <a:noFill/>
        </p:spPr>
        <p:txBody>
          <a:bodyPr wrap="square" lIns="18288" tIns="18288" rIns="18288" bIns="18288" anchor="t">
            <a:spAutoFit/>
          </a:bodyPr>
          <a:lstStyle/>
          <a:p>
            <a:pPr algn="l">
              <a:lnSpc>
                <a:spcPct val="105000"/>
              </a:lnSpc>
            </a:pPr>
            <a:r>
              <a:rPr sz="1900" b="1" i="0">
                <a:solidFill>
                  <a:srgbClr val="2F8E72"/>
                </a:solidFill>
                <a:latin typeface="微软雅黑"/>
              </a:rPr>
              <a:t>边构建与标注</a:t>
            </a:r>
          </a:p>
        </p:txBody>
      </p:sp>
      <p:sp>
        <p:nvSpPr>
          <p:cNvPr id="19" name="TextBox 18"/>
          <p:cNvSpPr txBox="1"/>
          <p:nvPr/>
        </p:nvSpPr>
        <p:spPr>
          <a:xfrm>
            <a:off x="4526280" y="2569464"/>
            <a:ext cx="3200400"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依据轨迹/可行性建立连边，并附加距离、代价、方向</a:t>
            </a:r>
          </a:p>
        </p:txBody>
      </p:sp>
      <p:sp>
        <p:nvSpPr>
          <p:cNvPr id="20" name="Rectangle 19"/>
          <p:cNvSpPr/>
          <p:nvPr/>
        </p:nvSpPr>
        <p:spPr>
          <a:xfrm>
            <a:off x="7909559" y="2551176"/>
            <a:ext cx="128016" cy="256032"/>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074152" y="1965960"/>
            <a:ext cx="3493008"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074152" y="1965960"/>
            <a:ext cx="3493008" cy="82296"/>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83879"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58A24"/>
                </a:solidFill>
                <a:latin typeface="微软雅黑"/>
              </a:rPr>
              <a:t>3</a:t>
            </a:r>
          </a:p>
        </p:txBody>
      </p:sp>
      <p:sp>
        <p:nvSpPr>
          <p:cNvPr id="24" name="TextBox 23"/>
          <p:cNvSpPr txBox="1"/>
          <p:nvPr/>
        </p:nvSpPr>
        <p:spPr>
          <a:xfrm>
            <a:off x="8577072" y="2130552"/>
            <a:ext cx="2871216" cy="329184"/>
          </a:xfrm>
          <a:prstGeom prst="rect">
            <a:avLst/>
          </a:prstGeom>
          <a:noFill/>
        </p:spPr>
        <p:txBody>
          <a:bodyPr wrap="square" lIns="18288" tIns="18288" rIns="18288" bIns="18288" anchor="t">
            <a:spAutoFit/>
          </a:bodyPr>
          <a:lstStyle/>
          <a:p>
            <a:pPr algn="l">
              <a:lnSpc>
                <a:spcPct val="105000"/>
              </a:lnSpc>
            </a:pPr>
            <a:r>
              <a:rPr sz="1900" b="1" i="0">
                <a:solidFill>
                  <a:srgbClr val="C58A24"/>
                </a:solidFill>
                <a:latin typeface="微软雅黑"/>
              </a:rPr>
              <a:t>图优化与闭环</a:t>
            </a:r>
          </a:p>
        </p:txBody>
      </p:sp>
      <p:sp>
        <p:nvSpPr>
          <p:cNvPr id="25" name="TextBox 24"/>
          <p:cNvSpPr txBox="1"/>
          <p:nvPr/>
        </p:nvSpPr>
        <p:spPr>
          <a:xfrm>
            <a:off x="8220456" y="2569464"/>
            <a:ext cx="3200400"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利用回环检测和位姿图优化消除累积误差</a:t>
            </a:r>
          </a:p>
        </p:txBody>
      </p:sp>
      <p:sp>
        <p:nvSpPr>
          <p:cNvPr id="26" name="TextBox 25"/>
          <p:cNvSpPr txBox="1"/>
          <p:nvPr/>
        </p:nvSpPr>
        <p:spPr>
          <a:xfrm>
            <a:off x="1143000" y="4160520"/>
            <a:ext cx="9875520" cy="548640"/>
          </a:xfrm>
          <a:prstGeom prst="rect">
            <a:avLst/>
          </a:prstGeom>
          <a:noFill/>
        </p:spPr>
        <p:txBody>
          <a:bodyPr wrap="square" lIns="18288" tIns="18288" rIns="18288" bIns="18288" anchor="t">
            <a:spAutoFit/>
          </a:bodyPr>
          <a:lstStyle/>
          <a:p>
            <a:pPr algn="ctr">
              <a:lnSpc>
                <a:spcPct val="105000"/>
              </a:lnSpc>
            </a:pPr>
            <a:r>
              <a:rPr sz="2400" b="1" i="0">
                <a:solidFill>
                  <a:srgbClr val="24477D"/>
                </a:solidFill>
                <a:latin typeface="微软雅黑"/>
              </a:rPr>
              <a:t>本质：把大规模几何空间压缩成适合长距离规划的“关系图”。</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拓扑地图：优点、局限与混合表示</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26</a:t>
            </a:r>
          </a:p>
        </p:txBody>
      </p:sp>
      <p:sp>
        <p:nvSpPr>
          <p:cNvPr id="9" name="Rounded Rectangle 8"/>
          <p:cNvSpPr/>
          <p:nvPr/>
        </p:nvSpPr>
        <p:spPr>
          <a:xfrm>
            <a:off x="685800" y="1828800"/>
            <a:ext cx="5230368" cy="237744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1828800"/>
            <a:ext cx="77724" cy="237744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5256" y="201168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优势</a:t>
            </a:r>
          </a:p>
        </p:txBody>
      </p:sp>
      <p:sp>
        <p:nvSpPr>
          <p:cNvPr id="12" name="TextBox 11"/>
          <p:cNvSpPr txBox="1"/>
          <p:nvPr/>
        </p:nvSpPr>
        <p:spPr>
          <a:xfrm>
            <a:off x="905256" y="2487168"/>
            <a:ext cx="4846320" cy="1591056"/>
          </a:xfrm>
          <a:prstGeom prst="rect">
            <a:avLst/>
          </a:prstGeom>
          <a:noFill/>
        </p:spPr>
        <p:txBody>
          <a:bodyPr wrap="square" lIns="18288" tIns="18288" rIns="18288" bIns="18288" anchor="t">
            <a:spAutoFit/>
          </a:bodyPr>
          <a:lstStyle/>
          <a:p>
            <a:pPr algn="l">
              <a:lnSpc>
                <a:spcPct val="110000"/>
              </a:lnSpc>
            </a:pPr>
            <a:r>
              <a:rPr sz="1900" b="0" i="0">
                <a:solidFill>
                  <a:srgbClr val="222833"/>
                </a:solidFill>
                <a:latin typeface="微软雅黑"/>
              </a:rPr>
              <a:t>存储占用小、计算高效，特别适合大规模环境中的长距离导航和层次化规划。</a:t>
            </a:r>
          </a:p>
        </p:txBody>
      </p:sp>
      <p:sp>
        <p:nvSpPr>
          <p:cNvPr id="13" name="Rounded Rectangle 12"/>
          <p:cNvSpPr/>
          <p:nvPr/>
        </p:nvSpPr>
        <p:spPr>
          <a:xfrm>
            <a:off x="6199632" y="1828800"/>
            <a:ext cx="5230368" cy="237744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99632" y="1828800"/>
            <a:ext cx="77724" cy="237744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19088" y="201168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C63F45"/>
                </a:solidFill>
                <a:latin typeface="微软雅黑"/>
              </a:rPr>
              <a:t>局限</a:t>
            </a:r>
          </a:p>
        </p:txBody>
      </p:sp>
      <p:sp>
        <p:nvSpPr>
          <p:cNvPr id="16" name="TextBox 15"/>
          <p:cNvSpPr txBox="1"/>
          <p:nvPr/>
        </p:nvSpPr>
        <p:spPr>
          <a:xfrm>
            <a:off x="6419088" y="2487168"/>
            <a:ext cx="4846320" cy="1591056"/>
          </a:xfrm>
          <a:prstGeom prst="rect">
            <a:avLst/>
          </a:prstGeom>
          <a:noFill/>
        </p:spPr>
        <p:txBody>
          <a:bodyPr wrap="square" lIns="18288" tIns="18288" rIns="18288" bIns="18288" anchor="t">
            <a:spAutoFit/>
          </a:bodyPr>
          <a:lstStyle/>
          <a:p>
            <a:pPr algn="l">
              <a:lnSpc>
                <a:spcPct val="110000"/>
              </a:lnSpc>
            </a:pPr>
            <a:r>
              <a:rPr sz="1900" b="0" i="0">
                <a:solidFill>
                  <a:srgbClr val="222833"/>
                </a:solidFill>
                <a:latin typeface="微软雅黑"/>
              </a:rPr>
              <a:t>缺乏精确几何信息，无法直接用于精细运动规划。</a:t>
            </a:r>
          </a:p>
        </p:txBody>
      </p:sp>
      <p:sp>
        <p:nvSpPr>
          <p:cNvPr id="17" name="Rounded Rectangle 16"/>
          <p:cNvSpPr/>
          <p:nvPr/>
        </p:nvSpPr>
        <p:spPr>
          <a:xfrm>
            <a:off x="1828800" y="4572000"/>
            <a:ext cx="8503920" cy="1143000"/>
          </a:xfrm>
          <a:prstGeom prst="roundRect">
            <a:avLst/>
          </a:prstGeom>
          <a:solidFill>
            <a:srgbClr val="EDF2FA"/>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828800" y="4572000"/>
            <a:ext cx="77724" cy="1143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048256" y="4754880"/>
            <a:ext cx="8092440" cy="384048"/>
          </a:xfrm>
          <a:prstGeom prst="rect">
            <a:avLst/>
          </a:prstGeom>
          <a:noFill/>
        </p:spPr>
        <p:txBody>
          <a:bodyPr wrap="square" lIns="18288" tIns="18288" rIns="18288" bIns="18288" anchor="t">
            <a:spAutoFit/>
          </a:bodyPr>
          <a:lstStyle/>
          <a:p>
            <a:pPr algn="l">
              <a:lnSpc>
                <a:spcPct val="105000"/>
              </a:lnSpc>
            </a:pPr>
            <a:r>
              <a:rPr sz="2000" b="1" i="0">
                <a:solidFill>
                  <a:srgbClr val="31599B"/>
                </a:solidFill>
                <a:latin typeface="微软雅黑"/>
              </a:rPr>
              <a:t>度量-拓扑混合地图</a:t>
            </a:r>
          </a:p>
        </p:txBody>
      </p:sp>
      <p:sp>
        <p:nvSpPr>
          <p:cNvPr id="20" name="TextBox 19"/>
          <p:cNvSpPr txBox="1"/>
          <p:nvPr/>
        </p:nvSpPr>
        <p:spPr>
          <a:xfrm>
            <a:off x="2048256" y="5230368"/>
            <a:ext cx="8119872" cy="35661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先在拓扑层选择目标房间/区域，再切换到度量地图进行精细避障与局部规划。</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6.2.3 语义地图：从“几何空间”升级为“知识表示”</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27</a:t>
            </a:r>
          </a:p>
        </p:txBody>
      </p:sp>
      <p:sp>
        <p:nvSpPr>
          <p:cNvPr id="10" name="TextBox 9"/>
          <p:cNvSpPr txBox="1"/>
          <p:nvPr/>
        </p:nvSpPr>
        <p:spPr>
          <a:xfrm>
            <a:off x="604470" y="4856866"/>
            <a:ext cx="5212080" cy="234103"/>
          </a:xfrm>
          <a:prstGeom prst="rect">
            <a:avLst/>
          </a:prstGeom>
          <a:noFill/>
        </p:spPr>
        <p:txBody>
          <a:bodyPr wrap="square" lIns="18288" tIns="18288" rIns="18288" bIns="18288" anchor="t">
            <a:spAutoFit/>
          </a:bodyPr>
          <a:lstStyle/>
          <a:p>
            <a:pPr algn="ctr">
              <a:lnSpc>
                <a:spcPct val="105000"/>
              </a:lnSpc>
            </a:pPr>
            <a:r>
              <a:rPr sz="1300" b="1" i="0" dirty="0" err="1">
                <a:solidFill>
                  <a:srgbClr val="24477D"/>
                </a:solidFill>
                <a:latin typeface="微软雅黑"/>
              </a:rPr>
              <a:t>语义地图</a:t>
            </a:r>
            <a:endParaRPr sz="1300" b="1" i="0" dirty="0">
              <a:solidFill>
                <a:srgbClr val="24477D"/>
              </a:solidFill>
              <a:latin typeface="微软雅黑"/>
            </a:endParaRPr>
          </a:p>
        </p:txBody>
      </p:sp>
      <p:sp>
        <p:nvSpPr>
          <p:cNvPr id="11" name="TextBox 10"/>
          <p:cNvSpPr txBox="1"/>
          <p:nvPr/>
        </p:nvSpPr>
        <p:spPr>
          <a:xfrm>
            <a:off x="6228184" y="1783080"/>
            <a:ext cx="5018936" cy="3233578"/>
          </a:xfrm>
          <a:prstGeom prst="rect">
            <a:avLst/>
          </a:prstGeom>
          <a:noFill/>
        </p:spPr>
        <p:txBody>
          <a:bodyPr wrap="square" lIns="18288" tIns="18288" rIns="18288" bIns="18288">
            <a:spAutoFit/>
          </a:bodyPr>
          <a:lstStyle/>
          <a:p>
            <a:pPr>
              <a:lnSpc>
                <a:spcPct val="115000"/>
              </a:lnSpc>
              <a:spcAft>
                <a:spcPts val="1000"/>
              </a:spcAft>
              <a:defRPr sz="1800">
                <a:solidFill>
                  <a:srgbClr val="222833"/>
                </a:solidFill>
                <a:latin typeface="微软雅黑"/>
              </a:defRPr>
            </a:pPr>
            <a:r>
              <a:rPr sz="2400" dirty="0"/>
              <a:t>• </a:t>
            </a:r>
            <a:r>
              <a:rPr sz="2400" dirty="0" err="1"/>
              <a:t>在几何地图上叠加对象类别、功能属性与空间关系</a:t>
            </a:r>
            <a:r>
              <a:rPr sz="2400" dirty="0"/>
              <a:t>。</a:t>
            </a:r>
          </a:p>
          <a:p>
            <a:pPr>
              <a:lnSpc>
                <a:spcPct val="115000"/>
              </a:lnSpc>
              <a:spcAft>
                <a:spcPts val="1000"/>
              </a:spcAft>
              <a:defRPr sz="1800">
                <a:solidFill>
                  <a:srgbClr val="222833"/>
                </a:solidFill>
                <a:latin typeface="微软雅黑"/>
              </a:defRPr>
            </a:pPr>
            <a:r>
              <a:rPr sz="2400" dirty="0"/>
              <a:t>• </a:t>
            </a:r>
            <a:r>
              <a:rPr sz="2400" dirty="0" err="1"/>
              <a:t>示例语义：沙发、门、桌子；可通行、可交互、不可进入</a:t>
            </a:r>
            <a:r>
              <a:rPr sz="2400" dirty="0"/>
              <a:t>；“</a:t>
            </a:r>
            <a:r>
              <a:rPr sz="2400" dirty="0" err="1"/>
              <a:t>沙发左侧是茶几</a:t>
            </a:r>
            <a:r>
              <a:rPr sz="2400" dirty="0"/>
              <a:t>”。</a:t>
            </a:r>
          </a:p>
          <a:p>
            <a:pPr>
              <a:lnSpc>
                <a:spcPct val="115000"/>
              </a:lnSpc>
              <a:spcAft>
                <a:spcPts val="1000"/>
              </a:spcAft>
              <a:defRPr sz="1800">
                <a:solidFill>
                  <a:srgbClr val="222833"/>
                </a:solidFill>
                <a:latin typeface="微软雅黑"/>
              </a:defRPr>
            </a:pPr>
            <a:r>
              <a:rPr sz="2400" dirty="0"/>
              <a:t>• </a:t>
            </a:r>
            <a:r>
              <a:rPr sz="2400" dirty="0" err="1"/>
              <a:t>支持“去厨房”这类语义级目标，而不仅是具体坐标</a:t>
            </a:r>
            <a:r>
              <a:rPr sz="2400" dirty="0"/>
              <a:t>。</a:t>
            </a:r>
          </a:p>
        </p:txBody>
      </p:sp>
      <p:pic>
        <p:nvPicPr>
          <p:cNvPr id="12" name="图片 11">
            <a:extLst>
              <a:ext uri="{FF2B5EF4-FFF2-40B4-BE49-F238E27FC236}">
                <a16:creationId xmlns:a16="http://schemas.microsoft.com/office/drawing/2014/main" id="{55DC6883-E164-D721-2A15-A133CF33E33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3107" y="2118383"/>
            <a:ext cx="4896911" cy="256297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语义地图构建：感知 → 融合 → 推理</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28</a:t>
            </a:r>
          </a:p>
        </p:txBody>
      </p:sp>
      <p:sp>
        <p:nvSpPr>
          <p:cNvPr id="9" name="Rounded Rectangle 8"/>
          <p:cNvSpPr/>
          <p:nvPr/>
        </p:nvSpPr>
        <p:spPr>
          <a:xfrm>
            <a:off x="685800" y="1965960"/>
            <a:ext cx="3493008"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1965960"/>
            <a:ext cx="3493008" cy="82296"/>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5528"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31599B"/>
                </a:solidFill>
                <a:latin typeface="微软雅黑"/>
              </a:rPr>
              <a:t>1</a:t>
            </a:r>
          </a:p>
        </p:txBody>
      </p:sp>
      <p:sp>
        <p:nvSpPr>
          <p:cNvPr id="12" name="TextBox 11"/>
          <p:cNvSpPr txBox="1"/>
          <p:nvPr/>
        </p:nvSpPr>
        <p:spPr>
          <a:xfrm>
            <a:off x="1188720" y="2130552"/>
            <a:ext cx="2871216" cy="329184"/>
          </a:xfrm>
          <a:prstGeom prst="rect">
            <a:avLst/>
          </a:prstGeom>
          <a:noFill/>
        </p:spPr>
        <p:txBody>
          <a:bodyPr wrap="square" lIns="18288" tIns="18288" rIns="18288" bIns="18288" anchor="t">
            <a:spAutoFit/>
          </a:bodyPr>
          <a:lstStyle/>
          <a:p>
            <a:pPr algn="l">
              <a:lnSpc>
                <a:spcPct val="105000"/>
              </a:lnSpc>
            </a:pPr>
            <a:r>
              <a:rPr sz="1900" b="1" i="0">
                <a:solidFill>
                  <a:srgbClr val="31599B"/>
                </a:solidFill>
                <a:latin typeface="微软雅黑"/>
              </a:rPr>
              <a:t>语义感知</a:t>
            </a:r>
          </a:p>
        </p:txBody>
      </p:sp>
      <p:sp>
        <p:nvSpPr>
          <p:cNvPr id="13" name="TextBox 12"/>
          <p:cNvSpPr txBox="1"/>
          <p:nvPr/>
        </p:nvSpPr>
        <p:spPr>
          <a:xfrm>
            <a:off x="832104" y="2569464"/>
            <a:ext cx="3200400"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语义分割、实例分割、视觉-语言模型标注 RGB-D/点云</a:t>
            </a:r>
          </a:p>
        </p:txBody>
      </p:sp>
      <p:sp>
        <p:nvSpPr>
          <p:cNvPr id="14" name="Rectangle 13"/>
          <p:cNvSpPr/>
          <p:nvPr/>
        </p:nvSpPr>
        <p:spPr>
          <a:xfrm>
            <a:off x="4215384" y="2551176"/>
            <a:ext cx="128016" cy="256032"/>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379976" y="1965960"/>
            <a:ext cx="3493008"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379976" y="1965960"/>
            <a:ext cx="3493008" cy="82296"/>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89704"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2F8E72"/>
                </a:solidFill>
                <a:latin typeface="微软雅黑"/>
              </a:rPr>
              <a:t>2</a:t>
            </a:r>
          </a:p>
        </p:txBody>
      </p:sp>
      <p:sp>
        <p:nvSpPr>
          <p:cNvPr id="18" name="TextBox 17"/>
          <p:cNvSpPr txBox="1"/>
          <p:nvPr/>
        </p:nvSpPr>
        <p:spPr>
          <a:xfrm>
            <a:off x="4882896" y="2130552"/>
            <a:ext cx="2871216" cy="329184"/>
          </a:xfrm>
          <a:prstGeom prst="rect">
            <a:avLst/>
          </a:prstGeom>
          <a:noFill/>
        </p:spPr>
        <p:txBody>
          <a:bodyPr wrap="square" lIns="18288" tIns="18288" rIns="18288" bIns="18288" anchor="t">
            <a:spAutoFit/>
          </a:bodyPr>
          <a:lstStyle/>
          <a:p>
            <a:pPr algn="l">
              <a:lnSpc>
                <a:spcPct val="105000"/>
              </a:lnSpc>
            </a:pPr>
            <a:r>
              <a:rPr sz="1900" b="1" i="0">
                <a:solidFill>
                  <a:srgbClr val="2F8E72"/>
                </a:solidFill>
                <a:latin typeface="微软雅黑"/>
              </a:rPr>
              <a:t>语义-几何融合</a:t>
            </a:r>
          </a:p>
        </p:txBody>
      </p:sp>
      <p:sp>
        <p:nvSpPr>
          <p:cNvPr id="19" name="TextBox 18"/>
          <p:cNvSpPr txBox="1"/>
          <p:nvPr/>
        </p:nvSpPr>
        <p:spPr>
          <a:xfrm>
            <a:off x="4526280" y="2569464"/>
            <a:ext cx="3200400"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体素级、点云级或对象级场景图</a:t>
            </a:r>
          </a:p>
        </p:txBody>
      </p:sp>
      <p:sp>
        <p:nvSpPr>
          <p:cNvPr id="20" name="Rectangle 19"/>
          <p:cNvSpPr/>
          <p:nvPr/>
        </p:nvSpPr>
        <p:spPr>
          <a:xfrm>
            <a:off x="7909559" y="2551176"/>
            <a:ext cx="128016" cy="256032"/>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074152" y="1965960"/>
            <a:ext cx="3493008"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074152" y="1965960"/>
            <a:ext cx="3493008" cy="82296"/>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83879"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58A24"/>
                </a:solidFill>
                <a:latin typeface="微软雅黑"/>
              </a:rPr>
              <a:t>3</a:t>
            </a:r>
          </a:p>
        </p:txBody>
      </p:sp>
      <p:sp>
        <p:nvSpPr>
          <p:cNvPr id="24" name="TextBox 23"/>
          <p:cNvSpPr txBox="1"/>
          <p:nvPr/>
        </p:nvSpPr>
        <p:spPr>
          <a:xfrm>
            <a:off x="8577072" y="2130552"/>
            <a:ext cx="2871216" cy="329184"/>
          </a:xfrm>
          <a:prstGeom prst="rect">
            <a:avLst/>
          </a:prstGeom>
          <a:noFill/>
        </p:spPr>
        <p:txBody>
          <a:bodyPr wrap="square" lIns="18288" tIns="18288" rIns="18288" bIns="18288" anchor="t">
            <a:spAutoFit/>
          </a:bodyPr>
          <a:lstStyle/>
          <a:p>
            <a:pPr algn="l">
              <a:lnSpc>
                <a:spcPct val="105000"/>
              </a:lnSpc>
            </a:pPr>
            <a:r>
              <a:rPr sz="1900" b="1" i="0">
                <a:solidFill>
                  <a:srgbClr val="C58A24"/>
                </a:solidFill>
                <a:latin typeface="微软雅黑"/>
              </a:rPr>
              <a:t>动态维护与推理</a:t>
            </a:r>
          </a:p>
        </p:txBody>
      </p:sp>
      <p:sp>
        <p:nvSpPr>
          <p:cNvPr id="25" name="TextBox 24"/>
          <p:cNvSpPr txBox="1"/>
          <p:nvPr/>
        </p:nvSpPr>
        <p:spPr>
          <a:xfrm>
            <a:off x="8220456" y="2569464"/>
            <a:ext cx="3200400"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多帧融合 + 知识图谱，维护时序一致性</a:t>
            </a:r>
          </a:p>
        </p:txBody>
      </p:sp>
      <p:sp>
        <p:nvSpPr>
          <p:cNvPr id="26" name="TextBox 25"/>
          <p:cNvSpPr txBox="1"/>
          <p:nvPr/>
        </p:nvSpPr>
        <p:spPr>
          <a:xfrm>
            <a:off x="1051560" y="4206240"/>
            <a:ext cx="10058400" cy="594360"/>
          </a:xfrm>
          <a:prstGeom prst="rect">
            <a:avLst/>
          </a:prstGeom>
          <a:noFill/>
        </p:spPr>
        <p:txBody>
          <a:bodyPr wrap="square" lIns="18288" tIns="18288" rIns="18288" bIns="18288" anchor="t">
            <a:spAutoFit/>
          </a:bodyPr>
          <a:lstStyle/>
          <a:p>
            <a:pPr algn="ctr">
              <a:lnSpc>
                <a:spcPct val="105000"/>
              </a:lnSpc>
            </a:pPr>
            <a:r>
              <a:rPr sz="2400" b="1" i="0">
                <a:solidFill>
                  <a:srgbClr val="24477D"/>
                </a:solidFill>
                <a:latin typeface="微软雅黑"/>
              </a:rPr>
              <a:t>语义地图让导航从“到坐标”走向“到对象/房间/功能区”。</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语义地图：能力与局限</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29</a:t>
            </a:r>
          </a:p>
        </p:txBody>
      </p:sp>
      <p:sp>
        <p:nvSpPr>
          <p:cNvPr id="9" name="Rounded Rectangle 8"/>
          <p:cNvSpPr/>
          <p:nvPr/>
        </p:nvSpPr>
        <p:spPr>
          <a:xfrm>
            <a:off x="640080" y="1600200"/>
            <a:ext cx="5349240" cy="20574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1600200"/>
            <a:ext cx="77724" cy="20574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1783080"/>
            <a:ext cx="4937759"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语义级决策</a:t>
            </a:r>
          </a:p>
        </p:txBody>
      </p:sp>
      <p:sp>
        <p:nvSpPr>
          <p:cNvPr id="12" name="TextBox 11"/>
          <p:cNvSpPr txBox="1"/>
          <p:nvPr/>
        </p:nvSpPr>
        <p:spPr>
          <a:xfrm>
            <a:off x="859536" y="2258568"/>
            <a:ext cx="4965192" cy="1271016"/>
          </a:xfrm>
          <a:prstGeom prst="rect">
            <a:avLst/>
          </a:prstGeom>
          <a:noFill/>
        </p:spPr>
        <p:txBody>
          <a:bodyPr wrap="square" lIns="18288" tIns="18288" rIns="18288" bIns="18288" anchor="t">
            <a:spAutoFit/>
          </a:bodyPr>
          <a:lstStyle/>
          <a:p>
            <a:pPr algn="l">
              <a:lnSpc>
                <a:spcPct val="110000"/>
              </a:lnSpc>
            </a:pPr>
            <a:r>
              <a:rPr sz="1700" b="0" i="0">
                <a:solidFill>
                  <a:srgbClr val="222833"/>
                </a:solidFill>
                <a:latin typeface="微软雅黑"/>
              </a:rPr>
              <a:t>支持“去厨房”“到沙发旁”等自然语言目标。</a:t>
            </a:r>
          </a:p>
        </p:txBody>
      </p:sp>
      <p:sp>
        <p:nvSpPr>
          <p:cNvPr id="13" name="Rounded Rectangle 12"/>
          <p:cNvSpPr/>
          <p:nvPr/>
        </p:nvSpPr>
        <p:spPr>
          <a:xfrm>
            <a:off x="6172200" y="1600200"/>
            <a:ext cx="5349240" cy="20574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72200" y="1600200"/>
            <a:ext cx="77724" cy="205740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91656" y="1783080"/>
            <a:ext cx="4937759"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动态行为预测</a:t>
            </a:r>
          </a:p>
        </p:txBody>
      </p:sp>
      <p:sp>
        <p:nvSpPr>
          <p:cNvPr id="16" name="TextBox 15"/>
          <p:cNvSpPr txBox="1"/>
          <p:nvPr/>
        </p:nvSpPr>
        <p:spPr>
          <a:xfrm>
            <a:off x="6391656" y="2258568"/>
            <a:ext cx="4965192" cy="1271016"/>
          </a:xfrm>
          <a:prstGeom prst="rect">
            <a:avLst/>
          </a:prstGeom>
          <a:noFill/>
        </p:spPr>
        <p:txBody>
          <a:bodyPr wrap="square" lIns="18288" tIns="18288" rIns="18288" bIns="18288" anchor="t">
            <a:spAutoFit/>
          </a:bodyPr>
          <a:lstStyle/>
          <a:p>
            <a:pPr algn="l">
              <a:lnSpc>
                <a:spcPct val="110000"/>
              </a:lnSpc>
            </a:pPr>
            <a:r>
              <a:rPr sz="1700" b="0" i="0">
                <a:solidFill>
                  <a:srgbClr val="222833"/>
                </a:solidFill>
                <a:latin typeface="微软雅黑"/>
              </a:rPr>
              <a:t>可结合语义信息预测行人或移动障碍的行为。</a:t>
            </a:r>
          </a:p>
        </p:txBody>
      </p:sp>
      <p:sp>
        <p:nvSpPr>
          <p:cNvPr id="17" name="Rounded Rectangle 16"/>
          <p:cNvSpPr/>
          <p:nvPr/>
        </p:nvSpPr>
        <p:spPr>
          <a:xfrm>
            <a:off x="640080" y="3931920"/>
            <a:ext cx="5349240" cy="20574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 y="3931920"/>
            <a:ext cx="77724" cy="205740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59536" y="4114800"/>
            <a:ext cx="4937759" cy="384048"/>
          </a:xfrm>
          <a:prstGeom prst="rect">
            <a:avLst/>
          </a:prstGeom>
          <a:noFill/>
        </p:spPr>
        <p:txBody>
          <a:bodyPr wrap="square" lIns="18288" tIns="18288" rIns="18288" bIns="18288" anchor="t">
            <a:spAutoFit/>
          </a:bodyPr>
          <a:lstStyle/>
          <a:p>
            <a:pPr algn="l">
              <a:lnSpc>
                <a:spcPct val="105000"/>
              </a:lnSpc>
            </a:pPr>
            <a:r>
              <a:rPr sz="2200" b="1" i="0">
                <a:solidFill>
                  <a:srgbClr val="C58A24"/>
                </a:solidFill>
                <a:latin typeface="微软雅黑"/>
              </a:rPr>
              <a:t>自然交互</a:t>
            </a:r>
          </a:p>
        </p:txBody>
      </p:sp>
      <p:sp>
        <p:nvSpPr>
          <p:cNvPr id="20" name="TextBox 19"/>
          <p:cNvSpPr txBox="1"/>
          <p:nvPr/>
        </p:nvSpPr>
        <p:spPr>
          <a:xfrm>
            <a:off x="859536" y="4590288"/>
            <a:ext cx="4965192" cy="1271016"/>
          </a:xfrm>
          <a:prstGeom prst="rect">
            <a:avLst/>
          </a:prstGeom>
          <a:noFill/>
        </p:spPr>
        <p:txBody>
          <a:bodyPr wrap="square" lIns="18288" tIns="18288" rIns="18288" bIns="18288" anchor="t">
            <a:spAutoFit/>
          </a:bodyPr>
          <a:lstStyle/>
          <a:p>
            <a:pPr algn="l">
              <a:lnSpc>
                <a:spcPct val="110000"/>
              </a:lnSpc>
            </a:pPr>
            <a:r>
              <a:rPr sz="1700" b="0" i="0">
                <a:solidFill>
                  <a:srgbClr val="222833"/>
                </a:solidFill>
                <a:latin typeface="微软雅黑"/>
              </a:rPr>
              <a:t>与 LLM/VLM 结合，提升语言理解与语义定位能力。</a:t>
            </a:r>
          </a:p>
        </p:txBody>
      </p:sp>
      <p:sp>
        <p:nvSpPr>
          <p:cNvPr id="21" name="Rounded Rectangle 20"/>
          <p:cNvSpPr/>
          <p:nvPr/>
        </p:nvSpPr>
        <p:spPr>
          <a:xfrm>
            <a:off x="6172200" y="3931920"/>
            <a:ext cx="5349240" cy="20574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172200" y="3931920"/>
            <a:ext cx="77724" cy="205740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91656" y="4114800"/>
            <a:ext cx="4937759" cy="384048"/>
          </a:xfrm>
          <a:prstGeom prst="rect">
            <a:avLst/>
          </a:prstGeom>
          <a:noFill/>
        </p:spPr>
        <p:txBody>
          <a:bodyPr wrap="square" lIns="18288" tIns="18288" rIns="18288" bIns="18288" anchor="t">
            <a:spAutoFit/>
          </a:bodyPr>
          <a:lstStyle/>
          <a:p>
            <a:pPr algn="l">
              <a:lnSpc>
                <a:spcPct val="105000"/>
              </a:lnSpc>
            </a:pPr>
            <a:r>
              <a:rPr sz="2200" b="1" i="0">
                <a:solidFill>
                  <a:srgbClr val="C63F45"/>
                </a:solidFill>
                <a:latin typeface="微软雅黑"/>
              </a:rPr>
              <a:t>主要局限</a:t>
            </a:r>
          </a:p>
        </p:txBody>
      </p:sp>
      <p:sp>
        <p:nvSpPr>
          <p:cNvPr id="24" name="TextBox 23"/>
          <p:cNvSpPr txBox="1"/>
          <p:nvPr/>
        </p:nvSpPr>
        <p:spPr>
          <a:xfrm>
            <a:off x="6391656" y="4590288"/>
            <a:ext cx="4965192" cy="1271016"/>
          </a:xfrm>
          <a:prstGeom prst="rect">
            <a:avLst/>
          </a:prstGeom>
          <a:noFill/>
        </p:spPr>
        <p:txBody>
          <a:bodyPr wrap="square" lIns="18288" tIns="18288" rIns="18288" bIns="18288" anchor="t">
            <a:spAutoFit/>
          </a:bodyPr>
          <a:lstStyle/>
          <a:p>
            <a:pPr algn="l">
              <a:lnSpc>
                <a:spcPct val="110000"/>
              </a:lnSpc>
            </a:pPr>
            <a:r>
              <a:rPr sz="1700" b="0" i="0">
                <a:solidFill>
                  <a:srgbClr val="222833"/>
                </a:solidFill>
                <a:latin typeface="微软雅黑"/>
              </a:rPr>
              <a:t>依赖高精度语义感知，对光照、遮挡等噪声敏感。</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dirty="0" err="1">
                <a:solidFill>
                  <a:srgbClr val="24477D"/>
                </a:solidFill>
                <a:latin typeface="微软雅黑"/>
              </a:rPr>
              <a:t>三类环境地图表示对比</a:t>
            </a:r>
            <a:endParaRPr sz="3400" b="1" i="0" dirty="0">
              <a:solidFill>
                <a:srgbClr val="24477D"/>
              </a:solidFill>
              <a:latin typeface="微软雅黑"/>
            </a:endParaRP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30</a:t>
            </a:r>
          </a:p>
        </p:txBody>
      </p:sp>
      <p:sp>
        <p:nvSpPr>
          <p:cNvPr id="9" name="Rectangle 8"/>
          <p:cNvSpPr/>
          <p:nvPr/>
        </p:nvSpPr>
        <p:spPr>
          <a:xfrm>
            <a:off x="658368" y="1783080"/>
            <a:ext cx="1554480" cy="530352"/>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94944" y="1856231"/>
            <a:ext cx="1481328" cy="365760"/>
          </a:xfrm>
          <a:prstGeom prst="rect">
            <a:avLst/>
          </a:prstGeom>
          <a:noFill/>
        </p:spPr>
        <p:txBody>
          <a:bodyPr wrap="square" lIns="18288" tIns="18288" rIns="18288" bIns="18288" anchor="ctr">
            <a:spAutoFit/>
          </a:bodyPr>
          <a:lstStyle/>
          <a:p>
            <a:pPr algn="ctr">
              <a:lnSpc>
                <a:spcPct val="105000"/>
              </a:lnSpc>
            </a:pPr>
            <a:r>
              <a:rPr sz="1600" b="1" i="0">
                <a:solidFill>
                  <a:srgbClr val="FFFFFF"/>
                </a:solidFill>
                <a:latin typeface="微软雅黑"/>
              </a:rPr>
              <a:t>维度</a:t>
            </a:r>
          </a:p>
        </p:txBody>
      </p:sp>
      <p:sp>
        <p:nvSpPr>
          <p:cNvPr id="11" name="Rectangle 10"/>
          <p:cNvSpPr/>
          <p:nvPr/>
        </p:nvSpPr>
        <p:spPr>
          <a:xfrm>
            <a:off x="2212848" y="1783080"/>
            <a:ext cx="3063240" cy="530352"/>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249424" y="1856231"/>
            <a:ext cx="2990088" cy="365760"/>
          </a:xfrm>
          <a:prstGeom prst="rect">
            <a:avLst/>
          </a:prstGeom>
          <a:noFill/>
        </p:spPr>
        <p:txBody>
          <a:bodyPr wrap="square" lIns="18288" tIns="18288" rIns="18288" bIns="18288" anchor="ctr">
            <a:spAutoFit/>
          </a:bodyPr>
          <a:lstStyle/>
          <a:p>
            <a:pPr algn="ctr">
              <a:lnSpc>
                <a:spcPct val="105000"/>
              </a:lnSpc>
            </a:pPr>
            <a:r>
              <a:rPr sz="1600" b="1" i="0">
                <a:solidFill>
                  <a:srgbClr val="FFFFFF"/>
                </a:solidFill>
                <a:latin typeface="微软雅黑"/>
              </a:rPr>
              <a:t>度量地图</a:t>
            </a:r>
          </a:p>
        </p:txBody>
      </p:sp>
      <p:sp>
        <p:nvSpPr>
          <p:cNvPr id="13" name="Rectangle 12"/>
          <p:cNvSpPr/>
          <p:nvPr/>
        </p:nvSpPr>
        <p:spPr>
          <a:xfrm>
            <a:off x="5276088" y="1783080"/>
            <a:ext cx="3063240" cy="530352"/>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312664" y="1856231"/>
            <a:ext cx="2990088" cy="365760"/>
          </a:xfrm>
          <a:prstGeom prst="rect">
            <a:avLst/>
          </a:prstGeom>
          <a:noFill/>
        </p:spPr>
        <p:txBody>
          <a:bodyPr wrap="square" lIns="18288" tIns="18288" rIns="18288" bIns="18288" anchor="ctr">
            <a:spAutoFit/>
          </a:bodyPr>
          <a:lstStyle/>
          <a:p>
            <a:pPr algn="ctr">
              <a:lnSpc>
                <a:spcPct val="105000"/>
              </a:lnSpc>
            </a:pPr>
            <a:r>
              <a:rPr sz="1600" b="1" i="0">
                <a:solidFill>
                  <a:srgbClr val="FFFFFF"/>
                </a:solidFill>
                <a:latin typeface="微软雅黑"/>
              </a:rPr>
              <a:t>拓扑地图</a:t>
            </a:r>
          </a:p>
        </p:txBody>
      </p:sp>
      <p:sp>
        <p:nvSpPr>
          <p:cNvPr id="15" name="Rectangle 14"/>
          <p:cNvSpPr/>
          <p:nvPr/>
        </p:nvSpPr>
        <p:spPr>
          <a:xfrm>
            <a:off x="8339327" y="1783080"/>
            <a:ext cx="3200399" cy="530352"/>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75903" y="1856231"/>
            <a:ext cx="3127247" cy="365760"/>
          </a:xfrm>
          <a:prstGeom prst="rect">
            <a:avLst/>
          </a:prstGeom>
          <a:noFill/>
        </p:spPr>
        <p:txBody>
          <a:bodyPr wrap="square" lIns="18288" tIns="18288" rIns="18288" bIns="18288" anchor="ctr">
            <a:spAutoFit/>
          </a:bodyPr>
          <a:lstStyle/>
          <a:p>
            <a:pPr algn="ctr">
              <a:lnSpc>
                <a:spcPct val="105000"/>
              </a:lnSpc>
            </a:pPr>
            <a:r>
              <a:rPr sz="1600" b="1" i="0">
                <a:solidFill>
                  <a:srgbClr val="FFFFFF"/>
                </a:solidFill>
                <a:latin typeface="微软雅黑"/>
              </a:rPr>
              <a:t>语义地图</a:t>
            </a:r>
          </a:p>
        </p:txBody>
      </p:sp>
      <p:sp>
        <p:nvSpPr>
          <p:cNvPr id="17" name="Rectangle 16"/>
          <p:cNvSpPr/>
          <p:nvPr/>
        </p:nvSpPr>
        <p:spPr>
          <a:xfrm>
            <a:off x="658368" y="2313432"/>
            <a:ext cx="1554480" cy="1062990"/>
          </a:xfrm>
          <a:prstGeom prst="rect">
            <a:avLst/>
          </a:prstGeom>
          <a:solidFill>
            <a:srgbClr val="FFFFFF"/>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04088" y="2359151"/>
            <a:ext cx="1463039" cy="971550"/>
          </a:xfrm>
          <a:prstGeom prst="rect">
            <a:avLst/>
          </a:prstGeom>
          <a:noFill/>
        </p:spPr>
        <p:txBody>
          <a:bodyPr wrap="square" lIns="18288" tIns="18288" rIns="18288" bIns="18288" anchor="ctr">
            <a:spAutoFit/>
          </a:bodyPr>
          <a:lstStyle/>
          <a:p>
            <a:pPr algn="ctr">
              <a:lnSpc>
                <a:spcPct val="105000"/>
              </a:lnSpc>
            </a:pPr>
            <a:r>
              <a:rPr sz="1500" b="0" i="0" dirty="0" err="1">
                <a:solidFill>
                  <a:srgbClr val="222833"/>
                </a:solidFill>
                <a:latin typeface="微软雅黑"/>
              </a:rPr>
              <a:t>核心信息</a:t>
            </a:r>
            <a:endParaRPr sz="1500" b="0" i="0" dirty="0">
              <a:solidFill>
                <a:srgbClr val="222833"/>
              </a:solidFill>
              <a:latin typeface="微软雅黑"/>
            </a:endParaRPr>
          </a:p>
        </p:txBody>
      </p:sp>
      <p:sp>
        <p:nvSpPr>
          <p:cNvPr id="19" name="Rectangle 18"/>
          <p:cNvSpPr/>
          <p:nvPr/>
        </p:nvSpPr>
        <p:spPr>
          <a:xfrm>
            <a:off x="2212848" y="2313432"/>
            <a:ext cx="3063240" cy="1062990"/>
          </a:xfrm>
          <a:prstGeom prst="rect">
            <a:avLst/>
          </a:prstGeom>
          <a:solidFill>
            <a:srgbClr val="FFFFFF"/>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258568" y="2359151"/>
            <a:ext cx="2971800" cy="971550"/>
          </a:xfrm>
          <a:prstGeom prst="rect">
            <a:avLst/>
          </a:prstGeom>
          <a:noFill/>
        </p:spPr>
        <p:txBody>
          <a:bodyPr wrap="square" lIns="18288" tIns="18288" rIns="18288" bIns="18288" anchor="ctr">
            <a:spAutoFit/>
          </a:bodyPr>
          <a:lstStyle/>
          <a:p>
            <a:pPr algn="ctr">
              <a:lnSpc>
                <a:spcPct val="105000"/>
              </a:lnSpc>
            </a:pPr>
            <a:r>
              <a:rPr sz="1500" b="0" i="0" dirty="0" err="1">
                <a:solidFill>
                  <a:srgbClr val="222833"/>
                </a:solidFill>
                <a:latin typeface="微软雅黑"/>
              </a:rPr>
              <a:t>精确坐标与几何</a:t>
            </a:r>
            <a:endParaRPr sz="1500" b="0" i="0" dirty="0">
              <a:solidFill>
                <a:srgbClr val="222833"/>
              </a:solidFill>
              <a:latin typeface="微软雅黑"/>
            </a:endParaRPr>
          </a:p>
        </p:txBody>
      </p:sp>
      <p:sp>
        <p:nvSpPr>
          <p:cNvPr id="21" name="Rectangle 20"/>
          <p:cNvSpPr/>
          <p:nvPr/>
        </p:nvSpPr>
        <p:spPr>
          <a:xfrm>
            <a:off x="5276088" y="2313432"/>
            <a:ext cx="3063240" cy="1062990"/>
          </a:xfrm>
          <a:prstGeom prst="rect">
            <a:avLst/>
          </a:prstGeom>
          <a:solidFill>
            <a:srgbClr val="FFFFFF"/>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321807" y="2359151"/>
            <a:ext cx="2971800" cy="971550"/>
          </a:xfrm>
          <a:prstGeom prst="rect">
            <a:avLst/>
          </a:prstGeom>
          <a:noFill/>
        </p:spPr>
        <p:txBody>
          <a:bodyPr wrap="square" lIns="18288" tIns="18288" rIns="18288" bIns="18288" anchor="ctr">
            <a:spAutoFit/>
          </a:bodyPr>
          <a:lstStyle/>
          <a:p>
            <a:pPr algn="ctr">
              <a:lnSpc>
                <a:spcPct val="105000"/>
              </a:lnSpc>
            </a:pPr>
            <a:r>
              <a:rPr sz="1500" b="0" i="0" dirty="0" err="1">
                <a:solidFill>
                  <a:srgbClr val="222833"/>
                </a:solidFill>
                <a:latin typeface="微软雅黑"/>
              </a:rPr>
              <a:t>连通性与拓扑关系</a:t>
            </a:r>
            <a:endParaRPr sz="1500" b="0" i="0" dirty="0">
              <a:solidFill>
                <a:srgbClr val="222833"/>
              </a:solidFill>
              <a:latin typeface="微软雅黑"/>
            </a:endParaRPr>
          </a:p>
        </p:txBody>
      </p:sp>
      <p:sp>
        <p:nvSpPr>
          <p:cNvPr id="23" name="Rectangle 22"/>
          <p:cNvSpPr/>
          <p:nvPr/>
        </p:nvSpPr>
        <p:spPr>
          <a:xfrm>
            <a:off x="8339327" y="2313432"/>
            <a:ext cx="3200399" cy="1062990"/>
          </a:xfrm>
          <a:prstGeom prst="rect">
            <a:avLst/>
          </a:prstGeom>
          <a:solidFill>
            <a:srgbClr val="FFFFFF"/>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85048" y="2359151"/>
            <a:ext cx="3108959" cy="971550"/>
          </a:xfrm>
          <a:prstGeom prst="rect">
            <a:avLst/>
          </a:prstGeom>
          <a:noFill/>
        </p:spPr>
        <p:txBody>
          <a:bodyPr wrap="square" lIns="18288" tIns="18288" rIns="18288" bIns="18288" anchor="ctr">
            <a:spAutoFit/>
          </a:bodyPr>
          <a:lstStyle/>
          <a:p>
            <a:pPr algn="ctr">
              <a:lnSpc>
                <a:spcPct val="105000"/>
              </a:lnSpc>
            </a:pPr>
            <a:r>
              <a:rPr sz="1500" b="0" i="0">
                <a:solidFill>
                  <a:srgbClr val="222833"/>
                </a:solidFill>
                <a:latin typeface="微软雅黑"/>
              </a:rPr>
              <a:t>几何 + 对象/功能/关系语义</a:t>
            </a:r>
          </a:p>
        </p:txBody>
      </p:sp>
      <p:sp>
        <p:nvSpPr>
          <p:cNvPr id="25" name="Rectangle 24"/>
          <p:cNvSpPr/>
          <p:nvPr/>
        </p:nvSpPr>
        <p:spPr>
          <a:xfrm>
            <a:off x="658368" y="3376422"/>
            <a:ext cx="1554480" cy="1062990"/>
          </a:xfrm>
          <a:prstGeom prst="rect">
            <a:avLst/>
          </a:prstGeom>
          <a:solidFill>
            <a:srgbClr val="F2F5F8"/>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04088" y="3422141"/>
            <a:ext cx="1463039" cy="971550"/>
          </a:xfrm>
          <a:prstGeom prst="rect">
            <a:avLst/>
          </a:prstGeom>
          <a:noFill/>
        </p:spPr>
        <p:txBody>
          <a:bodyPr wrap="square" lIns="18288" tIns="18288" rIns="18288" bIns="18288" anchor="ctr">
            <a:spAutoFit/>
          </a:bodyPr>
          <a:lstStyle/>
          <a:p>
            <a:pPr algn="ctr">
              <a:lnSpc>
                <a:spcPct val="105000"/>
              </a:lnSpc>
            </a:pPr>
            <a:r>
              <a:rPr sz="1500" b="0" i="0">
                <a:solidFill>
                  <a:srgbClr val="222833"/>
                </a:solidFill>
                <a:latin typeface="微软雅黑"/>
              </a:rPr>
              <a:t>优势</a:t>
            </a:r>
          </a:p>
        </p:txBody>
      </p:sp>
      <p:sp>
        <p:nvSpPr>
          <p:cNvPr id="27" name="Rectangle 26"/>
          <p:cNvSpPr/>
          <p:nvPr/>
        </p:nvSpPr>
        <p:spPr>
          <a:xfrm>
            <a:off x="2212848" y="3376422"/>
            <a:ext cx="3063240" cy="1062990"/>
          </a:xfrm>
          <a:prstGeom prst="rect">
            <a:avLst/>
          </a:prstGeom>
          <a:solidFill>
            <a:srgbClr val="F2F5F8"/>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258568" y="3422141"/>
            <a:ext cx="2971800" cy="971550"/>
          </a:xfrm>
          <a:prstGeom prst="rect">
            <a:avLst/>
          </a:prstGeom>
          <a:noFill/>
        </p:spPr>
        <p:txBody>
          <a:bodyPr wrap="square" lIns="18288" tIns="18288" rIns="18288" bIns="18288" anchor="ctr">
            <a:spAutoFit/>
          </a:bodyPr>
          <a:lstStyle/>
          <a:p>
            <a:pPr algn="ctr">
              <a:lnSpc>
                <a:spcPct val="105000"/>
              </a:lnSpc>
            </a:pPr>
            <a:r>
              <a:rPr sz="1500" b="0" i="0">
                <a:solidFill>
                  <a:srgbClr val="222833"/>
                </a:solidFill>
                <a:latin typeface="微软雅黑"/>
              </a:rPr>
              <a:t>可直接碰撞检测与规划</a:t>
            </a:r>
          </a:p>
        </p:txBody>
      </p:sp>
      <p:sp>
        <p:nvSpPr>
          <p:cNvPr id="29" name="Rectangle 28"/>
          <p:cNvSpPr/>
          <p:nvPr/>
        </p:nvSpPr>
        <p:spPr>
          <a:xfrm>
            <a:off x="5276088" y="3376422"/>
            <a:ext cx="3063240" cy="1062990"/>
          </a:xfrm>
          <a:prstGeom prst="rect">
            <a:avLst/>
          </a:prstGeom>
          <a:solidFill>
            <a:srgbClr val="F2F5F8"/>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321807" y="3422141"/>
            <a:ext cx="2971800" cy="971550"/>
          </a:xfrm>
          <a:prstGeom prst="rect">
            <a:avLst/>
          </a:prstGeom>
          <a:noFill/>
        </p:spPr>
        <p:txBody>
          <a:bodyPr wrap="square" lIns="18288" tIns="18288" rIns="18288" bIns="18288" anchor="ctr">
            <a:spAutoFit/>
          </a:bodyPr>
          <a:lstStyle/>
          <a:p>
            <a:pPr algn="ctr">
              <a:lnSpc>
                <a:spcPct val="105000"/>
              </a:lnSpc>
            </a:pPr>
            <a:r>
              <a:rPr sz="1500" b="0" i="0">
                <a:solidFill>
                  <a:srgbClr val="222833"/>
                </a:solidFill>
                <a:latin typeface="微软雅黑"/>
              </a:rPr>
              <a:t>存储小、长距离规划高效</a:t>
            </a:r>
          </a:p>
        </p:txBody>
      </p:sp>
      <p:sp>
        <p:nvSpPr>
          <p:cNvPr id="31" name="Rectangle 30"/>
          <p:cNvSpPr/>
          <p:nvPr/>
        </p:nvSpPr>
        <p:spPr>
          <a:xfrm>
            <a:off x="8339327" y="3376422"/>
            <a:ext cx="3200399" cy="1062990"/>
          </a:xfrm>
          <a:prstGeom prst="rect">
            <a:avLst/>
          </a:prstGeom>
          <a:solidFill>
            <a:srgbClr val="F2F5F8"/>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385048" y="3422141"/>
            <a:ext cx="3108959" cy="971550"/>
          </a:xfrm>
          <a:prstGeom prst="rect">
            <a:avLst/>
          </a:prstGeom>
          <a:noFill/>
        </p:spPr>
        <p:txBody>
          <a:bodyPr wrap="square" lIns="18288" tIns="18288" rIns="18288" bIns="18288" anchor="ctr">
            <a:spAutoFit/>
          </a:bodyPr>
          <a:lstStyle/>
          <a:p>
            <a:pPr algn="ctr">
              <a:lnSpc>
                <a:spcPct val="105000"/>
              </a:lnSpc>
            </a:pPr>
            <a:r>
              <a:rPr sz="1500" b="0" i="0">
                <a:solidFill>
                  <a:srgbClr val="222833"/>
                </a:solidFill>
                <a:latin typeface="微软雅黑"/>
              </a:rPr>
              <a:t>支持语义目标与高级推理</a:t>
            </a:r>
          </a:p>
        </p:txBody>
      </p:sp>
      <p:sp>
        <p:nvSpPr>
          <p:cNvPr id="33" name="Rectangle 32"/>
          <p:cNvSpPr/>
          <p:nvPr/>
        </p:nvSpPr>
        <p:spPr>
          <a:xfrm>
            <a:off x="658368" y="4439412"/>
            <a:ext cx="1554480" cy="1062990"/>
          </a:xfrm>
          <a:prstGeom prst="rect">
            <a:avLst/>
          </a:prstGeom>
          <a:solidFill>
            <a:srgbClr val="FFFFFF"/>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04088" y="4485132"/>
            <a:ext cx="1463039" cy="971550"/>
          </a:xfrm>
          <a:prstGeom prst="rect">
            <a:avLst/>
          </a:prstGeom>
          <a:noFill/>
        </p:spPr>
        <p:txBody>
          <a:bodyPr wrap="square" lIns="18288" tIns="18288" rIns="18288" bIns="18288" anchor="ctr">
            <a:spAutoFit/>
          </a:bodyPr>
          <a:lstStyle/>
          <a:p>
            <a:pPr algn="ctr">
              <a:lnSpc>
                <a:spcPct val="105000"/>
              </a:lnSpc>
            </a:pPr>
            <a:r>
              <a:rPr sz="1500" b="0" i="0">
                <a:solidFill>
                  <a:srgbClr val="222833"/>
                </a:solidFill>
                <a:latin typeface="微软雅黑"/>
              </a:rPr>
              <a:t>局限</a:t>
            </a:r>
          </a:p>
        </p:txBody>
      </p:sp>
      <p:sp>
        <p:nvSpPr>
          <p:cNvPr id="35" name="Rectangle 34"/>
          <p:cNvSpPr/>
          <p:nvPr/>
        </p:nvSpPr>
        <p:spPr>
          <a:xfrm>
            <a:off x="2212848" y="4439412"/>
            <a:ext cx="3063240" cy="1062990"/>
          </a:xfrm>
          <a:prstGeom prst="rect">
            <a:avLst/>
          </a:prstGeom>
          <a:solidFill>
            <a:srgbClr val="FFFFFF"/>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258568" y="4485132"/>
            <a:ext cx="2971800" cy="971550"/>
          </a:xfrm>
          <a:prstGeom prst="rect">
            <a:avLst/>
          </a:prstGeom>
          <a:noFill/>
        </p:spPr>
        <p:txBody>
          <a:bodyPr wrap="square" lIns="18288" tIns="18288" rIns="18288" bIns="18288" anchor="ctr">
            <a:spAutoFit/>
          </a:bodyPr>
          <a:lstStyle/>
          <a:p>
            <a:pPr algn="ctr">
              <a:lnSpc>
                <a:spcPct val="105000"/>
              </a:lnSpc>
            </a:pPr>
            <a:r>
              <a:rPr sz="1500" b="0" i="0">
                <a:solidFill>
                  <a:srgbClr val="222833"/>
                </a:solidFill>
                <a:latin typeface="微软雅黑"/>
              </a:rPr>
              <a:t>大规模时存储/计算开销高</a:t>
            </a:r>
          </a:p>
        </p:txBody>
      </p:sp>
      <p:sp>
        <p:nvSpPr>
          <p:cNvPr id="37" name="Rectangle 36"/>
          <p:cNvSpPr/>
          <p:nvPr/>
        </p:nvSpPr>
        <p:spPr>
          <a:xfrm>
            <a:off x="5276088" y="4439412"/>
            <a:ext cx="3063240" cy="1062990"/>
          </a:xfrm>
          <a:prstGeom prst="rect">
            <a:avLst/>
          </a:prstGeom>
          <a:solidFill>
            <a:srgbClr val="FFFFFF"/>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321807" y="4485132"/>
            <a:ext cx="2971800" cy="971550"/>
          </a:xfrm>
          <a:prstGeom prst="rect">
            <a:avLst/>
          </a:prstGeom>
          <a:noFill/>
        </p:spPr>
        <p:txBody>
          <a:bodyPr wrap="square" lIns="18288" tIns="18288" rIns="18288" bIns="18288" anchor="ctr">
            <a:spAutoFit/>
          </a:bodyPr>
          <a:lstStyle/>
          <a:p>
            <a:pPr algn="ctr">
              <a:lnSpc>
                <a:spcPct val="105000"/>
              </a:lnSpc>
            </a:pPr>
            <a:r>
              <a:rPr sz="1500" b="0" i="0">
                <a:solidFill>
                  <a:srgbClr val="222833"/>
                </a:solidFill>
                <a:latin typeface="微软雅黑"/>
              </a:rPr>
              <a:t>缺乏精确几何</a:t>
            </a:r>
          </a:p>
        </p:txBody>
      </p:sp>
      <p:sp>
        <p:nvSpPr>
          <p:cNvPr id="39" name="Rectangle 38"/>
          <p:cNvSpPr/>
          <p:nvPr/>
        </p:nvSpPr>
        <p:spPr>
          <a:xfrm>
            <a:off x="8339327" y="4439412"/>
            <a:ext cx="3200399" cy="1062990"/>
          </a:xfrm>
          <a:prstGeom prst="rect">
            <a:avLst/>
          </a:prstGeom>
          <a:solidFill>
            <a:srgbClr val="FFFFFF"/>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385048" y="4485132"/>
            <a:ext cx="3108959" cy="971550"/>
          </a:xfrm>
          <a:prstGeom prst="rect">
            <a:avLst/>
          </a:prstGeom>
          <a:noFill/>
        </p:spPr>
        <p:txBody>
          <a:bodyPr wrap="square" lIns="18288" tIns="18288" rIns="18288" bIns="18288" anchor="ctr">
            <a:spAutoFit/>
          </a:bodyPr>
          <a:lstStyle/>
          <a:p>
            <a:pPr algn="ctr">
              <a:lnSpc>
                <a:spcPct val="105000"/>
              </a:lnSpc>
            </a:pPr>
            <a:r>
              <a:rPr sz="1500" b="0" i="0">
                <a:solidFill>
                  <a:srgbClr val="222833"/>
                </a:solidFill>
                <a:latin typeface="微软雅黑"/>
              </a:rPr>
              <a:t>依赖高精度语义感知</a:t>
            </a:r>
          </a:p>
        </p:txBody>
      </p:sp>
      <p:sp>
        <p:nvSpPr>
          <p:cNvPr id="41" name="Rectangle 40"/>
          <p:cNvSpPr/>
          <p:nvPr/>
        </p:nvSpPr>
        <p:spPr>
          <a:xfrm>
            <a:off x="658368" y="5502402"/>
            <a:ext cx="1554480" cy="1062990"/>
          </a:xfrm>
          <a:prstGeom prst="rect">
            <a:avLst/>
          </a:prstGeom>
          <a:solidFill>
            <a:srgbClr val="F2F5F8"/>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04088" y="5548122"/>
            <a:ext cx="1463039" cy="971550"/>
          </a:xfrm>
          <a:prstGeom prst="rect">
            <a:avLst/>
          </a:prstGeom>
          <a:noFill/>
        </p:spPr>
        <p:txBody>
          <a:bodyPr wrap="square" lIns="18288" tIns="18288" rIns="18288" bIns="18288" anchor="ctr">
            <a:spAutoFit/>
          </a:bodyPr>
          <a:lstStyle/>
          <a:p>
            <a:pPr algn="ctr">
              <a:lnSpc>
                <a:spcPct val="105000"/>
              </a:lnSpc>
            </a:pPr>
            <a:r>
              <a:rPr sz="1500" b="0" i="0">
                <a:solidFill>
                  <a:srgbClr val="222833"/>
                </a:solidFill>
                <a:latin typeface="微软雅黑"/>
              </a:rPr>
              <a:t>典型用途</a:t>
            </a:r>
          </a:p>
        </p:txBody>
      </p:sp>
      <p:sp>
        <p:nvSpPr>
          <p:cNvPr id="43" name="Rectangle 42"/>
          <p:cNvSpPr/>
          <p:nvPr/>
        </p:nvSpPr>
        <p:spPr>
          <a:xfrm>
            <a:off x="2212848" y="5502402"/>
            <a:ext cx="3063240" cy="1062990"/>
          </a:xfrm>
          <a:prstGeom prst="rect">
            <a:avLst/>
          </a:prstGeom>
          <a:solidFill>
            <a:srgbClr val="F2F5F8"/>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258568" y="5548122"/>
            <a:ext cx="2971800" cy="971550"/>
          </a:xfrm>
          <a:prstGeom prst="rect">
            <a:avLst/>
          </a:prstGeom>
          <a:noFill/>
        </p:spPr>
        <p:txBody>
          <a:bodyPr wrap="square" lIns="18288" tIns="18288" rIns="18288" bIns="18288" anchor="ctr">
            <a:spAutoFit/>
          </a:bodyPr>
          <a:lstStyle/>
          <a:p>
            <a:pPr algn="ctr">
              <a:lnSpc>
                <a:spcPct val="105000"/>
              </a:lnSpc>
            </a:pPr>
            <a:r>
              <a:rPr sz="1500" b="0" i="0">
                <a:solidFill>
                  <a:srgbClr val="222833"/>
                </a:solidFill>
                <a:latin typeface="微软雅黑"/>
              </a:rPr>
              <a:t>局部导航、精细避障</a:t>
            </a:r>
          </a:p>
        </p:txBody>
      </p:sp>
      <p:sp>
        <p:nvSpPr>
          <p:cNvPr id="45" name="Rectangle 44"/>
          <p:cNvSpPr/>
          <p:nvPr/>
        </p:nvSpPr>
        <p:spPr>
          <a:xfrm>
            <a:off x="5276088" y="5502402"/>
            <a:ext cx="3063240" cy="1062990"/>
          </a:xfrm>
          <a:prstGeom prst="rect">
            <a:avLst/>
          </a:prstGeom>
          <a:solidFill>
            <a:srgbClr val="F2F5F8"/>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321807" y="5548122"/>
            <a:ext cx="2971800" cy="971550"/>
          </a:xfrm>
          <a:prstGeom prst="rect">
            <a:avLst/>
          </a:prstGeom>
          <a:noFill/>
        </p:spPr>
        <p:txBody>
          <a:bodyPr wrap="square" lIns="18288" tIns="18288" rIns="18288" bIns="18288" anchor="ctr">
            <a:spAutoFit/>
          </a:bodyPr>
          <a:lstStyle/>
          <a:p>
            <a:pPr algn="ctr">
              <a:lnSpc>
                <a:spcPct val="105000"/>
              </a:lnSpc>
            </a:pPr>
            <a:r>
              <a:rPr sz="1500" b="0" i="0">
                <a:solidFill>
                  <a:srgbClr val="222833"/>
                </a:solidFill>
                <a:latin typeface="微软雅黑"/>
              </a:rPr>
              <a:t>层次化/大范围导航</a:t>
            </a:r>
          </a:p>
        </p:txBody>
      </p:sp>
      <p:sp>
        <p:nvSpPr>
          <p:cNvPr id="47" name="Rectangle 46"/>
          <p:cNvSpPr/>
          <p:nvPr/>
        </p:nvSpPr>
        <p:spPr>
          <a:xfrm>
            <a:off x="8339327" y="5502402"/>
            <a:ext cx="3200399" cy="1062990"/>
          </a:xfrm>
          <a:prstGeom prst="rect">
            <a:avLst/>
          </a:prstGeom>
          <a:solidFill>
            <a:srgbClr val="F2F5F8"/>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385048" y="5548122"/>
            <a:ext cx="3108959" cy="971550"/>
          </a:xfrm>
          <a:prstGeom prst="rect">
            <a:avLst/>
          </a:prstGeom>
          <a:noFill/>
        </p:spPr>
        <p:txBody>
          <a:bodyPr wrap="square" lIns="18288" tIns="18288" rIns="18288" bIns="18288" anchor="ctr">
            <a:spAutoFit/>
          </a:bodyPr>
          <a:lstStyle/>
          <a:p>
            <a:pPr algn="ctr">
              <a:lnSpc>
                <a:spcPct val="105000"/>
              </a:lnSpc>
            </a:pPr>
            <a:r>
              <a:rPr sz="1500" b="0" i="0" dirty="0" err="1">
                <a:solidFill>
                  <a:srgbClr val="222833"/>
                </a:solidFill>
                <a:latin typeface="微软雅黑"/>
              </a:rPr>
              <a:t>VLN、人机交互、动态场景理解</a:t>
            </a:r>
            <a:endParaRPr sz="1500" b="0" i="0" dirty="0">
              <a:solidFill>
                <a:srgbClr val="222833"/>
              </a:solidFill>
              <a:latin typeface="微软雅黑"/>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环境地图表示与主动感知</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31</a:t>
            </a:r>
          </a:p>
        </p:txBody>
      </p:sp>
      <p:sp>
        <p:nvSpPr>
          <p:cNvPr id="9" name="TextBox 8"/>
          <p:cNvSpPr txBox="1"/>
          <p:nvPr/>
        </p:nvSpPr>
        <p:spPr>
          <a:xfrm>
            <a:off x="914400" y="1783080"/>
            <a:ext cx="10424160" cy="640080"/>
          </a:xfrm>
          <a:prstGeom prst="rect">
            <a:avLst/>
          </a:prstGeom>
          <a:noFill/>
        </p:spPr>
        <p:txBody>
          <a:bodyPr wrap="square" lIns="18288" tIns="18288" rIns="18288" bIns="18288" anchor="t">
            <a:spAutoFit/>
          </a:bodyPr>
          <a:lstStyle/>
          <a:p>
            <a:pPr algn="ctr">
              <a:lnSpc>
                <a:spcPct val="105000"/>
              </a:lnSpc>
            </a:pPr>
            <a:r>
              <a:rPr sz="2400" b="1" i="0">
                <a:solidFill>
                  <a:srgbClr val="24477D"/>
                </a:solidFill>
                <a:latin typeface="微软雅黑"/>
              </a:rPr>
              <a:t>高质量地图是导航闭环的基础，但具身智能并不只是“被动看地图”。</a:t>
            </a:r>
          </a:p>
        </p:txBody>
      </p:sp>
      <p:sp>
        <p:nvSpPr>
          <p:cNvPr id="10" name="Rounded Rectangle 9"/>
          <p:cNvSpPr/>
          <p:nvPr/>
        </p:nvSpPr>
        <p:spPr>
          <a:xfrm>
            <a:off x="685800" y="274320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85800" y="2743200"/>
            <a:ext cx="2569464" cy="82296"/>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5528" y="292608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31599B"/>
                </a:solidFill>
                <a:latin typeface="微软雅黑"/>
              </a:rPr>
              <a:t>1</a:t>
            </a:r>
          </a:p>
        </p:txBody>
      </p:sp>
      <p:sp>
        <p:nvSpPr>
          <p:cNvPr id="13" name="TextBox 12"/>
          <p:cNvSpPr txBox="1"/>
          <p:nvPr/>
        </p:nvSpPr>
        <p:spPr>
          <a:xfrm>
            <a:off x="1188720" y="290779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31599B"/>
                </a:solidFill>
                <a:latin typeface="微软雅黑"/>
              </a:rPr>
              <a:t>发现未知区域</a:t>
            </a:r>
          </a:p>
        </p:txBody>
      </p:sp>
      <p:sp>
        <p:nvSpPr>
          <p:cNvPr id="14" name="TextBox 13"/>
          <p:cNvSpPr txBox="1"/>
          <p:nvPr/>
        </p:nvSpPr>
        <p:spPr>
          <a:xfrm>
            <a:off x="832104" y="334670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地图中仍存在未知栅格</a:t>
            </a:r>
          </a:p>
        </p:txBody>
      </p:sp>
      <p:sp>
        <p:nvSpPr>
          <p:cNvPr id="15" name="Rectangle 14"/>
          <p:cNvSpPr/>
          <p:nvPr/>
        </p:nvSpPr>
        <p:spPr>
          <a:xfrm>
            <a:off x="3291840" y="3328416"/>
            <a:ext cx="128016" cy="256032"/>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456432" y="274320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456432" y="2743200"/>
            <a:ext cx="2569464" cy="82296"/>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566160" y="292608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2F8E72"/>
                </a:solidFill>
                <a:latin typeface="微软雅黑"/>
              </a:rPr>
              <a:t>2</a:t>
            </a:r>
          </a:p>
        </p:txBody>
      </p:sp>
      <p:sp>
        <p:nvSpPr>
          <p:cNvPr id="19" name="TextBox 18"/>
          <p:cNvSpPr txBox="1"/>
          <p:nvPr/>
        </p:nvSpPr>
        <p:spPr>
          <a:xfrm>
            <a:off x="3959352" y="290779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2F8E72"/>
                </a:solidFill>
                <a:latin typeface="微软雅黑"/>
              </a:rPr>
              <a:t>主动转向/移动</a:t>
            </a:r>
          </a:p>
        </p:txBody>
      </p:sp>
      <p:sp>
        <p:nvSpPr>
          <p:cNvPr id="20" name="TextBox 19"/>
          <p:cNvSpPr txBox="1"/>
          <p:nvPr/>
        </p:nvSpPr>
        <p:spPr>
          <a:xfrm>
            <a:off x="3602736" y="334670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选择更有信息量的视角</a:t>
            </a:r>
          </a:p>
        </p:txBody>
      </p:sp>
      <p:sp>
        <p:nvSpPr>
          <p:cNvPr id="21" name="Rectangle 20"/>
          <p:cNvSpPr/>
          <p:nvPr/>
        </p:nvSpPr>
        <p:spPr>
          <a:xfrm>
            <a:off x="6062472" y="3328416"/>
            <a:ext cx="128016" cy="256032"/>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227064" y="274320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227064" y="2743200"/>
            <a:ext cx="2569464" cy="82296"/>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36792" y="292608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58A24"/>
                </a:solidFill>
                <a:latin typeface="微软雅黑"/>
              </a:rPr>
              <a:t>3</a:t>
            </a:r>
          </a:p>
        </p:txBody>
      </p:sp>
      <p:sp>
        <p:nvSpPr>
          <p:cNvPr id="25" name="TextBox 24"/>
          <p:cNvSpPr txBox="1"/>
          <p:nvPr/>
        </p:nvSpPr>
        <p:spPr>
          <a:xfrm>
            <a:off x="6729984" y="290779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C58A24"/>
                </a:solidFill>
                <a:latin typeface="微软雅黑"/>
              </a:rPr>
              <a:t>获得新观测</a:t>
            </a:r>
          </a:p>
        </p:txBody>
      </p:sp>
      <p:sp>
        <p:nvSpPr>
          <p:cNvPr id="26" name="TextBox 25"/>
          <p:cNvSpPr txBox="1"/>
          <p:nvPr/>
        </p:nvSpPr>
        <p:spPr>
          <a:xfrm>
            <a:off x="6373368" y="334670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减少遮挡与不确定性</a:t>
            </a:r>
          </a:p>
        </p:txBody>
      </p:sp>
      <p:sp>
        <p:nvSpPr>
          <p:cNvPr id="27" name="Rectangle 26"/>
          <p:cNvSpPr/>
          <p:nvPr/>
        </p:nvSpPr>
        <p:spPr>
          <a:xfrm>
            <a:off x="8833104" y="3328416"/>
            <a:ext cx="128016" cy="256032"/>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997696" y="274320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997696" y="2743200"/>
            <a:ext cx="2569464" cy="82296"/>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107424" y="292608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63F45"/>
                </a:solidFill>
                <a:latin typeface="微软雅黑"/>
              </a:rPr>
              <a:t>4</a:t>
            </a:r>
          </a:p>
        </p:txBody>
      </p:sp>
      <p:sp>
        <p:nvSpPr>
          <p:cNvPr id="31" name="TextBox 30"/>
          <p:cNvSpPr txBox="1"/>
          <p:nvPr/>
        </p:nvSpPr>
        <p:spPr>
          <a:xfrm>
            <a:off x="9500616" y="290779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C63F45"/>
                </a:solidFill>
                <a:latin typeface="微软雅黑"/>
              </a:rPr>
              <a:t>更新地图</a:t>
            </a:r>
          </a:p>
        </p:txBody>
      </p:sp>
      <p:sp>
        <p:nvSpPr>
          <p:cNvPr id="32" name="TextBox 31"/>
          <p:cNvSpPr txBox="1"/>
          <p:nvPr/>
        </p:nvSpPr>
        <p:spPr>
          <a:xfrm>
            <a:off x="9144000" y="334670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提高规划安全性与完整性</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78638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86384" y="0"/>
            <a:ext cx="73152"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921240" y="347472"/>
            <a:ext cx="160020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具身智能导论 · 第 6 章</a:t>
            </a:r>
          </a:p>
        </p:txBody>
      </p:sp>
      <p:sp>
        <p:nvSpPr>
          <p:cNvPr id="5" name="TextBox 4"/>
          <p:cNvSpPr txBox="1"/>
          <p:nvPr/>
        </p:nvSpPr>
        <p:spPr>
          <a:xfrm>
            <a:off x="1938528" y="2011680"/>
            <a:ext cx="1627632" cy="914400"/>
          </a:xfrm>
          <a:prstGeom prst="rect">
            <a:avLst/>
          </a:prstGeom>
          <a:noFill/>
        </p:spPr>
        <p:txBody>
          <a:bodyPr wrap="square" lIns="18288" tIns="18288" rIns="18288" bIns="18288" anchor="ctr">
            <a:spAutoFit/>
          </a:bodyPr>
          <a:lstStyle/>
          <a:p>
            <a:pPr algn="ctr">
              <a:lnSpc>
                <a:spcPct val="105000"/>
              </a:lnSpc>
            </a:pPr>
            <a:r>
              <a:rPr sz="7200" b="1" i="0">
                <a:solidFill>
                  <a:srgbClr val="31599B"/>
                </a:solidFill>
                <a:latin typeface="微软雅黑"/>
              </a:rPr>
              <a:t>03</a:t>
            </a:r>
          </a:p>
        </p:txBody>
      </p:sp>
      <p:sp>
        <p:nvSpPr>
          <p:cNvPr id="6" name="TextBox 5"/>
          <p:cNvSpPr txBox="1"/>
          <p:nvPr/>
        </p:nvSpPr>
        <p:spPr>
          <a:xfrm>
            <a:off x="3703320" y="2249424"/>
            <a:ext cx="6812280" cy="685800"/>
          </a:xfrm>
          <a:prstGeom prst="rect">
            <a:avLst/>
          </a:prstGeom>
          <a:noFill/>
        </p:spPr>
        <p:txBody>
          <a:bodyPr wrap="square" lIns="18288" tIns="18288" rIns="18288" bIns="18288" anchor="ctr">
            <a:spAutoFit/>
          </a:bodyPr>
          <a:lstStyle/>
          <a:p>
            <a:pPr algn="l">
              <a:lnSpc>
                <a:spcPct val="105000"/>
              </a:lnSpc>
            </a:pPr>
            <a:r>
              <a:rPr sz="3900" b="1" i="0">
                <a:solidFill>
                  <a:srgbClr val="24477D"/>
                </a:solidFill>
                <a:latin typeface="微软雅黑"/>
              </a:rPr>
              <a:t>同步定位与地图构建</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6.3 SLAM：同时回答“我在哪”和“世界长什么样”</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33</a:t>
            </a:r>
          </a:p>
        </p:txBody>
      </p:sp>
      <p:sp>
        <p:nvSpPr>
          <p:cNvPr id="9" name="Rounded Rectangle 8"/>
          <p:cNvSpPr/>
          <p:nvPr/>
        </p:nvSpPr>
        <p:spPr>
          <a:xfrm>
            <a:off x="685800" y="1874519"/>
            <a:ext cx="5230368" cy="214884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1874519"/>
            <a:ext cx="77724" cy="214884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5256" y="205740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定位问题</a:t>
            </a:r>
          </a:p>
        </p:txBody>
      </p:sp>
      <p:sp>
        <p:nvSpPr>
          <p:cNvPr id="12" name="TextBox 11"/>
          <p:cNvSpPr txBox="1"/>
          <p:nvPr/>
        </p:nvSpPr>
        <p:spPr>
          <a:xfrm>
            <a:off x="905256" y="2532887"/>
            <a:ext cx="4846320" cy="1362456"/>
          </a:xfrm>
          <a:prstGeom prst="rect">
            <a:avLst/>
          </a:prstGeom>
          <a:noFill/>
        </p:spPr>
        <p:txBody>
          <a:bodyPr wrap="square" lIns="18288" tIns="18288" rIns="18288" bIns="18288" anchor="t">
            <a:spAutoFit/>
          </a:bodyPr>
          <a:lstStyle/>
          <a:p>
            <a:pPr algn="l">
              <a:lnSpc>
                <a:spcPct val="110000"/>
              </a:lnSpc>
            </a:pPr>
            <a:r>
              <a:rPr sz="2100" b="0" i="0">
                <a:solidFill>
                  <a:srgbClr val="222833"/>
                </a:solidFill>
                <a:latin typeface="微软雅黑"/>
              </a:rPr>
              <a:t>需要地图才能判断机器人位姿。</a:t>
            </a:r>
          </a:p>
        </p:txBody>
      </p:sp>
      <p:sp>
        <p:nvSpPr>
          <p:cNvPr id="13" name="Rounded Rectangle 12"/>
          <p:cNvSpPr/>
          <p:nvPr/>
        </p:nvSpPr>
        <p:spPr>
          <a:xfrm>
            <a:off x="6199632" y="1874519"/>
            <a:ext cx="5230368" cy="214884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99632" y="1874519"/>
            <a:ext cx="77724" cy="214884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19088" y="205740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C63F45"/>
                </a:solidFill>
                <a:latin typeface="微软雅黑"/>
              </a:rPr>
              <a:t>建图问题</a:t>
            </a:r>
          </a:p>
        </p:txBody>
      </p:sp>
      <p:sp>
        <p:nvSpPr>
          <p:cNvPr id="16" name="TextBox 15"/>
          <p:cNvSpPr txBox="1"/>
          <p:nvPr/>
        </p:nvSpPr>
        <p:spPr>
          <a:xfrm>
            <a:off x="6419088" y="2532887"/>
            <a:ext cx="4846320" cy="1362456"/>
          </a:xfrm>
          <a:prstGeom prst="rect">
            <a:avLst/>
          </a:prstGeom>
          <a:noFill/>
        </p:spPr>
        <p:txBody>
          <a:bodyPr wrap="square" lIns="18288" tIns="18288" rIns="18288" bIns="18288" anchor="t">
            <a:spAutoFit/>
          </a:bodyPr>
          <a:lstStyle/>
          <a:p>
            <a:pPr algn="l">
              <a:lnSpc>
                <a:spcPct val="110000"/>
              </a:lnSpc>
            </a:pPr>
            <a:r>
              <a:rPr sz="2100" b="0" i="0">
                <a:solidFill>
                  <a:srgbClr val="222833"/>
                </a:solidFill>
                <a:latin typeface="微软雅黑"/>
              </a:rPr>
              <a:t>需要知道机器人位姿才能把传感器观测放进地图。</a:t>
            </a:r>
          </a:p>
        </p:txBody>
      </p:sp>
      <p:sp>
        <p:nvSpPr>
          <p:cNvPr id="17" name="TextBox 16"/>
          <p:cNvSpPr txBox="1"/>
          <p:nvPr/>
        </p:nvSpPr>
        <p:spPr>
          <a:xfrm>
            <a:off x="822960" y="4617720"/>
            <a:ext cx="10607040" cy="621792"/>
          </a:xfrm>
          <a:prstGeom prst="rect">
            <a:avLst/>
          </a:prstGeom>
          <a:noFill/>
        </p:spPr>
        <p:txBody>
          <a:bodyPr wrap="square" lIns="18288" tIns="18288" rIns="18288" bIns="18288" anchor="t">
            <a:spAutoFit/>
          </a:bodyPr>
          <a:lstStyle/>
          <a:p>
            <a:pPr algn="ctr">
              <a:lnSpc>
                <a:spcPct val="105000"/>
              </a:lnSpc>
            </a:pPr>
            <a:r>
              <a:rPr sz="2500" b="1" i="0">
                <a:solidFill>
                  <a:srgbClr val="24477D"/>
                </a:solidFill>
                <a:latin typeface="微软雅黑"/>
              </a:rPr>
              <a:t>SLAM 解决“先有地图才能定位，还是先有定位才能建图”的根本矛盾。</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6.3.1 基本定义：定位与建图的闭环过程</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34</a:t>
            </a:r>
          </a:p>
        </p:txBody>
      </p:sp>
      <p:sp>
        <p:nvSpPr>
          <p:cNvPr id="10" name="TextBox 9"/>
          <p:cNvSpPr txBox="1"/>
          <p:nvPr/>
        </p:nvSpPr>
        <p:spPr>
          <a:xfrm>
            <a:off x="594360" y="4874666"/>
            <a:ext cx="4937760" cy="234103"/>
          </a:xfrm>
          <a:prstGeom prst="rect">
            <a:avLst/>
          </a:prstGeom>
          <a:noFill/>
        </p:spPr>
        <p:txBody>
          <a:bodyPr wrap="square" lIns="18288" tIns="18288" rIns="18288" bIns="18288" anchor="t">
            <a:spAutoFit/>
          </a:bodyPr>
          <a:lstStyle/>
          <a:p>
            <a:pPr algn="ctr">
              <a:lnSpc>
                <a:spcPct val="105000"/>
              </a:lnSpc>
            </a:pPr>
            <a:r>
              <a:rPr sz="1300" b="1" i="0" dirty="0">
                <a:solidFill>
                  <a:srgbClr val="24477D"/>
                </a:solidFill>
                <a:latin typeface="微软雅黑"/>
              </a:rPr>
              <a:t>SLAM </a:t>
            </a:r>
            <a:r>
              <a:rPr sz="1300" b="1" i="0" dirty="0" err="1">
                <a:solidFill>
                  <a:srgbClr val="24477D"/>
                </a:solidFill>
                <a:latin typeface="微软雅黑"/>
              </a:rPr>
              <a:t>过程</a:t>
            </a:r>
            <a:endParaRPr sz="1300" b="1" i="0" dirty="0">
              <a:solidFill>
                <a:srgbClr val="24477D"/>
              </a:solidFill>
              <a:latin typeface="微软雅黑"/>
            </a:endParaRPr>
          </a:p>
        </p:txBody>
      </p:sp>
      <p:sp>
        <p:nvSpPr>
          <p:cNvPr id="11" name="TextBox 10"/>
          <p:cNvSpPr txBox="1"/>
          <p:nvPr/>
        </p:nvSpPr>
        <p:spPr>
          <a:xfrm>
            <a:off x="779106" y="1661782"/>
            <a:ext cx="6142155" cy="2087623"/>
          </a:xfrm>
          <a:prstGeom prst="rect">
            <a:avLst/>
          </a:prstGeom>
          <a:noFill/>
        </p:spPr>
        <p:txBody>
          <a:bodyPr wrap="square" lIns="18288" tIns="18288" rIns="18288" bIns="18288">
            <a:spAutoFit/>
          </a:bodyPr>
          <a:lstStyle/>
          <a:p>
            <a:pPr>
              <a:lnSpc>
                <a:spcPct val="115000"/>
              </a:lnSpc>
              <a:spcAft>
                <a:spcPts val="1000"/>
              </a:spcAft>
              <a:defRPr sz="1800">
                <a:solidFill>
                  <a:srgbClr val="222833"/>
                </a:solidFill>
                <a:latin typeface="微软雅黑"/>
              </a:defRPr>
            </a:pPr>
            <a:r>
              <a:rPr sz="2400" dirty="0"/>
              <a:t>• </a:t>
            </a:r>
            <a:r>
              <a:rPr sz="2400" dirty="0" err="1"/>
              <a:t>机器人从未知环境中的任意起点出发</a:t>
            </a:r>
            <a:endParaRPr sz="2400" dirty="0"/>
          </a:p>
          <a:p>
            <a:pPr>
              <a:lnSpc>
                <a:spcPct val="115000"/>
              </a:lnSpc>
              <a:spcAft>
                <a:spcPts val="1000"/>
              </a:spcAft>
              <a:defRPr sz="1800">
                <a:solidFill>
                  <a:srgbClr val="222833"/>
                </a:solidFill>
                <a:latin typeface="微软雅黑"/>
              </a:defRPr>
            </a:pPr>
            <a:r>
              <a:rPr sz="2400" dirty="0"/>
              <a:t>• </a:t>
            </a:r>
            <a:r>
              <a:rPr sz="2400" dirty="0" err="1"/>
              <a:t>利用激光扫描或图像序列逐步构建地图</a:t>
            </a:r>
            <a:endParaRPr sz="2400" dirty="0"/>
          </a:p>
          <a:p>
            <a:pPr>
              <a:lnSpc>
                <a:spcPct val="115000"/>
              </a:lnSpc>
              <a:spcAft>
                <a:spcPts val="1000"/>
              </a:spcAft>
              <a:defRPr sz="1800">
                <a:solidFill>
                  <a:srgbClr val="222833"/>
                </a:solidFill>
                <a:latin typeface="微软雅黑"/>
              </a:defRPr>
            </a:pPr>
            <a:r>
              <a:rPr sz="2400" dirty="0"/>
              <a:t>• </a:t>
            </a:r>
            <a:r>
              <a:rPr sz="2400" dirty="0" err="1"/>
              <a:t>同时根据运动与观测不断修正自身位姿</a:t>
            </a:r>
            <a:endParaRPr sz="2400" dirty="0"/>
          </a:p>
          <a:p>
            <a:pPr>
              <a:lnSpc>
                <a:spcPct val="115000"/>
              </a:lnSpc>
              <a:spcAft>
                <a:spcPts val="1000"/>
              </a:spcAft>
              <a:defRPr sz="1800">
                <a:solidFill>
                  <a:srgbClr val="222833"/>
                </a:solidFill>
                <a:latin typeface="微软雅黑"/>
              </a:defRPr>
            </a:pPr>
            <a:r>
              <a:rPr sz="2400" dirty="0"/>
              <a:t>• SLAM </a:t>
            </a:r>
            <a:r>
              <a:rPr sz="2400" dirty="0" err="1"/>
              <a:t>是具身智能实现自主导航的关键基础</a:t>
            </a:r>
            <a:endParaRPr sz="2400" dirty="0"/>
          </a:p>
        </p:txBody>
      </p:sp>
      <p:pic>
        <p:nvPicPr>
          <p:cNvPr id="12" name="图片 11">
            <a:extLst>
              <a:ext uri="{FF2B5EF4-FFF2-40B4-BE49-F238E27FC236}">
                <a16:creationId xmlns:a16="http://schemas.microsoft.com/office/drawing/2014/main" id="{6FCE3FDA-0396-6DC9-FCCA-4292178A775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13037" y="4207488"/>
            <a:ext cx="6504416" cy="197746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SLAM 的贝叶斯后验</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35</a:t>
            </a:r>
          </a:p>
        </p:txBody>
      </p:sp>
      <p:sp>
        <p:nvSpPr>
          <p:cNvPr id="9" name="TextBox 8"/>
          <p:cNvSpPr txBox="1"/>
          <p:nvPr/>
        </p:nvSpPr>
        <p:spPr>
          <a:xfrm>
            <a:off x="804672" y="1737360"/>
            <a:ext cx="10561320" cy="868680"/>
          </a:xfrm>
          <a:prstGeom prst="rect">
            <a:avLst/>
          </a:prstGeom>
          <a:noFill/>
        </p:spPr>
        <p:txBody>
          <a:bodyPr wrap="square" lIns="18288" tIns="18288" rIns="18288" bIns="18288" anchor="t">
            <a:spAutoFit/>
          </a:bodyPr>
          <a:lstStyle/>
          <a:p>
            <a:pPr algn="ctr">
              <a:lnSpc>
                <a:spcPct val="105000"/>
              </a:lnSpc>
            </a:pPr>
            <a:r>
              <a:rPr sz="2000" b="0" i="0" dirty="0" err="1">
                <a:solidFill>
                  <a:srgbClr val="222833"/>
                </a:solidFill>
                <a:latin typeface="微软雅黑"/>
              </a:rPr>
              <a:t>时刻</a:t>
            </a:r>
            <a:r>
              <a:rPr sz="2000" b="0" i="0" dirty="0">
                <a:solidFill>
                  <a:srgbClr val="222833"/>
                </a:solidFill>
                <a:latin typeface="微软雅黑"/>
              </a:rPr>
              <a:t> </a:t>
            </a:r>
            <a:r>
              <a:rPr sz="2000" b="0" i="0" dirty="0" err="1">
                <a:solidFill>
                  <a:srgbClr val="222833"/>
                </a:solidFill>
                <a:latin typeface="微软雅黑"/>
              </a:rPr>
              <a:t>t：机器人位姿</a:t>
            </a:r>
            <a:r>
              <a:rPr sz="2000" b="0" i="0" dirty="0">
                <a:solidFill>
                  <a:srgbClr val="222833"/>
                </a:solidFill>
                <a:latin typeface="微软雅黑"/>
              </a:rPr>
              <a:t> xₜ、</a:t>
            </a:r>
            <a:r>
              <a:rPr sz="2000" b="0" i="0" dirty="0" err="1">
                <a:solidFill>
                  <a:srgbClr val="222833"/>
                </a:solidFill>
                <a:latin typeface="微软雅黑"/>
              </a:rPr>
              <a:t>观测</a:t>
            </a:r>
            <a:r>
              <a:rPr sz="2000" b="0" i="0" dirty="0">
                <a:solidFill>
                  <a:srgbClr val="222833"/>
                </a:solidFill>
                <a:latin typeface="微软雅黑"/>
              </a:rPr>
              <a:t> zₜ、</a:t>
            </a:r>
            <a:r>
              <a:rPr sz="2000" b="0" i="0" dirty="0" err="1">
                <a:solidFill>
                  <a:srgbClr val="222833"/>
                </a:solidFill>
                <a:latin typeface="微软雅黑"/>
              </a:rPr>
              <a:t>控制输入</a:t>
            </a:r>
            <a:r>
              <a:rPr sz="2000" b="0" i="0" dirty="0">
                <a:solidFill>
                  <a:srgbClr val="222833"/>
                </a:solidFill>
                <a:latin typeface="微软雅黑"/>
              </a:rPr>
              <a:t> uₜ、</a:t>
            </a:r>
            <a:r>
              <a:rPr sz="2000" b="0" i="0" dirty="0" err="1">
                <a:solidFill>
                  <a:srgbClr val="222833"/>
                </a:solidFill>
                <a:latin typeface="微软雅黑"/>
              </a:rPr>
              <a:t>地图</a:t>
            </a:r>
            <a:r>
              <a:rPr sz="2000" b="0" i="0" dirty="0">
                <a:solidFill>
                  <a:srgbClr val="222833"/>
                </a:solidFill>
                <a:latin typeface="微软雅黑"/>
              </a:rPr>
              <a:t> </a:t>
            </a:r>
            <a:r>
              <a:rPr sz="2000" b="0" i="0" dirty="0" err="1">
                <a:solidFill>
                  <a:srgbClr val="222833"/>
                </a:solidFill>
                <a:latin typeface="微软雅黑"/>
              </a:rPr>
              <a:t>m。全</a:t>
            </a:r>
            <a:r>
              <a:rPr sz="2000" b="0" i="0" dirty="0">
                <a:solidFill>
                  <a:srgbClr val="222833"/>
                </a:solidFill>
                <a:latin typeface="微软雅黑"/>
              </a:rPr>
              <a:t> SLAM </a:t>
            </a:r>
            <a:r>
              <a:rPr sz="2000" b="0" i="0" dirty="0" err="1">
                <a:solidFill>
                  <a:srgbClr val="222833"/>
                </a:solidFill>
                <a:latin typeface="微软雅黑"/>
              </a:rPr>
              <a:t>的目标是估计整条轨迹和地图的联合后验</a:t>
            </a:r>
            <a:r>
              <a:rPr sz="2000" b="0" i="0" dirty="0">
                <a:solidFill>
                  <a:srgbClr val="222833"/>
                </a:solidFill>
                <a:latin typeface="微软雅黑"/>
              </a:rPr>
              <a:t>。</a:t>
            </a:r>
          </a:p>
        </p:txBody>
      </p:sp>
      <p:sp>
        <p:nvSpPr>
          <p:cNvPr id="13" name="TextBox 12"/>
          <p:cNvSpPr txBox="1"/>
          <p:nvPr/>
        </p:nvSpPr>
        <p:spPr>
          <a:xfrm>
            <a:off x="1051560" y="4160520"/>
            <a:ext cx="10058400" cy="354905"/>
          </a:xfrm>
          <a:prstGeom prst="rect">
            <a:avLst/>
          </a:prstGeom>
          <a:noFill/>
        </p:spPr>
        <p:txBody>
          <a:bodyPr wrap="square" lIns="18288" tIns="18288" rIns="18288" bIns="18288" anchor="t">
            <a:spAutoFit/>
          </a:bodyPr>
          <a:lstStyle/>
          <a:p>
            <a:pPr algn="ctr">
              <a:lnSpc>
                <a:spcPct val="105000"/>
              </a:lnSpc>
            </a:pPr>
            <a:r>
              <a:rPr sz="2100" b="0" i="0" dirty="0">
                <a:solidFill>
                  <a:srgbClr val="002060"/>
                </a:solidFill>
                <a:latin typeface="微软雅黑"/>
              </a:rPr>
              <a:t>x₁:ₜ </a:t>
            </a:r>
            <a:r>
              <a:rPr sz="2100" b="0" i="0" dirty="0" err="1">
                <a:solidFill>
                  <a:srgbClr val="002060"/>
                </a:solidFill>
                <a:latin typeface="微软雅黑"/>
              </a:rPr>
              <a:t>表示从起点到当前时刻的整个位姿轨迹</a:t>
            </a:r>
            <a:r>
              <a:rPr sz="2100" b="0" i="0" dirty="0">
                <a:solidFill>
                  <a:srgbClr val="002060"/>
                </a:solidFill>
                <a:latin typeface="微软雅黑"/>
              </a:rPr>
              <a:t>。</a:t>
            </a:r>
          </a:p>
        </p:txBody>
      </p:sp>
      <p:pic>
        <p:nvPicPr>
          <p:cNvPr id="15" name="图片 14">
            <a:extLst>
              <a:ext uri="{FF2B5EF4-FFF2-40B4-BE49-F238E27FC236}">
                <a16:creationId xmlns:a16="http://schemas.microsoft.com/office/drawing/2014/main" id="{181FF73F-0C08-FC4F-B19D-E7BB4BFCBD88}"/>
              </a:ext>
            </a:extLst>
          </p:cNvPr>
          <p:cNvPicPr>
            <a:picLocks noChangeAspect="1"/>
          </p:cNvPicPr>
          <p:nvPr/>
        </p:nvPicPr>
        <p:blipFill>
          <a:blip r:embed="rId2"/>
          <a:stretch>
            <a:fillRect/>
          </a:stretch>
        </p:blipFill>
        <p:spPr>
          <a:xfrm>
            <a:off x="4302682" y="3140437"/>
            <a:ext cx="3838095" cy="714286"/>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Full SLAM 与 Online SLAM</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36</a:t>
            </a:r>
          </a:p>
        </p:txBody>
      </p:sp>
      <p:sp>
        <p:nvSpPr>
          <p:cNvPr id="9" name="Rounded Rectangle 8"/>
          <p:cNvSpPr/>
          <p:nvPr/>
        </p:nvSpPr>
        <p:spPr>
          <a:xfrm>
            <a:off x="685800" y="1828800"/>
            <a:ext cx="5230368" cy="2834640"/>
          </a:xfrm>
          <a:prstGeom prst="roundRect">
            <a:avLst>
              <a:gd name="adj" fmla="val 2330"/>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1828800"/>
            <a:ext cx="77724" cy="283464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5256" y="201168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Full SLAM</a:t>
            </a:r>
          </a:p>
        </p:txBody>
      </p:sp>
      <p:sp>
        <p:nvSpPr>
          <p:cNvPr id="12" name="TextBox 11"/>
          <p:cNvSpPr txBox="1"/>
          <p:nvPr/>
        </p:nvSpPr>
        <p:spPr>
          <a:xfrm>
            <a:off x="905256" y="2487168"/>
            <a:ext cx="4846320" cy="2048256"/>
          </a:xfrm>
          <a:prstGeom prst="rect">
            <a:avLst/>
          </a:prstGeom>
          <a:noFill/>
        </p:spPr>
        <p:txBody>
          <a:bodyPr wrap="square" lIns="18288" tIns="18288" rIns="18288" bIns="18288" anchor="t">
            <a:spAutoFit/>
          </a:bodyPr>
          <a:lstStyle/>
          <a:p>
            <a:pPr algn="l">
              <a:lnSpc>
                <a:spcPct val="110000"/>
              </a:lnSpc>
            </a:pPr>
            <a:r>
              <a:rPr sz="1900" b="0" i="0">
                <a:solidFill>
                  <a:srgbClr val="222833"/>
                </a:solidFill>
                <a:latin typeface="微软雅黑"/>
              </a:rPr>
              <a:t>估计整条位姿轨迹 x₁:ₜ 与地图 m。
保留完整历史状态，更适合全局一致性优化。</a:t>
            </a:r>
          </a:p>
        </p:txBody>
      </p:sp>
      <p:sp>
        <p:nvSpPr>
          <p:cNvPr id="13" name="Rounded Rectangle 12"/>
          <p:cNvSpPr/>
          <p:nvPr/>
        </p:nvSpPr>
        <p:spPr>
          <a:xfrm>
            <a:off x="6199632" y="1828800"/>
            <a:ext cx="5230368" cy="2834640"/>
          </a:xfrm>
          <a:prstGeom prst="roundRect">
            <a:avLst>
              <a:gd name="adj" fmla="val 2688"/>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99632" y="1828800"/>
            <a:ext cx="77724" cy="283464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19088" y="201168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Online SLAM</a:t>
            </a:r>
          </a:p>
        </p:txBody>
      </p:sp>
      <p:sp>
        <p:nvSpPr>
          <p:cNvPr id="16" name="TextBox 15"/>
          <p:cNvSpPr txBox="1"/>
          <p:nvPr/>
        </p:nvSpPr>
        <p:spPr>
          <a:xfrm>
            <a:off x="6419088" y="2487168"/>
            <a:ext cx="4846320" cy="2048256"/>
          </a:xfrm>
          <a:prstGeom prst="rect">
            <a:avLst/>
          </a:prstGeom>
          <a:noFill/>
        </p:spPr>
        <p:txBody>
          <a:bodyPr wrap="square" lIns="18288" tIns="18288" rIns="18288" bIns="18288" anchor="t">
            <a:spAutoFit/>
          </a:bodyPr>
          <a:lstStyle/>
          <a:p>
            <a:pPr algn="l">
              <a:lnSpc>
                <a:spcPct val="110000"/>
              </a:lnSpc>
            </a:pPr>
            <a:r>
              <a:rPr sz="1900" b="0" i="0">
                <a:solidFill>
                  <a:srgbClr val="222833"/>
                </a:solidFill>
                <a:latin typeface="微软雅黑"/>
              </a:rPr>
              <a:t>更关注当前位姿 xₜ 与地图 m。
实时系统中通常优先使用在线形式。</a:t>
            </a:r>
          </a:p>
        </p:txBody>
      </p:sp>
      <p:sp>
        <p:nvSpPr>
          <p:cNvPr id="17" name="TextBox 16"/>
          <p:cNvSpPr txBox="1"/>
          <p:nvPr/>
        </p:nvSpPr>
        <p:spPr>
          <a:xfrm>
            <a:off x="1828800" y="5166360"/>
            <a:ext cx="8595360" cy="370679"/>
          </a:xfrm>
          <a:prstGeom prst="rect">
            <a:avLst/>
          </a:prstGeom>
          <a:noFill/>
        </p:spPr>
        <p:txBody>
          <a:bodyPr wrap="square" lIns="18288" tIns="18288" rIns="18288" bIns="18288" anchor="t">
            <a:spAutoFit/>
          </a:bodyPr>
          <a:lstStyle/>
          <a:p>
            <a:pPr algn="ctr">
              <a:lnSpc>
                <a:spcPct val="105000"/>
              </a:lnSpc>
            </a:pPr>
            <a:r>
              <a:rPr sz="2200" b="1" i="0" dirty="0" err="1">
                <a:solidFill>
                  <a:srgbClr val="24477D"/>
                </a:solidFill>
                <a:latin typeface="微软雅黑"/>
              </a:rPr>
              <a:t>实际应用中更常用</a:t>
            </a:r>
            <a:r>
              <a:rPr sz="2200" b="1" i="0" dirty="0">
                <a:solidFill>
                  <a:srgbClr val="24477D"/>
                </a:solidFill>
                <a:latin typeface="微软雅黑"/>
              </a:rPr>
              <a:t> Online SLAM。</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SLAM 的三大技术挑战</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37</a:t>
            </a:r>
          </a:p>
        </p:txBody>
      </p:sp>
      <p:sp>
        <p:nvSpPr>
          <p:cNvPr id="9" name="Rounded Rectangle 8"/>
          <p:cNvSpPr/>
          <p:nvPr/>
        </p:nvSpPr>
        <p:spPr>
          <a:xfrm>
            <a:off x="640080" y="1828800"/>
            <a:ext cx="3182112" cy="3474720"/>
          </a:xfrm>
          <a:prstGeom prst="roundRect">
            <a:avLst>
              <a:gd name="adj" fmla="val 4694"/>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1828800"/>
            <a:ext cx="77724" cy="34747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201168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数据关联</a:t>
            </a:r>
          </a:p>
        </p:txBody>
      </p:sp>
      <p:sp>
        <p:nvSpPr>
          <p:cNvPr id="12" name="TextBox 11"/>
          <p:cNvSpPr txBox="1"/>
          <p:nvPr/>
        </p:nvSpPr>
        <p:spPr>
          <a:xfrm>
            <a:off x="859536" y="2487168"/>
            <a:ext cx="2798064" cy="2688336"/>
          </a:xfrm>
          <a:prstGeom prst="rect">
            <a:avLst/>
          </a:prstGeom>
          <a:noFill/>
        </p:spPr>
        <p:txBody>
          <a:bodyPr wrap="square" lIns="18288" tIns="18288" rIns="18288" bIns="18288" anchor="t">
            <a:spAutoFit/>
          </a:bodyPr>
          <a:lstStyle/>
          <a:p>
            <a:pPr algn="l">
              <a:lnSpc>
                <a:spcPct val="110000"/>
              </a:lnSpc>
            </a:pPr>
            <a:r>
              <a:rPr sz="1900" b="0" i="0">
                <a:solidFill>
                  <a:srgbClr val="222833"/>
                </a:solidFill>
                <a:latin typeface="微软雅黑"/>
              </a:rPr>
              <a:t>将当前观测与地图中特征正确匹配。</a:t>
            </a:r>
          </a:p>
        </p:txBody>
      </p:sp>
      <p:sp>
        <p:nvSpPr>
          <p:cNvPr id="13" name="Rounded Rectangle 12"/>
          <p:cNvSpPr/>
          <p:nvPr/>
        </p:nvSpPr>
        <p:spPr>
          <a:xfrm>
            <a:off x="4096512" y="1828800"/>
            <a:ext cx="3182112" cy="3474720"/>
          </a:xfrm>
          <a:prstGeom prst="roundRect">
            <a:avLst>
              <a:gd name="adj" fmla="val 4055"/>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096512" y="1828800"/>
            <a:ext cx="77724" cy="34747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15968" y="201168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循环闭合检测</a:t>
            </a:r>
          </a:p>
        </p:txBody>
      </p:sp>
      <p:sp>
        <p:nvSpPr>
          <p:cNvPr id="16" name="TextBox 15"/>
          <p:cNvSpPr txBox="1"/>
          <p:nvPr/>
        </p:nvSpPr>
        <p:spPr>
          <a:xfrm>
            <a:off x="4315968" y="2487168"/>
            <a:ext cx="2798064" cy="2688336"/>
          </a:xfrm>
          <a:prstGeom prst="rect">
            <a:avLst/>
          </a:prstGeom>
          <a:noFill/>
        </p:spPr>
        <p:txBody>
          <a:bodyPr wrap="square" lIns="18288" tIns="18288" rIns="18288" bIns="18288" anchor="t">
            <a:spAutoFit/>
          </a:bodyPr>
          <a:lstStyle/>
          <a:p>
            <a:pPr algn="l">
              <a:lnSpc>
                <a:spcPct val="110000"/>
              </a:lnSpc>
            </a:pPr>
            <a:r>
              <a:rPr sz="1900" b="0" i="0">
                <a:solidFill>
                  <a:srgbClr val="222833"/>
                </a:solidFill>
                <a:latin typeface="微软雅黑"/>
              </a:rPr>
              <a:t>识别“我又回到了来过的地方”，从而消除累积漂移。</a:t>
            </a:r>
          </a:p>
        </p:txBody>
      </p:sp>
      <p:sp>
        <p:nvSpPr>
          <p:cNvPr id="17" name="Rounded Rectangle 16"/>
          <p:cNvSpPr/>
          <p:nvPr/>
        </p:nvSpPr>
        <p:spPr>
          <a:xfrm>
            <a:off x="7552944" y="1828800"/>
            <a:ext cx="3182112" cy="3474720"/>
          </a:xfrm>
          <a:prstGeom prst="roundRect">
            <a:avLst>
              <a:gd name="adj" fmla="val 3257"/>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52944" y="1828800"/>
            <a:ext cx="77724" cy="34747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0" y="201168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C58A24"/>
                </a:solidFill>
                <a:latin typeface="微软雅黑"/>
              </a:rPr>
              <a:t>计算复杂度</a:t>
            </a:r>
          </a:p>
        </p:txBody>
      </p:sp>
      <p:sp>
        <p:nvSpPr>
          <p:cNvPr id="20" name="TextBox 19"/>
          <p:cNvSpPr txBox="1"/>
          <p:nvPr/>
        </p:nvSpPr>
        <p:spPr>
          <a:xfrm>
            <a:off x="7772400" y="2487168"/>
            <a:ext cx="2798064" cy="2688336"/>
          </a:xfrm>
          <a:prstGeom prst="rect">
            <a:avLst/>
          </a:prstGeom>
          <a:noFill/>
        </p:spPr>
        <p:txBody>
          <a:bodyPr wrap="square" lIns="18288" tIns="18288" rIns="18288" bIns="18288" anchor="t">
            <a:spAutoFit/>
          </a:bodyPr>
          <a:lstStyle/>
          <a:p>
            <a:pPr algn="l">
              <a:lnSpc>
                <a:spcPct val="110000"/>
              </a:lnSpc>
            </a:pPr>
            <a:r>
              <a:rPr sz="1900" b="0" i="0">
                <a:solidFill>
                  <a:srgbClr val="222833"/>
                </a:solidFill>
                <a:latin typeface="微软雅黑"/>
              </a:rPr>
              <a:t>地图规模增长会显著抬高计算与存储开销。</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6.3.2 概率框架：预测 + 更新</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38</a:t>
            </a:r>
          </a:p>
        </p:txBody>
      </p:sp>
      <p:sp>
        <p:nvSpPr>
          <p:cNvPr id="9" name="Rounded Rectangle 8"/>
          <p:cNvSpPr/>
          <p:nvPr/>
        </p:nvSpPr>
        <p:spPr>
          <a:xfrm>
            <a:off x="685800" y="196596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1965960"/>
            <a:ext cx="2569464" cy="82296"/>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5528"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31599B"/>
                </a:solidFill>
                <a:latin typeface="微软雅黑"/>
              </a:rPr>
              <a:t>1</a:t>
            </a:r>
          </a:p>
        </p:txBody>
      </p:sp>
      <p:sp>
        <p:nvSpPr>
          <p:cNvPr id="12" name="TextBox 11"/>
          <p:cNvSpPr txBox="1"/>
          <p:nvPr/>
        </p:nvSpPr>
        <p:spPr>
          <a:xfrm>
            <a:off x="1188720" y="213055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31599B"/>
                </a:solidFill>
                <a:latin typeface="微软雅黑"/>
              </a:rPr>
              <a:t>上一时刻后验</a:t>
            </a:r>
          </a:p>
        </p:txBody>
      </p:sp>
      <p:sp>
        <p:nvSpPr>
          <p:cNvPr id="13" name="TextBox 12"/>
          <p:cNvSpPr txBox="1"/>
          <p:nvPr/>
        </p:nvSpPr>
        <p:spPr>
          <a:xfrm>
            <a:off x="832104" y="256946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已有位姿/地图概率分布</a:t>
            </a:r>
          </a:p>
        </p:txBody>
      </p:sp>
      <p:sp>
        <p:nvSpPr>
          <p:cNvPr id="14" name="Rectangle 13"/>
          <p:cNvSpPr/>
          <p:nvPr/>
        </p:nvSpPr>
        <p:spPr>
          <a:xfrm>
            <a:off x="3291840" y="2551176"/>
            <a:ext cx="128016" cy="256032"/>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456432" y="196596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456432" y="1965960"/>
            <a:ext cx="2569464" cy="82296"/>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566160"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2F8E72"/>
                </a:solidFill>
                <a:latin typeface="微软雅黑"/>
              </a:rPr>
              <a:t>2</a:t>
            </a:r>
          </a:p>
        </p:txBody>
      </p:sp>
      <p:sp>
        <p:nvSpPr>
          <p:cNvPr id="18" name="TextBox 17"/>
          <p:cNvSpPr txBox="1"/>
          <p:nvPr/>
        </p:nvSpPr>
        <p:spPr>
          <a:xfrm>
            <a:off x="3959352" y="213055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2F8E72"/>
                </a:solidFill>
                <a:latin typeface="微软雅黑"/>
              </a:rPr>
              <a:t>预测 Prediction</a:t>
            </a:r>
          </a:p>
        </p:txBody>
      </p:sp>
      <p:sp>
        <p:nvSpPr>
          <p:cNvPr id="19" name="TextBox 18"/>
          <p:cNvSpPr txBox="1"/>
          <p:nvPr/>
        </p:nvSpPr>
        <p:spPr>
          <a:xfrm>
            <a:off x="3602736" y="256946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运动模型根据控制输入 uₜ 预测 xₜ</a:t>
            </a:r>
          </a:p>
        </p:txBody>
      </p:sp>
      <p:sp>
        <p:nvSpPr>
          <p:cNvPr id="20" name="Rectangle 19"/>
          <p:cNvSpPr/>
          <p:nvPr/>
        </p:nvSpPr>
        <p:spPr>
          <a:xfrm>
            <a:off x="6062472" y="2551176"/>
            <a:ext cx="128016" cy="256032"/>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227064" y="196596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27064" y="1965960"/>
            <a:ext cx="2569464" cy="82296"/>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36792"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58A24"/>
                </a:solidFill>
                <a:latin typeface="微软雅黑"/>
              </a:rPr>
              <a:t>3</a:t>
            </a:r>
          </a:p>
        </p:txBody>
      </p:sp>
      <p:sp>
        <p:nvSpPr>
          <p:cNvPr id="24" name="TextBox 23"/>
          <p:cNvSpPr txBox="1"/>
          <p:nvPr/>
        </p:nvSpPr>
        <p:spPr>
          <a:xfrm>
            <a:off x="6729984" y="213055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C58A24"/>
                </a:solidFill>
                <a:latin typeface="微软雅黑"/>
              </a:rPr>
              <a:t>更新 Update</a:t>
            </a:r>
          </a:p>
        </p:txBody>
      </p:sp>
      <p:sp>
        <p:nvSpPr>
          <p:cNvPr id="25" name="TextBox 24"/>
          <p:cNvSpPr txBox="1"/>
          <p:nvPr/>
        </p:nvSpPr>
        <p:spPr>
          <a:xfrm>
            <a:off x="6373368" y="256946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观测模型利用 zₜ 修正位姿与地图</a:t>
            </a:r>
          </a:p>
        </p:txBody>
      </p:sp>
      <p:sp>
        <p:nvSpPr>
          <p:cNvPr id="26" name="Rectangle 25"/>
          <p:cNvSpPr/>
          <p:nvPr/>
        </p:nvSpPr>
        <p:spPr>
          <a:xfrm>
            <a:off x="8833104" y="2551176"/>
            <a:ext cx="128016" cy="256032"/>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8997696" y="196596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997696" y="1965960"/>
            <a:ext cx="2569464" cy="82296"/>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07424"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63F45"/>
                </a:solidFill>
                <a:latin typeface="微软雅黑"/>
              </a:rPr>
              <a:t>4</a:t>
            </a:r>
          </a:p>
        </p:txBody>
      </p:sp>
      <p:sp>
        <p:nvSpPr>
          <p:cNvPr id="30" name="TextBox 29"/>
          <p:cNvSpPr txBox="1"/>
          <p:nvPr/>
        </p:nvSpPr>
        <p:spPr>
          <a:xfrm>
            <a:off x="9500616" y="213055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C63F45"/>
                </a:solidFill>
                <a:latin typeface="微软雅黑"/>
              </a:rPr>
              <a:t>新后验</a:t>
            </a:r>
          </a:p>
        </p:txBody>
      </p:sp>
      <p:sp>
        <p:nvSpPr>
          <p:cNvPr id="31" name="TextBox 30"/>
          <p:cNvSpPr txBox="1"/>
          <p:nvPr/>
        </p:nvSpPr>
        <p:spPr>
          <a:xfrm>
            <a:off x="9144000" y="256946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得到更可靠的位姿和环境估计</a:t>
            </a:r>
          </a:p>
        </p:txBody>
      </p:sp>
      <p:sp>
        <p:nvSpPr>
          <p:cNvPr id="32" name="TextBox 31"/>
          <p:cNvSpPr txBox="1"/>
          <p:nvPr/>
        </p:nvSpPr>
        <p:spPr>
          <a:xfrm>
            <a:off x="1463040" y="4297680"/>
            <a:ext cx="9326880" cy="566928"/>
          </a:xfrm>
          <a:prstGeom prst="rect">
            <a:avLst/>
          </a:prstGeom>
          <a:noFill/>
        </p:spPr>
        <p:txBody>
          <a:bodyPr wrap="square" lIns="18288" tIns="18288" rIns="18288" bIns="18288" anchor="t">
            <a:spAutoFit/>
          </a:bodyPr>
          <a:lstStyle/>
          <a:p>
            <a:pPr algn="ctr">
              <a:lnSpc>
                <a:spcPct val="105000"/>
              </a:lnSpc>
            </a:pPr>
            <a:r>
              <a:rPr sz="2400" b="1" i="0">
                <a:solidFill>
                  <a:srgbClr val="24477D"/>
                </a:solidFill>
                <a:latin typeface="微软雅黑"/>
              </a:rPr>
              <a:t>SLAM 本质上是基于贝叶斯滤波的递归概率推理。</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4" name="TextBox 3"/>
          <p:cNvSpPr txBox="1"/>
          <p:nvPr/>
        </p:nvSpPr>
        <p:spPr>
          <a:xfrm>
            <a:off x="438912" y="182880"/>
            <a:ext cx="3474720" cy="188641"/>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panose="020B0503020204020204" pitchFamily="34" charset="-122"/>
                <a:ea typeface="微软雅黑" panose="020B0503020204020204" pitchFamily="34" charset="-122"/>
              </a:rPr>
              <a:t>具身智能导论 · 第 6 章</a:t>
            </a:r>
          </a:p>
        </p:txBody>
      </p:sp>
      <p:sp>
        <p:nvSpPr>
          <p:cNvPr id="5" name="TextBox 4"/>
          <p:cNvSpPr txBox="1"/>
          <p:nvPr/>
        </p:nvSpPr>
        <p:spPr>
          <a:xfrm>
            <a:off x="8458200" y="182880"/>
            <a:ext cx="3246120" cy="188641"/>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panose="020B0503020204020204" pitchFamily="34" charset="-122"/>
                <a:ea typeface="微软雅黑" panose="020B0503020204020204" pitchFamily="34" charset="-122"/>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lang="zh-CN" altLang="en-US" sz="3400" b="1" i="0" dirty="0">
                <a:solidFill>
                  <a:srgbClr val="24477D"/>
                </a:solidFill>
                <a:latin typeface="微软雅黑" panose="020B0503020204020204" pitchFamily="34" charset="-122"/>
                <a:ea typeface="微软雅黑" panose="020B0503020204020204" pitchFamily="34" charset="-122"/>
              </a:rPr>
              <a:t>预测</a:t>
            </a:r>
            <a:r>
              <a:rPr sz="3400" b="1" i="0" dirty="0">
                <a:solidFill>
                  <a:srgbClr val="24477D"/>
                </a:solidFill>
                <a:latin typeface="微软雅黑" panose="020B0503020204020204" pitchFamily="34" charset="-122"/>
                <a:ea typeface="微软雅黑" panose="020B0503020204020204" pitchFamily="34" charset="-122"/>
              </a:rPr>
              <a:t>与</a:t>
            </a:r>
            <a:r>
              <a:rPr lang="zh-CN" altLang="en-US" sz="3400" b="1" i="0" dirty="0">
                <a:solidFill>
                  <a:srgbClr val="24477D"/>
                </a:solidFill>
                <a:latin typeface="微软雅黑" panose="020B0503020204020204" pitchFamily="34" charset="-122"/>
                <a:ea typeface="微软雅黑" panose="020B0503020204020204" pitchFamily="34" charset="-122"/>
              </a:rPr>
              <a:t>更新</a:t>
            </a:r>
            <a:endParaRPr sz="3400" b="1" i="0" dirty="0">
              <a:solidFill>
                <a:srgbClr val="24477D"/>
              </a:solidFill>
              <a:latin typeface="微软雅黑" panose="020B0503020204020204" pitchFamily="34" charset="-122"/>
              <a:ea typeface="微软雅黑" panose="020B0503020204020204" pitchFamily="34" charset="-122"/>
            </a:endParaRP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8" name="TextBox 7"/>
          <p:cNvSpPr txBox="1"/>
          <p:nvPr/>
        </p:nvSpPr>
        <p:spPr>
          <a:xfrm>
            <a:off x="11228832" y="6473952"/>
            <a:ext cx="502920" cy="188641"/>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panose="020B0503020204020204" pitchFamily="34" charset="-122"/>
                <a:ea typeface="微软雅黑" panose="020B0503020204020204" pitchFamily="34" charset="-122"/>
              </a:rPr>
              <a:t>39</a:t>
            </a:r>
          </a:p>
        </p:txBody>
      </p:sp>
      <p:sp>
        <p:nvSpPr>
          <p:cNvPr id="9" name="Rounded Rectangle 8"/>
          <p:cNvSpPr/>
          <p:nvPr/>
        </p:nvSpPr>
        <p:spPr>
          <a:xfrm>
            <a:off x="685800" y="1783080"/>
            <a:ext cx="5230368" cy="224028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10" name="Rectangle 9"/>
          <p:cNvSpPr/>
          <p:nvPr/>
        </p:nvSpPr>
        <p:spPr>
          <a:xfrm>
            <a:off x="685800" y="1783080"/>
            <a:ext cx="77724" cy="224028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11" name="TextBox 10"/>
          <p:cNvSpPr txBox="1"/>
          <p:nvPr/>
        </p:nvSpPr>
        <p:spPr>
          <a:xfrm>
            <a:off x="905256" y="1965960"/>
            <a:ext cx="4818888" cy="370679"/>
          </a:xfrm>
          <a:prstGeom prst="rect">
            <a:avLst/>
          </a:prstGeom>
          <a:noFill/>
        </p:spPr>
        <p:txBody>
          <a:bodyPr wrap="square" lIns="18288" tIns="18288" rIns="18288" bIns="18288" anchor="t">
            <a:spAutoFit/>
          </a:bodyPr>
          <a:lstStyle/>
          <a:p>
            <a:pPr algn="l">
              <a:lnSpc>
                <a:spcPct val="105000"/>
              </a:lnSpc>
            </a:pPr>
            <a:r>
              <a:rPr lang="zh-CN" altLang="en-US" sz="2200" b="1" i="0" dirty="0">
                <a:solidFill>
                  <a:srgbClr val="31599B"/>
                </a:solidFill>
                <a:latin typeface="微软雅黑" panose="020B0503020204020204" pitchFamily="34" charset="-122"/>
                <a:ea typeface="微软雅黑" panose="020B0503020204020204" pitchFamily="34" charset="-122"/>
              </a:rPr>
              <a:t>预测</a:t>
            </a:r>
            <a:endParaRPr sz="2200" b="1" i="0" dirty="0">
              <a:solidFill>
                <a:srgbClr val="31599B"/>
              </a:solidFill>
              <a:latin typeface="微软雅黑" panose="020B0503020204020204" pitchFamily="34" charset="-122"/>
              <a:ea typeface="微软雅黑" panose="020B0503020204020204" pitchFamily="34" charset="-122"/>
            </a:endParaRPr>
          </a:p>
        </p:txBody>
      </p:sp>
      <p:sp>
        <p:nvSpPr>
          <p:cNvPr id="12" name="TextBox 11"/>
          <p:cNvSpPr txBox="1"/>
          <p:nvPr/>
        </p:nvSpPr>
        <p:spPr>
          <a:xfrm>
            <a:off x="905256" y="2441448"/>
            <a:ext cx="4846320" cy="625108"/>
          </a:xfrm>
          <a:prstGeom prst="rect">
            <a:avLst/>
          </a:prstGeom>
          <a:noFill/>
        </p:spPr>
        <p:txBody>
          <a:bodyPr wrap="square" lIns="18288" tIns="18288" rIns="18288" bIns="18288" anchor="t">
            <a:spAutoFit/>
          </a:bodyPr>
          <a:lstStyle/>
          <a:p>
            <a:pPr algn="l">
              <a:lnSpc>
                <a:spcPct val="110000"/>
              </a:lnSpc>
            </a:pPr>
            <a:r>
              <a:rPr lang="zh-CN" altLang="en-US" sz="1800" b="0" i="0" dirty="0">
                <a:solidFill>
                  <a:srgbClr val="222833"/>
                </a:solidFill>
                <a:latin typeface="微软雅黑" panose="020B0503020204020204" pitchFamily="34" charset="-122"/>
                <a:ea typeface="微软雅黑" panose="020B0503020204020204" pitchFamily="34" charset="-122"/>
              </a:rPr>
              <a:t>运动模型</a:t>
            </a:r>
            <a:r>
              <a:rPr sz="1800" b="0" i="0" dirty="0" err="1">
                <a:solidFill>
                  <a:srgbClr val="222833"/>
                </a:solidFill>
                <a:latin typeface="微软雅黑" panose="020B0503020204020204" pitchFamily="34" charset="-122"/>
                <a:ea typeface="微软雅黑" panose="020B0503020204020204" pitchFamily="34" charset="-122"/>
              </a:rPr>
              <a:t>描述机器人在控制输入作用下从</a:t>
            </a:r>
            <a:r>
              <a:rPr sz="1800" b="0" i="0" dirty="0">
                <a:solidFill>
                  <a:srgbClr val="222833"/>
                </a:solidFill>
                <a:latin typeface="微软雅黑" panose="020B0503020204020204" pitchFamily="34" charset="-122"/>
                <a:ea typeface="微软雅黑" panose="020B0503020204020204" pitchFamily="34" charset="-122"/>
              </a:rPr>
              <a:t> xₜ₋₁ </a:t>
            </a:r>
            <a:r>
              <a:rPr sz="1800" b="0" i="0" dirty="0" err="1">
                <a:solidFill>
                  <a:srgbClr val="222833"/>
                </a:solidFill>
                <a:latin typeface="微软雅黑" panose="020B0503020204020204" pitchFamily="34" charset="-122"/>
                <a:ea typeface="微软雅黑" panose="020B0503020204020204" pitchFamily="34" charset="-122"/>
              </a:rPr>
              <a:t>转移到</a:t>
            </a:r>
            <a:r>
              <a:rPr sz="1800" b="0" i="0" dirty="0">
                <a:solidFill>
                  <a:srgbClr val="222833"/>
                </a:solidFill>
                <a:latin typeface="微软雅黑" panose="020B0503020204020204" pitchFamily="34" charset="-122"/>
                <a:ea typeface="微软雅黑" panose="020B0503020204020204" pitchFamily="34" charset="-122"/>
              </a:rPr>
              <a:t> xₜ </a:t>
            </a:r>
            <a:r>
              <a:rPr sz="1800" b="0" i="0" dirty="0" err="1">
                <a:solidFill>
                  <a:srgbClr val="222833"/>
                </a:solidFill>
                <a:latin typeface="微软雅黑" panose="020B0503020204020204" pitchFamily="34" charset="-122"/>
                <a:ea typeface="微软雅黑" panose="020B0503020204020204" pitchFamily="34" charset="-122"/>
              </a:rPr>
              <a:t>的不确定性</a:t>
            </a:r>
            <a:r>
              <a:rPr sz="1800" b="0" i="0" dirty="0">
                <a:solidFill>
                  <a:srgbClr val="222833"/>
                </a:solidFill>
                <a:latin typeface="微软雅黑" panose="020B0503020204020204" pitchFamily="34" charset="-122"/>
                <a:ea typeface="微软雅黑" panose="020B0503020204020204" pitchFamily="34" charset="-122"/>
              </a:rPr>
              <a:t>。</a:t>
            </a:r>
          </a:p>
        </p:txBody>
      </p:sp>
      <p:sp>
        <p:nvSpPr>
          <p:cNvPr id="13" name="Rounded Rectangle 12"/>
          <p:cNvSpPr/>
          <p:nvPr/>
        </p:nvSpPr>
        <p:spPr>
          <a:xfrm>
            <a:off x="6199632" y="1783080"/>
            <a:ext cx="5230368" cy="224028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14" name="Rectangle 13"/>
          <p:cNvSpPr/>
          <p:nvPr/>
        </p:nvSpPr>
        <p:spPr>
          <a:xfrm>
            <a:off x="6199632" y="1783080"/>
            <a:ext cx="77724" cy="224028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15" name="TextBox 14"/>
          <p:cNvSpPr txBox="1"/>
          <p:nvPr/>
        </p:nvSpPr>
        <p:spPr>
          <a:xfrm>
            <a:off x="6419088" y="1965960"/>
            <a:ext cx="4818888" cy="370679"/>
          </a:xfrm>
          <a:prstGeom prst="rect">
            <a:avLst/>
          </a:prstGeom>
          <a:noFill/>
        </p:spPr>
        <p:txBody>
          <a:bodyPr wrap="square" lIns="18288" tIns="18288" rIns="18288" bIns="18288" anchor="t">
            <a:spAutoFit/>
          </a:bodyPr>
          <a:lstStyle/>
          <a:p>
            <a:pPr algn="l">
              <a:lnSpc>
                <a:spcPct val="105000"/>
              </a:lnSpc>
            </a:pPr>
            <a:r>
              <a:rPr lang="zh-CN" altLang="en-US" sz="2200" b="1" i="0" dirty="0">
                <a:solidFill>
                  <a:srgbClr val="2F8E72"/>
                </a:solidFill>
                <a:latin typeface="微软雅黑" panose="020B0503020204020204" pitchFamily="34" charset="-122"/>
                <a:ea typeface="微软雅黑" panose="020B0503020204020204" pitchFamily="34" charset="-122"/>
              </a:rPr>
              <a:t>更新</a:t>
            </a:r>
            <a:endParaRPr sz="2200" b="1" i="0" dirty="0">
              <a:solidFill>
                <a:srgbClr val="2F8E72"/>
              </a:solidFill>
              <a:latin typeface="微软雅黑" panose="020B0503020204020204" pitchFamily="34" charset="-122"/>
              <a:ea typeface="微软雅黑" panose="020B0503020204020204" pitchFamily="34" charset="-122"/>
            </a:endParaRPr>
          </a:p>
        </p:txBody>
      </p:sp>
      <p:sp>
        <p:nvSpPr>
          <p:cNvPr id="16" name="TextBox 15"/>
          <p:cNvSpPr txBox="1"/>
          <p:nvPr/>
        </p:nvSpPr>
        <p:spPr>
          <a:xfrm>
            <a:off x="6419088" y="2441448"/>
            <a:ext cx="4846320" cy="625108"/>
          </a:xfrm>
          <a:prstGeom prst="rect">
            <a:avLst/>
          </a:prstGeom>
          <a:noFill/>
        </p:spPr>
        <p:txBody>
          <a:bodyPr wrap="square" lIns="18288" tIns="18288" rIns="18288" bIns="18288" anchor="t">
            <a:spAutoFit/>
          </a:bodyPr>
          <a:lstStyle/>
          <a:p>
            <a:pPr algn="l">
              <a:lnSpc>
                <a:spcPct val="110000"/>
              </a:lnSpc>
            </a:pPr>
            <a:r>
              <a:rPr lang="zh-CN" altLang="en-US" sz="1800" b="0" i="0" dirty="0">
                <a:solidFill>
                  <a:srgbClr val="222833"/>
                </a:solidFill>
                <a:latin typeface="微软雅黑" panose="020B0503020204020204" pitchFamily="34" charset="-122"/>
                <a:ea typeface="微软雅黑" panose="020B0503020204020204" pitchFamily="34" charset="-122"/>
              </a:rPr>
              <a:t>观测模型</a:t>
            </a:r>
            <a:r>
              <a:rPr sz="1800" b="0" i="0" dirty="0" err="1">
                <a:solidFill>
                  <a:srgbClr val="222833"/>
                </a:solidFill>
                <a:latin typeface="微软雅黑" panose="020B0503020204020204" pitchFamily="34" charset="-122"/>
                <a:ea typeface="微软雅黑" panose="020B0503020204020204" pitchFamily="34" charset="-122"/>
              </a:rPr>
              <a:t>描述在位姿</a:t>
            </a:r>
            <a:r>
              <a:rPr sz="1800" b="0" i="0" dirty="0">
                <a:solidFill>
                  <a:srgbClr val="222833"/>
                </a:solidFill>
                <a:latin typeface="微软雅黑" panose="020B0503020204020204" pitchFamily="34" charset="-122"/>
                <a:ea typeface="微软雅黑" panose="020B0503020204020204" pitchFamily="34" charset="-122"/>
              </a:rPr>
              <a:t> xₜ </a:t>
            </a:r>
            <a:r>
              <a:rPr sz="1800" b="0" i="0" dirty="0" err="1">
                <a:solidFill>
                  <a:srgbClr val="222833"/>
                </a:solidFill>
                <a:latin typeface="微软雅黑" panose="020B0503020204020204" pitchFamily="34" charset="-122"/>
                <a:ea typeface="微软雅黑" panose="020B0503020204020204" pitchFamily="34" charset="-122"/>
              </a:rPr>
              <a:t>和地图</a:t>
            </a:r>
            <a:r>
              <a:rPr sz="1800" b="0" i="0" dirty="0">
                <a:solidFill>
                  <a:srgbClr val="222833"/>
                </a:solidFill>
                <a:latin typeface="微软雅黑" panose="020B0503020204020204" pitchFamily="34" charset="-122"/>
                <a:ea typeface="微软雅黑" panose="020B0503020204020204" pitchFamily="34" charset="-122"/>
              </a:rPr>
              <a:t> m </a:t>
            </a:r>
            <a:r>
              <a:rPr sz="1800" b="0" i="0" dirty="0" err="1">
                <a:solidFill>
                  <a:srgbClr val="222833"/>
                </a:solidFill>
                <a:latin typeface="微软雅黑" panose="020B0503020204020204" pitchFamily="34" charset="-122"/>
                <a:ea typeface="微软雅黑" panose="020B0503020204020204" pitchFamily="34" charset="-122"/>
              </a:rPr>
              <a:t>下获得观测</a:t>
            </a:r>
            <a:r>
              <a:rPr sz="1800" b="0" i="0" dirty="0">
                <a:solidFill>
                  <a:srgbClr val="222833"/>
                </a:solidFill>
                <a:latin typeface="微软雅黑" panose="020B0503020204020204" pitchFamily="34" charset="-122"/>
                <a:ea typeface="微软雅黑" panose="020B0503020204020204" pitchFamily="34" charset="-122"/>
              </a:rPr>
              <a:t> zₜ </a:t>
            </a:r>
            <a:r>
              <a:rPr sz="1800" b="0" i="0" dirty="0" err="1">
                <a:solidFill>
                  <a:srgbClr val="222833"/>
                </a:solidFill>
                <a:latin typeface="微软雅黑" panose="020B0503020204020204" pitchFamily="34" charset="-122"/>
                <a:ea typeface="微软雅黑" panose="020B0503020204020204" pitchFamily="34" charset="-122"/>
              </a:rPr>
              <a:t>的概率</a:t>
            </a:r>
            <a:r>
              <a:rPr sz="1800" b="0" i="0" dirty="0">
                <a:solidFill>
                  <a:srgbClr val="222833"/>
                </a:solidFill>
                <a:latin typeface="微软雅黑" panose="020B0503020204020204" pitchFamily="34" charset="-122"/>
                <a:ea typeface="微软雅黑" panose="020B0503020204020204" pitchFamily="34" charset="-122"/>
              </a:rPr>
              <a:t>。</a:t>
            </a:r>
          </a:p>
        </p:txBody>
      </p:sp>
      <p:sp>
        <p:nvSpPr>
          <p:cNvPr id="17" name="Rounded Rectangle 16"/>
          <p:cNvSpPr/>
          <p:nvPr/>
        </p:nvSpPr>
        <p:spPr>
          <a:xfrm>
            <a:off x="822960" y="4343400"/>
            <a:ext cx="10561320" cy="868680"/>
          </a:xfrm>
          <a:prstGeom prst="roundRect">
            <a:avLst/>
          </a:prstGeom>
          <a:solidFill>
            <a:srgbClr val="FFF4DE"/>
          </a:solidFill>
          <a:ln w="1016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18" name="TextBox 17"/>
          <p:cNvSpPr txBox="1"/>
          <p:nvPr/>
        </p:nvSpPr>
        <p:spPr>
          <a:xfrm>
            <a:off x="1024128" y="4501829"/>
            <a:ext cx="10149840" cy="460382"/>
          </a:xfrm>
          <a:prstGeom prst="rect">
            <a:avLst/>
          </a:prstGeom>
          <a:noFill/>
        </p:spPr>
        <p:txBody>
          <a:bodyPr wrap="square" lIns="18288" tIns="18288" rIns="18288" bIns="18288" anchor="ctr">
            <a:spAutoFit/>
          </a:bodyPr>
          <a:lstStyle/>
          <a:p>
            <a:pPr algn="ctr">
              <a:lnSpc>
                <a:spcPct val="105000"/>
              </a:lnSpc>
            </a:pPr>
            <a:r>
              <a:rPr sz="2800" b="0" i="0" dirty="0">
                <a:solidFill>
                  <a:srgbClr val="222833"/>
                </a:solidFill>
                <a:latin typeface="微软雅黑" panose="020B0503020204020204" pitchFamily="34" charset="-122"/>
                <a:ea typeface="微软雅黑" panose="020B0503020204020204" pitchFamily="34" charset="-122"/>
              </a:rPr>
              <a:t>p(xₜ | xₜ₋₁, uₜ)          p(zₜ | xₜ, m)</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SLAM 中的主动感知</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40</a:t>
            </a:r>
          </a:p>
        </p:txBody>
      </p:sp>
      <p:sp>
        <p:nvSpPr>
          <p:cNvPr id="9" name="TextBox 8"/>
          <p:cNvSpPr txBox="1"/>
          <p:nvPr/>
        </p:nvSpPr>
        <p:spPr>
          <a:xfrm>
            <a:off x="822960" y="1783080"/>
            <a:ext cx="10561320" cy="749808"/>
          </a:xfrm>
          <a:prstGeom prst="rect">
            <a:avLst/>
          </a:prstGeom>
          <a:noFill/>
        </p:spPr>
        <p:txBody>
          <a:bodyPr wrap="square" lIns="18288" tIns="18288" rIns="18288" bIns="18288" anchor="t">
            <a:spAutoFit/>
          </a:bodyPr>
          <a:lstStyle/>
          <a:p>
            <a:pPr algn="ctr">
              <a:lnSpc>
                <a:spcPct val="105000"/>
              </a:lnSpc>
            </a:pPr>
            <a:r>
              <a:rPr sz="2200" b="0" i="0">
                <a:solidFill>
                  <a:srgbClr val="222833"/>
                </a:solidFill>
                <a:latin typeface="微软雅黑"/>
              </a:rPr>
              <a:t>具身导航强调 SLAM 的实时性与主动性：机器人不仅“估计”，还会主动规划到信息量丰富的区域。</a:t>
            </a:r>
          </a:p>
        </p:txBody>
      </p:sp>
      <p:sp>
        <p:nvSpPr>
          <p:cNvPr id="10" name="Rounded Rectangle 9"/>
          <p:cNvSpPr/>
          <p:nvPr/>
        </p:nvSpPr>
        <p:spPr>
          <a:xfrm>
            <a:off x="685800" y="278892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85800" y="2788920"/>
            <a:ext cx="2569464" cy="82296"/>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5528" y="297180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31599B"/>
                </a:solidFill>
                <a:latin typeface="微软雅黑"/>
              </a:rPr>
              <a:t>1</a:t>
            </a:r>
          </a:p>
        </p:txBody>
      </p:sp>
      <p:sp>
        <p:nvSpPr>
          <p:cNvPr id="13" name="TextBox 12"/>
          <p:cNvSpPr txBox="1"/>
          <p:nvPr/>
        </p:nvSpPr>
        <p:spPr>
          <a:xfrm>
            <a:off x="1188720" y="295351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31599B"/>
                </a:solidFill>
                <a:latin typeface="微软雅黑"/>
              </a:rPr>
              <a:t>发现不确定</a:t>
            </a:r>
          </a:p>
        </p:txBody>
      </p:sp>
      <p:sp>
        <p:nvSpPr>
          <p:cNvPr id="14" name="TextBox 13"/>
          <p:cNvSpPr txBox="1"/>
          <p:nvPr/>
        </p:nvSpPr>
        <p:spPr>
          <a:xfrm>
            <a:off x="832104" y="339242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定位/地图存在高不确定区域</a:t>
            </a:r>
          </a:p>
        </p:txBody>
      </p:sp>
      <p:sp>
        <p:nvSpPr>
          <p:cNvPr id="15" name="Rectangle 14"/>
          <p:cNvSpPr/>
          <p:nvPr/>
        </p:nvSpPr>
        <p:spPr>
          <a:xfrm>
            <a:off x="3291840" y="3374136"/>
            <a:ext cx="128016" cy="256032"/>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456432" y="278892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456432" y="2788920"/>
            <a:ext cx="2569464" cy="82296"/>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566160" y="297180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2F8E72"/>
                </a:solidFill>
                <a:latin typeface="微软雅黑"/>
              </a:rPr>
              <a:t>2</a:t>
            </a:r>
          </a:p>
        </p:txBody>
      </p:sp>
      <p:sp>
        <p:nvSpPr>
          <p:cNvPr id="19" name="TextBox 18"/>
          <p:cNvSpPr txBox="1"/>
          <p:nvPr/>
        </p:nvSpPr>
        <p:spPr>
          <a:xfrm>
            <a:off x="3959352" y="295351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2F8E72"/>
                </a:solidFill>
                <a:latin typeface="微软雅黑"/>
              </a:rPr>
              <a:t>规划探索动作</a:t>
            </a:r>
          </a:p>
        </p:txBody>
      </p:sp>
      <p:sp>
        <p:nvSpPr>
          <p:cNvPr id="20" name="TextBox 19"/>
          <p:cNvSpPr txBox="1"/>
          <p:nvPr/>
        </p:nvSpPr>
        <p:spPr>
          <a:xfrm>
            <a:off x="3602736" y="339242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转向、前进或改变视角</a:t>
            </a:r>
          </a:p>
        </p:txBody>
      </p:sp>
      <p:sp>
        <p:nvSpPr>
          <p:cNvPr id="21" name="Rectangle 20"/>
          <p:cNvSpPr/>
          <p:nvPr/>
        </p:nvSpPr>
        <p:spPr>
          <a:xfrm>
            <a:off x="6062472" y="3374136"/>
            <a:ext cx="128016" cy="256032"/>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227064" y="278892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227064" y="2788920"/>
            <a:ext cx="2569464" cy="82296"/>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36792" y="297180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58A24"/>
                </a:solidFill>
                <a:latin typeface="微软雅黑"/>
              </a:rPr>
              <a:t>3</a:t>
            </a:r>
          </a:p>
        </p:txBody>
      </p:sp>
      <p:sp>
        <p:nvSpPr>
          <p:cNvPr id="25" name="TextBox 24"/>
          <p:cNvSpPr txBox="1"/>
          <p:nvPr/>
        </p:nvSpPr>
        <p:spPr>
          <a:xfrm>
            <a:off x="6729984" y="295351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C58A24"/>
                </a:solidFill>
                <a:latin typeface="微软雅黑"/>
              </a:rPr>
              <a:t>获得更强观测</a:t>
            </a:r>
          </a:p>
        </p:txBody>
      </p:sp>
      <p:sp>
        <p:nvSpPr>
          <p:cNvPr id="26" name="TextBox 25"/>
          <p:cNvSpPr txBox="1"/>
          <p:nvPr/>
        </p:nvSpPr>
        <p:spPr>
          <a:xfrm>
            <a:off x="6373368" y="339242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提高特征可观测性或回环概率</a:t>
            </a:r>
          </a:p>
        </p:txBody>
      </p:sp>
      <p:sp>
        <p:nvSpPr>
          <p:cNvPr id="27" name="Rectangle 26"/>
          <p:cNvSpPr/>
          <p:nvPr/>
        </p:nvSpPr>
        <p:spPr>
          <a:xfrm>
            <a:off x="8833104" y="3374136"/>
            <a:ext cx="128016" cy="256032"/>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997696" y="278892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997696" y="2788920"/>
            <a:ext cx="2569464" cy="82296"/>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107424" y="297180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63F45"/>
                </a:solidFill>
                <a:latin typeface="微软雅黑"/>
              </a:rPr>
              <a:t>4</a:t>
            </a:r>
          </a:p>
        </p:txBody>
      </p:sp>
      <p:sp>
        <p:nvSpPr>
          <p:cNvPr id="31" name="TextBox 30"/>
          <p:cNvSpPr txBox="1"/>
          <p:nvPr/>
        </p:nvSpPr>
        <p:spPr>
          <a:xfrm>
            <a:off x="9500616" y="295351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C63F45"/>
                </a:solidFill>
                <a:latin typeface="微软雅黑"/>
              </a:rPr>
              <a:t>降低不确定性</a:t>
            </a:r>
          </a:p>
        </p:txBody>
      </p:sp>
      <p:sp>
        <p:nvSpPr>
          <p:cNvPr id="32" name="TextBox 31"/>
          <p:cNvSpPr txBox="1"/>
          <p:nvPr/>
        </p:nvSpPr>
        <p:spPr>
          <a:xfrm>
            <a:off x="9144000" y="339242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地图更快收敛，定位更稳定</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dirty="0">
                <a:solidFill>
                  <a:srgbClr val="24477D"/>
                </a:solidFill>
                <a:latin typeface="微软雅黑"/>
              </a:rPr>
              <a:t>6.3.3 </a:t>
            </a:r>
            <a:r>
              <a:rPr sz="3400" b="1" i="0" dirty="0" err="1">
                <a:solidFill>
                  <a:srgbClr val="24477D"/>
                </a:solidFill>
                <a:latin typeface="微软雅黑"/>
              </a:rPr>
              <a:t>经典</a:t>
            </a:r>
            <a:r>
              <a:rPr sz="3400" b="1" i="0" dirty="0">
                <a:solidFill>
                  <a:srgbClr val="24477D"/>
                </a:solidFill>
                <a:latin typeface="微软雅黑"/>
              </a:rPr>
              <a:t> SLAM </a:t>
            </a:r>
            <a:r>
              <a:rPr sz="3400" b="1" i="0" dirty="0" err="1">
                <a:solidFill>
                  <a:srgbClr val="24477D"/>
                </a:solidFill>
                <a:latin typeface="微软雅黑"/>
              </a:rPr>
              <a:t>算法</a:t>
            </a:r>
            <a:endParaRPr sz="3400" b="1" i="0" dirty="0">
              <a:solidFill>
                <a:srgbClr val="24477D"/>
              </a:solidFill>
              <a:latin typeface="微软雅黑"/>
            </a:endParaRP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41</a:t>
            </a:r>
          </a:p>
        </p:txBody>
      </p:sp>
      <p:sp>
        <p:nvSpPr>
          <p:cNvPr id="9" name="Rounded Rectangle 8"/>
          <p:cNvSpPr/>
          <p:nvPr/>
        </p:nvSpPr>
        <p:spPr>
          <a:xfrm>
            <a:off x="919480" y="2057400"/>
            <a:ext cx="3182112" cy="3474720"/>
          </a:xfrm>
          <a:prstGeom prst="roundRect">
            <a:avLst>
              <a:gd name="adj" fmla="val 5492"/>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19480" y="2057400"/>
            <a:ext cx="77724" cy="34747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38936" y="224028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EKF-SLAM</a:t>
            </a:r>
          </a:p>
        </p:txBody>
      </p:sp>
      <p:sp>
        <p:nvSpPr>
          <p:cNvPr id="12" name="TextBox 11"/>
          <p:cNvSpPr txBox="1"/>
          <p:nvPr/>
        </p:nvSpPr>
        <p:spPr>
          <a:xfrm>
            <a:off x="1138936" y="2715768"/>
            <a:ext cx="2798064" cy="1227387"/>
          </a:xfrm>
          <a:prstGeom prst="rect">
            <a:avLst/>
          </a:prstGeom>
          <a:noFill/>
        </p:spPr>
        <p:txBody>
          <a:bodyPr wrap="square" lIns="18288" tIns="18288" rIns="18288" bIns="18288" anchor="t">
            <a:spAutoFit/>
          </a:bodyPr>
          <a:lstStyle/>
          <a:p>
            <a:pPr algn="l">
              <a:lnSpc>
                <a:spcPct val="110000"/>
              </a:lnSpc>
            </a:pPr>
            <a:r>
              <a:rPr sz="2400" b="0" i="0" dirty="0" err="1">
                <a:solidFill>
                  <a:srgbClr val="222833"/>
                </a:solidFill>
                <a:latin typeface="微软雅黑"/>
              </a:rPr>
              <a:t>高维联合状态</a:t>
            </a:r>
            <a:r>
              <a:rPr sz="2400" b="0" i="0" dirty="0">
                <a:solidFill>
                  <a:srgbClr val="222833"/>
                </a:solidFill>
                <a:latin typeface="微软雅黑"/>
              </a:rPr>
              <a:t> + </a:t>
            </a:r>
            <a:r>
              <a:rPr sz="2400" b="0" i="0" dirty="0" err="1">
                <a:solidFill>
                  <a:srgbClr val="222833"/>
                </a:solidFill>
                <a:latin typeface="微软雅黑"/>
              </a:rPr>
              <a:t>扩展卡尔曼滤波；适合特征地图</a:t>
            </a:r>
            <a:r>
              <a:rPr sz="2400" b="0" i="0" dirty="0">
                <a:solidFill>
                  <a:srgbClr val="222833"/>
                </a:solidFill>
                <a:latin typeface="微软雅黑"/>
              </a:rPr>
              <a:t>。</a:t>
            </a:r>
          </a:p>
        </p:txBody>
      </p:sp>
      <p:sp>
        <p:nvSpPr>
          <p:cNvPr id="13" name="Rounded Rectangle 12"/>
          <p:cNvSpPr/>
          <p:nvPr/>
        </p:nvSpPr>
        <p:spPr>
          <a:xfrm>
            <a:off x="4375912" y="2057400"/>
            <a:ext cx="3182112" cy="3474720"/>
          </a:xfrm>
          <a:prstGeom prst="roundRect">
            <a:avLst>
              <a:gd name="adj" fmla="val 6131"/>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75912" y="2057400"/>
            <a:ext cx="77724" cy="34747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95368" y="224028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FastSLAM</a:t>
            </a:r>
          </a:p>
        </p:txBody>
      </p:sp>
      <p:sp>
        <p:nvSpPr>
          <p:cNvPr id="16" name="TextBox 15"/>
          <p:cNvSpPr txBox="1"/>
          <p:nvPr/>
        </p:nvSpPr>
        <p:spPr>
          <a:xfrm>
            <a:off x="4595368" y="2715768"/>
            <a:ext cx="2798064" cy="1633652"/>
          </a:xfrm>
          <a:prstGeom prst="rect">
            <a:avLst/>
          </a:prstGeom>
          <a:noFill/>
        </p:spPr>
        <p:txBody>
          <a:bodyPr wrap="square" lIns="18288" tIns="18288" rIns="18288" bIns="18288" anchor="t">
            <a:spAutoFit/>
          </a:bodyPr>
          <a:lstStyle/>
          <a:p>
            <a:pPr algn="l">
              <a:lnSpc>
                <a:spcPct val="110000"/>
              </a:lnSpc>
            </a:pPr>
            <a:r>
              <a:rPr sz="2400" b="0" i="0" dirty="0">
                <a:solidFill>
                  <a:srgbClr val="222833"/>
                </a:solidFill>
                <a:latin typeface="微软雅黑"/>
              </a:rPr>
              <a:t>Rao-</a:t>
            </a:r>
            <a:r>
              <a:rPr sz="2400" b="0" i="0" dirty="0" err="1">
                <a:solidFill>
                  <a:srgbClr val="222833"/>
                </a:solidFill>
                <a:latin typeface="微软雅黑"/>
              </a:rPr>
              <a:t>Blackwellized</a:t>
            </a:r>
            <a:r>
              <a:rPr sz="2400" b="0" i="0" dirty="0">
                <a:solidFill>
                  <a:srgbClr val="222833"/>
                </a:solidFill>
                <a:latin typeface="微软雅黑"/>
              </a:rPr>
              <a:t> </a:t>
            </a:r>
            <a:r>
              <a:rPr sz="2400" b="0" i="0" dirty="0" err="1">
                <a:solidFill>
                  <a:srgbClr val="222833"/>
                </a:solidFill>
                <a:latin typeface="微软雅黑"/>
              </a:rPr>
              <a:t>粒子滤波；粒子表示轨迹，地图条件独立</a:t>
            </a:r>
            <a:r>
              <a:rPr sz="2400" b="0" i="0" dirty="0">
                <a:solidFill>
                  <a:srgbClr val="222833"/>
                </a:solidFill>
                <a:latin typeface="微软雅黑"/>
              </a:rPr>
              <a:t>。</a:t>
            </a:r>
          </a:p>
        </p:txBody>
      </p:sp>
      <p:sp>
        <p:nvSpPr>
          <p:cNvPr id="17" name="Rounded Rectangle 16"/>
          <p:cNvSpPr/>
          <p:nvPr/>
        </p:nvSpPr>
        <p:spPr>
          <a:xfrm>
            <a:off x="7832344" y="2057400"/>
            <a:ext cx="3182112" cy="3474720"/>
          </a:xfrm>
          <a:prstGeom prst="roundRect">
            <a:avLst>
              <a:gd name="adj" fmla="val 3097"/>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832344" y="2057400"/>
            <a:ext cx="77724" cy="34747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51800" y="224028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C58A24"/>
                </a:solidFill>
                <a:latin typeface="微软雅黑"/>
              </a:rPr>
              <a:t>Visual SLAM</a:t>
            </a:r>
          </a:p>
        </p:txBody>
      </p:sp>
      <p:sp>
        <p:nvSpPr>
          <p:cNvPr id="20" name="TextBox 19"/>
          <p:cNvSpPr txBox="1"/>
          <p:nvPr/>
        </p:nvSpPr>
        <p:spPr>
          <a:xfrm>
            <a:off x="8051800" y="2715768"/>
            <a:ext cx="2798064" cy="1227387"/>
          </a:xfrm>
          <a:prstGeom prst="rect">
            <a:avLst/>
          </a:prstGeom>
          <a:noFill/>
        </p:spPr>
        <p:txBody>
          <a:bodyPr wrap="square" lIns="18288" tIns="18288" rIns="18288" bIns="18288" anchor="t">
            <a:spAutoFit/>
          </a:bodyPr>
          <a:lstStyle/>
          <a:p>
            <a:pPr algn="l">
              <a:lnSpc>
                <a:spcPct val="110000"/>
              </a:lnSpc>
            </a:pPr>
            <a:r>
              <a:rPr sz="2400" b="0" i="0">
                <a:solidFill>
                  <a:srgbClr val="222833"/>
                </a:solidFill>
                <a:latin typeface="微软雅黑"/>
              </a:rPr>
              <a:t>以相机为核心，前端跟踪 + 局部建图 + 回环 + 图优化。</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EKF-SLAM：把机器人位姿与所有路标一起估计</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42</a:t>
            </a:r>
          </a:p>
        </p:txBody>
      </p:sp>
      <p:sp>
        <p:nvSpPr>
          <p:cNvPr id="9" name="TextBox 8"/>
          <p:cNvSpPr txBox="1"/>
          <p:nvPr/>
        </p:nvSpPr>
        <p:spPr>
          <a:xfrm>
            <a:off x="685800" y="1783080"/>
            <a:ext cx="5715000" cy="2384114"/>
          </a:xfrm>
          <a:prstGeom prst="rect">
            <a:avLst/>
          </a:prstGeom>
          <a:noFill/>
        </p:spPr>
        <p:txBody>
          <a:bodyPr wrap="square" lIns="18288" tIns="18288" rIns="18288" bIns="18288">
            <a:spAutoFit/>
          </a:bodyPr>
          <a:lstStyle/>
          <a:p>
            <a:pPr>
              <a:lnSpc>
                <a:spcPct val="115000"/>
              </a:lnSpc>
              <a:spcAft>
                <a:spcPts val="1000"/>
              </a:spcAft>
              <a:defRPr sz="1800">
                <a:solidFill>
                  <a:srgbClr val="222833"/>
                </a:solidFill>
                <a:latin typeface="微软雅黑"/>
              </a:defRPr>
            </a:pPr>
            <a:r>
              <a:rPr sz="2400" dirty="0"/>
              <a:t>• </a:t>
            </a:r>
            <a:r>
              <a:rPr sz="2400" dirty="0" err="1"/>
              <a:t>将机器人位姿与环境中所有</a:t>
            </a:r>
            <a:r>
              <a:rPr sz="2400" dirty="0"/>
              <a:t> Landmark </a:t>
            </a:r>
            <a:r>
              <a:rPr sz="2400" dirty="0" err="1"/>
              <a:t>的位置组成一个高维联合状态向量</a:t>
            </a:r>
            <a:r>
              <a:rPr sz="2400" dirty="0"/>
              <a:t>。</a:t>
            </a:r>
          </a:p>
          <a:p>
            <a:pPr>
              <a:lnSpc>
                <a:spcPct val="115000"/>
              </a:lnSpc>
              <a:spcAft>
                <a:spcPts val="1000"/>
              </a:spcAft>
              <a:defRPr sz="1800">
                <a:solidFill>
                  <a:srgbClr val="222833"/>
                </a:solidFill>
                <a:latin typeface="微软雅黑"/>
              </a:defRPr>
            </a:pPr>
            <a:r>
              <a:rPr sz="2400" dirty="0"/>
              <a:t>• </a:t>
            </a:r>
            <a:r>
              <a:rPr sz="2400" dirty="0" err="1"/>
              <a:t>用均值与协方差描述联合高斯分布</a:t>
            </a:r>
            <a:r>
              <a:rPr sz="2400" dirty="0"/>
              <a:t>。</a:t>
            </a:r>
          </a:p>
          <a:p>
            <a:pPr>
              <a:lnSpc>
                <a:spcPct val="115000"/>
              </a:lnSpc>
              <a:spcAft>
                <a:spcPts val="1000"/>
              </a:spcAft>
              <a:defRPr sz="1800">
                <a:solidFill>
                  <a:srgbClr val="222833"/>
                </a:solidFill>
                <a:latin typeface="微软雅黑"/>
              </a:defRPr>
            </a:pPr>
            <a:r>
              <a:rPr sz="2400" dirty="0"/>
              <a:t>• </a:t>
            </a:r>
            <a:r>
              <a:rPr sz="2400" dirty="0" err="1"/>
              <a:t>预测阶段由运动模型推进状态；更新阶段用观测修正状态和协方差</a:t>
            </a:r>
            <a:r>
              <a:rPr sz="2400" dirty="0"/>
              <a:t>。</a:t>
            </a:r>
          </a:p>
        </p:txBody>
      </p:sp>
      <p:pic>
        <p:nvPicPr>
          <p:cNvPr id="10" name="Picture 9" descr="fig7.png"/>
          <p:cNvPicPr>
            <a:picLocks noChangeAspect="1"/>
          </p:cNvPicPr>
          <p:nvPr/>
        </p:nvPicPr>
        <p:blipFill>
          <a:blip r:embed="rId2"/>
          <a:stretch>
            <a:fillRect/>
          </a:stretch>
        </p:blipFill>
        <p:spPr>
          <a:xfrm>
            <a:off x="6522720" y="1880007"/>
            <a:ext cx="4983480" cy="3056534"/>
          </a:xfrm>
          <a:prstGeom prst="rect">
            <a:avLst/>
          </a:prstGeom>
        </p:spPr>
      </p:pic>
      <p:sp>
        <p:nvSpPr>
          <p:cNvPr id="11" name="TextBox 10"/>
          <p:cNvSpPr txBox="1"/>
          <p:nvPr/>
        </p:nvSpPr>
        <p:spPr>
          <a:xfrm>
            <a:off x="6629400" y="5062728"/>
            <a:ext cx="4983480" cy="234103"/>
          </a:xfrm>
          <a:prstGeom prst="rect">
            <a:avLst/>
          </a:prstGeom>
          <a:noFill/>
        </p:spPr>
        <p:txBody>
          <a:bodyPr wrap="square" lIns="18288" tIns="18288" rIns="18288" bIns="18288" anchor="t">
            <a:spAutoFit/>
          </a:bodyPr>
          <a:lstStyle/>
          <a:p>
            <a:pPr algn="ctr">
              <a:lnSpc>
                <a:spcPct val="105000"/>
              </a:lnSpc>
            </a:pPr>
            <a:r>
              <a:rPr sz="1300" b="1" i="0" dirty="0">
                <a:solidFill>
                  <a:srgbClr val="24477D"/>
                </a:solidFill>
                <a:latin typeface="微软雅黑"/>
              </a:rPr>
              <a:t>EKF-SLAM </a:t>
            </a:r>
            <a:r>
              <a:rPr sz="1300" b="1" i="0" dirty="0" err="1">
                <a:solidFill>
                  <a:srgbClr val="24477D"/>
                </a:solidFill>
                <a:latin typeface="微软雅黑"/>
              </a:rPr>
              <a:t>示例</a:t>
            </a:r>
            <a:endParaRPr sz="1300" b="1" i="0" dirty="0">
              <a:solidFill>
                <a:srgbClr val="24477D"/>
              </a:solidFill>
              <a:latin typeface="微软雅黑"/>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EKF-SLAM 的适用假设</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43</a:t>
            </a:r>
          </a:p>
        </p:txBody>
      </p:sp>
      <p:sp>
        <p:nvSpPr>
          <p:cNvPr id="9" name="Rounded Rectangle 8"/>
          <p:cNvSpPr/>
          <p:nvPr/>
        </p:nvSpPr>
        <p:spPr>
          <a:xfrm>
            <a:off x="640080" y="1600200"/>
            <a:ext cx="5349240" cy="20574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1600200"/>
            <a:ext cx="77724" cy="20574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1783080"/>
            <a:ext cx="4937759"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环境静态</a:t>
            </a:r>
          </a:p>
        </p:txBody>
      </p:sp>
      <p:sp>
        <p:nvSpPr>
          <p:cNvPr id="12" name="TextBox 11"/>
          <p:cNvSpPr txBox="1"/>
          <p:nvPr/>
        </p:nvSpPr>
        <p:spPr>
          <a:xfrm>
            <a:off x="859536" y="2258568"/>
            <a:ext cx="4965192" cy="1271016"/>
          </a:xfrm>
          <a:prstGeom prst="rect">
            <a:avLst/>
          </a:prstGeom>
          <a:noFill/>
        </p:spPr>
        <p:txBody>
          <a:bodyPr wrap="square" lIns="18288" tIns="18288" rIns="18288" bIns="18288" anchor="t">
            <a:spAutoFit/>
          </a:bodyPr>
          <a:lstStyle/>
          <a:p>
            <a:pPr algn="l">
              <a:lnSpc>
                <a:spcPct val="110000"/>
              </a:lnSpc>
            </a:pPr>
            <a:r>
              <a:rPr sz="1700" b="0" i="0">
                <a:solidFill>
                  <a:srgbClr val="222833"/>
                </a:solidFill>
                <a:latin typeface="微软雅黑"/>
              </a:rPr>
              <a:t>环境中的路标位置在估计期间基本不变。</a:t>
            </a:r>
          </a:p>
        </p:txBody>
      </p:sp>
      <p:sp>
        <p:nvSpPr>
          <p:cNvPr id="13" name="Rounded Rectangle 12"/>
          <p:cNvSpPr/>
          <p:nvPr/>
        </p:nvSpPr>
        <p:spPr>
          <a:xfrm>
            <a:off x="6172200" y="1600200"/>
            <a:ext cx="5349240" cy="20574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72200" y="1600200"/>
            <a:ext cx="77724" cy="205740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91656" y="1783080"/>
            <a:ext cx="4937759"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高斯噪声</a:t>
            </a:r>
          </a:p>
        </p:txBody>
      </p:sp>
      <p:sp>
        <p:nvSpPr>
          <p:cNvPr id="16" name="TextBox 15"/>
          <p:cNvSpPr txBox="1"/>
          <p:nvPr/>
        </p:nvSpPr>
        <p:spPr>
          <a:xfrm>
            <a:off x="6391656" y="2258568"/>
            <a:ext cx="4965192" cy="1271016"/>
          </a:xfrm>
          <a:prstGeom prst="rect">
            <a:avLst/>
          </a:prstGeom>
          <a:noFill/>
        </p:spPr>
        <p:txBody>
          <a:bodyPr wrap="square" lIns="18288" tIns="18288" rIns="18288" bIns="18288" anchor="t">
            <a:spAutoFit/>
          </a:bodyPr>
          <a:lstStyle/>
          <a:p>
            <a:pPr algn="l">
              <a:lnSpc>
                <a:spcPct val="110000"/>
              </a:lnSpc>
            </a:pPr>
            <a:r>
              <a:rPr sz="1700" b="0" i="0">
                <a:solidFill>
                  <a:srgbClr val="222833"/>
                </a:solidFill>
                <a:latin typeface="微软雅黑"/>
              </a:rPr>
              <a:t>系统噪声近似服从高斯分布。</a:t>
            </a:r>
          </a:p>
        </p:txBody>
      </p:sp>
      <p:sp>
        <p:nvSpPr>
          <p:cNvPr id="17" name="Rounded Rectangle 16"/>
          <p:cNvSpPr/>
          <p:nvPr/>
        </p:nvSpPr>
        <p:spPr>
          <a:xfrm>
            <a:off x="640080" y="3931920"/>
            <a:ext cx="5349240" cy="20574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 y="3931920"/>
            <a:ext cx="77724" cy="205740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59536" y="4114800"/>
            <a:ext cx="4937759" cy="384048"/>
          </a:xfrm>
          <a:prstGeom prst="rect">
            <a:avLst/>
          </a:prstGeom>
          <a:noFill/>
        </p:spPr>
        <p:txBody>
          <a:bodyPr wrap="square" lIns="18288" tIns="18288" rIns="18288" bIns="18288" anchor="t">
            <a:spAutoFit/>
          </a:bodyPr>
          <a:lstStyle/>
          <a:p>
            <a:pPr algn="l">
              <a:lnSpc>
                <a:spcPct val="105000"/>
              </a:lnSpc>
            </a:pPr>
            <a:r>
              <a:rPr sz="2200" b="1" i="0">
                <a:solidFill>
                  <a:srgbClr val="C58A24"/>
                </a:solidFill>
                <a:latin typeface="微软雅黑"/>
              </a:rPr>
              <a:t>数据关联已知</a:t>
            </a:r>
          </a:p>
        </p:txBody>
      </p:sp>
      <p:sp>
        <p:nvSpPr>
          <p:cNvPr id="20" name="TextBox 19"/>
          <p:cNvSpPr txBox="1"/>
          <p:nvPr/>
        </p:nvSpPr>
        <p:spPr>
          <a:xfrm>
            <a:off x="859536" y="4590288"/>
            <a:ext cx="4965192" cy="1271016"/>
          </a:xfrm>
          <a:prstGeom prst="rect">
            <a:avLst/>
          </a:prstGeom>
          <a:noFill/>
        </p:spPr>
        <p:txBody>
          <a:bodyPr wrap="square" lIns="18288" tIns="18288" rIns="18288" bIns="18288" anchor="t">
            <a:spAutoFit/>
          </a:bodyPr>
          <a:lstStyle/>
          <a:p>
            <a:pPr algn="l">
              <a:lnSpc>
                <a:spcPct val="110000"/>
              </a:lnSpc>
            </a:pPr>
            <a:r>
              <a:rPr sz="1700" b="0" i="0">
                <a:solidFill>
                  <a:srgbClr val="222833"/>
                </a:solidFill>
                <a:latin typeface="微软雅黑"/>
              </a:rPr>
              <a:t>观测能正确对应到地图中的路标。</a:t>
            </a:r>
          </a:p>
        </p:txBody>
      </p:sp>
      <p:sp>
        <p:nvSpPr>
          <p:cNvPr id="21" name="Rounded Rectangle 20"/>
          <p:cNvSpPr/>
          <p:nvPr/>
        </p:nvSpPr>
        <p:spPr>
          <a:xfrm>
            <a:off x="6172200" y="3931920"/>
            <a:ext cx="5349240" cy="20574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172200" y="3931920"/>
            <a:ext cx="77724" cy="205740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91656" y="4114800"/>
            <a:ext cx="4937759" cy="384048"/>
          </a:xfrm>
          <a:prstGeom prst="rect">
            <a:avLst/>
          </a:prstGeom>
          <a:noFill/>
        </p:spPr>
        <p:txBody>
          <a:bodyPr wrap="square" lIns="18288" tIns="18288" rIns="18288" bIns="18288" anchor="t">
            <a:spAutoFit/>
          </a:bodyPr>
          <a:lstStyle/>
          <a:p>
            <a:pPr algn="l">
              <a:lnSpc>
                <a:spcPct val="105000"/>
              </a:lnSpc>
            </a:pPr>
            <a:r>
              <a:rPr sz="2200" b="1" i="0">
                <a:solidFill>
                  <a:srgbClr val="C63F45"/>
                </a:solidFill>
                <a:latin typeface="微软雅黑"/>
              </a:rPr>
              <a:t>特征地图</a:t>
            </a:r>
          </a:p>
        </p:txBody>
      </p:sp>
      <p:sp>
        <p:nvSpPr>
          <p:cNvPr id="24" name="TextBox 23"/>
          <p:cNvSpPr txBox="1"/>
          <p:nvPr/>
        </p:nvSpPr>
        <p:spPr>
          <a:xfrm>
            <a:off x="6391656" y="4590288"/>
            <a:ext cx="4965192" cy="1271016"/>
          </a:xfrm>
          <a:prstGeom prst="rect">
            <a:avLst/>
          </a:prstGeom>
          <a:noFill/>
        </p:spPr>
        <p:txBody>
          <a:bodyPr wrap="square" lIns="18288" tIns="18288" rIns="18288" bIns="18288" anchor="t">
            <a:spAutoFit/>
          </a:bodyPr>
          <a:lstStyle/>
          <a:p>
            <a:pPr algn="l">
              <a:lnSpc>
                <a:spcPct val="110000"/>
              </a:lnSpc>
            </a:pPr>
            <a:r>
              <a:rPr sz="1700" b="0" i="0">
                <a:solidFill>
                  <a:srgbClr val="222833"/>
                </a:solidFill>
                <a:latin typeface="微软雅黑"/>
              </a:rPr>
              <a:t>特别适合点/线等稀疏特征地图。</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EKF-SLAM 流程：预测与更新</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44</a:t>
            </a:r>
          </a:p>
        </p:txBody>
      </p:sp>
      <p:pic>
        <p:nvPicPr>
          <p:cNvPr id="9" name="Picture 8" descr="fig8.png"/>
          <p:cNvPicPr>
            <a:picLocks noChangeAspect="1"/>
          </p:cNvPicPr>
          <p:nvPr/>
        </p:nvPicPr>
        <p:blipFill>
          <a:blip r:embed="rId2"/>
          <a:stretch>
            <a:fillRect/>
          </a:stretch>
        </p:blipFill>
        <p:spPr>
          <a:xfrm>
            <a:off x="3295840" y="2582020"/>
            <a:ext cx="5478399" cy="3158590"/>
          </a:xfrm>
          <a:prstGeom prst="rect">
            <a:avLst/>
          </a:prstGeom>
        </p:spPr>
      </p:pic>
      <p:sp>
        <p:nvSpPr>
          <p:cNvPr id="10" name="TextBox 9"/>
          <p:cNvSpPr txBox="1"/>
          <p:nvPr/>
        </p:nvSpPr>
        <p:spPr>
          <a:xfrm>
            <a:off x="3149600" y="5868383"/>
            <a:ext cx="6294120" cy="310021"/>
          </a:xfrm>
          <a:prstGeom prst="rect">
            <a:avLst/>
          </a:prstGeom>
          <a:noFill/>
        </p:spPr>
        <p:txBody>
          <a:bodyPr wrap="square" lIns="18288" tIns="18288" rIns="18288" bIns="18288" anchor="t">
            <a:spAutoFit/>
          </a:bodyPr>
          <a:lstStyle/>
          <a:p>
            <a:pPr algn="ctr">
              <a:lnSpc>
                <a:spcPct val="105000"/>
              </a:lnSpc>
            </a:pPr>
            <a:r>
              <a:rPr b="1" i="0" dirty="0">
                <a:solidFill>
                  <a:srgbClr val="24477D"/>
                </a:solidFill>
                <a:latin typeface="微软雅黑"/>
              </a:rPr>
              <a:t>EKF-SLAM </a:t>
            </a:r>
            <a:r>
              <a:rPr b="1" i="0" dirty="0" err="1">
                <a:solidFill>
                  <a:srgbClr val="24477D"/>
                </a:solidFill>
                <a:latin typeface="微软雅黑"/>
              </a:rPr>
              <a:t>流程</a:t>
            </a:r>
            <a:endParaRPr b="1" i="0" dirty="0">
              <a:solidFill>
                <a:srgbClr val="24477D"/>
              </a:solidFill>
              <a:latin typeface="微软雅黑"/>
            </a:endParaRPr>
          </a:p>
        </p:txBody>
      </p:sp>
      <p:sp>
        <p:nvSpPr>
          <p:cNvPr id="11" name="TextBox 10"/>
          <p:cNvSpPr txBox="1"/>
          <p:nvPr/>
        </p:nvSpPr>
        <p:spPr>
          <a:xfrm>
            <a:off x="680720" y="1579698"/>
            <a:ext cx="9784080" cy="428707"/>
          </a:xfrm>
          <a:prstGeom prst="rect">
            <a:avLst/>
          </a:prstGeom>
          <a:noFill/>
        </p:spPr>
        <p:txBody>
          <a:bodyPr wrap="square" lIns="18288" tIns="18288" rIns="18288" bIns="18288">
            <a:spAutoFit/>
          </a:bodyPr>
          <a:lstStyle>
            <a:defPPr>
              <a:defRPr lang="en-US"/>
            </a:defPPr>
            <a:lvl1pPr>
              <a:lnSpc>
                <a:spcPct val="115000"/>
              </a:lnSpc>
              <a:spcAft>
                <a:spcPts val="1000"/>
              </a:spcAft>
              <a:defRPr sz="2400">
                <a:solidFill>
                  <a:srgbClr val="222833"/>
                </a:solidFill>
                <a:latin typeface="微软雅黑"/>
              </a:defRPr>
            </a:lvl1pPr>
          </a:lstStyle>
          <a:p>
            <a:pPr marL="342900" indent="-342900">
              <a:buFont typeface="Arial" panose="020B0604020202020204" pitchFamily="34" charset="0"/>
              <a:buChar char="•"/>
            </a:pPr>
            <a:r>
              <a:rPr dirty="0" err="1"/>
              <a:t>传感器数据与控制输入共同驱动状态预测、数据关联与观测更新</a:t>
            </a:r>
            <a:r>
              <a:rPr dirty="0"/>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EKF-SLAM 预测阶段</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45</a:t>
            </a:r>
          </a:p>
        </p:txBody>
      </p:sp>
      <p:sp>
        <p:nvSpPr>
          <p:cNvPr id="9" name="TextBox 8"/>
          <p:cNvSpPr txBox="1"/>
          <p:nvPr/>
        </p:nvSpPr>
        <p:spPr>
          <a:xfrm>
            <a:off x="777240" y="1691640"/>
            <a:ext cx="10698480" cy="788806"/>
          </a:xfrm>
          <a:prstGeom prst="rect">
            <a:avLst/>
          </a:prstGeom>
          <a:noFill/>
        </p:spPr>
        <p:txBody>
          <a:bodyPr wrap="square" lIns="18288" tIns="18288" rIns="18288" bIns="18288" anchor="t">
            <a:spAutoFit/>
          </a:bodyPr>
          <a:lstStyle/>
          <a:p>
            <a:pPr marL="342900" indent="-342900">
              <a:lnSpc>
                <a:spcPct val="105000"/>
              </a:lnSpc>
              <a:buFont typeface="Arial" panose="020B0604020202020204" pitchFamily="34" charset="0"/>
              <a:buChar char="•"/>
            </a:pPr>
            <a:r>
              <a:rPr lang="en-US" sz="2400" i="0" dirty="0">
                <a:solidFill>
                  <a:srgbClr val="222833"/>
                </a:solidFill>
                <a:latin typeface="微软雅黑" panose="020B0503020204020204" pitchFamily="34" charset="-122"/>
                <a:ea typeface="微软雅黑" panose="020B0503020204020204" pitchFamily="34" charset="-122"/>
              </a:rPr>
              <a:t>1. </a:t>
            </a:r>
            <a:r>
              <a:rPr lang="zh-CN" altLang="en-US" sz="2400" i="0" dirty="0">
                <a:solidFill>
                  <a:srgbClr val="222833"/>
                </a:solidFill>
                <a:latin typeface="微软雅黑" panose="020B0503020204020204" pitchFamily="34" charset="-122"/>
                <a:ea typeface="微软雅黑" panose="020B0503020204020204" pitchFamily="34" charset="-122"/>
              </a:rPr>
              <a:t>预测：</a:t>
            </a:r>
            <a:r>
              <a:rPr sz="2400" i="0" dirty="0" err="1">
                <a:solidFill>
                  <a:srgbClr val="222833"/>
                </a:solidFill>
                <a:latin typeface="微软雅黑" panose="020B0503020204020204" pitchFamily="34" charset="-122"/>
                <a:ea typeface="微软雅黑" panose="020B0503020204020204" pitchFamily="34" charset="-122"/>
              </a:rPr>
              <a:t>运动模型先预测当前状态，再传播协方差。非线性系统通过雅可比矩阵进行一阶线性化</a:t>
            </a:r>
            <a:endParaRPr sz="2400" i="0" dirty="0">
              <a:solidFill>
                <a:srgbClr val="222833"/>
              </a:solidFill>
              <a:latin typeface="微软雅黑" panose="020B0503020204020204" pitchFamily="34" charset="-122"/>
              <a:ea typeface="微软雅黑" panose="020B0503020204020204" pitchFamily="34" charset="-122"/>
            </a:endParaRPr>
          </a:p>
        </p:txBody>
      </p:sp>
      <p:pic>
        <p:nvPicPr>
          <p:cNvPr id="17" name="图片 16">
            <a:extLst>
              <a:ext uri="{FF2B5EF4-FFF2-40B4-BE49-F238E27FC236}">
                <a16:creationId xmlns:a16="http://schemas.microsoft.com/office/drawing/2014/main" id="{A6C91FA4-78CF-A214-8646-2BCE1947E759}"/>
              </a:ext>
            </a:extLst>
          </p:cNvPr>
          <p:cNvPicPr>
            <a:picLocks noChangeAspect="1"/>
          </p:cNvPicPr>
          <p:nvPr/>
        </p:nvPicPr>
        <p:blipFill>
          <a:blip r:embed="rId2"/>
          <a:stretch>
            <a:fillRect/>
          </a:stretch>
        </p:blipFill>
        <p:spPr>
          <a:xfrm>
            <a:off x="1931261" y="2940382"/>
            <a:ext cx="7463691" cy="2272624"/>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EKF-SLAM 更新阶段</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46</a:t>
            </a:r>
          </a:p>
        </p:txBody>
      </p:sp>
      <p:sp>
        <p:nvSpPr>
          <p:cNvPr id="9" name="Rounded Rectangle 8"/>
          <p:cNvSpPr/>
          <p:nvPr/>
        </p:nvSpPr>
        <p:spPr>
          <a:xfrm>
            <a:off x="822960" y="1891283"/>
            <a:ext cx="10561320" cy="868680"/>
          </a:xfrm>
          <a:prstGeom prst="roundRect">
            <a:avLst/>
          </a:prstGeom>
          <a:solidFill>
            <a:srgbClr val="FFF4DE"/>
          </a:solidFill>
          <a:ln w="1016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24128" y="2028443"/>
            <a:ext cx="10149840" cy="502920"/>
          </a:xfrm>
          <a:prstGeom prst="rect">
            <a:avLst/>
          </a:prstGeom>
          <a:noFill/>
        </p:spPr>
        <p:txBody>
          <a:bodyPr wrap="square" lIns="18288" tIns="18288" rIns="18288" bIns="18288" anchor="ctr">
            <a:spAutoFit/>
          </a:bodyPr>
          <a:lstStyle/>
          <a:p>
            <a:pPr algn="ctr">
              <a:lnSpc>
                <a:spcPct val="105000"/>
              </a:lnSpc>
            </a:pPr>
            <a:r>
              <a:rPr sz="2400" b="0" i="0">
                <a:solidFill>
                  <a:srgbClr val="222833"/>
                </a:solidFill>
                <a:latin typeface="Times New Roman"/>
              </a:rPr>
              <a:t>Kₜ = Pₜ|ₜ₋₁ Hₜᵀ (Hₜ Pₜ|ₜ₋₁ Hₜᵀ + Rₜ)⁻¹</a:t>
            </a:r>
          </a:p>
        </p:txBody>
      </p:sp>
      <p:sp>
        <p:nvSpPr>
          <p:cNvPr id="12" name="Rounded Rectangle 11"/>
          <p:cNvSpPr/>
          <p:nvPr/>
        </p:nvSpPr>
        <p:spPr>
          <a:xfrm>
            <a:off x="939800" y="3616960"/>
            <a:ext cx="10561320" cy="868680"/>
          </a:xfrm>
          <a:prstGeom prst="roundRect">
            <a:avLst/>
          </a:prstGeom>
          <a:solidFill>
            <a:srgbClr val="FFF4DE"/>
          </a:solidFill>
          <a:ln w="1016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0968" y="3754119"/>
            <a:ext cx="10149840" cy="502920"/>
          </a:xfrm>
          <a:prstGeom prst="rect">
            <a:avLst/>
          </a:prstGeom>
          <a:noFill/>
        </p:spPr>
        <p:txBody>
          <a:bodyPr wrap="square" lIns="18288" tIns="18288" rIns="18288" bIns="18288" anchor="ctr">
            <a:spAutoFit/>
          </a:bodyPr>
          <a:lstStyle/>
          <a:p>
            <a:pPr algn="ctr">
              <a:lnSpc>
                <a:spcPct val="105000"/>
              </a:lnSpc>
            </a:pPr>
            <a:r>
              <a:rPr sz="2400" b="0" i="0">
                <a:solidFill>
                  <a:srgbClr val="222833"/>
                </a:solidFill>
                <a:latin typeface="Times New Roman"/>
              </a:rPr>
              <a:t>x̂ₜ|ₜ = x̂ₜ|ₜ₋₁ + Kₜ [zₜ − h(x̂ₜ|ₜ₋₁)]</a:t>
            </a:r>
          </a:p>
        </p:txBody>
      </p:sp>
      <p:sp>
        <p:nvSpPr>
          <p:cNvPr id="15" name="Rounded Rectangle 14"/>
          <p:cNvSpPr/>
          <p:nvPr/>
        </p:nvSpPr>
        <p:spPr>
          <a:xfrm>
            <a:off x="939800" y="4993640"/>
            <a:ext cx="10561320" cy="868680"/>
          </a:xfrm>
          <a:prstGeom prst="roundRect">
            <a:avLst/>
          </a:prstGeom>
          <a:solidFill>
            <a:srgbClr val="FFF4DE"/>
          </a:solidFill>
          <a:ln w="1016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40968" y="5130800"/>
            <a:ext cx="10149840" cy="502920"/>
          </a:xfrm>
          <a:prstGeom prst="rect">
            <a:avLst/>
          </a:prstGeom>
          <a:noFill/>
        </p:spPr>
        <p:txBody>
          <a:bodyPr wrap="square" lIns="18288" tIns="18288" rIns="18288" bIns="18288" anchor="ctr">
            <a:spAutoFit/>
          </a:bodyPr>
          <a:lstStyle/>
          <a:p>
            <a:pPr algn="ctr">
              <a:lnSpc>
                <a:spcPct val="105000"/>
              </a:lnSpc>
            </a:pPr>
            <a:r>
              <a:rPr sz="2400" b="0" i="0">
                <a:solidFill>
                  <a:srgbClr val="222833"/>
                </a:solidFill>
                <a:latin typeface="Times New Roman"/>
              </a:rPr>
              <a:t>Pₜ|ₜ = (I − KₜHₜ) Pₜ|ₜ₋₁</a:t>
            </a:r>
          </a:p>
        </p:txBody>
      </p:sp>
      <p:sp>
        <p:nvSpPr>
          <p:cNvPr id="18" name="TextBox 17"/>
          <p:cNvSpPr txBox="1"/>
          <p:nvPr/>
        </p:nvSpPr>
        <p:spPr>
          <a:xfrm>
            <a:off x="1031240" y="6177280"/>
            <a:ext cx="10332720" cy="294376"/>
          </a:xfrm>
          <a:prstGeom prst="rect">
            <a:avLst/>
          </a:prstGeom>
          <a:noFill/>
        </p:spPr>
        <p:txBody>
          <a:bodyPr wrap="square" lIns="18288" tIns="18288" rIns="18288" bIns="18288" anchor="t">
            <a:spAutoFit/>
          </a:bodyPr>
          <a:lstStyle/>
          <a:p>
            <a:pPr algn="ctr">
              <a:lnSpc>
                <a:spcPct val="105000"/>
              </a:lnSpc>
            </a:pPr>
            <a:r>
              <a:rPr sz="1700" i="0" dirty="0">
                <a:solidFill>
                  <a:srgbClr val="002060"/>
                </a:solidFill>
                <a:latin typeface="微软雅黑"/>
              </a:rPr>
              <a:t>Kₜ </a:t>
            </a:r>
            <a:r>
              <a:rPr sz="1700" i="0" dirty="0" err="1">
                <a:solidFill>
                  <a:srgbClr val="002060"/>
                </a:solidFill>
                <a:latin typeface="微软雅黑"/>
              </a:rPr>
              <a:t>为卡尔曼增益；H</a:t>
            </a:r>
            <a:r>
              <a:rPr sz="1700" i="0" dirty="0">
                <a:solidFill>
                  <a:srgbClr val="002060"/>
                </a:solidFill>
                <a:latin typeface="微软雅黑"/>
              </a:rPr>
              <a:t>ₜ </a:t>
            </a:r>
            <a:r>
              <a:rPr sz="1700" i="0" dirty="0" err="1">
                <a:solidFill>
                  <a:srgbClr val="002060"/>
                </a:solidFill>
                <a:latin typeface="微软雅黑"/>
              </a:rPr>
              <a:t>为观测模型雅可比；R</a:t>
            </a:r>
            <a:r>
              <a:rPr sz="1700" i="0" dirty="0">
                <a:solidFill>
                  <a:srgbClr val="002060"/>
                </a:solidFill>
                <a:latin typeface="微软雅黑"/>
              </a:rPr>
              <a:t>ₜ </a:t>
            </a:r>
            <a:r>
              <a:rPr sz="1700" i="0" dirty="0" err="1">
                <a:solidFill>
                  <a:srgbClr val="002060"/>
                </a:solidFill>
                <a:latin typeface="微软雅黑"/>
              </a:rPr>
              <a:t>为观测噪声协方差</a:t>
            </a:r>
            <a:r>
              <a:rPr sz="1700" i="0" dirty="0">
                <a:solidFill>
                  <a:srgbClr val="002060"/>
                </a:solidFill>
                <a:latin typeface="微软雅黑"/>
              </a:rPr>
              <a:t>。</a:t>
            </a:r>
          </a:p>
        </p:txBody>
      </p:sp>
      <p:sp>
        <p:nvSpPr>
          <p:cNvPr id="20" name="TextBox 8">
            <a:extLst>
              <a:ext uri="{FF2B5EF4-FFF2-40B4-BE49-F238E27FC236}">
                <a16:creationId xmlns:a16="http://schemas.microsoft.com/office/drawing/2014/main" id="{CE1FB108-D4F4-5EB2-FF4E-ABD0288774D7}"/>
              </a:ext>
            </a:extLst>
          </p:cNvPr>
          <p:cNvSpPr txBox="1"/>
          <p:nvPr/>
        </p:nvSpPr>
        <p:spPr>
          <a:xfrm>
            <a:off x="746760" y="1397664"/>
            <a:ext cx="10698480" cy="401007"/>
          </a:xfrm>
          <a:prstGeom prst="rect">
            <a:avLst/>
          </a:prstGeom>
          <a:noFill/>
        </p:spPr>
        <p:txBody>
          <a:bodyPr wrap="square" lIns="18288" tIns="18288" rIns="18288" bIns="18288" anchor="t">
            <a:spAutoFit/>
          </a:bodyPr>
          <a:lstStyle/>
          <a:p>
            <a:pPr marL="342900" indent="-342900">
              <a:lnSpc>
                <a:spcPct val="105000"/>
              </a:lnSpc>
              <a:buFont typeface="Arial" panose="020B0604020202020204" pitchFamily="34" charset="0"/>
              <a:buChar char="•"/>
            </a:pPr>
            <a:r>
              <a:rPr lang="zh-CN" altLang="en-US" sz="2400" i="0" dirty="0">
                <a:solidFill>
                  <a:srgbClr val="222833"/>
                </a:solidFill>
                <a:latin typeface="微软雅黑" panose="020B0503020204020204" pitchFamily="34" charset="-122"/>
                <a:ea typeface="微软雅黑" panose="020B0503020204020204" pitchFamily="34" charset="-122"/>
              </a:rPr>
              <a:t>计算卡尔曼增益</a:t>
            </a:r>
            <a:endParaRPr sz="2400" i="0" dirty="0">
              <a:solidFill>
                <a:srgbClr val="222833"/>
              </a:solidFill>
              <a:latin typeface="微软雅黑" panose="020B0503020204020204" pitchFamily="34" charset="-122"/>
              <a:ea typeface="微软雅黑" panose="020B0503020204020204" pitchFamily="34" charset="-122"/>
            </a:endParaRPr>
          </a:p>
        </p:txBody>
      </p:sp>
      <p:sp>
        <p:nvSpPr>
          <p:cNvPr id="21" name="TextBox 8">
            <a:extLst>
              <a:ext uri="{FF2B5EF4-FFF2-40B4-BE49-F238E27FC236}">
                <a16:creationId xmlns:a16="http://schemas.microsoft.com/office/drawing/2014/main" id="{05F705B1-A1B7-1DD4-D7B2-014B99F986A2}"/>
              </a:ext>
            </a:extLst>
          </p:cNvPr>
          <p:cNvSpPr txBox="1"/>
          <p:nvPr/>
        </p:nvSpPr>
        <p:spPr>
          <a:xfrm>
            <a:off x="746760" y="3000247"/>
            <a:ext cx="10698480" cy="401007"/>
          </a:xfrm>
          <a:prstGeom prst="rect">
            <a:avLst/>
          </a:prstGeom>
          <a:noFill/>
        </p:spPr>
        <p:txBody>
          <a:bodyPr wrap="square" lIns="18288" tIns="18288" rIns="18288" bIns="18288" anchor="t">
            <a:spAutoFit/>
          </a:bodyPr>
          <a:lstStyle/>
          <a:p>
            <a:pPr marL="342900" indent="-342900">
              <a:lnSpc>
                <a:spcPct val="105000"/>
              </a:lnSpc>
              <a:buFont typeface="Arial" panose="020B0604020202020204" pitchFamily="34" charset="0"/>
              <a:buChar char="•"/>
            </a:pPr>
            <a:r>
              <a:rPr lang="zh-CN" altLang="en-US" sz="2400" i="0" dirty="0">
                <a:solidFill>
                  <a:srgbClr val="222833"/>
                </a:solidFill>
                <a:latin typeface="微软雅黑" panose="020B0503020204020204" pitchFamily="34" charset="-122"/>
                <a:ea typeface="微软雅黑" panose="020B0503020204020204" pitchFamily="34" charset="-122"/>
              </a:rPr>
              <a:t>更新状态</a:t>
            </a:r>
            <a:endParaRPr sz="2400" i="0" dirty="0">
              <a:solidFill>
                <a:srgbClr val="222833"/>
              </a:solidFill>
              <a:latin typeface="微软雅黑" panose="020B0503020204020204" pitchFamily="34" charset="-122"/>
              <a:ea typeface="微软雅黑" panose="020B0503020204020204" pitchFamily="34" charset="-122"/>
            </a:endParaRPr>
          </a:p>
        </p:txBody>
      </p:sp>
      <p:sp>
        <p:nvSpPr>
          <p:cNvPr id="22" name="TextBox 8">
            <a:extLst>
              <a:ext uri="{FF2B5EF4-FFF2-40B4-BE49-F238E27FC236}">
                <a16:creationId xmlns:a16="http://schemas.microsoft.com/office/drawing/2014/main" id="{4E455FB2-1A47-6594-C4B8-5D6BD465933A}"/>
              </a:ext>
            </a:extLst>
          </p:cNvPr>
          <p:cNvSpPr txBox="1"/>
          <p:nvPr/>
        </p:nvSpPr>
        <p:spPr>
          <a:xfrm>
            <a:off x="781812" y="4539136"/>
            <a:ext cx="10698480" cy="401007"/>
          </a:xfrm>
          <a:prstGeom prst="rect">
            <a:avLst/>
          </a:prstGeom>
          <a:noFill/>
        </p:spPr>
        <p:txBody>
          <a:bodyPr wrap="square" lIns="18288" tIns="18288" rIns="18288" bIns="18288" anchor="t">
            <a:spAutoFit/>
          </a:bodyPr>
          <a:lstStyle/>
          <a:p>
            <a:pPr marL="342900" indent="-342900">
              <a:lnSpc>
                <a:spcPct val="105000"/>
              </a:lnSpc>
              <a:buFont typeface="Arial" panose="020B0604020202020204" pitchFamily="34" charset="0"/>
              <a:buChar char="•"/>
            </a:pPr>
            <a:r>
              <a:rPr lang="zh-CN" altLang="en-US" sz="2400" i="0" dirty="0">
                <a:solidFill>
                  <a:srgbClr val="222833"/>
                </a:solidFill>
                <a:latin typeface="微软雅黑" panose="020B0503020204020204" pitchFamily="34" charset="-122"/>
                <a:ea typeface="微软雅黑" panose="020B0503020204020204" pitchFamily="34" charset="-122"/>
              </a:rPr>
              <a:t>更新协方差</a:t>
            </a:r>
            <a:endParaRPr sz="2400" i="0" dirty="0">
              <a:solidFill>
                <a:srgbClr val="222833"/>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EKF-SLAM：优势与瓶颈</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47</a:t>
            </a:r>
          </a:p>
        </p:txBody>
      </p:sp>
      <p:sp>
        <p:nvSpPr>
          <p:cNvPr id="9" name="Rounded Rectangle 8"/>
          <p:cNvSpPr/>
          <p:nvPr/>
        </p:nvSpPr>
        <p:spPr>
          <a:xfrm>
            <a:off x="685800" y="1828800"/>
            <a:ext cx="5230368" cy="2743200"/>
          </a:xfrm>
          <a:prstGeom prst="roundRect">
            <a:avLst>
              <a:gd name="adj" fmla="val 3704"/>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1828800"/>
            <a:ext cx="77724" cy="274320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5256" y="201168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优势</a:t>
            </a:r>
          </a:p>
        </p:txBody>
      </p:sp>
      <p:sp>
        <p:nvSpPr>
          <p:cNvPr id="12" name="TextBox 11"/>
          <p:cNvSpPr txBox="1"/>
          <p:nvPr/>
        </p:nvSpPr>
        <p:spPr>
          <a:xfrm>
            <a:off x="905256" y="2487168"/>
            <a:ext cx="4846320" cy="1956816"/>
          </a:xfrm>
          <a:prstGeom prst="rect">
            <a:avLst/>
          </a:prstGeom>
          <a:noFill/>
        </p:spPr>
        <p:txBody>
          <a:bodyPr wrap="square" lIns="18288" tIns="18288" rIns="18288" bIns="18288" anchor="t">
            <a:spAutoFit/>
          </a:bodyPr>
          <a:lstStyle/>
          <a:p>
            <a:pPr algn="l">
              <a:lnSpc>
                <a:spcPct val="110000"/>
              </a:lnSpc>
            </a:pPr>
            <a:r>
              <a:rPr sz="2000" b="0" i="0">
                <a:solidFill>
                  <a:srgbClr val="222833"/>
                </a:solidFill>
                <a:latin typeface="微软雅黑"/>
              </a:rPr>
              <a:t>算法结构清晰、理论完备；在路标数量较少时计算高效。</a:t>
            </a:r>
          </a:p>
        </p:txBody>
      </p:sp>
      <p:sp>
        <p:nvSpPr>
          <p:cNvPr id="13" name="Rounded Rectangle 12"/>
          <p:cNvSpPr/>
          <p:nvPr/>
        </p:nvSpPr>
        <p:spPr>
          <a:xfrm>
            <a:off x="6199632" y="1828800"/>
            <a:ext cx="5230368" cy="2743200"/>
          </a:xfrm>
          <a:prstGeom prst="roundRect">
            <a:avLst>
              <a:gd name="adj" fmla="val 0"/>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99632" y="1828800"/>
            <a:ext cx="77724" cy="274320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19088" y="201168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C63F45"/>
                </a:solidFill>
                <a:latin typeface="微软雅黑"/>
              </a:rPr>
              <a:t>瓶颈</a:t>
            </a:r>
          </a:p>
        </p:txBody>
      </p:sp>
      <p:sp>
        <p:nvSpPr>
          <p:cNvPr id="16" name="TextBox 15"/>
          <p:cNvSpPr txBox="1"/>
          <p:nvPr/>
        </p:nvSpPr>
        <p:spPr>
          <a:xfrm>
            <a:off x="6419088" y="2487168"/>
            <a:ext cx="4846320" cy="1956816"/>
          </a:xfrm>
          <a:prstGeom prst="rect">
            <a:avLst/>
          </a:prstGeom>
          <a:noFill/>
        </p:spPr>
        <p:txBody>
          <a:bodyPr wrap="square" lIns="18288" tIns="18288" rIns="18288" bIns="18288" anchor="t">
            <a:spAutoFit/>
          </a:bodyPr>
          <a:lstStyle/>
          <a:p>
            <a:pPr algn="l">
              <a:lnSpc>
                <a:spcPct val="110000"/>
              </a:lnSpc>
            </a:pPr>
            <a:r>
              <a:rPr sz="1900" b="0" i="0">
                <a:solidFill>
                  <a:srgbClr val="222833"/>
                </a:solidFill>
                <a:latin typeface="微软雅黑"/>
              </a:rPr>
              <a:t>机器人 3 维位姿 + n 个二维路标时，协方差矩阵维度达到 (3+2n)×(3+2n)，难以扩展到大规模环境。</a:t>
            </a:r>
          </a:p>
        </p:txBody>
      </p:sp>
      <p:sp>
        <p:nvSpPr>
          <p:cNvPr id="17" name="TextBox 16"/>
          <p:cNvSpPr txBox="1"/>
          <p:nvPr/>
        </p:nvSpPr>
        <p:spPr>
          <a:xfrm>
            <a:off x="1097280" y="5074920"/>
            <a:ext cx="9966960" cy="512064"/>
          </a:xfrm>
          <a:prstGeom prst="rect">
            <a:avLst/>
          </a:prstGeom>
          <a:noFill/>
        </p:spPr>
        <p:txBody>
          <a:bodyPr wrap="square" lIns="18288" tIns="18288" rIns="18288" bIns="18288" anchor="t">
            <a:spAutoFit/>
          </a:bodyPr>
          <a:lstStyle/>
          <a:p>
            <a:pPr algn="ctr">
              <a:lnSpc>
                <a:spcPct val="105000"/>
              </a:lnSpc>
            </a:pPr>
            <a:r>
              <a:rPr sz="2100" b="1" i="0">
                <a:solidFill>
                  <a:srgbClr val="24477D"/>
                </a:solidFill>
                <a:latin typeface="微软雅黑"/>
              </a:rPr>
              <a:t>FastSLAM 与图优化 SLAM 正是针对这一扩展性瓶颈提出的改进路线。</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FastSLAM：粒子表示轨迹，地图条件独立</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48</a:t>
            </a:r>
          </a:p>
        </p:txBody>
      </p:sp>
      <p:sp>
        <p:nvSpPr>
          <p:cNvPr id="9" name="TextBox 8"/>
          <p:cNvSpPr txBox="1"/>
          <p:nvPr/>
        </p:nvSpPr>
        <p:spPr>
          <a:xfrm>
            <a:off x="749808" y="1783080"/>
            <a:ext cx="10698480" cy="801053"/>
          </a:xfrm>
          <a:prstGeom prst="rect">
            <a:avLst/>
          </a:prstGeom>
          <a:noFill/>
        </p:spPr>
        <p:txBody>
          <a:bodyPr wrap="square" lIns="18288" tIns="18288" rIns="18288" bIns="18288" anchor="t">
            <a:spAutoFit/>
          </a:bodyPr>
          <a:lstStyle/>
          <a:p>
            <a:pPr marL="342900" indent="-342900">
              <a:lnSpc>
                <a:spcPct val="105000"/>
              </a:lnSpc>
              <a:buFont typeface="Arial" panose="020B0604020202020204" pitchFamily="34" charset="0"/>
              <a:buChar char="•"/>
            </a:pPr>
            <a:r>
              <a:rPr sz="2400" b="0" i="0" dirty="0" err="1">
                <a:solidFill>
                  <a:srgbClr val="222833"/>
                </a:solidFill>
                <a:latin typeface="微软雅黑"/>
              </a:rPr>
              <a:t>FastSLAM</a:t>
            </a:r>
            <a:r>
              <a:rPr sz="2400" b="0" i="0" dirty="0">
                <a:solidFill>
                  <a:srgbClr val="222833"/>
                </a:solidFill>
                <a:latin typeface="微软雅黑"/>
              </a:rPr>
              <a:t> </a:t>
            </a:r>
            <a:r>
              <a:rPr sz="2400" b="0" i="0" dirty="0" err="1">
                <a:solidFill>
                  <a:srgbClr val="222833"/>
                </a:solidFill>
                <a:latin typeface="微软雅黑"/>
              </a:rPr>
              <a:t>基于</a:t>
            </a:r>
            <a:r>
              <a:rPr sz="2400" b="0" i="0" dirty="0">
                <a:solidFill>
                  <a:srgbClr val="222833"/>
                </a:solidFill>
                <a:latin typeface="微软雅黑"/>
              </a:rPr>
              <a:t> Rao-</a:t>
            </a:r>
            <a:r>
              <a:rPr sz="2400" b="0" i="0" dirty="0" err="1">
                <a:solidFill>
                  <a:srgbClr val="222833"/>
                </a:solidFill>
                <a:latin typeface="微软雅黑"/>
              </a:rPr>
              <a:t>Blackwellized</a:t>
            </a:r>
            <a:r>
              <a:rPr sz="2400" b="0" i="0" dirty="0">
                <a:solidFill>
                  <a:srgbClr val="222833"/>
                </a:solidFill>
                <a:latin typeface="微软雅黑"/>
              </a:rPr>
              <a:t> </a:t>
            </a:r>
            <a:r>
              <a:rPr sz="2400" b="0" i="0" dirty="0" err="1">
                <a:solidFill>
                  <a:srgbClr val="222833"/>
                </a:solidFill>
                <a:latin typeface="微软雅黑"/>
              </a:rPr>
              <a:t>粒子滤波。每个粒子代表一条可能的机器人轨迹，并为地图维护条件估计</a:t>
            </a:r>
            <a:r>
              <a:rPr sz="2400" b="0" i="0" dirty="0">
                <a:solidFill>
                  <a:srgbClr val="222833"/>
                </a:solidFill>
                <a:latin typeface="微软雅黑"/>
              </a:rPr>
              <a:t>。</a:t>
            </a:r>
          </a:p>
        </p:txBody>
      </p:sp>
      <p:sp>
        <p:nvSpPr>
          <p:cNvPr id="13" name="TextBox 12"/>
          <p:cNvSpPr txBox="1"/>
          <p:nvPr/>
        </p:nvSpPr>
        <p:spPr>
          <a:xfrm>
            <a:off x="1051560" y="4343400"/>
            <a:ext cx="10058400" cy="640080"/>
          </a:xfrm>
          <a:prstGeom prst="rect">
            <a:avLst/>
          </a:prstGeom>
          <a:noFill/>
        </p:spPr>
        <p:txBody>
          <a:bodyPr wrap="square" lIns="18288" tIns="18288" rIns="18288" bIns="18288" anchor="t">
            <a:spAutoFit/>
          </a:bodyPr>
          <a:lstStyle/>
          <a:p>
            <a:pPr algn="ctr">
              <a:lnSpc>
                <a:spcPct val="105000"/>
              </a:lnSpc>
            </a:pPr>
            <a:r>
              <a:rPr sz="2100" b="1" i="0">
                <a:solidFill>
                  <a:srgbClr val="24477D"/>
                </a:solidFill>
                <a:latin typeface="微软雅黑"/>
              </a:rPr>
              <a:t>分解后：轨迹由粒子采样，地图中的路标可在给定轨迹条件下独立估计。</a:t>
            </a:r>
          </a:p>
        </p:txBody>
      </p:sp>
      <p:pic>
        <p:nvPicPr>
          <p:cNvPr id="15" name="图片 14">
            <a:extLst>
              <a:ext uri="{FF2B5EF4-FFF2-40B4-BE49-F238E27FC236}">
                <a16:creationId xmlns:a16="http://schemas.microsoft.com/office/drawing/2014/main" id="{0E215E19-69B3-FBE4-A2D4-268446E6B923}"/>
              </a:ext>
            </a:extLst>
          </p:cNvPr>
          <p:cNvPicPr>
            <a:picLocks noChangeAspect="1"/>
          </p:cNvPicPr>
          <p:nvPr/>
        </p:nvPicPr>
        <p:blipFill>
          <a:blip r:embed="rId2"/>
          <a:stretch>
            <a:fillRect/>
          </a:stretch>
        </p:blipFill>
        <p:spPr>
          <a:xfrm>
            <a:off x="1136983" y="2776174"/>
            <a:ext cx="9960705" cy="1206546"/>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FastSLAM 路径估计仿真</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49</a:t>
            </a:r>
          </a:p>
        </p:txBody>
      </p:sp>
      <p:pic>
        <p:nvPicPr>
          <p:cNvPr id="9" name="Picture 8" descr="fig9.png"/>
          <p:cNvPicPr>
            <a:picLocks noChangeAspect="1"/>
          </p:cNvPicPr>
          <p:nvPr/>
        </p:nvPicPr>
        <p:blipFill>
          <a:blip r:embed="rId2"/>
          <a:stretch>
            <a:fillRect/>
          </a:stretch>
        </p:blipFill>
        <p:spPr>
          <a:xfrm>
            <a:off x="6549135" y="1726058"/>
            <a:ext cx="5300801" cy="2724022"/>
          </a:xfrm>
          <a:prstGeom prst="rect">
            <a:avLst/>
          </a:prstGeom>
        </p:spPr>
      </p:pic>
      <p:sp>
        <p:nvSpPr>
          <p:cNvPr id="10" name="TextBox 9"/>
          <p:cNvSpPr txBox="1"/>
          <p:nvPr/>
        </p:nvSpPr>
        <p:spPr>
          <a:xfrm>
            <a:off x="6410615" y="4693611"/>
            <a:ext cx="5577840" cy="279692"/>
          </a:xfrm>
          <a:prstGeom prst="rect">
            <a:avLst/>
          </a:prstGeom>
          <a:noFill/>
        </p:spPr>
        <p:txBody>
          <a:bodyPr wrap="square" lIns="18288" tIns="18288" rIns="18288" bIns="18288" anchor="t">
            <a:spAutoFit/>
          </a:bodyPr>
          <a:lstStyle/>
          <a:p>
            <a:pPr algn="ctr">
              <a:lnSpc>
                <a:spcPct val="105000"/>
              </a:lnSpc>
            </a:pPr>
            <a:r>
              <a:rPr sz="1600" b="1" i="0" dirty="0" err="1">
                <a:solidFill>
                  <a:srgbClr val="24477D"/>
                </a:solidFill>
                <a:latin typeface="微软雅黑"/>
              </a:rPr>
              <a:t>机器人</a:t>
            </a:r>
            <a:r>
              <a:rPr sz="1600" b="1" i="0" dirty="0">
                <a:solidFill>
                  <a:srgbClr val="24477D"/>
                </a:solidFill>
                <a:latin typeface="微软雅黑"/>
              </a:rPr>
              <a:t> </a:t>
            </a:r>
            <a:r>
              <a:rPr sz="1600" b="1" i="0" dirty="0" err="1">
                <a:solidFill>
                  <a:srgbClr val="24477D"/>
                </a:solidFill>
                <a:latin typeface="微软雅黑"/>
              </a:rPr>
              <a:t>FastSLAM</a:t>
            </a:r>
            <a:r>
              <a:rPr sz="1600" b="1" i="0" dirty="0">
                <a:solidFill>
                  <a:srgbClr val="24477D"/>
                </a:solidFill>
                <a:latin typeface="微软雅黑"/>
              </a:rPr>
              <a:t> </a:t>
            </a:r>
            <a:r>
              <a:rPr sz="1600" b="1" i="0" dirty="0" err="1">
                <a:solidFill>
                  <a:srgbClr val="24477D"/>
                </a:solidFill>
                <a:latin typeface="微软雅黑"/>
              </a:rPr>
              <a:t>估计路径仿真结果</a:t>
            </a:r>
            <a:endParaRPr sz="1600" b="1" i="0" dirty="0">
              <a:solidFill>
                <a:srgbClr val="24477D"/>
              </a:solidFill>
              <a:latin typeface="微软雅黑"/>
            </a:endParaRPr>
          </a:p>
        </p:txBody>
      </p:sp>
      <p:sp>
        <p:nvSpPr>
          <p:cNvPr id="11" name="TextBox 10"/>
          <p:cNvSpPr txBox="1"/>
          <p:nvPr/>
        </p:nvSpPr>
        <p:spPr>
          <a:xfrm>
            <a:off x="528320" y="1726058"/>
            <a:ext cx="6151880" cy="1534651"/>
          </a:xfrm>
          <a:prstGeom prst="rect">
            <a:avLst/>
          </a:prstGeom>
          <a:noFill/>
        </p:spPr>
        <p:txBody>
          <a:bodyPr wrap="square" lIns="18288" tIns="18288" rIns="18288" bIns="18288">
            <a:spAutoFit/>
          </a:bodyPr>
          <a:lstStyle/>
          <a:p>
            <a:pPr>
              <a:lnSpc>
                <a:spcPct val="115000"/>
              </a:lnSpc>
              <a:spcAft>
                <a:spcPts val="1000"/>
              </a:spcAft>
              <a:defRPr sz="1800">
                <a:solidFill>
                  <a:srgbClr val="222833"/>
                </a:solidFill>
                <a:latin typeface="微软雅黑"/>
              </a:defRPr>
            </a:pPr>
            <a:r>
              <a:rPr sz="2400" dirty="0"/>
              <a:t>• </a:t>
            </a:r>
            <a:r>
              <a:rPr sz="2400" dirty="0" err="1"/>
              <a:t>感知范围会影响粒子权重与路径估计质量</a:t>
            </a:r>
            <a:endParaRPr sz="2400" dirty="0"/>
          </a:p>
          <a:p>
            <a:pPr>
              <a:lnSpc>
                <a:spcPct val="115000"/>
              </a:lnSpc>
              <a:spcAft>
                <a:spcPts val="1000"/>
              </a:spcAft>
              <a:defRPr sz="1800">
                <a:solidFill>
                  <a:srgbClr val="222833"/>
                </a:solidFill>
                <a:latin typeface="微软雅黑"/>
              </a:defRPr>
            </a:pPr>
            <a:r>
              <a:rPr sz="2400" dirty="0"/>
              <a:t>• </a:t>
            </a:r>
            <a:r>
              <a:rPr sz="2400" dirty="0" err="1"/>
              <a:t>FastSLAM</a:t>
            </a:r>
            <a:r>
              <a:rPr sz="2400" dirty="0"/>
              <a:t> </a:t>
            </a:r>
            <a:r>
              <a:rPr sz="2400" dirty="0" err="1"/>
              <a:t>可以表示非高斯、多模态后验</a:t>
            </a:r>
            <a:endParaRPr sz="2400" dirty="0"/>
          </a:p>
          <a:p>
            <a:pPr>
              <a:lnSpc>
                <a:spcPct val="115000"/>
              </a:lnSpc>
              <a:spcAft>
                <a:spcPts val="1000"/>
              </a:spcAft>
              <a:defRPr sz="1800">
                <a:solidFill>
                  <a:srgbClr val="222833"/>
                </a:solidFill>
                <a:latin typeface="微软雅黑"/>
              </a:defRPr>
            </a:pPr>
            <a:r>
              <a:rPr sz="2400" dirty="0"/>
              <a:t>• </a:t>
            </a:r>
            <a:r>
              <a:rPr sz="2400" dirty="0" err="1"/>
              <a:t>对数据关联模糊的场景更具鲁棒性</a:t>
            </a:r>
            <a:endParaRPr sz="2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FastSLAM 步骤 1-2：状态传播与权重更新</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50</a:t>
            </a:r>
          </a:p>
        </p:txBody>
      </p:sp>
      <p:sp>
        <p:nvSpPr>
          <p:cNvPr id="9" name="Rounded Rectangle 8"/>
          <p:cNvSpPr/>
          <p:nvPr/>
        </p:nvSpPr>
        <p:spPr>
          <a:xfrm>
            <a:off x="685800" y="1828800"/>
            <a:ext cx="5230368" cy="3291840"/>
          </a:xfrm>
          <a:prstGeom prst="roundRect">
            <a:avLst>
              <a:gd name="adj" fmla="val 6790"/>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1828800"/>
            <a:ext cx="77724" cy="329184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5256" y="201168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1 状态传播</a:t>
            </a:r>
          </a:p>
        </p:txBody>
      </p:sp>
      <p:sp>
        <p:nvSpPr>
          <p:cNvPr id="12" name="TextBox 11"/>
          <p:cNvSpPr txBox="1"/>
          <p:nvPr/>
        </p:nvSpPr>
        <p:spPr>
          <a:xfrm>
            <a:off x="905256" y="2487168"/>
            <a:ext cx="4846320" cy="1226746"/>
          </a:xfrm>
          <a:prstGeom prst="rect">
            <a:avLst/>
          </a:prstGeom>
          <a:noFill/>
        </p:spPr>
        <p:txBody>
          <a:bodyPr wrap="square" lIns="18288" tIns="18288" rIns="18288" bIns="18288" anchor="t">
            <a:spAutoFit/>
          </a:bodyPr>
          <a:lstStyle/>
          <a:p>
            <a:pPr algn="l">
              <a:lnSpc>
                <a:spcPct val="110000"/>
              </a:lnSpc>
            </a:pPr>
            <a:r>
              <a:rPr sz="2400" b="0" i="0">
                <a:solidFill>
                  <a:srgbClr val="222833"/>
                </a:solidFill>
                <a:latin typeface="微软雅黑"/>
              </a:rPr>
              <a:t>根据运动模型，从上一时刻粒子采样得到当前位姿：
xₜ⁽ⁱ⁾ ~ p(xₜ | xₜ₋₁⁽ⁱ⁾,uₜ)</a:t>
            </a:r>
          </a:p>
        </p:txBody>
      </p:sp>
      <p:sp>
        <p:nvSpPr>
          <p:cNvPr id="13" name="Rounded Rectangle 12"/>
          <p:cNvSpPr/>
          <p:nvPr/>
        </p:nvSpPr>
        <p:spPr>
          <a:xfrm>
            <a:off x="6199632" y="1828800"/>
            <a:ext cx="5230368" cy="3291840"/>
          </a:xfrm>
          <a:prstGeom prst="roundRect">
            <a:avLst>
              <a:gd name="adj" fmla="val 2315"/>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99632" y="1828800"/>
            <a:ext cx="77724" cy="329184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19088" y="201168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2 权重更新</a:t>
            </a:r>
          </a:p>
        </p:txBody>
      </p:sp>
      <p:sp>
        <p:nvSpPr>
          <p:cNvPr id="16" name="TextBox 15"/>
          <p:cNvSpPr txBox="1"/>
          <p:nvPr/>
        </p:nvSpPr>
        <p:spPr>
          <a:xfrm>
            <a:off x="6419088" y="2487168"/>
            <a:ext cx="4846320" cy="1227387"/>
          </a:xfrm>
          <a:prstGeom prst="rect">
            <a:avLst/>
          </a:prstGeom>
          <a:noFill/>
        </p:spPr>
        <p:txBody>
          <a:bodyPr wrap="square" lIns="18288" tIns="18288" rIns="18288" bIns="18288" anchor="t">
            <a:spAutoFit/>
          </a:bodyPr>
          <a:lstStyle/>
          <a:p>
            <a:pPr algn="l">
              <a:lnSpc>
                <a:spcPct val="110000"/>
              </a:lnSpc>
            </a:pPr>
            <a:r>
              <a:rPr sz="2400" b="0" i="0">
                <a:solidFill>
                  <a:srgbClr val="222833"/>
                </a:solidFill>
                <a:latin typeface="微软雅黑"/>
              </a:rPr>
              <a:t>根据观测模型计算重要性权重：
ωₜ⁽ⁱ⁾ ∝ p(zₜ | xₜ⁽ⁱ⁾,mₜ₋₁⁽ⁱ⁾)，再进行归一化。</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FastSLAM 步骤 3-4：地图估计与重采样</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51</a:t>
            </a:r>
          </a:p>
        </p:txBody>
      </p:sp>
      <p:sp>
        <p:nvSpPr>
          <p:cNvPr id="9" name="Rounded Rectangle 8"/>
          <p:cNvSpPr/>
          <p:nvPr/>
        </p:nvSpPr>
        <p:spPr>
          <a:xfrm>
            <a:off x="685800" y="1828800"/>
            <a:ext cx="5230368" cy="3291840"/>
          </a:xfrm>
          <a:prstGeom prst="roundRect">
            <a:avLst>
              <a:gd name="adj" fmla="val 1"/>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1828800"/>
            <a:ext cx="77724" cy="329184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5256" y="201168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C58A24"/>
                </a:solidFill>
                <a:latin typeface="微软雅黑"/>
              </a:rPr>
              <a:t>3 地图估计</a:t>
            </a:r>
          </a:p>
        </p:txBody>
      </p:sp>
      <p:sp>
        <p:nvSpPr>
          <p:cNvPr id="12" name="TextBox 11"/>
          <p:cNvSpPr txBox="1"/>
          <p:nvPr/>
        </p:nvSpPr>
        <p:spPr>
          <a:xfrm>
            <a:off x="905256" y="2487168"/>
            <a:ext cx="4846320" cy="250545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利用当前粒子位姿和观测更新粒子附属地图；特征地图可使用 EKF，度量地图可使用栅格映射。</a:t>
            </a:r>
          </a:p>
        </p:txBody>
      </p:sp>
      <p:sp>
        <p:nvSpPr>
          <p:cNvPr id="13" name="Rounded Rectangle 12"/>
          <p:cNvSpPr/>
          <p:nvPr/>
        </p:nvSpPr>
        <p:spPr>
          <a:xfrm>
            <a:off x="6199632" y="1828800"/>
            <a:ext cx="5230368" cy="3291840"/>
          </a:xfrm>
          <a:prstGeom prst="roundRect">
            <a:avLst>
              <a:gd name="adj" fmla="val 0"/>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99632" y="1828800"/>
            <a:ext cx="77724" cy="329184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19088" y="201168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C63F45"/>
                </a:solidFill>
                <a:latin typeface="微软雅黑"/>
              </a:rPr>
              <a:t>4 重采样</a:t>
            </a:r>
          </a:p>
        </p:txBody>
      </p:sp>
      <p:sp>
        <p:nvSpPr>
          <p:cNvPr id="16" name="TextBox 15"/>
          <p:cNvSpPr txBox="1"/>
          <p:nvPr/>
        </p:nvSpPr>
        <p:spPr>
          <a:xfrm>
            <a:off x="6419088" y="2487168"/>
            <a:ext cx="4846320" cy="250545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复制高权重粒子、剔除低权重粒子，缓解粒子退化；可采用系统重采样或残差重采样。</a:t>
            </a:r>
          </a:p>
        </p:txBody>
      </p:sp>
      <p:pic>
        <p:nvPicPr>
          <p:cNvPr id="21" name="图片 20">
            <a:extLst>
              <a:ext uri="{FF2B5EF4-FFF2-40B4-BE49-F238E27FC236}">
                <a16:creationId xmlns:a16="http://schemas.microsoft.com/office/drawing/2014/main" id="{7C6C4573-74D6-E3CA-F776-A83C2E073205}"/>
              </a:ext>
            </a:extLst>
          </p:cNvPr>
          <p:cNvPicPr>
            <a:picLocks noChangeAspect="1"/>
          </p:cNvPicPr>
          <p:nvPr/>
        </p:nvPicPr>
        <p:blipFill>
          <a:blip r:embed="rId2"/>
          <a:stretch>
            <a:fillRect/>
          </a:stretch>
        </p:blipFill>
        <p:spPr>
          <a:xfrm>
            <a:off x="7665613" y="3596522"/>
            <a:ext cx="3103987" cy="1092953"/>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FastSLAM 2.0：改进提议分布</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52</a:t>
            </a:r>
          </a:p>
        </p:txBody>
      </p:sp>
      <p:sp>
        <p:nvSpPr>
          <p:cNvPr id="9" name="TextBox 8"/>
          <p:cNvSpPr txBox="1"/>
          <p:nvPr/>
        </p:nvSpPr>
        <p:spPr>
          <a:xfrm>
            <a:off x="685800" y="1783080"/>
            <a:ext cx="5715000" cy="3723648"/>
          </a:xfrm>
          <a:prstGeom prst="rect">
            <a:avLst/>
          </a:prstGeom>
          <a:noFill/>
        </p:spPr>
        <p:txBody>
          <a:bodyPr wrap="square" lIns="18288" tIns="18288" rIns="18288" bIns="18288">
            <a:spAutoFit/>
          </a:bodyPr>
          <a:lstStyle/>
          <a:p>
            <a:pPr>
              <a:lnSpc>
                <a:spcPct val="115000"/>
              </a:lnSpc>
              <a:spcAft>
                <a:spcPts val="1000"/>
              </a:spcAft>
              <a:defRPr sz="1800">
                <a:solidFill>
                  <a:srgbClr val="222833"/>
                </a:solidFill>
                <a:latin typeface="微软雅黑"/>
              </a:defRPr>
            </a:pPr>
            <a:r>
              <a:rPr sz="2800" dirty="0"/>
              <a:t>• </a:t>
            </a:r>
            <a:r>
              <a:rPr sz="2800" dirty="0" err="1"/>
              <a:t>采样新粒子时不仅依赖运动模型，还融入最新观测信息</a:t>
            </a:r>
            <a:endParaRPr sz="2800" dirty="0"/>
          </a:p>
          <a:p>
            <a:pPr>
              <a:lnSpc>
                <a:spcPct val="115000"/>
              </a:lnSpc>
              <a:spcAft>
                <a:spcPts val="1000"/>
              </a:spcAft>
              <a:defRPr sz="1800">
                <a:solidFill>
                  <a:srgbClr val="222833"/>
                </a:solidFill>
                <a:latin typeface="微软雅黑"/>
              </a:defRPr>
            </a:pPr>
            <a:r>
              <a:rPr sz="2800" dirty="0"/>
              <a:t>• </a:t>
            </a:r>
            <a:r>
              <a:rPr sz="2800" dirty="0" err="1"/>
              <a:t>提议分布更接近真实后验，因此可用更少粒子获得更稳健估计</a:t>
            </a:r>
            <a:endParaRPr sz="2800" dirty="0"/>
          </a:p>
          <a:p>
            <a:pPr>
              <a:lnSpc>
                <a:spcPct val="115000"/>
              </a:lnSpc>
              <a:spcAft>
                <a:spcPts val="1000"/>
              </a:spcAft>
              <a:defRPr sz="1800">
                <a:solidFill>
                  <a:srgbClr val="222833"/>
                </a:solidFill>
                <a:latin typeface="微软雅黑"/>
              </a:defRPr>
            </a:pPr>
            <a:r>
              <a:rPr sz="2800" dirty="0"/>
              <a:t>• </a:t>
            </a:r>
            <a:r>
              <a:rPr sz="2800" dirty="0" err="1"/>
              <a:t>流程仍保持“轨迹粒子</a:t>
            </a:r>
            <a:r>
              <a:rPr sz="2800" dirty="0"/>
              <a:t> + </a:t>
            </a:r>
            <a:r>
              <a:rPr sz="2800" dirty="0" err="1"/>
              <a:t>独立</a:t>
            </a:r>
            <a:r>
              <a:rPr sz="2800" dirty="0"/>
              <a:t> EKF </a:t>
            </a:r>
            <a:r>
              <a:rPr sz="2800" dirty="0" err="1"/>
              <a:t>路标估计</a:t>
            </a:r>
            <a:r>
              <a:rPr sz="2800" dirty="0"/>
              <a:t> + </a:t>
            </a:r>
            <a:r>
              <a:rPr sz="2800" dirty="0" err="1"/>
              <a:t>权重</a:t>
            </a:r>
            <a:r>
              <a:rPr sz="2800" dirty="0"/>
              <a:t> + </a:t>
            </a:r>
            <a:r>
              <a:rPr sz="2800" dirty="0" err="1"/>
              <a:t>重采样”的基本框架</a:t>
            </a:r>
            <a:endParaRPr sz="2800" dirty="0"/>
          </a:p>
        </p:txBody>
      </p:sp>
      <p:pic>
        <p:nvPicPr>
          <p:cNvPr id="10" name="Picture 9" descr="fig10.png"/>
          <p:cNvPicPr>
            <a:picLocks noChangeAspect="1"/>
          </p:cNvPicPr>
          <p:nvPr/>
        </p:nvPicPr>
        <p:blipFill>
          <a:blip r:embed="rId2"/>
          <a:stretch>
            <a:fillRect/>
          </a:stretch>
        </p:blipFill>
        <p:spPr>
          <a:xfrm>
            <a:off x="6908292" y="1523390"/>
            <a:ext cx="4445927" cy="4434840"/>
          </a:xfrm>
          <a:prstGeom prst="rect">
            <a:avLst/>
          </a:prstGeom>
        </p:spPr>
      </p:pic>
      <p:sp>
        <p:nvSpPr>
          <p:cNvPr id="11" name="TextBox 10"/>
          <p:cNvSpPr txBox="1"/>
          <p:nvPr/>
        </p:nvSpPr>
        <p:spPr>
          <a:xfrm>
            <a:off x="6537960" y="6144768"/>
            <a:ext cx="4983480" cy="234103"/>
          </a:xfrm>
          <a:prstGeom prst="rect">
            <a:avLst/>
          </a:prstGeom>
          <a:noFill/>
        </p:spPr>
        <p:txBody>
          <a:bodyPr wrap="square" lIns="18288" tIns="18288" rIns="18288" bIns="18288" anchor="t">
            <a:spAutoFit/>
          </a:bodyPr>
          <a:lstStyle/>
          <a:p>
            <a:pPr algn="ctr">
              <a:lnSpc>
                <a:spcPct val="105000"/>
              </a:lnSpc>
            </a:pPr>
            <a:r>
              <a:rPr sz="1300" b="1" i="0" dirty="0" err="1">
                <a:solidFill>
                  <a:srgbClr val="24477D"/>
                </a:solidFill>
                <a:latin typeface="微软雅黑"/>
              </a:rPr>
              <a:t>FastSLAM</a:t>
            </a:r>
            <a:r>
              <a:rPr sz="1300" b="1" i="0" dirty="0">
                <a:solidFill>
                  <a:srgbClr val="24477D"/>
                </a:solidFill>
                <a:latin typeface="微软雅黑"/>
              </a:rPr>
              <a:t> 2.0 </a:t>
            </a:r>
            <a:r>
              <a:rPr sz="1300" b="1" i="0" dirty="0" err="1">
                <a:solidFill>
                  <a:srgbClr val="24477D"/>
                </a:solidFill>
                <a:latin typeface="微软雅黑"/>
              </a:rPr>
              <a:t>的流程</a:t>
            </a:r>
            <a:endParaRPr sz="1300" b="1" i="0" dirty="0">
              <a:solidFill>
                <a:srgbClr val="24477D"/>
              </a:solidFill>
              <a:latin typeface="微软雅黑"/>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6.3.4 视觉 SLAM：以相机为主要传感器</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53</a:t>
            </a:r>
          </a:p>
        </p:txBody>
      </p:sp>
      <p:sp>
        <p:nvSpPr>
          <p:cNvPr id="9" name="Rounded Rectangle 8"/>
          <p:cNvSpPr/>
          <p:nvPr/>
        </p:nvSpPr>
        <p:spPr>
          <a:xfrm>
            <a:off x="640080" y="1828800"/>
            <a:ext cx="3182112" cy="2377440"/>
          </a:xfrm>
          <a:prstGeom prst="roundRect">
            <a:avLst>
              <a:gd name="adj" fmla="val 8877"/>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1828800"/>
            <a:ext cx="77724" cy="237744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201168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传感器</a:t>
            </a:r>
          </a:p>
        </p:txBody>
      </p:sp>
      <p:sp>
        <p:nvSpPr>
          <p:cNvPr id="12" name="TextBox 11"/>
          <p:cNvSpPr txBox="1"/>
          <p:nvPr/>
        </p:nvSpPr>
        <p:spPr>
          <a:xfrm>
            <a:off x="859536" y="2487168"/>
            <a:ext cx="2798064" cy="1591056"/>
          </a:xfrm>
          <a:prstGeom prst="rect">
            <a:avLst/>
          </a:prstGeom>
          <a:noFill/>
        </p:spPr>
        <p:txBody>
          <a:bodyPr wrap="square" lIns="18288" tIns="18288" rIns="18288" bIns="18288" anchor="t">
            <a:spAutoFit/>
          </a:bodyPr>
          <a:lstStyle/>
          <a:p>
            <a:pPr algn="l">
              <a:lnSpc>
                <a:spcPct val="110000"/>
              </a:lnSpc>
            </a:pPr>
            <a:r>
              <a:rPr sz="1900" b="0" i="0">
                <a:solidFill>
                  <a:srgbClr val="222833"/>
                </a:solidFill>
                <a:latin typeface="微软雅黑"/>
              </a:rPr>
              <a:t>单目、双目或 RGB-D 相机。</a:t>
            </a:r>
          </a:p>
        </p:txBody>
      </p:sp>
      <p:sp>
        <p:nvSpPr>
          <p:cNvPr id="13" name="Rounded Rectangle 12"/>
          <p:cNvSpPr/>
          <p:nvPr/>
        </p:nvSpPr>
        <p:spPr>
          <a:xfrm>
            <a:off x="4096512" y="1828800"/>
            <a:ext cx="3182112" cy="2377440"/>
          </a:xfrm>
          <a:prstGeom prst="roundRect">
            <a:avLst>
              <a:gd name="adj" fmla="val 6200"/>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096512" y="1828800"/>
            <a:ext cx="77724" cy="237744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15968" y="201168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优势</a:t>
            </a:r>
          </a:p>
        </p:txBody>
      </p:sp>
      <p:sp>
        <p:nvSpPr>
          <p:cNvPr id="16" name="TextBox 15"/>
          <p:cNvSpPr txBox="1"/>
          <p:nvPr/>
        </p:nvSpPr>
        <p:spPr>
          <a:xfrm>
            <a:off x="4315968" y="2487168"/>
            <a:ext cx="2798064" cy="1591056"/>
          </a:xfrm>
          <a:prstGeom prst="rect">
            <a:avLst/>
          </a:prstGeom>
          <a:noFill/>
        </p:spPr>
        <p:txBody>
          <a:bodyPr wrap="square" lIns="18288" tIns="18288" rIns="18288" bIns="18288" anchor="t">
            <a:spAutoFit/>
          </a:bodyPr>
          <a:lstStyle/>
          <a:p>
            <a:pPr algn="l">
              <a:lnSpc>
                <a:spcPct val="110000"/>
              </a:lnSpc>
            </a:pPr>
            <a:r>
              <a:rPr sz="1900" b="0" i="0">
                <a:solidFill>
                  <a:srgbClr val="222833"/>
                </a:solidFill>
                <a:latin typeface="微软雅黑"/>
              </a:rPr>
              <a:t>成本低、信息丰富、部署灵活。</a:t>
            </a:r>
          </a:p>
        </p:txBody>
      </p:sp>
      <p:sp>
        <p:nvSpPr>
          <p:cNvPr id="17" name="Rounded Rectangle 16"/>
          <p:cNvSpPr/>
          <p:nvPr/>
        </p:nvSpPr>
        <p:spPr>
          <a:xfrm>
            <a:off x="7552944" y="1828800"/>
            <a:ext cx="3182112" cy="2377440"/>
          </a:xfrm>
          <a:prstGeom prst="roundRect">
            <a:avLst>
              <a:gd name="adj" fmla="val 0"/>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52944" y="1828800"/>
            <a:ext cx="77724" cy="237744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0" y="201168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C58A24"/>
                </a:solidFill>
                <a:latin typeface="微软雅黑"/>
              </a:rPr>
              <a:t>适用</a:t>
            </a:r>
          </a:p>
        </p:txBody>
      </p:sp>
      <p:sp>
        <p:nvSpPr>
          <p:cNvPr id="20" name="TextBox 19"/>
          <p:cNvSpPr txBox="1"/>
          <p:nvPr/>
        </p:nvSpPr>
        <p:spPr>
          <a:xfrm>
            <a:off x="7772400" y="2487168"/>
            <a:ext cx="2798064" cy="1591056"/>
          </a:xfrm>
          <a:prstGeom prst="rect">
            <a:avLst/>
          </a:prstGeom>
          <a:noFill/>
        </p:spPr>
        <p:txBody>
          <a:bodyPr wrap="square" lIns="18288" tIns="18288" rIns="18288" bIns="18288" anchor="t">
            <a:spAutoFit/>
          </a:bodyPr>
          <a:lstStyle/>
          <a:p>
            <a:pPr algn="l">
              <a:lnSpc>
                <a:spcPct val="110000"/>
              </a:lnSpc>
            </a:pPr>
            <a:r>
              <a:rPr sz="1900" b="0" i="0">
                <a:solidFill>
                  <a:srgbClr val="222833"/>
                </a:solidFill>
                <a:latin typeface="微软雅黑"/>
              </a:rPr>
              <a:t>尤其适合成本敏感的具身智能体。</a:t>
            </a:r>
          </a:p>
        </p:txBody>
      </p:sp>
      <p:sp>
        <p:nvSpPr>
          <p:cNvPr id="21" name="TextBox 20"/>
          <p:cNvSpPr txBox="1"/>
          <p:nvPr/>
        </p:nvSpPr>
        <p:spPr>
          <a:xfrm>
            <a:off x="2194560" y="4663440"/>
            <a:ext cx="7772400" cy="548640"/>
          </a:xfrm>
          <a:prstGeom prst="rect">
            <a:avLst/>
          </a:prstGeom>
          <a:noFill/>
        </p:spPr>
        <p:txBody>
          <a:bodyPr wrap="square" lIns="18288" tIns="18288" rIns="18288" bIns="18288" anchor="t">
            <a:spAutoFit/>
          </a:bodyPr>
          <a:lstStyle/>
          <a:p>
            <a:pPr algn="ctr">
              <a:lnSpc>
                <a:spcPct val="105000"/>
              </a:lnSpc>
            </a:pPr>
            <a:r>
              <a:rPr sz="2800" b="1" i="0">
                <a:solidFill>
                  <a:srgbClr val="24477D"/>
                </a:solidFill>
                <a:latin typeface="微软雅黑"/>
              </a:rPr>
              <a:t>典型代表：ORB-SLAM 系列。</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ORB-SLAM 的核心技术特点</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54</a:t>
            </a:r>
          </a:p>
        </p:txBody>
      </p:sp>
      <p:sp>
        <p:nvSpPr>
          <p:cNvPr id="9" name="Rounded Rectangle 8"/>
          <p:cNvSpPr/>
          <p:nvPr/>
        </p:nvSpPr>
        <p:spPr>
          <a:xfrm>
            <a:off x="640080" y="1600200"/>
            <a:ext cx="5349240" cy="20574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1600200"/>
            <a:ext cx="77724" cy="20574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1783080"/>
            <a:ext cx="4937759"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ORB 特征</a:t>
            </a:r>
          </a:p>
        </p:txBody>
      </p:sp>
      <p:sp>
        <p:nvSpPr>
          <p:cNvPr id="12" name="TextBox 11"/>
          <p:cNvSpPr txBox="1"/>
          <p:nvPr/>
        </p:nvSpPr>
        <p:spPr>
          <a:xfrm>
            <a:off x="859536" y="2258568"/>
            <a:ext cx="4965192" cy="1271016"/>
          </a:xfrm>
          <a:prstGeom prst="rect">
            <a:avLst/>
          </a:prstGeom>
          <a:noFill/>
        </p:spPr>
        <p:txBody>
          <a:bodyPr wrap="square" lIns="18288" tIns="18288" rIns="18288" bIns="18288" anchor="t">
            <a:spAutoFit/>
          </a:bodyPr>
          <a:lstStyle/>
          <a:p>
            <a:pPr algn="l">
              <a:lnSpc>
                <a:spcPct val="110000"/>
              </a:lnSpc>
            </a:pPr>
            <a:r>
              <a:rPr sz="1700" b="0" i="0">
                <a:solidFill>
                  <a:srgbClr val="222833"/>
                </a:solidFill>
                <a:latin typeface="微软雅黑"/>
              </a:rPr>
              <a:t>快速、旋转不变并具尺度不变性的特征描述。</a:t>
            </a:r>
          </a:p>
        </p:txBody>
      </p:sp>
      <p:sp>
        <p:nvSpPr>
          <p:cNvPr id="13" name="Rounded Rectangle 12"/>
          <p:cNvSpPr/>
          <p:nvPr/>
        </p:nvSpPr>
        <p:spPr>
          <a:xfrm>
            <a:off x="6172200" y="1600200"/>
            <a:ext cx="5349240" cy="20574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72200" y="1600200"/>
            <a:ext cx="77724" cy="205740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91656" y="1783080"/>
            <a:ext cx="4937759"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三线程并行</a:t>
            </a:r>
          </a:p>
        </p:txBody>
      </p:sp>
      <p:sp>
        <p:nvSpPr>
          <p:cNvPr id="16" name="TextBox 15"/>
          <p:cNvSpPr txBox="1"/>
          <p:nvPr/>
        </p:nvSpPr>
        <p:spPr>
          <a:xfrm>
            <a:off x="6391656" y="2258568"/>
            <a:ext cx="4965192" cy="1271016"/>
          </a:xfrm>
          <a:prstGeom prst="rect">
            <a:avLst/>
          </a:prstGeom>
          <a:noFill/>
        </p:spPr>
        <p:txBody>
          <a:bodyPr wrap="square" lIns="18288" tIns="18288" rIns="18288" bIns="18288" anchor="t">
            <a:spAutoFit/>
          </a:bodyPr>
          <a:lstStyle/>
          <a:p>
            <a:pPr algn="l">
              <a:lnSpc>
                <a:spcPct val="110000"/>
              </a:lnSpc>
            </a:pPr>
            <a:r>
              <a:rPr sz="1700" b="0" i="0">
                <a:solidFill>
                  <a:srgbClr val="222833"/>
                </a:solidFill>
                <a:latin typeface="微软雅黑"/>
              </a:rPr>
              <a:t>前端跟踪、局部建图、后端优化并行运行。</a:t>
            </a:r>
          </a:p>
        </p:txBody>
      </p:sp>
      <p:sp>
        <p:nvSpPr>
          <p:cNvPr id="17" name="Rounded Rectangle 16"/>
          <p:cNvSpPr/>
          <p:nvPr/>
        </p:nvSpPr>
        <p:spPr>
          <a:xfrm>
            <a:off x="640080" y="3931920"/>
            <a:ext cx="5349240" cy="20574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 y="3931920"/>
            <a:ext cx="77724" cy="205740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59536" y="4114800"/>
            <a:ext cx="4937759" cy="384048"/>
          </a:xfrm>
          <a:prstGeom prst="rect">
            <a:avLst/>
          </a:prstGeom>
          <a:noFill/>
        </p:spPr>
        <p:txBody>
          <a:bodyPr wrap="square" lIns="18288" tIns="18288" rIns="18288" bIns="18288" anchor="t">
            <a:spAutoFit/>
          </a:bodyPr>
          <a:lstStyle/>
          <a:p>
            <a:pPr algn="l">
              <a:lnSpc>
                <a:spcPct val="105000"/>
              </a:lnSpc>
            </a:pPr>
            <a:r>
              <a:rPr sz="2200" b="1" i="0">
                <a:solidFill>
                  <a:srgbClr val="C58A24"/>
                </a:solidFill>
                <a:latin typeface="微软雅黑"/>
              </a:rPr>
              <a:t>词袋回环</a:t>
            </a:r>
          </a:p>
        </p:txBody>
      </p:sp>
      <p:sp>
        <p:nvSpPr>
          <p:cNvPr id="20" name="TextBox 19"/>
          <p:cNvSpPr txBox="1"/>
          <p:nvPr/>
        </p:nvSpPr>
        <p:spPr>
          <a:xfrm>
            <a:off x="859536" y="4590288"/>
            <a:ext cx="4965192" cy="1271016"/>
          </a:xfrm>
          <a:prstGeom prst="rect">
            <a:avLst/>
          </a:prstGeom>
          <a:noFill/>
        </p:spPr>
        <p:txBody>
          <a:bodyPr wrap="square" lIns="18288" tIns="18288" rIns="18288" bIns="18288" anchor="t">
            <a:spAutoFit/>
          </a:bodyPr>
          <a:lstStyle/>
          <a:p>
            <a:pPr algn="l">
              <a:lnSpc>
                <a:spcPct val="110000"/>
              </a:lnSpc>
            </a:pPr>
            <a:r>
              <a:rPr sz="1700" b="0" i="0">
                <a:solidFill>
                  <a:srgbClr val="222833"/>
                </a:solidFill>
                <a:latin typeface="微软雅黑"/>
              </a:rPr>
              <a:t>Bag-of-Words 高效检索历史关键帧，检测闭环。</a:t>
            </a:r>
          </a:p>
        </p:txBody>
      </p:sp>
      <p:sp>
        <p:nvSpPr>
          <p:cNvPr id="21" name="Rounded Rectangle 20"/>
          <p:cNvSpPr/>
          <p:nvPr/>
        </p:nvSpPr>
        <p:spPr>
          <a:xfrm>
            <a:off x="6172200" y="3931920"/>
            <a:ext cx="5349240" cy="20574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172200" y="3931920"/>
            <a:ext cx="77724" cy="205740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91656" y="4114800"/>
            <a:ext cx="4937759" cy="384048"/>
          </a:xfrm>
          <a:prstGeom prst="rect">
            <a:avLst/>
          </a:prstGeom>
          <a:noFill/>
        </p:spPr>
        <p:txBody>
          <a:bodyPr wrap="square" lIns="18288" tIns="18288" rIns="18288" bIns="18288" anchor="t">
            <a:spAutoFit/>
          </a:bodyPr>
          <a:lstStyle/>
          <a:p>
            <a:pPr algn="l">
              <a:lnSpc>
                <a:spcPct val="105000"/>
              </a:lnSpc>
            </a:pPr>
            <a:r>
              <a:rPr sz="2200" b="1" i="0">
                <a:solidFill>
                  <a:srgbClr val="C63F45"/>
                </a:solidFill>
                <a:latin typeface="微软雅黑"/>
              </a:rPr>
              <a:t>图优化</a:t>
            </a:r>
          </a:p>
        </p:txBody>
      </p:sp>
      <p:sp>
        <p:nvSpPr>
          <p:cNvPr id="24" name="TextBox 23"/>
          <p:cNvSpPr txBox="1"/>
          <p:nvPr/>
        </p:nvSpPr>
        <p:spPr>
          <a:xfrm>
            <a:off x="6391656" y="4590288"/>
            <a:ext cx="4965192" cy="1271016"/>
          </a:xfrm>
          <a:prstGeom prst="rect">
            <a:avLst/>
          </a:prstGeom>
          <a:noFill/>
        </p:spPr>
        <p:txBody>
          <a:bodyPr wrap="square" lIns="18288" tIns="18288" rIns="18288" bIns="18288" anchor="t">
            <a:spAutoFit/>
          </a:bodyPr>
          <a:lstStyle/>
          <a:p>
            <a:pPr algn="l">
              <a:lnSpc>
                <a:spcPct val="110000"/>
              </a:lnSpc>
            </a:pPr>
            <a:r>
              <a:rPr sz="1700" b="0" i="0">
                <a:solidFill>
                  <a:srgbClr val="222833"/>
                </a:solidFill>
                <a:latin typeface="微软雅黑"/>
              </a:rPr>
              <a:t>最小化重投影误差，获得全局一致的位姿与稀疏地图。</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ORB-SLAM 系统架构</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55</a:t>
            </a:r>
          </a:p>
        </p:txBody>
      </p:sp>
      <p:pic>
        <p:nvPicPr>
          <p:cNvPr id="9" name="Picture 8" descr="fig11.png"/>
          <p:cNvPicPr>
            <a:picLocks noChangeAspect="1"/>
          </p:cNvPicPr>
          <p:nvPr/>
        </p:nvPicPr>
        <p:blipFill>
          <a:blip r:embed="rId2"/>
          <a:stretch>
            <a:fillRect/>
          </a:stretch>
        </p:blipFill>
        <p:spPr>
          <a:xfrm>
            <a:off x="2877197" y="1600200"/>
            <a:ext cx="6407124" cy="4297679"/>
          </a:xfrm>
          <a:prstGeom prst="rect">
            <a:avLst/>
          </a:prstGeom>
        </p:spPr>
      </p:pic>
      <p:sp>
        <p:nvSpPr>
          <p:cNvPr id="10" name="TextBox 9"/>
          <p:cNvSpPr txBox="1"/>
          <p:nvPr/>
        </p:nvSpPr>
        <p:spPr>
          <a:xfrm>
            <a:off x="1188720" y="5943600"/>
            <a:ext cx="9784080" cy="234103"/>
          </a:xfrm>
          <a:prstGeom prst="rect">
            <a:avLst/>
          </a:prstGeom>
          <a:noFill/>
        </p:spPr>
        <p:txBody>
          <a:bodyPr wrap="square" lIns="18288" tIns="18288" rIns="18288" bIns="18288" anchor="t">
            <a:spAutoFit/>
          </a:bodyPr>
          <a:lstStyle/>
          <a:p>
            <a:pPr algn="ctr">
              <a:lnSpc>
                <a:spcPct val="105000"/>
              </a:lnSpc>
            </a:pPr>
            <a:r>
              <a:rPr sz="1300" b="1" i="0" dirty="0">
                <a:solidFill>
                  <a:srgbClr val="24477D"/>
                </a:solidFill>
                <a:latin typeface="微软雅黑"/>
              </a:rPr>
              <a:t>ORB-SLAM </a:t>
            </a:r>
            <a:r>
              <a:rPr sz="1300" b="1" i="0" dirty="0" err="1">
                <a:solidFill>
                  <a:srgbClr val="24477D"/>
                </a:solidFill>
                <a:latin typeface="微软雅黑"/>
              </a:rPr>
              <a:t>系统</a:t>
            </a:r>
            <a:endParaRPr sz="1300" b="1" i="0" dirty="0">
              <a:solidFill>
                <a:srgbClr val="24477D"/>
              </a:solidFill>
              <a:latin typeface="微软雅黑"/>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ORB-SLAM 三大核心模块</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56</a:t>
            </a:r>
          </a:p>
        </p:txBody>
      </p:sp>
      <p:sp>
        <p:nvSpPr>
          <p:cNvPr id="9" name="Rounded Rectangle 8"/>
          <p:cNvSpPr/>
          <p:nvPr/>
        </p:nvSpPr>
        <p:spPr>
          <a:xfrm>
            <a:off x="640080" y="1783080"/>
            <a:ext cx="3182112" cy="384048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1783080"/>
            <a:ext cx="77724" cy="384048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196596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Tracking</a:t>
            </a:r>
          </a:p>
        </p:txBody>
      </p:sp>
      <p:sp>
        <p:nvSpPr>
          <p:cNvPr id="12" name="TextBox 11"/>
          <p:cNvSpPr txBox="1"/>
          <p:nvPr/>
        </p:nvSpPr>
        <p:spPr>
          <a:xfrm>
            <a:off x="859536" y="2441448"/>
            <a:ext cx="2798064" cy="3054096"/>
          </a:xfrm>
          <a:prstGeom prst="rect">
            <a:avLst/>
          </a:prstGeom>
          <a:noFill/>
        </p:spPr>
        <p:txBody>
          <a:bodyPr wrap="square" lIns="18288" tIns="18288" rIns="18288" bIns="18288" anchor="t">
            <a:spAutoFit/>
          </a:bodyPr>
          <a:lstStyle/>
          <a:p>
            <a:pPr algn="l">
              <a:lnSpc>
                <a:spcPct val="110000"/>
              </a:lnSpc>
            </a:pPr>
            <a:r>
              <a:rPr sz="1700" b="0" i="0">
                <a:solidFill>
                  <a:srgbClr val="222833"/>
                </a:solidFill>
                <a:latin typeface="微软雅黑"/>
              </a:rPr>
              <a:t>实时处理图像帧，提取 ORB 特征，与局部地图匹配，并快速估计当前相机位姿。</a:t>
            </a:r>
          </a:p>
        </p:txBody>
      </p:sp>
      <p:sp>
        <p:nvSpPr>
          <p:cNvPr id="13" name="Rounded Rectangle 12"/>
          <p:cNvSpPr/>
          <p:nvPr/>
        </p:nvSpPr>
        <p:spPr>
          <a:xfrm>
            <a:off x="4096512" y="1783080"/>
            <a:ext cx="3182112" cy="384048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096512" y="1783080"/>
            <a:ext cx="77724" cy="384048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15968" y="196596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Local Mapping</a:t>
            </a:r>
          </a:p>
        </p:txBody>
      </p:sp>
      <p:sp>
        <p:nvSpPr>
          <p:cNvPr id="16" name="TextBox 15"/>
          <p:cNvSpPr txBox="1"/>
          <p:nvPr/>
        </p:nvSpPr>
        <p:spPr>
          <a:xfrm>
            <a:off x="4315968" y="2441448"/>
            <a:ext cx="2798064" cy="3054096"/>
          </a:xfrm>
          <a:prstGeom prst="rect">
            <a:avLst/>
          </a:prstGeom>
          <a:noFill/>
        </p:spPr>
        <p:txBody>
          <a:bodyPr wrap="square" lIns="18288" tIns="18288" rIns="18288" bIns="18288" anchor="t">
            <a:spAutoFit/>
          </a:bodyPr>
          <a:lstStyle/>
          <a:p>
            <a:pPr algn="l">
              <a:lnSpc>
                <a:spcPct val="110000"/>
              </a:lnSpc>
            </a:pPr>
            <a:r>
              <a:rPr sz="1700" b="0" i="0">
                <a:solidFill>
                  <a:srgbClr val="222833"/>
                </a:solidFill>
                <a:latin typeface="微软雅黑"/>
              </a:rPr>
              <a:t>插入关键帧，维护局部地图，并执行局部 Bundle Adjustment。</a:t>
            </a:r>
          </a:p>
        </p:txBody>
      </p:sp>
      <p:sp>
        <p:nvSpPr>
          <p:cNvPr id="17" name="Rounded Rectangle 16"/>
          <p:cNvSpPr/>
          <p:nvPr/>
        </p:nvSpPr>
        <p:spPr>
          <a:xfrm>
            <a:off x="7552944" y="1783080"/>
            <a:ext cx="3182112" cy="384048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52944" y="1783080"/>
            <a:ext cx="77724" cy="384048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0" y="196596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C58A24"/>
                </a:solidFill>
                <a:latin typeface="微软雅黑"/>
              </a:rPr>
              <a:t>Loop Closing</a:t>
            </a:r>
          </a:p>
        </p:txBody>
      </p:sp>
      <p:sp>
        <p:nvSpPr>
          <p:cNvPr id="20" name="TextBox 19"/>
          <p:cNvSpPr txBox="1"/>
          <p:nvPr/>
        </p:nvSpPr>
        <p:spPr>
          <a:xfrm>
            <a:off x="7772400" y="2441448"/>
            <a:ext cx="2798064" cy="3054096"/>
          </a:xfrm>
          <a:prstGeom prst="rect">
            <a:avLst/>
          </a:prstGeom>
          <a:noFill/>
        </p:spPr>
        <p:txBody>
          <a:bodyPr wrap="square" lIns="18288" tIns="18288" rIns="18288" bIns="18288" anchor="t">
            <a:spAutoFit/>
          </a:bodyPr>
          <a:lstStyle/>
          <a:p>
            <a:pPr algn="l">
              <a:lnSpc>
                <a:spcPct val="110000"/>
              </a:lnSpc>
            </a:pPr>
            <a:r>
              <a:rPr sz="1700" b="0" i="0">
                <a:solidFill>
                  <a:srgbClr val="222833"/>
                </a:solidFill>
                <a:latin typeface="微软雅黑"/>
              </a:rPr>
              <a:t>利用词袋模型检索历史关键帧，确认回环后触发全局优化，消除累计漂移。</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ORB-SLAM 系列：传感器配置不断扩展</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57</a:t>
            </a:r>
          </a:p>
        </p:txBody>
      </p:sp>
      <p:sp>
        <p:nvSpPr>
          <p:cNvPr id="9" name="Rounded Rectangle 8"/>
          <p:cNvSpPr/>
          <p:nvPr/>
        </p:nvSpPr>
        <p:spPr>
          <a:xfrm>
            <a:off x="640080" y="1874519"/>
            <a:ext cx="3182112" cy="242316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1874519"/>
            <a:ext cx="77724" cy="242316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205740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ORB-SLAM</a:t>
            </a:r>
          </a:p>
        </p:txBody>
      </p:sp>
      <p:sp>
        <p:nvSpPr>
          <p:cNvPr id="12" name="TextBox 11"/>
          <p:cNvSpPr txBox="1"/>
          <p:nvPr/>
        </p:nvSpPr>
        <p:spPr>
          <a:xfrm>
            <a:off x="859536" y="2532887"/>
            <a:ext cx="2798064" cy="163677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奠定经典特征视觉 SLAM 架构。</a:t>
            </a:r>
          </a:p>
        </p:txBody>
      </p:sp>
      <p:sp>
        <p:nvSpPr>
          <p:cNvPr id="13" name="Rounded Rectangle 12"/>
          <p:cNvSpPr/>
          <p:nvPr/>
        </p:nvSpPr>
        <p:spPr>
          <a:xfrm>
            <a:off x="4096512" y="1874519"/>
            <a:ext cx="3182112" cy="242316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096512" y="1874519"/>
            <a:ext cx="77724" cy="242316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15968" y="205740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ORB-SLAM2</a:t>
            </a:r>
          </a:p>
        </p:txBody>
      </p:sp>
      <p:sp>
        <p:nvSpPr>
          <p:cNvPr id="16" name="TextBox 15"/>
          <p:cNvSpPr txBox="1"/>
          <p:nvPr/>
        </p:nvSpPr>
        <p:spPr>
          <a:xfrm>
            <a:off x="4315968" y="2532887"/>
            <a:ext cx="2798064" cy="163677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进一步支持单目、双目、RGB-D 等配置。</a:t>
            </a:r>
          </a:p>
        </p:txBody>
      </p:sp>
      <p:sp>
        <p:nvSpPr>
          <p:cNvPr id="17" name="Rounded Rectangle 16"/>
          <p:cNvSpPr/>
          <p:nvPr/>
        </p:nvSpPr>
        <p:spPr>
          <a:xfrm>
            <a:off x="7552944" y="1874519"/>
            <a:ext cx="3182112" cy="242316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52944" y="1874519"/>
            <a:ext cx="77724" cy="242316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0" y="205740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C58A24"/>
                </a:solidFill>
                <a:latin typeface="微软雅黑"/>
              </a:rPr>
              <a:t>ORB-SLAM3</a:t>
            </a:r>
          </a:p>
        </p:txBody>
      </p:sp>
      <p:sp>
        <p:nvSpPr>
          <p:cNvPr id="20" name="TextBox 19"/>
          <p:cNvSpPr txBox="1"/>
          <p:nvPr/>
        </p:nvSpPr>
        <p:spPr>
          <a:xfrm>
            <a:off x="7772400" y="2532887"/>
            <a:ext cx="2798064" cy="163677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进一步整合视觉惯性等配置，增强通用性。</a:t>
            </a:r>
          </a:p>
        </p:txBody>
      </p:sp>
      <p:sp>
        <p:nvSpPr>
          <p:cNvPr id="21" name="TextBox 20"/>
          <p:cNvSpPr txBox="1"/>
          <p:nvPr/>
        </p:nvSpPr>
        <p:spPr>
          <a:xfrm>
            <a:off x="2194560" y="4800600"/>
            <a:ext cx="7818120" cy="548640"/>
          </a:xfrm>
          <a:prstGeom prst="rect">
            <a:avLst/>
          </a:prstGeom>
          <a:noFill/>
        </p:spPr>
        <p:txBody>
          <a:bodyPr wrap="square" lIns="18288" tIns="18288" rIns="18288" bIns="18288" anchor="t">
            <a:spAutoFit/>
          </a:bodyPr>
          <a:lstStyle/>
          <a:p>
            <a:pPr algn="ctr">
              <a:lnSpc>
                <a:spcPct val="105000"/>
              </a:lnSpc>
            </a:pPr>
            <a:r>
              <a:rPr sz="2400" b="1" i="0">
                <a:solidFill>
                  <a:srgbClr val="24477D"/>
                </a:solidFill>
                <a:latin typeface="微软雅黑"/>
              </a:rPr>
              <a:t>代码仓库可在 GitHub 获取。</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ORB-SLAM3 运行效果</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58</a:t>
            </a:r>
          </a:p>
        </p:txBody>
      </p:sp>
      <p:sp>
        <p:nvSpPr>
          <p:cNvPr id="10" name="TextBox 9"/>
          <p:cNvSpPr txBox="1"/>
          <p:nvPr/>
        </p:nvSpPr>
        <p:spPr>
          <a:xfrm>
            <a:off x="5715000" y="5210251"/>
            <a:ext cx="5852160" cy="234103"/>
          </a:xfrm>
          <a:prstGeom prst="rect">
            <a:avLst/>
          </a:prstGeom>
          <a:noFill/>
        </p:spPr>
        <p:txBody>
          <a:bodyPr wrap="square" lIns="18288" tIns="18288" rIns="18288" bIns="18288" anchor="t">
            <a:spAutoFit/>
          </a:bodyPr>
          <a:lstStyle/>
          <a:p>
            <a:pPr algn="ctr">
              <a:lnSpc>
                <a:spcPct val="105000"/>
              </a:lnSpc>
            </a:pPr>
            <a:r>
              <a:rPr sz="1300" b="1" i="0" dirty="0">
                <a:solidFill>
                  <a:srgbClr val="24477D"/>
                </a:solidFill>
                <a:latin typeface="微软雅黑"/>
              </a:rPr>
              <a:t>ORB-SLAM3 </a:t>
            </a:r>
            <a:r>
              <a:rPr sz="1300" b="1" i="0" dirty="0" err="1">
                <a:solidFill>
                  <a:srgbClr val="24477D"/>
                </a:solidFill>
                <a:latin typeface="微软雅黑"/>
              </a:rPr>
              <a:t>的运行效果</a:t>
            </a:r>
            <a:endParaRPr sz="1300" b="1" i="0" dirty="0">
              <a:solidFill>
                <a:srgbClr val="24477D"/>
              </a:solidFill>
              <a:latin typeface="微软雅黑"/>
            </a:endParaRPr>
          </a:p>
        </p:txBody>
      </p:sp>
      <p:sp>
        <p:nvSpPr>
          <p:cNvPr id="11" name="TextBox 10"/>
          <p:cNvSpPr txBox="1"/>
          <p:nvPr/>
        </p:nvSpPr>
        <p:spPr>
          <a:xfrm>
            <a:off x="716705" y="1855478"/>
            <a:ext cx="4749266" cy="2808846"/>
          </a:xfrm>
          <a:prstGeom prst="rect">
            <a:avLst/>
          </a:prstGeom>
          <a:noFill/>
        </p:spPr>
        <p:txBody>
          <a:bodyPr wrap="square" lIns="18288" tIns="18288" rIns="18288" bIns="18288">
            <a:spAutoFit/>
          </a:bodyPr>
          <a:lstStyle/>
          <a:p>
            <a:pPr>
              <a:lnSpc>
                <a:spcPct val="115000"/>
              </a:lnSpc>
              <a:spcAft>
                <a:spcPts val="1000"/>
              </a:spcAft>
              <a:defRPr sz="1800">
                <a:solidFill>
                  <a:srgbClr val="222833"/>
                </a:solidFill>
                <a:latin typeface="微软雅黑"/>
              </a:defRPr>
            </a:pPr>
            <a:r>
              <a:rPr sz="2400" dirty="0"/>
              <a:t>• </a:t>
            </a:r>
            <a:r>
              <a:rPr sz="2400" dirty="0" err="1"/>
              <a:t>左侧：实时构建的稀疏点云地图与关键帧轨迹</a:t>
            </a:r>
            <a:r>
              <a:rPr sz="2400" dirty="0"/>
              <a:t>。</a:t>
            </a:r>
          </a:p>
          <a:p>
            <a:pPr>
              <a:lnSpc>
                <a:spcPct val="115000"/>
              </a:lnSpc>
              <a:spcAft>
                <a:spcPts val="1000"/>
              </a:spcAft>
              <a:defRPr sz="1800">
                <a:solidFill>
                  <a:srgbClr val="222833"/>
                </a:solidFill>
                <a:latin typeface="微软雅黑"/>
              </a:defRPr>
            </a:pPr>
            <a:r>
              <a:rPr sz="2400" dirty="0"/>
              <a:t>• </a:t>
            </a:r>
            <a:r>
              <a:rPr sz="2400" dirty="0" err="1"/>
              <a:t>右侧：相机视角下的特征匹配可视化</a:t>
            </a:r>
            <a:r>
              <a:rPr sz="2400" dirty="0"/>
              <a:t>。</a:t>
            </a:r>
          </a:p>
          <a:p>
            <a:pPr>
              <a:lnSpc>
                <a:spcPct val="115000"/>
              </a:lnSpc>
              <a:spcAft>
                <a:spcPts val="1000"/>
              </a:spcAft>
              <a:defRPr sz="1800">
                <a:solidFill>
                  <a:srgbClr val="222833"/>
                </a:solidFill>
                <a:latin typeface="微软雅黑"/>
              </a:defRPr>
            </a:pPr>
            <a:r>
              <a:rPr sz="2400" dirty="0"/>
              <a:t>• </a:t>
            </a:r>
            <a:r>
              <a:rPr sz="2400" dirty="0" err="1"/>
              <a:t>体现视觉</a:t>
            </a:r>
            <a:r>
              <a:rPr sz="2400" dirty="0"/>
              <a:t> SLAM </a:t>
            </a:r>
            <a:r>
              <a:rPr sz="2400" dirty="0" err="1"/>
              <a:t>在“定位</a:t>
            </a:r>
            <a:r>
              <a:rPr sz="2400" dirty="0"/>
              <a:t> + </a:t>
            </a:r>
            <a:r>
              <a:rPr sz="2400" dirty="0" err="1"/>
              <a:t>建图”两个维度上的同步工作</a:t>
            </a:r>
            <a:r>
              <a:rPr sz="2400" dirty="0"/>
              <a:t>。</a:t>
            </a:r>
          </a:p>
        </p:txBody>
      </p:sp>
      <p:pic>
        <p:nvPicPr>
          <p:cNvPr id="12" name="图片 11" descr="Place recognition and loop closure in ORB-SLAM3 | by Maurya Rao | Medium">
            <a:extLst>
              <a:ext uri="{FF2B5EF4-FFF2-40B4-BE49-F238E27FC236}">
                <a16:creationId xmlns:a16="http://schemas.microsoft.com/office/drawing/2014/main" id="{4F93F08F-A89D-2AAC-E572-A28D568D054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62914" y="1631898"/>
            <a:ext cx="6197311" cy="3283307"/>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视觉 SLAM 的演进：从几何一致性到语义理解</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59</a:t>
            </a:r>
          </a:p>
        </p:txBody>
      </p:sp>
      <p:sp>
        <p:nvSpPr>
          <p:cNvPr id="9" name="Rounded Rectangle 8"/>
          <p:cNvSpPr/>
          <p:nvPr/>
        </p:nvSpPr>
        <p:spPr>
          <a:xfrm>
            <a:off x="685800" y="205740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2057400"/>
            <a:ext cx="2569464" cy="82296"/>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5528" y="224028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31599B"/>
                </a:solidFill>
                <a:latin typeface="微软雅黑"/>
              </a:rPr>
              <a:t>1</a:t>
            </a:r>
          </a:p>
        </p:txBody>
      </p:sp>
      <p:sp>
        <p:nvSpPr>
          <p:cNvPr id="12" name="TextBox 11"/>
          <p:cNvSpPr txBox="1"/>
          <p:nvPr/>
        </p:nvSpPr>
        <p:spPr>
          <a:xfrm>
            <a:off x="1188720" y="222199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31599B"/>
                </a:solidFill>
                <a:latin typeface="微软雅黑"/>
              </a:rPr>
              <a:t>视觉 SLAM</a:t>
            </a:r>
          </a:p>
        </p:txBody>
      </p:sp>
      <p:sp>
        <p:nvSpPr>
          <p:cNvPr id="13" name="TextBox 12"/>
          <p:cNvSpPr txBox="1"/>
          <p:nvPr/>
        </p:nvSpPr>
        <p:spPr>
          <a:xfrm>
            <a:off x="832104" y="266090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相机位姿 + 稀疏/稠密几何地图</a:t>
            </a:r>
          </a:p>
        </p:txBody>
      </p:sp>
      <p:sp>
        <p:nvSpPr>
          <p:cNvPr id="14" name="Rectangle 13"/>
          <p:cNvSpPr/>
          <p:nvPr/>
        </p:nvSpPr>
        <p:spPr>
          <a:xfrm>
            <a:off x="3291840" y="2642616"/>
            <a:ext cx="128016" cy="256032"/>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456432" y="205740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456432" y="2057400"/>
            <a:ext cx="2569464" cy="82296"/>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566160" y="224028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2F8E72"/>
                </a:solidFill>
                <a:latin typeface="微软雅黑"/>
              </a:rPr>
              <a:t>2</a:t>
            </a:r>
          </a:p>
        </p:txBody>
      </p:sp>
      <p:sp>
        <p:nvSpPr>
          <p:cNvPr id="18" name="TextBox 17"/>
          <p:cNvSpPr txBox="1"/>
          <p:nvPr/>
        </p:nvSpPr>
        <p:spPr>
          <a:xfrm>
            <a:off x="3959352" y="222199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2F8E72"/>
                </a:solidFill>
                <a:latin typeface="微软雅黑"/>
              </a:rPr>
              <a:t>语义感知</a:t>
            </a:r>
          </a:p>
        </p:txBody>
      </p:sp>
      <p:sp>
        <p:nvSpPr>
          <p:cNvPr id="19" name="TextBox 18"/>
          <p:cNvSpPr txBox="1"/>
          <p:nvPr/>
        </p:nvSpPr>
        <p:spPr>
          <a:xfrm>
            <a:off x="3602736" y="266090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语义分割、实例识别、视觉大模型</a:t>
            </a:r>
          </a:p>
        </p:txBody>
      </p:sp>
      <p:sp>
        <p:nvSpPr>
          <p:cNvPr id="20" name="Rectangle 19"/>
          <p:cNvSpPr/>
          <p:nvPr/>
        </p:nvSpPr>
        <p:spPr>
          <a:xfrm>
            <a:off x="6062472" y="2642616"/>
            <a:ext cx="128016" cy="256032"/>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227064" y="205740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27064" y="2057400"/>
            <a:ext cx="2569464" cy="82296"/>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36792" y="224028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58A24"/>
                </a:solidFill>
                <a:latin typeface="微软雅黑"/>
              </a:rPr>
              <a:t>3</a:t>
            </a:r>
          </a:p>
        </p:txBody>
      </p:sp>
      <p:sp>
        <p:nvSpPr>
          <p:cNvPr id="24" name="TextBox 23"/>
          <p:cNvSpPr txBox="1"/>
          <p:nvPr/>
        </p:nvSpPr>
        <p:spPr>
          <a:xfrm>
            <a:off x="6729984" y="222199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C58A24"/>
                </a:solidFill>
                <a:latin typeface="微软雅黑"/>
              </a:rPr>
              <a:t>语义视觉 SLAM</a:t>
            </a:r>
          </a:p>
        </p:txBody>
      </p:sp>
      <p:sp>
        <p:nvSpPr>
          <p:cNvPr id="25" name="TextBox 24"/>
          <p:cNvSpPr txBox="1"/>
          <p:nvPr/>
        </p:nvSpPr>
        <p:spPr>
          <a:xfrm>
            <a:off x="6373368" y="266090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削弱动态物体干扰、提升场景理解</a:t>
            </a:r>
          </a:p>
        </p:txBody>
      </p:sp>
      <p:sp>
        <p:nvSpPr>
          <p:cNvPr id="26" name="Rectangle 25"/>
          <p:cNvSpPr/>
          <p:nvPr/>
        </p:nvSpPr>
        <p:spPr>
          <a:xfrm>
            <a:off x="8833104" y="2642616"/>
            <a:ext cx="128016" cy="256032"/>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8997696" y="205740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997696" y="2057400"/>
            <a:ext cx="2569464" cy="82296"/>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07424" y="224028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63F45"/>
                </a:solidFill>
                <a:latin typeface="微软雅黑"/>
              </a:rPr>
              <a:t>4</a:t>
            </a:r>
          </a:p>
        </p:txBody>
      </p:sp>
      <p:sp>
        <p:nvSpPr>
          <p:cNvPr id="30" name="TextBox 29"/>
          <p:cNvSpPr txBox="1"/>
          <p:nvPr/>
        </p:nvSpPr>
        <p:spPr>
          <a:xfrm>
            <a:off x="9500616" y="222199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C63F45"/>
                </a:solidFill>
                <a:latin typeface="微软雅黑"/>
              </a:rPr>
              <a:t>主动导航</a:t>
            </a:r>
          </a:p>
        </p:txBody>
      </p:sp>
      <p:sp>
        <p:nvSpPr>
          <p:cNvPr id="31" name="TextBox 30"/>
          <p:cNvSpPr txBox="1"/>
          <p:nvPr/>
        </p:nvSpPr>
        <p:spPr>
          <a:xfrm>
            <a:off x="9144000" y="266090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进一步服务于目标搜索和高层任务</a:t>
            </a:r>
          </a:p>
        </p:txBody>
      </p:sp>
      <p:sp>
        <p:nvSpPr>
          <p:cNvPr id="32" name="TextBox 31"/>
          <p:cNvSpPr txBox="1"/>
          <p:nvPr/>
        </p:nvSpPr>
        <p:spPr>
          <a:xfrm>
            <a:off x="822960" y="4343400"/>
            <a:ext cx="10515600" cy="355482"/>
          </a:xfrm>
          <a:prstGeom prst="rect">
            <a:avLst/>
          </a:prstGeom>
          <a:noFill/>
        </p:spPr>
        <p:txBody>
          <a:bodyPr wrap="square" lIns="18288" tIns="18288" rIns="18288" bIns="18288" anchor="t">
            <a:spAutoFit/>
          </a:bodyPr>
          <a:lstStyle/>
          <a:p>
            <a:pPr algn="ctr">
              <a:lnSpc>
                <a:spcPct val="105000"/>
              </a:lnSpc>
            </a:pPr>
            <a:r>
              <a:rPr sz="2100" b="1" i="0" dirty="0" err="1">
                <a:solidFill>
                  <a:srgbClr val="24477D"/>
                </a:solidFill>
                <a:latin typeface="微软雅黑"/>
              </a:rPr>
              <a:t>语义视觉</a:t>
            </a:r>
            <a:r>
              <a:rPr sz="2100" b="1" i="0" dirty="0">
                <a:solidFill>
                  <a:srgbClr val="24477D"/>
                </a:solidFill>
                <a:latin typeface="微软雅黑"/>
              </a:rPr>
              <a:t> SLAM </a:t>
            </a:r>
            <a:r>
              <a:rPr sz="2100" b="1" i="0" dirty="0" err="1">
                <a:solidFill>
                  <a:srgbClr val="24477D"/>
                </a:solidFill>
                <a:latin typeface="微软雅黑"/>
              </a:rPr>
              <a:t>是视觉</a:t>
            </a:r>
            <a:r>
              <a:rPr sz="2100" b="1" i="0" dirty="0">
                <a:solidFill>
                  <a:srgbClr val="24477D"/>
                </a:solidFill>
                <a:latin typeface="微软雅黑"/>
              </a:rPr>
              <a:t> SLAM </a:t>
            </a:r>
            <a:r>
              <a:rPr sz="2100" b="1" i="0" dirty="0" err="1">
                <a:solidFill>
                  <a:srgbClr val="24477D"/>
                </a:solidFill>
                <a:latin typeface="微软雅黑"/>
              </a:rPr>
              <a:t>向实用化、智能化演进的重要趋势</a:t>
            </a:r>
            <a:r>
              <a:rPr sz="2100" b="1" i="0" dirty="0">
                <a:solidFill>
                  <a:srgbClr val="24477D"/>
                </a:solidFill>
                <a:latin typeface="微软雅黑"/>
              </a:rPr>
              <a: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78638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86384" y="0"/>
            <a:ext cx="73152"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921240" y="347472"/>
            <a:ext cx="160020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具身智能导论 · 第 6 章</a:t>
            </a:r>
          </a:p>
        </p:txBody>
      </p:sp>
      <p:sp>
        <p:nvSpPr>
          <p:cNvPr id="5" name="TextBox 4"/>
          <p:cNvSpPr txBox="1"/>
          <p:nvPr/>
        </p:nvSpPr>
        <p:spPr>
          <a:xfrm>
            <a:off x="1938528" y="2011680"/>
            <a:ext cx="1627632" cy="914400"/>
          </a:xfrm>
          <a:prstGeom prst="rect">
            <a:avLst/>
          </a:prstGeom>
          <a:noFill/>
        </p:spPr>
        <p:txBody>
          <a:bodyPr wrap="square" lIns="18288" tIns="18288" rIns="18288" bIns="18288" anchor="ctr">
            <a:spAutoFit/>
          </a:bodyPr>
          <a:lstStyle/>
          <a:p>
            <a:pPr algn="ctr">
              <a:lnSpc>
                <a:spcPct val="105000"/>
              </a:lnSpc>
            </a:pPr>
            <a:r>
              <a:rPr sz="7200" b="1" i="0">
                <a:solidFill>
                  <a:srgbClr val="31599B"/>
                </a:solidFill>
                <a:latin typeface="微软雅黑"/>
              </a:rPr>
              <a:t>04</a:t>
            </a:r>
          </a:p>
        </p:txBody>
      </p:sp>
      <p:sp>
        <p:nvSpPr>
          <p:cNvPr id="6" name="TextBox 5"/>
          <p:cNvSpPr txBox="1"/>
          <p:nvPr/>
        </p:nvSpPr>
        <p:spPr>
          <a:xfrm>
            <a:off x="3703320" y="2249424"/>
            <a:ext cx="6812280" cy="685800"/>
          </a:xfrm>
          <a:prstGeom prst="rect">
            <a:avLst/>
          </a:prstGeom>
          <a:noFill/>
        </p:spPr>
        <p:txBody>
          <a:bodyPr wrap="square" lIns="18288" tIns="18288" rIns="18288" bIns="18288" anchor="ctr">
            <a:spAutoFit/>
          </a:bodyPr>
          <a:lstStyle/>
          <a:p>
            <a:pPr algn="l">
              <a:lnSpc>
                <a:spcPct val="105000"/>
              </a:lnSpc>
            </a:pPr>
            <a:r>
              <a:rPr sz="3900" b="1" i="0">
                <a:solidFill>
                  <a:srgbClr val="24477D"/>
                </a:solidFill>
                <a:latin typeface="微软雅黑"/>
              </a:rPr>
              <a:t>路径规划与运动规划</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6.4 从“几何路径”到“可执行轨迹”</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61</a:t>
            </a:r>
          </a:p>
        </p:txBody>
      </p:sp>
      <p:sp>
        <p:nvSpPr>
          <p:cNvPr id="9" name="Rounded Rectangle 8"/>
          <p:cNvSpPr/>
          <p:nvPr/>
        </p:nvSpPr>
        <p:spPr>
          <a:xfrm>
            <a:off x="685800" y="1828800"/>
            <a:ext cx="5230368" cy="283464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1828800"/>
            <a:ext cx="77724" cy="283464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5256" y="201168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路径规划 Path Planning</a:t>
            </a:r>
          </a:p>
        </p:txBody>
      </p:sp>
      <p:sp>
        <p:nvSpPr>
          <p:cNvPr id="12" name="TextBox 11"/>
          <p:cNvSpPr txBox="1"/>
          <p:nvPr/>
        </p:nvSpPr>
        <p:spPr>
          <a:xfrm>
            <a:off x="905256" y="2487168"/>
            <a:ext cx="4846320" cy="2048256"/>
          </a:xfrm>
          <a:prstGeom prst="rect">
            <a:avLst/>
          </a:prstGeom>
          <a:noFill/>
        </p:spPr>
        <p:txBody>
          <a:bodyPr wrap="square" lIns="18288" tIns="18288" rIns="18288" bIns="18288" anchor="t">
            <a:spAutoFit/>
          </a:bodyPr>
          <a:lstStyle/>
          <a:p>
            <a:pPr algn="l">
              <a:lnSpc>
                <a:spcPct val="110000"/>
              </a:lnSpc>
            </a:pPr>
            <a:r>
              <a:rPr sz="1900" b="0" i="0">
                <a:solidFill>
                  <a:srgbClr val="222833"/>
                </a:solidFill>
                <a:latin typeface="微软雅黑"/>
              </a:rPr>
              <a:t>在自由空间中寻找从起点到目标的无碰撞路径，主要关注几何可达性与代价。</a:t>
            </a:r>
          </a:p>
        </p:txBody>
      </p:sp>
      <p:sp>
        <p:nvSpPr>
          <p:cNvPr id="13" name="Rounded Rectangle 12"/>
          <p:cNvSpPr/>
          <p:nvPr/>
        </p:nvSpPr>
        <p:spPr>
          <a:xfrm>
            <a:off x="6199632" y="1828800"/>
            <a:ext cx="5230368" cy="283464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99632" y="1828800"/>
            <a:ext cx="77724" cy="283464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19088" y="201168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运动规划 Motion Planning</a:t>
            </a:r>
          </a:p>
        </p:txBody>
      </p:sp>
      <p:sp>
        <p:nvSpPr>
          <p:cNvPr id="16" name="TextBox 15"/>
          <p:cNvSpPr txBox="1"/>
          <p:nvPr/>
        </p:nvSpPr>
        <p:spPr>
          <a:xfrm>
            <a:off x="6419088" y="2487168"/>
            <a:ext cx="4846320" cy="2048256"/>
          </a:xfrm>
          <a:prstGeom prst="rect">
            <a:avLst/>
          </a:prstGeom>
          <a:noFill/>
        </p:spPr>
        <p:txBody>
          <a:bodyPr wrap="square" lIns="18288" tIns="18288" rIns="18288" bIns="18288" anchor="t">
            <a:spAutoFit/>
          </a:bodyPr>
          <a:lstStyle/>
          <a:p>
            <a:pPr algn="l">
              <a:lnSpc>
                <a:spcPct val="110000"/>
              </a:lnSpc>
            </a:pPr>
            <a:r>
              <a:rPr sz="1900" b="0" i="0">
                <a:solidFill>
                  <a:srgbClr val="222833"/>
                </a:solidFill>
                <a:latin typeface="微软雅黑"/>
              </a:rPr>
              <a:t>在路径基础上进一步考虑运动学/动力学约束，生成带时间参数的可执行轨迹。</a:t>
            </a:r>
          </a:p>
        </p:txBody>
      </p:sp>
      <p:sp>
        <p:nvSpPr>
          <p:cNvPr id="17" name="TextBox 16"/>
          <p:cNvSpPr txBox="1"/>
          <p:nvPr/>
        </p:nvSpPr>
        <p:spPr>
          <a:xfrm>
            <a:off x="1143000" y="5120640"/>
            <a:ext cx="9875520" cy="502920"/>
          </a:xfrm>
          <a:prstGeom prst="rect">
            <a:avLst/>
          </a:prstGeom>
          <a:noFill/>
        </p:spPr>
        <p:txBody>
          <a:bodyPr wrap="square" lIns="18288" tIns="18288" rIns="18288" bIns="18288" anchor="t">
            <a:spAutoFit/>
          </a:bodyPr>
          <a:lstStyle/>
          <a:p>
            <a:pPr algn="ctr">
              <a:lnSpc>
                <a:spcPct val="105000"/>
              </a:lnSpc>
            </a:pPr>
            <a:r>
              <a:rPr sz="2300" b="1" i="0">
                <a:solidFill>
                  <a:srgbClr val="24477D"/>
                </a:solidFill>
                <a:latin typeface="微软雅黑"/>
              </a:rPr>
              <a:t>SLAM 提供“我在哪 + 地图”，规划负责决定“怎么安全到达”。</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6.4.1 路径规划的基本原理</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62</a:t>
            </a:r>
          </a:p>
        </p:txBody>
      </p:sp>
      <p:sp>
        <p:nvSpPr>
          <p:cNvPr id="9" name="TextBox 8"/>
          <p:cNvSpPr txBox="1"/>
          <p:nvPr/>
        </p:nvSpPr>
        <p:spPr>
          <a:xfrm>
            <a:off x="777240" y="1737360"/>
            <a:ext cx="10652760" cy="1051560"/>
          </a:xfrm>
          <a:prstGeom prst="rect">
            <a:avLst/>
          </a:prstGeom>
          <a:noFill/>
        </p:spPr>
        <p:txBody>
          <a:bodyPr wrap="square" lIns="18288" tIns="18288" rIns="18288" bIns="18288" anchor="t">
            <a:spAutoFit/>
          </a:bodyPr>
          <a:lstStyle/>
          <a:p>
            <a:pPr algn="ctr">
              <a:lnSpc>
                <a:spcPct val="105000"/>
              </a:lnSpc>
            </a:pPr>
            <a:r>
              <a:rPr sz="2100" b="0" i="0">
                <a:solidFill>
                  <a:srgbClr val="222833"/>
                </a:solidFill>
                <a:latin typeface="微软雅黑"/>
              </a:rPr>
              <a:t>在已知或部分已知地图中，从起点 s 到目标 g 搜索一条完全位于自由空间内的无碰撞路径，并最小化路径长度、时间或能量等代价。</a:t>
            </a:r>
          </a:p>
        </p:txBody>
      </p:sp>
      <p:sp>
        <p:nvSpPr>
          <p:cNvPr id="10" name="Rounded Rectangle 9"/>
          <p:cNvSpPr/>
          <p:nvPr/>
        </p:nvSpPr>
        <p:spPr>
          <a:xfrm>
            <a:off x="685800" y="3154680"/>
            <a:ext cx="5230368" cy="18288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85800" y="3154680"/>
            <a:ext cx="77724" cy="182880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05256" y="333756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自由空间 Free Space</a:t>
            </a:r>
          </a:p>
        </p:txBody>
      </p:sp>
      <p:sp>
        <p:nvSpPr>
          <p:cNvPr id="13" name="TextBox 12"/>
          <p:cNvSpPr txBox="1"/>
          <p:nvPr/>
        </p:nvSpPr>
        <p:spPr>
          <a:xfrm>
            <a:off x="905256" y="3813048"/>
            <a:ext cx="4846320" cy="1042416"/>
          </a:xfrm>
          <a:prstGeom prst="rect">
            <a:avLst/>
          </a:prstGeom>
          <a:noFill/>
        </p:spPr>
        <p:txBody>
          <a:bodyPr wrap="square" lIns="18288" tIns="18288" rIns="18288" bIns="18288" anchor="t">
            <a:spAutoFit/>
          </a:bodyPr>
          <a:lstStyle/>
          <a:p>
            <a:pPr algn="l">
              <a:lnSpc>
                <a:spcPct val="110000"/>
              </a:lnSpc>
            </a:pPr>
            <a:r>
              <a:rPr sz="1900" b="0" i="0">
                <a:solidFill>
                  <a:srgbClr val="222833"/>
                </a:solidFill>
                <a:latin typeface="微软雅黑"/>
              </a:rPr>
              <a:t>机器人允许通过的配置区域。</a:t>
            </a:r>
          </a:p>
        </p:txBody>
      </p:sp>
      <p:sp>
        <p:nvSpPr>
          <p:cNvPr id="14" name="Rounded Rectangle 13"/>
          <p:cNvSpPr/>
          <p:nvPr/>
        </p:nvSpPr>
        <p:spPr>
          <a:xfrm>
            <a:off x="6199632" y="3154680"/>
            <a:ext cx="5230368" cy="18288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199632" y="3154680"/>
            <a:ext cx="77724" cy="182880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19088" y="333756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C63F45"/>
                </a:solidFill>
                <a:latin typeface="微软雅黑"/>
              </a:rPr>
              <a:t>障碍空间 Obstacle Space</a:t>
            </a:r>
          </a:p>
        </p:txBody>
      </p:sp>
      <p:sp>
        <p:nvSpPr>
          <p:cNvPr id="17" name="TextBox 16"/>
          <p:cNvSpPr txBox="1"/>
          <p:nvPr/>
        </p:nvSpPr>
        <p:spPr>
          <a:xfrm>
            <a:off x="6419088" y="3813048"/>
            <a:ext cx="4846320" cy="1042416"/>
          </a:xfrm>
          <a:prstGeom prst="rect">
            <a:avLst/>
          </a:prstGeom>
          <a:noFill/>
        </p:spPr>
        <p:txBody>
          <a:bodyPr wrap="square" lIns="18288" tIns="18288" rIns="18288" bIns="18288" anchor="t">
            <a:spAutoFit/>
          </a:bodyPr>
          <a:lstStyle/>
          <a:p>
            <a:pPr algn="l">
              <a:lnSpc>
                <a:spcPct val="110000"/>
              </a:lnSpc>
            </a:pPr>
            <a:r>
              <a:rPr sz="1900" b="0" i="0">
                <a:solidFill>
                  <a:srgbClr val="222833"/>
                </a:solidFill>
                <a:latin typeface="微软雅黑"/>
              </a:rPr>
              <a:t>与障碍物发生碰撞的禁止区域。</a:t>
            </a:r>
          </a:p>
        </p:txBody>
      </p:sp>
      <p:sp>
        <p:nvSpPr>
          <p:cNvPr id="18" name="TextBox 17"/>
          <p:cNvSpPr txBox="1"/>
          <p:nvPr/>
        </p:nvSpPr>
        <p:spPr>
          <a:xfrm>
            <a:off x="914400" y="5394960"/>
            <a:ext cx="10332720" cy="502920"/>
          </a:xfrm>
          <a:prstGeom prst="rect">
            <a:avLst/>
          </a:prstGeom>
          <a:noFill/>
        </p:spPr>
        <p:txBody>
          <a:bodyPr wrap="square" lIns="18288" tIns="18288" rIns="18288" bIns="18288" anchor="t">
            <a:spAutoFit/>
          </a:bodyPr>
          <a:lstStyle/>
          <a:p>
            <a:pPr algn="ctr">
              <a:lnSpc>
                <a:spcPct val="105000"/>
              </a:lnSpc>
            </a:pPr>
            <a:r>
              <a:rPr sz="2100" b="1" i="0">
                <a:solidFill>
                  <a:srgbClr val="24477D"/>
                </a:solidFill>
                <a:latin typeface="微软雅黑"/>
              </a:rPr>
              <a:t>具身导航还要求规划器具备实时响应动态障碍，并与 SLAM 更新同步。</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路径规划算法的三大类别</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63</a:t>
            </a:r>
          </a:p>
        </p:txBody>
      </p:sp>
      <p:sp>
        <p:nvSpPr>
          <p:cNvPr id="9" name="Rounded Rectangle 8"/>
          <p:cNvSpPr/>
          <p:nvPr/>
        </p:nvSpPr>
        <p:spPr>
          <a:xfrm>
            <a:off x="640080" y="1828800"/>
            <a:ext cx="3182112" cy="338328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1828800"/>
            <a:ext cx="77724" cy="338328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201168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图搜索算法</a:t>
            </a:r>
          </a:p>
        </p:txBody>
      </p:sp>
      <p:sp>
        <p:nvSpPr>
          <p:cNvPr id="12" name="TextBox 11"/>
          <p:cNvSpPr txBox="1"/>
          <p:nvPr/>
        </p:nvSpPr>
        <p:spPr>
          <a:xfrm>
            <a:off x="859536" y="2487168"/>
            <a:ext cx="2798064" cy="259689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把地图离散成图，在节点/边上搜索。适合占据栅格或拓扑地图。</a:t>
            </a:r>
          </a:p>
        </p:txBody>
      </p:sp>
      <p:sp>
        <p:nvSpPr>
          <p:cNvPr id="13" name="Rounded Rectangle 12"/>
          <p:cNvSpPr/>
          <p:nvPr/>
        </p:nvSpPr>
        <p:spPr>
          <a:xfrm>
            <a:off x="4096512" y="1828800"/>
            <a:ext cx="3182112" cy="338328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096512" y="1828800"/>
            <a:ext cx="77724" cy="338328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15968" y="201168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采样算法</a:t>
            </a:r>
          </a:p>
        </p:txBody>
      </p:sp>
      <p:sp>
        <p:nvSpPr>
          <p:cNvPr id="16" name="TextBox 15"/>
          <p:cNvSpPr txBox="1"/>
          <p:nvPr/>
        </p:nvSpPr>
        <p:spPr>
          <a:xfrm>
            <a:off x="4315968" y="2487168"/>
            <a:ext cx="2798064" cy="259689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在高维配置空间随机采样，适合复杂、非凸环境。</a:t>
            </a:r>
          </a:p>
        </p:txBody>
      </p:sp>
      <p:sp>
        <p:nvSpPr>
          <p:cNvPr id="17" name="Rounded Rectangle 16"/>
          <p:cNvSpPr/>
          <p:nvPr/>
        </p:nvSpPr>
        <p:spPr>
          <a:xfrm>
            <a:off x="7552944" y="1828800"/>
            <a:ext cx="3182112" cy="338328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52944" y="1828800"/>
            <a:ext cx="77724" cy="338328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0" y="201168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C58A24"/>
                </a:solidFill>
                <a:latin typeface="微软雅黑"/>
              </a:rPr>
              <a:t>优化算法</a:t>
            </a:r>
          </a:p>
        </p:txBody>
      </p:sp>
      <p:sp>
        <p:nvSpPr>
          <p:cNvPr id="20" name="TextBox 19"/>
          <p:cNvSpPr txBox="1"/>
          <p:nvPr/>
        </p:nvSpPr>
        <p:spPr>
          <a:xfrm>
            <a:off x="7772400" y="2487168"/>
            <a:ext cx="2798064" cy="259689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直接在连续空间中优化轨迹，可显式考虑动力学约束。</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6.4.2 A*：启发式图搜索</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64</a:t>
            </a:r>
          </a:p>
        </p:txBody>
      </p:sp>
      <p:sp>
        <p:nvSpPr>
          <p:cNvPr id="9" name="TextBox 8"/>
          <p:cNvSpPr txBox="1"/>
          <p:nvPr/>
        </p:nvSpPr>
        <p:spPr>
          <a:xfrm>
            <a:off x="822960" y="1691640"/>
            <a:ext cx="10561320" cy="788806"/>
          </a:xfrm>
          <a:prstGeom prst="rect">
            <a:avLst/>
          </a:prstGeom>
          <a:noFill/>
        </p:spPr>
        <p:txBody>
          <a:bodyPr wrap="square" lIns="18288" tIns="18288" rIns="18288" bIns="18288" anchor="t">
            <a:spAutoFit/>
          </a:bodyPr>
          <a:lstStyle/>
          <a:p>
            <a:pPr marL="342900" indent="-342900">
              <a:lnSpc>
                <a:spcPct val="105000"/>
              </a:lnSpc>
              <a:buFont typeface="Arial" panose="020B0604020202020204" pitchFamily="34" charset="0"/>
              <a:buChar char="•"/>
            </a:pPr>
            <a:r>
              <a:rPr sz="2400" b="0" i="0" dirty="0">
                <a:solidFill>
                  <a:srgbClr val="222833"/>
                </a:solidFill>
                <a:latin typeface="微软雅黑"/>
              </a:rPr>
              <a:t>A* </a:t>
            </a:r>
            <a:r>
              <a:rPr sz="2400" b="0" i="0" dirty="0" err="1">
                <a:solidFill>
                  <a:srgbClr val="222833"/>
                </a:solidFill>
                <a:latin typeface="微软雅黑"/>
              </a:rPr>
              <a:t>通过优先扩展总代价较小的节点，将“已经走过的实际代价”和“到目标的启发式估计”结合</a:t>
            </a:r>
            <a:r>
              <a:rPr sz="2400" b="0" i="0" dirty="0">
                <a:solidFill>
                  <a:srgbClr val="222833"/>
                </a:solidFill>
                <a:latin typeface="微软雅黑"/>
              </a:rPr>
              <a:t>。</a:t>
            </a:r>
          </a:p>
        </p:txBody>
      </p:sp>
      <p:sp>
        <p:nvSpPr>
          <p:cNvPr id="13" name="Rounded Rectangle 12"/>
          <p:cNvSpPr/>
          <p:nvPr/>
        </p:nvSpPr>
        <p:spPr>
          <a:xfrm>
            <a:off x="685800" y="4251960"/>
            <a:ext cx="5230368"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85800" y="4251960"/>
            <a:ext cx="77724" cy="14173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05256" y="443484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g(n)</a:t>
            </a:r>
          </a:p>
        </p:txBody>
      </p:sp>
      <p:sp>
        <p:nvSpPr>
          <p:cNvPr id="16" name="TextBox 15"/>
          <p:cNvSpPr txBox="1"/>
          <p:nvPr/>
        </p:nvSpPr>
        <p:spPr>
          <a:xfrm>
            <a:off x="905256" y="4910328"/>
            <a:ext cx="4846320" cy="630936"/>
          </a:xfrm>
          <a:prstGeom prst="rect">
            <a:avLst/>
          </a:prstGeom>
          <a:noFill/>
        </p:spPr>
        <p:txBody>
          <a:bodyPr wrap="square" lIns="18288" tIns="18288" rIns="18288" bIns="18288" anchor="t">
            <a:spAutoFit/>
          </a:bodyPr>
          <a:lstStyle/>
          <a:p>
            <a:pPr algn="l">
              <a:lnSpc>
                <a:spcPct val="110000"/>
              </a:lnSpc>
            </a:pPr>
            <a:r>
              <a:rPr sz="1900" b="0" i="0">
                <a:solidFill>
                  <a:srgbClr val="222833"/>
                </a:solidFill>
                <a:latin typeface="微软雅黑"/>
              </a:rPr>
              <a:t>起点到节点 n 的实际代价。</a:t>
            </a:r>
          </a:p>
        </p:txBody>
      </p:sp>
      <p:sp>
        <p:nvSpPr>
          <p:cNvPr id="17" name="Rounded Rectangle 16"/>
          <p:cNvSpPr/>
          <p:nvPr/>
        </p:nvSpPr>
        <p:spPr>
          <a:xfrm>
            <a:off x="6199632" y="4251960"/>
            <a:ext cx="5230368"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99632" y="4251960"/>
            <a:ext cx="77724" cy="14173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19088" y="443484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h(n)</a:t>
            </a:r>
          </a:p>
        </p:txBody>
      </p:sp>
      <p:sp>
        <p:nvSpPr>
          <p:cNvPr id="20" name="TextBox 19"/>
          <p:cNvSpPr txBox="1"/>
          <p:nvPr/>
        </p:nvSpPr>
        <p:spPr>
          <a:xfrm>
            <a:off x="6419088" y="4910328"/>
            <a:ext cx="4846320" cy="630936"/>
          </a:xfrm>
          <a:prstGeom prst="rect">
            <a:avLst/>
          </a:prstGeom>
          <a:noFill/>
        </p:spPr>
        <p:txBody>
          <a:bodyPr wrap="square" lIns="18288" tIns="18288" rIns="18288" bIns="18288" anchor="t">
            <a:spAutoFit/>
          </a:bodyPr>
          <a:lstStyle/>
          <a:p>
            <a:pPr algn="l">
              <a:lnSpc>
                <a:spcPct val="110000"/>
              </a:lnSpc>
            </a:pPr>
            <a:r>
              <a:rPr sz="1900" b="0" i="0">
                <a:solidFill>
                  <a:srgbClr val="222833"/>
                </a:solidFill>
                <a:latin typeface="微软雅黑"/>
              </a:rPr>
              <a:t>节点 n 到目标的启发式估计，例如欧氏距离。</a:t>
            </a:r>
          </a:p>
        </p:txBody>
      </p:sp>
      <p:graphicFrame>
        <p:nvGraphicFramePr>
          <p:cNvPr id="23" name="对象 22">
            <a:extLst>
              <a:ext uri="{FF2B5EF4-FFF2-40B4-BE49-F238E27FC236}">
                <a16:creationId xmlns:a16="http://schemas.microsoft.com/office/drawing/2014/main" id="{F8F89C38-89B9-6CA4-8CB9-4A0318B5DCC6}"/>
              </a:ext>
            </a:extLst>
          </p:cNvPr>
          <p:cNvGraphicFramePr>
            <a:graphicFrameLocks noChangeAspect="1"/>
          </p:cNvGraphicFramePr>
          <p:nvPr>
            <p:extLst>
              <p:ext uri="{D42A27DB-BD31-4B8C-83A1-F6EECF244321}">
                <p14:modId xmlns:p14="http://schemas.microsoft.com/office/powerpoint/2010/main" val="579336219"/>
              </p:ext>
            </p:extLst>
          </p:nvPr>
        </p:nvGraphicFramePr>
        <p:xfrm>
          <a:off x="3540888" y="2887082"/>
          <a:ext cx="3896078" cy="669557"/>
        </p:xfrm>
        <a:graphic>
          <a:graphicData uri="http://schemas.openxmlformats.org/presentationml/2006/ole">
            <mc:AlternateContent xmlns:mc="http://schemas.openxmlformats.org/markup-compatibility/2006">
              <mc:Choice xmlns:v="urn:schemas-microsoft-com:vml" Requires="v">
                <p:oleObj name="Equation" r:id="rId2" imgW="1167893" imgH="203112" progId="Equation.DSMT4">
                  <p:embed/>
                </p:oleObj>
              </mc:Choice>
              <mc:Fallback>
                <p:oleObj name="Equation" r:id="rId2" imgW="1167893" imgH="203112" progId="Equation.DSMT4">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0888" y="2887082"/>
                        <a:ext cx="3896078" cy="669557"/>
                      </a:xfrm>
                      <a:prstGeom prst="rect">
                        <a:avLst/>
                      </a:prstGeom>
                      <a:noFill/>
                    </p:spPr>
                  </p:pic>
                </p:oleObj>
              </mc:Fallback>
            </mc:AlternateContent>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A* 路径规划示例</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65</a:t>
            </a:r>
          </a:p>
        </p:txBody>
      </p:sp>
      <p:pic>
        <p:nvPicPr>
          <p:cNvPr id="9" name="Picture 8" descr="fig13.png"/>
          <p:cNvPicPr>
            <a:picLocks noChangeAspect="1"/>
          </p:cNvPicPr>
          <p:nvPr/>
        </p:nvPicPr>
        <p:blipFill>
          <a:blip r:embed="rId2"/>
          <a:stretch>
            <a:fillRect/>
          </a:stretch>
        </p:blipFill>
        <p:spPr>
          <a:xfrm>
            <a:off x="751160" y="1664208"/>
            <a:ext cx="4349838" cy="4434840"/>
          </a:xfrm>
          <a:prstGeom prst="rect">
            <a:avLst/>
          </a:prstGeom>
        </p:spPr>
      </p:pic>
      <p:sp>
        <p:nvSpPr>
          <p:cNvPr id="10" name="TextBox 9"/>
          <p:cNvSpPr txBox="1"/>
          <p:nvPr/>
        </p:nvSpPr>
        <p:spPr>
          <a:xfrm>
            <a:off x="640080" y="6144768"/>
            <a:ext cx="4572000" cy="234103"/>
          </a:xfrm>
          <a:prstGeom prst="rect">
            <a:avLst/>
          </a:prstGeom>
          <a:noFill/>
        </p:spPr>
        <p:txBody>
          <a:bodyPr wrap="square" lIns="18288" tIns="18288" rIns="18288" bIns="18288" anchor="t">
            <a:spAutoFit/>
          </a:bodyPr>
          <a:lstStyle/>
          <a:p>
            <a:pPr algn="ctr">
              <a:lnSpc>
                <a:spcPct val="105000"/>
              </a:lnSpc>
            </a:pPr>
            <a:r>
              <a:rPr sz="1300" b="1" i="0" dirty="0">
                <a:solidFill>
                  <a:srgbClr val="24477D"/>
                </a:solidFill>
                <a:latin typeface="微软雅黑"/>
              </a:rPr>
              <a:t>A* </a:t>
            </a:r>
            <a:r>
              <a:rPr sz="1300" b="1" i="0" dirty="0" err="1">
                <a:solidFill>
                  <a:srgbClr val="24477D"/>
                </a:solidFill>
                <a:latin typeface="微软雅黑"/>
              </a:rPr>
              <a:t>算法路径规划</a:t>
            </a:r>
            <a:endParaRPr sz="1300" b="1" i="0" dirty="0">
              <a:solidFill>
                <a:srgbClr val="24477D"/>
              </a:solidFill>
              <a:latin typeface="微软雅黑"/>
            </a:endParaRPr>
          </a:p>
        </p:txBody>
      </p:sp>
      <p:sp>
        <p:nvSpPr>
          <p:cNvPr id="11" name="TextBox 10"/>
          <p:cNvSpPr txBox="1"/>
          <p:nvPr/>
        </p:nvSpPr>
        <p:spPr>
          <a:xfrm>
            <a:off x="5489620" y="1808472"/>
            <a:ext cx="5951220" cy="2732608"/>
          </a:xfrm>
          <a:prstGeom prst="rect">
            <a:avLst/>
          </a:prstGeom>
          <a:noFill/>
        </p:spPr>
        <p:txBody>
          <a:bodyPr wrap="square" lIns="18288" tIns="18288" rIns="18288" bIns="18288">
            <a:spAutoFit/>
          </a:bodyPr>
          <a:lstStyle/>
          <a:p>
            <a:pPr>
              <a:lnSpc>
                <a:spcPct val="115000"/>
              </a:lnSpc>
              <a:spcAft>
                <a:spcPts val="1000"/>
              </a:spcAft>
              <a:defRPr sz="1800">
                <a:solidFill>
                  <a:srgbClr val="222833"/>
                </a:solidFill>
                <a:latin typeface="微软雅黑"/>
              </a:defRPr>
            </a:pPr>
            <a:r>
              <a:rPr sz="2800" dirty="0"/>
              <a:t>• </a:t>
            </a:r>
            <a:r>
              <a:rPr sz="2800" dirty="0" err="1"/>
              <a:t>当启发函数</a:t>
            </a:r>
            <a:r>
              <a:rPr sz="2800" dirty="0"/>
              <a:t> h(n) </a:t>
            </a:r>
            <a:r>
              <a:rPr sz="2800" dirty="0" err="1"/>
              <a:t>可容许，即不高估真实最优代价时，A</a:t>
            </a:r>
            <a:r>
              <a:rPr sz="2800" dirty="0"/>
              <a:t>* </a:t>
            </a:r>
            <a:r>
              <a:rPr sz="2800" dirty="0" err="1"/>
              <a:t>可找到最优路径</a:t>
            </a:r>
            <a:endParaRPr sz="2800" dirty="0"/>
          </a:p>
          <a:p>
            <a:pPr>
              <a:lnSpc>
                <a:spcPct val="115000"/>
              </a:lnSpc>
              <a:spcAft>
                <a:spcPts val="1000"/>
              </a:spcAft>
              <a:defRPr sz="1800">
                <a:solidFill>
                  <a:srgbClr val="222833"/>
                </a:solidFill>
                <a:latin typeface="微软雅黑"/>
              </a:defRPr>
            </a:pPr>
            <a:r>
              <a:rPr sz="2800" dirty="0"/>
              <a:t>• </a:t>
            </a:r>
            <a:r>
              <a:rPr sz="2800" dirty="0" err="1"/>
              <a:t>适合占据栅格地图的全局路径规划</a:t>
            </a:r>
            <a:endParaRPr sz="2800" dirty="0"/>
          </a:p>
          <a:p>
            <a:pPr>
              <a:lnSpc>
                <a:spcPct val="115000"/>
              </a:lnSpc>
              <a:spcAft>
                <a:spcPts val="1000"/>
              </a:spcAft>
              <a:defRPr sz="1800">
                <a:solidFill>
                  <a:srgbClr val="222833"/>
                </a:solidFill>
                <a:latin typeface="微软雅黑"/>
              </a:defRPr>
            </a:pPr>
            <a:r>
              <a:rPr sz="2800" dirty="0"/>
              <a:t>• </a:t>
            </a:r>
            <a:r>
              <a:rPr sz="2800" dirty="0" err="1"/>
              <a:t>局限：在高分辨率地图中节点数量庞大，计算开销明显增加</a:t>
            </a:r>
            <a:endParaRPr sz="2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RRT：快速随机树</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66</a:t>
            </a:r>
          </a:p>
        </p:txBody>
      </p:sp>
      <p:sp>
        <p:nvSpPr>
          <p:cNvPr id="9" name="TextBox 8"/>
          <p:cNvSpPr txBox="1"/>
          <p:nvPr/>
        </p:nvSpPr>
        <p:spPr>
          <a:xfrm>
            <a:off x="685800" y="1783080"/>
            <a:ext cx="5715000" cy="3361818"/>
          </a:xfrm>
          <a:prstGeom prst="rect">
            <a:avLst/>
          </a:prstGeom>
          <a:noFill/>
        </p:spPr>
        <p:txBody>
          <a:bodyPr wrap="square" lIns="18288" tIns="18288" rIns="18288" bIns="18288">
            <a:spAutoFit/>
          </a:bodyPr>
          <a:lstStyle/>
          <a:p>
            <a:pPr>
              <a:lnSpc>
                <a:spcPct val="115000"/>
              </a:lnSpc>
              <a:spcAft>
                <a:spcPts val="1000"/>
              </a:spcAft>
              <a:defRPr sz="1700">
                <a:solidFill>
                  <a:srgbClr val="222833"/>
                </a:solidFill>
                <a:latin typeface="微软雅黑"/>
              </a:defRPr>
            </a:pPr>
            <a:r>
              <a:rPr sz="2400" dirty="0"/>
              <a:t>• </a:t>
            </a:r>
            <a:r>
              <a:rPr sz="2400" dirty="0" err="1"/>
              <a:t>从起点建立一棵树，不断随机采样配置空间中的目标点</a:t>
            </a:r>
            <a:r>
              <a:rPr sz="2400" dirty="0"/>
              <a:t>。</a:t>
            </a:r>
          </a:p>
          <a:p>
            <a:pPr>
              <a:lnSpc>
                <a:spcPct val="115000"/>
              </a:lnSpc>
              <a:spcAft>
                <a:spcPts val="1000"/>
              </a:spcAft>
              <a:defRPr sz="1700">
                <a:solidFill>
                  <a:srgbClr val="222833"/>
                </a:solidFill>
                <a:latin typeface="微软雅黑"/>
              </a:defRPr>
            </a:pPr>
            <a:r>
              <a:rPr sz="2400" dirty="0"/>
              <a:t>• </a:t>
            </a:r>
            <a:r>
              <a:rPr sz="2400" dirty="0" err="1"/>
              <a:t>寻找树中最近节点并向采样点方向扩展；无碰撞则把新节点加入树</a:t>
            </a:r>
            <a:r>
              <a:rPr sz="2400" dirty="0"/>
              <a:t>。</a:t>
            </a:r>
          </a:p>
          <a:p>
            <a:pPr>
              <a:lnSpc>
                <a:spcPct val="115000"/>
              </a:lnSpc>
              <a:spcAft>
                <a:spcPts val="1000"/>
              </a:spcAft>
              <a:defRPr sz="1700">
                <a:solidFill>
                  <a:srgbClr val="222833"/>
                </a:solidFill>
                <a:latin typeface="微软雅黑"/>
              </a:defRPr>
            </a:pPr>
            <a:r>
              <a:rPr sz="2400" dirty="0"/>
              <a:t>• </a:t>
            </a:r>
            <a:r>
              <a:rPr sz="2400" dirty="0" err="1"/>
              <a:t>概率完备，特别适合高维、非凸配置空间或带非完整约束的问题</a:t>
            </a:r>
            <a:r>
              <a:rPr sz="2400" dirty="0"/>
              <a:t>。</a:t>
            </a:r>
          </a:p>
          <a:p>
            <a:pPr>
              <a:lnSpc>
                <a:spcPct val="115000"/>
              </a:lnSpc>
              <a:spcAft>
                <a:spcPts val="1000"/>
              </a:spcAft>
              <a:defRPr sz="1700">
                <a:solidFill>
                  <a:srgbClr val="222833"/>
                </a:solidFill>
                <a:latin typeface="微软雅黑"/>
              </a:defRPr>
            </a:pPr>
            <a:r>
              <a:rPr sz="2400" dirty="0"/>
              <a:t>• RRT* </a:t>
            </a:r>
            <a:r>
              <a:rPr sz="2400" dirty="0" err="1"/>
              <a:t>通过近邻重连获得渐近最优性</a:t>
            </a:r>
            <a:r>
              <a:rPr sz="2400" dirty="0"/>
              <a:t>。</a:t>
            </a:r>
          </a:p>
        </p:txBody>
      </p:sp>
      <p:pic>
        <p:nvPicPr>
          <p:cNvPr id="10" name="Picture 9" descr="fig14.png"/>
          <p:cNvPicPr>
            <a:picLocks noChangeAspect="1"/>
          </p:cNvPicPr>
          <p:nvPr/>
        </p:nvPicPr>
        <p:blipFill>
          <a:blip r:embed="rId2"/>
          <a:stretch>
            <a:fillRect/>
          </a:stretch>
        </p:blipFill>
        <p:spPr>
          <a:xfrm>
            <a:off x="6629400" y="1575257"/>
            <a:ext cx="4983480" cy="3707486"/>
          </a:xfrm>
          <a:prstGeom prst="rect">
            <a:avLst/>
          </a:prstGeom>
        </p:spPr>
      </p:pic>
      <p:sp>
        <p:nvSpPr>
          <p:cNvPr id="11" name="TextBox 10"/>
          <p:cNvSpPr txBox="1"/>
          <p:nvPr/>
        </p:nvSpPr>
        <p:spPr>
          <a:xfrm>
            <a:off x="6908292" y="5527193"/>
            <a:ext cx="4983480" cy="234103"/>
          </a:xfrm>
          <a:prstGeom prst="rect">
            <a:avLst/>
          </a:prstGeom>
          <a:noFill/>
        </p:spPr>
        <p:txBody>
          <a:bodyPr wrap="square" lIns="18288" tIns="18288" rIns="18288" bIns="18288" anchor="t">
            <a:spAutoFit/>
          </a:bodyPr>
          <a:lstStyle/>
          <a:p>
            <a:pPr algn="ctr">
              <a:lnSpc>
                <a:spcPct val="105000"/>
              </a:lnSpc>
            </a:pPr>
            <a:r>
              <a:rPr sz="1300" b="1" i="0" dirty="0">
                <a:solidFill>
                  <a:srgbClr val="24477D"/>
                </a:solidFill>
                <a:latin typeface="微软雅黑"/>
              </a:rPr>
              <a:t>RRT </a:t>
            </a:r>
            <a:r>
              <a:rPr sz="1300" b="1" i="0" dirty="0" err="1">
                <a:solidFill>
                  <a:srgbClr val="24477D"/>
                </a:solidFill>
                <a:latin typeface="微软雅黑"/>
              </a:rPr>
              <a:t>路径规划</a:t>
            </a:r>
            <a:endParaRPr sz="1300" b="1" i="0" dirty="0">
              <a:solidFill>
                <a:srgbClr val="24477D"/>
              </a:solidFill>
              <a:latin typeface="微软雅黑"/>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RRT：优势与局限</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67</a:t>
            </a:r>
          </a:p>
        </p:txBody>
      </p:sp>
      <p:sp>
        <p:nvSpPr>
          <p:cNvPr id="9" name="Rounded Rectangle 8"/>
          <p:cNvSpPr/>
          <p:nvPr/>
        </p:nvSpPr>
        <p:spPr>
          <a:xfrm>
            <a:off x="685800" y="1828800"/>
            <a:ext cx="5230368" cy="27432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1828800"/>
            <a:ext cx="77724" cy="274320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5256" y="201168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优势</a:t>
            </a:r>
          </a:p>
        </p:txBody>
      </p:sp>
      <p:sp>
        <p:nvSpPr>
          <p:cNvPr id="12" name="TextBox 11"/>
          <p:cNvSpPr txBox="1"/>
          <p:nvPr/>
        </p:nvSpPr>
        <p:spPr>
          <a:xfrm>
            <a:off x="905256" y="2487168"/>
            <a:ext cx="4846320" cy="1956816"/>
          </a:xfrm>
          <a:prstGeom prst="rect">
            <a:avLst/>
          </a:prstGeom>
          <a:noFill/>
        </p:spPr>
        <p:txBody>
          <a:bodyPr wrap="square" lIns="18288" tIns="18288" rIns="18288" bIns="18288" anchor="t">
            <a:spAutoFit/>
          </a:bodyPr>
          <a:lstStyle/>
          <a:p>
            <a:pPr algn="l">
              <a:lnSpc>
                <a:spcPct val="110000"/>
              </a:lnSpc>
            </a:pPr>
            <a:r>
              <a:rPr sz="2000" b="0" i="0">
                <a:solidFill>
                  <a:srgbClr val="222833"/>
                </a:solidFill>
                <a:latin typeface="微软雅黑"/>
              </a:rPr>
              <a:t>易处理复杂障碍和高维空间，扩展性强，并可融入运动学约束。</a:t>
            </a:r>
          </a:p>
        </p:txBody>
      </p:sp>
      <p:sp>
        <p:nvSpPr>
          <p:cNvPr id="13" name="Rounded Rectangle 12"/>
          <p:cNvSpPr/>
          <p:nvPr/>
        </p:nvSpPr>
        <p:spPr>
          <a:xfrm>
            <a:off x="6199632" y="1828800"/>
            <a:ext cx="5230368" cy="27432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99632" y="1828800"/>
            <a:ext cx="77724" cy="274320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19088" y="201168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C63F45"/>
                </a:solidFill>
                <a:latin typeface="微软雅黑"/>
              </a:rPr>
              <a:t>局限</a:t>
            </a:r>
          </a:p>
        </p:txBody>
      </p:sp>
      <p:sp>
        <p:nvSpPr>
          <p:cNvPr id="16" name="TextBox 15"/>
          <p:cNvSpPr txBox="1"/>
          <p:nvPr/>
        </p:nvSpPr>
        <p:spPr>
          <a:xfrm>
            <a:off x="6419088" y="2487168"/>
            <a:ext cx="4846320" cy="1956816"/>
          </a:xfrm>
          <a:prstGeom prst="rect">
            <a:avLst/>
          </a:prstGeom>
          <a:noFill/>
        </p:spPr>
        <p:txBody>
          <a:bodyPr wrap="square" lIns="18288" tIns="18288" rIns="18288" bIns="18288" anchor="t">
            <a:spAutoFit/>
          </a:bodyPr>
          <a:lstStyle/>
          <a:p>
            <a:pPr algn="l">
              <a:lnSpc>
                <a:spcPct val="110000"/>
              </a:lnSpc>
            </a:pPr>
            <a:r>
              <a:rPr sz="2000" b="0" i="0">
                <a:solidFill>
                  <a:srgbClr val="222833"/>
                </a:solidFill>
                <a:latin typeface="微软雅黑"/>
              </a:rPr>
              <a:t>路径通常锯齿、需要平滑；随机性导致结果不稳定，常与局部规划器结合。</a:t>
            </a:r>
          </a:p>
        </p:txBody>
      </p:sp>
      <p:sp>
        <p:nvSpPr>
          <p:cNvPr id="17" name="TextBox 16"/>
          <p:cNvSpPr txBox="1"/>
          <p:nvPr/>
        </p:nvSpPr>
        <p:spPr>
          <a:xfrm>
            <a:off x="1828800" y="4983480"/>
            <a:ext cx="8503920" cy="502920"/>
          </a:xfrm>
          <a:prstGeom prst="rect">
            <a:avLst/>
          </a:prstGeom>
          <a:noFill/>
        </p:spPr>
        <p:txBody>
          <a:bodyPr wrap="square" lIns="18288" tIns="18288" rIns="18288" bIns="18288" anchor="t">
            <a:spAutoFit/>
          </a:bodyPr>
          <a:lstStyle/>
          <a:p>
            <a:pPr algn="ctr">
              <a:lnSpc>
                <a:spcPct val="105000"/>
              </a:lnSpc>
            </a:pPr>
            <a:r>
              <a:rPr sz="2200" b="1" i="0">
                <a:solidFill>
                  <a:srgbClr val="24477D"/>
                </a:solidFill>
                <a:latin typeface="微软雅黑"/>
              </a:rPr>
              <a:t>教材将其用于动态或未知环境下的全局规划。</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PRM：适合“多次查询”的概率路线图</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68</a:t>
            </a:r>
          </a:p>
        </p:txBody>
      </p:sp>
      <p:sp>
        <p:nvSpPr>
          <p:cNvPr id="9" name="Rounded Rectangle 8"/>
          <p:cNvSpPr/>
          <p:nvPr/>
        </p:nvSpPr>
        <p:spPr>
          <a:xfrm>
            <a:off x="685800" y="1965960"/>
            <a:ext cx="3493008"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1965960"/>
            <a:ext cx="3493008" cy="82296"/>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5528"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31599B"/>
                </a:solidFill>
                <a:latin typeface="微软雅黑"/>
              </a:rPr>
              <a:t>1</a:t>
            </a:r>
          </a:p>
        </p:txBody>
      </p:sp>
      <p:sp>
        <p:nvSpPr>
          <p:cNvPr id="12" name="TextBox 11"/>
          <p:cNvSpPr txBox="1"/>
          <p:nvPr/>
        </p:nvSpPr>
        <p:spPr>
          <a:xfrm>
            <a:off x="1188720" y="2130552"/>
            <a:ext cx="2871216" cy="329184"/>
          </a:xfrm>
          <a:prstGeom prst="rect">
            <a:avLst/>
          </a:prstGeom>
          <a:noFill/>
        </p:spPr>
        <p:txBody>
          <a:bodyPr wrap="square" lIns="18288" tIns="18288" rIns="18288" bIns="18288" anchor="t">
            <a:spAutoFit/>
          </a:bodyPr>
          <a:lstStyle/>
          <a:p>
            <a:pPr algn="l">
              <a:lnSpc>
                <a:spcPct val="105000"/>
              </a:lnSpc>
            </a:pPr>
            <a:r>
              <a:rPr sz="1900" b="1" i="0">
                <a:solidFill>
                  <a:srgbClr val="31599B"/>
                </a:solidFill>
                <a:latin typeface="微软雅黑"/>
              </a:rPr>
              <a:t>随机采样</a:t>
            </a:r>
          </a:p>
        </p:txBody>
      </p:sp>
      <p:sp>
        <p:nvSpPr>
          <p:cNvPr id="13" name="TextBox 12"/>
          <p:cNvSpPr txBox="1"/>
          <p:nvPr/>
        </p:nvSpPr>
        <p:spPr>
          <a:xfrm>
            <a:off x="832104" y="2569464"/>
            <a:ext cx="3200400"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在配置空间中采样大量无碰撞节点</a:t>
            </a:r>
          </a:p>
        </p:txBody>
      </p:sp>
      <p:sp>
        <p:nvSpPr>
          <p:cNvPr id="14" name="Rectangle 13"/>
          <p:cNvSpPr/>
          <p:nvPr/>
        </p:nvSpPr>
        <p:spPr>
          <a:xfrm>
            <a:off x="4215384" y="2551176"/>
            <a:ext cx="128016" cy="256032"/>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379976" y="1965960"/>
            <a:ext cx="3493008"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379976" y="1965960"/>
            <a:ext cx="3493008" cy="82296"/>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89704"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2F8E72"/>
                </a:solidFill>
                <a:latin typeface="微软雅黑"/>
              </a:rPr>
              <a:t>2</a:t>
            </a:r>
          </a:p>
        </p:txBody>
      </p:sp>
      <p:sp>
        <p:nvSpPr>
          <p:cNvPr id="18" name="TextBox 17"/>
          <p:cNvSpPr txBox="1"/>
          <p:nvPr/>
        </p:nvSpPr>
        <p:spPr>
          <a:xfrm>
            <a:off x="4882896" y="2130552"/>
            <a:ext cx="2871216" cy="329184"/>
          </a:xfrm>
          <a:prstGeom prst="rect">
            <a:avLst/>
          </a:prstGeom>
          <a:noFill/>
        </p:spPr>
        <p:txBody>
          <a:bodyPr wrap="square" lIns="18288" tIns="18288" rIns="18288" bIns="18288" anchor="t">
            <a:spAutoFit/>
          </a:bodyPr>
          <a:lstStyle/>
          <a:p>
            <a:pPr algn="l">
              <a:lnSpc>
                <a:spcPct val="105000"/>
              </a:lnSpc>
            </a:pPr>
            <a:r>
              <a:rPr sz="1900" b="1" i="0">
                <a:solidFill>
                  <a:srgbClr val="2F8E72"/>
                </a:solidFill>
                <a:latin typeface="微软雅黑"/>
              </a:rPr>
              <a:t>构建路线图</a:t>
            </a:r>
          </a:p>
        </p:txBody>
      </p:sp>
      <p:sp>
        <p:nvSpPr>
          <p:cNvPr id="19" name="TextBox 18"/>
          <p:cNvSpPr txBox="1"/>
          <p:nvPr/>
        </p:nvSpPr>
        <p:spPr>
          <a:xfrm>
            <a:off x="4526280" y="2569464"/>
            <a:ext cx="3200400"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连接近邻节点，形成 Road Map</a:t>
            </a:r>
          </a:p>
        </p:txBody>
      </p:sp>
      <p:sp>
        <p:nvSpPr>
          <p:cNvPr id="20" name="Rectangle 19"/>
          <p:cNvSpPr/>
          <p:nvPr/>
        </p:nvSpPr>
        <p:spPr>
          <a:xfrm>
            <a:off x="7909559" y="2551176"/>
            <a:ext cx="128016" cy="256032"/>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074152" y="1965960"/>
            <a:ext cx="3493008"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074152" y="1965960"/>
            <a:ext cx="3493008" cy="82296"/>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83879"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58A24"/>
                </a:solidFill>
                <a:latin typeface="微软雅黑"/>
              </a:rPr>
              <a:t>3</a:t>
            </a:r>
          </a:p>
        </p:txBody>
      </p:sp>
      <p:sp>
        <p:nvSpPr>
          <p:cNvPr id="24" name="TextBox 23"/>
          <p:cNvSpPr txBox="1"/>
          <p:nvPr/>
        </p:nvSpPr>
        <p:spPr>
          <a:xfrm>
            <a:off x="8577072" y="2130552"/>
            <a:ext cx="2871216" cy="329184"/>
          </a:xfrm>
          <a:prstGeom prst="rect">
            <a:avLst/>
          </a:prstGeom>
          <a:noFill/>
        </p:spPr>
        <p:txBody>
          <a:bodyPr wrap="square" lIns="18288" tIns="18288" rIns="18288" bIns="18288" anchor="t">
            <a:spAutoFit/>
          </a:bodyPr>
          <a:lstStyle/>
          <a:p>
            <a:pPr algn="l">
              <a:lnSpc>
                <a:spcPct val="105000"/>
              </a:lnSpc>
            </a:pPr>
            <a:r>
              <a:rPr sz="1900" b="1" i="0">
                <a:solidFill>
                  <a:srgbClr val="C58A24"/>
                </a:solidFill>
                <a:latin typeface="微软雅黑"/>
              </a:rPr>
              <a:t>查询路径</a:t>
            </a:r>
          </a:p>
        </p:txBody>
      </p:sp>
      <p:sp>
        <p:nvSpPr>
          <p:cNvPr id="25" name="TextBox 24"/>
          <p:cNvSpPr txBox="1"/>
          <p:nvPr/>
        </p:nvSpPr>
        <p:spPr>
          <a:xfrm>
            <a:off x="8220456" y="2569464"/>
            <a:ext cx="3200400"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用 A* 等图搜索算法在路线图上搜索</a:t>
            </a:r>
          </a:p>
        </p:txBody>
      </p:sp>
      <p:sp>
        <p:nvSpPr>
          <p:cNvPr id="26" name="Rounded Rectangle 25"/>
          <p:cNvSpPr/>
          <p:nvPr/>
        </p:nvSpPr>
        <p:spPr>
          <a:xfrm>
            <a:off x="685800" y="4297680"/>
            <a:ext cx="5230368" cy="132588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85800" y="4297680"/>
            <a:ext cx="77724" cy="132588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05256" y="448056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适合</a:t>
            </a:r>
          </a:p>
        </p:txBody>
      </p:sp>
      <p:sp>
        <p:nvSpPr>
          <p:cNvPr id="29" name="TextBox 28"/>
          <p:cNvSpPr txBox="1"/>
          <p:nvPr/>
        </p:nvSpPr>
        <p:spPr>
          <a:xfrm>
            <a:off x="905256" y="4956048"/>
            <a:ext cx="4846320" cy="53949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Multi-query：预处理一次，后续多次路径查询高效。</a:t>
            </a:r>
          </a:p>
        </p:txBody>
      </p:sp>
      <p:sp>
        <p:nvSpPr>
          <p:cNvPr id="30" name="Rounded Rectangle 29"/>
          <p:cNvSpPr/>
          <p:nvPr/>
        </p:nvSpPr>
        <p:spPr>
          <a:xfrm>
            <a:off x="6199632" y="4297680"/>
            <a:ext cx="5230368" cy="132588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199632" y="4297680"/>
            <a:ext cx="77724" cy="132588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19088" y="448056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C63F45"/>
                </a:solidFill>
                <a:latin typeface="微软雅黑"/>
              </a:rPr>
              <a:t>局限</a:t>
            </a:r>
          </a:p>
        </p:txBody>
      </p:sp>
      <p:sp>
        <p:nvSpPr>
          <p:cNvPr id="33" name="TextBox 32"/>
          <p:cNvSpPr txBox="1"/>
          <p:nvPr/>
        </p:nvSpPr>
        <p:spPr>
          <a:xfrm>
            <a:off x="6419088" y="4956048"/>
            <a:ext cx="4846320" cy="53949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高维空间中路线图构建阶段可能耗时较长。</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A*、RRT 与 PRM 对比</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69</a:t>
            </a:r>
          </a:p>
        </p:txBody>
      </p:sp>
      <p:sp>
        <p:nvSpPr>
          <p:cNvPr id="9" name="Rectangle 8"/>
          <p:cNvSpPr/>
          <p:nvPr/>
        </p:nvSpPr>
        <p:spPr>
          <a:xfrm>
            <a:off x="658368" y="1691640"/>
            <a:ext cx="1280160" cy="530352"/>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94944" y="1764792"/>
            <a:ext cx="1207007" cy="365760"/>
          </a:xfrm>
          <a:prstGeom prst="rect">
            <a:avLst/>
          </a:prstGeom>
          <a:noFill/>
        </p:spPr>
        <p:txBody>
          <a:bodyPr wrap="square" lIns="18288" tIns="18288" rIns="18288" bIns="18288" anchor="ctr">
            <a:spAutoFit/>
          </a:bodyPr>
          <a:lstStyle/>
          <a:p>
            <a:pPr algn="ctr">
              <a:lnSpc>
                <a:spcPct val="105000"/>
              </a:lnSpc>
            </a:pPr>
            <a:r>
              <a:rPr sz="1600" b="1" i="0">
                <a:solidFill>
                  <a:srgbClr val="FFFFFF"/>
                </a:solidFill>
                <a:latin typeface="微软雅黑"/>
              </a:rPr>
              <a:t>算法</a:t>
            </a:r>
          </a:p>
        </p:txBody>
      </p:sp>
      <p:sp>
        <p:nvSpPr>
          <p:cNvPr id="11" name="Rectangle 10"/>
          <p:cNvSpPr/>
          <p:nvPr/>
        </p:nvSpPr>
        <p:spPr>
          <a:xfrm>
            <a:off x="1938528" y="1691640"/>
            <a:ext cx="2103120" cy="530352"/>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975104" y="1764792"/>
            <a:ext cx="2029967" cy="365760"/>
          </a:xfrm>
          <a:prstGeom prst="rect">
            <a:avLst/>
          </a:prstGeom>
          <a:noFill/>
        </p:spPr>
        <p:txBody>
          <a:bodyPr wrap="square" lIns="18288" tIns="18288" rIns="18288" bIns="18288" anchor="ctr">
            <a:spAutoFit/>
          </a:bodyPr>
          <a:lstStyle/>
          <a:p>
            <a:pPr algn="ctr">
              <a:lnSpc>
                <a:spcPct val="105000"/>
              </a:lnSpc>
            </a:pPr>
            <a:r>
              <a:rPr sz="1600" b="1" i="0">
                <a:solidFill>
                  <a:srgbClr val="FFFFFF"/>
                </a:solidFill>
                <a:latin typeface="微软雅黑"/>
              </a:rPr>
              <a:t>基本思想</a:t>
            </a:r>
          </a:p>
        </p:txBody>
      </p:sp>
      <p:sp>
        <p:nvSpPr>
          <p:cNvPr id="13" name="Rectangle 12"/>
          <p:cNvSpPr/>
          <p:nvPr/>
        </p:nvSpPr>
        <p:spPr>
          <a:xfrm>
            <a:off x="4041648" y="1691640"/>
            <a:ext cx="2468880" cy="530352"/>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078224" y="1764792"/>
            <a:ext cx="2395728" cy="365760"/>
          </a:xfrm>
          <a:prstGeom prst="rect">
            <a:avLst/>
          </a:prstGeom>
          <a:noFill/>
        </p:spPr>
        <p:txBody>
          <a:bodyPr wrap="square" lIns="18288" tIns="18288" rIns="18288" bIns="18288" anchor="ctr">
            <a:spAutoFit/>
          </a:bodyPr>
          <a:lstStyle/>
          <a:p>
            <a:pPr algn="ctr">
              <a:lnSpc>
                <a:spcPct val="105000"/>
              </a:lnSpc>
            </a:pPr>
            <a:r>
              <a:rPr sz="1600" b="1" i="0">
                <a:solidFill>
                  <a:srgbClr val="FFFFFF"/>
                </a:solidFill>
                <a:latin typeface="微软雅黑"/>
              </a:rPr>
              <a:t>主要优势</a:t>
            </a:r>
          </a:p>
        </p:txBody>
      </p:sp>
      <p:sp>
        <p:nvSpPr>
          <p:cNvPr id="15" name="Rectangle 14"/>
          <p:cNvSpPr/>
          <p:nvPr/>
        </p:nvSpPr>
        <p:spPr>
          <a:xfrm>
            <a:off x="6510528" y="1691640"/>
            <a:ext cx="2468880" cy="530352"/>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47104" y="1764792"/>
            <a:ext cx="2395728" cy="365760"/>
          </a:xfrm>
          <a:prstGeom prst="rect">
            <a:avLst/>
          </a:prstGeom>
          <a:noFill/>
        </p:spPr>
        <p:txBody>
          <a:bodyPr wrap="square" lIns="18288" tIns="18288" rIns="18288" bIns="18288" anchor="ctr">
            <a:spAutoFit/>
          </a:bodyPr>
          <a:lstStyle/>
          <a:p>
            <a:pPr algn="ctr">
              <a:lnSpc>
                <a:spcPct val="105000"/>
              </a:lnSpc>
            </a:pPr>
            <a:r>
              <a:rPr sz="1600" b="1" i="0">
                <a:solidFill>
                  <a:srgbClr val="FFFFFF"/>
                </a:solidFill>
                <a:latin typeface="微软雅黑"/>
              </a:rPr>
              <a:t>主要局限</a:t>
            </a:r>
          </a:p>
        </p:txBody>
      </p:sp>
      <p:sp>
        <p:nvSpPr>
          <p:cNvPr id="17" name="Rectangle 16"/>
          <p:cNvSpPr/>
          <p:nvPr/>
        </p:nvSpPr>
        <p:spPr>
          <a:xfrm>
            <a:off x="8979408" y="1691640"/>
            <a:ext cx="2560320" cy="530352"/>
          </a:xfrm>
          <a:prstGeom prst="rect">
            <a:avLst/>
          </a:prstGeom>
          <a:solidFill>
            <a:srgbClr val="755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015984" y="1764792"/>
            <a:ext cx="2487168" cy="365760"/>
          </a:xfrm>
          <a:prstGeom prst="rect">
            <a:avLst/>
          </a:prstGeom>
          <a:noFill/>
        </p:spPr>
        <p:txBody>
          <a:bodyPr wrap="square" lIns="18288" tIns="18288" rIns="18288" bIns="18288" anchor="ctr">
            <a:spAutoFit/>
          </a:bodyPr>
          <a:lstStyle/>
          <a:p>
            <a:pPr algn="ctr">
              <a:lnSpc>
                <a:spcPct val="105000"/>
              </a:lnSpc>
            </a:pPr>
            <a:r>
              <a:rPr sz="1600" b="1" i="0">
                <a:solidFill>
                  <a:srgbClr val="FFFFFF"/>
                </a:solidFill>
                <a:latin typeface="微软雅黑"/>
              </a:rPr>
              <a:t>适用场景</a:t>
            </a:r>
          </a:p>
        </p:txBody>
      </p:sp>
      <p:sp>
        <p:nvSpPr>
          <p:cNvPr id="19" name="Rectangle 18"/>
          <p:cNvSpPr/>
          <p:nvPr/>
        </p:nvSpPr>
        <p:spPr>
          <a:xfrm>
            <a:off x="658368" y="2221992"/>
            <a:ext cx="1280160" cy="1417320"/>
          </a:xfrm>
          <a:prstGeom prst="rect">
            <a:avLst/>
          </a:prstGeom>
          <a:solidFill>
            <a:srgbClr val="FFFFFF"/>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04088" y="2775642"/>
            <a:ext cx="1188719" cy="310021"/>
          </a:xfrm>
          <a:prstGeom prst="rect">
            <a:avLst/>
          </a:prstGeom>
          <a:noFill/>
        </p:spPr>
        <p:txBody>
          <a:bodyPr wrap="square" lIns="18288" tIns="18288" rIns="18288" bIns="18288" anchor="ctr">
            <a:spAutoFit/>
          </a:bodyPr>
          <a:lstStyle/>
          <a:p>
            <a:pPr algn="ctr">
              <a:lnSpc>
                <a:spcPct val="105000"/>
              </a:lnSpc>
            </a:pPr>
            <a:r>
              <a:rPr b="0" i="0">
                <a:solidFill>
                  <a:srgbClr val="222833"/>
                </a:solidFill>
                <a:latin typeface="微软雅黑"/>
              </a:rPr>
              <a:t>A*</a:t>
            </a:r>
          </a:p>
        </p:txBody>
      </p:sp>
      <p:sp>
        <p:nvSpPr>
          <p:cNvPr id="21" name="Rectangle 20"/>
          <p:cNvSpPr/>
          <p:nvPr/>
        </p:nvSpPr>
        <p:spPr>
          <a:xfrm>
            <a:off x="1938528" y="2221992"/>
            <a:ext cx="2103120" cy="1417320"/>
          </a:xfrm>
          <a:prstGeom prst="rect">
            <a:avLst/>
          </a:prstGeom>
          <a:solidFill>
            <a:srgbClr val="FFFFFF"/>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984248" y="2775642"/>
            <a:ext cx="2011679" cy="310021"/>
          </a:xfrm>
          <a:prstGeom prst="rect">
            <a:avLst/>
          </a:prstGeom>
          <a:noFill/>
        </p:spPr>
        <p:txBody>
          <a:bodyPr wrap="square" lIns="18288" tIns="18288" rIns="18288" bIns="18288" anchor="ctr">
            <a:spAutoFit/>
          </a:bodyPr>
          <a:lstStyle/>
          <a:p>
            <a:pPr algn="ctr">
              <a:lnSpc>
                <a:spcPct val="105000"/>
              </a:lnSpc>
            </a:pPr>
            <a:r>
              <a:rPr b="0" i="0">
                <a:solidFill>
                  <a:srgbClr val="222833"/>
                </a:solidFill>
                <a:latin typeface="微软雅黑"/>
              </a:rPr>
              <a:t>启发式图搜索</a:t>
            </a:r>
          </a:p>
        </p:txBody>
      </p:sp>
      <p:sp>
        <p:nvSpPr>
          <p:cNvPr id="23" name="Rectangle 22"/>
          <p:cNvSpPr/>
          <p:nvPr/>
        </p:nvSpPr>
        <p:spPr>
          <a:xfrm>
            <a:off x="4041648" y="2221992"/>
            <a:ext cx="2468880" cy="1417320"/>
          </a:xfrm>
          <a:prstGeom prst="rect">
            <a:avLst/>
          </a:prstGeom>
          <a:solidFill>
            <a:srgbClr val="FFFFFF"/>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087368" y="2630217"/>
            <a:ext cx="2377440" cy="600870"/>
          </a:xfrm>
          <a:prstGeom prst="rect">
            <a:avLst/>
          </a:prstGeom>
          <a:noFill/>
        </p:spPr>
        <p:txBody>
          <a:bodyPr wrap="square" lIns="18288" tIns="18288" rIns="18288" bIns="18288" anchor="ctr">
            <a:spAutoFit/>
          </a:bodyPr>
          <a:lstStyle/>
          <a:p>
            <a:pPr algn="ctr">
              <a:lnSpc>
                <a:spcPct val="105000"/>
              </a:lnSpc>
            </a:pPr>
            <a:r>
              <a:rPr b="0" i="0">
                <a:solidFill>
                  <a:srgbClr val="222833"/>
                </a:solidFill>
                <a:latin typeface="微软雅黑"/>
              </a:rPr>
              <a:t>可求最优路径，确定性强</a:t>
            </a:r>
          </a:p>
        </p:txBody>
      </p:sp>
      <p:sp>
        <p:nvSpPr>
          <p:cNvPr id="25" name="Rectangle 24"/>
          <p:cNvSpPr/>
          <p:nvPr/>
        </p:nvSpPr>
        <p:spPr>
          <a:xfrm>
            <a:off x="6510528" y="2221992"/>
            <a:ext cx="2468880" cy="1417320"/>
          </a:xfrm>
          <a:prstGeom prst="rect">
            <a:avLst/>
          </a:prstGeom>
          <a:solidFill>
            <a:srgbClr val="FFFFFF"/>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56248" y="2775642"/>
            <a:ext cx="2377440" cy="310021"/>
          </a:xfrm>
          <a:prstGeom prst="rect">
            <a:avLst/>
          </a:prstGeom>
          <a:noFill/>
        </p:spPr>
        <p:txBody>
          <a:bodyPr wrap="square" lIns="18288" tIns="18288" rIns="18288" bIns="18288" anchor="ctr">
            <a:spAutoFit/>
          </a:bodyPr>
          <a:lstStyle/>
          <a:p>
            <a:pPr algn="ctr">
              <a:lnSpc>
                <a:spcPct val="105000"/>
              </a:lnSpc>
            </a:pPr>
            <a:r>
              <a:rPr b="0" i="0">
                <a:solidFill>
                  <a:srgbClr val="222833"/>
                </a:solidFill>
                <a:latin typeface="微软雅黑"/>
              </a:rPr>
              <a:t>高分辨率图计算密集</a:t>
            </a:r>
          </a:p>
        </p:txBody>
      </p:sp>
      <p:sp>
        <p:nvSpPr>
          <p:cNvPr id="27" name="Rectangle 26"/>
          <p:cNvSpPr/>
          <p:nvPr/>
        </p:nvSpPr>
        <p:spPr>
          <a:xfrm>
            <a:off x="8979408" y="2221992"/>
            <a:ext cx="2560320" cy="1417320"/>
          </a:xfrm>
          <a:prstGeom prst="rect">
            <a:avLst/>
          </a:prstGeom>
          <a:solidFill>
            <a:srgbClr val="FFFFFF"/>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025128" y="2775642"/>
            <a:ext cx="2468879" cy="310021"/>
          </a:xfrm>
          <a:prstGeom prst="rect">
            <a:avLst/>
          </a:prstGeom>
          <a:noFill/>
        </p:spPr>
        <p:txBody>
          <a:bodyPr wrap="square" lIns="18288" tIns="18288" rIns="18288" bIns="18288" anchor="ctr">
            <a:spAutoFit/>
          </a:bodyPr>
          <a:lstStyle/>
          <a:p>
            <a:pPr algn="ctr">
              <a:lnSpc>
                <a:spcPct val="105000"/>
              </a:lnSpc>
            </a:pPr>
            <a:r>
              <a:rPr b="0" i="0">
                <a:solidFill>
                  <a:srgbClr val="222833"/>
                </a:solidFill>
                <a:latin typeface="微软雅黑"/>
              </a:rPr>
              <a:t>栅格/拓扑全局规划</a:t>
            </a:r>
          </a:p>
        </p:txBody>
      </p:sp>
      <p:sp>
        <p:nvSpPr>
          <p:cNvPr id="29" name="Rectangle 28"/>
          <p:cNvSpPr/>
          <p:nvPr/>
        </p:nvSpPr>
        <p:spPr>
          <a:xfrm>
            <a:off x="658368" y="3639312"/>
            <a:ext cx="1280160" cy="1417320"/>
          </a:xfrm>
          <a:prstGeom prst="rect">
            <a:avLst/>
          </a:prstGeom>
          <a:solidFill>
            <a:srgbClr val="F2F5F8"/>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0" name="TextBox 29"/>
          <p:cNvSpPr txBox="1"/>
          <p:nvPr/>
        </p:nvSpPr>
        <p:spPr>
          <a:xfrm>
            <a:off x="704088" y="4192962"/>
            <a:ext cx="1188719" cy="310021"/>
          </a:xfrm>
          <a:prstGeom prst="rect">
            <a:avLst/>
          </a:prstGeom>
          <a:noFill/>
        </p:spPr>
        <p:txBody>
          <a:bodyPr wrap="square" lIns="18288" tIns="18288" rIns="18288" bIns="18288" anchor="ctr">
            <a:spAutoFit/>
          </a:bodyPr>
          <a:lstStyle/>
          <a:p>
            <a:pPr algn="ctr">
              <a:lnSpc>
                <a:spcPct val="105000"/>
              </a:lnSpc>
            </a:pPr>
            <a:r>
              <a:rPr b="0" i="0">
                <a:solidFill>
                  <a:srgbClr val="222833"/>
                </a:solidFill>
                <a:latin typeface="微软雅黑"/>
              </a:rPr>
              <a:t>RRT</a:t>
            </a:r>
          </a:p>
        </p:txBody>
      </p:sp>
      <p:sp>
        <p:nvSpPr>
          <p:cNvPr id="31" name="Rectangle 30"/>
          <p:cNvSpPr/>
          <p:nvPr/>
        </p:nvSpPr>
        <p:spPr>
          <a:xfrm>
            <a:off x="1938528" y="3639312"/>
            <a:ext cx="2103120" cy="1417320"/>
          </a:xfrm>
          <a:prstGeom prst="rect">
            <a:avLst/>
          </a:prstGeom>
          <a:solidFill>
            <a:srgbClr val="F2F5F8"/>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2" name="TextBox 31"/>
          <p:cNvSpPr txBox="1"/>
          <p:nvPr/>
        </p:nvSpPr>
        <p:spPr>
          <a:xfrm>
            <a:off x="1984248" y="4192962"/>
            <a:ext cx="2011679" cy="310021"/>
          </a:xfrm>
          <a:prstGeom prst="rect">
            <a:avLst/>
          </a:prstGeom>
          <a:noFill/>
        </p:spPr>
        <p:txBody>
          <a:bodyPr wrap="square" lIns="18288" tIns="18288" rIns="18288" bIns="18288" anchor="ctr">
            <a:spAutoFit/>
          </a:bodyPr>
          <a:lstStyle/>
          <a:p>
            <a:pPr algn="ctr">
              <a:lnSpc>
                <a:spcPct val="105000"/>
              </a:lnSpc>
            </a:pPr>
            <a:r>
              <a:rPr b="0" i="0">
                <a:solidFill>
                  <a:srgbClr val="222833"/>
                </a:solidFill>
                <a:latin typeface="微软雅黑"/>
              </a:rPr>
              <a:t>随机树扩展</a:t>
            </a:r>
          </a:p>
        </p:txBody>
      </p:sp>
      <p:sp>
        <p:nvSpPr>
          <p:cNvPr id="33" name="Rectangle 32"/>
          <p:cNvSpPr/>
          <p:nvPr/>
        </p:nvSpPr>
        <p:spPr>
          <a:xfrm>
            <a:off x="4041648" y="3639312"/>
            <a:ext cx="2468880" cy="1417320"/>
          </a:xfrm>
          <a:prstGeom prst="rect">
            <a:avLst/>
          </a:prstGeom>
          <a:solidFill>
            <a:srgbClr val="F2F5F8"/>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4" name="TextBox 33"/>
          <p:cNvSpPr txBox="1"/>
          <p:nvPr/>
        </p:nvSpPr>
        <p:spPr>
          <a:xfrm>
            <a:off x="4087368" y="4192962"/>
            <a:ext cx="2377440" cy="310021"/>
          </a:xfrm>
          <a:prstGeom prst="rect">
            <a:avLst/>
          </a:prstGeom>
          <a:noFill/>
        </p:spPr>
        <p:txBody>
          <a:bodyPr wrap="square" lIns="18288" tIns="18288" rIns="18288" bIns="18288" anchor="ctr">
            <a:spAutoFit/>
          </a:bodyPr>
          <a:lstStyle/>
          <a:p>
            <a:pPr algn="ctr">
              <a:lnSpc>
                <a:spcPct val="105000"/>
              </a:lnSpc>
            </a:pPr>
            <a:r>
              <a:rPr b="0" i="0">
                <a:solidFill>
                  <a:srgbClr val="222833"/>
                </a:solidFill>
                <a:latin typeface="微软雅黑"/>
              </a:rPr>
              <a:t>高维、非凸、约束复杂</a:t>
            </a:r>
          </a:p>
        </p:txBody>
      </p:sp>
      <p:sp>
        <p:nvSpPr>
          <p:cNvPr id="35" name="Rectangle 34"/>
          <p:cNvSpPr/>
          <p:nvPr/>
        </p:nvSpPr>
        <p:spPr>
          <a:xfrm>
            <a:off x="6510528" y="3639312"/>
            <a:ext cx="2468880" cy="1417320"/>
          </a:xfrm>
          <a:prstGeom prst="rect">
            <a:avLst/>
          </a:prstGeom>
          <a:solidFill>
            <a:srgbClr val="F2F5F8"/>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6" name="TextBox 35"/>
          <p:cNvSpPr txBox="1"/>
          <p:nvPr/>
        </p:nvSpPr>
        <p:spPr>
          <a:xfrm>
            <a:off x="6556248" y="4192962"/>
            <a:ext cx="2377440" cy="310021"/>
          </a:xfrm>
          <a:prstGeom prst="rect">
            <a:avLst/>
          </a:prstGeom>
          <a:noFill/>
        </p:spPr>
        <p:txBody>
          <a:bodyPr wrap="square" lIns="18288" tIns="18288" rIns="18288" bIns="18288" anchor="ctr">
            <a:spAutoFit/>
          </a:bodyPr>
          <a:lstStyle/>
          <a:p>
            <a:pPr algn="ctr">
              <a:lnSpc>
                <a:spcPct val="105000"/>
              </a:lnSpc>
            </a:pPr>
            <a:r>
              <a:rPr b="0" i="0">
                <a:solidFill>
                  <a:srgbClr val="222833"/>
                </a:solidFill>
                <a:latin typeface="微软雅黑"/>
              </a:rPr>
              <a:t>随机、路径需平滑</a:t>
            </a:r>
          </a:p>
        </p:txBody>
      </p:sp>
      <p:sp>
        <p:nvSpPr>
          <p:cNvPr id="37" name="Rectangle 36"/>
          <p:cNvSpPr/>
          <p:nvPr/>
        </p:nvSpPr>
        <p:spPr>
          <a:xfrm>
            <a:off x="8979408" y="3639312"/>
            <a:ext cx="2560320" cy="1417320"/>
          </a:xfrm>
          <a:prstGeom prst="rect">
            <a:avLst/>
          </a:prstGeom>
          <a:solidFill>
            <a:srgbClr val="F2F5F8"/>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8" name="TextBox 37"/>
          <p:cNvSpPr txBox="1"/>
          <p:nvPr/>
        </p:nvSpPr>
        <p:spPr>
          <a:xfrm>
            <a:off x="9025128" y="4192962"/>
            <a:ext cx="2468879" cy="310021"/>
          </a:xfrm>
          <a:prstGeom prst="rect">
            <a:avLst/>
          </a:prstGeom>
          <a:noFill/>
        </p:spPr>
        <p:txBody>
          <a:bodyPr wrap="square" lIns="18288" tIns="18288" rIns="18288" bIns="18288" anchor="ctr">
            <a:spAutoFit/>
          </a:bodyPr>
          <a:lstStyle/>
          <a:p>
            <a:pPr algn="ctr">
              <a:lnSpc>
                <a:spcPct val="105000"/>
              </a:lnSpc>
            </a:pPr>
            <a:r>
              <a:rPr b="0" i="0">
                <a:solidFill>
                  <a:srgbClr val="222833"/>
                </a:solidFill>
                <a:latin typeface="微软雅黑"/>
              </a:rPr>
              <a:t>复杂配置空间/未知环境</a:t>
            </a:r>
          </a:p>
        </p:txBody>
      </p:sp>
      <p:sp>
        <p:nvSpPr>
          <p:cNvPr id="39" name="Rectangle 38"/>
          <p:cNvSpPr/>
          <p:nvPr/>
        </p:nvSpPr>
        <p:spPr>
          <a:xfrm>
            <a:off x="658368" y="5056632"/>
            <a:ext cx="1280160" cy="1417320"/>
          </a:xfrm>
          <a:prstGeom prst="rect">
            <a:avLst/>
          </a:prstGeom>
          <a:solidFill>
            <a:srgbClr val="FFFFFF"/>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0" name="TextBox 39"/>
          <p:cNvSpPr txBox="1"/>
          <p:nvPr/>
        </p:nvSpPr>
        <p:spPr>
          <a:xfrm>
            <a:off x="704088" y="5610282"/>
            <a:ext cx="1188719" cy="310021"/>
          </a:xfrm>
          <a:prstGeom prst="rect">
            <a:avLst/>
          </a:prstGeom>
          <a:noFill/>
        </p:spPr>
        <p:txBody>
          <a:bodyPr wrap="square" lIns="18288" tIns="18288" rIns="18288" bIns="18288" anchor="ctr">
            <a:spAutoFit/>
          </a:bodyPr>
          <a:lstStyle/>
          <a:p>
            <a:pPr algn="ctr">
              <a:lnSpc>
                <a:spcPct val="105000"/>
              </a:lnSpc>
            </a:pPr>
            <a:r>
              <a:rPr b="0" i="0">
                <a:solidFill>
                  <a:srgbClr val="222833"/>
                </a:solidFill>
                <a:latin typeface="微软雅黑"/>
              </a:rPr>
              <a:t>PRM</a:t>
            </a:r>
          </a:p>
        </p:txBody>
      </p:sp>
      <p:sp>
        <p:nvSpPr>
          <p:cNvPr id="41" name="Rectangle 40"/>
          <p:cNvSpPr/>
          <p:nvPr/>
        </p:nvSpPr>
        <p:spPr>
          <a:xfrm>
            <a:off x="1938528" y="5056632"/>
            <a:ext cx="2103120" cy="1417320"/>
          </a:xfrm>
          <a:prstGeom prst="rect">
            <a:avLst/>
          </a:prstGeom>
          <a:solidFill>
            <a:srgbClr val="FFFFFF"/>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2" name="TextBox 41"/>
          <p:cNvSpPr txBox="1"/>
          <p:nvPr/>
        </p:nvSpPr>
        <p:spPr>
          <a:xfrm>
            <a:off x="1984248" y="5610282"/>
            <a:ext cx="2011679" cy="310021"/>
          </a:xfrm>
          <a:prstGeom prst="rect">
            <a:avLst/>
          </a:prstGeom>
          <a:noFill/>
        </p:spPr>
        <p:txBody>
          <a:bodyPr wrap="square" lIns="18288" tIns="18288" rIns="18288" bIns="18288" anchor="ctr">
            <a:spAutoFit/>
          </a:bodyPr>
          <a:lstStyle/>
          <a:p>
            <a:pPr algn="ctr">
              <a:lnSpc>
                <a:spcPct val="105000"/>
              </a:lnSpc>
            </a:pPr>
            <a:r>
              <a:rPr b="0" i="0">
                <a:solidFill>
                  <a:srgbClr val="222833"/>
                </a:solidFill>
                <a:latin typeface="微软雅黑"/>
              </a:rPr>
              <a:t>采样构建路线图</a:t>
            </a:r>
          </a:p>
        </p:txBody>
      </p:sp>
      <p:sp>
        <p:nvSpPr>
          <p:cNvPr id="43" name="Rectangle 42"/>
          <p:cNvSpPr/>
          <p:nvPr/>
        </p:nvSpPr>
        <p:spPr>
          <a:xfrm>
            <a:off x="4041648" y="5056632"/>
            <a:ext cx="2468880" cy="1417320"/>
          </a:xfrm>
          <a:prstGeom prst="rect">
            <a:avLst/>
          </a:prstGeom>
          <a:solidFill>
            <a:srgbClr val="FFFFFF"/>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4" name="TextBox 43"/>
          <p:cNvSpPr txBox="1"/>
          <p:nvPr/>
        </p:nvSpPr>
        <p:spPr>
          <a:xfrm>
            <a:off x="4087368" y="5610282"/>
            <a:ext cx="2377440" cy="310021"/>
          </a:xfrm>
          <a:prstGeom prst="rect">
            <a:avLst/>
          </a:prstGeom>
          <a:noFill/>
        </p:spPr>
        <p:txBody>
          <a:bodyPr wrap="square" lIns="18288" tIns="18288" rIns="18288" bIns="18288" anchor="ctr">
            <a:spAutoFit/>
          </a:bodyPr>
          <a:lstStyle/>
          <a:p>
            <a:pPr algn="ctr">
              <a:lnSpc>
                <a:spcPct val="105000"/>
              </a:lnSpc>
            </a:pPr>
            <a:r>
              <a:rPr b="0" i="0">
                <a:solidFill>
                  <a:srgbClr val="222833"/>
                </a:solidFill>
                <a:latin typeface="微软雅黑"/>
              </a:rPr>
              <a:t>多查询时效率高</a:t>
            </a:r>
          </a:p>
        </p:txBody>
      </p:sp>
      <p:sp>
        <p:nvSpPr>
          <p:cNvPr id="45" name="Rectangle 44"/>
          <p:cNvSpPr/>
          <p:nvPr/>
        </p:nvSpPr>
        <p:spPr>
          <a:xfrm>
            <a:off x="6510528" y="5056632"/>
            <a:ext cx="2468880" cy="1417320"/>
          </a:xfrm>
          <a:prstGeom prst="rect">
            <a:avLst/>
          </a:prstGeom>
          <a:solidFill>
            <a:srgbClr val="FFFFFF"/>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6" name="TextBox 45"/>
          <p:cNvSpPr txBox="1"/>
          <p:nvPr/>
        </p:nvSpPr>
        <p:spPr>
          <a:xfrm>
            <a:off x="6556248" y="5610282"/>
            <a:ext cx="2377440" cy="310021"/>
          </a:xfrm>
          <a:prstGeom prst="rect">
            <a:avLst/>
          </a:prstGeom>
          <a:noFill/>
        </p:spPr>
        <p:txBody>
          <a:bodyPr wrap="square" lIns="18288" tIns="18288" rIns="18288" bIns="18288" anchor="ctr">
            <a:spAutoFit/>
          </a:bodyPr>
          <a:lstStyle/>
          <a:p>
            <a:pPr algn="ctr">
              <a:lnSpc>
                <a:spcPct val="105000"/>
              </a:lnSpc>
            </a:pPr>
            <a:r>
              <a:rPr b="0" i="0">
                <a:solidFill>
                  <a:srgbClr val="222833"/>
                </a:solidFill>
                <a:latin typeface="微软雅黑"/>
              </a:rPr>
              <a:t>预处理可能很耗时</a:t>
            </a:r>
          </a:p>
        </p:txBody>
      </p:sp>
      <p:sp>
        <p:nvSpPr>
          <p:cNvPr id="47" name="Rectangle 46"/>
          <p:cNvSpPr/>
          <p:nvPr/>
        </p:nvSpPr>
        <p:spPr>
          <a:xfrm>
            <a:off x="8979408" y="5056632"/>
            <a:ext cx="2560320" cy="1417320"/>
          </a:xfrm>
          <a:prstGeom prst="rect">
            <a:avLst/>
          </a:prstGeom>
          <a:solidFill>
            <a:srgbClr val="FFFFFF"/>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8" name="TextBox 47"/>
          <p:cNvSpPr txBox="1"/>
          <p:nvPr/>
        </p:nvSpPr>
        <p:spPr>
          <a:xfrm>
            <a:off x="9025128" y="5610282"/>
            <a:ext cx="2468879" cy="310021"/>
          </a:xfrm>
          <a:prstGeom prst="rect">
            <a:avLst/>
          </a:prstGeom>
          <a:noFill/>
        </p:spPr>
        <p:txBody>
          <a:bodyPr wrap="square" lIns="18288" tIns="18288" rIns="18288" bIns="18288" anchor="ctr">
            <a:spAutoFit/>
          </a:bodyPr>
          <a:lstStyle/>
          <a:p>
            <a:pPr algn="ctr">
              <a:lnSpc>
                <a:spcPct val="105000"/>
              </a:lnSpc>
            </a:pPr>
            <a:r>
              <a:rPr b="0" i="0">
                <a:solidFill>
                  <a:srgbClr val="222833"/>
                </a:solidFill>
                <a:latin typeface="微软雅黑"/>
              </a:rPr>
              <a:t>静态环境、多次查询</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6.4.3 运动规划：让路径真正“可执行”</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70</a:t>
            </a:r>
          </a:p>
        </p:txBody>
      </p:sp>
      <p:sp>
        <p:nvSpPr>
          <p:cNvPr id="9" name="TextBox 8"/>
          <p:cNvSpPr txBox="1"/>
          <p:nvPr/>
        </p:nvSpPr>
        <p:spPr>
          <a:xfrm>
            <a:off x="777240" y="1783080"/>
            <a:ext cx="10652760" cy="868680"/>
          </a:xfrm>
          <a:prstGeom prst="rect">
            <a:avLst/>
          </a:prstGeom>
          <a:noFill/>
        </p:spPr>
        <p:txBody>
          <a:bodyPr wrap="square" lIns="18288" tIns="18288" rIns="18288" bIns="18288" anchor="t">
            <a:spAutoFit/>
          </a:bodyPr>
          <a:lstStyle/>
          <a:p>
            <a:pPr algn="ctr">
              <a:lnSpc>
                <a:spcPct val="105000"/>
              </a:lnSpc>
            </a:pPr>
            <a:r>
              <a:rPr sz="2100" b="0" i="0" dirty="0" err="1">
                <a:solidFill>
                  <a:srgbClr val="222833"/>
                </a:solidFill>
                <a:latin typeface="微软雅黑"/>
              </a:rPr>
              <a:t>运动规划在全局路径基础上进一步考虑运动学、动力学、时间和障碍物约束，生成平滑、安全、可跟踪的局部轨迹</a:t>
            </a:r>
            <a:r>
              <a:rPr sz="2100" b="0" i="0" dirty="0">
                <a:solidFill>
                  <a:srgbClr val="222833"/>
                </a:solidFill>
                <a:latin typeface="微软雅黑"/>
              </a:rPr>
              <a:t>。</a:t>
            </a:r>
          </a:p>
        </p:txBody>
      </p:sp>
      <p:sp>
        <p:nvSpPr>
          <p:cNvPr id="10" name="Rounded Rectangle 9"/>
          <p:cNvSpPr/>
          <p:nvPr/>
        </p:nvSpPr>
        <p:spPr>
          <a:xfrm>
            <a:off x="685800" y="292608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85800" y="2926080"/>
            <a:ext cx="2569464" cy="82296"/>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5528" y="310896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31599B"/>
                </a:solidFill>
                <a:latin typeface="微软雅黑"/>
              </a:rPr>
              <a:t>1</a:t>
            </a:r>
          </a:p>
        </p:txBody>
      </p:sp>
      <p:sp>
        <p:nvSpPr>
          <p:cNvPr id="13" name="TextBox 12"/>
          <p:cNvSpPr txBox="1"/>
          <p:nvPr/>
        </p:nvSpPr>
        <p:spPr>
          <a:xfrm>
            <a:off x="1188720" y="309067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31599B"/>
                </a:solidFill>
                <a:latin typeface="微软雅黑"/>
              </a:rPr>
              <a:t>全局参考路径</a:t>
            </a:r>
          </a:p>
        </p:txBody>
      </p:sp>
      <p:sp>
        <p:nvSpPr>
          <p:cNvPr id="14" name="TextBox 13"/>
          <p:cNvSpPr txBox="1"/>
          <p:nvPr/>
        </p:nvSpPr>
        <p:spPr>
          <a:xfrm>
            <a:off x="832104" y="352958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给出大致通行路线</a:t>
            </a:r>
          </a:p>
        </p:txBody>
      </p:sp>
      <p:sp>
        <p:nvSpPr>
          <p:cNvPr id="15" name="Rectangle 14"/>
          <p:cNvSpPr/>
          <p:nvPr/>
        </p:nvSpPr>
        <p:spPr>
          <a:xfrm>
            <a:off x="3291840" y="3511296"/>
            <a:ext cx="128016" cy="256032"/>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456432" y="292608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456432" y="2926080"/>
            <a:ext cx="2569464" cy="82296"/>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566160" y="310896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2F8E72"/>
                </a:solidFill>
                <a:latin typeface="微软雅黑"/>
              </a:rPr>
              <a:t>2</a:t>
            </a:r>
          </a:p>
        </p:txBody>
      </p:sp>
      <p:sp>
        <p:nvSpPr>
          <p:cNvPr id="19" name="TextBox 18"/>
          <p:cNvSpPr txBox="1"/>
          <p:nvPr/>
        </p:nvSpPr>
        <p:spPr>
          <a:xfrm>
            <a:off x="3959352" y="309067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2F8E72"/>
                </a:solidFill>
                <a:latin typeface="微软雅黑"/>
              </a:rPr>
              <a:t>局部状态</a:t>
            </a:r>
          </a:p>
        </p:txBody>
      </p:sp>
      <p:sp>
        <p:nvSpPr>
          <p:cNvPr id="20" name="TextBox 19"/>
          <p:cNvSpPr txBox="1"/>
          <p:nvPr/>
        </p:nvSpPr>
        <p:spPr>
          <a:xfrm>
            <a:off x="3602736" y="352958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当前速度、姿态、障碍物</a:t>
            </a:r>
          </a:p>
        </p:txBody>
      </p:sp>
      <p:sp>
        <p:nvSpPr>
          <p:cNvPr id="21" name="Rectangle 20"/>
          <p:cNvSpPr/>
          <p:nvPr/>
        </p:nvSpPr>
        <p:spPr>
          <a:xfrm>
            <a:off x="6062472" y="3511296"/>
            <a:ext cx="128016" cy="256032"/>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227064" y="292608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227064" y="2926080"/>
            <a:ext cx="2569464" cy="82296"/>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36792" y="310896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58A24"/>
                </a:solidFill>
                <a:latin typeface="微软雅黑"/>
              </a:rPr>
              <a:t>3</a:t>
            </a:r>
          </a:p>
        </p:txBody>
      </p:sp>
      <p:sp>
        <p:nvSpPr>
          <p:cNvPr id="25" name="TextBox 24"/>
          <p:cNvSpPr txBox="1"/>
          <p:nvPr/>
        </p:nvSpPr>
        <p:spPr>
          <a:xfrm>
            <a:off x="6729984" y="309067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C58A24"/>
                </a:solidFill>
                <a:latin typeface="微软雅黑"/>
              </a:rPr>
              <a:t>约束优化/搜索</a:t>
            </a:r>
          </a:p>
        </p:txBody>
      </p:sp>
      <p:sp>
        <p:nvSpPr>
          <p:cNvPr id="26" name="TextBox 25"/>
          <p:cNvSpPr txBox="1"/>
          <p:nvPr/>
        </p:nvSpPr>
        <p:spPr>
          <a:xfrm>
            <a:off x="6373368" y="352958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满足速度、加速度与碰撞约束</a:t>
            </a:r>
          </a:p>
        </p:txBody>
      </p:sp>
      <p:sp>
        <p:nvSpPr>
          <p:cNvPr id="27" name="Rectangle 26"/>
          <p:cNvSpPr/>
          <p:nvPr/>
        </p:nvSpPr>
        <p:spPr>
          <a:xfrm>
            <a:off x="8833104" y="3511296"/>
            <a:ext cx="128016" cy="256032"/>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997696" y="292608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997696" y="2926080"/>
            <a:ext cx="2569464" cy="82296"/>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107424" y="310896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63F45"/>
                </a:solidFill>
                <a:latin typeface="微软雅黑"/>
              </a:rPr>
              <a:t>4</a:t>
            </a:r>
          </a:p>
        </p:txBody>
      </p:sp>
      <p:sp>
        <p:nvSpPr>
          <p:cNvPr id="31" name="TextBox 30"/>
          <p:cNvSpPr txBox="1"/>
          <p:nvPr/>
        </p:nvSpPr>
        <p:spPr>
          <a:xfrm>
            <a:off x="9500616" y="309067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C63F45"/>
                </a:solidFill>
                <a:latin typeface="微软雅黑"/>
              </a:rPr>
              <a:t>控制指令</a:t>
            </a:r>
          </a:p>
        </p:txBody>
      </p:sp>
      <p:sp>
        <p:nvSpPr>
          <p:cNvPr id="32" name="TextBox 31"/>
          <p:cNvSpPr txBox="1"/>
          <p:nvPr/>
        </p:nvSpPr>
        <p:spPr>
          <a:xfrm>
            <a:off x="9144000" y="352958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输出线速度、角速度或控制量</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DWA：在“动态速度窗口”中实时选择最优速度</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71</a:t>
            </a:r>
          </a:p>
        </p:txBody>
      </p:sp>
      <p:sp>
        <p:nvSpPr>
          <p:cNvPr id="9" name="Rounded Rectangle 8"/>
          <p:cNvSpPr/>
          <p:nvPr/>
        </p:nvSpPr>
        <p:spPr>
          <a:xfrm>
            <a:off x="685800" y="192024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1920240"/>
            <a:ext cx="2569464" cy="82296"/>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5528" y="210312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31599B"/>
                </a:solidFill>
                <a:latin typeface="微软雅黑"/>
              </a:rPr>
              <a:t>1</a:t>
            </a:r>
          </a:p>
        </p:txBody>
      </p:sp>
      <p:sp>
        <p:nvSpPr>
          <p:cNvPr id="12" name="TextBox 11"/>
          <p:cNvSpPr txBox="1"/>
          <p:nvPr/>
        </p:nvSpPr>
        <p:spPr>
          <a:xfrm>
            <a:off x="1188720" y="208483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31599B"/>
                </a:solidFill>
                <a:latin typeface="微软雅黑"/>
              </a:rPr>
              <a:t>速度窗口</a:t>
            </a:r>
          </a:p>
        </p:txBody>
      </p:sp>
      <p:sp>
        <p:nvSpPr>
          <p:cNvPr id="13" name="TextBox 12"/>
          <p:cNvSpPr txBox="1"/>
          <p:nvPr/>
        </p:nvSpPr>
        <p:spPr>
          <a:xfrm>
            <a:off x="832104" y="252374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考虑当前速度与加速度限制，得到可行 (v,ω)</a:t>
            </a:r>
          </a:p>
        </p:txBody>
      </p:sp>
      <p:sp>
        <p:nvSpPr>
          <p:cNvPr id="14" name="Rectangle 13"/>
          <p:cNvSpPr/>
          <p:nvPr/>
        </p:nvSpPr>
        <p:spPr>
          <a:xfrm>
            <a:off x="3291840" y="2505456"/>
            <a:ext cx="128016" cy="256032"/>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456432" y="192024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456432" y="1920240"/>
            <a:ext cx="2569464" cy="82296"/>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566160" y="210312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2F8E72"/>
                </a:solidFill>
                <a:latin typeface="微软雅黑"/>
              </a:rPr>
              <a:t>2</a:t>
            </a:r>
          </a:p>
        </p:txBody>
      </p:sp>
      <p:sp>
        <p:nvSpPr>
          <p:cNvPr id="18" name="TextBox 17"/>
          <p:cNvSpPr txBox="1"/>
          <p:nvPr/>
        </p:nvSpPr>
        <p:spPr>
          <a:xfrm>
            <a:off x="3959352" y="208483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2F8E72"/>
                </a:solidFill>
                <a:latin typeface="微软雅黑"/>
              </a:rPr>
              <a:t>轨迹模拟</a:t>
            </a:r>
          </a:p>
        </p:txBody>
      </p:sp>
      <p:sp>
        <p:nvSpPr>
          <p:cNvPr id="19" name="TextBox 18"/>
          <p:cNvSpPr txBox="1"/>
          <p:nvPr/>
        </p:nvSpPr>
        <p:spPr>
          <a:xfrm>
            <a:off x="3602736" y="252374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对每组速度预测短期运动轨迹</a:t>
            </a:r>
          </a:p>
        </p:txBody>
      </p:sp>
      <p:sp>
        <p:nvSpPr>
          <p:cNvPr id="20" name="Rectangle 19"/>
          <p:cNvSpPr/>
          <p:nvPr/>
        </p:nvSpPr>
        <p:spPr>
          <a:xfrm>
            <a:off x="6062472" y="2505456"/>
            <a:ext cx="128016" cy="256032"/>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227064" y="192024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27064" y="1920240"/>
            <a:ext cx="2569464" cy="82296"/>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36792" y="210312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58A24"/>
                </a:solidFill>
                <a:latin typeface="微软雅黑"/>
              </a:rPr>
              <a:t>3</a:t>
            </a:r>
          </a:p>
        </p:txBody>
      </p:sp>
      <p:sp>
        <p:nvSpPr>
          <p:cNvPr id="24" name="TextBox 23"/>
          <p:cNvSpPr txBox="1"/>
          <p:nvPr/>
        </p:nvSpPr>
        <p:spPr>
          <a:xfrm>
            <a:off x="6729984" y="208483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C58A24"/>
                </a:solidFill>
                <a:latin typeface="微软雅黑"/>
              </a:rPr>
              <a:t>评价</a:t>
            </a:r>
          </a:p>
        </p:txBody>
      </p:sp>
      <p:sp>
        <p:nvSpPr>
          <p:cNvPr id="25" name="TextBox 24"/>
          <p:cNvSpPr txBox="1"/>
          <p:nvPr/>
        </p:nvSpPr>
        <p:spPr>
          <a:xfrm>
            <a:off x="6373368" y="252374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综合朝向、障碍物距离与速度偏好</a:t>
            </a:r>
          </a:p>
        </p:txBody>
      </p:sp>
      <p:sp>
        <p:nvSpPr>
          <p:cNvPr id="26" name="Rectangle 25"/>
          <p:cNvSpPr/>
          <p:nvPr/>
        </p:nvSpPr>
        <p:spPr>
          <a:xfrm>
            <a:off x="8833104" y="2505456"/>
            <a:ext cx="128016" cy="256032"/>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8997696" y="192024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997696" y="1920240"/>
            <a:ext cx="2569464" cy="82296"/>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07424" y="210312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63F45"/>
                </a:solidFill>
                <a:latin typeface="微软雅黑"/>
              </a:rPr>
              <a:t>4</a:t>
            </a:r>
          </a:p>
        </p:txBody>
      </p:sp>
      <p:sp>
        <p:nvSpPr>
          <p:cNvPr id="30" name="TextBox 29"/>
          <p:cNvSpPr txBox="1"/>
          <p:nvPr/>
        </p:nvSpPr>
        <p:spPr>
          <a:xfrm>
            <a:off x="9500616" y="208483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C63F45"/>
                </a:solidFill>
                <a:latin typeface="微软雅黑"/>
              </a:rPr>
              <a:t>执行</a:t>
            </a:r>
          </a:p>
        </p:txBody>
      </p:sp>
      <p:sp>
        <p:nvSpPr>
          <p:cNvPr id="31" name="TextBox 30"/>
          <p:cNvSpPr txBox="1"/>
          <p:nvPr/>
        </p:nvSpPr>
        <p:spPr>
          <a:xfrm>
            <a:off x="9144000" y="252374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选择得分最高的速度指令</a:t>
            </a:r>
          </a:p>
        </p:txBody>
      </p:sp>
      <p:sp>
        <p:nvSpPr>
          <p:cNvPr id="32" name="TextBox 31"/>
          <p:cNvSpPr txBox="1"/>
          <p:nvPr/>
        </p:nvSpPr>
        <p:spPr>
          <a:xfrm>
            <a:off x="2148840" y="4251960"/>
            <a:ext cx="7863840" cy="548640"/>
          </a:xfrm>
          <a:prstGeom prst="rect">
            <a:avLst/>
          </a:prstGeom>
          <a:noFill/>
        </p:spPr>
        <p:txBody>
          <a:bodyPr wrap="square" lIns="18288" tIns="18288" rIns="18288" bIns="18288" anchor="t">
            <a:spAutoFit/>
          </a:bodyPr>
          <a:lstStyle/>
          <a:p>
            <a:pPr algn="ctr">
              <a:lnSpc>
                <a:spcPct val="105000"/>
              </a:lnSpc>
            </a:pPr>
            <a:r>
              <a:rPr sz="2500" b="1" i="0">
                <a:solidFill>
                  <a:srgbClr val="24477D"/>
                </a:solidFill>
                <a:latin typeface="微软雅黑"/>
              </a:rPr>
              <a:t>DWA 是高效的局部实时避障方法。</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DWA 评价函数</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72</a:t>
            </a:r>
          </a:p>
        </p:txBody>
      </p:sp>
      <p:sp>
        <p:nvSpPr>
          <p:cNvPr id="9" name="Rounded Rectangle 8"/>
          <p:cNvSpPr/>
          <p:nvPr/>
        </p:nvSpPr>
        <p:spPr>
          <a:xfrm>
            <a:off x="822960" y="1874519"/>
            <a:ext cx="10561320" cy="868680"/>
          </a:xfrm>
          <a:prstGeom prst="roundRect">
            <a:avLst/>
          </a:prstGeom>
          <a:solidFill>
            <a:srgbClr val="FFF4DE"/>
          </a:solidFill>
          <a:ln w="1016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24128" y="2011679"/>
            <a:ext cx="10149840" cy="502920"/>
          </a:xfrm>
          <a:prstGeom prst="rect">
            <a:avLst/>
          </a:prstGeom>
          <a:noFill/>
        </p:spPr>
        <p:txBody>
          <a:bodyPr wrap="square" lIns="18288" tIns="18288" rIns="18288" bIns="18288" anchor="ctr">
            <a:spAutoFit/>
          </a:bodyPr>
          <a:lstStyle/>
          <a:p>
            <a:pPr algn="ctr">
              <a:lnSpc>
                <a:spcPct val="105000"/>
              </a:lnSpc>
            </a:pPr>
            <a:r>
              <a:rPr sz="2400" b="0" i="0" dirty="0">
                <a:solidFill>
                  <a:srgbClr val="222833"/>
                </a:solidFill>
                <a:latin typeface="Times New Roman"/>
              </a:rPr>
              <a:t>G(</a:t>
            </a:r>
            <a:r>
              <a:rPr sz="2400" b="0" i="0" dirty="0" err="1">
                <a:solidFill>
                  <a:srgbClr val="222833"/>
                </a:solidFill>
                <a:latin typeface="Times New Roman"/>
              </a:rPr>
              <a:t>v,ω</a:t>
            </a:r>
            <a:r>
              <a:rPr sz="2400" b="0" i="0" dirty="0">
                <a:solidFill>
                  <a:srgbClr val="222833"/>
                </a:solidFill>
                <a:latin typeface="Times New Roman"/>
              </a:rPr>
              <a:t>) = α·heading(</a:t>
            </a:r>
            <a:r>
              <a:rPr sz="2400" b="0" i="0" dirty="0" err="1">
                <a:solidFill>
                  <a:srgbClr val="222833"/>
                </a:solidFill>
                <a:latin typeface="Times New Roman"/>
              </a:rPr>
              <a:t>v,ω</a:t>
            </a:r>
            <a:r>
              <a:rPr sz="2400" b="0" i="0" dirty="0">
                <a:solidFill>
                  <a:srgbClr val="222833"/>
                </a:solidFill>
                <a:latin typeface="Times New Roman"/>
              </a:rPr>
              <a:t>) + β·</a:t>
            </a:r>
            <a:r>
              <a:rPr sz="2400" b="0" i="0" dirty="0" err="1">
                <a:solidFill>
                  <a:srgbClr val="222833"/>
                </a:solidFill>
                <a:latin typeface="Times New Roman"/>
              </a:rPr>
              <a:t>dist</a:t>
            </a:r>
            <a:r>
              <a:rPr sz="2400" b="0" i="0" dirty="0">
                <a:solidFill>
                  <a:srgbClr val="222833"/>
                </a:solidFill>
                <a:latin typeface="Times New Roman"/>
              </a:rPr>
              <a:t>(</a:t>
            </a:r>
            <a:r>
              <a:rPr sz="2400" b="0" i="0" dirty="0" err="1">
                <a:solidFill>
                  <a:srgbClr val="222833"/>
                </a:solidFill>
                <a:latin typeface="Times New Roman"/>
              </a:rPr>
              <a:t>v,ω</a:t>
            </a:r>
            <a:r>
              <a:rPr sz="2400" b="0" i="0" dirty="0">
                <a:solidFill>
                  <a:srgbClr val="222833"/>
                </a:solidFill>
                <a:latin typeface="Times New Roman"/>
              </a:rPr>
              <a:t>) + </a:t>
            </a:r>
            <a:r>
              <a:rPr sz="2400" b="0" i="0" dirty="0" err="1">
                <a:solidFill>
                  <a:srgbClr val="222833"/>
                </a:solidFill>
                <a:latin typeface="Times New Roman"/>
              </a:rPr>
              <a:t>γ·vel</a:t>
            </a:r>
            <a:r>
              <a:rPr sz="2400" b="0" i="0" dirty="0">
                <a:solidFill>
                  <a:srgbClr val="222833"/>
                </a:solidFill>
                <a:latin typeface="Times New Roman"/>
              </a:rPr>
              <a:t>(</a:t>
            </a:r>
            <a:r>
              <a:rPr sz="2400" b="0" i="0" dirty="0" err="1">
                <a:solidFill>
                  <a:srgbClr val="222833"/>
                </a:solidFill>
                <a:latin typeface="Times New Roman"/>
              </a:rPr>
              <a:t>v,ω</a:t>
            </a:r>
            <a:r>
              <a:rPr sz="2400" b="0" i="0" dirty="0">
                <a:solidFill>
                  <a:srgbClr val="222833"/>
                </a:solidFill>
                <a:latin typeface="Times New Roman"/>
              </a:rPr>
              <a:t>)</a:t>
            </a:r>
          </a:p>
        </p:txBody>
      </p:sp>
      <p:sp>
        <p:nvSpPr>
          <p:cNvPr id="12" name="Rounded Rectangle 11"/>
          <p:cNvSpPr/>
          <p:nvPr/>
        </p:nvSpPr>
        <p:spPr>
          <a:xfrm>
            <a:off x="640080" y="3657600"/>
            <a:ext cx="3182112" cy="192024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 y="3657600"/>
            <a:ext cx="77724" cy="192024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9536" y="384048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heading</a:t>
            </a:r>
          </a:p>
        </p:txBody>
      </p:sp>
      <p:sp>
        <p:nvSpPr>
          <p:cNvPr id="15" name="TextBox 14"/>
          <p:cNvSpPr txBox="1"/>
          <p:nvPr/>
        </p:nvSpPr>
        <p:spPr>
          <a:xfrm>
            <a:off x="859536" y="4315968"/>
            <a:ext cx="2798064" cy="1133856"/>
          </a:xfrm>
          <a:prstGeom prst="rect">
            <a:avLst/>
          </a:prstGeom>
          <a:noFill/>
        </p:spPr>
        <p:txBody>
          <a:bodyPr wrap="square" lIns="18288" tIns="18288" rIns="18288" bIns="18288" anchor="t">
            <a:spAutoFit/>
          </a:bodyPr>
          <a:lstStyle/>
          <a:p>
            <a:pPr algn="l">
              <a:lnSpc>
                <a:spcPct val="110000"/>
              </a:lnSpc>
            </a:pPr>
            <a:r>
              <a:rPr sz="1700" b="0" i="0">
                <a:solidFill>
                  <a:srgbClr val="222833"/>
                </a:solidFill>
                <a:latin typeface="微软雅黑"/>
              </a:rPr>
              <a:t>模拟轨迹与目标方向的对齐程度。</a:t>
            </a:r>
          </a:p>
        </p:txBody>
      </p:sp>
      <p:sp>
        <p:nvSpPr>
          <p:cNvPr id="16" name="Rounded Rectangle 15"/>
          <p:cNvSpPr/>
          <p:nvPr/>
        </p:nvSpPr>
        <p:spPr>
          <a:xfrm>
            <a:off x="4096512" y="3657600"/>
            <a:ext cx="3182112" cy="192024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096512" y="3657600"/>
            <a:ext cx="77724" cy="192024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15968" y="384048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dist</a:t>
            </a:r>
          </a:p>
        </p:txBody>
      </p:sp>
      <p:sp>
        <p:nvSpPr>
          <p:cNvPr id="19" name="TextBox 18"/>
          <p:cNvSpPr txBox="1"/>
          <p:nvPr/>
        </p:nvSpPr>
        <p:spPr>
          <a:xfrm>
            <a:off x="4315968" y="4315968"/>
            <a:ext cx="2798064" cy="1133856"/>
          </a:xfrm>
          <a:prstGeom prst="rect">
            <a:avLst/>
          </a:prstGeom>
          <a:noFill/>
        </p:spPr>
        <p:txBody>
          <a:bodyPr wrap="square" lIns="18288" tIns="18288" rIns="18288" bIns="18288" anchor="t">
            <a:spAutoFit/>
          </a:bodyPr>
          <a:lstStyle/>
          <a:p>
            <a:pPr algn="l">
              <a:lnSpc>
                <a:spcPct val="110000"/>
              </a:lnSpc>
            </a:pPr>
            <a:r>
              <a:rPr sz="1700" b="0" i="0">
                <a:solidFill>
                  <a:srgbClr val="222833"/>
                </a:solidFill>
                <a:latin typeface="微软雅黑"/>
              </a:rPr>
              <a:t>模拟轨迹到最近障碍物的距离，越远越安全。</a:t>
            </a:r>
          </a:p>
        </p:txBody>
      </p:sp>
      <p:sp>
        <p:nvSpPr>
          <p:cNvPr id="20" name="Rounded Rectangle 19"/>
          <p:cNvSpPr/>
          <p:nvPr/>
        </p:nvSpPr>
        <p:spPr>
          <a:xfrm>
            <a:off x="7552944" y="3657600"/>
            <a:ext cx="3182112" cy="192024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552944" y="3657600"/>
            <a:ext cx="77724" cy="192024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72400" y="384048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C58A24"/>
                </a:solidFill>
                <a:latin typeface="微软雅黑"/>
              </a:rPr>
              <a:t>vel</a:t>
            </a:r>
          </a:p>
        </p:txBody>
      </p:sp>
      <p:sp>
        <p:nvSpPr>
          <p:cNvPr id="23" name="TextBox 22"/>
          <p:cNvSpPr txBox="1"/>
          <p:nvPr/>
        </p:nvSpPr>
        <p:spPr>
          <a:xfrm>
            <a:off x="7772400" y="4315968"/>
            <a:ext cx="2798064" cy="1133856"/>
          </a:xfrm>
          <a:prstGeom prst="rect">
            <a:avLst/>
          </a:prstGeom>
          <a:noFill/>
        </p:spPr>
        <p:txBody>
          <a:bodyPr wrap="square" lIns="18288" tIns="18288" rIns="18288" bIns="18288" anchor="t">
            <a:spAutoFit/>
          </a:bodyPr>
          <a:lstStyle/>
          <a:p>
            <a:pPr algn="l">
              <a:lnSpc>
                <a:spcPct val="110000"/>
              </a:lnSpc>
            </a:pPr>
            <a:r>
              <a:rPr sz="1700" b="0" i="0">
                <a:solidFill>
                  <a:srgbClr val="222833"/>
                </a:solidFill>
                <a:latin typeface="微软雅黑"/>
              </a:rPr>
              <a:t>前进速度偏好，用于提升导航效率。</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DWA：实时性强，但容易局部最优</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73</a:t>
            </a:r>
          </a:p>
        </p:txBody>
      </p:sp>
      <p:sp>
        <p:nvSpPr>
          <p:cNvPr id="9" name="Rounded Rectangle 8"/>
          <p:cNvSpPr/>
          <p:nvPr/>
        </p:nvSpPr>
        <p:spPr>
          <a:xfrm>
            <a:off x="685800" y="1828800"/>
            <a:ext cx="5230368" cy="292608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1828800"/>
            <a:ext cx="77724" cy="292608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5256" y="201168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优势</a:t>
            </a:r>
          </a:p>
        </p:txBody>
      </p:sp>
      <p:sp>
        <p:nvSpPr>
          <p:cNvPr id="12" name="TextBox 11"/>
          <p:cNvSpPr txBox="1"/>
          <p:nvPr/>
        </p:nvSpPr>
        <p:spPr>
          <a:xfrm>
            <a:off x="905256" y="2487168"/>
            <a:ext cx="4846320" cy="2139696"/>
          </a:xfrm>
          <a:prstGeom prst="rect">
            <a:avLst/>
          </a:prstGeom>
          <a:noFill/>
        </p:spPr>
        <p:txBody>
          <a:bodyPr wrap="square" lIns="18288" tIns="18288" rIns="18288" bIns="18288" anchor="t">
            <a:spAutoFit/>
          </a:bodyPr>
          <a:lstStyle/>
          <a:p>
            <a:pPr algn="l">
              <a:lnSpc>
                <a:spcPct val="110000"/>
              </a:lnSpc>
            </a:pPr>
            <a:r>
              <a:rPr sz="2000" b="0" i="0">
                <a:solidFill>
                  <a:srgbClr val="222833"/>
                </a:solidFill>
                <a:latin typeface="微软雅黑"/>
              </a:rPr>
              <a:t>计算量小、实时性极强、易于处理动态障碍，广泛用于轮式机器人。</a:t>
            </a:r>
          </a:p>
        </p:txBody>
      </p:sp>
      <p:sp>
        <p:nvSpPr>
          <p:cNvPr id="13" name="Rounded Rectangle 12"/>
          <p:cNvSpPr/>
          <p:nvPr/>
        </p:nvSpPr>
        <p:spPr>
          <a:xfrm>
            <a:off x="6199632" y="1828800"/>
            <a:ext cx="5230368" cy="292608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99632" y="1828800"/>
            <a:ext cx="77724" cy="292608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19088" y="201168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C63F45"/>
                </a:solidFill>
                <a:latin typeface="微软雅黑"/>
              </a:rPr>
              <a:t>局限</a:t>
            </a:r>
          </a:p>
        </p:txBody>
      </p:sp>
      <p:sp>
        <p:nvSpPr>
          <p:cNvPr id="16" name="TextBox 15"/>
          <p:cNvSpPr txBox="1"/>
          <p:nvPr/>
        </p:nvSpPr>
        <p:spPr>
          <a:xfrm>
            <a:off x="6419088" y="2487168"/>
            <a:ext cx="4846320" cy="2139696"/>
          </a:xfrm>
          <a:prstGeom prst="rect">
            <a:avLst/>
          </a:prstGeom>
          <a:noFill/>
        </p:spPr>
        <p:txBody>
          <a:bodyPr wrap="square" lIns="18288" tIns="18288" rIns="18288" bIns="18288" anchor="t">
            <a:spAutoFit/>
          </a:bodyPr>
          <a:lstStyle/>
          <a:p>
            <a:pPr algn="l">
              <a:lnSpc>
                <a:spcPct val="110000"/>
              </a:lnSpc>
            </a:pPr>
            <a:r>
              <a:rPr sz="2000" b="0" i="0">
                <a:solidFill>
                  <a:srgbClr val="222833"/>
                </a:solidFill>
                <a:latin typeface="微软雅黑"/>
              </a:rPr>
              <a:t>视野有限、易陷入局部最优，因此通常需要全局规划器提供方向引导。</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TEB：把参考路径看成“带时间戳的弹性带”</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74</a:t>
            </a:r>
          </a:p>
        </p:txBody>
      </p:sp>
      <p:sp>
        <p:nvSpPr>
          <p:cNvPr id="9" name="TextBox 8"/>
          <p:cNvSpPr txBox="1"/>
          <p:nvPr/>
        </p:nvSpPr>
        <p:spPr>
          <a:xfrm>
            <a:off x="777240" y="1691640"/>
            <a:ext cx="10652760" cy="914400"/>
          </a:xfrm>
          <a:prstGeom prst="rect">
            <a:avLst/>
          </a:prstGeom>
          <a:noFill/>
        </p:spPr>
        <p:txBody>
          <a:bodyPr wrap="square" lIns="18288" tIns="18288" rIns="18288" bIns="18288" anchor="t">
            <a:spAutoFit/>
          </a:bodyPr>
          <a:lstStyle/>
          <a:p>
            <a:pPr algn="ctr">
              <a:lnSpc>
                <a:spcPct val="105000"/>
              </a:lnSpc>
            </a:pPr>
            <a:r>
              <a:rPr sz="2100" b="0" i="0">
                <a:solidFill>
                  <a:srgbClr val="222833"/>
                </a:solidFill>
                <a:latin typeface="微软雅黑"/>
              </a:rPr>
              <a:t>Timed Elastic Band 在全局参考路径上放置一系列“位姿 + 时间戳”控制点，通过图优化/非线性优化同时调整空间位置与时间间隔。</a:t>
            </a:r>
          </a:p>
        </p:txBody>
      </p:sp>
      <p:sp>
        <p:nvSpPr>
          <p:cNvPr id="10" name="Rounded Rectangle 9"/>
          <p:cNvSpPr/>
          <p:nvPr/>
        </p:nvSpPr>
        <p:spPr>
          <a:xfrm>
            <a:off x="640080" y="3063240"/>
            <a:ext cx="3182112" cy="173736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3063240"/>
            <a:ext cx="77724" cy="173736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324612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优化目标</a:t>
            </a:r>
          </a:p>
        </p:txBody>
      </p:sp>
      <p:sp>
        <p:nvSpPr>
          <p:cNvPr id="13" name="TextBox 12"/>
          <p:cNvSpPr txBox="1"/>
          <p:nvPr/>
        </p:nvSpPr>
        <p:spPr>
          <a:xfrm>
            <a:off x="859536" y="3721608"/>
            <a:ext cx="2798064" cy="950976"/>
          </a:xfrm>
          <a:prstGeom prst="rect">
            <a:avLst/>
          </a:prstGeom>
          <a:noFill/>
        </p:spPr>
        <p:txBody>
          <a:bodyPr wrap="square" lIns="18288" tIns="18288" rIns="18288" bIns="18288" anchor="t">
            <a:spAutoFit/>
          </a:bodyPr>
          <a:lstStyle/>
          <a:p>
            <a:pPr algn="l">
              <a:lnSpc>
                <a:spcPct val="110000"/>
              </a:lnSpc>
            </a:pPr>
            <a:r>
              <a:rPr sz="1900" b="0" i="0">
                <a:solidFill>
                  <a:srgbClr val="222833"/>
                </a:solidFill>
                <a:latin typeface="微软雅黑"/>
              </a:rPr>
              <a:t>执行时间</a:t>
            </a:r>
          </a:p>
        </p:txBody>
      </p:sp>
      <p:sp>
        <p:nvSpPr>
          <p:cNvPr id="14" name="Rounded Rectangle 13"/>
          <p:cNvSpPr/>
          <p:nvPr/>
        </p:nvSpPr>
        <p:spPr>
          <a:xfrm>
            <a:off x="4096512" y="3063240"/>
            <a:ext cx="3182112" cy="173736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096512" y="3063240"/>
            <a:ext cx="77724" cy="173736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15968" y="324612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优化目标</a:t>
            </a:r>
          </a:p>
        </p:txBody>
      </p:sp>
      <p:sp>
        <p:nvSpPr>
          <p:cNvPr id="17" name="TextBox 16"/>
          <p:cNvSpPr txBox="1"/>
          <p:nvPr/>
        </p:nvSpPr>
        <p:spPr>
          <a:xfrm>
            <a:off x="4315968" y="3721608"/>
            <a:ext cx="2798064" cy="950976"/>
          </a:xfrm>
          <a:prstGeom prst="rect">
            <a:avLst/>
          </a:prstGeom>
          <a:noFill/>
        </p:spPr>
        <p:txBody>
          <a:bodyPr wrap="square" lIns="18288" tIns="18288" rIns="18288" bIns="18288" anchor="t">
            <a:spAutoFit/>
          </a:bodyPr>
          <a:lstStyle/>
          <a:p>
            <a:pPr algn="l">
              <a:lnSpc>
                <a:spcPct val="110000"/>
              </a:lnSpc>
            </a:pPr>
            <a:r>
              <a:rPr sz="1900" b="0" i="0">
                <a:solidFill>
                  <a:srgbClr val="222833"/>
                </a:solidFill>
                <a:latin typeface="微软雅黑"/>
              </a:rPr>
              <a:t>障碍物距离</a:t>
            </a:r>
          </a:p>
        </p:txBody>
      </p:sp>
      <p:sp>
        <p:nvSpPr>
          <p:cNvPr id="18" name="Rounded Rectangle 17"/>
          <p:cNvSpPr/>
          <p:nvPr/>
        </p:nvSpPr>
        <p:spPr>
          <a:xfrm>
            <a:off x="7552944" y="3063240"/>
            <a:ext cx="3182112" cy="173736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552944" y="3063240"/>
            <a:ext cx="77724" cy="173736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72400" y="324612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C58A24"/>
                </a:solidFill>
                <a:latin typeface="微软雅黑"/>
              </a:rPr>
              <a:t>约束</a:t>
            </a:r>
          </a:p>
        </p:txBody>
      </p:sp>
      <p:sp>
        <p:nvSpPr>
          <p:cNvPr id="21" name="TextBox 20"/>
          <p:cNvSpPr txBox="1"/>
          <p:nvPr/>
        </p:nvSpPr>
        <p:spPr>
          <a:xfrm>
            <a:off x="7772400" y="3721608"/>
            <a:ext cx="2798064" cy="950976"/>
          </a:xfrm>
          <a:prstGeom prst="rect">
            <a:avLst/>
          </a:prstGeom>
          <a:noFill/>
        </p:spPr>
        <p:txBody>
          <a:bodyPr wrap="square" lIns="18288" tIns="18288" rIns="18288" bIns="18288" anchor="t">
            <a:spAutoFit/>
          </a:bodyPr>
          <a:lstStyle/>
          <a:p>
            <a:pPr algn="l">
              <a:lnSpc>
                <a:spcPct val="110000"/>
              </a:lnSpc>
            </a:pPr>
            <a:r>
              <a:rPr sz="1900" b="0" i="0">
                <a:solidFill>
                  <a:srgbClr val="222833"/>
                </a:solidFill>
                <a:latin typeface="微软雅黑"/>
              </a:rPr>
              <a:t>运动学/动力学</a:t>
            </a:r>
          </a:p>
        </p:txBody>
      </p:sp>
      <p:sp>
        <p:nvSpPr>
          <p:cNvPr id="22" name="Rounded Rectangle 21"/>
          <p:cNvSpPr/>
          <p:nvPr/>
        </p:nvSpPr>
        <p:spPr>
          <a:xfrm>
            <a:off x="685800" y="5074920"/>
            <a:ext cx="5230368" cy="105156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85800" y="5074920"/>
            <a:ext cx="77724" cy="105156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76808" y="5138928"/>
            <a:ext cx="4818888" cy="384048"/>
          </a:xfrm>
          <a:prstGeom prst="rect">
            <a:avLst/>
          </a:prstGeom>
          <a:noFill/>
        </p:spPr>
        <p:txBody>
          <a:bodyPr wrap="square" lIns="18288" tIns="18288" rIns="18288" bIns="18288" anchor="t">
            <a:spAutoFit/>
          </a:bodyPr>
          <a:lstStyle/>
          <a:p>
            <a:pPr algn="l">
              <a:lnSpc>
                <a:spcPct val="105000"/>
              </a:lnSpc>
            </a:pPr>
            <a:r>
              <a:rPr sz="2200" b="1" i="0" dirty="0" err="1">
                <a:solidFill>
                  <a:srgbClr val="2F8E72"/>
                </a:solidFill>
                <a:latin typeface="微软雅黑"/>
              </a:rPr>
              <a:t>优点</a:t>
            </a:r>
            <a:endParaRPr sz="2200" b="1" i="0" dirty="0">
              <a:solidFill>
                <a:srgbClr val="2F8E72"/>
              </a:solidFill>
              <a:latin typeface="微软雅黑"/>
            </a:endParaRPr>
          </a:p>
        </p:txBody>
      </p:sp>
      <p:sp>
        <p:nvSpPr>
          <p:cNvPr id="25" name="TextBox 24"/>
          <p:cNvSpPr txBox="1"/>
          <p:nvPr/>
        </p:nvSpPr>
        <p:spPr>
          <a:xfrm>
            <a:off x="877824" y="5532121"/>
            <a:ext cx="4846320" cy="265175"/>
          </a:xfrm>
          <a:prstGeom prst="rect">
            <a:avLst/>
          </a:prstGeom>
          <a:noFill/>
        </p:spPr>
        <p:txBody>
          <a:bodyPr wrap="square" lIns="18288" tIns="18288" rIns="18288" bIns="18288" anchor="t">
            <a:spAutoFit/>
          </a:bodyPr>
          <a:lstStyle/>
          <a:p>
            <a:pPr algn="l">
              <a:lnSpc>
                <a:spcPct val="110000"/>
              </a:lnSpc>
            </a:pPr>
            <a:r>
              <a:rPr sz="1700" b="0" i="0" dirty="0" err="1">
                <a:solidFill>
                  <a:srgbClr val="222833"/>
                </a:solidFill>
                <a:latin typeface="微软雅黑"/>
              </a:rPr>
              <a:t>轨迹更平滑，符合非完整约束，前瞻性强，避障效果优于</a:t>
            </a:r>
            <a:r>
              <a:rPr sz="1700" b="0" i="0" dirty="0">
                <a:solidFill>
                  <a:srgbClr val="222833"/>
                </a:solidFill>
                <a:latin typeface="微软雅黑"/>
              </a:rPr>
              <a:t> DWA。</a:t>
            </a:r>
          </a:p>
        </p:txBody>
      </p:sp>
      <p:sp>
        <p:nvSpPr>
          <p:cNvPr id="26" name="Rounded Rectangle 25"/>
          <p:cNvSpPr/>
          <p:nvPr/>
        </p:nvSpPr>
        <p:spPr>
          <a:xfrm>
            <a:off x="6199632" y="5074920"/>
            <a:ext cx="5230368" cy="105156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199632" y="5074920"/>
            <a:ext cx="77724" cy="105156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19088" y="525780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C63F45"/>
                </a:solidFill>
                <a:latin typeface="微软雅黑"/>
              </a:rPr>
              <a:t>缺点</a:t>
            </a:r>
          </a:p>
        </p:txBody>
      </p:sp>
      <p:sp>
        <p:nvSpPr>
          <p:cNvPr id="29" name="TextBox 28"/>
          <p:cNvSpPr txBox="1"/>
          <p:nvPr/>
        </p:nvSpPr>
        <p:spPr>
          <a:xfrm>
            <a:off x="6419088" y="5733288"/>
            <a:ext cx="4846320" cy="265175"/>
          </a:xfrm>
          <a:prstGeom prst="rect">
            <a:avLst/>
          </a:prstGeom>
          <a:noFill/>
        </p:spPr>
        <p:txBody>
          <a:bodyPr wrap="square" lIns="18288" tIns="18288" rIns="18288" bIns="18288" anchor="t">
            <a:spAutoFit/>
          </a:bodyPr>
          <a:lstStyle/>
          <a:p>
            <a:pPr algn="l">
              <a:lnSpc>
                <a:spcPct val="110000"/>
              </a:lnSpc>
            </a:pPr>
            <a:r>
              <a:rPr sz="1700" b="0" i="0">
                <a:solidFill>
                  <a:srgbClr val="222833"/>
                </a:solidFill>
                <a:latin typeface="微软雅黑"/>
              </a:rPr>
              <a:t>参数多、计算复杂度更高。</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MPC：在有限预测时域内反复优化控制序列</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75</a:t>
            </a:r>
          </a:p>
        </p:txBody>
      </p:sp>
      <p:sp>
        <p:nvSpPr>
          <p:cNvPr id="9" name="TextBox 8"/>
          <p:cNvSpPr txBox="1"/>
          <p:nvPr/>
        </p:nvSpPr>
        <p:spPr>
          <a:xfrm>
            <a:off x="685800" y="1783080"/>
            <a:ext cx="5715000" cy="3361818"/>
          </a:xfrm>
          <a:prstGeom prst="rect">
            <a:avLst/>
          </a:prstGeom>
          <a:noFill/>
        </p:spPr>
        <p:txBody>
          <a:bodyPr wrap="square" lIns="18288" tIns="18288" rIns="18288" bIns="18288">
            <a:spAutoFit/>
          </a:bodyPr>
          <a:lstStyle/>
          <a:p>
            <a:pPr>
              <a:lnSpc>
                <a:spcPct val="115000"/>
              </a:lnSpc>
              <a:spcAft>
                <a:spcPts val="1000"/>
              </a:spcAft>
              <a:defRPr sz="1800">
                <a:solidFill>
                  <a:srgbClr val="222833"/>
                </a:solidFill>
                <a:latin typeface="微软雅黑"/>
              </a:defRPr>
            </a:pPr>
            <a:r>
              <a:rPr sz="2400" dirty="0"/>
              <a:t>• </a:t>
            </a:r>
            <a:r>
              <a:rPr sz="2400" dirty="0" err="1"/>
              <a:t>在有限预测时域内预测未来状态</a:t>
            </a:r>
            <a:r>
              <a:rPr sz="2400" dirty="0"/>
              <a:t>。</a:t>
            </a:r>
          </a:p>
          <a:p>
            <a:pPr>
              <a:lnSpc>
                <a:spcPct val="115000"/>
              </a:lnSpc>
              <a:spcAft>
                <a:spcPts val="1000"/>
              </a:spcAft>
              <a:defRPr sz="1800">
                <a:solidFill>
                  <a:srgbClr val="222833"/>
                </a:solidFill>
                <a:latin typeface="微软雅黑"/>
              </a:defRPr>
            </a:pPr>
            <a:r>
              <a:rPr sz="2400" dirty="0"/>
              <a:t>• </a:t>
            </a:r>
            <a:r>
              <a:rPr sz="2400" dirty="0" err="1"/>
              <a:t>反复求解最优控制序列，显式加入速度、加速度与避障等约束</a:t>
            </a:r>
            <a:r>
              <a:rPr sz="2400" dirty="0"/>
              <a:t>。</a:t>
            </a:r>
          </a:p>
          <a:p>
            <a:pPr>
              <a:lnSpc>
                <a:spcPct val="115000"/>
              </a:lnSpc>
              <a:spcAft>
                <a:spcPts val="1000"/>
              </a:spcAft>
              <a:defRPr sz="1800">
                <a:solidFill>
                  <a:srgbClr val="222833"/>
                </a:solidFill>
                <a:latin typeface="微软雅黑"/>
              </a:defRPr>
            </a:pPr>
            <a:r>
              <a:rPr sz="2400" dirty="0"/>
              <a:t>• </a:t>
            </a:r>
            <a:r>
              <a:rPr sz="2400" dirty="0" err="1"/>
              <a:t>适合轨迹精度与约束满足要求高的机器人、无人车和无人机</a:t>
            </a:r>
            <a:r>
              <a:rPr sz="2400" dirty="0"/>
              <a:t>。</a:t>
            </a:r>
          </a:p>
          <a:p>
            <a:pPr>
              <a:lnSpc>
                <a:spcPct val="115000"/>
              </a:lnSpc>
              <a:spcAft>
                <a:spcPts val="1000"/>
              </a:spcAft>
              <a:defRPr sz="1800">
                <a:solidFill>
                  <a:srgbClr val="222833"/>
                </a:solidFill>
                <a:latin typeface="微软雅黑"/>
              </a:defRPr>
            </a:pPr>
            <a:r>
              <a:rPr sz="2400" dirty="0"/>
              <a:t>• </a:t>
            </a:r>
            <a:r>
              <a:rPr sz="2400" dirty="0" err="1"/>
              <a:t>主要挑战：实时性依赖高效优化求解器</a:t>
            </a:r>
            <a:r>
              <a:rPr sz="2400" dirty="0"/>
              <a:t>。</a:t>
            </a:r>
          </a:p>
        </p:txBody>
      </p:sp>
      <p:pic>
        <p:nvPicPr>
          <p:cNvPr id="10" name="Picture 9" descr="fig15.png"/>
          <p:cNvPicPr>
            <a:picLocks noChangeAspect="1"/>
          </p:cNvPicPr>
          <p:nvPr/>
        </p:nvPicPr>
        <p:blipFill>
          <a:blip r:embed="rId2"/>
          <a:stretch>
            <a:fillRect/>
          </a:stretch>
        </p:blipFill>
        <p:spPr>
          <a:xfrm>
            <a:off x="6720840" y="1932572"/>
            <a:ext cx="4983480" cy="2992856"/>
          </a:xfrm>
          <a:prstGeom prst="rect">
            <a:avLst/>
          </a:prstGeom>
        </p:spPr>
      </p:pic>
      <p:sp>
        <p:nvSpPr>
          <p:cNvPr id="11" name="TextBox 10"/>
          <p:cNvSpPr txBox="1"/>
          <p:nvPr/>
        </p:nvSpPr>
        <p:spPr>
          <a:xfrm>
            <a:off x="6832600" y="5233346"/>
            <a:ext cx="4983480" cy="234103"/>
          </a:xfrm>
          <a:prstGeom prst="rect">
            <a:avLst/>
          </a:prstGeom>
          <a:noFill/>
        </p:spPr>
        <p:txBody>
          <a:bodyPr wrap="square" lIns="18288" tIns="18288" rIns="18288" bIns="18288" anchor="t">
            <a:spAutoFit/>
          </a:bodyPr>
          <a:lstStyle/>
          <a:p>
            <a:pPr algn="ctr">
              <a:lnSpc>
                <a:spcPct val="105000"/>
              </a:lnSpc>
            </a:pPr>
            <a:r>
              <a:rPr sz="1300" b="1" i="0" dirty="0">
                <a:solidFill>
                  <a:srgbClr val="24477D"/>
                </a:solidFill>
                <a:latin typeface="微软雅黑"/>
              </a:rPr>
              <a:t>MPC </a:t>
            </a:r>
            <a:r>
              <a:rPr sz="1300" b="1" i="0" dirty="0" err="1">
                <a:solidFill>
                  <a:srgbClr val="24477D"/>
                </a:solidFill>
                <a:latin typeface="微软雅黑"/>
              </a:rPr>
              <a:t>方法躲避移动障碍示意图</a:t>
            </a:r>
            <a:endParaRPr sz="1300" b="1" i="0" dirty="0">
              <a:solidFill>
                <a:srgbClr val="24477D"/>
              </a:solidFill>
              <a:latin typeface="微软雅黑"/>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DWA、TEB、MPC 对比</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76</a:t>
            </a:r>
          </a:p>
        </p:txBody>
      </p:sp>
      <p:sp>
        <p:nvSpPr>
          <p:cNvPr id="9" name="Rectangle 8"/>
          <p:cNvSpPr/>
          <p:nvPr/>
        </p:nvSpPr>
        <p:spPr>
          <a:xfrm>
            <a:off x="658368" y="1691640"/>
            <a:ext cx="1280160" cy="530352"/>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94944" y="1764792"/>
            <a:ext cx="1207007" cy="365760"/>
          </a:xfrm>
          <a:prstGeom prst="rect">
            <a:avLst/>
          </a:prstGeom>
          <a:noFill/>
        </p:spPr>
        <p:txBody>
          <a:bodyPr wrap="square" lIns="18288" tIns="18288" rIns="18288" bIns="18288" anchor="ctr">
            <a:spAutoFit/>
          </a:bodyPr>
          <a:lstStyle/>
          <a:p>
            <a:pPr algn="ctr">
              <a:lnSpc>
                <a:spcPct val="105000"/>
              </a:lnSpc>
            </a:pPr>
            <a:r>
              <a:rPr sz="1600" b="1" i="0">
                <a:solidFill>
                  <a:srgbClr val="FFFFFF"/>
                </a:solidFill>
                <a:latin typeface="微软雅黑"/>
              </a:rPr>
              <a:t>方法</a:t>
            </a:r>
          </a:p>
        </p:txBody>
      </p:sp>
      <p:sp>
        <p:nvSpPr>
          <p:cNvPr id="11" name="Rectangle 10"/>
          <p:cNvSpPr/>
          <p:nvPr/>
        </p:nvSpPr>
        <p:spPr>
          <a:xfrm>
            <a:off x="1938528" y="1691640"/>
            <a:ext cx="2286000" cy="530352"/>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975104" y="1764792"/>
            <a:ext cx="2212848" cy="365760"/>
          </a:xfrm>
          <a:prstGeom prst="rect">
            <a:avLst/>
          </a:prstGeom>
          <a:noFill/>
        </p:spPr>
        <p:txBody>
          <a:bodyPr wrap="square" lIns="18288" tIns="18288" rIns="18288" bIns="18288" anchor="ctr">
            <a:spAutoFit/>
          </a:bodyPr>
          <a:lstStyle/>
          <a:p>
            <a:pPr algn="ctr">
              <a:lnSpc>
                <a:spcPct val="105000"/>
              </a:lnSpc>
            </a:pPr>
            <a:r>
              <a:rPr sz="1600" b="1" i="0">
                <a:solidFill>
                  <a:srgbClr val="FFFFFF"/>
                </a:solidFill>
                <a:latin typeface="微软雅黑"/>
              </a:rPr>
              <a:t>核心思想</a:t>
            </a:r>
          </a:p>
        </p:txBody>
      </p:sp>
      <p:sp>
        <p:nvSpPr>
          <p:cNvPr id="13" name="Rectangle 12"/>
          <p:cNvSpPr/>
          <p:nvPr/>
        </p:nvSpPr>
        <p:spPr>
          <a:xfrm>
            <a:off x="4224528" y="1691640"/>
            <a:ext cx="2377440" cy="530352"/>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261104" y="1764792"/>
            <a:ext cx="2304288" cy="365760"/>
          </a:xfrm>
          <a:prstGeom prst="rect">
            <a:avLst/>
          </a:prstGeom>
          <a:noFill/>
        </p:spPr>
        <p:txBody>
          <a:bodyPr wrap="square" lIns="18288" tIns="18288" rIns="18288" bIns="18288" anchor="ctr">
            <a:spAutoFit/>
          </a:bodyPr>
          <a:lstStyle/>
          <a:p>
            <a:pPr algn="ctr">
              <a:lnSpc>
                <a:spcPct val="105000"/>
              </a:lnSpc>
            </a:pPr>
            <a:r>
              <a:rPr sz="1600" b="1" i="0">
                <a:solidFill>
                  <a:srgbClr val="FFFFFF"/>
                </a:solidFill>
                <a:latin typeface="微软雅黑"/>
              </a:rPr>
              <a:t>优势</a:t>
            </a:r>
          </a:p>
        </p:txBody>
      </p:sp>
      <p:sp>
        <p:nvSpPr>
          <p:cNvPr id="15" name="Rectangle 14"/>
          <p:cNvSpPr/>
          <p:nvPr/>
        </p:nvSpPr>
        <p:spPr>
          <a:xfrm>
            <a:off x="6601968" y="1691640"/>
            <a:ext cx="2286000" cy="530352"/>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38544" y="1764792"/>
            <a:ext cx="2212848" cy="365760"/>
          </a:xfrm>
          <a:prstGeom prst="rect">
            <a:avLst/>
          </a:prstGeom>
          <a:noFill/>
        </p:spPr>
        <p:txBody>
          <a:bodyPr wrap="square" lIns="18288" tIns="18288" rIns="18288" bIns="18288" anchor="ctr">
            <a:spAutoFit/>
          </a:bodyPr>
          <a:lstStyle/>
          <a:p>
            <a:pPr algn="ctr">
              <a:lnSpc>
                <a:spcPct val="105000"/>
              </a:lnSpc>
            </a:pPr>
            <a:r>
              <a:rPr sz="1600" b="1" i="0">
                <a:solidFill>
                  <a:srgbClr val="FFFFFF"/>
                </a:solidFill>
                <a:latin typeface="微软雅黑"/>
              </a:rPr>
              <a:t>局限</a:t>
            </a:r>
          </a:p>
        </p:txBody>
      </p:sp>
      <p:sp>
        <p:nvSpPr>
          <p:cNvPr id="17" name="Rectangle 16"/>
          <p:cNvSpPr/>
          <p:nvPr/>
        </p:nvSpPr>
        <p:spPr>
          <a:xfrm>
            <a:off x="8887968" y="1691640"/>
            <a:ext cx="2651760" cy="530352"/>
          </a:xfrm>
          <a:prstGeom prst="rect">
            <a:avLst/>
          </a:prstGeom>
          <a:solidFill>
            <a:srgbClr val="755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924544" y="1764792"/>
            <a:ext cx="2578608" cy="365760"/>
          </a:xfrm>
          <a:prstGeom prst="rect">
            <a:avLst/>
          </a:prstGeom>
          <a:noFill/>
        </p:spPr>
        <p:txBody>
          <a:bodyPr wrap="square" lIns="18288" tIns="18288" rIns="18288" bIns="18288" anchor="ctr">
            <a:spAutoFit/>
          </a:bodyPr>
          <a:lstStyle/>
          <a:p>
            <a:pPr algn="ctr">
              <a:lnSpc>
                <a:spcPct val="105000"/>
              </a:lnSpc>
            </a:pPr>
            <a:r>
              <a:rPr sz="1600" b="1" i="0">
                <a:solidFill>
                  <a:srgbClr val="FFFFFF"/>
                </a:solidFill>
                <a:latin typeface="微软雅黑"/>
              </a:rPr>
              <a:t>更适合</a:t>
            </a:r>
          </a:p>
        </p:txBody>
      </p:sp>
      <p:sp>
        <p:nvSpPr>
          <p:cNvPr id="19" name="Rectangle 18"/>
          <p:cNvSpPr/>
          <p:nvPr/>
        </p:nvSpPr>
        <p:spPr>
          <a:xfrm>
            <a:off x="658368" y="2221992"/>
            <a:ext cx="1280160" cy="1417320"/>
          </a:xfrm>
          <a:prstGeom prst="rect">
            <a:avLst/>
          </a:prstGeom>
          <a:solidFill>
            <a:srgbClr val="FFFFFF"/>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04088" y="2775642"/>
            <a:ext cx="1188719" cy="310021"/>
          </a:xfrm>
          <a:prstGeom prst="rect">
            <a:avLst/>
          </a:prstGeom>
          <a:noFill/>
        </p:spPr>
        <p:txBody>
          <a:bodyPr wrap="square" lIns="18288" tIns="18288" rIns="18288" bIns="18288" anchor="ctr">
            <a:spAutoFit/>
          </a:bodyPr>
          <a:lstStyle/>
          <a:p>
            <a:pPr algn="ctr">
              <a:lnSpc>
                <a:spcPct val="105000"/>
              </a:lnSpc>
            </a:pPr>
            <a:r>
              <a:rPr b="0" i="0">
                <a:solidFill>
                  <a:srgbClr val="222833"/>
                </a:solidFill>
                <a:latin typeface="微软雅黑"/>
              </a:rPr>
              <a:t>DWA</a:t>
            </a:r>
          </a:p>
        </p:txBody>
      </p:sp>
      <p:sp>
        <p:nvSpPr>
          <p:cNvPr id="21" name="Rectangle 20"/>
          <p:cNvSpPr/>
          <p:nvPr/>
        </p:nvSpPr>
        <p:spPr>
          <a:xfrm>
            <a:off x="1938528" y="2221992"/>
            <a:ext cx="2286000" cy="1417320"/>
          </a:xfrm>
          <a:prstGeom prst="rect">
            <a:avLst/>
          </a:prstGeom>
          <a:solidFill>
            <a:srgbClr val="FFFFFF"/>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984248" y="2630217"/>
            <a:ext cx="2194560" cy="600870"/>
          </a:xfrm>
          <a:prstGeom prst="rect">
            <a:avLst/>
          </a:prstGeom>
          <a:noFill/>
        </p:spPr>
        <p:txBody>
          <a:bodyPr wrap="square" lIns="18288" tIns="18288" rIns="18288" bIns="18288" anchor="ctr">
            <a:spAutoFit/>
          </a:bodyPr>
          <a:lstStyle/>
          <a:p>
            <a:pPr algn="ctr">
              <a:lnSpc>
                <a:spcPct val="105000"/>
              </a:lnSpc>
            </a:pPr>
            <a:r>
              <a:rPr b="0" i="0">
                <a:solidFill>
                  <a:srgbClr val="222833"/>
                </a:solidFill>
                <a:latin typeface="微软雅黑"/>
              </a:rPr>
              <a:t>速度空间采样 + 短期模拟</a:t>
            </a:r>
          </a:p>
        </p:txBody>
      </p:sp>
      <p:sp>
        <p:nvSpPr>
          <p:cNvPr id="23" name="Rectangle 22"/>
          <p:cNvSpPr/>
          <p:nvPr/>
        </p:nvSpPr>
        <p:spPr>
          <a:xfrm>
            <a:off x="4224528" y="2221992"/>
            <a:ext cx="2377440" cy="1417320"/>
          </a:xfrm>
          <a:prstGeom prst="rect">
            <a:avLst/>
          </a:prstGeom>
          <a:solidFill>
            <a:srgbClr val="FFFFFF"/>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270248" y="2775642"/>
            <a:ext cx="2286000" cy="310021"/>
          </a:xfrm>
          <a:prstGeom prst="rect">
            <a:avLst/>
          </a:prstGeom>
          <a:noFill/>
        </p:spPr>
        <p:txBody>
          <a:bodyPr wrap="square" lIns="18288" tIns="18288" rIns="18288" bIns="18288" anchor="ctr">
            <a:spAutoFit/>
          </a:bodyPr>
          <a:lstStyle/>
          <a:p>
            <a:pPr algn="ctr">
              <a:lnSpc>
                <a:spcPct val="105000"/>
              </a:lnSpc>
            </a:pPr>
            <a:r>
              <a:rPr b="0" i="0">
                <a:solidFill>
                  <a:srgbClr val="222833"/>
                </a:solidFill>
                <a:latin typeface="微软雅黑"/>
              </a:rPr>
              <a:t>实时性极强</a:t>
            </a:r>
          </a:p>
        </p:txBody>
      </p:sp>
      <p:sp>
        <p:nvSpPr>
          <p:cNvPr id="25" name="Rectangle 24"/>
          <p:cNvSpPr/>
          <p:nvPr/>
        </p:nvSpPr>
        <p:spPr>
          <a:xfrm>
            <a:off x="6601968" y="2221992"/>
            <a:ext cx="2286000" cy="1417320"/>
          </a:xfrm>
          <a:prstGeom prst="rect">
            <a:avLst/>
          </a:prstGeom>
          <a:solidFill>
            <a:srgbClr val="FFFFFF"/>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47688" y="2775642"/>
            <a:ext cx="2194560" cy="310021"/>
          </a:xfrm>
          <a:prstGeom prst="rect">
            <a:avLst/>
          </a:prstGeom>
          <a:noFill/>
        </p:spPr>
        <p:txBody>
          <a:bodyPr wrap="square" lIns="18288" tIns="18288" rIns="18288" bIns="18288" anchor="ctr">
            <a:spAutoFit/>
          </a:bodyPr>
          <a:lstStyle/>
          <a:p>
            <a:pPr algn="ctr">
              <a:lnSpc>
                <a:spcPct val="105000"/>
              </a:lnSpc>
            </a:pPr>
            <a:r>
              <a:rPr b="0" i="0">
                <a:solidFill>
                  <a:srgbClr val="222833"/>
                </a:solidFill>
                <a:latin typeface="微软雅黑"/>
              </a:rPr>
              <a:t>易局部最优</a:t>
            </a:r>
          </a:p>
        </p:txBody>
      </p:sp>
      <p:sp>
        <p:nvSpPr>
          <p:cNvPr id="27" name="Rectangle 26"/>
          <p:cNvSpPr/>
          <p:nvPr/>
        </p:nvSpPr>
        <p:spPr>
          <a:xfrm>
            <a:off x="8887968" y="2221992"/>
            <a:ext cx="2651760" cy="1417320"/>
          </a:xfrm>
          <a:prstGeom prst="rect">
            <a:avLst/>
          </a:prstGeom>
          <a:solidFill>
            <a:srgbClr val="FFFFFF"/>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933688" y="2775642"/>
            <a:ext cx="2560320" cy="310021"/>
          </a:xfrm>
          <a:prstGeom prst="rect">
            <a:avLst/>
          </a:prstGeom>
          <a:noFill/>
        </p:spPr>
        <p:txBody>
          <a:bodyPr wrap="square" lIns="18288" tIns="18288" rIns="18288" bIns="18288" anchor="ctr">
            <a:spAutoFit/>
          </a:bodyPr>
          <a:lstStyle/>
          <a:p>
            <a:pPr algn="ctr">
              <a:lnSpc>
                <a:spcPct val="105000"/>
              </a:lnSpc>
            </a:pPr>
            <a:r>
              <a:rPr b="0" i="0">
                <a:solidFill>
                  <a:srgbClr val="222833"/>
                </a:solidFill>
                <a:latin typeface="微软雅黑"/>
              </a:rPr>
              <a:t>轮式机器人动态避障</a:t>
            </a:r>
          </a:p>
        </p:txBody>
      </p:sp>
      <p:sp>
        <p:nvSpPr>
          <p:cNvPr id="29" name="Rectangle 28"/>
          <p:cNvSpPr/>
          <p:nvPr/>
        </p:nvSpPr>
        <p:spPr>
          <a:xfrm>
            <a:off x="658368" y="3639312"/>
            <a:ext cx="1280160" cy="1417320"/>
          </a:xfrm>
          <a:prstGeom prst="rect">
            <a:avLst/>
          </a:prstGeom>
          <a:solidFill>
            <a:srgbClr val="F2F5F8"/>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0" name="TextBox 29"/>
          <p:cNvSpPr txBox="1"/>
          <p:nvPr/>
        </p:nvSpPr>
        <p:spPr>
          <a:xfrm>
            <a:off x="704088" y="4192962"/>
            <a:ext cx="1188719" cy="310021"/>
          </a:xfrm>
          <a:prstGeom prst="rect">
            <a:avLst/>
          </a:prstGeom>
          <a:noFill/>
        </p:spPr>
        <p:txBody>
          <a:bodyPr wrap="square" lIns="18288" tIns="18288" rIns="18288" bIns="18288" anchor="ctr">
            <a:spAutoFit/>
          </a:bodyPr>
          <a:lstStyle/>
          <a:p>
            <a:pPr algn="ctr">
              <a:lnSpc>
                <a:spcPct val="105000"/>
              </a:lnSpc>
            </a:pPr>
            <a:r>
              <a:rPr b="0" i="0">
                <a:solidFill>
                  <a:srgbClr val="222833"/>
                </a:solidFill>
                <a:latin typeface="微软雅黑"/>
              </a:rPr>
              <a:t>TEB</a:t>
            </a:r>
          </a:p>
        </p:txBody>
      </p:sp>
      <p:sp>
        <p:nvSpPr>
          <p:cNvPr id="31" name="Rectangle 30"/>
          <p:cNvSpPr/>
          <p:nvPr/>
        </p:nvSpPr>
        <p:spPr>
          <a:xfrm>
            <a:off x="1938528" y="3639312"/>
            <a:ext cx="2286000" cy="1417320"/>
          </a:xfrm>
          <a:prstGeom prst="rect">
            <a:avLst/>
          </a:prstGeom>
          <a:solidFill>
            <a:srgbClr val="F2F5F8"/>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2" name="TextBox 31"/>
          <p:cNvSpPr txBox="1"/>
          <p:nvPr/>
        </p:nvSpPr>
        <p:spPr>
          <a:xfrm>
            <a:off x="1984248" y="4047537"/>
            <a:ext cx="2194560" cy="600870"/>
          </a:xfrm>
          <a:prstGeom prst="rect">
            <a:avLst/>
          </a:prstGeom>
          <a:noFill/>
        </p:spPr>
        <p:txBody>
          <a:bodyPr wrap="square" lIns="18288" tIns="18288" rIns="18288" bIns="18288" anchor="ctr">
            <a:spAutoFit/>
          </a:bodyPr>
          <a:lstStyle/>
          <a:p>
            <a:pPr algn="ctr">
              <a:lnSpc>
                <a:spcPct val="105000"/>
              </a:lnSpc>
            </a:pPr>
            <a:r>
              <a:rPr b="0" i="0">
                <a:solidFill>
                  <a:srgbClr val="222833"/>
                </a:solidFill>
                <a:latin typeface="微软雅黑"/>
              </a:rPr>
              <a:t>时空控制点 + 图/非线性优化</a:t>
            </a:r>
          </a:p>
        </p:txBody>
      </p:sp>
      <p:sp>
        <p:nvSpPr>
          <p:cNvPr id="33" name="Rectangle 32"/>
          <p:cNvSpPr/>
          <p:nvPr/>
        </p:nvSpPr>
        <p:spPr>
          <a:xfrm>
            <a:off x="4224528" y="3639312"/>
            <a:ext cx="2377440" cy="1417320"/>
          </a:xfrm>
          <a:prstGeom prst="rect">
            <a:avLst/>
          </a:prstGeom>
          <a:solidFill>
            <a:srgbClr val="F2F5F8"/>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4" name="TextBox 33"/>
          <p:cNvSpPr txBox="1"/>
          <p:nvPr/>
        </p:nvSpPr>
        <p:spPr>
          <a:xfrm>
            <a:off x="4270248" y="4047537"/>
            <a:ext cx="2286000" cy="600870"/>
          </a:xfrm>
          <a:prstGeom prst="rect">
            <a:avLst/>
          </a:prstGeom>
          <a:noFill/>
        </p:spPr>
        <p:txBody>
          <a:bodyPr wrap="square" lIns="18288" tIns="18288" rIns="18288" bIns="18288" anchor="ctr">
            <a:spAutoFit/>
          </a:bodyPr>
          <a:lstStyle/>
          <a:p>
            <a:pPr algn="ctr">
              <a:lnSpc>
                <a:spcPct val="105000"/>
              </a:lnSpc>
            </a:pPr>
            <a:r>
              <a:rPr b="0" i="0">
                <a:solidFill>
                  <a:srgbClr val="222833"/>
                </a:solidFill>
                <a:latin typeface="微软雅黑"/>
              </a:rPr>
              <a:t>平滑、前瞻、符合非完整约束</a:t>
            </a:r>
          </a:p>
        </p:txBody>
      </p:sp>
      <p:sp>
        <p:nvSpPr>
          <p:cNvPr id="35" name="Rectangle 34"/>
          <p:cNvSpPr/>
          <p:nvPr/>
        </p:nvSpPr>
        <p:spPr>
          <a:xfrm>
            <a:off x="6601968" y="3639312"/>
            <a:ext cx="2286000" cy="1417320"/>
          </a:xfrm>
          <a:prstGeom prst="rect">
            <a:avLst/>
          </a:prstGeom>
          <a:solidFill>
            <a:srgbClr val="F2F5F8"/>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6" name="TextBox 35"/>
          <p:cNvSpPr txBox="1"/>
          <p:nvPr/>
        </p:nvSpPr>
        <p:spPr>
          <a:xfrm>
            <a:off x="6647688" y="4192962"/>
            <a:ext cx="2194560" cy="310021"/>
          </a:xfrm>
          <a:prstGeom prst="rect">
            <a:avLst/>
          </a:prstGeom>
          <a:noFill/>
        </p:spPr>
        <p:txBody>
          <a:bodyPr wrap="square" lIns="18288" tIns="18288" rIns="18288" bIns="18288" anchor="ctr">
            <a:spAutoFit/>
          </a:bodyPr>
          <a:lstStyle/>
          <a:p>
            <a:pPr algn="ctr">
              <a:lnSpc>
                <a:spcPct val="105000"/>
              </a:lnSpc>
            </a:pPr>
            <a:r>
              <a:rPr b="0" i="0">
                <a:solidFill>
                  <a:srgbClr val="222833"/>
                </a:solidFill>
                <a:latin typeface="微软雅黑"/>
              </a:rPr>
              <a:t>参数多、计算更重</a:t>
            </a:r>
          </a:p>
        </p:txBody>
      </p:sp>
      <p:sp>
        <p:nvSpPr>
          <p:cNvPr id="37" name="Rectangle 36"/>
          <p:cNvSpPr/>
          <p:nvPr/>
        </p:nvSpPr>
        <p:spPr>
          <a:xfrm>
            <a:off x="8887968" y="3639312"/>
            <a:ext cx="2651760" cy="1417320"/>
          </a:xfrm>
          <a:prstGeom prst="rect">
            <a:avLst/>
          </a:prstGeom>
          <a:solidFill>
            <a:srgbClr val="F2F5F8"/>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8" name="TextBox 37"/>
          <p:cNvSpPr txBox="1"/>
          <p:nvPr/>
        </p:nvSpPr>
        <p:spPr>
          <a:xfrm>
            <a:off x="8933688" y="4192962"/>
            <a:ext cx="2560320" cy="310021"/>
          </a:xfrm>
          <a:prstGeom prst="rect">
            <a:avLst/>
          </a:prstGeom>
          <a:noFill/>
        </p:spPr>
        <p:txBody>
          <a:bodyPr wrap="square" lIns="18288" tIns="18288" rIns="18288" bIns="18288" anchor="ctr">
            <a:spAutoFit/>
          </a:bodyPr>
          <a:lstStyle/>
          <a:p>
            <a:pPr algn="ctr">
              <a:lnSpc>
                <a:spcPct val="105000"/>
              </a:lnSpc>
            </a:pPr>
            <a:r>
              <a:rPr b="0" i="0">
                <a:solidFill>
                  <a:srgbClr val="222833"/>
                </a:solidFill>
                <a:latin typeface="微软雅黑"/>
              </a:rPr>
              <a:t>复杂动态场景</a:t>
            </a:r>
          </a:p>
        </p:txBody>
      </p:sp>
      <p:sp>
        <p:nvSpPr>
          <p:cNvPr id="39" name="Rectangle 38"/>
          <p:cNvSpPr/>
          <p:nvPr/>
        </p:nvSpPr>
        <p:spPr>
          <a:xfrm>
            <a:off x="658368" y="5056632"/>
            <a:ext cx="1280160" cy="1417320"/>
          </a:xfrm>
          <a:prstGeom prst="rect">
            <a:avLst/>
          </a:prstGeom>
          <a:solidFill>
            <a:srgbClr val="FFFFFF"/>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0" name="TextBox 39"/>
          <p:cNvSpPr txBox="1"/>
          <p:nvPr/>
        </p:nvSpPr>
        <p:spPr>
          <a:xfrm>
            <a:off x="704088" y="5610282"/>
            <a:ext cx="1188719" cy="310021"/>
          </a:xfrm>
          <a:prstGeom prst="rect">
            <a:avLst/>
          </a:prstGeom>
          <a:noFill/>
        </p:spPr>
        <p:txBody>
          <a:bodyPr wrap="square" lIns="18288" tIns="18288" rIns="18288" bIns="18288" anchor="ctr">
            <a:spAutoFit/>
          </a:bodyPr>
          <a:lstStyle/>
          <a:p>
            <a:pPr algn="ctr">
              <a:lnSpc>
                <a:spcPct val="105000"/>
              </a:lnSpc>
            </a:pPr>
            <a:r>
              <a:rPr b="0" i="0">
                <a:solidFill>
                  <a:srgbClr val="222833"/>
                </a:solidFill>
                <a:latin typeface="微软雅黑"/>
              </a:rPr>
              <a:t>MPC</a:t>
            </a:r>
          </a:p>
        </p:txBody>
      </p:sp>
      <p:sp>
        <p:nvSpPr>
          <p:cNvPr id="41" name="Rectangle 40"/>
          <p:cNvSpPr/>
          <p:nvPr/>
        </p:nvSpPr>
        <p:spPr>
          <a:xfrm>
            <a:off x="1938528" y="5056632"/>
            <a:ext cx="2286000" cy="1417320"/>
          </a:xfrm>
          <a:prstGeom prst="rect">
            <a:avLst/>
          </a:prstGeom>
          <a:solidFill>
            <a:srgbClr val="FFFFFF"/>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2" name="TextBox 41"/>
          <p:cNvSpPr txBox="1"/>
          <p:nvPr/>
        </p:nvSpPr>
        <p:spPr>
          <a:xfrm>
            <a:off x="1984248" y="5464857"/>
            <a:ext cx="2194560" cy="600870"/>
          </a:xfrm>
          <a:prstGeom prst="rect">
            <a:avLst/>
          </a:prstGeom>
          <a:noFill/>
        </p:spPr>
        <p:txBody>
          <a:bodyPr wrap="square" lIns="18288" tIns="18288" rIns="18288" bIns="18288" anchor="ctr">
            <a:spAutoFit/>
          </a:bodyPr>
          <a:lstStyle/>
          <a:p>
            <a:pPr algn="ctr">
              <a:lnSpc>
                <a:spcPct val="105000"/>
              </a:lnSpc>
            </a:pPr>
            <a:r>
              <a:rPr b="0" i="0">
                <a:solidFill>
                  <a:srgbClr val="222833"/>
                </a:solidFill>
                <a:latin typeface="微软雅黑"/>
              </a:rPr>
              <a:t>预测模型 + 有限时域最优控制</a:t>
            </a:r>
          </a:p>
        </p:txBody>
      </p:sp>
      <p:sp>
        <p:nvSpPr>
          <p:cNvPr id="43" name="Rectangle 42"/>
          <p:cNvSpPr/>
          <p:nvPr/>
        </p:nvSpPr>
        <p:spPr>
          <a:xfrm>
            <a:off x="4224528" y="5056632"/>
            <a:ext cx="2377440" cy="1417320"/>
          </a:xfrm>
          <a:prstGeom prst="rect">
            <a:avLst/>
          </a:prstGeom>
          <a:solidFill>
            <a:srgbClr val="FFFFFF"/>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4" name="TextBox 43"/>
          <p:cNvSpPr txBox="1"/>
          <p:nvPr/>
        </p:nvSpPr>
        <p:spPr>
          <a:xfrm>
            <a:off x="4270248" y="5464857"/>
            <a:ext cx="2286000" cy="600870"/>
          </a:xfrm>
          <a:prstGeom prst="rect">
            <a:avLst/>
          </a:prstGeom>
          <a:noFill/>
        </p:spPr>
        <p:txBody>
          <a:bodyPr wrap="square" lIns="18288" tIns="18288" rIns="18288" bIns="18288" anchor="ctr">
            <a:spAutoFit/>
          </a:bodyPr>
          <a:lstStyle/>
          <a:p>
            <a:pPr algn="ctr">
              <a:lnSpc>
                <a:spcPct val="105000"/>
              </a:lnSpc>
            </a:pPr>
            <a:r>
              <a:rPr b="0" i="0">
                <a:solidFill>
                  <a:srgbClr val="222833"/>
                </a:solidFill>
                <a:latin typeface="微软雅黑"/>
              </a:rPr>
              <a:t>约束表达能力强、轨迹精度高</a:t>
            </a:r>
          </a:p>
        </p:txBody>
      </p:sp>
      <p:sp>
        <p:nvSpPr>
          <p:cNvPr id="45" name="Rectangle 44"/>
          <p:cNvSpPr/>
          <p:nvPr/>
        </p:nvSpPr>
        <p:spPr>
          <a:xfrm>
            <a:off x="6601968" y="5056632"/>
            <a:ext cx="2286000" cy="1417320"/>
          </a:xfrm>
          <a:prstGeom prst="rect">
            <a:avLst/>
          </a:prstGeom>
          <a:solidFill>
            <a:srgbClr val="FFFFFF"/>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6" name="TextBox 45"/>
          <p:cNvSpPr txBox="1"/>
          <p:nvPr/>
        </p:nvSpPr>
        <p:spPr>
          <a:xfrm>
            <a:off x="6647688" y="5610282"/>
            <a:ext cx="2194560" cy="310021"/>
          </a:xfrm>
          <a:prstGeom prst="rect">
            <a:avLst/>
          </a:prstGeom>
          <a:noFill/>
        </p:spPr>
        <p:txBody>
          <a:bodyPr wrap="square" lIns="18288" tIns="18288" rIns="18288" bIns="18288" anchor="ctr">
            <a:spAutoFit/>
          </a:bodyPr>
          <a:lstStyle/>
          <a:p>
            <a:pPr algn="ctr">
              <a:lnSpc>
                <a:spcPct val="105000"/>
              </a:lnSpc>
            </a:pPr>
            <a:r>
              <a:rPr b="0" i="0">
                <a:solidFill>
                  <a:srgbClr val="222833"/>
                </a:solidFill>
                <a:latin typeface="微软雅黑"/>
              </a:rPr>
              <a:t>求解器实时性要求高</a:t>
            </a:r>
          </a:p>
        </p:txBody>
      </p:sp>
      <p:sp>
        <p:nvSpPr>
          <p:cNvPr id="47" name="Rectangle 46"/>
          <p:cNvSpPr/>
          <p:nvPr/>
        </p:nvSpPr>
        <p:spPr>
          <a:xfrm>
            <a:off x="8887968" y="5056632"/>
            <a:ext cx="2651760" cy="1417320"/>
          </a:xfrm>
          <a:prstGeom prst="rect">
            <a:avLst/>
          </a:prstGeom>
          <a:solidFill>
            <a:srgbClr val="FFFFFF"/>
          </a:solidFill>
          <a:ln w="762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8" name="TextBox 47"/>
          <p:cNvSpPr txBox="1"/>
          <p:nvPr/>
        </p:nvSpPr>
        <p:spPr>
          <a:xfrm>
            <a:off x="8933688" y="5610282"/>
            <a:ext cx="2560320" cy="310021"/>
          </a:xfrm>
          <a:prstGeom prst="rect">
            <a:avLst/>
          </a:prstGeom>
          <a:noFill/>
        </p:spPr>
        <p:txBody>
          <a:bodyPr wrap="square" lIns="18288" tIns="18288" rIns="18288" bIns="18288" anchor="ctr">
            <a:spAutoFit/>
          </a:bodyPr>
          <a:lstStyle/>
          <a:p>
            <a:pPr algn="ctr">
              <a:lnSpc>
                <a:spcPct val="105000"/>
              </a:lnSpc>
            </a:pPr>
            <a:r>
              <a:rPr b="0" i="0">
                <a:solidFill>
                  <a:srgbClr val="222833"/>
                </a:solidFill>
                <a:latin typeface="微软雅黑"/>
              </a:rPr>
              <a:t>高性能运动控制</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运动规划在开源机器人框架中的落地</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77</a:t>
            </a:r>
          </a:p>
        </p:txBody>
      </p:sp>
      <p:sp>
        <p:nvSpPr>
          <p:cNvPr id="9" name="Rounded Rectangle 8"/>
          <p:cNvSpPr/>
          <p:nvPr/>
        </p:nvSpPr>
        <p:spPr>
          <a:xfrm>
            <a:off x="685800" y="1874519"/>
            <a:ext cx="5230368" cy="25146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1874519"/>
            <a:ext cx="77724" cy="25146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5256" y="205740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ROS Nav2</a:t>
            </a:r>
          </a:p>
        </p:txBody>
      </p:sp>
      <p:sp>
        <p:nvSpPr>
          <p:cNvPr id="12" name="TextBox 11"/>
          <p:cNvSpPr txBox="1"/>
          <p:nvPr/>
        </p:nvSpPr>
        <p:spPr>
          <a:xfrm>
            <a:off x="905256" y="2532887"/>
            <a:ext cx="4846320" cy="1728216"/>
          </a:xfrm>
          <a:prstGeom prst="rect">
            <a:avLst/>
          </a:prstGeom>
          <a:noFill/>
        </p:spPr>
        <p:txBody>
          <a:bodyPr wrap="square" lIns="18288" tIns="18288" rIns="18288" bIns="18288" anchor="t">
            <a:spAutoFit/>
          </a:bodyPr>
          <a:lstStyle/>
          <a:p>
            <a:pPr algn="l">
              <a:lnSpc>
                <a:spcPct val="110000"/>
              </a:lnSpc>
            </a:pPr>
            <a:r>
              <a:rPr sz="1900" b="0" i="0">
                <a:solidFill>
                  <a:srgbClr val="222833"/>
                </a:solidFill>
                <a:latin typeface="微软雅黑"/>
              </a:rPr>
              <a:t>把地图、全局规划、局部规划与控制集成到移动机器人导航闭环中。</a:t>
            </a:r>
          </a:p>
        </p:txBody>
      </p:sp>
      <p:sp>
        <p:nvSpPr>
          <p:cNvPr id="13" name="Rounded Rectangle 12"/>
          <p:cNvSpPr/>
          <p:nvPr/>
        </p:nvSpPr>
        <p:spPr>
          <a:xfrm>
            <a:off x="6199632" y="1874519"/>
            <a:ext cx="5230368" cy="25146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99632" y="1874519"/>
            <a:ext cx="77724" cy="251460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19088" y="205740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MoveIt</a:t>
            </a:r>
          </a:p>
        </p:txBody>
      </p:sp>
      <p:sp>
        <p:nvSpPr>
          <p:cNvPr id="16" name="TextBox 15"/>
          <p:cNvSpPr txBox="1"/>
          <p:nvPr/>
        </p:nvSpPr>
        <p:spPr>
          <a:xfrm>
            <a:off x="6419088" y="2532887"/>
            <a:ext cx="4846320" cy="1728216"/>
          </a:xfrm>
          <a:prstGeom prst="rect">
            <a:avLst/>
          </a:prstGeom>
          <a:noFill/>
        </p:spPr>
        <p:txBody>
          <a:bodyPr wrap="square" lIns="18288" tIns="18288" rIns="18288" bIns="18288" anchor="t">
            <a:spAutoFit/>
          </a:bodyPr>
          <a:lstStyle/>
          <a:p>
            <a:pPr algn="l">
              <a:lnSpc>
                <a:spcPct val="110000"/>
              </a:lnSpc>
            </a:pPr>
            <a:r>
              <a:rPr sz="1900" b="0" i="0">
                <a:solidFill>
                  <a:srgbClr val="222833"/>
                </a:solidFill>
                <a:latin typeface="微软雅黑"/>
              </a:rPr>
              <a:t>把采样/优化规划与机械臂运动学、碰撞检测和控制对接。</a:t>
            </a:r>
          </a:p>
        </p:txBody>
      </p:sp>
      <p:sp>
        <p:nvSpPr>
          <p:cNvPr id="17" name="TextBox 16"/>
          <p:cNvSpPr txBox="1"/>
          <p:nvPr/>
        </p:nvSpPr>
        <p:spPr>
          <a:xfrm>
            <a:off x="1005840" y="4846320"/>
            <a:ext cx="10149840" cy="594360"/>
          </a:xfrm>
          <a:prstGeom prst="rect">
            <a:avLst/>
          </a:prstGeom>
          <a:noFill/>
        </p:spPr>
        <p:txBody>
          <a:bodyPr wrap="square" lIns="18288" tIns="18288" rIns="18288" bIns="18288" anchor="t">
            <a:spAutoFit/>
          </a:bodyPr>
          <a:lstStyle/>
          <a:p>
            <a:pPr algn="ctr">
              <a:lnSpc>
                <a:spcPct val="105000"/>
              </a:lnSpc>
            </a:pPr>
            <a:r>
              <a:rPr sz="2300" b="1" i="0">
                <a:solidFill>
                  <a:srgbClr val="24477D"/>
                </a:solidFill>
                <a:latin typeface="微软雅黑"/>
              </a:rPr>
              <a:t>实际系统常将全局规划器与局部规划器混合使用，以提高鲁棒性。</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78638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86384" y="0"/>
            <a:ext cx="73152"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921240" y="347472"/>
            <a:ext cx="160020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具身智能导论 · 第 6 章</a:t>
            </a:r>
          </a:p>
        </p:txBody>
      </p:sp>
      <p:sp>
        <p:nvSpPr>
          <p:cNvPr id="5" name="TextBox 4"/>
          <p:cNvSpPr txBox="1"/>
          <p:nvPr/>
        </p:nvSpPr>
        <p:spPr>
          <a:xfrm>
            <a:off x="1938528" y="2011680"/>
            <a:ext cx="1627632" cy="914400"/>
          </a:xfrm>
          <a:prstGeom prst="rect">
            <a:avLst/>
          </a:prstGeom>
          <a:noFill/>
        </p:spPr>
        <p:txBody>
          <a:bodyPr wrap="square" lIns="18288" tIns="18288" rIns="18288" bIns="18288" anchor="ctr">
            <a:spAutoFit/>
          </a:bodyPr>
          <a:lstStyle/>
          <a:p>
            <a:pPr algn="ctr">
              <a:lnSpc>
                <a:spcPct val="105000"/>
              </a:lnSpc>
            </a:pPr>
            <a:r>
              <a:rPr sz="7200" b="1" i="0">
                <a:solidFill>
                  <a:srgbClr val="31599B"/>
                </a:solidFill>
                <a:latin typeface="微软雅黑"/>
              </a:rPr>
              <a:t>05</a:t>
            </a:r>
          </a:p>
        </p:txBody>
      </p:sp>
      <p:sp>
        <p:nvSpPr>
          <p:cNvPr id="6" name="TextBox 5"/>
          <p:cNvSpPr txBox="1"/>
          <p:nvPr/>
        </p:nvSpPr>
        <p:spPr>
          <a:xfrm>
            <a:off x="3703320" y="2249424"/>
            <a:ext cx="6812280" cy="685800"/>
          </a:xfrm>
          <a:prstGeom prst="rect">
            <a:avLst/>
          </a:prstGeom>
          <a:noFill/>
        </p:spPr>
        <p:txBody>
          <a:bodyPr wrap="square" lIns="18288" tIns="18288" rIns="18288" bIns="18288" anchor="ctr">
            <a:spAutoFit/>
          </a:bodyPr>
          <a:lstStyle/>
          <a:p>
            <a:pPr algn="l">
              <a:lnSpc>
                <a:spcPct val="105000"/>
              </a:lnSpc>
            </a:pPr>
            <a:r>
              <a:rPr sz="3900" b="1" i="0">
                <a:solidFill>
                  <a:srgbClr val="24477D"/>
                </a:solidFill>
                <a:latin typeface="微软雅黑"/>
              </a:rPr>
              <a:t>具身导航框架</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dirty="0">
                <a:solidFill>
                  <a:srgbClr val="24477D"/>
                </a:solidFill>
                <a:latin typeface="微软雅黑"/>
              </a:rPr>
              <a:t>6.5 </a:t>
            </a:r>
            <a:r>
              <a:rPr sz="3400" b="1" i="0" dirty="0" err="1">
                <a:solidFill>
                  <a:srgbClr val="24477D"/>
                </a:solidFill>
                <a:latin typeface="微软雅黑"/>
              </a:rPr>
              <a:t>具身导航框架</a:t>
            </a:r>
            <a:endParaRPr sz="3400" b="1" i="0" dirty="0">
              <a:solidFill>
                <a:srgbClr val="24477D"/>
              </a:solidFill>
              <a:latin typeface="微软雅黑"/>
            </a:endParaRP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79</a:t>
            </a:r>
          </a:p>
        </p:txBody>
      </p:sp>
      <p:sp>
        <p:nvSpPr>
          <p:cNvPr id="9" name="Rounded Rectangle 8"/>
          <p:cNvSpPr/>
          <p:nvPr/>
        </p:nvSpPr>
        <p:spPr>
          <a:xfrm>
            <a:off x="685800" y="196596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1965960"/>
            <a:ext cx="2569464" cy="82296"/>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5528"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31599B"/>
                </a:solidFill>
                <a:latin typeface="微软雅黑"/>
              </a:rPr>
              <a:t>1</a:t>
            </a:r>
          </a:p>
        </p:txBody>
      </p:sp>
      <p:sp>
        <p:nvSpPr>
          <p:cNvPr id="12" name="TextBox 11"/>
          <p:cNvSpPr txBox="1"/>
          <p:nvPr/>
        </p:nvSpPr>
        <p:spPr>
          <a:xfrm>
            <a:off x="1188720" y="213055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31599B"/>
                </a:solidFill>
                <a:latin typeface="微软雅黑"/>
              </a:rPr>
              <a:t>感知</a:t>
            </a:r>
          </a:p>
        </p:txBody>
      </p:sp>
      <p:sp>
        <p:nvSpPr>
          <p:cNvPr id="13" name="TextBox 12"/>
          <p:cNvSpPr txBox="1"/>
          <p:nvPr/>
        </p:nvSpPr>
        <p:spPr>
          <a:xfrm>
            <a:off x="832104" y="256946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视觉/深度/LiDAR 等自我中心观测</a:t>
            </a:r>
          </a:p>
        </p:txBody>
      </p:sp>
      <p:sp>
        <p:nvSpPr>
          <p:cNvPr id="14" name="Rectangle 13"/>
          <p:cNvSpPr/>
          <p:nvPr/>
        </p:nvSpPr>
        <p:spPr>
          <a:xfrm>
            <a:off x="3291840" y="2551176"/>
            <a:ext cx="128016" cy="256032"/>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456432" y="196596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456432" y="1965960"/>
            <a:ext cx="2569464" cy="82296"/>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566160"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2F8E72"/>
                </a:solidFill>
                <a:latin typeface="微软雅黑"/>
              </a:rPr>
              <a:t>2</a:t>
            </a:r>
          </a:p>
        </p:txBody>
      </p:sp>
      <p:sp>
        <p:nvSpPr>
          <p:cNvPr id="18" name="TextBox 17"/>
          <p:cNvSpPr txBox="1"/>
          <p:nvPr/>
        </p:nvSpPr>
        <p:spPr>
          <a:xfrm>
            <a:off x="3959352" y="213055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2F8E72"/>
                </a:solidFill>
                <a:latin typeface="微软雅黑"/>
              </a:rPr>
              <a:t>认知</a:t>
            </a:r>
          </a:p>
        </p:txBody>
      </p:sp>
      <p:sp>
        <p:nvSpPr>
          <p:cNvPr id="19" name="TextBox 18"/>
          <p:cNvSpPr txBox="1"/>
          <p:nvPr/>
        </p:nvSpPr>
        <p:spPr>
          <a:xfrm>
            <a:off x="3602736" y="256946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SLAM、地图、语义理解</a:t>
            </a:r>
          </a:p>
        </p:txBody>
      </p:sp>
      <p:sp>
        <p:nvSpPr>
          <p:cNvPr id="20" name="Rectangle 19"/>
          <p:cNvSpPr/>
          <p:nvPr/>
        </p:nvSpPr>
        <p:spPr>
          <a:xfrm>
            <a:off x="6062472" y="2551176"/>
            <a:ext cx="128016" cy="256032"/>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227064" y="196596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27064" y="1965960"/>
            <a:ext cx="2569464" cy="82296"/>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36792"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58A24"/>
                </a:solidFill>
                <a:latin typeface="微软雅黑"/>
              </a:rPr>
              <a:t>3</a:t>
            </a:r>
          </a:p>
        </p:txBody>
      </p:sp>
      <p:sp>
        <p:nvSpPr>
          <p:cNvPr id="24" name="TextBox 23"/>
          <p:cNvSpPr txBox="1"/>
          <p:nvPr/>
        </p:nvSpPr>
        <p:spPr>
          <a:xfrm>
            <a:off x="6729984" y="213055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C58A24"/>
                </a:solidFill>
                <a:latin typeface="微软雅黑"/>
              </a:rPr>
              <a:t>决策</a:t>
            </a:r>
          </a:p>
        </p:txBody>
      </p:sp>
      <p:sp>
        <p:nvSpPr>
          <p:cNvPr id="25" name="TextBox 24"/>
          <p:cNvSpPr txBox="1"/>
          <p:nvPr/>
        </p:nvSpPr>
        <p:spPr>
          <a:xfrm>
            <a:off x="6373368" y="256946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全局路径 + 局部运动规划</a:t>
            </a:r>
          </a:p>
        </p:txBody>
      </p:sp>
      <p:sp>
        <p:nvSpPr>
          <p:cNvPr id="26" name="Rectangle 25"/>
          <p:cNvSpPr/>
          <p:nvPr/>
        </p:nvSpPr>
        <p:spPr>
          <a:xfrm>
            <a:off x="8833104" y="2551176"/>
            <a:ext cx="128016" cy="256032"/>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8997696" y="196596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997696" y="1965960"/>
            <a:ext cx="2569464" cy="82296"/>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07424"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63F45"/>
                </a:solidFill>
                <a:latin typeface="微软雅黑"/>
              </a:rPr>
              <a:t>4</a:t>
            </a:r>
          </a:p>
        </p:txBody>
      </p:sp>
      <p:sp>
        <p:nvSpPr>
          <p:cNvPr id="30" name="TextBox 29"/>
          <p:cNvSpPr txBox="1"/>
          <p:nvPr/>
        </p:nvSpPr>
        <p:spPr>
          <a:xfrm>
            <a:off x="9500616" y="213055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C63F45"/>
                </a:solidFill>
                <a:latin typeface="微软雅黑"/>
              </a:rPr>
              <a:t>行动</a:t>
            </a:r>
          </a:p>
        </p:txBody>
      </p:sp>
      <p:sp>
        <p:nvSpPr>
          <p:cNvPr id="31" name="TextBox 30"/>
          <p:cNvSpPr txBox="1"/>
          <p:nvPr/>
        </p:nvSpPr>
        <p:spPr>
          <a:xfrm>
            <a:off x="9144000" y="256946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速度/控制指令下发到执行器</a:t>
            </a:r>
          </a:p>
        </p:txBody>
      </p:sp>
      <p:sp>
        <p:nvSpPr>
          <p:cNvPr id="32" name="TextBox 31"/>
          <p:cNvSpPr txBox="1"/>
          <p:nvPr/>
        </p:nvSpPr>
        <p:spPr>
          <a:xfrm>
            <a:off x="914400" y="4297680"/>
            <a:ext cx="10332720" cy="585216"/>
          </a:xfrm>
          <a:prstGeom prst="rect">
            <a:avLst/>
          </a:prstGeom>
          <a:noFill/>
        </p:spPr>
        <p:txBody>
          <a:bodyPr wrap="square" lIns="18288" tIns="18288" rIns="18288" bIns="18288" anchor="t">
            <a:spAutoFit/>
          </a:bodyPr>
          <a:lstStyle/>
          <a:p>
            <a:pPr algn="ctr">
              <a:lnSpc>
                <a:spcPct val="105000"/>
              </a:lnSpc>
            </a:pPr>
            <a:r>
              <a:rPr sz="2300" b="1" i="0" dirty="0" err="1">
                <a:solidFill>
                  <a:srgbClr val="24477D"/>
                </a:solidFill>
                <a:latin typeface="微软雅黑"/>
              </a:rPr>
              <a:t>核心目标：从自我中心感知出发，输出可执行运动指令，实现持续自主导航</a:t>
            </a:r>
            <a:r>
              <a:rPr sz="2300" b="1" i="0" dirty="0">
                <a:solidFill>
                  <a:srgbClr val="24477D"/>
                </a:solidFill>
                <a:latin typeface="微软雅黑"/>
              </a:rPr>
              <a:t>。</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6.5.1 基本概念：分层式或混合式</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80</a:t>
            </a:r>
          </a:p>
        </p:txBody>
      </p:sp>
      <p:sp>
        <p:nvSpPr>
          <p:cNvPr id="9" name="Rounded Rectangle 8"/>
          <p:cNvSpPr/>
          <p:nvPr/>
        </p:nvSpPr>
        <p:spPr>
          <a:xfrm>
            <a:off x="685800" y="1828800"/>
            <a:ext cx="5230368" cy="23317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1828800"/>
            <a:ext cx="77724" cy="23317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5256" y="201168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高层</a:t>
            </a:r>
          </a:p>
        </p:txBody>
      </p:sp>
      <p:sp>
        <p:nvSpPr>
          <p:cNvPr id="12" name="TextBox 11"/>
          <p:cNvSpPr txBox="1"/>
          <p:nvPr/>
        </p:nvSpPr>
        <p:spPr>
          <a:xfrm>
            <a:off x="905256" y="2487168"/>
            <a:ext cx="4846320" cy="1545336"/>
          </a:xfrm>
          <a:prstGeom prst="rect">
            <a:avLst/>
          </a:prstGeom>
          <a:noFill/>
        </p:spPr>
        <p:txBody>
          <a:bodyPr wrap="square" lIns="18288" tIns="18288" rIns="18288" bIns="18288" anchor="t">
            <a:spAutoFit/>
          </a:bodyPr>
          <a:lstStyle/>
          <a:p>
            <a:pPr algn="l">
              <a:lnSpc>
                <a:spcPct val="110000"/>
              </a:lnSpc>
            </a:pPr>
            <a:r>
              <a:rPr sz="2000" b="0" i="0">
                <a:solidFill>
                  <a:srgbClr val="222833"/>
                </a:solidFill>
                <a:latin typeface="微软雅黑"/>
              </a:rPr>
              <a:t>全局任务解析、语义理解、全局路径规划。</a:t>
            </a:r>
          </a:p>
        </p:txBody>
      </p:sp>
      <p:sp>
        <p:nvSpPr>
          <p:cNvPr id="13" name="Rounded Rectangle 12"/>
          <p:cNvSpPr/>
          <p:nvPr/>
        </p:nvSpPr>
        <p:spPr>
          <a:xfrm>
            <a:off x="6199632" y="1828800"/>
            <a:ext cx="5230368" cy="23317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99632" y="1828800"/>
            <a:ext cx="77724" cy="23317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19088" y="201168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低层</a:t>
            </a:r>
          </a:p>
        </p:txBody>
      </p:sp>
      <p:sp>
        <p:nvSpPr>
          <p:cNvPr id="16" name="TextBox 15"/>
          <p:cNvSpPr txBox="1"/>
          <p:nvPr/>
        </p:nvSpPr>
        <p:spPr>
          <a:xfrm>
            <a:off x="6419088" y="2487168"/>
            <a:ext cx="4846320" cy="1545336"/>
          </a:xfrm>
          <a:prstGeom prst="rect">
            <a:avLst/>
          </a:prstGeom>
          <a:noFill/>
        </p:spPr>
        <p:txBody>
          <a:bodyPr wrap="square" lIns="18288" tIns="18288" rIns="18288" bIns="18288" anchor="t">
            <a:spAutoFit/>
          </a:bodyPr>
          <a:lstStyle/>
          <a:p>
            <a:pPr algn="l">
              <a:lnSpc>
                <a:spcPct val="110000"/>
              </a:lnSpc>
            </a:pPr>
            <a:r>
              <a:rPr sz="2000" b="0" i="0">
                <a:solidFill>
                  <a:srgbClr val="222833"/>
                </a:solidFill>
                <a:latin typeface="微软雅黑"/>
              </a:rPr>
              <a:t>局部避障、轨迹平滑、执行控制。</a:t>
            </a:r>
          </a:p>
        </p:txBody>
      </p:sp>
      <p:sp>
        <p:nvSpPr>
          <p:cNvPr id="17" name="Rounded Rectangle 16"/>
          <p:cNvSpPr/>
          <p:nvPr/>
        </p:nvSpPr>
        <p:spPr>
          <a:xfrm>
            <a:off x="640080" y="4526280"/>
            <a:ext cx="3182112" cy="123444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 y="4526280"/>
            <a:ext cx="77724" cy="123444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59536" y="470916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模块化</a:t>
            </a:r>
          </a:p>
        </p:txBody>
      </p:sp>
      <p:sp>
        <p:nvSpPr>
          <p:cNvPr id="20" name="TextBox 19"/>
          <p:cNvSpPr txBox="1"/>
          <p:nvPr/>
        </p:nvSpPr>
        <p:spPr>
          <a:xfrm>
            <a:off x="859536" y="5184648"/>
            <a:ext cx="2798064" cy="448056"/>
          </a:xfrm>
          <a:prstGeom prst="rect">
            <a:avLst/>
          </a:prstGeom>
          <a:noFill/>
        </p:spPr>
        <p:txBody>
          <a:bodyPr wrap="square" lIns="18288" tIns="18288" rIns="18288" bIns="18288" anchor="t">
            <a:spAutoFit/>
          </a:bodyPr>
          <a:lstStyle/>
          <a:p>
            <a:pPr algn="l">
              <a:lnSpc>
                <a:spcPct val="110000"/>
              </a:lnSpc>
            </a:pPr>
            <a:r>
              <a:rPr sz="1700" b="0" i="0">
                <a:solidFill>
                  <a:srgbClr val="222833"/>
                </a:solidFill>
                <a:latin typeface="微软雅黑"/>
              </a:rPr>
              <a:t>便于独立开发、替换与维护。</a:t>
            </a:r>
          </a:p>
        </p:txBody>
      </p:sp>
      <p:sp>
        <p:nvSpPr>
          <p:cNvPr id="21" name="Rounded Rectangle 20"/>
          <p:cNvSpPr/>
          <p:nvPr/>
        </p:nvSpPr>
        <p:spPr>
          <a:xfrm>
            <a:off x="4096512" y="4526280"/>
            <a:ext cx="3182112" cy="123444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096512" y="4526280"/>
            <a:ext cx="77724" cy="123444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315968" y="470916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实时性</a:t>
            </a:r>
          </a:p>
        </p:txBody>
      </p:sp>
      <p:sp>
        <p:nvSpPr>
          <p:cNvPr id="24" name="TextBox 23"/>
          <p:cNvSpPr txBox="1"/>
          <p:nvPr/>
        </p:nvSpPr>
        <p:spPr>
          <a:xfrm>
            <a:off x="4315968" y="5184648"/>
            <a:ext cx="2798064" cy="448056"/>
          </a:xfrm>
          <a:prstGeom prst="rect">
            <a:avLst/>
          </a:prstGeom>
          <a:noFill/>
        </p:spPr>
        <p:txBody>
          <a:bodyPr wrap="square" lIns="18288" tIns="18288" rIns="18288" bIns="18288" anchor="t">
            <a:spAutoFit/>
          </a:bodyPr>
          <a:lstStyle/>
          <a:p>
            <a:pPr algn="l">
              <a:lnSpc>
                <a:spcPct val="110000"/>
              </a:lnSpc>
            </a:pPr>
            <a:r>
              <a:rPr sz="1700" b="0" i="0">
                <a:solidFill>
                  <a:srgbClr val="222833"/>
                </a:solidFill>
                <a:latin typeface="微软雅黑"/>
              </a:rPr>
              <a:t>可对动态环境持续响应。</a:t>
            </a:r>
          </a:p>
        </p:txBody>
      </p:sp>
      <p:sp>
        <p:nvSpPr>
          <p:cNvPr id="25" name="Rounded Rectangle 24"/>
          <p:cNvSpPr/>
          <p:nvPr/>
        </p:nvSpPr>
        <p:spPr>
          <a:xfrm>
            <a:off x="7552944" y="4526280"/>
            <a:ext cx="3182112" cy="123444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7552944" y="4526280"/>
            <a:ext cx="77724" cy="123444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72400" y="470916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C58A24"/>
                </a:solidFill>
                <a:latin typeface="微软雅黑"/>
              </a:rPr>
              <a:t>可扩展性</a:t>
            </a:r>
          </a:p>
        </p:txBody>
      </p:sp>
      <p:sp>
        <p:nvSpPr>
          <p:cNvPr id="28" name="TextBox 27"/>
          <p:cNvSpPr txBox="1"/>
          <p:nvPr/>
        </p:nvSpPr>
        <p:spPr>
          <a:xfrm>
            <a:off x="7772400" y="5184648"/>
            <a:ext cx="2798064" cy="448056"/>
          </a:xfrm>
          <a:prstGeom prst="rect">
            <a:avLst/>
          </a:prstGeom>
          <a:noFill/>
        </p:spPr>
        <p:txBody>
          <a:bodyPr wrap="square" lIns="18288" tIns="18288" rIns="18288" bIns="18288" anchor="t">
            <a:spAutoFit/>
          </a:bodyPr>
          <a:lstStyle/>
          <a:p>
            <a:pPr algn="l">
              <a:lnSpc>
                <a:spcPct val="110000"/>
              </a:lnSpc>
            </a:pPr>
            <a:r>
              <a:rPr sz="1700" b="0" i="0">
                <a:solidFill>
                  <a:srgbClr val="222833"/>
                </a:solidFill>
                <a:latin typeface="微软雅黑"/>
              </a:rPr>
              <a:t>可以融入强化学习与大模型。</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6.5.2 经典分层式具身导航框架：五个层次</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81</a:t>
            </a:r>
          </a:p>
        </p:txBody>
      </p:sp>
      <p:sp>
        <p:nvSpPr>
          <p:cNvPr id="9" name="Rounded Rectangle 8"/>
          <p:cNvSpPr/>
          <p:nvPr/>
        </p:nvSpPr>
        <p:spPr>
          <a:xfrm>
            <a:off x="685800" y="1965960"/>
            <a:ext cx="2015337"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1965960"/>
            <a:ext cx="2015337" cy="82296"/>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5528"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31599B"/>
                </a:solidFill>
                <a:latin typeface="微软雅黑"/>
              </a:rPr>
              <a:t>1</a:t>
            </a:r>
          </a:p>
        </p:txBody>
      </p:sp>
      <p:sp>
        <p:nvSpPr>
          <p:cNvPr id="12" name="TextBox 11"/>
          <p:cNvSpPr txBox="1"/>
          <p:nvPr/>
        </p:nvSpPr>
        <p:spPr>
          <a:xfrm>
            <a:off x="1188720" y="2130552"/>
            <a:ext cx="1393545" cy="329184"/>
          </a:xfrm>
          <a:prstGeom prst="rect">
            <a:avLst/>
          </a:prstGeom>
          <a:noFill/>
        </p:spPr>
        <p:txBody>
          <a:bodyPr wrap="square" lIns="18288" tIns="18288" rIns="18288" bIns="18288" anchor="t">
            <a:spAutoFit/>
          </a:bodyPr>
          <a:lstStyle/>
          <a:p>
            <a:pPr algn="l">
              <a:lnSpc>
                <a:spcPct val="105000"/>
              </a:lnSpc>
            </a:pPr>
            <a:r>
              <a:rPr sz="1900" b="1" i="0">
                <a:solidFill>
                  <a:srgbClr val="31599B"/>
                </a:solidFill>
                <a:latin typeface="微软雅黑"/>
              </a:rPr>
              <a:t>感知与定位</a:t>
            </a:r>
          </a:p>
        </p:txBody>
      </p:sp>
      <p:sp>
        <p:nvSpPr>
          <p:cNvPr id="13" name="TextBox 12"/>
          <p:cNvSpPr txBox="1"/>
          <p:nvPr/>
        </p:nvSpPr>
        <p:spPr>
          <a:xfrm>
            <a:off x="832104" y="2569464"/>
            <a:ext cx="1722729"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AMCL 或 SLAM</a:t>
            </a:r>
          </a:p>
        </p:txBody>
      </p:sp>
      <p:sp>
        <p:nvSpPr>
          <p:cNvPr id="14" name="Rectangle 13"/>
          <p:cNvSpPr/>
          <p:nvPr/>
        </p:nvSpPr>
        <p:spPr>
          <a:xfrm>
            <a:off x="2737713" y="2551176"/>
            <a:ext cx="128016" cy="256032"/>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2902305" y="1965960"/>
            <a:ext cx="2015337"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902305" y="1965960"/>
            <a:ext cx="2015337" cy="82296"/>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902305" y="2121408"/>
            <a:ext cx="347472" cy="347472"/>
          </a:xfrm>
          <a:prstGeom prst="rect">
            <a:avLst/>
          </a:prstGeom>
          <a:noFill/>
        </p:spPr>
        <p:txBody>
          <a:bodyPr wrap="square" lIns="18288" tIns="18288" rIns="18288" bIns="18288" anchor="t">
            <a:spAutoFit/>
          </a:bodyPr>
          <a:lstStyle/>
          <a:p>
            <a:pPr algn="ctr">
              <a:lnSpc>
                <a:spcPct val="105000"/>
              </a:lnSpc>
            </a:pPr>
            <a:r>
              <a:rPr sz="2100" b="1" i="0" dirty="0">
                <a:solidFill>
                  <a:srgbClr val="2F8E72"/>
                </a:solidFill>
                <a:latin typeface="微软雅黑"/>
              </a:rPr>
              <a:t>2</a:t>
            </a:r>
          </a:p>
        </p:txBody>
      </p:sp>
      <p:sp>
        <p:nvSpPr>
          <p:cNvPr id="18" name="TextBox 17"/>
          <p:cNvSpPr txBox="1"/>
          <p:nvPr/>
        </p:nvSpPr>
        <p:spPr>
          <a:xfrm>
            <a:off x="3158336" y="2121408"/>
            <a:ext cx="1869034" cy="325217"/>
          </a:xfrm>
          <a:prstGeom prst="rect">
            <a:avLst/>
          </a:prstGeom>
          <a:noFill/>
        </p:spPr>
        <p:txBody>
          <a:bodyPr wrap="square" lIns="18288" tIns="18288" rIns="18288" bIns="18288" anchor="t">
            <a:spAutoFit/>
          </a:bodyPr>
          <a:lstStyle/>
          <a:p>
            <a:pPr algn="l">
              <a:lnSpc>
                <a:spcPct val="105000"/>
              </a:lnSpc>
            </a:pPr>
            <a:r>
              <a:rPr sz="1900" b="1" i="0" dirty="0" err="1">
                <a:solidFill>
                  <a:srgbClr val="2F8E72"/>
                </a:solidFill>
                <a:latin typeface="微软雅黑"/>
              </a:rPr>
              <a:t>地图与代价地图</a:t>
            </a:r>
            <a:endParaRPr sz="1900" b="1" i="0" dirty="0">
              <a:solidFill>
                <a:srgbClr val="2F8E72"/>
              </a:solidFill>
              <a:latin typeface="微软雅黑"/>
            </a:endParaRPr>
          </a:p>
        </p:txBody>
      </p:sp>
      <p:sp>
        <p:nvSpPr>
          <p:cNvPr id="19" name="TextBox 18"/>
          <p:cNvSpPr txBox="1"/>
          <p:nvPr/>
        </p:nvSpPr>
        <p:spPr>
          <a:xfrm>
            <a:off x="3048609" y="2569464"/>
            <a:ext cx="1722729"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静态图 + 传感器障碍信息</a:t>
            </a:r>
          </a:p>
        </p:txBody>
      </p:sp>
      <p:sp>
        <p:nvSpPr>
          <p:cNvPr id="20" name="Rectangle 19"/>
          <p:cNvSpPr/>
          <p:nvPr/>
        </p:nvSpPr>
        <p:spPr>
          <a:xfrm>
            <a:off x="4954219" y="2551176"/>
            <a:ext cx="128016" cy="256032"/>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118811" y="1965960"/>
            <a:ext cx="2015337"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118811" y="1965960"/>
            <a:ext cx="2015337" cy="82296"/>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228539"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58A24"/>
                </a:solidFill>
                <a:latin typeface="微软雅黑"/>
              </a:rPr>
              <a:t>3</a:t>
            </a:r>
          </a:p>
        </p:txBody>
      </p:sp>
      <p:sp>
        <p:nvSpPr>
          <p:cNvPr id="24" name="TextBox 23"/>
          <p:cNvSpPr txBox="1"/>
          <p:nvPr/>
        </p:nvSpPr>
        <p:spPr>
          <a:xfrm>
            <a:off x="5621731" y="2130552"/>
            <a:ext cx="1393545" cy="329184"/>
          </a:xfrm>
          <a:prstGeom prst="rect">
            <a:avLst/>
          </a:prstGeom>
          <a:noFill/>
        </p:spPr>
        <p:txBody>
          <a:bodyPr wrap="square" lIns="18288" tIns="18288" rIns="18288" bIns="18288" anchor="t">
            <a:spAutoFit/>
          </a:bodyPr>
          <a:lstStyle/>
          <a:p>
            <a:pPr algn="l">
              <a:lnSpc>
                <a:spcPct val="105000"/>
              </a:lnSpc>
            </a:pPr>
            <a:r>
              <a:rPr sz="1900" b="1" i="0">
                <a:solidFill>
                  <a:srgbClr val="C58A24"/>
                </a:solidFill>
                <a:latin typeface="微软雅黑"/>
              </a:rPr>
              <a:t>全局规划</a:t>
            </a:r>
          </a:p>
        </p:txBody>
      </p:sp>
      <p:sp>
        <p:nvSpPr>
          <p:cNvPr id="25" name="TextBox 24"/>
          <p:cNvSpPr txBox="1"/>
          <p:nvPr/>
        </p:nvSpPr>
        <p:spPr>
          <a:xfrm>
            <a:off x="5265115" y="2569464"/>
            <a:ext cx="1722729"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Dijkstra / A*</a:t>
            </a:r>
          </a:p>
        </p:txBody>
      </p:sp>
      <p:sp>
        <p:nvSpPr>
          <p:cNvPr id="26" name="Rectangle 25"/>
          <p:cNvSpPr/>
          <p:nvPr/>
        </p:nvSpPr>
        <p:spPr>
          <a:xfrm>
            <a:off x="7170724" y="2551176"/>
            <a:ext cx="128016" cy="256032"/>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7335316" y="1965960"/>
            <a:ext cx="2015337"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335316" y="1965960"/>
            <a:ext cx="2015337" cy="82296"/>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445044"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63F45"/>
                </a:solidFill>
                <a:latin typeface="微软雅黑"/>
              </a:rPr>
              <a:t>4</a:t>
            </a:r>
          </a:p>
        </p:txBody>
      </p:sp>
      <p:sp>
        <p:nvSpPr>
          <p:cNvPr id="30" name="TextBox 29"/>
          <p:cNvSpPr txBox="1"/>
          <p:nvPr/>
        </p:nvSpPr>
        <p:spPr>
          <a:xfrm>
            <a:off x="7838236" y="2130552"/>
            <a:ext cx="1393545" cy="329184"/>
          </a:xfrm>
          <a:prstGeom prst="rect">
            <a:avLst/>
          </a:prstGeom>
          <a:noFill/>
        </p:spPr>
        <p:txBody>
          <a:bodyPr wrap="square" lIns="18288" tIns="18288" rIns="18288" bIns="18288" anchor="t">
            <a:spAutoFit/>
          </a:bodyPr>
          <a:lstStyle/>
          <a:p>
            <a:pPr algn="l">
              <a:lnSpc>
                <a:spcPct val="105000"/>
              </a:lnSpc>
            </a:pPr>
            <a:r>
              <a:rPr sz="1900" b="1" i="0">
                <a:solidFill>
                  <a:srgbClr val="C63F45"/>
                </a:solidFill>
                <a:latin typeface="微软雅黑"/>
              </a:rPr>
              <a:t>局部规划</a:t>
            </a:r>
          </a:p>
        </p:txBody>
      </p:sp>
      <p:sp>
        <p:nvSpPr>
          <p:cNvPr id="31" name="TextBox 30"/>
          <p:cNvSpPr txBox="1"/>
          <p:nvPr/>
        </p:nvSpPr>
        <p:spPr>
          <a:xfrm>
            <a:off x="7481620" y="2569464"/>
            <a:ext cx="1722729"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DWA / TEB</a:t>
            </a:r>
          </a:p>
        </p:txBody>
      </p:sp>
      <p:sp>
        <p:nvSpPr>
          <p:cNvPr id="32" name="Rectangle 31"/>
          <p:cNvSpPr/>
          <p:nvPr/>
        </p:nvSpPr>
        <p:spPr>
          <a:xfrm>
            <a:off x="9387230" y="2551176"/>
            <a:ext cx="128016" cy="256032"/>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9551822" y="1965960"/>
            <a:ext cx="2015337"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9551822" y="1965960"/>
            <a:ext cx="2015337" cy="82296"/>
          </a:xfrm>
          <a:prstGeom prst="rect">
            <a:avLst/>
          </a:prstGeom>
          <a:solidFill>
            <a:srgbClr val="755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661550"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7558A8"/>
                </a:solidFill>
                <a:latin typeface="微软雅黑"/>
              </a:rPr>
              <a:t>5</a:t>
            </a:r>
          </a:p>
        </p:txBody>
      </p:sp>
      <p:sp>
        <p:nvSpPr>
          <p:cNvPr id="36" name="TextBox 35"/>
          <p:cNvSpPr txBox="1"/>
          <p:nvPr/>
        </p:nvSpPr>
        <p:spPr>
          <a:xfrm>
            <a:off x="10054742" y="2130552"/>
            <a:ext cx="1393545" cy="329184"/>
          </a:xfrm>
          <a:prstGeom prst="rect">
            <a:avLst/>
          </a:prstGeom>
          <a:noFill/>
        </p:spPr>
        <p:txBody>
          <a:bodyPr wrap="square" lIns="18288" tIns="18288" rIns="18288" bIns="18288" anchor="t">
            <a:spAutoFit/>
          </a:bodyPr>
          <a:lstStyle/>
          <a:p>
            <a:pPr algn="l">
              <a:lnSpc>
                <a:spcPct val="105000"/>
              </a:lnSpc>
            </a:pPr>
            <a:r>
              <a:rPr sz="1900" b="1" i="0">
                <a:solidFill>
                  <a:srgbClr val="7558A8"/>
                </a:solidFill>
                <a:latin typeface="微软雅黑"/>
              </a:rPr>
              <a:t>控制执行</a:t>
            </a:r>
          </a:p>
        </p:txBody>
      </p:sp>
      <p:sp>
        <p:nvSpPr>
          <p:cNvPr id="37" name="TextBox 36"/>
          <p:cNvSpPr txBox="1"/>
          <p:nvPr/>
        </p:nvSpPr>
        <p:spPr>
          <a:xfrm>
            <a:off x="9698126" y="2569464"/>
            <a:ext cx="1722729"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底盘控制器 + 电机 PID</a:t>
            </a:r>
          </a:p>
        </p:txBody>
      </p:sp>
      <p:sp>
        <p:nvSpPr>
          <p:cNvPr id="38" name="TextBox 37"/>
          <p:cNvSpPr txBox="1"/>
          <p:nvPr/>
        </p:nvSpPr>
        <p:spPr>
          <a:xfrm>
            <a:off x="2651760" y="4389120"/>
            <a:ext cx="6949440" cy="431337"/>
          </a:xfrm>
          <a:prstGeom prst="rect">
            <a:avLst/>
          </a:prstGeom>
          <a:noFill/>
        </p:spPr>
        <p:txBody>
          <a:bodyPr wrap="square" lIns="18288" tIns="18288" rIns="18288" bIns="18288" anchor="t">
            <a:spAutoFit/>
          </a:bodyPr>
          <a:lstStyle/>
          <a:p>
            <a:pPr algn="ctr">
              <a:lnSpc>
                <a:spcPct val="105000"/>
              </a:lnSpc>
            </a:pPr>
            <a:r>
              <a:rPr sz="2600" b="1" i="0" dirty="0" err="1">
                <a:solidFill>
                  <a:srgbClr val="24477D"/>
                </a:solidFill>
                <a:latin typeface="微软雅黑"/>
              </a:rPr>
              <a:t>代表：ROS</a:t>
            </a:r>
            <a:r>
              <a:rPr sz="2600" b="1" i="0" dirty="0">
                <a:solidFill>
                  <a:srgbClr val="24477D"/>
                </a:solidFill>
                <a:latin typeface="微软雅黑"/>
              </a:rPr>
              <a:t> Navigation Stack</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感知定位层 + 地图与代价地图层</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82</a:t>
            </a:r>
          </a:p>
        </p:txBody>
      </p:sp>
      <p:sp>
        <p:nvSpPr>
          <p:cNvPr id="9" name="Rounded Rectangle 8"/>
          <p:cNvSpPr/>
          <p:nvPr/>
        </p:nvSpPr>
        <p:spPr>
          <a:xfrm>
            <a:off x="685800" y="1828800"/>
            <a:ext cx="5230368" cy="310896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1828800"/>
            <a:ext cx="77724" cy="310896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5256" y="201168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感知与定位层</a:t>
            </a:r>
          </a:p>
        </p:txBody>
      </p:sp>
      <p:sp>
        <p:nvSpPr>
          <p:cNvPr id="12" name="TextBox 11"/>
          <p:cNvSpPr txBox="1"/>
          <p:nvPr/>
        </p:nvSpPr>
        <p:spPr>
          <a:xfrm>
            <a:off x="905256" y="2487168"/>
            <a:ext cx="4846320" cy="2322576"/>
          </a:xfrm>
          <a:prstGeom prst="rect">
            <a:avLst/>
          </a:prstGeom>
          <a:noFill/>
        </p:spPr>
        <p:txBody>
          <a:bodyPr wrap="square" lIns="18288" tIns="18288" rIns="18288" bIns="18288" anchor="t">
            <a:spAutoFit/>
          </a:bodyPr>
          <a:lstStyle/>
          <a:p>
            <a:pPr algn="l">
              <a:lnSpc>
                <a:spcPct val="110000"/>
              </a:lnSpc>
            </a:pPr>
            <a:r>
              <a:rPr sz="2000" b="0" i="0">
                <a:solidFill>
                  <a:srgbClr val="222833"/>
                </a:solidFill>
                <a:latin typeface="微软雅黑"/>
              </a:rPr>
              <a:t>已知地图：AMCL 实时定位。
未知环境：SLAM 同步定位与建图。</a:t>
            </a:r>
          </a:p>
        </p:txBody>
      </p:sp>
      <p:sp>
        <p:nvSpPr>
          <p:cNvPr id="13" name="Rounded Rectangle 12"/>
          <p:cNvSpPr/>
          <p:nvPr/>
        </p:nvSpPr>
        <p:spPr>
          <a:xfrm>
            <a:off x="6199632" y="1828800"/>
            <a:ext cx="5230368" cy="310896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99632" y="1828800"/>
            <a:ext cx="77724" cy="310896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19088" y="201168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地图与代价地图层</a:t>
            </a:r>
          </a:p>
        </p:txBody>
      </p:sp>
      <p:sp>
        <p:nvSpPr>
          <p:cNvPr id="16" name="TextBox 15"/>
          <p:cNvSpPr txBox="1"/>
          <p:nvPr/>
        </p:nvSpPr>
        <p:spPr>
          <a:xfrm>
            <a:off x="6419088" y="2487168"/>
            <a:ext cx="4846320" cy="232257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融合静态地图、LiDAR、深度相机等，构建全局与局部代价地图，为路径规划和避障提供环境表示。</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全局规划层 + 局部规划层</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83</a:t>
            </a:r>
          </a:p>
        </p:txBody>
      </p:sp>
      <p:sp>
        <p:nvSpPr>
          <p:cNvPr id="9" name="Rounded Rectangle 8"/>
          <p:cNvSpPr/>
          <p:nvPr/>
        </p:nvSpPr>
        <p:spPr>
          <a:xfrm>
            <a:off x="685800" y="1828800"/>
            <a:ext cx="5230368" cy="310896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1828800"/>
            <a:ext cx="77724" cy="310896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5256" y="201168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全局规划层</a:t>
            </a:r>
          </a:p>
        </p:txBody>
      </p:sp>
      <p:sp>
        <p:nvSpPr>
          <p:cNvPr id="12" name="TextBox 11"/>
          <p:cNvSpPr txBox="1"/>
          <p:nvPr/>
        </p:nvSpPr>
        <p:spPr>
          <a:xfrm>
            <a:off x="905256" y="2487168"/>
            <a:ext cx="4846320" cy="2322576"/>
          </a:xfrm>
          <a:prstGeom prst="rect">
            <a:avLst/>
          </a:prstGeom>
          <a:noFill/>
        </p:spPr>
        <p:txBody>
          <a:bodyPr wrap="square" lIns="18288" tIns="18288" rIns="18288" bIns="18288" anchor="t">
            <a:spAutoFit/>
          </a:bodyPr>
          <a:lstStyle/>
          <a:p>
            <a:pPr algn="l">
              <a:lnSpc>
                <a:spcPct val="110000"/>
              </a:lnSpc>
            </a:pPr>
            <a:r>
              <a:rPr sz="2000" b="0" i="0">
                <a:solidFill>
                  <a:srgbClr val="222833"/>
                </a:solidFill>
                <a:latin typeface="微软雅黑"/>
              </a:rPr>
              <a:t>在全局代价地图上使用 Dijkstra、A* 等搜索低代价全局路径。</a:t>
            </a:r>
          </a:p>
        </p:txBody>
      </p:sp>
      <p:sp>
        <p:nvSpPr>
          <p:cNvPr id="13" name="Rounded Rectangle 12"/>
          <p:cNvSpPr/>
          <p:nvPr/>
        </p:nvSpPr>
        <p:spPr>
          <a:xfrm>
            <a:off x="6199632" y="1828800"/>
            <a:ext cx="5230368" cy="310896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99632" y="1828800"/>
            <a:ext cx="77724" cy="310896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19088" y="201168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C58A24"/>
                </a:solidFill>
                <a:latin typeface="微软雅黑"/>
              </a:rPr>
              <a:t>局部规划层</a:t>
            </a:r>
          </a:p>
        </p:txBody>
      </p:sp>
      <p:sp>
        <p:nvSpPr>
          <p:cNvPr id="16" name="TextBox 15"/>
          <p:cNvSpPr txBox="1"/>
          <p:nvPr/>
        </p:nvSpPr>
        <p:spPr>
          <a:xfrm>
            <a:off x="6419088" y="2487168"/>
            <a:ext cx="4846320" cy="2322576"/>
          </a:xfrm>
          <a:prstGeom prst="rect">
            <a:avLst/>
          </a:prstGeom>
          <a:noFill/>
        </p:spPr>
        <p:txBody>
          <a:bodyPr wrap="square" lIns="18288" tIns="18288" rIns="18288" bIns="18288" anchor="t">
            <a:spAutoFit/>
          </a:bodyPr>
          <a:lstStyle/>
          <a:p>
            <a:pPr algn="l">
              <a:lnSpc>
                <a:spcPct val="110000"/>
              </a:lnSpc>
            </a:pPr>
            <a:r>
              <a:rPr sz="2000" b="0" i="0">
                <a:solidFill>
                  <a:srgbClr val="222833"/>
                </a:solidFill>
                <a:latin typeface="微软雅黑"/>
              </a:rPr>
              <a:t>DWA、TEB 等根据当前障碍物和机器人状态实时避障、平滑轨迹并跟踪全局路径。</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控制执行层：把规划结果变成底盘运动</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84</a:t>
            </a:r>
          </a:p>
        </p:txBody>
      </p:sp>
      <p:sp>
        <p:nvSpPr>
          <p:cNvPr id="9" name="TextBox 8"/>
          <p:cNvSpPr txBox="1"/>
          <p:nvPr/>
        </p:nvSpPr>
        <p:spPr>
          <a:xfrm>
            <a:off x="822960" y="1737360"/>
            <a:ext cx="10515600" cy="868680"/>
          </a:xfrm>
          <a:prstGeom prst="rect">
            <a:avLst/>
          </a:prstGeom>
          <a:noFill/>
        </p:spPr>
        <p:txBody>
          <a:bodyPr wrap="square" lIns="18288" tIns="18288" rIns="18288" bIns="18288" anchor="t">
            <a:spAutoFit/>
          </a:bodyPr>
          <a:lstStyle/>
          <a:p>
            <a:pPr algn="ctr">
              <a:lnSpc>
                <a:spcPct val="105000"/>
              </a:lnSpc>
            </a:pPr>
            <a:r>
              <a:rPr sz="2100" b="0" i="0">
                <a:solidFill>
                  <a:srgbClr val="222833"/>
                </a:solidFill>
                <a:latin typeface="微软雅黑"/>
              </a:rPr>
              <a:t>局部规划器输出速度指令，底盘控制器根据运动形式生成电机命令，并通过 PID 等闭环控制保证实际运动跟随目标。</a:t>
            </a:r>
          </a:p>
        </p:txBody>
      </p:sp>
      <p:sp>
        <p:nvSpPr>
          <p:cNvPr id="10" name="Rounded Rectangle 9"/>
          <p:cNvSpPr/>
          <p:nvPr/>
        </p:nvSpPr>
        <p:spPr>
          <a:xfrm>
            <a:off x="640080" y="3017520"/>
            <a:ext cx="3182112" cy="219456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3017520"/>
            <a:ext cx="77724" cy="219456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320040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差分驱动</a:t>
            </a:r>
          </a:p>
        </p:txBody>
      </p:sp>
      <p:sp>
        <p:nvSpPr>
          <p:cNvPr id="13" name="TextBox 12"/>
          <p:cNvSpPr txBox="1"/>
          <p:nvPr/>
        </p:nvSpPr>
        <p:spPr>
          <a:xfrm>
            <a:off x="859536" y="3675887"/>
            <a:ext cx="2798064" cy="1408176"/>
          </a:xfrm>
          <a:prstGeom prst="rect">
            <a:avLst/>
          </a:prstGeom>
          <a:noFill/>
        </p:spPr>
        <p:txBody>
          <a:bodyPr wrap="square" lIns="18288" tIns="18288" rIns="18288" bIns="18288" anchor="t">
            <a:spAutoFit/>
          </a:bodyPr>
          <a:lstStyle/>
          <a:p>
            <a:pPr algn="l">
              <a:lnSpc>
                <a:spcPct val="110000"/>
              </a:lnSpc>
            </a:pPr>
            <a:r>
              <a:rPr sz="1900" b="0" i="0">
                <a:solidFill>
                  <a:srgbClr val="222833"/>
                </a:solidFill>
                <a:latin typeface="微软雅黑"/>
              </a:rPr>
              <a:t>左右轮速度差产生转向。</a:t>
            </a:r>
          </a:p>
        </p:txBody>
      </p:sp>
      <p:sp>
        <p:nvSpPr>
          <p:cNvPr id="14" name="Rounded Rectangle 13"/>
          <p:cNvSpPr/>
          <p:nvPr/>
        </p:nvSpPr>
        <p:spPr>
          <a:xfrm>
            <a:off x="4096512" y="3017520"/>
            <a:ext cx="3182112" cy="219456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096512" y="3017520"/>
            <a:ext cx="77724" cy="219456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15968" y="320040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全向轮</a:t>
            </a:r>
          </a:p>
        </p:txBody>
      </p:sp>
      <p:sp>
        <p:nvSpPr>
          <p:cNvPr id="17" name="TextBox 16"/>
          <p:cNvSpPr txBox="1"/>
          <p:nvPr/>
        </p:nvSpPr>
        <p:spPr>
          <a:xfrm>
            <a:off x="4315968" y="3675887"/>
            <a:ext cx="2798064" cy="1408176"/>
          </a:xfrm>
          <a:prstGeom prst="rect">
            <a:avLst/>
          </a:prstGeom>
          <a:noFill/>
        </p:spPr>
        <p:txBody>
          <a:bodyPr wrap="square" lIns="18288" tIns="18288" rIns="18288" bIns="18288" anchor="t">
            <a:spAutoFit/>
          </a:bodyPr>
          <a:lstStyle/>
          <a:p>
            <a:pPr algn="l">
              <a:lnSpc>
                <a:spcPct val="110000"/>
              </a:lnSpc>
            </a:pPr>
            <a:r>
              <a:rPr sz="1900" b="0" i="0">
                <a:solidFill>
                  <a:srgbClr val="222833"/>
                </a:solidFill>
                <a:latin typeface="微软雅黑"/>
              </a:rPr>
              <a:t>支持更灵活的平面移动。</a:t>
            </a:r>
          </a:p>
        </p:txBody>
      </p:sp>
      <p:sp>
        <p:nvSpPr>
          <p:cNvPr id="18" name="Rounded Rectangle 17"/>
          <p:cNvSpPr/>
          <p:nvPr/>
        </p:nvSpPr>
        <p:spPr>
          <a:xfrm>
            <a:off x="7552944" y="3017520"/>
            <a:ext cx="3182112" cy="219456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552944" y="3017520"/>
            <a:ext cx="77724" cy="219456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72400" y="320040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C58A24"/>
                </a:solidFill>
                <a:latin typeface="微软雅黑"/>
              </a:rPr>
              <a:t>阿克曼转向</a:t>
            </a:r>
          </a:p>
        </p:txBody>
      </p:sp>
      <p:sp>
        <p:nvSpPr>
          <p:cNvPr id="21" name="TextBox 20"/>
          <p:cNvSpPr txBox="1"/>
          <p:nvPr/>
        </p:nvSpPr>
        <p:spPr>
          <a:xfrm>
            <a:off x="7772400" y="3675887"/>
            <a:ext cx="2798064" cy="1408176"/>
          </a:xfrm>
          <a:prstGeom prst="rect">
            <a:avLst/>
          </a:prstGeom>
          <a:noFill/>
        </p:spPr>
        <p:txBody>
          <a:bodyPr wrap="square" lIns="18288" tIns="18288" rIns="18288" bIns="18288" anchor="t">
            <a:spAutoFit/>
          </a:bodyPr>
          <a:lstStyle/>
          <a:p>
            <a:pPr algn="l">
              <a:lnSpc>
                <a:spcPct val="110000"/>
              </a:lnSpc>
            </a:pPr>
            <a:r>
              <a:rPr sz="1900" b="0" i="0">
                <a:solidFill>
                  <a:srgbClr val="222833"/>
                </a:solidFill>
                <a:latin typeface="微软雅黑"/>
              </a:rPr>
              <a:t>类似车辆转向机构。</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ROS move_base：经典分层导航框架的核心执行节点</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85</a:t>
            </a:r>
          </a:p>
        </p:txBody>
      </p:sp>
      <p:pic>
        <p:nvPicPr>
          <p:cNvPr id="9" name="Picture 8" descr="fig16.png"/>
          <p:cNvPicPr>
            <a:picLocks noChangeAspect="1"/>
          </p:cNvPicPr>
          <p:nvPr/>
        </p:nvPicPr>
        <p:blipFill>
          <a:blip r:embed="rId2"/>
          <a:stretch>
            <a:fillRect/>
          </a:stretch>
        </p:blipFill>
        <p:spPr>
          <a:xfrm>
            <a:off x="2124221" y="1691640"/>
            <a:ext cx="7913076" cy="4343400"/>
          </a:xfrm>
          <a:prstGeom prst="rect">
            <a:avLst/>
          </a:prstGeom>
        </p:spPr>
      </p:pic>
      <p:sp>
        <p:nvSpPr>
          <p:cNvPr id="10" name="TextBox 9"/>
          <p:cNvSpPr txBox="1"/>
          <p:nvPr/>
        </p:nvSpPr>
        <p:spPr>
          <a:xfrm>
            <a:off x="914400" y="6080759"/>
            <a:ext cx="10332720" cy="234103"/>
          </a:xfrm>
          <a:prstGeom prst="rect">
            <a:avLst/>
          </a:prstGeom>
          <a:noFill/>
        </p:spPr>
        <p:txBody>
          <a:bodyPr wrap="square" lIns="18288" tIns="18288" rIns="18288" bIns="18288" anchor="t">
            <a:spAutoFit/>
          </a:bodyPr>
          <a:lstStyle/>
          <a:p>
            <a:pPr algn="ctr">
              <a:lnSpc>
                <a:spcPct val="105000"/>
              </a:lnSpc>
            </a:pPr>
            <a:r>
              <a:rPr sz="1300" b="1" i="0" dirty="0" err="1">
                <a:solidFill>
                  <a:srgbClr val="24477D"/>
                </a:solidFill>
                <a:latin typeface="微软雅黑"/>
              </a:rPr>
              <a:t>基于</a:t>
            </a:r>
            <a:r>
              <a:rPr sz="1300" b="1" i="0" dirty="0">
                <a:solidFill>
                  <a:srgbClr val="24477D"/>
                </a:solidFill>
                <a:latin typeface="微软雅黑"/>
              </a:rPr>
              <a:t> ROS </a:t>
            </a:r>
            <a:r>
              <a:rPr sz="1300" b="1" i="0" dirty="0" err="1">
                <a:solidFill>
                  <a:srgbClr val="24477D"/>
                </a:solidFill>
                <a:latin typeface="微软雅黑"/>
              </a:rPr>
              <a:t>move_base</a:t>
            </a:r>
            <a:r>
              <a:rPr sz="1300" b="1" i="0" dirty="0">
                <a:solidFill>
                  <a:srgbClr val="24477D"/>
                </a:solidFill>
                <a:latin typeface="微软雅黑"/>
              </a:rPr>
              <a:t> </a:t>
            </a:r>
            <a:r>
              <a:rPr sz="1300" b="1" i="0" dirty="0" err="1">
                <a:solidFill>
                  <a:srgbClr val="24477D"/>
                </a:solidFill>
                <a:latin typeface="微软雅黑"/>
              </a:rPr>
              <a:t>的经典分层式具身导航框架模块流程图</a:t>
            </a:r>
            <a:endParaRPr sz="1300" b="1" i="0" dirty="0">
              <a:solidFill>
                <a:srgbClr val="24477D"/>
              </a:solidFill>
              <a:latin typeface="微软雅黑"/>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经典分层式框架：为什么长期成为主流？</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86</a:t>
            </a:r>
          </a:p>
        </p:txBody>
      </p:sp>
      <p:sp>
        <p:nvSpPr>
          <p:cNvPr id="9" name="Rounded Rectangle 8"/>
          <p:cNvSpPr/>
          <p:nvPr/>
        </p:nvSpPr>
        <p:spPr>
          <a:xfrm>
            <a:off x="685800" y="1874519"/>
            <a:ext cx="5230368" cy="292608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1874519"/>
            <a:ext cx="77724" cy="292608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5256" y="205740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优势</a:t>
            </a:r>
          </a:p>
        </p:txBody>
      </p:sp>
      <p:sp>
        <p:nvSpPr>
          <p:cNvPr id="12" name="TextBox 11"/>
          <p:cNvSpPr txBox="1"/>
          <p:nvPr/>
        </p:nvSpPr>
        <p:spPr>
          <a:xfrm>
            <a:off x="905256" y="2532887"/>
            <a:ext cx="4846320" cy="2139696"/>
          </a:xfrm>
          <a:prstGeom prst="rect">
            <a:avLst/>
          </a:prstGeom>
          <a:noFill/>
        </p:spPr>
        <p:txBody>
          <a:bodyPr wrap="square" lIns="18288" tIns="18288" rIns="18288" bIns="18288" anchor="t">
            <a:spAutoFit/>
          </a:bodyPr>
          <a:lstStyle/>
          <a:p>
            <a:pPr algn="l">
              <a:lnSpc>
                <a:spcPct val="110000"/>
              </a:lnSpc>
            </a:pPr>
            <a:r>
              <a:rPr sz="2000" b="0" i="0">
                <a:solidFill>
                  <a:srgbClr val="222833"/>
                </a:solidFill>
                <a:latin typeface="微软雅黑"/>
              </a:rPr>
              <a:t>模块职责清晰、可解释、调试方便；工业和科研生态成熟。</a:t>
            </a:r>
          </a:p>
        </p:txBody>
      </p:sp>
      <p:sp>
        <p:nvSpPr>
          <p:cNvPr id="13" name="Rounded Rectangle 12"/>
          <p:cNvSpPr/>
          <p:nvPr/>
        </p:nvSpPr>
        <p:spPr>
          <a:xfrm>
            <a:off x="6199632" y="1874519"/>
            <a:ext cx="5230368" cy="292608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99632" y="1874519"/>
            <a:ext cx="77724" cy="292608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19088" y="205740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C63F45"/>
                </a:solidFill>
                <a:latin typeface="微软雅黑"/>
              </a:rPr>
              <a:t>局限</a:t>
            </a:r>
          </a:p>
        </p:txBody>
      </p:sp>
      <p:sp>
        <p:nvSpPr>
          <p:cNvPr id="16" name="TextBox 15"/>
          <p:cNvSpPr txBox="1"/>
          <p:nvPr/>
        </p:nvSpPr>
        <p:spPr>
          <a:xfrm>
            <a:off x="6419088" y="2532887"/>
            <a:ext cx="4846320" cy="2139696"/>
          </a:xfrm>
          <a:prstGeom prst="rect">
            <a:avLst/>
          </a:prstGeom>
          <a:noFill/>
        </p:spPr>
        <p:txBody>
          <a:bodyPr wrap="square" lIns="18288" tIns="18288" rIns="18288" bIns="18288" anchor="t">
            <a:spAutoFit/>
          </a:bodyPr>
          <a:lstStyle/>
          <a:p>
            <a:pPr algn="l">
              <a:lnSpc>
                <a:spcPct val="110000"/>
              </a:lnSpc>
            </a:pPr>
            <a:r>
              <a:rPr sz="1900" b="0" i="0">
                <a:solidFill>
                  <a:srgbClr val="222833"/>
                </a:solidFill>
                <a:latin typeface="微软雅黑"/>
              </a:rPr>
              <a:t>串行链路中误差会逐级累积；计算开销较大，对复杂动态环境的适应性相对有限。</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6.5.3 其他具身导航框架：从模块串行走向学习驱动</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87</a:t>
            </a:r>
          </a:p>
        </p:txBody>
      </p:sp>
      <p:sp>
        <p:nvSpPr>
          <p:cNvPr id="9" name="Rounded Rectangle 8"/>
          <p:cNvSpPr/>
          <p:nvPr/>
        </p:nvSpPr>
        <p:spPr>
          <a:xfrm>
            <a:off x="685800" y="1874519"/>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1874519"/>
            <a:ext cx="2569464" cy="82296"/>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5528" y="205740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31599B"/>
                </a:solidFill>
                <a:latin typeface="微软雅黑"/>
              </a:rPr>
              <a:t>1</a:t>
            </a:r>
          </a:p>
        </p:txBody>
      </p:sp>
      <p:sp>
        <p:nvSpPr>
          <p:cNvPr id="12" name="TextBox 11"/>
          <p:cNvSpPr txBox="1"/>
          <p:nvPr/>
        </p:nvSpPr>
        <p:spPr>
          <a:xfrm>
            <a:off x="1188720" y="203911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31599B"/>
                </a:solidFill>
                <a:latin typeface="微软雅黑"/>
              </a:rPr>
              <a:t>视觉模块</a:t>
            </a:r>
          </a:p>
        </p:txBody>
      </p:sp>
      <p:sp>
        <p:nvSpPr>
          <p:cNvPr id="13" name="TextBox 12"/>
          <p:cNvSpPr txBox="1"/>
          <p:nvPr/>
        </p:nvSpPr>
        <p:spPr>
          <a:xfrm>
            <a:off x="832104" y="247802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提取障碍/语义信息</a:t>
            </a:r>
          </a:p>
        </p:txBody>
      </p:sp>
      <p:sp>
        <p:nvSpPr>
          <p:cNvPr id="14" name="Rectangle 13"/>
          <p:cNvSpPr/>
          <p:nvPr/>
        </p:nvSpPr>
        <p:spPr>
          <a:xfrm>
            <a:off x="3291840" y="2459736"/>
            <a:ext cx="128016" cy="256032"/>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456432" y="1874519"/>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456432" y="1874519"/>
            <a:ext cx="2569464" cy="82296"/>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566160" y="205740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2F8E72"/>
                </a:solidFill>
                <a:latin typeface="微软雅黑"/>
              </a:rPr>
              <a:t>2</a:t>
            </a:r>
          </a:p>
        </p:txBody>
      </p:sp>
      <p:sp>
        <p:nvSpPr>
          <p:cNvPr id="18" name="TextBox 17"/>
          <p:cNvSpPr txBox="1"/>
          <p:nvPr/>
        </p:nvSpPr>
        <p:spPr>
          <a:xfrm>
            <a:off x="3959352" y="203911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2F8E72"/>
                </a:solidFill>
                <a:latin typeface="微软雅黑"/>
              </a:rPr>
              <a:t>SLAM</a:t>
            </a:r>
          </a:p>
        </p:txBody>
      </p:sp>
      <p:sp>
        <p:nvSpPr>
          <p:cNvPr id="19" name="TextBox 18"/>
          <p:cNvSpPr txBox="1"/>
          <p:nvPr/>
        </p:nvSpPr>
        <p:spPr>
          <a:xfrm>
            <a:off x="3602736" y="247802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估计位姿与地图</a:t>
            </a:r>
          </a:p>
        </p:txBody>
      </p:sp>
      <p:sp>
        <p:nvSpPr>
          <p:cNvPr id="20" name="Rectangle 19"/>
          <p:cNvSpPr/>
          <p:nvPr/>
        </p:nvSpPr>
        <p:spPr>
          <a:xfrm>
            <a:off x="6062472" y="2459736"/>
            <a:ext cx="128016" cy="256032"/>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227064" y="1874519"/>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27064" y="1874519"/>
            <a:ext cx="2569464" cy="82296"/>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36792" y="205740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58A24"/>
                </a:solidFill>
                <a:latin typeface="微软雅黑"/>
              </a:rPr>
              <a:t>3</a:t>
            </a:r>
          </a:p>
        </p:txBody>
      </p:sp>
      <p:sp>
        <p:nvSpPr>
          <p:cNvPr id="24" name="TextBox 23"/>
          <p:cNvSpPr txBox="1"/>
          <p:nvPr/>
        </p:nvSpPr>
        <p:spPr>
          <a:xfrm>
            <a:off x="6729984" y="203911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C58A24"/>
                </a:solidFill>
                <a:latin typeface="微软雅黑"/>
              </a:rPr>
              <a:t>规划器</a:t>
            </a:r>
          </a:p>
        </p:txBody>
      </p:sp>
      <p:sp>
        <p:nvSpPr>
          <p:cNvPr id="25" name="TextBox 24"/>
          <p:cNvSpPr txBox="1"/>
          <p:nvPr/>
        </p:nvSpPr>
        <p:spPr>
          <a:xfrm>
            <a:off x="6373368" y="247802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搜索全局/局部路径</a:t>
            </a:r>
          </a:p>
        </p:txBody>
      </p:sp>
      <p:sp>
        <p:nvSpPr>
          <p:cNvPr id="26" name="Rectangle 25"/>
          <p:cNvSpPr/>
          <p:nvPr/>
        </p:nvSpPr>
        <p:spPr>
          <a:xfrm>
            <a:off x="8833104" y="2459736"/>
            <a:ext cx="128016" cy="256032"/>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8997696" y="1874519"/>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997696" y="1874519"/>
            <a:ext cx="2569464" cy="82296"/>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07424" y="205740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63F45"/>
                </a:solidFill>
                <a:latin typeface="微软雅黑"/>
              </a:rPr>
              <a:t>4</a:t>
            </a:r>
          </a:p>
        </p:txBody>
      </p:sp>
      <p:sp>
        <p:nvSpPr>
          <p:cNvPr id="30" name="TextBox 29"/>
          <p:cNvSpPr txBox="1"/>
          <p:nvPr/>
        </p:nvSpPr>
        <p:spPr>
          <a:xfrm>
            <a:off x="9500616" y="203911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C63F45"/>
                </a:solidFill>
                <a:latin typeface="微软雅黑"/>
              </a:rPr>
              <a:t>控制器</a:t>
            </a:r>
          </a:p>
        </p:txBody>
      </p:sp>
      <p:sp>
        <p:nvSpPr>
          <p:cNvPr id="31" name="TextBox 30"/>
          <p:cNvSpPr txBox="1"/>
          <p:nvPr/>
        </p:nvSpPr>
        <p:spPr>
          <a:xfrm>
            <a:off x="9144000" y="247802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跟踪并执行</a:t>
            </a:r>
          </a:p>
        </p:txBody>
      </p:sp>
      <p:sp>
        <p:nvSpPr>
          <p:cNvPr id="32" name="TextBox 31"/>
          <p:cNvSpPr txBox="1"/>
          <p:nvPr/>
        </p:nvSpPr>
        <p:spPr>
          <a:xfrm>
            <a:off x="868680" y="4160520"/>
            <a:ext cx="10469880" cy="804672"/>
          </a:xfrm>
          <a:prstGeom prst="rect">
            <a:avLst/>
          </a:prstGeom>
          <a:noFill/>
        </p:spPr>
        <p:txBody>
          <a:bodyPr wrap="square" lIns="18288" tIns="18288" rIns="18288" bIns="18288" anchor="t">
            <a:spAutoFit/>
          </a:bodyPr>
          <a:lstStyle/>
          <a:p>
            <a:pPr algn="ctr">
              <a:lnSpc>
                <a:spcPct val="105000"/>
              </a:lnSpc>
            </a:pPr>
            <a:r>
              <a:rPr sz="2100" b="1" i="0">
                <a:solidFill>
                  <a:srgbClr val="24477D"/>
                </a:solidFill>
                <a:latin typeface="微软雅黑"/>
              </a:rPr>
              <a:t>传统串行架构的关键问题：前级的感知偏差或定位漂移会向后级传递，整体性能受最薄弱环节制约。</a:t>
            </a:r>
          </a:p>
        </p:txBody>
      </p:sp>
      <p:sp>
        <p:nvSpPr>
          <p:cNvPr id="33" name="TextBox 32"/>
          <p:cNvSpPr txBox="1"/>
          <p:nvPr/>
        </p:nvSpPr>
        <p:spPr>
          <a:xfrm>
            <a:off x="1463040" y="5166360"/>
            <a:ext cx="9235440" cy="502920"/>
          </a:xfrm>
          <a:prstGeom prst="rect">
            <a:avLst/>
          </a:prstGeom>
          <a:noFill/>
        </p:spPr>
        <p:txBody>
          <a:bodyPr wrap="square" lIns="18288" tIns="18288" rIns="18288" bIns="18288" anchor="t">
            <a:spAutoFit/>
          </a:bodyPr>
          <a:lstStyle/>
          <a:p>
            <a:pPr algn="ctr">
              <a:lnSpc>
                <a:spcPct val="105000"/>
              </a:lnSpc>
            </a:pPr>
            <a:r>
              <a:rPr sz="2300" b="1" i="0">
                <a:solidFill>
                  <a:srgbClr val="C63F45"/>
                </a:solidFill>
                <a:latin typeface="微软雅黑"/>
              </a:rPr>
              <a:t>因此产生了端到端强化学习和大模型驱动导航框架。</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端到端强化学习框架：四步处理流程</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88</a:t>
            </a:r>
          </a:p>
        </p:txBody>
      </p:sp>
      <p:sp>
        <p:nvSpPr>
          <p:cNvPr id="9" name="Rounded Rectangle 8"/>
          <p:cNvSpPr/>
          <p:nvPr/>
        </p:nvSpPr>
        <p:spPr>
          <a:xfrm>
            <a:off x="685800" y="192024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1920240"/>
            <a:ext cx="2569464" cy="82296"/>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5528" y="210312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31599B"/>
                </a:solidFill>
                <a:latin typeface="微软雅黑"/>
              </a:rPr>
              <a:t>1</a:t>
            </a:r>
          </a:p>
        </p:txBody>
      </p:sp>
      <p:sp>
        <p:nvSpPr>
          <p:cNvPr id="12" name="TextBox 11"/>
          <p:cNvSpPr txBox="1"/>
          <p:nvPr/>
        </p:nvSpPr>
        <p:spPr>
          <a:xfrm>
            <a:off x="1188720" y="208483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31599B"/>
                </a:solidFill>
                <a:latin typeface="微软雅黑"/>
              </a:rPr>
              <a:t>观测编码</a:t>
            </a:r>
          </a:p>
        </p:txBody>
      </p:sp>
      <p:sp>
        <p:nvSpPr>
          <p:cNvPr id="13" name="TextBox 12"/>
          <p:cNvSpPr txBox="1"/>
          <p:nvPr/>
        </p:nvSpPr>
        <p:spPr>
          <a:xfrm>
            <a:off x="832104" y="252374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CNN / ResNet / ViT 提取视觉特征</a:t>
            </a:r>
          </a:p>
        </p:txBody>
      </p:sp>
      <p:sp>
        <p:nvSpPr>
          <p:cNvPr id="14" name="Rectangle 13"/>
          <p:cNvSpPr/>
          <p:nvPr/>
        </p:nvSpPr>
        <p:spPr>
          <a:xfrm>
            <a:off x="3291840" y="2505456"/>
            <a:ext cx="128016" cy="256032"/>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456432" y="192024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456432" y="1920240"/>
            <a:ext cx="2569464" cy="82296"/>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566160" y="210312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2F8E72"/>
                </a:solidFill>
                <a:latin typeface="微软雅黑"/>
              </a:rPr>
              <a:t>2</a:t>
            </a:r>
          </a:p>
        </p:txBody>
      </p:sp>
      <p:sp>
        <p:nvSpPr>
          <p:cNvPr id="18" name="TextBox 17"/>
          <p:cNvSpPr txBox="1"/>
          <p:nvPr/>
        </p:nvSpPr>
        <p:spPr>
          <a:xfrm>
            <a:off x="3959352" y="208483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2F8E72"/>
                </a:solidFill>
                <a:latin typeface="微软雅黑"/>
              </a:rPr>
              <a:t>任务条件融合</a:t>
            </a:r>
          </a:p>
        </p:txBody>
      </p:sp>
      <p:sp>
        <p:nvSpPr>
          <p:cNvPr id="19" name="TextBox 18"/>
          <p:cNvSpPr txBox="1"/>
          <p:nvPr/>
        </p:nvSpPr>
        <p:spPr>
          <a:xfrm>
            <a:off x="3602736" y="252374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融合 Image Goal / Language Goal / Point Goal</a:t>
            </a:r>
          </a:p>
        </p:txBody>
      </p:sp>
      <p:sp>
        <p:nvSpPr>
          <p:cNvPr id="20" name="Rectangle 19"/>
          <p:cNvSpPr/>
          <p:nvPr/>
        </p:nvSpPr>
        <p:spPr>
          <a:xfrm>
            <a:off x="6062472" y="2505456"/>
            <a:ext cx="128016" cy="256032"/>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227064" y="192024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27064" y="1920240"/>
            <a:ext cx="2569464" cy="82296"/>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36792" y="210312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58A24"/>
                </a:solidFill>
                <a:latin typeface="微软雅黑"/>
              </a:rPr>
              <a:t>3</a:t>
            </a:r>
          </a:p>
        </p:txBody>
      </p:sp>
      <p:sp>
        <p:nvSpPr>
          <p:cNvPr id="24" name="TextBox 23"/>
          <p:cNvSpPr txBox="1"/>
          <p:nvPr/>
        </p:nvSpPr>
        <p:spPr>
          <a:xfrm>
            <a:off x="6729984" y="208483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C58A24"/>
                </a:solidFill>
                <a:latin typeface="微软雅黑"/>
              </a:rPr>
              <a:t>时序推理</a:t>
            </a:r>
          </a:p>
        </p:txBody>
      </p:sp>
      <p:sp>
        <p:nvSpPr>
          <p:cNvPr id="25" name="TextBox 24"/>
          <p:cNvSpPr txBox="1"/>
          <p:nvPr/>
        </p:nvSpPr>
        <p:spPr>
          <a:xfrm>
            <a:off x="6373368" y="252374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LSTM / GRU / Transformer 维护历史隐状态</a:t>
            </a:r>
          </a:p>
        </p:txBody>
      </p:sp>
      <p:sp>
        <p:nvSpPr>
          <p:cNvPr id="26" name="Rectangle 25"/>
          <p:cNvSpPr/>
          <p:nvPr/>
        </p:nvSpPr>
        <p:spPr>
          <a:xfrm>
            <a:off x="8833104" y="2505456"/>
            <a:ext cx="128016" cy="256032"/>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8997696" y="192024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997696" y="1920240"/>
            <a:ext cx="2569464" cy="82296"/>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07424" y="210312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63F45"/>
                </a:solidFill>
                <a:latin typeface="微软雅黑"/>
              </a:rPr>
              <a:t>4</a:t>
            </a:r>
          </a:p>
        </p:txBody>
      </p:sp>
      <p:sp>
        <p:nvSpPr>
          <p:cNvPr id="30" name="TextBox 29"/>
          <p:cNvSpPr txBox="1"/>
          <p:nvPr/>
        </p:nvSpPr>
        <p:spPr>
          <a:xfrm>
            <a:off x="9500616" y="208483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C63F45"/>
                </a:solidFill>
                <a:latin typeface="微软雅黑"/>
              </a:rPr>
              <a:t>动作输出</a:t>
            </a:r>
          </a:p>
        </p:txBody>
      </p:sp>
      <p:sp>
        <p:nvSpPr>
          <p:cNvPr id="31" name="TextBox 30"/>
          <p:cNvSpPr txBox="1"/>
          <p:nvPr/>
        </p:nvSpPr>
        <p:spPr>
          <a:xfrm>
            <a:off x="9144000" y="252374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离散动作概率或连续速度参数</a:t>
            </a:r>
          </a:p>
        </p:txBody>
      </p:sp>
      <p:sp>
        <p:nvSpPr>
          <p:cNvPr id="32" name="TextBox 31"/>
          <p:cNvSpPr txBox="1"/>
          <p:nvPr/>
        </p:nvSpPr>
        <p:spPr>
          <a:xfrm>
            <a:off x="1828800" y="4343400"/>
            <a:ext cx="8549640" cy="502920"/>
          </a:xfrm>
          <a:prstGeom prst="rect">
            <a:avLst/>
          </a:prstGeom>
          <a:noFill/>
        </p:spPr>
        <p:txBody>
          <a:bodyPr wrap="square" lIns="18288" tIns="18288" rIns="18288" bIns="18288" anchor="t">
            <a:spAutoFit/>
          </a:bodyPr>
          <a:lstStyle/>
          <a:p>
            <a:pPr algn="ctr">
              <a:lnSpc>
                <a:spcPct val="105000"/>
              </a:lnSpc>
            </a:pPr>
            <a:r>
              <a:rPr sz="2200" b="1" i="0">
                <a:solidFill>
                  <a:srgbClr val="24477D"/>
                </a:solidFill>
                <a:latin typeface="微软雅黑"/>
              </a:rPr>
              <a:t>策略网络可基于 A3C、PPO 等强化学习算法训练。</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端到端导航训练：在高保真模拟器中“边走边学”</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89</a:t>
            </a:r>
          </a:p>
        </p:txBody>
      </p:sp>
      <p:sp>
        <p:nvSpPr>
          <p:cNvPr id="9" name="Rounded Rectangle 8"/>
          <p:cNvSpPr/>
          <p:nvPr/>
        </p:nvSpPr>
        <p:spPr>
          <a:xfrm>
            <a:off x="640080" y="1828800"/>
            <a:ext cx="3182112" cy="246888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1828800"/>
            <a:ext cx="77724" cy="246888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201168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Habitat</a:t>
            </a:r>
          </a:p>
        </p:txBody>
      </p:sp>
      <p:sp>
        <p:nvSpPr>
          <p:cNvPr id="12" name="TextBox 11"/>
          <p:cNvSpPr txBox="1"/>
          <p:nvPr/>
        </p:nvSpPr>
        <p:spPr>
          <a:xfrm>
            <a:off x="859536" y="2487168"/>
            <a:ext cx="2798064" cy="168249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大规模室内具身导航仿真。</a:t>
            </a:r>
          </a:p>
        </p:txBody>
      </p:sp>
      <p:sp>
        <p:nvSpPr>
          <p:cNvPr id="13" name="Rounded Rectangle 12"/>
          <p:cNvSpPr/>
          <p:nvPr/>
        </p:nvSpPr>
        <p:spPr>
          <a:xfrm>
            <a:off x="4096512" y="1828800"/>
            <a:ext cx="3182112" cy="246888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096512" y="1828800"/>
            <a:ext cx="77724" cy="246888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15968" y="201168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iGibson</a:t>
            </a:r>
          </a:p>
        </p:txBody>
      </p:sp>
      <p:sp>
        <p:nvSpPr>
          <p:cNvPr id="16" name="TextBox 15"/>
          <p:cNvSpPr txBox="1"/>
          <p:nvPr/>
        </p:nvSpPr>
        <p:spPr>
          <a:xfrm>
            <a:off x="4315968" y="2487168"/>
            <a:ext cx="2798064" cy="168249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具备交互性的高保真室内仿真。</a:t>
            </a:r>
          </a:p>
        </p:txBody>
      </p:sp>
      <p:sp>
        <p:nvSpPr>
          <p:cNvPr id="17" name="Rounded Rectangle 16"/>
          <p:cNvSpPr/>
          <p:nvPr/>
        </p:nvSpPr>
        <p:spPr>
          <a:xfrm>
            <a:off x="7552944" y="1828800"/>
            <a:ext cx="3182112" cy="246888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52944" y="1828800"/>
            <a:ext cx="77724" cy="246888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0" y="201168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C58A24"/>
                </a:solidFill>
                <a:latin typeface="微软雅黑"/>
              </a:rPr>
              <a:t>AI2-THOR</a:t>
            </a:r>
          </a:p>
        </p:txBody>
      </p:sp>
      <p:sp>
        <p:nvSpPr>
          <p:cNvPr id="20" name="TextBox 19"/>
          <p:cNvSpPr txBox="1"/>
          <p:nvPr/>
        </p:nvSpPr>
        <p:spPr>
          <a:xfrm>
            <a:off x="7772400" y="2487168"/>
            <a:ext cx="2798064" cy="168249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支持视觉导航与对象交互任务。</a:t>
            </a:r>
          </a:p>
        </p:txBody>
      </p:sp>
      <p:sp>
        <p:nvSpPr>
          <p:cNvPr id="21" name="TextBox 20"/>
          <p:cNvSpPr txBox="1"/>
          <p:nvPr/>
        </p:nvSpPr>
        <p:spPr>
          <a:xfrm>
            <a:off x="914400" y="4709160"/>
            <a:ext cx="10332720" cy="640080"/>
          </a:xfrm>
          <a:prstGeom prst="rect">
            <a:avLst/>
          </a:prstGeom>
          <a:noFill/>
        </p:spPr>
        <p:txBody>
          <a:bodyPr wrap="square" lIns="18288" tIns="18288" rIns="18288" bIns="18288" anchor="t">
            <a:spAutoFit/>
          </a:bodyPr>
          <a:lstStyle/>
          <a:p>
            <a:pPr algn="ctr">
              <a:lnSpc>
                <a:spcPct val="105000"/>
              </a:lnSpc>
            </a:pPr>
            <a:r>
              <a:rPr sz="2300" b="1" i="0">
                <a:solidFill>
                  <a:srgbClr val="24477D"/>
                </a:solidFill>
                <a:latin typeface="微软雅黑"/>
              </a:rPr>
              <a:t>智能体通过最大化累积折扣奖励，实现“观测输入 → 动作输出”的联合优化。</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目标驱动视觉导航：用目标图像定义导航任务</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90</a:t>
            </a:r>
          </a:p>
        </p:txBody>
      </p:sp>
      <p:pic>
        <p:nvPicPr>
          <p:cNvPr id="9" name="Picture 8" descr="fig17.png"/>
          <p:cNvPicPr>
            <a:picLocks noChangeAspect="1"/>
          </p:cNvPicPr>
          <p:nvPr/>
        </p:nvPicPr>
        <p:blipFill>
          <a:blip r:embed="rId2"/>
          <a:stretch>
            <a:fillRect/>
          </a:stretch>
        </p:blipFill>
        <p:spPr>
          <a:xfrm>
            <a:off x="5669280" y="1785840"/>
            <a:ext cx="5577840" cy="2754833"/>
          </a:xfrm>
          <a:prstGeom prst="rect">
            <a:avLst/>
          </a:prstGeom>
        </p:spPr>
      </p:pic>
      <p:sp>
        <p:nvSpPr>
          <p:cNvPr id="10" name="TextBox 9"/>
          <p:cNvSpPr txBox="1"/>
          <p:nvPr/>
        </p:nvSpPr>
        <p:spPr>
          <a:xfrm>
            <a:off x="5547746" y="4834213"/>
            <a:ext cx="5577840" cy="279692"/>
          </a:xfrm>
          <a:prstGeom prst="rect">
            <a:avLst/>
          </a:prstGeom>
          <a:noFill/>
        </p:spPr>
        <p:txBody>
          <a:bodyPr wrap="square" lIns="18288" tIns="18288" rIns="18288" bIns="18288" anchor="t">
            <a:spAutoFit/>
          </a:bodyPr>
          <a:lstStyle/>
          <a:p>
            <a:pPr algn="ctr">
              <a:lnSpc>
                <a:spcPct val="105000"/>
              </a:lnSpc>
            </a:pPr>
            <a:r>
              <a:rPr sz="1600" b="1" i="0" dirty="0" err="1">
                <a:solidFill>
                  <a:srgbClr val="24477D"/>
                </a:solidFill>
                <a:latin typeface="微软雅黑"/>
              </a:rPr>
              <a:t>目标驱动视觉导航</a:t>
            </a:r>
            <a:endParaRPr sz="1600" b="1" i="0" dirty="0">
              <a:solidFill>
                <a:srgbClr val="24477D"/>
              </a:solidFill>
              <a:latin typeface="微软雅黑"/>
            </a:endParaRPr>
          </a:p>
        </p:txBody>
      </p:sp>
      <p:sp>
        <p:nvSpPr>
          <p:cNvPr id="11" name="TextBox 10"/>
          <p:cNvSpPr txBox="1"/>
          <p:nvPr/>
        </p:nvSpPr>
        <p:spPr>
          <a:xfrm>
            <a:off x="652551" y="1481535"/>
            <a:ext cx="4333793" cy="3233578"/>
          </a:xfrm>
          <a:prstGeom prst="rect">
            <a:avLst/>
          </a:prstGeom>
          <a:noFill/>
        </p:spPr>
        <p:txBody>
          <a:bodyPr wrap="square" lIns="18288" tIns="18288" rIns="18288" bIns="18288">
            <a:spAutoFit/>
          </a:bodyPr>
          <a:lstStyle/>
          <a:p>
            <a:pPr>
              <a:lnSpc>
                <a:spcPct val="115000"/>
              </a:lnSpc>
              <a:spcAft>
                <a:spcPts val="1000"/>
              </a:spcAft>
              <a:defRPr sz="1800">
                <a:solidFill>
                  <a:srgbClr val="222833"/>
                </a:solidFill>
                <a:latin typeface="微软雅黑"/>
              </a:defRPr>
            </a:pPr>
            <a:r>
              <a:rPr sz="2400" dirty="0"/>
              <a:t>• </a:t>
            </a:r>
            <a:r>
              <a:rPr sz="2400" dirty="0" err="1"/>
              <a:t>当前视觉观测与目标图像进入共享权重的</a:t>
            </a:r>
            <a:r>
              <a:rPr sz="2400" dirty="0"/>
              <a:t> Siamese CNN。</a:t>
            </a:r>
          </a:p>
          <a:p>
            <a:pPr>
              <a:lnSpc>
                <a:spcPct val="115000"/>
              </a:lnSpc>
              <a:spcAft>
                <a:spcPts val="1000"/>
              </a:spcAft>
              <a:defRPr sz="1800">
                <a:solidFill>
                  <a:srgbClr val="222833"/>
                </a:solidFill>
                <a:latin typeface="微软雅黑"/>
              </a:defRPr>
            </a:pPr>
            <a:r>
              <a:rPr sz="2400" dirty="0"/>
              <a:t>• </a:t>
            </a:r>
            <a:r>
              <a:rPr sz="2400" dirty="0" err="1"/>
              <a:t>两者被编码到同一嵌入空间，显式建模相似度</a:t>
            </a:r>
            <a:r>
              <a:rPr sz="2400" dirty="0"/>
              <a:t>。</a:t>
            </a:r>
          </a:p>
          <a:p>
            <a:pPr>
              <a:lnSpc>
                <a:spcPct val="115000"/>
              </a:lnSpc>
              <a:spcAft>
                <a:spcPts val="1000"/>
              </a:spcAft>
              <a:defRPr sz="1800">
                <a:solidFill>
                  <a:srgbClr val="222833"/>
                </a:solidFill>
                <a:latin typeface="微软雅黑"/>
              </a:defRPr>
            </a:pPr>
            <a:r>
              <a:rPr sz="2400" dirty="0"/>
              <a:t>• </a:t>
            </a:r>
            <a:r>
              <a:rPr sz="2400" dirty="0" err="1"/>
              <a:t>策略网络基于</a:t>
            </a:r>
            <a:r>
              <a:rPr sz="2400" dirty="0"/>
              <a:t> A3C </a:t>
            </a:r>
            <a:r>
              <a:rPr sz="2400" dirty="0" err="1"/>
              <a:t>训练，在</a:t>
            </a:r>
            <a:r>
              <a:rPr sz="2400" dirty="0"/>
              <a:t> AI2-THOR </a:t>
            </a:r>
            <a:r>
              <a:rPr sz="2400" dirty="0" err="1"/>
              <a:t>中完成目标驱动自主寻路</a:t>
            </a:r>
            <a:r>
              <a:rPr sz="2400" dirty="0"/>
              <a:t>。</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目标驱动视觉导航：贡献与局限</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91</a:t>
            </a:r>
          </a:p>
        </p:txBody>
      </p:sp>
      <p:sp>
        <p:nvSpPr>
          <p:cNvPr id="9" name="Rounded Rectangle 8"/>
          <p:cNvSpPr/>
          <p:nvPr/>
        </p:nvSpPr>
        <p:spPr>
          <a:xfrm>
            <a:off x="685800" y="1874519"/>
            <a:ext cx="5230368" cy="30175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1874519"/>
            <a:ext cx="77724" cy="30175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5256" y="205740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突破</a:t>
            </a:r>
          </a:p>
        </p:txBody>
      </p:sp>
      <p:sp>
        <p:nvSpPr>
          <p:cNvPr id="12" name="TextBox 11"/>
          <p:cNvSpPr txBox="1"/>
          <p:nvPr/>
        </p:nvSpPr>
        <p:spPr>
          <a:xfrm>
            <a:off x="905256" y="2532887"/>
            <a:ext cx="4846320" cy="2231136"/>
          </a:xfrm>
          <a:prstGeom prst="rect">
            <a:avLst/>
          </a:prstGeom>
          <a:noFill/>
        </p:spPr>
        <p:txBody>
          <a:bodyPr wrap="square" lIns="18288" tIns="18288" rIns="18288" bIns="18288" anchor="t">
            <a:spAutoFit/>
          </a:bodyPr>
          <a:lstStyle/>
          <a:p>
            <a:pPr algn="l">
              <a:lnSpc>
                <a:spcPct val="110000"/>
              </a:lnSpc>
            </a:pPr>
            <a:r>
              <a:rPr sz="1900" b="0" i="0" dirty="0" err="1">
                <a:solidFill>
                  <a:srgbClr val="222833"/>
                </a:solidFill>
                <a:latin typeface="微软雅黑"/>
              </a:rPr>
              <a:t>引入“目标图像”作为任务表征，一个策略可以泛化到不同目标实例，无须为每个目标单独训练</a:t>
            </a:r>
            <a:r>
              <a:rPr sz="1900" b="0" i="0" dirty="0">
                <a:solidFill>
                  <a:srgbClr val="222833"/>
                </a:solidFill>
                <a:latin typeface="微软雅黑"/>
              </a:rPr>
              <a:t>。</a:t>
            </a:r>
          </a:p>
        </p:txBody>
      </p:sp>
      <p:sp>
        <p:nvSpPr>
          <p:cNvPr id="13" name="Rounded Rectangle 12"/>
          <p:cNvSpPr/>
          <p:nvPr/>
        </p:nvSpPr>
        <p:spPr>
          <a:xfrm>
            <a:off x="6199632" y="1874519"/>
            <a:ext cx="5230368" cy="30175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99632" y="1874519"/>
            <a:ext cx="77724" cy="301752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19088" y="205740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C63F45"/>
                </a:solidFill>
                <a:latin typeface="微软雅黑"/>
              </a:rPr>
              <a:t>局限</a:t>
            </a:r>
          </a:p>
        </p:txBody>
      </p:sp>
      <p:sp>
        <p:nvSpPr>
          <p:cNvPr id="16" name="TextBox 15"/>
          <p:cNvSpPr txBox="1"/>
          <p:nvPr/>
        </p:nvSpPr>
        <p:spPr>
          <a:xfrm>
            <a:off x="6419088" y="2532887"/>
            <a:ext cx="4846320" cy="2231136"/>
          </a:xfrm>
          <a:prstGeom prst="rect">
            <a:avLst/>
          </a:prstGeom>
          <a:noFill/>
        </p:spPr>
        <p:txBody>
          <a:bodyPr wrap="square" lIns="18288" tIns="18288" rIns="18288" bIns="18288" anchor="t">
            <a:spAutoFit/>
          </a:bodyPr>
          <a:lstStyle/>
          <a:p>
            <a:pPr algn="l">
              <a:lnSpc>
                <a:spcPct val="110000"/>
              </a:lnSpc>
            </a:pPr>
            <a:r>
              <a:rPr sz="1900" b="0" i="0">
                <a:solidFill>
                  <a:srgbClr val="222833"/>
                </a:solidFill>
                <a:latin typeface="微软雅黑"/>
              </a:rPr>
              <a:t>复杂场景适应性不足，长程依赖处理能力弱，对未见环境的泛化能力相对有限。</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大模型驱动框架：导航基础模型与 VLA 范式</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92</a:t>
            </a:r>
          </a:p>
        </p:txBody>
      </p:sp>
      <p:sp>
        <p:nvSpPr>
          <p:cNvPr id="9" name="TextBox 8"/>
          <p:cNvSpPr txBox="1"/>
          <p:nvPr/>
        </p:nvSpPr>
        <p:spPr>
          <a:xfrm>
            <a:off x="777240" y="1783080"/>
            <a:ext cx="10652760" cy="1005840"/>
          </a:xfrm>
          <a:prstGeom prst="rect">
            <a:avLst/>
          </a:prstGeom>
          <a:noFill/>
        </p:spPr>
        <p:txBody>
          <a:bodyPr wrap="square" lIns="18288" tIns="18288" rIns="18288" bIns="18288" anchor="t">
            <a:spAutoFit/>
          </a:bodyPr>
          <a:lstStyle/>
          <a:p>
            <a:pPr algn="ctr">
              <a:lnSpc>
                <a:spcPct val="105000"/>
              </a:lnSpc>
            </a:pPr>
            <a:r>
              <a:rPr sz="2100" b="0" i="0">
                <a:solidFill>
                  <a:srgbClr val="222833"/>
                </a:solidFill>
                <a:latin typeface="微软雅黑"/>
              </a:rPr>
              <a:t>随着 VLA 模型兴起，导航框架开始利用大规模预训练多模态基础模型，直接处理视觉观测与自然语言指令，并输出动作序列或轨迹。</a:t>
            </a:r>
          </a:p>
        </p:txBody>
      </p:sp>
      <p:sp>
        <p:nvSpPr>
          <p:cNvPr id="10" name="Rounded Rectangle 9"/>
          <p:cNvSpPr/>
          <p:nvPr/>
        </p:nvSpPr>
        <p:spPr>
          <a:xfrm>
            <a:off x="640080" y="3337560"/>
            <a:ext cx="3182112" cy="192024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3337560"/>
            <a:ext cx="77724" cy="192024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352044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零/少样本泛化</a:t>
            </a:r>
          </a:p>
        </p:txBody>
      </p:sp>
      <p:sp>
        <p:nvSpPr>
          <p:cNvPr id="13" name="TextBox 12"/>
          <p:cNvSpPr txBox="1"/>
          <p:nvPr/>
        </p:nvSpPr>
        <p:spPr>
          <a:xfrm>
            <a:off x="859536" y="3995928"/>
            <a:ext cx="2798064" cy="113385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利用预训练知识适应新任务。</a:t>
            </a:r>
          </a:p>
        </p:txBody>
      </p:sp>
      <p:sp>
        <p:nvSpPr>
          <p:cNvPr id="14" name="Rounded Rectangle 13"/>
          <p:cNvSpPr/>
          <p:nvPr/>
        </p:nvSpPr>
        <p:spPr>
          <a:xfrm>
            <a:off x="4096512" y="3337560"/>
            <a:ext cx="3182112" cy="192024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096512" y="3337560"/>
            <a:ext cx="77724" cy="192024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15968" y="352044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跨任务迁移</a:t>
            </a:r>
          </a:p>
        </p:txBody>
      </p:sp>
      <p:sp>
        <p:nvSpPr>
          <p:cNvPr id="17" name="TextBox 16"/>
          <p:cNvSpPr txBox="1"/>
          <p:nvPr/>
        </p:nvSpPr>
        <p:spPr>
          <a:xfrm>
            <a:off x="4315968" y="3995928"/>
            <a:ext cx="2798064" cy="113385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同一模型覆盖多种导航任务。</a:t>
            </a:r>
          </a:p>
        </p:txBody>
      </p:sp>
      <p:sp>
        <p:nvSpPr>
          <p:cNvPr id="18" name="Rounded Rectangle 17"/>
          <p:cNvSpPr/>
          <p:nvPr/>
        </p:nvSpPr>
        <p:spPr>
          <a:xfrm>
            <a:off x="7552944" y="3337560"/>
            <a:ext cx="3182112" cy="192024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552944" y="3337560"/>
            <a:ext cx="77724" cy="192024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72400" y="352044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C58A24"/>
                </a:solidFill>
                <a:latin typeface="微软雅黑"/>
              </a:rPr>
              <a:t>跨具身形态</a:t>
            </a:r>
          </a:p>
        </p:txBody>
      </p:sp>
      <p:sp>
        <p:nvSpPr>
          <p:cNvPr id="21" name="TextBox 20"/>
          <p:cNvSpPr txBox="1"/>
          <p:nvPr/>
        </p:nvSpPr>
        <p:spPr>
          <a:xfrm>
            <a:off x="7772400" y="3995928"/>
            <a:ext cx="2798064" cy="113385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在不同机器人/车辆平台之间共享能力。</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NavFoM：Navigation Foundation Model</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93</a:t>
            </a:r>
          </a:p>
        </p:txBody>
      </p:sp>
      <p:sp>
        <p:nvSpPr>
          <p:cNvPr id="9" name="TextBox 8"/>
          <p:cNvSpPr txBox="1"/>
          <p:nvPr/>
        </p:nvSpPr>
        <p:spPr>
          <a:xfrm>
            <a:off x="609600" y="1547164"/>
            <a:ext cx="11327892" cy="1534651"/>
          </a:xfrm>
          <a:prstGeom prst="rect">
            <a:avLst/>
          </a:prstGeom>
          <a:noFill/>
        </p:spPr>
        <p:txBody>
          <a:bodyPr wrap="square" lIns="18288" tIns="18288" rIns="18288" bIns="18288">
            <a:spAutoFit/>
          </a:bodyPr>
          <a:lstStyle/>
          <a:p>
            <a:pPr>
              <a:lnSpc>
                <a:spcPct val="115000"/>
              </a:lnSpc>
              <a:spcAft>
                <a:spcPts val="1000"/>
              </a:spcAft>
              <a:defRPr sz="1700">
                <a:solidFill>
                  <a:srgbClr val="222833"/>
                </a:solidFill>
                <a:latin typeface="微软雅黑"/>
              </a:defRPr>
            </a:pPr>
            <a:r>
              <a:rPr sz="2400" dirty="0">
                <a:latin typeface="微软雅黑" panose="020B0503020204020204" pitchFamily="34" charset="-122"/>
                <a:ea typeface="微软雅黑" panose="020B0503020204020204" pitchFamily="34" charset="-122"/>
              </a:rPr>
              <a:t>• </a:t>
            </a:r>
            <a:r>
              <a:rPr sz="2400" dirty="0" err="1">
                <a:latin typeface="微软雅黑" panose="020B0503020204020204" pitchFamily="34" charset="-122"/>
                <a:ea typeface="微软雅黑" panose="020B0503020204020204" pitchFamily="34" charset="-122"/>
              </a:rPr>
              <a:t>跨具身形态、跨任务导航基础模型的代表</a:t>
            </a:r>
            <a:endParaRPr sz="2400" dirty="0">
              <a:latin typeface="微软雅黑" panose="020B0503020204020204" pitchFamily="34" charset="-122"/>
              <a:ea typeface="微软雅黑" panose="020B0503020204020204" pitchFamily="34" charset="-122"/>
            </a:endParaRPr>
          </a:p>
          <a:p>
            <a:pPr>
              <a:lnSpc>
                <a:spcPct val="115000"/>
              </a:lnSpc>
              <a:spcAft>
                <a:spcPts val="1000"/>
              </a:spcAft>
              <a:defRPr sz="1700">
                <a:solidFill>
                  <a:srgbClr val="222833"/>
                </a:solidFill>
                <a:latin typeface="微软雅黑"/>
              </a:defRPr>
            </a:pPr>
            <a:r>
              <a:rPr sz="2400" dirty="0">
                <a:latin typeface="微软雅黑" panose="020B0503020204020204" pitchFamily="34" charset="-122"/>
                <a:ea typeface="微软雅黑" panose="020B0503020204020204" pitchFamily="34" charset="-122"/>
              </a:rPr>
              <a:t>• </a:t>
            </a:r>
            <a:r>
              <a:rPr sz="2400" dirty="0" err="1">
                <a:latin typeface="微软雅黑" panose="020B0503020204020204" pitchFamily="34" charset="-122"/>
                <a:ea typeface="微软雅黑" panose="020B0503020204020204" pitchFamily="34" charset="-122"/>
              </a:rPr>
              <a:t>训练数据约</a:t>
            </a:r>
            <a:r>
              <a:rPr sz="2400" dirty="0">
                <a:latin typeface="微软雅黑" panose="020B0503020204020204" pitchFamily="34" charset="-122"/>
                <a:ea typeface="微软雅黑" panose="020B0503020204020204" pitchFamily="34" charset="-122"/>
              </a:rPr>
              <a:t> 800 </a:t>
            </a:r>
            <a:r>
              <a:rPr sz="2400" dirty="0" err="1">
                <a:latin typeface="微软雅黑" panose="020B0503020204020204" pitchFamily="34" charset="-122"/>
                <a:ea typeface="微软雅黑" panose="020B0503020204020204" pitchFamily="34" charset="-122"/>
              </a:rPr>
              <a:t>万条导航样本</a:t>
            </a:r>
            <a:r>
              <a:rPr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包括四</a:t>
            </a:r>
            <a:r>
              <a:rPr sz="2400" dirty="0" err="1">
                <a:latin typeface="微软雅黑" panose="020B0503020204020204" pitchFamily="34" charset="-122"/>
                <a:ea typeface="微软雅黑" panose="020B0503020204020204" pitchFamily="34" charset="-122"/>
              </a:rPr>
              <a:t>足机器人、无人机、轮式机器人和车辆等</a:t>
            </a:r>
            <a:endParaRPr sz="2400" dirty="0">
              <a:latin typeface="微软雅黑" panose="020B0503020204020204" pitchFamily="34" charset="-122"/>
              <a:ea typeface="微软雅黑" panose="020B0503020204020204" pitchFamily="34" charset="-122"/>
            </a:endParaRPr>
          </a:p>
          <a:p>
            <a:pPr>
              <a:lnSpc>
                <a:spcPct val="115000"/>
              </a:lnSpc>
              <a:spcAft>
                <a:spcPts val="1000"/>
              </a:spcAft>
              <a:defRPr sz="1700">
                <a:solidFill>
                  <a:srgbClr val="222833"/>
                </a:solidFill>
                <a:latin typeface="微软雅黑"/>
              </a:defRPr>
            </a:pPr>
            <a:r>
              <a:rPr sz="2400" dirty="0">
                <a:latin typeface="微软雅黑" panose="020B0503020204020204" pitchFamily="34" charset="-122"/>
                <a:ea typeface="微软雅黑" panose="020B0503020204020204" pitchFamily="34" charset="-122"/>
              </a:rPr>
              <a:t>• </a:t>
            </a:r>
            <a:r>
              <a:rPr sz="2400" dirty="0" err="1">
                <a:latin typeface="微软雅黑" panose="020B0503020204020204" pitchFamily="34" charset="-122"/>
                <a:ea typeface="微软雅黑" panose="020B0503020204020204" pitchFamily="34" charset="-122"/>
              </a:rPr>
              <a:t>支持视觉-语言导航、目标搜索、目标跟踪与自动驾驶等任务</a:t>
            </a:r>
            <a:endParaRPr sz="2400" dirty="0">
              <a:latin typeface="微软雅黑" panose="020B0503020204020204" pitchFamily="34" charset="-122"/>
              <a:ea typeface="微软雅黑" panose="020B0503020204020204" pitchFamily="34" charset="-122"/>
            </a:endParaRPr>
          </a:p>
        </p:txBody>
      </p:sp>
      <p:sp>
        <p:nvSpPr>
          <p:cNvPr id="11" name="TextBox 10"/>
          <p:cNvSpPr txBox="1"/>
          <p:nvPr/>
        </p:nvSpPr>
        <p:spPr>
          <a:xfrm>
            <a:off x="1534160" y="4865567"/>
            <a:ext cx="4983480" cy="234103"/>
          </a:xfrm>
          <a:prstGeom prst="rect">
            <a:avLst/>
          </a:prstGeom>
          <a:noFill/>
        </p:spPr>
        <p:txBody>
          <a:bodyPr wrap="square" lIns="18288" tIns="18288" rIns="18288" bIns="18288" anchor="t">
            <a:spAutoFit/>
          </a:bodyPr>
          <a:lstStyle/>
          <a:p>
            <a:pPr algn="ctr">
              <a:lnSpc>
                <a:spcPct val="105000"/>
              </a:lnSpc>
            </a:pPr>
            <a:r>
              <a:rPr sz="1300" b="1" i="0" dirty="0" err="1">
                <a:solidFill>
                  <a:srgbClr val="24477D"/>
                </a:solidFill>
                <a:latin typeface="微软雅黑"/>
              </a:rPr>
              <a:t>NavFoM</a:t>
            </a:r>
            <a:endParaRPr sz="1300" b="1" i="0" dirty="0">
              <a:solidFill>
                <a:srgbClr val="24477D"/>
              </a:solidFill>
              <a:latin typeface="微软雅黑"/>
            </a:endParaRPr>
          </a:p>
        </p:txBody>
      </p:sp>
      <p:pic>
        <p:nvPicPr>
          <p:cNvPr id="12" name="图片 11">
            <a:extLst>
              <a:ext uri="{FF2B5EF4-FFF2-40B4-BE49-F238E27FC236}">
                <a16:creationId xmlns:a16="http://schemas.microsoft.com/office/drawing/2014/main" id="{382BC148-14C8-CD35-DCED-EA84FA40156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59073" y="3257182"/>
            <a:ext cx="6727698" cy="3216770"/>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NavFoM 的统一建模思路</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94</a:t>
            </a:r>
          </a:p>
        </p:txBody>
      </p:sp>
      <p:sp>
        <p:nvSpPr>
          <p:cNvPr id="9" name="Rounded Rectangle 8"/>
          <p:cNvSpPr/>
          <p:nvPr/>
        </p:nvSpPr>
        <p:spPr>
          <a:xfrm>
            <a:off x="640080" y="1828800"/>
            <a:ext cx="3182112" cy="3383280"/>
          </a:xfrm>
          <a:prstGeom prst="roundRect">
            <a:avLst>
              <a:gd name="adj" fmla="val 5332"/>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1828800"/>
            <a:ext cx="77724" cy="338328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201168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统一架构</a:t>
            </a:r>
          </a:p>
        </p:txBody>
      </p:sp>
      <p:sp>
        <p:nvSpPr>
          <p:cNvPr id="12" name="TextBox 11"/>
          <p:cNvSpPr txBox="1"/>
          <p:nvPr/>
        </p:nvSpPr>
        <p:spPr>
          <a:xfrm>
            <a:off x="859536" y="2487168"/>
            <a:ext cx="2798064" cy="2596896"/>
          </a:xfrm>
          <a:prstGeom prst="rect">
            <a:avLst/>
          </a:prstGeom>
          <a:noFill/>
        </p:spPr>
        <p:txBody>
          <a:bodyPr wrap="square" lIns="18288" tIns="18288" rIns="18288" bIns="18288" anchor="t">
            <a:spAutoFit/>
          </a:bodyPr>
          <a:lstStyle/>
          <a:p>
            <a:pPr algn="l">
              <a:lnSpc>
                <a:spcPct val="110000"/>
              </a:lnSpc>
            </a:pPr>
            <a:r>
              <a:rPr sz="1900" b="0" i="0">
                <a:solidFill>
                  <a:srgbClr val="222833"/>
                </a:solidFill>
                <a:latin typeface="微软雅黑"/>
              </a:rPr>
              <a:t>用一套模型覆盖不同平台与任务。</a:t>
            </a:r>
          </a:p>
        </p:txBody>
      </p:sp>
      <p:sp>
        <p:nvSpPr>
          <p:cNvPr id="13" name="Rounded Rectangle 12"/>
          <p:cNvSpPr/>
          <p:nvPr/>
        </p:nvSpPr>
        <p:spPr>
          <a:xfrm>
            <a:off x="4096512" y="1828800"/>
            <a:ext cx="3182112" cy="3383280"/>
          </a:xfrm>
          <a:prstGeom prst="roundRect">
            <a:avLst>
              <a:gd name="adj" fmla="val 543"/>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096512" y="1828800"/>
            <a:ext cx="77724" cy="338328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15968" y="201168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TVI 指示符</a:t>
            </a:r>
          </a:p>
        </p:txBody>
      </p:sp>
      <p:sp>
        <p:nvSpPr>
          <p:cNvPr id="16" name="TextBox 15"/>
          <p:cNvSpPr txBox="1"/>
          <p:nvPr/>
        </p:nvSpPr>
        <p:spPr>
          <a:xfrm>
            <a:off x="4315968" y="2487168"/>
            <a:ext cx="2798064" cy="259689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通过时序-视角指示符处理不同相机配置与导航时域。</a:t>
            </a:r>
          </a:p>
        </p:txBody>
      </p:sp>
      <p:sp>
        <p:nvSpPr>
          <p:cNvPr id="17" name="Rounded Rectangle 16"/>
          <p:cNvSpPr/>
          <p:nvPr/>
        </p:nvSpPr>
        <p:spPr>
          <a:xfrm>
            <a:off x="7552944" y="1828800"/>
            <a:ext cx="3182112" cy="3383280"/>
          </a:xfrm>
          <a:prstGeom prst="roundRect">
            <a:avLst>
              <a:gd name="adj" fmla="val 4853"/>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52944" y="1828800"/>
            <a:ext cx="77724" cy="338328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0" y="201168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C58A24"/>
                </a:solidFill>
                <a:latin typeface="微软雅黑"/>
              </a:rPr>
              <a:t>轨迹预测</a:t>
            </a:r>
          </a:p>
        </p:txBody>
      </p:sp>
      <p:sp>
        <p:nvSpPr>
          <p:cNvPr id="20" name="TextBox 19"/>
          <p:cNvSpPr txBox="1"/>
          <p:nvPr/>
        </p:nvSpPr>
        <p:spPr>
          <a:xfrm>
            <a:off x="7772400" y="2487168"/>
            <a:ext cx="2798064" cy="259689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直接从多视角视频输入预测轨迹，强调跨场景泛化。</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78638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86384" y="0"/>
            <a:ext cx="73152"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921240" y="347472"/>
            <a:ext cx="160020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具身智能导论 · 第 6 章</a:t>
            </a:r>
          </a:p>
        </p:txBody>
      </p:sp>
      <p:sp>
        <p:nvSpPr>
          <p:cNvPr id="5" name="TextBox 4"/>
          <p:cNvSpPr txBox="1"/>
          <p:nvPr/>
        </p:nvSpPr>
        <p:spPr>
          <a:xfrm>
            <a:off x="1938528" y="2011680"/>
            <a:ext cx="1627632" cy="914400"/>
          </a:xfrm>
          <a:prstGeom prst="rect">
            <a:avLst/>
          </a:prstGeom>
          <a:noFill/>
        </p:spPr>
        <p:txBody>
          <a:bodyPr wrap="square" lIns="18288" tIns="18288" rIns="18288" bIns="18288" anchor="ctr">
            <a:spAutoFit/>
          </a:bodyPr>
          <a:lstStyle/>
          <a:p>
            <a:pPr algn="ctr">
              <a:lnSpc>
                <a:spcPct val="105000"/>
              </a:lnSpc>
            </a:pPr>
            <a:r>
              <a:rPr sz="7200" b="1" i="0">
                <a:solidFill>
                  <a:srgbClr val="31599B"/>
                </a:solidFill>
                <a:latin typeface="微软雅黑"/>
              </a:rPr>
              <a:t>06</a:t>
            </a:r>
          </a:p>
        </p:txBody>
      </p:sp>
      <p:sp>
        <p:nvSpPr>
          <p:cNvPr id="6" name="TextBox 5"/>
          <p:cNvSpPr txBox="1"/>
          <p:nvPr/>
        </p:nvSpPr>
        <p:spPr>
          <a:xfrm>
            <a:off x="3703320" y="2249424"/>
            <a:ext cx="6812280" cy="685800"/>
          </a:xfrm>
          <a:prstGeom prst="rect">
            <a:avLst/>
          </a:prstGeom>
          <a:noFill/>
        </p:spPr>
        <p:txBody>
          <a:bodyPr wrap="square" lIns="18288" tIns="18288" rIns="18288" bIns="18288" anchor="ctr">
            <a:spAutoFit/>
          </a:bodyPr>
          <a:lstStyle/>
          <a:p>
            <a:pPr algn="l">
              <a:lnSpc>
                <a:spcPct val="105000"/>
              </a:lnSpc>
            </a:pPr>
            <a:r>
              <a:rPr sz="3900" b="1" i="0">
                <a:solidFill>
                  <a:srgbClr val="24477D"/>
                </a:solidFill>
                <a:latin typeface="微软雅黑"/>
              </a:rPr>
              <a:t>视觉语言导航</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6.6 视觉语言导航：让自然语言成为导航目标</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96</a:t>
            </a:r>
          </a:p>
        </p:txBody>
      </p:sp>
      <p:pic>
        <p:nvPicPr>
          <p:cNvPr id="9" name="Picture 8" descr="fig19.png"/>
          <p:cNvPicPr>
            <a:picLocks noChangeAspect="1"/>
          </p:cNvPicPr>
          <p:nvPr/>
        </p:nvPicPr>
        <p:blipFill>
          <a:blip r:embed="rId2"/>
          <a:stretch>
            <a:fillRect/>
          </a:stretch>
        </p:blipFill>
        <p:spPr>
          <a:xfrm>
            <a:off x="6818376" y="1673861"/>
            <a:ext cx="4753864" cy="3095294"/>
          </a:xfrm>
          <a:prstGeom prst="rect">
            <a:avLst/>
          </a:prstGeom>
        </p:spPr>
      </p:pic>
      <p:sp>
        <p:nvSpPr>
          <p:cNvPr id="10" name="TextBox 9"/>
          <p:cNvSpPr txBox="1"/>
          <p:nvPr/>
        </p:nvSpPr>
        <p:spPr>
          <a:xfrm>
            <a:off x="6416040" y="4950716"/>
            <a:ext cx="5669280" cy="234103"/>
          </a:xfrm>
          <a:prstGeom prst="rect">
            <a:avLst/>
          </a:prstGeom>
          <a:noFill/>
        </p:spPr>
        <p:txBody>
          <a:bodyPr wrap="square" lIns="18288" tIns="18288" rIns="18288" bIns="18288" anchor="t">
            <a:spAutoFit/>
          </a:bodyPr>
          <a:lstStyle/>
          <a:p>
            <a:pPr algn="ctr">
              <a:lnSpc>
                <a:spcPct val="105000"/>
              </a:lnSpc>
            </a:pPr>
            <a:r>
              <a:rPr sz="1300" b="1" i="0" dirty="0" err="1">
                <a:solidFill>
                  <a:srgbClr val="24477D"/>
                </a:solidFill>
                <a:latin typeface="微软雅黑"/>
              </a:rPr>
              <a:t>视觉语言导航</a:t>
            </a:r>
            <a:endParaRPr sz="1300" b="1" i="0" dirty="0">
              <a:solidFill>
                <a:srgbClr val="24477D"/>
              </a:solidFill>
              <a:latin typeface="微软雅黑"/>
            </a:endParaRPr>
          </a:p>
        </p:txBody>
      </p:sp>
      <p:sp>
        <p:nvSpPr>
          <p:cNvPr id="11" name="TextBox 10"/>
          <p:cNvSpPr txBox="1"/>
          <p:nvPr/>
        </p:nvSpPr>
        <p:spPr>
          <a:xfrm>
            <a:off x="640080" y="1830832"/>
            <a:ext cx="6207760" cy="2384114"/>
          </a:xfrm>
          <a:prstGeom prst="rect">
            <a:avLst/>
          </a:prstGeom>
          <a:noFill/>
        </p:spPr>
        <p:txBody>
          <a:bodyPr wrap="square" lIns="18288" tIns="18288" rIns="18288" bIns="18288">
            <a:spAutoFit/>
          </a:bodyPr>
          <a:lstStyle/>
          <a:p>
            <a:pPr>
              <a:lnSpc>
                <a:spcPct val="115000"/>
              </a:lnSpc>
              <a:spcAft>
                <a:spcPts val="1000"/>
              </a:spcAft>
              <a:defRPr sz="1800">
                <a:solidFill>
                  <a:srgbClr val="222833"/>
                </a:solidFill>
                <a:latin typeface="微软雅黑"/>
              </a:defRPr>
            </a:pPr>
            <a:r>
              <a:rPr sz="2400" dirty="0"/>
              <a:t>• </a:t>
            </a:r>
            <a:r>
              <a:rPr sz="2400" dirty="0" err="1"/>
              <a:t>把自然语言指令与第一人称视觉感知结合</a:t>
            </a:r>
            <a:endParaRPr sz="2400" dirty="0"/>
          </a:p>
          <a:p>
            <a:pPr>
              <a:lnSpc>
                <a:spcPct val="115000"/>
              </a:lnSpc>
              <a:spcAft>
                <a:spcPts val="1000"/>
              </a:spcAft>
              <a:defRPr sz="1800">
                <a:solidFill>
                  <a:srgbClr val="222833"/>
                </a:solidFill>
                <a:latin typeface="微软雅黑"/>
              </a:defRPr>
            </a:pPr>
            <a:r>
              <a:rPr sz="2400" dirty="0"/>
              <a:t>• </a:t>
            </a:r>
            <a:r>
              <a:rPr sz="2400" dirty="0" err="1"/>
              <a:t>机器人需要理解语言语义，并把语义与当前视觉观测对应起来</a:t>
            </a:r>
            <a:r>
              <a:rPr sz="2400" dirty="0"/>
              <a:t>。</a:t>
            </a:r>
          </a:p>
          <a:p>
            <a:pPr>
              <a:lnSpc>
                <a:spcPct val="115000"/>
              </a:lnSpc>
              <a:spcAft>
                <a:spcPts val="1000"/>
              </a:spcAft>
              <a:defRPr sz="1800">
                <a:solidFill>
                  <a:srgbClr val="222833"/>
                </a:solidFill>
                <a:latin typeface="微软雅黑"/>
              </a:defRPr>
            </a:pPr>
            <a:r>
              <a:rPr sz="2400" dirty="0"/>
              <a:t>• </a:t>
            </a:r>
            <a:r>
              <a:rPr sz="2400" dirty="0" err="1"/>
              <a:t>这使导航从几何目标走向多模态推理与语义交互</a:t>
            </a:r>
            <a:r>
              <a:rPr sz="2400" dirty="0"/>
              <a:t>。</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6.6.1 一般流程：语言指令 + 视觉观测 → 动作序列</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97</a:t>
            </a:r>
          </a:p>
        </p:txBody>
      </p:sp>
      <p:sp>
        <p:nvSpPr>
          <p:cNvPr id="9" name="Rounded Rectangle 8"/>
          <p:cNvSpPr/>
          <p:nvPr/>
        </p:nvSpPr>
        <p:spPr>
          <a:xfrm>
            <a:off x="685800" y="192024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1920240"/>
            <a:ext cx="2569464" cy="82296"/>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5528" y="210312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31599B"/>
                </a:solidFill>
                <a:latin typeface="微软雅黑"/>
              </a:rPr>
              <a:t>1</a:t>
            </a:r>
          </a:p>
        </p:txBody>
      </p:sp>
      <p:sp>
        <p:nvSpPr>
          <p:cNvPr id="12" name="TextBox 11"/>
          <p:cNvSpPr txBox="1"/>
          <p:nvPr/>
        </p:nvSpPr>
        <p:spPr>
          <a:xfrm>
            <a:off x="1188720" y="208483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31599B"/>
                </a:solidFill>
                <a:latin typeface="微软雅黑"/>
              </a:rPr>
              <a:t>语言指令</a:t>
            </a:r>
          </a:p>
        </p:txBody>
      </p:sp>
      <p:sp>
        <p:nvSpPr>
          <p:cNvPr id="13" name="TextBox 12"/>
          <p:cNvSpPr txBox="1"/>
          <p:nvPr/>
        </p:nvSpPr>
        <p:spPr>
          <a:xfrm>
            <a:off x="832104" y="252374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例如“从厨房走到客厅沙发旁”</a:t>
            </a:r>
          </a:p>
        </p:txBody>
      </p:sp>
      <p:sp>
        <p:nvSpPr>
          <p:cNvPr id="14" name="Rectangle 13"/>
          <p:cNvSpPr/>
          <p:nvPr/>
        </p:nvSpPr>
        <p:spPr>
          <a:xfrm>
            <a:off x="3291840" y="2505456"/>
            <a:ext cx="128016" cy="256032"/>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456432" y="192024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456432" y="1920240"/>
            <a:ext cx="2569464" cy="82296"/>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566160" y="210312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2F8E72"/>
                </a:solidFill>
                <a:latin typeface="微软雅黑"/>
              </a:rPr>
              <a:t>2</a:t>
            </a:r>
          </a:p>
        </p:txBody>
      </p:sp>
      <p:sp>
        <p:nvSpPr>
          <p:cNvPr id="18" name="TextBox 17"/>
          <p:cNvSpPr txBox="1"/>
          <p:nvPr/>
        </p:nvSpPr>
        <p:spPr>
          <a:xfrm>
            <a:off x="3959352" y="208483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2F8E72"/>
                </a:solidFill>
                <a:latin typeface="微软雅黑"/>
              </a:rPr>
              <a:t>第一人称观测</a:t>
            </a:r>
          </a:p>
        </p:txBody>
      </p:sp>
      <p:sp>
        <p:nvSpPr>
          <p:cNvPr id="19" name="TextBox 18"/>
          <p:cNvSpPr txBox="1"/>
          <p:nvPr/>
        </p:nvSpPr>
        <p:spPr>
          <a:xfrm>
            <a:off x="3602736" y="252374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RGB-D 等视觉输入</a:t>
            </a:r>
          </a:p>
        </p:txBody>
      </p:sp>
      <p:sp>
        <p:nvSpPr>
          <p:cNvPr id="20" name="Rectangle 19"/>
          <p:cNvSpPr/>
          <p:nvPr/>
        </p:nvSpPr>
        <p:spPr>
          <a:xfrm>
            <a:off x="6062472" y="2505456"/>
            <a:ext cx="128016" cy="256032"/>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227064" y="192024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27064" y="1920240"/>
            <a:ext cx="2569464" cy="82296"/>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36792" y="210312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58A24"/>
                </a:solidFill>
                <a:latin typeface="微软雅黑"/>
              </a:rPr>
              <a:t>3</a:t>
            </a:r>
          </a:p>
        </p:txBody>
      </p:sp>
      <p:sp>
        <p:nvSpPr>
          <p:cNvPr id="24" name="TextBox 23"/>
          <p:cNvSpPr txBox="1"/>
          <p:nvPr/>
        </p:nvSpPr>
        <p:spPr>
          <a:xfrm>
            <a:off x="6729984" y="208483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C58A24"/>
                </a:solidFill>
                <a:latin typeface="微软雅黑"/>
              </a:rPr>
              <a:t>跨模态对齐</a:t>
            </a:r>
          </a:p>
        </p:txBody>
      </p:sp>
      <p:sp>
        <p:nvSpPr>
          <p:cNvPr id="25" name="TextBox 24"/>
          <p:cNvSpPr txBox="1"/>
          <p:nvPr/>
        </p:nvSpPr>
        <p:spPr>
          <a:xfrm>
            <a:off x="6373368" y="252374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把语言片段与视觉对象/区域建立对应</a:t>
            </a:r>
          </a:p>
        </p:txBody>
      </p:sp>
      <p:sp>
        <p:nvSpPr>
          <p:cNvPr id="26" name="Rectangle 25"/>
          <p:cNvSpPr/>
          <p:nvPr/>
        </p:nvSpPr>
        <p:spPr>
          <a:xfrm>
            <a:off x="8833104" y="2505456"/>
            <a:ext cx="128016" cy="256032"/>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8997696" y="192024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997696" y="1920240"/>
            <a:ext cx="2569464" cy="82296"/>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07424" y="210312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63F45"/>
                </a:solidFill>
                <a:latin typeface="微软雅黑"/>
              </a:rPr>
              <a:t>4</a:t>
            </a:r>
          </a:p>
        </p:txBody>
      </p:sp>
      <p:sp>
        <p:nvSpPr>
          <p:cNvPr id="30" name="TextBox 29"/>
          <p:cNvSpPr txBox="1"/>
          <p:nvPr/>
        </p:nvSpPr>
        <p:spPr>
          <a:xfrm>
            <a:off x="9500616" y="208483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C63F45"/>
                </a:solidFill>
                <a:latin typeface="微软雅黑"/>
              </a:rPr>
              <a:t>序列决策</a:t>
            </a:r>
          </a:p>
        </p:txBody>
      </p:sp>
      <p:sp>
        <p:nvSpPr>
          <p:cNvPr id="31" name="TextBox 30"/>
          <p:cNvSpPr txBox="1"/>
          <p:nvPr/>
        </p:nvSpPr>
        <p:spPr>
          <a:xfrm>
            <a:off x="9144000" y="252374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逐步生成动作，直到到达目标</a:t>
            </a:r>
          </a:p>
        </p:txBody>
      </p:sp>
      <p:sp>
        <p:nvSpPr>
          <p:cNvPr id="32" name="TextBox 31"/>
          <p:cNvSpPr txBox="1"/>
          <p:nvPr/>
        </p:nvSpPr>
        <p:spPr>
          <a:xfrm>
            <a:off x="914400" y="4315968"/>
            <a:ext cx="10332720" cy="502920"/>
          </a:xfrm>
          <a:prstGeom prst="rect">
            <a:avLst/>
          </a:prstGeom>
          <a:noFill/>
        </p:spPr>
        <p:txBody>
          <a:bodyPr wrap="square" lIns="18288" tIns="18288" rIns="18288" bIns="18288" anchor="t">
            <a:spAutoFit/>
          </a:bodyPr>
          <a:lstStyle/>
          <a:p>
            <a:pPr algn="ctr">
              <a:lnSpc>
                <a:spcPct val="105000"/>
              </a:lnSpc>
            </a:pPr>
            <a:r>
              <a:rPr sz="2100" b="1" i="0" dirty="0">
                <a:solidFill>
                  <a:srgbClr val="24477D"/>
                </a:solidFill>
                <a:latin typeface="微软雅黑"/>
              </a:rPr>
              <a:t>VLN </a:t>
            </a:r>
            <a:r>
              <a:rPr sz="2100" b="1" i="0" dirty="0" err="1">
                <a:solidFill>
                  <a:srgbClr val="24477D"/>
                </a:solidFill>
                <a:latin typeface="微软雅黑"/>
              </a:rPr>
              <a:t>通常被形式化为</a:t>
            </a:r>
            <a:r>
              <a:rPr sz="2100" b="1" i="0" dirty="0">
                <a:solidFill>
                  <a:srgbClr val="24477D"/>
                </a:solidFill>
                <a:latin typeface="微软雅黑"/>
              </a:rPr>
              <a:t> </a:t>
            </a:r>
            <a:r>
              <a:rPr sz="2100" b="1" i="0" dirty="0" err="1">
                <a:solidFill>
                  <a:srgbClr val="24477D"/>
                </a:solidFill>
                <a:latin typeface="微软雅黑"/>
              </a:rPr>
              <a:t>POMDP：策略需要联合历史视觉观测与语言指令</a:t>
            </a:r>
            <a:r>
              <a:rPr sz="2100" b="1" i="0" dirty="0">
                <a:solidFill>
                  <a:srgbClr val="24477D"/>
                </a:solidFill>
                <a:latin typeface="微软雅黑"/>
              </a:rPr>
              <a:t>。</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视觉语言导航的四个主要特点</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98</a:t>
            </a:r>
          </a:p>
        </p:txBody>
      </p:sp>
      <p:sp>
        <p:nvSpPr>
          <p:cNvPr id="9" name="Rounded Rectangle 8"/>
          <p:cNvSpPr/>
          <p:nvPr/>
        </p:nvSpPr>
        <p:spPr>
          <a:xfrm>
            <a:off x="640080" y="1600200"/>
            <a:ext cx="5349240" cy="20574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1600200"/>
            <a:ext cx="77724" cy="20574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1783080"/>
            <a:ext cx="4937759"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多模态对齐</a:t>
            </a:r>
          </a:p>
        </p:txBody>
      </p:sp>
      <p:sp>
        <p:nvSpPr>
          <p:cNvPr id="12" name="TextBox 11"/>
          <p:cNvSpPr txBox="1"/>
          <p:nvPr/>
        </p:nvSpPr>
        <p:spPr>
          <a:xfrm>
            <a:off x="859536" y="2258568"/>
            <a:ext cx="4965192" cy="1271016"/>
          </a:xfrm>
          <a:prstGeom prst="rect">
            <a:avLst/>
          </a:prstGeom>
          <a:noFill/>
        </p:spPr>
        <p:txBody>
          <a:bodyPr wrap="square" lIns="18288" tIns="18288" rIns="18288" bIns="18288" anchor="t">
            <a:spAutoFit/>
          </a:bodyPr>
          <a:lstStyle/>
          <a:p>
            <a:pPr algn="l">
              <a:lnSpc>
                <a:spcPct val="110000"/>
              </a:lnSpc>
            </a:pPr>
            <a:r>
              <a:rPr sz="1700" b="0" i="0">
                <a:solidFill>
                  <a:srgbClr val="222833"/>
                </a:solidFill>
                <a:latin typeface="微软雅黑"/>
              </a:rPr>
              <a:t>语言提供高层目标，视觉提供局部环境细节。</a:t>
            </a:r>
          </a:p>
        </p:txBody>
      </p:sp>
      <p:sp>
        <p:nvSpPr>
          <p:cNvPr id="13" name="Rounded Rectangle 12"/>
          <p:cNvSpPr/>
          <p:nvPr/>
        </p:nvSpPr>
        <p:spPr>
          <a:xfrm>
            <a:off x="6172200" y="1600200"/>
            <a:ext cx="5349240" cy="20574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72200" y="1600200"/>
            <a:ext cx="77724" cy="205740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91656" y="1783080"/>
            <a:ext cx="4937759"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序列决策</a:t>
            </a:r>
          </a:p>
        </p:txBody>
      </p:sp>
      <p:sp>
        <p:nvSpPr>
          <p:cNvPr id="16" name="TextBox 15"/>
          <p:cNvSpPr txBox="1"/>
          <p:nvPr/>
        </p:nvSpPr>
        <p:spPr>
          <a:xfrm>
            <a:off x="6391656" y="2258568"/>
            <a:ext cx="4965192" cy="1271016"/>
          </a:xfrm>
          <a:prstGeom prst="rect">
            <a:avLst/>
          </a:prstGeom>
          <a:noFill/>
        </p:spPr>
        <p:txBody>
          <a:bodyPr wrap="square" lIns="18288" tIns="18288" rIns="18288" bIns="18288" anchor="t">
            <a:spAutoFit/>
          </a:bodyPr>
          <a:lstStyle/>
          <a:p>
            <a:pPr algn="l">
              <a:lnSpc>
                <a:spcPct val="110000"/>
              </a:lnSpc>
            </a:pPr>
            <a:r>
              <a:rPr sz="1700" b="0" i="0">
                <a:solidFill>
                  <a:srgbClr val="222833"/>
                </a:solidFill>
                <a:latin typeface="微软雅黑"/>
              </a:rPr>
              <a:t>每一步动作都依赖历史观测与指令的联合推理。</a:t>
            </a:r>
          </a:p>
        </p:txBody>
      </p:sp>
      <p:sp>
        <p:nvSpPr>
          <p:cNvPr id="17" name="Rounded Rectangle 16"/>
          <p:cNvSpPr/>
          <p:nvPr/>
        </p:nvSpPr>
        <p:spPr>
          <a:xfrm>
            <a:off x="640080" y="3931920"/>
            <a:ext cx="5349240" cy="20574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 y="3931920"/>
            <a:ext cx="77724" cy="205740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59536" y="4114800"/>
            <a:ext cx="4937759" cy="384048"/>
          </a:xfrm>
          <a:prstGeom prst="rect">
            <a:avLst/>
          </a:prstGeom>
          <a:noFill/>
        </p:spPr>
        <p:txBody>
          <a:bodyPr wrap="square" lIns="18288" tIns="18288" rIns="18288" bIns="18288" anchor="t">
            <a:spAutoFit/>
          </a:bodyPr>
          <a:lstStyle/>
          <a:p>
            <a:pPr algn="l">
              <a:lnSpc>
                <a:spcPct val="105000"/>
              </a:lnSpc>
            </a:pPr>
            <a:r>
              <a:rPr sz="2200" b="1" i="0">
                <a:solidFill>
                  <a:srgbClr val="C58A24"/>
                </a:solidFill>
                <a:latin typeface="微软雅黑"/>
              </a:rPr>
              <a:t>语义导向</a:t>
            </a:r>
          </a:p>
        </p:txBody>
      </p:sp>
      <p:sp>
        <p:nvSpPr>
          <p:cNvPr id="20" name="TextBox 19"/>
          <p:cNvSpPr txBox="1"/>
          <p:nvPr/>
        </p:nvSpPr>
        <p:spPr>
          <a:xfrm>
            <a:off x="859536" y="4590288"/>
            <a:ext cx="4965192" cy="1271016"/>
          </a:xfrm>
          <a:prstGeom prst="rect">
            <a:avLst/>
          </a:prstGeom>
          <a:noFill/>
        </p:spPr>
        <p:txBody>
          <a:bodyPr wrap="square" lIns="18288" tIns="18288" rIns="18288" bIns="18288" anchor="t">
            <a:spAutoFit/>
          </a:bodyPr>
          <a:lstStyle/>
          <a:p>
            <a:pPr algn="l">
              <a:lnSpc>
                <a:spcPct val="110000"/>
              </a:lnSpc>
            </a:pPr>
            <a:r>
              <a:rPr sz="1700" b="0" i="0">
                <a:solidFill>
                  <a:srgbClr val="222833"/>
                </a:solidFill>
                <a:latin typeface="微软雅黑"/>
              </a:rPr>
              <a:t>支持自然语言交互，不再局限于坐标或目标图像。</a:t>
            </a:r>
          </a:p>
        </p:txBody>
      </p:sp>
      <p:sp>
        <p:nvSpPr>
          <p:cNvPr id="21" name="Rounded Rectangle 20"/>
          <p:cNvSpPr/>
          <p:nvPr/>
        </p:nvSpPr>
        <p:spPr>
          <a:xfrm>
            <a:off x="6172200" y="3931920"/>
            <a:ext cx="5349240" cy="20574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172200" y="3931920"/>
            <a:ext cx="77724" cy="205740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91656" y="4114800"/>
            <a:ext cx="4937759" cy="384048"/>
          </a:xfrm>
          <a:prstGeom prst="rect">
            <a:avLst/>
          </a:prstGeom>
          <a:noFill/>
        </p:spPr>
        <p:txBody>
          <a:bodyPr wrap="square" lIns="18288" tIns="18288" rIns="18288" bIns="18288" anchor="t">
            <a:spAutoFit/>
          </a:bodyPr>
          <a:lstStyle/>
          <a:p>
            <a:pPr algn="l">
              <a:lnSpc>
                <a:spcPct val="105000"/>
              </a:lnSpc>
            </a:pPr>
            <a:r>
              <a:rPr sz="2200" b="1" i="0">
                <a:solidFill>
                  <a:srgbClr val="C63F45"/>
                </a:solidFill>
                <a:latin typeface="微软雅黑"/>
              </a:rPr>
              <a:t>泛化挑战</a:t>
            </a:r>
          </a:p>
        </p:txBody>
      </p:sp>
      <p:sp>
        <p:nvSpPr>
          <p:cNvPr id="24" name="TextBox 23"/>
          <p:cNvSpPr txBox="1"/>
          <p:nvPr/>
        </p:nvSpPr>
        <p:spPr>
          <a:xfrm>
            <a:off x="6391656" y="4590288"/>
            <a:ext cx="4965192" cy="1271016"/>
          </a:xfrm>
          <a:prstGeom prst="rect">
            <a:avLst/>
          </a:prstGeom>
          <a:noFill/>
        </p:spPr>
        <p:txBody>
          <a:bodyPr wrap="square" lIns="18288" tIns="18288" rIns="18288" bIns="18288" anchor="t">
            <a:spAutoFit/>
          </a:bodyPr>
          <a:lstStyle/>
          <a:p>
            <a:pPr algn="l">
              <a:lnSpc>
                <a:spcPct val="110000"/>
              </a:lnSpc>
            </a:pPr>
            <a:r>
              <a:rPr sz="1700" b="0" i="0">
                <a:solidFill>
                  <a:srgbClr val="222833"/>
                </a:solidFill>
                <a:latin typeface="微软雅黑"/>
              </a:rPr>
              <a:t>需处理指令歧义、遮挡与未见环境。</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VLN 的核心挑战</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99</a:t>
            </a:r>
          </a:p>
        </p:txBody>
      </p:sp>
      <p:sp>
        <p:nvSpPr>
          <p:cNvPr id="9" name="Rounded Rectangle 8"/>
          <p:cNvSpPr/>
          <p:nvPr/>
        </p:nvSpPr>
        <p:spPr>
          <a:xfrm>
            <a:off x="640080" y="1828800"/>
            <a:ext cx="3182112" cy="34747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1828800"/>
            <a:ext cx="77724" cy="34747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201168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指令歧义消解</a:t>
            </a:r>
          </a:p>
        </p:txBody>
      </p:sp>
      <p:sp>
        <p:nvSpPr>
          <p:cNvPr id="12" name="TextBox 11"/>
          <p:cNvSpPr txBox="1"/>
          <p:nvPr/>
        </p:nvSpPr>
        <p:spPr>
          <a:xfrm>
            <a:off x="859536" y="2487168"/>
            <a:ext cx="2798064" cy="268833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同一句话在不同场景可能对应不同路线或目标。</a:t>
            </a:r>
          </a:p>
        </p:txBody>
      </p:sp>
      <p:sp>
        <p:nvSpPr>
          <p:cNvPr id="13" name="Rounded Rectangle 12"/>
          <p:cNvSpPr/>
          <p:nvPr/>
        </p:nvSpPr>
        <p:spPr>
          <a:xfrm>
            <a:off x="4096512" y="1828800"/>
            <a:ext cx="3182112" cy="34747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096512" y="1828800"/>
            <a:ext cx="77724" cy="34747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15968" y="201168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视觉-语言对齐偏差</a:t>
            </a:r>
          </a:p>
        </p:txBody>
      </p:sp>
      <p:sp>
        <p:nvSpPr>
          <p:cNvPr id="16" name="TextBox 15"/>
          <p:cNvSpPr txBox="1"/>
          <p:nvPr/>
        </p:nvSpPr>
        <p:spPr>
          <a:xfrm>
            <a:off x="4315968" y="2487168"/>
            <a:ext cx="2798064" cy="268833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模型可能看到了对象，却没有正确理解语言中的空间关系。</a:t>
            </a:r>
          </a:p>
        </p:txBody>
      </p:sp>
      <p:sp>
        <p:nvSpPr>
          <p:cNvPr id="17" name="Rounded Rectangle 16"/>
          <p:cNvSpPr/>
          <p:nvPr/>
        </p:nvSpPr>
        <p:spPr>
          <a:xfrm>
            <a:off x="7552944" y="1828800"/>
            <a:ext cx="3182112" cy="34747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52944" y="1828800"/>
            <a:ext cx="77724" cy="34747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0" y="201168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C58A24"/>
                </a:solidFill>
                <a:latin typeface="微软雅黑"/>
              </a:rPr>
              <a:t>长程时序推理</a:t>
            </a:r>
          </a:p>
        </p:txBody>
      </p:sp>
      <p:sp>
        <p:nvSpPr>
          <p:cNvPr id="20" name="TextBox 19"/>
          <p:cNvSpPr txBox="1"/>
          <p:nvPr/>
        </p:nvSpPr>
        <p:spPr>
          <a:xfrm>
            <a:off x="7772400" y="2487168"/>
            <a:ext cx="2798064" cy="268833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导航需要在长时间跨度内保持目标、记忆历史并纠正错误。</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dirty="0">
                <a:solidFill>
                  <a:srgbClr val="24477D"/>
                </a:solidFill>
                <a:latin typeface="微软雅黑"/>
              </a:rPr>
              <a:t>6.6.2 </a:t>
            </a:r>
            <a:r>
              <a:rPr sz="3400" b="1" i="0" dirty="0" err="1">
                <a:solidFill>
                  <a:srgbClr val="24477D"/>
                </a:solidFill>
                <a:latin typeface="微软雅黑"/>
              </a:rPr>
              <a:t>典型模型</a:t>
            </a:r>
            <a:endParaRPr sz="3400" b="1" i="0" dirty="0">
              <a:solidFill>
                <a:srgbClr val="24477D"/>
              </a:solidFill>
              <a:latin typeface="微软雅黑"/>
            </a:endParaRP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100</a:t>
            </a:r>
          </a:p>
        </p:txBody>
      </p:sp>
      <p:sp>
        <p:nvSpPr>
          <p:cNvPr id="9" name="Rounded Rectangle 8"/>
          <p:cNvSpPr/>
          <p:nvPr/>
        </p:nvSpPr>
        <p:spPr>
          <a:xfrm>
            <a:off x="934720" y="2761488"/>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34720" y="2761488"/>
            <a:ext cx="2569464" cy="82296"/>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44448" y="2944368"/>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31599B"/>
                </a:solidFill>
                <a:latin typeface="微软雅黑"/>
              </a:rPr>
              <a:t>1</a:t>
            </a:r>
          </a:p>
        </p:txBody>
      </p:sp>
      <p:sp>
        <p:nvSpPr>
          <p:cNvPr id="12" name="TextBox 11"/>
          <p:cNvSpPr txBox="1"/>
          <p:nvPr/>
        </p:nvSpPr>
        <p:spPr>
          <a:xfrm>
            <a:off x="1437640" y="2926080"/>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31599B"/>
                </a:solidFill>
                <a:latin typeface="微软雅黑"/>
              </a:rPr>
              <a:t>Seq2Seq</a:t>
            </a:r>
          </a:p>
        </p:txBody>
      </p:sp>
      <p:sp>
        <p:nvSpPr>
          <p:cNvPr id="13" name="TextBox 12"/>
          <p:cNvSpPr txBox="1"/>
          <p:nvPr/>
        </p:nvSpPr>
        <p:spPr>
          <a:xfrm>
            <a:off x="1081024" y="3364992"/>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RNN/LSTM 编码语言与视觉，注意力解码动作</a:t>
            </a:r>
          </a:p>
        </p:txBody>
      </p:sp>
      <p:sp>
        <p:nvSpPr>
          <p:cNvPr id="14" name="Rectangle 13"/>
          <p:cNvSpPr/>
          <p:nvPr/>
        </p:nvSpPr>
        <p:spPr>
          <a:xfrm>
            <a:off x="3540760" y="3346704"/>
            <a:ext cx="128016" cy="256032"/>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705352" y="2761488"/>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705352" y="2761488"/>
            <a:ext cx="2569464" cy="82296"/>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815080" y="2944368"/>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2F8E72"/>
                </a:solidFill>
                <a:latin typeface="微软雅黑"/>
              </a:rPr>
              <a:t>2</a:t>
            </a:r>
          </a:p>
        </p:txBody>
      </p:sp>
      <p:sp>
        <p:nvSpPr>
          <p:cNvPr id="18" name="TextBox 17"/>
          <p:cNvSpPr txBox="1"/>
          <p:nvPr/>
        </p:nvSpPr>
        <p:spPr>
          <a:xfrm>
            <a:off x="4208272" y="2926080"/>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2F8E72"/>
                </a:solidFill>
                <a:latin typeface="微软雅黑"/>
              </a:rPr>
              <a:t>Transformer</a:t>
            </a:r>
          </a:p>
        </p:txBody>
      </p:sp>
      <p:sp>
        <p:nvSpPr>
          <p:cNvPr id="19" name="TextBox 18"/>
          <p:cNvSpPr txBox="1"/>
          <p:nvPr/>
        </p:nvSpPr>
        <p:spPr>
          <a:xfrm>
            <a:off x="3851656" y="3364992"/>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自注意力实现视觉词元与语言词元的细粒度对齐</a:t>
            </a:r>
          </a:p>
        </p:txBody>
      </p:sp>
      <p:sp>
        <p:nvSpPr>
          <p:cNvPr id="20" name="Rectangle 19"/>
          <p:cNvSpPr/>
          <p:nvPr/>
        </p:nvSpPr>
        <p:spPr>
          <a:xfrm>
            <a:off x="6311392" y="3346704"/>
            <a:ext cx="128016" cy="256032"/>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475984" y="2761488"/>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475984" y="2761488"/>
            <a:ext cx="2569464" cy="82296"/>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85712" y="2944368"/>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58A24"/>
                </a:solidFill>
                <a:latin typeface="微软雅黑"/>
              </a:rPr>
              <a:t>3</a:t>
            </a:r>
          </a:p>
        </p:txBody>
      </p:sp>
      <p:sp>
        <p:nvSpPr>
          <p:cNvPr id="24" name="TextBox 23"/>
          <p:cNvSpPr txBox="1"/>
          <p:nvPr/>
        </p:nvSpPr>
        <p:spPr>
          <a:xfrm>
            <a:off x="6978904" y="2926080"/>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C58A24"/>
                </a:solidFill>
                <a:latin typeface="微软雅黑"/>
              </a:rPr>
              <a:t>RL 增强</a:t>
            </a:r>
          </a:p>
        </p:txBody>
      </p:sp>
      <p:sp>
        <p:nvSpPr>
          <p:cNvPr id="25" name="TextBox 24"/>
          <p:cNvSpPr txBox="1"/>
          <p:nvPr/>
        </p:nvSpPr>
        <p:spPr>
          <a:xfrm>
            <a:off x="6622288" y="3364992"/>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在模仿学习基础上用 PPO 等微调策略</a:t>
            </a:r>
          </a:p>
        </p:txBody>
      </p:sp>
      <p:sp>
        <p:nvSpPr>
          <p:cNvPr id="26" name="Rectangle 25"/>
          <p:cNvSpPr/>
          <p:nvPr/>
        </p:nvSpPr>
        <p:spPr>
          <a:xfrm>
            <a:off x="9082024" y="3346704"/>
            <a:ext cx="128016" cy="256032"/>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246616" y="2761488"/>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246616" y="2761488"/>
            <a:ext cx="2569464" cy="82296"/>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356344" y="2944368"/>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63F45"/>
                </a:solidFill>
                <a:latin typeface="微软雅黑"/>
              </a:rPr>
              <a:t>4</a:t>
            </a:r>
          </a:p>
        </p:txBody>
      </p:sp>
      <p:sp>
        <p:nvSpPr>
          <p:cNvPr id="30" name="TextBox 29"/>
          <p:cNvSpPr txBox="1"/>
          <p:nvPr/>
        </p:nvSpPr>
        <p:spPr>
          <a:xfrm>
            <a:off x="9749536" y="2926080"/>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C63F45"/>
                </a:solidFill>
                <a:latin typeface="微软雅黑"/>
              </a:rPr>
              <a:t>VLA 融合</a:t>
            </a:r>
          </a:p>
        </p:txBody>
      </p:sp>
      <p:sp>
        <p:nvSpPr>
          <p:cNvPr id="31" name="TextBox 30"/>
          <p:cNvSpPr txBox="1"/>
          <p:nvPr/>
        </p:nvSpPr>
        <p:spPr>
          <a:xfrm>
            <a:off x="9392920" y="3364992"/>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利用大规模多模态预训练提升复杂指令和长程规划</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Seq2Seq 基线：根据历史观测和语言上下文预测动作</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101</a:t>
            </a:r>
          </a:p>
        </p:txBody>
      </p:sp>
      <p:sp>
        <p:nvSpPr>
          <p:cNvPr id="9" name="TextBox 8"/>
          <p:cNvSpPr txBox="1"/>
          <p:nvPr/>
        </p:nvSpPr>
        <p:spPr>
          <a:xfrm>
            <a:off x="804672" y="1737360"/>
            <a:ext cx="10561320" cy="355482"/>
          </a:xfrm>
          <a:prstGeom prst="rect">
            <a:avLst/>
          </a:prstGeom>
          <a:noFill/>
        </p:spPr>
        <p:txBody>
          <a:bodyPr wrap="square" lIns="18288" tIns="18288" rIns="18288" bIns="18288" anchor="t">
            <a:spAutoFit/>
          </a:bodyPr>
          <a:lstStyle/>
          <a:p>
            <a:pPr algn="ctr">
              <a:lnSpc>
                <a:spcPct val="105000"/>
              </a:lnSpc>
            </a:pPr>
            <a:r>
              <a:rPr sz="2100" b="0" i="0" dirty="0" err="1">
                <a:solidFill>
                  <a:srgbClr val="222833"/>
                </a:solidFill>
                <a:latin typeface="微软雅黑"/>
              </a:rPr>
              <a:t>早期</a:t>
            </a:r>
            <a:r>
              <a:rPr sz="2100" b="0" i="0" dirty="0">
                <a:solidFill>
                  <a:srgbClr val="222833"/>
                </a:solidFill>
                <a:latin typeface="微软雅黑"/>
              </a:rPr>
              <a:t> VLN 以 RNN/LSTM </a:t>
            </a:r>
            <a:r>
              <a:rPr sz="2100" b="0" i="0" dirty="0" err="1">
                <a:solidFill>
                  <a:srgbClr val="222833"/>
                </a:solidFill>
                <a:latin typeface="微软雅黑"/>
              </a:rPr>
              <a:t>为主，通过注意力机制把语言与视觉上下文融合到动作解码中</a:t>
            </a:r>
            <a:endParaRPr sz="2100" b="0" i="0" dirty="0">
              <a:solidFill>
                <a:srgbClr val="222833"/>
              </a:solidFill>
              <a:latin typeface="微软雅黑"/>
            </a:endParaRPr>
          </a:p>
        </p:txBody>
      </p:sp>
      <p:sp>
        <p:nvSpPr>
          <p:cNvPr id="13" name="Rounded Rectangle 12"/>
          <p:cNvSpPr/>
          <p:nvPr/>
        </p:nvSpPr>
        <p:spPr>
          <a:xfrm>
            <a:off x="685800" y="4343400"/>
            <a:ext cx="5230368" cy="132588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85800" y="4343400"/>
            <a:ext cx="77724" cy="132588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05256" y="452628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hₜ</a:t>
            </a:r>
          </a:p>
        </p:txBody>
      </p:sp>
      <p:sp>
        <p:nvSpPr>
          <p:cNvPr id="16" name="TextBox 15"/>
          <p:cNvSpPr txBox="1"/>
          <p:nvPr/>
        </p:nvSpPr>
        <p:spPr>
          <a:xfrm>
            <a:off x="905256" y="5001768"/>
            <a:ext cx="4846320" cy="53949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解码器在当前时刻的隐状态。</a:t>
            </a:r>
          </a:p>
        </p:txBody>
      </p:sp>
      <p:sp>
        <p:nvSpPr>
          <p:cNvPr id="17" name="Rounded Rectangle 16"/>
          <p:cNvSpPr/>
          <p:nvPr/>
        </p:nvSpPr>
        <p:spPr>
          <a:xfrm>
            <a:off x="6199632" y="4343400"/>
            <a:ext cx="5230368" cy="132588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99632" y="4343400"/>
            <a:ext cx="77724" cy="132588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19088" y="452628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cₜ</a:t>
            </a:r>
          </a:p>
        </p:txBody>
      </p:sp>
      <p:sp>
        <p:nvSpPr>
          <p:cNvPr id="20" name="TextBox 19"/>
          <p:cNvSpPr txBox="1"/>
          <p:nvPr/>
        </p:nvSpPr>
        <p:spPr>
          <a:xfrm>
            <a:off x="6419088" y="5001768"/>
            <a:ext cx="4846320" cy="53949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注意力机制得到的上下文向量。</a:t>
            </a:r>
          </a:p>
        </p:txBody>
      </p:sp>
      <p:pic>
        <p:nvPicPr>
          <p:cNvPr id="22" name="图片 21">
            <a:extLst>
              <a:ext uri="{FF2B5EF4-FFF2-40B4-BE49-F238E27FC236}">
                <a16:creationId xmlns:a16="http://schemas.microsoft.com/office/drawing/2014/main" id="{B16E092E-A9F8-D5C5-9B19-CD61147C64E5}"/>
              </a:ext>
            </a:extLst>
          </p:cNvPr>
          <p:cNvPicPr>
            <a:picLocks noChangeAspect="1"/>
          </p:cNvPicPr>
          <p:nvPr/>
        </p:nvPicPr>
        <p:blipFill>
          <a:blip r:embed="rId2"/>
          <a:stretch>
            <a:fillRect/>
          </a:stretch>
        </p:blipFill>
        <p:spPr>
          <a:xfrm>
            <a:off x="3568527" y="2891897"/>
            <a:ext cx="5701121" cy="830933"/>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基于 Transformer 的 VLN 模型</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102</a:t>
            </a:r>
          </a:p>
        </p:txBody>
      </p:sp>
      <p:sp>
        <p:nvSpPr>
          <p:cNvPr id="9" name="Rounded Rectangle 8"/>
          <p:cNvSpPr/>
          <p:nvPr/>
        </p:nvSpPr>
        <p:spPr>
          <a:xfrm>
            <a:off x="685800" y="1828800"/>
            <a:ext cx="5230368" cy="246888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1828800"/>
            <a:ext cx="77724" cy="246888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5256" y="201168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VLN-BERT</a:t>
            </a:r>
          </a:p>
        </p:txBody>
      </p:sp>
      <p:sp>
        <p:nvSpPr>
          <p:cNvPr id="12" name="TextBox 11"/>
          <p:cNvSpPr txBox="1"/>
          <p:nvPr/>
        </p:nvSpPr>
        <p:spPr>
          <a:xfrm>
            <a:off x="905256" y="2487168"/>
            <a:ext cx="4846320" cy="1682496"/>
          </a:xfrm>
          <a:prstGeom prst="rect">
            <a:avLst/>
          </a:prstGeom>
          <a:noFill/>
        </p:spPr>
        <p:txBody>
          <a:bodyPr wrap="square" lIns="18288" tIns="18288" rIns="18288" bIns="18288" anchor="t">
            <a:spAutoFit/>
          </a:bodyPr>
          <a:lstStyle/>
          <a:p>
            <a:pPr algn="l">
              <a:lnSpc>
                <a:spcPct val="110000"/>
              </a:lnSpc>
            </a:pPr>
            <a:r>
              <a:rPr sz="2000" b="0" i="0">
                <a:solidFill>
                  <a:srgbClr val="222833"/>
                </a:solidFill>
                <a:latin typeface="微软雅黑"/>
              </a:rPr>
              <a:t>利用 BERT/自注意力建模视觉与语言的跨模态关系。</a:t>
            </a:r>
          </a:p>
        </p:txBody>
      </p:sp>
      <p:sp>
        <p:nvSpPr>
          <p:cNvPr id="13" name="Rounded Rectangle 12"/>
          <p:cNvSpPr/>
          <p:nvPr/>
        </p:nvSpPr>
        <p:spPr>
          <a:xfrm>
            <a:off x="6199632" y="1828800"/>
            <a:ext cx="5230368" cy="246888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99632" y="1828800"/>
            <a:ext cx="77724" cy="246888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19088" y="201168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HAMT</a:t>
            </a:r>
          </a:p>
        </p:txBody>
      </p:sp>
      <p:sp>
        <p:nvSpPr>
          <p:cNvPr id="16" name="TextBox 15"/>
          <p:cNvSpPr txBox="1"/>
          <p:nvPr/>
        </p:nvSpPr>
        <p:spPr>
          <a:xfrm>
            <a:off x="6419088" y="2487168"/>
            <a:ext cx="4846320" cy="1682496"/>
          </a:xfrm>
          <a:prstGeom prst="rect">
            <a:avLst/>
          </a:prstGeom>
          <a:noFill/>
        </p:spPr>
        <p:txBody>
          <a:bodyPr wrap="square" lIns="18288" tIns="18288" rIns="18288" bIns="18288" anchor="t">
            <a:spAutoFit/>
          </a:bodyPr>
          <a:lstStyle/>
          <a:p>
            <a:pPr algn="l">
              <a:lnSpc>
                <a:spcPct val="110000"/>
              </a:lnSpc>
            </a:pPr>
            <a:r>
              <a:rPr sz="2000" b="0" i="0">
                <a:solidFill>
                  <a:srgbClr val="222833"/>
                </a:solidFill>
                <a:latin typeface="微软雅黑"/>
              </a:rPr>
              <a:t>进一步强化历史记忆与多模态时序建模。</a:t>
            </a:r>
          </a:p>
        </p:txBody>
      </p:sp>
      <p:sp>
        <p:nvSpPr>
          <p:cNvPr id="17" name="TextBox 16"/>
          <p:cNvSpPr txBox="1"/>
          <p:nvPr/>
        </p:nvSpPr>
        <p:spPr>
          <a:xfrm>
            <a:off x="1051560" y="4800600"/>
            <a:ext cx="10058400" cy="621792"/>
          </a:xfrm>
          <a:prstGeom prst="rect">
            <a:avLst/>
          </a:prstGeom>
          <a:noFill/>
        </p:spPr>
        <p:txBody>
          <a:bodyPr wrap="square" lIns="18288" tIns="18288" rIns="18288" bIns="18288" anchor="t">
            <a:spAutoFit/>
          </a:bodyPr>
          <a:lstStyle/>
          <a:p>
            <a:pPr algn="ctr">
              <a:lnSpc>
                <a:spcPct val="105000"/>
              </a:lnSpc>
            </a:pPr>
            <a:r>
              <a:rPr sz="2200" b="1" i="0">
                <a:solidFill>
                  <a:srgbClr val="24477D"/>
                </a:solidFill>
                <a:latin typeface="微软雅黑"/>
              </a:rPr>
              <a:t>现代框架还会整合 LLM 的语言理解能力，进行复杂指令解析与子任务分解。</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强化学习增强 VLN：缓解模仿学习的复合误差</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103</a:t>
            </a:r>
          </a:p>
        </p:txBody>
      </p:sp>
      <p:sp>
        <p:nvSpPr>
          <p:cNvPr id="9" name="TextBox 8"/>
          <p:cNvSpPr txBox="1"/>
          <p:nvPr/>
        </p:nvSpPr>
        <p:spPr>
          <a:xfrm>
            <a:off x="822960" y="1783080"/>
            <a:ext cx="10515600" cy="713232"/>
          </a:xfrm>
          <a:prstGeom prst="rect">
            <a:avLst/>
          </a:prstGeom>
          <a:noFill/>
        </p:spPr>
        <p:txBody>
          <a:bodyPr wrap="square" lIns="18288" tIns="18288" rIns="18288" bIns="18288" anchor="t">
            <a:spAutoFit/>
          </a:bodyPr>
          <a:lstStyle/>
          <a:p>
            <a:pPr algn="ctr">
              <a:lnSpc>
                <a:spcPct val="105000"/>
              </a:lnSpc>
            </a:pPr>
            <a:r>
              <a:rPr sz="2100" b="0" i="0">
                <a:solidFill>
                  <a:srgbClr val="222833"/>
                </a:solidFill>
                <a:latin typeface="微软雅黑"/>
              </a:rPr>
              <a:t>仅依赖专家轨迹进行模仿学习时，模型一旦偏离专家分布，错误可能不断累积（Compounding Error）。</a:t>
            </a:r>
          </a:p>
        </p:txBody>
      </p:sp>
      <p:sp>
        <p:nvSpPr>
          <p:cNvPr id="10" name="Rounded Rectangle 9"/>
          <p:cNvSpPr/>
          <p:nvPr/>
        </p:nvSpPr>
        <p:spPr>
          <a:xfrm>
            <a:off x="685800" y="278892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85800" y="2788920"/>
            <a:ext cx="2569464" cy="82296"/>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5528" y="297180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31599B"/>
                </a:solidFill>
                <a:latin typeface="微软雅黑"/>
              </a:rPr>
              <a:t>1</a:t>
            </a:r>
          </a:p>
        </p:txBody>
      </p:sp>
      <p:sp>
        <p:nvSpPr>
          <p:cNvPr id="13" name="TextBox 12"/>
          <p:cNvSpPr txBox="1"/>
          <p:nvPr/>
        </p:nvSpPr>
        <p:spPr>
          <a:xfrm>
            <a:off x="1188720" y="295351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31599B"/>
                </a:solidFill>
                <a:latin typeface="微软雅黑"/>
              </a:rPr>
              <a:t>模仿学习初始化</a:t>
            </a:r>
          </a:p>
        </p:txBody>
      </p:sp>
      <p:sp>
        <p:nvSpPr>
          <p:cNvPr id="14" name="TextBox 13"/>
          <p:cNvSpPr txBox="1"/>
          <p:nvPr/>
        </p:nvSpPr>
        <p:spPr>
          <a:xfrm>
            <a:off x="832104" y="339242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先学习专家行为</a:t>
            </a:r>
          </a:p>
        </p:txBody>
      </p:sp>
      <p:sp>
        <p:nvSpPr>
          <p:cNvPr id="15" name="Rectangle 14"/>
          <p:cNvSpPr/>
          <p:nvPr/>
        </p:nvSpPr>
        <p:spPr>
          <a:xfrm>
            <a:off x="3291840" y="3374136"/>
            <a:ext cx="128016" cy="256032"/>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456432" y="278892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456432" y="2788920"/>
            <a:ext cx="2569464" cy="82296"/>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566160" y="297180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2F8E72"/>
                </a:solidFill>
                <a:latin typeface="微软雅黑"/>
              </a:rPr>
              <a:t>2</a:t>
            </a:r>
          </a:p>
        </p:txBody>
      </p:sp>
      <p:sp>
        <p:nvSpPr>
          <p:cNvPr id="19" name="TextBox 18"/>
          <p:cNvSpPr txBox="1"/>
          <p:nvPr/>
        </p:nvSpPr>
        <p:spPr>
          <a:xfrm>
            <a:off x="3959352" y="295351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2F8E72"/>
                </a:solidFill>
                <a:latin typeface="微软雅黑"/>
              </a:rPr>
              <a:t>模拟器交互</a:t>
            </a:r>
          </a:p>
        </p:txBody>
      </p:sp>
      <p:sp>
        <p:nvSpPr>
          <p:cNvPr id="20" name="TextBox 19"/>
          <p:cNvSpPr txBox="1"/>
          <p:nvPr/>
        </p:nvSpPr>
        <p:spPr>
          <a:xfrm>
            <a:off x="3602736" y="339242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让策略面对自己的状态分布</a:t>
            </a:r>
          </a:p>
        </p:txBody>
      </p:sp>
      <p:sp>
        <p:nvSpPr>
          <p:cNvPr id="21" name="Rectangle 20"/>
          <p:cNvSpPr/>
          <p:nvPr/>
        </p:nvSpPr>
        <p:spPr>
          <a:xfrm>
            <a:off x="6062472" y="3374136"/>
            <a:ext cx="128016" cy="256032"/>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227064" y="278892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227064" y="2788920"/>
            <a:ext cx="2569464" cy="82296"/>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36792" y="297180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58A24"/>
                </a:solidFill>
                <a:latin typeface="微软雅黑"/>
              </a:rPr>
              <a:t>3</a:t>
            </a:r>
          </a:p>
        </p:txBody>
      </p:sp>
      <p:sp>
        <p:nvSpPr>
          <p:cNvPr id="25" name="TextBox 24"/>
          <p:cNvSpPr txBox="1"/>
          <p:nvPr/>
        </p:nvSpPr>
        <p:spPr>
          <a:xfrm>
            <a:off x="6729984" y="295351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C58A24"/>
                </a:solidFill>
                <a:latin typeface="微软雅黑"/>
              </a:rPr>
              <a:t>PPO 等微调</a:t>
            </a:r>
          </a:p>
        </p:txBody>
      </p:sp>
      <p:sp>
        <p:nvSpPr>
          <p:cNvPr id="26" name="TextBox 25"/>
          <p:cNvSpPr txBox="1"/>
          <p:nvPr/>
        </p:nvSpPr>
        <p:spPr>
          <a:xfrm>
            <a:off x="6373368" y="339242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最大化成功、效率相关奖励</a:t>
            </a:r>
          </a:p>
        </p:txBody>
      </p:sp>
      <p:sp>
        <p:nvSpPr>
          <p:cNvPr id="27" name="Rectangle 26"/>
          <p:cNvSpPr/>
          <p:nvPr/>
        </p:nvSpPr>
        <p:spPr>
          <a:xfrm>
            <a:off x="8833104" y="3374136"/>
            <a:ext cx="128016" cy="256032"/>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997696" y="278892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997696" y="2788920"/>
            <a:ext cx="2569464" cy="82296"/>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107424" y="297180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63F45"/>
                </a:solidFill>
                <a:latin typeface="微软雅黑"/>
              </a:rPr>
              <a:t>4</a:t>
            </a:r>
          </a:p>
        </p:txBody>
      </p:sp>
      <p:sp>
        <p:nvSpPr>
          <p:cNvPr id="31" name="TextBox 30"/>
          <p:cNvSpPr txBox="1"/>
          <p:nvPr/>
        </p:nvSpPr>
        <p:spPr>
          <a:xfrm>
            <a:off x="9500616" y="295351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C63F45"/>
                </a:solidFill>
                <a:latin typeface="微软雅黑"/>
              </a:rPr>
              <a:t>提升鲁棒性</a:t>
            </a:r>
          </a:p>
        </p:txBody>
      </p:sp>
      <p:sp>
        <p:nvSpPr>
          <p:cNvPr id="32" name="TextBox 31"/>
          <p:cNvSpPr txBox="1"/>
          <p:nvPr/>
        </p:nvSpPr>
        <p:spPr>
          <a:xfrm>
            <a:off x="9144000" y="339242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更好处理偏离和未见状态</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VLN 评价指标与发展趋势</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104</a:t>
            </a:r>
          </a:p>
        </p:txBody>
      </p:sp>
      <p:sp>
        <p:nvSpPr>
          <p:cNvPr id="9" name="Rounded Rectangle 8"/>
          <p:cNvSpPr/>
          <p:nvPr/>
        </p:nvSpPr>
        <p:spPr>
          <a:xfrm>
            <a:off x="685800" y="1828800"/>
            <a:ext cx="5230368" cy="219456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1828800"/>
            <a:ext cx="77724" cy="219456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5256" y="201168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Success Rate (SR)</a:t>
            </a:r>
          </a:p>
        </p:txBody>
      </p:sp>
      <p:sp>
        <p:nvSpPr>
          <p:cNvPr id="12" name="TextBox 11"/>
          <p:cNvSpPr txBox="1"/>
          <p:nvPr/>
        </p:nvSpPr>
        <p:spPr>
          <a:xfrm>
            <a:off x="905256" y="2487168"/>
            <a:ext cx="4846320" cy="1408176"/>
          </a:xfrm>
          <a:prstGeom prst="rect">
            <a:avLst/>
          </a:prstGeom>
          <a:noFill/>
        </p:spPr>
        <p:txBody>
          <a:bodyPr wrap="square" lIns="18288" tIns="18288" rIns="18288" bIns="18288" anchor="t">
            <a:spAutoFit/>
          </a:bodyPr>
          <a:lstStyle/>
          <a:p>
            <a:pPr algn="l">
              <a:lnSpc>
                <a:spcPct val="110000"/>
              </a:lnSpc>
            </a:pPr>
            <a:r>
              <a:rPr sz="2000" b="0" i="0">
                <a:solidFill>
                  <a:srgbClr val="222833"/>
                </a:solidFill>
                <a:latin typeface="微软雅黑"/>
              </a:rPr>
              <a:t>衡量是否最终到达目标。</a:t>
            </a:r>
          </a:p>
        </p:txBody>
      </p:sp>
      <p:sp>
        <p:nvSpPr>
          <p:cNvPr id="13" name="Rounded Rectangle 12"/>
          <p:cNvSpPr/>
          <p:nvPr/>
        </p:nvSpPr>
        <p:spPr>
          <a:xfrm>
            <a:off x="6199632" y="1828800"/>
            <a:ext cx="5230368" cy="219456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99632" y="1828800"/>
            <a:ext cx="77724" cy="219456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19088" y="201168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SPL</a:t>
            </a:r>
          </a:p>
        </p:txBody>
      </p:sp>
      <p:sp>
        <p:nvSpPr>
          <p:cNvPr id="16" name="TextBox 15"/>
          <p:cNvSpPr txBox="1"/>
          <p:nvPr/>
        </p:nvSpPr>
        <p:spPr>
          <a:xfrm>
            <a:off x="6419088" y="2487168"/>
            <a:ext cx="4846320" cy="1408176"/>
          </a:xfrm>
          <a:prstGeom prst="rect">
            <a:avLst/>
          </a:prstGeom>
          <a:noFill/>
        </p:spPr>
        <p:txBody>
          <a:bodyPr wrap="square" lIns="18288" tIns="18288" rIns="18288" bIns="18288" anchor="t">
            <a:spAutoFit/>
          </a:bodyPr>
          <a:lstStyle/>
          <a:p>
            <a:pPr algn="l">
              <a:lnSpc>
                <a:spcPct val="110000"/>
              </a:lnSpc>
            </a:pPr>
            <a:r>
              <a:rPr sz="2000" b="0" i="0">
                <a:solidFill>
                  <a:srgbClr val="222833"/>
                </a:solidFill>
                <a:latin typeface="微软雅黑"/>
              </a:rPr>
              <a:t>同时衡量成功与路径效率。</a:t>
            </a:r>
          </a:p>
        </p:txBody>
      </p:sp>
      <p:sp>
        <p:nvSpPr>
          <p:cNvPr id="17" name="Rounded Rectangle 16"/>
          <p:cNvSpPr/>
          <p:nvPr/>
        </p:nvSpPr>
        <p:spPr>
          <a:xfrm>
            <a:off x="1554480" y="4526280"/>
            <a:ext cx="9098280" cy="1534160"/>
          </a:xfrm>
          <a:prstGeom prst="roundRect">
            <a:avLst/>
          </a:prstGeom>
          <a:solidFill>
            <a:srgbClr val="FFF4DE"/>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554480" y="4526280"/>
            <a:ext cx="85344" cy="147828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773936" y="4709160"/>
            <a:ext cx="8686800" cy="384048"/>
          </a:xfrm>
          <a:prstGeom prst="rect">
            <a:avLst/>
          </a:prstGeom>
          <a:noFill/>
        </p:spPr>
        <p:txBody>
          <a:bodyPr wrap="square" lIns="18288" tIns="18288" rIns="18288" bIns="18288" anchor="t">
            <a:spAutoFit/>
          </a:bodyPr>
          <a:lstStyle/>
          <a:p>
            <a:pPr algn="l">
              <a:lnSpc>
                <a:spcPct val="105000"/>
              </a:lnSpc>
            </a:pPr>
            <a:r>
              <a:rPr sz="2000" b="1" i="0">
                <a:solidFill>
                  <a:srgbClr val="C58A24"/>
                </a:solidFill>
                <a:latin typeface="微软雅黑"/>
              </a:rPr>
              <a:t>趋势</a:t>
            </a:r>
          </a:p>
        </p:txBody>
      </p:sp>
      <p:sp>
        <p:nvSpPr>
          <p:cNvPr id="20" name="TextBox 19"/>
          <p:cNvSpPr txBox="1"/>
          <p:nvPr/>
        </p:nvSpPr>
        <p:spPr>
          <a:xfrm>
            <a:off x="1773936" y="5184648"/>
            <a:ext cx="8714232" cy="448056"/>
          </a:xfrm>
          <a:prstGeom prst="rect">
            <a:avLst/>
          </a:prstGeom>
          <a:noFill/>
        </p:spPr>
        <p:txBody>
          <a:bodyPr wrap="square" lIns="18288" tIns="18288" rIns="18288" bIns="18288" anchor="t">
            <a:spAutoFit/>
          </a:bodyPr>
          <a:lstStyle/>
          <a:p>
            <a:pPr algn="l">
              <a:lnSpc>
                <a:spcPct val="110000"/>
              </a:lnSpc>
            </a:pPr>
            <a:r>
              <a:rPr sz="1800" b="0" i="0" dirty="0" err="1">
                <a:solidFill>
                  <a:srgbClr val="222833"/>
                </a:solidFill>
                <a:latin typeface="微软雅黑"/>
              </a:rPr>
              <a:t>随着多模态大模型兴起，VLN</a:t>
            </a:r>
            <a:r>
              <a:rPr sz="1800" b="0" i="0" dirty="0">
                <a:solidFill>
                  <a:srgbClr val="222833"/>
                </a:solidFill>
                <a:latin typeface="微软雅黑"/>
              </a:rPr>
              <a:t> </a:t>
            </a:r>
            <a:r>
              <a:rPr sz="1800" b="0" i="0" dirty="0" err="1">
                <a:solidFill>
                  <a:srgbClr val="222833"/>
                </a:solidFill>
                <a:latin typeface="微软雅黑"/>
              </a:rPr>
              <a:t>正逐步与视觉-语言-动作（VLA）模型融合，以提升复杂指令理解与长程规划能力</a:t>
            </a:r>
            <a:r>
              <a:rPr sz="1800" b="0" i="0" dirty="0">
                <a:solidFill>
                  <a:srgbClr val="222833"/>
                </a:solidFill>
                <a:latin typeface="微软雅黑"/>
              </a:rPr>
              <a:t>。</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78638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86384" y="0"/>
            <a:ext cx="73152"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921240" y="347472"/>
            <a:ext cx="160020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具身智能导论 · 第 6 章</a:t>
            </a:r>
          </a:p>
        </p:txBody>
      </p:sp>
      <p:sp>
        <p:nvSpPr>
          <p:cNvPr id="5" name="TextBox 4"/>
          <p:cNvSpPr txBox="1"/>
          <p:nvPr/>
        </p:nvSpPr>
        <p:spPr>
          <a:xfrm>
            <a:off x="1938528" y="2011680"/>
            <a:ext cx="1627632" cy="914400"/>
          </a:xfrm>
          <a:prstGeom prst="rect">
            <a:avLst/>
          </a:prstGeom>
          <a:noFill/>
        </p:spPr>
        <p:txBody>
          <a:bodyPr wrap="square" lIns="18288" tIns="18288" rIns="18288" bIns="18288" anchor="ctr">
            <a:spAutoFit/>
          </a:bodyPr>
          <a:lstStyle/>
          <a:p>
            <a:pPr algn="ctr">
              <a:lnSpc>
                <a:spcPct val="105000"/>
              </a:lnSpc>
            </a:pPr>
            <a:r>
              <a:rPr sz="7200" b="1" i="0">
                <a:solidFill>
                  <a:srgbClr val="31599B"/>
                </a:solidFill>
                <a:latin typeface="微软雅黑"/>
              </a:rPr>
              <a:t>07</a:t>
            </a:r>
          </a:p>
        </p:txBody>
      </p:sp>
      <p:sp>
        <p:nvSpPr>
          <p:cNvPr id="6" name="TextBox 5"/>
          <p:cNvSpPr txBox="1"/>
          <p:nvPr/>
        </p:nvSpPr>
        <p:spPr>
          <a:xfrm>
            <a:off x="3429000" y="2249424"/>
            <a:ext cx="8001000" cy="685800"/>
          </a:xfrm>
          <a:prstGeom prst="rect">
            <a:avLst/>
          </a:prstGeom>
          <a:noFill/>
        </p:spPr>
        <p:txBody>
          <a:bodyPr wrap="square" lIns="18288" tIns="18288" rIns="18288" bIns="18288" anchor="ctr">
            <a:spAutoFit/>
          </a:bodyPr>
          <a:lstStyle/>
          <a:p>
            <a:pPr algn="l">
              <a:lnSpc>
                <a:spcPct val="105000"/>
              </a:lnSpc>
            </a:pPr>
            <a:r>
              <a:rPr sz="3500" b="1" i="0">
                <a:solidFill>
                  <a:srgbClr val="24477D"/>
                </a:solidFill>
                <a:latin typeface="微软雅黑"/>
              </a:rPr>
              <a:t>案例：轮臂机器人具身导航仿真</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6.7 Fetch 轮臂机器人：把本章技术串成一个完整系统</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106</a:t>
            </a:r>
          </a:p>
        </p:txBody>
      </p:sp>
      <p:sp>
        <p:nvSpPr>
          <p:cNvPr id="9" name="TextBox 8"/>
          <p:cNvSpPr txBox="1"/>
          <p:nvPr/>
        </p:nvSpPr>
        <p:spPr>
          <a:xfrm>
            <a:off x="777240" y="1783080"/>
            <a:ext cx="10652760" cy="804672"/>
          </a:xfrm>
          <a:prstGeom prst="rect">
            <a:avLst/>
          </a:prstGeom>
          <a:noFill/>
        </p:spPr>
        <p:txBody>
          <a:bodyPr wrap="square" lIns="18288" tIns="18288" rIns="18288" bIns="18288" anchor="t">
            <a:spAutoFit/>
          </a:bodyPr>
          <a:lstStyle/>
          <a:p>
            <a:pPr algn="ctr">
              <a:lnSpc>
                <a:spcPct val="105000"/>
              </a:lnSpc>
            </a:pPr>
            <a:r>
              <a:rPr sz="2100" b="0" i="0">
                <a:solidFill>
                  <a:srgbClr val="222833"/>
                </a:solidFill>
                <a:latin typeface="微软雅黑"/>
              </a:rPr>
              <a:t>轮臂机器人将轮式移动底盘与多自由度机械臂结合：既能自主导航，也能在到达目标后执行抓取等操作。</a:t>
            </a:r>
          </a:p>
        </p:txBody>
      </p:sp>
      <p:sp>
        <p:nvSpPr>
          <p:cNvPr id="10" name="Rounded Rectangle 9"/>
          <p:cNvSpPr/>
          <p:nvPr/>
        </p:nvSpPr>
        <p:spPr>
          <a:xfrm>
            <a:off x="685800" y="2926080"/>
            <a:ext cx="5230368" cy="22860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85800" y="2926080"/>
            <a:ext cx="77724" cy="2286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05256" y="310896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案例平台</a:t>
            </a:r>
          </a:p>
        </p:txBody>
      </p:sp>
      <p:sp>
        <p:nvSpPr>
          <p:cNvPr id="13" name="TextBox 12"/>
          <p:cNvSpPr txBox="1"/>
          <p:nvPr/>
        </p:nvSpPr>
        <p:spPr>
          <a:xfrm>
            <a:off x="905256" y="3584448"/>
            <a:ext cx="4846320" cy="1499616"/>
          </a:xfrm>
          <a:prstGeom prst="rect">
            <a:avLst/>
          </a:prstGeom>
          <a:noFill/>
        </p:spPr>
        <p:txBody>
          <a:bodyPr wrap="square" lIns="18288" tIns="18288" rIns="18288" bIns="18288" anchor="t">
            <a:spAutoFit/>
          </a:bodyPr>
          <a:lstStyle/>
          <a:p>
            <a:pPr algn="l">
              <a:lnSpc>
                <a:spcPct val="110000"/>
              </a:lnSpc>
            </a:pPr>
            <a:r>
              <a:rPr sz="2000" b="0" i="0">
                <a:solidFill>
                  <a:srgbClr val="222833"/>
                </a:solidFill>
                <a:latin typeface="微软雅黑"/>
              </a:rPr>
              <a:t>经典 Fetch 轮臂机器人 + Gazebo 仿真环境。</a:t>
            </a:r>
          </a:p>
        </p:txBody>
      </p:sp>
      <p:sp>
        <p:nvSpPr>
          <p:cNvPr id="14" name="Rounded Rectangle 13"/>
          <p:cNvSpPr/>
          <p:nvPr/>
        </p:nvSpPr>
        <p:spPr>
          <a:xfrm>
            <a:off x="6199632" y="2926080"/>
            <a:ext cx="5230368" cy="22860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199632" y="2926080"/>
            <a:ext cx="77724" cy="228600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19088" y="3108960"/>
            <a:ext cx="4818888"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实践目标</a:t>
            </a:r>
          </a:p>
        </p:txBody>
      </p:sp>
      <p:sp>
        <p:nvSpPr>
          <p:cNvPr id="17" name="TextBox 16"/>
          <p:cNvSpPr txBox="1"/>
          <p:nvPr/>
        </p:nvSpPr>
        <p:spPr>
          <a:xfrm>
            <a:off x="6419088" y="3584448"/>
            <a:ext cx="4846320" cy="1499616"/>
          </a:xfrm>
          <a:prstGeom prst="rect">
            <a:avLst/>
          </a:prstGeom>
          <a:noFill/>
        </p:spPr>
        <p:txBody>
          <a:bodyPr wrap="square" lIns="18288" tIns="18288" rIns="18288" bIns="18288" anchor="t">
            <a:spAutoFit/>
          </a:bodyPr>
          <a:lstStyle/>
          <a:p>
            <a:pPr algn="l">
              <a:lnSpc>
                <a:spcPct val="110000"/>
              </a:lnSpc>
            </a:pPr>
            <a:r>
              <a:rPr sz="1900" b="0" i="0">
                <a:solidFill>
                  <a:srgbClr val="222833"/>
                </a:solidFill>
                <a:latin typeface="微软雅黑"/>
              </a:rPr>
              <a:t>从随机起点自主完成 PointGoal Navigation，并为后续机械臂抓取预留接口。</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dirty="0" err="1">
                <a:solidFill>
                  <a:srgbClr val="24477D"/>
                </a:solidFill>
                <a:latin typeface="微软雅黑"/>
              </a:rPr>
              <a:t>系统组成</a:t>
            </a:r>
            <a:endParaRPr sz="3400" b="1" i="0" dirty="0">
              <a:solidFill>
                <a:srgbClr val="24477D"/>
              </a:solidFill>
              <a:latin typeface="微软雅黑"/>
            </a:endParaRP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107</a:t>
            </a:r>
          </a:p>
        </p:txBody>
      </p:sp>
      <p:sp>
        <p:nvSpPr>
          <p:cNvPr id="9" name="Rounded Rectangle 8"/>
          <p:cNvSpPr/>
          <p:nvPr/>
        </p:nvSpPr>
        <p:spPr>
          <a:xfrm>
            <a:off x="713232" y="1664208"/>
            <a:ext cx="2971800" cy="192024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13232" y="1664208"/>
            <a:ext cx="77724" cy="192024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2688" y="1847088"/>
            <a:ext cx="2560320" cy="384048"/>
          </a:xfrm>
          <a:prstGeom prst="rect">
            <a:avLst/>
          </a:prstGeom>
          <a:noFill/>
        </p:spPr>
        <p:txBody>
          <a:bodyPr wrap="square" lIns="18288" tIns="18288" rIns="18288" bIns="18288" anchor="t">
            <a:spAutoFit/>
          </a:bodyPr>
          <a:lstStyle/>
          <a:p>
            <a:pPr algn="l">
              <a:lnSpc>
                <a:spcPct val="105000"/>
              </a:lnSpc>
            </a:pPr>
            <a:r>
              <a:rPr sz="2000" b="1" i="0">
                <a:solidFill>
                  <a:srgbClr val="31599B"/>
                </a:solidFill>
                <a:latin typeface="微软雅黑"/>
              </a:rPr>
              <a:t>移动底盘</a:t>
            </a:r>
          </a:p>
        </p:txBody>
      </p:sp>
      <p:sp>
        <p:nvSpPr>
          <p:cNvPr id="12" name="TextBox 11"/>
          <p:cNvSpPr txBox="1"/>
          <p:nvPr/>
        </p:nvSpPr>
        <p:spPr>
          <a:xfrm>
            <a:off x="932688" y="2322576"/>
            <a:ext cx="2587752" cy="1133856"/>
          </a:xfrm>
          <a:prstGeom prst="rect">
            <a:avLst/>
          </a:prstGeom>
          <a:noFill/>
        </p:spPr>
        <p:txBody>
          <a:bodyPr wrap="square" lIns="18288" tIns="18288" rIns="18288" bIns="18288" anchor="t">
            <a:spAutoFit/>
          </a:bodyPr>
          <a:lstStyle/>
          <a:p>
            <a:pPr algn="l">
              <a:lnSpc>
                <a:spcPct val="110000"/>
              </a:lnSpc>
            </a:pPr>
            <a:r>
              <a:rPr sz="1550" b="0" i="0">
                <a:solidFill>
                  <a:srgbClr val="222833"/>
                </a:solidFill>
                <a:latin typeface="微软雅黑"/>
              </a:rPr>
              <a:t>差分驱动轮式结构，最大移动速度约 1 m/s。</a:t>
            </a:r>
          </a:p>
        </p:txBody>
      </p:sp>
      <p:sp>
        <p:nvSpPr>
          <p:cNvPr id="13" name="Rounded Rectangle 12"/>
          <p:cNvSpPr/>
          <p:nvPr/>
        </p:nvSpPr>
        <p:spPr>
          <a:xfrm>
            <a:off x="3822191" y="1664208"/>
            <a:ext cx="2971800" cy="192024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822191" y="1664208"/>
            <a:ext cx="77724" cy="192024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41648" y="1847088"/>
            <a:ext cx="2560320" cy="384048"/>
          </a:xfrm>
          <a:prstGeom prst="rect">
            <a:avLst/>
          </a:prstGeom>
          <a:noFill/>
        </p:spPr>
        <p:txBody>
          <a:bodyPr wrap="square" lIns="18288" tIns="18288" rIns="18288" bIns="18288" anchor="t">
            <a:spAutoFit/>
          </a:bodyPr>
          <a:lstStyle/>
          <a:p>
            <a:pPr algn="l">
              <a:lnSpc>
                <a:spcPct val="105000"/>
              </a:lnSpc>
            </a:pPr>
            <a:r>
              <a:rPr sz="2000" b="1" i="0">
                <a:solidFill>
                  <a:srgbClr val="2F8E72"/>
                </a:solidFill>
                <a:latin typeface="微软雅黑"/>
              </a:rPr>
              <a:t>机械臂</a:t>
            </a:r>
          </a:p>
        </p:txBody>
      </p:sp>
      <p:sp>
        <p:nvSpPr>
          <p:cNvPr id="16" name="TextBox 15"/>
          <p:cNvSpPr txBox="1"/>
          <p:nvPr/>
        </p:nvSpPr>
        <p:spPr>
          <a:xfrm>
            <a:off x="4041648" y="2322576"/>
            <a:ext cx="2587752" cy="1133856"/>
          </a:xfrm>
          <a:prstGeom prst="rect">
            <a:avLst/>
          </a:prstGeom>
          <a:noFill/>
        </p:spPr>
        <p:txBody>
          <a:bodyPr wrap="square" lIns="18288" tIns="18288" rIns="18288" bIns="18288" anchor="t">
            <a:spAutoFit/>
          </a:bodyPr>
          <a:lstStyle/>
          <a:p>
            <a:pPr algn="l">
              <a:lnSpc>
                <a:spcPct val="110000"/>
              </a:lnSpc>
            </a:pPr>
            <a:r>
              <a:rPr sz="1550" b="0" i="0">
                <a:solidFill>
                  <a:srgbClr val="222833"/>
                </a:solidFill>
                <a:latin typeface="微软雅黑"/>
              </a:rPr>
              <a:t>7 自由度可达臂，末端平行夹爪。</a:t>
            </a:r>
          </a:p>
        </p:txBody>
      </p:sp>
      <p:sp>
        <p:nvSpPr>
          <p:cNvPr id="17" name="Rounded Rectangle 16"/>
          <p:cNvSpPr/>
          <p:nvPr/>
        </p:nvSpPr>
        <p:spPr>
          <a:xfrm>
            <a:off x="713232" y="3767328"/>
            <a:ext cx="2971800" cy="192024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13232" y="3767328"/>
            <a:ext cx="77724" cy="192024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2688" y="3950208"/>
            <a:ext cx="2560320" cy="384048"/>
          </a:xfrm>
          <a:prstGeom prst="rect">
            <a:avLst/>
          </a:prstGeom>
          <a:noFill/>
        </p:spPr>
        <p:txBody>
          <a:bodyPr wrap="square" lIns="18288" tIns="18288" rIns="18288" bIns="18288" anchor="t">
            <a:spAutoFit/>
          </a:bodyPr>
          <a:lstStyle/>
          <a:p>
            <a:pPr algn="l">
              <a:lnSpc>
                <a:spcPct val="105000"/>
              </a:lnSpc>
            </a:pPr>
            <a:r>
              <a:rPr sz="2000" b="1" i="0">
                <a:solidFill>
                  <a:srgbClr val="C58A24"/>
                </a:solidFill>
                <a:latin typeface="微软雅黑"/>
              </a:rPr>
              <a:t>传感器</a:t>
            </a:r>
          </a:p>
        </p:txBody>
      </p:sp>
      <p:sp>
        <p:nvSpPr>
          <p:cNvPr id="20" name="TextBox 19"/>
          <p:cNvSpPr txBox="1"/>
          <p:nvPr/>
        </p:nvSpPr>
        <p:spPr>
          <a:xfrm>
            <a:off x="932688" y="4425696"/>
            <a:ext cx="2587752" cy="543354"/>
          </a:xfrm>
          <a:prstGeom prst="rect">
            <a:avLst/>
          </a:prstGeom>
          <a:noFill/>
        </p:spPr>
        <p:txBody>
          <a:bodyPr wrap="square" lIns="18288" tIns="18288" rIns="18288" bIns="18288" anchor="t">
            <a:spAutoFit/>
          </a:bodyPr>
          <a:lstStyle/>
          <a:p>
            <a:pPr algn="l">
              <a:lnSpc>
                <a:spcPct val="110000"/>
              </a:lnSpc>
            </a:pPr>
            <a:r>
              <a:rPr sz="1550" b="0" i="0" dirty="0" err="1">
                <a:solidFill>
                  <a:srgbClr val="222833"/>
                </a:solidFill>
                <a:latin typeface="微软雅黑"/>
              </a:rPr>
              <a:t>RGB-D、LiDAR、IMU、轮式编码器</a:t>
            </a:r>
            <a:endParaRPr sz="1550" b="0" i="0" dirty="0">
              <a:solidFill>
                <a:srgbClr val="222833"/>
              </a:solidFill>
              <a:latin typeface="微软雅黑"/>
            </a:endParaRPr>
          </a:p>
        </p:txBody>
      </p:sp>
      <p:sp>
        <p:nvSpPr>
          <p:cNvPr id="21" name="Rounded Rectangle 20"/>
          <p:cNvSpPr/>
          <p:nvPr/>
        </p:nvSpPr>
        <p:spPr>
          <a:xfrm>
            <a:off x="3822191" y="3767328"/>
            <a:ext cx="2971800" cy="192024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822191" y="3767328"/>
            <a:ext cx="77724" cy="192024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041648" y="3950208"/>
            <a:ext cx="2560320" cy="384048"/>
          </a:xfrm>
          <a:prstGeom prst="rect">
            <a:avLst/>
          </a:prstGeom>
          <a:noFill/>
        </p:spPr>
        <p:txBody>
          <a:bodyPr wrap="square" lIns="18288" tIns="18288" rIns="18288" bIns="18288" anchor="t">
            <a:spAutoFit/>
          </a:bodyPr>
          <a:lstStyle/>
          <a:p>
            <a:pPr algn="l">
              <a:lnSpc>
                <a:spcPct val="105000"/>
              </a:lnSpc>
            </a:pPr>
            <a:r>
              <a:rPr sz="2000" b="1" i="0">
                <a:solidFill>
                  <a:srgbClr val="C63F45"/>
                </a:solidFill>
                <a:latin typeface="微软雅黑"/>
              </a:rPr>
              <a:t>软件框架</a:t>
            </a:r>
          </a:p>
        </p:txBody>
      </p:sp>
      <p:sp>
        <p:nvSpPr>
          <p:cNvPr id="24" name="TextBox 23"/>
          <p:cNvSpPr txBox="1"/>
          <p:nvPr/>
        </p:nvSpPr>
        <p:spPr>
          <a:xfrm>
            <a:off x="4041648" y="4425696"/>
            <a:ext cx="2587752" cy="543354"/>
          </a:xfrm>
          <a:prstGeom prst="rect">
            <a:avLst/>
          </a:prstGeom>
          <a:noFill/>
        </p:spPr>
        <p:txBody>
          <a:bodyPr wrap="square" lIns="18288" tIns="18288" rIns="18288" bIns="18288" anchor="t">
            <a:spAutoFit/>
          </a:bodyPr>
          <a:lstStyle/>
          <a:p>
            <a:pPr algn="l">
              <a:lnSpc>
                <a:spcPct val="110000"/>
              </a:lnSpc>
            </a:pPr>
            <a:r>
              <a:rPr sz="1550" b="0" i="0" dirty="0">
                <a:solidFill>
                  <a:srgbClr val="222833"/>
                </a:solidFill>
                <a:latin typeface="微软雅黑"/>
              </a:rPr>
              <a:t>ROS + SLAM + </a:t>
            </a:r>
            <a:r>
              <a:rPr sz="1550" b="0" i="0" dirty="0" err="1">
                <a:solidFill>
                  <a:srgbClr val="222833"/>
                </a:solidFill>
                <a:latin typeface="微软雅黑"/>
              </a:rPr>
              <a:t>move_base</a:t>
            </a:r>
            <a:r>
              <a:rPr sz="1550" b="0" i="0" dirty="0">
                <a:solidFill>
                  <a:srgbClr val="222833"/>
                </a:solidFill>
                <a:latin typeface="微软雅黑"/>
              </a:rPr>
              <a:t> + </a:t>
            </a:r>
            <a:r>
              <a:rPr sz="1550" b="0" i="0" dirty="0" err="1">
                <a:solidFill>
                  <a:srgbClr val="222833"/>
                </a:solidFill>
                <a:latin typeface="微软雅黑"/>
              </a:rPr>
              <a:t>MoveIt</a:t>
            </a:r>
            <a:endParaRPr sz="1550" b="0" i="0" dirty="0">
              <a:solidFill>
                <a:srgbClr val="222833"/>
              </a:solidFill>
              <a:latin typeface="微软雅黑"/>
            </a:endParaRPr>
          </a:p>
        </p:txBody>
      </p:sp>
      <p:sp>
        <p:nvSpPr>
          <p:cNvPr id="26" name="TextBox 25"/>
          <p:cNvSpPr txBox="1"/>
          <p:nvPr/>
        </p:nvSpPr>
        <p:spPr>
          <a:xfrm>
            <a:off x="7315200" y="6236208"/>
            <a:ext cx="4069080" cy="234103"/>
          </a:xfrm>
          <a:prstGeom prst="rect">
            <a:avLst/>
          </a:prstGeom>
          <a:noFill/>
        </p:spPr>
        <p:txBody>
          <a:bodyPr wrap="square" lIns="18288" tIns="18288" rIns="18288" bIns="18288" anchor="t">
            <a:spAutoFit/>
          </a:bodyPr>
          <a:lstStyle/>
          <a:p>
            <a:pPr algn="ctr">
              <a:lnSpc>
                <a:spcPct val="105000"/>
              </a:lnSpc>
            </a:pPr>
            <a:r>
              <a:rPr sz="1300" b="1" i="0" dirty="0">
                <a:solidFill>
                  <a:srgbClr val="24477D"/>
                </a:solidFill>
                <a:latin typeface="微软雅黑"/>
              </a:rPr>
              <a:t>Fetch </a:t>
            </a:r>
            <a:r>
              <a:rPr sz="1300" b="1" i="0" dirty="0" err="1">
                <a:solidFill>
                  <a:srgbClr val="24477D"/>
                </a:solidFill>
                <a:latin typeface="微软雅黑"/>
              </a:rPr>
              <a:t>机器人</a:t>
            </a:r>
            <a:endParaRPr sz="1300" b="1" i="0" dirty="0">
              <a:solidFill>
                <a:srgbClr val="24477D"/>
              </a:solidFill>
              <a:latin typeface="微软雅黑"/>
            </a:endParaRPr>
          </a:p>
        </p:txBody>
      </p:sp>
      <p:pic>
        <p:nvPicPr>
          <p:cNvPr id="27" name="图片 26" descr="Fetch">
            <a:extLst>
              <a:ext uri="{FF2B5EF4-FFF2-40B4-BE49-F238E27FC236}">
                <a16:creationId xmlns:a16="http://schemas.microsoft.com/office/drawing/2014/main" id="{363945AD-971C-E8F5-A5E9-12579BBC44A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32327" y="1649855"/>
            <a:ext cx="3204134" cy="4432090"/>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Fetch 的具身感知与执行能力</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108</a:t>
            </a:r>
          </a:p>
        </p:txBody>
      </p:sp>
      <p:sp>
        <p:nvSpPr>
          <p:cNvPr id="9" name="Rounded Rectangle 8"/>
          <p:cNvSpPr/>
          <p:nvPr/>
        </p:nvSpPr>
        <p:spPr>
          <a:xfrm>
            <a:off x="640080" y="1828800"/>
            <a:ext cx="3182112" cy="3383280"/>
          </a:xfrm>
          <a:prstGeom prst="roundRect">
            <a:avLst>
              <a:gd name="adj" fmla="val 862"/>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1828800"/>
            <a:ext cx="77724" cy="338328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201168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头部 RGB-D 相机</a:t>
            </a:r>
          </a:p>
        </p:txBody>
      </p:sp>
      <p:sp>
        <p:nvSpPr>
          <p:cNvPr id="12" name="TextBox 11"/>
          <p:cNvSpPr txBox="1"/>
          <p:nvPr/>
        </p:nvSpPr>
        <p:spPr>
          <a:xfrm>
            <a:off x="859536" y="3000248"/>
            <a:ext cx="2798064" cy="625108"/>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panose="020B0503020204020204" pitchFamily="34" charset="-122"/>
                <a:ea typeface="微软雅黑" panose="020B0503020204020204" pitchFamily="34" charset="-122"/>
              </a:rPr>
              <a:t>同时提供彩色与深度信息，用于目标感知和场景理解。</a:t>
            </a:r>
          </a:p>
        </p:txBody>
      </p:sp>
      <p:sp>
        <p:nvSpPr>
          <p:cNvPr id="13" name="Rounded Rectangle 12"/>
          <p:cNvSpPr/>
          <p:nvPr/>
        </p:nvSpPr>
        <p:spPr>
          <a:xfrm>
            <a:off x="4096512" y="1828800"/>
            <a:ext cx="4142232" cy="3383280"/>
          </a:xfrm>
          <a:prstGeom prst="roundRect">
            <a:avLst>
              <a:gd name="adj" fmla="val 3491"/>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096512" y="1828800"/>
            <a:ext cx="77724" cy="338328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15968" y="2011680"/>
            <a:ext cx="3786632" cy="384048"/>
          </a:xfrm>
          <a:prstGeom prst="rect">
            <a:avLst/>
          </a:prstGeom>
          <a:noFill/>
        </p:spPr>
        <p:txBody>
          <a:bodyPr wrap="square" lIns="18288" tIns="18288" rIns="18288" bIns="18288" anchor="t">
            <a:spAutoFit/>
          </a:bodyPr>
          <a:lstStyle/>
          <a:p>
            <a:pPr algn="l">
              <a:lnSpc>
                <a:spcPct val="105000"/>
              </a:lnSpc>
            </a:pPr>
            <a:r>
              <a:rPr sz="2200" b="1" i="0" dirty="0" err="1">
                <a:solidFill>
                  <a:srgbClr val="2F8E72"/>
                </a:solidFill>
                <a:latin typeface="微软雅黑"/>
              </a:rPr>
              <a:t>基座</a:t>
            </a:r>
            <a:r>
              <a:rPr sz="2200" b="1" i="0" dirty="0">
                <a:solidFill>
                  <a:srgbClr val="2F8E72"/>
                </a:solidFill>
                <a:latin typeface="微软雅黑"/>
              </a:rPr>
              <a:t> LiDAR + IMU + </a:t>
            </a:r>
            <a:r>
              <a:rPr sz="2200" b="1" i="0" dirty="0" err="1">
                <a:solidFill>
                  <a:srgbClr val="2F8E72"/>
                </a:solidFill>
                <a:latin typeface="微软雅黑"/>
              </a:rPr>
              <a:t>编码器</a:t>
            </a:r>
            <a:endParaRPr sz="2200" b="1" i="0" dirty="0">
              <a:solidFill>
                <a:srgbClr val="2F8E72"/>
              </a:solidFill>
              <a:latin typeface="微软雅黑"/>
            </a:endParaRPr>
          </a:p>
        </p:txBody>
      </p:sp>
      <p:sp>
        <p:nvSpPr>
          <p:cNvPr id="16" name="TextBox 15"/>
          <p:cNvSpPr txBox="1"/>
          <p:nvPr/>
        </p:nvSpPr>
        <p:spPr>
          <a:xfrm>
            <a:off x="4315968" y="3000248"/>
            <a:ext cx="3598164" cy="625108"/>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panose="020B0503020204020204" pitchFamily="34" charset="-122"/>
                <a:ea typeface="微软雅黑" panose="020B0503020204020204" pitchFamily="34" charset="-122"/>
              </a:rPr>
              <a:t>提供距离观测、惯性信息和里程计，支撑定位与建图。</a:t>
            </a:r>
          </a:p>
        </p:txBody>
      </p:sp>
      <p:sp>
        <p:nvSpPr>
          <p:cNvPr id="17" name="Rounded Rectangle 16"/>
          <p:cNvSpPr/>
          <p:nvPr/>
        </p:nvSpPr>
        <p:spPr>
          <a:xfrm>
            <a:off x="8430768" y="1783080"/>
            <a:ext cx="3182112" cy="3383280"/>
          </a:xfrm>
          <a:prstGeom prst="roundRect">
            <a:avLst>
              <a:gd name="adj" fmla="val 2539"/>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430768" y="1783080"/>
            <a:ext cx="77724" cy="338328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50224" y="196596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C58A24"/>
                </a:solidFill>
                <a:latin typeface="微软雅黑"/>
              </a:rPr>
              <a:t>7-DoF 机械臂 + 夹爪</a:t>
            </a:r>
          </a:p>
        </p:txBody>
      </p:sp>
      <p:sp>
        <p:nvSpPr>
          <p:cNvPr id="20" name="TextBox 19"/>
          <p:cNvSpPr txBox="1"/>
          <p:nvPr/>
        </p:nvSpPr>
        <p:spPr>
          <a:xfrm>
            <a:off x="8650224" y="2954528"/>
            <a:ext cx="2798064" cy="625108"/>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panose="020B0503020204020204" pitchFamily="34" charset="-122"/>
                <a:ea typeface="微软雅黑" panose="020B0503020204020204" pitchFamily="34" charset="-122"/>
              </a:rPr>
              <a:t>为“到达之后的操作”提供执行能力。</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Fetch 仿真软件栈</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109</a:t>
            </a:r>
          </a:p>
        </p:txBody>
      </p:sp>
      <p:sp>
        <p:nvSpPr>
          <p:cNvPr id="9" name="Rounded Rectangle 8"/>
          <p:cNvSpPr/>
          <p:nvPr/>
        </p:nvSpPr>
        <p:spPr>
          <a:xfrm>
            <a:off x="685800" y="1920240"/>
            <a:ext cx="2015337"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1920240"/>
            <a:ext cx="2015337" cy="82296"/>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5528" y="210312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31599B"/>
                </a:solidFill>
                <a:latin typeface="微软雅黑"/>
              </a:rPr>
              <a:t>1</a:t>
            </a:r>
          </a:p>
        </p:txBody>
      </p:sp>
      <p:sp>
        <p:nvSpPr>
          <p:cNvPr id="12" name="TextBox 11"/>
          <p:cNvSpPr txBox="1"/>
          <p:nvPr/>
        </p:nvSpPr>
        <p:spPr>
          <a:xfrm>
            <a:off x="1188720" y="2084832"/>
            <a:ext cx="1393545" cy="329184"/>
          </a:xfrm>
          <a:prstGeom prst="rect">
            <a:avLst/>
          </a:prstGeom>
          <a:noFill/>
        </p:spPr>
        <p:txBody>
          <a:bodyPr wrap="square" lIns="18288" tIns="18288" rIns="18288" bIns="18288" anchor="t">
            <a:spAutoFit/>
          </a:bodyPr>
          <a:lstStyle/>
          <a:p>
            <a:pPr algn="l">
              <a:lnSpc>
                <a:spcPct val="105000"/>
              </a:lnSpc>
            </a:pPr>
            <a:r>
              <a:rPr sz="1900" b="1" i="0">
                <a:solidFill>
                  <a:srgbClr val="31599B"/>
                </a:solidFill>
                <a:latin typeface="微软雅黑"/>
              </a:rPr>
              <a:t>ROS Noetic</a:t>
            </a:r>
          </a:p>
        </p:txBody>
      </p:sp>
      <p:sp>
        <p:nvSpPr>
          <p:cNvPr id="13" name="TextBox 12"/>
          <p:cNvSpPr txBox="1"/>
          <p:nvPr/>
        </p:nvSpPr>
        <p:spPr>
          <a:xfrm>
            <a:off x="832104" y="2523744"/>
            <a:ext cx="1722729"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机器人中间件</a:t>
            </a:r>
          </a:p>
        </p:txBody>
      </p:sp>
      <p:sp>
        <p:nvSpPr>
          <p:cNvPr id="14" name="Rectangle 13"/>
          <p:cNvSpPr/>
          <p:nvPr/>
        </p:nvSpPr>
        <p:spPr>
          <a:xfrm>
            <a:off x="2737713" y="2505456"/>
            <a:ext cx="128016" cy="256032"/>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2902305" y="1920240"/>
            <a:ext cx="2015337"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902305" y="1920240"/>
            <a:ext cx="2015337" cy="82296"/>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012033" y="210312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2F8E72"/>
                </a:solidFill>
                <a:latin typeface="微软雅黑"/>
              </a:rPr>
              <a:t>2</a:t>
            </a:r>
          </a:p>
        </p:txBody>
      </p:sp>
      <p:sp>
        <p:nvSpPr>
          <p:cNvPr id="18" name="TextBox 17"/>
          <p:cNvSpPr txBox="1"/>
          <p:nvPr/>
        </p:nvSpPr>
        <p:spPr>
          <a:xfrm>
            <a:off x="3405225" y="2084832"/>
            <a:ext cx="1393545" cy="329184"/>
          </a:xfrm>
          <a:prstGeom prst="rect">
            <a:avLst/>
          </a:prstGeom>
          <a:noFill/>
        </p:spPr>
        <p:txBody>
          <a:bodyPr wrap="square" lIns="18288" tIns="18288" rIns="18288" bIns="18288" anchor="t">
            <a:spAutoFit/>
          </a:bodyPr>
          <a:lstStyle/>
          <a:p>
            <a:pPr algn="l">
              <a:lnSpc>
                <a:spcPct val="105000"/>
              </a:lnSpc>
            </a:pPr>
            <a:r>
              <a:rPr sz="1900" b="1" i="0">
                <a:solidFill>
                  <a:srgbClr val="2F8E72"/>
                </a:solidFill>
                <a:latin typeface="微软雅黑"/>
              </a:rPr>
              <a:t>Gazebo</a:t>
            </a:r>
          </a:p>
        </p:txBody>
      </p:sp>
      <p:sp>
        <p:nvSpPr>
          <p:cNvPr id="19" name="TextBox 18"/>
          <p:cNvSpPr txBox="1"/>
          <p:nvPr/>
        </p:nvSpPr>
        <p:spPr>
          <a:xfrm>
            <a:off x="3048609" y="2523744"/>
            <a:ext cx="1722729"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物理仿真与传感器仿真</a:t>
            </a:r>
          </a:p>
        </p:txBody>
      </p:sp>
      <p:sp>
        <p:nvSpPr>
          <p:cNvPr id="20" name="Rectangle 19"/>
          <p:cNvSpPr/>
          <p:nvPr/>
        </p:nvSpPr>
        <p:spPr>
          <a:xfrm>
            <a:off x="4954219" y="2505456"/>
            <a:ext cx="128016" cy="256032"/>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118811" y="1920240"/>
            <a:ext cx="2015337"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118811" y="1920240"/>
            <a:ext cx="2015337" cy="82296"/>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228539" y="210312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58A24"/>
                </a:solidFill>
                <a:latin typeface="微软雅黑"/>
              </a:rPr>
              <a:t>3</a:t>
            </a:r>
          </a:p>
        </p:txBody>
      </p:sp>
      <p:sp>
        <p:nvSpPr>
          <p:cNvPr id="24" name="TextBox 23"/>
          <p:cNvSpPr txBox="1"/>
          <p:nvPr/>
        </p:nvSpPr>
        <p:spPr>
          <a:xfrm>
            <a:off x="5621731" y="2084832"/>
            <a:ext cx="1393545" cy="329184"/>
          </a:xfrm>
          <a:prstGeom prst="rect">
            <a:avLst/>
          </a:prstGeom>
          <a:noFill/>
        </p:spPr>
        <p:txBody>
          <a:bodyPr wrap="square" lIns="18288" tIns="18288" rIns="18288" bIns="18288" anchor="t">
            <a:spAutoFit/>
          </a:bodyPr>
          <a:lstStyle/>
          <a:p>
            <a:pPr algn="l">
              <a:lnSpc>
                <a:spcPct val="105000"/>
              </a:lnSpc>
            </a:pPr>
            <a:r>
              <a:rPr sz="1900" b="1" i="0">
                <a:solidFill>
                  <a:srgbClr val="C58A24"/>
                </a:solidFill>
                <a:latin typeface="微软雅黑"/>
              </a:rPr>
              <a:t>SLAM / AMCL</a:t>
            </a:r>
          </a:p>
        </p:txBody>
      </p:sp>
      <p:sp>
        <p:nvSpPr>
          <p:cNvPr id="25" name="TextBox 24"/>
          <p:cNvSpPr txBox="1"/>
          <p:nvPr/>
        </p:nvSpPr>
        <p:spPr>
          <a:xfrm>
            <a:off x="5265115" y="2523744"/>
            <a:ext cx="1722729"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建图或定位</a:t>
            </a:r>
          </a:p>
        </p:txBody>
      </p:sp>
      <p:sp>
        <p:nvSpPr>
          <p:cNvPr id="26" name="Rectangle 25"/>
          <p:cNvSpPr/>
          <p:nvPr/>
        </p:nvSpPr>
        <p:spPr>
          <a:xfrm>
            <a:off x="7170724" y="2505456"/>
            <a:ext cx="128016" cy="256032"/>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7335316" y="1920240"/>
            <a:ext cx="2015337"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335316" y="1920240"/>
            <a:ext cx="2015337" cy="82296"/>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445044" y="210312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63F45"/>
                </a:solidFill>
                <a:latin typeface="微软雅黑"/>
              </a:rPr>
              <a:t>4</a:t>
            </a:r>
          </a:p>
        </p:txBody>
      </p:sp>
      <p:sp>
        <p:nvSpPr>
          <p:cNvPr id="30" name="TextBox 29"/>
          <p:cNvSpPr txBox="1"/>
          <p:nvPr/>
        </p:nvSpPr>
        <p:spPr>
          <a:xfrm>
            <a:off x="7838236" y="2084832"/>
            <a:ext cx="1393545" cy="329184"/>
          </a:xfrm>
          <a:prstGeom prst="rect">
            <a:avLst/>
          </a:prstGeom>
          <a:noFill/>
        </p:spPr>
        <p:txBody>
          <a:bodyPr wrap="square" lIns="18288" tIns="18288" rIns="18288" bIns="18288" anchor="t">
            <a:spAutoFit/>
          </a:bodyPr>
          <a:lstStyle/>
          <a:p>
            <a:pPr algn="l">
              <a:lnSpc>
                <a:spcPct val="105000"/>
              </a:lnSpc>
            </a:pPr>
            <a:r>
              <a:rPr sz="1900" b="1" i="0">
                <a:solidFill>
                  <a:srgbClr val="C63F45"/>
                </a:solidFill>
                <a:latin typeface="微软雅黑"/>
              </a:rPr>
              <a:t>move_base</a:t>
            </a:r>
          </a:p>
        </p:txBody>
      </p:sp>
      <p:sp>
        <p:nvSpPr>
          <p:cNvPr id="31" name="TextBox 30"/>
          <p:cNvSpPr txBox="1"/>
          <p:nvPr/>
        </p:nvSpPr>
        <p:spPr>
          <a:xfrm>
            <a:off x="7481620" y="2523744"/>
            <a:ext cx="1722729"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全局规划 + 局部规划 + 控制</a:t>
            </a:r>
          </a:p>
        </p:txBody>
      </p:sp>
      <p:sp>
        <p:nvSpPr>
          <p:cNvPr id="32" name="Rectangle 31"/>
          <p:cNvSpPr/>
          <p:nvPr/>
        </p:nvSpPr>
        <p:spPr>
          <a:xfrm>
            <a:off x="9387230" y="2505456"/>
            <a:ext cx="128016" cy="256032"/>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9551822" y="1920240"/>
            <a:ext cx="2015337"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9551822" y="1920240"/>
            <a:ext cx="2015337" cy="82296"/>
          </a:xfrm>
          <a:prstGeom prst="rect">
            <a:avLst/>
          </a:prstGeom>
          <a:solidFill>
            <a:srgbClr val="755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661550" y="210312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7558A8"/>
                </a:solidFill>
                <a:latin typeface="微软雅黑"/>
              </a:rPr>
              <a:t>5</a:t>
            </a:r>
          </a:p>
        </p:txBody>
      </p:sp>
      <p:sp>
        <p:nvSpPr>
          <p:cNvPr id="36" name="TextBox 35"/>
          <p:cNvSpPr txBox="1"/>
          <p:nvPr/>
        </p:nvSpPr>
        <p:spPr>
          <a:xfrm>
            <a:off x="10054742" y="2084832"/>
            <a:ext cx="1393545" cy="329184"/>
          </a:xfrm>
          <a:prstGeom prst="rect">
            <a:avLst/>
          </a:prstGeom>
          <a:noFill/>
        </p:spPr>
        <p:txBody>
          <a:bodyPr wrap="square" lIns="18288" tIns="18288" rIns="18288" bIns="18288" anchor="t">
            <a:spAutoFit/>
          </a:bodyPr>
          <a:lstStyle/>
          <a:p>
            <a:pPr algn="l">
              <a:lnSpc>
                <a:spcPct val="105000"/>
              </a:lnSpc>
            </a:pPr>
            <a:r>
              <a:rPr sz="1900" b="1" i="0">
                <a:solidFill>
                  <a:srgbClr val="7558A8"/>
                </a:solidFill>
                <a:latin typeface="微软雅黑"/>
              </a:rPr>
              <a:t>MoveIt</a:t>
            </a:r>
          </a:p>
        </p:txBody>
      </p:sp>
      <p:sp>
        <p:nvSpPr>
          <p:cNvPr id="37" name="TextBox 36"/>
          <p:cNvSpPr txBox="1"/>
          <p:nvPr/>
        </p:nvSpPr>
        <p:spPr>
          <a:xfrm>
            <a:off x="9698126" y="2523744"/>
            <a:ext cx="1722729"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机械臂运动规划与抓取</a:t>
            </a:r>
          </a:p>
        </p:txBody>
      </p:sp>
      <p:sp>
        <p:nvSpPr>
          <p:cNvPr id="38" name="TextBox 37"/>
          <p:cNvSpPr txBox="1"/>
          <p:nvPr/>
        </p:nvSpPr>
        <p:spPr>
          <a:xfrm>
            <a:off x="2011680" y="4434840"/>
            <a:ext cx="8183879" cy="502920"/>
          </a:xfrm>
          <a:prstGeom prst="rect">
            <a:avLst/>
          </a:prstGeom>
          <a:noFill/>
        </p:spPr>
        <p:txBody>
          <a:bodyPr wrap="square" lIns="18288" tIns="18288" rIns="18288" bIns="18288" anchor="t">
            <a:spAutoFit/>
          </a:bodyPr>
          <a:lstStyle/>
          <a:p>
            <a:pPr algn="ctr">
              <a:lnSpc>
                <a:spcPct val="105000"/>
              </a:lnSpc>
            </a:pPr>
            <a:r>
              <a:rPr sz="2200" b="1" i="0">
                <a:solidFill>
                  <a:srgbClr val="24477D"/>
                </a:solidFill>
                <a:latin typeface="微软雅黑"/>
              </a:rPr>
              <a:t>推荐环境：Ubuntu 20.04 + ROS Noetic + Gazebo 11。</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仿真环境配置：安装 ROS 并克隆 Fetch 仓库</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110</a:t>
            </a:r>
          </a:p>
        </p:txBody>
      </p:sp>
      <p:sp>
        <p:nvSpPr>
          <p:cNvPr id="9" name="Rounded Rectangle 8"/>
          <p:cNvSpPr/>
          <p:nvPr/>
        </p:nvSpPr>
        <p:spPr>
          <a:xfrm>
            <a:off x="960120" y="1828800"/>
            <a:ext cx="10241280" cy="3200400"/>
          </a:xfrm>
          <a:prstGeom prst="roundRect">
            <a:avLst/>
          </a:prstGeom>
          <a:solidFill>
            <a:srgbClr val="2D5AA7"/>
          </a:solidFill>
          <a:ln w="12700">
            <a:solidFill>
              <a:srgbClr val="4F73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16152" y="1993392"/>
            <a:ext cx="9738359" cy="320040"/>
          </a:xfrm>
          <a:prstGeom prst="rect">
            <a:avLst/>
          </a:prstGeom>
          <a:noFill/>
        </p:spPr>
        <p:txBody>
          <a:bodyPr wrap="square" lIns="18288" tIns="18288" rIns="18288" bIns="18288" anchor="t">
            <a:spAutoFit/>
          </a:bodyPr>
          <a:lstStyle/>
          <a:p>
            <a:pPr algn="l">
              <a:lnSpc>
                <a:spcPct val="105000"/>
              </a:lnSpc>
            </a:pPr>
            <a:r>
              <a:rPr sz="1700" b="1" i="0">
                <a:solidFill>
                  <a:srgbClr val="FFFFFF"/>
                </a:solidFill>
                <a:latin typeface="微软雅黑"/>
              </a:rPr>
              <a:t>推荐系统：Ubuntu 20.04；先安装 ROS Noetic 完整桌面版</a:t>
            </a:r>
          </a:p>
        </p:txBody>
      </p:sp>
      <p:sp>
        <p:nvSpPr>
          <p:cNvPr id="11" name="TextBox 10"/>
          <p:cNvSpPr txBox="1"/>
          <p:nvPr/>
        </p:nvSpPr>
        <p:spPr>
          <a:xfrm>
            <a:off x="1271016" y="2423160"/>
            <a:ext cx="9619488" cy="2450592"/>
          </a:xfrm>
          <a:prstGeom prst="rect">
            <a:avLst/>
          </a:prstGeom>
          <a:noFill/>
        </p:spPr>
        <p:txBody>
          <a:bodyPr wrap="square" lIns="18288" tIns="18288" rIns="18288" bIns="18288" anchor="t">
            <a:spAutoFit/>
          </a:bodyPr>
          <a:lstStyle/>
          <a:p>
            <a:pPr algn="l">
              <a:lnSpc>
                <a:spcPct val="112000"/>
              </a:lnSpc>
            </a:pPr>
            <a:r>
              <a:rPr sz="1550" b="0" i="0">
                <a:solidFill>
                  <a:srgbClr val="FFFFFF"/>
                </a:solidFill>
                <a:latin typeface="Consolas"/>
              </a:rPr>
              <a:t>cd ~/catkin_ws/src
git clone https://github.com/fetchrobotics/fetch_ros.git
git clone -b gazebo11 https://github.com/fetchrobotics/fetch_gazebo.git
cd ~/catkin_ws &amp;&amp; catkin_make</a:t>
            </a:r>
          </a:p>
        </p:txBody>
      </p:sp>
      <p:sp>
        <p:nvSpPr>
          <p:cNvPr id="12" name="TextBox 11"/>
          <p:cNvSpPr txBox="1"/>
          <p:nvPr/>
        </p:nvSpPr>
        <p:spPr>
          <a:xfrm>
            <a:off x="914400" y="5394960"/>
            <a:ext cx="10332720" cy="475488"/>
          </a:xfrm>
          <a:prstGeom prst="rect">
            <a:avLst/>
          </a:prstGeom>
          <a:noFill/>
        </p:spPr>
        <p:txBody>
          <a:bodyPr wrap="square" lIns="18288" tIns="18288" rIns="18288" bIns="18288" anchor="t">
            <a:spAutoFit/>
          </a:bodyPr>
          <a:lstStyle/>
          <a:p>
            <a:pPr algn="ctr">
              <a:lnSpc>
                <a:spcPct val="105000"/>
              </a:lnSpc>
            </a:pPr>
            <a:r>
              <a:rPr sz="1900" b="0" i="0">
                <a:solidFill>
                  <a:srgbClr val="7D8899"/>
                </a:solidFill>
                <a:latin typeface="微软雅黑"/>
              </a:rPr>
              <a:t>教材强调：无需真实硬件，即可在普通 Ubuntu 笔记本上完成完整仿真实验。</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安装 Gazebo 依赖并验证配置</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111</a:t>
            </a:r>
          </a:p>
        </p:txBody>
      </p:sp>
      <p:sp>
        <p:nvSpPr>
          <p:cNvPr id="9" name="Rounded Rectangle 8"/>
          <p:cNvSpPr/>
          <p:nvPr/>
        </p:nvSpPr>
        <p:spPr>
          <a:xfrm>
            <a:off x="914400" y="1691640"/>
            <a:ext cx="10332720" cy="3337560"/>
          </a:xfrm>
          <a:prstGeom prst="roundRect">
            <a:avLst/>
          </a:prstGeom>
          <a:solidFill>
            <a:srgbClr val="2D5AA7"/>
          </a:solidFill>
          <a:ln w="12700">
            <a:solidFill>
              <a:srgbClr val="4F73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70432" y="1856232"/>
            <a:ext cx="9829800" cy="320040"/>
          </a:xfrm>
          <a:prstGeom prst="rect">
            <a:avLst/>
          </a:prstGeom>
          <a:noFill/>
        </p:spPr>
        <p:txBody>
          <a:bodyPr wrap="square" lIns="18288" tIns="18288" rIns="18288" bIns="18288" anchor="t">
            <a:spAutoFit/>
          </a:bodyPr>
          <a:lstStyle/>
          <a:p>
            <a:pPr algn="l">
              <a:lnSpc>
                <a:spcPct val="105000"/>
              </a:lnSpc>
            </a:pPr>
            <a:r>
              <a:rPr sz="1700" b="1" i="0">
                <a:solidFill>
                  <a:srgbClr val="FFFFFF"/>
                </a:solidFill>
                <a:latin typeface="微软雅黑"/>
              </a:rPr>
              <a:t>依赖安装与编译</a:t>
            </a:r>
          </a:p>
        </p:txBody>
      </p:sp>
      <p:sp>
        <p:nvSpPr>
          <p:cNvPr id="11" name="TextBox 10"/>
          <p:cNvSpPr txBox="1"/>
          <p:nvPr/>
        </p:nvSpPr>
        <p:spPr>
          <a:xfrm>
            <a:off x="1225296" y="2286000"/>
            <a:ext cx="9710928" cy="2587752"/>
          </a:xfrm>
          <a:prstGeom prst="rect">
            <a:avLst/>
          </a:prstGeom>
          <a:noFill/>
        </p:spPr>
        <p:txBody>
          <a:bodyPr wrap="square" lIns="18288" tIns="18288" rIns="18288" bIns="18288" anchor="t">
            <a:spAutoFit/>
          </a:bodyPr>
          <a:lstStyle/>
          <a:p>
            <a:pPr algn="l">
              <a:lnSpc>
                <a:spcPct val="112000"/>
              </a:lnSpc>
            </a:pPr>
            <a:r>
              <a:rPr sz="1550" b="0" i="0">
                <a:solidFill>
                  <a:srgbClr val="FFFFFF"/>
                </a:solidFill>
                <a:latin typeface="Consolas"/>
              </a:rPr>
              <a:t>rosdep install --from-paths src --ignore-src -r -y
catkin_make
# 验证安装
roslaunch fetch_gazebo simulation.launch</a:t>
            </a:r>
          </a:p>
        </p:txBody>
      </p:sp>
      <p:sp>
        <p:nvSpPr>
          <p:cNvPr id="12" name="TextBox 11"/>
          <p:cNvSpPr txBox="1"/>
          <p:nvPr/>
        </p:nvSpPr>
        <p:spPr>
          <a:xfrm>
            <a:off x="1097280" y="5257800"/>
            <a:ext cx="9966960" cy="530352"/>
          </a:xfrm>
          <a:prstGeom prst="rect">
            <a:avLst/>
          </a:prstGeom>
          <a:noFill/>
        </p:spPr>
        <p:txBody>
          <a:bodyPr wrap="square" lIns="18288" tIns="18288" rIns="18288" bIns="18288" anchor="t">
            <a:spAutoFit/>
          </a:bodyPr>
          <a:lstStyle/>
          <a:p>
            <a:pPr algn="ctr">
              <a:lnSpc>
                <a:spcPct val="105000"/>
              </a:lnSpc>
            </a:pPr>
            <a:r>
              <a:rPr sz="2200" b="1" i="0">
                <a:solidFill>
                  <a:srgbClr val="24477D"/>
                </a:solidFill>
                <a:latin typeface="微软雅黑"/>
              </a:rPr>
              <a:t>若 Gazebo 窗口正常弹出，则基础仿真环境配置成功。</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Gazebo 仿真环境验证</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112</a:t>
            </a:r>
          </a:p>
        </p:txBody>
      </p:sp>
      <p:sp>
        <p:nvSpPr>
          <p:cNvPr id="10" name="TextBox 9"/>
          <p:cNvSpPr txBox="1"/>
          <p:nvPr/>
        </p:nvSpPr>
        <p:spPr>
          <a:xfrm>
            <a:off x="1005840" y="6126479"/>
            <a:ext cx="10058400" cy="234103"/>
          </a:xfrm>
          <a:prstGeom prst="rect">
            <a:avLst/>
          </a:prstGeom>
          <a:noFill/>
        </p:spPr>
        <p:txBody>
          <a:bodyPr wrap="square" lIns="18288" tIns="18288" rIns="18288" bIns="18288" anchor="t">
            <a:spAutoFit/>
          </a:bodyPr>
          <a:lstStyle/>
          <a:p>
            <a:pPr algn="ctr">
              <a:lnSpc>
                <a:spcPct val="105000"/>
              </a:lnSpc>
            </a:pPr>
            <a:r>
              <a:rPr sz="1300" b="1" i="0" dirty="0">
                <a:solidFill>
                  <a:srgbClr val="24477D"/>
                </a:solidFill>
                <a:latin typeface="微软雅黑"/>
              </a:rPr>
              <a:t>Gazebo </a:t>
            </a:r>
            <a:r>
              <a:rPr sz="1300" b="1" i="0" dirty="0" err="1">
                <a:solidFill>
                  <a:srgbClr val="24477D"/>
                </a:solidFill>
                <a:latin typeface="微软雅黑"/>
              </a:rPr>
              <a:t>窗口</a:t>
            </a:r>
            <a:endParaRPr sz="1300" b="1" i="0" dirty="0">
              <a:solidFill>
                <a:srgbClr val="24477D"/>
              </a:solidFill>
              <a:latin typeface="微软雅黑"/>
            </a:endParaRPr>
          </a:p>
        </p:txBody>
      </p:sp>
      <p:pic>
        <p:nvPicPr>
          <p:cNvPr id="11" name="图片 10" descr="图片">
            <a:extLst>
              <a:ext uri="{FF2B5EF4-FFF2-40B4-BE49-F238E27FC236}">
                <a16:creationId xmlns:a16="http://schemas.microsoft.com/office/drawing/2014/main" id="{20820262-3269-0246-80DC-2527E2AE7B8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95442" y="1336852"/>
            <a:ext cx="8443788" cy="4749440"/>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仿真实验任务：PointGoal Navigation</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113</a:t>
            </a:r>
          </a:p>
        </p:txBody>
      </p:sp>
      <p:sp>
        <p:nvSpPr>
          <p:cNvPr id="9" name="Rounded Rectangle 8"/>
          <p:cNvSpPr/>
          <p:nvPr/>
        </p:nvSpPr>
        <p:spPr>
          <a:xfrm>
            <a:off x="868680" y="1783080"/>
            <a:ext cx="10863072" cy="1729836"/>
          </a:xfrm>
          <a:prstGeom prst="roundRect">
            <a:avLst/>
          </a:prstGeom>
          <a:solidFill>
            <a:srgbClr val="EDF2FA"/>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68680" y="1783080"/>
            <a:ext cx="77724" cy="1605688"/>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88136" y="1965960"/>
            <a:ext cx="10012680" cy="384048"/>
          </a:xfrm>
          <a:prstGeom prst="rect">
            <a:avLst/>
          </a:prstGeom>
          <a:noFill/>
        </p:spPr>
        <p:txBody>
          <a:bodyPr wrap="square" lIns="18288" tIns="18288" rIns="18288" bIns="18288" anchor="t">
            <a:spAutoFit/>
          </a:bodyPr>
          <a:lstStyle/>
          <a:p>
            <a:pPr algn="l">
              <a:lnSpc>
                <a:spcPct val="105000"/>
              </a:lnSpc>
            </a:pPr>
            <a:r>
              <a:rPr sz="2000" b="1" i="0">
                <a:solidFill>
                  <a:srgbClr val="31599B"/>
                </a:solidFill>
                <a:latin typeface="微软雅黑"/>
              </a:rPr>
              <a:t>任务定义</a:t>
            </a:r>
          </a:p>
        </p:txBody>
      </p:sp>
      <p:sp>
        <p:nvSpPr>
          <p:cNvPr id="12" name="TextBox 11"/>
          <p:cNvSpPr txBox="1"/>
          <p:nvPr/>
        </p:nvSpPr>
        <p:spPr>
          <a:xfrm>
            <a:off x="1088136" y="2441448"/>
            <a:ext cx="10040112" cy="821122"/>
          </a:xfrm>
          <a:prstGeom prst="rect">
            <a:avLst/>
          </a:prstGeom>
          <a:noFill/>
        </p:spPr>
        <p:txBody>
          <a:bodyPr wrap="square" lIns="18288" tIns="18288" rIns="18288" bIns="18288" anchor="t">
            <a:spAutoFit/>
          </a:bodyPr>
          <a:lstStyle/>
          <a:p>
            <a:pPr algn="l">
              <a:lnSpc>
                <a:spcPct val="110000"/>
              </a:lnSpc>
            </a:pPr>
            <a:r>
              <a:rPr sz="2400" b="0" i="0" dirty="0">
                <a:solidFill>
                  <a:srgbClr val="222833"/>
                </a:solidFill>
                <a:latin typeface="微软雅黑"/>
              </a:rPr>
              <a:t>Fetch 在 Gazebo </a:t>
            </a:r>
            <a:r>
              <a:rPr sz="2400" b="0" i="0" dirty="0" err="1">
                <a:solidFill>
                  <a:srgbClr val="222833"/>
                </a:solidFill>
                <a:latin typeface="微软雅黑"/>
              </a:rPr>
              <a:t>仓库环境中从随机起点出发，自主导航至指定货架位置，例如坐标</a:t>
            </a:r>
            <a:r>
              <a:rPr sz="2400" b="0" i="0" dirty="0">
                <a:solidFill>
                  <a:srgbClr val="222833"/>
                </a:solidFill>
                <a:latin typeface="微软雅黑"/>
              </a:rPr>
              <a:t> (4.0, 3.0)，</a:t>
            </a:r>
            <a:r>
              <a:rPr sz="2400" b="0" i="0" dirty="0" err="1">
                <a:solidFill>
                  <a:srgbClr val="222833"/>
                </a:solidFill>
                <a:latin typeface="微软雅黑"/>
              </a:rPr>
              <a:t>到达后保持稳定姿态</a:t>
            </a:r>
            <a:r>
              <a:rPr sz="2400" b="0" i="0" dirty="0">
                <a:solidFill>
                  <a:srgbClr val="222833"/>
                </a:solidFill>
                <a:latin typeface="微软雅黑"/>
              </a:rPr>
              <a:t>。</a:t>
            </a:r>
          </a:p>
        </p:txBody>
      </p:sp>
      <p:sp>
        <p:nvSpPr>
          <p:cNvPr id="13" name="Rounded Rectangle 12"/>
          <p:cNvSpPr/>
          <p:nvPr/>
        </p:nvSpPr>
        <p:spPr>
          <a:xfrm>
            <a:off x="731521" y="3931920"/>
            <a:ext cx="2015337"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1" y="3931920"/>
            <a:ext cx="2015337" cy="82296"/>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1249" y="411480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31599B"/>
                </a:solidFill>
                <a:latin typeface="微软雅黑"/>
              </a:rPr>
              <a:t>1</a:t>
            </a:r>
          </a:p>
        </p:txBody>
      </p:sp>
      <p:sp>
        <p:nvSpPr>
          <p:cNvPr id="16" name="TextBox 15"/>
          <p:cNvSpPr txBox="1"/>
          <p:nvPr/>
        </p:nvSpPr>
        <p:spPr>
          <a:xfrm>
            <a:off x="1234441" y="4096512"/>
            <a:ext cx="1393545" cy="329184"/>
          </a:xfrm>
          <a:prstGeom prst="rect">
            <a:avLst/>
          </a:prstGeom>
          <a:noFill/>
        </p:spPr>
        <p:txBody>
          <a:bodyPr wrap="square" lIns="18288" tIns="18288" rIns="18288" bIns="18288" anchor="t">
            <a:spAutoFit/>
          </a:bodyPr>
          <a:lstStyle/>
          <a:p>
            <a:pPr algn="l">
              <a:lnSpc>
                <a:spcPct val="105000"/>
              </a:lnSpc>
            </a:pPr>
            <a:r>
              <a:rPr sz="1900" b="1" i="0">
                <a:solidFill>
                  <a:srgbClr val="31599B"/>
                </a:solidFill>
                <a:latin typeface="微软雅黑"/>
              </a:rPr>
              <a:t>随机起点</a:t>
            </a:r>
          </a:p>
        </p:txBody>
      </p:sp>
      <p:sp>
        <p:nvSpPr>
          <p:cNvPr id="17" name="TextBox 16"/>
          <p:cNvSpPr txBox="1"/>
          <p:nvPr/>
        </p:nvSpPr>
        <p:spPr>
          <a:xfrm>
            <a:off x="877825" y="4535424"/>
            <a:ext cx="1722729"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机器人初始位姿随机</a:t>
            </a:r>
          </a:p>
        </p:txBody>
      </p:sp>
      <p:sp>
        <p:nvSpPr>
          <p:cNvPr id="18" name="Rectangle 17"/>
          <p:cNvSpPr/>
          <p:nvPr/>
        </p:nvSpPr>
        <p:spPr>
          <a:xfrm>
            <a:off x="2783434" y="4517136"/>
            <a:ext cx="128016" cy="256032"/>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2948026" y="3931920"/>
            <a:ext cx="2015337"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948026" y="3931920"/>
            <a:ext cx="2015337" cy="82296"/>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057754" y="411480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2F8E72"/>
                </a:solidFill>
                <a:latin typeface="微软雅黑"/>
              </a:rPr>
              <a:t>2</a:t>
            </a:r>
          </a:p>
        </p:txBody>
      </p:sp>
      <p:sp>
        <p:nvSpPr>
          <p:cNvPr id="22" name="TextBox 21"/>
          <p:cNvSpPr txBox="1"/>
          <p:nvPr/>
        </p:nvSpPr>
        <p:spPr>
          <a:xfrm>
            <a:off x="3450946" y="4096512"/>
            <a:ext cx="1393545" cy="329184"/>
          </a:xfrm>
          <a:prstGeom prst="rect">
            <a:avLst/>
          </a:prstGeom>
          <a:noFill/>
        </p:spPr>
        <p:txBody>
          <a:bodyPr wrap="square" lIns="18288" tIns="18288" rIns="18288" bIns="18288" anchor="t">
            <a:spAutoFit/>
          </a:bodyPr>
          <a:lstStyle/>
          <a:p>
            <a:pPr algn="l">
              <a:lnSpc>
                <a:spcPct val="105000"/>
              </a:lnSpc>
            </a:pPr>
            <a:r>
              <a:rPr sz="1900" b="1" i="0">
                <a:solidFill>
                  <a:srgbClr val="2F8E72"/>
                </a:solidFill>
                <a:latin typeface="微软雅黑"/>
              </a:rPr>
              <a:t>启动导航栈</a:t>
            </a:r>
          </a:p>
        </p:txBody>
      </p:sp>
      <p:sp>
        <p:nvSpPr>
          <p:cNvPr id="23" name="TextBox 22"/>
          <p:cNvSpPr txBox="1"/>
          <p:nvPr/>
        </p:nvSpPr>
        <p:spPr>
          <a:xfrm>
            <a:off x="3094330" y="4535424"/>
            <a:ext cx="1722729"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定位/SLAM + A* + DWA</a:t>
            </a:r>
          </a:p>
        </p:txBody>
      </p:sp>
      <p:sp>
        <p:nvSpPr>
          <p:cNvPr id="24" name="Rectangle 23"/>
          <p:cNvSpPr/>
          <p:nvPr/>
        </p:nvSpPr>
        <p:spPr>
          <a:xfrm>
            <a:off x="4999940" y="4517136"/>
            <a:ext cx="128016" cy="256032"/>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5164532" y="3931920"/>
            <a:ext cx="2015337"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164532" y="3931920"/>
            <a:ext cx="2015337" cy="82296"/>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274260" y="411480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58A24"/>
                </a:solidFill>
                <a:latin typeface="微软雅黑"/>
              </a:rPr>
              <a:t>3</a:t>
            </a:r>
          </a:p>
        </p:txBody>
      </p:sp>
      <p:sp>
        <p:nvSpPr>
          <p:cNvPr id="28" name="TextBox 27"/>
          <p:cNvSpPr txBox="1"/>
          <p:nvPr/>
        </p:nvSpPr>
        <p:spPr>
          <a:xfrm>
            <a:off x="5667452" y="4096512"/>
            <a:ext cx="1393545" cy="329184"/>
          </a:xfrm>
          <a:prstGeom prst="rect">
            <a:avLst/>
          </a:prstGeom>
          <a:noFill/>
        </p:spPr>
        <p:txBody>
          <a:bodyPr wrap="square" lIns="18288" tIns="18288" rIns="18288" bIns="18288" anchor="t">
            <a:spAutoFit/>
          </a:bodyPr>
          <a:lstStyle/>
          <a:p>
            <a:pPr algn="l">
              <a:lnSpc>
                <a:spcPct val="105000"/>
              </a:lnSpc>
            </a:pPr>
            <a:r>
              <a:rPr sz="1900" b="1" i="0">
                <a:solidFill>
                  <a:srgbClr val="C58A24"/>
                </a:solidFill>
                <a:latin typeface="微软雅黑"/>
              </a:rPr>
              <a:t>设置目标</a:t>
            </a:r>
          </a:p>
        </p:txBody>
      </p:sp>
      <p:sp>
        <p:nvSpPr>
          <p:cNvPr id="29" name="TextBox 28"/>
          <p:cNvSpPr txBox="1"/>
          <p:nvPr/>
        </p:nvSpPr>
        <p:spPr>
          <a:xfrm>
            <a:off x="5310836" y="4535424"/>
            <a:ext cx="1722729"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RViz 2D Nav Goal</a:t>
            </a:r>
          </a:p>
        </p:txBody>
      </p:sp>
      <p:sp>
        <p:nvSpPr>
          <p:cNvPr id="30" name="Rectangle 29"/>
          <p:cNvSpPr/>
          <p:nvPr/>
        </p:nvSpPr>
        <p:spPr>
          <a:xfrm>
            <a:off x="7216445" y="4517136"/>
            <a:ext cx="128016" cy="256032"/>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7381037" y="3931920"/>
            <a:ext cx="2015337"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381037" y="3931920"/>
            <a:ext cx="2015337" cy="82296"/>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490765" y="411480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63F45"/>
                </a:solidFill>
                <a:latin typeface="微软雅黑"/>
              </a:rPr>
              <a:t>4</a:t>
            </a:r>
          </a:p>
        </p:txBody>
      </p:sp>
      <p:sp>
        <p:nvSpPr>
          <p:cNvPr id="34" name="TextBox 33"/>
          <p:cNvSpPr txBox="1"/>
          <p:nvPr/>
        </p:nvSpPr>
        <p:spPr>
          <a:xfrm>
            <a:off x="7883957" y="4096512"/>
            <a:ext cx="1393545" cy="329184"/>
          </a:xfrm>
          <a:prstGeom prst="rect">
            <a:avLst/>
          </a:prstGeom>
          <a:noFill/>
        </p:spPr>
        <p:txBody>
          <a:bodyPr wrap="square" lIns="18288" tIns="18288" rIns="18288" bIns="18288" anchor="t">
            <a:spAutoFit/>
          </a:bodyPr>
          <a:lstStyle/>
          <a:p>
            <a:pPr algn="l">
              <a:lnSpc>
                <a:spcPct val="105000"/>
              </a:lnSpc>
            </a:pPr>
            <a:r>
              <a:rPr sz="1900" b="1" i="0">
                <a:solidFill>
                  <a:srgbClr val="C63F45"/>
                </a:solidFill>
                <a:latin typeface="微软雅黑"/>
              </a:rPr>
              <a:t>自主导航</a:t>
            </a:r>
          </a:p>
        </p:txBody>
      </p:sp>
      <p:sp>
        <p:nvSpPr>
          <p:cNvPr id="35" name="TextBox 34"/>
          <p:cNvSpPr txBox="1"/>
          <p:nvPr/>
        </p:nvSpPr>
        <p:spPr>
          <a:xfrm>
            <a:off x="7527341" y="4535424"/>
            <a:ext cx="1722729"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实时避障与重规划</a:t>
            </a:r>
          </a:p>
        </p:txBody>
      </p:sp>
      <p:sp>
        <p:nvSpPr>
          <p:cNvPr id="36" name="Rectangle 35"/>
          <p:cNvSpPr/>
          <p:nvPr/>
        </p:nvSpPr>
        <p:spPr>
          <a:xfrm>
            <a:off x="9432951" y="4517136"/>
            <a:ext cx="128016" cy="256032"/>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9597543" y="3931920"/>
            <a:ext cx="2015337"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9597543" y="3931920"/>
            <a:ext cx="2015337" cy="82296"/>
          </a:xfrm>
          <a:prstGeom prst="rect">
            <a:avLst/>
          </a:prstGeom>
          <a:solidFill>
            <a:srgbClr val="755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707271" y="411480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7558A8"/>
                </a:solidFill>
                <a:latin typeface="微软雅黑"/>
              </a:rPr>
              <a:t>5</a:t>
            </a:r>
          </a:p>
        </p:txBody>
      </p:sp>
      <p:sp>
        <p:nvSpPr>
          <p:cNvPr id="40" name="TextBox 39"/>
          <p:cNvSpPr txBox="1"/>
          <p:nvPr/>
        </p:nvSpPr>
        <p:spPr>
          <a:xfrm>
            <a:off x="10100463" y="4096512"/>
            <a:ext cx="1393545" cy="329184"/>
          </a:xfrm>
          <a:prstGeom prst="rect">
            <a:avLst/>
          </a:prstGeom>
          <a:noFill/>
        </p:spPr>
        <p:txBody>
          <a:bodyPr wrap="square" lIns="18288" tIns="18288" rIns="18288" bIns="18288" anchor="t">
            <a:spAutoFit/>
          </a:bodyPr>
          <a:lstStyle/>
          <a:p>
            <a:pPr algn="l">
              <a:lnSpc>
                <a:spcPct val="105000"/>
              </a:lnSpc>
            </a:pPr>
            <a:r>
              <a:rPr sz="1900" b="1" i="0">
                <a:solidFill>
                  <a:srgbClr val="7558A8"/>
                </a:solidFill>
                <a:latin typeface="微软雅黑"/>
              </a:rPr>
              <a:t>到达</a:t>
            </a:r>
          </a:p>
        </p:txBody>
      </p:sp>
      <p:sp>
        <p:nvSpPr>
          <p:cNvPr id="41" name="TextBox 40"/>
          <p:cNvSpPr txBox="1"/>
          <p:nvPr/>
        </p:nvSpPr>
        <p:spPr>
          <a:xfrm>
            <a:off x="9743847" y="4535424"/>
            <a:ext cx="1722729"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距离阈值 &lt; 0.5 m</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启动仿真与导航栈</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114</a:t>
            </a:r>
          </a:p>
        </p:txBody>
      </p:sp>
      <p:sp>
        <p:nvSpPr>
          <p:cNvPr id="9" name="Rounded Rectangle 8"/>
          <p:cNvSpPr/>
          <p:nvPr/>
        </p:nvSpPr>
        <p:spPr>
          <a:xfrm>
            <a:off x="868680" y="1691640"/>
            <a:ext cx="10424160" cy="3383280"/>
          </a:xfrm>
          <a:prstGeom prst="roundRect">
            <a:avLst/>
          </a:prstGeom>
          <a:solidFill>
            <a:srgbClr val="2D5AA7"/>
          </a:solidFill>
          <a:ln w="12700">
            <a:solidFill>
              <a:srgbClr val="4F73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24712" y="1856232"/>
            <a:ext cx="9921240" cy="320040"/>
          </a:xfrm>
          <a:prstGeom prst="rect">
            <a:avLst/>
          </a:prstGeom>
          <a:noFill/>
        </p:spPr>
        <p:txBody>
          <a:bodyPr wrap="square" lIns="18288" tIns="18288" rIns="18288" bIns="18288" anchor="t">
            <a:spAutoFit/>
          </a:bodyPr>
          <a:lstStyle/>
          <a:p>
            <a:pPr algn="l">
              <a:lnSpc>
                <a:spcPct val="105000"/>
              </a:lnSpc>
            </a:pPr>
            <a:r>
              <a:rPr sz="1700" b="1" i="0">
                <a:solidFill>
                  <a:srgbClr val="FFFFFF"/>
                </a:solidFill>
                <a:latin typeface="微软雅黑"/>
              </a:rPr>
              <a:t>两个终端分别运行</a:t>
            </a:r>
          </a:p>
        </p:txBody>
      </p:sp>
      <p:sp>
        <p:nvSpPr>
          <p:cNvPr id="11" name="TextBox 10"/>
          <p:cNvSpPr txBox="1"/>
          <p:nvPr/>
        </p:nvSpPr>
        <p:spPr>
          <a:xfrm>
            <a:off x="1179576" y="2286000"/>
            <a:ext cx="9802368" cy="2633472"/>
          </a:xfrm>
          <a:prstGeom prst="rect">
            <a:avLst/>
          </a:prstGeom>
          <a:noFill/>
        </p:spPr>
        <p:txBody>
          <a:bodyPr wrap="square" lIns="18288" tIns="18288" rIns="18288" bIns="18288" anchor="t">
            <a:spAutoFit/>
          </a:bodyPr>
          <a:lstStyle/>
          <a:p>
            <a:pPr algn="l">
              <a:lnSpc>
                <a:spcPct val="112000"/>
              </a:lnSpc>
            </a:pPr>
            <a:r>
              <a:rPr sz="1550" b="0" i="0">
                <a:solidFill>
                  <a:srgbClr val="FFFFFF"/>
                </a:solidFill>
                <a:latin typeface="Consolas"/>
              </a:rPr>
              <a:t># 1) 启动仿真环境
roslaunch fetch_gazebo playground.launch
# 2) 启动导航栈
roslaunch fetch_gazebo_demo fetch_nav.launch</a:t>
            </a:r>
          </a:p>
        </p:txBody>
      </p:sp>
      <p:sp>
        <p:nvSpPr>
          <p:cNvPr id="12" name="TextBox 11"/>
          <p:cNvSpPr txBox="1"/>
          <p:nvPr/>
        </p:nvSpPr>
        <p:spPr>
          <a:xfrm>
            <a:off x="914400" y="5349240"/>
            <a:ext cx="10332720" cy="502920"/>
          </a:xfrm>
          <a:prstGeom prst="rect">
            <a:avLst/>
          </a:prstGeom>
          <a:noFill/>
        </p:spPr>
        <p:txBody>
          <a:bodyPr wrap="square" lIns="18288" tIns="18288" rIns="18288" bIns="18288" anchor="t">
            <a:spAutoFit/>
          </a:bodyPr>
          <a:lstStyle/>
          <a:p>
            <a:pPr algn="ctr">
              <a:lnSpc>
                <a:spcPct val="105000"/>
              </a:lnSpc>
            </a:pPr>
            <a:r>
              <a:rPr sz="2100" b="1" i="0">
                <a:solidFill>
                  <a:srgbClr val="24477D"/>
                </a:solidFill>
                <a:latin typeface="微软雅黑"/>
              </a:rPr>
              <a:t>系统将自动启动 AMCL 定位、A* 全局规划器与 DWA 局部控制器。</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在 RViz 中设置导航目标</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115</a:t>
            </a:r>
          </a:p>
        </p:txBody>
      </p:sp>
      <p:sp>
        <p:nvSpPr>
          <p:cNvPr id="9" name="Rounded Rectangle 8"/>
          <p:cNvSpPr/>
          <p:nvPr/>
        </p:nvSpPr>
        <p:spPr>
          <a:xfrm>
            <a:off x="685800" y="196596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1965960"/>
            <a:ext cx="2569464" cy="82296"/>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5528"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31599B"/>
                </a:solidFill>
                <a:latin typeface="微软雅黑"/>
              </a:rPr>
              <a:t>1</a:t>
            </a:r>
          </a:p>
        </p:txBody>
      </p:sp>
      <p:sp>
        <p:nvSpPr>
          <p:cNvPr id="12" name="TextBox 11"/>
          <p:cNvSpPr txBox="1"/>
          <p:nvPr/>
        </p:nvSpPr>
        <p:spPr>
          <a:xfrm>
            <a:off x="1188720" y="213055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31599B"/>
                </a:solidFill>
                <a:latin typeface="微软雅黑"/>
              </a:rPr>
              <a:t>打开 RViz</a:t>
            </a:r>
          </a:p>
        </p:txBody>
      </p:sp>
      <p:sp>
        <p:nvSpPr>
          <p:cNvPr id="13" name="TextBox 12"/>
          <p:cNvSpPr txBox="1"/>
          <p:nvPr/>
        </p:nvSpPr>
        <p:spPr>
          <a:xfrm>
            <a:off x="832104" y="256946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查看占据栅格地图、机器人位姿和规划路径</a:t>
            </a:r>
          </a:p>
        </p:txBody>
      </p:sp>
      <p:sp>
        <p:nvSpPr>
          <p:cNvPr id="14" name="Rectangle 13"/>
          <p:cNvSpPr/>
          <p:nvPr/>
        </p:nvSpPr>
        <p:spPr>
          <a:xfrm>
            <a:off x="3291840" y="2551176"/>
            <a:ext cx="128016" cy="256032"/>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456432" y="196596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456432" y="1965960"/>
            <a:ext cx="2569464" cy="82296"/>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566160"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2F8E72"/>
                </a:solidFill>
                <a:latin typeface="微软雅黑"/>
              </a:rPr>
              <a:t>2</a:t>
            </a:r>
          </a:p>
        </p:txBody>
      </p:sp>
      <p:sp>
        <p:nvSpPr>
          <p:cNvPr id="18" name="TextBox 17"/>
          <p:cNvSpPr txBox="1"/>
          <p:nvPr/>
        </p:nvSpPr>
        <p:spPr>
          <a:xfrm>
            <a:off x="3959352" y="213055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2F8E72"/>
                </a:solidFill>
                <a:latin typeface="微软雅黑"/>
              </a:rPr>
              <a:t>点击 2D Nav Goal</a:t>
            </a:r>
          </a:p>
        </p:txBody>
      </p:sp>
      <p:sp>
        <p:nvSpPr>
          <p:cNvPr id="19" name="TextBox 18"/>
          <p:cNvSpPr txBox="1"/>
          <p:nvPr/>
        </p:nvSpPr>
        <p:spPr>
          <a:xfrm>
            <a:off x="3602736" y="256946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进入目标设置工具</a:t>
            </a:r>
          </a:p>
        </p:txBody>
      </p:sp>
      <p:sp>
        <p:nvSpPr>
          <p:cNvPr id="20" name="Rectangle 19"/>
          <p:cNvSpPr/>
          <p:nvPr/>
        </p:nvSpPr>
        <p:spPr>
          <a:xfrm>
            <a:off x="6062472" y="2551176"/>
            <a:ext cx="128016" cy="256032"/>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227064" y="196596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27064" y="1965960"/>
            <a:ext cx="2569464" cy="82296"/>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36792"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58A24"/>
                </a:solidFill>
                <a:latin typeface="微软雅黑"/>
              </a:rPr>
              <a:t>3</a:t>
            </a:r>
          </a:p>
        </p:txBody>
      </p:sp>
      <p:sp>
        <p:nvSpPr>
          <p:cNvPr id="24" name="TextBox 23"/>
          <p:cNvSpPr txBox="1"/>
          <p:nvPr/>
        </p:nvSpPr>
        <p:spPr>
          <a:xfrm>
            <a:off x="6729984" y="213055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C58A24"/>
                </a:solidFill>
                <a:latin typeface="微软雅黑"/>
              </a:rPr>
              <a:t>点击并拖动</a:t>
            </a:r>
          </a:p>
        </p:txBody>
      </p:sp>
      <p:sp>
        <p:nvSpPr>
          <p:cNvPr id="25" name="TextBox 24"/>
          <p:cNvSpPr txBox="1"/>
          <p:nvPr/>
        </p:nvSpPr>
        <p:spPr>
          <a:xfrm>
            <a:off x="6373368" y="256946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指定目标位置与朝向</a:t>
            </a:r>
          </a:p>
        </p:txBody>
      </p:sp>
      <p:sp>
        <p:nvSpPr>
          <p:cNvPr id="26" name="Rectangle 25"/>
          <p:cNvSpPr/>
          <p:nvPr/>
        </p:nvSpPr>
        <p:spPr>
          <a:xfrm>
            <a:off x="8833104" y="2551176"/>
            <a:ext cx="128016" cy="256032"/>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8997696" y="1965960"/>
            <a:ext cx="2569464"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997696" y="1965960"/>
            <a:ext cx="2569464" cy="82296"/>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07424"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63F45"/>
                </a:solidFill>
                <a:latin typeface="微软雅黑"/>
              </a:rPr>
              <a:t>4</a:t>
            </a:r>
          </a:p>
        </p:txBody>
      </p:sp>
      <p:sp>
        <p:nvSpPr>
          <p:cNvPr id="30" name="TextBox 29"/>
          <p:cNvSpPr txBox="1"/>
          <p:nvPr/>
        </p:nvSpPr>
        <p:spPr>
          <a:xfrm>
            <a:off x="9500616" y="2130552"/>
            <a:ext cx="1947672" cy="329184"/>
          </a:xfrm>
          <a:prstGeom prst="rect">
            <a:avLst/>
          </a:prstGeom>
          <a:noFill/>
        </p:spPr>
        <p:txBody>
          <a:bodyPr wrap="square" lIns="18288" tIns="18288" rIns="18288" bIns="18288" anchor="t">
            <a:spAutoFit/>
          </a:bodyPr>
          <a:lstStyle/>
          <a:p>
            <a:pPr algn="l">
              <a:lnSpc>
                <a:spcPct val="105000"/>
              </a:lnSpc>
            </a:pPr>
            <a:r>
              <a:rPr sz="1900" b="1" i="0">
                <a:solidFill>
                  <a:srgbClr val="C63F45"/>
                </a:solidFill>
                <a:latin typeface="微软雅黑"/>
              </a:rPr>
              <a:t>机器人执行</a:t>
            </a:r>
          </a:p>
        </p:txBody>
      </p:sp>
      <p:sp>
        <p:nvSpPr>
          <p:cNvPr id="31" name="TextBox 30"/>
          <p:cNvSpPr txBox="1"/>
          <p:nvPr/>
        </p:nvSpPr>
        <p:spPr>
          <a:xfrm>
            <a:off x="9144000" y="2569464"/>
            <a:ext cx="2276856"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立即开始导航、避障并持续更新路径</a:t>
            </a:r>
          </a:p>
        </p:txBody>
      </p:sp>
      <p:sp>
        <p:nvSpPr>
          <p:cNvPr id="32" name="TextBox 31"/>
          <p:cNvSpPr txBox="1"/>
          <p:nvPr/>
        </p:nvSpPr>
        <p:spPr>
          <a:xfrm>
            <a:off x="2560320" y="4389120"/>
            <a:ext cx="7040880" cy="502920"/>
          </a:xfrm>
          <a:prstGeom prst="rect">
            <a:avLst/>
          </a:prstGeom>
          <a:noFill/>
        </p:spPr>
        <p:txBody>
          <a:bodyPr wrap="square" lIns="18288" tIns="18288" rIns="18288" bIns="18288" anchor="t">
            <a:spAutoFit/>
          </a:bodyPr>
          <a:lstStyle/>
          <a:p>
            <a:pPr algn="ctr">
              <a:lnSpc>
                <a:spcPct val="105000"/>
              </a:lnSpc>
            </a:pPr>
            <a:r>
              <a:rPr sz="2200" b="1" i="0">
                <a:solidFill>
                  <a:srgbClr val="24477D"/>
                </a:solidFill>
                <a:latin typeface="微软雅黑"/>
              </a:rPr>
              <a:t>红色箭头表示目标位置与朝向。</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dirty="0" err="1">
                <a:solidFill>
                  <a:srgbClr val="24477D"/>
                </a:solidFill>
                <a:latin typeface="微软雅黑"/>
              </a:rPr>
              <a:t>观察与记录</a:t>
            </a:r>
            <a:endParaRPr sz="3400" b="1" i="0" dirty="0">
              <a:solidFill>
                <a:srgbClr val="24477D"/>
              </a:solidFill>
              <a:latin typeface="微软雅黑"/>
            </a:endParaRP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116</a:t>
            </a:r>
          </a:p>
        </p:txBody>
      </p:sp>
      <p:sp>
        <p:nvSpPr>
          <p:cNvPr id="9" name="Rounded Rectangle 8"/>
          <p:cNvSpPr/>
          <p:nvPr/>
        </p:nvSpPr>
        <p:spPr>
          <a:xfrm>
            <a:off x="640080" y="1828800"/>
            <a:ext cx="3182112" cy="315468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1828800"/>
            <a:ext cx="77724" cy="315468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201168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SLAM/定位</a:t>
            </a:r>
          </a:p>
        </p:txBody>
      </p:sp>
      <p:sp>
        <p:nvSpPr>
          <p:cNvPr id="12" name="TextBox 11"/>
          <p:cNvSpPr txBox="1"/>
          <p:nvPr/>
        </p:nvSpPr>
        <p:spPr>
          <a:xfrm>
            <a:off x="859536" y="2487168"/>
            <a:ext cx="2798064" cy="236829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观察机器人位姿和地图如何随运动更新。</a:t>
            </a:r>
          </a:p>
        </p:txBody>
      </p:sp>
      <p:sp>
        <p:nvSpPr>
          <p:cNvPr id="13" name="Rounded Rectangle 12"/>
          <p:cNvSpPr/>
          <p:nvPr/>
        </p:nvSpPr>
        <p:spPr>
          <a:xfrm>
            <a:off x="4096512" y="1828800"/>
            <a:ext cx="3182112" cy="315468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096512" y="1828800"/>
            <a:ext cx="77724" cy="315468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15968" y="201168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A* 全局路径</a:t>
            </a:r>
          </a:p>
        </p:txBody>
      </p:sp>
      <p:sp>
        <p:nvSpPr>
          <p:cNvPr id="16" name="TextBox 15"/>
          <p:cNvSpPr txBox="1"/>
          <p:nvPr/>
        </p:nvSpPr>
        <p:spPr>
          <a:xfrm>
            <a:off x="4315968" y="2487168"/>
            <a:ext cx="2798064" cy="236829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在 RViz 中观察全局路径（教材示意为绿色）。</a:t>
            </a:r>
          </a:p>
        </p:txBody>
      </p:sp>
      <p:sp>
        <p:nvSpPr>
          <p:cNvPr id="17" name="Rounded Rectangle 16"/>
          <p:cNvSpPr/>
          <p:nvPr/>
        </p:nvSpPr>
        <p:spPr>
          <a:xfrm>
            <a:off x="7552944" y="1828800"/>
            <a:ext cx="3182112" cy="315468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52944" y="1828800"/>
            <a:ext cx="77724" cy="315468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0" y="201168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C58A24"/>
                </a:solidFill>
                <a:latin typeface="微软雅黑"/>
              </a:rPr>
              <a:t>DWA 局部轨迹</a:t>
            </a:r>
          </a:p>
        </p:txBody>
      </p:sp>
      <p:sp>
        <p:nvSpPr>
          <p:cNvPr id="20" name="TextBox 19"/>
          <p:cNvSpPr txBox="1"/>
          <p:nvPr/>
        </p:nvSpPr>
        <p:spPr>
          <a:xfrm>
            <a:off x="7772400" y="2487168"/>
            <a:ext cx="2798064" cy="236829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观察局部避障轨迹（教材示意为黄色）与动态重规划。</a:t>
            </a:r>
          </a:p>
        </p:txBody>
      </p:sp>
      <p:sp>
        <p:nvSpPr>
          <p:cNvPr id="21" name="TextBox 20"/>
          <p:cNvSpPr txBox="1"/>
          <p:nvPr/>
        </p:nvSpPr>
        <p:spPr>
          <a:xfrm>
            <a:off x="1508760" y="5257800"/>
            <a:ext cx="9144000" cy="502920"/>
          </a:xfrm>
          <a:prstGeom prst="rect">
            <a:avLst/>
          </a:prstGeom>
          <a:noFill/>
        </p:spPr>
        <p:txBody>
          <a:bodyPr wrap="square" lIns="18288" tIns="18288" rIns="18288" bIns="18288" anchor="t">
            <a:spAutoFit/>
          </a:bodyPr>
          <a:lstStyle/>
          <a:p>
            <a:pPr algn="ctr">
              <a:lnSpc>
                <a:spcPct val="105000"/>
              </a:lnSpc>
            </a:pPr>
            <a:r>
              <a:rPr sz="2200" b="1" i="0">
                <a:solidFill>
                  <a:srgbClr val="24477D"/>
                </a:solidFill>
                <a:latin typeface="微软雅黑"/>
              </a:rPr>
              <a:t>机器人成功到达目标后，终端会显示 “Goal Reached”。</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Fetch 在 Gazebo 中的具身导航环境</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117</a:t>
            </a:r>
          </a:p>
        </p:txBody>
      </p:sp>
      <p:sp>
        <p:nvSpPr>
          <p:cNvPr id="10" name="TextBox 9"/>
          <p:cNvSpPr txBox="1"/>
          <p:nvPr/>
        </p:nvSpPr>
        <p:spPr>
          <a:xfrm>
            <a:off x="822960" y="6217920"/>
            <a:ext cx="10561320" cy="234103"/>
          </a:xfrm>
          <a:prstGeom prst="rect">
            <a:avLst/>
          </a:prstGeom>
          <a:noFill/>
        </p:spPr>
        <p:txBody>
          <a:bodyPr wrap="square" lIns="18288" tIns="18288" rIns="18288" bIns="18288" anchor="t">
            <a:spAutoFit/>
          </a:bodyPr>
          <a:lstStyle/>
          <a:p>
            <a:pPr algn="ctr">
              <a:lnSpc>
                <a:spcPct val="105000"/>
              </a:lnSpc>
            </a:pPr>
            <a:r>
              <a:rPr sz="1300" b="1" i="0" dirty="0">
                <a:solidFill>
                  <a:srgbClr val="24477D"/>
                </a:solidFill>
                <a:latin typeface="微软雅黑"/>
              </a:rPr>
              <a:t>Fetch </a:t>
            </a:r>
            <a:r>
              <a:rPr sz="1300" b="1" i="0" dirty="0" err="1">
                <a:solidFill>
                  <a:srgbClr val="24477D"/>
                </a:solidFill>
                <a:latin typeface="微软雅黑"/>
              </a:rPr>
              <a:t>机器人在</a:t>
            </a:r>
            <a:r>
              <a:rPr sz="1300" b="1" i="0" dirty="0">
                <a:solidFill>
                  <a:srgbClr val="24477D"/>
                </a:solidFill>
                <a:latin typeface="微软雅黑"/>
              </a:rPr>
              <a:t> Gazebo </a:t>
            </a:r>
            <a:r>
              <a:rPr sz="1300" b="1" i="0" dirty="0" err="1">
                <a:solidFill>
                  <a:srgbClr val="24477D"/>
                </a:solidFill>
                <a:latin typeface="微软雅黑"/>
              </a:rPr>
              <a:t>仿真平台中的导航环境</a:t>
            </a:r>
            <a:endParaRPr sz="1300" b="1" i="0" dirty="0">
              <a:solidFill>
                <a:srgbClr val="24477D"/>
              </a:solidFill>
              <a:latin typeface="微软雅黑"/>
            </a:endParaRPr>
          </a:p>
        </p:txBody>
      </p:sp>
      <p:pic>
        <p:nvPicPr>
          <p:cNvPr id="11" name="图片 10">
            <a:extLst>
              <a:ext uri="{FF2B5EF4-FFF2-40B4-BE49-F238E27FC236}">
                <a16:creationId xmlns:a16="http://schemas.microsoft.com/office/drawing/2014/main" id="{5DD0B862-9FD3-AECF-9E86-EDAA31A55CF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98052" y="1476122"/>
            <a:ext cx="8565355" cy="4602528"/>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实验扩展与思考</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118</a:t>
            </a:r>
          </a:p>
        </p:txBody>
      </p:sp>
      <p:sp>
        <p:nvSpPr>
          <p:cNvPr id="9" name="Rounded Rectangle 8"/>
          <p:cNvSpPr/>
          <p:nvPr/>
        </p:nvSpPr>
        <p:spPr>
          <a:xfrm>
            <a:off x="640080" y="1600200"/>
            <a:ext cx="5349240" cy="20574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1600200"/>
            <a:ext cx="77724" cy="20574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1783080"/>
            <a:ext cx="4937759"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集成 MoveIt</a:t>
            </a:r>
          </a:p>
        </p:txBody>
      </p:sp>
      <p:sp>
        <p:nvSpPr>
          <p:cNvPr id="12" name="TextBox 11"/>
          <p:cNvSpPr txBox="1"/>
          <p:nvPr/>
        </p:nvSpPr>
        <p:spPr>
          <a:xfrm>
            <a:off x="859536" y="2258568"/>
            <a:ext cx="4965192" cy="1271016"/>
          </a:xfrm>
          <a:prstGeom prst="rect">
            <a:avLst/>
          </a:prstGeom>
          <a:noFill/>
        </p:spPr>
        <p:txBody>
          <a:bodyPr wrap="square" lIns="18288" tIns="18288" rIns="18288" bIns="18288" anchor="t">
            <a:spAutoFit/>
          </a:bodyPr>
          <a:lstStyle/>
          <a:p>
            <a:pPr algn="l">
              <a:lnSpc>
                <a:spcPct val="110000"/>
              </a:lnSpc>
            </a:pPr>
            <a:r>
              <a:rPr sz="1700" b="0" i="0">
                <a:solidFill>
                  <a:srgbClr val="222833"/>
                </a:solidFill>
                <a:latin typeface="微软雅黑"/>
              </a:rPr>
              <a:t>在导航后继续完成机械臂抓取。</a:t>
            </a:r>
          </a:p>
        </p:txBody>
      </p:sp>
      <p:sp>
        <p:nvSpPr>
          <p:cNvPr id="13" name="Rounded Rectangle 12"/>
          <p:cNvSpPr/>
          <p:nvPr/>
        </p:nvSpPr>
        <p:spPr>
          <a:xfrm>
            <a:off x="6172200" y="1600200"/>
            <a:ext cx="5349240" cy="20574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72200" y="1600200"/>
            <a:ext cx="77724" cy="205740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91656" y="1783080"/>
            <a:ext cx="4937759"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动态障碍</a:t>
            </a:r>
          </a:p>
        </p:txBody>
      </p:sp>
      <p:sp>
        <p:nvSpPr>
          <p:cNvPr id="16" name="TextBox 15"/>
          <p:cNvSpPr txBox="1"/>
          <p:nvPr/>
        </p:nvSpPr>
        <p:spPr>
          <a:xfrm>
            <a:off x="6391656" y="2258568"/>
            <a:ext cx="4965192" cy="1271016"/>
          </a:xfrm>
          <a:prstGeom prst="rect">
            <a:avLst/>
          </a:prstGeom>
          <a:noFill/>
        </p:spPr>
        <p:txBody>
          <a:bodyPr wrap="square" lIns="18288" tIns="18288" rIns="18288" bIns="18288" anchor="t">
            <a:spAutoFit/>
          </a:bodyPr>
          <a:lstStyle/>
          <a:p>
            <a:pPr algn="l">
              <a:lnSpc>
                <a:spcPct val="110000"/>
              </a:lnSpc>
            </a:pPr>
            <a:r>
              <a:rPr sz="1700" b="0" i="0">
                <a:solidFill>
                  <a:srgbClr val="222833"/>
                </a:solidFill>
                <a:latin typeface="微软雅黑"/>
              </a:rPr>
              <a:t>修改地图或加入移动障碍，观察 DWA 的重规划效果。</a:t>
            </a:r>
          </a:p>
        </p:txBody>
      </p:sp>
      <p:sp>
        <p:nvSpPr>
          <p:cNvPr id="17" name="Rounded Rectangle 16"/>
          <p:cNvSpPr/>
          <p:nvPr/>
        </p:nvSpPr>
        <p:spPr>
          <a:xfrm>
            <a:off x="640080" y="3931920"/>
            <a:ext cx="5349240" cy="20574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 y="3931920"/>
            <a:ext cx="77724" cy="205740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59536" y="4114800"/>
            <a:ext cx="4937759" cy="384048"/>
          </a:xfrm>
          <a:prstGeom prst="rect">
            <a:avLst/>
          </a:prstGeom>
          <a:noFill/>
        </p:spPr>
        <p:txBody>
          <a:bodyPr wrap="square" lIns="18288" tIns="18288" rIns="18288" bIns="18288" anchor="t">
            <a:spAutoFit/>
          </a:bodyPr>
          <a:lstStyle/>
          <a:p>
            <a:pPr algn="l">
              <a:lnSpc>
                <a:spcPct val="105000"/>
              </a:lnSpc>
            </a:pPr>
            <a:r>
              <a:rPr sz="2200" b="1" i="0">
                <a:solidFill>
                  <a:srgbClr val="C58A24"/>
                </a:solidFill>
                <a:latin typeface="微软雅黑"/>
              </a:rPr>
              <a:t>任务扩展</a:t>
            </a:r>
          </a:p>
        </p:txBody>
      </p:sp>
      <p:sp>
        <p:nvSpPr>
          <p:cNvPr id="20" name="TextBox 19"/>
          <p:cNvSpPr txBox="1"/>
          <p:nvPr/>
        </p:nvSpPr>
        <p:spPr>
          <a:xfrm>
            <a:off x="859536" y="4590288"/>
            <a:ext cx="4965192" cy="1271016"/>
          </a:xfrm>
          <a:prstGeom prst="rect">
            <a:avLst/>
          </a:prstGeom>
          <a:noFill/>
        </p:spPr>
        <p:txBody>
          <a:bodyPr wrap="square" lIns="18288" tIns="18288" rIns="18288" bIns="18288" anchor="t">
            <a:spAutoFit/>
          </a:bodyPr>
          <a:lstStyle/>
          <a:p>
            <a:pPr algn="l">
              <a:lnSpc>
                <a:spcPct val="110000"/>
              </a:lnSpc>
            </a:pPr>
            <a:r>
              <a:rPr sz="1700" b="0" i="0">
                <a:solidFill>
                  <a:srgbClr val="222833"/>
                </a:solidFill>
                <a:latin typeface="微软雅黑"/>
              </a:rPr>
              <a:t>从 PointGoal 扩展到物体目标、语言目标和“导航 + 操作”。</a:t>
            </a:r>
          </a:p>
        </p:txBody>
      </p:sp>
      <p:sp>
        <p:nvSpPr>
          <p:cNvPr id="21" name="Rounded Rectangle 20"/>
          <p:cNvSpPr/>
          <p:nvPr/>
        </p:nvSpPr>
        <p:spPr>
          <a:xfrm>
            <a:off x="6172200" y="3931920"/>
            <a:ext cx="5349240" cy="20574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172200" y="3931920"/>
            <a:ext cx="77724" cy="205740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91656" y="4114800"/>
            <a:ext cx="4937759" cy="384048"/>
          </a:xfrm>
          <a:prstGeom prst="rect">
            <a:avLst/>
          </a:prstGeom>
          <a:noFill/>
        </p:spPr>
        <p:txBody>
          <a:bodyPr wrap="square" lIns="18288" tIns="18288" rIns="18288" bIns="18288" anchor="t">
            <a:spAutoFit/>
          </a:bodyPr>
          <a:lstStyle/>
          <a:p>
            <a:pPr algn="l">
              <a:lnSpc>
                <a:spcPct val="105000"/>
              </a:lnSpc>
            </a:pPr>
            <a:r>
              <a:rPr sz="2200" b="1" i="0">
                <a:solidFill>
                  <a:srgbClr val="C63F45"/>
                </a:solidFill>
                <a:latin typeface="微软雅黑"/>
              </a:rPr>
              <a:t>Sim-to-Real</a:t>
            </a:r>
          </a:p>
        </p:txBody>
      </p:sp>
      <p:sp>
        <p:nvSpPr>
          <p:cNvPr id="24" name="TextBox 23"/>
          <p:cNvSpPr txBox="1"/>
          <p:nvPr/>
        </p:nvSpPr>
        <p:spPr>
          <a:xfrm>
            <a:off x="6391656" y="4590288"/>
            <a:ext cx="4965192" cy="1271016"/>
          </a:xfrm>
          <a:prstGeom prst="rect">
            <a:avLst/>
          </a:prstGeom>
          <a:noFill/>
        </p:spPr>
        <p:txBody>
          <a:bodyPr wrap="square" lIns="18288" tIns="18288" rIns="18288" bIns="18288" anchor="t">
            <a:spAutoFit/>
          </a:bodyPr>
          <a:lstStyle/>
          <a:p>
            <a:pPr algn="l">
              <a:lnSpc>
                <a:spcPct val="110000"/>
              </a:lnSpc>
            </a:pPr>
            <a:r>
              <a:rPr sz="1700" b="0" i="0">
                <a:solidFill>
                  <a:srgbClr val="222833"/>
                </a:solidFill>
                <a:latin typeface="微软雅黑"/>
              </a:rPr>
              <a:t>思考传感器噪声、地面摩擦等仿真与真实差异。</a:t>
            </a:r>
          </a:p>
        </p:txBody>
      </p:sp>
      <p:sp>
        <p:nvSpPr>
          <p:cNvPr id="25" name="TextBox 24"/>
          <p:cNvSpPr txBox="1"/>
          <p:nvPr/>
        </p:nvSpPr>
        <p:spPr>
          <a:xfrm>
            <a:off x="1051560" y="6172200"/>
            <a:ext cx="10058400" cy="320040"/>
          </a:xfrm>
          <a:prstGeom prst="rect">
            <a:avLst/>
          </a:prstGeom>
          <a:noFill/>
        </p:spPr>
        <p:txBody>
          <a:bodyPr wrap="square" lIns="18288" tIns="18288" rIns="18288" bIns="18288" anchor="t">
            <a:spAutoFit/>
          </a:bodyPr>
          <a:lstStyle/>
          <a:p>
            <a:pPr algn="ctr">
              <a:lnSpc>
                <a:spcPct val="105000"/>
              </a:lnSpc>
            </a:pPr>
            <a:r>
              <a:rPr sz="1500" b="0" i="0">
                <a:solidFill>
                  <a:srgbClr val="7D8899"/>
                </a:solidFill>
                <a:latin typeface="Consolas"/>
              </a:rPr>
              <a:t>MoveIt 启动示例：roslaunch fetch_moveit_config move_group.launch</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从仿真到现实：为什么“仿真成功”不等于“真机成功”</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119</a:t>
            </a:r>
          </a:p>
        </p:txBody>
      </p:sp>
      <p:sp>
        <p:nvSpPr>
          <p:cNvPr id="9" name="Rounded Rectangle 8"/>
          <p:cNvSpPr/>
          <p:nvPr/>
        </p:nvSpPr>
        <p:spPr>
          <a:xfrm>
            <a:off x="640080" y="1828800"/>
            <a:ext cx="3182112" cy="333756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1828800"/>
            <a:ext cx="77724" cy="333756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201168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传感器差异</a:t>
            </a:r>
          </a:p>
        </p:txBody>
      </p:sp>
      <p:sp>
        <p:nvSpPr>
          <p:cNvPr id="12" name="TextBox 11"/>
          <p:cNvSpPr txBox="1"/>
          <p:nvPr/>
        </p:nvSpPr>
        <p:spPr>
          <a:xfrm>
            <a:off x="859536" y="2487168"/>
            <a:ext cx="2798064" cy="255117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真实 LiDAR/相机存在噪声、遮挡、反射和标定误差。</a:t>
            </a:r>
          </a:p>
        </p:txBody>
      </p:sp>
      <p:sp>
        <p:nvSpPr>
          <p:cNvPr id="13" name="Rounded Rectangle 12"/>
          <p:cNvSpPr/>
          <p:nvPr/>
        </p:nvSpPr>
        <p:spPr>
          <a:xfrm>
            <a:off x="4096512" y="1828800"/>
            <a:ext cx="3182112" cy="333756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096512" y="1828800"/>
            <a:ext cx="77724" cy="333756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15968" y="201168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动力学差异</a:t>
            </a:r>
          </a:p>
        </p:txBody>
      </p:sp>
      <p:sp>
        <p:nvSpPr>
          <p:cNvPr id="16" name="TextBox 15"/>
          <p:cNvSpPr txBox="1"/>
          <p:nvPr/>
        </p:nvSpPr>
        <p:spPr>
          <a:xfrm>
            <a:off x="4315968" y="2487168"/>
            <a:ext cx="2798064" cy="255117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真实地面摩擦、轮胎打滑、负载变化会改变运动模型。</a:t>
            </a:r>
          </a:p>
        </p:txBody>
      </p:sp>
      <p:sp>
        <p:nvSpPr>
          <p:cNvPr id="17" name="Rounded Rectangle 16"/>
          <p:cNvSpPr/>
          <p:nvPr/>
        </p:nvSpPr>
        <p:spPr>
          <a:xfrm>
            <a:off x="7552944" y="1828800"/>
            <a:ext cx="3182112" cy="333756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52944" y="1828800"/>
            <a:ext cx="77724" cy="333756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0" y="2011680"/>
            <a:ext cx="2770632" cy="384048"/>
          </a:xfrm>
          <a:prstGeom prst="rect">
            <a:avLst/>
          </a:prstGeom>
          <a:noFill/>
        </p:spPr>
        <p:txBody>
          <a:bodyPr wrap="square" lIns="18288" tIns="18288" rIns="18288" bIns="18288" anchor="t">
            <a:spAutoFit/>
          </a:bodyPr>
          <a:lstStyle/>
          <a:p>
            <a:pPr algn="l">
              <a:lnSpc>
                <a:spcPct val="105000"/>
              </a:lnSpc>
            </a:pPr>
            <a:r>
              <a:rPr sz="2200" b="1" i="0">
                <a:solidFill>
                  <a:srgbClr val="C58A24"/>
                </a:solidFill>
                <a:latin typeface="微软雅黑"/>
              </a:rPr>
              <a:t>环境差异</a:t>
            </a:r>
          </a:p>
        </p:txBody>
      </p:sp>
      <p:sp>
        <p:nvSpPr>
          <p:cNvPr id="20" name="TextBox 19"/>
          <p:cNvSpPr txBox="1"/>
          <p:nvPr/>
        </p:nvSpPr>
        <p:spPr>
          <a:xfrm>
            <a:off x="7772400" y="2487168"/>
            <a:ext cx="2798064" cy="2551176"/>
          </a:xfrm>
          <a:prstGeom prst="rect">
            <a:avLst/>
          </a:prstGeom>
          <a:noFill/>
        </p:spPr>
        <p:txBody>
          <a:bodyPr wrap="square" lIns="18288" tIns="18288" rIns="18288" bIns="18288" anchor="t">
            <a:spAutoFit/>
          </a:bodyPr>
          <a:lstStyle/>
          <a:p>
            <a:pPr algn="l">
              <a:lnSpc>
                <a:spcPct val="110000"/>
              </a:lnSpc>
            </a:pPr>
            <a:r>
              <a:rPr sz="1800" b="0" i="0">
                <a:solidFill>
                  <a:srgbClr val="222833"/>
                </a:solidFill>
                <a:latin typeface="微软雅黑"/>
              </a:rPr>
              <a:t>真实场景动态性更强，未知对象与人的行为更复杂。</a:t>
            </a:r>
          </a:p>
        </p:txBody>
      </p:sp>
      <p:sp>
        <p:nvSpPr>
          <p:cNvPr id="21" name="TextBox 20"/>
          <p:cNvSpPr txBox="1"/>
          <p:nvPr/>
        </p:nvSpPr>
        <p:spPr>
          <a:xfrm>
            <a:off x="1005840" y="5349240"/>
            <a:ext cx="10149840" cy="475488"/>
          </a:xfrm>
          <a:prstGeom prst="rect">
            <a:avLst/>
          </a:prstGeom>
          <a:noFill/>
        </p:spPr>
        <p:txBody>
          <a:bodyPr wrap="square" lIns="18288" tIns="18288" rIns="18288" bIns="18288" anchor="t">
            <a:spAutoFit/>
          </a:bodyPr>
          <a:lstStyle/>
          <a:p>
            <a:pPr algn="ctr">
              <a:lnSpc>
                <a:spcPct val="105000"/>
              </a:lnSpc>
            </a:pPr>
            <a:r>
              <a:rPr sz="2100" b="1" i="0">
                <a:solidFill>
                  <a:srgbClr val="24477D"/>
                </a:solidFill>
                <a:latin typeface="微软雅黑"/>
              </a:rPr>
              <a:t>因此部署需要持续的参数标定、鲁棒感知、在线重规划和安全约束。</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78638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86384" y="0"/>
            <a:ext cx="73152"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921240" y="347472"/>
            <a:ext cx="160020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具身智能导论 · 第 6 章</a:t>
            </a:r>
          </a:p>
        </p:txBody>
      </p:sp>
      <p:sp>
        <p:nvSpPr>
          <p:cNvPr id="5" name="TextBox 4"/>
          <p:cNvSpPr txBox="1"/>
          <p:nvPr/>
        </p:nvSpPr>
        <p:spPr>
          <a:xfrm>
            <a:off x="1938528" y="2011680"/>
            <a:ext cx="1627632" cy="914400"/>
          </a:xfrm>
          <a:prstGeom prst="rect">
            <a:avLst/>
          </a:prstGeom>
          <a:noFill/>
        </p:spPr>
        <p:txBody>
          <a:bodyPr wrap="square" lIns="18288" tIns="18288" rIns="18288" bIns="18288" anchor="ctr">
            <a:spAutoFit/>
          </a:bodyPr>
          <a:lstStyle/>
          <a:p>
            <a:pPr algn="ctr">
              <a:lnSpc>
                <a:spcPct val="105000"/>
              </a:lnSpc>
            </a:pPr>
            <a:r>
              <a:rPr sz="7200" b="1" i="0">
                <a:solidFill>
                  <a:srgbClr val="31599B"/>
                </a:solidFill>
                <a:latin typeface="微软雅黑"/>
              </a:rPr>
              <a:t>08</a:t>
            </a:r>
          </a:p>
        </p:txBody>
      </p:sp>
      <p:sp>
        <p:nvSpPr>
          <p:cNvPr id="6" name="TextBox 5"/>
          <p:cNvSpPr txBox="1"/>
          <p:nvPr/>
        </p:nvSpPr>
        <p:spPr>
          <a:xfrm>
            <a:off x="3703320" y="2249424"/>
            <a:ext cx="6812280" cy="685800"/>
          </a:xfrm>
          <a:prstGeom prst="rect">
            <a:avLst/>
          </a:prstGeom>
          <a:noFill/>
        </p:spPr>
        <p:txBody>
          <a:bodyPr wrap="square" lIns="18288" tIns="18288" rIns="18288" bIns="18288" anchor="ctr">
            <a:spAutoFit/>
          </a:bodyPr>
          <a:lstStyle/>
          <a:p>
            <a:pPr algn="l">
              <a:lnSpc>
                <a:spcPct val="105000"/>
              </a:lnSpc>
            </a:pPr>
            <a:r>
              <a:rPr sz="3900" b="1" i="0">
                <a:solidFill>
                  <a:srgbClr val="24477D"/>
                </a:solidFill>
                <a:latin typeface="微软雅黑"/>
              </a:rPr>
              <a:t>小结</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dirty="0" err="1">
                <a:solidFill>
                  <a:srgbClr val="24477D"/>
                </a:solidFill>
                <a:latin typeface="微软雅黑"/>
              </a:rPr>
              <a:t>本章知识结构</a:t>
            </a:r>
            <a:endParaRPr sz="3400" b="1" i="0" dirty="0">
              <a:solidFill>
                <a:srgbClr val="24477D"/>
              </a:solidFill>
              <a:latin typeface="微软雅黑"/>
            </a:endParaRP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121</a:t>
            </a:r>
          </a:p>
        </p:txBody>
      </p:sp>
      <p:sp>
        <p:nvSpPr>
          <p:cNvPr id="9" name="Rounded Rectangle 8"/>
          <p:cNvSpPr/>
          <p:nvPr/>
        </p:nvSpPr>
        <p:spPr>
          <a:xfrm>
            <a:off x="685800" y="1965960"/>
            <a:ext cx="2015337"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1965960"/>
            <a:ext cx="2015337" cy="82296"/>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5528"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31599B"/>
                </a:solidFill>
                <a:latin typeface="微软雅黑"/>
              </a:rPr>
              <a:t>1</a:t>
            </a:r>
          </a:p>
        </p:txBody>
      </p:sp>
      <p:sp>
        <p:nvSpPr>
          <p:cNvPr id="12" name="TextBox 11"/>
          <p:cNvSpPr txBox="1"/>
          <p:nvPr/>
        </p:nvSpPr>
        <p:spPr>
          <a:xfrm>
            <a:off x="1188720" y="2130552"/>
            <a:ext cx="1393545" cy="329184"/>
          </a:xfrm>
          <a:prstGeom prst="rect">
            <a:avLst/>
          </a:prstGeom>
          <a:noFill/>
        </p:spPr>
        <p:txBody>
          <a:bodyPr wrap="square" lIns="18288" tIns="18288" rIns="18288" bIns="18288" anchor="t">
            <a:spAutoFit/>
          </a:bodyPr>
          <a:lstStyle/>
          <a:p>
            <a:pPr algn="l">
              <a:lnSpc>
                <a:spcPct val="105000"/>
              </a:lnSpc>
            </a:pPr>
            <a:r>
              <a:rPr sz="1900" b="1" i="0">
                <a:solidFill>
                  <a:srgbClr val="31599B"/>
                </a:solidFill>
                <a:latin typeface="微软雅黑"/>
              </a:rPr>
              <a:t>环境表示</a:t>
            </a:r>
          </a:p>
        </p:txBody>
      </p:sp>
      <p:sp>
        <p:nvSpPr>
          <p:cNvPr id="13" name="TextBox 12"/>
          <p:cNvSpPr txBox="1"/>
          <p:nvPr/>
        </p:nvSpPr>
        <p:spPr>
          <a:xfrm>
            <a:off x="832104" y="2569464"/>
            <a:ext cx="1722729"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度量 / 拓扑 / 语义地图</a:t>
            </a:r>
          </a:p>
        </p:txBody>
      </p:sp>
      <p:sp>
        <p:nvSpPr>
          <p:cNvPr id="14" name="Rectangle 13"/>
          <p:cNvSpPr/>
          <p:nvPr/>
        </p:nvSpPr>
        <p:spPr>
          <a:xfrm>
            <a:off x="2737713" y="2551176"/>
            <a:ext cx="128016" cy="256032"/>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2902305" y="1965960"/>
            <a:ext cx="2015337"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902305" y="1965960"/>
            <a:ext cx="2015337" cy="82296"/>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012033"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2F8E72"/>
                </a:solidFill>
                <a:latin typeface="微软雅黑"/>
              </a:rPr>
              <a:t>2</a:t>
            </a:r>
          </a:p>
        </p:txBody>
      </p:sp>
      <p:sp>
        <p:nvSpPr>
          <p:cNvPr id="18" name="TextBox 17"/>
          <p:cNvSpPr txBox="1"/>
          <p:nvPr/>
        </p:nvSpPr>
        <p:spPr>
          <a:xfrm>
            <a:off x="3405225" y="2130552"/>
            <a:ext cx="1393545" cy="329184"/>
          </a:xfrm>
          <a:prstGeom prst="rect">
            <a:avLst/>
          </a:prstGeom>
          <a:noFill/>
        </p:spPr>
        <p:txBody>
          <a:bodyPr wrap="square" lIns="18288" tIns="18288" rIns="18288" bIns="18288" anchor="t">
            <a:spAutoFit/>
          </a:bodyPr>
          <a:lstStyle/>
          <a:p>
            <a:pPr algn="l">
              <a:lnSpc>
                <a:spcPct val="105000"/>
              </a:lnSpc>
            </a:pPr>
            <a:r>
              <a:rPr sz="1900" b="1" i="0">
                <a:solidFill>
                  <a:srgbClr val="2F8E72"/>
                </a:solidFill>
                <a:latin typeface="微软雅黑"/>
              </a:rPr>
              <a:t>SLAM</a:t>
            </a:r>
          </a:p>
        </p:txBody>
      </p:sp>
      <p:sp>
        <p:nvSpPr>
          <p:cNvPr id="19" name="TextBox 18"/>
          <p:cNvSpPr txBox="1"/>
          <p:nvPr/>
        </p:nvSpPr>
        <p:spPr>
          <a:xfrm>
            <a:off x="3048609" y="2569464"/>
            <a:ext cx="1722729"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EKF / FastSLAM / Visual SLAM</a:t>
            </a:r>
          </a:p>
        </p:txBody>
      </p:sp>
      <p:sp>
        <p:nvSpPr>
          <p:cNvPr id="20" name="Rectangle 19"/>
          <p:cNvSpPr/>
          <p:nvPr/>
        </p:nvSpPr>
        <p:spPr>
          <a:xfrm>
            <a:off x="4954219" y="2551176"/>
            <a:ext cx="128016" cy="256032"/>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118811" y="1965960"/>
            <a:ext cx="2015337"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118811" y="1965960"/>
            <a:ext cx="2015337" cy="82296"/>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228539"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58A24"/>
                </a:solidFill>
                <a:latin typeface="微软雅黑"/>
              </a:rPr>
              <a:t>3</a:t>
            </a:r>
          </a:p>
        </p:txBody>
      </p:sp>
      <p:sp>
        <p:nvSpPr>
          <p:cNvPr id="24" name="TextBox 23"/>
          <p:cNvSpPr txBox="1"/>
          <p:nvPr/>
        </p:nvSpPr>
        <p:spPr>
          <a:xfrm>
            <a:off x="5621731" y="2130552"/>
            <a:ext cx="1393545" cy="329184"/>
          </a:xfrm>
          <a:prstGeom prst="rect">
            <a:avLst/>
          </a:prstGeom>
          <a:noFill/>
        </p:spPr>
        <p:txBody>
          <a:bodyPr wrap="square" lIns="18288" tIns="18288" rIns="18288" bIns="18288" anchor="t">
            <a:spAutoFit/>
          </a:bodyPr>
          <a:lstStyle/>
          <a:p>
            <a:pPr algn="l">
              <a:lnSpc>
                <a:spcPct val="105000"/>
              </a:lnSpc>
            </a:pPr>
            <a:r>
              <a:rPr sz="1900" b="1" i="0">
                <a:solidFill>
                  <a:srgbClr val="C58A24"/>
                </a:solidFill>
                <a:latin typeface="微软雅黑"/>
              </a:rPr>
              <a:t>规划</a:t>
            </a:r>
          </a:p>
        </p:txBody>
      </p:sp>
      <p:sp>
        <p:nvSpPr>
          <p:cNvPr id="25" name="TextBox 24"/>
          <p:cNvSpPr txBox="1"/>
          <p:nvPr/>
        </p:nvSpPr>
        <p:spPr>
          <a:xfrm>
            <a:off x="5265115" y="2569464"/>
            <a:ext cx="1722729"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A* / RRT / PRM + DWA / TEB / MPC</a:t>
            </a:r>
          </a:p>
        </p:txBody>
      </p:sp>
      <p:sp>
        <p:nvSpPr>
          <p:cNvPr id="26" name="Rectangle 25"/>
          <p:cNvSpPr/>
          <p:nvPr/>
        </p:nvSpPr>
        <p:spPr>
          <a:xfrm>
            <a:off x="7170724" y="2551176"/>
            <a:ext cx="128016" cy="256032"/>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7335316" y="1965960"/>
            <a:ext cx="2015337"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335316" y="1965960"/>
            <a:ext cx="2015337" cy="82296"/>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445044"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C63F45"/>
                </a:solidFill>
                <a:latin typeface="微软雅黑"/>
              </a:rPr>
              <a:t>4</a:t>
            </a:r>
          </a:p>
        </p:txBody>
      </p:sp>
      <p:sp>
        <p:nvSpPr>
          <p:cNvPr id="30" name="TextBox 29"/>
          <p:cNvSpPr txBox="1"/>
          <p:nvPr/>
        </p:nvSpPr>
        <p:spPr>
          <a:xfrm>
            <a:off x="7838236" y="2130552"/>
            <a:ext cx="1393545" cy="329184"/>
          </a:xfrm>
          <a:prstGeom prst="rect">
            <a:avLst/>
          </a:prstGeom>
          <a:noFill/>
        </p:spPr>
        <p:txBody>
          <a:bodyPr wrap="square" lIns="18288" tIns="18288" rIns="18288" bIns="18288" anchor="t">
            <a:spAutoFit/>
          </a:bodyPr>
          <a:lstStyle/>
          <a:p>
            <a:pPr algn="l">
              <a:lnSpc>
                <a:spcPct val="105000"/>
              </a:lnSpc>
            </a:pPr>
            <a:r>
              <a:rPr sz="1900" b="1" i="0">
                <a:solidFill>
                  <a:srgbClr val="C63F45"/>
                </a:solidFill>
                <a:latin typeface="微软雅黑"/>
              </a:rPr>
              <a:t>系统框架</a:t>
            </a:r>
          </a:p>
        </p:txBody>
      </p:sp>
      <p:sp>
        <p:nvSpPr>
          <p:cNvPr id="31" name="TextBox 30"/>
          <p:cNvSpPr txBox="1"/>
          <p:nvPr/>
        </p:nvSpPr>
        <p:spPr>
          <a:xfrm>
            <a:off x="7481620" y="2569464"/>
            <a:ext cx="1722729"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ROS 分层 / 端到端 RL / 基础模型</a:t>
            </a:r>
          </a:p>
        </p:txBody>
      </p:sp>
      <p:sp>
        <p:nvSpPr>
          <p:cNvPr id="32" name="Rectangle 31"/>
          <p:cNvSpPr/>
          <p:nvPr/>
        </p:nvSpPr>
        <p:spPr>
          <a:xfrm>
            <a:off x="9387230" y="2551176"/>
            <a:ext cx="128016" cy="256032"/>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9551822" y="1965960"/>
            <a:ext cx="2015337" cy="141732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9551822" y="1965960"/>
            <a:ext cx="2015337" cy="82296"/>
          </a:xfrm>
          <a:prstGeom prst="rect">
            <a:avLst/>
          </a:prstGeom>
          <a:solidFill>
            <a:srgbClr val="755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661550" y="2148840"/>
            <a:ext cx="347472" cy="347472"/>
          </a:xfrm>
          <a:prstGeom prst="rect">
            <a:avLst/>
          </a:prstGeom>
          <a:noFill/>
        </p:spPr>
        <p:txBody>
          <a:bodyPr wrap="square" lIns="18288" tIns="18288" rIns="18288" bIns="18288" anchor="t">
            <a:spAutoFit/>
          </a:bodyPr>
          <a:lstStyle/>
          <a:p>
            <a:pPr algn="ctr">
              <a:lnSpc>
                <a:spcPct val="105000"/>
              </a:lnSpc>
            </a:pPr>
            <a:r>
              <a:rPr sz="2100" b="1" i="0">
                <a:solidFill>
                  <a:srgbClr val="7558A8"/>
                </a:solidFill>
                <a:latin typeface="微软雅黑"/>
              </a:rPr>
              <a:t>5</a:t>
            </a:r>
          </a:p>
        </p:txBody>
      </p:sp>
      <p:sp>
        <p:nvSpPr>
          <p:cNvPr id="36" name="TextBox 35"/>
          <p:cNvSpPr txBox="1"/>
          <p:nvPr/>
        </p:nvSpPr>
        <p:spPr>
          <a:xfrm>
            <a:off x="10054742" y="2130552"/>
            <a:ext cx="1393545" cy="329184"/>
          </a:xfrm>
          <a:prstGeom prst="rect">
            <a:avLst/>
          </a:prstGeom>
          <a:noFill/>
        </p:spPr>
        <p:txBody>
          <a:bodyPr wrap="square" lIns="18288" tIns="18288" rIns="18288" bIns="18288" anchor="t">
            <a:spAutoFit/>
          </a:bodyPr>
          <a:lstStyle/>
          <a:p>
            <a:pPr algn="l">
              <a:lnSpc>
                <a:spcPct val="105000"/>
              </a:lnSpc>
            </a:pPr>
            <a:r>
              <a:rPr sz="1900" b="1" i="0">
                <a:solidFill>
                  <a:srgbClr val="7558A8"/>
                </a:solidFill>
                <a:latin typeface="微软雅黑"/>
              </a:rPr>
              <a:t>高级任务</a:t>
            </a:r>
          </a:p>
        </p:txBody>
      </p:sp>
      <p:sp>
        <p:nvSpPr>
          <p:cNvPr id="37" name="TextBox 36"/>
          <p:cNvSpPr txBox="1"/>
          <p:nvPr/>
        </p:nvSpPr>
        <p:spPr>
          <a:xfrm>
            <a:off x="9698126" y="2569464"/>
            <a:ext cx="1722729" cy="658368"/>
          </a:xfrm>
          <a:prstGeom prst="rect">
            <a:avLst/>
          </a:prstGeom>
          <a:noFill/>
        </p:spPr>
        <p:txBody>
          <a:bodyPr wrap="square" lIns="18288" tIns="18288" rIns="18288" bIns="18288" anchor="ctr">
            <a:spAutoFit/>
          </a:bodyPr>
          <a:lstStyle/>
          <a:p>
            <a:pPr algn="ctr">
              <a:lnSpc>
                <a:spcPct val="105000"/>
              </a:lnSpc>
            </a:pPr>
            <a:r>
              <a:rPr sz="1600" b="0" i="0">
                <a:solidFill>
                  <a:srgbClr val="222833"/>
                </a:solidFill>
                <a:latin typeface="微软雅黑"/>
              </a:rPr>
              <a:t>VLN + Fetch 仿真实践</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46304" y="0"/>
            <a:ext cx="32004"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82880"/>
            <a:ext cx="3474720" cy="228600"/>
          </a:xfrm>
          <a:prstGeom prst="rect">
            <a:avLst/>
          </a:prstGeom>
          <a:noFill/>
        </p:spPr>
        <p:txBody>
          <a:bodyPr wrap="square" lIns="18288" tIns="18288" rIns="18288" bIns="18288" anchor="t">
            <a:spAutoFit/>
          </a:bodyPr>
          <a:lstStyle/>
          <a:p>
            <a:pPr algn="l">
              <a:lnSpc>
                <a:spcPct val="105000"/>
              </a:lnSpc>
            </a:pPr>
            <a:r>
              <a:rPr sz="1000" b="0" i="0">
                <a:solidFill>
                  <a:srgbClr val="7D8899"/>
                </a:solidFill>
                <a:latin typeface="微软雅黑"/>
              </a:rPr>
              <a:t>具身智能导论 · 第 6 章</a:t>
            </a:r>
          </a:p>
        </p:txBody>
      </p:sp>
      <p:sp>
        <p:nvSpPr>
          <p:cNvPr id="5" name="TextBox 4"/>
          <p:cNvSpPr txBox="1"/>
          <p:nvPr/>
        </p:nvSpPr>
        <p:spPr>
          <a:xfrm>
            <a:off x="8458200" y="182880"/>
            <a:ext cx="3246120" cy="22860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具身导航与规划</a:t>
            </a:r>
          </a:p>
        </p:txBody>
      </p:sp>
      <p:sp>
        <p:nvSpPr>
          <p:cNvPr id="6" name="TextBox 5"/>
          <p:cNvSpPr txBox="1"/>
          <p:nvPr/>
        </p:nvSpPr>
        <p:spPr>
          <a:xfrm>
            <a:off x="457200" y="566928"/>
            <a:ext cx="11155680" cy="548640"/>
          </a:xfrm>
          <a:prstGeom prst="rect">
            <a:avLst/>
          </a:prstGeom>
          <a:noFill/>
        </p:spPr>
        <p:txBody>
          <a:bodyPr wrap="square" lIns="18288" tIns="18288" rIns="18288" bIns="18288" anchor="t">
            <a:spAutoFit/>
          </a:bodyPr>
          <a:lstStyle/>
          <a:p>
            <a:pPr algn="l">
              <a:lnSpc>
                <a:spcPct val="105000"/>
              </a:lnSpc>
            </a:pPr>
            <a:r>
              <a:rPr sz="3400" b="1" i="0">
                <a:solidFill>
                  <a:srgbClr val="24477D"/>
                </a:solidFill>
                <a:latin typeface="微软雅黑"/>
              </a:rPr>
              <a:t>6.8 小结</a:t>
            </a:r>
          </a:p>
        </p:txBody>
      </p:sp>
      <p:sp>
        <p:nvSpPr>
          <p:cNvPr id="7" name="Rectangle 6"/>
          <p:cNvSpPr/>
          <p:nvPr/>
        </p:nvSpPr>
        <p:spPr>
          <a:xfrm>
            <a:off x="475488" y="1325880"/>
            <a:ext cx="11283696"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28832" y="6473952"/>
            <a:ext cx="502920" cy="182880"/>
          </a:xfrm>
          <a:prstGeom prst="rect">
            <a:avLst/>
          </a:prstGeom>
          <a:noFill/>
        </p:spPr>
        <p:txBody>
          <a:bodyPr wrap="square" lIns="18288" tIns="18288" rIns="18288" bIns="18288" anchor="t">
            <a:spAutoFit/>
          </a:bodyPr>
          <a:lstStyle/>
          <a:p>
            <a:pPr algn="r">
              <a:lnSpc>
                <a:spcPct val="105000"/>
              </a:lnSpc>
            </a:pPr>
            <a:r>
              <a:rPr sz="1000" b="0" i="0">
                <a:solidFill>
                  <a:srgbClr val="7D8899"/>
                </a:solidFill>
                <a:latin typeface="微软雅黑"/>
              </a:rPr>
              <a:t>122</a:t>
            </a:r>
          </a:p>
        </p:txBody>
      </p:sp>
      <p:sp>
        <p:nvSpPr>
          <p:cNvPr id="9" name="Rounded Rectangle 8"/>
          <p:cNvSpPr/>
          <p:nvPr/>
        </p:nvSpPr>
        <p:spPr>
          <a:xfrm>
            <a:off x="640080" y="1600200"/>
            <a:ext cx="5349240" cy="20574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1600200"/>
            <a:ext cx="77724" cy="20574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1783080"/>
            <a:ext cx="4937759" cy="384048"/>
          </a:xfrm>
          <a:prstGeom prst="rect">
            <a:avLst/>
          </a:prstGeom>
          <a:noFill/>
        </p:spPr>
        <p:txBody>
          <a:bodyPr wrap="square" lIns="18288" tIns="18288" rIns="18288" bIns="18288" anchor="t">
            <a:spAutoFit/>
          </a:bodyPr>
          <a:lstStyle/>
          <a:p>
            <a:pPr algn="l">
              <a:lnSpc>
                <a:spcPct val="105000"/>
              </a:lnSpc>
            </a:pPr>
            <a:r>
              <a:rPr sz="2200" b="1" i="0">
                <a:solidFill>
                  <a:srgbClr val="31599B"/>
                </a:solidFill>
                <a:latin typeface="微软雅黑"/>
              </a:rPr>
              <a:t>地图</a:t>
            </a:r>
          </a:p>
        </p:txBody>
      </p:sp>
      <p:sp>
        <p:nvSpPr>
          <p:cNvPr id="12" name="TextBox 11"/>
          <p:cNvSpPr txBox="1"/>
          <p:nvPr/>
        </p:nvSpPr>
        <p:spPr>
          <a:xfrm>
            <a:off x="859536" y="2258568"/>
            <a:ext cx="4965192" cy="1271016"/>
          </a:xfrm>
          <a:prstGeom prst="rect">
            <a:avLst/>
          </a:prstGeom>
          <a:noFill/>
        </p:spPr>
        <p:txBody>
          <a:bodyPr wrap="square" lIns="18288" tIns="18288" rIns="18288" bIns="18288" anchor="t">
            <a:spAutoFit/>
          </a:bodyPr>
          <a:lstStyle/>
          <a:p>
            <a:pPr algn="l">
              <a:lnSpc>
                <a:spcPct val="110000"/>
              </a:lnSpc>
            </a:pPr>
            <a:r>
              <a:rPr sz="1600" b="0" i="0">
                <a:solidFill>
                  <a:srgbClr val="222833"/>
                </a:solidFill>
                <a:latin typeface="微软雅黑"/>
              </a:rPr>
              <a:t>度量地图提供几何基础；拓扑地图压缩连通关系；语义地图服务语义任务。</a:t>
            </a:r>
          </a:p>
        </p:txBody>
      </p:sp>
      <p:sp>
        <p:nvSpPr>
          <p:cNvPr id="13" name="Rounded Rectangle 12"/>
          <p:cNvSpPr/>
          <p:nvPr/>
        </p:nvSpPr>
        <p:spPr>
          <a:xfrm>
            <a:off x="6172200" y="1600200"/>
            <a:ext cx="5349240" cy="205740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72200" y="1600200"/>
            <a:ext cx="77724" cy="205740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91656" y="1783080"/>
            <a:ext cx="4937759" cy="384048"/>
          </a:xfrm>
          <a:prstGeom prst="rect">
            <a:avLst/>
          </a:prstGeom>
          <a:noFill/>
        </p:spPr>
        <p:txBody>
          <a:bodyPr wrap="square" lIns="18288" tIns="18288" rIns="18288" bIns="18288" anchor="t">
            <a:spAutoFit/>
          </a:bodyPr>
          <a:lstStyle/>
          <a:p>
            <a:pPr algn="l">
              <a:lnSpc>
                <a:spcPct val="105000"/>
              </a:lnSpc>
            </a:pPr>
            <a:r>
              <a:rPr sz="2200" b="1" i="0">
                <a:solidFill>
                  <a:srgbClr val="2F8E72"/>
                </a:solidFill>
                <a:latin typeface="微软雅黑"/>
              </a:rPr>
              <a:t>SLAM</a:t>
            </a:r>
          </a:p>
        </p:txBody>
      </p:sp>
      <p:sp>
        <p:nvSpPr>
          <p:cNvPr id="16" name="TextBox 15"/>
          <p:cNvSpPr txBox="1"/>
          <p:nvPr/>
        </p:nvSpPr>
        <p:spPr>
          <a:xfrm>
            <a:off x="6391656" y="2258568"/>
            <a:ext cx="4965192" cy="1271016"/>
          </a:xfrm>
          <a:prstGeom prst="rect">
            <a:avLst/>
          </a:prstGeom>
          <a:noFill/>
        </p:spPr>
        <p:txBody>
          <a:bodyPr wrap="square" lIns="18288" tIns="18288" rIns="18288" bIns="18288" anchor="t">
            <a:spAutoFit/>
          </a:bodyPr>
          <a:lstStyle/>
          <a:p>
            <a:pPr algn="l">
              <a:lnSpc>
                <a:spcPct val="110000"/>
              </a:lnSpc>
            </a:pPr>
            <a:r>
              <a:rPr sz="1600" b="0" i="0">
                <a:solidFill>
                  <a:srgbClr val="222833"/>
                </a:solidFill>
                <a:latin typeface="微软雅黑"/>
              </a:rPr>
              <a:t>通过概率推理同时估计位姿与地图，经典路线包括 EKF、FastSLAM 与视觉 SLAM。</a:t>
            </a:r>
          </a:p>
        </p:txBody>
      </p:sp>
      <p:sp>
        <p:nvSpPr>
          <p:cNvPr id="17" name="Rounded Rectangle 16"/>
          <p:cNvSpPr/>
          <p:nvPr/>
        </p:nvSpPr>
        <p:spPr>
          <a:xfrm>
            <a:off x="640080" y="3931920"/>
            <a:ext cx="5349240" cy="155448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 y="3931920"/>
            <a:ext cx="77724" cy="1372533"/>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59536" y="4114800"/>
            <a:ext cx="4937759" cy="384048"/>
          </a:xfrm>
          <a:prstGeom prst="rect">
            <a:avLst/>
          </a:prstGeom>
          <a:noFill/>
        </p:spPr>
        <p:txBody>
          <a:bodyPr wrap="square" lIns="18288" tIns="18288" rIns="18288" bIns="18288" anchor="t">
            <a:spAutoFit/>
          </a:bodyPr>
          <a:lstStyle/>
          <a:p>
            <a:pPr algn="l">
              <a:lnSpc>
                <a:spcPct val="105000"/>
              </a:lnSpc>
            </a:pPr>
            <a:r>
              <a:rPr sz="2200" b="1" i="0">
                <a:solidFill>
                  <a:srgbClr val="C58A24"/>
                </a:solidFill>
                <a:latin typeface="微软雅黑"/>
              </a:rPr>
              <a:t>规划</a:t>
            </a:r>
          </a:p>
        </p:txBody>
      </p:sp>
      <p:sp>
        <p:nvSpPr>
          <p:cNvPr id="20" name="TextBox 19"/>
          <p:cNvSpPr txBox="1"/>
          <p:nvPr/>
        </p:nvSpPr>
        <p:spPr>
          <a:xfrm>
            <a:off x="859536" y="4590288"/>
            <a:ext cx="4965192" cy="1271016"/>
          </a:xfrm>
          <a:prstGeom prst="rect">
            <a:avLst/>
          </a:prstGeom>
          <a:noFill/>
        </p:spPr>
        <p:txBody>
          <a:bodyPr wrap="square" lIns="18288" tIns="18288" rIns="18288" bIns="18288" anchor="t">
            <a:spAutoFit/>
          </a:bodyPr>
          <a:lstStyle/>
          <a:p>
            <a:pPr algn="l">
              <a:lnSpc>
                <a:spcPct val="110000"/>
              </a:lnSpc>
            </a:pPr>
            <a:r>
              <a:rPr sz="1600" b="0" i="0">
                <a:solidFill>
                  <a:srgbClr val="222833"/>
                </a:solidFill>
                <a:latin typeface="微软雅黑"/>
              </a:rPr>
              <a:t>全局路径与局部运动规划共同保证“可到达、可避障、可执行”。</a:t>
            </a:r>
          </a:p>
        </p:txBody>
      </p:sp>
      <p:sp>
        <p:nvSpPr>
          <p:cNvPr id="21" name="Rounded Rectangle 20"/>
          <p:cNvSpPr/>
          <p:nvPr/>
        </p:nvSpPr>
        <p:spPr>
          <a:xfrm>
            <a:off x="6172200" y="3931920"/>
            <a:ext cx="5349240" cy="155448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172200" y="3931920"/>
            <a:ext cx="77724" cy="1461174"/>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91656" y="4114800"/>
            <a:ext cx="4937759" cy="384048"/>
          </a:xfrm>
          <a:prstGeom prst="rect">
            <a:avLst/>
          </a:prstGeom>
          <a:noFill/>
        </p:spPr>
        <p:txBody>
          <a:bodyPr wrap="square" lIns="18288" tIns="18288" rIns="18288" bIns="18288" anchor="t">
            <a:spAutoFit/>
          </a:bodyPr>
          <a:lstStyle/>
          <a:p>
            <a:pPr algn="l">
              <a:lnSpc>
                <a:spcPct val="105000"/>
              </a:lnSpc>
            </a:pPr>
            <a:r>
              <a:rPr sz="2200" b="1" i="0">
                <a:solidFill>
                  <a:srgbClr val="C63F45"/>
                </a:solidFill>
                <a:latin typeface="微软雅黑"/>
              </a:rPr>
              <a:t>系统</a:t>
            </a:r>
          </a:p>
        </p:txBody>
      </p:sp>
      <p:sp>
        <p:nvSpPr>
          <p:cNvPr id="24" name="TextBox 23"/>
          <p:cNvSpPr txBox="1"/>
          <p:nvPr/>
        </p:nvSpPr>
        <p:spPr>
          <a:xfrm>
            <a:off x="6391656" y="4590288"/>
            <a:ext cx="4965192" cy="1271016"/>
          </a:xfrm>
          <a:prstGeom prst="rect">
            <a:avLst/>
          </a:prstGeom>
          <a:noFill/>
        </p:spPr>
        <p:txBody>
          <a:bodyPr wrap="square" lIns="18288" tIns="18288" rIns="18288" bIns="18288" anchor="t">
            <a:spAutoFit/>
          </a:bodyPr>
          <a:lstStyle/>
          <a:p>
            <a:pPr algn="l">
              <a:lnSpc>
                <a:spcPct val="110000"/>
              </a:lnSpc>
            </a:pPr>
            <a:r>
              <a:rPr sz="1600" b="0" i="0">
                <a:solidFill>
                  <a:srgbClr val="222833"/>
                </a:solidFill>
                <a:latin typeface="微软雅黑"/>
              </a:rPr>
              <a:t>现代具身导航正从模块化分层架构走向学习驱动和多模态基础模型。</a:t>
            </a:r>
          </a:p>
        </p:txBody>
      </p:sp>
      <p:sp>
        <p:nvSpPr>
          <p:cNvPr id="25" name="Rounded Rectangle 24"/>
          <p:cNvSpPr/>
          <p:nvPr/>
        </p:nvSpPr>
        <p:spPr>
          <a:xfrm>
            <a:off x="1248156" y="5760720"/>
            <a:ext cx="9601200" cy="777240"/>
          </a:xfrm>
          <a:prstGeom prst="roundRect">
            <a:avLst/>
          </a:prstGeom>
          <a:solidFill>
            <a:srgbClr val="F2EFF8"/>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280160" y="5760720"/>
            <a:ext cx="77724" cy="777240"/>
          </a:xfrm>
          <a:prstGeom prst="rect">
            <a:avLst/>
          </a:prstGeom>
          <a:solidFill>
            <a:srgbClr val="755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499616" y="5943600"/>
            <a:ext cx="9189720" cy="384048"/>
          </a:xfrm>
          <a:prstGeom prst="rect">
            <a:avLst/>
          </a:prstGeom>
          <a:noFill/>
        </p:spPr>
        <p:txBody>
          <a:bodyPr wrap="square" lIns="18288" tIns="18288" rIns="18288" bIns="18288" anchor="t">
            <a:spAutoFit/>
          </a:bodyPr>
          <a:lstStyle/>
          <a:p>
            <a:pPr algn="l">
              <a:lnSpc>
                <a:spcPct val="105000"/>
              </a:lnSpc>
            </a:pPr>
            <a:r>
              <a:rPr sz="1700" b="1" i="0">
                <a:solidFill>
                  <a:srgbClr val="7558A8"/>
                </a:solidFill>
                <a:latin typeface="微软雅黑"/>
              </a:rPr>
              <a:t>实践</a:t>
            </a:r>
          </a:p>
        </p:txBody>
      </p:sp>
      <p:sp>
        <p:nvSpPr>
          <p:cNvPr id="28" name="TextBox 27"/>
          <p:cNvSpPr txBox="1"/>
          <p:nvPr/>
        </p:nvSpPr>
        <p:spPr>
          <a:xfrm>
            <a:off x="2112263" y="6161841"/>
            <a:ext cx="9217152" cy="0"/>
          </a:xfrm>
          <a:prstGeom prst="rect">
            <a:avLst/>
          </a:prstGeom>
          <a:noFill/>
        </p:spPr>
        <p:txBody>
          <a:bodyPr wrap="square" lIns="18288" tIns="18288" rIns="18288" bIns="18288" anchor="t">
            <a:spAutoFit/>
          </a:bodyPr>
          <a:lstStyle/>
          <a:p>
            <a:pPr algn="l">
              <a:lnSpc>
                <a:spcPct val="110000"/>
              </a:lnSpc>
            </a:pPr>
            <a:r>
              <a:rPr sz="1600" b="0" i="0" dirty="0">
                <a:solidFill>
                  <a:srgbClr val="222833"/>
                </a:solidFill>
                <a:latin typeface="微软雅黑"/>
              </a:rPr>
              <a:t>Fetch + Gazebo </a:t>
            </a:r>
            <a:r>
              <a:rPr sz="1600" b="0" i="0" dirty="0" err="1">
                <a:solidFill>
                  <a:srgbClr val="222833"/>
                </a:solidFill>
                <a:latin typeface="微软雅黑"/>
              </a:rPr>
              <a:t>案例展示了从感知、定位、规划到控制的完整系统集成</a:t>
            </a:r>
            <a:r>
              <a:rPr sz="1600" b="0" i="0" dirty="0">
                <a:solidFill>
                  <a:srgbClr val="222833"/>
                </a:solidFill>
                <a:latin typeface="微软雅黑"/>
              </a:rPr>
              <a:t>。</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24477D"/>
        </a:solidFill>
        <a:effectLst/>
      </p:bgPr>
    </p:bg>
    <p:spTree>
      <p:nvGrpSpPr>
        <p:cNvPr id="1" name=""/>
        <p:cNvGrpSpPr/>
        <p:nvPr/>
      </p:nvGrpSpPr>
      <p:grpSpPr>
        <a:xfrm>
          <a:off x="0" y="0"/>
          <a:ext cx="0" cy="0"/>
          <a:chOff x="0" y="0"/>
          <a:chExt cx="0" cy="0"/>
        </a:xfrm>
      </p:grpSpPr>
      <p:sp>
        <p:nvSpPr>
          <p:cNvPr id="2" name="TextBox 1"/>
          <p:cNvSpPr txBox="1"/>
          <p:nvPr/>
        </p:nvSpPr>
        <p:spPr>
          <a:xfrm>
            <a:off x="4480560" y="2788920"/>
            <a:ext cx="3200400" cy="777240"/>
          </a:xfrm>
          <a:prstGeom prst="rect">
            <a:avLst/>
          </a:prstGeom>
          <a:noFill/>
        </p:spPr>
        <p:txBody>
          <a:bodyPr wrap="square" lIns="18288" tIns="18288" rIns="18288" bIns="18288" anchor="ctr">
            <a:spAutoFit/>
          </a:bodyPr>
          <a:lstStyle/>
          <a:p>
            <a:pPr algn="ctr">
              <a:lnSpc>
                <a:spcPct val="105000"/>
              </a:lnSpc>
            </a:pPr>
            <a:r>
              <a:rPr sz="5400" b="1" i="0">
                <a:solidFill>
                  <a:srgbClr val="FFFFFF"/>
                </a:solidFill>
                <a:latin typeface="微软雅黑"/>
              </a:rPr>
              <a:t>谢  谢</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42</TotalTime>
  <Words>4260</Words>
  <Application>Microsoft Office PowerPoint</Application>
  <PresentationFormat>宽屏</PresentationFormat>
  <Paragraphs>1337</Paragraphs>
  <Slides>123</Slides>
  <Notes>0</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123</vt:i4>
      </vt:variant>
    </vt:vector>
  </HeadingPairs>
  <TitlesOfParts>
    <vt:vector size="131" baseType="lpstr">
      <vt:lpstr>Noto Serif CJK SC</vt:lpstr>
      <vt:lpstr>微软雅黑</vt:lpstr>
      <vt:lpstr>Arial</vt:lpstr>
      <vt:lpstr>Calibri</vt:lpstr>
      <vt:lpstr>Consolas</vt:lpstr>
      <vt:lpstr>Times New Roman</vt:lpstr>
      <vt:lpstr>Office Theme</vt:lpstr>
      <vt:lpstr>MathType 6.0 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国家地方共建人形机器人创新中心</dc:creator>
  <cp:keywords/>
  <dc:description>generated using python-pptx</dc:description>
  <cp:lastModifiedBy>Qin JJ</cp:lastModifiedBy>
  <cp:revision>5</cp:revision>
  <dcterms:created xsi:type="dcterms:W3CDTF">2013-01-27T09:14:16Z</dcterms:created>
  <dcterms:modified xsi:type="dcterms:W3CDTF">2026-09-14T15:27:56Z</dcterms:modified>
  <cp:category/>
</cp:coreProperties>
</file>